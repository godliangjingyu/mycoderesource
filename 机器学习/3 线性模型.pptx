
<file path=[Content_Types].xml><?xml version="1.0" encoding="utf-8"?>
<Types xmlns="http://schemas.openxmlformats.org/package/2006/content-types">
  <Default Extension="jpeg" ContentType="image/jpeg"/>
  <Default Extension="vml" ContentType="application/vnd.openxmlformats-officedocument.vmlDrawing"/>
  <Default Extension="bin" ContentType="application/vnd.openxmlformats-officedocument.oleObject"/>
  <Default Extension="wmf" ContentType="image/x-wmf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6"/>
  </p:notesMasterIdLst>
  <p:handoutMasterIdLst>
    <p:handoutMasterId r:id="rId37"/>
  </p:handoutMasterIdLst>
  <p:sldIdLst>
    <p:sldId id="585" r:id="rId3"/>
    <p:sldId id="568" r:id="rId4"/>
    <p:sldId id="569" r:id="rId5"/>
    <p:sldId id="584" r:id="rId7"/>
    <p:sldId id="586" r:id="rId8"/>
    <p:sldId id="587" r:id="rId9"/>
    <p:sldId id="614" r:id="rId10"/>
    <p:sldId id="588" r:id="rId11"/>
    <p:sldId id="611" r:id="rId12"/>
    <p:sldId id="589" r:id="rId13"/>
    <p:sldId id="590" r:id="rId14"/>
    <p:sldId id="591" r:id="rId15"/>
    <p:sldId id="597" r:id="rId16"/>
    <p:sldId id="598" r:id="rId17"/>
    <p:sldId id="592" r:id="rId18"/>
    <p:sldId id="612" r:id="rId19"/>
    <p:sldId id="594" r:id="rId20"/>
    <p:sldId id="595" r:id="rId21"/>
    <p:sldId id="596" r:id="rId22"/>
    <p:sldId id="599" r:id="rId23"/>
    <p:sldId id="613" r:id="rId24"/>
    <p:sldId id="600" r:id="rId25"/>
    <p:sldId id="601" r:id="rId26"/>
    <p:sldId id="602" r:id="rId27"/>
    <p:sldId id="606" r:id="rId28"/>
    <p:sldId id="608" r:id="rId29"/>
    <p:sldId id="607" r:id="rId30"/>
    <p:sldId id="603" r:id="rId31"/>
    <p:sldId id="604" r:id="rId32"/>
    <p:sldId id="605" r:id="rId33"/>
    <p:sldId id="609" r:id="rId34"/>
    <p:sldId id="610" r:id="rId35"/>
    <p:sldId id="583" r:id="rId36"/>
  </p:sldIdLst>
  <p:sldSz cx="9144000" cy="6858000" type="screen4x3"/>
  <p:notesSz cx="6858000" cy="9144000"/>
  <p:defaultTextStyle>
    <a:defPPr>
      <a:defRPr lang="zh-CN"/>
    </a:defPPr>
    <a:lvl1pPr algn="l" rtl="0" fontAlgn="base">
      <a:lnSpc>
        <a:spcPct val="120000"/>
      </a:lnSpc>
      <a:spcBef>
        <a:spcPct val="20000"/>
      </a:spcBef>
      <a:spcAft>
        <a:spcPct val="0"/>
      </a:spcAft>
      <a:buClr>
        <a:schemeClr val="tx1"/>
      </a:buClr>
      <a:buSzPct val="80000"/>
      <a:buFont typeface="Wingdings" panose="05000000000000000000" pitchFamily="2" charset="2"/>
      <a:defRPr sz="3200" b="1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fontAlgn="base">
      <a:lnSpc>
        <a:spcPct val="120000"/>
      </a:lnSpc>
      <a:spcBef>
        <a:spcPct val="20000"/>
      </a:spcBef>
      <a:spcAft>
        <a:spcPct val="0"/>
      </a:spcAft>
      <a:buClr>
        <a:schemeClr val="tx1"/>
      </a:buClr>
      <a:buSzPct val="80000"/>
      <a:buFont typeface="Wingdings" panose="05000000000000000000" pitchFamily="2" charset="2"/>
      <a:defRPr sz="3200" b="1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fontAlgn="base">
      <a:lnSpc>
        <a:spcPct val="120000"/>
      </a:lnSpc>
      <a:spcBef>
        <a:spcPct val="20000"/>
      </a:spcBef>
      <a:spcAft>
        <a:spcPct val="0"/>
      </a:spcAft>
      <a:buClr>
        <a:schemeClr val="tx1"/>
      </a:buClr>
      <a:buSzPct val="80000"/>
      <a:buFont typeface="Wingdings" panose="05000000000000000000" pitchFamily="2" charset="2"/>
      <a:defRPr sz="3200" b="1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fontAlgn="base">
      <a:lnSpc>
        <a:spcPct val="120000"/>
      </a:lnSpc>
      <a:spcBef>
        <a:spcPct val="20000"/>
      </a:spcBef>
      <a:spcAft>
        <a:spcPct val="0"/>
      </a:spcAft>
      <a:buClr>
        <a:schemeClr val="tx1"/>
      </a:buClr>
      <a:buSzPct val="80000"/>
      <a:buFont typeface="Wingdings" panose="05000000000000000000" pitchFamily="2" charset="2"/>
      <a:defRPr sz="3200" b="1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fontAlgn="base">
      <a:lnSpc>
        <a:spcPct val="120000"/>
      </a:lnSpc>
      <a:spcBef>
        <a:spcPct val="20000"/>
      </a:spcBef>
      <a:spcAft>
        <a:spcPct val="0"/>
      </a:spcAft>
      <a:buClr>
        <a:schemeClr val="tx1"/>
      </a:buClr>
      <a:buSzPct val="80000"/>
      <a:buFont typeface="Wingdings" panose="05000000000000000000" pitchFamily="2" charset="2"/>
      <a:defRPr sz="3200" b="1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3200" b="1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sz="3200" b="1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sz="3200" b="1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sz="3200" b="1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33CC"/>
    <a:srgbClr val="000000"/>
    <a:srgbClr val="B5E3F3"/>
    <a:srgbClr val="FFFFFF"/>
    <a:srgbClr val="FF0000"/>
    <a:srgbClr val="FF6600"/>
    <a:srgbClr val="E3D9B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40" autoAdjust="0"/>
    <p:restoredTop sz="69546" autoAdjust="0"/>
  </p:normalViewPr>
  <p:slideViewPr>
    <p:cSldViewPr>
      <p:cViewPr varScale="1">
        <p:scale>
          <a:sx n="59" d="100"/>
          <a:sy n="59" d="100"/>
        </p:scale>
        <p:origin x="72" y="12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438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40" Type="http://schemas.openxmlformats.org/officeDocument/2006/relationships/tableStyles" Target="tableStyles.xml"/><Relationship Id="rId4" Type="http://schemas.openxmlformats.org/officeDocument/2006/relationships/slide" Target="slides/slide2.xml"/><Relationship Id="rId39" Type="http://schemas.openxmlformats.org/officeDocument/2006/relationships/viewProps" Target="viewProps.xml"/><Relationship Id="rId38" Type="http://schemas.openxmlformats.org/officeDocument/2006/relationships/presProps" Target="presProps.xml"/><Relationship Id="rId37" Type="http://schemas.openxmlformats.org/officeDocument/2006/relationships/handoutMaster" Target="handoutMasters/handoutMaster1.xml"/><Relationship Id="rId36" Type="http://schemas.openxmlformats.org/officeDocument/2006/relationships/slide" Target="slides/slide33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4" Type="http://schemas.openxmlformats.org/officeDocument/2006/relationships/image" Target="../media/image4.wmf"/><Relationship Id="rId3" Type="http://schemas.openxmlformats.org/officeDocument/2006/relationships/image" Target="../media/image3.wmf"/><Relationship Id="rId2" Type="http://schemas.openxmlformats.org/officeDocument/2006/relationships/image" Target="../media/image2.wmf"/><Relationship Id="rId1" Type="http://schemas.openxmlformats.org/officeDocument/2006/relationships/image" Target="../media/image1.wmf"/></Relationships>
</file>

<file path=ppt/drawings/_rels/vmlDrawing2.vml.rels><?xml version="1.0" encoding="UTF-8" standalone="yes"?>
<Relationships xmlns="http://schemas.openxmlformats.org/package/2006/relationships"><Relationship Id="rId4" Type="http://schemas.openxmlformats.org/officeDocument/2006/relationships/image" Target="../media/image9.wmf"/><Relationship Id="rId3" Type="http://schemas.openxmlformats.org/officeDocument/2006/relationships/image" Target="../media/image8.wmf"/><Relationship Id="rId2" Type="http://schemas.openxmlformats.org/officeDocument/2006/relationships/image" Target="../media/image7.wmf"/><Relationship Id="rId1" Type="http://schemas.openxmlformats.org/officeDocument/2006/relationships/image" Target="../media/image6.wmf"/></Relationships>
</file>

<file path=ppt/drawings/_rels/vmlDrawing3.vml.rels><?xml version="1.0" encoding="UTF-8" standalone="yes"?>
<Relationships xmlns="http://schemas.openxmlformats.org/package/2006/relationships"><Relationship Id="rId5" Type="http://schemas.openxmlformats.org/officeDocument/2006/relationships/image" Target="../media/image13.wmf"/><Relationship Id="rId4" Type="http://schemas.openxmlformats.org/officeDocument/2006/relationships/image" Target="../media/image12.wmf"/><Relationship Id="rId3" Type="http://schemas.openxmlformats.org/officeDocument/2006/relationships/image" Target="../media/image11.wmf"/><Relationship Id="rId2" Type="http://schemas.openxmlformats.org/officeDocument/2006/relationships/image" Target="../media/image10.wmf"/><Relationship Id="rId1" Type="http://schemas.openxmlformats.org/officeDocument/2006/relationships/image" Target="../media/image9.wmf"/></Relationships>
</file>

<file path=ppt/drawings/_rels/vmlDrawing4.vml.rels><?xml version="1.0" encoding="UTF-8" standalone="yes"?>
<Relationships xmlns="http://schemas.openxmlformats.org/package/2006/relationships"><Relationship Id="rId7" Type="http://schemas.openxmlformats.org/officeDocument/2006/relationships/image" Target="../media/image20.wmf"/><Relationship Id="rId6" Type="http://schemas.openxmlformats.org/officeDocument/2006/relationships/image" Target="../media/image19.wmf"/><Relationship Id="rId5" Type="http://schemas.openxmlformats.org/officeDocument/2006/relationships/image" Target="../media/image18.wmf"/><Relationship Id="rId4" Type="http://schemas.openxmlformats.org/officeDocument/2006/relationships/image" Target="../media/image17.wmf"/><Relationship Id="rId3" Type="http://schemas.openxmlformats.org/officeDocument/2006/relationships/image" Target="../media/image16.wmf"/><Relationship Id="rId2" Type="http://schemas.openxmlformats.org/officeDocument/2006/relationships/image" Target="../media/image15.wmf"/><Relationship Id="rId1" Type="http://schemas.openxmlformats.org/officeDocument/2006/relationships/image" Target="../media/image14.wmf"/></Relationships>
</file>

<file path=ppt/drawings/_rels/vmlDrawing5.vml.rels><?xml version="1.0" encoding="UTF-8" standalone="yes"?>
<Relationships xmlns="http://schemas.openxmlformats.org/package/2006/relationships"><Relationship Id="rId7" Type="http://schemas.openxmlformats.org/officeDocument/2006/relationships/image" Target="../media/image27.wmf"/><Relationship Id="rId6" Type="http://schemas.openxmlformats.org/officeDocument/2006/relationships/image" Target="../media/image26.wmf"/><Relationship Id="rId5" Type="http://schemas.openxmlformats.org/officeDocument/2006/relationships/image" Target="../media/image25.wmf"/><Relationship Id="rId4" Type="http://schemas.openxmlformats.org/officeDocument/2006/relationships/image" Target="../media/image24.wmf"/><Relationship Id="rId3" Type="http://schemas.openxmlformats.org/officeDocument/2006/relationships/image" Target="../media/image23.wmf"/><Relationship Id="rId2" Type="http://schemas.openxmlformats.org/officeDocument/2006/relationships/image" Target="../media/image22.wmf"/><Relationship Id="rId1" Type="http://schemas.openxmlformats.org/officeDocument/2006/relationships/image" Target="../media/image21.wmf"/></Relationships>
</file>

<file path=ppt/drawings/_rels/vmlDrawing6.vml.rels><?xml version="1.0" encoding="UTF-8" standalone="yes"?>
<Relationships xmlns="http://schemas.openxmlformats.org/package/2006/relationships"><Relationship Id="rId5" Type="http://schemas.openxmlformats.org/officeDocument/2006/relationships/image" Target="../media/image32.wmf"/><Relationship Id="rId4" Type="http://schemas.openxmlformats.org/officeDocument/2006/relationships/image" Target="../media/image31.wmf"/><Relationship Id="rId3" Type="http://schemas.openxmlformats.org/officeDocument/2006/relationships/image" Target="../media/image30.wmf"/><Relationship Id="rId2" Type="http://schemas.openxmlformats.org/officeDocument/2006/relationships/image" Target="../media/image29.wmf"/><Relationship Id="rId1" Type="http://schemas.openxmlformats.org/officeDocument/2006/relationships/image" Target="../media/image28.wmf"/></Relationships>
</file>

<file path=ppt/drawings/_rels/vmlDrawing7.vml.rels><?xml version="1.0" encoding="UTF-8" standalone="yes"?>
<Relationships xmlns="http://schemas.openxmlformats.org/package/2006/relationships"><Relationship Id="rId3" Type="http://schemas.openxmlformats.org/officeDocument/2006/relationships/image" Target="../media/image36.wmf"/><Relationship Id="rId2" Type="http://schemas.openxmlformats.org/officeDocument/2006/relationships/image" Target="../media/image35.wmf"/><Relationship Id="rId1" Type="http://schemas.openxmlformats.org/officeDocument/2006/relationships/image" Target="../media/image34.wmf"/></Relationships>
</file>

<file path=ppt/drawings/_rels/vmlDrawing8.vml.rels><?xml version="1.0" encoding="UTF-8" standalone="yes"?>
<Relationships xmlns="http://schemas.openxmlformats.org/package/2006/relationships"><Relationship Id="rId4" Type="http://schemas.openxmlformats.org/officeDocument/2006/relationships/image" Target="../media/image41.wmf"/><Relationship Id="rId3" Type="http://schemas.openxmlformats.org/officeDocument/2006/relationships/image" Target="../media/image40.wmf"/><Relationship Id="rId2" Type="http://schemas.openxmlformats.org/officeDocument/2006/relationships/image" Target="../media/image39.wmf"/><Relationship Id="rId1" Type="http://schemas.openxmlformats.org/officeDocument/2006/relationships/image" Target="../media/image38.wmf"/></Relationships>
</file>

<file path=ppt/drawings/_rels/vmlDrawing9.vml.rels><?xml version="1.0" encoding="UTF-8" standalone="yes"?>
<Relationships xmlns="http://schemas.openxmlformats.org/package/2006/relationships"><Relationship Id="rId4" Type="http://schemas.openxmlformats.org/officeDocument/2006/relationships/image" Target="../media/image45.wmf"/><Relationship Id="rId3" Type="http://schemas.openxmlformats.org/officeDocument/2006/relationships/image" Target="../media/image44.wmf"/><Relationship Id="rId2" Type="http://schemas.openxmlformats.org/officeDocument/2006/relationships/image" Target="../media/image43.wmf"/><Relationship Id="rId1" Type="http://schemas.openxmlformats.org/officeDocument/2006/relationships/image" Target="../media/image42.wmf"/></Relationships>
</file>

<file path=ppt/drawings/_rels/vmlDrawing10.vml.rels><?xml version="1.0" encoding="UTF-8" standalone="yes"?>
<Relationships xmlns="http://schemas.openxmlformats.org/package/2006/relationships"><Relationship Id="rId8" Type="http://schemas.openxmlformats.org/officeDocument/2006/relationships/image" Target="../media/image53.wmf"/><Relationship Id="rId7" Type="http://schemas.openxmlformats.org/officeDocument/2006/relationships/image" Target="../media/image52.wmf"/><Relationship Id="rId6" Type="http://schemas.openxmlformats.org/officeDocument/2006/relationships/image" Target="../media/image51.wmf"/><Relationship Id="rId5" Type="http://schemas.openxmlformats.org/officeDocument/2006/relationships/image" Target="../media/image50.wmf"/><Relationship Id="rId4" Type="http://schemas.openxmlformats.org/officeDocument/2006/relationships/image" Target="../media/image49.wmf"/><Relationship Id="rId3" Type="http://schemas.openxmlformats.org/officeDocument/2006/relationships/image" Target="../media/image48.wmf"/><Relationship Id="rId2" Type="http://schemas.openxmlformats.org/officeDocument/2006/relationships/image" Target="../media/image47.wmf"/><Relationship Id="rId1" Type="http://schemas.openxmlformats.org/officeDocument/2006/relationships/image" Target="../media/image46.wmf"/></Relationships>
</file>

<file path=ppt/drawings/_rels/vmlDrawing11.vml.rels><?xml version="1.0" encoding="UTF-8" standalone="yes"?>
<Relationships xmlns="http://schemas.openxmlformats.org/package/2006/relationships"><Relationship Id="rId9" Type="http://schemas.openxmlformats.org/officeDocument/2006/relationships/image" Target="../media/image60.wmf"/><Relationship Id="rId8" Type="http://schemas.openxmlformats.org/officeDocument/2006/relationships/image" Target="../media/image59.wmf"/><Relationship Id="rId7" Type="http://schemas.openxmlformats.org/officeDocument/2006/relationships/image" Target="../media/image58.wmf"/><Relationship Id="rId6" Type="http://schemas.openxmlformats.org/officeDocument/2006/relationships/image" Target="../media/image57.wmf"/><Relationship Id="rId5" Type="http://schemas.openxmlformats.org/officeDocument/2006/relationships/image" Target="../media/image56.wmf"/><Relationship Id="rId4" Type="http://schemas.openxmlformats.org/officeDocument/2006/relationships/image" Target="../media/image55.wmf"/><Relationship Id="rId3" Type="http://schemas.openxmlformats.org/officeDocument/2006/relationships/image" Target="../media/image54.wmf"/><Relationship Id="rId2" Type="http://schemas.openxmlformats.org/officeDocument/2006/relationships/image" Target="../media/image53.wmf"/><Relationship Id="rId1" Type="http://schemas.openxmlformats.org/officeDocument/2006/relationships/image" Target="../media/image46.wmf"/></Relationships>
</file>

<file path=ppt/drawings/_rels/vmlDrawing12.vml.rels><?xml version="1.0" encoding="UTF-8" standalone="yes"?>
<Relationships xmlns="http://schemas.openxmlformats.org/package/2006/relationships"><Relationship Id="rId9" Type="http://schemas.openxmlformats.org/officeDocument/2006/relationships/image" Target="../media/image72.wmf"/><Relationship Id="rId8" Type="http://schemas.openxmlformats.org/officeDocument/2006/relationships/image" Target="../media/image71.wmf"/><Relationship Id="rId7" Type="http://schemas.openxmlformats.org/officeDocument/2006/relationships/image" Target="../media/image70.wmf"/><Relationship Id="rId6" Type="http://schemas.openxmlformats.org/officeDocument/2006/relationships/image" Target="../media/image69.wmf"/><Relationship Id="rId5" Type="http://schemas.openxmlformats.org/officeDocument/2006/relationships/image" Target="../media/image68.wmf"/><Relationship Id="rId4" Type="http://schemas.openxmlformats.org/officeDocument/2006/relationships/image" Target="../media/image67.wmf"/><Relationship Id="rId3" Type="http://schemas.openxmlformats.org/officeDocument/2006/relationships/image" Target="../media/image66.wmf"/><Relationship Id="rId2" Type="http://schemas.openxmlformats.org/officeDocument/2006/relationships/image" Target="../media/image65.wmf"/><Relationship Id="rId1" Type="http://schemas.openxmlformats.org/officeDocument/2006/relationships/image" Target="../media/image64.wmf"/></Relationships>
</file>

<file path=ppt/drawings/_rels/vmlDrawing13.vml.rels><?xml version="1.0" encoding="UTF-8" standalone="yes"?>
<Relationships xmlns="http://schemas.openxmlformats.org/package/2006/relationships"><Relationship Id="rId6" Type="http://schemas.openxmlformats.org/officeDocument/2006/relationships/image" Target="../media/image78.wmf"/><Relationship Id="rId5" Type="http://schemas.openxmlformats.org/officeDocument/2006/relationships/image" Target="../media/image77.wmf"/><Relationship Id="rId4" Type="http://schemas.openxmlformats.org/officeDocument/2006/relationships/image" Target="../media/image76.wmf"/><Relationship Id="rId3" Type="http://schemas.openxmlformats.org/officeDocument/2006/relationships/image" Target="../media/image75.wmf"/><Relationship Id="rId2" Type="http://schemas.openxmlformats.org/officeDocument/2006/relationships/image" Target="../media/image74.wmf"/><Relationship Id="rId1" Type="http://schemas.openxmlformats.org/officeDocument/2006/relationships/image" Target="../media/image73.wmf"/></Relationships>
</file>

<file path=ppt/drawings/_rels/vmlDrawing14.vml.rels><?xml version="1.0" encoding="UTF-8" standalone="yes"?>
<Relationships xmlns="http://schemas.openxmlformats.org/package/2006/relationships"><Relationship Id="rId9" Type="http://schemas.openxmlformats.org/officeDocument/2006/relationships/image" Target="../media/image87.wmf"/><Relationship Id="rId8" Type="http://schemas.openxmlformats.org/officeDocument/2006/relationships/image" Target="../media/image86.wmf"/><Relationship Id="rId7" Type="http://schemas.openxmlformats.org/officeDocument/2006/relationships/image" Target="../media/image85.wmf"/><Relationship Id="rId6" Type="http://schemas.openxmlformats.org/officeDocument/2006/relationships/image" Target="../media/image84.wmf"/><Relationship Id="rId5" Type="http://schemas.openxmlformats.org/officeDocument/2006/relationships/image" Target="../media/image83.wmf"/><Relationship Id="rId4" Type="http://schemas.openxmlformats.org/officeDocument/2006/relationships/image" Target="../media/image82.wmf"/><Relationship Id="rId3" Type="http://schemas.openxmlformats.org/officeDocument/2006/relationships/image" Target="../media/image81.wmf"/><Relationship Id="rId2" Type="http://schemas.openxmlformats.org/officeDocument/2006/relationships/image" Target="../media/image80.wmf"/><Relationship Id="rId10" Type="http://schemas.openxmlformats.org/officeDocument/2006/relationships/image" Target="../media/image88.wmf"/><Relationship Id="rId1" Type="http://schemas.openxmlformats.org/officeDocument/2006/relationships/image" Target="../media/image79.wmf"/></Relationships>
</file>

<file path=ppt/drawings/_rels/vmlDrawing15.vml.rels><?xml version="1.0" encoding="UTF-8" standalone="yes"?>
<Relationships xmlns="http://schemas.openxmlformats.org/package/2006/relationships"><Relationship Id="rId5" Type="http://schemas.openxmlformats.org/officeDocument/2006/relationships/image" Target="../media/image93.wmf"/><Relationship Id="rId4" Type="http://schemas.openxmlformats.org/officeDocument/2006/relationships/image" Target="../media/image92.wmf"/><Relationship Id="rId3" Type="http://schemas.openxmlformats.org/officeDocument/2006/relationships/image" Target="../media/image91.wmf"/><Relationship Id="rId2" Type="http://schemas.openxmlformats.org/officeDocument/2006/relationships/image" Target="../media/image90.wmf"/><Relationship Id="rId1" Type="http://schemas.openxmlformats.org/officeDocument/2006/relationships/image" Target="../media/image89.wmf"/></Relationships>
</file>

<file path=ppt/drawings/_rels/vmlDrawing16.vml.rels><?xml version="1.0" encoding="UTF-8" standalone="yes"?>
<Relationships xmlns="http://schemas.openxmlformats.org/package/2006/relationships"><Relationship Id="rId6" Type="http://schemas.openxmlformats.org/officeDocument/2006/relationships/image" Target="../media/image99.wmf"/><Relationship Id="rId5" Type="http://schemas.openxmlformats.org/officeDocument/2006/relationships/image" Target="../media/image98.wmf"/><Relationship Id="rId4" Type="http://schemas.openxmlformats.org/officeDocument/2006/relationships/image" Target="../media/image97.wmf"/><Relationship Id="rId3" Type="http://schemas.openxmlformats.org/officeDocument/2006/relationships/image" Target="../media/image96.wmf"/><Relationship Id="rId2" Type="http://schemas.openxmlformats.org/officeDocument/2006/relationships/image" Target="../media/image95.wmf"/><Relationship Id="rId1" Type="http://schemas.openxmlformats.org/officeDocument/2006/relationships/image" Target="../media/image94.wmf"/></Relationships>
</file>

<file path=ppt/drawings/_rels/vmlDrawing17.vml.rels><?xml version="1.0" encoding="UTF-8" standalone="yes"?>
<Relationships xmlns="http://schemas.openxmlformats.org/package/2006/relationships"><Relationship Id="rId2" Type="http://schemas.openxmlformats.org/officeDocument/2006/relationships/image" Target="../media/image101.wmf"/><Relationship Id="rId1" Type="http://schemas.openxmlformats.org/officeDocument/2006/relationships/image" Target="../media/image100.wmf"/></Relationships>
</file>

<file path=ppt/drawings/_rels/vmlDrawing18.vml.rels><?xml version="1.0" encoding="UTF-8" standalone="yes"?>
<Relationships xmlns="http://schemas.openxmlformats.org/package/2006/relationships"><Relationship Id="rId2" Type="http://schemas.openxmlformats.org/officeDocument/2006/relationships/image" Target="../media/image106.wmf"/><Relationship Id="rId1" Type="http://schemas.openxmlformats.org/officeDocument/2006/relationships/image" Target="../media/image105.wmf"/></Relationships>
</file>

<file path=ppt/drawings/_rels/vmlDrawing19.vml.rels><?xml version="1.0" encoding="UTF-8" standalone="yes"?>
<Relationships xmlns="http://schemas.openxmlformats.org/package/2006/relationships"><Relationship Id="rId1" Type="http://schemas.openxmlformats.org/officeDocument/2006/relationships/image" Target="../media/image107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01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  <a:defRPr sz="1200" b="0">
                <a:effectLst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99011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  <a:defRPr sz="1200" b="0">
                <a:effectLst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99012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  <a:defRPr sz="1200" b="0">
                <a:effectLst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99013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  <a:defRPr sz="1200" b="0">
                <a:effectLst/>
              </a:defRPr>
            </a:lvl1pPr>
          </a:lstStyle>
          <a:p>
            <a:pPr>
              <a:defRPr/>
            </a:pPr>
            <a:fld id="{95B01064-FCC8-4740-9ED9-11F36E7CF288}" type="slidenum">
              <a:rPr lang="en-US" altLang="zh-CN"/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6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  <a:defRPr sz="1200" b="0">
                <a:effectLst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9696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  <a:defRPr sz="1200" b="0">
                <a:effectLst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277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</a:ln>
        </p:spPr>
      </p:sp>
      <p:sp>
        <p:nvSpPr>
          <p:cNvPr id="29696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 noProof="0" smtClean="0"/>
              <a:t>单击此处编辑母版文本样式</a:t>
            </a:r>
            <a:endParaRPr lang="zh-CN" altLang="en-US" noProof="0" smtClean="0"/>
          </a:p>
          <a:p>
            <a:pPr lvl="1"/>
            <a:r>
              <a:rPr lang="zh-CN" altLang="en-US" noProof="0" smtClean="0"/>
              <a:t>第二级</a:t>
            </a:r>
            <a:endParaRPr lang="zh-CN" altLang="en-US" noProof="0" smtClean="0"/>
          </a:p>
          <a:p>
            <a:pPr lvl="2"/>
            <a:r>
              <a:rPr lang="zh-CN" altLang="en-US" noProof="0" smtClean="0"/>
              <a:t>第三级</a:t>
            </a:r>
            <a:endParaRPr lang="zh-CN" altLang="en-US" noProof="0" smtClean="0"/>
          </a:p>
          <a:p>
            <a:pPr lvl="3"/>
            <a:r>
              <a:rPr lang="zh-CN" altLang="en-US" noProof="0" smtClean="0"/>
              <a:t>第四级</a:t>
            </a:r>
            <a:endParaRPr lang="zh-CN" altLang="en-US" noProof="0" smtClean="0"/>
          </a:p>
          <a:p>
            <a:pPr lvl="4"/>
            <a:r>
              <a:rPr lang="zh-CN" altLang="en-US" noProof="0" smtClean="0"/>
              <a:t>第五级</a:t>
            </a:r>
            <a:endParaRPr lang="zh-CN" altLang="en-US" noProof="0" smtClean="0"/>
          </a:p>
        </p:txBody>
      </p:sp>
      <p:sp>
        <p:nvSpPr>
          <p:cNvPr id="29696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  <a:defRPr sz="1200" b="0">
                <a:effectLst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9696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  <a:defRPr sz="1200" b="0">
                <a:effectLst/>
              </a:defRPr>
            </a:lvl1pPr>
          </a:lstStyle>
          <a:p>
            <a:pPr>
              <a:defRPr/>
            </a:pPr>
            <a:fld id="{4DF57427-B8B5-4D24-A9D7-9D6F6382E66A}" type="slidenum">
              <a:rPr lang="en-US" altLang="zh-CN"/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4.xml.rels><?xml version="1.0" encoding="UTF-8" standalone="yes"?>
<Relationships xmlns="http://schemas.openxmlformats.org/package/2006/relationships"><Relationship Id="rId5" Type="http://schemas.openxmlformats.org/officeDocument/2006/relationships/hyperlink" Target="http://baike.baidu.com/item/%E7%BA%BF%E6%80%A7%E7%8B%AC%E7%AB%8B" TargetMode="External"/><Relationship Id="rId4" Type="http://schemas.openxmlformats.org/officeDocument/2006/relationships/hyperlink" Target="http://baike.baidu.com/item/%E7%9F%A9%E9%98%B5" TargetMode="External"/><Relationship Id="rId3" Type="http://schemas.openxmlformats.org/officeDocument/2006/relationships/hyperlink" Target="http://baike.baidu.com/item/%E7%BA%BF%E6%80%A7%E4%BB%A3%E6%95%B0" TargetMode="External"/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5.xml.rels><?xml version="1.0" encoding="UTF-8" standalone="yes"?>
<Relationships xmlns="http://schemas.openxmlformats.org/package/2006/relationships"><Relationship Id="rId5" Type="http://schemas.openxmlformats.org/officeDocument/2006/relationships/hyperlink" Target="http://baike.baidu.com/item/%E7%BA%BF%E6%80%A7%E7%8B%AC%E7%AB%8B" TargetMode="External"/><Relationship Id="rId4" Type="http://schemas.openxmlformats.org/officeDocument/2006/relationships/hyperlink" Target="http://baike.baidu.com/item/%E7%9F%A9%E9%98%B5" TargetMode="External"/><Relationship Id="rId3" Type="http://schemas.openxmlformats.org/officeDocument/2006/relationships/hyperlink" Target="http://baike.baidu.com/item/%E7%BA%BF%E6%80%A7%E4%BB%A3%E6%95%B0" TargetMode="External"/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3.xml.rels><?xml version="1.0" encoding="UTF-8" standalone="yes"?>
<Relationships xmlns="http://schemas.openxmlformats.org/package/2006/relationships"><Relationship Id="rId3" Type="http://schemas.openxmlformats.org/officeDocument/2006/relationships/hyperlink" Target="http://baike.baidu.com/item/%E6%B3%9B%E5%87%BD%E5%88%86%E6%9E%90/4151" TargetMode="External"/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5.xml.rels><?xml version="1.0" encoding="UTF-8" standalone="yes"?>
<Relationships xmlns="http://schemas.openxmlformats.org/package/2006/relationships"><Relationship Id="rId9" Type="http://schemas.openxmlformats.org/officeDocument/2006/relationships/hyperlink" Target="http://baike.baidu.com/item/%E6%9E%81%E5%80%BC%E7%82%B9" TargetMode="External"/><Relationship Id="rId8" Type="http://schemas.openxmlformats.org/officeDocument/2006/relationships/hyperlink" Target="http://baike.baidu.com/item/%E6%96%B9%E7%A8%8B" TargetMode="External"/><Relationship Id="rId7" Type="http://schemas.openxmlformats.org/officeDocument/2006/relationships/hyperlink" Target="http://baike.baidu.com/item/%E5%81%8F%E5%AF%BC%E6%95%B0" TargetMode="External"/><Relationship Id="rId6" Type="http://schemas.openxmlformats.org/officeDocument/2006/relationships/hyperlink" Target="http://baike.baidu.com/item/%E7%AD%89%E5%BC%8F" TargetMode="External"/><Relationship Id="rId5" Type="http://schemas.openxmlformats.org/officeDocument/2006/relationships/hyperlink" Target="http://baike.baidu.com/item/%E5%8E%9F%E5%87%BD%E6%95%B0" TargetMode="External"/><Relationship Id="rId4" Type="http://schemas.openxmlformats.org/officeDocument/2006/relationships/hyperlink" Target="http://baike.baidu.com/item/%E7%BA%A6%E6%9D%9F%E6%9D%A1%E4%BB%B6" TargetMode="External"/><Relationship Id="rId3" Type="http://schemas.openxmlformats.org/officeDocument/2006/relationships/hyperlink" Target="http://baike.baidu.com/item/%E6%8B%89%E6%A0%BC%E6%9C%97%E6%97%A5%E4%B9%98%E5%AD%90" TargetMode="External"/><Relationship Id="rId2" Type="http://schemas.openxmlformats.org/officeDocument/2006/relationships/notesMaster" Target="../notesMasters/notesMaster1.xml"/><Relationship Id="rId10" Type="http://schemas.openxmlformats.org/officeDocument/2006/relationships/hyperlink" Target="http://baike.baidu.com/item/%E8%87%AA%E5%8F%98%E9%87%8F" TargetMode="External"/><Relationship Id="rId1" Type="http://schemas.openxmlformats.org/officeDocument/2006/relationships/slide" Target="../slides/slide19.xml"/></Relationships>
</file>

<file path=ppt/notesSlides/_rels/notesSlide16.xml.rels><?xml version="1.0" encoding="UTF-8" standalone="yes"?>
<Relationships xmlns="http://schemas.openxmlformats.org/package/2006/relationships"><Relationship Id="rId4" Type="http://schemas.openxmlformats.org/officeDocument/2006/relationships/hyperlink" Target="https://baike.baidu.com/item/%E7%9F%A9%E9%98%B5/18069" TargetMode="External"/><Relationship Id="rId3" Type="http://schemas.openxmlformats.org/officeDocument/2006/relationships/hyperlink" Target="https://baike.baidu.com/item/%E4%B8%BB%E5%AF%B9%E8%A7%92%E7%BA%BF" TargetMode="External"/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17.xml.rels><?xml version="1.0" encoding="UTF-8" standalone="yes"?>
<Relationships xmlns="http://schemas.openxmlformats.org/package/2006/relationships"><Relationship Id="rId4" Type="http://schemas.openxmlformats.org/officeDocument/2006/relationships/hyperlink" Target="https://baike.baidu.com/item/%E7%9F%A9%E9%98%B5/18069" TargetMode="External"/><Relationship Id="rId3" Type="http://schemas.openxmlformats.org/officeDocument/2006/relationships/hyperlink" Target="https://baike.baidu.com/item/%E4%B8%BB%E5%AF%B9%E8%A7%92%E7%BA%BF" TargetMode="External"/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7.xml"/></Relationships>
</file>

<file path=ppt/notesSlides/_rels/notesSlide22.xml.rels><?xml version="1.0" encoding="UTF-8" standalone="yes"?>
<Relationships xmlns="http://schemas.openxmlformats.org/package/2006/relationships"><Relationship Id="rId6" Type="http://schemas.openxmlformats.org/officeDocument/2006/relationships/hyperlink" Target="https://baike.baidu.com/item/%E7%A0%81%E8%B7%9D" TargetMode="External"/><Relationship Id="rId5" Type="http://schemas.openxmlformats.org/officeDocument/2006/relationships/hyperlink" Target="https://baike.baidu.com/item/%E4%BF%A1%E6%81%AF%E7%BC%96%E7%A0%81/9637385" TargetMode="External"/><Relationship Id="rId4" Type="http://schemas.openxmlformats.org/officeDocument/2006/relationships/hyperlink" Target="http://baike.baidu.com/item/%E7%A0%81%E8%B7%9D" TargetMode="External"/><Relationship Id="rId3" Type="http://schemas.openxmlformats.org/officeDocument/2006/relationships/hyperlink" Target="http://baike.baidu.com/item/%E4%BF%A1%E6%81%AF%E7%BC%96%E7%A0%81/9637385" TargetMode="External"/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9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0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 smtClean="0"/>
              <a:t>下面介绍几种经典的线性模型</a:t>
            </a:r>
            <a:r>
              <a:rPr lang="en-US" altLang="zh-CN" dirty="0" smtClean="0"/>
              <a:t>.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DF57427-B8B5-4D24-A9D7-9D6F6382E66A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 smtClean="0"/>
              <a:t>线性回归  </a:t>
            </a:r>
            <a:r>
              <a:rPr lang="en-US" altLang="zh-CN" dirty="0" smtClean="0"/>
              <a:t>linear  regression</a:t>
            </a:r>
            <a:r>
              <a:rPr lang="en-US" altLang="zh-CN" baseline="0" dirty="0" smtClean="0"/>
              <a:t> 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DF57427-B8B5-4D24-A9D7-9D6F6382E66A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 smtClean="0"/>
              <a:t>闭式解（解析解）</a:t>
            </a:r>
            <a:endParaRPr lang="en-US" altLang="zh-CN" dirty="0" smtClean="0"/>
          </a:p>
          <a:p>
            <a:r>
              <a:rPr lang="zh-CN" altLang="en-US" dirty="0" smtClean="0"/>
              <a:t>数值解（有确定的值）</a:t>
            </a:r>
            <a:endParaRPr lang="en-US" altLang="zh-CN" dirty="0" smtClean="0"/>
          </a:p>
          <a:p>
            <a:endParaRPr lang="en-US" altLang="zh-CN" dirty="0" smtClean="0"/>
          </a:p>
          <a:p>
            <a:r>
              <a:rPr lang="zh-CN" altLang="en-US" dirty="0" smtClean="0"/>
              <a:t>多元</a:t>
            </a:r>
            <a:r>
              <a:rPr lang="en-US" altLang="zh-CN" dirty="0" smtClean="0"/>
              <a:t>(multi-variate)</a:t>
            </a:r>
            <a:r>
              <a:rPr lang="zh-CN" altLang="en-US" dirty="0" smtClean="0"/>
              <a:t>线性回归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DF57427-B8B5-4D24-A9D7-9D6F6382E66A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200" b="0" i="0" kern="1200" dirty="0" smtClean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在</a:t>
            </a:r>
            <a:r>
              <a:rPr lang="zh-CN" altLang="en-US" sz="1200" b="0" i="0" u="none" strike="noStrike" kern="1200" dirty="0" smtClean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  <a:hlinkClick r:id="rId3"/>
              </a:rPr>
              <a:t>线性代数</a:t>
            </a:r>
            <a:r>
              <a:rPr lang="zh-CN" altLang="en-US" sz="1200" b="0" i="0" kern="1200" dirty="0" smtClean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中，一个</a:t>
            </a:r>
            <a:r>
              <a:rPr lang="zh-CN" altLang="en-US" sz="1200" b="0" i="0" u="none" strike="noStrike" kern="1200" dirty="0" smtClean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  <a:hlinkClick r:id="rId4"/>
              </a:rPr>
              <a:t>矩阵</a:t>
            </a:r>
            <a:r>
              <a:rPr lang="en-US" altLang="zh-CN" sz="1200" b="0" i="1" kern="1200" dirty="0" smtClean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A</a:t>
            </a:r>
            <a:r>
              <a:rPr lang="zh-CN" altLang="en-US" sz="1200" b="0" i="0" kern="1200" dirty="0" smtClean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的</a:t>
            </a:r>
            <a:r>
              <a:rPr lang="zh-CN" altLang="en-US" sz="1200" b="1" i="0" kern="1200" dirty="0" smtClean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列秩</a:t>
            </a:r>
            <a:r>
              <a:rPr lang="zh-CN" altLang="en-US" sz="1200" b="0" i="0" kern="1200" dirty="0" smtClean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是</a:t>
            </a:r>
            <a:r>
              <a:rPr lang="en-US" altLang="zh-CN" sz="1200" b="0" i="1" kern="1200" dirty="0" smtClean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A</a:t>
            </a:r>
            <a:r>
              <a:rPr lang="zh-CN" altLang="en-US" sz="1200" b="0" i="0" kern="1200" dirty="0" smtClean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的</a:t>
            </a:r>
            <a:r>
              <a:rPr lang="zh-CN" altLang="en-US" sz="1200" b="0" i="0" u="none" strike="noStrike" kern="1200" dirty="0" smtClean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  <a:hlinkClick r:id="rId5"/>
              </a:rPr>
              <a:t>线性独立</a:t>
            </a:r>
            <a:r>
              <a:rPr lang="zh-CN" altLang="en-US" sz="1200" b="0" i="0" kern="1200" dirty="0" smtClean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的</a:t>
            </a:r>
            <a:r>
              <a:rPr lang="zh-CN" altLang="en-US" sz="1200" b="1" i="0" kern="1200" dirty="0" smtClean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纵列</a:t>
            </a:r>
            <a:r>
              <a:rPr lang="zh-CN" altLang="en-US" sz="1200" b="0" i="0" kern="1200" dirty="0" smtClean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的极大数。通常表示为</a:t>
            </a:r>
            <a:r>
              <a:rPr lang="en-US" altLang="zh-CN" sz="1200" b="0" i="0" kern="1200" dirty="0" smtClean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r(</a:t>
            </a:r>
            <a:r>
              <a:rPr lang="en-US" altLang="zh-CN" sz="1200" b="0" i="1" kern="1200" dirty="0" smtClean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A</a:t>
            </a:r>
            <a:r>
              <a:rPr lang="en-US" altLang="zh-CN" sz="1200" b="0" i="0" kern="1200" dirty="0" smtClean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)</a:t>
            </a:r>
            <a:r>
              <a:rPr lang="zh-CN" altLang="en-US" sz="1200" b="0" i="0" kern="1200" dirty="0" smtClean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，</a:t>
            </a:r>
            <a:r>
              <a:rPr lang="en-US" altLang="zh-CN" sz="1200" b="0" i="0" kern="1200" dirty="0" err="1" smtClean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rk</a:t>
            </a:r>
            <a:r>
              <a:rPr lang="en-US" altLang="zh-CN" sz="1200" b="0" i="0" kern="1200" dirty="0" smtClean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(</a:t>
            </a:r>
            <a:r>
              <a:rPr lang="en-US" altLang="zh-CN" sz="1200" b="0" i="1" kern="1200" dirty="0" smtClean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A</a:t>
            </a:r>
            <a:r>
              <a:rPr lang="en-US" altLang="zh-CN" sz="1200" b="0" i="0" kern="1200" dirty="0" smtClean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)</a:t>
            </a:r>
            <a:r>
              <a:rPr lang="zh-CN" altLang="en-US" sz="1200" b="0" i="0" kern="1200" dirty="0" smtClean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或</a:t>
            </a:r>
            <a:r>
              <a:rPr lang="en-US" altLang="zh-CN" sz="1200" b="0" i="0" kern="1200" dirty="0" smtClean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rank </a:t>
            </a:r>
            <a:r>
              <a:rPr lang="en-US" altLang="zh-CN" sz="1200" b="0" i="1" kern="1200" dirty="0" smtClean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A</a:t>
            </a:r>
            <a:r>
              <a:rPr lang="zh-CN" altLang="en-US" sz="1200" b="0" i="0" kern="1200" dirty="0" smtClean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。</a:t>
            </a:r>
            <a:endParaRPr lang="en-US" altLang="zh-CN" sz="1200" b="0" i="0" kern="1200" dirty="0" smtClean="0"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r>
              <a:rPr lang="zh-CN" altLang="en-US" sz="1200" b="0" i="0" kern="1200" dirty="0" smtClean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满秩矩阵（</a:t>
            </a:r>
            <a:r>
              <a:rPr lang="en-US" altLang="zh-CN" sz="1200" b="0" i="0" kern="1200" dirty="0" smtClean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non-singular matrix</a:t>
            </a:r>
            <a:r>
              <a:rPr lang="zh-CN" altLang="en-US" sz="1200" b="0" i="0" kern="1200" dirty="0" smtClean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）</a:t>
            </a:r>
            <a:r>
              <a:rPr lang="en-US" altLang="zh-CN" sz="1200" b="0" i="0" kern="1200" dirty="0" smtClean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: </a:t>
            </a:r>
            <a:r>
              <a:rPr lang="zh-CN" altLang="en-US" sz="1200" b="0" i="0" kern="1200" dirty="0" smtClean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设</a:t>
            </a:r>
            <a:r>
              <a:rPr lang="en-US" altLang="zh-CN" sz="1200" b="0" i="0" kern="1200" dirty="0" smtClean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A</a:t>
            </a:r>
            <a:r>
              <a:rPr lang="zh-CN" altLang="en-US" sz="1200" b="0" i="0" kern="1200" dirty="0" smtClean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是</a:t>
            </a:r>
            <a:r>
              <a:rPr lang="en-US" altLang="zh-CN" sz="1200" b="0" i="0" kern="1200" dirty="0" smtClean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n</a:t>
            </a:r>
            <a:r>
              <a:rPr lang="zh-CN" altLang="en-US" sz="1200" b="0" i="0" kern="1200" dirty="0" smtClean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阶矩阵</a:t>
            </a:r>
            <a:r>
              <a:rPr lang="en-US" altLang="zh-CN" sz="1200" b="0" i="0" kern="1200" dirty="0" smtClean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, </a:t>
            </a:r>
            <a:r>
              <a:rPr lang="zh-CN" altLang="en-US" sz="1200" b="0" i="0" kern="1200" dirty="0" smtClean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若</a:t>
            </a:r>
            <a:r>
              <a:rPr lang="en-US" altLang="zh-CN" sz="1200" b="0" i="0" kern="1200" dirty="0" smtClean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r</a:t>
            </a:r>
            <a:r>
              <a:rPr lang="zh-CN" altLang="en-US" sz="1200" b="0" i="0" kern="1200" dirty="0" smtClean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（</a:t>
            </a:r>
            <a:r>
              <a:rPr lang="en-US" altLang="zh-CN" sz="1200" b="0" i="0" kern="1200" dirty="0" smtClean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A</a:t>
            </a:r>
            <a:r>
              <a:rPr lang="zh-CN" altLang="en-US" sz="1200" b="0" i="0" kern="1200" dirty="0" smtClean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） </a:t>
            </a:r>
            <a:r>
              <a:rPr lang="en-US" altLang="zh-CN" sz="1200" b="0" i="0" kern="1200" dirty="0" smtClean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= n, </a:t>
            </a:r>
            <a:r>
              <a:rPr lang="zh-CN" altLang="en-US" sz="1200" b="0" i="0" kern="1200" dirty="0" smtClean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则称</a:t>
            </a:r>
            <a:r>
              <a:rPr lang="en-US" altLang="zh-CN" sz="1200" b="0" i="0" kern="1200" dirty="0" smtClean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A</a:t>
            </a:r>
            <a:r>
              <a:rPr lang="zh-CN" altLang="en-US" sz="1200" b="0" i="0" kern="1200" dirty="0" smtClean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为满秩矩阵。</a:t>
            </a:r>
            <a:endParaRPr lang="en-US" altLang="zh-CN" sz="1200" b="0" i="0" kern="1200" dirty="0" smtClean="0"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r>
              <a:rPr lang="zh-CN" altLang="en-US" sz="1200" b="0" i="0" kern="1200" dirty="0" smtClean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一个</a:t>
            </a:r>
            <a:r>
              <a:rPr lang="en-US" altLang="zh-CN" sz="1200" b="0" i="1" kern="1200" dirty="0" smtClean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n</a:t>
            </a:r>
            <a:r>
              <a:rPr lang="zh-CN" altLang="en-US" sz="1200" b="0" i="0" kern="1200" dirty="0" smtClean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阶矩阵</a:t>
            </a:r>
            <a:r>
              <a:rPr lang="en-US" altLang="zh-CN" sz="1200" b="1" i="1" kern="1200" dirty="0" smtClean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A</a:t>
            </a:r>
            <a:r>
              <a:rPr lang="zh-CN" altLang="en-US" sz="1200" b="0" i="0" kern="1200" dirty="0" smtClean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只有一个</a:t>
            </a:r>
            <a:r>
              <a:rPr lang="en-US" altLang="zh-CN" sz="1200" b="0" i="1" kern="1200" dirty="0" smtClean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n</a:t>
            </a:r>
            <a:r>
              <a:rPr lang="zh-CN" altLang="en-US" sz="1200" b="0" i="0" kern="1200" dirty="0" smtClean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阶子式</a:t>
            </a:r>
            <a:r>
              <a:rPr lang="en-US" altLang="zh-CN" sz="1200" b="0" i="0" kern="1200" dirty="0" smtClean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,</a:t>
            </a:r>
            <a:r>
              <a:rPr lang="zh-CN" altLang="en-US" sz="1200" b="0" i="0" kern="1200" dirty="0" smtClean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它称为矩阵</a:t>
            </a:r>
            <a:r>
              <a:rPr lang="en-US" altLang="zh-CN" sz="1200" b="1" i="1" kern="1200" dirty="0" smtClean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A</a:t>
            </a:r>
            <a:r>
              <a:rPr lang="zh-CN" altLang="en-US" sz="1200" b="0" i="0" kern="1200" dirty="0" smtClean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的行列式，记作│</a:t>
            </a:r>
            <a:r>
              <a:rPr lang="en-US" altLang="zh-CN" sz="1200" b="1" i="1" kern="1200" dirty="0" smtClean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A</a:t>
            </a:r>
            <a:r>
              <a:rPr lang="zh-CN" altLang="en-US" sz="1200" b="0" i="0" kern="1200" dirty="0" smtClean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│或</a:t>
            </a:r>
            <a:r>
              <a:rPr lang="en-US" altLang="zh-CN" sz="1200" b="0" i="0" kern="1200" dirty="0" err="1" smtClean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det</a:t>
            </a:r>
            <a:r>
              <a:rPr lang="en-US" altLang="zh-CN" sz="1200" b="1" i="1" kern="1200" dirty="0" err="1" smtClean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A</a:t>
            </a:r>
            <a:r>
              <a:rPr lang="zh-CN" altLang="en-US" sz="1200" b="1" i="1" kern="1200" dirty="0" smtClean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。</a:t>
            </a:r>
            <a:endParaRPr lang="en-US" altLang="zh-CN" sz="1200" b="1" i="1" kern="1200" dirty="0" smtClean="0"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endParaRPr lang="en-US" altLang="zh-CN" sz="1200" b="1" i="1" kern="1200" dirty="0" smtClean="0"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zh-CN" altLang="en-US" dirty="0" smtClean="0"/>
              <a:t>正则化 </a:t>
            </a:r>
            <a:r>
              <a:rPr lang="en-US" altLang="zh-CN" dirty="0" smtClean="0"/>
              <a:t>(regularization)</a:t>
            </a:r>
            <a:endParaRPr lang="en-US" altLang="zh-CN" dirty="0" smtClean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1200" b="0" i="0" kern="1200" dirty="0" smtClean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r(d) = “</a:t>
            </a:r>
            <a:r>
              <a:rPr lang="zh-CN" altLang="en-US" sz="1200" b="0" i="0" kern="1200" dirty="0" smtClean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让</a:t>
            </a:r>
            <a:r>
              <a:rPr lang="en-US" altLang="zh-CN" sz="1200" b="1" i="0" kern="1200" dirty="0" smtClean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W</a:t>
            </a:r>
            <a:r>
              <a:rPr lang="zh-CN" altLang="en-US" sz="1200" b="0" i="0" kern="1200" dirty="0" smtClean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向量中项的个数最小化” </a:t>
            </a:r>
            <a:r>
              <a:rPr lang="en-US" altLang="zh-CN" sz="1200" b="0" i="0" kern="1200" dirty="0" smtClean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= </a:t>
            </a:r>
            <a:endParaRPr lang="en-US" altLang="zh-CN" sz="1200" b="0" i="0" kern="1200" dirty="0" smtClean="0"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zh-CN" altLang="en-US" sz="1200" b="0" i="0" kern="1200" dirty="0" smtClean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我们管叫做</a:t>
            </a:r>
            <a:r>
              <a:rPr lang="zh-CN" altLang="en-US" sz="1200" b="1" i="0" kern="1200" dirty="0" smtClean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经验风险</a:t>
            </a:r>
            <a:r>
              <a:rPr lang="zh-CN" altLang="en-US" sz="1200" b="0" i="0" kern="1200" dirty="0" smtClean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，管上面我们思维导图的过程叫做</a:t>
            </a:r>
            <a:r>
              <a:rPr lang="zh-CN" altLang="en-US" sz="1200" b="1" i="0" kern="1200" dirty="0" smtClean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正则化</a:t>
            </a:r>
            <a:r>
              <a:rPr lang="zh-CN" altLang="en-US" sz="1200" b="0" i="0" kern="1200" dirty="0" smtClean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，所以顺其自然的管</a:t>
            </a:r>
            <a:r>
              <a:rPr lang="en-US" altLang="zh-CN" sz="1200" b="0" i="0" kern="1200" dirty="0" smtClean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r(d)</a:t>
            </a:r>
            <a:r>
              <a:rPr lang="zh-CN" altLang="en-US" sz="1200" b="0" i="0" kern="1200" dirty="0" smtClean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叫做</a:t>
            </a:r>
            <a:r>
              <a:rPr lang="zh-CN" altLang="en-US" sz="1200" b="1" i="0" kern="1200" dirty="0" smtClean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正则化项</a:t>
            </a:r>
            <a:r>
              <a:rPr lang="zh-CN" altLang="en-US" sz="1200" b="0" i="0" kern="1200" dirty="0" smtClean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，然后管</a:t>
            </a:r>
            <a:r>
              <a:rPr lang="en-US" altLang="zh-CN" sz="1200" b="0" i="0" kern="1200" dirty="0" smtClean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+r(d) </a:t>
            </a:r>
            <a:r>
              <a:rPr lang="zh-CN" altLang="en-US" sz="1200" b="0" i="0" kern="1200" dirty="0" smtClean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叫做</a:t>
            </a:r>
            <a:r>
              <a:rPr lang="zh-CN" altLang="en-US" sz="1200" b="1" i="0" kern="1200" dirty="0" smtClean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结构风险</a:t>
            </a:r>
            <a:r>
              <a:rPr lang="zh-CN" altLang="en-US" sz="1200" b="0" i="0" kern="1200" dirty="0" smtClean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，所以顺其自然的</a:t>
            </a:r>
            <a:r>
              <a:rPr lang="zh-CN" altLang="en-US" sz="1200" b="1" i="0" kern="1200" dirty="0" smtClean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正则化</a:t>
            </a:r>
            <a:r>
              <a:rPr lang="zh-CN" altLang="en-US" sz="1200" b="0" i="0" kern="1200" dirty="0" smtClean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就是我们将</a:t>
            </a:r>
            <a:r>
              <a:rPr lang="zh-CN" altLang="en-US" sz="1200" b="1" i="0" kern="1200" dirty="0" smtClean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结构风险</a:t>
            </a:r>
            <a:r>
              <a:rPr lang="zh-CN" altLang="en-US" sz="1200" b="0" i="0" kern="1200" dirty="0" smtClean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最小化的过程，它们是等价的。</a:t>
            </a:r>
            <a:endParaRPr lang="en-US" altLang="zh-CN" dirty="0" smtClean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lang="zh-CN" altLang="en-US" dirty="0" smtClean="0"/>
          </a:p>
          <a:p>
            <a:r>
              <a:rPr lang="zh-CN" altLang="en-US" dirty="0" smtClean="0"/>
              <a:t>现实任务中</a:t>
            </a:r>
            <a:r>
              <a:rPr lang="en-US" altLang="zh-CN" dirty="0" smtClean="0"/>
              <a:t>XTX</a:t>
            </a:r>
            <a:r>
              <a:rPr lang="zh-CN" altLang="en-US" dirty="0" smtClean="0"/>
              <a:t>往往不是满秩矩阵</a:t>
            </a:r>
            <a:r>
              <a:rPr lang="en-US" altLang="zh-CN" dirty="0" smtClean="0"/>
              <a:t>.</a:t>
            </a:r>
            <a:r>
              <a:rPr lang="zh-CN" altLang="en-US" dirty="0" smtClean="0"/>
              <a:t>例如在许多任务中我们会遇到大量的变量，其数目甚至超过样例数，导致</a:t>
            </a:r>
            <a:r>
              <a:rPr lang="en-US" altLang="zh-CN" dirty="0" smtClean="0"/>
              <a:t>X</a:t>
            </a:r>
            <a:r>
              <a:rPr lang="zh-CN" altLang="en-US" dirty="0" smtClean="0"/>
              <a:t>的列数多于行数，</a:t>
            </a:r>
            <a:r>
              <a:rPr lang="en-US" altLang="zh-CN" dirty="0" smtClean="0"/>
              <a:t>XTX</a:t>
            </a:r>
            <a:r>
              <a:rPr lang="zh-CN" altLang="en-US" dirty="0" smtClean="0"/>
              <a:t>显然不满秩此时可解出多个</a:t>
            </a:r>
            <a:r>
              <a:rPr lang="en-US" altLang="zh-CN" dirty="0" smtClean="0"/>
              <a:t>w</a:t>
            </a:r>
            <a:r>
              <a:rPr lang="zh-CN" altLang="en-US" dirty="0" smtClean="0"/>
              <a:t>，它们都能使均方误差最小化。选择哪一个解作为输出，将由学习算法的归纳偏好决定，常见的做法是引入正则化。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DF57427-B8B5-4D24-A9D7-9D6F6382E66A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200" b="0" i="0" kern="1200" dirty="0" smtClean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在</a:t>
            </a:r>
            <a:r>
              <a:rPr lang="zh-CN" altLang="en-US" sz="1200" b="0" i="0" u="none" strike="noStrike" kern="1200" dirty="0" smtClean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  <a:hlinkClick r:id="rId3"/>
              </a:rPr>
              <a:t>线性代数</a:t>
            </a:r>
            <a:r>
              <a:rPr lang="zh-CN" altLang="en-US" sz="1200" b="0" i="0" kern="1200" dirty="0" smtClean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中，一个</a:t>
            </a:r>
            <a:r>
              <a:rPr lang="zh-CN" altLang="en-US" sz="1200" b="0" i="0" u="none" strike="noStrike" kern="1200" dirty="0" smtClean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  <a:hlinkClick r:id="rId4"/>
              </a:rPr>
              <a:t>矩阵</a:t>
            </a:r>
            <a:r>
              <a:rPr lang="en-US" altLang="zh-CN" sz="1200" b="0" i="1" kern="1200" dirty="0" smtClean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A</a:t>
            </a:r>
            <a:r>
              <a:rPr lang="zh-CN" altLang="en-US" sz="1200" b="0" i="0" kern="1200" dirty="0" smtClean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的</a:t>
            </a:r>
            <a:r>
              <a:rPr lang="zh-CN" altLang="en-US" sz="1200" b="1" i="0" kern="1200" dirty="0" smtClean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列秩</a:t>
            </a:r>
            <a:r>
              <a:rPr lang="zh-CN" altLang="en-US" sz="1200" b="0" i="0" kern="1200" dirty="0" smtClean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是</a:t>
            </a:r>
            <a:r>
              <a:rPr lang="en-US" altLang="zh-CN" sz="1200" b="0" i="1" kern="1200" dirty="0" smtClean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A</a:t>
            </a:r>
            <a:r>
              <a:rPr lang="zh-CN" altLang="en-US" sz="1200" b="0" i="0" kern="1200" dirty="0" smtClean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的</a:t>
            </a:r>
            <a:r>
              <a:rPr lang="zh-CN" altLang="en-US" sz="1200" b="0" i="0" u="none" strike="noStrike" kern="1200" dirty="0" smtClean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  <a:hlinkClick r:id="rId5"/>
              </a:rPr>
              <a:t>线性独立</a:t>
            </a:r>
            <a:r>
              <a:rPr lang="zh-CN" altLang="en-US" sz="1200" b="0" i="0" kern="1200" dirty="0" smtClean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的</a:t>
            </a:r>
            <a:r>
              <a:rPr lang="zh-CN" altLang="en-US" sz="1200" b="1" i="0" kern="1200" dirty="0" smtClean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纵列</a:t>
            </a:r>
            <a:r>
              <a:rPr lang="zh-CN" altLang="en-US" sz="1200" b="0" i="0" kern="1200" dirty="0" smtClean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的极大数。通常表示为</a:t>
            </a:r>
            <a:r>
              <a:rPr lang="en-US" altLang="zh-CN" sz="1200" b="0" i="0" kern="1200" dirty="0" smtClean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r(</a:t>
            </a:r>
            <a:r>
              <a:rPr lang="en-US" altLang="zh-CN" sz="1200" b="0" i="1" kern="1200" dirty="0" smtClean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A</a:t>
            </a:r>
            <a:r>
              <a:rPr lang="en-US" altLang="zh-CN" sz="1200" b="0" i="0" kern="1200" dirty="0" smtClean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)</a:t>
            </a:r>
            <a:r>
              <a:rPr lang="zh-CN" altLang="en-US" sz="1200" b="0" i="0" kern="1200" dirty="0" smtClean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，</a:t>
            </a:r>
            <a:r>
              <a:rPr lang="en-US" altLang="zh-CN" sz="1200" b="0" i="0" kern="1200" dirty="0" err="1" smtClean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rk</a:t>
            </a:r>
            <a:r>
              <a:rPr lang="en-US" altLang="zh-CN" sz="1200" b="0" i="0" kern="1200" dirty="0" smtClean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(</a:t>
            </a:r>
            <a:r>
              <a:rPr lang="en-US" altLang="zh-CN" sz="1200" b="0" i="1" kern="1200" dirty="0" smtClean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A</a:t>
            </a:r>
            <a:r>
              <a:rPr lang="en-US" altLang="zh-CN" sz="1200" b="0" i="0" kern="1200" dirty="0" smtClean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)</a:t>
            </a:r>
            <a:r>
              <a:rPr lang="zh-CN" altLang="en-US" sz="1200" b="0" i="0" kern="1200" dirty="0" smtClean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或</a:t>
            </a:r>
            <a:r>
              <a:rPr lang="en-US" altLang="zh-CN" sz="1200" b="0" i="0" kern="1200" dirty="0" smtClean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rank </a:t>
            </a:r>
            <a:r>
              <a:rPr lang="en-US" altLang="zh-CN" sz="1200" b="0" i="1" kern="1200" dirty="0" smtClean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A</a:t>
            </a:r>
            <a:r>
              <a:rPr lang="zh-CN" altLang="en-US" sz="1200" b="0" i="0" kern="1200" dirty="0" smtClean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。</a:t>
            </a:r>
            <a:endParaRPr lang="en-US" altLang="zh-CN" sz="1200" b="0" i="0" kern="1200" dirty="0" smtClean="0"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r>
              <a:rPr lang="zh-CN" altLang="en-US" sz="1200" b="0" i="0" kern="1200" dirty="0" smtClean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满秩矩阵（</a:t>
            </a:r>
            <a:r>
              <a:rPr lang="en-US" altLang="zh-CN" sz="1200" b="0" i="0" kern="1200" dirty="0" smtClean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non-singular matrix</a:t>
            </a:r>
            <a:r>
              <a:rPr lang="zh-CN" altLang="en-US" sz="1200" b="0" i="0" kern="1200" dirty="0" smtClean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）</a:t>
            </a:r>
            <a:r>
              <a:rPr lang="en-US" altLang="zh-CN" sz="1200" b="0" i="0" kern="1200" dirty="0" smtClean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: </a:t>
            </a:r>
            <a:r>
              <a:rPr lang="zh-CN" altLang="en-US" sz="1200" b="0" i="0" kern="1200" dirty="0" smtClean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设</a:t>
            </a:r>
            <a:r>
              <a:rPr lang="en-US" altLang="zh-CN" sz="1200" b="0" i="0" kern="1200" dirty="0" smtClean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A</a:t>
            </a:r>
            <a:r>
              <a:rPr lang="zh-CN" altLang="en-US" sz="1200" b="0" i="0" kern="1200" dirty="0" smtClean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是</a:t>
            </a:r>
            <a:r>
              <a:rPr lang="en-US" altLang="zh-CN" sz="1200" b="0" i="0" kern="1200" dirty="0" smtClean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n</a:t>
            </a:r>
            <a:r>
              <a:rPr lang="zh-CN" altLang="en-US" sz="1200" b="0" i="0" kern="1200" dirty="0" smtClean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阶矩阵</a:t>
            </a:r>
            <a:r>
              <a:rPr lang="en-US" altLang="zh-CN" sz="1200" b="0" i="0" kern="1200" dirty="0" smtClean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, </a:t>
            </a:r>
            <a:r>
              <a:rPr lang="zh-CN" altLang="en-US" sz="1200" b="0" i="0" kern="1200" dirty="0" smtClean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若</a:t>
            </a:r>
            <a:r>
              <a:rPr lang="en-US" altLang="zh-CN" sz="1200" b="0" i="0" kern="1200" dirty="0" smtClean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r</a:t>
            </a:r>
            <a:r>
              <a:rPr lang="zh-CN" altLang="en-US" sz="1200" b="0" i="0" kern="1200" dirty="0" smtClean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（</a:t>
            </a:r>
            <a:r>
              <a:rPr lang="en-US" altLang="zh-CN" sz="1200" b="0" i="0" kern="1200" dirty="0" smtClean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A</a:t>
            </a:r>
            <a:r>
              <a:rPr lang="zh-CN" altLang="en-US" sz="1200" b="0" i="0" kern="1200" dirty="0" smtClean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） </a:t>
            </a:r>
            <a:r>
              <a:rPr lang="en-US" altLang="zh-CN" sz="1200" b="0" i="0" kern="1200" dirty="0" smtClean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= n, </a:t>
            </a:r>
            <a:r>
              <a:rPr lang="zh-CN" altLang="en-US" sz="1200" b="0" i="0" kern="1200" dirty="0" smtClean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则称</a:t>
            </a:r>
            <a:r>
              <a:rPr lang="en-US" altLang="zh-CN" sz="1200" b="0" i="0" kern="1200" dirty="0" smtClean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A</a:t>
            </a:r>
            <a:r>
              <a:rPr lang="zh-CN" altLang="en-US" sz="1200" b="0" i="0" kern="1200" dirty="0" smtClean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为满秩矩阵。</a:t>
            </a:r>
            <a:endParaRPr lang="en-US" altLang="zh-CN" sz="1200" b="0" i="0" kern="1200" dirty="0" smtClean="0"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r>
              <a:rPr lang="zh-CN" altLang="en-US" sz="1200" b="0" i="0" kern="1200" dirty="0" smtClean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一个</a:t>
            </a:r>
            <a:r>
              <a:rPr lang="en-US" altLang="zh-CN" sz="1200" b="0" i="1" kern="1200" dirty="0" smtClean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n</a:t>
            </a:r>
            <a:r>
              <a:rPr lang="zh-CN" altLang="en-US" sz="1200" b="0" i="0" kern="1200" dirty="0" smtClean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阶矩阵</a:t>
            </a:r>
            <a:r>
              <a:rPr lang="en-US" altLang="zh-CN" sz="1200" b="1" i="1" kern="1200" dirty="0" smtClean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A</a:t>
            </a:r>
            <a:r>
              <a:rPr lang="zh-CN" altLang="en-US" sz="1200" b="0" i="0" kern="1200" dirty="0" smtClean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只有一个</a:t>
            </a:r>
            <a:r>
              <a:rPr lang="en-US" altLang="zh-CN" sz="1200" b="0" i="1" kern="1200" dirty="0" smtClean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n</a:t>
            </a:r>
            <a:r>
              <a:rPr lang="zh-CN" altLang="en-US" sz="1200" b="0" i="0" kern="1200" dirty="0" smtClean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阶子式</a:t>
            </a:r>
            <a:r>
              <a:rPr lang="en-US" altLang="zh-CN" sz="1200" b="0" i="0" kern="1200" dirty="0" smtClean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,</a:t>
            </a:r>
            <a:r>
              <a:rPr lang="zh-CN" altLang="en-US" sz="1200" b="0" i="0" kern="1200" dirty="0" smtClean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它称为矩阵</a:t>
            </a:r>
            <a:r>
              <a:rPr lang="en-US" altLang="zh-CN" sz="1200" b="1" i="1" kern="1200" dirty="0" smtClean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A</a:t>
            </a:r>
            <a:r>
              <a:rPr lang="zh-CN" altLang="en-US" sz="1200" b="0" i="0" kern="1200" dirty="0" smtClean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的行列式，记作│</a:t>
            </a:r>
            <a:r>
              <a:rPr lang="en-US" altLang="zh-CN" sz="1200" b="1" i="1" kern="1200" dirty="0" smtClean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A</a:t>
            </a:r>
            <a:r>
              <a:rPr lang="zh-CN" altLang="en-US" sz="1200" b="0" i="0" kern="1200" dirty="0" smtClean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│或</a:t>
            </a:r>
            <a:r>
              <a:rPr lang="en-US" altLang="zh-CN" sz="1200" b="0" i="0" kern="1200" dirty="0" err="1" smtClean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det</a:t>
            </a:r>
            <a:r>
              <a:rPr lang="en-US" altLang="zh-CN" sz="1200" b="1" i="1" kern="1200" dirty="0" err="1" smtClean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A</a:t>
            </a:r>
            <a:r>
              <a:rPr lang="zh-CN" altLang="en-US" sz="1200" b="1" i="1" kern="1200" dirty="0" smtClean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。</a:t>
            </a:r>
            <a:endParaRPr lang="en-US" altLang="zh-CN" sz="1200" b="1" i="1" kern="1200" dirty="0" smtClean="0"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endParaRPr lang="en-US" altLang="zh-CN" sz="1200" b="1" i="1" kern="1200" dirty="0" smtClean="0"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zh-CN" altLang="en-US" dirty="0" smtClean="0"/>
              <a:t>正则化 </a:t>
            </a:r>
            <a:r>
              <a:rPr lang="en-US" altLang="zh-CN" dirty="0" smtClean="0"/>
              <a:t>(regularization)</a:t>
            </a:r>
            <a:endParaRPr lang="en-US" altLang="zh-CN" dirty="0" smtClean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1200" b="0" i="0" kern="1200" dirty="0" smtClean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r(d) = “</a:t>
            </a:r>
            <a:r>
              <a:rPr lang="zh-CN" altLang="en-US" sz="1200" b="0" i="0" kern="1200" dirty="0" smtClean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让</a:t>
            </a:r>
            <a:r>
              <a:rPr lang="en-US" altLang="zh-CN" sz="1200" b="1" i="0" kern="1200" dirty="0" smtClean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W</a:t>
            </a:r>
            <a:r>
              <a:rPr lang="zh-CN" altLang="en-US" sz="1200" b="0" i="0" kern="1200" dirty="0" smtClean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向量中项的个数最小化” </a:t>
            </a:r>
            <a:r>
              <a:rPr lang="en-US" altLang="zh-CN" sz="1200" b="0" i="0" kern="1200" dirty="0" smtClean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= </a:t>
            </a:r>
            <a:endParaRPr lang="en-US" altLang="zh-CN" sz="1200" b="0" i="0" kern="1200" dirty="0" smtClean="0"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zh-CN" altLang="en-US" sz="1200" b="0" i="0" kern="1200" dirty="0" smtClean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我们管叫做</a:t>
            </a:r>
            <a:r>
              <a:rPr lang="zh-CN" altLang="en-US" sz="1200" b="1" i="0" kern="1200" dirty="0" smtClean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经验风险</a:t>
            </a:r>
            <a:r>
              <a:rPr lang="zh-CN" altLang="en-US" sz="1200" b="0" i="0" kern="1200" dirty="0" smtClean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，管上面我们思维导图的过程叫做</a:t>
            </a:r>
            <a:r>
              <a:rPr lang="zh-CN" altLang="en-US" sz="1200" b="1" i="0" kern="1200" dirty="0" smtClean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正则化</a:t>
            </a:r>
            <a:r>
              <a:rPr lang="zh-CN" altLang="en-US" sz="1200" b="0" i="0" kern="1200" dirty="0" smtClean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，所以顺其自然的管</a:t>
            </a:r>
            <a:r>
              <a:rPr lang="en-US" altLang="zh-CN" sz="1200" b="0" i="0" kern="1200" dirty="0" smtClean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r(d)</a:t>
            </a:r>
            <a:r>
              <a:rPr lang="zh-CN" altLang="en-US" sz="1200" b="0" i="0" kern="1200" dirty="0" smtClean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叫做</a:t>
            </a:r>
            <a:r>
              <a:rPr lang="zh-CN" altLang="en-US" sz="1200" b="1" i="0" kern="1200" dirty="0" smtClean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正则化项</a:t>
            </a:r>
            <a:r>
              <a:rPr lang="zh-CN" altLang="en-US" sz="1200" b="0" i="0" kern="1200" dirty="0" smtClean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，然后管</a:t>
            </a:r>
            <a:r>
              <a:rPr lang="en-US" altLang="zh-CN" sz="1200" b="0" i="0" kern="1200" dirty="0" smtClean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+r(d) </a:t>
            </a:r>
            <a:r>
              <a:rPr lang="zh-CN" altLang="en-US" sz="1200" b="0" i="0" kern="1200" dirty="0" smtClean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叫做</a:t>
            </a:r>
            <a:r>
              <a:rPr lang="zh-CN" altLang="en-US" sz="1200" b="1" i="0" kern="1200" dirty="0" smtClean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结构风险</a:t>
            </a:r>
            <a:r>
              <a:rPr lang="zh-CN" altLang="en-US" sz="1200" b="0" i="0" kern="1200" dirty="0" smtClean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，所以顺其自然的</a:t>
            </a:r>
            <a:r>
              <a:rPr lang="zh-CN" altLang="en-US" sz="1200" b="1" i="0" kern="1200" dirty="0" smtClean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正则化</a:t>
            </a:r>
            <a:r>
              <a:rPr lang="zh-CN" altLang="en-US" sz="1200" b="0" i="0" kern="1200" dirty="0" smtClean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就是我们将</a:t>
            </a:r>
            <a:r>
              <a:rPr lang="zh-CN" altLang="en-US" sz="1200" b="1" i="0" kern="1200" dirty="0" smtClean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结构风险</a:t>
            </a:r>
            <a:r>
              <a:rPr lang="zh-CN" altLang="en-US" sz="1200" b="0" i="0" kern="1200" dirty="0" smtClean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最小化的过程，它们是等价的。</a:t>
            </a:r>
            <a:endParaRPr lang="en-US" altLang="zh-CN" dirty="0" smtClean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lang="zh-CN" altLang="en-US" dirty="0" smtClean="0"/>
          </a:p>
          <a:p>
            <a:r>
              <a:rPr lang="zh-CN" altLang="en-US" dirty="0" smtClean="0"/>
              <a:t>现实任务中</a:t>
            </a:r>
            <a:r>
              <a:rPr lang="en-US" altLang="zh-CN" dirty="0" smtClean="0"/>
              <a:t>XTX</a:t>
            </a:r>
            <a:r>
              <a:rPr lang="zh-CN" altLang="en-US" dirty="0" smtClean="0"/>
              <a:t>往往不是满秩矩阵</a:t>
            </a:r>
            <a:r>
              <a:rPr lang="en-US" altLang="zh-CN" dirty="0" smtClean="0"/>
              <a:t>.</a:t>
            </a:r>
            <a:r>
              <a:rPr lang="zh-CN" altLang="en-US" dirty="0" smtClean="0"/>
              <a:t>例如在许多任务中我们会遇到大量的变量，其数目甚至超过样例数，导致</a:t>
            </a:r>
            <a:r>
              <a:rPr lang="en-US" altLang="zh-CN" dirty="0" smtClean="0"/>
              <a:t>X</a:t>
            </a:r>
            <a:r>
              <a:rPr lang="zh-CN" altLang="en-US" dirty="0" smtClean="0"/>
              <a:t>的列数多于行数，</a:t>
            </a:r>
            <a:r>
              <a:rPr lang="en-US" altLang="zh-CN" dirty="0" smtClean="0"/>
              <a:t>XTX</a:t>
            </a:r>
            <a:r>
              <a:rPr lang="zh-CN" altLang="en-US" dirty="0" smtClean="0"/>
              <a:t>显然不满秩此时可解出多个</a:t>
            </a:r>
            <a:r>
              <a:rPr lang="en-US" altLang="zh-CN" dirty="0" smtClean="0"/>
              <a:t>w</a:t>
            </a:r>
            <a:r>
              <a:rPr lang="zh-CN" altLang="en-US" dirty="0" smtClean="0"/>
              <a:t>，它们都能使均方误差最小化。选择哪一个解作为输出，将由学习算法的归纳偏好决定，常见的做法是引入正则化。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DF57427-B8B5-4D24-A9D7-9D6F6382E66A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 smtClean="0"/>
              <a:t>广义</a:t>
            </a:r>
            <a:r>
              <a:rPr lang="en-US" altLang="zh-CN" dirty="0" smtClean="0"/>
              <a:t>(generalized)</a:t>
            </a:r>
            <a:r>
              <a:rPr lang="zh-CN" altLang="en-US" dirty="0" smtClean="0"/>
              <a:t>线性模型</a:t>
            </a:r>
            <a:endParaRPr lang="en-US" altLang="zh-CN" dirty="0" smtClean="0"/>
          </a:p>
          <a:p>
            <a:endParaRPr lang="en-US" altLang="zh-CN" dirty="0" smtClean="0"/>
          </a:p>
          <a:p>
            <a:endParaRPr lang="zh-CN" altLang="en-US" dirty="0" smtClean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DF57427-B8B5-4D24-A9D7-9D6F6382E66A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 smtClean="0"/>
              <a:t>广义</a:t>
            </a:r>
            <a:r>
              <a:rPr lang="en-US" altLang="zh-CN" dirty="0" smtClean="0"/>
              <a:t>(generalized)</a:t>
            </a:r>
            <a:r>
              <a:rPr lang="zh-CN" altLang="en-US" dirty="0" smtClean="0"/>
              <a:t>线性模型</a:t>
            </a:r>
            <a:endParaRPr lang="en-US" altLang="zh-CN" dirty="0" smtClean="0"/>
          </a:p>
          <a:p>
            <a:endParaRPr lang="en-US" altLang="zh-CN" dirty="0" smtClean="0"/>
          </a:p>
          <a:p>
            <a:endParaRPr lang="zh-CN" altLang="en-US" dirty="0" smtClean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DF57427-B8B5-4D24-A9D7-9D6F6382E66A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 smtClean="0"/>
              <a:t>下面介绍一种这样的函数</a:t>
            </a:r>
            <a:endParaRPr lang="en-US" altLang="zh-CN" dirty="0" smtClean="0"/>
          </a:p>
          <a:p>
            <a:endParaRPr lang="en-US" altLang="zh-CN" dirty="0" smtClean="0"/>
          </a:p>
          <a:p>
            <a:r>
              <a:rPr lang="zh-CN" altLang="en-US" dirty="0" smtClean="0"/>
              <a:t>广义</a:t>
            </a:r>
            <a:r>
              <a:rPr lang="en-US" altLang="zh-CN" dirty="0" smtClean="0"/>
              <a:t>(generalized)</a:t>
            </a:r>
            <a:r>
              <a:rPr lang="zh-CN" altLang="en-US" dirty="0" smtClean="0"/>
              <a:t>线性模型</a:t>
            </a:r>
            <a:endParaRPr lang="en-US" altLang="zh-CN" dirty="0" smtClean="0"/>
          </a:p>
          <a:p>
            <a:endParaRPr lang="en-US" altLang="zh-CN" dirty="0" smtClean="0"/>
          </a:p>
          <a:p>
            <a:r>
              <a:rPr lang="zh-CN" altLang="en-US" dirty="0" smtClean="0"/>
              <a:t>“单位阶跃函数”</a:t>
            </a:r>
            <a:r>
              <a:rPr lang="en-US" altLang="zh-CN" dirty="0" smtClean="0"/>
              <a:t>(unit-step function)</a:t>
            </a:r>
            <a:endParaRPr lang="en-US" altLang="zh-CN" dirty="0" smtClean="0"/>
          </a:p>
          <a:p>
            <a:endParaRPr lang="en-US" altLang="zh-CN" dirty="0" smtClean="0"/>
          </a:p>
          <a:p>
            <a:endParaRPr lang="en-US" altLang="zh-CN" dirty="0" smtClean="0"/>
          </a:p>
          <a:p>
            <a:endParaRPr lang="zh-CN" altLang="en-US" dirty="0" smtClean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DF57427-B8B5-4D24-A9D7-9D6F6382E66A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 smtClean="0"/>
              <a:t>对数几率函数</a:t>
            </a:r>
            <a:r>
              <a:rPr lang="en-US" altLang="zh-CN" dirty="0" smtClean="0"/>
              <a:t>(logistic function)</a:t>
            </a:r>
            <a:r>
              <a:rPr lang="zh-CN" altLang="en-US" dirty="0" smtClean="0"/>
              <a:t>，简称“对率函数”</a:t>
            </a:r>
            <a:endParaRPr lang="en-US" altLang="zh-CN" dirty="0" smtClean="0"/>
          </a:p>
          <a:p>
            <a:endParaRPr lang="en-US" altLang="zh-CN" dirty="0" smtClean="0"/>
          </a:p>
          <a:p>
            <a:r>
              <a:rPr lang="en-US" altLang="zh-CN" dirty="0" smtClean="0">
                <a:latin typeface="+mn-ea"/>
              </a:rPr>
              <a:t>Sigmoid</a:t>
            </a:r>
            <a:r>
              <a:rPr lang="zh-CN" altLang="en-US" dirty="0" smtClean="0">
                <a:latin typeface="+mn-ea"/>
              </a:rPr>
              <a:t>（</a:t>
            </a:r>
            <a:r>
              <a:rPr lang="en-US" altLang="zh-CN" dirty="0" smtClean="0">
                <a:latin typeface="+mn-ea"/>
              </a:rPr>
              <a:t>s</a:t>
            </a:r>
            <a:r>
              <a:rPr lang="zh-CN" altLang="en-US" dirty="0" smtClean="0">
                <a:latin typeface="+mn-ea"/>
              </a:rPr>
              <a:t>型）</a:t>
            </a:r>
            <a:endParaRPr lang="en-US" altLang="zh-CN" dirty="0" smtClean="0">
              <a:latin typeface="+mn-ea"/>
            </a:endParaRPr>
          </a:p>
          <a:p>
            <a:endParaRPr lang="en-US" altLang="zh-CN" dirty="0" smtClean="0">
              <a:latin typeface="+mn-ea"/>
            </a:endParaRPr>
          </a:p>
          <a:p>
            <a:r>
              <a:rPr lang="zh-CN" altLang="en-US" dirty="0" smtClean="0"/>
              <a:t>称为“几率”</a:t>
            </a:r>
            <a:r>
              <a:rPr lang="en-US" altLang="zh-CN" dirty="0" smtClean="0"/>
              <a:t>(odds),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DF57427-B8B5-4D24-A9D7-9D6F6382E66A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 smtClean="0">
                <a:latin typeface="+mn-ea"/>
              </a:rPr>
              <a:t>对数似然</a:t>
            </a:r>
            <a:r>
              <a:rPr lang="en-US" altLang="zh-CN" dirty="0" smtClean="0">
                <a:latin typeface="+mn-ea"/>
              </a:rPr>
              <a:t>(log-likelihood)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DF57427-B8B5-4D24-A9D7-9D6F6382E66A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 smtClean="0">
                <a:latin typeface="+mn-ea"/>
              </a:rPr>
              <a:t>对数似然</a:t>
            </a:r>
            <a:r>
              <a:rPr lang="en-US" altLang="zh-CN" dirty="0" smtClean="0">
                <a:latin typeface="+mn-ea"/>
              </a:rPr>
              <a:t>(log-likelihood)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DF57427-B8B5-4D24-A9D7-9D6F6382E66A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 smtClean="0"/>
              <a:t>线性判别分析</a:t>
            </a:r>
            <a:r>
              <a:rPr lang="en-US" altLang="zh-CN" dirty="0" smtClean="0"/>
              <a:t>(</a:t>
            </a:r>
            <a:r>
              <a:rPr lang="en-US" altLang="zh-CN" dirty="0" err="1" smtClean="0"/>
              <a:t>Lincar</a:t>
            </a:r>
            <a:r>
              <a:rPr lang="en-US" altLang="zh-CN" dirty="0" smtClean="0"/>
              <a:t> Discriminant Analysis,</a:t>
            </a:r>
            <a:r>
              <a:rPr lang="zh-CN" altLang="en-US" dirty="0" smtClean="0"/>
              <a:t>简称</a:t>
            </a:r>
            <a:r>
              <a:rPr lang="en-US" altLang="zh-CN" dirty="0" smtClean="0"/>
              <a:t>LDA)</a:t>
            </a:r>
            <a:r>
              <a:rPr lang="zh-CN" altLang="en-US" dirty="0" smtClean="0"/>
              <a:t>是种经典的线性学习方法，在一分类问题上因为最早由</a:t>
            </a:r>
            <a:r>
              <a:rPr lang="en-US" altLang="zh-CN" dirty="0" smtClean="0"/>
              <a:t>(Fisher, 1936)</a:t>
            </a:r>
            <a:r>
              <a:rPr lang="zh-CN" altLang="en-US" dirty="0" smtClean="0"/>
              <a:t>提出。亦称“</a:t>
            </a:r>
            <a:r>
              <a:rPr lang="en-US" altLang="zh-CN" dirty="0" smtClean="0"/>
              <a:t>Fishy</a:t>
            </a:r>
            <a:r>
              <a:rPr lang="zh-CN" altLang="en-US" dirty="0" smtClean="0"/>
              <a:t>二判别分析”</a:t>
            </a:r>
            <a:r>
              <a:rPr lang="en-US" altLang="zh-CN" dirty="0" smtClean="0"/>
              <a:t>.</a:t>
            </a:r>
            <a:endParaRPr lang="en-US" altLang="zh-CN" dirty="0" smtClean="0"/>
          </a:p>
          <a:p>
            <a:endParaRPr lang="en-US" altLang="zh-CN" dirty="0" smtClean="0"/>
          </a:p>
          <a:p>
            <a:r>
              <a:rPr lang="zh-CN" altLang="en-US" dirty="0" smtClean="0"/>
              <a:t> </a:t>
            </a:r>
            <a:r>
              <a:rPr lang="en-US" altLang="zh-CN" dirty="0" smtClean="0"/>
              <a:t>LDA</a:t>
            </a:r>
            <a:r>
              <a:rPr lang="zh-CN" altLang="en-US" dirty="0" smtClean="0"/>
              <a:t>的思想非常朴素</a:t>
            </a:r>
            <a:r>
              <a:rPr lang="en-US" altLang="zh-CN" dirty="0" smtClean="0"/>
              <a:t>:  </a:t>
            </a:r>
            <a:r>
              <a:rPr lang="zh-CN" altLang="en-US" dirty="0" smtClean="0"/>
              <a:t>给定训练样例集，设法将样例投影到一条直线上，使得同类样例的投影点尽可能接近、异类样例的投影点尽可能远离</a:t>
            </a:r>
            <a:r>
              <a:rPr lang="en-US" altLang="zh-CN" dirty="0" smtClean="0"/>
              <a:t>;</a:t>
            </a:r>
            <a:r>
              <a:rPr lang="zh-CN" altLang="en-US" dirty="0" smtClean="0"/>
              <a:t>在对新样本进行分类时，将其投影到同样的这条直线上，再根据投影点的位置来确定新样本的类别</a:t>
            </a:r>
            <a:r>
              <a:rPr lang="en-US" altLang="zh-CN" dirty="0" smtClean="0"/>
              <a:t>.</a:t>
            </a:r>
            <a:r>
              <a:rPr lang="zh-CN" altLang="en-US" dirty="0" smtClean="0"/>
              <a:t>图</a:t>
            </a:r>
            <a:r>
              <a:rPr lang="en-US" altLang="zh-CN" dirty="0" smtClean="0"/>
              <a:t>3.3</a:t>
            </a:r>
            <a:r>
              <a:rPr lang="zh-CN" altLang="en-US" dirty="0" smtClean="0"/>
              <a:t>给出了一个二维示意图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DF57427-B8B5-4D24-A9D7-9D6F6382E66A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 smtClean="0"/>
              <a:t>协方差：西格玛</a:t>
            </a:r>
            <a:endParaRPr lang="en-US" altLang="zh-CN" dirty="0" smtClean="0"/>
          </a:p>
          <a:p>
            <a:r>
              <a:rPr lang="zh-CN" altLang="en-US" sz="1200" b="0" i="0" kern="1200" dirty="0" smtClean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范数</a:t>
            </a:r>
            <a:r>
              <a:rPr lang="en-US" altLang="zh-CN" sz="1200" b="0" i="0" kern="1200" dirty="0" smtClean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(norm)</a:t>
            </a:r>
            <a:r>
              <a:rPr lang="zh-CN" altLang="en-US" sz="1200" b="0" i="0" kern="1200" dirty="0" smtClean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是数学中的一种基本概念。在</a:t>
            </a:r>
            <a:r>
              <a:rPr lang="zh-CN" altLang="en-US" sz="1200" b="0" i="0" u="none" strike="noStrike" kern="1200" dirty="0" smtClean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  <a:hlinkClick r:id="rId3"/>
              </a:rPr>
              <a:t>泛函分析</a:t>
            </a:r>
            <a:r>
              <a:rPr lang="zh-CN" altLang="en-US" sz="1200" b="0" i="0" kern="1200" dirty="0" smtClean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中，它定义在赋范线性空间中，并满足一定的条件，即①非负性；②齐次性；③三角不等式。它常常被用来度量某个向量空间（或矩阵）中的每个向量的长度或大小。</a:t>
            </a:r>
            <a:endParaRPr lang="en-US" altLang="zh-CN" dirty="0" smtClean="0"/>
          </a:p>
          <a:p>
            <a:endParaRPr lang="en-US" altLang="zh-CN" dirty="0" smtClean="0"/>
          </a:p>
          <a:p>
            <a:r>
              <a:rPr lang="zh-CN" altLang="en-US" dirty="0" smtClean="0"/>
              <a:t>（泛函）</a:t>
            </a:r>
            <a:endParaRPr lang="en-US" altLang="zh-CN" dirty="0" smtClean="0"/>
          </a:p>
          <a:p>
            <a:r>
              <a:rPr lang="en-US" altLang="zh-CN" dirty="0" smtClean="0"/>
              <a:t>||||</a:t>
            </a:r>
            <a:r>
              <a:rPr lang="zh-CN" altLang="en-US" dirty="0" smtClean="0"/>
              <a:t>范数，下标：几范数</a:t>
            </a:r>
            <a:endParaRPr lang="en-US" altLang="zh-CN" dirty="0" smtClean="0"/>
          </a:p>
          <a:p>
            <a:r>
              <a:rPr lang="en-US" altLang="zh-CN" sz="1200" b="0" i="0" kern="1200" dirty="0" smtClean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0</a:t>
            </a:r>
            <a:r>
              <a:rPr lang="zh-CN" altLang="en-US" sz="1200" b="0" i="0" kern="1200" dirty="0" smtClean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范数，向量中非零元素的个数。</a:t>
            </a:r>
            <a:endParaRPr lang="zh-CN" altLang="en-US" sz="1200" b="0" i="0" kern="1200" dirty="0" smtClean="0"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r>
              <a:rPr lang="en-US" altLang="zh-CN" sz="1200" b="0" i="0" kern="1200" dirty="0" smtClean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1</a:t>
            </a:r>
            <a:r>
              <a:rPr lang="zh-CN" altLang="en-US" sz="1200" b="0" i="0" kern="1200" dirty="0" smtClean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范数，为绝对值之和。</a:t>
            </a:r>
            <a:endParaRPr lang="zh-CN" altLang="en-US" sz="1200" b="0" i="0" kern="1200" dirty="0" smtClean="0"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r>
              <a:rPr lang="en-US" altLang="zh-CN" sz="1200" b="0" i="0" kern="1200" dirty="0" smtClean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</a:t>
            </a:r>
            <a:r>
              <a:rPr lang="zh-CN" altLang="en-US" sz="1200" b="0" i="0" kern="1200" dirty="0" smtClean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范数，就是通常意义上的模。</a:t>
            </a:r>
            <a:endParaRPr lang="en-US" altLang="zh-CN" dirty="0" smtClean="0"/>
          </a:p>
          <a:p>
            <a:endParaRPr lang="en-US" altLang="zh-CN" dirty="0" smtClean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DF57427-B8B5-4D24-A9D7-9D6F6382E66A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200" b="0" i="0" kern="1200" dirty="0" smtClean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计算振动系统，</a:t>
            </a:r>
            <a:r>
              <a:rPr lang="zh-CN" altLang="en-US" sz="1200" b="1" i="0" kern="1200" dirty="0" smtClean="0">
                <a:solidFill>
                  <a:schemeClr val="tx1"/>
                </a:solidFill>
                <a:effectLst/>
                <a:latin typeface="+mn-ea"/>
                <a:ea typeface="+mn-ea"/>
                <a:cs typeface="+mn-cs"/>
              </a:rPr>
              <a:t>最大势能和最大动能系数之比称为瑞利商</a:t>
            </a:r>
            <a:endParaRPr lang="en-US" altLang="zh-CN" sz="1200" b="1" i="0" kern="1200" dirty="0" smtClean="0">
              <a:solidFill>
                <a:schemeClr val="tx1"/>
              </a:solidFill>
              <a:effectLst/>
              <a:latin typeface="+mn-ea"/>
              <a:ea typeface="+mn-ea"/>
              <a:cs typeface="+mn-cs"/>
            </a:endParaRPr>
          </a:p>
          <a:p>
            <a:endParaRPr lang="en-US" altLang="zh-CN" sz="1200" b="0" i="0" kern="1200" dirty="0" smtClean="0"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r>
              <a:rPr lang="zh-CN" altLang="en-US" sz="1200" b="0" i="0" kern="1200" dirty="0" smtClean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实质上就是结构振动或稳定理论中的瑞利商最小本征值</a:t>
            </a:r>
            <a:endParaRPr lang="en-US" altLang="zh-CN" sz="1200" b="0" i="0" kern="1200" dirty="0" smtClean="0"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endParaRPr lang="en-US" altLang="zh-CN" sz="1200" b="0" i="0" kern="1200" dirty="0" smtClean="0"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r>
              <a:rPr lang="en-US" altLang="zh-CN" sz="1200" b="0" i="0" kern="1200" dirty="0" err="1" smtClean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ww</a:t>
            </a:r>
            <a:r>
              <a:rPr lang="zh-CN" altLang="en-US" sz="1200" b="0" i="0" kern="1200" dirty="0" smtClean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是模，当某个元素改变，上下</a:t>
            </a:r>
            <a:r>
              <a:rPr lang="en-US" altLang="zh-CN" sz="1200" b="0" i="0" kern="1200" dirty="0" smtClean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w</a:t>
            </a:r>
            <a:r>
              <a:rPr lang="zh-CN" altLang="en-US" sz="1200" b="0" i="0" kern="1200" dirty="0" smtClean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模会同时改变抵消。</a:t>
            </a:r>
            <a:endParaRPr lang="en-US" altLang="zh-CN" sz="1200" b="0" i="0" kern="1200" dirty="0" smtClean="0"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endParaRPr lang="en-US" altLang="zh-CN" sz="1200" b="0" i="0" kern="1200" dirty="0" smtClean="0"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r>
              <a:rPr lang="zh-CN" altLang="en-US" dirty="0" smtClean="0"/>
              <a:t>类内散度矩阵 </a:t>
            </a:r>
            <a:r>
              <a:rPr lang="en-US" altLang="zh-CN" dirty="0" smtClean="0"/>
              <a:t>(within-class scatter matrix)</a:t>
            </a:r>
            <a:endParaRPr lang="en-US" altLang="zh-CN" dirty="0" smtClean="0"/>
          </a:p>
          <a:p>
            <a:endParaRPr lang="en-US" altLang="zh-CN" dirty="0" smtClean="0"/>
          </a:p>
          <a:p>
            <a:r>
              <a:rPr lang="zh-CN" altLang="en-US" dirty="0" smtClean="0"/>
              <a:t>类间散度矩阵 </a:t>
            </a:r>
            <a:r>
              <a:rPr lang="en-US" altLang="zh-CN" dirty="0" smtClean="0"/>
              <a:t>(between-class scatter matrix)</a:t>
            </a:r>
            <a:endParaRPr lang="en-US" altLang="zh-CN" dirty="0" smtClean="0"/>
          </a:p>
          <a:p>
            <a:endParaRPr lang="en-US" altLang="zh-CN" dirty="0" smtClean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DF57427-B8B5-4D24-A9D7-9D6F6382E66A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200" b="0" i="0" kern="1200" dirty="0" smtClean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如何确定。呢</a:t>
            </a:r>
            <a:r>
              <a:rPr lang="en-US" altLang="zh-CN" sz="1200" b="0" i="0" kern="1200" dirty="0" smtClean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?</a:t>
            </a:r>
            <a:r>
              <a:rPr lang="zh-CN" altLang="en-US" sz="1200" b="0" i="0" kern="1200" dirty="0" smtClean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注意到式</a:t>
            </a:r>
            <a:r>
              <a:rPr lang="en-US" altLang="zh-CN" sz="1200" b="0" i="0" kern="1200" dirty="0" smtClean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(3.35)</a:t>
            </a:r>
            <a:r>
              <a:rPr lang="zh-CN" altLang="en-US" sz="1200" b="0" i="0" kern="1200" dirty="0" smtClean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的分子和分母都是关于</a:t>
            </a:r>
            <a:r>
              <a:rPr lang="en-US" altLang="zh-CN" sz="1200" b="0" i="0" kern="1200" dirty="0" smtClean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w</a:t>
            </a:r>
            <a:r>
              <a:rPr lang="zh-CN" altLang="en-US" sz="1200" b="0" i="0" kern="1200" dirty="0" smtClean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的二次项，因此式</a:t>
            </a:r>
            <a:r>
              <a:rPr lang="en-US" altLang="zh-CN" sz="1200" b="0" i="0" kern="1200" dirty="0" smtClean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(3.35)</a:t>
            </a:r>
            <a:r>
              <a:rPr lang="zh-CN" altLang="en-US" sz="1200" b="0" i="0" kern="1200" dirty="0" smtClean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的解与</a:t>
            </a:r>
            <a:r>
              <a:rPr lang="en-US" altLang="zh-CN" sz="1200" b="0" i="0" kern="1200" dirty="0" smtClean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w</a:t>
            </a:r>
            <a:r>
              <a:rPr lang="zh-CN" altLang="en-US" sz="1200" b="0" i="0" kern="1200" dirty="0" smtClean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的长度无关，只与其方向有关</a:t>
            </a:r>
            <a:r>
              <a:rPr lang="en-US" altLang="zh-CN" sz="1200" b="0" i="0" kern="1200" dirty="0" smtClean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.</a:t>
            </a:r>
            <a:r>
              <a:rPr lang="zh-CN" altLang="en-US" sz="1200" b="0" i="0" kern="1200" dirty="0" smtClean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不失一般性，令</a:t>
            </a:r>
            <a:r>
              <a:rPr lang="en-US" altLang="zh-CN" sz="1200" b="0" i="0" kern="1200" dirty="0" err="1" smtClean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wsw</a:t>
            </a:r>
            <a:r>
              <a:rPr lang="en-US" altLang="zh-CN" sz="1200" b="0" i="0" kern="1200" dirty="0" smtClean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= l</a:t>
            </a:r>
            <a:r>
              <a:rPr lang="zh-CN" altLang="en-US" sz="1200" b="0" i="0" kern="1200" dirty="0" smtClean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则式</a:t>
            </a:r>
            <a:r>
              <a:rPr lang="en-US" altLang="zh-CN" sz="1200" b="0" i="0" kern="1200" dirty="0" smtClean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(3.35)</a:t>
            </a:r>
            <a:r>
              <a:rPr lang="zh-CN" altLang="en-US" sz="1200" b="0" i="0" kern="1200" dirty="0" smtClean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等价于</a:t>
            </a:r>
            <a:endParaRPr lang="en-US" altLang="zh-CN" sz="1200" b="0" i="0" kern="1200" dirty="0" smtClean="0"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endParaRPr lang="en-US" altLang="zh-CN" sz="1200" b="0" i="0" kern="1200" dirty="0" smtClean="0"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r>
              <a:rPr lang="en-US" altLang="zh-CN" sz="1200" b="0" i="0" kern="1200" dirty="0" smtClean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w</a:t>
            </a:r>
            <a:r>
              <a:rPr lang="zh-CN" altLang="en-US" sz="1200" b="0" i="0" kern="1200" dirty="0" smtClean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的维度与</a:t>
            </a:r>
            <a:r>
              <a:rPr lang="en-US" altLang="zh-CN" sz="1200" b="0" i="0" kern="1200" dirty="0" smtClean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μ</a:t>
            </a:r>
            <a:r>
              <a:rPr lang="zh-CN" altLang="en-US" sz="1200" b="0" i="0" kern="1200" dirty="0" smtClean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的一样。</a:t>
            </a:r>
            <a:r>
              <a:rPr lang="en-US" altLang="zh-CN" sz="1200" b="0" i="0" kern="1200" dirty="0" smtClean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(μ0-μ1)Tw</a:t>
            </a:r>
            <a:r>
              <a:rPr lang="zh-CN" altLang="en-US" sz="1200" b="0" i="0" kern="1200" dirty="0" smtClean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是标量，因此</a:t>
            </a:r>
            <a:r>
              <a:rPr lang="en-US" altLang="zh-CN" sz="1200" b="0" i="0" kern="1200" dirty="0" err="1" smtClean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Sbw</a:t>
            </a:r>
            <a:r>
              <a:rPr lang="zh-CN" altLang="en-US" sz="1200" b="0" i="0" kern="1200" dirty="0" smtClean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方向恒为</a:t>
            </a:r>
            <a:r>
              <a:rPr lang="en-US" altLang="zh-CN" sz="1200" b="0" i="0" kern="1200" dirty="0" smtClean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(μ0-μ1)</a:t>
            </a:r>
            <a:r>
              <a:rPr lang="zh-CN" altLang="en-US" sz="1200" b="0" i="0" kern="1200" dirty="0" smtClean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。注意</a:t>
            </a:r>
            <a:r>
              <a:rPr lang="en-US" altLang="zh-CN" sz="1200" b="0" i="0" kern="1200" dirty="0" smtClean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Sb=(μ0-μ1)(μ0-μ1)T</a:t>
            </a:r>
            <a:endParaRPr lang="en-US" altLang="zh-CN" sz="1200" b="0" i="0" kern="1200" dirty="0" smtClean="0"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endParaRPr lang="en-US" altLang="zh-CN" sz="1200" b="0" i="0" kern="1200" dirty="0" smtClean="0"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r>
              <a:rPr lang="zh-CN" altLang="en-US" sz="1200" b="0" i="0" kern="1200" dirty="0" smtClean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基本的</a:t>
            </a:r>
            <a:r>
              <a:rPr lang="zh-CN" altLang="en-US" sz="1200" b="1" i="0" u="none" strike="noStrike" kern="1200" dirty="0" smtClean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  <a:hlinkClick r:id="rId3"/>
              </a:rPr>
              <a:t>拉格朗日乘子</a:t>
            </a:r>
            <a:r>
              <a:rPr lang="zh-CN" altLang="en-US" sz="1200" b="1" i="0" kern="1200" dirty="0" smtClean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法</a:t>
            </a:r>
            <a:r>
              <a:rPr lang="zh-CN" altLang="en-US" sz="1200" b="0" i="0" kern="1200" dirty="0" smtClean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就是求函数</a:t>
            </a:r>
            <a:r>
              <a:rPr lang="en-US" altLang="zh-CN" sz="1200" b="0" i="0" kern="1200" dirty="0" smtClean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f(x1,x2,...)</a:t>
            </a:r>
            <a:r>
              <a:rPr lang="zh-CN" altLang="en-US" sz="1200" b="0" i="0" kern="1200" dirty="0" smtClean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在</a:t>
            </a:r>
            <a:r>
              <a:rPr lang="en-US" altLang="zh-CN" sz="1200" b="0" i="0" kern="1200" dirty="0" smtClean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g(x1,x2,...)=0</a:t>
            </a:r>
            <a:r>
              <a:rPr lang="zh-CN" altLang="en-US" sz="1200" b="0" i="0" kern="1200" dirty="0" smtClean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的</a:t>
            </a:r>
            <a:r>
              <a:rPr lang="zh-CN" altLang="en-US" sz="1200" b="1" i="0" u="none" strike="noStrike" kern="1200" dirty="0" smtClean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  <a:hlinkClick r:id="rId4"/>
              </a:rPr>
              <a:t>约束条件</a:t>
            </a:r>
            <a:r>
              <a:rPr lang="zh-CN" altLang="en-US" sz="1200" b="1" i="0" kern="1200" dirty="0" smtClean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下的极值的方法</a:t>
            </a:r>
            <a:r>
              <a:rPr lang="zh-CN" altLang="en-US" sz="1200" b="0" i="0" kern="1200" dirty="0" smtClean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。其主要思想是将约束条件函数与</a:t>
            </a:r>
            <a:r>
              <a:rPr lang="zh-CN" altLang="en-US" sz="1200" b="0" i="0" u="none" strike="noStrike" kern="1200" dirty="0" smtClean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  <a:hlinkClick r:id="rId5"/>
              </a:rPr>
              <a:t>原函数</a:t>
            </a:r>
            <a:r>
              <a:rPr lang="zh-CN" altLang="en-US" sz="1200" b="0" i="0" kern="1200" dirty="0" smtClean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联系到一起，使能配成与变量数量相等的</a:t>
            </a:r>
            <a:r>
              <a:rPr lang="zh-CN" altLang="en-US" sz="1200" b="0" i="0" u="none" strike="noStrike" kern="1200" dirty="0" smtClean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  <a:hlinkClick r:id="rId6"/>
              </a:rPr>
              <a:t>等式</a:t>
            </a:r>
            <a:r>
              <a:rPr lang="zh-CN" altLang="en-US" sz="1200" b="0" i="0" kern="1200" dirty="0" smtClean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方程，从而求出得到原函数极值的各个变量的解。</a:t>
            </a:r>
            <a:endParaRPr lang="en-US" altLang="zh-CN" sz="1200" b="0" i="0" kern="1200" dirty="0" smtClean="0"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endParaRPr lang="en-US" altLang="zh-CN" sz="1200" b="0" i="0" kern="1200" dirty="0" smtClean="0"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r>
              <a:rPr lang="zh-CN" altLang="en-US" sz="1200" b="1" i="0" kern="1200" dirty="0" smtClean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拉格朗日乘子（</a:t>
            </a:r>
            <a:r>
              <a:rPr lang="en-US" altLang="zh-CN" sz="1200" b="1" i="0" kern="1200" dirty="0" err="1" smtClean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Lagrangemultiplier</a:t>
            </a:r>
            <a:r>
              <a:rPr lang="zh-CN" altLang="en-US" sz="1200" b="1" i="0" kern="1200" dirty="0" smtClean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）</a:t>
            </a:r>
            <a:endParaRPr lang="en-US" altLang="zh-CN" sz="1200" b="0" i="0" kern="1200" dirty="0" smtClean="0"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r>
              <a:rPr lang="zh-CN" altLang="en-US" sz="1200" b="0" i="0" kern="1200" dirty="0" smtClean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假设需要求极值的目标函数为</a:t>
            </a:r>
            <a:r>
              <a:rPr lang="en-US" altLang="zh-CN" sz="1200" b="0" i="0" kern="1200" dirty="0" smtClean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f(</a:t>
            </a:r>
            <a:r>
              <a:rPr lang="en-US" altLang="zh-CN" sz="1200" b="0" i="0" kern="1200" dirty="0" err="1" smtClean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x,y</a:t>
            </a:r>
            <a:r>
              <a:rPr lang="en-US" altLang="zh-CN" sz="1200" b="0" i="0" kern="1200" dirty="0" smtClean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)</a:t>
            </a:r>
            <a:r>
              <a:rPr lang="zh-CN" altLang="en-US" sz="1200" b="0" i="0" kern="1200" dirty="0" smtClean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，限制条件为</a:t>
            </a:r>
            <a:r>
              <a:rPr lang="el-GR" altLang="zh-CN" sz="1200" b="0" i="0" kern="1200" dirty="0" smtClean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φ(</a:t>
            </a:r>
            <a:r>
              <a:rPr lang="en-US" altLang="zh-CN" sz="1200" b="0" i="0" kern="1200" dirty="0" err="1" smtClean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x,y</a:t>
            </a:r>
            <a:r>
              <a:rPr lang="en-US" altLang="zh-CN" sz="1200" b="0" i="0" kern="1200" dirty="0" smtClean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)=M</a:t>
            </a:r>
            <a:endParaRPr lang="en-US" altLang="zh-CN" sz="1200" b="0" i="0" kern="1200" dirty="0" smtClean="0"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r>
              <a:rPr lang="zh-CN" altLang="en-US" sz="1200" b="0" i="0" kern="1200" dirty="0" smtClean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设</a:t>
            </a:r>
            <a:r>
              <a:rPr lang="en-US" altLang="zh-CN" sz="1200" b="0" i="0" kern="1200" dirty="0" smtClean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g(</a:t>
            </a:r>
            <a:r>
              <a:rPr lang="en-US" altLang="zh-CN" sz="1200" b="0" i="0" kern="1200" dirty="0" err="1" smtClean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x,y</a:t>
            </a:r>
            <a:r>
              <a:rPr lang="en-US" altLang="zh-CN" sz="1200" b="0" i="0" kern="1200" dirty="0" smtClean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)</a:t>
            </a:r>
            <a:r>
              <a:rPr lang="zh-CN" altLang="en-US" sz="1200" b="0" i="0" kern="1200" dirty="0" smtClean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 </a:t>
            </a:r>
            <a:r>
              <a:rPr lang="en-US" altLang="zh-CN" sz="1200" b="0" i="0" kern="1200" dirty="0" smtClean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=M-</a:t>
            </a:r>
            <a:r>
              <a:rPr lang="el-GR" altLang="zh-CN" sz="1200" b="0" i="0" kern="1200" dirty="0" smtClean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φ(</a:t>
            </a:r>
            <a:r>
              <a:rPr lang="en-US" altLang="zh-CN" sz="1200" b="0" i="0" kern="1200" dirty="0" err="1" smtClean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x,y</a:t>
            </a:r>
            <a:r>
              <a:rPr lang="en-US" altLang="zh-CN" sz="1200" b="0" i="0" kern="1200" dirty="0" smtClean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) </a:t>
            </a:r>
            <a:r>
              <a:rPr lang="zh-CN" altLang="en-US" sz="1200" b="0" i="0" kern="1200" dirty="0" smtClean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或  </a:t>
            </a:r>
            <a:r>
              <a:rPr lang="el-GR" altLang="zh-CN" sz="1200" b="0" i="0" kern="1200" dirty="0" smtClean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φ(</a:t>
            </a:r>
            <a:r>
              <a:rPr lang="en-US" altLang="zh-CN" sz="1200" b="0" i="0" kern="1200" dirty="0" err="1" smtClean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x,y</a:t>
            </a:r>
            <a:r>
              <a:rPr lang="en-US" altLang="zh-CN" sz="1200" b="0" i="0" kern="1200" dirty="0" smtClean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)-M</a:t>
            </a:r>
            <a:endParaRPr lang="zh-CN" altLang="en-US" sz="1200" b="0" i="0" kern="1200" dirty="0" smtClean="0"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r>
              <a:rPr lang="zh-CN" altLang="en-US" sz="1200" b="0" i="0" kern="1200" dirty="0" smtClean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定义一个新函数</a:t>
            </a:r>
            <a:r>
              <a:rPr lang="en-US" altLang="zh-CN" sz="1200" b="0" i="0" kern="1200" dirty="0" smtClean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F(</a:t>
            </a:r>
            <a:r>
              <a:rPr lang="en-US" altLang="zh-CN" sz="1200" b="0" i="0" kern="1200" dirty="0" err="1" smtClean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x,y</a:t>
            </a:r>
            <a:r>
              <a:rPr lang="en-US" altLang="zh-CN" sz="1200" b="0" i="0" kern="1200" dirty="0" smtClean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,</a:t>
            </a:r>
            <a:r>
              <a:rPr lang="el-GR" altLang="zh-CN" sz="1200" b="0" i="0" kern="1200" dirty="0" smtClean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 λ</a:t>
            </a:r>
            <a:r>
              <a:rPr lang="en-US" altLang="zh-CN" sz="1200" b="0" i="0" kern="1200" dirty="0" smtClean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)=f(</a:t>
            </a:r>
            <a:r>
              <a:rPr lang="en-US" altLang="zh-CN" sz="1200" b="0" i="0" kern="1200" dirty="0" err="1" smtClean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x,y</a:t>
            </a:r>
            <a:r>
              <a:rPr lang="en-US" altLang="zh-CN" sz="1200" b="0" i="0" kern="1200" dirty="0" smtClean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)+</a:t>
            </a:r>
            <a:r>
              <a:rPr lang="el-GR" altLang="zh-CN" sz="1200" b="0" i="0" kern="1200" dirty="0" smtClean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λ</a:t>
            </a:r>
            <a:r>
              <a:rPr lang="en-US" altLang="zh-CN" sz="1200" b="0" i="0" kern="1200" dirty="0" smtClean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g(</a:t>
            </a:r>
            <a:r>
              <a:rPr lang="en-US" altLang="zh-CN" sz="1200" b="0" i="0" kern="1200" dirty="0" err="1" smtClean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x,y</a:t>
            </a:r>
            <a:r>
              <a:rPr lang="en-US" altLang="zh-CN" sz="1200" b="0" i="0" kern="1200" dirty="0" smtClean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)</a:t>
            </a:r>
            <a:r>
              <a:rPr lang="zh-CN" altLang="en-US" sz="1200" b="0" i="0" kern="1200" dirty="0" smtClean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 </a:t>
            </a:r>
            <a:endParaRPr lang="zh-CN" altLang="en-US" sz="1200" b="0" i="0" kern="1200" dirty="0" smtClean="0"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r>
              <a:rPr lang="zh-CN" altLang="en-US" sz="1200" b="0" i="0" kern="1200" dirty="0" smtClean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则用</a:t>
            </a:r>
            <a:r>
              <a:rPr lang="zh-CN" altLang="en-US" sz="1200" b="0" i="0" u="none" strike="noStrike" kern="1200" dirty="0" smtClean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  <a:hlinkClick r:id="rId7"/>
              </a:rPr>
              <a:t>偏导数</a:t>
            </a:r>
            <a:r>
              <a:rPr lang="zh-CN" altLang="en-US" sz="1200" b="0" i="0" kern="1200" dirty="0" smtClean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方法列出</a:t>
            </a:r>
            <a:r>
              <a:rPr lang="zh-CN" altLang="en-US" sz="1200" b="0" i="0" u="none" strike="noStrike" kern="1200" dirty="0" smtClean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  <a:hlinkClick r:id="rId8"/>
              </a:rPr>
              <a:t>方程</a:t>
            </a:r>
            <a:r>
              <a:rPr lang="zh-CN" altLang="en-US" sz="1200" b="0" i="0" kern="1200" dirty="0" smtClean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：</a:t>
            </a:r>
            <a:endParaRPr lang="en-US" altLang="zh-CN" sz="1200" b="0" i="0" kern="1200" dirty="0" smtClean="0"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r>
              <a:rPr lang="zh-CN" altLang="en-US" sz="1200" b="0" i="0" kern="1200" dirty="0" smtClean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∂</a:t>
            </a:r>
            <a:r>
              <a:rPr lang="en-US" altLang="zh-CN" sz="1200" b="0" i="0" kern="1200" dirty="0" smtClean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F/∂x=0</a:t>
            </a:r>
            <a:endParaRPr lang="en-US" altLang="zh-CN" sz="1200" b="0" i="0" kern="1200" dirty="0" smtClean="0"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r>
              <a:rPr lang="zh-CN" altLang="en-US" sz="1200" b="0" i="0" kern="1200" dirty="0" smtClean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∂</a:t>
            </a:r>
            <a:r>
              <a:rPr lang="en-US" altLang="zh-CN" sz="1200" b="0" i="0" kern="1200" dirty="0" smtClean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F/∂y=0</a:t>
            </a:r>
            <a:endParaRPr lang="en-US" altLang="zh-CN" sz="1200" b="0" i="0" kern="1200" dirty="0" smtClean="0"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r>
              <a:rPr lang="zh-CN" altLang="en-US" sz="1200" b="0" i="0" kern="1200" dirty="0" smtClean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∂</a:t>
            </a:r>
            <a:r>
              <a:rPr lang="en-US" altLang="zh-CN" sz="1200" b="0" i="0" kern="1200" dirty="0" smtClean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F/∂</a:t>
            </a:r>
            <a:r>
              <a:rPr lang="el-GR" altLang="zh-CN" sz="1200" b="0" i="0" kern="1200" dirty="0" smtClean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λ</a:t>
            </a:r>
            <a:r>
              <a:rPr lang="en-US" altLang="zh-CN" sz="1200" b="0" i="0" kern="1200" dirty="0" smtClean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=0</a:t>
            </a:r>
            <a:endParaRPr lang="zh-CN" altLang="en-US" sz="1200" b="0" i="0" kern="1200" dirty="0" smtClean="0"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r>
              <a:rPr lang="zh-CN" altLang="en-US" sz="1200" b="0" i="0" kern="1200" dirty="0" smtClean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求出</a:t>
            </a:r>
            <a:r>
              <a:rPr lang="en-US" altLang="zh-CN" sz="1200" b="0" i="0" kern="1200" dirty="0" err="1" smtClean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x,y</a:t>
            </a:r>
            <a:r>
              <a:rPr lang="en-US" altLang="zh-CN" sz="1200" b="0" i="0" kern="1200" dirty="0" smtClean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,</a:t>
            </a:r>
            <a:r>
              <a:rPr lang="el-GR" altLang="zh-CN" sz="1200" b="0" i="0" kern="1200" dirty="0" smtClean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λ</a:t>
            </a:r>
            <a:r>
              <a:rPr lang="zh-CN" altLang="en-US" sz="1200" b="0" i="0" kern="1200" dirty="0" smtClean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的值，代入即可得到目标函数的极值</a:t>
            </a:r>
            <a:endParaRPr lang="zh-CN" altLang="en-US" sz="1200" b="0" i="0" kern="1200" dirty="0" smtClean="0"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r>
              <a:rPr lang="zh-CN" altLang="en-US" sz="1200" b="0" i="0" kern="1200" dirty="0" smtClean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扩展为多个变量的式子为：</a:t>
            </a:r>
            <a:endParaRPr lang="zh-CN" altLang="en-US" sz="1200" b="0" i="0" kern="1200" dirty="0" smtClean="0"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r>
              <a:rPr lang="en-US" altLang="zh-CN" sz="1200" b="0" i="0" kern="1200" dirty="0" smtClean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F(x1,x2,...,</a:t>
            </a:r>
            <a:r>
              <a:rPr lang="en-US" altLang="zh-CN" sz="1200" b="0" i="0" kern="1200" dirty="0" err="1" smtClean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xn</a:t>
            </a:r>
            <a:r>
              <a:rPr lang="en-US" altLang="zh-CN" sz="1200" b="0" i="0" kern="1200" dirty="0" smtClean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,</a:t>
            </a:r>
            <a:r>
              <a:rPr lang="el-GR" altLang="zh-CN" sz="1200" b="0" i="0" kern="1200" dirty="0" smtClean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λ)=</a:t>
            </a:r>
            <a:r>
              <a:rPr lang="en-US" altLang="zh-CN" sz="1200" b="0" i="0" kern="1200" dirty="0" smtClean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f(x1,x2,...,</a:t>
            </a:r>
            <a:r>
              <a:rPr lang="en-US" altLang="zh-CN" sz="1200" b="0" i="0" kern="1200" dirty="0" err="1" smtClean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xn</a:t>
            </a:r>
            <a:r>
              <a:rPr lang="en-US" altLang="zh-CN" sz="1200" b="0" i="0" kern="1200" dirty="0" smtClean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)-</a:t>
            </a:r>
            <a:r>
              <a:rPr lang="el-GR" altLang="zh-CN" sz="1200" b="0" i="0" kern="1200" dirty="0" smtClean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λ</a:t>
            </a:r>
            <a:r>
              <a:rPr lang="en-US" altLang="zh-CN" sz="1200" b="0" i="0" kern="1200" dirty="0" smtClean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g(x1,x2,...,</a:t>
            </a:r>
            <a:r>
              <a:rPr lang="en-US" altLang="zh-CN" sz="1200" b="0" i="0" kern="1200" dirty="0" err="1" smtClean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xn</a:t>
            </a:r>
            <a:r>
              <a:rPr lang="en-US" altLang="zh-CN" sz="1200" b="0" i="0" kern="1200" dirty="0" smtClean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)</a:t>
            </a:r>
            <a:endParaRPr lang="en-US" altLang="zh-CN" sz="1200" b="0" i="0" kern="1200" dirty="0" smtClean="0"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r>
              <a:rPr lang="zh-CN" altLang="en-US" sz="1200" b="0" i="0" kern="1200" dirty="0" smtClean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则求</a:t>
            </a:r>
            <a:r>
              <a:rPr lang="zh-CN" altLang="en-US" sz="1200" b="0" i="0" u="none" strike="noStrike" kern="1200" dirty="0" smtClean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  <a:hlinkClick r:id="rId9"/>
              </a:rPr>
              <a:t>极值点</a:t>
            </a:r>
            <a:r>
              <a:rPr lang="zh-CN" altLang="en-US" sz="1200" b="0" i="0" kern="1200" dirty="0" smtClean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的方程为：</a:t>
            </a:r>
            <a:endParaRPr lang="zh-CN" altLang="en-US" sz="1200" b="0" i="0" kern="1200" dirty="0" smtClean="0"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r>
              <a:rPr lang="zh-CN" altLang="en-US" sz="1200" b="0" i="0" kern="1200" dirty="0" smtClean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∂</a:t>
            </a:r>
            <a:r>
              <a:rPr lang="en-US" altLang="zh-CN" sz="1200" b="0" i="0" kern="1200" dirty="0" smtClean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F/∂xi=0</a:t>
            </a:r>
            <a:r>
              <a:rPr lang="zh-CN" altLang="en-US" sz="1200" b="0" i="0" kern="1200" dirty="0" smtClean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（</a:t>
            </a:r>
            <a:r>
              <a:rPr lang="en-US" altLang="zh-CN" sz="1200" b="0" i="0" kern="1200" dirty="0" smtClean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xi</a:t>
            </a:r>
            <a:r>
              <a:rPr lang="zh-CN" altLang="en-US" sz="1200" b="0" i="0" kern="1200" dirty="0" smtClean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即为</a:t>
            </a:r>
            <a:r>
              <a:rPr lang="en-US" altLang="zh-CN" sz="1200" b="0" i="0" kern="1200" dirty="0" smtClean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x1,x2,...,</a:t>
            </a:r>
            <a:r>
              <a:rPr lang="en-US" altLang="zh-CN" sz="1200" b="0" i="0" kern="1200" dirty="0" err="1" smtClean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xn</a:t>
            </a:r>
            <a:r>
              <a:rPr lang="zh-CN" altLang="en-US" sz="1200" b="0" i="0" kern="1200" dirty="0" smtClean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等</a:t>
            </a:r>
            <a:r>
              <a:rPr lang="zh-CN" altLang="en-US" sz="1200" b="0" i="0" u="none" strike="noStrike" kern="1200" dirty="0" smtClean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  <a:hlinkClick r:id="rId10"/>
              </a:rPr>
              <a:t>自变量</a:t>
            </a:r>
            <a:r>
              <a:rPr lang="zh-CN" altLang="en-US" sz="1200" b="0" i="0" kern="1200" dirty="0" smtClean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）</a:t>
            </a:r>
            <a:endParaRPr lang="zh-CN" altLang="en-US" sz="1200" b="0" i="0" kern="1200" dirty="0" smtClean="0"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r>
              <a:rPr lang="zh-CN" altLang="en-US" sz="1200" b="0" i="0" kern="1200" dirty="0" smtClean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∂</a:t>
            </a:r>
            <a:r>
              <a:rPr lang="en-US" altLang="zh-CN" sz="1200" b="0" i="0" kern="1200" dirty="0" smtClean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F/∂</a:t>
            </a:r>
            <a:r>
              <a:rPr lang="el-GR" altLang="zh-CN" sz="1200" b="0" i="0" kern="1200" dirty="0" smtClean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λ=</a:t>
            </a:r>
            <a:r>
              <a:rPr lang="en-US" altLang="zh-CN" sz="1200" b="0" i="0" kern="1200" dirty="0" smtClean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g(x1,x2,...,</a:t>
            </a:r>
            <a:r>
              <a:rPr lang="en-US" altLang="zh-CN" sz="1200" b="0" i="0" kern="1200" dirty="0" err="1" smtClean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xn</a:t>
            </a:r>
            <a:r>
              <a:rPr lang="en-US" altLang="zh-CN" sz="1200" b="0" i="0" kern="1200" dirty="0" smtClean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)=0</a:t>
            </a:r>
            <a:endParaRPr lang="en-US" altLang="zh-CN" sz="1200" b="0" i="0" kern="1200" dirty="0" smtClean="0"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DF57427-B8B5-4D24-A9D7-9D6F6382E66A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200" b="0" i="0" kern="1200" dirty="0" smtClean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一个</a:t>
            </a:r>
            <a:r>
              <a:rPr lang="en-US" altLang="zh-CN" sz="1200" b="0" i="0" kern="1200" dirty="0" err="1" smtClean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n×n</a:t>
            </a:r>
            <a:r>
              <a:rPr lang="zh-CN" altLang="en-US" sz="1200" b="0" i="0" kern="1200" dirty="0" smtClean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矩阵</a:t>
            </a:r>
            <a:r>
              <a:rPr lang="en-US" altLang="zh-CN" sz="1200" b="1" i="1" kern="1200" dirty="0" smtClean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A</a:t>
            </a:r>
            <a:r>
              <a:rPr lang="zh-CN" altLang="en-US" sz="1200" b="0" i="0" kern="1200" dirty="0" smtClean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的</a:t>
            </a:r>
            <a:r>
              <a:rPr lang="zh-CN" altLang="en-US" sz="1200" b="0" i="0" u="none" strike="noStrike" kern="1200" dirty="0" smtClean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  <a:hlinkClick r:id="rId3"/>
              </a:rPr>
              <a:t>主对角线</a:t>
            </a:r>
            <a:r>
              <a:rPr lang="zh-CN" altLang="en-US" sz="1200" b="0" i="0" kern="1200" dirty="0" smtClean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（从左上方至右下方的对角线）上各个元素的总和被称为</a:t>
            </a:r>
            <a:r>
              <a:rPr lang="zh-CN" altLang="en-US" sz="1200" b="0" i="0" u="none" strike="noStrike" kern="1200" dirty="0" smtClean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  <a:hlinkClick r:id="rId4"/>
              </a:rPr>
              <a:t>矩阵</a:t>
            </a:r>
            <a:r>
              <a:rPr lang="en-US" altLang="zh-CN" sz="1200" b="1" i="1" kern="1200" dirty="0" smtClean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A</a:t>
            </a:r>
            <a:r>
              <a:rPr lang="zh-CN" altLang="en-US" sz="1200" b="0" i="0" kern="1200" dirty="0" smtClean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的</a:t>
            </a:r>
            <a:r>
              <a:rPr lang="zh-CN" altLang="en-US" sz="1200" b="1" i="0" kern="1200" dirty="0" smtClean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迹</a:t>
            </a:r>
            <a:r>
              <a:rPr lang="zh-CN" altLang="en-US" sz="1200" b="0" i="0" kern="1200" dirty="0" smtClean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（或</a:t>
            </a:r>
            <a:r>
              <a:rPr lang="zh-CN" altLang="en-US" sz="1200" b="1" i="0" kern="1200" dirty="0" smtClean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迹数</a:t>
            </a:r>
            <a:r>
              <a:rPr lang="zh-CN" altLang="en-US" sz="1200" b="0" i="0" kern="1200" dirty="0" smtClean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），一般记作</a:t>
            </a:r>
            <a:r>
              <a:rPr lang="en-US" altLang="zh-CN" sz="1200" b="1" i="0" kern="1200" dirty="0" err="1" smtClean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tr</a:t>
            </a:r>
            <a:r>
              <a:rPr lang="en-US" altLang="zh-CN" sz="1200" b="1" i="0" kern="1200" dirty="0" smtClean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(</a:t>
            </a:r>
            <a:r>
              <a:rPr lang="en-US" altLang="zh-CN" sz="1200" b="1" i="1" kern="1200" dirty="0" smtClean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A</a:t>
            </a:r>
            <a:r>
              <a:rPr lang="en-US" altLang="zh-CN" sz="1200" b="1" i="0" kern="1200" dirty="0" smtClean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)</a:t>
            </a:r>
            <a:r>
              <a:rPr lang="zh-CN" altLang="en-US" sz="1200" b="0" i="0" kern="1200" dirty="0" smtClean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。</a:t>
            </a:r>
            <a:endParaRPr lang="zh-CN" altLang="en-US" sz="1200" b="0" i="0" kern="1200" dirty="0" smtClean="0"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br>
              <a:rPr lang="zh-CN" altLang="en-US" sz="1200" b="0" i="0" kern="1200" dirty="0" smtClean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b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DF57427-B8B5-4D24-A9D7-9D6F6382E66A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200" b="0" i="0" kern="1200" dirty="0" smtClean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一个</a:t>
            </a:r>
            <a:r>
              <a:rPr lang="en-US" altLang="zh-CN" sz="1200" b="0" i="0" kern="1200" dirty="0" err="1" smtClean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n×n</a:t>
            </a:r>
            <a:r>
              <a:rPr lang="zh-CN" altLang="en-US" sz="1200" b="0" i="0" kern="1200" dirty="0" smtClean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矩阵</a:t>
            </a:r>
            <a:r>
              <a:rPr lang="en-US" altLang="zh-CN" sz="1200" b="1" i="1" kern="1200" dirty="0" smtClean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A</a:t>
            </a:r>
            <a:r>
              <a:rPr lang="zh-CN" altLang="en-US" sz="1200" b="0" i="0" kern="1200" dirty="0" smtClean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的</a:t>
            </a:r>
            <a:r>
              <a:rPr lang="zh-CN" altLang="en-US" sz="1200" b="0" i="0" u="none" strike="noStrike" kern="1200" dirty="0" smtClean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  <a:hlinkClick r:id="rId3"/>
              </a:rPr>
              <a:t>主对角线</a:t>
            </a:r>
            <a:r>
              <a:rPr lang="zh-CN" altLang="en-US" sz="1200" b="0" i="0" kern="1200" dirty="0" smtClean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（从左上方至右下方的对角线）上各个元素的总和被称为</a:t>
            </a:r>
            <a:r>
              <a:rPr lang="zh-CN" altLang="en-US" sz="1200" b="0" i="0" u="none" strike="noStrike" kern="1200" dirty="0" smtClean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  <a:hlinkClick r:id="rId4"/>
              </a:rPr>
              <a:t>矩阵</a:t>
            </a:r>
            <a:r>
              <a:rPr lang="en-US" altLang="zh-CN" sz="1200" b="1" i="1" kern="1200" dirty="0" smtClean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A</a:t>
            </a:r>
            <a:r>
              <a:rPr lang="zh-CN" altLang="en-US" sz="1200" b="0" i="0" kern="1200" dirty="0" smtClean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的</a:t>
            </a:r>
            <a:r>
              <a:rPr lang="zh-CN" altLang="en-US" sz="1200" b="1" i="0" kern="1200" dirty="0" smtClean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迹</a:t>
            </a:r>
            <a:r>
              <a:rPr lang="zh-CN" altLang="en-US" sz="1200" b="0" i="0" kern="1200" dirty="0" smtClean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（或</a:t>
            </a:r>
            <a:r>
              <a:rPr lang="zh-CN" altLang="en-US" sz="1200" b="1" i="0" kern="1200" dirty="0" smtClean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迹数</a:t>
            </a:r>
            <a:r>
              <a:rPr lang="zh-CN" altLang="en-US" sz="1200" b="0" i="0" kern="1200" dirty="0" smtClean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），一般记作</a:t>
            </a:r>
            <a:r>
              <a:rPr lang="en-US" altLang="zh-CN" sz="1200" b="1" i="0" kern="1200" dirty="0" err="1" smtClean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tr</a:t>
            </a:r>
            <a:r>
              <a:rPr lang="en-US" altLang="zh-CN" sz="1200" b="1" i="0" kern="1200" dirty="0" smtClean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(</a:t>
            </a:r>
            <a:r>
              <a:rPr lang="en-US" altLang="zh-CN" sz="1200" b="1" i="1" kern="1200" dirty="0" smtClean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A</a:t>
            </a:r>
            <a:r>
              <a:rPr lang="en-US" altLang="zh-CN" sz="1200" b="1" i="0" kern="1200" dirty="0" smtClean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)</a:t>
            </a:r>
            <a:r>
              <a:rPr lang="zh-CN" altLang="en-US" sz="1200" b="0" i="0" kern="1200" dirty="0" smtClean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。</a:t>
            </a:r>
            <a:endParaRPr lang="zh-CN" altLang="en-US" sz="1200" b="0" i="0" kern="1200" dirty="0" smtClean="0"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br>
              <a:rPr lang="zh-CN" altLang="en-US" sz="1200" b="0" i="0" kern="1200" dirty="0" smtClean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b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DF57427-B8B5-4D24-A9D7-9D6F6382E66A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 smtClean="0"/>
              <a:t>一类就是拆解法</a:t>
            </a:r>
            <a:endParaRPr lang="en-US" altLang="zh-CN" dirty="0" smtClean="0"/>
          </a:p>
          <a:p>
            <a:endParaRPr lang="en-US" altLang="zh-CN" dirty="0" smtClean="0"/>
          </a:p>
          <a:p>
            <a:r>
              <a:rPr lang="zh-CN" altLang="en-US" dirty="0" smtClean="0"/>
              <a:t>主要介绍一些拆解法的策略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DF57427-B8B5-4D24-A9D7-9D6F6382E66A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zh-CN" altLang="en-US" b="1" dirty="0" smtClean="0"/>
              <a:t>最经典的拆分策略有三种：</a:t>
            </a:r>
            <a:r>
              <a:rPr lang="zh-CN" altLang="en-US" dirty="0" smtClean="0">
                <a:latin typeface="+mn-ea"/>
              </a:rPr>
              <a:t>一对一</a:t>
            </a:r>
            <a:r>
              <a:rPr lang="en-US" altLang="zh-CN" dirty="0" smtClean="0">
                <a:latin typeface="+mn-ea"/>
              </a:rPr>
              <a:t>(One vs. One</a:t>
            </a:r>
            <a:r>
              <a:rPr lang="zh-CN" altLang="en-US" dirty="0" smtClean="0">
                <a:latin typeface="+mn-ea"/>
              </a:rPr>
              <a:t>，</a:t>
            </a:r>
            <a:r>
              <a:rPr lang="en-US" altLang="zh-CN" dirty="0" smtClean="0">
                <a:latin typeface="+mn-ea"/>
              </a:rPr>
              <a:t>Ov0),</a:t>
            </a:r>
            <a:r>
              <a:rPr lang="zh-CN" altLang="en-US" dirty="0" smtClean="0">
                <a:latin typeface="+mn-ea"/>
              </a:rPr>
              <a:t>一对其余</a:t>
            </a:r>
            <a:r>
              <a:rPr lang="en-US" altLang="zh-CN" dirty="0" smtClean="0">
                <a:latin typeface="+mn-ea"/>
              </a:rPr>
              <a:t>(One vs. Rest</a:t>
            </a:r>
            <a:r>
              <a:rPr lang="zh-CN" altLang="en-US" dirty="0" smtClean="0">
                <a:latin typeface="+mn-ea"/>
              </a:rPr>
              <a:t>，</a:t>
            </a:r>
            <a:r>
              <a:rPr lang="en-US" altLang="zh-CN" dirty="0" err="1" smtClean="0">
                <a:latin typeface="+mn-ea"/>
              </a:rPr>
              <a:t>OvR</a:t>
            </a:r>
            <a:r>
              <a:rPr lang="en-US" altLang="zh-CN" dirty="0" smtClean="0">
                <a:latin typeface="+mn-ea"/>
              </a:rPr>
              <a:t>)</a:t>
            </a:r>
            <a:r>
              <a:rPr lang="zh-CN" altLang="en-US" dirty="0" smtClean="0">
                <a:latin typeface="+mn-ea"/>
              </a:rPr>
              <a:t>，多对多</a:t>
            </a:r>
            <a:r>
              <a:rPr lang="en-US" altLang="zh-CN" dirty="0" smtClean="0">
                <a:latin typeface="+mn-ea"/>
              </a:rPr>
              <a:t>(Many vs. Many</a:t>
            </a:r>
            <a:r>
              <a:rPr lang="zh-CN" altLang="en-US" dirty="0" smtClean="0">
                <a:latin typeface="+mn-ea"/>
              </a:rPr>
              <a:t>，</a:t>
            </a:r>
            <a:r>
              <a:rPr lang="en-US" altLang="zh-CN" dirty="0" err="1" smtClean="0">
                <a:latin typeface="+mn-ea"/>
              </a:rPr>
              <a:t>MvM</a:t>
            </a:r>
            <a:r>
              <a:rPr lang="en-US" altLang="zh-CN" dirty="0" smtClean="0">
                <a:latin typeface="+mn-ea"/>
              </a:rPr>
              <a:t>)</a:t>
            </a:r>
            <a:endParaRPr lang="en-US" altLang="zh-CN" dirty="0" smtClean="0">
              <a:latin typeface="+mn-ea"/>
            </a:endParaRP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DF57427-B8B5-4D24-A9D7-9D6F6382E66A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zh-CN" altLang="en-US" dirty="0" smtClean="0"/>
              <a:t>最经典的拆分策略有三种：</a:t>
            </a:r>
            <a:r>
              <a:rPr lang="zh-CN" altLang="en-US" dirty="0" smtClean="0">
                <a:latin typeface="+mn-ea"/>
              </a:rPr>
              <a:t>一对一</a:t>
            </a:r>
            <a:r>
              <a:rPr lang="en-US" altLang="zh-CN" dirty="0" smtClean="0">
                <a:latin typeface="+mn-ea"/>
              </a:rPr>
              <a:t>(One vs. One</a:t>
            </a:r>
            <a:r>
              <a:rPr lang="zh-CN" altLang="en-US" dirty="0" smtClean="0">
                <a:latin typeface="+mn-ea"/>
              </a:rPr>
              <a:t>，</a:t>
            </a:r>
            <a:r>
              <a:rPr lang="en-US" altLang="zh-CN" dirty="0" smtClean="0">
                <a:latin typeface="+mn-ea"/>
              </a:rPr>
              <a:t>Ov0),</a:t>
            </a:r>
            <a:r>
              <a:rPr lang="zh-CN" altLang="en-US" dirty="0" smtClean="0">
                <a:latin typeface="+mn-ea"/>
              </a:rPr>
              <a:t>一对其余</a:t>
            </a:r>
            <a:r>
              <a:rPr lang="en-US" altLang="zh-CN" dirty="0" smtClean="0">
                <a:latin typeface="+mn-ea"/>
              </a:rPr>
              <a:t>(One vs. Rest</a:t>
            </a:r>
            <a:r>
              <a:rPr lang="zh-CN" altLang="en-US" dirty="0" smtClean="0">
                <a:latin typeface="+mn-ea"/>
              </a:rPr>
              <a:t>，</a:t>
            </a:r>
            <a:r>
              <a:rPr lang="en-US" altLang="zh-CN" dirty="0" err="1" smtClean="0">
                <a:latin typeface="+mn-ea"/>
              </a:rPr>
              <a:t>OvR</a:t>
            </a:r>
            <a:r>
              <a:rPr lang="en-US" altLang="zh-CN" dirty="0" smtClean="0">
                <a:latin typeface="+mn-ea"/>
              </a:rPr>
              <a:t>)</a:t>
            </a:r>
            <a:r>
              <a:rPr lang="zh-CN" altLang="en-US" dirty="0" smtClean="0">
                <a:latin typeface="+mn-ea"/>
              </a:rPr>
              <a:t>，多对多</a:t>
            </a:r>
            <a:r>
              <a:rPr lang="en-US" altLang="zh-CN" dirty="0" smtClean="0">
                <a:latin typeface="+mn-ea"/>
              </a:rPr>
              <a:t>(Many vs. Many</a:t>
            </a:r>
            <a:r>
              <a:rPr lang="zh-CN" altLang="en-US" dirty="0" smtClean="0">
                <a:latin typeface="+mn-ea"/>
              </a:rPr>
              <a:t>，</a:t>
            </a:r>
            <a:r>
              <a:rPr lang="en-US" altLang="zh-CN" dirty="0" err="1" smtClean="0">
                <a:latin typeface="+mn-ea"/>
              </a:rPr>
              <a:t>MvM</a:t>
            </a:r>
            <a:r>
              <a:rPr lang="en-US" altLang="zh-CN" dirty="0" smtClean="0">
                <a:latin typeface="+mn-ea"/>
              </a:rPr>
              <a:t>)</a:t>
            </a:r>
            <a:endParaRPr lang="en-US" altLang="zh-CN" dirty="0" smtClean="0">
              <a:latin typeface="+mn-ea"/>
            </a:endParaRP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DF57427-B8B5-4D24-A9D7-9D6F6382E66A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zh-CN" altLang="en-US" dirty="0" smtClean="0">
                <a:latin typeface="+mn-ea"/>
              </a:rPr>
              <a:t>工作过程主要分为两步</a:t>
            </a:r>
            <a:endParaRPr lang="en-US" altLang="zh-CN" dirty="0" smtClean="0">
              <a:latin typeface="+mn-ea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lang="en-US" altLang="zh-CN" b="1" dirty="0" smtClean="0">
              <a:latin typeface="+mn-ea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zh-CN" altLang="en-US" b="1" dirty="0" smtClean="0">
                <a:latin typeface="+mn-ea"/>
              </a:rPr>
              <a:t>介绍</a:t>
            </a:r>
            <a:endParaRPr lang="en-US" altLang="zh-CN" b="1" dirty="0" smtClean="0">
              <a:latin typeface="+mn-ea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zh-CN" altLang="en-US" b="1" dirty="0" smtClean="0">
                <a:latin typeface="+mn-ea"/>
              </a:rPr>
              <a:t>最常用的</a:t>
            </a:r>
            <a:r>
              <a:rPr lang="en-US" altLang="zh-CN" b="1" dirty="0" err="1" smtClean="0">
                <a:latin typeface="+mn-ea"/>
              </a:rPr>
              <a:t>MvM</a:t>
            </a:r>
            <a:r>
              <a:rPr lang="zh-CN" altLang="en-US" b="1" dirty="0" smtClean="0">
                <a:latin typeface="+mn-ea"/>
              </a:rPr>
              <a:t>技术</a:t>
            </a:r>
            <a:endParaRPr lang="en-US" altLang="zh-CN" dirty="0" smtClean="0">
              <a:latin typeface="+mn-ea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zh-CN" altLang="en-US" dirty="0" smtClean="0">
                <a:latin typeface="+mn-ea"/>
              </a:rPr>
              <a:t>纠错输出码</a:t>
            </a:r>
            <a:r>
              <a:rPr lang="en-US" altLang="zh-CN" dirty="0" smtClean="0">
                <a:latin typeface="+mn-ea"/>
              </a:rPr>
              <a:t>(Error Correcting Output Codes</a:t>
            </a:r>
            <a:r>
              <a:rPr lang="zh-CN" altLang="en-US" dirty="0" smtClean="0">
                <a:latin typeface="+mn-ea"/>
              </a:rPr>
              <a:t>，简称 </a:t>
            </a:r>
            <a:r>
              <a:rPr lang="en-US" altLang="zh-CN" b="1" dirty="0" smtClean="0">
                <a:latin typeface="+mn-ea"/>
              </a:rPr>
              <a:t>ECOC</a:t>
            </a:r>
            <a:r>
              <a:rPr lang="en-US" altLang="zh-CN" dirty="0" smtClean="0">
                <a:latin typeface="+mn-ea"/>
              </a:rPr>
              <a:t>).</a:t>
            </a:r>
            <a:endParaRPr lang="en-US" altLang="zh-CN" dirty="0" smtClean="0">
              <a:latin typeface="+mn-ea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lang="en-US" altLang="zh-CN" dirty="0" smtClean="0">
              <a:latin typeface="+mn-ea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lang="en-US" altLang="zh-CN" dirty="0" smtClean="0">
              <a:latin typeface="+mn-ea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zh-CN" altLang="en-US" dirty="0" smtClean="0"/>
              <a:t>最经典的拆分策略有三种：</a:t>
            </a:r>
            <a:r>
              <a:rPr lang="zh-CN" altLang="en-US" dirty="0" smtClean="0">
                <a:latin typeface="+mn-ea"/>
              </a:rPr>
              <a:t>一对一</a:t>
            </a:r>
            <a:r>
              <a:rPr lang="en-US" altLang="zh-CN" dirty="0" smtClean="0">
                <a:latin typeface="+mn-ea"/>
              </a:rPr>
              <a:t>(One vs. One</a:t>
            </a:r>
            <a:r>
              <a:rPr lang="zh-CN" altLang="en-US" dirty="0" smtClean="0">
                <a:latin typeface="+mn-ea"/>
              </a:rPr>
              <a:t>，</a:t>
            </a:r>
            <a:r>
              <a:rPr lang="en-US" altLang="zh-CN" dirty="0" smtClean="0">
                <a:latin typeface="+mn-ea"/>
              </a:rPr>
              <a:t>Ov0),</a:t>
            </a:r>
            <a:r>
              <a:rPr lang="zh-CN" altLang="en-US" dirty="0" smtClean="0">
                <a:latin typeface="+mn-ea"/>
              </a:rPr>
              <a:t>一对其余</a:t>
            </a:r>
            <a:r>
              <a:rPr lang="en-US" altLang="zh-CN" dirty="0" smtClean="0">
                <a:latin typeface="+mn-ea"/>
              </a:rPr>
              <a:t>(One vs. Rest</a:t>
            </a:r>
            <a:r>
              <a:rPr lang="zh-CN" altLang="en-US" dirty="0" smtClean="0">
                <a:latin typeface="+mn-ea"/>
              </a:rPr>
              <a:t>，</a:t>
            </a:r>
            <a:r>
              <a:rPr lang="en-US" altLang="zh-CN" dirty="0" err="1" smtClean="0">
                <a:latin typeface="+mn-ea"/>
              </a:rPr>
              <a:t>OvR</a:t>
            </a:r>
            <a:r>
              <a:rPr lang="en-US" altLang="zh-CN" dirty="0" smtClean="0">
                <a:latin typeface="+mn-ea"/>
              </a:rPr>
              <a:t>)</a:t>
            </a:r>
            <a:r>
              <a:rPr lang="zh-CN" altLang="en-US" dirty="0" smtClean="0">
                <a:latin typeface="+mn-ea"/>
              </a:rPr>
              <a:t>，多对多</a:t>
            </a:r>
            <a:r>
              <a:rPr lang="en-US" altLang="zh-CN" dirty="0" smtClean="0">
                <a:latin typeface="+mn-ea"/>
              </a:rPr>
              <a:t>(Many vs. Many</a:t>
            </a:r>
            <a:r>
              <a:rPr lang="zh-CN" altLang="en-US" dirty="0" smtClean="0">
                <a:latin typeface="+mn-ea"/>
              </a:rPr>
              <a:t>，</a:t>
            </a:r>
            <a:r>
              <a:rPr lang="en-US" altLang="zh-CN" dirty="0" err="1" smtClean="0">
                <a:latin typeface="+mn-ea"/>
              </a:rPr>
              <a:t>MvM</a:t>
            </a:r>
            <a:r>
              <a:rPr lang="en-US" altLang="zh-CN" dirty="0" smtClean="0">
                <a:latin typeface="+mn-ea"/>
              </a:rPr>
              <a:t>)</a:t>
            </a:r>
            <a:endParaRPr lang="en-US" altLang="zh-CN" dirty="0" smtClean="0">
              <a:latin typeface="+mn-ea"/>
            </a:endParaRP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DF57427-B8B5-4D24-A9D7-9D6F6382E66A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 smtClean="0"/>
              <a:t>类别划分通过“编码矩阵”</a:t>
            </a:r>
            <a:r>
              <a:rPr lang="en-US" altLang="zh-CN" dirty="0" smtClean="0"/>
              <a:t>(coding matrix)</a:t>
            </a:r>
            <a:r>
              <a:rPr lang="zh-CN" altLang="en-US" dirty="0" smtClean="0"/>
              <a:t>指定</a:t>
            </a:r>
            <a:r>
              <a:rPr lang="en-US" altLang="zh-CN" dirty="0" smtClean="0"/>
              <a:t>.</a:t>
            </a:r>
            <a:r>
              <a:rPr lang="zh-CN" altLang="en-US" dirty="0" smtClean="0"/>
              <a:t>编码矩阵有多种形式</a:t>
            </a:r>
            <a:endParaRPr lang="en-US" altLang="zh-CN" dirty="0" smtClean="0"/>
          </a:p>
          <a:p>
            <a:endParaRPr lang="en-US" altLang="zh-CN" dirty="0" smtClean="0"/>
          </a:p>
          <a:p>
            <a:r>
              <a:rPr lang="zh-CN" altLang="en-US" sz="1200" b="1" i="0" kern="1200" dirty="0" smtClean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海明距离</a:t>
            </a:r>
            <a:endParaRPr lang="en-US" altLang="zh-CN" dirty="0" smtClean="0"/>
          </a:p>
          <a:p>
            <a:r>
              <a:rPr lang="zh-CN" altLang="en-US" sz="1200" b="0" i="0" kern="1200" dirty="0" smtClean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在</a:t>
            </a:r>
            <a:r>
              <a:rPr lang="zh-CN" altLang="en-US" sz="1200" b="0" i="0" u="none" strike="noStrike" kern="1200" dirty="0" smtClean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  <a:hlinkClick r:id="rId3"/>
              </a:rPr>
              <a:t>信息编码</a:t>
            </a:r>
            <a:r>
              <a:rPr lang="zh-CN" altLang="en-US" sz="1200" b="0" i="0" kern="1200" dirty="0" smtClean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中，两个合法代码对应位上编码不同的位数称为</a:t>
            </a:r>
            <a:r>
              <a:rPr lang="zh-CN" altLang="en-US" sz="1200" b="0" i="0" u="none" strike="noStrike" kern="1200" dirty="0" smtClean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  <a:hlinkClick r:id="rId4"/>
              </a:rPr>
              <a:t>码距</a:t>
            </a:r>
            <a:r>
              <a:rPr lang="zh-CN" altLang="en-US" sz="1200" b="0" i="0" kern="1200" dirty="0" smtClean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，又称</a:t>
            </a:r>
            <a:r>
              <a:rPr lang="zh-CN" altLang="en-US" sz="1200" b="1" i="0" kern="1200" dirty="0" smtClean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海明距离</a:t>
            </a:r>
            <a:r>
              <a:rPr lang="zh-CN" altLang="en-US" sz="1200" b="0" i="0" kern="1200" dirty="0" smtClean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。</a:t>
            </a:r>
            <a:endParaRPr lang="en-US" altLang="zh-CN" sz="1200" b="0" i="0" kern="1200" dirty="0" smtClean="0"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endParaRPr lang="en-US" altLang="zh-CN" sz="1200" b="0" i="0" kern="1200" dirty="0" smtClean="0"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zh-CN" altLang="en-US" dirty="0" smtClean="0"/>
              <a:t>图</a:t>
            </a:r>
            <a:r>
              <a:rPr lang="en-US" altLang="zh-CN" dirty="0" smtClean="0"/>
              <a:t>3.5</a:t>
            </a:r>
            <a:r>
              <a:rPr lang="zh-CN" altLang="en-US" dirty="0" smtClean="0"/>
              <a:t>给出了一个示意图，在图</a:t>
            </a:r>
            <a:r>
              <a:rPr lang="en-US" altLang="zh-CN" dirty="0" smtClean="0"/>
              <a:t>3.5(a)</a:t>
            </a:r>
            <a:r>
              <a:rPr lang="zh-CN" altLang="en-US" dirty="0" smtClean="0"/>
              <a:t>中，分类器</a:t>
            </a:r>
            <a:r>
              <a:rPr lang="en-US" altLang="zh-CN" dirty="0" smtClean="0"/>
              <a:t>.f2</a:t>
            </a:r>
            <a:r>
              <a:rPr lang="zh-CN" altLang="en-US" dirty="0" smtClean="0"/>
              <a:t>将</a:t>
            </a:r>
            <a:r>
              <a:rPr lang="en-US" altLang="zh-CN" dirty="0" smtClean="0"/>
              <a:t>Ci</a:t>
            </a:r>
            <a:r>
              <a:rPr lang="zh-CN" altLang="en-US" dirty="0" smtClean="0"/>
              <a:t>类和伪类的样例作为正例，伪类和仇类的样例作为反例</a:t>
            </a:r>
            <a:r>
              <a:rPr lang="en-US" altLang="zh-CN" dirty="0" smtClean="0"/>
              <a:t>;</a:t>
            </a:r>
            <a:r>
              <a:rPr lang="zh-CN" altLang="en-US" dirty="0" smtClean="0"/>
              <a:t>在图</a:t>
            </a:r>
            <a:r>
              <a:rPr lang="en-US" altLang="zh-CN" dirty="0" smtClean="0"/>
              <a:t>3.5 (b)</a:t>
            </a:r>
            <a:r>
              <a:rPr lang="zh-CN" altLang="en-US" dirty="0" smtClean="0"/>
              <a:t>中，分类器人将</a:t>
            </a:r>
            <a:r>
              <a:rPr lang="en-US" altLang="zh-CN" dirty="0" smtClean="0"/>
              <a:t>C1</a:t>
            </a:r>
            <a:r>
              <a:rPr lang="zh-CN" altLang="en-US" dirty="0" smtClean="0"/>
              <a:t>类和</a:t>
            </a:r>
            <a:r>
              <a:rPr lang="en-US" altLang="zh-CN" dirty="0" smtClean="0"/>
              <a:t>C4</a:t>
            </a:r>
            <a:r>
              <a:rPr lang="zh-CN" altLang="en-US" dirty="0" smtClean="0"/>
              <a:t>类的样例作为正例，</a:t>
            </a:r>
            <a:r>
              <a:rPr lang="en-US" altLang="zh-CN" dirty="0" smtClean="0"/>
              <a:t>C3</a:t>
            </a:r>
            <a:r>
              <a:rPr lang="zh-CN" altLang="en-US" dirty="0" smtClean="0"/>
              <a:t>类的样例作为反例</a:t>
            </a:r>
            <a:r>
              <a:rPr lang="en-US" altLang="zh-CN" dirty="0" smtClean="0"/>
              <a:t>.</a:t>
            </a:r>
            <a:r>
              <a:rPr lang="zh-CN" altLang="en-US" dirty="0" smtClean="0"/>
              <a:t>在解码阶段，各分类器的预测结果联合起来形成了测试示例的编码，该编码与各类所对应的编码进行比较，将距离最小的编码所对应的类别作为预测结果</a:t>
            </a:r>
            <a:r>
              <a:rPr lang="en-US" altLang="zh-CN" dirty="0" smtClean="0"/>
              <a:t>.</a:t>
            </a:r>
            <a:r>
              <a:rPr lang="zh-CN" altLang="en-US" dirty="0" smtClean="0"/>
              <a:t>例如在图</a:t>
            </a:r>
            <a:r>
              <a:rPr lang="en-US" altLang="zh-CN" dirty="0" smtClean="0"/>
              <a:t>3.5(a)</a:t>
            </a:r>
            <a:r>
              <a:rPr lang="zh-CN" altLang="en-US" dirty="0" smtClean="0"/>
              <a:t>中，若基于欧氏距离，预测结果将是</a:t>
            </a:r>
            <a:r>
              <a:rPr lang="en-US" altLang="zh-CN" dirty="0" smtClean="0"/>
              <a:t>C3.</a:t>
            </a:r>
            <a:endParaRPr lang="zh-CN" altLang="en-US" dirty="0" smtClean="0"/>
          </a:p>
          <a:p>
            <a:endParaRPr lang="en-US" altLang="zh-CN" dirty="0" smtClean="0"/>
          </a:p>
          <a:p>
            <a:r>
              <a:rPr lang="zh-CN" altLang="en-US" sz="1200" b="0" i="0" kern="1200" dirty="0" smtClean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在</a:t>
            </a:r>
            <a:r>
              <a:rPr lang="zh-CN" altLang="en-US" sz="1200" b="0" i="0" u="none" strike="noStrike" kern="1200" dirty="0" smtClean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  <a:hlinkClick r:id="rId5"/>
              </a:rPr>
              <a:t>信息编码</a:t>
            </a:r>
            <a:r>
              <a:rPr lang="zh-CN" altLang="en-US" sz="1200" b="0" i="0" kern="1200" dirty="0" smtClean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中，两个合法代码对应位上编码不同的位数称为</a:t>
            </a:r>
            <a:r>
              <a:rPr lang="zh-CN" altLang="en-US" sz="1200" b="0" i="0" u="none" strike="noStrike" kern="1200" dirty="0" smtClean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  <a:hlinkClick r:id="rId6"/>
              </a:rPr>
              <a:t>码距</a:t>
            </a:r>
            <a:r>
              <a:rPr lang="zh-CN" altLang="en-US" sz="1200" b="0" i="0" kern="1200" dirty="0" smtClean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，又称海明距离。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DF57427-B8B5-4D24-A9D7-9D6F6382E66A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dirty="0" smtClean="0">
                <a:latin typeface="+mn-ea"/>
              </a:rPr>
              <a:t>ECOC</a:t>
            </a:r>
            <a:r>
              <a:rPr lang="zh-CN" altLang="en-US" dirty="0" smtClean="0">
                <a:latin typeface="+mn-ea"/>
              </a:rPr>
              <a:t>编码对分类器错误有一定容忍和修正能力</a:t>
            </a:r>
            <a:endParaRPr lang="en-US" altLang="zh-CN" dirty="0" smtClean="0">
              <a:latin typeface="+mn-ea"/>
            </a:endParaRPr>
          </a:p>
          <a:p>
            <a:r>
              <a:rPr lang="zh-CN" altLang="en-US" dirty="0" smtClean="0"/>
              <a:t>如其中一个分类器错误，由于其他分类器正确，因此仍能正确分类。</a:t>
            </a:r>
            <a:endParaRPr lang="en-US" altLang="zh-CN" dirty="0" smtClean="0"/>
          </a:p>
          <a:p>
            <a:endParaRPr lang="en-US" altLang="zh-CN" dirty="0" smtClean="0"/>
          </a:p>
          <a:p>
            <a:r>
              <a:rPr lang="zh-CN" altLang="en-US" dirty="0" smtClean="0"/>
              <a:t>一个理论纠错性质很好、但导致的二分类问题较难的编码，与另一个理论纠错性质差一些、但导致的二分类问题较简单的编码，最终产生的模型性能孰强孰弱很难说</a:t>
            </a:r>
            <a:r>
              <a:rPr lang="en-US" altLang="zh-CN" dirty="0" smtClean="0"/>
              <a:t>.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DF57427-B8B5-4D24-A9D7-9D6F6382E66A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 smtClean="0"/>
              <a:t>类别不平衡 </a:t>
            </a:r>
            <a:r>
              <a:rPr lang="en-US" altLang="zh-CN" dirty="0" smtClean="0"/>
              <a:t>(class-imbalance)</a:t>
            </a:r>
            <a:endParaRPr lang="en-US" altLang="zh-CN" dirty="0" smtClean="0"/>
          </a:p>
          <a:p>
            <a:endParaRPr lang="en-US" altLang="zh-CN" dirty="0" smtClean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zh-CN" altLang="en-US" dirty="0" smtClean="0"/>
              <a:t>在现实的分类学习任务中，我们经常会遇到类别不平衡，例如在通过拆分法解决多分类问题时，即使原始问题中不同类别的训练样例数目相当，在使用</a:t>
            </a:r>
            <a:r>
              <a:rPr lang="en-US" altLang="zh-CN" dirty="0" err="1" smtClean="0"/>
              <a:t>vR</a:t>
            </a:r>
            <a:r>
              <a:rPr lang="en-US" altLang="zh-CN" dirty="0" smtClean="0"/>
              <a:t>, </a:t>
            </a:r>
            <a:r>
              <a:rPr lang="en-US" altLang="zh-CN" dirty="0" err="1" smtClean="0"/>
              <a:t>MvM</a:t>
            </a:r>
            <a:r>
              <a:rPr lang="zh-CN" altLang="en-US" dirty="0" smtClean="0"/>
              <a:t>策略后产生的二分类任务仍可能出现类别不平衡现象，因此有必要了解类别不平衡性处理的基本方法。</a:t>
            </a:r>
            <a:endParaRPr lang="en-US" altLang="zh-CN" dirty="0" smtClean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lang="en-US" altLang="zh-CN" dirty="0" smtClean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zh-CN" altLang="en-US" dirty="0" smtClean="0"/>
              <a:t>前面讨论的是对数几率，一般情况也适用。</a:t>
            </a:r>
            <a:endParaRPr lang="en-US" altLang="zh-CN" dirty="0" smtClean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lang="en-US" altLang="zh-CN" dirty="0" smtClean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zh-CN" altLang="en-US" sz="1200" b="0" i="0" kern="1200" dirty="0" smtClean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如果你能理解“样本均值”其实也是一个</a:t>
            </a:r>
            <a:r>
              <a:rPr lang="zh-CN" altLang="en-US" sz="1200" b="1" i="0" kern="1200" dirty="0" smtClean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随机变量</a:t>
            </a:r>
            <a:r>
              <a:rPr lang="zh-CN" altLang="en-US" sz="1200" b="0" i="0" kern="1200" dirty="0" smtClean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，那么就可以理解为这个随机变量的</a:t>
            </a:r>
            <a:r>
              <a:rPr lang="zh-CN" altLang="en-US" sz="1200" b="1" i="0" kern="1200" dirty="0" smtClean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期望</a:t>
            </a:r>
            <a:r>
              <a:rPr lang="zh-CN" altLang="en-US" sz="1200" b="0" i="0" kern="1200" dirty="0" smtClean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是真实值，所以</a:t>
            </a:r>
            <a:r>
              <a:rPr lang="zh-CN" altLang="en-US" sz="1200" b="1" i="0" kern="1200" dirty="0" smtClean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无偏</a:t>
            </a:r>
            <a:r>
              <a:rPr lang="zh-CN" altLang="en-US" sz="1200" b="0" i="0" kern="1200" dirty="0" smtClean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（这是无偏的定义）；而它又是一个随机变量，只是</a:t>
            </a:r>
            <a:r>
              <a:rPr lang="zh-CN" altLang="en-US" sz="1200" b="1" i="0" kern="1200" dirty="0" smtClean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估计</a:t>
            </a:r>
            <a:r>
              <a:rPr lang="zh-CN" altLang="en-US" sz="1200" b="0" i="0" kern="1200" dirty="0" smtClean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而不精确地等于，所以是无偏估计量。</a:t>
            </a:r>
            <a:endParaRPr lang="en-US" altLang="zh-CN" dirty="0" smtClean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DF57427-B8B5-4D24-A9D7-9D6F6382E66A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 smtClean="0"/>
              <a:t>“再缩放”</a:t>
            </a:r>
            <a:r>
              <a:rPr lang="en-US" altLang="zh-CN" dirty="0" smtClean="0"/>
              <a:t>(rescaling)</a:t>
            </a:r>
            <a:endParaRPr lang="en-US" altLang="zh-CN" dirty="0" smtClean="0"/>
          </a:p>
          <a:p>
            <a:r>
              <a:rPr lang="zh-CN" altLang="en-US" dirty="0" smtClean="0"/>
              <a:t>“再缩放”也是“代价敏感学习”</a:t>
            </a:r>
            <a:endParaRPr lang="en-US" altLang="zh-CN" dirty="0" smtClean="0"/>
          </a:p>
          <a:p>
            <a:r>
              <a:rPr lang="zh-CN" altLang="en-US" dirty="0" smtClean="0"/>
              <a:t>数量多的，代价大</a:t>
            </a:r>
            <a:endParaRPr lang="en-US" altLang="zh-CN" dirty="0" smtClean="0"/>
          </a:p>
          <a:p>
            <a:endParaRPr lang="en-US" altLang="zh-CN" dirty="0" smtClean="0"/>
          </a:p>
          <a:p>
            <a:r>
              <a:rPr lang="zh-CN" altLang="en-US" dirty="0" smtClean="0"/>
              <a:t>因为实际采样不是无偏采样</a:t>
            </a:r>
            <a:endParaRPr lang="en-US" altLang="zh-CN" dirty="0" smtClean="0"/>
          </a:p>
          <a:p>
            <a:endParaRPr lang="en-US" altLang="zh-CN" dirty="0" smtClean="0"/>
          </a:p>
          <a:p>
            <a:r>
              <a:rPr lang="zh-CN" altLang="en-US" b="1" dirty="0" smtClean="0"/>
              <a:t>常用的有三类</a:t>
            </a:r>
            <a:endParaRPr lang="en-US" altLang="zh-CN" b="1" dirty="0" smtClean="0"/>
          </a:p>
          <a:p>
            <a:endParaRPr lang="en-US" altLang="zh-CN" dirty="0" smtClean="0"/>
          </a:p>
          <a:p>
            <a:r>
              <a:rPr lang="zh-CN" altLang="en-US" dirty="0" smtClean="0"/>
              <a:t>“欠采样”</a:t>
            </a:r>
            <a:r>
              <a:rPr lang="en-US" altLang="zh-CN" dirty="0" smtClean="0"/>
              <a:t>(</a:t>
            </a:r>
            <a:r>
              <a:rPr lang="en-US" altLang="zh-CN" dirty="0" err="1" smtClean="0"/>
              <a:t>undersampling</a:t>
            </a:r>
            <a:r>
              <a:rPr lang="en-US" altLang="zh-CN" dirty="0" smtClean="0"/>
              <a:t>)</a:t>
            </a:r>
            <a:endParaRPr lang="en-US" altLang="zh-CN" dirty="0" smtClean="0"/>
          </a:p>
          <a:p>
            <a:r>
              <a:rPr lang="zh-CN" altLang="en-US" dirty="0" smtClean="0"/>
              <a:t>“过采样”</a:t>
            </a:r>
            <a:r>
              <a:rPr lang="en-US" altLang="zh-CN" dirty="0" smtClean="0"/>
              <a:t>(oversampling)</a:t>
            </a:r>
            <a:endParaRPr lang="en-US" altLang="zh-CN" dirty="0" smtClean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DF57427-B8B5-4D24-A9D7-9D6F6382E66A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50" name="Group 2"/>
          <p:cNvGrpSpPr/>
          <p:nvPr/>
        </p:nvGrpSpPr>
        <p:grpSpPr bwMode="auto">
          <a:xfrm>
            <a:off x="0" y="2438401"/>
            <a:ext cx="9009185" cy="1052513"/>
            <a:chOff x="0" y="0"/>
            <a:chExt cx="5675" cy="663"/>
          </a:xfrm>
        </p:grpSpPr>
        <p:grpSp>
          <p:nvGrpSpPr>
            <p:cNvPr id="2051" name="Group 3"/>
            <p:cNvGrpSpPr/>
            <p:nvPr/>
          </p:nvGrpSpPr>
          <p:grpSpPr bwMode="auto">
            <a:xfrm>
              <a:off x="183" y="68"/>
              <a:ext cx="448" cy="299"/>
              <a:chOff x="0" y="0"/>
              <a:chExt cx="624" cy="432"/>
            </a:xfrm>
          </p:grpSpPr>
          <p:sp>
            <p:nvSpPr>
              <p:cNvPr id="2052" name="Rectangle 4"/>
              <p:cNvSpPr>
                <a:spLocks noChangeArrowheads="1"/>
              </p:cNvSpPr>
              <p:nvPr/>
            </p:nvSpPr>
            <p:spPr bwMode="auto">
              <a:xfrm>
                <a:off x="0" y="0"/>
                <a:ext cx="384" cy="432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053" name="Rectangle 5"/>
              <p:cNvSpPr>
                <a:spLocks noChangeArrowheads="1"/>
              </p:cNvSpPr>
              <p:nvPr/>
            </p:nvSpPr>
            <p:spPr bwMode="auto">
              <a:xfrm>
                <a:off x="336" y="0"/>
                <a:ext cx="288" cy="432"/>
              </a:xfrm>
              <a:prstGeom prst="rect">
                <a:avLst/>
              </a:prstGeom>
              <a:gradFill rotWithShape="0">
                <a:gsLst>
                  <a:gs pos="0">
                    <a:schemeClr val="folHlink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2054" name="Group 6"/>
            <p:cNvGrpSpPr/>
            <p:nvPr/>
          </p:nvGrpSpPr>
          <p:grpSpPr bwMode="auto">
            <a:xfrm>
              <a:off x="261" y="334"/>
              <a:ext cx="465" cy="299"/>
              <a:chOff x="0" y="0"/>
              <a:chExt cx="672" cy="432"/>
            </a:xfrm>
          </p:grpSpPr>
          <p:sp>
            <p:nvSpPr>
              <p:cNvPr id="2055" name="Rectangle 7"/>
              <p:cNvSpPr>
                <a:spLocks noChangeArrowheads="1"/>
              </p:cNvSpPr>
              <p:nvPr/>
            </p:nvSpPr>
            <p:spPr bwMode="auto">
              <a:xfrm>
                <a:off x="0" y="0"/>
                <a:ext cx="384" cy="432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056" name="Rectangle 8"/>
              <p:cNvSpPr>
                <a:spLocks noChangeArrowheads="1"/>
              </p:cNvSpPr>
              <p:nvPr/>
            </p:nvSpPr>
            <p:spPr bwMode="auto">
              <a:xfrm>
                <a:off x="336" y="0"/>
                <a:ext cx="336" cy="432"/>
              </a:xfrm>
              <a:prstGeom prst="rect">
                <a:avLst/>
              </a:prstGeom>
              <a:gradFill rotWithShape="0">
                <a:gsLst>
                  <a:gs pos="0">
                    <a:schemeClr val="accent2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2057" name="Rectangle 9"/>
            <p:cNvSpPr>
              <a:spLocks noChangeArrowheads="1"/>
            </p:cNvSpPr>
            <p:nvPr/>
          </p:nvSpPr>
          <p:spPr bwMode="auto">
            <a:xfrm>
              <a:off x="0" y="288"/>
              <a:ext cx="353" cy="266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hlink"/>
                </a:gs>
              </a:gsLst>
              <a:lin ang="189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058" name="Rectangle 10"/>
            <p:cNvSpPr>
              <a:spLocks noChangeArrowheads="1"/>
            </p:cNvSpPr>
            <p:nvPr/>
          </p:nvSpPr>
          <p:spPr bwMode="auto">
            <a:xfrm>
              <a:off x="400" y="0"/>
              <a:ext cx="20" cy="663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059" name="Rectangle 11"/>
            <p:cNvSpPr>
              <a:spLocks noChangeArrowheads="1"/>
            </p:cNvSpPr>
            <p:nvPr/>
          </p:nvSpPr>
          <p:spPr bwMode="auto">
            <a:xfrm flipV="1">
              <a:off x="199" y="518"/>
              <a:ext cx="5476" cy="35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2060" name="Rectangle 12"/>
          <p:cNvSpPr>
            <a:spLocks noGrp="1" noChangeArrowheads="1"/>
          </p:cNvSpPr>
          <p:nvPr>
            <p:ph type="ctrTitle"/>
          </p:nvPr>
        </p:nvSpPr>
        <p:spPr>
          <a:xfrm>
            <a:off x="990600" y="1828800"/>
            <a:ext cx="7772400" cy="1143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zh-CN" altLang="en-US" noProof="0" smtClean="0"/>
              <a:t>单击此处编辑母版标题样式</a:t>
            </a:r>
            <a:endParaRPr lang="zh-CN" noProof="0" smtClean="0"/>
          </a:p>
        </p:txBody>
      </p:sp>
      <p:sp>
        <p:nvSpPr>
          <p:cNvPr id="2061" name="Rectangle 1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 typeface="Wingdings" panose="05000000000000000000" pitchFamily="2" charset="2"/>
              <a:buNone/>
              <a:defRPr/>
            </a:lvl1pPr>
          </a:lstStyle>
          <a:p>
            <a:pPr lvl="0"/>
            <a:r>
              <a:rPr lang="zh-CN" altLang="en-US" noProof="0" smtClean="0"/>
              <a:t>单击此处编辑母版副标题样式</a:t>
            </a:r>
            <a:endParaRPr lang="zh-CN" noProof="0" smtClean="0"/>
          </a:p>
        </p:txBody>
      </p:sp>
      <p:sp>
        <p:nvSpPr>
          <p:cNvPr id="2062" name="Rectangle 14"/>
          <p:cNvSpPr>
            <a:spLocks noGrp="1" noChangeArrowheads="1"/>
          </p:cNvSpPr>
          <p:nvPr>
            <p:ph type="dt" sz="half" idx="2"/>
          </p:nvPr>
        </p:nvSpPr>
        <p:spPr>
          <a:xfrm>
            <a:off x="990600" y="6248400"/>
            <a:ext cx="1905000" cy="4572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063" name="Rectangle 15"/>
          <p:cNvSpPr>
            <a:spLocks noGrp="1" noChangeArrowheads="1"/>
          </p:cNvSpPr>
          <p:nvPr>
            <p:ph type="ftr" sz="quarter" idx="3"/>
          </p:nvPr>
        </p:nvSpPr>
        <p:spPr>
          <a:xfrm>
            <a:off x="3429000" y="6248400"/>
            <a:ext cx="2895600" cy="4572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064" name="Rectangle 16"/>
          <p:cNvSpPr>
            <a:spLocks noGrp="1" noChangeArrowheads="1"/>
          </p:cNvSpPr>
          <p:nvPr>
            <p:ph type="sldNum" sz="quarter" idx="4"/>
          </p:nvPr>
        </p:nvSpPr>
        <p:spPr>
          <a:xfrm>
            <a:off x="6858000" y="6248400"/>
            <a:ext cx="1905000" cy="4572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>
              <a:defRPr/>
            </a:pPr>
            <a:fld id="{6D5A3878-68F3-45F5-8CE5-B10A948053B1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  <p:transition>
    <p:cover dir="u"/>
  </p:transition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83568" y="836712"/>
            <a:ext cx="7772400" cy="4690864"/>
          </a:xfrm>
        </p:spPr>
        <p:txBody>
          <a:bodyPr/>
          <a:lstStyle>
            <a:lvl1pPr algn="just">
              <a:defRPr/>
            </a:lvl1pPr>
            <a:lvl2pPr algn="just">
              <a:defRPr/>
            </a:lvl2pPr>
            <a:lvl3pPr algn="just">
              <a:defRPr/>
            </a:lvl3pPr>
            <a:lvl4pPr algn="just">
              <a:defRPr/>
            </a:lvl4pPr>
            <a:lvl5pPr algn="just">
              <a:defRPr/>
            </a:lvl5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FCE9F0A-462E-4C69-95AA-11A5CD682488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  <p:transition>
    <p:cover dir="u"/>
  </p:transition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435" y="3651101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435" y="21509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D7FCA52-35BE-435D-97C2-A408D337DE8B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  <p:transition>
    <p:cover dir="u"/>
  </p:transition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3568" y="970384"/>
            <a:ext cx="3815862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0106" y="970384"/>
            <a:ext cx="3815862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FDE62D2-D264-4337-A19B-38BEDDBEBCE1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  <p:transition>
    <p:cover dir="u"/>
  </p:transition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066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066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270" y="1535113"/>
            <a:ext cx="4041531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270" y="2174875"/>
            <a:ext cx="4041531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1EB25B2-8CD4-4E83-80AD-E0B7F4C85BF1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  <p:transition>
    <p:cover dir="u"/>
  </p:transition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A13C547-B64A-4E2F-A6FC-68A598118A9B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  <p:transition>
    <p:cover dir="u"/>
  </p:transition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A9A150F-B1C5-4363-A5AD-8A53B12CA15F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  <p:transition>
    <p:cover dir="u"/>
  </p:transition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435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538" y="273051"/>
            <a:ext cx="5111262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1"/>
            <a:ext cx="3008435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247003D-06A9-418B-9E36-B2D925D2A0D5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  <p:transition>
    <p:cover dir="u"/>
  </p:transition>
  <p:timing>
    <p:tnLst>
      <p:par>
        <p:cTn id="1" dur="indefinite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166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166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 smtClean="0"/>
              <a:t>单击图标添加图片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166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D9ABAD4-93F4-4D00-B7FE-FF47E0DCFB90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  <p:transition>
    <p:cover dir="u"/>
  </p:transition>
  <p:timing>
    <p:tnLst>
      <p:par>
        <p:cTn id="1" dur="indefinite" restart="never" nodeType="tmRoot"/>
      </p:par>
    </p:tn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D96A2AB-B9EE-408D-BB4B-51D32C4155CD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  <p:transition>
    <p:cover dir="u"/>
  </p:transition>
  <p:timing>
    <p:tnLst>
      <p:par>
        <p:cTn id="1" dur="indefinite" restart="never" nodeType="tmRoot"/>
      </p:par>
    </p:tn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7004539" y="617539"/>
            <a:ext cx="1950427" cy="5514975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1150327" y="617539"/>
            <a:ext cx="5713534" cy="5514975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CBAFC95-745C-4519-8D02-578071E7EC83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  <p:transition>
    <p:cover dir="u"/>
  </p:transition>
  <p:timing>
    <p:tnLst>
      <p:par>
        <p:cTn id="1" dur="indefinite" restart="never" nodeType="tmRoot"/>
      </p:par>
    </p:tnLst>
  </p:timing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116632"/>
            <a:ext cx="8229600" cy="720080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457200" y="991269"/>
            <a:ext cx="4038600" cy="4525963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991269"/>
            <a:ext cx="4038600" cy="4525963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2082EF7-E0C7-46B1-9175-A6A81E4D74A4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  <p:transition>
    <p:cover dir="u"/>
  </p:transition>
  <p:hf hdr="0" ftr="0" dt="0"/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ChangeArrowheads="1"/>
          </p:cNvSpPr>
          <p:nvPr/>
        </p:nvSpPr>
        <p:spPr bwMode="auto">
          <a:xfrm>
            <a:off x="417635" y="152574"/>
            <a:ext cx="438150" cy="474663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lang="zh-CN" altLang="zh-CN"/>
          </a:p>
        </p:txBody>
      </p:sp>
      <p:sp>
        <p:nvSpPr>
          <p:cNvPr id="1027" name="Rectangle 3"/>
          <p:cNvSpPr>
            <a:spLocks noChangeArrowheads="1"/>
          </p:cNvSpPr>
          <p:nvPr/>
        </p:nvSpPr>
        <p:spPr bwMode="auto">
          <a:xfrm>
            <a:off x="800100" y="152574"/>
            <a:ext cx="328246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lang="zh-CN" altLang="zh-CN"/>
          </a:p>
        </p:txBody>
      </p:sp>
      <p:sp>
        <p:nvSpPr>
          <p:cNvPr id="1028" name="Rectangle 4"/>
          <p:cNvSpPr>
            <a:spLocks noChangeArrowheads="1"/>
          </p:cNvSpPr>
          <p:nvPr/>
        </p:nvSpPr>
        <p:spPr bwMode="auto">
          <a:xfrm>
            <a:off x="540728" y="574849"/>
            <a:ext cx="423496" cy="474663"/>
          </a:xfrm>
          <a:prstGeom prst="rect">
            <a:avLst/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lang="zh-CN" altLang="zh-CN"/>
          </a:p>
        </p:txBody>
      </p:sp>
      <p:sp>
        <p:nvSpPr>
          <p:cNvPr id="1029" name="Rectangle 5"/>
          <p:cNvSpPr>
            <a:spLocks noChangeArrowheads="1"/>
          </p:cNvSpPr>
          <p:nvPr/>
        </p:nvSpPr>
        <p:spPr bwMode="auto">
          <a:xfrm>
            <a:off x="911470" y="574849"/>
            <a:ext cx="367812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lang="zh-CN" altLang="zh-CN"/>
          </a:p>
        </p:txBody>
      </p:sp>
      <p:sp>
        <p:nvSpPr>
          <p:cNvPr id="1030" name="Rectangle 6"/>
          <p:cNvSpPr>
            <a:spLocks noChangeArrowheads="1"/>
          </p:cNvSpPr>
          <p:nvPr/>
        </p:nvSpPr>
        <p:spPr bwMode="auto">
          <a:xfrm>
            <a:off x="127489" y="501824"/>
            <a:ext cx="559777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lang="zh-CN" altLang="zh-CN"/>
          </a:p>
        </p:txBody>
      </p:sp>
      <p:sp>
        <p:nvSpPr>
          <p:cNvPr id="1031" name="Rectangle 7"/>
          <p:cNvSpPr>
            <a:spLocks noChangeArrowheads="1"/>
          </p:cNvSpPr>
          <p:nvPr/>
        </p:nvSpPr>
        <p:spPr bwMode="auto">
          <a:xfrm>
            <a:off x="762001" y="44624"/>
            <a:ext cx="32238" cy="1052513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lang="zh-CN" altLang="zh-CN"/>
          </a:p>
        </p:txBody>
      </p:sp>
      <p:sp>
        <p:nvSpPr>
          <p:cNvPr id="1032" name="Rectangle 8"/>
          <p:cNvSpPr>
            <a:spLocks noChangeArrowheads="1"/>
          </p:cNvSpPr>
          <p:nvPr/>
        </p:nvSpPr>
        <p:spPr bwMode="auto">
          <a:xfrm>
            <a:off x="442547" y="835198"/>
            <a:ext cx="8226669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lang="zh-CN" altLang="zh-CN"/>
          </a:p>
        </p:txBody>
      </p:sp>
      <p:sp>
        <p:nvSpPr>
          <p:cNvPr id="1033" name="Rectangle 9"/>
          <p:cNvSpPr>
            <a:spLocks noGrp="1" noChangeArrowheads="1"/>
          </p:cNvSpPr>
          <p:nvPr>
            <p:ph type="title"/>
          </p:nvPr>
        </p:nvSpPr>
        <p:spPr bwMode="auto">
          <a:xfrm>
            <a:off x="1242116" y="24359"/>
            <a:ext cx="7427100" cy="81235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/>
          <a:p>
            <a:pPr lvl="0"/>
            <a:r>
              <a:rPr lang="zh-CN" dirty="0" smtClean="0"/>
              <a:t>单击此处编辑母版标题样式</a:t>
            </a:r>
            <a:endParaRPr lang="zh-CN" dirty="0" smtClean="0"/>
          </a:p>
        </p:txBody>
      </p:sp>
      <p:sp>
        <p:nvSpPr>
          <p:cNvPr id="1034" name="Rectangle 10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3568" y="836712"/>
            <a:ext cx="7772400" cy="46908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dirty="0" smtClean="0"/>
              <a:t>单击此处编辑母版文本样式</a:t>
            </a:r>
            <a:endParaRPr lang="zh-CN" dirty="0" smtClean="0"/>
          </a:p>
          <a:p>
            <a:pPr lvl="1"/>
            <a:r>
              <a:rPr lang="zh-CN" dirty="0" smtClean="0"/>
              <a:t>第二级</a:t>
            </a:r>
            <a:endParaRPr lang="zh-CN" dirty="0" smtClean="0"/>
          </a:p>
          <a:p>
            <a:pPr lvl="2"/>
            <a:r>
              <a:rPr lang="zh-CN" dirty="0" smtClean="0"/>
              <a:t>第三级</a:t>
            </a:r>
            <a:endParaRPr lang="zh-CN" dirty="0" smtClean="0"/>
          </a:p>
          <a:p>
            <a:pPr lvl="3"/>
            <a:r>
              <a:rPr lang="zh-CN" dirty="0" smtClean="0"/>
              <a:t>第四级</a:t>
            </a:r>
            <a:endParaRPr lang="zh-CN" dirty="0" smtClean="0"/>
          </a:p>
          <a:p>
            <a:pPr lvl="4"/>
            <a:r>
              <a:rPr lang="zh-CN" dirty="0" smtClean="0"/>
              <a:t>第五级</a:t>
            </a:r>
            <a:endParaRPr lang="zh-CN" dirty="0" smtClean="0"/>
          </a:p>
        </p:txBody>
      </p:sp>
      <p:sp>
        <p:nvSpPr>
          <p:cNvPr id="1035" name="Rectangle 11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914400" y="63246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>
            <a:lvl1pPr>
              <a:defRPr sz="14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036" name="Rectangle 12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352800" y="63246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>
            <a:lvl1pPr algn="ctr">
              <a:defRPr sz="14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037" name="Rectangle 1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781800" y="63246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>
            <a:lvl1pPr algn="r">
              <a:defRPr sz="1400"/>
            </a:lvl1pPr>
          </a:lstStyle>
          <a:p>
            <a:pPr>
              <a:defRPr/>
            </a:pPr>
            <a:fld id="{C2082EF7-E0C7-46B1-9175-A6A81E4D74A4}" type="slidenum">
              <a:rPr lang="en-US" altLang="zh-CN" smtClean="0"/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ransition>
    <p:cover dir="u"/>
  </p:transition>
  <p:timing>
    <p:tnLst>
      <p:par>
        <p:cTn id="1" dur="indefinite" restart="never" nodeType="tmRoot"/>
      </p:par>
    </p:tnLst>
  </p:timing>
  <p:hf hdr="0" ft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+mn-ea"/>
          <a:ea typeface="+mn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9pPr>
    </p:titleStyle>
    <p:bodyStyle>
      <a:lvl1pPr marL="342900" indent="-342900" algn="just" rtl="0" eaLnBrk="1" fontAlgn="base" hangingPunct="1">
        <a:spcBef>
          <a:spcPts val="0"/>
        </a:spcBef>
        <a:spcAft>
          <a:spcPct val="0"/>
        </a:spcAft>
        <a:buClr>
          <a:schemeClr val="folHlink"/>
        </a:buClr>
        <a:buSzPct val="60000"/>
        <a:buFont typeface="Wingdings" panose="05000000000000000000" pitchFamily="2" charset="2"/>
        <a:buChar char="n"/>
        <a:defRPr sz="3200" b="1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just" rtl="0" eaLnBrk="1" fontAlgn="base" hangingPunct="1">
        <a:spcBef>
          <a:spcPts val="0"/>
        </a:spcBef>
        <a:spcAft>
          <a:spcPct val="0"/>
        </a:spcAft>
        <a:buClr>
          <a:schemeClr val="hlink"/>
        </a:buClr>
        <a:buSzPct val="55000"/>
        <a:buFont typeface="Wingdings" panose="05000000000000000000" pitchFamily="2" charset="2"/>
        <a:buChar char="n"/>
        <a:defRPr sz="2800" b="1">
          <a:solidFill>
            <a:schemeClr val="tx1"/>
          </a:solidFill>
          <a:latin typeface="+mn-lt"/>
          <a:ea typeface="+mn-ea"/>
        </a:defRPr>
      </a:lvl2pPr>
      <a:lvl3pPr marL="1143000" indent="-228600" algn="just" rtl="0" eaLnBrk="1" fontAlgn="base" hangingPunct="1">
        <a:spcBef>
          <a:spcPts val="0"/>
        </a:spcBef>
        <a:spcAft>
          <a:spcPct val="0"/>
        </a:spcAft>
        <a:buClr>
          <a:schemeClr val="folHlink"/>
        </a:buClr>
        <a:buSzPct val="50000"/>
        <a:buFont typeface="Wingdings" panose="05000000000000000000" pitchFamily="2" charset="2"/>
        <a:buChar char="n"/>
        <a:defRPr sz="2400" b="1">
          <a:solidFill>
            <a:schemeClr val="tx1"/>
          </a:solidFill>
          <a:latin typeface="+mn-lt"/>
          <a:ea typeface="+mn-ea"/>
        </a:defRPr>
      </a:lvl3pPr>
      <a:lvl4pPr marL="1600200" indent="-228600" algn="just" rtl="0" eaLnBrk="1" fontAlgn="base" hangingPunct="1">
        <a:spcBef>
          <a:spcPts val="0"/>
        </a:spcBef>
        <a:spcAft>
          <a:spcPct val="0"/>
        </a:spcAft>
        <a:buClr>
          <a:schemeClr val="accent2"/>
        </a:buClr>
        <a:buSzPct val="55000"/>
        <a:buFont typeface="Wingdings" panose="05000000000000000000" pitchFamily="2" charset="2"/>
        <a:buChar char="n"/>
        <a:defRPr sz="2000" b="1">
          <a:solidFill>
            <a:schemeClr val="tx1"/>
          </a:solidFill>
          <a:latin typeface="+mn-lt"/>
          <a:ea typeface="+mn-ea"/>
        </a:defRPr>
      </a:lvl4pPr>
      <a:lvl5pPr marL="2057400" indent="-228600" algn="just" rtl="0" eaLnBrk="1" fontAlgn="base" hangingPunct="1">
        <a:spcBef>
          <a:spcPts val="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sz="2000" b="1">
          <a:solidFill>
            <a:schemeClr val="tx1"/>
          </a:solidFill>
          <a:latin typeface="+mn-lt"/>
          <a:ea typeface="+mn-ea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.xml"/><Relationship Id="rId8" Type="http://schemas.openxmlformats.org/officeDocument/2006/relationships/image" Target="../media/image4.wmf"/><Relationship Id="rId7" Type="http://schemas.openxmlformats.org/officeDocument/2006/relationships/oleObject" Target="../embeddings/oleObject4.bin"/><Relationship Id="rId6" Type="http://schemas.openxmlformats.org/officeDocument/2006/relationships/image" Target="../media/image3.wmf"/><Relationship Id="rId5" Type="http://schemas.openxmlformats.org/officeDocument/2006/relationships/oleObject" Target="../embeddings/oleObject3.bin"/><Relationship Id="rId4" Type="http://schemas.openxmlformats.org/officeDocument/2006/relationships/image" Target="../media/image2.wmf"/><Relationship Id="rId3" Type="http://schemas.openxmlformats.org/officeDocument/2006/relationships/oleObject" Target="../embeddings/oleObject2.bin"/><Relationship Id="rId2" Type="http://schemas.openxmlformats.org/officeDocument/2006/relationships/image" Target="../media/image1.wmf"/><Relationship Id="rId11" Type="http://schemas.openxmlformats.org/officeDocument/2006/relationships/notesSlide" Target="../notesSlides/notesSlide1.xml"/><Relationship Id="rId10" Type="http://schemas.openxmlformats.org/officeDocument/2006/relationships/vmlDrawing" Target="../drawings/vmlDrawing1.vml"/><Relationship Id="rId1" Type="http://schemas.openxmlformats.org/officeDocument/2006/relationships/oleObject" Target="../embeddings/oleObject1.bin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image" Target="../media/image9.wmf"/><Relationship Id="rId8" Type="http://schemas.openxmlformats.org/officeDocument/2006/relationships/oleObject" Target="../embeddings/oleObject8.bin"/><Relationship Id="rId7" Type="http://schemas.openxmlformats.org/officeDocument/2006/relationships/image" Target="../media/image8.wmf"/><Relationship Id="rId6" Type="http://schemas.openxmlformats.org/officeDocument/2006/relationships/oleObject" Target="../embeddings/oleObject7.bin"/><Relationship Id="rId5" Type="http://schemas.openxmlformats.org/officeDocument/2006/relationships/image" Target="../media/image7.wmf"/><Relationship Id="rId4" Type="http://schemas.openxmlformats.org/officeDocument/2006/relationships/oleObject" Target="../embeddings/oleObject6.bin"/><Relationship Id="rId3" Type="http://schemas.openxmlformats.org/officeDocument/2006/relationships/image" Target="../media/image6.wmf"/><Relationship Id="rId2" Type="http://schemas.openxmlformats.org/officeDocument/2006/relationships/oleObject" Target="../embeddings/oleObject5.bin"/><Relationship Id="rId12" Type="http://schemas.openxmlformats.org/officeDocument/2006/relationships/notesSlide" Target="../notesSlides/notesSlide2.xml"/><Relationship Id="rId11" Type="http://schemas.openxmlformats.org/officeDocument/2006/relationships/vmlDrawing" Target="../drawings/vmlDrawing2.vml"/><Relationship Id="rId10" Type="http://schemas.openxmlformats.org/officeDocument/2006/relationships/slideLayout" Target="../slideLayouts/slideLayout2.xml"/><Relationship Id="rId1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image" Target="../media/image12.wmf"/><Relationship Id="rId8" Type="http://schemas.openxmlformats.org/officeDocument/2006/relationships/oleObject" Target="../embeddings/oleObject13.bin"/><Relationship Id="rId7" Type="http://schemas.openxmlformats.org/officeDocument/2006/relationships/image" Target="../media/image11.wmf"/><Relationship Id="rId6" Type="http://schemas.openxmlformats.org/officeDocument/2006/relationships/oleObject" Target="../embeddings/oleObject12.bin"/><Relationship Id="rId5" Type="http://schemas.openxmlformats.org/officeDocument/2006/relationships/oleObject" Target="../embeddings/oleObject11.bin"/><Relationship Id="rId4" Type="http://schemas.openxmlformats.org/officeDocument/2006/relationships/image" Target="../media/image10.wmf"/><Relationship Id="rId3" Type="http://schemas.openxmlformats.org/officeDocument/2006/relationships/oleObject" Target="../embeddings/oleObject10.bin"/><Relationship Id="rId2" Type="http://schemas.openxmlformats.org/officeDocument/2006/relationships/image" Target="../media/image9.wmf"/><Relationship Id="rId14" Type="http://schemas.openxmlformats.org/officeDocument/2006/relationships/notesSlide" Target="../notesSlides/notesSlide3.xml"/><Relationship Id="rId13" Type="http://schemas.openxmlformats.org/officeDocument/2006/relationships/vmlDrawing" Target="../drawings/vmlDrawing3.vml"/><Relationship Id="rId12" Type="http://schemas.openxmlformats.org/officeDocument/2006/relationships/slideLayout" Target="../slideLayouts/slideLayout2.xml"/><Relationship Id="rId11" Type="http://schemas.openxmlformats.org/officeDocument/2006/relationships/image" Target="../media/image13.wmf"/><Relationship Id="rId10" Type="http://schemas.openxmlformats.org/officeDocument/2006/relationships/oleObject" Target="../embeddings/oleObject14.bin"/><Relationship Id="rId1" Type="http://schemas.openxmlformats.org/officeDocument/2006/relationships/oleObject" Target="../embeddings/oleObject9.bin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19.bin"/><Relationship Id="rId8" Type="http://schemas.openxmlformats.org/officeDocument/2006/relationships/image" Target="../media/image17.wmf"/><Relationship Id="rId7" Type="http://schemas.openxmlformats.org/officeDocument/2006/relationships/oleObject" Target="../embeddings/oleObject18.bin"/><Relationship Id="rId6" Type="http://schemas.openxmlformats.org/officeDocument/2006/relationships/image" Target="../media/image16.wmf"/><Relationship Id="rId5" Type="http://schemas.openxmlformats.org/officeDocument/2006/relationships/oleObject" Target="../embeddings/oleObject17.bin"/><Relationship Id="rId4" Type="http://schemas.openxmlformats.org/officeDocument/2006/relationships/image" Target="../media/image15.wmf"/><Relationship Id="rId3" Type="http://schemas.openxmlformats.org/officeDocument/2006/relationships/oleObject" Target="../embeddings/oleObject16.bin"/><Relationship Id="rId2" Type="http://schemas.openxmlformats.org/officeDocument/2006/relationships/image" Target="../media/image14.wmf"/><Relationship Id="rId17" Type="http://schemas.openxmlformats.org/officeDocument/2006/relationships/notesSlide" Target="../notesSlides/notesSlide4.xml"/><Relationship Id="rId16" Type="http://schemas.openxmlformats.org/officeDocument/2006/relationships/vmlDrawing" Target="../drawings/vmlDrawing4.vml"/><Relationship Id="rId15" Type="http://schemas.openxmlformats.org/officeDocument/2006/relationships/slideLayout" Target="../slideLayouts/slideLayout2.xml"/><Relationship Id="rId14" Type="http://schemas.openxmlformats.org/officeDocument/2006/relationships/image" Target="../media/image20.wmf"/><Relationship Id="rId13" Type="http://schemas.openxmlformats.org/officeDocument/2006/relationships/oleObject" Target="../embeddings/oleObject21.bin"/><Relationship Id="rId12" Type="http://schemas.openxmlformats.org/officeDocument/2006/relationships/image" Target="../media/image19.wmf"/><Relationship Id="rId11" Type="http://schemas.openxmlformats.org/officeDocument/2006/relationships/oleObject" Target="../embeddings/oleObject20.bin"/><Relationship Id="rId10" Type="http://schemas.openxmlformats.org/officeDocument/2006/relationships/image" Target="../media/image18.wmf"/><Relationship Id="rId1" Type="http://schemas.openxmlformats.org/officeDocument/2006/relationships/oleObject" Target="../embeddings/oleObject15.bin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26.bin"/><Relationship Id="rId8" Type="http://schemas.openxmlformats.org/officeDocument/2006/relationships/image" Target="../media/image24.wmf"/><Relationship Id="rId7" Type="http://schemas.openxmlformats.org/officeDocument/2006/relationships/oleObject" Target="../embeddings/oleObject25.bin"/><Relationship Id="rId6" Type="http://schemas.openxmlformats.org/officeDocument/2006/relationships/image" Target="../media/image23.wmf"/><Relationship Id="rId5" Type="http://schemas.openxmlformats.org/officeDocument/2006/relationships/oleObject" Target="../embeddings/oleObject24.bin"/><Relationship Id="rId4" Type="http://schemas.openxmlformats.org/officeDocument/2006/relationships/image" Target="../media/image22.wmf"/><Relationship Id="rId3" Type="http://schemas.openxmlformats.org/officeDocument/2006/relationships/oleObject" Target="../embeddings/oleObject23.bin"/><Relationship Id="rId2" Type="http://schemas.openxmlformats.org/officeDocument/2006/relationships/image" Target="../media/image21.wmf"/><Relationship Id="rId17" Type="http://schemas.openxmlformats.org/officeDocument/2006/relationships/notesSlide" Target="../notesSlides/notesSlide5.xml"/><Relationship Id="rId16" Type="http://schemas.openxmlformats.org/officeDocument/2006/relationships/vmlDrawing" Target="../drawings/vmlDrawing5.vml"/><Relationship Id="rId15" Type="http://schemas.openxmlformats.org/officeDocument/2006/relationships/slideLayout" Target="../slideLayouts/slideLayout2.xml"/><Relationship Id="rId14" Type="http://schemas.openxmlformats.org/officeDocument/2006/relationships/image" Target="../media/image27.wmf"/><Relationship Id="rId13" Type="http://schemas.openxmlformats.org/officeDocument/2006/relationships/oleObject" Target="../embeddings/oleObject28.bin"/><Relationship Id="rId12" Type="http://schemas.openxmlformats.org/officeDocument/2006/relationships/image" Target="../media/image26.wmf"/><Relationship Id="rId11" Type="http://schemas.openxmlformats.org/officeDocument/2006/relationships/oleObject" Target="../embeddings/oleObject27.bin"/><Relationship Id="rId10" Type="http://schemas.openxmlformats.org/officeDocument/2006/relationships/image" Target="../media/image25.wmf"/><Relationship Id="rId1" Type="http://schemas.openxmlformats.org/officeDocument/2006/relationships/oleObject" Target="../embeddings/oleObject22.bin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33.bin"/><Relationship Id="rId8" Type="http://schemas.openxmlformats.org/officeDocument/2006/relationships/image" Target="../media/image31.wmf"/><Relationship Id="rId7" Type="http://schemas.openxmlformats.org/officeDocument/2006/relationships/oleObject" Target="../embeddings/oleObject32.bin"/><Relationship Id="rId6" Type="http://schemas.openxmlformats.org/officeDocument/2006/relationships/image" Target="../media/image30.wmf"/><Relationship Id="rId5" Type="http://schemas.openxmlformats.org/officeDocument/2006/relationships/oleObject" Target="../embeddings/oleObject31.bin"/><Relationship Id="rId4" Type="http://schemas.openxmlformats.org/officeDocument/2006/relationships/image" Target="../media/image29.wmf"/><Relationship Id="rId3" Type="http://schemas.openxmlformats.org/officeDocument/2006/relationships/oleObject" Target="../embeddings/oleObject30.bin"/><Relationship Id="rId2" Type="http://schemas.openxmlformats.org/officeDocument/2006/relationships/image" Target="../media/image28.wmf"/><Relationship Id="rId14" Type="http://schemas.openxmlformats.org/officeDocument/2006/relationships/notesSlide" Target="../notesSlides/notesSlide6.xml"/><Relationship Id="rId13" Type="http://schemas.openxmlformats.org/officeDocument/2006/relationships/vmlDrawing" Target="../drawings/vmlDrawing6.vml"/><Relationship Id="rId12" Type="http://schemas.openxmlformats.org/officeDocument/2006/relationships/slideLayout" Target="../slideLayouts/slideLayout2.xml"/><Relationship Id="rId11" Type="http://schemas.openxmlformats.org/officeDocument/2006/relationships/image" Target="../media/image33.png"/><Relationship Id="rId10" Type="http://schemas.openxmlformats.org/officeDocument/2006/relationships/image" Target="../media/image32.wmf"/><Relationship Id="rId1" Type="http://schemas.openxmlformats.org/officeDocument/2006/relationships/oleObject" Target="../embeddings/oleObject29.bin"/></Relationships>
</file>

<file path=ppt/slides/_rels/slide9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.xml"/><Relationship Id="rId8" Type="http://schemas.openxmlformats.org/officeDocument/2006/relationships/image" Target="../media/image36.wmf"/><Relationship Id="rId7" Type="http://schemas.openxmlformats.org/officeDocument/2006/relationships/oleObject" Target="../embeddings/oleObject37.bin"/><Relationship Id="rId6" Type="http://schemas.openxmlformats.org/officeDocument/2006/relationships/image" Target="../media/image33.png"/><Relationship Id="rId5" Type="http://schemas.openxmlformats.org/officeDocument/2006/relationships/oleObject" Target="../embeddings/oleObject36.bin"/><Relationship Id="rId4" Type="http://schemas.openxmlformats.org/officeDocument/2006/relationships/image" Target="../media/image35.wmf"/><Relationship Id="rId3" Type="http://schemas.openxmlformats.org/officeDocument/2006/relationships/oleObject" Target="../embeddings/oleObject35.bin"/><Relationship Id="rId2" Type="http://schemas.openxmlformats.org/officeDocument/2006/relationships/image" Target="../media/image34.wmf"/><Relationship Id="rId11" Type="http://schemas.openxmlformats.org/officeDocument/2006/relationships/notesSlide" Target="../notesSlides/notesSlide7.xml"/><Relationship Id="rId10" Type="http://schemas.openxmlformats.org/officeDocument/2006/relationships/vmlDrawing" Target="../drawings/vmlDrawing7.vml"/><Relationship Id="rId1" Type="http://schemas.openxmlformats.org/officeDocument/2006/relationships/oleObject" Target="../embeddings/oleObject34.bin"/></Relationships>
</file>

<file path=ppt/slides/_rels/slide10.xml.rels><?xml version="1.0" encoding="UTF-8" standalone="yes"?>
<Relationships xmlns="http://schemas.openxmlformats.org/package/2006/relationships"><Relationship Id="rId9" Type="http://schemas.openxmlformats.org/officeDocument/2006/relationships/image" Target="../media/image41.wmf"/><Relationship Id="rId8" Type="http://schemas.openxmlformats.org/officeDocument/2006/relationships/oleObject" Target="../embeddings/oleObject41.bin"/><Relationship Id="rId7" Type="http://schemas.openxmlformats.org/officeDocument/2006/relationships/image" Target="../media/image40.wmf"/><Relationship Id="rId6" Type="http://schemas.openxmlformats.org/officeDocument/2006/relationships/oleObject" Target="../embeddings/oleObject40.bin"/><Relationship Id="rId5" Type="http://schemas.openxmlformats.org/officeDocument/2006/relationships/image" Target="../media/image39.wmf"/><Relationship Id="rId4" Type="http://schemas.openxmlformats.org/officeDocument/2006/relationships/oleObject" Target="../embeddings/oleObject39.bin"/><Relationship Id="rId3" Type="http://schemas.openxmlformats.org/officeDocument/2006/relationships/image" Target="../media/image38.wmf"/><Relationship Id="rId2" Type="http://schemas.openxmlformats.org/officeDocument/2006/relationships/oleObject" Target="../embeddings/oleObject38.bin"/><Relationship Id="rId12" Type="http://schemas.openxmlformats.org/officeDocument/2006/relationships/notesSlide" Target="../notesSlides/notesSlide8.xml"/><Relationship Id="rId11" Type="http://schemas.openxmlformats.org/officeDocument/2006/relationships/vmlDrawing" Target="../drawings/vmlDrawing8.vml"/><Relationship Id="rId10" Type="http://schemas.openxmlformats.org/officeDocument/2006/relationships/slideLayout" Target="../slideLayouts/slideLayout2.xml"/><Relationship Id="rId1" Type="http://schemas.openxmlformats.org/officeDocument/2006/relationships/image" Target="../media/image37.png"/></Relationships>
</file>

<file path=ppt/slides/_rels/slide11.xml.rels><?xml version="1.0" encoding="UTF-8" standalone="yes"?>
<Relationships xmlns="http://schemas.openxmlformats.org/package/2006/relationships"><Relationship Id="rId9" Type="http://schemas.openxmlformats.org/officeDocument/2006/relationships/image" Target="../media/image45.wmf"/><Relationship Id="rId8" Type="http://schemas.openxmlformats.org/officeDocument/2006/relationships/oleObject" Target="../embeddings/oleObject45.bin"/><Relationship Id="rId7" Type="http://schemas.openxmlformats.org/officeDocument/2006/relationships/image" Target="../media/image44.wmf"/><Relationship Id="rId6" Type="http://schemas.openxmlformats.org/officeDocument/2006/relationships/oleObject" Target="../embeddings/oleObject44.bin"/><Relationship Id="rId5" Type="http://schemas.openxmlformats.org/officeDocument/2006/relationships/image" Target="../media/image43.wmf"/><Relationship Id="rId4" Type="http://schemas.openxmlformats.org/officeDocument/2006/relationships/oleObject" Target="../embeddings/oleObject43.bin"/><Relationship Id="rId3" Type="http://schemas.openxmlformats.org/officeDocument/2006/relationships/image" Target="../media/image42.wmf"/><Relationship Id="rId2" Type="http://schemas.openxmlformats.org/officeDocument/2006/relationships/oleObject" Target="../embeddings/oleObject42.bin"/><Relationship Id="rId12" Type="http://schemas.openxmlformats.org/officeDocument/2006/relationships/notesSlide" Target="../notesSlides/notesSlide9.xml"/><Relationship Id="rId11" Type="http://schemas.openxmlformats.org/officeDocument/2006/relationships/vmlDrawing" Target="../drawings/vmlDrawing9.vml"/><Relationship Id="rId10" Type="http://schemas.openxmlformats.org/officeDocument/2006/relationships/slideLayout" Target="../slideLayouts/slideLayout2.xml"/><Relationship Id="rId1" Type="http://schemas.openxmlformats.org/officeDocument/2006/relationships/image" Target="../media/image37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50.bin"/><Relationship Id="rId8" Type="http://schemas.openxmlformats.org/officeDocument/2006/relationships/image" Target="../media/image49.wmf"/><Relationship Id="rId7" Type="http://schemas.openxmlformats.org/officeDocument/2006/relationships/oleObject" Target="../embeddings/oleObject49.bin"/><Relationship Id="rId6" Type="http://schemas.openxmlformats.org/officeDocument/2006/relationships/image" Target="../media/image48.wmf"/><Relationship Id="rId5" Type="http://schemas.openxmlformats.org/officeDocument/2006/relationships/oleObject" Target="../embeddings/oleObject48.bin"/><Relationship Id="rId4" Type="http://schemas.openxmlformats.org/officeDocument/2006/relationships/image" Target="../media/image47.wmf"/><Relationship Id="rId3" Type="http://schemas.openxmlformats.org/officeDocument/2006/relationships/oleObject" Target="../embeddings/oleObject47.bin"/><Relationship Id="rId21" Type="http://schemas.openxmlformats.org/officeDocument/2006/relationships/notesSlide" Target="../notesSlides/notesSlide10.xml"/><Relationship Id="rId20" Type="http://schemas.openxmlformats.org/officeDocument/2006/relationships/vmlDrawing" Target="../drawings/vmlDrawing10.vml"/><Relationship Id="rId2" Type="http://schemas.openxmlformats.org/officeDocument/2006/relationships/image" Target="../media/image46.wmf"/><Relationship Id="rId19" Type="http://schemas.openxmlformats.org/officeDocument/2006/relationships/slideLayout" Target="../slideLayouts/slideLayout2.xml"/><Relationship Id="rId18" Type="http://schemas.openxmlformats.org/officeDocument/2006/relationships/oleObject" Target="../embeddings/oleObject55.bin"/><Relationship Id="rId17" Type="http://schemas.openxmlformats.org/officeDocument/2006/relationships/image" Target="../media/image53.wmf"/><Relationship Id="rId16" Type="http://schemas.openxmlformats.org/officeDocument/2006/relationships/oleObject" Target="../embeddings/oleObject54.bin"/><Relationship Id="rId15" Type="http://schemas.openxmlformats.org/officeDocument/2006/relationships/image" Target="../media/image52.wmf"/><Relationship Id="rId14" Type="http://schemas.openxmlformats.org/officeDocument/2006/relationships/oleObject" Target="../embeddings/oleObject53.bin"/><Relationship Id="rId13" Type="http://schemas.openxmlformats.org/officeDocument/2006/relationships/oleObject" Target="../embeddings/oleObject52.bin"/><Relationship Id="rId12" Type="http://schemas.openxmlformats.org/officeDocument/2006/relationships/image" Target="../media/image51.wmf"/><Relationship Id="rId11" Type="http://schemas.openxmlformats.org/officeDocument/2006/relationships/oleObject" Target="../embeddings/oleObject51.bin"/><Relationship Id="rId10" Type="http://schemas.openxmlformats.org/officeDocument/2006/relationships/image" Target="../media/image50.wmf"/><Relationship Id="rId1" Type="http://schemas.openxmlformats.org/officeDocument/2006/relationships/oleObject" Target="../embeddings/oleObject46.bin"/></Relationships>
</file>

<file path=ppt/slides/_rels/slide14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60.bin"/><Relationship Id="rId8" Type="http://schemas.openxmlformats.org/officeDocument/2006/relationships/image" Target="../media/image55.wmf"/><Relationship Id="rId7" Type="http://schemas.openxmlformats.org/officeDocument/2006/relationships/oleObject" Target="../embeddings/oleObject59.bin"/><Relationship Id="rId6" Type="http://schemas.openxmlformats.org/officeDocument/2006/relationships/image" Target="../media/image54.wmf"/><Relationship Id="rId5" Type="http://schemas.openxmlformats.org/officeDocument/2006/relationships/oleObject" Target="../embeddings/oleObject58.bin"/><Relationship Id="rId4" Type="http://schemas.openxmlformats.org/officeDocument/2006/relationships/image" Target="../media/image53.wmf"/><Relationship Id="rId3" Type="http://schemas.openxmlformats.org/officeDocument/2006/relationships/oleObject" Target="../embeddings/oleObject57.bin"/><Relationship Id="rId21" Type="http://schemas.openxmlformats.org/officeDocument/2006/relationships/notesSlide" Target="../notesSlides/notesSlide11.xml"/><Relationship Id="rId20" Type="http://schemas.openxmlformats.org/officeDocument/2006/relationships/vmlDrawing" Target="../drawings/vmlDrawing11.vml"/><Relationship Id="rId2" Type="http://schemas.openxmlformats.org/officeDocument/2006/relationships/image" Target="../media/image46.wmf"/><Relationship Id="rId19" Type="http://schemas.openxmlformats.org/officeDocument/2006/relationships/slideLayout" Target="../slideLayouts/slideLayout2.xml"/><Relationship Id="rId18" Type="http://schemas.openxmlformats.org/officeDocument/2006/relationships/image" Target="../media/image60.wmf"/><Relationship Id="rId17" Type="http://schemas.openxmlformats.org/officeDocument/2006/relationships/oleObject" Target="../embeddings/oleObject64.bin"/><Relationship Id="rId16" Type="http://schemas.openxmlformats.org/officeDocument/2006/relationships/image" Target="../media/image59.wmf"/><Relationship Id="rId15" Type="http://schemas.openxmlformats.org/officeDocument/2006/relationships/oleObject" Target="../embeddings/oleObject63.bin"/><Relationship Id="rId14" Type="http://schemas.openxmlformats.org/officeDocument/2006/relationships/image" Target="../media/image58.wmf"/><Relationship Id="rId13" Type="http://schemas.openxmlformats.org/officeDocument/2006/relationships/oleObject" Target="../embeddings/oleObject62.bin"/><Relationship Id="rId12" Type="http://schemas.openxmlformats.org/officeDocument/2006/relationships/image" Target="../media/image57.wmf"/><Relationship Id="rId11" Type="http://schemas.openxmlformats.org/officeDocument/2006/relationships/oleObject" Target="../embeddings/oleObject61.bin"/><Relationship Id="rId10" Type="http://schemas.openxmlformats.org/officeDocument/2006/relationships/image" Target="../media/image56.wmf"/><Relationship Id="rId1" Type="http://schemas.openxmlformats.org/officeDocument/2006/relationships/oleObject" Target="../embeddings/oleObject56.bin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62.png"/><Relationship Id="rId1" Type="http://schemas.openxmlformats.org/officeDocument/2006/relationships/image" Target="../media/image61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3.png"/></Relationships>
</file>

<file path=ppt/slides/_rels/slide17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69.bin"/><Relationship Id="rId8" Type="http://schemas.openxmlformats.org/officeDocument/2006/relationships/image" Target="../media/image67.wmf"/><Relationship Id="rId7" Type="http://schemas.openxmlformats.org/officeDocument/2006/relationships/oleObject" Target="../embeddings/oleObject68.bin"/><Relationship Id="rId6" Type="http://schemas.openxmlformats.org/officeDocument/2006/relationships/image" Target="../media/image66.wmf"/><Relationship Id="rId5" Type="http://schemas.openxmlformats.org/officeDocument/2006/relationships/oleObject" Target="../embeddings/oleObject67.bin"/><Relationship Id="rId4" Type="http://schemas.openxmlformats.org/officeDocument/2006/relationships/image" Target="../media/image65.wmf"/><Relationship Id="rId3" Type="http://schemas.openxmlformats.org/officeDocument/2006/relationships/oleObject" Target="../embeddings/oleObject66.bin"/><Relationship Id="rId21" Type="http://schemas.openxmlformats.org/officeDocument/2006/relationships/notesSlide" Target="../notesSlides/notesSlide13.xml"/><Relationship Id="rId20" Type="http://schemas.openxmlformats.org/officeDocument/2006/relationships/vmlDrawing" Target="../drawings/vmlDrawing12.vml"/><Relationship Id="rId2" Type="http://schemas.openxmlformats.org/officeDocument/2006/relationships/image" Target="../media/image64.wmf"/><Relationship Id="rId19" Type="http://schemas.openxmlformats.org/officeDocument/2006/relationships/slideLayout" Target="../slideLayouts/slideLayout2.xml"/><Relationship Id="rId18" Type="http://schemas.openxmlformats.org/officeDocument/2006/relationships/image" Target="../media/image72.wmf"/><Relationship Id="rId17" Type="http://schemas.openxmlformats.org/officeDocument/2006/relationships/oleObject" Target="../embeddings/oleObject73.bin"/><Relationship Id="rId16" Type="http://schemas.openxmlformats.org/officeDocument/2006/relationships/image" Target="../media/image71.wmf"/><Relationship Id="rId15" Type="http://schemas.openxmlformats.org/officeDocument/2006/relationships/oleObject" Target="../embeddings/oleObject72.bin"/><Relationship Id="rId14" Type="http://schemas.openxmlformats.org/officeDocument/2006/relationships/image" Target="../media/image70.wmf"/><Relationship Id="rId13" Type="http://schemas.openxmlformats.org/officeDocument/2006/relationships/oleObject" Target="../embeddings/oleObject71.bin"/><Relationship Id="rId12" Type="http://schemas.openxmlformats.org/officeDocument/2006/relationships/image" Target="../media/image69.wmf"/><Relationship Id="rId11" Type="http://schemas.openxmlformats.org/officeDocument/2006/relationships/oleObject" Target="../embeddings/oleObject70.bin"/><Relationship Id="rId10" Type="http://schemas.openxmlformats.org/officeDocument/2006/relationships/image" Target="../media/image68.wmf"/><Relationship Id="rId1" Type="http://schemas.openxmlformats.org/officeDocument/2006/relationships/oleObject" Target="../embeddings/oleObject65.bin"/></Relationships>
</file>

<file path=ppt/slides/_rels/slide18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78.bin"/><Relationship Id="rId8" Type="http://schemas.openxmlformats.org/officeDocument/2006/relationships/image" Target="../media/image76.wmf"/><Relationship Id="rId7" Type="http://schemas.openxmlformats.org/officeDocument/2006/relationships/oleObject" Target="../embeddings/oleObject77.bin"/><Relationship Id="rId6" Type="http://schemas.openxmlformats.org/officeDocument/2006/relationships/image" Target="../media/image75.wmf"/><Relationship Id="rId5" Type="http://schemas.openxmlformats.org/officeDocument/2006/relationships/oleObject" Target="../embeddings/oleObject76.bin"/><Relationship Id="rId4" Type="http://schemas.openxmlformats.org/officeDocument/2006/relationships/image" Target="../media/image74.wmf"/><Relationship Id="rId3" Type="http://schemas.openxmlformats.org/officeDocument/2006/relationships/oleObject" Target="../embeddings/oleObject75.bin"/><Relationship Id="rId2" Type="http://schemas.openxmlformats.org/officeDocument/2006/relationships/image" Target="../media/image73.wmf"/><Relationship Id="rId15" Type="http://schemas.openxmlformats.org/officeDocument/2006/relationships/notesSlide" Target="../notesSlides/notesSlide14.xml"/><Relationship Id="rId14" Type="http://schemas.openxmlformats.org/officeDocument/2006/relationships/vmlDrawing" Target="../drawings/vmlDrawing13.vml"/><Relationship Id="rId13" Type="http://schemas.openxmlformats.org/officeDocument/2006/relationships/slideLayout" Target="../slideLayouts/slideLayout2.xml"/><Relationship Id="rId12" Type="http://schemas.openxmlformats.org/officeDocument/2006/relationships/image" Target="../media/image78.wmf"/><Relationship Id="rId11" Type="http://schemas.openxmlformats.org/officeDocument/2006/relationships/oleObject" Target="../embeddings/oleObject79.bin"/><Relationship Id="rId10" Type="http://schemas.openxmlformats.org/officeDocument/2006/relationships/image" Target="../media/image77.wmf"/><Relationship Id="rId1" Type="http://schemas.openxmlformats.org/officeDocument/2006/relationships/oleObject" Target="../embeddings/oleObject74.bin"/></Relationships>
</file>

<file path=ppt/slides/_rels/slide19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84.bin"/><Relationship Id="rId8" Type="http://schemas.openxmlformats.org/officeDocument/2006/relationships/image" Target="../media/image82.wmf"/><Relationship Id="rId7" Type="http://schemas.openxmlformats.org/officeDocument/2006/relationships/oleObject" Target="../embeddings/oleObject83.bin"/><Relationship Id="rId6" Type="http://schemas.openxmlformats.org/officeDocument/2006/relationships/image" Target="../media/image81.wmf"/><Relationship Id="rId5" Type="http://schemas.openxmlformats.org/officeDocument/2006/relationships/oleObject" Target="../embeddings/oleObject82.bin"/><Relationship Id="rId4" Type="http://schemas.openxmlformats.org/officeDocument/2006/relationships/image" Target="../media/image80.wmf"/><Relationship Id="rId3" Type="http://schemas.openxmlformats.org/officeDocument/2006/relationships/oleObject" Target="../embeddings/oleObject81.bin"/><Relationship Id="rId23" Type="http://schemas.openxmlformats.org/officeDocument/2006/relationships/notesSlide" Target="../notesSlides/notesSlide15.xml"/><Relationship Id="rId22" Type="http://schemas.openxmlformats.org/officeDocument/2006/relationships/vmlDrawing" Target="../drawings/vmlDrawing14.vml"/><Relationship Id="rId21" Type="http://schemas.openxmlformats.org/officeDocument/2006/relationships/slideLayout" Target="../slideLayouts/slideLayout2.xml"/><Relationship Id="rId20" Type="http://schemas.openxmlformats.org/officeDocument/2006/relationships/image" Target="../media/image88.wmf"/><Relationship Id="rId2" Type="http://schemas.openxmlformats.org/officeDocument/2006/relationships/image" Target="../media/image79.wmf"/><Relationship Id="rId19" Type="http://schemas.openxmlformats.org/officeDocument/2006/relationships/oleObject" Target="../embeddings/oleObject89.bin"/><Relationship Id="rId18" Type="http://schemas.openxmlformats.org/officeDocument/2006/relationships/image" Target="../media/image87.wmf"/><Relationship Id="rId17" Type="http://schemas.openxmlformats.org/officeDocument/2006/relationships/oleObject" Target="../embeddings/oleObject88.bin"/><Relationship Id="rId16" Type="http://schemas.openxmlformats.org/officeDocument/2006/relationships/image" Target="../media/image86.wmf"/><Relationship Id="rId15" Type="http://schemas.openxmlformats.org/officeDocument/2006/relationships/oleObject" Target="../embeddings/oleObject87.bin"/><Relationship Id="rId14" Type="http://schemas.openxmlformats.org/officeDocument/2006/relationships/image" Target="../media/image85.wmf"/><Relationship Id="rId13" Type="http://schemas.openxmlformats.org/officeDocument/2006/relationships/oleObject" Target="../embeddings/oleObject86.bin"/><Relationship Id="rId12" Type="http://schemas.openxmlformats.org/officeDocument/2006/relationships/image" Target="../media/image84.wmf"/><Relationship Id="rId11" Type="http://schemas.openxmlformats.org/officeDocument/2006/relationships/oleObject" Target="../embeddings/oleObject85.bin"/><Relationship Id="rId10" Type="http://schemas.openxmlformats.org/officeDocument/2006/relationships/image" Target="../media/image83.wmf"/><Relationship Id="rId1" Type="http://schemas.openxmlformats.org/officeDocument/2006/relationships/oleObject" Target="../embeddings/oleObject80.bin"/></Relationships>
</file>

<file path=ppt/slides/_rels/slide20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94.bin"/><Relationship Id="rId8" Type="http://schemas.openxmlformats.org/officeDocument/2006/relationships/image" Target="../media/image92.wmf"/><Relationship Id="rId7" Type="http://schemas.openxmlformats.org/officeDocument/2006/relationships/oleObject" Target="../embeddings/oleObject93.bin"/><Relationship Id="rId6" Type="http://schemas.openxmlformats.org/officeDocument/2006/relationships/image" Target="../media/image91.wmf"/><Relationship Id="rId5" Type="http://schemas.openxmlformats.org/officeDocument/2006/relationships/oleObject" Target="../embeddings/oleObject92.bin"/><Relationship Id="rId4" Type="http://schemas.openxmlformats.org/officeDocument/2006/relationships/image" Target="../media/image90.wmf"/><Relationship Id="rId3" Type="http://schemas.openxmlformats.org/officeDocument/2006/relationships/oleObject" Target="../embeddings/oleObject91.bin"/><Relationship Id="rId2" Type="http://schemas.openxmlformats.org/officeDocument/2006/relationships/image" Target="../media/image89.wmf"/><Relationship Id="rId13" Type="http://schemas.openxmlformats.org/officeDocument/2006/relationships/notesSlide" Target="../notesSlides/notesSlide16.xml"/><Relationship Id="rId12" Type="http://schemas.openxmlformats.org/officeDocument/2006/relationships/vmlDrawing" Target="../drawings/vmlDrawing15.vml"/><Relationship Id="rId11" Type="http://schemas.openxmlformats.org/officeDocument/2006/relationships/slideLayout" Target="../slideLayouts/slideLayout2.xml"/><Relationship Id="rId10" Type="http://schemas.openxmlformats.org/officeDocument/2006/relationships/image" Target="../media/image93.wmf"/><Relationship Id="rId1" Type="http://schemas.openxmlformats.org/officeDocument/2006/relationships/oleObject" Target="../embeddings/oleObject90.bin"/></Relationships>
</file>

<file path=ppt/slides/_rels/slide21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99.bin"/><Relationship Id="rId8" Type="http://schemas.openxmlformats.org/officeDocument/2006/relationships/image" Target="../media/image97.wmf"/><Relationship Id="rId7" Type="http://schemas.openxmlformats.org/officeDocument/2006/relationships/oleObject" Target="../embeddings/oleObject98.bin"/><Relationship Id="rId6" Type="http://schemas.openxmlformats.org/officeDocument/2006/relationships/image" Target="../media/image96.wmf"/><Relationship Id="rId5" Type="http://schemas.openxmlformats.org/officeDocument/2006/relationships/oleObject" Target="../embeddings/oleObject97.bin"/><Relationship Id="rId4" Type="http://schemas.openxmlformats.org/officeDocument/2006/relationships/image" Target="../media/image95.wmf"/><Relationship Id="rId3" Type="http://schemas.openxmlformats.org/officeDocument/2006/relationships/oleObject" Target="../embeddings/oleObject96.bin"/><Relationship Id="rId2" Type="http://schemas.openxmlformats.org/officeDocument/2006/relationships/image" Target="../media/image94.wmf"/><Relationship Id="rId16" Type="http://schemas.openxmlformats.org/officeDocument/2006/relationships/notesSlide" Target="../notesSlides/notesSlide17.xml"/><Relationship Id="rId15" Type="http://schemas.openxmlformats.org/officeDocument/2006/relationships/vmlDrawing" Target="../drawings/vmlDrawing16.vml"/><Relationship Id="rId14" Type="http://schemas.openxmlformats.org/officeDocument/2006/relationships/slideLayout" Target="../slideLayouts/slideLayout2.xml"/><Relationship Id="rId13" Type="http://schemas.openxmlformats.org/officeDocument/2006/relationships/oleObject" Target="../embeddings/oleObject101.bin"/><Relationship Id="rId12" Type="http://schemas.openxmlformats.org/officeDocument/2006/relationships/image" Target="../media/image99.wmf"/><Relationship Id="rId11" Type="http://schemas.openxmlformats.org/officeDocument/2006/relationships/oleObject" Target="../embeddings/oleObject100.bin"/><Relationship Id="rId10" Type="http://schemas.openxmlformats.org/officeDocument/2006/relationships/image" Target="../media/image98.wmf"/><Relationship Id="rId1" Type="http://schemas.openxmlformats.org/officeDocument/2006/relationships/oleObject" Target="../embeddings/oleObject95.bin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19.xml"/><Relationship Id="rId6" Type="http://schemas.openxmlformats.org/officeDocument/2006/relationships/vmlDrawing" Target="../drawings/vmlDrawing17.v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101.wmf"/><Relationship Id="rId3" Type="http://schemas.openxmlformats.org/officeDocument/2006/relationships/oleObject" Target="../embeddings/oleObject103.bin"/><Relationship Id="rId2" Type="http://schemas.openxmlformats.org/officeDocument/2006/relationships/image" Target="../media/image100.wmf"/><Relationship Id="rId1" Type="http://schemas.openxmlformats.org/officeDocument/2006/relationships/oleObject" Target="../embeddings/oleObject102.bin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02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02.pn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03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2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04.png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24.xml"/><Relationship Id="rId6" Type="http://schemas.openxmlformats.org/officeDocument/2006/relationships/vmlDrawing" Target="../drawings/vmlDrawing18.v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106.wmf"/><Relationship Id="rId3" Type="http://schemas.openxmlformats.org/officeDocument/2006/relationships/oleObject" Target="../embeddings/oleObject105.bin"/><Relationship Id="rId2" Type="http://schemas.openxmlformats.org/officeDocument/2006/relationships/image" Target="../media/image105.wmf"/><Relationship Id="rId1" Type="http://schemas.openxmlformats.org/officeDocument/2006/relationships/oleObject" Target="../embeddings/oleObject104.bin"/></Relationships>
</file>

<file path=ppt/slides/_rels/slide32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5.xml"/><Relationship Id="rId4" Type="http://schemas.openxmlformats.org/officeDocument/2006/relationships/vmlDrawing" Target="../drawings/vmlDrawing19.v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07.wmf"/><Relationship Id="rId1" Type="http://schemas.openxmlformats.org/officeDocument/2006/relationships/oleObject" Target="../embeddings/oleObject106.bin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1490" name="Rectangle 2"/>
          <p:cNvSpPr>
            <a:spLocks noGrp="1" noChangeArrowheads="1"/>
          </p:cNvSpPr>
          <p:nvPr>
            <p:ph type="ctrTitle"/>
          </p:nvPr>
        </p:nvSpPr>
        <p:spPr>
          <a:xfrm>
            <a:off x="990600" y="1828800"/>
            <a:ext cx="7253808" cy="1143000"/>
          </a:xfrm>
        </p:spPr>
        <p:txBody>
          <a:bodyPr/>
          <a:lstStyle/>
          <a:p>
            <a:pPr algn="ctr">
              <a:defRPr/>
            </a:pPr>
            <a:r>
              <a:rPr lang="zh-CN" altLang="en-US" sz="6000" b="1" dirty="0" smtClean="0"/>
              <a:t>第</a:t>
            </a:r>
            <a:r>
              <a:rPr lang="en-US" altLang="zh-CN" sz="6000" dirty="0"/>
              <a:t>3</a:t>
            </a:r>
            <a:r>
              <a:rPr lang="zh-CN" altLang="en-US" sz="6000" b="1" dirty="0" smtClean="0"/>
              <a:t>章 </a:t>
            </a:r>
            <a:r>
              <a:rPr lang="zh-CN" altLang="en-US" sz="6000" dirty="0" smtClean="0"/>
              <a:t>线性模型</a:t>
            </a:r>
            <a:endParaRPr lang="zh-CN" altLang="en-US" sz="6000" b="1" dirty="0" smtClean="0"/>
          </a:p>
        </p:txBody>
      </p:sp>
      <p:sp>
        <p:nvSpPr>
          <p:cNvPr id="5" name="Rectangle 70"/>
          <p:cNvSpPr>
            <a:spLocks noGrp="1" noChangeArrowheads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F7EB2F07-B42F-46A0-B759-6009FAA90BFB}" type="slidenum">
              <a:rPr lang="en-US" altLang="zh-CN"/>
            </a:fld>
            <a:endParaRPr lang="en-US" altLang="zh-CN"/>
          </a:p>
        </p:txBody>
      </p:sp>
      <p:sp>
        <p:nvSpPr>
          <p:cNvPr id="2" name="副标题 1"/>
          <p:cNvSpPr/>
          <p:nvPr>
            <p:ph type="subTitle" idx="1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  <p:transition>
    <p:cover dir="u"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主要内容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20000"/>
              </a:lnSpc>
            </a:pPr>
            <a:r>
              <a:rPr lang="zh-CN" altLang="en-US" dirty="0" smtClean="0">
                <a:latin typeface="+mn-ea"/>
              </a:rPr>
              <a:t>基本形式</a:t>
            </a:r>
            <a:endParaRPr lang="en-US" altLang="zh-CN" dirty="0" smtClean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zh-CN" altLang="en-US" dirty="0" smtClean="0">
                <a:latin typeface="+mn-ea"/>
              </a:rPr>
              <a:t>线性回归</a:t>
            </a:r>
            <a:endParaRPr lang="en-US" altLang="zh-CN" dirty="0" smtClean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zh-CN" altLang="en-US" dirty="0" smtClean="0">
                <a:latin typeface="+mn-ea"/>
              </a:rPr>
              <a:t>对数几率回归</a:t>
            </a:r>
            <a:endParaRPr lang="en-US" altLang="zh-CN" dirty="0" smtClean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zh-CN" altLang="en-US" dirty="0">
                <a:latin typeface="+mn-ea"/>
              </a:rPr>
              <a:t>线性判别分析</a:t>
            </a:r>
            <a:endParaRPr lang="en-US" altLang="zh-CN" dirty="0" smtClean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zh-CN" altLang="en-US" dirty="0" smtClean="0"/>
              <a:t>多分类学习</a:t>
            </a:r>
            <a:endParaRPr lang="en-US" altLang="zh-CN" dirty="0" smtClean="0"/>
          </a:p>
          <a:p>
            <a:pPr>
              <a:lnSpc>
                <a:spcPct val="120000"/>
              </a:lnSpc>
            </a:pPr>
            <a:r>
              <a:rPr lang="zh-CN" altLang="en-US" dirty="0" smtClean="0"/>
              <a:t>类别不平衡问题</a:t>
            </a:r>
            <a:endParaRPr lang="en-US" altLang="zh-CN" dirty="0" smtClean="0"/>
          </a:p>
          <a:p>
            <a:pPr>
              <a:lnSpc>
                <a:spcPct val="120000"/>
              </a:lnSpc>
            </a:pP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FCE9F0A-462E-4C69-95AA-11A5CD682488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  <p:transition>
    <p:cover dir="u"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3</a:t>
            </a:r>
            <a:r>
              <a:rPr lang="en-US" altLang="zh-CN" dirty="0" smtClean="0"/>
              <a:t>.1 </a:t>
            </a:r>
            <a:r>
              <a:rPr lang="zh-CN" altLang="en-US" dirty="0" smtClean="0"/>
              <a:t>基本</a:t>
            </a:r>
            <a:r>
              <a:rPr lang="zh-CN" altLang="en-US" dirty="0"/>
              <a:t>形式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83568" y="970384"/>
            <a:ext cx="7776864" cy="4690864"/>
          </a:xfrm>
        </p:spPr>
        <p:txBody>
          <a:bodyPr/>
          <a:lstStyle/>
          <a:p>
            <a:pPr>
              <a:spcBef>
                <a:spcPts val="600"/>
              </a:spcBef>
            </a:pPr>
            <a:r>
              <a:rPr lang="zh-CN" altLang="en-US" dirty="0" smtClean="0">
                <a:latin typeface="宋体" panose="02010600030101010101" pitchFamily="2" charset="-122"/>
              </a:rPr>
              <a:t>线性模型是通过</a:t>
            </a:r>
            <a:r>
              <a:rPr lang="zh-CN" altLang="en-US" dirty="0">
                <a:latin typeface="宋体" panose="02010600030101010101" pitchFamily="2" charset="-122"/>
              </a:rPr>
              <a:t>属性的线性组合来进行预测的</a:t>
            </a:r>
            <a:r>
              <a:rPr lang="zh-CN" altLang="en-US" dirty="0" smtClean="0">
                <a:latin typeface="宋体" panose="02010600030101010101" pitchFamily="2" charset="-122"/>
              </a:rPr>
              <a:t>函数</a:t>
            </a:r>
            <a:endParaRPr lang="en-US" altLang="zh-CN" dirty="0" smtClean="0">
              <a:latin typeface="宋体" panose="02010600030101010101" pitchFamily="2" charset="-122"/>
            </a:endParaRPr>
          </a:p>
          <a:p>
            <a:pPr lvl="1">
              <a:spcBef>
                <a:spcPts val="600"/>
              </a:spcBef>
            </a:pPr>
            <a:r>
              <a:rPr lang="zh-CN" altLang="en-US" dirty="0">
                <a:latin typeface="宋体" panose="02010600030101010101" pitchFamily="2" charset="-122"/>
              </a:rPr>
              <a:t>给定由</a:t>
            </a:r>
            <a:r>
              <a:rPr lang="en-US" altLang="zh-CN" dirty="0">
                <a:latin typeface="宋体" panose="02010600030101010101" pitchFamily="2" charset="-122"/>
              </a:rPr>
              <a:t>d</a:t>
            </a:r>
            <a:r>
              <a:rPr lang="zh-CN" altLang="en-US" dirty="0">
                <a:latin typeface="宋体" panose="02010600030101010101" pitchFamily="2" charset="-122"/>
              </a:rPr>
              <a:t>个</a:t>
            </a:r>
            <a:r>
              <a:rPr lang="zh-CN" altLang="en-US" dirty="0" smtClean="0">
                <a:latin typeface="宋体" panose="02010600030101010101" pitchFamily="2" charset="-122"/>
              </a:rPr>
              <a:t>属性的示例              ，则</a:t>
            </a:r>
            <a:endParaRPr lang="en-US" altLang="zh-CN" dirty="0" smtClean="0">
              <a:latin typeface="宋体" panose="02010600030101010101" pitchFamily="2" charset="-122"/>
            </a:endParaRPr>
          </a:p>
          <a:p>
            <a:pPr lvl="1">
              <a:spcBef>
                <a:spcPts val="600"/>
              </a:spcBef>
            </a:pPr>
            <a:endParaRPr lang="en-US" altLang="zh-CN" dirty="0">
              <a:latin typeface="宋体" panose="02010600030101010101" pitchFamily="2" charset="-122"/>
            </a:endParaRPr>
          </a:p>
          <a:p>
            <a:pPr lvl="1">
              <a:spcBef>
                <a:spcPts val="600"/>
              </a:spcBef>
            </a:pPr>
            <a:endParaRPr lang="en-US" altLang="zh-CN" dirty="0" smtClean="0">
              <a:latin typeface="宋体" panose="02010600030101010101" pitchFamily="2" charset="-122"/>
            </a:endParaRPr>
          </a:p>
          <a:p>
            <a:pPr lvl="2">
              <a:spcBef>
                <a:spcPts val="600"/>
              </a:spcBef>
            </a:pPr>
            <a:r>
              <a:rPr lang="zh-CN" altLang="en-US" dirty="0" smtClean="0">
                <a:latin typeface="宋体" panose="02010600030101010101" pitchFamily="2" charset="-122"/>
              </a:rPr>
              <a:t>通过学习，      可确定</a:t>
            </a:r>
            <a:endParaRPr lang="en-US" altLang="zh-CN" dirty="0" smtClean="0">
              <a:latin typeface="宋体" panose="02010600030101010101" pitchFamily="2" charset="-122"/>
            </a:endParaRPr>
          </a:p>
          <a:p>
            <a:pPr lvl="1">
              <a:spcBef>
                <a:spcPts val="600"/>
              </a:spcBef>
            </a:pPr>
            <a:r>
              <a:rPr lang="zh-CN" altLang="en-US" dirty="0" smtClean="0">
                <a:latin typeface="宋体" panose="02010600030101010101" pitchFamily="2" charset="-122"/>
              </a:rPr>
              <a:t>特点</a:t>
            </a:r>
            <a:endParaRPr lang="en-US" altLang="zh-CN" dirty="0" smtClean="0">
              <a:latin typeface="宋体" panose="02010600030101010101" pitchFamily="2" charset="-122"/>
            </a:endParaRPr>
          </a:p>
          <a:p>
            <a:pPr lvl="2">
              <a:spcBef>
                <a:spcPts val="600"/>
              </a:spcBef>
            </a:pPr>
            <a:r>
              <a:rPr lang="zh-CN" altLang="en-US" dirty="0" smtClean="0">
                <a:latin typeface="宋体" panose="02010600030101010101" pitchFamily="2" charset="-122"/>
              </a:rPr>
              <a:t>形式</a:t>
            </a:r>
            <a:r>
              <a:rPr lang="zh-CN" altLang="en-US" dirty="0">
                <a:latin typeface="宋体" panose="02010600030101010101" pitchFamily="2" charset="-122"/>
              </a:rPr>
              <a:t>简单、易于</a:t>
            </a:r>
            <a:r>
              <a:rPr lang="zh-CN" altLang="en-US" dirty="0" smtClean="0">
                <a:latin typeface="宋体" panose="02010600030101010101" pitchFamily="2" charset="-122"/>
              </a:rPr>
              <a:t>建模</a:t>
            </a:r>
            <a:endParaRPr lang="en-US" altLang="zh-CN" dirty="0" smtClean="0">
              <a:latin typeface="宋体" panose="02010600030101010101" pitchFamily="2" charset="-122"/>
            </a:endParaRPr>
          </a:p>
          <a:p>
            <a:pPr lvl="2">
              <a:spcBef>
                <a:spcPts val="600"/>
              </a:spcBef>
            </a:pPr>
            <a:r>
              <a:rPr lang="zh-CN" altLang="en-US" dirty="0" smtClean="0">
                <a:latin typeface="宋体" panose="02010600030101010101" pitchFamily="2" charset="-122"/>
              </a:rPr>
              <a:t>基本，许多非线性模型可在此基础</a:t>
            </a:r>
            <a:r>
              <a:rPr lang="zh-CN" altLang="en-US" dirty="0">
                <a:latin typeface="宋体" panose="02010600030101010101" pitchFamily="2" charset="-122"/>
              </a:rPr>
              <a:t>上</a:t>
            </a:r>
            <a:r>
              <a:rPr lang="zh-CN" altLang="en-US" dirty="0" smtClean="0">
                <a:latin typeface="宋体" panose="02010600030101010101" pitchFamily="2" charset="-122"/>
              </a:rPr>
              <a:t>通过高</a:t>
            </a:r>
            <a:r>
              <a:rPr lang="zh-CN" altLang="en-US" dirty="0">
                <a:latin typeface="宋体" panose="02010600030101010101" pitchFamily="2" charset="-122"/>
              </a:rPr>
              <a:t>维</a:t>
            </a:r>
            <a:r>
              <a:rPr lang="zh-CN" altLang="en-US" dirty="0" smtClean="0">
                <a:latin typeface="宋体" panose="02010600030101010101" pitchFamily="2" charset="-122"/>
              </a:rPr>
              <a:t>映射得到</a:t>
            </a:r>
            <a:endParaRPr lang="en-US" altLang="zh-CN" dirty="0" smtClean="0">
              <a:latin typeface="宋体" panose="02010600030101010101" pitchFamily="2" charset="-122"/>
            </a:endParaRPr>
          </a:p>
          <a:p>
            <a:pPr lvl="2">
              <a:spcBef>
                <a:spcPts val="600"/>
              </a:spcBef>
            </a:pPr>
            <a:r>
              <a:rPr lang="zh-CN" altLang="en-US" dirty="0">
                <a:latin typeface="宋体" panose="02010600030101010101" pitchFamily="2" charset="-122"/>
              </a:rPr>
              <a:t>解释</a:t>
            </a:r>
            <a:r>
              <a:rPr lang="zh-CN" altLang="en-US" dirty="0" smtClean="0">
                <a:latin typeface="宋体" panose="02010600030101010101" pitchFamily="2" charset="-122"/>
              </a:rPr>
              <a:t>性好，   直观</a:t>
            </a:r>
            <a:r>
              <a:rPr lang="zh-CN" altLang="en-US" dirty="0">
                <a:latin typeface="宋体" panose="02010600030101010101" pitchFamily="2" charset="-122"/>
              </a:rPr>
              <a:t>表达了各</a:t>
            </a:r>
            <a:r>
              <a:rPr lang="zh-CN" altLang="en-US" dirty="0" smtClean="0">
                <a:latin typeface="宋体" panose="02010600030101010101" pitchFamily="2" charset="-122"/>
              </a:rPr>
              <a:t>属性的重要性</a:t>
            </a:r>
            <a:endParaRPr lang="en-US" altLang="zh-CN" dirty="0" smtClean="0">
              <a:latin typeface="宋体" panose="02010600030101010101" pitchFamily="2" charset="-122"/>
            </a:endParaRP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FCE9F0A-462E-4C69-95AA-11A5CD682488}" type="slidenum">
              <a:rPr lang="en-US" altLang="zh-CN" smtClean="0"/>
            </a:fld>
            <a:endParaRPr lang="en-US" altLang="zh-CN" dirty="0"/>
          </a:p>
        </p:txBody>
      </p:sp>
      <p:graphicFrame>
        <p:nvGraphicFramePr>
          <p:cNvPr id="5" name="对象 4"/>
          <p:cNvGraphicFramePr>
            <a:graphicFrameLocks noChangeAspect="1"/>
          </p:cNvGraphicFramePr>
          <p:nvPr/>
        </p:nvGraphicFramePr>
        <p:xfrm>
          <a:off x="4932040" y="2060848"/>
          <a:ext cx="2587824" cy="5416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58" name="Equation" r:id="rId1" imgW="26212800" imgH="5486400" progId="Equation.DSMT4">
                  <p:embed/>
                </p:oleObj>
              </mc:Choice>
              <mc:Fallback>
                <p:oleObj name="Equation" r:id="rId1" imgW="26212800" imgH="5486400" progId="Equation.DSMT4">
                  <p:embed/>
                  <p:pic>
                    <p:nvPicPr>
                      <p:cNvPr id="0" name="图片 1357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4932040" y="2060848"/>
                        <a:ext cx="2587824" cy="54163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/>
          <p:cNvGraphicFramePr>
            <a:graphicFrameLocks noChangeAspect="1"/>
          </p:cNvGraphicFramePr>
          <p:nvPr/>
        </p:nvGraphicFramePr>
        <p:xfrm>
          <a:off x="1979613" y="2596133"/>
          <a:ext cx="5354637" cy="904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59" name="Equation" r:id="rId3" imgW="54254400" imgH="9144000" progId="Equation.DSMT4">
                  <p:embed/>
                </p:oleObj>
              </mc:Choice>
              <mc:Fallback>
                <p:oleObj name="Equation" r:id="rId3" imgW="54254400" imgH="9144000" progId="Equation.DSMT4">
                  <p:embed/>
                  <p:pic>
                    <p:nvPicPr>
                      <p:cNvPr id="0" name="图片 1358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979613" y="2596133"/>
                        <a:ext cx="5354637" cy="9048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对象 7"/>
          <p:cNvGraphicFramePr>
            <a:graphicFrameLocks noChangeAspect="1"/>
          </p:cNvGraphicFramePr>
          <p:nvPr/>
        </p:nvGraphicFramePr>
        <p:xfrm>
          <a:off x="3375471" y="3522464"/>
          <a:ext cx="1020672" cy="46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60" name="Equation" r:id="rId5" imgW="10668000" imgH="4876800" progId="Equation.DSMT4">
                  <p:embed/>
                </p:oleObj>
              </mc:Choice>
              <mc:Fallback>
                <p:oleObj name="Equation" r:id="rId5" imgW="10668000" imgH="4876800" progId="Equation.DSMT4">
                  <p:embed/>
                  <p:pic>
                    <p:nvPicPr>
                      <p:cNvPr id="0" name="图片 1359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3375471" y="3522464"/>
                        <a:ext cx="1020672" cy="468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对象 8"/>
          <p:cNvGraphicFramePr>
            <a:graphicFrameLocks noChangeAspect="1"/>
          </p:cNvGraphicFramePr>
          <p:nvPr/>
        </p:nvGraphicFramePr>
        <p:xfrm>
          <a:off x="3428628" y="5698579"/>
          <a:ext cx="495300" cy="466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61" name="Equation" r:id="rId7" imgW="5181600" imgH="4876800" progId="Equation.DSMT4">
                  <p:embed/>
                </p:oleObj>
              </mc:Choice>
              <mc:Fallback>
                <p:oleObj name="Equation" r:id="rId7" imgW="5181600" imgH="4876800" progId="Equation.DSMT4">
                  <p:embed/>
                  <p:pic>
                    <p:nvPicPr>
                      <p:cNvPr id="0" name="图片 1360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3428628" y="5698579"/>
                        <a:ext cx="495300" cy="4667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cover dir="u"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/>
        </p:nvPicPr>
        <p:blipFill rotWithShape="1">
          <a:blip r:embed="rId1"/>
          <a:srcRect t="10502"/>
          <a:stretch>
            <a:fillRect/>
          </a:stretch>
        </p:blipFill>
        <p:spPr>
          <a:xfrm>
            <a:off x="3628887" y="4433172"/>
            <a:ext cx="3027318" cy="2308196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3.2 </a:t>
            </a:r>
            <a:r>
              <a:rPr lang="zh-CN" altLang="en-US" dirty="0" smtClean="0"/>
              <a:t>线性回归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83568" y="836712"/>
            <a:ext cx="7772400" cy="4690864"/>
          </a:xfrm>
        </p:spPr>
        <p:txBody>
          <a:bodyPr/>
          <a:lstStyle/>
          <a:p>
            <a:r>
              <a:rPr lang="zh-CN" altLang="en-US" dirty="0" smtClean="0"/>
              <a:t>线性回归，试图学</a:t>
            </a:r>
            <a:r>
              <a:rPr lang="zh-CN" altLang="en-US" dirty="0"/>
              <a:t>得一个线性模型以尽可能准确地预测实值输出</a:t>
            </a:r>
            <a:r>
              <a:rPr lang="zh-CN" altLang="en-US" dirty="0" smtClean="0"/>
              <a:t>标记</a:t>
            </a:r>
            <a:endParaRPr lang="en-US" altLang="zh-CN" dirty="0" smtClean="0"/>
          </a:p>
          <a:p>
            <a:r>
              <a:rPr lang="zh-CN" altLang="en-US" dirty="0" smtClean="0"/>
              <a:t>一元线性回归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给定一维属性数据集                   ，要得到</a:t>
            </a:r>
            <a:r>
              <a:rPr lang="zh-CN" altLang="en-US" dirty="0" smtClean="0">
                <a:solidFill>
                  <a:schemeClr val="bg1"/>
                </a:solidFill>
              </a:rPr>
              <a:t>到到到    到   </a:t>
            </a:r>
            <a:r>
              <a:rPr lang="zh-CN" altLang="en-US" dirty="0" smtClean="0"/>
              <a:t>，使</a:t>
            </a:r>
            <a:endParaRPr lang="en-US" altLang="zh-CN" dirty="0" smtClean="0"/>
          </a:p>
          <a:p>
            <a:pPr lvl="2"/>
            <a:r>
              <a:rPr lang="zh-CN" altLang="en-US" dirty="0"/>
              <a:t>对离散属性，若属性值间</a:t>
            </a:r>
            <a:r>
              <a:rPr lang="zh-CN" altLang="en-US" dirty="0" smtClean="0"/>
              <a:t>存在序关系，可</a:t>
            </a:r>
            <a:r>
              <a:rPr lang="zh-CN" altLang="en-US" dirty="0"/>
              <a:t>通过连续化将其转化为连续</a:t>
            </a:r>
            <a:r>
              <a:rPr lang="zh-CN" altLang="en-US" dirty="0" smtClean="0"/>
              <a:t>值</a:t>
            </a:r>
            <a:endParaRPr lang="en-US" altLang="zh-CN" dirty="0" smtClean="0"/>
          </a:p>
          <a:p>
            <a:pPr lvl="3"/>
            <a:r>
              <a:rPr lang="zh-CN" altLang="en-US" dirty="0" smtClean="0"/>
              <a:t>如二</a:t>
            </a:r>
            <a:r>
              <a:rPr lang="zh-CN" altLang="en-US" dirty="0" smtClean="0">
                <a:latin typeface="+mn-ea"/>
              </a:rPr>
              <a:t>分类</a:t>
            </a:r>
            <a:r>
              <a:rPr lang="en-US" altLang="zh-CN" dirty="0" smtClean="0">
                <a:latin typeface="+mn-ea"/>
              </a:rPr>
              <a:t>0.0</a:t>
            </a:r>
            <a:r>
              <a:rPr lang="zh-CN" altLang="en-US" dirty="0" smtClean="0">
                <a:latin typeface="+mn-ea"/>
              </a:rPr>
              <a:t>、</a:t>
            </a:r>
            <a:r>
              <a:rPr lang="en-US" altLang="zh-CN" dirty="0" smtClean="0">
                <a:latin typeface="+mn-ea"/>
              </a:rPr>
              <a:t>1.0</a:t>
            </a:r>
            <a:r>
              <a:rPr lang="zh-CN" altLang="en-US" dirty="0" smtClean="0">
                <a:latin typeface="+mn-ea"/>
              </a:rPr>
              <a:t>，三分类</a:t>
            </a:r>
            <a:r>
              <a:rPr lang="en-US" altLang="zh-CN" dirty="0" smtClean="0">
                <a:latin typeface="+mn-ea"/>
              </a:rPr>
              <a:t>0.0</a:t>
            </a:r>
            <a:r>
              <a:rPr lang="zh-CN" altLang="en-US" dirty="0" smtClean="0">
                <a:latin typeface="+mn-ea"/>
              </a:rPr>
              <a:t>、</a:t>
            </a:r>
            <a:r>
              <a:rPr lang="en-US" altLang="zh-CN" dirty="0" smtClean="0">
                <a:latin typeface="+mn-ea"/>
              </a:rPr>
              <a:t>0.5</a:t>
            </a:r>
            <a:r>
              <a:rPr lang="zh-CN" altLang="en-US" dirty="0" smtClean="0">
                <a:latin typeface="+mn-ea"/>
              </a:rPr>
              <a:t>、</a:t>
            </a:r>
            <a:r>
              <a:rPr lang="en-US" altLang="zh-CN" dirty="0" smtClean="0">
                <a:latin typeface="+mn-ea"/>
              </a:rPr>
              <a:t>1.0</a:t>
            </a:r>
            <a:endParaRPr lang="en-US" altLang="zh-CN" dirty="0" smtClean="0">
              <a:latin typeface="+mn-ea"/>
            </a:endParaRPr>
          </a:p>
          <a:p>
            <a:pPr lvl="1"/>
            <a:r>
              <a:rPr lang="zh-CN" altLang="en-US" dirty="0" smtClean="0"/>
              <a:t>确定</a:t>
            </a:r>
            <a:endParaRPr lang="en-US" altLang="zh-CN" dirty="0" smtClean="0"/>
          </a:p>
          <a:p>
            <a:pPr lvl="2"/>
            <a:r>
              <a:rPr lang="zh-CN" altLang="en-US" dirty="0" smtClean="0"/>
              <a:t>性能度量</a:t>
            </a:r>
            <a:endParaRPr lang="zh-CN" altLang="en-US" dirty="0" smtClean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6781800" y="6309320"/>
            <a:ext cx="1905000" cy="457200"/>
          </a:xfrm>
        </p:spPr>
        <p:txBody>
          <a:bodyPr/>
          <a:lstStyle/>
          <a:p>
            <a:pPr>
              <a:defRPr/>
            </a:pPr>
            <a:fld id="{8FCE9F0A-462E-4C69-95AA-11A5CD682488}" type="slidenum">
              <a:rPr lang="en-US" altLang="zh-CN" smtClean="0"/>
            </a:fld>
            <a:endParaRPr lang="en-US" altLang="zh-CN" dirty="0"/>
          </a:p>
        </p:txBody>
      </p:sp>
      <p:graphicFrame>
        <p:nvGraphicFramePr>
          <p:cNvPr id="6" name="对象 5"/>
          <p:cNvGraphicFramePr>
            <a:graphicFrameLocks noChangeAspect="1"/>
          </p:cNvGraphicFramePr>
          <p:nvPr/>
        </p:nvGraphicFramePr>
        <p:xfrm>
          <a:off x="4727575" y="2276475"/>
          <a:ext cx="2257425" cy="5730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92" name="Equation" r:id="rId2" imgW="22860000" imgH="5791200" progId="Equation.DSMT4">
                  <p:embed/>
                </p:oleObj>
              </mc:Choice>
              <mc:Fallback>
                <p:oleObj name="Equation" r:id="rId2" imgW="22860000" imgH="5791200" progId="Equation.DSMT4">
                  <p:embed/>
                  <p:pic>
                    <p:nvPicPr>
                      <p:cNvPr id="0" name="图片 2491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4727575" y="2276475"/>
                        <a:ext cx="2257425" cy="5730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6"/>
          <p:cNvGraphicFramePr>
            <a:graphicFrameLocks noChangeAspect="1"/>
          </p:cNvGraphicFramePr>
          <p:nvPr/>
        </p:nvGraphicFramePr>
        <p:xfrm>
          <a:off x="1449388" y="2735263"/>
          <a:ext cx="2259012" cy="542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93" name="Equation" r:id="rId4" imgW="22860000" imgH="5486400" progId="Equation.DSMT4">
                  <p:embed/>
                </p:oleObj>
              </mc:Choice>
              <mc:Fallback>
                <p:oleObj name="Equation" r:id="rId4" imgW="22860000" imgH="5486400" progId="Equation.DSMT4">
                  <p:embed/>
                  <p:pic>
                    <p:nvPicPr>
                      <p:cNvPr id="0" name="图片 2492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449388" y="2735263"/>
                        <a:ext cx="2259012" cy="5429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对象 7"/>
          <p:cNvGraphicFramePr>
            <a:graphicFrameLocks noChangeAspect="1"/>
          </p:cNvGraphicFramePr>
          <p:nvPr/>
        </p:nvGraphicFramePr>
        <p:xfrm>
          <a:off x="4473575" y="2711450"/>
          <a:ext cx="1506538" cy="542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94" name="Equation" r:id="rId6" imgW="15240000" imgH="5486400" progId="Equation.DSMT4">
                  <p:embed/>
                </p:oleObj>
              </mc:Choice>
              <mc:Fallback>
                <p:oleObj name="Equation" r:id="rId6" imgW="15240000" imgH="5486400" progId="Equation.DSMT4">
                  <p:embed/>
                  <p:pic>
                    <p:nvPicPr>
                      <p:cNvPr id="0" name="图片 2493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4473575" y="2711450"/>
                        <a:ext cx="1506538" cy="5429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对象 8"/>
          <p:cNvGraphicFramePr>
            <a:graphicFrameLocks noChangeAspect="1"/>
          </p:cNvGraphicFramePr>
          <p:nvPr/>
        </p:nvGraphicFramePr>
        <p:xfrm>
          <a:off x="2332310" y="4255690"/>
          <a:ext cx="871538" cy="422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95" name="Equation" r:id="rId8" imgW="8839200" imgH="4267200" progId="Equation.DSMT4">
                  <p:embed/>
                </p:oleObj>
              </mc:Choice>
              <mc:Fallback>
                <p:oleObj name="Equation" r:id="rId8" imgW="8839200" imgH="4267200" progId="Equation.DSMT4">
                  <p:embed/>
                  <p:pic>
                    <p:nvPicPr>
                      <p:cNvPr id="0" name="图片 2494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2332310" y="4255690"/>
                        <a:ext cx="871538" cy="4222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cover dir="u"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3.2 </a:t>
            </a:r>
            <a:r>
              <a:rPr lang="zh-CN" altLang="en-US" dirty="0"/>
              <a:t>线性回归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一元线性回归</a:t>
            </a:r>
            <a:endParaRPr lang="en-US" altLang="zh-CN" dirty="0"/>
          </a:p>
          <a:p>
            <a:pPr lvl="1"/>
            <a:r>
              <a:rPr lang="zh-CN" altLang="en-US" dirty="0" smtClean="0"/>
              <a:t>确定</a:t>
            </a:r>
            <a:endParaRPr lang="en-US" altLang="zh-CN" dirty="0" smtClean="0"/>
          </a:p>
          <a:p>
            <a:pPr lvl="2"/>
            <a:r>
              <a:rPr lang="zh-CN" altLang="en-US" dirty="0" smtClean="0"/>
              <a:t>令</a:t>
            </a:r>
            <a:r>
              <a:rPr lang="zh-CN" altLang="en-US" dirty="0"/>
              <a:t>均方误差最小化</a:t>
            </a:r>
            <a:endParaRPr lang="en-US" altLang="zh-CN" dirty="0"/>
          </a:p>
          <a:p>
            <a:pPr lvl="2"/>
            <a:endParaRPr lang="en-US" altLang="zh-CN" dirty="0"/>
          </a:p>
          <a:p>
            <a:pPr lvl="2"/>
            <a:endParaRPr lang="en-US" altLang="zh-CN" dirty="0"/>
          </a:p>
          <a:p>
            <a:pPr lvl="3"/>
            <a:r>
              <a:rPr lang="zh-CN" altLang="en-US" dirty="0"/>
              <a:t>最小二乘法，最小二乘参数估计</a:t>
            </a:r>
            <a:endParaRPr lang="en-US" altLang="zh-CN" dirty="0"/>
          </a:p>
          <a:p>
            <a:pPr lvl="3"/>
            <a:r>
              <a:rPr lang="zh-CN" altLang="en-US" dirty="0"/>
              <a:t>找到</a:t>
            </a:r>
            <a:r>
              <a:rPr lang="zh-CN" altLang="en-US" dirty="0" smtClean="0"/>
              <a:t>一直线</a:t>
            </a:r>
            <a:r>
              <a:rPr lang="zh-CN" altLang="en-US" dirty="0"/>
              <a:t>，使所有样本到</a:t>
            </a:r>
            <a:r>
              <a:rPr lang="zh-CN" altLang="en-US" dirty="0" smtClean="0"/>
              <a:t>直线的</a:t>
            </a:r>
            <a:r>
              <a:rPr lang="zh-CN" altLang="en-US" dirty="0"/>
              <a:t>欧氏距离之和最小</a:t>
            </a:r>
            <a:endParaRPr lang="en-US" altLang="zh-CN" dirty="0"/>
          </a:p>
          <a:p>
            <a:pPr lvl="2">
              <a:lnSpc>
                <a:spcPct val="150000"/>
              </a:lnSpc>
            </a:pPr>
            <a:r>
              <a:rPr lang="zh-CN" altLang="en-US" dirty="0" smtClean="0"/>
              <a:t>令                                 ，分别对        求导并令导数</a:t>
            </a:r>
            <a:r>
              <a:rPr lang="zh-CN" altLang="en-US" dirty="0" smtClean="0">
                <a:latin typeface="+mn-ea"/>
              </a:rPr>
              <a:t>为</a:t>
            </a:r>
            <a:r>
              <a:rPr lang="en-US" altLang="zh-CN" dirty="0" smtClean="0">
                <a:latin typeface="+mn-ea"/>
              </a:rPr>
              <a:t>0</a:t>
            </a:r>
            <a:r>
              <a:rPr lang="zh-CN" altLang="en-US" dirty="0" smtClean="0"/>
              <a:t>，可得   </a:t>
            </a:r>
            <a:endParaRPr lang="en-US" altLang="zh-CN" dirty="0"/>
          </a:p>
          <a:p>
            <a:endParaRPr lang="en-US" altLang="zh-CN" dirty="0" smtClean="0"/>
          </a:p>
          <a:p>
            <a:endParaRPr lang="en-US" altLang="zh-CN" dirty="0"/>
          </a:p>
          <a:p>
            <a:endParaRPr lang="en-US" altLang="zh-CN" dirty="0" smtClean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FCE9F0A-462E-4C69-95AA-11A5CD682488}" type="slidenum">
              <a:rPr lang="en-US" altLang="zh-CN" smtClean="0"/>
            </a:fld>
            <a:endParaRPr lang="en-US" altLang="zh-CN"/>
          </a:p>
        </p:txBody>
      </p:sp>
      <p:graphicFrame>
        <p:nvGraphicFramePr>
          <p:cNvPr id="5" name="对象 4"/>
          <p:cNvGraphicFramePr>
            <a:graphicFrameLocks noChangeAspect="1"/>
          </p:cNvGraphicFramePr>
          <p:nvPr/>
        </p:nvGraphicFramePr>
        <p:xfrm>
          <a:off x="2195736" y="1422549"/>
          <a:ext cx="871538" cy="422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28" name="Equation" r:id="rId1" imgW="8839200" imgH="4267200" progId="Equation.DSMT4">
                  <p:embed/>
                </p:oleObj>
              </mc:Choice>
              <mc:Fallback>
                <p:oleObj name="Equation" r:id="rId1" imgW="8839200" imgH="4267200" progId="Equation.DSMT4">
                  <p:embed/>
                  <p:pic>
                    <p:nvPicPr>
                      <p:cNvPr id="0" name="图片 3527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2195736" y="1422549"/>
                        <a:ext cx="871538" cy="4222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/>
          <p:cNvGraphicFramePr>
            <a:graphicFrameLocks noChangeAspect="1"/>
          </p:cNvGraphicFramePr>
          <p:nvPr/>
        </p:nvGraphicFramePr>
        <p:xfrm>
          <a:off x="2425375" y="3429000"/>
          <a:ext cx="2975624" cy="82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29" name="Equation" r:id="rId3" imgW="37185600" imgH="10363200" progId="Equation.DSMT4">
                  <p:embed/>
                </p:oleObj>
              </mc:Choice>
              <mc:Fallback>
                <p:oleObj name="Equation" r:id="rId3" imgW="37185600" imgH="10363200" progId="Equation.DSMT4">
                  <p:embed/>
                  <p:pic>
                    <p:nvPicPr>
                      <p:cNvPr id="0" name="图片 3528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425375" y="3429000"/>
                        <a:ext cx="2975624" cy="828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6"/>
          <p:cNvGraphicFramePr>
            <a:graphicFrameLocks noChangeAspect="1"/>
          </p:cNvGraphicFramePr>
          <p:nvPr/>
        </p:nvGraphicFramePr>
        <p:xfrm>
          <a:off x="6421280" y="3645064"/>
          <a:ext cx="743008" cy="360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30" name="Equation" r:id="rId5" imgW="8839200" imgH="4267200" progId="Equation.DSMT4">
                  <p:embed/>
                </p:oleObj>
              </mc:Choice>
              <mc:Fallback>
                <p:oleObj name="Equation" r:id="rId5" imgW="8839200" imgH="4267200" progId="Equation.DSMT4">
                  <p:embed/>
                  <p:pic>
                    <p:nvPicPr>
                      <p:cNvPr id="0" name="图片 3529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6421280" y="3645064"/>
                        <a:ext cx="743008" cy="360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对象 7"/>
          <p:cNvGraphicFramePr>
            <a:graphicFrameLocks noChangeAspect="1"/>
          </p:cNvGraphicFramePr>
          <p:nvPr/>
        </p:nvGraphicFramePr>
        <p:xfrm>
          <a:off x="3476839" y="4221088"/>
          <a:ext cx="2828925" cy="17033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31" name="Equation" r:id="rId6" imgW="35356800" imgH="21336000" progId="Equation.DSMT4">
                  <p:embed/>
                </p:oleObj>
              </mc:Choice>
              <mc:Fallback>
                <p:oleObj name="Equation" r:id="rId6" imgW="35356800" imgH="21336000" progId="Equation.DSMT4">
                  <p:embed/>
                  <p:pic>
                    <p:nvPicPr>
                      <p:cNvPr id="0" name="图片 3530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3476839" y="4221088"/>
                        <a:ext cx="2828925" cy="17033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对象 8"/>
          <p:cNvGraphicFramePr>
            <a:graphicFrameLocks noChangeAspect="1"/>
          </p:cNvGraphicFramePr>
          <p:nvPr/>
        </p:nvGraphicFramePr>
        <p:xfrm>
          <a:off x="3529186" y="5986289"/>
          <a:ext cx="2266950" cy="8270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32" name="Equation" r:id="rId8" imgW="28346400" imgH="10363200" progId="Equation.DSMT4">
                  <p:embed/>
                </p:oleObj>
              </mc:Choice>
              <mc:Fallback>
                <p:oleObj name="Equation" r:id="rId8" imgW="28346400" imgH="10363200" progId="Equation.DSMT4">
                  <p:embed/>
                  <p:pic>
                    <p:nvPicPr>
                      <p:cNvPr id="0" name="图片 3531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3529186" y="5986289"/>
                        <a:ext cx="2266950" cy="8270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对象 9"/>
          <p:cNvGraphicFramePr>
            <a:graphicFrameLocks noChangeAspect="1"/>
          </p:cNvGraphicFramePr>
          <p:nvPr/>
        </p:nvGraphicFramePr>
        <p:xfrm>
          <a:off x="839937" y="2060848"/>
          <a:ext cx="7459662" cy="8651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33" name="Equation" r:id="rId10" imgW="89306400" imgH="10363200" progId="Equation.DSMT4">
                  <p:embed/>
                </p:oleObj>
              </mc:Choice>
              <mc:Fallback>
                <p:oleObj name="Equation" r:id="rId10" imgW="89306400" imgH="10363200" progId="Equation.DSMT4">
                  <p:embed/>
                  <p:pic>
                    <p:nvPicPr>
                      <p:cNvPr id="0" name="图片 3532"/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839937" y="2060848"/>
                        <a:ext cx="7459662" cy="8651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cover dir="u"/>
  </p:transition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3.2 </a:t>
            </a:r>
            <a:r>
              <a:rPr lang="zh-CN" altLang="en-US" dirty="0"/>
              <a:t>线性回归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多元线性回归</a:t>
            </a:r>
            <a:endParaRPr lang="en-US" altLang="zh-CN" dirty="0"/>
          </a:p>
          <a:p>
            <a:pPr lvl="1"/>
            <a:r>
              <a:rPr lang="zh-CN" altLang="en-US" dirty="0" smtClean="0">
                <a:latin typeface="+mn-ea"/>
              </a:rPr>
              <a:t>对于</a:t>
            </a:r>
            <a:r>
              <a:rPr lang="en-US" altLang="zh-CN" dirty="0" smtClean="0">
                <a:latin typeface="+mn-ea"/>
              </a:rPr>
              <a:t>d</a:t>
            </a:r>
            <a:r>
              <a:rPr lang="zh-CN" altLang="en-US" dirty="0">
                <a:latin typeface="+mn-ea"/>
              </a:rPr>
              <a:t>维属性数据</a:t>
            </a:r>
            <a:r>
              <a:rPr lang="zh-CN" altLang="en-US" dirty="0" smtClean="0">
                <a:latin typeface="+mn-ea"/>
              </a:rPr>
              <a:t>集  </a:t>
            </a:r>
            <a:endParaRPr lang="en-US" altLang="zh-CN" dirty="0" smtClean="0">
              <a:latin typeface="+mn-ea"/>
            </a:endParaRPr>
          </a:p>
          <a:p>
            <a:pPr lvl="1"/>
            <a:endParaRPr lang="en-US" altLang="zh-CN" dirty="0" smtClean="0">
              <a:latin typeface="+mn-ea"/>
            </a:endParaRPr>
          </a:p>
          <a:p>
            <a:pPr lvl="1"/>
            <a:endParaRPr lang="en-US" altLang="zh-CN" dirty="0" smtClean="0">
              <a:latin typeface="+mn-ea"/>
            </a:endParaRPr>
          </a:p>
          <a:p>
            <a:pPr lvl="1"/>
            <a:endParaRPr lang="en-US" altLang="zh-CN" dirty="0" smtClean="0">
              <a:latin typeface="+mn-ea"/>
            </a:endParaRPr>
          </a:p>
          <a:p>
            <a:pPr lvl="1"/>
            <a:r>
              <a:rPr lang="zh-CN" altLang="en-US" dirty="0" smtClean="0">
                <a:latin typeface="+mn-ea"/>
              </a:rPr>
              <a:t>要得</a:t>
            </a:r>
            <a:r>
              <a:rPr lang="zh-CN" altLang="en-US" dirty="0" smtClean="0">
                <a:latin typeface="+mn-ea"/>
              </a:rPr>
              <a:t>到             ，使</a:t>
            </a:r>
            <a:endParaRPr lang="en-US" altLang="zh-CN" dirty="0" smtClean="0">
              <a:latin typeface="+mn-ea"/>
            </a:endParaRPr>
          </a:p>
          <a:p>
            <a:pPr lvl="1"/>
            <a:r>
              <a:rPr lang="zh-CN" altLang="en-US" dirty="0" smtClean="0"/>
              <a:t>令               </a:t>
            </a:r>
            <a:r>
              <a:rPr lang="zh-CN" altLang="en-US" dirty="0" smtClean="0"/>
              <a:t>，                  ，数据集表示为</a:t>
            </a:r>
            <a:endParaRPr lang="en-US" altLang="zh-CN" dirty="0" smtClean="0"/>
          </a:p>
          <a:p>
            <a:pPr lvl="1"/>
            <a:endParaRPr lang="en-US" altLang="zh-CN" dirty="0"/>
          </a:p>
          <a:p>
            <a:pPr lvl="1"/>
            <a:endParaRPr lang="en-US" altLang="zh-CN" dirty="0" smtClean="0"/>
          </a:p>
          <a:p>
            <a:pPr lvl="1"/>
            <a:endParaRPr lang="en-US" altLang="zh-CN" dirty="0"/>
          </a:p>
          <a:p>
            <a:pPr lvl="1"/>
            <a:endParaRPr lang="en-US" altLang="zh-CN" dirty="0" smtClean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FCE9F0A-462E-4C69-95AA-11A5CD682488}" type="slidenum">
              <a:rPr lang="en-US" altLang="zh-CN" smtClean="0"/>
            </a:fld>
            <a:endParaRPr lang="en-US" altLang="zh-CN" dirty="0"/>
          </a:p>
        </p:txBody>
      </p:sp>
      <p:graphicFrame>
        <p:nvGraphicFramePr>
          <p:cNvPr id="5" name="对象 4"/>
          <p:cNvGraphicFramePr>
            <a:graphicFrameLocks noChangeAspect="1"/>
          </p:cNvGraphicFramePr>
          <p:nvPr/>
        </p:nvGraphicFramePr>
        <p:xfrm>
          <a:off x="3059832" y="1846167"/>
          <a:ext cx="2317750" cy="5730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050" name="Equation" r:id="rId1" imgW="23469600" imgH="5791200" progId="Equation.DSMT4">
                  <p:embed/>
                </p:oleObj>
              </mc:Choice>
              <mc:Fallback>
                <p:oleObj name="Equation" r:id="rId1" imgW="23469600" imgH="5791200" progId="Equation.DSMT4">
                  <p:embed/>
                  <p:pic>
                    <p:nvPicPr>
                      <p:cNvPr id="0" name="图片 5049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3059832" y="1846167"/>
                        <a:ext cx="2317750" cy="5730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/>
          <p:cNvGraphicFramePr>
            <a:graphicFrameLocks noChangeAspect="1"/>
          </p:cNvGraphicFramePr>
          <p:nvPr/>
        </p:nvGraphicFramePr>
        <p:xfrm>
          <a:off x="3059832" y="2492375"/>
          <a:ext cx="2289175" cy="542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051" name="Equation" r:id="rId3" imgW="23164800" imgH="5486400" progId="Equation.DSMT4">
                  <p:embed/>
                </p:oleObj>
              </mc:Choice>
              <mc:Fallback>
                <p:oleObj name="Equation" r:id="rId3" imgW="23164800" imgH="5486400" progId="Equation.DSMT4">
                  <p:embed/>
                  <p:pic>
                    <p:nvPicPr>
                      <p:cNvPr id="0" name="图片 5050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059832" y="2492375"/>
                        <a:ext cx="2289175" cy="5429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6"/>
          <p:cNvGraphicFramePr>
            <a:graphicFrameLocks noChangeAspect="1"/>
          </p:cNvGraphicFramePr>
          <p:nvPr/>
        </p:nvGraphicFramePr>
        <p:xfrm>
          <a:off x="2606675" y="3075310"/>
          <a:ext cx="2319338" cy="542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052" name="Equation" r:id="rId5" imgW="23469600" imgH="5486400" progId="Equation.DSMT4">
                  <p:embed/>
                </p:oleObj>
              </mc:Choice>
              <mc:Fallback>
                <p:oleObj name="Equation" r:id="rId5" imgW="23469600" imgH="5486400" progId="Equation.DSMT4">
                  <p:embed/>
                  <p:pic>
                    <p:nvPicPr>
                      <p:cNvPr id="0" name="图片 5051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606675" y="3075310"/>
                        <a:ext cx="2319338" cy="5429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对象 7"/>
          <p:cNvGraphicFramePr>
            <a:graphicFrameLocks noChangeAspect="1"/>
          </p:cNvGraphicFramePr>
          <p:nvPr/>
        </p:nvGraphicFramePr>
        <p:xfrm>
          <a:off x="5649913" y="3068960"/>
          <a:ext cx="1566862" cy="542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053" name="Equation" r:id="rId7" imgW="15849600" imgH="5486400" progId="Equation.DSMT4">
                  <p:embed/>
                </p:oleObj>
              </mc:Choice>
              <mc:Fallback>
                <p:oleObj name="Equation" r:id="rId7" imgW="15849600" imgH="5486400" progId="Equation.DSMT4">
                  <p:embed/>
                  <p:pic>
                    <p:nvPicPr>
                      <p:cNvPr id="0" name="图片 5052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5649913" y="3068960"/>
                        <a:ext cx="1566862" cy="5429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对象 8"/>
          <p:cNvGraphicFramePr>
            <a:graphicFrameLocks noChangeAspect="1"/>
          </p:cNvGraphicFramePr>
          <p:nvPr/>
        </p:nvGraphicFramePr>
        <p:xfrm>
          <a:off x="1882775" y="3494807"/>
          <a:ext cx="1565275" cy="5127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054" name="Equation" r:id="rId9" imgW="15849600" imgH="5181600" progId="Equation.DSMT4">
                  <p:embed/>
                </p:oleObj>
              </mc:Choice>
              <mc:Fallback>
                <p:oleObj name="Equation" r:id="rId9" imgW="15849600" imgH="5181600" progId="Equation.DSMT4">
                  <p:embed/>
                  <p:pic>
                    <p:nvPicPr>
                      <p:cNvPr id="0" name="图片 5053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882775" y="3494807"/>
                        <a:ext cx="1565275" cy="51276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对象 9"/>
          <p:cNvGraphicFramePr>
            <a:graphicFrameLocks noChangeAspect="1"/>
          </p:cNvGraphicFramePr>
          <p:nvPr/>
        </p:nvGraphicFramePr>
        <p:xfrm>
          <a:off x="2425700" y="4041775"/>
          <a:ext cx="4359275" cy="1619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055" name="Equation" r:id="rId11" imgW="46024800" imgH="17068800" progId="Equation.DSMT4">
                  <p:embed/>
                </p:oleObj>
              </mc:Choice>
              <mc:Fallback>
                <p:oleObj name="Equation" r:id="rId11" imgW="46024800" imgH="17068800" progId="Equation.DSMT4">
                  <p:embed/>
                  <p:pic>
                    <p:nvPicPr>
                      <p:cNvPr id="0" name="图片 5054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2425700" y="4041775"/>
                        <a:ext cx="4359275" cy="16192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对象 11"/>
          <p:cNvGraphicFramePr>
            <a:graphicFrameLocks noChangeAspect="1"/>
          </p:cNvGraphicFramePr>
          <p:nvPr/>
        </p:nvGraphicFramePr>
        <p:xfrm>
          <a:off x="3613150" y="3460353"/>
          <a:ext cx="2136775" cy="542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056" name="Equation" r:id="rId13" imgW="21640800" imgH="5486400" progId="Equation.DSMT4">
                  <p:embed/>
                </p:oleObj>
              </mc:Choice>
              <mc:Fallback>
                <p:oleObj name="Equation" r:id="rId13" imgW="21640800" imgH="5486400" progId="Equation.DSMT4">
                  <p:embed/>
                  <p:pic>
                    <p:nvPicPr>
                      <p:cNvPr id="0" name="图片 5055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3613150" y="3460353"/>
                        <a:ext cx="2136775" cy="5429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cover dir="u"/>
  </p:transition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3.2 </a:t>
            </a:r>
            <a:r>
              <a:rPr lang="zh-CN" altLang="en-US" dirty="0"/>
              <a:t>线性回归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多元线性回归</a:t>
            </a:r>
            <a:endParaRPr lang="en-US" altLang="zh-CN" dirty="0"/>
          </a:p>
          <a:p>
            <a:pPr lvl="1"/>
            <a:r>
              <a:rPr lang="zh-CN" altLang="en-US" dirty="0" smtClean="0"/>
              <a:t>采用</a:t>
            </a:r>
            <a:r>
              <a:rPr lang="zh-CN" altLang="en-US" dirty="0"/>
              <a:t>最小二乘法求解，</a:t>
            </a:r>
            <a:r>
              <a:rPr lang="zh-CN" altLang="en-US" dirty="0" smtClean="0"/>
              <a:t>有</a:t>
            </a:r>
            <a:endParaRPr lang="en-US" altLang="zh-CN" dirty="0" smtClean="0"/>
          </a:p>
          <a:p>
            <a:pPr lvl="1"/>
            <a:endParaRPr lang="en-US" altLang="zh-CN" dirty="0"/>
          </a:p>
          <a:p>
            <a:pPr lvl="1"/>
            <a:endParaRPr lang="en-US" altLang="zh-CN" dirty="0" smtClean="0"/>
          </a:p>
          <a:p>
            <a:pPr lvl="2"/>
            <a:r>
              <a:rPr lang="zh-CN" altLang="en-US" dirty="0" smtClean="0"/>
              <a:t>若       满</a:t>
            </a:r>
            <a:r>
              <a:rPr lang="zh-CN" altLang="en-US" dirty="0"/>
              <a:t>秩或正定，</a:t>
            </a:r>
            <a:r>
              <a:rPr lang="zh-CN" altLang="en-US" dirty="0" smtClean="0"/>
              <a:t>则</a:t>
            </a:r>
            <a:endParaRPr lang="en-US" altLang="zh-CN" dirty="0" smtClean="0"/>
          </a:p>
          <a:p>
            <a:pPr lvl="2"/>
            <a:endParaRPr lang="en-US" altLang="zh-CN" dirty="0" smtClean="0"/>
          </a:p>
          <a:p>
            <a:pPr lvl="2"/>
            <a:endParaRPr lang="zh-CN" altLang="en-US" dirty="0"/>
          </a:p>
          <a:p>
            <a:pPr lvl="2"/>
            <a:r>
              <a:rPr lang="zh-CN" altLang="en-US" dirty="0"/>
              <a:t>若       不满秩，则可解出多</a:t>
            </a:r>
            <a:r>
              <a:rPr lang="zh-CN" altLang="en-US" dirty="0" smtClean="0"/>
              <a:t>个</a:t>
            </a:r>
            <a:endParaRPr lang="en-US" altLang="zh-CN" dirty="0" smtClean="0"/>
          </a:p>
          <a:p>
            <a:pPr lvl="3"/>
            <a:r>
              <a:rPr lang="zh-CN" altLang="en-US" dirty="0"/>
              <a:t>此时需求助于归纳偏好，或</a:t>
            </a:r>
            <a:r>
              <a:rPr lang="zh-CN" altLang="en-US" dirty="0" smtClean="0"/>
              <a:t>引入正</a:t>
            </a:r>
            <a:r>
              <a:rPr lang="zh-CN" altLang="en-US" dirty="0"/>
              <a:t>则</a:t>
            </a:r>
            <a:r>
              <a:rPr lang="zh-CN" altLang="en-US" dirty="0" smtClean="0"/>
              <a:t>化</a:t>
            </a:r>
            <a:r>
              <a:rPr lang="zh-CN" altLang="en-US" dirty="0" smtClean="0"/>
              <a:t>项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令             ，则学</a:t>
            </a:r>
            <a:r>
              <a:rPr lang="zh-CN" altLang="en-US" dirty="0"/>
              <a:t>得的多元线性回归模型为</a:t>
            </a:r>
            <a:endParaRPr lang="zh-CN" altLang="en-US" dirty="0"/>
          </a:p>
          <a:p>
            <a:pPr lvl="1"/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FCE9F0A-462E-4C69-95AA-11A5CD682488}" type="slidenum">
              <a:rPr lang="en-US" altLang="zh-CN" smtClean="0"/>
            </a:fld>
            <a:endParaRPr lang="en-US" altLang="zh-CN" dirty="0"/>
          </a:p>
        </p:txBody>
      </p:sp>
      <p:graphicFrame>
        <p:nvGraphicFramePr>
          <p:cNvPr id="11" name="对象 10"/>
          <p:cNvGraphicFramePr>
            <a:graphicFrameLocks noChangeAspect="1"/>
          </p:cNvGraphicFramePr>
          <p:nvPr/>
        </p:nvGraphicFramePr>
        <p:xfrm>
          <a:off x="2998788" y="1762125"/>
          <a:ext cx="3070225" cy="8747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564" name="Equation" r:id="rId1" imgW="31089600" imgH="8839200" progId="Equation.DSMT4">
                  <p:embed/>
                </p:oleObj>
              </mc:Choice>
              <mc:Fallback>
                <p:oleObj name="Equation" r:id="rId1" imgW="31089600" imgH="8839200" progId="Equation.DSMT4">
                  <p:embed/>
                  <p:pic>
                    <p:nvPicPr>
                      <p:cNvPr id="0" name="图片 21563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2998788" y="1762125"/>
                        <a:ext cx="3070225" cy="87471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对象 12"/>
          <p:cNvGraphicFramePr>
            <a:graphicFrameLocks noChangeAspect="1"/>
          </p:cNvGraphicFramePr>
          <p:nvPr/>
        </p:nvGraphicFramePr>
        <p:xfrm>
          <a:off x="3255963" y="3141663"/>
          <a:ext cx="2335212" cy="466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565" name="Equation" r:id="rId3" imgW="27432000" imgH="5486400" progId="Equation.DSMT4">
                  <p:embed/>
                </p:oleObj>
              </mc:Choice>
              <mc:Fallback>
                <p:oleObj name="Equation" r:id="rId3" imgW="27432000" imgH="5486400" progId="Equation.DSMT4">
                  <p:embed/>
                  <p:pic>
                    <p:nvPicPr>
                      <p:cNvPr id="0" name="图片 21564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255963" y="3141663"/>
                        <a:ext cx="2335212" cy="4667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对象 13"/>
          <p:cNvGraphicFramePr>
            <a:graphicFrameLocks noChangeAspect="1"/>
          </p:cNvGraphicFramePr>
          <p:nvPr/>
        </p:nvGraphicFramePr>
        <p:xfrm>
          <a:off x="2123728" y="2608014"/>
          <a:ext cx="777875" cy="3889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566" name="Equation" r:id="rId5" imgW="9144000" imgH="4572000" progId="Equation.DSMT4">
                  <p:embed/>
                </p:oleObj>
              </mc:Choice>
              <mc:Fallback>
                <p:oleObj name="Equation" r:id="rId5" imgW="9144000" imgH="4572000" progId="Equation.DSMT4">
                  <p:embed/>
                  <p:pic>
                    <p:nvPicPr>
                      <p:cNvPr id="0" name="图片 21565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123728" y="2608014"/>
                        <a:ext cx="777875" cy="38893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对象 14"/>
          <p:cNvGraphicFramePr>
            <a:graphicFrameLocks noChangeAspect="1"/>
          </p:cNvGraphicFramePr>
          <p:nvPr/>
        </p:nvGraphicFramePr>
        <p:xfrm>
          <a:off x="2203450" y="3694113"/>
          <a:ext cx="700088" cy="3889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567" name="Equation" r:id="rId7" imgW="8229600" imgH="4572000" progId="Equation.DSMT4">
                  <p:embed/>
                </p:oleObj>
              </mc:Choice>
              <mc:Fallback>
                <p:oleObj name="Equation" r:id="rId7" imgW="8229600" imgH="4572000" progId="Equation.DSMT4">
                  <p:embed/>
                  <p:pic>
                    <p:nvPicPr>
                      <p:cNvPr id="0" name="图片 21566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2203450" y="3694113"/>
                        <a:ext cx="700088" cy="38893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对象 15"/>
          <p:cNvGraphicFramePr>
            <a:graphicFrameLocks noChangeAspect="1"/>
          </p:cNvGraphicFramePr>
          <p:nvPr/>
        </p:nvGraphicFramePr>
        <p:xfrm>
          <a:off x="5940152" y="3723604"/>
          <a:ext cx="338137" cy="3889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568" name="Equation" r:id="rId9" imgW="3962400" imgH="4572000" progId="Equation.DSMT4">
                  <p:embed/>
                </p:oleObj>
              </mc:Choice>
              <mc:Fallback>
                <p:oleObj name="Equation" r:id="rId9" imgW="3962400" imgH="4572000" progId="Equation.DSMT4">
                  <p:embed/>
                  <p:pic>
                    <p:nvPicPr>
                      <p:cNvPr id="0" name="图片 21567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5940152" y="3723604"/>
                        <a:ext cx="338137" cy="38893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对象 16"/>
          <p:cNvGraphicFramePr>
            <a:graphicFrameLocks noChangeAspect="1"/>
          </p:cNvGraphicFramePr>
          <p:nvPr/>
        </p:nvGraphicFramePr>
        <p:xfrm>
          <a:off x="1866365" y="4402435"/>
          <a:ext cx="1374775" cy="466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569" name="Equation" r:id="rId11" imgW="16154400" imgH="5486400" progId="Equation.DSMT4">
                  <p:embed/>
                </p:oleObj>
              </mc:Choice>
              <mc:Fallback>
                <p:oleObj name="Equation" r:id="rId11" imgW="16154400" imgH="5486400" progId="Equation.DSMT4">
                  <p:embed/>
                  <p:pic>
                    <p:nvPicPr>
                      <p:cNvPr id="0" name="图片 21568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1866365" y="4402435"/>
                        <a:ext cx="1374775" cy="4667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" name="对象 17"/>
          <p:cNvGraphicFramePr>
            <a:graphicFrameLocks noChangeAspect="1"/>
          </p:cNvGraphicFramePr>
          <p:nvPr/>
        </p:nvGraphicFramePr>
        <p:xfrm>
          <a:off x="2841625" y="5021263"/>
          <a:ext cx="3063875" cy="495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570" name="Equation" r:id="rId13" imgW="35966400" imgH="5791200" progId="Equation.DSMT4">
                  <p:embed/>
                </p:oleObj>
              </mc:Choice>
              <mc:Fallback>
                <p:oleObj name="Equation" r:id="rId13" imgW="35966400" imgH="5791200" progId="Equation.DSMT4">
                  <p:embed/>
                  <p:pic>
                    <p:nvPicPr>
                      <p:cNvPr id="0" name="图片 21569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2841625" y="5021263"/>
                        <a:ext cx="3063875" cy="4953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cover dir="u"/>
  </p:transition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3.2 </a:t>
            </a:r>
            <a:r>
              <a:rPr lang="zh-CN" altLang="en-US" dirty="0"/>
              <a:t>线性回归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83568" y="970384"/>
            <a:ext cx="7772400" cy="5194920"/>
          </a:xfrm>
        </p:spPr>
        <p:txBody>
          <a:bodyPr/>
          <a:lstStyle/>
          <a:p>
            <a:r>
              <a:rPr lang="zh-CN" altLang="en-US" dirty="0"/>
              <a:t>线性模型</a:t>
            </a:r>
            <a:r>
              <a:rPr lang="zh-CN" altLang="en-US" dirty="0" smtClean="0"/>
              <a:t>的衍生</a:t>
            </a:r>
            <a:endParaRPr lang="zh-CN" altLang="en-US" dirty="0"/>
          </a:p>
          <a:p>
            <a:pPr lvl="1"/>
            <a:r>
              <a:rPr lang="zh-CN" altLang="en-US" dirty="0"/>
              <a:t>对于样</a:t>
            </a:r>
            <a:r>
              <a:rPr lang="zh-CN" altLang="en-US" dirty="0" smtClean="0"/>
              <a:t>例                 ，若</a:t>
            </a:r>
            <a:r>
              <a:rPr lang="zh-CN" altLang="en-US" dirty="0"/>
              <a:t>希望线性模型的预测值逼近真实标记</a:t>
            </a:r>
            <a:r>
              <a:rPr lang="zh-CN" altLang="en-US" dirty="0" smtClean="0"/>
              <a:t>，则</a:t>
            </a:r>
            <a:r>
              <a:rPr lang="zh-CN" altLang="en-US" dirty="0"/>
              <a:t>得到线性回归模型</a:t>
            </a:r>
            <a:endParaRPr lang="zh-CN" altLang="en-US" dirty="0"/>
          </a:p>
          <a:p>
            <a:pPr lvl="1"/>
            <a:endParaRPr lang="en-US" altLang="zh-CN" dirty="0" smtClean="0"/>
          </a:p>
          <a:p>
            <a:pPr lvl="1"/>
            <a:r>
              <a:rPr lang="zh-CN" altLang="en-US" dirty="0" smtClean="0"/>
              <a:t>如果输出的标记</a:t>
            </a:r>
            <a:r>
              <a:rPr lang="zh-CN" altLang="en-US" dirty="0"/>
              <a:t>是在指数尺度上</a:t>
            </a:r>
            <a:r>
              <a:rPr lang="zh-CN" altLang="en-US" dirty="0" smtClean="0"/>
              <a:t>变化</a:t>
            </a:r>
            <a:endParaRPr lang="en-US" altLang="zh-CN" dirty="0" smtClean="0"/>
          </a:p>
          <a:p>
            <a:pPr lvl="2">
              <a:lnSpc>
                <a:spcPct val="120000"/>
              </a:lnSpc>
            </a:pPr>
            <a:r>
              <a:rPr lang="zh-CN" altLang="en-US" dirty="0" smtClean="0"/>
              <a:t>若令</a:t>
            </a:r>
            <a:r>
              <a:rPr lang="zh-CN" altLang="en-US" dirty="0" smtClean="0">
                <a:solidFill>
                  <a:schemeClr val="bg1"/>
                </a:solidFill>
              </a:rPr>
              <a:t>令令令令令      </a:t>
            </a:r>
            <a:r>
              <a:rPr lang="zh-CN" altLang="en-US" dirty="0" smtClean="0"/>
              <a:t>，就是对数线性回归</a:t>
            </a:r>
            <a:endParaRPr lang="en-US" altLang="zh-CN" dirty="0" smtClean="0"/>
          </a:p>
          <a:p>
            <a:pPr lvl="3"/>
            <a:r>
              <a:rPr lang="zh-CN" altLang="en-US" dirty="0"/>
              <a:t>实际是在</a:t>
            </a:r>
            <a:r>
              <a:rPr lang="zh-CN" altLang="en-US" dirty="0" smtClean="0"/>
              <a:t>用              </a:t>
            </a:r>
            <a:r>
              <a:rPr lang="zh-CN" altLang="en-US" dirty="0" smtClean="0">
                <a:latin typeface="+mn-ea"/>
              </a:rPr>
              <a:t>逼近</a:t>
            </a:r>
            <a:endParaRPr lang="en-US" altLang="zh-CN" dirty="0" smtClean="0">
              <a:latin typeface="+mn-ea"/>
            </a:endParaRPr>
          </a:p>
          <a:p>
            <a:pPr lvl="3"/>
            <a:r>
              <a:rPr lang="zh-CN" altLang="en-US" dirty="0" smtClean="0">
                <a:latin typeface="+mn-ea"/>
              </a:rPr>
              <a:t>实质上在</a:t>
            </a:r>
            <a:r>
              <a:rPr lang="zh-CN" altLang="en-US" dirty="0">
                <a:latin typeface="+mn-ea"/>
              </a:rPr>
              <a:t>求取输入空间到</a:t>
            </a:r>
            <a:r>
              <a:rPr lang="zh-CN" altLang="en-US" dirty="0" smtClean="0">
                <a:latin typeface="+mn-ea"/>
              </a:rPr>
              <a:t>输出</a:t>
            </a:r>
            <a:r>
              <a:rPr lang="zh-CN" altLang="en-US" dirty="0">
                <a:latin typeface="+mn-ea"/>
              </a:rPr>
              <a:t>空间的非线性函数</a:t>
            </a:r>
            <a:r>
              <a:rPr lang="zh-CN" altLang="en-US" dirty="0" smtClean="0">
                <a:latin typeface="+mn-ea"/>
              </a:rPr>
              <a:t>映射</a:t>
            </a:r>
            <a:endParaRPr lang="en-US" altLang="zh-CN" dirty="0" smtClean="0">
              <a:latin typeface="+mn-ea"/>
            </a:endParaRPr>
          </a:p>
          <a:p>
            <a:pPr lvl="1"/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FCE9F0A-462E-4C69-95AA-11A5CD682488}" type="slidenum">
              <a:rPr lang="en-US" altLang="zh-CN" smtClean="0"/>
            </a:fld>
            <a:endParaRPr lang="en-US" altLang="zh-CN"/>
          </a:p>
        </p:txBody>
      </p:sp>
      <p:graphicFrame>
        <p:nvGraphicFramePr>
          <p:cNvPr id="5" name="对象 4"/>
          <p:cNvGraphicFramePr>
            <a:graphicFrameLocks noChangeAspect="1"/>
          </p:cNvGraphicFramePr>
          <p:nvPr/>
        </p:nvGraphicFramePr>
        <p:xfrm>
          <a:off x="2973388" y="1506538"/>
          <a:ext cx="1836737" cy="48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707" name="Equation" r:id="rId1" imgW="18592800" imgH="4876800" progId="Equation.DSMT4">
                  <p:embed/>
                </p:oleObj>
              </mc:Choice>
              <mc:Fallback>
                <p:oleObj name="Equation" r:id="rId1" imgW="18592800" imgH="4876800" progId="Equation.DSMT4">
                  <p:embed/>
                  <p:pic>
                    <p:nvPicPr>
                      <p:cNvPr id="0" name="图片 5706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2973388" y="1506538"/>
                        <a:ext cx="1836737" cy="482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/>
          <p:cNvGraphicFramePr>
            <a:graphicFrameLocks noChangeAspect="1"/>
          </p:cNvGraphicFramePr>
          <p:nvPr/>
        </p:nvGraphicFramePr>
        <p:xfrm>
          <a:off x="3533775" y="2309813"/>
          <a:ext cx="1836738" cy="542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708" name="Equation" r:id="rId3" imgW="18592800" imgH="5486400" progId="Equation.DSMT4">
                  <p:embed/>
                </p:oleObj>
              </mc:Choice>
              <mc:Fallback>
                <p:oleObj name="Equation" r:id="rId3" imgW="18592800" imgH="5486400" progId="Equation.DSMT4">
                  <p:embed/>
                  <p:pic>
                    <p:nvPicPr>
                      <p:cNvPr id="0" name="图片 5707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533775" y="2309813"/>
                        <a:ext cx="1836738" cy="5429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6"/>
          <p:cNvGraphicFramePr>
            <a:graphicFrameLocks noChangeAspect="1"/>
          </p:cNvGraphicFramePr>
          <p:nvPr/>
        </p:nvGraphicFramePr>
        <p:xfrm>
          <a:off x="2547492" y="3174107"/>
          <a:ext cx="2013053" cy="504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709" name="Equation" r:id="rId5" imgW="21945600" imgH="5486400" progId="Equation.DSMT4">
                  <p:embed/>
                </p:oleObj>
              </mc:Choice>
              <mc:Fallback>
                <p:oleObj name="Equation" r:id="rId5" imgW="21945600" imgH="5486400" progId="Equation.DSMT4">
                  <p:embed/>
                  <p:pic>
                    <p:nvPicPr>
                      <p:cNvPr id="0" name="图片 5708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547492" y="3174107"/>
                        <a:ext cx="2013053" cy="504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对象 7"/>
          <p:cNvGraphicFramePr>
            <a:graphicFrameLocks noChangeAspect="1"/>
          </p:cNvGraphicFramePr>
          <p:nvPr/>
        </p:nvGraphicFramePr>
        <p:xfrm>
          <a:off x="3780978" y="3501008"/>
          <a:ext cx="935038" cy="542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710" name="Equation" r:id="rId7" imgW="9448800" imgH="5486400" progId="Equation.DSMT4">
                  <p:embed/>
                </p:oleObj>
              </mc:Choice>
              <mc:Fallback>
                <p:oleObj name="Equation" r:id="rId7" imgW="9448800" imgH="5486400" progId="Equation.DSMT4">
                  <p:embed/>
                  <p:pic>
                    <p:nvPicPr>
                      <p:cNvPr id="0" name="图片 5709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3780978" y="3501008"/>
                        <a:ext cx="935038" cy="5429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对象 8"/>
          <p:cNvGraphicFramePr>
            <a:graphicFrameLocks noChangeAspect="1"/>
          </p:cNvGraphicFramePr>
          <p:nvPr/>
        </p:nvGraphicFramePr>
        <p:xfrm>
          <a:off x="5248325" y="3645024"/>
          <a:ext cx="331787" cy="392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711" name="Equation" r:id="rId9" imgW="3352800" imgH="3962400" progId="Equation.DSMT4">
                  <p:embed/>
                </p:oleObj>
              </mc:Choice>
              <mc:Fallback>
                <p:oleObj name="Equation" r:id="rId9" imgW="3352800" imgH="3962400" progId="Equation.DSMT4">
                  <p:embed/>
                  <p:pic>
                    <p:nvPicPr>
                      <p:cNvPr id="0" name="图片 5710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5248325" y="3645024"/>
                        <a:ext cx="331787" cy="39211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0" name="图片 9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198437" y="4293096"/>
            <a:ext cx="2813723" cy="2475092"/>
          </a:xfrm>
          <a:prstGeom prst="rect">
            <a:avLst/>
          </a:prstGeom>
        </p:spPr>
      </p:pic>
    </p:spTree>
  </p:cSld>
  <p:clrMapOvr>
    <a:masterClrMapping/>
  </p:clrMapOvr>
  <p:transition>
    <p:cover dir="u"/>
  </p:transition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3.2 </a:t>
            </a:r>
            <a:r>
              <a:rPr lang="zh-CN" altLang="en-US" dirty="0"/>
              <a:t>线性回归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83568" y="970384"/>
            <a:ext cx="7772400" cy="5194920"/>
          </a:xfrm>
        </p:spPr>
        <p:txBody>
          <a:bodyPr/>
          <a:lstStyle/>
          <a:p>
            <a:r>
              <a:rPr lang="zh-CN" altLang="en-US" dirty="0" smtClean="0"/>
              <a:t>线性模型的衍生</a:t>
            </a:r>
            <a:endParaRPr lang="zh-CN" altLang="en-US" dirty="0" smtClean="0"/>
          </a:p>
          <a:p>
            <a:pPr lvl="1"/>
            <a:r>
              <a:rPr lang="zh-CN" altLang="en-US" dirty="0" smtClean="0"/>
              <a:t>广义线性模型</a:t>
            </a:r>
            <a:endParaRPr lang="en-US" altLang="zh-CN" dirty="0"/>
          </a:p>
          <a:p>
            <a:pPr lvl="2"/>
            <a:r>
              <a:rPr lang="zh-CN" altLang="en-US" dirty="0"/>
              <a:t>一般</a:t>
            </a:r>
            <a:r>
              <a:rPr lang="zh-CN" altLang="en-US" dirty="0" smtClean="0"/>
              <a:t>形式</a:t>
            </a:r>
            <a:endParaRPr lang="en-US" altLang="zh-CN" dirty="0" smtClean="0"/>
          </a:p>
          <a:p>
            <a:pPr lvl="3"/>
            <a:r>
              <a:rPr lang="zh-CN" altLang="en-US" dirty="0" smtClean="0">
                <a:latin typeface="+mn-ea"/>
              </a:rPr>
              <a:t>考虑单调</a:t>
            </a:r>
            <a:r>
              <a:rPr lang="zh-CN" altLang="en-US" dirty="0">
                <a:latin typeface="+mn-ea"/>
              </a:rPr>
              <a:t>可</a:t>
            </a:r>
            <a:r>
              <a:rPr lang="zh-CN" altLang="en-US" dirty="0" smtClean="0">
                <a:latin typeface="+mn-ea"/>
              </a:rPr>
              <a:t>微函数</a:t>
            </a:r>
            <a:endParaRPr lang="en-US" altLang="zh-CN" dirty="0" smtClean="0"/>
          </a:p>
          <a:p>
            <a:pPr lvl="2"/>
            <a:endParaRPr lang="en-US" altLang="zh-CN" dirty="0"/>
          </a:p>
          <a:p>
            <a:pPr lvl="2"/>
            <a:endParaRPr lang="en-US" altLang="zh-CN" dirty="0" smtClean="0"/>
          </a:p>
          <a:p>
            <a:pPr lvl="4">
              <a:spcBef>
                <a:spcPts val="600"/>
              </a:spcBef>
            </a:pPr>
            <a:r>
              <a:rPr lang="zh-CN" altLang="en-US" dirty="0" smtClean="0">
                <a:latin typeface="+mn-ea"/>
              </a:rPr>
              <a:t>  称为联系函数</a:t>
            </a:r>
            <a:endParaRPr lang="en-US" altLang="zh-CN" dirty="0" smtClean="0">
              <a:latin typeface="+mn-ea"/>
            </a:endParaRPr>
          </a:p>
          <a:p>
            <a:pPr lvl="4"/>
            <a:r>
              <a:rPr lang="zh-CN" altLang="en-US" dirty="0" smtClean="0"/>
              <a:t>    不同，就有不同的线性回归</a:t>
            </a:r>
            <a:endParaRPr lang="zh-CN" altLang="en-US" dirty="0"/>
          </a:p>
          <a:p>
            <a:pPr lvl="1"/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FCE9F0A-462E-4C69-95AA-11A5CD682488}" type="slidenum">
              <a:rPr lang="en-US" altLang="zh-CN" smtClean="0"/>
            </a:fld>
            <a:endParaRPr lang="en-US" altLang="zh-CN"/>
          </a:p>
        </p:txBody>
      </p:sp>
      <p:graphicFrame>
        <p:nvGraphicFramePr>
          <p:cNvPr id="11" name="对象 10"/>
          <p:cNvGraphicFramePr>
            <a:graphicFrameLocks noChangeAspect="1"/>
          </p:cNvGraphicFramePr>
          <p:nvPr/>
        </p:nvGraphicFramePr>
        <p:xfrm>
          <a:off x="3731385" y="2636992"/>
          <a:ext cx="1905053" cy="720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565" name="Equation" r:id="rId1" imgW="25908000" imgH="9753600" progId="Equation.DSMT4">
                  <p:embed/>
                </p:oleObj>
              </mc:Choice>
              <mc:Fallback>
                <p:oleObj name="Equation" r:id="rId1" imgW="25908000" imgH="9753600" progId="Equation.DSMT4">
                  <p:embed/>
                  <p:pic>
                    <p:nvPicPr>
                      <p:cNvPr id="0" name="图片 19564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3731385" y="2636992"/>
                        <a:ext cx="1905053" cy="720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对象 11"/>
          <p:cNvGraphicFramePr>
            <a:graphicFrameLocks noChangeAspect="1"/>
          </p:cNvGraphicFramePr>
          <p:nvPr/>
        </p:nvGraphicFramePr>
        <p:xfrm>
          <a:off x="2857686" y="3429000"/>
          <a:ext cx="274154" cy="324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566" name="Equation" r:id="rId3" imgW="3352800" imgH="3962400" progId="Equation.DSMT4">
                  <p:embed/>
                </p:oleObj>
              </mc:Choice>
              <mc:Fallback>
                <p:oleObj name="Equation" r:id="rId3" imgW="3352800" imgH="3962400" progId="Equation.DSMT4">
                  <p:embed/>
                  <p:pic>
                    <p:nvPicPr>
                      <p:cNvPr id="0" name="图片 19565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857686" y="3429000"/>
                        <a:ext cx="274154" cy="324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对象 12"/>
          <p:cNvGraphicFramePr>
            <a:graphicFrameLocks noChangeAspect="1"/>
          </p:cNvGraphicFramePr>
          <p:nvPr/>
        </p:nvGraphicFramePr>
        <p:xfrm>
          <a:off x="2857686" y="3717032"/>
          <a:ext cx="274154" cy="324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567" name="Equation" r:id="rId5" imgW="3352800" imgH="3962400" progId="Equation.DSMT4">
                  <p:embed/>
                </p:oleObj>
              </mc:Choice>
              <mc:Fallback>
                <p:oleObj name="Equation" r:id="rId5" imgW="3352800" imgH="3962400" progId="Equation.DSMT4">
                  <p:embed/>
                  <p:pic>
                    <p:nvPicPr>
                      <p:cNvPr id="0" name="图片 19566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857686" y="3717032"/>
                        <a:ext cx="274154" cy="324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0" name="图片 9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887730" y="4041032"/>
            <a:ext cx="3115749" cy="2740768"/>
          </a:xfrm>
          <a:prstGeom prst="rect">
            <a:avLst/>
          </a:prstGeom>
        </p:spPr>
      </p:pic>
      <p:graphicFrame>
        <p:nvGraphicFramePr>
          <p:cNvPr id="14" name="对象 13"/>
          <p:cNvGraphicFramePr>
            <a:graphicFrameLocks noChangeAspect="1"/>
          </p:cNvGraphicFramePr>
          <p:nvPr/>
        </p:nvGraphicFramePr>
        <p:xfrm>
          <a:off x="4435785" y="2276912"/>
          <a:ext cx="496255" cy="360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568" name="Equation" r:id="rId7" imgW="6705600" imgH="4876800" progId="Equation.DSMT4">
                  <p:embed/>
                </p:oleObj>
              </mc:Choice>
              <mc:Fallback>
                <p:oleObj name="Equation" r:id="rId7" imgW="6705600" imgH="4876800" progId="Equation.DSMT4">
                  <p:embed/>
                  <p:pic>
                    <p:nvPicPr>
                      <p:cNvPr id="0" name="图片 19567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4435785" y="2276912"/>
                        <a:ext cx="496255" cy="360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cover dir="u"/>
  </p:transition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图片 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419872" y="3789040"/>
            <a:ext cx="5675956" cy="3024337"/>
          </a:xfrm>
          <a:prstGeom prst="rect">
            <a:avLst/>
          </a:prstGeom>
        </p:spPr>
      </p:pic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二分类任务</a:t>
            </a:r>
            <a:endParaRPr lang="zh-CN" altLang="en-US" dirty="0"/>
          </a:p>
          <a:p>
            <a:pPr lvl="1"/>
            <a:r>
              <a:rPr lang="zh-CN" altLang="en-US" dirty="0" smtClean="0"/>
              <a:t>期望输出</a:t>
            </a:r>
            <a:endParaRPr lang="en-US" altLang="zh-CN" dirty="0" smtClean="0"/>
          </a:p>
          <a:p>
            <a:pPr lvl="1"/>
            <a:r>
              <a:rPr lang="zh-CN" altLang="en-US" dirty="0"/>
              <a:t>线性回归模型产生的实值输出</a:t>
            </a:r>
            <a:endParaRPr lang="zh-CN" altLang="en-US" dirty="0"/>
          </a:p>
          <a:p>
            <a:pPr lvl="1"/>
            <a:r>
              <a:rPr lang="zh-CN" altLang="en-US" dirty="0" smtClean="0">
                <a:latin typeface="+mn-ea"/>
              </a:rPr>
              <a:t>找</a:t>
            </a:r>
            <a:r>
              <a:rPr lang="en-US" altLang="zh-CN" dirty="0" smtClean="0">
                <a:latin typeface="+mn-ea"/>
              </a:rPr>
              <a:t>z</a:t>
            </a:r>
            <a:r>
              <a:rPr lang="zh-CN" altLang="en-US" dirty="0" smtClean="0">
                <a:latin typeface="+mn-ea"/>
              </a:rPr>
              <a:t>和</a:t>
            </a:r>
            <a:r>
              <a:rPr lang="en-US" altLang="zh-CN" dirty="0" smtClean="0">
                <a:latin typeface="+mn-ea"/>
              </a:rPr>
              <a:t>y</a:t>
            </a:r>
            <a:r>
              <a:rPr lang="zh-CN" altLang="en-US" dirty="0" smtClean="0">
                <a:latin typeface="+mn-ea"/>
              </a:rPr>
              <a:t>的联系</a:t>
            </a:r>
            <a:r>
              <a:rPr lang="zh-CN" altLang="en-US" dirty="0">
                <a:latin typeface="+mn-ea"/>
              </a:rPr>
              <a:t>函数</a:t>
            </a:r>
            <a:endParaRPr lang="zh-CN" altLang="en-US" dirty="0">
              <a:latin typeface="+mn-ea"/>
            </a:endParaRPr>
          </a:p>
          <a:p>
            <a:pPr lvl="1"/>
            <a:r>
              <a:rPr lang="zh-CN" altLang="en-US" dirty="0" smtClean="0"/>
              <a:t>理想的</a:t>
            </a:r>
            <a:r>
              <a:rPr lang="zh-CN" altLang="en-US" dirty="0"/>
              <a:t>函数，单位阶跃函数</a:t>
            </a:r>
            <a:endParaRPr lang="zh-CN" altLang="en-US" dirty="0"/>
          </a:p>
          <a:p>
            <a:pPr lvl="1"/>
            <a:endParaRPr lang="en-US" altLang="zh-CN" dirty="0" smtClean="0"/>
          </a:p>
          <a:p>
            <a:pPr lvl="1"/>
            <a:endParaRPr lang="en-US" altLang="zh-CN" dirty="0" smtClean="0"/>
          </a:p>
          <a:p>
            <a:pPr lvl="2">
              <a:spcBef>
                <a:spcPts val="1800"/>
              </a:spcBef>
            </a:pPr>
            <a:r>
              <a:rPr lang="zh-CN" altLang="en-US" dirty="0"/>
              <a:t>性质</a:t>
            </a:r>
            <a:r>
              <a:rPr lang="zh-CN" altLang="en-US" dirty="0" smtClean="0"/>
              <a:t>不好，</a:t>
            </a:r>
            <a:endParaRPr lang="en-US" altLang="zh-CN" dirty="0" smtClean="0"/>
          </a:p>
          <a:p>
            <a:pPr marL="914400" lvl="2" indent="0">
              <a:buNone/>
            </a:pPr>
            <a:r>
              <a:rPr lang="zh-CN" altLang="en-US" dirty="0" smtClean="0"/>
              <a:t>   函数</a:t>
            </a:r>
            <a:r>
              <a:rPr lang="zh-CN" altLang="en-US" dirty="0"/>
              <a:t>不连续，</a:t>
            </a:r>
            <a:endParaRPr lang="en-US" altLang="zh-CN" dirty="0"/>
          </a:p>
          <a:p>
            <a:pPr marL="914400" lvl="2" indent="0">
              <a:buNone/>
            </a:pPr>
            <a:r>
              <a:rPr lang="zh-CN" altLang="en-US" dirty="0"/>
              <a:t>   </a:t>
            </a:r>
            <a:r>
              <a:rPr lang="zh-CN" altLang="en-US" dirty="0" smtClean="0"/>
              <a:t>没有</a:t>
            </a:r>
            <a:endParaRPr lang="en-US" altLang="zh-CN" dirty="0" smtClean="0"/>
          </a:p>
          <a:p>
            <a:pPr lvl="2"/>
            <a:r>
              <a:rPr lang="zh-CN" altLang="en-US" dirty="0" smtClean="0"/>
              <a:t>需找替代函数</a:t>
            </a:r>
            <a:endParaRPr lang="zh-CN" altLang="en-US" dirty="0" smtClean="0"/>
          </a:p>
          <a:p>
            <a:pPr lvl="2">
              <a:spcBef>
                <a:spcPts val="1800"/>
              </a:spcBef>
            </a:pPr>
            <a:endParaRPr lang="en-US" altLang="zh-CN" dirty="0" smtClean="0"/>
          </a:p>
          <a:p>
            <a:pPr marL="914400" lvl="2" indent="0">
              <a:buNone/>
            </a:pPr>
            <a:r>
              <a:rPr lang="zh-CN" altLang="en-US" dirty="0" smtClean="0"/>
              <a:t>   </a:t>
            </a:r>
            <a:endParaRPr lang="en-US" altLang="zh-CN" dirty="0" smtClean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FCE9F0A-462E-4C69-95AA-11A5CD682488}" type="slidenum">
              <a:rPr lang="en-US" altLang="zh-CN" smtClean="0"/>
            </a:fld>
            <a:endParaRPr lang="en-US" altLang="zh-CN" dirty="0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3.3 </a:t>
            </a:r>
            <a:r>
              <a:rPr lang="zh-CN" altLang="en-US" dirty="0" smtClean="0"/>
              <a:t>对数</a:t>
            </a:r>
            <a:r>
              <a:rPr lang="zh-CN" altLang="en-US" dirty="0"/>
              <a:t>几率回归</a:t>
            </a:r>
            <a:endParaRPr lang="zh-CN" altLang="en-US" dirty="0"/>
          </a:p>
        </p:txBody>
      </p:sp>
      <p:graphicFrame>
        <p:nvGraphicFramePr>
          <p:cNvPr id="5" name="对象 4"/>
          <p:cNvGraphicFramePr>
            <a:graphicFrameLocks noChangeAspect="1"/>
          </p:cNvGraphicFramePr>
          <p:nvPr/>
        </p:nvGraphicFramePr>
        <p:xfrm>
          <a:off x="2981455" y="1386651"/>
          <a:ext cx="1313172" cy="46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468" name="Equation" r:id="rId2" imgW="13716000" imgH="4876800" progId="Equation.DSMT4">
                  <p:embed/>
                </p:oleObj>
              </mc:Choice>
              <mc:Fallback>
                <p:oleObj name="Equation" r:id="rId2" imgW="13716000" imgH="4876800" progId="Equation.DSMT4">
                  <p:embed/>
                  <p:pic>
                    <p:nvPicPr>
                      <p:cNvPr id="0" name="图片 6467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2981455" y="1386651"/>
                        <a:ext cx="1313172" cy="468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对象 7"/>
          <p:cNvGraphicFramePr>
            <a:graphicFrameLocks noChangeAspect="1"/>
          </p:cNvGraphicFramePr>
          <p:nvPr/>
        </p:nvGraphicFramePr>
        <p:xfrm>
          <a:off x="6228184" y="1772816"/>
          <a:ext cx="1806575" cy="48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469" name="Equation" r:id="rId4" imgW="18288000" imgH="4876800" progId="Equation.DSMT4">
                  <p:embed/>
                </p:oleObj>
              </mc:Choice>
              <mc:Fallback>
                <p:oleObj name="Equation" r:id="rId4" imgW="18288000" imgH="4876800" progId="Equation.DSMT4">
                  <p:embed/>
                  <p:pic>
                    <p:nvPicPr>
                      <p:cNvPr id="0" name="图片 6468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6228184" y="1772816"/>
                        <a:ext cx="1806575" cy="482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对象 8"/>
          <p:cNvGraphicFramePr>
            <a:graphicFrameLocks noChangeAspect="1"/>
          </p:cNvGraphicFramePr>
          <p:nvPr/>
        </p:nvGraphicFramePr>
        <p:xfrm>
          <a:off x="2843808" y="3069096"/>
          <a:ext cx="2444932" cy="1224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470" name="Equation" r:id="rId6" imgW="25603200" imgH="12801600" progId="Equation.DSMT4">
                  <p:embed/>
                </p:oleObj>
              </mc:Choice>
              <mc:Fallback>
                <p:oleObj name="Equation" r:id="rId6" imgW="25603200" imgH="12801600" progId="Equation.DSMT4">
                  <p:embed/>
                  <p:pic>
                    <p:nvPicPr>
                      <p:cNvPr id="0" name="图片 6469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2843808" y="3069096"/>
                        <a:ext cx="2444932" cy="1224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对象 10"/>
          <p:cNvGraphicFramePr>
            <a:graphicFrameLocks noChangeAspect="1"/>
          </p:cNvGraphicFramePr>
          <p:nvPr/>
        </p:nvGraphicFramePr>
        <p:xfrm>
          <a:off x="2564284" y="4797152"/>
          <a:ext cx="500063" cy="501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471" name="Equation" r:id="rId8" imgW="5486400" imgH="5486400" progId="Equation.DSMT4">
                  <p:embed/>
                </p:oleObj>
              </mc:Choice>
              <mc:Fallback>
                <p:oleObj name="Equation" r:id="rId8" imgW="5486400" imgH="5486400" progId="Equation.DSMT4">
                  <p:embed/>
                  <p:pic>
                    <p:nvPicPr>
                      <p:cNvPr id="0" name="图片 6470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2564284" y="4797152"/>
                        <a:ext cx="500063" cy="5016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cover dir="u"/>
  </p:transition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33940" y="764704"/>
            <a:ext cx="4074564" cy="2171062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3.3 </a:t>
            </a:r>
            <a:r>
              <a:rPr lang="zh-CN" altLang="en-US" dirty="0"/>
              <a:t>对数几率回归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对率回归</a:t>
            </a:r>
            <a:endParaRPr lang="zh-CN" altLang="en-US" dirty="0"/>
          </a:p>
          <a:p>
            <a:pPr lvl="1"/>
            <a:r>
              <a:rPr lang="zh-CN" altLang="en-US" dirty="0"/>
              <a:t>对数几率函数</a:t>
            </a:r>
            <a:endParaRPr lang="zh-CN" altLang="en-US" dirty="0"/>
          </a:p>
          <a:p>
            <a:pPr lvl="2"/>
            <a:r>
              <a:rPr lang="zh-CN" altLang="en-US" dirty="0" smtClean="0"/>
              <a:t>常用</a:t>
            </a:r>
            <a:r>
              <a:rPr lang="zh-CN" altLang="en-US" dirty="0"/>
              <a:t>的替代</a:t>
            </a:r>
            <a:r>
              <a:rPr lang="zh-CN" altLang="en-US" dirty="0" smtClean="0"/>
              <a:t>函数</a:t>
            </a:r>
            <a:endParaRPr lang="en-US" altLang="zh-CN" dirty="0" smtClean="0"/>
          </a:p>
          <a:p>
            <a:pPr lvl="2"/>
            <a:r>
              <a:rPr lang="zh-CN" altLang="en-US" dirty="0">
                <a:latin typeface="+mn-ea"/>
              </a:rPr>
              <a:t>一</a:t>
            </a:r>
            <a:r>
              <a:rPr lang="zh-CN" altLang="en-US" dirty="0" smtClean="0">
                <a:latin typeface="+mn-ea"/>
              </a:rPr>
              <a:t>种</a:t>
            </a:r>
            <a:r>
              <a:rPr lang="en-US" altLang="zh-CN" dirty="0" smtClean="0">
                <a:latin typeface="+mn-ea"/>
              </a:rPr>
              <a:t>Sigmoid</a:t>
            </a:r>
            <a:r>
              <a:rPr lang="zh-CN" altLang="en-US" dirty="0" smtClean="0">
                <a:latin typeface="+mn-ea"/>
              </a:rPr>
              <a:t>函数</a:t>
            </a:r>
            <a:endParaRPr lang="en-US" altLang="zh-CN" dirty="0" smtClean="0">
              <a:latin typeface="+mn-ea"/>
            </a:endParaRPr>
          </a:p>
          <a:p>
            <a:pPr lvl="2"/>
            <a:r>
              <a:rPr lang="zh-CN" altLang="en-US" dirty="0">
                <a:latin typeface="+mn-ea"/>
              </a:rPr>
              <a:t>单调可微、任意阶可</a:t>
            </a:r>
            <a:r>
              <a:rPr lang="zh-CN" altLang="en-US" dirty="0" smtClean="0">
                <a:latin typeface="+mn-ea"/>
              </a:rPr>
              <a:t>导</a:t>
            </a:r>
            <a:endParaRPr lang="en-US" altLang="zh-CN" dirty="0" smtClean="0">
              <a:latin typeface="+mn-ea"/>
            </a:endParaRPr>
          </a:p>
          <a:p>
            <a:pPr lvl="2"/>
            <a:r>
              <a:rPr lang="zh-CN" altLang="en-US" dirty="0">
                <a:latin typeface="+mn-ea"/>
              </a:rPr>
              <a:t>它</a:t>
            </a:r>
            <a:r>
              <a:rPr lang="zh-CN" altLang="en-US" dirty="0" smtClean="0">
                <a:latin typeface="+mn-ea"/>
              </a:rPr>
              <a:t>将</a:t>
            </a:r>
            <a:r>
              <a:rPr lang="en-US" altLang="zh-CN" dirty="0" smtClean="0">
                <a:latin typeface="+mn-ea"/>
              </a:rPr>
              <a:t>z</a:t>
            </a:r>
            <a:r>
              <a:rPr lang="zh-CN" altLang="en-US" dirty="0" smtClean="0">
                <a:latin typeface="+mn-ea"/>
              </a:rPr>
              <a:t>值</a:t>
            </a:r>
            <a:r>
              <a:rPr lang="zh-CN" altLang="en-US" dirty="0">
                <a:latin typeface="+mn-ea"/>
              </a:rPr>
              <a:t>转化为一</a:t>
            </a:r>
            <a:r>
              <a:rPr lang="zh-CN" altLang="en-US" dirty="0" smtClean="0">
                <a:latin typeface="+mn-ea"/>
              </a:rPr>
              <a:t>个接近</a:t>
            </a:r>
            <a:r>
              <a:rPr lang="en-US" altLang="zh-CN" dirty="0">
                <a:latin typeface="+mn-ea"/>
              </a:rPr>
              <a:t>0</a:t>
            </a:r>
            <a:r>
              <a:rPr lang="zh-CN" altLang="en-US" dirty="0">
                <a:latin typeface="+mn-ea"/>
              </a:rPr>
              <a:t>或</a:t>
            </a:r>
            <a:r>
              <a:rPr lang="en-US" altLang="zh-CN" dirty="0">
                <a:latin typeface="+mn-ea"/>
              </a:rPr>
              <a:t>1</a:t>
            </a:r>
            <a:r>
              <a:rPr lang="zh-CN" altLang="en-US" dirty="0" smtClean="0">
                <a:latin typeface="+mn-ea"/>
              </a:rPr>
              <a:t>的</a:t>
            </a:r>
            <a:r>
              <a:rPr lang="en-US" altLang="zh-CN" dirty="0" smtClean="0">
                <a:latin typeface="+mn-ea"/>
              </a:rPr>
              <a:t>y</a:t>
            </a:r>
            <a:r>
              <a:rPr lang="zh-CN" altLang="en-US" dirty="0" smtClean="0">
                <a:latin typeface="+mn-ea"/>
              </a:rPr>
              <a:t>值，输出</a:t>
            </a:r>
            <a:r>
              <a:rPr lang="zh-CN" altLang="en-US" dirty="0">
                <a:latin typeface="+mn-ea"/>
              </a:rPr>
              <a:t>值在</a:t>
            </a:r>
            <a:r>
              <a:rPr lang="en-US" altLang="zh-CN" dirty="0">
                <a:latin typeface="+mn-ea"/>
              </a:rPr>
              <a:t>z=0</a:t>
            </a:r>
            <a:r>
              <a:rPr lang="zh-CN" altLang="en-US" dirty="0">
                <a:latin typeface="+mn-ea"/>
              </a:rPr>
              <a:t>附近变化很</a:t>
            </a:r>
            <a:r>
              <a:rPr lang="zh-CN" altLang="en-US" dirty="0" smtClean="0">
                <a:latin typeface="+mn-ea"/>
              </a:rPr>
              <a:t>陡</a:t>
            </a:r>
            <a:endParaRPr lang="en-US" altLang="zh-CN" dirty="0" smtClean="0">
              <a:latin typeface="+mn-ea"/>
            </a:endParaRPr>
          </a:p>
          <a:p>
            <a:pPr lvl="1"/>
            <a:r>
              <a:rPr lang="zh-CN" altLang="en-US" dirty="0">
                <a:latin typeface="+mn-ea"/>
              </a:rPr>
              <a:t>以对率函数为联系函数</a:t>
            </a:r>
            <a:endParaRPr lang="en-US" altLang="zh-CN" dirty="0">
              <a:latin typeface="+mn-ea"/>
            </a:endParaRPr>
          </a:p>
          <a:p>
            <a:pPr lvl="2"/>
            <a:r>
              <a:rPr lang="zh-CN" altLang="en-US" dirty="0"/>
              <a:t>对数几率</a:t>
            </a:r>
            <a:r>
              <a:rPr lang="zh-CN" altLang="en-US" dirty="0" smtClean="0"/>
              <a:t>回归</a:t>
            </a:r>
            <a:endParaRPr lang="en-US" altLang="zh-CN" dirty="0" smtClean="0"/>
          </a:p>
          <a:p>
            <a:pPr lvl="3"/>
            <a:endParaRPr lang="en-US" altLang="zh-CN" dirty="0" smtClean="0">
              <a:latin typeface="+mn-ea"/>
            </a:endParaRPr>
          </a:p>
          <a:p>
            <a:pPr lvl="3"/>
            <a:endParaRPr lang="en-US" altLang="zh-CN" dirty="0" smtClean="0">
              <a:latin typeface="+mn-ea"/>
            </a:endParaRPr>
          </a:p>
          <a:p>
            <a:pPr lvl="3"/>
            <a:r>
              <a:rPr lang="zh-CN" altLang="en-US" dirty="0" smtClean="0">
                <a:latin typeface="+mn-ea"/>
              </a:rPr>
              <a:t>若将</a:t>
            </a:r>
            <a:r>
              <a:rPr lang="en-US" altLang="zh-CN" dirty="0" smtClean="0">
                <a:latin typeface="+mn-ea"/>
              </a:rPr>
              <a:t>y</a:t>
            </a:r>
            <a:r>
              <a:rPr lang="zh-CN" altLang="en-US" dirty="0" smtClean="0">
                <a:latin typeface="+mn-ea"/>
              </a:rPr>
              <a:t>视为</a:t>
            </a:r>
            <a:r>
              <a:rPr lang="zh-CN" altLang="en-US" dirty="0">
                <a:latin typeface="+mn-ea"/>
              </a:rPr>
              <a:t>样本二作为正例的可能性，则</a:t>
            </a:r>
            <a:r>
              <a:rPr lang="en-US" altLang="zh-CN" dirty="0" smtClean="0">
                <a:latin typeface="+mn-ea"/>
              </a:rPr>
              <a:t>1-y</a:t>
            </a:r>
            <a:r>
              <a:rPr lang="zh-CN" altLang="en-US" dirty="0" smtClean="0">
                <a:latin typeface="+mn-ea"/>
              </a:rPr>
              <a:t>是</a:t>
            </a:r>
            <a:r>
              <a:rPr lang="zh-CN" altLang="en-US" dirty="0">
                <a:latin typeface="+mn-ea"/>
              </a:rPr>
              <a:t>其反例</a:t>
            </a:r>
            <a:r>
              <a:rPr lang="zh-CN" altLang="en-US" dirty="0" smtClean="0">
                <a:latin typeface="+mn-ea"/>
              </a:rPr>
              <a:t>可能性</a:t>
            </a:r>
            <a:endParaRPr lang="en-US" altLang="zh-CN" dirty="0" smtClean="0">
              <a:latin typeface="+mn-ea"/>
            </a:endParaRPr>
          </a:p>
          <a:p>
            <a:pPr lvl="3"/>
            <a:r>
              <a:rPr lang="zh-CN" altLang="en-US" dirty="0" smtClean="0">
                <a:latin typeface="+mn-ea"/>
              </a:rPr>
              <a:t>两者的</a:t>
            </a:r>
            <a:r>
              <a:rPr lang="zh-CN" altLang="en-US" dirty="0">
                <a:latin typeface="+mn-ea"/>
              </a:rPr>
              <a:t>比值         称为几率，反映</a:t>
            </a:r>
            <a:r>
              <a:rPr lang="zh-CN" altLang="en-US" dirty="0" smtClean="0">
                <a:latin typeface="+mn-ea"/>
              </a:rPr>
              <a:t>了</a:t>
            </a:r>
            <a:r>
              <a:rPr lang="en-US" altLang="zh-CN" dirty="0" smtClean="0">
                <a:latin typeface="+mn-ea"/>
              </a:rPr>
              <a:t>x</a:t>
            </a:r>
            <a:r>
              <a:rPr lang="zh-CN" altLang="en-US" dirty="0" smtClean="0">
                <a:latin typeface="+mn-ea"/>
              </a:rPr>
              <a:t>作为</a:t>
            </a:r>
            <a:r>
              <a:rPr lang="zh-CN" altLang="en-US" dirty="0">
                <a:latin typeface="+mn-ea"/>
              </a:rPr>
              <a:t>正例的相对</a:t>
            </a:r>
            <a:r>
              <a:rPr lang="zh-CN" altLang="en-US" dirty="0" smtClean="0">
                <a:latin typeface="+mn-ea"/>
              </a:rPr>
              <a:t>可能性。              称为对数几率</a:t>
            </a:r>
            <a:endParaRPr lang="en-US" altLang="zh-CN" dirty="0" smtClean="0">
              <a:latin typeface="+mn-ea"/>
            </a:endParaRPr>
          </a:p>
          <a:p>
            <a:pPr lvl="2"/>
            <a:endParaRPr lang="en-US" altLang="zh-CN" dirty="0" smtClean="0">
              <a:latin typeface="+mn-ea"/>
            </a:endParaRPr>
          </a:p>
          <a:p>
            <a:pPr lvl="2"/>
            <a:endParaRPr lang="en-US" altLang="zh-CN" dirty="0">
              <a:latin typeface="+mn-ea"/>
            </a:endParaRPr>
          </a:p>
          <a:p>
            <a:pPr lvl="2"/>
            <a:endParaRPr lang="zh-CN" altLang="en-US" dirty="0">
              <a:latin typeface="+mn-ea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FCE9F0A-462E-4C69-95AA-11A5CD682488}" type="slidenum">
              <a:rPr lang="en-US" altLang="zh-CN" smtClean="0"/>
            </a:fld>
            <a:endParaRPr lang="en-US" altLang="zh-CN"/>
          </a:p>
        </p:txBody>
      </p:sp>
      <p:graphicFrame>
        <p:nvGraphicFramePr>
          <p:cNvPr id="5" name="对象 4"/>
          <p:cNvGraphicFramePr>
            <a:graphicFrameLocks noChangeAspect="1"/>
          </p:cNvGraphicFramePr>
          <p:nvPr/>
        </p:nvGraphicFramePr>
        <p:xfrm>
          <a:off x="3741048" y="1196752"/>
          <a:ext cx="1540292" cy="82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479" name="Equation" r:id="rId2" imgW="16459200" imgH="8839200" progId="Equation.DSMT4">
                  <p:embed/>
                </p:oleObj>
              </mc:Choice>
              <mc:Fallback>
                <p:oleObj name="Equation" r:id="rId2" imgW="16459200" imgH="8839200" progId="Equation.DSMT4">
                  <p:embed/>
                  <p:pic>
                    <p:nvPicPr>
                      <p:cNvPr id="0" name="图片 7478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3741048" y="1196752"/>
                        <a:ext cx="1540292" cy="828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6"/>
          <p:cNvGraphicFramePr>
            <a:graphicFrameLocks noChangeAspect="1"/>
          </p:cNvGraphicFramePr>
          <p:nvPr/>
        </p:nvGraphicFramePr>
        <p:xfrm>
          <a:off x="2411760" y="4293096"/>
          <a:ext cx="4703803" cy="82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480" name="Equation" r:id="rId4" imgW="55473600" imgH="9753600" progId="Equation.DSMT4">
                  <p:embed/>
                </p:oleObj>
              </mc:Choice>
              <mc:Fallback>
                <p:oleObj name="Equation" r:id="rId4" imgW="55473600" imgH="9753600" progId="Equation.DSMT4">
                  <p:embed/>
                  <p:pic>
                    <p:nvPicPr>
                      <p:cNvPr id="0" name="图片 7479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411760" y="4293096"/>
                        <a:ext cx="4703803" cy="828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对象 7"/>
          <p:cNvGraphicFramePr>
            <a:graphicFrameLocks noChangeAspect="1"/>
          </p:cNvGraphicFramePr>
          <p:nvPr/>
        </p:nvGraphicFramePr>
        <p:xfrm>
          <a:off x="3707904" y="5589240"/>
          <a:ext cx="1189037" cy="441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481" name="Equation" r:id="rId6" imgW="14020800" imgH="5181600" progId="Equation.DSMT4">
                  <p:embed/>
                </p:oleObj>
              </mc:Choice>
              <mc:Fallback>
                <p:oleObj name="Equation" r:id="rId6" imgW="14020800" imgH="5181600" progId="Equation.DSMT4">
                  <p:embed/>
                  <p:pic>
                    <p:nvPicPr>
                      <p:cNvPr id="0" name="图片 7480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3707904" y="5589240"/>
                        <a:ext cx="1189037" cy="4413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对象 8"/>
          <p:cNvGraphicFramePr>
            <a:graphicFrameLocks noChangeAspect="1"/>
          </p:cNvGraphicFramePr>
          <p:nvPr/>
        </p:nvGraphicFramePr>
        <p:xfrm>
          <a:off x="4069953" y="5912643"/>
          <a:ext cx="1654175" cy="441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482" name="Equation" r:id="rId8" imgW="19507200" imgH="5181600" progId="Equation.DSMT4">
                  <p:embed/>
                </p:oleObj>
              </mc:Choice>
              <mc:Fallback>
                <p:oleObj name="Equation" r:id="rId8" imgW="19507200" imgH="5181600" progId="Equation.DSMT4">
                  <p:embed/>
                  <p:pic>
                    <p:nvPicPr>
                      <p:cNvPr id="0" name="图片 7481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4069953" y="5912643"/>
                        <a:ext cx="1654175" cy="4413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cover dir="u"/>
  </p:transition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3.3 </a:t>
            </a:r>
            <a:r>
              <a:rPr lang="zh-CN" altLang="en-US" dirty="0"/>
              <a:t>对数几率回归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83568" y="836712"/>
            <a:ext cx="7848872" cy="4690864"/>
          </a:xfrm>
        </p:spPr>
        <p:txBody>
          <a:bodyPr/>
          <a:lstStyle/>
          <a:p>
            <a:r>
              <a:rPr lang="zh-CN" altLang="en-US" dirty="0"/>
              <a:t>对率回归</a:t>
            </a:r>
            <a:endParaRPr lang="zh-CN" altLang="en-US" dirty="0"/>
          </a:p>
          <a:p>
            <a:pPr lvl="1"/>
            <a:r>
              <a:rPr lang="zh-CN" altLang="en-US" dirty="0">
                <a:latin typeface="+mn-ea"/>
              </a:rPr>
              <a:t>以对率函数为联系</a:t>
            </a:r>
            <a:r>
              <a:rPr lang="zh-CN" altLang="en-US" dirty="0" smtClean="0">
                <a:latin typeface="+mn-ea"/>
              </a:rPr>
              <a:t>函数</a:t>
            </a:r>
            <a:endParaRPr lang="en-US" altLang="zh-CN" dirty="0" smtClean="0">
              <a:latin typeface="+mn-ea"/>
            </a:endParaRPr>
          </a:p>
          <a:p>
            <a:pPr lvl="2"/>
            <a:r>
              <a:rPr lang="zh-CN" altLang="en-US" dirty="0" smtClean="0">
                <a:latin typeface="+mn-ea"/>
              </a:rPr>
              <a:t>优点</a:t>
            </a:r>
            <a:endParaRPr lang="en-US" altLang="zh-CN" dirty="0" smtClean="0">
              <a:latin typeface="+mn-ea"/>
            </a:endParaRPr>
          </a:p>
          <a:p>
            <a:pPr lvl="3" hangingPunct="0">
              <a:spcBef>
                <a:spcPts val="600"/>
              </a:spcBef>
            </a:pPr>
            <a:r>
              <a:rPr lang="zh-CN" altLang="en-US" dirty="0" smtClean="0">
                <a:latin typeface="+mn-ea"/>
              </a:rPr>
              <a:t>直接</a:t>
            </a:r>
            <a:r>
              <a:rPr lang="zh-CN" altLang="en-US" dirty="0">
                <a:latin typeface="+mn-ea"/>
              </a:rPr>
              <a:t>对分类可能性进行建模，无需事先假设数据分布，这样就避免了假设分布不准确所带来的</a:t>
            </a:r>
            <a:r>
              <a:rPr lang="zh-CN" altLang="en-US" dirty="0" smtClean="0">
                <a:latin typeface="+mn-ea"/>
              </a:rPr>
              <a:t>问题</a:t>
            </a:r>
            <a:endParaRPr lang="en-US" altLang="zh-CN" dirty="0" smtClean="0">
              <a:latin typeface="+mn-ea"/>
            </a:endParaRPr>
          </a:p>
          <a:p>
            <a:pPr lvl="3" hangingPunct="0">
              <a:spcBef>
                <a:spcPts val="600"/>
              </a:spcBef>
            </a:pPr>
            <a:r>
              <a:rPr lang="zh-CN" altLang="en-US" dirty="0" smtClean="0">
                <a:latin typeface="+mn-ea"/>
              </a:rPr>
              <a:t>不是</a:t>
            </a:r>
            <a:r>
              <a:rPr lang="zh-CN" altLang="en-US" dirty="0">
                <a:latin typeface="+mn-ea"/>
              </a:rPr>
              <a:t>仅预测</a:t>
            </a:r>
            <a:r>
              <a:rPr lang="zh-CN" altLang="en-US" dirty="0" smtClean="0">
                <a:latin typeface="+mn-ea"/>
              </a:rPr>
              <a:t>出类别，而是得到</a:t>
            </a:r>
            <a:r>
              <a:rPr lang="zh-CN" altLang="en-US" dirty="0">
                <a:latin typeface="+mn-ea"/>
              </a:rPr>
              <a:t>近似概率预测，这对许多需利用概率辅助决策的任务很</a:t>
            </a:r>
            <a:r>
              <a:rPr lang="zh-CN" altLang="en-US" dirty="0" smtClean="0">
                <a:latin typeface="+mn-ea"/>
              </a:rPr>
              <a:t>有用</a:t>
            </a:r>
            <a:endParaRPr lang="en-US" altLang="zh-CN" dirty="0" smtClean="0">
              <a:latin typeface="+mn-ea"/>
            </a:endParaRPr>
          </a:p>
          <a:p>
            <a:pPr lvl="3" hangingPunct="0">
              <a:spcBef>
                <a:spcPts val="600"/>
              </a:spcBef>
            </a:pPr>
            <a:r>
              <a:rPr lang="zh-CN" altLang="en-US" dirty="0" smtClean="0">
                <a:latin typeface="+mn-ea"/>
              </a:rPr>
              <a:t>对</a:t>
            </a:r>
            <a:r>
              <a:rPr lang="zh-CN" altLang="en-US" dirty="0">
                <a:latin typeface="+mn-ea"/>
              </a:rPr>
              <a:t>率函数是任意阶可导的凸函数，有很好的数学性质，</a:t>
            </a:r>
            <a:r>
              <a:rPr lang="zh-CN" altLang="en-US" dirty="0" smtClean="0">
                <a:latin typeface="+mn-ea"/>
              </a:rPr>
              <a:t>现有许多</a:t>
            </a:r>
            <a:r>
              <a:rPr lang="zh-CN" altLang="en-US" dirty="0">
                <a:latin typeface="+mn-ea"/>
              </a:rPr>
              <a:t>数值优化算法都可直接用于求取最优解</a:t>
            </a:r>
            <a:endParaRPr lang="en-US" altLang="zh-CN" dirty="0" smtClean="0">
              <a:latin typeface="+mn-ea"/>
            </a:endParaRPr>
          </a:p>
          <a:p>
            <a:pPr hangingPunct="0"/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FCE9F0A-462E-4C69-95AA-11A5CD682488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  <p:transition>
    <p:cover dir="u"/>
  </p:transition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3.3 </a:t>
            </a:r>
            <a:r>
              <a:rPr lang="zh-CN" altLang="en-US" dirty="0"/>
              <a:t>对数几率回归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83568" y="970384"/>
            <a:ext cx="7985648" cy="5554960"/>
          </a:xfrm>
        </p:spPr>
        <p:txBody>
          <a:bodyPr/>
          <a:lstStyle/>
          <a:p>
            <a:r>
              <a:rPr lang="zh-CN" altLang="en-US" dirty="0"/>
              <a:t>对率回归</a:t>
            </a:r>
            <a:endParaRPr lang="zh-CN" altLang="en-US" dirty="0"/>
          </a:p>
          <a:p>
            <a:pPr lvl="1"/>
            <a:r>
              <a:rPr lang="zh-CN" altLang="en-US" dirty="0" smtClean="0">
                <a:latin typeface="+mn-ea"/>
              </a:rPr>
              <a:t>求解</a:t>
            </a:r>
            <a:endParaRPr lang="en-US" altLang="zh-CN" dirty="0">
              <a:latin typeface="+mn-ea"/>
            </a:endParaRPr>
          </a:p>
          <a:p>
            <a:pPr lvl="2"/>
            <a:r>
              <a:rPr lang="zh-CN" altLang="en-US" dirty="0" smtClean="0">
                <a:latin typeface="+mn-ea"/>
              </a:rPr>
              <a:t>将  看作</a:t>
            </a:r>
            <a:r>
              <a:rPr lang="zh-CN" altLang="en-US" dirty="0">
                <a:latin typeface="+mn-ea"/>
              </a:rPr>
              <a:t>类后验概率</a:t>
            </a:r>
            <a:r>
              <a:rPr lang="zh-CN" altLang="en-US" dirty="0" smtClean="0">
                <a:latin typeface="+mn-ea"/>
              </a:rPr>
              <a:t>估计           ，则</a:t>
            </a:r>
            <a:endParaRPr lang="en-US" altLang="zh-CN" dirty="0" smtClean="0">
              <a:latin typeface="+mn-ea"/>
            </a:endParaRPr>
          </a:p>
          <a:p>
            <a:pPr lvl="2"/>
            <a:endParaRPr lang="en-US" altLang="zh-CN" dirty="0">
              <a:latin typeface="+mn-ea"/>
            </a:endParaRPr>
          </a:p>
          <a:p>
            <a:pPr lvl="2"/>
            <a:endParaRPr lang="en-US" altLang="zh-CN" dirty="0" smtClean="0">
              <a:latin typeface="+mn-ea"/>
            </a:endParaRPr>
          </a:p>
          <a:p>
            <a:pPr lvl="2"/>
            <a:endParaRPr lang="en-US" altLang="zh-CN" dirty="0">
              <a:latin typeface="+mn-ea"/>
            </a:endParaRPr>
          </a:p>
          <a:p>
            <a:pPr lvl="2"/>
            <a:endParaRPr lang="en-US" altLang="zh-CN" dirty="0" smtClean="0">
              <a:latin typeface="+mn-ea"/>
            </a:endParaRPr>
          </a:p>
          <a:p>
            <a:pPr lvl="2"/>
            <a:r>
              <a:rPr lang="zh-CN" altLang="en-US" dirty="0">
                <a:latin typeface="+mn-ea"/>
              </a:rPr>
              <a:t>可</a:t>
            </a:r>
            <a:r>
              <a:rPr lang="zh-CN" altLang="en-US" dirty="0" smtClean="0">
                <a:latin typeface="+mn-ea"/>
              </a:rPr>
              <a:t>使用极大似然法</a:t>
            </a:r>
            <a:r>
              <a:rPr lang="zh-CN" altLang="en-US" dirty="0">
                <a:latin typeface="+mn-ea"/>
              </a:rPr>
              <a:t>估计</a:t>
            </a:r>
            <a:endParaRPr lang="zh-CN" altLang="en-US" dirty="0">
              <a:latin typeface="+mn-ea"/>
            </a:endParaRPr>
          </a:p>
          <a:p>
            <a:pPr lvl="3"/>
            <a:r>
              <a:rPr lang="zh-CN" altLang="en-US" dirty="0">
                <a:latin typeface="+mn-ea"/>
              </a:rPr>
              <a:t>给定数据集         </a:t>
            </a:r>
            <a:r>
              <a:rPr lang="zh-CN" altLang="en-US" dirty="0" smtClean="0">
                <a:latin typeface="+mn-ea"/>
              </a:rPr>
              <a:t>   ，则最大化如下对数似然函数</a:t>
            </a:r>
            <a:endParaRPr lang="en-US" altLang="zh-CN" dirty="0" smtClean="0">
              <a:latin typeface="+mn-ea"/>
            </a:endParaRPr>
          </a:p>
          <a:p>
            <a:pPr lvl="3"/>
            <a:endParaRPr lang="en-US" altLang="zh-CN" dirty="0">
              <a:latin typeface="+mn-ea"/>
            </a:endParaRPr>
          </a:p>
          <a:p>
            <a:pPr lvl="3"/>
            <a:endParaRPr lang="en-US" altLang="zh-CN" dirty="0" smtClean="0">
              <a:latin typeface="+mn-ea"/>
            </a:endParaRPr>
          </a:p>
          <a:p>
            <a:pPr lvl="3"/>
            <a:endParaRPr lang="en-US" altLang="zh-CN" dirty="0">
              <a:latin typeface="+mn-ea"/>
            </a:endParaRPr>
          </a:p>
          <a:p>
            <a:pPr lvl="4"/>
            <a:r>
              <a:rPr lang="zh-CN" altLang="en-US" dirty="0" smtClean="0">
                <a:latin typeface="+mn-ea"/>
              </a:rPr>
              <a:t>求     ，使每个</a:t>
            </a:r>
            <a:r>
              <a:rPr lang="zh-CN" altLang="en-US" dirty="0">
                <a:latin typeface="+mn-ea"/>
              </a:rPr>
              <a:t>样本属于其真实标记的概率越大越好</a:t>
            </a:r>
            <a:endParaRPr lang="zh-CN" altLang="en-US" dirty="0">
              <a:latin typeface="+mn-ea"/>
            </a:endParaRPr>
          </a:p>
          <a:p>
            <a:pPr lvl="3"/>
            <a:endParaRPr lang="en-US" altLang="zh-CN" dirty="0" smtClean="0">
              <a:latin typeface="+mn-ea"/>
            </a:endParaRPr>
          </a:p>
          <a:p>
            <a:pPr lvl="3"/>
            <a:endParaRPr lang="en-US" altLang="zh-CN" dirty="0">
              <a:latin typeface="+mn-ea"/>
            </a:endParaRPr>
          </a:p>
          <a:p>
            <a:pPr lvl="3"/>
            <a:endParaRPr lang="en-US" altLang="zh-CN" dirty="0">
              <a:latin typeface="+mn-ea"/>
            </a:endParaRPr>
          </a:p>
          <a:p>
            <a:pPr lvl="2"/>
            <a:endParaRPr lang="en-US" altLang="zh-CN" dirty="0">
              <a:latin typeface="+mn-ea"/>
            </a:endParaRP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FCE9F0A-462E-4C69-95AA-11A5CD682488}" type="slidenum">
              <a:rPr lang="en-US" altLang="zh-CN" smtClean="0"/>
            </a:fld>
            <a:endParaRPr lang="en-US" altLang="zh-CN"/>
          </a:p>
        </p:txBody>
      </p:sp>
      <p:graphicFrame>
        <p:nvGraphicFramePr>
          <p:cNvPr id="5" name="对象 4"/>
          <p:cNvGraphicFramePr>
            <a:graphicFrameLocks noChangeAspect="1"/>
          </p:cNvGraphicFramePr>
          <p:nvPr/>
        </p:nvGraphicFramePr>
        <p:xfrm>
          <a:off x="2267744" y="1544008"/>
          <a:ext cx="894315" cy="432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926" name="Equation" r:id="rId1" imgW="8839200" imgH="4267200" progId="Equation.DSMT4">
                  <p:embed/>
                </p:oleObj>
              </mc:Choice>
              <mc:Fallback>
                <p:oleObj name="Equation" r:id="rId1" imgW="8839200" imgH="4267200" progId="Equation.DSMT4">
                  <p:embed/>
                  <p:pic>
                    <p:nvPicPr>
                      <p:cNvPr id="0" name="图片 9925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2267744" y="1544008"/>
                        <a:ext cx="894315" cy="432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/>
          <p:cNvGraphicFramePr>
            <a:graphicFrameLocks noChangeAspect="1"/>
          </p:cNvGraphicFramePr>
          <p:nvPr/>
        </p:nvGraphicFramePr>
        <p:xfrm>
          <a:off x="2195736" y="2006467"/>
          <a:ext cx="339725" cy="4016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927" name="Equation" r:id="rId3" imgW="3352800" imgH="3962400" progId="Equation.DSMT4">
                  <p:embed/>
                </p:oleObj>
              </mc:Choice>
              <mc:Fallback>
                <p:oleObj name="Equation" r:id="rId3" imgW="3352800" imgH="3962400" progId="Equation.DSMT4">
                  <p:embed/>
                  <p:pic>
                    <p:nvPicPr>
                      <p:cNvPr id="0" name="图片 9926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195736" y="2006467"/>
                        <a:ext cx="339725" cy="40163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6"/>
          <p:cNvGraphicFramePr>
            <a:graphicFrameLocks noChangeAspect="1"/>
          </p:cNvGraphicFramePr>
          <p:nvPr/>
        </p:nvGraphicFramePr>
        <p:xfrm>
          <a:off x="5295900" y="1916832"/>
          <a:ext cx="1536310" cy="432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928" name="Equation" r:id="rId5" imgW="17373600" imgH="4876800" progId="Equation.DSMT4">
                  <p:embed/>
                </p:oleObj>
              </mc:Choice>
              <mc:Fallback>
                <p:oleObj name="Equation" r:id="rId5" imgW="17373600" imgH="4876800" progId="Equation.DSMT4">
                  <p:embed/>
                  <p:pic>
                    <p:nvPicPr>
                      <p:cNvPr id="0" name="图片 9927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5295900" y="1916832"/>
                        <a:ext cx="1536310" cy="432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对象 7"/>
          <p:cNvGraphicFramePr>
            <a:graphicFrameLocks noChangeAspect="1"/>
          </p:cNvGraphicFramePr>
          <p:nvPr/>
        </p:nvGraphicFramePr>
        <p:xfrm>
          <a:off x="3044825" y="2312988"/>
          <a:ext cx="3157538" cy="828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929" name="Equation" r:id="rId7" imgW="37185600" imgH="9753600" progId="Equation.DSMT4">
                  <p:embed/>
                </p:oleObj>
              </mc:Choice>
              <mc:Fallback>
                <p:oleObj name="Equation" r:id="rId7" imgW="37185600" imgH="9753600" progId="Equation.DSMT4">
                  <p:embed/>
                  <p:pic>
                    <p:nvPicPr>
                      <p:cNvPr id="0" name="图片 9928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3044825" y="2312988"/>
                        <a:ext cx="3157538" cy="8286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对象 8"/>
          <p:cNvGraphicFramePr>
            <a:graphicFrameLocks noChangeAspect="1"/>
          </p:cNvGraphicFramePr>
          <p:nvPr/>
        </p:nvGraphicFramePr>
        <p:xfrm>
          <a:off x="1914525" y="3048000"/>
          <a:ext cx="3032125" cy="696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930" name="Equation" r:id="rId9" imgW="35661600" imgH="8229600" progId="Equation.DSMT4">
                  <p:embed/>
                </p:oleObj>
              </mc:Choice>
              <mc:Fallback>
                <p:oleObj name="Equation" r:id="rId9" imgW="35661600" imgH="8229600" progId="Equation.DSMT4">
                  <p:embed/>
                  <p:pic>
                    <p:nvPicPr>
                      <p:cNvPr id="0" name="图片 9929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914525" y="3048000"/>
                        <a:ext cx="3032125" cy="69691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对象 9"/>
          <p:cNvGraphicFramePr>
            <a:graphicFrameLocks noChangeAspect="1"/>
          </p:cNvGraphicFramePr>
          <p:nvPr/>
        </p:nvGraphicFramePr>
        <p:xfrm>
          <a:off x="5064125" y="3048000"/>
          <a:ext cx="2978150" cy="696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931" name="Equation" r:id="rId11" imgW="35052000" imgH="8229600" progId="Equation.DSMT4">
                  <p:embed/>
                </p:oleObj>
              </mc:Choice>
              <mc:Fallback>
                <p:oleObj name="Equation" r:id="rId11" imgW="35052000" imgH="8229600" progId="Equation.DSMT4">
                  <p:embed/>
                  <p:pic>
                    <p:nvPicPr>
                      <p:cNvPr id="0" name="图片 9930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5064125" y="3048000"/>
                        <a:ext cx="2978150" cy="69691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对象 10"/>
          <p:cNvGraphicFramePr>
            <a:graphicFrameLocks noChangeAspect="1"/>
          </p:cNvGraphicFramePr>
          <p:nvPr/>
        </p:nvGraphicFramePr>
        <p:xfrm>
          <a:off x="5016936" y="3789040"/>
          <a:ext cx="819789" cy="396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932" name="Equation" r:id="rId13" imgW="8839200" imgH="4267200" progId="Equation.DSMT4">
                  <p:embed/>
                </p:oleObj>
              </mc:Choice>
              <mc:Fallback>
                <p:oleObj name="Equation" r:id="rId13" imgW="8839200" imgH="4267200" progId="Equation.DSMT4">
                  <p:embed/>
                  <p:pic>
                    <p:nvPicPr>
                      <p:cNvPr id="0" name="图片 9931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5016936" y="3789040"/>
                        <a:ext cx="819789" cy="396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对象 11"/>
          <p:cNvGraphicFramePr>
            <a:graphicFrameLocks noChangeAspect="1"/>
          </p:cNvGraphicFramePr>
          <p:nvPr/>
        </p:nvGraphicFramePr>
        <p:xfrm>
          <a:off x="3766493" y="4057650"/>
          <a:ext cx="1405463" cy="46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933" name="Equation" r:id="rId14" imgW="16459200" imgH="5486400" progId="Equation.DSMT4">
                  <p:embed/>
                </p:oleObj>
              </mc:Choice>
              <mc:Fallback>
                <p:oleObj name="Equation" r:id="rId14" imgW="16459200" imgH="5486400" progId="Equation.DSMT4">
                  <p:embed/>
                  <p:pic>
                    <p:nvPicPr>
                      <p:cNvPr id="0" name="图片 9932"/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3766493" y="4057650"/>
                        <a:ext cx="1405463" cy="468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对象 12"/>
          <p:cNvGraphicFramePr>
            <a:graphicFrameLocks noChangeAspect="1"/>
          </p:cNvGraphicFramePr>
          <p:nvPr/>
        </p:nvGraphicFramePr>
        <p:xfrm>
          <a:off x="3347864" y="4437112"/>
          <a:ext cx="3470275" cy="8778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934" name="Equation" r:id="rId16" imgW="40843200" imgH="10363200" progId="Equation.DSMT4">
                  <p:embed/>
                </p:oleObj>
              </mc:Choice>
              <mc:Fallback>
                <p:oleObj name="Equation" r:id="rId16" imgW="40843200" imgH="10363200" progId="Equation.DSMT4">
                  <p:embed/>
                  <p:pic>
                    <p:nvPicPr>
                      <p:cNvPr id="0" name="图片 9933"/>
                      <p:cNvPicPr/>
                      <p:nvPr/>
                    </p:nvPicPr>
                    <p:blipFill>
                      <a:blip r:embed="rId17"/>
                      <a:stretch>
                        <a:fillRect/>
                      </a:stretch>
                    </p:blipFill>
                    <p:spPr>
                      <a:xfrm>
                        <a:off x="3347864" y="4437112"/>
                        <a:ext cx="3470275" cy="8778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对象 13"/>
          <p:cNvGraphicFramePr>
            <a:graphicFrameLocks noChangeAspect="1"/>
          </p:cNvGraphicFramePr>
          <p:nvPr/>
        </p:nvGraphicFramePr>
        <p:xfrm>
          <a:off x="3109175" y="5345797"/>
          <a:ext cx="670737" cy="324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935" name="Equation" r:id="rId18" imgW="8839200" imgH="4267200" progId="Equation.DSMT4">
                  <p:embed/>
                </p:oleObj>
              </mc:Choice>
              <mc:Fallback>
                <p:oleObj name="Equation" r:id="rId18" imgW="8839200" imgH="4267200" progId="Equation.DSMT4">
                  <p:embed/>
                  <p:pic>
                    <p:nvPicPr>
                      <p:cNvPr id="0" name="图片 9934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3109175" y="5345797"/>
                        <a:ext cx="670737" cy="324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cover dir="u"/>
  </p:transition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3.3 </a:t>
            </a:r>
            <a:r>
              <a:rPr lang="zh-CN" altLang="en-US" dirty="0"/>
              <a:t>对数几率回归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83568" y="836712"/>
            <a:ext cx="7985648" cy="4690864"/>
          </a:xfrm>
        </p:spPr>
        <p:txBody>
          <a:bodyPr/>
          <a:lstStyle/>
          <a:p>
            <a:r>
              <a:rPr lang="zh-CN" altLang="en-US" dirty="0"/>
              <a:t>对率回归</a:t>
            </a:r>
            <a:endParaRPr lang="zh-CN" altLang="en-US" dirty="0"/>
          </a:p>
          <a:p>
            <a:pPr lvl="1"/>
            <a:r>
              <a:rPr lang="zh-CN" altLang="en-US" dirty="0" smtClean="0">
                <a:latin typeface="+mn-ea"/>
              </a:rPr>
              <a:t>求解</a:t>
            </a:r>
            <a:endParaRPr lang="en-US" altLang="zh-CN" dirty="0">
              <a:latin typeface="+mn-ea"/>
            </a:endParaRPr>
          </a:p>
          <a:p>
            <a:pPr lvl="2"/>
            <a:r>
              <a:rPr lang="zh-CN" altLang="en-US" dirty="0" smtClean="0">
                <a:latin typeface="+mn-ea"/>
              </a:rPr>
              <a:t>可使用极大似然法</a:t>
            </a:r>
            <a:r>
              <a:rPr lang="zh-CN" altLang="en-US" dirty="0">
                <a:latin typeface="+mn-ea"/>
              </a:rPr>
              <a:t>估计</a:t>
            </a:r>
            <a:endParaRPr lang="zh-CN" altLang="en-US" dirty="0">
              <a:latin typeface="+mn-ea"/>
            </a:endParaRPr>
          </a:p>
          <a:p>
            <a:pPr lvl="3"/>
            <a:r>
              <a:rPr lang="zh-CN" altLang="en-US" dirty="0" smtClean="0">
                <a:latin typeface="+mn-ea"/>
              </a:rPr>
              <a:t>令                     ，则         简写为</a:t>
            </a:r>
            <a:endParaRPr lang="en-US" altLang="zh-CN" dirty="0" smtClean="0">
              <a:latin typeface="+mn-ea"/>
            </a:endParaRPr>
          </a:p>
          <a:p>
            <a:pPr marL="1371600" lvl="3" indent="0">
              <a:buNone/>
            </a:pPr>
            <a:r>
              <a:rPr lang="zh-CN" altLang="en-US" dirty="0" smtClean="0">
                <a:latin typeface="+mn-ea"/>
              </a:rPr>
              <a:t>令</a:t>
            </a:r>
            <a:endParaRPr lang="en-US" altLang="zh-CN" dirty="0" smtClean="0">
              <a:latin typeface="+mn-ea"/>
            </a:endParaRPr>
          </a:p>
          <a:p>
            <a:pPr lvl="3"/>
            <a:endParaRPr lang="en-US" altLang="zh-CN" dirty="0">
              <a:latin typeface="+mn-ea"/>
            </a:endParaRPr>
          </a:p>
          <a:p>
            <a:pPr lvl="3"/>
            <a:endParaRPr lang="en-US" altLang="zh-CN" dirty="0" smtClean="0">
              <a:latin typeface="+mn-ea"/>
            </a:endParaRPr>
          </a:p>
          <a:p>
            <a:pPr lvl="3"/>
            <a:endParaRPr lang="en-US" altLang="zh-CN" dirty="0">
              <a:latin typeface="+mn-ea"/>
            </a:endParaRPr>
          </a:p>
          <a:p>
            <a:pPr marL="1371600" lvl="3" indent="0">
              <a:buNone/>
            </a:pPr>
            <a:r>
              <a:rPr lang="zh-CN" altLang="en-US" dirty="0">
                <a:latin typeface="+mn-ea"/>
              </a:rPr>
              <a:t>则似然</a:t>
            </a:r>
            <a:r>
              <a:rPr lang="zh-CN" altLang="en-US" dirty="0" smtClean="0">
                <a:latin typeface="+mn-ea"/>
              </a:rPr>
              <a:t>项</a:t>
            </a:r>
            <a:endParaRPr lang="en-US" altLang="zh-CN" dirty="0" smtClean="0">
              <a:latin typeface="+mn-ea"/>
            </a:endParaRPr>
          </a:p>
          <a:p>
            <a:pPr marL="1371600" lvl="3" indent="0">
              <a:buNone/>
            </a:pPr>
            <a:endParaRPr lang="en-US" altLang="zh-CN" dirty="0">
              <a:latin typeface="+mn-ea"/>
            </a:endParaRPr>
          </a:p>
          <a:p>
            <a:pPr marL="1371600" lvl="3" indent="0">
              <a:spcBef>
                <a:spcPts val="1800"/>
              </a:spcBef>
              <a:buNone/>
            </a:pPr>
            <a:r>
              <a:rPr lang="zh-CN" altLang="en-US" dirty="0">
                <a:latin typeface="+mn-ea"/>
              </a:rPr>
              <a:t>最大化</a:t>
            </a:r>
            <a:r>
              <a:rPr lang="zh-CN" altLang="en-US" dirty="0" smtClean="0">
                <a:latin typeface="+mn-ea"/>
              </a:rPr>
              <a:t>似然函数                            等价于最小化</a:t>
            </a:r>
            <a:endParaRPr lang="en-US" altLang="zh-CN" dirty="0" smtClean="0">
              <a:latin typeface="+mn-ea"/>
            </a:endParaRPr>
          </a:p>
          <a:p>
            <a:pPr marL="1371600" lvl="3" indent="0">
              <a:buNone/>
            </a:pPr>
            <a:endParaRPr lang="en-US" altLang="zh-CN" dirty="0" smtClean="0">
              <a:latin typeface="+mn-ea"/>
            </a:endParaRPr>
          </a:p>
          <a:p>
            <a:pPr marL="1371600" lvl="3" indent="0">
              <a:buNone/>
            </a:pPr>
            <a:endParaRPr lang="zh-CN" altLang="en-US" dirty="0">
              <a:latin typeface="+mn-ea"/>
            </a:endParaRPr>
          </a:p>
          <a:p>
            <a:pPr marL="1371600" lvl="3" indent="0">
              <a:buNone/>
            </a:pPr>
            <a:r>
              <a:rPr lang="zh-CN" altLang="en-US" dirty="0" smtClean="0">
                <a:latin typeface="+mn-ea"/>
              </a:rPr>
              <a:t>即</a:t>
            </a:r>
            <a:endParaRPr lang="en-US" altLang="zh-CN" dirty="0" smtClean="0">
              <a:latin typeface="+mn-ea"/>
            </a:endParaRPr>
          </a:p>
          <a:p>
            <a:pPr lvl="4">
              <a:spcBef>
                <a:spcPts val="1200"/>
              </a:spcBef>
            </a:pPr>
            <a:r>
              <a:rPr lang="zh-CN" altLang="en-US" dirty="0" smtClean="0">
                <a:latin typeface="+mn-ea"/>
              </a:rPr>
              <a:t>关于</a:t>
            </a:r>
            <a:r>
              <a:rPr lang="el-GR" altLang="zh-CN" dirty="0" smtClean="0">
                <a:latin typeface="+mn-ea"/>
              </a:rPr>
              <a:t>β</a:t>
            </a:r>
            <a:r>
              <a:rPr lang="zh-CN" altLang="en-US" dirty="0" smtClean="0">
                <a:latin typeface="+mn-ea"/>
              </a:rPr>
              <a:t>的高</a:t>
            </a:r>
            <a:r>
              <a:rPr lang="zh-CN" altLang="en-US" dirty="0">
                <a:latin typeface="+mn-ea"/>
              </a:rPr>
              <a:t>阶可导连续凸函数，可用经典的数值优化方法（梯度</a:t>
            </a:r>
            <a:r>
              <a:rPr lang="zh-CN" altLang="en-US" dirty="0" smtClean="0">
                <a:latin typeface="+mn-ea"/>
              </a:rPr>
              <a:t>下降法、牛顿法</a:t>
            </a:r>
            <a:r>
              <a:rPr lang="zh-CN" altLang="en-US" dirty="0">
                <a:latin typeface="+mn-ea"/>
              </a:rPr>
              <a:t>）</a:t>
            </a:r>
            <a:endParaRPr lang="zh-CN" altLang="en-US" dirty="0">
              <a:latin typeface="+mn-ea"/>
            </a:endParaRPr>
          </a:p>
          <a:p>
            <a:pPr lvl="4"/>
            <a:endParaRPr lang="en-US" altLang="zh-CN" dirty="0" smtClean="0">
              <a:latin typeface="+mn-ea"/>
            </a:endParaRPr>
          </a:p>
          <a:p>
            <a:pPr lvl="3"/>
            <a:endParaRPr lang="en-US" altLang="zh-CN" dirty="0">
              <a:latin typeface="+mn-ea"/>
            </a:endParaRPr>
          </a:p>
          <a:p>
            <a:endParaRPr lang="en-US" altLang="zh-CN" dirty="0" smtClean="0"/>
          </a:p>
          <a:p>
            <a:endParaRPr lang="en-US" altLang="zh-CN" dirty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FCE9F0A-462E-4C69-95AA-11A5CD682488}" type="slidenum">
              <a:rPr lang="en-US" altLang="zh-CN" smtClean="0"/>
            </a:fld>
            <a:endParaRPr lang="en-US" altLang="zh-CN"/>
          </a:p>
        </p:txBody>
      </p:sp>
      <p:graphicFrame>
        <p:nvGraphicFramePr>
          <p:cNvPr id="5" name="对象 4"/>
          <p:cNvGraphicFramePr>
            <a:graphicFrameLocks noChangeAspect="1"/>
          </p:cNvGraphicFramePr>
          <p:nvPr/>
        </p:nvGraphicFramePr>
        <p:xfrm>
          <a:off x="2267744" y="1412776"/>
          <a:ext cx="894315" cy="432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965" name="Equation" r:id="rId1" imgW="8839200" imgH="4267200" progId="Equation.DSMT4">
                  <p:embed/>
                </p:oleObj>
              </mc:Choice>
              <mc:Fallback>
                <p:oleObj name="Equation" r:id="rId1" imgW="8839200" imgH="4267200" progId="Equation.DSMT4">
                  <p:embed/>
                  <p:pic>
                    <p:nvPicPr>
                      <p:cNvPr id="0" name="图片 10964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2267744" y="1412776"/>
                        <a:ext cx="894315" cy="432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对象 12"/>
          <p:cNvGraphicFramePr>
            <a:graphicFrameLocks noChangeAspect="1"/>
          </p:cNvGraphicFramePr>
          <p:nvPr/>
        </p:nvGraphicFramePr>
        <p:xfrm>
          <a:off x="4054053" y="4292088"/>
          <a:ext cx="3470275" cy="8778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966" name="Equation" r:id="rId3" imgW="40843200" imgH="10363200" progId="Equation.DSMT4">
                  <p:embed/>
                </p:oleObj>
              </mc:Choice>
              <mc:Fallback>
                <p:oleObj name="Equation" r:id="rId3" imgW="40843200" imgH="10363200" progId="Equation.DSMT4">
                  <p:embed/>
                  <p:pic>
                    <p:nvPicPr>
                      <p:cNvPr id="0" name="图片 10965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4054053" y="4292088"/>
                        <a:ext cx="3470275" cy="8778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对象 13"/>
          <p:cNvGraphicFramePr>
            <a:graphicFrameLocks noChangeAspect="1"/>
          </p:cNvGraphicFramePr>
          <p:nvPr/>
        </p:nvGraphicFramePr>
        <p:xfrm>
          <a:off x="2586038" y="2132904"/>
          <a:ext cx="2516438" cy="432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967" name="Equation" r:id="rId5" imgW="30175200" imgH="5181600" progId="Equation.DSMT4">
                  <p:embed/>
                </p:oleObj>
              </mc:Choice>
              <mc:Fallback>
                <p:oleObj name="Equation" r:id="rId5" imgW="30175200" imgH="5181600" progId="Equation.DSMT4">
                  <p:embed/>
                  <p:pic>
                    <p:nvPicPr>
                      <p:cNvPr id="0" name="图片 10966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586038" y="2132904"/>
                        <a:ext cx="2516438" cy="432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对象 14"/>
          <p:cNvGraphicFramePr>
            <a:graphicFrameLocks noChangeAspect="1"/>
          </p:cNvGraphicFramePr>
          <p:nvPr/>
        </p:nvGraphicFramePr>
        <p:xfrm>
          <a:off x="5839558" y="2132856"/>
          <a:ext cx="1102619" cy="396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968" name="Equation" r:id="rId7" imgW="12801600" imgH="4572000" progId="Equation.DSMT4">
                  <p:embed/>
                </p:oleObj>
              </mc:Choice>
              <mc:Fallback>
                <p:oleObj name="Equation" r:id="rId7" imgW="12801600" imgH="4572000" progId="Equation.DSMT4">
                  <p:embed/>
                  <p:pic>
                    <p:nvPicPr>
                      <p:cNvPr id="0" name="图片 10967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5839558" y="2132856"/>
                        <a:ext cx="1102619" cy="396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对象 15"/>
          <p:cNvGraphicFramePr>
            <a:graphicFrameLocks noChangeAspect="1"/>
          </p:cNvGraphicFramePr>
          <p:nvPr/>
        </p:nvGraphicFramePr>
        <p:xfrm>
          <a:off x="7741484" y="2132904"/>
          <a:ext cx="635881" cy="432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969" name="Equation" r:id="rId9" imgW="7620000" imgH="5181600" progId="Equation.DSMT4">
                  <p:embed/>
                </p:oleObj>
              </mc:Choice>
              <mc:Fallback>
                <p:oleObj name="Equation" r:id="rId9" imgW="7620000" imgH="5181600" progId="Equation.DSMT4">
                  <p:embed/>
                  <p:pic>
                    <p:nvPicPr>
                      <p:cNvPr id="0" name="图片 10968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7741484" y="2132904"/>
                        <a:ext cx="635881" cy="432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对象 16"/>
          <p:cNvGraphicFramePr>
            <a:graphicFrameLocks noChangeAspect="1"/>
          </p:cNvGraphicFramePr>
          <p:nvPr/>
        </p:nvGraphicFramePr>
        <p:xfrm>
          <a:off x="2414463" y="2440766"/>
          <a:ext cx="6550025" cy="1289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970" name="Equation" r:id="rId11" imgW="77114400" imgH="15240000" progId="Equation.DSMT4">
                  <p:embed/>
                </p:oleObj>
              </mc:Choice>
              <mc:Fallback>
                <p:oleObj name="Equation" r:id="rId11" imgW="77114400" imgH="15240000" progId="Equation.DSMT4">
                  <p:embed/>
                  <p:pic>
                    <p:nvPicPr>
                      <p:cNvPr id="0" name="图片 10969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2414463" y="2440766"/>
                        <a:ext cx="6550025" cy="12890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" name="对象 17"/>
          <p:cNvGraphicFramePr>
            <a:graphicFrameLocks noChangeAspect="1"/>
          </p:cNvGraphicFramePr>
          <p:nvPr/>
        </p:nvGraphicFramePr>
        <p:xfrm>
          <a:off x="2507630" y="3912751"/>
          <a:ext cx="5592762" cy="4651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971" name="Equation" r:id="rId13" imgW="65836800" imgH="5486400" progId="Equation.DSMT4">
                  <p:embed/>
                </p:oleObj>
              </mc:Choice>
              <mc:Fallback>
                <p:oleObj name="Equation" r:id="rId13" imgW="65836800" imgH="5486400" progId="Equation.DSMT4">
                  <p:embed/>
                  <p:pic>
                    <p:nvPicPr>
                      <p:cNvPr id="0" name="图片 10970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2507630" y="3912751"/>
                        <a:ext cx="5592762" cy="46513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" name="对象 18"/>
          <p:cNvGraphicFramePr>
            <a:graphicFrameLocks noChangeAspect="1"/>
          </p:cNvGraphicFramePr>
          <p:nvPr/>
        </p:nvGraphicFramePr>
        <p:xfrm>
          <a:off x="2909165" y="4892486"/>
          <a:ext cx="4192588" cy="8778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972" name="Equation" r:id="rId15" imgW="49377600" imgH="10363200" progId="Equation.DSMT4">
                  <p:embed/>
                </p:oleObj>
              </mc:Choice>
              <mc:Fallback>
                <p:oleObj name="Equation" r:id="rId15" imgW="49377600" imgH="10363200" progId="Equation.DSMT4">
                  <p:embed/>
                  <p:pic>
                    <p:nvPicPr>
                      <p:cNvPr id="0" name="图片 10971"/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2909165" y="4892486"/>
                        <a:ext cx="4192588" cy="8778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" name="对象 19"/>
          <p:cNvGraphicFramePr>
            <a:graphicFrameLocks noChangeAspect="1"/>
          </p:cNvGraphicFramePr>
          <p:nvPr/>
        </p:nvGraphicFramePr>
        <p:xfrm>
          <a:off x="2861468" y="5663653"/>
          <a:ext cx="2251075" cy="644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973" name="Equation" r:id="rId17" imgW="26517600" imgH="7620000" progId="Equation.DSMT4">
                  <p:embed/>
                </p:oleObj>
              </mc:Choice>
              <mc:Fallback>
                <p:oleObj name="Equation" r:id="rId17" imgW="26517600" imgH="7620000" progId="Equation.DSMT4">
                  <p:embed/>
                  <p:pic>
                    <p:nvPicPr>
                      <p:cNvPr id="0" name="图片 10972"/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2861468" y="5663653"/>
                        <a:ext cx="2251075" cy="6445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cover dir="u"/>
  </p:transition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3.4 </a:t>
            </a:r>
            <a:r>
              <a:rPr lang="zh-CN" altLang="en-US" dirty="0" smtClean="0"/>
              <a:t>线性判别分析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线性模型做“分类”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FCE9F0A-462E-4C69-95AA-11A5CD682488}" type="slidenum">
              <a:rPr lang="en-US" altLang="zh-CN" smtClean="0"/>
            </a:fld>
            <a:endParaRPr lang="en-US" altLang="zh-CN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7069" y="1400894"/>
            <a:ext cx="4114883" cy="5321652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19853" y="1400894"/>
            <a:ext cx="4028611" cy="5256000"/>
          </a:xfrm>
          <a:prstGeom prst="rect">
            <a:avLst/>
          </a:prstGeom>
        </p:spPr>
      </p:pic>
    </p:spTree>
  </p:cSld>
  <p:clrMapOvr>
    <a:masterClrMapping/>
  </p:clrMapOvr>
  <p:transition>
    <p:cover dir="u"/>
  </p:transition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04679" y="4833384"/>
            <a:ext cx="2751697" cy="2016000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3.4 </a:t>
            </a:r>
            <a:r>
              <a:rPr lang="zh-CN" altLang="en-US" dirty="0"/>
              <a:t>线性判别分析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 smtClean="0">
                <a:latin typeface="+mn-ea"/>
              </a:rPr>
              <a:t>LDA(</a:t>
            </a:r>
            <a:r>
              <a:rPr lang="zh-CN" altLang="en-US" spc="-80" dirty="0">
                <a:latin typeface="+mn-ea"/>
              </a:rPr>
              <a:t>线性判别分析</a:t>
            </a:r>
            <a:r>
              <a:rPr lang="en-US" altLang="zh-CN" dirty="0" smtClean="0">
                <a:latin typeface="+mn-ea"/>
              </a:rPr>
              <a:t>)</a:t>
            </a:r>
            <a:endParaRPr lang="en-US" altLang="zh-CN" dirty="0" smtClean="0">
              <a:latin typeface="+mn-ea"/>
            </a:endParaRPr>
          </a:p>
          <a:p>
            <a:pPr lvl="1"/>
            <a:r>
              <a:rPr lang="zh-CN" altLang="en-US" spc="-80" dirty="0">
                <a:latin typeface="+mn-ea"/>
              </a:rPr>
              <a:t>线性</a:t>
            </a:r>
            <a:r>
              <a:rPr lang="zh-CN" altLang="en-US" spc="-80" dirty="0" smtClean="0">
                <a:latin typeface="+mn-ea"/>
              </a:rPr>
              <a:t>判别分析</a:t>
            </a:r>
            <a:r>
              <a:rPr lang="en-US" altLang="zh-CN" spc="-80" dirty="0" err="1" smtClean="0">
                <a:latin typeface="+mn-ea"/>
              </a:rPr>
              <a:t>Lincar</a:t>
            </a:r>
            <a:r>
              <a:rPr lang="en-US" altLang="zh-CN" spc="-80" dirty="0" smtClean="0">
                <a:latin typeface="+mn-ea"/>
              </a:rPr>
              <a:t> </a:t>
            </a:r>
            <a:r>
              <a:rPr lang="en-US" altLang="zh-CN" spc="-80" dirty="0">
                <a:latin typeface="+mn-ea"/>
              </a:rPr>
              <a:t>Discriminant </a:t>
            </a:r>
            <a:r>
              <a:rPr lang="en-US" altLang="zh-CN" spc="-80" dirty="0" smtClean="0">
                <a:latin typeface="+mn-ea"/>
              </a:rPr>
              <a:t>Analysis</a:t>
            </a:r>
            <a:endParaRPr lang="en-US" altLang="zh-CN" spc="-80" dirty="0" smtClean="0">
              <a:latin typeface="+mn-ea"/>
            </a:endParaRPr>
          </a:p>
          <a:p>
            <a:pPr lvl="1"/>
            <a:r>
              <a:rPr lang="zh-CN" altLang="en-US" dirty="0" smtClean="0">
                <a:latin typeface="+mn-ea"/>
              </a:rPr>
              <a:t>由</a:t>
            </a:r>
            <a:r>
              <a:rPr lang="en-US" altLang="zh-CN" dirty="0" smtClean="0">
                <a:latin typeface="+mn-ea"/>
              </a:rPr>
              <a:t>Fisher 1936</a:t>
            </a:r>
            <a:r>
              <a:rPr lang="zh-CN" altLang="en-US" dirty="0" smtClean="0">
                <a:latin typeface="+mn-ea"/>
              </a:rPr>
              <a:t>提出，亦称</a:t>
            </a:r>
            <a:r>
              <a:rPr lang="en-US" altLang="zh-CN" dirty="0" smtClean="0">
                <a:latin typeface="+mn-ea"/>
              </a:rPr>
              <a:t>Fishy</a:t>
            </a:r>
            <a:r>
              <a:rPr lang="zh-CN" altLang="en-US" dirty="0" smtClean="0">
                <a:latin typeface="+mn-ea"/>
              </a:rPr>
              <a:t>判别分析</a:t>
            </a:r>
            <a:endParaRPr lang="en-US" altLang="zh-CN" dirty="0" smtClean="0">
              <a:latin typeface="+mn-ea"/>
            </a:endParaRPr>
          </a:p>
          <a:p>
            <a:r>
              <a:rPr lang="zh-CN" altLang="en-US" dirty="0" smtClean="0"/>
              <a:t>思想</a:t>
            </a:r>
            <a:endParaRPr lang="en-US" altLang="zh-CN" dirty="0" smtClean="0"/>
          </a:p>
          <a:p>
            <a:pPr lvl="1"/>
            <a:r>
              <a:rPr lang="zh-CN" altLang="en-US" dirty="0"/>
              <a:t>给定训练样例集，设法</a:t>
            </a:r>
            <a:r>
              <a:rPr lang="zh-CN" altLang="en-US" dirty="0" smtClean="0"/>
              <a:t>将</a:t>
            </a:r>
            <a:r>
              <a:rPr lang="zh-CN" altLang="en-US" dirty="0"/>
              <a:t>训练</a:t>
            </a:r>
            <a:r>
              <a:rPr lang="zh-CN" altLang="en-US" dirty="0" smtClean="0"/>
              <a:t>样</a:t>
            </a:r>
            <a:r>
              <a:rPr lang="zh-CN" altLang="en-US" dirty="0"/>
              <a:t>例投影到一条直线</a:t>
            </a:r>
            <a:r>
              <a:rPr lang="zh-CN" altLang="en-US" dirty="0" smtClean="0"/>
              <a:t>上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使得</a:t>
            </a:r>
            <a:r>
              <a:rPr lang="zh-CN" altLang="en-US" dirty="0"/>
              <a:t>同类样</a:t>
            </a:r>
            <a:r>
              <a:rPr lang="zh-CN" altLang="en-US" dirty="0" smtClean="0"/>
              <a:t>例投影</a:t>
            </a:r>
            <a:r>
              <a:rPr lang="zh-CN" altLang="en-US" dirty="0"/>
              <a:t>点尽可能接近、异类样</a:t>
            </a:r>
            <a:r>
              <a:rPr lang="zh-CN" altLang="en-US" dirty="0" smtClean="0"/>
              <a:t>例投影</a:t>
            </a:r>
            <a:r>
              <a:rPr lang="zh-CN" altLang="en-US" dirty="0"/>
              <a:t>点尽可能</a:t>
            </a:r>
            <a:r>
              <a:rPr lang="zh-CN" altLang="en-US" dirty="0" smtClean="0"/>
              <a:t>远离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将</a:t>
            </a:r>
            <a:r>
              <a:rPr lang="zh-CN" altLang="en-US" dirty="0"/>
              <a:t>新</a:t>
            </a:r>
            <a:r>
              <a:rPr lang="zh-CN" altLang="en-US" dirty="0" smtClean="0"/>
              <a:t>样本投影到这</a:t>
            </a:r>
            <a:r>
              <a:rPr lang="zh-CN" altLang="en-US" dirty="0"/>
              <a:t>条直线上</a:t>
            </a:r>
            <a:r>
              <a:rPr lang="zh-CN" altLang="en-US" dirty="0" smtClean="0"/>
              <a:t>，根据</a:t>
            </a:r>
            <a:r>
              <a:rPr lang="zh-CN" altLang="en-US" dirty="0"/>
              <a:t>投影</a:t>
            </a:r>
            <a:r>
              <a:rPr lang="zh-CN" altLang="en-US" dirty="0" smtClean="0"/>
              <a:t>点位置</a:t>
            </a:r>
            <a:r>
              <a:rPr lang="zh-CN" altLang="en-US" dirty="0"/>
              <a:t>来确定新样本的</a:t>
            </a:r>
            <a:r>
              <a:rPr lang="zh-CN" altLang="en-US" dirty="0" smtClean="0"/>
              <a:t>类别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FCE9F0A-462E-4C69-95AA-11A5CD682488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  <p:transition>
    <p:cover dir="u"/>
  </p:transition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3.4 </a:t>
            </a:r>
            <a:r>
              <a:rPr lang="zh-CN" altLang="en-US" dirty="0"/>
              <a:t>线性判别分析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 smtClean="0"/>
              <a:t>目标函数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函数的表达</a:t>
            </a:r>
            <a:endParaRPr lang="en-US" altLang="zh-CN" dirty="0" smtClean="0"/>
          </a:p>
          <a:p>
            <a:pPr lvl="2"/>
            <a:r>
              <a:rPr lang="zh-CN" altLang="en-US" dirty="0" smtClean="0"/>
              <a:t>令给定</a:t>
            </a:r>
            <a:r>
              <a:rPr lang="zh-CN" altLang="en-US" dirty="0"/>
              <a:t>数据</a:t>
            </a:r>
            <a:r>
              <a:rPr lang="zh-CN" altLang="en-US" dirty="0" smtClean="0"/>
              <a:t>集</a:t>
            </a:r>
            <a:endParaRPr lang="en-US" altLang="zh-CN" dirty="0" smtClean="0"/>
          </a:p>
          <a:p>
            <a:pPr marL="914400" lvl="2" indent="0">
              <a:buNone/>
            </a:pPr>
            <a:r>
              <a:rPr lang="zh-CN" altLang="en-US" dirty="0" smtClean="0">
                <a:latin typeface="+mn-ea"/>
              </a:rPr>
              <a:t>  第</a:t>
            </a:r>
            <a:r>
              <a:rPr lang="en-US" altLang="zh-CN" dirty="0" err="1">
                <a:latin typeface="+mn-ea"/>
              </a:rPr>
              <a:t>i</a:t>
            </a:r>
            <a:r>
              <a:rPr lang="zh-CN" altLang="en-US" dirty="0">
                <a:latin typeface="+mn-ea"/>
              </a:rPr>
              <a:t>类示例的</a:t>
            </a:r>
            <a:r>
              <a:rPr lang="zh-CN" altLang="en-US" dirty="0" smtClean="0">
                <a:latin typeface="+mn-ea"/>
              </a:rPr>
              <a:t>集合</a:t>
            </a:r>
            <a:endParaRPr lang="en-US" altLang="zh-CN" dirty="0" smtClean="0">
              <a:latin typeface="+mn-ea"/>
            </a:endParaRPr>
          </a:p>
          <a:p>
            <a:pPr marL="914400" lvl="2" indent="0">
              <a:buNone/>
            </a:pPr>
            <a:r>
              <a:rPr lang="zh-CN" altLang="en-US" dirty="0" smtClean="0">
                <a:latin typeface="+mn-ea"/>
              </a:rPr>
              <a:t>  第</a:t>
            </a:r>
            <a:r>
              <a:rPr lang="en-US" altLang="zh-CN" dirty="0" err="1">
                <a:latin typeface="+mn-ea"/>
              </a:rPr>
              <a:t>i</a:t>
            </a:r>
            <a:r>
              <a:rPr lang="zh-CN" altLang="en-US" dirty="0">
                <a:latin typeface="+mn-ea"/>
              </a:rPr>
              <a:t>类示例的均值向量</a:t>
            </a:r>
            <a:endParaRPr lang="en-US" altLang="zh-CN" dirty="0">
              <a:latin typeface="+mn-ea"/>
            </a:endParaRPr>
          </a:p>
          <a:p>
            <a:pPr marL="914400" lvl="2" indent="0">
              <a:buNone/>
            </a:pPr>
            <a:r>
              <a:rPr lang="zh-CN" altLang="en-US" dirty="0" smtClean="0">
                <a:latin typeface="+mn-ea"/>
              </a:rPr>
              <a:t>  第</a:t>
            </a:r>
            <a:r>
              <a:rPr lang="en-US" altLang="zh-CN" dirty="0" err="1" smtClean="0">
                <a:latin typeface="+mn-ea"/>
              </a:rPr>
              <a:t>i</a:t>
            </a:r>
            <a:r>
              <a:rPr lang="zh-CN" altLang="en-US" dirty="0" smtClean="0">
                <a:latin typeface="+mn-ea"/>
              </a:rPr>
              <a:t>类</a:t>
            </a:r>
            <a:r>
              <a:rPr lang="zh-CN" altLang="en-US" dirty="0">
                <a:latin typeface="+mn-ea"/>
              </a:rPr>
              <a:t>示例的协方差矩阵</a:t>
            </a:r>
            <a:endParaRPr lang="en-US" altLang="zh-CN" dirty="0">
              <a:latin typeface="+mn-ea"/>
            </a:endParaRPr>
          </a:p>
          <a:p>
            <a:pPr marL="914400" lvl="2" indent="0">
              <a:buNone/>
            </a:pPr>
            <a:r>
              <a:rPr lang="zh-CN" altLang="en-US" dirty="0" smtClean="0">
                <a:latin typeface="+mn-ea"/>
              </a:rPr>
              <a:t>  两</a:t>
            </a:r>
            <a:r>
              <a:rPr lang="zh-CN" altLang="en-US" dirty="0">
                <a:latin typeface="+mn-ea"/>
              </a:rPr>
              <a:t>类样本的中心在直线上的</a:t>
            </a:r>
            <a:r>
              <a:rPr lang="zh-CN" altLang="en-US" dirty="0" smtClean="0">
                <a:latin typeface="+mn-ea"/>
              </a:rPr>
              <a:t>投影</a:t>
            </a:r>
            <a:endParaRPr lang="en-US" altLang="zh-CN" dirty="0" smtClean="0">
              <a:latin typeface="+mn-ea"/>
            </a:endParaRPr>
          </a:p>
          <a:p>
            <a:pPr marL="914400" lvl="2" indent="0">
              <a:buNone/>
            </a:pPr>
            <a:r>
              <a:rPr lang="zh-CN" altLang="en-US" dirty="0" smtClean="0">
                <a:latin typeface="+mn-ea"/>
              </a:rPr>
              <a:t>  两</a:t>
            </a:r>
            <a:r>
              <a:rPr lang="zh-CN" altLang="en-US" dirty="0">
                <a:latin typeface="+mn-ea"/>
              </a:rPr>
              <a:t>类样本的协方差</a:t>
            </a:r>
            <a:endParaRPr lang="en-US" altLang="zh-CN" dirty="0">
              <a:latin typeface="+mn-ea"/>
            </a:endParaRPr>
          </a:p>
          <a:p>
            <a:pPr lvl="2"/>
            <a:r>
              <a:rPr lang="zh-CN" altLang="en-US" dirty="0" smtClean="0">
                <a:cs typeface="+mn-cs"/>
              </a:rPr>
              <a:t>使</a:t>
            </a:r>
            <a:r>
              <a:rPr lang="zh-CN" altLang="en-US" dirty="0">
                <a:cs typeface="+mn-cs"/>
              </a:rPr>
              <a:t>同类样例的投影点</a:t>
            </a:r>
            <a:r>
              <a:rPr lang="zh-CN" altLang="en-US" dirty="0" smtClean="0">
                <a:cs typeface="+mn-cs"/>
              </a:rPr>
              <a:t>尽可能近</a:t>
            </a:r>
            <a:r>
              <a:rPr lang="zh-CN" altLang="en-US" dirty="0">
                <a:cs typeface="+mn-cs"/>
              </a:rPr>
              <a:t>，</a:t>
            </a:r>
            <a:r>
              <a:rPr lang="zh-CN" altLang="en-US" dirty="0" smtClean="0">
                <a:cs typeface="+mn-cs"/>
              </a:rPr>
              <a:t>可让</a:t>
            </a:r>
            <a:r>
              <a:rPr lang="zh-CN" altLang="en-US" dirty="0">
                <a:cs typeface="+mn-cs"/>
              </a:rPr>
              <a:t>同类样例投影点的</a:t>
            </a:r>
            <a:r>
              <a:rPr lang="zh-CN" altLang="en-US" dirty="0" smtClean="0">
                <a:cs typeface="+mn-cs"/>
              </a:rPr>
              <a:t>协方差                         尽可能小</a:t>
            </a:r>
            <a:endParaRPr lang="en-US" altLang="zh-CN" dirty="0" smtClean="0">
              <a:cs typeface="+mn-cs"/>
            </a:endParaRPr>
          </a:p>
          <a:p>
            <a:pPr lvl="2"/>
            <a:r>
              <a:rPr lang="zh-CN" altLang="en-US" dirty="0" smtClean="0">
                <a:cs typeface="+mn-cs"/>
              </a:rPr>
              <a:t>使</a:t>
            </a:r>
            <a:r>
              <a:rPr lang="zh-CN" altLang="en-US" dirty="0">
                <a:cs typeface="+mn-cs"/>
              </a:rPr>
              <a:t>异类样例的投影点尽可能</a:t>
            </a:r>
            <a:r>
              <a:rPr lang="zh-CN" altLang="en-US" dirty="0" smtClean="0">
                <a:cs typeface="+mn-cs"/>
              </a:rPr>
              <a:t>远，可让</a:t>
            </a:r>
            <a:r>
              <a:rPr lang="zh-CN" altLang="en-US" dirty="0">
                <a:cs typeface="+mn-cs"/>
              </a:rPr>
              <a:t>类中心之间的</a:t>
            </a:r>
            <a:r>
              <a:rPr lang="zh-CN" altLang="en-US" dirty="0" smtClean="0">
                <a:cs typeface="+mn-cs"/>
              </a:rPr>
              <a:t>距离                         尽可能大</a:t>
            </a:r>
            <a:endParaRPr lang="en-US" altLang="zh-CN" dirty="0" smtClean="0">
              <a:cs typeface="+mn-cs"/>
            </a:endParaRPr>
          </a:p>
          <a:p>
            <a:pPr lvl="2"/>
            <a:r>
              <a:rPr lang="zh-CN" altLang="en-US" dirty="0"/>
              <a:t>欲最大化的</a:t>
            </a:r>
            <a:r>
              <a:rPr lang="zh-CN" altLang="en-US" dirty="0" smtClean="0"/>
              <a:t>目标函数为</a:t>
            </a:r>
            <a:endParaRPr lang="en-US" altLang="zh-CN" dirty="0" smtClean="0"/>
          </a:p>
          <a:p>
            <a:pPr lvl="1"/>
            <a:endParaRPr lang="zh-CN" altLang="en-US" dirty="0"/>
          </a:p>
          <a:p>
            <a:pPr lvl="1"/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FCE9F0A-462E-4C69-95AA-11A5CD682488}" type="slidenum">
              <a:rPr lang="en-US" altLang="zh-CN" smtClean="0"/>
            </a:fld>
            <a:endParaRPr lang="en-US" altLang="zh-CN"/>
          </a:p>
        </p:txBody>
      </p:sp>
      <p:graphicFrame>
        <p:nvGraphicFramePr>
          <p:cNvPr id="5" name="对象 4"/>
          <p:cNvGraphicFramePr>
            <a:graphicFrameLocks noChangeAspect="1"/>
          </p:cNvGraphicFramePr>
          <p:nvPr/>
        </p:nvGraphicFramePr>
        <p:xfrm>
          <a:off x="3872657" y="1773238"/>
          <a:ext cx="1995487" cy="4683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813" name="Equation" r:id="rId1" imgW="23469600" imgH="5486400" progId="Equation.DSMT4">
                  <p:embed/>
                </p:oleObj>
              </mc:Choice>
              <mc:Fallback>
                <p:oleObj name="Equation" r:id="rId1" imgW="23469600" imgH="5486400" progId="Equation.DSMT4">
                  <p:embed/>
                  <p:pic>
                    <p:nvPicPr>
                      <p:cNvPr id="0" name="图片 18812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3872657" y="1773238"/>
                        <a:ext cx="1995487" cy="46831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/>
          <p:cNvGraphicFramePr>
            <a:graphicFrameLocks noChangeAspect="1"/>
          </p:cNvGraphicFramePr>
          <p:nvPr/>
        </p:nvGraphicFramePr>
        <p:xfrm>
          <a:off x="4342407" y="2168912"/>
          <a:ext cx="388165" cy="46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814" name="Equation" r:id="rId3" imgW="4572000" imgH="5486400" progId="Equation.DSMT4">
                  <p:embed/>
                </p:oleObj>
              </mc:Choice>
              <mc:Fallback>
                <p:oleObj name="Equation" r:id="rId3" imgW="4572000" imgH="5486400" progId="Equation.DSMT4">
                  <p:embed/>
                  <p:pic>
                    <p:nvPicPr>
                      <p:cNvPr id="0" name="图片 18813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4342407" y="2168912"/>
                        <a:ext cx="388165" cy="468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6"/>
          <p:cNvGraphicFramePr>
            <a:graphicFrameLocks noChangeAspect="1"/>
          </p:cNvGraphicFramePr>
          <p:nvPr/>
        </p:nvGraphicFramePr>
        <p:xfrm>
          <a:off x="4946922" y="2492896"/>
          <a:ext cx="336550" cy="4683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815" name="Equation" r:id="rId5" imgW="3962400" imgH="5486400" progId="Equation.DSMT4">
                  <p:embed/>
                </p:oleObj>
              </mc:Choice>
              <mc:Fallback>
                <p:oleObj name="Equation" r:id="rId5" imgW="3962400" imgH="5486400" progId="Equation.DSMT4">
                  <p:embed/>
                  <p:pic>
                    <p:nvPicPr>
                      <p:cNvPr id="0" name="图片 18814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4946922" y="2492896"/>
                        <a:ext cx="336550" cy="46831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对象 7"/>
          <p:cNvGraphicFramePr>
            <a:graphicFrameLocks noChangeAspect="1"/>
          </p:cNvGraphicFramePr>
          <p:nvPr/>
        </p:nvGraphicFramePr>
        <p:xfrm>
          <a:off x="5229993" y="2924944"/>
          <a:ext cx="336550" cy="4683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816" name="Equation" r:id="rId7" imgW="3962400" imgH="5486400" progId="Equation.DSMT4">
                  <p:embed/>
                </p:oleObj>
              </mc:Choice>
              <mc:Fallback>
                <p:oleObj name="Equation" r:id="rId7" imgW="3962400" imgH="5486400" progId="Equation.DSMT4">
                  <p:embed/>
                  <p:pic>
                    <p:nvPicPr>
                      <p:cNvPr id="0" name="图片 18815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5229993" y="2924944"/>
                        <a:ext cx="336550" cy="46831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对象 8"/>
          <p:cNvGraphicFramePr>
            <a:graphicFrameLocks noChangeAspect="1"/>
          </p:cNvGraphicFramePr>
          <p:nvPr/>
        </p:nvGraphicFramePr>
        <p:xfrm>
          <a:off x="6307410" y="3248025"/>
          <a:ext cx="1504950" cy="468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817" name="Equation" r:id="rId9" imgW="17678400" imgH="5486400" progId="Equation.DSMT4">
                  <p:embed/>
                </p:oleObj>
              </mc:Choice>
              <mc:Fallback>
                <p:oleObj name="Equation" r:id="rId9" imgW="17678400" imgH="5486400" progId="Equation.DSMT4">
                  <p:embed/>
                  <p:pic>
                    <p:nvPicPr>
                      <p:cNvPr id="0" name="图片 18816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6307410" y="3248025"/>
                        <a:ext cx="1504950" cy="46831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对象 9"/>
          <p:cNvGraphicFramePr>
            <a:graphicFrameLocks noChangeAspect="1"/>
          </p:cNvGraphicFramePr>
          <p:nvPr/>
        </p:nvGraphicFramePr>
        <p:xfrm>
          <a:off x="4530972" y="3608388"/>
          <a:ext cx="1971675" cy="4683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818" name="Equation" r:id="rId11" imgW="23164800" imgH="5486400" progId="Equation.DSMT4">
                  <p:embed/>
                </p:oleObj>
              </mc:Choice>
              <mc:Fallback>
                <p:oleObj name="Equation" r:id="rId11" imgW="23164800" imgH="5486400" progId="Equation.DSMT4">
                  <p:embed/>
                  <p:pic>
                    <p:nvPicPr>
                      <p:cNvPr id="0" name="图片 18817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4530972" y="3608388"/>
                        <a:ext cx="1971675" cy="46831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对象 10"/>
          <p:cNvGraphicFramePr>
            <a:graphicFrameLocks noChangeAspect="1"/>
          </p:cNvGraphicFramePr>
          <p:nvPr/>
        </p:nvGraphicFramePr>
        <p:xfrm>
          <a:off x="3812902" y="4365625"/>
          <a:ext cx="2127250" cy="468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819" name="Equation" r:id="rId13" imgW="24993600" imgH="5486400" progId="Equation.DSMT4">
                  <p:embed/>
                </p:oleObj>
              </mc:Choice>
              <mc:Fallback>
                <p:oleObj name="Equation" r:id="rId13" imgW="24993600" imgH="5486400" progId="Equation.DSMT4">
                  <p:embed/>
                  <p:pic>
                    <p:nvPicPr>
                      <p:cNvPr id="0" name="图片 18818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3812902" y="4365625"/>
                        <a:ext cx="2127250" cy="46831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对象 11"/>
          <p:cNvGraphicFramePr>
            <a:graphicFrameLocks noChangeAspect="1"/>
          </p:cNvGraphicFramePr>
          <p:nvPr/>
        </p:nvGraphicFramePr>
        <p:xfrm>
          <a:off x="2921000" y="5048250"/>
          <a:ext cx="1997075" cy="468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820" name="Equation" r:id="rId15" imgW="23469600" imgH="5486400" progId="Equation.DSMT4">
                  <p:embed/>
                </p:oleObj>
              </mc:Choice>
              <mc:Fallback>
                <p:oleObj name="Equation" r:id="rId15" imgW="23469600" imgH="5486400" progId="Equation.DSMT4">
                  <p:embed/>
                  <p:pic>
                    <p:nvPicPr>
                      <p:cNvPr id="0" name="图片 18819"/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2921000" y="5048250"/>
                        <a:ext cx="1997075" cy="46831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对象 12"/>
          <p:cNvGraphicFramePr>
            <a:graphicFrameLocks noChangeAspect="1"/>
          </p:cNvGraphicFramePr>
          <p:nvPr/>
        </p:nvGraphicFramePr>
        <p:xfrm>
          <a:off x="1949450" y="5843588"/>
          <a:ext cx="6069013" cy="8334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821" name="Equation" r:id="rId17" imgW="71323200" imgH="9753600" progId="Equation.DSMT4">
                  <p:embed/>
                </p:oleObj>
              </mc:Choice>
              <mc:Fallback>
                <p:oleObj name="Equation" r:id="rId17" imgW="71323200" imgH="9753600" progId="Equation.DSMT4">
                  <p:embed/>
                  <p:pic>
                    <p:nvPicPr>
                      <p:cNvPr id="0" name="图片 18820"/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1949450" y="5843588"/>
                        <a:ext cx="6069013" cy="83343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cover dir="u"/>
  </p:transition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3.4 </a:t>
            </a:r>
            <a:r>
              <a:rPr lang="zh-CN" altLang="en-US" dirty="0"/>
              <a:t>线性判别分析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83568" y="836712"/>
            <a:ext cx="7772400" cy="5487888"/>
          </a:xfrm>
        </p:spPr>
        <p:txBody>
          <a:bodyPr/>
          <a:lstStyle/>
          <a:p>
            <a:r>
              <a:rPr lang="zh-CN" altLang="en-US" dirty="0"/>
              <a:t>目标函数</a:t>
            </a:r>
            <a:endParaRPr lang="en-US" altLang="zh-CN" dirty="0"/>
          </a:p>
          <a:p>
            <a:pPr lvl="1"/>
            <a:r>
              <a:rPr lang="zh-CN" altLang="en-US" dirty="0"/>
              <a:t>函数的</a:t>
            </a:r>
            <a:r>
              <a:rPr lang="zh-CN" altLang="en-US" dirty="0" smtClean="0"/>
              <a:t>表达</a:t>
            </a:r>
            <a:endParaRPr lang="en-US" altLang="zh-CN" dirty="0" smtClean="0"/>
          </a:p>
          <a:p>
            <a:pPr lvl="2"/>
            <a:r>
              <a:rPr lang="zh-CN" altLang="en-US" dirty="0"/>
              <a:t>定义</a:t>
            </a:r>
            <a:r>
              <a:rPr lang="zh-CN" altLang="en-US" dirty="0" smtClean="0"/>
              <a:t>类</a:t>
            </a:r>
            <a:r>
              <a:rPr lang="zh-CN" altLang="en-US" dirty="0"/>
              <a:t>内</a:t>
            </a:r>
            <a:r>
              <a:rPr lang="zh-CN" altLang="en-US" dirty="0" smtClean="0"/>
              <a:t>散度矩阵</a:t>
            </a:r>
            <a:endParaRPr lang="en-US" altLang="zh-CN" dirty="0" smtClean="0"/>
          </a:p>
          <a:p>
            <a:pPr lvl="2"/>
            <a:endParaRPr lang="en-US" altLang="zh-CN" dirty="0"/>
          </a:p>
          <a:p>
            <a:pPr lvl="2"/>
            <a:endParaRPr lang="en-US" altLang="zh-CN" dirty="0" smtClean="0"/>
          </a:p>
          <a:p>
            <a:pPr lvl="2"/>
            <a:endParaRPr lang="en-US" altLang="zh-CN" dirty="0"/>
          </a:p>
          <a:p>
            <a:pPr lvl="2">
              <a:spcBef>
                <a:spcPts val="600"/>
              </a:spcBef>
            </a:pPr>
            <a:r>
              <a:rPr lang="zh-CN" altLang="en-US" dirty="0" smtClean="0"/>
              <a:t>定义</a:t>
            </a:r>
            <a:r>
              <a:rPr lang="zh-CN" altLang="en-US" dirty="0"/>
              <a:t>类间散度</a:t>
            </a:r>
            <a:r>
              <a:rPr lang="zh-CN" altLang="en-US" dirty="0" smtClean="0"/>
              <a:t>矩阵</a:t>
            </a:r>
            <a:endParaRPr lang="en-US" altLang="zh-CN" dirty="0" smtClean="0"/>
          </a:p>
          <a:p>
            <a:pPr lvl="2"/>
            <a:endParaRPr lang="en-US" altLang="zh-CN" dirty="0"/>
          </a:p>
          <a:p>
            <a:pPr lvl="2">
              <a:spcBef>
                <a:spcPts val="600"/>
              </a:spcBef>
            </a:pPr>
            <a:r>
              <a:rPr lang="zh-CN" altLang="en-US" dirty="0" smtClean="0"/>
              <a:t>目标函数可写为</a:t>
            </a:r>
            <a:endParaRPr lang="en-US" altLang="zh-CN" dirty="0" smtClean="0"/>
          </a:p>
          <a:p>
            <a:pPr lvl="2"/>
            <a:endParaRPr lang="en-US" altLang="zh-CN" dirty="0"/>
          </a:p>
          <a:p>
            <a:pPr lvl="2"/>
            <a:endParaRPr lang="en-US" altLang="zh-CN" dirty="0" smtClean="0"/>
          </a:p>
          <a:p>
            <a:pPr lvl="3">
              <a:spcBef>
                <a:spcPts val="600"/>
              </a:spcBef>
            </a:pPr>
            <a:r>
              <a:rPr lang="zh-CN" altLang="en-US" dirty="0" smtClean="0"/>
              <a:t>即    与    的广义</a:t>
            </a:r>
            <a:r>
              <a:rPr lang="zh-CN" altLang="en-US" dirty="0"/>
              <a:t>瑞利</a:t>
            </a:r>
            <a:r>
              <a:rPr lang="zh-CN" altLang="en-US" dirty="0" smtClean="0"/>
              <a:t>商</a:t>
            </a:r>
            <a:endParaRPr lang="en-US" altLang="zh-CN" dirty="0" smtClean="0"/>
          </a:p>
          <a:p>
            <a:pPr lvl="3">
              <a:spcBef>
                <a:spcPts val="600"/>
              </a:spcBef>
            </a:pPr>
            <a:r>
              <a:rPr lang="en-US" altLang="zh-CN" dirty="0">
                <a:latin typeface="+mn-ea"/>
              </a:rPr>
              <a:t> </a:t>
            </a:r>
            <a:r>
              <a:rPr lang="en-US" altLang="zh-CN" dirty="0" smtClean="0">
                <a:latin typeface="+mn-ea"/>
              </a:rPr>
              <a:t> </a:t>
            </a:r>
            <a:r>
              <a:rPr lang="zh-CN" altLang="en-US" dirty="0" smtClean="0"/>
              <a:t>成倍</a:t>
            </a:r>
            <a:r>
              <a:rPr lang="zh-CN" altLang="en-US" dirty="0"/>
              <a:t>缩放不</a:t>
            </a:r>
            <a:r>
              <a:rPr lang="zh-CN" altLang="en-US" dirty="0" smtClean="0">
                <a:latin typeface="+mn-ea"/>
              </a:rPr>
              <a:t>影响</a:t>
            </a:r>
            <a:r>
              <a:rPr lang="en-US" altLang="zh-CN" i="1" dirty="0" smtClean="0">
                <a:latin typeface="+mn-ea"/>
              </a:rPr>
              <a:t>J </a:t>
            </a:r>
            <a:r>
              <a:rPr lang="zh-CN" altLang="en-US" dirty="0" smtClean="0">
                <a:latin typeface="+mn-ea"/>
              </a:rPr>
              <a:t>值仅</a:t>
            </a:r>
            <a:r>
              <a:rPr lang="zh-CN" altLang="en-US" dirty="0"/>
              <a:t>考虑方向</a:t>
            </a:r>
            <a:endParaRPr lang="en-US" altLang="zh-CN" dirty="0"/>
          </a:p>
          <a:p>
            <a:pPr lvl="2"/>
            <a:endParaRPr lang="en-US" altLang="zh-CN" dirty="0" smtClean="0"/>
          </a:p>
          <a:p>
            <a:pPr lvl="2"/>
            <a:endParaRPr lang="en-US" altLang="zh-CN" dirty="0" smtClean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FCE9F0A-462E-4C69-95AA-11A5CD682488}" type="slidenum">
              <a:rPr lang="en-US" altLang="zh-CN" smtClean="0"/>
            </a:fld>
            <a:endParaRPr lang="en-US" altLang="zh-CN"/>
          </a:p>
        </p:txBody>
      </p:sp>
      <p:graphicFrame>
        <p:nvGraphicFramePr>
          <p:cNvPr id="5" name="对象 4"/>
          <p:cNvGraphicFramePr>
            <a:graphicFrameLocks noChangeAspect="1"/>
          </p:cNvGraphicFramePr>
          <p:nvPr/>
        </p:nvGraphicFramePr>
        <p:xfrm>
          <a:off x="1887538" y="2211388"/>
          <a:ext cx="6302375" cy="1146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048" name="Equation" r:id="rId1" imgW="74066400" imgH="13411200" progId="Equation.DSMT4">
                  <p:embed/>
                </p:oleObj>
              </mc:Choice>
              <mc:Fallback>
                <p:oleObj name="Equation" r:id="rId1" imgW="74066400" imgH="13411200" progId="Equation.DSMT4">
                  <p:embed/>
                  <p:pic>
                    <p:nvPicPr>
                      <p:cNvPr id="0" name="图片 13047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1887538" y="2211388"/>
                        <a:ext cx="6302375" cy="11461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/>
          <p:cNvGraphicFramePr>
            <a:graphicFrameLocks noChangeAspect="1"/>
          </p:cNvGraphicFramePr>
          <p:nvPr/>
        </p:nvGraphicFramePr>
        <p:xfrm>
          <a:off x="3036888" y="3716338"/>
          <a:ext cx="3062287" cy="4683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049" name="Equation" r:id="rId3" imgW="35966400" imgH="5486400" progId="Equation.DSMT4">
                  <p:embed/>
                </p:oleObj>
              </mc:Choice>
              <mc:Fallback>
                <p:oleObj name="Equation" r:id="rId3" imgW="35966400" imgH="5486400" progId="Equation.DSMT4">
                  <p:embed/>
                  <p:pic>
                    <p:nvPicPr>
                      <p:cNvPr id="0" name="图片 13048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036888" y="3716338"/>
                        <a:ext cx="3062287" cy="46831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6"/>
          <p:cNvGraphicFramePr>
            <a:graphicFrameLocks noChangeAspect="1"/>
          </p:cNvGraphicFramePr>
          <p:nvPr/>
        </p:nvGraphicFramePr>
        <p:xfrm>
          <a:off x="3482570" y="4467770"/>
          <a:ext cx="1582738" cy="8334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050" name="Equation" r:id="rId5" imgW="18592800" imgH="9753600" progId="Equation.DSMT4">
                  <p:embed/>
                </p:oleObj>
              </mc:Choice>
              <mc:Fallback>
                <p:oleObj name="Equation" r:id="rId5" imgW="18592800" imgH="9753600" progId="Equation.DSMT4">
                  <p:embed/>
                  <p:pic>
                    <p:nvPicPr>
                      <p:cNvPr id="0" name="图片 13049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3482570" y="4467770"/>
                        <a:ext cx="1582738" cy="83343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对象 7"/>
          <p:cNvGraphicFramePr>
            <a:graphicFrameLocks noChangeAspect="1"/>
          </p:cNvGraphicFramePr>
          <p:nvPr/>
        </p:nvGraphicFramePr>
        <p:xfrm>
          <a:off x="2623952" y="5315145"/>
          <a:ext cx="328882" cy="396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051" name="Equation" r:id="rId7" imgW="4572000" imgH="5486400" progId="Equation.DSMT4">
                  <p:embed/>
                </p:oleObj>
              </mc:Choice>
              <mc:Fallback>
                <p:oleObj name="Equation" r:id="rId7" imgW="4572000" imgH="5486400" progId="Equation.DSMT4">
                  <p:embed/>
                  <p:pic>
                    <p:nvPicPr>
                      <p:cNvPr id="0" name="图片 13050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2623952" y="5315145"/>
                        <a:ext cx="328882" cy="396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对象 8"/>
          <p:cNvGraphicFramePr>
            <a:graphicFrameLocks noChangeAspect="1"/>
          </p:cNvGraphicFramePr>
          <p:nvPr/>
        </p:nvGraphicFramePr>
        <p:xfrm>
          <a:off x="3170129" y="5304975"/>
          <a:ext cx="352425" cy="3952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052" name="Equation" r:id="rId9" imgW="4876800" imgH="5486400" progId="Equation.DSMT4">
                  <p:embed/>
                </p:oleObj>
              </mc:Choice>
              <mc:Fallback>
                <p:oleObj name="Equation" r:id="rId9" imgW="4876800" imgH="5486400" progId="Equation.DSMT4">
                  <p:embed/>
                  <p:pic>
                    <p:nvPicPr>
                      <p:cNvPr id="0" name="图片 13051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3170129" y="5304975"/>
                        <a:ext cx="352425" cy="3952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对象 9"/>
          <p:cNvGraphicFramePr>
            <a:graphicFrameLocks noChangeAspect="1"/>
          </p:cNvGraphicFramePr>
          <p:nvPr/>
        </p:nvGraphicFramePr>
        <p:xfrm>
          <a:off x="2381250" y="5779988"/>
          <a:ext cx="261938" cy="241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053" name="Equation" r:id="rId11" imgW="3657600" imgH="3352800" progId="Equation.DSMT4">
                  <p:embed/>
                </p:oleObj>
              </mc:Choice>
              <mc:Fallback>
                <p:oleObj name="Equation" r:id="rId11" imgW="3657600" imgH="3352800" progId="Equation.DSMT4">
                  <p:embed/>
                  <p:pic>
                    <p:nvPicPr>
                      <p:cNvPr id="0" name="图片 13052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2381250" y="5779988"/>
                        <a:ext cx="261938" cy="2413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cover dir="u"/>
  </p:transition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3.4 </a:t>
            </a:r>
            <a:r>
              <a:rPr lang="zh-CN" altLang="en-US" dirty="0"/>
              <a:t>线性判别分析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目标函数</a:t>
            </a:r>
            <a:endParaRPr lang="en-US" altLang="zh-CN" dirty="0"/>
          </a:p>
          <a:p>
            <a:pPr lvl="1"/>
            <a:r>
              <a:rPr lang="zh-CN" altLang="en-US" dirty="0"/>
              <a:t>求解</a:t>
            </a:r>
            <a:endParaRPr lang="en-US" altLang="zh-CN" dirty="0"/>
          </a:p>
          <a:p>
            <a:pPr lvl="2"/>
            <a:r>
              <a:rPr lang="zh-CN" altLang="en-US" dirty="0"/>
              <a:t>令 </a:t>
            </a:r>
            <a:r>
              <a:rPr lang="zh-CN" altLang="en-US" dirty="0" smtClean="0"/>
              <a:t>                ，</a:t>
            </a:r>
            <a:r>
              <a:rPr lang="zh-CN" altLang="en-US" dirty="0"/>
              <a:t>最大化广义瑞利商</a:t>
            </a:r>
            <a:r>
              <a:rPr lang="zh-CN" altLang="en-US" dirty="0" smtClean="0"/>
              <a:t>等价为</a:t>
            </a:r>
            <a:endParaRPr lang="en-US" altLang="zh-CN" dirty="0" smtClean="0"/>
          </a:p>
          <a:p>
            <a:pPr lvl="2"/>
            <a:endParaRPr lang="en-US" altLang="zh-CN" dirty="0"/>
          </a:p>
          <a:p>
            <a:pPr lvl="2"/>
            <a:endParaRPr lang="en-US" altLang="zh-CN" dirty="0" smtClean="0"/>
          </a:p>
          <a:p>
            <a:pPr lvl="2"/>
            <a:endParaRPr lang="en-US" altLang="zh-CN" dirty="0"/>
          </a:p>
          <a:p>
            <a:pPr lvl="2"/>
            <a:r>
              <a:rPr lang="zh-CN" altLang="en-US" dirty="0"/>
              <a:t>用</a:t>
            </a:r>
            <a:r>
              <a:rPr lang="zh-CN" altLang="en-US" dirty="0" smtClean="0"/>
              <a:t>拉格朗日乘子法，有</a:t>
            </a:r>
            <a:endParaRPr lang="en-US" altLang="zh-CN" dirty="0" smtClean="0"/>
          </a:p>
          <a:p>
            <a:pPr lvl="2"/>
            <a:endParaRPr lang="en-US" altLang="zh-CN" dirty="0"/>
          </a:p>
          <a:p>
            <a:pPr marL="914400" lvl="2" indent="0">
              <a:buNone/>
            </a:pPr>
            <a:r>
              <a:rPr lang="zh-CN" altLang="en-US" dirty="0" smtClean="0"/>
              <a:t>         的</a:t>
            </a:r>
            <a:r>
              <a:rPr lang="zh-CN" altLang="en-US" dirty="0"/>
              <a:t>方向恒</a:t>
            </a:r>
            <a:r>
              <a:rPr lang="zh-CN" altLang="en-US" dirty="0" smtClean="0"/>
              <a:t>为           ，可令                           ，有</a:t>
            </a:r>
            <a:endParaRPr lang="en-US" altLang="zh-CN" dirty="0" smtClean="0"/>
          </a:p>
          <a:p>
            <a:pPr marL="914400" lvl="2" indent="0">
              <a:buNone/>
            </a:pPr>
            <a:endParaRPr lang="en-US" altLang="zh-CN" dirty="0"/>
          </a:p>
          <a:p>
            <a:pPr marL="914400" lvl="2" indent="0">
              <a:buNone/>
            </a:pPr>
            <a:r>
              <a:rPr lang="zh-CN" altLang="en-US" dirty="0"/>
              <a:t>实践中通常是进行</a:t>
            </a:r>
            <a:r>
              <a:rPr lang="zh-CN" altLang="en-US" dirty="0" smtClean="0"/>
              <a:t>奇异值分解</a:t>
            </a:r>
            <a:endParaRPr lang="en-US" altLang="zh-CN" dirty="0" smtClean="0"/>
          </a:p>
          <a:p>
            <a:pPr marL="914400" lvl="2" indent="0">
              <a:buNone/>
            </a:pPr>
            <a:r>
              <a:rPr lang="zh-CN" altLang="en-US" dirty="0"/>
              <a:t>然后</a:t>
            </a:r>
            <a:r>
              <a:rPr lang="zh-CN" altLang="en-US" dirty="0" smtClean="0"/>
              <a:t> </a:t>
            </a:r>
            <a:endParaRPr lang="zh-CN" altLang="en-US" dirty="0"/>
          </a:p>
          <a:p>
            <a:pPr marL="914400" lvl="2" indent="0">
              <a:buNone/>
            </a:pPr>
            <a:endParaRPr lang="en-US" altLang="zh-CN" dirty="0" smtClean="0"/>
          </a:p>
          <a:p>
            <a:pPr lvl="2"/>
            <a:endParaRPr lang="en-US" altLang="zh-CN" dirty="0"/>
          </a:p>
          <a:p>
            <a:pPr lvl="2"/>
            <a:endParaRPr lang="zh-CN" altLang="en-US" dirty="0"/>
          </a:p>
          <a:p>
            <a:pPr lvl="2"/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FCE9F0A-462E-4C69-95AA-11A5CD682488}" type="slidenum">
              <a:rPr lang="en-US" altLang="zh-CN" smtClean="0"/>
            </a:fld>
            <a:endParaRPr lang="en-US" altLang="zh-CN"/>
          </a:p>
        </p:txBody>
      </p:sp>
      <p:graphicFrame>
        <p:nvGraphicFramePr>
          <p:cNvPr id="5" name="对象 4"/>
          <p:cNvGraphicFramePr>
            <a:graphicFrameLocks noChangeAspect="1"/>
          </p:cNvGraphicFramePr>
          <p:nvPr/>
        </p:nvGraphicFramePr>
        <p:xfrm>
          <a:off x="2178050" y="1449388"/>
          <a:ext cx="466725" cy="3952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034" name="Equation" r:id="rId1" imgW="3962400" imgH="3352800" progId="Equation.DSMT4">
                  <p:embed/>
                </p:oleObj>
              </mc:Choice>
              <mc:Fallback>
                <p:oleObj name="Equation" r:id="rId1" imgW="3962400" imgH="3352800" progId="Equation.DSMT4">
                  <p:embed/>
                  <p:pic>
                    <p:nvPicPr>
                      <p:cNvPr id="0" name="图片 14033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2178050" y="1449388"/>
                        <a:ext cx="466725" cy="3952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/>
          <p:cNvGraphicFramePr>
            <a:graphicFrameLocks noChangeAspect="1"/>
          </p:cNvGraphicFramePr>
          <p:nvPr/>
        </p:nvGraphicFramePr>
        <p:xfrm>
          <a:off x="2193925" y="1773238"/>
          <a:ext cx="1565275" cy="5032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035" name="Equation" r:id="rId3" imgW="17068800" imgH="5486400" progId="Equation.DSMT4">
                  <p:embed/>
                </p:oleObj>
              </mc:Choice>
              <mc:Fallback>
                <p:oleObj name="Equation" r:id="rId3" imgW="17068800" imgH="5486400" progId="Equation.DSMT4">
                  <p:embed/>
                  <p:pic>
                    <p:nvPicPr>
                      <p:cNvPr id="0" name="图片 14034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193925" y="1773238"/>
                        <a:ext cx="1565275" cy="50323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6"/>
          <p:cNvGraphicFramePr>
            <a:graphicFrameLocks noChangeAspect="1"/>
          </p:cNvGraphicFramePr>
          <p:nvPr/>
        </p:nvGraphicFramePr>
        <p:xfrm>
          <a:off x="3387725" y="2205038"/>
          <a:ext cx="2206625" cy="10048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036" name="Equation" r:id="rId5" imgW="24079200" imgH="10972800" progId="Equation.DSMT4">
                  <p:embed/>
                </p:oleObj>
              </mc:Choice>
              <mc:Fallback>
                <p:oleObj name="Equation" r:id="rId5" imgW="24079200" imgH="10972800" progId="Equation.DSMT4">
                  <p:embed/>
                  <p:pic>
                    <p:nvPicPr>
                      <p:cNvPr id="0" name="图片 14035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3387725" y="2205038"/>
                        <a:ext cx="2206625" cy="10048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对象 7"/>
          <p:cNvGraphicFramePr>
            <a:graphicFrameLocks noChangeAspect="1"/>
          </p:cNvGraphicFramePr>
          <p:nvPr/>
        </p:nvGraphicFramePr>
        <p:xfrm>
          <a:off x="3465513" y="3573016"/>
          <a:ext cx="1814512" cy="501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037" name="Equation" r:id="rId7" imgW="19812000" imgH="5486400" progId="Equation.DSMT4">
                  <p:embed/>
                </p:oleObj>
              </mc:Choice>
              <mc:Fallback>
                <p:oleObj name="Equation" r:id="rId7" imgW="19812000" imgH="5486400" progId="Equation.DSMT4">
                  <p:embed/>
                  <p:pic>
                    <p:nvPicPr>
                      <p:cNvPr id="0" name="图片 14036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3465513" y="3573016"/>
                        <a:ext cx="1814512" cy="5016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对象 8"/>
          <p:cNvGraphicFramePr>
            <a:graphicFrameLocks noChangeAspect="1"/>
          </p:cNvGraphicFramePr>
          <p:nvPr/>
        </p:nvGraphicFramePr>
        <p:xfrm>
          <a:off x="1843087" y="3935462"/>
          <a:ext cx="669925" cy="501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038" name="Equation" r:id="rId9" imgW="7315200" imgH="5486400" progId="Equation.DSMT4">
                  <p:embed/>
                </p:oleObj>
              </mc:Choice>
              <mc:Fallback>
                <p:oleObj name="Equation" r:id="rId9" imgW="7315200" imgH="5486400" progId="Equation.DSMT4">
                  <p:embed/>
                  <p:pic>
                    <p:nvPicPr>
                      <p:cNvPr id="0" name="图片 14037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843087" y="3935462"/>
                        <a:ext cx="669925" cy="5016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对象 9"/>
          <p:cNvGraphicFramePr>
            <a:graphicFrameLocks noChangeAspect="1"/>
          </p:cNvGraphicFramePr>
          <p:nvPr/>
        </p:nvGraphicFramePr>
        <p:xfrm>
          <a:off x="4067944" y="3933825"/>
          <a:ext cx="960437" cy="468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039" name="Equation" r:id="rId11" imgW="11277600" imgH="5486400" progId="Equation.DSMT4">
                  <p:embed/>
                </p:oleObj>
              </mc:Choice>
              <mc:Fallback>
                <p:oleObj name="Equation" r:id="rId11" imgW="11277600" imgH="5486400" progId="Equation.DSMT4">
                  <p:embed/>
                  <p:pic>
                    <p:nvPicPr>
                      <p:cNvPr id="0" name="图片 14038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4067944" y="3933825"/>
                        <a:ext cx="960437" cy="46831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对象 10"/>
          <p:cNvGraphicFramePr>
            <a:graphicFrameLocks noChangeAspect="1"/>
          </p:cNvGraphicFramePr>
          <p:nvPr/>
        </p:nvGraphicFramePr>
        <p:xfrm>
          <a:off x="5914529" y="3935413"/>
          <a:ext cx="2401887" cy="501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040" name="Equation" r:id="rId13" imgW="26212800" imgH="5486400" progId="Equation.DSMT4">
                  <p:embed/>
                </p:oleObj>
              </mc:Choice>
              <mc:Fallback>
                <p:oleObj name="Equation" r:id="rId13" imgW="26212800" imgH="5486400" progId="Equation.DSMT4">
                  <p:embed/>
                  <p:pic>
                    <p:nvPicPr>
                      <p:cNvPr id="0" name="图片 14039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5914529" y="3935413"/>
                        <a:ext cx="2401887" cy="5016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对象 11"/>
          <p:cNvGraphicFramePr>
            <a:graphicFrameLocks noChangeAspect="1"/>
          </p:cNvGraphicFramePr>
          <p:nvPr/>
        </p:nvGraphicFramePr>
        <p:xfrm>
          <a:off x="3384550" y="4482951"/>
          <a:ext cx="2346325" cy="530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041" name="Equation" r:id="rId15" imgW="25603200" imgH="5791200" progId="Equation.DSMT4">
                  <p:embed/>
                </p:oleObj>
              </mc:Choice>
              <mc:Fallback>
                <p:oleObj name="Equation" r:id="rId15" imgW="25603200" imgH="5791200" progId="Equation.DSMT4">
                  <p:embed/>
                  <p:pic>
                    <p:nvPicPr>
                      <p:cNvPr id="0" name="图片 14040"/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3384550" y="4482951"/>
                        <a:ext cx="2346325" cy="5302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对象 12"/>
          <p:cNvGraphicFramePr>
            <a:graphicFrameLocks noChangeAspect="1"/>
          </p:cNvGraphicFramePr>
          <p:nvPr/>
        </p:nvGraphicFramePr>
        <p:xfrm>
          <a:off x="5730875" y="5031124"/>
          <a:ext cx="1703388" cy="530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042" name="Equation" r:id="rId17" imgW="18592800" imgH="5791200" progId="Equation.DSMT4">
                  <p:embed/>
                </p:oleObj>
              </mc:Choice>
              <mc:Fallback>
                <p:oleObj name="Equation" r:id="rId17" imgW="18592800" imgH="5791200" progId="Equation.DSMT4">
                  <p:embed/>
                  <p:pic>
                    <p:nvPicPr>
                      <p:cNvPr id="0" name="图片 14041"/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5730875" y="5031124"/>
                        <a:ext cx="1703388" cy="5302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对象 13"/>
          <p:cNvGraphicFramePr>
            <a:graphicFrameLocks noChangeAspect="1"/>
          </p:cNvGraphicFramePr>
          <p:nvPr/>
        </p:nvGraphicFramePr>
        <p:xfrm>
          <a:off x="3381375" y="5563761"/>
          <a:ext cx="1982788" cy="530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043" name="Equation" r:id="rId19" imgW="21640800" imgH="5791200" progId="Equation.DSMT4">
                  <p:embed/>
                </p:oleObj>
              </mc:Choice>
              <mc:Fallback>
                <p:oleObj name="Equation" r:id="rId19" imgW="21640800" imgH="5791200" progId="Equation.DSMT4">
                  <p:embed/>
                  <p:pic>
                    <p:nvPicPr>
                      <p:cNvPr id="0" name="图片 14042"/>
                      <p:cNvPicPr/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3381375" y="5563761"/>
                        <a:ext cx="1982788" cy="5302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cover dir="u"/>
  </p:transition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3.4 </a:t>
            </a:r>
            <a:r>
              <a:rPr lang="zh-CN" altLang="en-US" dirty="0"/>
              <a:t>线性判别分析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67544" y="908720"/>
            <a:ext cx="8219256" cy="4690864"/>
          </a:xfrm>
        </p:spPr>
        <p:txBody>
          <a:bodyPr/>
          <a:lstStyle/>
          <a:p>
            <a:r>
              <a:rPr lang="zh-CN" altLang="en-US" dirty="0"/>
              <a:t>推广到多类</a:t>
            </a:r>
            <a:endParaRPr lang="zh-CN" altLang="en-US" dirty="0"/>
          </a:p>
          <a:p>
            <a:pPr lvl="1"/>
            <a:r>
              <a:rPr lang="zh-CN" altLang="en-US" dirty="0" smtClean="0">
                <a:latin typeface="+mn-ea"/>
              </a:rPr>
              <a:t>有</a:t>
            </a:r>
            <a:r>
              <a:rPr lang="en-US" altLang="zh-CN" dirty="0" smtClean="0">
                <a:latin typeface="+mn-ea"/>
              </a:rPr>
              <a:t>N</a:t>
            </a:r>
            <a:r>
              <a:rPr lang="zh-CN" altLang="en-US" dirty="0">
                <a:latin typeface="+mn-ea"/>
              </a:rPr>
              <a:t>个类，第</a:t>
            </a:r>
            <a:r>
              <a:rPr lang="en-US" altLang="zh-CN" dirty="0" err="1">
                <a:latin typeface="+mn-ea"/>
              </a:rPr>
              <a:t>i</a:t>
            </a:r>
            <a:r>
              <a:rPr lang="zh-CN" altLang="en-US" dirty="0">
                <a:latin typeface="+mn-ea"/>
              </a:rPr>
              <a:t>类示例数为  </a:t>
            </a:r>
            <a:r>
              <a:rPr lang="zh-CN" altLang="en-US" dirty="0" smtClean="0">
                <a:latin typeface="+mn-ea"/>
              </a:rPr>
              <a:t>，所有</a:t>
            </a:r>
            <a:r>
              <a:rPr lang="zh-CN" altLang="en-US" dirty="0">
                <a:latin typeface="+mn-ea"/>
              </a:rPr>
              <a:t>示例的</a:t>
            </a:r>
            <a:r>
              <a:rPr lang="zh-CN" altLang="en-US" dirty="0" smtClean="0">
                <a:latin typeface="+mn-ea"/>
              </a:rPr>
              <a:t>均值向量为</a:t>
            </a:r>
            <a:endParaRPr lang="en-US" altLang="zh-CN" dirty="0" smtClean="0">
              <a:latin typeface="+mn-ea"/>
            </a:endParaRPr>
          </a:p>
          <a:p>
            <a:pPr lvl="2"/>
            <a:r>
              <a:rPr lang="zh-CN" altLang="en-US" dirty="0">
                <a:latin typeface="+mn-ea"/>
              </a:rPr>
              <a:t>定义类间散度</a:t>
            </a:r>
            <a:r>
              <a:rPr lang="zh-CN" altLang="en-US" dirty="0" smtClean="0">
                <a:latin typeface="+mn-ea"/>
              </a:rPr>
              <a:t>矩阵</a:t>
            </a:r>
            <a:endParaRPr lang="en-US" altLang="zh-CN" dirty="0" smtClean="0">
              <a:latin typeface="+mn-ea"/>
            </a:endParaRPr>
          </a:p>
          <a:p>
            <a:pPr lvl="2"/>
            <a:endParaRPr lang="en-US" altLang="zh-CN" dirty="0" smtClean="0">
              <a:latin typeface="+mn-ea"/>
            </a:endParaRPr>
          </a:p>
          <a:p>
            <a:pPr lvl="2"/>
            <a:endParaRPr lang="en-US" altLang="zh-CN" dirty="0">
              <a:latin typeface="+mn-ea"/>
            </a:endParaRPr>
          </a:p>
          <a:p>
            <a:pPr lvl="2">
              <a:spcBef>
                <a:spcPts val="1800"/>
              </a:spcBef>
            </a:pPr>
            <a:r>
              <a:rPr lang="zh-CN" altLang="en-US" dirty="0" smtClean="0">
                <a:latin typeface="+mn-ea"/>
              </a:rPr>
              <a:t>类</a:t>
            </a:r>
            <a:r>
              <a:rPr lang="zh-CN" altLang="en-US" dirty="0">
                <a:latin typeface="+mn-ea"/>
              </a:rPr>
              <a:t>内散度</a:t>
            </a:r>
            <a:r>
              <a:rPr lang="zh-CN" altLang="en-US" dirty="0" smtClean="0">
                <a:latin typeface="+mn-ea"/>
              </a:rPr>
              <a:t>矩阵</a:t>
            </a:r>
            <a:endParaRPr lang="en-US" altLang="zh-CN" dirty="0" smtClean="0">
              <a:latin typeface="+mn-ea"/>
            </a:endParaRPr>
          </a:p>
          <a:p>
            <a:pPr lvl="2">
              <a:spcBef>
                <a:spcPts val="600"/>
              </a:spcBef>
            </a:pPr>
            <a:endParaRPr lang="en-US" altLang="zh-CN" dirty="0" smtClean="0">
              <a:latin typeface="+mn-ea"/>
            </a:endParaRPr>
          </a:p>
          <a:p>
            <a:pPr lvl="2"/>
            <a:endParaRPr lang="en-US" altLang="zh-CN" dirty="0">
              <a:latin typeface="+mn-ea"/>
            </a:endParaRPr>
          </a:p>
          <a:p>
            <a:pPr lvl="2">
              <a:spcBef>
                <a:spcPts val="1800"/>
              </a:spcBef>
            </a:pPr>
            <a:r>
              <a:rPr lang="zh-CN" altLang="en-US" dirty="0">
                <a:latin typeface="+mn-ea"/>
              </a:rPr>
              <a:t>全局散度矩阵</a:t>
            </a:r>
            <a:endParaRPr lang="zh-CN" altLang="en-US" dirty="0">
              <a:latin typeface="+mn-ea"/>
            </a:endParaRPr>
          </a:p>
          <a:p>
            <a:pPr lvl="2"/>
            <a:endParaRPr lang="en-US" altLang="zh-CN" dirty="0" smtClean="0">
              <a:latin typeface="+mn-ea"/>
            </a:endParaRPr>
          </a:p>
          <a:p>
            <a:pPr lvl="1"/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FCE9F0A-462E-4C69-95AA-11A5CD682488}" type="slidenum">
              <a:rPr lang="en-US" altLang="zh-CN" smtClean="0"/>
            </a:fld>
            <a:endParaRPr lang="en-US" altLang="zh-CN" dirty="0"/>
          </a:p>
        </p:txBody>
      </p:sp>
      <p:graphicFrame>
        <p:nvGraphicFramePr>
          <p:cNvPr id="5" name="对象 4"/>
          <p:cNvGraphicFramePr>
            <a:graphicFrameLocks noChangeAspect="1"/>
          </p:cNvGraphicFramePr>
          <p:nvPr/>
        </p:nvGraphicFramePr>
        <p:xfrm>
          <a:off x="5292079" y="1447758"/>
          <a:ext cx="419053" cy="540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725" name="Equation" r:id="rId1" imgW="4267200" imgH="5486400" progId="Equation.DSMT4">
                  <p:embed/>
                </p:oleObj>
              </mc:Choice>
              <mc:Fallback>
                <p:oleObj name="Equation" r:id="rId1" imgW="4267200" imgH="5486400" progId="Equation.DSMT4">
                  <p:embed/>
                  <p:pic>
                    <p:nvPicPr>
                      <p:cNvPr id="0" name="图片 14724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5292079" y="1447758"/>
                        <a:ext cx="419053" cy="540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/>
          <p:cNvGraphicFramePr>
            <a:graphicFrameLocks noChangeAspect="1"/>
          </p:cNvGraphicFramePr>
          <p:nvPr/>
        </p:nvGraphicFramePr>
        <p:xfrm>
          <a:off x="2699792" y="2686822"/>
          <a:ext cx="3717467" cy="936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726" name="Equation" r:id="rId3" imgW="41148000" imgH="10363200" progId="Equation.DSMT4">
                  <p:embed/>
                </p:oleObj>
              </mc:Choice>
              <mc:Fallback>
                <p:oleObj name="Equation" r:id="rId3" imgW="41148000" imgH="10363200" progId="Equation.DSMT4">
                  <p:embed/>
                  <p:pic>
                    <p:nvPicPr>
                      <p:cNvPr id="0" name="图片 14725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699792" y="2686822"/>
                        <a:ext cx="3717467" cy="936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6"/>
          <p:cNvGraphicFramePr>
            <a:graphicFrameLocks noChangeAspect="1"/>
          </p:cNvGraphicFramePr>
          <p:nvPr/>
        </p:nvGraphicFramePr>
        <p:xfrm>
          <a:off x="2442123" y="1951045"/>
          <a:ext cx="334737" cy="360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727" name="Equation" r:id="rId5" imgW="3657600" imgH="3962400" progId="Equation.DSMT4">
                  <p:embed/>
                </p:oleObj>
              </mc:Choice>
              <mc:Fallback>
                <p:oleObj name="Equation" r:id="rId5" imgW="3657600" imgH="3962400" progId="Equation.DSMT4">
                  <p:embed/>
                  <p:pic>
                    <p:nvPicPr>
                      <p:cNvPr id="0" name="图片 14726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442123" y="1951045"/>
                        <a:ext cx="334737" cy="360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对象 7"/>
          <p:cNvGraphicFramePr>
            <a:graphicFrameLocks noChangeAspect="1"/>
          </p:cNvGraphicFramePr>
          <p:nvPr/>
        </p:nvGraphicFramePr>
        <p:xfrm>
          <a:off x="2699792" y="4041176"/>
          <a:ext cx="4755857" cy="972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728" name="Equation" r:id="rId7" imgW="53644800" imgH="10972800" progId="Equation.DSMT4">
                  <p:embed/>
                </p:oleObj>
              </mc:Choice>
              <mc:Fallback>
                <p:oleObj name="Equation" r:id="rId7" imgW="53644800" imgH="10972800" progId="Equation.DSMT4">
                  <p:embed/>
                  <p:pic>
                    <p:nvPicPr>
                      <p:cNvPr id="0" name="图片 14727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2699792" y="4041176"/>
                        <a:ext cx="4755857" cy="972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对象 8"/>
          <p:cNvGraphicFramePr>
            <a:graphicFrameLocks noChangeAspect="1"/>
          </p:cNvGraphicFramePr>
          <p:nvPr/>
        </p:nvGraphicFramePr>
        <p:xfrm>
          <a:off x="2699792" y="5445328"/>
          <a:ext cx="4737489" cy="936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729" name="Equation" r:id="rId9" imgW="52425600" imgH="10363200" progId="Equation.DSMT4">
                  <p:embed/>
                </p:oleObj>
              </mc:Choice>
              <mc:Fallback>
                <p:oleObj name="Equation" r:id="rId9" imgW="52425600" imgH="10363200" progId="Equation.DSMT4">
                  <p:embed/>
                  <p:pic>
                    <p:nvPicPr>
                      <p:cNvPr id="0" name="图片 14728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2699792" y="5445328"/>
                        <a:ext cx="4737489" cy="936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cover dir="u"/>
  </p:transition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3.4 </a:t>
            </a:r>
            <a:r>
              <a:rPr lang="zh-CN" altLang="en-US" dirty="0"/>
              <a:t>线性判别分析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67544" y="908720"/>
            <a:ext cx="8219256" cy="5760640"/>
          </a:xfrm>
        </p:spPr>
        <p:txBody>
          <a:bodyPr/>
          <a:lstStyle/>
          <a:p>
            <a:r>
              <a:rPr lang="zh-CN" altLang="en-US" dirty="0"/>
              <a:t>推广到多类</a:t>
            </a:r>
            <a:endParaRPr lang="zh-CN" altLang="en-US" dirty="0"/>
          </a:p>
          <a:p>
            <a:pPr lvl="1"/>
            <a:r>
              <a:rPr lang="zh-CN" altLang="en-US" dirty="0" smtClean="0">
                <a:latin typeface="+mn-ea"/>
              </a:rPr>
              <a:t>多</a:t>
            </a:r>
            <a:r>
              <a:rPr lang="zh-CN" altLang="en-US" dirty="0">
                <a:latin typeface="+mn-ea"/>
              </a:rPr>
              <a:t>分类</a:t>
            </a:r>
            <a:r>
              <a:rPr lang="en-US" altLang="zh-CN" dirty="0" smtClean="0">
                <a:latin typeface="+mn-ea"/>
              </a:rPr>
              <a:t>LDA</a:t>
            </a:r>
            <a:r>
              <a:rPr lang="zh-CN" altLang="en-US" dirty="0" smtClean="0">
                <a:latin typeface="+mn-ea"/>
              </a:rPr>
              <a:t>有</a:t>
            </a:r>
            <a:r>
              <a:rPr lang="zh-CN" altLang="en-US" dirty="0">
                <a:latin typeface="+mn-ea"/>
              </a:rPr>
              <a:t>多种实现</a:t>
            </a:r>
            <a:r>
              <a:rPr lang="zh-CN" altLang="en-US" dirty="0" smtClean="0">
                <a:latin typeface="+mn-ea"/>
              </a:rPr>
              <a:t>方法</a:t>
            </a:r>
            <a:r>
              <a:rPr lang="zh-CN" altLang="en-US" dirty="0" smtClean="0">
                <a:latin typeface="+mn-ea"/>
              </a:rPr>
              <a:t>，</a:t>
            </a:r>
            <a:r>
              <a:rPr lang="zh-CN" altLang="en-US" dirty="0">
                <a:latin typeface="+mn-ea"/>
              </a:rPr>
              <a:t>可</a:t>
            </a:r>
            <a:r>
              <a:rPr lang="zh-CN" altLang="en-US" dirty="0" smtClean="0">
                <a:latin typeface="+mn-ea"/>
              </a:rPr>
              <a:t>使用</a:t>
            </a:r>
            <a:r>
              <a:rPr lang="zh-CN" altLang="en-US" dirty="0" smtClean="0">
                <a:latin typeface="+mn-ea"/>
              </a:rPr>
              <a:t>三</a:t>
            </a:r>
            <a:r>
              <a:rPr lang="zh-CN" altLang="en-US" dirty="0">
                <a:latin typeface="+mn-ea"/>
              </a:rPr>
              <a:t>者中的任何</a:t>
            </a:r>
            <a:r>
              <a:rPr lang="zh-CN" altLang="en-US" dirty="0" smtClean="0">
                <a:latin typeface="+mn-ea"/>
              </a:rPr>
              <a:t>两个</a:t>
            </a:r>
            <a:r>
              <a:rPr lang="zh-CN" altLang="en-US" dirty="0">
                <a:latin typeface="+mn-ea"/>
              </a:rPr>
              <a:t>即</a:t>
            </a:r>
            <a:r>
              <a:rPr lang="zh-CN" altLang="en-US" dirty="0" smtClean="0">
                <a:latin typeface="+mn-ea"/>
              </a:rPr>
              <a:t>可</a:t>
            </a:r>
            <a:endParaRPr lang="en-US" altLang="zh-CN" dirty="0" smtClean="0">
              <a:latin typeface="+mn-ea"/>
            </a:endParaRPr>
          </a:p>
          <a:p>
            <a:pPr lvl="2"/>
            <a:r>
              <a:rPr lang="zh-CN" altLang="en-US" dirty="0" smtClean="0">
                <a:latin typeface="+mn-ea"/>
              </a:rPr>
              <a:t>如优化目标</a:t>
            </a:r>
            <a:endParaRPr lang="en-US" altLang="zh-CN" dirty="0" smtClean="0">
              <a:latin typeface="+mn-ea"/>
            </a:endParaRPr>
          </a:p>
          <a:p>
            <a:pPr lvl="2"/>
            <a:endParaRPr lang="en-US" altLang="zh-CN" dirty="0">
              <a:latin typeface="+mn-ea"/>
            </a:endParaRPr>
          </a:p>
          <a:p>
            <a:pPr lvl="2"/>
            <a:endParaRPr lang="en-US" altLang="zh-CN" dirty="0" smtClean="0">
              <a:latin typeface="+mn-ea"/>
            </a:endParaRPr>
          </a:p>
          <a:p>
            <a:pPr lvl="2"/>
            <a:endParaRPr lang="zh-CN" altLang="en-US" dirty="0">
              <a:latin typeface="+mn-ea"/>
            </a:endParaRPr>
          </a:p>
          <a:p>
            <a:pPr lvl="3"/>
            <a:r>
              <a:rPr lang="en-US" altLang="zh-CN" dirty="0">
                <a:latin typeface="+mn-ea"/>
              </a:rPr>
              <a:t> </a:t>
            </a:r>
            <a:r>
              <a:rPr lang="en-US" altLang="zh-CN" dirty="0" smtClean="0">
                <a:latin typeface="+mn-ea"/>
              </a:rPr>
              <a:t>  </a:t>
            </a:r>
            <a:r>
              <a:rPr lang="zh-CN" altLang="en-US" dirty="0" smtClean="0">
                <a:latin typeface="+mn-ea"/>
              </a:rPr>
              <a:t>的</a:t>
            </a:r>
            <a:r>
              <a:rPr lang="zh-CN" altLang="en-US" dirty="0">
                <a:latin typeface="+mn-ea"/>
              </a:rPr>
              <a:t>闭式</a:t>
            </a:r>
            <a:r>
              <a:rPr lang="zh-CN" altLang="en-US" dirty="0" smtClean="0">
                <a:latin typeface="+mn-ea"/>
              </a:rPr>
              <a:t>解是</a:t>
            </a:r>
            <a:r>
              <a:rPr lang="en-US" altLang="zh-CN" dirty="0" smtClean="0">
                <a:latin typeface="+mn-ea"/>
              </a:rPr>
              <a:t>      </a:t>
            </a:r>
            <a:r>
              <a:rPr lang="zh-CN" altLang="en-US" dirty="0">
                <a:latin typeface="+mn-ea"/>
              </a:rPr>
              <a:t>的</a:t>
            </a:r>
            <a:r>
              <a:rPr lang="en-US" altLang="zh-CN" dirty="0" smtClean="0">
                <a:latin typeface="+mn-ea"/>
              </a:rPr>
              <a:t>     </a:t>
            </a:r>
            <a:r>
              <a:rPr lang="zh-CN" altLang="en-US" dirty="0" smtClean="0">
                <a:latin typeface="+mn-ea"/>
              </a:rPr>
              <a:t>个</a:t>
            </a:r>
            <a:r>
              <a:rPr lang="zh-CN" altLang="en-US" dirty="0">
                <a:latin typeface="+mn-ea"/>
              </a:rPr>
              <a:t>最大广义特征值所对应的</a:t>
            </a:r>
            <a:r>
              <a:rPr lang="zh-CN" altLang="en-US" dirty="0" smtClean="0">
                <a:latin typeface="+mn-ea"/>
              </a:rPr>
              <a:t>特征向量矩阵</a:t>
            </a:r>
            <a:endParaRPr lang="zh-CN" altLang="en-US" dirty="0">
              <a:latin typeface="+mn-ea"/>
            </a:endParaRPr>
          </a:p>
          <a:p>
            <a:pPr lvl="2"/>
            <a:r>
              <a:rPr lang="zh-CN" altLang="en-US" dirty="0"/>
              <a:t>若</a:t>
            </a:r>
            <a:r>
              <a:rPr lang="zh-CN" altLang="en-US" dirty="0" smtClean="0"/>
              <a:t>将</a:t>
            </a:r>
            <a:r>
              <a:rPr lang="en-US" altLang="zh-CN" dirty="0" smtClean="0"/>
              <a:t>   </a:t>
            </a:r>
            <a:r>
              <a:rPr lang="zh-CN" altLang="en-US" dirty="0" smtClean="0"/>
              <a:t>视为</a:t>
            </a:r>
            <a:r>
              <a:rPr lang="zh-CN" altLang="en-US" dirty="0"/>
              <a:t>一个投影矩阵，则多分类</a:t>
            </a:r>
            <a:r>
              <a:rPr lang="en-US" altLang="zh-CN" dirty="0">
                <a:latin typeface="+mn-ea"/>
              </a:rPr>
              <a:t>LDA</a:t>
            </a:r>
            <a:r>
              <a:rPr lang="zh-CN" altLang="en-US" dirty="0">
                <a:latin typeface="+mn-ea"/>
              </a:rPr>
              <a:t>将</a:t>
            </a:r>
            <a:r>
              <a:rPr lang="zh-CN" altLang="en-US" dirty="0"/>
              <a:t>样本投影</a:t>
            </a:r>
            <a:r>
              <a:rPr lang="zh-CN" altLang="en-US" dirty="0" smtClean="0"/>
              <a:t>到        维空间</a:t>
            </a:r>
            <a:endParaRPr lang="zh-CN" altLang="en-US" dirty="0"/>
          </a:p>
          <a:p>
            <a:pPr lvl="3"/>
            <a:r>
              <a:rPr lang="zh-CN" altLang="en-US" dirty="0" smtClean="0"/>
              <a:t>          通常</a:t>
            </a:r>
            <a:r>
              <a:rPr lang="zh-CN" altLang="en-US" dirty="0"/>
              <a:t>远小于数据原有的属性</a:t>
            </a:r>
            <a:r>
              <a:rPr lang="zh-CN" altLang="en-US" dirty="0" smtClean="0"/>
              <a:t>数，可</a:t>
            </a:r>
            <a:r>
              <a:rPr lang="zh-CN" altLang="en-US" dirty="0"/>
              <a:t>通过这个投影来减小样本点</a:t>
            </a:r>
            <a:r>
              <a:rPr lang="zh-CN" altLang="en-US" dirty="0" smtClean="0"/>
              <a:t>的维数</a:t>
            </a:r>
            <a:r>
              <a:rPr lang="zh-CN" altLang="en-US" dirty="0"/>
              <a:t>，且投影过程中使用了类别</a:t>
            </a:r>
            <a:r>
              <a:rPr lang="zh-CN" altLang="en-US" dirty="0" smtClean="0"/>
              <a:t>信息</a:t>
            </a:r>
            <a:endParaRPr lang="en-US" altLang="zh-CN" dirty="0" smtClean="0"/>
          </a:p>
          <a:p>
            <a:pPr lvl="3"/>
            <a:r>
              <a:rPr lang="en-US" altLang="zh-CN" dirty="0" smtClean="0">
                <a:latin typeface="+mn-ea"/>
              </a:rPr>
              <a:t>LDA</a:t>
            </a:r>
            <a:r>
              <a:rPr lang="zh-CN" altLang="en-US" dirty="0">
                <a:latin typeface="+mn-ea"/>
              </a:rPr>
              <a:t>也常被视为一种经典的监督降维技术</a:t>
            </a:r>
            <a:endParaRPr lang="zh-CN" altLang="en-US" dirty="0">
              <a:latin typeface="+mn-ea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FCE9F0A-462E-4C69-95AA-11A5CD682488}" type="slidenum">
              <a:rPr lang="en-US" altLang="zh-CN" smtClean="0"/>
            </a:fld>
            <a:endParaRPr lang="en-US" altLang="zh-CN" dirty="0"/>
          </a:p>
        </p:txBody>
      </p:sp>
      <p:graphicFrame>
        <p:nvGraphicFramePr>
          <p:cNvPr id="10" name="对象 9"/>
          <p:cNvGraphicFramePr>
            <a:graphicFrameLocks noChangeAspect="1"/>
          </p:cNvGraphicFramePr>
          <p:nvPr/>
        </p:nvGraphicFramePr>
        <p:xfrm>
          <a:off x="3867556" y="3717032"/>
          <a:ext cx="765300" cy="46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629" name="Equation" r:id="rId1" imgW="9448800" imgH="5791200" progId="Equation.DSMT4">
                  <p:embed/>
                </p:oleObj>
              </mc:Choice>
              <mc:Fallback>
                <p:oleObj name="Equation" r:id="rId1" imgW="9448800" imgH="5791200" progId="Equation.DSMT4">
                  <p:embed/>
                  <p:pic>
                    <p:nvPicPr>
                      <p:cNvPr id="0" name="图片 20628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3867556" y="3717032"/>
                        <a:ext cx="765300" cy="468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对象 10"/>
          <p:cNvGraphicFramePr>
            <a:graphicFrameLocks noChangeAspect="1"/>
          </p:cNvGraphicFramePr>
          <p:nvPr/>
        </p:nvGraphicFramePr>
        <p:xfrm>
          <a:off x="2843808" y="2600387"/>
          <a:ext cx="4711700" cy="936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630" name="Equation" r:id="rId3" imgW="52120800" imgH="10363200" progId="Equation.DSMT4">
                  <p:embed/>
                </p:oleObj>
              </mc:Choice>
              <mc:Fallback>
                <p:oleObj name="Equation" r:id="rId3" imgW="52120800" imgH="10363200" progId="Equation.DSMT4">
                  <p:embed/>
                  <p:pic>
                    <p:nvPicPr>
                      <p:cNvPr id="0" name="图片 20629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843808" y="2600387"/>
                        <a:ext cx="4711700" cy="9366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对象 11"/>
          <p:cNvGraphicFramePr>
            <a:graphicFrameLocks noChangeAspect="1"/>
          </p:cNvGraphicFramePr>
          <p:nvPr/>
        </p:nvGraphicFramePr>
        <p:xfrm>
          <a:off x="2195736" y="3753072"/>
          <a:ext cx="370666" cy="324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631" name="Equation" r:id="rId5" imgW="4876800" imgH="4267200" progId="Equation.DSMT4">
                  <p:embed/>
                </p:oleObj>
              </mc:Choice>
              <mc:Fallback>
                <p:oleObj name="Equation" r:id="rId5" imgW="4876800" imgH="4267200" progId="Equation.DSMT4">
                  <p:embed/>
                  <p:pic>
                    <p:nvPicPr>
                      <p:cNvPr id="0" name="图片 20630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195736" y="3753072"/>
                        <a:ext cx="370666" cy="324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对象 12"/>
          <p:cNvGraphicFramePr>
            <a:graphicFrameLocks noChangeAspect="1"/>
          </p:cNvGraphicFramePr>
          <p:nvPr/>
        </p:nvGraphicFramePr>
        <p:xfrm>
          <a:off x="4879466" y="3747825"/>
          <a:ext cx="692150" cy="3444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632" name="Equation" r:id="rId7" imgW="8534400" imgH="4267200" progId="Equation.DSMT4">
                  <p:embed/>
                </p:oleObj>
              </mc:Choice>
              <mc:Fallback>
                <p:oleObj name="Equation" r:id="rId7" imgW="8534400" imgH="4267200" progId="Equation.DSMT4">
                  <p:embed/>
                  <p:pic>
                    <p:nvPicPr>
                      <p:cNvPr id="0" name="图片 20631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4879466" y="3747825"/>
                        <a:ext cx="692150" cy="3444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对象 13"/>
          <p:cNvGraphicFramePr>
            <a:graphicFrameLocks noChangeAspect="1"/>
          </p:cNvGraphicFramePr>
          <p:nvPr/>
        </p:nvGraphicFramePr>
        <p:xfrm>
          <a:off x="2267744" y="4406672"/>
          <a:ext cx="411851" cy="360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633" name="Equation" r:id="rId9" imgW="4876800" imgH="4267200" progId="Equation.DSMT4">
                  <p:embed/>
                </p:oleObj>
              </mc:Choice>
              <mc:Fallback>
                <p:oleObj name="Equation" r:id="rId9" imgW="4876800" imgH="4267200" progId="Equation.DSMT4">
                  <p:embed/>
                  <p:pic>
                    <p:nvPicPr>
                      <p:cNvPr id="0" name="图片 20632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2267744" y="4406672"/>
                        <a:ext cx="411851" cy="360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对象 14"/>
          <p:cNvGraphicFramePr>
            <a:graphicFrameLocks noChangeAspect="1"/>
          </p:cNvGraphicFramePr>
          <p:nvPr/>
        </p:nvGraphicFramePr>
        <p:xfrm>
          <a:off x="2007642" y="4770825"/>
          <a:ext cx="692150" cy="3444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634" name="Equation" r:id="rId11" imgW="8534400" imgH="4267200" progId="Equation.DSMT4">
                  <p:embed/>
                </p:oleObj>
              </mc:Choice>
              <mc:Fallback>
                <p:oleObj name="Equation" r:id="rId11" imgW="8534400" imgH="4267200" progId="Equation.DSMT4">
                  <p:embed/>
                  <p:pic>
                    <p:nvPicPr>
                      <p:cNvPr id="0" name="图片 20633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2007642" y="4770825"/>
                        <a:ext cx="692150" cy="3444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对象 15"/>
          <p:cNvGraphicFramePr>
            <a:graphicFrameLocks noChangeAspect="1"/>
          </p:cNvGraphicFramePr>
          <p:nvPr/>
        </p:nvGraphicFramePr>
        <p:xfrm>
          <a:off x="2199221" y="5121224"/>
          <a:ext cx="650987" cy="324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635" name="Equation" r:id="rId13" imgW="8534400" imgH="4267200" progId="Equation.DSMT4">
                  <p:embed/>
                </p:oleObj>
              </mc:Choice>
              <mc:Fallback>
                <p:oleObj name="Equation" r:id="rId13" imgW="8534400" imgH="4267200" progId="Equation.DSMT4">
                  <p:embed/>
                  <p:pic>
                    <p:nvPicPr>
                      <p:cNvPr id="0" name="图片 20634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2199221" y="5121224"/>
                        <a:ext cx="650987" cy="324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cover dir="u"/>
  </p:transition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3.5 </a:t>
            </a:r>
            <a:r>
              <a:rPr lang="zh-CN" altLang="en-US" dirty="0" smtClean="0"/>
              <a:t>多</a:t>
            </a:r>
            <a:r>
              <a:rPr lang="zh-CN" altLang="en-US" dirty="0"/>
              <a:t>分类学习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 smtClean="0"/>
              <a:t>思路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有些二</a:t>
            </a:r>
            <a:r>
              <a:rPr lang="zh-CN" altLang="en-US" dirty="0"/>
              <a:t>分类</a:t>
            </a:r>
            <a:r>
              <a:rPr lang="zh-CN" altLang="en-US" dirty="0" smtClean="0"/>
              <a:t>学习方法直接</a:t>
            </a:r>
            <a:r>
              <a:rPr lang="zh-CN" altLang="en-US" dirty="0"/>
              <a:t>推广到多</a:t>
            </a:r>
            <a:r>
              <a:rPr lang="zh-CN" altLang="en-US" dirty="0" smtClean="0"/>
              <a:t>分类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通常基于</a:t>
            </a:r>
            <a:r>
              <a:rPr lang="zh-CN" altLang="en-US" dirty="0"/>
              <a:t>一些基本策略，利用二分类学习</a:t>
            </a:r>
            <a:r>
              <a:rPr lang="zh-CN" altLang="en-US" dirty="0" smtClean="0"/>
              <a:t>器解决</a:t>
            </a:r>
            <a:r>
              <a:rPr lang="zh-CN" altLang="en-US" dirty="0"/>
              <a:t>多分类</a:t>
            </a:r>
            <a:r>
              <a:rPr lang="zh-CN" altLang="en-US" dirty="0" smtClean="0"/>
              <a:t>问题</a:t>
            </a:r>
            <a:endParaRPr lang="en-US" altLang="zh-CN" dirty="0" smtClean="0"/>
          </a:p>
          <a:p>
            <a:r>
              <a:rPr lang="zh-CN" altLang="en-US" dirty="0" smtClean="0"/>
              <a:t>拆解法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多</a:t>
            </a:r>
            <a:r>
              <a:rPr lang="zh-CN" altLang="en-US" dirty="0"/>
              <a:t>分类任务拆为若干个二分类任务</a:t>
            </a:r>
            <a:r>
              <a:rPr lang="zh-CN" altLang="en-US" dirty="0" smtClean="0"/>
              <a:t>求解</a:t>
            </a:r>
            <a:endParaRPr lang="en-US" altLang="zh-CN" dirty="0" smtClean="0"/>
          </a:p>
          <a:p>
            <a:pPr lvl="2"/>
            <a:r>
              <a:rPr lang="zh-CN" altLang="en-US" dirty="0" smtClean="0"/>
              <a:t>对问题</a:t>
            </a:r>
            <a:r>
              <a:rPr lang="zh-CN" altLang="en-US" dirty="0"/>
              <a:t>进行拆分</a:t>
            </a:r>
            <a:r>
              <a:rPr lang="zh-CN" altLang="en-US" dirty="0" smtClean="0"/>
              <a:t>，为</a:t>
            </a:r>
            <a:r>
              <a:rPr lang="zh-CN" altLang="en-US" dirty="0"/>
              <a:t>拆出的每个二分类任务训练一个</a:t>
            </a:r>
            <a:r>
              <a:rPr lang="zh-CN" altLang="en-US" dirty="0" smtClean="0"/>
              <a:t>分类器</a:t>
            </a:r>
            <a:endParaRPr lang="en-US" altLang="zh-CN" dirty="0" smtClean="0"/>
          </a:p>
          <a:p>
            <a:pPr lvl="2"/>
            <a:r>
              <a:rPr lang="zh-CN" altLang="en-US" dirty="0" smtClean="0"/>
              <a:t>测试</a:t>
            </a:r>
            <a:r>
              <a:rPr lang="zh-CN" altLang="en-US" dirty="0"/>
              <a:t>时，对这些分类器的预测结果进行集成以获得最终的多分类</a:t>
            </a:r>
            <a:r>
              <a:rPr lang="zh-CN" altLang="en-US" dirty="0" smtClean="0"/>
              <a:t>结果</a:t>
            </a:r>
            <a:endParaRPr lang="en-US" altLang="zh-CN" dirty="0" smtClean="0"/>
          </a:p>
          <a:p>
            <a:pPr lvl="2"/>
            <a:r>
              <a:rPr lang="zh-CN" altLang="en-US" dirty="0" smtClean="0"/>
              <a:t>关键：如何</a:t>
            </a:r>
            <a:r>
              <a:rPr lang="zh-CN" altLang="en-US" dirty="0"/>
              <a:t>对多分类任务进行</a:t>
            </a:r>
            <a:r>
              <a:rPr lang="zh-CN" altLang="en-US" dirty="0" smtClean="0"/>
              <a:t>拆分，如何</a:t>
            </a:r>
            <a:r>
              <a:rPr lang="zh-CN" altLang="en-US" dirty="0"/>
              <a:t>对多个分类器进行</a:t>
            </a:r>
            <a:r>
              <a:rPr lang="zh-CN" altLang="en-US" dirty="0" smtClean="0"/>
              <a:t>集成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FCE9F0A-462E-4C69-95AA-11A5CD682488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  <p:transition>
    <p:cover dir="u"/>
  </p:transition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3.5 </a:t>
            </a:r>
            <a:r>
              <a:rPr lang="zh-CN" altLang="en-US" dirty="0"/>
              <a:t>多分类学习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拆解法</a:t>
            </a:r>
            <a:endParaRPr lang="en-US" altLang="zh-CN" dirty="0"/>
          </a:p>
          <a:p>
            <a:pPr marL="457200" lvl="1" indent="0">
              <a:buNone/>
            </a:pPr>
            <a:r>
              <a:rPr lang="zh-CN" altLang="en-US" dirty="0" smtClean="0"/>
              <a:t>   给定</a:t>
            </a:r>
            <a:r>
              <a:rPr lang="zh-CN" altLang="en-US" dirty="0"/>
              <a:t>数据</a:t>
            </a:r>
            <a:r>
              <a:rPr lang="zh-CN" altLang="en-US" dirty="0" smtClean="0"/>
              <a:t>集</a:t>
            </a:r>
            <a:endParaRPr lang="en-US" altLang="zh-CN" dirty="0" smtClean="0"/>
          </a:p>
          <a:p>
            <a:pPr lvl="1"/>
            <a:endParaRPr lang="en-US" altLang="zh-CN" dirty="0" smtClean="0"/>
          </a:p>
          <a:p>
            <a:pPr lvl="1"/>
            <a:r>
              <a:rPr lang="zh-CN" altLang="en-US" dirty="0" smtClean="0">
                <a:latin typeface="+mn-ea"/>
              </a:rPr>
              <a:t>一对一拆分策略</a:t>
            </a:r>
            <a:r>
              <a:rPr lang="en-US" altLang="zh-CN" dirty="0" smtClean="0">
                <a:latin typeface="+mn-ea"/>
              </a:rPr>
              <a:t>(</a:t>
            </a:r>
            <a:r>
              <a:rPr lang="en-US" altLang="zh-CN" dirty="0">
                <a:latin typeface="+mn-ea"/>
              </a:rPr>
              <a:t>One </a:t>
            </a:r>
            <a:r>
              <a:rPr lang="en-US" altLang="zh-CN" dirty="0" err="1" smtClean="0">
                <a:latin typeface="+mn-ea"/>
              </a:rPr>
              <a:t>vs.One</a:t>
            </a:r>
            <a:r>
              <a:rPr lang="zh-CN" altLang="en-US" dirty="0">
                <a:latin typeface="+mn-ea"/>
              </a:rPr>
              <a:t>，</a:t>
            </a:r>
            <a:r>
              <a:rPr lang="en-US" altLang="zh-CN" dirty="0" smtClean="0">
                <a:latin typeface="+mn-ea"/>
              </a:rPr>
              <a:t>Ov0</a:t>
            </a:r>
            <a:r>
              <a:rPr lang="en-US" altLang="zh-CN" dirty="0">
                <a:latin typeface="+mn-ea"/>
              </a:rPr>
              <a:t>)</a:t>
            </a:r>
            <a:endParaRPr lang="en-US" altLang="zh-CN" dirty="0" smtClean="0"/>
          </a:p>
          <a:p>
            <a:pPr lvl="2"/>
            <a:r>
              <a:rPr lang="en-US" altLang="zh-CN" dirty="0" smtClean="0">
                <a:latin typeface="+mn-ea"/>
              </a:rPr>
              <a:t>N</a:t>
            </a:r>
            <a:r>
              <a:rPr lang="zh-CN" altLang="en-US" dirty="0">
                <a:latin typeface="+mn-ea"/>
              </a:rPr>
              <a:t>个类别两两配对</a:t>
            </a:r>
            <a:r>
              <a:rPr lang="zh-CN" altLang="en-US" dirty="0" smtClean="0">
                <a:latin typeface="+mn-ea"/>
              </a:rPr>
              <a:t>，产生</a:t>
            </a:r>
            <a:r>
              <a:rPr lang="en-US" altLang="zh-CN" dirty="0" smtClean="0">
                <a:latin typeface="+mn-ea"/>
              </a:rPr>
              <a:t>N(N-1</a:t>
            </a:r>
            <a:r>
              <a:rPr lang="en-US" altLang="zh-CN" dirty="0">
                <a:latin typeface="+mn-ea"/>
              </a:rPr>
              <a:t>)/2</a:t>
            </a:r>
            <a:r>
              <a:rPr lang="zh-CN" altLang="en-US" dirty="0">
                <a:latin typeface="+mn-ea"/>
              </a:rPr>
              <a:t>个二分类</a:t>
            </a:r>
            <a:r>
              <a:rPr lang="zh-CN" altLang="en-US" dirty="0" smtClean="0">
                <a:latin typeface="+mn-ea"/>
              </a:rPr>
              <a:t>任务</a:t>
            </a:r>
            <a:endParaRPr lang="en-US" altLang="zh-CN" dirty="0" smtClean="0">
              <a:latin typeface="+mn-ea"/>
            </a:endParaRPr>
          </a:p>
          <a:p>
            <a:pPr lvl="2"/>
            <a:r>
              <a:rPr lang="zh-CN" altLang="en-US" dirty="0" smtClean="0">
                <a:latin typeface="+mn-ea"/>
              </a:rPr>
              <a:t>为类别</a:t>
            </a:r>
            <a:r>
              <a:rPr lang="en-US" altLang="zh-CN" dirty="0" smtClean="0">
                <a:latin typeface="+mn-ea"/>
              </a:rPr>
              <a:t>C</a:t>
            </a:r>
            <a:r>
              <a:rPr lang="en-US" altLang="zh-CN" baseline="-25000" dirty="0" smtClean="0">
                <a:latin typeface="+mn-ea"/>
              </a:rPr>
              <a:t>i</a:t>
            </a:r>
            <a:r>
              <a:rPr lang="zh-CN" altLang="en-US" dirty="0" smtClean="0">
                <a:latin typeface="+mn-ea"/>
              </a:rPr>
              <a:t>和</a:t>
            </a:r>
            <a:r>
              <a:rPr lang="en-US" altLang="zh-CN" dirty="0" err="1" smtClean="0">
                <a:latin typeface="+mn-ea"/>
              </a:rPr>
              <a:t>C</a:t>
            </a:r>
            <a:r>
              <a:rPr lang="en-US" altLang="zh-CN" baseline="-25000" dirty="0" err="1">
                <a:latin typeface="+mn-ea"/>
              </a:rPr>
              <a:t>j</a:t>
            </a:r>
            <a:r>
              <a:rPr lang="zh-CN" altLang="en-US" dirty="0" smtClean="0">
                <a:latin typeface="+mn-ea"/>
              </a:rPr>
              <a:t>训练</a:t>
            </a:r>
            <a:r>
              <a:rPr lang="zh-CN" altLang="en-US" dirty="0">
                <a:latin typeface="+mn-ea"/>
              </a:rPr>
              <a:t>一个分类器</a:t>
            </a:r>
            <a:r>
              <a:rPr lang="zh-CN" altLang="en-US" dirty="0" smtClean="0">
                <a:latin typeface="+mn-ea"/>
              </a:rPr>
              <a:t>，把</a:t>
            </a:r>
            <a:r>
              <a:rPr lang="en-US" altLang="zh-CN" dirty="0" smtClean="0">
                <a:latin typeface="+mn-ea"/>
              </a:rPr>
              <a:t>C</a:t>
            </a:r>
            <a:r>
              <a:rPr lang="en-US" altLang="zh-CN" baseline="-25000" dirty="0" smtClean="0">
                <a:latin typeface="+mn-ea"/>
              </a:rPr>
              <a:t>i</a:t>
            </a:r>
            <a:r>
              <a:rPr lang="zh-CN" altLang="en-US" dirty="0">
                <a:latin typeface="+mn-ea"/>
              </a:rPr>
              <a:t>类</a:t>
            </a:r>
            <a:r>
              <a:rPr lang="zh-CN" altLang="en-US" dirty="0" smtClean="0">
                <a:latin typeface="+mn-ea"/>
              </a:rPr>
              <a:t>样例</a:t>
            </a:r>
            <a:r>
              <a:rPr lang="zh-CN" altLang="en-US" dirty="0">
                <a:latin typeface="+mn-ea"/>
              </a:rPr>
              <a:t>作为</a:t>
            </a:r>
            <a:r>
              <a:rPr lang="zh-CN" altLang="en-US" dirty="0" smtClean="0">
                <a:latin typeface="+mn-ea"/>
              </a:rPr>
              <a:t>正例，</a:t>
            </a:r>
            <a:r>
              <a:rPr lang="en-US" altLang="zh-CN" dirty="0" err="1" smtClean="0">
                <a:latin typeface="+mn-ea"/>
              </a:rPr>
              <a:t>C</a:t>
            </a:r>
            <a:r>
              <a:rPr lang="en-US" altLang="zh-CN" baseline="-25000" dirty="0" err="1" smtClean="0">
                <a:latin typeface="+mn-ea"/>
              </a:rPr>
              <a:t>j</a:t>
            </a:r>
            <a:r>
              <a:rPr lang="zh-CN" altLang="en-US" dirty="0" smtClean="0">
                <a:latin typeface="+mn-ea"/>
              </a:rPr>
              <a:t>类</a:t>
            </a:r>
            <a:r>
              <a:rPr lang="zh-CN" altLang="en-US" dirty="0">
                <a:latin typeface="+mn-ea"/>
              </a:rPr>
              <a:t>样例作为</a:t>
            </a:r>
            <a:r>
              <a:rPr lang="zh-CN" altLang="en-US" dirty="0" smtClean="0">
                <a:latin typeface="+mn-ea"/>
              </a:rPr>
              <a:t>反例</a:t>
            </a:r>
            <a:endParaRPr lang="en-US" altLang="zh-CN" dirty="0" smtClean="0">
              <a:latin typeface="+mn-ea"/>
            </a:endParaRPr>
          </a:p>
          <a:p>
            <a:pPr lvl="2"/>
            <a:r>
              <a:rPr lang="zh-CN" altLang="en-US" dirty="0" smtClean="0">
                <a:latin typeface="+mn-ea"/>
              </a:rPr>
              <a:t>测试阶段</a:t>
            </a:r>
            <a:r>
              <a:rPr lang="zh-CN" altLang="en-US" dirty="0">
                <a:latin typeface="+mn-ea"/>
              </a:rPr>
              <a:t>，新</a:t>
            </a:r>
            <a:r>
              <a:rPr lang="zh-CN" altLang="en-US" dirty="0" smtClean="0">
                <a:latin typeface="+mn-ea"/>
              </a:rPr>
              <a:t>样本同时</a:t>
            </a:r>
            <a:r>
              <a:rPr lang="zh-CN" altLang="en-US" dirty="0">
                <a:latin typeface="+mn-ea"/>
              </a:rPr>
              <a:t>提交给所有分类器</a:t>
            </a:r>
            <a:r>
              <a:rPr lang="zh-CN" altLang="en-US" dirty="0" smtClean="0">
                <a:latin typeface="+mn-ea"/>
              </a:rPr>
              <a:t>，得到</a:t>
            </a:r>
            <a:r>
              <a:rPr lang="en-US" altLang="zh-CN" dirty="0" smtClean="0">
                <a:latin typeface="+mn-ea"/>
              </a:rPr>
              <a:t>N(N-1</a:t>
            </a:r>
            <a:r>
              <a:rPr lang="en-US" altLang="zh-CN" dirty="0">
                <a:latin typeface="+mn-ea"/>
              </a:rPr>
              <a:t>)/2</a:t>
            </a:r>
            <a:r>
              <a:rPr lang="zh-CN" altLang="en-US" dirty="0">
                <a:latin typeface="+mn-ea"/>
              </a:rPr>
              <a:t>个分类结果</a:t>
            </a:r>
            <a:r>
              <a:rPr lang="zh-CN" altLang="en-US" dirty="0" smtClean="0">
                <a:latin typeface="+mn-ea"/>
              </a:rPr>
              <a:t>，把</a:t>
            </a:r>
            <a:r>
              <a:rPr lang="zh-CN" altLang="en-US" dirty="0">
                <a:latin typeface="+mn-ea"/>
              </a:rPr>
              <a:t>被</a:t>
            </a:r>
            <a:r>
              <a:rPr lang="zh-CN" altLang="en-US" dirty="0" smtClean="0">
                <a:latin typeface="+mn-ea"/>
              </a:rPr>
              <a:t>预测的最多类别</a:t>
            </a:r>
            <a:r>
              <a:rPr lang="zh-CN" altLang="en-US" dirty="0">
                <a:latin typeface="+mn-ea"/>
              </a:rPr>
              <a:t>作为</a:t>
            </a:r>
            <a:r>
              <a:rPr lang="zh-CN" altLang="en-US" dirty="0" smtClean="0">
                <a:latin typeface="+mn-ea"/>
              </a:rPr>
              <a:t>最终结果</a:t>
            </a:r>
            <a:endParaRPr lang="en-US" altLang="zh-CN" dirty="0">
              <a:latin typeface="+mn-ea"/>
            </a:endParaRPr>
          </a:p>
          <a:p>
            <a:pPr lvl="2"/>
            <a:r>
              <a:rPr lang="zh-CN" altLang="en-US" dirty="0" smtClean="0">
                <a:latin typeface="+mn-ea"/>
              </a:rPr>
              <a:t>特点</a:t>
            </a:r>
            <a:endParaRPr lang="en-US" altLang="zh-CN" dirty="0" smtClean="0">
              <a:latin typeface="+mn-ea"/>
            </a:endParaRPr>
          </a:p>
          <a:p>
            <a:pPr lvl="3"/>
            <a:r>
              <a:rPr lang="zh-CN" altLang="en-US" dirty="0" smtClean="0">
                <a:latin typeface="+mn-ea"/>
              </a:rPr>
              <a:t>训练</a:t>
            </a:r>
            <a:r>
              <a:rPr lang="en-US" altLang="zh-CN" dirty="0" smtClean="0">
                <a:latin typeface="+mn-ea"/>
              </a:rPr>
              <a:t>N(N-1</a:t>
            </a:r>
            <a:r>
              <a:rPr lang="en-US" altLang="zh-CN" dirty="0">
                <a:latin typeface="+mn-ea"/>
              </a:rPr>
              <a:t>)/</a:t>
            </a:r>
            <a:r>
              <a:rPr lang="en-US" altLang="zh-CN" dirty="0" smtClean="0">
                <a:latin typeface="+mn-ea"/>
              </a:rPr>
              <a:t>2</a:t>
            </a:r>
            <a:r>
              <a:rPr lang="zh-CN" altLang="en-US" dirty="0" smtClean="0">
                <a:latin typeface="+mn-ea"/>
              </a:rPr>
              <a:t>个</a:t>
            </a:r>
            <a:r>
              <a:rPr lang="zh-CN" altLang="en-US" dirty="0">
                <a:latin typeface="+mn-ea"/>
              </a:rPr>
              <a:t>分类器</a:t>
            </a:r>
            <a:r>
              <a:rPr lang="zh-CN" altLang="en-US" dirty="0" smtClean="0">
                <a:latin typeface="+mn-ea"/>
              </a:rPr>
              <a:t>，存储</a:t>
            </a:r>
            <a:r>
              <a:rPr lang="zh-CN" altLang="en-US" dirty="0">
                <a:latin typeface="+mn-ea"/>
              </a:rPr>
              <a:t>开销和测试时间大</a:t>
            </a:r>
            <a:endParaRPr lang="zh-CN" altLang="en-US" dirty="0">
              <a:latin typeface="+mn-ea"/>
            </a:endParaRPr>
          </a:p>
          <a:p>
            <a:pPr lvl="3"/>
            <a:r>
              <a:rPr lang="zh-CN" altLang="en-US" dirty="0">
                <a:latin typeface="+mn-ea"/>
              </a:rPr>
              <a:t>每个分类器训练只用两个类的样例</a:t>
            </a:r>
            <a:r>
              <a:rPr lang="zh-CN" altLang="en-US" dirty="0" smtClean="0">
                <a:latin typeface="+mn-ea"/>
              </a:rPr>
              <a:t>，训练</a:t>
            </a:r>
            <a:r>
              <a:rPr lang="zh-CN" altLang="en-US" dirty="0">
                <a:latin typeface="+mn-ea"/>
              </a:rPr>
              <a:t>时间短</a:t>
            </a:r>
            <a:endParaRPr lang="zh-CN" altLang="en-US" dirty="0">
              <a:latin typeface="+mn-ea"/>
            </a:endParaRPr>
          </a:p>
          <a:p>
            <a:pPr lvl="3"/>
            <a:endParaRPr lang="en-US" altLang="zh-CN" dirty="0" smtClean="0">
              <a:latin typeface="+mn-ea"/>
            </a:endParaRPr>
          </a:p>
          <a:p>
            <a:pPr lvl="1"/>
            <a:endParaRPr lang="en-US" altLang="zh-CN" dirty="0" smtClean="0">
              <a:latin typeface="+mn-ea"/>
            </a:endParaRPr>
          </a:p>
          <a:p>
            <a:pPr lvl="2"/>
            <a:endParaRPr lang="zh-CN" altLang="en-US" dirty="0">
              <a:latin typeface="+mn-ea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FCE9F0A-462E-4C69-95AA-11A5CD682488}" type="slidenum">
              <a:rPr lang="en-US" altLang="zh-CN" smtClean="0"/>
            </a:fld>
            <a:endParaRPr lang="en-US" altLang="zh-CN"/>
          </a:p>
        </p:txBody>
      </p:sp>
      <p:graphicFrame>
        <p:nvGraphicFramePr>
          <p:cNvPr id="5" name="对象 4"/>
          <p:cNvGraphicFramePr>
            <a:graphicFrameLocks noChangeAspect="1"/>
          </p:cNvGraphicFramePr>
          <p:nvPr/>
        </p:nvGraphicFramePr>
        <p:xfrm>
          <a:off x="3347864" y="1334443"/>
          <a:ext cx="4902200" cy="5508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487" name="Equation" r:id="rId1" imgW="54254400" imgH="6096000" progId="Equation.DSMT4">
                  <p:embed/>
                </p:oleObj>
              </mc:Choice>
              <mc:Fallback>
                <p:oleObj name="Equation" r:id="rId1" imgW="54254400" imgH="6096000" progId="Equation.DSMT4">
                  <p:embed/>
                  <p:pic>
                    <p:nvPicPr>
                      <p:cNvPr id="0" name="图片 15486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3347864" y="1334443"/>
                        <a:ext cx="4902200" cy="55086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/>
          <p:cNvGraphicFramePr>
            <a:graphicFrameLocks noChangeAspect="1"/>
          </p:cNvGraphicFramePr>
          <p:nvPr/>
        </p:nvGraphicFramePr>
        <p:xfrm>
          <a:off x="1547664" y="1786929"/>
          <a:ext cx="2560637" cy="4968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488" name="Equation" r:id="rId3" imgW="28346400" imgH="5486400" progId="Equation.DSMT4">
                  <p:embed/>
                </p:oleObj>
              </mc:Choice>
              <mc:Fallback>
                <p:oleObj name="Equation" r:id="rId3" imgW="28346400" imgH="5486400" progId="Equation.DSMT4">
                  <p:embed/>
                  <p:pic>
                    <p:nvPicPr>
                      <p:cNvPr id="0" name="图片 15487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47664" y="1786929"/>
                        <a:ext cx="2560637" cy="4968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cover dir="u"/>
  </p:transition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3.5 </a:t>
            </a:r>
            <a:r>
              <a:rPr lang="zh-CN" altLang="en-US" dirty="0"/>
              <a:t>多分类学习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拆解法</a:t>
            </a:r>
            <a:endParaRPr lang="en-US" altLang="zh-CN" dirty="0"/>
          </a:p>
          <a:p>
            <a:pPr lvl="1"/>
            <a:r>
              <a:rPr lang="zh-CN" altLang="en-US" dirty="0">
                <a:latin typeface="+mn-ea"/>
              </a:rPr>
              <a:t>一对一拆分策略</a:t>
            </a:r>
            <a:r>
              <a:rPr lang="en-US" altLang="zh-CN" dirty="0">
                <a:latin typeface="+mn-ea"/>
              </a:rPr>
              <a:t>(One </a:t>
            </a:r>
            <a:r>
              <a:rPr lang="en-US" altLang="zh-CN" dirty="0" err="1">
                <a:latin typeface="+mn-ea"/>
              </a:rPr>
              <a:t>vs.One</a:t>
            </a:r>
            <a:r>
              <a:rPr lang="zh-CN" altLang="en-US" dirty="0">
                <a:latin typeface="+mn-ea"/>
              </a:rPr>
              <a:t>，</a:t>
            </a:r>
            <a:r>
              <a:rPr lang="en-US" altLang="zh-CN" dirty="0">
                <a:latin typeface="+mn-ea"/>
              </a:rPr>
              <a:t>Ov0)</a:t>
            </a:r>
            <a:endParaRPr lang="en-US" altLang="zh-CN" dirty="0"/>
          </a:p>
          <a:p>
            <a:pPr lvl="1"/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FCE9F0A-462E-4C69-95AA-11A5CD682488}" type="slidenum">
              <a:rPr lang="en-US" altLang="zh-CN" smtClean="0"/>
            </a:fld>
            <a:endParaRPr lang="en-US" altLang="zh-CN"/>
          </a:p>
        </p:txBody>
      </p:sp>
      <p:sp>
        <p:nvSpPr>
          <p:cNvPr id="9" name="矩形 8"/>
          <p:cNvSpPr/>
          <p:nvPr/>
        </p:nvSpPr>
        <p:spPr bwMode="auto">
          <a:xfrm>
            <a:off x="6086500" y="1975667"/>
            <a:ext cx="2735116" cy="1180919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grpSp>
        <p:nvGrpSpPr>
          <p:cNvPr id="11" name="组合 10"/>
          <p:cNvGrpSpPr/>
          <p:nvPr/>
        </p:nvGrpSpPr>
        <p:grpSpPr>
          <a:xfrm>
            <a:off x="179512" y="1816033"/>
            <a:ext cx="8784976" cy="5007920"/>
            <a:chOff x="179512" y="1816033"/>
            <a:chExt cx="8784976" cy="5007920"/>
          </a:xfrm>
        </p:grpSpPr>
        <p:grpSp>
          <p:nvGrpSpPr>
            <p:cNvPr id="8" name="组合 7"/>
            <p:cNvGrpSpPr/>
            <p:nvPr/>
          </p:nvGrpSpPr>
          <p:grpSpPr>
            <a:xfrm>
              <a:off x="179512" y="1816033"/>
              <a:ext cx="8784976" cy="5007920"/>
              <a:chOff x="179512" y="1816033"/>
              <a:chExt cx="8784976" cy="5007920"/>
            </a:xfrm>
          </p:grpSpPr>
          <p:pic>
            <p:nvPicPr>
              <p:cNvPr id="5" name="图片 4"/>
              <p:cNvPicPr>
                <a:picLocks noChangeAspect="1"/>
              </p:cNvPicPr>
              <p:nvPr/>
            </p:nvPicPr>
            <p:blipFill rotWithShape="1">
              <a:blip r:embed="rId1"/>
              <a:srcRect l="9524" b="2226"/>
              <a:stretch>
                <a:fillRect/>
              </a:stretch>
            </p:blipFill>
            <p:spPr>
              <a:xfrm>
                <a:off x="272008" y="1816033"/>
                <a:ext cx="8692480" cy="5007920"/>
              </a:xfrm>
              <a:prstGeom prst="rect">
                <a:avLst/>
              </a:prstGeom>
            </p:spPr>
          </p:pic>
          <p:sp>
            <p:nvSpPr>
              <p:cNvPr id="6" name="矩形 5"/>
              <p:cNvSpPr/>
              <p:nvPr/>
            </p:nvSpPr>
            <p:spPr bwMode="auto">
              <a:xfrm>
                <a:off x="179512" y="1823267"/>
                <a:ext cx="1800200" cy="1173685"/>
              </a:xfrm>
              <a:prstGeom prst="rect">
                <a:avLst/>
              </a:prstGeom>
              <a:solidFill>
                <a:schemeClr val="bg1"/>
              </a:solidFill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none" lIns="91440" tIns="45720" rIns="91440" bIns="45720" numCol="1" rtlCol="0" anchor="t" anchorCtr="0" compatLnSpc="1"/>
              <a:lstStyle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kumimoji="0" lang="zh-CN" altLang="en-US" sz="24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7" name="矩形 6"/>
              <p:cNvSpPr/>
              <p:nvPr/>
            </p:nvSpPr>
            <p:spPr bwMode="auto">
              <a:xfrm>
                <a:off x="5934100" y="1823267"/>
                <a:ext cx="2735116" cy="1180919"/>
              </a:xfrm>
              <a:prstGeom prst="rect">
                <a:avLst/>
              </a:prstGeom>
              <a:solidFill>
                <a:schemeClr val="bg1"/>
              </a:solidFill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none" lIns="91440" tIns="45720" rIns="91440" bIns="45720" numCol="1" rtlCol="0" anchor="t" anchorCtr="0" compatLnSpc="1"/>
              <a:lstStyle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kumimoji="0" lang="zh-CN" altLang="en-US" sz="24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</p:grpSp>
        <p:sp>
          <p:nvSpPr>
            <p:cNvPr id="10" name="矩形 9"/>
            <p:cNvSpPr/>
            <p:nvPr/>
          </p:nvSpPr>
          <p:spPr bwMode="auto">
            <a:xfrm>
              <a:off x="4211960" y="5962741"/>
              <a:ext cx="4032448" cy="861212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t" anchorCtr="0" compatLnSpc="1"/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0" lang="zh-CN" alt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</p:grpSp>
    </p:spTree>
  </p:cSld>
  <p:clrMapOvr>
    <a:masterClrMapping/>
  </p:clrMapOvr>
  <p:transition>
    <p:cover dir="u"/>
  </p:transition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3.5 </a:t>
            </a:r>
            <a:r>
              <a:rPr lang="zh-CN" altLang="en-US" dirty="0"/>
              <a:t>多分类学习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拆</a:t>
            </a:r>
            <a:r>
              <a:rPr lang="zh-CN" altLang="en-US" dirty="0" smtClean="0"/>
              <a:t>解法   </a:t>
            </a:r>
            <a:endParaRPr lang="en-US" altLang="zh-CN" dirty="0" smtClean="0"/>
          </a:p>
          <a:p>
            <a:pPr lvl="1"/>
            <a:r>
              <a:rPr lang="zh-CN" altLang="en-US" dirty="0">
                <a:latin typeface="+mn-ea"/>
              </a:rPr>
              <a:t>一对其余</a:t>
            </a:r>
            <a:r>
              <a:rPr lang="en-US" altLang="zh-CN" dirty="0">
                <a:latin typeface="+mn-ea"/>
              </a:rPr>
              <a:t>(One </a:t>
            </a:r>
            <a:r>
              <a:rPr lang="en-US" altLang="zh-CN" dirty="0" err="1" smtClean="0">
                <a:latin typeface="+mn-ea"/>
              </a:rPr>
              <a:t>vs.Rest</a:t>
            </a:r>
            <a:r>
              <a:rPr lang="zh-CN" altLang="en-US" dirty="0">
                <a:latin typeface="+mn-ea"/>
              </a:rPr>
              <a:t>，</a:t>
            </a:r>
            <a:r>
              <a:rPr lang="en-US" altLang="zh-CN" dirty="0" err="1">
                <a:latin typeface="+mn-ea"/>
              </a:rPr>
              <a:t>OvR</a:t>
            </a:r>
            <a:r>
              <a:rPr lang="en-US" altLang="zh-CN" dirty="0" smtClean="0">
                <a:latin typeface="+mn-ea"/>
              </a:rPr>
              <a:t>)</a:t>
            </a:r>
            <a:endParaRPr lang="en-US" altLang="zh-CN" dirty="0" smtClean="0">
              <a:latin typeface="+mn-ea"/>
            </a:endParaRPr>
          </a:p>
          <a:p>
            <a:pPr lvl="2"/>
            <a:r>
              <a:rPr lang="zh-CN" altLang="en-US" dirty="0" smtClean="0">
                <a:latin typeface="+mn-ea"/>
              </a:rPr>
              <a:t>每次</a:t>
            </a:r>
            <a:r>
              <a:rPr lang="zh-CN" altLang="en-US" dirty="0">
                <a:latin typeface="+mn-ea"/>
              </a:rPr>
              <a:t>将一个类的样例作为正</a:t>
            </a:r>
            <a:r>
              <a:rPr lang="zh-CN" altLang="en-US" dirty="0" smtClean="0">
                <a:latin typeface="+mn-ea"/>
              </a:rPr>
              <a:t>例</a:t>
            </a:r>
            <a:r>
              <a:rPr lang="zh-CN" altLang="en-US" dirty="0">
                <a:latin typeface="+mn-ea"/>
              </a:rPr>
              <a:t>，</a:t>
            </a:r>
            <a:r>
              <a:rPr lang="zh-CN" altLang="en-US" dirty="0" smtClean="0">
                <a:latin typeface="+mn-ea"/>
              </a:rPr>
              <a:t>其他</a:t>
            </a:r>
            <a:r>
              <a:rPr lang="zh-CN" altLang="en-US" dirty="0">
                <a:latin typeface="+mn-ea"/>
              </a:rPr>
              <a:t>类的样例作为</a:t>
            </a:r>
            <a:r>
              <a:rPr lang="zh-CN" altLang="en-US" dirty="0" smtClean="0">
                <a:latin typeface="+mn-ea"/>
              </a:rPr>
              <a:t>反例，训练</a:t>
            </a:r>
            <a:r>
              <a:rPr lang="en-US" altLang="zh-CN" dirty="0">
                <a:latin typeface="+mn-ea"/>
              </a:rPr>
              <a:t>N</a:t>
            </a:r>
            <a:r>
              <a:rPr lang="zh-CN" altLang="en-US" dirty="0">
                <a:latin typeface="+mn-ea"/>
              </a:rPr>
              <a:t>个</a:t>
            </a:r>
            <a:r>
              <a:rPr lang="zh-CN" altLang="en-US" dirty="0" smtClean="0">
                <a:latin typeface="+mn-ea"/>
              </a:rPr>
              <a:t>分类器</a:t>
            </a:r>
            <a:endParaRPr lang="en-US" altLang="zh-CN" dirty="0" smtClean="0">
              <a:latin typeface="+mn-ea"/>
            </a:endParaRPr>
          </a:p>
          <a:p>
            <a:pPr lvl="2"/>
            <a:r>
              <a:rPr lang="zh-CN" altLang="en-US" dirty="0" smtClean="0">
                <a:latin typeface="+mn-ea"/>
              </a:rPr>
              <a:t>测试</a:t>
            </a:r>
            <a:r>
              <a:rPr lang="zh-CN" altLang="en-US" dirty="0">
                <a:latin typeface="+mn-ea"/>
              </a:rPr>
              <a:t>时若仅有一个分类器预测为正类，则对应的类别标记作为最终分类</a:t>
            </a:r>
            <a:r>
              <a:rPr lang="zh-CN" altLang="en-US" dirty="0" smtClean="0">
                <a:latin typeface="+mn-ea"/>
              </a:rPr>
              <a:t>结果</a:t>
            </a:r>
            <a:endParaRPr lang="en-US" altLang="zh-CN" dirty="0" smtClean="0">
              <a:latin typeface="+mn-ea"/>
            </a:endParaRPr>
          </a:p>
          <a:p>
            <a:pPr lvl="2"/>
            <a:r>
              <a:rPr lang="zh-CN" altLang="en-US" dirty="0" smtClean="0">
                <a:latin typeface="+mn-ea"/>
              </a:rPr>
              <a:t>若</a:t>
            </a:r>
            <a:r>
              <a:rPr lang="zh-CN" altLang="en-US" dirty="0">
                <a:latin typeface="+mn-ea"/>
              </a:rPr>
              <a:t>有多个分类器预测为正类，则通常考虑各分类器的预测置信度，选择置信度最大的类别</a:t>
            </a:r>
            <a:r>
              <a:rPr lang="zh-CN" altLang="en-US" dirty="0" smtClean="0">
                <a:latin typeface="+mn-ea"/>
              </a:rPr>
              <a:t>标记</a:t>
            </a:r>
            <a:endParaRPr lang="en-US" altLang="zh-CN" dirty="0" smtClean="0">
              <a:latin typeface="+mn-ea"/>
            </a:endParaRPr>
          </a:p>
          <a:p>
            <a:pPr lvl="2"/>
            <a:r>
              <a:rPr lang="zh-CN" altLang="en-US" dirty="0" smtClean="0">
                <a:latin typeface="+mn-ea"/>
              </a:rPr>
              <a:t>特点</a:t>
            </a:r>
            <a:endParaRPr lang="en-US" altLang="zh-CN" dirty="0" smtClean="0">
              <a:latin typeface="+mn-ea"/>
            </a:endParaRPr>
          </a:p>
          <a:p>
            <a:pPr lvl="3"/>
            <a:r>
              <a:rPr lang="zh-CN" altLang="en-US" dirty="0" smtClean="0">
                <a:latin typeface="+mn-ea"/>
              </a:rPr>
              <a:t>训练</a:t>
            </a:r>
            <a:r>
              <a:rPr lang="en-US" altLang="zh-CN" dirty="0" smtClean="0">
                <a:latin typeface="+mn-ea"/>
              </a:rPr>
              <a:t>N</a:t>
            </a:r>
            <a:r>
              <a:rPr lang="zh-CN" altLang="en-US" dirty="0" smtClean="0">
                <a:latin typeface="+mn-ea"/>
              </a:rPr>
              <a:t>个</a:t>
            </a:r>
            <a:r>
              <a:rPr lang="zh-CN" altLang="en-US" dirty="0">
                <a:latin typeface="+mn-ea"/>
              </a:rPr>
              <a:t>分类器，</a:t>
            </a:r>
            <a:r>
              <a:rPr lang="zh-CN" altLang="en-US" dirty="0" smtClean="0">
                <a:latin typeface="+mn-ea"/>
              </a:rPr>
              <a:t>存储开销</a:t>
            </a:r>
            <a:r>
              <a:rPr lang="zh-CN" altLang="en-US" dirty="0">
                <a:latin typeface="+mn-ea"/>
              </a:rPr>
              <a:t>和测试时间</a:t>
            </a:r>
            <a:r>
              <a:rPr lang="zh-CN" altLang="en-US" dirty="0" smtClean="0">
                <a:latin typeface="+mn-ea"/>
              </a:rPr>
              <a:t>小</a:t>
            </a:r>
            <a:endParaRPr lang="en-US" altLang="zh-CN" dirty="0" smtClean="0">
              <a:latin typeface="+mn-ea"/>
            </a:endParaRPr>
          </a:p>
          <a:p>
            <a:pPr lvl="3"/>
            <a:r>
              <a:rPr lang="zh-CN" altLang="en-US" dirty="0">
                <a:latin typeface="+mn-ea"/>
              </a:rPr>
              <a:t>每个分类器训练用到全部训练样例</a:t>
            </a:r>
            <a:r>
              <a:rPr lang="zh-CN" altLang="en-US" dirty="0" smtClean="0">
                <a:latin typeface="+mn-ea"/>
              </a:rPr>
              <a:t>，训练</a:t>
            </a:r>
            <a:r>
              <a:rPr lang="zh-CN" altLang="en-US" dirty="0">
                <a:latin typeface="+mn-ea"/>
              </a:rPr>
              <a:t>时间长</a:t>
            </a:r>
            <a:endParaRPr lang="zh-CN" altLang="en-US" dirty="0">
              <a:latin typeface="+mn-ea"/>
            </a:endParaRPr>
          </a:p>
          <a:p>
            <a:pPr lvl="2"/>
            <a:endParaRPr lang="en-US" altLang="zh-CN" dirty="0" smtClean="0">
              <a:latin typeface="+mn-ea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FCE9F0A-462E-4C69-95AA-11A5CD682488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  <p:transition>
    <p:cover dir="u"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3.5 </a:t>
            </a:r>
            <a:r>
              <a:rPr lang="zh-CN" altLang="en-US" dirty="0"/>
              <a:t>多分类学习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拆解法</a:t>
            </a:r>
            <a:endParaRPr lang="en-US" altLang="zh-CN" dirty="0"/>
          </a:p>
          <a:p>
            <a:pPr lvl="1"/>
            <a:r>
              <a:rPr lang="zh-CN" altLang="en-US" dirty="0">
                <a:latin typeface="+mn-ea"/>
              </a:rPr>
              <a:t>一对其余</a:t>
            </a:r>
            <a:r>
              <a:rPr lang="en-US" altLang="zh-CN" dirty="0">
                <a:latin typeface="+mn-ea"/>
              </a:rPr>
              <a:t>(One </a:t>
            </a:r>
            <a:r>
              <a:rPr lang="en-US" altLang="zh-CN" dirty="0" err="1">
                <a:latin typeface="+mn-ea"/>
              </a:rPr>
              <a:t>vs.Rest</a:t>
            </a:r>
            <a:r>
              <a:rPr lang="zh-CN" altLang="en-US" dirty="0">
                <a:latin typeface="+mn-ea"/>
              </a:rPr>
              <a:t>，</a:t>
            </a:r>
            <a:r>
              <a:rPr lang="en-US" altLang="zh-CN" dirty="0" err="1">
                <a:latin typeface="+mn-ea"/>
              </a:rPr>
              <a:t>OvR</a:t>
            </a:r>
            <a:r>
              <a:rPr lang="en-US" altLang="zh-CN" dirty="0">
                <a:latin typeface="+mn-ea"/>
              </a:rPr>
              <a:t>)</a:t>
            </a:r>
            <a:endParaRPr lang="en-US" altLang="zh-CN" dirty="0">
              <a:latin typeface="+mn-ea"/>
            </a:endParaRPr>
          </a:p>
          <a:p>
            <a:pPr lvl="1"/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FCE9F0A-462E-4C69-95AA-11A5CD682488}" type="slidenum">
              <a:rPr lang="en-US" altLang="zh-CN" smtClean="0"/>
            </a:fld>
            <a:endParaRPr lang="en-US" altLang="zh-CN"/>
          </a:p>
        </p:txBody>
      </p:sp>
      <p:sp>
        <p:nvSpPr>
          <p:cNvPr id="9" name="矩形 8"/>
          <p:cNvSpPr/>
          <p:nvPr/>
        </p:nvSpPr>
        <p:spPr bwMode="auto">
          <a:xfrm>
            <a:off x="6086500" y="1975667"/>
            <a:ext cx="2735116" cy="1180919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grpSp>
        <p:nvGrpSpPr>
          <p:cNvPr id="11" name="组合 10"/>
          <p:cNvGrpSpPr/>
          <p:nvPr/>
        </p:nvGrpSpPr>
        <p:grpSpPr>
          <a:xfrm>
            <a:off x="179512" y="1816033"/>
            <a:ext cx="8784976" cy="5007920"/>
            <a:chOff x="179512" y="1816033"/>
            <a:chExt cx="8784976" cy="5007920"/>
          </a:xfrm>
        </p:grpSpPr>
        <p:grpSp>
          <p:nvGrpSpPr>
            <p:cNvPr id="8" name="组合 7"/>
            <p:cNvGrpSpPr/>
            <p:nvPr/>
          </p:nvGrpSpPr>
          <p:grpSpPr>
            <a:xfrm>
              <a:off x="179512" y="1816033"/>
              <a:ext cx="8784976" cy="5007920"/>
              <a:chOff x="179512" y="1816033"/>
              <a:chExt cx="8784976" cy="5007920"/>
            </a:xfrm>
          </p:grpSpPr>
          <p:pic>
            <p:nvPicPr>
              <p:cNvPr id="5" name="图片 4"/>
              <p:cNvPicPr>
                <a:picLocks noChangeAspect="1"/>
              </p:cNvPicPr>
              <p:nvPr/>
            </p:nvPicPr>
            <p:blipFill rotWithShape="1">
              <a:blip r:embed="rId1"/>
              <a:srcRect l="9524" b="2226"/>
              <a:stretch>
                <a:fillRect/>
              </a:stretch>
            </p:blipFill>
            <p:spPr>
              <a:xfrm>
                <a:off x="272008" y="1816033"/>
                <a:ext cx="8692480" cy="5007920"/>
              </a:xfrm>
              <a:prstGeom prst="rect">
                <a:avLst/>
              </a:prstGeom>
            </p:spPr>
          </p:pic>
          <p:sp>
            <p:nvSpPr>
              <p:cNvPr id="6" name="矩形 5"/>
              <p:cNvSpPr/>
              <p:nvPr/>
            </p:nvSpPr>
            <p:spPr bwMode="auto">
              <a:xfrm>
                <a:off x="179512" y="1823267"/>
                <a:ext cx="1800200" cy="1173685"/>
              </a:xfrm>
              <a:prstGeom prst="rect">
                <a:avLst/>
              </a:prstGeom>
              <a:solidFill>
                <a:schemeClr val="bg1"/>
              </a:solidFill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none" lIns="91440" tIns="45720" rIns="91440" bIns="45720" numCol="1" rtlCol="0" anchor="t" anchorCtr="0" compatLnSpc="1"/>
              <a:lstStyle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kumimoji="0" lang="zh-CN" altLang="en-US" sz="24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7" name="矩形 6"/>
              <p:cNvSpPr/>
              <p:nvPr/>
            </p:nvSpPr>
            <p:spPr bwMode="auto">
              <a:xfrm>
                <a:off x="5934100" y="1823267"/>
                <a:ext cx="2735116" cy="1180919"/>
              </a:xfrm>
              <a:prstGeom prst="rect">
                <a:avLst/>
              </a:prstGeom>
              <a:solidFill>
                <a:schemeClr val="bg1"/>
              </a:solidFill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none" lIns="91440" tIns="45720" rIns="91440" bIns="45720" numCol="1" rtlCol="0" anchor="t" anchorCtr="0" compatLnSpc="1"/>
              <a:lstStyle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kumimoji="0" lang="zh-CN" altLang="en-US" sz="24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</p:grpSp>
        <p:sp>
          <p:nvSpPr>
            <p:cNvPr id="10" name="矩形 9"/>
            <p:cNvSpPr/>
            <p:nvPr/>
          </p:nvSpPr>
          <p:spPr bwMode="auto">
            <a:xfrm>
              <a:off x="4211960" y="5962741"/>
              <a:ext cx="4244008" cy="861212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/>
            <a:lstStyle/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</a:pPr>
              <a:r>
                <a:rPr lang="zh-CN" altLang="en-US" sz="2400" b="0" dirty="0" smtClean="0">
                  <a:solidFill>
                    <a:srgbClr val="0033CC"/>
                  </a:solidFill>
                  <a:latin typeface="Tahoma" panose="020B0604030504040204" pitchFamily="34" charset="0"/>
                </a:rPr>
                <a:t>两者的预测性</a:t>
              </a:r>
              <a:r>
                <a:rPr lang="zh-CN" altLang="en-US" sz="2400" b="0" dirty="0">
                  <a:solidFill>
                    <a:srgbClr val="0033CC"/>
                  </a:solidFill>
                  <a:latin typeface="Tahoma" panose="020B0604030504040204" pitchFamily="34" charset="0"/>
                </a:rPr>
                <a:t>能取决于具体数据分布</a:t>
              </a:r>
              <a:r>
                <a:rPr lang="zh-CN" altLang="en-US" sz="2400" b="0" dirty="0" smtClean="0">
                  <a:solidFill>
                    <a:srgbClr val="0033CC"/>
                  </a:solidFill>
                  <a:latin typeface="Tahoma" panose="020B0604030504040204" pitchFamily="34" charset="0"/>
                </a:rPr>
                <a:t>，多数</a:t>
              </a:r>
              <a:r>
                <a:rPr lang="zh-CN" altLang="en-US" sz="2400" b="0" dirty="0">
                  <a:solidFill>
                    <a:srgbClr val="0033CC"/>
                  </a:solidFill>
                  <a:latin typeface="Tahoma" panose="020B0604030504040204" pitchFamily="34" charset="0"/>
                </a:rPr>
                <a:t>情况</a:t>
              </a:r>
              <a:r>
                <a:rPr lang="zh-CN" altLang="en-US" sz="2400" b="0" dirty="0" smtClean="0">
                  <a:solidFill>
                    <a:srgbClr val="0033CC"/>
                  </a:solidFill>
                  <a:latin typeface="Tahoma" panose="020B0604030504040204" pitchFamily="34" charset="0"/>
                </a:rPr>
                <a:t>下差不多</a:t>
              </a:r>
              <a:endParaRPr kumimoji="0" lang="zh-CN" altLang="en-US" sz="2400" b="0" i="0" u="none" strike="noStrike" cap="none" normalizeH="0" baseline="0" dirty="0" smtClean="0">
                <a:ln>
                  <a:noFill/>
                </a:ln>
                <a:solidFill>
                  <a:srgbClr val="0033CC"/>
                </a:solidFill>
                <a:effectLst/>
                <a:latin typeface="Tahoma" panose="020B0604030504040204" pitchFamily="34" charset="0"/>
              </a:endParaRPr>
            </a:p>
          </p:txBody>
        </p:sp>
      </p:grpSp>
    </p:spTree>
  </p:cSld>
  <p:clrMapOvr>
    <a:masterClrMapping/>
  </p:clrMapOvr>
  <p:transition>
    <p:cover dir="u"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3.5 </a:t>
            </a:r>
            <a:r>
              <a:rPr lang="zh-CN" altLang="en-US" dirty="0"/>
              <a:t>多分类学习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83568" y="836712"/>
            <a:ext cx="7772400" cy="5760640"/>
          </a:xfrm>
        </p:spPr>
        <p:txBody>
          <a:bodyPr/>
          <a:lstStyle/>
          <a:p>
            <a:r>
              <a:rPr lang="zh-CN" altLang="en-US" dirty="0"/>
              <a:t>拆</a:t>
            </a:r>
            <a:r>
              <a:rPr lang="zh-CN" altLang="en-US" dirty="0" smtClean="0"/>
              <a:t>解法   </a:t>
            </a:r>
            <a:endParaRPr lang="en-US" altLang="zh-CN" dirty="0" smtClean="0"/>
          </a:p>
          <a:p>
            <a:pPr lvl="1"/>
            <a:r>
              <a:rPr lang="zh-CN" altLang="en-US" dirty="0" smtClean="0">
                <a:latin typeface="+mn-ea"/>
              </a:rPr>
              <a:t>多</a:t>
            </a:r>
            <a:r>
              <a:rPr lang="zh-CN" altLang="en-US" dirty="0">
                <a:latin typeface="+mn-ea"/>
              </a:rPr>
              <a:t>对</a:t>
            </a:r>
            <a:r>
              <a:rPr lang="zh-CN" altLang="en-US" dirty="0" smtClean="0">
                <a:latin typeface="+mn-ea"/>
              </a:rPr>
              <a:t>多</a:t>
            </a:r>
            <a:r>
              <a:rPr lang="en-US" altLang="zh-CN" dirty="0" smtClean="0">
                <a:latin typeface="+mn-ea"/>
              </a:rPr>
              <a:t>(</a:t>
            </a:r>
            <a:r>
              <a:rPr lang="en-US" altLang="zh-CN" dirty="0">
                <a:latin typeface="+mn-ea"/>
              </a:rPr>
              <a:t>Many </a:t>
            </a:r>
            <a:r>
              <a:rPr lang="en-US" altLang="zh-CN" dirty="0" err="1" smtClean="0">
                <a:latin typeface="+mn-ea"/>
              </a:rPr>
              <a:t>vs.Many</a:t>
            </a:r>
            <a:r>
              <a:rPr lang="zh-CN" altLang="en-US" dirty="0" smtClean="0">
                <a:latin typeface="+mn-ea"/>
              </a:rPr>
              <a:t>，</a:t>
            </a:r>
            <a:r>
              <a:rPr lang="en-US" altLang="zh-CN" dirty="0" err="1" smtClean="0">
                <a:latin typeface="+mn-ea"/>
              </a:rPr>
              <a:t>MvM</a:t>
            </a:r>
            <a:r>
              <a:rPr lang="en-US" altLang="zh-CN" dirty="0" smtClean="0">
                <a:latin typeface="+mn-ea"/>
              </a:rPr>
              <a:t>)</a:t>
            </a:r>
            <a:endParaRPr lang="en-US" altLang="zh-CN" dirty="0" smtClean="0">
              <a:latin typeface="+mn-ea"/>
            </a:endParaRPr>
          </a:p>
          <a:p>
            <a:pPr lvl="2"/>
            <a:r>
              <a:rPr lang="zh-CN" altLang="en-US" dirty="0" smtClean="0">
                <a:latin typeface="+mn-ea"/>
              </a:rPr>
              <a:t>每次</a:t>
            </a:r>
            <a:r>
              <a:rPr lang="zh-CN" altLang="en-US" dirty="0">
                <a:latin typeface="+mn-ea"/>
              </a:rPr>
              <a:t>将</a:t>
            </a:r>
            <a:r>
              <a:rPr lang="zh-CN" altLang="en-US" dirty="0" smtClean="0">
                <a:latin typeface="+mn-ea"/>
              </a:rPr>
              <a:t>若干类</a:t>
            </a:r>
            <a:r>
              <a:rPr lang="zh-CN" altLang="en-US" dirty="0">
                <a:latin typeface="+mn-ea"/>
              </a:rPr>
              <a:t>作为正类，</a:t>
            </a:r>
            <a:r>
              <a:rPr lang="zh-CN" altLang="en-US" dirty="0" smtClean="0">
                <a:latin typeface="+mn-ea"/>
              </a:rPr>
              <a:t>若干其他</a:t>
            </a:r>
            <a:r>
              <a:rPr lang="zh-CN" altLang="en-US" dirty="0">
                <a:latin typeface="+mn-ea"/>
              </a:rPr>
              <a:t>类作为反</a:t>
            </a:r>
            <a:r>
              <a:rPr lang="zh-CN" altLang="en-US" dirty="0" smtClean="0">
                <a:latin typeface="+mn-ea"/>
              </a:rPr>
              <a:t>类</a:t>
            </a:r>
            <a:endParaRPr lang="en-US" altLang="zh-CN" dirty="0" smtClean="0">
              <a:latin typeface="+mn-ea"/>
            </a:endParaRPr>
          </a:p>
          <a:p>
            <a:pPr lvl="2"/>
            <a:r>
              <a:rPr lang="en-US" altLang="zh-CN" dirty="0" err="1">
                <a:latin typeface="+mn-ea"/>
              </a:rPr>
              <a:t>OvO</a:t>
            </a:r>
            <a:r>
              <a:rPr lang="zh-CN" altLang="en-US" dirty="0">
                <a:latin typeface="+mn-ea"/>
              </a:rPr>
              <a:t>和</a:t>
            </a:r>
            <a:r>
              <a:rPr lang="en-US" altLang="zh-CN" dirty="0" err="1">
                <a:latin typeface="+mn-ea"/>
              </a:rPr>
              <a:t>OvR</a:t>
            </a:r>
            <a:r>
              <a:rPr lang="zh-CN" altLang="en-US" dirty="0">
                <a:latin typeface="+mn-ea"/>
              </a:rPr>
              <a:t>是</a:t>
            </a:r>
            <a:r>
              <a:rPr lang="en-US" altLang="zh-CN" dirty="0" err="1">
                <a:latin typeface="+mn-ea"/>
              </a:rPr>
              <a:t>MvM</a:t>
            </a:r>
            <a:r>
              <a:rPr lang="zh-CN" altLang="en-US" dirty="0">
                <a:latin typeface="+mn-ea"/>
              </a:rPr>
              <a:t>的特例</a:t>
            </a:r>
            <a:endParaRPr lang="en-US" altLang="zh-CN" dirty="0">
              <a:latin typeface="+mn-ea"/>
            </a:endParaRPr>
          </a:p>
          <a:p>
            <a:pPr lvl="2"/>
            <a:r>
              <a:rPr lang="zh-CN" altLang="en-US" dirty="0" smtClean="0">
                <a:latin typeface="+mn-ea"/>
              </a:rPr>
              <a:t>正反</a:t>
            </a:r>
            <a:r>
              <a:rPr lang="zh-CN" altLang="en-US" dirty="0">
                <a:latin typeface="+mn-ea"/>
              </a:rPr>
              <a:t>类构造必须有特殊的设计，不能随意</a:t>
            </a:r>
            <a:r>
              <a:rPr lang="zh-CN" altLang="en-US" dirty="0" smtClean="0">
                <a:latin typeface="+mn-ea"/>
              </a:rPr>
              <a:t>选取，下面介绍一种</a:t>
            </a:r>
            <a:endParaRPr lang="en-US" altLang="zh-CN" dirty="0" smtClean="0">
              <a:latin typeface="+mn-ea"/>
            </a:endParaRPr>
          </a:p>
          <a:p>
            <a:pPr lvl="2"/>
            <a:r>
              <a:rPr lang="zh-CN" altLang="en-US" dirty="0" smtClean="0">
                <a:latin typeface="+mn-ea"/>
              </a:rPr>
              <a:t>纠错</a:t>
            </a:r>
            <a:r>
              <a:rPr lang="zh-CN" altLang="en-US" dirty="0">
                <a:latin typeface="+mn-ea"/>
              </a:rPr>
              <a:t>输出</a:t>
            </a:r>
            <a:r>
              <a:rPr lang="zh-CN" altLang="en-US" dirty="0" smtClean="0">
                <a:latin typeface="+mn-ea"/>
              </a:rPr>
              <a:t>码</a:t>
            </a:r>
            <a:r>
              <a:rPr lang="en-US" altLang="zh-CN" dirty="0" smtClean="0">
                <a:latin typeface="+mn-ea"/>
              </a:rPr>
              <a:t>(ECOC)</a:t>
            </a:r>
            <a:r>
              <a:rPr lang="zh-CN" altLang="en-US" dirty="0" smtClean="0">
                <a:latin typeface="+mn-ea"/>
              </a:rPr>
              <a:t>（一种</a:t>
            </a:r>
            <a:r>
              <a:rPr lang="en-US" altLang="zh-CN" dirty="0" err="1" smtClean="0">
                <a:latin typeface="+mn-ea"/>
              </a:rPr>
              <a:t>MvM</a:t>
            </a:r>
            <a:r>
              <a:rPr lang="zh-CN" altLang="en-US" dirty="0" smtClean="0">
                <a:latin typeface="+mn-ea"/>
              </a:rPr>
              <a:t>技术）</a:t>
            </a:r>
            <a:endParaRPr lang="en-US" altLang="zh-CN" dirty="0" smtClean="0">
              <a:latin typeface="+mn-ea"/>
            </a:endParaRPr>
          </a:p>
          <a:p>
            <a:pPr lvl="3"/>
            <a:r>
              <a:rPr lang="zh-CN" altLang="en-US" spc="-50" dirty="0">
                <a:latin typeface="+mn-ea"/>
              </a:rPr>
              <a:t>将</a:t>
            </a:r>
            <a:r>
              <a:rPr lang="zh-CN" altLang="en-US" spc="-50" dirty="0" smtClean="0">
                <a:latin typeface="+mn-ea"/>
              </a:rPr>
              <a:t>编码思想</a:t>
            </a:r>
            <a:r>
              <a:rPr lang="zh-CN" altLang="en-US" spc="-50" dirty="0">
                <a:latin typeface="+mn-ea"/>
              </a:rPr>
              <a:t>引入类别拆分</a:t>
            </a:r>
            <a:r>
              <a:rPr lang="zh-CN" altLang="en-US" spc="-50" dirty="0" smtClean="0">
                <a:latin typeface="+mn-ea"/>
              </a:rPr>
              <a:t>，尽量使解码过程具有容错性</a:t>
            </a:r>
            <a:endParaRPr lang="en-US" altLang="zh-CN" spc="-50" dirty="0" smtClean="0">
              <a:latin typeface="+mn-ea"/>
            </a:endParaRPr>
          </a:p>
          <a:p>
            <a:pPr lvl="3"/>
            <a:r>
              <a:rPr lang="zh-CN" altLang="en-US" dirty="0" smtClean="0">
                <a:latin typeface="+mn-ea"/>
              </a:rPr>
              <a:t>工作过程</a:t>
            </a:r>
            <a:endParaRPr lang="en-US" altLang="zh-CN" dirty="0" smtClean="0">
              <a:latin typeface="+mn-ea"/>
            </a:endParaRPr>
          </a:p>
          <a:p>
            <a:pPr lvl="4"/>
            <a:r>
              <a:rPr lang="zh-CN" altLang="en-US" dirty="0" smtClean="0">
                <a:latin typeface="+mn-ea"/>
              </a:rPr>
              <a:t>编码</a:t>
            </a:r>
            <a:endParaRPr lang="en-US" altLang="zh-CN" dirty="0" smtClean="0">
              <a:latin typeface="+mn-ea"/>
            </a:endParaRPr>
          </a:p>
          <a:p>
            <a:pPr lvl="5">
              <a:spcBef>
                <a:spcPts val="0"/>
              </a:spcBef>
            </a:pPr>
            <a:r>
              <a:rPr lang="zh-CN" altLang="en-US" dirty="0" smtClean="0">
                <a:latin typeface="+mn-ea"/>
              </a:rPr>
              <a:t>对</a:t>
            </a:r>
            <a:r>
              <a:rPr lang="en-US" altLang="zh-CN" dirty="0">
                <a:latin typeface="+mn-ea"/>
              </a:rPr>
              <a:t>N</a:t>
            </a:r>
            <a:r>
              <a:rPr lang="zh-CN" altLang="en-US" dirty="0">
                <a:latin typeface="+mn-ea"/>
              </a:rPr>
              <a:t>个类别做</a:t>
            </a:r>
            <a:r>
              <a:rPr lang="en-US" altLang="zh-CN" dirty="0">
                <a:latin typeface="+mn-ea"/>
              </a:rPr>
              <a:t>M</a:t>
            </a:r>
            <a:r>
              <a:rPr lang="zh-CN" altLang="en-US" dirty="0">
                <a:latin typeface="+mn-ea"/>
              </a:rPr>
              <a:t>次</a:t>
            </a:r>
            <a:r>
              <a:rPr lang="zh-CN" altLang="en-US" dirty="0" smtClean="0">
                <a:latin typeface="+mn-ea"/>
              </a:rPr>
              <a:t>划分</a:t>
            </a:r>
            <a:endParaRPr lang="en-US" altLang="zh-CN" dirty="0" smtClean="0">
              <a:latin typeface="+mn-ea"/>
            </a:endParaRPr>
          </a:p>
          <a:p>
            <a:pPr lvl="5">
              <a:spcBef>
                <a:spcPts val="0"/>
              </a:spcBef>
            </a:pPr>
            <a:r>
              <a:rPr lang="zh-CN" altLang="en-US" dirty="0" smtClean="0">
                <a:latin typeface="+mn-ea"/>
              </a:rPr>
              <a:t>每次</a:t>
            </a:r>
            <a:r>
              <a:rPr lang="zh-CN" altLang="en-US" dirty="0">
                <a:latin typeface="+mn-ea"/>
              </a:rPr>
              <a:t>划分将</a:t>
            </a:r>
            <a:r>
              <a:rPr lang="zh-CN" altLang="en-US" dirty="0" smtClean="0">
                <a:latin typeface="+mn-ea"/>
              </a:rPr>
              <a:t>一部分划</a:t>
            </a:r>
            <a:r>
              <a:rPr lang="zh-CN" altLang="en-US" dirty="0">
                <a:latin typeface="+mn-ea"/>
              </a:rPr>
              <a:t>为正</a:t>
            </a:r>
            <a:r>
              <a:rPr lang="zh-CN" altLang="en-US" dirty="0" smtClean="0">
                <a:latin typeface="+mn-ea"/>
              </a:rPr>
              <a:t>类一部分</a:t>
            </a:r>
            <a:r>
              <a:rPr lang="zh-CN" altLang="en-US" dirty="0">
                <a:latin typeface="+mn-ea"/>
              </a:rPr>
              <a:t>划为反</a:t>
            </a:r>
            <a:r>
              <a:rPr lang="zh-CN" altLang="en-US" dirty="0" smtClean="0">
                <a:latin typeface="+mn-ea"/>
              </a:rPr>
              <a:t>类</a:t>
            </a:r>
            <a:endParaRPr lang="en-US" altLang="zh-CN" dirty="0" smtClean="0">
              <a:latin typeface="+mn-ea"/>
            </a:endParaRPr>
          </a:p>
          <a:p>
            <a:pPr lvl="5">
              <a:spcBef>
                <a:spcPts val="0"/>
              </a:spcBef>
            </a:pPr>
            <a:r>
              <a:rPr lang="zh-CN" altLang="en-US" dirty="0" smtClean="0">
                <a:latin typeface="+mn-ea"/>
              </a:rPr>
              <a:t>共产</a:t>
            </a:r>
            <a:r>
              <a:rPr lang="zh-CN" altLang="en-US" dirty="0">
                <a:latin typeface="+mn-ea"/>
              </a:rPr>
              <a:t>生</a:t>
            </a:r>
            <a:r>
              <a:rPr lang="en-US" altLang="zh-CN" dirty="0">
                <a:latin typeface="+mn-ea"/>
              </a:rPr>
              <a:t>M</a:t>
            </a:r>
            <a:r>
              <a:rPr lang="zh-CN" altLang="en-US" dirty="0">
                <a:latin typeface="+mn-ea"/>
              </a:rPr>
              <a:t>个训练集，</a:t>
            </a:r>
            <a:r>
              <a:rPr lang="zh-CN" altLang="en-US" dirty="0" smtClean="0">
                <a:latin typeface="+mn-ea"/>
              </a:rPr>
              <a:t>可训练</a:t>
            </a:r>
            <a:r>
              <a:rPr lang="zh-CN" altLang="en-US" dirty="0">
                <a:latin typeface="+mn-ea"/>
              </a:rPr>
              <a:t>出</a:t>
            </a:r>
            <a:r>
              <a:rPr lang="en-US" altLang="zh-CN" dirty="0">
                <a:latin typeface="+mn-ea"/>
              </a:rPr>
              <a:t>M</a:t>
            </a:r>
            <a:r>
              <a:rPr lang="zh-CN" altLang="en-US" dirty="0">
                <a:latin typeface="+mn-ea"/>
              </a:rPr>
              <a:t>个</a:t>
            </a:r>
            <a:r>
              <a:rPr lang="zh-CN" altLang="en-US" dirty="0" smtClean="0">
                <a:latin typeface="+mn-ea"/>
              </a:rPr>
              <a:t>分类器</a:t>
            </a:r>
            <a:endParaRPr lang="en-US" altLang="zh-CN" dirty="0" smtClean="0">
              <a:latin typeface="+mn-ea"/>
            </a:endParaRPr>
          </a:p>
          <a:p>
            <a:pPr lvl="4"/>
            <a:r>
              <a:rPr lang="zh-CN" altLang="en-US" dirty="0" smtClean="0">
                <a:latin typeface="+mn-ea"/>
              </a:rPr>
              <a:t>解码</a:t>
            </a:r>
            <a:endParaRPr lang="en-US" altLang="zh-CN" dirty="0" smtClean="0">
              <a:latin typeface="+mn-ea"/>
            </a:endParaRPr>
          </a:p>
          <a:p>
            <a:pPr lvl="5">
              <a:spcBef>
                <a:spcPts val="0"/>
              </a:spcBef>
            </a:pPr>
            <a:r>
              <a:rPr lang="en-US" altLang="zh-CN" dirty="0" smtClean="0">
                <a:latin typeface="+mn-ea"/>
              </a:rPr>
              <a:t>M</a:t>
            </a:r>
            <a:r>
              <a:rPr lang="zh-CN" altLang="en-US" dirty="0">
                <a:latin typeface="+mn-ea"/>
              </a:rPr>
              <a:t>个分类器</a:t>
            </a:r>
            <a:r>
              <a:rPr lang="zh-CN" altLang="en-US" dirty="0" smtClean="0">
                <a:latin typeface="+mn-ea"/>
              </a:rPr>
              <a:t>分别预测，预测</a:t>
            </a:r>
            <a:r>
              <a:rPr lang="zh-CN" altLang="en-US" dirty="0">
                <a:latin typeface="+mn-ea"/>
              </a:rPr>
              <a:t>标记组成一个</a:t>
            </a:r>
            <a:r>
              <a:rPr lang="zh-CN" altLang="en-US" dirty="0" smtClean="0">
                <a:latin typeface="+mn-ea"/>
              </a:rPr>
              <a:t>编码</a:t>
            </a:r>
            <a:endParaRPr lang="en-US" altLang="zh-CN" dirty="0" smtClean="0">
              <a:latin typeface="+mn-ea"/>
            </a:endParaRPr>
          </a:p>
          <a:p>
            <a:pPr lvl="5" algn="just">
              <a:spcBef>
                <a:spcPts val="0"/>
              </a:spcBef>
            </a:pPr>
            <a:r>
              <a:rPr lang="zh-CN" altLang="en-US" dirty="0" smtClean="0">
                <a:latin typeface="+mn-ea"/>
              </a:rPr>
              <a:t>将预测编码</a:t>
            </a:r>
            <a:r>
              <a:rPr lang="zh-CN" altLang="en-US" dirty="0">
                <a:latin typeface="+mn-ea"/>
              </a:rPr>
              <a:t>与每个</a:t>
            </a:r>
            <a:r>
              <a:rPr lang="zh-CN" altLang="en-US" dirty="0" smtClean="0">
                <a:latin typeface="+mn-ea"/>
              </a:rPr>
              <a:t>类别编码比较</a:t>
            </a:r>
            <a:r>
              <a:rPr lang="zh-CN" altLang="en-US" dirty="0">
                <a:latin typeface="+mn-ea"/>
              </a:rPr>
              <a:t>，</a:t>
            </a:r>
            <a:r>
              <a:rPr lang="zh-CN" altLang="en-US" dirty="0" smtClean="0">
                <a:latin typeface="+mn-ea"/>
              </a:rPr>
              <a:t>返回距离最小的类别预测结果</a:t>
            </a:r>
            <a:endParaRPr lang="en-US" altLang="zh-CN" dirty="0">
              <a:latin typeface="+mn-ea"/>
            </a:endParaRPr>
          </a:p>
          <a:p>
            <a:pPr lvl="4"/>
            <a:endParaRPr lang="en-US" altLang="zh-CN" dirty="0" smtClean="0">
              <a:latin typeface="+mn-ea"/>
            </a:endParaRPr>
          </a:p>
          <a:p>
            <a:pPr lvl="3"/>
            <a:endParaRPr lang="en-US" altLang="zh-CN" dirty="0" smtClean="0">
              <a:latin typeface="+mn-ea"/>
            </a:endParaRPr>
          </a:p>
          <a:p>
            <a:pPr lvl="1"/>
            <a:endParaRPr lang="en-US" altLang="zh-CN" dirty="0" smtClean="0">
              <a:latin typeface="+mn-ea"/>
            </a:endParaRPr>
          </a:p>
          <a:p>
            <a:pPr lvl="2"/>
            <a:endParaRPr lang="zh-CN" altLang="en-US" dirty="0">
              <a:latin typeface="+mn-ea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FCE9F0A-462E-4C69-95AA-11A5CD682488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  <p:transition>
    <p:cover dir="u"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3.5 </a:t>
            </a:r>
            <a:r>
              <a:rPr lang="zh-CN" altLang="en-US" dirty="0"/>
              <a:t>多分类学习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拆解法   </a:t>
            </a:r>
            <a:endParaRPr lang="en-US" altLang="zh-CN" dirty="0"/>
          </a:p>
          <a:p>
            <a:pPr lvl="1"/>
            <a:r>
              <a:rPr lang="zh-CN" altLang="en-US" dirty="0">
                <a:latin typeface="+mn-ea"/>
              </a:rPr>
              <a:t>多对多</a:t>
            </a:r>
            <a:r>
              <a:rPr lang="en-US" altLang="zh-CN" dirty="0">
                <a:latin typeface="+mn-ea"/>
              </a:rPr>
              <a:t>(Many </a:t>
            </a:r>
            <a:r>
              <a:rPr lang="en-US" altLang="zh-CN" dirty="0" err="1">
                <a:latin typeface="+mn-ea"/>
              </a:rPr>
              <a:t>vs.Many</a:t>
            </a:r>
            <a:r>
              <a:rPr lang="zh-CN" altLang="en-US" dirty="0">
                <a:latin typeface="+mn-ea"/>
              </a:rPr>
              <a:t>，</a:t>
            </a:r>
            <a:r>
              <a:rPr lang="en-US" altLang="zh-CN" dirty="0" err="1">
                <a:latin typeface="+mn-ea"/>
              </a:rPr>
              <a:t>MvM</a:t>
            </a:r>
            <a:r>
              <a:rPr lang="en-US" altLang="zh-CN" dirty="0">
                <a:latin typeface="+mn-ea"/>
              </a:rPr>
              <a:t>)</a:t>
            </a:r>
            <a:endParaRPr lang="en-US" altLang="zh-CN" dirty="0">
              <a:latin typeface="+mn-ea"/>
            </a:endParaRPr>
          </a:p>
          <a:p>
            <a:pPr lvl="2"/>
            <a:r>
              <a:rPr lang="zh-CN" altLang="en-US" dirty="0">
                <a:latin typeface="+mn-ea"/>
              </a:rPr>
              <a:t>纠错输出码</a:t>
            </a:r>
            <a:r>
              <a:rPr lang="en-US" altLang="zh-CN" dirty="0">
                <a:latin typeface="+mn-ea"/>
              </a:rPr>
              <a:t>(ECOC)</a:t>
            </a:r>
            <a:endParaRPr lang="en-US" altLang="zh-CN" dirty="0">
              <a:latin typeface="+mn-ea"/>
            </a:endParaRPr>
          </a:p>
          <a:p>
            <a:pPr lvl="3"/>
            <a:r>
              <a:rPr lang="zh-CN" altLang="en-US" dirty="0" smtClean="0">
                <a:latin typeface="+mn-ea"/>
              </a:rPr>
              <a:t>工作过程</a:t>
            </a:r>
            <a:endParaRPr lang="en-US" altLang="zh-CN" dirty="0">
              <a:latin typeface="+mn-ea"/>
            </a:endParaRPr>
          </a:p>
          <a:p>
            <a:pPr lvl="3"/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FCE9F0A-462E-4C69-95AA-11A5CD682488}" type="slidenum">
              <a:rPr lang="en-US" altLang="zh-CN" smtClean="0"/>
            </a:fld>
            <a:endParaRPr lang="en-US" altLang="zh-CN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504" y="2564904"/>
            <a:ext cx="8947908" cy="3610744"/>
          </a:xfrm>
          <a:prstGeom prst="rect">
            <a:avLst/>
          </a:prstGeom>
        </p:spPr>
      </p:pic>
    </p:spTree>
  </p:cSld>
  <p:clrMapOvr>
    <a:masterClrMapping/>
  </p:clrMapOvr>
  <p:transition>
    <p:cover dir="u"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3.5 </a:t>
            </a:r>
            <a:r>
              <a:rPr lang="zh-CN" altLang="en-US" dirty="0"/>
              <a:t>多分类学习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拆解法   </a:t>
            </a:r>
            <a:endParaRPr lang="en-US" altLang="zh-CN" dirty="0"/>
          </a:p>
          <a:p>
            <a:pPr lvl="1"/>
            <a:r>
              <a:rPr lang="zh-CN" altLang="en-US" dirty="0">
                <a:latin typeface="+mn-ea"/>
              </a:rPr>
              <a:t>多对多</a:t>
            </a:r>
            <a:r>
              <a:rPr lang="en-US" altLang="zh-CN" dirty="0">
                <a:latin typeface="+mn-ea"/>
              </a:rPr>
              <a:t>(Many </a:t>
            </a:r>
            <a:r>
              <a:rPr lang="en-US" altLang="zh-CN" dirty="0" err="1">
                <a:latin typeface="+mn-ea"/>
              </a:rPr>
              <a:t>vs.Many</a:t>
            </a:r>
            <a:r>
              <a:rPr lang="zh-CN" altLang="en-US" dirty="0">
                <a:latin typeface="+mn-ea"/>
              </a:rPr>
              <a:t>，</a:t>
            </a:r>
            <a:r>
              <a:rPr lang="en-US" altLang="zh-CN" dirty="0" err="1">
                <a:latin typeface="+mn-ea"/>
              </a:rPr>
              <a:t>MvM</a:t>
            </a:r>
            <a:r>
              <a:rPr lang="en-US" altLang="zh-CN" dirty="0">
                <a:latin typeface="+mn-ea"/>
              </a:rPr>
              <a:t>)</a:t>
            </a:r>
            <a:endParaRPr lang="en-US" altLang="zh-CN" dirty="0">
              <a:latin typeface="+mn-ea"/>
            </a:endParaRPr>
          </a:p>
          <a:p>
            <a:pPr lvl="2"/>
            <a:r>
              <a:rPr lang="zh-CN" altLang="en-US" dirty="0">
                <a:latin typeface="+mn-ea"/>
              </a:rPr>
              <a:t>纠错输出码</a:t>
            </a:r>
            <a:r>
              <a:rPr lang="en-US" altLang="zh-CN" dirty="0">
                <a:latin typeface="+mn-ea"/>
              </a:rPr>
              <a:t>(ECOC)</a:t>
            </a:r>
            <a:endParaRPr lang="en-US" altLang="zh-CN" dirty="0">
              <a:latin typeface="+mn-ea"/>
            </a:endParaRPr>
          </a:p>
          <a:p>
            <a:pPr lvl="3"/>
            <a:r>
              <a:rPr lang="zh-CN" altLang="en-US" dirty="0" smtClean="0"/>
              <a:t>编码矩阵</a:t>
            </a:r>
            <a:endParaRPr lang="en-US" altLang="zh-CN" dirty="0" smtClean="0"/>
          </a:p>
          <a:p>
            <a:pPr lvl="4"/>
            <a:r>
              <a:rPr lang="zh-CN" altLang="en-US" dirty="0"/>
              <a:t>类别划分</a:t>
            </a:r>
            <a:r>
              <a:rPr lang="zh-CN" altLang="en-US" dirty="0" smtClean="0"/>
              <a:t>通过编码矩阵指定</a:t>
            </a:r>
            <a:endParaRPr lang="en-US" altLang="zh-CN" dirty="0"/>
          </a:p>
          <a:p>
            <a:pPr lvl="4"/>
            <a:r>
              <a:rPr lang="zh-CN" altLang="en-US" dirty="0" smtClean="0"/>
              <a:t>二</a:t>
            </a:r>
            <a:r>
              <a:rPr lang="zh-CN" altLang="en-US" dirty="0"/>
              <a:t>元</a:t>
            </a:r>
            <a:r>
              <a:rPr lang="zh-CN" altLang="en-US" dirty="0" smtClean="0"/>
              <a:t>码：将</a:t>
            </a:r>
            <a:r>
              <a:rPr lang="zh-CN" altLang="en-US" dirty="0"/>
              <a:t>每个类别分别指定为正类和反</a:t>
            </a:r>
            <a:r>
              <a:rPr lang="zh-CN" altLang="en-US" dirty="0" smtClean="0"/>
              <a:t>类</a:t>
            </a:r>
            <a:endParaRPr lang="en-US" altLang="zh-CN" dirty="0"/>
          </a:p>
          <a:p>
            <a:pPr lvl="4"/>
            <a:r>
              <a:rPr lang="zh-CN" altLang="en-US" dirty="0" smtClean="0"/>
              <a:t>三</a:t>
            </a:r>
            <a:r>
              <a:rPr lang="zh-CN" altLang="en-US" dirty="0"/>
              <a:t>元</a:t>
            </a:r>
            <a:r>
              <a:rPr lang="zh-CN" altLang="en-US" dirty="0" smtClean="0"/>
              <a:t>码：在</a:t>
            </a:r>
            <a:r>
              <a:rPr lang="zh-CN" altLang="en-US" dirty="0"/>
              <a:t>正、反类之外</a:t>
            </a:r>
            <a:r>
              <a:rPr lang="zh-CN" altLang="en-US" dirty="0" smtClean="0"/>
              <a:t>，可指定停用类</a:t>
            </a:r>
            <a:endParaRPr lang="en-US" altLang="zh-CN" dirty="0" smtClean="0"/>
          </a:p>
          <a:p>
            <a:pPr lvl="4"/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FCE9F0A-462E-4C69-95AA-11A5CD682488}" type="slidenum">
              <a:rPr lang="en-US" altLang="zh-CN" smtClean="0"/>
            </a:fld>
            <a:endParaRPr lang="en-US" altLang="zh-CN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5496" y="3465344"/>
            <a:ext cx="9049147" cy="3060000"/>
          </a:xfrm>
          <a:prstGeom prst="rect">
            <a:avLst/>
          </a:prstGeom>
        </p:spPr>
      </p:pic>
    </p:spTree>
  </p:cSld>
  <p:clrMapOvr>
    <a:masterClrMapping/>
  </p:clrMapOvr>
  <p:transition>
    <p:cover dir="u"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3.5 </a:t>
            </a:r>
            <a:r>
              <a:rPr lang="zh-CN" altLang="en-US" dirty="0"/>
              <a:t>多分类学习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83568" y="836712"/>
            <a:ext cx="7772400" cy="5487888"/>
          </a:xfrm>
        </p:spPr>
        <p:txBody>
          <a:bodyPr/>
          <a:lstStyle/>
          <a:p>
            <a:r>
              <a:rPr lang="zh-CN" altLang="en-US" dirty="0"/>
              <a:t>拆解法   </a:t>
            </a:r>
            <a:endParaRPr lang="en-US" altLang="zh-CN" dirty="0"/>
          </a:p>
          <a:p>
            <a:pPr lvl="1"/>
            <a:r>
              <a:rPr lang="zh-CN" altLang="en-US" dirty="0">
                <a:latin typeface="+mn-ea"/>
              </a:rPr>
              <a:t>多对多</a:t>
            </a:r>
            <a:r>
              <a:rPr lang="en-US" altLang="zh-CN" dirty="0">
                <a:latin typeface="+mn-ea"/>
              </a:rPr>
              <a:t>(Many </a:t>
            </a:r>
            <a:r>
              <a:rPr lang="en-US" altLang="zh-CN" dirty="0" err="1">
                <a:latin typeface="+mn-ea"/>
              </a:rPr>
              <a:t>vs.Many</a:t>
            </a:r>
            <a:r>
              <a:rPr lang="zh-CN" altLang="en-US" dirty="0">
                <a:latin typeface="+mn-ea"/>
              </a:rPr>
              <a:t>，</a:t>
            </a:r>
            <a:r>
              <a:rPr lang="en-US" altLang="zh-CN" dirty="0" err="1">
                <a:latin typeface="+mn-ea"/>
              </a:rPr>
              <a:t>MvM</a:t>
            </a:r>
            <a:r>
              <a:rPr lang="en-US" altLang="zh-CN" dirty="0">
                <a:latin typeface="+mn-ea"/>
              </a:rPr>
              <a:t>)</a:t>
            </a:r>
            <a:endParaRPr lang="en-US" altLang="zh-CN" dirty="0">
              <a:latin typeface="+mn-ea"/>
            </a:endParaRPr>
          </a:p>
          <a:p>
            <a:pPr lvl="2"/>
            <a:r>
              <a:rPr lang="zh-CN" altLang="en-US" dirty="0">
                <a:latin typeface="+mn-ea"/>
              </a:rPr>
              <a:t>纠错输出码</a:t>
            </a:r>
            <a:r>
              <a:rPr lang="en-US" altLang="zh-CN" dirty="0">
                <a:latin typeface="+mn-ea"/>
              </a:rPr>
              <a:t>(ECOC</a:t>
            </a:r>
            <a:r>
              <a:rPr lang="en-US" altLang="zh-CN" dirty="0" smtClean="0">
                <a:latin typeface="+mn-ea"/>
              </a:rPr>
              <a:t>)</a:t>
            </a:r>
            <a:endParaRPr lang="en-US" altLang="zh-CN" dirty="0" smtClean="0">
              <a:latin typeface="+mn-ea"/>
            </a:endParaRPr>
          </a:p>
          <a:p>
            <a:pPr lvl="3"/>
            <a:r>
              <a:rPr lang="en-US" altLang="zh-CN" dirty="0" smtClean="0">
                <a:latin typeface="+mn-ea"/>
              </a:rPr>
              <a:t>ECOC</a:t>
            </a:r>
            <a:r>
              <a:rPr lang="zh-CN" altLang="en-US" dirty="0" smtClean="0">
                <a:latin typeface="+mn-ea"/>
              </a:rPr>
              <a:t>编码</a:t>
            </a:r>
            <a:r>
              <a:rPr lang="zh-CN" altLang="en-US" dirty="0">
                <a:latin typeface="+mn-ea"/>
              </a:rPr>
              <a:t>对分类器错误有一定容忍和修正</a:t>
            </a:r>
            <a:r>
              <a:rPr lang="zh-CN" altLang="en-US" dirty="0" smtClean="0">
                <a:latin typeface="+mn-ea"/>
              </a:rPr>
              <a:t>能力，编码</a:t>
            </a:r>
            <a:r>
              <a:rPr lang="zh-CN" altLang="en-US" dirty="0">
                <a:latin typeface="+mn-ea"/>
              </a:rPr>
              <a:t>越长、</a:t>
            </a:r>
            <a:r>
              <a:rPr lang="zh-CN" altLang="en-US" dirty="0" smtClean="0">
                <a:latin typeface="+mn-ea"/>
              </a:rPr>
              <a:t>纠错能力</a:t>
            </a:r>
            <a:r>
              <a:rPr lang="zh-CN" altLang="en-US" dirty="0">
                <a:latin typeface="+mn-ea"/>
              </a:rPr>
              <a:t>越</a:t>
            </a:r>
            <a:r>
              <a:rPr lang="zh-CN" altLang="en-US" dirty="0" smtClean="0">
                <a:latin typeface="+mn-ea"/>
              </a:rPr>
              <a:t>强，</a:t>
            </a:r>
            <a:r>
              <a:rPr lang="zh-CN" altLang="en-US" dirty="0">
                <a:latin typeface="+mn-ea"/>
              </a:rPr>
              <a:t>因此称为纠错输出码</a:t>
            </a:r>
            <a:endParaRPr lang="zh-CN" altLang="en-US" dirty="0">
              <a:latin typeface="+mn-ea"/>
            </a:endParaRPr>
          </a:p>
          <a:p>
            <a:pPr lvl="4"/>
            <a:r>
              <a:rPr lang="zh-CN" altLang="en-US" dirty="0" smtClean="0">
                <a:latin typeface="+mn-ea"/>
              </a:rPr>
              <a:t>编码</a:t>
            </a:r>
            <a:r>
              <a:rPr lang="zh-CN" altLang="en-US" dirty="0">
                <a:latin typeface="+mn-ea"/>
              </a:rPr>
              <a:t>越长</a:t>
            </a:r>
            <a:r>
              <a:rPr lang="zh-CN" altLang="en-US" dirty="0" smtClean="0">
                <a:latin typeface="+mn-ea"/>
              </a:rPr>
              <a:t>，所</a:t>
            </a:r>
            <a:r>
              <a:rPr lang="zh-CN" altLang="en-US" dirty="0">
                <a:latin typeface="+mn-ea"/>
              </a:rPr>
              <a:t>需训练的分类器越多，计算、存储开销都会</a:t>
            </a:r>
            <a:r>
              <a:rPr lang="zh-CN" altLang="en-US" dirty="0" smtClean="0">
                <a:latin typeface="+mn-ea"/>
              </a:rPr>
              <a:t>增大</a:t>
            </a:r>
            <a:endParaRPr lang="en-US" altLang="zh-CN" dirty="0" smtClean="0">
              <a:latin typeface="+mn-ea"/>
            </a:endParaRPr>
          </a:p>
          <a:p>
            <a:pPr lvl="4"/>
            <a:r>
              <a:rPr lang="zh-CN" altLang="en-US" dirty="0" smtClean="0">
                <a:latin typeface="+mn-ea"/>
              </a:rPr>
              <a:t>对</a:t>
            </a:r>
            <a:r>
              <a:rPr lang="zh-CN" altLang="en-US" dirty="0">
                <a:latin typeface="+mn-ea"/>
              </a:rPr>
              <a:t>有限类别数，可能的组合数目是有限的，码长超过一定范围后就失去了</a:t>
            </a:r>
            <a:r>
              <a:rPr lang="zh-CN" altLang="en-US" dirty="0" smtClean="0">
                <a:latin typeface="+mn-ea"/>
              </a:rPr>
              <a:t>意义</a:t>
            </a:r>
            <a:endParaRPr lang="en-US" altLang="zh-CN" dirty="0" smtClean="0">
              <a:latin typeface="+mn-ea"/>
            </a:endParaRPr>
          </a:p>
          <a:p>
            <a:pPr lvl="3"/>
            <a:r>
              <a:rPr lang="zh-CN" altLang="en-US" dirty="0">
                <a:latin typeface="+mn-ea"/>
              </a:rPr>
              <a:t>对同等长度的编码，理论上来说，任意两个类别之间的编码距离</a:t>
            </a:r>
            <a:r>
              <a:rPr lang="zh-CN" altLang="en-US" dirty="0" smtClean="0">
                <a:latin typeface="+mn-ea"/>
              </a:rPr>
              <a:t>越远</a:t>
            </a:r>
            <a:r>
              <a:rPr lang="zh-CN" altLang="en-US" dirty="0">
                <a:latin typeface="+mn-ea"/>
              </a:rPr>
              <a:t>，则纠错能力越</a:t>
            </a:r>
            <a:r>
              <a:rPr lang="zh-CN" altLang="en-US" dirty="0" smtClean="0">
                <a:latin typeface="+mn-ea"/>
              </a:rPr>
              <a:t>强</a:t>
            </a:r>
            <a:endParaRPr lang="en-US" altLang="zh-CN" dirty="0" smtClean="0">
              <a:latin typeface="+mn-ea"/>
            </a:endParaRPr>
          </a:p>
          <a:p>
            <a:pPr lvl="4"/>
            <a:r>
              <a:rPr lang="zh-CN" altLang="en-US" dirty="0" smtClean="0">
                <a:latin typeface="+mn-ea"/>
              </a:rPr>
              <a:t>码长较小时可计算</a:t>
            </a:r>
            <a:r>
              <a:rPr lang="zh-CN" altLang="en-US" dirty="0">
                <a:latin typeface="+mn-ea"/>
              </a:rPr>
              <a:t>出理论最优</a:t>
            </a:r>
            <a:r>
              <a:rPr lang="zh-CN" altLang="en-US" dirty="0" smtClean="0">
                <a:latin typeface="+mn-ea"/>
              </a:rPr>
              <a:t>编码</a:t>
            </a:r>
            <a:endParaRPr lang="en-US" altLang="zh-CN" dirty="0" smtClean="0">
              <a:latin typeface="+mn-ea"/>
            </a:endParaRPr>
          </a:p>
          <a:p>
            <a:pPr lvl="4"/>
            <a:r>
              <a:rPr lang="zh-CN" altLang="en-US" dirty="0" smtClean="0">
                <a:latin typeface="+mn-ea"/>
              </a:rPr>
              <a:t>码长</a:t>
            </a:r>
            <a:r>
              <a:rPr lang="zh-CN" altLang="en-US" dirty="0">
                <a:latin typeface="+mn-ea"/>
              </a:rPr>
              <a:t>稍</a:t>
            </a:r>
            <a:r>
              <a:rPr lang="zh-CN" altLang="en-US" dirty="0" smtClean="0">
                <a:latin typeface="+mn-ea"/>
              </a:rPr>
              <a:t>大难以</a:t>
            </a:r>
            <a:r>
              <a:rPr lang="zh-CN" altLang="en-US" dirty="0">
                <a:latin typeface="+mn-ea"/>
              </a:rPr>
              <a:t>有效地确定最优编码</a:t>
            </a:r>
            <a:r>
              <a:rPr lang="zh-CN" altLang="en-US" dirty="0" smtClean="0">
                <a:latin typeface="+mn-ea"/>
              </a:rPr>
              <a:t>，是</a:t>
            </a:r>
            <a:r>
              <a:rPr lang="en-US" altLang="zh-CN" dirty="0" smtClean="0">
                <a:latin typeface="+mn-ea"/>
              </a:rPr>
              <a:t>NP</a:t>
            </a:r>
            <a:r>
              <a:rPr lang="zh-CN" altLang="en-US" dirty="0">
                <a:latin typeface="+mn-ea"/>
              </a:rPr>
              <a:t>难问题</a:t>
            </a:r>
            <a:endParaRPr lang="zh-CN" altLang="en-US" dirty="0">
              <a:latin typeface="+mn-ea"/>
            </a:endParaRPr>
          </a:p>
          <a:p>
            <a:pPr lvl="3"/>
            <a:r>
              <a:rPr lang="zh-CN" altLang="en-US" dirty="0" smtClean="0">
                <a:latin typeface="+mn-ea"/>
              </a:rPr>
              <a:t>不是编码理论</a:t>
            </a:r>
            <a:r>
              <a:rPr lang="zh-CN" altLang="en-US" dirty="0">
                <a:latin typeface="+mn-ea"/>
              </a:rPr>
              <a:t>性质越好，分类性能就越</a:t>
            </a:r>
            <a:r>
              <a:rPr lang="zh-CN" altLang="en-US" dirty="0" smtClean="0">
                <a:latin typeface="+mn-ea"/>
              </a:rPr>
              <a:t>好</a:t>
            </a:r>
            <a:r>
              <a:rPr lang="zh-CN" altLang="en-US" dirty="0" smtClean="0">
                <a:latin typeface="+mn-ea"/>
              </a:rPr>
              <a:t>，机器学习</a:t>
            </a:r>
            <a:r>
              <a:rPr lang="zh-CN" altLang="en-US" dirty="0">
                <a:latin typeface="+mn-ea"/>
              </a:rPr>
              <a:t>问题涉及很多</a:t>
            </a:r>
            <a:r>
              <a:rPr lang="zh-CN" altLang="en-US" dirty="0" smtClean="0">
                <a:latin typeface="+mn-ea"/>
              </a:rPr>
              <a:t>因素，如</a:t>
            </a:r>
            <a:r>
              <a:rPr lang="zh-CN" altLang="en-US" dirty="0">
                <a:latin typeface="+mn-ea"/>
              </a:rPr>
              <a:t>以下两个很难</a:t>
            </a:r>
            <a:r>
              <a:rPr lang="zh-CN" altLang="en-US" dirty="0" smtClean="0">
                <a:latin typeface="+mn-ea"/>
              </a:rPr>
              <a:t>比较</a:t>
            </a:r>
            <a:endParaRPr lang="en-US" altLang="zh-CN" dirty="0">
              <a:latin typeface="+mn-ea"/>
            </a:endParaRPr>
          </a:p>
          <a:p>
            <a:pPr lvl="4"/>
            <a:r>
              <a:rPr lang="zh-CN" altLang="en-US" dirty="0"/>
              <a:t>理论纠错性质很好</a:t>
            </a:r>
            <a:r>
              <a:rPr lang="zh-CN" altLang="en-US" dirty="0" smtClean="0"/>
              <a:t>、二</a:t>
            </a:r>
            <a:r>
              <a:rPr lang="zh-CN" altLang="en-US" dirty="0"/>
              <a:t>分类问题较难的</a:t>
            </a:r>
            <a:r>
              <a:rPr lang="zh-CN" altLang="en-US" dirty="0" smtClean="0"/>
              <a:t>编码</a:t>
            </a:r>
            <a:endParaRPr lang="en-US" altLang="zh-CN" dirty="0" smtClean="0"/>
          </a:p>
          <a:p>
            <a:pPr lvl="4"/>
            <a:r>
              <a:rPr lang="zh-CN" altLang="en-US" dirty="0"/>
              <a:t>理论纠错性质差一些</a:t>
            </a:r>
            <a:r>
              <a:rPr lang="zh-CN" altLang="en-US" dirty="0" smtClean="0"/>
              <a:t>、二</a:t>
            </a:r>
            <a:r>
              <a:rPr lang="zh-CN" altLang="en-US" dirty="0"/>
              <a:t>分类问题较简单的编码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FCE9F0A-462E-4C69-95AA-11A5CD682488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  <p:transition>
    <p:cover dir="u"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3.6 </a:t>
            </a:r>
            <a:r>
              <a:rPr lang="zh-CN" altLang="en-US" dirty="0" smtClean="0"/>
              <a:t>类别</a:t>
            </a:r>
            <a:r>
              <a:rPr lang="zh-CN" altLang="en-US" dirty="0"/>
              <a:t>不平衡问题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83568" y="836712"/>
            <a:ext cx="7772400" cy="5832648"/>
          </a:xfrm>
        </p:spPr>
        <p:txBody>
          <a:bodyPr/>
          <a:lstStyle/>
          <a:p>
            <a:r>
              <a:rPr lang="zh-CN" altLang="en-US" dirty="0"/>
              <a:t>类别</a:t>
            </a:r>
            <a:r>
              <a:rPr lang="zh-CN" altLang="en-US" dirty="0" smtClean="0"/>
              <a:t>不平衡是</a:t>
            </a:r>
            <a:r>
              <a:rPr lang="zh-CN" altLang="en-US" dirty="0"/>
              <a:t>指分类任务中不同类别的训练样例</a:t>
            </a:r>
            <a:r>
              <a:rPr lang="zh-CN" altLang="en-US" dirty="0" smtClean="0"/>
              <a:t>数目</a:t>
            </a:r>
            <a:r>
              <a:rPr lang="zh-CN" altLang="en-US" dirty="0"/>
              <a:t>差别很大的</a:t>
            </a:r>
            <a:r>
              <a:rPr lang="zh-CN" altLang="en-US" dirty="0" smtClean="0"/>
              <a:t>情况</a:t>
            </a:r>
            <a:endParaRPr lang="en-US" altLang="zh-CN" dirty="0" smtClean="0"/>
          </a:p>
          <a:p>
            <a:pPr lvl="1"/>
            <a:r>
              <a:rPr lang="zh-CN" altLang="en-US" dirty="0"/>
              <a:t>会对学习过程造成</a:t>
            </a:r>
            <a:r>
              <a:rPr lang="zh-CN" altLang="en-US" dirty="0" smtClean="0"/>
              <a:t>困扰，</a:t>
            </a:r>
            <a:r>
              <a:rPr lang="zh-CN" altLang="en-US" dirty="0" smtClean="0">
                <a:latin typeface="+mn-ea"/>
              </a:rPr>
              <a:t>如</a:t>
            </a:r>
            <a:r>
              <a:rPr lang="en-US" altLang="zh-CN" dirty="0" smtClean="0">
                <a:latin typeface="+mn-ea"/>
              </a:rPr>
              <a:t>998</a:t>
            </a:r>
            <a:r>
              <a:rPr lang="zh-CN" altLang="en-US" dirty="0" smtClean="0">
                <a:latin typeface="+mn-ea"/>
              </a:rPr>
              <a:t>个反例</a:t>
            </a:r>
            <a:r>
              <a:rPr lang="en-US" altLang="zh-CN" dirty="0" smtClean="0">
                <a:latin typeface="+mn-ea"/>
              </a:rPr>
              <a:t>2</a:t>
            </a:r>
            <a:r>
              <a:rPr lang="zh-CN" altLang="en-US" dirty="0" smtClean="0">
                <a:latin typeface="+mn-ea"/>
              </a:rPr>
              <a:t>正例</a:t>
            </a:r>
            <a:endParaRPr lang="en-US" altLang="zh-CN" dirty="0" smtClean="0">
              <a:latin typeface="+mn-ea"/>
            </a:endParaRPr>
          </a:p>
          <a:p>
            <a:r>
              <a:rPr lang="zh-CN" altLang="en-US" dirty="0" smtClean="0"/>
              <a:t>解决思路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假设二分类                   </a:t>
            </a:r>
            <a:endParaRPr lang="en-US" altLang="zh-CN" dirty="0" smtClean="0"/>
          </a:p>
          <a:p>
            <a:pPr lvl="2"/>
            <a:r>
              <a:rPr lang="zh-CN" altLang="en-US" dirty="0" smtClean="0">
                <a:latin typeface="+mn-ea"/>
              </a:rPr>
              <a:t>进行</a:t>
            </a:r>
            <a:r>
              <a:rPr lang="zh-CN" altLang="en-US" dirty="0">
                <a:latin typeface="+mn-ea"/>
              </a:rPr>
              <a:t>分类时</a:t>
            </a:r>
            <a:r>
              <a:rPr lang="zh-CN" altLang="en-US" dirty="0" smtClean="0">
                <a:latin typeface="+mn-ea"/>
              </a:rPr>
              <a:t>，用</a:t>
            </a:r>
            <a:r>
              <a:rPr lang="zh-CN" altLang="en-US" dirty="0">
                <a:latin typeface="+mn-ea"/>
              </a:rPr>
              <a:t>预测出的</a:t>
            </a:r>
            <a:r>
              <a:rPr lang="en-US" altLang="zh-CN" dirty="0">
                <a:latin typeface="+mn-ea"/>
              </a:rPr>
              <a:t>y</a:t>
            </a:r>
            <a:r>
              <a:rPr lang="zh-CN" altLang="en-US" dirty="0">
                <a:latin typeface="+mn-ea"/>
              </a:rPr>
              <a:t>值</a:t>
            </a:r>
            <a:r>
              <a:rPr lang="zh-CN" altLang="en-US" dirty="0" smtClean="0">
                <a:latin typeface="+mn-ea"/>
              </a:rPr>
              <a:t>与阈值比</a:t>
            </a:r>
            <a:r>
              <a:rPr lang="zh-CN" altLang="en-US" dirty="0">
                <a:latin typeface="+mn-ea"/>
              </a:rPr>
              <a:t>较</a:t>
            </a:r>
            <a:r>
              <a:rPr lang="zh-CN" altLang="en-US" dirty="0" smtClean="0">
                <a:latin typeface="+mn-ea"/>
              </a:rPr>
              <a:t>，如</a:t>
            </a:r>
            <a:r>
              <a:rPr lang="en-US" altLang="zh-CN" dirty="0" smtClean="0">
                <a:latin typeface="+mn-ea"/>
              </a:rPr>
              <a:t>y&gt;0.5</a:t>
            </a:r>
            <a:r>
              <a:rPr lang="zh-CN" altLang="en-US" dirty="0" smtClean="0">
                <a:latin typeface="+mn-ea"/>
              </a:rPr>
              <a:t>时为</a:t>
            </a:r>
            <a:r>
              <a:rPr lang="zh-CN" altLang="en-US" dirty="0">
                <a:latin typeface="+mn-ea"/>
              </a:rPr>
              <a:t>正例，否则为</a:t>
            </a:r>
            <a:r>
              <a:rPr lang="zh-CN" altLang="en-US" dirty="0" smtClean="0">
                <a:latin typeface="+mn-ea"/>
              </a:rPr>
              <a:t>反例</a:t>
            </a:r>
            <a:endParaRPr lang="en-US" altLang="zh-CN" dirty="0" smtClean="0">
              <a:latin typeface="+mn-ea"/>
            </a:endParaRPr>
          </a:p>
          <a:p>
            <a:pPr lvl="3"/>
            <a:r>
              <a:rPr lang="en-US" altLang="zh-CN" dirty="0" smtClean="0">
                <a:latin typeface="+mn-ea"/>
              </a:rPr>
              <a:t>y</a:t>
            </a:r>
            <a:r>
              <a:rPr lang="zh-CN" altLang="en-US" dirty="0" smtClean="0">
                <a:latin typeface="+mn-ea"/>
              </a:rPr>
              <a:t>实际上</a:t>
            </a:r>
            <a:r>
              <a:rPr lang="zh-CN" altLang="en-US" dirty="0">
                <a:latin typeface="+mn-ea"/>
              </a:rPr>
              <a:t>表达了正例的可能性</a:t>
            </a:r>
            <a:r>
              <a:rPr lang="zh-CN" altLang="en-US" dirty="0" smtClean="0">
                <a:latin typeface="+mn-ea"/>
              </a:rPr>
              <a:t>，</a:t>
            </a:r>
            <a:r>
              <a:rPr lang="zh-CN" altLang="en-US" dirty="0">
                <a:latin typeface="+mn-ea"/>
              </a:rPr>
              <a:t>几率</a:t>
            </a:r>
            <a:r>
              <a:rPr lang="en-US" altLang="zh-CN" dirty="0" smtClean="0">
                <a:latin typeface="+mn-ea"/>
              </a:rPr>
              <a:t>y/(1-y</a:t>
            </a:r>
            <a:r>
              <a:rPr lang="en-US" altLang="zh-CN" dirty="0">
                <a:latin typeface="+mn-ea"/>
              </a:rPr>
              <a:t>)</a:t>
            </a:r>
            <a:r>
              <a:rPr lang="zh-CN" altLang="en-US" dirty="0" smtClean="0">
                <a:latin typeface="+mn-ea"/>
              </a:rPr>
              <a:t>反映</a:t>
            </a:r>
            <a:r>
              <a:rPr lang="zh-CN" altLang="en-US" dirty="0">
                <a:latin typeface="+mn-ea"/>
              </a:rPr>
              <a:t>了正例可能性与反例可能性之</a:t>
            </a:r>
            <a:r>
              <a:rPr lang="zh-CN" altLang="en-US" dirty="0" smtClean="0">
                <a:latin typeface="+mn-ea"/>
              </a:rPr>
              <a:t>比</a:t>
            </a:r>
            <a:endParaRPr lang="en-US" altLang="zh-CN" dirty="0" smtClean="0">
              <a:latin typeface="+mn-ea"/>
            </a:endParaRPr>
          </a:p>
          <a:p>
            <a:pPr lvl="4"/>
            <a:r>
              <a:rPr lang="zh-CN" altLang="en-US" dirty="0" smtClean="0">
                <a:latin typeface="+mn-ea"/>
              </a:rPr>
              <a:t>若阈值为</a:t>
            </a:r>
            <a:r>
              <a:rPr lang="en-US" altLang="zh-CN" dirty="0" smtClean="0">
                <a:latin typeface="+mn-ea"/>
              </a:rPr>
              <a:t>0.5</a:t>
            </a:r>
            <a:r>
              <a:rPr lang="zh-CN" altLang="en-US" dirty="0" smtClean="0">
                <a:latin typeface="+mn-ea"/>
              </a:rPr>
              <a:t>，分类器决策规则可写为“</a:t>
            </a:r>
            <a:r>
              <a:rPr lang="en-US" altLang="zh-CN" dirty="0" smtClean="0">
                <a:latin typeface="+mn-ea"/>
              </a:rPr>
              <a:t>y</a:t>
            </a:r>
            <a:r>
              <a:rPr lang="en-US" altLang="zh-CN" dirty="0">
                <a:latin typeface="+mn-ea"/>
              </a:rPr>
              <a:t>/(1-y</a:t>
            </a:r>
            <a:r>
              <a:rPr lang="en-US" altLang="zh-CN" dirty="0" smtClean="0">
                <a:latin typeface="+mn-ea"/>
              </a:rPr>
              <a:t>)&gt;1</a:t>
            </a:r>
            <a:r>
              <a:rPr lang="zh-CN" altLang="en-US" dirty="0" smtClean="0">
                <a:latin typeface="+mn-ea"/>
              </a:rPr>
              <a:t>，则为正例”</a:t>
            </a:r>
            <a:endParaRPr lang="en-US" altLang="zh-CN" dirty="0" smtClean="0">
              <a:latin typeface="+mn-ea"/>
            </a:endParaRPr>
          </a:p>
          <a:p>
            <a:pPr lvl="2"/>
            <a:r>
              <a:rPr lang="zh-CN" altLang="en-US" dirty="0">
                <a:latin typeface="+mn-ea"/>
              </a:rPr>
              <a:t>当</a:t>
            </a:r>
            <a:r>
              <a:rPr lang="zh-CN" altLang="en-US" dirty="0" smtClean="0">
                <a:latin typeface="+mn-ea"/>
              </a:rPr>
              <a:t>训练集正反例</a:t>
            </a:r>
            <a:r>
              <a:rPr lang="zh-CN" altLang="en-US" dirty="0">
                <a:latin typeface="+mn-ea"/>
              </a:rPr>
              <a:t>的数目</a:t>
            </a:r>
            <a:r>
              <a:rPr lang="zh-CN" altLang="en-US" dirty="0" smtClean="0">
                <a:latin typeface="+mn-ea"/>
              </a:rPr>
              <a:t>不同，令</a:t>
            </a:r>
            <a:r>
              <a:rPr lang="en-US" altLang="zh-CN" dirty="0" smtClean="0">
                <a:latin typeface="+mn-ea"/>
              </a:rPr>
              <a:t>m+</a:t>
            </a:r>
            <a:r>
              <a:rPr lang="zh-CN" altLang="en-US" dirty="0">
                <a:latin typeface="+mn-ea"/>
              </a:rPr>
              <a:t>表示正例</a:t>
            </a:r>
            <a:r>
              <a:rPr lang="zh-CN" altLang="en-US" dirty="0" smtClean="0">
                <a:latin typeface="+mn-ea"/>
              </a:rPr>
              <a:t>数，</a:t>
            </a:r>
            <a:r>
              <a:rPr lang="en-US" altLang="zh-CN" dirty="0" smtClean="0">
                <a:latin typeface="+mn-ea"/>
              </a:rPr>
              <a:t>m-</a:t>
            </a:r>
            <a:r>
              <a:rPr lang="zh-CN" altLang="en-US" dirty="0" smtClean="0">
                <a:latin typeface="+mn-ea"/>
              </a:rPr>
              <a:t>表示</a:t>
            </a:r>
            <a:r>
              <a:rPr lang="zh-CN" altLang="en-US" dirty="0">
                <a:latin typeface="+mn-ea"/>
              </a:rPr>
              <a:t>反例</a:t>
            </a:r>
            <a:r>
              <a:rPr lang="zh-CN" altLang="en-US" dirty="0" smtClean="0">
                <a:latin typeface="+mn-ea"/>
              </a:rPr>
              <a:t>数，</a:t>
            </a:r>
            <a:r>
              <a:rPr lang="zh-CN" altLang="en-US" dirty="0">
                <a:latin typeface="+mn-ea"/>
              </a:rPr>
              <a:t>则</a:t>
            </a:r>
            <a:r>
              <a:rPr lang="zh-CN" altLang="en-US" dirty="0" smtClean="0">
                <a:latin typeface="+mn-ea"/>
              </a:rPr>
              <a:t>观测几率是</a:t>
            </a:r>
            <a:r>
              <a:rPr lang="en-US" altLang="zh-CN" dirty="0" smtClean="0">
                <a:latin typeface="+mn-ea"/>
              </a:rPr>
              <a:t>m+/m-</a:t>
            </a:r>
            <a:r>
              <a:rPr lang="zh-CN" altLang="en-US" dirty="0" smtClean="0">
                <a:latin typeface="+mn-ea"/>
              </a:rPr>
              <a:t>，因此</a:t>
            </a:r>
            <a:endParaRPr lang="en-US" altLang="zh-CN" dirty="0" smtClean="0">
              <a:latin typeface="+mn-ea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FCE9F0A-462E-4C69-95AA-11A5CD682488}" type="slidenum">
              <a:rPr lang="en-US" altLang="zh-CN" smtClean="0"/>
            </a:fld>
            <a:endParaRPr lang="en-US" altLang="zh-CN"/>
          </a:p>
        </p:txBody>
      </p:sp>
      <p:graphicFrame>
        <p:nvGraphicFramePr>
          <p:cNvPr id="5" name="对象 4"/>
          <p:cNvGraphicFramePr>
            <a:graphicFrameLocks noChangeAspect="1"/>
          </p:cNvGraphicFramePr>
          <p:nvPr/>
        </p:nvGraphicFramePr>
        <p:xfrm>
          <a:off x="3347863" y="2708920"/>
          <a:ext cx="1997452" cy="576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498" name="Equation" r:id="rId1" imgW="17983200" imgH="5181600" progId="Equation.DSMT4">
                  <p:embed/>
                </p:oleObj>
              </mc:Choice>
              <mc:Fallback>
                <p:oleObj name="Equation" r:id="rId1" imgW="17983200" imgH="5181600" progId="Equation.DSMT4">
                  <p:embed/>
                  <p:pic>
                    <p:nvPicPr>
                      <p:cNvPr id="0" name="图片 16497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3347863" y="2708920"/>
                        <a:ext cx="1997452" cy="576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/>
          <p:cNvGraphicFramePr>
            <a:graphicFrameLocks noChangeAspect="1"/>
          </p:cNvGraphicFramePr>
          <p:nvPr/>
        </p:nvGraphicFramePr>
        <p:xfrm>
          <a:off x="3347863" y="5877272"/>
          <a:ext cx="3145040" cy="78827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499" name="Equation" r:id="rId3" imgW="39014400" imgH="9753600" progId="Equation.DSMT4">
                  <p:embed/>
                </p:oleObj>
              </mc:Choice>
              <mc:Fallback>
                <p:oleObj name="Equation" r:id="rId3" imgW="39014400" imgH="9753600" progId="Equation.DSMT4">
                  <p:embed/>
                  <p:pic>
                    <p:nvPicPr>
                      <p:cNvPr id="0" name="图片 16498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347863" y="5877272"/>
                        <a:ext cx="3145040" cy="78827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cover dir="u"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3.6 </a:t>
            </a:r>
            <a:r>
              <a:rPr lang="zh-CN" altLang="en-US" dirty="0"/>
              <a:t>类别不平衡问题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83568" y="836712"/>
            <a:ext cx="7772400" cy="5328592"/>
          </a:xfrm>
        </p:spPr>
        <p:txBody>
          <a:bodyPr/>
          <a:lstStyle/>
          <a:p>
            <a:r>
              <a:rPr lang="zh-CN" altLang="en-US" dirty="0"/>
              <a:t>解决思路</a:t>
            </a:r>
            <a:endParaRPr lang="en-US" altLang="zh-CN" dirty="0"/>
          </a:p>
          <a:p>
            <a:pPr lvl="1"/>
            <a:r>
              <a:rPr lang="zh-CN" altLang="en-US" dirty="0"/>
              <a:t>再</a:t>
            </a:r>
            <a:r>
              <a:rPr lang="zh-CN" altLang="en-US" dirty="0" smtClean="0"/>
              <a:t>缩放：</a:t>
            </a:r>
            <a:r>
              <a:rPr lang="zh-CN" altLang="en-US" dirty="0"/>
              <a:t>对其预测值进行</a:t>
            </a:r>
            <a:r>
              <a:rPr lang="zh-CN" altLang="en-US" dirty="0" smtClean="0"/>
              <a:t>调整</a:t>
            </a:r>
            <a:endParaRPr lang="en-US" altLang="zh-CN" dirty="0" smtClean="0"/>
          </a:p>
          <a:p>
            <a:pPr lvl="2">
              <a:spcBef>
                <a:spcPts val="600"/>
              </a:spcBef>
            </a:pPr>
            <a:r>
              <a:rPr lang="zh-CN" altLang="en-US" dirty="0" smtClean="0"/>
              <a:t>简单</a:t>
            </a:r>
            <a:r>
              <a:rPr lang="zh-CN" altLang="en-US" dirty="0"/>
              <a:t>，但</a:t>
            </a:r>
            <a:r>
              <a:rPr lang="zh-CN" altLang="en-US" dirty="0" smtClean="0"/>
              <a:t>实际不易，因为未必能基于</a:t>
            </a:r>
            <a:r>
              <a:rPr lang="zh-CN" altLang="en-US" dirty="0"/>
              <a:t>训练集观测几率来</a:t>
            </a:r>
            <a:r>
              <a:rPr lang="zh-CN" altLang="en-US" dirty="0" smtClean="0"/>
              <a:t>推断真实</a:t>
            </a:r>
            <a:r>
              <a:rPr lang="zh-CN" altLang="en-US" dirty="0"/>
              <a:t>几率，训练集不是无偏采样</a:t>
            </a:r>
            <a:endParaRPr lang="en-US" altLang="zh-CN" dirty="0" smtClean="0"/>
          </a:p>
          <a:p>
            <a:pPr lvl="1"/>
            <a:r>
              <a:rPr lang="zh-CN" altLang="en-US" dirty="0"/>
              <a:t>欠采样</a:t>
            </a:r>
            <a:endParaRPr lang="en-US" altLang="zh-CN" dirty="0" smtClean="0"/>
          </a:p>
          <a:p>
            <a:pPr lvl="2"/>
            <a:r>
              <a:rPr lang="zh-CN" altLang="en-US" dirty="0" smtClean="0"/>
              <a:t>去除一些</a:t>
            </a:r>
            <a:r>
              <a:rPr lang="zh-CN" altLang="en-US" dirty="0"/>
              <a:t>反例</a:t>
            </a:r>
            <a:r>
              <a:rPr lang="zh-CN" altLang="en-US" dirty="0" smtClean="0"/>
              <a:t>使正反例</a:t>
            </a:r>
            <a:r>
              <a:rPr lang="zh-CN" altLang="en-US" dirty="0"/>
              <a:t>数目接近，</a:t>
            </a:r>
            <a:r>
              <a:rPr lang="zh-CN" altLang="en-US" dirty="0" smtClean="0"/>
              <a:t>然后进行学习</a:t>
            </a:r>
            <a:endParaRPr lang="en-US" altLang="zh-CN" dirty="0" smtClean="0"/>
          </a:p>
          <a:p>
            <a:pPr lvl="2"/>
            <a:r>
              <a:rPr lang="zh-CN" altLang="en-US" dirty="0" smtClean="0"/>
              <a:t>学习时间开销小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过采样</a:t>
            </a:r>
            <a:endParaRPr lang="en-US" altLang="zh-CN" dirty="0" smtClean="0"/>
          </a:p>
          <a:p>
            <a:pPr lvl="2"/>
            <a:r>
              <a:rPr lang="zh-CN" altLang="en-US" dirty="0" smtClean="0"/>
              <a:t>增加一些正例使正反例数目接近，然后进行学习</a:t>
            </a:r>
            <a:endParaRPr lang="en-US" altLang="zh-CN" dirty="0" smtClean="0"/>
          </a:p>
          <a:p>
            <a:pPr lvl="2"/>
            <a:r>
              <a:rPr lang="zh-CN" altLang="en-US" dirty="0"/>
              <a:t>学习时间</a:t>
            </a:r>
            <a:r>
              <a:rPr lang="zh-CN" altLang="en-US" dirty="0" smtClean="0"/>
              <a:t>开销大</a:t>
            </a:r>
            <a:endParaRPr lang="en-US" altLang="zh-CN" dirty="0"/>
          </a:p>
          <a:p>
            <a:pPr lvl="2"/>
            <a:r>
              <a:rPr lang="zh-CN" altLang="en-US" dirty="0" smtClean="0"/>
              <a:t>不能简单进行重复</a:t>
            </a:r>
            <a:r>
              <a:rPr lang="zh-CN" altLang="en-US" dirty="0"/>
              <a:t>采样，</a:t>
            </a:r>
            <a:r>
              <a:rPr lang="zh-CN" altLang="en-US" dirty="0" smtClean="0"/>
              <a:t>否则过拟合</a:t>
            </a:r>
            <a:endParaRPr lang="en-US" altLang="zh-CN" dirty="0" smtClean="0"/>
          </a:p>
          <a:p>
            <a:pPr lvl="3"/>
            <a:r>
              <a:rPr lang="zh-CN" altLang="en-US" dirty="0" smtClean="0"/>
              <a:t>对正</a:t>
            </a:r>
            <a:r>
              <a:rPr lang="zh-CN" altLang="en-US" dirty="0"/>
              <a:t>例进行插值来产生额外的正</a:t>
            </a:r>
            <a:r>
              <a:rPr lang="zh-CN" altLang="en-US" dirty="0" smtClean="0"/>
              <a:t>例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阈值移动</a:t>
            </a:r>
            <a:endParaRPr lang="en-US" altLang="zh-CN" dirty="0" smtClean="0"/>
          </a:p>
          <a:p>
            <a:pPr lvl="2"/>
            <a:r>
              <a:rPr lang="zh-CN" altLang="en-US" dirty="0"/>
              <a:t>基于原始训练集进行</a:t>
            </a:r>
            <a:r>
              <a:rPr lang="zh-CN" altLang="en-US" dirty="0" smtClean="0"/>
              <a:t>学习，将上式嵌入到决策过程中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FCE9F0A-462E-4C69-95AA-11A5CD682488}" type="slidenum">
              <a:rPr lang="en-US" altLang="zh-CN" smtClean="0"/>
            </a:fld>
            <a:endParaRPr lang="en-US" altLang="zh-CN" dirty="0"/>
          </a:p>
        </p:txBody>
      </p:sp>
      <p:graphicFrame>
        <p:nvGraphicFramePr>
          <p:cNvPr id="5" name="对象 4"/>
          <p:cNvGraphicFramePr>
            <a:graphicFrameLocks noChangeAspect="1"/>
          </p:cNvGraphicFramePr>
          <p:nvPr/>
        </p:nvGraphicFramePr>
        <p:xfrm>
          <a:off x="6281531" y="1164118"/>
          <a:ext cx="2162175" cy="787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63" name="Equation" r:id="rId1" imgW="26822400" imgH="9753600" progId="Equation.DSMT4">
                  <p:embed/>
                </p:oleObj>
              </mc:Choice>
              <mc:Fallback>
                <p:oleObj name="Equation" r:id="rId1" imgW="26822400" imgH="9753600" progId="Equation.DSMT4">
                  <p:embed/>
                  <p:pic>
                    <p:nvPicPr>
                      <p:cNvPr id="0" name="图片 17462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6281531" y="1164118"/>
                        <a:ext cx="2162175" cy="787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cover dir="u"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作业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 smtClean="0">
                <a:latin typeface="+mn-ea"/>
              </a:rPr>
              <a:t>3.3</a:t>
            </a:r>
            <a:r>
              <a:rPr lang="zh-CN" altLang="en-US" dirty="0" smtClean="0">
                <a:latin typeface="+mn-ea"/>
              </a:rPr>
              <a:t>，</a:t>
            </a:r>
            <a:r>
              <a:rPr lang="en-US" altLang="zh-CN" dirty="0" smtClean="0">
                <a:latin typeface="+mn-ea"/>
              </a:rPr>
              <a:t>3.5</a:t>
            </a:r>
            <a:endParaRPr lang="zh-CN" altLang="en-US" dirty="0">
              <a:latin typeface="+mn-ea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FCE9F0A-462E-4C69-95AA-11A5CD682488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  <p:transition>
    <p:cover dir="u"/>
  </p:transition>
</p:sld>
</file>

<file path=ppt/theme/theme1.xml><?xml version="1.0" encoding="utf-8"?>
<a:theme xmlns:a="http://schemas.openxmlformats.org/drawingml/2006/main" name="课件PPT主题1">
  <a:themeElements>
    <a:clrScheme name="Blends 2">
      <a:dk1>
        <a:srgbClr val="000000"/>
      </a:dk1>
      <a:lt1>
        <a:srgbClr val="FFFFFF"/>
      </a:lt1>
      <a:dk2>
        <a:srgbClr val="333399"/>
      </a:dk2>
      <a:lt2>
        <a:srgbClr val="1C1C1C"/>
      </a:lt2>
      <a:accent1>
        <a:srgbClr val="00E4A8"/>
      </a:accent1>
      <a:accent2>
        <a:srgbClr val="FFCF01"/>
      </a:accent2>
      <a:accent3>
        <a:srgbClr val="FFFFFF"/>
      </a:accent3>
      <a:accent4>
        <a:srgbClr val="000000"/>
      </a:accent4>
      <a:accent5>
        <a:srgbClr val="AAEFD1"/>
      </a:accent5>
      <a:accent6>
        <a:srgbClr val="E7BB01"/>
      </a:accent6>
      <a:hlink>
        <a:srgbClr val="FF0000"/>
      </a:hlink>
      <a:folHlink>
        <a:srgbClr val="3333CC"/>
      </a:folHlink>
    </a:clrScheme>
    <a:fontScheme name="Blends">
      <a:majorFont>
        <a:latin typeface="Tahoma"/>
        <a:ea typeface="宋体"/>
        <a:cs typeface=""/>
      </a:majorFont>
      <a:minorFont>
        <a:latin typeface="Tahoma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anose="020B060403050404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anose="020B0604030504040204" pitchFamily="34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Blends 1">
        <a:dk1>
          <a:srgbClr val="969696"/>
        </a:dk1>
        <a:lt1>
          <a:srgbClr val="FFFFFF"/>
        </a:lt1>
        <a:dk2>
          <a:srgbClr val="000000"/>
        </a:dk2>
        <a:lt2>
          <a:srgbClr val="DDDDDD"/>
        </a:lt2>
        <a:accent1>
          <a:srgbClr val="00E4A8"/>
        </a:accent1>
        <a:accent2>
          <a:srgbClr val="3333CC"/>
        </a:accent2>
        <a:accent3>
          <a:srgbClr val="AAAAAA"/>
        </a:accent3>
        <a:accent4>
          <a:srgbClr val="DADADA"/>
        </a:accent4>
        <a:accent5>
          <a:srgbClr val="AAEFD1"/>
        </a:accent5>
        <a:accent6>
          <a:srgbClr val="2D2DB9"/>
        </a:accent6>
        <a:hlink>
          <a:srgbClr val="FF5050"/>
        </a:hlink>
        <a:folHlink>
          <a:srgbClr val="FFCF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2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3">
        <a:dk1>
          <a:srgbClr val="000000"/>
        </a:dk1>
        <a:lt1>
          <a:srgbClr val="FFFFFF"/>
        </a:lt1>
        <a:dk2>
          <a:srgbClr val="000000"/>
        </a:dk2>
        <a:lt2>
          <a:srgbClr val="5F5F5F"/>
        </a:lt2>
        <a:accent1>
          <a:srgbClr val="EAEAEA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F3F3F3"/>
        </a:accent5>
        <a:accent6>
          <a:srgbClr val="737373"/>
        </a:accent6>
        <a:hlink>
          <a:srgbClr val="4D4D4D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4">
        <a:dk1>
          <a:srgbClr val="000094"/>
        </a:dk1>
        <a:lt1>
          <a:srgbClr val="FFFFFF"/>
        </a:lt1>
        <a:dk2>
          <a:srgbClr val="0000CC"/>
        </a:dk2>
        <a:lt2>
          <a:srgbClr val="FFFFCC"/>
        </a:lt2>
        <a:accent1>
          <a:srgbClr val="3193FF"/>
        </a:accent1>
        <a:accent2>
          <a:srgbClr val="9900FF"/>
        </a:accent2>
        <a:accent3>
          <a:srgbClr val="AAAAE2"/>
        </a:accent3>
        <a:accent4>
          <a:srgbClr val="DADADA"/>
        </a:accent4>
        <a:accent5>
          <a:srgbClr val="ADC8FF"/>
        </a:accent5>
        <a:accent6>
          <a:srgbClr val="8A00E7"/>
        </a:accent6>
        <a:hlink>
          <a:srgbClr val="FF33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5">
        <a:dk1>
          <a:srgbClr val="000000"/>
        </a:dk1>
        <a:lt1>
          <a:srgbClr val="FFFFFF"/>
        </a:lt1>
        <a:dk2>
          <a:srgbClr val="000066"/>
        </a:dk2>
        <a:lt2>
          <a:srgbClr val="333333"/>
        </a:lt2>
        <a:accent1>
          <a:srgbClr val="C4709A"/>
        </a:accent1>
        <a:accent2>
          <a:srgbClr val="4B4EB5"/>
        </a:accent2>
        <a:accent3>
          <a:srgbClr val="FFFFFF"/>
        </a:accent3>
        <a:accent4>
          <a:srgbClr val="000000"/>
        </a:accent4>
        <a:accent5>
          <a:srgbClr val="DEBBCA"/>
        </a:accent5>
        <a:accent6>
          <a:srgbClr val="4346A4"/>
        </a:accent6>
        <a:hlink>
          <a:srgbClr val="C481CF"/>
        </a:hlink>
        <a:folHlink>
          <a:srgbClr val="76B74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6">
        <a:dk1>
          <a:srgbClr val="000000"/>
        </a:dk1>
        <a:lt1>
          <a:srgbClr val="FFFFFF"/>
        </a:lt1>
        <a:dk2>
          <a:srgbClr val="6A4076"/>
        </a:dk2>
        <a:lt2>
          <a:srgbClr val="969696"/>
        </a:lt2>
        <a:accent1>
          <a:srgbClr val="DBA9C2"/>
        </a:accent1>
        <a:accent2>
          <a:srgbClr val="E1BF91"/>
        </a:accent2>
        <a:accent3>
          <a:srgbClr val="FFFFFF"/>
        </a:accent3>
        <a:accent4>
          <a:srgbClr val="000000"/>
        </a:accent4>
        <a:accent5>
          <a:srgbClr val="EAD1DD"/>
        </a:accent5>
        <a:accent6>
          <a:srgbClr val="CCAD83"/>
        </a:accent6>
        <a:hlink>
          <a:srgbClr val="B3CE82"/>
        </a:hlink>
        <a:folHlink>
          <a:srgbClr val="B8AD4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7">
        <a:dk1>
          <a:srgbClr val="000000"/>
        </a:dk1>
        <a:lt1>
          <a:srgbClr val="FFFFFF"/>
        </a:lt1>
        <a:dk2>
          <a:srgbClr val="515F7B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CDE1E6"/>
        </a:accent5>
        <a:accent6>
          <a:srgbClr val="AEAEAE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课件PPT主题1</Template>
  <TotalTime>0</TotalTime>
  <Words>4154</Words>
  <Application>WPS 演示</Application>
  <PresentationFormat>全屏显示(4:3)</PresentationFormat>
  <Paragraphs>489</Paragraphs>
  <Slides>33</Slides>
  <Notes>25</Notes>
  <HiddenSlides>0</HiddenSlides>
  <MMClips>0</MMClips>
  <ScaleCrop>false</ScaleCrop>
  <HeadingPairs>
    <vt:vector size="8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106</vt:i4>
      </vt:variant>
      <vt:variant>
        <vt:lpstr>幻灯片标题</vt:lpstr>
      </vt:variant>
      <vt:variant>
        <vt:i4>33</vt:i4>
      </vt:variant>
    </vt:vector>
  </HeadingPairs>
  <TitlesOfParts>
    <vt:vector size="146" baseType="lpstr">
      <vt:lpstr>Arial</vt:lpstr>
      <vt:lpstr>宋体</vt:lpstr>
      <vt:lpstr>Wingdings</vt:lpstr>
      <vt:lpstr>Tahoma</vt:lpstr>
      <vt:lpstr>微软雅黑</vt:lpstr>
      <vt:lpstr>Arial Unicode MS</vt:lpstr>
      <vt:lpstr>课件PPT主题1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第3章 线性模型</vt:lpstr>
      <vt:lpstr>主要内容</vt:lpstr>
      <vt:lpstr>3.1 基本形式</vt:lpstr>
      <vt:lpstr>3.2 线性回归</vt:lpstr>
      <vt:lpstr>3.2 线性回归</vt:lpstr>
      <vt:lpstr>3.2 线性回归</vt:lpstr>
      <vt:lpstr>3.2 线性回归</vt:lpstr>
      <vt:lpstr>3.2 线性回归</vt:lpstr>
      <vt:lpstr>3.2 线性回归</vt:lpstr>
      <vt:lpstr>3.3 对数几率回归</vt:lpstr>
      <vt:lpstr>3.3 对数几率回归</vt:lpstr>
      <vt:lpstr>3.3 对数几率回归</vt:lpstr>
      <vt:lpstr>3.3 对数几率回归</vt:lpstr>
      <vt:lpstr>3.3 对数几率回归</vt:lpstr>
      <vt:lpstr>3.4 线性判别分析</vt:lpstr>
      <vt:lpstr>3.4 线性判别分析</vt:lpstr>
      <vt:lpstr>3.4 线性判别分析</vt:lpstr>
      <vt:lpstr>3.4 线性判别分析</vt:lpstr>
      <vt:lpstr>3.4 线性判别分析</vt:lpstr>
      <vt:lpstr>3.4 线性判别分析</vt:lpstr>
      <vt:lpstr>3.4 线性判别分析</vt:lpstr>
      <vt:lpstr>3.5 多分类学习</vt:lpstr>
      <vt:lpstr>3.5 多分类学习</vt:lpstr>
      <vt:lpstr>3.5 多分类学习</vt:lpstr>
      <vt:lpstr>3.5 多分类学习</vt:lpstr>
      <vt:lpstr>3.5 多分类学习</vt:lpstr>
      <vt:lpstr>3.5 多分类学习</vt:lpstr>
      <vt:lpstr>3.5 多分类学习</vt:lpstr>
      <vt:lpstr>3.5 多分类学习</vt:lpstr>
      <vt:lpstr>3.5 多分类学习</vt:lpstr>
      <vt:lpstr>3.6 类别不平衡问题</vt:lpstr>
      <vt:lpstr>3.6 类别不平衡问题</vt:lpstr>
      <vt:lpstr>作业</vt:lpstr>
    </vt:vector>
  </TitlesOfParts>
  <Company>NEU Systems Engineering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智能优化方法</dc:title>
  <dc:creator>Junwei Wang</dc:creator>
  <cp:lastModifiedBy>MNBVC</cp:lastModifiedBy>
  <cp:revision>1255</cp:revision>
  <dcterms:created xsi:type="dcterms:W3CDTF">2003-07-20T06:30:00Z</dcterms:created>
  <dcterms:modified xsi:type="dcterms:W3CDTF">2021-09-22T13:08:55Z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2052-11.3.0.9228</vt:lpwstr>
  </property>
</Properties>
</file>