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38"/>
  </p:handoutMasterIdLst>
  <p:sldIdLst>
    <p:sldId id="530" r:id="rId3"/>
    <p:sldId id="568" r:id="rId4"/>
    <p:sldId id="584" r:id="rId5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618" r:id="rId18"/>
    <p:sldId id="596" r:id="rId19"/>
    <p:sldId id="597" r:id="rId20"/>
    <p:sldId id="598" r:id="rId21"/>
    <p:sldId id="599" r:id="rId22"/>
    <p:sldId id="600" r:id="rId23"/>
    <p:sldId id="601" r:id="rId24"/>
    <p:sldId id="602" r:id="rId25"/>
    <p:sldId id="603" r:id="rId26"/>
    <p:sldId id="604" r:id="rId27"/>
    <p:sldId id="605" r:id="rId28"/>
    <p:sldId id="606" r:id="rId29"/>
    <p:sldId id="607" r:id="rId30"/>
    <p:sldId id="611" r:id="rId31"/>
    <p:sldId id="612" r:id="rId32"/>
    <p:sldId id="613" r:id="rId33"/>
    <p:sldId id="614" r:id="rId34"/>
    <p:sldId id="615" r:id="rId35"/>
    <p:sldId id="616" r:id="rId36"/>
    <p:sldId id="583" r:id="rId37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B5E3F3"/>
    <a:srgbClr val="FFFFFF"/>
    <a:srgbClr val="FF0000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78396" autoAdjust="0"/>
  </p:normalViewPr>
  <p:slideViewPr>
    <p:cSldViewPr>
      <p:cViewPr varScale="1">
        <p:scale>
          <a:sx n="72" d="100"/>
          <a:sy n="72" d="100"/>
        </p:scale>
        <p:origin x="153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5" Type="http://schemas.openxmlformats.org/officeDocument/2006/relationships/image" Target="../media/image93.wmf"/><Relationship Id="rId14" Type="http://schemas.openxmlformats.org/officeDocument/2006/relationships/image" Target="../media/image92.wmf"/><Relationship Id="rId13" Type="http://schemas.openxmlformats.org/officeDocument/2006/relationships/image" Target="../media/image91.wmf"/><Relationship Id="rId12" Type="http://schemas.openxmlformats.org/officeDocument/2006/relationships/image" Target="../media/image90.wmf"/><Relationship Id="rId11" Type="http://schemas.openxmlformats.org/officeDocument/2006/relationships/image" Target="../media/image89.wmf"/><Relationship Id="rId10" Type="http://schemas.openxmlformats.org/officeDocument/2006/relationships/image" Target="../media/image88.wmf"/><Relationship Id="rId1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01.wmf"/><Relationship Id="rId2" Type="http://schemas.openxmlformats.org/officeDocument/2006/relationships/image" Target="../media/image111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聚类</a:t>
            </a:r>
            <a:r>
              <a:rPr lang="en-US" altLang="zh-CN" dirty="0" smtClean="0"/>
              <a:t>(clustering)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聚类在“无监督学习”任务中研究最多、应用最广</a:t>
            </a:r>
            <a:endParaRPr lang="zh-CN" altLang="en-US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簇</a:t>
            </a:r>
            <a:r>
              <a:rPr lang="en-US" altLang="zh-CN" sz="1200" b="1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cù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常用的指标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FM</a:t>
            </a:r>
            <a:r>
              <a:rPr lang="zh-CN" altLang="en-US" dirty="0" smtClean="0"/>
              <a:t>指数</a:t>
            </a:r>
            <a:r>
              <a:rPr lang="en-US" altLang="zh-CN" dirty="0" smtClean="0"/>
              <a:t>(Fowlkes and Mallows Index</a:t>
            </a:r>
            <a:r>
              <a:rPr lang="zh-CN" altLang="en-US" dirty="0" smtClean="0"/>
              <a:t>，简称</a:t>
            </a:r>
            <a:r>
              <a:rPr lang="en-US" altLang="zh-CN" dirty="0" smtClean="0"/>
              <a:t>FMI)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常用距离形式：闵</a:t>
            </a:r>
            <a:r>
              <a:rPr lang="en-US" altLang="zh-CN" dirty="0" smtClean="0"/>
              <a:t>min</a:t>
            </a:r>
            <a:r>
              <a:rPr lang="zh-CN" altLang="en-US" dirty="0" smtClean="0"/>
              <a:t>可夫斯基距离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连续属性亦称“数值属‘性</a:t>
            </a:r>
            <a:r>
              <a:rPr lang="en-US" altLang="zh-CN" dirty="0" smtClean="0"/>
              <a:t>"(numerical  attribute),“</a:t>
            </a:r>
            <a:r>
              <a:rPr lang="zh-CN" altLang="en-US" dirty="0" smtClean="0"/>
              <a:t>离散属性”亦称“列名属性”</a:t>
            </a:r>
            <a:r>
              <a:rPr lang="en-US" altLang="zh-CN" dirty="0" smtClean="0"/>
              <a:t>(nominal attribute).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VDM   Value Difference Metric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值差度量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基于原型的聚类</a:t>
            </a:r>
            <a:r>
              <a:rPr lang="en-US" altLang="zh-CN" dirty="0" smtClean="0"/>
              <a:t>prototype-based clustering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此类算法假设聚类结构能通过一组原型刻画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学习向量量化 </a:t>
            </a:r>
            <a:r>
              <a:rPr lang="en-US" altLang="zh-CN" dirty="0" smtClean="0"/>
              <a:t>(Learning Vector Quantization, LVQ)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聚类未假设类别模型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以表</a:t>
            </a:r>
            <a:r>
              <a:rPr lang="en-US" altLang="zh-CN" dirty="0" smtClean="0"/>
              <a:t>9.1</a:t>
            </a:r>
            <a:r>
              <a:rPr lang="zh-CN" altLang="en-US" dirty="0" smtClean="0"/>
              <a:t>的西瓜数据集</a:t>
            </a:r>
            <a:r>
              <a:rPr lang="en-US" altLang="zh-CN" dirty="0" smtClean="0"/>
              <a:t>4.0</a:t>
            </a:r>
            <a:r>
              <a:rPr lang="zh-CN" altLang="en-US" dirty="0" smtClean="0"/>
              <a:t>为例来演示</a:t>
            </a:r>
            <a:r>
              <a:rPr lang="en-US" altLang="zh-CN" dirty="0" smtClean="0"/>
              <a:t>LVQ</a:t>
            </a:r>
            <a:r>
              <a:rPr lang="zh-CN" altLang="en-US" dirty="0" smtClean="0"/>
              <a:t>的学习过程</a:t>
            </a:r>
            <a:r>
              <a:rPr lang="en-US" altLang="zh-CN" dirty="0" smtClean="0"/>
              <a:t>.</a:t>
            </a:r>
            <a:r>
              <a:rPr lang="zh-CN" altLang="en-US" dirty="0" smtClean="0"/>
              <a:t>令</a:t>
            </a:r>
            <a:r>
              <a:rPr lang="en-US" altLang="zh-CN" dirty="0" smtClean="0"/>
              <a:t>9-21</a:t>
            </a:r>
            <a:r>
              <a:rPr lang="zh-CN" altLang="en-US" dirty="0" smtClean="0"/>
              <a:t>号样本的类别标记为</a:t>
            </a:r>
            <a:r>
              <a:rPr lang="en-US" altLang="zh-CN" dirty="0" smtClean="0"/>
              <a:t>C2</a:t>
            </a:r>
            <a:r>
              <a:rPr lang="zh-CN" altLang="en-US" dirty="0" smtClean="0"/>
              <a:t>，其他样本的类别标记为</a:t>
            </a:r>
            <a:r>
              <a:rPr lang="en-US" altLang="zh-CN" dirty="0" smtClean="0"/>
              <a:t>c1.</a:t>
            </a:r>
            <a:r>
              <a:rPr lang="zh-CN" altLang="en-US" dirty="0" smtClean="0"/>
              <a:t>假定</a:t>
            </a:r>
            <a:r>
              <a:rPr lang="en-US" altLang="zh-CN" dirty="0" smtClean="0"/>
              <a:t>q = 5</a:t>
            </a:r>
            <a:r>
              <a:rPr lang="zh-CN" altLang="en-US" dirty="0" smtClean="0"/>
              <a:t>，即学习目标是找到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个原型向量</a:t>
            </a:r>
            <a:r>
              <a:rPr lang="en-US" altLang="zh-CN" dirty="0" smtClean="0"/>
              <a:t>P1, P2, P3, P4, P5</a:t>
            </a:r>
            <a:r>
              <a:rPr lang="zh-CN" altLang="en-US" dirty="0" smtClean="0"/>
              <a:t>，并假定其对应的类别标记分别为</a:t>
            </a:r>
            <a:r>
              <a:rPr lang="en-US" altLang="zh-CN" dirty="0" smtClean="0"/>
              <a:t>Cl, C2, C2, Cl, Cl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划分是凸集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计算几何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亦称基于密度的聚类</a:t>
            </a:r>
            <a:r>
              <a:rPr lang="en-US" altLang="zh-CN" dirty="0" smtClean="0"/>
              <a:t>(density-based clustering)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全称“</a:t>
            </a:r>
            <a:r>
              <a:rPr lang="en-US" altLang="zh-CN" dirty="0" smtClean="0"/>
              <a:t>Density-Based Spatial Clustering of Applications with Noise"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AGNES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AGglomerative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NESting</a:t>
            </a:r>
            <a:r>
              <a:rPr lang="zh-CN" altLang="en-US" dirty="0" smtClean="0"/>
              <a:t>的简写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066" y="836712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7" Type="http://schemas.openxmlformats.org/officeDocument/2006/relationships/notesSlide" Target="../notesSlides/notesSlide2.xml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wmf"/><Relationship Id="rId19" Type="http://schemas.openxmlformats.org/officeDocument/2006/relationships/notesSlide" Target="../notesSlides/notesSlide3.xml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7" Type="http://schemas.openxmlformats.org/officeDocument/2006/relationships/notesSlide" Target="../notesSlides/notesSlide4.xml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0.wmf"/><Relationship Id="rId15" Type="http://schemas.openxmlformats.org/officeDocument/2006/relationships/notesSlide" Target="../notesSlides/notesSlide5.xml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7.bin"/><Relationship Id="rId25" Type="http://schemas.openxmlformats.org/officeDocument/2006/relationships/notesSlide" Target="../notesSlides/notesSlide6.xml"/><Relationship Id="rId24" Type="http://schemas.openxmlformats.org/officeDocument/2006/relationships/vmlDrawing" Target="../drawings/vmlDrawing6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oleObject" Target="../embeddings/oleObject50.bin"/><Relationship Id="rId7" Type="http://schemas.openxmlformats.org/officeDocument/2006/relationships/image" Target="../media/image50.wmf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9.png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7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4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4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1.wmf"/><Relationship Id="rId11" Type="http://schemas.openxmlformats.org/officeDocument/2006/relationships/notesSlide" Target="../notesSlides/notesSlide7.xml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5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8.wmf"/><Relationship Id="rId15" Type="http://schemas.openxmlformats.org/officeDocument/2006/relationships/notesSlide" Target="../notesSlides/notesSlide8.xml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3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55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2.bin"/><Relationship Id="rId3" Type="http://schemas.openxmlformats.org/officeDocument/2006/relationships/image" Target="../media/image65.wmf"/><Relationship Id="rId2" Type="http://schemas.openxmlformats.org/officeDocument/2006/relationships/oleObject" Target="../embeddings/oleObject61.bin"/><Relationship Id="rId1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8.wmf"/><Relationship Id="rId2" Type="http://schemas.openxmlformats.org/officeDocument/2006/relationships/oleObject" Target="../embeddings/oleObject63.bin"/><Relationship Id="rId1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65.bin"/><Relationship Id="rId22" Type="http://schemas.openxmlformats.org/officeDocument/2006/relationships/vmlDrawing" Target="../drawings/vmlDrawing12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78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6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0.wmf"/><Relationship Id="rId32" Type="http://schemas.openxmlformats.org/officeDocument/2006/relationships/vmlDrawing" Target="../drawings/vmlDrawing13.vml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93.wmf"/><Relationship Id="rId3" Type="http://schemas.openxmlformats.org/officeDocument/2006/relationships/oleObject" Target="../embeddings/oleObject75.bin"/><Relationship Id="rId29" Type="http://schemas.openxmlformats.org/officeDocument/2006/relationships/oleObject" Target="../embeddings/oleObject88.bin"/><Relationship Id="rId28" Type="http://schemas.openxmlformats.org/officeDocument/2006/relationships/image" Target="../media/image92.wmf"/><Relationship Id="rId27" Type="http://schemas.openxmlformats.org/officeDocument/2006/relationships/oleObject" Target="../embeddings/oleObject87.bin"/><Relationship Id="rId26" Type="http://schemas.openxmlformats.org/officeDocument/2006/relationships/image" Target="../media/image91.wmf"/><Relationship Id="rId25" Type="http://schemas.openxmlformats.org/officeDocument/2006/relationships/oleObject" Target="../embeddings/oleObject86.bin"/><Relationship Id="rId24" Type="http://schemas.openxmlformats.org/officeDocument/2006/relationships/image" Target="../media/image90.wmf"/><Relationship Id="rId23" Type="http://schemas.openxmlformats.org/officeDocument/2006/relationships/oleObject" Target="../embeddings/oleObject85.bin"/><Relationship Id="rId22" Type="http://schemas.openxmlformats.org/officeDocument/2006/relationships/image" Target="../media/image89.w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88.wmf"/><Relationship Id="rId2" Type="http://schemas.openxmlformats.org/officeDocument/2006/relationships/image" Target="../media/image79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4.wmf"/><Relationship Id="rId13" Type="http://schemas.openxmlformats.org/officeDocument/2006/relationships/notesSlide" Target="../notesSlides/notesSlide10.xml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8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95.bin"/><Relationship Id="rId22" Type="http://schemas.openxmlformats.org/officeDocument/2006/relationships/notesSlide" Target="../notesSlides/notesSlide11.xml"/><Relationship Id="rId21" Type="http://schemas.openxmlformats.org/officeDocument/2006/relationships/vmlDrawing" Target="../drawings/vmlDrawing15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01.wmf"/><Relationship Id="rId19" Type="http://schemas.openxmlformats.org/officeDocument/2006/relationships/oleObject" Target="../embeddings/oleObject103.bin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102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101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0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9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oleObject" Target="../embeddings/oleObject107.bin"/><Relationship Id="rId7" Type="http://schemas.openxmlformats.org/officeDocument/2006/relationships/image" Target="../media/image101.wmf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05.bin"/><Relationship Id="rId35" Type="http://schemas.openxmlformats.org/officeDocument/2006/relationships/vmlDrawing" Target="../drawings/vmlDrawing16.vml"/><Relationship Id="rId34" Type="http://schemas.openxmlformats.org/officeDocument/2006/relationships/slideLayout" Target="../slideLayouts/slideLayout2.xml"/><Relationship Id="rId33" Type="http://schemas.openxmlformats.org/officeDocument/2006/relationships/oleObject" Target="../embeddings/oleObject122.bin"/><Relationship Id="rId32" Type="http://schemas.openxmlformats.org/officeDocument/2006/relationships/image" Target="../media/image121.wmf"/><Relationship Id="rId31" Type="http://schemas.openxmlformats.org/officeDocument/2006/relationships/oleObject" Target="../embeddings/oleObject121.bin"/><Relationship Id="rId30" Type="http://schemas.openxmlformats.org/officeDocument/2006/relationships/oleObject" Target="../embeddings/oleObject120.bin"/><Relationship Id="rId3" Type="http://schemas.openxmlformats.org/officeDocument/2006/relationships/image" Target="../media/image103.wmf"/><Relationship Id="rId29" Type="http://schemas.openxmlformats.org/officeDocument/2006/relationships/image" Target="../media/image120.wmf"/><Relationship Id="rId28" Type="http://schemas.openxmlformats.org/officeDocument/2006/relationships/oleObject" Target="../embeddings/oleObject119.bin"/><Relationship Id="rId27" Type="http://schemas.openxmlformats.org/officeDocument/2006/relationships/oleObject" Target="../embeddings/oleObject118.bin"/><Relationship Id="rId26" Type="http://schemas.openxmlformats.org/officeDocument/2006/relationships/image" Target="../media/image119.wmf"/><Relationship Id="rId25" Type="http://schemas.openxmlformats.org/officeDocument/2006/relationships/oleObject" Target="../embeddings/oleObject117.bin"/><Relationship Id="rId24" Type="http://schemas.openxmlformats.org/officeDocument/2006/relationships/image" Target="../media/image118.wmf"/><Relationship Id="rId23" Type="http://schemas.openxmlformats.org/officeDocument/2006/relationships/oleObject" Target="../embeddings/oleObject116.bin"/><Relationship Id="rId22" Type="http://schemas.openxmlformats.org/officeDocument/2006/relationships/image" Target="../media/image117.wmf"/><Relationship Id="rId21" Type="http://schemas.openxmlformats.org/officeDocument/2006/relationships/oleObject" Target="../embeddings/oleObject115.bin"/><Relationship Id="rId20" Type="http://schemas.openxmlformats.org/officeDocument/2006/relationships/image" Target="../media/image116.wmf"/><Relationship Id="rId2" Type="http://schemas.openxmlformats.org/officeDocument/2006/relationships/oleObject" Target="../embeddings/oleObject104.bin"/><Relationship Id="rId19" Type="http://schemas.openxmlformats.org/officeDocument/2006/relationships/oleObject" Target="../embeddings/oleObject114.bin"/><Relationship Id="rId18" Type="http://schemas.openxmlformats.org/officeDocument/2006/relationships/image" Target="../media/image115.wmf"/><Relationship Id="rId17" Type="http://schemas.openxmlformats.org/officeDocument/2006/relationships/oleObject" Target="../embeddings/oleObject113.bin"/><Relationship Id="rId16" Type="http://schemas.openxmlformats.org/officeDocument/2006/relationships/image" Target="../media/image114.wmf"/><Relationship Id="rId15" Type="http://schemas.openxmlformats.org/officeDocument/2006/relationships/oleObject" Target="../embeddings/oleObject112.bin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111.bin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10.bin"/><Relationship Id="rId10" Type="http://schemas.openxmlformats.org/officeDocument/2006/relationships/oleObject" Target="../embeddings/oleObject109.bin"/><Relationship Id="rId1" Type="http://schemas.openxmlformats.org/officeDocument/2006/relationships/image" Target="../media/image11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22.wmf"/><Relationship Id="rId15" Type="http://schemas.openxmlformats.org/officeDocument/2006/relationships/notesSlide" Target="../notesSlides/notesSlide12.xml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2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30.wmf"/><Relationship Id="rId1" Type="http://schemas.openxmlformats.org/officeDocument/2006/relationships/oleObject" Target="../embeddings/oleObject129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dirty="0" smtClean="0"/>
              <a:t>第</a:t>
            </a:r>
            <a:r>
              <a:rPr lang="en-US" altLang="zh-CN" sz="6000" dirty="0"/>
              <a:t>9</a:t>
            </a:r>
            <a:r>
              <a:rPr lang="zh-CN" altLang="en-US" sz="6000" dirty="0" smtClean="0"/>
              <a:t>章 聚类</a:t>
            </a:r>
            <a:endParaRPr lang="zh-CN" altLang="en-US" sz="6000" dirty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聚类</a:t>
            </a:r>
            <a:r>
              <a:rPr lang="zh-CN" altLang="en-US" dirty="0" smtClean="0">
                <a:latin typeface="+mn-ea"/>
              </a:rPr>
              <a:t>任务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性能度量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距离计算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原型聚类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密度聚类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层次</a:t>
            </a:r>
            <a:r>
              <a:rPr lang="zh-CN" altLang="en-US" dirty="0">
                <a:latin typeface="+mn-ea"/>
              </a:rPr>
              <a:t>聚类</a:t>
            </a:r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zh-CN" altLang="en-US" dirty="0" smtClean="0"/>
              <a:t>聚类</a:t>
            </a:r>
            <a:r>
              <a:rPr lang="zh-CN" altLang="en-US" dirty="0"/>
              <a:t>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无监督学习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训练样本</a:t>
            </a:r>
            <a:r>
              <a:rPr lang="zh-CN" altLang="en-US" dirty="0"/>
              <a:t>的标记</a:t>
            </a:r>
            <a:r>
              <a:rPr lang="zh-CN" altLang="en-US" dirty="0" smtClean="0"/>
              <a:t>信息未知，通过</a:t>
            </a:r>
            <a:r>
              <a:rPr lang="zh-CN" altLang="en-US" dirty="0"/>
              <a:t>对无标记训练样本的学习来揭示数据的内在性质及</a:t>
            </a:r>
            <a:r>
              <a:rPr lang="zh-CN" altLang="en-US" dirty="0" smtClean="0"/>
              <a:t>规律</a:t>
            </a:r>
            <a:endParaRPr lang="en-US" altLang="zh-CN" dirty="0" smtClean="0"/>
          </a:p>
          <a:p>
            <a:pPr lvl="1"/>
            <a:r>
              <a:rPr lang="zh-CN" altLang="en-US" dirty="0"/>
              <a:t>聚类、密度枯</a:t>
            </a:r>
            <a:r>
              <a:rPr lang="zh-CN" altLang="en-US" dirty="0" smtClean="0"/>
              <a:t>计、</a:t>
            </a:r>
            <a:r>
              <a:rPr lang="zh-CN" altLang="en-US" dirty="0"/>
              <a:t>异常</a:t>
            </a:r>
            <a:r>
              <a:rPr lang="zh-CN" altLang="en-US" dirty="0" smtClean="0"/>
              <a:t>检测</a:t>
            </a:r>
            <a:endParaRPr lang="en-US" altLang="zh-CN" dirty="0" smtClean="0"/>
          </a:p>
          <a:p>
            <a:r>
              <a:rPr lang="zh-CN" altLang="en-US" dirty="0" smtClean="0"/>
              <a:t>聚类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zh-CN" altLang="en-US" dirty="0"/>
              <a:t>数据集中的样本划分为若干</a:t>
            </a:r>
            <a:r>
              <a:rPr lang="zh-CN" altLang="en-US" dirty="0" smtClean="0"/>
              <a:t>个不相交的</a:t>
            </a:r>
            <a:r>
              <a:rPr lang="zh-CN" altLang="en-US" dirty="0"/>
              <a:t>子集，每个子集称为一</a:t>
            </a:r>
            <a:r>
              <a:rPr lang="zh-CN" altLang="en-US" dirty="0" smtClean="0"/>
              <a:t>个簇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通过划分，每个</a:t>
            </a:r>
            <a:r>
              <a:rPr lang="zh-CN" altLang="en-US" dirty="0"/>
              <a:t>簇可能</a:t>
            </a:r>
            <a:r>
              <a:rPr lang="zh-CN" altLang="en-US" dirty="0" smtClean="0"/>
              <a:t>对应一些</a:t>
            </a:r>
            <a:r>
              <a:rPr lang="zh-CN" altLang="en-US" dirty="0"/>
              <a:t>潜在的</a:t>
            </a:r>
            <a:r>
              <a:rPr lang="zh-CN" altLang="en-US" dirty="0" smtClean="0"/>
              <a:t>概念类别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这些</a:t>
            </a:r>
            <a:r>
              <a:rPr lang="zh-CN" altLang="en-US" dirty="0"/>
              <a:t>概念对聚类算法而言事先是未知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聚类</a:t>
            </a:r>
            <a:r>
              <a:rPr lang="zh-CN" altLang="en-US" dirty="0"/>
              <a:t>过程仅能自动形成簇结构</a:t>
            </a:r>
            <a:r>
              <a:rPr lang="zh-CN" altLang="en-US" dirty="0" smtClean="0"/>
              <a:t>，其对应</a:t>
            </a:r>
            <a:r>
              <a:rPr lang="zh-CN" altLang="en-US" dirty="0"/>
              <a:t>的概念</a:t>
            </a:r>
            <a:r>
              <a:rPr lang="zh-CN" altLang="en-US" dirty="0" smtClean="0"/>
              <a:t>语义要使用</a:t>
            </a:r>
            <a:r>
              <a:rPr lang="zh-CN" altLang="en-US" dirty="0"/>
              <a:t>者来把握和</a:t>
            </a:r>
            <a:r>
              <a:rPr lang="zh-CN" altLang="en-US" dirty="0" smtClean="0"/>
              <a:t>命名</a:t>
            </a:r>
            <a:endParaRPr lang="en-US" altLang="zh-CN" dirty="0" smtClean="0"/>
          </a:p>
          <a:p>
            <a:pPr lvl="1"/>
            <a:r>
              <a:rPr lang="zh-CN" altLang="en-US" dirty="0"/>
              <a:t>可以作为一个</a:t>
            </a:r>
            <a:r>
              <a:rPr lang="zh-CN" altLang="en-US" dirty="0">
                <a:latin typeface="+mn-ea"/>
              </a:rPr>
              <a:t>单独过程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用于找寻数据内在的分布结构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，也可作为分类等其他学习任务的前驱过程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</a:t>
            </a:r>
            <a:r>
              <a:rPr lang="zh-CN" altLang="en-US" dirty="0"/>
              <a:t>聚类任务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聚类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聚类算法涉及的两个基本问题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性能度量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距离计算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符号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样本集</a:t>
            </a:r>
            <a:r>
              <a:rPr lang="en-US" altLang="zh-CN" dirty="0" smtClean="0"/>
              <a:t>                    </a:t>
            </a:r>
            <a:r>
              <a:rPr lang="zh-CN" altLang="en-US" dirty="0" smtClean="0"/>
              <a:t>包含   个</a:t>
            </a:r>
            <a:r>
              <a:rPr lang="zh-CN" altLang="en-US" dirty="0"/>
              <a:t>无标记</a:t>
            </a:r>
            <a:r>
              <a:rPr lang="zh-CN" altLang="en-US" dirty="0" smtClean="0"/>
              <a:t>样本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每个样本</a:t>
            </a:r>
            <a:r>
              <a:rPr lang="en-US" altLang="zh-CN" dirty="0" smtClean="0"/>
              <a:t>                     </a:t>
            </a:r>
            <a:r>
              <a:rPr lang="zh-CN" altLang="en-US" dirty="0" smtClean="0"/>
              <a:t>是</a:t>
            </a:r>
            <a:r>
              <a:rPr lang="zh-CN" altLang="en-US" dirty="0"/>
              <a:t>一</a:t>
            </a:r>
            <a:r>
              <a:rPr lang="zh-CN" altLang="en-US" dirty="0" smtClean="0"/>
              <a:t>个   维特征向量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聚类是将样本集</a:t>
            </a:r>
            <a:r>
              <a:rPr lang="en-US" altLang="zh-CN" dirty="0" smtClean="0"/>
              <a:t>  </a:t>
            </a:r>
            <a:r>
              <a:rPr lang="zh-CN" altLang="en-US" dirty="0" smtClean="0"/>
              <a:t>划分为</a:t>
            </a:r>
            <a:r>
              <a:rPr lang="en-US" altLang="zh-CN" dirty="0" smtClean="0"/>
              <a:t> </a:t>
            </a:r>
            <a:r>
              <a:rPr lang="zh-CN" altLang="en-US" dirty="0" smtClean="0"/>
              <a:t>个不相交簇               ，</a:t>
            </a:r>
            <a:r>
              <a:rPr lang="en-US" altLang="zh-CN" dirty="0" smtClean="0"/>
              <a:t>           </a:t>
            </a:r>
            <a:r>
              <a:rPr lang="zh-CN" altLang="en-US" dirty="0" smtClean="0"/>
              <a:t>且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              </a:t>
            </a:r>
            <a:r>
              <a:rPr lang="zh-CN" altLang="en-US" dirty="0"/>
              <a:t>表示</a:t>
            </a:r>
            <a:r>
              <a:rPr lang="zh-CN" altLang="en-US" dirty="0" smtClean="0"/>
              <a:t>样本   的簇标记，        ，</a:t>
            </a:r>
            <a:r>
              <a:rPr lang="zh-CN" altLang="en-US" dirty="0"/>
              <a:t>簇</a:t>
            </a:r>
            <a:r>
              <a:rPr lang="zh-CN" altLang="en-US" dirty="0" smtClean="0"/>
              <a:t>标记向量</a:t>
            </a:r>
            <a:endParaRPr lang="en-US" altLang="zh-CN" dirty="0" smtClean="0"/>
          </a:p>
          <a:p>
            <a:pPr lvl="1"/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76008" y="2937458"/>
          <a:ext cx="1768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15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6008" y="2937458"/>
                        <a:ext cx="1768000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20072" y="3053139"/>
          <a:ext cx="3381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" name="Equation" r:id="rId3" imgW="3962400" imgH="3352800" progId="Equation.DSMT4">
                  <p:embed/>
                </p:oleObj>
              </mc:Choice>
              <mc:Fallback>
                <p:oleObj name="Equation" r:id="rId3" imgW="3962400" imgH="3352800" progId="Equation.DSMT4">
                  <p:embed/>
                  <p:pic>
                    <p:nvPicPr>
                      <p:cNvPr id="0" name="图片 15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072" y="3053139"/>
                        <a:ext cx="338137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84293" y="3297869"/>
          <a:ext cx="18700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2" name="Equation" r:id="rId5" imgW="21945600" imgH="5486400" progId="Equation.DSMT4">
                  <p:embed/>
                </p:oleObj>
              </mc:Choice>
              <mc:Fallback>
                <p:oleObj name="Equation" r:id="rId5" imgW="21945600" imgH="5486400" progId="Equation.DSMT4">
                  <p:embed/>
                  <p:pic>
                    <p:nvPicPr>
                      <p:cNvPr id="0" name="图片 15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4293" y="3297869"/>
                        <a:ext cx="187007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913646" y="3387562"/>
          <a:ext cx="2603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3" name="Equation" r:id="rId7" imgW="3048000" imgH="3352800" progId="Equation.DSMT4">
                  <p:embed/>
                </p:oleObj>
              </mc:Choice>
              <mc:Fallback>
                <p:oleObj name="Equation" r:id="rId7" imgW="3048000" imgH="3352800" progId="Equation.DSMT4">
                  <p:embed/>
                  <p:pic>
                    <p:nvPicPr>
                      <p:cNvPr id="0" name="图片 15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13646" y="3387562"/>
                        <a:ext cx="260350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987952" y="3700517"/>
          <a:ext cx="3381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" name="Equation" r:id="rId9" imgW="3962400" imgH="3962400" progId="Equation.DSMT4">
                  <p:embed/>
                </p:oleObj>
              </mc:Choice>
              <mc:Fallback>
                <p:oleObj name="Equation" r:id="rId9" imgW="3962400" imgH="3962400" progId="Equation.DSMT4">
                  <p:embed/>
                  <p:pic>
                    <p:nvPicPr>
                      <p:cNvPr id="0" name="图片 15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87952" y="3700517"/>
                        <a:ext cx="338138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48064" y="3709947"/>
          <a:ext cx="2603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" name="Equation" r:id="rId11" imgW="3048000" imgH="4267200" progId="Equation.DSMT4">
                  <p:embed/>
                </p:oleObj>
              </mc:Choice>
              <mc:Fallback>
                <p:oleObj name="Equation" r:id="rId11" imgW="3048000" imgH="4267200" progId="Equation.DSMT4">
                  <p:embed/>
                  <p:pic>
                    <p:nvPicPr>
                      <p:cNvPr id="0" name="图片 15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8064" y="3709947"/>
                        <a:ext cx="260350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809664" y="3676487"/>
          <a:ext cx="161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" name="Equation" r:id="rId13" imgW="18897600" imgH="5486400" progId="Equation.DSMT4">
                  <p:embed/>
                </p:oleObj>
              </mc:Choice>
              <mc:Fallback>
                <p:oleObj name="Equation" r:id="rId13" imgW="18897600" imgH="5486400" progId="Equation.DSMT4">
                  <p:embed/>
                  <p:pic>
                    <p:nvPicPr>
                      <p:cNvPr id="0" name="图片 15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09664" y="3676487"/>
                        <a:ext cx="16129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50918" y="4030080"/>
          <a:ext cx="24431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7" name="Equation" r:id="rId15" imgW="31089600" imgH="5791200" progId="Equation.DSMT4">
                  <p:embed/>
                </p:oleObj>
              </mc:Choice>
              <mc:Fallback>
                <p:oleObj name="Equation" r:id="rId15" imgW="31089600" imgH="5791200" progId="Equation.DSMT4">
                  <p:embed/>
                  <p:pic>
                    <p:nvPicPr>
                      <p:cNvPr id="0" name="图片 15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50918" y="4030080"/>
                        <a:ext cx="2443163" cy="45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35696" y="4428590"/>
          <a:ext cx="13176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" name="Equation" r:id="rId17" imgW="16764000" imgH="5791200" progId="Equation.DSMT4">
                  <p:embed/>
                </p:oleObj>
              </mc:Choice>
              <mc:Fallback>
                <p:oleObj name="Equation" r:id="rId17" imgW="16764000" imgH="5791200" progId="Equation.DSMT4">
                  <p:embed/>
                  <p:pic>
                    <p:nvPicPr>
                      <p:cNvPr id="0" name="图片 151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35696" y="4428590"/>
                        <a:ext cx="1317625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399087" y="4390804"/>
          <a:ext cx="3889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" name="Equation" r:id="rId19" imgW="4572000" imgH="5791200" progId="Equation.DSMT4">
                  <p:embed/>
                </p:oleObj>
              </mc:Choice>
              <mc:Fallback>
                <p:oleObj name="Equation" r:id="rId19" imgW="4572000" imgH="5791200" progId="Equation.DSMT4">
                  <p:embed/>
                  <p:pic>
                    <p:nvPicPr>
                      <p:cNvPr id="0" name="图片 151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99087" y="4390804"/>
                        <a:ext cx="388937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228524" y="4377618"/>
          <a:ext cx="9858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0" name="Equation" r:id="rId21" imgW="11582400" imgH="6096000" progId="Equation.DSMT4">
                  <p:embed/>
                </p:oleObj>
              </mc:Choice>
              <mc:Fallback>
                <p:oleObj name="Equation" r:id="rId21" imgW="11582400" imgH="6096000" progId="Equation.DSMT4">
                  <p:embed/>
                  <p:pic>
                    <p:nvPicPr>
                      <p:cNvPr id="0" name="图片 151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28524" y="4377618"/>
                        <a:ext cx="985837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33430" y="4797400"/>
          <a:ext cx="148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" name="Equation" r:id="rId23" imgW="18897600" imgH="5486400" progId="Equation.DSMT4">
                  <p:embed/>
                </p:oleObj>
              </mc:Choice>
              <mc:Fallback>
                <p:oleObj name="Equation" r:id="rId23" imgW="18897600" imgH="5486400" progId="Equation.DSMT4">
                  <p:embed/>
                  <p:pic>
                    <p:nvPicPr>
                      <p:cNvPr id="0" name="图片 152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533430" y="4797400"/>
                        <a:ext cx="1485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zh-CN" altLang="en-US" dirty="0" smtClean="0"/>
              <a:t>性能</a:t>
            </a:r>
            <a:r>
              <a:rPr lang="zh-CN" altLang="en-US" dirty="0"/>
              <a:t>度量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亦称</a:t>
            </a:r>
            <a:r>
              <a:rPr lang="zh-CN" altLang="en-US" dirty="0" smtClean="0"/>
              <a:t>聚类有效性指标</a:t>
            </a:r>
            <a:endParaRPr lang="en-US" altLang="zh-CN" dirty="0" smtClean="0"/>
          </a:p>
          <a:p>
            <a:r>
              <a:rPr lang="zh-CN" altLang="en-US" dirty="0"/>
              <a:t>作用</a:t>
            </a:r>
            <a:endParaRPr lang="en-US" altLang="zh-CN" dirty="0" smtClean="0"/>
          </a:p>
          <a:p>
            <a:pPr lvl="1"/>
            <a:r>
              <a:rPr lang="zh-CN" altLang="en-US" dirty="0"/>
              <a:t>对聚类结果</a:t>
            </a:r>
            <a:r>
              <a:rPr lang="zh-CN" altLang="en-US" dirty="0" smtClean="0"/>
              <a:t>，通过性能度量评估</a:t>
            </a:r>
            <a:r>
              <a:rPr lang="zh-CN" altLang="en-US" dirty="0"/>
              <a:t>其</a:t>
            </a:r>
            <a:r>
              <a:rPr lang="zh-CN" altLang="en-US" dirty="0" smtClean="0"/>
              <a:t>好坏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可将</a:t>
            </a:r>
            <a:r>
              <a:rPr lang="zh-CN" altLang="en-US" dirty="0"/>
              <a:t>其作为聚类过程的优化目标，</a:t>
            </a:r>
            <a:r>
              <a:rPr lang="zh-CN" altLang="en-US" dirty="0" smtClean="0"/>
              <a:t>从而得到</a:t>
            </a:r>
            <a:r>
              <a:rPr lang="zh-CN" altLang="en-US" dirty="0"/>
              <a:t>符合要求的聚类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r>
              <a:rPr lang="zh-CN" altLang="en-US" dirty="0" smtClean="0"/>
              <a:t>评估基本想法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簇</a:t>
            </a:r>
            <a:r>
              <a:rPr lang="zh-CN" altLang="en-US" dirty="0"/>
              <a:t>内</a:t>
            </a:r>
            <a:r>
              <a:rPr lang="zh-CN" altLang="en-US" dirty="0" smtClean="0"/>
              <a:t>相似度高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且簇</a:t>
            </a:r>
            <a:r>
              <a:rPr lang="zh-CN" altLang="en-US" dirty="0"/>
              <a:t>间</a:t>
            </a:r>
            <a:r>
              <a:rPr lang="zh-CN" altLang="en-US" dirty="0" smtClean="0"/>
              <a:t>相似度低</a:t>
            </a:r>
            <a:endParaRPr lang="en-US" altLang="zh-CN" dirty="0" smtClean="0"/>
          </a:p>
          <a:p>
            <a:r>
              <a:rPr lang="zh-CN" altLang="en-US" dirty="0" smtClean="0"/>
              <a:t>两类方法</a:t>
            </a:r>
            <a:endParaRPr lang="en-US" altLang="zh-CN" dirty="0" smtClean="0"/>
          </a:p>
          <a:p>
            <a:pPr lvl="1"/>
            <a:r>
              <a:rPr lang="zh-CN" altLang="en-US" dirty="0"/>
              <a:t>外部</a:t>
            </a:r>
            <a:r>
              <a:rPr lang="zh-CN" altLang="en-US" dirty="0" smtClean="0"/>
              <a:t>指标</a:t>
            </a:r>
            <a:endParaRPr lang="en-US" altLang="zh-CN" dirty="0" smtClean="0"/>
          </a:p>
          <a:p>
            <a:pPr lvl="2"/>
            <a:r>
              <a:rPr lang="zh-CN" altLang="en-US" dirty="0"/>
              <a:t>将聚类结果与</a:t>
            </a:r>
            <a:r>
              <a:rPr lang="zh-CN" altLang="en-US" dirty="0" smtClean="0"/>
              <a:t>某参考模型进行比较</a:t>
            </a:r>
            <a:endParaRPr lang="en-US" altLang="zh-CN" dirty="0" smtClean="0"/>
          </a:p>
          <a:p>
            <a:pPr lvl="1"/>
            <a:r>
              <a:rPr lang="zh-CN" altLang="en-US" dirty="0"/>
              <a:t>内部</a:t>
            </a:r>
            <a:r>
              <a:rPr lang="zh-CN" altLang="en-US" dirty="0" smtClean="0"/>
              <a:t>指标</a:t>
            </a:r>
            <a:endParaRPr lang="en-US" altLang="zh-CN" dirty="0" smtClean="0"/>
          </a:p>
          <a:p>
            <a:pPr lvl="2"/>
            <a:r>
              <a:rPr lang="zh-CN" altLang="en-US" dirty="0"/>
              <a:t>直接考察聚类结果而不用任何参考模型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性能度量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外部指标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符号表示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</a:t>
            </a:r>
            <a:r>
              <a:rPr lang="zh-CN" altLang="en-US" dirty="0"/>
              <a:t>聚类给出的簇划分</a:t>
            </a:r>
            <a:r>
              <a:rPr lang="zh-CN" altLang="en-US" dirty="0" smtClean="0"/>
              <a:t>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参考</a:t>
            </a:r>
            <a:r>
              <a:rPr lang="zh-CN" altLang="en-US" dirty="0"/>
              <a:t>模型给出的簇划分</a:t>
            </a:r>
            <a:r>
              <a:rPr lang="zh-CN" altLang="en-US" dirty="0" smtClean="0"/>
              <a:t>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     分别</a:t>
            </a:r>
            <a:r>
              <a:rPr lang="zh-CN" altLang="en-US" dirty="0"/>
              <a:t>表示</a:t>
            </a:r>
            <a:r>
              <a:rPr lang="zh-CN" altLang="en-US" dirty="0" smtClean="0"/>
              <a:t>与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对应</a:t>
            </a:r>
            <a:r>
              <a:rPr lang="zh-CN" altLang="en-US" dirty="0"/>
              <a:t>的簇标记</a:t>
            </a:r>
            <a:r>
              <a:rPr lang="zh-CN" altLang="en-US" dirty="0" smtClean="0"/>
              <a:t>向量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定义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3">
              <a:spcBef>
                <a:spcPts val="600"/>
              </a:spcBef>
            </a:pP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/>
            <a:r>
              <a:rPr lang="en-US" altLang="zh-CN" dirty="0" err="1">
                <a:latin typeface="+mn-ea"/>
              </a:rPr>
              <a:t>Jaccard</a:t>
            </a:r>
            <a:r>
              <a:rPr lang="zh-CN" altLang="en-US" dirty="0" smtClean="0">
                <a:latin typeface="+mn-ea"/>
              </a:rPr>
              <a:t>系数</a:t>
            </a:r>
            <a:r>
              <a:rPr lang="en-US" altLang="zh-CN" dirty="0" smtClean="0">
                <a:latin typeface="+mn-ea"/>
              </a:rPr>
              <a:t>(JC)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FM</a:t>
            </a:r>
            <a:r>
              <a:rPr lang="zh-CN" altLang="en-US" dirty="0" smtClean="0"/>
              <a:t>指数</a:t>
            </a:r>
            <a:r>
              <a:rPr lang="en-US" altLang="zh-CN" dirty="0" smtClean="0">
                <a:latin typeface="+mn-ea"/>
              </a:rPr>
              <a:t>(FMI)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92080" y="1808559"/>
          <a:ext cx="173556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6" name="Equation" r:id="rId1" imgW="20421600" imgH="5486400" progId="Equation.DSMT4">
                  <p:embed/>
                </p:oleObj>
              </mc:Choice>
              <mc:Fallback>
                <p:oleObj name="Equation" r:id="rId1" imgW="20421600" imgH="5486400" progId="Equation.DSMT4">
                  <p:embed/>
                  <p:pic>
                    <p:nvPicPr>
                      <p:cNvPr id="0" name="图片 30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2080" y="1808559"/>
                        <a:ext cx="1735564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92081" y="2181670"/>
          <a:ext cx="165576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" name="Equation" r:id="rId3" imgW="22250400" imgH="5791200" progId="Equation.DSMT4">
                  <p:embed/>
                </p:oleObj>
              </mc:Choice>
              <mc:Fallback>
                <p:oleObj name="Equation" r:id="rId3" imgW="22250400" imgH="5791200" progId="Equation.DSMT4">
                  <p:embed/>
                  <p:pic>
                    <p:nvPicPr>
                      <p:cNvPr id="0" name="图片 30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2081" y="2181670"/>
                        <a:ext cx="1655766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843088" y="2532063"/>
          <a:ext cx="5905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" name="Equation" r:id="rId5" imgW="7924800" imgH="5486400" progId="Equation.DSMT4">
                  <p:embed/>
                </p:oleObj>
              </mc:Choice>
              <mc:Fallback>
                <p:oleObj name="Equation" r:id="rId5" imgW="7924800" imgH="5486400" progId="Equation.DSMT4">
                  <p:embed/>
                  <p:pic>
                    <p:nvPicPr>
                      <p:cNvPr id="0" name="图片 30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3088" y="2532063"/>
                        <a:ext cx="590550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848890" y="2550953"/>
          <a:ext cx="6365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" name="Equation" r:id="rId7" imgW="8534400" imgH="5486400" progId="Equation.DSMT4">
                  <p:embed/>
                </p:oleObj>
              </mc:Choice>
              <mc:Fallback>
                <p:oleObj name="Equation" r:id="rId7" imgW="8534400" imgH="5486400" progId="Equation.DSMT4">
                  <p:embed/>
                  <p:pic>
                    <p:nvPicPr>
                      <p:cNvPr id="0" name="图片 30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48890" y="2550953"/>
                        <a:ext cx="636587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04554" y="2896479"/>
          <a:ext cx="460375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" name="Equation" r:id="rId9" imgW="61874400" imgH="21336000" progId="Equation.DSMT4">
                  <p:embed/>
                </p:oleObj>
              </mc:Choice>
              <mc:Fallback>
                <p:oleObj name="Equation" r:id="rId9" imgW="61874400" imgH="21336000" progId="Equation.DSMT4">
                  <p:embed/>
                  <p:pic>
                    <p:nvPicPr>
                      <p:cNvPr id="0" name="图片 300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4554" y="2896479"/>
                        <a:ext cx="4603750" cy="1589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11760" y="4437112"/>
          <a:ext cx="24257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1" name="Equation" r:id="rId11" imgW="32613600" imgH="4876800" progId="Equation.DSMT4">
                  <p:embed/>
                </p:oleObj>
              </mc:Choice>
              <mc:Fallback>
                <p:oleObj name="Equation" r:id="rId11" imgW="32613600" imgH="4876800" progId="Equation.DSMT4">
                  <p:embed/>
                  <p:pic>
                    <p:nvPicPr>
                      <p:cNvPr id="0" name="图片 30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11760" y="4437112"/>
                        <a:ext cx="2425700" cy="36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933687" y="5189039"/>
          <a:ext cx="214548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" name="Equation" r:id="rId13" imgW="23774400" imgH="5181600" progId="Equation.DSMT4">
                  <p:embed/>
                </p:oleObj>
              </mc:Choice>
              <mc:Fallback>
                <p:oleObj name="Equation" r:id="rId13" imgW="23774400" imgH="5181600" progId="Equation.DSMT4">
                  <p:embed/>
                  <p:pic>
                    <p:nvPicPr>
                      <p:cNvPr id="0" name="图片 30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33687" y="5189039"/>
                        <a:ext cx="2145484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63571" y="5746070"/>
          <a:ext cx="2448000" cy="85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" name="Equation" r:id="rId15" imgW="27127200" imgH="9448800" progId="Equation.DSMT4">
                  <p:embed/>
                </p:oleObj>
              </mc:Choice>
              <mc:Fallback>
                <p:oleObj name="Equation" r:id="rId15" imgW="27127200" imgH="9448800" progId="Equation.DSMT4">
                  <p:embed/>
                  <p:pic>
                    <p:nvPicPr>
                      <p:cNvPr id="0" name="图片 30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63571" y="5746070"/>
                        <a:ext cx="2448000" cy="853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性能度量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外部指标</a:t>
            </a:r>
            <a:endParaRPr lang="en-US" altLang="zh-CN" dirty="0"/>
          </a:p>
          <a:p>
            <a:pPr lvl="1"/>
            <a:r>
              <a:rPr lang="en-US" altLang="zh-CN" dirty="0" smtClean="0">
                <a:latin typeface="+mn-ea"/>
              </a:rPr>
              <a:t>Rand</a:t>
            </a:r>
            <a:r>
              <a:rPr lang="zh-CN" altLang="en-US" dirty="0">
                <a:latin typeface="+mn-ea"/>
              </a:rPr>
              <a:t>指数</a:t>
            </a:r>
            <a:r>
              <a:rPr lang="en-US" altLang="zh-CN" dirty="0" smtClean="0">
                <a:latin typeface="+mn-ea"/>
              </a:rPr>
              <a:t>(RI)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上述</a:t>
            </a:r>
            <a:r>
              <a:rPr lang="zh-CN" altLang="en-US" dirty="0">
                <a:latin typeface="+mn-ea"/>
              </a:rPr>
              <a:t>性能</a:t>
            </a:r>
            <a:r>
              <a:rPr lang="zh-CN" altLang="en-US" dirty="0" smtClean="0">
                <a:latin typeface="+mn-ea"/>
              </a:rPr>
              <a:t>度量值均在</a:t>
            </a:r>
            <a:r>
              <a:rPr lang="en-US" altLang="zh-CN" dirty="0" smtClean="0">
                <a:latin typeface="+mn-ea"/>
              </a:rPr>
              <a:t>[0,1]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值</a:t>
            </a:r>
            <a:r>
              <a:rPr lang="zh-CN" altLang="en-US" dirty="0" smtClean="0">
                <a:latin typeface="+mn-ea"/>
              </a:rPr>
              <a:t>越大越好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>
                <a:latin typeface="+mn-ea"/>
              </a:rPr>
              <a:t>内部</a:t>
            </a:r>
            <a:r>
              <a:rPr lang="zh-CN" altLang="en-US" dirty="0" smtClean="0">
                <a:latin typeface="+mn-ea"/>
              </a:rPr>
              <a:t>指标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符号</a:t>
            </a:r>
            <a:r>
              <a:rPr lang="zh-CN" altLang="en-US" dirty="0" smtClean="0">
                <a:latin typeface="+mn-ea"/>
              </a:rPr>
              <a:t>和定义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两样本间距离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簇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的中心点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簇内样本间平均距离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簇内</a:t>
            </a:r>
            <a:r>
              <a:rPr lang="zh-CN" altLang="en-US" dirty="0">
                <a:latin typeface="+mn-ea"/>
              </a:rPr>
              <a:t>样本</a:t>
            </a:r>
            <a:r>
              <a:rPr lang="zh-CN" altLang="en-US" dirty="0" smtClean="0">
                <a:latin typeface="+mn-ea"/>
              </a:rPr>
              <a:t>间最远距离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两簇最近样本间距离</a:t>
            </a:r>
            <a:endParaRPr lang="en-US" altLang="zh-CN" dirty="0" smtClean="0">
              <a:latin typeface="+mn-ea"/>
            </a:endParaRPr>
          </a:p>
          <a:p>
            <a:pPr lvl="2">
              <a:spcBef>
                <a:spcPts val="600"/>
              </a:spcBef>
            </a:pPr>
            <a:r>
              <a:rPr lang="zh-CN" altLang="en-US">
                <a:latin typeface="+mn-ea"/>
              </a:rPr>
              <a:t>两</a:t>
            </a:r>
            <a:r>
              <a:rPr lang="zh-CN" altLang="en-US" smtClean="0">
                <a:latin typeface="+mn-ea"/>
              </a:rPr>
              <a:t>簇中心点间的距离</a:t>
            </a:r>
            <a:endParaRPr lang="en-US" altLang="zh-CN" dirty="0">
              <a:latin typeface="+mn-ea"/>
            </a:endParaRPr>
          </a:p>
          <a:p>
            <a:pPr lvl="2">
              <a:spcBef>
                <a:spcPts val="600"/>
              </a:spcBef>
            </a:pPr>
            <a:endParaRPr lang="en-US" altLang="zh-CN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48596" y="1376512"/>
          <a:ext cx="31877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" name="Equation" r:id="rId1" imgW="35356800" imgH="5181600" progId="Equation.DSMT4">
                  <p:embed/>
                </p:oleObj>
              </mc:Choice>
              <mc:Fallback>
                <p:oleObj name="Equation" r:id="rId1" imgW="35356800" imgH="5181600" progId="Equation.DSMT4">
                  <p:embed/>
                  <p:pic>
                    <p:nvPicPr>
                      <p:cNvPr id="0" name="图片 33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8596" y="1376512"/>
                        <a:ext cx="318770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29753" y="3138853"/>
          <a:ext cx="137839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0" name="Equation" r:id="rId3" imgW="17068800" imgH="5791200" progId="Equation.DSMT4">
                  <p:embed/>
                </p:oleObj>
              </mc:Choice>
              <mc:Fallback>
                <p:oleObj name="Equation" r:id="rId3" imgW="17068800" imgH="5791200" progId="Equation.DSMT4">
                  <p:embed/>
                  <p:pic>
                    <p:nvPicPr>
                      <p:cNvPr id="0" name="图片 33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9753" y="3138853"/>
                        <a:ext cx="1378397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25809" y="3528430"/>
          <a:ext cx="1824278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" name="Equation" r:id="rId5" imgW="23164800" imgH="9144000" progId="Equation.DSMT4">
                  <p:embed/>
                </p:oleObj>
              </mc:Choice>
              <mc:Fallback>
                <p:oleObj name="Equation" r:id="rId5" imgW="23164800" imgH="9144000" progId="Equation.DSMT4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5809" y="3528430"/>
                        <a:ext cx="1824278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66264" y="4127679"/>
          <a:ext cx="4445096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" name="Equation" r:id="rId7" imgW="56388000" imgH="9144000" progId="Equation.DSMT4">
                  <p:embed/>
                </p:oleObj>
              </mc:Choice>
              <mc:Fallback>
                <p:oleObj name="Equation" r:id="rId7" imgW="56388000" imgH="9144000" progId="Equation.DSMT4">
                  <p:embed/>
                  <p:pic>
                    <p:nvPicPr>
                      <p:cNvPr id="0" name="图片 335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6264" y="4127679"/>
                        <a:ext cx="4445096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783782" y="4845596"/>
          <a:ext cx="36766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3" name="Equation" r:id="rId9" imgW="46634400" imgH="5791200" progId="Equation.DSMT4">
                  <p:embed/>
                </p:oleObj>
              </mc:Choice>
              <mc:Fallback>
                <p:oleObj name="Equation" r:id="rId9" imgW="46634400" imgH="5791200" progId="Equation.DSMT4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3782" y="4845596"/>
                        <a:ext cx="3676650" cy="45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07396" y="5301208"/>
          <a:ext cx="4229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4" name="Equation" r:id="rId11" imgW="53644800" imgH="6096000" progId="Equation.DSMT4">
                  <p:embed/>
                </p:oleObj>
              </mc:Choice>
              <mc:Fallback>
                <p:oleObj name="Equation" r:id="rId11" imgW="53644800" imgH="6096000" progId="Equation.DSMT4">
                  <p:embed/>
                  <p:pic>
                    <p:nvPicPr>
                      <p:cNvPr id="0" name="图片 335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07396" y="5301208"/>
                        <a:ext cx="422910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84874" y="5743575"/>
          <a:ext cx="281146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5" name="Equation" r:id="rId13" imgW="35661600" imgH="5791200" progId="Equation.DSMT4">
                  <p:embed/>
                </p:oleObj>
              </mc:Choice>
              <mc:Fallback>
                <p:oleObj name="Equation" r:id="rId13" imgW="35661600" imgH="5791200" progId="Equation.DSMT4">
                  <p:embed/>
                  <p:pic>
                    <p:nvPicPr>
                      <p:cNvPr id="0" name="图片 335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84874" y="5743575"/>
                        <a:ext cx="2811462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性能度量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内部指标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DB</a:t>
            </a:r>
            <a:r>
              <a:rPr lang="zh-CN" altLang="en-US" dirty="0" smtClean="0">
                <a:latin typeface="+mn-ea"/>
              </a:rPr>
              <a:t>指数</a:t>
            </a:r>
            <a:r>
              <a:rPr lang="en-US" altLang="zh-CN" dirty="0" smtClean="0">
                <a:latin typeface="+mn-ea"/>
              </a:rPr>
              <a:t>(DBI)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值越小越好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Dunn</a:t>
            </a:r>
            <a:r>
              <a:rPr lang="zh-CN" altLang="en-US" dirty="0" smtClean="0">
                <a:latin typeface="+mn-ea"/>
              </a:rPr>
              <a:t>指数</a:t>
            </a:r>
            <a:r>
              <a:rPr lang="en-US" altLang="zh-CN" dirty="0" smtClean="0">
                <a:latin typeface="+mn-ea"/>
              </a:rPr>
              <a:t>(DI)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值越大越好</a:t>
            </a:r>
            <a:endParaRPr lang="en-US" altLang="zh-CN" dirty="0" smtClean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07456" y="1772816"/>
          <a:ext cx="43688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Equation" r:id="rId1" imgW="55473600" imgH="11582400" progId="Equation.DSMT4">
                  <p:embed/>
                </p:oleObj>
              </mc:Choice>
              <mc:Fallback>
                <p:oleObj name="Equation" r:id="rId1" imgW="55473600" imgH="11582400" progId="Equation.DSMT4">
                  <p:embed/>
                  <p:pic>
                    <p:nvPicPr>
                      <p:cNvPr id="0" name="图片 41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7456" y="1772816"/>
                        <a:ext cx="4368800" cy="911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27784" y="3404666"/>
          <a:ext cx="405765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3" imgW="51511200" imgH="12192000" progId="Equation.DSMT4">
                  <p:embed/>
                </p:oleObj>
              </mc:Choice>
              <mc:Fallback>
                <p:oleObj name="Equation" r:id="rId3" imgW="51511200" imgH="12192000" progId="Equation.DSMT4">
                  <p:embed/>
                  <p:pic>
                    <p:nvPicPr>
                      <p:cNvPr id="0" name="图片 41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3404666"/>
                        <a:ext cx="4057650" cy="960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zh-CN" altLang="en-US" dirty="0" smtClean="0"/>
              <a:t>距离</a:t>
            </a:r>
            <a:r>
              <a:rPr lang="zh-CN" altLang="en-US" dirty="0"/>
              <a:t>计算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距离</a:t>
            </a:r>
            <a:r>
              <a:rPr lang="zh-CN" altLang="en-US" dirty="0" smtClean="0"/>
              <a:t>度量</a:t>
            </a:r>
            <a:endParaRPr lang="en-US" altLang="zh-CN" dirty="0" smtClean="0"/>
          </a:p>
          <a:p>
            <a:pPr lvl="1"/>
            <a:r>
              <a:rPr lang="zh-CN" altLang="en-US" dirty="0"/>
              <a:t>需</a:t>
            </a:r>
            <a:r>
              <a:rPr lang="zh-CN" altLang="en-US" dirty="0" smtClean="0"/>
              <a:t>满足</a:t>
            </a:r>
            <a:r>
              <a:rPr lang="zh-CN" altLang="en-US" dirty="0"/>
              <a:t>四个</a:t>
            </a:r>
            <a:r>
              <a:rPr lang="zh-CN" altLang="en-US" dirty="0" smtClean="0"/>
              <a:t>基本性质</a:t>
            </a:r>
            <a:endParaRPr lang="en-US" altLang="zh-CN" dirty="0" smtClean="0"/>
          </a:p>
          <a:p>
            <a:pPr lvl="2"/>
            <a:r>
              <a:rPr lang="zh-CN" altLang="en-US" dirty="0"/>
              <a:t>非负</a:t>
            </a:r>
            <a:r>
              <a:rPr lang="zh-CN" altLang="en-US" dirty="0" smtClean="0"/>
              <a:t>性</a:t>
            </a:r>
            <a:endParaRPr lang="en-US" altLang="zh-CN" dirty="0"/>
          </a:p>
          <a:p>
            <a:pPr lvl="2"/>
            <a:r>
              <a:rPr lang="zh-CN" altLang="en-US" dirty="0" smtClean="0"/>
              <a:t>同一性</a:t>
            </a:r>
            <a:endParaRPr lang="en-US" altLang="zh-CN" dirty="0"/>
          </a:p>
          <a:p>
            <a:pPr lvl="2"/>
            <a:r>
              <a:rPr lang="zh-CN" altLang="en-US" dirty="0"/>
              <a:t>对称性</a:t>
            </a:r>
            <a:endParaRPr lang="zh-CN" altLang="en-US" dirty="0"/>
          </a:p>
          <a:p>
            <a:pPr lvl="2"/>
            <a:r>
              <a:rPr lang="zh-CN" altLang="en-US" dirty="0"/>
              <a:t>直递性</a:t>
            </a:r>
            <a:endParaRPr lang="zh-CN" altLang="en-US" dirty="0"/>
          </a:p>
          <a:p>
            <a:pPr lvl="1"/>
            <a:r>
              <a:rPr lang="zh-CN" altLang="en-US" dirty="0" smtClean="0"/>
              <a:t>闵可夫</a:t>
            </a:r>
            <a:r>
              <a:rPr lang="zh-CN" altLang="en-US" dirty="0"/>
              <a:t>斯基</a:t>
            </a:r>
            <a:r>
              <a:rPr lang="zh-CN" altLang="en-US" dirty="0" smtClean="0"/>
              <a:t>距离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 smtClean="0"/>
              <a:t>      </a:t>
            </a:r>
            <a:r>
              <a:rPr lang="zh-CN" altLang="en-US" dirty="0"/>
              <a:t>时，曼哈顿</a:t>
            </a:r>
            <a:r>
              <a:rPr lang="zh-CN" altLang="en-US" dirty="0" smtClean="0"/>
              <a:t>距离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      </a:t>
            </a:r>
            <a:r>
              <a:rPr lang="zh-CN" altLang="en-US" dirty="0"/>
              <a:t>时，欧氏距离</a:t>
            </a:r>
            <a:endParaRPr lang="en-US" altLang="zh-CN" dirty="0"/>
          </a:p>
          <a:p>
            <a:pPr lvl="2">
              <a:spcBef>
                <a:spcPts val="600"/>
              </a:spcBef>
            </a:pP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87675" y="1795463"/>
          <a:ext cx="4386263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" name="Equation" r:id="rId1" imgW="54254400" imgH="19507200" progId="Equation.DSMT4">
                  <p:embed/>
                </p:oleObj>
              </mc:Choice>
              <mc:Fallback>
                <p:oleObj name="Equation" r:id="rId1" imgW="54254400" imgH="19507200" progId="Equation.DSMT4">
                  <p:embed/>
                  <p:pic>
                    <p:nvPicPr>
                      <p:cNvPr id="0" name="图片 53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7675" y="1795463"/>
                        <a:ext cx="4386263" cy="157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93144" y="3501008"/>
          <a:ext cx="45831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2" name="Equation" r:id="rId3" imgW="56692800" imgH="9753600" progId="Equation.DSMT4">
                  <p:embed/>
                </p:oleObj>
              </mc:Choice>
              <mc:Fallback>
                <p:oleObj name="Equation" r:id="rId3" imgW="56692800" imgH="9753600" progId="Equation.DSMT4">
                  <p:embed/>
                  <p:pic>
                    <p:nvPicPr>
                      <p:cNvPr id="0" name="图片 53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93144" y="3501008"/>
                        <a:ext cx="4583112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907704" y="4187428"/>
          <a:ext cx="5667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" name="Equation" r:id="rId5" imgW="7010400" imgH="4876800" progId="Equation.DSMT4">
                  <p:embed/>
                </p:oleObj>
              </mc:Choice>
              <mc:Fallback>
                <p:oleObj name="Equation" r:id="rId5" imgW="7010400" imgH="4876800" progId="Equation.DSMT4">
                  <p:embed/>
                  <p:pic>
                    <p:nvPicPr>
                      <p:cNvPr id="0" name="图片 53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7704" y="4187428"/>
                        <a:ext cx="566737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81238" y="4520034"/>
          <a:ext cx="46069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" name="Equation" r:id="rId7" imgW="56997600" imgH="7010400" progId="Equation.DSMT4">
                  <p:embed/>
                </p:oleObj>
              </mc:Choice>
              <mc:Fallback>
                <p:oleObj name="Equation" r:id="rId7" imgW="56997600" imgH="7010400" progId="Equation.DSMT4">
                  <p:embed/>
                  <p:pic>
                    <p:nvPicPr>
                      <p:cNvPr id="0" name="图片 53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1238" y="4520034"/>
                        <a:ext cx="4606925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84363" y="5084763"/>
          <a:ext cx="6159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" name="Equation" r:id="rId9" imgW="7620000" imgH="4876800" progId="Equation.DSMT4">
                  <p:embed/>
                </p:oleObj>
              </mc:Choice>
              <mc:Fallback>
                <p:oleObj name="Equation" r:id="rId9" imgW="7620000" imgH="4876800" progId="Equation.DSMT4">
                  <p:embed/>
                  <p:pic>
                    <p:nvPicPr>
                      <p:cNvPr id="0" name="图片 53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4363" y="5084763"/>
                        <a:ext cx="61595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267297" y="5453533"/>
          <a:ext cx="47529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" name="Equation" r:id="rId11" imgW="58826400" imgH="7924800" progId="Equation.DSMT4">
                  <p:embed/>
                </p:oleObj>
              </mc:Choice>
              <mc:Fallback>
                <p:oleObj name="Equation" r:id="rId11" imgW="58826400" imgH="7924800" progId="Equation.DSMT4">
                  <p:embed/>
                  <p:pic>
                    <p:nvPicPr>
                      <p:cNvPr id="0" name="图片 53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7297" y="5453533"/>
                        <a:ext cx="4752975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 </a:t>
            </a:r>
            <a:r>
              <a:rPr lang="zh-CN" altLang="en-US" dirty="0"/>
              <a:t>距离计算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距离度量</a:t>
            </a:r>
            <a:endParaRPr lang="en-US" altLang="zh-CN" dirty="0"/>
          </a:p>
          <a:p>
            <a:pPr lvl="1"/>
            <a:r>
              <a:rPr lang="zh-CN" altLang="en-US" dirty="0"/>
              <a:t>离散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2"/>
            <a:r>
              <a:rPr lang="zh-CN" altLang="en-US" dirty="0"/>
              <a:t>有序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离散属性值之间有序关系</a:t>
            </a:r>
            <a:endParaRPr lang="en-US" altLang="zh-CN" dirty="0" smtClean="0"/>
          </a:p>
          <a:p>
            <a:pPr lvl="3"/>
            <a:r>
              <a:rPr lang="zh-CN" altLang="en-US" dirty="0"/>
              <a:t>能直接在属性值上计算距离，</a:t>
            </a:r>
            <a:r>
              <a:rPr lang="zh-CN" altLang="en-US" dirty="0" smtClean="0"/>
              <a:t>使用闵可夫</a:t>
            </a:r>
            <a:r>
              <a:rPr lang="zh-CN" altLang="en-US" dirty="0"/>
              <a:t>斯基距离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无序属性</a:t>
            </a:r>
            <a:endParaRPr lang="en-US" altLang="zh-CN" dirty="0" smtClean="0"/>
          </a:p>
          <a:p>
            <a:pPr lvl="3"/>
            <a:r>
              <a:rPr lang="zh-CN" altLang="en-US" dirty="0"/>
              <a:t>离散属性值</a:t>
            </a:r>
            <a:r>
              <a:rPr lang="zh-CN" altLang="en-US" dirty="0" smtClean="0"/>
              <a:t>之间没有序关系</a:t>
            </a:r>
            <a:r>
              <a:rPr lang="zh-CN" altLang="en-US" dirty="0" smtClean="0">
                <a:latin typeface="+mn-ea"/>
              </a:rPr>
              <a:t>，如</a:t>
            </a:r>
            <a:r>
              <a:rPr lang="en-US" altLang="zh-CN" dirty="0" smtClean="0">
                <a:latin typeface="+mn-ea"/>
              </a:rPr>
              <a:t>{</a:t>
            </a:r>
            <a:r>
              <a:rPr lang="zh-CN" altLang="en-US" dirty="0" smtClean="0">
                <a:latin typeface="+mn-ea"/>
              </a:rPr>
              <a:t>飞机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火车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轮船</a:t>
            </a:r>
            <a:r>
              <a:rPr lang="en-US" altLang="zh-CN" dirty="0" smtClean="0">
                <a:latin typeface="+mn-ea"/>
              </a:rPr>
              <a:t>}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可采用</a:t>
            </a:r>
            <a:r>
              <a:rPr lang="en-US" altLang="zh-CN" dirty="0" smtClean="0">
                <a:latin typeface="+mn-ea"/>
              </a:rPr>
              <a:t>VDM(Value </a:t>
            </a:r>
            <a:r>
              <a:rPr lang="en-US" altLang="zh-CN" dirty="0">
                <a:latin typeface="+mn-ea"/>
              </a:rPr>
              <a:t>Difference Metric)</a:t>
            </a:r>
            <a:endParaRPr lang="en-US" altLang="zh-CN" dirty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属性  上</a:t>
            </a:r>
            <a:r>
              <a:rPr lang="zh-CN" altLang="en-US" dirty="0">
                <a:latin typeface="+mn-ea"/>
              </a:rPr>
              <a:t>取值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样本</a:t>
            </a:r>
            <a:r>
              <a:rPr lang="zh-CN" altLang="en-US" dirty="0" smtClean="0">
                <a:latin typeface="+mn-ea"/>
              </a:rPr>
              <a:t>数    ，</a:t>
            </a:r>
            <a:r>
              <a:rPr lang="zh-CN" altLang="en-US" dirty="0">
                <a:latin typeface="+mn-ea"/>
              </a:rPr>
              <a:t>样本簇</a:t>
            </a:r>
            <a:r>
              <a:rPr lang="zh-CN" altLang="en-US" dirty="0" smtClean="0">
                <a:latin typeface="+mn-ea"/>
              </a:rPr>
              <a:t>数  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第 个样本簇中属性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上</a:t>
            </a:r>
            <a:r>
              <a:rPr lang="zh-CN" altLang="en-US" dirty="0">
                <a:latin typeface="+mn-ea"/>
              </a:rPr>
              <a:t>取值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样本</a:t>
            </a:r>
            <a:r>
              <a:rPr lang="zh-CN" altLang="en-US" dirty="0" smtClean="0">
                <a:latin typeface="+mn-ea"/>
              </a:rPr>
              <a:t>数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属性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上</a:t>
            </a:r>
            <a:r>
              <a:rPr lang="zh-CN" altLang="en-US" dirty="0">
                <a:latin typeface="+mn-ea"/>
              </a:rPr>
              <a:t>两</a:t>
            </a:r>
            <a:r>
              <a:rPr lang="zh-CN" altLang="en-US" dirty="0" smtClean="0">
                <a:latin typeface="+mn-ea"/>
              </a:rPr>
              <a:t>个离散值 </a:t>
            </a:r>
            <a:r>
              <a:rPr lang="en-US" altLang="zh-CN" dirty="0" smtClean="0">
                <a:latin typeface="+mn-ea"/>
              </a:rPr>
              <a:t>   </a:t>
            </a:r>
            <a:r>
              <a:rPr lang="zh-CN" altLang="en-US" dirty="0" smtClean="0">
                <a:latin typeface="+mn-ea"/>
              </a:rPr>
              <a:t>间的</a:t>
            </a:r>
            <a:r>
              <a:rPr lang="en-US" altLang="zh-CN" dirty="0" smtClean="0">
                <a:latin typeface="+mn-ea"/>
              </a:rPr>
              <a:t>VDM</a:t>
            </a:r>
            <a:r>
              <a:rPr lang="zh-CN" altLang="en-US" dirty="0" smtClean="0">
                <a:latin typeface="+mn-ea"/>
              </a:rPr>
              <a:t>距离为</a:t>
            </a:r>
            <a:endParaRPr lang="zh-CN" altLang="en-US" dirty="0" smtClean="0">
              <a:latin typeface="+mn-ea"/>
            </a:endParaRPr>
          </a:p>
          <a:p>
            <a:pPr lvl="4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89834" y="3789040"/>
          <a:ext cx="2460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3" name="Equation" r:id="rId1" imgW="3048000" imgH="3352800" progId="Equation.DSMT4">
                  <p:embed/>
                </p:oleObj>
              </mc:Choice>
              <mc:Fallback>
                <p:oleObj name="Equation" r:id="rId1" imgW="3048000" imgH="3352800" progId="Equation.DSMT4">
                  <p:embed/>
                  <p:pic>
                    <p:nvPicPr>
                      <p:cNvPr id="0" name="图片 65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89834" y="3789040"/>
                        <a:ext cx="246062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44008" y="3789040"/>
          <a:ext cx="2460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4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0" name="图片 65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008" y="3789040"/>
                        <a:ext cx="246062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40152" y="3680768"/>
          <a:ext cx="5413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5" name="Equation" r:id="rId5" imgW="6705600" imgH="5791200" progId="Equation.DSMT4">
                  <p:embed/>
                </p:oleObj>
              </mc:Choice>
              <mc:Fallback>
                <p:oleObj name="Equation" r:id="rId5" imgW="6705600" imgH="5791200" progId="Equation.DSMT4">
                  <p:embed/>
                  <p:pic>
                    <p:nvPicPr>
                      <p:cNvPr id="0" name="图片 65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0152" y="3680768"/>
                        <a:ext cx="541338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46018" y="4102039"/>
          <a:ext cx="2460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6" name="Equation" r:id="rId7" imgW="3048000" imgH="3352800" progId="Equation.DSMT4">
                  <p:embed/>
                </p:oleObj>
              </mc:Choice>
              <mc:Fallback>
                <p:oleObj name="Equation" r:id="rId7" imgW="3048000" imgH="3352800" progId="Equation.DSMT4">
                  <p:embed/>
                  <p:pic>
                    <p:nvPicPr>
                      <p:cNvPr id="0" name="图片 654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6018" y="4102039"/>
                        <a:ext cx="246062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300192" y="4093642"/>
          <a:ext cx="2460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7" name="Equation" r:id="rId9" imgW="3048000" imgH="3352800" progId="Equation.DSMT4">
                  <p:embed/>
                </p:oleObj>
              </mc:Choice>
              <mc:Fallback>
                <p:oleObj name="Equation" r:id="rId9" imgW="3048000" imgH="3352800" progId="Equation.DSMT4">
                  <p:embed/>
                  <p:pic>
                    <p:nvPicPr>
                      <p:cNvPr id="0" name="图片 65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00192" y="4093642"/>
                        <a:ext cx="246062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04283" y="4060502"/>
          <a:ext cx="1714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8" name="Equation" r:id="rId11" imgW="2133600" imgH="3962400" progId="Equation.DSMT4">
                  <p:embed/>
                </p:oleObj>
              </mc:Choice>
              <mc:Fallback>
                <p:oleObj name="Equation" r:id="rId11" imgW="2133600" imgH="3962400" progId="Equation.DSMT4">
                  <p:embed/>
                  <p:pic>
                    <p:nvPicPr>
                      <p:cNvPr id="0" name="图片 654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4283" y="4060502"/>
                        <a:ext cx="1714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604645" y="4003675"/>
          <a:ext cx="6397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9" name="Equation" r:id="rId13" imgW="7924800" imgH="5791200" progId="Equation.DSMT4">
                  <p:embed/>
                </p:oleObj>
              </mc:Choice>
              <mc:Fallback>
                <p:oleObj name="Equation" r:id="rId13" imgW="7924800" imgH="5791200" progId="Equation.DSMT4">
                  <p:embed/>
                  <p:pic>
                    <p:nvPicPr>
                      <p:cNvPr id="0" name="图片 65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04645" y="4003675"/>
                        <a:ext cx="63976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710313" y="3743325"/>
          <a:ext cx="24606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0" name="Equation" r:id="rId15" imgW="3048000" imgH="4267200" progId="Equation.DSMT4">
                  <p:embed/>
                </p:oleObj>
              </mc:Choice>
              <mc:Fallback>
                <p:oleObj name="Equation" r:id="rId15" imgW="3048000" imgH="4267200" progId="Equation.DSMT4">
                  <p:embed/>
                  <p:pic>
                    <p:nvPicPr>
                      <p:cNvPr id="0" name="图片 654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10313" y="3743325"/>
                        <a:ext cx="246063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89834" y="4408083"/>
          <a:ext cx="2460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1" name="Equation" r:id="rId17" imgW="3048000" imgH="3352800" progId="Equation.DSMT4">
                  <p:embed/>
                </p:oleObj>
              </mc:Choice>
              <mc:Fallback>
                <p:oleObj name="Equation" r:id="rId17" imgW="3048000" imgH="3352800" progId="Equation.DSMT4">
                  <p:embed/>
                  <p:pic>
                    <p:nvPicPr>
                      <p:cNvPr id="0" name="图片 655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89834" y="4408083"/>
                        <a:ext cx="246062" cy="271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163953" y="4320555"/>
          <a:ext cx="468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2" name="Equation" r:id="rId19" imgW="5791200" imgH="4876800" progId="Equation.DSMT4">
                  <p:embed/>
                </p:oleObj>
              </mc:Choice>
              <mc:Fallback>
                <p:oleObj name="Equation" r:id="rId19" imgW="5791200" imgH="4876800" progId="Equation.DSMT4">
                  <p:embed/>
                  <p:pic>
                    <p:nvPicPr>
                      <p:cNvPr id="0" name="图片 65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63953" y="4320555"/>
                        <a:ext cx="468313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04283" y="4630390"/>
          <a:ext cx="37957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" name="Equation" r:id="rId21" imgW="46939200" imgH="11887200" progId="Equation.DSMT4">
                  <p:embed/>
                </p:oleObj>
              </mc:Choice>
              <mc:Fallback>
                <p:oleObj name="Equation" r:id="rId21" imgW="46939200" imgH="11887200" progId="Equation.DSMT4">
                  <p:embed/>
                  <p:pic>
                    <p:nvPicPr>
                      <p:cNvPr id="0" name="图片 655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04283" y="4630390"/>
                        <a:ext cx="3795713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 </a:t>
            </a:r>
            <a:r>
              <a:rPr lang="zh-CN" altLang="en-US" dirty="0"/>
              <a:t>距离计算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836712"/>
            <a:ext cx="7772400" cy="4690864"/>
          </a:xfrm>
        </p:spPr>
        <p:txBody>
          <a:bodyPr/>
          <a:lstStyle/>
          <a:p>
            <a:r>
              <a:rPr lang="zh-CN" altLang="en-US" dirty="0"/>
              <a:t>距离度量</a:t>
            </a:r>
            <a:endParaRPr lang="en-US" altLang="zh-CN" dirty="0"/>
          </a:p>
          <a:p>
            <a:pPr lvl="1"/>
            <a:r>
              <a:rPr lang="zh-CN" altLang="en-US" dirty="0"/>
              <a:t>混合</a:t>
            </a:r>
            <a:r>
              <a:rPr lang="zh-CN" altLang="en-US" dirty="0" smtClean="0"/>
              <a:t>属性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将闵可夫</a:t>
            </a:r>
            <a:r>
              <a:rPr lang="zh-CN" altLang="en-US" dirty="0"/>
              <a:t>斯基距离和</a:t>
            </a:r>
            <a:r>
              <a:rPr lang="en-US" altLang="zh-CN" dirty="0">
                <a:latin typeface="+mn-ea"/>
              </a:rPr>
              <a:t>VDM</a:t>
            </a:r>
            <a:r>
              <a:rPr lang="zh-CN" altLang="en-US" dirty="0" smtClean="0"/>
              <a:t>结合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有</a:t>
            </a:r>
            <a:r>
              <a:rPr lang="en-US" altLang="zh-CN" dirty="0" smtClean="0"/>
              <a:t>  </a:t>
            </a:r>
            <a:r>
              <a:rPr lang="zh-CN" altLang="en-US" dirty="0" smtClean="0"/>
              <a:t>个有序</a:t>
            </a:r>
            <a:r>
              <a:rPr lang="zh-CN" altLang="en-US" dirty="0"/>
              <a:t>属性</a:t>
            </a:r>
            <a:r>
              <a:rPr lang="zh-CN" altLang="en-US" dirty="0" smtClean="0"/>
              <a:t>、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个</a:t>
            </a:r>
            <a:r>
              <a:rPr lang="zh-CN" altLang="en-US" dirty="0"/>
              <a:t>无序属性</a:t>
            </a:r>
            <a:r>
              <a:rPr lang="zh-CN" altLang="en-US" dirty="0" smtClean="0"/>
              <a:t>，有序</a:t>
            </a:r>
            <a:r>
              <a:rPr lang="zh-CN" altLang="en-US" dirty="0"/>
              <a:t>属性排列在无序属性之前，</a:t>
            </a:r>
            <a:r>
              <a:rPr lang="zh-CN" altLang="en-US" dirty="0" smtClean="0"/>
              <a:t>则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>
              <a:spcBef>
                <a:spcPts val="1800"/>
              </a:spcBef>
            </a:pPr>
            <a:r>
              <a:rPr lang="zh-CN" altLang="en-US" dirty="0" smtClean="0"/>
              <a:t>当属性重要性</a:t>
            </a:r>
            <a:r>
              <a:rPr lang="zh-CN" altLang="en-US" dirty="0"/>
              <a:t>不同时，</a:t>
            </a:r>
            <a:r>
              <a:rPr lang="zh-CN" altLang="en-US" dirty="0" smtClean="0"/>
              <a:t>可用加权距离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1">
              <a:spcBef>
                <a:spcPts val="600"/>
              </a:spcBef>
            </a:pPr>
            <a:r>
              <a:rPr lang="zh-CN" altLang="en-US" dirty="0" smtClean="0"/>
              <a:t>非</a:t>
            </a:r>
            <a:r>
              <a:rPr lang="zh-CN" altLang="en-US" dirty="0"/>
              <a:t>度量</a:t>
            </a:r>
            <a:r>
              <a:rPr lang="zh-CN" altLang="en-US" dirty="0" smtClean="0"/>
              <a:t>距离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 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3"/>
            <a:r>
              <a:rPr lang="en-US" altLang="zh-CN" dirty="0" smtClean="0"/>
              <a:t> 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80864" y="2723434"/>
          <a:ext cx="746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" name="Equation" r:id="rId1" imgW="92354400" imgH="9753600" progId="Equation.DSMT4">
                  <p:embed/>
                </p:oleObj>
              </mc:Choice>
              <mc:Fallback>
                <p:oleObj name="Equation" r:id="rId1" imgW="92354400" imgH="9753600" progId="Equation.DSMT4">
                  <p:embed/>
                  <p:pic>
                    <p:nvPicPr>
                      <p:cNvPr id="0" name="图片 72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0864" y="2723434"/>
                        <a:ext cx="746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75748" y="3803554"/>
          <a:ext cx="31051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Equation" r:id="rId3" imgW="38404800" imgH="7010400" progId="Equation.DSMT4">
                  <p:embed/>
                </p:oleObj>
              </mc:Choice>
              <mc:Fallback>
                <p:oleObj name="Equation" r:id="rId3" imgW="38404800" imgH="7010400" progId="Equation.DSMT4">
                  <p:embed/>
                  <p:pic>
                    <p:nvPicPr>
                      <p:cNvPr id="0" name="图片 72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748" y="3803554"/>
                        <a:ext cx="310515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259" y="4623724"/>
            <a:ext cx="4414245" cy="2117644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51720" y="2151063"/>
          <a:ext cx="3190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name="Equation" r:id="rId6" imgW="3962400" imgH="5486400" progId="Equation.DSMT4">
                  <p:embed/>
                </p:oleObj>
              </mc:Choice>
              <mc:Fallback>
                <p:oleObj name="Equation" r:id="rId6" imgW="3962400" imgH="5486400" progId="Equation.DSMT4">
                  <p:embed/>
                  <p:pic>
                    <p:nvPicPr>
                      <p:cNvPr id="0" name="图片 727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1720" y="2151063"/>
                        <a:ext cx="319088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91422" y="2151063"/>
          <a:ext cx="6619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" name="Equation" r:id="rId8" imgW="8229600" imgH="5486400" progId="Equation.DSMT4">
                  <p:embed/>
                </p:oleObj>
              </mc:Choice>
              <mc:Fallback>
                <p:oleObj name="Equation" r:id="rId8" imgW="8229600" imgH="5486400" progId="Equation.DSMT4">
                  <p:embed/>
                  <p:pic>
                    <p:nvPicPr>
                      <p:cNvPr id="0" name="图片 727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1422" y="2151063"/>
                        <a:ext cx="661987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755576" y="4664336"/>
            <a:ext cx="39711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 smtClean="0">
                <a:latin typeface="+mn-lt"/>
                <a:ea typeface="+mn-ea"/>
              </a:rPr>
              <a:t>实际</a:t>
            </a:r>
            <a:r>
              <a:rPr lang="zh-CN" altLang="en-US" sz="2400" dirty="0">
                <a:latin typeface="+mn-lt"/>
                <a:ea typeface="+mn-ea"/>
              </a:rPr>
              <a:t>中用于相似度度量的距离未必满足距离</a:t>
            </a:r>
            <a:r>
              <a:rPr lang="zh-CN" altLang="en-US" sz="2400" dirty="0" smtClean="0">
                <a:latin typeface="+mn-lt"/>
                <a:ea typeface="+mn-ea"/>
              </a:rPr>
              <a:t>度量所有</a:t>
            </a:r>
            <a:r>
              <a:rPr lang="zh-CN" altLang="en-US" sz="2400" dirty="0">
                <a:latin typeface="+mn-lt"/>
                <a:ea typeface="+mn-ea"/>
              </a:rPr>
              <a:t>基本性质</a:t>
            </a:r>
            <a:r>
              <a:rPr lang="zh-CN" altLang="en-US" sz="2400" dirty="0" smtClean="0">
                <a:latin typeface="+mn-lt"/>
                <a:ea typeface="+mn-ea"/>
              </a:rPr>
              <a:t>，如直</a:t>
            </a:r>
            <a:r>
              <a:rPr lang="zh-CN" altLang="en-US" sz="2400" dirty="0">
                <a:latin typeface="+mn-lt"/>
                <a:ea typeface="+mn-ea"/>
              </a:rPr>
              <a:t>递</a:t>
            </a:r>
            <a:r>
              <a:rPr lang="zh-CN" altLang="en-US" sz="2400" dirty="0" smtClean="0">
                <a:latin typeface="+mn-lt"/>
                <a:ea typeface="+mn-ea"/>
              </a:rPr>
              <a:t>性</a:t>
            </a:r>
            <a:endParaRPr lang="en-US" altLang="zh-CN" sz="2400" dirty="0" smtClean="0">
              <a:latin typeface="+mn-lt"/>
              <a:ea typeface="+mn-ea"/>
            </a:endParaRPr>
          </a:p>
          <a:p>
            <a:pPr lvl="3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 smtClean="0">
                <a:latin typeface="+mn-lt"/>
                <a:ea typeface="+mn-ea"/>
              </a:rPr>
              <a:t>要基于数据样本来确定合适的距离计算式</a:t>
            </a:r>
            <a:endParaRPr lang="zh-CN" altLang="en-US" sz="2000" dirty="0" smtClean="0">
              <a:latin typeface="+mn-lt"/>
              <a:ea typeface="+mn-ea"/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altLang="zh-CN" sz="2400" dirty="0">
              <a:latin typeface="+mn-lt"/>
              <a:ea typeface="+mn-ea"/>
            </a:endParaRPr>
          </a:p>
        </p:txBody>
      </p:sp>
    </p:spTree>
  </p:cSld>
  <p:clrMapOvr>
    <a:masterClrMapping/>
  </p:clrMapOvr>
  <p:transition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 </a:t>
            </a:r>
            <a:r>
              <a:rPr lang="zh-CN" altLang="en-US" dirty="0" smtClean="0"/>
              <a:t>原型</a:t>
            </a:r>
            <a:r>
              <a:rPr lang="zh-CN" altLang="en-US" dirty="0"/>
              <a:t>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亦称基于</a:t>
            </a:r>
            <a:r>
              <a:rPr lang="zh-CN" altLang="en-US" dirty="0"/>
              <a:t>原型的</a:t>
            </a:r>
            <a:r>
              <a:rPr lang="zh-CN" altLang="en-US" dirty="0" smtClean="0"/>
              <a:t>聚类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假设：聚类</a:t>
            </a:r>
            <a:r>
              <a:rPr lang="zh-CN" altLang="en-US" dirty="0"/>
              <a:t>结构能通过一组原型</a:t>
            </a:r>
            <a:r>
              <a:rPr lang="zh-CN" altLang="en-US" dirty="0" smtClean="0"/>
              <a:t>刻画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过程：对</a:t>
            </a:r>
            <a:r>
              <a:rPr lang="zh-CN" altLang="en-US" dirty="0"/>
              <a:t>原型进行初始化，然后对原型进行迭代更新</a:t>
            </a:r>
            <a:r>
              <a:rPr lang="zh-CN" altLang="en-US" dirty="0" smtClean="0"/>
              <a:t>求解</a:t>
            </a:r>
            <a:endParaRPr lang="en-US" altLang="zh-CN" dirty="0"/>
          </a:p>
          <a:p>
            <a:pPr lvl="1"/>
            <a:r>
              <a:rPr lang="zh-CN" altLang="en-US" dirty="0">
                <a:latin typeface="+mn-ea"/>
              </a:rPr>
              <a:t>代表</a:t>
            </a:r>
            <a:r>
              <a:rPr lang="zh-CN" altLang="en-US" dirty="0" smtClean="0">
                <a:latin typeface="+mn-ea"/>
              </a:rPr>
              <a:t>：</a:t>
            </a:r>
            <a:r>
              <a:rPr lang="en-US" altLang="zh-CN" dirty="0" smtClean="0">
                <a:latin typeface="+mn-ea"/>
              </a:rPr>
              <a:t>k</a:t>
            </a:r>
            <a:r>
              <a:rPr lang="zh-CN" altLang="en-US" dirty="0" smtClean="0">
                <a:latin typeface="+mn-ea"/>
              </a:rPr>
              <a:t>均值</a:t>
            </a:r>
            <a:r>
              <a:rPr lang="zh-CN" altLang="en-US" dirty="0">
                <a:latin typeface="+mn-ea"/>
              </a:rPr>
              <a:t>聚类，学习向量</a:t>
            </a:r>
            <a:r>
              <a:rPr lang="zh-CN" altLang="en-US" dirty="0" smtClean="0">
                <a:latin typeface="+mn-ea"/>
              </a:rPr>
              <a:t>量化</a:t>
            </a:r>
            <a:r>
              <a:rPr lang="en-US" altLang="zh-CN" dirty="0" smtClean="0">
                <a:latin typeface="+mn-ea"/>
              </a:rPr>
              <a:t>(</a:t>
            </a:r>
            <a:r>
              <a:rPr lang="en-US" altLang="zh-CN" dirty="0">
                <a:latin typeface="+mn-ea"/>
              </a:rPr>
              <a:t>LVQ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高斯混合</a:t>
            </a:r>
            <a:r>
              <a:rPr lang="zh-CN" altLang="en-US" dirty="0" smtClean="0">
                <a:latin typeface="+mn-ea"/>
              </a:rPr>
              <a:t>聚类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>
                <a:latin typeface="+mn-ea"/>
              </a:rPr>
              <a:t>9.4.1 </a:t>
            </a:r>
            <a:r>
              <a:rPr lang="en-US" altLang="zh-CN" dirty="0" smtClean="0">
                <a:latin typeface="+mn-ea"/>
              </a:rPr>
              <a:t>k</a:t>
            </a:r>
            <a:r>
              <a:rPr lang="zh-CN" altLang="en-US" dirty="0">
                <a:latin typeface="+mn-ea"/>
              </a:rPr>
              <a:t>均值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思想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样本集         </a:t>
            </a:r>
            <a:r>
              <a:rPr lang="zh-CN" altLang="en-US" dirty="0" smtClean="0">
                <a:latin typeface="+mn-ea"/>
              </a:rPr>
              <a:t>，聚类所得划分</a:t>
            </a:r>
            <a:r>
              <a:rPr lang="en-US" altLang="zh-CN" dirty="0" smtClean="0">
                <a:latin typeface="+mn-ea"/>
              </a:rPr>
              <a:t>         </a:t>
            </a:r>
            <a:r>
              <a:rPr lang="zh-CN" altLang="en-US" dirty="0" smtClean="0">
                <a:latin typeface="+mn-ea"/>
              </a:rPr>
              <a:t>的最小</a:t>
            </a:r>
            <a:r>
              <a:rPr lang="zh-CN" altLang="en-US" dirty="0">
                <a:latin typeface="+mn-ea"/>
              </a:rPr>
              <a:t>化平方</a:t>
            </a:r>
            <a:r>
              <a:rPr lang="zh-CN" altLang="en-US" dirty="0" smtClean="0">
                <a:latin typeface="+mn-ea"/>
              </a:rPr>
              <a:t>误差为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3">
              <a:spcBef>
                <a:spcPts val="600"/>
              </a:spcBef>
            </a:pPr>
            <a:r>
              <a:rPr lang="en-US" altLang="zh-CN" dirty="0" smtClean="0">
                <a:latin typeface="+mn-ea"/>
              </a:rPr>
              <a:t>             </a:t>
            </a:r>
            <a:r>
              <a:rPr lang="zh-CN" altLang="en-US" dirty="0" smtClean="0">
                <a:latin typeface="+mn-ea"/>
              </a:rPr>
              <a:t>是簇的均值向量</a:t>
            </a:r>
            <a:endParaRPr lang="en-US" altLang="zh-CN" dirty="0" smtClean="0">
              <a:latin typeface="+mn-ea"/>
            </a:endParaRPr>
          </a:p>
          <a:p>
            <a:pPr lvl="3"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刻画</a:t>
            </a:r>
            <a:r>
              <a:rPr lang="zh-CN" altLang="en-US" dirty="0">
                <a:latin typeface="+mn-ea"/>
              </a:rPr>
              <a:t>了簇内样本</a:t>
            </a:r>
            <a:r>
              <a:rPr lang="zh-CN" altLang="en-US" dirty="0" smtClean="0">
                <a:latin typeface="+mn-ea"/>
              </a:rPr>
              <a:t>围绕</a:t>
            </a:r>
            <a:r>
              <a:rPr lang="zh-CN" altLang="en-US" dirty="0">
                <a:latin typeface="+mn-ea"/>
              </a:rPr>
              <a:t>簇</a:t>
            </a:r>
            <a:r>
              <a:rPr lang="zh-CN" altLang="en-US" dirty="0" smtClean="0">
                <a:latin typeface="+mn-ea"/>
              </a:rPr>
              <a:t>均值向量</a:t>
            </a:r>
            <a:r>
              <a:rPr lang="zh-CN" altLang="en-US" dirty="0">
                <a:latin typeface="+mn-ea"/>
              </a:rPr>
              <a:t>的紧密程度</a:t>
            </a:r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3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02266" y="4437160"/>
          <a:ext cx="1632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83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2266" y="4437160"/>
                        <a:ext cx="1632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516216" y="4437160"/>
          <a:ext cx="160792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name="Equation" r:id="rId3" imgW="20421600" imgH="5486400" progId="Equation.DSMT4">
                  <p:embed/>
                </p:oleObj>
              </mc:Choice>
              <mc:Fallback>
                <p:oleObj name="Equation" r:id="rId3" imgW="20421600" imgH="5486400" progId="Equation.DSMT4">
                  <p:embed/>
                  <p:pic>
                    <p:nvPicPr>
                      <p:cNvPr id="0" name="图片 83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16216" y="4437160"/>
                        <a:ext cx="1607921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76204" y="5061695"/>
          <a:ext cx="26400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Equation" r:id="rId5" imgW="33528000" imgH="7315200" progId="Equation.DSMT4">
                  <p:embed/>
                </p:oleObj>
              </mc:Choice>
              <mc:Fallback>
                <p:oleObj name="Equation" r:id="rId5" imgW="33528000" imgH="7315200" progId="Equation.DSMT4">
                  <p:embed/>
                  <p:pic>
                    <p:nvPicPr>
                      <p:cNvPr id="0" name="图片 83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6204" y="5061695"/>
                        <a:ext cx="2640012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89188" y="5492651"/>
          <a:ext cx="161131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name="Equation" r:id="rId7" imgW="20421600" imgH="6705600" progId="Equation.DSMT4">
                  <p:embed/>
                </p:oleObj>
              </mc:Choice>
              <mc:Fallback>
                <p:oleObj name="Equation" r:id="rId7" imgW="20421600" imgH="6705600" progId="Equation.DSMT4">
                  <p:embed/>
                  <p:pic>
                    <p:nvPicPr>
                      <p:cNvPr id="0" name="图片 83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89188" y="5492651"/>
                        <a:ext cx="1611312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848374" cy="4690864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9.4.1 k</a:t>
            </a:r>
            <a:r>
              <a:rPr lang="zh-CN" altLang="en-US" dirty="0">
                <a:latin typeface="+mn-ea"/>
              </a:rPr>
              <a:t>均值算法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思想</a:t>
            </a:r>
            <a:endParaRPr lang="en-US" altLang="zh-CN" dirty="0">
              <a:latin typeface="+mn-ea"/>
            </a:endParaRPr>
          </a:p>
          <a:p>
            <a:pPr lvl="2"/>
            <a:r>
              <a:rPr lang="en-US" altLang="zh-CN" dirty="0">
                <a:latin typeface="+mn-ea"/>
              </a:rPr>
              <a:t>E</a:t>
            </a:r>
            <a:r>
              <a:rPr lang="zh-CN" altLang="en-US" dirty="0">
                <a:latin typeface="+mn-ea"/>
              </a:rPr>
              <a:t>值越小则簇内样本相似度越</a:t>
            </a:r>
            <a:r>
              <a:rPr lang="zh-CN" altLang="en-US" dirty="0" smtClean="0">
                <a:latin typeface="+mn-ea"/>
              </a:rPr>
              <a:t>高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最小化</a:t>
            </a:r>
            <a:r>
              <a:rPr lang="en-US" altLang="zh-CN" dirty="0">
                <a:latin typeface="+mn-ea"/>
              </a:rPr>
              <a:t>E</a:t>
            </a:r>
            <a:r>
              <a:rPr lang="zh-CN" altLang="en-US" dirty="0" smtClean="0">
                <a:latin typeface="+mn-ea"/>
              </a:rPr>
              <a:t>值即可求解划分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最优解</a:t>
            </a:r>
            <a:r>
              <a:rPr lang="zh-CN" altLang="en-US" dirty="0">
                <a:latin typeface="+mn-ea"/>
              </a:rPr>
              <a:t>需考察</a:t>
            </a:r>
            <a:r>
              <a:rPr lang="zh-CN" altLang="en-US" dirty="0" smtClean="0">
                <a:latin typeface="+mn-ea"/>
              </a:rPr>
              <a:t>样本集所有</a:t>
            </a:r>
            <a:r>
              <a:rPr lang="zh-CN" altLang="en-US" dirty="0">
                <a:latin typeface="+mn-ea"/>
              </a:rPr>
              <a:t>可能的簇划分</a:t>
            </a:r>
            <a:r>
              <a:rPr lang="zh-CN" altLang="en-US" dirty="0" smtClean="0">
                <a:latin typeface="+mn-ea"/>
              </a:rPr>
              <a:t>，是</a:t>
            </a:r>
            <a:r>
              <a:rPr lang="en-US" altLang="zh-CN" dirty="0" smtClean="0">
                <a:latin typeface="+mn-ea"/>
              </a:rPr>
              <a:t>NP</a:t>
            </a:r>
            <a:r>
              <a:rPr lang="zh-CN" altLang="en-US" dirty="0">
                <a:latin typeface="+mn-ea"/>
              </a:rPr>
              <a:t>难</a:t>
            </a:r>
            <a:r>
              <a:rPr lang="zh-CN" altLang="en-US" dirty="0" smtClean="0">
                <a:latin typeface="+mn-ea"/>
              </a:rPr>
              <a:t>问题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采用</a:t>
            </a:r>
            <a:r>
              <a:rPr lang="zh-CN" altLang="en-US" dirty="0">
                <a:latin typeface="+mn-ea"/>
              </a:rPr>
              <a:t>了贪心策，通过迭代优化来近似</a:t>
            </a:r>
            <a:r>
              <a:rPr lang="zh-CN" altLang="en-US" dirty="0" smtClean="0">
                <a:latin typeface="+mn-ea"/>
              </a:rPr>
              <a:t>求解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主要步骤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Step1</a:t>
            </a:r>
            <a:r>
              <a:rPr lang="en-US" altLang="zh-CN" dirty="0" smtClean="0">
                <a:latin typeface="+mn-ea"/>
              </a:rPr>
              <a:t>:</a:t>
            </a:r>
            <a:r>
              <a:rPr lang="zh-CN" altLang="en-US" dirty="0" smtClean="0">
                <a:latin typeface="+mn-ea"/>
              </a:rPr>
              <a:t>随机选取</a:t>
            </a:r>
            <a:r>
              <a:rPr lang="en-US" altLang="zh-CN" dirty="0" smtClean="0">
                <a:latin typeface="+mn-ea"/>
              </a:rPr>
              <a:t>k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样本点作为簇中心</a:t>
            </a:r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Step2</a:t>
            </a:r>
            <a:r>
              <a:rPr lang="en-US" altLang="zh-CN" dirty="0" smtClean="0">
                <a:latin typeface="+mn-ea"/>
              </a:rPr>
              <a:t>:</a:t>
            </a:r>
            <a:r>
              <a:rPr lang="zh-CN" altLang="en-US" dirty="0" smtClean="0">
                <a:latin typeface="+mn-ea"/>
              </a:rPr>
              <a:t>根据到簇中心距离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将样本点划分</a:t>
            </a:r>
            <a:r>
              <a:rPr lang="zh-CN" altLang="en-US" dirty="0">
                <a:latin typeface="+mn-ea"/>
              </a:rPr>
              <a:t>给最近的簇</a:t>
            </a:r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Step3</a:t>
            </a:r>
            <a:r>
              <a:rPr lang="en-US" altLang="zh-CN" dirty="0" smtClean="0">
                <a:latin typeface="+mn-ea"/>
              </a:rPr>
              <a:t>: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zh-CN" altLang="en-US" dirty="0">
                <a:latin typeface="+mn-ea"/>
              </a:rPr>
              <a:t>各簇的均值向量，将其作为新的簇中心</a:t>
            </a:r>
            <a:endParaRPr lang="zh-CN" altLang="en-US" dirty="0">
              <a:latin typeface="+mn-ea"/>
            </a:endParaRPr>
          </a:p>
          <a:p>
            <a:pPr lvl="3"/>
            <a:r>
              <a:rPr lang="en-US" altLang="zh-CN" dirty="0">
                <a:latin typeface="+mn-ea"/>
              </a:rPr>
              <a:t>Step4</a:t>
            </a:r>
            <a:r>
              <a:rPr lang="en-US" altLang="zh-CN" dirty="0" smtClean="0">
                <a:latin typeface="+mn-ea"/>
              </a:rPr>
              <a:t>:</a:t>
            </a:r>
            <a:r>
              <a:rPr lang="zh-CN" altLang="en-US" dirty="0" smtClean="0">
                <a:latin typeface="+mn-ea"/>
              </a:rPr>
              <a:t>若</a:t>
            </a:r>
            <a:r>
              <a:rPr lang="zh-CN" altLang="en-US" dirty="0">
                <a:latin typeface="+mn-ea"/>
              </a:rPr>
              <a:t>所有簇中心</a:t>
            </a:r>
            <a:r>
              <a:rPr lang="zh-CN" altLang="en-US" dirty="0" smtClean="0">
                <a:latin typeface="+mn-ea"/>
              </a:rPr>
              <a:t>未改变</a:t>
            </a:r>
            <a:r>
              <a:rPr lang="zh-CN" altLang="en-US" dirty="0">
                <a:latin typeface="+mn-ea"/>
              </a:rPr>
              <a:t>，则停止；否则</a:t>
            </a:r>
            <a:r>
              <a:rPr lang="zh-CN" altLang="en-US" dirty="0" smtClean="0">
                <a:latin typeface="+mn-ea"/>
              </a:rPr>
              <a:t>执行</a:t>
            </a:r>
            <a:r>
              <a:rPr lang="en-US" altLang="zh-CN" dirty="0" smtClean="0">
                <a:latin typeface="+mn-ea"/>
              </a:rPr>
              <a:t>Step2</a:t>
            </a:r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4"/>
            <a:endParaRPr lang="en-US" altLang="zh-CN" dirty="0">
              <a:latin typeface="+mn-ea"/>
            </a:endParaRPr>
          </a:p>
          <a:p>
            <a:pPr lvl="4"/>
            <a:endParaRPr lang="en-US" altLang="zh-CN" dirty="0" smtClean="0">
              <a:latin typeface="+mn-ea"/>
            </a:endParaRPr>
          </a:p>
          <a:p>
            <a:pPr lvl="4"/>
            <a:endParaRPr lang="en-US" altLang="zh-CN" dirty="0">
              <a:latin typeface="+mn-ea"/>
            </a:endParaRPr>
          </a:p>
          <a:p>
            <a:pPr lvl="4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 smtClean="0"/>
          </a:p>
          <a:p>
            <a:pPr lvl="3"/>
            <a:endParaRPr lang="en-US" altLang="zh-CN" dirty="0"/>
          </a:p>
          <a:p>
            <a:pPr lvl="3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752" y="5179301"/>
            <a:ext cx="4466895" cy="161994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9.4.1 k</a:t>
            </a:r>
            <a:r>
              <a:rPr lang="zh-CN" altLang="en-US" dirty="0">
                <a:latin typeface="+mn-ea"/>
              </a:rPr>
              <a:t>均值算法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算法</a:t>
            </a:r>
            <a:endParaRPr lang="en-US" altLang="zh-CN" dirty="0">
              <a:latin typeface="+mn-ea"/>
            </a:endParaRP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819" y="1844824"/>
            <a:ext cx="6475613" cy="49294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3528" y="2492896"/>
            <a:ext cx="1620957" cy="3584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0" dirty="0" smtClean="0">
                <a:solidFill>
                  <a:srgbClr val="FF0000"/>
                </a:solidFill>
                <a:latin typeface="+mn-ea"/>
              </a:rPr>
              <a:t>均值向量初始化</a:t>
            </a:r>
            <a:endParaRPr lang="zh-CN" altLang="en-US" sz="1600" b="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8712" y="3623482"/>
            <a:ext cx="1210588" cy="3584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0" dirty="0">
                <a:solidFill>
                  <a:srgbClr val="FF0000"/>
                </a:solidFill>
                <a:latin typeface="+mn-ea"/>
              </a:rPr>
              <a:t>当前簇划分</a:t>
            </a:r>
            <a:endParaRPr lang="zh-CN" altLang="en-US" sz="16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5024659"/>
            <a:ext cx="1776837" cy="348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0" dirty="0" smtClean="0">
                <a:solidFill>
                  <a:srgbClr val="FF0000"/>
                </a:solidFill>
                <a:latin typeface="+mn-ea"/>
              </a:rPr>
              <a:t>簇均值向量更新</a:t>
            </a:r>
            <a:endParaRPr lang="zh-CN" altLang="en-US" sz="16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8755" y="6281562"/>
            <a:ext cx="162095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0" dirty="0">
                <a:solidFill>
                  <a:srgbClr val="FF0000"/>
                </a:solidFill>
                <a:latin typeface="+mn-ea"/>
              </a:rPr>
              <a:t>簇划分结果返回</a:t>
            </a:r>
            <a:endParaRPr lang="zh-CN" altLang="en-US" sz="1600" b="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>
    <p:cover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209" y="1340768"/>
            <a:ext cx="5418095" cy="55063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9.4.1 k</a:t>
            </a:r>
            <a:r>
              <a:rPr lang="zh-CN" altLang="en-US" dirty="0">
                <a:latin typeface="+mn-ea"/>
              </a:rPr>
              <a:t>均值算法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例</a:t>
            </a:r>
            <a:endParaRPr lang="en-US" altLang="zh-CN" dirty="0">
              <a:latin typeface="+mn-ea"/>
            </a:endParaRP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688632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9.4.2 </a:t>
            </a:r>
            <a:r>
              <a:rPr lang="zh-CN" altLang="en-US" dirty="0" smtClean="0">
                <a:latin typeface="+mn-ea"/>
              </a:rPr>
              <a:t>学习</a:t>
            </a:r>
            <a:r>
              <a:rPr lang="zh-CN" altLang="en-US" dirty="0">
                <a:latin typeface="+mn-ea"/>
              </a:rPr>
              <a:t>向量</a:t>
            </a:r>
            <a:r>
              <a:rPr lang="zh-CN" altLang="en-US" dirty="0" smtClean="0">
                <a:latin typeface="+mn-ea"/>
              </a:rPr>
              <a:t>量化</a:t>
            </a:r>
            <a:r>
              <a:rPr lang="en-US" altLang="zh-CN" dirty="0">
                <a:latin typeface="+mn-ea"/>
              </a:rPr>
              <a:t>LVQ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试图</a:t>
            </a:r>
            <a:r>
              <a:rPr lang="zh-CN" altLang="en-US" dirty="0">
                <a:latin typeface="+mn-ea"/>
              </a:rPr>
              <a:t>找到一组原型向量来刻画聚类</a:t>
            </a:r>
            <a:r>
              <a:rPr lang="zh-CN" altLang="en-US" dirty="0" smtClean="0">
                <a:latin typeface="+mn-ea"/>
              </a:rPr>
              <a:t>结构，但假设</a:t>
            </a:r>
            <a:r>
              <a:rPr lang="zh-CN" altLang="en-US" dirty="0">
                <a:latin typeface="+mn-ea"/>
              </a:rPr>
              <a:t>数据样本带有类别</a:t>
            </a:r>
            <a:r>
              <a:rPr lang="zh-CN" altLang="en-US" dirty="0" smtClean="0">
                <a:latin typeface="+mn-ea"/>
              </a:rPr>
              <a:t>标记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利用</a:t>
            </a:r>
            <a:r>
              <a:rPr lang="zh-CN" altLang="en-US" dirty="0">
                <a:latin typeface="+mn-ea"/>
              </a:rPr>
              <a:t>样本</a:t>
            </a:r>
            <a:r>
              <a:rPr lang="zh-CN" altLang="en-US" dirty="0" smtClean="0">
                <a:latin typeface="+mn-ea"/>
              </a:rPr>
              <a:t>的监督</a:t>
            </a:r>
            <a:r>
              <a:rPr lang="zh-CN" altLang="en-US" dirty="0">
                <a:latin typeface="+mn-ea"/>
              </a:rPr>
              <a:t>信息来辅助</a:t>
            </a:r>
            <a:r>
              <a:rPr lang="zh-CN" altLang="en-US" dirty="0" smtClean="0">
                <a:latin typeface="+mn-ea"/>
              </a:rPr>
              <a:t>聚类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实际是</a:t>
            </a:r>
            <a:r>
              <a:rPr lang="zh-CN" altLang="en-US" dirty="0">
                <a:latin typeface="+mn-ea"/>
              </a:rPr>
              <a:t>通过聚类来形成类别</a:t>
            </a:r>
            <a:r>
              <a:rPr lang="zh-CN" altLang="en-US" dirty="0" smtClean="0">
                <a:latin typeface="+mn-ea"/>
              </a:rPr>
              <a:t>的子类结构</a:t>
            </a:r>
            <a:r>
              <a:rPr lang="zh-CN" altLang="en-US" dirty="0">
                <a:latin typeface="+mn-ea"/>
              </a:rPr>
              <a:t>，每个子类对应一个聚类</a:t>
            </a:r>
            <a:r>
              <a:rPr lang="zh-CN" altLang="en-US" dirty="0" smtClean="0">
                <a:latin typeface="+mn-ea"/>
              </a:rPr>
              <a:t>簇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符号表示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样本集                     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样本</a:t>
            </a:r>
            <a:r>
              <a:rPr lang="en-US" altLang="zh-CN" dirty="0" smtClean="0">
                <a:latin typeface="+mn-ea"/>
              </a:rPr>
              <a:t>  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样本   的类别标记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一</a:t>
            </a:r>
            <a:r>
              <a:rPr lang="zh-CN" altLang="en-US" dirty="0" smtClean="0">
                <a:latin typeface="+mn-ea"/>
              </a:rPr>
              <a:t>组原型向量         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每个原型向量代表一个聚类簇</a:t>
            </a:r>
            <a:r>
              <a:rPr lang="zh-CN" altLang="en-US" dirty="0" smtClean="0">
                <a:latin typeface="+mn-ea"/>
              </a:rPr>
              <a:t>，簇标记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31840" y="4077072"/>
          <a:ext cx="2759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5" name="Equation" r:id="rId1" imgW="35052000" imgH="5486400" progId="Equation.DSMT4">
                  <p:embed/>
                </p:oleObj>
              </mc:Choice>
              <mc:Fallback>
                <p:oleObj name="Equation" r:id="rId1" imgW="35052000" imgH="5486400" progId="Equation.DSMT4">
                  <p:embed/>
                  <p:pic>
                    <p:nvPicPr>
                      <p:cNvPr id="0" name="图片 93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1840" y="4077072"/>
                        <a:ext cx="27590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19090" y="4360576"/>
          <a:ext cx="17748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6" name="Equation" r:id="rId3" imgW="22555200" imgH="5791200" progId="Equation.DSMT4">
                  <p:embed/>
                </p:oleObj>
              </mc:Choice>
              <mc:Fallback>
                <p:oleObj name="Equation" r:id="rId3" imgW="22555200" imgH="5791200" progId="Equation.DSMT4">
                  <p:embed/>
                  <p:pic>
                    <p:nvPicPr>
                      <p:cNvPr id="0" name="图片 93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9090" y="4360576"/>
                        <a:ext cx="1774825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17081" y="4679950"/>
          <a:ext cx="3587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7" name="Equation" r:id="rId5" imgW="4572000" imgH="5791200" progId="Equation.DSMT4">
                  <p:embed/>
                </p:oleObj>
              </mc:Choice>
              <mc:Fallback>
                <p:oleObj name="Equation" r:id="rId5" imgW="4572000" imgH="5791200" progId="Equation.DSMT4">
                  <p:embed/>
                  <p:pic>
                    <p:nvPicPr>
                      <p:cNvPr id="0" name="图片 93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7081" y="4679950"/>
                        <a:ext cx="358775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74531" y="4725144"/>
          <a:ext cx="62366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8" name="Equation" r:id="rId7" imgW="9144000" imgH="5791200" progId="Equation.DSMT4">
                  <p:embed/>
                </p:oleObj>
              </mc:Choice>
              <mc:Fallback>
                <p:oleObj name="Equation" r:id="rId7" imgW="9144000" imgH="5791200" progId="Equation.DSMT4">
                  <p:embed/>
                  <p:pic>
                    <p:nvPicPr>
                      <p:cNvPr id="0" name="图片 93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4531" y="4725144"/>
                        <a:ext cx="623666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958284" y="5013176"/>
          <a:ext cx="106382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9" name="Equation" r:id="rId9" imgW="15544800" imgH="5791200" progId="Equation.DSMT4">
                  <p:embed/>
                </p:oleObj>
              </mc:Choice>
              <mc:Fallback>
                <p:oleObj name="Equation" r:id="rId9" imgW="15544800" imgH="5791200" progId="Equation.DSMT4">
                  <p:embed/>
                  <p:pic>
                    <p:nvPicPr>
                      <p:cNvPr id="0" name="图片 93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8284" y="5013176"/>
                        <a:ext cx="1063820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799264" y="5373256"/>
          <a:ext cx="499483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Equation" r:id="rId11" imgW="7620000" imgH="5486400" progId="Equation.DSMT4">
                  <p:embed/>
                </p:oleObj>
              </mc:Choice>
              <mc:Fallback>
                <p:oleObj name="Equation" r:id="rId11" imgW="7620000" imgH="5486400" progId="Equation.DSMT4">
                  <p:embed/>
                  <p:pic>
                    <p:nvPicPr>
                      <p:cNvPr id="0" name="图片 93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99264" y="5373256"/>
                        <a:ext cx="499483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9.4.2 </a:t>
            </a:r>
            <a:r>
              <a:rPr lang="zh-CN" altLang="en-US" dirty="0">
                <a:latin typeface="+mn-ea"/>
              </a:rPr>
              <a:t>学习向量量化</a:t>
            </a:r>
            <a:r>
              <a:rPr lang="en-US" altLang="zh-CN" dirty="0">
                <a:latin typeface="+mn-ea"/>
              </a:rPr>
              <a:t>LVQ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算法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1791111"/>
            <a:ext cx="7048276" cy="504000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72050" y="4562475"/>
          <a:ext cx="39925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Equation" r:id="rId2" imgW="71932800" imgH="10363200" progId="Equation.DSMT4">
                  <p:embed/>
                </p:oleObj>
              </mc:Choice>
              <mc:Fallback>
                <p:oleObj name="Equation" r:id="rId2" imgW="71932800" imgH="10363200" progId="Equation.DSMT4">
                  <p:embed/>
                  <p:pic>
                    <p:nvPicPr>
                      <p:cNvPr id="0" name="图片 103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72050" y="4562475"/>
                        <a:ext cx="3992563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956175" y="5237163"/>
          <a:ext cx="39925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Equation" r:id="rId4" imgW="71932800" imgH="10363200" progId="Equation.DSMT4">
                  <p:embed/>
                </p:oleObj>
              </mc:Choice>
              <mc:Fallback>
                <p:oleObj name="Equation" r:id="rId4" imgW="71932800" imgH="10363200" progId="Equation.DSMT4">
                  <p:embed/>
                  <p:pic>
                    <p:nvPicPr>
                      <p:cNvPr id="0" name="图片 1032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56175" y="5237163"/>
                        <a:ext cx="3992563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 bwMode="auto">
          <a:xfrm>
            <a:off x="2267744" y="2780928"/>
            <a:ext cx="172819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9.4.2 </a:t>
            </a:r>
            <a:r>
              <a:rPr lang="zh-CN" altLang="en-US" dirty="0">
                <a:latin typeface="+mn-ea"/>
              </a:rPr>
              <a:t>学习向量量化</a:t>
            </a:r>
            <a:r>
              <a:rPr lang="en-US" altLang="zh-CN" dirty="0">
                <a:latin typeface="+mn-ea"/>
              </a:rPr>
              <a:t>LVQ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1113" b="-1"/>
          <a:stretch>
            <a:fillRect/>
          </a:stretch>
        </p:blipFill>
        <p:spPr>
          <a:xfrm>
            <a:off x="3585640" y="1407734"/>
            <a:ext cx="5378848" cy="5436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7504" y="1844824"/>
            <a:ext cx="32621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800" dirty="0" smtClean="0">
                <a:solidFill>
                  <a:srgbClr val="0000FF"/>
                </a:solidFill>
              </a:rPr>
              <a:t>学</a:t>
            </a:r>
            <a:r>
              <a:rPr lang="zh-CN" altLang="en-US" sz="1800" dirty="0">
                <a:solidFill>
                  <a:srgbClr val="0000FF"/>
                </a:solidFill>
              </a:rPr>
              <a:t>得一组原型</a:t>
            </a:r>
            <a:r>
              <a:rPr lang="zh-CN" altLang="en-US" sz="1800" dirty="0" smtClean="0">
                <a:solidFill>
                  <a:srgbClr val="0000FF"/>
                </a:solidFill>
              </a:rPr>
              <a:t>向量，</a:t>
            </a:r>
            <a:r>
              <a:rPr lang="zh-CN" altLang="en-US" sz="1800" dirty="0">
                <a:solidFill>
                  <a:srgbClr val="0000FF"/>
                </a:solidFill>
              </a:rPr>
              <a:t>即可实现对</a:t>
            </a:r>
            <a:r>
              <a:rPr lang="zh-CN" altLang="en-US" sz="1800" dirty="0" smtClean="0">
                <a:solidFill>
                  <a:srgbClr val="0000FF"/>
                </a:solidFill>
              </a:rPr>
              <a:t>样本空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间</a:t>
            </a:r>
            <a:r>
              <a:rPr lang="en-US" altLang="zh-CN" sz="1800" i="1" dirty="0" smtClean="0">
                <a:solidFill>
                  <a:srgbClr val="0000FF"/>
                </a:solidFill>
                <a:latin typeface="+mn-ea"/>
                <a:ea typeface="+mn-ea"/>
              </a:rPr>
              <a:t>X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1800" dirty="0">
                <a:solidFill>
                  <a:srgbClr val="0000FF"/>
                </a:solidFill>
              </a:rPr>
              <a:t>簇</a:t>
            </a:r>
            <a:r>
              <a:rPr lang="zh-CN" altLang="en-US" sz="1800" dirty="0" smtClean="0">
                <a:solidFill>
                  <a:srgbClr val="0000FF"/>
                </a:solidFill>
              </a:rPr>
              <a:t>划分，样本被</a:t>
            </a:r>
            <a:r>
              <a:rPr lang="zh-CN" altLang="en-US" sz="1800" dirty="0">
                <a:solidFill>
                  <a:srgbClr val="0000FF"/>
                </a:solidFill>
              </a:rPr>
              <a:t>划入与其距离最近的原型向量所代表的簇</a:t>
            </a:r>
            <a:r>
              <a:rPr lang="zh-CN" altLang="en-US" sz="1800" dirty="0" smtClean="0">
                <a:solidFill>
                  <a:srgbClr val="0000FF"/>
                </a:solidFill>
              </a:rPr>
              <a:t>中</a:t>
            </a:r>
            <a:endParaRPr lang="en-US" altLang="zh-CN" sz="1800" dirty="0" smtClean="0">
              <a:solidFill>
                <a:srgbClr val="0000FF"/>
              </a:solidFill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800" dirty="0">
                <a:solidFill>
                  <a:srgbClr val="0000FF"/>
                </a:solidFill>
              </a:rPr>
              <a:t>实际上每个原型向量定义了一个区域，区域中每个样本与其的距离不大于与其他原型向量的距离，</a:t>
            </a:r>
            <a:r>
              <a:rPr lang="zh-CN" altLang="en-US" sz="1800" dirty="0" smtClean="0">
                <a:solidFill>
                  <a:srgbClr val="0000FF"/>
                </a:solidFill>
              </a:rPr>
              <a:t>即</a:t>
            </a:r>
            <a:endParaRPr lang="en-US" altLang="zh-CN" sz="1800" dirty="0" smtClean="0">
              <a:solidFill>
                <a:srgbClr val="0000FF"/>
              </a:solidFill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1800" dirty="0">
              <a:solidFill>
                <a:srgbClr val="0000FF"/>
              </a:solidFill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这样的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划分常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称为</a:t>
            </a:r>
            <a:r>
              <a:rPr lang="en-US" altLang="zh-CN" sz="1800" dirty="0" err="1">
                <a:solidFill>
                  <a:srgbClr val="0000FF"/>
                </a:solidFill>
                <a:latin typeface="+mn-ea"/>
                <a:ea typeface="+mn-ea"/>
              </a:rPr>
              <a:t>Voronoi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剖分</a:t>
            </a:r>
            <a:endParaRPr lang="zh-CN" altLang="en-US" sz="1800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rgbClr val="0000FF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180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 smtClean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altLang="zh-CN" sz="180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 smtClean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8292" y="4025496"/>
          <a:ext cx="32496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2" imgW="49987200" imgH="6096000" progId="Equation.DSMT4">
                  <p:embed/>
                </p:oleObj>
              </mc:Choice>
              <mc:Fallback>
                <p:oleObj name="Equation" r:id="rId2" imgW="49987200" imgH="6096000" progId="Equation.DSMT4">
                  <p:embed/>
                  <p:pic>
                    <p:nvPicPr>
                      <p:cNvPr id="0" name="图片 112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8292" y="4025496"/>
                        <a:ext cx="3249612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9.4.3 </a:t>
            </a:r>
            <a:r>
              <a:rPr lang="zh-CN" altLang="en-US" dirty="0" smtClean="0">
                <a:latin typeface="+mn-ea"/>
              </a:rPr>
              <a:t>高斯</a:t>
            </a:r>
            <a:r>
              <a:rPr lang="zh-CN" altLang="en-US" dirty="0">
                <a:latin typeface="+mn-ea"/>
              </a:rPr>
              <a:t>混合</a:t>
            </a:r>
            <a:r>
              <a:rPr lang="zh-CN" altLang="en-US" dirty="0" smtClean="0">
                <a:latin typeface="+mn-ea"/>
              </a:rPr>
              <a:t>聚类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采用概率模型来表达聚类</a:t>
            </a:r>
            <a:r>
              <a:rPr lang="zh-CN" altLang="en-US" dirty="0" smtClean="0">
                <a:latin typeface="+mn-ea"/>
              </a:rPr>
              <a:t>原型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高斯分布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维样本空间</a:t>
            </a:r>
            <a:r>
              <a:rPr lang="zh-CN" altLang="en-US" dirty="0">
                <a:latin typeface="+mn-ea"/>
              </a:rPr>
              <a:t>中的</a:t>
            </a:r>
            <a:r>
              <a:rPr lang="zh-CN" altLang="en-US" dirty="0" smtClean="0">
                <a:latin typeface="+mn-ea"/>
              </a:rPr>
              <a:t>随机向量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若</a:t>
            </a:r>
            <a:r>
              <a:rPr lang="zh-CN" altLang="en-US" dirty="0">
                <a:latin typeface="+mn-ea"/>
              </a:rPr>
              <a:t>服从高斯分布</a:t>
            </a:r>
            <a:r>
              <a:rPr lang="zh-CN" altLang="en-US" dirty="0" smtClean="0">
                <a:latin typeface="+mn-ea"/>
              </a:rPr>
              <a:t>，其</a:t>
            </a:r>
            <a:r>
              <a:rPr lang="zh-CN" altLang="en-US" dirty="0">
                <a:latin typeface="+mn-ea"/>
              </a:rPr>
              <a:t>概率密度函数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 是 维</a:t>
            </a:r>
            <a:r>
              <a:rPr lang="zh-CN" altLang="en-US" dirty="0">
                <a:latin typeface="+mn-ea"/>
              </a:rPr>
              <a:t>均值向量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是协方差矩阵，确定高斯分布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这种依赖关系记为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高斯</a:t>
            </a:r>
            <a:r>
              <a:rPr lang="zh-CN" altLang="en-US" dirty="0" smtClean="0">
                <a:latin typeface="+mn-ea"/>
              </a:rPr>
              <a:t>混合分布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分布由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个成分</a:t>
            </a:r>
            <a:r>
              <a:rPr lang="zh-CN" altLang="en-US" dirty="0">
                <a:latin typeface="+mn-ea"/>
              </a:rPr>
              <a:t>组成，</a:t>
            </a:r>
            <a:r>
              <a:rPr lang="zh-CN" altLang="en-US" dirty="0" smtClean="0">
                <a:latin typeface="+mn-ea"/>
              </a:rPr>
              <a:t>每个成分</a:t>
            </a:r>
            <a:r>
              <a:rPr lang="zh-CN" altLang="en-US" dirty="0">
                <a:latin typeface="+mn-ea"/>
              </a:rPr>
              <a:t>对应一个</a:t>
            </a:r>
            <a:r>
              <a:rPr lang="zh-CN" altLang="en-US" dirty="0" smtClean="0">
                <a:latin typeface="+mn-ea"/>
              </a:rPr>
              <a:t>高斯分布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混合系数</a:t>
            </a:r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91166" y="3745529"/>
          <a:ext cx="26461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8" name="Equation" r:id="rId1" imgW="3657600" imgH="3962400" progId="Equation.DSMT4">
                  <p:embed/>
                </p:oleObj>
              </mc:Choice>
              <mc:Fallback>
                <p:oleObj name="Equation" r:id="rId1" imgW="3657600" imgH="3962400" progId="Equation.DSMT4">
                  <p:embed/>
                  <p:pic>
                    <p:nvPicPr>
                      <p:cNvPr id="0" name="图片 125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1166" y="3745529"/>
                        <a:ext cx="26461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22563" y="3767138"/>
          <a:ext cx="219075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9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0" name="图片 125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2563" y="3767138"/>
                        <a:ext cx="219075" cy="24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55976" y="3744913"/>
          <a:ext cx="239712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0" name="Equation" r:id="rId5" imgW="3352800" imgH="3657600" progId="Equation.DSMT4">
                  <p:embed/>
                </p:oleObj>
              </mc:Choice>
              <mc:Fallback>
                <p:oleObj name="Equation" r:id="rId5" imgW="3352800" imgH="3657600" progId="Equation.DSMT4">
                  <p:embed/>
                  <p:pic>
                    <p:nvPicPr>
                      <p:cNvPr id="0" name="图片 125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5976" y="3744913"/>
                        <a:ext cx="239712" cy="265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60032" y="4005064"/>
          <a:ext cx="10461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1" name="Equation" r:id="rId7" imgW="14630400" imgH="4876800" progId="Equation.DSMT4">
                  <p:embed/>
                </p:oleObj>
              </mc:Choice>
              <mc:Fallback>
                <p:oleObj name="Equation" r:id="rId7" imgW="14630400" imgH="4876800" progId="Equation.DSMT4">
                  <p:embed/>
                  <p:pic>
                    <p:nvPicPr>
                      <p:cNvPr id="0" name="图片 125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0032" y="4005064"/>
                        <a:ext cx="1046162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91657" y="5460464"/>
          <a:ext cx="16335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2" name="Equation" r:id="rId9" imgW="22860000" imgH="7010400" progId="Equation.DSMT4">
                  <p:embed/>
                </p:oleObj>
              </mc:Choice>
              <mc:Fallback>
                <p:oleObj name="Equation" r:id="rId9" imgW="22860000" imgH="7010400" progId="Equation.DSMT4">
                  <p:embed/>
                  <p:pic>
                    <p:nvPicPr>
                      <p:cNvPr id="0" name="图片 125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91657" y="5460464"/>
                        <a:ext cx="1633537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79712" y="2348880"/>
          <a:ext cx="217488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3" name="Equation" r:id="rId11" imgW="3048000" imgH="3352800" progId="Equation.DSMT4">
                  <p:embed/>
                </p:oleObj>
              </mc:Choice>
              <mc:Fallback>
                <p:oleObj name="Equation" r:id="rId11" imgW="3048000" imgH="3352800" progId="Equation.DSMT4">
                  <p:embed/>
                  <p:pic>
                    <p:nvPicPr>
                      <p:cNvPr id="0" name="图片 125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9712" y="2348880"/>
                        <a:ext cx="217488" cy="24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652120" y="2328863"/>
          <a:ext cx="239713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4" name="Equation" r:id="rId13" imgW="3352800" imgH="3352800" progId="Equation.DSMT4">
                  <p:embed/>
                </p:oleObj>
              </mc:Choice>
              <mc:Fallback>
                <p:oleObj name="Equation" r:id="rId13" imgW="3352800" imgH="3352800" progId="Equation.DSMT4">
                  <p:embed/>
                  <p:pic>
                    <p:nvPicPr>
                      <p:cNvPr id="0" name="图片 125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52120" y="2328863"/>
                        <a:ext cx="239713" cy="242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32138" y="4686300"/>
          <a:ext cx="2174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5" name="Equation" r:id="rId15" imgW="3048000" imgH="4267200" progId="Equation.DSMT4">
                  <p:embed/>
                </p:oleObj>
              </mc:Choice>
              <mc:Fallback>
                <p:oleObj name="Equation" r:id="rId15" imgW="3048000" imgH="4267200" progId="Equation.DSMT4">
                  <p:embed/>
                  <p:pic>
                    <p:nvPicPr>
                      <p:cNvPr id="0" name="图片 1257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2138" y="4686300"/>
                        <a:ext cx="217487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64990" y="2967504"/>
          <a:ext cx="3181351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6" name="Equation" r:id="rId17" imgW="44500800" imgH="10058400" progId="Equation.DSMT4">
                  <p:embed/>
                </p:oleObj>
              </mc:Choice>
              <mc:Fallback>
                <p:oleObj name="Equation" r:id="rId17" imgW="44500800" imgH="10058400" progId="Equation.DSMT4">
                  <p:embed/>
                  <p:pic>
                    <p:nvPicPr>
                      <p:cNvPr id="0" name="图片 125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64990" y="2967504"/>
                        <a:ext cx="3181351" cy="728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86844" y="4982362"/>
          <a:ext cx="27463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7" name="Equation" r:id="rId19" imgW="38404800" imgH="7010400" progId="Equation.DSMT4">
                  <p:embed/>
                </p:oleObj>
              </mc:Choice>
              <mc:Fallback>
                <p:oleObj name="Equation" r:id="rId19" imgW="38404800" imgH="7010400" progId="Equation.DSMT4">
                  <p:embed/>
                  <p:pic>
                    <p:nvPicPr>
                      <p:cNvPr id="0" name="图片 1257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86844" y="4982362"/>
                        <a:ext cx="27463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9.4.3 </a:t>
            </a:r>
            <a:r>
              <a:rPr lang="zh-CN" altLang="en-US" dirty="0">
                <a:latin typeface="+mn-ea"/>
              </a:rPr>
              <a:t>高斯混合聚类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思想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假设样本的生成过程由高斯混合分布给</a:t>
            </a:r>
            <a:r>
              <a:rPr lang="zh-CN" altLang="en-US" dirty="0" smtClean="0">
                <a:latin typeface="+mn-ea"/>
              </a:rPr>
              <a:t>出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首先选择</a:t>
            </a:r>
            <a:r>
              <a:rPr lang="zh-CN" altLang="en-US" dirty="0">
                <a:latin typeface="+mn-ea"/>
              </a:rPr>
              <a:t>高斯混合成分，</a:t>
            </a:r>
            <a:r>
              <a:rPr lang="zh-CN" altLang="en-US" dirty="0" smtClean="0">
                <a:latin typeface="+mn-ea"/>
              </a:rPr>
              <a:t>其中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为</a:t>
            </a:r>
            <a:r>
              <a:rPr lang="zh-CN" altLang="en-US" dirty="0">
                <a:latin typeface="+mn-ea"/>
              </a:rPr>
              <a:t>选择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混合成分的</a:t>
            </a:r>
            <a:r>
              <a:rPr lang="zh-CN" altLang="en-US" dirty="0" smtClean="0">
                <a:latin typeface="+mn-ea"/>
              </a:rPr>
              <a:t>概率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然后根据</a:t>
            </a:r>
            <a:r>
              <a:rPr lang="zh-CN" altLang="en-US" dirty="0">
                <a:latin typeface="+mn-ea"/>
              </a:rPr>
              <a:t>被选择的混合成分的概率密度函数进行</a:t>
            </a:r>
            <a:r>
              <a:rPr lang="zh-CN" altLang="en-US" dirty="0" smtClean="0">
                <a:latin typeface="+mn-ea"/>
              </a:rPr>
              <a:t>采样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令</a:t>
            </a:r>
            <a:r>
              <a:rPr lang="zh-CN" altLang="en-US" dirty="0" smtClean="0">
                <a:latin typeface="+mn-ea"/>
              </a:rPr>
              <a:t>随机变量         表示</a:t>
            </a:r>
            <a:r>
              <a:rPr lang="zh-CN" altLang="en-US" dirty="0">
                <a:latin typeface="+mn-ea"/>
              </a:rPr>
              <a:t>生成</a:t>
            </a:r>
            <a:r>
              <a:rPr lang="zh-CN" altLang="en-US" dirty="0" smtClean="0">
                <a:latin typeface="+mn-ea"/>
              </a:rPr>
              <a:t>样本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高斯混合</a:t>
            </a:r>
            <a:r>
              <a:rPr lang="zh-CN" altLang="en-US" dirty="0" smtClean="0">
                <a:latin typeface="+mn-ea"/>
              </a:rPr>
              <a:t>成分，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的先验概率</a:t>
            </a:r>
            <a:r>
              <a:rPr lang="en-US" altLang="zh-CN" dirty="0" smtClean="0">
                <a:latin typeface="+mn-ea"/>
              </a:rPr>
              <a:t>      </a:t>
            </a:r>
            <a:r>
              <a:rPr lang="zh-CN" altLang="en-US" dirty="0" smtClean="0">
                <a:latin typeface="+mn-ea"/>
              </a:rPr>
              <a:t>对应于  ，</a:t>
            </a:r>
            <a:r>
              <a:rPr lang="zh-CN" altLang="en-US" dirty="0">
                <a:latin typeface="+mn-ea"/>
              </a:rPr>
              <a:t>则  </a:t>
            </a:r>
            <a:r>
              <a:rPr lang="zh-CN" altLang="en-US" dirty="0" smtClean="0">
                <a:latin typeface="+mn-ea"/>
              </a:rPr>
              <a:t>的后验分布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样本集 划分为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个簇</a:t>
            </a:r>
            <a:r>
              <a:rPr lang="en-US" altLang="zh-CN" dirty="0" smtClean="0">
                <a:latin typeface="+mn-ea"/>
              </a:rPr>
              <a:t>         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每个</a:t>
            </a:r>
            <a:r>
              <a:rPr lang="zh-CN" altLang="en-US" dirty="0" smtClean="0">
                <a:latin typeface="+mn-ea"/>
              </a:rPr>
              <a:t>样本  的</a:t>
            </a:r>
            <a:r>
              <a:rPr lang="zh-CN" altLang="en-US" dirty="0">
                <a:latin typeface="+mn-ea"/>
              </a:rPr>
              <a:t>簇</a:t>
            </a:r>
            <a:r>
              <a:rPr lang="zh-CN" altLang="en-US" dirty="0" smtClean="0">
                <a:latin typeface="+mn-ea"/>
              </a:rPr>
              <a:t>标记  为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51286" y="3717032"/>
          <a:ext cx="62531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4" name="Equation" r:id="rId1" imgW="87477600" imgH="12192000" progId="Equation.DSMT4">
                  <p:embed/>
                </p:oleObj>
              </mc:Choice>
              <mc:Fallback>
                <p:oleObj name="Equation" r:id="rId1" imgW="87477600" imgH="12192000" progId="Equation.DSMT4">
                  <p:embed/>
                  <p:pic>
                    <p:nvPicPr>
                      <p:cNvPr id="0" name="图片 137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1286" y="3717032"/>
                        <a:ext cx="6253162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41856" y="2132856"/>
          <a:ext cx="282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" name="Equation" r:id="rId3" imgW="3962400" imgH="5486400" progId="Equation.DSMT4">
                  <p:embed/>
                </p:oleObj>
              </mc:Choice>
              <mc:Fallback>
                <p:oleObj name="Equation" r:id="rId3" imgW="3962400" imgH="5486400" progId="Equation.DSMT4">
                  <p:embed/>
                  <p:pic>
                    <p:nvPicPr>
                      <p:cNvPr id="0" name="图片 137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1856" y="2132856"/>
                        <a:ext cx="2825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171144" y="2163336"/>
          <a:ext cx="152400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" name="Equation" r:id="rId5" imgW="2133600" imgH="3962400" progId="Equation.DSMT4">
                  <p:embed/>
                </p:oleObj>
              </mc:Choice>
              <mc:Fallback>
                <p:oleObj name="Equation" r:id="rId5" imgW="2133600" imgH="3962400" progId="Equation.DSMT4">
                  <p:embed/>
                  <p:pic>
                    <p:nvPicPr>
                      <p:cNvPr id="0" name="图片 137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71144" y="2163336"/>
                        <a:ext cx="152400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736653" y="3036188"/>
          <a:ext cx="11953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7" name="Equation" r:id="rId7" imgW="16764000" imgH="5791200" progId="Equation.DSMT4">
                  <p:embed/>
                </p:oleObj>
              </mc:Choice>
              <mc:Fallback>
                <p:oleObj name="Equation" r:id="rId7" imgW="16764000" imgH="5791200" progId="Equation.DSMT4">
                  <p:embed/>
                  <p:pic>
                    <p:nvPicPr>
                      <p:cNvPr id="0" name="图片 137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36653" y="3036188"/>
                        <a:ext cx="1195387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516216" y="3036188"/>
          <a:ext cx="3254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8" name="Equation" r:id="rId9" imgW="4572000" imgH="5791200" progId="Equation.DSMT4">
                  <p:embed/>
                </p:oleObj>
              </mc:Choice>
              <mc:Fallback>
                <p:oleObj name="Equation" r:id="rId9" imgW="4572000" imgH="5791200" progId="Equation.DSMT4">
                  <p:embed/>
                  <p:pic>
                    <p:nvPicPr>
                      <p:cNvPr id="0" name="图片 137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6216" y="3036188"/>
                        <a:ext cx="325438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94648" y="3311525"/>
          <a:ext cx="282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9" name="Equation" r:id="rId11" imgW="3962400" imgH="5791200" progId="Equation.DSMT4">
                  <p:embed/>
                </p:oleObj>
              </mc:Choice>
              <mc:Fallback>
                <p:oleObj name="Equation" r:id="rId11" imgW="3962400" imgH="5791200" progId="Equation.DSMT4">
                  <p:embed/>
                  <p:pic>
                    <p:nvPicPr>
                      <p:cNvPr id="0" name="图片 137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94648" y="3311525"/>
                        <a:ext cx="2825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55976" y="3356992"/>
          <a:ext cx="892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0" name="Equation" r:id="rId13" imgW="12496800" imgH="5791200" progId="Equation.DSMT4">
                  <p:embed/>
                </p:oleObj>
              </mc:Choice>
              <mc:Fallback>
                <p:oleObj name="Equation" r:id="rId13" imgW="12496800" imgH="5791200" progId="Equation.DSMT4">
                  <p:embed/>
                  <p:pic>
                    <p:nvPicPr>
                      <p:cNvPr id="0" name="图片 1373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55976" y="3356992"/>
                        <a:ext cx="8921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945609" y="3356992"/>
          <a:ext cx="282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1" name="Equation" r:id="rId15" imgW="3962400" imgH="5486400" progId="Equation.DSMT4">
                  <p:embed/>
                </p:oleObj>
              </mc:Choice>
              <mc:Fallback>
                <p:oleObj name="Equation" r:id="rId15" imgW="3962400" imgH="5486400" progId="Equation.DSMT4">
                  <p:embed/>
                  <p:pic>
                    <p:nvPicPr>
                      <p:cNvPr id="0" name="图片 1374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45609" y="3356992"/>
                        <a:ext cx="28257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732240" y="3334767"/>
          <a:ext cx="282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2" name="Equation" r:id="rId17" imgW="3962400" imgH="5791200" progId="Equation.DSMT4">
                  <p:embed/>
                </p:oleObj>
              </mc:Choice>
              <mc:Fallback>
                <p:oleObj name="Equation" r:id="rId17" imgW="3962400" imgH="5791200" progId="Equation.DSMT4">
                  <p:embed/>
                  <p:pic>
                    <p:nvPicPr>
                      <p:cNvPr id="0" name="图片 1374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32240" y="3334767"/>
                        <a:ext cx="282575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77257" y="4678009"/>
          <a:ext cx="28257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3" name="Equation" r:id="rId19" imgW="3962400" imgH="3962400" progId="Equation.DSMT4">
                  <p:embed/>
                </p:oleObj>
              </mc:Choice>
              <mc:Fallback>
                <p:oleObj name="Equation" r:id="rId19" imgW="3962400" imgH="3962400" progId="Equation.DSMT4">
                  <p:embed/>
                  <p:pic>
                    <p:nvPicPr>
                      <p:cNvPr id="0" name="图片 1374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77257" y="4678009"/>
                        <a:ext cx="282575" cy="28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923928" y="4680640"/>
          <a:ext cx="21590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4" name="Equation" r:id="rId21" imgW="3048000" imgH="4267200" progId="Equation.DSMT4">
                  <p:embed/>
                </p:oleObj>
              </mc:Choice>
              <mc:Fallback>
                <p:oleObj name="Equation" r:id="rId21" imgW="3048000" imgH="4267200" progId="Equation.DSMT4">
                  <p:embed/>
                  <p:pic>
                    <p:nvPicPr>
                      <p:cNvPr id="0" name="图片 1374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23928" y="4680640"/>
                        <a:ext cx="215900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772446" y="4653136"/>
          <a:ext cx="1455738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5" name="Equation" r:id="rId23" imgW="20421600" imgH="5486400" progId="Equation.DSMT4">
                  <p:embed/>
                </p:oleObj>
              </mc:Choice>
              <mc:Fallback>
                <p:oleObj name="Equation" r:id="rId23" imgW="20421600" imgH="5486400" progId="Equation.DSMT4">
                  <p:embed/>
                  <p:pic>
                    <p:nvPicPr>
                      <p:cNvPr id="0" name="图片 1374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772446" y="4653136"/>
                        <a:ext cx="1455738" cy="39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735014" y="4642088"/>
          <a:ext cx="3238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6" name="Equation" r:id="rId25" imgW="4572000" imgH="5791200" progId="Equation.DSMT4">
                  <p:embed/>
                </p:oleObj>
              </mc:Choice>
              <mc:Fallback>
                <p:oleObj name="Equation" r:id="rId25" imgW="4572000" imgH="5791200" progId="Equation.DSMT4">
                  <p:embed/>
                  <p:pic>
                    <p:nvPicPr>
                      <p:cNvPr id="0" name="图片 1374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35014" y="4642088"/>
                        <a:ext cx="323850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60675" y="5024536"/>
          <a:ext cx="30321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7" name="Equation" r:id="rId27" imgW="4267200" imgH="5791200" progId="Equation.DSMT4">
                  <p:embed/>
                </p:oleObj>
              </mc:Choice>
              <mc:Fallback>
                <p:oleObj name="Equation" r:id="rId27" imgW="4267200" imgH="5791200" progId="Equation.DSMT4">
                  <p:embed/>
                  <p:pic>
                    <p:nvPicPr>
                      <p:cNvPr id="0" name="图片 1374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860675" y="5024536"/>
                        <a:ext cx="303213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922333" y="5180596"/>
          <a:ext cx="1729787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8" name="Equation" r:id="rId29" imgW="21640800" imgH="7924800" progId="Equation.DSMT4">
                  <p:embed/>
                </p:oleObj>
              </mc:Choice>
              <mc:Fallback>
                <p:oleObj name="Equation" r:id="rId29" imgW="21640800" imgH="7924800" progId="Equation.DSMT4">
                  <p:embed/>
                  <p:pic>
                    <p:nvPicPr>
                      <p:cNvPr id="0" name="图片 1374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22333" y="5180596"/>
                        <a:ext cx="1729787" cy="64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9.4.3 </a:t>
            </a:r>
            <a:r>
              <a:rPr lang="zh-CN" altLang="en-US" dirty="0">
                <a:latin typeface="+mn-ea"/>
              </a:rPr>
              <a:t>高斯混合聚类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思想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求解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极大似然估计</a:t>
            </a:r>
            <a:r>
              <a:rPr lang="zh-CN" altLang="en-US" dirty="0" smtClean="0">
                <a:latin typeface="+mn-ea"/>
              </a:rPr>
              <a:t>，最大化对数似然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对数</a:t>
            </a:r>
            <a:r>
              <a:rPr lang="zh-CN" altLang="en-US" dirty="0" smtClean="0">
                <a:latin typeface="+mn-ea"/>
              </a:rPr>
              <a:t>似然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令导数为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可得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引入拉格朗日乘子得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用</a:t>
            </a:r>
            <a:r>
              <a:rPr lang="en-US" altLang="zh-CN" dirty="0" smtClean="0">
                <a:latin typeface="+mn-ea"/>
              </a:rPr>
              <a:t>EM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en-US" altLang="zh-CN" dirty="0">
                <a:latin typeface="+mn-ea"/>
              </a:rPr>
              <a:t>(</a:t>
            </a:r>
            <a:r>
              <a:rPr lang="en-US" altLang="zh-CN" dirty="0" smtClean="0">
                <a:latin typeface="+mn-ea"/>
              </a:rPr>
              <a:t>E</a:t>
            </a:r>
            <a:r>
              <a:rPr lang="zh-CN" altLang="en-US" dirty="0" smtClean="0">
                <a:latin typeface="+mn-ea"/>
              </a:rPr>
              <a:t>步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根据</a:t>
            </a:r>
            <a:r>
              <a:rPr lang="zh-CN" altLang="en-US" dirty="0">
                <a:latin typeface="+mn-ea"/>
              </a:rPr>
              <a:t>当前参数计算每个样本属于每个高斯成分的</a:t>
            </a:r>
            <a:r>
              <a:rPr lang="zh-CN" altLang="en-US" dirty="0" smtClean="0">
                <a:latin typeface="+mn-ea"/>
              </a:rPr>
              <a:t>后验概率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en-US" altLang="zh-CN" dirty="0">
                <a:latin typeface="+mn-ea"/>
              </a:rPr>
              <a:t>(</a:t>
            </a:r>
            <a:r>
              <a:rPr lang="en-US" altLang="zh-CN" dirty="0" smtClean="0">
                <a:latin typeface="+mn-ea"/>
              </a:rPr>
              <a:t>M</a:t>
            </a:r>
            <a:r>
              <a:rPr lang="zh-CN" altLang="en-US" dirty="0" smtClean="0">
                <a:latin typeface="+mn-ea"/>
              </a:rPr>
              <a:t>步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zh-CN" altLang="en-US" dirty="0">
                <a:latin typeface="+mn-ea"/>
              </a:rPr>
              <a:t>模型参数</a:t>
            </a:r>
            <a:endParaRPr lang="zh-CN" altLang="en-US" dirty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40711" y="2494285"/>
          <a:ext cx="374808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7" name="Equation" r:id="rId1" imgW="52425600" imgH="7924800" progId="Equation.DSMT4">
                  <p:embed/>
                </p:oleObj>
              </mc:Choice>
              <mc:Fallback>
                <p:oleObj name="Equation" r:id="rId1" imgW="52425600" imgH="7924800" progId="Equation.DSMT4">
                  <p:embed/>
                  <p:pic>
                    <p:nvPicPr>
                      <p:cNvPr id="0" name="图片 144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40711" y="2494285"/>
                        <a:ext cx="3748087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72764" y="3334589"/>
          <a:ext cx="40528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8" name="Equation" r:id="rId3" imgW="56692800" imgH="14020800" progId="Equation.DSMT4">
                  <p:embed/>
                </p:oleObj>
              </mc:Choice>
              <mc:Fallback>
                <p:oleObj name="Equation" r:id="rId3" imgW="56692800" imgH="14020800" progId="Equation.DSMT4">
                  <p:embed/>
                  <p:pic>
                    <p:nvPicPr>
                      <p:cNvPr id="0" name="图片 144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2764" y="3334589"/>
                        <a:ext cx="4052888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23928" y="4616218"/>
          <a:ext cx="15033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9" name="Equation" r:id="rId5" imgW="21031200" imgH="8229600" progId="Equation.DSMT4">
                  <p:embed/>
                </p:oleObj>
              </mc:Choice>
              <mc:Fallback>
                <p:oleObj name="Equation" r:id="rId5" imgW="21031200" imgH="8229600" progId="Equation.DSMT4">
                  <p:embed/>
                  <p:pic>
                    <p:nvPicPr>
                      <p:cNvPr id="0" name="图片 144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3928" y="4616218"/>
                        <a:ext cx="1503362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90393" y="5777101"/>
          <a:ext cx="3270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0" name="Equation" r:id="rId7" imgW="4572000" imgH="5791200" progId="Equation.DSMT4">
                  <p:embed/>
                </p:oleObj>
              </mc:Choice>
              <mc:Fallback>
                <p:oleObj name="Equation" r:id="rId7" imgW="4572000" imgH="5791200" progId="Equation.DSMT4">
                  <p:embed/>
                  <p:pic>
                    <p:nvPicPr>
                      <p:cNvPr id="0" name="图片 144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0393" y="5777101"/>
                        <a:ext cx="327025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39860" y="6098495"/>
          <a:ext cx="19827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1" name="Equation" r:id="rId9" imgW="27736800" imgH="5486400" progId="Equation.DSMT4">
                  <p:embed/>
                </p:oleObj>
              </mc:Choice>
              <mc:Fallback>
                <p:oleObj name="Equation" r:id="rId9" imgW="27736800" imgH="5486400" progId="Equation.DSMT4">
                  <p:embed/>
                  <p:pic>
                    <p:nvPicPr>
                      <p:cNvPr id="0" name="图片 144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39860" y="6098495"/>
                        <a:ext cx="198278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9.4.3 </a:t>
            </a:r>
            <a:r>
              <a:rPr lang="zh-CN" altLang="en-US" dirty="0">
                <a:latin typeface="+mn-ea"/>
              </a:rPr>
              <a:t>高斯混合聚类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算法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289" y="1362873"/>
            <a:ext cx="6140135" cy="5378495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原型聚类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9.4.3 </a:t>
            </a:r>
            <a:r>
              <a:rPr lang="zh-CN" altLang="en-US" dirty="0">
                <a:latin typeface="+mn-ea"/>
              </a:rPr>
              <a:t>高斯混合聚类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1368019"/>
            <a:ext cx="5518943" cy="5445357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9.5 </a:t>
            </a:r>
            <a:r>
              <a:rPr lang="zh-CN" altLang="en-US" dirty="0" smtClean="0"/>
              <a:t>密度</a:t>
            </a:r>
            <a:r>
              <a:rPr lang="zh-CN" altLang="en-US" dirty="0"/>
              <a:t>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亦</a:t>
            </a:r>
            <a:r>
              <a:rPr lang="zh-CN" altLang="en-US" dirty="0" smtClean="0"/>
              <a:t>称基于</a:t>
            </a:r>
            <a:r>
              <a:rPr lang="zh-CN" altLang="en-US" dirty="0"/>
              <a:t>密度的</a:t>
            </a:r>
            <a:r>
              <a:rPr lang="zh-CN" altLang="en-US" dirty="0" smtClean="0"/>
              <a:t>聚类</a:t>
            </a:r>
            <a:endParaRPr lang="zh-CN" altLang="en-US" dirty="0"/>
          </a:p>
          <a:p>
            <a:pPr lvl="1"/>
            <a:r>
              <a:rPr lang="zh-CN" altLang="en-US" dirty="0" smtClean="0"/>
              <a:t>假设</a:t>
            </a:r>
            <a:r>
              <a:rPr lang="zh-CN" altLang="en-US" dirty="0"/>
              <a:t>：聚类</a:t>
            </a:r>
            <a:r>
              <a:rPr lang="zh-CN" altLang="en-US" dirty="0" smtClean="0"/>
              <a:t>结构能通过</a:t>
            </a:r>
            <a:r>
              <a:rPr lang="zh-CN" altLang="en-US" dirty="0"/>
              <a:t>样本分布的紧密程度确定</a:t>
            </a:r>
            <a:endParaRPr lang="zh-CN" altLang="en-US" dirty="0"/>
          </a:p>
          <a:p>
            <a:pPr lvl="1"/>
            <a:r>
              <a:rPr lang="zh-CN" altLang="en-US" dirty="0" smtClean="0"/>
              <a:t>过程</a:t>
            </a:r>
            <a:r>
              <a:rPr lang="zh-CN" altLang="en-US" dirty="0"/>
              <a:t>：从样本密度的角度来考察</a:t>
            </a:r>
            <a:r>
              <a:rPr lang="zh-CN" altLang="en-US" dirty="0" smtClean="0"/>
              <a:t>样本间</a:t>
            </a:r>
            <a:r>
              <a:rPr lang="zh-CN" altLang="en-US" dirty="0"/>
              <a:t>的可连接性，并基于可连接</a:t>
            </a:r>
            <a:r>
              <a:rPr lang="zh-CN" altLang="en-US" dirty="0" smtClean="0"/>
              <a:t>样本不断</a:t>
            </a:r>
            <a:r>
              <a:rPr lang="zh-CN" altLang="en-US" dirty="0"/>
              <a:t>扩展聚类簇</a:t>
            </a:r>
            <a:endParaRPr lang="zh-CN" altLang="en-US" dirty="0"/>
          </a:p>
          <a:p>
            <a:pPr lvl="1"/>
            <a:r>
              <a:rPr lang="zh-CN" altLang="en-US" dirty="0" smtClean="0"/>
              <a:t>代表：</a:t>
            </a:r>
            <a:r>
              <a:rPr lang="en-US" altLang="zh-CN" dirty="0" smtClean="0">
                <a:latin typeface="+mn-ea"/>
              </a:rPr>
              <a:t>DBSCAN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OPTICS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DENCLUE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DBSCAN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基于一</a:t>
            </a:r>
            <a:r>
              <a:rPr lang="zh-CN" altLang="en-US" dirty="0" smtClean="0">
                <a:latin typeface="+mn-ea"/>
              </a:rPr>
              <a:t>组邻域参数刻画</a:t>
            </a:r>
            <a:r>
              <a:rPr lang="zh-CN" altLang="en-US" dirty="0">
                <a:latin typeface="+mn-ea"/>
              </a:rPr>
              <a:t>样本分布的紧密</a:t>
            </a:r>
            <a:r>
              <a:rPr lang="zh-CN" altLang="en-US" dirty="0" smtClean="0">
                <a:latin typeface="+mn-ea"/>
              </a:rPr>
              <a:t>程度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关键概念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    邻域：包含样本集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中与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</a:t>
            </a:r>
            <a:r>
              <a:rPr lang="zh-CN" altLang="en-US" dirty="0">
                <a:latin typeface="+mn-ea"/>
              </a:rPr>
              <a:t>距离</a:t>
            </a:r>
            <a:r>
              <a:rPr lang="zh-CN" altLang="en-US" dirty="0"/>
              <a:t>不</a:t>
            </a:r>
            <a:r>
              <a:rPr lang="zh-CN" altLang="en-US" dirty="0" smtClean="0"/>
              <a:t>大于  的样本</a:t>
            </a:r>
            <a:r>
              <a:rPr lang="zh-CN" altLang="en-US" dirty="0"/>
              <a:t>，</a:t>
            </a:r>
            <a:r>
              <a:rPr lang="zh-CN" altLang="en-US" dirty="0" smtClean="0"/>
              <a:t>即</a:t>
            </a:r>
            <a:endParaRPr lang="en-US" altLang="zh-CN" dirty="0" smtClean="0"/>
          </a:p>
          <a:p>
            <a:pPr lvl="2"/>
            <a:r>
              <a:rPr lang="zh-CN" altLang="en-US" dirty="0"/>
              <a:t>核心</a:t>
            </a:r>
            <a:r>
              <a:rPr lang="zh-CN" altLang="en-US" dirty="0" smtClean="0"/>
              <a:t>对象：若</a:t>
            </a:r>
            <a:r>
              <a:rPr lang="en-US" altLang="zh-CN" dirty="0" smtClean="0"/>
              <a:t>   </a:t>
            </a:r>
            <a:r>
              <a:rPr lang="zh-CN" altLang="en-US" dirty="0" smtClean="0"/>
              <a:t>的   邻域</a:t>
            </a:r>
            <a:r>
              <a:rPr lang="zh-CN" altLang="en-US" dirty="0"/>
              <a:t>至少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        </a:t>
            </a:r>
            <a:r>
              <a:rPr lang="zh-CN" altLang="en-US" dirty="0" smtClean="0"/>
              <a:t>个</a:t>
            </a:r>
            <a:r>
              <a:rPr lang="zh-CN" altLang="en-US" dirty="0"/>
              <a:t>样本，</a:t>
            </a:r>
            <a:r>
              <a:rPr lang="zh-CN" altLang="en-US" dirty="0" smtClean="0"/>
              <a:t>即</a:t>
            </a:r>
            <a:r>
              <a:rPr lang="en-US" altLang="zh-CN" dirty="0" smtClean="0"/>
              <a:t>                       </a:t>
            </a:r>
            <a:r>
              <a:rPr lang="zh-CN" altLang="en-US" dirty="0" smtClean="0"/>
              <a:t>，则   是</a:t>
            </a:r>
            <a:r>
              <a:rPr lang="zh-CN" altLang="en-US" dirty="0"/>
              <a:t>一个核心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33163" y="4905200"/>
          <a:ext cx="361413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8" name="Equation" r:id="rId1" imgW="4267200" imgH="3352800" progId="Equation.DSMT4">
                  <p:embed/>
                </p:oleObj>
              </mc:Choice>
              <mc:Fallback>
                <p:oleObj name="Equation" r:id="rId1" imgW="4267200" imgH="3352800" progId="Equation.DSMT4">
                  <p:embed/>
                  <p:pic>
                    <p:nvPicPr>
                      <p:cNvPr id="0" name="图片 155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3163" y="4905200"/>
                        <a:ext cx="361413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15328" y="4845731"/>
          <a:ext cx="319967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9" name="Equation" r:id="rId3" imgW="3962400" imgH="3962400" progId="Equation.DSMT4">
                  <p:embed/>
                </p:oleObj>
              </mc:Choice>
              <mc:Fallback>
                <p:oleObj name="Equation" r:id="rId3" imgW="3962400" imgH="3962400" progId="Equation.DSMT4">
                  <p:embed/>
                  <p:pic>
                    <p:nvPicPr>
                      <p:cNvPr id="0" name="图片 155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5328" y="4845731"/>
                        <a:ext cx="319967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580112" y="4778375"/>
          <a:ext cx="434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0" name="Equation" r:id="rId5" imgW="4572000" imgH="5791200" progId="Equation.DSMT4">
                  <p:embed/>
                </p:oleObj>
              </mc:Choice>
              <mc:Fallback>
                <p:oleObj name="Equation" r:id="rId5" imgW="4572000" imgH="5791200" progId="Equation.DSMT4">
                  <p:embed/>
                  <p:pic>
                    <p:nvPicPr>
                      <p:cNvPr id="0" name="图片 155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0112" y="4778375"/>
                        <a:ext cx="434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809879" y="4905350"/>
          <a:ext cx="258353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1" name="Equation" r:id="rId7" imgW="3048000" imgH="3352800" progId="Equation.DSMT4">
                  <p:embed/>
                </p:oleObj>
              </mc:Choice>
              <mc:Fallback>
                <p:oleObj name="Equation" r:id="rId7" imgW="3048000" imgH="3352800" progId="Equation.DSMT4">
                  <p:embed/>
                  <p:pic>
                    <p:nvPicPr>
                      <p:cNvPr id="0" name="图片 156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09879" y="4905350"/>
                        <a:ext cx="258353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29456" y="5207404"/>
          <a:ext cx="362168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2" name="Equation" r:id="rId9" imgW="45415200" imgH="5791200" progId="Equation.DSMT4">
                  <p:embed/>
                </p:oleObj>
              </mc:Choice>
              <mc:Fallback>
                <p:oleObj name="Equation" r:id="rId9" imgW="45415200" imgH="5791200" progId="Equation.DSMT4">
                  <p:embed/>
                  <p:pic>
                    <p:nvPicPr>
                      <p:cNvPr id="0" name="图片 156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29456" y="5207404"/>
                        <a:ext cx="3621682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707904" y="5517232"/>
          <a:ext cx="434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" name="Equation" r:id="rId11" imgW="4572000" imgH="5791200" progId="Equation.DSMT4">
                  <p:embed/>
                </p:oleObj>
              </mc:Choice>
              <mc:Fallback>
                <p:oleObj name="Equation" r:id="rId11" imgW="4572000" imgH="5791200" progId="Equation.DSMT4">
                  <p:embed/>
                  <p:pic>
                    <p:nvPicPr>
                      <p:cNvPr id="0" name="图片 1560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7904" y="5517232"/>
                        <a:ext cx="434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89559" y="5638088"/>
          <a:ext cx="361413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" name="Equation" r:id="rId13" imgW="4267200" imgH="3352800" progId="Equation.DSMT4">
                  <p:embed/>
                </p:oleObj>
              </mc:Choice>
              <mc:Fallback>
                <p:oleObj name="Equation" r:id="rId13" imgW="4267200" imgH="3352800" progId="Equation.DSMT4">
                  <p:embed/>
                  <p:pic>
                    <p:nvPicPr>
                      <p:cNvPr id="0" name="图片 1560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89559" y="5638088"/>
                        <a:ext cx="361413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37162" y="5946279"/>
          <a:ext cx="20415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5" name="Equation" r:id="rId15" imgW="25603200" imgH="5791200" progId="Equation.DSMT4">
                  <p:embed/>
                </p:oleObj>
              </mc:Choice>
              <mc:Fallback>
                <p:oleObj name="Equation" r:id="rId15" imgW="25603200" imgH="5791200" progId="Equation.DSMT4">
                  <p:embed/>
                  <p:pic>
                    <p:nvPicPr>
                      <p:cNvPr id="0" name="图片 1560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37162" y="5946279"/>
                        <a:ext cx="2041525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23949" y="5601791"/>
          <a:ext cx="9477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6" name="Equation" r:id="rId17" imgW="11887200" imgH="4267200" progId="Equation.DSMT4">
                  <p:embed/>
                </p:oleObj>
              </mc:Choice>
              <mc:Fallback>
                <p:oleObj name="Equation" r:id="rId17" imgW="11887200" imgH="4267200" progId="Equation.DSMT4">
                  <p:embed/>
                  <p:pic>
                    <p:nvPicPr>
                      <p:cNvPr id="0" name="图片 1560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23949" y="5601791"/>
                        <a:ext cx="947738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01491" y="5877272"/>
          <a:ext cx="434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7" name="Equation" r:id="rId19" imgW="4572000" imgH="5791200" progId="Equation.DSMT4">
                  <p:embed/>
                </p:oleObj>
              </mc:Choice>
              <mc:Fallback>
                <p:oleObj name="Equation" r:id="rId19" imgW="4572000" imgH="5791200" progId="Equation.DSMT4">
                  <p:embed/>
                  <p:pic>
                    <p:nvPicPr>
                      <p:cNvPr id="0" name="图片 156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01491" y="5877272"/>
                        <a:ext cx="434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07504" y="4365104"/>
            <a:ext cx="8956132" cy="1910622"/>
            <a:chOff x="107504" y="4794530"/>
            <a:chExt cx="8956132" cy="1910622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504" y="4797152"/>
              <a:ext cx="8956132" cy="1908000"/>
            </a:xfrm>
            <a:prstGeom prst="rect">
              <a:avLst/>
            </a:prstGeom>
          </p:spPr>
        </p:pic>
        <p:sp>
          <p:nvSpPr>
            <p:cNvPr id="27" name="矩形 26"/>
            <p:cNvSpPr/>
            <p:nvPr/>
          </p:nvSpPr>
          <p:spPr bwMode="auto">
            <a:xfrm>
              <a:off x="107504" y="4794530"/>
              <a:ext cx="4824536" cy="5477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密度聚类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DBSCAN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关键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pPr lvl="2"/>
            <a:r>
              <a:rPr lang="zh-CN" altLang="en-US" dirty="0"/>
              <a:t>密度</a:t>
            </a:r>
            <a:r>
              <a:rPr lang="zh-CN" altLang="en-US" dirty="0" smtClean="0"/>
              <a:t>直达：若   位于   的   邻域</a:t>
            </a:r>
            <a:r>
              <a:rPr lang="zh-CN" altLang="en-US" dirty="0"/>
              <a:t>中，</a:t>
            </a:r>
            <a:r>
              <a:rPr lang="zh-CN" altLang="en-US" dirty="0" smtClean="0"/>
              <a:t>且  是</a:t>
            </a:r>
            <a:r>
              <a:rPr lang="zh-CN" altLang="en-US" dirty="0"/>
              <a:t>核心对象，则</a:t>
            </a:r>
            <a:r>
              <a:rPr lang="zh-CN" altLang="en-US" dirty="0" smtClean="0"/>
              <a:t>称</a:t>
            </a:r>
            <a:r>
              <a:rPr lang="en-US" altLang="zh-CN" dirty="0" smtClean="0"/>
              <a:t>   </a:t>
            </a:r>
            <a:r>
              <a:rPr lang="zh-CN" altLang="en-US" dirty="0" smtClean="0"/>
              <a:t>由</a:t>
            </a:r>
            <a:r>
              <a:rPr lang="en-US" altLang="zh-CN" dirty="0" smtClean="0"/>
              <a:t>   </a:t>
            </a:r>
            <a:r>
              <a:rPr lang="zh-CN" altLang="en-US" dirty="0"/>
              <a:t>密度</a:t>
            </a:r>
            <a:r>
              <a:rPr lang="zh-CN" altLang="en-US" dirty="0" smtClean="0"/>
              <a:t>直达</a:t>
            </a:r>
            <a:endParaRPr lang="en-US" altLang="zh-CN" dirty="0" smtClean="0"/>
          </a:p>
          <a:p>
            <a:pPr lvl="3"/>
            <a:r>
              <a:rPr lang="zh-CN" altLang="en-US" dirty="0"/>
              <a:t>不满足对称性</a:t>
            </a:r>
            <a:endParaRPr lang="en-US" altLang="zh-CN" dirty="0" smtClean="0"/>
          </a:p>
          <a:p>
            <a:pPr lvl="2"/>
            <a:r>
              <a:rPr lang="zh-CN" altLang="en-US" dirty="0"/>
              <a:t>密度可</a:t>
            </a:r>
            <a:r>
              <a:rPr lang="zh-CN" altLang="en-US" dirty="0" smtClean="0"/>
              <a:t>达：对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若</a:t>
            </a:r>
            <a:r>
              <a:rPr lang="zh-CN" altLang="en-US" dirty="0"/>
              <a:t>存在样本</a:t>
            </a:r>
            <a:r>
              <a:rPr lang="zh-CN" altLang="en-US" dirty="0" smtClean="0"/>
              <a:t>序列</a:t>
            </a:r>
            <a:r>
              <a:rPr lang="en-US" altLang="zh-CN" dirty="0" smtClean="0"/>
              <a:t>          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chemeClr val="bg1"/>
                </a:solidFill>
              </a:rPr>
              <a:t>其中中</a:t>
            </a:r>
            <a:r>
              <a:rPr lang="zh-CN" altLang="en-US" dirty="0" smtClean="0"/>
              <a:t>      且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由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密度</a:t>
            </a:r>
            <a:r>
              <a:rPr lang="zh-CN" altLang="en-US" dirty="0"/>
              <a:t>直达，</a:t>
            </a:r>
            <a:r>
              <a:rPr lang="zh-CN" altLang="en-US" dirty="0" smtClean="0"/>
              <a:t>则</a:t>
            </a:r>
            <a:r>
              <a:rPr lang="en-US" altLang="zh-CN" dirty="0" smtClean="0"/>
              <a:t>   </a:t>
            </a:r>
            <a:r>
              <a:rPr lang="zh-CN" altLang="en-US" dirty="0" smtClean="0"/>
              <a:t>由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密度</a:t>
            </a:r>
            <a:r>
              <a:rPr lang="zh-CN" altLang="en-US" dirty="0"/>
              <a:t>可</a:t>
            </a:r>
            <a:r>
              <a:rPr lang="zh-CN" altLang="en-US" dirty="0" smtClean="0"/>
              <a:t>达</a:t>
            </a:r>
            <a:endParaRPr lang="en-US" altLang="zh-CN" dirty="0" smtClean="0"/>
          </a:p>
          <a:p>
            <a:pPr lvl="3"/>
            <a:r>
              <a:rPr lang="zh-CN" altLang="en-US" dirty="0"/>
              <a:t>满足直递</a:t>
            </a:r>
            <a:r>
              <a:rPr lang="zh-CN" altLang="en-US" dirty="0" smtClean="0"/>
              <a:t>性，不</a:t>
            </a:r>
            <a:r>
              <a:rPr lang="zh-CN" altLang="en-US" dirty="0"/>
              <a:t>满足</a:t>
            </a:r>
            <a:r>
              <a:rPr lang="zh-CN" altLang="en-US" dirty="0" smtClean="0"/>
              <a:t>对称性</a:t>
            </a:r>
            <a:endParaRPr lang="en-US" altLang="zh-CN" dirty="0" smtClean="0"/>
          </a:p>
          <a:p>
            <a:pPr lvl="2"/>
            <a:r>
              <a:rPr lang="zh-CN" altLang="en-US" dirty="0"/>
              <a:t>密度</a:t>
            </a:r>
            <a:r>
              <a:rPr lang="zh-CN" altLang="en-US" dirty="0" smtClean="0"/>
              <a:t>相连：对       若存在   使得       均由   可达，则</a:t>
            </a:r>
            <a:r>
              <a:rPr lang="en-US" altLang="zh-CN" dirty="0" smtClean="0"/>
              <a:t>        </a:t>
            </a:r>
            <a:r>
              <a:rPr lang="zh-CN" altLang="en-US" dirty="0" smtClean="0"/>
              <a:t>密度相连</a:t>
            </a:r>
            <a:endParaRPr lang="en-US" altLang="zh-CN" dirty="0" smtClean="0"/>
          </a:p>
          <a:p>
            <a:pPr lvl="3"/>
            <a:r>
              <a:rPr lang="zh-CN" altLang="en-US" dirty="0"/>
              <a:t>满足对称</a:t>
            </a:r>
            <a:endParaRPr lang="en-US" altLang="zh-CN" dirty="0"/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36932" y="1732586"/>
          <a:ext cx="434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87" name="Equation" r:id="rId2" imgW="4572000" imgH="5791200" progId="Equation.DSMT4">
                  <p:embed/>
                </p:oleObj>
              </mc:Choice>
              <mc:Fallback>
                <p:oleObj name="Equation" r:id="rId2" imgW="4572000" imgH="5791200" progId="Equation.DSMT4">
                  <p:embed/>
                  <p:pic>
                    <p:nvPicPr>
                      <p:cNvPr id="0" name="图片 169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36932" y="1732586"/>
                        <a:ext cx="434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02175" y="1725613"/>
          <a:ext cx="377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88" name="Equation" r:id="rId4" imgW="3962400" imgH="5486400" progId="Equation.DSMT4">
                  <p:embed/>
                </p:oleObj>
              </mc:Choice>
              <mc:Fallback>
                <p:oleObj name="Equation" r:id="rId4" imgW="3962400" imgH="5486400" progId="Equation.DSMT4">
                  <p:embed/>
                  <p:pic>
                    <p:nvPicPr>
                      <p:cNvPr id="0" name="图片 169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2175" y="1725613"/>
                        <a:ext cx="3778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358535" y="1857200"/>
          <a:ext cx="361413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89" name="Equation" r:id="rId6" imgW="4267200" imgH="3352800" progId="Equation.DSMT4">
                  <p:embed/>
                </p:oleObj>
              </mc:Choice>
              <mc:Fallback>
                <p:oleObj name="Equation" r:id="rId6" imgW="4267200" imgH="3352800" progId="Equation.DSMT4">
                  <p:embed/>
                  <p:pic>
                    <p:nvPicPr>
                      <p:cNvPr id="0" name="图片 1698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58535" y="1857200"/>
                        <a:ext cx="361413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147832" y="1732870"/>
          <a:ext cx="377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0" name="Equation" r:id="rId8" imgW="3962400" imgH="5486400" progId="Equation.DSMT4">
                  <p:embed/>
                </p:oleObj>
              </mc:Choice>
              <mc:Fallback>
                <p:oleObj name="Equation" r:id="rId8" imgW="3962400" imgH="5486400" progId="Equation.DSMT4">
                  <p:embed/>
                  <p:pic>
                    <p:nvPicPr>
                      <p:cNvPr id="0" name="图片 169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47832" y="1732870"/>
                        <a:ext cx="3778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95846" y="2102700"/>
          <a:ext cx="4349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1" name="Equation" r:id="rId9" imgW="4572000" imgH="5791200" progId="Equation.DSMT4">
                  <p:embed/>
                </p:oleObj>
              </mc:Choice>
              <mc:Fallback>
                <p:oleObj name="Equation" r:id="rId9" imgW="4572000" imgH="5791200" progId="Equation.DSMT4">
                  <p:embed/>
                  <p:pic>
                    <p:nvPicPr>
                      <p:cNvPr id="0" name="图片 169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5846" y="2102700"/>
                        <a:ext cx="43497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61947" y="2088470"/>
          <a:ext cx="377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2" name="Equation" r:id="rId10" imgW="3962400" imgH="5486400" progId="Equation.DSMT4">
                  <p:embed/>
                </p:oleObj>
              </mc:Choice>
              <mc:Fallback>
                <p:oleObj name="Equation" r:id="rId10" imgW="3962400" imgH="5486400" progId="Equation.DSMT4">
                  <p:embed/>
                  <p:pic>
                    <p:nvPicPr>
                      <p:cNvPr id="0" name="图片 169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1947" y="2088470"/>
                        <a:ext cx="377825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717247" y="2780928"/>
          <a:ext cx="73165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3" name="Equation" r:id="rId11" imgW="8534400" imgH="5791200" progId="Equation.DSMT4">
                  <p:embed/>
                </p:oleObj>
              </mc:Choice>
              <mc:Fallback>
                <p:oleObj name="Equation" r:id="rId11" imgW="8534400" imgH="5791200" progId="Equation.DSMT4">
                  <p:embed/>
                  <p:pic>
                    <p:nvPicPr>
                      <p:cNvPr id="0" name="图片 169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7247" y="2780928"/>
                        <a:ext cx="731659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486625" y="2809504"/>
          <a:ext cx="104809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4" name="Equation" r:id="rId13" imgW="12496800" imgH="5486400" progId="Equation.DSMT4">
                  <p:embed/>
                </p:oleObj>
              </mc:Choice>
              <mc:Fallback>
                <p:oleObj name="Equation" r:id="rId13" imgW="12496800" imgH="5486400" progId="Equation.DSMT4">
                  <p:embed/>
                  <p:pic>
                    <p:nvPicPr>
                      <p:cNvPr id="0" name="图片 1699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86625" y="2809504"/>
                        <a:ext cx="1048096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16145" y="3183179"/>
          <a:ext cx="84622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5" name="Equation" r:id="rId15" imgW="10668000" imgH="5791200" progId="Equation.DSMT4">
                  <p:embed/>
                </p:oleObj>
              </mc:Choice>
              <mc:Fallback>
                <p:oleObj name="Equation" r:id="rId15" imgW="10668000" imgH="5791200" progId="Equation.DSMT4">
                  <p:embed/>
                  <p:pic>
                    <p:nvPicPr>
                      <p:cNvPr id="0" name="图片 1699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16145" y="3183179"/>
                        <a:ext cx="846227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24547" y="3171612"/>
          <a:ext cx="4857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6" name="Equation" r:id="rId17" imgW="5791200" imgH="5486400" progId="Equation.DSMT4">
                  <p:embed/>
                </p:oleObj>
              </mc:Choice>
              <mc:Fallback>
                <p:oleObj name="Equation" r:id="rId17" imgW="5791200" imgH="5486400" progId="Equation.DSMT4">
                  <p:embed/>
                  <p:pic>
                    <p:nvPicPr>
                      <p:cNvPr id="0" name="图片 169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24547" y="3171612"/>
                        <a:ext cx="48577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979734" y="3183178"/>
          <a:ext cx="3921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7" name="Equation" r:id="rId19" imgW="4572000" imgH="5791200" progId="Equation.DSMT4">
                  <p:embed/>
                </p:oleObj>
              </mc:Choice>
              <mc:Fallback>
                <p:oleObj name="Equation" r:id="rId19" imgW="4572000" imgH="5791200" progId="Equation.DSMT4">
                  <p:embed/>
                  <p:pic>
                    <p:nvPicPr>
                      <p:cNvPr id="0" name="图片 1699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79734" y="3183178"/>
                        <a:ext cx="392112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22017" y="3179551"/>
          <a:ext cx="339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8" name="Equation" r:id="rId21" imgW="3962400" imgH="5486400" progId="Equation.DSMT4">
                  <p:embed/>
                </p:oleObj>
              </mc:Choice>
              <mc:Fallback>
                <p:oleObj name="Equation" r:id="rId21" imgW="3962400" imgH="5486400" progId="Equation.DSMT4">
                  <p:embed/>
                  <p:pic>
                    <p:nvPicPr>
                      <p:cNvPr id="0" name="图片 1699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22017" y="3179551"/>
                        <a:ext cx="339725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542710" y="2794803"/>
          <a:ext cx="8334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" name="Equation" r:id="rId23" imgW="9753600" imgH="5486400" progId="Equation.DSMT4">
                  <p:embed/>
                </p:oleObj>
              </mc:Choice>
              <mc:Fallback>
                <p:oleObj name="Equation" r:id="rId23" imgW="9753600" imgH="5486400" progId="Equation.DSMT4">
                  <p:embed/>
                  <p:pic>
                    <p:nvPicPr>
                      <p:cNvPr id="0" name="图片 1699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42710" y="2794803"/>
                        <a:ext cx="833438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781539" y="3180245"/>
          <a:ext cx="3317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" name="Equation" r:id="rId25" imgW="3962400" imgH="5486400" progId="Equation.DSMT4">
                  <p:embed/>
                </p:oleObj>
              </mc:Choice>
              <mc:Fallback>
                <p:oleObj name="Equation" r:id="rId25" imgW="3962400" imgH="5486400" progId="Equation.DSMT4">
                  <p:embed/>
                  <p:pic>
                    <p:nvPicPr>
                      <p:cNvPr id="0" name="图片 1699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81539" y="3180245"/>
                        <a:ext cx="331787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736932" y="3850467"/>
          <a:ext cx="73165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1" name="Equation" r:id="rId27" imgW="8534400" imgH="5791200" progId="Equation.DSMT4">
                  <p:embed/>
                </p:oleObj>
              </mc:Choice>
              <mc:Fallback>
                <p:oleObj name="Equation" r:id="rId27" imgW="8534400" imgH="5791200" progId="Equation.DSMT4">
                  <p:embed/>
                  <p:pic>
                    <p:nvPicPr>
                      <p:cNvPr id="0" name="图片 170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6932" y="3850467"/>
                        <a:ext cx="731659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275899" y="3847600"/>
          <a:ext cx="3921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2" name="Equation" r:id="rId28" imgW="4572000" imgH="5486400" progId="Equation.DSMT4">
                  <p:embed/>
                </p:oleObj>
              </mc:Choice>
              <mc:Fallback>
                <p:oleObj name="Equation" r:id="rId28" imgW="4572000" imgH="5486400" progId="Equation.DSMT4">
                  <p:embed/>
                  <p:pic>
                    <p:nvPicPr>
                      <p:cNvPr id="0" name="图片 1700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275899" y="3847600"/>
                        <a:ext cx="392112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179728" y="3847600"/>
          <a:ext cx="73165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3" name="Equation" r:id="rId30" imgW="8534400" imgH="5791200" progId="Equation.DSMT4">
                  <p:embed/>
                </p:oleObj>
              </mc:Choice>
              <mc:Fallback>
                <p:oleObj name="Equation" r:id="rId30" imgW="8534400" imgH="5791200" progId="Equation.DSMT4">
                  <p:embed/>
                  <p:pic>
                    <p:nvPicPr>
                      <p:cNvPr id="0" name="图片 1700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79728" y="3847600"/>
                        <a:ext cx="731659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7451985" y="3834519"/>
          <a:ext cx="3921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" name="Equation" r:id="rId31" imgW="4572000" imgH="5486400" progId="Equation.DSMT4">
                  <p:embed/>
                </p:oleObj>
              </mc:Choice>
              <mc:Fallback>
                <p:oleObj name="Equation" r:id="rId31" imgW="4572000" imgH="5486400" progId="Equation.DSMT4">
                  <p:embed/>
                  <p:pic>
                    <p:nvPicPr>
                      <p:cNvPr id="0" name="图片 1700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451985" y="3834519"/>
                        <a:ext cx="392112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220189" y="4206066"/>
          <a:ext cx="73165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5" name="Equation" r:id="rId33" imgW="8534400" imgH="5791200" progId="Equation.DSMT4">
                  <p:embed/>
                </p:oleObj>
              </mc:Choice>
              <mc:Fallback>
                <p:oleObj name="Equation" r:id="rId33" imgW="8534400" imgH="5791200" progId="Equation.DSMT4">
                  <p:embed/>
                  <p:pic>
                    <p:nvPicPr>
                      <p:cNvPr id="0" name="图片 170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0189" y="4206066"/>
                        <a:ext cx="731659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密度聚类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616624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DBSCAN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思想</a:t>
            </a:r>
            <a:endParaRPr lang="en-US" altLang="zh-CN" dirty="0" smtClean="0"/>
          </a:p>
          <a:p>
            <a:pPr lvl="2"/>
            <a:r>
              <a:rPr lang="zh-CN" altLang="en-US" dirty="0"/>
              <a:t>将</a:t>
            </a:r>
            <a:r>
              <a:rPr lang="zh-CN" altLang="en-US" dirty="0" smtClean="0"/>
              <a:t>簇定义为由</a:t>
            </a:r>
            <a:r>
              <a:rPr lang="zh-CN" altLang="en-US" dirty="0"/>
              <a:t>密度可达关系导出的最大</a:t>
            </a:r>
            <a:r>
              <a:rPr lang="zh-CN" altLang="en-US" dirty="0" smtClean="0"/>
              <a:t>的密度</a:t>
            </a:r>
            <a:r>
              <a:rPr lang="zh-CN" altLang="en-US" dirty="0"/>
              <a:t>相连样本</a:t>
            </a:r>
            <a:r>
              <a:rPr lang="zh-CN" altLang="en-US" dirty="0" smtClean="0"/>
              <a:t>集合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给定</a:t>
            </a:r>
            <a:r>
              <a:rPr lang="zh-CN" altLang="en-US" dirty="0"/>
              <a:t>邻域</a:t>
            </a:r>
            <a:r>
              <a:rPr lang="zh-CN" altLang="en-US" dirty="0" smtClean="0"/>
              <a:t>参数</a:t>
            </a:r>
            <a:r>
              <a:rPr lang="en-US" altLang="zh-CN" dirty="0" smtClean="0"/>
              <a:t>                 </a:t>
            </a:r>
            <a:r>
              <a:rPr lang="zh-CN" altLang="en-US" dirty="0" smtClean="0"/>
              <a:t>，簇</a:t>
            </a:r>
            <a:r>
              <a:rPr lang="en-US" altLang="zh-CN" dirty="0" smtClean="0"/>
              <a:t>          </a:t>
            </a:r>
            <a:r>
              <a:rPr lang="zh-CN" altLang="en-US" dirty="0" smtClean="0"/>
              <a:t>满足以下条件</a:t>
            </a:r>
            <a:endParaRPr lang="en-US" altLang="zh-CN" dirty="0" smtClean="0"/>
          </a:p>
          <a:p>
            <a:pPr lvl="4"/>
            <a:r>
              <a:rPr lang="zh-CN" altLang="en-US" dirty="0"/>
              <a:t>连接</a:t>
            </a:r>
            <a:r>
              <a:rPr lang="zh-CN" altLang="en-US" dirty="0" smtClean="0"/>
              <a:t>性：                          密度相连</a:t>
            </a:r>
            <a:endParaRPr lang="en-US" altLang="zh-CN" dirty="0" smtClean="0"/>
          </a:p>
          <a:p>
            <a:pPr lvl="4"/>
            <a:r>
              <a:rPr lang="zh-CN" altLang="en-US" dirty="0"/>
              <a:t>最大</a:t>
            </a:r>
            <a:r>
              <a:rPr lang="zh-CN" altLang="en-US" dirty="0" smtClean="0"/>
              <a:t>性：</a:t>
            </a:r>
            <a:endParaRPr lang="en-US" altLang="zh-CN" dirty="0" smtClean="0"/>
          </a:p>
          <a:p>
            <a:pPr lvl="3"/>
            <a:r>
              <a:rPr lang="zh-CN" altLang="en-US" dirty="0"/>
              <a:t>不属于任何簇的</a:t>
            </a:r>
            <a:r>
              <a:rPr lang="zh-CN" altLang="en-US" dirty="0" smtClean="0"/>
              <a:t>样本认为</a:t>
            </a:r>
            <a:r>
              <a:rPr lang="zh-CN" altLang="en-US" dirty="0"/>
              <a:t>是</a:t>
            </a:r>
            <a:r>
              <a:rPr lang="zh-CN" altLang="en-US" dirty="0" smtClean="0"/>
              <a:t>噪声或异常样本</a:t>
            </a:r>
            <a:endParaRPr lang="en-US" altLang="zh-CN" dirty="0" smtClean="0"/>
          </a:p>
          <a:p>
            <a:pPr lvl="2"/>
            <a:r>
              <a:rPr lang="zh-CN" altLang="en-US" dirty="0" smtClean="0">
                <a:latin typeface="+mn-ea"/>
              </a:rPr>
              <a:t>如何从</a:t>
            </a:r>
            <a:r>
              <a:rPr lang="zh-CN" altLang="en-US" dirty="0">
                <a:latin typeface="+mn-ea"/>
              </a:rPr>
              <a:t>数据集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中找出满足以上性质的聚类簇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/>
              <a:t>若  </a:t>
            </a:r>
            <a:r>
              <a:rPr lang="zh-CN" altLang="en-US" dirty="0" smtClean="0"/>
              <a:t>为</a:t>
            </a:r>
            <a:r>
              <a:rPr lang="zh-CN" altLang="en-US" dirty="0"/>
              <a:t>核心对象，</a:t>
            </a:r>
            <a:r>
              <a:rPr lang="zh-CN" altLang="en-US" dirty="0" smtClean="0"/>
              <a:t>由 </a:t>
            </a:r>
            <a:r>
              <a:rPr lang="zh-CN" altLang="en-US" dirty="0" smtClean="0"/>
              <a:t> 密度</a:t>
            </a:r>
            <a:r>
              <a:rPr lang="zh-CN" altLang="en-US" dirty="0"/>
              <a:t>可达的所有样本组成的</a:t>
            </a:r>
            <a:r>
              <a:rPr lang="zh-CN" altLang="en-US" dirty="0" smtClean="0"/>
              <a:t>集合一定满足</a:t>
            </a:r>
            <a:r>
              <a:rPr lang="zh-CN" altLang="en-US" dirty="0"/>
              <a:t>连接性与最大</a:t>
            </a:r>
            <a:r>
              <a:rPr lang="zh-CN" altLang="en-US" dirty="0" smtClean="0"/>
              <a:t>性</a:t>
            </a:r>
            <a:endParaRPr lang="en-US" altLang="zh-CN" dirty="0"/>
          </a:p>
          <a:p>
            <a:pPr lvl="4"/>
            <a:r>
              <a:rPr lang="zh-CN" altLang="en-US" dirty="0"/>
              <a:t>任选数据集中</a:t>
            </a:r>
            <a:r>
              <a:rPr lang="zh-CN" altLang="en-US" dirty="0" smtClean="0"/>
              <a:t>的核心</a:t>
            </a:r>
            <a:r>
              <a:rPr lang="zh-CN" altLang="en-US" dirty="0"/>
              <a:t>对象</a:t>
            </a:r>
            <a:r>
              <a:rPr lang="zh-CN" altLang="en-US" dirty="0" smtClean="0"/>
              <a:t>为种子，由此</a:t>
            </a:r>
            <a:r>
              <a:rPr lang="zh-CN" altLang="en-US" dirty="0"/>
              <a:t>出发确定相应的聚类</a:t>
            </a:r>
            <a:r>
              <a:rPr lang="zh-CN" altLang="en-US" dirty="0" smtClean="0"/>
              <a:t>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26535" y="2529455"/>
          <a:ext cx="1261343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0" name="Equation" r:id="rId1" imgW="17373600" imgH="4876800" progId="Equation.DSMT4">
                  <p:embed/>
                </p:oleObj>
              </mc:Choice>
              <mc:Fallback>
                <p:oleObj name="Equation" r:id="rId1" imgW="17373600" imgH="4876800" progId="Equation.DSMT4">
                  <p:embed/>
                  <p:pic>
                    <p:nvPicPr>
                      <p:cNvPr id="0" name="图片 175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6535" y="2529455"/>
                        <a:ext cx="1261343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724128" y="2529457"/>
          <a:ext cx="684000" cy="3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1" name="Equation" r:id="rId3" imgW="9448800" imgH="4572000" progId="Equation.DSMT4">
                  <p:embed/>
                </p:oleObj>
              </mc:Choice>
              <mc:Fallback>
                <p:oleObj name="Equation" r:id="rId3" imgW="9448800" imgH="4572000" progId="Equation.DSMT4">
                  <p:embed/>
                  <p:pic>
                    <p:nvPicPr>
                      <p:cNvPr id="0" name="图片 1757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4128" y="2529457"/>
                        <a:ext cx="684000" cy="33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790668" y="2814985"/>
          <a:ext cx="198133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2" name="Equation" r:id="rId5" imgW="29565600" imgH="5791200" progId="Equation.DSMT4">
                  <p:embed/>
                </p:oleObj>
              </mc:Choice>
              <mc:Fallback>
                <p:oleObj name="Equation" r:id="rId5" imgW="29565600" imgH="5791200" progId="Equation.DSMT4">
                  <p:embed/>
                  <p:pic>
                    <p:nvPicPr>
                      <p:cNvPr id="0" name="图片 175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0668" y="2814985"/>
                        <a:ext cx="1981336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790667" y="3130557"/>
          <a:ext cx="338617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3" name="Equation" r:id="rId7" imgW="46329600" imgH="5791200" progId="Equation.DSMT4">
                  <p:embed/>
                </p:oleObj>
              </mc:Choice>
              <mc:Fallback>
                <p:oleObj name="Equation" r:id="rId7" imgW="46329600" imgH="5791200" progId="Equation.DSMT4">
                  <p:embed/>
                  <p:pic>
                    <p:nvPicPr>
                      <p:cNvPr id="0" name="图片 1757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0667" y="3130557"/>
                        <a:ext cx="3386178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577108" y="4149080"/>
          <a:ext cx="2667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4" name="Equation" r:id="rId9" imgW="3352800" imgH="3352800" progId="Equation.DSMT4">
                  <p:embed/>
                </p:oleObj>
              </mc:Choice>
              <mc:Fallback>
                <p:oleObj name="Equation" r:id="rId9" imgW="3352800" imgH="3352800" progId="Equation.DSMT4">
                  <p:embed/>
                  <p:pic>
                    <p:nvPicPr>
                      <p:cNvPr id="0" name="图片 1757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77108" y="4149080"/>
                        <a:ext cx="26670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521324" y="4149080"/>
          <a:ext cx="2667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5" name="Equation" r:id="rId11" imgW="3352800" imgH="3352800" progId="Equation.DSMT4">
                  <p:embed/>
                </p:oleObj>
              </mc:Choice>
              <mc:Fallback>
                <p:oleObj name="Equation" r:id="rId11" imgW="3352800" imgH="3352800" progId="Equation.DSMT4">
                  <p:embed/>
                  <p:pic>
                    <p:nvPicPr>
                      <p:cNvPr id="0" name="图片 1757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21324" y="4149080"/>
                        <a:ext cx="26670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密度聚类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DBSCAN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768" y="875109"/>
            <a:ext cx="4509128" cy="5940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488" y="868288"/>
            <a:ext cx="5916912" cy="59450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密度聚类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DBSCAN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9.6 </a:t>
            </a:r>
            <a:r>
              <a:rPr lang="zh-CN" altLang="en-US" dirty="0" smtClean="0"/>
              <a:t>层次</a:t>
            </a:r>
            <a:r>
              <a:rPr lang="zh-CN" altLang="en-US" dirty="0"/>
              <a:t>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特点</a:t>
            </a:r>
            <a:r>
              <a:rPr lang="en-US" altLang="zh-CN" dirty="0" smtClean="0"/>
              <a:t> 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假设：能够</a:t>
            </a:r>
            <a:r>
              <a:rPr lang="zh-CN" altLang="en-US" dirty="0"/>
              <a:t>产生不同粒度的聚类结果</a:t>
            </a:r>
            <a:endParaRPr lang="zh-CN" altLang="en-US" dirty="0"/>
          </a:p>
          <a:p>
            <a:pPr lvl="1"/>
            <a:r>
              <a:rPr lang="zh-CN" altLang="en-US" dirty="0" smtClean="0"/>
              <a:t>过程</a:t>
            </a:r>
            <a:r>
              <a:rPr lang="zh-CN" altLang="en-US" dirty="0" smtClean="0"/>
              <a:t>：试图在</a:t>
            </a:r>
            <a:r>
              <a:rPr lang="zh-CN" altLang="en-US" dirty="0"/>
              <a:t>不同层次对数据集进行划分，从而形成树形的聚类结构</a:t>
            </a:r>
            <a:endParaRPr lang="zh-CN" altLang="en-US" dirty="0"/>
          </a:p>
          <a:p>
            <a:pPr lvl="1"/>
            <a:r>
              <a:rPr lang="zh-CN" altLang="en-US" dirty="0" smtClean="0">
                <a:latin typeface="+mn-ea"/>
              </a:rPr>
              <a:t>代表：</a:t>
            </a:r>
            <a:r>
              <a:rPr lang="en-US" altLang="zh-CN" dirty="0" smtClean="0">
                <a:latin typeface="+mn-ea"/>
              </a:rPr>
              <a:t>AGNES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自底向上</a:t>
            </a:r>
            <a:r>
              <a:rPr lang="zh-CN" altLang="en-US" dirty="0">
                <a:latin typeface="+mn-ea"/>
              </a:rPr>
              <a:t>聚合策略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DIANA (</a:t>
            </a:r>
            <a:r>
              <a:rPr lang="zh-CN" altLang="en-US" dirty="0" smtClean="0">
                <a:latin typeface="+mn-ea"/>
              </a:rPr>
              <a:t>自顶向下</a:t>
            </a:r>
            <a:r>
              <a:rPr lang="zh-CN" altLang="en-US" dirty="0">
                <a:latin typeface="+mn-ea"/>
              </a:rPr>
              <a:t>分拆策略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AGNES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思想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将每个</a:t>
            </a:r>
            <a:r>
              <a:rPr lang="zh-CN" altLang="en-US" dirty="0">
                <a:latin typeface="+mn-ea"/>
              </a:rPr>
              <a:t>样本看作一个初始聚类</a:t>
            </a:r>
            <a:r>
              <a:rPr lang="zh-CN" altLang="en-US" dirty="0" smtClean="0">
                <a:latin typeface="+mn-ea"/>
              </a:rPr>
              <a:t>簇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每</a:t>
            </a:r>
            <a:r>
              <a:rPr lang="zh-CN" altLang="en-US" dirty="0">
                <a:latin typeface="+mn-ea"/>
              </a:rPr>
              <a:t>一步中找出距离最近的两个聚类簇进行</a:t>
            </a:r>
            <a:r>
              <a:rPr lang="zh-CN" altLang="en-US" dirty="0" smtClean="0">
                <a:latin typeface="+mn-ea"/>
              </a:rPr>
              <a:t>合并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不断</a:t>
            </a:r>
            <a:r>
              <a:rPr lang="zh-CN" altLang="en-US" dirty="0">
                <a:latin typeface="+mn-ea"/>
              </a:rPr>
              <a:t>重复，直至达到预设的聚类簇</a:t>
            </a:r>
            <a:r>
              <a:rPr lang="zh-CN" altLang="en-US" dirty="0" smtClean="0">
                <a:latin typeface="+mn-ea"/>
              </a:rPr>
              <a:t>个数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关键问题是</a:t>
            </a:r>
            <a:r>
              <a:rPr lang="zh-CN" altLang="en-US" dirty="0">
                <a:latin typeface="+mn-ea"/>
              </a:rPr>
              <a:t>如何计算聚类簇之间的距离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</a:t>
            </a:r>
            <a:r>
              <a:rPr lang="zh-CN" altLang="en-US" dirty="0"/>
              <a:t>层次聚类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AGNES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思想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聚类簇之间的距离</a:t>
            </a:r>
            <a:r>
              <a:rPr lang="zh-CN" altLang="en-US" dirty="0" smtClean="0">
                <a:latin typeface="+mn-ea"/>
              </a:rPr>
              <a:t>计算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最小距离：</a:t>
            </a:r>
            <a:endParaRPr lang="en-US" altLang="zh-CN" dirty="0" smtClean="0">
              <a:latin typeface="+mn-ea"/>
            </a:endParaRPr>
          </a:p>
          <a:p>
            <a:pPr lvl="4">
              <a:spcBef>
                <a:spcPts val="600"/>
              </a:spcBef>
            </a:pPr>
            <a:r>
              <a:rPr lang="zh-CN" altLang="en-US" dirty="0">
                <a:latin typeface="+mn-ea"/>
              </a:rPr>
              <a:t>由两个簇的最近样本决定</a:t>
            </a:r>
            <a:endParaRPr lang="en-US" altLang="zh-CN" dirty="0">
              <a:latin typeface="+mn-ea"/>
            </a:endParaRPr>
          </a:p>
          <a:p>
            <a:pPr lvl="3">
              <a:spcBef>
                <a:spcPts val="600"/>
              </a:spcBef>
            </a:pPr>
            <a:r>
              <a:rPr lang="zh-CN" altLang="en-US" dirty="0">
                <a:latin typeface="+mn-ea"/>
              </a:rPr>
              <a:t>最大</a:t>
            </a:r>
            <a:r>
              <a:rPr lang="zh-CN" altLang="en-US" dirty="0" smtClean="0">
                <a:latin typeface="+mn-ea"/>
              </a:rPr>
              <a:t>距离：</a:t>
            </a:r>
            <a:endParaRPr lang="en-US" altLang="zh-CN" dirty="0" smtClean="0">
              <a:latin typeface="+mn-ea"/>
            </a:endParaRPr>
          </a:p>
          <a:p>
            <a:pPr lvl="4">
              <a:spcBef>
                <a:spcPts val="600"/>
              </a:spcBef>
            </a:pPr>
            <a:r>
              <a:rPr lang="zh-CN" altLang="en-US" dirty="0">
                <a:latin typeface="+mn-ea"/>
              </a:rPr>
              <a:t>由两个簇的最远样本决定</a:t>
            </a:r>
            <a:endParaRPr lang="en-US" altLang="zh-CN" dirty="0">
              <a:latin typeface="+mn-ea"/>
            </a:endParaRPr>
          </a:p>
          <a:p>
            <a:pPr lvl="3">
              <a:spcBef>
                <a:spcPts val="600"/>
              </a:spcBef>
            </a:pPr>
            <a:r>
              <a:rPr lang="zh-CN" altLang="en-US" dirty="0">
                <a:latin typeface="+mn-ea"/>
              </a:rPr>
              <a:t>平均距离</a:t>
            </a:r>
            <a:r>
              <a:rPr lang="zh-CN" altLang="en-US" dirty="0" smtClean="0">
                <a:latin typeface="+mn-ea"/>
              </a:rPr>
              <a:t>：</a:t>
            </a:r>
            <a:endParaRPr lang="en-US" altLang="zh-CN" dirty="0" smtClean="0">
              <a:latin typeface="+mn-ea"/>
            </a:endParaRPr>
          </a:p>
          <a:p>
            <a:pPr lvl="4">
              <a:spcBef>
                <a:spcPts val="1200"/>
              </a:spcBef>
            </a:pPr>
            <a:r>
              <a:rPr lang="zh-CN" altLang="en-US" dirty="0">
                <a:latin typeface="+mn-ea"/>
              </a:rPr>
              <a:t>由两个簇的所有样本共同决定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当聚类簇距离</a:t>
            </a:r>
            <a:r>
              <a:rPr lang="zh-CN" altLang="en-US" dirty="0" smtClean="0">
                <a:latin typeface="+mn-ea"/>
              </a:rPr>
              <a:t>由最小距离、</a:t>
            </a:r>
            <a:r>
              <a:rPr lang="zh-CN" altLang="en-US" dirty="0">
                <a:latin typeface="+mn-ea"/>
              </a:rPr>
              <a:t>最大</a:t>
            </a:r>
            <a:r>
              <a:rPr lang="zh-CN" altLang="en-US" dirty="0" smtClean="0">
                <a:latin typeface="+mn-ea"/>
              </a:rPr>
              <a:t>距离、</a:t>
            </a:r>
            <a:r>
              <a:rPr lang="zh-CN" altLang="en-US" dirty="0">
                <a:latin typeface="+mn-ea"/>
              </a:rPr>
              <a:t>平均距离</a:t>
            </a:r>
            <a:r>
              <a:rPr lang="zh-CN" altLang="en-US" dirty="0" smtClean="0">
                <a:latin typeface="+mn-ea"/>
              </a:rPr>
              <a:t>计算</a:t>
            </a:r>
            <a:r>
              <a:rPr lang="zh-CN" altLang="en-US" dirty="0">
                <a:latin typeface="+mn-ea"/>
              </a:rPr>
              <a:t>时，</a:t>
            </a:r>
            <a:r>
              <a:rPr lang="en-US" altLang="zh-CN" dirty="0">
                <a:latin typeface="+mn-ea"/>
              </a:rPr>
              <a:t>AGNES</a:t>
            </a:r>
            <a:r>
              <a:rPr lang="zh-CN" altLang="en-US" dirty="0">
                <a:latin typeface="+mn-ea"/>
              </a:rPr>
              <a:t>算法被相应地</a:t>
            </a:r>
            <a:r>
              <a:rPr lang="zh-CN" altLang="en-US" dirty="0" smtClean="0">
                <a:latin typeface="+mn-ea"/>
              </a:rPr>
              <a:t>称为单链接</a:t>
            </a:r>
            <a:r>
              <a:rPr lang="en-US" altLang="zh-CN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single-linkage</a:t>
            </a:r>
            <a:r>
              <a:rPr lang="en-US" altLang="zh-CN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+mn-ea"/>
              </a:rPr>
              <a:t>，全链接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complete-linkage)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dirty="0" smtClean="0">
                <a:latin typeface="+mn-ea"/>
              </a:rPr>
              <a:t>均链接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average-linkage)</a:t>
            </a:r>
            <a:r>
              <a:rPr lang="zh-CN" altLang="en-US" dirty="0" smtClean="0">
                <a:latin typeface="+mn-ea"/>
              </a:rPr>
              <a:t>算法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38418" y="2168912"/>
          <a:ext cx="266618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name="Equation" r:id="rId1" imgW="42672000" imgH="7315200" progId="Equation.DSMT4">
                  <p:embed/>
                </p:oleObj>
              </mc:Choice>
              <mc:Fallback>
                <p:oleObj name="Equation" r:id="rId1" imgW="42672000" imgH="7315200" progId="Equation.DSMT4">
                  <p:embed/>
                  <p:pic>
                    <p:nvPicPr>
                      <p:cNvPr id="0" name="图片 185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8418" y="2168912"/>
                        <a:ext cx="2666184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35896" y="2924944"/>
          <a:ext cx="26844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Equation" r:id="rId3" imgW="42976800" imgH="7620000" progId="Equation.DSMT4">
                  <p:embed/>
                </p:oleObj>
              </mc:Choice>
              <mc:Fallback>
                <p:oleObj name="Equation" r:id="rId3" imgW="42976800" imgH="7620000" progId="Equation.DSMT4">
                  <p:embed/>
                  <p:pic>
                    <p:nvPicPr>
                      <p:cNvPr id="0" name="图片 185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896" y="2924944"/>
                        <a:ext cx="2684463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630637" y="3573016"/>
          <a:ext cx="374967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Equation" r:id="rId5" imgW="60045600" imgH="9753600" progId="Equation.DSMT4">
                  <p:embed/>
                </p:oleObj>
              </mc:Choice>
              <mc:Fallback>
                <p:oleObj name="Equation" r:id="rId5" imgW="60045600" imgH="9753600" progId="Equation.DSMT4">
                  <p:embed/>
                  <p:pic>
                    <p:nvPicPr>
                      <p:cNvPr id="0" name="图片 185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0637" y="3573016"/>
                        <a:ext cx="3749675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大括号 8"/>
          <p:cNvSpPr/>
          <p:nvPr/>
        </p:nvSpPr>
        <p:spPr bwMode="auto">
          <a:xfrm>
            <a:off x="6660232" y="2270500"/>
            <a:ext cx="288032" cy="1302515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9961" y="2638653"/>
            <a:ext cx="11404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 smtClean="0">
                <a:solidFill>
                  <a:srgbClr val="0000FF"/>
                </a:solidFill>
              </a:rPr>
              <a:t>相应的单链接算法</a:t>
            </a:r>
            <a:endParaRPr lang="zh-CN" altLang="en-US" sz="1600" b="0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10038" y="3645024"/>
            <a:ext cx="14544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0000FF"/>
                </a:solidFill>
              </a:rPr>
              <a:t>相应的</a:t>
            </a:r>
            <a:r>
              <a:rPr lang="zh-CN" altLang="en-US" sz="1600" b="0" dirty="0" smtClean="0">
                <a:solidFill>
                  <a:srgbClr val="0000FF"/>
                </a:solidFill>
              </a:rPr>
              <a:t>全链接或均链接算法</a:t>
            </a:r>
            <a:endParaRPr lang="zh-CN" altLang="en-US" sz="1600" b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</a:t>
            </a:r>
            <a:r>
              <a:rPr lang="zh-CN" altLang="en-US" dirty="0"/>
              <a:t>层次聚类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AGNES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算法流程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54137"/>
          <a:stretch>
            <a:fillRect/>
          </a:stretch>
        </p:blipFill>
        <p:spPr>
          <a:xfrm>
            <a:off x="288008" y="1854885"/>
            <a:ext cx="4356000" cy="3374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46088"/>
          <a:stretch>
            <a:fillRect/>
          </a:stretch>
        </p:blipFill>
        <p:spPr>
          <a:xfrm>
            <a:off x="4608488" y="2492896"/>
            <a:ext cx="4356000" cy="39664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23728" y="3185218"/>
            <a:ext cx="2018213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0" dirty="0">
                <a:solidFill>
                  <a:srgbClr val="0000FF"/>
                </a:solidFill>
              </a:rPr>
              <a:t>初始化单样本聚类簇</a:t>
            </a:r>
            <a:endParaRPr lang="zh-CN" altLang="en-US" sz="1600" b="0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59832" y="4185896"/>
            <a:ext cx="122413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0" dirty="0">
                <a:solidFill>
                  <a:srgbClr val="0000FF"/>
                </a:solidFill>
              </a:rPr>
              <a:t>初始化聚类簇距离矩阵</a:t>
            </a:r>
            <a:endParaRPr lang="zh-CN" altLang="en-US" sz="1600" b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1228329"/>
            <a:ext cx="7721679" cy="55130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</a:t>
            </a:r>
            <a:r>
              <a:rPr lang="zh-CN" altLang="en-US" dirty="0"/>
              <a:t>层次聚类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AGNES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</a:t>
            </a:r>
            <a:r>
              <a:rPr lang="zh-CN" altLang="en-US" dirty="0"/>
              <a:t>层次聚类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AGNES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例子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43" y="908720"/>
            <a:ext cx="5803618" cy="5868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3545</Words>
  <Application>WPS 演示</Application>
  <PresentationFormat>全屏显示(4:3)</PresentationFormat>
  <Paragraphs>508</Paragraphs>
  <Slides>34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131</vt:i4>
      </vt:variant>
      <vt:variant>
        <vt:lpstr>幻灯片标题</vt:lpstr>
      </vt:variant>
      <vt:variant>
        <vt:i4>34</vt:i4>
      </vt:variant>
    </vt:vector>
  </HeadingPairs>
  <TitlesOfParts>
    <vt:vector size="173" baseType="lpstr">
      <vt:lpstr>Arial</vt:lpstr>
      <vt:lpstr>宋体</vt:lpstr>
      <vt:lpstr>Wingdings</vt:lpstr>
      <vt:lpstr>Tahoma</vt:lpstr>
      <vt:lpstr>微软雅黑</vt:lpstr>
      <vt:lpstr>Arial Unicode MS</vt:lpstr>
      <vt:lpstr>Times New Roman</vt:lpstr>
      <vt:lpstr>课件PPT主题1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第9章 聚类</vt:lpstr>
      <vt:lpstr>主要内容</vt:lpstr>
      <vt:lpstr>9.1 聚类任务</vt:lpstr>
      <vt:lpstr>9.1 聚类任务</vt:lpstr>
      <vt:lpstr>9.2 性能度量</vt:lpstr>
      <vt:lpstr>9.2 性能度量</vt:lpstr>
      <vt:lpstr>9.2 性能度量</vt:lpstr>
      <vt:lpstr>9.2 性能度量</vt:lpstr>
      <vt:lpstr>9.3 距离计算</vt:lpstr>
      <vt:lpstr>9.3 距离计算</vt:lpstr>
      <vt:lpstr>9.3 距离计算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9.4 原型聚类</vt:lpstr>
      <vt:lpstr>9.5 密度聚类</vt:lpstr>
      <vt:lpstr>9.5 密度聚类</vt:lpstr>
      <vt:lpstr>9.5 密度聚类</vt:lpstr>
      <vt:lpstr>9.5 密度聚类</vt:lpstr>
      <vt:lpstr>9.5 密度聚类</vt:lpstr>
      <vt:lpstr>9.6 层次聚类</vt:lpstr>
      <vt:lpstr>9.6 层次聚类</vt:lpstr>
      <vt:lpstr>9.6 层次聚类</vt:lpstr>
      <vt:lpstr>9.6 层次聚类</vt:lpstr>
      <vt:lpstr>9.6 层次聚类</vt:lpstr>
      <vt:lpstr>作业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MNBVC</cp:lastModifiedBy>
  <cp:revision>1155</cp:revision>
  <dcterms:created xsi:type="dcterms:W3CDTF">2003-07-20T06:30:00Z</dcterms:created>
  <dcterms:modified xsi:type="dcterms:W3CDTF">2021-09-22T13:11:18Z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