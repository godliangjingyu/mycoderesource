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49"/>
  </p:handoutMasterIdLst>
  <p:sldIdLst>
    <p:sldId id="530" r:id="rId3"/>
    <p:sldId id="568" r:id="rId4"/>
    <p:sldId id="569" r:id="rId5"/>
    <p:sldId id="588" r:id="rId6"/>
    <p:sldId id="585" r:id="rId8"/>
    <p:sldId id="586" r:id="rId9"/>
    <p:sldId id="587" r:id="rId10"/>
    <p:sldId id="589" r:id="rId11"/>
    <p:sldId id="624" r:id="rId12"/>
    <p:sldId id="590" r:id="rId13"/>
    <p:sldId id="594" r:id="rId14"/>
    <p:sldId id="591" r:id="rId15"/>
    <p:sldId id="595" r:id="rId16"/>
    <p:sldId id="592" r:id="rId17"/>
    <p:sldId id="593" r:id="rId18"/>
    <p:sldId id="596" r:id="rId19"/>
    <p:sldId id="625" r:id="rId20"/>
    <p:sldId id="597" r:id="rId21"/>
    <p:sldId id="626" r:id="rId22"/>
    <p:sldId id="598" r:id="rId23"/>
    <p:sldId id="627" r:id="rId24"/>
    <p:sldId id="599" r:id="rId25"/>
    <p:sldId id="618" r:id="rId26"/>
    <p:sldId id="600" r:id="rId27"/>
    <p:sldId id="601" r:id="rId28"/>
    <p:sldId id="602" r:id="rId29"/>
    <p:sldId id="619" r:id="rId30"/>
    <p:sldId id="620" r:id="rId31"/>
    <p:sldId id="603" r:id="rId32"/>
    <p:sldId id="604" r:id="rId33"/>
    <p:sldId id="605" r:id="rId34"/>
    <p:sldId id="621" r:id="rId35"/>
    <p:sldId id="606" r:id="rId36"/>
    <p:sldId id="607" r:id="rId37"/>
    <p:sldId id="608" r:id="rId38"/>
    <p:sldId id="609" r:id="rId39"/>
    <p:sldId id="610" r:id="rId40"/>
    <p:sldId id="611" r:id="rId41"/>
    <p:sldId id="612" r:id="rId42"/>
    <p:sldId id="622" r:id="rId43"/>
    <p:sldId id="613" r:id="rId44"/>
    <p:sldId id="623" r:id="rId45"/>
    <p:sldId id="614" r:id="rId46"/>
    <p:sldId id="615" r:id="rId47"/>
    <p:sldId id="616" r:id="rId48"/>
  </p:sldIdLst>
  <p:sldSz cx="9144000" cy="6858000" type="screen4x3"/>
  <p:notesSz cx="6858000" cy="9144000"/>
  <p:defaultTextStyle>
    <a:defPPr>
      <a:defRPr lang="zh-CN"/>
    </a:defPPr>
    <a:lvl1pPr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1pPr>
    <a:lvl2pPr marL="4572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2pPr>
    <a:lvl3pPr marL="9144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3pPr>
    <a:lvl4pPr marL="13716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4pPr>
    <a:lvl5pPr marL="18288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FF00"/>
    <a:srgbClr val="0000FF"/>
    <a:srgbClr val="C8FFC8"/>
    <a:srgbClr val="C8C8FF"/>
    <a:srgbClr val="FFC8C8"/>
    <a:srgbClr val="FF8080"/>
    <a:srgbClr val="FF0000"/>
    <a:srgbClr val="000000"/>
    <a:srgbClr val="B5E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9" autoAdjust="0"/>
    <p:restoredTop sz="62273" autoAdjust="0"/>
  </p:normalViewPr>
  <p:slideViewPr>
    <p:cSldViewPr>
      <p:cViewPr varScale="1">
        <p:scale>
          <a:sx n="57" d="100"/>
          <a:sy n="57" d="100"/>
        </p:scale>
        <p:origin x="66" y="7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58.wmf"/><Relationship Id="rId8" Type="http://schemas.openxmlformats.org/officeDocument/2006/relationships/image" Target="../media/image57.wmf"/><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1" Type="http://schemas.openxmlformats.org/officeDocument/2006/relationships/image" Target="../media/image60.wmf"/><Relationship Id="rId10" Type="http://schemas.openxmlformats.org/officeDocument/2006/relationships/image" Target="../media/image59.wmf"/><Relationship Id="rId1" Type="http://schemas.openxmlformats.org/officeDocument/2006/relationships/image" Target="../media/image50.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image" Target="../media/image68.wmf"/><Relationship Id="rId7" Type="http://schemas.openxmlformats.org/officeDocument/2006/relationships/image" Target="../media/image67.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0.wmf"/><Relationship Id="rId3" Type="http://schemas.openxmlformats.org/officeDocument/2006/relationships/image" Target="../media/image64.wmf"/><Relationship Id="rId2" Type="http://schemas.openxmlformats.org/officeDocument/2006/relationships/image" Target="../media/image63.wmf"/><Relationship Id="rId12" Type="http://schemas.openxmlformats.org/officeDocument/2006/relationships/image" Target="../media/image72.wmf"/><Relationship Id="rId11" Type="http://schemas.openxmlformats.org/officeDocument/2006/relationships/image" Target="../media/image71.wmf"/><Relationship Id="rId10" Type="http://schemas.openxmlformats.org/officeDocument/2006/relationships/image" Target="../media/image70.wmf"/><Relationship Id="rId1" Type="http://schemas.openxmlformats.org/officeDocument/2006/relationships/image" Target="../media/image62.w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76.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68.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73.wmf"/></Relationships>
</file>

<file path=ppt/drawings/_rels/vmlDrawing17.vml.rels><?xml version="1.0" encoding="UTF-8" standalone="yes"?>
<Relationships xmlns="http://schemas.openxmlformats.org/package/2006/relationships"><Relationship Id="rId7" Type="http://schemas.openxmlformats.org/officeDocument/2006/relationships/image" Target="../media/image83.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83.wmf"/><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22.vml.rels><?xml version="1.0" encoding="UTF-8" standalone="yes"?>
<Relationships xmlns="http://schemas.openxmlformats.org/package/2006/relationships"><Relationship Id="rId7" Type="http://schemas.openxmlformats.org/officeDocument/2006/relationships/image" Target="../media/image105.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105.wmf"/><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10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9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29901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95B01064-FCC8-4740-9ED9-11F36E7CF288}"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2969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969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4DF57427-B8B5-4D24-A9D7-9D6F6382E6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我们实际希望的，是在新样本上能表现得很好的学习器</a:t>
            </a:r>
            <a:endParaRPr lang="en-US" altLang="zh-CN" dirty="0" smtClean="0"/>
          </a:p>
          <a:p>
            <a:endParaRPr lang="en-US" altLang="zh-CN" dirty="0" smtClean="0"/>
          </a:p>
          <a:p>
            <a:r>
              <a:rPr lang="zh-CN" altLang="en-US" dirty="0" smtClean="0"/>
              <a:t>为了达到这个目的，应该</a:t>
            </a:r>
            <a:r>
              <a:rPr lang="zh-CN" altLang="en-US" b="1" dirty="0" smtClean="0"/>
              <a:t>从训练样本中尽可能学出适用于所有潜在样本的“普遍规律”</a:t>
            </a:r>
            <a:r>
              <a:rPr lang="zh-CN" altLang="en-US" dirty="0" smtClean="0"/>
              <a:t>，这样才能在遇到新样本时做出正确的判别</a:t>
            </a:r>
            <a:r>
              <a:rPr lang="en-US" altLang="zh-CN" dirty="0" smtClean="0"/>
              <a:t>.</a:t>
            </a:r>
            <a:endParaRPr lang="en-US" altLang="zh-CN" dirty="0" smtClean="0"/>
          </a:p>
          <a:p>
            <a:endParaRPr lang="en-US" altLang="zh-CN" dirty="0" smtClean="0"/>
          </a:p>
          <a:p>
            <a:r>
              <a:rPr lang="zh-CN" altLang="en-US" dirty="0" smtClean="0"/>
              <a:t>然而，当学习器把训练样本学得“太好”了的时候，很可能己经把训练样本自身的一些特点当作了所有潜在样本都会具有的一般性质，这样就会导致泛化性能下降</a:t>
            </a:r>
            <a:r>
              <a:rPr lang="en-US" altLang="zh-CN" dirty="0" smtClean="0"/>
              <a:t>.</a:t>
            </a:r>
            <a:r>
              <a:rPr lang="zh-CN" altLang="en-US" dirty="0" smtClean="0"/>
              <a:t>这种现象在机器学习中称为“过拟合”</a:t>
            </a:r>
            <a:r>
              <a:rPr lang="en-US" altLang="zh-CN" dirty="0" smtClean="0"/>
              <a:t>(overfitting).</a:t>
            </a:r>
            <a:endParaRPr lang="en-US" altLang="zh-CN" dirty="0" smtClean="0"/>
          </a:p>
          <a:p>
            <a:endParaRPr lang="en-US" altLang="zh-CN" dirty="0" smtClean="0"/>
          </a:p>
          <a:p>
            <a:r>
              <a:rPr lang="zh-CN" altLang="en-US" dirty="0" smtClean="0"/>
              <a:t>与“过拟合”相对的是“欠拟合”</a:t>
            </a:r>
            <a:r>
              <a:rPr lang="en-US" altLang="zh-CN" dirty="0" smtClean="0"/>
              <a:t>(</a:t>
            </a:r>
            <a:r>
              <a:rPr lang="en-US" altLang="zh-CN" dirty="0" err="1" smtClean="0"/>
              <a:t>underfitting</a:t>
            </a:r>
            <a:r>
              <a:rPr lang="en-US" altLang="zh-CN" dirty="0" smtClean="0"/>
              <a:t>)</a:t>
            </a:r>
            <a:r>
              <a:rPr lang="zh-CN" altLang="en-US" dirty="0" smtClean="0"/>
              <a:t>，这是指对训练样本的一般性质尚未学好</a:t>
            </a:r>
            <a:r>
              <a:rPr lang="en-US" altLang="zh-CN" dirty="0" smtClean="0"/>
              <a:t>.</a:t>
            </a:r>
            <a:r>
              <a:rPr lang="zh-CN" altLang="en-US" dirty="0" smtClean="0"/>
              <a:t>图</a:t>
            </a:r>
            <a:r>
              <a:rPr lang="en-US" altLang="zh-CN" dirty="0" smtClean="0"/>
              <a:t>2.1</a:t>
            </a:r>
            <a:r>
              <a:rPr lang="zh-CN" altLang="en-US" dirty="0" smtClean="0"/>
              <a:t>给出了关于过拟合与欠拟合的一个便于直观理解的类比</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如何减少过拟合，有多种方法，先想想有什么方法。</a:t>
            </a:r>
            <a:endParaRPr lang="en-US" altLang="zh-CN" dirty="0" smtClean="0"/>
          </a:p>
          <a:p>
            <a:endParaRPr lang="en-US" altLang="zh-CN" dirty="0" smtClean="0"/>
          </a:p>
          <a:p>
            <a:r>
              <a:rPr lang="zh-CN" altLang="en-US" dirty="0" smtClean="0"/>
              <a:t>有关减弱过拟合的方法，将在后面的算法中介绍。在做这些之前，我们需要做什么？（度量过拟合）</a:t>
            </a:r>
            <a:endParaRPr lang="en-US" altLang="zh-CN" dirty="0" smtClean="0"/>
          </a:p>
          <a:p>
            <a:endParaRPr lang="en-US" altLang="zh-CN" dirty="0" smtClean="0"/>
          </a:p>
          <a:p>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训练集、测试集</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我们希望评估的是用</a:t>
            </a:r>
            <a:r>
              <a:rPr lang="en-US" altLang="zh-CN" dirty="0" smtClean="0"/>
              <a:t>D</a:t>
            </a:r>
            <a:r>
              <a:rPr lang="zh-CN" altLang="en-US" dirty="0" smtClean="0"/>
              <a:t>训练出的模型</a:t>
            </a:r>
            <a:r>
              <a:rPr lang="en-US" altLang="zh-CN" dirty="0" smtClean="0"/>
              <a:t>.</a:t>
            </a:r>
            <a:r>
              <a:rPr lang="zh-CN" altLang="en-US" dirty="0" smtClean="0"/>
              <a:t>但在留出法和交叉验证法中，由于保留了一部分样本用于测试，因此实际评估的模型所使用的训练集比</a:t>
            </a:r>
            <a:r>
              <a:rPr lang="en-US" altLang="zh-CN" dirty="0" smtClean="0"/>
              <a:t>D</a:t>
            </a:r>
            <a:r>
              <a:rPr lang="zh-CN" altLang="en-US" dirty="0" smtClean="0"/>
              <a:t>小，这必然会引入一些因训练样本规模不同而导致的估计偏差</a:t>
            </a:r>
            <a:r>
              <a:rPr lang="en-US" altLang="zh-CN" dirty="0" smtClean="0"/>
              <a:t>.</a:t>
            </a:r>
            <a:r>
              <a:rPr lang="zh-CN" altLang="en-US" dirty="0" smtClean="0"/>
              <a:t>留一法受训练样本规模变化的影响较小，但计算复杂度又太高了</a:t>
            </a:r>
            <a:r>
              <a:rPr lang="en-US" altLang="zh-CN" dirty="0" smtClean="0"/>
              <a:t>.</a:t>
            </a:r>
            <a:r>
              <a:rPr lang="zh-CN" altLang="en-US" dirty="0" smtClean="0"/>
              <a:t>有没有什么办法可以减少训练样本规模不同造成的影响，同时还能比较高效地进行实验估计呢</a:t>
            </a:r>
            <a:r>
              <a:rPr lang="en-US" altLang="zh-CN" dirty="0" smtClean="0"/>
              <a:t>?</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在初始数据量足够时，留出法和交叉验证法更常用一些</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前面是评测的，选好方法后，用所有数据训练得到最终模型。</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latin typeface="+mn-ea"/>
              </a:rPr>
              <a:t>测试数据（此处实际中用到的数据）</a:t>
            </a:r>
            <a:endParaRPr lang="en-US" altLang="zh-CN" dirty="0" smtClean="0">
              <a:latin typeface="+mn-ea"/>
            </a:endParaRPr>
          </a:p>
          <a:p>
            <a:endParaRPr lang="en-US" altLang="zh-CN" dirty="0" smtClean="0">
              <a:latin typeface="+mn-ea"/>
            </a:endParaRPr>
          </a:p>
          <a:p>
            <a:r>
              <a:rPr lang="zh-CN" altLang="en-US" dirty="0" smtClean="0">
                <a:latin typeface="+mn-ea"/>
              </a:rPr>
              <a:t>测试、验证经常混用，但是也有区分</a:t>
            </a:r>
            <a:endParaRPr lang="en-US" altLang="zh-CN" dirty="0" smtClean="0">
              <a:latin typeface="+mn-ea"/>
            </a:endParaRPr>
          </a:p>
          <a:p>
            <a:endParaRPr lang="en-US" altLang="zh-CN" dirty="0" smtClean="0">
              <a:latin typeface="+mn-ea"/>
            </a:endParaRPr>
          </a:p>
          <a:p>
            <a:r>
              <a:rPr lang="zh-CN" altLang="en-US" dirty="0" smtClean="0">
                <a:latin typeface="+mn-ea"/>
              </a:rPr>
              <a:t>验证是对你的期望说的。测试是对真实结果说的。</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下面主要介绍常用的性能度量</a:t>
            </a:r>
            <a:endParaRPr lang="en-US" altLang="zh-CN" dirty="0" smtClean="0"/>
          </a:p>
          <a:p>
            <a:endParaRPr lang="en-US" altLang="zh-CN" dirty="0" smtClean="0"/>
          </a:p>
          <a:p>
            <a:r>
              <a:rPr lang="en-US" altLang="zh-CN" dirty="0" err="1" smtClean="0"/>
              <a:t>yi</a:t>
            </a:r>
            <a:r>
              <a:rPr lang="zh-CN" altLang="en-US" dirty="0" smtClean="0"/>
              <a:t>连续值</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下面主要介绍常用的性能度量</a:t>
            </a:r>
            <a:endParaRPr lang="en-US" altLang="zh-CN" dirty="0" smtClean="0"/>
          </a:p>
          <a:p>
            <a:endParaRPr lang="en-US" altLang="zh-CN" dirty="0" smtClean="0"/>
          </a:p>
          <a:p>
            <a:r>
              <a:rPr lang="en-US" altLang="zh-CN" dirty="0" err="1" smtClean="0"/>
              <a:t>yi</a:t>
            </a:r>
            <a:r>
              <a:rPr lang="zh-CN" altLang="en-US" dirty="0" smtClean="0"/>
              <a:t>连续值</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下面主要介绍</a:t>
            </a:r>
            <a:r>
              <a:rPr lang="zh-CN" altLang="en-US" b="1" dirty="0" smtClean="0"/>
              <a:t>分类</a:t>
            </a:r>
            <a:r>
              <a:rPr lang="zh-CN" altLang="en-US" dirty="0" smtClean="0"/>
              <a:t>任务中常用的性能度量</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下面主要介绍</a:t>
            </a:r>
            <a:r>
              <a:rPr lang="zh-CN" altLang="en-US" b="1" dirty="0" smtClean="0"/>
              <a:t>分类</a:t>
            </a:r>
            <a:r>
              <a:rPr lang="zh-CN" altLang="en-US" dirty="0" smtClean="0"/>
              <a:t>任务中常用的性能度量</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错误率和精度虽常用，但并不能满足所有任务需求</a:t>
            </a:r>
            <a:endParaRPr lang="en-US" altLang="zh-CN" dirty="0" smtClean="0"/>
          </a:p>
          <a:p>
            <a:endParaRPr lang="en-US" altLang="zh-CN" dirty="0" smtClean="0"/>
          </a:p>
          <a:p>
            <a:r>
              <a:rPr lang="zh-CN" altLang="en-US" dirty="0" smtClean="0"/>
              <a:t>若我们关心的是“挑出的西瓜中有多少比例是好瓜”，或者“所有好瓜中有多少比例被挑了出来”</a:t>
            </a:r>
            <a:endParaRPr lang="en-US" altLang="zh-CN" dirty="0" smtClean="0"/>
          </a:p>
          <a:p>
            <a:endParaRPr lang="en-US" altLang="zh-CN" dirty="0" smtClean="0"/>
          </a:p>
          <a:p>
            <a:r>
              <a:rPr lang="zh-CN" altLang="en-US" dirty="0" smtClean="0"/>
              <a:t>那么错误率显然就不够用了，这时需要使用其他的性能度量</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错误率和精度虽常用，但并不能满足所有任务需求</a:t>
            </a:r>
            <a:endParaRPr lang="en-US" altLang="zh-CN" dirty="0" smtClean="0"/>
          </a:p>
          <a:p>
            <a:endParaRPr lang="en-US" altLang="zh-CN" dirty="0" smtClean="0"/>
          </a:p>
          <a:p>
            <a:r>
              <a:rPr lang="zh-CN" altLang="en-US" dirty="0" smtClean="0"/>
              <a:t>若我们关心的是“挑出的西瓜中有多少比例是好瓜”，或者“所有好瓜中有多少比例被挑了出来”</a:t>
            </a:r>
            <a:endParaRPr lang="en-US" altLang="zh-CN" dirty="0" smtClean="0"/>
          </a:p>
          <a:p>
            <a:endParaRPr lang="en-US" altLang="zh-CN" dirty="0" smtClean="0"/>
          </a:p>
          <a:p>
            <a:r>
              <a:rPr lang="zh-CN" altLang="en-US" dirty="0" smtClean="0"/>
              <a:t>那么错误率显然就不够用了，这时需要使用其他的性能度量</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若一个学习器的</a:t>
            </a:r>
            <a:r>
              <a:rPr lang="en-US" altLang="zh-CN" dirty="0" smtClean="0"/>
              <a:t>P-R</a:t>
            </a:r>
            <a:r>
              <a:rPr lang="zh-CN" altLang="en-US" dirty="0" smtClean="0"/>
              <a:t>曲线被另一个学习器的曲线完全“包住”，则可断言后者的性能优于前者。</a:t>
            </a:r>
            <a:endParaRPr lang="en-US" altLang="zh-CN" dirty="0" smtClean="0"/>
          </a:p>
          <a:p>
            <a:endParaRPr lang="en-US" altLang="zh-CN" dirty="0" smtClean="0"/>
          </a:p>
          <a:p>
            <a:r>
              <a:rPr lang="en-US" altLang="zh-CN" dirty="0" smtClean="0"/>
              <a:t>A</a:t>
            </a:r>
            <a:r>
              <a:rPr lang="zh-CN" altLang="en-US" dirty="0" smtClean="0"/>
              <a:t>与</a:t>
            </a:r>
            <a:r>
              <a:rPr lang="en-US" altLang="zh-CN" dirty="0" smtClean="0"/>
              <a:t>B</a:t>
            </a:r>
            <a:r>
              <a:rPr lang="zh-CN" altLang="en-US" dirty="0" smtClean="0"/>
              <a:t>，则难以一般性地断言两者孰优孰劣，只能在具体的查准率或查全率条件下进行比较</a:t>
            </a:r>
            <a:r>
              <a:rPr lang="en-US" altLang="zh-CN" dirty="0" smtClean="0"/>
              <a:t>.</a:t>
            </a:r>
            <a:r>
              <a:rPr lang="zh-CN" altLang="en-US" dirty="0" smtClean="0"/>
              <a:t>然而，在很多情形下，人们往往仍希望把学习器</a:t>
            </a:r>
            <a:r>
              <a:rPr lang="en-US" altLang="zh-CN" dirty="0" smtClean="0"/>
              <a:t>A</a:t>
            </a:r>
            <a:r>
              <a:rPr lang="zh-CN" altLang="en-US" dirty="0" smtClean="0"/>
              <a:t>与</a:t>
            </a:r>
            <a:r>
              <a:rPr lang="en-US" altLang="zh-CN" dirty="0" smtClean="0"/>
              <a:t>B</a:t>
            </a:r>
            <a:r>
              <a:rPr lang="zh-CN" altLang="en-US" dirty="0" smtClean="0"/>
              <a:t>比出个高低</a:t>
            </a:r>
            <a:r>
              <a:rPr lang="en-US" altLang="zh-CN" dirty="0" smtClean="0"/>
              <a:t>.</a:t>
            </a:r>
            <a:r>
              <a:rPr lang="zh-CN" altLang="en-US" dirty="0" smtClean="0"/>
              <a:t>这时一个比较合理的判据是比较</a:t>
            </a:r>
            <a:r>
              <a:rPr lang="en-US" altLang="zh-CN" dirty="0" smtClean="0"/>
              <a:t>P-R</a:t>
            </a:r>
            <a:r>
              <a:rPr lang="zh-CN" altLang="en-US" dirty="0" smtClean="0"/>
              <a:t>曲线下面积的大小，它在一定程度上表征了学习器在查准率和查全率上取得相对“双高”的比例，但这个值不太容易估算。</a:t>
            </a:r>
            <a:endParaRPr lang="zh-CN" altLang="en-US" dirty="0" smtClean="0"/>
          </a:p>
          <a:p>
            <a:endParaRPr lang="en-US" altLang="zh-CN" dirty="0" smtClean="0"/>
          </a:p>
          <a:p>
            <a:r>
              <a:rPr lang="en-US" altLang="zh-CN" dirty="0" smtClean="0"/>
              <a:t>BEF</a:t>
            </a:r>
            <a:r>
              <a:rPr lang="zh-CN" altLang="en-US" dirty="0" smtClean="0"/>
              <a:t>过于简化了</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若一个学习器的</a:t>
            </a:r>
            <a:r>
              <a:rPr lang="en-US" altLang="zh-CN" dirty="0" smtClean="0"/>
              <a:t>P-R</a:t>
            </a:r>
            <a:r>
              <a:rPr lang="zh-CN" altLang="en-US" dirty="0" smtClean="0"/>
              <a:t>曲线被另一个学习器的曲线完全“包住”，则可断言后者的性能优于前者。</a:t>
            </a:r>
            <a:endParaRPr lang="en-US" altLang="zh-CN" dirty="0" smtClean="0"/>
          </a:p>
          <a:p>
            <a:endParaRPr lang="en-US" altLang="zh-CN" dirty="0" smtClean="0"/>
          </a:p>
          <a:p>
            <a:r>
              <a:rPr lang="en-US" altLang="zh-CN" dirty="0" smtClean="0"/>
              <a:t>A</a:t>
            </a:r>
            <a:r>
              <a:rPr lang="zh-CN" altLang="en-US" dirty="0" smtClean="0"/>
              <a:t>与</a:t>
            </a:r>
            <a:r>
              <a:rPr lang="en-US" altLang="zh-CN" dirty="0" smtClean="0"/>
              <a:t>B</a:t>
            </a:r>
            <a:r>
              <a:rPr lang="zh-CN" altLang="en-US" dirty="0" smtClean="0"/>
              <a:t>，则难以一般性地断言两者孰优孰劣，只能在具体的查准率或查全率条件下进行比较</a:t>
            </a:r>
            <a:r>
              <a:rPr lang="en-US" altLang="zh-CN" dirty="0" smtClean="0"/>
              <a:t>.</a:t>
            </a:r>
            <a:r>
              <a:rPr lang="zh-CN" altLang="en-US" dirty="0" smtClean="0"/>
              <a:t>然而，在很多情形下，人们往往仍希望把学习器</a:t>
            </a:r>
            <a:r>
              <a:rPr lang="en-US" altLang="zh-CN" dirty="0" smtClean="0"/>
              <a:t>A</a:t>
            </a:r>
            <a:r>
              <a:rPr lang="zh-CN" altLang="en-US" dirty="0" smtClean="0"/>
              <a:t>与</a:t>
            </a:r>
            <a:r>
              <a:rPr lang="en-US" altLang="zh-CN" dirty="0" smtClean="0"/>
              <a:t>B</a:t>
            </a:r>
            <a:r>
              <a:rPr lang="zh-CN" altLang="en-US" dirty="0" smtClean="0"/>
              <a:t>比出个高低</a:t>
            </a:r>
            <a:r>
              <a:rPr lang="en-US" altLang="zh-CN" dirty="0" smtClean="0"/>
              <a:t>.</a:t>
            </a:r>
            <a:r>
              <a:rPr lang="zh-CN" altLang="en-US" dirty="0" smtClean="0"/>
              <a:t>这时一个比较合理的判据是比较</a:t>
            </a:r>
            <a:r>
              <a:rPr lang="en-US" altLang="zh-CN" dirty="0" smtClean="0"/>
              <a:t>P-R</a:t>
            </a:r>
            <a:r>
              <a:rPr lang="zh-CN" altLang="en-US" dirty="0" smtClean="0"/>
              <a:t>曲线下面积的大小，它在一定程度上表征了学习器在查准率和查全率上取得相对“双高”的比例，但这个值不太容易估算。</a:t>
            </a:r>
            <a:endParaRPr lang="zh-CN" altLang="en-US" dirty="0" smtClean="0"/>
          </a:p>
          <a:p>
            <a:endParaRPr lang="en-US" altLang="zh-CN" dirty="0" smtClean="0"/>
          </a:p>
          <a:p>
            <a:r>
              <a:rPr lang="en-US" altLang="zh-CN" dirty="0" smtClean="0"/>
              <a:t>BEF</a:t>
            </a:r>
            <a:r>
              <a:rPr lang="zh-CN" altLang="en-US" dirty="0" smtClean="0"/>
              <a:t>过于简化了</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P</a:t>
            </a:r>
            <a:r>
              <a:rPr lang="zh-CN" altLang="en-US" dirty="0" smtClean="0">
                <a:latin typeface="+mn-ea"/>
              </a:rPr>
              <a:t>查全率、</a:t>
            </a:r>
            <a:r>
              <a:rPr lang="en-US" altLang="zh-CN" dirty="0" smtClean="0">
                <a:latin typeface="+mn-ea"/>
              </a:rPr>
              <a:t>R</a:t>
            </a:r>
            <a:r>
              <a:rPr lang="zh-CN" altLang="en-US" dirty="0" smtClean="0">
                <a:latin typeface="+mn-ea"/>
              </a:rPr>
              <a:t>查准率</a:t>
            </a:r>
            <a:endParaRPr lang="en-US" altLang="zh-CN" dirty="0" smtClean="0">
              <a:latin typeface="+mn-ea"/>
            </a:endParaRPr>
          </a:p>
          <a:p>
            <a:endParaRPr lang="en-US" altLang="zh-CN" dirty="0" smtClean="0"/>
          </a:p>
          <a:p>
            <a:r>
              <a:rPr lang="en-US" altLang="zh-CN" dirty="0" smtClean="0"/>
              <a:t>F1</a:t>
            </a:r>
            <a:r>
              <a:rPr lang="zh-CN" altLang="en-US" dirty="0" smtClean="0"/>
              <a:t>调和平均，用于求平均速度等。与算术平均、几何平均相比，更重视小值。</a:t>
            </a:r>
            <a:endParaRPr lang="en-US" altLang="zh-CN" dirty="0" smtClean="0"/>
          </a:p>
          <a:p>
            <a:r>
              <a:rPr lang="zh-CN" altLang="en-US" b="1" dirty="0" smtClean="0"/>
              <a:t>是分数的平均</a:t>
            </a:r>
            <a:r>
              <a:rPr lang="zh-CN" altLang="en-US" dirty="0" smtClean="0"/>
              <a:t>。</a:t>
            </a:r>
            <a:endParaRPr lang="en-US" altLang="zh-CN" dirty="0" smtClean="0"/>
          </a:p>
          <a:p>
            <a:endParaRPr lang="en-US" altLang="zh-CN" dirty="0" smtClean="0"/>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个观察值连乘积的</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次方根就是</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几何平均</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数</a:t>
            </a:r>
            <a:endParaRPr lang="en-US" altLang="zh-CN" dirty="0" smtClean="0"/>
          </a:p>
          <a:p>
            <a:endParaRPr lang="en-US" altLang="zh-CN" dirty="0" smtClean="0"/>
          </a:p>
          <a:p>
            <a:r>
              <a:rPr lang="en-US" altLang="zh-CN" dirty="0" smtClean="0"/>
              <a:t>FB</a:t>
            </a:r>
            <a:r>
              <a:rPr lang="zh-CN" altLang="en-US" dirty="0" smtClean="0"/>
              <a:t>加权的</a:t>
            </a:r>
            <a:r>
              <a:rPr lang="en-US" altLang="zh-CN" dirty="0" smtClean="0"/>
              <a:t>F1</a:t>
            </a:r>
            <a:endParaRPr lang="en-US" altLang="zh-CN" dirty="0" smtClean="0"/>
          </a:p>
          <a:p>
            <a:endParaRPr lang="en-US" altLang="zh-CN" dirty="0" smtClean="0"/>
          </a:p>
          <a:p>
            <a:r>
              <a:rPr lang="en-US" altLang="zh-CN" dirty="0" smtClean="0"/>
              <a:t>F1</a:t>
            </a:r>
            <a:r>
              <a:rPr lang="zh-CN" altLang="en-US" dirty="0" smtClean="0"/>
              <a:t>更常用</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很多时候我们有多个二分类混淆矩阵，例如进行多次训练</a:t>
            </a:r>
            <a:r>
              <a:rPr lang="en-US" altLang="zh-CN" dirty="0" smtClean="0"/>
              <a:t>/</a:t>
            </a:r>
            <a:r>
              <a:rPr lang="zh-CN" altLang="en-US" dirty="0" smtClean="0"/>
              <a:t>测试，每次得到一个棍淆矩阵</a:t>
            </a:r>
            <a:r>
              <a:rPr lang="en-US" altLang="zh-CN" dirty="0" smtClean="0"/>
              <a:t>;</a:t>
            </a:r>
            <a:r>
              <a:rPr lang="zh-CN" altLang="en-US" dirty="0" smtClean="0"/>
              <a:t>或是在多个数据集上进行训练</a:t>
            </a:r>
            <a:r>
              <a:rPr lang="en-US" altLang="zh-CN" dirty="0" smtClean="0"/>
              <a:t>/</a:t>
            </a:r>
            <a:r>
              <a:rPr lang="zh-CN" altLang="en-US" dirty="0" smtClean="0"/>
              <a:t>测试，希望估计算法的“全局”性能</a:t>
            </a:r>
            <a:r>
              <a:rPr lang="en-US" altLang="zh-CN" dirty="0" smtClean="0"/>
              <a:t>;</a:t>
            </a:r>
            <a:r>
              <a:rPr lang="zh-CN" altLang="en-US" dirty="0" smtClean="0"/>
              <a:t>甚或是执行多分类任务，每两两类别的组合都对应一个混淆矩阵</a:t>
            </a:r>
            <a:r>
              <a:rPr lang="en-US" altLang="zh-CN" dirty="0" smtClean="0"/>
              <a:t>;……</a:t>
            </a:r>
            <a:r>
              <a:rPr lang="zh-CN" altLang="en-US" dirty="0" smtClean="0"/>
              <a:t>总之，我们希望在</a:t>
            </a:r>
            <a:r>
              <a:rPr lang="en-US" altLang="zh-CN" dirty="0" smtClean="0"/>
              <a:t>n</a:t>
            </a:r>
            <a:r>
              <a:rPr lang="zh-CN" altLang="en-US" dirty="0" smtClean="0"/>
              <a:t>个二分类混淆矩阵上综合考察查准率和查全率</a:t>
            </a:r>
            <a:r>
              <a:rPr lang="en-US" altLang="zh-CN" dirty="0" smtClean="0"/>
              <a:t>.</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ROC</a:t>
            </a:r>
            <a:r>
              <a:rPr lang="zh-CN" altLang="en-US" dirty="0" smtClean="0">
                <a:latin typeface="+mn-ea"/>
              </a:rPr>
              <a:t>受试者工作特征</a:t>
            </a:r>
            <a:r>
              <a:rPr lang="en-US" altLang="zh-CN" dirty="0" smtClean="0">
                <a:latin typeface="+mn-ea"/>
              </a:rPr>
              <a:t>(Receiver Operating Characteristic)</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AUC (</a:t>
            </a:r>
            <a:r>
              <a:rPr lang="en-US" altLang="zh-CN" smtClean="0">
                <a:latin typeface="+mn-ea"/>
              </a:rPr>
              <a:t>Area Under ROC </a:t>
            </a:r>
            <a:r>
              <a:rPr lang="en-US" altLang="zh-CN" dirty="0" smtClean="0">
                <a:latin typeface="+mn-ea"/>
              </a:rPr>
              <a:t>Curve)</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纵轴：真正例率</a:t>
            </a:r>
            <a:r>
              <a:rPr lang="en-US" altLang="zh-CN" dirty="0" smtClean="0">
                <a:latin typeface="+mn-ea"/>
              </a:rPr>
              <a:t>(True Positive Rate</a:t>
            </a:r>
            <a:r>
              <a:rPr lang="zh-CN" altLang="en-US" dirty="0" smtClean="0">
                <a:latin typeface="+mn-ea"/>
              </a:rPr>
              <a:t>，</a:t>
            </a:r>
            <a:r>
              <a:rPr lang="en-US" altLang="zh-CN" dirty="0" smtClean="0">
                <a:latin typeface="+mn-ea"/>
              </a:rPr>
              <a:t>TPR)</a:t>
            </a:r>
            <a:r>
              <a:rPr lang="zh-CN" altLang="en-US" dirty="0" smtClean="0">
                <a:latin typeface="+mn-ea"/>
              </a:rPr>
              <a:t>，横轴：假正例率</a:t>
            </a:r>
            <a:r>
              <a:rPr lang="en-US" altLang="zh-CN" dirty="0" smtClean="0">
                <a:latin typeface="+mn-ea"/>
              </a:rPr>
              <a:t>(False Positive Rate</a:t>
            </a:r>
            <a:r>
              <a:rPr lang="zh-CN" altLang="en-US" dirty="0" smtClean="0">
                <a:latin typeface="+mn-ea"/>
              </a:rPr>
              <a:t>，</a:t>
            </a:r>
            <a:r>
              <a:rPr lang="en-US" altLang="zh-CN" dirty="0" smtClean="0">
                <a:latin typeface="+mn-ea"/>
              </a:rPr>
              <a:t>FPR)</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点</a:t>
            </a:r>
            <a:r>
              <a:rPr lang="en-US" altLang="zh-CN" dirty="0" smtClean="0">
                <a:latin typeface="+mn-ea"/>
              </a:rPr>
              <a:t>(0,1)</a:t>
            </a:r>
            <a:r>
              <a:rPr lang="zh-CN" altLang="en-US" dirty="0" smtClean="0">
                <a:latin typeface="+mn-ea"/>
              </a:rPr>
              <a:t>：理想模型（所有正例排在所有反例之前）</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endParaRPr lang="en-US" altLang="zh-CN" dirty="0" smtClean="0"/>
          </a:p>
          <a:p>
            <a:r>
              <a:rPr lang="zh-CN" altLang="en-US" dirty="0" smtClean="0"/>
              <a:t>根据学习器预测结果对样例进行排序，然后把分类阂值设为最大，即把所有样例均预测为反例，此时真正例率和假正例率均为</a:t>
            </a:r>
            <a:r>
              <a:rPr lang="en-US" altLang="zh-CN" dirty="0" smtClean="0"/>
              <a:t>0</a:t>
            </a:r>
            <a:r>
              <a:rPr lang="zh-CN" altLang="en-US" dirty="0" smtClean="0"/>
              <a:t>，在坐标</a:t>
            </a:r>
            <a:r>
              <a:rPr lang="en-US" altLang="zh-CN" dirty="0" smtClean="0"/>
              <a:t>(0, 0)</a:t>
            </a:r>
            <a:r>
              <a:rPr lang="zh-CN" altLang="en-US" dirty="0" smtClean="0"/>
              <a:t>处标记一个点然后，</a:t>
            </a:r>
            <a:r>
              <a:rPr lang="zh-CN" altLang="en-US" b="1" dirty="0" smtClean="0"/>
              <a:t>将分类闽值依次设为每个样例的预测值</a:t>
            </a:r>
            <a:r>
              <a:rPr lang="zh-CN" altLang="en-US" dirty="0" smtClean="0"/>
              <a:t>，即依次将每个样例划分为正例</a:t>
            </a:r>
            <a:r>
              <a:rPr lang="en-US" altLang="zh-CN" dirty="0" smtClean="0"/>
              <a:t>.</a:t>
            </a:r>
            <a:r>
              <a:rPr lang="zh-CN" altLang="en-US" dirty="0" smtClean="0"/>
              <a:t>设前一个标记点坐标为</a:t>
            </a:r>
            <a:r>
              <a:rPr lang="en-US" altLang="zh-CN" dirty="0" smtClean="0"/>
              <a:t>((x} }J)</a:t>
            </a:r>
            <a:r>
              <a:rPr lang="zh-CN" altLang="en-US" dirty="0" smtClean="0"/>
              <a:t>，当前若为真正例，则对应标记点的坐标为</a:t>
            </a:r>
            <a:r>
              <a:rPr lang="en-US" altLang="zh-CN" dirty="0" smtClean="0"/>
              <a:t>((x, } +</a:t>
            </a:r>
            <a:r>
              <a:rPr lang="zh-CN" altLang="en-US" dirty="0" smtClean="0"/>
              <a:t>斋</a:t>
            </a:r>
            <a:r>
              <a:rPr lang="en-US" altLang="zh-CN" dirty="0" smtClean="0"/>
              <a:t>);</a:t>
            </a:r>
            <a:r>
              <a:rPr lang="zh-CN" altLang="en-US" dirty="0" smtClean="0"/>
              <a:t>当前若为假正例，则对应标记点的坐标为</a:t>
            </a:r>
            <a:r>
              <a:rPr lang="en-US" altLang="zh-CN" dirty="0" smtClean="0"/>
              <a:t>((x +</a:t>
            </a:r>
            <a:r>
              <a:rPr lang="zh-CN" altLang="en-US" dirty="0" smtClean="0"/>
              <a:t>洽，。</a:t>
            </a:r>
            <a:r>
              <a:rPr lang="en-US" altLang="zh-CN" dirty="0" smtClean="0"/>
              <a:t>)</a:t>
            </a:r>
            <a:r>
              <a:rPr lang="zh-CN" altLang="en-US" dirty="0" smtClean="0"/>
              <a:t>，然后用线段连接相邻点即得</a:t>
            </a:r>
            <a:r>
              <a:rPr lang="en-US" altLang="zh-CN" dirty="0" smtClean="0"/>
              <a:t>.</a:t>
            </a:r>
            <a:endParaRPr lang="en-US" altLang="zh-CN" dirty="0" smtClean="0"/>
          </a:p>
          <a:p>
            <a:endParaRPr lang="en-US" altLang="zh-CN" dirty="0" smtClean="0"/>
          </a:p>
          <a:p>
            <a:r>
              <a:rPr lang="zh-CN" altLang="en-US" dirty="0" smtClean="0"/>
              <a:t>在不同的应用任务中，我们可根据任务需求来采用不同的截断点，例如若我们更重视“查准率”，则可选择排序中靠前的位置进行截断</a:t>
            </a:r>
            <a:r>
              <a:rPr lang="en-US" altLang="zh-CN" dirty="0" smtClean="0"/>
              <a:t>;</a:t>
            </a:r>
            <a:r>
              <a:rPr lang="zh-CN" altLang="en-US" dirty="0" smtClean="0"/>
              <a:t>若更重视“查全率”，则可选择靠后的位置进行截断</a:t>
            </a:r>
            <a:r>
              <a:rPr lang="en-US" altLang="zh-CN" dirty="0" smtClean="0"/>
              <a:t>.</a:t>
            </a:r>
            <a:r>
              <a:rPr lang="zh-CN" altLang="en-US" dirty="0" smtClean="0"/>
              <a:t>因此，排序本身的质量好坏，体现了综合考虑学习器在不同任务下的“期望泛化性能”的好坏，或者说，“一般情况下”泛化性能的好坏</a:t>
            </a:r>
            <a:r>
              <a:rPr lang="en-US" altLang="zh-CN" dirty="0" smtClean="0"/>
              <a:t>.ROC</a:t>
            </a:r>
            <a:r>
              <a:rPr lang="zh-CN" altLang="en-US" dirty="0" smtClean="0"/>
              <a:t>曲线则是从这个角度出发来研究学习器泛化性能的有力工具</a:t>
            </a:r>
            <a:r>
              <a:rPr lang="en-US" altLang="zh-CN" dirty="0" smtClean="0"/>
              <a:t>.</a:t>
            </a:r>
            <a:endParaRPr lang="en-US" altLang="zh-CN" dirty="0" smtClean="0"/>
          </a:p>
          <a:p>
            <a:endParaRPr lang="en-US" altLang="zh-CN" dirty="0" smtClean="0"/>
          </a:p>
          <a:p>
            <a:r>
              <a:rPr lang="zh-CN" altLang="en-US" dirty="0" smtClean="0"/>
              <a:t>与</a:t>
            </a:r>
            <a:r>
              <a:rPr lang="en-US" altLang="zh-CN" dirty="0" smtClean="0"/>
              <a:t>P-R</a:t>
            </a:r>
            <a:r>
              <a:rPr lang="zh-CN" altLang="en-US" dirty="0" smtClean="0"/>
              <a:t>曲线使用查准率、查全率为纵、横轴不同，</a:t>
            </a:r>
            <a:r>
              <a:rPr lang="en-US" altLang="zh-CN" dirty="0" smtClean="0"/>
              <a:t>ROC</a:t>
            </a:r>
            <a:r>
              <a:rPr lang="zh-CN" altLang="en-US" dirty="0" smtClean="0"/>
              <a:t>曲线的纵轴是“真正例率”</a:t>
            </a:r>
            <a:r>
              <a:rPr lang="en-US" altLang="zh-CN" dirty="0" smtClean="0"/>
              <a:t>(True Positive Rate</a:t>
            </a:r>
            <a:r>
              <a:rPr lang="zh-CN" altLang="en-US" dirty="0" smtClean="0"/>
              <a:t>，简称</a:t>
            </a:r>
            <a:r>
              <a:rPr lang="en-US" altLang="zh-CN" dirty="0" smtClean="0"/>
              <a:t>TPR)</a:t>
            </a:r>
            <a:r>
              <a:rPr lang="zh-CN" altLang="en-US" dirty="0" smtClean="0"/>
              <a:t>，横轴是“假正例率”</a:t>
            </a:r>
            <a:r>
              <a:rPr lang="en-US" altLang="zh-CN" dirty="0" smtClean="0"/>
              <a:t>(False </a:t>
            </a:r>
            <a:r>
              <a:rPr lang="en-US" altLang="zh-CN" dirty="0" err="1" smtClean="0"/>
              <a:t>PositiveRate</a:t>
            </a:r>
            <a:r>
              <a:rPr lang="zh-CN" altLang="en-US" dirty="0" smtClean="0"/>
              <a:t>，简称</a:t>
            </a:r>
            <a:r>
              <a:rPr lang="en-US" altLang="zh-CN" dirty="0" smtClean="0"/>
              <a:t>FPR)</a:t>
            </a:r>
            <a:r>
              <a:rPr lang="zh-CN" altLang="en-US" dirty="0" smtClean="0"/>
              <a:t>，基于表</a:t>
            </a:r>
            <a:r>
              <a:rPr lang="en-US" altLang="zh-CN" dirty="0" smtClean="0"/>
              <a:t>2.1</a:t>
            </a:r>
            <a:r>
              <a:rPr lang="zh-CN" altLang="en-US" dirty="0" smtClean="0"/>
              <a:t>中的符号，两者分别定义为</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纵轴：真正例率</a:t>
            </a:r>
            <a:r>
              <a:rPr lang="en-US" altLang="zh-CN" dirty="0" smtClean="0">
                <a:latin typeface="+mn-ea"/>
              </a:rPr>
              <a:t>(True Positive Rate</a:t>
            </a:r>
            <a:r>
              <a:rPr lang="zh-CN" altLang="en-US" dirty="0" smtClean="0">
                <a:latin typeface="+mn-ea"/>
              </a:rPr>
              <a:t>，</a:t>
            </a:r>
            <a:r>
              <a:rPr lang="en-US" altLang="zh-CN" dirty="0" smtClean="0">
                <a:latin typeface="+mn-ea"/>
              </a:rPr>
              <a:t>TPR)</a:t>
            </a:r>
            <a:r>
              <a:rPr lang="zh-CN" altLang="en-US" dirty="0" smtClean="0">
                <a:latin typeface="+mn-ea"/>
              </a:rPr>
              <a:t>，横轴：假正例率</a:t>
            </a:r>
            <a:r>
              <a:rPr lang="en-US" altLang="zh-CN" dirty="0" smtClean="0">
                <a:latin typeface="+mn-ea"/>
              </a:rPr>
              <a:t>(False Positive Rate</a:t>
            </a:r>
            <a:r>
              <a:rPr lang="zh-CN" altLang="en-US" dirty="0" smtClean="0">
                <a:latin typeface="+mn-ea"/>
              </a:rPr>
              <a:t>，</a:t>
            </a:r>
            <a:r>
              <a:rPr lang="en-US" altLang="zh-CN" dirty="0" smtClean="0">
                <a:latin typeface="+mn-ea"/>
              </a:rPr>
              <a:t>FPR)</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点</a:t>
            </a:r>
            <a:r>
              <a:rPr lang="en-US" altLang="zh-CN" dirty="0" smtClean="0">
                <a:latin typeface="+mn-ea"/>
              </a:rPr>
              <a:t>(0,1)</a:t>
            </a:r>
            <a:r>
              <a:rPr lang="zh-CN" altLang="en-US" dirty="0" smtClean="0">
                <a:latin typeface="+mn-ea"/>
              </a:rPr>
              <a:t>：理想模型（所有正例排在所有反例之前）</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ROC</a:t>
            </a:r>
            <a:r>
              <a:rPr lang="zh-CN" altLang="en-US" dirty="0" smtClean="0">
                <a:latin typeface="+mn-ea"/>
              </a:rPr>
              <a:t>受试者工作特征</a:t>
            </a:r>
            <a:r>
              <a:rPr lang="en-US" altLang="zh-CN" dirty="0" smtClean="0">
                <a:latin typeface="+mn-ea"/>
              </a:rPr>
              <a:t>(Receiver Operating Characteristic)</a:t>
            </a:r>
            <a:endParaRPr lang="en-US" altLang="zh-CN" dirty="0" smtClean="0">
              <a:latin typeface="+mn-ea"/>
            </a:endParaRPr>
          </a:p>
          <a:p>
            <a:endParaRPr lang="en-US" altLang="zh-CN" dirty="0" smtClean="0"/>
          </a:p>
          <a:p>
            <a:r>
              <a:rPr lang="zh-CN" altLang="en-US" dirty="0" smtClean="0"/>
              <a:t>根据学习器预测结果对样例进行排序，然后把分类阂值设为最大，即把所有样例均预测为反例，此时真正例率和假正例率均为</a:t>
            </a:r>
            <a:r>
              <a:rPr lang="en-US" altLang="zh-CN" dirty="0" smtClean="0"/>
              <a:t>0</a:t>
            </a:r>
            <a:r>
              <a:rPr lang="zh-CN" altLang="en-US" dirty="0" smtClean="0"/>
              <a:t>，在坐标</a:t>
            </a:r>
            <a:r>
              <a:rPr lang="en-US" altLang="zh-CN" dirty="0" smtClean="0"/>
              <a:t>(0, 0)</a:t>
            </a:r>
            <a:r>
              <a:rPr lang="zh-CN" altLang="en-US" dirty="0" smtClean="0"/>
              <a:t>处标记一个点然后，</a:t>
            </a:r>
            <a:r>
              <a:rPr lang="zh-CN" altLang="en-US" b="1" dirty="0" smtClean="0"/>
              <a:t>将分类闽值依次设为每个样例的预测值</a:t>
            </a:r>
            <a:r>
              <a:rPr lang="zh-CN" altLang="en-US" dirty="0" smtClean="0"/>
              <a:t>，即依次将每个样例划分为正例</a:t>
            </a:r>
            <a:r>
              <a:rPr lang="en-US" altLang="zh-CN" dirty="0" smtClean="0"/>
              <a:t>.</a:t>
            </a:r>
            <a:r>
              <a:rPr lang="zh-CN" altLang="en-US" dirty="0" smtClean="0"/>
              <a:t>设前一个标记点坐标为</a:t>
            </a:r>
            <a:r>
              <a:rPr lang="en-US" altLang="zh-CN" dirty="0" smtClean="0"/>
              <a:t>((x} }J)</a:t>
            </a:r>
            <a:r>
              <a:rPr lang="zh-CN" altLang="en-US" dirty="0" smtClean="0"/>
              <a:t>，当前若为真正例，则对应标记点的坐标为</a:t>
            </a:r>
            <a:r>
              <a:rPr lang="en-US" altLang="zh-CN" dirty="0" smtClean="0"/>
              <a:t>((x, } +</a:t>
            </a:r>
            <a:r>
              <a:rPr lang="zh-CN" altLang="en-US" dirty="0" smtClean="0"/>
              <a:t>斋</a:t>
            </a:r>
            <a:r>
              <a:rPr lang="en-US" altLang="zh-CN" dirty="0" smtClean="0"/>
              <a:t>);</a:t>
            </a:r>
            <a:r>
              <a:rPr lang="zh-CN" altLang="en-US" dirty="0" smtClean="0"/>
              <a:t>当前若为假正例，则对应标记点的坐标为</a:t>
            </a:r>
            <a:r>
              <a:rPr lang="en-US" altLang="zh-CN" dirty="0" smtClean="0"/>
              <a:t>((x +</a:t>
            </a:r>
            <a:r>
              <a:rPr lang="zh-CN" altLang="en-US" dirty="0" smtClean="0"/>
              <a:t>洽，。</a:t>
            </a:r>
            <a:r>
              <a:rPr lang="en-US" altLang="zh-CN" dirty="0" smtClean="0"/>
              <a:t>)</a:t>
            </a:r>
            <a:r>
              <a:rPr lang="zh-CN" altLang="en-US" dirty="0" smtClean="0"/>
              <a:t>，然后用线段连接相邻点即得</a:t>
            </a:r>
            <a:r>
              <a:rPr lang="en-US" altLang="zh-CN" dirty="0" smtClean="0"/>
              <a:t>.</a:t>
            </a:r>
            <a:endParaRPr lang="en-US" altLang="zh-CN" dirty="0" smtClean="0"/>
          </a:p>
          <a:p>
            <a:endParaRPr lang="en-US" altLang="zh-CN" dirty="0" smtClean="0"/>
          </a:p>
          <a:p>
            <a:r>
              <a:rPr lang="zh-CN" altLang="en-US" dirty="0" smtClean="0"/>
              <a:t>在不同的应用任务中，我们可根据任务需求来采用不同的截断点，例如若我们更重视“查准率”，则可选择排序中靠前的位置进行截断</a:t>
            </a:r>
            <a:r>
              <a:rPr lang="en-US" altLang="zh-CN" dirty="0" smtClean="0"/>
              <a:t>;</a:t>
            </a:r>
            <a:r>
              <a:rPr lang="zh-CN" altLang="en-US" dirty="0" smtClean="0"/>
              <a:t>若更重视“查全率”，则可选择靠后的位置进行截断</a:t>
            </a:r>
            <a:r>
              <a:rPr lang="en-US" altLang="zh-CN" dirty="0" smtClean="0"/>
              <a:t>.</a:t>
            </a:r>
            <a:r>
              <a:rPr lang="zh-CN" altLang="en-US" dirty="0" smtClean="0"/>
              <a:t>因此，排序本身的质量好坏，体现了综合考虑学习器在不同任务下的“期望泛化性能”的好坏，或者说，“一般情况下”泛化性能的好坏</a:t>
            </a:r>
            <a:r>
              <a:rPr lang="en-US" altLang="zh-CN" dirty="0" smtClean="0"/>
              <a:t>.ROC</a:t>
            </a:r>
            <a:r>
              <a:rPr lang="zh-CN" altLang="en-US" dirty="0" smtClean="0"/>
              <a:t>曲线则是从这个角度出发来研究学习器泛化性能的有力工具</a:t>
            </a:r>
            <a:r>
              <a:rPr lang="en-US" altLang="zh-CN" dirty="0" smtClean="0"/>
              <a:t>.</a:t>
            </a:r>
            <a:endParaRPr lang="en-US" altLang="zh-CN" dirty="0" smtClean="0"/>
          </a:p>
          <a:p>
            <a:endParaRPr lang="en-US" altLang="zh-CN" dirty="0" smtClean="0"/>
          </a:p>
          <a:p>
            <a:r>
              <a:rPr lang="zh-CN" altLang="en-US" dirty="0" smtClean="0"/>
              <a:t>与</a:t>
            </a:r>
            <a:r>
              <a:rPr lang="en-US" altLang="zh-CN" dirty="0" smtClean="0"/>
              <a:t>P-R</a:t>
            </a:r>
            <a:r>
              <a:rPr lang="zh-CN" altLang="en-US" dirty="0" smtClean="0"/>
              <a:t>曲线使用查准率、查全率为纵、横轴不同，</a:t>
            </a:r>
            <a:r>
              <a:rPr lang="en-US" altLang="zh-CN" dirty="0" smtClean="0"/>
              <a:t>ROC</a:t>
            </a:r>
            <a:r>
              <a:rPr lang="zh-CN" altLang="en-US" dirty="0" smtClean="0"/>
              <a:t>曲线的纵轴是“真正例率”</a:t>
            </a:r>
            <a:r>
              <a:rPr lang="en-US" altLang="zh-CN" dirty="0" smtClean="0"/>
              <a:t>(True Positive Rate</a:t>
            </a:r>
            <a:r>
              <a:rPr lang="zh-CN" altLang="en-US" dirty="0" smtClean="0"/>
              <a:t>，简称</a:t>
            </a:r>
            <a:r>
              <a:rPr lang="en-US" altLang="zh-CN" dirty="0" smtClean="0"/>
              <a:t>TPR)</a:t>
            </a:r>
            <a:r>
              <a:rPr lang="zh-CN" altLang="en-US" dirty="0" smtClean="0"/>
              <a:t>，横轴是“假正例率”</a:t>
            </a:r>
            <a:r>
              <a:rPr lang="en-US" altLang="zh-CN" dirty="0" smtClean="0"/>
              <a:t>(False </a:t>
            </a:r>
            <a:r>
              <a:rPr lang="en-US" altLang="zh-CN" dirty="0" err="1" smtClean="0"/>
              <a:t>PositiveRate</a:t>
            </a:r>
            <a:r>
              <a:rPr lang="zh-CN" altLang="en-US" dirty="0" smtClean="0"/>
              <a:t>，简称</a:t>
            </a:r>
            <a:r>
              <a:rPr lang="en-US" altLang="zh-CN" dirty="0" smtClean="0"/>
              <a:t>FPR)</a:t>
            </a:r>
            <a:r>
              <a:rPr lang="zh-CN" altLang="en-US" dirty="0" smtClean="0"/>
              <a:t>，基于表</a:t>
            </a:r>
            <a:r>
              <a:rPr lang="en-US" altLang="zh-CN" dirty="0" smtClean="0"/>
              <a:t>2.1</a:t>
            </a:r>
            <a:r>
              <a:rPr lang="zh-CN" altLang="en-US" dirty="0" smtClean="0"/>
              <a:t>中的符号，两者分别定义为</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纵轴：真正例率</a:t>
            </a:r>
            <a:r>
              <a:rPr lang="en-US" altLang="zh-CN" dirty="0" smtClean="0">
                <a:latin typeface="+mn-ea"/>
              </a:rPr>
              <a:t>(True Positive Rate</a:t>
            </a:r>
            <a:r>
              <a:rPr lang="zh-CN" altLang="en-US" dirty="0" smtClean="0">
                <a:latin typeface="+mn-ea"/>
              </a:rPr>
              <a:t>，</a:t>
            </a:r>
            <a:r>
              <a:rPr lang="en-US" altLang="zh-CN" dirty="0" smtClean="0">
                <a:latin typeface="+mn-ea"/>
              </a:rPr>
              <a:t>TPR)</a:t>
            </a:r>
            <a:r>
              <a:rPr lang="zh-CN" altLang="en-US" dirty="0" smtClean="0">
                <a:latin typeface="+mn-ea"/>
              </a:rPr>
              <a:t>，横轴：假正例率</a:t>
            </a:r>
            <a:r>
              <a:rPr lang="en-US" altLang="zh-CN" dirty="0" smtClean="0">
                <a:latin typeface="+mn-ea"/>
              </a:rPr>
              <a:t>(False Positive Rate</a:t>
            </a:r>
            <a:r>
              <a:rPr lang="zh-CN" altLang="en-US" dirty="0" smtClean="0">
                <a:latin typeface="+mn-ea"/>
              </a:rPr>
              <a:t>，</a:t>
            </a:r>
            <a:r>
              <a:rPr lang="en-US" altLang="zh-CN" dirty="0" smtClean="0">
                <a:latin typeface="+mn-ea"/>
              </a:rPr>
              <a:t>FPR)</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点</a:t>
            </a:r>
            <a:r>
              <a:rPr lang="en-US" altLang="zh-CN" dirty="0" smtClean="0">
                <a:latin typeface="+mn-ea"/>
              </a:rPr>
              <a:t>(0,1)</a:t>
            </a:r>
            <a:r>
              <a:rPr lang="zh-CN" altLang="en-US" dirty="0" smtClean="0">
                <a:latin typeface="+mn-ea"/>
              </a:rPr>
              <a:t>：理想模型（所有正例排在所有反例之前）</a:t>
            </a: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latin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ROC</a:t>
            </a:r>
            <a:r>
              <a:rPr lang="zh-CN" altLang="en-US" dirty="0" smtClean="0">
                <a:latin typeface="+mn-ea"/>
              </a:rPr>
              <a:t>受试者工作特征</a:t>
            </a:r>
            <a:r>
              <a:rPr lang="en-US" altLang="zh-CN" dirty="0" smtClean="0">
                <a:latin typeface="+mn-ea"/>
              </a:rPr>
              <a:t>(Receiver Operating Characteristic)</a:t>
            </a:r>
            <a:endParaRPr lang="en-US" altLang="zh-CN" dirty="0" smtClean="0">
              <a:latin typeface="+mn-ea"/>
            </a:endParaRPr>
          </a:p>
          <a:p>
            <a:endParaRPr lang="en-US" altLang="zh-CN" dirty="0" smtClean="0"/>
          </a:p>
          <a:p>
            <a:r>
              <a:rPr lang="zh-CN" altLang="en-US" dirty="0" smtClean="0"/>
              <a:t>根据学习器预测结果对样例进行排序，然后把分类阂值设为最大，即把所有样例均预测为反例，此时真正例率和假正例率均为</a:t>
            </a:r>
            <a:r>
              <a:rPr lang="en-US" altLang="zh-CN" dirty="0" smtClean="0"/>
              <a:t>0</a:t>
            </a:r>
            <a:r>
              <a:rPr lang="zh-CN" altLang="en-US" dirty="0" smtClean="0"/>
              <a:t>，在坐标</a:t>
            </a:r>
            <a:r>
              <a:rPr lang="en-US" altLang="zh-CN" dirty="0" smtClean="0"/>
              <a:t>(0, 0)</a:t>
            </a:r>
            <a:r>
              <a:rPr lang="zh-CN" altLang="en-US" dirty="0" smtClean="0"/>
              <a:t>处标记一个点然后，</a:t>
            </a:r>
            <a:r>
              <a:rPr lang="zh-CN" altLang="en-US" b="1" dirty="0" smtClean="0"/>
              <a:t>将分类闽值依次设为每个样例的预测值</a:t>
            </a:r>
            <a:r>
              <a:rPr lang="zh-CN" altLang="en-US" dirty="0" smtClean="0"/>
              <a:t>，即依次将每个样例划分为正例</a:t>
            </a:r>
            <a:r>
              <a:rPr lang="en-US" altLang="zh-CN" dirty="0" smtClean="0"/>
              <a:t>.</a:t>
            </a:r>
            <a:r>
              <a:rPr lang="zh-CN" altLang="en-US" dirty="0" smtClean="0"/>
              <a:t>设前一个标记点坐标为</a:t>
            </a:r>
            <a:r>
              <a:rPr lang="en-US" altLang="zh-CN" dirty="0" smtClean="0"/>
              <a:t>((x} }J)</a:t>
            </a:r>
            <a:r>
              <a:rPr lang="zh-CN" altLang="en-US" dirty="0" smtClean="0"/>
              <a:t>，当前若为真正例，则对应标记点的坐标为</a:t>
            </a:r>
            <a:r>
              <a:rPr lang="en-US" altLang="zh-CN" dirty="0" smtClean="0"/>
              <a:t>((x, } +</a:t>
            </a:r>
            <a:r>
              <a:rPr lang="zh-CN" altLang="en-US" dirty="0" smtClean="0"/>
              <a:t>斋</a:t>
            </a:r>
            <a:r>
              <a:rPr lang="en-US" altLang="zh-CN" dirty="0" smtClean="0"/>
              <a:t>);</a:t>
            </a:r>
            <a:r>
              <a:rPr lang="zh-CN" altLang="en-US" dirty="0" smtClean="0"/>
              <a:t>当前若为假正例，则对应标记点的坐标为</a:t>
            </a:r>
            <a:r>
              <a:rPr lang="en-US" altLang="zh-CN" dirty="0" smtClean="0"/>
              <a:t>((x +</a:t>
            </a:r>
            <a:r>
              <a:rPr lang="zh-CN" altLang="en-US" dirty="0" smtClean="0"/>
              <a:t>洽，。</a:t>
            </a:r>
            <a:r>
              <a:rPr lang="en-US" altLang="zh-CN" dirty="0" smtClean="0"/>
              <a:t>)</a:t>
            </a:r>
            <a:r>
              <a:rPr lang="zh-CN" altLang="en-US" dirty="0" smtClean="0"/>
              <a:t>，然后用线段连接相邻点即得</a:t>
            </a:r>
            <a:r>
              <a:rPr lang="en-US" altLang="zh-CN" dirty="0" smtClean="0"/>
              <a:t>.</a:t>
            </a:r>
            <a:endParaRPr lang="en-US" altLang="zh-CN" dirty="0" smtClean="0"/>
          </a:p>
          <a:p>
            <a:endParaRPr lang="en-US" altLang="zh-CN" dirty="0" smtClean="0"/>
          </a:p>
          <a:p>
            <a:r>
              <a:rPr lang="zh-CN" altLang="en-US" dirty="0" smtClean="0"/>
              <a:t>在不同的应用任务中，我们可根据任务需求来采用不同的截断点，例如若我们更重视“查准率”，则可选择排序中靠前的位置进行截断</a:t>
            </a:r>
            <a:r>
              <a:rPr lang="en-US" altLang="zh-CN" dirty="0" smtClean="0"/>
              <a:t>;</a:t>
            </a:r>
            <a:r>
              <a:rPr lang="zh-CN" altLang="en-US" dirty="0" smtClean="0"/>
              <a:t>若更重视“查全率”，则可选择靠后的位置进行截断</a:t>
            </a:r>
            <a:r>
              <a:rPr lang="en-US" altLang="zh-CN" dirty="0" smtClean="0"/>
              <a:t>.</a:t>
            </a:r>
            <a:r>
              <a:rPr lang="zh-CN" altLang="en-US" dirty="0" smtClean="0"/>
              <a:t>因此，排序本身的质量好坏，体现了综合考虑学习器在不同任务下的“期望泛化性能”的好坏，或者说，“一般情况下”泛化性能的好坏</a:t>
            </a:r>
            <a:r>
              <a:rPr lang="en-US" altLang="zh-CN" dirty="0" smtClean="0"/>
              <a:t>.ROC</a:t>
            </a:r>
            <a:r>
              <a:rPr lang="zh-CN" altLang="en-US" dirty="0" smtClean="0"/>
              <a:t>曲线则是从这个角度出发来研究学习器泛化性能的有力工具</a:t>
            </a:r>
            <a:r>
              <a:rPr lang="en-US" altLang="zh-CN" dirty="0" smtClean="0"/>
              <a:t>.</a:t>
            </a:r>
            <a:endParaRPr lang="en-US" altLang="zh-CN" dirty="0" smtClean="0"/>
          </a:p>
          <a:p>
            <a:endParaRPr lang="en-US" altLang="zh-CN" dirty="0" smtClean="0"/>
          </a:p>
          <a:p>
            <a:r>
              <a:rPr lang="zh-CN" altLang="en-US" dirty="0" smtClean="0"/>
              <a:t>与</a:t>
            </a:r>
            <a:r>
              <a:rPr lang="en-US" altLang="zh-CN" dirty="0" smtClean="0"/>
              <a:t>P-R</a:t>
            </a:r>
            <a:r>
              <a:rPr lang="zh-CN" altLang="en-US" dirty="0" smtClean="0"/>
              <a:t>曲线使用查准率、查全率为纵、横轴不同，</a:t>
            </a:r>
            <a:r>
              <a:rPr lang="en-US" altLang="zh-CN" dirty="0" smtClean="0"/>
              <a:t>ROC</a:t>
            </a:r>
            <a:r>
              <a:rPr lang="zh-CN" altLang="en-US" dirty="0" smtClean="0"/>
              <a:t>曲线的纵轴是“真正例率”</a:t>
            </a:r>
            <a:r>
              <a:rPr lang="en-US" altLang="zh-CN" dirty="0" smtClean="0"/>
              <a:t>(True Positive Rate</a:t>
            </a:r>
            <a:r>
              <a:rPr lang="zh-CN" altLang="en-US" dirty="0" smtClean="0"/>
              <a:t>，简称</a:t>
            </a:r>
            <a:r>
              <a:rPr lang="en-US" altLang="zh-CN" dirty="0" smtClean="0"/>
              <a:t>TPR)</a:t>
            </a:r>
            <a:r>
              <a:rPr lang="zh-CN" altLang="en-US" dirty="0" smtClean="0"/>
              <a:t>，横轴是“假正例率”</a:t>
            </a:r>
            <a:r>
              <a:rPr lang="en-US" altLang="zh-CN" dirty="0" smtClean="0"/>
              <a:t>(False </a:t>
            </a:r>
            <a:r>
              <a:rPr lang="en-US" altLang="zh-CN" dirty="0" err="1" smtClean="0"/>
              <a:t>PositiveRate</a:t>
            </a:r>
            <a:r>
              <a:rPr lang="zh-CN" altLang="en-US" dirty="0" smtClean="0"/>
              <a:t>，简称</a:t>
            </a:r>
            <a:r>
              <a:rPr lang="en-US" altLang="zh-CN" dirty="0" smtClean="0"/>
              <a:t>FPR)</a:t>
            </a:r>
            <a:r>
              <a:rPr lang="zh-CN" altLang="en-US" dirty="0" smtClean="0"/>
              <a:t>，基于表</a:t>
            </a:r>
            <a:r>
              <a:rPr lang="en-US" altLang="zh-CN" dirty="0" smtClean="0"/>
              <a:t>2.1</a:t>
            </a:r>
            <a:r>
              <a:rPr lang="zh-CN" altLang="en-US" dirty="0" smtClean="0"/>
              <a:t>中的符号，两者分别定义为</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进行学习器的比较时，与</a:t>
            </a:r>
            <a:r>
              <a:rPr lang="en-US" altLang="zh-CN" dirty="0" smtClean="0"/>
              <a:t>P-R</a:t>
            </a:r>
            <a:r>
              <a:rPr lang="zh-CN" altLang="en-US" dirty="0" smtClean="0"/>
              <a:t>图相似，若一个学习器的</a:t>
            </a:r>
            <a:r>
              <a:rPr lang="en-US" altLang="zh-CN" dirty="0" smtClean="0"/>
              <a:t>ROC</a:t>
            </a:r>
            <a:r>
              <a:rPr lang="zh-CN" altLang="en-US" dirty="0" smtClean="0"/>
              <a:t>曲线被另一个学习器的曲线完全“包住”，则可断言后者的性能优于前者</a:t>
            </a:r>
            <a:r>
              <a:rPr lang="en-US" altLang="zh-CN" dirty="0" smtClean="0"/>
              <a:t>;</a:t>
            </a:r>
            <a:r>
              <a:rPr lang="zh-CN" altLang="en-US" dirty="0" smtClean="0"/>
              <a:t>若两个学习器的</a:t>
            </a:r>
            <a:r>
              <a:rPr lang="en-US" altLang="zh-CN" dirty="0" smtClean="0"/>
              <a:t>ROC</a:t>
            </a:r>
            <a:r>
              <a:rPr lang="zh-CN" altLang="en-US" dirty="0" smtClean="0"/>
              <a:t>曲线发生交叉，则难以一般性地断言两者孰优孰劣</a:t>
            </a:r>
            <a:r>
              <a:rPr lang="en-US" altLang="zh-CN" dirty="0" smtClean="0"/>
              <a:t>.</a:t>
            </a:r>
            <a:r>
              <a:rPr lang="zh-CN" altLang="en-US" dirty="0" smtClean="0"/>
              <a:t>此时如果一定要进行比较，则较为合理的判据是比较</a:t>
            </a:r>
            <a:r>
              <a:rPr lang="en-US" altLang="zh-CN" dirty="0" smtClean="0"/>
              <a:t>ROC</a:t>
            </a:r>
            <a:r>
              <a:rPr lang="zh-CN" altLang="en-US" dirty="0" smtClean="0"/>
              <a:t>曲线下的面积，即</a:t>
            </a:r>
            <a:r>
              <a:rPr lang="en-US" altLang="zh-CN" dirty="0" smtClean="0"/>
              <a:t>AUC (Area </a:t>
            </a:r>
            <a:r>
              <a:rPr lang="en-US" altLang="zh-CN" dirty="0" err="1" smtClean="0"/>
              <a:t>UnderROC</a:t>
            </a:r>
            <a:r>
              <a:rPr lang="en-US" altLang="zh-CN" dirty="0" smtClean="0"/>
              <a:t> Curve)</a:t>
            </a:r>
            <a:r>
              <a:rPr lang="zh-CN" altLang="en-US" dirty="0" smtClean="0"/>
              <a:t>，如图</a:t>
            </a:r>
            <a:r>
              <a:rPr lang="en-US" altLang="zh-CN" dirty="0" smtClean="0"/>
              <a:t>2.4</a:t>
            </a:r>
            <a:r>
              <a:rPr lang="zh-CN" altLang="en-US" dirty="0" smtClean="0"/>
              <a:t>所示</a:t>
            </a:r>
            <a:r>
              <a:rPr lang="en-US" altLang="zh-CN" dirty="0" smtClean="0"/>
              <a:t>.</a:t>
            </a:r>
            <a:endParaRPr lang="en-US" altLang="zh-CN" dirty="0" smtClean="0"/>
          </a:p>
          <a:p>
            <a:endParaRPr lang="en-US" altLang="zh-CN" dirty="0" smtClean="0"/>
          </a:p>
          <a:p>
            <a:r>
              <a:rPr lang="zh-CN" altLang="en-US" dirty="0" smtClean="0"/>
              <a:t>形式化地看，</a:t>
            </a:r>
            <a:r>
              <a:rPr lang="en-US" altLang="zh-CN" dirty="0" smtClean="0"/>
              <a:t>AUC</a:t>
            </a:r>
            <a:r>
              <a:rPr lang="zh-CN" altLang="en-US" dirty="0" smtClean="0"/>
              <a:t>考虑的是样本预测的排序质量，因此它与排序误差有紧密联系</a:t>
            </a:r>
            <a:r>
              <a:rPr lang="en-US" altLang="zh-CN" dirty="0" smtClean="0"/>
              <a:t>.</a:t>
            </a:r>
            <a:r>
              <a:rPr lang="zh-CN" altLang="en-US" dirty="0" smtClean="0"/>
              <a:t>给定</a:t>
            </a:r>
            <a:r>
              <a:rPr lang="en-US" altLang="zh-CN" dirty="0" smtClean="0"/>
              <a:t>m</a:t>
            </a:r>
            <a:r>
              <a:rPr lang="zh-CN" altLang="en-US" dirty="0" smtClean="0"/>
              <a:t>十个正例和</a:t>
            </a:r>
            <a:r>
              <a:rPr lang="en-US" altLang="zh-CN" dirty="0" smtClean="0"/>
              <a:t>m</a:t>
            </a:r>
            <a:r>
              <a:rPr lang="zh-CN" altLang="en-US" dirty="0" smtClean="0"/>
              <a:t>一个反例，</a:t>
            </a:r>
            <a:r>
              <a:rPr lang="zh-CN" altLang="en-US" b="1" dirty="0" smtClean="0"/>
              <a:t>令</a:t>
            </a:r>
            <a:r>
              <a:rPr lang="en-US" altLang="zh-CN" b="1" dirty="0" smtClean="0"/>
              <a:t>D</a:t>
            </a:r>
            <a:r>
              <a:rPr lang="zh-CN" altLang="en-US" b="1" dirty="0" smtClean="0"/>
              <a:t>十和</a:t>
            </a:r>
            <a:r>
              <a:rPr lang="en-US" altLang="zh-CN" b="1" dirty="0" smtClean="0"/>
              <a:t>D</a:t>
            </a:r>
            <a:r>
              <a:rPr lang="zh-CN" altLang="en-US" b="1" dirty="0" smtClean="0"/>
              <a:t>一分别表示正、反例集合（真实的）</a:t>
            </a:r>
            <a:r>
              <a:rPr lang="zh-CN" altLang="en-US" b="0" dirty="0" smtClean="0"/>
              <a:t>，</a:t>
            </a:r>
            <a:r>
              <a:rPr lang="zh-CN" altLang="en-US" dirty="0" smtClean="0"/>
              <a:t>则排序“损失”</a:t>
            </a:r>
            <a:r>
              <a:rPr lang="en-US" altLang="zh-CN" dirty="0" smtClean="0"/>
              <a:t>(loss)</a:t>
            </a:r>
            <a:r>
              <a:rPr lang="zh-CN" altLang="en-US" dirty="0" smtClean="0"/>
              <a:t>定义为</a:t>
            </a:r>
            <a:endParaRPr lang="en-US" altLang="zh-CN" dirty="0" smtClean="0"/>
          </a:p>
          <a:p>
            <a:endParaRPr lang="en-US" altLang="zh-CN" dirty="0" smtClean="0"/>
          </a:p>
          <a:p>
            <a:r>
              <a:rPr lang="zh-CN" altLang="en-US" dirty="0" smtClean="0"/>
              <a:t>即考虑每一对正、反例，若正例的预测值小于反例，则记一个“罚分”，若相等，则记</a:t>
            </a:r>
            <a:r>
              <a:rPr lang="en-US" altLang="zh-CN" dirty="0" smtClean="0"/>
              <a:t>0.5</a:t>
            </a:r>
            <a:r>
              <a:rPr lang="zh-CN" altLang="en-US" dirty="0" smtClean="0"/>
              <a:t>个“罚分”</a:t>
            </a:r>
            <a:r>
              <a:rPr lang="en-US" altLang="zh-CN" dirty="0" smtClean="0"/>
              <a:t>.</a:t>
            </a:r>
            <a:r>
              <a:rPr lang="zh-CN" altLang="en-US" dirty="0" smtClean="0"/>
              <a:t>容易看出，</a:t>
            </a:r>
            <a:r>
              <a:rPr lang="en-US" altLang="zh-CN" dirty="0" smtClean="0"/>
              <a:t>drank</a:t>
            </a:r>
            <a:r>
              <a:rPr lang="zh-CN" altLang="en-US" dirty="0" smtClean="0"/>
              <a:t>对应的是</a:t>
            </a:r>
            <a:r>
              <a:rPr lang="en-US" altLang="zh-CN" dirty="0" smtClean="0"/>
              <a:t>ROC</a:t>
            </a:r>
            <a:r>
              <a:rPr lang="zh-CN" altLang="en-US" dirty="0" smtClean="0"/>
              <a:t>曲线之上的面积</a:t>
            </a:r>
            <a:r>
              <a:rPr lang="en-US" altLang="zh-CN" dirty="0" smtClean="0"/>
              <a:t>:</a:t>
            </a:r>
            <a:r>
              <a:rPr lang="zh-CN" altLang="en-US" dirty="0" smtClean="0"/>
              <a:t>若一个正例在</a:t>
            </a:r>
            <a:r>
              <a:rPr lang="en-US" altLang="zh-CN" dirty="0" smtClean="0"/>
              <a:t>ROC</a:t>
            </a:r>
            <a:r>
              <a:rPr lang="zh-CN" altLang="en-US" dirty="0" smtClean="0"/>
              <a:t>曲线上对应标记点的坐标为</a:t>
            </a:r>
            <a:r>
              <a:rPr lang="en-US" altLang="zh-CN" dirty="0" smtClean="0"/>
              <a:t>(x,</a:t>
            </a:r>
            <a:r>
              <a:rPr lang="zh-CN" altLang="en-US" dirty="0" smtClean="0"/>
              <a:t>功，则二恰是排序在其之前的反例所占的比例，即假正例率</a:t>
            </a:r>
            <a:r>
              <a:rPr lang="en-US" altLang="zh-CN" dirty="0" smtClean="0"/>
              <a:t>.</a:t>
            </a:r>
            <a:r>
              <a:rPr lang="zh-CN" altLang="en-US" dirty="0" smtClean="0"/>
              <a:t>因此有</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类似的，可给出</a:t>
            </a:r>
            <a:r>
              <a:rPr lang="zh-CN" altLang="en-US" b="1" dirty="0" smtClean="0"/>
              <a:t>基于分布</a:t>
            </a:r>
            <a:r>
              <a:rPr lang="zh-CN" altLang="en-US" dirty="0" smtClean="0"/>
              <a:t>定义的代价敏感错误率，以及其他一些性能度量如精度的代价敏感版本</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FNR</a:t>
            </a:r>
            <a:r>
              <a:rPr lang="zh-CN" altLang="en-US" dirty="0" smtClean="0"/>
              <a:t>假正例率，</a:t>
            </a:r>
            <a:r>
              <a:rPr lang="en-US" altLang="zh-CN" dirty="0" smtClean="0"/>
              <a:t>FPR</a:t>
            </a:r>
            <a:r>
              <a:rPr lang="zh-CN" altLang="en-US" dirty="0" smtClean="0"/>
              <a:t>假反例率</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ROC</a:t>
            </a:r>
            <a:r>
              <a:rPr lang="zh-CN" altLang="en-US" dirty="0" smtClean="0">
                <a:latin typeface="+mn-ea"/>
              </a:rPr>
              <a:t>受试者工作特征（假正例率</a:t>
            </a:r>
            <a:r>
              <a:rPr lang="en-US" altLang="zh-CN" dirty="0" smtClean="0">
                <a:latin typeface="+mn-ea"/>
              </a:rPr>
              <a:t>-</a:t>
            </a:r>
            <a:r>
              <a:rPr lang="zh-CN" altLang="en-US" dirty="0" smtClean="0">
                <a:latin typeface="+mn-ea"/>
              </a:rPr>
              <a:t>真正例率）</a:t>
            </a:r>
            <a:endParaRPr lang="en-US" altLang="zh-CN" dirty="0" smtClean="0"/>
          </a:p>
          <a:p>
            <a:endParaRPr lang="en-US" altLang="zh-CN" dirty="0" smtClean="0"/>
          </a:p>
          <a:p>
            <a:r>
              <a:rPr lang="zh-CN" altLang="en-US" dirty="0" smtClean="0"/>
              <a:t>在</a:t>
            </a:r>
            <a:r>
              <a:rPr lang="zh-CN" altLang="en-US" b="1" dirty="0" smtClean="0"/>
              <a:t>非均等代价下</a:t>
            </a:r>
            <a:r>
              <a:rPr lang="zh-CN" altLang="en-US" dirty="0" smtClean="0"/>
              <a:t>，</a:t>
            </a:r>
            <a:r>
              <a:rPr lang="en-US" altLang="zh-CN" dirty="0" smtClean="0"/>
              <a:t>ROC</a:t>
            </a:r>
            <a:r>
              <a:rPr lang="zh-CN" altLang="en-US" dirty="0" smtClean="0"/>
              <a:t>曲线不能直接反映出学习器的期望总体代价，而“代价曲线”</a:t>
            </a:r>
            <a:r>
              <a:rPr lang="en-US" altLang="zh-CN" dirty="0" smtClean="0"/>
              <a:t>(cost curve)</a:t>
            </a:r>
            <a:r>
              <a:rPr lang="zh-CN" altLang="en-US" dirty="0" smtClean="0"/>
              <a:t>则可达到该目的</a:t>
            </a:r>
            <a:r>
              <a:rPr lang="en-US" altLang="zh-CN" dirty="0" smtClean="0"/>
              <a:t>.</a:t>
            </a:r>
            <a:r>
              <a:rPr lang="zh-CN" altLang="en-US" dirty="0" smtClean="0"/>
              <a:t>代价曲线图的横轴是取值为</a:t>
            </a:r>
            <a:r>
              <a:rPr lang="en-US" altLang="zh-CN" dirty="0" smtClean="0"/>
              <a:t>{0,1]</a:t>
            </a:r>
            <a:r>
              <a:rPr lang="zh-CN" altLang="en-US" dirty="0" smtClean="0"/>
              <a:t>的正例概率代价</a:t>
            </a:r>
            <a:endParaRPr lang="en-US" altLang="zh-CN" dirty="0" smtClean="0"/>
          </a:p>
          <a:p>
            <a:endParaRPr lang="en-US" altLang="zh-CN" dirty="0" smtClean="0"/>
          </a:p>
          <a:p>
            <a:r>
              <a:rPr lang="zh-CN" altLang="en-US" b="1" dirty="0" smtClean="0"/>
              <a:t>绘制很简单</a:t>
            </a:r>
            <a:r>
              <a:rPr lang="en-US" altLang="zh-CN" b="1" dirty="0" smtClean="0"/>
              <a:t>:ROC</a:t>
            </a:r>
            <a:r>
              <a:rPr lang="zh-CN" altLang="en-US" b="1" dirty="0" smtClean="0"/>
              <a:t>曲线上每一点对应了代价平面上的一条线段，设</a:t>
            </a:r>
            <a:r>
              <a:rPr lang="en-US" altLang="zh-CN" b="1" dirty="0" smtClean="0"/>
              <a:t>ROC</a:t>
            </a:r>
            <a:r>
              <a:rPr lang="zh-CN" altLang="en-US" b="1" dirty="0" smtClean="0"/>
              <a:t>曲线上点的坐标为</a:t>
            </a:r>
            <a:r>
              <a:rPr lang="en-US" altLang="zh-CN" b="1" dirty="0" smtClean="0"/>
              <a:t>(TPR, FPR)</a:t>
            </a:r>
            <a:r>
              <a:rPr lang="zh-CN" altLang="en-US" b="1" dirty="0" smtClean="0"/>
              <a:t>，则可相应计算出</a:t>
            </a:r>
            <a:r>
              <a:rPr lang="en-US" altLang="zh-CN" b="1" dirty="0" smtClean="0"/>
              <a:t>FNR</a:t>
            </a:r>
            <a:r>
              <a:rPr lang="zh-CN" altLang="en-US" b="1" dirty="0" smtClean="0"/>
              <a:t>，然后在代价平面上绘制一条从</a:t>
            </a:r>
            <a:r>
              <a:rPr lang="en-US" altLang="zh-CN" b="1" dirty="0" smtClean="0"/>
              <a:t>((0, FPR)</a:t>
            </a:r>
            <a:r>
              <a:rPr lang="zh-CN" altLang="en-US" b="1" dirty="0" smtClean="0"/>
              <a:t>到</a:t>
            </a:r>
            <a:r>
              <a:rPr lang="en-US" altLang="zh-CN" b="1" dirty="0" smtClean="0"/>
              <a:t>(1, FNR)</a:t>
            </a:r>
            <a:r>
              <a:rPr lang="zh-CN" altLang="en-US" b="1" dirty="0" smtClean="0"/>
              <a:t>的线段</a:t>
            </a:r>
            <a:r>
              <a:rPr lang="zh-CN" altLang="en-US" dirty="0" smtClean="0"/>
              <a:t>，线段下的面积即表示了该条件下的期望总体代价</a:t>
            </a:r>
            <a:r>
              <a:rPr lang="en-US" altLang="zh-CN" dirty="0" smtClean="0"/>
              <a:t>;</a:t>
            </a:r>
            <a:r>
              <a:rPr lang="zh-CN" altLang="en-US" dirty="0" smtClean="0"/>
              <a:t>如此将</a:t>
            </a:r>
            <a:r>
              <a:rPr lang="en-US" altLang="zh-CN" dirty="0" smtClean="0"/>
              <a:t>ROC</a:t>
            </a:r>
            <a:r>
              <a:rPr lang="zh-CN" altLang="en-US" dirty="0" smtClean="0"/>
              <a:t>曲线上的每个点转化为代价平面上的一条线段，然后取所有线段的下界，围成的面积即为在所有条件下学习器的期望总体代价</a:t>
            </a:r>
            <a:endParaRPr lang="en-US" altLang="zh-CN" dirty="0" smtClean="0"/>
          </a:p>
          <a:p>
            <a:endParaRPr lang="en-US" altLang="zh-CN" dirty="0" smtClean="0"/>
          </a:p>
          <a:p>
            <a:r>
              <a:rPr lang="en-US" altLang="zh-CN" dirty="0" smtClean="0"/>
              <a:t>FPR</a:t>
            </a:r>
            <a:r>
              <a:rPr lang="zh-CN" altLang="en-US" dirty="0" smtClean="0"/>
              <a:t>假正例率</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FNR</a:t>
            </a:r>
            <a:r>
              <a:rPr lang="zh-CN" altLang="en-US" dirty="0" smtClean="0"/>
              <a:t>假反例率</a:t>
            </a:r>
            <a:endParaRPr lang="en-US" altLang="zh-CN" dirty="0" smtClean="0"/>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FNR</a:t>
            </a:r>
            <a:r>
              <a:rPr lang="zh-CN" altLang="en-US" dirty="0" smtClean="0"/>
              <a:t>假正例率，</a:t>
            </a:r>
            <a:r>
              <a:rPr lang="en-US" altLang="zh-CN" dirty="0" smtClean="0"/>
              <a:t>FPR</a:t>
            </a:r>
            <a:r>
              <a:rPr lang="zh-CN" altLang="en-US" dirty="0" smtClean="0"/>
              <a:t>假反例率</a:t>
            </a:r>
            <a:endParaRPr lang="en-US" altLang="zh-CN" dirty="0" smtClean="0"/>
          </a:p>
          <a:p>
            <a:endParaRPr lang="en-US" altLang="zh-CN" dirty="0" smtClean="0"/>
          </a:p>
          <a:p>
            <a:r>
              <a:rPr lang="zh-CN" altLang="en-US" dirty="0" smtClean="0"/>
              <a:t>图：代价曲线与期望总体代价</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ROC</a:t>
            </a:r>
            <a:r>
              <a:rPr lang="zh-CN" altLang="en-US" dirty="0" smtClean="0">
                <a:latin typeface="+mn-ea"/>
              </a:rPr>
              <a:t>受试者工作特征（假正例率</a:t>
            </a:r>
            <a:r>
              <a:rPr lang="en-US" altLang="zh-CN" dirty="0" smtClean="0">
                <a:latin typeface="+mn-ea"/>
              </a:rPr>
              <a:t>-</a:t>
            </a:r>
            <a:r>
              <a:rPr lang="zh-CN" altLang="en-US" dirty="0" smtClean="0">
                <a:latin typeface="+mn-ea"/>
              </a:rPr>
              <a:t>真正例率）</a:t>
            </a:r>
            <a:endParaRPr lang="en-US" altLang="zh-CN" dirty="0" smtClean="0"/>
          </a:p>
          <a:p>
            <a:endParaRPr lang="en-US" altLang="zh-CN" dirty="0" smtClean="0"/>
          </a:p>
          <a:p>
            <a:r>
              <a:rPr lang="zh-CN" altLang="en-US" dirty="0" smtClean="0"/>
              <a:t>在</a:t>
            </a:r>
            <a:r>
              <a:rPr lang="zh-CN" altLang="en-US" b="1" dirty="0" smtClean="0"/>
              <a:t>非均等代价下</a:t>
            </a:r>
            <a:r>
              <a:rPr lang="zh-CN" altLang="en-US" dirty="0" smtClean="0"/>
              <a:t>，</a:t>
            </a:r>
            <a:r>
              <a:rPr lang="en-US" altLang="zh-CN" dirty="0" smtClean="0"/>
              <a:t>ROC</a:t>
            </a:r>
            <a:r>
              <a:rPr lang="zh-CN" altLang="en-US" dirty="0" smtClean="0"/>
              <a:t>曲线不能直接反映出学习器的期望总体代价，而“代价曲线”</a:t>
            </a:r>
            <a:r>
              <a:rPr lang="en-US" altLang="zh-CN" dirty="0" smtClean="0"/>
              <a:t>(cost curve)</a:t>
            </a:r>
            <a:r>
              <a:rPr lang="zh-CN" altLang="en-US" dirty="0" smtClean="0"/>
              <a:t>则可达到该目的</a:t>
            </a:r>
            <a:r>
              <a:rPr lang="en-US" altLang="zh-CN" dirty="0" smtClean="0"/>
              <a:t>.</a:t>
            </a:r>
            <a:r>
              <a:rPr lang="zh-CN" altLang="en-US" dirty="0" smtClean="0"/>
              <a:t>代价曲线图的横轴是取值为</a:t>
            </a:r>
            <a:r>
              <a:rPr lang="en-US" altLang="zh-CN" dirty="0" smtClean="0"/>
              <a:t>{0,1]</a:t>
            </a:r>
            <a:r>
              <a:rPr lang="zh-CN" altLang="en-US" dirty="0" smtClean="0"/>
              <a:t>的正例概率代价</a:t>
            </a:r>
            <a:endParaRPr lang="en-US" altLang="zh-CN" dirty="0" smtClean="0"/>
          </a:p>
          <a:p>
            <a:endParaRPr lang="en-US" altLang="zh-CN" dirty="0" smtClean="0"/>
          </a:p>
          <a:p>
            <a:r>
              <a:rPr lang="zh-CN" altLang="en-US" b="1" dirty="0" smtClean="0"/>
              <a:t>绘制很简单</a:t>
            </a:r>
            <a:r>
              <a:rPr lang="en-US" altLang="zh-CN" b="1" dirty="0" smtClean="0"/>
              <a:t>:ROC</a:t>
            </a:r>
            <a:r>
              <a:rPr lang="zh-CN" altLang="en-US" b="1" dirty="0" smtClean="0"/>
              <a:t>曲线上每一点对应了代价平面上的一条线段，设</a:t>
            </a:r>
            <a:r>
              <a:rPr lang="en-US" altLang="zh-CN" b="1" dirty="0" smtClean="0"/>
              <a:t>ROC</a:t>
            </a:r>
            <a:r>
              <a:rPr lang="zh-CN" altLang="en-US" b="1" dirty="0" smtClean="0"/>
              <a:t>曲线上点的坐标为</a:t>
            </a:r>
            <a:r>
              <a:rPr lang="en-US" altLang="zh-CN" b="1" dirty="0" smtClean="0"/>
              <a:t>(TPR, FPR)</a:t>
            </a:r>
            <a:r>
              <a:rPr lang="zh-CN" altLang="en-US" b="1" dirty="0" smtClean="0"/>
              <a:t>，则可相应计算出</a:t>
            </a:r>
            <a:r>
              <a:rPr lang="en-US" altLang="zh-CN" b="1" dirty="0" smtClean="0"/>
              <a:t>FNR</a:t>
            </a:r>
            <a:r>
              <a:rPr lang="zh-CN" altLang="en-US" b="1" dirty="0" smtClean="0"/>
              <a:t>，然后在代价平面上绘制一条从</a:t>
            </a:r>
            <a:r>
              <a:rPr lang="en-US" altLang="zh-CN" b="1" dirty="0" smtClean="0"/>
              <a:t>((0, FPR)</a:t>
            </a:r>
            <a:r>
              <a:rPr lang="zh-CN" altLang="en-US" b="1" dirty="0" smtClean="0"/>
              <a:t>到</a:t>
            </a:r>
            <a:r>
              <a:rPr lang="en-US" altLang="zh-CN" b="1" dirty="0" smtClean="0"/>
              <a:t>(1, FNR)</a:t>
            </a:r>
            <a:r>
              <a:rPr lang="zh-CN" altLang="en-US" b="1" dirty="0" smtClean="0"/>
              <a:t>的线段</a:t>
            </a:r>
            <a:r>
              <a:rPr lang="zh-CN" altLang="en-US" dirty="0" smtClean="0"/>
              <a:t>，线段下的面积即表示了该条件下的期望总体代价</a:t>
            </a:r>
            <a:r>
              <a:rPr lang="en-US" altLang="zh-CN" dirty="0" smtClean="0"/>
              <a:t>;</a:t>
            </a:r>
            <a:r>
              <a:rPr lang="zh-CN" altLang="en-US" dirty="0" smtClean="0"/>
              <a:t>如此将</a:t>
            </a:r>
            <a:r>
              <a:rPr lang="en-US" altLang="zh-CN" dirty="0" smtClean="0"/>
              <a:t>ROC</a:t>
            </a:r>
            <a:r>
              <a:rPr lang="zh-CN" altLang="en-US" dirty="0" smtClean="0"/>
              <a:t>曲线上的每个点转化为代价平面上的一条线段，然后取所有线段的下界，围成的面积即为在所有条件下学习器的期望总体代价</a:t>
            </a:r>
            <a:endParaRPr lang="en-US" altLang="zh-CN" dirty="0" smtClean="0"/>
          </a:p>
          <a:p>
            <a:endParaRPr lang="en-US" altLang="zh-CN" dirty="0" smtClean="0"/>
          </a:p>
          <a:p>
            <a:r>
              <a:rPr lang="en-US" altLang="zh-CN" dirty="0" smtClean="0"/>
              <a:t>FPR</a:t>
            </a:r>
            <a:r>
              <a:rPr lang="zh-CN" altLang="en-US" dirty="0" smtClean="0"/>
              <a:t>假正例率</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FNR</a:t>
            </a:r>
            <a:r>
              <a:rPr lang="zh-CN" altLang="en-US" dirty="0" smtClean="0"/>
              <a:t>假反例率</a:t>
            </a:r>
            <a:endParaRPr lang="en-US" altLang="zh-CN" dirty="0" smtClean="0"/>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假设检验的假设是关于总体的一个普遍性论断，这个检验是看从样本得出的结论能否推论到总体。</a:t>
            </a:r>
            <a:endParaRPr lang="en-US" altLang="zh-CN" dirty="0" smtClean="0"/>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根据一定假设条件由样本推断总体</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smtClean="0"/>
          </a:p>
          <a:p>
            <a:r>
              <a:rPr lang="zh-CN" altLang="en-US" dirty="0" smtClean="0"/>
              <a:t>我这里不打算介绍假设检验的具体内容，只说它的基本逻辑。假设检验的基本逻辑是基于科学哲学的一个重要论点：全称命题只能被否证而不能被证明。这个道理很简单，个案当然不足以证明一个全称命题，但是却可以否定全称命题。</a:t>
            </a:r>
            <a:endParaRPr lang="zh-CN" altLang="en-US" dirty="0" smtClean="0"/>
          </a:p>
          <a:p>
            <a:r>
              <a:rPr lang="zh-CN" altLang="en-US" dirty="0" smtClean="0"/>
              <a:t>研究时，我们当然不希望否证自己的研究假设，所以我们就搞个和研究假设相反的虚无假设。如果我们否证了虚无假设，就相当于我们证明了研究假设。所以假设检验就是要试图否证虚无假设，或者说拒绝虚无假设。这是第一层道理。</a:t>
            </a:r>
            <a:endParaRPr lang="zh-CN" altLang="en-US" dirty="0" smtClean="0"/>
          </a:p>
          <a:p>
            <a:r>
              <a:rPr lang="zh-CN" altLang="en-US" dirty="0" smtClean="0"/>
              <a:t>第二层道理和抽样分布有关。由于抽样的原因，样本并不可能绝对地否证虚无假设。在个案中，小概率事件可以等同于不可能发生的事件。我们在这个意义上去在一定的事先约定的概率水平上去拒绝虚无假设。</a:t>
            </a:r>
            <a:endParaRPr lang="zh-CN" altLang="en-US" dirty="0" smtClean="0"/>
          </a:p>
          <a:p>
            <a:br>
              <a:rPr lang="zh-CN" altLang="en-US" dirty="0" smtClean="0"/>
            </a:b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对学习器的性能测量：泛化错误率</a:t>
            </a:r>
            <a:endParaRPr lang="en-US" altLang="zh-CN" dirty="0" smtClean="0"/>
          </a:p>
          <a:p>
            <a:endParaRPr lang="en-US" altLang="zh-CN" dirty="0" smtClean="0"/>
          </a:p>
          <a:p>
            <a:r>
              <a:rPr lang="el-GR" altLang="zh-CN" dirty="0" smtClean="0"/>
              <a:t>ε</a:t>
            </a:r>
            <a:r>
              <a:rPr lang="zh-CN" altLang="en-US" dirty="0" smtClean="0"/>
              <a:t>：</a:t>
            </a:r>
            <a:r>
              <a:rPr lang="en-US" altLang="zh-CN" dirty="0" smtClean="0"/>
              <a:t>epsilon</a:t>
            </a:r>
            <a:endParaRPr lang="en-US" altLang="zh-CN" dirty="0" smtClean="0"/>
          </a:p>
          <a:p>
            <a:endParaRPr lang="en-US" altLang="zh-CN" dirty="0" smtClean="0"/>
          </a:p>
          <a:p>
            <a:r>
              <a:rPr lang="el-GR" altLang="zh-CN" dirty="0" smtClean="0"/>
              <a:t>α</a:t>
            </a:r>
            <a:r>
              <a:rPr lang="zh-CN" altLang="en-US" dirty="0" smtClean="0"/>
              <a:t>相当于判断阈值</a:t>
            </a:r>
            <a:endParaRPr lang="en-US" altLang="zh-CN" dirty="0" smtClean="0"/>
          </a:p>
          <a:p>
            <a:endParaRPr lang="en-US" altLang="zh-CN" dirty="0" smtClean="0"/>
          </a:p>
          <a:p>
            <a:r>
              <a:rPr lang="zh-CN" altLang="en-US" dirty="0" smtClean="0"/>
              <a:t>测得学习器指标，假设（指标知否小于某值）是否是真的</a:t>
            </a:r>
            <a:endParaRPr lang="en-US" altLang="zh-CN" dirty="0" smtClean="0"/>
          </a:p>
          <a:p>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二项检验</a:t>
            </a:r>
            <a:endParaRPr lang="en-US" altLang="zh-CN" dirty="0" smtClean="0"/>
          </a:p>
          <a:p>
            <a:r>
              <a:rPr lang="en-US" altLang="zh-CN" dirty="0" smtClean="0"/>
              <a:t>t</a:t>
            </a:r>
            <a:r>
              <a:rPr lang="zh-CN" altLang="en-US" dirty="0" smtClean="0"/>
              <a:t>检验</a:t>
            </a:r>
            <a:endParaRPr lang="en-US" altLang="zh-CN" dirty="0" smtClean="0"/>
          </a:p>
          <a:p>
            <a:endParaRPr lang="en-US" altLang="zh-CN" dirty="0" smtClean="0"/>
          </a:p>
          <a:p>
            <a:r>
              <a:rPr lang="zh-CN" altLang="en-US" dirty="0" smtClean="0"/>
              <a:t>假设</a:t>
            </a:r>
            <a:r>
              <a:rPr lang="en-US" altLang="zh-CN" dirty="0" smtClean="0"/>
              <a:t>a=b</a:t>
            </a:r>
            <a:endParaRPr lang="en-US" altLang="zh-CN" dirty="0" smtClean="0"/>
          </a:p>
          <a:p>
            <a:endParaRPr lang="en-US" altLang="zh-CN" dirty="0" smtClean="0"/>
          </a:p>
          <a:p>
            <a:r>
              <a:rPr lang="zh-CN" altLang="en-US" dirty="0" smtClean="0"/>
              <a:t>方差</a:t>
            </a:r>
            <a:r>
              <a:rPr lang="en-US" altLang="zh-CN" dirty="0" smtClean="0"/>
              <a:t>sigma</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ta/2, k-1</a:t>
            </a:r>
            <a:r>
              <a:rPr lang="zh-CN" altLang="en-US" dirty="0" smtClean="0"/>
              <a:t>是自由度为</a:t>
            </a:r>
            <a:r>
              <a:rPr lang="en-US" altLang="zh-CN" dirty="0" smtClean="0"/>
              <a:t>k-1</a:t>
            </a:r>
            <a:r>
              <a:rPr lang="zh-CN" altLang="en-US" dirty="0" smtClean="0"/>
              <a:t>的</a:t>
            </a:r>
            <a:r>
              <a:rPr lang="en-US" altLang="zh-CN" dirty="0" smtClean="0"/>
              <a:t>t</a:t>
            </a:r>
            <a:r>
              <a:rPr lang="zh-CN" altLang="en-US" dirty="0" smtClean="0"/>
              <a:t>分布上尾部累积分布为</a:t>
            </a:r>
            <a:r>
              <a:rPr lang="en-US" altLang="zh-CN" dirty="0" smtClean="0"/>
              <a:t>a/2</a:t>
            </a:r>
            <a:r>
              <a:rPr lang="zh-CN" altLang="en-US" dirty="0" smtClean="0"/>
              <a:t>的临界值</a:t>
            </a:r>
            <a:r>
              <a:rPr lang="en-US" altLang="zh-CN" dirty="0" smtClean="0"/>
              <a:t>.</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5x2</a:t>
            </a:r>
            <a:r>
              <a:rPr lang="zh-CN" altLang="en-US" dirty="0" smtClean="0"/>
              <a:t>，</a:t>
            </a:r>
            <a:r>
              <a:rPr lang="en-US" altLang="zh-CN" dirty="0" smtClean="0"/>
              <a:t>5</a:t>
            </a:r>
            <a:r>
              <a:rPr lang="zh-CN" altLang="en-US" dirty="0" smtClean="0"/>
              <a:t>次随机划分</a:t>
            </a:r>
            <a:r>
              <a:rPr lang="en-US" altLang="zh-CN" dirty="0" smtClean="0"/>
              <a:t>2</a:t>
            </a:r>
            <a:r>
              <a:rPr lang="zh-CN" altLang="en-US" dirty="0" smtClean="0"/>
              <a:t>个集合（训练集、测试集）</a:t>
            </a:r>
            <a:r>
              <a:rPr lang="zh-CN" altLang="en-US" dirty="0" smtClean="0">
                <a:latin typeface="+mn-ea"/>
              </a:rPr>
              <a:t>将数据集</a:t>
            </a:r>
            <a:r>
              <a:rPr lang="en-US" altLang="zh-CN" dirty="0" smtClean="0">
                <a:latin typeface="+mn-ea"/>
              </a:rPr>
              <a:t>D</a:t>
            </a:r>
            <a:r>
              <a:rPr lang="zh-CN" altLang="en-US" dirty="0" smtClean="0">
                <a:latin typeface="+mn-ea"/>
              </a:rPr>
              <a:t>划分为</a:t>
            </a:r>
            <a:r>
              <a:rPr lang="en-US" altLang="zh-CN" dirty="0" smtClean="0">
                <a:latin typeface="+mn-ea"/>
              </a:rPr>
              <a:t>k</a:t>
            </a:r>
            <a:r>
              <a:rPr lang="zh-CN" altLang="en-US" dirty="0" smtClean="0">
                <a:latin typeface="+mn-ea"/>
              </a:rPr>
              <a:t>个大小相似的互斥子集</a:t>
            </a:r>
            <a:endParaRPr lang="en-US" altLang="zh-CN" dirty="0" smtClean="0"/>
          </a:p>
          <a:p>
            <a:endParaRPr lang="en-US" altLang="zh-CN" dirty="0" smtClean="0"/>
          </a:p>
          <a:p>
            <a:r>
              <a:rPr lang="en-US" altLang="zh-CN" dirty="0" smtClean="0"/>
              <a:t>5</a:t>
            </a:r>
            <a:r>
              <a:rPr lang="zh-CN" altLang="en-US" dirty="0" smtClean="0"/>
              <a:t>次不独立</a:t>
            </a:r>
            <a:endParaRPr lang="en-US" altLang="zh-CN" dirty="0" smtClean="0"/>
          </a:p>
          <a:p>
            <a:endParaRPr lang="en-US" altLang="zh-CN" dirty="0" smtClean="0"/>
          </a:p>
          <a:p>
            <a:endParaRPr lang="en-US" altLang="zh-CN" dirty="0" smtClean="0"/>
          </a:p>
          <a:p>
            <a:r>
              <a:rPr lang="zh-CN" altLang="en-US" dirty="0" smtClean="0"/>
              <a:t>只取第一次的均值</a:t>
            </a:r>
            <a:endParaRPr lang="en-US" altLang="zh-CN" dirty="0" smtClean="0"/>
          </a:p>
          <a:p>
            <a:endParaRPr lang="en-US" altLang="zh-CN" dirty="0" smtClean="0"/>
          </a:p>
          <a:p>
            <a:r>
              <a:rPr lang="zh-CN" altLang="en-US" dirty="0" smtClean="0"/>
              <a:t>构造变量</a:t>
            </a:r>
            <a:r>
              <a:rPr lang="en-US" altLang="zh-CN" dirty="0" err="1" smtClean="0"/>
              <a:t>tao</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latin typeface="+mn-ea"/>
              </a:rPr>
              <a:t>留出法，两个互斥的集合（训练集</a:t>
            </a:r>
            <a:r>
              <a:rPr lang="en-US" altLang="zh-CN" dirty="0" smtClean="0">
                <a:latin typeface="+mn-ea"/>
              </a:rPr>
              <a:t>2/3-4/5</a:t>
            </a:r>
            <a:r>
              <a:rPr lang="zh-CN" altLang="en-US" dirty="0" smtClean="0">
                <a:latin typeface="+mn-ea"/>
              </a:rPr>
              <a:t>、测试集）</a:t>
            </a:r>
            <a:endParaRPr lang="en-US" altLang="zh-CN" dirty="0" smtClean="0">
              <a:latin typeface="+mn-ea"/>
            </a:endParaRPr>
          </a:p>
          <a:p>
            <a:endParaRPr lang="en-US" altLang="zh-CN" dirty="0" smtClean="0">
              <a:latin typeface="+mn-ea"/>
            </a:endParaRPr>
          </a:p>
          <a:p>
            <a:r>
              <a:rPr lang="en-US" altLang="zh-CN" dirty="0" smtClean="0">
                <a:latin typeface="+mn-ea"/>
              </a:rPr>
              <a:t>e00</a:t>
            </a:r>
            <a:r>
              <a:rPr lang="zh-CN" altLang="en-US" dirty="0" smtClean="0">
                <a:latin typeface="+mn-ea"/>
              </a:rPr>
              <a:t>，算法</a:t>
            </a:r>
            <a:r>
              <a:rPr lang="en-US" altLang="zh-CN" dirty="0" smtClean="0">
                <a:latin typeface="+mn-ea"/>
              </a:rPr>
              <a:t>a</a:t>
            </a:r>
            <a:r>
              <a:rPr lang="zh-CN" altLang="en-US" dirty="0" smtClean="0">
                <a:latin typeface="+mn-ea"/>
              </a:rPr>
              <a:t>算法</a:t>
            </a:r>
            <a:r>
              <a:rPr lang="en-US" altLang="zh-CN" dirty="0" smtClean="0">
                <a:latin typeface="+mn-ea"/>
              </a:rPr>
              <a:t>b</a:t>
            </a:r>
            <a:r>
              <a:rPr lang="zh-CN" altLang="en-US" dirty="0" smtClean="0">
                <a:latin typeface="+mn-ea"/>
              </a:rPr>
              <a:t>都正确的样本数</a:t>
            </a:r>
            <a:endParaRPr lang="en-US" altLang="zh-CN" dirty="0" smtClean="0">
              <a:latin typeface="+mn-ea"/>
            </a:endParaRPr>
          </a:p>
          <a:p>
            <a:endParaRPr lang="en-US" altLang="zh-CN" dirty="0" smtClean="0">
              <a:latin typeface="+mn-ea"/>
            </a:endParaRPr>
          </a:p>
          <a:p>
            <a:r>
              <a:rPr lang="en-US" altLang="zh-CN" dirty="0" smtClean="0"/>
              <a:t>X </a:t>
            </a:r>
            <a:r>
              <a:rPr lang="en-US" altLang="zh-CN" dirty="0" err="1" smtClean="0"/>
              <a:t>ka</a:t>
            </a:r>
            <a:r>
              <a:rPr lang="zh-CN" altLang="en-US" dirty="0" smtClean="0"/>
              <a:t>（可以）</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给定显著度 ，可判别是否有显著差别</a:t>
            </a:r>
            <a:endParaRPr lang="en-US" altLang="zh-CN"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两种方法</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比较序值</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p>
          <a:p>
            <a:r>
              <a:rPr lang="zh-CN" altLang="en-US" dirty="0" smtClean="0"/>
              <a:t>自由度为</a:t>
            </a:r>
            <a:r>
              <a:rPr lang="en-US" altLang="zh-CN" dirty="0" smtClean="0"/>
              <a:t>K-1</a:t>
            </a:r>
            <a:r>
              <a:rPr lang="zh-CN" altLang="en-US" dirty="0" smtClean="0"/>
              <a:t>的</a:t>
            </a:r>
            <a:r>
              <a:rPr lang="en-US" altLang="zh-CN" dirty="0" smtClean="0"/>
              <a:t>X2</a:t>
            </a:r>
            <a:r>
              <a:rPr lang="zh-CN" altLang="en-US" dirty="0" smtClean="0"/>
              <a:t>分布</a:t>
            </a:r>
            <a:endParaRPr lang="en-US" altLang="zh-CN" dirty="0" smtClean="0"/>
          </a:p>
          <a:p>
            <a:r>
              <a:rPr lang="zh-CN" altLang="en-US" dirty="0" smtClean="0"/>
              <a:t>或</a:t>
            </a:r>
            <a:endParaRPr lang="en-US" altLang="zh-CN" dirty="0" smtClean="0"/>
          </a:p>
          <a:p>
            <a:r>
              <a:rPr lang="zh-CN" altLang="en-US" dirty="0" smtClean="0"/>
              <a:t>自由度为</a:t>
            </a:r>
            <a:r>
              <a:rPr lang="en-US" altLang="zh-CN" dirty="0" smtClean="0"/>
              <a:t>K-1</a:t>
            </a:r>
            <a:r>
              <a:rPr lang="zh-CN" altLang="en-US" dirty="0" smtClean="0"/>
              <a:t>或</a:t>
            </a:r>
            <a:r>
              <a:rPr lang="en-US" altLang="zh-CN" dirty="0" smtClean="0"/>
              <a:t>(k-1)(N-1)</a:t>
            </a:r>
            <a:r>
              <a:rPr lang="zh-CN" altLang="en-US" dirty="0" smtClean="0"/>
              <a:t>的</a:t>
            </a:r>
            <a:r>
              <a:rPr lang="en-US" altLang="zh-CN" dirty="0" smtClean="0"/>
              <a:t>F</a:t>
            </a:r>
            <a:r>
              <a:rPr lang="zh-CN" altLang="en-US" dirty="0" smtClean="0"/>
              <a:t>分布</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则表明算法性能显著不同，但无法判别谁好</a:t>
            </a:r>
            <a:endParaRPr lang="en-US" altLang="zh-CN"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所有算法性能不同，不是两两算法性能不同。</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比较序值</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p>
          <a:p>
            <a:r>
              <a:rPr lang="zh-CN" altLang="en-US" dirty="0" smtClean="0"/>
              <a:t>自由度为</a:t>
            </a:r>
            <a:r>
              <a:rPr lang="en-US" altLang="zh-CN" dirty="0" smtClean="0"/>
              <a:t>K-1</a:t>
            </a:r>
            <a:r>
              <a:rPr lang="zh-CN" altLang="en-US" dirty="0" smtClean="0"/>
              <a:t>的</a:t>
            </a:r>
            <a:r>
              <a:rPr lang="en-US" altLang="zh-CN" dirty="0" smtClean="0"/>
              <a:t>X2</a:t>
            </a:r>
            <a:r>
              <a:rPr lang="zh-CN" altLang="en-US" dirty="0" smtClean="0"/>
              <a:t>分布</a:t>
            </a:r>
            <a:endParaRPr lang="en-US" altLang="zh-CN" dirty="0" smtClean="0"/>
          </a:p>
          <a:p>
            <a:r>
              <a:rPr lang="zh-CN" altLang="en-US" dirty="0" smtClean="0"/>
              <a:t>或</a:t>
            </a:r>
            <a:endParaRPr lang="en-US" altLang="zh-CN" dirty="0" smtClean="0"/>
          </a:p>
          <a:p>
            <a:r>
              <a:rPr lang="zh-CN" altLang="en-US" dirty="0" smtClean="0"/>
              <a:t>自由度为</a:t>
            </a:r>
            <a:r>
              <a:rPr lang="en-US" altLang="zh-CN" dirty="0" smtClean="0"/>
              <a:t>K-1</a:t>
            </a:r>
            <a:r>
              <a:rPr lang="zh-CN" altLang="en-US" dirty="0" smtClean="0"/>
              <a:t>或</a:t>
            </a:r>
            <a:r>
              <a:rPr lang="en-US" altLang="zh-CN" dirty="0" smtClean="0"/>
              <a:t>(k-1)(N-1)</a:t>
            </a:r>
            <a:r>
              <a:rPr lang="zh-CN" altLang="en-US" dirty="0" smtClean="0"/>
              <a:t>的</a:t>
            </a:r>
            <a:r>
              <a:rPr lang="en-US" altLang="zh-CN" dirty="0" smtClean="0"/>
              <a:t>F</a:t>
            </a:r>
            <a:r>
              <a:rPr lang="zh-CN" altLang="en-US" dirty="0" smtClean="0"/>
              <a:t>分布</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rPr>
              <a:t>则表明算法性能显著不同，但无法判别谁好</a:t>
            </a:r>
            <a:endParaRPr lang="en-US" altLang="zh-CN"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若“所有算法的性能相同”这个假设被拒绝，则说明算法的性能显著不同</a:t>
            </a:r>
            <a:r>
              <a:rPr lang="en-US" altLang="zh-CN" dirty="0" smtClean="0"/>
              <a:t>.</a:t>
            </a:r>
            <a:r>
              <a:rPr lang="zh-CN" altLang="en-US" dirty="0" smtClean="0"/>
              <a:t>这时需进行“后续检验”</a:t>
            </a:r>
            <a:r>
              <a:rPr lang="en-US" altLang="zh-CN" dirty="0" smtClean="0"/>
              <a:t> </a:t>
            </a:r>
            <a:r>
              <a:rPr lang="zh-CN" altLang="en-US" dirty="0" smtClean="0"/>
              <a:t>来进一步区分各算法常用的有</a:t>
            </a:r>
            <a:r>
              <a:rPr lang="en-US" altLang="zh-CN" b="1" dirty="0" err="1" smtClean="0"/>
              <a:t>Nemenyi</a:t>
            </a:r>
            <a:r>
              <a:rPr lang="zh-CN" altLang="en-US" dirty="0" smtClean="0"/>
              <a:t>后续检验</a:t>
            </a:r>
            <a:r>
              <a:rPr lang="en-US" altLang="zh-CN" dirty="0" smtClean="0"/>
              <a:t>.</a:t>
            </a:r>
            <a:endParaRPr lang="en-US" altLang="zh-CN" dirty="0" smtClean="0"/>
          </a:p>
          <a:p>
            <a:endParaRPr lang="en-US" altLang="zh-CN" dirty="0" smtClean="0"/>
          </a:p>
          <a:p>
            <a:r>
              <a:rPr lang="en-US" altLang="zh-CN" dirty="0" err="1" smtClean="0"/>
              <a:t>qa</a:t>
            </a:r>
            <a:r>
              <a:rPr lang="zh-CN" altLang="en-US" dirty="0" smtClean="0"/>
              <a:t>是</a:t>
            </a:r>
            <a:r>
              <a:rPr lang="en-US" altLang="zh-CN" dirty="0" smtClean="0"/>
              <a:t>Tukey</a:t>
            </a:r>
            <a:r>
              <a:rPr lang="zh-CN" altLang="en-US" dirty="0" smtClean="0"/>
              <a:t>分布的临界值</a:t>
            </a:r>
            <a:endParaRPr lang="en-US" altLang="zh-CN" dirty="0" smtClean="0"/>
          </a:p>
          <a:p>
            <a:endParaRPr lang="en-US" altLang="zh-CN" dirty="0" smtClean="0"/>
          </a:p>
          <a:p>
            <a:r>
              <a:rPr lang="zh-CN" altLang="en-US" b="1" dirty="0" smtClean="0"/>
              <a:t>上述检验比较可以直观地用</a:t>
            </a:r>
            <a:r>
              <a:rPr lang="en-US" altLang="zh-CN" b="1" dirty="0" smtClean="0"/>
              <a:t>Friedman</a:t>
            </a:r>
            <a:r>
              <a:rPr lang="zh-CN" altLang="en-US" b="1" dirty="0" smtClean="0"/>
              <a:t>检验图</a:t>
            </a:r>
            <a:r>
              <a:rPr lang="zh-CN" altLang="en-US" dirty="0" smtClean="0"/>
              <a:t>显示</a:t>
            </a:r>
            <a:r>
              <a:rPr lang="en-US" altLang="zh-CN" dirty="0" smtClean="0"/>
              <a:t>.</a:t>
            </a:r>
            <a:r>
              <a:rPr lang="zh-CN" altLang="en-US" dirty="0" smtClean="0"/>
              <a:t>例如根据表</a:t>
            </a:r>
            <a:r>
              <a:rPr lang="en-US" altLang="zh-CN" dirty="0" smtClean="0"/>
              <a:t>2.5</a:t>
            </a:r>
            <a:r>
              <a:rPr lang="zh-CN" altLang="en-US" dirty="0" smtClean="0"/>
              <a:t>的序值结果可绘制出图</a:t>
            </a:r>
            <a:r>
              <a:rPr lang="en-US" altLang="zh-CN" dirty="0" smtClean="0"/>
              <a:t>2.8</a:t>
            </a:r>
            <a:r>
              <a:rPr lang="zh-CN" altLang="en-US" dirty="0" smtClean="0"/>
              <a:t>，图中纵轴显示各个算法，横轴是平均序值</a:t>
            </a:r>
            <a:r>
              <a:rPr lang="en-US" altLang="zh-CN" dirty="0" smtClean="0"/>
              <a:t>.</a:t>
            </a:r>
            <a:r>
              <a:rPr lang="zh-CN" altLang="en-US" dirty="0" smtClean="0"/>
              <a:t>对每个算法，用一个圆点显示其平均序值，以圆点为中心的横线段表示临界值域的大小</a:t>
            </a:r>
            <a:r>
              <a:rPr lang="en-US" altLang="zh-CN" dirty="0" smtClean="0"/>
              <a:t>.</a:t>
            </a:r>
            <a:r>
              <a:rPr lang="zh-CN" altLang="en-US" dirty="0" smtClean="0"/>
              <a:t>然后就可从图中观察，若两个算法的横线段有交叠，则说明这两个算法没有显著差别，否则即说明有显著差别</a:t>
            </a:r>
            <a:r>
              <a:rPr lang="en-US" altLang="zh-CN" dirty="0" smtClean="0"/>
              <a:t>.</a:t>
            </a:r>
            <a:r>
              <a:rPr lang="zh-CN" altLang="en-US" dirty="0" smtClean="0"/>
              <a:t>从图</a:t>
            </a:r>
            <a:r>
              <a:rPr lang="en-US" altLang="zh-CN" dirty="0" smtClean="0"/>
              <a:t>2.8</a:t>
            </a:r>
            <a:r>
              <a:rPr lang="zh-CN" altLang="en-US" dirty="0" smtClean="0"/>
              <a:t>中可容易地看出，算法</a:t>
            </a:r>
            <a:r>
              <a:rPr lang="en-US" altLang="zh-CN" dirty="0" smtClean="0"/>
              <a:t>A</a:t>
            </a:r>
            <a:r>
              <a:rPr lang="zh-CN" altLang="en-US" dirty="0" smtClean="0"/>
              <a:t>与</a:t>
            </a:r>
            <a:r>
              <a:rPr lang="en-US" altLang="zh-CN" dirty="0" smtClean="0"/>
              <a:t>B</a:t>
            </a:r>
            <a:r>
              <a:rPr lang="zh-CN" altLang="en-US" dirty="0" smtClean="0"/>
              <a:t>没有显著差别，因为它们的横线段有交叠区域，而算法</a:t>
            </a:r>
            <a:r>
              <a:rPr lang="en-US" altLang="zh-CN" dirty="0" smtClean="0"/>
              <a:t>A</a:t>
            </a:r>
            <a:r>
              <a:rPr lang="zh-CN" altLang="en-US" dirty="0" smtClean="0"/>
              <a:t>显著优于算法</a:t>
            </a:r>
            <a:r>
              <a:rPr lang="en-US" altLang="zh-CN" dirty="0" smtClean="0"/>
              <a:t>C</a:t>
            </a:r>
            <a:r>
              <a:rPr lang="zh-CN" altLang="en-US" dirty="0" smtClean="0"/>
              <a:t>，因为它们的横线段没有交叠区域</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回归是拟合的一种方法，回归（均值、方差等统计分析方法）</a:t>
            </a:r>
            <a:endParaRPr lang="en-US" altLang="zh-CN" dirty="0" smtClean="0"/>
          </a:p>
          <a:p>
            <a:r>
              <a:rPr lang="zh-CN" altLang="en-US" dirty="0" smtClean="0"/>
              <a:t>期望（均值）</a:t>
            </a:r>
            <a:endParaRPr lang="en-US" altLang="zh-CN" dirty="0" smtClean="0"/>
          </a:p>
          <a:p>
            <a:endParaRPr lang="en-US" altLang="zh-CN" dirty="0" smtClean="0"/>
          </a:p>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偏差</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bias</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描述的是预测值（估计值）的</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期望与真实值</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之间的差距。偏差越大，越偏离真实数据，如下图第二行所示。</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方差</a:t>
            </a:r>
            <a:r>
              <a:rPr lang="en-US" altLang="zh-CN" sz="1200" b="1" i="0" kern="1200" dirty="0" err="1" smtClean="0">
                <a:solidFill>
                  <a:schemeClr val="tx1"/>
                </a:solidFill>
                <a:effectLst/>
                <a:latin typeface="Arial" panose="020B0604020202020204" pitchFamily="34" charset="0"/>
                <a:ea typeface="宋体" panose="02010600030101010101" pitchFamily="2" charset="-122"/>
                <a:cs typeface="+mn-cs"/>
              </a:rPr>
              <a:t>var</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预测值的变化范围，离散程度</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，也就是离其期望值的距离。方差越大，数据的分布越分散，如下图右列所示。</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yD</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数据集中的标记，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y</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真实标记</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回归是拟合的一种方法，回归（均值、方差等统计分析方法）</a:t>
            </a:r>
            <a:endParaRPr lang="en-US" altLang="zh-CN" dirty="0" smtClean="0"/>
          </a:p>
          <a:p>
            <a:r>
              <a:rPr lang="zh-CN" altLang="en-US" dirty="0" smtClean="0"/>
              <a:t>期望（均值）</a:t>
            </a:r>
            <a:endParaRPr lang="en-US" altLang="zh-CN" dirty="0" smtClean="0"/>
          </a:p>
          <a:p>
            <a:endParaRPr lang="en-US" altLang="zh-CN" dirty="0" smtClean="0"/>
          </a:p>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偏差</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bias</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描述的是预测值（估计值）的</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期望与真实值</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之间的差距。偏差越大，越偏离真实数据，如下图第二行所示。</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方差</a:t>
            </a:r>
            <a:r>
              <a:rPr lang="en-US" altLang="zh-CN" sz="1200" b="1" i="0" kern="1200" dirty="0" err="1" smtClean="0">
                <a:solidFill>
                  <a:schemeClr val="tx1"/>
                </a:solidFill>
                <a:effectLst/>
                <a:latin typeface="Arial" panose="020B0604020202020204" pitchFamily="34" charset="0"/>
                <a:ea typeface="宋体" panose="02010600030101010101" pitchFamily="2" charset="-122"/>
                <a:cs typeface="+mn-cs"/>
              </a:rPr>
              <a:t>var</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预测值的变化范围，离散程度</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，也就是离其期望值的距离。方差越大，数据的分布越分散，如下图右列所示。</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yD</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数据集中的标记，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y</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真实标记</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窘</a:t>
            </a:r>
            <a:r>
              <a:rPr lang="en-US" altLang="zh-CN" dirty="0" err="1" smtClean="0"/>
              <a:t>jiong</a:t>
            </a:r>
            <a:endParaRPr lang="en-US" altLang="zh-CN" dirty="0" smtClean="0"/>
          </a:p>
          <a:p>
            <a:endParaRPr lang="en-US" altLang="zh-CN" dirty="0" smtClean="0"/>
          </a:p>
          <a:p>
            <a:r>
              <a:rPr lang="zh-CN" altLang="en-US" smtClean="0"/>
              <a:t>针对学习过程说的。</a:t>
            </a:r>
            <a:endParaRPr lang="en-US" altLang="zh-CN" dirty="0" smtClean="0"/>
          </a:p>
          <a:p>
            <a:endParaRPr lang="en-US" altLang="zh-CN" dirty="0" smtClean="0"/>
          </a:p>
          <a:p>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bias</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偏差：</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描述的是预测值（估计值）的</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期望与真实值</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之间的差距。偏差越大，越偏离真实数据，如下图第二行所示。</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1" i="0" kern="1200" dirty="0" err="1" smtClean="0">
                <a:solidFill>
                  <a:schemeClr val="tx1"/>
                </a:solidFill>
                <a:effectLst/>
                <a:latin typeface="Arial" panose="020B0604020202020204" pitchFamily="34" charset="0"/>
                <a:ea typeface="宋体" panose="02010600030101010101" pitchFamily="2" charset="-122"/>
                <a:cs typeface="+mn-cs"/>
              </a:rPr>
              <a:t>var</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方差：</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描述的是</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预测值的变化范围，离散程度</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，也就是离其期望值的距离。方差越大，数据的分布越分散，如下图右列所示。</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2050" name="Group 2"/>
          <p:cNvGrpSpPr/>
          <p:nvPr/>
        </p:nvGrpSpPr>
        <p:grpSpPr bwMode="auto">
          <a:xfrm>
            <a:off x="0" y="2438401"/>
            <a:ext cx="9009185" cy="1052513"/>
            <a:chOff x="0" y="0"/>
            <a:chExt cx="5675" cy="663"/>
          </a:xfrm>
        </p:grpSpPr>
        <p:grpSp>
          <p:nvGrpSpPr>
            <p:cNvPr id="2051" name="Group 3"/>
            <p:cNvGrpSpPr/>
            <p:nvPr/>
          </p:nvGrpSpPr>
          <p:grpSpPr bwMode="auto">
            <a:xfrm>
              <a:off x="183" y="68"/>
              <a:ext cx="448" cy="299"/>
              <a:chOff x="0" y="0"/>
              <a:chExt cx="624" cy="432"/>
            </a:xfrm>
          </p:grpSpPr>
          <p:sp>
            <p:nvSpPr>
              <p:cNvPr id="2052"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4" name="Group 6"/>
            <p:cNvGrpSpPr/>
            <p:nvPr/>
          </p:nvGrpSpPr>
          <p:grpSpPr bwMode="auto">
            <a:xfrm>
              <a:off x="261" y="334"/>
              <a:ext cx="465" cy="299"/>
              <a:chOff x="0" y="0"/>
              <a:chExt cx="672" cy="432"/>
            </a:xfrm>
          </p:grpSpPr>
          <p:sp>
            <p:nvSpPr>
              <p:cNvPr id="2055"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6"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endParaRPr lang="zh-CN" noProof="0" smtClean="0"/>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noProof="0" smtClean="0"/>
          </a:p>
        </p:txBody>
      </p:sp>
      <p:sp>
        <p:nvSpPr>
          <p:cNvPr id="206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206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206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pPr>
              <a:defRPr/>
            </a:pPr>
            <a:fld id="{6D5A3878-68F3-45F5-8CE5-B10A948053B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36511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1509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D7FCA52-35BE-435D-97C2-A408D337DE8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3568"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0106"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4FDE62D2-D264-4337-A19B-38BEDDBEBCE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27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01EB25B2-8CD4-4E83-80AD-E0B7F4C85BF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1A13C547-B64A-4E2F-A6FC-68A598118A9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2A9A150F-B1C5-4363-A5AD-8A53B12CA15F}"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文本占位符 3"/>
          <p:cNvSpPr>
            <a:spLocks noGrp="1"/>
          </p:cNvSpPr>
          <p:nvPr>
            <p:ph type="body" sz="half" idx="2"/>
          </p:nvPr>
        </p:nvSpPr>
        <p:spPr>
          <a:xfrm>
            <a:off x="457200" y="1435101"/>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A247003D-06A9-418B-9E36-B2D925D2A0D5}"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8D9ABAD4-93F4-4D00-B7FE-FF47E0DCFB90}"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5D96A2AB-B9EE-408D-BB4B-51D32C4155CD}"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539" y="617539"/>
            <a:ext cx="1950427"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327" y="617539"/>
            <a:ext cx="5713534" cy="55149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CBAFC95-745C-4519-8D02-578071E7EC83}"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20080"/>
          </a:xfrm>
        </p:spPr>
        <p:txBody>
          <a:bodyPr/>
          <a:lstStyle/>
          <a:p>
            <a:r>
              <a:rPr lang="zh-CN" altLang="en-US" smtClean="0"/>
              <a:t>单击此处编辑母版标题样式</a:t>
            </a:r>
            <a:endParaRPr lang="zh-CN" altLang="en-US" dirty="0"/>
          </a:p>
        </p:txBody>
      </p:sp>
      <p:sp>
        <p:nvSpPr>
          <p:cNvPr id="3" name="文本占位符 2"/>
          <p:cNvSpPr>
            <a:spLocks noGrp="1"/>
          </p:cNvSpPr>
          <p:nvPr>
            <p:ph type="body" sz="half" idx="1"/>
          </p:nvPr>
        </p:nvSpPr>
        <p:spPr>
          <a:xfrm>
            <a:off x="457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a:xfrm>
            <a:off x="457200" y="6245225"/>
            <a:ext cx="2133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2082EF7-E0C7-46B1-9175-A6A81E4D74A4}" type="slidenum">
              <a:rPr lang="en-US" altLang="zh-CN" smtClean="0"/>
            </a:fld>
            <a:endParaRPr lang="en-US" altLang="zh-CN"/>
          </a:p>
        </p:txBody>
      </p:sp>
    </p:spTree>
  </p:cSld>
  <p:clrMapOvr>
    <a:masterClrMapping/>
  </p:clrMapOvr>
  <p:transition>
    <p:cover dir="u"/>
  </p:transition>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17635" y="152574"/>
            <a:ext cx="438150" cy="47466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7" name="Rectangle 3"/>
          <p:cNvSpPr>
            <a:spLocks noChangeArrowheads="1"/>
          </p:cNvSpPr>
          <p:nvPr/>
        </p:nvSpPr>
        <p:spPr bwMode="auto">
          <a:xfrm>
            <a:off x="800100" y="152574"/>
            <a:ext cx="328246"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8" name="Rectangle 4"/>
          <p:cNvSpPr>
            <a:spLocks noChangeArrowheads="1"/>
          </p:cNvSpPr>
          <p:nvPr/>
        </p:nvSpPr>
        <p:spPr bwMode="auto">
          <a:xfrm>
            <a:off x="540728" y="574849"/>
            <a:ext cx="423496" cy="4746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9" name="Rectangle 5"/>
          <p:cNvSpPr>
            <a:spLocks noChangeArrowheads="1"/>
          </p:cNvSpPr>
          <p:nvPr/>
        </p:nvSpPr>
        <p:spPr bwMode="auto">
          <a:xfrm>
            <a:off x="911470" y="574849"/>
            <a:ext cx="367812"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0" name="Rectangle 6"/>
          <p:cNvSpPr>
            <a:spLocks noChangeArrowheads="1"/>
          </p:cNvSpPr>
          <p:nvPr/>
        </p:nvSpPr>
        <p:spPr bwMode="auto">
          <a:xfrm>
            <a:off x="127489" y="501824"/>
            <a:ext cx="559777"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1" name="Rectangle 7"/>
          <p:cNvSpPr>
            <a:spLocks noChangeArrowheads="1"/>
          </p:cNvSpPr>
          <p:nvPr/>
        </p:nvSpPr>
        <p:spPr bwMode="auto">
          <a:xfrm>
            <a:off x="762001" y="44624"/>
            <a:ext cx="32238" cy="105251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2" name="Rectangle 8"/>
          <p:cNvSpPr>
            <a:spLocks noChangeArrowheads="1"/>
          </p:cNvSpPr>
          <p:nvPr/>
        </p:nvSpPr>
        <p:spPr bwMode="auto">
          <a:xfrm>
            <a:off x="442547" y="835198"/>
            <a:ext cx="8226669"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3" name="Rectangle 9"/>
          <p:cNvSpPr>
            <a:spLocks noGrp="1" noChangeArrowheads="1"/>
          </p:cNvSpPr>
          <p:nvPr>
            <p:ph type="title"/>
          </p:nvPr>
        </p:nvSpPr>
        <p:spPr bwMode="auto">
          <a:xfrm>
            <a:off x="1242116" y="24359"/>
            <a:ext cx="7427100" cy="81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dirty="0" smtClean="0"/>
              <a:t>单击此处编辑母版标题样式</a:t>
            </a:r>
            <a:endParaRPr lang="zh-CN" dirty="0" smtClean="0"/>
          </a:p>
        </p:txBody>
      </p:sp>
      <p:sp>
        <p:nvSpPr>
          <p:cNvPr id="1034" name="Rectangle 10"/>
          <p:cNvSpPr>
            <a:spLocks noGrp="1" noChangeArrowheads="1"/>
          </p:cNvSpPr>
          <p:nvPr>
            <p:ph type="body" idx="1"/>
          </p:nvPr>
        </p:nvSpPr>
        <p:spPr bwMode="auto">
          <a:xfrm>
            <a:off x="683568" y="970384"/>
            <a:ext cx="7772400" cy="4690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dirty="0" smtClean="0"/>
              <a:t>单击此处编辑母版文本样式</a:t>
            </a:r>
            <a:endParaRPr lang="zh-CN" dirty="0" smtClean="0"/>
          </a:p>
          <a:p>
            <a:pPr lvl="1"/>
            <a:r>
              <a:rPr lang="zh-CN" dirty="0" smtClean="0"/>
              <a:t>第二级</a:t>
            </a:r>
            <a:endParaRPr lang="zh-CN" dirty="0" smtClean="0"/>
          </a:p>
          <a:p>
            <a:pPr lvl="2"/>
            <a:r>
              <a:rPr lang="zh-CN" dirty="0" smtClean="0"/>
              <a:t>第三级</a:t>
            </a:r>
            <a:endParaRPr lang="zh-CN" dirty="0" smtClean="0"/>
          </a:p>
          <a:p>
            <a:pPr lvl="3"/>
            <a:r>
              <a:rPr lang="zh-CN" dirty="0" smtClean="0"/>
              <a:t>第四级</a:t>
            </a:r>
            <a:endParaRPr lang="zh-CN" dirty="0" smtClean="0"/>
          </a:p>
          <a:p>
            <a:pPr lvl="4"/>
            <a:r>
              <a:rPr lang="zh-CN" dirty="0" smtClean="0"/>
              <a:t>第五级</a:t>
            </a:r>
            <a:endParaRPr lang="zh-CN" dirty="0" smtClean="0"/>
          </a:p>
        </p:txBody>
      </p:sp>
      <p:sp>
        <p:nvSpPr>
          <p:cNvPr id="103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vl1pPr>
          </a:lstStyle>
          <a:p>
            <a:pPr>
              <a:defRPr/>
            </a:pPr>
            <a:endParaRPr lang="en-US" altLang="zh-CN"/>
          </a:p>
        </p:txBody>
      </p:sp>
      <p:sp>
        <p:nvSpPr>
          <p:cNvPr id="103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vl1pPr>
          </a:lstStyle>
          <a:p>
            <a:pPr>
              <a:defRPr/>
            </a:pPr>
            <a:endParaRPr lang="en-US" altLang="zh-CN"/>
          </a:p>
        </p:txBody>
      </p:sp>
      <p:sp>
        <p:nvSpPr>
          <p:cNvPr id="103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vl1pPr>
          </a:lstStyle>
          <a:p>
            <a:pPr>
              <a:defRPr/>
            </a:pPr>
            <a:fld id="{C2082EF7-E0C7-46B1-9175-A6A81E4D74A4}"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cover dir="u"/>
  </p:transition>
  <p:timing>
    <p:tnLst>
      <p:par>
        <p:cTn id="1" dur="indefinite" restart="never" nodeType="tmRoot"/>
      </p:par>
    </p:tnLst>
  </p:timing>
  <p:hf hdr="0" ftr="0" dt="0"/>
  <p:txStyles>
    <p:titleStyle>
      <a:lvl1pPr algn="l" rtl="0" eaLnBrk="1" fontAlgn="base" hangingPunct="1">
        <a:spcBef>
          <a:spcPct val="0"/>
        </a:spcBef>
        <a:spcAft>
          <a:spcPct val="0"/>
        </a:spcAft>
        <a:defRPr sz="3600" b="1">
          <a:solidFill>
            <a:schemeClr val="tx2"/>
          </a:solidFill>
          <a:latin typeface="+mn-ea"/>
          <a:ea typeface="+mn-ea"/>
          <a:cs typeface="+mj-cs"/>
        </a:defRPr>
      </a:lvl1pPr>
      <a:lvl2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just" rtl="0" eaLnBrk="1" fontAlgn="base" hangingPunct="1">
        <a:spcBef>
          <a:spcPts val="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just" rtl="0" eaLnBrk="1" fontAlgn="base" hangingPunct="1">
        <a:spcBef>
          <a:spcPts val="0"/>
        </a:spcBef>
        <a:spcAft>
          <a:spcPct val="0"/>
        </a:spcAft>
        <a:buClr>
          <a:schemeClr val="hlink"/>
        </a:buClr>
        <a:buSzPct val="55000"/>
        <a:buFont typeface="Wingdings" panose="05000000000000000000" pitchFamily="2" charset="2"/>
        <a:buChar char="n"/>
        <a:defRPr sz="2800" b="1">
          <a:solidFill>
            <a:schemeClr val="tx1"/>
          </a:solidFill>
          <a:latin typeface="+mn-lt"/>
          <a:ea typeface="+mn-ea"/>
        </a:defRPr>
      </a:lvl2pPr>
      <a:lvl3pPr marL="1143000" indent="-228600" algn="just" rtl="0" eaLnBrk="1" fontAlgn="base" hangingPunct="1">
        <a:spcBef>
          <a:spcPts val="0"/>
        </a:spcBef>
        <a:spcAft>
          <a:spcPct val="0"/>
        </a:spcAft>
        <a:buClr>
          <a:schemeClr val="folHlink"/>
        </a:buClr>
        <a:buSzPct val="50000"/>
        <a:buFont typeface="Wingdings" panose="05000000000000000000" pitchFamily="2" charset="2"/>
        <a:buChar char="n"/>
        <a:defRPr sz="2400" b="1">
          <a:solidFill>
            <a:schemeClr val="tx1"/>
          </a:solidFill>
          <a:latin typeface="+mn-lt"/>
          <a:ea typeface="+mn-ea"/>
        </a:defRPr>
      </a:lvl3pPr>
      <a:lvl4pPr marL="1600200" indent="-228600" algn="just" rtl="0" eaLnBrk="1" fontAlgn="base" hangingPunct="1">
        <a:spcBef>
          <a:spcPts val="0"/>
        </a:spcBef>
        <a:spcAft>
          <a:spcPct val="0"/>
        </a:spcAft>
        <a:buClr>
          <a:schemeClr val="accent2"/>
        </a:buClr>
        <a:buSzPct val="55000"/>
        <a:buFont typeface="Wingdings" panose="05000000000000000000" pitchFamily="2" charset="2"/>
        <a:buChar char="n"/>
        <a:defRPr sz="2000" b="1">
          <a:solidFill>
            <a:schemeClr val="tx1"/>
          </a:solidFill>
          <a:latin typeface="+mn-lt"/>
          <a:ea typeface="+mn-ea"/>
        </a:defRPr>
      </a:lvl4pPr>
      <a:lvl5pPr marL="2057400" indent="-228600" algn="just" rtl="0" eaLnBrk="1" fontAlgn="base" hangingPunct="1">
        <a:spcBef>
          <a:spcPts val="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9.wmf"/><Relationship Id="rId3" Type="http://schemas.openxmlformats.org/officeDocument/2006/relationships/oleObject" Target="../embeddings/oleObject5.bin"/><Relationship Id="rId2" Type="http://schemas.openxmlformats.org/officeDocument/2006/relationships/image" Target="../media/image8.wmf"/><Relationship Id="rId1"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13.wmf"/><Relationship Id="rId7" Type="http://schemas.openxmlformats.org/officeDocument/2006/relationships/oleObject" Target="../embeddings/oleObject9.bin"/><Relationship Id="rId6" Type="http://schemas.openxmlformats.org/officeDocument/2006/relationships/image" Target="../media/image12.wmf"/><Relationship Id="rId5" Type="http://schemas.openxmlformats.org/officeDocument/2006/relationships/oleObject" Target="../embeddings/oleObject8.bin"/><Relationship Id="rId4" Type="http://schemas.openxmlformats.org/officeDocument/2006/relationships/image" Target="../media/image11.wmf"/><Relationship Id="rId3" Type="http://schemas.openxmlformats.org/officeDocument/2006/relationships/oleObject" Target="../embeddings/oleObject7.bin"/><Relationship Id="rId2" Type="http://schemas.openxmlformats.org/officeDocument/2006/relationships/image" Target="../media/image10.wmf"/><Relationship Id="rId15" Type="http://schemas.openxmlformats.org/officeDocument/2006/relationships/notesSlide" Target="../notesSlides/notesSlide12.xml"/><Relationship Id="rId14" Type="http://schemas.openxmlformats.org/officeDocument/2006/relationships/vmlDrawing" Target="../drawings/vmlDrawing3.vml"/><Relationship Id="rId13" Type="http://schemas.openxmlformats.org/officeDocument/2006/relationships/slideLayout" Target="../slideLayouts/slideLayout2.xml"/><Relationship Id="rId12" Type="http://schemas.openxmlformats.org/officeDocument/2006/relationships/image" Target="../media/image15.wmf"/><Relationship Id="rId11" Type="http://schemas.openxmlformats.org/officeDocument/2006/relationships/oleObject" Target="../embeddings/oleObject11.bin"/><Relationship Id="rId10" Type="http://schemas.openxmlformats.org/officeDocument/2006/relationships/image" Target="../media/image14.wmf"/><Relationship Id="rId1"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wmf"/><Relationship Id="rId7" Type="http://schemas.openxmlformats.org/officeDocument/2006/relationships/oleObject" Target="../embeddings/oleObject15.bin"/><Relationship Id="rId6" Type="http://schemas.openxmlformats.org/officeDocument/2006/relationships/image" Target="../media/image18.wmf"/><Relationship Id="rId5" Type="http://schemas.openxmlformats.org/officeDocument/2006/relationships/oleObject" Target="../embeddings/oleObject14.bin"/><Relationship Id="rId4" Type="http://schemas.openxmlformats.org/officeDocument/2006/relationships/image" Target="../media/image17.wmf"/><Relationship Id="rId3" Type="http://schemas.openxmlformats.org/officeDocument/2006/relationships/oleObject" Target="../embeddings/oleObject13.bin"/><Relationship Id="rId2" Type="http://schemas.openxmlformats.org/officeDocument/2006/relationships/image" Target="../media/image16.wmf"/><Relationship Id="rId11" Type="http://schemas.openxmlformats.org/officeDocument/2006/relationships/notesSlide" Target="../notesSlides/notesSlide13.xml"/><Relationship Id="rId10" Type="http://schemas.openxmlformats.org/officeDocument/2006/relationships/vmlDrawing" Target="../drawings/vmlDrawing4.vml"/><Relationship Id="rId1"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7.bin"/><Relationship Id="rId3" Type="http://schemas.openxmlformats.org/officeDocument/2006/relationships/image" Target="../media/image21.wmf"/><Relationship Id="rId2" Type="http://schemas.openxmlformats.org/officeDocument/2006/relationships/oleObject" Target="../embeddings/oleObject16.bin"/><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9.bin"/><Relationship Id="rId3"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8.wmf"/><Relationship Id="rId7" Type="http://schemas.openxmlformats.org/officeDocument/2006/relationships/oleObject" Target="../embeddings/oleObject23.bin"/><Relationship Id="rId6" Type="http://schemas.openxmlformats.org/officeDocument/2006/relationships/image" Target="../media/image27.wmf"/><Relationship Id="rId5" Type="http://schemas.openxmlformats.org/officeDocument/2006/relationships/oleObject" Target="../embeddings/oleObject22.bin"/><Relationship Id="rId4" Type="http://schemas.openxmlformats.org/officeDocument/2006/relationships/image" Target="../media/image26.wmf"/><Relationship Id="rId3" Type="http://schemas.openxmlformats.org/officeDocument/2006/relationships/oleObject" Target="../embeddings/oleObject21.bin"/><Relationship Id="rId2" Type="http://schemas.openxmlformats.org/officeDocument/2006/relationships/image" Target="../media/image25.wmf"/><Relationship Id="rId11" Type="http://schemas.openxmlformats.org/officeDocument/2006/relationships/notesSlide" Target="../notesSlides/notesSlide19.xml"/><Relationship Id="rId10" Type="http://schemas.openxmlformats.org/officeDocument/2006/relationships/vmlDrawing" Target="../drawings/vmlDrawing7.vml"/><Relationship Id="rId1" Type="http://schemas.openxmlformats.org/officeDocument/2006/relationships/oleObject" Target="../embeddings/oleObject20.bin"/></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25.bin"/><Relationship Id="rId2" Type="http://schemas.openxmlformats.org/officeDocument/2006/relationships/image" Target="../media/image29.wmf"/><Relationship Id="rId1" Type="http://schemas.openxmlformats.org/officeDocument/2006/relationships/oleObject" Target="../embeddings/oleObject24.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vmlDrawing" Target="../drawings/vmlDrawing9.vml"/><Relationship Id="rId6"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27.bin"/><Relationship Id="rId3" Type="http://schemas.openxmlformats.org/officeDocument/2006/relationships/image" Target="../media/image32.wmf"/><Relationship Id="rId2" Type="http://schemas.openxmlformats.org/officeDocument/2006/relationships/oleObject" Target="../embeddings/oleObject26.bin"/><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oleObject" Target="../embeddings/oleObject31.bin"/><Relationship Id="rId7" Type="http://schemas.openxmlformats.org/officeDocument/2006/relationships/image" Target="../media/image36.wmf"/><Relationship Id="rId6" Type="http://schemas.openxmlformats.org/officeDocument/2006/relationships/oleObject" Target="../embeddings/oleObject30.bin"/><Relationship Id="rId5" Type="http://schemas.openxmlformats.org/officeDocument/2006/relationships/image" Target="../media/image35.wmf"/><Relationship Id="rId4" Type="http://schemas.openxmlformats.org/officeDocument/2006/relationships/oleObject" Target="../embeddings/oleObject29.bin"/><Relationship Id="rId3" Type="http://schemas.openxmlformats.org/officeDocument/2006/relationships/image" Target="../media/image34.wmf"/><Relationship Id="rId2" Type="http://schemas.openxmlformats.org/officeDocument/2006/relationships/oleObject" Target="../embeddings/oleObject28.bin"/><Relationship Id="rId14" Type="http://schemas.openxmlformats.org/officeDocument/2006/relationships/notesSlide" Target="../notesSlides/notesSlide23.xml"/><Relationship Id="rId13" Type="http://schemas.openxmlformats.org/officeDocument/2006/relationships/vmlDrawing" Target="../drawings/vmlDrawing10.vml"/><Relationship Id="rId12" Type="http://schemas.openxmlformats.org/officeDocument/2006/relationships/slideLayout" Target="../slideLayouts/slideLayout2.xml"/><Relationship Id="rId11" Type="http://schemas.openxmlformats.org/officeDocument/2006/relationships/image" Target="../media/image38.wmf"/><Relationship Id="rId10" Type="http://schemas.openxmlformats.org/officeDocument/2006/relationships/oleObject" Target="../embeddings/oleObject32.bin"/><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oleObject" Target="../embeddings/oleObject36.bin"/><Relationship Id="rId7" Type="http://schemas.openxmlformats.org/officeDocument/2006/relationships/image" Target="../media/image41.wmf"/><Relationship Id="rId6" Type="http://schemas.openxmlformats.org/officeDocument/2006/relationships/oleObject" Target="../embeddings/oleObject35.bin"/><Relationship Id="rId5" Type="http://schemas.openxmlformats.org/officeDocument/2006/relationships/image" Target="../media/image40.wmf"/><Relationship Id="rId4" Type="http://schemas.openxmlformats.org/officeDocument/2006/relationships/oleObject" Target="../embeddings/oleObject34.bin"/><Relationship Id="rId3" Type="http://schemas.openxmlformats.org/officeDocument/2006/relationships/image" Target="../media/image39.wmf"/><Relationship Id="rId2" Type="http://schemas.openxmlformats.org/officeDocument/2006/relationships/oleObject" Target="../embeddings/oleObject33.bin"/><Relationship Id="rId12" Type="http://schemas.openxmlformats.org/officeDocument/2006/relationships/notesSlide" Target="../notesSlides/notesSlide24.xml"/><Relationship Id="rId11" Type="http://schemas.openxmlformats.org/officeDocument/2006/relationships/vmlDrawing" Target="../drawings/vmlDrawing11.vml"/><Relationship Id="rId10" Type="http://schemas.openxmlformats.org/officeDocument/2006/relationships/slideLayout" Target="../slideLayouts/slideLayout2.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vmlDrawing" Target="../drawings/vmlDrawing12.vml"/><Relationship Id="rId6"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oleObject" Target="../embeddings/oleObject38.bin"/><Relationship Id="rId3" Type="http://schemas.openxmlformats.org/officeDocument/2006/relationships/image" Target="../media/image44.wmf"/><Relationship Id="rId2" Type="http://schemas.openxmlformats.org/officeDocument/2006/relationships/oleObject" Target="../embeddings/oleObject37.bin"/><Relationship Id="rId1" Type="http://schemas.openxmlformats.org/officeDocument/2006/relationships/image" Target="../media/image43.png"/></Relationships>
</file>

<file path=ppt/slides/_rels/slide31.xml.rels><?xml version="1.0" encoding="UTF-8" standalone="yes"?>
<Relationships xmlns="http://schemas.openxmlformats.org/package/2006/relationships"><Relationship Id="rId9" Type="http://schemas.openxmlformats.org/officeDocument/2006/relationships/notesSlide" Target="../notesSlides/notesSlide26.xml"/><Relationship Id="rId8" Type="http://schemas.openxmlformats.org/officeDocument/2006/relationships/vmlDrawing" Target="../drawings/vmlDrawing13.vml"/><Relationship Id="rId7" Type="http://schemas.openxmlformats.org/officeDocument/2006/relationships/slideLayout" Target="../slideLayouts/slideLayout2.xml"/><Relationship Id="rId6" Type="http://schemas.openxmlformats.org/officeDocument/2006/relationships/image" Target="../media/image48.wmf"/><Relationship Id="rId5" Type="http://schemas.openxmlformats.org/officeDocument/2006/relationships/oleObject" Target="../embeddings/oleObject41.bin"/><Relationship Id="rId4" Type="http://schemas.openxmlformats.org/officeDocument/2006/relationships/image" Target="../media/image47.wmf"/><Relationship Id="rId3" Type="http://schemas.openxmlformats.org/officeDocument/2006/relationships/oleObject" Target="../embeddings/oleObject40.bin"/><Relationship Id="rId2" Type="http://schemas.openxmlformats.org/officeDocument/2006/relationships/image" Target="../media/image46.wmf"/><Relationship Id="rId1" Type="http://schemas.openxmlformats.org/officeDocument/2006/relationships/oleObject" Target="../embeddings/oleObject39.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47.bin"/><Relationship Id="rId8" Type="http://schemas.openxmlformats.org/officeDocument/2006/relationships/image" Target="../media/image52.wmf"/><Relationship Id="rId7" Type="http://schemas.openxmlformats.org/officeDocument/2006/relationships/oleObject" Target="../embeddings/oleObject46.bin"/><Relationship Id="rId6" Type="http://schemas.openxmlformats.org/officeDocument/2006/relationships/oleObject" Target="../embeddings/oleObject45.bin"/><Relationship Id="rId5" Type="http://schemas.openxmlformats.org/officeDocument/2006/relationships/oleObject" Target="../embeddings/oleObject44.bin"/><Relationship Id="rId4" Type="http://schemas.openxmlformats.org/officeDocument/2006/relationships/image" Target="../media/image51.wmf"/><Relationship Id="rId3" Type="http://schemas.openxmlformats.org/officeDocument/2006/relationships/oleObject" Target="../embeddings/oleObject43.bin"/><Relationship Id="rId27" Type="http://schemas.openxmlformats.org/officeDocument/2006/relationships/notesSlide" Target="../notesSlides/notesSlide29.xml"/><Relationship Id="rId26" Type="http://schemas.openxmlformats.org/officeDocument/2006/relationships/vmlDrawing" Target="../drawings/vmlDrawing14.vml"/><Relationship Id="rId25" Type="http://schemas.openxmlformats.org/officeDocument/2006/relationships/slideLayout" Target="../slideLayouts/slideLayout2.xml"/><Relationship Id="rId24" Type="http://schemas.openxmlformats.org/officeDocument/2006/relationships/image" Target="../media/image60.wmf"/><Relationship Id="rId23" Type="http://schemas.openxmlformats.org/officeDocument/2006/relationships/oleObject" Target="../embeddings/oleObject54.bin"/><Relationship Id="rId22" Type="http://schemas.openxmlformats.org/officeDocument/2006/relationships/image" Target="../media/image59.wmf"/><Relationship Id="rId21" Type="http://schemas.openxmlformats.org/officeDocument/2006/relationships/oleObject" Target="../embeddings/oleObject53.bin"/><Relationship Id="rId20" Type="http://schemas.openxmlformats.org/officeDocument/2006/relationships/image" Target="../media/image58.wmf"/><Relationship Id="rId2" Type="http://schemas.openxmlformats.org/officeDocument/2006/relationships/image" Target="../media/image50.wmf"/><Relationship Id="rId19" Type="http://schemas.openxmlformats.org/officeDocument/2006/relationships/oleObject" Target="../embeddings/oleObject52.bin"/><Relationship Id="rId18" Type="http://schemas.openxmlformats.org/officeDocument/2006/relationships/image" Target="../media/image57.wmf"/><Relationship Id="rId17" Type="http://schemas.openxmlformats.org/officeDocument/2006/relationships/oleObject" Target="../embeddings/oleObject51.bin"/><Relationship Id="rId16" Type="http://schemas.openxmlformats.org/officeDocument/2006/relationships/image" Target="../media/image56.wmf"/><Relationship Id="rId15" Type="http://schemas.openxmlformats.org/officeDocument/2006/relationships/oleObject" Target="../embeddings/oleObject50.bin"/><Relationship Id="rId14" Type="http://schemas.openxmlformats.org/officeDocument/2006/relationships/image" Target="../media/image55.wmf"/><Relationship Id="rId13" Type="http://schemas.openxmlformats.org/officeDocument/2006/relationships/oleObject" Target="../embeddings/oleObject49.bin"/><Relationship Id="rId12" Type="http://schemas.openxmlformats.org/officeDocument/2006/relationships/image" Target="../media/image54.wmf"/><Relationship Id="rId11" Type="http://schemas.openxmlformats.org/officeDocument/2006/relationships/oleObject" Target="../embeddings/oleObject48.bin"/><Relationship Id="rId10" Type="http://schemas.openxmlformats.org/officeDocument/2006/relationships/image" Target="../media/image53.wmf"/><Relationship Id="rId1" Type="http://schemas.openxmlformats.org/officeDocument/2006/relationships/oleObject" Target="../embeddings/oleObject42.bin"/></Relationships>
</file>

<file path=ppt/slides/_rels/slide35.xml.rels><?xml version="1.0" encoding="UTF-8" standalone="yes"?>
<Relationships xmlns="http://schemas.openxmlformats.org/package/2006/relationships"><Relationship Id="rId9" Type="http://schemas.openxmlformats.org/officeDocument/2006/relationships/image" Target="../media/image60.wmf"/><Relationship Id="rId8" Type="http://schemas.openxmlformats.org/officeDocument/2006/relationships/oleObject" Target="../embeddings/oleObject58.bin"/><Relationship Id="rId7" Type="http://schemas.openxmlformats.org/officeDocument/2006/relationships/image" Target="../media/image64.wmf"/><Relationship Id="rId6" Type="http://schemas.openxmlformats.org/officeDocument/2006/relationships/oleObject" Target="../embeddings/oleObject57.bin"/><Relationship Id="rId5" Type="http://schemas.openxmlformats.org/officeDocument/2006/relationships/image" Target="../media/image63.wmf"/><Relationship Id="rId4" Type="http://schemas.openxmlformats.org/officeDocument/2006/relationships/oleObject" Target="../embeddings/oleObject56.bin"/><Relationship Id="rId3" Type="http://schemas.openxmlformats.org/officeDocument/2006/relationships/image" Target="../media/image62.wmf"/><Relationship Id="rId29" Type="http://schemas.openxmlformats.org/officeDocument/2006/relationships/notesSlide" Target="../notesSlides/notesSlide30.xml"/><Relationship Id="rId28" Type="http://schemas.openxmlformats.org/officeDocument/2006/relationships/vmlDrawing" Target="../drawings/vmlDrawing15.vml"/><Relationship Id="rId27" Type="http://schemas.openxmlformats.org/officeDocument/2006/relationships/slideLayout" Target="../slideLayouts/slideLayout2.xml"/><Relationship Id="rId26" Type="http://schemas.openxmlformats.org/officeDocument/2006/relationships/oleObject" Target="../embeddings/oleObject67.bin"/><Relationship Id="rId25" Type="http://schemas.openxmlformats.org/officeDocument/2006/relationships/image" Target="../media/image72.wmf"/><Relationship Id="rId24" Type="http://schemas.openxmlformats.org/officeDocument/2006/relationships/oleObject" Target="../embeddings/oleObject66.bin"/><Relationship Id="rId23" Type="http://schemas.openxmlformats.org/officeDocument/2006/relationships/image" Target="../media/image71.wmf"/><Relationship Id="rId22" Type="http://schemas.openxmlformats.org/officeDocument/2006/relationships/oleObject" Target="../embeddings/oleObject65.bin"/><Relationship Id="rId21" Type="http://schemas.openxmlformats.org/officeDocument/2006/relationships/image" Target="../media/image70.wmf"/><Relationship Id="rId20" Type="http://schemas.openxmlformats.org/officeDocument/2006/relationships/oleObject" Target="../embeddings/oleObject64.bin"/><Relationship Id="rId2" Type="http://schemas.openxmlformats.org/officeDocument/2006/relationships/oleObject" Target="../embeddings/oleObject55.bin"/><Relationship Id="rId19" Type="http://schemas.openxmlformats.org/officeDocument/2006/relationships/image" Target="../media/image69.wmf"/><Relationship Id="rId18" Type="http://schemas.openxmlformats.org/officeDocument/2006/relationships/oleObject" Target="../embeddings/oleObject63.bin"/><Relationship Id="rId17" Type="http://schemas.openxmlformats.org/officeDocument/2006/relationships/image" Target="../media/image68.wmf"/><Relationship Id="rId16" Type="http://schemas.openxmlformats.org/officeDocument/2006/relationships/oleObject" Target="../embeddings/oleObject62.bin"/><Relationship Id="rId15" Type="http://schemas.openxmlformats.org/officeDocument/2006/relationships/image" Target="../media/image67.wmf"/><Relationship Id="rId14" Type="http://schemas.openxmlformats.org/officeDocument/2006/relationships/oleObject" Target="../embeddings/oleObject61.bin"/><Relationship Id="rId13" Type="http://schemas.openxmlformats.org/officeDocument/2006/relationships/image" Target="../media/image66.wmf"/><Relationship Id="rId12" Type="http://schemas.openxmlformats.org/officeDocument/2006/relationships/oleObject" Target="../embeddings/oleObject60.bin"/><Relationship Id="rId11" Type="http://schemas.openxmlformats.org/officeDocument/2006/relationships/image" Target="../media/image65.wmf"/><Relationship Id="rId10" Type="http://schemas.openxmlformats.org/officeDocument/2006/relationships/oleObject" Target="../embeddings/oleObject59.bin"/><Relationship Id="rId1" Type="http://schemas.openxmlformats.org/officeDocument/2006/relationships/image" Target="../media/image61.png"/></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72.bin"/><Relationship Id="rId8" Type="http://schemas.openxmlformats.org/officeDocument/2006/relationships/image" Target="../media/image68.wmf"/><Relationship Id="rId7" Type="http://schemas.openxmlformats.org/officeDocument/2006/relationships/oleObject" Target="../embeddings/oleObject71.bin"/><Relationship Id="rId6" Type="http://schemas.openxmlformats.org/officeDocument/2006/relationships/image" Target="../media/image63.wmf"/><Relationship Id="rId5" Type="http://schemas.openxmlformats.org/officeDocument/2006/relationships/oleObject" Target="../embeddings/oleObject70.bin"/><Relationship Id="rId4" Type="http://schemas.openxmlformats.org/officeDocument/2006/relationships/image" Target="../media/image62.wmf"/><Relationship Id="rId3" Type="http://schemas.openxmlformats.org/officeDocument/2006/relationships/oleObject" Target="../embeddings/oleObject69.bin"/><Relationship Id="rId2" Type="http://schemas.openxmlformats.org/officeDocument/2006/relationships/image" Target="../media/image73.wmf"/><Relationship Id="rId17" Type="http://schemas.openxmlformats.org/officeDocument/2006/relationships/notesSlide" Target="../notesSlides/notesSlide31.xml"/><Relationship Id="rId16" Type="http://schemas.openxmlformats.org/officeDocument/2006/relationships/vmlDrawing" Target="../drawings/vmlDrawing16.vml"/><Relationship Id="rId15" Type="http://schemas.openxmlformats.org/officeDocument/2006/relationships/slideLayout" Target="../slideLayouts/slideLayout2.xml"/><Relationship Id="rId14" Type="http://schemas.openxmlformats.org/officeDocument/2006/relationships/image" Target="../media/image76.wmf"/><Relationship Id="rId13" Type="http://schemas.openxmlformats.org/officeDocument/2006/relationships/oleObject" Target="../embeddings/oleObject74.bin"/><Relationship Id="rId12" Type="http://schemas.openxmlformats.org/officeDocument/2006/relationships/image" Target="../media/image75.wmf"/><Relationship Id="rId11" Type="http://schemas.openxmlformats.org/officeDocument/2006/relationships/oleObject" Target="../embeddings/oleObject73.bin"/><Relationship Id="rId10" Type="http://schemas.openxmlformats.org/officeDocument/2006/relationships/image" Target="../media/image74.wmf"/><Relationship Id="rId1" Type="http://schemas.openxmlformats.org/officeDocument/2006/relationships/oleObject" Target="../embeddings/oleObject68.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79.bin"/><Relationship Id="rId8" Type="http://schemas.openxmlformats.org/officeDocument/2006/relationships/image" Target="../media/image80.wmf"/><Relationship Id="rId7" Type="http://schemas.openxmlformats.org/officeDocument/2006/relationships/oleObject" Target="../embeddings/oleObject78.bin"/><Relationship Id="rId6" Type="http://schemas.openxmlformats.org/officeDocument/2006/relationships/image" Target="../media/image79.wmf"/><Relationship Id="rId5" Type="http://schemas.openxmlformats.org/officeDocument/2006/relationships/oleObject" Target="../embeddings/oleObject77.bin"/><Relationship Id="rId4" Type="http://schemas.openxmlformats.org/officeDocument/2006/relationships/image" Target="../media/image78.wmf"/><Relationship Id="rId3" Type="http://schemas.openxmlformats.org/officeDocument/2006/relationships/oleObject" Target="../embeddings/oleObject76.bin"/><Relationship Id="rId2" Type="http://schemas.openxmlformats.org/officeDocument/2006/relationships/image" Target="../media/image77.wmf"/><Relationship Id="rId17" Type="http://schemas.openxmlformats.org/officeDocument/2006/relationships/notesSlide" Target="../notesSlides/notesSlide32.xml"/><Relationship Id="rId16" Type="http://schemas.openxmlformats.org/officeDocument/2006/relationships/vmlDrawing" Target="../drawings/vmlDrawing17.vml"/><Relationship Id="rId15" Type="http://schemas.openxmlformats.org/officeDocument/2006/relationships/slideLayout" Target="../slideLayouts/slideLayout2.xml"/><Relationship Id="rId14" Type="http://schemas.openxmlformats.org/officeDocument/2006/relationships/image" Target="../media/image83.wmf"/><Relationship Id="rId13" Type="http://schemas.openxmlformats.org/officeDocument/2006/relationships/oleObject" Target="../embeddings/oleObject81.bin"/><Relationship Id="rId12" Type="http://schemas.openxmlformats.org/officeDocument/2006/relationships/image" Target="../media/image82.wmf"/><Relationship Id="rId11" Type="http://schemas.openxmlformats.org/officeDocument/2006/relationships/oleObject" Target="../embeddings/oleObject80.bin"/><Relationship Id="rId10" Type="http://schemas.openxmlformats.org/officeDocument/2006/relationships/image" Target="../media/image81.wmf"/><Relationship Id="rId1" Type="http://schemas.openxmlformats.org/officeDocument/2006/relationships/oleObject" Target="../embeddings/oleObject75.bin"/></Relationships>
</file>

<file path=ppt/slides/_rels/slide38.xml.rels><?xml version="1.0" encoding="UTF-8" standalone="yes"?>
<Relationships xmlns="http://schemas.openxmlformats.org/package/2006/relationships"><Relationship Id="rId9" Type="http://schemas.openxmlformats.org/officeDocument/2006/relationships/image" Target="../media/image88.wmf"/><Relationship Id="rId8" Type="http://schemas.openxmlformats.org/officeDocument/2006/relationships/oleObject" Target="../embeddings/oleObject85.bin"/><Relationship Id="rId7" Type="http://schemas.openxmlformats.org/officeDocument/2006/relationships/image" Target="../media/image87.wmf"/><Relationship Id="rId6" Type="http://schemas.openxmlformats.org/officeDocument/2006/relationships/oleObject" Target="../embeddings/oleObject84.bin"/><Relationship Id="rId5" Type="http://schemas.openxmlformats.org/officeDocument/2006/relationships/image" Target="../media/image86.wmf"/><Relationship Id="rId4" Type="http://schemas.openxmlformats.org/officeDocument/2006/relationships/oleObject" Target="../embeddings/oleObject83.bin"/><Relationship Id="rId3" Type="http://schemas.openxmlformats.org/officeDocument/2006/relationships/image" Target="../media/image85.wmf"/><Relationship Id="rId2" Type="http://schemas.openxmlformats.org/officeDocument/2006/relationships/oleObject" Target="../embeddings/oleObject82.bin"/><Relationship Id="rId16" Type="http://schemas.openxmlformats.org/officeDocument/2006/relationships/notesSlide" Target="../notesSlides/notesSlide33.xml"/><Relationship Id="rId15" Type="http://schemas.openxmlformats.org/officeDocument/2006/relationships/vmlDrawing" Target="../drawings/vmlDrawing18.vml"/><Relationship Id="rId14" Type="http://schemas.openxmlformats.org/officeDocument/2006/relationships/slideLayout" Target="../slideLayouts/slideLayout2.xml"/><Relationship Id="rId13" Type="http://schemas.openxmlformats.org/officeDocument/2006/relationships/image" Target="../media/image83.wmf"/><Relationship Id="rId12" Type="http://schemas.openxmlformats.org/officeDocument/2006/relationships/oleObject" Target="../embeddings/oleObject87.bin"/><Relationship Id="rId11" Type="http://schemas.openxmlformats.org/officeDocument/2006/relationships/image" Target="../media/image89.wmf"/><Relationship Id="rId10" Type="http://schemas.openxmlformats.org/officeDocument/2006/relationships/oleObject" Target="../embeddings/oleObject86.bin"/><Relationship Id="rId1" Type="http://schemas.openxmlformats.org/officeDocument/2006/relationships/image" Target="../media/image84.png"/></Relationships>
</file>

<file path=ppt/slides/_rels/slide39.xml.rels><?xml version="1.0" encoding="UTF-8" standalone="yes"?>
<Relationships xmlns="http://schemas.openxmlformats.org/package/2006/relationships"><Relationship Id="rId9" Type="http://schemas.openxmlformats.org/officeDocument/2006/relationships/vmlDrawing" Target="../drawings/vmlDrawing19.vml"/><Relationship Id="rId8" Type="http://schemas.openxmlformats.org/officeDocument/2006/relationships/slideLayout" Target="../slideLayouts/slideLayout2.xml"/><Relationship Id="rId7" Type="http://schemas.openxmlformats.org/officeDocument/2006/relationships/image" Target="../media/image93.wmf"/><Relationship Id="rId6" Type="http://schemas.openxmlformats.org/officeDocument/2006/relationships/oleObject" Target="../embeddings/oleObject90.bin"/><Relationship Id="rId5" Type="http://schemas.openxmlformats.org/officeDocument/2006/relationships/image" Target="../media/image92.wmf"/><Relationship Id="rId4" Type="http://schemas.openxmlformats.org/officeDocument/2006/relationships/oleObject" Target="../embeddings/oleObject89.bin"/><Relationship Id="rId3" Type="http://schemas.openxmlformats.org/officeDocument/2006/relationships/image" Target="../media/image91.png"/><Relationship Id="rId2" Type="http://schemas.openxmlformats.org/officeDocument/2006/relationships/image" Target="../media/image90.wmf"/><Relationship Id="rId10" Type="http://schemas.openxmlformats.org/officeDocument/2006/relationships/notesSlide" Target="../notesSlides/notesSlide34.xml"/><Relationship Id="rId1" Type="http://schemas.openxmlformats.org/officeDocument/2006/relationships/oleObject" Target="../embeddings/oleObject88.bin"/></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vmlDrawing" Target="../drawings/vmlDrawing20.vml"/><Relationship Id="rId7" Type="http://schemas.openxmlformats.org/officeDocument/2006/relationships/slideLayout" Target="../slideLayouts/slideLayout2.xml"/><Relationship Id="rId6" Type="http://schemas.openxmlformats.org/officeDocument/2006/relationships/image" Target="../media/image96.wmf"/><Relationship Id="rId5" Type="http://schemas.openxmlformats.org/officeDocument/2006/relationships/oleObject" Target="../embeddings/oleObject93.bin"/><Relationship Id="rId4" Type="http://schemas.openxmlformats.org/officeDocument/2006/relationships/image" Target="../media/image95.wmf"/><Relationship Id="rId3" Type="http://schemas.openxmlformats.org/officeDocument/2006/relationships/oleObject" Target="../embeddings/oleObject92.bin"/><Relationship Id="rId2" Type="http://schemas.openxmlformats.org/officeDocument/2006/relationships/image" Target="../media/image94.wmf"/><Relationship Id="rId1" Type="http://schemas.openxmlformats.org/officeDocument/2006/relationships/oleObject" Target="../embeddings/oleObject91.bin"/></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vmlDrawing" Target="../drawings/vmlDrawing21.vml"/><Relationship Id="rId4" Type="http://schemas.openxmlformats.org/officeDocument/2006/relationships/slideLayout" Target="../slideLayouts/slideLayout2.xml"/><Relationship Id="rId3" Type="http://schemas.openxmlformats.org/officeDocument/2006/relationships/image" Target="../media/image98.png"/><Relationship Id="rId2" Type="http://schemas.openxmlformats.org/officeDocument/2006/relationships/image" Target="../media/image97.wmf"/><Relationship Id="rId1" Type="http://schemas.openxmlformats.org/officeDocument/2006/relationships/oleObject" Target="../embeddings/oleObject94.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102.wmf"/><Relationship Id="rId7" Type="http://schemas.openxmlformats.org/officeDocument/2006/relationships/oleObject" Target="../embeddings/oleObject98.bin"/><Relationship Id="rId6" Type="http://schemas.openxmlformats.org/officeDocument/2006/relationships/image" Target="../media/image101.wmf"/><Relationship Id="rId5" Type="http://schemas.openxmlformats.org/officeDocument/2006/relationships/oleObject" Target="../embeddings/oleObject97.bin"/><Relationship Id="rId4" Type="http://schemas.openxmlformats.org/officeDocument/2006/relationships/image" Target="../media/image100.wmf"/><Relationship Id="rId3" Type="http://schemas.openxmlformats.org/officeDocument/2006/relationships/oleObject" Target="../embeddings/oleObject96.bin"/><Relationship Id="rId2" Type="http://schemas.openxmlformats.org/officeDocument/2006/relationships/image" Target="../media/image99.wmf"/><Relationship Id="rId17" Type="http://schemas.openxmlformats.org/officeDocument/2006/relationships/notesSlide" Target="../notesSlides/notesSlide37.xml"/><Relationship Id="rId16" Type="http://schemas.openxmlformats.org/officeDocument/2006/relationships/vmlDrawing" Target="../drawings/vmlDrawing22.vml"/><Relationship Id="rId15" Type="http://schemas.openxmlformats.org/officeDocument/2006/relationships/slideLayout" Target="../slideLayouts/slideLayout2.xml"/><Relationship Id="rId14" Type="http://schemas.openxmlformats.org/officeDocument/2006/relationships/image" Target="../media/image105.wmf"/><Relationship Id="rId13" Type="http://schemas.openxmlformats.org/officeDocument/2006/relationships/oleObject" Target="../embeddings/oleObject101.bin"/><Relationship Id="rId12" Type="http://schemas.openxmlformats.org/officeDocument/2006/relationships/image" Target="../media/image104.wmf"/><Relationship Id="rId11" Type="http://schemas.openxmlformats.org/officeDocument/2006/relationships/oleObject" Target="../embeddings/oleObject100.bin"/><Relationship Id="rId10" Type="http://schemas.openxmlformats.org/officeDocument/2006/relationships/image" Target="../media/image103.wmf"/><Relationship Id="rId1" Type="http://schemas.openxmlformats.org/officeDocument/2006/relationships/oleObject" Target="../embeddings/oleObject95.bin"/></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5.wmf"/><Relationship Id="rId7" Type="http://schemas.openxmlformats.org/officeDocument/2006/relationships/oleObject" Target="../embeddings/oleObject105.bin"/><Relationship Id="rId6" Type="http://schemas.openxmlformats.org/officeDocument/2006/relationships/image" Target="../media/image100.wmf"/><Relationship Id="rId5" Type="http://schemas.openxmlformats.org/officeDocument/2006/relationships/oleObject" Target="../embeddings/oleObject104.bin"/><Relationship Id="rId4" Type="http://schemas.openxmlformats.org/officeDocument/2006/relationships/image" Target="../media/image99.wmf"/><Relationship Id="rId3" Type="http://schemas.openxmlformats.org/officeDocument/2006/relationships/oleObject" Target="../embeddings/oleObject103.bin"/><Relationship Id="rId2" Type="http://schemas.openxmlformats.org/officeDocument/2006/relationships/image" Target="../media/image106.wmf"/><Relationship Id="rId11" Type="http://schemas.openxmlformats.org/officeDocument/2006/relationships/notesSlide" Target="../notesSlides/notesSlide38.xml"/><Relationship Id="rId10" Type="http://schemas.openxmlformats.org/officeDocument/2006/relationships/vmlDrawing" Target="../drawings/vmlDrawing23.vml"/><Relationship Id="rId1" Type="http://schemas.openxmlformats.org/officeDocument/2006/relationships/oleObject" Target="../embeddings/oleObject102.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ctrTitle"/>
          </p:nvPr>
        </p:nvSpPr>
        <p:spPr>
          <a:xfrm>
            <a:off x="990600" y="1828800"/>
            <a:ext cx="7253808" cy="1143000"/>
          </a:xfrm>
        </p:spPr>
        <p:txBody>
          <a:bodyPr/>
          <a:lstStyle/>
          <a:p>
            <a:pPr algn="ctr">
              <a:defRPr/>
            </a:pPr>
            <a:r>
              <a:rPr lang="zh-CN" altLang="en-US" sz="5500" b="1" dirty="0" smtClean="0"/>
              <a:t>第</a:t>
            </a:r>
            <a:r>
              <a:rPr lang="en-US" altLang="zh-CN" sz="5500" b="1" dirty="0" smtClean="0"/>
              <a:t>2</a:t>
            </a:r>
            <a:r>
              <a:rPr lang="zh-CN" altLang="en-US" sz="5500" b="1" dirty="0" smtClean="0"/>
              <a:t>章</a:t>
            </a:r>
            <a:r>
              <a:rPr lang="zh-CN" altLang="en-US" sz="5500" dirty="0"/>
              <a:t> </a:t>
            </a:r>
            <a:r>
              <a:rPr lang="zh-CN" altLang="en-US" sz="5500" dirty="0" smtClean="0"/>
              <a:t>模型</a:t>
            </a:r>
            <a:r>
              <a:rPr lang="zh-CN" altLang="en-US" sz="5500" dirty="0"/>
              <a:t>评估与选择</a:t>
            </a:r>
            <a:endParaRPr lang="zh-CN" altLang="en-US" sz="5500" b="1" dirty="0" smtClean="0"/>
          </a:p>
        </p:txBody>
      </p:sp>
      <p:sp>
        <p:nvSpPr>
          <p:cNvPr id="5" name="Rectangle 70"/>
          <p:cNvSpPr>
            <a:spLocks noGrp="1" noChangeArrowheads="1"/>
          </p:cNvSpPr>
          <p:nvPr>
            <p:ph type="sldNum" sz="quarter" idx="4"/>
          </p:nvPr>
        </p:nvSpPr>
        <p:spPr/>
        <p:txBody>
          <a:bodyPr/>
          <a:lstStyle/>
          <a:p>
            <a:pPr>
              <a:defRPr/>
            </a:pPr>
            <a:fld id="{F7EB2F07-B42F-46A0-B759-6009FAA90BFB}" type="slidenum">
              <a:rPr lang="en-US" altLang="zh-CN"/>
            </a:fld>
            <a:endParaRPr lang="en-US" altLang="zh-CN"/>
          </a:p>
        </p:txBody>
      </p:sp>
      <p:sp>
        <p:nvSpPr>
          <p:cNvPr id="2" name="副标题 1"/>
          <p:cNvSpPr/>
          <p:nvPr>
            <p:ph type="subTitle" idx="1"/>
          </p:nvPr>
        </p:nvSpPr>
        <p:spPr/>
        <p:txBody>
          <a:bodyPr/>
          <a:p>
            <a:endParaRPr lang="zh-CN" altLang="en-US"/>
          </a:p>
        </p:txBody>
      </p:sp>
    </p:spTree>
  </p:cSld>
  <p:clrMapOvr>
    <a:masterClrMapping/>
  </p:clrMapOvr>
  <p:transition>
    <p:cover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a:latin typeface="+mn-ea"/>
              </a:rPr>
              <a:t>经验误差与过拟合</a:t>
            </a:r>
            <a:endParaRPr lang="en-US" altLang="zh-CN" dirty="0" smtClean="0">
              <a:latin typeface="+mn-ea"/>
            </a:endParaRPr>
          </a:p>
          <a:p>
            <a:pPr>
              <a:lnSpc>
                <a:spcPct val="120000"/>
              </a:lnSpc>
            </a:pPr>
            <a:r>
              <a:rPr lang="zh-CN" altLang="en-US" dirty="0" smtClean="0"/>
              <a:t>评估</a:t>
            </a:r>
            <a:r>
              <a:rPr lang="zh-CN" altLang="en-US" dirty="0"/>
              <a:t>方法</a:t>
            </a:r>
            <a:endParaRPr lang="en-US" altLang="zh-CN" dirty="0" smtClean="0"/>
          </a:p>
          <a:p>
            <a:pPr>
              <a:lnSpc>
                <a:spcPct val="120000"/>
              </a:lnSpc>
            </a:pPr>
            <a:r>
              <a:rPr lang="zh-CN" altLang="en-US" dirty="0" smtClean="0"/>
              <a:t>性能度量</a:t>
            </a:r>
            <a:endParaRPr lang="en-US" altLang="zh-CN" dirty="0" smtClean="0"/>
          </a:p>
          <a:p>
            <a:pPr>
              <a:lnSpc>
                <a:spcPct val="120000"/>
              </a:lnSpc>
            </a:pPr>
            <a:r>
              <a:rPr lang="zh-CN" altLang="en-US" dirty="0"/>
              <a:t>比较</a:t>
            </a:r>
            <a:r>
              <a:rPr lang="zh-CN" altLang="en-US" dirty="0" smtClean="0"/>
              <a:t>检验</a:t>
            </a:r>
            <a:endParaRPr lang="en-US" altLang="zh-CN" dirty="0" smtClean="0"/>
          </a:p>
          <a:p>
            <a:pPr>
              <a:lnSpc>
                <a:spcPct val="120000"/>
              </a:lnSpc>
            </a:pPr>
            <a:r>
              <a:rPr lang="zh-CN" altLang="en-US" dirty="0"/>
              <a:t>偏差与方差</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2.1 </a:t>
            </a:r>
            <a:r>
              <a:rPr lang="zh-CN" altLang="en-US" dirty="0" smtClean="0"/>
              <a:t>经验</a:t>
            </a:r>
            <a:r>
              <a:rPr lang="zh-CN" altLang="en-US" dirty="0"/>
              <a:t>误差与过拟合</a:t>
            </a:r>
            <a:endParaRPr lang="zh-CN" altLang="en-US" dirty="0"/>
          </a:p>
        </p:txBody>
      </p:sp>
      <p:sp>
        <p:nvSpPr>
          <p:cNvPr id="3" name="内容占位符 2"/>
          <p:cNvSpPr>
            <a:spLocks noGrp="1"/>
          </p:cNvSpPr>
          <p:nvPr>
            <p:ph idx="1"/>
          </p:nvPr>
        </p:nvSpPr>
        <p:spPr/>
        <p:txBody>
          <a:bodyPr/>
          <a:lstStyle/>
          <a:p>
            <a:r>
              <a:rPr lang="zh-CN" altLang="en-US" dirty="0" smtClean="0">
                <a:latin typeface="宋体" panose="02010600030101010101" pitchFamily="2" charset="-122"/>
              </a:rPr>
              <a:t>错误率</a:t>
            </a:r>
            <a:endParaRPr lang="en-US" altLang="zh-CN" dirty="0" smtClean="0">
              <a:latin typeface="宋体" panose="02010600030101010101" pitchFamily="2" charset="-122"/>
            </a:endParaRPr>
          </a:p>
          <a:p>
            <a:pPr lvl="1"/>
            <a:r>
              <a:rPr lang="zh-CN" altLang="en-US" dirty="0">
                <a:latin typeface="宋体" panose="02010600030101010101" pitchFamily="2" charset="-122"/>
              </a:rPr>
              <a:t>分类错误的样本数占样本总数的</a:t>
            </a:r>
            <a:r>
              <a:rPr lang="zh-CN" altLang="en-US" dirty="0" smtClean="0">
                <a:latin typeface="宋体" panose="02010600030101010101" pitchFamily="2" charset="-122"/>
              </a:rPr>
              <a:t>比例</a:t>
            </a:r>
            <a:endParaRPr lang="en-US" altLang="zh-CN" dirty="0" smtClean="0">
              <a:latin typeface="宋体" panose="02010600030101010101" pitchFamily="2" charset="-122"/>
            </a:endParaRPr>
          </a:p>
          <a:p>
            <a:pPr lvl="1"/>
            <a:r>
              <a:rPr lang="en-US" altLang="zh-CN" dirty="0" smtClean="0">
                <a:latin typeface="宋体" panose="02010600030101010101" pitchFamily="2" charset="-122"/>
              </a:rPr>
              <a:t>        </a:t>
            </a:r>
            <a:r>
              <a:rPr lang="zh-CN" altLang="en-US" dirty="0" smtClean="0">
                <a:latin typeface="宋体" panose="02010600030101010101" pitchFamily="2" charset="-122"/>
              </a:rPr>
              <a:t>，  样本数， 分类错误数</a:t>
            </a:r>
            <a:endParaRPr lang="en-US" altLang="zh-CN" dirty="0" smtClean="0">
              <a:latin typeface="宋体" panose="02010600030101010101" pitchFamily="2" charset="-122"/>
            </a:endParaRPr>
          </a:p>
          <a:p>
            <a:r>
              <a:rPr lang="zh-CN" altLang="en-US" dirty="0" smtClean="0"/>
              <a:t>精度</a:t>
            </a:r>
            <a:endParaRPr lang="en-US" altLang="zh-CN" dirty="0" smtClean="0"/>
          </a:p>
          <a:p>
            <a:pPr lvl="1"/>
            <a:r>
              <a:rPr lang="en-US" altLang="zh-CN" dirty="0" smtClean="0">
                <a:latin typeface="+mn-ea"/>
              </a:rPr>
              <a:t>1-</a:t>
            </a:r>
            <a:r>
              <a:rPr lang="zh-CN" altLang="en-US" dirty="0" smtClean="0">
                <a:latin typeface="+mn-ea"/>
              </a:rPr>
              <a:t>错误率</a:t>
            </a:r>
            <a:endParaRPr lang="en-US" altLang="zh-CN" dirty="0" smtClean="0">
              <a:latin typeface="+mn-ea"/>
            </a:endParaRPr>
          </a:p>
          <a:p>
            <a:r>
              <a:rPr lang="zh-CN" altLang="en-US" dirty="0" smtClean="0">
                <a:latin typeface="+mn-ea"/>
              </a:rPr>
              <a:t>误差</a:t>
            </a:r>
            <a:endParaRPr lang="en-US" altLang="zh-CN" dirty="0" smtClean="0">
              <a:latin typeface="+mn-ea"/>
            </a:endParaRPr>
          </a:p>
          <a:p>
            <a:pPr lvl="1"/>
            <a:r>
              <a:rPr lang="zh-CN" altLang="en-US" dirty="0">
                <a:latin typeface="+mn-ea"/>
              </a:rPr>
              <a:t>学习器的实际预测输出与样本的真实输出之间的</a:t>
            </a:r>
            <a:r>
              <a:rPr lang="zh-CN" altLang="en-US" dirty="0" smtClean="0">
                <a:latin typeface="+mn-ea"/>
              </a:rPr>
              <a:t>差异</a:t>
            </a:r>
            <a:endParaRPr lang="en-US" altLang="zh-CN" dirty="0" smtClean="0">
              <a:latin typeface="+mn-ea"/>
            </a:endParaRPr>
          </a:p>
          <a:p>
            <a:pPr lvl="2"/>
            <a:r>
              <a:rPr lang="zh-CN" altLang="en-US" dirty="0">
                <a:latin typeface="+mn-ea"/>
              </a:rPr>
              <a:t>训练</a:t>
            </a:r>
            <a:r>
              <a:rPr lang="zh-CN" altLang="en-US" dirty="0" smtClean="0">
                <a:latin typeface="+mn-ea"/>
              </a:rPr>
              <a:t>误差</a:t>
            </a:r>
            <a:r>
              <a:rPr lang="en-US" altLang="zh-CN" dirty="0" smtClean="0">
                <a:latin typeface="+mn-ea"/>
              </a:rPr>
              <a:t>(</a:t>
            </a:r>
            <a:r>
              <a:rPr lang="zh-CN" altLang="en-US" dirty="0">
                <a:latin typeface="+mn-ea"/>
              </a:rPr>
              <a:t>经验误差</a:t>
            </a:r>
            <a:r>
              <a:rPr lang="en-US" altLang="zh-CN" dirty="0" smtClean="0">
                <a:latin typeface="+mn-ea"/>
              </a:rPr>
              <a:t>)</a:t>
            </a:r>
            <a:endParaRPr lang="en-US" altLang="zh-CN" dirty="0" smtClean="0">
              <a:latin typeface="+mn-ea"/>
            </a:endParaRPr>
          </a:p>
          <a:p>
            <a:pPr lvl="3"/>
            <a:r>
              <a:rPr lang="zh-CN" altLang="en-US" dirty="0">
                <a:latin typeface="+mn-ea"/>
              </a:rPr>
              <a:t>学习器在训练集上的误差</a:t>
            </a:r>
            <a:endParaRPr lang="en-US" altLang="zh-CN" dirty="0" smtClean="0">
              <a:latin typeface="+mn-ea"/>
            </a:endParaRPr>
          </a:p>
          <a:p>
            <a:pPr lvl="2"/>
            <a:r>
              <a:rPr lang="zh-CN" altLang="en-US" dirty="0">
                <a:latin typeface="+mn-ea"/>
              </a:rPr>
              <a:t>泛化误差</a:t>
            </a:r>
            <a:endParaRPr lang="en-US" altLang="zh-CN" dirty="0" smtClean="0">
              <a:latin typeface="+mn-ea"/>
            </a:endParaRPr>
          </a:p>
          <a:p>
            <a:pPr lvl="3"/>
            <a:r>
              <a:rPr lang="zh-CN" altLang="en-US" dirty="0" smtClean="0">
                <a:latin typeface="+mn-ea"/>
              </a:rPr>
              <a:t>在</a:t>
            </a:r>
            <a:r>
              <a:rPr lang="zh-CN" altLang="en-US" dirty="0">
                <a:latin typeface="+mn-ea"/>
              </a:rPr>
              <a:t>新样本上的</a:t>
            </a:r>
            <a:r>
              <a:rPr lang="zh-CN" altLang="en-US" dirty="0" smtClean="0">
                <a:latin typeface="+mn-ea"/>
              </a:rPr>
              <a:t>误差</a:t>
            </a:r>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1525588" y="1903413"/>
          <a:ext cx="1470025" cy="568325"/>
        </p:xfrm>
        <a:graphic>
          <a:graphicData uri="http://schemas.openxmlformats.org/presentationml/2006/ole">
            <mc:AlternateContent xmlns:mc="http://schemas.openxmlformats.org/markup-compatibility/2006">
              <mc:Choice xmlns:v="urn:schemas-microsoft-com:vml" Requires="v">
                <p:oleObj spid="_x0000_s1413" name="Equation" r:id="rId1" imgW="13411200" imgH="5181600" progId="Equation.DSMT4">
                  <p:embed/>
                </p:oleObj>
              </mc:Choice>
              <mc:Fallback>
                <p:oleObj name="Equation" r:id="rId1" imgW="13411200" imgH="5181600" progId="Equation.DSMT4">
                  <p:embed/>
                  <p:pic>
                    <p:nvPicPr>
                      <p:cNvPr id="0" name="图片 1412"/>
                      <p:cNvPicPr/>
                      <p:nvPr/>
                    </p:nvPicPr>
                    <p:blipFill>
                      <a:blip r:embed="rId2"/>
                      <a:stretch>
                        <a:fillRect/>
                      </a:stretch>
                    </p:blipFill>
                    <p:spPr>
                      <a:xfrm>
                        <a:off x="1525588" y="1903413"/>
                        <a:ext cx="1470025" cy="56832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5004048" y="2003425"/>
          <a:ext cx="333375" cy="368300"/>
        </p:xfrm>
        <a:graphic>
          <a:graphicData uri="http://schemas.openxmlformats.org/presentationml/2006/ole">
            <mc:AlternateContent xmlns:mc="http://schemas.openxmlformats.org/markup-compatibility/2006">
              <mc:Choice xmlns:v="urn:schemas-microsoft-com:vml" Requires="v">
                <p:oleObj spid="_x0000_s1414" name="Equation" r:id="rId3" imgW="3048000" imgH="3352800" progId="Equation.DSMT4">
                  <p:embed/>
                </p:oleObj>
              </mc:Choice>
              <mc:Fallback>
                <p:oleObj name="Equation" r:id="rId3" imgW="3048000" imgH="3352800" progId="Equation.DSMT4">
                  <p:embed/>
                  <p:pic>
                    <p:nvPicPr>
                      <p:cNvPr id="0" name="图片 1413"/>
                      <p:cNvPicPr/>
                      <p:nvPr/>
                    </p:nvPicPr>
                    <p:blipFill>
                      <a:blip r:embed="rId4"/>
                      <a:stretch>
                        <a:fillRect/>
                      </a:stretch>
                    </p:blipFill>
                    <p:spPr>
                      <a:xfrm>
                        <a:off x="5004048" y="2003425"/>
                        <a:ext cx="333375" cy="3683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275856" y="2003425"/>
          <a:ext cx="434975" cy="368300"/>
        </p:xfrm>
        <a:graphic>
          <a:graphicData uri="http://schemas.openxmlformats.org/presentationml/2006/ole">
            <mc:AlternateContent xmlns:mc="http://schemas.openxmlformats.org/markup-compatibility/2006">
              <mc:Choice xmlns:v="urn:schemas-microsoft-com:vml" Requires="v">
                <p:oleObj spid="_x0000_s1415" name="Equation" r:id="rId5" imgW="3962400" imgH="3352800" progId="Equation.DSMT4">
                  <p:embed/>
                </p:oleObj>
              </mc:Choice>
              <mc:Fallback>
                <p:oleObj name="Equation" r:id="rId5" imgW="3962400" imgH="3352800" progId="Equation.DSMT4">
                  <p:embed/>
                  <p:pic>
                    <p:nvPicPr>
                      <p:cNvPr id="0" name="图片 1414"/>
                      <p:cNvPicPr/>
                      <p:nvPr/>
                    </p:nvPicPr>
                    <p:blipFill>
                      <a:blip r:embed="rId6"/>
                      <a:stretch>
                        <a:fillRect/>
                      </a:stretch>
                    </p:blipFill>
                    <p:spPr>
                      <a:xfrm>
                        <a:off x="3275856" y="2003425"/>
                        <a:ext cx="434975" cy="368300"/>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经验误差与过拟合</a:t>
            </a:r>
            <a:endParaRPr lang="zh-CN" altLang="en-US" dirty="0"/>
          </a:p>
        </p:txBody>
      </p:sp>
      <p:sp>
        <p:nvSpPr>
          <p:cNvPr id="3" name="内容占位符 2"/>
          <p:cNvSpPr>
            <a:spLocks noGrp="1"/>
          </p:cNvSpPr>
          <p:nvPr>
            <p:ph idx="1"/>
          </p:nvPr>
        </p:nvSpPr>
        <p:spPr>
          <a:xfrm>
            <a:off x="683568" y="836712"/>
            <a:ext cx="7772400" cy="4690864"/>
          </a:xfrm>
        </p:spPr>
        <p:txBody>
          <a:bodyPr/>
          <a:lstStyle/>
          <a:p>
            <a:r>
              <a:rPr lang="zh-CN" altLang="en-US" dirty="0" smtClean="0"/>
              <a:t>目标</a:t>
            </a:r>
            <a:endParaRPr lang="en-US" altLang="zh-CN" dirty="0" smtClean="0"/>
          </a:p>
          <a:p>
            <a:pPr lvl="1"/>
            <a:r>
              <a:rPr lang="zh-CN" altLang="en-US" dirty="0" smtClean="0"/>
              <a:t>设计得到</a:t>
            </a:r>
            <a:r>
              <a:rPr lang="zh-CN" altLang="en-US" dirty="0"/>
              <a:t>泛化误差小的学习</a:t>
            </a:r>
            <a:r>
              <a:rPr lang="zh-CN" altLang="en-US" dirty="0" smtClean="0"/>
              <a:t>器</a:t>
            </a:r>
            <a:endParaRPr lang="en-US" altLang="zh-CN" dirty="0" smtClean="0"/>
          </a:p>
          <a:p>
            <a:pPr lvl="2"/>
            <a:r>
              <a:rPr lang="zh-CN" altLang="en-US" dirty="0" smtClean="0"/>
              <a:t>事先不知道</a:t>
            </a:r>
            <a:r>
              <a:rPr lang="zh-CN" altLang="en-US" dirty="0"/>
              <a:t>新</a:t>
            </a:r>
            <a:r>
              <a:rPr lang="zh-CN" altLang="en-US" dirty="0" smtClean="0"/>
              <a:t>样本</a:t>
            </a:r>
            <a:endParaRPr lang="en-US" altLang="zh-CN" dirty="0" smtClean="0"/>
          </a:p>
          <a:p>
            <a:pPr lvl="3" hangingPunct="0"/>
            <a:r>
              <a:rPr lang="zh-CN" altLang="en-US" dirty="0" smtClean="0"/>
              <a:t>只能努力使经验误差最小</a:t>
            </a:r>
            <a:endParaRPr lang="en-US" altLang="zh-CN" dirty="0" smtClean="0"/>
          </a:p>
          <a:p>
            <a:pPr lvl="4" hangingPunct="0"/>
            <a:r>
              <a:rPr lang="zh-CN" altLang="en-US" dirty="0" smtClean="0"/>
              <a:t>在</a:t>
            </a:r>
            <a:r>
              <a:rPr lang="zh-CN" altLang="en-US" dirty="0"/>
              <a:t>训练集上</a:t>
            </a:r>
            <a:r>
              <a:rPr lang="zh-CN" altLang="en-US" dirty="0" smtClean="0"/>
              <a:t>表现好的</a:t>
            </a:r>
            <a:r>
              <a:rPr lang="zh-CN" altLang="en-US" dirty="0"/>
              <a:t>学习</a:t>
            </a:r>
            <a:r>
              <a:rPr lang="zh-CN" altLang="en-US" dirty="0" smtClean="0"/>
              <a:t>器是不是就好？</a:t>
            </a:r>
            <a:endParaRPr lang="en-US" altLang="zh-CN" dirty="0" smtClean="0"/>
          </a:p>
          <a:p>
            <a:pPr hangingPunct="0"/>
            <a:r>
              <a:rPr lang="zh-CN" altLang="en-US" dirty="0" smtClean="0"/>
              <a:t>过</a:t>
            </a:r>
            <a:r>
              <a:rPr lang="zh-CN" altLang="en-US" dirty="0"/>
              <a:t>拟合</a:t>
            </a:r>
            <a:endParaRPr lang="en-US" altLang="zh-CN" dirty="0" smtClean="0"/>
          </a:p>
          <a:p>
            <a:pPr lvl="1" hangingPunct="0"/>
            <a:r>
              <a:rPr lang="zh-CN" altLang="en-US" dirty="0" smtClean="0"/>
              <a:t>学习</a:t>
            </a:r>
            <a:r>
              <a:rPr lang="zh-CN" altLang="en-US" dirty="0"/>
              <a:t>器把训练样本学</a:t>
            </a:r>
            <a:r>
              <a:rPr lang="zh-CN" altLang="en-US" dirty="0" smtClean="0"/>
              <a:t>得太好，可能将训练样本不</a:t>
            </a:r>
            <a:r>
              <a:rPr lang="zh-CN" altLang="en-US" dirty="0"/>
              <a:t>太一般的</a:t>
            </a:r>
            <a:r>
              <a:rPr lang="zh-CN" altLang="en-US" dirty="0" smtClean="0"/>
              <a:t>特性学到，当作一般性质，从而导致</a:t>
            </a:r>
            <a:r>
              <a:rPr lang="zh-CN" altLang="en-US" dirty="0"/>
              <a:t>泛化性能</a:t>
            </a:r>
            <a:r>
              <a:rPr lang="zh-CN" altLang="en-US" dirty="0" smtClean="0"/>
              <a:t>下降</a:t>
            </a:r>
            <a:endParaRPr lang="en-US" altLang="zh-CN" dirty="0" smtClean="0"/>
          </a:p>
          <a:p>
            <a:pPr lvl="2" hangingPunct="0"/>
            <a:r>
              <a:rPr lang="zh-CN" altLang="en-US" dirty="0" smtClean="0"/>
              <a:t>原因</a:t>
            </a:r>
            <a:endParaRPr lang="en-US" altLang="zh-CN" dirty="0" smtClean="0"/>
          </a:p>
          <a:p>
            <a:pPr lvl="3" hangingPunct="0"/>
            <a:r>
              <a:rPr lang="zh-CN" altLang="en-US" dirty="0" smtClean="0"/>
              <a:t>学习能力</a:t>
            </a:r>
            <a:r>
              <a:rPr lang="zh-CN" altLang="en-US" dirty="0"/>
              <a:t>过于</a:t>
            </a:r>
            <a:r>
              <a:rPr lang="zh-CN" altLang="en-US" dirty="0" smtClean="0"/>
              <a:t>强大</a:t>
            </a:r>
            <a:endParaRPr lang="en-US" altLang="zh-CN" dirty="0" smtClean="0"/>
          </a:p>
          <a:p>
            <a:pPr lvl="4" hangingPunct="0"/>
            <a:r>
              <a:rPr lang="zh-CN" altLang="en-US" dirty="0"/>
              <a:t>无法彻底避免，</a:t>
            </a:r>
            <a:r>
              <a:rPr lang="zh-CN" altLang="en-US" dirty="0" smtClean="0"/>
              <a:t>只是缓解，减小</a:t>
            </a:r>
            <a:r>
              <a:rPr lang="zh-CN" altLang="en-US" dirty="0"/>
              <a:t>其风险</a:t>
            </a:r>
            <a:endParaRPr lang="en-US" altLang="zh-CN" dirty="0" smtClean="0"/>
          </a:p>
          <a:p>
            <a:pPr hangingPunct="0"/>
            <a:r>
              <a:rPr lang="zh-CN" altLang="en-US" dirty="0"/>
              <a:t>欠拟合</a:t>
            </a:r>
            <a:endParaRPr lang="en-US" altLang="zh-CN" dirty="0" smtClean="0"/>
          </a:p>
          <a:p>
            <a:pPr lvl="1" hangingPunct="0"/>
            <a:r>
              <a:rPr lang="zh-CN" altLang="en-US" dirty="0"/>
              <a:t>对训练样本的一般性质尚未学好</a:t>
            </a:r>
            <a:endParaRPr lang="en-US" altLang="zh-CN" dirty="0"/>
          </a:p>
          <a:p>
            <a:pPr lvl="2" hangingPunct="0"/>
            <a:r>
              <a:rPr lang="zh-CN" altLang="en-US" dirty="0" smtClean="0"/>
              <a:t>学习能力</a:t>
            </a:r>
            <a:r>
              <a:rPr lang="zh-CN" altLang="en-US" dirty="0"/>
              <a:t>低下</a:t>
            </a:r>
            <a:endParaRPr lang="en-US" altLang="zh-CN" dirty="0" smtClean="0"/>
          </a:p>
          <a:p>
            <a:pPr lvl="1" hangingPunct="0"/>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经验误差与过拟合</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35496" y="1268760"/>
            <a:ext cx="9108504" cy="4828097"/>
          </a:xfrm>
          <a:prstGeom prst="rect">
            <a:avLst/>
          </a:prstGeom>
        </p:spPr>
      </p:pic>
    </p:spTree>
  </p:cSld>
  <p:clrMapOvr>
    <a:masterClrMapping/>
  </p:clrMapOvr>
  <p:transition>
    <p:cover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经验误差与过拟合</a:t>
            </a:r>
            <a:endParaRPr lang="zh-CN" altLang="en-US" dirty="0"/>
          </a:p>
        </p:txBody>
      </p:sp>
      <p:sp>
        <p:nvSpPr>
          <p:cNvPr id="3" name="内容占位符 2"/>
          <p:cNvSpPr>
            <a:spLocks noGrp="1"/>
          </p:cNvSpPr>
          <p:nvPr>
            <p:ph idx="1"/>
          </p:nvPr>
        </p:nvSpPr>
        <p:spPr/>
        <p:txBody>
          <a:bodyPr/>
          <a:lstStyle/>
          <a:p>
            <a:r>
              <a:rPr lang="zh-CN" altLang="en-US" dirty="0"/>
              <a:t>模型选择</a:t>
            </a:r>
            <a:endParaRPr lang="en-US" altLang="zh-CN" dirty="0" smtClean="0"/>
          </a:p>
          <a:p>
            <a:pPr lvl="1"/>
            <a:r>
              <a:rPr lang="zh-CN" altLang="en-US" dirty="0" smtClean="0"/>
              <a:t>问题</a:t>
            </a:r>
            <a:endParaRPr lang="en-US" altLang="zh-CN" dirty="0" smtClean="0"/>
          </a:p>
          <a:p>
            <a:pPr lvl="2"/>
            <a:r>
              <a:rPr lang="zh-CN" altLang="en-US" dirty="0"/>
              <a:t>在现实任务</a:t>
            </a:r>
            <a:r>
              <a:rPr lang="zh-CN" altLang="en-US" dirty="0" smtClean="0"/>
              <a:t>中，</a:t>
            </a:r>
            <a:r>
              <a:rPr lang="zh-CN" altLang="en-US" dirty="0"/>
              <a:t>有多种学习</a:t>
            </a:r>
            <a:r>
              <a:rPr lang="zh-CN" altLang="en-US" dirty="0" smtClean="0"/>
              <a:t>算法、</a:t>
            </a:r>
            <a:r>
              <a:rPr lang="zh-CN" altLang="en-US" dirty="0"/>
              <a:t>不同的参数配置</a:t>
            </a:r>
            <a:r>
              <a:rPr lang="zh-CN" altLang="en-US" dirty="0" smtClean="0"/>
              <a:t>可</a:t>
            </a:r>
            <a:r>
              <a:rPr lang="zh-CN" altLang="en-US" dirty="0"/>
              <a:t>供</a:t>
            </a:r>
            <a:r>
              <a:rPr lang="zh-CN" altLang="en-US" dirty="0" smtClean="0"/>
              <a:t>选择，如何选用</a:t>
            </a:r>
            <a:endParaRPr lang="en-US" altLang="zh-CN" dirty="0" smtClean="0"/>
          </a:p>
          <a:p>
            <a:pPr lvl="2"/>
            <a:r>
              <a:rPr lang="zh-CN" altLang="en-US" dirty="0" smtClean="0"/>
              <a:t>选择</a:t>
            </a:r>
            <a:r>
              <a:rPr lang="zh-CN" altLang="en-US" dirty="0"/>
              <a:t>泛化误差最小的那个</a:t>
            </a:r>
            <a:r>
              <a:rPr lang="zh-CN" altLang="en-US" dirty="0" smtClean="0"/>
              <a:t>模型，但无法</a:t>
            </a:r>
            <a:r>
              <a:rPr lang="zh-CN" altLang="en-US" dirty="0"/>
              <a:t>直接获得泛化</a:t>
            </a:r>
            <a:r>
              <a:rPr lang="zh-CN" altLang="en-US" dirty="0" smtClean="0"/>
              <a:t>误差</a:t>
            </a:r>
            <a:endParaRPr lang="en-US" altLang="zh-CN" dirty="0" smtClean="0"/>
          </a:p>
          <a:p>
            <a:pPr lvl="3"/>
            <a:r>
              <a:rPr lang="zh-CN" altLang="en-US" dirty="0"/>
              <a:t>无法直接获得泛化误差</a:t>
            </a:r>
            <a:endParaRPr lang="en-US" altLang="zh-CN" dirty="0" smtClean="0"/>
          </a:p>
          <a:p>
            <a:pPr lvl="2"/>
            <a:r>
              <a:rPr lang="zh-CN" altLang="en-US" dirty="0" smtClean="0"/>
              <a:t>训练误差由于</a:t>
            </a:r>
            <a:r>
              <a:rPr lang="zh-CN" altLang="en-US" dirty="0"/>
              <a:t>过拟合</a:t>
            </a:r>
            <a:r>
              <a:rPr lang="zh-CN" altLang="en-US" dirty="0" smtClean="0"/>
              <a:t>现象而</a:t>
            </a:r>
            <a:r>
              <a:rPr lang="zh-CN" altLang="en-US" dirty="0"/>
              <a:t>不适合作为标准</a:t>
            </a:r>
            <a:endParaRPr lang="en-US" altLang="zh-CN" dirty="0" smtClean="0"/>
          </a:p>
          <a:p>
            <a:pPr lvl="1"/>
            <a:r>
              <a:rPr lang="zh-CN" altLang="en-US" dirty="0"/>
              <a:t>四</a:t>
            </a:r>
            <a:r>
              <a:rPr lang="zh-CN" altLang="en-US" dirty="0" smtClean="0"/>
              <a:t>个关键</a:t>
            </a:r>
            <a:endParaRPr lang="en-US" altLang="zh-CN" dirty="0" smtClean="0"/>
          </a:p>
          <a:p>
            <a:pPr lvl="2"/>
            <a:r>
              <a:rPr lang="zh-CN" altLang="en-US" dirty="0"/>
              <a:t>评估</a:t>
            </a:r>
            <a:r>
              <a:rPr lang="zh-CN" altLang="en-US" dirty="0" smtClean="0"/>
              <a:t>方法，</a:t>
            </a:r>
            <a:r>
              <a:rPr lang="zh-CN" altLang="en-US" dirty="0"/>
              <a:t>如何获得测试</a:t>
            </a:r>
            <a:r>
              <a:rPr lang="zh-CN" altLang="en-US" dirty="0" smtClean="0"/>
              <a:t>结果</a:t>
            </a:r>
            <a:endParaRPr lang="en-US" altLang="zh-CN" dirty="0" smtClean="0"/>
          </a:p>
          <a:p>
            <a:pPr lvl="2"/>
            <a:r>
              <a:rPr lang="zh-CN" altLang="en-US" dirty="0"/>
              <a:t>性能</a:t>
            </a:r>
            <a:r>
              <a:rPr lang="zh-CN" altLang="en-US" dirty="0" smtClean="0"/>
              <a:t>度量，如何</a:t>
            </a:r>
            <a:r>
              <a:rPr lang="zh-CN" altLang="en-US" dirty="0"/>
              <a:t>评估性能</a:t>
            </a:r>
            <a:r>
              <a:rPr lang="zh-CN" altLang="en-US" dirty="0" smtClean="0"/>
              <a:t>优劣</a:t>
            </a:r>
            <a:endParaRPr lang="en-US" altLang="zh-CN" dirty="0" smtClean="0"/>
          </a:p>
          <a:p>
            <a:pPr lvl="2"/>
            <a:r>
              <a:rPr lang="zh-CN" altLang="en-US" dirty="0"/>
              <a:t>比较</a:t>
            </a:r>
            <a:r>
              <a:rPr lang="zh-CN" altLang="en-US" dirty="0" smtClean="0"/>
              <a:t>检验，如何</a:t>
            </a:r>
            <a:r>
              <a:rPr lang="zh-CN" altLang="en-US" dirty="0"/>
              <a:t>判断实质</a:t>
            </a:r>
            <a:r>
              <a:rPr lang="zh-CN" altLang="en-US" dirty="0" smtClean="0"/>
              <a:t>差别</a:t>
            </a:r>
            <a:endParaRPr lang="en-US" altLang="zh-CN" dirty="0" smtClean="0"/>
          </a:p>
          <a:p>
            <a:pPr lvl="2"/>
            <a:r>
              <a:rPr lang="zh-CN" altLang="en-US" dirty="0" smtClean="0"/>
              <a:t>分析说明，如何解释泛化性能</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2.2 </a:t>
            </a:r>
            <a:r>
              <a:rPr lang="zh-CN" altLang="en-US" dirty="0" smtClean="0"/>
              <a:t>评估</a:t>
            </a:r>
            <a:r>
              <a:rPr lang="zh-CN" altLang="en-US" dirty="0"/>
              <a:t>方法</a:t>
            </a:r>
            <a:endParaRPr lang="zh-CN" altLang="en-US" dirty="0"/>
          </a:p>
        </p:txBody>
      </p:sp>
      <p:sp>
        <p:nvSpPr>
          <p:cNvPr id="3" name="内容占位符 2"/>
          <p:cNvSpPr>
            <a:spLocks noGrp="1"/>
          </p:cNvSpPr>
          <p:nvPr>
            <p:ph idx="1"/>
          </p:nvPr>
        </p:nvSpPr>
        <p:spPr/>
        <p:txBody>
          <a:bodyPr/>
          <a:lstStyle/>
          <a:p>
            <a:r>
              <a:rPr lang="zh-CN" altLang="en-US" dirty="0"/>
              <a:t>实验</a:t>
            </a:r>
            <a:r>
              <a:rPr lang="zh-CN" altLang="en-US" dirty="0" smtClean="0"/>
              <a:t>测试</a:t>
            </a:r>
            <a:endParaRPr lang="en-US" altLang="zh-CN" dirty="0" smtClean="0"/>
          </a:p>
          <a:p>
            <a:pPr lvl="1"/>
            <a:r>
              <a:rPr lang="zh-CN" altLang="en-US" dirty="0"/>
              <a:t>通过实验</a:t>
            </a:r>
            <a:r>
              <a:rPr lang="zh-CN" altLang="en-US" dirty="0" smtClean="0"/>
              <a:t>测试对</a:t>
            </a:r>
            <a:r>
              <a:rPr lang="zh-CN" altLang="en-US" dirty="0"/>
              <a:t>学习器的泛化误差进行</a:t>
            </a:r>
            <a:r>
              <a:rPr lang="zh-CN" altLang="en-US" dirty="0" smtClean="0"/>
              <a:t>评估</a:t>
            </a:r>
            <a:endParaRPr lang="en-US" altLang="zh-CN" dirty="0" smtClean="0"/>
          </a:p>
          <a:p>
            <a:pPr lvl="2"/>
            <a:r>
              <a:rPr lang="zh-CN" altLang="en-US" dirty="0" smtClean="0"/>
              <a:t>使用测试</a:t>
            </a:r>
            <a:r>
              <a:rPr lang="zh-CN" altLang="en-US" dirty="0"/>
              <a:t>集测试学习器对新样本的判别</a:t>
            </a:r>
            <a:r>
              <a:rPr lang="zh-CN" altLang="en-US" dirty="0" smtClean="0"/>
              <a:t>能力</a:t>
            </a:r>
            <a:endParaRPr lang="en-US" altLang="zh-CN" dirty="0" smtClean="0"/>
          </a:p>
          <a:p>
            <a:pPr lvl="2"/>
            <a:r>
              <a:rPr lang="zh-CN" altLang="en-US" dirty="0" smtClean="0"/>
              <a:t>以</a:t>
            </a:r>
            <a:r>
              <a:rPr lang="zh-CN" altLang="en-US" dirty="0"/>
              <a:t>测试集上</a:t>
            </a:r>
            <a:r>
              <a:rPr lang="zh-CN" altLang="en-US" dirty="0" smtClean="0"/>
              <a:t>的测试误差作为</a:t>
            </a:r>
            <a:r>
              <a:rPr lang="zh-CN" altLang="en-US" dirty="0"/>
              <a:t>泛化误差的近似</a:t>
            </a:r>
            <a:endParaRPr lang="en-US" altLang="zh-CN" dirty="0" smtClean="0"/>
          </a:p>
          <a:p>
            <a:r>
              <a:rPr lang="zh-CN" altLang="en-US" dirty="0"/>
              <a:t>测试</a:t>
            </a:r>
            <a:r>
              <a:rPr lang="zh-CN" altLang="en-US" dirty="0" smtClean="0"/>
              <a:t>集</a:t>
            </a:r>
            <a:endParaRPr lang="en-US" altLang="zh-CN" dirty="0" smtClean="0"/>
          </a:p>
          <a:p>
            <a:pPr lvl="1"/>
            <a:r>
              <a:rPr lang="zh-CN" altLang="en-US" dirty="0"/>
              <a:t>从样本真实分布中独立同分布</a:t>
            </a:r>
            <a:r>
              <a:rPr lang="zh-CN" altLang="en-US" dirty="0" smtClean="0"/>
              <a:t>采样</a:t>
            </a:r>
            <a:r>
              <a:rPr lang="zh-CN" altLang="en-US" dirty="0"/>
              <a:t>而得</a:t>
            </a:r>
            <a:endParaRPr lang="en-US" altLang="zh-CN" dirty="0" smtClean="0"/>
          </a:p>
          <a:p>
            <a:pPr lvl="1"/>
            <a:r>
              <a:rPr lang="zh-CN" altLang="en-US" dirty="0"/>
              <a:t>尽可能与训练集互斥，</a:t>
            </a:r>
            <a:r>
              <a:rPr lang="zh-CN" altLang="en-US" dirty="0" smtClean="0"/>
              <a:t>即不在</a:t>
            </a:r>
            <a:r>
              <a:rPr lang="zh-CN" altLang="en-US" dirty="0"/>
              <a:t>训练集中</a:t>
            </a:r>
            <a:r>
              <a:rPr lang="zh-CN" altLang="en-US" dirty="0" smtClean="0"/>
              <a:t>出现或未使用过</a:t>
            </a:r>
            <a:endParaRPr lang="en-US" altLang="zh-CN" dirty="0" smtClean="0"/>
          </a:p>
          <a:p>
            <a:pPr lvl="1" hangingPunct="0"/>
            <a:r>
              <a:rPr lang="zh-CN" altLang="en-US" dirty="0">
                <a:latin typeface="+mn-ea"/>
              </a:rPr>
              <a:t>只有一个包含</a:t>
            </a:r>
            <a:r>
              <a:rPr lang="en-US" altLang="zh-CN" b="0" i="1" dirty="0">
                <a:latin typeface="Times New Roman" panose="02020603050405020304" pitchFamily="18" charset="0"/>
                <a:cs typeface="Times New Roman" panose="02020603050405020304" pitchFamily="18" charset="0"/>
              </a:rPr>
              <a:t>m</a:t>
            </a:r>
            <a:r>
              <a:rPr lang="zh-CN" altLang="en-US" dirty="0">
                <a:latin typeface="+mn-ea"/>
              </a:rPr>
              <a:t>个样例的数据集</a:t>
            </a:r>
            <a:r>
              <a:rPr lang="en-US" altLang="zh-CN" b="0" i="1" dirty="0" smtClean="0">
                <a:latin typeface="Times New Roman" panose="02020603050405020304" pitchFamily="18" charset="0"/>
                <a:cs typeface="Times New Roman" panose="02020603050405020304" pitchFamily="18" charset="0"/>
              </a:rPr>
              <a:t>D</a:t>
            </a:r>
            <a:r>
              <a:rPr lang="en-US" altLang="zh-CN" b="0" dirty="0" smtClean="0">
                <a:latin typeface="Times New Roman" panose="02020603050405020304" pitchFamily="18" charset="0"/>
                <a:cs typeface="Times New Roman" panose="02020603050405020304" pitchFamily="18" charset="0"/>
              </a:rPr>
              <a:t>= {(</a:t>
            </a:r>
            <a:r>
              <a:rPr lang="en-US" altLang="zh-CN" b="0" i="1" dirty="0" smtClean="0">
                <a:latin typeface="Times New Roman" panose="02020603050405020304" pitchFamily="18" charset="0"/>
                <a:cs typeface="Times New Roman" panose="02020603050405020304" pitchFamily="18" charset="0"/>
              </a:rPr>
              <a:t>x</a:t>
            </a:r>
            <a:r>
              <a:rPr lang="en-US" altLang="zh-CN" b="0" baseline="-25000" dirty="0" smtClean="0">
                <a:latin typeface="Times New Roman" panose="02020603050405020304" pitchFamily="18" charset="0"/>
                <a:cs typeface="Times New Roman" panose="02020603050405020304" pitchFamily="18" charset="0"/>
              </a:rPr>
              <a:t>1</a:t>
            </a:r>
            <a:r>
              <a:rPr lang="en-US" altLang="zh-CN" b="0" dirty="0" smtClean="0">
                <a:latin typeface="Times New Roman" panose="02020603050405020304" pitchFamily="18" charset="0"/>
                <a:cs typeface="Times New Roman" panose="02020603050405020304" pitchFamily="18" charset="0"/>
              </a:rPr>
              <a:t>,</a:t>
            </a:r>
            <a:r>
              <a:rPr lang="en-US" altLang="zh-CN" b="0" i="1" dirty="0" smtClean="0">
                <a:latin typeface="Times New Roman" panose="02020603050405020304" pitchFamily="18" charset="0"/>
                <a:cs typeface="Times New Roman" panose="02020603050405020304" pitchFamily="18" charset="0"/>
              </a:rPr>
              <a:t>y</a:t>
            </a:r>
            <a:r>
              <a:rPr lang="en-US" altLang="zh-CN" b="0" baseline="-25000" dirty="0" smtClean="0">
                <a:latin typeface="Times New Roman" panose="02020603050405020304" pitchFamily="18" charset="0"/>
                <a:cs typeface="Times New Roman" panose="02020603050405020304" pitchFamily="18" charset="0"/>
              </a:rPr>
              <a:t>1</a:t>
            </a:r>
            <a:r>
              <a:rPr lang="en-US" altLang="zh-CN" b="0" dirty="0" smtClean="0">
                <a:latin typeface="Times New Roman" panose="02020603050405020304" pitchFamily="18" charset="0"/>
                <a:cs typeface="Times New Roman" panose="02020603050405020304" pitchFamily="18" charset="0"/>
              </a:rPr>
              <a:t>),…,(</a:t>
            </a:r>
            <a:r>
              <a:rPr lang="en-US" altLang="zh-CN" b="0" i="1" dirty="0" err="1" smtClean="0">
                <a:latin typeface="Times New Roman" panose="02020603050405020304" pitchFamily="18" charset="0"/>
                <a:cs typeface="Times New Roman" panose="02020603050405020304" pitchFamily="18" charset="0"/>
              </a:rPr>
              <a:t>x</a:t>
            </a:r>
            <a:r>
              <a:rPr lang="en-US" altLang="zh-CN" b="0" i="1" baseline="-25000" dirty="0" err="1" smtClean="0">
                <a:latin typeface="Times New Roman" panose="02020603050405020304" pitchFamily="18" charset="0"/>
                <a:cs typeface="Times New Roman" panose="02020603050405020304" pitchFamily="18" charset="0"/>
              </a:rPr>
              <a:t>m</a:t>
            </a:r>
            <a:r>
              <a:rPr lang="en-US" altLang="zh-CN" b="0" dirty="0" err="1" smtClean="0">
                <a:latin typeface="Times New Roman" panose="02020603050405020304" pitchFamily="18" charset="0"/>
                <a:cs typeface="Times New Roman" panose="02020603050405020304" pitchFamily="18" charset="0"/>
              </a:rPr>
              <a:t>,</a:t>
            </a:r>
            <a:r>
              <a:rPr lang="en-US" altLang="zh-CN" b="0" i="1" dirty="0" err="1" smtClean="0">
                <a:latin typeface="Times New Roman" panose="02020603050405020304" pitchFamily="18" charset="0"/>
                <a:cs typeface="Times New Roman" panose="02020603050405020304" pitchFamily="18" charset="0"/>
              </a:rPr>
              <a:t>y</a:t>
            </a:r>
            <a:r>
              <a:rPr lang="en-US" altLang="zh-CN" b="0" i="1" baseline="-25000" dirty="0" err="1" smtClean="0">
                <a:latin typeface="Times New Roman" panose="02020603050405020304" pitchFamily="18" charset="0"/>
                <a:cs typeface="Times New Roman" panose="02020603050405020304" pitchFamily="18" charset="0"/>
              </a:rPr>
              <a:t>m</a:t>
            </a:r>
            <a:r>
              <a:rPr lang="en-US" altLang="zh-CN" b="0" dirty="0" smtClean="0">
                <a:latin typeface="Times New Roman" panose="02020603050405020304" pitchFamily="18" charset="0"/>
                <a:cs typeface="Times New Roman" panose="02020603050405020304" pitchFamily="18" charset="0"/>
              </a:rPr>
              <a:t>)}</a:t>
            </a:r>
            <a:r>
              <a:rPr lang="zh-CN" altLang="en-US" dirty="0" smtClean="0">
                <a:latin typeface="+mn-ea"/>
              </a:rPr>
              <a:t>，既要</a:t>
            </a:r>
            <a:r>
              <a:rPr lang="zh-CN" altLang="en-US" dirty="0">
                <a:latin typeface="+mn-ea"/>
              </a:rPr>
              <a:t>训练，又要</a:t>
            </a:r>
            <a:r>
              <a:rPr lang="zh-CN" altLang="en-US" dirty="0" smtClean="0">
                <a:latin typeface="+mn-ea"/>
              </a:rPr>
              <a:t>测试</a:t>
            </a:r>
            <a:endParaRPr lang="en-US" altLang="zh-CN" dirty="0" smtClean="0">
              <a:latin typeface="+mn-ea"/>
            </a:endParaRPr>
          </a:p>
          <a:p>
            <a:pPr lvl="2" hangingPunct="0"/>
            <a:r>
              <a:rPr lang="zh-CN" altLang="en-US" dirty="0" smtClean="0">
                <a:latin typeface="+mn-ea"/>
              </a:rPr>
              <a:t>如何产生</a:t>
            </a:r>
            <a:r>
              <a:rPr lang="zh-CN" altLang="en-US" dirty="0">
                <a:latin typeface="+mn-ea"/>
              </a:rPr>
              <a:t>出</a:t>
            </a:r>
            <a:r>
              <a:rPr lang="zh-CN" altLang="en-US" dirty="0" smtClean="0">
                <a:latin typeface="+mn-ea"/>
              </a:rPr>
              <a:t>训练集</a:t>
            </a:r>
            <a:r>
              <a:rPr lang="en-US" altLang="zh-CN" dirty="0" smtClean="0">
                <a:latin typeface="+mn-ea"/>
              </a:rPr>
              <a:t>S</a:t>
            </a:r>
            <a:r>
              <a:rPr lang="zh-CN" altLang="en-US" dirty="0" smtClean="0">
                <a:latin typeface="+mn-ea"/>
              </a:rPr>
              <a:t>和</a:t>
            </a:r>
            <a:r>
              <a:rPr lang="zh-CN" altLang="en-US" dirty="0">
                <a:latin typeface="+mn-ea"/>
              </a:rPr>
              <a:t>测试集</a:t>
            </a:r>
            <a:r>
              <a:rPr lang="en-US" altLang="zh-CN" dirty="0" smtClean="0">
                <a:latin typeface="+mn-ea"/>
              </a:rPr>
              <a:t>T</a:t>
            </a:r>
            <a:endParaRPr lang="en-US" altLang="zh-CN" dirty="0" smtClean="0">
              <a:latin typeface="+mn-ea"/>
            </a:endParaRPr>
          </a:p>
          <a:p>
            <a:pPr lvl="3" hangingPunct="0"/>
            <a:r>
              <a:rPr lang="zh-CN" altLang="en-US" dirty="0">
                <a:latin typeface="+mn-ea"/>
              </a:rPr>
              <a:t>留出法 </a:t>
            </a:r>
            <a:r>
              <a:rPr lang="en-US" altLang="zh-CN" dirty="0">
                <a:latin typeface="+mn-ea"/>
              </a:rPr>
              <a:t>(hold-out)</a:t>
            </a:r>
            <a:endParaRPr lang="en-US" altLang="zh-CN" dirty="0">
              <a:latin typeface="+mn-ea"/>
            </a:endParaRPr>
          </a:p>
          <a:p>
            <a:pPr lvl="3" hangingPunct="0"/>
            <a:r>
              <a:rPr lang="zh-CN" altLang="en-US" dirty="0" smtClean="0">
                <a:latin typeface="+mn-ea"/>
              </a:rPr>
              <a:t>交叉</a:t>
            </a:r>
            <a:r>
              <a:rPr lang="zh-CN" altLang="en-US" dirty="0">
                <a:latin typeface="+mn-ea"/>
              </a:rPr>
              <a:t>验证法 </a:t>
            </a:r>
            <a:r>
              <a:rPr lang="en-US" altLang="zh-CN" dirty="0">
                <a:latin typeface="+mn-ea"/>
              </a:rPr>
              <a:t>(cross validation)</a:t>
            </a:r>
            <a:endParaRPr lang="en-US" altLang="zh-CN" dirty="0">
              <a:latin typeface="+mn-ea"/>
            </a:endParaRPr>
          </a:p>
          <a:p>
            <a:pPr lvl="3" hangingPunct="0"/>
            <a:r>
              <a:rPr lang="zh-CN" altLang="en-US" dirty="0" smtClean="0">
                <a:latin typeface="+mn-ea"/>
              </a:rPr>
              <a:t>自助法 </a:t>
            </a:r>
            <a:r>
              <a:rPr lang="en-US" altLang="zh-CN" dirty="0">
                <a:latin typeface="+mn-ea"/>
              </a:rPr>
              <a:t>(bootstrap)</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a:xfrm>
            <a:off x="683568" y="970384"/>
            <a:ext cx="7772400" cy="5811416"/>
          </a:xfrm>
        </p:spPr>
        <p:txBody>
          <a:bodyPr/>
          <a:lstStyle/>
          <a:p>
            <a:r>
              <a:rPr lang="en-US" altLang="zh-CN" dirty="0" smtClean="0">
                <a:latin typeface="+mn-ea"/>
              </a:rPr>
              <a:t>2.2.1 </a:t>
            </a:r>
            <a:r>
              <a:rPr lang="zh-CN" altLang="en-US" dirty="0" smtClean="0">
                <a:latin typeface="+mn-ea"/>
              </a:rPr>
              <a:t>留</a:t>
            </a:r>
            <a:r>
              <a:rPr lang="zh-CN" altLang="en-US" dirty="0">
                <a:latin typeface="+mn-ea"/>
              </a:rPr>
              <a:t>出</a:t>
            </a:r>
            <a:r>
              <a:rPr lang="zh-CN" altLang="en-US" dirty="0" smtClean="0">
                <a:latin typeface="+mn-ea"/>
              </a:rPr>
              <a:t>法</a:t>
            </a:r>
            <a:endParaRPr lang="en-US" altLang="zh-CN" dirty="0" smtClean="0">
              <a:latin typeface="+mn-ea"/>
            </a:endParaRPr>
          </a:p>
          <a:p>
            <a:pPr lvl="1"/>
            <a:r>
              <a:rPr lang="zh-CN" altLang="en-US" dirty="0" smtClean="0">
                <a:latin typeface="+mn-ea"/>
              </a:rPr>
              <a:t>将</a:t>
            </a:r>
            <a:r>
              <a:rPr lang="zh-CN" altLang="en-US" dirty="0">
                <a:latin typeface="+mn-ea"/>
              </a:rPr>
              <a:t>数据集</a:t>
            </a:r>
            <a:r>
              <a:rPr lang="en-US" altLang="zh-CN" dirty="0">
                <a:latin typeface="+mn-ea"/>
              </a:rPr>
              <a:t>D</a:t>
            </a:r>
            <a:r>
              <a:rPr lang="zh-CN" altLang="en-US" dirty="0">
                <a:latin typeface="+mn-ea"/>
              </a:rPr>
              <a:t>划分为两个互斥的集合</a:t>
            </a:r>
            <a:r>
              <a:rPr lang="zh-CN" altLang="en-US" dirty="0" smtClean="0">
                <a:latin typeface="+mn-ea"/>
              </a:rPr>
              <a:t>，一个作为</a:t>
            </a:r>
            <a:r>
              <a:rPr lang="zh-CN" altLang="en-US" dirty="0">
                <a:latin typeface="+mn-ea"/>
              </a:rPr>
              <a:t>训练集</a:t>
            </a:r>
            <a:r>
              <a:rPr lang="en-US" altLang="zh-CN" dirty="0" smtClean="0">
                <a:latin typeface="+mn-ea"/>
              </a:rPr>
              <a:t>S</a:t>
            </a:r>
            <a:r>
              <a:rPr lang="zh-CN" altLang="en-US" dirty="0" smtClean="0">
                <a:latin typeface="+mn-ea"/>
              </a:rPr>
              <a:t>，另</a:t>
            </a:r>
            <a:r>
              <a:rPr lang="zh-CN" altLang="en-US" dirty="0">
                <a:latin typeface="+mn-ea"/>
              </a:rPr>
              <a:t>一个作为测试集</a:t>
            </a:r>
            <a:r>
              <a:rPr lang="en-US" altLang="zh-CN" dirty="0" smtClean="0">
                <a:latin typeface="+mn-ea"/>
              </a:rPr>
              <a:t>T</a:t>
            </a:r>
            <a:endParaRPr lang="en-US" altLang="zh-CN" dirty="0" smtClean="0">
              <a:latin typeface="+mn-ea"/>
            </a:endParaRPr>
          </a:p>
          <a:p>
            <a:pPr lvl="2"/>
            <a:r>
              <a:rPr lang="zh-CN" altLang="en-US" dirty="0">
                <a:latin typeface="+mn-ea"/>
              </a:rPr>
              <a:t>训练集、测试</a:t>
            </a:r>
            <a:r>
              <a:rPr lang="zh-CN" altLang="en-US" dirty="0" smtClean="0">
                <a:latin typeface="+mn-ea"/>
              </a:rPr>
              <a:t>集划分的分布</a:t>
            </a:r>
            <a:endParaRPr lang="en-US" altLang="zh-CN" dirty="0" smtClean="0">
              <a:latin typeface="+mn-ea"/>
            </a:endParaRPr>
          </a:p>
          <a:p>
            <a:pPr lvl="3"/>
            <a:r>
              <a:rPr lang="zh-CN" altLang="en-US" dirty="0" smtClean="0">
                <a:latin typeface="+mn-ea"/>
              </a:rPr>
              <a:t>训练集、测试集划分</a:t>
            </a:r>
            <a:r>
              <a:rPr lang="zh-CN" altLang="en-US" dirty="0">
                <a:latin typeface="+mn-ea"/>
              </a:rPr>
              <a:t>要尽可能保持数据分布的</a:t>
            </a:r>
            <a:r>
              <a:rPr lang="zh-CN" altLang="en-US" dirty="0" smtClean="0">
                <a:latin typeface="+mn-ea"/>
              </a:rPr>
              <a:t>一致性</a:t>
            </a:r>
            <a:endParaRPr lang="en-US" altLang="zh-CN" dirty="0" smtClean="0">
              <a:latin typeface="+mn-ea"/>
            </a:endParaRPr>
          </a:p>
          <a:p>
            <a:pPr lvl="4"/>
            <a:r>
              <a:rPr lang="zh-CN" altLang="en-US" dirty="0">
                <a:latin typeface="+mn-ea"/>
              </a:rPr>
              <a:t>避免因</a:t>
            </a:r>
            <a:r>
              <a:rPr lang="zh-CN" altLang="en-US" dirty="0" smtClean="0">
                <a:latin typeface="+mn-ea"/>
              </a:rPr>
              <a:t>数据划分引入</a:t>
            </a:r>
            <a:r>
              <a:rPr lang="zh-CN" altLang="en-US" dirty="0">
                <a:latin typeface="+mn-ea"/>
              </a:rPr>
              <a:t>额外的偏差而对最终结果产生影响</a:t>
            </a:r>
            <a:endParaRPr lang="en-US" altLang="zh-CN" dirty="0" smtClean="0">
              <a:latin typeface="+mn-ea"/>
            </a:endParaRPr>
          </a:p>
          <a:p>
            <a:pPr lvl="4"/>
            <a:r>
              <a:rPr lang="zh-CN" altLang="en-US" dirty="0" smtClean="0">
                <a:latin typeface="+mn-ea"/>
              </a:rPr>
              <a:t>如保留</a:t>
            </a:r>
            <a:r>
              <a:rPr lang="zh-CN" altLang="en-US" dirty="0">
                <a:latin typeface="+mn-ea"/>
              </a:rPr>
              <a:t>类别比例的</a:t>
            </a:r>
            <a:r>
              <a:rPr lang="zh-CN" altLang="en-US" dirty="0" smtClean="0">
                <a:latin typeface="+mn-ea"/>
              </a:rPr>
              <a:t>采样方式，通常称为分层采样</a:t>
            </a:r>
            <a:endParaRPr lang="en-US" altLang="zh-CN" dirty="0" smtClean="0">
              <a:latin typeface="+mn-ea"/>
            </a:endParaRPr>
          </a:p>
          <a:p>
            <a:pPr lvl="2"/>
            <a:r>
              <a:rPr lang="zh-CN" altLang="en-US" dirty="0">
                <a:latin typeface="+mn-ea"/>
              </a:rPr>
              <a:t>在给定训练</a:t>
            </a:r>
            <a:r>
              <a:rPr lang="en-US" altLang="zh-CN" dirty="0">
                <a:latin typeface="+mn-ea"/>
              </a:rPr>
              <a:t>/</a:t>
            </a:r>
            <a:r>
              <a:rPr lang="zh-CN" altLang="en-US" dirty="0">
                <a:latin typeface="+mn-ea"/>
              </a:rPr>
              <a:t>测试集的样本比例后，仍存在多种划分方式对初始数据集</a:t>
            </a:r>
            <a:r>
              <a:rPr lang="en-US" altLang="zh-CN" dirty="0">
                <a:latin typeface="+mn-ea"/>
              </a:rPr>
              <a:t>D</a:t>
            </a:r>
            <a:r>
              <a:rPr lang="zh-CN" altLang="en-US" dirty="0">
                <a:latin typeface="+mn-ea"/>
              </a:rPr>
              <a:t>进行</a:t>
            </a:r>
            <a:r>
              <a:rPr lang="zh-CN" altLang="en-US" dirty="0" smtClean="0">
                <a:latin typeface="+mn-ea"/>
              </a:rPr>
              <a:t>分割</a:t>
            </a:r>
            <a:endParaRPr lang="en-US" altLang="zh-CN" dirty="0" smtClean="0">
              <a:latin typeface="+mn-ea"/>
            </a:endParaRPr>
          </a:p>
          <a:p>
            <a:pPr lvl="3"/>
            <a:r>
              <a:rPr lang="zh-CN" altLang="en-US" dirty="0">
                <a:latin typeface="+mn-ea"/>
              </a:rPr>
              <a:t>如</a:t>
            </a:r>
            <a:r>
              <a:rPr lang="zh-CN" altLang="en-US" dirty="0" smtClean="0">
                <a:latin typeface="+mn-ea"/>
              </a:rPr>
              <a:t>排序划分、随机划分</a:t>
            </a:r>
            <a:endParaRPr lang="en-US" altLang="zh-CN" dirty="0" smtClean="0">
              <a:latin typeface="+mn-ea"/>
            </a:endParaRPr>
          </a:p>
          <a:p>
            <a:pPr lvl="2"/>
            <a:r>
              <a:rPr lang="zh-CN" altLang="en-US" dirty="0">
                <a:latin typeface="+mn-ea"/>
              </a:rPr>
              <a:t>单次使用留出法得到的估计结果往往不够稳定</a:t>
            </a:r>
            <a:endParaRPr lang="en-US" altLang="zh-CN" dirty="0">
              <a:latin typeface="+mn-ea"/>
            </a:endParaRPr>
          </a:p>
          <a:p>
            <a:pPr lvl="3"/>
            <a:r>
              <a:rPr lang="zh-CN" altLang="en-US" dirty="0">
                <a:latin typeface="+mn-ea"/>
              </a:rPr>
              <a:t>采用若干次随机划分、重复进行实验评估后取平均值作为留出法的评估</a:t>
            </a:r>
            <a:r>
              <a:rPr lang="zh-CN" altLang="en-US" dirty="0" smtClean="0">
                <a:latin typeface="+mn-ea"/>
              </a:rPr>
              <a:t>结果</a:t>
            </a:r>
            <a:endParaRPr lang="en-US" altLang="zh-CN"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pic>
        <p:nvPicPr>
          <p:cNvPr id="5" name="图片 4"/>
          <p:cNvPicPr>
            <a:picLocks noChangeAspect="1"/>
          </p:cNvPicPr>
          <p:nvPr/>
        </p:nvPicPr>
        <p:blipFill>
          <a:blip r:embed="rId1"/>
          <a:stretch>
            <a:fillRect/>
          </a:stretch>
        </p:blipFill>
        <p:spPr>
          <a:xfrm>
            <a:off x="6104677" y="44624"/>
            <a:ext cx="3003827" cy="1460425"/>
          </a:xfrm>
          <a:prstGeom prst="rect">
            <a:avLst/>
          </a:prstGeom>
        </p:spPr>
      </p:pic>
    </p:spTree>
  </p:cSld>
  <p:clrMapOvr>
    <a:masterClrMapping/>
  </p:clrMapOvr>
  <p:transition>
    <p:cover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a:xfrm>
            <a:off x="683568" y="908720"/>
            <a:ext cx="7772400" cy="5811416"/>
          </a:xfrm>
        </p:spPr>
        <p:txBody>
          <a:bodyPr/>
          <a:lstStyle/>
          <a:p>
            <a:r>
              <a:rPr lang="en-US" altLang="zh-CN" dirty="0" smtClean="0">
                <a:latin typeface="+mn-ea"/>
              </a:rPr>
              <a:t>2.2.1 </a:t>
            </a:r>
            <a:r>
              <a:rPr lang="zh-CN" altLang="en-US" dirty="0" smtClean="0">
                <a:latin typeface="+mn-ea"/>
              </a:rPr>
              <a:t>留</a:t>
            </a:r>
            <a:r>
              <a:rPr lang="zh-CN" altLang="en-US" dirty="0">
                <a:latin typeface="+mn-ea"/>
              </a:rPr>
              <a:t>出</a:t>
            </a:r>
            <a:r>
              <a:rPr lang="zh-CN" altLang="en-US" dirty="0" smtClean="0">
                <a:latin typeface="+mn-ea"/>
              </a:rPr>
              <a:t>法</a:t>
            </a:r>
            <a:endParaRPr lang="en-US" altLang="zh-CN" dirty="0" smtClean="0">
              <a:latin typeface="+mn-ea"/>
            </a:endParaRPr>
          </a:p>
          <a:p>
            <a:pPr lvl="1"/>
            <a:r>
              <a:rPr lang="zh-CN" altLang="en-US" dirty="0" smtClean="0">
                <a:latin typeface="+mn-ea"/>
              </a:rPr>
              <a:t>将</a:t>
            </a:r>
            <a:r>
              <a:rPr lang="zh-CN" altLang="en-US" dirty="0">
                <a:latin typeface="+mn-ea"/>
              </a:rPr>
              <a:t>数据集</a:t>
            </a:r>
            <a:r>
              <a:rPr lang="en-US" altLang="zh-CN" dirty="0">
                <a:latin typeface="+mn-ea"/>
              </a:rPr>
              <a:t>D</a:t>
            </a:r>
            <a:r>
              <a:rPr lang="zh-CN" altLang="en-US" dirty="0">
                <a:latin typeface="+mn-ea"/>
              </a:rPr>
              <a:t>划分为两个互斥的集合</a:t>
            </a:r>
            <a:r>
              <a:rPr lang="zh-CN" altLang="en-US" dirty="0" smtClean="0">
                <a:latin typeface="+mn-ea"/>
              </a:rPr>
              <a:t>，一个作为</a:t>
            </a:r>
            <a:r>
              <a:rPr lang="zh-CN" altLang="en-US" dirty="0">
                <a:latin typeface="+mn-ea"/>
              </a:rPr>
              <a:t>训练集</a:t>
            </a:r>
            <a:r>
              <a:rPr lang="en-US" altLang="zh-CN" dirty="0" smtClean="0">
                <a:latin typeface="+mn-ea"/>
              </a:rPr>
              <a:t>S</a:t>
            </a:r>
            <a:r>
              <a:rPr lang="zh-CN" altLang="en-US" dirty="0" smtClean="0">
                <a:latin typeface="+mn-ea"/>
              </a:rPr>
              <a:t>，另</a:t>
            </a:r>
            <a:r>
              <a:rPr lang="zh-CN" altLang="en-US" dirty="0">
                <a:latin typeface="+mn-ea"/>
              </a:rPr>
              <a:t>一个作为测试集</a:t>
            </a:r>
            <a:r>
              <a:rPr lang="en-US" altLang="zh-CN" dirty="0" smtClean="0">
                <a:latin typeface="+mn-ea"/>
              </a:rPr>
              <a:t>T</a:t>
            </a:r>
            <a:endParaRPr lang="en-US" altLang="zh-CN" dirty="0" smtClean="0">
              <a:latin typeface="+mn-ea"/>
            </a:endParaRPr>
          </a:p>
          <a:p>
            <a:pPr lvl="2"/>
            <a:r>
              <a:rPr lang="zh-CN" altLang="en-US" dirty="0" smtClean="0">
                <a:latin typeface="+mn-ea"/>
              </a:rPr>
              <a:t>划分</a:t>
            </a:r>
            <a:r>
              <a:rPr lang="zh-CN" altLang="en-US" dirty="0">
                <a:latin typeface="+mn-ea"/>
              </a:rPr>
              <a:t>训练集、测试</a:t>
            </a:r>
            <a:r>
              <a:rPr lang="zh-CN" altLang="en-US" dirty="0" smtClean="0">
                <a:latin typeface="+mn-ea"/>
              </a:rPr>
              <a:t>集的大小</a:t>
            </a:r>
            <a:endParaRPr lang="en-US" altLang="zh-CN" dirty="0">
              <a:latin typeface="+mn-ea"/>
            </a:endParaRPr>
          </a:p>
          <a:p>
            <a:pPr lvl="3" hangingPunct="0"/>
            <a:r>
              <a:rPr lang="zh-CN" altLang="en-US" dirty="0">
                <a:latin typeface="+mn-ea"/>
              </a:rPr>
              <a:t>训练集</a:t>
            </a:r>
            <a:r>
              <a:rPr lang="en-US" altLang="zh-CN" dirty="0">
                <a:latin typeface="+mn-ea"/>
              </a:rPr>
              <a:t>S</a:t>
            </a:r>
            <a:r>
              <a:rPr lang="zh-CN" altLang="en-US" dirty="0">
                <a:latin typeface="+mn-ea"/>
              </a:rPr>
              <a:t>大测试集</a:t>
            </a:r>
            <a:r>
              <a:rPr lang="en-US" altLang="zh-CN" dirty="0">
                <a:latin typeface="+mn-ea"/>
              </a:rPr>
              <a:t>T</a:t>
            </a:r>
            <a:r>
              <a:rPr lang="zh-CN" altLang="en-US" dirty="0">
                <a:latin typeface="+mn-ea"/>
              </a:rPr>
              <a:t>小，训练出的模型更接近于用</a:t>
            </a:r>
            <a:r>
              <a:rPr lang="en-US" altLang="zh-CN" dirty="0">
                <a:latin typeface="+mn-ea"/>
              </a:rPr>
              <a:t>D</a:t>
            </a:r>
            <a:r>
              <a:rPr lang="zh-CN" altLang="en-US" dirty="0">
                <a:latin typeface="+mn-ea"/>
              </a:rPr>
              <a:t>训练出的模型，但评估结果可能不够准确</a:t>
            </a:r>
            <a:endParaRPr lang="en-US" altLang="zh-CN" dirty="0">
              <a:latin typeface="+mn-ea"/>
            </a:endParaRPr>
          </a:p>
          <a:p>
            <a:pPr lvl="3" hangingPunct="0"/>
            <a:r>
              <a:rPr lang="zh-CN" altLang="en-US" dirty="0">
                <a:latin typeface="+mn-ea"/>
              </a:rPr>
              <a:t>训练集</a:t>
            </a:r>
            <a:r>
              <a:rPr lang="en-US" altLang="zh-CN" dirty="0">
                <a:latin typeface="+mn-ea"/>
              </a:rPr>
              <a:t>S</a:t>
            </a:r>
            <a:r>
              <a:rPr lang="zh-CN" altLang="en-US" dirty="0">
                <a:latin typeface="+mn-ea"/>
              </a:rPr>
              <a:t>小测试集</a:t>
            </a:r>
            <a:r>
              <a:rPr lang="en-US" altLang="zh-CN" dirty="0">
                <a:latin typeface="+mn-ea"/>
              </a:rPr>
              <a:t>T</a:t>
            </a:r>
            <a:r>
              <a:rPr lang="zh-CN" altLang="en-US" dirty="0">
                <a:latin typeface="+mn-ea"/>
              </a:rPr>
              <a:t>大，被评估的模型与用</a:t>
            </a:r>
            <a:r>
              <a:rPr lang="en-US" altLang="zh-CN" dirty="0">
                <a:latin typeface="+mn-ea"/>
              </a:rPr>
              <a:t>D</a:t>
            </a:r>
            <a:r>
              <a:rPr lang="zh-CN" altLang="en-US" dirty="0">
                <a:latin typeface="+mn-ea"/>
              </a:rPr>
              <a:t>训练出的模型有较大差别，降低了评估结果的保真性</a:t>
            </a:r>
            <a:endParaRPr lang="zh-CN" altLang="en-US" dirty="0">
              <a:latin typeface="+mn-ea"/>
            </a:endParaRPr>
          </a:p>
          <a:p>
            <a:pPr lvl="3" hangingPunct="0"/>
            <a:r>
              <a:rPr lang="zh-CN" altLang="en-US" dirty="0" smtClean="0">
                <a:latin typeface="+mn-ea"/>
              </a:rPr>
              <a:t>没有</a:t>
            </a:r>
            <a:r>
              <a:rPr lang="zh-CN" altLang="en-US" dirty="0">
                <a:latin typeface="+mn-ea"/>
              </a:rPr>
              <a:t>完美的解决方案，常用</a:t>
            </a:r>
            <a:r>
              <a:rPr lang="en-US" altLang="zh-CN" dirty="0">
                <a:latin typeface="+mn-ea"/>
              </a:rPr>
              <a:t>2/3-4/5</a:t>
            </a:r>
            <a:r>
              <a:rPr lang="zh-CN" altLang="en-US" dirty="0">
                <a:latin typeface="+mn-ea"/>
              </a:rPr>
              <a:t>的样本用于训练，剩余用于</a:t>
            </a:r>
            <a:r>
              <a:rPr lang="zh-CN" altLang="en-US" dirty="0" smtClean="0">
                <a:latin typeface="+mn-ea"/>
              </a:rPr>
              <a:t>测试</a:t>
            </a:r>
            <a:endParaRPr lang="en-US" altLang="zh-CN"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pic>
        <p:nvPicPr>
          <p:cNvPr id="5" name="图片 4"/>
          <p:cNvPicPr>
            <a:picLocks noChangeAspect="1"/>
          </p:cNvPicPr>
          <p:nvPr/>
        </p:nvPicPr>
        <p:blipFill>
          <a:blip r:embed="rId1"/>
          <a:stretch>
            <a:fillRect/>
          </a:stretch>
        </p:blipFill>
        <p:spPr>
          <a:xfrm>
            <a:off x="2483768" y="4581128"/>
            <a:ext cx="4261593" cy="2071936"/>
          </a:xfrm>
          <a:prstGeom prst="rect">
            <a:avLst/>
          </a:prstGeom>
        </p:spPr>
      </p:pic>
    </p:spTree>
  </p:cSld>
  <p:clrMapOvr>
    <a:masterClrMapping/>
  </p:clrMapOvr>
  <p:transition>
    <p:cover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p:txBody>
          <a:bodyPr/>
          <a:lstStyle/>
          <a:p>
            <a:r>
              <a:rPr lang="en-US" altLang="zh-CN" dirty="0" smtClean="0">
                <a:latin typeface="+mn-ea"/>
              </a:rPr>
              <a:t>2.2.2 </a:t>
            </a:r>
            <a:r>
              <a:rPr lang="zh-CN" altLang="en-US" dirty="0" smtClean="0">
                <a:latin typeface="+mn-ea"/>
              </a:rPr>
              <a:t>交叉</a:t>
            </a:r>
            <a:r>
              <a:rPr lang="zh-CN" altLang="en-US" dirty="0">
                <a:latin typeface="+mn-ea"/>
              </a:rPr>
              <a:t>验证</a:t>
            </a:r>
            <a:r>
              <a:rPr lang="zh-CN" altLang="en-US" dirty="0" smtClean="0">
                <a:latin typeface="+mn-ea"/>
              </a:rPr>
              <a:t>法</a:t>
            </a:r>
            <a:r>
              <a:rPr lang="en-US" altLang="zh-CN" dirty="0" smtClean="0">
                <a:latin typeface="+mn-ea"/>
              </a:rPr>
              <a:t>(</a:t>
            </a:r>
            <a:r>
              <a:rPr lang="en-US" altLang="zh-CN" dirty="0">
                <a:latin typeface="+mn-ea"/>
              </a:rPr>
              <a:t>k</a:t>
            </a:r>
            <a:r>
              <a:rPr lang="zh-CN" altLang="en-US" dirty="0">
                <a:latin typeface="+mn-ea"/>
              </a:rPr>
              <a:t>折交叉验证</a:t>
            </a:r>
            <a:r>
              <a:rPr lang="en-US" altLang="zh-CN" dirty="0" smtClean="0">
                <a:latin typeface="+mn-ea"/>
              </a:rPr>
              <a:t>)</a:t>
            </a:r>
            <a:endParaRPr lang="en-US" altLang="zh-CN" dirty="0" smtClean="0">
              <a:latin typeface="+mn-ea"/>
            </a:endParaRPr>
          </a:p>
          <a:p>
            <a:pPr lvl="1" hangingPunct="0"/>
            <a:r>
              <a:rPr lang="zh-CN" altLang="en-US" dirty="0">
                <a:latin typeface="+mn-ea"/>
              </a:rPr>
              <a:t>将数据集</a:t>
            </a:r>
            <a:r>
              <a:rPr lang="en-US" altLang="zh-CN" dirty="0">
                <a:latin typeface="+mn-ea"/>
              </a:rPr>
              <a:t>D</a:t>
            </a:r>
            <a:r>
              <a:rPr lang="zh-CN" altLang="en-US" dirty="0">
                <a:latin typeface="+mn-ea"/>
              </a:rPr>
              <a:t>划分为</a:t>
            </a:r>
            <a:r>
              <a:rPr lang="en-US" altLang="zh-CN" dirty="0">
                <a:latin typeface="+mn-ea"/>
              </a:rPr>
              <a:t>k</a:t>
            </a:r>
            <a:r>
              <a:rPr lang="zh-CN" altLang="en-US" dirty="0">
                <a:latin typeface="+mn-ea"/>
              </a:rPr>
              <a:t>个大小相似的互斥</a:t>
            </a:r>
            <a:r>
              <a:rPr lang="zh-CN" altLang="en-US" dirty="0" smtClean="0">
                <a:latin typeface="+mn-ea"/>
              </a:rPr>
              <a:t>子集，每个子集尽可能</a:t>
            </a:r>
            <a:r>
              <a:rPr lang="zh-CN" altLang="en-US" dirty="0">
                <a:latin typeface="+mn-ea"/>
              </a:rPr>
              <a:t>保持数据分布</a:t>
            </a:r>
            <a:r>
              <a:rPr lang="zh-CN" altLang="en-US" dirty="0" smtClean="0">
                <a:latin typeface="+mn-ea"/>
              </a:rPr>
              <a:t>的一致性</a:t>
            </a:r>
            <a:endParaRPr lang="en-US" altLang="zh-CN" dirty="0">
              <a:latin typeface="+mn-ea"/>
            </a:endParaRPr>
          </a:p>
          <a:p>
            <a:pPr lvl="2"/>
            <a:r>
              <a:rPr lang="zh-CN" altLang="en-US" dirty="0">
                <a:latin typeface="+mn-ea"/>
              </a:rPr>
              <a:t>每次用</a:t>
            </a:r>
            <a:r>
              <a:rPr lang="en-US" altLang="zh-CN" dirty="0" smtClean="0">
                <a:latin typeface="+mn-ea"/>
              </a:rPr>
              <a:t>k-1</a:t>
            </a:r>
            <a:r>
              <a:rPr lang="zh-CN" altLang="en-US" dirty="0">
                <a:latin typeface="+mn-ea"/>
              </a:rPr>
              <a:t>个子集的并集作为训练集，余下</a:t>
            </a:r>
            <a:r>
              <a:rPr lang="zh-CN" altLang="en-US" dirty="0" smtClean="0">
                <a:latin typeface="+mn-ea"/>
              </a:rPr>
              <a:t>的子集</a:t>
            </a:r>
            <a:r>
              <a:rPr lang="zh-CN" altLang="en-US" dirty="0">
                <a:latin typeface="+mn-ea"/>
              </a:rPr>
              <a:t>作为测试</a:t>
            </a:r>
            <a:r>
              <a:rPr lang="zh-CN" altLang="en-US" dirty="0" smtClean="0">
                <a:latin typeface="+mn-ea"/>
              </a:rPr>
              <a:t>集，可得</a:t>
            </a:r>
            <a:r>
              <a:rPr lang="en-US" altLang="zh-CN" dirty="0">
                <a:latin typeface="+mn-ea"/>
              </a:rPr>
              <a:t>k</a:t>
            </a:r>
            <a:r>
              <a:rPr lang="zh-CN" altLang="en-US" dirty="0">
                <a:latin typeface="+mn-ea"/>
              </a:rPr>
              <a:t>组训练</a:t>
            </a:r>
            <a:r>
              <a:rPr lang="en-US" altLang="zh-CN" dirty="0">
                <a:latin typeface="+mn-ea"/>
              </a:rPr>
              <a:t>/</a:t>
            </a:r>
            <a:r>
              <a:rPr lang="zh-CN" altLang="en-US" dirty="0">
                <a:latin typeface="+mn-ea"/>
              </a:rPr>
              <a:t>测试集</a:t>
            </a:r>
            <a:endParaRPr lang="en-US" altLang="zh-CN" dirty="0" smtClean="0">
              <a:latin typeface="+mn-ea"/>
            </a:endParaRPr>
          </a:p>
          <a:p>
            <a:pPr lvl="2"/>
            <a:r>
              <a:rPr lang="zh-CN" altLang="en-US" dirty="0">
                <a:latin typeface="+mn-ea"/>
              </a:rPr>
              <a:t>最终返回的</a:t>
            </a:r>
            <a:r>
              <a:rPr lang="zh-CN" altLang="en-US" dirty="0" smtClean="0">
                <a:latin typeface="+mn-ea"/>
              </a:rPr>
              <a:t>是</a:t>
            </a:r>
            <a:r>
              <a:rPr lang="en-US" altLang="zh-CN" dirty="0" smtClean="0">
                <a:latin typeface="+mn-ea"/>
              </a:rPr>
              <a:t>k</a:t>
            </a:r>
            <a:r>
              <a:rPr lang="zh-CN" altLang="en-US" dirty="0">
                <a:latin typeface="+mn-ea"/>
              </a:rPr>
              <a:t>个测试结果的</a:t>
            </a:r>
            <a:r>
              <a:rPr lang="zh-CN" altLang="en-US" dirty="0" smtClean="0">
                <a:latin typeface="+mn-ea"/>
              </a:rPr>
              <a:t>均值</a:t>
            </a:r>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pic>
        <p:nvPicPr>
          <p:cNvPr id="5" name="图片 4"/>
          <p:cNvPicPr>
            <a:picLocks noChangeAspect="1"/>
          </p:cNvPicPr>
          <p:nvPr/>
        </p:nvPicPr>
        <p:blipFill>
          <a:blip r:embed="rId1"/>
          <a:stretch>
            <a:fillRect/>
          </a:stretch>
        </p:blipFill>
        <p:spPr>
          <a:xfrm>
            <a:off x="1331639" y="3501008"/>
            <a:ext cx="6807944" cy="3168000"/>
          </a:xfrm>
          <a:prstGeom prst="rect">
            <a:avLst/>
          </a:prstGeom>
        </p:spPr>
      </p:pic>
    </p:spTree>
  </p:cSld>
  <p:clrMapOvr>
    <a:masterClrMapping/>
  </p:clrMapOvr>
  <p:transition>
    <p:cover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a:xfrm>
            <a:off x="683568" y="970384"/>
            <a:ext cx="7772400" cy="5482952"/>
          </a:xfrm>
        </p:spPr>
        <p:txBody>
          <a:bodyPr/>
          <a:lstStyle/>
          <a:p>
            <a:r>
              <a:rPr lang="en-US" altLang="zh-CN" dirty="0" smtClean="0">
                <a:latin typeface="+mn-ea"/>
              </a:rPr>
              <a:t>2.2.2 </a:t>
            </a:r>
            <a:r>
              <a:rPr lang="zh-CN" altLang="en-US" dirty="0" smtClean="0">
                <a:latin typeface="+mn-ea"/>
              </a:rPr>
              <a:t>交叉</a:t>
            </a:r>
            <a:r>
              <a:rPr lang="zh-CN" altLang="en-US" dirty="0">
                <a:latin typeface="+mn-ea"/>
              </a:rPr>
              <a:t>验证</a:t>
            </a:r>
            <a:r>
              <a:rPr lang="zh-CN" altLang="en-US" dirty="0" smtClean="0">
                <a:latin typeface="+mn-ea"/>
              </a:rPr>
              <a:t>法</a:t>
            </a:r>
            <a:r>
              <a:rPr lang="en-US" altLang="zh-CN" dirty="0" smtClean="0">
                <a:latin typeface="+mn-ea"/>
              </a:rPr>
              <a:t>(</a:t>
            </a:r>
            <a:r>
              <a:rPr lang="en-US" altLang="zh-CN" dirty="0">
                <a:latin typeface="+mn-ea"/>
              </a:rPr>
              <a:t>k</a:t>
            </a:r>
            <a:r>
              <a:rPr lang="zh-CN" altLang="en-US" dirty="0">
                <a:latin typeface="+mn-ea"/>
              </a:rPr>
              <a:t>折交叉验证</a:t>
            </a:r>
            <a:r>
              <a:rPr lang="en-US" altLang="zh-CN" dirty="0" smtClean="0">
                <a:latin typeface="+mn-ea"/>
              </a:rPr>
              <a:t>)</a:t>
            </a:r>
            <a:endParaRPr lang="en-US" altLang="zh-CN" dirty="0" smtClean="0">
              <a:latin typeface="+mn-ea"/>
            </a:endParaRPr>
          </a:p>
          <a:p>
            <a:pPr lvl="1"/>
            <a:r>
              <a:rPr lang="zh-CN" altLang="en-US" dirty="0" smtClean="0">
                <a:latin typeface="+mn-ea"/>
              </a:rPr>
              <a:t>评估</a:t>
            </a:r>
            <a:r>
              <a:rPr lang="zh-CN" altLang="en-US" dirty="0">
                <a:latin typeface="+mn-ea"/>
              </a:rPr>
              <a:t>结果的稳定性和保真性在很大程度上取决于</a:t>
            </a:r>
            <a:r>
              <a:rPr lang="en-US" altLang="zh-CN" dirty="0">
                <a:latin typeface="+mn-ea"/>
              </a:rPr>
              <a:t>k</a:t>
            </a:r>
            <a:r>
              <a:rPr lang="zh-CN" altLang="en-US" dirty="0">
                <a:latin typeface="+mn-ea"/>
              </a:rPr>
              <a:t>的</a:t>
            </a:r>
            <a:r>
              <a:rPr lang="zh-CN" altLang="en-US" dirty="0" smtClean="0">
                <a:latin typeface="+mn-ea"/>
              </a:rPr>
              <a:t>取值</a:t>
            </a:r>
            <a:endParaRPr lang="en-US" altLang="zh-CN" dirty="0" smtClean="0">
              <a:latin typeface="+mn-ea"/>
            </a:endParaRPr>
          </a:p>
          <a:p>
            <a:pPr lvl="2"/>
            <a:r>
              <a:rPr lang="zh-CN" altLang="en-US" dirty="0" smtClean="0">
                <a:latin typeface="+mn-ea"/>
              </a:rPr>
              <a:t>常用</a:t>
            </a:r>
            <a:r>
              <a:rPr lang="en-US" altLang="zh-CN" dirty="0">
                <a:latin typeface="+mn-ea"/>
              </a:rPr>
              <a:t>10</a:t>
            </a:r>
            <a:r>
              <a:rPr lang="zh-CN" altLang="en-US" dirty="0">
                <a:latin typeface="+mn-ea"/>
              </a:rPr>
              <a:t>折交叉验证</a:t>
            </a:r>
            <a:endParaRPr lang="en-US" altLang="zh-CN" dirty="0" smtClean="0">
              <a:latin typeface="+mn-ea"/>
            </a:endParaRPr>
          </a:p>
          <a:p>
            <a:pPr lvl="2"/>
            <a:r>
              <a:rPr lang="en-US" altLang="zh-CN" dirty="0">
                <a:latin typeface="+mn-ea"/>
              </a:rPr>
              <a:t>k</a:t>
            </a:r>
            <a:r>
              <a:rPr lang="zh-CN" altLang="en-US" dirty="0">
                <a:latin typeface="+mn-ea"/>
              </a:rPr>
              <a:t>折交叉验证通常要随机使用不同的划分重复</a:t>
            </a:r>
            <a:r>
              <a:rPr lang="en-US" altLang="zh-CN" dirty="0">
                <a:latin typeface="+mn-ea"/>
              </a:rPr>
              <a:t>p</a:t>
            </a:r>
            <a:r>
              <a:rPr lang="zh-CN" altLang="en-US" dirty="0">
                <a:latin typeface="+mn-ea"/>
              </a:rPr>
              <a:t>次</a:t>
            </a:r>
            <a:endParaRPr lang="en-US" altLang="zh-CN" dirty="0">
              <a:latin typeface="+mn-ea"/>
            </a:endParaRPr>
          </a:p>
          <a:p>
            <a:pPr lvl="3"/>
            <a:r>
              <a:rPr lang="zh-CN" altLang="en-US" dirty="0">
                <a:latin typeface="+mn-ea"/>
              </a:rPr>
              <a:t>最终的评估结果是这</a:t>
            </a:r>
            <a:r>
              <a:rPr lang="en-US" altLang="zh-CN" dirty="0">
                <a:latin typeface="+mn-ea"/>
              </a:rPr>
              <a:t>p</a:t>
            </a:r>
            <a:r>
              <a:rPr lang="zh-CN" altLang="en-US" dirty="0">
                <a:latin typeface="+mn-ea"/>
              </a:rPr>
              <a:t>次</a:t>
            </a:r>
            <a:r>
              <a:rPr lang="en-US" altLang="zh-CN" dirty="0">
                <a:latin typeface="+mn-ea"/>
              </a:rPr>
              <a:t>k</a:t>
            </a:r>
            <a:r>
              <a:rPr lang="zh-CN" altLang="en-US" dirty="0">
                <a:latin typeface="+mn-ea"/>
              </a:rPr>
              <a:t>折交叉验证结果的均值</a:t>
            </a:r>
            <a:endParaRPr lang="en-US" altLang="zh-CN" dirty="0">
              <a:latin typeface="+mn-ea"/>
            </a:endParaRPr>
          </a:p>
          <a:p>
            <a:pPr lvl="4"/>
            <a:r>
              <a:rPr lang="zh-CN" altLang="en-US" dirty="0">
                <a:latin typeface="+mn-ea"/>
              </a:rPr>
              <a:t>常见</a:t>
            </a:r>
            <a:r>
              <a:rPr lang="en-US" altLang="zh-CN" dirty="0">
                <a:latin typeface="+mn-ea"/>
              </a:rPr>
              <a:t>10</a:t>
            </a:r>
            <a:r>
              <a:rPr lang="zh-CN" altLang="en-US" dirty="0">
                <a:latin typeface="+mn-ea"/>
              </a:rPr>
              <a:t>次</a:t>
            </a:r>
            <a:r>
              <a:rPr lang="en-US" altLang="zh-CN" dirty="0">
                <a:latin typeface="+mn-ea"/>
              </a:rPr>
              <a:t>10</a:t>
            </a:r>
            <a:r>
              <a:rPr lang="zh-CN" altLang="en-US" dirty="0">
                <a:latin typeface="+mn-ea"/>
              </a:rPr>
              <a:t>折交叉验证</a:t>
            </a:r>
            <a:endParaRPr lang="en-US" altLang="zh-CN" dirty="0">
              <a:latin typeface="+mn-ea"/>
            </a:endParaRPr>
          </a:p>
          <a:p>
            <a:pPr lvl="2"/>
            <a:r>
              <a:rPr lang="en-US" altLang="zh-CN" dirty="0" smtClean="0">
                <a:latin typeface="+mn-ea"/>
              </a:rPr>
              <a:t>k=m</a:t>
            </a:r>
            <a:r>
              <a:rPr lang="zh-CN" altLang="en-US" dirty="0">
                <a:latin typeface="+mn-ea"/>
              </a:rPr>
              <a:t>，称为留一</a:t>
            </a:r>
            <a:r>
              <a:rPr lang="zh-CN" altLang="en-US" dirty="0" smtClean="0">
                <a:latin typeface="+mn-ea"/>
              </a:rPr>
              <a:t>法</a:t>
            </a:r>
            <a:endParaRPr lang="en-US" altLang="zh-CN" dirty="0" smtClean="0">
              <a:latin typeface="+mn-ea"/>
            </a:endParaRPr>
          </a:p>
          <a:p>
            <a:pPr lvl="3"/>
            <a:r>
              <a:rPr lang="zh-CN" altLang="en-US" dirty="0">
                <a:latin typeface="+mn-ea"/>
              </a:rPr>
              <a:t>使用的训练集与初始数据集相比只少了一个样</a:t>
            </a:r>
            <a:r>
              <a:rPr lang="zh-CN" altLang="en-US" dirty="0" smtClean="0">
                <a:latin typeface="+mn-ea"/>
              </a:rPr>
              <a:t>本，使得绝大多数</a:t>
            </a:r>
            <a:r>
              <a:rPr lang="zh-CN" altLang="en-US" dirty="0">
                <a:latin typeface="+mn-ea"/>
              </a:rPr>
              <a:t>情况</a:t>
            </a:r>
            <a:r>
              <a:rPr lang="zh-CN" altLang="en-US" dirty="0" smtClean="0">
                <a:latin typeface="+mn-ea"/>
              </a:rPr>
              <a:t>下实际</a:t>
            </a:r>
            <a:r>
              <a:rPr lang="zh-CN" altLang="en-US" dirty="0">
                <a:latin typeface="+mn-ea"/>
              </a:rPr>
              <a:t>评估的模型与期望评估的用</a:t>
            </a:r>
            <a:r>
              <a:rPr lang="en-US" altLang="zh-CN" dirty="0">
                <a:latin typeface="+mn-ea"/>
              </a:rPr>
              <a:t>D</a:t>
            </a:r>
            <a:r>
              <a:rPr lang="zh-CN" altLang="en-US" dirty="0">
                <a:latin typeface="+mn-ea"/>
              </a:rPr>
              <a:t>训练出的模型很</a:t>
            </a:r>
            <a:r>
              <a:rPr lang="zh-CN" altLang="en-US" dirty="0" smtClean="0">
                <a:latin typeface="+mn-ea"/>
              </a:rPr>
              <a:t>相似</a:t>
            </a:r>
            <a:endParaRPr lang="en-US" altLang="zh-CN" dirty="0" smtClean="0">
              <a:latin typeface="+mn-ea"/>
            </a:endParaRPr>
          </a:p>
          <a:p>
            <a:pPr lvl="4"/>
            <a:r>
              <a:rPr lang="zh-CN" altLang="en-US" dirty="0">
                <a:latin typeface="+mn-ea"/>
              </a:rPr>
              <a:t>评估结果往往被认为比较准确</a:t>
            </a:r>
            <a:endParaRPr lang="en-US" altLang="zh-CN" dirty="0">
              <a:latin typeface="+mn-ea"/>
            </a:endParaRPr>
          </a:p>
          <a:p>
            <a:pPr lvl="3"/>
            <a:r>
              <a:rPr lang="zh-CN" altLang="en-US" dirty="0" smtClean="0">
                <a:latin typeface="+mn-ea"/>
              </a:rPr>
              <a:t>缺陷</a:t>
            </a:r>
            <a:endParaRPr lang="en-US" altLang="zh-CN" dirty="0" smtClean="0">
              <a:latin typeface="+mn-ea"/>
            </a:endParaRPr>
          </a:p>
          <a:p>
            <a:pPr lvl="4"/>
            <a:r>
              <a:rPr lang="zh-CN" altLang="en-US" dirty="0" smtClean="0">
                <a:latin typeface="+mn-ea"/>
              </a:rPr>
              <a:t>数据</a:t>
            </a:r>
            <a:r>
              <a:rPr lang="zh-CN" altLang="en-US" dirty="0">
                <a:latin typeface="+mn-ea"/>
              </a:rPr>
              <a:t>集比较大时，</a:t>
            </a:r>
            <a:r>
              <a:rPr lang="zh-CN" altLang="en-US" dirty="0" smtClean="0">
                <a:latin typeface="+mn-ea"/>
              </a:rPr>
              <a:t>训练</a:t>
            </a:r>
            <a:r>
              <a:rPr lang="zh-CN" altLang="en-US" dirty="0">
                <a:latin typeface="+mn-ea"/>
              </a:rPr>
              <a:t>计算开销大</a:t>
            </a:r>
            <a:endParaRPr lang="en-US" altLang="zh-CN" dirty="0">
              <a:latin typeface="+mn-ea"/>
            </a:endParaRPr>
          </a:p>
          <a:p>
            <a:pPr lvl="4" hangingPunct="0"/>
            <a:r>
              <a:rPr lang="zh-CN" altLang="en-US" dirty="0" smtClean="0">
                <a:latin typeface="+mn-ea"/>
              </a:rPr>
              <a:t>留</a:t>
            </a:r>
            <a:r>
              <a:rPr lang="zh-CN" altLang="en-US" dirty="0">
                <a:latin typeface="+mn-ea"/>
              </a:rPr>
              <a:t>一法的估计</a:t>
            </a:r>
            <a:r>
              <a:rPr lang="zh-CN" altLang="en-US" dirty="0" smtClean="0">
                <a:latin typeface="+mn-ea"/>
              </a:rPr>
              <a:t>结果未必</a:t>
            </a:r>
            <a:r>
              <a:rPr lang="zh-CN" altLang="en-US" dirty="0">
                <a:latin typeface="+mn-ea"/>
              </a:rPr>
              <a:t>永远比其他评估方法</a:t>
            </a:r>
            <a:r>
              <a:rPr lang="zh-CN" altLang="en-US" dirty="0" smtClean="0">
                <a:latin typeface="+mn-ea"/>
              </a:rPr>
              <a:t>准确，没有</a:t>
            </a:r>
            <a:r>
              <a:rPr lang="zh-CN" altLang="en-US" dirty="0">
                <a:latin typeface="+mn-ea"/>
              </a:rPr>
              <a:t>免费的</a:t>
            </a:r>
            <a:r>
              <a:rPr lang="zh-CN" altLang="en-US" dirty="0" smtClean="0">
                <a:latin typeface="+mn-ea"/>
              </a:rPr>
              <a:t>午餐</a:t>
            </a:r>
            <a:endParaRPr lang="en-US" altLang="zh-CN" dirty="0" smtClean="0">
              <a:latin typeface="+mn-ea"/>
            </a:endParaRPr>
          </a:p>
          <a:p>
            <a:pPr lvl="1"/>
            <a:endParaRPr lang="en-US" altLang="zh-CN" dirty="0">
              <a:latin typeface="+mn-ea"/>
            </a:endParaRPr>
          </a:p>
          <a:p>
            <a:pPr lvl="3"/>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2153553" y="4653136"/>
            <a:ext cx="4928592" cy="2160000"/>
          </a:xfrm>
          <a:prstGeom prst="rect">
            <a:avLst/>
          </a:prstGeom>
        </p:spPr>
      </p:pic>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p:txBody>
          <a:bodyPr/>
          <a:lstStyle/>
          <a:p>
            <a:r>
              <a:rPr lang="en-US" altLang="zh-CN" dirty="0" smtClean="0">
                <a:latin typeface="+mn-ea"/>
              </a:rPr>
              <a:t>2.2.3 </a:t>
            </a:r>
            <a:r>
              <a:rPr lang="zh-CN" altLang="en-US" dirty="0" smtClean="0">
                <a:latin typeface="+mn-ea"/>
              </a:rPr>
              <a:t>自助法</a:t>
            </a:r>
            <a:r>
              <a:rPr lang="en-US" altLang="zh-CN" dirty="0">
                <a:latin typeface="+mn-ea"/>
              </a:rPr>
              <a:t>(</a:t>
            </a:r>
            <a:r>
              <a:rPr lang="zh-CN" altLang="en-US" dirty="0">
                <a:latin typeface="+mn-ea"/>
              </a:rPr>
              <a:t>包外估计</a:t>
            </a:r>
            <a:r>
              <a:rPr lang="en-US" altLang="zh-CN" dirty="0">
                <a:latin typeface="+mn-ea"/>
              </a:rPr>
              <a:t>)</a:t>
            </a:r>
            <a:endParaRPr lang="en-US" altLang="zh-CN" dirty="0">
              <a:latin typeface="+mn-ea"/>
            </a:endParaRPr>
          </a:p>
          <a:p>
            <a:pPr lvl="1"/>
            <a:r>
              <a:rPr lang="zh-CN" altLang="en-US" dirty="0" smtClean="0">
                <a:latin typeface="+mn-ea"/>
              </a:rPr>
              <a:t>留</a:t>
            </a:r>
            <a:r>
              <a:rPr lang="zh-CN" altLang="en-US" dirty="0">
                <a:latin typeface="+mn-ea"/>
              </a:rPr>
              <a:t>出法和交叉验证</a:t>
            </a:r>
            <a:r>
              <a:rPr lang="zh-CN" altLang="en-US" dirty="0" smtClean="0">
                <a:latin typeface="+mn-ea"/>
              </a:rPr>
              <a:t>法，保留一部分</a:t>
            </a:r>
            <a:r>
              <a:rPr lang="zh-CN" altLang="en-US" dirty="0">
                <a:latin typeface="+mn-ea"/>
              </a:rPr>
              <a:t>样本用于测试</a:t>
            </a:r>
            <a:r>
              <a:rPr lang="zh-CN" altLang="en-US" dirty="0" smtClean="0">
                <a:latin typeface="+mn-ea"/>
              </a:rPr>
              <a:t>，实际评估模型</a:t>
            </a:r>
            <a:r>
              <a:rPr lang="zh-CN" altLang="en-US" dirty="0">
                <a:latin typeface="+mn-ea"/>
              </a:rPr>
              <a:t>所</a:t>
            </a:r>
            <a:r>
              <a:rPr lang="zh-CN" altLang="en-US" dirty="0" smtClean="0">
                <a:latin typeface="+mn-ea"/>
              </a:rPr>
              <a:t>使用训练集</a:t>
            </a:r>
            <a:r>
              <a:rPr lang="zh-CN" altLang="en-US" dirty="0">
                <a:latin typeface="+mn-ea"/>
              </a:rPr>
              <a:t>比</a:t>
            </a:r>
            <a:r>
              <a:rPr lang="en-US" altLang="zh-CN" dirty="0">
                <a:latin typeface="+mn-ea"/>
              </a:rPr>
              <a:t>D</a:t>
            </a:r>
            <a:r>
              <a:rPr lang="zh-CN" altLang="en-US" dirty="0" smtClean="0">
                <a:latin typeface="+mn-ea"/>
              </a:rPr>
              <a:t>小</a:t>
            </a:r>
            <a:endParaRPr lang="en-US" altLang="zh-CN" dirty="0" smtClean="0">
              <a:latin typeface="+mn-ea"/>
            </a:endParaRPr>
          </a:p>
          <a:p>
            <a:pPr lvl="2"/>
            <a:r>
              <a:rPr lang="zh-CN" altLang="en-US" dirty="0" smtClean="0"/>
              <a:t>会引入因</a:t>
            </a:r>
            <a:r>
              <a:rPr lang="zh-CN" altLang="en-US" dirty="0"/>
              <a:t>训练样本规模不同而导致的估计</a:t>
            </a:r>
            <a:r>
              <a:rPr lang="zh-CN" altLang="en-US" dirty="0" smtClean="0"/>
              <a:t>偏差</a:t>
            </a:r>
            <a:endParaRPr lang="en-US" altLang="zh-CN" dirty="0" smtClean="0"/>
          </a:p>
          <a:p>
            <a:pPr lvl="2"/>
            <a:r>
              <a:rPr lang="zh-CN" altLang="en-US" dirty="0" smtClean="0"/>
              <a:t>留</a:t>
            </a:r>
            <a:r>
              <a:rPr lang="zh-CN" altLang="en-US" dirty="0"/>
              <a:t>一</a:t>
            </a:r>
            <a:r>
              <a:rPr lang="zh-CN" altLang="en-US" dirty="0" smtClean="0"/>
              <a:t>法影响</a:t>
            </a:r>
            <a:r>
              <a:rPr lang="zh-CN" altLang="en-US" dirty="0"/>
              <a:t>较小，但计算复杂</a:t>
            </a:r>
            <a:r>
              <a:rPr lang="zh-CN" altLang="en-US" dirty="0" smtClean="0"/>
              <a:t>度太高</a:t>
            </a:r>
            <a:endParaRPr lang="en-US" altLang="zh-CN" dirty="0" smtClean="0">
              <a:latin typeface="+mn-ea"/>
            </a:endParaRPr>
          </a:p>
          <a:p>
            <a:pPr lvl="1"/>
            <a:r>
              <a:rPr lang="zh-CN" altLang="en-US" dirty="0" smtClean="0">
                <a:latin typeface="+mn-ea"/>
              </a:rPr>
              <a:t>以</a:t>
            </a:r>
            <a:r>
              <a:rPr lang="zh-CN" altLang="en-US" dirty="0">
                <a:latin typeface="+mn-ea"/>
              </a:rPr>
              <a:t>自助</a:t>
            </a:r>
            <a:r>
              <a:rPr lang="zh-CN" altLang="en-US" dirty="0" smtClean="0">
                <a:latin typeface="+mn-ea"/>
              </a:rPr>
              <a:t>采样法为</a:t>
            </a:r>
            <a:r>
              <a:rPr lang="zh-CN" altLang="en-US" dirty="0">
                <a:latin typeface="+mn-ea"/>
              </a:rPr>
              <a:t>基础</a:t>
            </a:r>
            <a:endParaRPr lang="en-US" altLang="zh-CN" dirty="0" smtClean="0">
              <a:latin typeface="+mn-ea"/>
            </a:endParaRPr>
          </a:p>
          <a:p>
            <a:pPr lvl="2"/>
            <a:r>
              <a:rPr lang="zh-CN" altLang="en-US" dirty="0">
                <a:latin typeface="+mn-ea"/>
              </a:rPr>
              <a:t>每次随机从</a:t>
            </a:r>
            <a:r>
              <a:rPr lang="en-US" altLang="zh-CN" dirty="0">
                <a:latin typeface="+mn-ea"/>
              </a:rPr>
              <a:t>D</a:t>
            </a:r>
            <a:r>
              <a:rPr lang="zh-CN" altLang="en-US" dirty="0">
                <a:latin typeface="+mn-ea"/>
              </a:rPr>
              <a:t>中挑选</a:t>
            </a:r>
            <a:r>
              <a:rPr lang="zh-CN" altLang="en-US" dirty="0" smtClean="0">
                <a:latin typeface="+mn-ea"/>
              </a:rPr>
              <a:t>一个样本</a:t>
            </a:r>
            <a:r>
              <a:rPr lang="zh-CN" altLang="en-US" dirty="0">
                <a:latin typeface="+mn-ea"/>
              </a:rPr>
              <a:t>，将其拷贝放入</a:t>
            </a:r>
            <a:r>
              <a:rPr lang="en-US" altLang="zh-CN" dirty="0">
                <a:latin typeface="+mn-ea"/>
              </a:rPr>
              <a:t>D</a:t>
            </a:r>
            <a:r>
              <a:rPr lang="en-US" altLang="zh-CN" dirty="0" smtClean="0"/>
              <a:t>'</a:t>
            </a:r>
            <a:endParaRPr lang="en-US" altLang="zh-CN" dirty="0" smtClean="0"/>
          </a:p>
          <a:p>
            <a:pPr lvl="2"/>
            <a:r>
              <a:rPr lang="zh-CN" altLang="en-US" dirty="0" smtClean="0">
                <a:latin typeface="+mn-ea"/>
              </a:rPr>
              <a:t>再</a:t>
            </a:r>
            <a:r>
              <a:rPr lang="zh-CN" altLang="en-US" dirty="0">
                <a:latin typeface="+mn-ea"/>
              </a:rPr>
              <a:t>将该样本放回初始数据集</a:t>
            </a:r>
            <a:r>
              <a:rPr lang="en-US" altLang="zh-CN" dirty="0">
                <a:latin typeface="+mn-ea"/>
              </a:rPr>
              <a:t>D</a:t>
            </a:r>
            <a:r>
              <a:rPr lang="zh-CN" altLang="en-US" dirty="0">
                <a:latin typeface="+mn-ea"/>
              </a:rPr>
              <a:t>中，使得该样本在下次采样时仍有可能被采</a:t>
            </a:r>
            <a:r>
              <a:rPr lang="zh-CN" altLang="en-US" dirty="0" smtClean="0">
                <a:latin typeface="+mn-ea"/>
              </a:rPr>
              <a:t>到</a:t>
            </a:r>
            <a:endParaRPr lang="en-US" altLang="zh-CN" dirty="0" smtClean="0">
              <a:latin typeface="+mn-ea"/>
            </a:endParaRPr>
          </a:p>
          <a:p>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a:xfrm>
            <a:off x="683568" y="836712"/>
            <a:ext cx="7772400" cy="5698976"/>
          </a:xfrm>
        </p:spPr>
        <p:txBody>
          <a:bodyPr/>
          <a:lstStyle/>
          <a:p>
            <a:r>
              <a:rPr lang="en-US" altLang="zh-CN" dirty="0" smtClean="0">
                <a:latin typeface="+mn-ea"/>
              </a:rPr>
              <a:t>2.2.3 </a:t>
            </a:r>
            <a:r>
              <a:rPr lang="zh-CN" altLang="en-US" dirty="0" smtClean="0">
                <a:latin typeface="+mn-ea"/>
              </a:rPr>
              <a:t>自助法</a:t>
            </a:r>
            <a:r>
              <a:rPr lang="en-US" altLang="zh-CN" dirty="0" smtClean="0">
                <a:latin typeface="+mn-ea"/>
              </a:rPr>
              <a:t>(</a:t>
            </a:r>
            <a:r>
              <a:rPr lang="zh-CN" altLang="en-US" dirty="0">
                <a:latin typeface="+mn-ea"/>
              </a:rPr>
              <a:t>包外估计</a:t>
            </a:r>
            <a:r>
              <a:rPr lang="en-US" altLang="zh-CN" dirty="0" smtClean="0">
                <a:latin typeface="+mn-ea"/>
              </a:rPr>
              <a:t>)</a:t>
            </a:r>
            <a:endParaRPr lang="en-US" altLang="zh-CN" dirty="0" smtClean="0">
              <a:latin typeface="+mn-ea"/>
            </a:endParaRPr>
          </a:p>
          <a:p>
            <a:pPr lvl="1"/>
            <a:r>
              <a:rPr lang="zh-CN" altLang="en-US" dirty="0" smtClean="0">
                <a:latin typeface="+mn-ea"/>
              </a:rPr>
              <a:t>重复</a:t>
            </a:r>
            <a:r>
              <a:rPr lang="zh-CN" altLang="en-US" dirty="0">
                <a:latin typeface="+mn-ea"/>
              </a:rPr>
              <a:t>执行</a:t>
            </a:r>
            <a:r>
              <a:rPr lang="en-US" altLang="zh-CN" dirty="0">
                <a:latin typeface="+mn-ea"/>
              </a:rPr>
              <a:t>m</a:t>
            </a:r>
            <a:r>
              <a:rPr lang="zh-CN" altLang="en-US" dirty="0">
                <a:latin typeface="+mn-ea"/>
              </a:rPr>
              <a:t>次后</a:t>
            </a:r>
            <a:r>
              <a:rPr lang="zh-CN" altLang="en-US" dirty="0" smtClean="0">
                <a:latin typeface="+mn-ea"/>
              </a:rPr>
              <a:t>，得到包含</a:t>
            </a:r>
            <a:r>
              <a:rPr lang="en-US" altLang="zh-CN" dirty="0" smtClean="0">
                <a:latin typeface="+mn-ea"/>
              </a:rPr>
              <a:t>m</a:t>
            </a:r>
            <a:r>
              <a:rPr lang="zh-CN" altLang="en-US" dirty="0" smtClean="0">
                <a:latin typeface="+mn-ea"/>
              </a:rPr>
              <a:t>个</a:t>
            </a:r>
            <a:r>
              <a:rPr lang="zh-CN" altLang="en-US" dirty="0">
                <a:latin typeface="+mn-ea"/>
              </a:rPr>
              <a:t>样本的数据集</a:t>
            </a:r>
            <a:r>
              <a:rPr lang="en-US" altLang="zh-CN" dirty="0" smtClean="0">
                <a:latin typeface="+mn-ea"/>
              </a:rPr>
              <a:t>D</a:t>
            </a:r>
            <a:r>
              <a:rPr lang="en-US" altLang="zh-CN" dirty="0" smtClean="0"/>
              <a:t>'</a:t>
            </a:r>
            <a:r>
              <a:rPr lang="zh-CN" altLang="en-US" dirty="0" smtClean="0">
                <a:latin typeface="+mn-ea"/>
              </a:rPr>
              <a:t>，</a:t>
            </a:r>
            <a:r>
              <a:rPr lang="zh-CN" altLang="en-US" dirty="0">
                <a:latin typeface="+mn-ea"/>
              </a:rPr>
              <a:t>这就是自助采样的</a:t>
            </a:r>
            <a:r>
              <a:rPr lang="zh-CN" altLang="en-US" dirty="0" smtClean="0">
                <a:latin typeface="+mn-ea"/>
              </a:rPr>
              <a:t>结果</a:t>
            </a:r>
            <a:endParaRPr lang="en-US" altLang="zh-CN" dirty="0" smtClean="0">
              <a:latin typeface="+mn-ea"/>
            </a:endParaRPr>
          </a:p>
          <a:p>
            <a:pPr lvl="2"/>
            <a:r>
              <a:rPr lang="en-US" altLang="zh-CN" dirty="0" smtClean="0">
                <a:latin typeface="+mn-ea"/>
              </a:rPr>
              <a:t>D</a:t>
            </a:r>
            <a:r>
              <a:rPr lang="zh-CN" altLang="en-US" dirty="0">
                <a:latin typeface="+mn-ea"/>
              </a:rPr>
              <a:t>中有一部分样本会在</a:t>
            </a:r>
            <a:r>
              <a:rPr lang="en-US" altLang="zh-CN" dirty="0">
                <a:latin typeface="+mn-ea"/>
              </a:rPr>
              <a:t>D</a:t>
            </a:r>
            <a:r>
              <a:rPr lang="en-US" altLang="zh-CN" dirty="0"/>
              <a:t>'</a:t>
            </a:r>
            <a:r>
              <a:rPr lang="zh-CN" altLang="en-US" dirty="0">
                <a:latin typeface="+mn-ea"/>
              </a:rPr>
              <a:t>中多次出现，而另一部分样本不</a:t>
            </a:r>
            <a:r>
              <a:rPr lang="zh-CN" altLang="en-US" dirty="0" smtClean="0">
                <a:latin typeface="+mn-ea"/>
              </a:rPr>
              <a:t>出现</a:t>
            </a:r>
            <a:endParaRPr lang="en-US" altLang="zh-CN" dirty="0" smtClean="0">
              <a:latin typeface="+mn-ea"/>
            </a:endParaRPr>
          </a:p>
          <a:p>
            <a:pPr lvl="2"/>
            <a:r>
              <a:rPr lang="en-US" altLang="zh-CN" dirty="0" smtClean="0">
                <a:latin typeface="+mn-ea"/>
              </a:rPr>
              <a:t>m</a:t>
            </a:r>
            <a:r>
              <a:rPr lang="zh-CN" altLang="en-US" dirty="0" smtClean="0">
                <a:latin typeface="+mn-ea"/>
              </a:rPr>
              <a:t>次</a:t>
            </a:r>
            <a:r>
              <a:rPr lang="zh-CN" altLang="en-US" dirty="0">
                <a:latin typeface="+mn-ea"/>
              </a:rPr>
              <a:t>采样中始终不被采到的概率</a:t>
            </a:r>
            <a:r>
              <a:rPr lang="zh-CN" altLang="en-US" dirty="0" smtClean="0">
                <a:latin typeface="+mn-ea"/>
              </a:rPr>
              <a:t>是       ，</a:t>
            </a:r>
            <a:r>
              <a:rPr lang="zh-CN" altLang="en-US" dirty="0">
                <a:latin typeface="+mn-ea"/>
              </a:rPr>
              <a:t>取</a:t>
            </a:r>
            <a:r>
              <a:rPr lang="zh-CN" altLang="en-US" dirty="0" smtClean="0">
                <a:latin typeface="+mn-ea"/>
              </a:rPr>
              <a:t>极限</a:t>
            </a:r>
            <a:endParaRPr lang="en-US" altLang="zh-CN" dirty="0" smtClean="0">
              <a:latin typeface="+mn-ea"/>
            </a:endParaRPr>
          </a:p>
          <a:p>
            <a:pPr lvl="1"/>
            <a:r>
              <a:rPr lang="en-US" altLang="zh-CN" dirty="0" smtClean="0">
                <a:latin typeface="+mn-ea"/>
              </a:rPr>
              <a:t>D</a:t>
            </a:r>
            <a:r>
              <a:rPr lang="en-US" altLang="zh-CN" dirty="0" smtClean="0"/>
              <a:t>'</a:t>
            </a:r>
            <a:r>
              <a:rPr lang="zh-CN" altLang="en-US" dirty="0" smtClean="0">
                <a:latin typeface="+mn-ea"/>
              </a:rPr>
              <a:t>用作训练集，</a:t>
            </a:r>
            <a:r>
              <a:rPr lang="en-US" altLang="zh-CN" dirty="0" smtClean="0">
                <a:latin typeface="+mn-ea"/>
              </a:rPr>
              <a:t>D-D</a:t>
            </a:r>
            <a:r>
              <a:rPr lang="en-US" altLang="zh-CN" dirty="0" smtClean="0"/>
              <a:t>'</a:t>
            </a:r>
            <a:r>
              <a:rPr lang="zh-CN" altLang="en-US" dirty="0" smtClean="0">
                <a:latin typeface="+mn-ea"/>
              </a:rPr>
              <a:t>用作测试集</a:t>
            </a:r>
            <a:endParaRPr lang="en-US" altLang="zh-CN" dirty="0" smtClean="0">
              <a:latin typeface="+mn-ea"/>
            </a:endParaRPr>
          </a:p>
          <a:p>
            <a:pPr lvl="2"/>
            <a:r>
              <a:rPr lang="zh-CN" altLang="en-US" dirty="0">
                <a:latin typeface="+mn-ea"/>
              </a:rPr>
              <a:t>训练集与原样本集同规模</a:t>
            </a:r>
            <a:endParaRPr lang="zh-CN" altLang="en-US" dirty="0">
              <a:latin typeface="+mn-ea"/>
            </a:endParaRPr>
          </a:p>
          <a:p>
            <a:pPr lvl="2"/>
            <a:r>
              <a:rPr lang="zh-CN" altLang="en-US" dirty="0">
                <a:latin typeface="+mn-ea"/>
              </a:rPr>
              <a:t>数据分布有所改变</a:t>
            </a:r>
            <a:endParaRPr lang="en-US" altLang="zh-CN" dirty="0">
              <a:latin typeface="+mn-ea"/>
            </a:endParaRPr>
          </a:p>
          <a:p>
            <a:pPr lvl="1"/>
            <a:r>
              <a:rPr lang="zh-CN" altLang="en-US" dirty="0" smtClean="0">
                <a:latin typeface="+mn-ea"/>
              </a:rPr>
              <a:t>优缺点</a:t>
            </a:r>
            <a:endParaRPr lang="en-US" altLang="zh-CN" dirty="0" smtClean="0">
              <a:latin typeface="+mn-ea"/>
            </a:endParaRPr>
          </a:p>
          <a:p>
            <a:pPr lvl="2"/>
            <a:r>
              <a:rPr lang="zh-CN" altLang="en-US" dirty="0" smtClean="0">
                <a:latin typeface="+mn-ea"/>
              </a:rPr>
              <a:t>在</a:t>
            </a:r>
            <a:r>
              <a:rPr lang="zh-CN" altLang="en-US" dirty="0">
                <a:latin typeface="+mn-ea"/>
              </a:rPr>
              <a:t>数据集较小、</a:t>
            </a:r>
            <a:r>
              <a:rPr lang="zh-CN" altLang="en-US" dirty="0" smtClean="0">
                <a:latin typeface="+mn-ea"/>
              </a:rPr>
              <a:t>难有效</a:t>
            </a:r>
            <a:r>
              <a:rPr lang="zh-CN" altLang="en-US" dirty="0">
                <a:latin typeface="+mn-ea"/>
              </a:rPr>
              <a:t>划分</a:t>
            </a:r>
            <a:r>
              <a:rPr lang="zh-CN" altLang="en-US" dirty="0" smtClean="0">
                <a:latin typeface="+mn-ea"/>
              </a:rPr>
              <a:t>训练</a:t>
            </a:r>
            <a:r>
              <a:rPr lang="zh-CN" altLang="en-US" dirty="0">
                <a:latin typeface="+mn-ea"/>
              </a:rPr>
              <a:t>、</a:t>
            </a:r>
            <a:r>
              <a:rPr lang="zh-CN" altLang="en-US" dirty="0" smtClean="0">
                <a:latin typeface="+mn-ea"/>
              </a:rPr>
              <a:t>测试</a:t>
            </a:r>
            <a:r>
              <a:rPr lang="zh-CN" altLang="en-US" dirty="0">
                <a:latin typeface="+mn-ea"/>
              </a:rPr>
              <a:t>集</a:t>
            </a:r>
            <a:r>
              <a:rPr lang="zh-CN" altLang="en-US" dirty="0" smtClean="0">
                <a:latin typeface="+mn-ea"/>
              </a:rPr>
              <a:t>时有用</a:t>
            </a:r>
            <a:endParaRPr lang="en-US" altLang="zh-CN" dirty="0" smtClean="0">
              <a:latin typeface="+mn-ea"/>
            </a:endParaRPr>
          </a:p>
          <a:p>
            <a:pPr lvl="2"/>
            <a:r>
              <a:rPr lang="zh-CN" altLang="en-US" dirty="0" smtClean="0">
                <a:latin typeface="+mn-ea"/>
              </a:rPr>
              <a:t>能产生</a:t>
            </a:r>
            <a:r>
              <a:rPr lang="zh-CN" altLang="en-US" dirty="0">
                <a:latin typeface="+mn-ea"/>
              </a:rPr>
              <a:t>多个不同的训练集</a:t>
            </a:r>
            <a:r>
              <a:rPr lang="zh-CN" altLang="en-US" dirty="0" smtClean="0">
                <a:latin typeface="+mn-ea"/>
              </a:rPr>
              <a:t>，对</a:t>
            </a:r>
            <a:r>
              <a:rPr lang="zh-CN" altLang="en-US" dirty="0">
                <a:latin typeface="+mn-ea"/>
              </a:rPr>
              <a:t>集成</a:t>
            </a:r>
            <a:r>
              <a:rPr lang="zh-CN" altLang="en-US" dirty="0" smtClean="0">
                <a:latin typeface="+mn-ea"/>
              </a:rPr>
              <a:t>学习等方法</a:t>
            </a:r>
            <a:r>
              <a:rPr lang="zh-CN" altLang="en-US" dirty="0">
                <a:latin typeface="+mn-ea"/>
              </a:rPr>
              <a:t>有很大的</a:t>
            </a:r>
            <a:r>
              <a:rPr lang="zh-CN" altLang="en-US" dirty="0" smtClean="0">
                <a:latin typeface="+mn-ea"/>
              </a:rPr>
              <a:t>好处</a:t>
            </a:r>
            <a:endParaRPr lang="en-US" altLang="zh-CN" dirty="0" smtClean="0">
              <a:latin typeface="+mn-ea"/>
            </a:endParaRPr>
          </a:p>
          <a:p>
            <a:pPr lvl="2"/>
            <a:r>
              <a:rPr lang="zh-CN" altLang="en-US" dirty="0" smtClean="0">
                <a:latin typeface="+mn-ea"/>
              </a:rPr>
              <a:t>产生</a:t>
            </a:r>
            <a:r>
              <a:rPr lang="zh-CN" altLang="en-US" dirty="0">
                <a:latin typeface="+mn-ea"/>
              </a:rPr>
              <a:t>的数据集改变了</a:t>
            </a:r>
            <a:r>
              <a:rPr lang="zh-CN" altLang="en-US" dirty="0" smtClean="0">
                <a:latin typeface="+mn-ea"/>
              </a:rPr>
              <a:t>初始分布，会</a:t>
            </a:r>
            <a:r>
              <a:rPr lang="zh-CN" altLang="en-US" dirty="0">
                <a:latin typeface="+mn-ea"/>
              </a:rPr>
              <a:t>引入估计</a:t>
            </a:r>
            <a:r>
              <a:rPr lang="zh-CN" altLang="en-US" dirty="0" smtClean="0">
                <a:latin typeface="+mn-ea"/>
              </a:rPr>
              <a:t>偏差</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6358948" y="2924992"/>
          <a:ext cx="1175179" cy="432000"/>
        </p:xfrm>
        <a:graphic>
          <a:graphicData uri="http://schemas.openxmlformats.org/presentationml/2006/ole">
            <mc:AlternateContent xmlns:mc="http://schemas.openxmlformats.org/markup-compatibility/2006">
              <mc:Choice xmlns:v="urn:schemas-microsoft-com:vml" Requires="v">
                <p:oleObj spid="_x0000_s3330" name="Equation" r:id="rId1" imgW="14935200" imgH="5486400" progId="Equation.DSMT4">
                  <p:embed/>
                </p:oleObj>
              </mc:Choice>
              <mc:Fallback>
                <p:oleObj name="Equation" r:id="rId1" imgW="14935200" imgH="5486400" progId="Equation.DSMT4">
                  <p:embed/>
                  <p:pic>
                    <p:nvPicPr>
                      <p:cNvPr id="0" name="图片 3329"/>
                      <p:cNvPicPr/>
                      <p:nvPr/>
                    </p:nvPicPr>
                    <p:blipFill>
                      <a:blip r:embed="rId2"/>
                      <a:stretch>
                        <a:fillRect/>
                      </a:stretch>
                    </p:blipFill>
                    <p:spPr>
                      <a:xfrm>
                        <a:off x="6358948" y="2924992"/>
                        <a:ext cx="1175179" cy="432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246313" y="3238178"/>
          <a:ext cx="3165475" cy="550862"/>
        </p:xfrm>
        <a:graphic>
          <a:graphicData uri="http://schemas.openxmlformats.org/presentationml/2006/ole">
            <mc:AlternateContent xmlns:mc="http://schemas.openxmlformats.org/markup-compatibility/2006">
              <mc:Choice xmlns:v="urn:schemas-microsoft-com:vml" Requires="v">
                <p:oleObj spid="_x0000_s3331" name="Equation" r:id="rId3" imgW="40233600" imgH="7010400" progId="Equation.DSMT4">
                  <p:embed/>
                </p:oleObj>
              </mc:Choice>
              <mc:Fallback>
                <p:oleObj name="Equation" r:id="rId3" imgW="40233600" imgH="7010400" progId="Equation.DSMT4">
                  <p:embed/>
                  <p:pic>
                    <p:nvPicPr>
                      <p:cNvPr id="0" name="图片 3330"/>
                      <p:cNvPicPr/>
                      <p:nvPr/>
                    </p:nvPicPr>
                    <p:blipFill>
                      <a:blip r:embed="rId4"/>
                      <a:stretch>
                        <a:fillRect/>
                      </a:stretch>
                    </p:blipFill>
                    <p:spPr>
                      <a:xfrm>
                        <a:off x="2246313" y="3238178"/>
                        <a:ext cx="3165475" cy="550862"/>
                      </a:xfrm>
                      <a:prstGeom prst="rect">
                        <a:avLst/>
                      </a:prstGeom>
                    </p:spPr>
                  </p:pic>
                </p:oleObj>
              </mc:Fallback>
            </mc:AlternateContent>
          </a:graphicData>
        </a:graphic>
      </p:graphicFrame>
    </p:spTree>
  </p:cSld>
  <p:clrMapOvr>
    <a:masterClrMapping/>
  </p:clrMapOvr>
  <p:transition>
    <p:cover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a:xfrm>
            <a:off x="683568" y="836712"/>
            <a:ext cx="7772400" cy="4690864"/>
          </a:xfrm>
        </p:spPr>
        <p:txBody>
          <a:bodyPr/>
          <a:lstStyle/>
          <a:p>
            <a:r>
              <a:rPr lang="en-US" altLang="zh-CN" dirty="0" smtClean="0">
                <a:latin typeface="+mn-ea"/>
              </a:rPr>
              <a:t>2.2.4 </a:t>
            </a:r>
            <a:r>
              <a:rPr lang="zh-CN" altLang="en-US" dirty="0" smtClean="0">
                <a:latin typeface="+mn-ea"/>
              </a:rPr>
              <a:t>调</a:t>
            </a:r>
            <a:r>
              <a:rPr lang="zh-CN" altLang="en-US" dirty="0">
                <a:latin typeface="+mn-ea"/>
              </a:rPr>
              <a:t>参与最终</a:t>
            </a:r>
            <a:r>
              <a:rPr lang="zh-CN" altLang="en-US" dirty="0" smtClean="0">
                <a:latin typeface="+mn-ea"/>
              </a:rPr>
              <a:t>模型</a:t>
            </a:r>
            <a:endParaRPr lang="en-US" altLang="zh-CN" dirty="0" smtClean="0">
              <a:latin typeface="+mn-ea"/>
            </a:endParaRPr>
          </a:p>
          <a:p>
            <a:pPr lvl="1"/>
            <a:r>
              <a:rPr lang="zh-CN" altLang="en-US" dirty="0">
                <a:latin typeface="+mn-ea"/>
              </a:rPr>
              <a:t>调参</a:t>
            </a:r>
            <a:endParaRPr lang="en-US" altLang="zh-CN" dirty="0">
              <a:latin typeface="+mn-ea"/>
            </a:endParaRPr>
          </a:p>
          <a:p>
            <a:pPr lvl="2"/>
            <a:r>
              <a:rPr lang="zh-CN" altLang="en-US" dirty="0">
                <a:latin typeface="+mn-ea"/>
              </a:rPr>
              <a:t>在进行模型评估与选择时，除了要</a:t>
            </a:r>
            <a:r>
              <a:rPr lang="zh-CN" altLang="en-US" dirty="0" smtClean="0">
                <a:latin typeface="+mn-ea"/>
              </a:rPr>
              <a:t>对学习</a:t>
            </a:r>
            <a:r>
              <a:rPr lang="zh-CN" altLang="en-US" dirty="0">
                <a:latin typeface="+mn-ea"/>
              </a:rPr>
              <a:t>算法进行选择，还需对算法参数进行</a:t>
            </a:r>
            <a:r>
              <a:rPr lang="zh-CN" altLang="en-US" dirty="0" smtClean="0">
                <a:latin typeface="+mn-ea"/>
              </a:rPr>
              <a:t>设定，称为调参</a:t>
            </a:r>
            <a:endParaRPr lang="en-US" altLang="zh-CN" dirty="0" smtClean="0">
              <a:latin typeface="+mn-ea"/>
            </a:endParaRPr>
          </a:p>
          <a:p>
            <a:pPr lvl="2"/>
            <a:r>
              <a:rPr lang="zh-CN" altLang="en-US" dirty="0">
                <a:latin typeface="+mn-ea"/>
              </a:rPr>
              <a:t>参数</a:t>
            </a:r>
            <a:endParaRPr lang="en-US" altLang="zh-CN" dirty="0">
              <a:latin typeface="+mn-ea"/>
            </a:endParaRPr>
          </a:p>
          <a:p>
            <a:pPr lvl="3"/>
            <a:r>
              <a:rPr lang="zh-CN" altLang="en-US" dirty="0">
                <a:latin typeface="+mn-ea"/>
              </a:rPr>
              <a:t>模型的参数，一般由学习确定</a:t>
            </a:r>
            <a:endParaRPr lang="en-US" altLang="zh-CN" dirty="0">
              <a:latin typeface="+mn-ea"/>
            </a:endParaRPr>
          </a:p>
          <a:p>
            <a:pPr lvl="3"/>
            <a:r>
              <a:rPr lang="zh-CN" altLang="en-US" dirty="0">
                <a:latin typeface="+mn-ea"/>
              </a:rPr>
              <a:t>算法的参数，一般由人工设定，亦称“超参数”</a:t>
            </a:r>
            <a:endParaRPr lang="zh-CN" altLang="en-US" dirty="0">
              <a:latin typeface="+mn-ea"/>
            </a:endParaRPr>
          </a:p>
          <a:p>
            <a:pPr lvl="2"/>
            <a:r>
              <a:rPr lang="zh-CN" altLang="en-US" dirty="0" smtClean="0">
                <a:latin typeface="+mn-ea"/>
              </a:rPr>
              <a:t>参数</a:t>
            </a:r>
            <a:r>
              <a:rPr lang="zh-CN" altLang="en-US" dirty="0">
                <a:latin typeface="+mn-ea"/>
              </a:rPr>
              <a:t>调节对最终模型性能有关键性影响</a:t>
            </a:r>
            <a:endParaRPr lang="en-US" altLang="zh-CN" dirty="0">
              <a:latin typeface="+mn-ea"/>
            </a:endParaRPr>
          </a:p>
          <a:p>
            <a:pPr lvl="2"/>
            <a:r>
              <a:rPr lang="zh-CN" altLang="en-US" dirty="0">
                <a:latin typeface="+mn-ea"/>
              </a:rPr>
              <a:t>设定不同参数先产生若干模型，然后基于某种评估方法选择最佳参数</a:t>
            </a:r>
            <a:endParaRPr lang="en-US" altLang="zh-CN" dirty="0">
              <a:latin typeface="+mn-ea"/>
            </a:endParaRPr>
          </a:p>
          <a:p>
            <a:pPr lvl="3"/>
            <a:r>
              <a:rPr lang="zh-CN" altLang="en-US" dirty="0" smtClean="0">
                <a:latin typeface="+mn-ea"/>
              </a:rPr>
              <a:t>通常很困难</a:t>
            </a:r>
            <a:endParaRPr lang="en-US" altLang="zh-CN" dirty="0" smtClean="0">
              <a:latin typeface="+mn-ea"/>
            </a:endParaRPr>
          </a:p>
          <a:p>
            <a:pPr lvl="4"/>
            <a:r>
              <a:rPr lang="zh-CN" altLang="en-US" dirty="0" smtClean="0">
                <a:latin typeface="+mn-ea"/>
              </a:rPr>
              <a:t>参数多</a:t>
            </a:r>
            <a:endParaRPr lang="en-US" altLang="zh-CN" dirty="0" smtClean="0">
              <a:latin typeface="+mn-ea"/>
            </a:endParaRPr>
          </a:p>
          <a:p>
            <a:pPr lvl="4"/>
            <a:r>
              <a:rPr lang="zh-CN" altLang="en-US" dirty="0" smtClean="0">
                <a:latin typeface="+mn-ea"/>
              </a:rPr>
              <a:t>实数取值范围</a:t>
            </a:r>
            <a:endParaRPr lang="en-US" altLang="zh-CN" dirty="0" smtClean="0">
              <a:latin typeface="+mn-ea"/>
            </a:endParaRPr>
          </a:p>
          <a:p>
            <a:pPr lvl="3"/>
            <a:r>
              <a:rPr lang="zh-CN" altLang="en-US" dirty="0" smtClean="0">
                <a:latin typeface="+mn-ea"/>
              </a:rPr>
              <a:t>常用方法</a:t>
            </a:r>
            <a:endParaRPr lang="en-US" altLang="zh-CN" dirty="0" smtClean="0">
              <a:latin typeface="+mn-ea"/>
            </a:endParaRPr>
          </a:p>
          <a:p>
            <a:pPr lvl="4"/>
            <a:r>
              <a:rPr lang="zh-CN" altLang="en-US" dirty="0" smtClean="0">
                <a:latin typeface="+mn-ea"/>
              </a:rPr>
              <a:t>设定</a:t>
            </a:r>
            <a:r>
              <a:rPr lang="zh-CN" altLang="en-US" dirty="0">
                <a:latin typeface="+mn-ea"/>
              </a:rPr>
              <a:t>取值</a:t>
            </a:r>
            <a:r>
              <a:rPr lang="zh-CN" altLang="en-US" dirty="0" smtClean="0">
                <a:latin typeface="+mn-ea"/>
              </a:rPr>
              <a:t>范围</a:t>
            </a:r>
            <a:endParaRPr lang="en-US" altLang="zh-CN" dirty="0" smtClean="0">
              <a:latin typeface="+mn-ea"/>
            </a:endParaRPr>
          </a:p>
          <a:p>
            <a:pPr lvl="4"/>
            <a:r>
              <a:rPr lang="zh-CN" altLang="en-US" dirty="0" smtClean="0">
                <a:latin typeface="+mn-ea"/>
              </a:rPr>
              <a:t>设定变化步长</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评估方法</a:t>
            </a:r>
            <a:endParaRPr lang="zh-CN" altLang="en-US" dirty="0"/>
          </a:p>
        </p:txBody>
      </p:sp>
      <p:sp>
        <p:nvSpPr>
          <p:cNvPr id="3" name="内容占位符 2"/>
          <p:cNvSpPr>
            <a:spLocks noGrp="1"/>
          </p:cNvSpPr>
          <p:nvPr>
            <p:ph idx="1"/>
          </p:nvPr>
        </p:nvSpPr>
        <p:spPr/>
        <p:txBody>
          <a:bodyPr/>
          <a:lstStyle/>
          <a:p>
            <a:r>
              <a:rPr lang="en-US" altLang="zh-CN" dirty="0">
                <a:latin typeface="+mn-ea"/>
              </a:rPr>
              <a:t>2.2.4 </a:t>
            </a:r>
            <a:r>
              <a:rPr lang="zh-CN" altLang="en-US" dirty="0">
                <a:latin typeface="+mn-ea"/>
              </a:rPr>
              <a:t>调参与最终模型</a:t>
            </a:r>
            <a:endParaRPr lang="en-US" altLang="zh-CN" dirty="0">
              <a:latin typeface="+mn-ea"/>
            </a:endParaRPr>
          </a:p>
          <a:p>
            <a:pPr lvl="1"/>
            <a:r>
              <a:rPr lang="zh-CN" altLang="en-US" dirty="0">
                <a:latin typeface="+mn-ea"/>
              </a:rPr>
              <a:t>最终模型</a:t>
            </a:r>
            <a:endParaRPr lang="en-US" altLang="zh-CN" dirty="0">
              <a:latin typeface="+mn-ea"/>
            </a:endParaRPr>
          </a:p>
          <a:p>
            <a:pPr lvl="2"/>
            <a:r>
              <a:rPr lang="zh-CN" altLang="en-US" dirty="0">
                <a:latin typeface="+mn-ea"/>
              </a:rPr>
              <a:t>在模型评估选择过程中，只用了一部分数据训练模型。在模型选择完成后，学习算法和参数配置已定，此时用数据集</a:t>
            </a:r>
            <a:r>
              <a:rPr lang="en-US" altLang="zh-CN" dirty="0">
                <a:latin typeface="+mn-ea"/>
              </a:rPr>
              <a:t>D</a:t>
            </a:r>
            <a:r>
              <a:rPr lang="zh-CN" altLang="en-US">
                <a:latin typeface="+mn-ea"/>
              </a:rPr>
              <a:t>重新训练而得到的模型</a:t>
            </a:r>
            <a:endParaRPr lang="zh-CN" altLang="en-US">
              <a:latin typeface="+mn-ea"/>
            </a:endParaRPr>
          </a:p>
          <a:p>
            <a:pPr lvl="1"/>
            <a:r>
              <a:rPr lang="zh-CN" altLang="en-US" smtClean="0"/>
              <a:t>测试数据</a:t>
            </a:r>
            <a:r>
              <a:rPr lang="zh-CN" altLang="en-US" dirty="0" smtClean="0"/>
              <a:t>与验证数据</a:t>
            </a:r>
            <a:endParaRPr lang="en-US" altLang="zh-CN" dirty="0" smtClean="0"/>
          </a:p>
          <a:p>
            <a:pPr lvl="2"/>
            <a:r>
              <a:rPr lang="zh-CN" altLang="en-US" dirty="0">
                <a:latin typeface="+mn-ea"/>
              </a:rPr>
              <a:t>测试、验证经常混用，但是也有区分</a:t>
            </a:r>
            <a:endParaRPr lang="en-US" altLang="zh-CN" dirty="0">
              <a:latin typeface="+mn-ea"/>
            </a:endParaRPr>
          </a:p>
          <a:p>
            <a:pPr lvl="2"/>
            <a:r>
              <a:rPr lang="zh-CN" altLang="en-US" dirty="0" smtClean="0">
                <a:latin typeface="+mn-ea"/>
              </a:rPr>
              <a:t>测试数据集</a:t>
            </a:r>
            <a:endParaRPr lang="en-US" altLang="zh-CN" dirty="0" smtClean="0">
              <a:latin typeface="+mn-ea"/>
            </a:endParaRPr>
          </a:p>
          <a:p>
            <a:pPr lvl="3"/>
            <a:r>
              <a:rPr lang="zh-CN" altLang="en-US" dirty="0" smtClean="0">
                <a:latin typeface="+mn-ea"/>
              </a:rPr>
              <a:t>实际</a:t>
            </a:r>
            <a:r>
              <a:rPr lang="zh-CN" altLang="en-US" dirty="0">
                <a:latin typeface="+mn-ea"/>
              </a:rPr>
              <a:t>中用到的</a:t>
            </a:r>
            <a:r>
              <a:rPr lang="zh-CN" altLang="en-US" dirty="0" smtClean="0">
                <a:latin typeface="+mn-ea"/>
              </a:rPr>
              <a:t>数据</a:t>
            </a:r>
            <a:endParaRPr lang="en-US" altLang="zh-CN" dirty="0" smtClean="0">
              <a:latin typeface="+mn-ea"/>
            </a:endParaRPr>
          </a:p>
          <a:p>
            <a:pPr lvl="3"/>
            <a:r>
              <a:rPr lang="zh-CN" altLang="en-US" dirty="0">
                <a:latin typeface="+mn-ea"/>
              </a:rPr>
              <a:t>测试是对真实结果说的</a:t>
            </a:r>
            <a:endParaRPr lang="en-US" altLang="zh-CN" dirty="0">
              <a:latin typeface="+mn-ea"/>
            </a:endParaRPr>
          </a:p>
          <a:p>
            <a:pPr lvl="2"/>
            <a:r>
              <a:rPr lang="zh-CN" altLang="en-US" dirty="0" smtClean="0"/>
              <a:t>验证集</a:t>
            </a:r>
            <a:endParaRPr lang="en-US" altLang="zh-CN" dirty="0" smtClean="0"/>
          </a:p>
          <a:p>
            <a:pPr lvl="3"/>
            <a:r>
              <a:rPr lang="zh-CN" altLang="en-US" dirty="0"/>
              <a:t>模型评估与选择中用于评估测试的数据</a:t>
            </a:r>
            <a:r>
              <a:rPr lang="zh-CN" altLang="en-US" dirty="0" smtClean="0"/>
              <a:t>集</a:t>
            </a:r>
            <a:endParaRPr lang="en-US" altLang="zh-CN" dirty="0" smtClean="0"/>
          </a:p>
          <a:p>
            <a:pPr lvl="3"/>
            <a:r>
              <a:rPr lang="zh-CN" altLang="en-US" dirty="0">
                <a:latin typeface="+mn-ea"/>
              </a:rPr>
              <a:t>验证是对你的期望说的</a:t>
            </a:r>
            <a:endParaRPr lang="en-US" altLang="zh-CN" dirty="0" smtClean="0"/>
          </a:p>
          <a:p>
            <a:pPr lvl="2"/>
            <a:r>
              <a:rPr lang="zh-CN" altLang="en-US" dirty="0">
                <a:latin typeface="+mn-ea"/>
              </a:rPr>
              <a:t>训练</a:t>
            </a:r>
            <a:r>
              <a:rPr lang="zh-CN" altLang="en-US" dirty="0" smtClean="0">
                <a:latin typeface="+mn-ea"/>
              </a:rPr>
              <a:t>数据</a:t>
            </a:r>
            <a:r>
              <a:rPr lang="en-US" altLang="zh-CN" dirty="0" smtClean="0">
                <a:latin typeface="+mn-ea"/>
              </a:rPr>
              <a:t>=</a:t>
            </a:r>
            <a:r>
              <a:rPr lang="zh-CN" altLang="en-US" dirty="0" smtClean="0">
                <a:latin typeface="+mn-ea"/>
              </a:rPr>
              <a:t>训练集</a:t>
            </a:r>
            <a:r>
              <a:rPr lang="en-US" altLang="zh-CN" dirty="0" smtClean="0">
                <a:latin typeface="+mn-ea"/>
              </a:rPr>
              <a:t>+</a:t>
            </a:r>
            <a:r>
              <a:rPr lang="zh-CN" altLang="en-US" dirty="0" smtClean="0">
                <a:latin typeface="+mn-ea"/>
              </a:rPr>
              <a:t>验证集</a:t>
            </a:r>
            <a:endParaRPr lang="en-US" altLang="zh-CN" dirty="0" smtClean="0">
              <a:latin typeface="+mn-ea"/>
            </a:endParaRPr>
          </a:p>
          <a:p>
            <a:pPr lvl="2"/>
            <a:r>
              <a:rPr lang="zh-CN" altLang="en-US" dirty="0" smtClean="0">
                <a:latin typeface="+mn-ea"/>
              </a:rPr>
              <a:t>数据集</a:t>
            </a:r>
            <a:r>
              <a:rPr lang="en-US" altLang="zh-CN" dirty="0" smtClean="0">
                <a:latin typeface="+mn-ea"/>
              </a:rPr>
              <a:t>=</a:t>
            </a:r>
            <a:r>
              <a:rPr lang="zh-CN" altLang="en-US" dirty="0">
                <a:latin typeface="+mn-ea"/>
              </a:rPr>
              <a:t>训练</a:t>
            </a:r>
            <a:r>
              <a:rPr lang="zh-CN" altLang="en-US" dirty="0" smtClean="0">
                <a:latin typeface="+mn-ea"/>
              </a:rPr>
              <a:t>数据</a:t>
            </a:r>
            <a:r>
              <a:rPr lang="en-US" altLang="zh-CN" dirty="0" smtClean="0">
                <a:latin typeface="+mn-ea"/>
              </a:rPr>
              <a:t>+</a:t>
            </a:r>
            <a:r>
              <a:rPr lang="zh-CN" altLang="en-US" dirty="0" smtClean="0">
                <a:latin typeface="+mn-ea"/>
              </a:rPr>
              <a:t>测试数据</a:t>
            </a:r>
            <a:r>
              <a:rPr lang="en-US" altLang="zh-CN" dirty="0" smtClean="0">
                <a:latin typeface="+mn-ea"/>
              </a:rPr>
              <a:t>(</a:t>
            </a:r>
            <a:r>
              <a:rPr lang="zh-CN" altLang="en-US" dirty="0" smtClean="0">
                <a:latin typeface="+mn-ea"/>
              </a:rPr>
              <a:t>集</a:t>
            </a:r>
            <a:r>
              <a:rPr lang="en-US" altLang="zh-CN" dirty="0" smtClean="0">
                <a:latin typeface="+mn-ea"/>
              </a:rPr>
              <a:t>)</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性能</a:t>
            </a:r>
            <a:r>
              <a:rPr lang="zh-CN" altLang="en-US" dirty="0"/>
              <a:t>度量</a:t>
            </a:r>
            <a:endParaRPr lang="zh-CN" altLang="en-US" dirty="0"/>
          </a:p>
        </p:txBody>
      </p:sp>
      <p:sp>
        <p:nvSpPr>
          <p:cNvPr id="3" name="内容占位符 2"/>
          <p:cNvSpPr>
            <a:spLocks noGrp="1"/>
          </p:cNvSpPr>
          <p:nvPr>
            <p:ph idx="1"/>
          </p:nvPr>
        </p:nvSpPr>
        <p:spPr>
          <a:xfrm>
            <a:off x="683568" y="970384"/>
            <a:ext cx="7772400" cy="5482952"/>
          </a:xfrm>
        </p:spPr>
        <p:txBody>
          <a:bodyPr/>
          <a:lstStyle/>
          <a:p>
            <a:r>
              <a:rPr lang="zh-CN" altLang="en-US" dirty="0"/>
              <a:t>性能度量</a:t>
            </a:r>
            <a:endParaRPr lang="en-US" altLang="zh-CN" dirty="0" smtClean="0"/>
          </a:p>
          <a:p>
            <a:pPr lvl="1"/>
            <a:r>
              <a:rPr lang="zh-CN" altLang="en-US" dirty="0"/>
              <a:t>衡量模型泛化能力的评价</a:t>
            </a:r>
            <a:r>
              <a:rPr lang="zh-CN" altLang="en-US" dirty="0" smtClean="0"/>
              <a:t>标准</a:t>
            </a:r>
            <a:endParaRPr lang="en-US" altLang="zh-CN" dirty="0" smtClean="0"/>
          </a:p>
          <a:p>
            <a:pPr lvl="1"/>
            <a:r>
              <a:rPr lang="zh-CN" altLang="en-US" dirty="0"/>
              <a:t>在预测任务中，给定样例</a:t>
            </a:r>
            <a:r>
              <a:rPr lang="zh-CN" altLang="en-US" dirty="0" smtClean="0"/>
              <a:t>集</a:t>
            </a:r>
            <a:r>
              <a:rPr lang="en-US" altLang="zh-CN" b="0" i="1" dirty="0">
                <a:latin typeface="Times New Roman" panose="02020603050405020304" pitchFamily="18" charset="0"/>
                <a:cs typeface="Times New Roman" panose="02020603050405020304" pitchFamily="18" charset="0"/>
              </a:rPr>
              <a:t>D</a:t>
            </a:r>
            <a:r>
              <a:rPr lang="en-US" altLang="zh-CN" b="0" dirty="0" smtClean="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x</a:t>
            </a:r>
            <a:r>
              <a:rPr lang="en-US" altLang="zh-CN" b="0" baseline="-25000" dirty="0">
                <a:latin typeface="Times New Roman" panose="02020603050405020304" pitchFamily="18" charset="0"/>
                <a:cs typeface="Times New Roman" panose="02020603050405020304" pitchFamily="18" charset="0"/>
              </a:rPr>
              <a:t>1</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y</a:t>
            </a:r>
            <a:r>
              <a:rPr lang="en-US" altLang="zh-CN" b="0" baseline="-25000" dirty="0">
                <a:latin typeface="Times New Roman" panose="02020603050405020304" pitchFamily="18" charset="0"/>
                <a:cs typeface="Times New Roman" panose="02020603050405020304" pitchFamily="18" charset="0"/>
              </a:rPr>
              <a:t>1</a:t>
            </a:r>
            <a:r>
              <a:rPr lang="en-US" altLang="zh-CN" b="0" dirty="0" smtClean="0">
                <a:latin typeface="Times New Roman" panose="02020603050405020304" pitchFamily="18" charset="0"/>
                <a:cs typeface="Times New Roman" panose="02020603050405020304" pitchFamily="18" charset="0"/>
              </a:rPr>
              <a:t>),…, (</a:t>
            </a:r>
            <a:r>
              <a:rPr lang="en-US" altLang="zh-CN" b="0" i="1" dirty="0" err="1">
                <a:latin typeface="Times New Roman" panose="02020603050405020304" pitchFamily="18" charset="0"/>
                <a:cs typeface="Times New Roman" panose="02020603050405020304" pitchFamily="18" charset="0"/>
              </a:rPr>
              <a:t>x</a:t>
            </a:r>
            <a:r>
              <a:rPr lang="en-US" altLang="zh-CN" b="0" i="1" baseline="-25000" dirty="0" err="1">
                <a:latin typeface="Times New Roman" panose="02020603050405020304" pitchFamily="18" charset="0"/>
                <a:cs typeface="Times New Roman" panose="02020603050405020304" pitchFamily="18" charset="0"/>
              </a:rPr>
              <a:t>m</a:t>
            </a:r>
            <a:r>
              <a:rPr lang="en-US" altLang="zh-CN" b="0" dirty="0" err="1">
                <a:latin typeface="Times New Roman" panose="02020603050405020304" pitchFamily="18" charset="0"/>
                <a:cs typeface="Times New Roman" panose="02020603050405020304" pitchFamily="18" charset="0"/>
              </a:rPr>
              <a:t>,</a:t>
            </a:r>
            <a:r>
              <a:rPr lang="en-US" altLang="zh-CN" b="0" i="1" dirty="0" err="1">
                <a:latin typeface="Times New Roman" panose="02020603050405020304" pitchFamily="18" charset="0"/>
                <a:cs typeface="Times New Roman" panose="02020603050405020304" pitchFamily="18" charset="0"/>
              </a:rPr>
              <a:t>y</a:t>
            </a:r>
            <a:r>
              <a:rPr lang="en-US" altLang="zh-CN" b="0" i="1" baseline="-25000" dirty="0" err="1">
                <a:latin typeface="Times New Roman" panose="02020603050405020304" pitchFamily="18" charset="0"/>
                <a:cs typeface="Times New Roman" panose="02020603050405020304" pitchFamily="18" charset="0"/>
              </a:rPr>
              <a:t>m</a:t>
            </a:r>
            <a:r>
              <a:rPr lang="en-US" altLang="zh-CN" b="0" dirty="0" smtClean="0">
                <a:latin typeface="Times New Roman" panose="02020603050405020304" pitchFamily="18" charset="0"/>
                <a:cs typeface="Times New Roman" panose="02020603050405020304" pitchFamily="18" charset="0"/>
              </a:rPr>
              <a:t>)}</a:t>
            </a:r>
            <a:r>
              <a:rPr lang="zh-CN" altLang="en-US" dirty="0" smtClean="0"/>
              <a:t>，其中</a:t>
            </a:r>
            <a:r>
              <a:rPr lang="en-US" altLang="zh-CN" b="0" i="1" dirty="0" err="1" smtClean="0">
                <a:latin typeface="Times New Roman" panose="02020603050405020304" pitchFamily="18" charset="0"/>
                <a:cs typeface="Times New Roman" panose="02020603050405020304" pitchFamily="18" charset="0"/>
              </a:rPr>
              <a:t>y</a:t>
            </a:r>
            <a:r>
              <a:rPr lang="en-US" altLang="zh-CN" b="0" i="1" baseline="-25000" dirty="0" err="1" smtClean="0">
                <a:latin typeface="Times New Roman" panose="02020603050405020304" pitchFamily="18" charset="0"/>
                <a:cs typeface="Times New Roman" panose="02020603050405020304" pitchFamily="18" charset="0"/>
              </a:rPr>
              <a:t>i</a:t>
            </a:r>
            <a:r>
              <a:rPr lang="zh-CN" altLang="en-US" dirty="0" smtClean="0"/>
              <a:t>是真实标记</a:t>
            </a:r>
            <a:r>
              <a:rPr lang="zh-CN" altLang="en-US" dirty="0"/>
              <a:t>。</a:t>
            </a:r>
            <a:r>
              <a:rPr lang="zh-CN" altLang="en-US" dirty="0" smtClean="0"/>
              <a:t>要</a:t>
            </a:r>
            <a:r>
              <a:rPr lang="zh-CN" altLang="en-US" dirty="0"/>
              <a:t>评估学习</a:t>
            </a:r>
            <a:r>
              <a:rPr lang="zh-CN" altLang="en-US" dirty="0" smtClean="0"/>
              <a:t>器</a:t>
            </a:r>
            <a:r>
              <a:rPr lang="en-US" altLang="zh-CN" b="0" i="1" dirty="0">
                <a:latin typeface="Times New Roman" panose="02020603050405020304" pitchFamily="18" charset="0"/>
                <a:cs typeface="Times New Roman" panose="02020603050405020304" pitchFamily="18" charset="0"/>
              </a:rPr>
              <a:t>f</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x</a:t>
            </a:r>
            <a:r>
              <a:rPr lang="en-US" altLang="zh-CN" b="0" dirty="0">
                <a:latin typeface="Times New Roman" panose="02020603050405020304" pitchFamily="18" charset="0"/>
                <a:cs typeface="Times New Roman" panose="02020603050405020304" pitchFamily="18" charset="0"/>
              </a:rPr>
              <a:t>)</a:t>
            </a:r>
            <a:r>
              <a:rPr lang="zh-CN" altLang="en-US" dirty="0" smtClean="0"/>
              <a:t>的</a:t>
            </a:r>
            <a:r>
              <a:rPr lang="zh-CN" altLang="en-US" dirty="0"/>
              <a:t>性能，就要把学习器预测</a:t>
            </a:r>
            <a:r>
              <a:rPr lang="zh-CN" altLang="en-US" dirty="0" smtClean="0"/>
              <a:t>结果</a:t>
            </a:r>
            <a:r>
              <a:rPr lang="en-US" altLang="zh-CN" b="0" i="1" dirty="0">
                <a:latin typeface="Times New Roman" panose="02020603050405020304" pitchFamily="18" charset="0"/>
                <a:cs typeface="Times New Roman" panose="02020603050405020304" pitchFamily="18" charset="0"/>
              </a:rPr>
              <a:t>f</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x</a:t>
            </a:r>
            <a:r>
              <a:rPr lang="en-US" altLang="zh-CN" b="0" dirty="0">
                <a:latin typeface="Times New Roman" panose="02020603050405020304" pitchFamily="18" charset="0"/>
                <a:cs typeface="Times New Roman" panose="02020603050405020304" pitchFamily="18" charset="0"/>
              </a:rPr>
              <a:t>)</a:t>
            </a:r>
            <a:r>
              <a:rPr lang="zh-CN" altLang="en-US" dirty="0" smtClean="0"/>
              <a:t>与</a:t>
            </a:r>
            <a:r>
              <a:rPr lang="zh-CN" altLang="en-US" dirty="0"/>
              <a:t>真实</a:t>
            </a:r>
            <a:r>
              <a:rPr lang="zh-CN" altLang="en-US" dirty="0" smtClean="0"/>
              <a:t>标记</a:t>
            </a:r>
            <a:r>
              <a:rPr lang="en-US" altLang="zh-CN" b="0" i="1" dirty="0" smtClean="0">
                <a:latin typeface="Times New Roman" panose="02020603050405020304" pitchFamily="18" charset="0"/>
                <a:cs typeface="Times New Roman" panose="02020603050405020304" pitchFamily="18" charset="0"/>
              </a:rPr>
              <a:t>y</a:t>
            </a:r>
            <a:r>
              <a:rPr lang="zh-CN" altLang="en-US" dirty="0" smtClean="0"/>
              <a:t>进行</a:t>
            </a:r>
            <a:r>
              <a:rPr lang="zh-CN" altLang="en-US" dirty="0"/>
              <a:t>比较</a:t>
            </a:r>
            <a:endParaRPr lang="en-US" altLang="zh-CN" dirty="0"/>
          </a:p>
          <a:p>
            <a:pPr lvl="1"/>
            <a:r>
              <a:rPr lang="zh-CN" altLang="en-US" dirty="0"/>
              <a:t>使用不同的性能</a:t>
            </a:r>
            <a:r>
              <a:rPr lang="zh-CN" altLang="en-US" dirty="0" smtClean="0"/>
              <a:t>度量会</a:t>
            </a:r>
            <a:r>
              <a:rPr lang="zh-CN" altLang="en-US" dirty="0"/>
              <a:t>导致不同的评判结果</a:t>
            </a:r>
            <a:endParaRPr lang="zh-CN" altLang="en-US" dirty="0"/>
          </a:p>
          <a:p>
            <a:pPr lvl="2"/>
            <a:r>
              <a:rPr lang="zh-CN" altLang="en-US" dirty="0" smtClean="0"/>
              <a:t>评判模型好坏，</a:t>
            </a:r>
            <a:r>
              <a:rPr lang="zh-CN" altLang="en-US" dirty="0"/>
              <a:t>不仅取决于算法和数据</a:t>
            </a:r>
            <a:r>
              <a:rPr lang="zh-CN" altLang="en-US" dirty="0" smtClean="0"/>
              <a:t>，还</a:t>
            </a:r>
            <a:r>
              <a:rPr lang="zh-CN" altLang="en-US" dirty="0"/>
              <a:t>取决于任务</a:t>
            </a:r>
            <a:r>
              <a:rPr lang="zh-CN" altLang="en-US" dirty="0" smtClean="0"/>
              <a:t>需求</a:t>
            </a:r>
            <a:endParaRPr lang="en-US" altLang="zh-CN" dirty="0" smtClean="0"/>
          </a:p>
          <a:p>
            <a:endParaRPr lang="en-US" altLang="zh-CN" dirty="0" smtClean="0"/>
          </a:p>
          <a:p>
            <a:endParaRPr lang="zh-CN" altLang="en-US"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性能</a:t>
            </a:r>
            <a:r>
              <a:rPr lang="zh-CN" altLang="en-US" dirty="0"/>
              <a:t>度量</a:t>
            </a:r>
            <a:endParaRPr lang="zh-CN" altLang="en-US" dirty="0"/>
          </a:p>
        </p:txBody>
      </p:sp>
      <p:sp>
        <p:nvSpPr>
          <p:cNvPr id="3" name="内容占位符 2"/>
          <p:cNvSpPr>
            <a:spLocks noGrp="1"/>
          </p:cNvSpPr>
          <p:nvPr>
            <p:ph idx="1"/>
          </p:nvPr>
        </p:nvSpPr>
        <p:spPr>
          <a:xfrm>
            <a:off x="683568" y="970384"/>
            <a:ext cx="7772400" cy="5482952"/>
          </a:xfrm>
        </p:spPr>
        <p:txBody>
          <a:bodyPr/>
          <a:lstStyle/>
          <a:p>
            <a:r>
              <a:rPr lang="zh-CN" altLang="en-US" dirty="0" smtClean="0"/>
              <a:t>均方误差</a:t>
            </a:r>
            <a:endParaRPr lang="en-US" altLang="zh-CN" dirty="0" smtClean="0"/>
          </a:p>
          <a:p>
            <a:pPr lvl="1"/>
            <a:endParaRPr lang="en-US" altLang="zh-CN" dirty="0" smtClean="0"/>
          </a:p>
          <a:p>
            <a:pPr lvl="1"/>
            <a:endParaRPr lang="en-US" altLang="zh-CN" dirty="0" smtClean="0"/>
          </a:p>
          <a:p>
            <a:pPr lvl="1"/>
            <a:endParaRPr lang="en-US" altLang="zh-CN" dirty="0" smtClean="0"/>
          </a:p>
          <a:p>
            <a:pPr lvl="1"/>
            <a:r>
              <a:rPr lang="en-US" altLang="zh-CN" dirty="0" smtClean="0"/>
              <a:t>   </a:t>
            </a:r>
            <a:r>
              <a:rPr lang="zh-CN" altLang="en-US" dirty="0" smtClean="0"/>
              <a:t>数据集， 示例真实标记， 学习器，     预测结果</a:t>
            </a:r>
            <a:endParaRPr lang="en-US" altLang="zh-CN" dirty="0" smtClean="0"/>
          </a:p>
          <a:p>
            <a:pPr lvl="1"/>
            <a:r>
              <a:rPr lang="zh-CN" altLang="en-US" dirty="0" smtClean="0"/>
              <a:t>一般形式</a:t>
            </a:r>
            <a:endParaRPr lang="en-US" altLang="zh-CN" dirty="0" smtClean="0"/>
          </a:p>
          <a:p>
            <a:pPr lvl="1"/>
            <a:endParaRPr lang="en-US" altLang="zh-CN" dirty="0" smtClean="0"/>
          </a:p>
          <a:p>
            <a:pPr lvl="1"/>
            <a:endParaRPr lang="en-US" altLang="zh-CN" dirty="0" smtClean="0"/>
          </a:p>
          <a:p>
            <a:pPr lvl="1"/>
            <a:r>
              <a:rPr lang="zh-CN" altLang="en-US" dirty="0" smtClean="0"/>
              <a:t>用于回归任务</a:t>
            </a:r>
            <a:endParaRPr lang="en-US" altLang="zh-CN" dirty="0" smtClean="0"/>
          </a:p>
          <a:p>
            <a:r>
              <a:rPr lang="zh-CN" altLang="en-US" dirty="0"/>
              <a:t>后面主要介绍分类</a:t>
            </a:r>
            <a:r>
              <a:rPr lang="zh-CN" altLang="en-US" dirty="0" smtClean="0"/>
              <a:t>任务常用</a:t>
            </a:r>
            <a:r>
              <a:rPr lang="zh-CN" altLang="en-US" dirty="0"/>
              <a:t>的性能度量</a:t>
            </a:r>
            <a:endParaRPr lang="en-US" altLang="zh-CN" dirty="0"/>
          </a:p>
          <a:p>
            <a:endParaRPr lang="en-US" altLang="zh-CN" dirty="0" smtClean="0"/>
          </a:p>
          <a:p>
            <a:endParaRPr lang="zh-CN" altLang="en-US"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647270" y="1628850"/>
          <a:ext cx="4183063" cy="1008062"/>
        </p:xfrm>
        <a:graphic>
          <a:graphicData uri="http://schemas.openxmlformats.org/presentationml/2006/ole">
            <mc:AlternateContent xmlns:mc="http://schemas.openxmlformats.org/markup-compatibility/2006">
              <mc:Choice xmlns:v="urn:schemas-microsoft-com:vml" Requires="v">
                <p:oleObj spid="_x0000_s32824" name="Equation" r:id="rId1" imgW="42976800" imgH="10363200" progId="Equation.DSMT4">
                  <p:embed/>
                </p:oleObj>
              </mc:Choice>
              <mc:Fallback>
                <p:oleObj name="Equation" r:id="rId1" imgW="42976800" imgH="10363200" progId="Equation.DSMT4">
                  <p:embed/>
                  <p:pic>
                    <p:nvPicPr>
                      <p:cNvPr id="0" name="图片 32823"/>
                      <p:cNvPicPr/>
                      <p:nvPr/>
                    </p:nvPicPr>
                    <p:blipFill>
                      <a:blip r:embed="rId2"/>
                      <a:stretch>
                        <a:fillRect/>
                      </a:stretch>
                    </p:blipFill>
                    <p:spPr>
                      <a:xfrm>
                        <a:off x="2647270" y="1628850"/>
                        <a:ext cx="4183063" cy="100806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475656" y="2827214"/>
          <a:ext cx="385762" cy="385762"/>
        </p:xfrm>
        <a:graphic>
          <a:graphicData uri="http://schemas.openxmlformats.org/presentationml/2006/ole">
            <mc:AlternateContent xmlns:mc="http://schemas.openxmlformats.org/markup-compatibility/2006">
              <mc:Choice xmlns:v="urn:schemas-microsoft-com:vml" Requires="v">
                <p:oleObj spid="_x0000_s32825" name="Equation" r:id="rId3" imgW="3962400" imgH="3962400" progId="Equation.DSMT4">
                  <p:embed/>
                </p:oleObj>
              </mc:Choice>
              <mc:Fallback>
                <p:oleObj name="Equation" r:id="rId3" imgW="3962400" imgH="3962400" progId="Equation.DSMT4">
                  <p:embed/>
                  <p:pic>
                    <p:nvPicPr>
                      <p:cNvPr id="0" name="图片 32824"/>
                      <p:cNvPicPr/>
                      <p:nvPr/>
                    </p:nvPicPr>
                    <p:blipFill>
                      <a:blip r:embed="rId4"/>
                      <a:stretch>
                        <a:fillRect/>
                      </a:stretch>
                    </p:blipFill>
                    <p:spPr>
                      <a:xfrm>
                        <a:off x="1475656" y="2827214"/>
                        <a:ext cx="385762" cy="38576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059832" y="2781746"/>
          <a:ext cx="355600" cy="503238"/>
        </p:xfrm>
        <a:graphic>
          <a:graphicData uri="http://schemas.openxmlformats.org/presentationml/2006/ole">
            <mc:AlternateContent xmlns:mc="http://schemas.openxmlformats.org/markup-compatibility/2006">
              <mc:Choice xmlns:v="urn:schemas-microsoft-com:vml" Requires="v">
                <p:oleObj spid="_x0000_s32826" name="Equation" r:id="rId5" imgW="3657600" imgH="5181600" progId="Equation.DSMT4">
                  <p:embed/>
                </p:oleObj>
              </mc:Choice>
              <mc:Fallback>
                <p:oleObj name="Equation" r:id="rId5" imgW="3657600" imgH="5181600" progId="Equation.DSMT4">
                  <p:embed/>
                  <p:pic>
                    <p:nvPicPr>
                      <p:cNvPr id="0" name="图片 32825"/>
                      <p:cNvPicPr/>
                      <p:nvPr/>
                    </p:nvPicPr>
                    <p:blipFill>
                      <a:blip r:embed="rId6"/>
                      <a:stretch>
                        <a:fillRect/>
                      </a:stretch>
                    </p:blipFill>
                    <p:spPr>
                      <a:xfrm>
                        <a:off x="3059832" y="2781746"/>
                        <a:ext cx="355600" cy="50323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5699540" y="2810322"/>
          <a:ext cx="355600" cy="474662"/>
        </p:xfrm>
        <a:graphic>
          <a:graphicData uri="http://schemas.openxmlformats.org/presentationml/2006/ole">
            <mc:AlternateContent xmlns:mc="http://schemas.openxmlformats.org/markup-compatibility/2006">
              <mc:Choice xmlns:v="urn:schemas-microsoft-com:vml" Requires="v">
                <p:oleObj spid="_x0000_s32827" name="Equation" r:id="rId7" imgW="3657600" imgH="4876800" progId="Equation.DSMT4">
                  <p:embed/>
                </p:oleObj>
              </mc:Choice>
              <mc:Fallback>
                <p:oleObj name="Equation" r:id="rId7" imgW="3657600" imgH="4876800" progId="Equation.DSMT4">
                  <p:embed/>
                  <p:pic>
                    <p:nvPicPr>
                      <p:cNvPr id="0" name="图片 32826"/>
                      <p:cNvPicPr/>
                      <p:nvPr/>
                    </p:nvPicPr>
                    <p:blipFill>
                      <a:blip r:embed="rId8"/>
                      <a:stretch>
                        <a:fillRect/>
                      </a:stretch>
                    </p:blipFill>
                    <p:spPr>
                      <a:xfrm>
                        <a:off x="5699540" y="2810322"/>
                        <a:ext cx="355600" cy="47466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7211392" y="2781747"/>
          <a:ext cx="889000" cy="503237"/>
        </p:xfrm>
        <a:graphic>
          <a:graphicData uri="http://schemas.openxmlformats.org/presentationml/2006/ole">
            <mc:AlternateContent xmlns:mc="http://schemas.openxmlformats.org/markup-compatibility/2006">
              <mc:Choice xmlns:v="urn:schemas-microsoft-com:vml" Requires="v">
                <p:oleObj spid="_x0000_s32828" name="Equation" r:id="rId9" imgW="9144000" imgH="5181600" progId="Equation.DSMT4">
                  <p:embed/>
                </p:oleObj>
              </mc:Choice>
              <mc:Fallback>
                <p:oleObj name="Equation" r:id="rId9" imgW="9144000" imgH="5181600" progId="Equation.DSMT4">
                  <p:embed/>
                  <p:pic>
                    <p:nvPicPr>
                      <p:cNvPr id="0" name="图片 32827"/>
                      <p:cNvPicPr/>
                      <p:nvPr/>
                    </p:nvPicPr>
                    <p:blipFill>
                      <a:blip r:embed="rId10"/>
                      <a:stretch>
                        <a:fillRect/>
                      </a:stretch>
                    </p:blipFill>
                    <p:spPr>
                      <a:xfrm>
                        <a:off x="7211392" y="2781747"/>
                        <a:ext cx="889000" cy="50323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181125" y="4149080"/>
          <a:ext cx="4983163" cy="681037"/>
        </p:xfrm>
        <a:graphic>
          <a:graphicData uri="http://schemas.openxmlformats.org/presentationml/2006/ole">
            <mc:AlternateContent xmlns:mc="http://schemas.openxmlformats.org/markup-compatibility/2006">
              <mc:Choice xmlns:v="urn:schemas-microsoft-com:vml" Requires="v">
                <p:oleObj spid="_x0000_s32829" name="Equation" r:id="rId11" imgW="51206400" imgH="7010400" progId="Equation.DSMT4">
                  <p:embed/>
                </p:oleObj>
              </mc:Choice>
              <mc:Fallback>
                <p:oleObj name="Equation" r:id="rId11" imgW="51206400" imgH="7010400" progId="Equation.DSMT4">
                  <p:embed/>
                  <p:pic>
                    <p:nvPicPr>
                      <p:cNvPr id="0" name="图片 32828"/>
                      <p:cNvPicPr/>
                      <p:nvPr/>
                    </p:nvPicPr>
                    <p:blipFill>
                      <a:blip r:embed="rId12"/>
                      <a:stretch>
                        <a:fillRect/>
                      </a:stretch>
                    </p:blipFill>
                    <p:spPr>
                      <a:xfrm>
                        <a:off x="2181125" y="4149080"/>
                        <a:ext cx="4983163" cy="681037"/>
                      </a:xfrm>
                      <a:prstGeom prst="rect">
                        <a:avLst/>
                      </a:prstGeom>
                    </p:spPr>
                  </p:pic>
                </p:oleObj>
              </mc:Fallback>
            </mc:AlternateContent>
          </a:graphicData>
        </a:graphic>
      </p:graphicFrame>
    </p:spTree>
  </p:cSld>
  <p:clrMapOvr>
    <a:masterClrMapping/>
  </p:clrMapOvr>
  <p:transition>
    <p:cover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683568" y="970384"/>
            <a:ext cx="7772400" cy="5354216"/>
          </a:xfrm>
        </p:spPr>
        <p:txBody>
          <a:bodyPr/>
          <a:lstStyle/>
          <a:p>
            <a:r>
              <a:rPr lang="en-US" altLang="zh-CN" dirty="0" smtClean="0">
                <a:latin typeface="+mn-ea"/>
              </a:rPr>
              <a:t>2.3.1 </a:t>
            </a:r>
            <a:r>
              <a:rPr lang="zh-CN" altLang="en-US" dirty="0" smtClean="0">
                <a:latin typeface="+mn-ea"/>
              </a:rPr>
              <a:t>错误率</a:t>
            </a:r>
            <a:r>
              <a:rPr lang="zh-CN" altLang="en-US" dirty="0" smtClean="0"/>
              <a:t>与精度</a:t>
            </a:r>
            <a:endParaRPr lang="en-US" altLang="zh-CN" dirty="0" smtClean="0"/>
          </a:p>
          <a:p>
            <a:pPr lvl="1"/>
            <a:r>
              <a:rPr lang="zh-CN" altLang="en-US" dirty="0" smtClean="0"/>
              <a:t>错误率</a:t>
            </a:r>
            <a:endParaRPr lang="en-US" altLang="zh-CN" dirty="0" smtClean="0"/>
          </a:p>
          <a:p>
            <a:pPr lvl="2"/>
            <a:r>
              <a:rPr lang="zh-CN" altLang="en-US" dirty="0" smtClean="0"/>
              <a:t>分类</a:t>
            </a:r>
            <a:r>
              <a:rPr lang="zh-CN" altLang="en-US" dirty="0"/>
              <a:t>错误的样本数占样本总数的</a:t>
            </a:r>
            <a:r>
              <a:rPr lang="zh-CN" altLang="en-US" dirty="0" smtClean="0"/>
              <a:t>比例</a:t>
            </a:r>
            <a:endParaRPr lang="en-US" altLang="zh-CN" dirty="0" smtClean="0"/>
          </a:p>
          <a:p>
            <a:pPr lvl="2"/>
            <a:endParaRPr lang="en-US" altLang="zh-CN" dirty="0" smtClean="0"/>
          </a:p>
          <a:p>
            <a:pPr lvl="2"/>
            <a:endParaRPr lang="en-US" altLang="zh-CN" dirty="0" smtClean="0"/>
          </a:p>
          <a:p>
            <a:pPr lvl="3"/>
            <a:r>
              <a:rPr lang="zh-CN" altLang="en-US" dirty="0" smtClean="0"/>
              <a:t>一般形式</a:t>
            </a:r>
            <a:endParaRPr lang="en-US" altLang="zh-CN" dirty="0" smtClean="0"/>
          </a:p>
          <a:p>
            <a:pPr lvl="3"/>
            <a:endParaRPr lang="en-US" altLang="zh-CN" dirty="0"/>
          </a:p>
          <a:p>
            <a:pPr lvl="3"/>
            <a:endParaRPr lang="en-US" altLang="zh-CN" dirty="0"/>
          </a:p>
          <a:p>
            <a:pPr lvl="1"/>
            <a:r>
              <a:rPr lang="zh-CN" altLang="en-US" dirty="0" smtClean="0"/>
              <a:t>精度</a:t>
            </a:r>
            <a:endParaRPr lang="en-US" altLang="zh-CN" dirty="0" smtClean="0"/>
          </a:p>
          <a:p>
            <a:pPr lvl="2"/>
            <a:r>
              <a:rPr lang="zh-CN" altLang="en-US" dirty="0"/>
              <a:t>分类正确的样本数占样本总数的</a:t>
            </a:r>
            <a:r>
              <a:rPr lang="zh-CN" altLang="en-US" dirty="0" smtClean="0"/>
              <a:t>比例</a:t>
            </a:r>
            <a:endParaRPr lang="en-US" altLang="zh-CN" dirty="0" smtClean="0"/>
          </a:p>
          <a:p>
            <a:pPr lvl="2"/>
            <a:endParaRPr lang="en-US" altLang="zh-CN" dirty="0" smtClean="0"/>
          </a:p>
          <a:p>
            <a:pPr lvl="2"/>
            <a:endParaRPr lang="en-US" altLang="zh-CN" dirty="0"/>
          </a:p>
          <a:p>
            <a:pPr lvl="3"/>
            <a:r>
              <a:rPr lang="zh-CN" altLang="en-US" dirty="0" smtClean="0"/>
              <a:t>一般形式</a:t>
            </a:r>
            <a:endParaRPr lang="en-US" altLang="zh-CN"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794000" y="2276872"/>
          <a:ext cx="3557588" cy="828675"/>
        </p:xfrm>
        <a:graphic>
          <a:graphicData uri="http://schemas.openxmlformats.org/presentationml/2006/ole">
            <mc:AlternateContent xmlns:mc="http://schemas.openxmlformats.org/markup-compatibility/2006">
              <mc:Choice xmlns:v="urn:schemas-microsoft-com:vml" Requires="v">
                <p:oleObj spid="_x0000_s5409" name="Equation" r:id="rId1" imgW="44500800" imgH="10363200" progId="Equation.DSMT4">
                  <p:embed/>
                </p:oleObj>
              </mc:Choice>
              <mc:Fallback>
                <p:oleObj name="Equation" r:id="rId1" imgW="44500800" imgH="10363200" progId="Equation.DSMT4">
                  <p:embed/>
                  <p:pic>
                    <p:nvPicPr>
                      <p:cNvPr id="0" name="图片 5408"/>
                      <p:cNvPicPr/>
                      <p:nvPr/>
                    </p:nvPicPr>
                    <p:blipFill>
                      <a:blip r:embed="rId2"/>
                      <a:stretch>
                        <a:fillRect/>
                      </a:stretch>
                    </p:blipFill>
                    <p:spPr>
                      <a:xfrm>
                        <a:off x="2794000" y="2276872"/>
                        <a:ext cx="3557588" cy="82867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701800" y="5877272"/>
          <a:ext cx="6064250" cy="561975"/>
        </p:xfrm>
        <a:graphic>
          <a:graphicData uri="http://schemas.openxmlformats.org/presentationml/2006/ole">
            <mc:AlternateContent xmlns:mc="http://schemas.openxmlformats.org/markup-compatibility/2006">
              <mc:Choice xmlns:v="urn:schemas-microsoft-com:vml" Requires="v">
                <p:oleObj spid="_x0000_s5410" name="Equation" r:id="rId3" imgW="75895200" imgH="7010400" progId="Equation.DSMT4">
                  <p:embed/>
                </p:oleObj>
              </mc:Choice>
              <mc:Fallback>
                <p:oleObj name="Equation" r:id="rId3" imgW="75895200" imgH="7010400" progId="Equation.DSMT4">
                  <p:embed/>
                  <p:pic>
                    <p:nvPicPr>
                      <p:cNvPr id="0" name="图片 5409"/>
                      <p:cNvPicPr/>
                      <p:nvPr/>
                    </p:nvPicPr>
                    <p:blipFill>
                      <a:blip r:embed="rId4"/>
                      <a:stretch>
                        <a:fillRect/>
                      </a:stretch>
                    </p:blipFill>
                    <p:spPr>
                      <a:xfrm>
                        <a:off x="1701800" y="5877272"/>
                        <a:ext cx="6064250" cy="56197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528888" y="3444677"/>
          <a:ext cx="4410075" cy="560387"/>
        </p:xfrm>
        <a:graphic>
          <a:graphicData uri="http://schemas.openxmlformats.org/presentationml/2006/ole">
            <mc:AlternateContent xmlns:mc="http://schemas.openxmlformats.org/markup-compatibility/2006">
              <mc:Choice xmlns:v="urn:schemas-microsoft-com:vml" Requires="v">
                <p:oleObj spid="_x0000_s5411" name="Equation" r:id="rId5" imgW="55168800" imgH="7010400" progId="Equation.DSMT4">
                  <p:embed/>
                </p:oleObj>
              </mc:Choice>
              <mc:Fallback>
                <p:oleObj name="Equation" r:id="rId5" imgW="55168800" imgH="7010400" progId="Equation.DSMT4">
                  <p:embed/>
                  <p:pic>
                    <p:nvPicPr>
                      <p:cNvPr id="0" name="图片 5410"/>
                      <p:cNvPicPr/>
                      <p:nvPr/>
                    </p:nvPicPr>
                    <p:blipFill>
                      <a:blip r:embed="rId6"/>
                      <a:stretch>
                        <a:fillRect/>
                      </a:stretch>
                    </p:blipFill>
                    <p:spPr>
                      <a:xfrm>
                        <a:off x="2528888" y="3444677"/>
                        <a:ext cx="4410075" cy="560387"/>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051720" y="4688557"/>
          <a:ext cx="5334000" cy="828675"/>
        </p:xfrm>
        <a:graphic>
          <a:graphicData uri="http://schemas.openxmlformats.org/presentationml/2006/ole">
            <mc:AlternateContent xmlns:mc="http://schemas.openxmlformats.org/markup-compatibility/2006">
              <mc:Choice xmlns:v="urn:schemas-microsoft-com:vml" Requires="v">
                <p:oleObj spid="_x0000_s5412" name="Equation" r:id="rId7" imgW="66751200" imgH="10363200" progId="Equation.DSMT4">
                  <p:embed/>
                </p:oleObj>
              </mc:Choice>
              <mc:Fallback>
                <p:oleObj name="Equation" r:id="rId7" imgW="66751200" imgH="10363200" progId="Equation.DSMT4">
                  <p:embed/>
                  <p:pic>
                    <p:nvPicPr>
                      <p:cNvPr id="0" name="图片 5411"/>
                      <p:cNvPicPr/>
                      <p:nvPr/>
                    </p:nvPicPr>
                    <p:blipFill>
                      <a:blip r:embed="rId8"/>
                      <a:stretch>
                        <a:fillRect/>
                      </a:stretch>
                    </p:blipFill>
                    <p:spPr>
                      <a:xfrm>
                        <a:off x="2051720" y="4688557"/>
                        <a:ext cx="5334000" cy="828675"/>
                      </a:xfrm>
                      <a:prstGeom prst="rect">
                        <a:avLst/>
                      </a:prstGeom>
                    </p:spPr>
                  </p:pic>
                </p:oleObj>
              </mc:Fallback>
            </mc:AlternateContent>
          </a:graphicData>
        </a:graphic>
      </p:graphicFrame>
    </p:spTree>
  </p:cSld>
  <p:clrMapOvr>
    <a:masterClrMapping/>
  </p:clrMapOvr>
  <p:transition>
    <p:cover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p:txBody>
          <a:bodyPr/>
          <a:lstStyle/>
          <a:p>
            <a:r>
              <a:rPr lang="en-US" altLang="zh-CN" dirty="0" smtClean="0">
                <a:latin typeface="+mn-ea"/>
              </a:rPr>
              <a:t>2.3.1 </a:t>
            </a:r>
            <a:r>
              <a:rPr lang="zh-CN" altLang="en-US" dirty="0" smtClean="0">
                <a:latin typeface="+mn-ea"/>
              </a:rPr>
              <a:t>错误率</a:t>
            </a:r>
            <a:r>
              <a:rPr lang="zh-CN" altLang="en-US" dirty="0"/>
              <a:t>与</a:t>
            </a:r>
            <a:r>
              <a:rPr lang="zh-CN" altLang="en-US" dirty="0" smtClean="0"/>
              <a:t>精度</a:t>
            </a:r>
            <a:endParaRPr lang="en-US" altLang="zh-CN" dirty="0" smtClean="0"/>
          </a:p>
          <a:p>
            <a:pPr lvl="1"/>
            <a:r>
              <a:rPr lang="zh-CN" altLang="en-US" dirty="0" smtClean="0"/>
              <a:t>既</a:t>
            </a:r>
            <a:r>
              <a:rPr lang="zh-CN" altLang="en-US" dirty="0"/>
              <a:t>适用于二分类任务，也适用于多分类</a:t>
            </a:r>
            <a:r>
              <a:rPr lang="zh-CN" altLang="en-US" dirty="0" smtClean="0"/>
              <a:t>任务</a:t>
            </a:r>
            <a:endParaRPr lang="en-US" altLang="zh-CN" dirty="0" smtClean="0"/>
          </a:p>
          <a:p>
            <a:pPr lvl="1"/>
            <a:r>
              <a:rPr lang="zh-CN" altLang="en-US" dirty="0"/>
              <a:t>错误率和精度常用，但不能满足所有</a:t>
            </a:r>
            <a:r>
              <a:rPr lang="zh-CN" altLang="en-US" dirty="0" smtClean="0"/>
              <a:t>需求</a:t>
            </a:r>
            <a:endParaRPr lang="en-US" altLang="zh-CN" dirty="0" smtClean="0"/>
          </a:p>
          <a:p>
            <a:pPr lvl="2"/>
            <a:r>
              <a:rPr lang="zh-CN" altLang="en-US" dirty="0" smtClean="0"/>
              <a:t>如问题是</a:t>
            </a:r>
            <a:r>
              <a:rPr lang="zh-CN" altLang="en-US" dirty="0"/>
              <a:t>“挑出的西瓜中有多少比例是好瓜”，或者“所有好瓜中有多少比例被挑了出来”</a:t>
            </a:r>
            <a:endParaRPr lang="en-US" altLang="zh-CN" dirty="0"/>
          </a:p>
          <a:p>
            <a:pPr lvl="3"/>
            <a:r>
              <a:rPr lang="zh-CN" altLang="en-US" dirty="0" smtClean="0"/>
              <a:t>错误率</a:t>
            </a:r>
            <a:r>
              <a:rPr lang="zh-CN" altLang="en-US" dirty="0"/>
              <a:t>显然就不</a:t>
            </a:r>
            <a:r>
              <a:rPr lang="zh-CN" altLang="en-US" dirty="0" smtClean="0"/>
              <a:t>够用，需要</a:t>
            </a:r>
            <a:r>
              <a:rPr lang="zh-CN" altLang="en-US" dirty="0"/>
              <a:t>使用其他的性能度量</a:t>
            </a:r>
            <a:endParaRPr lang="zh-CN" altLang="en-US" dirty="0"/>
          </a:p>
          <a:p>
            <a:pPr lvl="4"/>
            <a:endParaRPr lang="en-US" altLang="zh-CN" dirty="0" smtClean="0"/>
          </a:p>
          <a:p>
            <a:pPr lvl="5"/>
            <a:endParaRPr lang="en-US" altLang="zh-CN" dirty="0"/>
          </a:p>
          <a:p>
            <a:pPr lvl="4"/>
            <a:endParaRPr lang="en-US" altLang="zh-CN"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836712"/>
            <a:ext cx="7772400" cy="5945088"/>
          </a:xfrm>
        </p:spPr>
        <p:txBody>
          <a:bodyPr/>
          <a:lstStyle/>
          <a:p>
            <a:r>
              <a:rPr lang="en-US" altLang="zh-CN" dirty="0" smtClean="0">
                <a:latin typeface="+mn-ea"/>
              </a:rPr>
              <a:t>2.3.2 </a:t>
            </a:r>
            <a:r>
              <a:rPr lang="zh-CN" altLang="en-US" dirty="0" smtClean="0">
                <a:latin typeface="+mn-ea"/>
              </a:rPr>
              <a:t>查准率</a:t>
            </a:r>
            <a:r>
              <a:rPr lang="zh-CN" altLang="en-US" dirty="0">
                <a:latin typeface="+mn-ea"/>
              </a:rPr>
              <a:t>、</a:t>
            </a:r>
            <a:r>
              <a:rPr lang="zh-CN" altLang="en-US" dirty="0" smtClean="0">
                <a:latin typeface="+mn-ea"/>
              </a:rPr>
              <a:t>查全率</a:t>
            </a:r>
            <a:endParaRPr lang="en-US" altLang="zh-CN" dirty="0" smtClean="0">
              <a:latin typeface="+mn-ea"/>
            </a:endParaRPr>
          </a:p>
          <a:p>
            <a:pPr lvl="1" hangingPunct="0"/>
            <a:r>
              <a:rPr lang="zh-CN" altLang="en-US" dirty="0" smtClean="0">
                <a:latin typeface="+mn-ea"/>
              </a:rPr>
              <a:t>混淆</a:t>
            </a:r>
            <a:r>
              <a:rPr lang="zh-CN" altLang="en-US" dirty="0">
                <a:latin typeface="+mn-ea"/>
              </a:rPr>
              <a:t>矩阵</a:t>
            </a:r>
            <a:endParaRPr lang="en-US" altLang="zh-CN" dirty="0">
              <a:latin typeface="+mn-ea"/>
            </a:endParaRPr>
          </a:p>
          <a:p>
            <a:pPr lvl="2" hangingPunct="0"/>
            <a:r>
              <a:rPr lang="zh-CN" altLang="en-US" dirty="0" smtClean="0">
                <a:latin typeface="+mn-ea"/>
              </a:rPr>
              <a:t>对于</a:t>
            </a:r>
            <a:r>
              <a:rPr lang="zh-CN" altLang="en-US" dirty="0">
                <a:latin typeface="+mn-ea"/>
              </a:rPr>
              <a:t>二</a:t>
            </a:r>
            <a:r>
              <a:rPr lang="zh-CN" altLang="en-US" dirty="0" smtClean="0">
                <a:latin typeface="+mn-ea"/>
              </a:rPr>
              <a:t>分类，将</a:t>
            </a:r>
            <a:r>
              <a:rPr lang="zh-CN" altLang="en-US" dirty="0">
                <a:latin typeface="+mn-ea"/>
              </a:rPr>
              <a:t>样例</a:t>
            </a:r>
            <a:r>
              <a:rPr lang="zh-CN" altLang="en-US" dirty="0" smtClean="0">
                <a:latin typeface="+mn-ea"/>
              </a:rPr>
              <a:t>根据真实</a:t>
            </a:r>
            <a:r>
              <a:rPr lang="zh-CN" altLang="en-US" dirty="0">
                <a:latin typeface="+mn-ea"/>
              </a:rPr>
              <a:t>类别与学习器预测</a:t>
            </a:r>
            <a:r>
              <a:rPr lang="zh-CN" altLang="en-US" dirty="0" smtClean="0">
                <a:latin typeface="+mn-ea"/>
              </a:rPr>
              <a:t>类别划分</a:t>
            </a:r>
            <a:r>
              <a:rPr lang="zh-CN" altLang="en-US" dirty="0">
                <a:latin typeface="+mn-ea"/>
              </a:rPr>
              <a:t>为真正</a:t>
            </a:r>
            <a:r>
              <a:rPr lang="zh-CN" altLang="en-US" dirty="0" smtClean="0">
                <a:latin typeface="+mn-ea"/>
              </a:rPr>
              <a:t>例、</a:t>
            </a:r>
            <a:r>
              <a:rPr lang="zh-CN" altLang="en-US" dirty="0">
                <a:latin typeface="+mn-ea"/>
              </a:rPr>
              <a:t>假正</a:t>
            </a:r>
            <a:r>
              <a:rPr lang="zh-CN" altLang="en-US" dirty="0" smtClean="0">
                <a:latin typeface="+mn-ea"/>
              </a:rPr>
              <a:t>例、</a:t>
            </a:r>
            <a:r>
              <a:rPr lang="zh-CN" altLang="en-US" dirty="0">
                <a:latin typeface="+mn-ea"/>
              </a:rPr>
              <a:t>真</a:t>
            </a:r>
            <a:r>
              <a:rPr lang="zh-CN" altLang="en-US" dirty="0" smtClean="0">
                <a:latin typeface="+mn-ea"/>
              </a:rPr>
              <a:t>反例、假反例四种，</a:t>
            </a:r>
            <a:r>
              <a:rPr lang="zh-CN" altLang="en-US" dirty="0">
                <a:latin typeface="+mn-ea"/>
              </a:rPr>
              <a:t>令</a:t>
            </a:r>
            <a:r>
              <a:rPr lang="en-US" altLang="zh-CN" dirty="0" smtClean="0">
                <a:latin typeface="+mn-ea"/>
              </a:rPr>
              <a:t>TP,FP,TN,FN</a:t>
            </a:r>
            <a:r>
              <a:rPr lang="zh-CN" altLang="en-US" dirty="0" smtClean="0">
                <a:latin typeface="+mn-ea"/>
              </a:rPr>
              <a:t>表示对应</a:t>
            </a:r>
            <a:r>
              <a:rPr lang="zh-CN" altLang="en-US" dirty="0">
                <a:latin typeface="+mn-ea"/>
              </a:rPr>
              <a:t>的样例数</a:t>
            </a:r>
            <a:r>
              <a:rPr lang="zh-CN" altLang="en-US" dirty="0" smtClean="0">
                <a:latin typeface="+mn-ea"/>
              </a:rPr>
              <a:t>，可构建</a:t>
            </a:r>
            <a:endParaRPr lang="en-US" altLang="zh-CN" dirty="0" smtClean="0">
              <a:latin typeface="+mn-ea"/>
            </a:endParaRPr>
          </a:p>
          <a:p>
            <a:pPr lvl="2" hangingPunct="0"/>
            <a:endParaRPr lang="en-US" altLang="zh-CN" dirty="0">
              <a:latin typeface="+mn-ea"/>
            </a:endParaRPr>
          </a:p>
          <a:p>
            <a:pPr lvl="2" hangingPunct="0"/>
            <a:endParaRPr lang="en-US" altLang="zh-CN" dirty="0" smtClean="0">
              <a:latin typeface="+mn-ea"/>
            </a:endParaRPr>
          </a:p>
          <a:p>
            <a:pPr lvl="2" hangingPunct="0"/>
            <a:endParaRPr lang="en-US" altLang="zh-CN" dirty="0">
              <a:latin typeface="+mn-ea"/>
            </a:endParaRPr>
          </a:p>
          <a:p>
            <a:pPr lvl="2" hangingPunct="0"/>
            <a:endParaRPr lang="en-US" altLang="zh-CN" dirty="0" smtClean="0">
              <a:latin typeface="+mn-ea"/>
            </a:endParaRPr>
          </a:p>
          <a:p>
            <a:pPr lvl="2" hangingPunct="0"/>
            <a:endParaRPr lang="en-US" altLang="zh-CN" dirty="0">
              <a:latin typeface="+mn-ea"/>
            </a:endParaRPr>
          </a:p>
          <a:p>
            <a:pPr lvl="1" hangingPunct="0"/>
            <a:endParaRPr lang="en-US" altLang="zh-CN" dirty="0" smtClean="0">
              <a:latin typeface="+mn-ea"/>
            </a:endParaRPr>
          </a:p>
          <a:p>
            <a:pPr lvl="1" hangingPunct="0"/>
            <a:r>
              <a:rPr lang="zh-CN" altLang="en-US" dirty="0" smtClean="0">
                <a:latin typeface="+mn-ea"/>
              </a:rPr>
              <a:t>查准率              </a:t>
            </a:r>
            <a:endParaRPr lang="en-US" altLang="zh-CN" dirty="0" smtClean="0">
              <a:latin typeface="+mn-ea"/>
            </a:endParaRPr>
          </a:p>
          <a:p>
            <a:pPr lvl="1" hangingPunct="0"/>
            <a:endParaRPr lang="en-US" altLang="zh-CN" dirty="0" smtClean="0">
              <a:latin typeface="+mn-ea"/>
            </a:endParaRPr>
          </a:p>
          <a:p>
            <a:pPr lvl="1" hangingPunct="0"/>
            <a:r>
              <a:rPr lang="zh-CN" altLang="en-US" dirty="0" smtClean="0">
                <a:latin typeface="+mn-ea"/>
              </a:rPr>
              <a:t>查全率</a:t>
            </a:r>
            <a:endParaRPr lang="en-US" altLang="zh-CN" dirty="0" smtClean="0">
              <a:latin typeface="+mn-ea"/>
            </a:endParaRPr>
          </a:p>
          <a:p>
            <a:pPr lvl="1" hangingPunct="0"/>
            <a:endParaRPr lang="en-US" altLang="zh-CN" dirty="0">
              <a:latin typeface="+mn-ea"/>
            </a:endParaRPr>
          </a:p>
        </p:txBody>
      </p:sp>
      <p:pic>
        <p:nvPicPr>
          <p:cNvPr id="5" name="图片 4"/>
          <p:cNvPicPr>
            <a:picLocks noChangeAspect="1"/>
          </p:cNvPicPr>
          <p:nvPr/>
        </p:nvPicPr>
        <p:blipFill>
          <a:blip r:embed="rId1"/>
          <a:stretch>
            <a:fillRect/>
          </a:stretch>
        </p:blipFill>
        <p:spPr>
          <a:xfrm>
            <a:off x="2294812" y="2924944"/>
            <a:ext cx="5180255" cy="2124000"/>
          </a:xfrm>
          <a:prstGeom prst="rect">
            <a:avLst/>
          </a:prstGeom>
        </p:spPr>
      </p:pic>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6" name="对象 5"/>
          <p:cNvGraphicFramePr>
            <a:graphicFrameLocks noChangeAspect="1"/>
          </p:cNvGraphicFramePr>
          <p:nvPr/>
        </p:nvGraphicFramePr>
        <p:xfrm>
          <a:off x="2843808" y="5005164"/>
          <a:ext cx="1927225" cy="800100"/>
        </p:xfrm>
        <a:graphic>
          <a:graphicData uri="http://schemas.openxmlformats.org/presentationml/2006/ole">
            <mc:AlternateContent xmlns:mc="http://schemas.openxmlformats.org/markup-compatibility/2006">
              <mc:Choice xmlns:v="urn:schemas-microsoft-com:vml" Requires="v">
                <p:oleObj spid="_x0000_s6429" name="Equation" r:id="rId2" imgW="19812000" imgH="8229600" progId="Equation.DSMT4">
                  <p:embed/>
                </p:oleObj>
              </mc:Choice>
              <mc:Fallback>
                <p:oleObj name="Equation" r:id="rId2" imgW="19812000" imgH="8229600" progId="Equation.DSMT4">
                  <p:embed/>
                  <p:pic>
                    <p:nvPicPr>
                      <p:cNvPr id="0" name="图片 6428"/>
                      <p:cNvPicPr/>
                      <p:nvPr/>
                    </p:nvPicPr>
                    <p:blipFill>
                      <a:blip r:embed="rId3"/>
                      <a:stretch>
                        <a:fillRect/>
                      </a:stretch>
                    </p:blipFill>
                    <p:spPr>
                      <a:xfrm>
                        <a:off x="2843808" y="5005164"/>
                        <a:ext cx="1927225" cy="8001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843808" y="5861186"/>
          <a:ext cx="1985962" cy="800100"/>
        </p:xfrm>
        <a:graphic>
          <a:graphicData uri="http://schemas.openxmlformats.org/presentationml/2006/ole">
            <mc:AlternateContent xmlns:mc="http://schemas.openxmlformats.org/markup-compatibility/2006">
              <mc:Choice xmlns:v="urn:schemas-microsoft-com:vml" Requires="v">
                <p:oleObj spid="_x0000_s6430" name="Equation" r:id="rId4" imgW="20421600" imgH="8229600" progId="Equation.DSMT4">
                  <p:embed/>
                </p:oleObj>
              </mc:Choice>
              <mc:Fallback>
                <p:oleObj name="Equation" r:id="rId4" imgW="20421600" imgH="8229600" progId="Equation.DSMT4">
                  <p:embed/>
                  <p:pic>
                    <p:nvPicPr>
                      <p:cNvPr id="0" name="图片 6429"/>
                      <p:cNvPicPr/>
                      <p:nvPr/>
                    </p:nvPicPr>
                    <p:blipFill>
                      <a:blip r:embed="rId5"/>
                      <a:stretch>
                        <a:fillRect/>
                      </a:stretch>
                    </p:blipFill>
                    <p:spPr>
                      <a:xfrm>
                        <a:off x="2843808" y="5861186"/>
                        <a:ext cx="1985962" cy="800100"/>
                      </a:xfrm>
                      <a:prstGeom prst="rect">
                        <a:avLst/>
                      </a:prstGeom>
                    </p:spPr>
                  </p:pic>
                </p:oleObj>
              </mc:Fallback>
            </mc:AlternateContent>
          </a:graphicData>
        </a:graphic>
      </p:graphicFrame>
    </p:spTree>
  </p:cSld>
  <p:clrMapOvr>
    <a:masterClrMapping/>
  </p:clrMapOvr>
  <p:transition>
    <p:cover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683568" y="836712"/>
            <a:ext cx="7772400" cy="4824536"/>
          </a:xfrm>
        </p:spPr>
        <p:txBody>
          <a:bodyPr/>
          <a:lstStyle/>
          <a:p>
            <a:r>
              <a:rPr lang="en-US" altLang="zh-CN" dirty="0" smtClean="0">
                <a:latin typeface="+mn-ea"/>
              </a:rPr>
              <a:t>2.3.2 </a:t>
            </a:r>
            <a:r>
              <a:rPr lang="zh-CN" altLang="en-US" dirty="0" smtClean="0">
                <a:latin typeface="+mn-ea"/>
              </a:rPr>
              <a:t>查准率</a:t>
            </a:r>
            <a:r>
              <a:rPr lang="zh-CN" altLang="en-US" dirty="0">
                <a:latin typeface="+mn-ea"/>
              </a:rPr>
              <a:t>、</a:t>
            </a:r>
            <a:r>
              <a:rPr lang="zh-CN" altLang="en-US" dirty="0" smtClean="0">
                <a:latin typeface="+mn-ea"/>
              </a:rPr>
              <a:t>查全率</a:t>
            </a:r>
            <a:endParaRPr lang="en-US" altLang="zh-CN" dirty="0" smtClean="0">
              <a:latin typeface="+mn-ea"/>
            </a:endParaRPr>
          </a:p>
          <a:p>
            <a:pPr lvl="1" hangingPunct="0">
              <a:lnSpc>
                <a:spcPct val="100000"/>
              </a:lnSpc>
            </a:pPr>
            <a:r>
              <a:rPr lang="zh-CN" altLang="en-US" dirty="0" smtClean="0">
                <a:latin typeface="+mn-ea"/>
              </a:rPr>
              <a:t>查准率</a:t>
            </a:r>
            <a:r>
              <a:rPr lang="zh-CN" altLang="en-US" dirty="0">
                <a:latin typeface="+mn-ea"/>
              </a:rPr>
              <a:t>和查全率</a:t>
            </a:r>
            <a:r>
              <a:rPr lang="zh-CN" altLang="en-US" dirty="0" smtClean="0">
                <a:latin typeface="+mn-ea"/>
              </a:rPr>
              <a:t>是</a:t>
            </a:r>
            <a:r>
              <a:rPr lang="zh-CN" altLang="en-US" dirty="0">
                <a:latin typeface="+mn-ea"/>
              </a:rPr>
              <a:t>一对矛盾的度量</a:t>
            </a:r>
            <a:endParaRPr lang="en-US" altLang="zh-CN" dirty="0">
              <a:latin typeface="+mn-ea"/>
            </a:endParaRPr>
          </a:p>
          <a:p>
            <a:pPr lvl="2" hangingPunct="0">
              <a:lnSpc>
                <a:spcPct val="100000"/>
              </a:lnSpc>
            </a:pPr>
            <a:r>
              <a:rPr lang="zh-CN" altLang="en-US" dirty="0">
                <a:latin typeface="+mn-ea"/>
              </a:rPr>
              <a:t>查准率高时，查全率往往偏</a:t>
            </a:r>
            <a:r>
              <a:rPr lang="zh-CN" altLang="en-US" dirty="0" smtClean="0">
                <a:latin typeface="+mn-ea"/>
              </a:rPr>
              <a:t>低</a:t>
            </a:r>
            <a:endParaRPr lang="en-US" altLang="zh-CN" dirty="0" smtClean="0">
              <a:latin typeface="+mn-ea"/>
            </a:endParaRPr>
          </a:p>
          <a:p>
            <a:pPr lvl="3" hangingPunct="0"/>
            <a:r>
              <a:rPr lang="zh-CN" altLang="en-US" dirty="0" smtClean="0">
                <a:latin typeface="+mn-ea"/>
              </a:rPr>
              <a:t>如希望</a:t>
            </a:r>
            <a:r>
              <a:rPr lang="zh-CN" altLang="en-US" dirty="0">
                <a:latin typeface="+mn-ea"/>
              </a:rPr>
              <a:t>选出的瓜中好瓜比例尽可能高，则可只挑选最有把握的瓜，但这样就难免会漏掉不少好瓜，使得查全率</a:t>
            </a:r>
            <a:r>
              <a:rPr lang="zh-CN" altLang="en-US" dirty="0" smtClean="0">
                <a:latin typeface="+mn-ea"/>
              </a:rPr>
              <a:t>较低</a:t>
            </a:r>
            <a:endParaRPr lang="en-US" altLang="zh-CN" dirty="0">
              <a:latin typeface="+mn-ea"/>
            </a:endParaRPr>
          </a:p>
          <a:p>
            <a:pPr lvl="2" hangingPunct="0">
              <a:lnSpc>
                <a:spcPct val="100000"/>
              </a:lnSpc>
            </a:pPr>
            <a:r>
              <a:rPr lang="zh-CN" altLang="en-US" dirty="0" smtClean="0">
                <a:latin typeface="+mn-ea"/>
              </a:rPr>
              <a:t>查全率</a:t>
            </a:r>
            <a:r>
              <a:rPr lang="zh-CN" altLang="en-US" dirty="0">
                <a:latin typeface="+mn-ea"/>
              </a:rPr>
              <a:t>高时，查准率往往偏</a:t>
            </a:r>
            <a:r>
              <a:rPr lang="zh-CN" altLang="en-US" dirty="0" smtClean="0">
                <a:latin typeface="+mn-ea"/>
              </a:rPr>
              <a:t>低</a:t>
            </a:r>
            <a:endParaRPr lang="en-US" altLang="zh-CN" dirty="0" smtClean="0">
              <a:latin typeface="+mn-ea"/>
            </a:endParaRPr>
          </a:p>
          <a:p>
            <a:pPr lvl="3" hangingPunct="0"/>
            <a:r>
              <a:rPr lang="zh-CN" altLang="en-US" dirty="0" smtClean="0">
                <a:latin typeface="+mn-ea"/>
              </a:rPr>
              <a:t>如</a:t>
            </a:r>
            <a:r>
              <a:rPr lang="zh-CN" altLang="en-US" dirty="0">
                <a:latin typeface="+mn-ea"/>
              </a:rPr>
              <a:t>希望将好瓜尽可能多地选出来，则可通过增加选瓜的数量来实现，如果将所有西瓜都选上，那么所有的好瓜也必然都被选上了，但这样查准率就会较低</a:t>
            </a:r>
            <a:endParaRPr lang="en-US" altLang="zh-CN" dirty="0">
              <a:latin typeface="+mn-ea"/>
            </a:endParaRPr>
          </a:p>
          <a:p>
            <a:pPr lvl="2" hangingPunct="0"/>
            <a:r>
              <a:rPr lang="zh-CN" altLang="en-US" dirty="0" smtClean="0">
                <a:latin typeface="+mn-ea"/>
              </a:rPr>
              <a:t>有没有办法找到两者相对都高的模型</a:t>
            </a:r>
            <a:endParaRPr lang="en-US" altLang="zh-CN" dirty="0" smtClean="0">
              <a:latin typeface="+mn-ea"/>
            </a:endParaRPr>
          </a:p>
          <a:p>
            <a:pPr lvl="3" hangingPunct="0"/>
            <a:r>
              <a:rPr lang="en-US" altLang="zh-CN" dirty="0">
                <a:latin typeface="+mn-ea"/>
              </a:rPr>
              <a:t>P-R</a:t>
            </a:r>
            <a:r>
              <a:rPr lang="zh-CN" altLang="en-US" dirty="0">
                <a:latin typeface="+mn-ea"/>
              </a:rPr>
              <a:t>图、平衡点</a:t>
            </a:r>
            <a:r>
              <a:rPr lang="en-US" altLang="zh-CN" dirty="0">
                <a:latin typeface="+mn-ea"/>
              </a:rPr>
              <a:t>BEP</a:t>
            </a:r>
            <a:endParaRPr lang="en-US" altLang="zh-CN" dirty="0">
              <a:latin typeface="+mn-ea"/>
            </a:endParaRPr>
          </a:p>
          <a:p>
            <a:pPr lvl="2" hangingPunct="0"/>
            <a:endParaRPr lang="en-US" altLang="zh-CN"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spTree>
  </p:cSld>
  <p:clrMapOvr>
    <a:masterClrMapping/>
  </p:clrMapOvr>
  <p:transition>
    <p:cover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539552" y="970384"/>
            <a:ext cx="8064896" cy="4690864"/>
          </a:xfrm>
        </p:spPr>
        <p:txBody>
          <a:bodyPr/>
          <a:lstStyle/>
          <a:p>
            <a:r>
              <a:rPr lang="en-US" altLang="zh-CN" dirty="0" smtClean="0">
                <a:latin typeface="+mn-ea"/>
              </a:rPr>
              <a:t>2.3.2 </a:t>
            </a:r>
            <a:r>
              <a:rPr lang="zh-CN" altLang="en-US" dirty="0" smtClean="0">
                <a:latin typeface="+mn-ea"/>
              </a:rPr>
              <a:t>查准率</a:t>
            </a:r>
            <a:r>
              <a:rPr lang="zh-CN" altLang="en-US" dirty="0">
                <a:latin typeface="+mn-ea"/>
              </a:rPr>
              <a:t>、查全率</a:t>
            </a:r>
            <a:endParaRPr lang="en-US" altLang="zh-CN" dirty="0">
              <a:latin typeface="+mn-ea"/>
            </a:endParaRPr>
          </a:p>
          <a:p>
            <a:pPr lvl="1"/>
            <a:r>
              <a:rPr lang="en-US" altLang="zh-CN" dirty="0" smtClean="0">
                <a:latin typeface="+mn-ea"/>
              </a:rPr>
              <a:t>P-R</a:t>
            </a:r>
            <a:r>
              <a:rPr lang="zh-CN" altLang="en-US" dirty="0" smtClean="0">
                <a:latin typeface="+mn-ea"/>
              </a:rPr>
              <a:t>图、平衡点</a:t>
            </a:r>
            <a:r>
              <a:rPr lang="en-US" altLang="zh-CN" dirty="0" smtClean="0">
                <a:latin typeface="+mn-ea"/>
              </a:rPr>
              <a:t>BEP</a:t>
            </a:r>
            <a:endParaRPr lang="en-US" altLang="zh-CN" dirty="0" smtClean="0">
              <a:latin typeface="+mn-ea"/>
            </a:endParaRPr>
          </a:p>
          <a:p>
            <a:pPr lvl="2"/>
            <a:r>
              <a:rPr lang="zh-CN" altLang="en-US" dirty="0">
                <a:latin typeface="+mn-ea"/>
              </a:rPr>
              <a:t>根据学习器的预测结果按正例可能性大小对样</a:t>
            </a:r>
            <a:r>
              <a:rPr lang="zh-CN" altLang="en-US" dirty="0" smtClean="0">
                <a:latin typeface="+mn-ea"/>
              </a:rPr>
              <a:t>例进行</a:t>
            </a:r>
            <a:r>
              <a:rPr lang="zh-CN" altLang="en-US" dirty="0">
                <a:latin typeface="+mn-ea"/>
              </a:rPr>
              <a:t>排序，并逐个把样本作为正例进行</a:t>
            </a:r>
            <a:r>
              <a:rPr lang="zh-CN" altLang="en-US" dirty="0" smtClean="0">
                <a:latin typeface="+mn-ea"/>
              </a:rPr>
              <a:t>预测</a:t>
            </a:r>
            <a:endParaRPr lang="en-US" altLang="zh-CN" dirty="0" smtClean="0">
              <a:latin typeface="+mn-ea"/>
            </a:endParaRPr>
          </a:p>
          <a:p>
            <a:pPr lvl="2"/>
            <a:r>
              <a:rPr lang="zh-CN" altLang="en-US" dirty="0" smtClean="0">
                <a:latin typeface="+mn-ea"/>
              </a:rPr>
              <a:t>计算</a:t>
            </a:r>
            <a:r>
              <a:rPr lang="zh-CN" altLang="en-US" dirty="0">
                <a:latin typeface="+mn-ea"/>
              </a:rPr>
              <a:t>出当前的查全率、</a:t>
            </a:r>
            <a:r>
              <a:rPr lang="zh-CN" altLang="en-US" dirty="0" smtClean="0">
                <a:latin typeface="+mn-ea"/>
              </a:rPr>
              <a:t>查准率作图，简称</a:t>
            </a:r>
            <a:r>
              <a:rPr lang="en-US" altLang="zh-CN" dirty="0" smtClean="0">
                <a:latin typeface="+mn-ea"/>
              </a:rPr>
              <a:t>P-R</a:t>
            </a:r>
            <a:r>
              <a:rPr lang="zh-CN" altLang="en-US" dirty="0" smtClean="0">
                <a:latin typeface="+mn-ea"/>
              </a:rPr>
              <a:t>曲线</a:t>
            </a:r>
            <a:endParaRPr lang="en-US" altLang="zh-CN" dirty="0" smtClean="0">
              <a:latin typeface="+mn-ea"/>
            </a:endParaRPr>
          </a:p>
          <a:p>
            <a:pPr lvl="2"/>
            <a:r>
              <a:rPr lang="zh-CN" altLang="en-US" dirty="0" smtClean="0">
                <a:latin typeface="+mn-ea"/>
              </a:rPr>
              <a:t>查准率</a:t>
            </a:r>
            <a:r>
              <a:rPr lang="en-US" altLang="zh-CN" dirty="0" smtClean="0">
                <a:latin typeface="+mn-ea"/>
              </a:rPr>
              <a:t>=</a:t>
            </a:r>
            <a:r>
              <a:rPr lang="zh-CN" altLang="en-US" dirty="0" smtClean="0">
                <a:latin typeface="+mn-ea"/>
              </a:rPr>
              <a:t>查全率时，就是平衡点</a:t>
            </a:r>
            <a:r>
              <a:rPr lang="en-US" altLang="zh-CN" dirty="0" smtClean="0">
                <a:latin typeface="+mn-ea"/>
              </a:rPr>
              <a:t>(BEP)</a:t>
            </a:r>
            <a:endParaRPr lang="en-US" altLang="zh-CN" dirty="0" smtClean="0">
              <a:latin typeface="+mn-ea"/>
            </a:endParaRPr>
          </a:p>
          <a:p>
            <a:pPr lvl="3"/>
            <a:r>
              <a:rPr lang="zh-CN" altLang="en-US" dirty="0" smtClean="0">
                <a:latin typeface="+mn-ea"/>
              </a:rPr>
              <a:t>两者相对双高</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679207" y="3753376"/>
            <a:ext cx="3765001" cy="3060000"/>
          </a:xfrm>
          <a:prstGeom prst="rect">
            <a:avLst/>
          </a:prstGeom>
        </p:spPr>
      </p:pic>
      <p:graphicFrame>
        <p:nvGraphicFramePr>
          <p:cNvPr id="7" name="对象 6"/>
          <p:cNvGraphicFramePr>
            <a:graphicFrameLocks noChangeAspect="1"/>
          </p:cNvGraphicFramePr>
          <p:nvPr/>
        </p:nvGraphicFramePr>
        <p:xfrm>
          <a:off x="7026544" y="63020"/>
          <a:ext cx="1647572" cy="684000"/>
        </p:xfrm>
        <a:graphic>
          <a:graphicData uri="http://schemas.openxmlformats.org/presentationml/2006/ole">
            <mc:AlternateContent xmlns:mc="http://schemas.openxmlformats.org/markup-compatibility/2006">
              <mc:Choice xmlns:v="urn:schemas-microsoft-com:vml" Requires="v">
                <p:oleObj spid="_x0000_s22654" name="Equation" r:id="rId2" imgW="19812000" imgH="8229600" progId="Equation.DSMT4">
                  <p:embed/>
                </p:oleObj>
              </mc:Choice>
              <mc:Fallback>
                <p:oleObj name="Equation" r:id="rId2" imgW="19812000" imgH="8229600" progId="Equation.DSMT4">
                  <p:embed/>
                  <p:pic>
                    <p:nvPicPr>
                      <p:cNvPr id="0" name="图片 22653"/>
                      <p:cNvPicPr/>
                      <p:nvPr/>
                    </p:nvPicPr>
                    <p:blipFill>
                      <a:blip r:embed="rId3"/>
                      <a:stretch>
                        <a:fillRect/>
                      </a:stretch>
                    </p:blipFill>
                    <p:spPr>
                      <a:xfrm>
                        <a:off x="7026544" y="63020"/>
                        <a:ext cx="1647572" cy="684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7020274" y="783100"/>
          <a:ext cx="1697786" cy="684000"/>
        </p:xfrm>
        <a:graphic>
          <a:graphicData uri="http://schemas.openxmlformats.org/presentationml/2006/ole">
            <mc:AlternateContent xmlns:mc="http://schemas.openxmlformats.org/markup-compatibility/2006">
              <mc:Choice xmlns:v="urn:schemas-microsoft-com:vml" Requires="v">
                <p:oleObj spid="_x0000_s22655" name="Equation" r:id="rId4" imgW="20421600" imgH="8229600" progId="Equation.DSMT4">
                  <p:embed/>
                </p:oleObj>
              </mc:Choice>
              <mc:Fallback>
                <p:oleObj name="Equation" r:id="rId4" imgW="20421600" imgH="8229600" progId="Equation.DSMT4">
                  <p:embed/>
                  <p:pic>
                    <p:nvPicPr>
                      <p:cNvPr id="0" name="图片 22654"/>
                      <p:cNvPicPr/>
                      <p:nvPr/>
                    </p:nvPicPr>
                    <p:blipFill>
                      <a:blip r:embed="rId5"/>
                      <a:stretch>
                        <a:fillRect/>
                      </a:stretch>
                    </p:blipFill>
                    <p:spPr>
                      <a:xfrm>
                        <a:off x="7020274" y="783100"/>
                        <a:ext cx="1697786" cy="684000"/>
                      </a:xfrm>
                      <a:prstGeom prst="rect">
                        <a:avLst/>
                      </a:prstGeom>
                    </p:spPr>
                  </p:pic>
                </p:oleObj>
              </mc:Fallback>
            </mc:AlternateContent>
          </a:graphicData>
        </a:graphic>
      </p:graphicFrame>
    </p:spTree>
  </p:cSld>
  <p:clrMapOvr>
    <a:masterClrMapping/>
  </p:clrMapOvr>
  <p:transition>
    <p:cover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69544" y="4112242"/>
            <a:ext cx="3366352" cy="2736000"/>
          </a:xfrm>
          <a:prstGeom prst="rect">
            <a:avLst/>
          </a:prstGeom>
        </p:spPr>
      </p:pic>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539552" y="836712"/>
            <a:ext cx="8064896" cy="4690864"/>
          </a:xfrm>
        </p:spPr>
        <p:txBody>
          <a:bodyPr/>
          <a:lstStyle/>
          <a:p>
            <a:r>
              <a:rPr lang="en-US" altLang="zh-CN" dirty="0" smtClean="0">
                <a:latin typeface="+mn-ea"/>
              </a:rPr>
              <a:t>2.3.2 </a:t>
            </a:r>
            <a:r>
              <a:rPr lang="zh-CN" altLang="en-US" dirty="0" smtClean="0">
                <a:latin typeface="+mn-ea"/>
              </a:rPr>
              <a:t>查准率</a:t>
            </a:r>
            <a:r>
              <a:rPr lang="zh-CN" altLang="en-US" dirty="0">
                <a:latin typeface="+mn-ea"/>
              </a:rPr>
              <a:t>、查全率</a:t>
            </a:r>
            <a:endParaRPr lang="en-US" altLang="zh-CN" dirty="0">
              <a:latin typeface="+mn-ea"/>
            </a:endParaRPr>
          </a:p>
          <a:p>
            <a:pPr lvl="1"/>
            <a:r>
              <a:rPr lang="en-US" altLang="zh-CN" dirty="0" smtClean="0">
                <a:latin typeface="+mn-ea"/>
              </a:rPr>
              <a:t>P-R</a:t>
            </a:r>
            <a:r>
              <a:rPr lang="zh-CN" altLang="en-US" dirty="0" smtClean="0">
                <a:latin typeface="+mn-ea"/>
              </a:rPr>
              <a:t>图、平衡点</a:t>
            </a:r>
            <a:r>
              <a:rPr lang="en-US" altLang="zh-CN" dirty="0" smtClean="0">
                <a:latin typeface="+mn-ea"/>
              </a:rPr>
              <a:t>BEP</a:t>
            </a:r>
            <a:endParaRPr lang="en-US" altLang="zh-CN" dirty="0" smtClean="0">
              <a:latin typeface="+mn-ea"/>
            </a:endParaRPr>
          </a:p>
          <a:p>
            <a:pPr lvl="2"/>
            <a:r>
              <a:rPr lang="en-US" altLang="zh-CN" dirty="0" smtClean="0">
                <a:latin typeface="+mn-ea"/>
              </a:rPr>
              <a:t>P-R</a:t>
            </a:r>
            <a:r>
              <a:rPr lang="zh-CN" altLang="en-US" dirty="0" smtClean="0">
                <a:latin typeface="+mn-ea"/>
              </a:rPr>
              <a:t>图显示学习</a:t>
            </a:r>
            <a:r>
              <a:rPr lang="zh-CN" altLang="en-US" dirty="0">
                <a:latin typeface="+mn-ea"/>
              </a:rPr>
              <a:t>器在样本总体上的</a:t>
            </a:r>
            <a:r>
              <a:rPr lang="zh-CN" altLang="en-US" dirty="0" smtClean="0">
                <a:latin typeface="+mn-ea"/>
              </a:rPr>
              <a:t>查全率</a:t>
            </a:r>
            <a:r>
              <a:rPr lang="zh-CN" altLang="en-US" dirty="0">
                <a:latin typeface="+mn-ea"/>
              </a:rPr>
              <a:t>、</a:t>
            </a:r>
            <a:r>
              <a:rPr lang="zh-CN" altLang="en-US" dirty="0" smtClean="0">
                <a:latin typeface="+mn-ea"/>
              </a:rPr>
              <a:t>查准率</a:t>
            </a:r>
            <a:endParaRPr lang="en-US" altLang="zh-CN" dirty="0" smtClean="0">
              <a:latin typeface="+mn-ea"/>
            </a:endParaRPr>
          </a:p>
          <a:p>
            <a:pPr lvl="2"/>
            <a:r>
              <a:rPr lang="zh-CN" altLang="en-US" dirty="0" smtClean="0">
                <a:latin typeface="+mn-ea"/>
              </a:rPr>
              <a:t>一学习</a:t>
            </a:r>
            <a:r>
              <a:rPr lang="zh-CN" altLang="en-US" dirty="0">
                <a:latin typeface="+mn-ea"/>
              </a:rPr>
              <a:t>器的</a:t>
            </a:r>
            <a:r>
              <a:rPr lang="en-US" altLang="zh-CN" dirty="0" smtClean="0">
                <a:latin typeface="+mn-ea"/>
              </a:rPr>
              <a:t>P-R</a:t>
            </a:r>
            <a:r>
              <a:rPr lang="zh-CN" altLang="en-US" dirty="0">
                <a:latin typeface="+mn-ea"/>
              </a:rPr>
              <a:t>曲线被另</a:t>
            </a:r>
            <a:r>
              <a:rPr lang="zh-CN" altLang="en-US" dirty="0" smtClean="0">
                <a:latin typeface="+mn-ea"/>
              </a:rPr>
              <a:t>一学习</a:t>
            </a:r>
            <a:r>
              <a:rPr lang="zh-CN" altLang="en-US" dirty="0">
                <a:latin typeface="+mn-ea"/>
              </a:rPr>
              <a:t>器的曲线</a:t>
            </a:r>
            <a:r>
              <a:rPr lang="zh-CN" altLang="en-US" dirty="0" smtClean="0">
                <a:latin typeface="+mn-ea"/>
              </a:rPr>
              <a:t>完全包住</a:t>
            </a:r>
            <a:endParaRPr lang="en-US" altLang="zh-CN" dirty="0" smtClean="0">
              <a:latin typeface="+mn-ea"/>
            </a:endParaRPr>
          </a:p>
          <a:p>
            <a:pPr lvl="3"/>
            <a:r>
              <a:rPr lang="zh-CN" altLang="en-US" dirty="0" smtClean="0">
                <a:latin typeface="+mn-ea"/>
              </a:rPr>
              <a:t>可断言后者</a:t>
            </a:r>
            <a:r>
              <a:rPr lang="zh-CN" altLang="en-US" dirty="0">
                <a:latin typeface="+mn-ea"/>
              </a:rPr>
              <a:t>的性能优于</a:t>
            </a:r>
            <a:r>
              <a:rPr lang="zh-CN" altLang="en-US" dirty="0" smtClean="0">
                <a:latin typeface="+mn-ea"/>
              </a:rPr>
              <a:t>前者</a:t>
            </a:r>
            <a:endParaRPr lang="en-US" altLang="zh-CN" dirty="0" smtClean="0">
              <a:latin typeface="+mn-ea"/>
            </a:endParaRPr>
          </a:p>
          <a:p>
            <a:pPr lvl="2"/>
            <a:r>
              <a:rPr lang="zh-CN" altLang="en-US" dirty="0" smtClean="0">
                <a:latin typeface="+mn-ea"/>
              </a:rPr>
              <a:t>两学习</a:t>
            </a:r>
            <a:r>
              <a:rPr lang="zh-CN" altLang="en-US" dirty="0">
                <a:latin typeface="+mn-ea"/>
              </a:rPr>
              <a:t>器的</a:t>
            </a:r>
            <a:r>
              <a:rPr lang="en-US" altLang="zh-CN" dirty="0">
                <a:latin typeface="+mn-ea"/>
              </a:rPr>
              <a:t>P-R</a:t>
            </a:r>
            <a:r>
              <a:rPr lang="zh-CN" altLang="en-US" dirty="0" smtClean="0">
                <a:latin typeface="+mn-ea"/>
              </a:rPr>
              <a:t>曲线交叉</a:t>
            </a:r>
            <a:endParaRPr lang="en-US" altLang="zh-CN" dirty="0" smtClean="0">
              <a:latin typeface="+mn-ea"/>
            </a:endParaRPr>
          </a:p>
          <a:p>
            <a:pPr lvl="3"/>
            <a:r>
              <a:rPr lang="zh-CN" altLang="en-US" dirty="0" smtClean="0">
                <a:latin typeface="+mn-ea"/>
              </a:rPr>
              <a:t>难以</a:t>
            </a:r>
            <a:r>
              <a:rPr lang="zh-CN" altLang="en-US" dirty="0">
                <a:latin typeface="+mn-ea"/>
              </a:rPr>
              <a:t>一般性地</a:t>
            </a:r>
            <a:r>
              <a:rPr lang="zh-CN" altLang="en-US" dirty="0" smtClean="0">
                <a:latin typeface="+mn-ea"/>
              </a:rPr>
              <a:t>断言两者孰优孰劣</a:t>
            </a:r>
            <a:endParaRPr lang="en-US" altLang="zh-CN" dirty="0" smtClean="0">
              <a:latin typeface="+mn-ea"/>
            </a:endParaRPr>
          </a:p>
          <a:p>
            <a:pPr lvl="3"/>
            <a:r>
              <a:rPr lang="zh-CN" altLang="en-US" dirty="0">
                <a:latin typeface="+mn-ea"/>
              </a:rPr>
              <a:t>比较合理的</a:t>
            </a:r>
            <a:r>
              <a:rPr lang="zh-CN" altLang="en-US" dirty="0" smtClean="0">
                <a:latin typeface="+mn-ea"/>
              </a:rPr>
              <a:t>判据是</a:t>
            </a:r>
            <a:r>
              <a:rPr lang="zh-CN" altLang="en-US" dirty="0">
                <a:latin typeface="+mn-ea"/>
              </a:rPr>
              <a:t>比较</a:t>
            </a:r>
            <a:r>
              <a:rPr lang="en-US" altLang="zh-CN" dirty="0">
                <a:latin typeface="+mn-ea"/>
              </a:rPr>
              <a:t>P-R</a:t>
            </a:r>
            <a:r>
              <a:rPr lang="zh-CN" altLang="en-US" dirty="0">
                <a:latin typeface="+mn-ea"/>
              </a:rPr>
              <a:t>曲线下面积的</a:t>
            </a:r>
            <a:r>
              <a:rPr lang="zh-CN" altLang="en-US" dirty="0" smtClean="0">
                <a:latin typeface="+mn-ea"/>
              </a:rPr>
              <a:t>大小</a:t>
            </a:r>
            <a:endParaRPr lang="en-US" altLang="zh-CN" dirty="0" smtClean="0">
              <a:latin typeface="+mn-ea"/>
            </a:endParaRPr>
          </a:p>
          <a:p>
            <a:pPr lvl="4"/>
            <a:r>
              <a:rPr lang="zh-CN" altLang="en-US" dirty="0" smtClean="0">
                <a:latin typeface="+mn-ea"/>
              </a:rPr>
              <a:t>不易估算，设计综合查准率</a:t>
            </a:r>
            <a:r>
              <a:rPr lang="zh-CN" altLang="en-US" dirty="0">
                <a:latin typeface="+mn-ea"/>
              </a:rPr>
              <a:t>、查全率的性能</a:t>
            </a:r>
            <a:r>
              <a:rPr lang="zh-CN" altLang="en-US" dirty="0" smtClean="0">
                <a:latin typeface="+mn-ea"/>
              </a:rPr>
              <a:t>度量</a:t>
            </a:r>
            <a:endParaRPr lang="en-US" altLang="zh-CN" dirty="0" smtClean="0">
              <a:latin typeface="+mn-ea"/>
            </a:endParaRPr>
          </a:p>
          <a:p>
            <a:pPr lvl="5"/>
            <a:r>
              <a:rPr lang="zh-CN" altLang="en-US" dirty="0" smtClean="0">
                <a:latin typeface="+mn-ea"/>
              </a:rPr>
              <a:t>如平衡点</a:t>
            </a:r>
            <a:r>
              <a:rPr lang="en-US" altLang="zh-CN" dirty="0" smtClean="0">
                <a:latin typeface="+mn-ea"/>
              </a:rPr>
              <a:t>BEP</a:t>
            </a:r>
            <a:endParaRPr lang="en-US" altLang="zh-CN" dirty="0" smtClean="0">
              <a:latin typeface="+mn-ea"/>
            </a:endParaRPr>
          </a:p>
          <a:p>
            <a:pPr lvl="6">
              <a:spcBef>
                <a:spcPts val="0"/>
              </a:spcBef>
            </a:pPr>
            <a:r>
              <a:rPr lang="zh-CN" altLang="en-US" dirty="0" smtClean="0">
                <a:latin typeface="+mn-ea"/>
              </a:rPr>
              <a:t>过于简单</a:t>
            </a:r>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6" name="图片 5"/>
          <p:cNvPicPr>
            <a:picLocks noChangeAspect="1"/>
          </p:cNvPicPr>
          <p:nvPr/>
        </p:nvPicPr>
        <p:blipFill rotWithShape="1">
          <a:blip r:embed="rId2"/>
          <a:srcRect b="55005"/>
          <a:stretch>
            <a:fillRect/>
          </a:stretch>
        </p:blipFill>
        <p:spPr>
          <a:xfrm>
            <a:off x="3599038" y="5013176"/>
            <a:ext cx="2629146" cy="1527448"/>
          </a:xfrm>
          <a:prstGeom prst="rect">
            <a:avLst/>
          </a:prstGeom>
        </p:spPr>
      </p:pic>
      <p:pic>
        <p:nvPicPr>
          <p:cNvPr id="10" name="图片 9"/>
          <p:cNvPicPr>
            <a:picLocks noChangeAspect="1"/>
          </p:cNvPicPr>
          <p:nvPr/>
        </p:nvPicPr>
        <p:blipFill rotWithShape="1">
          <a:blip r:embed="rId2"/>
          <a:srcRect t="56423"/>
          <a:stretch>
            <a:fillRect/>
          </a:stretch>
        </p:blipFill>
        <p:spPr>
          <a:xfrm>
            <a:off x="6341232" y="5028456"/>
            <a:ext cx="2623256" cy="1476000"/>
          </a:xfrm>
          <a:prstGeom prst="rect">
            <a:avLst/>
          </a:prstGeom>
        </p:spPr>
      </p:pic>
    </p:spTree>
  </p:cSld>
  <p:clrMapOvr>
    <a:masterClrMapping/>
  </p:clrMapOvr>
  <p:transition>
    <p:cover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p:txBody>
          <a:bodyPr/>
          <a:lstStyle/>
          <a:p>
            <a:r>
              <a:rPr lang="en-US" altLang="zh-CN" dirty="0" smtClean="0">
                <a:latin typeface="+mn-ea"/>
              </a:rPr>
              <a:t>2.3.2 </a:t>
            </a:r>
            <a:r>
              <a:rPr lang="zh-CN" altLang="en-US" dirty="0" smtClean="0">
                <a:latin typeface="+mn-ea"/>
              </a:rPr>
              <a:t>查准率</a:t>
            </a:r>
            <a:r>
              <a:rPr lang="zh-CN" altLang="en-US" dirty="0">
                <a:latin typeface="+mn-ea"/>
              </a:rPr>
              <a:t>、</a:t>
            </a:r>
            <a:r>
              <a:rPr lang="zh-CN" altLang="en-US" dirty="0" smtClean="0">
                <a:latin typeface="+mn-ea"/>
              </a:rPr>
              <a:t>查全率</a:t>
            </a:r>
            <a:endParaRPr lang="en-US" altLang="zh-CN" dirty="0" smtClean="0">
              <a:latin typeface="+mn-ea"/>
            </a:endParaRPr>
          </a:p>
          <a:p>
            <a:pPr lvl="1"/>
            <a:r>
              <a:rPr lang="en-US" altLang="zh-CN" dirty="0" smtClean="0">
                <a:latin typeface="+mn-ea"/>
              </a:rPr>
              <a:t>F1</a:t>
            </a:r>
            <a:r>
              <a:rPr lang="zh-CN" altLang="en-US" dirty="0" smtClean="0">
                <a:latin typeface="+mn-ea"/>
              </a:rPr>
              <a:t>度量</a:t>
            </a:r>
            <a:endParaRPr lang="en-US" altLang="zh-CN" dirty="0" smtClean="0">
              <a:latin typeface="+mn-ea"/>
            </a:endParaRPr>
          </a:p>
          <a:p>
            <a:pPr lvl="2"/>
            <a:r>
              <a:rPr lang="en-US" altLang="zh-CN" dirty="0">
                <a:latin typeface="+mn-ea"/>
              </a:rPr>
              <a:t>BEP</a:t>
            </a:r>
            <a:r>
              <a:rPr lang="zh-CN" altLang="en-US" dirty="0">
                <a:latin typeface="+mn-ea"/>
              </a:rPr>
              <a:t>还是过于简化</a:t>
            </a:r>
            <a:r>
              <a:rPr lang="zh-CN" altLang="en-US" dirty="0" smtClean="0">
                <a:latin typeface="+mn-ea"/>
              </a:rPr>
              <a:t>，常用</a:t>
            </a:r>
            <a:r>
              <a:rPr lang="zh-CN" altLang="en-US" dirty="0">
                <a:latin typeface="+mn-ea"/>
              </a:rPr>
              <a:t>的是</a:t>
            </a:r>
            <a:r>
              <a:rPr lang="en-US" altLang="zh-CN" dirty="0">
                <a:latin typeface="+mn-ea"/>
              </a:rPr>
              <a:t>F1</a:t>
            </a:r>
            <a:r>
              <a:rPr lang="zh-CN" altLang="en-US" dirty="0">
                <a:latin typeface="+mn-ea"/>
              </a:rPr>
              <a:t>度量</a:t>
            </a:r>
            <a:endParaRPr lang="en-US" altLang="zh-CN" dirty="0" smtClean="0">
              <a:latin typeface="+mn-ea"/>
            </a:endParaRPr>
          </a:p>
          <a:p>
            <a:pPr lvl="2"/>
            <a:r>
              <a:rPr lang="zh-CN" altLang="en-US" dirty="0" smtClean="0"/>
              <a:t>是基于</a:t>
            </a:r>
            <a:r>
              <a:rPr lang="zh-CN" altLang="en-US" dirty="0"/>
              <a:t>查准率与查全率的</a:t>
            </a:r>
            <a:r>
              <a:rPr lang="zh-CN" altLang="en-US" dirty="0" smtClean="0"/>
              <a:t>调和平均</a:t>
            </a:r>
            <a:endParaRPr lang="en-US" altLang="zh-CN" dirty="0" smtClean="0"/>
          </a:p>
          <a:p>
            <a:pPr lvl="2"/>
            <a:endParaRPr lang="en-US" altLang="zh-CN" dirty="0" smtClean="0"/>
          </a:p>
          <a:p>
            <a:pPr lvl="2"/>
            <a:endParaRPr lang="en-US" altLang="zh-CN" dirty="0"/>
          </a:p>
          <a:p>
            <a:pPr lvl="3"/>
            <a:r>
              <a:rPr lang="zh-CN" altLang="en-US" dirty="0"/>
              <a:t>更重视小值</a:t>
            </a:r>
            <a:endParaRPr lang="en-US" altLang="zh-CN" dirty="0" smtClean="0"/>
          </a:p>
          <a:p>
            <a:pPr lvl="2"/>
            <a:r>
              <a:rPr lang="zh-CN" altLang="en-US" dirty="0"/>
              <a:t>若对</a:t>
            </a:r>
            <a:r>
              <a:rPr lang="zh-CN" altLang="en-US" dirty="0" smtClean="0"/>
              <a:t>查准率、查全率重视程度不同，有</a:t>
            </a:r>
            <a:r>
              <a:rPr lang="zh-CN" altLang="en-US" dirty="0"/>
              <a:t>不同</a:t>
            </a:r>
            <a:r>
              <a:rPr lang="zh-CN" altLang="en-US" dirty="0" smtClean="0"/>
              <a:t>偏好，定义</a:t>
            </a:r>
            <a:r>
              <a:rPr lang="en-US" altLang="zh-CN" dirty="0" smtClean="0">
                <a:latin typeface="+mn-ea"/>
              </a:rPr>
              <a:t>F1</a:t>
            </a:r>
            <a:r>
              <a:rPr lang="zh-CN" altLang="en-US" dirty="0" smtClean="0">
                <a:latin typeface="+mn-ea"/>
              </a:rPr>
              <a:t>的一般形式，加权</a:t>
            </a:r>
            <a:r>
              <a:rPr lang="zh-CN" altLang="en-US" dirty="0"/>
              <a:t>调和平均</a:t>
            </a:r>
            <a:endParaRPr lang="en-US" altLang="zh-CN" dirty="0"/>
          </a:p>
          <a:p>
            <a:pPr lvl="2">
              <a:spcBef>
                <a:spcPts val="600"/>
              </a:spcBef>
            </a:pPr>
            <a:endParaRPr lang="en-US" altLang="zh-CN" dirty="0"/>
          </a:p>
          <a:p>
            <a:pPr lvl="2">
              <a:spcBef>
                <a:spcPts val="600"/>
              </a:spcBef>
            </a:pPr>
            <a:endParaRPr lang="en-US" altLang="zh-CN" dirty="0" smtClean="0"/>
          </a:p>
          <a:p>
            <a:pPr lvl="3">
              <a:spcBef>
                <a:spcPts val="600"/>
              </a:spcBef>
            </a:pPr>
            <a:r>
              <a:rPr lang="zh-CN" altLang="en-US" dirty="0" smtClean="0"/>
              <a:t>        时查全率有更大影响，       时查准率有更大影响</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394488" y="2675822"/>
          <a:ext cx="4311650" cy="706438"/>
        </p:xfrm>
        <a:graphic>
          <a:graphicData uri="http://schemas.openxmlformats.org/presentationml/2006/ole">
            <mc:AlternateContent xmlns:mc="http://schemas.openxmlformats.org/markup-compatibility/2006">
              <mc:Choice xmlns:v="urn:schemas-microsoft-com:vml" Requires="v">
                <p:oleObj spid="_x0000_s7711" name="Equation" r:id="rId1" imgW="53949600" imgH="8839200" progId="Equation.DSMT4">
                  <p:embed/>
                </p:oleObj>
              </mc:Choice>
              <mc:Fallback>
                <p:oleObj name="Equation" r:id="rId1" imgW="53949600" imgH="8839200" progId="Equation.DSMT4">
                  <p:embed/>
                  <p:pic>
                    <p:nvPicPr>
                      <p:cNvPr id="0" name="图片 7710"/>
                      <p:cNvPicPr/>
                      <p:nvPr/>
                    </p:nvPicPr>
                    <p:blipFill>
                      <a:blip r:embed="rId2"/>
                      <a:stretch>
                        <a:fillRect/>
                      </a:stretch>
                    </p:blipFill>
                    <p:spPr>
                      <a:xfrm>
                        <a:off x="2394488" y="2675822"/>
                        <a:ext cx="4311650" cy="706438"/>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131840" y="4487049"/>
          <a:ext cx="2460625" cy="828675"/>
        </p:xfrm>
        <a:graphic>
          <a:graphicData uri="http://schemas.openxmlformats.org/presentationml/2006/ole">
            <mc:AlternateContent xmlns:mc="http://schemas.openxmlformats.org/markup-compatibility/2006">
              <mc:Choice xmlns:v="urn:schemas-microsoft-com:vml" Requires="v">
                <p:oleObj spid="_x0000_s7712" name="Equation" r:id="rId3" imgW="30784800" imgH="10363200" progId="Equation.DSMT4">
                  <p:embed/>
                </p:oleObj>
              </mc:Choice>
              <mc:Fallback>
                <p:oleObj name="Equation" r:id="rId3" imgW="30784800" imgH="10363200" progId="Equation.DSMT4">
                  <p:embed/>
                  <p:pic>
                    <p:nvPicPr>
                      <p:cNvPr id="0" name="图片 7711"/>
                      <p:cNvPicPr/>
                      <p:nvPr/>
                    </p:nvPicPr>
                    <p:blipFill>
                      <a:blip r:embed="rId4"/>
                      <a:stretch>
                        <a:fillRect/>
                      </a:stretch>
                    </p:blipFill>
                    <p:spPr>
                      <a:xfrm>
                        <a:off x="3131840" y="4487049"/>
                        <a:ext cx="2460625" cy="82867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339753" y="5373256"/>
          <a:ext cx="630367" cy="360000"/>
        </p:xfrm>
        <a:graphic>
          <a:graphicData uri="http://schemas.openxmlformats.org/presentationml/2006/ole">
            <mc:AlternateContent xmlns:mc="http://schemas.openxmlformats.org/markup-compatibility/2006">
              <mc:Choice xmlns:v="urn:schemas-microsoft-com:vml" Requires="v">
                <p:oleObj spid="_x0000_s7713" name="Equation" r:id="rId5" imgW="8534400" imgH="4876800" progId="Equation.DSMT4">
                  <p:embed/>
                </p:oleObj>
              </mc:Choice>
              <mc:Fallback>
                <p:oleObj name="Equation" r:id="rId5" imgW="8534400" imgH="4876800" progId="Equation.DSMT4">
                  <p:embed/>
                  <p:pic>
                    <p:nvPicPr>
                      <p:cNvPr id="0" name="图片 7712"/>
                      <p:cNvPicPr/>
                      <p:nvPr/>
                    </p:nvPicPr>
                    <p:blipFill>
                      <a:blip r:embed="rId6"/>
                      <a:stretch>
                        <a:fillRect/>
                      </a:stretch>
                    </p:blipFill>
                    <p:spPr>
                      <a:xfrm>
                        <a:off x="2339753" y="5373256"/>
                        <a:ext cx="630367" cy="360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453801" y="5371594"/>
          <a:ext cx="630367" cy="360000"/>
        </p:xfrm>
        <a:graphic>
          <a:graphicData uri="http://schemas.openxmlformats.org/presentationml/2006/ole">
            <mc:AlternateContent xmlns:mc="http://schemas.openxmlformats.org/markup-compatibility/2006">
              <mc:Choice xmlns:v="urn:schemas-microsoft-com:vml" Requires="v">
                <p:oleObj spid="_x0000_s7714" name="Equation" r:id="rId7" imgW="8534400" imgH="4876800" progId="Equation.DSMT4">
                  <p:embed/>
                </p:oleObj>
              </mc:Choice>
              <mc:Fallback>
                <p:oleObj name="Equation" r:id="rId7" imgW="8534400" imgH="4876800" progId="Equation.DSMT4">
                  <p:embed/>
                  <p:pic>
                    <p:nvPicPr>
                      <p:cNvPr id="0" name="图片 7713"/>
                      <p:cNvPicPr/>
                      <p:nvPr/>
                    </p:nvPicPr>
                    <p:blipFill>
                      <a:blip r:embed="rId8"/>
                      <a:stretch>
                        <a:fillRect/>
                      </a:stretch>
                    </p:blipFill>
                    <p:spPr>
                      <a:xfrm>
                        <a:off x="5453801" y="5371594"/>
                        <a:ext cx="630367" cy="360000"/>
                      </a:xfrm>
                      <a:prstGeom prst="rect">
                        <a:avLst/>
                      </a:prstGeom>
                    </p:spPr>
                  </p:pic>
                </p:oleObj>
              </mc:Fallback>
            </mc:AlternateContent>
          </a:graphicData>
        </a:graphic>
      </p:graphicFrame>
    </p:spTree>
  </p:cSld>
  <p:clrMapOvr>
    <a:masterClrMapping/>
  </p:clrMapOvr>
  <p:transition>
    <p:cover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p:txBody>
          <a:bodyPr/>
          <a:lstStyle/>
          <a:p>
            <a:r>
              <a:rPr lang="en-US" altLang="zh-CN" dirty="0" smtClean="0">
                <a:latin typeface="+mn-ea"/>
              </a:rPr>
              <a:t>2.3.2 </a:t>
            </a:r>
            <a:r>
              <a:rPr lang="zh-CN" altLang="en-US" dirty="0" smtClean="0">
                <a:latin typeface="+mn-ea"/>
              </a:rPr>
              <a:t>查准率</a:t>
            </a:r>
            <a:r>
              <a:rPr lang="zh-CN" altLang="en-US" dirty="0">
                <a:latin typeface="+mn-ea"/>
              </a:rPr>
              <a:t>、查全率</a:t>
            </a:r>
            <a:endParaRPr lang="en-US" altLang="zh-CN" dirty="0">
              <a:latin typeface="+mn-ea"/>
            </a:endParaRPr>
          </a:p>
          <a:p>
            <a:pPr lvl="1"/>
            <a:r>
              <a:rPr lang="zh-CN" altLang="en-US" dirty="0" smtClean="0">
                <a:latin typeface="+mn-ea"/>
              </a:rPr>
              <a:t>宏</a:t>
            </a:r>
            <a:r>
              <a:rPr lang="zh-CN" altLang="en-US" dirty="0">
                <a:latin typeface="+mn-ea"/>
              </a:rPr>
              <a:t>与微</a:t>
            </a:r>
            <a:r>
              <a:rPr lang="zh-CN" altLang="en-US" dirty="0" smtClean="0">
                <a:latin typeface="+mn-ea"/>
              </a:rPr>
              <a:t>查准率</a:t>
            </a:r>
            <a:r>
              <a:rPr lang="zh-CN" altLang="en-US" dirty="0">
                <a:latin typeface="+mn-ea"/>
              </a:rPr>
              <a:t>、查全率</a:t>
            </a:r>
            <a:r>
              <a:rPr lang="zh-CN" altLang="en-US" dirty="0" smtClean="0">
                <a:latin typeface="+mn-ea"/>
              </a:rPr>
              <a:t>、</a:t>
            </a:r>
            <a:r>
              <a:rPr lang="en-US" altLang="zh-CN" dirty="0" smtClean="0">
                <a:latin typeface="+mn-ea"/>
              </a:rPr>
              <a:t>F1</a:t>
            </a:r>
            <a:endParaRPr lang="en-US" altLang="zh-CN" dirty="0">
              <a:latin typeface="+mn-ea"/>
            </a:endParaRPr>
          </a:p>
          <a:p>
            <a:pPr lvl="2"/>
            <a:r>
              <a:rPr lang="zh-CN" altLang="en-US" dirty="0" smtClean="0"/>
              <a:t>有时有</a:t>
            </a:r>
            <a:r>
              <a:rPr lang="zh-CN" altLang="en-US" dirty="0"/>
              <a:t>多个二分类混淆</a:t>
            </a:r>
            <a:r>
              <a:rPr lang="zh-CN" altLang="en-US" dirty="0" smtClean="0"/>
              <a:t>矩阵，如多次</a:t>
            </a:r>
            <a:r>
              <a:rPr lang="zh-CN" altLang="en-US" dirty="0"/>
              <a:t>训练测试</a:t>
            </a:r>
            <a:r>
              <a:rPr lang="zh-CN" altLang="en-US" dirty="0" smtClean="0"/>
              <a:t>、或多分类，得到多</a:t>
            </a:r>
            <a:r>
              <a:rPr lang="zh-CN" altLang="en-US" dirty="0"/>
              <a:t>个混淆</a:t>
            </a:r>
            <a:r>
              <a:rPr lang="zh-CN" altLang="en-US" dirty="0" smtClean="0"/>
              <a:t>矩阵</a:t>
            </a:r>
            <a:endParaRPr lang="en-US" altLang="zh-CN" dirty="0" smtClean="0"/>
          </a:p>
          <a:p>
            <a:pPr lvl="3"/>
            <a:r>
              <a:rPr lang="zh-CN" altLang="en-US" dirty="0" smtClean="0"/>
              <a:t>如何估计算法的全局性能</a:t>
            </a:r>
            <a:endParaRPr lang="en-US" altLang="zh-CN" dirty="0" smtClean="0"/>
          </a:p>
          <a:p>
            <a:pPr lvl="2"/>
            <a:r>
              <a:rPr lang="zh-CN" altLang="en-US" dirty="0" smtClean="0"/>
              <a:t>两种方法</a:t>
            </a:r>
            <a:endParaRPr lang="en-US" altLang="zh-CN" dirty="0"/>
          </a:p>
          <a:p>
            <a:pPr lvl="3"/>
            <a:r>
              <a:rPr lang="zh-CN" altLang="en-US" dirty="0" smtClean="0"/>
              <a:t>宏方法：先</a:t>
            </a:r>
            <a:r>
              <a:rPr lang="zh-CN" altLang="en-US" dirty="0"/>
              <a:t>在各混淆矩阵上分别</a:t>
            </a:r>
            <a:r>
              <a:rPr lang="zh-CN" altLang="en-US" dirty="0" smtClean="0"/>
              <a:t>计算，再</a:t>
            </a:r>
            <a:r>
              <a:rPr lang="zh-CN" altLang="en-US" dirty="0"/>
              <a:t>计算</a:t>
            </a:r>
            <a:r>
              <a:rPr lang="zh-CN" altLang="en-US" dirty="0" smtClean="0"/>
              <a:t>平均值</a:t>
            </a:r>
            <a:endParaRPr lang="en-US" altLang="zh-CN" dirty="0" smtClean="0"/>
          </a:p>
          <a:p>
            <a:pPr lvl="5"/>
            <a:endParaRPr lang="en-US" altLang="zh-CN" dirty="0"/>
          </a:p>
          <a:p>
            <a:pPr lvl="5"/>
            <a:endParaRPr lang="en-US" altLang="zh-CN" dirty="0" smtClean="0"/>
          </a:p>
          <a:p>
            <a:pPr lvl="5">
              <a:spcBef>
                <a:spcPts val="0"/>
              </a:spcBef>
            </a:pPr>
            <a:endParaRPr lang="en-US" altLang="zh-CN" dirty="0"/>
          </a:p>
          <a:p>
            <a:pPr lvl="5"/>
            <a:endParaRPr lang="en-US" altLang="zh-CN" dirty="0" smtClean="0"/>
          </a:p>
          <a:p>
            <a:pPr lvl="3"/>
            <a:r>
              <a:rPr lang="zh-CN" altLang="en-US" dirty="0" smtClean="0"/>
              <a:t>微方法：将</a:t>
            </a:r>
            <a:r>
              <a:rPr lang="zh-CN" altLang="en-US" dirty="0"/>
              <a:t>各混淆</a:t>
            </a:r>
            <a:r>
              <a:rPr lang="zh-CN" altLang="en-US" dirty="0" smtClean="0"/>
              <a:t>矩阵对应元素平均，再对均值计算</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690812" y="3573016"/>
          <a:ext cx="5043488" cy="1462088"/>
        </p:xfrm>
        <a:graphic>
          <a:graphicData uri="http://schemas.openxmlformats.org/presentationml/2006/ole">
            <mc:AlternateContent xmlns:mc="http://schemas.openxmlformats.org/markup-compatibility/2006">
              <mc:Choice xmlns:v="urn:schemas-microsoft-com:vml" Requires="v">
                <p:oleObj spid="_x0000_s8455" name="Equation" r:id="rId1" imgW="63093600" imgH="18288000" progId="Equation.DSMT4">
                  <p:embed/>
                </p:oleObj>
              </mc:Choice>
              <mc:Fallback>
                <p:oleObj name="Equation" r:id="rId1" imgW="63093600" imgH="18288000" progId="Equation.DSMT4">
                  <p:embed/>
                  <p:pic>
                    <p:nvPicPr>
                      <p:cNvPr id="0" name="图片 8454"/>
                      <p:cNvPicPr/>
                      <p:nvPr/>
                    </p:nvPicPr>
                    <p:blipFill>
                      <a:blip r:embed="rId2"/>
                      <a:stretch>
                        <a:fillRect/>
                      </a:stretch>
                    </p:blipFill>
                    <p:spPr>
                      <a:xfrm>
                        <a:off x="2690812" y="3573016"/>
                        <a:ext cx="5043488" cy="1462088"/>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627784" y="5301208"/>
          <a:ext cx="5024519" cy="1476000"/>
        </p:xfrm>
        <a:graphic>
          <a:graphicData uri="http://schemas.openxmlformats.org/presentationml/2006/ole">
            <mc:AlternateContent xmlns:mc="http://schemas.openxmlformats.org/markup-compatibility/2006">
              <mc:Choice xmlns:v="urn:schemas-microsoft-com:vml" Requires="v">
                <p:oleObj spid="_x0000_s8456" name="Equation" r:id="rId3" imgW="64312800" imgH="18897600" progId="Equation.DSMT4">
                  <p:embed/>
                </p:oleObj>
              </mc:Choice>
              <mc:Fallback>
                <p:oleObj name="Equation" r:id="rId3" imgW="64312800" imgH="18897600" progId="Equation.DSMT4">
                  <p:embed/>
                  <p:pic>
                    <p:nvPicPr>
                      <p:cNvPr id="0" name="图片 8455"/>
                      <p:cNvPicPr/>
                      <p:nvPr/>
                    </p:nvPicPr>
                    <p:blipFill>
                      <a:blip r:embed="rId4"/>
                      <a:stretch>
                        <a:fillRect/>
                      </a:stretch>
                    </p:blipFill>
                    <p:spPr>
                      <a:xfrm>
                        <a:off x="2627784" y="5301208"/>
                        <a:ext cx="5024519" cy="1476000"/>
                      </a:xfrm>
                      <a:prstGeom prst="rect">
                        <a:avLst/>
                      </a:prstGeom>
                    </p:spPr>
                  </p:pic>
                </p:oleObj>
              </mc:Fallback>
            </mc:AlternateContent>
          </a:graphicData>
        </a:graphic>
      </p:graphicFrame>
    </p:spTree>
  </p:cSld>
  <p:clrMapOvr>
    <a:masterClrMapping/>
  </p:clrMapOvr>
  <p:transition>
    <p:cover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467544" y="898376"/>
            <a:ext cx="7772400" cy="4690864"/>
          </a:xfrm>
        </p:spPr>
        <p:txBody>
          <a:bodyPr/>
          <a:lstStyle/>
          <a:p>
            <a:r>
              <a:rPr lang="en-US" altLang="zh-CN" dirty="0" smtClean="0">
                <a:latin typeface="+mn-ea"/>
              </a:rPr>
              <a:t>2.3.3 ROC(</a:t>
            </a:r>
            <a:r>
              <a:rPr lang="zh-CN" altLang="en-US" dirty="0">
                <a:latin typeface="+mn-ea"/>
              </a:rPr>
              <a:t>受试者工作特征</a:t>
            </a:r>
            <a:r>
              <a:rPr lang="en-US" altLang="zh-CN" dirty="0" smtClean="0">
                <a:latin typeface="+mn-ea"/>
              </a:rPr>
              <a:t>)</a:t>
            </a:r>
            <a:r>
              <a:rPr lang="zh-CN" altLang="en-US" dirty="0" smtClean="0">
                <a:latin typeface="+mn-ea"/>
              </a:rPr>
              <a:t>、</a:t>
            </a:r>
            <a:r>
              <a:rPr lang="en-US" altLang="zh-CN" dirty="0" smtClean="0">
                <a:latin typeface="+mn-ea"/>
              </a:rPr>
              <a:t>AUC</a:t>
            </a:r>
            <a:endParaRPr lang="en-US" altLang="zh-CN" dirty="0" smtClean="0">
              <a:latin typeface="+mn-ea"/>
            </a:endParaRPr>
          </a:p>
          <a:p>
            <a:pPr lvl="1"/>
            <a:r>
              <a:rPr lang="zh-CN" altLang="en-US" dirty="0" smtClean="0">
                <a:latin typeface="+mn-ea"/>
              </a:rPr>
              <a:t>很多</a:t>
            </a:r>
            <a:r>
              <a:rPr lang="zh-CN" altLang="en-US" dirty="0">
                <a:latin typeface="+mn-ea"/>
              </a:rPr>
              <a:t>学习</a:t>
            </a:r>
            <a:r>
              <a:rPr lang="zh-CN" altLang="en-US" dirty="0" smtClean="0">
                <a:latin typeface="+mn-ea"/>
              </a:rPr>
              <a:t>器产生实</a:t>
            </a:r>
            <a:r>
              <a:rPr lang="zh-CN" altLang="en-US" dirty="0">
                <a:latin typeface="+mn-ea"/>
              </a:rPr>
              <a:t>值或概率预测</a:t>
            </a:r>
            <a:r>
              <a:rPr lang="zh-CN" altLang="en-US" dirty="0" smtClean="0">
                <a:latin typeface="+mn-ea"/>
              </a:rPr>
              <a:t>，然后将预测</a:t>
            </a:r>
            <a:r>
              <a:rPr lang="zh-CN" altLang="en-US" dirty="0">
                <a:latin typeface="+mn-ea"/>
              </a:rPr>
              <a:t>值</a:t>
            </a:r>
            <a:r>
              <a:rPr lang="zh-CN" altLang="en-US" dirty="0" smtClean="0">
                <a:latin typeface="+mn-ea"/>
              </a:rPr>
              <a:t>与分类阈值比较分类</a:t>
            </a:r>
            <a:endParaRPr lang="en-US" altLang="zh-CN" dirty="0" smtClean="0">
              <a:latin typeface="+mn-ea"/>
            </a:endParaRPr>
          </a:p>
          <a:p>
            <a:pPr lvl="2"/>
            <a:r>
              <a:rPr lang="zh-CN" altLang="en-US" dirty="0">
                <a:latin typeface="+mn-ea"/>
              </a:rPr>
              <a:t>这个实值或概率预测结果的好坏，直接决定了学习器的泛化能力</a:t>
            </a:r>
            <a:endParaRPr lang="en-US" altLang="zh-CN" dirty="0">
              <a:latin typeface="+mn-ea"/>
            </a:endParaRPr>
          </a:p>
          <a:p>
            <a:pPr lvl="2"/>
            <a:r>
              <a:rPr lang="zh-CN" altLang="en-US" dirty="0" smtClean="0">
                <a:latin typeface="+mn-ea"/>
              </a:rPr>
              <a:t>可</a:t>
            </a:r>
            <a:r>
              <a:rPr lang="zh-CN" altLang="en-US" dirty="0">
                <a:latin typeface="+mn-ea"/>
              </a:rPr>
              <a:t>将测试样本进行</a:t>
            </a:r>
            <a:r>
              <a:rPr lang="zh-CN" altLang="en-US" dirty="0" smtClean="0">
                <a:latin typeface="+mn-ea"/>
              </a:rPr>
              <a:t>排序</a:t>
            </a:r>
            <a:endParaRPr lang="en-US" altLang="zh-CN" dirty="0" smtClean="0">
              <a:latin typeface="+mn-ea"/>
            </a:endParaRPr>
          </a:p>
          <a:p>
            <a:pPr lvl="3"/>
            <a:r>
              <a:rPr lang="zh-CN" altLang="en-US" dirty="0" smtClean="0">
                <a:latin typeface="+mn-ea"/>
              </a:rPr>
              <a:t>最可能是</a:t>
            </a:r>
            <a:r>
              <a:rPr lang="zh-CN" altLang="en-US" dirty="0">
                <a:latin typeface="+mn-ea"/>
              </a:rPr>
              <a:t>正例的排</a:t>
            </a:r>
            <a:r>
              <a:rPr lang="zh-CN" altLang="en-US" dirty="0" smtClean="0">
                <a:latin typeface="+mn-ea"/>
              </a:rPr>
              <a:t>在最前面，最不可能是</a:t>
            </a:r>
            <a:r>
              <a:rPr lang="zh-CN" altLang="en-US" dirty="0">
                <a:latin typeface="+mn-ea"/>
              </a:rPr>
              <a:t>正例的排</a:t>
            </a:r>
            <a:r>
              <a:rPr lang="zh-CN" altLang="en-US" dirty="0" smtClean="0">
                <a:latin typeface="+mn-ea"/>
              </a:rPr>
              <a:t>在最后面</a:t>
            </a:r>
            <a:endParaRPr lang="en-US" altLang="zh-CN" dirty="0" smtClean="0">
              <a:latin typeface="+mn-ea"/>
            </a:endParaRPr>
          </a:p>
          <a:p>
            <a:pPr lvl="2"/>
            <a:r>
              <a:rPr lang="zh-CN" altLang="en-US" dirty="0" smtClean="0">
                <a:latin typeface="+mn-ea"/>
              </a:rPr>
              <a:t>分类就相当于以某个截断点将</a:t>
            </a:r>
            <a:r>
              <a:rPr lang="zh-CN" altLang="en-US" dirty="0">
                <a:latin typeface="+mn-ea"/>
              </a:rPr>
              <a:t>样本分为两</a:t>
            </a:r>
            <a:r>
              <a:rPr lang="zh-CN" altLang="en-US" dirty="0" smtClean="0">
                <a:latin typeface="+mn-ea"/>
              </a:rPr>
              <a:t>部分</a:t>
            </a:r>
            <a:endParaRPr lang="en-US" altLang="zh-CN" dirty="0" smtClean="0">
              <a:latin typeface="+mn-ea"/>
            </a:endParaRPr>
          </a:p>
          <a:p>
            <a:pPr lvl="2"/>
            <a:r>
              <a:rPr lang="zh-CN" altLang="en-US" dirty="0"/>
              <a:t>不同的应用</a:t>
            </a:r>
            <a:r>
              <a:rPr lang="zh-CN" altLang="en-US" dirty="0" smtClean="0"/>
              <a:t>任务，采用</a:t>
            </a:r>
            <a:r>
              <a:rPr lang="zh-CN" altLang="en-US" dirty="0"/>
              <a:t>不同的截断</a:t>
            </a:r>
            <a:r>
              <a:rPr lang="zh-CN" altLang="en-US" dirty="0" smtClean="0"/>
              <a:t>点</a:t>
            </a:r>
            <a:endParaRPr lang="en-US" altLang="zh-CN" dirty="0" smtClean="0"/>
          </a:p>
          <a:p>
            <a:pPr lvl="3"/>
            <a:r>
              <a:rPr lang="zh-CN" altLang="en-US" dirty="0" smtClean="0">
                <a:latin typeface="+mn-ea"/>
              </a:rPr>
              <a:t>重视查准率选靠前位置的截断点，重视查全率选靠</a:t>
            </a:r>
            <a:r>
              <a:rPr lang="zh-CN" altLang="en-US" dirty="0">
                <a:latin typeface="+mn-ea"/>
              </a:rPr>
              <a:t>后</a:t>
            </a:r>
            <a:r>
              <a:rPr lang="zh-CN" altLang="en-US" dirty="0" smtClean="0">
                <a:latin typeface="+mn-ea"/>
              </a:rPr>
              <a:t>的截断点</a:t>
            </a:r>
            <a:endParaRPr lang="en-US" altLang="zh-CN" dirty="0" smtClean="0">
              <a:latin typeface="+mn-ea"/>
            </a:endParaRPr>
          </a:p>
          <a:p>
            <a:pPr lvl="2"/>
            <a:r>
              <a:rPr lang="zh-CN" altLang="en-US" dirty="0" smtClean="0">
                <a:latin typeface="+mn-ea"/>
              </a:rPr>
              <a:t>需要综合</a:t>
            </a:r>
            <a:r>
              <a:rPr lang="zh-CN" altLang="en-US" dirty="0">
                <a:latin typeface="+mn-ea"/>
              </a:rPr>
              <a:t>考虑学习器在不同任务下</a:t>
            </a:r>
            <a:r>
              <a:rPr lang="zh-CN" altLang="en-US" dirty="0" smtClean="0">
                <a:latin typeface="+mn-ea"/>
              </a:rPr>
              <a:t>的期望泛化性能的好坏</a:t>
            </a:r>
            <a:endParaRPr lang="en-US" altLang="zh-CN" dirty="0" smtClean="0">
              <a:latin typeface="+mn-ea"/>
            </a:endParaRPr>
          </a:p>
          <a:p>
            <a:pPr lvl="2"/>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srcRect l="2" r="50093" b="13722"/>
          <a:stretch>
            <a:fillRect/>
          </a:stretch>
        </p:blipFill>
        <p:spPr>
          <a:xfrm>
            <a:off x="4727671" y="3861376"/>
            <a:ext cx="3588745" cy="2952000"/>
          </a:xfrm>
          <a:prstGeom prst="rect">
            <a:avLst/>
          </a:prstGeom>
        </p:spPr>
      </p:pic>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467544" y="898376"/>
            <a:ext cx="7772400" cy="4690864"/>
          </a:xfrm>
        </p:spPr>
        <p:txBody>
          <a:bodyPr/>
          <a:lstStyle/>
          <a:p>
            <a:r>
              <a:rPr lang="en-US" altLang="zh-CN" dirty="0" smtClean="0">
                <a:latin typeface="+mn-ea"/>
              </a:rPr>
              <a:t>2.3.3 ROC</a:t>
            </a:r>
            <a:r>
              <a:rPr lang="zh-CN" altLang="en-US" dirty="0" smtClean="0">
                <a:latin typeface="+mn-ea"/>
              </a:rPr>
              <a:t>、</a:t>
            </a:r>
            <a:r>
              <a:rPr lang="en-US" altLang="zh-CN" dirty="0" smtClean="0">
                <a:latin typeface="+mn-ea"/>
              </a:rPr>
              <a:t>AUC</a:t>
            </a:r>
            <a:endParaRPr lang="en-US" altLang="zh-CN" dirty="0" smtClean="0">
              <a:latin typeface="+mn-ea"/>
            </a:endParaRPr>
          </a:p>
          <a:p>
            <a:pPr lvl="1"/>
            <a:r>
              <a:rPr lang="en-US" altLang="zh-CN" dirty="0" smtClean="0">
                <a:latin typeface="+mn-ea"/>
              </a:rPr>
              <a:t>ROC(</a:t>
            </a:r>
            <a:r>
              <a:rPr lang="zh-CN" altLang="en-US" dirty="0">
                <a:latin typeface="+mn-ea"/>
              </a:rPr>
              <a:t>受试者工作特征</a:t>
            </a:r>
            <a:r>
              <a:rPr lang="en-US" altLang="zh-CN" dirty="0" smtClean="0">
                <a:latin typeface="+mn-ea"/>
              </a:rPr>
              <a:t>)</a:t>
            </a:r>
            <a:r>
              <a:rPr lang="zh-CN" altLang="en-US" dirty="0" smtClean="0">
                <a:latin typeface="+mn-ea"/>
              </a:rPr>
              <a:t>曲线</a:t>
            </a:r>
            <a:endParaRPr lang="en-US" altLang="zh-CN" dirty="0" smtClean="0">
              <a:latin typeface="+mn-ea"/>
            </a:endParaRPr>
          </a:p>
          <a:p>
            <a:pPr lvl="2"/>
            <a:r>
              <a:rPr lang="zh-CN" altLang="en-US" dirty="0" smtClean="0"/>
              <a:t>表现学习</a:t>
            </a:r>
            <a:r>
              <a:rPr lang="zh-CN" altLang="en-US" dirty="0"/>
              <a:t>器在不同任务下的</a:t>
            </a:r>
            <a:r>
              <a:rPr lang="zh-CN" altLang="en-US" dirty="0" smtClean="0"/>
              <a:t>“期望泛化性能”</a:t>
            </a:r>
            <a:endParaRPr lang="en-US" altLang="zh-CN" dirty="0" smtClean="0"/>
          </a:p>
          <a:p>
            <a:pPr lvl="2"/>
            <a:r>
              <a:rPr lang="zh-CN" altLang="en-US" dirty="0" smtClean="0">
                <a:latin typeface="+mn-ea"/>
              </a:rPr>
              <a:t>纵轴：真正</a:t>
            </a:r>
            <a:r>
              <a:rPr lang="zh-CN" altLang="en-US" dirty="0">
                <a:latin typeface="+mn-ea"/>
              </a:rPr>
              <a:t>例</a:t>
            </a:r>
            <a:r>
              <a:rPr lang="zh-CN" altLang="en-US" dirty="0" smtClean="0">
                <a:latin typeface="+mn-ea"/>
              </a:rPr>
              <a:t>率</a:t>
            </a:r>
            <a:r>
              <a:rPr lang="en-US" altLang="zh-CN" dirty="0" smtClean="0">
                <a:latin typeface="+mn-ea"/>
              </a:rPr>
              <a:t>TPR</a:t>
            </a:r>
            <a:r>
              <a:rPr lang="zh-CN" altLang="en-US" dirty="0" smtClean="0">
                <a:latin typeface="+mn-ea"/>
              </a:rPr>
              <a:t>；</a:t>
            </a:r>
            <a:endParaRPr lang="en-US" altLang="zh-CN" dirty="0" smtClean="0">
              <a:latin typeface="+mn-ea"/>
            </a:endParaRPr>
          </a:p>
          <a:p>
            <a:pPr lvl="2"/>
            <a:endParaRPr lang="en-US" altLang="zh-CN" dirty="0" smtClean="0">
              <a:latin typeface="+mn-ea"/>
            </a:endParaRPr>
          </a:p>
          <a:p>
            <a:pPr lvl="2"/>
            <a:r>
              <a:rPr lang="zh-CN" altLang="en-US" dirty="0" smtClean="0">
                <a:latin typeface="+mn-ea"/>
              </a:rPr>
              <a:t>横轴：假</a:t>
            </a:r>
            <a:r>
              <a:rPr lang="zh-CN" altLang="en-US" dirty="0">
                <a:latin typeface="+mn-ea"/>
              </a:rPr>
              <a:t>正例</a:t>
            </a:r>
            <a:r>
              <a:rPr lang="zh-CN" altLang="en-US" dirty="0" smtClean="0">
                <a:latin typeface="+mn-ea"/>
              </a:rPr>
              <a:t>率</a:t>
            </a:r>
            <a:r>
              <a:rPr lang="en-US" altLang="zh-CN" dirty="0" smtClean="0">
                <a:latin typeface="+mn-ea"/>
              </a:rPr>
              <a:t>FPR</a:t>
            </a:r>
            <a:endParaRPr lang="en-US" altLang="zh-CN" dirty="0" smtClean="0">
              <a:latin typeface="+mn-ea"/>
            </a:endParaRPr>
          </a:p>
          <a:p>
            <a:pPr lvl="2"/>
            <a:endParaRPr lang="en-US" altLang="zh-CN" dirty="0">
              <a:latin typeface="+mn-ea"/>
            </a:endParaRPr>
          </a:p>
          <a:p>
            <a:pPr lvl="2">
              <a:spcBef>
                <a:spcPts val="1200"/>
              </a:spcBef>
            </a:pPr>
            <a:r>
              <a:rPr lang="zh-CN" altLang="en-US" dirty="0" smtClean="0"/>
              <a:t>对角线：</a:t>
            </a:r>
            <a:r>
              <a:rPr lang="zh-CN" altLang="en-US" dirty="0" smtClean="0">
                <a:latin typeface="+mn-ea"/>
              </a:rPr>
              <a:t>随机猜测模型</a:t>
            </a:r>
            <a:endParaRPr lang="en-US" altLang="zh-CN" dirty="0" smtClean="0">
              <a:latin typeface="+mn-ea"/>
            </a:endParaRPr>
          </a:p>
          <a:p>
            <a:pPr lvl="2"/>
            <a:r>
              <a:rPr lang="zh-CN" altLang="en-US" dirty="0" smtClean="0">
                <a:latin typeface="+mn-ea"/>
              </a:rPr>
              <a:t>点</a:t>
            </a:r>
            <a:r>
              <a:rPr lang="en-US" altLang="zh-CN" dirty="0">
                <a:latin typeface="+mn-ea"/>
              </a:rPr>
              <a:t>(0,1</a:t>
            </a:r>
            <a:r>
              <a:rPr lang="en-US" altLang="zh-CN" dirty="0" smtClean="0">
                <a:latin typeface="+mn-ea"/>
              </a:rPr>
              <a:t>)</a:t>
            </a:r>
            <a:r>
              <a:rPr lang="zh-CN" altLang="en-US" dirty="0" smtClean="0">
                <a:latin typeface="+mn-ea"/>
              </a:rPr>
              <a:t>：</a:t>
            </a:r>
            <a:r>
              <a:rPr lang="zh-CN" altLang="en-US" dirty="0">
                <a:latin typeface="+mn-ea"/>
              </a:rPr>
              <a:t>理想</a:t>
            </a:r>
            <a:r>
              <a:rPr lang="zh-CN" altLang="en-US" dirty="0" smtClean="0">
                <a:latin typeface="+mn-ea"/>
              </a:rPr>
              <a:t>模型</a:t>
            </a:r>
            <a:endParaRPr lang="en-US" altLang="zh-CN"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6" name="对象 5"/>
          <p:cNvGraphicFramePr>
            <a:graphicFrameLocks noChangeAspect="1"/>
          </p:cNvGraphicFramePr>
          <p:nvPr/>
        </p:nvGraphicFramePr>
        <p:xfrm>
          <a:off x="4556275" y="2372024"/>
          <a:ext cx="1905000" cy="642938"/>
        </p:xfrm>
        <a:graphic>
          <a:graphicData uri="http://schemas.openxmlformats.org/presentationml/2006/ole">
            <mc:AlternateContent xmlns:mc="http://schemas.openxmlformats.org/markup-compatibility/2006">
              <mc:Choice xmlns:v="urn:schemas-microsoft-com:vml" Requires="v">
                <p:oleObj spid="_x0000_s24657" name="Equation" r:id="rId2" imgW="24384000" imgH="8229600" progId="Equation.DSMT4">
                  <p:embed/>
                </p:oleObj>
              </mc:Choice>
              <mc:Fallback>
                <p:oleObj name="Equation" r:id="rId2" imgW="24384000" imgH="8229600" progId="Equation.DSMT4">
                  <p:embed/>
                  <p:pic>
                    <p:nvPicPr>
                      <p:cNvPr id="0" name="图片 24656"/>
                      <p:cNvPicPr/>
                      <p:nvPr/>
                    </p:nvPicPr>
                    <p:blipFill>
                      <a:blip r:embed="rId3"/>
                      <a:stretch>
                        <a:fillRect/>
                      </a:stretch>
                    </p:blipFill>
                    <p:spPr>
                      <a:xfrm>
                        <a:off x="4556275" y="2372024"/>
                        <a:ext cx="1905000" cy="642938"/>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499992" y="3151876"/>
          <a:ext cx="2071687" cy="642938"/>
        </p:xfrm>
        <a:graphic>
          <a:graphicData uri="http://schemas.openxmlformats.org/presentationml/2006/ole">
            <mc:AlternateContent xmlns:mc="http://schemas.openxmlformats.org/markup-compatibility/2006">
              <mc:Choice xmlns:v="urn:schemas-microsoft-com:vml" Requires="v">
                <p:oleObj spid="_x0000_s24658" name="Equation" r:id="rId4" imgW="26517600" imgH="8229600" progId="Equation.DSMT4">
                  <p:embed/>
                </p:oleObj>
              </mc:Choice>
              <mc:Fallback>
                <p:oleObj name="Equation" r:id="rId4" imgW="26517600" imgH="8229600" progId="Equation.DSMT4">
                  <p:embed/>
                  <p:pic>
                    <p:nvPicPr>
                      <p:cNvPr id="0" name="图片 24657"/>
                      <p:cNvPicPr/>
                      <p:nvPr/>
                    </p:nvPicPr>
                    <p:blipFill>
                      <a:blip r:embed="rId5"/>
                      <a:stretch>
                        <a:fillRect/>
                      </a:stretch>
                    </p:blipFill>
                    <p:spPr>
                      <a:xfrm>
                        <a:off x="4499992" y="3151876"/>
                        <a:ext cx="2071687" cy="642938"/>
                      </a:xfrm>
                      <a:prstGeom prst="rect">
                        <a:avLst/>
                      </a:prstGeom>
                    </p:spPr>
                  </p:pic>
                </p:oleObj>
              </mc:Fallback>
            </mc:AlternateContent>
          </a:graphicData>
        </a:graphic>
      </p:graphicFrame>
    </p:spTree>
  </p:cSld>
  <p:clrMapOvr>
    <a:masterClrMapping/>
  </p:clrMapOvr>
  <p:transition>
    <p:cover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467544" y="898376"/>
            <a:ext cx="7772400" cy="4690864"/>
          </a:xfrm>
        </p:spPr>
        <p:txBody>
          <a:bodyPr/>
          <a:lstStyle/>
          <a:p>
            <a:r>
              <a:rPr lang="en-US" altLang="zh-CN" dirty="0" smtClean="0">
                <a:latin typeface="+mn-ea"/>
              </a:rPr>
              <a:t>2.3.3 ROC</a:t>
            </a:r>
            <a:r>
              <a:rPr lang="zh-CN" altLang="en-US" dirty="0" smtClean="0">
                <a:latin typeface="+mn-ea"/>
              </a:rPr>
              <a:t>、</a:t>
            </a:r>
            <a:r>
              <a:rPr lang="en-US" altLang="zh-CN" dirty="0" smtClean="0">
                <a:latin typeface="+mn-ea"/>
              </a:rPr>
              <a:t>AUC</a:t>
            </a:r>
            <a:endParaRPr lang="en-US" altLang="zh-CN" dirty="0" smtClean="0">
              <a:latin typeface="+mn-ea"/>
            </a:endParaRPr>
          </a:p>
          <a:p>
            <a:pPr lvl="1"/>
            <a:r>
              <a:rPr lang="en-US" altLang="zh-CN" dirty="0">
                <a:latin typeface="+mn-ea"/>
              </a:rPr>
              <a:t>ROC(</a:t>
            </a:r>
            <a:r>
              <a:rPr lang="zh-CN" altLang="en-US" dirty="0">
                <a:latin typeface="+mn-ea"/>
              </a:rPr>
              <a:t>受试者工作特征</a:t>
            </a:r>
            <a:r>
              <a:rPr lang="en-US" altLang="zh-CN" dirty="0">
                <a:latin typeface="+mn-ea"/>
              </a:rPr>
              <a:t>)</a:t>
            </a:r>
            <a:r>
              <a:rPr lang="zh-CN" altLang="en-US" dirty="0">
                <a:latin typeface="+mn-ea"/>
              </a:rPr>
              <a:t>曲线</a:t>
            </a:r>
            <a:endParaRPr lang="en-US" altLang="zh-CN" dirty="0">
              <a:latin typeface="+mn-ea"/>
            </a:endParaRPr>
          </a:p>
          <a:p>
            <a:pPr lvl="2"/>
            <a:r>
              <a:rPr lang="zh-CN" altLang="en-US" dirty="0" smtClean="0">
                <a:latin typeface="+mn-ea"/>
              </a:rPr>
              <a:t>现实中测试</a:t>
            </a:r>
            <a:r>
              <a:rPr lang="zh-CN" altLang="en-US" dirty="0">
                <a:latin typeface="+mn-ea"/>
              </a:rPr>
              <a:t>样</a:t>
            </a:r>
            <a:r>
              <a:rPr lang="zh-CN" altLang="en-US" dirty="0" smtClean="0">
                <a:latin typeface="+mn-ea"/>
              </a:rPr>
              <a:t>例有限，近似绘制</a:t>
            </a:r>
            <a:r>
              <a:rPr lang="en-US" altLang="zh-CN" dirty="0" smtClean="0">
                <a:latin typeface="+mn-ea"/>
              </a:rPr>
              <a:t>ROC</a:t>
            </a:r>
            <a:r>
              <a:rPr lang="zh-CN" altLang="en-US" dirty="0" smtClean="0">
                <a:latin typeface="+mn-ea"/>
              </a:rPr>
              <a:t>图</a:t>
            </a:r>
            <a:endParaRPr lang="en-US" altLang="zh-CN" dirty="0" smtClean="0">
              <a:latin typeface="+mn-ea"/>
            </a:endParaRPr>
          </a:p>
          <a:p>
            <a:pPr lvl="3"/>
            <a:r>
              <a:rPr lang="zh-CN" altLang="en-US" dirty="0" smtClean="0">
                <a:latin typeface="+mn-ea"/>
              </a:rPr>
              <a:t>给定</a:t>
            </a:r>
            <a:r>
              <a:rPr lang="en-US" altLang="zh-CN" dirty="0" smtClean="0">
                <a:latin typeface="+mn-ea"/>
              </a:rPr>
              <a:t>  </a:t>
            </a:r>
            <a:r>
              <a:rPr lang="zh-CN" altLang="en-US" dirty="0" smtClean="0">
                <a:latin typeface="+mn-ea"/>
              </a:rPr>
              <a:t>正</a:t>
            </a:r>
            <a:r>
              <a:rPr lang="zh-CN" altLang="en-US" dirty="0">
                <a:latin typeface="+mn-ea"/>
              </a:rPr>
              <a:t>例</a:t>
            </a:r>
            <a:r>
              <a:rPr lang="zh-CN" altLang="en-US" dirty="0" smtClean="0">
                <a:latin typeface="+mn-ea"/>
              </a:rPr>
              <a:t>和   反例</a:t>
            </a:r>
            <a:r>
              <a:rPr lang="zh-CN" altLang="en-US" dirty="0">
                <a:latin typeface="+mn-ea"/>
              </a:rPr>
              <a:t>，根据学习器预测</a:t>
            </a:r>
            <a:r>
              <a:rPr lang="zh-CN" altLang="en-US" dirty="0" smtClean="0">
                <a:latin typeface="+mn-ea"/>
              </a:rPr>
              <a:t>结果排序</a:t>
            </a:r>
            <a:endParaRPr lang="en-US" altLang="zh-CN" dirty="0" smtClean="0">
              <a:latin typeface="+mn-ea"/>
            </a:endParaRPr>
          </a:p>
          <a:p>
            <a:pPr lvl="3"/>
            <a:r>
              <a:rPr lang="zh-CN" altLang="en-US" dirty="0" smtClean="0">
                <a:latin typeface="+mn-ea"/>
              </a:rPr>
              <a:t>然后</a:t>
            </a:r>
            <a:r>
              <a:rPr lang="zh-CN" altLang="en-US" dirty="0">
                <a:latin typeface="+mn-ea"/>
              </a:rPr>
              <a:t>把</a:t>
            </a:r>
            <a:r>
              <a:rPr lang="zh-CN" altLang="en-US" dirty="0" smtClean="0">
                <a:latin typeface="+mn-ea"/>
              </a:rPr>
              <a:t>分类阈值设</a:t>
            </a:r>
            <a:r>
              <a:rPr lang="zh-CN" altLang="en-US" dirty="0">
                <a:latin typeface="+mn-ea"/>
              </a:rPr>
              <a:t>为最大</a:t>
            </a:r>
            <a:r>
              <a:rPr lang="zh-CN" altLang="en-US" dirty="0" smtClean="0">
                <a:latin typeface="+mn-ea"/>
              </a:rPr>
              <a:t>，坐标</a:t>
            </a:r>
            <a:r>
              <a:rPr lang="en-US" altLang="zh-CN" dirty="0">
                <a:latin typeface="+mn-ea"/>
              </a:rPr>
              <a:t>(</a:t>
            </a:r>
            <a:r>
              <a:rPr lang="en-US" altLang="zh-CN" dirty="0" smtClean="0">
                <a:latin typeface="+mn-ea"/>
              </a:rPr>
              <a:t>0,0</a:t>
            </a:r>
            <a:r>
              <a:rPr lang="en-US" altLang="zh-CN" dirty="0">
                <a:latin typeface="+mn-ea"/>
              </a:rPr>
              <a:t>)</a:t>
            </a:r>
            <a:r>
              <a:rPr lang="zh-CN" altLang="en-US" dirty="0">
                <a:latin typeface="+mn-ea"/>
              </a:rPr>
              <a:t>处</a:t>
            </a:r>
            <a:r>
              <a:rPr lang="zh-CN" altLang="en-US" dirty="0" smtClean="0">
                <a:latin typeface="+mn-ea"/>
              </a:rPr>
              <a:t>标记</a:t>
            </a:r>
            <a:endParaRPr lang="en-US" altLang="zh-CN" dirty="0" smtClean="0">
              <a:latin typeface="+mn-ea"/>
            </a:endParaRPr>
          </a:p>
          <a:p>
            <a:pPr lvl="3"/>
            <a:r>
              <a:rPr lang="zh-CN" altLang="en-US" dirty="0" smtClean="0">
                <a:latin typeface="+mn-ea"/>
              </a:rPr>
              <a:t>将分类阈值依次</a:t>
            </a:r>
            <a:r>
              <a:rPr lang="zh-CN" altLang="en-US" dirty="0">
                <a:latin typeface="+mn-ea"/>
              </a:rPr>
              <a:t>设为每个样例的预测值</a:t>
            </a:r>
            <a:r>
              <a:rPr lang="zh-CN" altLang="en-US" dirty="0" smtClean="0">
                <a:latin typeface="+mn-ea"/>
              </a:rPr>
              <a:t>，计算标记</a:t>
            </a:r>
            <a:endParaRPr lang="en-US" altLang="zh-CN" dirty="0" smtClean="0">
              <a:latin typeface="+mn-ea"/>
            </a:endParaRPr>
          </a:p>
          <a:p>
            <a:pPr lvl="4"/>
            <a:r>
              <a:rPr lang="zh-CN" altLang="en-US" dirty="0" smtClean="0">
                <a:latin typeface="+mn-ea"/>
              </a:rPr>
              <a:t>当前为</a:t>
            </a:r>
            <a:r>
              <a:rPr lang="zh-CN" altLang="en-US" dirty="0">
                <a:latin typeface="+mn-ea"/>
              </a:rPr>
              <a:t>真正例，标记</a:t>
            </a:r>
            <a:r>
              <a:rPr lang="zh-CN" altLang="en-US" dirty="0" smtClean="0">
                <a:latin typeface="+mn-ea"/>
              </a:rPr>
              <a:t>点</a:t>
            </a:r>
            <a:r>
              <a:rPr lang="zh-CN" altLang="en-US" dirty="0">
                <a:latin typeface="+mn-ea"/>
              </a:rPr>
              <a:t>坐标</a:t>
            </a:r>
            <a:r>
              <a:rPr lang="zh-CN" altLang="en-US" dirty="0" smtClean="0">
                <a:latin typeface="+mn-ea"/>
              </a:rPr>
              <a:t>为</a:t>
            </a:r>
            <a:r>
              <a:rPr lang="en-US" altLang="zh-CN" dirty="0" smtClean="0">
                <a:latin typeface="+mn-ea"/>
              </a:rPr>
              <a:t> </a:t>
            </a:r>
            <a:endParaRPr lang="en-US" altLang="zh-CN" dirty="0" smtClean="0">
              <a:latin typeface="+mn-ea"/>
            </a:endParaRPr>
          </a:p>
          <a:p>
            <a:pPr lvl="4"/>
            <a:r>
              <a:rPr lang="zh-CN" altLang="en-US" dirty="0" smtClean="0">
                <a:latin typeface="+mn-ea"/>
              </a:rPr>
              <a:t>当前为</a:t>
            </a:r>
            <a:r>
              <a:rPr lang="zh-CN" altLang="en-US" dirty="0">
                <a:latin typeface="+mn-ea"/>
              </a:rPr>
              <a:t>假正例</a:t>
            </a:r>
            <a:r>
              <a:rPr lang="zh-CN" altLang="en-US" dirty="0" smtClean="0">
                <a:latin typeface="+mn-ea"/>
              </a:rPr>
              <a:t>，标记点坐标</a:t>
            </a:r>
            <a:r>
              <a:rPr lang="zh-CN" altLang="en-US" dirty="0">
                <a:latin typeface="+mn-ea"/>
              </a:rPr>
              <a:t>为</a:t>
            </a:r>
            <a:endParaRPr lang="en-US" altLang="zh-CN" dirty="0" smtClean="0">
              <a:latin typeface="+mn-ea"/>
            </a:endParaRPr>
          </a:p>
          <a:p>
            <a:pPr lvl="5">
              <a:spcBef>
                <a:spcPts val="0"/>
              </a:spcBef>
            </a:pPr>
            <a:r>
              <a:rPr lang="zh-CN" altLang="en-US" dirty="0" smtClean="0">
                <a:latin typeface="+mn-ea"/>
              </a:rPr>
              <a:t>     为前</a:t>
            </a:r>
            <a:r>
              <a:rPr lang="zh-CN" altLang="en-US" dirty="0">
                <a:latin typeface="+mn-ea"/>
              </a:rPr>
              <a:t>一个标记点</a:t>
            </a:r>
            <a:r>
              <a:rPr lang="zh-CN" altLang="en-US" dirty="0" smtClean="0">
                <a:latin typeface="+mn-ea"/>
              </a:rPr>
              <a:t>坐标</a:t>
            </a:r>
            <a:endParaRPr lang="en-US" altLang="zh-CN" dirty="0" smtClean="0">
              <a:latin typeface="+mn-ea"/>
            </a:endParaRPr>
          </a:p>
          <a:p>
            <a:pPr lvl="3"/>
            <a:r>
              <a:rPr lang="zh-CN" altLang="en-US" dirty="0" smtClean="0">
                <a:latin typeface="+mn-ea"/>
              </a:rPr>
              <a:t>用</a:t>
            </a:r>
            <a:r>
              <a:rPr lang="zh-CN" altLang="en-US" dirty="0">
                <a:latin typeface="+mn-ea"/>
              </a:rPr>
              <a:t>线段连接相邻点即得</a:t>
            </a:r>
            <a:endParaRPr lang="zh-CN" altLang="en-US" dirty="0" smtClean="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rotWithShape="1">
          <a:blip r:embed="rId1"/>
          <a:srcRect l="50268" r="-1446" b="15957"/>
          <a:stretch>
            <a:fillRect/>
          </a:stretch>
        </p:blipFill>
        <p:spPr>
          <a:xfrm>
            <a:off x="2956509" y="4365104"/>
            <a:ext cx="3127659" cy="2443718"/>
          </a:xfrm>
          <a:prstGeom prst="rect">
            <a:avLst/>
          </a:prstGeom>
        </p:spPr>
      </p:pic>
      <p:graphicFrame>
        <p:nvGraphicFramePr>
          <p:cNvPr id="7" name="对象 6"/>
          <p:cNvGraphicFramePr>
            <a:graphicFrameLocks noChangeAspect="1"/>
          </p:cNvGraphicFramePr>
          <p:nvPr/>
        </p:nvGraphicFramePr>
        <p:xfrm>
          <a:off x="2675729" y="2216895"/>
          <a:ext cx="344250" cy="324000"/>
        </p:xfrm>
        <a:graphic>
          <a:graphicData uri="http://schemas.openxmlformats.org/presentationml/2006/ole">
            <mc:AlternateContent xmlns:mc="http://schemas.openxmlformats.org/markup-compatibility/2006">
              <mc:Choice xmlns:v="urn:schemas-microsoft-com:vml" Requires="v">
                <p:oleObj spid="_x0000_s25883" name="Equation" r:id="rId2" imgW="5181600" imgH="4876800" progId="Equation.DSMT4">
                  <p:embed/>
                </p:oleObj>
              </mc:Choice>
              <mc:Fallback>
                <p:oleObj name="Equation" r:id="rId2" imgW="5181600" imgH="4876800" progId="Equation.DSMT4">
                  <p:embed/>
                  <p:pic>
                    <p:nvPicPr>
                      <p:cNvPr id="0" name="图片 25882"/>
                      <p:cNvPicPr/>
                      <p:nvPr/>
                    </p:nvPicPr>
                    <p:blipFill>
                      <a:blip r:embed="rId3"/>
                      <a:stretch>
                        <a:fillRect/>
                      </a:stretch>
                    </p:blipFill>
                    <p:spPr>
                      <a:xfrm>
                        <a:off x="2675729" y="2216895"/>
                        <a:ext cx="344250" cy="324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795702" y="2204864"/>
          <a:ext cx="344250" cy="324000"/>
        </p:xfrm>
        <a:graphic>
          <a:graphicData uri="http://schemas.openxmlformats.org/presentationml/2006/ole">
            <mc:AlternateContent xmlns:mc="http://schemas.openxmlformats.org/markup-compatibility/2006">
              <mc:Choice xmlns:v="urn:schemas-microsoft-com:vml" Requires="v">
                <p:oleObj spid="_x0000_s25884" name="Equation" r:id="rId4" imgW="5181600" imgH="4876800" progId="Equation.DSMT4">
                  <p:embed/>
                </p:oleObj>
              </mc:Choice>
              <mc:Fallback>
                <p:oleObj name="Equation" r:id="rId4" imgW="5181600" imgH="4876800" progId="Equation.DSMT4">
                  <p:embed/>
                  <p:pic>
                    <p:nvPicPr>
                      <p:cNvPr id="0" name="图片 25883"/>
                      <p:cNvPicPr/>
                      <p:nvPr/>
                    </p:nvPicPr>
                    <p:blipFill>
                      <a:blip r:embed="rId5"/>
                      <a:stretch>
                        <a:fillRect/>
                      </a:stretch>
                    </p:blipFill>
                    <p:spPr>
                      <a:xfrm>
                        <a:off x="3795702" y="2204864"/>
                        <a:ext cx="344250" cy="3240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042050" y="3134295"/>
          <a:ext cx="1338262" cy="366713"/>
        </p:xfrm>
        <a:graphic>
          <a:graphicData uri="http://schemas.openxmlformats.org/presentationml/2006/ole">
            <mc:AlternateContent xmlns:mc="http://schemas.openxmlformats.org/markup-compatibility/2006">
              <mc:Choice xmlns:v="urn:schemas-microsoft-com:vml" Requires="v">
                <p:oleObj spid="_x0000_s25885" name="Equation" r:id="rId6" imgW="20116800" imgH="5486400" progId="Equation.DSMT4">
                  <p:embed/>
                </p:oleObj>
              </mc:Choice>
              <mc:Fallback>
                <p:oleObj name="Equation" r:id="rId6" imgW="20116800" imgH="5486400" progId="Equation.DSMT4">
                  <p:embed/>
                  <p:pic>
                    <p:nvPicPr>
                      <p:cNvPr id="0" name="图片 25884"/>
                      <p:cNvPicPr/>
                      <p:nvPr/>
                    </p:nvPicPr>
                    <p:blipFill>
                      <a:blip r:embed="rId7"/>
                      <a:stretch>
                        <a:fillRect/>
                      </a:stretch>
                    </p:blipFill>
                    <p:spPr>
                      <a:xfrm>
                        <a:off x="6042050" y="3134295"/>
                        <a:ext cx="1338262" cy="366713"/>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6042050" y="3422327"/>
          <a:ext cx="1338262" cy="366713"/>
        </p:xfrm>
        <a:graphic>
          <a:graphicData uri="http://schemas.openxmlformats.org/presentationml/2006/ole">
            <mc:AlternateContent xmlns:mc="http://schemas.openxmlformats.org/markup-compatibility/2006">
              <mc:Choice xmlns:v="urn:schemas-microsoft-com:vml" Requires="v">
                <p:oleObj spid="_x0000_s25886" name="Equation" r:id="rId8" imgW="20116800" imgH="5486400" progId="Equation.DSMT4">
                  <p:embed/>
                </p:oleObj>
              </mc:Choice>
              <mc:Fallback>
                <p:oleObj name="Equation" r:id="rId8" imgW="20116800" imgH="5486400" progId="Equation.DSMT4">
                  <p:embed/>
                  <p:pic>
                    <p:nvPicPr>
                      <p:cNvPr id="0" name="图片 25885"/>
                      <p:cNvPicPr/>
                      <p:nvPr/>
                    </p:nvPicPr>
                    <p:blipFill>
                      <a:blip r:embed="rId9"/>
                      <a:stretch>
                        <a:fillRect/>
                      </a:stretch>
                    </p:blipFill>
                    <p:spPr>
                      <a:xfrm>
                        <a:off x="6042050" y="3422327"/>
                        <a:ext cx="1338262" cy="36671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120529" y="3751634"/>
          <a:ext cx="587375" cy="325438"/>
        </p:xfrm>
        <a:graphic>
          <a:graphicData uri="http://schemas.openxmlformats.org/presentationml/2006/ole">
            <mc:AlternateContent xmlns:mc="http://schemas.openxmlformats.org/markup-compatibility/2006">
              <mc:Choice xmlns:v="urn:schemas-microsoft-com:vml" Requires="v">
                <p:oleObj spid="_x0000_s25887" name="Equation" r:id="rId10" imgW="8839200" imgH="4876800" progId="Equation.DSMT4">
                  <p:embed/>
                </p:oleObj>
              </mc:Choice>
              <mc:Fallback>
                <p:oleObj name="Equation" r:id="rId10" imgW="8839200" imgH="4876800" progId="Equation.DSMT4">
                  <p:embed/>
                  <p:pic>
                    <p:nvPicPr>
                      <p:cNvPr id="0" name="图片 25886"/>
                      <p:cNvPicPr/>
                      <p:nvPr/>
                    </p:nvPicPr>
                    <p:blipFill>
                      <a:blip r:embed="rId11"/>
                      <a:stretch>
                        <a:fillRect/>
                      </a:stretch>
                    </p:blipFill>
                    <p:spPr>
                      <a:xfrm>
                        <a:off x="3120529" y="3751634"/>
                        <a:ext cx="587375" cy="325438"/>
                      </a:xfrm>
                      <a:prstGeom prst="rect">
                        <a:avLst/>
                      </a:prstGeom>
                    </p:spPr>
                  </p:pic>
                </p:oleObj>
              </mc:Fallback>
            </mc:AlternateContent>
          </a:graphicData>
        </a:graphic>
      </p:graphicFrame>
    </p:spTree>
  </p:cSld>
  <p:clrMapOvr>
    <a:masterClrMapping/>
  </p:clrMapOvr>
  <p:transition>
    <p:cover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srcRect l="50222" r="604" b="14240"/>
          <a:stretch>
            <a:fillRect/>
          </a:stretch>
        </p:blipFill>
        <p:spPr>
          <a:xfrm>
            <a:off x="6322368" y="4501476"/>
            <a:ext cx="2786136" cy="2311900"/>
          </a:xfrm>
          <a:prstGeom prst="rect">
            <a:avLst/>
          </a:prstGeom>
        </p:spPr>
      </p:pic>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683568" y="898376"/>
            <a:ext cx="7772400" cy="4690864"/>
          </a:xfrm>
        </p:spPr>
        <p:txBody>
          <a:bodyPr/>
          <a:lstStyle/>
          <a:p>
            <a:r>
              <a:rPr lang="en-US" altLang="zh-CN" dirty="0">
                <a:latin typeface="+mn-ea"/>
              </a:rPr>
              <a:t>ROC</a:t>
            </a:r>
            <a:r>
              <a:rPr lang="zh-CN" altLang="en-US" dirty="0">
                <a:latin typeface="+mn-ea"/>
              </a:rPr>
              <a:t>、</a:t>
            </a:r>
            <a:r>
              <a:rPr lang="en-US" altLang="zh-CN" dirty="0" smtClean="0">
                <a:latin typeface="+mn-ea"/>
              </a:rPr>
              <a:t>AUC</a:t>
            </a:r>
            <a:endParaRPr lang="en-US" altLang="zh-CN" dirty="0" smtClean="0">
              <a:latin typeface="+mn-ea"/>
            </a:endParaRPr>
          </a:p>
          <a:p>
            <a:pPr lvl="1"/>
            <a:r>
              <a:rPr lang="en-US" altLang="zh-CN" dirty="0">
                <a:latin typeface="+mn-ea"/>
              </a:rPr>
              <a:t>ROC(</a:t>
            </a:r>
            <a:r>
              <a:rPr lang="zh-CN" altLang="en-US" dirty="0">
                <a:latin typeface="+mn-ea"/>
              </a:rPr>
              <a:t>受试者工作特征</a:t>
            </a:r>
            <a:r>
              <a:rPr lang="en-US" altLang="zh-CN" dirty="0">
                <a:latin typeface="+mn-ea"/>
              </a:rPr>
              <a:t>)</a:t>
            </a:r>
            <a:r>
              <a:rPr lang="zh-CN" altLang="en-US" dirty="0">
                <a:latin typeface="+mn-ea"/>
              </a:rPr>
              <a:t>曲线</a:t>
            </a:r>
            <a:endParaRPr lang="en-US" altLang="zh-CN" dirty="0">
              <a:latin typeface="+mn-ea"/>
            </a:endParaRPr>
          </a:p>
          <a:p>
            <a:pPr lvl="2"/>
            <a:r>
              <a:rPr lang="zh-CN" altLang="en-US" dirty="0">
                <a:latin typeface="+mn-ea"/>
              </a:rPr>
              <a:t>对学习器比较</a:t>
            </a:r>
            <a:endParaRPr lang="en-US" altLang="zh-CN" dirty="0">
              <a:latin typeface="+mn-ea"/>
            </a:endParaRPr>
          </a:p>
          <a:p>
            <a:pPr lvl="3"/>
            <a:r>
              <a:rPr lang="zh-CN" altLang="en-US" dirty="0">
                <a:latin typeface="+mn-ea"/>
              </a:rPr>
              <a:t>若一学习器的</a:t>
            </a:r>
            <a:r>
              <a:rPr lang="en-US" altLang="zh-CN" dirty="0">
                <a:latin typeface="+mn-ea"/>
              </a:rPr>
              <a:t>ROC</a:t>
            </a:r>
            <a:r>
              <a:rPr lang="zh-CN" altLang="en-US" dirty="0">
                <a:latin typeface="+mn-ea"/>
              </a:rPr>
              <a:t>曲线被另一曲线完全包住，则后者性能优于前者</a:t>
            </a:r>
            <a:endParaRPr lang="en-US" altLang="zh-CN" dirty="0">
              <a:latin typeface="+mn-ea"/>
            </a:endParaRPr>
          </a:p>
          <a:p>
            <a:pPr lvl="3"/>
            <a:r>
              <a:rPr lang="zh-CN" altLang="en-US" dirty="0">
                <a:latin typeface="+mn-ea"/>
              </a:rPr>
              <a:t>若两个</a:t>
            </a:r>
            <a:r>
              <a:rPr lang="en-US" altLang="zh-CN" dirty="0">
                <a:latin typeface="+mn-ea"/>
              </a:rPr>
              <a:t>ROC</a:t>
            </a:r>
            <a:r>
              <a:rPr lang="zh-CN" altLang="en-US" dirty="0">
                <a:latin typeface="+mn-ea"/>
              </a:rPr>
              <a:t>曲线交叉，则难以比较</a:t>
            </a:r>
            <a:endParaRPr lang="en-US" altLang="zh-CN" dirty="0">
              <a:latin typeface="+mn-ea"/>
            </a:endParaRPr>
          </a:p>
          <a:p>
            <a:pPr lvl="4"/>
            <a:r>
              <a:rPr lang="zh-CN" altLang="en-US" dirty="0">
                <a:latin typeface="+mn-ea"/>
              </a:rPr>
              <a:t>较为合理的判据是比较</a:t>
            </a:r>
            <a:r>
              <a:rPr lang="en-US" altLang="zh-CN" dirty="0">
                <a:latin typeface="+mn-ea"/>
              </a:rPr>
              <a:t>ROC</a:t>
            </a:r>
            <a:r>
              <a:rPr lang="zh-CN" altLang="en-US" dirty="0">
                <a:latin typeface="+mn-ea"/>
              </a:rPr>
              <a:t>曲线下的面积</a:t>
            </a:r>
            <a:endParaRPr lang="en-US" altLang="zh-CN" dirty="0">
              <a:latin typeface="+mn-ea"/>
            </a:endParaRPr>
          </a:p>
          <a:p>
            <a:pPr lvl="1"/>
            <a:r>
              <a:rPr lang="en-US" altLang="zh-CN" dirty="0" smtClean="0">
                <a:latin typeface="+mn-ea"/>
              </a:rPr>
              <a:t>AUC</a:t>
            </a:r>
            <a:r>
              <a:rPr lang="zh-CN" altLang="en-US" dirty="0" smtClean="0">
                <a:latin typeface="+mn-ea"/>
              </a:rPr>
              <a:t>（</a:t>
            </a:r>
            <a:r>
              <a:rPr lang="en-US" altLang="zh-CN" dirty="0">
                <a:latin typeface="+mn-ea"/>
              </a:rPr>
              <a:t>Area Under the ROC </a:t>
            </a:r>
            <a:r>
              <a:rPr lang="en-US" altLang="zh-CN" dirty="0" smtClean="0">
                <a:latin typeface="+mn-ea"/>
              </a:rPr>
              <a:t>Curve</a:t>
            </a:r>
            <a:r>
              <a:rPr lang="zh-CN" altLang="en-US" dirty="0" smtClean="0">
                <a:latin typeface="+mn-ea"/>
              </a:rPr>
              <a:t>）</a:t>
            </a:r>
            <a:endParaRPr lang="en-US" altLang="zh-CN" dirty="0" smtClean="0">
              <a:latin typeface="+mn-ea"/>
            </a:endParaRPr>
          </a:p>
          <a:p>
            <a:pPr lvl="3"/>
            <a:r>
              <a:rPr lang="zh-CN" altLang="en-US" dirty="0" smtClean="0">
                <a:latin typeface="+mn-ea"/>
              </a:rPr>
              <a:t>估算：</a:t>
            </a:r>
            <a:r>
              <a:rPr lang="en-US" altLang="zh-CN" dirty="0" smtClean="0">
                <a:latin typeface="+mn-ea"/>
              </a:rPr>
              <a:t>ROC</a:t>
            </a:r>
            <a:r>
              <a:rPr lang="zh-CN" altLang="en-US" dirty="0" smtClean="0">
                <a:latin typeface="+mn-ea"/>
              </a:rPr>
              <a:t>曲线由坐标点连接形成</a:t>
            </a:r>
            <a:endParaRPr lang="en-US" altLang="zh-CN" dirty="0">
              <a:latin typeface="+mn-ea"/>
            </a:endParaRPr>
          </a:p>
          <a:p>
            <a:pPr lvl="4"/>
            <a:endParaRPr lang="en-US" altLang="zh-CN" dirty="0" smtClean="0">
              <a:latin typeface="+mn-ea"/>
            </a:endParaRPr>
          </a:p>
          <a:p>
            <a:pPr lvl="4"/>
            <a:endParaRPr lang="en-US" altLang="zh-CN" dirty="0" smtClean="0">
              <a:latin typeface="+mn-ea"/>
            </a:endParaRPr>
          </a:p>
          <a:p>
            <a:pPr lvl="4">
              <a:spcBef>
                <a:spcPts val="600"/>
              </a:spcBef>
            </a:pPr>
            <a:r>
              <a:rPr lang="zh-CN" altLang="en-US" dirty="0" smtClean="0"/>
              <a:t>用排序损失表示</a:t>
            </a:r>
            <a:endParaRPr lang="en-US" altLang="zh-CN" dirty="0" smtClean="0">
              <a:latin typeface="+mn-ea"/>
            </a:endParaRPr>
          </a:p>
          <a:p>
            <a:pPr lvl="1"/>
            <a:endParaRPr lang="en-US" altLang="zh-CN" dirty="0" smtClean="0">
              <a:latin typeface="+mn-ea"/>
            </a:endParaRPr>
          </a:p>
          <a:p>
            <a:pPr lvl="1"/>
            <a:endParaRPr lang="en-US" altLang="zh-CN" dirty="0">
              <a:latin typeface="+mn-ea"/>
            </a:endParaRPr>
          </a:p>
          <a:p>
            <a:pPr lvl="1"/>
            <a:endParaRPr lang="en-US" altLang="zh-CN" dirty="0" smtClean="0">
              <a:latin typeface="+mn-ea"/>
            </a:endParaRPr>
          </a:p>
          <a:p>
            <a:pPr lvl="1"/>
            <a:endParaRPr lang="en-US" altLang="zh-CN" dirty="0">
              <a:latin typeface="+mn-ea"/>
            </a:endParaRPr>
          </a:p>
          <a:p>
            <a:pPr lvl="1"/>
            <a:endParaRPr lang="en-US" altLang="zh-CN" dirty="0" smtClean="0">
              <a:latin typeface="+mn-ea"/>
            </a:endParaRPr>
          </a:p>
          <a:p>
            <a:pPr lvl="1"/>
            <a:endParaRPr lang="en-US" altLang="zh-CN" dirty="0">
              <a:latin typeface="+mn-ea"/>
            </a:endParaRPr>
          </a:p>
          <a:p>
            <a:endParaRPr lang="en-US" altLang="zh-CN"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6" name="对象 5"/>
          <p:cNvGraphicFramePr>
            <a:graphicFrameLocks noChangeAspect="1"/>
          </p:cNvGraphicFramePr>
          <p:nvPr/>
        </p:nvGraphicFramePr>
        <p:xfrm>
          <a:off x="2544911" y="4157300"/>
          <a:ext cx="3262312" cy="719137"/>
        </p:xfrm>
        <a:graphic>
          <a:graphicData uri="http://schemas.openxmlformats.org/presentationml/2006/ole">
            <mc:AlternateContent xmlns:mc="http://schemas.openxmlformats.org/markup-compatibility/2006">
              <mc:Choice xmlns:v="urn:schemas-microsoft-com:vml" Requires="v">
                <p:oleObj spid="_x0000_s10639" name="Equation" r:id="rId2" imgW="46939200" imgH="10363200" progId="Equation.DSMT4">
                  <p:embed/>
                </p:oleObj>
              </mc:Choice>
              <mc:Fallback>
                <p:oleObj name="Equation" r:id="rId2" imgW="46939200" imgH="10363200" progId="Equation.DSMT4">
                  <p:embed/>
                  <p:pic>
                    <p:nvPicPr>
                      <p:cNvPr id="0" name="图片 10638"/>
                      <p:cNvPicPr/>
                      <p:nvPr/>
                    </p:nvPicPr>
                    <p:blipFill>
                      <a:blip r:embed="rId3"/>
                      <a:stretch>
                        <a:fillRect/>
                      </a:stretch>
                    </p:blipFill>
                    <p:spPr>
                      <a:xfrm>
                        <a:off x="2544911" y="4157300"/>
                        <a:ext cx="3262312" cy="71913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059832" y="6316113"/>
          <a:ext cx="1400175" cy="311150"/>
        </p:xfrm>
        <a:graphic>
          <a:graphicData uri="http://schemas.openxmlformats.org/presentationml/2006/ole">
            <mc:AlternateContent xmlns:mc="http://schemas.openxmlformats.org/markup-compatibility/2006">
              <mc:Choice xmlns:v="urn:schemas-microsoft-com:vml" Requires="v">
                <p:oleObj spid="_x0000_s10640" name="Equation" r:id="rId4" imgW="21945600" imgH="4876800" progId="Equation.DSMT4">
                  <p:embed/>
                </p:oleObj>
              </mc:Choice>
              <mc:Fallback>
                <p:oleObj name="Equation" r:id="rId4" imgW="21945600" imgH="4876800" progId="Equation.DSMT4">
                  <p:embed/>
                  <p:pic>
                    <p:nvPicPr>
                      <p:cNvPr id="0" name="图片 10639"/>
                      <p:cNvPicPr/>
                      <p:nvPr/>
                    </p:nvPicPr>
                    <p:blipFill>
                      <a:blip r:embed="rId5"/>
                      <a:stretch>
                        <a:fillRect/>
                      </a:stretch>
                    </p:blipFill>
                    <p:spPr>
                      <a:xfrm>
                        <a:off x="3059832" y="6316113"/>
                        <a:ext cx="1400175" cy="31115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1317160" y="5271740"/>
          <a:ext cx="4883150" cy="317500"/>
        </p:xfrm>
        <a:graphic>
          <a:graphicData uri="http://schemas.openxmlformats.org/presentationml/2006/ole">
            <mc:AlternateContent xmlns:mc="http://schemas.openxmlformats.org/markup-compatibility/2006">
              <mc:Choice xmlns:v="urn:schemas-microsoft-com:vml" Requires="v">
                <p:oleObj spid="_x0000_s10641" name="Equation" r:id="rId6" imgW="79552800" imgH="5181600" progId="Equation.DSMT4">
                  <p:embed/>
                </p:oleObj>
              </mc:Choice>
              <mc:Fallback>
                <p:oleObj name="Equation" r:id="rId6" imgW="79552800" imgH="5181600" progId="Equation.DSMT4">
                  <p:embed/>
                  <p:pic>
                    <p:nvPicPr>
                      <p:cNvPr id="0" name="图片 10640"/>
                      <p:cNvPicPr/>
                      <p:nvPr/>
                    </p:nvPicPr>
                    <p:blipFill>
                      <a:blip r:embed="rId7"/>
                      <a:stretch>
                        <a:fillRect/>
                      </a:stretch>
                    </p:blipFill>
                    <p:spPr>
                      <a:xfrm>
                        <a:off x="1317160" y="5271740"/>
                        <a:ext cx="4883150" cy="3175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50787" y="5661248"/>
          <a:ext cx="6221413" cy="620713"/>
        </p:xfrm>
        <a:graphic>
          <a:graphicData uri="http://schemas.openxmlformats.org/presentationml/2006/ole">
            <mc:AlternateContent xmlns:mc="http://schemas.openxmlformats.org/markup-compatibility/2006">
              <mc:Choice xmlns:v="urn:schemas-microsoft-com:vml" Requires="v">
                <p:oleObj spid="_x0000_s10642" name="Equation" r:id="rId8" imgW="97536000" imgH="9753600" progId="Equation.DSMT4">
                  <p:embed/>
                </p:oleObj>
              </mc:Choice>
              <mc:Fallback>
                <p:oleObj name="Equation" r:id="rId8" imgW="97536000" imgH="9753600" progId="Equation.DSMT4">
                  <p:embed/>
                  <p:pic>
                    <p:nvPicPr>
                      <p:cNvPr id="0" name="图片 10641"/>
                      <p:cNvPicPr/>
                      <p:nvPr/>
                    </p:nvPicPr>
                    <p:blipFill>
                      <a:blip r:embed="rId9"/>
                      <a:stretch>
                        <a:fillRect/>
                      </a:stretch>
                    </p:blipFill>
                    <p:spPr>
                      <a:xfrm>
                        <a:off x="150787" y="5661248"/>
                        <a:ext cx="6221413" cy="620713"/>
                      </a:xfrm>
                      <a:prstGeom prst="rect">
                        <a:avLst/>
                      </a:prstGeom>
                    </p:spPr>
                  </p:pic>
                </p:oleObj>
              </mc:Fallback>
            </mc:AlternateContent>
          </a:graphicData>
        </a:graphic>
      </p:graphicFrame>
    </p:spTree>
  </p:cSld>
  <p:clrMapOvr>
    <a:masterClrMapping/>
  </p:clrMapOvr>
  <p:transition>
    <p:cover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srcRect t="19124"/>
          <a:stretch>
            <a:fillRect/>
          </a:stretch>
        </p:blipFill>
        <p:spPr>
          <a:xfrm>
            <a:off x="2695130" y="3140968"/>
            <a:ext cx="3358225" cy="1903098"/>
          </a:xfrm>
          <a:prstGeom prst="rect">
            <a:avLst/>
          </a:prstGeom>
        </p:spPr>
      </p:pic>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683568" y="908720"/>
            <a:ext cx="7772400" cy="4690864"/>
          </a:xfrm>
        </p:spPr>
        <p:txBody>
          <a:bodyPr/>
          <a:lstStyle/>
          <a:p>
            <a:r>
              <a:rPr lang="zh-CN" altLang="en-US" dirty="0"/>
              <a:t>代价敏感错误率与代价</a:t>
            </a:r>
            <a:r>
              <a:rPr lang="zh-CN" altLang="en-US" dirty="0" smtClean="0"/>
              <a:t>曲线</a:t>
            </a:r>
            <a:endParaRPr lang="en-US" altLang="zh-CN" dirty="0" smtClean="0"/>
          </a:p>
          <a:p>
            <a:pPr lvl="1"/>
            <a:r>
              <a:rPr lang="zh-CN" altLang="en-US" dirty="0" smtClean="0"/>
              <a:t>有时不同类型的错误会</a:t>
            </a:r>
            <a:r>
              <a:rPr lang="zh-CN" altLang="en-US" dirty="0"/>
              <a:t>造成不同的损失，</a:t>
            </a:r>
            <a:r>
              <a:rPr lang="zh-CN" altLang="en-US" dirty="0" smtClean="0"/>
              <a:t>此时可为错误赋予“非均等代价”</a:t>
            </a:r>
            <a:endParaRPr lang="zh-CN" altLang="en-US" dirty="0"/>
          </a:p>
          <a:p>
            <a:pPr lvl="1"/>
            <a:r>
              <a:rPr lang="zh-CN" altLang="en-US" dirty="0" smtClean="0"/>
              <a:t>二分类可根据任务领域知识设定代价矩阵</a:t>
            </a:r>
            <a:endParaRPr lang="en-US" altLang="zh-CN" dirty="0" smtClean="0"/>
          </a:p>
          <a:p>
            <a:pPr lvl="2"/>
            <a:r>
              <a:rPr lang="zh-CN" altLang="en-US" dirty="0" smtClean="0">
                <a:latin typeface="+mn-ea"/>
              </a:rPr>
              <a:t>    表示</a:t>
            </a:r>
            <a:r>
              <a:rPr lang="zh-CN" altLang="en-US" dirty="0">
                <a:latin typeface="+mn-ea"/>
              </a:rPr>
              <a:t>将</a:t>
            </a:r>
            <a:r>
              <a:rPr lang="zh-CN" altLang="en-US" dirty="0" smtClean="0">
                <a:latin typeface="+mn-ea"/>
              </a:rPr>
              <a:t>第</a:t>
            </a:r>
            <a:r>
              <a:rPr lang="en-US" altLang="zh-CN" dirty="0" err="1" smtClean="0">
                <a:latin typeface="+mn-ea"/>
              </a:rPr>
              <a:t>i</a:t>
            </a:r>
            <a:r>
              <a:rPr lang="zh-CN" altLang="en-US" dirty="0" smtClean="0">
                <a:latin typeface="+mn-ea"/>
              </a:rPr>
              <a:t>类</a:t>
            </a:r>
            <a:r>
              <a:rPr lang="zh-CN" altLang="en-US" dirty="0">
                <a:latin typeface="+mn-ea"/>
              </a:rPr>
              <a:t>样本预测为</a:t>
            </a:r>
            <a:r>
              <a:rPr lang="zh-CN" altLang="en-US" dirty="0" smtClean="0">
                <a:latin typeface="+mn-ea"/>
              </a:rPr>
              <a:t>第</a:t>
            </a:r>
            <a:r>
              <a:rPr lang="en-US" altLang="zh-CN" dirty="0" smtClean="0">
                <a:latin typeface="+mn-ea"/>
              </a:rPr>
              <a:t>j</a:t>
            </a:r>
            <a:r>
              <a:rPr lang="zh-CN" altLang="en-US" dirty="0" smtClean="0">
                <a:latin typeface="+mn-ea"/>
              </a:rPr>
              <a:t>类</a:t>
            </a:r>
            <a:r>
              <a:rPr lang="zh-CN" altLang="en-US" dirty="0">
                <a:latin typeface="+mn-ea"/>
              </a:rPr>
              <a:t>样本的</a:t>
            </a:r>
            <a:r>
              <a:rPr lang="zh-CN" altLang="en-US" dirty="0" smtClean="0">
                <a:latin typeface="+mn-ea"/>
              </a:rPr>
              <a:t>代价</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smtClean="0">
              <a:latin typeface="+mn-ea"/>
            </a:endParaRPr>
          </a:p>
          <a:p>
            <a:pPr lvl="2"/>
            <a:endParaRPr lang="en-US" altLang="zh-CN" dirty="0" smtClean="0">
              <a:latin typeface="+mn-ea"/>
            </a:endParaRPr>
          </a:p>
          <a:p>
            <a:pPr lvl="2"/>
            <a:endParaRPr lang="zh-CN" altLang="en-US" dirty="0">
              <a:latin typeface="+mn-ea"/>
            </a:endParaRPr>
          </a:p>
          <a:p>
            <a:pPr lvl="1">
              <a:spcBef>
                <a:spcPts val="1200"/>
              </a:spcBef>
            </a:pPr>
            <a:r>
              <a:rPr lang="zh-CN" altLang="en-US" dirty="0"/>
              <a:t>代价</a:t>
            </a:r>
            <a:r>
              <a:rPr lang="zh-CN" altLang="en-US" dirty="0" smtClean="0">
                <a:latin typeface="+mn-ea"/>
              </a:rPr>
              <a:t>敏感错误率</a:t>
            </a:r>
            <a:r>
              <a:rPr lang="en-US" altLang="zh-CN" dirty="0" smtClean="0">
                <a:latin typeface="+mn-ea"/>
              </a:rPr>
              <a:t>(</a:t>
            </a:r>
            <a:r>
              <a:rPr lang="zh-CN" altLang="en-US" dirty="0" smtClean="0">
                <a:latin typeface="+mn-ea"/>
              </a:rPr>
              <a:t>归一化的总体代价</a:t>
            </a:r>
            <a:r>
              <a:rPr lang="en-US" altLang="zh-CN" dirty="0" smtClean="0">
                <a:latin typeface="+mn-ea"/>
              </a:rPr>
              <a:t>)</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6" name="对象 5"/>
          <p:cNvGraphicFramePr>
            <a:graphicFrameLocks noChangeAspect="1"/>
          </p:cNvGraphicFramePr>
          <p:nvPr/>
        </p:nvGraphicFramePr>
        <p:xfrm>
          <a:off x="214313" y="5553075"/>
          <a:ext cx="8856662" cy="900113"/>
        </p:xfrm>
        <a:graphic>
          <a:graphicData uri="http://schemas.openxmlformats.org/presentationml/2006/ole">
            <mc:AlternateContent xmlns:mc="http://schemas.openxmlformats.org/markup-compatibility/2006">
              <mc:Choice xmlns:v="urn:schemas-microsoft-com:vml" Requires="v">
                <p:oleObj spid="_x0000_s11453" name="Equation" r:id="rId2" imgW="107899200" imgH="10972800" progId="Equation.DSMT4">
                  <p:embed/>
                </p:oleObj>
              </mc:Choice>
              <mc:Fallback>
                <p:oleObj name="Equation" r:id="rId2" imgW="107899200" imgH="10972800" progId="Equation.DSMT4">
                  <p:embed/>
                  <p:pic>
                    <p:nvPicPr>
                      <p:cNvPr id="0" name="图片 11452"/>
                      <p:cNvPicPr/>
                      <p:nvPr/>
                    </p:nvPicPr>
                    <p:blipFill>
                      <a:blip r:embed="rId3"/>
                      <a:stretch>
                        <a:fillRect/>
                      </a:stretch>
                    </p:blipFill>
                    <p:spPr>
                      <a:xfrm>
                        <a:off x="214313" y="5553075"/>
                        <a:ext cx="8856662" cy="90011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849438" y="2708275"/>
          <a:ext cx="742950" cy="468313"/>
        </p:xfrm>
        <a:graphic>
          <a:graphicData uri="http://schemas.openxmlformats.org/presentationml/2006/ole">
            <mc:AlternateContent xmlns:mc="http://schemas.openxmlformats.org/markup-compatibility/2006">
              <mc:Choice xmlns:v="urn:schemas-microsoft-com:vml" Requires="v">
                <p:oleObj spid="_x0000_s11454" name="Equation" r:id="rId4" imgW="8229600" imgH="5181600" progId="Equation.DSMT4">
                  <p:embed/>
                </p:oleObj>
              </mc:Choice>
              <mc:Fallback>
                <p:oleObj name="Equation" r:id="rId4" imgW="8229600" imgH="5181600" progId="Equation.DSMT4">
                  <p:embed/>
                  <p:pic>
                    <p:nvPicPr>
                      <p:cNvPr id="0" name="图片 11453"/>
                      <p:cNvPicPr/>
                      <p:nvPr/>
                    </p:nvPicPr>
                    <p:blipFill>
                      <a:blip r:embed="rId5"/>
                      <a:stretch>
                        <a:fillRect/>
                      </a:stretch>
                    </p:blipFill>
                    <p:spPr>
                      <a:xfrm>
                        <a:off x="1849438" y="2708275"/>
                        <a:ext cx="742950" cy="468313"/>
                      </a:xfrm>
                      <a:prstGeom prst="rect">
                        <a:avLst/>
                      </a:prstGeom>
                    </p:spPr>
                  </p:pic>
                </p:oleObj>
              </mc:Fallback>
            </mc:AlternateContent>
          </a:graphicData>
        </a:graphic>
      </p:graphicFrame>
    </p:spTree>
  </p:cSld>
  <p:clrMapOvr>
    <a:masterClrMapping/>
  </p:clrMapOvr>
  <p:transition>
    <p:cover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683568" y="898376"/>
            <a:ext cx="7772400" cy="4690864"/>
          </a:xfrm>
        </p:spPr>
        <p:txBody>
          <a:bodyPr/>
          <a:lstStyle/>
          <a:p>
            <a:r>
              <a:rPr lang="zh-CN" altLang="en-US" dirty="0"/>
              <a:t>代价敏感错误率与代价曲线</a:t>
            </a:r>
            <a:endParaRPr lang="en-US" altLang="zh-CN" dirty="0"/>
          </a:p>
          <a:p>
            <a:pPr lvl="1"/>
            <a:r>
              <a:rPr lang="zh-CN" altLang="en-US" dirty="0"/>
              <a:t>代价</a:t>
            </a:r>
            <a:r>
              <a:rPr lang="zh-CN" altLang="en-US" dirty="0" smtClean="0"/>
              <a:t>曲线与期望总体代价</a:t>
            </a:r>
            <a:endParaRPr lang="en-US" altLang="zh-CN" dirty="0" smtClean="0"/>
          </a:p>
          <a:p>
            <a:pPr lvl="2"/>
            <a:r>
              <a:rPr lang="zh-CN" altLang="en-US" dirty="0" smtClean="0">
                <a:latin typeface="+mn-ea"/>
              </a:rPr>
              <a:t>非</a:t>
            </a:r>
            <a:r>
              <a:rPr lang="zh-CN" altLang="en-US" dirty="0">
                <a:latin typeface="+mn-ea"/>
              </a:rPr>
              <a:t>均等</a:t>
            </a:r>
            <a:r>
              <a:rPr lang="zh-CN" altLang="en-US" dirty="0" smtClean="0">
                <a:latin typeface="+mn-ea"/>
              </a:rPr>
              <a:t>代价下代价曲线反映学习器期望</a:t>
            </a:r>
            <a:r>
              <a:rPr lang="zh-CN" altLang="en-US" dirty="0">
                <a:latin typeface="+mn-ea"/>
              </a:rPr>
              <a:t>总体代价</a:t>
            </a:r>
            <a:endParaRPr lang="en-US" altLang="zh-CN" dirty="0" smtClean="0">
              <a:latin typeface="+mn-ea"/>
            </a:endParaRPr>
          </a:p>
          <a:p>
            <a:pPr lvl="2"/>
            <a:r>
              <a:rPr lang="zh-CN" altLang="en-US" dirty="0">
                <a:latin typeface="+mn-ea"/>
              </a:rPr>
              <a:t>横轴：正例概率</a:t>
            </a:r>
            <a:r>
              <a:rPr lang="zh-CN" altLang="en-US" dirty="0" smtClean="0">
                <a:latin typeface="+mn-ea"/>
              </a:rPr>
              <a:t>代价，取值为</a:t>
            </a:r>
            <a:r>
              <a:rPr lang="en-US" altLang="zh-CN" dirty="0">
                <a:latin typeface="+mn-ea"/>
              </a:rPr>
              <a:t>[</a:t>
            </a:r>
            <a:r>
              <a:rPr lang="en-US" altLang="zh-CN" dirty="0" smtClean="0">
                <a:latin typeface="+mn-ea"/>
              </a:rPr>
              <a:t>0,1]</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a:latin typeface="+mn-ea"/>
            </a:endParaRPr>
          </a:p>
          <a:p>
            <a:pPr lvl="2">
              <a:spcBef>
                <a:spcPts val="3000"/>
              </a:spcBef>
            </a:pPr>
            <a:r>
              <a:rPr lang="zh-CN" altLang="en-US" dirty="0" smtClean="0">
                <a:latin typeface="+mn-ea"/>
              </a:rPr>
              <a:t>纵轴</a:t>
            </a:r>
            <a:r>
              <a:rPr lang="zh-CN" altLang="en-US" dirty="0">
                <a:latin typeface="+mn-ea"/>
              </a:rPr>
              <a:t>：归一化</a:t>
            </a:r>
            <a:r>
              <a:rPr lang="zh-CN" altLang="en-US" dirty="0" smtClean="0">
                <a:latin typeface="+mn-ea"/>
              </a:rPr>
              <a:t>代价，取值为</a:t>
            </a:r>
            <a:r>
              <a:rPr lang="en-US" altLang="zh-CN" dirty="0" smtClean="0">
                <a:latin typeface="+mn-ea"/>
              </a:rPr>
              <a:t>[0,1]</a:t>
            </a:r>
            <a:endParaRPr lang="en-US" altLang="zh-CN" dirty="0" smtClean="0">
              <a:latin typeface="+mn-ea"/>
            </a:endParaRPr>
          </a:p>
          <a:p>
            <a:pPr lvl="2">
              <a:spcBef>
                <a:spcPts val="3000"/>
              </a:spcBef>
            </a:pPr>
            <a:endParaRPr lang="en-US" altLang="zh-CN" dirty="0">
              <a:latin typeface="+mn-ea"/>
            </a:endParaRPr>
          </a:p>
          <a:p>
            <a:pPr lvl="3">
              <a:spcBef>
                <a:spcPts val="3000"/>
              </a:spcBef>
            </a:pPr>
            <a:r>
              <a:rPr lang="zh-CN" altLang="en-US" dirty="0">
                <a:latin typeface="+mn-ea"/>
              </a:rPr>
              <a:t>其中</a:t>
            </a:r>
            <a:r>
              <a:rPr lang="en-US" altLang="zh-CN" dirty="0" smtClean="0">
                <a:latin typeface="+mn-ea"/>
              </a:rPr>
              <a:t>FPR</a:t>
            </a:r>
            <a:r>
              <a:rPr lang="zh-CN" altLang="en-US" dirty="0" smtClean="0">
                <a:latin typeface="+mn-ea"/>
              </a:rPr>
              <a:t>假</a:t>
            </a:r>
            <a:r>
              <a:rPr lang="zh-CN" altLang="en-US" dirty="0">
                <a:latin typeface="+mn-ea"/>
              </a:rPr>
              <a:t>正例率，</a:t>
            </a:r>
            <a:r>
              <a:rPr lang="en-US" altLang="zh-CN" dirty="0" smtClean="0">
                <a:latin typeface="+mn-ea"/>
              </a:rPr>
              <a:t>FNR=1-TPR</a:t>
            </a:r>
            <a:r>
              <a:rPr lang="zh-CN" altLang="en-US" dirty="0">
                <a:latin typeface="+mn-ea"/>
              </a:rPr>
              <a:t>是假反例率</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476500" y="2692400"/>
          <a:ext cx="4624388" cy="808038"/>
        </p:xfrm>
        <a:graphic>
          <a:graphicData uri="http://schemas.openxmlformats.org/presentationml/2006/ole">
            <mc:AlternateContent xmlns:mc="http://schemas.openxmlformats.org/markup-compatibility/2006">
              <mc:Choice xmlns:v="urn:schemas-microsoft-com:vml" Requires="v">
                <p:oleObj spid="_x0000_s12692" name="Equation" r:id="rId1" imgW="55778400" imgH="9753600" progId="Equation.DSMT4">
                  <p:embed/>
                </p:oleObj>
              </mc:Choice>
              <mc:Fallback>
                <p:oleObj name="Equation" r:id="rId1" imgW="55778400" imgH="9753600" progId="Equation.DSMT4">
                  <p:embed/>
                  <p:pic>
                    <p:nvPicPr>
                      <p:cNvPr id="0" name="图片 12691"/>
                      <p:cNvPicPr/>
                      <p:nvPr/>
                    </p:nvPicPr>
                    <p:blipFill>
                      <a:blip r:embed="rId2"/>
                      <a:stretch>
                        <a:fillRect/>
                      </a:stretch>
                    </p:blipFill>
                    <p:spPr>
                      <a:xfrm>
                        <a:off x="2476500" y="2692400"/>
                        <a:ext cx="4624388" cy="808038"/>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937829" y="3570089"/>
          <a:ext cx="3017837" cy="434975"/>
        </p:xfrm>
        <a:graphic>
          <a:graphicData uri="http://schemas.openxmlformats.org/presentationml/2006/ole">
            <mc:AlternateContent xmlns:mc="http://schemas.openxmlformats.org/markup-compatibility/2006">
              <mc:Choice xmlns:v="urn:schemas-microsoft-com:vml" Requires="v">
                <p:oleObj spid="_x0000_s12693" name="Equation" r:id="rId3" imgW="35966400" imgH="5181600" progId="Equation.DSMT4">
                  <p:embed/>
                </p:oleObj>
              </mc:Choice>
              <mc:Fallback>
                <p:oleObj name="Equation" r:id="rId3" imgW="35966400" imgH="5181600" progId="Equation.DSMT4">
                  <p:embed/>
                  <p:pic>
                    <p:nvPicPr>
                      <p:cNvPr id="0" name="图片 12692"/>
                      <p:cNvPicPr/>
                      <p:nvPr/>
                    </p:nvPicPr>
                    <p:blipFill>
                      <a:blip r:embed="rId4"/>
                      <a:stretch>
                        <a:fillRect/>
                      </a:stretch>
                    </p:blipFill>
                    <p:spPr>
                      <a:xfrm>
                        <a:off x="1937829" y="3570089"/>
                        <a:ext cx="3017837" cy="43497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933575" y="4637088"/>
          <a:ext cx="6040438" cy="808037"/>
        </p:xfrm>
        <a:graphic>
          <a:graphicData uri="http://schemas.openxmlformats.org/presentationml/2006/ole">
            <mc:AlternateContent xmlns:mc="http://schemas.openxmlformats.org/markup-compatibility/2006">
              <mc:Choice xmlns:v="urn:schemas-microsoft-com:vml" Requires="v">
                <p:oleObj spid="_x0000_s12694" name="Equation" r:id="rId5" imgW="72847200" imgH="9753600" progId="Equation.DSMT4">
                  <p:embed/>
                </p:oleObj>
              </mc:Choice>
              <mc:Fallback>
                <p:oleObj name="Equation" r:id="rId5" imgW="72847200" imgH="9753600" progId="Equation.DSMT4">
                  <p:embed/>
                  <p:pic>
                    <p:nvPicPr>
                      <p:cNvPr id="0" name="图片 12693"/>
                      <p:cNvPicPr/>
                      <p:nvPr/>
                    </p:nvPicPr>
                    <p:blipFill>
                      <a:blip r:embed="rId6"/>
                      <a:stretch>
                        <a:fillRect/>
                      </a:stretch>
                    </p:blipFill>
                    <p:spPr>
                      <a:xfrm>
                        <a:off x="1933575" y="4637088"/>
                        <a:ext cx="6040438" cy="808037"/>
                      </a:xfrm>
                      <a:prstGeom prst="rect">
                        <a:avLst/>
                      </a:prstGeom>
                    </p:spPr>
                  </p:pic>
                </p:oleObj>
              </mc:Fallback>
            </mc:AlternateContent>
          </a:graphicData>
        </a:graphic>
      </p:graphicFrame>
    </p:spTree>
  </p:cSld>
  <p:clrMapOvr>
    <a:masterClrMapping/>
  </p:clrMapOvr>
  <p:transition>
    <p:cover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性能度量</a:t>
            </a:r>
            <a:endParaRPr lang="zh-CN" altLang="en-US" dirty="0"/>
          </a:p>
        </p:txBody>
      </p:sp>
      <p:sp>
        <p:nvSpPr>
          <p:cNvPr id="3" name="内容占位符 2"/>
          <p:cNvSpPr>
            <a:spLocks noGrp="1"/>
          </p:cNvSpPr>
          <p:nvPr>
            <p:ph idx="1"/>
          </p:nvPr>
        </p:nvSpPr>
        <p:spPr>
          <a:xfrm>
            <a:off x="683568" y="826368"/>
            <a:ext cx="7772400" cy="4690864"/>
          </a:xfrm>
        </p:spPr>
        <p:txBody>
          <a:bodyPr/>
          <a:lstStyle/>
          <a:p>
            <a:r>
              <a:rPr lang="zh-CN" altLang="en-US" dirty="0"/>
              <a:t>代价敏感错误率与代价曲线</a:t>
            </a:r>
            <a:endParaRPr lang="en-US" altLang="zh-CN" dirty="0"/>
          </a:p>
          <a:p>
            <a:pPr lvl="1"/>
            <a:r>
              <a:rPr lang="zh-CN" altLang="en-US" dirty="0"/>
              <a:t>代价</a:t>
            </a:r>
            <a:r>
              <a:rPr lang="zh-CN" altLang="en-US" dirty="0" smtClean="0"/>
              <a:t>曲线与期望总体代价</a:t>
            </a:r>
            <a:endParaRPr lang="zh-CN" altLang="en-US" dirty="0" smtClean="0"/>
          </a:p>
          <a:p>
            <a:pPr lvl="2"/>
            <a:r>
              <a:rPr lang="zh-CN" altLang="en-US" dirty="0" smtClean="0"/>
              <a:t>绘制</a:t>
            </a:r>
            <a:endParaRPr lang="en-US" altLang="zh-CN" dirty="0" smtClean="0"/>
          </a:p>
          <a:p>
            <a:pPr lvl="3"/>
            <a:r>
              <a:rPr lang="en-US" altLang="zh-CN" dirty="0">
                <a:latin typeface="+mn-ea"/>
              </a:rPr>
              <a:t>ROC</a:t>
            </a:r>
            <a:r>
              <a:rPr lang="zh-CN" altLang="en-US" dirty="0" smtClean="0">
                <a:latin typeface="+mn-ea"/>
              </a:rPr>
              <a:t>曲线每</a:t>
            </a:r>
            <a:r>
              <a:rPr lang="zh-CN" altLang="en-US" dirty="0">
                <a:latin typeface="+mn-ea"/>
              </a:rPr>
              <a:t>一点</a:t>
            </a:r>
            <a:r>
              <a:rPr lang="en-US" altLang="zh-CN" dirty="0">
                <a:latin typeface="+mn-ea"/>
              </a:rPr>
              <a:t>(TPR,FPR)</a:t>
            </a:r>
            <a:r>
              <a:rPr lang="zh-CN" altLang="en-US" dirty="0">
                <a:latin typeface="+mn-ea"/>
              </a:rPr>
              <a:t>对应代价平面上的一条</a:t>
            </a:r>
            <a:r>
              <a:rPr lang="zh-CN" altLang="en-US" dirty="0" smtClean="0">
                <a:latin typeface="+mn-ea"/>
              </a:rPr>
              <a:t>线段</a:t>
            </a:r>
            <a:endParaRPr lang="en-US" altLang="zh-CN" dirty="0" smtClean="0">
              <a:latin typeface="+mn-ea"/>
            </a:endParaRPr>
          </a:p>
          <a:p>
            <a:pPr lvl="4"/>
            <a:r>
              <a:rPr lang="zh-CN" altLang="en-US" dirty="0" smtClean="0">
                <a:latin typeface="+mn-ea"/>
              </a:rPr>
              <a:t>计算</a:t>
            </a:r>
            <a:r>
              <a:rPr lang="zh-CN" altLang="en-US" dirty="0">
                <a:latin typeface="+mn-ea"/>
              </a:rPr>
              <a:t>假反利率</a:t>
            </a:r>
            <a:r>
              <a:rPr lang="en-US" altLang="zh-CN" dirty="0">
                <a:latin typeface="+mn-ea"/>
              </a:rPr>
              <a:t>FNR=1-TPR</a:t>
            </a:r>
            <a:endParaRPr lang="en-US" altLang="zh-CN" dirty="0">
              <a:latin typeface="+mn-ea"/>
            </a:endParaRPr>
          </a:p>
          <a:p>
            <a:pPr lvl="3"/>
            <a:r>
              <a:rPr lang="zh-CN" altLang="en-US" dirty="0" smtClean="0">
                <a:latin typeface="+mn-ea"/>
              </a:rPr>
              <a:t>在</a:t>
            </a:r>
            <a:r>
              <a:rPr lang="zh-CN" altLang="en-US" dirty="0">
                <a:latin typeface="+mn-ea"/>
              </a:rPr>
              <a:t>代价平面上绘制从</a:t>
            </a:r>
            <a:r>
              <a:rPr lang="en-US" altLang="zh-CN" dirty="0">
                <a:latin typeface="+mn-ea"/>
              </a:rPr>
              <a:t>(0,FPR)</a:t>
            </a:r>
            <a:r>
              <a:rPr lang="zh-CN" altLang="en-US" dirty="0">
                <a:latin typeface="+mn-ea"/>
              </a:rPr>
              <a:t>到</a:t>
            </a:r>
            <a:r>
              <a:rPr lang="en-US" altLang="zh-CN" dirty="0">
                <a:latin typeface="+mn-ea"/>
              </a:rPr>
              <a:t>(1,FNR)</a:t>
            </a:r>
            <a:r>
              <a:rPr lang="zh-CN" altLang="en-US" dirty="0">
                <a:latin typeface="+mn-ea"/>
              </a:rPr>
              <a:t>的</a:t>
            </a:r>
            <a:r>
              <a:rPr lang="zh-CN" altLang="en-US" dirty="0" smtClean="0">
                <a:latin typeface="+mn-ea"/>
              </a:rPr>
              <a:t>线段</a:t>
            </a:r>
            <a:endParaRPr lang="en-US" altLang="zh-CN" dirty="0" smtClean="0">
              <a:latin typeface="+mn-ea"/>
            </a:endParaRPr>
          </a:p>
          <a:p>
            <a:pPr lvl="4"/>
            <a:r>
              <a:rPr lang="zh-CN" altLang="en-US" dirty="0">
                <a:latin typeface="+mn-ea"/>
              </a:rPr>
              <a:t>线段下的面积即表示了该条件下的期望总体代价</a:t>
            </a:r>
            <a:endParaRPr lang="zh-CN" altLang="en-US" dirty="0">
              <a:latin typeface="+mn-ea"/>
            </a:endParaRPr>
          </a:p>
          <a:p>
            <a:pPr lvl="3"/>
            <a:r>
              <a:rPr lang="zh-CN" altLang="en-US" dirty="0">
                <a:latin typeface="+mn-ea"/>
              </a:rPr>
              <a:t>取所有线段的下界，围成的面积即为在所有条件下学习器的期望总体代价</a:t>
            </a:r>
            <a:endParaRPr lang="en-US" altLang="zh-CN" dirty="0" smtClean="0">
              <a:latin typeface="+mn-ea"/>
            </a:endParaRPr>
          </a:p>
          <a:p>
            <a:pPr lvl="4"/>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8" name="图片 7"/>
          <p:cNvPicPr>
            <a:picLocks noChangeAspect="1"/>
          </p:cNvPicPr>
          <p:nvPr/>
        </p:nvPicPr>
        <p:blipFill rotWithShape="1">
          <a:blip r:embed="rId1"/>
          <a:srcRect t="12780" b="10761"/>
          <a:stretch>
            <a:fillRect/>
          </a:stretch>
        </p:blipFill>
        <p:spPr>
          <a:xfrm>
            <a:off x="2343038" y="4077072"/>
            <a:ext cx="4245186" cy="2776735"/>
          </a:xfrm>
          <a:prstGeom prst="rect">
            <a:avLst/>
          </a:prstGeom>
        </p:spPr>
      </p:pic>
    </p:spTree>
  </p:cSld>
  <p:clrMapOvr>
    <a:masterClrMapping/>
  </p:clrMapOvr>
  <p:transition>
    <p:cover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2.4 </a:t>
            </a:r>
            <a:r>
              <a:rPr lang="zh-CN" altLang="en-US" dirty="0" smtClean="0"/>
              <a:t>比较</a:t>
            </a:r>
            <a:r>
              <a:rPr lang="zh-CN" altLang="en-US" dirty="0"/>
              <a:t>检验</a:t>
            </a:r>
            <a:endParaRPr lang="zh-CN" altLang="en-US" dirty="0"/>
          </a:p>
        </p:txBody>
      </p:sp>
      <p:sp>
        <p:nvSpPr>
          <p:cNvPr id="3" name="内容占位符 2"/>
          <p:cNvSpPr>
            <a:spLocks noGrp="1"/>
          </p:cNvSpPr>
          <p:nvPr>
            <p:ph idx="1"/>
          </p:nvPr>
        </p:nvSpPr>
        <p:spPr/>
        <p:txBody>
          <a:bodyPr/>
          <a:lstStyle/>
          <a:p>
            <a:r>
              <a:rPr lang="zh-CN" altLang="en-US" dirty="0" smtClean="0"/>
              <a:t>取得</a:t>
            </a:r>
            <a:r>
              <a:rPr lang="zh-CN" altLang="en-US" dirty="0"/>
              <a:t>某种性能度量</a:t>
            </a:r>
            <a:r>
              <a:rPr lang="zh-CN" altLang="en-US" dirty="0" smtClean="0"/>
              <a:t>评估</a:t>
            </a:r>
            <a:r>
              <a:rPr lang="zh-CN" altLang="en-US" dirty="0"/>
              <a:t>结果后</a:t>
            </a:r>
            <a:r>
              <a:rPr lang="zh-CN" altLang="en-US" dirty="0" smtClean="0"/>
              <a:t>，能否直接比较学习器</a:t>
            </a:r>
            <a:endParaRPr lang="en-US" altLang="zh-CN" dirty="0" smtClean="0"/>
          </a:p>
          <a:p>
            <a:pPr lvl="1"/>
            <a:r>
              <a:rPr lang="zh-CN" altLang="en-US" dirty="0" smtClean="0"/>
              <a:t>比较的是泛化性能，获得的是测试性能</a:t>
            </a:r>
            <a:endParaRPr lang="en-US" altLang="zh-CN" dirty="0" smtClean="0"/>
          </a:p>
          <a:p>
            <a:pPr lvl="2"/>
            <a:r>
              <a:rPr lang="zh-CN" altLang="en-US" dirty="0" smtClean="0"/>
              <a:t>测试</a:t>
            </a:r>
            <a:r>
              <a:rPr lang="zh-CN" altLang="en-US" dirty="0"/>
              <a:t>性能不等于泛化</a:t>
            </a:r>
            <a:r>
              <a:rPr lang="zh-CN" altLang="en-US" dirty="0" smtClean="0"/>
              <a:t>性能</a:t>
            </a:r>
            <a:endParaRPr lang="zh-CN" altLang="en-US" dirty="0"/>
          </a:p>
          <a:p>
            <a:pPr lvl="1"/>
            <a:r>
              <a:rPr lang="zh-CN" altLang="en-US" dirty="0" smtClean="0"/>
              <a:t>测试</a:t>
            </a:r>
            <a:r>
              <a:rPr lang="zh-CN" altLang="en-US" dirty="0"/>
              <a:t>性能随着测试集的变化而</a:t>
            </a:r>
            <a:r>
              <a:rPr lang="zh-CN" altLang="en-US" dirty="0" smtClean="0"/>
              <a:t>变化</a:t>
            </a:r>
            <a:endParaRPr lang="en-US" altLang="zh-CN" dirty="0" smtClean="0"/>
          </a:p>
          <a:p>
            <a:pPr lvl="2"/>
            <a:r>
              <a:rPr lang="zh-CN" altLang="en-US" dirty="0" smtClean="0"/>
              <a:t>大小、样例的不同</a:t>
            </a:r>
            <a:endParaRPr lang="zh-CN" altLang="en-US" dirty="0"/>
          </a:p>
          <a:p>
            <a:pPr lvl="1"/>
            <a:r>
              <a:rPr lang="zh-CN" altLang="en-US" dirty="0" smtClean="0"/>
              <a:t>很多</a:t>
            </a:r>
            <a:r>
              <a:rPr lang="zh-CN" altLang="en-US" dirty="0"/>
              <a:t>机器学习算法本身有一定的</a:t>
            </a:r>
            <a:r>
              <a:rPr lang="zh-CN" altLang="en-US" dirty="0" smtClean="0"/>
              <a:t>随机性</a:t>
            </a:r>
            <a:endParaRPr lang="en-US" altLang="zh-CN" dirty="0" smtClean="0"/>
          </a:p>
          <a:p>
            <a:pPr lvl="2"/>
            <a:r>
              <a:rPr lang="zh-CN" altLang="en-US" dirty="0" smtClean="0"/>
              <a:t>多次运行结果会不同</a:t>
            </a:r>
            <a:endParaRPr lang="zh-CN" altLang="en-US" dirty="0"/>
          </a:p>
          <a:p>
            <a:r>
              <a:rPr lang="zh-CN" altLang="en-US" dirty="0">
                <a:latin typeface="+mn-ea"/>
              </a:rPr>
              <a:t>统计假设检验 </a:t>
            </a:r>
            <a:r>
              <a:rPr lang="en-US" altLang="zh-CN" dirty="0">
                <a:latin typeface="+mn-ea"/>
              </a:rPr>
              <a:t>(hypothesis test) </a:t>
            </a:r>
            <a:r>
              <a:rPr lang="zh-CN" altLang="en-US" dirty="0">
                <a:latin typeface="+mn-ea"/>
              </a:rPr>
              <a:t>为学习器性能比较提供</a:t>
            </a:r>
            <a:r>
              <a:rPr lang="zh-CN" altLang="en-US" dirty="0" smtClean="0">
                <a:latin typeface="+mn-ea"/>
              </a:rPr>
              <a:t>了重要依据</a:t>
            </a:r>
            <a:endParaRPr lang="en-US" altLang="zh-CN" dirty="0" smtClean="0">
              <a:latin typeface="+mn-ea"/>
            </a:endParaRPr>
          </a:p>
          <a:p>
            <a:pPr lvl="1"/>
            <a:r>
              <a:rPr lang="zh-CN" altLang="en-US" dirty="0" smtClean="0">
                <a:latin typeface="+mn-ea"/>
              </a:rPr>
              <a:t>若</a:t>
            </a:r>
            <a:r>
              <a:rPr lang="zh-CN" altLang="en-US" dirty="0">
                <a:latin typeface="+mn-ea"/>
              </a:rPr>
              <a:t>在测试集上观察到学习器</a:t>
            </a:r>
            <a:r>
              <a:rPr lang="en-US" altLang="zh-CN" dirty="0">
                <a:latin typeface="+mn-ea"/>
              </a:rPr>
              <a:t>A</a:t>
            </a:r>
            <a:r>
              <a:rPr lang="zh-CN" altLang="en-US" dirty="0">
                <a:latin typeface="+mn-ea"/>
              </a:rPr>
              <a:t>比</a:t>
            </a:r>
            <a:r>
              <a:rPr lang="en-US" altLang="zh-CN" dirty="0">
                <a:latin typeface="+mn-ea"/>
              </a:rPr>
              <a:t>B</a:t>
            </a:r>
            <a:r>
              <a:rPr lang="zh-CN" altLang="en-US" dirty="0">
                <a:latin typeface="+mn-ea"/>
              </a:rPr>
              <a:t>好</a:t>
            </a:r>
            <a:r>
              <a:rPr lang="zh-CN" altLang="en-US" dirty="0" smtClean="0">
                <a:latin typeface="+mn-ea"/>
              </a:rPr>
              <a:t>，</a:t>
            </a:r>
            <a:r>
              <a:rPr lang="en-US" altLang="zh-CN" dirty="0" smtClean="0">
                <a:latin typeface="+mn-ea"/>
              </a:rPr>
              <a:t>A</a:t>
            </a:r>
            <a:r>
              <a:rPr lang="zh-CN" altLang="en-US" dirty="0">
                <a:latin typeface="+mn-ea"/>
              </a:rPr>
              <a:t>的泛化性能是否在统计意义上优于</a:t>
            </a:r>
            <a:r>
              <a:rPr lang="en-US" altLang="zh-CN" dirty="0">
                <a:latin typeface="+mn-ea"/>
              </a:rPr>
              <a:t>B</a:t>
            </a:r>
            <a:r>
              <a:rPr lang="zh-CN" altLang="en-US" dirty="0">
                <a:latin typeface="+mn-ea"/>
              </a:rPr>
              <a:t>，以及这个结论的把握有多</a:t>
            </a:r>
            <a:r>
              <a:rPr lang="zh-CN" altLang="en-US" dirty="0" smtClean="0">
                <a:latin typeface="+mn-ea"/>
              </a:rPr>
              <a:t>大</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a:xfrm>
            <a:off x="683568" y="970384"/>
            <a:ext cx="7985648" cy="4690864"/>
          </a:xfrm>
        </p:spPr>
        <p:txBody>
          <a:bodyPr/>
          <a:lstStyle/>
          <a:p>
            <a:r>
              <a:rPr lang="zh-CN" altLang="en-US" dirty="0" smtClean="0"/>
              <a:t>假设检验</a:t>
            </a:r>
            <a:endParaRPr lang="en-US" altLang="zh-CN" dirty="0" smtClean="0"/>
          </a:p>
          <a:p>
            <a:pPr lvl="1"/>
            <a:r>
              <a:rPr lang="en-US" altLang="zh-CN" dirty="0" smtClean="0">
                <a:latin typeface="+mn-ea"/>
              </a:rPr>
              <a:t>2.4.1 </a:t>
            </a:r>
            <a:r>
              <a:rPr lang="zh-CN" altLang="en-US" dirty="0" smtClean="0">
                <a:latin typeface="+mn-ea"/>
              </a:rPr>
              <a:t>单</a:t>
            </a:r>
            <a:r>
              <a:rPr lang="zh-CN" altLang="en-US" dirty="0" smtClean="0"/>
              <a:t>个</a:t>
            </a:r>
            <a:r>
              <a:rPr lang="zh-CN" altLang="en-US" dirty="0"/>
              <a:t>学习器泛化性能的假设进行</a:t>
            </a:r>
            <a:r>
              <a:rPr lang="zh-CN" altLang="en-US" dirty="0" smtClean="0"/>
              <a:t>检验</a:t>
            </a:r>
            <a:endParaRPr lang="en-US" altLang="zh-CN" dirty="0" smtClean="0"/>
          </a:p>
          <a:p>
            <a:pPr lvl="2"/>
            <a:r>
              <a:rPr lang="zh-CN" altLang="en-US" dirty="0" smtClean="0"/>
              <a:t>泛化</a:t>
            </a:r>
            <a:r>
              <a:rPr lang="zh-CN" altLang="en-US" dirty="0"/>
              <a:t>错误率与测试错误率未必相同，</a:t>
            </a:r>
            <a:r>
              <a:rPr lang="zh-CN" altLang="en-US" dirty="0" smtClean="0"/>
              <a:t>但二者</a:t>
            </a:r>
            <a:r>
              <a:rPr lang="zh-CN" altLang="en-US" dirty="0"/>
              <a:t>接近的</a:t>
            </a:r>
            <a:r>
              <a:rPr lang="zh-CN" altLang="en-US" dirty="0" smtClean="0"/>
              <a:t>可能性比较</a:t>
            </a:r>
            <a:r>
              <a:rPr lang="zh-CN" altLang="en-US" dirty="0"/>
              <a:t>大</a:t>
            </a:r>
            <a:r>
              <a:rPr lang="zh-CN" altLang="en-US" dirty="0" smtClean="0"/>
              <a:t>，可</a:t>
            </a:r>
            <a:r>
              <a:rPr lang="zh-CN" altLang="en-US" dirty="0"/>
              <a:t>根据测试错误率估</a:t>
            </a:r>
            <a:r>
              <a:rPr lang="zh-CN" altLang="en-US" dirty="0" smtClean="0"/>
              <a:t>推出</a:t>
            </a:r>
            <a:endParaRPr lang="en-US" altLang="zh-CN" dirty="0" smtClean="0"/>
          </a:p>
          <a:p>
            <a:pPr lvl="2"/>
            <a:r>
              <a:rPr lang="zh-CN" altLang="en-US" dirty="0" smtClean="0"/>
              <a:t>根据</a:t>
            </a:r>
            <a:r>
              <a:rPr lang="zh-CN" altLang="en-US" dirty="0"/>
              <a:t>测试</a:t>
            </a:r>
            <a:r>
              <a:rPr lang="zh-CN" altLang="en-US" dirty="0" smtClean="0"/>
              <a:t>错误率   估计推出</a:t>
            </a:r>
            <a:r>
              <a:rPr lang="zh-CN" altLang="en-US" dirty="0"/>
              <a:t>泛化</a:t>
            </a:r>
            <a:r>
              <a:rPr lang="zh-CN" altLang="en-US" dirty="0" smtClean="0"/>
              <a:t>错误率   的分布</a:t>
            </a:r>
            <a:endParaRPr lang="en-US" altLang="zh-CN" dirty="0" smtClean="0"/>
          </a:p>
          <a:p>
            <a:pPr lvl="3"/>
            <a:r>
              <a:rPr lang="zh-CN" altLang="en-US" dirty="0"/>
              <a:t>泛化错误率</a:t>
            </a:r>
            <a:r>
              <a:rPr lang="zh-CN" altLang="en-US" dirty="0" smtClean="0"/>
              <a:t>为   的</a:t>
            </a:r>
            <a:r>
              <a:rPr lang="zh-CN" altLang="en-US" dirty="0"/>
              <a:t>学习器被测得测试错误率</a:t>
            </a:r>
            <a:r>
              <a:rPr lang="zh-CN" altLang="en-US" dirty="0" smtClean="0"/>
              <a:t>为  的概率</a:t>
            </a:r>
            <a:endParaRPr lang="en-US" altLang="zh-CN" dirty="0" smtClean="0"/>
          </a:p>
          <a:p>
            <a:pPr lvl="3"/>
            <a:endParaRPr lang="en-US" altLang="zh-CN" dirty="0"/>
          </a:p>
          <a:p>
            <a:pPr lvl="3"/>
            <a:endParaRPr lang="en-US" altLang="zh-CN" dirty="0" smtClean="0"/>
          </a:p>
          <a:p>
            <a:pPr lvl="3"/>
            <a:r>
              <a:rPr lang="zh-CN" altLang="en-US" dirty="0" smtClean="0"/>
              <a:t>给定测试错误率，可得</a:t>
            </a:r>
            <a:r>
              <a:rPr lang="en-US" altLang="zh-CN" dirty="0" smtClean="0"/>
              <a:t>          </a:t>
            </a:r>
            <a:r>
              <a:rPr lang="zh-CN" altLang="en-US" dirty="0" smtClean="0"/>
              <a:t>在        时</a:t>
            </a:r>
            <a:r>
              <a:rPr lang="zh-CN" altLang="en-US" dirty="0"/>
              <a:t>最大，这符合二</a:t>
            </a:r>
            <a:r>
              <a:rPr lang="zh-CN" altLang="en-US" dirty="0">
                <a:latin typeface="+mn-ea"/>
              </a:rPr>
              <a:t>项</a:t>
            </a:r>
            <a:r>
              <a:rPr lang="en-US" altLang="zh-CN" dirty="0">
                <a:latin typeface="+mn-ea"/>
              </a:rPr>
              <a:t>(binomial)</a:t>
            </a:r>
            <a:r>
              <a:rPr lang="zh-CN" altLang="en-US" dirty="0" smtClean="0">
                <a:latin typeface="+mn-ea"/>
              </a:rPr>
              <a:t>分布</a:t>
            </a:r>
            <a:endParaRPr lang="en-US" altLang="zh-CN" dirty="0" smtClean="0">
              <a:latin typeface="+mn-ea"/>
            </a:endParaRPr>
          </a:p>
          <a:p>
            <a:pPr lvl="3"/>
            <a:r>
              <a:rPr lang="zh-CN" altLang="en-US" dirty="0" smtClean="0">
                <a:latin typeface="+mn-ea"/>
              </a:rPr>
              <a:t>可</a:t>
            </a:r>
            <a:r>
              <a:rPr lang="zh-CN" altLang="en-US" dirty="0">
                <a:latin typeface="+mn-ea"/>
              </a:rPr>
              <a:t>使用</a:t>
            </a:r>
            <a:r>
              <a:rPr lang="zh-CN" altLang="en-US" dirty="0" smtClean="0">
                <a:latin typeface="+mn-ea"/>
              </a:rPr>
              <a:t>“二项检验”</a:t>
            </a:r>
            <a:endParaRPr lang="en-US" altLang="zh-CN" dirty="0" smtClean="0">
              <a:latin typeface="+mn-ea"/>
            </a:endParaRPr>
          </a:p>
          <a:p>
            <a:pPr lvl="4" hangingPunct="0"/>
            <a:r>
              <a:rPr lang="zh-CN" altLang="en-US" dirty="0" smtClean="0">
                <a:latin typeface="+mn-ea"/>
              </a:rPr>
              <a:t>在</a:t>
            </a:r>
            <a:r>
              <a:rPr lang="en-US" altLang="zh-CN" dirty="0" smtClean="0">
                <a:latin typeface="+mn-ea"/>
              </a:rPr>
              <a:t>  </a:t>
            </a:r>
            <a:r>
              <a:rPr lang="zh-CN" altLang="en-US" dirty="0" smtClean="0">
                <a:latin typeface="+mn-ea"/>
              </a:rPr>
              <a:t>的</a:t>
            </a:r>
            <a:r>
              <a:rPr lang="zh-CN" altLang="en-US" dirty="0">
                <a:latin typeface="+mn-ea"/>
              </a:rPr>
              <a:t>显著度下，</a:t>
            </a:r>
            <a:r>
              <a:rPr lang="zh-CN" altLang="en-US" dirty="0" smtClean="0">
                <a:latin typeface="+mn-ea"/>
              </a:rPr>
              <a:t>假设    不能</a:t>
            </a:r>
            <a:r>
              <a:rPr lang="zh-CN" altLang="en-US" dirty="0">
                <a:latin typeface="+mn-ea"/>
              </a:rPr>
              <a:t>被拒绝，即能</a:t>
            </a:r>
            <a:r>
              <a:rPr lang="zh-CN" altLang="en-US" dirty="0" smtClean="0">
                <a:latin typeface="+mn-ea"/>
              </a:rPr>
              <a:t>以 </a:t>
            </a:r>
            <a:r>
              <a:rPr lang="zh-CN" altLang="en-US" dirty="0" smtClean="0">
                <a:solidFill>
                  <a:schemeClr val="bg1"/>
                </a:solidFill>
                <a:latin typeface="+mn-ea"/>
              </a:rPr>
              <a:t>的的 </a:t>
            </a:r>
            <a:r>
              <a:rPr lang="zh-CN" altLang="en-US" dirty="0" smtClean="0">
                <a:latin typeface="+mn-ea"/>
              </a:rPr>
              <a:t>的</a:t>
            </a:r>
            <a:r>
              <a:rPr lang="zh-CN" altLang="en-US" dirty="0">
                <a:latin typeface="+mn-ea"/>
              </a:rPr>
              <a:t>置信度认为，学习器的泛化错误率不</a:t>
            </a:r>
            <a:r>
              <a:rPr lang="zh-CN" altLang="en-US" dirty="0" smtClean="0">
                <a:latin typeface="+mn-ea"/>
              </a:rPr>
              <a:t>大于  ；否则</a:t>
            </a:r>
            <a:r>
              <a:rPr lang="zh-CN" altLang="en-US" dirty="0">
                <a:latin typeface="+mn-ea"/>
              </a:rPr>
              <a:t>该假设可被拒绝，即</a:t>
            </a:r>
            <a:r>
              <a:rPr lang="zh-CN" altLang="en-US" dirty="0" smtClean="0">
                <a:latin typeface="+mn-ea"/>
              </a:rPr>
              <a:t>在  的</a:t>
            </a:r>
            <a:r>
              <a:rPr lang="zh-CN" altLang="en-US" dirty="0">
                <a:latin typeface="+mn-ea"/>
              </a:rPr>
              <a:t>显著</a:t>
            </a:r>
            <a:r>
              <a:rPr lang="zh-CN" altLang="en-US" dirty="0" smtClean="0">
                <a:latin typeface="+mn-ea"/>
              </a:rPr>
              <a:t>度下</a:t>
            </a:r>
            <a:r>
              <a:rPr lang="zh-CN" altLang="en-US" dirty="0">
                <a:latin typeface="+mn-ea"/>
              </a:rPr>
              <a:t>可认为学习器的泛化错误率</a:t>
            </a:r>
            <a:r>
              <a:rPr lang="zh-CN" altLang="en-US" dirty="0" smtClean="0">
                <a:latin typeface="+mn-ea"/>
              </a:rPr>
              <a:t>大于  </a:t>
            </a:r>
            <a:endParaRPr lang="en-US" altLang="zh-CN"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7111519" y="2737655"/>
          <a:ext cx="268793" cy="295672"/>
        </p:xfrm>
        <a:graphic>
          <a:graphicData uri="http://schemas.openxmlformats.org/presentationml/2006/ole">
            <mc:AlternateContent xmlns:mc="http://schemas.openxmlformats.org/markup-compatibility/2006">
              <mc:Choice xmlns:v="urn:schemas-microsoft-com:vml" Requires="v">
                <p:oleObj spid="_x0000_s27364" name="Equation" r:id="rId1" imgW="3048000" imgH="3352800" progId="Equation.DSMT4">
                  <p:embed/>
                </p:oleObj>
              </mc:Choice>
              <mc:Fallback>
                <p:oleObj name="Equation" r:id="rId1" imgW="3048000" imgH="3352800" progId="Equation.DSMT4">
                  <p:embed/>
                  <p:pic>
                    <p:nvPicPr>
                      <p:cNvPr id="0" name="图片 27363"/>
                      <p:cNvPicPr/>
                      <p:nvPr/>
                    </p:nvPicPr>
                    <p:blipFill>
                      <a:blip r:embed="rId2"/>
                      <a:stretch>
                        <a:fillRect/>
                      </a:stretch>
                    </p:blipFill>
                    <p:spPr>
                      <a:xfrm>
                        <a:off x="7111519" y="2737655"/>
                        <a:ext cx="268793" cy="29567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092104" y="2636912"/>
          <a:ext cx="263872" cy="396415"/>
        </p:xfrm>
        <a:graphic>
          <a:graphicData uri="http://schemas.openxmlformats.org/presentationml/2006/ole">
            <mc:AlternateContent xmlns:mc="http://schemas.openxmlformats.org/markup-compatibility/2006">
              <mc:Choice xmlns:v="urn:schemas-microsoft-com:vml" Requires="v">
                <p:oleObj spid="_x0000_s27365" name="Equation" r:id="rId3" imgW="3048000" imgH="4572000" progId="Equation.DSMT4">
                  <p:embed/>
                </p:oleObj>
              </mc:Choice>
              <mc:Fallback>
                <p:oleObj name="Equation" r:id="rId3" imgW="3048000" imgH="4572000" progId="Equation.DSMT4">
                  <p:embed/>
                  <p:pic>
                    <p:nvPicPr>
                      <p:cNvPr id="0" name="图片 27364"/>
                      <p:cNvPicPr/>
                      <p:nvPr/>
                    </p:nvPicPr>
                    <p:blipFill>
                      <a:blip r:embed="rId4"/>
                      <a:stretch>
                        <a:fillRect/>
                      </a:stretch>
                    </p:blipFill>
                    <p:spPr>
                      <a:xfrm>
                        <a:off x="4092104" y="2636912"/>
                        <a:ext cx="263872" cy="39641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943167" y="3061320"/>
          <a:ext cx="268793" cy="295672"/>
        </p:xfrm>
        <a:graphic>
          <a:graphicData uri="http://schemas.openxmlformats.org/presentationml/2006/ole">
            <mc:AlternateContent xmlns:mc="http://schemas.openxmlformats.org/markup-compatibility/2006">
              <mc:Choice xmlns:v="urn:schemas-microsoft-com:vml" Requires="v">
                <p:oleObj spid="_x0000_s27366" name="Equation" r:id="rId5" imgW="3048000" imgH="3352800" progId="Equation.DSMT4">
                  <p:embed/>
                </p:oleObj>
              </mc:Choice>
              <mc:Fallback>
                <p:oleObj name="Equation" r:id="rId5" imgW="3048000" imgH="3352800" progId="Equation.DSMT4">
                  <p:embed/>
                  <p:pic>
                    <p:nvPicPr>
                      <p:cNvPr id="0" name="图片 27365"/>
                      <p:cNvPicPr/>
                      <p:nvPr/>
                    </p:nvPicPr>
                    <p:blipFill>
                      <a:blip r:embed="rId2"/>
                      <a:stretch>
                        <a:fillRect/>
                      </a:stretch>
                    </p:blipFill>
                    <p:spPr>
                      <a:xfrm>
                        <a:off x="3943167" y="3061320"/>
                        <a:ext cx="268793" cy="29567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7452320" y="2960577"/>
          <a:ext cx="263872" cy="396415"/>
        </p:xfrm>
        <a:graphic>
          <a:graphicData uri="http://schemas.openxmlformats.org/presentationml/2006/ole">
            <mc:AlternateContent xmlns:mc="http://schemas.openxmlformats.org/markup-compatibility/2006">
              <mc:Choice xmlns:v="urn:schemas-microsoft-com:vml" Requires="v">
                <p:oleObj spid="_x0000_s27367" name="Equation" r:id="rId6" imgW="3048000" imgH="4572000" progId="Equation.DSMT4">
                  <p:embed/>
                </p:oleObj>
              </mc:Choice>
              <mc:Fallback>
                <p:oleObj name="Equation" r:id="rId6" imgW="3048000" imgH="4572000" progId="Equation.DSMT4">
                  <p:embed/>
                  <p:pic>
                    <p:nvPicPr>
                      <p:cNvPr id="0" name="图片 27366"/>
                      <p:cNvPicPr/>
                      <p:nvPr/>
                    </p:nvPicPr>
                    <p:blipFill>
                      <a:blip r:embed="rId4"/>
                      <a:stretch>
                        <a:fillRect/>
                      </a:stretch>
                    </p:blipFill>
                    <p:spPr>
                      <a:xfrm>
                        <a:off x="7452320" y="2960577"/>
                        <a:ext cx="263872" cy="39641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347864" y="3285064"/>
          <a:ext cx="3783242" cy="720000"/>
        </p:xfrm>
        <a:graphic>
          <a:graphicData uri="http://schemas.openxmlformats.org/presentationml/2006/ole">
            <mc:AlternateContent xmlns:mc="http://schemas.openxmlformats.org/markup-compatibility/2006">
              <mc:Choice xmlns:v="urn:schemas-microsoft-com:vml" Requires="v">
                <p:oleObj spid="_x0000_s27368" name="Equation" r:id="rId7" imgW="47853600" imgH="9144000" progId="Equation.DSMT4">
                  <p:embed/>
                </p:oleObj>
              </mc:Choice>
              <mc:Fallback>
                <p:oleObj name="Equation" r:id="rId7" imgW="47853600" imgH="9144000" progId="Equation.DSMT4">
                  <p:embed/>
                  <p:pic>
                    <p:nvPicPr>
                      <p:cNvPr id="0" name="图片 27367"/>
                      <p:cNvPicPr/>
                      <p:nvPr/>
                    </p:nvPicPr>
                    <p:blipFill>
                      <a:blip r:embed="rId8"/>
                      <a:stretch>
                        <a:fillRect/>
                      </a:stretch>
                    </p:blipFill>
                    <p:spPr>
                      <a:xfrm>
                        <a:off x="3347864" y="3285064"/>
                        <a:ext cx="3783242" cy="7200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860032" y="3904773"/>
          <a:ext cx="866509" cy="396000"/>
        </p:xfrm>
        <a:graphic>
          <a:graphicData uri="http://schemas.openxmlformats.org/presentationml/2006/ole">
            <mc:AlternateContent xmlns:mc="http://schemas.openxmlformats.org/markup-compatibility/2006">
              <mc:Choice xmlns:v="urn:schemas-microsoft-com:vml" Requires="v">
                <p:oleObj spid="_x0000_s27369" name="Equation" r:id="rId9" imgW="11277600" imgH="5181600" progId="Equation.DSMT4">
                  <p:embed/>
                </p:oleObj>
              </mc:Choice>
              <mc:Fallback>
                <p:oleObj name="Equation" r:id="rId9" imgW="11277600" imgH="5181600" progId="Equation.DSMT4">
                  <p:embed/>
                  <p:pic>
                    <p:nvPicPr>
                      <p:cNvPr id="0" name="图片 27368"/>
                      <p:cNvPicPr/>
                      <p:nvPr/>
                    </p:nvPicPr>
                    <p:blipFill>
                      <a:blip r:embed="rId10"/>
                      <a:stretch>
                        <a:fillRect/>
                      </a:stretch>
                    </p:blipFill>
                    <p:spPr>
                      <a:xfrm>
                        <a:off x="4860032" y="3904773"/>
                        <a:ext cx="866509" cy="3960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5927262" y="3932801"/>
          <a:ext cx="609582" cy="324000"/>
        </p:xfrm>
        <a:graphic>
          <a:graphicData uri="http://schemas.openxmlformats.org/presentationml/2006/ole">
            <mc:AlternateContent xmlns:mc="http://schemas.openxmlformats.org/markup-compatibility/2006">
              <mc:Choice xmlns:v="urn:schemas-microsoft-com:vml" Requires="v">
                <p:oleObj spid="_x0000_s27370" name="Equation" r:id="rId11" imgW="8534400" imgH="4572000" progId="Equation.DSMT4">
                  <p:embed/>
                </p:oleObj>
              </mc:Choice>
              <mc:Fallback>
                <p:oleObj name="Equation" r:id="rId11" imgW="8534400" imgH="4572000" progId="Equation.DSMT4">
                  <p:embed/>
                  <p:pic>
                    <p:nvPicPr>
                      <p:cNvPr id="0" name="图片 27369"/>
                      <p:cNvPicPr/>
                      <p:nvPr/>
                    </p:nvPicPr>
                    <p:blipFill>
                      <a:blip r:embed="rId12"/>
                      <a:stretch>
                        <a:fillRect/>
                      </a:stretch>
                    </p:blipFill>
                    <p:spPr>
                      <a:xfrm>
                        <a:off x="5927262" y="3932801"/>
                        <a:ext cx="609582" cy="3240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131840" y="4941168"/>
          <a:ext cx="261937" cy="236537"/>
        </p:xfrm>
        <a:graphic>
          <a:graphicData uri="http://schemas.openxmlformats.org/presentationml/2006/ole">
            <mc:AlternateContent xmlns:mc="http://schemas.openxmlformats.org/markup-compatibility/2006">
              <mc:Choice xmlns:v="urn:schemas-microsoft-com:vml" Requires="v">
                <p:oleObj spid="_x0000_s27371" name="Equation" r:id="rId13" imgW="3657600" imgH="3352800" progId="Equation.DSMT4">
                  <p:embed/>
                </p:oleObj>
              </mc:Choice>
              <mc:Fallback>
                <p:oleObj name="Equation" r:id="rId13" imgW="3657600" imgH="3352800" progId="Equation.DSMT4">
                  <p:embed/>
                  <p:pic>
                    <p:nvPicPr>
                      <p:cNvPr id="0" name="图片 27370"/>
                      <p:cNvPicPr/>
                      <p:nvPr/>
                    </p:nvPicPr>
                    <p:blipFill>
                      <a:blip r:embed="rId14"/>
                      <a:stretch>
                        <a:fillRect/>
                      </a:stretch>
                    </p:blipFill>
                    <p:spPr>
                      <a:xfrm>
                        <a:off x="3131840" y="4941168"/>
                        <a:ext cx="261937" cy="23653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878757" y="5152231"/>
          <a:ext cx="676275" cy="387350"/>
        </p:xfrm>
        <a:graphic>
          <a:graphicData uri="http://schemas.openxmlformats.org/presentationml/2006/ole">
            <mc:AlternateContent xmlns:mc="http://schemas.openxmlformats.org/markup-compatibility/2006">
              <mc:Choice xmlns:v="urn:schemas-microsoft-com:vml" Requires="v">
                <p:oleObj spid="_x0000_s27372" name="Equation" r:id="rId15" imgW="9448800" imgH="5486400" progId="Equation.DSMT4">
                  <p:embed/>
                </p:oleObj>
              </mc:Choice>
              <mc:Fallback>
                <p:oleObj name="Equation" r:id="rId15" imgW="9448800" imgH="5486400" progId="Equation.DSMT4">
                  <p:embed/>
                  <p:pic>
                    <p:nvPicPr>
                      <p:cNvPr id="0" name="图片 27371"/>
                      <p:cNvPicPr/>
                      <p:nvPr/>
                    </p:nvPicPr>
                    <p:blipFill>
                      <a:blip r:embed="rId16"/>
                      <a:stretch>
                        <a:fillRect/>
                      </a:stretch>
                    </p:blipFill>
                    <p:spPr>
                      <a:xfrm>
                        <a:off x="2878757" y="5152231"/>
                        <a:ext cx="676275" cy="38735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5589438" y="4869160"/>
          <a:ext cx="566738" cy="301625"/>
        </p:xfrm>
        <a:graphic>
          <a:graphicData uri="http://schemas.openxmlformats.org/presentationml/2006/ole">
            <mc:AlternateContent xmlns:mc="http://schemas.openxmlformats.org/markup-compatibility/2006">
              <mc:Choice xmlns:v="urn:schemas-microsoft-com:vml" Requires="v">
                <p:oleObj spid="_x0000_s27373" name="Equation" r:id="rId17" imgW="7924800" imgH="4267200" progId="Equation.DSMT4">
                  <p:embed/>
                </p:oleObj>
              </mc:Choice>
              <mc:Fallback>
                <p:oleObj name="Equation" r:id="rId17" imgW="7924800" imgH="4267200" progId="Equation.DSMT4">
                  <p:embed/>
                  <p:pic>
                    <p:nvPicPr>
                      <p:cNvPr id="0" name="图片 27372"/>
                      <p:cNvPicPr/>
                      <p:nvPr/>
                    </p:nvPicPr>
                    <p:blipFill>
                      <a:blip r:embed="rId18"/>
                      <a:stretch>
                        <a:fillRect/>
                      </a:stretch>
                    </p:blipFill>
                    <p:spPr>
                      <a:xfrm>
                        <a:off x="5589438" y="4869160"/>
                        <a:ext cx="566738" cy="301625"/>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3063701" y="5417914"/>
          <a:ext cx="284163" cy="387350"/>
        </p:xfrm>
        <a:graphic>
          <a:graphicData uri="http://schemas.openxmlformats.org/presentationml/2006/ole">
            <mc:AlternateContent xmlns:mc="http://schemas.openxmlformats.org/markup-compatibility/2006">
              <mc:Choice xmlns:v="urn:schemas-microsoft-com:vml" Requires="v">
                <p:oleObj spid="_x0000_s27374" name="Equation" r:id="rId19" imgW="3962400" imgH="5486400" progId="Equation.DSMT4">
                  <p:embed/>
                </p:oleObj>
              </mc:Choice>
              <mc:Fallback>
                <p:oleObj name="Equation" r:id="rId19" imgW="3962400" imgH="5486400" progId="Equation.DSMT4">
                  <p:embed/>
                  <p:pic>
                    <p:nvPicPr>
                      <p:cNvPr id="0" name="图片 27373"/>
                      <p:cNvPicPr/>
                      <p:nvPr/>
                    </p:nvPicPr>
                    <p:blipFill>
                      <a:blip r:embed="rId20"/>
                      <a:stretch>
                        <a:fillRect/>
                      </a:stretch>
                    </p:blipFill>
                    <p:spPr>
                      <a:xfrm>
                        <a:off x="3063701" y="5417914"/>
                        <a:ext cx="284163" cy="38735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6758335" y="5517232"/>
          <a:ext cx="261937" cy="236537"/>
        </p:xfrm>
        <a:graphic>
          <a:graphicData uri="http://schemas.openxmlformats.org/presentationml/2006/ole">
            <mc:AlternateContent xmlns:mc="http://schemas.openxmlformats.org/markup-compatibility/2006">
              <mc:Choice xmlns:v="urn:schemas-microsoft-com:vml" Requires="v">
                <p:oleObj spid="_x0000_s27375" name="Equation" r:id="rId21" imgW="3657600" imgH="3352800" progId="Equation.DSMT4">
                  <p:embed/>
                </p:oleObj>
              </mc:Choice>
              <mc:Fallback>
                <p:oleObj name="Equation" r:id="rId21" imgW="3657600" imgH="3352800" progId="Equation.DSMT4">
                  <p:embed/>
                  <p:pic>
                    <p:nvPicPr>
                      <p:cNvPr id="0" name="图片 27374"/>
                      <p:cNvPicPr/>
                      <p:nvPr/>
                    </p:nvPicPr>
                    <p:blipFill>
                      <a:blip r:embed="rId22"/>
                      <a:stretch>
                        <a:fillRect/>
                      </a:stretch>
                    </p:blipFill>
                    <p:spPr>
                      <a:xfrm>
                        <a:off x="6758335" y="5517232"/>
                        <a:ext cx="261937" cy="236537"/>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6156176" y="5733256"/>
          <a:ext cx="284163" cy="387350"/>
        </p:xfrm>
        <a:graphic>
          <a:graphicData uri="http://schemas.openxmlformats.org/presentationml/2006/ole">
            <mc:AlternateContent xmlns:mc="http://schemas.openxmlformats.org/markup-compatibility/2006">
              <mc:Choice xmlns:v="urn:schemas-microsoft-com:vml" Requires="v">
                <p:oleObj spid="_x0000_s27376" name="Equation" r:id="rId23" imgW="3962400" imgH="5486400" progId="Equation.DSMT4">
                  <p:embed/>
                </p:oleObj>
              </mc:Choice>
              <mc:Fallback>
                <p:oleObj name="Equation" r:id="rId23" imgW="3962400" imgH="5486400" progId="Equation.DSMT4">
                  <p:embed/>
                  <p:pic>
                    <p:nvPicPr>
                      <p:cNvPr id="0" name="图片 27375"/>
                      <p:cNvPicPr/>
                      <p:nvPr/>
                    </p:nvPicPr>
                    <p:blipFill>
                      <a:blip r:embed="rId24"/>
                      <a:stretch>
                        <a:fillRect/>
                      </a:stretch>
                    </p:blipFill>
                    <p:spPr>
                      <a:xfrm>
                        <a:off x="6156176" y="5733256"/>
                        <a:ext cx="284163" cy="387350"/>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srcRect l="18277" r="18304"/>
          <a:stretch>
            <a:fillRect/>
          </a:stretch>
        </p:blipFill>
        <p:spPr>
          <a:xfrm>
            <a:off x="179512" y="4194444"/>
            <a:ext cx="1872209" cy="2587356"/>
          </a:xfrm>
          <a:prstGeom prst="rect">
            <a:avLst/>
          </a:prstGeom>
        </p:spPr>
      </p:pic>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p:txBody>
          <a:bodyPr/>
          <a:lstStyle/>
          <a:p>
            <a:r>
              <a:rPr lang="zh-CN" altLang="en-US" dirty="0" smtClean="0"/>
              <a:t>假设检验</a:t>
            </a:r>
            <a:endParaRPr lang="en-US" altLang="zh-CN" dirty="0" smtClean="0"/>
          </a:p>
          <a:p>
            <a:pPr lvl="1"/>
            <a:r>
              <a:rPr lang="en-US" altLang="zh-CN" dirty="0" smtClean="0">
                <a:latin typeface="+mn-ea"/>
              </a:rPr>
              <a:t>2.4.1 </a:t>
            </a:r>
            <a:r>
              <a:rPr lang="zh-CN" altLang="en-US" dirty="0" smtClean="0">
                <a:latin typeface="+mn-ea"/>
              </a:rPr>
              <a:t>单个</a:t>
            </a:r>
            <a:r>
              <a:rPr lang="zh-CN" altLang="en-US" dirty="0"/>
              <a:t>学习器泛化性能的假设进行检验</a:t>
            </a:r>
            <a:endParaRPr lang="en-US" altLang="zh-CN" dirty="0"/>
          </a:p>
          <a:p>
            <a:pPr lvl="2"/>
            <a:r>
              <a:rPr lang="zh-CN" altLang="en-US" dirty="0"/>
              <a:t>多次重复留出法或是交叉验证法等进行多次训练</a:t>
            </a:r>
            <a:r>
              <a:rPr lang="zh-CN" altLang="en-US" dirty="0" smtClean="0"/>
              <a:t>测试，</a:t>
            </a:r>
            <a:r>
              <a:rPr lang="zh-CN" altLang="en-US" dirty="0"/>
              <a:t>会得到多个测试错误率情况下</a:t>
            </a:r>
            <a:endParaRPr lang="en-US" altLang="zh-CN" dirty="0"/>
          </a:p>
          <a:p>
            <a:pPr lvl="3"/>
            <a:r>
              <a:rPr lang="zh-CN" altLang="en-US" dirty="0"/>
              <a:t>可使用</a:t>
            </a:r>
            <a:r>
              <a:rPr lang="en-US" altLang="zh-CN" dirty="0"/>
              <a:t>"t</a:t>
            </a:r>
            <a:r>
              <a:rPr lang="zh-CN" altLang="en-US" dirty="0"/>
              <a:t>检验</a:t>
            </a:r>
            <a:r>
              <a:rPr lang="zh-CN" altLang="en-US" dirty="0" smtClean="0"/>
              <a:t>”</a:t>
            </a:r>
            <a:endParaRPr lang="en-US" altLang="zh-CN" dirty="0" smtClean="0"/>
          </a:p>
          <a:p>
            <a:pPr lvl="3"/>
            <a:r>
              <a:rPr lang="zh-CN" altLang="en-US" dirty="0" smtClean="0"/>
              <a:t>对多个测试错误率求平均测试错误率    和方差</a:t>
            </a:r>
            <a:endParaRPr lang="en-US" altLang="zh-CN" dirty="0" smtClean="0"/>
          </a:p>
          <a:p>
            <a:pPr lvl="3"/>
            <a:endParaRPr lang="en-US" altLang="zh-CN" dirty="0"/>
          </a:p>
          <a:p>
            <a:pPr lvl="3"/>
            <a:endParaRPr lang="en-US" altLang="zh-CN" dirty="0" smtClean="0"/>
          </a:p>
          <a:p>
            <a:pPr lvl="3"/>
            <a:r>
              <a:rPr lang="zh-CN" altLang="en-US" dirty="0"/>
              <a:t>考虑</a:t>
            </a:r>
            <a:r>
              <a:rPr lang="zh-CN" altLang="en-US" dirty="0">
                <a:latin typeface="+mn-ea"/>
              </a:rPr>
              <a:t>到这</a:t>
            </a:r>
            <a:r>
              <a:rPr lang="en-US" altLang="zh-CN" dirty="0">
                <a:latin typeface="+mn-ea"/>
              </a:rPr>
              <a:t>k</a:t>
            </a:r>
            <a:r>
              <a:rPr lang="zh-CN" altLang="en-US" dirty="0">
                <a:latin typeface="+mn-ea"/>
              </a:rPr>
              <a:t>个测试</a:t>
            </a:r>
            <a:r>
              <a:rPr lang="zh-CN" altLang="en-US" dirty="0"/>
              <a:t>错误率可看作泛化</a:t>
            </a:r>
            <a:r>
              <a:rPr lang="zh-CN" altLang="en-US" dirty="0" smtClean="0"/>
              <a:t>错误率   的</a:t>
            </a:r>
            <a:r>
              <a:rPr lang="zh-CN" altLang="en-US" dirty="0"/>
              <a:t>独立采样，则</a:t>
            </a:r>
            <a:r>
              <a:rPr lang="zh-CN" altLang="en-US" dirty="0" smtClean="0"/>
              <a:t>变量   服从</a:t>
            </a:r>
            <a:r>
              <a:rPr lang="zh-CN" altLang="en-US" dirty="0"/>
              <a:t>自由度</a:t>
            </a:r>
            <a:r>
              <a:rPr lang="zh-CN" altLang="en-US" dirty="0">
                <a:latin typeface="+mn-ea"/>
              </a:rPr>
              <a:t>为</a:t>
            </a:r>
            <a:r>
              <a:rPr lang="en-US" altLang="zh-CN" dirty="0">
                <a:latin typeface="+mn-ea"/>
              </a:rPr>
              <a:t>k-1</a:t>
            </a:r>
            <a:r>
              <a:rPr lang="zh-CN" altLang="en-US" dirty="0">
                <a:latin typeface="+mn-ea"/>
              </a:rPr>
              <a:t>的</a:t>
            </a:r>
            <a:r>
              <a:rPr lang="en-US" altLang="zh-CN" dirty="0">
                <a:latin typeface="+mn-ea"/>
              </a:rPr>
              <a:t>t</a:t>
            </a:r>
            <a:r>
              <a:rPr lang="zh-CN" altLang="en-US" dirty="0" smtClean="0">
                <a:latin typeface="+mn-ea"/>
              </a:rPr>
              <a:t>分布</a:t>
            </a:r>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3"/>
            <a:r>
              <a:rPr lang="zh-CN" altLang="en-US" dirty="0">
                <a:latin typeface="+mn-ea"/>
              </a:rPr>
              <a:t>对</a:t>
            </a:r>
            <a:r>
              <a:rPr lang="zh-CN" altLang="en-US" dirty="0" smtClean="0">
                <a:latin typeface="+mn-ea"/>
              </a:rPr>
              <a:t>假设     和</a:t>
            </a:r>
            <a:r>
              <a:rPr lang="zh-CN" altLang="en-US" dirty="0">
                <a:latin typeface="+mn-ea"/>
              </a:rPr>
              <a:t>显著</a:t>
            </a:r>
            <a:r>
              <a:rPr lang="zh-CN" altLang="en-US" dirty="0" smtClean="0">
                <a:latin typeface="+mn-ea"/>
              </a:rPr>
              <a:t>度 ，若</a:t>
            </a:r>
            <a:r>
              <a:rPr lang="zh-CN" altLang="en-US" dirty="0">
                <a:latin typeface="+mn-ea"/>
              </a:rPr>
              <a:t>平均</a:t>
            </a:r>
            <a:r>
              <a:rPr lang="zh-CN" altLang="en-US" dirty="0" smtClean="0">
                <a:latin typeface="+mn-ea"/>
              </a:rPr>
              <a:t>错误率 与 之差位于</a:t>
            </a:r>
            <a:r>
              <a:rPr lang="zh-CN" altLang="en-US" dirty="0">
                <a:latin typeface="+mn-ea"/>
              </a:rPr>
              <a:t>临界值范围内，则不能拒绝</a:t>
            </a:r>
            <a:r>
              <a:rPr lang="zh-CN" altLang="en-US" dirty="0" smtClean="0">
                <a:latin typeface="+mn-ea"/>
              </a:rPr>
              <a:t>假设     ，其置信</a:t>
            </a:r>
            <a:r>
              <a:rPr lang="zh-CN" altLang="en-US" dirty="0">
                <a:latin typeface="+mn-ea"/>
              </a:rPr>
              <a:t>度为</a:t>
            </a:r>
            <a:r>
              <a:rPr lang="en-US" altLang="zh-CN" dirty="0" smtClean="0">
                <a:latin typeface="+mn-ea"/>
              </a:rPr>
              <a:t>1- ;</a:t>
            </a:r>
            <a:r>
              <a:rPr lang="zh-CN" altLang="en-US" dirty="0">
                <a:latin typeface="+mn-ea"/>
              </a:rPr>
              <a:t>否则可拒绝该假设，即在该显著度下可认为泛化错误率与  </a:t>
            </a:r>
            <a:r>
              <a:rPr lang="zh-CN" altLang="en-US" dirty="0" smtClean="0">
                <a:latin typeface="+mn-ea"/>
              </a:rPr>
              <a:t>有</a:t>
            </a:r>
            <a:r>
              <a:rPr lang="zh-CN" altLang="en-US" dirty="0">
                <a:latin typeface="+mn-ea"/>
              </a:rPr>
              <a:t>显著</a:t>
            </a:r>
            <a:r>
              <a:rPr lang="zh-CN" altLang="en-US" dirty="0" smtClean="0">
                <a:latin typeface="+mn-ea"/>
              </a:rPr>
              <a:t>不同</a:t>
            </a:r>
            <a:endParaRPr lang="en-US" altLang="zh-CN" dirty="0" smtClean="0">
              <a:latin typeface="+mn-ea"/>
            </a:endParaRPr>
          </a:p>
          <a:p>
            <a:pPr lvl="3"/>
            <a:endParaRPr lang="en-US" altLang="zh-CN" dirty="0"/>
          </a:p>
          <a:p>
            <a:pPr lvl="3"/>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6516216" y="3003819"/>
          <a:ext cx="261937" cy="279400"/>
        </p:xfrm>
        <a:graphic>
          <a:graphicData uri="http://schemas.openxmlformats.org/presentationml/2006/ole">
            <mc:AlternateContent xmlns:mc="http://schemas.openxmlformats.org/markup-compatibility/2006">
              <mc:Choice xmlns:v="urn:schemas-microsoft-com:vml" Requires="v">
                <p:oleObj spid="_x0000_s28124" name="Equation" r:id="rId2" imgW="3657600" imgH="3962400" progId="Equation.DSMT4">
                  <p:embed/>
                </p:oleObj>
              </mc:Choice>
              <mc:Fallback>
                <p:oleObj name="Equation" r:id="rId2" imgW="3657600" imgH="3962400" progId="Equation.DSMT4">
                  <p:embed/>
                  <p:pic>
                    <p:nvPicPr>
                      <p:cNvPr id="0" name="图片 28123"/>
                      <p:cNvPicPr/>
                      <p:nvPr/>
                    </p:nvPicPr>
                    <p:blipFill>
                      <a:blip r:embed="rId3"/>
                      <a:stretch>
                        <a:fillRect/>
                      </a:stretch>
                    </p:blipFill>
                    <p:spPr>
                      <a:xfrm>
                        <a:off x="6516216" y="3003819"/>
                        <a:ext cx="261937" cy="2794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7535118" y="2924944"/>
          <a:ext cx="349250" cy="344487"/>
        </p:xfrm>
        <a:graphic>
          <a:graphicData uri="http://schemas.openxmlformats.org/presentationml/2006/ole">
            <mc:AlternateContent xmlns:mc="http://schemas.openxmlformats.org/markup-compatibility/2006">
              <mc:Choice xmlns:v="urn:schemas-microsoft-com:vml" Requires="v">
                <p:oleObj spid="_x0000_s28125" name="Equation" r:id="rId4" imgW="4876800" imgH="4876800" progId="Equation.DSMT4">
                  <p:embed/>
                </p:oleObj>
              </mc:Choice>
              <mc:Fallback>
                <p:oleObj name="Equation" r:id="rId4" imgW="4876800" imgH="4876800" progId="Equation.DSMT4">
                  <p:embed/>
                  <p:pic>
                    <p:nvPicPr>
                      <p:cNvPr id="0" name="图片 28124"/>
                      <p:cNvPicPr/>
                      <p:nvPr/>
                    </p:nvPicPr>
                    <p:blipFill>
                      <a:blip r:embed="rId5"/>
                      <a:stretch>
                        <a:fillRect/>
                      </a:stretch>
                    </p:blipFill>
                    <p:spPr>
                      <a:xfrm>
                        <a:off x="7535118" y="2924944"/>
                        <a:ext cx="349250" cy="34448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641699" y="3212976"/>
          <a:ext cx="3946525" cy="730250"/>
        </p:xfrm>
        <a:graphic>
          <a:graphicData uri="http://schemas.openxmlformats.org/presentationml/2006/ole">
            <mc:AlternateContent xmlns:mc="http://schemas.openxmlformats.org/markup-compatibility/2006">
              <mc:Choice xmlns:v="urn:schemas-microsoft-com:vml" Requires="v">
                <p:oleObj spid="_x0000_s28126" name="Equation" r:id="rId6" imgW="55168800" imgH="10363200" progId="Equation.DSMT4">
                  <p:embed/>
                </p:oleObj>
              </mc:Choice>
              <mc:Fallback>
                <p:oleObj name="Equation" r:id="rId6" imgW="55168800" imgH="10363200" progId="Equation.DSMT4">
                  <p:embed/>
                  <p:pic>
                    <p:nvPicPr>
                      <p:cNvPr id="0" name="图片 28125"/>
                      <p:cNvPicPr/>
                      <p:nvPr/>
                    </p:nvPicPr>
                    <p:blipFill>
                      <a:blip r:embed="rId7"/>
                      <a:stretch>
                        <a:fillRect/>
                      </a:stretch>
                    </p:blipFill>
                    <p:spPr>
                      <a:xfrm>
                        <a:off x="2641699" y="3212976"/>
                        <a:ext cx="3946525" cy="73025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7083876" y="3833738"/>
          <a:ext cx="284163" cy="387350"/>
        </p:xfrm>
        <a:graphic>
          <a:graphicData uri="http://schemas.openxmlformats.org/presentationml/2006/ole">
            <mc:AlternateContent xmlns:mc="http://schemas.openxmlformats.org/markup-compatibility/2006">
              <mc:Choice xmlns:v="urn:schemas-microsoft-com:vml" Requires="v">
                <p:oleObj spid="_x0000_s28127" name="Equation" r:id="rId8" imgW="3962400" imgH="5486400" progId="Equation.DSMT4">
                  <p:embed/>
                </p:oleObj>
              </mc:Choice>
              <mc:Fallback>
                <p:oleObj name="Equation" r:id="rId8" imgW="3962400" imgH="5486400" progId="Equation.DSMT4">
                  <p:embed/>
                  <p:pic>
                    <p:nvPicPr>
                      <p:cNvPr id="0" name="图片 28126"/>
                      <p:cNvPicPr/>
                      <p:nvPr/>
                    </p:nvPicPr>
                    <p:blipFill>
                      <a:blip r:embed="rId9"/>
                      <a:stretch>
                        <a:fillRect/>
                      </a:stretch>
                    </p:blipFill>
                    <p:spPr>
                      <a:xfrm>
                        <a:off x="7083876" y="3833738"/>
                        <a:ext cx="284163" cy="3873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753742" y="4489648"/>
          <a:ext cx="1722437" cy="687388"/>
        </p:xfrm>
        <a:graphic>
          <a:graphicData uri="http://schemas.openxmlformats.org/presentationml/2006/ole">
            <mc:AlternateContent xmlns:mc="http://schemas.openxmlformats.org/markup-compatibility/2006">
              <mc:Choice xmlns:v="urn:schemas-microsoft-com:vml" Requires="v">
                <p:oleObj spid="_x0000_s28128" name="Equation" r:id="rId10" imgW="24079200" imgH="9753600" progId="Equation.DSMT4">
                  <p:embed/>
                </p:oleObj>
              </mc:Choice>
              <mc:Fallback>
                <p:oleObj name="Equation" r:id="rId10" imgW="24079200" imgH="9753600" progId="Equation.DSMT4">
                  <p:embed/>
                  <p:pic>
                    <p:nvPicPr>
                      <p:cNvPr id="0" name="图片 28127"/>
                      <p:cNvPicPr/>
                      <p:nvPr/>
                    </p:nvPicPr>
                    <p:blipFill>
                      <a:blip r:embed="rId11"/>
                      <a:stretch>
                        <a:fillRect/>
                      </a:stretch>
                    </p:blipFill>
                    <p:spPr>
                      <a:xfrm>
                        <a:off x="3753742" y="4489648"/>
                        <a:ext cx="1722437" cy="687388"/>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644009" y="4152383"/>
          <a:ext cx="239713" cy="385762"/>
        </p:xfrm>
        <a:graphic>
          <a:graphicData uri="http://schemas.openxmlformats.org/presentationml/2006/ole">
            <mc:AlternateContent xmlns:mc="http://schemas.openxmlformats.org/markup-compatibility/2006">
              <mc:Choice xmlns:v="urn:schemas-microsoft-com:vml" Requires="v">
                <p:oleObj spid="_x0000_s28129" name="Equation" r:id="rId12" imgW="3352800" imgH="5486400" progId="Equation.DSMT4">
                  <p:embed/>
                </p:oleObj>
              </mc:Choice>
              <mc:Fallback>
                <p:oleObj name="Equation" r:id="rId12" imgW="3352800" imgH="5486400" progId="Equation.DSMT4">
                  <p:embed/>
                  <p:pic>
                    <p:nvPicPr>
                      <p:cNvPr id="0" name="图片 28128"/>
                      <p:cNvPicPr/>
                      <p:nvPr/>
                    </p:nvPicPr>
                    <p:blipFill>
                      <a:blip r:embed="rId13"/>
                      <a:stretch>
                        <a:fillRect/>
                      </a:stretch>
                    </p:blipFill>
                    <p:spPr>
                      <a:xfrm>
                        <a:off x="3644009" y="4152383"/>
                        <a:ext cx="239713" cy="385762"/>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132782" y="5057229"/>
          <a:ext cx="719138" cy="387350"/>
        </p:xfrm>
        <a:graphic>
          <a:graphicData uri="http://schemas.openxmlformats.org/presentationml/2006/ole">
            <mc:AlternateContent xmlns:mc="http://schemas.openxmlformats.org/markup-compatibility/2006">
              <mc:Choice xmlns:v="urn:schemas-microsoft-com:vml" Requires="v">
                <p:oleObj spid="_x0000_s28130" name="Equation" r:id="rId14" imgW="10058400" imgH="5486400" progId="Equation.DSMT4">
                  <p:embed/>
                </p:oleObj>
              </mc:Choice>
              <mc:Fallback>
                <p:oleObj name="Equation" r:id="rId14" imgW="10058400" imgH="5486400" progId="Equation.DSMT4">
                  <p:embed/>
                  <p:pic>
                    <p:nvPicPr>
                      <p:cNvPr id="0" name="图片 28129"/>
                      <p:cNvPicPr/>
                      <p:nvPr/>
                    </p:nvPicPr>
                    <p:blipFill>
                      <a:blip r:embed="rId15"/>
                      <a:stretch>
                        <a:fillRect/>
                      </a:stretch>
                    </p:blipFill>
                    <p:spPr>
                      <a:xfrm>
                        <a:off x="3132782" y="5057229"/>
                        <a:ext cx="719138" cy="38735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4824697" y="5153906"/>
          <a:ext cx="261937" cy="236537"/>
        </p:xfrm>
        <a:graphic>
          <a:graphicData uri="http://schemas.openxmlformats.org/presentationml/2006/ole">
            <mc:AlternateContent xmlns:mc="http://schemas.openxmlformats.org/markup-compatibility/2006">
              <mc:Choice xmlns:v="urn:schemas-microsoft-com:vml" Requires="v">
                <p:oleObj spid="_x0000_s28131" name="Equation" r:id="rId16" imgW="3657600" imgH="3352800" progId="Equation.DSMT4">
                  <p:embed/>
                </p:oleObj>
              </mc:Choice>
              <mc:Fallback>
                <p:oleObj name="Equation" r:id="rId16" imgW="3657600" imgH="3352800" progId="Equation.DSMT4">
                  <p:embed/>
                  <p:pic>
                    <p:nvPicPr>
                      <p:cNvPr id="0" name="图片 28130"/>
                      <p:cNvPicPr/>
                      <p:nvPr/>
                    </p:nvPicPr>
                    <p:blipFill>
                      <a:blip r:embed="rId17"/>
                      <a:stretch>
                        <a:fillRect/>
                      </a:stretch>
                    </p:blipFill>
                    <p:spPr>
                      <a:xfrm>
                        <a:off x="4824697" y="5153906"/>
                        <a:ext cx="261937" cy="236537"/>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6732240" y="5165824"/>
          <a:ext cx="261938" cy="279400"/>
        </p:xfrm>
        <a:graphic>
          <a:graphicData uri="http://schemas.openxmlformats.org/presentationml/2006/ole">
            <mc:AlternateContent xmlns:mc="http://schemas.openxmlformats.org/markup-compatibility/2006">
              <mc:Choice xmlns:v="urn:schemas-microsoft-com:vml" Requires="v">
                <p:oleObj spid="_x0000_s28132" name="Equation" r:id="rId18" imgW="3657600" imgH="3962400" progId="Equation.DSMT4">
                  <p:embed/>
                </p:oleObj>
              </mc:Choice>
              <mc:Fallback>
                <p:oleObj name="Equation" r:id="rId18" imgW="3657600" imgH="3962400" progId="Equation.DSMT4">
                  <p:embed/>
                  <p:pic>
                    <p:nvPicPr>
                      <p:cNvPr id="0" name="图片 28131"/>
                      <p:cNvPicPr/>
                      <p:nvPr/>
                    </p:nvPicPr>
                    <p:blipFill>
                      <a:blip r:embed="rId19"/>
                      <a:stretch>
                        <a:fillRect/>
                      </a:stretch>
                    </p:blipFill>
                    <p:spPr>
                      <a:xfrm>
                        <a:off x="6732240" y="5165824"/>
                        <a:ext cx="261938" cy="2794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7169745" y="5049865"/>
          <a:ext cx="282575" cy="387350"/>
        </p:xfrm>
        <a:graphic>
          <a:graphicData uri="http://schemas.openxmlformats.org/presentationml/2006/ole">
            <mc:AlternateContent xmlns:mc="http://schemas.openxmlformats.org/markup-compatibility/2006">
              <mc:Choice xmlns:v="urn:schemas-microsoft-com:vml" Requires="v">
                <p:oleObj spid="_x0000_s28133" name="Equation" r:id="rId20" imgW="3962400" imgH="5486400" progId="Equation.DSMT4">
                  <p:embed/>
                </p:oleObj>
              </mc:Choice>
              <mc:Fallback>
                <p:oleObj name="Equation" r:id="rId20" imgW="3962400" imgH="5486400" progId="Equation.DSMT4">
                  <p:embed/>
                  <p:pic>
                    <p:nvPicPr>
                      <p:cNvPr id="0" name="图片 28132"/>
                      <p:cNvPicPr/>
                      <p:nvPr/>
                    </p:nvPicPr>
                    <p:blipFill>
                      <a:blip r:embed="rId21"/>
                      <a:stretch>
                        <a:fillRect/>
                      </a:stretch>
                    </p:blipFill>
                    <p:spPr>
                      <a:xfrm>
                        <a:off x="7169745" y="5049865"/>
                        <a:ext cx="282575" cy="38735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6085110" y="5373216"/>
          <a:ext cx="719138" cy="387350"/>
        </p:xfrm>
        <a:graphic>
          <a:graphicData uri="http://schemas.openxmlformats.org/presentationml/2006/ole">
            <mc:AlternateContent xmlns:mc="http://schemas.openxmlformats.org/markup-compatibility/2006">
              <mc:Choice xmlns:v="urn:schemas-microsoft-com:vml" Requires="v">
                <p:oleObj spid="_x0000_s28134" name="Equation" r:id="rId22" imgW="10058400" imgH="5486400" progId="Equation.DSMT4">
                  <p:embed/>
                </p:oleObj>
              </mc:Choice>
              <mc:Fallback>
                <p:oleObj name="Equation" r:id="rId22" imgW="10058400" imgH="5486400" progId="Equation.DSMT4">
                  <p:embed/>
                  <p:pic>
                    <p:nvPicPr>
                      <p:cNvPr id="0" name="图片 28133"/>
                      <p:cNvPicPr/>
                      <p:nvPr/>
                    </p:nvPicPr>
                    <p:blipFill>
                      <a:blip r:embed="rId23"/>
                      <a:stretch>
                        <a:fillRect/>
                      </a:stretch>
                    </p:blipFill>
                    <p:spPr>
                      <a:xfrm>
                        <a:off x="6085110" y="5373216"/>
                        <a:ext cx="719138" cy="38735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2581871" y="5784751"/>
          <a:ext cx="261937" cy="236537"/>
        </p:xfrm>
        <a:graphic>
          <a:graphicData uri="http://schemas.openxmlformats.org/presentationml/2006/ole">
            <mc:AlternateContent xmlns:mc="http://schemas.openxmlformats.org/markup-compatibility/2006">
              <mc:Choice xmlns:v="urn:schemas-microsoft-com:vml" Requires="v">
                <p:oleObj spid="_x0000_s28135" name="Equation" r:id="rId24" imgW="3657600" imgH="3352800" progId="Equation.DSMT4">
                  <p:embed/>
                </p:oleObj>
              </mc:Choice>
              <mc:Fallback>
                <p:oleObj name="Equation" r:id="rId24" imgW="3657600" imgH="3352800" progId="Equation.DSMT4">
                  <p:embed/>
                  <p:pic>
                    <p:nvPicPr>
                      <p:cNvPr id="0" name="图片 28134"/>
                      <p:cNvPicPr/>
                      <p:nvPr/>
                    </p:nvPicPr>
                    <p:blipFill>
                      <a:blip r:embed="rId25"/>
                      <a:stretch>
                        <a:fillRect/>
                      </a:stretch>
                    </p:blipFill>
                    <p:spPr>
                      <a:xfrm>
                        <a:off x="2581871" y="5784751"/>
                        <a:ext cx="261937" cy="236537"/>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419872" y="5966434"/>
          <a:ext cx="282575" cy="387350"/>
        </p:xfrm>
        <a:graphic>
          <a:graphicData uri="http://schemas.openxmlformats.org/presentationml/2006/ole">
            <mc:AlternateContent xmlns:mc="http://schemas.openxmlformats.org/markup-compatibility/2006">
              <mc:Choice xmlns:v="urn:schemas-microsoft-com:vml" Requires="v">
                <p:oleObj spid="_x0000_s28136" name="Equation" r:id="rId26" imgW="3962400" imgH="5486400" progId="Equation.DSMT4">
                  <p:embed/>
                </p:oleObj>
              </mc:Choice>
              <mc:Fallback>
                <p:oleObj name="Equation" r:id="rId26" imgW="3962400" imgH="5486400" progId="Equation.DSMT4">
                  <p:embed/>
                  <p:pic>
                    <p:nvPicPr>
                      <p:cNvPr id="0" name="图片 28135"/>
                      <p:cNvPicPr/>
                      <p:nvPr/>
                    </p:nvPicPr>
                    <p:blipFill>
                      <a:blip r:embed="rId21"/>
                      <a:stretch>
                        <a:fillRect/>
                      </a:stretch>
                    </p:blipFill>
                    <p:spPr>
                      <a:xfrm>
                        <a:off x="3419872" y="5966434"/>
                        <a:ext cx="282575" cy="387350"/>
                      </a:xfrm>
                      <a:prstGeom prst="rect">
                        <a:avLst/>
                      </a:prstGeom>
                    </p:spPr>
                  </p:pic>
                </p:oleObj>
              </mc:Fallback>
            </mc:AlternateContent>
          </a:graphicData>
        </a:graphic>
      </p:graphicFrame>
    </p:spTree>
  </p:cSld>
  <p:clrMapOvr>
    <a:masterClrMapping/>
  </p:clrMapOvr>
  <p:transition>
    <p:cover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a:xfrm>
            <a:off x="683568" y="836712"/>
            <a:ext cx="7772400" cy="4690864"/>
          </a:xfrm>
        </p:spPr>
        <p:txBody>
          <a:bodyPr/>
          <a:lstStyle/>
          <a:p>
            <a:r>
              <a:rPr lang="zh-CN" altLang="en-US" dirty="0" smtClean="0"/>
              <a:t>假设检验</a:t>
            </a:r>
            <a:endParaRPr lang="en-US" altLang="zh-CN" dirty="0"/>
          </a:p>
          <a:p>
            <a:pPr lvl="1"/>
            <a:r>
              <a:rPr lang="zh-CN" altLang="en-US" dirty="0" smtClean="0"/>
              <a:t>两学习器比较</a:t>
            </a:r>
            <a:endParaRPr lang="en-US" altLang="zh-CN" dirty="0" smtClean="0"/>
          </a:p>
          <a:p>
            <a:pPr lvl="2"/>
            <a:r>
              <a:rPr lang="en-US" altLang="zh-CN" dirty="0" smtClean="0">
                <a:latin typeface="+mn-ea"/>
              </a:rPr>
              <a:t>2.4.2 </a:t>
            </a:r>
            <a:r>
              <a:rPr lang="zh-CN" altLang="en-US" dirty="0" smtClean="0">
                <a:latin typeface="+mn-ea"/>
              </a:rPr>
              <a:t>交叉验证</a:t>
            </a:r>
            <a:r>
              <a:rPr lang="en-US" altLang="zh-CN" dirty="0" smtClean="0">
                <a:latin typeface="+mn-ea"/>
              </a:rPr>
              <a:t>t</a:t>
            </a:r>
            <a:r>
              <a:rPr lang="zh-CN" altLang="en-US" dirty="0">
                <a:latin typeface="+mn-ea"/>
              </a:rPr>
              <a:t>检验（基于成对</a:t>
            </a:r>
            <a:r>
              <a:rPr lang="en-US" altLang="zh-CN" dirty="0">
                <a:latin typeface="+mn-ea"/>
              </a:rPr>
              <a:t>t</a:t>
            </a:r>
            <a:r>
              <a:rPr lang="zh-CN" altLang="en-US" dirty="0" smtClean="0">
                <a:latin typeface="+mn-ea"/>
              </a:rPr>
              <a:t>检验</a:t>
            </a:r>
            <a:r>
              <a:rPr lang="zh-CN" altLang="en-US" dirty="0">
                <a:latin typeface="+mn-ea"/>
              </a:rPr>
              <a:t>）</a:t>
            </a:r>
            <a:endParaRPr lang="en-US" altLang="zh-CN" dirty="0" smtClean="0">
              <a:latin typeface="+mn-ea"/>
            </a:endParaRPr>
          </a:p>
          <a:p>
            <a:pPr lvl="3"/>
            <a:r>
              <a:rPr lang="zh-CN" altLang="en-US" dirty="0" smtClean="0">
                <a:latin typeface="+mn-ea"/>
              </a:rPr>
              <a:t>使用</a:t>
            </a:r>
            <a:r>
              <a:rPr lang="en-US" altLang="zh-CN" dirty="0" smtClean="0">
                <a:latin typeface="+mn-ea"/>
              </a:rPr>
              <a:t>k</a:t>
            </a:r>
            <a:r>
              <a:rPr lang="zh-CN" altLang="en-US" dirty="0" smtClean="0">
                <a:latin typeface="+mn-ea"/>
              </a:rPr>
              <a:t>折交叉验证</a:t>
            </a:r>
            <a:endParaRPr lang="en-US" altLang="zh-CN" dirty="0" smtClean="0">
              <a:latin typeface="+mn-ea"/>
            </a:endParaRPr>
          </a:p>
          <a:p>
            <a:pPr lvl="4"/>
            <a:r>
              <a:rPr lang="zh-CN" altLang="en-US" dirty="0" smtClean="0">
                <a:latin typeface="+mn-ea"/>
              </a:rPr>
              <a:t>设使用</a:t>
            </a:r>
            <a:r>
              <a:rPr lang="en-US" altLang="zh-CN" dirty="0">
                <a:latin typeface="+mn-ea"/>
              </a:rPr>
              <a:t>k</a:t>
            </a:r>
            <a:r>
              <a:rPr lang="zh-CN" altLang="en-US" dirty="0">
                <a:latin typeface="+mn-ea"/>
              </a:rPr>
              <a:t>折交叉验证法</a:t>
            </a:r>
            <a:r>
              <a:rPr lang="zh-CN" altLang="en-US" dirty="0" smtClean="0">
                <a:latin typeface="+mn-ea"/>
              </a:rPr>
              <a:t>得到两学习器的测试错误率分别为</a:t>
            </a:r>
            <a:endParaRPr lang="en-US" altLang="zh-CN" dirty="0" smtClean="0">
              <a:latin typeface="+mn-ea"/>
            </a:endParaRPr>
          </a:p>
          <a:p>
            <a:pPr lvl="4"/>
            <a:r>
              <a:rPr lang="zh-CN" altLang="en-US" dirty="0" smtClean="0">
                <a:latin typeface="+mn-ea"/>
              </a:rPr>
              <a:t>基本</a:t>
            </a:r>
            <a:r>
              <a:rPr lang="zh-CN" altLang="en-US" dirty="0">
                <a:latin typeface="+mn-ea"/>
              </a:rPr>
              <a:t>思想</a:t>
            </a:r>
            <a:r>
              <a:rPr lang="zh-CN" altLang="en-US" dirty="0" smtClean="0">
                <a:latin typeface="+mn-ea"/>
              </a:rPr>
              <a:t>是</a:t>
            </a:r>
            <a:r>
              <a:rPr lang="zh-CN" altLang="en-US" dirty="0">
                <a:latin typeface="+mn-ea"/>
              </a:rPr>
              <a:t>对每对结果求差，若两个学习器性能相同，则差值均值应为</a:t>
            </a:r>
            <a:r>
              <a:rPr lang="zh-CN" altLang="en-US" dirty="0" smtClean="0">
                <a:latin typeface="+mn-ea"/>
              </a:rPr>
              <a:t>零</a:t>
            </a:r>
            <a:endParaRPr lang="en-US" altLang="zh-CN" dirty="0" smtClean="0">
              <a:latin typeface="+mn-ea"/>
            </a:endParaRPr>
          </a:p>
          <a:p>
            <a:pPr lvl="4"/>
            <a:r>
              <a:rPr lang="zh-CN" altLang="en-US" dirty="0" smtClean="0">
                <a:latin typeface="+mn-ea"/>
              </a:rPr>
              <a:t>方法：根据差值来</a:t>
            </a:r>
            <a:r>
              <a:rPr lang="zh-CN" altLang="en-US" dirty="0">
                <a:latin typeface="+mn-ea"/>
              </a:rPr>
              <a:t>对“学习器</a:t>
            </a:r>
            <a:r>
              <a:rPr lang="en-US" altLang="zh-CN" dirty="0">
                <a:latin typeface="+mn-ea"/>
              </a:rPr>
              <a:t>A</a:t>
            </a:r>
            <a:r>
              <a:rPr lang="zh-CN" altLang="en-US" dirty="0">
                <a:latin typeface="+mn-ea"/>
              </a:rPr>
              <a:t>与</a:t>
            </a:r>
            <a:r>
              <a:rPr lang="en-US" altLang="zh-CN" dirty="0">
                <a:latin typeface="+mn-ea"/>
              </a:rPr>
              <a:t>B</a:t>
            </a:r>
            <a:r>
              <a:rPr lang="zh-CN" altLang="en-US" dirty="0">
                <a:latin typeface="+mn-ea"/>
              </a:rPr>
              <a:t>性能相同”这个假设做</a:t>
            </a:r>
            <a:r>
              <a:rPr lang="en-US" altLang="zh-CN" dirty="0">
                <a:latin typeface="+mn-ea"/>
              </a:rPr>
              <a:t>t</a:t>
            </a:r>
            <a:r>
              <a:rPr lang="zh-CN" altLang="en-US" dirty="0">
                <a:latin typeface="+mn-ea"/>
              </a:rPr>
              <a:t>检验，计算出</a:t>
            </a:r>
            <a:r>
              <a:rPr lang="zh-CN" altLang="en-US" dirty="0" smtClean="0">
                <a:latin typeface="+mn-ea"/>
              </a:rPr>
              <a:t>差值      的均值  和方差  ，</a:t>
            </a:r>
            <a:r>
              <a:rPr lang="zh-CN" altLang="en-US" dirty="0">
                <a:latin typeface="+mn-ea"/>
              </a:rPr>
              <a:t>在显著</a:t>
            </a:r>
            <a:r>
              <a:rPr lang="zh-CN" altLang="en-US" dirty="0" smtClean="0">
                <a:latin typeface="+mn-ea"/>
              </a:rPr>
              <a:t>度下  ，</a:t>
            </a:r>
            <a:r>
              <a:rPr lang="zh-CN" altLang="en-US" dirty="0">
                <a:latin typeface="+mn-ea"/>
              </a:rPr>
              <a:t>若</a:t>
            </a:r>
            <a:r>
              <a:rPr lang="zh-CN" altLang="en-US" dirty="0" smtClean="0">
                <a:latin typeface="+mn-ea"/>
              </a:rPr>
              <a:t>变量</a:t>
            </a:r>
            <a:endParaRPr lang="en-US" altLang="zh-CN" dirty="0" smtClean="0">
              <a:latin typeface="+mn-ea"/>
            </a:endParaRPr>
          </a:p>
          <a:p>
            <a:pPr lvl="4"/>
            <a:endParaRPr lang="en-US" altLang="zh-CN" dirty="0" smtClean="0">
              <a:latin typeface="+mn-ea"/>
            </a:endParaRPr>
          </a:p>
          <a:p>
            <a:pPr lvl="4"/>
            <a:endParaRPr lang="en-US" altLang="zh-CN" dirty="0">
              <a:latin typeface="+mn-ea"/>
            </a:endParaRPr>
          </a:p>
          <a:p>
            <a:pPr marL="1828800" lvl="4" indent="0">
              <a:buNone/>
            </a:pPr>
            <a:r>
              <a:rPr lang="zh-CN" altLang="en-US" dirty="0" smtClean="0">
                <a:latin typeface="+mn-ea"/>
              </a:rPr>
              <a:t>  小于临界值     ，</a:t>
            </a:r>
            <a:r>
              <a:rPr lang="zh-CN" altLang="en-US" dirty="0">
                <a:latin typeface="+mn-ea"/>
              </a:rPr>
              <a:t>则假设不能被拒绝，</a:t>
            </a:r>
            <a:r>
              <a:rPr lang="zh-CN" altLang="en-US" dirty="0" smtClean="0">
                <a:latin typeface="+mn-ea"/>
              </a:rPr>
              <a:t>即两学习</a:t>
            </a:r>
            <a:r>
              <a:rPr lang="zh-CN" altLang="en-US" dirty="0">
                <a:latin typeface="+mn-ea"/>
              </a:rPr>
              <a:t>器的性能没有显著</a:t>
            </a:r>
            <a:r>
              <a:rPr lang="zh-CN" altLang="en-US" dirty="0" smtClean="0">
                <a:latin typeface="+mn-ea"/>
              </a:rPr>
              <a:t>差别；否则有</a:t>
            </a:r>
            <a:r>
              <a:rPr lang="zh-CN" altLang="en-US" dirty="0">
                <a:latin typeface="+mn-ea"/>
              </a:rPr>
              <a:t>显著差别，且平均错误率较小的性能较</a:t>
            </a:r>
            <a:r>
              <a:rPr lang="zh-CN" altLang="en-US" dirty="0" smtClean="0">
                <a:latin typeface="+mn-ea"/>
              </a:rPr>
              <a:t>优</a:t>
            </a:r>
            <a:endParaRPr lang="en-US" altLang="zh-CN" dirty="0" smtClean="0">
              <a:latin typeface="+mn-ea"/>
            </a:endParaRPr>
          </a:p>
          <a:p>
            <a:pPr lvl="4"/>
            <a:r>
              <a:rPr lang="zh-CN" altLang="en-US" dirty="0">
                <a:latin typeface="+mn-ea"/>
              </a:rPr>
              <a:t>不同轮次训练集有重叠，测试错误率不独立，会导致过高估计假设成立的</a:t>
            </a:r>
            <a:r>
              <a:rPr lang="zh-CN" altLang="en-US" dirty="0" smtClean="0">
                <a:latin typeface="+mn-ea"/>
              </a:rPr>
              <a:t>概率</a:t>
            </a:r>
            <a:endParaRPr lang="zh-CN" altLang="en-US"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3588643" y="2732980"/>
          <a:ext cx="695325" cy="407988"/>
        </p:xfrm>
        <a:graphic>
          <a:graphicData uri="http://schemas.openxmlformats.org/presentationml/2006/ole">
            <mc:AlternateContent xmlns:mc="http://schemas.openxmlformats.org/markup-compatibility/2006">
              <mc:Choice xmlns:v="urn:schemas-microsoft-com:vml" Requires="v">
                <p:oleObj spid="_x0000_s16198" name="Equation" r:id="rId1" imgW="9753600" imgH="5791200" progId="Equation.DSMT4">
                  <p:embed/>
                </p:oleObj>
              </mc:Choice>
              <mc:Fallback>
                <p:oleObj name="Equation" r:id="rId1" imgW="9753600" imgH="5791200" progId="Equation.DSMT4">
                  <p:embed/>
                  <p:pic>
                    <p:nvPicPr>
                      <p:cNvPr id="0" name="图片 16197"/>
                      <p:cNvPicPr/>
                      <p:nvPr/>
                    </p:nvPicPr>
                    <p:blipFill>
                      <a:blip r:embed="rId2"/>
                      <a:stretch>
                        <a:fillRect/>
                      </a:stretch>
                    </p:blipFill>
                    <p:spPr>
                      <a:xfrm>
                        <a:off x="3588643" y="2732980"/>
                        <a:ext cx="695325" cy="407988"/>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7603331" y="4055378"/>
          <a:ext cx="261937" cy="279400"/>
        </p:xfrm>
        <a:graphic>
          <a:graphicData uri="http://schemas.openxmlformats.org/presentationml/2006/ole">
            <mc:AlternateContent xmlns:mc="http://schemas.openxmlformats.org/markup-compatibility/2006">
              <mc:Choice xmlns:v="urn:schemas-microsoft-com:vml" Requires="v">
                <p:oleObj spid="_x0000_s16199" name="Equation" r:id="rId3" imgW="3657600" imgH="3962400" progId="Equation.DSMT4">
                  <p:embed/>
                </p:oleObj>
              </mc:Choice>
              <mc:Fallback>
                <p:oleObj name="Equation" r:id="rId3" imgW="3657600" imgH="3962400" progId="Equation.DSMT4">
                  <p:embed/>
                  <p:pic>
                    <p:nvPicPr>
                      <p:cNvPr id="0" name="图片 16198"/>
                      <p:cNvPicPr/>
                      <p:nvPr/>
                    </p:nvPicPr>
                    <p:blipFill>
                      <a:blip r:embed="rId4"/>
                      <a:stretch>
                        <a:fillRect/>
                      </a:stretch>
                    </p:blipFill>
                    <p:spPr>
                      <a:xfrm>
                        <a:off x="7603331" y="4055378"/>
                        <a:ext cx="261937" cy="2794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096717" y="4279963"/>
          <a:ext cx="349250" cy="344487"/>
        </p:xfrm>
        <a:graphic>
          <a:graphicData uri="http://schemas.openxmlformats.org/presentationml/2006/ole">
            <mc:AlternateContent xmlns:mc="http://schemas.openxmlformats.org/markup-compatibility/2006">
              <mc:Choice xmlns:v="urn:schemas-microsoft-com:vml" Requires="v">
                <p:oleObj spid="_x0000_s16200" name="Equation" r:id="rId5" imgW="4876800" imgH="4876800" progId="Equation.DSMT4">
                  <p:embed/>
                </p:oleObj>
              </mc:Choice>
              <mc:Fallback>
                <p:oleObj name="Equation" r:id="rId5" imgW="4876800" imgH="4876800" progId="Equation.DSMT4">
                  <p:embed/>
                  <p:pic>
                    <p:nvPicPr>
                      <p:cNvPr id="0" name="图片 16199"/>
                      <p:cNvPicPr/>
                      <p:nvPr/>
                    </p:nvPicPr>
                    <p:blipFill>
                      <a:blip r:embed="rId6"/>
                      <a:stretch>
                        <a:fillRect/>
                      </a:stretch>
                    </p:blipFill>
                    <p:spPr>
                      <a:xfrm>
                        <a:off x="3096717" y="4279963"/>
                        <a:ext cx="349250" cy="344487"/>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945081" y="4372040"/>
          <a:ext cx="261937" cy="236537"/>
        </p:xfrm>
        <a:graphic>
          <a:graphicData uri="http://schemas.openxmlformats.org/presentationml/2006/ole">
            <mc:AlternateContent xmlns:mc="http://schemas.openxmlformats.org/markup-compatibility/2006">
              <mc:Choice xmlns:v="urn:schemas-microsoft-com:vml" Requires="v">
                <p:oleObj spid="_x0000_s16201" name="Equation" r:id="rId7" imgW="3657600" imgH="3352800" progId="Equation.DSMT4">
                  <p:embed/>
                </p:oleObj>
              </mc:Choice>
              <mc:Fallback>
                <p:oleObj name="Equation" r:id="rId7" imgW="3657600" imgH="3352800" progId="Equation.DSMT4">
                  <p:embed/>
                  <p:pic>
                    <p:nvPicPr>
                      <p:cNvPr id="0" name="图片 16200"/>
                      <p:cNvPicPr/>
                      <p:nvPr/>
                    </p:nvPicPr>
                    <p:blipFill>
                      <a:blip r:embed="rId8"/>
                      <a:stretch>
                        <a:fillRect/>
                      </a:stretch>
                    </p:blipFill>
                    <p:spPr>
                      <a:xfrm>
                        <a:off x="4945081" y="4372040"/>
                        <a:ext cx="261937" cy="236537"/>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5042396" y="4605188"/>
          <a:ext cx="1068388" cy="666750"/>
        </p:xfrm>
        <a:graphic>
          <a:graphicData uri="http://schemas.openxmlformats.org/presentationml/2006/ole">
            <mc:AlternateContent xmlns:mc="http://schemas.openxmlformats.org/markup-compatibility/2006">
              <mc:Choice xmlns:v="urn:schemas-microsoft-com:vml" Requires="v">
                <p:oleObj spid="_x0000_s16202" name="Equation" r:id="rId9" imgW="14935200" imgH="9448800" progId="Equation.DSMT4">
                  <p:embed/>
                </p:oleObj>
              </mc:Choice>
              <mc:Fallback>
                <p:oleObj name="Equation" r:id="rId9" imgW="14935200" imgH="9448800" progId="Equation.DSMT4">
                  <p:embed/>
                  <p:pic>
                    <p:nvPicPr>
                      <p:cNvPr id="0" name="图片 16201"/>
                      <p:cNvPicPr/>
                      <p:nvPr/>
                    </p:nvPicPr>
                    <p:blipFill>
                      <a:blip r:embed="rId10"/>
                      <a:stretch>
                        <a:fillRect/>
                      </a:stretch>
                    </p:blipFill>
                    <p:spPr>
                      <a:xfrm>
                        <a:off x="5042396" y="4605188"/>
                        <a:ext cx="1068388" cy="66675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178700" y="5181252"/>
          <a:ext cx="676275" cy="407988"/>
        </p:xfrm>
        <a:graphic>
          <a:graphicData uri="http://schemas.openxmlformats.org/presentationml/2006/ole">
            <mc:AlternateContent xmlns:mc="http://schemas.openxmlformats.org/markup-compatibility/2006">
              <mc:Choice xmlns:v="urn:schemas-microsoft-com:vml" Requires="v">
                <p:oleObj spid="_x0000_s16203" name="Equation" r:id="rId11" imgW="9448800" imgH="5791200" progId="Equation.DSMT4">
                  <p:embed/>
                </p:oleObj>
              </mc:Choice>
              <mc:Fallback>
                <p:oleObj name="Equation" r:id="rId11" imgW="9448800" imgH="5791200" progId="Equation.DSMT4">
                  <p:embed/>
                  <p:pic>
                    <p:nvPicPr>
                      <p:cNvPr id="0" name="图片 16202"/>
                      <p:cNvPicPr/>
                      <p:nvPr/>
                    </p:nvPicPr>
                    <p:blipFill>
                      <a:blip r:embed="rId12"/>
                      <a:stretch>
                        <a:fillRect/>
                      </a:stretch>
                    </p:blipFill>
                    <p:spPr>
                      <a:xfrm>
                        <a:off x="4178700" y="5181252"/>
                        <a:ext cx="676275" cy="407988"/>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050756" y="3957116"/>
          <a:ext cx="825500" cy="407988"/>
        </p:xfrm>
        <a:graphic>
          <a:graphicData uri="http://schemas.openxmlformats.org/presentationml/2006/ole">
            <mc:AlternateContent xmlns:mc="http://schemas.openxmlformats.org/markup-compatibility/2006">
              <mc:Choice xmlns:v="urn:schemas-microsoft-com:vml" Requires="v">
                <p:oleObj spid="_x0000_s16204" name="Equation" r:id="rId13" imgW="11582400" imgH="5791200" progId="Equation.DSMT4">
                  <p:embed/>
                </p:oleObj>
              </mc:Choice>
              <mc:Fallback>
                <p:oleObj name="Equation" r:id="rId13" imgW="11582400" imgH="5791200" progId="Equation.DSMT4">
                  <p:embed/>
                  <p:pic>
                    <p:nvPicPr>
                      <p:cNvPr id="0" name="图片 16203"/>
                      <p:cNvPicPr/>
                      <p:nvPr/>
                    </p:nvPicPr>
                    <p:blipFill>
                      <a:blip r:embed="rId14"/>
                      <a:stretch>
                        <a:fillRect/>
                      </a:stretch>
                    </p:blipFill>
                    <p:spPr>
                      <a:xfrm>
                        <a:off x="6050756" y="3957116"/>
                        <a:ext cx="825500" cy="407988"/>
                      </a:xfrm>
                      <a:prstGeom prst="rect">
                        <a:avLst/>
                      </a:prstGeom>
                    </p:spPr>
                  </p:pic>
                </p:oleObj>
              </mc:Fallback>
            </mc:AlternateContent>
          </a:graphicData>
        </a:graphic>
      </p:graphicFrame>
    </p:spTree>
  </p:cSld>
  <p:clrMapOvr>
    <a:masterClrMapping/>
  </p:clrMapOvr>
  <p:transition>
    <p:cover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p:txBody>
          <a:bodyPr/>
          <a:lstStyle/>
          <a:p>
            <a:r>
              <a:rPr lang="zh-CN" altLang="en-US" dirty="0" smtClean="0"/>
              <a:t>假设检验</a:t>
            </a:r>
            <a:endParaRPr lang="en-US" altLang="zh-CN" dirty="0" smtClean="0"/>
          </a:p>
          <a:p>
            <a:pPr lvl="1"/>
            <a:r>
              <a:rPr lang="zh-CN" altLang="en-US" dirty="0" smtClean="0"/>
              <a:t>两</a:t>
            </a:r>
            <a:r>
              <a:rPr lang="zh-CN" altLang="en-US" dirty="0"/>
              <a:t>学习器</a:t>
            </a:r>
            <a:r>
              <a:rPr lang="zh-CN" altLang="en-US" dirty="0" smtClean="0"/>
              <a:t>比较</a:t>
            </a:r>
            <a:endParaRPr lang="en-US" altLang="zh-CN" dirty="0" smtClean="0"/>
          </a:p>
          <a:p>
            <a:pPr lvl="2"/>
            <a:r>
              <a:rPr lang="en-US" altLang="zh-CN" dirty="0" smtClean="0">
                <a:latin typeface="+mn-ea"/>
              </a:rPr>
              <a:t>2.4.2 </a:t>
            </a:r>
            <a:r>
              <a:rPr lang="zh-CN" altLang="en-US" dirty="0" smtClean="0">
                <a:latin typeface="+mn-ea"/>
              </a:rPr>
              <a:t>交叉</a:t>
            </a:r>
            <a:r>
              <a:rPr lang="zh-CN" altLang="en-US" dirty="0">
                <a:latin typeface="+mn-ea"/>
              </a:rPr>
              <a:t>验证</a:t>
            </a:r>
            <a:r>
              <a:rPr lang="en-US" altLang="zh-CN" dirty="0">
                <a:latin typeface="+mn-ea"/>
              </a:rPr>
              <a:t>t</a:t>
            </a:r>
            <a:r>
              <a:rPr lang="zh-CN" altLang="en-US" dirty="0" smtClean="0">
                <a:latin typeface="+mn-ea"/>
              </a:rPr>
              <a:t>检验（基于</a:t>
            </a:r>
            <a:r>
              <a:rPr lang="zh-CN" altLang="en-US" dirty="0">
                <a:latin typeface="+mn-ea"/>
              </a:rPr>
              <a:t>成对</a:t>
            </a:r>
            <a:r>
              <a:rPr lang="en-US" altLang="zh-CN" dirty="0">
                <a:latin typeface="+mn-ea"/>
              </a:rPr>
              <a:t>t</a:t>
            </a:r>
            <a:r>
              <a:rPr lang="zh-CN" altLang="en-US" dirty="0">
                <a:latin typeface="+mn-ea"/>
              </a:rPr>
              <a:t>检验</a:t>
            </a:r>
            <a:r>
              <a:rPr lang="zh-CN" altLang="en-US" dirty="0" smtClean="0">
                <a:latin typeface="+mn-ea"/>
              </a:rPr>
              <a:t>）</a:t>
            </a:r>
            <a:endParaRPr lang="en-US" altLang="zh-CN" dirty="0">
              <a:latin typeface="+mn-ea"/>
            </a:endParaRPr>
          </a:p>
          <a:p>
            <a:pPr lvl="3"/>
            <a:r>
              <a:rPr lang="zh-CN" altLang="en-US" dirty="0" smtClean="0">
                <a:latin typeface="+mn-ea"/>
              </a:rPr>
              <a:t>使用</a:t>
            </a:r>
            <a:r>
              <a:rPr lang="en-US" altLang="zh-CN" dirty="0" smtClean="0">
                <a:latin typeface="+mn-ea"/>
              </a:rPr>
              <a:t>5x2</a:t>
            </a:r>
            <a:r>
              <a:rPr lang="zh-CN" altLang="en-US" dirty="0" smtClean="0">
                <a:latin typeface="+mn-ea"/>
              </a:rPr>
              <a:t>交叉验证</a:t>
            </a:r>
            <a:endParaRPr lang="en-US" altLang="zh-CN" dirty="0" smtClean="0">
              <a:latin typeface="+mn-ea"/>
            </a:endParaRPr>
          </a:p>
          <a:p>
            <a:pPr lvl="4"/>
            <a:r>
              <a:rPr lang="zh-CN" altLang="en-US" dirty="0" smtClean="0">
                <a:latin typeface="+mn-ea"/>
              </a:rPr>
              <a:t>为缓解上述问题</a:t>
            </a:r>
            <a:r>
              <a:rPr lang="zh-CN" altLang="en-US" dirty="0">
                <a:latin typeface="+mn-ea"/>
              </a:rPr>
              <a:t>，可采用</a:t>
            </a:r>
            <a:r>
              <a:rPr lang="en-US" altLang="zh-CN" dirty="0">
                <a:latin typeface="+mn-ea"/>
              </a:rPr>
              <a:t>5x2</a:t>
            </a:r>
            <a:r>
              <a:rPr lang="zh-CN" altLang="en-US" dirty="0">
                <a:latin typeface="+mn-ea"/>
              </a:rPr>
              <a:t>交叉验证</a:t>
            </a:r>
            <a:endParaRPr lang="zh-CN" altLang="en-US" dirty="0">
              <a:latin typeface="+mn-ea"/>
            </a:endParaRPr>
          </a:p>
          <a:p>
            <a:pPr lvl="4"/>
            <a:r>
              <a:rPr lang="zh-CN" altLang="en-US" spc="-50" dirty="0" smtClean="0">
                <a:latin typeface="+mn-ea"/>
              </a:rPr>
              <a:t>每次</a:t>
            </a:r>
            <a:r>
              <a:rPr lang="en-US" altLang="zh-CN" spc="-50" dirty="0">
                <a:latin typeface="+mn-ea"/>
              </a:rPr>
              <a:t>2</a:t>
            </a:r>
            <a:r>
              <a:rPr lang="zh-CN" altLang="en-US" spc="-50" dirty="0">
                <a:latin typeface="+mn-ea"/>
              </a:rPr>
              <a:t>折交叉</a:t>
            </a:r>
            <a:r>
              <a:rPr lang="zh-CN" altLang="en-US" spc="-50" dirty="0" smtClean="0">
                <a:latin typeface="+mn-ea"/>
              </a:rPr>
              <a:t>验证</a:t>
            </a:r>
            <a:r>
              <a:rPr lang="zh-CN" altLang="en-US" spc="-50" dirty="0">
                <a:latin typeface="+mn-ea"/>
              </a:rPr>
              <a:t>前</a:t>
            </a:r>
            <a:r>
              <a:rPr lang="zh-CN" altLang="en-US" spc="-50" dirty="0" smtClean="0">
                <a:latin typeface="+mn-ea"/>
              </a:rPr>
              <a:t>数据随机打乱，</a:t>
            </a:r>
            <a:r>
              <a:rPr lang="en-US" altLang="zh-CN" spc="-50" dirty="0" smtClean="0">
                <a:latin typeface="+mn-ea"/>
              </a:rPr>
              <a:t>5</a:t>
            </a:r>
            <a:r>
              <a:rPr lang="zh-CN" altLang="en-US" spc="-50" dirty="0" smtClean="0">
                <a:latin typeface="+mn-ea"/>
              </a:rPr>
              <a:t>次划分</a:t>
            </a:r>
            <a:r>
              <a:rPr lang="zh-CN" altLang="en-US" spc="-50" dirty="0">
                <a:latin typeface="+mn-ea"/>
              </a:rPr>
              <a:t>不</a:t>
            </a:r>
            <a:r>
              <a:rPr lang="zh-CN" altLang="en-US" spc="-50" dirty="0" smtClean="0">
                <a:latin typeface="+mn-ea"/>
              </a:rPr>
              <a:t>重复</a:t>
            </a:r>
            <a:endParaRPr lang="en-US" altLang="zh-CN" spc="-50" dirty="0" smtClean="0">
              <a:latin typeface="+mn-ea"/>
            </a:endParaRPr>
          </a:p>
          <a:p>
            <a:pPr lvl="4"/>
            <a:r>
              <a:rPr lang="zh-CN" altLang="en-US" dirty="0" smtClean="0">
                <a:latin typeface="+mn-ea"/>
              </a:rPr>
              <a:t>第</a:t>
            </a:r>
            <a:r>
              <a:rPr lang="en-US" altLang="zh-CN" dirty="0" err="1" smtClean="0">
                <a:latin typeface="+mn-ea"/>
              </a:rPr>
              <a:t>i</a:t>
            </a:r>
            <a:r>
              <a:rPr lang="zh-CN" altLang="en-US" dirty="0" smtClean="0">
                <a:latin typeface="+mn-ea"/>
              </a:rPr>
              <a:t>次</a:t>
            </a:r>
            <a:r>
              <a:rPr lang="en-US" altLang="zh-CN" dirty="0" smtClean="0">
                <a:latin typeface="+mn-ea"/>
              </a:rPr>
              <a:t>2</a:t>
            </a:r>
            <a:r>
              <a:rPr lang="zh-CN" altLang="en-US" dirty="0">
                <a:latin typeface="+mn-ea"/>
              </a:rPr>
              <a:t>折交叉验证将产生两对测试错误率</a:t>
            </a:r>
            <a:r>
              <a:rPr lang="zh-CN" altLang="en-US" dirty="0" smtClean="0">
                <a:latin typeface="+mn-ea"/>
              </a:rPr>
              <a:t>，分别求第</a:t>
            </a:r>
            <a:r>
              <a:rPr lang="en-US" altLang="zh-CN" dirty="0">
                <a:latin typeface="+mn-ea"/>
              </a:rPr>
              <a:t>1</a:t>
            </a:r>
            <a:r>
              <a:rPr lang="zh-CN" altLang="en-US" dirty="0">
                <a:latin typeface="+mn-ea"/>
              </a:rPr>
              <a:t>折上</a:t>
            </a:r>
            <a:r>
              <a:rPr lang="zh-CN" altLang="en-US" dirty="0" smtClean="0">
                <a:latin typeface="+mn-ea"/>
              </a:rPr>
              <a:t>的差  和</a:t>
            </a:r>
            <a:r>
              <a:rPr lang="zh-CN" altLang="en-US" dirty="0">
                <a:latin typeface="+mn-ea"/>
              </a:rPr>
              <a:t>第</a:t>
            </a:r>
            <a:r>
              <a:rPr lang="en-US" altLang="zh-CN" dirty="0">
                <a:latin typeface="+mn-ea"/>
              </a:rPr>
              <a:t>2</a:t>
            </a:r>
            <a:r>
              <a:rPr lang="zh-CN" altLang="en-US" dirty="0">
                <a:latin typeface="+mn-ea"/>
              </a:rPr>
              <a:t>折上</a:t>
            </a:r>
            <a:r>
              <a:rPr lang="zh-CN" altLang="en-US" dirty="0" smtClean="0">
                <a:latin typeface="+mn-ea"/>
              </a:rPr>
              <a:t>的差  ，计算两</a:t>
            </a:r>
            <a:r>
              <a:rPr lang="zh-CN" altLang="en-US" dirty="0">
                <a:latin typeface="+mn-ea"/>
              </a:rPr>
              <a:t>个结果的</a:t>
            </a:r>
            <a:r>
              <a:rPr lang="zh-CN" altLang="en-US" dirty="0" smtClean="0">
                <a:latin typeface="+mn-ea"/>
              </a:rPr>
              <a:t>平均值            </a:t>
            </a:r>
            <a:endParaRPr lang="en-US" altLang="zh-CN" dirty="0" smtClean="0">
              <a:latin typeface="+mn-ea"/>
            </a:endParaRPr>
          </a:p>
          <a:p>
            <a:pPr lvl="4"/>
            <a:r>
              <a:rPr lang="zh-CN" altLang="en-US" dirty="0" smtClean="0">
                <a:latin typeface="+mn-ea"/>
              </a:rPr>
              <a:t>对</a:t>
            </a:r>
            <a:r>
              <a:rPr lang="zh-CN" altLang="en-US" dirty="0">
                <a:latin typeface="+mn-ea"/>
              </a:rPr>
              <a:t>每次</a:t>
            </a:r>
            <a:r>
              <a:rPr lang="en-US" altLang="zh-CN" dirty="0">
                <a:latin typeface="+mn-ea"/>
              </a:rPr>
              <a:t>2</a:t>
            </a:r>
            <a:r>
              <a:rPr lang="zh-CN" altLang="en-US" dirty="0">
                <a:latin typeface="+mn-ea"/>
              </a:rPr>
              <a:t>折实验的结果都计算出其</a:t>
            </a:r>
            <a:r>
              <a:rPr lang="zh-CN" altLang="en-US" dirty="0" smtClean="0">
                <a:latin typeface="+mn-ea"/>
              </a:rPr>
              <a:t>方差</a:t>
            </a:r>
            <a:endParaRPr lang="en-US" altLang="zh-CN" dirty="0" smtClean="0">
              <a:latin typeface="+mn-ea"/>
            </a:endParaRPr>
          </a:p>
          <a:p>
            <a:pPr lvl="4"/>
            <a:endParaRPr lang="en-US" altLang="zh-CN" dirty="0" smtClean="0">
              <a:latin typeface="+mn-ea"/>
            </a:endParaRPr>
          </a:p>
          <a:p>
            <a:pPr lvl="4"/>
            <a:endParaRPr lang="en-US" altLang="zh-CN" dirty="0">
              <a:latin typeface="+mn-ea"/>
            </a:endParaRPr>
          </a:p>
          <a:p>
            <a:pPr lvl="4">
              <a:spcBef>
                <a:spcPts val="600"/>
              </a:spcBef>
            </a:pPr>
            <a:r>
              <a:rPr lang="zh-CN" altLang="en-US" dirty="0" smtClean="0">
                <a:latin typeface="+mn-ea"/>
              </a:rPr>
              <a:t>变量  服从自由度为</a:t>
            </a:r>
            <a:r>
              <a:rPr lang="en-US" altLang="zh-CN" dirty="0" smtClean="0">
                <a:latin typeface="+mn-ea"/>
              </a:rPr>
              <a:t>5</a:t>
            </a:r>
            <a:r>
              <a:rPr lang="zh-CN" altLang="en-US" dirty="0" smtClean="0">
                <a:latin typeface="+mn-ea"/>
              </a:rPr>
              <a:t>的</a:t>
            </a:r>
            <a:r>
              <a:rPr lang="en-US" altLang="zh-CN" dirty="0" smtClean="0">
                <a:latin typeface="+mn-ea"/>
              </a:rPr>
              <a:t>t</a:t>
            </a:r>
            <a:r>
              <a:rPr lang="zh-CN" altLang="en-US" dirty="0" smtClean="0">
                <a:latin typeface="+mn-ea"/>
              </a:rPr>
              <a:t>分布</a:t>
            </a:r>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4"/>
            <a:endParaRPr lang="en-US" altLang="zh-CN" dirty="0">
              <a:latin typeface="+mn-ea"/>
            </a:endParaRPr>
          </a:p>
          <a:p>
            <a:pPr lvl="4"/>
            <a:r>
              <a:rPr lang="zh-CN" altLang="en-US" dirty="0">
                <a:latin typeface="+mn-ea"/>
              </a:rPr>
              <a:t>给定显著度  ，可判别是否有显著差别</a:t>
            </a:r>
            <a:endParaRPr lang="en-US" altLang="zh-CN" dirty="0">
              <a:latin typeface="+mn-ea"/>
            </a:endParaRPr>
          </a:p>
          <a:p>
            <a:pPr lvl="4"/>
            <a:endParaRPr lang="en-US" altLang="zh-CN" dirty="0" smtClean="0">
              <a:latin typeface="+mn-ea"/>
            </a:endParaRPr>
          </a:p>
          <a:p>
            <a:pPr lvl="1"/>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4571473" y="3501008"/>
          <a:ext cx="268950" cy="360000"/>
        </p:xfrm>
        <a:graphic>
          <a:graphicData uri="http://schemas.openxmlformats.org/presentationml/2006/ole">
            <mc:AlternateContent xmlns:mc="http://schemas.openxmlformats.org/markup-compatibility/2006">
              <mc:Choice xmlns:v="urn:schemas-microsoft-com:vml" Requires="v">
                <p:oleObj spid="_x0000_s17157" name="Equation" r:id="rId1" imgW="4267200" imgH="5791200" progId="Equation.DSMT4">
                  <p:embed/>
                </p:oleObj>
              </mc:Choice>
              <mc:Fallback>
                <p:oleObj name="Equation" r:id="rId1" imgW="4267200" imgH="5791200" progId="Equation.DSMT4">
                  <p:embed/>
                  <p:pic>
                    <p:nvPicPr>
                      <p:cNvPr id="0" name="图片 17156"/>
                      <p:cNvPicPr/>
                      <p:nvPr/>
                    </p:nvPicPr>
                    <p:blipFill>
                      <a:blip r:embed="rId2"/>
                      <a:stretch>
                        <a:fillRect/>
                      </a:stretch>
                    </p:blipFill>
                    <p:spPr>
                      <a:xfrm>
                        <a:off x="4571473" y="3501008"/>
                        <a:ext cx="268950" cy="360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6515688" y="3501008"/>
          <a:ext cx="288560" cy="360000"/>
        </p:xfrm>
        <a:graphic>
          <a:graphicData uri="http://schemas.openxmlformats.org/presentationml/2006/ole">
            <mc:AlternateContent xmlns:mc="http://schemas.openxmlformats.org/markup-compatibility/2006">
              <mc:Choice xmlns:v="urn:schemas-microsoft-com:vml" Requires="v">
                <p:oleObj spid="_x0000_s17158" name="Equation" r:id="rId3" imgW="4572000" imgH="5791200" progId="Equation.DSMT4">
                  <p:embed/>
                </p:oleObj>
              </mc:Choice>
              <mc:Fallback>
                <p:oleObj name="Equation" r:id="rId3" imgW="4572000" imgH="5791200" progId="Equation.DSMT4">
                  <p:embed/>
                  <p:pic>
                    <p:nvPicPr>
                      <p:cNvPr id="0" name="图片 17157"/>
                      <p:cNvPicPr/>
                      <p:nvPr/>
                    </p:nvPicPr>
                    <p:blipFill>
                      <a:blip r:embed="rId4"/>
                      <a:stretch>
                        <a:fillRect/>
                      </a:stretch>
                    </p:blipFill>
                    <p:spPr>
                      <a:xfrm>
                        <a:off x="6515688" y="3501008"/>
                        <a:ext cx="288560" cy="360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167729" y="3797314"/>
          <a:ext cx="1575873" cy="360000"/>
        </p:xfrm>
        <a:graphic>
          <a:graphicData uri="http://schemas.openxmlformats.org/presentationml/2006/ole">
            <mc:AlternateContent xmlns:mc="http://schemas.openxmlformats.org/markup-compatibility/2006">
              <mc:Choice xmlns:v="urn:schemas-microsoft-com:vml" Requires="v">
                <p:oleObj spid="_x0000_s17159" name="Equation" r:id="rId5" imgW="24993600" imgH="5791200" progId="Equation.DSMT4">
                  <p:embed/>
                </p:oleObj>
              </mc:Choice>
              <mc:Fallback>
                <p:oleObj name="Equation" r:id="rId5" imgW="24993600" imgH="5791200" progId="Equation.DSMT4">
                  <p:embed/>
                  <p:pic>
                    <p:nvPicPr>
                      <p:cNvPr id="0" name="图片 17158"/>
                      <p:cNvPicPr/>
                      <p:nvPr/>
                    </p:nvPicPr>
                    <p:blipFill>
                      <a:blip r:embed="rId6"/>
                      <a:stretch>
                        <a:fillRect/>
                      </a:stretch>
                    </p:blipFill>
                    <p:spPr>
                      <a:xfrm>
                        <a:off x="4167729" y="3797314"/>
                        <a:ext cx="1575873" cy="360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420392" y="4401542"/>
          <a:ext cx="3671888" cy="755650"/>
        </p:xfrm>
        <a:graphic>
          <a:graphicData uri="http://schemas.openxmlformats.org/presentationml/2006/ole">
            <mc:AlternateContent xmlns:mc="http://schemas.openxmlformats.org/markup-compatibility/2006">
              <mc:Choice xmlns:v="urn:schemas-microsoft-com:vml" Requires="v">
                <p:oleObj spid="_x0000_s17160" name="Equation" r:id="rId7" imgW="58216800" imgH="12192000" progId="Equation.DSMT4">
                  <p:embed/>
                </p:oleObj>
              </mc:Choice>
              <mc:Fallback>
                <p:oleObj name="Equation" r:id="rId7" imgW="58216800" imgH="12192000" progId="Equation.DSMT4">
                  <p:embed/>
                  <p:pic>
                    <p:nvPicPr>
                      <p:cNvPr id="0" name="图片 17159"/>
                      <p:cNvPicPr/>
                      <p:nvPr/>
                    </p:nvPicPr>
                    <p:blipFill>
                      <a:blip r:embed="rId8"/>
                      <a:stretch>
                        <a:fillRect/>
                      </a:stretch>
                    </p:blipFill>
                    <p:spPr>
                      <a:xfrm>
                        <a:off x="3420392" y="4401542"/>
                        <a:ext cx="3671888" cy="7556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151932" y="5326657"/>
          <a:ext cx="1500188" cy="982663"/>
        </p:xfrm>
        <a:graphic>
          <a:graphicData uri="http://schemas.openxmlformats.org/presentationml/2006/ole">
            <mc:AlternateContent xmlns:mc="http://schemas.openxmlformats.org/markup-compatibility/2006">
              <mc:Choice xmlns:v="urn:schemas-microsoft-com:vml" Requires="v">
                <p:oleObj spid="_x0000_s17161" name="Equation" r:id="rId9" imgW="23774400" imgH="15849600" progId="Equation.DSMT4">
                  <p:embed/>
                </p:oleObj>
              </mc:Choice>
              <mc:Fallback>
                <p:oleObj name="Equation" r:id="rId9" imgW="23774400" imgH="15849600" progId="Equation.DSMT4">
                  <p:embed/>
                  <p:pic>
                    <p:nvPicPr>
                      <p:cNvPr id="0" name="图片 17160"/>
                      <p:cNvPicPr/>
                      <p:nvPr/>
                    </p:nvPicPr>
                    <p:blipFill>
                      <a:blip r:embed="rId10"/>
                      <a:stretch>
                        <a:fillRect/>
                      </a:stretch>
                    </p:blipFill>
                    <p:spPr>
                      <a:xfrm>
                        <a:off x="4151932" y="5326657"/>
                        <a:ext cx="1500188" cy="982663"/>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347864" y="5085184"/>
          <a:ext cx="267237" cy="432000"/>
        </p:xfrm>
        <a:graphic>
          <a:graphicData uri="http://schemas.openxmlformats.org/presentationml/2006/ole">
            <mc:AlternateContent xmlns:mc="http://schemas.openxmlformats.org/markup-compatibility/2006">
              <mc:Choice xmlns:v="urn:schemas-microsoft-com:vml" Requires="v">
                <p:oleObj spid="_x0000_s17162" name="Equation" r:id="rId11" imgW="3352800" imgH="5486400" progId="Equation.DSMT4">
                  <p:embed/>
                </p:oleObj>
              </mc:Choice>
              <mc:Fallback>
                <p:oleObj name="Equation" r:id="rId11" imgW="3352800" imgH="5486400" progId="Equation.DSMT4">
                  <p:embed/>
                  <p:pic>
                    <p:nvPicPr>
                      <p:cNvPr id="0" name="图片 17161"/>
                      <p:cNvPicPr/>
                      <p:nvPr/>
                    </p:nvPicPr>
                    <p:blipFill>
                      <a:blip r:embed="rId12"/>
                      <a:stretch>
                        <a:fillRect/>
                      </a:stretch>
                    </p:blipFill>
                    <p:spPr>
                      <a:xfrm>
                        <a:off x="3347864" y="5085184"/>
                        <a:ext cx="267237" cy="4320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158109" y="6381328"/>
          <a:ext cx="269875" cy="242888"/>
        </p:xfrm>
        <a:graphic>
          <a:graphicData uri="http://schemas.openxmlformats.org/presentationml/2006/ole">
            <mc:AlternateContent xmlns:mc="http://schemas.openxmlformats.org/markup-compatibility/2006">
              <mc:Choice xmlns:v="urn:schemas-microsoft-com:vml" Requires="v">
                <p:oleObj spid="_x0000_s17163" name="Equation" r:id="rId13" imgW="3657600" imgH="3352800" progId="Equation.DSMT4">
                  <p:embed/>
                </p:oleObj>
              </mc:Choice>
              <mc:Fallback>
                <p:oleObj name="Equation" r:id="rId13" imgW="3657600" imgH="3352800" progId="Equation.DSMT4">
                  <p:embed/>
                  <p:pic>
                    <p:nvPicPr>
                      <p:cNvPr id="0" name="图片 17162"/>
                      <p:cNvPicPr/>
                      <p:nvPr/>
                    </p:nvPicPr>
                    <p:blipFill>
                      <a:blip r:embed="rId14"/>
                      <a:stretch>
                        <a:fillRect/>
                      </a:stretch>
                    </p:blipFill>
                    <p:spPr>
                      <a:xfrm>
                        <a:off x="4158109" y="6381328"/>
                        <a:ext cx="269875" cy="242888"/>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000920" y="5013176"/>
            <a:ext cx="3378445" cy="1824964"/>
          </a:xfrm>
          <a:prstGeom prst="rect">
            <a:avLst/>
          </a:prstGeom>
        </p:spPr>
      </p:pic>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a:xfrm>
            <a:off x="683568" y="836712"/>
            <a:ext cx="7772400" cy="4690864"/>
          </a:xfrm>
        </p:spPr>
        <p:txBody>
          <a:bodyPr/>
          <a:lstStyle/>
          <a:p>
            <a:r>
              <a:rPr lang="zh-CN" altLang="en-US" dirty="0" smtClean="0"/>
              <a:t>假设检验</a:t>
            </a:r>
            <a:endParaRPr lang="en-US" altLang="zh-CN" dirty="0" smtClean="0"/>
          </a:p>
          <a:p>
            <a:pPr lvl="1"/>
            <a:r>
              <a:rPr lang="zh-CN" altLang="en-US" dirty="0" smtClean="0"/>
              <a:t>两</a:t>
            </a:r>
            <a:r>
              <a:rPr lang="zh-CN" altLang="en-US" dirty="0"/>
              <a:t>学习器</a:t>
            </a:r>
            <a:r>
              <a:rPr lang="zh-CN" altLang="en-US" dirty="0" smtClean="0"/>
              <a:t>比较</a:t>
            </a:r>
            <a:endParaRPr lang="en-US" altLang="zh-CN" dirty="0" smtClean="0">
              <a:latin typeface="+mn-ea"/>
            </a:endParaRPr>
          </a:p>
          <a:p>
            <a:pPr lvl="2"/>
            <a:r>
              <a:rPr lang="en-US" altLang="zh-CN" dirty="0" smtClean="0">
                <a:latin typeface="+mn-ea"/>
              </a:rPr>
              <a:t>2.4.3 </a:t>
            </a:r>
            <a:r>
              <a:rPr lang="en-US" altLang="zh-CN" dirty="0" err="1" smtClean="0">
                <a:latin typeface="+mn-ea"/>
              </a:rPr>
              <a:t>McNemar</a:t>
            </a:r>
            <a:r>
              <a:rPr lang="zh-CN" altLang="en-US" dirty="0" smtClean="0">
                <a:latin typeface="+mn-ea"/>
              </a:rPr>
              <a:t>检验</a:t>
            </a:r>
            <a:endParaRPr lang="en-US" altLang="zh-CN" dirty="0" smtClean="0">
              <a:latin typeface="+mn-ea"/>
            </a:endParaRPr>
          </a:p>
          <a:p>
            <a:pPr lvl="3"/>
            <a:r>
              <a:rPr lang="zh-CN" altLang="en-US" dirty="0" smtClean="0">
                <a:latin typeface="+mn-ea"/>
              </a:rPr>
              <a:t>对于二分类问题，可基于留出法列联表</a:t>
            </a:r>
            <a:endParaRPr lang="en-US" altLang="zh-CN" dirty="0" smtClean="0">
              <a:latin typeface="+mn-ea"/>
            </a:endParaRPr>
          </a:p>
          <a:p>
            <a:pPr lvl="4"/>
            <a:r>
              <a:rPr lang="zh-CN" altLang="en-US" dirty="0">
                <a:latin typeface="+mn-ea"/>
              </a:rPr>
              <a:t>获得</a:t>
            </a:r>
            <a:r>
              <a:rPr lang="zh-CN" altLang="en-US" dirty="0" smtClean="0">
                <a:latin typeface="+mn-ea"/>
              </a:rPr>
              <a:t>两者</a:t>
            </a:r>
            <a:r>
              <a:rPr lang="zh-CN" altLang="en-US" dirty="0">
                <a:latin typeface="+mn-ea"/>
              </a:rPr>
              <a:t>都正确</a:t>
            </a:r>
            <a:r>
              <a:rPr lang="zh-CN" altLang="en-US" dirty="0" smtClean="0">
                <a:latin typeface="+mn-ea"/>
              </a:rPr>
              <a:t>、都错误</a:t>
            </a:r>
            <a:r>
              <a:rPr lang="zh-CN" altLang="en-US" dirty="0">
                <a:latin typeface="+mn-ea"/>
              </a:rPr>
              <a:t>、</a:t>
            </a:r>
            <a:r>
              <a:rPr lang="zh-CN" altLang="en-US" dirty="0" smtClean="0">
                <a:latin typeface="+mn-ea"/>
              </a:rPr>
              <a:t>一正确</a:t>
            </a:r>
            <a:r>
              <a:rPr lang="zh-CN" altLang="en-US" dirty="0">
                <a:latin typeface="+mn-ea"/>
              </a:rPr>
              <a:t>另</a:t>
            </a:r>
            <a:r>
              <a:rPr lang="zh-CN" altLang="en-US" dirty="0" smtClean="0">
                <a:latin typeface="+mn-ea"/>
              </a:rPr>
              <a:t>一错误</a:t>
            </a:r>
            <a:r>
              <a:rPr lang="zh-CN" altLang="en-US" dirty="0">
                <a:latin typeface="+mn-ea"/>
              </a:rPr>
              <a:t>的样本数</a:t>
            </a:r>
            <a:endParaRPr lang="en-US" altLang="zh-CN" dirty="0" smtClean="0">
              <a:latin typeface="+mn-ea"/>
            </a:endParaRPr>
          </a:p>
          <a:p>
            <a:pPr lvl="3"/>
            <a:r>
              <a:rPr lang="zh-CN" altLang="en-US" dirty="0" smtClean="0">
                <a:latin typeface="+mn-ea"/>
              </a:rPr>
              <a:t>若两</a:t>
            </a:r>
            <a:r>
              <a:rPr lang="zh-CN" altLang="en-US" dirty="0">
                <a:latin typeface="+mn-ea"/>
              </a:rPr>
              <a:t>学习器性能相同，</a:t>
            </a:r>
            <a:r>
              <a:rPr lang="zh-CN" altLang="en-US" dirty="0" smtClean="0">
                <a:latin typeface="+mn-ea"/>
              </a:rPr>
              <a:t>则</a:t>
            </a:r>
            <a:endParaRPr lang="en-US" altLang="zh-CN" dirty="0" smtClean="0">
              <a:latin typeface="+mn-ea"/>
            </a:endParaRPr>
          </a:p>
          <a:p>
            <a:pPr lvl="3"/>
            <a:r>
              <a:rPr lang="zh-CN" altLang="en-US" dirty="0" smtClean="0">
                <a:latin typeface="+mn-ea"/>
              </a:rPr>
              <a:t>变量         服从正态分布，而  服从自由度为</a:t>
            </a:r>
            <a:r>
              <a:rPr lang="en-US" altLang="zh-CN" dirty="0" smtClean="0">
                <a:latin typeface="+mn-ea"/>
              </a:rPr>
              <a:t>1</a:t>
            </a:r>
            <a:r>
              <a:rPr lang="zh-CN" altLang="en-US" dirty="0" smtClean="0">
                <a:latin typeface="+mn-ea"/>
              </a:rPr>
              <a:t>的</a:t>
            </a:r>
            <a:r>
              <a:rPr lang="zh-CN" altLang="en-US" dirty="0" smtClean="0">
                <a:solidFill>
                  <a:schemeClr val="bg1"/>
                </a:solidFill>
                <a:latin typeface="+mn-ea"/>
              </a:rPr>
              <a:t>的</a:t>
            </a:r>
            <a:r>
              <a:rPr lang="zh-CN" altLang="en-US" dirty="0" smtClean="0">
                <a:latin typeface="+mn-ea"/>
              </a:rPr>
              <a:t> 分布</a:t>
            </a:r>
            <a:endParaRPr lang="en-US" altLang="zh-CN" dirty="0" smtClean="0">
              <a:latin typeface="+mn-ea"/>
            </a:endParaRPr>
          </a:p>
          <a:p>
            <a:pPr lvl="3"/>
            <a:endParaRPr lang="en-US" altLang="zh-CN" dirty="0">
              <a:latin typeface="+mn-ea"/>
            </a:endParaRPr>
          </a:p>
          <a:p>
            <a:pPr lvl="3">
              <a:spcBef>
                <a:spcPts val="1200"/>
              </a:spcBef>
            </a:pPr>
            <a:r>
              <a:rPr lang="zh-CN" altLang="en-US" dirty="0" smtClean="0">
                <a:latin typeface="+mn-ea"/>
              </a:rPr>
              <a:t>给定显著度  ，可判别是否有显著差别</a:t>
            </a:r>
            <a:endParaRPr lang="en-US" altLang="zh-CN" dirty="0" smtClean="0">
              <a:latin typeface="+mn-ea"/>
            </a:endParaRPr>
          </a:p>
          <a:p>
            <a:pPr lvl="4"/>
            <a:r>
              <a:rPr lang="zh-CN" altLang="en-US" dirty="0" smtClean="0">
                <a:latin typeface="+mn-ea"/>
              </a:rPr>
              <a:t>有</a:t>
            </a:r>
            <a:r>
              <a:rPr lang="zh-CN" altLang="en-US" dirty="0">
                <a:latin typeface="+mn-ea"/>
              </a:rPr>
              <a:t>显著</a:t>
            </a:r>
            <a:r>
              <a:rPr lang="zh-CN" altLang="en-US" dirty="0" smtClean="0">
                <a:latin typeface="+mn-ea"/>
              </a:rPr>
              <a:t>差别且平均</a:t>
            </a:r>
            <a:r>
              <a:rPr lang="zh-CN" altLang="en-US" dirty="0">
                <a:latin typeface="+mn-ea"/>
              </a:rPr>
              <a:t>错误率较小</a:t>
            </a:r>
            <a:r>
              <a:rPr lang="zh-CN" altLang="en-US" dirty="0" smtClean="0">
                <a:latin typeface="+mn-ea"/>
              </a:rPr>
              <a:t>的学习</a:t>
            </a:r>
            <a:r>
              <a:rPr lang="zh-CN" altLang="en-US" dirty="0">
                <a:latin typeface="+mn-ea"/>
              </a:rPr>
              <a:t>器性能较</a:t>
            </a:r>
            <a:r>
              <a:rPr lang="zh-CN" altLang="en-US" dirty="0" smtClean="0">
                <a:latin typeface="+mn-ea"/>
              </a:rPr>
              <a:t>优</a:t>
            </a:r>
            <a:endParaRPr lang="en-US" altLang="zh-CN" dirty="0" smtClean="0">
              <a:latin typeface="+mn-ea"/>
            </a:endParaRPr>
          </a:p>
          <a:p>
            <a:pPr lvl="3"/>
            <a:endParaRPr lang="en-US" altLang="zh-CN" dirty="0" smtClean="0">
              <a:latin typeface="+mn-ea"/>
            </a:endParaRPr>
          </a:p>
          <a:p>
            <a:pPr lvl="2"/>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6" name="对象 5"/>
          <p:cNvGraphicFramePr>
            <a:graphicFrameLocks noChangeAspect="1"/>
          </p:cNvGraphicFramePr>
          <p:nvPr/>
        </p:nvGraphicFramePr>
        <p:xfrm>
          <a:off x="5265192" y="3033465"/>
          <a:ext cx="874712" cy="395288"/>
        </p:xfrm>
        <a:graphic>
          <a:graphicData uri="http://schemas.openxmlformats.org/presentationml/2006/ole">
            <mc:AlternateContent xmlns:mc="http://schemas.openxmlformats.org/markup-compatibility/2006">
              <mc:Choice xmlns:v="urn:schemas-microsoft-com:vml" Requires="v">
                <p:oleObj spid="_x0000_s18071" name="Equation" r:id="rId2" imgW="11887200" imgH="5486400" progId="Equation.DSMT4">
                  <p:embed/>
                </p:oleObj>
              </mc:Choice>
              <mc:Fallback>
                <p:oleObj name="Equation" r:id="rId2" imgW="11887200" imgH="5486400" progId="Equation.DSMT4">
                  <p:embed/>
                  <p:pic>
                    <p:nvPicPr>
                      <p:cNvPr id="0" name="图片 18070"/>
                      <p:cNvPicPr/>
                      <p:nvPr/>
                    </p:nvPicPr>
                    <p:blipFill>
                      <a:blip r:embed="rId3"/>
                      <a:stretch>
                        <a:fillRect/>
                      </a:stretch>
                    </p:blipFill>
                    <p:spPr>
                      <a:xfrm>
                        <a:off x="5265192" y="3033465"/>
                        <a:ext cx="874712" cy="395288"/>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000920" y="3363665"/>
          <a:ext cx="1054100" cy="395287"/>
        </p:xfrm>
        <a:graphic>
          <a:graphicData uri="http://schemas.openxmlformats.org/presentationml/2006/ole">
            <mc:AlternateContent xmlns:mc="http://schemas.openxmlformats.org/markup-compatibility/2006">
              <mc:Choice xmlns:v="urn:schemas-microsoft-com:vml" Requires="v">
                <p:oleObj spid="_x0000_s18072" name="Equation" r:id="rId4" imgW="14325600" imgH="5486400" progId="Equation.DSMT4">
                  <p:embed/>
                </p:oleObj>
              </mc:Choice>
              <mc:Fallback>
                <p:oleObj name="Equation" r:id="rId4" imgW="14325600" imgH="5486400" progId="Equation.DSMT4">
                  <p:embed/>
                  <p:pic>
                    <p:nvPicPr>
                      <p:cNvPr id="0" name="图片 18071"/>
                      <p:cNvPicPr/>
                      <p:nvPr/>
                    </p:nvPicPr>
                    <p:blipFill>
                      <a:blip r:embed="rId5"/>
                      <a:stretch>
                        <a:fillRect/>
                      </a:stretch>
                    </p:blipFill>
                    <p:spPr>
                      <a:xfrm>
                        <a:off x="3000920" y="3363665"/>
                        <a:ext cx="1054100" cy="395287"/>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536106" y="3690987"/>
          <a:ext cx="2332038" cy="746125"/>
        </p:xfrm>
        <a:graphic>
          <a:graphicData uri="http://schemas.openxmlformats.org/presentationml/2006/ole">
            <mc:AlternateContent xmlns:mc="http://schemas.openxmlformats.org/markup-compatibility/2006">
              <mc:Choice xmlns:v="urn:schemas-microsoft-com:vml" Requires="v">
                <p:oleObj spid="_x0000_s18073" name="Equation" r:id="rId6" imgW="31699200" imgH="10363200" progId="Equation.DSMT4">
                  <p:embed/>
                </p:oleObj>
              </mc:Choice>
              <mc:Fallback>
                <p:oleObj name="Equation" r:id="rId6" imgW="31699200" imgH="10363200" progId="Equation.DSMT4">
                  <p:embed/>
                  <p:pic>
                    <p:nvPicPr>
                      <p:cNvPr id="0" name="图片 18072"/>
                      <p:cNvPicPr/>
                      <p:nvPr/>
                    </p:nvPicPr>
                    <p:blipFill>
                      <a:blip r:embed="rId7"/>
                      <a:stretch>
                        <a:fillRect/>
                      </a:stretch>
                    </p:blipFill>
                    <p:spPr>
                      <a:xfrm>
                        <a:off x="3536106" y="3690987"/>
                        <a:ext cx="2332038" cy="74612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156176" y="3356992"/>
          <a:ext cx="269875" cy="396875"/>
        </p:xfrm>
        <a:graphic>
          <a:graphicData uri="http://schemas.openxmlformats.org/presentationml/2006/ole">
            <mc:AlternateContent xmlns:mc="http://schemas.openxmlformats.org/markup-compatibility/2006">
              <mc:Choice xmlns:v="urn:schemas-microsoft-com:vml" Requires="v">
                <p:oleObj spid="_x0000_s18074" name="Equation" r:id="rId8" imgW="3657600" imgH="5486400" progId="Equation.DSMT4">
                  <p:embed/>
                </p:oleObj>
              </mc:Choice>
              <mc:Fallback>
                <p:oleObj name="Equation" r:id="rId8" imgW="3657600" imgH="5486400" progId="Equation.DSMT4">
                  <p:embed/>
                  <p:pic>
                    <p:nvPicPr>
                      <p:cNvPr id="0" name="图片 18073"/>
                      <p:cNvPicPr/>
                      <p:nvPr/>
                    </p:nvPicPr>
                    <p:blipFill>
                      <a:blip r:embed="rId9"/>
                      <a:stretch>
                        <a:fillRect/>
                      </a:stretch>
                    </p:blipFill>
                    <p:spPr>
                      <a:xfrm>
                        <a:off x="6156176" y="3356992"/>
                        <a:ext cx="269875" cy="396875"/>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411438" y="3645024"/>
          <a:ext cx="360362" cy="396875"/>
        </p:xfrm>
        <a:graphic>
          <a:graphicData uri="http://schemas.openxmlformats.org/presentationml/2006/ole">
            <mc:AlternateContent xmlns:mc="http://schemas.openxmlformats.org/markup-compatibility/2006">
              <mc:Choice xmlns:v="urn:schemas-microsoft-com:vml" Requires="v">
                <p:oleObj spid="_x0000_s18075" name="Equation" r:id="rId10" imgW="4876800" imgH="5486400" progId="Equation.DSMT4">
                  <p:embed/>
                </p:oleObj>
              </mc:Choice>
              <mc:Fallback>
                <p:oleObj name="Equation" r:id="rId10" imgW="4876800" imgH="5486400" progId="Equation.DSMT4">
                  <p:embed/>
                  <p:pic>
                    <p:nvPicPr>
                      <p:cNvPr id="0" name="图片 18074"/>
                      <p:cNvPicPr/>
                      <p:nvPr/>
                    </p:nvPicPr>
                    <p:blipFill>
                      <a:blip r:embed="rId11"/>
                      <a:stretch>
                        <a:fillRect/>
                      </a:stretch>
                    </p:blipFill>
                    <p:spPr>
                      <a:xfrm>
                        <a:off x="2411438" y="3645024"/>
                        <a:ext cx="360362" cy="39687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707904" y="4479156"/>
          <a:ext cx="269875" cy="242888"/>
        </p:xfrm>
        <a:graphic>
          <a:graphicData uri="http://schemas.openxmlformats.org/presentationml/2006/ole">
            <mc:AlternateContent xmlns:mc="http://schemas.openxmlformats.org/markup-compatibility/2006">
              <mc:Choice xmlns:v="urn:schemas-microsoft-com:vml" Requires="v">
                <p:oleObj spid="_x0000_s18076" name="Equation" r:id="rId12" imgW="3657600" imgH="3352800" progId="Equation.DSMT4">
                  <p:embed/>
                </p:oleObj>
              </mc:Choice>
              <mc:Fallback>
                <p:oleObj name="Equation" r:id="rId12" imgW="3657600" imgH="3352800" progId="Equation.DSMT4">
                  <p:embed/>
                  <p:pic>
                    <p:nvPicPr>
                      <p:cNvPr id="0" name="图片 18075"/>
                      <p:cNvPicPr/>
                      <p:nvPr/>
                    </p:nvPicPr>
                    <p:blipFill>
                      <a:blip r:embed="rId13"/>
                      <a:stretch>
                        <a:fillRect/>
                      </a:stretch>
                    </p:blipFill>
                    <p:spPr>
                      <a:xfrm>
                        <a:off x="3707904" y="4479156"/>
                        <a:ext cx="269875" cy="242888"/>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a:xfrm>
            <a:off x="683568" y="836712"/>
            <a:ext cx="8003232" cy="3937769"/>
          </a:xfrm>
        </p:spPr>
        <p:txBody>
          <a:bodyPr/>
          <a:lstStyle/>
          <a:p>
            <a:r>
              <a:rPr lang="zh-CN" altLang="en-US" dirty="0"/>
              <a:t>假设检验</a:t>
            </a:r>
            <a:endParaRPr lang="en-US" altLang="zh-CN" dirty="0"/>
          </a:p>
          <a:p>
            <a:pPr lvl="1"/>
            <a:r>
              <a:rPr lang="zh-CN" altLang="en-US" dirty="0" smtClean="0"/>
              <a:t>多学习</a:t>
            </a:r>
            <a:r>
              <a:rPr lang="zh-CN" altLang="en-US" dirty="0"/>
              <a:t>器</a:t>
            </a:r>
            <a:r>
              <a:rPr lang="zh-CN" altLang="en-US" dirty="0" smtClean="0"/>
              <a:t>比较</a:t>
            </a:r>
            <a:endParaRPr lang="en-US" altLang="zh-CN" dirty="0" smtClean="0"/>
          </a:p>
          <a:p>
            <a:pPr lvl="2"/>
            <a:r>
              <a:rPr lang="zh-CN" altLang="en-US" dirty="0">
                <a:latin typeface="+mn-ea"/>
              </a:rPr>
              <a:t>两两比较</a:t>
            </a:r>
            <a:endParaRPr lang="zh-CN" altLang="en-US" dirty="0">
              <a:latin typeface="+mn-ea"/>
            </a:endParaRPr>
          </a:p>
          <a:p>
            <a:pPr lvl="3"/>
            <a:r>
              <a:rPr lang="zh-CN" altLang="en-US" dirty="0" smtClean="0">
                <a:latin typeface="+mn-ea"/>
              </a:rPr>
              <a:t>每个</a:t>
            </a:r>
            <a:r>
              <a:rPr lang="zh-CN" altLang="en-US" dirty="0">
                <a:latin typeface="+mn-ea"/>
              </a:rPr>
              <a:t>数据集上分别列出两两比较的</a:t>
            </a:r>
            <a:r>
              <a:rPr lang="zh-CN" altLang="en-US" dirty="0" smtClean="0">
                <a:latin typeface="+mn-ea"/>
              </a:rPr>
              <a:t>结果</a:t>
            </a:r>
            <a:endParaRPr lang="en-US" altLang="zh-CN" dirty="0" smtClean="0">
              <a:latin typeface="+mn-ea"/>
            </a:endParaRPr>
          </a:p>
          <a:p>
            <a:pPr lvl="3"/>
            <a:r>
              <a:rPr lang="zh-CN" altLang="en-US" dirty="0">
                <a:latin typeface="+mn-ea"/>
              </a:rPr>
              <a:t>可使用前述</a:t>
            </a:r>
            <a:r>
              <a:rPr lang="zh-CN" altLang="en-US" dirty="0" smtClean="0">
                <a:latin typeface="+mn-ea"/>
              </a:rPr>
              <a:t>方法</a:t>
            </a:r>
            <a:endParaRPr lang="en-US" altLang="zh-CN" dirty="0" smtClean="0">
              <a:latin typeface="+mn-ea"/>
            </a:endParaRPr>
          </a:p>
          <a:p>
            <a:pPr lvl="2"/>
            <a:r>
              <a:rPr lang="en-US" altLang="zh-CN" dirty="0" smtClean="0">
                <a:latin typeface="+mn-ea"/>
              </a:rPr>
              <a:t>2.4.4 Friedman</a:t>
            </a:r>
            <a:r>
              <a:rPr lang="zh-CN" altLang="en-US" dirty="0" smtClean="0">
                <a:latin typeface="+mn-ea"/>
              </a:rPr>
              <a:t>检验</a:t>
            </a:r>
            <a:r>
              <a:rPr lang="en-US" altLang="zh-CN" dirty="0" smtClean="0">
                <a:latin typeface="+mn-ea"/>
              </a:rPr>
              <a:t>+</a:t>
            </a:r>
            <a:r>
              <a:rPr lang="en-US" altLang="zh-CN" dirty="0" err="1" smtClean="0">
                <a:latin typeface="+mn-ea"/>
              </a:rPr>
              <a:t>Nemenyi</a:t>
            </a:r>
            <a:r>
              <a:rPr lang="zh-CN" altLang="en-US" dirty="0">
                <a:latin typeface="+mn-ea"/>
              </a:rPr>
              <a:t>后续</a:t>
            </a:r>
            <a:r>
              <a:rPr lang="zh-CN" altLang="en-US" dirty="0" smtClean="0">
                <a:latin typeface="+mn-ea"/>
              </a:rPr>
              <a:t>检验</a:t>
            </a:r>
            <a:r>
              <a:rPr lang="en-US" altLang="zh-CN" dirty="0" smtClean="0">
                <a:latin typeface="+mn-ea"/>
              </a:rPr>
              <a:t>(</a:t>
            </a:r>
            <a:r>
              <a:rPr lang="zh-CN" altLang="en-US" dirty="0" smtClean="0">
                <a:latin typeface="+mn-ea"/>
              </a:rPr>
              <a:t>基于排序</a:t>
            </a:r>
            <a:r>
              <a:rPr lang="en-US" altLang="zh-CN" dirty="0" smtClean="0">
                <a:latin typeface="+mn-ea"/>
              </a:rPr>
              <a:t>)</a:t>
            </a:r>
            <a:endParaRPr lang="en-US" altLang="zh-CN" dirty="0" smtClean="0">
              <a:latin typeface="+mn-ea"/>
            </a:endParaRPr>
          </a:p>
          <a:p>
            <a:pPr lvl="3"/>
            <a:r>
              <a:rPr lang="en-US" altLang="zh-CN" dirty="0">
                <a:latin typeface="+mn-ea"/>
              </a:rPr>
              <a:t>Friedman</a:t>
            </a:r>
            <a:r>
              <a:rPr lang="zh-CN" altLang="en-US" dirty="0" smtClean="0">
                <a:latin typeface="+mn-ea"/>
              </a:rPr>
              <a:t>检验</a:t>
            </a:r>
            <a:endParaRPr lang="en-US" altLang="zh-CN" dirty="0" smtClean="0">
              <a:latin typeface="+mn-ea"/>
            </a:endParaRPr>
          </a:p>
          <a:p>
            <a:pPr lvl="4"/>
            <a:r>
              <a:rPr lang="en-US" altLang="zh-CN" dirty="0" smtClean="0">
                <a:latin typeface="+mn-ea"/>
              </a:rPr>
              <a:t>N</a:t>
            </a:r>
            <a:r>
              <a:rPr lang="zh-CN" altLang="en-US" dirty="0" smtClean="0">
                <a:latin typeface="+mn-ea"/>
              </a:rPr>
              <a:t>个</a:t>
            </a:r>
            <a:r>
              <a:rPr lang="zh-CN" altLang="en-US" dirty="0">
                <a:latin typeface="+mn-ea"/>
              </a:rPr>
              <a:t>数据集</a:t>
            </a:r>
            <a:r>
              <a:rPr lang="zh-CN" altLang="en-US" dirty="0" smtClean="0">
                <a:latin typeface="+mn-ea"/>
              </a:rPr>
              <a:t>对</a:t>
            </a:r>
            <a:r>
              <a:rPr lang="en-US" altLang="zh-CN" dirty="0" smtClean="0">
                <a:latin typeface="+mn-ea"/>
              </a:rPr>
              <a:t>k</a:t>
            </a:r>
            <a:r>
              <a:rPr lang="zh-CN" altLang="en-US" dirty="0" smtClean="0">
                <a:latin typeface="+mn-ea"/>
              </a:rPr>
              <a:t>个算法进行比较</a:t>
            </a:r>
            <a:endParaRPr lang="en-US" altLang="zh-CN" dirty="0" smtClean="0">
              <a:latin typeface="+mn-ea"/>
            </a:endParaRPr>
          </a:p>
          <a:p>
            <a:pPr lvl="4"/>
            <a:r>
              <a:rPr lang="zh-CN" altLang="en-US" dirty="0" smtClean="0">
                <a:latin typeface="+mn-ea"/>
              </a:rPr>
              <a:t>用</a:t>
            </a:r>
            <a:r>
              <a:rPr lang="zh-CN" altLang="en-US" dirty="0">
                <a:latin typeface="+mn-ea"/>
              </a:rPr>
              <a:t>留出法或交叉验证法得到每个算法在每个数据集上的测试</a:t>
            </a:r>
            <a:r>
              <a:rPr lang="zh-CN" altLang="en-US" dirty="0" smtClean="0">
                <a:latin typeface="+mn-ea"/>
              </a:rPr>
              <a:t>结果</a:t>
            </a:r>
            <a:endParaRPr lang="en-US" altLang="zh-CN" dirty="0" smtClean="0">
              <a:latin typeface="+mn-ea"/>
            </a:endParaRPr>
          </a:p>
          <a:p>
            <a:pPr lvl="4"/>
            <a:r>
              <a:rPr lang="zh-CN" altLang="en-US" dirty="0" smtClean="0">
                <a:latin typeface="+mn-ea"/>
              </a:rPr>
              <a:t>在</a:t>
            </a:r>
            <a:r>
              <a:rPr lang="zh-CN" altLang="en-US" dirty="0">
                <a:latin typeface="+mn-ea"/>
              </a:rPr>
              <a:t>每个数据</a:t>
            </a:r>
            <a:r>
              <a:rPr lang="zh-CN" altLang="en-US" dirty="0" smtClean="0">
                <a:latin typeface="+mn-ea"/>
              </a:rPr>
              <a:t>集根据测试由</a:t>
            </a:r>
            <a:r>
              <a:rPr lang="zh-CN" altLang="en-US" dirty="0">
                <a:latin typeface="+mn-ea"/>
              </a:rPr>
              <a:t>好到坏排序</a:t>
            </a:r>
            <a:r>
              <a:rPr lang="zh-CN" altLang="en-US" dirty="0" smtClean="0">
                <a:latin typeface="+mn-ea"/>
              </a:rPr>
              <a:t>，赋序</a:t>
            </a:r>
            <a:r>
              <a:rPr lang="zh-CN" altLang="en-US" dirty="0">
                <a:latin typeface="+mn-ea"/>
              </a:rPr>
              <a:t>值</a:t>
            </a:r>
            <a:r>
              <a:rPr lang="en-US" altLang="zh-CN" dirty="0" smtClean="0">
                <a:latin typeface="+mn-ea"/>
              </a:rPr>
              <a:t>1</a:t>
            </a:r>
            <a:r>
              <a:rPr lang="zh-CN" altLang="en-US" dirty="0" smtClean="0">
                <a:latin typeface="+mn-ea"/>
              </a:rPr>
              <a:t>、</a:t>
            </a:r>
            <a:r>
              <a:rPr lang="en-US" altLang="zh-CN" dirty="0" smtClean="0">
                <a:latin typeface="+mn-ea"/>
              </a:rPr>
              <a:t>2…</a:t>
            </a:r>
            <a:endParaRPr lang="en-US" altLang="zh-CN" dirty="0" smtClean="0">
              <a:latin typeface="+mn-ea"/>
            </a:endParaRPr>
          </a:p>
          <a:p>
            <a:pPr lvl="5">
              <a:spcBef>
                <a:spcPts val="0"/>
              </a:spcBef>
            </a:pPr>
            <a:r>
              <a:rPr lang="zh-CN" altLang="en-US" dirty="0">
                <a:latin typeface="+mn-ea"/>
              </a:rPr>
              <a:t>若算法的测试性能相同，则平分序值</a:t>
            </a:r>
            <a:endParaRPr lang="en-US" altLang="zh-CN" dirty="0" smtClean="0">
              <a:latin typeface="+mn-ea"/>
            </a:endParaRPr>
          </a:p>
          <a:p>
            <a:pPr lvl="4"/>
            <a:r>
              <a:rPr lang="zh-CN" altLang="en-US" dirty="0" smtClean="0">
                <a:latin typeface="+mn-ea"/>
              </a:rPr>
              <a:t>求第</a:t>
            </a:r>
            <a:r>
              <a:rPr lang="en-US" altLang="zh-CN" dirty="0" err="1" smtClean="0">
                <a:latin typeface="+mn-ea"/>
              </a:rPr>
              <a:t>i</a:t>
            </a:r>
            <a:r>
              <a:rPr lang="zh-CN" altLang="en-US" dirty="0" smtClean="0">
                <a:latin typeface="+mn-ea"/>
              </a:rPr>
              <a:t>个算法的平均</a:t>
            </a:r>
            <a:r>
              <a:rPr lang="zh-CN" altLang="en-US" dirty="0">
                <a:latin typeface="+mn-ea"/>
              </a:rPr>
              <a:t>序</a:t>
            </a:r>
            <a:r>
              <a:rPr lang="zh-CN" altLang="en-US" dirty="0" smtClean="0">
                <a:latin typeface="+mn-ea"/>
              </a:rPr>
              <a:t>值  ，其服从正态分布</a:t>
            </a:r>
            <a:endParaRPr lang="en-US" altLang="zh-CN" dirty="0" smtClean="0">
              <a:latin typeface="+mn-ea"/>
            </a:endParaRPr>
          </a:p>
          <a:p>
            <a:pPr lvl="5"/>
            <a:r>
              <a:rPr lang="zh-CN" altLang="en-US" dirty="0" smtClean="0">
                <a:latin typeface="+mn-ea"/>
              </a:rPr>
              <a:t>均值         ，方差</a:t>
            </a:r>
            <a:endParaRPr lang="en-US" altLang="zh-CN" dirty="0" smtClean="0">
              <a:latin typeface="+mn-ea"/>
            </a:endParaRPr>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5580112" y="5229200"/>
          <a:ext cx="201612" cy="395288"/>
        </p:xfrm>
        <a:graphic>
          <a:graphicData uri="http://schemas.openxmlformats.org/presentationml/2006/ole">
            <mc:AlternateContent xmlns:mc="http://schemas.openxmlformats.org/markup-compatibility/2006">
              <mc:Choice xmlns:v="urn:schemas-microsoft-com:vml" Requires="v">
                <p:oleObj spid="_x0000_s18944" name="Equation" r:id="rId1" imgW="2743200" imgH="5486400" progId="Equation.DSMT4">
                  <p:embed/>
                </p:oleObj>
              </mc:Choice>
              <mc:Fallback>
                <p:oleObj name="Equation" r:id="rId1" imgW="2743200" imgH="5486400" progId="Equation.DSMT4">
                  <p:embed/>
                  <p:pic>
                    <p:nvPicPr>
                      <p:cNvPr id="0" name="图片 18943"/>
                      <p:cNvPicPr/>
                      <p:nvPr/>
                    </p:nvPicPr>
                    <p:blipFill>
                      <a:blip r:embed="rId2"/>
                      <a:stretch>
                        <a:fillRect/>
                      </a:stretch>
                    </p:blipFill>
                    <p:spPr>
                      <a:xfrm>
                        <a:off x="5580112" y="5229200"/>
                        <a:ext cx="201612" cy="395288"/>
                      </a:xfrm>
                      <a:prstGeom prst="rect">
                        <a:avLst/>
                      </a:prstGeom>
                    </p:spPr>
                  </p:pic>
                </p:oleObj>
              </mc:Fallback>
            </mc:AlternateContent>
          </a:graphicData>
        </a:graphic>
      </p:graphicFrame>
      <p:pic>
        <p:nvPicPr>
          <p:cNvPr id="6" name="图片 5"/>
          <p:cNvPicPr>
            <a:picLocks noChangeAspect="1"/>
          </p:cNvPicPr>
          <p:nvPr/>
        </p:nvPicPr>
        <p:blipFill>
          <a:blip r:embed="rId3"/>
          <a:stretch>
            <a:fillRect/>
          </a:stretch>
        </p:blipFill>
        <p:spPr>
          <a:xfrm>
            <a:off x="4366890" y="260648"/>
            <a:ext cx="4525590" cy="1831338"/>
          </a:xfrm>
          <a:prstGeom prst="rect">
            <a:avLst/>
          </a:prstGeom>
        </p:spPr>
      </p:pic>
      <p:graphicFrame>
        <p:nvGraphicFramePr>
          <p:cNvPr id="7" name="对象 6"/>
          <p:cNvGraphicFramePr>
            <a:graphicFrameLocks noChangeAspect="1"/>
          </p:cNvGraphicFramePr>
          <p:nvPr/>
        </p:nvGraphicFramePr>
        <p:xfrm>
          <a:off x="3839840" y="5649499"/>
          <a:ext cx="1054100" cy="350837"/>
        </p:xfrm>
        <a:graphic>
          <a:graphicData uri="http://schemas.openxmlformats.org/presentationml/2006/ole">
            <mc:AlternateContent xmlns:mc="http://schemas.openxmlformats.org/markup-compatibility/2006">
              <mc:Choice xmlns:v="urn:schemas-microsoft-com:vml" Requires="v">
                <p:oleObj spid="_x0000_s18945" name="Equation" r:id="rId4" imgW="14325600" imgH="4876800" progId="Equation.DSMT4">
                  <p:embed/>
                </p:oleObj>
              </mc:Choice>
              <mc:Fallback>
                <p:oleObj name="Equation" r:id="rId4" imgW="14325600" imgH="4876800" progId="Equation.DSMT4">
                  <p:embed/>
                  <p:pic>
                    <p:nvPicPr>
                      <p:cNvPr id="0" name="图片 18944"/>
                      <p:cNvPicPr/>
                      <p:nvPr/>
                    </p:nvPicPr>
                    <p:blipFill>
                      <a:blip r:embed="rId5"/>
                      <a:stretch>
                        <a:fillRect/>
                      </a:stretch>
                    </p:blipFill>
                    <p:spPr>
                      <a:xfrm>
                        <a:off x="3839840" y="5649499"/>
                        <a:ext cx="1054100" cy="350837"/>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762599" y="5605048"/>
          <a:ext cx="1254125" cy="395288"/>
        </p:xfrm>
        <a:graphic>
          <a:graphicData uri="http://schemas.openxmlformats.org/presentationml/2006/ole">
            <mc:AlternateContent xmlns:mc="http://schemas.openxmlformats.org/markup-compatibility/2006">
              <mc:Choice xmlns:v="urn:schemas-microsoft-com:vml" Requires="v">
                <p:oleObj spid="_x0000_s18946" name="Equation" r:id="rId6" imgW="17068800" imgH="5486400" progId="Equation.DSMT4">
                  <p:embed/>
                </p:oleObj>
              </mc:Choice>
              <mc:Fallback>
                <p:oleObj name="Equation" r:id="rId6" imgW="17068800" imgH="5486400" progId="Equation.DSMT4">
                  <p:embed/>
                  <p:pic>
                    <p:nvPicPr>
                      <p:cNvPr id="0" name="图片 18945"/>
                      <p:cNvPicPr/>
                      <p:nvPr/>
                    </p:nvPicPr>
                    <p:blipFill>
                      <a:blip r:embed="rId7"/>
                      <a:stretch>
                        <a:fillRect/>
                      </a:stretch>
                    </p:blipFill>
                    <p:spPr>
                      <a:xfrm>
                        <a:off x="5762599" y="5605048"/>
                        <a:ext cx="1254125" cy="395288"/>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a:xfrm>
            <a:off x="683568" y="836712"/>
            <a:ext cx="8003232" cy="4690864"/>
          </a:xfrm>
        </p:spPr>
        <p:txBody>
          <a:bodyPr/>
          <a:lstStyle/>
          <a:p>
            <a:r>
              <a:rPr lang="zh-CN" altLang="en-US" dirty="0"/>
              <a:t>假设检验</a:t>
            </a:r>
            <a:endParaRPr lang="en-US" altLang="zh-CN" dirty="0"/>
          </a:p>
          <a:p>
            <a:pPr lvl="1"/>
            <a:r>
              <a:rPr lang="zh-CN" altLang="en-US" dirty="0" smtClean="0"/>
              <a:t>多学习</a:t>
            </a:r>
            <a:r>
              <a:rPr lang="zh-CN" altLang="en-US" dirty="0"/>
              <a:t>器</a:t>
            </a:r>
            <a:r>
              <a:rPr lang="zh-CN" altLang="en-US" dirty="0" smtClean="0"/>
              <a:t>比较</a:t>
            </a:r>
            <a:endParaRPr lang="en-US" altLang="zh-CN" dirty="0" smtClean="0"/>
          </a:p>
          <a:p>
            <a:pPr lvl="2"/>
            <a:r>
              <a:rPr lang="en-US" altLang="zh-CN" dirty="0" smtClean="0">
                <a:latin typeface="+mn-ea"/>
              </a:rPr>
              <a:t>2.4.4 Friedman</a:t>
            </a:r>
            <a:r>
              <a:rPr lang="zh-CN" altLang="en-US" dirty="0" smtClean="0">
                <a:latin typeface="+mn-ea"/>
              </a:rPr>
              <a:t>检验</a:t>
            </a:r>
            <a:r>
              <a:rPr lang="en-US" altLang="zh-CN" dirty="0" smtClean="0">
                <a:latin typeface="+mn-ea"/>
              </a:rPr>
              <a:t>+</a:t>
            </a:r>
            <a:r>
              <a:rPr lang="en-US" altLang="zh-CN" dirty="0" err="1" smtClean="0">
                <a:latin typeface="+mn-ea"/>
              </a:rPr>
              <a:t>Nemenyi</a:t>
            </a:r>
            <a:r>
              <a:rPr lang="zh-CN" altLang="en-US" dirty="0">
                <a:latin typeface="+mn-ea"/>
              </a:rPr>
              <a:t>后续</a:t>
            </a:r>
            <a:r>
              <a:rPr lang="zh-CN" altLang="en-US" dirty="0" smtClean="0">
                <a:latin typeface="+mn-ea"/>
              </a:rPr>
              <a:t>检验</a:t>
            </a:r>
            <a:r>
              <a:rPr lang="en-US" altLang="zh-CN" dirty="0" smtClean="0">
                <a:latin typeface="+mn-ea"/>
              </a:rPr>
              <a:t>(</a:t>
            </a:r>
            <a:r>
              <a:rPr lang="zh-CN" altLang="en-US" dirty="0" smtClean="0">
                <a:latin typeface="+mn-ea"/>
              </a:rPr>
              <a:t>基于排序</a:t>
            </a:r>
            <a:r>
              <a:rPr lang="en-US" altLang="zh-CN" dirty="0" smtClean="0">
                <a:latin typeface="+mn-ea"/>
              </a:rPr>
              <a:t>)</a:t>
            </a:r>
            <a:endParaRPr lang="en-US" altLang="zh-CN" dirty="0" smtClean="0">
              <a:latin typeface="+mn-ea"/>
            </a:endParaRPr>
          </a:p>
          <a:p>
            <a:pPr lvl="3"/>
            <a:r>
              <a:rPr lang="en-US" altLang="zh-CN" dirty="0">
                <a:latin typeface="+mn-ea"/>
              </a:rPr>
              <a:t>Friedman</a:t>
            </a:r>
            <a:r>
              <a:rPr lang="zh-CN" altLang="en-US" dirty="0" smtClean="0">
                <a:latin typeface="+mn-ea"/>
              </a:rPr>
              <a:t>检验</a:t>
            </a:r>
            <a:endParaRPr lang="en-US" altLang="zh-CN" dirty="0" smtClean="0">
              <a:latin typeface="+mn-ea"/>
            </a:endParaRPr>
          </a:p>
          <a:p>
            <a:pPr lvl="4"/>
            <a:r>
              <a:rPr lang="zh-CN" altLang="en-US" dirty="0" smtClean="0">
                <a:latin typeface="+mn-ea"/>
              </a:rPr>
              <a:t>构造变量</a:t>
            </a:r>
            <a:endParaRPr lang="en-US" altLang="zh-CN" dirty="0" smtClean="0">
              <a:latin typeface="+mn-ea"/>
            </a:endParaRPr>
          </a:p>
          <a:p>
            <a:pPr lvl="4"/>
            <a:endParaRPr lang="en-US" altLang="zh-CN" dirty="0">
              <a:latin typeface="+mn-ea"/>
            </a:endParaRPr>
          </a:p>
          <a:p>
            <a:pPr lvl="4"/>
            <a:endParaRPr lang="en-US" altLang="zh-CN" dirty="0" smtClean="0">
              <a:latin typeface="+mn-ea"/>
            </a:endParaRPr>
          </a:p>
          <a:p>
            <a:pPr lvl="5"/>
            <a:r>
              <a:rPr lang="zh-CN" altLang="en-US" dirty="0" smtClean="0">
                <a:latin typeface="+mn-ea"/>
              </a:rPr>
              <a:t>在</a:t>
            </a:r>
            <a:r>
              <a:rPr lang="en-US" altLang="zh-CN" dirty="0">
                <a:latin typeface="+mn-ea"/>
              </a:rPr>
              <a:t>k</a:t>
            </a:r>
            <a:r>
              <a:rPr lang="zh-CN" altLang="en-US" dirty="0">
                <a:latin typeface="+mn-ea"/>
              </a:rPr>
              <a:t>和</a:t>
            </a:r>
            <a:r>
              <a:rPr lang="en-US" altLang="zh-CN" dirty="0">
                <a:latin typeface="+mn-ea"/>
              </a:rPr>
              <a:t>N</a:t>
            </a:r>
            <a:r>
              <a:rPr lang="zh-CN" altLang="en-US" dirty="0">
                <a:latin typeface="+mn-ea"/>
              </a:rPr>
              <a:t>都较大时，服从自由度为</a:t>
            </a:r>
            <a:r>
              <a:rPr lang="en-US" altLang="zh-CN" dirty="0">
                <a:latin typeface="+mn-ea"/>
              </a:rPr>
              <a:t>k-1</a:t>
            </a:r>
            <a:r>
              <a:rPr lang="zh-CN" altLang="en-US" dirty="0" smtClean="0">
                <a:latin typeface="+mn-ea"/>
              </a:rPr>
              <a:t>的  分布</a:t>
            </a:r>
            <a:endParaRPr lang="en-US" altLang="zh-CN" dirty="0" smtClean="0">
              <a:latin typeface="+mn-ea"/>
            </a:endParaRPr>
          </a:p>
          <a:p>
            <a:pPr lvl="5"/>
            <a:endParaRPr lang="en-US" altLang="zh-CN" dirty="0">
              <a:latin typeface="+mn-ea"/>
            </a:endParaRPr>
          </a:p>
          <a:p>
            <a:pPr lvl="5"/>
            <a:endParaRPr lang="en-US" altLang="zh-CN" dirty="0" smtClean="0">
              <a:latin typeface="+mn-ea"/>
            </a:endParaRPr>
          </a:p>
          <a:p>
            <a:pPr lvl="5"/>
            <a:r>
              <a:rPr lang="zh-CN" altLang="en-US" dirty="0">
                <a:latin typeface="+mn-ea"/>
              </a:rPr>
              <a:t>服从自由度为</a:t>
            </a:r>
            <a:r>
              <a:rPr lang="en-US" altLang="zh-CN" dirty="0" smtClean="0">
                <a:latin typeface="+mn-ea"/>
              </a:rPr>
              <a:t>k-1</a:t>
            </a:r>
            <a:r>
              <a:rPr lang="zh-CN" altLang="en-US" dirty="0">
                <a:latin typeface="+mn-ea"/>
              </a:rPr>
              <a:t>和</a:t>
            </a:r>
            <a:r>
              <a:rPr lang="en-US" altLang="zh-CN" dirty="0">
                <a:latin typeface="+mn-ea"/>
              </a:rPr>
              <a:t>(</a:t>
            </a:r>
            <a:r>
              <a:rPr lang="en-US" altLang="zh-CN" dirty="0" smtClean="0">
                <a:latin typeface="+mn-ea"/>
              </a:rPr>
              <a:t>k-1</a:t>
            </a:r>
            <a:r>
              <a:rPr lang="en-US" altLang="zh-CN" dirty="0">
                <a:latin typeface="+mn-ea"/>
              </a:rPr>
              <a:t>)(</a:t>
            </a:r>
            <a:r>
              <a:rPr lang="en-US" altLang="zh-CN" dirty="0" smtClean="0">
                <a:latin typeface="+mn-ea"/>
              </a:rPr>
              <a:t>N-1</a:t>
            </a:r>
            <a:r>
              <a:rPr lang="en-US" altLang="zh-CN" dirty="0">
                <a:latin typeface="+mn-ea"/>
              </a:rPr>
              <a:t>)</a:t>
            </a:r>
            <a:r>
              <a:rPr lang="zh-CN" altLang="en-US" dirty="0">
                <a:latin typeface="+mn-ea"/>
              </a:rPr>
              <a:t>的</a:t>
            </a:r>
            <a:r>
              <a:rPr lang="en-US" altLang="zh-CN" dirty="0">
                <a:latin typeface="+mn-ea"/>
              </a:rPr>
              <a:t>F</a:t>
            </a:r>
            <a:r>
              <a:rPr lang="zh-CN" altLang="en-US" dirty="0" smtClean="0">
                <a:latin typeface="+mn-ea"/>
              </a:rPr>
              <a:t>分布</a:t>
            </a:r>
            <a:endParaRPr lang="en-US" altLang="zh-CN" dirty="0" smtClean="0">
              <a:latin typeface="+mn-ea"/>
            </a:endParaRPr>
          </a:p>
          <a:p>
            <a:pPr lvl="4"/>
            <a:r>
              <a:rPr lang="zh-CN" altLang="en-US" dirty="0" smtClean="0">
                <a:latin typeface="+mn-ea"/>
              </a:rPr>
              <a:t>若所有</a:t>
            </a:r>
            <a:r>
              <a:rPr lang="zh-CN" altLang="en-US" dirty="0">
                <a:latin typeface="+mn-ea"/>
              </a:rPr>
              <a:t>算法的性能</a:t>
            </a:r>
            <a:r>
              <a:rPr lang="zh-CN" altLang="en-US" dirty="0" smtClean="0">
                <a:latin typeface="+mn-ea"/>
              </a:rPr>
              <a:t>相同假设</a:t>
            </a:r>
            <a:r>
              <a:rPr lang="zh-CN" altLang="en-US" dirty="0">
                <a:latin typeface="+mn-ea"/>
              </a:rPr>
              <a:t>被拒绝，则说明算法的性能显著</a:t>
            </a:r>
            <a:r>
              <a:rPr lang="zh-CN" altLang="en-US" dirty="0" smtClean="0">
                <a:latin typeface="+mn-ea"/>
              </a:rPr>
              <a:t>不同</a:t>
            </a:r>
            <a:endParaRPr lang="en-US" altLang="zh-CN" dirty="0" smtClean="0">
              <a:latin typeface="+mn-ea"/>
            </a:endParaRPr>
          </a:p>
          <a:p>
            <a:pPr lvl="5"/>
            <a:r>
              <a:rPr lang="zh-CN" altLang="en-US" dirty="0" smtClean="0">
                <a:latin typeface="+mn-ea"/>
              </a:rPr>
              <a:t>需进行后续检验进一步</a:t>
            </a:r>
            <a:r>
              <a:rPr lang="zh-CN" altLang="en-US" dirty="0">
                <a:latin typeface="+mn-ea"/>
              </a:rPr>
              <a:t>区分各</a:t>
            </a:r>
            <a:r>
              <a:rPr lang="zh-CN" altLang="en-US" dirty="0" smtClean="0">
                <a:latin typeface="+mn-ea"/>
              </a:rPr>
              <a:t>算法</a:t>
            </a:r>
            <a:endParaRPr lang="zh-CN" altLang="en-US" dirty="0">
              <a:latin typeface="+mn-ea"/>
            </a:endParaRPr>
          </a:p>
          <a:p>
            <a:pPr lvl="4"/>
            <a:endParaRPr lang="en-US" altLang="zh-CN" dirty="0">
              <a:latin typeface="+mn-ea"/>
            </a:endParaRPr>
          </a:p>
          <a:p>
            <a:pPr lvl="2"/>
            <a:endParaRPr lang="en-US" altLang="zh-CN" dirty="0">
              <a:latin typeface="+mn-ea"/>
            </a:endParaRPr>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9" name="对象 8"/>
          <p:cNvGraphicFramePr>
            <a:graphicFrameLocks noChangeAspect="1"/>
          </p:cNvGraphicFramePr>
          <p:nvPr/>
        </p:nvGraphicFramePr>
        <p:xfrm>
          <a:off x="3701653" y="2703857"/>
          <a:ext cx="3567113" cy="790575"/>
        </p:xfrm>
        <a:graphic>
          <a:graphicData uri="http://schemas.openxmlformats.org/presentationml/2006/ole">
            <mc:AlternateContent xmlns:mc="http://schemas.openxmlformats.org/markup-compatibility/2006">
              <mc:Choice xmlns:v="urn:schemas-microsoft-com:vml" Requires="v">
                <p:oleObj spid="_x0000_s30792" name="Equation" r:id="rId1" imgW="48463200" imgH="10972800" progId="Equation.DSMT4">
                  <p:embed/>
                </p:oleObj>
              </mc:Choice>
              <mc:Fallback>
                <p:oleObj name="Equation" r:id="rId1" imgW="48463200" imgH="10972800" progId="Equation.DSMT4">
                  <p:embed/>
                  <p:pic>
                    <p:nvPicPr>
                      <p:cNvPr id="0" name="图片 30791"/>
                      <p:cNvPicPr/>
                      <p:nvPr/>
                    </p:nvPicPr>
                    <p:blipFill>
                      <a:blip r:embed="rId2"/>
                      <a:stretch>
                        <a:fillRect/>
                      </a:stretch>
                    </p:blipFill>
                    <p:spPr>
                      <a:xfrm>
                        <a:off x="3701653" y="2703857"/>
                        <a:ext cx="3567113" cy="790575"/>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707904" y="3789040"/>
          <a:ext cx="2065338" cy="790575"/>
        </p:xfrm>
        <a:graphic>
          <a:graphicData uri="http://schemas.openxmlformats.org/presentationml/2006/ole">
            <mc:AlternateContent xmlns:mc="http://schemas.openxmlformats.org/markup-compatibility/2006">
              <mc:Choice xmlns:v="urn:schemas-microsoft-com:vml" Requires="v">
                <p:oleObj spid="_x0000_s30793" name="Equation" r:id="rId3" imgW="28041600" imgH="10972800" progId="Equation.DSMT4">
                  <p:embed/>
                </p:oleObj>
              </mc:Choice>
              <mc:Fallback>
                <p:oleObj name="Equation" r:id="rId3" imgW="28041600" imgH="10972800" progId="Equation.DSMT4">
                  <p:embed/>
                  <p:pic>
                    <p:nvPicPr>
                      <p:cNvPr id="0" name="图片 30792"/>
                      <p:cNvPicPr/>
                      <p:nvPr/>
                    </p:nvPicPr>
                    <p:blipFill>
                      <a:blip r:embed="rId4"/>
                      <a:stretch>
                        <a:fillRect/>
                      </a:stretch>
                    </p:blipFill>
                    <p:spPr>
                      <a:xfrm>
                        <a:off x="3707904" y="3789040"/>
                        <a:ext cx="2065338" cy="79057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505770" y="3443854"/>
          <a:ext cx="306590" cy="345186"/>
        </p:xfrm>
        <a:graphic>
          <a:graphicData uri="http://schemas.openxmlformats.org/presentationml/2006/ole">
            <mc:AlternateContent xmlns:mc="http://schemas.openxmlformats.org/markup-compatibility/2006">
              <mc:Choice xmlns:v="urn:schemas-microsoft-com:vml" Requires="v">
                <p:oleObj spid="_x0000_s30794" name="Equation" r:id="rId5" imgW="4876800" imgH="5486400" progId="Equation.DSMT4">
                  <p:embed/>
                </p:oleObj>
              </mc:Choice>
              <mc:Fallback>
                <p:oleObj name="Equation" r:id="rId5" imgW="4876800" imgH="5486400" progId="Equation.DSMT4">
                  <p:embed/>
                  <p:pic>
                    <p:nvPicPr>
                      <p:cNvPr id="0" name="图片 30793"/>
                      <p:cNvPicPr/>
                      <p:nvPr/>
                    </p:nvPicPr>
                    <p:blipFill>
                      <a:blip r:embed="rId6"/>
                      <a:stretch>
                        <a:fillRect/>
                      </a:stretch>
                    </p:blipFill>
                    <p:spPr>
                      <a:xfrm>
                        <a:off x="7505770" y="3443854"/>
                        <a:ext cx="306590" cy="345186"/>
                      </a:xfrm>
                      <a:prstGeom prst="rect">
                        <a:avLst/>
                      </a:prstGeom>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比较检验</a:t>
            </a:r>
            <a:endParaRPr lang="zh-CN" altLang="en-US" dirty="0"/>
          </a:p>
        </p:txBody>
      </p:sp>
      <p:sp>
        <p:nvSpPr>
          <p:cNvPr id="3" name="内容占位符 2"/>
          <p:cNvSpPr>
            <a:spLocks noGrp="1"/>
          </p:cNvSpPr>
          <p:nvPr>
            <p:ph idx="1"/>
          </p:nvPr>
        </p:nvSpPr>
        <p:spPr>
          <a:xfrm>
            <a:off x="683568" y="970384"/>
            <a:ext cx="7848872" cy="5811416"/>
          </a:xfrm>
        </p:spPr>
        <p:txBody>
          <a:bodyPr/>
          <a:lstStyle/>
          <a:p>
            <a:r>
              <a:rPr lang="zh-CN" altLang="en-US" dirty="0"/>
              <a:t>假设检验</a:t>
            </a:r>
            <a:endParaRPr lang="en-US" altLang="zh-CN" dirty="0"/>
          </a:p>
          <a:p>
            <a:pPr lvl="1"/>
            <a:r>
              <a:rPr lang="zh-CN" altLang="en-US" dirty="0"/>
              <a:t>多学习器比较</a:t>
            </a:r>
            <a:endParaRPr lang="en-US" altLang="zh-CN" dirty="0"/>
          </a:p>
          <a:p>
            <a:pPr lvl="2"/>
            <a:r>
              <a:rPr lang="en-US" altLang="zh-CN" dirty="0">
                <a:latin typeface="+mn-ea"/>
              </a:rPr>
              <a:t>2.4.4 Friedman</a:t>
            </a:r>
            <a:r>
              <a:rPr lang="zh-CN" altLang="en-US" dirty="0" smtClean="0">
                <a:latin typeface="+mn-ea"/>
              </a:rPr>
              <a:t>检验</a:t>
            </a:r>
            <a:r>
              <a:rPr lang="en-US" altLang="zh-CN" dirty="0" smtClean="0">
                <a:latin typeface="+mn-ea"/>
              </a:rPr>
              <a:t>+</a:t>
            </a:r>
            <a:r>
              <a:rPr lang="en-US" altLang="zh-CN" dirty="0" err="1" smtClean="0">
                <a:latin typeface="+mn-ea"/>
              </a:rPr>
              <a:t>Nemenyi</a:t>
            </a:r>
            <a:r>
              <a:rPr lang="zh-CN" altLang="en-US" dirty="0">
                <a:latin typeface="+mn-ea"/>
              </a:rPr>
              <a:t>后续</a:t>
            </a:r>
            <a:r>
              <a:rPr lang="zh-CN" altLang="en-US" dirty="0" smtClean="0">
                <a:latin typeface="+mn-ea"/>
              </a:rPr>
              <a:t>检验</a:t>
            </a:r>
            <a:endParaRPr lang="en-US" altLang="zh-CN" dirty="0" smtClean="0">
              <a:latin typeface="+mn-ea"/>
            </a:endParaRPr>
          </a:p>
          <a:p>
            <a:pPr lvl="3"/>
            <a:r>
              <a:rPr lang="en-US" altLang="zh-CN" dirty="0" err="1" smtClean="0">
                <a:latin typeface="+mn-ea"/>
              </a:rPr>
              <a:t>Nemenyi</a:t>
            </a:r>
            <a:r>
              <a:rPr lang="zh-CN" altLang="en-US" dirty="0" smtClean="0">
                <a:latin typeface="+mn-ea"/>
              </a:rPr>
              <a:t>检验</a:t>
            </a:r>
            <a:endParaRPr lang="en-US" altLang="zh-CN" dirty="0" smtClean="0">
              <a:latin typeface="+mn-ea"/>
            </a:endParaRPr>
          </a:p>
          <a:p>
            <a:pPr lvl="4"/>
            <a:r>
              <a:rPr lang="zh-CN" altLang="en-US" dirty="0" smtClean="0">
                <a:latin typeface="+mn-ea"/>
              </a:rPr>
              <a:t>选择置信度计算平均</a:t>
            </a:r>
            <a:r>
              <a:rPr lang="zh-CN" altLang="en-US" dirty="0">
                <a:latin typeface="+mn-ea"/>
              </a:rPr>
              <a:t>序值差别的临界</a:t>
            </a:r>
            <a:r>
              <a:rPr lang="zh-CN" altLang="en-US" dirty="0" smtClean="0">
                <a:latin typeface="+mn-ea"/>
              </a:rPr>
              <a:t>值域</a:t>
            </a:r>
            <a:endParaRPr lang="en-US" altLang="zh-CN" dirty="0" smtClean="0">
              <a:latin typeface="+mn-ea"/>
            </a:endParaRPr>
          </a:p>
          <a:p>
            <a:pPr lvl="4"/>
            <a:endParaRPr lang="en-US" altLang="zh-CN" dirty="0">
              <a:latin typeface="+mn-ea"/>
            </a:endParaRPr>
          </a:p>
          <a:p>
            <a:pPr lvl="4">
              <a:spcBef>
                <a:spcPts val="1200"/>
              </a:spcBef>
            </a:pPr>
            <a:endParaRPr lang="en-US" altLang="zh-CN" dirty="0" smtClean="0">
              <a:latin typeface="+mn-ea"/>
            </a:endParaRPr>
          </a:p>
          <a:p>
            <a:pPr lvl="4"/>
            <a:r>
              <a:rPr lang="zh-CN" altLang="en-US" dirty="0" smtClean="0">
                <a:latin typeface="+mn-ea"/>
              </a:rPr>
              <a:t>若</a:t>
            </a:r>
            <a:r>
              <a:rPr lang="zh-CN" altLang="en-US" dirty="0">
                <a:latin typeface="+mn-ea"/>
              </a:rPr>
              <a:t>两个算法的平均序</a:t>
            </a:r>
            <a:r>
              <a:rPr lang="zh-CN" altLang="en-US" dirty="0" smtClean="0">
                <a:latin typeface="+mn-ea"/>
              </a:rPr>
              <a:t>值差超出临界阈值</a:t>
            </a:r>
            <a:r>
              <a:rPr lang="en-US" altLang="zh-CN" dirty="0" smtClean="0">
                <a:latin typeface="+mn-ea"/>
              </a:rPr>
              <a:t>CD</a:t>
            </a:r>
            <a:r>
              <a:rPr lang="zh-CN" altLang="en-US" dirty="0">
                <a:latin typeface="+mn-ea"/>
              </a:rPr>
              <a:t>，则</a:t>
            </a:r>
            <a:r>
              <a:rPr lang="zh-CN" altLang="en-US" dirty="0" smtClean="0">
                <a:latin typeface="+mn-ea"/>
              </a:rPr>
              <a:t>以置信</a:t>
            </a:r>
            <a:r>
              <a:rPr lang="zh-CN" altLang="en-US" dirty="0">
                <a:latin typeface="+mn-ea"/>
              </a:rPr>
              <a:t>度拒绝“两个算法性能相同</a:t>
            </a:r>
            <a:r>
              <a:rPr lang="zh-CN" altLang="en-US" dirty="0" smtClean="0">
                <a:latin typeface="+mn-ea"/>
              </a:rPr>
              <a:t>”假设，两算法有显著差异，否则接受</a:t>
            </a:r>
            <a:endParaRPr lang="en-US" altLang="zh-CN" dirty="0" smtClean="0">
              <a:latin typeface="+mn-ea"/>
            </a:endParaRPr>
          </a:p>
          <a:p>
            <a:pPr lvl="3"/>
            <a:r>
              <a:rPr lang="en-US" altLang="zh-CN" dirty="0">
                <a:latin typeface="+mn-ea"/>
              </a:rPr>
              <a:t>Friedman</a:t>
            </a:r>
            <a:r>
              <a:rPr lang="zh-CN" altLang="en-US" dirty="0" smtClean="0">
                <a:latin typeface="+mn-ea"/>
              </a:rPr>
              <a:t>检验图</a:t>
            </a:r>
            <a:endParaRPr lang="en-US" altLang="zh-CN" dirty="0" smtClean="0">
              <a:latin typeface="+mn-ea"/>
            </a:endParaRPr>
          </a:p>
          <a:p>
            <a:pPr lvl="4"/>
            <a:r>
              <a:rPr lang="zh-CN" altLang="en-US" dirty="0">
                <a:latin typeface="+mn-ea"/>
              </a:rPr>
              <a:t>上述检验比较可以直观地用</a:t>
            </a:r>
            <a:r>
              <a:rPr lang="en-US" altLang="zh-CN" dirty="0" smtClean="0">
                <a:latin typeface="+mn-ea"/>
              </a:rPr>
              <a:t>Friedman</a:t>
            </a:r>
            <a:r>
              <a:rPr lang="zh-CN" altLang="en-US" dirty="0">
                <a:latin typeface="+mn-ea"/>
              </a:rPr>
              <a:t>检验图显示</a:t>
            </a:r>
            <a:endParaRPr lang="en-US" altLang="zh-CN" b="1" dirty="0" smtClean="0">
              <a:latin typeface="+mn-ea"/>
            </a:endParaRPr>
          </a:p>
          <a:p>
            <a:pPr lvl="4"/>
            <a:r>
              <a:rPr lang="zh-CN" altLang="en-US" b="1" dirty="0" smtClean="0">
                <a:latin typeface="+mn-ea"/>
              </a:rPr>
              <a:t>横轴</a:t>
            </a:r>
            <a:r>
              <a:rPr lang="zh-CN" altLang="en-US" b="1" dirty="0">
                <a:latin typeface="+mn-ea"/>
              </a:rPr>
              <a:t>为平均序</a:t>
            </a:r>
            <a:r>
              <a:rPr lang="zh-CN" altLang="en-US" b="1" dirty="0" smtClean="0">
                <a:latin typeface="+mn-ea"/>
              </a:rPr>
              <a:t>值</a:t>
            </a:r>
            <a:endParaRPr lang="en-US" altLang="zh-CN" b="1" dirty="0" smtClean="0">
              <a:latin typeface="+mn-ea"/>
            </a:endParaRPr>
          </a:p>
          <a:p>
            <a:pPr lvl="5">
              <a:spcBef>
                <a:spcPts val="0"/>
              </a:spcBef>
            </a:pPr>
            <a:r>
              <a:rPr lang="zh-CN" altLang="en-US" b="1" dirty="0" smtClean="0">
                <a:latin typeface="+mn-ea"/>
              </a:rPr>
              <a:t>每个</a:t>
            </a:r>
            <a:r>
              <a:rPr lang="zh-CN" altLang="en-US" b="1" dirty="0">
                <a:latin typeface="+mn-ea"/>
              </a:rPr>
              <a:t>算法圆点为其平均序值，线段为临界</a:t>
            </a:r>
            <a:r>
              <a:rPr lang="zh-CN" altLang="en-US" b="1" dirty="0" smtClean="0">
                <a:latin typeface="+mn-ea"/>
              </a:rPr>
              <a:t>阈值</a:t>
            </a:r>
            <a:endParaRPr lang="en-US" altLang="zh-CN" b="1" dirty="0" smtClean="0">
              <a:latin typeface="+mn-ea"/>
            </a:endParaRPr>
          </a:p>
          <a:p>
            <a:pPr lvl="4"/>
            <a:r>
              <a:rPr lang="zh-CN" altLang="en-US" b="1" dirty="0" smtClean="0">
                <a:latin typeface="+mn-ea"/>
              </a:rPr>
              <a:t>若</a:t>
            </a:r>
            <a:r>
              <a:rPr lang="zh-CN" altLang="en-US" b="1" dirty="0">
                <a:latin typeface="+mn-ea"/>
              </a:rPr>
              <a:t>两个算法有交</a:t>
            </a:r>
            <a:r>
              <a:rPr lang="zh-CN" altLang="en-US" b="1" dirty="0" smtClean="0">
                <a:latin typeface="+mn-ea"/>
              </a:rPr>
              <a:t>叠，</a:t>
            </a:r>
            <a:r>
              <a:rPr lang="zh-CN" altLang="en-US" b="1" dirty="0">
                <a:latin typeface="+mn-ea"/>
              </a:rPr>
              <a:t>则说明没有显著差别</a:t>
            </a:r>
            <a:endParaRPr lang="zh-CN" altLang="en-US" b="1" dirty="0">
              <a:latin typeface="+mn-ea"/>
            </a:endParaRPr>
          </a:p>
          <a:p>
            <a:pPr lvl="4"/>
            <a:r>
              <a:rPr lang="zh-CN" altLang="en-US" b="1" dirty="0" smtClean="0">
                <a:latin typeface="+mn-ea"/>
              </a:rPr>
              <a:t>否则</a:t>
            </a:r>
            <a:r>
              <a:rPr lang="zh-CN" altLang="en-US" b="1" dirty="0">
                <a:latin typeface="+mn-ea"/>
              </a:rPr>
              <a:t>有显著</a:t>
            </a:r>
            <a:r>
              <a:rPr lang="zh-CN" altLang="en-US" b="1" dirty="0" smtClean="0">
                <a:latin typeface="+mn-ea"/>
              </a:rPr>
              <a:t>差别，算法</a:t>
            </a:r>
            <a:r>
              <a:rPr lang="en-US" altLang="zh-CN" b="1" dirty="0" smtClean="0">
                <a:latin typeface="+mn-ea"/>
              </a:rPr>
              <a:t>A</a:t>
            </a:r>
            <a:r>
              <a:rPr lang="zh-CN" altLang="en-US" b="1" dirty="0" smtClean="0">
                <a:latin typeface="+mn-ea"/>
              </a:rPr>
              <a:t>显著</a:t>
            </a:r>
            <a:r>
              <a:rPr lang="zh-CN" altLang="en-US" b="1" dirty="0">
                <a:latin typeface="+mn-ea"/>
              </a:rPr>
              <a:t>优于</a:t>
            </a:r>
            <a:r>
              <a:rPr lang="zh-CN" altLang="en-US" b="1" dirty="0" smtClean="0">
                <a:latin typeface="+mn-ea"/>
              </a:rPr>
              <a:t>算法</a:t>
            </a:r>
            <a:r>
              <a:rPr lang="en-US" altLang="zh-CN" b="1" dirty="0" smtClean="0">
                <a:latin typeface="+mn-ea"/>
              </a:rPr>
              <a:t>C</a:t>
            </a:r>
            <a:endParaRPr lang="en-US" altLang="zh-CN" b="1"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509249" y="2968265"/>
          <a:ext cx="2041525" cy="703263"/>
        </p:xfrm>
        <a:graphic>
          <a:graphicData uri="http://schemas.openxmlformats.org/presentationml/2006/ole">
            <mc:AlternateContent xmlns:mc="http://schemas.openxmlformats.org/markup-compatibility/2006">
              <mc:Choice xmlns:v="urn:schemas-microsoft-com:vml" Requires="v">
                <p:oleObj spid="_x0000_s19562" name="Equation" r:id="rId1" imgW="27736800" imgH="9753600" progId="Equation.DSMT4">
                  <p:embed/>
                </p:oleObj>
              </mc:Choice>
              <mc:Fallback>
                <p:oleObj name="Equation" r:id="rId1" imgW="27736800" imgH="9753600" progId="Equation.DSMT4">
                  <p:embed/>
                  <p:pic>
                    <p:nvPicPr>
                      <p:cNvPr id="0" name="图片 19561"/>
                      <p:cNvPicPr/>
                      <p:nvPr/>
                    </p:nvPicPr>
                    <p:blipFill>
                      <a:blip r:embed="rId2"/>
                      <a:stretch>
                        <a:fillRect/>
                      </a:stretch>
                    </p:blipFill>
                    <p:spPr>
                      <a:xfrm>
                        <a:off x="3509249" y="2968265"/>
                        <a:ext cx="2041525" cy="703263"/>
                      </a:xfrm>
                      <a:prstGeom prst="rect">
                        <a:avLst/>
                      </a:prstGeom>
                    </p:spPr>
                  </p:pic>
                </p:oleObj>
              </mc:Fallback>
            </mc:AlternateContent>
          </a:graphicData>
        </a:graphic>
      </p:graphicFrame>
      <p:pic>
        <p:nvPicPr>
          <p:cNvPr id="6" name="图片 5"/>
          <p:cNvPicPr>
            <a:picLocks noChangeAspect="1"/>
          </p:cNvPicPr>
          <p:nvPr/>
        </p:nvPicPr>
        <p:blipFill>
          <a:blip r:embed="rId3"/>
          <a:stretch>
            <a:fillRect/>
          </a:stretch>
        </p:blipFill>
        <p:spPr>
          <a:xfrm>
            <a:off x="5364088" y="77475"/>
            <a:ext cx="3628804" cy="1870189"/>
          </a:xfrm>
          <a:prstGeom prst="rect">
            <a:avLst/>
          </a:prstGeom>
        </p:spPr>
      </p:pic>
    </p:spTree>
  </p:cSld>
  <p:clrMapOvr>
    <a:masterClrMapping/>
  </p:clrMapOvr>
  <p:transition>
    <p:cover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2.5 </a:t>
            </a:r>
            <a:r>
              <a:rPr lang="zh-CN" altLang="en-US" dirty="0" smtClean="0"/>
              <a:t>偏差</a:t>
            </a:r>
            <a:r>
              <a:rPr lang="zh-CN" altLang="en-US" dirty="0"/>
              <a:t>与方差</a:t>
            </a:r>
            <a:endParaRPr lang="zh-CN" altLang="en-US" dirty="0"/>
          </a:p>
        </p:txBody>
      </p:sp>
      <p:sp>
        <p:nvSpPr>
          <p:cNvPr id="3" name="内容占位符 2"/>
          <p:cNvSpPr>
            <a:spLocks noGrp="1"/>
          </p:cNvSpPr>
          <p:nvPr>
            <p:ph idx="1"/>
          </p:nvPr>
        </p:nvSpPr>
        <p:spPr>
          <a:xfrm>
            <a:off x="683568" y="836712"/>
            <a:ext cx="7772400" cy="4690864"/>
          </a:xfrm>
        </p:spPr>
        <p:txBody>
          <a:bodyPr/>
          <a:lstStyle/>
          <a:p>
            <a:r>
              <a:rPr lang="zh-CN" altLang="en-US" dirty="0" smtClean="0"/>
              <a:t>算法误差从何而来，误差包含哪些因素</a:t>
            </a:r>
            <a:endParaRPr lang="en-US" altLang="zh-CN" dirty="0" smtClean="0"/>
          </a:p>
          <a:p>
            <a:pPr lvl="1"/>
            <a:r>
              <a:rPr lang="zh-CN" altLang="en-US" dirty="0" smtClean="0"/>
              <a:t>解释学习算法泛化性能</a:t>
            </a:r>
            <a:r>
              <a:rPr lang="zh-CN" altLang="en-US" dirty="0"/>
              <a:t>的</a:t>
            </a:r>
            <a:r>
              <a:rPr lang="zh-CN" altLang="en-US" dirty="0" smtClean="0"/>
              <a:t>工具，偏差</a:t>
            </a:r>
            <a:r>
              <a:rPr lang="en-US" altLang="zh-CN" dirty="0">
                <a:latin typeface="+mn-ea"/>
              </a:rPr>
              <a:t>-</a:t>
            </a:r>
            <a:r>
              <a:rPr lang="zh-CN" altLang="en-US" dirty="0" smtClean="0"/>
              <a:t>方差</a:t>
            </a:r>
            <a:endParaRPr lang="en-US" altLang="zh-CN" dirty="0" smtClean="0"/>
          </a:p>
          <a:p>
            <a:pPr lvl="1"/>
            <a:r>
              <a:rPr lang="zh-CN" altLang="en-US" dirty="0" smtClean="0"/>
              <a:t>符号</a:t>
            </a:r>
            <a:endParaRPr lang="en-US" altLang="zh-CN" dirty="0" smtClean="0"/>
          </a:p>
          <a:p>
            <a:pPr lvl="2"/>
            <a:r>
              <a:rPr lang="zh-CN" altLang="en-US" dirty="0" smtClean="0"/>
              <a:t>   数据集中标记， 真实标记，         学得的模型</a:t>
            </a:r>
            <a:endParaRPr lang="en-US" altLang="zh-CN" dirty="0" smtClean="0"/>
          </a:p>
          <a:p>
            <a:r>
              <a:rPr lang="zh-CN" altLang="en-US" dirty="0" smtClean="0"/>
              <a:t>对于回归分析</a:t>
            </a:r>
            <a:endParaRPr lang="en-US" altLang="zh-CN" dirty="0" smtClean="0"/>
          </a:p>
          <a:p>
            <a:pPr lvl="1"/>
            <a:r>
              <a:rPr lang="zh-CN" altLang="en-US" dirty="0" smtClean="0"/>
              <a:t>期望预测</a:t>
            </a:r>
            <a:endParaRPr lang="en-US" altLang="zh-CN" dirty="0" smtClean="0"/>
          </a:p>
          <a:p>
            <a:pPr lvl="1"/>
            <a:endParaRPr lang="en-US" altLang="zh-CN" dirty="0" smtClean="0"/>
          </a:p>
          <a:p>
            <a:pPr lvl="1"/>
            <a:r>
              <a:rPr lang="zh-CN" altLang="en-US" dirty="0"/>
              <a:t>不同训练集产生的</a:t>
            </a:r>
            <a:r>
              <a:rPr lang="zh-CN" altLang="en-US" dirty="0" smtClean="0"/>
              <a:t>方差</a:t>
            </a:r>
            <a:endParaRPr lang="en-US" altLang="zh-CN" dirty="0" smtClean="0"/>
          </a:p>
          <a:p>
            <a:pPr lvl="1"/>
            <a:endParaRPr lang="en-US" altLang="zh-CN" dirty="0"/>
          </a:p>
          <a:p>
            <a:pPr lvl="1"/>
            <a:r>
              <a:rPr lang="zh-CN" altLang="en-US" dirty="0" smtClean="0"/>
              <a:t>噪声</a:t>
            </a:r>
            <a:endParaRPr lang="en-US" altLang="zh-CN" dirty="0" smtClean="0"/>
          </a:p>
          <a:p>
            <a:pPr lvl="1"/>
            <a:endParaRPr lang="en-US" altLang="zh-CN" dirty="0"/>
          </a:p>
          <a:p>
            <a:pPr lvl="1"/>
            <a:r>
              <a:rPr lang="zh-CN" altLang="en-US" dirty="0"/>
              <a:t>期望输出与真实标记的差别称为</a:t>
            </a:r>
            <a:r>
              <a:rPr lang="zh-CN" altLang="en-US" dirty="0" smtClean="0"/>
              <a:t>偏差</a:t>
            </a:r>
            <a:endParaRPr lang="en-US" altLang="zh-CN"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7" name="对象 6"/>
          <p:cNvGraphicFramePr>
            <a:graphicFrameLocks noChangeAspect="1"/>
          </p:cNvGraphicFramePr>
          <p:nvPr/>
        </p:nvGraphicFramePr>
        <p:xfrm>
          <a:off x="3085455" y="6093296"/>
          <a:ext cx="2968625" cy="503238"/>
        </p:xfrm>
        <a:graphic>
          <a:graphicData uri="http://schemas.openxmlformats.org/presentationml/2006/ole">
            <mc:AlternateContent xmlns:mc="http://schemas.openxmlformats.org/markup-compatibility/2006">
              <mc:Choice xmlns:v="urn:schemas-microsoft-com:vml" Requires="v">
                <p:oleObj spid="_x0000_s31882" name="Equation" r:id="rId1" imgW="33528000" imgH="5791200" progId="Equation.DSMT4">
                  <p:embed/>
                </p:oleObj>
              </mc:Choice>
              <mc:Fallback>
                <p:oleObj name="Equation" r:id="rId1" imgW="33528000" imgH="5791200" progId="Equation.DSMT4">
                  <p:embed/>
                  <p:pic>
                    <p:nvPicPr>
                      <p:cNvPr id="0" name="图片 31881"/>
                      <p:cNvPicPr/>
                      <p:nvPr/>
                    </p:nvPicPr>
                    <p:blipFill>
                      <a:blip r:embed="rId2"/>
                      <a:stretch>
                        <a:fillRect/>
                      </a:stretch>
                    </p:blipFill>
                    <p:spPr>
                      <a:xfrm>
                        <a:off x="3085455" y="6093296"/>
                        <a:ext cx="2968625" cy="503238"/>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2577523" y="4365104"/>
          <a:ext cx="4233862" cy="539750"/>
        </p:xfrm>
        <a:graphic>
          <a:graphicData uri="http://schemas.openxmlformats.org/presentationml/2006/ole">
            <mc:AlternateContent xmlns:mc="http://schemas.openxmlformats.org/markup-compatibility/2006">
              <mc:Choice xmlns:v="urn:schemas-microsoft-com:vml" Requires="v">
                <p:oleObj spid="_x0000_s31883" name="Equation" r:id="rId3" imgW="46939200" imgH="6096000" progId="Equation.DSMT4">
                  <p:embed/>
                </p:oleObj>
              </mc:Choice>
              <mc:Fallback>
                <p:oleObj name="Equation" r:id="rId3" imgW="46939200" imgH="6096000" progId="Equation.DSMT4">
                  <p:embed/>
                  <p:pic>
                    <p:nvPicPr>
                      <p:cNvPr id="0" name="图片 31882"/>
                      <p:cNvPicPr/>
                      <p:nvPr/>
                    </p:nvPicPr>
                    <p:blipFill>
                      <a:blip r:embed="rId4"/>
                      <a:stretch>
                        <a:fillRect/>
                      </a:stretch>
                    </p:blipFill>
                    <p:spPr>
                      <a:xfrm>
                        <a:off x="2577523" y="4365104"/>
                        <a:ext cx="4233862" cy="539750"/>
                      </a:xfrm>
                      <a:prstGeom prst="rect">
                        <a:avLst/>
                      </a:prstGeom>
                      <a:noFill/>
                    </p:spPr>
                  </p:pic>
                </p:oleObj>
              </mc:Fallback>
            </mc:AlternateContent>
          </a:graphicData>
        </a:graphic>
      </p:graphicFrame>
      <p:sp>
        <p:nvSpPr>
          <p:cNvPr id="12" name="矩形 11"/>
          <p:cNvSpPr/>
          <p:nvPr/>
        </p:nvSpPr>
        <p:spPr>
          <a:xfrm>
            <a:off x="7265438" y="5032687"/>
            <a:ext cx="1392336" cy="396000"/>
          </a:xfrm>
          <a:prstGeom prst="rect">
            <a:avLst/>
          </a:prstGeom>
          <a:solidFill>
            <a:schemeClr val="bg1"/>
          </a:solidFill>
        </p:spPr>
        <p:txBody>
          <a:bodyPr wrap="square">
            <a:spAutoFit/>
          </a:bodyPr>
          <a:lstStyle/>
          <a:p>
            <a:pPr algn="just"/>
            <a:endParaRPr lang="en-US" altLang="zh-CN" sz="1600" dirty="0">
              <a:solidFill>
                <a:srgbClr val="008000"/>
              </a:solidFill>
            </a:endParaRPr>
          </a:p>
        </p:txBody>
      </p:sp>
      <p:graphicFrame>
        <p:nvGraphicFramePr>
          <p:cNvPr id="14" name="对象 13"/>
          <p:cNvGraphicFramePr>
            <a:graphicFrameLocks noChangeAspect="1"/>
          </p:cNvGraphicFramePr>
          <p:nvPr/>
        </p:nvGraphicFramePr>
        <p:xfrm>
          <a:off x="1878381" y="2218131"/>
          <a:ext cx="358913" cy="396000"/>
        </p:xfrm>
        <a:graphic>
          <a:graphicData uri="http://schemas.openxmlformats.org/presentationml/2006/ole">
            <mc:AlternateContent xmlns:mc="http://schemas.openxmlformats.org/markup-compatibility/2006">
              <mc:Choice xmlns:v="urn:schemas-microsoft-com:vml" Requires="v">
                <p:oleObj spid="_x0000_s31884" name="Equation" r:id="rId5" imgW="4876800" imgH="5486400" progId="Equation.DSMT4">
                  <p:embed/>
                </p:oleObj>
              </mc:Choice>
              <mc:Fallback>
                <p:oleObj name="Equation" r:id="rId5" imgW="4876800" imgH="5486400" progId="Equation.DSMT4">
                  <p:embed/>
                  <p:pic>
                    <p:nvPicPr>
                      <p:cNvPr id="0" name="图片 31883"/>
                      <p:cNvPicPr/>
                      <p:nvPr/>
                    </p:nvPicPr>
                    <p:blipFill>
                      <a:blip r:embed="rId6"/>
                      <a:stretch>
                        <a:fillRect/>
                      </a:stretch>
                    </p:blipFill>
                    <p:spPr>
                      <a:xfrm>
                        <a:off x="1878381" y="2218131"/>
                        <a:ext cx="358913" cy="3960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4252445" y="2317936"/>
          <a:ext cx="248400" cy="288000"/>
        </p:xfrm>
        <a:graphic>
          <a:graphicData uri="http://schemas.openxmlformats.org/presentationml/2006/ole">
            <mc:AlternateContent xmlns:mc="http://schemas.openxmlformats.org/markup-compatibility/2006">
              <mc:Choice xmlns:v="urn:schemas-microsoft-com:vml" Requires="v">
                <p:oleObj spid="_x0000_s31885" name="Equation" r:id="rId7" imgW="3352800" imgH="3962400" progId="Equation.DSMT4">
                  <p:embed/>
                </p:oleObj>
              </mc:Choice>
              <mc:Fallback>
                <p:oleObj name="Equation" r:id="rId7" imgW="3352800" imgH="3962400" progId="Equation.DSMT4">
                  <p:embed/>
                  <p:pic>
                    <p:nvPicPr>
                      <p:cNvPr id="0" name="图片 31884"/>
                      <p:cNvPicPr/>
                      <p:nvPr/>
                    </p:nvPicPr>
                    <p:blipFill>
                      <a:blip r:embed="rId8"/>
                      <a:stretch>
                        <a:fillRect/>
                      </a:stretch>
                    </p:blipFill>
                    <p:spPr>
                      <a:xfrm>
                        <a:off x="4252445" y="2317936"/>
                        <a:ext cx="248400" cy="2880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842000" y="2246313"/>
          <a:ext cx="962025" cy="360362"/>
        </p:xfrm>
        <a:graphic>
          <a:graphicData uri="http://schemas.openxmlformats.org/presentationml/2006/ole">
            <mc:AlternateContent xmlns:mc="http://schemas.openxmlformats.org/markup-compatibility/2006">
              <mc:Choice xmlns:v="urn:schemas-microsoft-com:vml" Requires="v">
                <p:oleObj spid="_x0000_s31886" name="Equation" r:id="rId9" imgW="12801600" imgH="4876800" progId="Equation.DSMT4">
                  <p:embed/>
                </p:oleObj>
              </mc:Choice>
              <mc:Fallback>
                <p:oleObj name="Equation" r:id="rId9" imgW="12801600" imgH="4876800" progId="Equation.DSMT4">
                  <p:embed/>
                  <p:pic>
                    <p:nvPicPr>
                      <p:cNvPr id="0" name="图片 31885"/>
                      <p:cNvPicPr/>
                      <p:nvPr/>
                    </p:nvPicPr>
                    <p:blipFill>
                      <a:blip r:embed="rId10"/>
                      <a:stretch>
                        <a:fillRect/>
                      </a:stretch>
                    </p:blipFill>
                    <p:spPr>
                      <a:xfrm>
                        <a:off x="5842000" y="2246313"/>
                        <a:ext cx="962025" cy="360362"/>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425825" y="3426536"/>
          <a:ext cx="2506896" cy="506520"/>
        </p:xfrm>
        <a:graphic>
          <a:graphicData uri="http://schemas.openxmlformats.org/presentationml/2006/ole">
            <mc:AlternateContent xmlns:mc="http://schemas.openxmlformats.org/markup-compatibility/2006">
              <mc:Choice xmlns:v="urn:schemas-microsoft-com:vml" Requires="v">
                <p:oleObj spid="_x0000_s31887" name="Equation" r:id="rId11" imgW="28651200" imgH="5791200" progId="Equation.DSMT4">
                  <p:embed/>
                </p:oleObj>
              </mc:Choice>
              <mc:Fallback>
                <p:oleObj name="Equation" r:id="rId11" imgW="28651200" imgH="5791200" progId="Equation.DSMT4">
                  <p:embed/>
                  <p:pic>
                    <p:nvPicPr>
                      <p:cNvPr id="0" name="图片 31886"/>
                      <p:cNvPicPr/>
                      <p:nvPr/>
                    </p:nvPicPr>
                    <p:blipFill>
                      <a:blip r:embed="rId12"/>
                      <a:stretch>
                        <a:fillRect/>
                      </a:stretch>
                    </p:blipFill>
                    <p:spPr>
                      <a:xfrm>
                        <a:off x="3425825" y="3426536"/>
                        <a:ext cx="2506896" cy="50652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275856" y="5057105"/>
          <a:ext cx="2514071" cy="504000"/>
        </p:xfrm>
        <a:graphic>
          <a:graphicData uri="http://schemas.openxmlformats.org/presentationml/2006/ole">
            <mc:AlternateContent xmlns:mc="http://schemas.openxmlformats.org/markup-compatibility/2006">
              <mc:Choice xmlns:v="urn:schemas-microsoft-com:vml" Requires="v">
                <p:oleObj spid="_x0000_s31888" name="Equation" r:id="rId13" imgW="28346400" imgH="5791200" progId="Equation.DSMT4">
                  <p:embed/>
                </p:oleObj>
              </mc:Choice>
              <mc:Fallback>
                <p:oleObj name="Equation" r:id="rId13" imgW="28346400" imgH="5791200" progId="Equation.DSMT4">
                  <p:embed/>
                  <p:pic>
                    <p:nvPicPr>
                      <p:cNvPr id="0" name="图片 31887"/>
                      <p:cNvPicPr/>
                      <p:nvPr/>
                    </p:nvPicPr>
                    <p:blipFill>
                      <a:blip r:embed="rId14"/>
                      <a:stretch>
                        <a:fillRect/>
                      </a:stretch>
                    </p:blipFill>
                    <p:spPr>
                      <a:xfrm>
                        <a:off x="3275856" y="5057105"/>
                        <a:ext cx="2514071" cy="504000"/>
                      </a:xfrm>
                      <a:prstGeom prst="rect">
                        <a:avLst/>
                      </a:prstGeom>
                      <a:noFill/>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2.5 </a:t>
            </a:r>
            <a:r>
              <a:rPr lang="zh-CN" altLang="en-US" dirty="0" smtClean="0"/>
              <a:t>偏差</a:t>
            </a:r>
            <a:r>
              <a:rPr lang="zh-CN" altLang="en-US" dirty="0"/>
              <a:t>与方差</a:t>
            </a:r>
            <a:endParaRPr lang="zh-CN" altLang="en-US" dirty="0"/>
          </a:p>
        </p:txBody>
      </p:sp>
      <p:sp>
        <p:nvSpPr>
          <p:cNvPr id="3" name="内容占位符 2"/>
          <p:cNvSpPr>
            <a:spLocks noGrp="1"/>
          </p:cNvSpPr>
          <p:nvPr>
            <p:ph idx="1"/>
          </p:nvPr>
        </p:nvSpPr>
        <p:spPr>
          <a:xfrm>
            <a:off x="683568" y="836712"/>
            <a:ext cx="7985648" cy="4690864"/>
          </a:xfrm>
        </p:spPr>
        <p:txBody>
          <a:bodyPr/>
          <a:lstStyle/>
          <a:p>
            <a:r>
              <a:rPr lang="zh-CN" altLang="en-US" dirty="0" smtClean="0"/>
              <a:t>对于回归分析</a:t>
            </a:r>
            <a:endParaRPr lang="en-US" altLang="zh-CN" dirty="0" smtClean="0"/>
          </a:p>
          <a:p>
            <a:pPr lvl="1"/>
            <a:r>
              <a:rPr lang="zh-CN" altLang="en-US" dirty="0" smtClean="0"/>
              <a:t>期望</a:t>
            </a:r>
            <a:r>
              <a:rPr lang="zh-CN" altLang="en-US" dirty="0"/>
              <a:t>泛化</a:t>
            </a:r>
            <a:r>
              <a:rPr lang="zh-CN" altLang="en-US" dirty="0" smtClean="0"/>
              <a:t>误差</a:t>
            </a:r>
            <a:endParaRPr lang="en-US" altLang="zh-CN" dirty="0" smtClean="0"/>
          </a:p>
          <a:p>
            <a:pPr lvl="2"/>
            <a:r>
              <a:rPr lang="zh-CN" altLang="en-US" dirty="0"/>
              <a:t>假定噪声期望为</a:t>
            </a:r>
            <a:r>
              <a:rPr lang="zh-CN" altLang="en-US" dirty="0" smtClean="0"/>
              <a:t>零</a:t>
            </a:r>
            <a:endParaRPr lang="en-US" altLang="zh-CN" dirty="0" smtClean="0"/>
          </a:p>
          <a:p>
            <a:pPr lvl="2"/>
            <a:endParaRPr lang="en-US" altLang="zh-CN" dirty="0"/>
          </a:p>
          <a:p>
            <a:pPr lvl="2"/>
            <a:endParaRPr lang="en-US" altLang="zh-CN" dirty="0" smtClean="0"/>
          </a:p>
          <a:p>
            <a:pPr lvl="2"/>
            <a:endParaRPr lang="en-US" altLang="zh-CN" dirty="0"/>
          </a:p>
          <a:p>
            <a:pPr lvl="3">
              <a:spcBef>
                <a:spcPts val="1200"/>
              </a:spcBef>
            </a:pPr>
            <a:r>
              <a:rPr lang="zh-CN" altLang="en-US" dirty="0" smtClean="0"/>
              <a:t>偏差</a:t>
            </a:r>
            <a:r>
              <a:rPr lang="en-US" altLang="zh-CN" dirty="0" smtClean="0"/>
              <a:t> </a:t>
            </a:r>
            <a:endParaRPr lang="en-US" altLang="zh-CN" dirty="0" smtClean="0"/>
          </a:p>
          <a:p>
            <a:pPr lvl="4"/>
            <a:r>
              <a:rPr lang="zh-CN" altLang="en-US" spc="-50" dirty="0" smtClean="0"/>
              <a:t>期望预测与真实结果的差别，反映学习算法拟合能力</a:t>
            </a:r>
            <a:endParaRPr lang="en-US" altLang="zh-CN" spc="-50" dirty="0" smtClean="0"/>
          </a:p>
          <a:p>
            <a:pPr lvl="3"/>
            <a:r>
              <a:rPr lang="zh-CN" altLang="en-US" dirty="0" smtClean="0"/>
              <a:t>方差</a:t>
            </a:r>
            <a:endParaRPr lang="en-US" altLang="zh-CN" dirty="0"/>
          </a:p>
          <a:p>
            <a:pPr lvl="4"/>
            <a:r>
              <a:rPr lang="zh-CN" altLang="en-US" dirty="0" smtClean="0"/>
              <a:t>同样大小训练集变动导致</a:t>
            </a:r>
            <a:r>
              <a:rPr lang="zh-CN" altLang="en-US" dirty="0"/>
              <a:t>的学习</a:t>
            </a:r>
            <a:r>
              <a:rPr lang="zh-CN" altLang="en-US" dirty="0" smtClean="0"/>
              <a:t>性能变化</a:t>
            </a:r>
            <a:r>
              <a:rPr lang="zh-CN" altLang="en-US" dirty="0"/>
              <a:t>，</a:t>
            </a:r>
            <a:r>
              <a:rPr lang="zh-CN" altLang="en-US" dirty="0" smtClean="0"/>
              <a:t>即数据扰动造成</a:t>
            </a:r>
            <a:r>
              <a:rPr lang="zh-CN" altLang="en-US" dirty="0"/>
              <a:t>的</a:t>
            </a:r>
            <a:r>
              <a:rPr lang="zh-CN" altLang="en-US" dirty="0" smtClean="0"/>
              <a:t>影响</a:t>
            </a:r>
            <a:endParaRPr lang="en-US" altLang="zh-CN" dirty="0" smtClean="0"/>
          </a:p>
          <a:p>
            <a:pPr lvl="3"/>
            <a:r>
              <a:rPr lang="zh-CN" altLang="en-US" dirty="0" smtClean="0"/>
              <a:t>噪声</a:t>
            </a:r>
            <a:endParaRPr lang="en-US" altLang="zh-CN" dirty="0"/>
          </a:p>
          <a:p>
            <a:pPr lvl="4"/>
            <a:r>
              <a:rPr lang="zh-CN" altLang="en-US" dirty="0" smtClean="0"/>
              <a:t>表达在当前任务任何</a:t>
            </a:r>
            <a:r>
              <a:rPr lang="zh-CN" altLang="en-US" dirty="0"/>
              <a:t>学习算法所能达到的期望泛化误差下界，即学习问题的难度</a:t>
            </a:r>
            <a:endParaRPr lang="en-US" altLang="zh-CN" dirty="0"/>
          </a:p>
          <a:p>
            <a:pPr lvl="2"/>
            <a:r>
              <a:rPr lang="zh-CN" altLang="en-US" dirty="0" smtClean="0"/>
              <a:t>学习</a:t>
            </a:r>
            <a:r>
              <a:rPr lang="zh-CN" altLang="en-US" dirty="0"/>
              <a:t>算法的泛化性能是由学习的能力、数据</a:t>
            </a:r>
            <a:r>
              <a:rPr lang="zh-CN" altLang="en-US" dirty="0" smtClean="0"/>
              <a:t>的充分性</a:t>
            </a:r>
            <a:r>
              <a:rPr lang="zh-CN" altLang="en-US" dirty="0"/>
              <a:t>以及学习任务本身的难度共同决定</a:t>
            </a:r>
            <a:endParaRPr lang="zh-CN" altLang="en-US" dirty="0"/>
          </a:p>
          <a:p>
            <a:endParaRPr lang="en-US" altLang="zh-CN" dirty="0" smtClean="0"/>
          </a:p>
          <a:p>
            <a:endParaRPr lang="en-US" altLang="zh-CN"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051720" y="2132856"/>
          <a:ext cx="6362700" cy="1292225"/>
        </p:xfrm>
        <a:graphic>
          <a:graphicData uri="http://schemas.openxmlformats.org/presentationml/2006/ole">
            <mc:AlternateContent xmlns:mc="http://schemas.openxmlformats.org/markup-compatibility/2006">
              <mc:Choice xmlns:v="urn:schemas-microsoft-com:vml" Requires="v">
                <p:oleObj spid="_x0000_s21150" name="Equation" r:id="rId1" imgW="67665600" imgH="14020800" progId="Equation.DSMT4">
                  <p:embed/>
                </p:oleObj>
              </mc:Choice>
              <mc:Fallback>
                <p:oleObj name="Equation" r:id="rId1" imgW="67665600" imgH="14020800" progId="Equation.DSMT4">
                  <p:embed/>
                  <p:pic>
                    <p:nvPicPr>
                      <p:cNvPr id="0" name="图片 21149"/>
                      <p:cNvPicPr/>
                      <p:nvPr/>
                    </p:nvPicPr>
                    <p:blipFill>
                      <a:blip r:embed="rId2"/>
                      <a:stretch>
                        <a:fillRect/>
                      </a:stretch>
                    </p:blipFill>
                    <p:spPr>
                      <a:xfrm>
                        <a:off x="2051720" y="2132856"/>
                        <a:ext cx="6362700" cy="129222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942328" y="3321112"/>
          <a:ext cx="2709792" cy="467928"/>
        </p:xfrm>
        <a:graphic>
          <a:graphicData uri="http://schemas.openxmlformats.org/presentationml/2006/ole">
            <mc:AlternateContent xmlns:mc="http://schemas.openxmlformats.org/markup-compatibility/2006">
              <mc:Choice xmlns:v="urn:schemas-microsoft-com:vml" Requires="v">
                <p:oleObj spid="_x0000_s21151" name="Equation" r:id="rId3" imgW="33528000" imgH="5791200" progId="Equation.DSMT4">
                  <p:embed/>
                </p:oleObj>
              </mc:Choice>
              <mc:Fallback>
                <p:oleObj name="Equation" r:id="rId3" imgW="33528000" imgH="5791200" progId="Equation.DSMT4">
                  <p:embed/>
                  <p:pic>
                    <p:nvPicPr>
                      <p:cNvPr id="0" name="图片 21150"/>
                      <p:cNvPicPr/>
                      <p:nvPr/>
                    </p:nvPicPr>
                    <p:blipFill>
                      <a:blip r:embed="rId4"/>
                      <a:stretch>
                        <a:fillRect/>
                      </a:stretch>
                    </p:blipFill>
                    <p:spPr>
                      <a:xfrm>
                        <a:off x="2942328" y="3321112"/>
                        <a:ext cx="2709792" cy="467928"/>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2929076" y="3946308"/>
          <a:ext cx="3519936" cy="456840"/>
        </p:xfrm>
        <a:graphic>
          <a:graphicData uri="http://schemas.openxmlformats.org/presentationml/2006/ole">
            <mc:AlternateContent xmlns:mc="http://schemas.openxmlformats.org/markup-compatibility/2006">
              <mc:Choice xmlns:v="urn:schemas-microsoft-com:vml" Requires="v">
                <p:oleObj spid="_x0000_s21152" name="Equation" r:id="rId5" imgW="46939200" imgH="6096000" progId="Equation.DSMT4">
                  <p:embed/>
                </p:oleObj>
              </mc:Choice>
              <mc:Fallback>
                <p:oleObj name="Equation" r:id="rId5" imgW="46939200" imgH="6096000" progId="Equation.DSMT4">
                  <p:embed/>
                  <p:pic>
                    <p:nvPicPr>
                      <p:cNvPr id="0" name="图片 21151"/>
                      <p:cNvPicPr/>
                      <p:nvPr/>
                    </p:nvPicPr>
                    <p:blipFill>
                      <a:blip r:embed="rId6"/>
                      <a:stretch>
                        <a:fillRect/>
                      </a:stretch>
                    </p:blipFill>
                    <p:spPr>
                      <a:xfrm>
                        <a:off x="2929076" y="3946308"/>
                        <a:ext cx="3519936" cy="456840"/>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2915816" y="4883932"/>
          <a:ext cx="2042784" cy="417276"/>
        </p:xfrm>
        <a:graphic>
          <a:graphicData uri="http://schemas.openxmlformats.org/presentationml/2006/ole">
            <mc:AlternateContent xmlns:mc="http://schemas.openxmlformats.org/markup-compatibility/2006">
              <mc:Choice xmlns:v="urn:schemas-microsoft-com:vml" Requires="v">
                <p:oleObj spid="_x0000_s21153" name="Equation" r:id="rId7" imgW="28346400" imgH="5791200" progId="Equation.DSMT4">
                  <p:embed/>
                </p:oleObj>
              </mc:Choice>
              <mc:Fallback>
                <p:oleObj name="Equation" r:id="rId7" imgW="28346400" imgH="5791200" progId="Equation.DSMT4">
                  <p:embed/>
                  <p:pic>
                    <p:nvPicPr>
                      <p:cNvPr id="0" name="图片 21152"/>
                      <p:cNvPicPr/>
                      <p:nvPr/>
                    </p:nvPicPr>
                    <p:blipFill>
                      <a:blip r:embed="rId8"/>
                      <a:stretch>
                        <a:fillRect/>
                      </a:stretch>
                    </p:blipFill>
                    <p:spPr>
                      <a:xfrm>
                        <a:off x="2915816" y="4883932"/>
                        <a:ext cx="2042784" cy="417276"/>
                      </a:xfrm>
                      <a:prstGeom prst="rect">
                        <a:avLst/>
                      </a:prstGeom>
                      <a:noFill/>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en-US" dirty="0"/>
              <a:t>偏差与方差</a:t>
            </a:r>
            <a:endParaRPr lang="zh-CN" altLang="en-US" dirty="0"/>
          </a:p>
        </p:txBody>
      </p:sp>
      <p:sp>
        <p:nvSpPr>
          <p:cNvPr id="3" name="内容占位符 2"/>
          <p:cNvSpPr>
            <a:spLocks noGrp="1"/>
          </p:cNvSpPr>
          <p:nvPr>
            <p:ph idx="1"/>
          </p:nvPr>
        </p:nvSpPr>
        <p:spPr>
          <a:xfrm>
            <a:off x="539552" y="836712"/>
            <a:ext cx="7992888" cy="4690864"/>
          </a:xfrm>
        </p:spPr>
        <p:txBody>
          <a:bodyPr/>
          <a:lstStyle/>
          <a:p>
            <a:r>
              <a:rPr lang="zh-CN" altLang="en-US" dirty="0" smtClean="0"/>
              <a:t>偏差</a:t>
            </a:r>
            <a:r>
              <a:rPr lang="en-US" altLang="zh-CN" dirty="0" smtClean="0">
                <a:latin typeface="+mn-ea"/>
              </a:rPr>
              <a:t>-</a:t>
            </a:r>
            <a:r>
              <a:rPr lang="zh-CN" altLang="en-US" dirty="0" smtClean="0"/>
              <a:t>方差窘境</a:t>
            </a:r>
            <a:endParaRPr lang="en-US" altLang="zh-CN" dirty="0" smtClean="0"/>
          </a:p>
          <a:p>
            <a:pPr lvl="1"/>
            <a:r>
              <a:rPr lang="zh-CN" altLang="en-US" dirty="0"/>
              <a:t>给定学习任务，</a:t>
            </a:r>
            <a:r>
              <a:rPr lang="zh-CN" altLang="en-US" dirty="0" smtClean="0"/>
              <a:t>为取得</a:t>
            </a:r>
            <a:r>
              <a:rPr lang="zh-CN" altLang="en-US" dirty="0"/>
              <a:t>好的泛化性能</a:t>
            </a:r>
            <a:r>
              <a:rPr lang="zh-CN" altLang="en-US" dirty="0" smtClean="0"/>
              <a:t>，需</a:t>
            </a:r>
            <a:r>
              <a:rPr lang="zh-CN" altLang="en-US" dirty="0"/>
              <a:t>使偏差较小，即能够充分拟合数据，并且使方差较小，即使得数据扰动产生的影响</a:t>
            </a:r>
            <a:r>
              <a:rPr lang="zh-CN" altLang="en-US" dirty="0" smtClean="0"/>
              <a:t>小</a:t>
            </a:r>
            <a:endParaRPr lang="en-US" altLang="zh-CN" dirty="0"/>
          </a:p>
          <a:p>
            <a:pPr lvl="1"/>
            <a:r>
              <a:rPr lang="zh-CN" altLang="en-US" spc="-100" dirty="0" smtClean="0"/>
              <a:t>偏差</a:t>
            </a:r>
            <a:r>
              <a:rPr lang="en-US" altLang="zh-CN" spc="-100" dirty="0" smtClean="0">
                <a:latin typeface="+mn-ea"/>
              </a:rPr>
              <a:t>-</a:t>
            </a:r>
            <a:r>
              <a:rPr lang="zh-CN" altLang="en-US" spc="-100" dirty="0" smtClean="0"/>
              <a:t>方差</a:t>
            </a:r>
            <a:r>
              <a:rPr lang="zh-CN" altLang="en-US" spc="-100" dirty="0"/>
              <a:t>存在冲突，称为</a:t>
            </a:r>
            <a:r>
              <a:rPr lang="zh-CN" altLang="en-US" spc="-100" dirty="0" smtClean="0"/>
              <a:t>偏差</a:t>
            </a:r>
            <a:r>
              <a:rPr lang="en-US" altLang="zh-CN" spc="-100" dirty="0" smtClean="0">
                <a:latin typeface="+mn-ea"/>
              </a:rPr>
              <a:t>-</a:t>
            </a:r>
            <a:r>
              <a:rPr lang="zh-CN" altLang="en-US" spc="-100" dirty="0" smtClean="0"/>
              <a:t>方差</a:t>
            </a:r>
            <a:r>
              <a:rPr lang="zh-CN" altLang="en-US" spc="-100" dirty="0"/>
              <a:t>窘境</a:t>
            </a:r>
            <a:endParaRPr lang="en-US" altLang="zh-CN" spc="-100" dirty="0"/>
          </a:p>
          <a:p>
            <a:pPr lvl="2"/>
            <a:r>
              <a:rPr lang="zh-CN" altLang="en-US" dirty="0"/>
              <a:t>训练</a:t>
            </a:r>
            <a:r>
              <a:rPr lang="zh-CN" altLang="en-US" dirty="0" smtClean="0"/>
              <a:t>不足，</a:t>
            </a:r>
            <a:r>
              <a:rPr lang="zh-CN" altLang="en-US" dirty="0"/>
              <a:t>学习器</a:t>
            </a:r>
            <a:r>
              <a:rPr lang="zh-CN" altLang="en-US" dirty="0" smtClean="0"/>
              <a:t>拟合能力不</a:t>
            </a:r>
            <a:r>
              <a:rPr lang="zh-CN" altLang="en-US" dirty="0"/>
              <a:t>强，训练</a:t>
            </a:r>
            <a:r>
              <a:rPr lang="zh-CN" altLang="en-US" dirty="0" smtClean="0"/>
              <a:t>数据扰动</a:t>
            </a:r>
            <a:r>
              <a:rPr lang="zh-CN" altLang="en-US" dirty="0"/>
              <a:t>不足以使学习</a:t>
            </a:r>
            <a:r>
              <a:rPr lang="zh-CN" altLang="en-US" dirty="0" smtClean="0"/>
              <a:t>器显著变化，偏差主导</a:t>
            </a:r>
            <a:endParaRPr lang="en-US" altLang="zh-CN" dirty="0" smtClean="0"/>
          </a:p>
          <a:p>
            <a:pPr lvl="2"/>
            <a:r>
              <a:rPr lang="zh-CN" altLang="en-US" dirty="0" smtClean="0"/>
              <a:t>训练</a:t>
            </a:r>
            <a:r>
              <a:rPr lang="zh-CN" altLang="en-US" dirty="0"/>
              <a:t>程度加深，学习</a:t>
            </a:r>
            <a:r>
              <a:rPr lang="zh-CN" altLang="en-US" dirty="0" smtClean="0"/>
              <a:t>器拟合逐渐</a:t>
            </a:r>
            <a:r>
              <a:rPr lang="zh-CN" altLang="en-US" dirty="0"/>
              <a:t>增强，训练</a:t>
            </a:r>
            <a:r>
              <a:rPr lang="zh-CN" altLang="en-US" dirty="0" smtClean="0"/>
              <a:t>数据扰动渐渐被</a:t>
            </a:r>
            <a:r>
              <a:rPr lang="zh-CN" altLang="en-US" dirty="0"/>
              <a:t>学习器学</a:t>
            </a:r>
            <a:r>
              <a:rPr lang="zh-CN" altLang="en-US" dirty="0" smtClean="0"/>
              <a:t>到，方差逐渐主导</a:t>
            </a:r>
            <a:endParaRPr lang="en-US" altLang="zh-CN" dirty="0" smtClean="0"/>
          </a:p>
          <a:p>
            <a:pPr lvl="2"/>
            <a:endParaRPr lang="zh-CN" altLang="en-US" dirty="0"/>
          </a:p>
          <a:p>
            <a:pPr lvl="2"/>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15" name="图片 14"/>
          <p:cNvPicPr>
            <a:picLocks noChangeAspect="1"/>
          </p:cNvPicPr>
          <p:nvPr/>
        </p:nvPicPr>
        <p:blipFill rotWithShape="1">
          <a:blip r:embed="rId1"/>
          <a:srcRect l="1009" t="1656" r="1862" b="13299"/>
          <a:stretch>
            <a:fillRect/>
          </a:stretch>
        </p:blipFill>
        <p:spPr>
          <a:xfrm>
            <a:off x="5454601" y="4538885"/>
            <a:ext cx="2933823" cy="2268000"/>
          </a:xfrm>
          <a:prstGeom prst="rect">
            <a:avLst/>
          </a:prstGeom>
        </p:spPr>
      </p:pic>
      <p:sp>
        <p:nvSpPr>
          <p:cNvPr id="11" name="内容占位符 2"/>
          <p:cNvSpPr txBox="1"/>
          <p:nvPr/>
        </p:nvSpPr>
        <p:spPr bwMode="auto">
          <a:xfrm>
            <a:off x="539552" y="4509120"/>
            <a:ext cx="4716524" cy="1266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just" rtl="0" eaLnBrk="1" fontAlgn="base" hangingPunct="1">
              <a:spcBef>
                <a:spcPts val="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just" rtl="0" eaLnBrk="1" fontAlgn="base" hangingPunct="1">
              <a:spcBef>
                <a:spcPts val="0"/>
              </a:spcBef>
              <a:spcAft>
                <a:spcPct val="0"/>
              </a:spcAft>
              <a:buClr>
                <a:schemeClr val="hlink"/>
              </a:buClr>
              <a:buSzPct val="55000"/>
              <a:buFont typeface="Wingdings" panose="05000000000000000000" pitchFamily="2" charset="2"/>
              <a:buChar char="n"/>
              <a:defRPr sz="2800" b="1">
                <a:solidFill>
                  <a:schemeClr val="tx1"/>
                </a:solidFill>
                <a:latin typeface="+mn-lt"/>
                <a:ea typeface="+mn-ea"/>
              </a:defRPr>
            </a:lvl2pPr>
            <a:lvl3pPr marL="1143000" indent="-228600" algn="just" rtl="0" eaLnBrk="1" fontAlgn="base" hangingPunct="1">
              <a:spcBef>
                <a:spcPts val="0"/>
              </a:spcBef>
              <a:spcAft>
                <a:spcPct val="0"/>
              </a:spcAft>
              <a:buClr>
                <a:schemeClr val="folHlink"/>
              </a:buClr>
              <a:buSzPct val="50000"/>
              <a:buFont typeface="Wingdings" panose="05000000000000000000" pitchFamily="2" charset="2"/>
              <a:buChar char="n"/>
              <a:defRPr sz="2400" b="1">
                <a:solidFill>
                  <a:schemeClr val="tx1"/>
                </a:solidFill>
                <a:latin typeface="+mn-lt"/>
                <a:ea typeface="+mn-ea"/>
              </a:defRPr>
            </a:lvl3pPr>
            <a:lvl4pPr marL="1600200" indent="-228600" algn="just" rtl="0" eaLnBrk="1" fontAlgn="base" hangingPunct="1">
              <a:spcBef>
                <a:spcPts val="0"/>
              </a:spcBef>
              <a:spcAft>
                <a:spcPct val="0"/>
              </a:spcAft>
              <a:buClr>
                <a:schemeClr val="accent2"/>
              </a:buClr>
              <a:buSzPct val="55000"/>
              <a:buFont typeface="Wingdings" panose="05000000000000000000" pitchFamily="2" charset="2"/>
              <a:buChar char="n"/>
              <a:defRPr sz="2000" b="1">
                <a:solidFill>
                  <a:schemeClr val="tx1"/>
                </a:solidFill>
                <a:latin typeface="+mn-lt"/>
                <a:ea typeface="+mn-ea"/>
              </a:defRPr>
            </a:lvl4pPr>
            <a:lvl5pPr marL="2057400" indent="-228600" algn="just" rtl="0" eaLnBrk="1" fontAlgn="base" hangingPunct="1">
              <a:spcBef>
                <a:spcPts val="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lvl="2" hangingPunct="0">
              <a:lnSpc>
                <a:spcPct val="100000"/>
              </a:lnSpc>
            </a:pPr>
            <a:r>
              <a:rPr lang="zh-CN" altLang="en-US" kern="0" dirty="0" smtClean="0"/>
              <a:t>训练充足，学习器的拟合很强，训练数据发生轻微扰动导致学习器显著变化，</a:t>
            </a:r>
            <a:r>
              <a:rPr lang="zh-CN" altLang="en-US" kern="0" dirty="0"/>
              <a:t>过</a:t>
            </a:r>
            <a:r>
              <a:rPr lang="zh-CN" altLang="en-US" kern="0" dirty="0" smtClean="0"/>
              <a:t>拟合，方差主导</a:t>
            </a:r>
            <a:endParaRPr lang="zh-CN" altLang="en-US" kern="0" dirty="0" smtClean="0"/>
          </a:p>
          <a:p>
            <a:pPr lvl="2">
              <a:lnSpc>
                <a:spcPct val="100000"/>
              </a:lnSpc>
            </a:pPr>
            <a:endParaRPr lang="en-US" altLang="zh-CN" kern="0" dirty="0" smtClean="0"/>
          </a:p>
          <a:p>
            <a:pPr>
              <a:lnSpc>
                <a:spcPct val="100000"/>
              </a:lnSpc>
            </a:pPr>
            <a:endParaRPr lang="en-US" altLang="zh-CN" kern="0" dirty="0" smtClean="0"/>
          </a:p>
          <a:p>
            <a:pPr>
              <a:lnSpc>
                <a:spcPct val="100000"/>
              </a:lnSpc>
            </a:pPr>
            <a:endParaRPr lang="zh-CN" altLang="en-US" kern="0" dirty="0"/>
          </a:p>
        </p:txBody>
      </p:sp>
    </p:spTree>
  </p:cSld>
  <p:clrMapOvr>
    <a:masterClrMapping/>
  </p:clrMapOvr>
  <p:transition>
    <p:cover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theme/theme1.xml><?xml version="1.0" encoding="utf-8"?>
<a:theme xmlns:a="http://schemas.openxmlformats.org/drawingml/2006/main" name="课件PPT主题1">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课件PPT主题1</Template>
  <TotalTime>0</TotalTime>
  <Words>6961</Words>
  <Application>WPS 演示</Application>
  <PresentationFormat>全屏显示(4:3)</PresentationFormat>
  <Paragraphs>694</Paragraphs>
  <Slides>45</Slides>
  <Notes>39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105</vt:i4>
      </vt:variant>
      <vt:variant>
        <vt:lpstr>幻灯片标题</vt:lpstr>
      </vt:variant>
      <vt:variant>
        <vt:i4>45</vt:i4>
      </vt:variant>
    </vt:vector>
  </HeadingPairs>
  <TitlesOfParts>
    <vt:vector size="158" baseType="lpstr">
      <vt:lpstr>Arial</vt:lpstr>
      <vt:lpstr>宋体</vt:lpstr>
      <vt:lpstr>Wingdings</vt:lpstr>
      <vt:lpstr>Tahoma</vt:lpstr>
      <vt:lpstr>Times New Roman</vt:lpstr>
      <vt:lpstr>微软雅黑</vt:lpstr>
      <vt:lpstr>Arial Unicode MS</vt:lpstr>
      <vt:lpstr>课件PPT主题1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第2章 模型评估与选择</vt:lpstr>
      <vt:lpstr>主要内容</vt:lpstr>
      <vt:lpstr>2.1 经验误差与过拟合</vt:lpstr>
      <vt:lpstr>2.1 经验误差与过拟合</vt:lpstr>
      <vt:lpstr>2.1 经验误差与过拟合</vt:lpstr>
      <vt:lpstr>2.1 经验误差与过拟合</vt:lpstr>
      <vt:lpstr>2.2 评估方法</vt:lpstr>
      <vt:lpstr>2.2 评估方法</vt:lpstr>
      <vt:lpstr>2.2 评估方法</vt:lpstr>
      <vt:lpstr>2.2 评估方法</vt:lpstr>
      <vt:lpstr>2.2 评估方法</vt:lpstr>
      <vt:lpstr>2.2 评估方法</vt:lpstr>
      <vt:lpstr>2.2 评估方法</vt:lpstr>
      <vt:lpstr>2.2 评估方法</vt:lpstr>
      <vt:lpstr>2.2 评估方法</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2.3 性能度量</vt:lpstr>
      <vt:lpstr>2.4 比较检验</vt:lpstr>
      <vt:lpstr>2.4 比较检验</vt:lpstr>
      <vt:lpstr>2.4 比较检验</vt:lpstr>
      <vt:lpstr>2.4 比较检验</vt:lpstr>
      <vt:lpstr>2.4 比较检验</vt:lpstr>
      <vt:lpstr>2.4 比较检验</vt:lpstr>
      <vt:lpstr>2.4 比较检验</vt:lpstr>
      <vt:lpstr>2.4 比较检验</vt:lpstr>
      <vt:lpstr>2.4 比较检验</vt:lpstr>
      <vt:lpstr>2.5 偏差与方差</vt:lpstr>
      <vt:lpstr>2.5 偏差与方差</vt:lpstr>
      <vt:lpstr>2.5 偏差与方差</vt:lpstr>
      <vt:lpstr>作业</vt:lpstr>
    </vt:vector>
  </TitlesOfParts>
  <Company>NEU Systems Engineering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智能优化方法</dc:title>
  <dc:creator>Junwei Wang</dc:creator>
  <cp:lastModifiedBy>MNBVC</cp:lastModifiedBy>
  <cp:revision>1459</cp:revision>
  <dcterms:created xsi:type="dcterms:W3CDTF">2003-07-20T06:30:00Z</dcterms:created>
  <dcterms:modified xsi:type="dcterms:W3CDTF">2021-09-22T13:08:29Z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