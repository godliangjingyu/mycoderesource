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530" r:id="rId3"/>
    <p:sldId id="568" r:id="rId5"/>
    <p:sldId id="595" r:id="rId6"/>
    <p:sldId id="584" r:id="rId7"/>
    <p:sldId id="585" r:id="rId8"/>
    <p:sldId id="586" r:id="rId9"/>
    <p:sldId id="587" r:id="rId10"/>
    <p:sldId id="588" r:id="rId11"/>
    <p:sldId id="618" r:id="rId12"/>
    <p:sldId id="589" r:id="rId13"/>
    <p:sldId id="590" r:id="rId14"/>
    <p:sldId id="591" r:id="rId15"/>
    <p:sldId id="614" r:id="rId16"/>
    <p:sldId id="615" r:id="rId17"/>
    <p:sldId id="616" r:id="rId18"/>
    <p:sldId id="617" r:id="rId19"/>
    <p:sldId id="592" r:id="rId20"/>
    <p:sldId id="596" r:id="rId21"/>
    <p:sldId id="597" r:id="rId22"/>
    <p:sldId id="598" r:id="rId23"/>
    <p:sldId id="599" r:id="rId24"/>
    <p:sldId id="600" r:id="rId25"/>
    <p:sldId id="601" r:id="rId26"/>
    <p:sldId id="602" r:id="rId27"/>
    <p:sldId id="603" r:id="rId28"/>
    <p:sldId id="604" r:id="rId29"/>
    <p:sldId id="605" r:id="rId30"/>
    <p:sldId id="613" r:id="rId31"/>
    <p:sldId id="606" r:id="rId32"/>
    <p:sldId id="607" r:id="rId33"/>
    <p:sldId id="609" r:id="rId34"/>
    <p:sldId id="610" r:id="rId35"/>
    <p:sldId id="611" r:id="rId36"/>
    <p:sldId id="612" r:id="rId37"/>
    <p:sldId id="583" r:id="rId38"/>
  </p:sldIdLst>
  <p:sldSz cx="9144000" cy="6858000" type="screen4x3"/>
  <p:notesSz cx="6858000" cy="9144000"/>
  <p:defaultTextStyle>
    <a:defPPr>
      <a:defRPr lang="zh-CN"/>
    </a:defPPr>
    <a:lvl1pPr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FF00"/>
    <a:srgbClr val="000000"/>
    <a:srgbClr val="B5E3F3"/>
    <a:srgbClr val="FFFFFF"/>
    <a:srgbClr val="FF6600"/>
    <a:srgbClr val="E3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71742" autoAdjust="0"/>
  </p:normalViewPr>
  <p:slideViewPr>
    <p:cSldViewPr>
      <p:cViewPr varScale="1">
        <p:scale>
          <a:sx n="59" d="100"/>
          <a:sy n="59" d="100"/>
        </p:scale>
        <p:origin x="72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0.wmf"/><Relationship Id="rId8" Type="http://schemas.openxmlformats.org/officeDocument/2006/relationships/image" Target="../media/image49.wmf"/><Relationship Id="rId7" Type="http://schemas.openxmlformats.org/officeDocument/2006/relationships/image" Target="../media/image48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0" Type="http://schemas.openxmlformats.org/officeDocument/2006/relationships/image" Target="../media/image51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7" Type="http://schemas.openxmlformats.org/officeDocument/2006/relationships/image" Target="../media/image77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7" Type="http://schemas.openxmlformats.org/officeDocument/2006/relationships/image" Target="../media/image98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7" Type="http://schemas.openxmlformats.org/officeDocument/2006/relationships/image" Target="../media/image119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87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7" Type="http://schemas.openxmlformats.org/officeDocument/2006/relationships/image" Target="../media/image132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87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1.wmf"/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wmf"/><Relationship Id="rId8" Type="http://schemas.openxmlformats.org/officeDocument/2006/relationships/image" Target="../media/image153.wmf"/><Relationship Id="rId7" Type="http://schemas.openxmlformats.org/officeDocument/2006/relationships/image" Target="../media/image152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3" Type="http://schemas.openxmlformats.org/officeDocument/2006/relationships/image" Target="../media/image158.wmf"/><Relationship Id="rId12" Type="http://schemas.openxmlformats.org/officeDocument/2006/relationships/image" Target="../media/image157.wmf"/><Relationship Id="rId11" Type="http://schemas.openxmlformats.org/officeDocument/2006/relationships/image" Target="../media/image156.wmf"/><Relationship Id="rId10" Type="http://schemas.openxmlformats.org/officeDocument/2006/relationships/image" Target="../media/image155.wmf"/><Relationship Id="rId1" Type="http://schemas.openxmlformats.org/officeDocument/2006/relationships/image" Target="../media/image1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95B01064-FCC8-4740-9ED9-11F36E7CF28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96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96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4DF57427-B8B5-4D24-A9D7-9D6F6382E66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6" Type="http://schemas.openxmlformats.org/officeDocument/2006/relationships/hyperlink" Target="https://baike.baidu.com/item/%E5%90%8E%E9%AA%8C%E6%A6%82%E7%8E%87" TargetMode="External"/><Relationship Id="rId5" Type="http://schemas.openxmlformats.org/officeDocument/2006/relationships/hyperlink" Target="https://baike.baidu.com/item/%E8%B4%9D%E5%8F%B6%E6%96%AF%E5%85%AC%E5%BC%8F" TargetMode="External"/><Relationship Id="rId4" Type="http://schemas.openxmlformats.org/officeDocument/2006/relationships/hyperlink" Target="https://baike.baidu.com/item/%E5%85%88%E9%AA%8C%E6%A6%82%E7%8E%87" TargetMode="External"/><Relationship Id="rId3" Type="http://schemas.openxmlformats.org/officeDocument/2006/relationships/hyperlink" Target="https://baike.baidu.com/item/%E8%B4%9D%E5%8F%B6%E6%96%AF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baidu.com/s?wd=%E8%92%99%E7%89%B9%E5%8D%A1%E6%B4%9B&amp;tn=44039180_cpr&amp;fenlei=mv6quAkxTZn0IZRqIHckPjm4nH00T1YkuWDsmWDdPHPbrAcsm1Ds0ZwV5Hcvrjm3rH6sPfKWUMw85HfYnjn4nH6sgvPsT6KdThsqpZwYTjCEQLGCpyw9Uz4Bmy-bIi4WUvYETgN-TLwGUv3EPjfsn104PHRk" TargetMode="External"/><Relationship Id="rId3" Type="http://schemas.openxmlformats.org/officeDocument/2006/relationships/hyperlink" Target="https://www.baidu.com/s?wd=k-1&amp;tn=44039180_cpr&amp;fenlei=mv6quAkxTZn0IZRqIHckPjm4nH00T1YkuWDsmWDdPHPbrAcsm1Ds0ZwV5Hcvrjm3rH6sPfKWUMw85HfYnjn4nH6sgvPsT6KdThsqpZwYTjCEQLGCpyw9Uz4Bmy-bIi4WUvYETgN-TLwGUv3EPjfsn104PHRk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|x</a:t>
            </a:r>
            <a:r>
              <a:rPr lang="zh-CN" altLang="en-US" dirty="0" smtClean="0"/>
              <a:t>，以</a:t>
            </a:r>
            <a:r>
              <a:rPr lang="en-US" altLang="zh-CN" dirty="0" smtClean="0"/>
              <a:t>x</a:t>
            </a:r>
            <a:r>
              <a:rPr lang="zh-CN" altLang="en-US" dirty="0" smtClean="0"/>
              <a:t>为基数的概率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E</a:t>
            </a:r>
            <a:r>
              <a:rPr lang="zh-CN" altLang="en-US" dirty="0" smtClean="0"/>
              <a:t>期望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（学习目标）贝叶斯判定准则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随机变量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的联合分布函数是设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(X,Y)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是二维随机变量，对于任意实数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，二元函数：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 = P(X&lt;=x, Y&lt;=y) 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称为二维随机变量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(X,Y)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的分布函数。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1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判别式模型，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的概率作为模型</a:t>
            </a:r>
            <a:endParaRPr lang="en-US" altLang="zh-CN" sz="1200" b="1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贝叶斯学习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是利用参数的先验分布，由样本信息求来的后验分布，直接求出总体分布。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贝叶斯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学习理论使用概率去表示所有形式的不确定性，通过概率规则来实现学习和推理过程。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贝叶斯分类器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的分类原理是通过某对象的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先验概率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，利用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/>
              </a:rPr>
              <a:t>贝叶斯公式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计算出其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6"/>
              </a:rPr>
              <a:t>后验概率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，即该对象属于某一类的概率，选择具有最大后验概率的类作为该对象所属的类。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估计</a:t>
            </a:r>
            <a:r>
              <a:rPr lang="en-US" altLang="zh-CN" dirty="0" smtClean="0"/>
              <a:t>P(</a:t>
            </a:r>
            <a:r>
              <a:rPr lang="en-US" altLang="zh-CN" dirty="0" err="1" smtClean="0"/>
              <a:t>x|c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统计学中，似然函数是一种关于统计模型参数的函数。给定输出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时，关于参数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θ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的似然函数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θ|x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（在数值上）等于给定参数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θ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后变量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的概率：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θ|x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)=P(X=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x|θ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).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似然颠倒条件概率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联合分布，多次独立实验的结果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最大似然估计是建立在这样的思想上：已知某个参数能使这个样本出现的概率最大，我们当然不会再去选择其他小概率的样本，所以干脆就把这个参数作为估计的真实值。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统计学中，似然函数是一种关于统计模型参数的函数。给定输出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时，关于参数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θ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的似然函数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θ|x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（在数值上）等于给定参数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θ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后变量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的概率：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θ|x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)=P(X=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x|θ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).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似然颠倒条件概率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联合分布，多次独立实验的结果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最大似然估计是建立在这样的思想上：已知某个参数能使这个样本出现的概率最大，我们当然不会再去选择其他小概率的样本，所以干脆就把这个参数作为估计的真实值。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nb</a:t>
            </a:r>
            <a:r>
              <a:rPr lang="en-US" altLang="zh-CN" dirty="0" smtClean="0"/>
              <a:t> </a:t>
            </a:r>
            <a:r>
              <a:rPr lang="zh-CN" altLang="en-US" dirty="0" smtClean="0"/>
              <a:t>朴素贝叶斯分类器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拉普拉斯修正 </a:t>
            </a:r>
            <a:endParaRPr lang="zh-CN" altLang="en-US" dirty="0" smtClean="0"/>
          </a:p>
          <a:p>
            <a:r>
              <a:rPr lang="en-US" altLang="zh-CN" dirty="0" smtClean="0"/>
              <a:t>(</a:t>
            </a:r>
            <a:r>
              <a:rPr lang="en-US" altLang="zh-CN" dirty="0" err="1" smtClean="0"/>
              <a:t>Laplacian</a:t>
            </a:r>
            <a:r>
              <a:rPr lang="en-US" altLang="zh-CN" dirty="0" smtClean="0"/>
              <a:t> correction)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独依赖估计 </a:t>
            </a:r>
            <a:r>
              <a:rPr lang="en-US" altLang="zh-CN" dirty="0" smtClean="0"/>
              <a:t>(One-Dependent Estimator, ODE)</a:t>
            </a:r>
            <a:endParaRPr lang="en-US" altLang="zh-CN" dirty="0" smtClean="0"/>
          </a:p>
          <a:p>
            <a:r>
              <a:rPr lang="zh-CN" altLang="en-US" dirty="0" smtClean="0"/>
              <a:t>最常用的一种策略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独依赖估计 </a:t>
            </a:r>
            <a:r>
              <a:rPr lang="en-US" altLang="zh-CN" dirty="0" smtClean="0"/>
              <a:t>(One-Dependent Estimator, ODE)</a:t>
            </a:r>
            <a:endParaRPr lang="en-US" altLang="zh-CN" dirty="0" smtClean="0"/>
          </a:p>
          <a:p>
            <a:r>
              <a:rPr lang="en-US" altLang="zh-CN" dirty="0" smtClean="0">
                <a:latin typeface="+mn-ea"/>
              </a:rPr>
              <a:t>Super-Parent </a:t>
            </a:r>
            <a:r>
              <a:rPr lang="zh-CN" altLang="en-US" dirty="0" smtClean="0">
                <a:latin typeface="+mn-ea"/>
              </a:rPr>
              <a:t>超父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Tree Augmented naïve Bayes </a:t>
            </a:r>
            <a:r>
              <a:rPr lang="zh-CN" altLang="en-US" strike="sngStrike" dirty="0" smtClean="0"/>
              <a:t>树增广朴素贝叶斯</a:t>
            </a:r>
            <a:endParaRPr lang="zh-CN" altLang="en-US" strike="sng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是一种基于集成学习机制、更为强大的独依赖分类器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ODE </a:t>
            </a:r>
            <a:r>
              <a:rPr lang="zh-CN" altLang="en-US" dirty="0" smtClean="0"/>
              <a:t>独依赖估计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概率图模型</a:t>
            </a:r>
            <a:r>
              <a:rPr lang="en-US" altLang="zh-CN" dirty="0" smtClean="0"/>
              <a:t>(Probabilistic graphical model) </a:t>
            </a:r>
            <a:r>
              <a:rPr lang="zh-CN" altLang="en-US" dirty="0" smtClean="0"/>
              <a:t>第</a:t>
            </a:r>
            <a:r>
              <a:rPr lang="en-US" altLang="zh-CN" dirty="0" smtClean="0"/>
              <a:t>14</a:t>
            </a:r>
            <a:r>
              <a:rPr lang="zh-CN" altLang="en-US" dirty="0" smtClean="0"/>
              <a:t>章</a:t>
            </a:r>
            <a:endParaRPr lang="zh-CN" altLang="en-US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有向图模型 贝叶斯网</a:t>
            </a:r>
            <a:endParaRPr lang="zh-CN" altLang="en-US" dirty="0" smtClean="0"/>
          </a:p>
          <a:p>
            <a:r>
              <a:rPr lang="en-US" altLang="zh-CN" dirty="0" smtClean="0"/>
              <a:t>• </a:t>
            </a:r>
            <a:r>
              <a:rPr lang="zh-CN" altLang="en-US" dirty="0" smtClean="0"/>
              <a:t>无向图模型 马尔可夫网</a:t>
            </a:r>
            <a:endParaRPr lang="zh-CN" altLang="en-US" dirty="0" smtClean="0"/>
          </a:p>
          <a:p>
            <a:r>
              <a:rPr lang="zh-CN" altLang="en-US" dirty="0" smtClean="0"/>
              <a:t> </a:t>
            </a:r>
            <a:endParaRPr lang="zh-CN" altLang="en-US" dirty="0" smtClean="0"/>
          </a:p>
          <a:p>
            <a:r>
              <a:rPr lang="el-GR" altLang="zh-CN" dirty="0" smtClean="0"/>
              <a:t>Θ</a:t>
            </a:r>
            <a:r>
              <a:rPr lang="en-US" altLang="zh-CN" dirty="0" smtClean="0"/>
              <a:t> </a:t>
            </a:r>
            <a:r>
              <a:rPr lang="zh-CN" altLang="en-US" dirty="0" smtClean="0"/>
              <a:t>西塔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latin typeface="+mn-ea"/>
                <a:ea typeface="+mn-ea"/>
              </a:rPr>
              <a:t>同父</a:t>
            </a:r>
            <a:r>
              <a:rPr lang="en-US" altLang="zh-CN" dirty="0" smtClean="0">
                <a:latin typeface="+mn-ea"/>
                <a:ea typeface="+mn-ea"/>
              </a:rPr>
              <a:t>(common </a:t>
            </a:r>
            <a:r>
              <a:rPr lang="en-US" altLang="zh-CN" dirty="0" err="1" smtClean="0">
                <a:latin typeface="+mn-ea"/>
                <a:ea typeface="+mn-ea"/>
              </a:rPr>
              <a:t>paxent</a:t>
            </a:r>
            <a:r>
              <a:rPr lang="en-US" altLang="zh-CN" dirty="0" smtClean="0">
                <a:latin typeface="+mn-ea"/>
                <a:ea typeface="+mn-ea"/>
              </a:rPr>
              <a:t>)</a:t>
            </a:r>
            <a:r>
              <a:rPr lang="zh-CN" altLang="en-US" dirty="0" smtClean="0">
                <a:latin typeface="+mn-ea"/>
                <a:ea typeface="+mn-ea"/>
              </a:rPr>
              <a:t>结构</a:t>
            </a:r>
            <a:endParaRPr lang="en-US" altLang="zh-CN" dirty="0" smtClean="0">
              <a:latin typeface="+mn-ea"/>
              <a:ea typeface="+mn-ea"/>
            </a:endParaRPr>
          </a:p>
          <a:p>
            <a:pPr lvl="0"/>
            <a:endParaRPr lang="en-US" altLang="zh-CN" dirty="0" smtClean="0">
              <a:latin typeface="+mn-ea"/>
              <a:ea typeface="+mn-ea"/>
            </a:endParaRPr>
          </a:p>
          <a:p>
            <a:pPr lvl="0"/>
            <a:r>
              <a:rPr lang="zh-CN" altLang="en-US" dirty="0" smtClean="0">
                <a:latin typeface="+mn-ea"/>
                <a:ea typeface="+mn-ea"/>
              </a:rPr>
              <a:t>同父结构，相关通过</a:t>
            </a:r>
            <a:r>
              <a:rPr lang="en-US" altLang="zh-CN" dirty="0" smtClean="0">
                <a:latin typeface="+mn-ea"/>
                <a:ea typeface="+mn-ea"/>
              </a:rPr>
              <a:t>x1</a:t>
            </a:r>
            <a:r>
              <a:rPr lang="zh-CN" altLang="en-US" dirty="0" smtClean="0">
                <a:latin typeface="+mn-ea"/>
                <a:ea typeface="+mn-ea"/>
              </a:rPr>
              <a:t>关联</a:t>
            </a:r>
            <a:endParaRPr lang="en-US" altLang="zh-CN" dirty="0" smtClean="0">
              <a:latin typeface="+mn-ea"/>
              <a:ea typeface="+mn-ea"/>
            </a:endParaRPr>
          </a:p>
          <a:p>
            <a:pPr lvl="0"/>
            <a:endParaRPr lang="en-US" altLang="zh-CN" dirty="0" smtClean="0">
              <a:latin typeface="+mn-ea"/>
              <a:ea typeface="+mn-ea"/>
            </a:endParaRPr>
          </a:p>
          <a:p>
            <a:pPr lvl="0"/>
            <a:r>
              <a:rPr lang="en-US" altLang="zh-CN" dirty="0" smtClean="0">
                <a:latin typeface="+mn-ea"/>
                <a:ea typeface="+mn-ea"/>
              </a:rPr>
              <a:t>V</a:t>
            </a:r>
            <a:r>
              <a:rPr lang="zh-CN" altLang="en-US" dirty="0" smtClean="0">
                <a:latin typeface="+mn-ea"/>
                <a:ea typeface="+mn-ea"/>
              </a:rPr>
              <a:t>型结构，跑的快（重，高；轻，矮）</a:t>
            </a:r>
            <a:endParaRPr lang="en-US" altLang="zh-CN" dirty="0" smtClean="0">
              <a:latin typeface="+mn-ea"/>
              <a:ea typeface="+mn-ea"/>
            </a:endParaRPr>
          </a:p>
          <a:p>
            <a:pPr lvl="0"/>
            <a:endParaRPr lang="en-US" altLang="zh-CN" dirty="0" smtClean="0">
              <a:latin typeface="+mn-ea"/>
              <a:ea typeface="+mn-ea"/>
            </a:endParaRPr>
          </a:p>
          <a:p>
            <a:pPr lvl="0"/>
            <a:r>
              <a:rPr lang="zh-CN" altLang="en-US" dirty="0" smtClean="0">
                <a:latin typeface="+mn-ea"/>
                <a:ea typeface="+mn-ea"/>
              </a:rPr>
              <a:t>边际独立性在给定取值时不独立，不易计算，要进一步分析条件独立性</a:t>
            </a:r>
            <a:endParaRPr lang="en-US" altLang="zh-CN" dirty="0" smtClean="0">
              <a:latin typeface="+mn-ea"/>
              <a:ea typeface="+mn-ea"/>
            </a:endParaRPr>
          </a:p>
          <a:p>
            <a:pPr lvl="0" algn="l"/>
            <a:endParaRPr lang="en-US" altLang="zh-CN" dirty="0" smtClean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为了分析有向图中变量间的条件独立性，可使用有向分离先将有向图转变为一个无向图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所有两属性间的独立性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找出结构最恰当的贝叶斯</a:t>
            </a:r>
            <a:r>
              <a:rPr lang="zh-CN" altLang="en-US" dirty="0" smtClean="0">
                <a:latin typeface="+mn-ea"/>
              </a:rPr>
              <a:t>网，</a:t>
            </a:r>
            <a:r>
              <a:rPr lang="en-US" altLang="zh-CN" dirty="0" smtClean="0">
                <a:latin typeface="+mn-ea"/>
              </a:rPr>
              <a:t>NP</a:t>
            </a:r>
            <a:r>
              <a:rPr lang="zh-CN" altLang="en-US" dirty="0" smtClean="0">
                <a:latin typeface="+mn-ea"/>
              </a:rPr>
              <a:t>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π</a:t>
            </a:r>
            <a:r>
              <a:rPr lang="zh-CN" altLang="en-US" dirty="0" smtClean="0"/>
              <a:t>是父属性节点</a:t>
            </a:r>
            <a:endParaRPr lang="zh-CN" altLang="en-US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吉布斯采样 </a:t>
            </a:r>
            <a:r>
              <a:rPr lang="en-US" altLang="zh-CN" dirty="0" smtClean="0"/>
              <a:t>(Gibbs sampling)</a:t>
            </a:r>
            <a:endParaRPr lang="en-US" altLang="zh-CN" dirty="0" smtClean="0"/>
          </a:p>
          <a:p>
            <a:r>
              <a:rPr lang="zh-CN" altLang="en-US" dirty="0" smtClean="0"/>
              <a:t>变分推断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variational</a:t>
            </a:r>
            <a:r>
              <a:rPr lang="en-US" altLang="zh-CN" dirty="0" smtClean="0"/>
              <a:t> inference)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/>
              <a:t>吉布斯采样的具体做法：</a:t>
            </a:r>
            <a:r>
              <a:rPr lang="zh-CN" altLang="en-US" dirty="0" smtClean="0"/>
              <a:t>假设有一个</a:t>
            </a:r>
            <a:r>
              <a:rPr lang="en-US" altLang="zh-CN" dirty="0" smtClean="0"/>
              <a:t>k</a:t>
            </a:r>
            <a:r>
              <a:rPr lang="zh-CN" altLang="en-US" dirty="0" smtClean="0"/>
              <a:t>维的随机向量，现想要构造一条有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个样本的</a:t>
            </a:r>
            <a:r>
              <a:rPr lang="en-US" altLang="zh-CN" dirty="0" smtClean="0"/>
              <a:t>k</a:t>
            </a:r>
            <a:r>
              <a:rPr lang="zh-CN" altLang="en-US" dirty="0" smtClean="0"/>
              <a:t>维向量（</a:t>
            </a:r>
            <a:r>
              <a:rPr lang="en-US" altLang="zh-CN" dirty="0" smtClean="0"/>
              <a:t>n</a:t>
            </a:r>
            <a:r>
              <a:rPr lang="zh-CN" altLang="en-US" dirty="0" smtClean="0"/>
              <a:t>样本马尔科夫序列），那么（随机）初始化一个</a:t>
            </a:r>
            <a:r>
              <a:rPr lang="en-US" altLang="zh-CN" dirty="0" smtClean="0"/>
              <a:t>k</a:t>
            </a:r>
            <a:r>
              <a:rPr lang="zh-CN" altLang="en-US" dirty="0" smtClean="0"/>
              <a:t>维向量，然后固定这个向量其中的</a:t>
            </a:r>
            <a:r>
              <a:rPr lang="en-US" altLang="zh-CN" dirty="0" smtClean="0">
                <a:hlinkClick r:id="rId3"/>
              </a:rPr>
              <a:t>k-1</a:t>
            </a:r>
            <a:r>
              <a:rPr lang="zh-CN" altLang="en-US" dirty="0" smtClean="0"/>
              <a:t>个元素，抽取剩下的那个元素（生成给定后验的随机数），这样循环</a:t>
            </a:r>
            <a:r>
              <a:rPr lang="en-US" altLang="zh-CN" dirty="0" smtClean="0"/>
              <a:t>k</a:t>
            </a:r>
            <a:r>
              <a:rPr lang="zh-CN" altLang="en-US" dirty="0" smtClean="0"/>
              <a:t>次，就把整个向量更新了一遍，也就是生成了一个新的样本，把这个整体重复</a:t>
            </a:r>
            <a:r>
              <a:rPr lang="en-US" altLang="zh-CN" dirty="0" smtClean="0"/>
              <a:t>n</a:t>
            </a:r>
            <a:r>
              <a:rPr lang="zh-CN" altLang="en-US" dirty="0" smtClean="0"/>
              <a:t>次就得到了一条马尔科夫链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 smtClean="0">
              <a:effectLst/>
            </a:endParaRPr>
          </a:p>
          <a:p>
            <a:r>
              <a:rPr lang="en-US" altLang="zh-CN" b="1" dirty="0" smtClean="0">
                <a:effectLst/>
              </a:rPr>
              <a:t>Markov</a:t>
            </a:r>
            <a:r>
              <a:rPr lang="en-US" altLang="zh-CN" b="1" dirty="0" smtClean="0">
                <a:effectLst/>
              </a:rPr>
              <a:t> chain</a:t>
            </a:r>
            <a:r>
              <a:rPr lang="en-US" altLang="zh-CN" dirty="0" smtClean="0">
                <a:effectLst/>
              </a:rPr>
              <a:t> </a:t>
            </a:r>
            <a:r>
              <a:rPr lang="zh-CN" altLang="en-US" dirty="0" smtClean="0">
                <a:effectLst/>
              </a:rPr>
              <a:t>是一组事件的集合，在这个集合中，事件是一个接一个发生</a:t>
            </a:r>
            <a:endParaRPr lang="zh-CN" altLang="en-US" dirty="0" smtClean="0">
              <a:effectLst/>
            </a:endParaRPr>
          </a:p>
          <a:p>
            <a:r>
              <a:rPr lang="zh-CN" altLang="en-US" dirty="0" smtClean="0">
                <a:effectLst/>
              </a:rPr>
              <a:t>的，并且下一个事件的发生，只由当前发生的事件决定。</a:t>
            </a:r>
            <a:endParaRPr lang="en-US" altLang="zh-CN" dirty="0" smtClean="0">
              <a:effectLst/>
            </a:endParaRPr>
          </a:p>
          <a:p>
            <a:endParaRPr lang="en-US" altLang="zh-CN" dirty="0" smtClean="0">
              <a:effectLst/>
            </a:endParaRPr>
          </a:p>
          <a:p>
            <a:r>
              <a:rPr lang="zh-CN" altLang="en-US" b="1" dirty="0" smtClean="0"/>
              <a:t>吉布斯采样是生成马尔科夫链的一种方法</a:t>
            </a:r>
            <a:r>
              <a:rPr lang="zh-CN" altLang="en-US" dirty="0" smtClean="0"/>
              <a:t>，生成的马尔科夫链可以用来做</a:t>
            </a:r>
            <a:r>
              <a:rPr lang="zh-CN" altLang="en-US" dirty="0" smtClean="0">
                <a:hlinkClick r:id="rId4"/>
              </a:rPr>
              <a:t>蒙特卡洛</a:t>
            </a:r>
            <a:r>
              <a:rPr lang="zh-CN" altLang="en-US" dirty="0" smtClean="0"/>
              <a:t>仿真，从而求得一个较复杂的多元分布。</a:t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EM(Expectation-Maximization </a:t>
            </a:r>
            <a:r>
              <a:rPr lang="zh-CN" altLang="en-US" dirty="0" smtClean="0">
                <a:latin typeface="+mn-ea"/>
              </a:rPr>
              <a:t>期望最大化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EM</a:t>
            </a:r>
            <a:r>
              <a:rPr lang="zh-CN" altLang="en-US" smtClean="0"/>
              <a:t>解决隐变量估计问题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2438401"/>
            <a:ext cx="9009185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4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D5A3878-68F3-45F5-8CE5-B10A948053B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36511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1509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FCA52-35BE-435D-97C2-A408D337DE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0106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E62D2-D264-4337-A19B-38BEDDBEBCE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B25B2-8CD4-4E83-80AD-E0B7F4C85BF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3C547-B64A-4E2F-A6FC-68A598118A9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A150F-B1C5-4363-A5AD-8A53B12CA1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7003D-06A9-418B-9E36-B2D925D2A0D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BAD4-93F4-4D00-B7FE-FF47E0DCFB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6A2AB-B9EE-408D-BB4B-51D32C4155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539" y="617539"/>
            <a:ext cx="1950427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327" y="617539"/>
            <a:ext cx="5713534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AFC95-745C-4519-8D02-578071E7EC8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635" y="15257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52574"/>
            <a:ext cx="328246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0728" y="574849"/>
            <a:ext cx="423496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470" y="574849"/>
            <a:ext cx="367812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489" y="501824"/>
            <a:ext cx="55977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1" y="44624"/>
            <a:ext cx="32238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547" y="835198"/>
            <a:ext cx="8226669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42116" y="24359"/>
            <a:ext cx="7427100" cy="812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066" y="836712"/>
            <a:ext cx="7772400" cy="469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  <a:p>
            <a:pPr lvl="2"/>
            <a:r>
              <a:rPr lang="zh-CN" dirty="0" smtClean="0"/>
              <a:t>第三级</a:t>
            </a:r>
            <a:endParaRPr lang="zh-CN" dirty="0" smtClean="0"/>
          </a:p>
          <a:p>
            <a:pPr lvl="3"/>
            <a:r>
              <a:rPr lang="zh-CN" dirty="0" smtClean="0"/>
              <a:t>第四级</a:t>
            </a:r>
            <a:endParaRPr lang="zh-CN" dirty="0" smtClean="0"/>
          </a:p>
          <a:p>
            <a:pPr lvl="4"/>
            <a:r>
              <a:rPr lang="zh-CN" dirty="0" smtClean="0"/>
              <a:t>第五级</a:t>
            </a:r>
            <a:endParaRPr lang="zh-CN" dirty="0" smtClean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over dir="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n-ea"/>
          <a:ea typeface="+mn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spcBef>
          <a:spcPts val="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1" fontAlgn="base" hangingPunct="1">
        <a:spcBef>
          <a:spcPts val="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9" Type="http://schemas.openxmlformats.org/officeDocument/2006/relationships/notesSlide" Target="../notesSlides/notesSlide2.xml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9.wmf"/><Relationship Id="rId19" Type="http://schemas.openxmlformats.org/officeDocument/2006/relationships/notesSlide" Target="../notesSlides/notesSlide3.xml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6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oleObject" Target="../embeddings/oleObject21.bin"/><Relationship Id="rId7" Type="http://schemas.openxmlformats.org/officeDocument/2006/relationships/image" Target="../media/image19.wmf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7.wmf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wmf"/><Relationship Id="rId8" Type="http://schemas.openxmlformats.org/officeDocument/2006/relationships/oleObject" Target="../embeddings/oleObject26.bin"/><Relationship Id="rId7" Type="http://schemas.openxmlformats.org/officeDocument/2006/relationships/image" Target="../media/image22.wmf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0.wmf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wmf"/><Relationship Id="rId8" Type="http://schemas.openxmlformats.org/officeDocument/2006/relationships/oleObject" Target="../embeddings/oleObject31.bin"/><Relationship Id="rId7" Type="http://schemas.openxmlformats.org/officeDocument/2006/relationships/oleObject" Target="../embeddings/oleObject30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4.wmf"/><Relationship Id="rId12" Type="http://schemas.openxmlformats.org/officeDocument/2006/relationships/notesSlide" Target="../notesSlides/notesSlide5.xml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28.wmf"/><Relationship Id="rId18" Type="http://schemas.openxmlformats.org/officeDocument/2006/relationships/notesSlide" Target="../notesSlides/notesSlide6.xml"/><Relationship Id="rId17" Type="http://schemas.openxmlformats.org/officeDocument/2006/relationships/vmlDrawing" Target="../drawings/vmlDrawing6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33.wmf"/><Relationship Id="rId14" Type="http://schemas.openxmlformats.org/officeDocument/2006/relationships/oleObject" Target="../embeddings/oleObject40.bin"/><Relationship Id="rId13" Type="http://schemas.openxmlformats.org/officeDocument/2006/relationships/oleObject" Target="../embeddings/oleObject39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38.bin"/><Relationship Id="rId10" Type="http://schemas.openxmlformats.org/officeDocument/2006/relationships/oleObject" Target="../embeddings/oleObject37.bin"/><Relationship Id="rId1" Type="http://schemas.openxmlformats.org/officeDocument/2006/relationships/oleObject" Target="../embeddings/oleObject32.bin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4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36.wmf"/><Relationship Id="rId15" Type="http://schemas.openxmlformats.org/officeDocument/2006/relationships/notesSlide" Target="../notesSlides/notesSlide8.xml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43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45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50.bin"/><Relationship Id="rId22" Type="http://schemas.openxmlformats.org/officeDocument/2006/relationships/vmlDrawing" Target="../drawings/vmlDrawing9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51.wmf"/><Relationship Id="rId2" Type="http://schemas.openxmlformats.org/officeDocument/2006/relationships/image" Target="../media/image42.wmf"/><Relationship Id="rId19" Type="http://schemas.openxmlformats.org/officeDocument/2006/relationships/oleObject" Target="../embeddings/oleObject58.bin"/><Relationship Id="rId18" Type="http://schemas.openxmlformats.org/officeDocument/2006/relationships/image" Target="../media/image50.w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49.w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48.w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47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46.wmf"/><Relationship Id="rId1" Type="http://schemas.openxmlformats.org/officeDocument/2006/relationships/oleObject" Target="../embeddings/oleObject49.bin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5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wmf"/><Relationship Id="rId4" Type="http://schemas.openxmlformats.org/officeDocument/2006/relationships/oleObject" Target="../embeddings/oleObject62.bin"/><Relationship Id="rId3" Type="http://schemas.openxmlformats.org/officeDocument/2006/relationships/image" Target="../media/image57.png"/><Relationship Id="rId2" Type="http://schemas.openxmlformats.org/officeDocument/2006/relationships/image" Target="../media/image56.wmf"/><Relationship Id="rId1" Type="http://schemas.openxmlformats.org/officeDocument/2006/relationships/oleObject" Target="../embeddings/oleObject61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58.wmf"/><Relationship Id="rId1" Type="http://schemas.openxmlformats.org/officeDocument/2006/relationships/oleObject" Target="../embeddings/oleObject6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7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4.wmf"/><Relationship Id="rId11" Type="http://schemas.openxmlformats.org/officeDocument/2006/relationships/notesSlide" Target="../notesSlides/notesSlide10.xml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6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69.bin"/><Relationship Id="rId3" Type="http://schemas.openxmlformats.org/officeDocument/2006/relationships/image" Target="../media/image69.wmf"/><Relationship Id="rId2" Type="http://schemas.openxmlformats.org/officeDocument/2006/relationships/oleObject" Target="../embeddings/oleObject68.bin"/><Relationship Id="rId1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71.bin"/><Relationship Id="rId20" Type="http://schemas.openxmlformats.org/officeDocument/2006/relationships/notesSlide" Target="../notesSlides/notesSlide12.xml"/><Relationship Id="rId2" Type="http://schemas.openxmlformats.org/officeDocument/2006/relationships/image" Target="../media/image71.wmf"/><Relationship Id="rId19" Type="http://schemas.openxmlformats.org/officeDocument/2006/relationships/vmlDrawing" Target="../drawings/vmlDrawing15.v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78.wmf"/><Relationship Id="rId16" Type="http://schemas.openxmlformats.org/officeDocument/2006/relationships/oleObject" Target="../embeddings/oleObject78.bin"/><Relationship Id="rId15" Type="http://schemas.openxmlformats.org/officeDocument/2006/relationships/oleObject" Target="../embeddings/oleObject77.bin"/><Relationship Id="rId14" Type="http://schemas.openxmlformats.org/officeDocument/2006/relationships/image" Target="../media/image77.wmf"/><Relationship Id="rId13" Type="http://schemas.openxmlformats.org/officeDocument/2006/relationships/oleObject" Target="../embeddings/oleObject76.bin"/><Relationship Id="rId12" Type="http://schemas.openxmlformats.org/officeDocument/2006/relationships/image" Target="../media/image76.w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7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79.wmf"/><Relationship Id="rId1" Type="http://schemas.openxmlformats.org/officeDocument/2006/relationships/oleObject" Target="../embeddings/oleObject79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2.bin"/><Relationship Id="rId4" Type="http://schemas.microsoft.com/office/2007/relationships/hdphoto" Target="../media/image85.wdp"/><Relationship Id="rId3" Type="http://schemas.openxmlformats.org/officeDocument/2006/relationships/image" Target="../media/image84.png"/><Relationship Id="rId20" Type="http://schemas.openxmlformats.org/officeDocument/2006/relationships/notesSlide" Target="../notesSlides/notesSlide14.xml"/><Relationship Id="rId2" Type="http://schemas.microsoft.com/office/2007/relationships/hdphoto" Target="../media/image83.wdp"/><Relationship Id="rId19" Type="http://schemas.openxmlformats.org/officeDocument/2006/relationships/vmlDrawing" Target="../drawings/vmlDrawing17.v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91.wmf"/><Relationship Id="rId16" Type="http://schemas.openxmlformats.org/officeDocument/2006/relationships/oleObject" Target="../embeddings/oleObject88.bin"/><Relationship Id="rId15" Type="http://schemas.openxmlformats.org/officeDocument/2006/relationships/image" Target="../media/image90.wmf"/><Relationship Id="rId14" Type="http://schemas.openxmlformats.org/officeDocument/2006/relationships/oleObject" Target="../embeddings/oleObject87.bin"/><Relationship Id="rId13" Type="http://schemas.openxmlformats.org/officeDocument/2006/relationships/image" Target="../media/image89.wmf"/><Relationship Id="rId12" Type="http://schemas.openxmlformats.org/officeDocument/2006/relationships/oleObject" Target="../embeddings/oleObject86.bin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88.wmf"/><Relationship Id="rId1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90.bin"/><Relationship Id="rId21" Type="http://schemas.openxmlformats.org/officeDocument/2006/relationships/vmlDrawing" Target="../drawings/vmlDrawing18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92.wmf"/><Relationship Id="rId19" Type="http://schemas.openxmlformats.org/officeDocument/2006/relationships/image" Target="../media/image100.png"/><Relationship Id="rId18" Type="http://schemas.microsoft.com/office/2007/relationships/hdphoto" Target="../media/image83.wdp"/><Relationship Id="rId17" Type="http://schemas.openxmlformats.org/officeDocument/2006/relationships/image" Target="../media/image82.png"/><Relationship Id="rId16" Type="http://schemas.openxmlformats.org/officeDocument/2006/relationships/image" Target="../media/image99.wmf"/><Relationship Id="rId15" Type="http://schemas.openxmlformats.org/officeDocument/2006/relationships/oleObject" Target="../embeddings/oleObject96.bin"/><Relationship Id="rId14" Type="http://schemas.openxmlformats.org/officeDocument/2006/relationships/image" Target="../media/image98.wmf"/><Relationship Id="rId13" Type="http://schemas.openxmlformats.org/officeDocument/2006/relationships/oleObject" Target="../embeddings/oleObject95.bin"/><Relationship Id="rId12" Type="http://schemas.openxmlformats.org/officeDocument/2006/relationships/image" Target="../media/image97.w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8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103.wmf"/><Relationship Id="rId3" Type="http://schemas.openxmlformats.org/officeDocument/2006/relationships/oleObject" Target="../embeddings/oleObject97.bin"/><Relationship Id="rId2" Type="http://schemas.microsoft.com/office/2007/relationships/hdphoto" Target="../media/image102.wdp"/><Relationship Id="rId17" Type="http://schemas.openxmlformats.org/officeDocument/2006/relationships/notesSlide" Target="../notesSlides/notesSlide15.xml"/><Relationship Id="rId16" Type="http://schemas.openxmlformats.org/officeDocument/2006/relationships/vmlDrawing" Target="../drawings/vmlDrawing19.vml"/><Relationship Id="rId15" Type="http://schemas.openxmlformats.org/officeDocument/2006/relationships/slideLayout" Target="../slideLayouts/slideLayout2.xml"/><Relationship Id="rId14" Type="http://schemas.openxmlformats.org/officeDocument/2006/relationships/oleObject" Target="../embeddings/oleObject102.bin"/><Relationship Id="rId13" Type="http://schemas.microsoft.com/office/2007/relationships/hdphoto" Target="../media/image108.wdp"/><Relationship Id="rId12" Type="http://schemas.openxmlformats.org/officeDocument/2006/relationships/image" Target="../media/image107.png"/><Relationship Id="rId11" Type="http://schemas.openxmlformats.org/officeDocument/2006/relationships/oleObject" Target="../embeddings/oleObject101.bin"/><Relationship Id="rId10" Type="http://schemas.openxmlformats.org/officeDocument/2006/relationships/image" Target="../media/image106.wmf"/><Relationship Id="rId1" Type="http://schemas.openxmlformats.org/officeDocument/2006/relationships/image" Target="../media/image10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microsoft.com/office/2007/relationships/hdphoto" Target="../media/image113.wdp"/><Relationship Id="rId7" Type="http://schemas.openxmlformats.org/officeDocument/2006/relationships/image" Target="../media/image112.png"/><Relationship Id="rId6" Type="http://schemas.microsoft.com/office/2007/relationships/hdphoto" Target="../media/image111.wdp"/><Relationship Id="rId5" Type="http://schemas.openxmlformats.org/officeDocument/2006/relationships/image" Target="../media/image110.png"/><Relationship Id="rId4" Type="http://schemas.microsoft.com/office/2007/relationships/hdphoto" Target="../media/image83.wdp"/><Relationship Id="rId3" Type="http://schemas.openxmlformats.org/officeDocument/2006/relationships/image" Target="../media/image82.png"/><Relationship Id="rId2" Type="http://schemas.openxmlformats.org/officeDocument/2006/relationships/image" Target="../media/image109.wmf"/><Relationship Id="rId11" Type="http://schemas.openxmlformats.org/officeDocument/2006/relationships/notesSlide" Target="../notesSlides/notesSlide16.xml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103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07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87.wmf"/><Relationship Id="rId18" Type="http://schemas.openxmlformats.org/officeDocument/2006/relationships/vmlDrawing" Target="../drawings/vmlDrawing21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20.wmf"/><Relationship Id="rId15" Type="http://schemas.openxmlformats.org/officeDocument/2006/relationships/oleObject" Target="../embeddings/oleObject111.bin"/><Relationship Id="rId14" Type="http://schemas.openxmlformats.org/officeDocument/2006/relationships/image" Target="../media/image119.wmf"/><Relationship Id="rId13" Type="http://schemas.openxmlformats.org/officeDocument/2006/relationships/oleObject" Target="../embeddings/oleObject110.bin"/><Relationship Id="rId12" Type="http://schemas.openxmlformats.org/officeDocument/2006/relationships/image" Target="../media/image118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0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22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21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26.w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125.wmf"/><Relationship Id="rId1" Type="http://schemas.openxmlformats.org/officeDocument/2006/relationships/oleObject" Target="../embeddings/oleObject11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2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121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19.bin"/><Relationship Id="rId2" Type="http://schemas.openxmlformats.org/officeDocument/2006/relationships/image" Target="../media/image87.wmf"/><Relationship Id="rId19" Type="http://schemas.openxmlformats.org/officeDocument/2006/relationships/notesSlide" Target="../notesSlides/notesSlide18.xml"/><Relationship Id="rId18" Type="http://schemas.openxmlformats.org/officeDocument/2006/relationships/vmlDrawing" Target="../drawings/vmlDrawing23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33.wmf"/><Relationship Id="rId15" Type="http://schemas.openxmlformats.org/officeDocument/2006/relationships/oleObject" Target="../embeddings/oleObject125.bin"/><Relationship Id="rId14" Type="http://schemas.openxmlformats.org/officeDocument/2006/relationships/image" Target="../media/image132.wmf"/><Relationship Id="rId13" Type="http://schemas.openxmlformats.org/officeDocument/2006/relationships/oleObject" Target="../embeddings/oleObject124.bin"/><Relationship Id="rId12" Type="http://schemas.openxmlformats.org/officeDocument/2006/relationships/image" Target="../media/image131.wmf"/><Relationship Id="rId11" Type="http://schemas.openxmlformats.org/officeDocument/2006/relationships/oleObject" Target="../embeddings/oleObject123.bin"/><Relationship Id="rId10" Type="http://schemas.openxmlformats.org/officeDocument/2006/relationships/image" Target="../media/image130.wmf"/><Relationship Id="rId1" Type="http://schemas.openxmlformats.org/officeDocument/2006/relationships/oleObject" Target="../embeddings/oleObject118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wmf"/><Relationship Id="rId8" Type="http://schemas.openxmlformats.org/officeDocument/2006/relationships/oleObject" Target="../embeddings/oleObject128.bin"/><Relationship Id="rId7" Type="http://schemas.openxmlformats.org/officeDocument/2006/relationships/image" Target="../media/image138.png"/><Relationship Id="rId6" Type="http://schemas.microsoft.com/office/2007/relationships/hdphoto" Target="../media/image137.wdp"/><Relationship Id="rId5" Type="http://schemas.openxmlformats.org/officeDocument/2006/relationships/image" Target="../media/image136.png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34.wmf"/><Relationship Id="rId16" Type="http://schemas.openxmlformats.org/officeDocument/2006/relationships/notesSlide" Target="../notesSlides/notesSlide20.xml"/><Relationship Id="rId15" Type="http://schemas.openxmlformats.org/officeDocument/2006/relationships/vmlDrawing" Target="../drawings/vmlDrawing24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41.wmf"/><Relationship Id="rId12" Type="http://schemas.openxmlformats.org/officeDocument/2006/relationships/oleObject" Target="../embeddings/oleObject130.bin"/><Relationship Id="rId11" Type="http://schemas.openxmlformats.org/officeDocument/2006/relationships/image" Target="../media/image140.wmf"/><Relationship Id="rId10" Type="http://schemas.openxmlformats.org/officeDocument/2006/relationships/oleObject" Target="../embeddings/oleObject129.bin"/><Relationship Id="rId1" Type="http://schemas.openxmlformats.org/officeDocument/2006/relationships/oleObject" Target="../embeddings/oleObject12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143.wdp"/><Relationship Id="rId1" Type="http://schemas.openxmlformats.org/officeDocument/2006/relationships/image" Target="../media/image14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45.wmf"/><Relationship Id="rId3" Type="http://schemas.openxmlformats.org/officeDocument/2006/relationships/oleObject" Target="../embeddings/oleObject132.bin"/><Relationship Id="rId2" Type="http://schemas.openxmlformats.org/officeDocument/2006/relationships/image" Target="../media/image144.wmf"/><Relationship Id="rId1" Type="http://schemas.openxmlformats.org/officeDocument/2006/relationships/oleObject" Target="../embeddings/oleObject131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8.bin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37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47.wmf"/><Relationship Id="rId30" Type="http://schemas.openxmlformats.org/officeDocument/2006/relationships/notesSlide" Target="../notesSlides/notesSlide22.xml"/><Relationship Id="rId3" Type="http://schemas.openxmlformats.org/officeDocument/2006/relationships/oleObject" Target="../embeddings/oleObject135.bin"/><Relationship Id="rId29" Type="http://schemas.openxmlformats.org/officeDocument/2006/relationships/vmlDrawing" Target="../drawings/vmlDrawing26.vml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158.wmf"/><Relationship Id="rId26" Type="http://schemas.openxmlformats.org/officeDocument/2006/relationships/oleObject" Target="../embeddings/oleObject147.bin"/><Relationship Id="rId25" Type="http://schemas.openxmlformats.org/officeDocument/2006/relationships/image" Target="../media/image157.wmf"/><Relationship Id="rId24" Type="http://schemas.openxmlformats.org/officeDocument/2006/relationships/oleObject" Target="../embeddings/oleObject146.bin"/><Relationship Id="rId23" Type="http://schemas.openxmlformats.org/officeDocument/2006/relationships/image" Target="../media/image156.wmf"/><Relationship Id="rId22" Type="http://schemas.openxmlformats.org/officeDocument/2006/relationships/oleObject" Target="../embeddings/oleObject145.bin"/><Relationship Id="rId21" Type="http://schemas.openxmlformats.org/officeDocument/2006/relationships/image" Target="../media/image155.wmf"/><Relationship Id="rId20" Type="http://schemas.openxmlformats.org/officeDocument/2006/relationships/oleObject" Target="../embeddings/oleObject144.bin"/><Relationship Id="rId2" Type="http://schemas.openxmlformats.org/officeDocument/2006/relationships/image" Target="../media/image144.wmf"/><Relationship Id="rId19" Type="http://schemas.openxmlformats.org/officeDocument/2006/relationships/image" Target="../media/image154.wmf"/><Relationship Id="rId18" Type="http://schemas.openxmlformats.org/officeDocument/2006/relationships/oleObject" Target="../embeddings/oleObject143.bin"/><Relationship Id="rId17" Type="http://schemas.openxmlformats.org/officeDocument/2006/relationships/image" Target="../media/image153.wmf"/><Relationship Id="rId16" Type="http://schemas.openxmlformats.org/officeDocument/2006/relationships/oleObject" Target="../embeddings/oleObject142.bin"/><Relationship Id="rId15" Type="http://schemas.openxmlformats.org/officeDocument/2006/relationships/image" Target="../media/image152.wmf"/><Relationship Id="rId14" Type="http://schemas.openxmlformats.org/officeDocument/2006/relationships/oleObject" Target="../embeddings/oleObject141.bin"/><Relationship Id="rId13" Type="http://schemas.openxmlformats.org/officeDocument/2006/relationships/oleObject" Target="../embeddings/oleObject140.bin"/><Relationship Id="rId12" Type="http://schemas.openxmlformats.org/officeDocument/2006/relationships/image" Target="../media/image151.wmf"/><Relationship Id="rId11" Type="http://schemas.openxmlformats.org/officeDocument/2006/relationships/oleObject" Target="../embeddings/oleObject139.bin"/><Relationship Id="rId10" Type="http://schemas.openxmlformats.org/officeDocument/2006/relationships/image" Target="../media/image150.wmf"/><Relationship Id="rId1" Type="http://schemas.openxmlformats.org/officeDocument/2006/relationships/oleObject" Target="../embeddings/oleObject134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253808" cy="1143000"/>
          </a:xfrm>
        </p:spPr>
        <p:txBody>
          <a:bodyPr/>
          <a:lstStyle/>
          <a:p>
            <a:pPr algn="ctr">
              <a:defRPr/>
            </a:pPr>
            <a:r>
              <a:rPr lang="zh-CN" altLang="en-US" sz="6000" dirty="0" smtClean="0"/>
              <a:t>第</a:t>
            </a:r>
            <a:r>
              <a:rPr lang="en-US" altLang="zh-CN" sz="6000" dirty="0"/>
              <a:t>7</a:t>
            </a:r>
            <a:r>
              <a:rPr lang="zh-CN" altLang="en-US" sz="6000" dirty="0" smtClean="0"/>
              <a:t>章 贝叶斯分类器</a:t>
            </a:r>
            <a:endParaRPr lang="zh-CN" altLang="en-US" sz="6000" dirty="0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7EB2F07-B42F-46A0-B759-6009FAA90BFB}" type="slidenum">
              <a:rPr lang="en-US" altLang="zh-CN"/>
            </a:fld>
            <a:endParaRPr lang="en-US" altLang="zh-CN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贝</a:t>
            </a:r>
            <a:r>
              <a:rPr lang="zh-CN" altLang="en-US" dirty="0">
                <a:latin typeface="+mn-ea"/>
              </a:rPr>
              <a:t>叶斯决策论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极</a:t>
            </a:r>
            <a:r>
              <a:rPr lang="zh-CN" altLang="en-US" dirty="0">
                <a:latin typeface="+mn-ea"/>
              </a:rPr>
              <a:t>大似然估计</a:t>
            </a:r>
            <a:endParaRPr lang="en-US" altLang="zh-CN" dirty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朴素</a:t>
            </a:r>
            <a:r>
              <a:rPr lang="zh-CN" altLang="en-US" dirty="0">
                <a:latin typeface="+mn-ea"/>
              </a:rPr>
              <a:t>贝叶斯分类器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半</a:t>
            </a:r>
            <a:r>
              <a:rPr lang="zh-CN" altLang="en-US" dirty="0">
                <a:latin typeface="+mn-ea"/>
              </a:rPr>
              <a:t>朴素贝叶斯分类器</a:t>
            </a:r>
            <a:endParaRPr lang="zh-CN" altLang="en-US" dirty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贝</a:t>
            </a:r>
            <a:r>
              <a:rPr lang="zh-CN" altLang="en-US" dirty="0">
                <a:latin typeface="+mn-ea"/>
              </a:rPr>
              <a:t>叶斯网</a:t>
            </a:r>
            <a:endParaRPr lang="zh-CN" altLang="en-US" dirty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EM</a:t>
            </a:r>
            <a:r>
              <a:rPr lang="zh-CN" altLang="en-US" dirty="0">
                <a:latin typeface="+mn-ea"/>
              </a:rPr>
              <a:t>算法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7.1 </a:t>
            </a:r>
            <a:r>
              <a:rPr lang="zh-CN" altLang="en-US" dirty="0" smtClean="0"/>
              <a:t>贝</a:t>
            </a:r>
            <a:r>
              <a:rPr lang="zh-CN" altLang="en-US" dirty="0"/>
              <a:t>叶斯决策论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概率</a:t>
            </a:r>
            <a:r>
              <a:rPr lang="zh-CN" altLang="en-US" dirty="0"/>
              <a:t>框架下实施决策的基本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r>
              <a:rPr lang="zh-CN" altLang="en-US" dirty="0" smtClean="0"/>
              <a:t>基本原理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条件风险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给定</a:t>
            </a:r>
            <a:r>
              <a:rPr lang="en-US" altLang="zh-CN" dirty="0" smtClean="0">
                <a:latin typeface="+mn-ea"/>
              </a:rPr>
              <a:t>N</a:t>
            </a:r>
            <a:r>
              <a:rPr lang="zh-CN" altLang="en-US" dirty="0" smtClean="0">
                <a:latin typeface="+mn-ea"/>
              </a:rPr>
              <a:t>种类别          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  是将第</a:t>
            </a:r>
            <a:r>
              <a:rPr lang="en-US" altLang="zh-CN" dirty="0" smtClean="0">
                <a:latin typeface="+mn-ea"/>
              </a:rPr>
              <a:t>j</a:t>
            </a:r>
            <a:r>
              <a:rPr lang="zh-CN" altLang="en-US" dirty="0" smtClean="0">
                <a:latin typeface="+mn-ea"/>
              </a:rPr>
              <a:t>类样本</a:t>
            </a:r>
            <a:r>
              <a:rPr lang="zh-CN" altLang="en-US" dirty="0">
                <a:latin typeface="+mn-ea"/>
              </a:rPr>
              <a:t>误分类</a:t>
            </a:r>
            <a:r>
              <a:rPr lang="zh-CN" altLang="en-US" dirty="0" smtClean="0">
                <a:latin typeface="+mn-ea"/>
              </a:rPr>
              <a:t>为第</a:t>
            </a:r>
            <a:r>
              <a:rPr lang="en-US" altLang="zh-CN" dirty="0" err="1" smtClean="0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类所</a:t>
            </a:r>
            <a:r>
              <a:rPr lang="zh-CN" altLang="en-US" dirty="0">
                <a:latin typeface="+mn-ea"/>
              </a:rPr>
              <a:t>产生的</a:t>
            </a:r>
            <a:r>
              <a:rPr lang="zh-CN" altLang="en-US" dirty="0" smtClean="0">
                <a:latin typeface="+mn-ea"/>
              </a:rPr>
              <a:t>损失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后验概率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将样本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分</a:t>
            </a:r>
            <a:r>
              <a:rPr lang="zh-CN" altLang="en-US" dirty="0">
                <a:latin typeface="+mn-ea"/>
              </a:rPr>
              <a:t>到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err="1" smtClean="0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类所产生的期望损失，称为样本 上的条件风险，可表示为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1">
              <a:spcBef>
                <a:spcPts val="600"/>
              </a:spcBef>
            </a:pPr>
            <a:r>
              <a:rPr lang="zh-CN" altLang="en-US" dirty="0">
                <a:latin typeface="+mn-ea"/>
              </a:rPr>
              <a:t>总体</a:t>
            </a:r>
            <a:r>
              <a:rPr lang="zh-CN" altLang="en-US" dirty="0" smtClean="0">
                <a:latin typeface="+mn-ea"/>
              </a:rPr>
              <a:t>风险</a:t>
            </a:r>
            <a:endParaRPr lang="en-US" altLang="zh-CN" dirty="0" smtClean="0">
              <a:latin typeface="+mn-ea"/>
            </a:endParaRPr>
          </a:p>
          <a:p>
            <a:pPr lvl="2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对于一个判定准则       ，总体风险为</a:t>
            </a:r>
            <a:endParaRPr lang="en-US" altLang="zh-CN" dirty="0" smtClean="0">
              <a:latin typeface="+mn-ea"/>
            </a:endParaRPr>
          </a:p>
          <a:p>
            <a:pPr lvl="3"/>
            <a:endParaRPr lang="zh-CN" altLang="en-US" dirty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635896" y="2276872"/>
          <a:ext cx="1560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" name="Equation" r:id="rId1" imgW="19812000" imgH="5486400" progId="Equation.DSMT4">
                  <p:embed/>
                </p:oleObj>
              </mc:Choice>
              <mc:Fallback>
                <p:oleObj name="Equation" r:id="rId1" imgW="19812000" imgH="5486400" progId="Equation.DSMT4">
                  <p:embed/>
                  <p:pic>
                    <p:nvPicPr>
                      <p:cNvPr id="0" name="图片 18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5896" y="2276872"/>
                        <a:ext cx="15600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07704" y="2636912"/>
          <a:ext cx="3365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6" name="Equation" r:id="rId3" imgW="4267200" imgH="5791200" progId="Equation.DSMT4">
                  <p:embed/>
                </p:oleObj>
              </mc:Choice>
              <mc:Fallback>
                <p:oleObj name="Equation" r:id="rId3" imgW="4267200" imgH="5791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636912"/>
                        <a:ext cx="3365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915816" y="3523928"/>
          <a:ext cx="26352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" name="Equation" r:id="rId5" imgW="3352800" imgH="3352800" progId="Equation.DSMT4">
                  <p:embed/>
                </p:oleObj>
              </mc:Choice>
              <mc:Fallback>
                <p:oleObj name="Equation" r:id="rId5" imgW="3352800" imgH="3352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523928"/>
                        <a:ext cx="263525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75856" y="4148882"/>
          <a:ext cx="27844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8" name="Equation" r:id="rId7" imgW="35356800" imgH="7315200" progId="Equation.DSMT4">
                  <p:embed/>
                </p:oleObj>
              </mc:Choice>
              <mc:Fallback>
                <p:oleObj name="Equation" r:id="rId7" imgW="35356800" imgH="7315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4148882"/>
                        <a:ext cx="27844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95736" y="3883968"/>
          <a:ext cx="26352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9" name="Equation" r:id="rId9" imgW="139700" imgH="139700" progId="Equation.DSMT4">
                  <p:embed/>
                </p:oleObj>
              </mc:Choice>
              <mc:Fallback>
                <p:oleObj name="Equation" r:id="rId9" imgW="139700" imgH="1397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883968"/>
                        <a:ext cx="263525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03848" y="2996952"/>
          <a:ext cx="9604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0" name="Equation" r:id="rId11" imgW="12192000" imgH="5791200" progId="Equation.DSMT4">
                  <p:embed/>
                </p:oleObj>
              </mc:Choice>
              <mc:Fallback>
                <p:oleObj name="Equation" r:id="rId11" imgW="12192000" imgH="57912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996952"/>
                        <a:ext cx="96043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444875" y="5469855"/>
          <a:ext cx="24479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1" name="Equation" r:id="rId13" imgW="31089600" imgH="6096000" progId="Equation.DSMT4">
                  <p:embed/>
                </p:oleObj>
              </mc:Choice>
              <mc:Fallback>
                <p:oleObj name="Equation" r:id="rId13" imgW="31089600" imgH="6096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5469855"/>
                        <a:ext cx="24479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427984" y="5085184"/>
          <a:ext cx="10334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" name="Equation" r:id="rId15" imgW="13106400" imgH="4267200" progId="Equation.DSMT4">
                  <p:embed/>
                </p:oleObj>
              </mc:Choice>
              <mc:Fallback>
                <p:oleObj name="Equation" r:id="rId15" imgW="13106400" imgH="4267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5085184"/>
                        <a:ext cx="1033462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贝叶斯决策论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基本原理</a:t>
            </a:r>
            <a:endParaRPr lang="en-US" altLang="zh-CN" dirty="0" smtClean="0"/>
          </a:p>
          <a:p>
            <a:pPr lvl="1"/>
            <a:r>
              <a:rPr lang="zh-CN" altLang="en-US" dirty="0"/>
              <a:t>贝叶斯判定</a:t>
            </a:r>
            <a:r>
              <a:rPr lang="zh-CN" altLang="en-US" dirty="0" smtClean="0"/>
              <a:t>准则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为</a:t>
            </a:r>
            <a:r>
              <a:rPr lang="zh-CN" altLang="en-US" dirty="0"/>
              <a:t>最小化总体风险，只需在每个样本上</a:t>
            </a:r>
            <a:r>
              <a:rPr lang="zh-CN" altLang="en-US" dirty="0" smtClean="0"/>
              <a:t>选择能</a:t>
            </a:r>
            <a:r>
              <a:rPr lang="zh-CN" altLang="en-US" dirty="0"/>
              <a:t>使条件</a:t>
            </a:r>
            <a:r>
              <a:rPr lang="zh-CN" altLang="en-US" dirty="0" smtClean="0"/>
              <a:t>风险</a:t>
            </a:r>
            <a:r>
              <a:rPr lang="en-US" altLang="zh-CN" dirty="0" smtClean="0"/>
              <a:t>          </a:t>
            </a:r>
            <a:r>
              <a:rPr lang="zh-CN" altLang="en-US" dirty="0" smtClean="0"/>
              <a:t>最小</a:t>
            </a:r>
            <a:r>
              <a:rPr lang="zh-CN" altLang="en-US" dirty="0"/>
              <a:t>的类别标记，</a:t>
            </a:r>
            <a:r>
              <a:rPr lang="zh-CN" altLang="en-US" dirty="0" smtClean="0"/>
              <a:t>即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3"/>
            <a:endParaRPr lang="en-US" altLang="zh-CN" dirty="0" smtClean="0"/>
          </a:p>
          <a:p>
            <a:pPr lvl="3"/>
            <a:r>
              <a:rPr lang="en-US" altLang="zh-CN" dirty="0" smtClean="0"/>
              <a:t>    </a:t>
            </a:r>
            <a:r>
              <a:rPr lang="zh-CN" altLang="en-US" dirty="0" smtClean="0"/>
              <a:t>称为</a:t>
            </a:r>
            <a:r>
              <a:rPr lang="zh-CN" altLang="en-US" dirty="0"/>
              <a:t>贝叶斯最优</a:t>
            </a:r>
            <a:r>
              <a:rPr lang="zh-CN" altLang="en-US" dirty="0" smtClean="0"/>
              <a:t>分类器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         称为贝叶斯风险 </a:t>
            </a:r>
            <a:endParaRPr lang="zh-CN" altLang="en-US" dirty="0"/>
          </a:p>
          <a:p>
            <a:pPr lvl="3"/>
            <a:r>
              <a:rPr lang="zh-CN" altLang="en-US" dirty="0" smtClean="0"/>
              <a:t>            反映</a:t>
            </a:r>
            <a:r>
              <a:rPr lang="zh-CN" altLang="en-US" dirty="0"/>
              <a:t>了分类器所能达到的</a:t>
            </a:r>
            <a:r>
              <a:rPr lang="zh-CN" altLang="en-US" dirty="0" smtClean="0"/>
              <a:t>最好</a:t>
            </a:r>
            <a:r>
              <a:rPr lang="zh-CN" altLang="en-US" dirty="0"/>
              <a:t>性能，即学习性能的理论</a:t>
            </a:r>
            <a:r>
              <a:rPr lang="zh-CN" altLang="en-US" dirty="0" smtClean="0"/>
              <a:t>上限</a:t>
            </a:r>
            <a:endParaRPr lang="en-US" altLang="zh-CN" dirty="0" smtClean="0"/>
          </a:p>
          <a:p>
            <a:pPr lvl="1"/>
            <a:r>
              <a:rPr lang="zh-CN" altLang="en-US" dirty="0"/>
              <a:t>若目标是最小化分类</a:t>
            </a:r>
            <a:r>
              <a:rPr lang="zh-CN" altLang="en-US" dirty="0" smtClean="0"/>
              <a:t>错误率</a:t>
            </a:r>
            <a:endParaRPr lang="en-US" altLang="zh-CN" dirty="0" smtClean="0"/>
          </a:p>
          <a:p>
            <a:pPr lvl="2">
              <a:spcBef>
                <a:spcPts val="1200"/>
              </a:spcBef>
            </a:pPr>
            <a:r>
              <a:rPr lang="zh-CN" altLang="en-US" dirty="0"/>
              <a:t>误判</a:t>
            </a:r>
            <a:r>
              <a:rPr lang="zh-CN" altLang="en-US" dirty="0" smtClean="0"/>
              <a:t>损失</a:t>
            </a:r>
            <a:endParaRPr lang="en-US" altLang="zh-CN" dirty="0"/>
          </a:p>
          <a:p>
            <a:pPr lvl="2">
              <a:spcBef>
                <a:spcPts val="1200"/>
              </a:spcBef>
            </a:pPr>
            <a:r>
              <a:rPr lang="zh-CN" altLang="en-US" dirty="0" smtClean="0"/>
              <a:t>条件</a:t>
            </a:r>
            <a:r>
              <a:rPr lang="zh-CN" altLang="en-US" dirty="0"/>
              <a:t>风险</a:t>
            </a:r>
            <a:endParaRPr lang="en-US" altLang="zh-CN" dirty="0"/>
          </a:p>
          <a:p>
            <a:pPr lvl="2"/>
            <a:r>
              <a:rPr lang="zh-CN" altLang="en-US" dirty="0" smtClean="0"/>
              <a:t>可得</a:t>
            </a:r>
            <a:r>
              <a:rPr lang="zh-CN" altLang="en-US" dirty="0"/>
              <a:t>最小化分类错误率的贝叶斯最优分类器为</a:t>
            </a:r>
            <a:endParaRPr lang="en-US" altLang="zh-CN" dirty="0"/>
          </a:p>
          <a:p>
            <a:pPr lvl="2"/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159136" y="2163968"/>
          <a:ext cx="94433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" name="Equation" r:id="rId1" imgW="10668000" imgH="4876800" progId="Equation.DSMT4">
                  <p:embed/>
                </p:oleObj>
              </mc:Choice>
              <mc:Fallback>
                <p:oleObj name="Equation" r:id="rId1" imgW="106680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36" y="2163968"/>
                        <a:ext cx="944331" cy="4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24188" y="2540892"/>
          <a:ext cx="2694857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9" name="Equation" r:id="rId3" imgW="31699200" imgH="7620000" progId="Equation.DSMT4">
                  <p:embed/>
                </p:oleObj>
              </mc:Choice>
              <mc:Fallback>
                <p:oleObj name="Equation" r:id="rId3" imgW="31699200" imgH="7620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2540892"/>
                        <a:ext cx="2694857" cy="6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370817" y="3154616"/>
          <a:ext cx="29241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" name="Equation" r:id="rId5" imgW="3962400" imgH="4876800" progId="Equation.DSMT4">
                  <p:embed/>
                </p:oleObj>
              </mc:Choice>
              <mc:Fallback>
                <p:oleObj name="Equation" r:id="rId5" imgW="3962400" imgH="487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817" y="3154616"/>
                        <a:ext cx="292415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59744" y="3451225"/>
          <a:ext cx="7000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" name="Equation" r:id="rId7" imgW="9448800" imgH="5486400" progId="Equation.DSMT4">
                  <p:embed/>
                </p:oleObj>
              </mc:Choice>
              <mc:Fallback>
                <p:oleObj name="Equation" r:id="rId7" imgW="94488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744" y="3451225"/>
                        <a:ext cx="7000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39752" y="3789363"/>
          <a:ext cx="9493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2" name="Equation" r:id="rId9" imgW="12801600" imgH="5486400" progId="Equation.DSMT4">
                  <p:embed/>
                </p:oleObj>
              </mc:Choice>
              <mc:Fallback>
                <p:oleObj name="Equation" r:id="rId9" imgW="128016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789363"/>
                        <a:ext cx="94932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31840" y="4811365"/>
          <a:ext cx="24098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3" name="Equation" r:id="rId11" imgW="1180465" imgH="381000" progId="Equation.DSMT4">
                  <p:embed/>
                </p:oleObj>
              </mc:Choice>
              <mc:Fallback>
                <p:oleObj name="Equation" r:id="rId11" imgW="1180465" imgH="381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811365"/>
                        <a:ext cx="24098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203848" y="5534942"/>
          <a:ext cx="220186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4" name="Equation" r:id="rId13" imgW="1078865" imgH="203200" progId="Equation.DSMT4">
                  <p:embed/>
                </p:oleObj>
              </mc:Choice>
              <mc:Fallback>
                <p:oleObj name="Equation" r:id="rId13" imgW="1078865" imgH="2032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534942"/>
                        <a:ext cx="220186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322638" y="6165850"/>
          <a:ext cx="27463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5" name="Equation" r:id="rId15" imgW="32308800" imgH="7620000" progId="Equation.DSMT4">
                  <p:embed/>
                </p:oleObj>
              </mc:Choice>
              <mc:Fallback>
                <p:oleObj name="Equation" r:id="rId15" imgW="32308800" imgH="7620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638" y="6165850"/>
                        <a:ext cx="274637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贝叶斯决策论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判别式模型</a:t>
            </a:r>
            <a:r>
              <a:rPr lang="en-US" altLang="zh-CN" dirty="0" smtClean="0">
                <a:latin typeface="+mn-ea"/>
              </a:rPr>
              <a:t>vs.</a:t>
            </a:r>
            <a:r>
              <a:rPr lang="zh-CN" altLang="en-US" dirty="0" smtClean="0">
                <a:latin typeface="+mn-ea"/>
              </a:rPr>
              <a:t>生成式模型</a:t>
            </a:r>
            <a:endParaRPr lang="zh-CN" altLang="en-US" dirty="0" smtClean="0">
              <a:latin typeface="+mn-ea"/>
            </a:endParaRPr>
          </a:p>
          <a:p>
            <a:pPr lvl="1"/>
            <a:r>
              <a:rPr lang="zh-CN" altLang="en-US" dirty="0" smtClean="0"/>
              <a:t>使用</a:t>
            </a:r>
            <a:r>
              <a:rPr lang="zh-CN" altLang="en-US" dirty="0"/>
              <a:t>贝叶斯判定</a:t>
            </a:r>
            <a:r>
              <a:rPr lang="zh-CN" altLang="en-US" dirty="0" smtClean="0"/>
              <a:t>准则最小</a:t>
            </a:r>
            <a:r>
              <a:rPr lang="zh-CN" altLang="en-US" dirty="0"/>
              <a:t>化决策风险，</a:t>
            </a:r>
            <a:r>
              <a:rPr lang="zh-CN" altLang="en-US" dirty="0" smtClean="0"/>
              <a:t>首要</a:t>
            </a:r>
            <a:r>
              <a:rPr lang="zh-CN" altLang="en-US" dirty="0"/>
              <a:t>获得</a:t>
            </a:r>
            <a:r>
              <a:rPr lang="zh-CN" altLang="en-US" dirty="0" smtClean="0"/>
              <a:t>后验概率        ，现实总难以</a:t>
            </a:r>
            <a:r>
              <a:rPr lang="zh-CN" altLang="en-US" dirty="0"/>
              <a:t>直接获得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从</a:t>
            </a:r>
            <a:r>
              <a:rPr lang="zh-CN" altLang="en-US" dirty="0"/>
              <a:t>这个角度来看，</a:t>
            </a:r>
            <a:r>
              <a:rPr lang="zh-CN" altLang="en-US" dirty="0" smtClean="0"/>
              <a:t>机器学习</a:t>
            </a:r>
            <a:r>
              <a:rPr lang="zh-CN" altLang="en-US" dirty="0"/>
              <a:t>所要实现的是基于有限的训练样本集尽可能准确地估计出</a:t>
            </a:r>
            <a:r>
              <a:rPr lang="zh-CN" altLang="en-US" dirty="0" smtClean="0"/>
              <a:t>后验概率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后验概率的估计（</a:t>
            </a:r>
            <a:r>
              <a:rPr lang="zh-CN" altLang="en-US" dirty="0"/>
              <a:t>两种策略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/>
            <a:r>
              <a:rPr lang="zh-CN" altLang="en-US" dirty="0" smtClean="0">
                <a:latin typeface="+mn-ea"/>
              </a:rPr>
              <a:t>给定  ，通过</a:t>
            </a:r>
            <a:r>
              <a:rPr lang="zh-CN" altLang="en-US" dirty="0">
                <a:latin typeface="+mn-ea"/>
              </a:rPr>
              <a:t>直接</a:t>
            </a:r>
            <a:r>
              <a:rPr lang="zh-CN" altLang="en-US" dirty="0" smtClean="0">
                <a:latin typeface="+mn-ea"/>
              </a:rPr>
              <a:t>建模</a:t>
            </a:r>
            <a:r>
              <a:rPr lang="en-US" altLang="zh-CN" dirty="0" smtClean="0">
                <a:latin typeface="+mn-ea"/>
              </a:rPr>
              <a:t>      </a:t>
            </a:r>
            <a:r>
              <a:rPr lang="zh-CN" altLang="en-US" dirty="0" smtClean="0">
                <a:latin typeface="+mn-ea"/>
              </a:rPr>
              <a:t>预测</a:t>
            </a:r>
            <a:r>
              <a:rPr lang="en-US" altLang="zh-CN" dirty="0" smtClean="0">
                <a:latin typeface="+mn-ea"/>
              </a:rPr>
              <a:t>c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判别式模型，如</a:t>
            </a:r>
            <a:r>
              <a:rPr lang="zh-CN" altLang="en-US" dirty="0" smtClean="0">
                <a:latin typeface="+mn-ea"/>
              </a:rPr>
              <a:t>决策树、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神经网络、</a:t>
            </a:r>
            <a:r>
              <a:rPr lang="en-US" altLang="zh-CN" dirty="0" smtClean="0">
                <a:latin typeface="+mn-ea"/>
              </a:rPr>
              <a:t>SVM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/>
              <a:t>先对联合概率</a:t>
            </a:r>
            <a:r>
              <a:rPr lang="zh-CN" altLang="en-US" dirty="0" smtClean="0"/>
              <a:t>分布          建模，然后再获得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生成</a:t>
            </a:r>
            <a:r>
              <a:rPr lang="zh-CN" altLang="en-US" dirty="0">
                <a:latin typeface="+mn-ea"/>
              </a:rPr>
              <a:t>式</a:t>
            </a:r>
            <a:r>
              <a:rPr lang="zh-CN" altLang="en-US" dirty="0" smtClean="0"/>
              <a:t>模型，如贝叶斯分类器</a:t>
            </a:r>
            <a:endParaRPr lang="en-US" altLang="zh-CN" dirty="0" smtClean="0"/>
          </a:p>
          <a:p>
            <a:pPr lvl="3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665538" y="1844824"/>
          <a:ext cx="90646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0" name="Equation" r:id="rId1" imgW="10668000" imgH="4876800" progId="Equation.DSMT4">
                  <p:embed/>
                </p:oleObj>
              </mc:Choice>
              <mc:Fallback>
                <p:oleObj name="Equation" r:id="rId1" imgW="10668000" imgH="48768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538" y="1844824"/>
                        <a:ext cx="90646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42128" y="3475995"/>
          <a:ext cx="284162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1" name="Equation" r:id="rId3" imgW="3352800" imgH="3352800" progId="Equation.DSMT4">
                  <p:embed/>
                </p:oleObj>
              </mc:Choice>
              <mc:Fallback>
                <p:oleObj name="Equation" r:id="rId3" imgW="3352800" imgH="3352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128" y="3475995"/>
                        <a:ext cx="284162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958320" y="3411701"/>
          <a:ext cx="90646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2" name="Equation" r:id="rId5" imgW="10668000" imgH="4876800" progId="Equation.DSMT4">
                  <p:embed/>
                </p:oleObj>
              </mc:Choice>
              <mc:Fallback>
                <p:oleObj name="Equation" r:id="rId5" imgW="106680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8320" y="3411701"/>
                        <a:ext cx="90646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373563" y="4064000"/>
          <a:ext cx="93186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3" name="Equation" r:id="rId6" imgW="10972800" imgH="4876800" progId="Equation.DSMT4">
                  <p:embed/>
                </p:oleObj>
              </mc:Choice>
              <mc:Fallback>
                <p:oleObj name="Equation" r:id="rId6" imgW="10972800" imgH="487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4064000"/>
                        <a:ext cx="931862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697985" y="4077072"/>
          <a:ext cx="90646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" name="Equation" r:id="rId8" imgW="10668000" imgH="4876800" progId="Equation.DSMT4">
                  <p:embed/>
                </p:oleObj>
              </mc:Choice>
              <mc:Fallback>
                <p:oleObj name="Equation" r:id="rId8" imgW="10668000" imgH="487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7985" y="4077072"/>
                        <a:ext cx="906463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贝叶斯决策论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5933" y="764704"/>
            <a:ext cx="7772400" cy="4690864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    </a:t>
            </a:r>
            <a:r>
              <a:rPr lang="zh-CN" altLang="en-US" dirty="0" smtClean="0">
                <a:latin typeface="+mn-ea"/>
              </a:rPr>
              <a:t>的计算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条件概率公式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根据贝叶斯定理，有</a:t>
            </a:r>
            <a:endParaRPr lang="zh-CN" altLang="en-US" dirty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对于</a:t>
            </a:r>
            <a:r>
              <a:rPr lang="zh-CN" altLang="en-US" dirty="0" smtClean="0">
                <a:latin typeface="+mn-ea"/>
              </a:rPr>
              <a:t>类条件概率，涉及样本</a:t>
            </a:r>
            <a:r>
              <a:rPr lang="en-US" altLang="zh-CN" dirty="0" smtClean="0">
                <a:latin typeface="+mn-ea"/>
              </a:rPr>
              <a:t>x</a:t>
            </a:r>
            <a:r>
              <a:rPr lang="zh-CN" altLang="en-US" dirty="0" smtClean="0">
                <a:latin typeface="+mn-ea"/>
              </a:rPr>
              <a:t>所有</a:t>
            </a:r>
            <a:r>
              <a:rPr lang="zh-CN" altLang="en-US" dirty="0">
                <a:latin typeface="+mn-ea"/>
              </a:rPr>
              <a:t>属性的</a:t>
            </a:r>
            <a:r>
              <a:rPr lang="zh-CN" altLang="en-US" dirty="0" smtClean="0">
                <a:latin typeface="+mn-ea"/>
              </a:rPr>
              <a:t>联合概率。而样本是有限的，很多取值</a:t>
            </a:r>
            <a:r>
              <a:rPr lang="zh-CN" altLang="en-US" dirty="0">
                <a:latin typeface="+mn-ea"/>
              </a:rPr>
              <a:t>在训练集</a:t>
            </a:r>
            <a:r>
              <a:rPr lang="zh-CN" altLang="en-US" dirty="0" smtClean="0">
                <a:latin typeface="+mn-ea"/>
              </a:rPr>
              <a:t>中没有</a:t>
            </a:r>
            <a:r>
              <a:rPr lang="zh-CN" altLang="en-US" dirty="0">
                <a:latin typeface="+mn-ea"/>
              </a:rPr>
              <a:t>出现，</a:t>
            </a:r>
            <a:r>
              <a:rPr lang="zh-CN" altLang="en-US" dirty="0" smtClean="0">
                <a:latin typeface="+mn-ea"/>
              </a:rPr>
              <a:t>直接用频率估计不可行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估计</a:t>
            </a:r>
            <a:r>
              <a:rPr lang="en-US" altLang="zh-CN" dirty="0" smtClean="0">
                <a:latin typeface="+mn-ea"/>
              </a:rPr>
              <a:t>      </a:t>
            </a:r>
            <a:r>
              <a:rPr lang="zh-CN" altLang="en-US" dirty="0" smtClean="0">
                <a:latin typeface="+mn-ea"/>
              </a:rPr>
              <a:t>的主要困难就是如何估计似然</a:t>
            </a:r>
            <a:endParaRPr lang="zh-CN" altLang="en-US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43608" y="908720"/>
          <a:ext cx="90646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2" name="Equation" r:id="rId1" imgW="444500" imgH="203200" progId="Equation.DSMT4">
                  <p:embed/>
                </p:oleObj>
              </mc:Choice>
              <mc:Fallback>
                <p:oleObj name="Equation" r:id="rId1" imgW="444500" imgH="203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908720"/>
                        <a:ext cx="90646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779912" y="1124744"/>
          <a:ext cx="19954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3" name="Equation" r:id="rId3" imgW="977265" imgH="406400" progId="Equation.DSMT4">
                  <p:embed/>
                </p:oleObj>
              </mc:Choice>
              <mc:Fallback>
                <p:oleObj name="Equation" r:id="rId3" imgW="977265" imgH="4064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124744"/>
                        <a:ext cx="19954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691680" y="2969657"/>
            <a:ext cx="2232248" cy="13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solidFill>
                  <a:srgbClr val="FF0000"/>
                </a:solidFill>
              </a:rPr>
              <a:t>类先验概率</a:t>
            </a:r>
            <a:r>
              <a:rPr lang="zh-CN" altLang="en-US" sz="2000" dirty="0" smtClean="0">
                <a:solidFill>
                  <a:srgbClr val="000000"/>
                </a:solidFill>
              </a:rPr>
              <a:t>，</a:t>
            </a:r>
            <a:r>
              <a:rPr lang="zh-CN" altLang="en-US" sz="2000" dirty="0" smtClean="0"/>
              <a:t>样本空间各</a:t>
            </a:r>
            <a:r>
              <a:rPr lang="zh-CN" altLang="en-US" sz="2000" dirty="0"/>
              <a:t>类样本所</a:t>
            </a:r>
            <a:r>
              <a:rPr lang="zh-CN" altLang="en-US" sz="2000" dirty="0" smtClean="0"/>
              <a:t>占比例</a:t>
            </a:r>
            <a:r>
              <a:rPr lang="zh-CN" altLang="en-US" sz="2000" dirty="0"/>
              <a:t>，可通过各类样本</a:t>
            </a:r>
            <a:r>
              <a:rPr lang="zh-CN" altLang="en-US" sz="2000" dirty="0" smtClean="0"/>
              <a:t>出现频率估计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6863321" y="2969657"/>
            <a:ext cx="1597111" cy="132343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latin typeface="+mn-ea"/>
                <a:ea typeface="+mn-ea"/>
              </a:rPr>
              <a:t>样本</a:t>
            </a:r>
            <a:r>
              <a:rPr lang="en-US" altLang="zh-CN" sz="2000" dirty="0" smtClean="0">
                <a:latin typeface="+mn-ea"/>
                <a:ea typeface="+mn-ea"/>
              </a:rPr>
              <a:t>x</a:t>
            </a:r>
            <a:r>
              <a:rPr lang="zh-CN" altLang="en-US" sz="2000" dirty="0" smtClean="0">
                <a:latin typeface="+mn-ea"/>
                <a:ea typeface="+mn-ea"/>
              </a:rPr>
              <a:t>相对</a:t>
            </a:r>
            <a:r>
              <a:rPr lang="zh-CN" altLang="en-US" sz="2000" dirty="0">
                <a:latin typeface="+mn-ea"/>
                <a:ea typeface="+mn-ea"/>
              </a:rPr>
              <a:t>于类</a:t>
            </a:r>
            <a:r>
              <a:rPr lang="zh-CN" altLang="en-US" sz="2000" dirty="0" smtClean="0">
                <a:latin typeface="+mn-ea"/>
                <a:ea typeface="+mn-ea"/>
              </a:rPr>
              <a:t>标记</a:t>
            </a:r>
            <a:r>
              <a:rPr lang="en-US" altLang="zh-CN" sz="2000" dirty="0" smtClean="0">
                <a:latin typeface="+mn-ea"/>
                <a:ea typeface="+mn-ea"/>
              </a:rPr>
              <a:t>c</a:t>
            </a:r>
            <a:r>
              <a:rPr lang="zh-CN" altLang="en-US" sz="2000" dirty="0" smtClean="0">
                <a:latin typeface="+mn-ea"/>
                <a:ea typeface="+mn-ea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类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条件概率</a:t>
            </a:r>
            <a:r>
              <a:rPr lang="en-US" altLang="zh-CN" sz="2000" dirty="0" smtClean="0">
                <a:latin typeface="+mn-ea"/>
                <a:ea typeface="+mn-ea"/>
              </a:rPr>
              <a:t>, </a:t>
            </a:r>
            <a:r>
              <a:rPr lang="zh-CN" altLang="en-US" sz="2000" dirty="0" smtClean="0">
                <a:latin typeface="+mn-ea"/>
                <a:ea typeface="+mn-ea"/>
              </a:rPr>
              <a:t>亦称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似然</a:t>
            </a:r>
            <a:endParaRPr lang="zh-CN" altLang="en-US" sz="2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29343" y="3277433"/>
            <a:ext cx="1576290" cy="101566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latin typeface="+mn-ea"/>
              </a:rPr>
              <a:t>用于归一化的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证据因子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ea typeface="+mn-ea"/>
              </a:rPr>
              <a:t>，与类别无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关</a:t>
            </a:r>
            <a:endParaRPr lang="zh-CN" altLang="en-US" sz="20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5699389" y="2592125"/>
            <a:ext cx="1163932" cy="377532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26"/>
          <p:cNvCxnSpPr>
            <a:stCxn id="11" idx="2"/>
            <a:endCxn id="14" idx="0"/>
          </p:cNvCxnSpPr>
          <p:nvPr/>
        </p:nvCxnSpPr>
        <p:spPr bwMode="auto">
          <a:xfrm>
            <a:off x="5021249" y="2983064"/>
            <a:ext cx="396239" cy="29436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920319" y="5589280"/>
          <a:ext cx="78758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4" name="Equation" r:id="rId5" imgW="444500" imgH="203200" progId="Equation.DSMT4">
                  <p:embed/>
                </p:oleObj>
              </mc:Choice>
              <mc:Fallback>
                <p:oleObj name="Equation" r:id="rId5" imgW="444500" imgH="203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319" y="5589280"/>
                        <a:ext cx="787585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7020272" y="5589240"/>
          <a:ext cx="7874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5" name="Equation" r:id="rId6" imgW="10668000" imgH="4876800" progId="Equation.DSMT4">
                  <p:embed/>
                </p:oleObj>
              </mc:Choice>
              <mc:Fallback>
                <p:oleObj name="Equation" r:id="rId6" imgW="10668000" imgH="48768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5589240"/>
                        <a:ext cx="7874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55963" y="2205038"/>
          <a:ext cx="25400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6" name="Equation" r:id="rId8" imgW="29870400" imgH="9753600" progId="Equation.DSMT4">
                  <p:embed/>
                </p:oleObj>
              </mc:Choice>
              <mc:Fallback>
                <p:oleObj name="Equation" r:id="rId8" imgW="29870400" imgH="9753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3" y="2205038"/>
                        <a:ext cx="25400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4309606" y="2276872"/>
            <a:ext cx="585055" cy="315253"/>
          </a:xfrm>
          <a:prstGeom prst="rect">
            <a:avLst/>
          </a:prstGeom>
          <a:solidFill>
            <a:srgbClr val="FF0000">
              <a:alpha val="20000"/>
            </a:srgb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4894661" y="2276872"/>
            <a:ext cx="846181" cy="315253"/>
          </a:xfrm>
          <a:prstGeom prst="rect">
            <a:avLst/>
          </a:prstGeom>
          <a:solidFill>
            <a:srgbClr val="00B050">
              <a:alpha val="20000"/>
            </a:srgb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691270" y="2667811"/>
            <a:ext cx="659958" cy="315253"/>
          </a:xfrm>
          <a:prstGeom prst="rect">
            <a:avLst/>
          </a:prstGeom>
          <a:solidFill>
            <a:srgbClr val="0000FF">
              <a:alpha val="20000"/>
            </a:srgb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 bwMode="auto">
          <a:xfrm flipH="1">
            <a:off x="3923928" y="2592125"/>
            <a:ext cx="432412" cy="39093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7.2 </a:t>
            </a:r>
            <a:r>
              <a:rPr lang="zh-CN" altLang="en-US" dirty="0" smtClean="0"/>
              <a:t>极</a:t>
            </a:r>
            <a:r>
              <a:rPr lang="zh-CN" altLang="en-US" dirty="0"/>
              <a:t>大似然估计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策略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先假定某种</a:t>
            </a:r>
            <a:r>
              <a:rPr lang="zh-CN" altLang="en-US" dirty="0"/>
              <a:t>概率分布形式，再基于</a:t>
            </a:r>
            <a:r>
              <a:rPr lang="zh-CN" altLang="en-US" dirty="0" smtClean="0"/>
              <a:t>训练样</a:t>
            </a:r>
            <a:r>
              <a:rPr lang="zh-CN" altLang="en-US" dirty="0"/>
              <a:t>本</a:t>
            </a:r>
            <a:r>
              <a:rPr lang="zh-CN" altLang="en-US" dirty="0" smtClean="0"/>
              <a:t>对</a:t>
            </a:r>
            <a:r>
              <a:rPr lang="zh-CN" altLang="en-US" dirty="0"/>
              <a:t>概率分布的参数进行</a:t>
            </a:r>
            <a:r>
              <a:rPr lang="zh-CN" altLang="en-US" dirty="0" smtClean="0"/>
              <a:t>估计</a:t>
            </a:r>
            <a:endParaRPr lang="en-US" altLang="zh-CN" dirty="0" smtClean="0"/>
          </a:p>
          <a:p>
            <a:pPr lvl="2"/>
            <a:r>
              <a:rPr lang="zh-CN" altLang="en-US" dirty="0"/>
              <a:t>假定 </a:t>
            </a:r>
            <a:r>
              <a:rPr lang="zh-CN" altLang="en-US" dirty="0" smtClean="0"/>
              <a:t>      具有确定概率分布</a:t>
            </a:r>
            <a:r>
              <a:rPr lang="zh-CN" altLang="en-US" dirty="0"/>
              <a:t>形式，且被参数 </a:t>
            </a:r>
            <a:r>
              <a:rPr lang="zh-CN" altLang="en-US" dirty="0" smtClean="0"/>
              <a:t> 唯一</a:t>
            </a:r>
            <a:r>
              <a:rPr lang="zh-CN" altLang="en-US" dirty="0"/>
              <a:t>确定，</a:t>
            </a:r>
            <a:r>
              <a:rPr lang="zh-CN" altLang="en-US" dirty="0" smtClean="0"/>
              <a:t>则任务</a:t>
            </a:r>
            <a:r>
              <a:rPr lang="zh-CN" altLang="en-US" dirty="0"/>
              <a:t>就是利用</a:t>
            </a:r>
            <a:r>
              <a:rPr lang="zh-CN" altLang="en-US" dirty="0" smtClean="0"/>
              <a:t>训练</a:t>
            </a:r>
            <a:r>
              <a:rPr lang="zh-CN" altLang="en-US" dirty="0" smtClean="0">
                <a:latin typeface="+mn-ea"/>
              </a:rPr>
              <a:t>集</a:t>
            </a:r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来</a:t>
            </a:r>
            <a:r>
              <a:rPr lang="zh-CN" altLang="en-US" dirty="0"/>
              <a:t>估计</a:t>
            </a:r>
            <a:r>
              <a:rPr lang="zh-CN" altLang="en-US" dirty="0" smtClean="0"/>
              <a:t>参数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          </a:t>
            </a:r>
            <a:r>
              <a:rPr lang="zh-CN" altLang="en-US" dirty="0" smtClean="0"/>
              <a:t>可记为</a:t>
            </a:r>
            <a:endParaRPr lang="zh-CN" altLang="en-US" dirty="0"/>
          </a:p>
          <a:p>
            <a:pPr lvl="2"/>
            <a:r>
              <a:rPr lang="zh-CN" altLang="en-US" dirty="0"/>
              <a:t>两个</a:t>
            </a:r>
            <a:r>
              <a:rPr lang="zh-CN" altLang="en-US" dirty="0" smtClean="0"/>
              <a:t>学派不同</a:t>
            </a:r>
            <a:r>
              <a:rPr lang="zh-CN" altLang="en-US" dirty="0"/>
              <a:t>的解决</a:t>
            </a:r>
            <a:r>
              <a:rPr lang="zh-CN" altLang="en-US" dirty="0" smtClean="0"/>
              <a:t>方案</a:t>
            </a:r>
            <a:endParaRPr lang="en-US" altLang="zh-CN" dirty="0" smtClean="0"/>
          </a:p>
          <a:p>
            <a:pPr lvl="3"/>
            <a:r>
              <a:rPr lang="zh-CN" altLang="en-US" dirty="0"/>
              <a:t>频率主义</a:t>
            </a:r>
            <a:r>
              <a:rPr lang="zh-CN" altLang="en-US" dirty="0" smtClean="0"/>
              <a:t>学派，</a:t>
            </a:r>
            <a:r>
              <a:rPr lang="zh-CN" altLang="en-US" dirty="0"/>
              <a:t>认为参数</a:t>
            </a:r>
            <a:r>
              <a:rPr lang="zh-CN" altLang="en-US" dirty="0" smtClean="0"/>
              <a:t>虽未知</a:t>
            </a:r>
            <a:r>
              <a:rPr lang="zh-CN" altLang="en-US" dirty="0"/>
              <a:t>，</a:t>
            </a:r>
            <a:r>
              <a:rPr lang="zh-CN" altLang="en-US" dirty="0" smtClean="0"/>
              <a:t>但是存在固定</a:t>
            </a:r>
            <a:r>
              <a:rPr lang="zh-CN" altLang="en-US" dirty="0"/>
              <a:t>值</a:t>
            </a:r>
            <a:r>
              <a:rPr lang="zh-CN" altLang="en-US" dirty="0" smtClean="0"/>
              <a:t>，可</a:t>
            </a:r>
            <a:r>
              <a:rPr lang="zh-CN" altLang="en-US" dirty="0"/>
              <a:t>通过优化似然函数等准则来确定参数</a:t>
            </a:r>
            <a:r>
              <a:rPr lang="zh-CN" altLang="en-US" dirty="0" smtClean="0"/>
              <a:t>值，根据</a:t>
            </a:r>
            <a:r>
              <a:rPr lang="zh-CN" altLang="en-US" dirty="0"/>
              <a:t>数据采样来估计</a:t>
            </a:r>
            <a:r>
              <a:rPr lang="zh-CN" altLang="en-US" dirty="0" smtClean="0"/>
              <a:t>概率分布的参数，如极大似然估计</a:t>
            </a:r>
            <a:endParaRPr lang="en-US" altLang="zh-CN" dirty="0" smtClean="0"/>
          </a:p>
          <a:p>
            <a:pPr lvl="3"/>
            <a:r>
              <a:rPr lang="zh-CN" altLang="en-US" dirty="0"/>
              <a:t>贝叶斯</a:t>
            </a:r>
            <a:r>
              <a:rPr lang="zh-CN" altLang="en-US" dirty="0" smtClean="0"/>
              <a:t>学派，</a:t>
            </a:r>
            <a:r>
              <a:rPr lang="zh-CN" altLang="en-US" dirty="0"/>
              <a:t>认为参数是未观察到的</a:t>
            </a:r>
            <a:r>
              <a:rPr lang="zh-CN" altLang="en-US" dirty="0" smtClean="0"/>
              <a:t>随机变量，</a:t>
            </a:r>
            <a:r>
              <a:rPr lang="zh-CN" altLang="en-US" dirty="0"/>
              <a:t>本身</a:t>
            </a:r>
            <a:r>
              <a:rPr lang="zh-CN" altLang="en-US" dirty="0" smtClean="0"/>
              <a:t>也有分布，可</a:t>
            </a:r>
            <a:r>
              <a:rPr lang="zh-CN" altLang="en-US" dirty="0"/>
              <a:t>假定参数服从一个先验分布，然后基于观测到的数据来计算参数的</a:t>
            </a:r>
            <a:r>
              <a:rPr lang="zh-CN" altLang="en-US" dirty="0" smtClean="0"/>
              <a:t>后验分布</a:t>
            </a:r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83768" y="2276872"/>
          <a:ext cx="7874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1" name="Equation" r:id="rId1" imgW="444500" imgH="203200" progId="Equation.DSMT4">
                  <p:embed/>
                </p:oleObj>
              </mc:Choice>
              <mc:Fallback>
                <p:oleObj name="Equation" r:id="rId1" imgW="444500" imgH="203200" progId="Equation.DSMT4">
                  <p:embed/>
                  <p:pic>
                    <p:nvPicPr>
                      <p:cNvPr id="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276872"/>
                        <a:ext cx="7874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808292" y="2230512"/>
          <a:ext cx="292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" name="Equation" r:id="rId3" imgW="3962400" imgH="5486400" progId="Equation.DSMT4">
                  <p:embed/>
                </p:oleObj>
              </mc:Choice>
              <mc:Fallback>
                <p:oleObj name="Equation" r:id="rId3" imgW="3962400" imgH="5486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8292" y="2230512"/>
                        <a:ext cx="292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840279" y="2598171"/>
          <a:ext cx="292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0279" y="2598171"/>
                        <a:ext cx="292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72745" y="2948798"/>
          <a:ext cx="7874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4" name="Equation" r:id="rId7" imgW="444500" imgH="203200" progId="Equation.DSMT4">
                  <p:embed/>
                </p:oleObj>
              </mc:Choice>
              <mc:Fallback>
                <p:oleObj name="Equation" r:id="rId7" imgW="444500" imgH="203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745" y="2948798"/>
                        <a:ext cx="7874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73500" y="2941638"/>
          <a:ext cx="898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5" name="Equation" r:id="rId8" imgW="12192000" imgH="5486400" progId="Equation.DSMT4">
                  <p:embed/>
                </p:oleObj>
              </mc:Choice>
              <mc:Fallback>
                <p:oleObj name="Equation" r:id="rId8" imgW="121920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0" y="2941638"/>
                        <a:ext cx="898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</a:t>
            </a:r>
            <a:r>
              <a:rPr lang="zh-CN" altLang="en-US" dirty="0"/>
              <a:t>极大似然估计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原理与方法</a:t>
            </a:r>
            <a:endParaRPr lang="en-US" altLang="zh-CN" dirty="0" smtClean="0"/>
          </a:p>
          <a:p>
            <a:pPr lvl="1"/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为训练集</a:t>
            </a:r>
            <a:r>
              <a:rPr lang="en-US" altLang="zh-CN" dirty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中第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类</a:t>
            </a:r>
            <a:r>
              <a:rPr lang="zh-CN" altLang="en-US" dirty="0" smtClean="0">
                <a:latin typeface="+mn-ea"/>
              </a:rPr>
              <a:t>样本集合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假设样本独立同分布，</a:t>
            </a:r>
            <a:r>
              <a:rPr lang="zh-CN" altLang="en-US" dirty="0">
                <a:latin typeface="+mn-ea"/>
              </a:rPr>
              <a:t>则</a:t>
            </a:r>
            <a:r>
              <a:rPr lang="zh-CN" altLang="en-US" dirty="0" smtClean="0">
                <a:latin typeface="+mn-ea"/>
              </a:rPr>
              <a:t>参数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对数据</a:t>
            </a:r>
            <a:r>
              <a:rPr lang="zh-CN" altLang="en-US" dirty="0">
                <a:latin typeface="+mn-ea"/>
              </a:rPr>
              <a:t>集</a:t>
            </a:r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的似然为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pPr lvl="1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然后寻找</a:t>
            </a:r>
            <a:r>
              <a:rPr lang="zh-CN" altLang="en-US" dirty="0">
                <a:latin typeface="+mn-ea"/>
              </a:rPr>
              <a:t>能最大化</a:t>
            </a:r>
            <a:r>
              <a:rPr lang="zh-CN" altLang="en-US" dirty="0" smtClean="0">
                <a:latin typeface="+mn-ea"/>
              </a:rPr>
              <a:t>似然       的</a:t>
            </a:r>
            <a:r>
              <a:rPr lang="zh-CN" altLang="en-US" dirty="0">
                <a:latin typeface="+mn-ea"/>
              </a:rPr>
              <a:t>参数</a:t>
            </a:r>
            <a:r>
              <a:rPr lang="zh-CN" altLang="en-US" dirty="0" smtClean="0">
                <a:latin typeface="+mn-ea"/>
              </a:rPr>
              <a:t>值</a:t>
            </a:r>
            <a:r>
              <a:rPr lang="en-US" altLang="zh-CN" dirty="0" smtClean="0">
                <a:latin typeface="+mn-ea"/>
              </a:rPr>
              <a:t>  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极</a:t>
            </a:r>
            <a:r>
              <a:rPr lang="zh-CN" altLang="en-US" dirty="0">
                <a:latin typeface="+mn-ea"/>
              </a:rPr>
              <a:t>大似然估计</a:t>
            </a:r>
            <a:r>
              <a:rPr lang="zh-CN" altLang="en-US" dirty="0" smtClean="0">
                <a:latin typeface="+mn-ea"/>
              </a:rPr>
              <a:t>是在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所有</a:t>
            </a:r>
            <a:r>
              <a:rPr lang="zh-CN" altLang="en-US" dirty="0">
                <a:latin typeface="+mn-ea"/>
              </a:rPr>
              <a:t>可能的取值中，找到一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值</a:t>
            </a:r>
            <a:r>
              <a:rPr lang="zh-CN" altLang="en-US" dirty="0" smtClean="0">
                <a:latin typeface="+mn-ea"/>
              </a:rPr>
              <a:t>能</a:t>
            </a:r>
            <a:r>
              <a:rPr lang="zh-CN" altLang="en-US" dirty="0">
                <a:latin typeface="+mn-ea"/>
              </a:rPr>
              <a:t>使数据出现</a:t>
            </a:r>
            <a:r>
              <a:rPr lang="zh-CN" altLang="en-US" dirty="0" smtClean="0">
                <a:latin typeface="+mn-ea"/>
              </a:rPr>
              <a:t>的可能性最大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对数</a:t>
            </a:r>
            <a:r>
              <a:rPr lang="zh-CN" altLang="en-US" dirty="0" smtClean="0">
                <a:latin typeface="+mn-ea"/>
              </a:rPr>
              <a:t>似然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上面连</a:t>
            </a:r>
            <a:r>
              <a:rPr lang="zh-CN" altLang="en-US" dirty="0">
                <a:latin typeface="+mn-ea"/>
              </a:rPr>
              <a:t>乘易造成下溢</a:t>
            </a:r>
            <a:r>
              <a:rPr lang="zh-CN" altLang="en-US" dirty="0" smtClean="0">
                <a:latin typeface="+mn-ea"/>
              </a:rPr>
              <a:t>，常</a:t>
            </a:r>
            <a:r>
              <a:rPr lang="zh-CN" altLang="en-US" dirty="0">
                <a:latin typeface="+mn-ea"/>
              </a:rPr>
              <a:t>使用对数</a:t>
            </a:r>
            <a:r>
              <a:rPr lang="zh-CN" altLang="en-US" dirty="0" smtClean="0">
                <a:latin typeface="+mn-ea"/>
              </a:rPr>
              <a:t>似然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1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  的</a:t>
            </a:r>
            <a:r>
              <a:rPr lang="zh-CN" altLang="en-US" dirty="0">
                <a:latin typeface="+mn-ea"/>
              </a:rPr>
              <a:t>极大似然估计</a:t>
            </a:r>
            <a:r>
              <a:rPr lang="zh-CN" altLang="en-US" dirty="0" smtClean="0">
                <a:latin typeface="+mn-ea"/>
              </a:rPr>
              <a:t>为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47664" y="1438424"/>
          <a:ext cx="3603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1" name="Equation" r:id="rId1" imgW="4876800" imgH="5486400" progId="Equation.DSMT4">
                  <p:embed/>
                </p:oleObj>
              </mc:Choice>
              <mc:Fallback>
                <p:oleObj name="Equation" r:id="rId1" imgW="4876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438424"/>
                        <a:ext cx="3603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427984" y="1808872"/>
          <a:ext cx="336375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2" name="Equation" r:id="rId3" imgW="165100" imgH="228600" progId="Equation.DSMT4">
                  <p:embed/>
                </p:oleObj>
              </mc:Choice>
              <mc:Fallback>
                <p:oleObj name="Equation" r:id="rId3" imgW="165100" imgH="2286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1808872"/>
                        <a:ext cx="336375" cy="46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003550" y="2204864"/>
          <a:ext cx="31321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3" name="Equation" r:id="rId5" imgW="36880800" imgH="6705600" progId="Equation.DSMT4">
                  <p:embed/>
                </p:oleObj>
              </mc:Choice>
              <mc:Fallback>
                <p:oleObj name="Equation" r:id="rId5" imgW="36880800" imgH="6705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2204864"/>
                        <a:ext cx="313213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148064" y="2743076"/>
          <a:ext cx="11906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4" name="Equation" r:id="rId7" imgW="14020800" imgH="5486400" progId="Equation.DSMT4">
                  <p:embed/>
                </p:oleObj>
              </mc:Choice>
              <mc:Fallback>
                <p:oleObj name="Equation" r:id="rId7" imgW="140208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2743076"/>
                        <a:ext cx="11906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835850" y="2744663"/>
          <a:ext cx="3365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5" name="Equation" r:id="rId9" imgW="165100" imgH="228600" progId="Equation.DSMT4">
                  <p:embed/>
                </p:oleObj>
              </mc:Choice>
              <mc:Fallback>
                <p:oleObj name="Equation" r:id="rId9" imgW="165100" imgH="228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5850" y="2744663"/>
                        <a:ext cx="3365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379466" y="3140968"/>
          <a:ext cx="3365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6" name="Equation" r:id="rId10" imgW="165100" imgH="228600" progId="Equation.DSMT4">
                  <p:embed/>
                </p:oleObj>
              </mc:Choice>
              <mc:Fallback>
                <p:oleObj name="Equation" r:id="rId10" imgW="165100" imgH="2286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466" y="3140968"/>
                        <a:ext cx="3365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016125" y="4653136"/>
          <a:ext cx="49688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7" name="Equation" r:id="rId11" imgW="58521600" imgH="6705600" progId="Equation.DSMT4">
                  <p:embed/>
                </p:oleObj>
              </mc:Choice>
              <mc:Fallback>
                <p:oleObj name="Equation" r:id="rId11" imgW="58521600" imgH="67056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4653136"/>
                        <a:ext cx="49688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499146" y="5165774"/>
          <a:ext cx="3365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8" name="Equation" r:id="rId13" imgW="165100" imgH="228600" progId="Equation.DSMT4">
                  <p:embed/>
                </p:oleObj>
              </mc:Choice>
              <mc:Fallback>
                <p:oleObj name="Equation" r:id="rId13" imgW="165100" imgH="2286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146" y="5165774"/>
                        <a:ext cx="3365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760728" y="5107667"/>
          <a:ext cx="238125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9" name="Equation" r:id="rId14" imgW="28041600" imgH="8534400" progId="Equation.DSMT4">
                  <p:embed/>
                </p:oleObj>
              </mc:Choice>
              <mc:Fallback>
                <p:oleObj name="Equation" r:id="rId14" imgW="28041600" imgH="85344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728" y="5107667"/>
                        <a:ext cx="238125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</a:t>
            </a:r>
            <a:r>
              <a:rPr lang="zh-CN" altLang="en-US" dirty="0"/>
              <a:t>极大似然估计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原理与方法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例如在</a:t>
            </a:r>
            <a:r>
              <a:rPr lang="zh-CN" altLang="en-US" dirty="0">
                <a:latin typeface="+mn-ea"/>
              </a:rPr>
              <a:t>连续属性情形下，假设</a:t>
            </a:r>
            <a:r>
              <a:rPr lang="zh-CN" altLang="en-US" dirty="0" smtClean="0">
                <a:latin typeface="+mn-ea"/>
              </a:rPr>
              <a:t>概率密度函数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pPr lvl="2">
              <a:spcBef>
                <a:spcPts val="600"/>
              </a:spcBef>
            </a:pPr>
            <a:r>
              <a:rPr lang="zh-CN" altLang="en-US" dirty="0">
                <a:latin typeface="+mn-ea"/>
              </a:rPr>
              <a:t>则参数的极大似然估计</a:t>
            </a:r>
            <a:r>
              <a:rPr lang="zh-CN" altLang="en-US" dirty="0" smtClean="0">
                <a:latin typeface="+mn-ea"/>
              </a:rPr>
              <a:t>为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优缺点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方法</a:t>
            </a:r>
            <a:r>
              <a:rPr lang="zh-CN" altLang="en-US" dirty="0">
                <a:latin typeface="+mn-ea"/>
              </a:rPr>
              <a:t>简单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准确性依赖所假设的概率分布是否符合真实分布</a:t>
            </a:r>
            <a:endParaRPr lang="en-US" altLang="zh-CN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利用关于任务本身的经验知识</a:t>
            </a:r>
            <a:endParaRPr lang="en-US" altLang="zh-CN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75856" y="1772816"/>
          <a:ext cx="23558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Equation" r:id="rId1" imgW="27736800" imgH="5791200" progId="Equation.DSMT4">
                  <p:embed/>
                </p:oleObj>
              </mc:Choice>
              <mc:Fallback>
                <p:oleObj name="Equation" r:id="rId1" imgW="27736800" imgH="5791200" progId="Equation.DSMT4">
                  <p:embed/>
                  <p:pic>
                    <p:nvPicPr>
                      <p:cNvPr id="0" name="图片 307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772816"/>
                        <a:ext cx="235585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84328" y="2564904"/>
          <a:ext cx="357187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9" name="Equation" r:id="rId3" imgW="42062400" imgH="20116800" progId="Equation.DSMT4">
                  <p:embed/>
                </p:oleObj>
              </mc:Choice>
              <mc:Fallback>
                <p:oleObj name="Equation" r:id="rId3" imgW="42062400" imgH="20116800" progId="Equation.DSMT4">
                  <p:embed/>
                  <p:pic>
                    <p:nvPicPr>
                      <p:cNvPr id="0" name="图片 307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328" y="2564904"/>
                        <a:ext cx="3571875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7.3 </a:t>
            </a:r>
            <a:r>
              <a:rPr lang="zh-CN" altLang="en-US" dirty="0" smtClean="0"/>
              <a:t>朴素</a:t>
            </a:r>
            <a:r>
              <a:rPr lang="zh-CN" altLang="en-US" dirty="0"/>
              <a:t>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主要困难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贝叶斯公式                               中的后验概率是</a:t>
            </a:r>
            <a:r>
              <a:rPr lang="zh-CN" altLang="en-US" dirty="0"/>
              <a:t>所有属性上的</a:t>
            </a:r>
            <a:r>
              <a:rPr lang="zh-CN" altLang="en-US" dirty="0" smtClean="0"/>
              <a:t>联合概率，难以</a:t>
            </a:r>
            <a:r>
              <a:rPr lang="zh-CN" altLang="en-US" dirty="0"/>
              <a:t>从</a:t>
            </a:r>
            <a:r>
              <a:rPr lang="zh-CN" altLang="en-US" dirty="0" smtClean="0"/>
              <a:t>有限训练样本</a:t>
            </a:r>
            <a:r>
              <a:rPr lang="zh-CN" altLang="en-US" dirty="0"/>
              <a:t>直接</a:t>
            </a:r>
            <a:r>
              <a:rPr lang="zh-CN" altLang="en-US" dirty="0" smtClean="0"/>
              <a:t>估计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组合爆炸，样本</a:t>
            </a:r>
            <a:r>
              <a:rPr lang="zh-CN" altLang="en-US" dirty="0"/>
              <a:t>稀疏</a:t>
            </a:r>
            <a:endParaRPr lang="zh-CN" altLang="en-US" dirty="0"/>
          </a:p>
          <a:p>
            <a:r>
              <a:rPr lang="zh-CN" altLang="en-US" dirty="0"/>
              <a:t>基本</a:t>
            </a:r>
            <a:r>
              <a:rPr lang="zh-CN" altLang="en-US" dirty="0" smtClean="0"/>
              <a:t>思路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假设所有属性</a:t>
            </a:r>
            <a:r>
              <a:rPr lang="zh-CN" altLang="en-US" dirty="0"/>
              <a:t>相互</a:t>
            </a:r>
            <a:r>
              <a:rPr lang="zh-CN" altLang="en-US" dirty="0" smtClean="0"/>
              <a:t>独立，每个</a:t>
            </a:r>
            <a:r>
              <a:rPr lang="zh-CN" altLang="en-US" dirty="0"/>
              <a:t>属性独立地对分类结果发生</a:t>
            </a:r>
            <a:r>
              <a:rPr lang="zh-CN" altLang="en-US" dirty="0" smtClean="0"/>
              <a:t>影响，则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2"/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为属性</a:t>
            </a:r>
            <a:r>
              <a:rPr lang="zh-CN" altLang="en-US" dirty="0">
                <a:latin typeface="+mn-ea"/>
              </a:rPr>
              <a:t>数</a:t>
            </a:r>
            <a:r>
              <a:rPr lang="zh-CN" altLang="en-US" dirty="0" smtClean="0">
                <a:latin typeface="+mn-ea"/>
              </a:rPr>
              <a:t>， 为 在第</a:t>
            </a:r>
            <a:r>
              <a:rPr lang="en-US" altLang="zh-CN" dirty="0" err="1" smtClean="0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属性上的取值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dirty="0" smtClean="0"/>
              <a:t>       对</a:t>
            </a:r>
            <a:r>
              <a:rPr lang="zh-CN" altLang="en-US" dirty="0"/>
              <a:t>所有类别相同，</a:t>
            </a:r>
            <a:r>
              <a:rPr lang="zh-CN" altLang="en-US" dirty="0">
                <a:latin typeface="+mn-ea"/>
              </a:rPr>
              <a:t>于是</a:t>
            </a:r>
            <a:r>
              <a:rPr lang="zh-CN" altLang="en-US" dirty="0" smtClean="0">
                <a:latin typeface="+mn-ea"/>
              </a:rPr>
              <a:t>有</a:t>
            </a:r>
            <a:r>
              <a:rPr lang="en-US" altLang="zh-CN" dirty="0">
                <a:latin typeface="+mn-ea"/>
              </a:rPr>
              <a:t>NB</a:t>
            </a:r>
            <a:r>
              <a:rPr lang="zh-CN" altLang="en-US" dirty="0" smtClean="0">
                <a:latin typeface="+mn-ea"/>
              </a:rPr>
              <a:t>分类器</a:t>
            </a:r>
            <a:r>
              <a:rPr lang="zh-CN" altLang="en-US" dirty="0">
                <a:latin typeface="+mn-ea"/>
              </a:rPr>
              <a:t>的表达式</a:t>
            </a:r>
            <a:endParaRPr lang="en-US" altLang="zh-CN" dirty="0">
              <a:latin typeface="+mn-ea"/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endParaRPr lang="en-US" altLang="zh-CN" dirty="0" smtClean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47864" y="1412776"/>
          <a:ext cx="324008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4" name="Equation" r:id="rId1" imgW="38100000" imgH="4876800" progId="Equation.DSMT4">
                  <p:embed/>
                </p:oleObj>
              </mc:Choice>
              <mc:Fallback>
                <p:oleObj name="Equation" r:id="rId1" imgW="381000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412776"/>
                        <a:ext cx="3240088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03450" y="4349750"/>
          <a:ext cx="466566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5" name="Equation" r:id="rId3" imgW="54864000" imgH="10363200" progId="Equation.DSMT4">
                  <p:embed/>
                </p:oleObj>
              </mc:Choice>
              <mc:Fallback>
                <p:oleObj name="Equation" r:id="rId3" imgW="54864000" imgH="10363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4349750"/>
                        <a:ext cx="4665663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491880" y="5196111"/>
          <a:ext cx="3111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6" name="Equation" r:id="rId5" imgW="3657600" imgH="5486400" progId="Equation.DSMT4">
                  <p:embed/>
                </p:oleObj>
              </mc:Choice>
              <mc:Fallback>
                <p:oleObj name="Equation" r:id="rId5" imgW="36576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5196111"/>
                        <a:ext cx="3111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180896" y="5305077"/>
          <a:ext cx="285750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7" name="Equation" r:id="rId7" imgW="3352800" imgH="3352800" progId="Equation.DSMT4">
                  <p:embed/>
                </p:oleObj>
              </mc:Choice>
              <mc:Fallback>
                <p:oleObj name="Equation" r:id="rId7" imgW="3352800" imgH="3352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896" y="5305077"/>
                        <a:ext cx="285750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07704" y="5589240"/>
          <a:ext cx="7254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8" name="Equation" r:id="rId9" imgW="8534400" imgH="4876800" progId="Equation.DSMT4">
                  <p:embed/>
                </p:oleObj>
              </mc:Choice>
              <mc:Fallback>
                <p:oleObj name="Equation" r:id="rId9" imgW="85344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589240"/>
                        <a:ext cx="72548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627784" y="5877272"/>
          <a:ext cx="38354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9" name="Equation" r:id="rId11" imgW="45110400" imgH="10363200" progId="Equation.DSMT4">
                  <p:embed/>
                </p:oleObj>
              </mc:Choice>
              <mc:Fallback>
                <p:oleObj name="Equation" r:id="rId11" imgW="45110400" imgH="103632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5877272"/>
                        <a:ext cx="38354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求解</a:t>
            </a:r>
            <a:endParaRPr lang="en-US" altLang="zh-CN" dirty="0" smtClean="0"/>
          </a:p>
          <a:p>
            <a:pPr lvl="1"/>
            <a:r>
              <a:rPr lang="zh-CN" altLang="en-US" dirty="0"/>
              <a:t>估计 </a:t>
            </a:r>
            <a:r>
              <a:rPr lang="zh-CN" altLang="en-US" dirty="0" smtClean="0"/>
              <a:t>     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估计条件概率</a:t>
            </a:r>
            <a:endParaRPr lang="en-US" altLang="zh-CN" dirty="0" smtClean="0"/>
          </a:p>
          <a:p>
            <a:pPr lvl="2"/>
            <a:r>
              <a:rPr lang="zh-CN" altLang="en-US" dirty="0">
                <a:latin typeface="+mn-ea"/>
              </a:rPr>
              <a:t>对连续属性，假定概率密度函数</a:t>
            </a:r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对</a:t>
            </a:r>
            <a:r>
              <a:rPr lang="zh-CN" altLang="en-US" dirty="0">
                <a:latin typeface="+mn-ea"/>
              </a:rPr>
              <a:t>离散属性，令 </a:t>
            </a:r>
            <a:r>
              <a:rPr lang="zh-CN" altLang="en-US" dirty="0" smtClean="0">
                <a:latin typeface="+mn-ea"/>
              </a:rPr>
              <a:t>  表示  中</a:t>
            </a:r>
            <a:r>
              <a:rPr lang="zh-CN" altLang="en-US" dirty="0">
                <a:latin typeface="+mn-ea"/>
              </a:rPr>
              <a:t>在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err="1" smtClean="0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个属性取值为的</a:t>
            </a:r>
            <a:r>
              <a:rPr lang="zh-CN" altLang="en-US" dirty="0">
                <a:latin typeface="+mn-ea"/>
              </a:rPr>
              <a:t>样本组成的集合，</a:t>
            </a:r>
            <a:r>
              <a:rPr lang="zh-CN" altLang="en-US" dirty="0" smtClean="0">
                <a:latin typeface="+mn-ea"/>
              </a:rPr>
              <a:t>则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若</a:t>
            </a:r>
            <a:r>
              <a:rPr lang="zh-CN" altLang="en-US" dirty="0">
                <a:latin typeface="+mn-ea"/>
              </a:rPr>
              <a:t>某个属性值在训练集中没有与某个类同时出现过，则直接计算会</a:t>
            </a:r>
            <a:r>
              <a:rPr lang="zh-CN" altLang="en-US" dirty="0" smtClean="0">
                <a:latin typeface="+mn-ea"/>
              </a:rPr>
              <a:t>出现问题</a:t>
            </a:r>
            <a:r>
              <a:rPr lang="zh-CN" altLang="en-US" dirty="0">
                <a:latin typeface="+mn-ea"/>
              </a:rPr>
              <a:t>，因为</a:t>
            </a:r>
            <a:r>
              <a:rPr lang="zh-CN" altLang="en-US" dirty="0" smtClean="0">
                <a:latin typeface="+mn-ea"/>
              </a:rPr>
              <a:t>概率为</a:t>
            </a:r>
            <a:r>
              <a:rPr lang="en-US" altLang="zh-CN" dirty="0" smtClean="0">
                <a:latin typeface="+mn-ea"/>
              </a:rPr>
              <a:t>0</a:t>
            </a:r>
            <a:r>
              <a:rPr lang="zh-CN" altLang="en-US" dirty="0" smtClean="0">
                <a:latin typeface="+mn-ea"/>
              </a:rPr>
              <a:t>连</a:t>
            </a:r>
            <a:r>
              <a:rPr lang="zh-CN" altLang="en-US" dirty="0">
                <a:latin typeface="+mn-ea"/>
              </a:rPr>
              <a:t>乘</a:t>
            </a:r>
            <a:r>
              <a:rPr lang="zh-CN" altLang="en-US" dirty="0" smtClean="0">
                <a:latin typeface="+mn-ea"/>
              </a:rPr>
              <a:t>将抹去其他</a:t>
            </a:r>
            <a:r>
              <a:rPr lang="zh-CN" altLang="en-US" dirty="0">
                <a:latin typeface="+mn-ea"/>
              </a:rPr>
              <a:t>属性提供的</a:t>
            </a:r>
            <a:r>
              <a:rPr lang="zh-CN" altLang="en-US" dirty="0" smtClean="0">
                <a:latin typeface="+mn-ea"/>
              </a:rPr>
              <a:t>信息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/>
              <a:t>为了避免，在</a:t>
            </a:r>
            <a:r>
              <a:rPr lang="zh-CN" altLang="en-US" dirty="0"/>
              <a:t>估计概率值</a:t>
            </a:r>
            <a:r>
              <a:rPr lang="zh-CN" altLang="en-US" dirty="0" smtClean="0"/>
              <a:t>时常</a:t>
            </a:r>
            <a:r>
              <a:rPr lang="zh-CN" altLang="en-US" dirty="0"/>
              <a:t>要进行平滑，</a:t>
            </a:r>
            <a:r>
              <a:rPr lang="zh-CN" altLang="en-US" dirty="0" smtClean="0"/>
              <a:t>常用拉普拉斯修正方法</a:t>
            </a:r>
            <a:endParaRPr lang="zh-CN" altLang="en-US" dirty="0"/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zh-CN" altLang="en-US" dirty="0">
              <a:latin typeface="+mn-ea"/>
            </a:endParaRPr>
          </a:p>
          <a:p>
            <a:pPr lvl="3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51050" y="836712"/>
          <a:ext cx="40671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6" name="Equation" r:id="rId1" imgW="47853600" imgH="7924800" progId="Equation.DSMT4">
                  <p:embed/>
                </p:oleObj>
              </mc:Choice>
              <mc:Fallback>
                <p:oleObj name="Equation" r:id="rId1" imgW="47853600" imgH="79248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836712"/>
                        <a:ext cx="40671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95736" y="1412776"/>
          <a:ext cx="6731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7" name="Equation" r:id="rId3" imgW="7924800" imgH="4876800" progId="Equation.DSMT4">
                  <p:embed/>
                </p:oleObj>
              </mc:Choice>
              <mc:Fallback>
                <p:oleObj name="Equation" r:id="rId3" imgW="7924800" imgH="4876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412776"/>
                        <a:ext cx="6731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980878" y="1404938"/>
          <a:ext cx="1735138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8" name="Equation" r:id="rId5" imgW="20421600" imgH="5486400" progId="Equation.DSMT4">
                  <p:embed/>
                </p:oleObj>
              </mc:Choice>
              <mc:Fallback>
                <p:oleObj name="Equation" r:id="rId5" imgW="20421600" imgH="5486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0878" y="1404938"/>
                        <a:ext cx="1735138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685158" y="1810147"/>
          <a:ext cx="9588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09" name="Equation" r:id="rId7" imgW="11277600" imgH="5486400" progId="Equation.DSMT4">
                  <p:embed/>
                </p:oleObj>
              </mc:Choice>
              <mc:Fallback>
                <p:oleObj name="Equation" r:id="rId7" imgW="112776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5158" y="1810147"/>
                        <a:ext cx="9588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027868" y="3677936"/>
          <a:ext cx="5953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0" name="Equation" r:id="rId9" imgW="7010400" imgH="5791200" progId="Equation.DSMT4">
                  <p:embed/>
                </p:oleObj>
              </mc:Choice>
              <mc:Fallback>
                <p:oleObj name="Equation" r:id="rId9" imgW="7010400" imgH="57912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868" y="3677936"/>
                        <a:ext cx="5953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177561" y="3687395"/>
          <a:ext cx="4143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" name="Equation" r:id="rId11" imgW="4876800" imgH="5486400" progId="Equation.DSMT4">
                  <p:embed/>
                </p:oleObj>
              </mc:Choice>
              <mc:Fallback>
                <p:oleObj name="Equation" r:id="rId11" imgW="4876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561" y="3687395"/>
                        <a:ext cx="41433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388424" y="3645024"/>
          <a:ext cx="3095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" name="Equation" r:id="rId13" imgW="3657600" imgH="5486400" progId="Equation.DSMT4">
                  <p:embed/>
                </p:oleObj>
              </mc:Choice>
              <mc:Fallback>
                <p:oleObj name="Equation" r:id="rId13" imgW="3657600" imgH="54864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424" y="3645024"/>
                        <a:ext cx="3095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497263" y="4346873"/>
          <a:ext cx="181451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3" name="Equation" r:id="rId15" imgW="21336000" imgH="10363200" progId="Equation.DSMT4">
                  <p:embed/>
                </p:oleObj>
              </mc:Choice>
              <mc:Fallback>
                <p:oleObj name="Equation" r:id="rId15" imgW="21336000" imgH="103632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4346873"/>
                        <a:ext cx="181451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228184" y="2204864"/>
          <a:ext cx="254158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" name="Equation" r:id="rId17" imgW="29870400" imgH="6096000" progId="Equation.DSMT4">
                  <p:embed/>
                </p:oleObj>
              </mc:Choice>
              <mc:Fallback>
                <p:oleObj name="Equation" r:id="rId17" imgW="29870400" imgH="60960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2204864"/>
                        <a:ext cx="2541588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500394" y="2653538"/>
          <a:ext cx="43275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5" name="Equation" r:id="rId19" imgW="50901600" imgH="11887200" progId="Equation.DSMT4">
                  <p:embed/>
                </p:oleObj>
              </mc:Choice>
              <mc:Fallback>
                <p:oleObj name="Equation" r:id="rId19" imgW="50901600" imgH="118872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94" y="2653538"/>
                        <a:ext cx="432752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</a:t>
            </a:r>
            <a:endParaRPr lang="en-US" altLang="zh-CN" dirty="0"/>
          </a:p>
          <a:p>
            <a:pPr lvl="1"/>
            <a:r>
              <a:rPr lang="zh-CN" altLang="en-US" dirty="0"/>
              <a:t>拉普拉斯</a:t>
            </a:r>
            <a:r>
              <a:rPr lang="zh-CN" altLang="en-US" dirty="0" smtClean="0"/>
              <a:t>修正</a:t>
            </a:r>
            <a:endParaRPr lang="en-US" altLang="zh-CN" dirty="0" smtClean="0"/>
          </a:p>
          <a:p>
            <a:pPr lvl="2"/>
            <a:r>
              <a:rPr lang="zh-CN" altLang="en-US" dirty="0" smtClean="0">
                <a:latin typeface="+mn-ea"/>
              </a:rPr>
              <a:t>令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表示训练集</a:t>
            </a:r>
            <a:r>
              <a:rPr lang="en-US" altLang="zh-CN" dirty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中可能的</a:t>
            </a:r>
            <a:r>
              <a:rPr lang="zh-CN" altLang="en-US" dirty="0" smtClean="0">
                <a:latin typeface="+mn-ea"/>
              </a:rPr>
              <a:t>类别数， 表示</a:t>
            </a:r>
            <a:r>
              <a:rPr lang="zh-CN" altLang="en-US" dirty="0">
                <a:latin typeface="+mn-ea"/>
              </a:rPr>
              <a:t>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个属性可能的取值数，</a:t>
            </a:r>
            <a:r>
              <a:rPr lang="zh-CN" altLang="en-US" dirty="0" smtClean="0">
                <a:latin typeface="+mn-ea"/>
              </a:rPr>
              <a:t>则估计修正为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实质上假设</a:t>
            </a:r>
            <a:r>
              <a:rPr lang="zh-CN" altLang="en-US" dirty="0">
                <a:latin typeface="+mn-ea"/>
              </a:rPr>
              <a:t>了属性值与类别的</a:t>
            </a:r>
            <a:r>
              <a:rPr lang="zh-CN" altLang="en-US" dirty="0" smtClean="0">
                <a:latin typeface="+mn-ea"/>
              </a:rPr>
              <a:t>均匀分布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训练集</a:t>
            </a:r>
            <a:r>
              <a:rPr lang="zh-CN" altLang="en-US" dirty="0">
                <a:latin typeface="+mn-ea"/>
              </a:rPr>
              <a:t>变大时，</a:t>
            </a:r>
            <a:r>
              <a:rPr lang="zh-CN" altLang="en-US" dirty="0" smtClean="0">
                <a:latin typeface="+mn-ea"/>
              </a:rPr>
              <a:t>修正的影响逐渐可忽略</a:t>
            </a:r>
            <a:endParaRPr lang="en-US" altLang="zh-CN" dirty="0">
              <a:latin typeface="+mn-ea"/>
            </a:endParaRPr>
          </a:p>
          <a:p>
            <a:r>
              <a:rPr lang="zh-CN" altLang="en-US" smtClean="0">
                <a:latin typeface="+mn-ea"/>
              </a:rPr>
              <a:t>使用方式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若对预测速度要求高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先</a:t>
            </a:r>
            <a:r>
              <a:rPr lang="zh-CN" altLang="en-US" dirty="0">
                <a:latin typeface="+mn-ea"/>
              </a:rPr>
              <a:t>计算</a:t>
            </a:r>
            <a:r>
              <a:rPr lang="zh-CN" altLang="en-US" dirty="0" smtClean="0">
                <a:latin typeface="+mn-ea"/>
              </a:rPr>
              <a:t>所有</a:t>
            </a:r>
            <a:r>
              <a:rPr lang="zh-CN" altLang="en-US" dirty="0">
                <a:latin typeface="+mn-ea"/>
              </a:rPr>
              <a:t>概率</a:t>
            </a:r>
            <a:r>
              <a:rPr lang="zh-CN" altLang="en-US" dirty="0" smtClean="0">
                <a:latin typeface="+mn-ea"/>
              </a:rPr>
              <a:t>估值并存储，预测时查表判别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若数据更替</a:t>
            </a:r>
            <a:r>
              <a:rPr lang="zh-CN" altLang="en-US" dirty="0" smtClean="0">
                <a:latin typeface="+mn-ea"/>
              </a:rPr>
              <a:t>频繁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懒惰</a:t>
            </a:r>
            <a:r>
              <a:rPr lang="zh-CN" altLang="en-US" dirty="0" smtClean="0">
                <a:latin typeface="+mn-ea"/>
              </a:rPr>
              <a:t>学习，不</a:t>
            </a:r>
            <a:r>
              <a:rPr lang="zh-CN" altLang="en-US" dirty="0">
                <a:latin typeface="+mn-ea"/>
              </a:rPr>
              <a:t>进行任何训练</a:t>
            </a:r>
            <a:r>
              <a:rPr lang="zh-CN" altLang="en-US" dirty="0" smtClean="0">
                <a:latin typeface="+mn-ea"/>
              </a:rPr>
              <a:t>，预测时</a:t>
            </a:r>
            <a:r>
              <a:rPr lang="zh-CN" altLang="en-US" dirty="0">
                <a:latin typeface="+mn-ea"/>
              </a:rPr>
              <a:t>再估值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若数据不断增加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增量学习，基于现有</a:t>
            </a:r>
            <a:r>
              <a:rPr lang="zh-CN" altLang="en-US" dirty="0" smtClean="0">
                <a:latin typeface="+mn-ea"/>
              </a:rPr>
              <a:t>估值对</a:t>
            </a:r>
            <a:r>
              <a:rPr lang="zh-CN" altLang="en-US" dirty="0">
                <a:latin typeface="+mn-ea"/>
              </a:rPr>
              <a:t>新</a:t>
            </a:r>
            <a:r>
              <a:rPr lang="zh-CN" altLang="en-US" dirty="0" smtClean="0">
                <a:latin typeface="+mn-ea"/>
              </a:rPr>
              <a:t>样本概率估值修正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372200" y="1772816"/>
          <a:ext cx="3905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5" name="Equation" r:id="rId1" imgW="4572000" imgH="5486400" progId="Equation.DSMT4">
                  <p:embed/>
                </p:oleObj>
              </mc:Choice>
              <mc:Fallback>
                <p:oleObj name="Equation" r:id="rId1" imgW="4572000" imgH="54864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1772816"/>
                        <a:ext cx="3905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83768" y="2492896"/>
          <a:ext cx="3865986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6" name="Equation" r:id="rId3" imgW="48463200" imgH="10363200" progId="Equation.DSMT4">
                  <p:embed/>
                </p:oleObj>
              </mc:Choice>
              <mc:Fallback>
                <p:oleObj name="Equation" r:id="rId3" imgW="48463200" imgH="103632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492896"/>
                        <a:ext cx="3865986" cy="82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训练</a:t>
            </a:r>
            <a:r>
              <a:rPr lang="zh-CN" altLang="en-US" dirty="0">
                <a:latin typeface="+mn-ea"/>
              </a:rPr>
              <a:t>一个朴素贝叶斯分类器，对测试</a:t>
            </a:r>
            <a:r>
              <a:rPr lang="zh-CN" altLang="en-US" dirty="0" smtClean="0">
                <a:latin typeface="+mn-ea"/>
              </a:rPr>
              <a:t>例分类</a:t>
            </a:r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t="7994"/>
          <a:stretch>
            <a:fillRect/>
          </a:stretch>
        </p:blipFill>
        <p:spPr>
          <a:xfrm>
            <a:off x="1259632" y="1844824"/>
            <a:ext cx="6604417" cy="41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16" y="5974638"/>
            <a:ext cx="7306700" cy="838738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en-US" altLang="zh-CN" dirty="0" smtClean="0"/>
          </a:p>
          <a:p>
            <a:pPr lvl="1"/>
            <a:r>
              <a:rPr lang="zh-CN" altLang="en-US" dirty="0"/>
              <a:t>估计类</a:t>
            </a:r>
            <a:r>
              <a:rPr lang="zh-CN" altLang="en-US" dirty="0" smtClean="0"/>
              <a:t>先验概率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>
              <a:spcBef>
                <a:spcPts val="1800"/>
              </a:spcBef>
            </a:pPr>
            <a:r>
              <a:rPr lang="zh-CN" altLang="en-US" dirty="0" smtClean="0"/>
              <a:t>为</a:t>
            </a:r>
            <a:r>
              <a:rPr lang="zh-CN" altLang="en-US" dirty="0"/>
              <a:t>每个属性估计条件概率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67944" y="1430486"/>
          <a:ext cx="6731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4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287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1430486"/>
                        <a:ext cx="6731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844936"/>
            <a:ext cx="2361600" cy="1008000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485358" y="2891855"/>
          <a:ext cx="9588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5" name="Equation" r:id="rId4" imgW="11277600" imgH="5486400" progId="Equation.DSMT4">
                  <p:embed/>
                </p:oleObj>
              </mc:Choice>
              <mc:Fallback>
                <p:oleObj name="Equation" r:id="rId4" imgW="11277600" imgH="5486400" progId="Equation.DSMT4">
                  <p:embed/>
                  <p:pic>
                    <p:nvPicPr>
                      <p:cNvPr id="0" name="图片 287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5358" y="2891855"/>
                        <a:ext cx="9588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96" y="3377592"/>
            <a:ext cx="4498057" cy="300373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008" y="3378974"/>
            <a:ext cx="4402956" cy="2930346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  <a:endParaRPr lang="en-US" altLang="zh-CN" dirty="0"/>
          </a:p>
          <a:p>
            <a:pPr lvl="1"/>
            <a:r>
              <a:rPr lang="zh-CN" altLang="en-US" dirty="0"/>
              <a:t>为每个属性估计</a:t>
            </a:r>
            <a:r>
              <a:rPr lang="zh-CN" altLang="en-US" dirty="0" smtClean="0"/>
              <a:t>条件概率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485358" y="1412776"/>
          <a:ext cx="9588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Equation" r:id="rId1" imgW="11277600" imgH="5486400" progId="Equation.DSMT4">
                  <p:embed/>
                </p:oleObj>
              </mc:Choice>
              <mc:Fallback>
                <p:oleObj name="Equation" r:id="rId1" imgW="11277600" imgH="5486400" progId="Equation.DSMT4">
                  <p:embed/>
                  <p:pic>
                    <p:nvPicPr>
                      <p:cNvPr id="0" name="图片 297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5358" y="1412776"/>
                        <a:ext cx="9588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43" y="1916832"/>
            <a:ext cx="6359909" cy="4788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  <a:endParaRPr lang="en-US" altLang="zh-CN" dirty="0"/>
          </a:p>
          <a:p>
            <a:pPr lvl="1"/>
            <a:r>
              <a:rPr lang="zh-CN" altLang="en-US" dirty="0"/>
              <a:t>判别</a:t>
            </a:r>
            <a:r>
              <a:rPr lang="zh-CN" altLang="en-US" dirty="0" smtClean="0"/>
              <a:t>测试样本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2">
              <a:spcBef>
                <a:spcPts val="1800"/>
              </a:spcBef>
            </a:pPr>
            <a:r>
              <a:rPr lang="en-US" altLang="zh-CN" dirty="0" smtClean="0"/>
              <a:t>                            </a:t>
            </a:r>
            <a:r>
              <a:rPr lang="zh-CN" altLang="en-US" dirty="0" smtClean="0"/>
              <a:t>，判别为好瓜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116" y="1985764"/>
            <a:ext cx="6972300" cy="2019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149080"/>
            <a:ext cx="2552000" cy="396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zh-CN" altLang="en-US" dirty="0" smtClean="0"/>
              <a:t>半</a:t>
            </a:r>
            <a:r>
              <a:rPr lang="zh-CN" altLang="en-US" dirty="0"/>
              <a:t>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en-US" altLang="zh-CN" dirty="0" smtClean="0"/>
          </a:p>
          <a:p>
            <a:pPr lvl="1"/>
            <a:r>
              <a:rPr lang="zh-CN" altLang="en-US" dirty="0"/>
              <a:t>朴素贝叶斯分类器</a:t>
            </a:r>
            <a:r>
              <a:rPr lang="zh-CN" altLang="en-US" dirty="0" smtClean="0"/>
              <a:t>的属性</a:t>
            </a:r>
            <a:r>
              <a:rPr lang="zh-CN" altLang="en-US" dirty="0"/>
              <a:t>独立性</a:t>
            </a:r>
            <a:r>
              <a:rPr lang="zh-CN" altLang="en-US" dirty="0" smtClean="0"/>
              <a:t>假设在</a:t>
            </a:r>
            <a:r>
              <a:rPr lang="zh-CN" altLang="en-US" dirty="0"/>
              <a:t>现实中往往难以成立</a:t>
            </a:r>
            <a:endParaRPr lang="zh-CN" altLang="en-US" dirty="0"/>
          </a:p>
          <a:p>
            <a:r>
              <a:rPr lang="zh-CN" altLang="en-US" dirty="0"/>
              <a:t>基本</a:t>
            </a:r>
            <a:r>
              <a:rPr lang="zh-CN" altLang="en-US" dirty="0" smtClean="0"/>
              <a:t>思路</a:t>
            </a:r>
            <a:endParaRPr lang="en-US" altLang="zh-CN" dirty="0" smtClean="0"/>
          </a:p>
          <a:p>
            <a:pPr lvl="1"/>
            <a:r>
              <a:rPr lang="zh-CN" altLang="en-US" dirty="0"/>
              <a:t>适当考虑一部分属性间的相互依赖信息</a:t>
            </a:r>
            <a:endParaRPr lang="zh-CN" altLang="en-US" dirty="0"/>
          </a:p>
          <a:p>
            <a:pPr lvl="2"/>
            <a:r>
              <a:rPr lang="zh-CN" altLang="en-US" dirty="0" smtClean="0"/>
              <a:t>不</a:t>
            </a:r>
            <a:r>
              <a:rPr lang="zh-CN" altLang="en-US" dirty="0"/>
              <a:t>需进行完全联合概率</a:t>
            </a:r>
            <a:r>
              <a:rPr lang="zh-CN" altLang="en-US" dirty="0" smtClean="0"/>
              <a:t>计算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不会彻底忽略比</a:t>
            </a:r>
            <a:r>
              <a:rPr lang="zh-CN" altLang="en-US" dirty="0"/>
              <a:t>较强的属性依赖</a:t>
            </a:r>
            <a:r>
              <a:rPr lang="zh-CN" altLang="en-US" dirty="0" smtClean="0"/>
              <a:t>关系</a:t>
            </a:r>
            <a:endParaRPr lang="en-US" altLang="zh-CN" dirty="0" smtClean="0"/>
          </a:p>
          <a:p>
            <a:r>
              <a:rPr lang="zh-CN" altLang="en-US" dirty="0" smtClean="0"/>
              <a:t>独</a:t>
            </a:r>
            <a:r>
              <a:rPr lang="zh-CN" altLang="en-US" dirty="0"/>
              <a:t>依赖</a:t>
            </a:r>
            <a:r>
              <a:rPr lang="zh-CN" altLang="en-US" dirty="0" smtClean="0"/>
              <a:t>估计</a:t>
            </a:r>
            <a:r>
              <a:rPr lang="en-US" altLang="zh-CN" dirty="0">
                <a:latin typeface="+mn-ea"/>
              </a:rPr>
              <a:t>(ODE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/>
              <a:t>最常用的一种策略</a:t>
            </a:r>
            <a:endParaRPr lang="zh-CN" altLang="en-US" dirty="0"/>
          </a:p>
          <a:p>
            <a:pPr lvl="1"/>
            <a:r>
              <a:rPr lang="zh-CN" altLang="en-US" dirty="0"/>
              <a:t>每个属性在</a:t>
            </a:r>
            <a:r>
              <a:rPr lang="zh-CN" altLang="en-US" dirty="0" smtClean="0"/>
              <a:t>类别外仅依赖</a:t>
            </a:r>
            <a:r>
              <a:rPr lang="zh-CN" altLang="en-US" dirty="0"/>
              <a:t>一个其他</a:t>
            </a:r>
            <a:r>
              <a:rPr lang="zh-CN" altLang="en-US" dirty="0" smtClean="0"/>
              <a:t>属性，即</a:t>
            </a:r>
            <a:endParaRPr lang="zh-CN" altLang="en-US" dirty="0"/>
          </a:p>
          <a:p>
            <a:pPr lvl="1"/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   为属性  所</a:t>
            </a:r>
            <a:r>
              <a:rPr lang="zh-CN" altLang="en-US" dirty="0">
                <a:latin typeface="+mn-ea"/>
              </a:rPr>
              <a:t>依赖的属性，</a:t>
            </a:r>
            <a:r>
              <a:rPr lang="zh-CN" altLang="en-US" dirty="0" smtClean="0">
                <a:latin typeface="+mn-ea"/>
              </a:rPr>
              <a:t>称为  的父属性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问题的关键转化为如何</a:t>
            </a:r>
            <a:r>
              <a:rPr lang="zh-CN" altLang="en-US" dirty="0">
                <a:latin typeface="+mn-ea"/>
              </a:rPr>
              <a:t>确定父</a:t>
            </a:r>
            <a:r>
              <a:rPr lang="zh-CN" altLang="en-US" dirty="0" smtClean="0">
                <a:latin typeface="+mn-ea"/>
              </a:rPr>
              <a:t>属性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不同的做法产生不同的独依赖分类器</a:t>
            </a:r>
            <a:endParaRPr lang="en-US" altLang="zh-CN" dirty="0" smtClean="0">
              <a:latin typeface="+mn-ea"/>
            </a:endParaRPr>
          </a:p>
          <a:p>
            <a:pPr lvl="5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771800" y="5157192"/>
          <a:ext cx="37068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0" name="Equation" r:id="rId1" imgW="43586400" imgH="7010400" progId="Equation.DSMT4">
                  <p:embed/>
                </p:oleObj>
              </mc:Choice>
              <mc:Fallback>
                <p:oleObj name="Equation" r:id="rId1" imgW="43586400" imgH="7010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5157192"/>
                        <a:ext cx="37068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19635" y="5589240"/>
          <a:ext cx="4921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1" name="Equation" r:id="rId3" imgW="5791200" imgH="5486400" progId="Equation.DSMT4">
                  <p:embed/>
                </p:oleObj>
              </mc:Choice>
              <mc:Fallback>
                <p:oleObj name="Equation" r:id="rId3" imgW="57912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635" y="5589240"/>
                        <a:ext cx="4921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324746" y="5589588"/>
          <a:ext cx="3111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2" name="Equation" r:id="rId5" imgW="3657600" imgH="5486400" progId="Equation.DSMT4">
                  <p:embed/>
                </p:oleObj>
              </mc:Choice>
              <mc:Fallback>
                <p:oleObj name="Equation" r:id="rId5" imgW="3657600" imgH="5486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746" y="5589588"/>
                        <a:ext cx="3111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21090" y="5589240"/>
          <a:ext cx="3111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3" name="Equation" r:id="rId7" imgW="152400" imgH="228600" progId="Equation.DSMT4">
                  <p:embed/>
                </p:oleObj>
              </mc:Choice>
              <mc:Fallback>
                <p:oleObj name="Equation" r:id="rId7" imgW="152400" imgH="2286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090" y="5589240"/>
                        <a:ext cx="3111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12" b="23942"/>
          <a:stretch>
            <a:fillRect/>
          </a:stretch>
        </p:blipFill>
        <p:spPr bwMode="auto">
          <a:xfrm>
            <a:off x="5827248" y="554987"/>
            <a:ext cx="3292696" cy="127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7.4 </a:t>
            </a:r>
            <a:r>
              <a:rPr lang="zh-CN" altLang="en-US" dirty="0"/>
              <a:t>半朴素贝叶斯分类器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836712"/>
            <a:ext cx="7772400" cy="4690864"/>
          </a:xfrm>
        </p:spPr>
        <p:txBody>
          <a:bodyPr/>
          <a:lstStyle/>
          <a:p>
            <a:r>
              <a:rPr lang="zh-CN" altLang="en-US" dirty="0" smtClean="0">
                <a:latin typeface="+mn-ea"/>
              </a:rPr>
              <a:t>确定父属性的方法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SPODE (Super-Parent ODE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假设所有属性都依赖于同一属性，</a:t>
            </a:r>
            <a:r>
              <a:rPr lang="zh-CN" altLang="en-US" dirty="0" smtClean="0">
                <a:latin typeface="+mn-ea"/>
              </a:rPr>
              <a:t>称为超</a:t>
            </a:r>
            <a:r>
              <a:rPr lang="zh-CN" altLang="en-US" dirty="0" smtClean="0">
                <a:latin typeface="+mn-ea"/>
              </a:rPr>
              <a:t>父，</a:t>
            </a:r>
            <a:r>
              <a:rPr lang="zh-CN" altLang="en-US" dirty="0" smtClean="0">
                <a:latin typeface="+mn-ea"/>
              </a:rPr>
              <a:t>然后</a:t>
            </a:r>
            <a:r>
              <a:rPr lang="zh-CN" altLang="en-US" dirty="0">
                <a:latin typeface="+mn-ea"/>
              </a:rPr>
              <a:t>通过交叉验证等模型选择</a:t>
            </a:r>
            <a:r>
              <a:rPr lang="zh-CN" altLang="en-US" dirty="0" smtClean="0">
                <a:latin typeface="+mn-ea"/>
              </a:rPr>
              <a:t>方法确定</a:t>
            </a:r>
            <a:r>
              <a:rPr lang="zh-CN" altLang="en-US" dirty="0">
                <a:latin typeface="+mn-ea"/>
              </a:rPr>
              <a:t>超父</a:t>
            </a:r>
            <a:r>
              <a:rPr lang="zh-CN" altLang="en-US" dirty="0" smtClean="0">
                <a:latin typeface="+mn-ea"/>
              </a:rPr>
              <a:t>属性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TAN </a:t>
            </a:r>
            <a:r>
              <a:rPr lang="en-US" altLang="zh-CN" dirty="0" smtClean="0">
                <a:latin typeface="+mn-ea"/>
              </a:rPr>
              <a:t>(</a:t>
            </a:r>
            <a:r>
              <a:rPr lang="en-US" altLang="zh-CN" dirty="0">
                <a:latin typeface="+mn-ea"/>
              </a:rPr>
              <a:t>Tree Augmented naïve Bayes)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利用最大带权生成</a:t>
            </a:r>
            <a:r>
              <a:rPr lang="zh-CN" altLang="en-US" dirty="0" smtClean="0">
                <a:latin typeface="+mn-ea"/>
              </a:rPr>
              <a:t>树将</a:t>
            </a:r>
            <a:r>
              <a:rPr lang="zh-CN" altLang="en-US" dirty="0">
                <a:latin typeface="+mn-ea"/>
              </a:rPr>
              <a:t>属性间依赖</a:t>
            </a:r>
            <a:r>
              <a:rPr lang="zh-CN" altLang="en-US" dirty="0" smtClean="0">
                <a:latin typeface="+mn-ea"/>
              </a:rPr>
              <a:t>关系约简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步骤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(1)</a:t>
            </a:r>
            <a:r>
              <a:rPr lang="zh-CN" altLang="en-US" dirty="0">
                <a:latin typeface="+mn-ea"/>
              </a:rPr>
              <a:t>计算任意两个属性之间的条件</a:t>
            </a:r>
            <a:r>
              <a:rPr lang="zh-CN" altLang="en-US" dirty="0" smtClean="0">
                <a:latin typeface="+mn-ea"/>
              </a:rPr>
              <a:t>互信息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r>
              <a:rPr lang="en-US" altLang="zh-CN" dirty="0" smtClean="0">
                <a:latin typeface="+mn-ea"/>
              </a:rPr>
              <a:t>(</a:t>
            </a:r>
            <a:r>
              <a:rPr lang="en-US" altLang="zh-CN" dirty="0">
                <a:latin typeface="+mn-ea"/>
              </a:rPr>
              <a:t>2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属性</a:t>
            </a:r>
            <a:r>
              <a:rPr lang="zh-CN" altLang="en-US" dirty="0">
                <a:latin typeface="+mn-ea"/>
              </a:rPr>
              <a:t>为结点构建完全图</a:t>
            </a:r>
            <a:r>
              <a:rPr lang="zh-CN" altLang="en-US" dirty="0" smtClean="0">
                <a:latin typeface="+mn-ea"/>
              </a:rPr>
              <a:t>，两结点边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 smtClean="0">
                <a:latin typeface="+mn-ea"/>
              </a:rPr>
              <a:t>权重为</a:t>
            </a:r>
            <a:endParaRPr lang="en-US" altLang="zh-CN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(3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求最大</a:t>
            </a:r>
            <a:r>
              <a:rPr lang="zh-CN" altLang="en-US" dirty="0">
                <a:latin typeface="+mn-ea"/>
              </a:rPr>
              <a:t>带权生成树</a:t>
            </a:r>
            <a:r>
              <a:rPr lang="zh-CN" altLang="en-US" dirty="0" smtClean="0">
                <a:latin typeface="+mn-ea"/>
              </a:rPr>
              <a:t>，选</a:t>
            </a:r>
            <a:r>
              <a:rPr lang="zh-CN" altLang="en-US" dirty="0">
                <a:latin typeface="+mn-ea"/>
              </a:rPr>
              <a:t>根变量，将边置为有</a:t>
            </a:r>
            <a:r>
              <a:rPr lang="zh-CN" altLang="en-US" dirty="0" smtClean="0">
                <a:latin typeface="+mn-ea"/>
              </a:rPr>
              <a:t>向</a:t>
            </a:r>
            <a:endParaRPr lang="en-US" altLang="zh-CN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(4)</a:t>
            </a:r>
            <a:r>
              <a:rPr lang="zh-CN" altLang="en-US" dirty="0">
                <a:latin typeface="+mn-ea"/>
              </a:rPr>
              <a:t>加入类别</a:t>
            </a:r>
            <a:r>
              <a:rPr lang="zh-CN" altLang="en-US" dirty="0" smtClean="0">
                <a:latin typeface="+mn-ea"/>
              </a:rPr>
              <a:t>结点</a:t>
            </a:r>
            <a:r>
              <a:rPr lang="en-US" altLang="zh-CN" dirty="0" smtClean="0">
                <a:latin typeface="+mn-ea"/>
              </a:rPr>
              <a:t>y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增加</a:t>
            </a:r>
            <a:r>
              <a:rPr lang="zh-CN" altLang="en-US" dirty="0" smtClean="0">
                <a:latin typeface="+mn-ea"/>
              </a:rPr>
              <a:t>从</a:t>
            </a:r>
            <a:r>
              <a:rPr lang="en-US" altLang="zh-CN" dirty="0" smtClean="0">
                <a:latin typeface="+mn-ea"/>
              </a:rPr>
              <a:t>y</a:t>
            </a:r>
            <a:r>
              <a:rPr lang="zh-CN" altLang="en-US" dirty="0" smtClean="0">
                <a:latin typeface="+mn-ea"/>
              </a:rPr>
              <a:t>到</a:t>
            </a:r>
            <a:r>
              <a:rPr lang="zh-CN" altLang="en-US" dirty="0">
                <a:latin typeface="+mn-ea"/>
              </a:rPr>
              <a:t>每个属性的有向</a:t>
            </a:r>
            <a:r>
              <a:rPr lang="zh-CN" altLang="en-US" dirty="0" smtClean="0">
                <a:latin typeface="+mn-ea"/>
              </a:rPr>
              <a:t>边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条件互信息刻画了属性在已知类别情况下的相关性，最大生成树仅保留强相关属性间的依赖性</a:t>
            </a:r>
            <a:endParaRPr lang="en-US" altLang="zh-CN" dirty="0">
              <a:latin typeface="+mn-ea"/>
            </a:endParaRPr>
          </a:p>
          <a:p>
            <a:pPr lvl="3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55776" y="4031383"/>
          <a:ext cx="494823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0" name="Equation" r:id="rId2" imgW="66446400" imgH="11277600" progId="Equation.DSMT4">
                  <p:embed/>
                </p:oleObj>
              </mc:Choice>
              <mc:Fallback>
                <p:oleObj name="Equation" r:id="rId2" imgW="66446400" imgH="11277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031383"/>
                        <a:ext cx="4948237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424650" y="4902411"/>
          <a:ext cx="1134868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1" name="Equation" r:id="rId4" imgW="635000" imgH="241300" progId="Equation.DSMT4">
                  <p:embed/>
                </p:oleObj>
              </mc:Choice>
              <mc:Fallback>
                <p:oleObj name="Equation" r:id="rId4" imgW="635000" imgH="2413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650" y="4902411"/>
                        <a:ext cx="1134868" cy="4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35" b="23942"/>
          <a:stretch>
            <a:fillRect/>
          </a:stretch>
        </p:blipFill>
        <p:spPr bwMode="auto">
          <a:xfrm>
            <a:off x="172418" y="3813270"/>
            <a:ext cx="1647427" cy="127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cover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7.4 </a:t>
            </a:r>
            <a:r>
              <a:rPr lang="zh-CN" altLang="en-US" dirty="0"/>
              <a:t>半朴素贝叶斯分类器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确定父属性的方法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AODE(Averaged </a:t>
            </a:r>
            <a:r>
              <a:rPr lang="en-US" altLang="zh-CN" dirty="0">
                <a:latin typeface="+mn-ea"/>
              </a:rPr>
              <a:t>One-Dependent Estimator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将</a:t>
            </a:r>
            <a:r>
              <a:rPr lang="zh-CN" altLang="en-US" dirty="0">
                <a:latin typeface="+mn-ea"/>
              </a:rPr>
              <a:t>每个属性作为超父</a:t>
            </a:r>
            <a:r>
              <a:rPr lang="zh-CN" altLang="en-US" dirty="0" smtClean="0">
                <a:latin typeface="+mn-ea"/>
              </a:rPr>
              <a:t>构建</a:t>
            </a:r>
            <a:r>
              <a:rPr lang="en-US" altLang="zh-CN" dirty="0" smtClean="0">
                <a:latin typeface="+mn-ea"/>
              </a:rPr>
              <a:t>SPODE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基于集成学习</a:t>
            </a:r>
            <a:r>
              <a:rPr lang="zh-CN" altLang="en-US" dirty="0" smtClean="0">
                <a:latin typeface="+mn-ea"/>
              </a:rPr>
              <a:t>机制，将</a:t>
            </a:r>
            <a:r>
              <a:rPr lang="zh-CN" altLang="en-US" dirty="0">
                <a:latin typeface="+mn-ea"/>
              </a:rPr>
              <a:t>拥有足够训练数据支撑</a:t>
            </a:r>
            <a:r>
              <a:rPr lang="zh-CN" altLang="en-US" dirty="0" smtClean="0">
                <a:latin typeface="+mn-ea"/>
              </a:rPr>
              <a:t>的</a:t>
            </a:r>
            <a:r>
              <a:rPr lang="en-US" altLang="zh-CN" dirty="0" smtClean="0">
                <a:latin typeface="+mn-ea"/>
              </a:rPr>
              <a:t>SPODE</a:t>
            </a:r>
            <a:r>
              <a:rPr lang="zh-CN" altLang="en-US" dirty="0" smtClean="0">
                <a:latin typeface="+mn-ea"/>
              </a:rPr>
              <a:t>集成</a:t>
            </a:r>
            <a:r>
              <a:rPr lang="zh-CN" altLang="en-US" dirty="0">
                <a:latin typeface="+mn-ea"/>
              </a:rPr>
              <a:t>起来作为最终</a:t>
            </a:r>
            <a:r>
              <a:rPr lang="zh-CN" altLang="en-US" dirty="0" smtClean="0">
                <a:latin typeface="+mn-ea"/>
              </a:rPr>
              <a:t>结果，即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3">
              <a:spcBef>
                <a:spcPts val="1800"/>
              </a:spcBef>
            </a:pPr>
            <a:r>
              <a:rPr lang="zh-CN" altLang="en-US" dirty="0" smtClean="0">
                <a:latin typeface="+mn-ea"/>
              </a:rPr>
              <a:t>   是</a:t>
            </a:r>
            <a:r>
              <a:rPr lang="zh-CN" altLang="en-US" dirty="0">
                <a:latin typeface="+mn-ea"/>
              </a:rPr>
              <a:t>在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err="1" smtClean="0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个属性</a:t>
            </a:r>
            <a:r>
              <a:rPr lang="zh-CN" altLang="en-US" dirty="0">
                <a:latin typeface="+mn-ea"/>
              </a:rPr>
              <a:t>上取值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的样本集合，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为阈值</a:t>
            </a:r>
            <a:endParaRPr lang="en-US" altLang="zh-CN" dirty="0" smtClean="0">
              <a:latin typeface="+mn-ea"/>
            </a:endParaRPr>
          </a:p>
          <a:p>
            <a:pPr lvl="3">
              <a:spcBef>
                <a:spcPts val="1800"/>
              </a:spcBef>
            </a:pPr>
            <a:endParaRPr lang="en-US" altLang="zh-CN" dirty="0">
              <a:latin typeface="+mn-ea"/>
            </a:endParaRPr>
          </a:p>
          <a:p>
            <a:pPr lvl="3">
              <a:spcBef>
                <a:spcPts val="1800"/>
              </a:spcBef>
            </a:pPr>
            <a:r>
              <a:rPr lang="zh-CN" altLang="en-US" dirty="0" smtClean="0">
                <a:latin typeface="+mn-ea"/>
              </a:rPr>
              <a:t>  是第</a:t>
            </a:r>
            <a:r>
              <a:rPr lang="en-US" altLang="zh-CN" dirty="0" smtClean="0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属性可能的取值数</a:t>
            </a:r>
            <a:r>
              <a:rPr lang="zh-CN" altLang="en-US" dirty="0" smtClean="0">
                <a:latin typeface="+mn-ea"/>
              </a:rPr>
              <a:t>，    是</a:t>
            </a:r>
            <a:r>
              <a:rPr lang="zh-CN" altLang="en-US" dirty="0">
                <a:latin typeface="+mn-ea"/>
              </a:rPr>
              <a:t>类别为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且在第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和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smtClean="0">
                <a:latin typeface="+mn-ea"/>
              </a:rPr>
              <a:t>j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属性上取值分别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和  的</a:t>
            </a:r>
            <a:r>
              <a:rPr lang="zh-CN" altLang="en-US" dirty="0">
                <a:latin typeface="+mn-ea"/>
              </a:rPr>
              <a:t>样本</a:t>
            </a:r>
            <a:r>
              <a:rPr lang="zh-CN" altLang="en-US" dirty="0" smtClean="0">
                <a:latin typeface="+mn-ea"/>
              </a:rPr>
              <a:t>集合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特点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训练</a:t>
            </a:r>
            <a:r>
              <a:rPr lang="zh-CN" altLang="en-US" dirty="0">
                <a:latin typeface="+mn-ea"/>
              </a:rPr>
              <a:t>过程也</a:t>
            </a:r>
            <a:r>
              <a:rPr lang="zh-CN" altLang="en-US" dirty="0" smtClean="0">
                <a:latin typeface="+mn-ea"/>
              </a:rPr>
              <a:t>是计数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无需</a:t>
            </a:r>
            <a:r>
              <a:rPr lang="zh-CN" altLang="en-US" dirty="0">
                <a:latin typeface="+mn-ea"/>
              </a:rPr>
              <a:t>模型</a:t>
            </a:r>
            <a:r>
              <a:rPr lang="zh-CN" altLang="en-US" dirty="0" smtClean="0">
                <a:latin typeface="+mn-ea"/>
              </a:rPr>
              <a:t>选择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能</a:t>
            </a:r>
            <a:r>
              <a:rPr lang="zh-CN" altLang="en-US" dirty="0">
                <a:latin typeface="+mn-ea"/>
              </a:rPr>
              <a:t>通过预计算节省预测时间，也能采取懒惰</a:t>
            </a:r>
            <a:r>
              <a:rPr lang="zh-CN" altLang="en-US" dirty="0" smtClean="0">
                <a:latin typeface="+mn-ea"/>
              </a:rPr>
              <a:t>学习方式，也易于</a:t>
            </a:r>
            <a:r>
              <a:rPr lang="zh-CN" altLang="en-US" dirty="0">
                <a:latin typeface="+mn-ea"/>
              </a:rPr>
              <a:t>实现增量</a:t>
            </a:r>
            <a:r>
              <a:rPr lang="zh-CN" altLang="en-US" dirty="0" smtClean="0">
                <a:latin typeface="+mn-ea"/>
              </a:rPr>
              <a:t>学习</a:t>
            </a:r>
            <a:endParaRPr lang="zh-CN" altLang="en-US" dirty="0">
              <a:latin typeface="+mn-ea"/>
            </a:endParaRPr>
          </a:p>
          <a:p>
            <a:pPr lvl="4">
              <a:spcBef>
                <a:spcPts val="1200"/>
              </a:spcBef>
            </a:pPr>
            <a:endParaRPr lang="en-US" altLang="zh-CN" dirty="0" smtClean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34679" y="2852936"/>
          <a:ext cx="487362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4" name="Equation" r:id="rId1" imgW="57302400" imgH="8534400" progId="Equation.DSMT4">
                  <p:embed/>
                </p:oleObj>
              </mc:Choice>
              <mc:Fallback>
                <p:oleObj name="Equation" r:id="rId1" imgW="57302400" imgH="8534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679" y="2852936"/>
                        <a:ext cx="4873625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30381" y="3501008"/>
          <a:ext cx="341419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5" name="Equation" r:id="rId3" imgW="5486400" imgH="5791200" progId="Equation.DSMT4">
                  <p:embed/>
                </p:oleObj>
              </mc:Choice>
              <mc:Fallback>
                <p:oleObj name="Equation" r:id="rId3" imgW="5486400" imgH="5791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381" y="3501008"/>
                        <a:ext cx="341419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436096" y="3465048"/>
          <a:ext cx="263386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6" name="Equation" r:id="rId5" imgW="3657600" imgH="5486400" progId="Equation.DSMT4">
                  <p:embed/>
                </p:oleObj>
              </mc:Choice>
              <mc:Fallback>
                <p:oleObj name="Equation" r:id="rId5" imgW="36576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465048"/>
                        <a:ext cx="263386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236296" y="3501008"/>
          <a:ext cx="328613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7" name="Equation" r:id="rId7" imgW="4572000" imgH="4267200" progId="Equation.DSMT4">
                  <p:embed/>
                </p:oleObj>
              </mc:Choice>
              <mc:Fallback>
                <p:oleObj name="Equation" r:id="rId7" imgW="4572000" imgH="42672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3501008"/>
                        <a:ext cx="328613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341141" y="3717032"/>
          <a:ext cx="5051308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8" name="Equation" r:id="rId9" imgW="60960000" imgH="11277600" progId="Equation.DSMT4">
                  <p:embed/>
                </p:oleObj>
              </mc:Choice>
              <mc:Fallback>
                <p:oleObj name="Equation" r:id="rId9" imgW="60960000" imgH="11277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141" y="3717032"/>
                        <a:ext cx="5051308" cy="93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384451" y="4565402"/>
          <a:ext cx="29877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9" name="Equation" r:id="rId11" imgW="4572000" imgH="5486400" progId="Equation.DSMT4">
                  <p:embed/>
                </p:oleObj>
              </mc:Choice>
              <mc:Fallback>
                <p:oleObj name="Equation" r:id="rId11" imgW="4572000" imgH="54864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51" y="4565402"/>
                        <a:ext cx="298775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868144" y="4545168"/>
          <a:ext cx="631862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0" name="Equation" r:id="rId13" imgW="9753600" imgH="6096000" progId="Equation.DSMT4">
                  <p:embed/>
                </p:oleObj>
              </mc:Choice>
              <mc:Fallback>
                <p:oleObj name="Equation" r:id="rId13" imgW="9753600" imgH="60960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4545168"/>
                        <a:ext cx="631862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436096" y="4833913"/>
          <a:ext cx="2635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1" name="Equation" r:id="rId15" imgW="3657600" imgH="5486400" progId="Equation.DSMT4">
                  <p:embed/>
                </p:oleObj>
              </mc:Choice>
              <mc:Fallback>
                <p:oleObj name="Equation" r:id="rId15" imgW="36576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4833913"/>
                        <a:ext cx="2635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953125" y="4822825"/>
          <a:ext cx="2857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2" name="Equation" r:id="rId16" imgW="3962400" imgH="5791200" progId="Equation.DSMT4">
                  <p:embed/>
                </p:oleObj>
              </mc:Choice>
              <mc:Fallback>
                <p:oleObj name="Equation" r:id="rId16" imgW="3962400" imgH="57912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4822825"/>
                        <a:ext cx="2857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7.4 </a:t>
            </a:r>
            <a:r>
              <a:rPr lang="zh-CN" altLang="en-US" dirty="0"/>
              <a:t>半朴素贝叶斯分类器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高</a:t>
            </a:r>
            <a:r>
              <a:rPr lang="zh-CN" altLang="en-US" dirty="0"/>
              <a:t>阶</a:t>
            </a:r>
            <a:r>
              <a:rPr lang="zh-CN" altLang="en-US" dirty="0" smtClean="0"/>
              <a:t>依赖</a:t>
            </a:r>
            <a:endParaRPr lang="en-US" altLang="zh-CN" dirty="0" smtClean="0"/>
          </a:p>
          <a:p>
            <a:pPr lvl="1"/>
            <a:r>
              <a:rPr lang="zh-CN" altLang="en-US" dirty="0"/>
              <a:t>放松</a:t>
            </a:r>
            <a:r>
              <a:rPr lang="zh-CN" altLang="en-US" dirty="0" smtClean="0"/>
              <a:t>属性</a:t>
            </a:r>
            <a:r>
              <a:rPr lang="zh-CN" altLang="en-US" dirty="0"/>
              <a:t>条件独立性</a:t>
            </a:r>
            <a:r>
              <a:rPr lang="zh-CN" altLang="en-US" dirty="0" smtClean="0"/>
              <a:t>假设可使独</a:t>
            </a:r>
            <a:r>
              <a:rPr lang="zh-CN" altLang="en-US" dirty="0"/>
              <a:t>依赖</a:t>
            </a:r>
            <a:r>
              <a:rPr lang="zh-CN" altLang="en-US" dirty="0" smtClean="0"/>
              <a:t>假设的泛化性能提升</a:t>
            </a:r>
            <a:endParaRPr lang="en-US" altLang="zh-CN" dirty="0" smtClean="0"/>
          </a:p>
          <a:p>
            <a:pPr lvl="2"/>
            <a:r>
              <a:rPr lang="zh-CN" altLang="en-US" dirty="0" smtClean="0">
                <a:latin typeface="+mn-ea"/>
              </a:rPr>
              <a:t>能否</a:t>
            </a:r>
            <a:r>
              <a:rPr lang="zh-CN" altLang="en-US" dirty="0">
                <a:latin typeface="+mn-ea"/>
              </a:rPr>
              <a:t>通过考虑属性间的高阶依赖来进一步提升泛化</a:t>
            </a:r>
            <a:r>
              <a:rPr lang="zh-CN" altLang="en-US" dirty="0" smtClean="0">
                <a:latin typeface="+mn-ea"/>
              </a:rPr>
              <a:t>性能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如</a:t>
            </a:r>
            <a:r>
              <a:rPr lang="zh-CN" altLang="en-US" dirty="0">
                <a:latin typeface="+mn-ea"/>
              </a:rPr>
              <a:t>将</a:t>
            </a:r>
            <a:r>
              <a:rPr lang="en-US" altLang="zh-CN" dirty="0">
                <a:latin typeface="+mn-ea"/>
              </a:rPr>
              <a:t>ODE</a:t>
            </a:r>
            <a:r>
              <a:rPr lang="zh-CN" altLang="en-US" dirty="0">
                <a:latin typeface="+mn-ea"/>
              </a:rPr>
              <a:t>拓展为</a:t>
            </a:r>
            <a:r>
              <a:rPr lang="en-US" altLang="zh-CN" dirty="0" err="1" smtClean="0">
                <a:latin typeface="+mn-ea"/>
              </a:rPr>
              <a:t>kDE</a:t>
            </a:r>
            <a:r>
              <a:rPr lang="zh-CN" altLang="en-US" dirty="0">
                <a:latin typeface="+mn-ea"/>
              </a:rPr>
              <a:t>，将父</a:t>
            </a:r>
            <a:r>
              <a:rPr lang="zh-CN" altLang="en-US" dirty="0" smtClean="0">
                <a:latin typeface="+mn-ea"/>
              </a:rPr>
              <a:t>属性</a:t>
            </a:r>
            <a:r>
              <a:rPr lang="en-US" altLang="zh-CN" dirty="0" smtClean="0">
                <a:latin typeface="+mn-ea"/>
              </a:rPr>
              <a:t>   </a:t>
            </a:r>
            <a:r>
              <a:rPr lang="zh-CN" altLang="en-US" dirty="0" smtClean="0">
                <a:latin typeface="+mn-ea"/>
              </a:rPr>
              <a:t>替换</a:t>
            </a:r>
            <a:r>
              <a:rPr lang="zh-CN" altLang="en-US" dirty="0">
                <a:latin typeface="+mn-ea"/>
              </a:rPr>
              <a:t>为包含</a:t>
            </a:r>
            <a:r>
              <a:rPr lang="en-US" altLang="zh-CN" dirty="0">
                <a:latin typeface="+mn-ea"/>
              </a:rPr>
              <a:t>k</a:t>
            </a:r>
            <a:r>
              <a:rPr lang="zh-CN" altLang="en-US" dirty="0">
                <a:latin typeface="+mn-ea"/>
              </a:rPr>
              <a:t>个属性的</a:t>
            </a:r>
            <a:r>
              <a:rPr lang="zh-CN" altLang="en-US" dirty="0" smtClean="0">
                <a:latin typeface="+mn-ea"/>
              </a:rPr>
              <a:t>集合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随着</a:t>
            </a:r>
            <a:r>
              <a:rPr lang="en-US" altLang="zh-CN" dirty="0">
                <a:latin typeface="+mn-ea"/>
              </a:rPr>
              <a:t>k</a:t>
            </a:r>
            <a:r>
              <a:rPr lang="zh-CN" altLang="en-US" dirty="0">
                <a:latin typeface="+mn-ea"/>
              </a:rPr>
              <a:t>的增加，准确估计</a:t>
            </a:r>
            <a:r>
              <a:rPr lang="zh-CN" altLang="en-US" dirty="0" smtClean="0">
                <a:latin typeface="+mn-ea"/>
              </a:rPr>
              <a:t>概率</a:t>
            </a:r>
            <a:r>
              <a:rPr lang="en-US" altLang="zh-CN" dirty="0" smtClean="0">
                <a:latin typeface="+mn-ea"/>
              </a:rPr>
              <a:t>          </a:t>
            </a:r>
            <a:r>
              <a:rPr lang="zh-CN" altLang="en-US" dirty="0" smtClean="0">
                <a:latin typeface="+mn-ea"/>
              </a:rPr>
              <a:t>所</a:t>
            </a:r>
            <a:r>
              <a:rPr lang="zh-CN" altLang="en-US" dirty="0">
                <a:latin typeface="+mn-ea"/>
              </a:rPr>
              <a:t>需的训练样本数量将以指数级</a:t>
            </a:r>
            <a:r>
              <a:rPr lang="zh-CN" altLang="en-US" dirty="0" smtClean="0">
                <a:latin typeface="+mn-ea"/>
              </a:rPr>
              <a:t>增加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若训练</a:t>
            </a:r>
            <a:r>
              <a:rPr lang="zh-CN" altLang="en-US" dirty="0">
                <a:latin typeface="+mn-ea"/>
              </a:rPr>
              <a:t>数据非常充分，泛化性能有可能</a:t>
            </a:r>
            <a:r>
              <a:rPr lang="zh-CN" altLang="en-US" dirty="0" smtClean="0">
                <a:latin typeface="+mn-ea"/>
              </a:rPr>
              <a:t>提升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有限</a:t>
            </a:r>
            <a:r>
              <a:rPr lang="zh-CN" altLang="en-US" dirty="0">
                <a:latin typeface="+mn-ea"/>
              </a:rPr>
              <a:t>样本条件下，高阶联合概率估计</a:t>
            </a:r>
            <a:r>
              <a:rPr lang="zh-CN" altLang="en-US" dirty="0" smtClean="0">
                <a:latin typeface="+mn-ea"/>
              </a:rPr>
              <a:t>困难</a:t>
            </a:r>
            <a:endParaRPr lang="en-US" altLang="zh-CN" dirty="0" smtClean="0">
              <a:latin typeface="+mn-ea"/>
            </a:endParaRPr>
          </a:p>
          <a:p>
            <a:pPr lvl="5">
              <a:spcBef>
                <a:spcPts val="0"/>
              </a:spcBef>
            </a:pPr>
            <a:r>
              <a:rPr lang="zh-CN" altLang="en-US" dirty="0">
                <a:latin typeface="+mn-ea"/>
              </a:rPr>
              <a:t>考虑属性间的高阶依赖，需要其他办法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740817" y="2924944"/>
          <a:ext cx="415359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9" name="Equation" r:id="rId1" imgW="5791200" imgH="5486400" progId="Equation.DSMT4">
                  <p:embed/>
                </p:oleObj>
              </mc:Choice>
              <mc:Fallback>
                <p:oleObj name="Equation" r:id="rId1" imgW="5791200" imgH="54864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817" y="2924944"/>
                        <a:ext cx="415359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138488" y="3213100"/>
          <a:ext cx="4365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" name="Equation" r:id="rId3" imgW="6096000" imgH="5486400" progId="Equation.DSMT4">
                  <p:embed/>
                </p:oleObj>
              </mc:Choice>
              <mc:Fallback>
                <p:oleObj name="Equation" r:id="rId3" imgW="60960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3213100"/>
                        <a:ext cx="4365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732809" y="3557251"/>
          <a:ext cx="12874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1" name="Equation" r:id="rId5" imgW="17983200" imgH="5486400" progId="Equation.DSMT4">
                  <p:embed/>
                </p:oleObj>
              </mc:Choice>
              <mc:Fallback>
                <p:oleObj name="Equation" r:id="rId5" imgW="17983200" imgH="5486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809" y="3557251"/>
                        <a:ext cx="12874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基本框架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亦称信念网，用有</a:t>
            </a:r>
            <a:r>
              <a:rPr lang="zh-CN" altLang="en-US" dirty="0">
                <a:latin typeface="+mn-ea"/>
              </a:rPr>
              <a:t>向无环</a:t>
            </a:r>
            <a:r>
              <a:rPr lang="zh-CN" altLang="en-US" dirty="0" smtClean="0">
                <a:latin typeface="+mn-ea"/>
              </a:rPr>
              <a:t>图刻画属性间依赖</a:t>
            </a:r>
            <a:r>
              <a:rPr lang="zh-CN" altLang="en-US" dirty="0">
                <a:latin typeface="+mn-ea"/>
              </a:rPr>
              <a:t>关系</a:t>
            </a:r>
            <a:r>
              <a:rPr lang="zh-CN" altLang="en-US" dirty="0" smtClean="0">
                <a:latin typeface="+mn-ea"/>
              </a:rPr>
              <a:t>，用</a:t>
            </a:r>
            <a:r>
              <a:rPr lang="zh-CN" altLang="en-US" dirty="0">
                <a:latin typeface="+mn-ea"/>
              </a:rPr>
              <a:t>条件概率</a:t>
            </a:r>
            <a:r>
              <a:rPr lang="zh-CN" altLang="en-US" dirty="0" smtClean="0">
                <a:latin typeface="+mn-ea"/>
              </a:rPr>
              <a:t>表描述属性联合概率分布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贝叶斯</a:t>
            </a:r>
            <a:r>
              <a:rPr lang="zh-CN" altLang="en-US" dirty="0">
                <a:latin typeface="+mn-ea"/>
              </a:rPr>
              <a:t>网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由结构</a:t>
            </a:r>
            <a:r>
              <a:rPr lang="en-US" altLang="zh-CN" dirty="0">
                <a:latin typeface="+mn-ea"/>
              </a:rPr>
              <a:t>G</a:t>
            </a:r>
            <a:r>
              <a:rPr lang="zh-CN" altLang="en-US" dirty="0">
                <a:latin typeface="+mn-ea"/>
              </a:rPr>
              <a:t>和</a:t>
            </a:r>
            <a:r>
              <a:rPr lang="zh-CN" altLang="en-US" dirty="0" smtClean="0">
                <a:latin typeface="+mn-ea"/>
              </a:rPr>
              <a:t>参数 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构成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即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网络结构</a:t>
            </a:r>
            <a:r>
              <a:rPr lang="en-US" altLang="zh-CN" dirty="0">
                <a:latin typeface="+mn-ea"/>
              </a:rPr>
              <a:t>G</a:t>
            </a:r>
            <a:r>
              <a:rPr lang="zh-CN" altLang="en-US" dirty="0" smtClean="0">
                <a:latin typeface="+mn-ea"/>
              </a:rPr>
              <a:t>是有</a:t>
            </a:r>
            <a:r>
              <a:rPr lang="zh-CN" altLang="en-US" dirty="0">
                <a:latin typeface="+mn-ea"/>
              </a:rPr>
              <a:t>向无环图</a:t>
            </a:r>
            <a:r>
              <a:rPr lang="zh-CN" altLang="en-US" dirty="0" smtClean="0">
                <a:latin typeface="+mn-ea"/>
              </a:rPr>
              <a:t>，每个</a:t>
            </a:r>
            <a:r>
              <a:rPr lang="zh-CN" altLang="en-US" dirty="0">
                <a:latin typeface="+mn-ea"/>
              </a:rPr>
              <a:t>结点</a:t>
            </a:r>
            <a:r>
              <a:rPr lang="zh-CN" altLang="en-US" dirty="0" smtClean="0">
                <a:latin typeface="+mn-ea"/>
              </a:rPr>
              <a:t>对应一</a:t>
            </a:r>
            <a:r>
              <a:rPr lang="zh-CN" altLang="en-US" dirty="0">
                <a:latin typeface="+mn-ea"/>
              </a:rPr>
              <a:t>个属性，若两个属性有直接依赖关系，</a:t>
            </a:r>
            <a:r>
              <a:rPr lang="zh-CN" altLang="en-US" dirty="0" smtClean="0">
                <a:latin typeface="+mn-ea"/>
              </a:rPr>
              <a:t>则由边连接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参数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定量描述依赖</a:t>
            </a:r>
            <a:r>
              <a:rPr lang="zh-CN" altLang="en-US" dirty="0">
                <a:latin typeface="+mn-ea"/>
              </a:rPr>
              <a:t>关系</a:t>
            </a:r>
            <a:r>
              <a:rPr lang="zh-CN" altLang="en-US" dirty="0" smtClean="0">
                <a:latin typeface="+mn-ea"/>
              </a:rPr>
              <a:t>，若属性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在</a:t>
            </a:r>
            <a:r>
              <a:rPr lang="en-US" altLang="zh-CN" dirty="0">
                <a:latin typeface="+mn-ea"/>
              </a:rPr>
              <a:t>G</a:t>
            </a:r>
            <a:r>
              <a:rPr lang="zh-CN" altLang="en-US" dirty="0">
                <a:latin typeface="+mn-ea"/>
              </a:rPr>
              <a:t>中的父结点集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，则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包含条件概率</a:t>
            </a:r>
            <a:r>
              <a:rPr lang="zh-CN" altLang="en-US" dirty="0">
                <a:latin typeface="+mn-ea"/>
              </a:rPr>
              <a:t>表</a:t>
            </a:r>
            <a:endParaRPr lang="zh-CN" altLang="en-US" dirty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1"/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827584" y="4149080"/>
            <a:ext cx="7667625" cy="2694806"/>
            <a:chOff x="827584" y="4149080"/>
            <a:chExt cx="7667625" cy="2694806"/>
          </a:xfrm>
        </p:grpSpPr>
        <p:pic>
          <p:nvPicPr>
            <p:cNvPr id="14357" name="Picture 21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4653136"/>
              <a:ext cx="7667625" cy="2190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58" name="Picture 2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56"/>
            <a:stretch>
              <a:fillRect/>
            </a:stretch>
          </p:blipFill>
          <p:spPr bwMode="auto">
            <a:xfrm>
              <a:off x="2965080" y="4149080"/>
              <a:ext cx="2687040" cy="1008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 smtClean="0"/>
              <a:t>贝叶斯</a:t>
            </a:r>
            <a:r>
              <a:rPr lang="zh-CN" altLang="en-US" dirty="0"/>
              <a:t>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292080" y="2252161"/>
          <a:ext cx="398596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7" name="Equation" r:id="rId5" imgW="3962400" imgH="4267200" progId="Equation.DSMT4">
                  <p:embed/>
                </p:oleObj>
              </mc:Choice>
              <mc:Fallback>
                <p:oleObj name="Equation" r:id="rId5" imgW="3962400" imgH="4267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2252161"/>
                        <a:ext cx="398596" cy="4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851651" y="2230190"/>
          <a:ext cx="1125315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8" name="Equation" r:id="rId7" imgW="596900" imgH="228600" progId="Equation.DSMT4">
                  <p:embed/>
                </p:oleObj>
              </mc:Choice>
              <mc:Fallback>
                <p:oleObj name="Equation" r:id="rId7" imgW="596900" imgH="228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1" y="2230190"/>
                        <a:ext cx="1125315" cy="4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40011" y="3341227"/>
          <a:ext cx="3984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9" name="Equation" r:id="rId9" imgW="165100" imgH="177800" progId="Equation.DSMT4">
                  <p:embed/>
                </p:oleObj>
              </mc:Choice>
              <mc:Fallback>
                <p:oleObj name="Equation" r:id="rId9" imgW="165100" imgH="177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11" y="3341227"/>
                        <a:ext cx="3984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085836" y="3685749"/>
          <a:ext cx="3984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0" name="Equation" r:id="rId11" imgW="165100" imgH="177800" progId="Equation.DSMT4">
                  <p:embed/>
                </p:oleObj>
              </mc:Choice>
              <mc:Fallback>
                <p:oleObj name="Equation" r:id="rId11" imgW="165100" imgH="177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836" y="3685749"/>
                        <a:ext cx="3984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660232" y="3321040"/>
          <a:ext cx="30888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1" name="Equation" r:id="rId12" imgW="3657600" imgH="5486400" progId="Equation.DSMT4">
                  <p:embed/>
                </p:oleObj>
              </mc:Choice>
              <mc:Fallback>
                <p:oleObj name="Equation" r:id="rId12" imgW="36576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3321040"/>
                        <a:ext cx="308880" cy="46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56257" y="3645024"/>
          <a:ext cx="335623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2" name="Equation" r:id="rId14" imgW="3962400" imgH="5486400" progId="Equation.DSMT4">
                  <p:embed/>
                </p:oleObj>
              </mc:Choice>
              <mc:Fallback>
                <p:oleObj name="Equation" r:id="rId14" imgW="39624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6257" y="3645024"/>
                        <a:ext cx="335623" cy="46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588224" y="3681080"/>
          <a:ext cx="1753103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3" name="Equation" r:id="rId16" imgW="21945600" imgH="5791200" progId="Equation.DSMT4">
                  <p:embed/>
                </p:oleObj>
              </mc:Choice>
              <mc:Fallback>
                <p:oleObj name="Equation" r:id="rId16" imgW="21945600" imgH="5791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3681080"/>
                        <a:ext cx="1753103" cy="46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7.5.1 </a:t>
            </a:r>
            <a:r>
              <a:rPr lang="zh-CN" altLang="en-US" dirty="0" smtClean="0">
                <a:latin typeface="+mn-ea"/>
              </a:rPr>
              <a:t>结构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B</a:t>
            </a:r>
            <a:r>
              <a:rPr lang="zh-CN" altLang="en-US" dirty="0" smtClean="0">
                <a:latin typeface="+mn-ea"/>
              </a:rPr>
              <a:t>的联合概率分布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贝叶斯网结构能有效地表达属性</a:t>
            </a:r>
            <a:r>
              <a:rPr lang="zh-CN" altLang="en-US" dirty="0" smtClean="0">
                <a:latin typeface="+mn-ea"/>
              </a:rPr>
              <a:t>间条件独立性，给定</a:t>
            </a:r>
            <a:r>
              <a:rPr lang="zh-CN" altLang="en-US" dirty="0">
                <a:latin typeface="+mn-ea"/>
              </a:rPr>
              <a:t>父结点集</a:t>
            </a:r>
            <a:r>
              <a:rPr lang="zh-CN" altLang="en-US" dirty="0" smtClean="0">
                <a:latin typeface="+mn-ea"/>
              </a:rPr>
              <a:t>，每个属性</a:t>
            </a:r>
            <a:r>
              <a:rPr lang="zh-CN" altLang="en-US" dirty="0">
                <a:latin typeface="+mn-ea"/>
              </a:rPr>
              <a:t>与其非后裔属性</a:t>
            </a:r>
            <a:r>
              <a:rPr lang="zh-CN" altLang="en-US" dirty="0" smtClean="0">
                <a:latin typeface="+mn-ea"/>
              </a:rPr>
              <a:t>独立，属性      的联合概率分布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例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en-US" altLang="zh-CN" dirty="0" smtClean="0">
                <a:latin typeface="+mn-ea"/>
              </a:rPr>
              <a:t>    </a:t>
            </a:r>
            <a:r>
              <a:rPr lang="zh-CN" altLang="en-US" dirty="0" smtClean="0">
                <a:latin typeface="+mn-ea"/>
              </a:rPr>
              <a:t>在给定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时</a:t>
            </a:r>
            <a:r>
              <a:rPr lang="zh-CN" altLang="en-US" dirty="0">
                <a:latin typeface="+mn-ea"/>
              </a:rPr>
              <a:t>独立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    </a:t>
            </a:r>
            <a:r>
              <a:rPr lang="zh-CN" altLang="en-US" dirty="0" smtClean="0">
                <a:latin typeface="+mn-ea"/>
              </a:rPr>
              <a:t>在给定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时</a:t>
            </a:r>
            <a:r>
              <a:rPr lang="zh-CN" altLang="en-US" dirty="0">
                <a:latin typeface="+mn-ea"/>
              </a:rPr>
              <a:t>独立，</a:t>
            </a:r>
            <a:r>
              <a:rPr lang="zh-CN" altLang="en-US" dirty="0" smtClean="0">
                <a:latin typeface="+mn-ea"/>
              </a:rPr>
              <a:t>分别记为</a:t>
            </a:r>
            <a:r>
              <a:rPr lang="en-US" altLang="zh-CN" dirty="0" smtClean="0">
                <a:latin typeface="+mn-ea"/>
              </a:rPr>
              <a:t>  </a:t>
            </a:r>
            <a:endParaRPr lang="zh-CN" altLang="en-US" dirty="0">
              <a:latin typeface="+mn-ea"/>
            </a:endParaRPr>
          </a:p>
          <a:p>
            <a:pPr lvl="5"/>
            <a:endParaRPr lang="zh-CN" altLang="en-US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71333" y="2520427"/>
          <a:ext cx="925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6" name="Equation" r:id="rId1" imgW="11582400" imgH="5486400" progId="Equation.DSMT4">
                  <p:embed/>
                </p:oleObj>
              </mc:Choice>
              <mc:Fallback>
                <p:oleObj name="Equation" r:id="rId1" imgW="11582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333" y="2520427"/>
                        <a:ext cx="925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367880" y="2883024"/>
          <a:ext cx="4724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7" name="Equation" r:id="rId3" imgW="59131200" imgH="9448800" progId="Equation.DSMT4">
                  <p:embed/>
                </p:oleObj>
              </mc:Choice>
              <mc:Fallback>
                <p:oleObj name="Equation" r:id="rId3" imgW="59131200" imgH="9448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880" y="2883024"/>
                        <a:ext cx="4724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71732" y="3537056"/>
          <a:ext cx="5356652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8" name="Equation" r:id="rId5" imgW="74980800" imgH="5486400" progId="Equation.DSMT4">
                  <p:embed/>
                </p:oleObj>
              </mc:Choice>
              <mc:Fallback>
                <p:oleObj name="Equation" r:id="rId5" imgW="749808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32" y="3537056"/>
                        <a:ext cx="5356652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43808" y="3824213"/>
          <a:ext cx="5889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9" name="Equation" r:id="rId7" imgW="8229600" imgH="5486400" progId="Equation.DSMT4">
                  <p:embed/>
                </p:oleObj>
              </mc:Choice>
              <mc:Fallback>
                <p:oleObj name="Equation" r:id="rId7" imgW="82296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824213"/>
                        <a:ext cx="5889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495206" y="3824213"/>
          <a:ext cx="5889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0" name="Equation" r:id="rId9" imgW="8229600" imgH="5486400" progId="Equation.DSMT4">
                  <p:embed/>
                </p:oleObj>
              </mc:Choice>
              <mc:Fallback>
                <p:oleObj name="Equation" r:id="rId9" imgW="82296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206" y="3824213"/>
                        <a:ext cx="5889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167634" y="3824213"/>
          <a:ext cx="2603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1" name="Equation" r:id="rId11" imgW="3657600" imgH="5486400" progId="Equation.DSMT4">
                  <p:embed/>
                </p:oleObj>
              </mc:Choice>
              <mc:Fallback>
                <p:oleObj name="Equation" r:id="rId11" imgW="36576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7634" y="3824213"/>
                        <a:ext cx="2603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809705" y="3823965"/>
          <a:ext cx="282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2" name="Equation" r:id="rId13" imgW="3962400" imgH="5486400" progId="Equation.DSMT4">
                  <p:embed/>
                </p:oleObj>
              </mc:Choice>
              <mc:Fallback>
                <p:oleObj name="Equation" r:id="rId13" imgW="3962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9705" y="3823965"/>
                        <a:ext cx="2825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62858" y="4149080"/>
          <a:ext cx="17732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3" name="Equation" r:id="rId15" imgW="27432000" imgH="5486400" progId="Equation.DSMT4">
                  <p:embed/>
                </p:oleObj>
              </mc:Choice>
              <mc:Fallback>
                <p:oleObj name="Equation" r:id="rId15" imgW="274320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858" y="4149080"/>
                        <a:ext cx="1773238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971600" y="4491558"/>
            <a:ext cx="7445210" cy="2290242"/>
            <a:chOff x="799197" y="4190578"/>
            <a:chExt cx="7667625" cy="2609850"/>
          </a:xfrm>
        </p:grpSpPr>
        <p:pic>
          <p:nvPicPr>
            <p:cNvPr id="5" name="Picture 21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197" y="4190578"/>
              <a:ext cx="7667625" cy="2190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5" name="组合 14"/>
            <p:cNvGrpSpPr/>
            <p:nvPr/>
          </p:nvGrpSpPr>
          <p:grpSpPr>
            <a:xfrm>
              <a:off x="1475656" y="6381328"/>
              <a:ext cx="3438525" cy="419100"/>
              <a:chOff x="1534877" y="6386241"/>
              <a:chExt cx="3438525" cy="419100"/>
            </a:xfrm>
          </p:grpSpPr>
          <p:pic>
            <p:nvPicPr>
              <p:cNvPr id="15372" name="Picture 12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4877" y="6386241"/>
                <a:ext cx="3438525" cy="4191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" name="矩形 13"/>
              <p:cNvSpPr/>
              <p:nvPr/>
            </p:nvSpPr>
            <p:spPr bwMode="auto">
              <a:xfrm>
                <a:off x="3016250" y="6386241"/>
                <a:ext cx="241756" cy="216024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9" name="任意多边形 18"/>
          <p:cNvSpPr/>
          <p:nvPr/>
        </p:nvSpPr>
        <p:spPr bwMode="auto">
          <a:xfrm>
            <a:off x="7044268" y="3170973"/>
            <a:ext cx="1854800" cy="2743199"/>
          </a:xfrm>
          <a:custGeom>
            <a:avLst/>
            <a:gdLst>
              <a:gd name="connsiteX0" fmla="*/ 0 w 1852747"/>
              <a:gd name="connsiteY0" fmla="*/ 0 h 2870769"/>
              <a:gd name="connsiteX1" fmla="*/ 1574800 w 1852747"/>
              <a:gd name="connsiteY1" fmla="*/ 372534 h 2870769"/>
              <a:gd name="connsiteX2" fmla="*/ 1761066 w 1852747"/>
              <a:gd name="connsiteY2" fmla="*/ 1862667 h 2870769"/>
              <a:gd name="connsiteX3" fmla="*/ 575733 w 1852747"/>
              <a:gd name="connsiteY3" fmla="*/ 2777067 h 2870769"/>
              <a:gd name="connsiteX4" fmla="*/ 592666 w 1852747"/>
              <a:gd name="connsiteY4" fmla="*/ 2794000 h 2870769"/>
              <a:gd name="connsiteX0-1" fmla="*/ 0 w 1852747"/>
              <a:gd name="connsiteY0-2" fmla="*/ 0 h 2777067"/>
              <a:gd name="connsiteX1-3" fmla="*/ 1574800 w 1852747"/>
              <a:gd name="connsiteY1-4" fmla="*/ 372534 h 2777067"/>
              <a:gd name="connsiteX2-5" fmla="*/ 1761066 w 1852747"/>
              <a:gd name="connsiteY2-6" fmla="*/ 1862667 h 2777067"/>
              <a:gd name="connsiteX3-7" fmla="*/ 575733 w 1852747"/>
              <a:gd name="connsiteY3-8" fmla="*/ 2777067 h 2777067"/>
              <a:gd name="connsiteX0-9" fmla="*/ 0 w 1907272"/>
              <a:gd name="connsiteY0-10" fmla="*/ 0 h 2777067"/>
              <a:gd name="connsiteX1-11" fmla="*/ 1693333 w 1907272"/>
              <a:gd name="connsiteY1-12" fmla="*/ 626534 h 2777067"/>
              <a:gd name="connsiteX2-13" fmla="*/ 1761066 w 1907272"/>
              <a:gd name="connsiteY2-14" fmla="*/ 1862667 h 2777067"/>
              <a:gd name="connsiteX3-15" fmla="*/ 575733 w 1907272"/>
              <a:gd name="connsiteY3-16" fmla="*/ 2777067 h 2777067"/>
              <a:gd name="connsiteX0-17" fmla="*/ 0 w 1854832"/>
              <a:gd name="connsiteY0-18" fmla="*/ 0 h 2777067"/>
              <a:gd name="connsiteX1-19" fmla="*/ 1693333 w 1854832"/>
              <a:gd name="connsiteY1-20" fmla="*/ 626534 h 2777067"/>
              <a:gd name="connsiteX2-21" fmla="*/ 1659466 w 1854832"/>
              <a:gd name="connsiteY2-22" fmla="*/ 1964267 h 2777067"/>
              <a:gd name="connsiteX3-23" fmla="*/ 575733 w 1854832"/>
              <a:gd name="connsiteY3-24" fmla="*/ 2777067 h 2777067"/>
              <a:gd name="connsiteX0-25" fmla="*/ 0 w 1917328"/>
              <a:gd name="connsiteY0-26" fmla="*/ 0 h 2777067"/>
              <a:gd name="connsiteX1-27" fmla="*/ 1693333 w 1917328"/>
              <a:gd name="connsiteY1-28" fmla="*/ 626534 h 2777067"/>
              <a:gd name="connsiteX2-29" fmla="*/ 1777999 w 1917328"/>
              <a:gd name="connsiteY2-30" fmla="*/ 1981200 h 2777067"/>
              <a:gd name="connsiteX3-31" fmla="*/ 575733 w 1917328"/>
              <a:gd name="connsiteY3-32" fmla="*/ 2777067 h 2777067"/>
              <a:gd name="connsiteX0-33" fmla="*/ 0 w 1827020"/>
              <a:gd name="connsiteY0-34" fmla="*/ 0 h 2777067"/>
              <a:gd name="connsiteX1-35" fmla="*/ 1693333 w 1827020"/>
              <a:gd name="connsiteY1-36" fmla="*/ 626534 h 2777067"/>
              <a:gd name="connsiteX2-37" fmla="*/ 1591732 w 1827020"/>
              <a:gd name="connsiteY2-38" fmla="*/ 2032000 h 2777067"/>
              <a:gd name="connsiteX3-39" fmla="*/ 575733 w 1827020"/>
              <a:gd name="connsiteY3-40" fmla="*/ 2777067 h 2777067"/>
              <a:gd name="connsiteX0-41" fmla="*/ 0 w 1802370"/>
              <a:gd name="connsiteY0-42" fmla="*/ 0 h 2777067"/>
              <a:gd name="connsiteX1-43" fmla="*/ 1659467 w 1802370"/>
              <a:gd name="connsiteY1-44" fmla="*/ 762001 h 2777067"/>
              <a:gd name="connsiteX2-45" fmla="*/ 1591732 w 1802370"/>
              <a:gd name="connsiteY2-46" fmla="*/ 2032000 h 2777067"/>
              <a:gd name="connsiteX3-47" fmla="*/ 575733 w 1802370"/>
              <a:gd name="connsiteY3-48" fmla="*/ 2777067 h 2777067"/>
              <a:gd name="connsiteX0-49" fmla="*/ 0 w 1744186"/>
              <a:gd name="connsiteY0-50" fmla="*/ 0 h 2777067"/>
              <a:gd name="connsiteX1-51" fmla="*/ 1659467 w 1744186"/>
              <a:gd name="connsiteY1-52" fmla="*/ 762001 h 2777067"/>
              <a:gd name="connsiteX2-53" fmla="*/ 1591732 w 1744186"/>
              <a:gd name="connsiteY2-54" fmla="*/ 2032000 h 2777067"/>
              <a:gd name="connsiteX3-55" fmla="*/ 575733 w 1744186"/>
              <a:gd name="connsiteY3-56" fmla="*/ 2777067 h 2777067"/>
              <a:gd name="connsiteX0-57" fmla="*/ 0 w 1773766"/>
              <a:gd name="connsiteY0-58" fmla="*/ 0 h 2777067"/>
              <a:gd name="connsiteX1-59" fmla="*/ 1659467 w 1773766"/>
              <a:gd name="connsiteY1-60" fmla="*/ 762001 h 2777067"/>
              <a:gd name="connsiteX2-61" fmla="*/ 1591732 w 1773766"/>
              <a:gd name="connsiteY2-62" fmla="*/ 2032000 h 2777067"/>
              <a:gd name="connsiteX3-63" fmla="*/ 575733 w 1773766"/>
              <a:gd name="connsiteY3-64" fmla="*/ 2777067 h 2777067"/>
              <a:gd name="connsiteX0-65" fmla="*/ 0 w 1673994"/>
              <a:gd name="connsiteY0-66" fmla="*/ 0 h 2777067"/>
              <a:gd name="connsiteX1-67" fmla="*/ 1524000 w 1673994"/>
              <a:gd name="connsiteY1-68" fmla="*/ 575735 h 2777067"/>
              <a:gd name="connsiteX2-69" fmla="*/ 1591732 w 1673994"/>
              <a:gd name="connsiteY2-70" fmla="*/ 2032000 h 2777067"/>
              <a:gd name="connsiteX3-71" fmla="*/ 575733 w 1673994"/>
              <a:gd name="connsiteY3-72" fmla="*/ 2777067 h 2777067"/>
              <a:gd name="connsiteX0-73" fmla="*/ 0 w 1755657"/>
              <a:gd name="connsiteY0-74" fmla="*/ 0 h 2777067"/>
              <a:gd name="connsiteX1-75" fmla="*/ 1524000 w 1755657"/>
              <a:gd name="connsiteY1-76" fmla="*/ 575735 h 2777067"/>
              <a:gd name="connsiteX2-77" fmla="*/ 1591732 w 1755657"/>
              <a:gd name="connsiteY2-78" fmla="*/ 2032000 h 2777067"/>
              <a:gd name="connsiteX3-79" fmla="*/ 575733 w 1755657"/>
              <a:gd name="connsiteY3-80" fmla="*/ 2777067 h 2777067"/>
              <a:gd name="connsiteX0-81" fmla="*/ 0 w 1826241"/>
              <a:gd name="connsiteY0-82" fmla="*/ 0 h 2777067"/>
              <a:gd name="connsiteX1-83" fmla="*/ 1524000 w 1826241"/>
              <a:gd name="connsiteY1-84" fmla="*/ 575735 h 2777067"/>
              <a:gd name="connsiteX2-85" fmla="*/ 1591732 w 1826241"/>
              <a:gd name="connsiteY2-86" fmla="*/ 2032000 h 2777067"/>
              <a:gd name="connsiteX3-87" fmla="*/ 575733 w 1826241"/>
              <a:gd name="connsiteY3-88" fmla="*/ 2777067 h 2777067"/>
              <a:gd name="connsiteX0-89" fmla="*/ 0 w 1792935"/>
              <a:gd name="connsiteY0-90" fmla="*/ 0 h 2777067"/>
              <a:gd name="connsiteX1-91" fmla="*/ 1524000 w 1792935"/>
              <a:gd name="connsiteY1-92" fmla="*/ 575735 h 2777067"/>
              <a:gd name="connsiteX2-93" fmla="*/ 1591732 w 1792935"/>
              <a:gd name="connsiteY2-94" fmla="*/ 2032000 h 2777067"/>
              <a:gd name="connsiteX3-95" fmla="*/ 575733 w 1792935"/>
              <a:gd name="connsiteY3-96" fmla="*/ 2777067 h 2777067"/>
              <a:gd name="connsiteX0-97" fmla="*/ 0 w 1744123"/>
              <a:gd name="connsiteY0-98" fmla="*/ 0 h 2777067"/>
              <a:gd name="connsiteX1-99" fmla="*/ 1524000 w 1744123"/>
              <a:gd name="connsiteY1-100" fmla="*/ 575735 h 2777067"/>
              <a:gd name="connsiteX2-101" fmla="*/ 1591732 w 1744123"/>
              <a:gd name="connsiteY2-102" fmla="*/ 2032000 h 2777067"/>
              <a:gd name="connsiteX3-103" fmla="*/ 575733 w 1744123"/>
              <a:gd name="connsiteY3-104" fmla="*/ 2777067 h 2777067"/>
              <a:gd name="connsiteX0-105" fmla="*/ 0 w 1679648"/>
              <a:gd name="connsiteY0-106" fmla="*/ 0 h 2777067"/>
              <a:gd name="connsiteX1-107" fmla="*/ 1524000 w 1679648"/>
              <a:gd name="connsiteY1-108" fmla="*/ 575735 h 2777067"/>
              <a:gd name="connsiteX2-109" fmla="*/ 1591732 w 1679648"/>
              <a:gd name="connsiteY2-110" fmla="*/ 2032000 h 2777067"/>
              <a:gd name="connsiteX3-111" fmla="*/ 575733 w 1679648"/>
              <a:gd name="connsiteY3-112" fmla="*/ 2777067 h 2777067"/>
              <a:gd name="connsiteX0-113" fmla="*/ 0 w 1729518"/>
              <a:gd name="connsiteY0-114" fmla="*/ 0 h 2777067"/>
              <a:gd name="connsiteX1-115" fmla="*/ 1591733 w 1729518"/>
              <a:gd name="connsiteY1-116" fmla="*/ 728135 h 2777067"/>
              <a:gd name="connsiteX2-117" fmla="*/ 1591732 w 1729518"/>
              <a:gd name="connsiteY2-118" fmla="*/ 2032000 h 2777067"/>
              <a:gd name="connsiteX3-119" fmla="*/ 575733 w 1729518"/>
              <a:gd name="connsiteY3-120" fmla="*/ 2777067 h 2777067"/>
              <a:gd name="connsiteX0-121" fmla="*/ 0 w 1713743"/>
              <a:gd name="connsiteY0-122" fmla="*/ 0 h 2777067"/>
              <a:gd name="connsiteX1-123" fmla="*/ 1591733 w 1713743"/>
              <a:gd name="connsiteY1-124" fmla="*/ 728135 h 2777067"/>
              <a:gd name="connsiteX2-125" fmla="*/ 1490132 w 1713743"/>
              <a:gd name="connsiteY2-126" fmla="*/ 2235200 h 2777067"/>
              <a:gd name="connsiteX3-127" fmla="*/ 575733 w 1713743"/>
              <a:gd name="connsiteY3-128" fmla="*/ 2777067 h 2777067"/>
              <a:gd name="connsiteX0-129" fmla="*/ 0 w 1752005"/>
              <a:gd name="connsiteY0-130" fmla="*/ 0 h 2777067"/>
              <a:gd name="connsiteX1-131" fmla="*/ 1591733 w 1752005"/>
              <a:gd name="connsiteY1-132" fmla="*/ 728135 h 2777067"/>
              <a:gd name="connsiteX2-133" fmla="*/ 1490132 w 1752005"/>
              <a:gd name="connsiteY2-134" fmla="*/ 2235200 h 2777067"/>
              <a:gd name="connsiteX3-135" fmla="*/ 575733 w 1752005"/>
              <a:gd name="connsiteY3-136" fmla="*/ 2777067 h 2777067"/>
              <a:gd name="connsiteX0-137" fmla="*/ 0 w 1774713"/>
              <a:gd name="connsiteY0-138" fmla="*/ 0 h 2777067"/>
              <a:gd name="connsiteX1-139" fmla="*/ 1591733 w 1774713"/>
              <a:gd name="connsiteY1-140" fmla="*/ 728135 h 2777067"/>
              <a:gd name="connsiteX2-141" fmla="*/ 1490132 w 1774713"/>
              <a:gd name="connsiteY2-142" fmla="*/ 2235200 h 2777067"/>
              <a:gd name="connsiteX3-143" fmla="*/ 575733 w 1774713"/>
              <a:gd name="connsiteY3-144" fmla="*/ 2777067 h 2777067"/>
              <a:gd name="connsiteX0-145" fmla="*/ 0 w 1726844"/>
              <a:gd name="connsiteY0-146" fmla="*/ 0 h 2777067"/>
              <a:gd name="connsiteX1-147" fmla="*/ 1591733 w 1726844"/>
              <a:gd name="connsiteY1-148" fmla="*/ 728135 h 2777067"/>
              <a:gd name="connsiteX2-149" fmla="*/ 1490132 w 1726844"/>
              <a:gd name="connsiteY2-150" fmla="*/ 2235200 h 2777067"/>
              <a:gd name="connsiteX3-151" fmla="*/ 575733 w 1726844"/>
              <a:gd name="connsiteY3-152" fmla="*/ 2777067 h 2777067"/>
              <a:gd name="connsiteX0-153" fmla="*/ 0 w 1741176"/>
              <a:gd name="connsiteY0-154" fmla="*/ 0 h 2777067"/>
              <a:gd name="connsiteX1-155" fmla="*/ 1591733 w 1741176"/>
              <a:gd name="connsiteY1-156" fmla="*/ 728135 h 2777067"/>
              <a:gd name="connsiteX2-157" fmla="*/ 1523999 w 1741176"/>
              <a:gd name="connsiteY2-158" fmla="*/ 2065867 h 2777067"/>
              <a:gd name="connsiteX3-159" fmla="*/ 575733 w 1741176"/>
              <a:gd name="connsiteY3-160" fmla="*/ 2777067 h 2777067"/>
              <a:gd name="connsiteX0-161" fmla="*/ 0 w 1658593"/>
              <a:gd name="connsiteY0-162" fmla="*/ 0 h 2777067"/>
              <a:gd name="connsiteX1-163" fmla="*/ 1591733 w 1658593"/>
              <a:gd name="connsiteY1-164" fmla="*/ 728135 h 2777067"/>
              <a:gd name="connsiteX2-165" fmla="*/ 1253066 w 1658593"/>
              <a:gd name="connsiteY2-166" fmla="*/ 2387600 h 2777067"/>
              <a:gd name="connsiteX3-167" fmla="*/ 575733 w 1658593"/>
              <a:gd name="connsiteY3-168" fmla="*/ 2777067 h 2777067"/>
              <a:gd name="connsiteX0-169" fmla="*/ 0 w 1841630"/>
              <a:gd name="connsiteY0-170" fmla="*/ 0 h 2777067"/>
              <a:gd name="connsiteX1-171" fmla="*/ 1794933 w 1841630"/>
              <a:gd name="connsiteY1-172" fmla="*/ 948268 h 2777067"/>
              <a:gd name="connsiteX2-173" fmla="*/ 1253066 w 1841630"/>
              <a:gd name="connsiteY2-174" fmla="*/ 2387600 h 2777067"/>
              <a:gd name="connsiteX3-175" fmla="*/ 575733 w 1841630"/>
              <a:gd name="connsiteY3-176" fmla="*/ 2777067 h 2777067"/>
              <a:gd name="connsiteX0-177" fmla="*/ 0 w 1877041"/>
              <a:gd name="connsiteY0-178" fmla="*/ 0 h 2777067"/>
              <a:gd name="connsiteX1-179" fmla="*/ 1794933 w 1877041"/>
              <a:gd name="connsiteY1-180" fmla="*/ 948268 h 2777067"/>
              <a:gd name="connsiteX2-181" fmla="*/ 1473199 w 1877041"/>
              <a:gd name="connsiteY2-182" fmla="*/ 2099733 h 2777067"/>
              <a:gd name="connsiteX3-183" fmla="*/ 575733 w 1877041"/>
              <a:gd name="connsiteY3-184" fmla="*/ 2777067 h 2777067"/>
              <a:gd name="connsiteX0-185" fmla="*/ 0 w 1806497"/>
              <a:gd name="connsiteY0-186" fmla="*/ 0 h 2777067"/>
              <a:gd name="connsiteX1-187" fmla="*/ 1794933 w 1806497"/>
              <a:gd name="connsiteY1-188" fmla="*/ 948268 h 2777067"/>
              <a:gd name="connsiteX2-189" fmla="*/ 1473199 w 1806497"/>
              <a:gd name="connsiteY2-190" fmla="*/ 2099733 h 2777067"/>
              <a:gd name="connsiteX3-191" fmla="*/ 575733 w 1806497"/>
              <a:gd name="connsiteY3-192" fmla="*/ 2777067 h 2777067"/>
              <a:gd name="connsiteX0-193" fmla="*/ 0 w 1806628"/>
              <a:gd name="connsiteY0-194" fmla="*/ 0 h 2658533"/>
              <a:gd name="connsiteX1-195" fmla="*/ 1794933 w 1806628"/>
              <a:gd name="connsiteY1-196" fmla="*/ 948268 h 2658533"/>
              <a:gd name="connsiteX2-197" fmla="*/ 1473199 w 1806628"/>
              <a:gd name="connsiteY2-198" fmla="*/ 2099733 h 2658533"/>
              <a:gd name="connsiteX3-199" fmla="*/ 558799 w 1806628"/>
              <a:gd name="connsiteY3-200" fmla="*/ 2658533 h 2658533"/>
              <a:gd name="connsiteX0-201" fmla="*/ 0 w 1806628"/>
              <a:gd name="connsiteY0-202" fmla="*/ 0 h 2658533"/>
              <a:gd name="connsiteX1-203" fmla="*/ 1794933 w 1806628"/>
              <a:gd name="connsiteY1-204" fmla="*/ 948268 h 2658533"/>
              <a:gd name="connsiteX2-205" fmla="*/ 1473199 w 1806628"/>
              <a:gd name="connsiteY2-206" fmla="*/ 2099733 h 2658533"/>
              <a:gd name="connsiteX3-207" fmla="*/ 558799 w 1806628"/>
              <a:gd name="connsiteY3-208" fmla="*/ 2658533 h 2658533"/>
              <a:gd name="connsiteX0-209" fmla="*/ 0 w 1864257"/>
              <a:gd name="connsiteY0-210" fmla="*/ 0 h 2658533"/>
              <a:gd name="connsiteX1-211" fmla="*/ 1794933 w 1864257"/>
              <a:gd name="connsiteY1-212" fmla="*/ 948268 h 2658533"/>
              <a:gd name="connsiteX2-213" fmla="*/ 1405465 w 1864257"/>
              <a:gd name="connsiteY2-214" fmla="*/ 2150533 h 2658533"/>
              <a:gd name="connsiteX3-215" fmla="*/ 558799 w 1864257"/>
              <a:gd name="connsiteY3-216" fmla="*/ 2658533 h 2658533"/>
              <a:gd name="connsiteX0-217" fmla="*/ 0 w 1860908"/>
              <a:gd name="connsiteY0-218" fmla="*/ 0 h 2658533"/>
              <a:gd name="connsiteX1-219" fmla="*/ 1794933 w 1860908"/>
              <a:gd name="connsiteY1-220" fmla="*/ 948268 h 2658533"/>
              <a:gd name="connsiteX2-221" fmla="*/ 1405465 w 1860908"/>
              <a:gd name="connsiteY2-222" fmla="*/ 2150533 h 2658533"/>
              <a:gd name="connsiteX3-223" fmla="*/ 558799 w 1860908"/>
              <a:gd name="connsiteY3-224" fmla="*/ 2658533 h 2658533"/>
              <a:gd name="connsiteX0-225" fmla="*/ 0 w 1876635"/>
              <a:gd name="connsiteY0-226" fmla="*/ 0 h 2658533"/>
              <a:gd name="connsiteX1-227" fmla="*/ 1794933 w 1876635"/>
              <a:gd name="connsiteY1-228" fmla="*/ 948268 h 2658533"/>
              <a:gd name="connsiteX2-229" fmla="*/ 1490132 w 1876635"/>
              <a:gd name="connsiteY2-230" fmla="*/ 2201333 h 2658533"/>
              <a:gd name="connsiteX3-231" fmla="*/ 558799 w 1876635"/>
              <a:gd name="connsiteY3-232" fmla="*/ 2658533 h 2658533"/>
              <a:gd name="connsiteX0-233" fmla="*/ 0 w 1817635"/>
              <a:gd name="connsiteY0-234" fmla="*/ 0 h 2658533"/>
              <a:gd name="connsiteX1-235" fmla="*/ 1794933 w 1817635"/>
              <a:gd name="connsiteY1-236" fmla="*/ 948268 h 2658533"/>
              <a:gd name="connsiteX2-237" fmla="*/ 1490132 w 1817635"/>
              <a:gd name="connsiteY2-238" fmla="*/ 2201333 h 2658533"/>
              <a:gd name="connsiteX3-239" fmla="*/ 558799 w 1817635"/>
              <a:gd name="connsiteY3-240" fmla="*/ 2658533 h 2658533"/>
              <a:gd name="connsiteX0-241" fmla="*/ 0 w 1824825"/>
              <a:gd name="connsiteY0-242" fmla="*/ 0 h 2658533"/>
              <a:gd name="connsiteX1-243" fmla="*/ 1794933 w 1824825"/>
              <a:gd name="connsiteY1-244" fmla="*/ 948268 h 2658533"/>
              <a:gd name="connsiteX2-245" fmla="*/ 1490132 w 1824825"/>
              <a:gd name="connsiteY2-246" fmla="*/ 2201333 h 2658533"/>
              <a:gd name="connsiteX3-247" fmla="*/ 558799 w 1824825"/>
              <a:gd name="connsiteY3-248" fmla="*/ 2658533 h 2658533"/>
              <a:gd name="connsiteX0-249" fmla="*/ 0 w 1824825"/>
              <a:gd name="connsiteY0-250" fmla="*/ 0 h 2658533"/>
              <a:gd name="connsiteX1-251" fmla="*/ 1794933 w 1824825"/>
              <a:gd name="connsiteY1-252" fmla="*/ 948268 h 2658533"/>
              <a:gd name="connsiteX2-253" fmla="*/ 1490132 w 1824825"/>
              <a:gd name="connsiteY2-254" fmla="*/ 2201333 h 2658533"/>
              <a:gd name="connsiteX3-255" fmla="*/ 558799 w 1824825"/>
              <a:gd name="connsiteY3-256" fmla="*/ 2658533 h 2658533"/>
              <a:gd name="connsiteX0-257" fmla="*/ 0 w 1820351"/>
              <a:gd name="connsiteY0-258" fmla="*/ 0 h 2743199"/>
              <a:gd name="connsiteX1-259" fmla="*/ 1794933 w 1820351"/>
              <a:gd name="connsiteY1-260" fmla="*/ 948268 h 2743199"/>
              <a:gd name="connsiteX2-261" fmla="*/ 1490132 w 1820351"/>
              <a:gd name="connsiteY2-262" fmla="*/ 2201333 h 2743199"/>
              <a:gd name="connsiteX3-263" fmla="*/ 541866 w 1820351"/>
              <a:gd name="connsiteY3-264" fmla="*/ 2743199 h 2743199"/>
              <a:gd name="connsiteX0-265" fmla="*/ 0 w 1941878"/>
              <a:gd name="connsiteY0-266" fmla="*/ 0 h 2743199"/>
              <a:gd name="connsiteX1-267" fmla="*/ 1794933 w 1941878"/>
              <a:gd name="connsiteY1-268" fmla="*/ 948268 h 2743199"/>
              <a:gd name="connsiteX2-269" fmla="*/ 1693332 w 1941878"/>
              <a:gd name="connsiteY2-270" fmla="*/ 2065866 h 2743199"/>
              <a:gd name="connsiteX3-271" fmla="*/ 541866 w 1941878"/>
              <a:gd name="connsiteY3-272" fmla="*/ 2743199 h 2743199"/>
              <a:gd name="connsiteX0-273" fmla="*/ 0 w 1918063"/>
              <a:gd name="connsiteY0-274" fmla="*/ 0 h 2743199"/>
              <a:gd name="connsiteX1-275" fmla="*/ 1794933 w 1918063"/>
              <a:gd name="connsiteY1-276" fmla="*/ 948268 h 2743199"/>
              <a:gd name="connsiteX2-277" fmla="*/ 1693332 w 1918063"/>
              <a:gd name="connsiteY2-278" fmla="*/ 2065866 h 2743199"/>
              <a:gd name="connsiteX3-279" fmla="*/ 541866 w 1918063"/>
              <a:gd name="connsiteY3-280" fmla="*/ 2743199 h 2743199"/>
              <a:gd name="connsiteX0-281" fmla="*/ 0 w 1918063"/>
              <a:gd name="connsiteY0-282" fmla="*/ 0 h 2743199"/>
              <a:gd name="connsiteX1-283" fmla="*/ 1794933 w 1918063"/>
              <a:gd name="connsiteY1-284" fmla="*/ 948268 h 2743199"/>
              <a:gd name="connsiteX2-285" fmla="*/ 1693332 w 1918063"/>
              <a:gd name="connsiteY2-286" fmla="*/ 2065866 h 2743199"/>
              <a:gd name="connsiteX3-287" fmla="*/ 541866 w 1918063"/>
              <a:gd name="connsiteY3-288" fmla="*/ 2743199 h 2743199"/>
              <a:gd name="connsiteX0-289" fmla="*/ 0 w 1880509"/>
              <a:gd name="connsiteY0-290" fmla="*/ 0 h 2743199"/>
              <a:gd name="connsiteX1-291" fmla="*/ 1794933 w 1880509"/>
              <a:gd name="connsiteY1-292" fmla="*/ 948268 h 2743199"/>
              <a:gd name="connsiteX2-293" fmla="*/ 1693332 w 1880509"/>
              <a:gd name="connsiteY2-294" fmla="*/ 2065866 h 2743199"/>
              <a:gd name="connsiteX3-295" fmla="*/ 541866 w 1880509"/>
              <a:gd name="connsiteY3-296" fmla="*/ 2743199 h 2743199"/>
              <a:gd name="connsiteX0-297" fmla="*/ 0 w 1877180"/>
              <a:gd name="connsiteY0-298" fmla="*/ 0 h 2743199"/>
              <a:gd name="connsiteX1-299" fmla="*/ 1794933 w 1877180"/>
              <a:gd name="connsiteY1-300" fmla="*/ 948268 h 2743199"/>
              <a:gd name="connsiteX2-301" fmla="*/ 1693332 w 1877180"/>
              <a:gd name="connsiteY2-302" fmla="*/ 2065866 h 2743199"/>
              <a:gd name="connsiteX3-303" fmla="*/ 541866 w 1877180"/>
              <a:gd name="connsiteY3-304" fmla="*/ 2743199 h 2743199"/>
              <a:gd name="connsiteX0-305" fmla="*/ 0 w 1854800"/>
              <a:gd name="connsiteY0-306" fmla="*/ 0 h 2743199"/>
              <a:gd name="connsiteX1-307" fmla="*/ 1794933 w 1854800"/>
              <a:gd name="connsiteY1-308" fmla="*/ 948268 h 2743199"/>
              <a:gd name="connsiteX2-309" fmla="*/ 1693332 w 1854800"/>
              <a:gd name="connsiteY2-310" fmla="*/ 2065866 h 2743199"/>
              <a:gd name="connsiteX3-311" fmla="*/ 541866 w 1854800"/>
              <a:gd name="connsiteY3-312" fmla="*/ 2743199 h 2743199"/>
              <a:gd name="connsiteX0-313" fmla="*/ 0 w 1854800"/>
              <a:gd name="connsiteY0-314" fmla="*/ 0 h 2743199"/>
              <a:gd name="connsiteX1-315" fmla="*/ 1794933 w 1854800"/>
              <a:gd name="connsiteY1-316" fmla="*/ 948268 h 2743199"/>
              <a:gd name="connsiteX2-317" fmla="*/ 1693332 w 1854800"/>
              <a:gd name="connsiteY2-318" fmla="*/ 2065866 h 2743199"/>
              <a:gd name="connsiteX3-319" fmla="*/ 541866 w 1854800"/>
              <a:gd name="connsiteY3-320" fmla="*/ 2743199 h 27431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854800" h="2743199">
                <a:moveTo>
                  <a:pt x="0" y="0"/>
                </a:moveTo>
                <a:cubicBezTo>
                  <a:pt x="928511" y="98779"/>
                  <a:pt x="1648178" y="434624"/>
                  <a:pt x="1794933" y="948268"/>
                </a:cubicBezTo>
                <a:cubicBezTo>
                  <a:pt x="1941688" y="1461912"/>
                  <a:pt x="1783642" y="1885243"/>
                  <a:pt x="1693332" y="2065866"/>
                </a:cubicBezTo>
                <a:cubicBezTo>
                  <a:pt x="1603022" y="2246489"/>
                  <a:pt x="1193799" y="2655710"/>
                  <a:pt x="541866" y="2743199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-4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3433"/>
          <a:stretch>
            <a:fillRect/>
          </a:stretch>
        </p:blipFill>
        <p:spPr bwMode="auto">
          <a:xfrm>
            <a:off x="2492509" y="5026045"/>
            <a:ext cx="4155513" cy="179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7.5.1 </a:t>
            </a:r>
            <a:r>
              <a:rPr lang="zh-CN" altLang="en-US" dirty="0">
                <a:latin typeface="+mn-ea"/>
              </a:rPr>
              <a:t>结构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/>
              <a:t>贝叶斯网中三变量间的典型依赖</a:t>
            </a:r>
            <a:r>
              <a:rPr lang="zh-CN" altLang="en-US" dirty="0" smtClean="0"/>
              <a:t>关系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同父结构</a:t>
            </a:r>
            <a:endParaRPr lang="en-US" altLang="zh-CN" dirty="0" smtClean="0"/>
          </a:p>
          <a:p>
            <a:pPr lvl="3"/>
            <a:r>
              <a:rPr lang="zh-CN" altLang="en-US" dirty="0"/>
              <a:t>给定父</a:t>
            </a:r>
            <a:r>
              <a:rPr lang="zh-CN" altLang="en-US" dirty="0" smtClean="0"/>
              <a:t>结点的取值，则子结点条件独立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顺序结构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给定</a:t>
            </a:r>
            <a:r>
              <a:rPr lang="en-US" altLang="zh-CN" dirty="0" smtClean="0"/>
              <a:t>   </a:t>
            </a:r>
            <a:r>
              <a:rPr lang="zh-CN" altLang="en-US" dirty="0" smtClean="0"/>
              <a:t>的</a:t>
            </a:r>
            <a:r>
              <a:rPr lang="zh-CN" altLang="en-US" dirty="0"/>
              <a:t>值，</a:t>
            </a:r>
            <a:r>
              <a:rPr lang="zh-CN" altLang="en-US" dirty="0" smtClean="0"/>
              <a:t>则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条件独立</a:t>
            </a:r>
            <a:endParaRPr lang="en-US" altLang="zh-CN" dirty="0" smtClean="0"/>
          </a:p>
          <a:p>
            <a:pPr lvl="2"/>
            <a:r>
              <a:rPr lang="en-US" altLang="zh-CN" dirty="0" smtClean="0">
                <a:latin typeface="+mn-ea"/>
              </a:rPr>
              <a:t>V</a:t>
            </a:r>
            <a:r>
              <a:rPr lang="zh-CN" altLang="en-US" dirty="0" smtClean="0">
                <a:latin typeface="+mn-ea"/>
              </a:rPr>
              <a:t>型结构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/>
              <a:t>冲撞结构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/>
              <a:t>给</a:t>
            </a:r>
            <a:r>
              <a:rPr lang="zh-CN" altLang="en-US" dirty="0"/>
              <a:t>定子</a:t>
            </a:r>
            <a:r>
              <a:rPr lang="zh-CN" altLang="en-US" dirty="0" smtClean="0"/>
              <a:t>结点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的</a:t>
            </a:r>
            <a:r>
              <a:rPr lang="zh-CN" altLang="en-US" dirty="0"/>
              <a:t>取值</a:t>
            </a:r>
            <a:r>
              <a:rPr lang="zh-CN" altLang="en-US" dirty="0" smtClean="0"/>
              <a:t>，       必</a:t>
            </a:r>
            <a:r>
              <a:rPr lang="zh-CN" altLang="en-US" dirty="0"/>
              <a:t>不</a:t>
            </a:r>
            <a:r>
              <a:rPr lang="zh-CN" altLang="en-US" dirty="0" smtClean="0"/>
              <a:t>独立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若</a:t>
            </a:r>
            <a:r>
              <a:rPr lang="en-US" altLang="zh-CN" dirty="0" smtClean="0"/>
              <a:t>   </a:t>
            </a:r>
            <a:r>
              <a:rPr lang="zh-CN" altLang="en-US" dirty="0" smtClean="0"/>
              <a:t>的</a:t>
            </a:r>
            <a:r>
              <a:rPr lang="zh-CN" altLang="en-US" dirty="0"/>
              <a:t>取值完全未知，</a:t>
            </a:r>
            <a:r>
              <a:rPr lang="zh-CN" altLang="en-US" dirty="0" smtClean="0"/>
              <a:t>则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相互独立的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称为边际独立性，</a:t>
            </a:r>
            <a:r>
              <a:rPr lang="zh-CN" altLang="en-US" dirty="0"/>
              <a:t>记</a:t>
            </a:r>
            <a:r>
              <a:rPr lang="zh-CN" altLang="en-US" dirty="0" smtClean="0"/>
              <a:t>为</a:t>
            </a:r>
            <a:endParaRPr lang="en-US" altLang="zh-CN" dirty="0" smtClean="0"/>
          </a:p>
          <a:p>
            <a:pPr lvl="5">
              <a:spcBef>
                <a:spcPts val="0"/>
              </a:spcBef>
            </a:pPr>
            <a:r>
              <a:rPr lang="zh-CN" altLang="en-US" dirty="0">
                <a:latin typeface="+mn-ea"/>
              </a:rPr>
              <a:t>边际独立性在给定取值时不独立，不易计算，要进一步分析条件独立性</a:t>
            </a:r>
            <a:endParaRPr lang="en-US" altLang="zh-CN" dirty="0">
              <a:latin typeface="+mn-ea"/>
            </a:endParaRPr>
          </a:p>
          <a:p>
            <a:pPr lvl="5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82571" y="2921893"/>
          <a:ext cx="19685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88" name="Equation" r:id="rId3" imgW="3048000" imgH="3352800" progId="Equation.DSMT4">
                  <p:embed/>
                </p:oleObj>
              </mc:Choice>
              <mc:Fallback>
                <p:oleObj name="Equation" r:id="rId3" imgW="3048000" imgH="33528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571" y="2921893"/>
                        <a:ext cx="196850" cy="21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78300" y="2906917"/>
          <a:ext cx="39370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89" name="Equation" r:id="rId5" imgW="6096000" imgH="3962400" progId="Equation.DSMT4">
                  <p:embed/>
                </p:oleObj>
              </mc:Choice>
              <mc:Fallback>
                <p:oleObj name="Equation" r:id="rId5" imgW="6096000" imgH="3962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2906917"/>
                        <a:ext cx="393700" cy="25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58641" y="3795859"/>
          <a:ext cx="2571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0" name="Equation" r:id="rId7" imgW="3962400" imgH="5486400" progId="Equation.DSMT4">
                  <p:embed/>
                </p:oleObj>
              </mc:Choice>
              <mc:Fallback>
                <p:oleObj name="Equation" r:id="rId7" imgW="39624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8641" y="3795859"/>
                        <a:ext cx="2571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002701" y="3470742"/>
          <a:ext cx="5143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1" name="Equation" r:id="rId9" imgW="7924800" imgH="5486400" progId="Equation.DSMT4">
                  <p:embed/>
                </p:oleObj>
              </mc:Choice>
              <mc:Fallback>
                <p:oleObj name="Equation" r:id="rId9" imgW="79248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701" y="3470742"/>
                        <a:ext cx="51435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154613" y="3764564"/>
          <a:ext cx="5143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2" name="Equation" r:id="rId11" imgW="7924800" imgH="5486400" progId="Equation.DSMT4">
                  <p:embed/>
                </p:oleObj>
              </mc:Choice>
              <mc:Fallback>
                <p:oleObj name="Equation" r:id="rId11" imgW="79248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3" y="3764564"/>
                        <a:ext cx="51435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404" name="Picture 20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02"/>
          <a:stretch>
            <a:fillRect/>
          </a:stretch>
        </p:blipFill>
        <p:spPr bwMode="auto">
          <a:xfrm>
            <a:off x="5436096" y="4170412"/>
            <a:ext cx="792088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707904" y="3502273"/>
          <a:ext cx="2571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3" name="Equation" r:id="rId14" imgW="3962400" imgH="5486400" progId="Equation.DSMT4">
                  <p:embed/>
                </p:oleObj>
              </mc:Choice>
              <mc:Fallback>
                <p:oleObj name="Equation" r:id="rId14" imgW="3962400" imgH="5486400" progId="Equation.DSMT4">
                  <p:embed/>
                  <p:pic>
                    <p:nvPicPr>
                      <p:cNvPr id="0" name="图片 167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502273"/>
                        <a:ext cx="2571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836712"/>
            <a:ext cx="5040560" cy="4690864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7.5.1 </a:t>
            </a:r>
            <a:r>
              <a:rPr lang="zh-CN" altLang="en-US" dirty="0">
                <a:latin typeface="+mn-ea"/>
              </a:rPr>
              <a:t>结构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/>
              <a:t>分析条件独立性</a:t>
            </a:r>
            <a:endParaRPr lang="zh-CN" altLang="en-US" dirty="0"/>
          </a:p>
          <a:p>
            <a:pPr lvl="2"/>
            <a:r>
              <a:rPr lang="zh-CN" altLang="en-US" dirty="0" smtClean="0"/>
              <a:t>用有</a:t>
            </a:r>
            <a:r>
              <a:rPr lang="zh-CN" altLang="en-US" dirty="0"/>
              <a:t>向</a:t>
            </a:r>
            <a:r>
              <a:rPr lang="zh-CN" altLang="en-US" dirty="0" smtClean="0"/>
              <a:t>分离将有向图变为无向图</a:t>
            </a:r>
            <a:endParaRPr lang="en-US" altLang="zh-CN" dirty="0" smtClean="0"/>
          </a:p>
          <a:p>
            <a:pPr lvl="3"/>
            <a:r>
              <a:rPr lang="zh-CN" altLang="en-US" dirty="0" smtClean="0">
                <a:latin typeface="+mn-ea"/>
              </a:rPr>
              <a:t>找出所有</a:t>
            </a:r>
            <a:r>
              <a:rPr lang="en-US" altLang="zh-CN" dirty="0">
                <a:latin typeface="+mn-ea"/>
              </a:rPr>
              <a:t>V</a:t>
            </a:r>
            <a:r>
              <a:rPr lang="zh-CN" altLang="en-US" dirty="0">
                <a:latin typeface="+mn-ea"/>
              </a:rPr>
              <a:t>型结构</a:t>
            </a:r>
            <a:r>
              <a:rPr lang="zh-CN" altLang="en-US" dirty="0" smtClean="0">
                <a:latin typeface="+mn-ea"/>
              </a:rPr>
              <a:t>，其父结点间加上无</a:t>
            </a:r>
            <a:r>
              <a:rPr lang="zh-CN" altLang="en-US" dirty="0">
                <a:latin typeface="+mn-ea"/>
              </a:rPr>
              <a:t>向</a:t>
            </a:r>
            <a:r>
              <a:rPr lang="zh-CN" altLang="en-US" dirty="0" smtClean="0">
                <a:latin typeface="+mn-ea"/>
              </a:rPr>
              <a:t>边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父结点相连的过程</a:t>
            </a:r>
            <a:r>
              <a:rPr lang="zh-CN" altLang="en-US" dirty="0" smtClean="0">
                <a:latin typeface="+mn-ea"/>
              </a:rPr>
              <a:t>称为道德</a:t>
            </a:r>
            <a:r>
              <a:rPr lang="zh-CN" altLang="en-US" dirty="0">
                <a:latin typeface="+mn-ea"/>
              </a:rPr>
              <a:t>化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将所有有向边改为无向</a:t>
            </a:r>
            <a:r>
              <a:rPr lang="zh-CN" altLang="en-US" dirty="0" smtClean="0">
                <a:latin typeface="+mn-ea"/>
              </a:rPr>
              <a:t>边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此无向图称为道德图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遍历结点找出条件独立关系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若</a:t>
            </a:r>
            <a:r>
              <a:rPr lang="en-US" altLang="zh-CN" dirty="0" smtClean="0">
                <a:latin typeface="+mn-ea"/>
              </a:rPr>
              <a:t>x</a:t>
            </a:r>
            <a:r>
              <a:rPr lang="zh-CN" altLang="en-US" dirty="0" smtClean="0">
                <a:latin typeface="+mn-ea"/>
              </a:rPr>
              <a:t>和</a:t>
            </a:r>
            <a:r>
              <a:rPr lang="en-US" altLang="zh-CN" dirty="0" smtClean="0">
                <a:latin typeface="+mn-ea"/>
              </a:rPr>
              <a:t>y</a:t>
            </a:r>
            <a:r>
              <a:rPr lang="zh-CN" altLang="en-US" dirty="0" smtClean="0">
                <a:latin typeface="+mn-ea"/>
              </a:rPr>
              <a:t>能</a:t>
            </a:r>
            <a:r>
              <a:rPr lang="zh-CN" altLang="en-US" dirty="0">
                <a:latin typeface="+mn-ea"/>
              </a:rPr>
              <a:t>在图上</a:t>
            </a:r>
            <a:r>
              <a:rPr lang="zh-CN" altLang="en-US" dirty="0" smtClean="0">
                <a:latin typeface="+mn-ea"/>
              </a:rPr>
              <a:t>被</a:t>
            </a:r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分入两</a:t>
            </a:r>
            <a:r>
              <a:rPr lang="zh-CN" altLang="en-US" dirty="0">
                <a:latin typeface="+mn-ea"/>
              </a:rPr>
              <a:t>个连通分支，则</a:t>
            </a:r>
            <a:r>
              <a:rPr lang="zh-CN" altLang="en-US" dirty="0" smtClean="0">
                <a:latin typeface="+mn-ea"/>
              </a:rPr>
              <a:t>有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spc="-150" dirty="0" smtClean="0">
                <a:latin typeface="+mn-ea"/>
              </a:rPr>
              <a:t>条件</a:t>
            </a:r>
            <a:r>
              <a:rPr lang="zh-CN" altLang="en-US" spc="-150" dirty="0" smtClean="0">
                <a:latin typeface="+mn-ea"/>
              </a:rPr>
              <a:t>独立性分析后</a:t>
            </a:r>
            <a:r>
              <a:rPr lang="zh-CN" altLang="en-US" spc="-150" dirty="0" smtClean="0">
                <a:latin typeface="+mn-ea"/>
              </a:rPr>
              <a:t>，</a:t>
            </a:r>
            <a:r>
              <a:rPr lang="zh-CN" altLang="en-US" spc="-150" dirty="0">
                <a:latin typeface="+mn-ea"/>
              </a:rPr>
              <a:t>估计出</a:t>
            </a:r>
            <a:r>
              <a:rPr lang="zh-CN" altLang="en-US" spc="-150" dirty="0" smtClean="0">
                <a:latin typeface="+mn-ea"/>
              </a:rPr>
              <a:t>条件概率</a:t>
            </a:r>
            <a:r>
              <a:rPr lang="zh-CN" altLang="en-US" spc="-150" dirty="0">
                <a:latin typeface="+mn-ea"/>
              </a:rPr>
              <a:t>表</a:t>
            </a:r>
            <a:r>
              <a:rPr lang="zh-CN" altLang="en-US" spc="-150" dirty="0" smtClean="0">
                <a:latin typeface="+mn-ea"/>
              </a:rPr>
              <a:t>，可得最终</a:t>
            </a:r>
            <a:r>
              <a:rPr lang="zh-CN" altLang="en-US" spc="-150" dirty="0">
                <a:latin typeface="+mn-ea"/>
              </a:rPr>
              <a:t>网络</a:t>
            </a:r>
            <a:endParaRPr lang="zh-CN" altLang="en-US" spc="-150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23928" y="5052541"/>
          <a:ext cx="6699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name="Equation" r:id="rId1" imgW="10363200" imgH="4876800" progId="Equation.DSMT4">
                  <p:embed/>
                </p:oleObj>
              </mc:Choice>
              <mc:Fallback>
                <p:oleObj name="Equation" r:id="rId1" imgW="10363200" imgH="48768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5052541"/>
                        <a:ext cx="6699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5436093" y="332656"/>
            <a:ext cx="3642311" cy="1404000"/>
            <a:chOff x="1835696" y="4725144"/>
            <a:chExt cx="4405746" cy="1698281"/>
          </a:xfrm>
        </p:grpSpPr>
        <p:pic>
          <p:nvPicPr>
            <p:cNvPr id="11" name="Picture 21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7" t="22479" r="39393"/>
            <a:stretch>
              <a:fillRect/>
            </a:stretch>
          </p:blipFill>
          <p:spPr bwMode="auto">
            <a:xfrm>
              <a:off x="1835696" y="4725144"/>
              <a:ext cx="4405746" cy="1698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矩形 11"/>
            <p:cNvSpPr/>
            <p:nvPr/>
          </p:nvSpPr>
          <p:spPr bwMode="auto">
            <a:xfrm>
              <a:off x="5724128" y="5489936"/>
              <a:ext cx="517314" cy="34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724" y="2060848"/>
            <a:ext cx="3663780" cy="2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364" y="4433888"/>
            <a:ext cx="1714500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772400" cy="5688632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7.5.2 </a:t>
            </a:r>
            <a:r>
              <a:rPr lang="zh-CN" altLang="en-US" dirty="0" smtClean="0">
                <a:latin typeface="+mn-ea"/>
              </a:rPr>
              <a:t>学习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 smtClean="0"/>
              <a:t>框架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若网络结构即属性依赖</a:t>
            </a:r>
            <a:r>
              <a:rPr lang="zh-CN" altLang="en-US" dirty="0"/>
              <a:t>关系已知</a:t>
            </a:r>
            <a:r>
              <a:rPr lang="zh-CN" altLang="en-US" dirty="0" smtClean="0"/>
              <a:t>，学习通过</a:t>
            </a:r>
            <a:r>
              <a:rPr lang="zh-CN" altLang="en-US" dirty="0"/>
              <a:t>对</a:t>
            </a:r>
            <a:r>
              <a:rPr lang="zh-CN" altLang="en-US" dirty="0" smtClean="0"/>
              <a:t>训练样本计数，</a:t>
            </a:r>
            <a:r>
              <a:rPr lang="zh-CN" altLang="en-US" dirty="0"/>
              <a:t>估计</a:t>
            </a:r>
            <a:r>
              <a:rPr lang="zh-CN" altLang="en-US" dirty="0" smtClean="0"/>
              <a:t>出每个结点</a:t>
            </a:r>
            <a:r>
              <a:rPr lang="zh-CN" altLang="en-US" dirty="0"/>
              <a:t>的条件概率表即</a:t>
            </a:r>
            <a:r>
              <a:rPr lang="zh-CN" altLang="en-US" dirty="0" smtClean="0"/>
              <a:t>可</a:t>
            </a:r>
            <a:endParaRPr lang="en-US" altLang="zh-CN" dirty="0" smtClean="0"/>
          </a:p>
          <a:p>
            <a:pPr lvl="3"/>
            <a:r>
              <a:rPr lang="zh-CN" altLang="en-US" dirty="0"/>
              <a:t>现实应用</a:t>
            </a:r>
            <a:r>
              <a:rPr lang="zh-CN" altLang="en-US" dirty="0" smtClean="0"/>
              <a:t>中通常并不</a:t>
            </a:r>
            <a:r>
              <a:rPr lang="zh-CN" altLang="en-US" dirty="0"/>
              <a:t>知晓网络结构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贝叶斯</a:t>
            </a:r>
            <a:r>
              <a:rPr lang="zh-CN" altLang="en-US" dirty="0"/>
              <a:t>网学习的首要任务就是根据训练数据集来找出结构</a:t>
            </a:r>
            <a:r>
              <a:rPr lang="zh-CN" altLang="en-US" dirty="0" smtClean="0"/>
              <a:t>最恰当的</a:t>
            </a:r>
            <a:r>
              <a:rPr lang="zh-CN" altLang="en-US" dirty="0"/>
              <a:t>贝叶斯</a:t>
            </a:r>
            <a:r>
              <a:rPr lang="zh-CN" altLang="en-US" dirty="0" smtClean="0">
                <a:latin typeface="+mn-ea"/>
              </a:rPr>
              <a:t>网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结构学习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/>
              <a:t>评分搜索是</a:t>
            </a:r>
            <a:r>
              <a:rPr lang="zh-CN" altLang="en-US" dirty="0"/>
              <a:t>求解这一问题的常用</a:t>
            </a:r>
            <a:r>
              <a:rPr lang="zh-CN" altLang="en-US" dirty="0" smtClean="0"/>
              <a:t>办法</a:t>
            </a:r>
            <a:endParaRPr lang="en-US" altLang="zh-CN" dirty="0" smtClean="0"/>
          </a:p>
          <a:p>
            <a:pPr lvl="4"/>
            <a:r>
              <a:rPr lang="zh-CN" altLang="en-US" dirty="0"/>
              <a:t>基于评分函数来寻找结构最优的贝叶斯</a:t>
            </a:r>
            <a:r>
              <a:rPr lang="zh-CN" altLang="en-US" dirty="0" smtClean="0"/>
              <a:t>网</a:t>
            </a:r>
            <a:endParaRPr lang="en-US" altLang="zh-CN" dirty="0"/>
          </a:p>
          <a:p>
            <a:pPr lvl="5">
              <a:spcBef>
                <a:spcPts val="0"/>
              </a:spcBef>
            </a:pPr>
            <a:r>
              <a:rPr lang="zh-CN" altLang="en-US" dirty="0" smtClean="0"/>
              <a:t>先定义评分函数，以此</a:t>
            </a:r>
            <a:r>
              <a:rPr lang="zh-CN" altLang="en-US" dirty="0"/>
              <a:t>来评估贝叶斯网与训练数据的契合</a:t>
            </a:r>
            <a:r>
              <a:rPr lang="zh-CN" altLang="en-US" dirty="0" smtClean="0"/>
              <a:t>程度</a:t>
            </a:r>
            <a:endParaRPr lang="en-US" altLang="zh-CN" dirty="0" smtClean="0"/>
          </a:p>
          <a:p>
            <a:pPr lvl="5">
              <a:spcBef>
                <a:spcPts val="0"/>
              </a:spcBef>
            </a:pPr>
            <a:r>
              <a:rPr lang="zh-CN" altLang="en-US" dirty="0" smtClean="0"/>
              <a:t>评分</a:t>
            </a:r>
            <a:r>
              <a:rPr lang="zh-CN" altLang="en-US" dirty="0"/>
              <a:t>函数</a:t>
            </a:r>
            <a:r>
              <a:rPr lang="zh-CN" altLang="en-US" dirty="0" smtClean="0"/>
              <a:t>引入归纳偏好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7.5.2 </a:t>
            </a:r>
            <a:r>
              <a:rPr lang="zh-CN" altLang="en-US" dirty="0">
                <a:latin typeface="+mn-ea"/>
              </a:rPr>
              <a:t>学习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/>
              <a:t>评分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2"/>
            <a:r>
              <a:rPr lang="zh-CN" altLang="en-US" dirty="0" smtClean="0">
                <a:latin typeface="+mn-ea"/>
              </a:rPr>
              <a:t>通常基于</a:t>
            </a:r>
            <a:r>
              <a:rPr lang="zh-CN" altLang="en-US" dirty="0">
                <a:latin typeface="+mn-ea"/>
              </a:rPr>
              <a:t>信息论</a:t>
            </a:r>
            <a:r>
              <a:rPr lang="zh-CN" altLang="en-US" dirty="0" smtClean="0">
                <a:latin typeface="+mn-ea"/>
              </a:rPr>
              <a:t>准则</a:t>
            </a:r>
            <a:endParaRPr lang="en-US" altLang="zh-CN" dirty="0" smtClean="0"/>
          </a:p>
          <a:p>
            <a:pPr lvl="2"/>
            <a:r>
              <a:rPr lang="zh-CN" altLang="en-US" dirty="0" smtClean="0">
                <a:latin typeface="+mn-ea"/>
              </a:rPr>
              <a:t>最小</a:t>
            </a:r>
            <a:r>
              <a:rPr lang="zh-CN" altLang="en-US" dirty="0">
                <a:latin typeface="+mn-ea"/>
              </a:rPr>
              <a:t>描述</a:t>
            </a:r>
            <a:r>
              <a:rPr lang="zh-CN" altLang="en-US" dirty="0" smtClean="0">
                <a:latin typeface="+mn-ea"/>
              </a:rPr>
              <a:t>长度</a:t>
            </a:r>
            <a:r>
              <a:rPr lang="en-US" altLang="zh-CN" dirty="0" smtClean="0">
                <a:latin typeface="+mn-ea"/>
              </a:rPr>
              <a:t>(MDL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准则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将学习问题看作一个数据压缩任务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学习目标是找到能以最短编码长度描述训练集的模型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贝叶斯网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编码长度</a:t>
            </a:r>
            <a:r>
              <a:rPr lang="zh-CN" altLang="en-US" dirty="0">
                <a:latin typeface="+mn-ea"/>
              </a:rPr>
              <a:t>包括了描述模型自身所需的字节长度和使用该</a:t>
            </a:r>
            <a:r>
              <a:rPr lang="zh-CN" altLang="en-US" dirty="0" smtClean="0">
                <a:latin typeface="+mn-ea"/>
              </a:rPr>
              <a:t>模型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贝叶斯网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描述</a:t>
            </a:r>
            <a:r>
              <a:rPr lang="zh-CN" altLang="en-US" dirty="0">
                <a:latin typeface="+mn-ea"/>
              </a:rPr>
              <a:t>数据所需的字节</a:t>
            </a:r>
            <a:r>
              <a:rPr lang="zh-CN" altLang="en-US" dirty="0" smtClean="0">
                <a:latin typeface="+mn-ea"/>
              </a:rPr>
              <a:t>长度</a:t>
            </a:r>
            <a:endParaRPr lang="en-US" altLang="zh-CN" dirty="0" smtClean="0">
              <a:latin typeface="+mn-ea"/>
            </a:endParaRPr>
          </a:p>
          <a:p>
            <a:pPr lvl="4" hangingPunct="0"/>
            <a:r>
              <a:rPr lang="zh-CN" altLang="en-US" dirty="0" smtClean="0">
                <a:latin typeface="+mn-ea"/>
              </a:rPr>
              <a:t>每个</a:t>
            </a:r>
            <a:r>
              <a:rPr lang="zh-CN" altLang="en-US" dirty="0">
                <a:latin typeface="+mn-ea"/>
              </a:rPr>
              <a:t>贝叶斯网</a:t>
            </a:r>
            <a:r>
              <a:rPr lang="zh-CN" altLang="en-US" dirty="0" smtClean="0">
                <a:latin typeface="+mn-ea"/>
              </a:rPr>
              <a:t>描述一</a:t>
            </a:r>
            <a:r>
              <a:rPr lang="zh-CN" altLang="en-US" dirty="0">
                <a:latin typeface="+mn-ea"/>
              </a:rPr>
              <a:t>个在训练数据上的概率分布</a:t>
            </a:r>
            <a:r>
              <a:rPr lang="zh-CN" altLang="en-US" dirty="0" smtClean="0">
                <a:latin typeface="+mn-ea"/>
              </a:rPr>
              <a:t>，其编码机制使</a:t>
            </a:r>
            <a:r>
              <a:rPr lang="zh-CN" altLang="en-US" dirty="0">
                <a:latin typeface="+mn-ea"/>
              </a:rPr>
              <a:t>那些经常出现的样本有更短的</a:t>
            </a:r>
            <a:r>
              <a:rPr lang="zh-CN" altLang="en-US" dirty="0" smtClean="0">
                <a:latin typeface="+mn-ea"/>
              </a:rPr>
              <a:t>编码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最终</a:t>
            </a:r>
            <a:r>
              <a:rPr lang="zh-CN" altLang="en-US" dirty="0" smtClean="0">
                <a:latin typeface="+mn-ea"/>
              </a:rPr>
              <a:t>选择</a:t>
            </a:r>
            <a:r>
              <a:rPr lang="zh-CN" altLang="en-US" dirty="0">
                <a:latin typeface="+mn-ea"/>
              </a:rPr>
              <a:t>那个综合编码长度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包括描述网络和编码数据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最短的贝叶斯</a:t>
            </a:r>
            <a:r>
              <a:rPr lang="zh-CN" altLang="en-US" dirty="0" smtClean="0">
                <a:latin typeface="+mn-ea"/>
              </a:rPr>
              <a:t>网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772400" cy="5832648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7.5.2 </a:t>
            </a:r>
            <a:r>
              <a:rPr lang="zh-CN" altLang="en-US" dirty="0" smtClean="0">
                <a:latin typeface="+mn-ea"/>
              </a:rPr>
              <a:t>学习</a:t>
            </a:r>
            <a:endParaRPr lang="zh-CN" altLang="en-US" dirty="0" smtClean="0">
              <a:latin typeface="+mn-ea"/>
            </a:endParaRPr>
          </a:p>
          <a:p>
            <a:pPr lvl="1"/>
            <a:r>
              <a:rPr lang="zh-CN" altLang="en-US" dirty="0" smtClean="0"/>
              <a:t>评分函数</a:t>
            </a:r>
            <a:endParaRPr lang="en-US" altLang="zh-CN" dirty="0" smtClean="0"/>
          </a:p>
          <a:p>
            <a:pPr lvl="2"/>
            <a:r>
              <a:rPr lang="zh-CN" altLang="en-US" dirty="0" smtClean="0">
                <a:latin typeface="+mn-ea"/>
              </a:rPr>
              <a:t>最小描述长度</a:t>
            </a:r>
            <a:r>
              <a:rPr lang="en-US" altLang="zh-CN" dirty="0" smtClean="0">
                <a:latin typeface="+mn-ea"/>
              </a:rPr>
              <a:t>(MDL)</a:t>
            </a:r>
            <a:r>
              <a:rPr lang="zh-CN" altLang="en-US" dirty="0" smtClean="0">
                <a:latin typeface="+mn-ea"/>
              </a:rPr>
              <a:t>准则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给定数据集</a:t>
            </a:r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，贝叶斯网       在</a:t>
            </a:r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上的评分函数为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   是贝叶斯网的参数个数</a:t>
            </a:r>
            <a:endParaRPr lang="zh-CN" altLang="en-US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    表示描述每个参数  所需的字节数</a:t>
            </a:r>
            <a:endParaRPr lang="en-US" altLang="zh-CN" dirty="0" smtClean="0">
              <a:latin typeface="+mn-ea"/>
            </a:endParaRPr>
          </a:p>
          <a:p>
            <a:pPr lvl="4">
              <a:spcBef>
                <a:spcPts val="600"/>
              </a:spcBef>
              <a:spcAft>
                <a:spcPts val="600"/>
              </a:spcAft>
            </a:pPr>
            <a:r>
              <a:rPr lang="zh-CN" altLang="en-US" dirty="0" smtClean="0">
                <a:latin typeface="+mn-ea"/>
              </a:rPr>
              <a:t>贝叶斯网</a:t>
            </a:r>
            <a:r>
              <a:rPr lang="en-US" altLang="zh-CN" dirty="0" smtClean="0">
                <a:latin typeface="+mn-ea"/>
              </a:rPr>
              <a:t>B</a:t>
            </a:r>
            <a:r>
              <a:rPr lang="zh-CN" altLang="en-US" dirty="0" smtClean="0">
                <a:latin typeface="+mn-ea"/>
              </a:rPr>
              <a:t>的对数似然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第一</a:t>
            </a:r>
            <a:r>
              <a:rPr lang="zh-CN" altLang="en-US" dirty="0" smtClean="0">
                <a:latin typeface="+mn-ea"/>
              </a:rPr>
              <a:t>项计算</a:t>
            </a:r>
            <a:r>
              <a:rPr lang="zh-CN" altLang="en-US" dirty="0">
                <a:latin typeface="+mn-ea"/>
              </a:rPr>
              <a:t>编码贝叶斯网</a:t>
            </a:r>
            <a:r>
              <a:rPr lang="en-US" altLang="zh-CN" dirty="0" smtClean="0">
                <a:latin typeface="+mn-ea"/>
              </a:rPr>
              <a:t>B</a:t>
            </a:r>
            <a:r>
              <a:rPr lang="zh-CN" altLang="en-US" dirty="0" smtClean="0">
                <a:latin typeface="+mn-ea"/>
              </a:rPr>
              <a:t>所</a:t>
            </a:r>
            <a:r>
              <a:rPr lang="zh-CN" altLang="en-US" dirty="0">
                <a:latin typeface="+mn-ea"/>
              </a:rPr>
              <a:t>需的字节数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第二</a:t>
            </a:r>
            <a:r>
              <a:rPr lang="zh-CN" altLang="en-US" dirty="0" smtClean="0">
                <a:latin typeface="+mn-ea"/>
              </a:rPr>
              <a:t>项计算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所对应的</a:t>
            </a:r>
            <a:r>
              <a:rPr lang="zh-CN" altLang="en-US" dirty="0" smtClean="0">
                <a:latin typeface="+mn-ea"/>
              </a:rPr>
              <a:t>概率分布  </a:t>
            </a:r>
            <a:r>
              <a:rPr lang="zh-CN" altLang="en-US" dirty="0">
                <a:latin typeface="+mn-ea"/>
              </a:rPr>
              <a:t>所</a:t>
            </a:r>
            <a:r>
              <a:rPr lang="zh-CN" altLang="en-US" dirty="0" smtClean="0">
                <a:latin typeface="+mn-ea"/>
              </a:rPr>
              <a:t>需字节描述</a:t>
            </a:r>
            <a:r>
              <a:rPr lang="en-US" altLang="zh-CN" dirty="0" smtClean="0">
                <a:latin typeface="+mn-ea"/>
              </a:rPr>
              <a:t>D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学习任务就转化为一个优化任务，即寻找一个贝叶斯网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使评分</a:t>
            </a:r>
            <a:r>
              <a:rPr lang="zh-CN" altLang="en-US" dirty="0" smtClean="0">
                <a:latin typeface="+mn-ea"/>
              </a:rPr>
              <a:t>函数</a:t>
            </a:r>
            <a:r>
              <a:rPr lang="en-US" altLang="zh-CN" dirty="0" smtClean="0">
                <a:latin typeface="+mn-ea"/>
              </a:rPr>
              <a:t>      </a:t>
            </a:r>
            <a:r>
              <a:rPr lang="zh-CN" altLang="en-US" dirty="0" smtClean="0">
                <a:latin typeface="+mn-ea"/>
              </a:rPr>
              <a:t>最小</a:t>
            </a:r>
            <a:endParaRPr lang="zh-CN" altLang="en-US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073948" y="2168916"/>
          <a:ext cx="93821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9" name="Equation" r:id="rId1" imgW="596900" imgH="228600" progId="Equation.DSMT4">
                  <p:embed/>
                </p:oleObj>
              </mc:Choice>
              <mc:Fallback>
                <p:oleObj name="Equation" r:id="rId1" imgW="596900" imgH="228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948" y="2168916"/>
                        <a:ext cx="93821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249613" y="2780606"/>
          <a:ext cx="28908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0" name="Equation" r:id="rId3" imgW="39319200" imgH="4876800" progId="Equation.DSMT4">
                  <p:embed/>
                </p:oleObj>
              </mc:Choice>
              <mc:Fallback>
                <p:oleObj name="Equation" r:id="rId3" imgW="39319200" imgH="487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613" y="2780606"/>
                        <a:ext cx="289083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843808" y="3393009"/>
          <a:ext cx="3365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1" name="Equation" r:id="rId5" imgW="4572000" imgH="4876800" progId="Equation.DSMT4">
                  <p:embed/>
                </p:oleObj>
              </mc:Choice>
              <mc:Fallback>
                <p:oleObj name="Equation" r:id="rId5" imgW="4572000" imgH="487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393009"/>
                        <a:ext cx="3365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765159" y="3716710"/>
          <a:ext cx="6048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2" name="Equation" r:id="rId7" imgW="8229600" imgH="4876800" progId="Equation.DSMT4">
                  <p:embed/>
                </p:oleObj>
              </mc:Choice>
              <mc:Fallback>
                <p:oleObj name="Equation" r:id="rId7" imgW="82296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159" y="3716710"/>
                        <a:ext cx="60483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428282" y="3689152"/>
          <a:ext cx="22383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3" name="Equation" r:id="rId9" imgW="3048000" imgH="4267200" progId="Equation.DSMT4">
                  <p:embed/>
                </p:oleObj>
              </mc:Choice>
              <mc:Fallback>
                <p:oleObj name="Equation" r:id="rId9" imgW="3048000" imgH="42672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8282" y="3689152"/>
                        <a:ext cx="223838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365130" y="3991595"/>
          <a:ext cx="27352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4" name="Equation" r:id="rId11" imgW="37185600" imgH="7010400" progId="Equation.DSMT4">
                  <p:embed/>
                </p:oleObj>
              </mc:Choice>
              <mc:Fallback>
                <p:oleObj name="Equation" r:id="rId11" imgW="37185600" imgH="7010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130" y="3991595"/>
                        <a:ext cx="27352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6372200" y="2420888"/>
            <a:ext cx="16561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FF0000"/>
                </a:solidFill>
                <a:latin typeface="+mn-ea"/>
                <a:ea typeface="+mn-ea"/>
              </a:rPr>
              <a:t>编码贝叶斯</a:t>
            </a:r>
            <a:r>
              <a:rPr lang="zh-CN" altLang="en-US" sz="1800" b="0" dirty="0" smtClean="0">
                <a:solidFill>
                  <a:srgbClr val="FF0000"/>
                </a:solidFill>
                <a:latin typeface="+mn-ea"/>
                <a:ea typeface="+mn-ea"/>
              </a:rPr>
              <a:t>网所</a:t>
            </a:r>
            <a:r>
              <a:rPr lang="zh-CN" altLang="en-US" sz="1800" b="0" dirty="0">
                <a:solidFill>
                  <a:srgbClr val="FF0000"/>
                </a:solidFill>
                <a:latin typeface="+mn-ea"/>
                <a:ea typeface="+mn-ea"/>
              </a:rPr>
              <a:t>需的字节数</a:t>
            </a:r>
            <a:endParaRPr lang="zh-CN" altLang="en-US" sz="1800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72200" y="3070701"/>
            <a:ext cx="18722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dirty="0" smtClean="0">
                <a:solidFill>
                  <a:srgbClr val="0000FF"/>
                </a:solidFill>
                <a:latin typeface="+mn-ea"/>
                <a:ea typeface="+mn-ea"/>
              </a:rPr>
              <a:t>描述</a:t>
            </a:r>
            <a:r>
              <a:rPr lang="en-US" altLang="zh-CN" sz="1800" b="0" dirty="0" smtClean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zh-CN" altLang="en-US" sz="1800" b="0" dirty="0" smtClean="0">
                <a:solidFill>
                  <a:srgbClr val="0000FF"/>
                </a:solidFill>
                <a:latin typeface="+mn-ea"/>
                <a:ea typeface="+mn-ea"/>
              </a:rPr>
              <a:t>对应的概率分布所需字节</a:t>
            </a:r>
            <a:endParaRPr lang="en-US" altLang="zh-CN" sz="1800" b="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 flipH="1">
            <a:off x="4788024" y="2564904"/>
            <a:ext cx="1584176" cy="1791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箭头连接符 15"/>
          <p:cNvCxnSpPr>
            <a:endCxn id="19" idx="2"/>
          </p:cNvCxnSpPr>
          <p:nvPr/>
        </p:nvCxnSpPr>
        <p:spPr bwMode="auto">
          <a:xfrm flipH="1" flipV="1">
            <a:off x="5634064" y="3140968"/>
            <a:ext cx="738136" cy="2528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矩形 17"/>
          <p:cNvSpPr/>
          <p:nvPr/>
        </p:nvSpPr>
        <p:spPr bwMode="auto">
          <a:xfrm>
            <a:off x="4211960" y="2744053"/>
            <a:ext cx="792088" cy="396000"/>
          </a:xfrm>
          <a:prstGeom prst="rect">
            <a:avLst/>
          </a:prstGeom>
          <a:solidFill>
            <a:srgbClr val="FF0000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5148064" y="2744968"/>
            <a:ext cx="972000" cy="396000"/>
          </a:xfrm>
          <a:prstGeom prst="rect">
            <a:avLst/>
          </a:prstGeom>
          <a:solidFill>
            <a:srgbClr val="0000FF">
              <a:alpha val="2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273899" y="4725058"/>
          <a:ext cx="3143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5" name="Equation" r:id="rId13" imgW="4267200" imgH="5486400" progId="Equation.DSMT4">
                  <p:embed/>
                </p:oleObj>
              </mc:Choice>
              <mc:Fallback>
                <p:oleObj name="Equation" r:id="rId13" imgW="4267200" imgH="5486400" progId="Equation.DSMT4">
                  <p:embed/>
                  <p:pic>
                    <p:nvPicPr>
                      <p:cNvPr id="0" name="图片 200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899" y="4725058"/>
                        <a:ext cx="31432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067944" y="5373216"/>
          <a:ext cx="8286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6" name="Equation" r:id="rId15" imgW="11277600" imgH="4876800" progId="Equation.DSMT4">
                  <p:embed/>
                </p:oleObj>
              </mc:Choice>
              <mc:Fallback>
                <p:oleObj name="Equation" r:id="rId15" imgW="11277600" imgH="4876800" progId="Equation.DSMT4">
                  <p:embed/>
                  <p:pic>
                    <p:nvPicPr>
                      <p:cNvPr id="0" name="图片 20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5373216"/>
                        <a:ext cx="82867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772400" cy="5832648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7.5.2 </a:t>
            </a:r>
            <a:r>
              <a:rPr lang="zh-CN" altLang="en-US" dirty="0" smtClean="0">
                <a:latin typeface="+mn-ea"/>
              </a:rPr>
              <a:t>学习</a:t>
            </a:r>
            <a:endParaRPr lang="zh-CN" altLang="en-US" dirty="0" smtClean="0">
              <a:latin typeface="+mn-ea"/>
            </a:endParaRPr>
          </a:p>
          <a:p>
            <a:pPr lvl="1"/>
            <a:r>
              <a:rPr lang="zh-CN" altLang="en-US" dirty="0" smtClean="0"/>
              <a:t>评分函数</a:t>
            </a:r>
            <a:endParaRPr lang="en-US" altLang="zh-CN" dirty="0" smtClean="0"/>
          </a:p>
          <a:p>
            <a:pPr lvl="2"/>
            <a:r>
              <a:rPr lang="en-US" altLang="zh-CN" dirty="0" smtClean="0">
                <a:latin typeface="+mn-ea"/>
              </a:rPr>
              <a:t>AIC(</a:t>
            </a:r>
            <a:r>
              <a:rPr lang="en-US" altLang="zh-CN" dirty="0" err="1" smtClean="0">
                <a:latin typeface="+mn-ea"/>
              </a:rPr>
              <a:t>Akaike</a:t>
            </a:r>
            <a:r>
              <a:rPr lang="en-US" altLang="zh-CN" dirty="0" smtClean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information criterion)</a:t>
            </a:r>
            <a:r>
              <a:rPr lang="zh-CN" altLang="en-US" dirty="0">
                <a:latin typeface="+mn-ea"/>
              </a:rPr>
              <a:t>评分函数</a:t>
            </a:r>
            <a:endParaRPr lang="zh-CN" altLang="en-US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若     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每个参数用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个字节描述，则得到</a:t>
            </a:r>
            <a:r>
              <a:rPr lang="en-US" altLang="zh-CN" dirty="0" smtClean="0">
                <a:latin typeface="+mn-ea"/>
              </a:rPr>
              <a:t>AIC</a:t>
            </a:r>
            <a:r>
              <a:rPr lang="zh-CN" altLang="en-US" dirty="0" smtClean="0">
                <a:latin typeface="+mn-ea"/>
              </a:rPr>
              <a:t>评分函数</a:t>
            </a:r>
            <a:endParaRPr lang="en-US" altLang="zh-CN" dirty="0" smtClean="0">
              <a:latin typeface="+mn-ea"/>
            </a:endParaRPr>
          </a:p>
          <a:p>
            <a:pPr lvl="2">
              <a:spcBef>
                <a:spcPts val="1200"/>
              </a:spcBef>
            </a:pPr>
            <a:r>
              <a:rPr lang="en-US" altLang="zh-CN" spc="-100" dirty="0" smtClean="0">
                <a:latin typeface="+mn-ea"/>
              </a:rPr>
              <a:t>BIC(Bayesian </a:t>
            </a:r>
            <a:r>
              <a:rPr lang="en-US" altLang="zh-CN" spc="-100" dirty="0">
                <a:latin typeface="+mn-ea"/>
              </a:rPr>
              <a:t>Information Criterion)</a:t>
            </a:r>
            <a:r>
              <a:rPr lang="zh-CN" altLang="en-US" spc="-100" dirty="0">
                <a:latin typeface="+mn-ea"/>
              </a:rPr>
              <a:t>评分</a:t>
            </a:r>
            <a:r>
              <a:rPr lang="zh-CN" altLang="en-US" spc="-100" dirty="0" smtClean="0">
                <a:latin typeface="+mn-ea"/>
              </a:rPr>
              <a:t>函数</a:t>
            </a:r>
            <a:endParaRPr lang="en-US" altLang="zh-CN" spc="-100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若     </a:t>
            </a:r>
            <a:r>
              <a:rPr lang="zh-CN" altLang="en-US" dirty="0" smtClean="0">
                <a:latin typeface="+mn-ea"/>
              </a:rPr>
              <a:t>   ，</a:t>
            </a:r>
            <a:r>
              <a:rPr lang="zh-CN" altLang="en-US" dirty="0">
                <a:latin typeface="+mn-ea"/>
              </a:rPr>
              <a:t>每个参数</a:t>
            </a:r>
            <a:r>
              <a:rPr lang="zh-CN" altLang="en-US" dirty="0" smtClean="0">
                <a:latin typeface="+mn-ea"/>
              </a:rPr>
              <a:t>用</a:t>
            </a:r>
            <a:r>
              <a:rPr lang="en-US" altLang="zh-CN" dirty="0" smtClean="0">
                <a:latin typeface="+mn-ea"/>
              </a:rPr>
              <a:t>    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字节描述，则</a:t>
            </a:r>
            <a:r>
              <a:rPr lang="zh-CN" altLang="en-US" dirty="0" smtClean="0">
                <a:latin typeface="+mn-ea"/>
              </a:rPr>
              <a:t>得到</a:t>
            </a:r>
            <a:r>
              <a:rPr lang="en-US" altLang="zh-CN" dirty="0" smtClean="0">
                <a:latin typeface="+mn-ea"/>
              </a:rPr>
              <a:t>BIC</a:t>
            </a:r>
            <a:r>
              <a:rPr lang="zh-CN" altLang="en-US" dirty="0">
                <a:latin typeface="+mn-ea"/>
              </a:rPr>
              <a:t>评分函数</a:t>
            </a:r>
            <a:endParaRPr lang="en-US" altLang="zh-CN" dirty="0">
              <a:latin typeface="+mn-ea"/>
            </a:endParaRPr>
          </a:p>
          <a:p>
            <a:pPr lvl="3"/>
            <a:endParaRPr lang="zh-CN" altLang="en-US" spc="-100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若     ，不</a:t>
            </a:r>
            <a:r>
              <a:rPr lang="zh-CN" altLang="en-US" dirty="0">
                <a:latin typeface="+mn-ea"/>
              </a:rPr>
              <a:t>计算对</a:t>
            </a:r>
            <a:r>
              <a:rPr lang="zh-CN" altLang="en-US" dirty="0" smtClean="0">
                <a:latin typeface="+mn-ea"/>
              </a:rPr>
              <a:t>网络编码</a:t>
            </a:r>
            <a:r>
              <a:rPr lang="zh-CN" altLang="en-US" dirty="0">
                <a:latin typeface="+mn-ea"/>
              </a:rPr>
              <a:t>的长度</a:t>
            </a:r>
            <a:r>
              <a:rPr lang="zh-CN" altLang="en-US" dirty="0" smtClean="0">
                <a:latin typeface="+mn-ea"/>
              </a:rPr>
              <a:t>，评分函数为</a:t>
            </a:r>
            <a:r>
              <a:rPr lang="zh-CN" altLang="en-US" dirty="0">
                <a:latin typeface="+mn-ea"/>
              </a:rPr>
              <a:t>负对数似然</a:t>
            </a:r>
            <a:r>
              <a:rPr lang="zh-CN" altLang="en-US" dirty="0" smtClean="0">
                <a:latin typeface="+mn-ea"/>
              </a:rPr>
              <a:t>，学习</a:t>
            </a:r>
            <a:r>
              <a:rPr lang="zh-CN" altLang="en-US" dirty="0">
                <a:latin typeface="+mn-ea"/>
              </a:rPr>
              <a:t>任务退化为极大似然</a:t>
            </a:r>
            <a:r>
              <a:rPr lang="zh-CN" altLang="en-US" dirty="0" smtClean="0">
                <a:latin typeface="+mn-ea"/>
              </a:rPr>
              <a:t>估计</a:t>
            </a:r>
            <a:endParaRPr lang="en-US" altLang="zh-CN" dirty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432175" y="2636912"/>
          <a:ext cx="27114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1" name="Equation" r:id="rId1" imgW="36880800" imgH="4876800" progId="Equation.DSMT4">
                  <p:embed/>
                </p:oleObj>
              </mc:Choice>
              <mc:Fallback>
                <p:oleObj name="Equation" r:id="rId1" imgW="36880800" imgH="4876800" progId="Equation.DSMT4">
                  <p:embed/>
                  <p:pic>
                    <p:nvPicPr>
                      <p:cNvPr id="0" name="图片 267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636912"/>
                        <a:ext cx="27114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627313" y="2205038"/>
          <a:ext cx="6985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2" name="Equation" r:id="rId3" imgW="11887200" imgH="4876800" progId="Equation.DSMT4">
                  <p:embed/>
                </p:oleObj>
              </mc:Choice>
              <mc:Fallback>
                <p:oleObj name="Equation" r:id="rId3" imgW="11887200" imgH="4876800" progId="Equation.DSMT4">
                  <p:embed/>
                  <p:pic>
                    <p:nvPicPr>
                      <p:cNvPr id="0" name="图片 267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205038"/>
                        <a:ext cx="69850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229967" y="3861048"/>
          <a:ext cx="30702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3" name="Equation" r:id="rId5" imgW="41757600" imgH="5791200" progId="Equation.DSMT4">
                  <p:embed/>
                </p:oleObj>
              </mc:Choice>
              <mc:Fallback>
                <p:oleObj name="Equation" r:id="rId5" imgW="41757600" imgH="5791200" progId="Equation.DSMT4">
                  <p:embed/>
                  <p:pic>
                    <p:nvPicPr>
                      <p:cNvPr id="0" name="图片 267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9967" y="3861048"/>
                        <a:ext cx="30702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627784" y="3300289"/>
          <a:ext cx="11636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4" name="Equation" r:id="rId7" imgW="19812000" imgH="5486400" progId="Equation.DSMT4">
                  <p:embed/>
                </p:oleObj>
              </mc:Choice>
              <mc:Fallback>
                <p:oleObj name="Equation" r:id="rId7" imgW="19812000" imgH="5486400" progId="Equation.DSMT4">
                  <p:embed/>
                  <p:pic>
                    <p:nvPicPr>
                      <p:cNvPr id="0" name="图片 267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300289"/>
                        <a:ext cx="1163637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402560" y="3284984"/>
          <a:ext cx="6096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5" name="Equation" r:id="rId9" imgW="10363200" imgH="5486400" progId="Equation.DSMT4">
                  <p:embed/>
                </p:oleObj>
              </mc:Choice>
              <mc:Fallback>
                <p:oleObj name="Equation" r:id="rId9" imgW="10363200" imgH="5486400" progId="Equation.DSMT4">
                  <p:embed/>
                  <p:pic>
                    <p:nvPicPr>
                      <p:cNvPr id="0" name="图片 267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560" y="3284984"/>
                        <a:ext cx="6096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210484" y="4250585"/>
          <a:ext cx="920887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6" name="Equation" r:id="rId11" imgW="12496800" imgH="4876800" progId="Equation.DSMT4">
                  <p:embed/>
                </p:oleObj>
              </mc:Choice>
              <mc:Fallback>
                <p:oleObj name="Equation" r:id="rId11" imgW="12496800" imgH="4876800" progId="Equation.DSMT4">
                  <p:embed/>
                  <p:pic>
                    <p:nvPicPr>
                      <p:cNvPr id="0" name="图片 267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484" y="4250585"/>
                        <a:ext cx="920887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7.5.2 </a:t>
            </a:r>
            <a:r>
              <a:rPr lang="zh-CN" altLang="en-US" dirty="0">
                <a:latin typeface="+mn-ea"/>
              </a:rPr>
              <a:t>学习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/>
              <a:t>搜索最优贝叶斯网</a:t>
            </a:r>
            <a:r>
              <a:rPr lang="zh-CN" altLang="en-US" dirty="0" smtClean="0"/>
              <a:t>结构</a:t>
            </a:r>
            <a:endParaRPr lang="en-US" altLang="zh-CN" dirty="0" smtClean="0"/>
          </a:p>
          <a:p>
            <a:pPr lvl="2"/>
            <a:r>
              <a:rPr lang="zh-CN" altLang="en-US" dirty="0">
                <a:latin typeface="+mn-ea"/>
              </a:rPr>
              <a:t>若贝叶斯</a:t>
            </a:r>
            <a:r>
              <a:rPr lang="zh-CN" altLang="en-US" dirty="0" smtClean="0">
                <a:latin typeface="+mn-ea"/>
              </a:rPr>
              <a:t>网      的网络结构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固定</a:t>
            </a:r>
            <a:r>
              <a:rPr lang="zh-CN" altLang="en-US" dirty="0">
                <a:latin typeface="+mn-ea"/>
              </a:rPr>
              <a:t>，则评分</a:t>
            </a:r>
            <a:r>
              <a:rPr lang="zh-CN" altLang="en-US" dirty="0" smtClean="0">
                <a:latin typeface="+mn-ea"/>
              </a:rPr>
              <a:t>函数     的</a:t>
            </a:r>
            <a:r>
              <a:rPr lang="zh-CN" altLang="en-US" dirty="0">
                <a:latin typeface="+mn-ea"/>
              </a:rPr>
              <a:t>第一项为</a:t>
            </a:r>
            <a:r>
              <a:rPr lang="zh-CN" altLang="en-US" dirty="0" smtClean="0">
                <a:latin typeface="+mn-ea"/>
              </a:rPr>
              <a:t>常数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最小化      等价</a:t>
            </a:r>
            <a:r>
              <a:rPr lang="zh-CN" altLang="en-US" dirty="0">
                <a:latin typeface="+mn-ea"/>
              </a:rPr>
              <a:t>于对</a:t>
            </a:r>
            <a:r>
              <a:rPr lang="zh-CN" altLang="en-US" dirty="0" smtClean="0">
                <a:latin typeface="+mn-ea"/>
              </a:rPr>
              <a:t>参数  的</a:t>
            </a:r>
            <a:r>
              <a:rPr lang="zh-CN" altLang="en-US" dirty="0">
                <a:latin typeface="+mn-ea"/>
              </a:rPr>
              <a:t>极大</a:t>
            </a:r>
            <a:r>
              <a:rPr lang="zh-CN" altLang="en-US" dirty="0" smtClean="0">
                <a:latin typeface="+mn-ea"/>
              </a:rPr>
              <a:t>似然估计</a:t>
            </a:r>
            <a:endParaRPr lang="zh-CN" altLang="en-US" dirty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参数   能</a:t>
            </a:r>
            <a:r>
              <a:rPr lang="zh-CN" altLang="en-US" dirty="0">
                <a:latin typeface="+mn-ea"/>
              </a:rPr>
              <a:t>直接在训练</a:t>
            </a:r>
            <a:r>
              <a:rPr lang="zh-CN" altLang="en-US" dirty="0" smtClean="0">
                <a:latin typeface="+mn-ea"/>
              </a:rPr>
              <a:t>数据上</a:t>
            </a:r>
            <a:r>
              <a:rPr lang="zh-CN" altLang="en-US" dirty="0">
                <a:latin typeface="+mn-ea"/>
              </a:rPr>
              <a:t>通过经验估计</a:t>
            </a:r>
            <a:r>
              <a:rPr lang="zh-CN" altLang="en-US" dirty="0" smtClean="0">
                <a:latin typeface="+mn-ea"/>
              </a:rPr>
              <a:t>获得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5"/>
            <a:r>
              <a:rPr lang="zh-CN" altLang="en-US" dirty="0" smtClean="0">
                <a:latin typeface="+mn-ea"/>
              </a:rPr>
              <a:t>    是</a:t>
            </a:r>
            <a:r>
              <a:rPr lang="en-US" altLang="zh-CN" dirty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上的经验分布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最小化评分</a:t>
            </a:r>
            <a:r>
              <a:rPr lang="zh-CN" altLang="en-US" dirty="0" smtClean="0">
                <a:latin typeface="+mn-ea"/>
              </a:rPr>
              <a:t>函数只需</a:t>
            </a:r>
            <a:r>
              <a:rPr lang="zh-CN" altLang="en-US" dirty="0">
                <a:latin typeface="+mn-ea"/>
              </a:rPr>
              <a:t>对</a:t>
            </a:r>
            <a:r>
              <a:rPr lang="zh-CN" altLang="en-US" dirty="0" smtClean="0">
                <a:latin typeface="+mn-ea"/>
              </a:rPr>
              <a:t>网络结构搜索，但结构空间</a:t>
            </a:r>
            <a:r>
              <a:rPr lang="zh-CN" altLang="en-US" dirty="0">
                <a:latin typeface="+mn-ea"/>
              </a:rPr>
              <a:t>搜索最优贝叶斯</a:t>
            </a:r>
            <a:r>
              <a:rPr lang="zh-CN" altLang="en-US" dirty="0" smtClean="0">
                <a:latin typeface="+mn-ea"/>
              </a:rPr>
              <a:t>网是</a:t>
            </a:r>
            <a:r>
              <a:rPr lang="en-US" altLang="zh-CN" dirty="0" smtClean="0">
                <a:latin typeface="+mn-ea"/>
              </a:rPr>
              <a:t>NP</a:t>
            </a:r>
            <a:r>
              <a:rPr lang="zh-CN" altLang="en-US" dirty="0" smtClean="0">
                <a:latin typeface="+mn-ea"/>
              </a:rPr>
              <a:t>难问题</a:t>
            </a:r>
            <a:r>
              <a:rPr lang="zh-CN" altLang="en-US" dirty="0" smtClean="0"/>
              <a:t>，</a:t>
            </a:r>
            <a:r>
              <a:rPr lang="zh-CN" altLang="en-US" dirty="0"/>
              <a:t>难以快速</a:t>
            </a:r>
            <a:r>
              <a:rPr lang="zh-CN" altLang="en-US" dirty="0" smtClean="0"/>
              <a:t>求解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两种</a:t>
            </a:r>
            <a:r>
              <a:rPr lang="zh-CN" altLang="en-US" dirty="0"/>
              <a:t>常用的</a:t>
            </a:r>
            <a:r>
              <a:rPr lang="zh-CN" altLang="en-US" dirty="0" smtClean="0"/>
              <a:t>策略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贪心法</a:t>
            </a:r>
            <a:endParaRPr lang="en-US" altLang="zh-CN" dirty="0" smtClean="0"/>
          </a:p>
          <a:p>
            <a:pPr lvl="4"/>
            <a:r>
              <a:rPr lang="zh-CN" altLang="en-US" dirty="0" smtClean="0">
                <a:latin typeface="+mn-ea"/>
              </a:rPr>
              <a:t>如</a:t>
            </a:r>
            <a:r>
              <a:rPr lang="zh-CN" altLang="en-US" dirty="0">
                <a:latin typeface="+mn-ea"/>
              </a:rPr>
              <a:t>从某个网络结构出发，每次调整一条边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增加、删除或调整方向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，直到评分函数值不再降低</a:t>
            </a:r>
            <a:r>
              <a:rPr lang="zh-CN" altLang="en-US" dirty="0" smtClean="0">
                <a:latin typeface="+mn-ea"/>
              </a:rPr>
              <a:t>为止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/>
              <a:t>施加</a:t>
            </a:r>
            <a:r>
              <a:rPr lang="zh-CN" altLang="en-US" dirty="0" smtClean="0"/>
              <a:t>约束</a:t>
            </a:r>
            <a:endParaRPr lang="en-US" altLang="zh-CN" dirty="0" smtClean="0"/>
          </a:p>
          <a:p>
            <a:pPr lvl="4"/>
            <a:r>
              <a:rPr lang="zh-CN" altLang="en-US" dirty="0"/>
              <a:t>如</a:t>
            </a:r>
            <a:r>
              <a:rPr lang="zh-CN" altLang="en-US" dirty="0" smtClean="0"/>
              <a:t>将</a:t>
            </a:r>
            <a:r>
              <a:rPr lang="zh-CN" altLang="en-US" dirty="0"/>
              <a:t>网络结构限定为树形结构</a:t>
            </a:r>
            <a:r>
              <a:rPr lang="zh-CN" altLang="en-US" dirty="0" smtClean="0"/>
              <a:t>等，给</a:t>
            </a:r>
            <a:r>
              <a:rPr lang="zh-CN" altLang="en-US" dirty="0"/>
              <a:t>网络结构施加约束来</a:t>
            </a:r>
            <a:r>
              <a:rPr lang="zh-CN" altLang="en-US" dirty="0" smtClean="0"/>
              <a:t>削减搜索空间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19872" y="1815328"/>
          <a:ext cx="1030996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8" name="Equation" r:id="rId1" imgW="596900" imgH="228600" progId="Equation.DSMT4">
                  <p:embed/>
                </p:oleObj>
              </mc:Choice>
              <mc:Fallback>
                <p:oleObj name="Equation" r:id="rId1" imgW="596900" imgH="228600" progId="Equation.DSMT4">
                  <p:embed/>
                  <p:pic>
                    <p:nvPicPr>
                      <p:cNvPr id="0" name="图片 278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815328"/>
                        <a:ext cx="1030996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40152" y="1859340"/>
          <a:ext cx="28575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49" name="Equation" r:id="rId3" imgW="3962400" imgH="4267200" progId="Equation.DSMT4">
                  <p:embed/>
                </p:oleObj>
              </mc:Choice>
              <mc:Fallback>
                <p:oleObj name="Equation" r:id="rId3" imgW="3962400" imgH="4267200" progId="Equation.DSMT4">
                  <p:embed/>
                  <p:pic>
                    <p:nvPicPr>
                      <p:cNvPr id="0" name="图片 278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859340"/>
                        <a:ext cx="285750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31157" y="2199609"/>
          <a:ext cx="8286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0" name="Equation" r:id="rId5" imgW="11277600" imgH="4876800" progId="Equation.DSMT4">
                  <p:embed/>
                </p:oleObj>
              </mc:Choice>
              <mc:Fallback>
                <p:oleObj name="Equation" r:id="rId5" imgW="11277600" imgH="4876800" progId="Equation.DSMT4">
                  <p:embed/>
                  <p:pic>
                    <p:nvPicPr>
                      <p:cNvPr id="0" name="图片 278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157" y="2199609"/>
                        <a:ext cx="82867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67261" y="2527092"/>
          <a:ext cx="8286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1" name="Equation" r:id="rId7" imgW="11277600" imgH="4876800" progId="Equation.DSMT4">
                  <p:embed/>
                </p:oleObj>
              </mc:Choice>
              <mc:Fallback>
                <p:oleObj name="Equation" r:id="rId7" imgW="11277600" imgH="4876800" progId="Equation.DSMT4">
                  <p:embed/>
                  <p:pic>
                    <p:nvPicPr>
                      <p:cNvPr id="0" name="图片 278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261" y="2527092"/>
                        <a:ext cx="82867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462115" y="2500101"/>
          <a:ext cx="334021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2" name="Equation" r:id="rId9" imgW="3962400" imgH="4267200" progId="Equation.DSMT4">
                  <p:embed/>
                </p:oleObj>
              </mc:Choice>
              <mc:Fallback>
                <p:oleObj name="Equation" r:id="rId9" imgW="3962400" imgH="4267200" progId="Equation.DSMT4">
                  <p:embed/>
                  <p:pic>
                    <p:nvPicPr>
                      <p:cNvPr id="0" name="图片 278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115" y="2500101"/>
                        <a:ext cx="334021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59894" y="3068960"/>
          <a:ext cx="187166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3" name="Equation" r:id="rId11" imgW="22250400" imgH="6400800" progId="Equation.DSMT4">
                  <p:embed/>
                </p:oleObj>
              </mc:Choice>
              <mc:Fallback>
                <p:oleObj name="Equation" r:id="rId11" imgW="22250400" imgH="6400800" progId="Equation.DSMT4">
                  <p:embed/>
                  <p:pic>
                    <p:nvPicPr>
                      <p:cNvPr id="0" name="图片 278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894" y="3068960"/>
                        <a:ext cx="187166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347864" y="2812773"/>
          <a:ext cx="457716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4" name="Equation" r:id="rId13" imgW="6705600" imgH="5791200" progId="Equation.DSMT4">
                  <p:embed/>
                </p:oleObj>
              </mc:Choice>
              <mc:Fallback>
                <p:oleObj name="Equation" r:id="rId13" imgW="6705600" imgH="5791200" progId="Equation.DSMT4">
                  <p:embed/>
                  <p:pic>
                    <p:nvPicPr>
                      <p:cNvPr id="0" name="图片 278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812773"/>
                        <a:ext cx="457716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301486" y="3545253"/>
          <a:ext cx="48295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5" name="Equation" r:id="rId15" imgW="8229600" imgH="6096000" progId="Equation.DSMT4">
                  <p:embed/>
                </p:oleObj>
              </mc:Choice>
              <mc:Fallback>
                <p:oleObj name="Equation" r:id="rId15" imgW="8229600" imgH="6096000" progId="Equation.DSMT4">
                  <p:embed/>
                  <p:pic>
                    <p:nvPicPr>
                      <p:cNvPr id="0" name="图片 278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1486" y="3545253"/>
                        <a:ext cx="482955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7.5.3 </a:t>
            </a:r>
            <a:r>
              <a:rPr lang="zh-CN" altLang="en-US" dirty="0" smtClean="0">
                <a:latin typeface="+mn-ea"/>
              </a:rPr>
              <a:t>推断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/>
              <a:t>含义</a:t>
            </a:r>
            <a:endParaRPr lang="en-US" altLang="zh-CN" dirty="0" smtClean="0"/>
          </a:p>
          <a:p>
            <a:pPr lvl="2"/>
            <a:r>
              <a:rPr lang="zh-CN" altLang="en-US" dirty="0"/>
              <a:t>贝叶斯网训练好后能用来回答查询</a:t>
            </a:r>
            <a:endParaRPr lang="en-US" altLang="zh-CN" dirty="0"/>
          </a:p>
          <a:p>
            <a:pPr lvl="2"/>
            <a:r>
              <a:rPr lang="zh-CN" altLang="en-US" dirty="0" smtClean="0"/>
              <a:t>查询就是通过</a:t>
            </a:r>
            <a:r>
              <a:rPr lang="zh-CN" altLang="en-US" dirty="0"/>
              <a:t>己</a:t>
            </a:r>
            <a:r>
              <a:rPr lang="zh-CN" altLang="en-US" dirty="0" smtClean="0"/>
              <a:t>知</a:t>
            </a:r>
            <a:r>
              <a:rPr lang="zh-CN" altLang="en-US" dirty="0"/>
              <a:t>属性</a:t>
            </a:r>
            <a:r>
              <a:rPr lang="zh-CN" altLang="en-US" dirty="0" smtClean="0"/>
              <a:t>变量</a:t>
            </a:r>
            <a:r>
              <a:rPr lang="zh-CN" altLang="en-US" dirty="0"/>
              <a:t>观测值来</a:t>
            </a:r>
            <a:r>
              <a:rPr lang="zh-CN" altLang="en-US" dirty="0" smtClean="0"/>
              <a:t>推测</a:t>
            </a:r>
            <a:r>
              <a:rPr lang="zh-CN" altLang="en-US" dirty="0"/>
              <a:t>其他属性变量的</a:t>
            </a:r>
            <a:r>
              <a:rPr lang="zh-CN" altLang="en-US" dirty="0" smtClean="0"/>
              <a:t>取值，该过程</a:t>
            </a:r>
            <a:r>
              <a:rPr lang="zh-CN" altLang="en-US" dirty="0"/>
              <a:t>称为</a:t>
            </a:r>
            <a:r>
              <a:rPr lang="zh-CN" altLang="en-US" dirty="0" smtClean="0"/>
              <a:t>推断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已知</a:t>
            </a:r>
            <a:r>
              <a:rPr lang="zh-CN" altLang="en-US" dirty="0"/>
              <a:t>变量观测值称为</a:t>
            </a:r>
            <a:r>
              <a:rPr lang="zh-CN" altLang="en-US" dirty="0" smtClean="0"/>
              <a:t>证据</a:t>
            </a:r>
            <a:endParaRPr lang="en-US" altLang="zh-CN" dirty="0" smtClean="0"/>
          </a:p>
          <a:p>
            <a:pPr lvl="1"/>
            <a:r>
              <a:rPr lang="zh-CN" altLang="en-US" dirty="0"/>
              <a:t>精确</a:t>
            </a:r>
            <a:r>
              <a:rPr lang="zh-CN" altLang="en-US" dirty="0" smtClean="0"/>
              <a:t>推断</a:t>
            </a:r>
            <a:endParaRPr lang="en-US" altLang="zh-CN" dirty="0" smtClean="0"/>
          </a:p>
          <a:p>
            <a:pPr lvl="2"/>
            <a:r>
              <a:rPr lang="zh-CN" altLang="en-US" dirty="0"/>
              <a:t>最</a:t>
            </a:r>
            <a:r>
              <a:rPr lang="zh-CN" altLang="en-US" dirty="0" smtClean="0"/>
              <a:t>理想就是</a:t>
            </a:r>
            <a:r>
              <a:rPr lang="zh-CN" altLang="en-US" dirty="0"/>
              <a:t>直接根据贝叶斯网定义的联合概率</a:t>
            </a:r>
            <a:r>
              <a:rPr lang="zh-CN" altLang="en-US" dirty="0" smtClean="0"/>
              <a:t>分布</a:t>
            </a:r>
            <a:r>
              <a:rPr lang="zh-CN" altLang="en-US" dirty="0"/>
              <a:t>来精确计算</a:t>
            </a:r>
            <a:r>
              <a:rPr lang="zh-CN" altLang="en-US" dirty="0" smtClean="0">
                <a:latin typeface="+mn-ea"/>
              </a:rPr>
              <a:t>后验概率（</a:t>
            </a:r>
            <a:r>
              <a:rPr lang="en-US" altLang="zh-CN" dirty="0" smtClean="0">
                <a:latin typeface="+mn-ea"/>
              </a:rPr>
              <a:t>NP</a:t>
            </a:r>
            <a:r>
              <a:rPr lang="zh-CN" altLang="en-US" dirty="0" smtClean="0">
                <a:latin typeface="+mn-ea"/>
              </a:rPr>
              <a:t>难）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网络结点较多、连接稠密时，难以进行精确推断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近似</a:t>
            </a:r>
            <a:r>
              <a:rPr lang="zh-CN" altLang="en-US" dirty="0" smtClean="0">
                <a:latin typeface="+mn-ea"/>
              </a:rPr>
              <a:t>推断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降低精度要求，在有限时间内求得</a:t>
            </a:r>
            <a:r>
              <a:rPr lang="zh-CN" altLang="en-US" dirty="0" smtClean="0">
                <a:latin typeface="+mn-ea"/>
              </a:rPr>
              <a:t>近似解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常见</a:t>
            </a:r>
            <a:r>
              <a:rPr lang="zh-CN" altLang="en-US" dirty="0" smtClean="0">
                <a:latin typeface="+mn-ea"/>
              </a:rPr>
              <a:t>做法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吉布斯</a:t>
            </a:r>
            <a:r>
              <a:rPr lang="zh-CN" altLang="en-US" dirty="0" smtClean="0">
                <a:latin typeface="+mn-ea"/>
              </a:rPr>
              <a:t>采样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下面</a:t>
            </a:r>
            <a:r>
              <a:rPr lang="zh-CN" altLang="en-US" dirty="0" smtClean="0">
                <a:latin typeface="+mn-ea"/>
              </a:rPr>
              <a:t>介绍） 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变分推断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848374" cy="5832648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7.5.3 </a:t>
            </a:r>
            <a:r>
              <a:rPr lang="zh-CN" altLang="en-US" dirty="0">
                <a:latin typeface="+mn-ea"/>
              </a:rPr>
              <a:t>推断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/>
              <a:t>吉布斯采样</a:t>
            </a:r>
            <a:endParaRPr lang="zh-CN" altLang="en-US" dirty="0"/>
          </a:p>
          <a:p>
            <a:pPr lvl="2"/>
            <a:r>
              <a:rPr lang="zh-CN" altLang="en-US" spc="-100" dirty="0">
                <a:latin typeface="+mn-ea"/>
              </a:rPr>
              <a:t>随机产生一个与</a:t>
            </a:r>
            <a:r>
              <a:rPr lang="zh-CN" altLang="en-US" spc="-100" dirty="0" smtClean="0">
                <a:latin typeface="+mn-ea"/>
              </a:rPr>
              <a:t>证据</a:t>
            </a:r>
            <a:r>
              <a:rPr lang="en-US" altLang="zh-CN" spc="-100" dirty="0" smtClean="0">
                <a:latin typeface="+mn-ea"/>
              </a:rPr>
              <a:t>    </a:t>
            </a:r>
            <a:r>
              <a:rPr lang="zh-CN" altLang="en-US" spc="-100" dirty="0" smtClean="0">
                <a:latin typeface="+mn-ea"/>
              </a:rPr>
              <a:t>一致</a:t>
            </a:r>
            <a:r>
              <a:rPr lang="zh-CN" altLang="en-US" spc="-100" dirty="0">
                <a:latin typeface="+mn-ea"/>
              </a:rPr>
              <a:t>的</a:t>
            </a:r>
            <a:r>
              <a:rPr lang="zh-CN" altLang="en-US" spc="-100" dirty="0" smtClean="0">
                <a:latin typeface="+mn-ea"/>
              </a:rPr>
              <a:t>样本  作为</a:t>
            </a:r>
            <a:r>
              <a:rPr lang="zh-CN" altLang="en-US" spc="-100" dirty="0">
                <a:latin typeface="+mn-ea"/>
              </a:rPr>
              <a:t>初始</a:t>
            </a:r>
            <a:r>
              <a:rPr lang="zh-CN" altLang="en-US" spc="-100" dirty="0" smtClean="0">
                <a:latin typeface="+mn-ea"/>
              </a:rPr>
              <a:t>点</a:t>
            </a:r>
            <a:endParaRPr lang="en-US" altLang="zh-CN" spc="-100" dirty="0" smtClean="0">
              <a:latin typeface="+mn-ea"/>
            </a:endParaRPr>
          </a:p>
          <a:p>
            <a:pPr lvl="3"/>
            <a:r>
              <a:rPr lang="zh-CN" altLang="en-US" spc="-100" dirty="0" smtClean="0">
                <a:latin typeface="+mn-ea"/>
              </a:rPr>
              <a:t>    </a:t>
            </a:r>
            <a:endParaRPr lang="zh-CN" altLang="en-US" spc="-100" dirty="0">
              <a:latin typeface="+mn-ea"/>
            </a:endParaRPr>
          </a:p>
          <a:p>
            <a:pPr lvl="2"/>
            <a:endParaRPr lang="en-US" altLang="zh-CN" dirty="0" smtClean="0"/>
          </a:p>
          <a:p>
            <a:pPr lvl="2">
              <a:spcBef>
                <a:spcPts val="1800"/>
              </a:spcBef>
            </a:pPr>
            <a:r>
              <a:rPr lang="zh-CN" altLang="en-US" dirty="0" smtClean="0">
                <a:latin typeface="+mn-ea"/>
              </a:rPr>
              <a:t>进行</a:t>
            </a:r>
            <a:r>
              <a:rPr lang="en-US" altLang="zh-CN" dirty="0" smtClean="0">
                <a:latin typeface="+mn-ea"/>
              </a:rPr>
              <a:t>T</a:t>
            </a:r>
            <a:r>
              <a:rPr lang="zh-CN" altLang="en-US" dirty="0" smtClean="0">
                <a:latin typeface="+mn-ea"/>
              </a:rPr>
              <a:t>次</a:t>
            </a:r>
            <a:r>
              <a:rPr lang="zh-CN" altLang="en-US" dirty="0">
                <a:latin typeface="+mn-ea"/>
              </a:rPr>
              <a:t>采样，每次</a:t>
            </a:r>
            <a:r>
              <a:rPr lang="zh-CN" altLang="en-US" dirty="0" smtClean="0">
                <a:latin typeface="+mn-ea"/>
              </a:rPr>
              <a:t>采样逐个考察非</a:t>
            </a:r>
            <a:r>
              <a:rPr lang="zh-CN" altLang="en-US" dirty="0">
                <a:latin typeface="+mn-ea"/>
              </a:rPr>
              <a:t>证据</a:t>
            </a:r>
            <a:r>
              <a:rPr lang="zh-CN" altLang="en-US" dirty="0" smtClean="0">
                <a:latin typeface="+mn-ea"/>
              </a:rPr>
              <a:t>变量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假定所有</a:t>
            </a:r>
            <a:r>
              <a:rPr lang="zh-CN" altLang="en-US" dirty="0">
                <a:latin typeface="+mn-ea"/>
              </a:rPr>
              <a:t>其他属性取当前值，推断出采样概率，然后根据该概率</a:t>
            </a:r>
            <a:r>
              <a:rPr lang="zh-CN" altLang="en-US" dirty="0" smtClean="0">
                <a:latin typeface="+mn-ea"/>
              </a:rPr>
              <a:t>采样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假定</a:t>
            </a:r>
            <a:r>
              <a:rPr lang="zh-CN" altLang="en-US" dirty="0" smtClean="0">
                <a:latin typeface="+mn-ea"/>
              </a:rPr>
              <a:t>经过</a:t>
            </a:r>
            <a:r>
              <a:rPr lang="en-US" altLang="zh-CN" dirty="0" smtClean="0">
                <a:latin typeface="+mn-ea"/>
              </a:rPr>
              <a:t>T</a:t>
            </a:r>
            <a:r>
              <a:rPr lang="zh-CN" altLang="en-US" dirty="0" smtClean="0">
                <a:latin typeface="+mn-ea"/>
              </a:rPr>
              <a:t>次</a:t>
            </a:r>
            <a:r>
              <a:rPr lang="zh-CN" altLang="en-US" dirty="0">
                <a:latin typeface="+mn-ea"/>
              </a:rPr>
              <a:t>采样的得到</a:t>
            </a:r>
            <a:r>
              <a:rPr lang="zh-CN" altLang="en-US" dirty="0" smtClean="0">
                <a:latin typeface="+mn-ea"/>
              </a:rPr>
              <a:t>与查询目标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一致</a:t>
            </a:r>
            <a:r>
              <a:rPr lang="zh-CN" altLang="en-US" dirty="0">
                <a:latin typeface="+mn-ea"/>
              </a:rPr>
              <a:t>的样本</a:t>
            </a:r>
            <a:r>
              <a:rPr lang="zh-CN" altLang="en-US" dirty="0" smtClean="0">
                <a:latin typeface="+mn-ea"/>
              </a:rPr>
              <a:t>共有  个</a:t>
            </a:r>
            <a:r>
              <a:rPr lang="zh-CN" altLang="en-US" dirty="0">
                <a:latin typeface="+mn-ea"/>
              </a:rPr>
              <a:t>，则可近似估算出后验概率</a:t>
            </a:r>
            <a:endParaRPr lang="zh-CN" altLang="en-US" dirty="0">
              <a:latin typeface="+mn-ea"/>
            </a:endParaRPr>
          </a:p>
          <a:p>
            <a:pPr lvl="2"/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572000" y="1844824"/>
          <a:ext cx="598574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1" name="Equation" r:id="rId1" imgW="7924800" imgH="4267200" progId="Equation.DSMT4">
                  <p:embed/>
                </p:oleObj>
              </mc:Choice>
              <mc:Fallback>
                <p:oleObj name="Equation" r:id="rId1" imgW="7924800" imgH="4267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844824"/>
                        <a:ext cx="598574" cy="3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626002" y="1788939"/>
          <a:ext cx="32226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2" name="Equation" r:id="rId3" imgW="4267200" imgH="5486400" progId="Equation.DSMT4">
                  <p:embed/>
                </p:oleObj>
              </mc:Choice>
              <mc:Fallback>
                <p:oleObj name="Equation" r:id="rId3" imgW="42672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002" y="1788939"/>
                        <a:ext cx="322262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90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500" y="2159409"/>
            <a:ext cx="6200775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93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76675"/>
            <a:ext cx="791527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948264" y="5339965"/>
          <a:ext cx="230187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3" name="Equation" r:id="rId8" imgW="3048000" imgH="3962400" progId="Equation.DSMT4">
                  <p:embed/>
                </p:oleObj>
              </mc:Choice>
              <mc:Fallback>
                <p:oleObj name="Equation" r:id="rId8" imgW="3048000" imgH="3962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5339965"/>
                        <a:ext cx="230187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91414" y="5634875"/>
          <a:ext cx="300037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4" name="Equation" r:id="rId10" imgW="3962400" imgH="5791200" progId="Equation.DSMT4">
                  <p:embed/>
                </p:oleObj>
              </mc:Choice>
              <mc:Fallback>
                <p:oleObj name="Equation" r:id="rId10" imgW="3962400" imgH="57912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414" y="5634875"/>
                        <a:ext cx="300037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476104" y="5951810"/>
          <a:ext cx="20320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5" name="Equation" r:id="rId12" imgW="26822400" imgH="9448800" progId="Equation.DSMT4">
                  <p:embed/>
                </p:oleObj>
              </mc:Choice>
              <mc:Fallback>
                <p:oleObj name="Equation" r:id="rId12" imgW="26822400" imgH="9448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104" y="5951810"/>
                        <a:ext cx="20320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932"/>
          <a:stretch>
            <a:fillRect/>
          </a:stretch>
        </p:blipFill>
        <p:spPr bwMode="auto">
          <a:xfrm>
            <a:off x="3635896" y="809399"/>
            <a:ext cx="5508104" cy="6003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贝叶斯网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898376"/>
            <a:ext cx="3168352" cy="4690864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7.5.3 </a:t>
            </a:r>
            <a:r>
              <a:rPr lang="zh-CN" altLang="en-US" dirty="0">
                <a:latin typeface="+mn-ea"/>
              </a:rPr>
              <a:t>推断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/>
              <a:t>吉布斯采样</a:t>
            </a:r>
            <a:endParaRPr lang="zh-CN" altLang="en-US" dirty="0"/>
          </a:p>
          <a:p>
            <a:pPr lvl="2"/>
            <a:r>
              <a:rPr lang="zh-CN" altLang="en-US" dirty="0" smtClean="0">
                <a:latin typeface="+mn-ea"/>
              </a:rPr>
              <a:t>算法流程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收敛</a:t>
            </a:r>
            <a:r>
              <a:rPr lang="zh-CN" altLang="en-US" dirty="0">
                <a:latin typeface="+mn-ea"/>
              </a:rPr>
              <a:t>速度较</a:t>
            </a:r>
            <a:r>
              <a:rPr lang="zh-CN" altLang="en-US" dirty="0" smtClean="0">
                <a:latin typeface="+mn-ea"/>
              </a:rPr>
              <a:t>慢，存在</a:t>
            </a:r>
            <a:r>
              <a:rPr lang="en-US" altLang="zh-CN" dirty="0" smtClean="0">
                <a:latin typeface="+mn-ea"/>
              </a:rPr>
              <a:t>0/1</a:t>
            </a:r>
            <a:r>
              <a:rPr lang="zh-CN" altLang="en-US" dirty="0" smtClean="0">
                <a:latin typeface="+mn-ea"/>
              </a:rPr>
              <a:t>极端概率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EM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zh-CN" altLang="en-US" dirty="0"/>
              <a:t>现实应用中往往会</a:t>
            </a:r>
            <a:r>
              <a:rPr lang="zh-CN" altLang="en-US" dirty="0" smtClean="0"/>
              <a:t>遇到不完整的训练样本</a:t>
            </a:r>
            <a:endParaRPr lang="en-US" altLang="zh-CN" dirty="0" smtClean="0"/>
          </a:p>
          <a:p>
            <a:pPr lvl="2" hangingPunct="0"/>
            <a:r>
              <a:rPr lang="zh-CN" altLang="en-US" dirty="0" smtClean="0"/>
              <a:t>如西瓜</a:t>
            </a:r>
            <a:r>
              <a:rPr lang="zh-CN" altLang="en-US" dirty="0"/>
              <a:t>的根蒂已脱落，无法看出</a:t>
            </a:r>
            <a:r>
              <a:rPr lang="zh-CN" altLang="en-US" dirty="0" smtClean="0"/>
              <a:t>是蜷缩还是坚挺，训练样本的根蒂属性</a:t>
            </a:r>
            <a:r>
              <a:rPr lang="zh-CN" altLang="en-US" dirty="0"/>
              <a:t>变量值</a:t>
            </a:r>
            <a:r>
              <a:rPr lang="zh-CN" altLang="en-US" dirty="0" smtClean="0"/>
              <a:t>未知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未观测变量能否对</a:t>
            </a:r>
            <a:r>
              <a:rPr lang="zh-CN" altLang="en-US" dirty="0"/>
              <a:t>模型参数进行</a:t>
            </a:r>
            <a:r>
              <a:rPr lang="zh-CN" altLang="en-US" dirty="0" smtClean="0"/>
              <a:t>估计</a:t>
            </a:r>
            <a:endParaRPr lang="en-US" altLang="zh-CN" dirty="0" smtClean="0"/>
          </a:p>
          <a:p>
            <a:pPr lvl="2"/>
            <a:r>
              <a:rPr lang="zh-CN" altLang="en-US" dirty="0" smtClean="0">
                <a:latin typeface="+mn-ea"/>
              </a:rPr>
              <a:t>设</a:t>
            </a:r>
            <a:r>
              <a:rPr lang="en-US" altLang="zh-CN" dirty="0" smtClean="0">
                <a:latin typeface="+mn-ea"/>
              </a:rPr>
              <a:t>X</a:t>
            </a:r>
            <a:r>
              <a:rPr lang="zh-CN" altLang="en-US" dirty="0" smtClean="0">
                <a:latin typeface="+mn-ea"/>
              </a:rPr>
              <a:t>为已</a:t>
            </a:r>
            <a:r>
              <a:rPr lang="zh-CN" altLang="en-US" dirty="0">
                <a:latin typeface="+mn-ea"/>
              </a:rPr>
              <a:t>观测变量集，</a:t>
            </a:r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为</a:t>
            </a:r>
            <a:r>
              <a:rPr lang="zh-CN" altLang="en-US" dirty="0">
                <a:latin typeface="+mn-ea"/>
              </a:rPr>
              <a:t>未</a:t>
            </a:r>
            <a:r>
              <a:rPr lang="zh-CN" altLang="en-US" dirty="0" smtClean="0">
                <a:latin typeface="+mn-ea"/>
              </a:rPr>
              <a:t>观测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隐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变量</a:t>
            </a:r>
            <a:r>
              <a:rPr lang="zh-CN" altLang="en-US" dirty="0" smtClean="0">
                <a:latin typeface="+mn-ea"/>
              </a:rPr>
              <a:t>集，对</a:t>
            </a:r>
            <a:r>
              <a:rPr lang="zh-CN" altLang="en-US" dirty="0">
                <a:latin typeface="+mn-ea"/>
              </a:rPr>
              <a:t>模型参数 </a:t>
            </a:r>
            <a:r>
              <a:rPr lang="zh-CN" altLang="en-US" dirty="0" smtClean="0">
                <a:latin typeface="+mn-ea"/>
              </a:rPr>
              <a:t> 做极</a:t>
            </a:r>
            <a:r>
              <a:rPr lang="zh-CN" altLang="en-US" dirty="0">
                <a:latin typeface="+mn-ea"/>
              </a:rPr>
              <a:t>大似然估计，</a:t>
            </a:r>
            <a:r>
              <a:rPr lang="zh-CN" altLang="en-US" dirty="0" smtClean="0">
                <a:latin typeface="+mn-ea"/>
              </a:rPr>
              <a:t>则对数似然函数为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3"/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是隐</a:t>
            </a:r>
            <a:r>
              <a:rPr lang="zh-CN" altLang="en-US" dirty="0">
                <a:latin typeface="+mn-ea"/>
              </a:rPr>
              <a:t>变量，无法直接</a:t>
            </a:r>
            <a:r>
              <a:rPr lang="zh-CN" altLang="en-US" dirty="0" smtClean="0">
                <a:latin typeface="+mn-ea"/>
              </a:rPr>
              <a:t>求解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基本思想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对</a:t>
            </a:r>
            <a:r>
              <a:rPr lang="zh-CN" altLang="en-US" dirty="0">
                <a:latin typeface="+mn-ea"/>
              </a:rPr>
              <a:t>隐</a:t>
            </a:r>
            <a:r>
              <a:rPr lang="zh-CN" altLang="en-US" dirty="0" smtClean="0">
                <a:latin typeface="+mn-ea"/>
              </a:rPr>
              <a:t>变量</a:t>
            </a:r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计算</a:t>
            </a:r>
            <a:r>
              <a:rPr lang="zh-CN" altLang="en-US" dirty="0">
                <a:latin typeface="+mn-ea"/>
              </a:rPr>
              <a:t>期望</a:t>
            </a:r>
            <a:r>
              <a:rPr lang="zh-CN" altLang="en-US" dirty="0" smtClean="0">
                <a:latin typeface="+mn-ea"/>
              </a:rPr>
              <a:t>，最大化</a:t>
            </a:r>
            <a:r>
              <a:rPr lang="zh-CN" altLang="en-US" dirty="0">
                <a:latin typeface="+mn-ea"/>
              </a:rPr>
              <a:t>已观测数据的</a:t>
            </a:r>
            <a:r>
              <a:rPr lang="zh-CN" altLang="en-US" dirty="0" smtClean="0">
                <a:latin typeface="+mn-ea"/>
              </a:rPr>
              <a:t>对数边际似然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191843" y="3321174"/>
          <a:ext cx="3000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2" name="Equation" r:id="rId1" imgW="3962400" imgH="4267200" progId="Equation.DSMT4">
                  <p:embed/>
                </p:oleObj>
              </mc:Choice>
              <mc:Fallback>
                <p:oleObj name="Equation" r:id="rId1" imgW="3962400" imgH="42672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843" y="3321174"/>
                        <a:ext cx="300037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419872" y="3645024"/>
          <a:ext cx="29543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3" name="Equation" r:id="rId3" imgW="39014400" imgH="4876800" progId="Equation.DSMT4">
                  <p:embed/>
                </p:oleObj>
              </mc:Choice>
              <mc:Fallback>
                <p:oleObj name="Equation" r:id="rId3" imgW="39014400" imgH="4876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3645024"/>
                        <a:ext cx="295433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05063" y="5662613"/>
          <a:ext cx="44084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4" name="Equation" r:id="rId5" imgW="58216800" imgH="6705600" progId="Equation.DSMT4">
                  <p:embed/>
                </p:oleObj>
              </mc:Choice>
              <mc:Fallback>
                <p:oleObj name="Equation" r:id="rId5" imgW="58216800" imgH="6705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5662613"/>
                        <a:ext cx="44084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7.6 EM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基本</a:t>
            </a:r>
            <a:r>
              <a:rPr lang="zh-CN" altLang="en-US" dirty="0" smtClean="0">
                <a:latin typeface="+mn-ea"/>
              </a:rPr>
              <a:t>思想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EM</a:t>
            </a:r>
            <a:r>
              <a:rPr lang="zh-CN" altLang="en-US" dirty="0" smtClean="0">
                <a:latin typeface="+mn-ea"/>
              </a:rPr>
              <a:t>是是</a:t>
            </a:r>
            <a:r>
              <a:rPr lang="zh-CN" altLang="en-US" dirty="0">
                <a:latin typeface="+mn-ea"/>
              </a:rPr>
              <a:t>一种迭代式的</a:t>
            </a:r>
            <a:r>
              <a:rPr lang="zh-CN" altLang="en-US" dirty="0" smtClean="0">
                <a:latin typeface="+mn-ea"/>
              </a:rPr>
              <a:t>方法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若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已知，可</a:t>
            </a:r>
            <a:r>
              <a:rPr lang="zh-CN" altLang="en-US" dirty="0">
                <a:latin typeface="+mn-ea"/>
              </a:rPr>
              <a:t>根据训练数据</a:t>
            </a:r>
            <a:r>
              <a:rPr lang="zh-CN" altLang="en-US" dirty="0" smtClean="0">
                <a:latin typeface="+mn-ea"/>
              </a:rPr>
              <a:t>推出</a:t>
            </a:r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的</a:t>
            </a:r>
            <a:r>
              <a:rPr lang="zh-CN" altLang="en-US" dirty="0">
                <a:latin typeface="+mn-ea"/>
              </a:rPr>
              <a:t>值</a:t>
            </a:r>
            <a:r>
              <a:rPr lang="en-US" altLang="zh-CN" dirty="0">
                <a:latin typeface="+mn-ea"/>
              </a:rPr>
              <a:t>(E</a:t>
            </a:r>
            <a:r>
              <a:rPr lang="zh-CN" altLang="en-US" dirty="0">
                <a:latin typeface="+mn-ea"/>
              </a:rPr>
              <a:t>步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。</a:t>
            </a:r>
            <a:r>
              <a:rPr lang="zh-CN" altLang="en-US" dirty="0" smtClean="0">
                <a:latin typeface="+mn-ea"/>
              </a:rPr>
              <a:t>反之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若</a:t>
            </a:r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已知，可对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做</a:t>
            </a:r>
            <a:r>
              <a:rPr lang="zh-CN" altLang="en-US" dirty="0">
                <a:latin typeface="+mn-ea"/>
              </a:rPr>
              <a:t>极大似然估计</a:t>
            </a:r>
            <a:r>
              <a:rPr lang="en-US" altLang="zh-CN" dirty="0">
                <a:latin typeface="+mn-ea"/>
              </a:rPr>
              <a:t>(M</a:t>
            </a:r>
            <a:r>
              <a:rPr lang="zh-CN" altLang="en-US" dirty="0">
                <a:latin typeface="+mn-ea"/>
              </a:rPr>
              <a:t>步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以</a:t>
            </a:r>
            <a:r>
              <a:rPr lang="zh-CN" altLang="en-US" dirty="0" smtClean="0">
                <a:latin typeface="+mn-ea"/>
              </a:rPr>
              <a:t>初始值   为</a:t>
            </a:r>
            <a:r>
              <a:rPr lang="zh-CN" altLang="en-US" dirty="0">
                <a:latin typeface="+mn-ea"/>
              </a:rPr>
              <a:t>起点，迭代执行以下步骤直至</a:t>
            </a:r>
            <a:r>
              <a:rPr lang="zh-CN" altLang="en-US" dirty="0" smtClean="0">
                <a:latin typeface="+mn-ea"/>
              </a:rPr>
              <a:t>收敛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基于 </a:t>
            </a:r>
            <a:r>
              <a:rPr lang="zh-CN" altLang="en-US" dirty="0" smtClean="0">
                <a:latin typeface="+mn-ea"/>
              </a:rPr>
              <a:t>  推断</a:t>
            </a:r>
            <a:r>
              <a:rPr lang="zh-CN" altLang="en-US" dirty="0">
                <a:latin typeface="+mn-ea"/>
              </a:rPr>
              <a:t>隐</a:t>
            </a:r>
            <a:r>
              <a:rPr lang="zh-CN" altLang="en-US" dirty="0" smtClean="0">
                <a:latin typeface="+mn-ea"/>
              </a:rPr>
              <a:t>变量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的</a:t>
            </a:r>
            <a:r>
              <a:rPr lang="zh-CN" altLang="en-US" dirty="0">
                <a:latin typeface="+mn-ea"/>
              </a:rPr>
              <a:t>期望，记</a:t>
            </a:r>
            <a:r>
              <a:rPr lang="zh-CN" altLang="en-US" dirty="0" smtClean="0">
                <a:latin typeface="+mn-ea"/>
              </a:rPr>
              <a:t>为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基于已观测</a:t>
            </a:r>
            <a:r>
              <a:rPr lang="zh-CN" altLang="en-US" dirty="0" smtClean="0">
                <a:latin typeface="+mn-ea"/>
              </a:rPr>
              <a:t>变量     对  做</a:t>
            </a:r>
            <a:r>
              <a:rPr lang="zh-CN" altLang="en-US" dirty="0">
                <a:latin typeface="+mn-ea"/>
              </a:rPr>
              <a:t>极大似然估计，</a:t>
            </a:r>
            <a:r>
              <a:rPr lang="zh-CN" altLang="en-US" dirty="0" smtClean="0">
                <a:latin typeface="+mn-ea"/>
              </a:rPr>
              <a:t>记</a:t>
            </a:r>
            <a:endParaRPr lang="zh-CN" altLang="en-US" dirty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具体步骤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E</a:t>
            </a:r>
            <a:r>
              <a:rPr lang="zh-CN" altLang="en-US" dirty="0">
                <a:latin typeface="+mn-ea"/>
              </a:rPr>
              <a:t>步</a:t>
            </a:r>
            <a:r>
              <a:rPr lang="en-US" altLang="zh-CN" dirty="0">
                <a:latin typeface="+mn-ea"/>
              </a:rPr>
              <a:t>(Expectation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以</a:t>
            </a:r>
            <a:r>
              <a:rPr lang="zh-CN" altLang="en-US" dirty="0">
                <a:latin typeface="+mn-ea"/>
              </a:rPr>
              <a:t>当前</a:t>
            </a:r>
            <a:r>
              <a:rPr lang="zh-CN" altLang="en-US" dirty="0" smtClean="0">
                <a:latin typeface="+mn-ea"/>
              </a:rPr>
              <a:t>参数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推断</a:t>
            </a:r>
            <a:r>
              <a:rPr lang="zh-CN" altLang="en-US" dirty="0">
                <a:latin typeface="+mn-ea"/>
              </a:rPr>
              <a:t>隐变量</a:t>
            </a:r>
            <a:r>
              <a:rPr lang="zh-CN" altLang="en-US" dirty="0" smtClean="0">
                <a:latin typeface="+mn-ea"/>
              </a:rPr>
              <a:t>分布        ，</a:t>
            </a:r>
            <a:r>
              <a:rPr lang="zh-CN" altLang="en-US" dirty="0">
                <a:latin typeface="+mn-ea"/>
              </a:rPr>
              <a:t>并</a:t>
            </a:r>
            <a:r>
              <a:rPr lang="zh-CN" altLang="en-US" dirty="0" smtClean="0">
                <a:latin typeface="+mn-ea"/>
              </a:rPr>
              <a:t>计算</a:t>
            </a:r>
            <a:r>
              <a:rPr lang="zh-CN" altLang="en-US" dirty="0">
                <a:latin typeface="+mn-ea"/>
              </a:rPr>
              <a:t>对数</a:t>
            </a:r>
            <a:r>
              <a:rPr lang="zh-CN" altLang="en-US" dirty="0" smtClean="0">
                <a:latin typeface="+mn-ea"/>
              </a:rPr>
              <a:t>似然         关于</a:t>
            </a:r>
            <a:r>
              <a:rPr lang="en-US" altLang="zh-CN" dirty="0">
                <a:latin typeface="+mn-ea"/>
              </a:rPr>
              <a:t>Z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 smtClean="0">
                <a:latin typeface="+mn-ea"/>
              </a:rPr>
              <a:t>期望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步</a:t>
            </a:r>
            <a:r>
              <a:rPr lang="en-US" altLang="zh-CN" dirty="0">
                <a:latin typeface="+mn-ea"/>
              </a:rPr>
              <a:t>(Maximization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寻找</a:t>
            </a:r>
            <a:r>
              <a:rPr lang="zh-CN" altLang="en-US" dirty="0">
                <a:latin typeface="+mn-ea"/>
              </a:rPr>
              <a:t>参数最大化期望</a:t>
            </a:r>
            <a:r>
              <a:rPr lang="zh-CN" altLang="en-US" dirty="0" smtClean="0">
                <a:latin typeface="+mn-ea"/>
              </a:rPr>
              <a:t>似然</a:t>
            </a:r>
            <a:endParaRPr lang="zh-CN" altLang="en-US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5"/>
            <a:endParaRPr lang="en-US" altLang="zh-CN" dirty="0">
              <a:latin typeface="+mn-ea"/>
            </a:endParaRPr>
          </a:p>
          <a:p>
            <a:pPr lvl="4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95736" y="1844824"/>
          <a:ext cx="3000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27" name="Equation" r:id="rId1" imgW="3962400" imgH="4267200" progId="Equation.DSMT4">
                  <p:embed/>
                </p:oleObj>
              </mc:Choice>
              <mc:Fallback>
                <p:oleObj name="Equation" r:id="rId1" imgW="3962400" imgH="4267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844824"/>
                        <a:ext cx="300037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572000" y="2204864"/>
          <a:ext cx="3000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28" name="Equation" r:id="rId3" imgW="3962400" imgH="4267200" progId="Equation.DSMT4">
                  <p:embed/>
                </p:oleObj>
              </mc:Choice>
              <mc:Fallback>
                <p:oleObj name="Equation" r:id="rId3" imgW="3962400" imgH="4267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204864"/>
                        <a:ext cx="300037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387800" y="2796034"/>
          <a:ext cx="3460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29" name="Equation" r:id="rId5" imgW="4572000" imgH="4876800" progId="Equation.DSMT4">
                  <p:embed/>
                </p:oleObj>
              </mc:Choice>
              <mc:Fallback>
                <p:oleObj name="Equation" r:id="rId5" imgW="4572000" imgH="487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800" y="2796034"/>
                        <a:ext cx="34607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862582" y="2816968"/>
          <a:ext cx="301706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0" name="Equation" r:id="rId7" imgW="4267200" imgH="4572000" progId="Equation.DSMT4">
                  <p:embed/>
                </p:oleObj>
              </mc:Choice>
              <mc:Fallback>
                <p:oleObj name="Equation" r:id="rId7" imgW="4267200" imgH="45720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582" y="2816968"/>
                        <a:ext cx="301706" cy="3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04048" y="2880618"/>
          <a:ext cx="258762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1" name="Equation" r:id="rId9" imgW="3657600" imgH="3657600" progId="Equation.DSMT4">
                  <p:embed/>
                </p:oleObj>
              </mc:Choice>
              <mc:Fallback>
                <p:oleObj name="Equation" r:id="rId9" imgW="3657600" imgH="36576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2880618"/>
                        <a:ext cx="258762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623743" y="3068960"/>
          <a:ext cx="66833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2" name="Equation" r:id="rId11" imgW="8839200" imgH="5486400" progId="Equation.DSMT4">
                  <p:embed/>
                </p:oleObj>
              </mc:Choice>
              <mc:Fallback>
                <p:oleObj name="Equation" r:id="rId11" imgW="88392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3743" y="3068960"/>
                        <a:ext cx="66833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508104" y="3140968"/>
          <a:ext cx="3000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3" name="Equation" r:id="rId13" imgW="3962400" imgH="4267200" progId="Equation.DSMT4">
                  <p:embed/>
                </p:oleObj>
              </mc:Choice>
              <mc:Fallback>
                <p:oleObj name="Equation" r:id="rId13" imgW="3962400" imgH="4267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3140968"/>
                        <a:ext cx="30003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100392" y="3102211"/>
          <a:ext cx="4841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4" name="Equation" r:id="rId14" imgW="6400800" imgH="4876800" progId="Equation.DSMT4">
                  <p:embed/>
                </p:oleObj>
              </mc:Choice>
              <mc:Fallback>
                <p:oleObj name="Equation" r:id="rId14" imgW="64008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3102211"/>
                        <a:ext cx="4841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419872" y="4380210"/>
          <a:ext cx="3460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5" name="Equation" r:id="rId16" imgW="190500" imgH="203200" progId="Equation.DSMT4">
                  <p:embed/>
                </p:oleObj>
              </mc:Choice>
              <mc:Fallback>
                <p:oleObj name="Equation" r:id="rId16" imgW="190500" imgH="2032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4380210"/>
                        <a:ext cx="34607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898033" y="4356224"/>
          <a:ext cx="13382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6" name="Equation" r:id="rId18" imgW="17678400" imgH="5486400" progId="Equation.DSMT4">
                  <p:embed/>
                </p:oleObj>
              </mc:Choice>
              <mc:Fallback>
                <p:oleObj name="Equation" r:id="rId18" imgW="17678400" imgH="54864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8033" y="4356224"/>
                        <a:ext cx="133826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187700" y="4784197"/>
          <a:ext cx="1384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7" name="Equation" r:id="rId20" imgW="18288000" imgH="4876800" progId="Equation.DSMT4">
                  <p:embed/>
                </p:oleObj>
              </mc:Choice>
              <mc:Fallback>
                <p:oleObj name="Equation" r:id="rId20" imgW="18288000" imgH="48768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4784197"/>
                        <a:ext cx="13843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915816" y="5100290"/>
          <a:ext cx="3305455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8" name="Equation" r:id="rId22" imgW="42367200" imgH="6400800" progId="Equation.DSMT4">
                  <p:embed/>
                </p:oleObj>
              </mc:Choice>
              <mc:Fallback>
                <p:oleObj name="Equation" r:id="rId22" imgW="42367200" imgH="64008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5100290"/>
                        <a:ext cx="3305455" cy="50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436095" y="5841336"/>
          <a:ext cx="2567454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39" name="Equation" r:id="rId24" imgW="32918400" imgH="7315200" progId="Equation.DSMT4">
                  <p:embed/>
                </p:oleObj>
              </mc:Choice>
              <mc:Fallback>
                <p:oleObj name="Equation" r:id="rId24" imgW="32918400" imgH="73152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5" y="5841336"/>
                        <a:ext cx="2567454" cy="57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387800" y="2492375"/>
          <a:ext cx="39211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40" name="Equation" r:id="rId26" imgW="5181600" imgH="4876800" progId="Equation.DSMT4">
                  <p:embed/>
                </p:oleObj>
              </mc:Choice>
              <mc:Fallback>
                <p:oleObj name="Equation" r:id="rId26" imgW="5181600" imgH="4876800" progId="Equation.DSMT4">
                  <p:embed/>
                  <p:pic>
                    <p:nvPicPr>
                      <p:cNvPr id="0" name="图片 24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800" y="2492375"/>
                        <a:ext cx="392112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7.1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7.3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theme/theme1.xml><?xml version="1.0" encoding="utf-8"?>
<a:theme xmlns:a="http://schemas.openxmlformats.org/drawingml/2006/main" name="课件PPT主题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课件PPT主题1</Template>
  <TotalTime>0</TotalTime>
  <Words>5180</Words>
  <Application>WPS 演示</Application>
  <PresentationFormat>全屏显示(4:3)</PresentationFormat>
  <Paragraphs>541</Paragraphs>
  <Slides>35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147</vt:i4>
      </vt:variant>
      <vt:variant>
        <vt:lpstr>幻灯片标题</vt:lpstr>
      </vt:variant>
      <vt:variant>
        <vt:i4>35</vt:i4>
      </vt:variant>
    </vt:vector>
  </HeadingPairs>
  <TitlesOfParts>
    <vt:vector size="189" baseType="lpstr">
      <vt:lpstr>Arial</vt:lpstr>
      <vt:lpstr>宋体</vt:lpstr>
      <vt:lpstr>Wingdings</vt:lpstr>
      <vt:lpstr>Tahoma</vt:lpstr>
      <vt:lpstr>微软雅黑</vt:lpstr>
      <vt:lpstr>Arial Unicode MS</vt:lpstr>
      <vt:lpstr>课件PPT主题1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第7章 贝叶斯分类器</vt:lpstr>
      <vt:lpstr>主要内容</vt:lpstr>
      <vt:lpstr>7.1 贝叶斯决策论</vt:lpstr>
      <vt:lpstr>7.1 贝叶斯决策论</vt:lpstr>
      <vt:lpstr>7.1 贝叶斯决策论</vt:lpstr>
      <vt:lpstr>7.1 贝叶斯决策论</vt:lpstr>
      <vt:lpstr>7.2 极大似然估计</vt:lpstr>
      <vt:lpstr>7.2 极大似然估计</vt:lpstr>
      <vt:lpstr>7.2 极大似然估计</vt:lpstr>
      <vt:lpstr>7.3 朴素贝叶斯分类器</vt:lpstr>
      <vt:lpstr>7.3 朴素贝叶斯分类器</vt:lpstr>
      <vt:lpstr>7.3 朴素贝叶斯分类器</vt:lpstr>
      <vt:lpstr>7.3 朴素贝叶斯分类器</vt:lpstr>
      <vt:lpstr>7.3 朴素贝叶斯分类器</vt:lpstr>
      <vt:lpstr>7.3 朴素贝叶斯分类器</vt:lpstr>
      <vt:lpstr>7.3 朴素贝叶斯分类器</vt:lpstr>
      <vt:lpstr>7.4 半朴素贝叶斯分类器</vt:lpstr>
      <vt:lpstr>7.4 半朴素贝叶斯分类器</vt:lpstr>
      <vt:lpstr>7.4 半朴素贝叶斯分类器</vt:lpstr>
      <vt:lpstr>7.4 半朴素贝叶斯分类器</vt:lpstr>
      <vt:lpstr>7.5 贝叶斯网</vt:lpstr>
      <vt:lpstr>7.5 贝叶斯网</vt:lpstr>
      <vt:lpstr>7.5 贝叶斯网</vt:lpstr>
      <vt:lpstr>7.5 贝叶斯网</vt:lpstr>
      <vt:lpstr>7.5 贝叶斯网</vt:lpstr>
      <vt:lpstr>7.5 贝叶斯网</vt:lpstr>
      <vt:lpstr>7.5 贝叶斯网</vt:lpstr>
      <vt:lpstr>7.5 贝叶斯网</vt:lpstr>
      <vt:lpstr>7.5 贝叶斯网</vt:lpstr>
      <vt:lpstr>7.5 贝叶斯网</vt:lpstr>
      <vt:lpstr>7.5 贝叶斯网</vt:lpstr>
      <vt:lpstr>7.5 贝叶斯网</vt:lpstr>
      <vt:lpstr>7.6 EM算法</vt:lpstr>
      <vt:lpstr>7.6 EM算法</vt:lpstr>
      <vt:lpstr>作业</vt:lpstr>
    </vt:vector>
  </TitlesOfParts>
  <Company>NEU Systems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智能优化方法</dc:title>
  <dc:creator>Junwei Wang</dc:creator>
  <cp:lastModifiedBy>MNBVC</cp:lastModifiedBy>
  <cp:revision>1123</cp:revision>
  <dcterms:created xsi:type="dcterms:W3CDTF">2003-07-20T06:30:00Z</dcterms:created>
  <dcterms:modified xsi:type="dcterms:W3CDTF">2021-09-22T13:10:32Z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