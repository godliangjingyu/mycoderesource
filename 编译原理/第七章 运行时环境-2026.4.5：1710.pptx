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39"/>
  </p:handoutMasterIdLst>
  <p:sldIdLst>
    <p:sldId id="649" r:id="rId3"/>
    <p:sldId id="541" r:id="rId4"/>
    <p:sldId id="540" r:id="rId5"/>
    <p:sldId id="258" r:id="rId6"/>
    <p:sldId id="543" r:id="rId7"/>
    <p:sldId id="545" r:id="rId8"/>
    <p:sldId id="547" r:id="rId9"/>
    <p:sldId id="549" r:id="rId10"/>
    <p:sldId id="551" r:id="rId11"/>
    <p:sldId id="553" r:id="rId12"/>
    <p:sldId id="556" r:id="rId13"/>
    <p:sldId id="559" r:id="rId14"/>
    <p:sldId id="561" r:id="rId16"/>
    <p:sldId id="563" r:id="rId17"/>
    <p:sldId id="565" r:id="rId18"/>
    <p:sldId id="566" r:id="rId19"/>
    <p:sldId id="568" r:id="rId20"/>
    <p:sldId id="569" r:id="rId21"/>
    <p:sldId id="570" r:id="rId22"/>
    <p:sldId id="572" r:id="rId23"/>
    <p:sldId id="574" r:id="rId24"/>
    <p:sldId id="576" r:id="rId25"/>
    <p:sldId id="578" r:id="rId26"/>
    <p:sldId id="579" r:id="rId27"/>
    <p:sldId id="580" r:id="rId28"/>
    <p:sldId id="582" r:id="rId29"/>
    <p:sldId id="583" r:id="rId30"/>
    <p:sldId id="603" r:id="rId31"/>
    <p:sldId id="585" r:id="rId32"/>
    <p:sldId id="604" r:id="rId33"/>
    <p:sldId id="588" r:id="rId34"/>
    <p:sldId id="589" r:id="rId35"/>
    <p:sldId id="591" r:id="rId36"/>
    <p:sldId id="593" r:id="rId37"/>
    <p:sldId id="601" r:id="rId38"/>
  </p:sldIdLst>
  <p:sldSz cx="12192000" cy="6858000"/>
  <p:notesSz cx="6858000" cy="9144000"/>
  <p:custDataLst>
    <p:tags r:id="rId4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ren"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814" autoAdjust="0"/>
  </p:normalViewPr>
  <p:slideViewPr>
    <p:cSldViewPr snapToGrid="0">
      <p:cViewPr varScale="1">
        <p:scale>
          <a:sx n="99" d="100"/>
          <a:sy n="99" d="100"/>
        </p:scale>
        <p:origin x="1420" y="68"/>
      </p:cViewPr>
      <p:guideLst/>
    </p:cSldViewPr>
  </p:slideViewPr>
  <p:notesTextViewPr>
    <p:cViewPr>
      <p:scale>
        <a:sx n="1" d="1"/>
        <a:sy n="1" d="1"/>
      </p:scale>
      <p:origin x="0" y="0"/>
    </p:cViewPr>
  </p:notesText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gs" Target="tags/tag186.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EA3E2-C87F-4A69-AA9B-977CB6B7875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A2114A-053A-4019-867C-6DA91B73B33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7B0C-C5AB-457F-8F1A-FBF93A90A4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0A2A6-A786-4185-BFBE-5D2240968AB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9.xml"/><Relationship Id="rId7" Type="http://schemas.openxmlformats.org/officeDocument/2006/relationships/image" Target="../media/image2.png"/><Relationship Id="rId6" Type="http://schemas.openxmlformats.org/officeDocument/2006/relationships/tags" Target="../tags/tag8.xml"/><Relationship Id="rId5" Type="http://schemas.openxmlformats.org/officeDocument/2006/relationships/image" Target="../media/image1.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12.xml"/><Relationship Id="rId4" Type="http://schemas.openxmlformats.org/officeDocument/2006/relationships/image" Target="../media/image1.png"/><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矩形 7"/>
          <p:cNvSpPr/>
          <p:nvPr userDrawn="1"/>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0" name="西北工业大学"/>
          <p:cNvPicPr>
            <a:picLocks noChangeAspect="1"/>
          </p:cNvPicPr>
          <p:nvPr userDrawn="1"/>
        </p:nvPicPr>
        <p:blipFill>
          <a:blip r:embed="rId2" cstate="screen"/>
          <a:stretch>
            <a:fillRect/>
          </a:stretch>
        </p:blipFill>
        <p:spPr>
          <a:xfrm>
            <a:off x="9968653" y="417830"/>
            <a:ext cx="1817793" cy="342900"/>
          </a:xfrm>
          <a:prstGeom prst="rect">
            <a:avLst/>
          </a:prstGeom>
        </p:spPr>
      </p:pic>
      <p:pic>
        <p:nvPicPr>
          <p:cNvPr id="11" name="校徽"/>
          <p:cNvPicPr>
            <a:picLocks noChangeAspect="1"/>
          </p:cNvPicPr>
          <p:nvPr userDrawn="1"/>
        </p:nvPicPr>
        <p:blipFill>
          <a:blip r:embed="rId3" cstate="screen"/>
          <a:stretch>
            <a:fillRect/>
          </a:stretch>
        </p:blipFill>
        <p:spPr>
          <a:xfrm>
            <a:off x="9157547" y="342900"/>
            <a:ext cx="575733" cy="431800"/>
          </a:xfrm>
          <a:prstGeom prst="rect">
            <a:avLst/>
          </a:prstGeom>
        </p:spPr>
      </p:pic>
      <p:cxnSp>
        <p:nvCxnSpPr>
          <p:cNvPr id="13" name="直线连接符 12"/>
          <p:cNvCxnSpPr/>
          <p:nvPr userDrawn="1"/>
        </p:nvCxnSpPr>
        <p:spPr>
          <a:xfrm>
            <a:off x="1134464" y="1936216"/>
            <a:ext cx="9730740"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sp>
        <p:nvSpPr>
          <p:cNvPr id="14" name="日期占位符 11"/>
          <p:cNvSpPr>
            <a:spLocks noGrp="1"/>
          </p:cNvSpPr>
          <p:nvPr>
            <p:ph type="dt" sz="half" idx="10"/>
            <p:custDataLst>
              <p:tags r:id="rId4"/>
            </p:custDataLst>
          </p:nvPr>
        </p:nvSpPr>
        <p:spPr>
          <a:xfrm>
            <a:off x="838200" y="6432550"/>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15" name="页脚占位符 13"/>
          <p:cNvSpPr>
            <a:spLocks noGrp="1"/>
          </p:cNvSpPr>
          <p:nvPr>
            <p:ph type="ftr" sz="quarter" idx="11"/>
            <p:custDataLst>
              <p:tags r:id="rId5"/>
            </p:custDataLst>
          </p:nvPr>
        </p:nvSpPr>
        <p:spPr>
          <a:xfrm>
            <a:off x="4038600" y="6432550"/>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6" name="灯片编号占位符 14"/>
          <p:cNvSpPr>
            <a:spLocks noGrp="1"/>
          </p:cNvSpPr>
          <p:nvPr>
            <p:ph type="sldNum" sz="quarter" idx="12"/>
            <p:custDataLst>
              <p:tags r:id="rId6"/>
            </p:custDataLst>
          </p:nvPr>
        </p:nvSpPr>
        <p:spPr>
          <a:xfrm>
            <a:off x="8610600" y="6432550"/>
            <a:ext cx="2743200" cy="365125"/>
          </a:xfrm>
          <a:prstGeom prst="rect">
            <a:avLst/>
          </a:prstGeom>
        </p:spPr>
        <p:txBody>
          <a:bodyPr/>
          <a:lstStyle/>
          <a:p>
            <a:fld id="{5A1A6423-77BD-D842-A714-25250E903C41}" type="slidenum">
              <a:rPr kumimoji="1" lang="zh-CN" altLang="en-US" sz="900" smtClean="0"/>
            </a:fld>
            <a:endParaRPr kumimoji="1" lang="zh-CN" altLang="en-US" sz="900"/>
          </a:p>
        </p:txBody>
      </p:sp>
      <p:cxnSp>
        <p:nvCxnSpPr>
          <p:cNvPr id="17" name="直线连接符 9"/>
          <p:cNvCxnSpPr/>
          <p:nvPr userDrawn="1">
            <p:custDataLst>
              <p:tags r:id="rId7"/>
            </p:custDataLst>
          </p:nvPr>
        </p:nvCxnSpPr>
        <p:spPr>
          <a:xfrm>
            <a:off x="0" y="633397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3" hasCustomPrompt="1"/>
          </p:nvPr>
        </p:nvSpPr>
        <p:spPr>
          <a:xfrm>
            <a:off x="1134464" y="1209311"/>
            <a:ext cx="6129867" cy="511118"/>
          </a:xfrm>
        </p:spPr>
        <p:txBody>
          <a:bodyPr>
            <a:normAutofit/>
          </a:bodyPr>
          <a:lstStyle>
            <a:lvl1pPr marL="0" indent="0">
              <a:buNone/>
              <a:defRPr kumimoji="1" lang="zh-CN" altLang="en-US" sz="3200" b="1" kern="1200" dirty="0">
                <a:solidFill>
                  <a:srgbClr val="034EA2"/>
                </a:solidFill>
                <a:latin typeface="微软雅黑" panose="020B0503020204020204" charset="-122"/>
                <a:ea typeface="微软雅黑" panose="020B0503020204020204" charset="-122"/>
                <a:cs typeface="微软雅黑" panose="020B0503020204020204" charset="-122"/>
              </a:defRPr>
            </a:lvl1pPr>
          </a:lstStyle>
          <a:p>
            <a:pPr lvl="0"/>
            <a:r>
              <a:rPr lang="zh-CN" altLang="en-US" dirty="0"/>
              <a:t>第</a:t>
            </a:r>
            <a:r>
              <a:rPr lang="en-US" altLang="zh-CN" dirty="0"/>
              <a:t> </a:t>
            </a:r>
            <a:r>
              <a:rPr lang="zh-CN" altLang="en-US" dirty="0"/>
              <a:t>单元 </a:t>
            </a:r>
            <a:endParaRPr lang="zh-CN" altLang="en-US" dirty="0"/>
          </a:p>
        </p:txBody>
      </p:sp>
      <p:sp>
        <p:nvSpPr>
          <p:cNvPr id="23" name="文本占位符 22"/>
          <p:cNvSpPr>
            <a:spLocks noGrp="1"/>
          </p:cNvSpPr>
          <p:nvPr>
            <p:ph type="body" sz="quarter" idx="14" hasCustomPrompt="1"/>
          </p:nvPr>
        </p:nvSpPr>
        <p:spPr>
          <a:xfrm>
            <a:off x="1134464" y="2106539"/>
            <a:ext cx="8255000" cy="2838450"/>
          </a:xfrm>
        </p:spPr>
        <p:txBody>
          <a:bodyPr>
            <a:normAutofit/>
          </a:bodyPr>
          <a:lstStyle>
            <a:lvl1pPr marL="0" indent="0" algn="l" defTabSz="914400" rtl="0" eaLnBrk="1" latinLnBrk="0" hangingPunct="1">
              <a:lnSpc>
                <a:spcPct val="150000"/>
              </a:lnSpc>
              <a:spcBef>
                <a:spcPts val="1000"/>
              </a:spcBef>
              <a:buFont typeface="Arial" panose="020B0604020202020204" pitchFamily="34" charset="0"/>
              <a:buNone/>
              <a:defRPr kumimoji="1" lang="zh-CN" altLang="en-US" sz="2800" kern="1200" dirty="0">
                <a:solidFill>
                  <a:srgbClr val="034EA2"/>
                </a:solidFill>
                <a:latin typeface="+mn-ea"/>
                <a:ea typeface="+mn-ea"/>
                <a:cs typeface="+mn-ea"/>
              </a:defRPr>
            </a:lvl1pPr>
          </a:lstStyle>
          <a:p>
            <a:pPr lvl="0"/>
            <a:r>
              <a:rPr lang="en-US" altLang="zh-CN" dirty="0"/>
              <a:t>1.1 </a:t>
            </a:r>
            <a:endParaRPr lang="en-US" altLang="zh-CN" dirty="0"/>
          </a:p>
          <a:p>
            <a:pPr lvl="0"/>
            <a:r>
              <a:rPr lang="en-US" altLang="zh-CN" dirty="0"/>
              <a:t>1.2 </a:t>
            </a:r>
            <a:endParaRPr lang="en-US" altLang="zh-CN" dirty="0"/>
          </a:p>
          <a:p>
            <a:pPr lvl="0"/>
            <a:r>
              <a:rPr lang="en-US" altLang="zh-CN" dirty="0"/>
              <a:t>1.3</a:t>
            </a:r>
            <a:endParaRPr lang="zh-CN" altLang="en-US" dirty="0"/>
          </a:p>
        </p:txBody>
      </p:sp>
      <p:sp>
        <p:nvSpPr>
          <p:cNvPr id="27" name="文本占位符 26"/>
          <p:cNvSpPr>
            <a:spLocks noGrp="1"/>
          </p:cNvSpPr>
          <p:nvPr>
            <p:ph type="body" sz="quarter" idx="15" hasCustomPrompt="1"/>
          </p:nvPr>
        </p:nvSpPr>
        <p:spPr>
          <a:xfrm>
            <a:off x="228531" y="263977"/>
            <a:ext cx="2653249" cy="589645"/>
          </a:xfrm>
        </p:spPr>
        <p:txBody>
          <a:bodyPr/>
          <a:lstStyle>
            <a:lvl1pPr marL="0" indent="0">
              <a:buNone/>
              <a:defRPr kumimoji="1" lang="zh-CN" altLang="en-US" sz="3600" b="1" kern="1200" dirty="0" smtClean="0">
                <a:solidFill>
                  <a:schemeClr val="bg1"/>
                </a:solidFill>
                <a:latin typeface="+mn-ea"/>
                <a:ea typeface="+mn-ea"/>
                <a:cs typeface="+mj-cs"/>
              </a:defRPr>
            </a:lvl1pPr>
          </a:lstStyle>
          <a:p>
            <a:pPr lvl="0"/>
            <a:r>
              <a:rPr lang="zh-CN" altLang="en-US" dirty="0"/>
              <a:t>目录</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培养目标">
    <p:spTree>
      <p:nvGrpSpPr>
        <p:cNvPr id="1" name=""/>
        <p:cNvGrpSpPr/>
        <p:nvPr/>
      </p:nvGrpSpPr>
      <p:grpSpPr>
        <a:xfrm>
          <a:off x="0" y="0"/>
          <a:ext cx="0" cy="0"/>
          <a:chOff x="0" y="0"/>
          <a:chExt cx="0" cy="0"/>
        </a:xfrm>
      </p:grpSpPr>
      <p:sp>
        <p:nvSpPr>
          <p:cNvPr id="7" name="内容占位符 2"/>
          <p:cNvSpPr>
            <a:spLocks noGrp="1"/>
          </p:cNvSpPr>
          <p:nvPr userDrawn="1">
            <p:custDataLst>
              <p:tags r:id="rId2"/>
            </p:custDataLst>
          </p:nvPr>
        </p:nvSpPr>
        <p:spPr>
          <a:xfrm>
            <a:off x="630767" y="1339215"/>
            <a:ext cx="10670540"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本节培养目标</a:t>
            </a:r>
            <a:endParaRPr kumimoji="1" lang="zh-CN" altLang="en-US" sz="2800" b="1" dirty="0"/>
          </a:p>
        </p:txBody>
      </p:sp>
      <p:sp>
        <p:nvSpPr>
          <p:cNvPr id="8" name="矩形 7"/>
          <p:cNvSpPr/>
          <p:nvPr userDrawn="1">
            <p:custDataLst>
              <p:tags r:id="rId3"/>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9" name="日期占位符 3"/>
          <p:cNvSpPr>
            <a:spLocks noGrp="1"/>
          </p:cNvSpPr>
          <p:nvPr>
            <p:ph type="dt" sz="half" idx="10"/>
          </p:nvPr>
        </p:nvSpPr>
        <p:spPr>
          <a:xfrm>
            <a:off x="838200" y="6432550"/>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10" name="页脚占位符 4"/>
          <p:cNvSpPr>
            <a:spLocks noGrp="1"/>
          </p:cNvSpPr>
          <p:nvPr>
            <p:ph type="ftr" sz="quarter" idx="11"/>
          </p:nvPr>
        </p:nvSpPr>
        <p:spPr>
          <a:xfrm>
            <a:off x="4038600" y="6432550"/>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1" name="灯片编号占位符 5"/>
          <p:cNvSpPr>
            <a:spLocks noGrp="1"/>
          </p:cNvSpPr>
          <p:nvPr>
            <p:ph type="sldNum" sz="quarter" idx="12"/>
          </p:nvPr>
        </p:nvSpPr>
        <p:spPr>
          <a:xfrm>
            <a:off x="8610600" y="6432550"/>
            <a:ext cx="2743200" cy="365125"/>
          </a:xfrm>
          <a:prstGeom prst="rect">
            <a:avLst/>
          </a:prstGeom>
        </p:spPr>
        <p:txBody>
          <a:bodyPr/>
          <a:lstStyle/>
          <a:p>
            <a:fld id="{5A1A6423-77BD-D842-A714-25250E903C41}" type="slidenum">
              <a:rPr kumimoji="1" lang="zh-CN" altLang="en-US" sz="900" smtClean="0"/>
            </a:fld>
            <a:endParaRPr kumimoji="1" lang="zh-CN" altLang="en-US" sz="900"/>
          </a:p>
        </p:txBody>
      </p:sp>
      <p:pic>
        <p:nvPicPr>
          <p:cNvPr id="13" name="西北工业大学"/>
          <p:cNvPicPr>
            <a:picLocks noChangeAspect="1"/>
          </p:cNvPicPr>
          <p:nvPr userDrawn="1">
            <p:custDataLst>
              <p:tags r:id="rId4"/>
            </p:custDataLst>
          </p:nvPr>
        </p:nvPicPr>
        <p:blipFill>
          <a:blip r:embed="rId5" cstate="screen"/>
          <a:stretch>
            <a:fillRect/>
          </a:stretch>
        </p:blipFill>
        <p:spPr>
          <a:xfrm>
            <a:off x="9968653" y="417830"/>
            <a:ext cx="1817793" cy="342900"/>
          </a:xfrm>
          <a:prstGeom prst="rect">
            <a:avLst/>
          </a:prstGeom>
        </p:spPr>
      </p:pic>
      <p:pic>
        <p:nvPicPr>
          <p:cNvPr id="14" name="校徽"/>
          <p:cNvPicPr>
            <a:picLocks noChangeAspect="1"/>
          </p:cNvPicPr>
          <p:nvPr userDrawn="1">
            <p:custDataLst>
              <p:tags r:id="rId6"/>
            </p:custDataLst>
          </p:nvPr>
        </p:nvPicPr>
        <p:blipFill>
          <a:blip r:embed="rId7" cstate="screen"/>
          <a:stretch>
            <a:fillRect/>
          </a:stretch>
        </p:blipFill>
        <p:spPr>
          <a:xfrm>
            <a:off x="9157547" y="342900"/>
            <a:ext cx="575733" cy="431800"/>
          </a:xfrm>
          <a:prstGeom prst="rect">
            <a:avLst/>
          </a:prstGeom>
        </p:spPr>
      </p:pic>
      <p:sp>
        <p:nvSpPr>
          <p:cNvPr id="15" name="矩形 14"/>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卷形: 水平 1"/>
          <p:cNvSpPr/>
          <p:nvPr userDrawn="1">
            <p:custDataLst>
              <p:tags r:id="rId8"/>
            </p:custDataLst>
          </p:nvPr>
        </p:nvSpPr>
        <p:spPr>
          <a:xfrm>
            <a:off x="838200" y="1729105"/>
            <a:ext cx="10325100"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lstStyle/>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9" name="文本占位符 18"/>
          <p:cNvSpPr>
            <a:spLocks noGrp="1"/>
          </p:cNvSpPr>
          <p:nvPr>
            <p:ph type="body" sz="quarter" idx="13" hasCustomPrompt="1"/>
          </p:nvPr>
        </p:nvSpPr>
        <p:spPr>
          <a:xfrm>
            <a:off x="1911351" y="2498725"/>
            <a:ext cx="9076267" cy="2197100"/>
          </a:xfrm>
        </p:spPr>
        <p:txBody>
          <a:bodyPr/>
          <a:lstStyle>
            <a:lvl1pPr marL="457200" indent="-457200">
              <a:buFont typeface="+mj-lt"/>
              <a:buAutoNum type="arabicPeriod"/>
              <a:defRPr lang="zh-CN" altLang="en-US" sz="2400" b="1" kern="100" dirty="0" smtClean="0">
                <a:ln>
                  <a:noFill/>
                </a:ln>
                <a:solidFill>
                  <a:schemeClr val="tx1"/>
                </a:solidFill>
                <a:effectLst/>
                <a:uLnTx/>
                <a:uFillTx/>
                <a:latin typeface="等线" panose="02010600030101010101" charset="-122"/>
                <a:ea typeface="等线" panose="02010600030101010101" charset="-122"/>
                <a:cs typeface="等线" panose="02010600030101010101" charset="-122"/>
              </a:defRPr>
            </a:lvl1pPr>
          </a:lstStyle>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第一级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第二级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第三级</a:t>
            </a:r>
            <a:endParaRPr lang="zh-CN" altLang="en-US" dirty="0"/>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 </a:t>
            </a:r>
            <a:r>
              <a:rPr lang="zh-CN" altLang="en-US" dirty="0"/>
              <a:t>章节名</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日期占位符 3"/>
          <p:cNvSpPr>
            <a:spLocks noGrp="1"/>
          </p:cNvSpPr>
          <p:nvPr>
            <p:ph type="dt" sz="half" idx="10"/>
          </p:nvPr>
        </p:nvSpPr>
        <p:spPr>
          <a:xfrm>
            <a:off x="838200" y="6356351"/>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9" name="页脚占位符 4"/>
          <p:cNvSpPr>
            <a:spLocks noGrp="1"/>
          </p:cNvSpPr>
          <p:nvPr>
            <p:ph type="ftr" sz="quarter" idx="11"/>
          </p:nvPr>
        </p:nvSpPr>
        <p:spPr>
          <a:xfrm>
            <a:off x="4038600" y="6356351"/>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0" name="灯片编号占位符 5"/>
          <p:cNvSpPr>
            <a:spLocks noGrp="1"/>
          </p:cNvSpPr>
          <p:nvPr>
            <p:ph type="sldNum" sz="quarter" idx="12"/>
          </p:nvPr>
        </p:nvSpPr>
        <p:spPr>
          <a:xfrm>
            <a:off x="8610600" y="6356351"/>
            <a:ext cx="2743200" cy="365125"/>
          </a:xfrm>
          <a:prstGeom prst="rect">
            <a:avLst/>
          </a:prstGeo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userDrawn="1">
            <p:custDataLst>
              <p:tags r:id="rId3"/>
            </p:custDataLst>
          </p:nvPr>
        </p:nvPicPr>
        <p:blipFill>
          <a:blip r:embed="rId4" cstate="screen"/>
          <a:stretch>
            <a:fillRect/>
          </a:stretch>
        </p:blipFill>
        <p:spPr>
          <a:xfrm>
            <a:off x="9968653" y="417830"/>
            <a:ext cx="1817793" cy="342900"/>
          </a:xfrm>
          <a:prstGeom prst="rect">
            <a:avLst/>
          </a:prstGeom>
        </p:spPr>
      </p:pic>
      <p:pic>
        <p:nvPicPr>
          <p:cNvPr id="12" name="校徽"/>
          <p:cNvPicPr>
            <a:picLocks noChangeAspect="1"/>
          </p:cNvPicPr>
          <p:nvPr userDrawn="1">
            <p:custDataLst>
              <p:tags r:id="rId5"/>
            </p:custDataLst>
          </p:nvPr>
        </p:nvPicPr>
        <p:blipFill>
          <a:blip r:embed="rId6" cstate="screen"/>
          <a:stretch>
            <a:fillRect/>
          </a:stretch>
        </p:blipFill>
        <p:spPr>
          <a:xfrm>
            <a:off x="9157547" y="342900"/>
            <a:ext cx="575733" cy="431800"/>
          </a:xfrm>
          <a:prstGeom prst="rect">
            <a:avLst/>
          </a:prstGeom>
        </p:spPr>
      </p:pic>
      <p:sp>
        <p:nvSpPr>
          <p:cNvPr id="13" name="矩形 12"/>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1.1.1 </a:t>
            </a:r>
            <a:r>
              <a:rPr lang="zh-CN" altLang="en-US" dirty="0"/>
              <a:t>小节名</a:t>
            </a:r>
            <a:endParaRPr lang="zh-CN" altLang="en-US" dirty="0"/>
          </a:p>
        </p:txBody>
      </p:sp>
      <p:sp>
        <p:nvSpPr>
          <p:cNvPr id="23" name="文本占位符 22"/>
          <p:cNvSpPr>
            <a:spLocks noGrp="1"/>
          </p:cNvSpPr>
          <p:nvPr>
            <p:ph type="body" sz="quarter" idx="15" hasCustomPrompt="1"/>
          </p:nvPr>
        </p:nvSpPr>
        <p:spPr>
          <a:xfrm>
            <a:off x="524087" y="1248410"/>
            <a:ext cx="4229947" cy="515619"/>
          </a:xfrm>
        </p:spPr>
        <p:txBody>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stStyle>
          <a:p>
            <a:pPr marL="0" indent="0" fontAlgn="auto">
              <a:lnSpc>
                <a:spcPct val="100000"/>
              </a:lnSpc>
              <a:spcBef>
                <a:spcPts val="0"/>
              </a:spcBef>
              <a:buNone/>
            </a:pPr>
            <a:r>
              <a:rPr lang="en-US" altLang="zh-CN" sz="2800" dirty="0">
                <a:latin typeface="Times New Roman" panose="02020603050405020304" pitchFamily="18" charset="0"/>
                <a:ea typeface="等线" panose="02010600030101010101" charset="-122"/>
                <a:cs typeface="Times New Roman" panose="02020603050405020304" pitchFamily="18" charset="0"/>
                <a:sym typeface="+mn-ea"/>
              </a:rPr>
              <a:t>1</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级标题</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25" name="文本占位符 24"/>
          <p:cNvSpPr>
            <a:spLocks noGrp="1"/>
          </p:cNvSpPr>
          <p:nvPr>
            <p:ph type="body" sz="quarter" idx="16" hasCustomPrompt="1"/>
          </p:nvPr>
        </p:nvSpPr>
        <p:spPr>
          <a:xfrm>
            <a:off x="529167" y="1910398"/>
            <a:ext cx="11163300" cy="4293551"/>
          </a:xfrm>
        </p:spPr>
        <p:txBody>
          <a:bodyPr>
            <a:normAutofit/>
          </a:bodyPr>
          <a:lstStyle>
            <a:lvl1pPr marL="2286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rtl="0" eaLnBrk="1" latinLnBrk="0" hangingPunct="1">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3" name="Footer Placeholder 2"/>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9" name="文本框 8"/>
          <p:cNvSpPr txBox="1"/>
          <p:nvPr userDrawn="1"/>
        </p:nvSpPr>
        <p:spPr>
          <a:xfrm>
            <a:off x="11416227" y="6407149"/>
            <a:ext cx="485140" cy="275590"/>
          </a:xfrm>
          <a:prstGeom prst="rect">
            <a:avLst/>
          </a:prstGeom>
          <a:noFill/>
        </p:spPr>
        <p:txBody>
          <a:bodyPr wrap="none" rtlCol="0">
            <a:spAutoFit/>
          </a:bodyPr>
          <a:lstStyle/>
          <a:p>
            <a:fld id="{6CCE0E74-C6F2-4DC5-83E7-295C76677F6B}" type="slidenum">
              <a:rPr lang="en-US" altLang="zh-CN" sz="1200" b="1" smtClean="0">
                <a:solidFill>
                  <a:schemeClr val="tx1"/>
                </a:solidFill>
                <a:latin typeface="+mn-ea"/>
                <a:ea typeface="+mn-ea"/>
              </a:rPr>
            </a:fld>
            <a:endParaRPr lang="zh-CN" altLang="en-US" sz="1200" b="1" dirty="0">
              <a:solidFill>
                <a:schemeClr val="tx1"/>
              </a:solidFill>
              <a:latin typeface="+mn-ea"/>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20989;&#25968;&#35843;&#29992;&#20998;&#26512;.txt"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15.xml"/><Relationship Id="rId4" Type="http://schemas.openxmlformats.org/officeDocument/2006/relationships/image" Target="../media/image9.png"/><Relationship Id="rId3" Type="http://schemas.openxmlformats.org/officeDocument/2006/relationships/tags" Target="../tags/tag14.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image" Target="../media/image10.png"/><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8" Type="http://schemas.openxmlformats.org/officeDocument/2006/relationships/slideLayout" Target="../slideLayouts/slideLayout3.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42.xml"/></Relationships>
</file>

<file path=ppt/slides/_rels/slide13.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8" Type="http://schemas.openxmlformats.org/officeDocument/2006/relationships/notesSlide" Target="../notesSlides/notesSlide2.xml"/><Relationship Id="rId27" Type="http://schemas.openxmlformats.org/officeDocument/2006/relationships/slideLayout" Target="../slideLayouts/slideLayout3.xml"/><Relationship Id="rId26" Type="http://schemas.openxmlformats.org/officeDocument/2006/relationships/tags" Target="../tags/tag68.xml"/><Relationship Id="rId25" Type="http://schemas.openxmlformats.org/officeDocument/2006/relationships/tags" Target="../tags/tag67.xml"/><Relationship Id="rId24" Type="http://schemas.openxmlformats.org/officeDocument/2006/relationships/tags" Target="../tags/tag66.xml"/><Relationship Id="rId23" Type="http://schemas.openxmlformats.org/officeDocument/2006/relationships/tags" Target="../tags/tag65.xml"/><Relationship Id="rId22" Type="http://schemas.openxmlformats.org/officeDocument/2006/relationships/tags" Target="../tags/tag64.xml"/><Relationship Id="rId21" Type="http://schemas.openxmlformats.org/officeDocument/2006/relationships/tags" Target="../tags/tag63.xml"/><Relationship Id="rId20" Type="http://schemas.openxmlformats.org/officeDocument/2006/relationships/tags" Target="../tags/tag62.xml"/><Relationship Id="rId2" Type="http://schemas.openxmlformats.org/officeDocument/2006/relationships/tags" Target="../tags/tag44.xml"/><Relationship Id="rId19" Type="http://schemas.openxmlformats.org/officeDocument/2006/relationships/tags" Target="../tags/tag61.xml"/><Relationship Id="rId18" Type="http://schemas.openxmlformats.org/officeDocument/2006/relationships/tags" Target="../tags/tag60.xml"/><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3.xml"/></Relationships>
</file>

<file path=ppt/slides/_rels/slide14.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0" Type="http://schemas.openxmlformats.org/officeDocument/2006/relationships/notesSlide" Target="../notesSlides/notesSlide3.xml"/><Relationship Id="rId3" Type="http://schemas.openxmlformats.org/officeDocument/2006/relationships/tags" Target="../tags/tag71.xml"/><Relationship Id="rId29" Type="http://schemas.openxmlformats.org/officeDocument/2006/relationships/slideLayout" Target="../slideLayouts/slideLayout3.xml"/><Relationship Id="rId28" Type="http://schemas.openxmlformats.org/officeDocument/2006/relationships/tags" Target="../tags/tag96.xml"/><Relationship Id="rId27" Type="http://schemas.openxmlformats.org/officeDocument/2006/relationships/tags" Target="../tags/tag95.xml"/><Relationship Id="rId26" Type="http://schemas.openxmlformats.org/officeDocument/2006/relationships/tags" Target="../tags/tag94.xml"/><Relationship Id="rId25" Type="http://schemas.openxmlformats.org/officeDocument/2006/relationships/tags" Target="../tags/tag93.xml"/><Relationship Id="rId24" Type="http://schemas.openxmlformats.org/officeDocument/2006/relationships/tags" Target="../tags/tag92.xml"/><Relationship Id="rId23" Type="http://schemas.openxmlformats.org/officeDocument/2006/relationships/tags" Target="../tags/tag91.xml"/><Relationship Id="rId22" Type="http://schemas.openxmlformats.org/officeDocument/2006/relationships/tags" Target="../tags/tag90.xml"/><Relationship Id="rId21" Type="http://schemas.openxmlformats.org/officeDocument/2006/relationships/tags" Target="../tags/tag89.xml"/><Relationship Id="rId20" Type="http://schemas.openxmlformats.org/officeDocument/2006/relationships/tags" Target="../tags/tag88.xml"/><Relationship Id="rId2" Type="http://schemas.openxmlformats.org/officeDocument/2006/relationships/tags" Target="../tags/tag70.xml"/><Relationship Id="rId19" Type="http://schemas.openxmlformats.org/officeDocument/2006/relationships/tags" Target="../tags/tag87.xml"/><Relationship Id="rId18" Type="http://schemas.openxmlformats.org/officeDocument/2006/relationships/tags" Target="../tags/tag86.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tags" Target="../tags/tag6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5" Type="http://schemas.openxmlformats.org/officeDocument/2006/relationships/notesSlide" Target="../notesSlides/notesSlide5.xml"/><Relationship Id="rId24" Type="http://schemas.openxmlformats.org/officeDocument/2006/relationships/slideLayout" Target="../slideLayouts/slideLayout3.xml"/><Relationship Id="rId23" Type="http://schemas.openxmlformats.org/officeDocument/2006/relationships/tags" Target="../tags/tag119.xml"/><Relationship Id="rId22" Type="http://schemas.openxmlformats.org/officeDocument/2006/relationships/tags" Target="../tags/tag118.xml"/><Relationship Id="rId21" Type="http://schemas.openxmlformats.org/officeDocument/2006/relationships/tags" Target="../tags/tag117.xml"/><Relationship Id="rId20" Type="http://schemas.openxmlformats.org/officeDocument/2006/relationships/tags" Target="../tags/tag116.xml"/><Relationship Id="rId2" Type="http://schemas.openxmlformats.org/officeDocument/2006/relationships/tags" Target="../tags/tag98.xml"/><Relationship Id="rId19" Type="http://schemas.openxmlformats.org/officeDocument/2006/relationships/tags" Target="../tags/tag115.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tags" Target="../tags/tag9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1" Type="http://schemas.openxmlformats.org/officeDocument/2006/relationships/notesSlide" Target="../notesSlides/notesSlide8.xml"/><Relationship Id="rId20" Type="http://schemas.openxmlformats.org/officeDocument/2006/relationships/slideLayout" Target="../slideLayouts/slideLayout3.xml"/><Relationship Id="rId2" Type="http://schemas.openxmlformats.org/officeDocument/2006/relationships/tags" Target="../tags/tag122.xml"/><Relationship Id="rId19" Type="http://schemas.openxmlformats.org/officeDocument/2006/relationships/tags" Target="../tags/tag139.xml"/><Relationship Id="rId18" Type="http://schemas.openxmlformats.org/officeDocument/2006/relationships/tags" Target="../tags/tag138.xml"/><Relationship Id="rId17" Type="http://schemas.openxmlformats.org/officeDocument/2006/relationships/tags" Target="../tags/tag137.xml"/><Relationship Id="rId16" Type="http://schemas.openxmlformats.org/officeDocument/2006/relationships/tags" Target="../tags/tag136.xml"/><Relationship Id="rId15" Type="http://schemas.openxmlformats.org/officeDocument/2006/relationships/tags" Target="../tags/tag135.xml"/><Relationship Id="rId14" Type="http://schemas.openxmlformats.org/officeDocument/2006/relationships/tags" Target="../tags/tag134.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tags" Target="../tags/tag12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40.xml"/></Relationships>
</file>

<file path=ppt/slides/_rels/slide21.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6" Type="http://schemas.openxmlformats.org/officeDocument/2006/relationships/notesSlide" Target="../notesSlides/notesSlide10.xml"/><Relationship Id="rId25" Type="http://schemas.openxmlformats.org/officeDocument/2006/relationships/slideLayout" Target="../slideLayouts/slideLayout3.xml"/><Relationship Id="rId24" Type="http://schemas.openxmlformats.org/officeDocument/2006/relationships/tags" Target="../tags/tag164.xml"/><Relationship Id="rId23" Type="http://schemas.openxmlformats.org/officeDocument/2006/relationships/tags" Target="../tags/tag163.xml"/><Relationship Id="rId22" Type="http://schemas.openxmlformats.org/officeDocument/2006/relationships/tags" Target="../tags/tag162.xml"/><Relationship Id="rId21" Type="http://schemas.openxmlformats.org/officeDocument/2006/relationships/tags" Target="../tags/tag161.xml"/><Relationship Id="rId20" Type="http://schemas.openxmlformats.org/officeDocument/2006/relationships/tags" Target="../tags/tag160.xml"/><Relationship Id="rId2" Type="http://schemas.openxmlformats.org/officeDocument/2006/relationships/tags" Target="../tags/tag142.xml"/><Relationship Id="rId19" Type="http://schemas.openxmlformats.org/officeDocument/2006/relationships/tags" Target="../tags/tag159.xml"/><Relationship Id="rId18" Type="http://schemas.openxmlformats.org/officeDocument/2006/relationships/tags" Target="../tags/tag158.xml"/><Relationship Id="rId17" Type="http://schemas.openxmlformats.org/officeDocument/2006/relationships/tags" Target="../tags/tag157.xml"/><Relationship Id="rId16" Type="http://schemas.openxmlformats.org/officeDocument/2006/relationships/tags" Target="../tags/tag156.xml"/><Relationship Id="rId15" Type="http://schemas.openxmlformats.org/officeDocument/2006/relationships/tags" Target="../tags/tag155.xml"/><Relationship Id="rId14" Type="http://schemas.openxmlformats.org/officeDocument/2006/relationships/tags" Target="../tags/tag154.xml"/><Relationship Id="rId13" Type="http://schemas.openxmlformats.org/officeDocument/2006/relationships/tags" Target="../tags/tag153.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tags" Target="../tags/tag141.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3.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6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3.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3.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slide" Target="slide3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xml"/><Relationship Id="rId2" Type="http://schemas.openxmlformats.org/officeDocument/2006/relationships/tags" Target="../tags/tag184.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18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970" y="299720"/>
            <a:ext cx="1123061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sp>
        <p:nvSpPr>
          <p:cNvPr id="5" name="矩形 4"/>
          <p:cNvSpPr/>
          <p:nvPr/>
        </p:nvSpPr>
        <p:spPr>
          <a:xfrm>
            <a:off x="872490" y="789940"/>
            <a:ext cx="1054989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pic>
        <p:nvPicPr>
          <p:cNvPr id="1026" name="Picture 2" descr="西北工业大学- 维基百科，自由的百科全书"/>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42890" y="72580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67330" y="2722245"/>
            <a:ext cx="7194550" cy="706755"/>
          </a:xfrm>
          <a:prstGeom prst="rect">
            <a:avLst/>
          </a:prstGeom>
          <a:noFill/>
        </p:spPr>
        <p:txBody>
          <a:bodyPr wrap="square" rtlCol="0">
            <a:spAutoFit/>
          </a:bodyPr>
          <a:lstStyle/>
          <a:p>
            <a:pPr algn="dist"/>
            <a:r>
              <a:rPr kumimoji="1" lang="zh-CN" altLang="en-US" sz="4000" b="1" dirty="0">
                <a:solidFill>
                  <a:srgbClr val="034DA0"/>
                </a:solidFill>
                <a:latin typeface="+mn-ea"/>
                <a:cs typeface="等线 Light" panose="02010600030101010101" charset="-122"/>
                <a:sym typeface="+mn-ea"/>
              </a:rPr>
              <a:t>编译原理</a:t>
            </a:r>
            <a:endParaRPr kumimoji="1" lang="zh-CN" altLang="en-US" sz="4000" b="1" dirty="0">
              <a:solidFill>
                <a:srgbClr val="034DA0"/>
              </a:solidFill>
              <a:latin typeface="+mn-ea"/>
              <a:cs typeface="等线 Light" panose="02010600030101010101" charset="-122"/>
              <a:sym typeface="+mn-ea"/>
            </a:endParaRPr>
          </a:p>
        </p:txBody>
      </p:sp>
      <p:cxnSp>
        <p:nvCxnSpPr>
          <p:cNvPr id="8" name="直线连接符 7"/>
          <p:cNvCxnSpPr/>
          <p:nvPr/>
        </p:nvCxnSpPr>
        <p:spPr>
          <a:xfrm flipV="1">
            <a:off x="2367330" y="3429151"/>
            <a:ext cx="8088630" cy="1397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367280" y="3538220"/>
            <a:ext cx="8289925" cy="2306955"/>
          </a:xfrm>
          <a:prstGeom prst="rect">
            <a:avLst/>
          </a:prstGeom>
          <a:noFill/>
        </p:spPr>
        <p:txBody>
          <a:bodyPr wrap="square" rtlCol="0">
            <a:spAutoFit/>
          </a:bodyPr>
          <a:lstStyle/>
          <a:p>
            <a:pPr algn="l">
              <a:lnSpc>
                <a:spcPct val="150000"/>
              </a:lnSpc>
            </a:pPr>
            <a:r>
              <a:rPr kumimoji="1" lang="zh-CN" altLang="en-US" sz="3200" b="1" dirty="0">
                <a:solidFill>
                  <a:schemeClr val="tx1">
                    <a:lumMod val="65000"/>
                    <a:lumOff val="35000"/>
                  </a:schemeClr>
                </a:solidFill>
                <a:latin typeface="+mn-ea"/>
                <a:cs typeface="+mn-ea"/>
              </a:rPr>
              <a:t>授课教师：马春燕    </a:t>
            </a:r>
            <a:r>
              <a:rPr kumimoji="1" lang="en-US" altLang="zh-CN" sz="3200" b="1" dirty="0">
                <a:solidFill>
                  <a:schemeClr val="tx1">
                    <a:lumMod val="65000"/>
                    <a:lumOff val="35000"/>
                  </a:schemeClr>
                </a:solidFill>
                <a:latin typeface="+mn-ea"/>
                <a:cs typeface="+mn-ea"/>
              </a:rPr>
              <a:t> </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邮箱：</a:t>
            </a:r>
            <a:r>
              <a:rPr kumimoji="1" lang="en-US" altLang="zh-CN" sz="3200" b="1" dirty="0">
                <a:solidFill>
                  <a:schemeClr val="tx1">
                    <a:lumMod val="65000"/>
                    <a:lumOff val="35000"/>
                  </a:schemeClr>
                </a:solidFill>
                <a:latin typeface="+mn-ea"/>
                <a:cs typeface="+mn-ea"/>
              </a:rPr>
              <a:t>machunyan @nwpu.edu.cn</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手机：</a:t>
            </a:r>
            <a:r>
              <a:rPr kumimoji="1" lang="en-US" altLang="zh-CN" sz="3200" b="1" dirty="0">
                <a:solidFill>
                  <a:schemeClr val="tx1">
                    <a:lumMod val="65000"/>
                    <a:lumOff val="35000"/>
                  </a:schemeClr>
                </a:solidFill>
                <a:latin typeface="+mn-ea"/>
                <a:cs typeface="+mn-ea"/>
              </a:rPr>
              <a:t>13991282722      </a:t>
            </a:r>
            <a:r>
              <a:rPr kumimoji="1" lang="en-US" altLang="zh-CN" sz="2000" b="1" dirty="0">
                <a:solidFill>
                  <a:schemeClr val="tx1">
                    <a:lumMod val="65000"/>
                    <a:lumOff val="35000"/>
                  </a:schemeClr>
                </a:solidFill>
                <a:latin typeface="+mn-ea"/>
                <a:cs typeface="+mn-ea"/>
              </a:rPr>
              <a:t>   </a:t>
            </a:r>
            <a:endParaRPr kumimoji="1" lang="en-US" altLang="zh-CN" sz="2000" b="1" dirty="0">
              <a:solidFill>
                <a:schemeClr val="tx1">
                  <a:lumMod val="65000"/>
                  <a:lumOff val="35000"/>
                </a:schemeClr>
              </a:solidFill>
              <a:latin typeface="+mn-ea"/>
              <a:cs typeface="+mn-ea"/>
            </a:endParaRPr>
          </a:p>
        </p:txBody>
      </p:sp>
      <p:sp>
        <p:nvSpPr>
          <p:cNvPr id="2" name="灯片编号占位符 1"/>
          <p:cNvSpPr>
            <a:spLocks noGrp="1"/>
          </p:cNvSpPr>
          <p:nvPr>
            <p:ph type="sldNum" sz="quarter" idx="12"/>
          </p:nvPr>
        </p:nvSpPr>
        <p:spPr/>
        <p:txBody>
          <a:bodyPr/>
          <a:p>
            <a:fld id="{7C7206B7-967B-48F3-989E-8CF2542470F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63855" y="276860"/>
            <a:ext cx="8936355" cy="593090"/>
          </a:xfrm>
        </p:spPr>
        <p:txBody>
          <a:bodyPr/>
          <a:lstStyle/>
          <a:p>
            <a:r>
              <a:rPr lang="zh-CN" altLang="en-US" dirty="0"/>
              <a:t>第</a:t>
            </a:r>
            <a:r>
              <a:rPr lang="en-US" altLang="zh-CN" dirty="0"/>
              <a:t>7</a:t>
            </a:r>
            <a:r>
              <a:rPr lang="zh-CN" altLang="en-US" dirty="0"/>
              <a:t>章 运行时环境（存储空间）</a:t>
            </a:r>
            <a:endParaRPr lang="zh-CN" altLang="en-US" dirty="0"/>
          </a:p>
        </p:txBody>
      </p:sp>
      <p:sp>
        <p:nvSpPr>
          <p:cNvPr id="8" name="Rectangle 4"/>
          <p:cNvSpPr txBox="1">
            <a:spLocks noChangeArrowheads="1"/>
          </p:cNvSpPr>
          <p:nvPr/>
        </p:nvSpPr>
        <p:spPr>
          <a:xfrm>
            <a:off x="534035" y="1193165"/>
            <a:ext cx="11426825" cy="3111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b="1" dirty="0">
                <a:solidFill>
                  <a:srgbClr val="020202"/>
                </a:solidFill>
                <a:latin typeface="+mn-ea"/>
              </a:rPr>
              <a:t>存储分配是在运行阶段进行的，但</a:t>
            </a:r>
            <a:r>
              <a:rPr lang="zh-CN" altLang="en-US" b="1" dirty="0">
                <a:solidFill>
                  <a:srgbClr val="FF3399"/>
                </a:solidFill>
                <a:latin typeface="+mn-ea"/>
              </a:rPr>
              <a:t>编译程序在编译阶段要为其设计好存储组织形式，并将这种组织形式通过生成的目标代码体现出来。(举例说明：</a:t>
            </a:r>
            <a:r>
              <a:rPr lang="zh-CN" altLang="en-US" b="1" dirty="0">
                <a:solidFill>
                  <a:srgbClr val="FF3399"/>
                </a:solidFill>
                <a:latin typeface="+mn-ea"/>
                <a:hlinkClick r:id="rId1" action="ppaction://hlinkfile"/>
              </a:rPr>
              <a:t>函数调用分析.</a:t>
            </a:r>
            <a:r>
              <a:rPr lang="en-US" altLang="zh-CN" b="1" dirty="0">
                <a:solidFill>
                  <a:srgbClr val="FF3399"/>
                </a:solidFill>
                <a:latin typeface="+mn-ea"/>
                <a:hlinkClick r:id="rId1" action="ppaction://hlinkfile"/>
              </a:rPr>
              <a:t>txt</a:t>
            </a:r>
            <a:r>
              <a:rPr lang="en-US" altLang="zh-CN" b="1" dirty="0">
                <a:solidFill>
                  <a:srgbClr val="FF3399"/>
                </a:solidFill>
                <a:latin typeface="+mn-ea"/>
              </a:rPr>
              <a:t>)</a:t>
            </a:r>
            <a:endParaRPr lang="en-US" altLang="zh-CN" b="1" dirty="0">
              <a:solidFill>
                <a:srgbClr val="FF3399"/>
              </a:solidFill>
              <a:latin typeface="+mn-ea"/>
            </a:endParaRPr>
          </a:p>
          <a:p>
            <a:pPr>
              <a:lnSpc>
                <a:spcPct val="125000"/>
              </a:lnSpc>
              <a:spcBef>
                <a:spcPts val="0"/>
              </a:spcBef>
              <a:spcAft>
                <a:spcPts val="0"/>
              </a:spcAft>
              <a:buFont typeface="Wingdings" panose="05000000000000000000" charset="0"/>
              <a:buChar char="p"/>
            </a:pPr>
            <a:r>
              <a:rPr lang="zh-CN" altLang="en-US" b="1" dirty="0">
                <a:solidFill>
                  <a:srgbClr val="020202"/>
                </a:solidFill>
                <a:latin typeface="+mn-ea"/>
              </a:rPr>
              <a:t>目标代码运行时，</a:t>
            </a:r>
            <a:r>
              <a:rPr lang="zh-CN" altLang="en-US" b="1" dirty="0">
                <a:solidFill>
                  <a:srgbClr val="FF3399"/>
                </a:solidFill>
                <a:latin typeface="+mn-ea"/>
              </a:rPr>
              <a:t>存储空间的组织</a:t>
            </a:r>
            <a:r>
              <a:rPr lang="zh-CN" altLang="en-US" b="1" dirty="0">
                <a:solidFill>
                  <a:srgbClr val="020202"/>
                </a:solidFill>
                <a:latin typeface="+mn-ea"/>
              </a:rPr>
              <a:t>称为目标代码的</a:t>
            </a:r>
            <a:r>
              <a:rPr lang="zh-CN" altLang="en-US" b="1" dirty="0">
                <a:solidFill>
                  <a:srgbClr val="FF3399"/>
                </a:solidFill>
                <a:latin typeface="+mn-ea"/>
              </a:rPr>
              <a:t>运行时环境</a:t>
            </a:r>
            <a:r>
              <a:rPr lang="zh-CN" altLang="en-US" b="1" dirty="0">
                <a:solidFill>
                  <a:srgbClr val="020202"/>
                </a:solidFill>
                <a:latin typeface="+mn-ea"/>
              </a:rPr>
              <a:t>。</a:t>
            </a:r>
            <a:endParaRPr lang="zh-CN" altLang="en-US" b="1" dirty="0">
              <a:solidFill>
                <a:srgbClr val="020202"/>
              </a:solidFill>
              <a:latin typeface="+mn-ea"/>
            </a:endParaRPr>
          </a:p>
          <a:p>
            <a:pPr>
              <a:lnSpc>
                <a:spcPct val="125000"/>
              </a:lnSpc>
              <a:spcBef>
                <a:spcPts val="0"/>
              </a:spcBef>
              <a:spcAft>
                <a:spcPts val="0"/>
              </a:spcAft>
              <a:buFont typeface="Wingdings" panose="05000000000000000000" charset="0"/>
              <a:buChar char="p"/>
            </a:pPr>
            <a:r>
              <a:rPr lang="zh-CN" altLang="en-US" b="1" dirty="0">
                <a:solidFill>
                  <a:srgbClr val="020202"/>
                </a:solidFill>
                <a:latin typeface="+mn-ea"/>
                <a:sym typeface="+mn-ea"/>
              </a:rPr>
              <a:t>运行时环境有三个类型：完全静态环境</a:t>
            </a:r>
            <a:r>
              <a:rPr lang="en-US" altLang="zh-CN" b="1" dirty="0">
                <a:solidFill>
                  <a:srgbClr val="020202"/>
                </a:solidFill>
                <a:latin typeface="+mn-ea"/>
                <a:sym typeface="+mn-ea"/>
              </a:rPr>
              <a:t>(Fortran)</a:t>
            </a:r>
            <a:r>
              <a:rPr lang="zh-CN" altLang="en-US" b="1" dirty="0">
                <a:solidFill>
                  <a:srgbClr val="020202"/>
                </a:solidFill>
                <a:latin typeface="+mn-ea"/>
                <a:sym typeface="+mn-ea"/>
              </a:rPr>
              <a:t>、基于栈的环境(</a:t>
            </a:r>
            <a:r>
              <a:rPr lang="en-US" altLang="zh-CN" b="1" dirty="0">
                <a:solidFill>
                  <a:srgbClr val="020202"/>
                </a:solidFill>
                <a:latin typeface="+mn-ea"/>
                <a:sym typeface="+mn-ea"/>
              </a:rPr>
              <a:t>C)，</a:t>
            </a:r>
            <a:r>
              <a:rPr lang="zh-CN" altLang="en-US" b="1" dirty="0">
                <a:solidFill>
                  <a:srgbClr val="020202"/>
                </a:solidFill>
                <a:latin typeface="+mn-ea"/>
                <a:sym typeface="+mn-ea"/>
              </a:rPr>
              <a:t>以及完全动态环境（Python、JavaScript等）</a:t>
            </a:r>
            <a:r>
              <a:rPr lang="en-US" altLang="zh-CN" b="1" dirty="0">
                <a:solidFill>
                  <a:srgbClr val="020202"/>
                </a:solidFill>
                <a:latin typeface="+mn-ea"/>
                <a:sym typeface="+mn-ea"/>
              </a:rPr>
              <a:t>,</a:t>
            </a:r>
            <a:r>
              <a:rPr lang="zh-CN" altLang="en-US" b="1" dirty="0">
                <a:solidFill>
                  <a:srgbClr val="020202"/>
                </a:solidFill>
                <a:latin typeface="+mn-ea"/>
                <a:sym typeface="+mn-ea"/>
              </a:rPr>
              <a:t>这3种类型的混合形式也是可能的</a:t>
            </a:r>
            <a:r>
              <a:rPr lang="en-US" altLang="zh-CN" b="1" dirty="0">
                <a:solidFill>
                  <a:srgbClr val="020202"/>
                </a:solidFill>
                <a:latin typeface="+mn-ea"/>
                <a:sym typeface="+mn-ea"/>
              </a:rPr>
              <a:t>(Java </a:t>
            </a:r>
            <a:r>
              <a:rPr lang="zh-CN" altLang="en-US" b="1" dirty="0">
                <a:solidFill>
                  <a:srgbClr val="020202"/>
                </a:solidFill>
                <a:latin typeface="+mn-ea"/>
                <a:sym typeface="+mn-ea"/>
              </a:rPr>
              <a:t>、</a:t>
            </a:r>
            <a:r>
              <a:rPr lang="en-US" altLang="zh-CN" b="1" dirty="0">
                <a:solidFill>
                  <a:srgbClr val="020202"/>
                </a:solidFill>
                <a:latin typeface="+mn-ea"/>
                <a:sym typeface="+mn-ea"/>
              </a:rPr>
              <a:t>C++是“栈 + 动态”的混合形式)</a:t>
            </a:r>
            <a:r>
              <a:rPr lang="zh-CN" altLang="en-US" b="1" dirty="0">
                <a:solidFill>
                  <a:srgbClr val="020202"/>
                </a:solidFill>
                <a:latin typeface="+mn-ea"/>
                <a:sym typeface="+mn-ea"/>
              </a:rPr>
              <a:t>。</a:t>
            </a:r>
            <a:endParaRPr lang="zh-CN" altLang="en-US" b="1" dirty="0">
              <a:solidFill>
                <a:srgbClr val="020202"/>
              </a:solidFill>
              <a:latin typeface="+mn-ea"/>
            </a:endParaRPr>
          </a:p>
        </p:txBody>
      </p:sp>
      <p:sp>
        <p:nvSpPr>
          <p:cNvPr id="4" name="Rectangle 3"/>
          <p:cNvSpPr txBox="1">
            <a:spLocks noChangeArrowheads="1"/>
          </p:cNvSpPr>
          <p:nvPr/>
        </p:nvSpPr>
        <p:spPr>
          <a:xfrm>
            <a:off x="534035" y="4108450"/>
            <a:ext cx="11305540" cy="20059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endParaRPr lang="zh-CN" altLang="en-US"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arn(inHorizont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arn(inHorizontal)">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2595" y="276860"/>
            <a:ext cx="8765540" cy="593090"/>
          </a:xfrm>
        </p:spPr>
        <p:txBody>
          <a:bodyPr/>
          <a:lstStyle/>
          <a:p>
            <a:r>
              <a:rPr lang="zh-CN" altLang="en-US" dirty="0"/>
              <a:t>第</a:t>
            </a:r>
            <a:r>
              <a:rPr lang="en-US" altLang="zh-CN" dirty="0"/>
              <a:t>7</a:t>
            </a:r>
            <a:r>
              <a:rPr lang="zh-CN" altLang="en-US" dirty="0"/>
              <a:t>章 运行时环境（存储空间）</a:t>
            </a:r>
            <a:endParaRPr lang="zh-CN" altLang="en-US" dirty="0"/>
          </a:p>
        </p:txBody>
      </p:sp>
      <p:pic>
        <p:nvPicPr>
          <p:cNvPr id="6"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79970" y="1156457"/>
            <a:ext cx="4381500"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46075" y="1156335"/>
            <a:ext cx="7609840" cy="5246370"/>
          </a:xfrm>
          <a:prstGeom prst="rect">
            <a:avLst/>
          </a:prstGeom>
          <a:noFill/>
        </p:spPr>
        <p:txBody>
          <a:bodyPr wrap="square" rtlCol="0" anchor="t">
            <a:spAutoFit/>
          </a:bodyPr>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sym typeface="+mn-ea"/>
              </a:rPr>
              <a:t>当源程序的目标代码被</a:t>
            </a:r>
            <a:r>
              <a:rPr lang="zh-CN" altLang="en-US" sz="2400" b="1" dirty="0">
                <a:solidFill>
                  <a:srgbClr val="020202"/>
                </a:solidFill>
                <a:latin typeface="+mn-ea"/>
                <a:sym typeface="+mn-ea"/>
              </a:rPr>
              <a:t>执行时，在内存中不仅有目标代码，而且还要保存各种信息。</a:t>
            </a:r>
            <a:endParaRPr lang="zh-CN" altLang="en-US" sz="2400" b="1" dirty="0">
              <a:solidFill>
                <a:srgbClr val="020202"/>
              </a:solidFill>
              <a:latin typeface="+mn-ea"/>
              <a:sym typeface="+mn-ea"/>
            </a:endParaRPr>
          </a:p>
          <a:p>
            <a:pPr marL="800100" lvl="1" indent="-342900">
              <a:lnSpc>
                <a:spcPct val="125000"/>
              </a:lnSpc>
              <a:spcBef>
                <a:spcPct val="0"/>
              </a:spcBef>
              <a:spcAft>
                <a:spcPct val="0"/>
              </a:spcAft>
              <a:buFont typeface="Wingdings" panose="05000000000000000000" charset="0"/>
              <a:buChar char="p"/>
            </a:pPr>
            <a:r>
              <a:rPr lang="zh-CN" altLang="en-US" sz="2200" b="1" dirty="0">
                <a:latin typeface="+mn-ea"/>
                <a:sym typeface="+mn-ea"/>
              </a:rPr>
              <a:t>程序代码和数据：可执行目标代码从同一固定地址开始，然后是</a:t>
            </a:r>
            <a:r>
              <a:rPr lang="en-US" altLang="zh-CN" sz="2200" b="1" dirty="0">
                <a:latin typeface="+mn-ea"/>
                <a:sym typeface="+mn-ea"/>
              </a:rPr>
              <a:t>C</a:t>
            </a:r>
            <a:r>
              <a:rPr lang="zh-CN" altLang="en-US" sz="2200" b="1" dirty="0">
                <a:latin typeface="+mn-ea"/>
                <a:sym typeface="+mn-ea"/>
              </a:rPr>
              <a:t>全局变量对应的数据位置，进程开始运行时被指定大小。</a:t>
            </a:r>
            <a:endParaRPr lang="zh-CN" altLang="en-US" sz="2200" b="1" dirty="0">
              <a:latin typeface="+mn-ea"/>
            </a:endParaRPr>
          </a:p>
          <a:p>
            <a:pPr marL="800100" lvl="1" indent="-342900">
              <a:lnSpc>
                <a:spcPct val="125000"/>
              </a:lnSpc>
              <a:spcBef>
                <a:spcPct val="0"/>
              </a:spcBef>
              <a:spcAft>
                <a:spcPct val="0"/>
              </a:spcAft>
              <a:buFont typeface="Wingdings" panose="05000000000000000000" charset="0"/>
              <a:buChar char="p"/>
            </a:pPr>
            <a:r>
              <a:rPr lang="zh-CN" altLang="en-US" sz="2200" b="1" dirty="0">
                <a:latin typeface="+mn-ea"/>
                <a:sym typeface="+mn-ea"/>
              </a:rPr>
              <a:t>堆：</a:t>
            </a:r>
            <a:r>
              <a:rPr lang="en-US" altLang="zh-CN" sz="2200" b="1" dirty="0">
                <a:latin typeface="+mn-ea"/>
                <a:sym typeface="+mn-ea"/>
              </a:rPr>
              <a:t>malloc</a:t>
            </a:r>
            <a:r>
              <a:rPr lang="zh-CN" altLang="en-US" sz="2200" b="1" dirty="0">
                <a:latin typeface="+mn-ea"/>
                <a:sym typeface="+mn-ea"/>
              </a:rPr>
              <a:t>和</a:t>
            </a:r>
            <a:r>
              <a:rPr lang="en-US" altLang="zh-CN" sz="2200" b="1" dirty="0">
                <a:latin typeface="+mn-ea"/>
                <a:sym typeface="+mn-ea"/>
              </a:rPr>
              <a:t>freeC</a:t>
            </a:r>
            <a:r>
              <a:rPr lang="zh-CN" altLang="en-US" sz="2200" b="1" dirty="0">
                <a:latin typeface="+mn-ea"/>
                <a:sym typeface="+mn-ea"/>
              </a:rPr>
              <a:t>标准库函数调用时，堆可以在运行时动态扩展和收缩。</a:t>
            </a:r>
            <a:endParaRPr lang="zh-CN" altLang="en-US" sz="2200" b="1" dirty="0">
              <a:latin typeface="+mn-ea"/>
            </a:endParaRPr>
          </a:p>
          <a:p>
            <a:pPr marL="800100" lvl="1" indent="-342900">
              <a:lnSpc>
                <a:spcPct val="125000"/>
              </a:lnSpc>
              <a:spcBef>
                <a:spcPct val="0"/>
              </a:spcBef>
              <a:spcAft>
                <a:spcPct val="0"/>
              </a:spcAft>
              <a:buFont typeface="Wingdings" panose="05000000000000000000" charset="0"/>
              <a:buChar char="p"/>
            </a:pPr>
            <a:r>
              <a:rPr lang="zh-CN" altLang="en-US" sz="2200" b="1" dirty="0">
                <a:latin typeface="+mn-ea"/>
                <a:sym typeface="+mn-ea"/>
              </a:rPr>
              <a:t>共享库：存放</a:t>
            </a:r>
            <a:r>
              <a:rPr lang="en-US" altLang="zh-CN" sz="2200" b="1" dirty="0">
                <a:latin typeface="+mn-ea"/>
                <a:sym typeface="+mn-ea"/>
              </a:rPr>
              <a:t>C</a:t>
            </a:r>
            <a:r>
              <a:rPr lang="zh-CN" altLang="en-US" sz="2200" b="1" dirty="0">
                <a:latin typeface="+mn-ea"/>
                <a:sym typeface="+mn-ea"/>
              </a:rPr>
              <a:t>标准库和数据库的共享库代码和数据区域。</a:t>
            </a:r>
            <a:endParaRPr lang="zh-CN" altLang="en-US" sz="2200" b="1" dirty="0">
              <a:latin typeface="+mn-ea"/>
            </a:endParaRPr>
          </a:p>
          <a:p>
            <a:pPr marL="800100" lvl="1" indent="-342900">
              <a:lnSpc>
                <a:spcPct val="125000"/>
              </a:lnSpc>
              <a:spcBef>
                <a:spcPct val="0"/>
              </a:spcBef>
              <a:spcAft>
                <a:spcPct val="0"/>
              </a:spcAft>
              <a:buFont typeface="Wingdings" panose="05000000000000000000" charset="0"/>
              <a:buChar char="p"/>
            </a:pPr>
            <a:r>
              <a:rPr lang="zh-CN" altLang="en-US" sz="2200" b="1" dirty="0">
                <a:latin typeface="+mn-ea"/>
                <a:sym typeface="+mn-ea"/>
              </a:rPr>
              <a:t>栈：位于用户虚拟地址空间顶部的是用户栈，保障函数调用。</a:t>
            </a:r>
            <a:endParaRPr lang="zh-CN" altLang="en-US" sz="2200" b="1" dirty="0">
              <a:latin typeface="+mn-ea"/>
            </a:endParaRPr>
          </a:p>
          <a:p>
            <a:pPr marL="800100" lvl="1" indent="-342900">
              <a:lnSpc>
                <a:spcPct val="125000"/>
              </a:lnSpc>
              <a:spcBef>
                <a:spcPct val="0"/>
              </a:spcBef>
              <a:spcAft>
                <a:spcPct val="0"/>
              </a:spcAft>
              <a:buFont typeface="Wingdings" panose="05000000000000000000" charset="0"/>
              <a:buChar char="p"/>
            </a:pPr>
            <a:r>
              <a:rPr lang="zh-CN" altLang="en-US" sz="2200" b="1" dirty="0">
                <a:latin typeface="+mn-ea"/>
                <a:sym typeface="+mn-ea"/>
              </a:rPr>
              <a:t>内核虚拟内存：为内核保留。</a:t>
            </a:r>
            <a:endParaRPr lang="zh-CN" altLang="en-US" sz="2400" b="1" dirty="0">
              <a:solidFill>
                <a:srgbClr val="020202"/>
              </a:solidFill>
              <a:latin typeface="+mn-ea"/>
              <a:sym typeface="+mn-ea"/>
            </a:endParaRPr>
          </a:p>
        </p:txBody>
      </p:sp>
      <p:pic>
        <p:nvPicPr>
          <p:cNvPr id="4"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2615" y="5009515"/>
            <a:ext cx="2397125" cy="1458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7</a:t>
            </a:r>
            <a:r>
              <a:rPr lang="zh-CN" altLang="en-US" dirty="0"/>
              <a:t>单元 运行时环境</a:t>
            </a:r>
            <a:endParaRPr lang="zh-CN" altLang="en-US" dirty="0"/>
          </a:p>
        </p:txBody>
      </p:sp>
      <p:sp>
        <p:nvSpPr>
          <p:cNvPr id="24" name="文本占位符 23"/>
          <p:cNvSpPr>
            <a:spLocks noGrp="1"/>
          </p:cNvSpPr>
          <p:nvPr>
            <p:ph type="body" sz="quarter" idx="14"/>
          </p:nvPr>
        </p:nvSpPr>
        <p:spPr>
          <a:xfrm>
            <a:off x="1134745" y="2106295"/>
            <a:ext cx="8255000" cy="2122805"/>
          </a:xfrm>
        </p:spPr>
        <p:txBody>
          <a:bodyPr>
            <a:normAutofit lnSpcReduction="20000"/>
          </a:bodyPr>
          <a:lstStyle/>
          <a:p>
            <a:r>
              <a:rPr lang="en-US" altLang="zh-CN" b="1" dirty="0">
                <a:solidFill>
                  <a:schemeClr val="accent1"/>
                </a:solidFill>
              </a:rPr>
              <a:t>7.1 </a:t>
            </a:r>
            <a:r>
              <a:rPr lang="zh-CN" altLang="en-US" b="1" dirty="0">
                <a:solidFill>
                  <a:schemeClr val="accent1"/>
                </a:solidFill>
              </a:rPr>
              <a:t>程序执行时的存储器组织</a:t>
            </a:r>
            <a:endParaRPr lang="en-US" altLang="zh-CN" b="1" dirty="0">
              <a:solidFill>
                <a:schemeClr val="accent1"/>
              </a:solidFill>
            </a:endParaRPr>
          </a:p>
          <a:p>
            <a:r>
              <a:rPr lang="en-US" altLang="zh-CN" b="1" dirty="0">
                <a:solidFill>
                  <a:schemeClr val="tx1"/>
                </a:solidFill>
              </a:rPr>
              <a:t>7.2 </a:t>
            </a:r>
            <a:r>
              <a:rPr lang="zh-CN" altLang="en-US" b="1" dirty="0">
                <a:solidFill>
                  <a:schemeClr val="tx1"/>
                </a:solidFill>
              </a:rPr>
              <a:t>基于栈的运行时环境</a:t>
            </a:r>
            <a:endParaRPr lang="zh-CN" altLang="en-US" b="1" dirty="0">
              <a:solidFill>
                <a:schemeClr val="tx1"/>
              </a:solidFill>
            </a:endParaRPr>
          </a:p>
          <a:p>
            <a:r>
              <a:rPr lang="en-US" altLang="zh-CN">
                <a:solidFill>
                  <a:schemeClr val="tx1"/>
                </a:solidFill>
                <a:sym typeface="+mn-ea"/>
              </a:rPr>
              <a:t>7.3 </a:t>
            </a:r>
            <a:r>
              <a:rPr>
                <a:solidFill>
                  <a:schemeClr val="tx1"/>
                </a:solidFill>
                <a:sym typeface="+mn-ea"/>
              </a:rPr>
              <a:t>动态存储器</a:t>
            </a:r>
            <a:endParaRPr lang="zh-CN" altLang="en-US" b="1"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6245" y="276860"/>
            <a:ext cx="8234680" cy="593090"/>
          </a:xfrm>
        </p:spPr>
        <p:txBody>
          <a:bodyPr/>
          <a:lstStyle/>
          <a:p>
            <a:r>
              <a:rPr lang="en-US" altLang="zh-CN" dirty="0"/>
              <a:t>7.1</a:t>
            </a:r>
            <a:r>
              <a:rPr lang="zh-CN" altLang="en-US" dirty="0"/>
              <a:t>程序执行时的存储器组织</a:t>
            </a:r>
            <a:endParaRPr lang="zh-CN" altLang="en-US"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26475" y="2236470"/>
            <a:ext cx="37973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403225" y="1138555"/>
            <a:ext cx="11475720" cy="953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25000"/>
              </a:lnSpc>
              <a:spcBef>
                <a:spcPts val="0"/>
              </a:spcBef>
              <a:spcAft>
                <a:spcPts val="0"/>
              </a:spcAft>
              <a:buClr>
                <a:schemeClr val="accent2"/>
              </a:buClr>
              <a:buFont typeface="Wingdings" panose="05000000000000000000" pitchFamily="2" charset="2"/>
              <a:buNone/>
            </a:pPr>
            <a:r>
              <a:rPr lang="zh-CN" altLang="en-US" sz="2400" b="1" dirty="0">
                <a:solidFill>
                  <a:srgbClr val="03010F"/>
                </a:solidFill>
                <a:latin typeface="宋体" panose="02010600030101010101" pitchFamily="2" charset="-122"/>
              </a:rPr>
              <a:t>由于栈区和堆区的长度会随着目标代码的运行而变化，因此把它们分配在数据区的两端。一般情况下，栈向下长，堆向上长，可以使栈和堆共用一空白存储空间。</a:t>
            </a:r>
            <a:endParaRPr lang="zh-CN" altLang="en-US" sz="2400" b="1" dirty="0">
              <a:solidFill>
                <a:srgbClr val="03010F"/>
              </a:solidFill>
              <a:latin typeface="宋体" panose="02010600030101010101" pitchFamily="2" charset="-122"/>
            </a:endParaRPr>
          </a:p>
          <a:p>
            <a:pPr>
              <a:lnSpc>
                <a:spcPct val="120000"/>
              </a:lnSpc>
              <a:spcBef>
                <a:spcPct val="20000"/>
              </a:spcBef>
              <a:buClr>
                <a:schemeClr val="accent2"/>
              </a:buClr>
              <a:buFont typeface="Wingdings" panose="05000000000000000000" pitchFamily="2" charset="2"/>
              <a:buNone/>
            </a:pPr>
            <a:endParaRPr lang="zh-CN" altLang="en-US" sz="2400" b="1" dirty="0">
              <a:solidFill>
                <a:srgbClr val="03010F"/>
              </a:solidFill>
              <a:latin typeface="宋体" panose="02010600030101010101" pitchFamily="2" charset="-122"/>
            </a:endParaRPr>
          </a:p>
        </p:txBody>
      </p:sp>
      <p:sp>
        <p:nvSpPr>
          <p:cNvPr id="2" name="文本框 1"/>
          <p:cNvSpPr txBox="1"/>
          <p:nvPr/>
        </p:nvSpPr>
        <p:spPr>
          <a:xfrm>
            <a:off x="365125" y="2092325"/>
            <a:ext cx="7661275" cy="4246245"/>
          </a:xfrm>
          <a:prstGeom prst="rect">
            <a:avLst/>
          </a:prstGeom>
          <a:noFill/>
        </p:spPr>
        <p:txBody>
          <a:bodyPr wrap="square" rtlCol="0" anchor="t">
            <a:spAutoFit/>
          </a:bodyPr>
          <a:p>
            <a:pPr marL="457200" indent="-457200">
              <a:lnSpc>
                <a:spcPct val="125000"/>
              </a:lnSpc>
              <a:spcBef>
                <a:spcPts val="0"/>
              </a:spcBef>
              <a:spcAft>
                <a:spcPts val="0"/>
              </a:spcAft>
              <a:buFont typeface="+mj-ea"/>
              <a:buAutoNum type="circleNumDbPlain"/>
            </a:pPr>
            <a:r>
              <a:rPr lang="zh-CN" altLang="en-US" sz="2400" b="1" dirty="0">
                <a:solidFill>
                  <a:srgbClr val="03010F"/>
                </a:solidFill>
                <a:latin typeface="+mn-ea"/>
                <a:sym typeface="+mn-ea"/>
              </a:rPr>
              <a:t>代码区域：目标代码的存储区域，在编译时所有目标代码的地址都是可计算的，程序执行结束后代码区域内存由系统释放。 </a:t>
            </a:r>
            <a:endParaRPr lang="zh-CN" altLang="en-US" sz="2400" b="1" dirty="0">
              <a:solidFill>
                <a:srgbClr val="03010F"/>
              </a:solidFill>
              <a:latin typeface="+mn-ea"/>
            </a:endParaRPr>
          </a:p>
          <a:p>
            <a:pPr marL="457200" indent="-457200">
              <a:lnSpc>
                <a:spcPct val="125000"/>
              </a:lnSpc>
              <a:spcBef>
                <a:spcPts val="0"/>
              </a:spcBef>
              <a:spcAft>
                <a:spcPts val="0"/>
              </a:spcAft>
              <a:buFont typeface="+mj-ea"/>
              <a:buAutoNum type="circleNumDbPlain"/>
            </a:pPr>
            <a:r>
              <a:rPr lang="zh-CN" altLang="en-US" sz="2400" b="1" dirty="0">
                <a:solidFill>
                  <a:srgbClr val="03010F"/>
                </a:solidFill>
                <a:latin typeface="+mn-ea"/>
                <a:sym typeface="+mn-ea"/>
              </a:rPr>
              <a:t>全程/静态区域：静态数据区用来存放那些具有绝对地址的数据和变量(如静态变量和全程变量</a:t>
            </a:r>
            <a:r>
              <a:rPr lang="en-US" altLang="zh-CN" sz="2400" b="1" dirty="0">
                <a:solidFill>
                  <a:srgbClr val="03010F"/>
                </a:solidFill>
                <a:latin typeface="+mn-ea"/>
                <a:sym typeface="+mn-ea"/>
              </a:rPr>
              <a:t>)；</a:t>
            </a:r>
            <a:r>
              <a:rPr lang="zh-CN" altLang="en-US" sz="2400" b="1" dirty="0">
                <a:solidFill>
                  <a:srgbClr val="03010F"/>
                </a:solidFill>
                <a:latin typeface="+mn-ea"/>
                <a:sym typeface="+mn-ea"/>
              </a:rPr>
              <a:t>编译器可以确定其所占用存储空间的大小，初始化的全局变量和静态变量在一块区域，未初始化的全局变量和未初始化的静态变量在相邻的另一块区域，程序执行结束后由系统释放。</a:t>
            </a:r>
            <a:endParaRPr lang="zh-CN" altLang="en-US" sz="2400" b="1" dirty="0">
              <a:solidFill>
                <a:srgbClr val="03010F"/>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6880" y="276860"/>
            <a:ext cx="7882255" cy="593090"/>
          </a:xfrm>
        </p:spPr>
        <p:txBody>
          <a:bodyPr/>
          <a:lstStyle/>
          <a:p>
            <a:r>
              <a:rPr lang="en-US" altLang="zh-CN" dirty="0"/>
              <a:t>7.1</a:t>
            </a:r>
            <a:r>
              <a:rPr lang="zh-CN" altLang="en-US" dirty="0"/>
              <a:t>程序执行时的存储器组织</a:t>
            </a:r>
            <a:endParaRPr lang="zh-CN" altLang="en-US" dirty="0"/>
          </a:p>
        </p:txBody>
      </p:sp>
      <p:sp>
        <p:nvSpPr>
          <p:cNvPr id="4" name="内容占位符 2"/>
          <p:cNvSpPr txBox="1">
            <a:spLocks noChangeArrowheads="1"/>
          </p:cNvSpPr>
          <p:nvPr/>
        </p:nvSpPr>
        <p:spPr>
          <a:xfrm>
            <a:off x="436245" y="1268730"/>
            <a:ext cx="11259820" cy="38696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5000"/>
              </a:lnSpc>
              <a:spcBef>
                <a:spcPct val="0"/>
              </a:spcBef>
              <a:spcAft>
                <a:spcPts val="0"/>
              </a:spcAft>
              <a:buFont typeface="+mj-ea"/>
              <a:buAutoNum type="circleNumDbPlain" startAt="3"/>
            </a:pPr>
            <a:r>
              <a:rPr lang="zh-CN" altLang="en-US" sz="2400" b="1" dirty="0">
                <a:solidFill>
                  <a:srgbClr val="03010F"/>
                </a:solidFill>
                <a:latin typeface="宋体" panose="02010600030101010101" pitchFamily="2" charset="-122"/>
              </a:rPr>
              <a:t>栈区：</a:t>
            </a:r>
            <a:r>
              <a:rPr lang="zh-CN" altLang="en-US" sz="2400" dirty="0"/>
              <a:t>函数中的形参和在函数中定义的局部变量以及局部临时变量（</a:t>
            </a:r>
            <a:r>
              <a:rPr lang="en-US" altLang="zh-CN" sz="2400" dirty="0"/>
              <a:t>C</a:t>
            </a:r>
            <a:r>
              <a:rPr lang="zh-CN" altLang="en-US" sz="2400" dirty="0"/>
              <a:t>、</a:t>
            </a:r>
            <a:r>
              <a:rPr lang="en-US" altLang="zh-CN" sz="2400" dirty="0"/>
              <a:t>C++</a:t>
            </a:r>
            <a:r>
              <a:rPr lang="zh-CN" altLang="en-US" sz="2400" dirty="0"/>
              <a:t>、</a:t>
            </a:r>
            <a:r>
              <a:rPr lang="en-US" altLang="zh-CN" sz="2400" dirty="0"/>
              <a:t>Java</a:t>
            </a:r>
            <a:r>
              <a:rPr lang="zh-CN" altLang="en-US" sz="2400" dirty="0"/>
              <a:t>），这些变量</a:t>
            </a:r>
            <a:r>
              <a:rPr lang="zh-CN" altLang="en-US" sz="2400" b="1" dirty="0">
                <a:solidFill>
                  <a:srgbClr val="03010F"/>
                </a:solidFill>
                <a:latin typeface="宋体" panose="02010600030101010101" pitchFamily="2" charset="-122"/>
              </a:rPr>
              <a:t>分配在栈区，</a:t>
            </a:r>
            <a:r>
              <a:rPr lang="zh-CN" altLang="en-US" sz="2400" dirty="0"/>
              <a:t>每次函数执行的时候会在栈中为函数的执行分配相应的存储区，而在函数执行完毕后，释放相应的存储区。</a:t>
            </a:r>
            <a:endParaRPr lang="en-US" altLang="zh-CN" sz="2400" dirty="0"/>
          </a:p>
          <a:p>
            <a:pPr lvl="1">
              <a:lnSpc>
                <a:spcPct val="125000"/>
              </a:lnSpc>
              <a:spcBef>
                <a:spcPct val="0"/>
              </a:spcBef>
              <a:spcAft>
                <a:spcPts val="0"/>
              </a:spcAft>
              <a:buFont typeface="Wingdings" panose="05000000000000000000" charset="0"/>
              <a:buChar char="p"/>
            </a:pPr>
            <a:r>
              <a:rPr lang="zh-CN" altLang="en-US" sz="2400" dirty="0">
                <a:solidFill>
                  <a:srgbClr val="03010F"/>
                </a:solidFill>
                <a:latin typeface="宋体" panose="02010600030101010101" pitchFamily="2" charset="-122"/>
              </a:rPr>
              <a:t>编译器“知道”存在栈中的具体数据所占内存大小和内存分配和释放的“时刻”；</a:t>
            </a:r>
            <a:endParaRPr lang="zh-CN" altLang="en-US" sz="2400" b="1" dirty="0">
              <a:solidFill>
                <a:srgbClr val="03010F"/>
              </a:solidFill>
              <a:latin typeface="宋体" panose="02010600030101010101" pitchFamily="2" charset="-122"/>
            </a:endParaRPr>
          </a:p>
          <a:p>
            <a:pPr marL="457200" indent="-457200">
              <a:lnSpc>
                <a:spcPct val="125000"/>
              </a:lnSpc>
              <a:spcBef>
                <a:spcPct val="0"/>
              </a:spcBef>
              <a:spcAft>
                <a:spcPts val="0"/>
              </a:spcAft>
              <a:buFont typeface="+mj-ea"/>
              <a:buAutoNum type="circleNumDbPlain" startAt="3"/>
            </a:pPr>
            <a:r>
              <a:rPr lang="zh-CN" altLang="en-US" sz="2400" b="1" dirty="0">
                <a:solidFill>
                  <a:srgbClr val="03010F"/>
                </a:solidFill>
                <a:latin typeface="+mn-ea"/>
                <a:sym typeface="+mn-ea"/>
              </a:rPr>
              <a:t>堆区：供用户动态申请存储空间，编译器“不需要”知道究竟得从</a:t>
            </a:r>
            <a:r>
              <a:rPr lang="en-US" altLang="zh-CN" sz="2400" b="1" dirty="0">
                <a:solidFill>
                  <a:srgbClr val="03010F"/>
                </a:solidFill>
                <a:latin typeface="+mn-ea"/>
                <a:sym typeface="+mn-ea"/>
              </a:rPr>
              <a:t>heap</a:t>
            </a:r>
            <a:r>
              <a:rPr lang="zh-CN" altLang="en-US" sz="2400" b="1" dirty="0">
                <a:solidFill>
                  <a:srgbClr val="03010F"/>
                </a:solidFill>
                <a:latin typeface="+mn-ea"/>
                <a:sym typeface="+mn-ea"/>
              </a:rPr>
              <a:t>中分配多少空间，也不需要知道从</a:t>
            </a:r>
            <a:r>
              <a:rPr lang="en-US" altLang="zh-CN" sz="2400" b="1" dirty="0">
                <a:solidFill>
                  <a:srgbClr val="03010F"/>
                </a:solidFill>
                <a:latin typeface="+mn-ea"/>
                <a:sym typeface="+mn-ea"/>
              </a:rPr>
              <a:t>heap</a:t>
            </a:r>
            <a:r>
              <a:rPr lang="zh-CN" altLang="en-US" sz="2400" b="1" dirty="0">
                <a:solidFill>
                  <a:srgbClr val="03010F"/>
                </a:solidFill>
                <a:latin typeface="+mn-ea"/>
                <a:sym typeface="+mn-ea"/>
              </a:rPr>
              <a:t>上分配的空间究竟需要存在多久。</a:t>
            </a:r>
            <a:endParaRPr lang="en-US" altLang="zh-CN" sz="2400" b="1" dirty="0">
              <a:solidFill>
                <a:srgbClr val="03010F"/>
              </a:solidFill>
              <a:latin typeface="+mn-ea"/>
            </a:endParaRPr>
          </a:p>
          <a:p>
            <a:pPr lvl="1">
              <a:lnSpc>
                <a:spcPct val="125000"/>
              </a:lnSpc>
              <a:spcBef>
                <a:spcPct val="0"/>
              </a:spcBef>
              <a:spcAft>
                <a:spcPts val="0"/>
              </a:spcAft>
              <a:buFont typeface="Wingdings" panose="05000000000000000000" charset="0"/>
              <a:buChar char="p"/>
            </a:pPr>
            <a:r>
              <a:rPr lang="zh-CN" altLang="en-US" sz="2400" dirty="0">
                <a:latin typeface="+mn-ea"/>
                <a:sym typeface="+mn-ea"/>
              </a:rPr>
              <a:t>在</a:t>
            </a:r>
            <a:r>
              <a:rPr lang="en-US" altLang="zh-CN" sz="2400" dirty="0">
                <a:latin typeface="+mn-ea"/>
                <a:sym typeface="+mn-ea"/>
              </a:rPr>
              <a:t>c</a:t>
            </a:r>
            <a:r>
              <a:rPr lang="zh-CN" altLang="en-US" sz="2400" dirty="0">
                <a:latin typeface="+mn-ea"/>
                <a:sym typeface="+mn-ea"/>
              </a:rPr>
              <a:t>中由</a:t>
            </a:r>
            <a:r>
              <a:rPr lang="en-US" altLang="zh-CN" sz="2400" dirty="0">
                <a:latin typeface="+mn-ea"/>
                <a:sym typeface="+mn-ea"/>
              </a:rPr>
              <a:t>malloc</a:t>
            </a:r>
            <a:r>
              <a:rPr lang="zh-CN" altLang="en-US" sz="2400" dirty="0">
                <a:latin typeface="+mn-ea"/>
                <a:sym typeface="+mn-ea"/>
              </a:rPr>
              <a:t>，</a:t>
            </a:r>
            <a:r>
              <a:rPr lang="en-US" altLang="zh-CN" sz="2400" dirty="0">
                <a:latin typeface="+mn-ea"/>
                <a:sym typeface="+mn-ea"/>
              </a:rPr>
              <a:t>free</a:t>
            </a:r>
            <a:r>
              <a:rPr lang="zh-CN" altLang="en-US" sz="2400" dirty="0">
                <a:latin typeface="+mn-ea"/>
                <a:sym typeface="+mn-ea"/>
              </a:rPr>
              <a:t>运算产生释放的存储空间，在</a:t>
            </a:r>
            <a:r>
              <a:rPr lang="en-US" altLang="zh-CN" sz="2400" dirty="0" err="1">
                <a:latin typeface="+mn-ea"/>
                <a:sym typeface="+mn-ea"/>
              </a:rPr>
              <a:t>c++</a:t>
            </a:r>
            <a:r>
              <a:rPr lang="zh-CN" altLang="en-US" sz="2400" dirty="0">
                <a:latin typeface="+mn-ea"/>
                <a:sym typeface="+mn-ea"/>
              </a:rPr>
              <a:t>中 由</a:t>
            </a:r>
            <a:r>
              <a:rPr lang="en-US" altLang="zh-CN" sz="2400" dirty="0">
                <a:latin typeface="+mn-ea"/>
                <a:sym typeface="+mn-ea"/>
              </a:rPr>
              <a:t>new</a:t>
            </a:r>
            <a:r>
              <a:rPr lang="zh-CN" altLang="en-US" sz="2400" dirty="0">
                <a:latin typeface="+mn-ea"/>
                <a:sym typeface="+mn-ea"/>
              </a:rPr>
              <a:t>和</a:t>
            </a:r>
            <a:r>
              <a:rPr lang="en-US" altLang="zh-CN" sz="2400" dirty="0">
                <a:latin typeface="+mn-ea"/>
                <a:sym typeface="+mn-ea"/>
              </a:rPr>
              <a:t>delete</a:t>
            </a:r>
            <a:r>
              <a:rPr lang="zh-CN" altLang="en-US" sz="2400" dirty="0">
                <a:latin typeface="+mn-ea"/>
                <a:sym typeface="+mn-ea"/>
              </a:rPr>
              <a:t>运算符作用的存储空间，以及在</a:t>
            </a:r>
            <a:r>
              <a:rPr lang="en-US" altLang="zh-CN" sz="2400" dirty="0">
                <a:latin typeface="+mn-ea"/>
                <a:sym typeface="+mn-ea"/>
              </a:rPr>
              <a:t>Java</a:t>
            </a:r>
            <a:r>
              <a:rPr lang="zh-CN" altLang="en-US" sz="2400" dirty="0">
                <a:latin typeface="+mn-ea"/>
                <a:sym typeface="+mn-ea"/>
              </a:rPr>
              <a:t>中由</a:t>
            </a:r>
            <a:r>
              <a:rPr lang="en-US" altLang="zh-CN" sz="2400" dirty="0">
                <a:latin typeface="+mn-ea"/>
                <a:sym typeface="+mn-ea"/>
              </a:rPr>
              <a:t>new</a:t>
            </a:r>
            <a:r>
              <a:rPr lang="zh-CN" altLang="en-US" sz="2400" dirty="0">
                <a:latin typeface="+mn-ea"/>
                <a:sym typeface="+mn-ea"/>
              </a:rPr>
              <a:t>分配的存储空间都在堆中进行分配。</a:t>
            </a:r>
            <a:endParaRPr lang="zh-CN" altLang="en-US" sz="2400" b="1" dirty="0">
              <a:solidFill>
                <a:srgbClr val="03010F"/>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Horizont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6"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Horizontal)">
                                      <p:cBhvr>
                                        <p:cTn id="15" dur="500"/>
                                        <p:tgtEl>
                                          <p:spTgt spid="4">
                                            <p:txEl>
                                              <p:pRg st="2" end="2"/>
                                            </p:txEl>
                                          </p:spTgt>
                                        </p:tgtEl>
                                      </p:cBhvr>
                                    </p:animEffect>
                                  </p:childTnLst>
                                </p:cTn>
                              </p:par>
                              <p:par>
                                <p:cTn id="16" presetID="16" presetClass="entr" presetSubtype="26"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Horizontal)">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71805" y="276860"/>
            <a:ext cx="7847330" cy="593090"/>
          </a:xfrm>
        </p:spPr>
        <p:txBody>
          <a:bodyPr/>
          <a:lstStyle/>
          <a:p>
            <a:r>
              <a:rPr lang="en-US" altLang="zh-CN" dirty="0"/>
              <a:t>7.1</a:t>
            </a:r>
            <a:r>
              <a:rPr lang="zh-CN" altLang="en-US" dirty="0"/>
              <a:t>程序执行时的存储器组织</a:t>
            </a:r>
            <a:endParaRPr lang="zh-CN" altLang="en-US" dirty="0"/>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4081" y="1327384"/>
            <a:ext cx="4821144" cy="217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195" y="3985895"/>
            <a:ext cx="5379085" cy="1786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8" name="Picture 3"/>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5998845" y="3948430"/>
            <a:ext cx="5704205" cy="182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 name="Picture 2"/>
          <p:cNvPicPr>
            <a:picLocks noChangeAspect="1" noChangeArrowheads="1"/>
          </p:cNvPicPr>
          <p:nvPr>
            <p:custDataLst>
              <p:tags r:id="rId5"/>
            </p:custDataLst>
          </p:nvPr>
        </p:nvPicPr>
        <p:blipFill>
          <a:blip r:embed="rId2">
            <a:extLst>
              <a:ext uri="{28A0092B-C50C-407E-A947-70E740481C1C}">
                <a14:useLocalDpi xmlns:a14="http://schemas.microsoft.com/office/drawing/2010/main" val="0"/>
              </a:ext>
            </a:extLst>
          </a:blip>
          <a:srcRect/>
          <a:stretch>
            <a:fillRect/>
          </a:stretch>
        </p:blipFill>
        <p:spPr bwMode="auto">
          <a:xfrm>
            <a:off x="6052185" y="1263015"/>
            <a:ext cx="5630545" cy="1909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64820" y="276860"/>
            <a:ext cx="7854315" cy="593090"/>
          </a:xfrm>
        </p:spPr>
        <p:txBody>
          <a:bodyPr/>
          <a:lstStyle/>
          <a:p>
            <a:r>
              <a:rPr lang="en-US" altLang="zh-CN" dirty="0"/>
              <a:t>7.1</a:t>
            </a:r>
            <a:r>
              <a:rPr lang="zh-CN" altLang="en-US" dirty="0"/>
              <a:t>程序执行时的存储器组织</a:t>
            </a:r>
            <a:endParaRPr lang="zh-CN" altLang="en-US" dirty="0"/>
          </a:p>
        </p:txBody>
      </p:sp>
      <p:sp>
        <p:nvSpPr>
          <p:cNvPr id="10" name="Rectangle 7"/>
          <p:cNvSpPr txBox="1">
            <a:spLocks noChangeArrowheads="1"/>
          </p:cNvSpPr>
          <p:nvPr/>
        </p:nvSpPr>
        <p:spPr>
          <a:xfrm>
            <a:off x="464820" y="1295400"/>
            <a:ext cx="11456035" cy="14757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defRPr/>
            </a:pPr>
            <a:r>
              <a:rPr kumimoji="1" lang="zh-CN" altLang="en-US" sz="2400" b="1" dirty="0">
                <a:solidFill>
                  <a:srgbClr val="020202"/>
                </a:solidFill>
                <a:latin typeface="+mn-ea"/>
              </a:rPr>
              <a:t>在</a:t>
            </a:r>
            <a:r>
              <a:rPr kumimoji="1" lang="en-US" altLang="zh-CN" sz="2400" b="1" dirty="0">
                <a:solidFill>
                  <a:srgbClr val="020202"/>
                </a:solidFill>
                <a:latin typeface="+mn-ea"/>
              </a:rPr>
              <a:t>C</a:t>
            </a:r>
            <a:r>
              <a:rPr kumimoji="1" lang="zh-CN" altLang="en-US" sz="2400" b="1" dirty="0">
                <a:solidFill>
                  <a:srgbClr val="020202"/>
                </a:solidFill>
                <a:latin typeface="+mn-ea"/>
              </a:rPr>
              <a:t>语言中, 采用以函数（或过程）为单位的动态存储分配方案：</a:t>
            </a:r>
            <a:endParaRPr kumimoji="1" lang="zh-CN" altLang="en-US" sz="2400" b="1" dirty="0">
              <a:solidFill>
                <a:srgbClr val="020202"/>
              </a:solidFill>
              <a:latin typeface="+mn-ea"/>
            </a:endParaRPr>
          </a:p>
          <a:p>
            <a:pPr lvl="1" indent="-436880">
              <a:lnSpc>
                <a:spcPct val="125000"/>
              </a:lnSpc>
              <a:spcBef>
                <a:spcPct val="0"/>
              </a:spcBef>
              <a:spcAft>
                <a:spcPts val="0"/>
              </a:spcAft>
              <a:buFont typeface="Wingdings" panose="05000000000000000000" charset="0"/>
              <a:buChar char="p"/>
              <a:defRPr/>
            </a:pPr>
            <a:r>
              <a:rPr kumimoji="1" lang="zh-CN" altLang="en-US" b="1" dirty="0">
                <a:solidFill>
                  <a:srgbClr val="020202"/>
                </a:solidFill>
                <a:latin typeface="+mn-ea"/>
                <a:cs typeface="+mn-ea"/>
              </a:rPr>
              <a:t>当一函数被调用时，就在栈顶为该函数分配所需的数据空间(</a:t>
            </a:r>
            <a:r>
              <a:rPr kumimoji="1" lang="zh-CN" altLang="en-US" b="1" dirty="0">
                <a:solidFill>
                  <a:srgbClr val="FF0000"/>
                </a:solidFill>
                <a:latin typeface="+mn-ea"/>
                <a:cs typeface="+mn-ea"/>
              </a:rPr>
              <a:t>活动记录</a:t>
            </a:r>
            <a:r>
              <a:rPr kumimoji="1" lang="zh-CN" altLang="en-US" b="1" dirty="0">
                <a:solidFill>
                  <a:srgbClr val="020202"/>
                </a:solidFill>
                <a:latin typeface="+mn-ea"/>
                <a:cs typeface="+mn-ea"/>
              </a:rPr>
              <a:t>)，当一个函数工作完毕返回时，它在栈顶的数据空间(</a:t>
            </a:r>
            <a:r>
              <a:rPr kumimoji="1" lang="zh-CN" altLang="en-US" b="1" dirty="0">
                <a:solidFill>
                  <a:srgbClr val="FF0000"/>
                </a:solidFill>
                <a:latin typeface="+mn-ea"/>
                <a:cs typeface="+mn-ea"/>
              </a:rPr>
              <a:t>活动记录</a:t>
            </a:r>
            <a:r>
              <a:rPr kumimoji="1" lang="zh-CN" altLang="en-US" b="1" dirty="0">
                <a:solidFill>
                  <a:srgbClr val="020202"/>
                </a:solidFill>
                <a:latin typeface="+mn-ea"/>
                <a:cs typeface="+mn-ea"/>
              </a:rPr>
              <a:t>)也即释放。</a:t>
            </a:r>
            <a:endParaRPr kumimoji="1" lang="zh-CN" altLang="en-US" sz="2400" b="1" dirty="0">
              <a:solidFill>
                <a:srgbClr val="020202"/>
              </a:solidFill>
              <a:latin typeface="+mn-ea"/>
            </a:endParaRPr>
          </a:p>
        </p:txBody>
      </p:sp>
      <p:pic>
        <p:nvPicPr>
          <p:cNvPr id="5"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736600" y="2997655"/>
            <a:ext cx="4150099" cy="337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a:spLocks noChangeArrowheads="1"/>
          </p:cNvSpPr>
          <p:nvPr>
            <p:custDataLst>
              <p:tags r:id="rId3"/>
            </p:custDataLst>
          </p:nvPr>
        </p:nvSpPr>
        <p:spPr bwMode="auto">
          <a:xfrm>
            <a:off x="5001895" y="3031490"/>
            <a:ext cx="57823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202"/>
                </a:solidFill>
                <a:latin typeface="+mn-ea"/>
              </a:rPr>
              <a:t>存放主调函数为被调函数提供的实参信息;</a:t>
            </a:r>
            <a:endParaRPr lang="zh-CN" altLang="en-US" sz="2400" b="1" dirty="0">
              <a:solidFill>
                <a:srgbClr val="020202"/>
              </a:solidFill>
              <a:latin typeface="+mn-ea"/>
            </a:endParaRPr>
          </a:p>
        </p:txBody>
      </p:sp>
      <p:sp>
        <p:nvSpPr>
          <p:cNvPr id="7" name="Rectangle 4"/>
          <p:cNvSpPr>
            <a:spLocks noChangeArrowheads="1"/>
          </p:cNvSpPr>
          <p:nvPr>
            <p:custDataLst>
              <p:tags r:id="rId4"/>
            </p:custDataLst>
          </p:nvPr>
        </p:nvSpPr>
        <p:spPr bwMode="auto">
          <a:xfrm>
            <a:off x="5050155" y="5643245"/>
            <a:ext cx="5791200"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90000"/>
              </a:lnSpc>
              <a:spcBef>
                <a:spcPct val="20000"/>
              </a:spcBef>
              <a:buClr>
                <a:schemeClr val="accent2"/>
              </a:buClr>
              <a:buFont typeface="Wingdings" panose="05000000000000000000" pitchFamily="2" charset="2"/>
              <a:buNone/>
            </a:pPr>
            <a:r>
              <a:rPr lang="zh-CN" altLang="en-US" sz="2400" b="1" dirty="0">
                <a:solidFill>
                  <a:srgbClr val="020202"/>
                </a:solidFill>
                <a:latin typeface="+mn-ea"/>
                <a:ea typeface="+mn-ea"/>
              </a:rPr>
              <a:t>存放目标程序临时变量的值;</a:t>
            </a:r>
            <a:endParaRPr lang="zh-CN" altLang="en-US" sz="2400" b="1" dirty="0">
              <a:solidFill>
                <a:srgbClr val="020202"/>
              </a:solidFill>
              <a:latin typeface="+mn-ea"/>
              <a:ea typeface="+mn-ea"/>
            </a:endParaRPr>
          </a:p>
        </p:txBody>
      </p:sp>
      <p:sp>
        <p:nvSpPr>
          <p:cNvPr id="8" name="Rectangle 5"/>
          <p:cNvSpPr>
            <a:spLocks noChangeArrowheads="1"/>
          </p:cNvSpPr>
          <p:nvPr>
            <p:custDataLst>
              <p:tags r:id="rId5"/>
            </p:custDataLst>
          </p:nvPr>
        </p:nvSpPr>
        <p:spPr bwMode="auto">
          <a:xfrm>
            <a:off x="5001895" y="4861944"/>
            <a:ext cx="387275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202"/>
                </a:solidFill>
                <a:latin typeface="Times New Roman" panose="02020603050405020304" pitchFamily="18" charset="0"/>
              </a:rPr>
              <a:t>存放本次执行中的局部数据</a:t>
            </a:r>
            <a:endParaRPr lang="zh-CN" altLang="en-US" sz="2400" b="1" dirty="0">
              <a:solidFill>
                <a:srgbClr val="020202"/>
              </a:solidFill>
              <a:latin typeface="Times New Roman" panose="02020603050405020304" pitchFamily="18" charset="0"/>
            </a:endParaRPr>
          </a:p>
        </p:txBody>
      </p:sp>
      <p:sp>
        <p:nvSpPr>
          <p:cNvPr id="9" name="Rectangle 6"/>
          <p:cNvSpPr>
            <a:spLocks noChangeArrowheads="1"/>
          </p:cNvSpPr>
          <p:nvPr>
            <p:custDataLst>
              <p:tags r:id="rId6"/>
            </p:custDataLst>
          </p:nvPr>
        </p:nvSpPr>
        <p:spPr bwMode="auto">
          <a:xfrm>
            <a:off x="4934585" y="3752215"/>
            <a:ext cx="66332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90170" indent="5715" algn="l" eaLnBrk="1" hangingPunct="1">
              <a:lnSpc>
                <a:spcPct val="125000"/>
              </a:lnSpc>
              <a:spcBef>
                <a:spcPts val="0"/>
              </a:spcBef>
              <a:spcAft>
                <a:spcPts val="0"/>
              </a:spcAft>
              <a:buClr>
                <a:schemeClr val="accent2"/>
              </a:buClr>
              <a:buFont typeface="Wingdings" panose="05000000000000000000" pitchFamily="2" charset="2"/>
              <a:buNone/>
            </a:pPr>
            <a:r>
              <a:rPr lang="zh-CN" altLang="en-US" sz="2400" b="1" dirty="0">
                <a:solidFill>
                  <a:srgbClr val="020202"/>
                </a:solidFill>
                <a:latin typeface="+mn-ea"/>
                <a:ea typeface="+mn-ea"/>
              </a:rPr>
              <a:t>用于指向主调函数的</a:t>
            </a:r>
            <a:r>
              <a:rPr lang="zh-CN" altLang="en-US" sz="2400" b="1" dirty="0">
                <a:solidFill>
                  <a:schemeClr val="accent1"/>
                </a:solidFill>
                <a:latin typeface="+mn-ea"/>
                <a:ea typeface="+mn-ea"/>
              </a:rPr>
              <a:t>活动记录的控制链</a:t>
            </a:r>
            <a:r>
              <a:rPr lang="en-US" altLang="zh-CN" sz="2400" b="1" dirty="0">
                <a:solidFill>
                  <a:schemeClr val="accent1"/>
                </a:solidFill>
                <a:latin typeface="+mn-ea"/>
                <a:ea typeface="+mn-ea"/>
              </a:rPr>
              <a:t>(</a:t>
            </a:r>
            <a:r>
              <a:rPr lang="zh-CN" altLang="en-US" sz="2400" dirty="0">
                <a:latin typeface="+mn-ea"/>
                <a:sym typeface="+mn-ea"/>
              </a:rPr>
              <a:t>控指向调用函数活动记录的一个地址</a:t>
            </a:r>
            <a:r>
              <a:rPr lang="en-US" altLang="zh-CN" sz="2400" b="1" dirty="0">
                <a:solidFill>
                  <a:schemeClr val="accent1"/>
                </a:solidFill>
                <a:latin typeface="+mn-ea"/>
                <a:ea typeface="+mn-ea"/>
              </a:rPr>
              <a:t>)</a:t>
            </a:r>
            <a:r>
              <a:rPr lang="zh-CN" altLang="en-US" sz="2400" b="1" dirty="0">
                <a:solidFill>
                  <a:schemeClr val="accent1"/>
                </a:solidFill>
                <a:latin typeface="+mn-ea"/>
                <a:ea typeface="+mn-ea"/>
              </a:rPr>
              <a:t>和返回地址</a:t>
            </a:r>
            <a:r>
              <a:rPr lang="en-US" altLang="zh-CN" sz="2400" b="1" dirty="0">
                <a:solidFill>
                  <a:srgbClr val="020202"/>
                </a:solidFill>
                <a:latin typeface="+mn-ea"/>
                <a:ea typeface="+mn-ea"/>
              </a:rPr>
              <a:t>;</a:t>
            </a:r>
            <a:endParaRPr lang="zh-CN" altLang="en-US" sz="2400" b="1" dirty="0">
              <a:solidFill>
                <a:srgbClr val="020202"/>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arn(inHorizont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inHorizontal)">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6"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56565" y="276860"/>
            <a:ext cx="7862570" cy="593090"/>
          </a:xfrm>
        </p:spPr>
        <p:txBody>
          <a:bodyPr/>
          <a:lstStyle/>
          <a:p>
            <a:r>
              <a:rPr lang="en-US" altLang="zh-CN" dirty="0"/>
              <a:t>7.1</a:t>
            </a:r>
            <a:r>
              <a:rPr lang="zh-CN" altLang="en-US" dirty="0"/>
              <a:t>程序执行时的存储器组织</a:t>
            </a:r>
            <a:endParaRPr lang="zh-CN" altLang="en-US" dirty="0"/>
          </a:p>
        </p:txBody>
      </p:sp>
      <p:sp useBgFill="1">
        <p:nvSpPr>
          <p:cNvPr id="10" name="Rectangle 2"/>
          <p:cNvSpPr>
            <a:spLocks noChangeArrowheads="1"/>
          </p:cNvSpPr>
          <p:nvPr/>
        </p:nvSpPr>
        <p:spPr bwMode="auto">
          <a:xfrm>
            <a:off x="1403519" y="1574333"/>
            <a:ext cx="3357562" cy="4419600"/>
          </a:xfrm>
          <a:prstGeom prst="rect">
            <a:avLst/>
          </a:prstGeom>
          <a:ln w="9525">
            <a:solidFill>
              <a:schemeClr val="tx1"/>
            </a:solidFill>
            <a:miter lim="800000"/>
          </a:ln>
        </p:spPr>
        <p:txBody>
          <a:bodyPr wrap="none" anchor="ctr"/>
          <a:lstStyle/>
          <a:p>
            <a:pPr algn="ctr"/>
            <a:endParaRPr lang="zh-CN" altLang="en-US">
              <a:latin typeface="Arial" panose="020B0604020202020204" pitchFamily="34" charset="0"/>
            </a:endParaRPr>
          </a:p>
        </p:txBody>
      </p:sp>
      <p:sp>
        <p:nvSpPr>
          <p:cNvPr id="11" name="Line 3"/>
          <p:cNvSpPr>
            <a:spLocks noChangeShapeType="1"/>
          </p:cNvSpPr>
          <p:nvPr/>
        </p:nvSpPr>
        <p:spPr bwMode="auto">
          <a:xfrm>
            <a:off x="1403519" y="2074395"/>
            <a:ext cx="3357562" cy="46038"/>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3" name="Rectangle 4"/>
          <p:cNvSpPr>
            <a:spLocks noChangeArrowheads="1"/>
          </p:cNvSpPr>
          <p:nvPr/>
        </p:nvSpPr>
        <p:spPr bwMode="auto">
          <a:xfrm>
            <a:off x="2046456" y="1574333"/>
            <a:ext cx="1158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实参</a:t>
            </a:r>
            <a:endParaRPr lang="en-US" altLang="zh-CN" sz="2400" b="1">
              <a:solidFill>
                <a:srgbClr val="020202"/>
              </a:solidFill>
              <a:latin typeface="Times New Roman" panose="02020603050405020304" pitchFamily="18" charset="0"/>
            </a:endParaRPr>
          </a:p>
        </p:txBody>
      </p:sp>
      <p:sp>
        <p:nvSpPr>
          <p:cNvPr id="14" name="Line 3"/>
          <p:cNvSpPr>
            <a:spLocks noChangeShapeType="1"/>
          </p:cNvSpPr>
          <p:nvPr/>
        </p:nvSpPr>
        <p:spPr bwMode="auto">
          <a:xfrm>
            <a:off x="1403519" y="2574458"/>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5" name="Line 3"/>
          <p:cNvSpPr>
            <a:spLocks noChangeShapeType="1"/>
          </p:cNvSpPr>
          <p:nvPr/>
        </p:nvSpPr>
        <p:spPr bwMode="auto">
          <a:xfrm>
            <a:off x="1403519" y="3145958"/>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6" name="Line 3"/>
          <p:cNvSpPr>
            <a:spLocks noChangeShapeType="1"/>
          </p:cNvSpPr>
          <p:nvPr/>
        </p:nvSpPr>
        <p:spPr bwMode="auto">
          <a:xfrm>
            <a:off x="1403519" y="3646020"/>
            <a:ext cx="3357562" cy="4603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 name="Line 3"/>
          <p:cNvSpPr>
            <a:spLocks noChangeShapeType="1"/>
          </p:cNvSpPr>
          <p:nvPr/>
        </p:nvSpPr>
        <p:spPr bwMode="auto">
          <a:xfrm>
            <a:off x="1403519" y="41460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8" name="Line 3"/>
          <p:cNvSpPr>
            <a:spLocks noChangeShapeType="1"/>
          </p:cNvSpPr>
          <p:nvPr/>
        </p:nvSpPr>
        <p:spPr bwMode="auto">
          <a:xfrm>
            <a:off x="1403519" y="47175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9" name="Line 3"/>
          <p:cNvSpPr>
            <a:spLocks noChangeShapeType="1"/>
          </p:cNvSpPr>
          <p:nvPr/>
        </p:nvSpPr>
        <p:spPr bwMode="auto">
          <a:xfrm>
            <a:off x="1403519" y="52890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20" name="Rectangle 4"/>
          <p:cNvSpPr>
            <a:spLocks noChangeArrowheads="1"/>
          </p:cNvSpPr>
          <p:nvPr/>
        </p:nvSpPr>
        <p:spPr bwMode="auto">
          <a:xfrm>
            <a:off x="1903581" y="2074395"/>
            <a:ext cx="1857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返回地址</a:t>
            </a:r>
            <a:endParaRPr lang="en-US" altLang="zh-CN" sz="2400" b="1">
              <a:solidFill>
                <a:srgbClr val="020202"/>
              </a:solidFill>
              <a:latin typeface="Times New Roman" panose="02020603050405020304" pitchFamily="18" charset="0"/>
            </a:endParaRPr>
          </a:p>
        </p:txBody>
      </p:sp>
      <p:sp>
        <p:nvSpPr>
          <p:cNvPr id="21" name="Rectangle 4"/>
          <p:cNvSpPr>
            <a:spLocks noChangeArrowheads="1"/>
          </p:cNvSpPr>
          <p:nvPr/>
        </p:nvSpPr>
        <p:spPr bwMode="auto">
          <a:xfrm>
            <a:off x="2046456" y="2645895"/>
            <a:ext cx="1857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chemeClr val="accent1"/>
                </a:solidFill>
                <a:latin typeface="Times New Roman" panose="02020603050405020304" pitchFamily="18" charset="0"/>
              </a:rPr>
              <a:t>控制链</a:t>
            </a:r>
            <a:endParaRPr lang="zh-CN" altLang="en-US" sz="2400" b="1">
              <a:solidFill>
                <a:schemeClr val="accent1"/>
              </a:solidFill>
              <a:latin typeface="Times New Roman" panose="02020603050405020304" pitchFamily="18" charset="0"/>
            </a:endParaRPr>
          </a:p>
        </p:txBody>
      </p:sp>
      <p:sp>
        <p:nvSpPr>
          <p:cNvPr id="22" name="Rectangle 4"/>
          <p:cNvSpPr>
            <a:spLocks noChangeArrowheads="1"/>
          </p:cNvSpPr>
          <p:nvPr/>
        </p:nvSpPr>
        <p:spPr bwMode="auto">
          <a:xfrm>
            <a:off x="1403519" y="3184058"/>
            <a:ext cx="328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临时变量和局部数据</a:t>
            </a:r>
            <a:endParaRPr lang="en-US" altLang="zh-CN" sz="2400" b="1">
              <a:solidFill>
                <a:srgbClr val="020202"/>
              </a:solidFill>
              <a:latin typeface="Times New Roman" panose="02020603050405020304" pitchFamily="18" charset="0"/>
            </a:endParaRPr>
          </a:p>
        </p:txBody>
      </p:sp>
      <p:sp>
        <p:nvSpPr>
          <p:cNvPr id="23" name="Rectangle 4"/>
          <p:cNvSpPr>
            <a:spLocks noChangeArrowheads="1"/>
          </p:cNvSpPr>
          <p:nvPr/>
        </p:nvSpPr>
        <p:spPr bwMode="auto">
          <a:xfrm>
            <a:off x="2046456" y="3717458"/>
            <a:ext cx="1158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实参</a:t>
            </a:r>
            <a:endParaRPr lang="en-US" altLang="zh-CN" sz="2400" b="1">
              <a:solidFill>
                <a:srgbClr val="020202"/>
              </a:solidFill>
              <a:latin typeface="Times New Roman" panose="02020603050405020304" pitchFamily="18" charset="0"/>
            </a:endParaRPr>
          </a:p>
        </p:txBody>
      </p:sp>
      <p:sp>
        <p:nvSpPr>
          <p:cNvPr id="24" name="Line 3"/>
          <p:cNvSpPr>
            <a:spLocks noChangeShapeType="1"/>
          </p:cNvSpPr>
          <p:nvPr/>
        </p:nvSpPr>
        <p:spPr bwMode="auto">
          <a:xfrm>
            <a:off x="1403519" y="47175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25" name="Line 3"/>
          <p:cNvSpPr>
            <a:spLocks noChangeShapeType="1"/>
          </p:cNvSpPr>
          <p:nvPr/>
        </p:nvSpPr>
        <p:spPr bwMode="auto">
          <a:xfrm>
            <a:off x="1403519" y="52890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26" name="Rectangle 4"/>
          <p:cNvSpPr>
            <a:spLocks noChangeArrowheads="1"/>
          </p:cNvSpPr>
          <p:nvPr/>
        </p:nvSpPr>
        <p:spPr bwMode="auto">
          <a:xfrm>
            <a:off x="1903581" y="4217520"/>
            <a:ext cx="1857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返回地址</a:t>
            </a:r>
            <a:endParaRPr lang="en-US" altLang="zh-CN" sz="2400" b="1">
              <a:solidFill>
                <a:srgbClr val="020202"/>
              </a:solidFill>
              <a:latin typeface="Times New Roman" panose="02020603050405020304" pitchFamily="18" charset="0"/>
            </a:endParaRPr>
          </a:p>
        </p:txBody>
      </p:sp>
      <p:sp>
        <p:nvSpPr>
          <p:cNvPr id="27" name="Rectangle 4"/>
          <p:cNvSpPr>
            <a:spLocks noChangeArrowheads="1"/>
          </p:cNvSpPr>
          <p:nvPr/>
        </p:nvSpPr>
        <p:spPr bwMode="auto">
          <a:xfrm>
            <a:off x="1844040" y="4763770"/>
            <a:ext cx="24041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C00000"/>
                </a:solidFill>
                <a:latin typeface="Times New Roman" panose="02020603050405020304" pitchFamily="18" charset="0"/>
              </a:rPr>
              <a:t>控制链</a:t>
            </a:r>
            <a:r>
              <a:rPr lang="en-US" altLang="zh-CN" sz="2400" b="1">
                <a:solidFill>
                  <a:srgbClr val="C00000"/>
                </a:solidFill>
                <a:latin typeface="Times New Roman" panose="02020603050405020304" pitchFamily="18" charset="0"/>
              </a:rPr>
              <a:t>(3000)</a:t>
            </a:r>
            <a:endParaRPr lang="en-US" altLang="zh-CN" sz="2400" b="1">
              <a:solidFill>
                <a:srgbClr val="C00000"/>
              </a:solidFill>
              <a:latin typeface="Times New Roman" panose="02020603050405020304" pitchFamily="18" charset="0"/>
            </a:endParaRPr>
          </a:p>
        </p:txBody>
      </p:sp>
      <p:sp>
        <p:nvSpPr>
          <p:cNvPr id="28" name="Rectangle 4"/>
          <p:cNvSpPr>
            <a:spLocks noChangeArrowheads="1"/>
          </p:cNvSpPr>
          <p:nvPr/>
        </p:nvSpPr>
        <p:spPr bwMode="auto">
          <a:xfrm>
            <a:off x="1403519" y="5327183"/>
            <a:ext cx="328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临时变量和局部数据</a:t>
            </a:r>
            <a:endParaRPr lang="en-US" altLang="zh-CN" sz="2400" b="1">
              <a:solidFill>
                <a:srgbClr val="020202"/>
              </a:solidFill>
              <a:latin typeface="Times New Roman" panose="02020603050405020304" pitchFamily="18" charset="0"/>
            </a:endParaRPr>
          </a:p>
        </p:txBody>
      </p:sp>
      <p:cxnSp>
        <p:nvCxnSpPr>
          <p:cNvPr id="29" name="直接连接符 31"/>
          <p:cNvCxnSpPr>
            <a:cxnSpLocks noChangeShapeType="1"/>
          </p:cNvCxnSpPr>
          <p:nvPr/>
        </p:nvCxnSpPr>
        <p:spPr bwMode="auto">
          <a:xfrm>
            <a:off x="5756444" y="1652120"/>
            <a:ext cx="1000125" cy="1588"/>
          </a:xfrm>
          <a:prstGeom prst="line">
            <a:avLst/>
          </a:prstGeom>
          <a:noFill/>
          <a:ln w="6350">
            <a:solidFill>
              <a:schemeClr val="tx1"/>
            </a:solidFill>
            <a:miter lim="800000"/>
          </a:ln>
          <a:extLst>
            <a:ext uri="{909E8E84-426E-40DD-AFC4-6F175D3DCCD1}">
              <a14:hiddenFill xmlns:a14="http://schemas.microsoft.com/office/drawing/2010/main">
                <a:noFill/>
              </a14:hiddenFill>
            </a:ext>
          </a:extLst>
        </p:spPr>
      </p:cxnSp>
      <p:cxnSp>
        <p:nvCxnSpPr>
          <p:cNvPr id="30" name="直接箭头连接符 33"/>
          <p:cNvCxnSpPr>
            <a:cxnSpLocks noChangeShapeType="1"/>
          </p:cNvCxnSpPr>
          <p:nvPr/>
        </p:nvCxnSpPr>
        <p:spPr bwMode="auto">
          <a:xfrm rot="5400000">
            <a:off x="4568359" y="2687170"/>
            <a:ext cx="2071688" cy="1587"/>
          </a:xfrm>
          <a:prstGeom prst="straightConnector1">
            <a:avLst/>
          </a:prstGeom>
          <a:noFill/>
          <a:ln w="6350">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31" name="直接连接符 37"/>
          <p:cNvCxnSpPr>
            <a:cxnSpLocks noChangeShapeType="1"/>
          </p:cNvCxnSpPr>
          <p:nvPr/>
        </p:nvCxnSpPr>
        <p:spPr bwMode="auto">
          <a:xfrm>
            <a:off x="5756444" y="3723808"/>
            <a:ext cx="1000125" cy="1587"/>
          </a:xfrm>
          <a:prstGeom prst="line">
            <a:avLst/>
          </a:prstGeom>
          <a:noFill/>
          <a:ln w="6350">
            <a:solidFill>
              <a:schemeClr val="tx1"/>
            </a:solidFill>
            <a:miter lim="800000"/>
          </a:ln>
          <a:extLst>
            <a:ext uri="{909E8E84-426E-40DD-AFC4-6F175D3DCCD1}">
              <a14:hiddenFill xmlns:a14="http://schemas.microsoft.com/office/drawing/2010/main">
                <a:noFill/>
              </a14:hiddenFill>
            </a:ext>
          </a:extLst>
        </p:spPr>
      </p:cxnSp>
      <p:cxnSp>
        <p:nvCxnSpPr>
          <p:cNvPr id="32" name="直接箭头连接符 39"/>
          <p:cNvCxnSpPr>
            <a:cxnSpLocks noChangeShapeType="1"/>
          </p:cNvCxnSpPr>
          <p:nvPr/>
        </p:nvCxnSpPr>
        <p:spPr bwMode="auto">
          <a:xfrm rot="16200000" flipH="1">
            <a:off x="4504859" y="4823945"/>
            <a:ext cx="2214562" cy="14288"/>
          </a:xfrm>
          <a:prstGeom prst="straightConnector1">
            <a:avLst/>
          </a:prstGeom>
          <a:noFill/>
          <a:ln w="6350">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33" name="直接连接符 40"/>
          <p:cNvCxnSpPr>
            <a:cxnSpLocks noChangeShapeType="1"/>
          </p:cNvCxnSpPr>
          <p:nvPr/>
        </p:nvCxnSpPr>
        <p:spPr bwMode="auto">
          <a:xfrm>
            <a:off x="5756444" y="5936783"/>
            <a:ext cx="1000125" cy="1587"/>
          </a:xfrm>
          <a:prstGeom prst="line">
            <a:avLst/>
          </a:prstGeom>
          <a:noFill/>
          <a:ln w="6350">
            <a:solidFill>
              <a:schemeClr val="tx1"/>
            </a:solidFill>
            <a:miter lim="800000"/>
          </a:ln>
          <a:extLst>
            <a:ext uri="{909E8E84-426E-40DD-AFC4-6F175D3DCCD1}">
              <a14:hiddenFill xmlns:a14="http://schemas.microsoft.com/office/drawing/2010/main">
                <a:noFill/>
              </a14:hiddenFill>
            </a:ext>
          </a:extLst>
        </p:spPr>
      </p:cxnSp>
      <p:sp>
        <p:nvSpPr>
          <p:cNvPr id="34" name="Rectangle 4"/>
          <p:cNvSpPr>
            <a:spLocks noChangeArrowheads="1"/>
          </p:cNvSpPr>
          <p:nvPr/>
        </p:nvSpPr>
        <p:spPr bwMode="auto">
          <a:xfrm>
            <a:off x="5723424" y="2120115"/>
            <a:ext cx="115887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调用者的活动记录</a:t>
            </a:r>
            <a:endParaRPr lang="en-US" altLang="zh-CN" sz="2400" b="1">
              <a:solidFill>
                <a:srgbClr val="020202"/>
              </a:solidFill>
              <a:latin typeface="Times New Roman" panose="02020603050405020304" pitchFamily="18" charset="0"/>
            </a:endParaRPr>
          </a:p>
        </p:txBody>
      </p:sp>
      <p:sp>
        <p:nvSpPr>
          <p:cNvPr id="35" name="Rectangle 4"/>
          <p:cNvSpPr>
            <a:spLocks noChangeArrowheads="1"/>
          </p:cNvSpPr>
          <p:nvPr/>
        </p:nvSpPr>
        <p:spPr bwMode="auto">
          <a:xfrm>
            <a:off x="5756444" y="4067343"/>
            <a:ext cx="115887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被调用者的活动记录</a:t>
            </a:r>
            <a:endParaRPr lang="en-US" altLang="zh-CN" sz="2400" b="1">
              <a:solidFill>
                <a:srgbClr val="020202"/>
              </a:solidFill>
              <a:latin typeface="Times New Roman" panose="02020603050405020304" pitchFamily="18" charset="0"/>
            </a:endParaRPr>
          </a:p>
        </p:txBody>
      </p:sp>
      <p:sp>
        <p:nvSpPr>
          <p:cNvPr id="36" name="Line 21"/>
          <p:cNvSpPr>
            <a:spLocks noChangeShapeType="1"/>
          </p:cNvSpPr>
          <p:nvPr/>
        </p:nvSpPr>
        <p:spPr bwMode="auto">
          <a:xfrm>
            <a:off x="454025" y="5288915"/>
            <a:ext cx="949325" cy="63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Line 21"/>
          <p:cNvSpPr>
            <a:spLocks noChangeShapeType="1"/>
          </p:cNvSpPr>
          <p:nvPr/>
        </p:nvSpPr>
        <p:spPr bwMode="auto">
          <a:xfrm>
            <a:off x="496570" y="3131820"/>
            <a:ext cx="906780" cy="23495"/>
          </a:xfrm>
          <a:prstGeom prst="line">
            <a:avLst/>
          </a:prstGeom>
          <a:noFill/>
          <a:ln w="25400">
            <a:solidFill>
              <a:srgbClr val="C00000"/>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右大括号 56"/>
          <p:cNvSpPr/>
          <p:nvPr/>
        </p:nvSpPr>
        <p:spPr bwMode="auto">
          <a:xfrm>
            <a:off x="4761081" y="2860208"/>
            <a:ext cx="500063" cy="1785937"/>
          </a:xfrm>
          <a:prstGeom prst="rightBrace">
            <a:avLst>
              <a:gd name="adj1" fmla="val 8267"/>
              <a:gd name="adj2" fmla="val 51625"/>
            </a:avLst>
          </a:prstGeom>
          <a:noFill/>
          <a:ln w="317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a:lnSpc>
                <a:spcPct val="90000"/>
              </a:lnSpc>
              <a:spcBef>
                <a:spcPct val="20000"/>
              </a:spcBef>
              <a:buClr>
                <a:schemeClr val="accent2"/>
              </a:buClr>
              <a:buFont typeface="Wingdings" panose="05000000000000000000" pitchFamily="2" charset="2"/>
              <a:buChar char="•"/>
            </a:pPr>
            <a:endParaRPr lang="zh-CN" altLang="en-US"/>
          </a:p>
        </p:txBody>
      </p:sp>
      <p:sp>
        <p:nvSpPr>
          <p:cNvPr id="41" name="Rectangle 4"/>
          <p:cNvSpPr>
            <a:spLocks noChangeArrowheads="1"/>
          </p:cNvSpPr>
          <p:nvPr/>
        </p:nvSpPr>
        <p:spPr bwMode="auto">
          <a:xfrm>
            <a:off x="5130016" y="2654150"/>
            <a:ext cx="500063"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调用者的职责</a:t>
            </a:r>
            <a:endParaRPr lang="en-US" altLang="zh-CN" sz="2400" b="1">
              <a:solidFill>
                <a:srgbClr val="020202"/>
              </a:solidFill>
              <a:latin typeface="Times New Roman" panose="02020603050405020304" pitchFamily="18" charset="0"/>
            </a:endParaRPr>
          </a:p>
        </p:txBody>
      </p:sp>
      <p:sp useBgFill="1">
        <p:nvSpPr>
          <p:cNvPr id="43" name="Rectangle 2"/>
          <p:cNvSpPr>
            <a:spLocks noChangeArrowheads="1"/>
          </p:cNvSpPr>
          <p:nvPr/>
        </p:nvSpPr>
        <p:spPr bwMode="auto">
          <a:xfrm>
            <a:off x="8991600" y="1628551"/>
            <a:ext cx="2819400" cy="4419600"/>
          </a:xfrm>
          <a:prstGeom prst="rect">
            <a:avLst/>
          </a:prstGeom>
          <a:ln w="9525">
            <a:solidFill>
              <a:schemeClr val="tx1"/>
            </a:solidFill>
            <a:miter lim="800000"/>
          </a:ln>
        </p:spPr>
        <p:txBody>
          <a:bodyPr wrap="none" anchor="ctr"/>
          <a:p>
            <a:pPr algn="ctr"/>
            <a:endParaRPr lang="zh-CN" altLang="en-US" sz="2400">
              <a:latin typeface="+mn-ea"/>
            </a:endParaRPr>
          </a:p>
        </p:txBody>
      </p:sp>
      <p:sp>
        <p:nvSpPr>
          <p:cNvPr id="44" name="Line 3"/>
          <p:cNvSpPr>
            <a:spLocks noChangeShapeType="1"/>
          </p:cNvSpPr>
          <p:nvPr/>
        </p:nvSpPr>
        <p:spPr bwMode="auto">
          <a:xfrm>
            <a:off x="8991600" y="2492151"/>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5" name="Rectangle 4"/>
          <p:cNvSpPr>
            <a:spLocks noChangeArrowheads="1"/>
          </p:cNvSpPr>
          <p:nvPr/>
        </p:nvSpPr>
        <p:spPr bwMode="auto">
          <a:xfrm>
            <a:off x="9906000" y="1628551"/>
            <a:ext cx="8382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b:2</a:t>
            </a:r>
            <a:endParaRPr lang="en-US" altLang="zh-CN" sz="2400" b="1">
              <a:solidFill>
                <a:srgbClr val="020202"/>
              </a:solidFill>
              <a:latin typeface="+mn-ea"/>
            </a:endParaRPr>
          </a:p>
          <a:p>
            <a:r>
              <a:rPr lang="en-US" altLang="zh-CN" sz="2400" b="1">
                <a:solidFill>
                  <a:srgbClr val="020202"/>
                </a:solidFill>
                <a:latin typeface="+mn-ea"/>
              </a:rPr>
              <a:t>a:1</a:t>
            </a:r>
            <a:endParaRPr lang="en-US" altLang="zh-CN" sz="2400" b="1">
              <a:solidFill>
                <a:srgbClr val="020202"/>
              </a:solidFill>
              <a:latin typeface="+mn-ea"/>
            </a:endParaRPr>
          </a:p>
        </p:txBody>
      </p:sp>
      <p:sp>
        <p:nvSpPr>
          <p:cNvPr id="46" name="Rectangle 5"/>
          <p:cNvSpPr>
            <a:spLocks noChangeArrowheads="1"/>
          </p:cNvSpPr>
          <p:nvPr/>
        </p:nvSpPr>
        <p:spPr bwMode="auto">
          <a:xfrm>
            <a:off x="8991600" y="2565176"/>
            <a:ext cx="28956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20202"/>
                </a:solidFill>
                <a:latin typeface="+mn-ea"/>
              </a:rPr>
              <a:t>该函数调用结束时的返回地址(</a:t>
            </a:r>
            <a:r>
              <a:rPr lang="en-US" altLang="zh-CN" sz="2400" b="1">
                <a:solidFill>
                  <a:srgbClr val="020202"/>
                </a:solidFill>
                <a:latin typeface="+mn-ea"/>
              </a:rPr>
              <a:t>00401014)</a:t>
            </a:r>
            <a:endParaRPr lang="en-US" altLang="zh-CN" sz="2400" b="1">
              <a:solidFill>
                <a:srgbClr val="020202"/>
              </a:solidFill>
              <a:latin typeface="+mn-ea"/>
            </a:endParaRPr>
          </a:p>
        </p:txBody>
      </p:sp>
      <p:sp>
        <p:nvSpPr>
          <p:cNvPr id="47" name="Line 6"/>
          <p:cNvSpPr>
            <a:spLocks noChangeShapeType="1"/>
          </p:cNvSpPr>
          <p:nvPr/>
        </p:nvSpPr>
        <p:spPr bwMode="auto">
          <a:xfrm>
            <a:off x="8991600" y="4005039"/>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8" name="Line 7"/>
          <p:cNvSpPr>
            <a:spLocks noChangeShapeType="1"/>
          </p:cNvSpPr>
          <p:nvPr/>
        </p:nvSpPr>
        <p:spPr bwMode="auto">
          <a:xfrm>
            <a:off x="8991600" y="515756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9" name="Rectangle 8"/>
          <p:cNvSpPr>
            <a:spLocks noChangeArrowheads="1"/>
          </p:cNvSpPr>
          <p:nvPr/>
        </p:nvSpPr>
        <p:spPr bwMode="auto">
          <a:xfrm>
            <a:off x="9144000" y="4066951"/>
            <a:ext cx="2590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20202"/>
                </a:solidFill>
                <a:latin typeface="+mn-ea"/>
              </a:rPr>
              <a:t>主调函数控制链</a:t>
            </a:r>
            <a:endParaRPr lang="en-US" altLang="zh-CN" sz="2400" b="1">
              <a:solidFill>
                <a:srgbClr val="020202"/>
              </a:solidFill>
              <a:latin typeface="+mn-ea"/>
            </a:endParaRPr>
          </a:p>
        </p:txBody>
      </p:sp>
      <p:sp>
        <p:nvSpPr>
          <p:cNvPr id="50" name="Rectangle 10"/>
          <p:cNvSpPr>
            <a:spLocks noChangeArrowheads="1"/>
          </p:cNvSpPr>
          <p:nvPr/>
        </p:nvSpPr>
        <p:spPr bwMode="auto">
          <a:xfrm>
            <a:off x="9753600" y="5362351"/>
            <a:ext cx="914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c:3</a:t>
            </a:r>
            <a:endParaRPr lang="zh-CN" altLang="en-US" sz="2400" b="1">
              <a:solidFill>
                <a:srgbClr val="020202"/>
              </a:solidFill>
              <a:latin typeface="+mn-ea"/>
            </a:endParaRPr>
          </a:p>
        </p:txBody>
      </p:sp>
      <p:sp>
        <p:nvSpPr>
          <p:cNvPr id="54" name="Rectangle 13"/>
          <p:cNvSpPr>
            <a:spLocks noChangeArrowheads="1"/>
          </p:cNvSpPr>
          <p:nvPr/>
        </p:nvSpPr>
        <p:spPr bwMode="auto">
          <a:xfrm>
            <a:off x="7943215" y="5249545"/>
            <a:ext cx="10991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chemeClr val="accent1"/>
                </a:solidFill>
                <a:latin typeface="+mn-ea"/>
              </a:rPr>
              <a:t>控制链</a:t>
            </a:r>
            <a:endParaRPr lang="zh-CN" altLang="en-US" sz="2400" b="1" dirty="0">
              <a:solidFill>
                <a:schemeClr val="accent1"/>
              </a:solidFill>
              <a:latin typeface="+mn-ea"/>
            </a:endParaRPr>
          </a:p>
        </p:txBody>
      </p:sp>
      <p:sp>
        <p:nvSpPr>
          <p:cNvPr id="55" name="Line 21"/>
          <p:cNvSpPr>
            <a:spLocks noChangeShapeType="1"/>
          </p:cNvSpPr>
          <p:nvPr/>
        </p:nvSpPr>
        <p:spPr bwMode="auto">
          <a:xfrm>
            <a:off x="8118475" y="5157470"/>
            <a:ext cx="884555" cy="698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 name="Rectangle 4"/>
          <p:cNvSpPr>
            <a:spLocks noChangeArrowheads="1"/>
          </p:cNvSpPr>
          <p:nvPr>
            <p:custDataLst>
              <p:tags r:id="rId1"/>
            </p:custDataLst>
          </p:nvPr>
        </p:nvSpPr>
        <p:spPr bwMode="auto">
          <a:xfrm>
            <a:off x="586274" y="2723365"/>
            <a:ext cx="13573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C00000"/>
                </a:solidFill>
                <a:latin typeface="Times New Roman" panose="02020603050405020304" pitchFamily="18" charset="0"/>
              </a:rPr>
              <a:t>3000</a:t>
            </a:r>
            <a:endParaRPr lang="en-US" altLang="zh-CN" sz="2400" b="1">
              <a:solidFill>
                <a:srgbClr val="C00000"/>
              </a:solidFill>
              <a:latin typeface="Times New Roman" panose="02020603050405020304" pitchFamily="18" charset="0"/>
            </a:endParaRPr>
          </a:p>
        </p:txBody>
      </p:sp>
      <p:sp>
        <p:nvSpPr>
          <p:cNvPr id="51" name="Rectangle 11"/>
          <p:cNvSpPr>
            <a:spLocks noChangeArrowheads="1"/>
          </p:cNvSpPr>
          <p:nvPr>
            <p:custDataLst>
              <p:tags r:id="rId2"/>
            </p:custDataLst>
          </p:nvPr>
        </p:nvSpPr>
        <p:spPr bwMode="auto">
          <a:xfrm>
            <a:off x="6855460" y="1971451"/>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400" b="1">
                <a:solidFill>
                  <a:srgbClr val="020202"/>
                </a:solidFill>
                <a:latin typeface="+mn-ea"/>
              </a:rPr>
              <a:t>栈底</a:t>
            </a:r>
            <a:endParaRPr lang="zh-CN" altLang="en-US" sz="2400" b="1">
              <a:solidFill>
                <a:srgbClr val="020202"/>
              </a:solidFill>
              <a:latin typeface="+mn-ea"/>
            </a:endParaRPr>
          </a:p>
        </p:txBody>
      </p:sp>
      <p:sp>
        <p:nvSpPr>
          <p:cNvPr id="52" name="Line 12"/>
          <p:cNvSpPr>
            <a:spLocks noChangeShapeType="1"/>
          </p:cNvSpPr>
          <p:nvPr>
            <p:custDataLst>
              <p:tags r:id="rId3"/>
            </p:custDataLst>
          </p:nvPr>
        </p:nvSpPr>
        <p:spPr bwMode="auto">
          <a:xfrm>
            <a:off x="7312660" y="2581051"/>
            <a:ext cx="0" cy="2057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53" name="Rectangle 13"/>
          <p:cNvSpPr>
            <a:spLocks noChangeArrowheads="1"/>
          </p:cNvSpPr>
          <p:nvPr>
            <p:custDataLst>
              <p:tags r:id="rId4"/>
            </p:custDataLst>
          </p:nvPr>
        </p:nvSpPr>
        <p:spPr bwMode="auto">
          <a:xfrm>
            <a:off x="6855460" y="4714651"/>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400" b="1">
                <a:solidFill>
                  <a:srgbClr val="020202"/>
                </a:solidFill>
                <a:latin typeface="+mn-ea"/>
              </a:rPr>
              <a:t>栈顶</a:t>
            </a:r>
            <a:endParaRPr lang="zh-CN" altLang="en-US" sz="2400" b="1">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6" grpId="0"/>
      <p:bldP spid="49" grpId="0"/>
      <p:bldP spid="50" grpId="0"/>
      <p:bldP spid="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7</a:t>
            </a:r>
            <a:r>
              <a:rPr lang="zh-CN" altLang="en-US" dirty="0"/>
              <a:t>单元 运行时环境</a:t>
            </a:r>
            <a:endParaRPr lang="zh-CN" altLang="en-US" dirty="0"/>
          </a:p>
        </p:txBody>
      </p:sp>
      <p:sp>
        <p:nvSpPr>
          <p:cNvPr id="24" name="文本占位符 23"/>
          <p:cNvSpPr>
            <a:spLocks noGrp="1"/>
          </p:cNvSpPr>
          <p:nvPr>
            <p:ph type="body" sz="quarter" idx="14"/>
          </p:nvPr>
        </p:nvSpPr>
        <p:spPr>
          <a:xfrm>
            <a:off x="1134745" y="2106295"/>
            <a:ext cx="8255000" cy="2094230"/>
          </a:xfrm>
        </p:spPr>
        <p:txBody>
          <a:bodyPr>
            <a:normAutofit lnSpcReduction="20000"/>
          </a:bodyPr>
          <a:lstStyle/>
          <a:p>
            <a:r>
              <a:rPr lang="en-US" altLang="zh-CN" b="1" dirty="0">
                <a:solidFill>
                  <a:schemeClr val="tx1"/>
                </a:solidFill>
              </a:rPr>
              <a:t>7.1 </a:t>
            </a:r>
            <a:r>
              <a:rPr lang="zh-CN" altLang="en-US" b="1" dirty="0">
                <a:solidFill>
                  <a:schemeClr val="tx1"/>
                </a:solidFill>
              </a:rPr>
              <a:t>程序执行时的存储器组织</a:t>
            </a:r>
            <a:endParaRPr lang="en-US" altLang="zh-CN" b="1" dirty="0">
              <a:solidFill>
                <a:schemeClr val="tx1"/>
              </a:solidFill>
            </a:endParaRPr>
          </a:p>
          <a:p>
            <a:r>
              <a:rPr lang="en-US" altLang="zh-CN" b="1" dirty="0">
                <a:solidFill>
                  <a:schemeClr val="accent1"/>
                </a:solidFill>
              </a:rPr>
              <a:t>7.2 </a:t>
            </a:r>
            <a:r>
              <a:rPr lang="zh-CN" altLang="en-US" b="1" dirty="0">
                <a:solidFill>
                  <a:schemeClr val="accent1"/>
                </a:solidFill>
              </a:rPr>
              <a:t>基于栈的运行时环境</a:t>
            </a:r>
            <a:endParaRPr lang="zh-CN" altLang="en-US" b="1" dirty="0">
              <a:solidFill>
                <a:schemeClr val="accent1"/>
              </a:solidFill>
            </a:endParaRPr>
          </a:p>
          <a:p>
            <a:r>
              <a:rPr lang="en-US" altLang="zh-CN">
                <a:solidFill>
                  <a:schemeClr val="tx1"/>
                </a:solidFill>
                <a:sym typeface="+mn-ea"/>
              </a:rPr>
              <a:t>7.3 </a:t>
            </a:r>
            <a:r>
              <a:rPr>
                <a:solidFill>
                  <a:schemeClr val="tx1"/>
                </a:solidFill>
                <a:sym typeface="+mn-ea"/>
              </a:rPr>
              <a:t>动态存储器</a:t>
            </a:r>
            <a:endParaRPr lang="en-US" altLang="zh-CN" b="1" dirty="0">
              <a:solidFill>
                <a:schemeClr val="accent1"/>
              </a:solidFill>
            </a:endParaRPr>
          </a:p>
        </p:txBody>
      </p:sp>
      <p:sp>
        <p:nvSpPr>
          <p:cNvPr id="25" name="文本占位符 24"/>
          <p:cNvSpPr>
            <a:spLocks noGrp="1"/>
          </p:cNvSpPr>
          <p:nvPr>
            <p:ph type="body" sz="quarter" idx="15"/>
          </p:nvPr>
        </p:nvSpPr>
        <p:spPr>
          <a:xfrm>
            <a:off x="228531" y="350972"/>
            <a:ext cx="2653249" cy="589645"/>
          </a:xfrm>
        </p:spPr>
        <p:txBody>
          <a:bodyPr>
            <a:normAutofit lnSpcReduction="20000"/>
          </a:bodyP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4020" y="276860"/>
            <a:ext cx="7080250" cy="593090"/>
          </a:xfrm>
        </p:spPr>
        <p:txBody>
          <a:bodyPr/>
          <a:lstStyle/>
          <a:p>
            <a:r>
              <a:rPr lang="en-US" altLang="zh-CN" dirty="0"/>
              <a:t>7.2 </a:t>
            </a:r>
            <a:r>
              <a:rPr lang="zh-CN" altLang="en-US" dirty="0"/>
              <a:t>基于栈的运行时环境</a:t>
            </a:r>
            <a:endParaRPr lang="zh-CN" altLang="en-US" dirty="0"/>
          </a:p>
        </p:txBody>
      </p:sp>
      <p:sp>
        <p:nvSpPr>
          <p:cNvPr id="7" name="Rectangle 11"/>
          <p:cNvSpPr txBox="1">
            <a:spLocks noChangeArrowheads="1"/>
          </p:cNvSpPr>
          <p:nvPr/>
        </p:nvSpPr>
        <p:spPr>
          <a:xfrm>
            <a:off x="414020" y="1077595"/>
            <a:ext cx="6054090" cy="5172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solidFill>
                  <a:schemeClr val="accent1"/>
                </a:solidFill>
                <a:latin typeface="+mn-ea"/>
              </a:rPr>
              <a:t>在所有函数都是全局的</a:t>
            </a:r>
            <a:r>
              <a:rPr lang="zh-CN" altLang="en-US" sz="2400" b="1" dirty="0">
                <a:solidFill>
                  <a:srgbClr val="020202"/>
                </a:solidFill>
                <a:latin typeface="+mn-ea"/>
              </a:rPr>
              <a:t>、函数</a:t>
            </a:r>
            <a:r>
              <a:rPr lang="zh-CN" altLang="en-US" sz="2400" b="1" dirty="0">
                <a:solidFill>
                  <a:schemeClr val="accent1"/>
                </a:solidFill>
                <a:latin typeface="+mn-ea"/>
              </a:rPr>
              <a:t>定义不允许嵌套</a:t>
            </a:r>
            <a:r>
              <a:rPr lang="zh-CN" altLang="en-US" sz="2400" b="1" dirty="0">
                <a:solidFill>
                  <a:srgbClr val="020202"/>
                </a:solidFill>
                <a:latin typeface="+mn-ea"/>
              </a:rPr>
              <a:t>，但允许函数递归调用的程序设计语言(例如</a:t>
            </a:r>
            <a:r>
              <a:rPr lang="en-US" altLang="zh-CN" sz="2400" b="1" dirty="0">
                <a:solidFill>
                  <a:srgbClr val="020202"/>
                </a:solidFill>
                <a:latin typeface="+mn-ea"/>
              </a:rPr>
              <a:t>C</a:t>
            </a:r>
            <a:r>
              <a:rPr lang="zh-CN" altLang="en-US" sz="2400" b="1" dirty="0">
                <a:solidFill>
                  <a:srgbClr val="020202"/>
                </a:solidFill>
                <a:latin typeface="+mn-ea"/>
              </a:rPr>
              <a:t>语言)中</a:t>
            </a:r>
            <a:r>
              <a:rPr lang="en-US" altLang="zh-CN" sz="2400" b="1" dirty="0">
                <a:solidFill>
                  <a:srgbClr val="020202"/>
                </a:solidFill>
                <a:latin typeface="+mn-ea"/>
              </a:rPr>
              <a:t>：</a:t>
            </a:r>
            <a:endParaRPr lang="en-US" altLang="zh-CN" sz="2400" b="1" dirty="0">
              <a:solidFill>
                <a:srgbClr val="020202"/>
              </a:solidFill>
              <a:latin typeface="+mn-ea"/>
            </a:endParaRPr>
          </a:p>
          <a:p>
            <a:pPr lvl="0">
              <a:lnSpc>
                <a:spcPct val="125000"/>
              </a:lnSpc>
              <a:spcBef>
                <a:spcPct val="0"/>
              </a:spcBef>
              <a:spcAft>
                <a:spcPts val="0"/>
              </a:spcAft>
              <a:buFont typeface="Wingdings" panose="05000000000000000000" charset="0"/>
              <a:buChar char="p"/>
            </a:pPr>
            <a:r>
              <a:rPr lang="en-US" altLang="zh-CN" sz="2400" b="1" dirty="0" err="1">
                <a:solidFill>
                  <a:schemeClr val="accent1"/>
                </a:solidFill>
                <a:latin typeface="+mn-ea"/>
              </a:rPr>
              <a:t>sp</a:t>
            </a:r>
            <a:r>
              <a:rPr lang="zh-CN" altLang="en-US" sz="2400" b="1" dirty="0">
                <a:solidFill>
                  <a:schemeClr val="accent1"/>
                </a:solidFill>
                <a:latin typeface="+mn-ea"/>
              </a:rPr>
              <a:t>：</a:t>
            </a:r>
            <a:r>
              <a:rPr lang="zh-CN" altLang="en-US" sz="2400" b="1" dirty="0">
                <a:solidFill>
                  <a:srgbClr val="020202"/>
                </a:solidFill>
                <a:latin typeface="+mn-ea"/>
              </a:rPr>
              <a:t>栈顶部指针，</a:t>
            </a:r>
            <a:r>
              <a:rPr lang="en-US" altLang="zh-CN" sz="2400" b="1" dirty="0">
                <a:solidFill>
                  <a:srgbClr val="020202"/>
                </a:solidFill>
                <a:latin typeface="+mn-ea"/>
              </a:rPr>
              <a:t>x86</a:t>
            </a:r>
            <a:r>
              <a:rPr lang="zh-CN" altLang="en-US" sz="2400" b="1" dirty="0">
                <a:solidFill>
                  <a:srgbClr val="020202"/>
                </a:solidFill>
                <a:latin typeface="+mn-ea"/>
              </a:rPr>
              <a:t>系统采用</a:t>
            </a:r>
            <a:r>
              <a:rPr lang="en-US" altLang="zh-CN" sz="2400" b="1" dirty="0" err="1">
                <a:solidFill>
                  <a:srgbClr val="020202"/>
                </a:solidFill>
                <a:latin typeface="+mn-ea"/>
              </a:rPr>
              <a:t>sp</a:t>
            </a:r>
            <a:r>
              <a:rPr lang="zh-CN" altLang="en-US" sz="2400" b="1" dirty="0">
                <a:solidFill>
                  <a:srgbClr val="020202"/>
                </a:solidFill>
                <a:latin typeface="+mn-ea"/>
              </a:rPr>
              <a:t>或</a:t>
            </a:r>
            <a:r>
              <a:rPr lang="en-US" altLang="zh-CN" sz="2400" b="1" dirty="0" err="1">
                <a:solidFill>
                  <a:srgbClr val="020202"/>
                </a:solidFill>
                <a:latin typeface="+mn-ea"/>
              </a:rPr>
              <a:t>esp</a:t>
            </a:r>
            <a:r>
              <a:rPr lang="zh-CN" altLang="en-US" sz="2400" b="1" dirty="0">
                <a:solidFill>
                  <a:srgbClr val="020202"/>
                </a:solidFill>
                <a:latin typeface="+mn-ea"/>
              </a:rPr>
              <a:t>寄存器存储栈顶部的地址；</a:t>
            </a:r>
            <a:endParaRPr lang="zh-CN" altLang="en-US" sz="2400" b="1" dirty="0">
              <a:solidFill>
                <a:srgbClr val="020202"/>
              </a:solidFill>
              <a:latin typeface="+mn-ea"/>
            </a:endParaRPr>
          </a:p>
          <a:p>
            <a:pPr>
              <a:lnSpc>
                <a:spcPct val="125000"/>
              </a:lnSpc>
              <a:spcBef>
                <a:spcPct val="0"/>
              </a:spcBef>
              <a:spcAft>
                <a:spcPts val="0"/>
              </a:spcAft>
              <a:buFont typeface="Wingdings" panose="05000000000000000000" charset="0"/>
              <a:buChar char="p"/>
            </a:pPr>
            <a:r>
              <a:rPr lang="en-US" altLang="zh-CN" sz="2400" b="1" dirty="0" err="1">
                <a:solidFill>
                  <a:schemeClr val="accent1"/>
                </a:solidFill>
                <a:latin typeface="+mn-ea"/>
                <a:sym typeface="+mn-ea"/>
              </a:rPr>
              <a:t>fp</a:t>
            </a:r>
            <a:r>
              <a:rPr lang="en-US" altLang="zh-CN" sz="2400" b="1" dirty="0">
                <a:solidFill>
                  <a:schemeClr val="accent1"/>
                </a:solidFill>
                <a:latin typeface="+mn-ea"/>
                <a:sym typeface="Wingdings" panose="05000000000000000000" pitchFamily="2" charset="2"/>
              </a:rPr>
              <a:t>(frame point</a:t>
            </a:r>
            <a:r>
              <a:rPr lang="zh-CN" altLang="en-US" sz="2400" b="1" dirty="0">
                <a:solidFill>
                  <a:schemeClr val="accent1"/>
                </a:solidFill>
                <a:latin typeface="+mn-ea"/>
                <a:sym typeface="Wingdings" panose="05000000000000000000" pitchFamily="2" charset="2"/>
              </a:rPr>
              <a:t>)：</a:t>
            </a:r>
            <a:r>
              <a:rPr lang="zh-CN" altLang="en-US" sz="2400" b="1" dirty="0">
                <a:solidFill>
                  <a:srgbClr val="020202"/>
                </a:solidFill>
                <a:latin typeface="+mn-ea"/>
                <a:sym typeface="Wingdings" panose="05000000000000000000" pitchFamily="2" charset="2"/>
              </a:rPr>
              <a:t>控制链指针</a:t>
            </a:r>
            <a:r>
              <a:rPr lang="en-US" altLang="zh-CN" sz="2400" b="1" dirty="0">
                <a:solidFill>
                  <a:schemeClr val="accent1"/>
                </a:solidFill>
                <a:latin typeface="+mn-ea"/>
                <a:sym typeface="Wingdings" panose="05000000000000000000" pitchFamily="2" charset="2"/>
              </a:rPr>
              <a:t>，</a:t>
            </a:r>
            <a:r>
              <a:rPr lang="zh-CN" altLang="en-US" sz="2400" b="1" dirty="0">
                <a:solidFill>
                  <a:schemeClr val="accent1"/>
                </a:solidFill>
                <a:latin typeface="+mn-ea"/>
                <a:sym typeface="Wingdings" panose="05000000000000000000" pitchFamily="2" charset="2"/>
              </a:rPr>
              <a:t>对于</a:t>
            </a:r>
            <a:r>
              <a:rPr lang="en-US" altLang="zh-CN" sz="2400" b="1" dirty="0">
                <a:solidFill>
                  <a:schemeClr val="accent1"/>
                </a:solidFill>
                <a:latin typeface="+mn-ea"/>
                <a:sym typeface="Wingdings" panose="05000000000000000000" pitchFamily="2" charset="2"/>
              </a:rPr>
              <a:t>x86</a:t>
            </a:r>
            <a:r>
              <a:rPr lang="zh-CN" altLang="en-US" sz="2400" b="1" dirty="0">
                <a:solidFill>
                  <a:schemeClr val="accent1"/>
                </a:solidFill>
                <a:latin typeface="+mn-ea"/>
                <a:sym typeface="Wingdings" panose="05000000000000000000" pitchFamily="2" charset="2"/>
              </a:rPr>
              <a:t>系统，它采用</a:t>
            </a:r>
            <a:r>
              <a:rPr lang="en-US" altLang="zh-CN" sz="2400" b="1" dirty="0">
                <a:solidFill>
                  <a:schemeClr val="accent1"/>
                </a:solidFill>
                <a:latin typeface="+mn-ea"/>
                <a:sym typeface="Wingdings" panose="05000000000000000000" pitchFamily="2" charset="2"/>
              </a:rPr>
              <a:t>bp</a:t>
            </a:r>
            <a:r>
              <a:rPr lang="zh-CN" altLang="en-US" sz="2400" b="1" dirty="0">
                <a:solidFill>
                  <a:schemeClr val="accent1"/>
                </a:solidFill>
                <a:latin typeface="+mn-ea"/>
                <a:sym typeface="Wingdings" panose="05000000000000000000" pitchFamily="2" charset="2"/>
              </a:rPr>
              <a:t>或</a:t>
            </a:r>
            <a:r>
              <a:rPr lang="en-US" altLang="zh-CN" sz="2400" b="1" dirty="0" err="1">
                <a:solidFill>
                  <a:schemeClr val="accent1"/>
                </a:solidFill>
                <a:latin typeface="+mn-ea"/>
                <a:sym typeface="Wingdings" panose="05000000000000000000" pitchFamily="2" charset="2"/>
              </a:rPr>
              <a:t>ebp</a:t>
            </a:r>
            <a:r>
              <a:rPr lang="zh-CN" altLang="en-US" sz="2400" b="1" dirty="0">
                <a:solidFill>
                  <a:schemeClr val="accent1"/>
                </a:solidFill>
                <a:latin typeface="+mn-ea"/>
                <a:sym typeface="Wingdings" panose="05000000000000000000" pitchFamily="2" charset="2"/>
              </a:rPr>
              <a:t>寄存器</a:t>
            </a:r>
            <a:r>
              <a:rPr lang="zh-CN" altLang="en-US" sz="2400" b="1" dirty="0">
                <a:solidFill>
                  <a:srgbClr val="020202"/>
                </a:solidFill>
                <a:latin typeface="+mn-ea"/>
                <a:sym typeface="Wingdings" panose="05000000000000000000" pitchFamily="2" charset="2"/>
              </a:rPr>
              <a:t>存储</a:t>
            </a:r>
            <a:r>
              <a:rPr lang="zh-CN" altLang="en-US" sz="2400" b="1" dirty="0">
                <a:solidFill>
                  <a:srgbClr val="020202"/>
                </a:solidFill>
                <a:latin typeface="+mn-ea"/>
                <a:sym typeface="+mn-ea"/>
              </a:rPr>
              <a:t>当前活动记录的控制链，</a:t>
            </a:r>
            <a:r>
              <a:rPr lang="zh-CN" altLang="en-US" sz="2400" b="1" dirty="0">
                <a:solidFill>
                  <a:srgbClr val="020202"/>
                </a:solidFill>
                <a:latin typeface="+mn-ea"/>
                <a:sym typeface="+mn-ea"/>
              </a:rPr>
              <a:t>通过该指针可以</a:t>
            </a:r>
            <a:r>
              <a:rPr lang="zh-CN" altLang="en-US" sz="2400" b="1" dirty="0">
                <a:solidFill>
                  <a:srgbClr val="020202"/>
                </a:solidFill>
                <a:latin typeface="+mn-ea"/>
                <a:sym typeface="+mn-ea"/>
              </a:rPr>
              <a:t>：</a:t>
            </a:r>
            <a:endParaRPr lang="zh-CN" altLang="en-US" sz="2400" b="1" dirty="0">
              <a:solidFill>
                <a:srgbClr val="020202"/>
              </a:solidFill>
              <a:latin typeface="+mn-ea"/>
            </a:endParaRPr>
          </a:p>
          <a:p>
            <a:pPr lvl="1">
              <a:lnSpc>
                <a:spcPct val="125000"/>
              </a:lnSpc>
              <a:spcBef>
                <a:spcPct val="0"/>
              </a:spcBef>
              <a:spcAft>
                <a:spcPts val="0"/>
              </a:spcAft>
              <a:buFont typeface="Wingdings" panose="05000000000000000000" charset="0"/>
              <a:buChar char="p"/>
            </a:pPr>
            <a:r>
              <a:rPr lang="zh-CN" altLang="en-US" sz="2400" b="1" dirty="0">
                <a:solidFill>
                  <a:srgbClr val="020202"/>
                </a:solidFill>
                <a:latin typeface="+mn-ea"/>
                <a:sym typeface="+mn-ea"/>
              </a:rPr>
              <a:t>访问主调函数的活动记录；即用它来恢复主调函数的活动记录。</a:t>
            </a:r>
            <a:endParaRPr lang="en-US" altLang="zh-CN" sz="2400" b="1" dirty="0">
              <a:solidFill>
                <a:srgbClr val="020202"/>
              </a:solidFill>
              <a:latin typeface="+mn-ea"/>
            </a:endParaRPr>
          </a:p>
          <a:p>
            <a:pPr lvl="1">
              <a:lnSpc>
                <a:spcPct val="125000"/>
              </a:lnSpc>
              <a:spcBef>
                <a:spcPct val="0"/>
              </a:spcBef>
              <a:spcAft>
                <a:spcPts val="0"/>
              </a:spcAft>
              <a:buFont typeface="Wingdings" panose="05000000000000000000" charset="0"/>
              <a:buChar char="p"/>
            </a:pPr>
            <a:r>
              <a:rPr lang="zh-CN" altLang="en-US" sz="2400" b="1" dirty="0">
                <a:solidFill>
                  <a:srgbClr val="020202"/>
                </a:solidFill>
                <a:latin typeface="+mn-ea"/>
                <a:sym typeface="+mn-ea"/>
              </a:rPr>
              <a:t>访问当前函数的实参和局部变量；</a:t>
            </a:r>
            <a:endParaRPr lang="zh-CN" altLang="en-US" sz="2400" b="1" dirty="0">
              <a:solidFill>
                <a:srgbClr val="020202"/>
              </a:solidFill>
              <a:latin typeface="+mn-ea"/>
            </a:endParaRPr>
          </a:p>
          <a:p>
            <a:pPr lvl="1">
              <a:lnSpc>
                <a:spcPct val="140000"/>
              </a:lnSpc>
              <a:buFont typeface="Wingdings" panose="05000000000000000000" charset="0"/>
              <a:buChar char="p"/>
            </a:pPr>
            <a:endParaRPr lang="zh-CN" altLang="en-US" b="1" dirty="0">
              <a:solidFill>
                <a:srgbClr val="020202"/>
              </a:solidFill>
              <a:latin typeface="+mn-ea"/>
            </a:endParaRPr>
          </a:p>
        </p:txBody>
      </p:sp>
      <p:sp useBgFill="1">
        <p:nvSpPr>
          <p:cNvPr id="2" name="Rectangle 2"/>
          <p:cNvSpPr>
            <a:spLocks noChangeArrowheads="1"/>
          </p:cNvSpPr>
          <p:nvPr>
            <p:custDataLst>
              <p:tags r:id="rId1"/>
            </p:custDataLst>
          </p:nvPr>
        </p:nvSpPr>
        <p:spPr bwMode="auto">
          <a:xfrm>
            <a:off x="8928345" y="1525494"/>
            <a:ext cx="2819400" cy="4419600"/>
          </a:xfrm>
          <a:prstGeom prst="rect">
            <a:avLst/>
          </a:prstGeom>
          <a:ln w="9525">
            <a:solidFill>
              <a:schemeClr val="tx1"/>
            </a:solidFill>
            <a:miter lim="800000"/>
          </a:ln>
        </p:spPr>
        <p:txBody>
          <a:bodyPr wrap="none" anchor="ctr"/>
          <a:p>
            <a:pPr algn="ctr"/>
            <a:endParaRPr lang="zh-CN" altLang="en-US" sz="2400">
              <a:latin typeface="+mn-ea"/>
            </a:endParaRPr>
          </a:p>
        </p:txBody>
      </p:sp>
      <p:sp>
        <p:nvSpPr>
          <p:cNvPr id="11" name="Line 3"/>
          <p:cNvSpPr>
            <a:spLocks noChangeShapeType="1"/>
          </p:cNvSpPr>
          <p:nvPr>
            <p:custDataLst>
              <p:tags r:id="rId2"/>
            </p:custDataLst>
          </p:nvPr>
        </p:nvSpPr>
        <p:spPr bwMode="auto">
          <a:xfrm>
            <a:off x="8928345" y="243989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3" name="Rectangle 4"/>
          <p:cNvSpPr>
            <a:spLocks noChangeArrowheads="1"/>
          </p:cNvSpPr>
          <p:nvPr>
            <p:custDataLst>
              <p:tags r:id="rId3"/>
            </p:custDataLst>
          </p:nvPr>
        </p:nvSpPr>
        <p:spPr bwMode="auto">
          <a:xfrm>
            <a:off x="9842745" y="1525494"/>
            <a:ext cx="8382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b:2</a:t>
            </a:r>
            <a:endParaRPr lang="en-US" altLang="zh-CN" sz="2400" b="1">
              <a:solidFill>
                <a:srgbClr val="020202"/>
              </a:solidFill>
              <a:latin typeface="+mn-ea"/>
            </a:endParaRPr>
          </a:p>
          <a:p>
            <a:r>
              <a:rPr lang="en-US" altLang="zh-CN" sz="2400" b="1">
                <a:solidFill>
                  <a:srgbClr val="020202"/>
                </a:solidFill>
                <a:latin typeface="+mn-ea"/>
              </a:rPr>
              <a:t>a:1</a:t>
            </a:r>
            <a:endParaRPr lang="en-US" altLang="zh-CN" sz="2400" b="1">
              <a:solidFill>
                <a:srgbClr val="020202"/>
              </a:solidFill>
              <a:latin typeface="+mn-ea"/>
            </a:endParaRPr>
          </a:p>
        </p:txBody>
      </p:sp>
      <p:sp>
        <p:nvSpPr>
          <p:cNvPr id="14" name="Rectangle 5"/>
          <p:cNvSpPr>
            <a:spLocks noChangeArrowheads="1"/>
          </p:cNvSpPr>
          <p:nvPr>
            <p:custDataLst>
              <p:tags r:id="rId4"/>
            </p:custDataLst>
          </p:nvPr>
        </p:nvSpPr>
        <p:spPr bwMode="auto">
          <a:xfrm>
            <a:off x="8928345" y="2439894"/>
            <a:ext cx="28956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20202"/>
                </a:solidFill>
                <a:latin typeface="+mn-ea"/>
              </a:rPr>
              <a:t>该函数调用结束时的返回地址(</a:t>
            </a:r>
            <a:r>
              <a:rPr lang="en-US" altLang="zh-CN" sz="2400" b="1" dirty="0" err="1">
                <a:solidFill>
                  <a:srgbClr val="020202"/>
                </a:solidFill>
                <a:latin typeface="+mn-ea"/>
              </a:rPr>
              <a:t>cs:eip</a:t>
            </a:r>
            <a:r>
              <a:rPr lang="en-US" altLang="zh-CN" sz="2400" b="1" dirty="0">
                <a:solidFill>
                  <a:srgbClr val="020202"/>
                </a:solidFill>
                <a:latin typeface="+mn-ea"/>
              </a:rPr>
              <a:t>) 00401014</a:t>
            </a:r>
            <a:endParaRPr lang="en-US" altLang="zh-CN" sz="2400" b="1" dirty="0">
              <a:solidFill>
                <a:srgbClr val="020202"/>
              </a:solidFill>
              <a:latin typeface="+mn-ea"/>
            </a:endParaRPr>
          </a:p>
        </p:txBody>
      </p:sp>
      <p:sp>
        <p:nvSpPr>
          <p:cNvPr id="15" name="Line 6"/>
          <p:cNvSpPr>
            <a:spLocks noChangeShapeType="1"/>
          </p:cNvSpPr>
          <p:nvPr>
            <p:custDataLst>
              <p:tags r:id="rId5"/>
            </p:custDataLst>
          </p:nvPr>
        </p:nvSpPr>
        <p:spPr bwMode="auto">
          <a:xfrm>
            <a:off x="8928345" y="381149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6" name="Line 7"/>
          <p:cNvSpPr>
            <a:spLocks noChangeShapeType="1"/>
          </p:cNvSpPr>
          <p:nvPr>
            <p:custDataLst>
              <p:tags r:id="rId6"/>
            </p:custDataLst>
          </p:nvPr>
        </p:nvSpPr>
        <p:spPr bwMode="auto">
          <a:xfrm>
            <a:off x="8928345" y="503069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7" name="Rectangle 8"/>
          <p:cNvSpPr>
            <a:spLocks noChangeArrowheads="1"/>
          </p:cNvSpPr>
          <p:nvPr>
            <p:custDataLst>
              <p:tags r:id="rId7"/>
            </p:custDataLst>
          </p:nvPr>
        </p:nvSpPr>
        <p:spPr bwMode="auto">
          <a:xfrm>
            <a:off x="9080745" y="3963894"/>
            <a:ext cx="25908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20202"/>
                </a:solidFill>
                <a:latin typeface="+mn-ea"/>
              </a:rPr>
              <a:t>主调函数的控制链(</a:t>
            </a:r>
            <a:r>
              <a:rPr lang="en-US" altLang="zh-CN" sz="2400" b="1">
                <a:solidFill>
                  <a:srgbClr val="020202"/>
                </a:solidFill>
                <a:latin typeface="+mn-ea"/>
              </a:rPr>
              <a:t>main.ebp)</a:t>
            </a:r>
            <a:endParaRPr lang="en-US" altLang="zh-CN" sz="2400" b="1">
              <a:solidFill>
                <a:srgbClr val="020202"/>
              </a:solidFill>
              <a:latin typeface="+mn-ea"/>
            </a:endParaRPr>
          </a:p>
        </p:txBody>
      </p:sp>
      <p:sp>
        <p:nvSpPr>
          <p:cNvPr id="18" name="Rectangle 9"/>
          <p:cNvSpPr>
            <a:spLocks noChangeArrowheads="1"/>
          </p:cNvSpPr>
          <p:nvPr>
            <p:custDataLst>
              <p:tags r:id="rId8"/>
            </p:custDataLst>
          </p:nvPr>
        </p:nvSpPr>
        <p:spPr bwMode="auto">
          <a:xfrm>
            <a:off x="6569075" y="1350010"/>
            <a:ext cx="2320290" cy="1938020"/>
          </a:xfrm>
          <a:prstGeom prst="rect">
            <a:avLst/>
          </a:prstGeom>
          <a:solidFill>
            <a:schemeClr val="bg2"/>
          </a:solidFill>
          <a:ln>
            <a:noFill/>
          </a:ln>
        </p:spPr>
        <p:txBody>
          <a:bodyPr wrap="square">
            <a:spAutoFit/>
          </a:bodyPr>
          <a:p>
            <a:r>
              <a:rPr lang="en-US" altLang="zh-CN" sz="2400" b="1" dirty="0">
                <a:solidFill>
                  <a:srgbClr val="020202"/>
                </a:solidFill>
                <a:latin typeface="Times New Roman" panose="02020603050405020304" pitchFamily="18" charset="0"/>
                <a:cs typeface="Times New Roman" panose="02020603050405020304" pitchFamily="18" charset="0"/>
              </a:rPr>
              <a:t>void f(int </a:t>
            </a:r>
            <a:r>
              <a:rPr lang="en-US" altLang="zh-CN" sz="2400" b="1" dirty="0" err="1">
                <a:solidFill>
                  <a:srgbClr val="020202"/>
                </a:solidFill>
                <a:latin typeface="Times New Roman" panose="02020603050405020304" pitchFamily="18" charset="0"/>
                <a:cs typeface="Times New Roman" panose="02020603050405020304" pitchFamily="18" charset="0"/>
              </a:rPr>
              <a:t>a,int</a:t>
            </a:r>
            <a:r>
              <a:rPr lang="en-US" altLang="zh-CN" sz="2400" b="1" dirty="0">
                <a:solidFill>
                  <a:srgbClr val="020202"/>
                </a:solidFill>
                <a:latin typeface="Times New Roman" panose="02020603050405020304" pitchFamily="18" charset="0"/>
                <a:cs typeface="Times New Roman" panose="02020603050405020304" pitchFamily="18" charset="0"/>
              </a:rPr>
              <a:t> b)</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int c;</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c=</a:t>
            </a:r>
            <a:r>
              <a:rPr lang="en-US" altLang="zh-CN" sz="2400" b="1" dirty="0" err="1">
                <a:solidFill>
                  <a:srgbClr val="020202"/>
                </a:solidFill>
                <a:latin typeface="Times New Roman" panose="02020603050405020304" pitchFamily="18" charset="0"/>
                <a:cs typeface="Times New Roman" panose="02020603050405020304" pitchFamily="18" charset="0"/>
              </a:rPr>
              <a:t>a+b</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
        <p:nvSpPr>
          <p:cNvPr id="19" name="Rectangle 10"/>
          <p:cNvSpPr>
            <a:spLocks noChangeArrowheads="1"/>
          </p:cNvSpPr>
          <p:nvPr>
            <p:custDataLst>
              <p:tags r:id="rId9"/>
            </p:custDataLst>
          </p:nvPr>
        </p:nvSpPr>
        <p:spPr bwMode="auto">
          <a:xfrm>
            <a:off x="9690345" y="5259294"/>
            <a:ext cx="914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c:3</a:t>
            </a:r>
            <a:endParaRPr lang="zh-CN" altLang="en-US" sz="2400" b="1">
              <a:solidFill>
                <a:srgbClr val="020202"/>
              </a:solidFill>
              <a:latin typeface="+mn-ea"/>
            </a:endParaRPr>
          </a:p>
        </p:txBody>
      </p:sp>
      <p:sp>
        <p:nvSpPr>
          <p:cNvPr id="20" name="Rectangle 11"/>
          <p:cNvSpPr>
            <a:spLocks noChangeArrowheads="1"/>
          </p:cNvSpPr>
          <p:nvPr>
            <p:custDataLst>
              <p:tags r:id="rId10"/>
            </p:custDataLst>
          </p:nvPr>
        </p:nvSpPr>
        <p:spPr bwMode="auto">
          <a:xfrm>
            <a:off x="8054975" y="5441315"/>
            <a:ext cx="873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err="1">
                <a:solidFill>
                  <a:srgbClr val="0070C0"/>
                </a:solidFill>
                <a:latin typeface="+mn-ea"/>
              </a:rPr>
              <a:t>esp</a:t>
            </a:r>
            <a:endParaRPr lang="zh-CN" altLang="en-US" sz="2400" b="1" dirty="0">
              <a:solidFill>
                <a:srgbClr val="0070C0"/>
              </a:solidFill>
              <a:latin typeface="+mn-ea"/>
            </a:endParaRPr>
          </a:p>
        </p:txBody>
      </p:sp>
      <p:sp>
        <p:nvSpPr>
          <p:cNvPr id="21" name="Line 12"/>
          <p:cNvSpPr>
            <a:spLocks noChangeShapeType="1"/>
          </p:cNvSpPr>
          <p:nvPr>
            <p:custDataLst>
              <p:tags r:id="rId11"/>
            </p:custDataLst>
          </p:nvPr>
        </p:nvSpPr>
        <p:spPr bwMode="auto">
          <a:xfrm>
            <a:off x="7866380" y="5944870"/>
            <a:ext cx="985520" cy="63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2" name="Line 14"/>
          <p:cNvSpPr>
            <a:spLocks noChangeShapeType="1"/>
          </p:cNvSpPr>
          <p:nvPr>
            <p:custDataLst>
              <p:tags r:id="rId12"/>
            </p:custDataLst>
          </p:nvPr>
        </p:nvSpPr>
        <p:spPr bwMode="auto">
          <a:xfrm flipV="1">
            <a:off x="8928345" y="1068294"/>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3" name="Line 15"/>
          <p:cNvSpPr>
            <a:spLocks noChangeShapeType="1"/>
          </p:cNvSpPr>
          <p:nvPr>
            <p:custDataLst>
              <p:tags r:id="rId13"/>
            </p:custDataLst>
          </p:nvPr>
        </p:nvSpPr>
        <p:spPr bwMode="auto">
          <a:xfrm flipV="1">
            <a:off x="11747745" y="1068294"/>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4" name="Line 16"/>
          <p:cNvSpPr>
            <a:spLocks noChangeShapeType="1"/>
          </p:cNvSpPr>
          <p:nvPr>
            <p:custDataLst>
              <p:tags r:id="rId14"/>
            </p:custDataLst>
          </p:nvPr>
        </p:nvSpPr>
        <p:spPr bwMode="auto">
          <a:xfrm>
            <a:off x="8928345" y="5945094"/>
            <a:ext cx="0" cy="6096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5" name="Line 17"/>
          <p:cNvSpPr>
            <a:spLocks noChangeShapeType="1"/>
          </p:cNvSpPr>
          <p:nvPr>
            <p:custDataLst>
              <p:tags r:id="rId15"/>
            </p:custDataLst>
          </p:nvPr>
        </p:nvSpPr>
        <p:spPr bwMode="auto">
          <a:xfrm>
            <a:off x="11747745" y="5945094"/>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grpSp>
        <p:nvGrpSpPr>
          <p:cNvPr id="29" name="组合 27"/>
          <p:cNvGrpSpPr/>
          <p:nvPr/>
        </p:nvGrpSpPr>
        <p:grpSpPr bwMode="auto">
          <a:xfrm>
            <a:off x="7914628" y="4523967"/>
            <a:ext cx="1013717" cy="507365"/>
            <a:chOff x="3780701" y="4313050"/>
            <a:chExt cx="654781" cy="507038"/>
          </a:xfrm>
        </p:grpSpPr>
        <p:sp>
          <p:nvSpPr>
            <p:cNvPr id="30" name="Rectangle 13"/>
            <p:cNvSpPr>
              <a:spLocks noChangeArrowheads="1"/>
            </p:cNvSpPr>
            <p:nvPr>
              <p:custDataLst>
                <p:tags r:id="rId16"/>
              </p:custDataLst>
            </p:nvPr>
          </p:nvSpPr>
          <p:spPr bwMode="auto">
            <a:xfrm>
              <a:off x="3860438" y="4313050"/>
              <a:ext cx="575044" cy="460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err="1">
                  <a:solidFill>
                    <a:srgbClr val="0070C0"/>
                  </a:solidFill>
                  <a:latin typeface="+mn-ea"/>
                </a:rPr>
                <a:t>ebp</a:t>
              </a:r>
              <a:endParaRPr lang="zh-CN" altLang="en-US" sz="2400" b="1" dirty="0">
                <a:solidFill>
                  <a:srgbClr val="0070C0"/>
                </a:solidFill>
                <a:latin typeface="+mn-ea"/>
              </a:endParaRPr>
            </a:p>
          </p:txBody>
        </p:sp>
        <p:sp>
          <p:nvSpPr>
            <p:cNvPr id="31" name="Line 21"/>
            <p:cNvSpPr>
              <a:spLocks noChangeShapeType="1"/>
            </p:cNvSpPr>
            <p:nvPr>
              <p:custDataLst>
                <p:tags r:id="rId17"/>
              </p:custDataLst>
            </p:nvPr>
          </p:nvSpPr>
          <p:spPr bwMode="auto">
            <a:xfrm>
              <a:off x="3780701" y="4819453"/>
              <a:ext cx="605396" cy="63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Horizontal)">
                                      <p:cBhvr>
                                        <p:cTn id="7" dur="500"/>
                                        <p:tgtEl>
                                          <p:spTgt spid="7">
                                            <p:txEl>
                                              <p:pRg st="1" end="1"/>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barn(inHorizontal)">
                                      <p:cBhvr>
                                        <p:cTn id="10" dur="500"/>
                                        <p:tgtEl>
                                          <p:spTgt spid="7">
                                            <p:txEl>
                                              <p:pRg st="2" end="2"/>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barn(inHorizontal)">
                                      <p:cBhvr>
                                        <p:cTn id="13" dur="500"/>
                                        <p:tgtEl>
                                          <p:spTgt spid="7">
                                            <p:txEl>
                                              <p:pRg st="3" end="3"/>
                                            </p:txEl>
                                          </p:spTgt>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barn(inHorizontal)">
                                      <p:cBhvr>
                                        <p:cTn id="16" dur="500"/>
                                        <p:tgtEl>
                                          <p:spTgt spid="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arn(inHorizontal)">
                                      <p:cBhvr>
                                        <p:cTn id="2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1005" y="276860"/>
            <a:ext cx="7073265" cy="593090"/>
          </a:xfrm>
        </p:spPr>
        <p:txBody>
          <a:bodyPr/>
          <a:lstStyle/>
          <a:p>
            <a:r>
              <a:rPr lang="en-US" altLang="zh-CN" dirty="0"/>
              <a:t>7.2 </a:t>
            </a:r>
            <a:r>
              <a:rPr lang="zh-CN" altLang="en-US" dirty="0"/>
              <a:t>基于栈的运行时环境</a:t>
            </a:r>
            <a:endParaRPr lang="zh-CN" altLang="en-US" dirty="0"/>
          </a:p>
        </p:txBody>
      </p:sp>
      <p:sp>
        <p:nvSpPr>
          <p:cNvPr id="34" name="Rectangle 2"/>
          <p:cNvSpPr>
            <a:spLocks noChangeArrowheads="1"/>
          </p:cNvSpPr>
          <p:nvPr/>
        </p:nvSpPr>
        <p:spPr bwMode="auto">
          <a:xfrm>
            <a:off x="361950" y="1177925"/>
            <a:ext cx="110147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070C0"/>
                </a:solidFill>
                <a:latin typeface="+mn-ea"/>
              </a:rPr>
              <a:t>当一个函数被调用时</a:t>
            </a:r>
            <a:r>
              <a:rPr lang="zh-CN" altLang="en-US" sz="2400" b="1" dirty="0">
                <a:solidFill>
                  <a:schemeClr val="accent1"/>
                </a:solidFill>
                <a:latin typeface="+mn-ea"/>
              </a:rPr>
              <a:t>，</a:t>
            </a:r>
            <a:r>
              <a:rPr lang="zh-CN" altLang="en-US" sz="2400" b="1" dirty="0">
                <a:solidFill>
                  <a:srgbClr val="020202"/>
                </a:solidFill>
                <a:latin typeface="+mn-ea"/>
              </a:rPr>
              <a:t>在栈顶为该函数分配所需的数据空间(过程活动记录</a:t>
            </a:r>
            <a:r>
              <a:rPr lang="en-US" altLang="zh-CN" sz="2400" b="1" dirty="0">
                <a:solidFill>
                  <a:srgbClr val="020202"/>
                </a:solidFill>
                <a:latin typeface="+mn-ea"/>
              </a:rPr>
              <a:t>)</a:t>
            </a:r>
            <a:r>
              <a:rPr lang="zh-CN" altLang="en-US" sz="2400" b="1" dirty="0">
                <a:solidFill>
                  <a:srgbClr val="0070C0"/>
                </a:solidFill>
                <a:latin typeface="+mn-ea"/>
              </a:rPr>
              <a:t>如下：</a:t>
            </a:r>
            <a:endParaRPr lang="zh-CN" altLang="en-US" sz="2400" b="1" dirty="0">
              <a:solidFill>
                <a:srgbClr val="0070C0"/>
              </a:solidFill>
              <a:latin typeface="+mn-ea"/>
            </a:endParaRPr>
          </a:p>
        </p:txBody>
      </p:sp>
      <p:sp>
        <p:nvSpPr>
          <p:cNvPr id="35" name="Rectangle 3"/>
          <p:cNvSpPr>
            <a:spLocks noChangeArrowheads="1"/>
          </p:cNvSpPr>
          <p:nvPr/>
        </p:nvSpPr>
        <p:spPr bwMode="auto">
          <a:xfrm>
            <a:off x="420370" y="1673860"/>
            <a:ext cx="6025515" cy="47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a:t>
            </a:r>
            <a:r>
              <a:rPr lang="zh-CN" altLang="en-US" sz="2400" b="1" dirty="0">
                <a:solidFill>
                  <a:srgbClr val="0070C0"/>
                </a:solidFill>
                <a:latin typeface="+mn-ea"/>
                <a:ea typeface="+mn-ea"/>
              </a:rPr>
              <a:t>实参</a:t>
            </a:r>
            <a:r>
              <a:rPr lang="zh-CN" altLang="en-US" sz="2400" b="1" dirty="0">
                <a:solidFill>
                  <a:srgbClr val="020202"/>
                </a:solidFill>
                <a:latin typeface="+mn-ea"/>
                <a:ea typeface="+mn-ea"/>
              </a:rPr>
              <a:t>值压入该函数的</a:t>
            </a:r>
            <a:r>
              <a:rPr lang="zh-CN" altLang="en-US" sz="2400" b="1" dirty="0">
                <a:solidFill>
                  <a:srgbClr val="0070C0"/>
                </a:solidFill>
                <a:latin typeface="+mn-ea"/>
                <a:ea typeface="+mn-ea"/>
              </a:rPr>
              <a:t>新活动记录</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将被调函数执行完毕后的</a:t>
            </a:r>
            <a:r>
              <a:rPr lang="zh-CN" altLang="en-US" sz="2400" b="1" dirty="0">
                <a:solidFill>
                  <a:srgbClr val="0070C0"/>
                </a:solidFill>
                <a:latin typeface="+mn-ea"/>
                <a:ea typeface="+mn-ea"/>
              </a:rPr>
              <a:t>返回地址</a:t>
            </a:r>
            <a:r>
              <a:rPr lang="zh-CN" altLang="en-US" sz="2400" b="1" dirty="0">
                <a:solidFill>
                  <a:srgbClr val="020202"/>
                </a:solidFill>
                <a:latin typeface="+mn-ea"/>
                <a:ea typeface="+mn-ea"/>
              </a:rPr>
              <a:t>压入</a:t>
            </a:r>
            <a:r>
              <a:rPr lang="zh-CN" altLang="en-US" sz="2400" b="1" dirty="0">
                <a:solidFill>
                  <a:srgbClr val="0070C0"/>
                </a:solidFill>
                <a:latin typeface="+mn-ea"/>
                <a:ea typeface="+mn-ea"/>
              </a:rPr>
              <a:t>新活动记录</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完成到被调用的过程代码一个转移。</a:t>
            </a:r>
            <a:endParaRPr lang="en-US" altLang="zh-CN"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将主调函数</a:t>
            </a:r>
            <a:r>
              <a:rPr lang="en-US" altLang="zh-CN" sz="2400" b="1" dirty="0" err="1">
                <a:solidFill>
                  <a:srgbClr val="020202"/>
                </a:solidFill>
                <a:latin typeface="+mn-ea"/>
                <a:ea typeface="+mn-ea"/>
              </a:rPr>
              <a:t>ebp</a:t>
            </a:r>
            <a:r>
              <a:rPr lang="zh-CN" altLang="en-US" sz="2400" b="1" dirty="0">
                <a:solidFill>
                  <a:srgbClr val="020202"/>
                </a:solidFill>
                <a:latin typeface="+mn-ea"/>
                <a:ea typeface="+mn-ea"/>
              </a:rPr>
              <a:t>作为</a:t>
            </a:r>
            <a:r>
              <a:rPr lang="zh-CN" altLang="en-US" sz="2400" b="1" dirty="0">
                <a:solidFill>
                  <a:srgbClr val="0070C0"/>
                </a:solidFill>
                <a:latin typeface="+mn-ea"/>
                <a:ea typeface="+mn-ea"/>
              </a:rPr>
              <a:t>控制链压入到新的活动记录</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改变</a:t>
            </a:r>
            <a:r>
              <a:rPr lang="en-US" altLang="zh-CN" sz="2400" b="1" dirty="0" err="1">
                <a:solidFill>
                  <a:srgbClr val="020202"/>
                </a:solidFill>
                <a:latin typeface="+mn-ea"/>
                <a:ea typeface="+mn-ea"/>
              </a:rPr>
              <a:t>ebp</a:t>
            </a:r>
            <a:r>
              <a:rPr lang="zh-CN" altLang="en-US" sz="2400" b="1" dirty="0">
                <a:solidFill>
                  <a:srgbClr val="020202"/>
                </a:solidFill>
                <a:latin typeface="+mn-ea"/>
                <a:ea typeface="+mn-ea"/>
              </a:rPr>
              <a:t>以使其</a:t>
            </a:r>
            <a:r>
              <a:rPr lang="zh-CN" altLang="en-US" sz="2400" b="1" dirty="0">
                <a:solidFill>
                  <a:srgbClr val="0070C0"/>
                </a:solidFill>
                <a:latin typeface="+mn-ea"/>
                <a:ea typeface="+mn-ea"/>
              </a:rPr>
              <a:t>指向新的活动记录</a:t>
            </a:r>
            <a:r>
              <a:rPr lang="zh-CN" altLang="en-US" sz="2400" b="1" dirty="0">
                <a:solidFill>
                  <a:srgbClr val="020202"/>
                </a:solidFill>
                <a:latin typeface="+mn-ea"/>
                <a:ea typeface="+mn-ea"/>
              </a:rPr>
              <a:t>(将</a:t>
            </a:r>
            <a:r>
              <a:rPr lang="en-US" altLang="zh-CN" sz="2400" b="1" dirty="0" err="1">
                <a:solidFill>
                  <a:srgbClr val="020202"/>
                </a:solidFill>
                <a:latin typeface="+mn-ea"/>
                <a:ea typeface="+mn-ea"/>
              </a:rPr>
              <a:t>esp</a:t>
            </a:r>
            <a:r>
              <a:rPr lang="zh-CN" altLang="en-US" sz="2400" b="1" dirty="0">
                <a:solidFill>
                  <a:srgbClr val="020202"/>
                </a:solidFill>
                <a:latin typeface="+mn-ea"/>
                <a:ea typeface="+mn-ea"/>
              </a:rPr>
              <a:t>复制到</a:t>
            </a:r>
            <a:r>
              <a:rPr lang="en-US" altLang="zh-CN" sz="2400" b="1" dirty="0" err="1">
                <a:solidFill>
                  <a:srgbClr val="020202"/>
                </a:solidFill>
                <a:latin typeface="+mn-ea"/>
                <a:ea typeface="+mn-ea"/>
              </a:rPr>
              <a:t>ebp</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将该函数的</a:t>
            </a:r>
            <a:r>
              <a:rPr lang="zh-CN" altLang="en-US" sz="2400" b="1" dirty="0">
                <a:solidFill>
                  <a:srgbClr val="0070C0"/>
                </a:solidFill>
                <a:latin typeface="+mn-ea"/>
                <a:ea typeface="+mn-ea"/>
              </a:rPr>
              <a:t>局部变量</a:t>
            </a:r>
            <a:r>
              <a:rPr lang="zh-CN" altLang="en-US" sz="2400" b="1" dirty="0">
                <a:solidFill>
                  <a:srgbClr val="020202"/>
                </a:solidFill>
                <a:latin typeface="+mn-ea"/>
                <a:ea typeface="+mn-ea"/>
              </a:rPr>
              <a:t>和</a:t>
            </a:r>
            <a:r>
              <a:rPr lang="zh-CN" altLang="en-US" sz="2400" b="1" dirty="0">
                <a:solidFill>
                  <a:srgbClr val="0070C0"/>
                </a:solidFill>
                <a:latin typeface="+mn-ea"/>
                <a:ea typeface="+mn-ea"/>
              </a:rPr>
              <a:t>局部临时变量</a:t>
            </a:r>
            <a:r>
              <a:rPr lang="zh-CN" altLang="en-US" sz="2400" b="1" dirty="0">
                <a:solidFill>
                  <a:srgbClr val="020202"/>
                </a:solidFill>
                <a:latin typeface="+mn-ea"/>
                <a:ea typeface="+mn-ea"/>
              </a:rPr>
              <a:t>压入到新的活动记录中。</a:t>
            </a:r>
            <a:endParaRPr lang="zh-CN" altLang="en-US" sz="2400" b="1" dirty="0">
              <a:solidFill>
                <a:srgbClr val="020202"/>
              </a:solidFill>
              <a:latin typeface="+mn-ea"/>
              <a:ea typeface="+mn-ea"/>
            </a:endParaRPr>
          </a:p>
        </p:txBody>
      </p:sp>
      <p:sp>
        <p:nvSpPr>
          <p:cNvPr id="6" name="Rectangle 2"/>
          <p:cNvSpPr>
            <a:spLocks noChangeArrowheads="1"/>
          </p:cNvSpPr>
          <p:nvPr>
            <p:custDataLst>
              <p:tags r:id="rId1"/>
            </p:custDataLst>
          </p:nvPr>
        </p:nvSpPr>
        <p:spPr bwMode="auto">
          <a:xfrm>
            <a:off x="6445885" y="1779270"/>
            <a:ext cx="5290820" cy="304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zh-CN" altLang="en-US" sz="2400" b="1" dirty="0">
                <a:solidFill>
                  <a:schemeClr val="accent1"/>
                </a:solidFill>
                <a:latin typeface="+mn-ea"/>
              </a:rPr>
              <a:t>当被调函数执行完毕返回时，其对应的活动记录从栈中弹出的过程：</a:t>
            </a:r>
            <a:endParaRPr lang="zh-CN" altLang="en-US" sz="2400" b="1" dirty="0">
              <a:solidFill>
                <a:schemeClr val="accent1"/>
              </a:solidFill>
              <a:latin typeface="+mn-ea"/>
            </a:endParaRPr>
          </a:p>
          <a:p>
            <a:pPr>
              <a:spcBef>
                <a:spcPct val="50000"/>
              </a:spcBef>
            </a:pPr>
            <a:r>
              <a:rPr lang="zh-CN" altLang="en-US" sz="2400" b="1" dirty="0">
                <a:solidFill>
                  <a:srgbClr val="020202"/>
                </a:solidFill>
                <a:latin typeface="+mn-ea"/>
              </a:rPr>
              <a:t>① 将</a:t>
            </a:r>
            <a:r>
              <a:rPr lang="en-US" altLang="zh-CN" sz="2400" b="1" dirty="0" err="1">
                <a:solidFill>
                  <a:srgbClr val="020202"/>
                </a:solidFill>
                <a:latin typeface="+mn-ea"/>
              </a:rPr>
              <a:t>ebp</a:t>
            </a:r>
            <a:r>
              <a:rPr lang="zh-CN" altLang="en-US" sz="2400" b="1" dirty="0">
                <a:solidFill>
                  <a:srgbClr val="020202"/>
                </a:solidFill>
                <a:latin typeface="+mn-ea"/>
              </a:rPr>
              <a:t>复制到</a:t>
            </a:r>
            <a:r>
              <a:rPr lang="en-US" altLang="zh-CN" sz="2400" b="1" dirty="0" err="1">
                <a:solidFill>
                  <a:srgbClr val="020202"/>
                </a:solidFill>
                <a:latin typeface="+mn-ea"/>
              </a:rPr>
              <a:t>esp</a:t>
            </a:r>
            <a:r>
              <a:rPr lang="zh-CN" altLang="en-US" sz="2400" b="1" dirty="0">
                <a:solidFill>
                  <a:srgbClr val="020202"/>
                </a:solidFill>
                <a:latin typeface="+mn-ea"/>
              </a:rPr>
              <a:t>中。</a:t>
            </a:r>
            <a:endParaRPr lang="zh-CN" altLang="en-US" sz="2400" b="1" dirty="0">
              <a:solidFill>
                <a:srgbClr val="020202"/>
              </a:solidFill>
              <a:latin typeface="+mn-ea"/>
            </a:endParaRPr>
          </a:p>
          <a:p>
            <a:pPr>
              <a:spcBef>
                <a:spcPct val="50000"/>
              </a:spcBef>
            </a:pPr>
            <a:r>
              <a:rPr lang="zh-CN" altLang="en-US" sz="2400" b="1" dirty="0">
                <a:solidFill>
                  <a:srgbClr val="020202"/>
                </a:solidFill>
                <a:latin typeface="+mn-ea"/>
              </a:rPr>
              <a:t>② 将主调函数的控制链装载到</a:t>
            </a:r>
            <a:r>
              <a:rPr lang="en-US" altLang="zh-CN" sz="2400" b="1" dirty="0" err="1">
                <a:solidFill>
                  <a:srgbClr val="020202"/>
                </a:solidFill>
                <a:latin typeface="+mn-ea"/>
              </a:rPr>
              <a:t>ebp</a:t>
            </a:r>
            <a:r>
              <a:rPr lang="zh-CN" altLang="en-US" sz="2400" b="1" dirty="0">
                <a:solidFill>
                  <a:srgbClr val="020202"/>
                </a:solidFill>
                <a:latin typeface="+mn-ea"/>
              </a:rPr>
              <a:t>中。</a:t>
            </a:r>
            <a:endParaRPr lang="zh-CN" altLang="en-US" sz="2400" b="1" dirty="0">
              <a:solidFill>
                <a:srgbClr val="020202"/>
              </a:solidFill>
              <a:latin typeface="+mn-ea"/>
            </a:endParaRPr>
          </a:p>
          <a:p>
            <a:pPr>
              <a:spcBef>
                <a:spcPct val="50000"/>
              </a:spcBef>
            </a:pPr>
            <a:r>
              <a:rPr lang="zh-CN" altLang="en-US" sz="2400" b="1" dirty="0">
                <a:solidFill>
                  <a:srgbClr val="020202"/>
                </a:solidFill>
                <a:latin typeface="+mn-ea"/>
              </a:rPr>
              <a:t>③ 完成</a:t>
            </a:r>
            <a:r>
              <a:rPr lang="zh-CN" altLang="en-US" sz="2400" b="1" dirty="0">
                <a:solidFill>
                  <a:srgbClr val="020202"/>
                </a:solidFill>
                <a:latin typeface="+mn-ea"/>
              </a:rPr>
              <a:t>到主调函数的一个转移。</a:t>
            </a:r>
            <a:endParaRPr lang="zh-CN" altLang="en-US" sz="2400" b="1" dirty="0">
              <a:solidFill>
                <a:srgbClr val="020202"/>
              </a:solidFill>
              <a:latin typeface="+mn-ea"/>
            </a:endParaRPr>
          </a:p>
          <a:p>
            <a:pPr>
              <a:spcBef>
                <a:spcPct val="50000"/>
              </a:spcBef>
            </a:pPr>
            <a:r>
              <a:rPr lang="zh-CN" altLang="en-US" sz="2400" b="1" dirty="0">
                <a:solidFill>
                  <a:srgbClr val="020202"/>
                </a:solidFill>
                <a:latin typeface="+mn-ea"/>
              </a:rPr>
              <a:t>④ 改变</a:t>
            </a:r>
            <a:r>
              <a:rPr lang="en-US" altLang="zh-CN" sz="2400" b="1" dirty="0" err="1">
                <a:solidFill>
                  <a:srgbClr val="020202"/>
                </a:solidFill>
                <a:latin typeface="+mn-ea"/>
              </a:rPr>
              <a:t>esp</a:t>
            </a:r>
            <a:r>
              <a:rPr lang="zh-CN" altLang="en-US" sz="2400" b="1" dirty="0">
                <a:solidFill>
                  <a:srgbClr val="020202"/>
                </a:solidFill>
                <a:latin typeface="+mn-ea"/>
              </a:rPr>
              <a:t>以弹出实参。</a:t>
            </a:r>
            <a:endParaRPr lang="zh-CN" altLang="en-US" sz="2400" b="1" dirty="0">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barn(outHorizontal)">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5">
                                            <p:txEl>
                                              <p:pRg st="1" end="1"/>
                                            </p:txEl>
                                          </p:spTgt>
                                        </p:tgtEl>
                                        <p:attrNameLst>
                                          <p:attrName>style.visibility</p:attrName>
                                        </p:attrNameLst>
                                      </p:cBhvr>
                                      <p:to>
                                        <p:strVal val="visible"/>
                                      </p:to>
                                    </p:set>
                                    <p:animEffect transition="in" filter="barn(outHorizontal)">
                                      <p:cBhvr>
                                        <p:cTn id="12" dur="500"/>
                                        <p:tgtEl>
                                          <p:spTgt spid="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5">
                                            <p:txEl>
                                              <p:pRg st="2" end="2"/>
                                            </p:txEl>
                                          </p:spTgt>
                                        </p:tgtEl>
                                        <p:attrNameLst>
                                          <p:attrName>style.visibility</p:attrName>
                                        </p:attrNameLst>
                                      </p:cBhvr>
                                      <p:to>
                                        <p:strVal val="visible"/>
                                      </p:to>
                                    </p:set>
                                    <p:animEffect transition="in" filter="barn(outHorizontal)">
                                      <p:cBhvr>
                                        <p:cTn id="17" dur="500"/>
                                        <p:tgtEl>
                                          <p:spTgt spid="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5">
                                            <p:txEl>
                                              <p:pRg st="3" end="3"/>
                                            </p:txEl>
                                          </p:spTgt>
                                        </p:tgtEl>
                                        <p:attrNameLst>
                                          <p:attrName>style.visibility</p:attrName>
                                        </p:attrNameLst>
                                      </p:cBhvr>
                                      <p:to>
                                        <p:strVal val="visible"/>
                                      </p:to>
                                    </p:set>
                                    <p:animEffect transition="in" filter="barn(outHorizontal)">
                                      <p:cBhvr>
                                        <p:cTn id="22" dur="500"/>
                                        <p:tgtEl>
                                          <p:spTgt spid="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5">
                                            <p:txEl>
                                              <p:pRg st="4" end="4"/>
                                            </p:txEl>
                                          </p:spTgt>
                                        </p:tgtEl>
                                        <p:attrNameLst>
                                          <p:attrName>style.visibility</p:attrName>
                                        </p:attrNameLst>
                                      </p:cBhvr>
                                      <p:to>
                                        <p:strVal val="visible"/>
                                      </p:to>
                                    </p:set>
                                    <p:animEffect transition="in" filter="barn(outHorizontal)">
                                      <p:cBhvr>
                                        <p:cTn id="27" dur="500"/>
                                        <p:tgtEl>
                                          <p:spTgt spid="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35">
                                            <p:txEl>
                                              <p:pRg st="5" end="5"/>
                                            </p:txEl>
                                          </p:spTgt>
                                        </p:tgtEl>
                                        <p:attrNameLst>
                                          <p:attrName>style.visibility</p:attrName>
                                        </p:attrNameLst>
                                      </p:cBhvr>
                                      <p:to>
                                        <p:strVal val="visible"/>
                                      </p:to>
                                    </p:set>
                                    <p:animEffect transition="in" filter="barn(outHorizontal)">
                                      <p:cBhvr>
                                        <p:cTn id="32" dur="500"/>
                                        <p:tgtEl>
                                          <p:spTgt spid="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Effect transition="in" filter="barn(inHorizontal)">
                                      <p:cBhvr>
                                        <p:cTn id="37" dur="5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Effect transition="in" filter="barn(inHorizontal)">
                                      <p:cBhvr>
                                        <p:cTn id="42" dur="500"/>
                                        <p:tgtEl>
                                          <p:spTgt spid="6">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barn(inHorizontal)">
                                      <p:cBhvr>
                                        <p:cTn id="47" dur="500"/>
                                        <p:tgtEl>
                                          <p:spTgt spid="6">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nodeType="clickEffect">
                                  <p:stCondLst>
                                    <p:cond delay="0"/>
                                  </p:stCondLst>
                                  <p:childTnLst>
                                    <p:set>
                                      <p:cBhvr>
                                        <p:cTn id="51" dur="1" fill="hold">
                                          <p:stCondLst>
                                            <p:cond delay="0"/>
                                          </p:stCondLst>
                                        </p:cTn>
                                        <p:tgtEl>
                                          <p:spTgt spid="6">
                                            <p:txEl>
                                              <p:pRg st="4" end="4"/>
                                            </p:txEl>
                                          </p:spTgt>
                                        </p:tgtEl>
                                        <p:attrNameLst>
                                          <p:attrName>style.visibility</p:attrName>
                                        </p:attrNameLst>
                                      </p:cBhvr>
                                      <p:to>
                                        <p:strVal val="visible"/>
                                      </p:to>
                                    </p:set>
                                    <p:animEffect transition="in" filter="barn(inHorizontal)">
                                      <p:cBhvr>
                                        <p:cTn id="5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9095" y="276860"/>
            <a:ext cx="7115175" cy="593090"/>
          </a:xfrm>
        </p:spPr>
        <p:txBody>
          <a:bodyPr/>
          <a:lstStyle/>
          <a:p>
            <a:r>
              <a:rPr lang="en-US" altLang="zh-CN" dirty="0"/>
              <a:t>7.2 </a:t>
            </a:r>
            <a:r>
              <a:rPr lang="zh-CN" altLang="en-US" dirty="0"/>
              <a:t>基于栈的运行时环境</a:t>
            </a:r>
            <a:endParaRPr lang="zh-CN" altLang="en-US" dirty="0"/>
          </a:p>
        </p:txBody>
      </p:sp>
      <p:sp>
        <p:nvSpPr>
          <p:cNvPr id="5" name="Rectangle 2"/>
          <p:cNvSpPr>
            <a:spLocks noChangeArrowheads="1"/>
          </p:cNvSpPr>
          <p:nvPr/>
        </p:nvSpPr>
        <p:spPr bwMode="auto">
          <a:xfrm>
            <a:off x="297180" y="1195070"/>
            <a:ext cx="475615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20202"/>
                </a:solidFill>
                <a:latin typeface="+mn-ea"/>
              </a:rPr>
              <a:t>例：计算两个非负整数最大公约数的</a:t>
            </a:r>
            <a:r>
              <a:rPr lang="en-US" altLang="zh-CN" sz="2800" b="1" dirty="0">
                <a:solidFill>
                  <a:srgbClr val="020202"/>
                </a:solidFill>
                <a:latin typeface="+mn-ea"/>
              </a:rPr>
              <a:t>c</a:t>
            </a:r>
            <a:r>
              <a:rPr lang="zh-CN" altLang="en-US" sz="2800" b="1" dirty="0">
                <a:solidFill>
                  <a:srgbClr val="020202"/>
                </a:solidFill>
                <a:latin typeface="+mn-ea"/>
              </a:rPr>
              <a:t>代码如下：</a:t>
            </a:r>
            <a:endParaRPr lang="zh-CN" altLang="en-US" sz="2800" b="1" dirty="0">
              <a:solidFill>
                <a:srgbClr val="020202"/>
              </a:solidFill>
              <a:latin typeface="+mn-ea"/>
            </a:endParaRPr>
          </a:p>
        </p:txBody>
      </p:sp>
      <p:sp>
        <p:nvSpPr>
          <p:cNvPr id="8" name="Rectangle 3"/>
          <p:cNvSpPr>
            <a:spLocks noChangeArrowheads="1"/>
          </p:cNvSpPr>
          <p:nvPr/>
        </p:nvSpPr>
        <p:spPr bwMode="auto">
          <a:xfrm>
            <a:off x="502285" y="2473325"/>
            <a:ext cx="3879215" cy="3784600"/>
          </a:xfrm>
          <a:prstGeom prst="rect">
            <a:avLst/>
          </a:prstGeom>
          <a:solidFill>
            <a:schemeClr val="bg2"/>
          </a:solidFill>
          <a:ln>
            <a:noFill/>
          </a:ln>
        </p:spPr>
        <p:txBody>
          <a:bodyPr wrap="square">
            <a:spAutoFit/>
          </a:bodyPr>
          <a:lstStyle/>
          <a:p>
            <a:r>
              <a:rPr lang="zh-CN" altLang="en-US" sz="2400" b="1" dirty="0">
                <a:solidFill>
                  <a:srgbClr val="020202"/>
                </a:solidFill>
                <a:latin typeface="Times New Roman" panose="02020603050405020304" pitchFamily="18" charset="0"/>
                <a:cs typeface="Times New Roman" panose="02020603050405020304" pitchFamily="18" charset="0"/>
              </a:rPr>
              <a:t>#</a:t>
            </a:r>
            <a:r>
              <a:rPr lang="en-US" altLang="zh-CN" sz="2400" b="1" dirty="0">
                <a:solidFill>
                  <a:srgbClr val="020202"/>
                </a:solidFill>
                <a:latin typeface="Times New Roman" panose="02020603050405020304" pitchFamily="18" charset="0"/>
                <a:cs typeface="Times New Roman" panose="02020603050405020304" pitchFamily="18" charset="0"/>
              </a:rPr>
              <a:t>include &lt;</a:t>
            </a:r>
            <a:r>
              <a:rPr lang="en-US" altLang="zh-CN" sz="2400" b="1" dirty="0" err="1">
                <a:solidFill>
                  <a:srgbClr val="020202"/>
                </a:solidFill>
                <a:latin typeface="Times New Roman" panose="02020603050405020304" pitchFamily="18" charset="0"/>
                <a:cs typeface="Times New Roman" panose="02020603050405020304" pitchFamily="18" charset="0"/>
              </a:rPr>
              <a:t>studio.h</a:t>
            </a:r>
            <a:r>
              <a:rPr lang="en-US" altLang="zh-CN" sz="2400" b="1" dirty="0">
                <a:solidFill>
                  <a:srgbClr val="020202"/>
                </a:solidFill>
                <a:latin typeface="Times New Roman" panose="02020603050405020304" pitchFamily="18" charset="0"/>
                <a:cs typeface="Times New Roman" panose="02020603050405020304" pitchFamily="18" charset="0"/>
              </a:rPr>
              <a:t>&gt;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int </a:t>
            </a:r>
            <a:r>
              <a:rPr lang="en-US" altLang="zh-CN" sz="2400" b="1" dirty="0" err="1">
                <a:solidFill>
                  <a:srgbClr val="020202"/>
                </a:solidFill>
                <a:latin typeface="Times New Roman" panose="02020603050405020304" pitchFamily="18" charset="0"/>
                <a:cs typeface="Times New Roman" panose="02020603050405020304" pitchFamily="18" charset="0"/>
              </a:rPr>
              <a:t>x,y</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int </a:t>
            </a:r>
            <a:r>
              <a:rPr lang="en-US" altLang="zh-CN" sz="2400" b="1" dirty="0" err="1">
                <a:solidFill>
                  <a:srgbClr val="020202"/>
                </a:solidFill>
                <a:latin typeface="Times New Roman" panose="02020603050405020304" pitchFamily="18" charset="0"/>
                <a:cs typeface="Times New Roman" panose="02020603050405020304" pitchFamily="18" charset="0"/>
              </a:rPr>
              <a:t>gcd</a:t>
            </a:r>
            <a:r>
              <a:rPr lang="en-US" altLang="zh-CN" sz="2400" b="1" dirty="0">
                <a:solidFill>
                  <a:srgbClr val="020202"/>
                </a:solidFill>
                <a:latin typeface="Times New Roman" panose="02020603050405020304" pitchFamily="18" charset="0"/>
                <a:cs typeface="Times New Roman" panose="02020603050405020304" pitchFamily="18" charset="0"/>
              </a:rPr>
              <a:t>(int </a:t>
            </a:r>
            <a:r>
              <a:rPr lang="en-US" altLang="zh-CN" sz="2400" b="1" dirty="0" err="1">
                <a:solidFill>
                  <a:srgbClr val="020202"/>
                </a:solidFill>
                <a:latin typeface="Times New Roman" panose="02020603050405020304" pitchFamily="18" charset="0"/>
                <a:cs typeface="Times New Roman" panose="02020603050405020304" pitchFamily="18" charset="0"/>
              </a:rPr>
              <a:t>u,int</a:t>
            </a:r>
            <a:r>
              <a:rPr lang="en-US" altLang="zh-CN" sz="2400" b="1" dirty="0">
                <a:solidFill>
                  <a:srgbClr val="020202"/>
                </a:solidFill>
                <a:latin typeface="Times New Roman" panose="02020603050405020304" pitchFamily="18" charset="0"/>
                <a:cs typeface="Times New Roman" panose="02020603050405020304" pitchFamily="18" charset="0"/>
              </a:rPr>
              <a:t> v)</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if(v= =0)  return u;</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else  return </a:t>
            </a:r>
            <a:r>
              <a:rPr lang="en-US" altLang="zh-CN" sz="2400" b="1" dirty="0" err="1">
                <a:solidFill>
                  <a:srgbClr val="020202"/>
                </a:solidFill>
                <a:latin typeface="Times New Roman" panose="02020603050405020304" pitchFamily="18" charset="0"/>
                <a:cs typeface="Times New Roman" panose="02020603050405020304" pitchFamily="18" charset="0"/>
              </a:rPr>
              <a:t>gcd</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v,u%v</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main()</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r>
              <a:rPr lang="en-US" altLang="zh-CN" sz="2400" b="1" dirty="0" err="1">
                <a:solidFill>
                  <a:srgbClr val="020202"/>
                </a:solidFill>
                <a:latin typeface="Times New Roman" panose="02020603050405020304" pitchFamily="18" charset="0"/>
                <a:cs typeface="Times New Roman" panose="02020603050405020304" pitchFamily="18" charset="0"/>
              </a:rPr>
              <a:t>scanf</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d%d</a:t>
            </a:r>
            <a:r>
              <a:rPr lang="en-US" altLang="zh-CN" sz="2400" b="1" dirty="0">
                <a:solidFill>
                  <a:srgbClr val="020202"/>
                </a:solidFill>
                <a:latin typeface="Times New Roman" panose="02020603050405020304" pitchFamily="18" charset="0"/>
                <a:cs typeface="Times New Roman" panose="02020603050405020304" pitchFamily="18" charset="0"/>
              </a:rPr>
              <a:t>”,&amp;</a:t>
            </a:r>
            <a:r>
              <a:rPr lang="en-US" altLang="zh-CN" sz="2400" b="1" dirty="0" err="1">
                <a:solidFill>
                  <a:srgbClr val="020202"/>
                </a:solidFill>
                <a:latin typeface="Times New Roman" panose="02020603050405020304" pitchFamily="18" charset="0"/>
                <a:cs typeface="Times New Roman" panose="02020603050405020304" pitchFamily="18" charset="0"/>
              </a:rPr>
              <a:t>x,&amp;y</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(“%d\n”,</a:t>
            </a:r>
            <a:r>
              <a:rPr lang="en-US" altLang="zh-CN" sz="2400" b="1" dirty="0" err="1">
                <a:solidFill>
                  <a:srgbClr val="020202"/>
                </a:solidFill>
                <a:latin typeface="Times New Roman" panose="02020603050405020304" pitchFamily="18" charset="0"/>
                <a:cs typeface="Times New Roman" panose="02020603050405020304" pitchFamily="18" charset="0"/>
              </a:rPr>
              <a:t>gcd</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x,y</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return 0;}</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grpSp>
        <p:nvGrpSpPr>
          <p:cNvPr id="6" name="Group 2"/>
          <p:cNvGrpSpPr/>
          <p:nvPr/>
        </p:nvGrpSpPr>
        <p:grpSpPr bwMode="auto">
          <a:xfrm>
            <a:off x="6849266" y="718502"/>
            <a:ext cx="4086405" cy="919163"/>
            <a:chOff x="1248" y="0"/>
            <a:chExt cx="2494" cy="579"/>
          </a:xfrm>
        </p:grpSpPr>
        <p:grpSp>
          <p:nvGrpSpPr>
            <p:cNvPr id="7" name="Group 3"/>
            <p:cNvGrpSpPr/>
            <p:nvPr/>
          </p:nvGrpSpPr>
          <p:grpSpPr bwMode="auto">
            <a:xfrm>
              <a:off x="1248" y="195"/>
              <a:ext cx="2494" cy="384"/>
              <a:chOff x="1248" y="288"/>
              <a:chExt cx="2494" cy="384"/>
            </a:xfrm>
          </p:grpSpPr>
          <p:sp useBgFill="1">
            <p:nvSpPr>
              <p:cNvPr id="13" name="Rectangle 4"/>
              <p:cNvSpPr>
                <a:spLocks noChangeArrowheads="1"/>
              </p:cNvSpPr>
              <p:nvPr>
                <p:custDataLst>
                  <p:tags r:id="rId1"/>
                </p:custDataLst>
              </p:nvPr>
            </p:nvSpPr>
            <p:spPr bwMode="auto">
              <a:xfrm>
                <a:off x="1248" y="288"/>
                <a:ext cx="1488" cy="384"/>
              </a:xfrm>
              <a:prstGeom prst="rect">
                <a:avLst/>
              </a:prstGeom>
              <a:ln w="9525">
                <a:solidFill>
                  <a:srgbClr val="020202"/>
                </a:solidFill>
                <a:miter lim="800000"/>
              </a:ln>
            </p:spPr>
            <p:txBody>
              <a:bodyPr wrap="none" anchor="ctr"/>
              <a:p>
                <a:pPr algn="ctr"/>
                <a:r>
                  <a:rPr lang="en-US" altLang="zh-CN" b="1">
                    <a:solidFill>
                      <a:srgbClr val="020202"/>
                    </a:solidFill>
                    <a:latin typeface="+mn-ea"/>
                  </a:rPr>
                  <a:t>x:15</a:t>
                </a:r>
                <a:endParaRPr lang="en-US" altLang="zh-CN" b="1">
                  <a:solidFill>
                    <a:srgbClr val="020202"/>
                  </a:solidFill>
                  <a:latin typeface="+mn-ea"/>
                </a:endParaRPr>
              </a:p>
              <a:p>
                <a:pPr algn="ctr"/>
                <a:r>
                  <a:rPr lang="en-US" altLang="zh-CN" b="1">
                    <a:solidFill>
                      <a:srgbClr val="020202"/>
                    </a:solidFill>
                    <a:latin typeface="+mn-ea"/>
                  </a:rPr>
                  <a:t>y:10</a:t>
                </a:r>
                <a:endParaRPr lang="en-US" altLang="zh-CN" b="1">
                  <a:solidFill>
                    <a:srgbClr val="020202"/>
                  </a:solidFill>
                  <a:latin typeface="+mn-ea"/>
                </a:endParaRPr>
              </a:p>
            </p:txBody>
          </p:sp>
          <p:sp>
            <p:nvSpPr>
              <p:cNvPr id="14" name="Rectangle 5"/>
              <p:cNvSpPr>
                <a:spLocks noChangeArrowheads="1"/>
              </p:cNvSpPr>
              <p:nvPr>
                <p:custDataLst>
                  <p:tags r:id="rId2"/>
                </p:custDataLst>
              </p:nvPr>
            </p:nvSpPr>
            <p:spPr bwMode="auto">
              <a:xfrm>
                <a:off x="2736" y="336"/>
                <a:ext cx="100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全局/静态区域</a:t>
                </a:r>
                <a:endParaRPr lang="zh-CN" altLang="en-US" b="1">
                  <a:solidFill>
                    <a:srgbClr val="020202"/>
                  </a:solidFill>
                  <a:latin typeface="+mn-ea"/>
                </a:endParaRPr>
              </a:p>
            </p:txBody>
          </p:sp>
        </p:grpSp>
        <p:sp>
          <p:nvSpPr>
            <p:cNvPr id="10" name="Line 6"/>
            <p:cNvSpPr>
              <a:spLocks noChangeShapeType="1"/>
            </p:cNvSpPr>
            <p:nvPr>
              <p:custDataLst>
                <p:tags r:id="rId3"/>
              </p:custDataLst>
            </p:nvPr>
          </p:nvSpPr>
          <p:spPr bwMode="auto">
            <a:xfrm>
              <a:off x="1248" y="0"/>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1" name="Line 7"/>
            <p:cNvSpPr>
              <a:spLocks noChangeShapeType="1"/>
            </p:cNvSpPr>
            <p:nvPr>
              <p:custDataLst>
                <p:tags r:id="rId4"/>
              </p:custDataLst>
            </p:nvPr>
          </p:nvSpPr>
          <p:spPr bwMode="auto">
            <a:xfrm>
              <a:off x="2736" y="0"/>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grpSp>
      <p:grpSp>
        <p:nvGrpSpPr>
          <p:cNvPr id="15" name="Group 8"/>
          <p:cNvGrpSpPr/>
          <p:nvPr/>
        </p:nvGrpSpPr>
        <p:grpSpPr bwMode="auto">
          <a:xfrm>
            <a:off x="6849266" y="1632902"/>
            <a:ext cx="4277429" cy="600075"/>
            <a:chOff x="1248" y="669"/>
            <a:chExt cx="2613" cy="378"/>
          </a:xfrm>
        </p:grpSpPr>
        <p:sp useBgFill="1">
          <p:nvSpPr>
            <p:cNvPr id="16" name="Rectangle 9"/>
            <p:cNvSpPr>
              <a:spLocks noChangeArrowheads="1"/>
            </p:cNvSpPr>
            <p:nvPr>
              <p:custDataLst>
                <p:tags r:id="rId5"/>
              </p:custDataLst>
            </p:nvPr>
          </p:nvSpPr>
          <p:spPr bwMode="auto">
            <a:xfrm>
              <a:off x="1248" y="669"/>
              <a:ext cx="1488" cy="378"/>
            </a:xfrm>
            <a:prstGeom prst="rect">
              <a:avLst/>
            </a:prstGeom>
            <a:ln w="9525">
              <a:solidFill>
                <a:srgbClr val="020202"/>
              </a:solidFill>
              <a:miter lim="800000"/>
            </a:ln>
          </p:spPr>
          <p:txBody>
            <a:bodyPr wrap="none" anchor="ctr"/>
            <a:p>
              <a:pPr algn="ctr"/>
              <a:endParaRPr lang="en-US" altLang="zh-CN" b="1">
                <a:solidFill>
                  <a:srgbClr val="020202"/>
                </a:solidFill>
                <a:latin typeface="+mn-ea"/>
              </a:endParaRPr>
            </a:p>
          </p:txBody>
        </p:sp>
        <p:sp>
          <p:nvSpPr>
            <p:cNvPr id="17" name="Line 10"/>
            <p:cNvSpPr>
              <a:spLocks noChangeShapeType="1"/>
            </p:cNvSpPr>
            <p:nvPr>
              <p:custDataLst>
                <p:tags r:id="rId6"/>
              </p:custDataLst>
            </p:nvPr>
          </p:nvSpPr>
          <p:spPr bwMode="auto">
            <a:xfrm>
              <a:off x="1248" y="711"/>
              <a:ext cx="1488"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8" name="Rectangle 11"/>
            <p:cNvSpPr>
              <a:spLocks noChangeArrowheads="1"/>
            </p:cNvSpPr>
            <p:nvPr>
              <p:custDataLst>
                <p:tags r:id="rId7"/>
              </p:custDataLst>
            </p:nvPr>
          </p:nvSpPr>
          <p:spPr bwMode="auto">
            <a:xfrm>
              <a:off x="2736" y="753"/>
              <a:ext cx="112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main</a:t>
              </a:r>
              <a:r>
                <a:rPr lang="zh-CN" altLang="en-US" b="1">
                  <a:solidFill>
                    <a:srgbClr val="020202"/>
                  </a:solidFill>
                  <a:latin typeface="+mn-ea"/>
                </a:rPr>
                <a:t>的活动记录</a:t>
              </a:r>
              <a:endParaRPr lang="zh-CN" altLang="en-US" b="1">
                <a:solidFill>
                  <a:srgbClr val="020202"/>
                </a:solidFill>
                <a:latin typeface="+mn-ea"/>
              </a:endParaRPr>
            </a:p>
          </p:txBody>
        </p:sp>
      </p:grpSp>
      <p:grpSp>
        <p:nvGrpSpPr>
          <p:cNvPr id="19" name="Group 12"/>
          <p:cNvGrpSpPr/>
          <p:nvPr/>
        </p:nvGrpSpPr>
        <p:grpSpPr bwMode="auto">
          <a:xfrm>
            <a:off x="5172866" y="1861502"/>
            <a:ext cx="1676400" cy="381000"/>
            <a:chOff x="192" y="720"/>
            <a:chExt cx="1056" cy="240"/>
          </a:xfrm>
        </p:grpSpPr>
        <p:sp>
          <p:nvSpPr>
            <p:cNvPr id="20" name="Line 13"/>
            <p:cNvSpPr>
              <a:spLocks noChangeShapeType="1"/>
            </p:cNvSpPr>
            <p:nvPr>
              <p:custDataLst>
                <p:tags r:id="rId8"/>
              </p:custDataLst>
            </p:nvPr>
          </p:nvSpPr>
          <p:spPr bwMode="auto">
            <a:xfrm>
              <a:off x="192" y="960"/>
              <a:ext cx="105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1" name="Rectangle 14"/>
            <p:cNvSpPr>
              <a:spLocks noChangeArrowheads="1"/>
            </p:cNvSpPr>
            <p:nvPr>
              <p:custDataLst>
                <p:tags r:id="rId9"/>
              </p:custDataLst>
            </p:nvPr>
          </p:nvSpPr>
          <p:spPr bwMode="auto">
            <a:xfrm>
              <a:off x="240" y="72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dirty="0" err="1">
                  <a:solidFill>
                    <a:srgbClr val="020202"/>
                  </a:solidFill>
                  <a:latin typeface="+mn-ea"/>
                </a:rPr>
                <a:t>esp,ebp</a:t>
              </a:r>
              <a:endParaRPr lang="zh-CN" altLang="en-US" b="1" dirty="0">
                <a:solidFill>
                  <a:srgbClr val="020202"/>
                </a:solidFill>
                <a:latin typeface="+mn-ea"/>
              </a:endParaRPr>
            </a:p>
          </p:txBody>
        </p:sp>
      </p:grpSp>
      <p:grpSp>
        <p:nvGrpSpPr>
          <p:cNvPr id="22" name="Group 15"/>
          <p:cNvGrpSpPr/>
          <p:nvPr/>
        </p:nvGrpSpPr>
        <p:grpSpPr bwMode="auto">
          <a:xfrm>
            <a:off x="6849266" y="2223452"/>
            <a:ext cx="4156075" cy="1243013"/>
            <a:chOff x="1248" y="948"/>
            <a:chExt cx="2618" cy="783"/>
          </a:xfrm>
        </p:grpSpPr>
        <p:sp useBgFill="1">
          <p:nvSpPr>
            <p:cNvPr id="23" name="Rectangle 16"/>
            <p:cNvSpPr>
              <a:spLocks noChangeArrowheads="1"/>
            </p:cNvSpPr>
            <p:nvPr>
              <p:custDataLst>
                <p:tags r:id="rId10"/>
              </p:custDataLst>
            </p:nvPr>
          </p:nvSpPr>
          <p:spPr bwMode="auto">
            <a:xfrm>
              <a:off x="1248" y="948"/>
              <a:ext cx="1536" cy="783"/>
            </a:xfrm>
            <a:prstGeom prst="rect">
              <a:avLst/>
            </a:prstGeom>
            <a:ln w="9525">
              <a:solidFill>
                <a:srgbClr val="020202"/>
              </a:solidFill>
              <a:miter lim="800000"/>
            </a:ln>
          </p:spPr>
          <p:txBody>
            <a:bodyPr wrap="none" anchor="ctr"/>
            <a:p>
              <a:pPr algn="ctr"/>
              <a:r>
                <a:rPr lang="en-US" altLang="zh-CN" b="1">
                  <a:solidFill>
                    <a:srgbClr val="020202"/>
                  </a:solidFill>
                  <a:latin typeface="+mn-ea"/>
                </a:rPr>
                <a:t>v:10</a:t>
              </a:r>
              <a:endParaRPr lang="en-US" altLang="zh-CN" b="1">
                <a:solidFill>
                  <a:srgbClr val="020202"/>
                </a:solidFill>
                <a:latin typeface="+mn-ea"/>
              </a:endParaRPr>
            </a:p>
            <a:p>
              <a:pPr algn="ctr"/>
              <a:r>
                <a:rPr lang="en-US" altLang="zh-CN" b="1">
                  <a:solidFill>
                    <a:srgbClr val="020202"/>
                  </a:solidFill>
                  <a:latin typeface="+mn-ea"/>
                </a:rPr>
                <a:t>u:15</a:t>
              </a:r>
              <a:endParaRPr lang="en-US" altLang="zh-CN"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en-US" altLang="zh-CN" b="1">
                  <a:solidFill>
                    <a:srgbClr val="020202"/>
                  </a:solidFill>
                  <a:latin typeface="+mn-ea"/>
                </a:rPr>
                <a:t>main</a:t>
              </a:r>
              <a:r>
                <a:rPr lang="zh-CN" altLang="en-US" b="1">
                  <a:solidFill>
                    <a:srgbClr val="020202"/>
                  </a:solidFill>
                  <a:latin typeface="+mn-ea"/>
                </a:rPr>
                <a:t>的</a:t>
              </a:r>
              <a:r>
                <a:rPr lang="en-US" altLang="zh-CN" b="1">
                  <a:solidFill>
                    <a:srgbClr val="020202"/>
                  </a:solidFill>
                  <a:latin typeface="+mn-ea"/>
                </a:rPr>
                <a:t>ebp</a:t>
              </a:r>
              <a:endParaRPr lang="zh-CN" altLang="en-US" b="1">
                <a:solidFill>
                  <a:srgbClr val="020202"/>
                </a:solidFill>
                <a:latin typeface="+mn-ea"/>
              </a:endParaRPr>
            </a:p>
          </p:txBody>
        </p:sp>
        <p:sp>
          <p:nvSpPr>
            <p:cNvPr id="24" name="Rectangle 17"/>
            <p:cNvSpPr>
              <a:spLocks noChangeArrowheads="1"/>
            </p:cNvSpPr>
            <p:nvPr>
              <p:custDataLst>
                <p:tags r:id="rId11"/>
              </p:custDataLst>
            </p:nvPr>
          </p:nvSpPr>
          <p:spPr bwMode="auto">
            <a:xfrm>
              <a:off x="2790" y="1149"/>
              <a:ext cx="107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第一次调用</a:t>
              </a:r>
              <a:r>
                <a:rPr lang="en-US" altLang="zh-CN" b="1" dirty="0" err="1">
                  <a:solidFill>
                    <a:srgbClr val="020202"/>
                  </a:solidFill>
                  <a:latin typeface="+mn-ea"/>
                </a:rPr>
                <a:t>gcd</a:t>
              </a:r>
              <a:endParaRPr lang="en-US" altLang="zh-CN" b="1" dirty="0">
                <a:solidFill>
                  <a:srgbClr val="020202"/>
                </a:solidFill>
                <a:latin typeface="+mn-ea"/>
              </a:endParaRPr>
            </a:p>
            <a:p>
              <a:r>
                <a:rPr lang="zh-CN" altLang="en-US" b="1" dirty="0">
                  <a:solidFill>
                    <a:srgbClr val="020202"/>
                  </a:solidFill>
                  <a:latin typeface="+mn-ea"/>
                </a:rPr>
                <a:t>时的活动记录</a:t>
              </a:r>
              <a:endParaRPr lang="zh-CN" altLang="en-US" b="1" dirty="0">
                <a:solidFill>
                  <a:srgbClr val="020202"/>
                </a:solidFill>
                <a:latin typeface="+mn-ea"/>
              </a:endParaRPr>
            </a:p>
          </p:txBody>
        </p:sp>
      </p:grpSp>
      <p:grpSp>
        <p:nvGrpSpPr>
          <p:cNvPr id="25" name="Group 18"/>
          <p:cNvGrpSpPr/>
          <p:nvPr/>
        </p:nvGrpSpPr>
        <p:grpSpPr bwMode="auto">
          <a:xfrm>
            <a:off x="5096666" y="3004502"/>
            <a:ext cx="1743075" cy="457200"/>
            <a:chOff x="144" y="1440"/>
            <a:chExt cx="1098" cy="288"/>
          </a:xfrm>
        </p:grpSpPr>
        <p:sp>
          <p:nvSpPr>
            <p:cNvPr id="26" name="Line 19"/>
            <p:cNvSpPr>
              <a:spLocks noChangeShapeType="1"/>
            </p:cNvSpPr>
            <p:nvPr>
              <p:custDataLst>
                <p:tags r:id="rId12"/>
              </p:custDataLst>
            </p:nvPr>
          </p:nvSpPr>
          <p:spPr bwMode="auto">
            <a:xfrm flipV="1">
              <a:off x="144" y="1721"/>
              <a:ext cx="1098" cy="7"/>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7" name="Rectangle 20"/>
            <p:cNvSpPr>
              <a:spLocks noChangeArrowheads="1"/>
            </p:cNvSpPr>
            <p:nvPr>
              <p:custDataLst>
                <p:tags r:id="rId13"/>
              </p:custDataLst>
            </p:nvPr>
          </p:nvSpPr>
          <p:spPr bwMode="auto">
            <a:xfrm>
              <a:off x="192" y="144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28" name="Group 21"/>
          <p:cNvGrpSpPr/>
          <p:nvPr/>
        </p:nvGrpSpPr>
        <p:grpSpPr bwMode="auto">
          <a:xfrm>
            <a:off x="6849266" y="3466465"/>
            <a:ext cx="4148138" cy="1243012"/>
            <a:chOff x="1248" y="1731"/>
            <a:chExt cx="2613" cy="783"/>
          </a:xfrm>
        </p:grpSpPr>
        <p:sp>
          <p:nvSpPr>
            <p:cNvPr id="29" name="Rectangle 22"/>
            <p:cNvSpPr>
              <a:spLocks noChangeArrowheads="1"/>
            </p:cNvSpPr>
            <p:nvPr>
              <p:custDataLst>
                <p:tags r:id="rId14"/>
              </p:custDataLst>
            </p:nvPr>
          </p:nvSpPr>
          <p:spPr bwMode="auto">
            <a:xfrm>
              <a:off x="2785" y="1891"/>
              <a:ext cx="107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第二次调用</a:t>
              </a:r>
              <a:r>
                <a:rPr lang="en-US" altLang="zh-CN" b="1" dirty="0" err="1">
                  <a:solidFill>
                    <a:srgbClr val="020202"/>
                  </a:solidFill>
                  <a:latin typeface="+mn-ea"/>
                </a:rPr>
                <a:t>gcd</a:t>
              </a:r>
              <a:endParaRPr lang="en-US" altLang="zh-CN" b="1" dirty="0">
                <a:solidFill>
                  <a:srgbClr val="020202"/>
                </a:solidFill>
                <a:latin typeface="+mn-ea"/>
              </a:endParaRPr>
            </a:p>
            <a:p>
              <a:r>
                <a:rPr lang="zh-CN" altLang="en-US" b="1" dirty="0">
                  <a:solidFill>
                    <a:srgbClr val="020202"/>
                  </a:solidFill>
                  <a:latin typeface="+mn-ea"/>
                </a:rPr>
                <a:t>时的活动记录</a:t>
              </a:r>
              <a:endParaRPr lang="zh-CN" altLang="en-US" b="1" dirty="0">
                <a:solidFill>
                  <a:srgbClr val="020202"/>
                </a:solidFill>
                <a:latin typeface="+mn-ea"/>
              </a:endParaRPr>
            </a:p>
          </p:txBody>
        </p:sp>
        <p:sp useBgFill="1">
          <p:nvSpPr>
            <p:cNvPr id="30" name="Rectangle 23"/>
            <p:cNvSpPr>
              <a:spLocks noChangeArrowheads="1"/>
            </p:cNvSpPr>
            <p:nvPr>
              <p:custDataLst>
                <p:tags r:id="rId15"/>
              </p:custDataLst>
            </p:nvPr>
          </p:nvSpPr>
          <p:spPr bwMode="auto">
            <a:xfrm>
              <a:off x="1248" y="1731"/>
              <a:ext cx="1536" cy="783"/>
            </a:xfrm>
            <a:prstGeom prst="rect">
              <a:avLst/>
            </a:prstGeom>
            <a:ln w="9525">
              <a:solidFill>
                <a:srgbClr val="020202"/>
              </a:solidFill>
              <a:miter lim="800000"/>
            </a:ln>
          </p:spPr>
          <p:txBody>
            <a:bodyPr wrap="none" anchor="ctr"/>
            <a:p>
              <a:pPr algn="ctr"/>
              <a:r>
                <a:rPr lang="en-US" altLang="zh-CN" b="1" dirty="0">
                  <a:solidFill>
                    <a:srgbClr val="020202"/>
                  </a:solidFill>
                  <a:latin typeface="+mn-ea"/>
                </a:rPr>
                <a:t>v:5</a:t>
              </a:r>
              <a:endParaRPr lang="en-US" altLang="zh-CN" b="1" dirty="0">
                <a:solidFill>
                  <a:srgbClr val="020202"/>
                </a:solidFill>
                <a:latin typeface="+mn-ea"/>
              </a:endParaRPr>
            </a:p>
            <a:p>
              <a:pPr algn="ctr"/>
              <a:r>
                <a:rPr lang="en-US" altLang="zh-CN" b="1" dirty="0">
                  <a:solidFill>
                    <a:srgbClr val="020202"/>
                  </a:solidFill>
                  <a:latin typeface="+mn-ea"/>
                </a:rPr>
                <a:t>u:10</a:t>
              </a:r>
              <a:endParaRPr lang="en-US" altLang="zh-CN" b="1" dirty="0">
                <a:solidFill>
                  <a:srgbClr val="020202"/>
                </a:solidFill>
                <a:latin typeface="+mn-ea"/>
              </a:endParaRPr>
            </a:p>
            <a:p>
              <a:pPr algn="ctr"/>
              <a:r>
                <a:rPr lang="zh-CN" altLang="en-US" b="1" dirty="0">
                  <a:solidFill>
                    <a:srgbClr val="020202"/>
                  </a:solidFill>
                  <a:latin typeface="+mn-ea"/>
                </a:rPr>
                <a:t>返回地址</a:t>
              </a:r>
              <a:endParaRPr lang="zh-CN" altLang="en-US" b="1" dirty="0">
                <a:solidFill>
                  <a:srgbClr val="020202"/>
                </a:solidFill>
                <a:latin typeface="+mn-ea"/>
              </a:endParaRPr>
            </a:p>
            <a:p>
              <a:pPr algn="ctr"/>
              <a:r>
                <a:rPr lang="zh-CN" altLang="en-US" b="1" dirty="0">
                  <a:solidFill>
                    <a:srgbClr val="020202"/>
                  </a:solidFill>
                  <a:latin typeface="+mn-ea"/>
                </a:rPr>
                <a:t>第一次调用</a:t>
              </a:r>
              <a:r>
                <a:rPr lang="en-US" altLang="zh-CN" b="1" dirty="0" err="1">
                  <a:solidFill>
                    <a:srgbClr val="020202"/>
                  </a:solidFill>
                  <a:latin typeface="+mn-ea"/>
                </a:rPr>
                <a:t>gcd</a:t>
              </a:r>
              <a:r>
                <a:rPr lang="zh-CN" altLang="en-US" b="1" dirty="0">
                  <a:solidFill>
                    <a:srgbClr val="020202"/>
                  </a:solidFill>
                  <a:latin typeface="+mn-ea"/>
                </a:rPr>
                <a:t>时的</a:t>
              </a:r>
              <a:r>
                <a:rPr lang="en-US" altLang="zh-CN" b="1" dirty="0" err="1">
                  <a:solidFill>
                    <a:srgbClr val="020202"/>
                  </a:solidFill>
                  <a:latin typeface="+mn-ea"/>
                </a:rPr>
                <a:t>ebp</a:t>
              </a:r>
              <a:endParaRPr lang="en-US" altLang="zh-CN" b="1" dirty="0">
                <a:solidFill>
                  <a:srgbClr val="020202"/>
                </a:solidFill>
                <a:latin typeface="+mn-ea"/>
              </a:endParaRPr>
            </a:p>
          </p:txBody>
        </p:sp>
      </p:grpSp>
      <p:grpSp>
        <p:nvGrpSpPr>
          <p:cNvPr id="31" name="Group 24"/>
          <p:cNvGrpSpPr/>
          <p:nvPr/>
        </p:nvGrpSpPr>
        <p:grpSpPr bwMode="auto">
          <a:xfrm>
            <a:off x="6849266" y="4685665"/>
            <a:ext cx="4156075" cy="1243012"/>
            <a:chOff x="1248" y="2499"/>
            <a:chExt cx="2618" cy="783"/>
          </a:xfrm>
        </p:grpSpPr>
        <p:sp>
          <p:nvSpPr>
            <p:cNvPr id="32" name="Rectangle 25"/>
            <p:cNvSpPr>
              <a:spLocks noChangeArrowheads="1"/>
            </p:cNvSpPr>
            <p:nvPr>
              <p:custDataLst>
                <p:tags r:id="rId16"/>
              </p:custDataLst>
            </p:nvPr>
          </p:nvSpPr>
          <p:spPr bwMode="auto">
            <a:xfrm>
              <a:off x="2790" y="2724"/>
              <a:ext cx="107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第三次调用</a:t>
              </a:r>
              <a:r>
                <a:rPr lang="en-US" altLang="zh-CN" b="1" dirty="0" err="1">
                  <a:solidFill>
                    <a:srgbClr val="020202"/>
                  </a:solidFill>
                  <a:latin typeface="+mn-ea"/>
                </a:rPr>
                <a:t>gcd</a:t>
              </a:r>
              <a:endParaRPr lang="en-US" altLang="zh-CN" b="1" dirty="0">
                <a:solidFill>
                  <a:srgbClr val="020202"/>
                </a:solidFill>
                <a:latin typeface="+mn-ea"/>
              </a:endParaRPr>
            </a:p>
            <a:p>
              <a:r>
                <a:rPr lang="zh-CN" altLang="en-US" b="1" dirty="0">
                  <a:solidFill>
                    <a:srgbClr val="020202"/>
                  </a:solidFill>
                  <a:latin typeface="+mn-ea"/>
                </a:rPr>
                <a:t>时的活动记录</a:t>
              </a:r>
              <a:endParaRPr lang="zh-CN" altLang="en-US" b="1" dirty="0">
                <a:solidFill>
                  <a:srgbClr val="020202"/>
                </a:solidFill>
                <a:latin typeface="+mn-ea"/>
              </a:endParaRPr>
            </a:p>
          </p:txBody>
        </p:sp>
        <p:sp useBgFill="1">
          <p:nvSpPr>
            <p:cNvPr id="33" name="Rectangle 26"/>
            <p:cNvSpPr>
              <a:spLocks noChangeArrowheads="1"/>
            </p:cNvSpPr>
            <p:nvPr>
              <p:custDataLst>
                <p:tags r:id="rId17"/>
              </p:custDataLst>
            </p:nvPr>
          </p:nvSpPr>
          <p:spPr bwMode="auto">
            <a:xfrm>
              <a:off x="1248" y="2499"/>
              <a:ext cx="1536" cy="783"/>
            </a:xfrm>
            <a:prstGeom prst="rect">
              <a:avLst/>
            </a:prstGeom>
            <a:ln w="9525">
              <a:solidFill>
                <a:srgbClr val="020202"/>
              </a:solidFill>
              <a:miter lim="800000"/>
            </a:ln>
          </p:spPr>
          <p:txBody>
            <a:bodyPr wrap="none" anchor="ctr"/>
            <a:p>
              <a:pPr algn="ctr"/>
              <a:r>
                <a:rPr lang="en-US" altLang="zh-CN" b="1">
                  <a:solidFill>
                    <a:srgbClr val="020202"/>
                  </a:solidFill>
                  <a:latin typeface="+mn-ea"/>
                </a:rPr>
                <a:t>v:0</a:t>
              </a:r>
              <a:endParaRPr lang="en-US" altLang="zh-CN" b="1">
                <a:solidFill>
                  <a:srgbClr val="020202"/>
                </a:solidFill>
                <a:latin typeface="+mn-ea"/>
              </a:endParaRPr>
            </a:p>
            <a:p>
              <a:pPr algn="ctr"/>
              <a:r>
                <a:rPr lang="en-US" altLang="zh-CN" b="1">
                  <a:solidFill>
                    <a:srgbClr val="020202"/>
                  </a:solidFill>
                  <a:latin typeface="+mn-ea"/>
                </a:rPr>
                <a:t>u:5</a:t>
              </a:r>
              <a:endParaRPr lang="en-US" altLang="zh-CN"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zh-CN" altLang="en-US" b="1">
                  <a:solidFill>
                    <a:srgbClr val="020202"/>
                  </a:solidFill>
                  <a:latin typeface="+mn-ea"/>
                </a:rPr>
                <a:t>第二次调用</a:t>
              </a:r>
              <a:r>
                <a:rPr lang="en-US" altLang="zh-CN" b="1">
                  <a:solidFill>
                    <a:srgbClr val="020202"/>
                  </a:solidFill>
                  <a:latin typeface="+mn-ea"/>
                </a:rPr>
                <a:t>gcd</a:t>
              </a:r>
              <a:r>
                <a:rPr lang="zh-CN" altLang="en-US" b="1">
                  <a:solidFill>
                    <a:srgbClr val="020202"/>
                  </a:solidFill>
                  <a:latin typeface="+mn-ea"/>
                </a:rPr>
                <a:t>时的</a:t>
              </a:r>
              <a:r>
                <a:rPr lang="en-US" altLang="zh-CN" b="1">
                  <a:solidFill>
                    <a:srgbClr val="020202"/>
                  </a:solidFill>
                  <a:latin typeface="+mn-ea"/>
                </a:rPr>
                <a:t>ebp</a:t>
              </a:r>
              <a:endParaRPr lang="zh-CN" altLang="en-US" b="1">
                <a:solidFill>
                  <a:srgbClr val="020202"/>
                </a:solidFill>
                <a:latin typeface="+mn-ea"/>
              </a:endParaRPr>
            </a:p>
          </p:txBody>
        </p:sp>
      </p:grpSp>
      <p:grpSp>
        <p:nvGrpSpPr>
          <p:cNvPr id="34" name="Group 27"/>
          <p:cNvGrpSpPr/>
          <p:nvPr/>
        </p:nvGrpSpPr>
        <p:grpSpPr bwMode="auto">
          <a:xfrm>
            <a:off x="5096666" y="5442902"/>
            <a:ext cx="1751013" cy="476250"/>
            <a:chOff x="144" y="2976"/>
            <a:chExt cx="1103" cy="300"/>
          </a:xfrm>
        </p:grpSpPr>
        <p:sp>
          <p:nvSpPr>
            <p:cNvPr id="35" name="Line 28"/>
            <p:cNvSpPr>
              <a:spLocks noChangeShapeType="1"/>
            </p:cNvSpPr>
            <p:nvPr>
              <p:custDataLst>
                <p:tags r:id="rId18"/>
              </p:custDataLst>
            </p:nvPr>
          </p:nvSpPr>
          <p:spPr bwMode="auto">
            <a:xfrm>
              <a:off x="144" y="3264"/>
              <a:ext cx="1103" cy="12"/>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6" name="Rectangle 29"/>
            <p:cNvSpPr>
              <a:spLocks noChangeArrowheads="1"/>
            </p:cNvSpPr>
            <p:nvPr>
              <p:custDataLst>
                <p:tags r:id="rId19"/>
              </p:custDataLst>
            </p:nvPr>
          </p:nvSpPr>
          <p:spPr bwMode="auto">
            <a:xfrm>
              <a:off x="192" y="2976"/>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37" name="Group 30"/>
          <p:cNvGrpSpPr/>
          <p:nvPr/>
        </p:nvGrpSpPr>
        <p:grpSpPr bwMode="auto">
          <a:xfrm>
            <a:off x="5096666" y="4223706"/>
            <a:ext cx="1743075" cy="468313"/>
            <a:chOff x="144" y="2208"/>
            <a:chExt cx="1098" cy="295"/>
          </a:xfrm>
        </p:grpSpPr>
        <p:sp>
          <p:nvSpPr>
            <p:cNvPr id="38" name="Line 31"/>
            <p:cNvSpPr>
              <a:spLocks noChangeShapeType="1"/>
            </p:cNvSpPr>
            <p:nvPr>
              <p:custDataLst>
                <p:tags r:id="rId20"/>
              </p:custDataLst>
            </p:nvPr>
          </p:nvSpPr>
          <p:spPr bwMode="auto">
            <a:xfrm>
              <a:off x="144" y="2496"/>
              <a:ext cx="1098" cy="7"/>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9" name="Rectangle 32"/>
            <p:cNvSpPr>
              <a:spLocks noChangeArrowheads="1"/>
            </p:cNvSpPr>
            <p:nvPr>
              <p:custDataLst>
                <p:tags r:id="rId21"/>
              </p:custDataLst>
            </p:nvPr>
          </p:nvSpPr>
          <p:spPr bwMode="auto">
            <a:xfrm>
              <a:off x="192" y="2208"/>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40" name="Group 33"/>
          <p:cNvGrpSpPr/>
          <p:nvPr/>
        </p:nvGrpSpPr>
        <p:grpSpPr bwMode="auto">
          <a:xfrm>
            <a:off x="6849266" y="5900103"/>
            <a:ext cx="3960345" cy="685800"/>
            <a:chOff x="1248" y="3357"/>
            <a:chExt cx="2432" cy="432"/>
          </a:xfrm>
        </p:grpSpPr>
        <p:sp>
          <p:nvSpPr>
            <p:cNvPr id="41" name="Rectangle 34"/>
            <p:cNvSpPr>
              <a:spLocks noChangeArrowheads="1"/>
            </p:cNvSpPr>
            <p:nvPr>
              <p:custDataLst>
                <p:tags r:id="rId22"/>
              </p:custDataLst>
            </p:nvPr>
          </p:nvSpPr>
          <p:spPr bwMode="auto">
            <a:xfrm>
              <a:off x="2866" y="3442"/>
              <a:ext cx="814"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栈生长方向</a:t>
              </a:r>
              <a:endParaRPr lang="zh-CN" altLang="en-US" b="1" dirty="0">
                <a:solidFill>
                  <a:srgbClr val="020202"/>
                </a:solidFill>
                <a:latin typeface="+mn-ea"/>
              </a:endParaRPr>
            </a:p>
          </p:txBody>
        </p:sp>
        <p:sp>
          <p:nvSpPr>
            <p:cNvPr id="42" name="Line 35"/>
            <p:cNvSpPr>
              <a:spLocks noChangeShapeType="1"/>
            </p:cNvSpPr>
            <p:nvPr>
              <p:custDataLst>
                <p:tags r:id="rId23"/>
              </p:custDataLst>
            </p:nvPr>
          </p:nvSpPr>
          <p:spPr bwMode="auto">
            <a:xfrm>
              <a:off x="2751" y="3357"/>
              <a:ext cx="0" cy="432"/>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3" name="Rectangle 36"/>
            <p:cNvSpPr>
              <a:spLocks noChangeArrowheads="1"/>
            </p:cNvSpPr>
            <p:nvPr>
              <p:custDataLst>
                <p:tags r:id="rId24"/>
              </p:custDataLst>
            </p:nvPr>
          </p:nvSpPr>
          <p:spPr bwMode="auto">
            <a:xfrm>
              <a:off x="1728" y="3408"/>
              <a:ext cx="674"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自由空间</a:t>
              </a:r>
              <a:endParaRPr lang="zh-CN" altLang="en-US" b="1">
                <a:solidFill>
                  <a:srgbClr val="020202"/>
                </a:solidFill>
                <a:latin typeface="+mn-ea"/>
              </a:endParaRPr>
            </a:p>
          </p:txBody>
        </p:sp>
        <p:sp>
          <p:nvSpPr>
            <p:cNvPr id="44" name="Line 37"/>
            <p:cNvSpPr>
              <a:spLocks noChangeShapeType="1"/>
            </p:cNvSpPr>
            <p:nvPr>
              <p:custDataLst>
                <p:tags r:id="rId25"/>
              </p:custDataLst>
            </p:nvPr>
          </p:nvSpPr>
          <p:spPr bwMode="auto">
            <a:xfrm>
              <a:off x="2832" y="3393"/>
              <a:ext cx="0" cy="336"/>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5" name="Line 38"/>
            <p:cNvSpPr>
              <a:spLocks noChangeShapeType="1"/>
            </p:cNvSpPr>
            <p:nvPr>
              <p:custDataLst>
                <p:tags r:id="rId26"/>
              </p:custDataLst>
            </p:nvPr>
          </p:nvSpPr>
          <p:spPr bwMode="auto">
            <a:xfrm>
              <a:off x="1248" y="3360"/>
              <a:ext cx="0" cy="384"/>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barn(inHorizontal)">
                                      <p:cBhvr>
                                        <p:cTn id="7" dur="500"/>
                                        <p:tgtEl>
                                          <p:spTgt spid="8">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8">
                                            <p:txEl>
                                              <p:pRg st="7" end="7"/>
                                            </p:txEl>
                                          </p:spTgt>
                                        </p:tgtEl>
                                        <p:attrNameLst>
                                          <p:attrName>style.visibility</p:attrName>
                                        </p:attrNameLst>
                                      </p:cBhvr>
                                      <p:to>
                                        <p:strVal val="visible"/>
                                      </p:to>
                                    </p:set>
                                    <p:animEffect transition="in" filter="barn(inHorizontal)">
                                      <p:cBhvr>
                                        <p:cTn id="12" dur="500"/>
                                        <p:tgtEl>
                                          <p:spTgt spid="8">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8">
                                            <p:txEl>
                                              <p:pRg st="8" end="8"/>
                                            </p:txEl>
                                          </p:spTgt>
                                        </p:tgtEl>
                                        <p:attrNameLst>
                                          <p:attrName>style.visibility</p:attrName>
                                        </p:attrNameLst>
                                      </p:cBhvr>
                                      <p:to>
                                        <p:strVal val="visible"/>
                                      </p:to>
                                    </p:set>
                                    <p:animEffect transition="in" filter="barn(inHorizontal)">
                                      <p:cBhvr>
                                        <p:cTn id="17" dur="500"/>
                                        <p:tgtEl>
                                          <p:spTgt spid="8">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8">
                                            <p:txEl>
                                              <p:pRg st="9" end="9"/>
                                            </p:txEl>
                                          </p:spTgt>
                                        </p:tgtEl>
                                        <p:attrNameLst>
                                          <p:attrName>style.visibility</p:attrName>
                                        </p:attrNameLst>
                                      </p:cBhvr>
                                      <p:to>
                                        <p:strVal val="visible"/>
                                      </p:to>
                                    </p:set>
                                    <p:animEffect transition="in" filter="barn(inHorizontal)">
                                      <p:cBhvr>
                                        <p:cTn id="22" dur="500"/>
                                        <p:tgtEl>
                                          <p:spTgt spid="8">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out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outHorizontal)">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arn(outHorizontal)">
                                      <p:cBhvr>
                                        <p:cTn id="37"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arn(outHorizontal)">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arn(outHorizontal)">
                                      <p:cBhvr>
                                        <p:cTn id="47"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barn(outHorizontal)">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barn(outHorizontal)">
                                      <p:cBhvr>
                                        <p:cTn id="57" dur="500"/>
                                        <p:tgtEl>
                                          <p:spTgt spid="37"/>
                                        </p:tgtEl>
                                      </p:cBhvr>
                                    </p:animEffec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58" fill="hold">
                      <p:stCondLst>
                        <p:cond delay="indefinite"/>
                      </p:stCondLst>
                      <p:childTnLst>
                        <p:par>
                          <p:cTn id="59" fill="hold">
                            <p:stCondLst>
                              <p:cond delay="0"/>
                            </p:stCondLst>
                            <p:childTnLst>
                              <p:par>
                                <p:cTn id="60" presetID="16" presetClass="entr" presetSubtype="42"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barn(outHorizontal)">
                                      <p:cBhvr>
                                        <p:cTn id="62" dur="5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barn(outHorizontal)">
                                      <p:cBhvr>
                                        <p:cTn id="67" dur="5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42" fill="hold" nodeType="click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barn(outHorizontal)">
                                      <p:cBhvr>
                                        <p:cTn id="7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8460" y="276860"/>
            <a:ext cx="7115810" cy="593090"/>
          </a:xfrm>
        </p:spPr>
        <p:txBody>
          <a:bodyPr/>
          <a:lstStyle/>
          <a:p>
            <a:r>
              <a:rPr lang="en-US" altLang="zh-CN" dirty="0"/>
              <a:t>7.2 </a:t>
            </a:r>
            <a:r>
              <a:rPr lang="zh-CN" altLang="en-US" dirty="0"/>
              <a:t>基于栈的运行时环境</a:t>
            </a:r>
            <a:endParaRPr lang="zh-CN" altLang="en-US" dirty="0"/>
          </a:p>
        </p:txBody>
      </p:sp>
      <p:sp>
        <p:nvSpPr>
          <p:cNvPr id="47" name="Rectangle 2"/>
          <p:cNvSpPr>
            <a:spLocks noChangeArrowheads="1"/>
          </p:cNvSpPr>
          <p:nvPr/>
        </p:nvSpPr>
        <p:spPr bwMode="auto">
          <a:xfrm>
            <a:off x="465455" y="1162685"/>
            <a:ext cx="5130165"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spcBef>
                <a:spcPts val="0"/>
              </a:spcBef>
              <a:spcAft>
                <a:spcPts val="0"/>
              </a:spcAft>
            </a:pPr>
            <a:r>
              <a:rPr lang="zh-CN" altLang="en-US" sz="2800" b="1" dirty="0">
                <a:solidFill>
                  <a:srgbClr val="020202"/>
                </a:solidFill>
                <a:latin typeface="+mn-ea"/>
              </a:rPr>
              <a:t>例：考虑下列程序清单的</a:t>
            </a:r>
            <a:r>
              <a:rPr lang="en-US" altLang="zh-CN" sz="2800" b="1" dirty="0">
                <a:solidFill>
                  <a:srgbClr val="020202"/>
                </a:solidFill>
                <a:latin typeface="+mn-ea"/>
              </a:rPr>
              <a:t>c</a:t>
            </a:r>
            <a:r>
              <a:rPr lang="zh-CN" altLang="en-US" sz="2800" b="1" dirty="0">
                <a:solidFill>
                  <a:srgbClr val="020202"/>
                </a:solidFill>
                <a:latin typeface="+mn-ea"/>
              </a:rPr>
              <a:t>代码。</a:t>
            </a:r>
            <a:endParaRPr lang="en-US" altLang="zh-CN" sz="2800" b="1" dirty="0">
              <a:solidFill>
                <a:srgbClr val="020202"/>
              </a:solidFill>
              <a:latin typeface="+mn-ea"/>
            </a:endParaRPr>
          </a:p>
          <a:p>
            <a:pPr>
              <a:lnSpc>
                <a:spcPct val="80000"/>
              </a:lnSpc>
            </a:pPr>
            <a:endParaRPr lang="zh-CN" altLang="en-US" sz="1400" b="1" dirty="0">
              <a:solidFill>
                <a:srgbClr val="020202"/>
              </a:solidFill>
              <a:latin typeface="+mn-ea"/>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int x=2;</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void g(int);</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void f(int n)</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{static int x=1;</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g(n);</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x- -;</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void g(int m)</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{int y=m-1;</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if (y&gt;0)</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{f(y);</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x- -;</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g(y);</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a:t>
            </a:r>
            <a:endParaRPr lang="en-US" altLang="zh-CN" sz="2400" b="1" dirty="0">
              <a:solidFill>
                <a:srgbClr val="020202"/>
              </a:solidFill>
              <a:latin typeface="Courier New" panose="02070309020205020404" pitchFamily="49" charset="0"/>
              <a:cs typeface="Courier New" panose="02070309020205020404" pitchFamily="49" charset="0"/>
            </a:endParaRPr>
          </a:p>
        </p:txBody>
      </p:sp>
      <p:sp>
        <p:nvSpPr>
          <p:cNvPr id="48" name="Rectangle 3"/>
          <p:cNvSpPr>
            <a:spLocks noChangeArrowheads="1"/>
          </p:cNvSpPr>
          <p:nvPr/>
        </p:nvSpPr>
        <p:spPr bwMode="auto">
          <a:xfrm>
            <a:off x="3466465" y="3126105"/>
            <a:ext cx="2158365" cy="1568450"/>
          </a:xfrm>
          <a:prstGeom prst="rect">
            <a:avLst/>
          </a:prstGeom>
          <a:noFill/>
          <a:ln>
            <a:noFill/>
          </a:ln>
        </p:spPr>
        <p:txBody>
          <a:bodyPr wrap="square">
            <a:spAutoFit/>
          </a:bodyPr>
          <a:lstStyle/>
          <a:p>
            <a:r>
              <a:rPr lang="en-US" altLang="zh-CN" sz="2400" b="1" dirty="0">
                <a:solidFill>
                  <a:srgbClr val="020202"/>
                </a:solidFill>
                <a:latin typeface="Courier New" panose="02070309020205020404" pitchFamily="49" charset="0"/>
                <a:cs typeface="Courier New" panose="02070309020205020404" pitchFamily="49" charset="0"/>
              </a:rPr>
              <a:t>main()</a:t>
            </a:r>
            <a:endParaRPr lang="en-US" altLang="zh-CN" sz="2400" b="1" dirty="0">
              <a:solidFill>
                <a:srgbClr val="020202"/>
              </a:solidFill>
              <a:latin typeface="Courier New" panose="02070309020205020404" pitchFamily="49" charset="0"/>
              <a:cs typeface="Courier New" panose="02070309020205020404" pitchFamily="49" charset="0"/>
            </a:endParaRPr>
          </a:p>
          <a:p>
            <a:r>
              <a:rPr lang="zh-CN" altLang="en-US" sz="2400" b="1" dirty="0">
                <a:solidFill>
                  <a:srgbClr val="020202"/>
                </a:solidFill>
                <a:latin typeface="Courier New" panose="02070309020205020404" pitchFamily="49" charset="0"/>
                <a:cs typeface="Courier New" panose="02070309020205020404" pitchFamily="49" charset="0"/>
              </a:rPr>
              <a:t>{</a:t>
            </a:r>
            <a:r>
              <a:rPr lang="en-US" altLang="zh-CN" sz="2400" b="1" dirty="0">
                <a:solidFill>
                  <a:srgbClr val="020202"/>
                </a:solidFill>
                <a:latin typeface="Courier New" panose="02070309020205020404" pitchFamily="49" charset="0"/>
                <a:cs typeface="Courier New" panose="02070309020205020404" pitchFamily="49" charset="0"/>
              </a:rPr>
              <a:t>g(x);</a:t>
            </a:r>
            <a:endParaRPr lang="en-US" altLang="zh-CN" sz="2400" b="1" dirty="0">
              <a:solidFill>
                <a:srgbClr val="020202"/>
              </a:solidFill>
              <a:latin typeface="Courier New" panose="02070309020205020404" pitchFamily="49" charset="0"/>
              <a:cs typeface="Courier New" panose="02070309020205020404" pitchFamily="49" charset="0"/>
            </a:endParaRPr>
          </a:p>
          <a:p>
            <a:r>
              <a:rPr lang="en-US" altLang="zh-CN" sz="2400" b="1" dirty="0">
                <a:solidFill>
                  <a:srgbClr val="020202"/>
                </a:solidFill>
                <a:latin typeface="Courier New" panose="02070309020205020404" pitchFamily="49" charset="0"/>
                <a:cs typeface="Courier New" panose="02070309020205020404" pitchFamily="49" charset="0"/>
              </a:rPr>
              <a:t> return 0;</a:t>
            </a:r>
            <a:endParaRPr lang="en-US" altLang="zh-CN" sz="2400" b="1" dirty="0">
              <a:solidFill>
                <a:srgbClr val="020202"/>
              </a:solidFill>
              <a:latin typeface="Courier New" panose="02070309020205020404" pitchFamily="49" charset="0"/>
              <a:cs typeface="Courier New" panose="02070309020205020404" pitchFamily="49" charset="0"/>
            </a:endParaRPr>
          </a:p>
          <a:p>
            <a:r>
              <a:rPr lang="zh-CN" altLang="en-US" sz="2400" b="1" dirty="0">
                <a:solidFill>
                  <a:srgbClr val="020202"/>
                </a:solidFill>
                <a:latin typeface="Courier New" panose="02070309020205020404" pitchFamily="49" charset="0"/>
                <a:cs typeface="Courier New" panose="02070309020205020404" pitchFamily="49" charset="0"/>
              </a:rPr>
              <a:t>}</a:t>
            </a:r>
            <a:endParaRPr lang="zh-CN" altLang="en-US" sz="2400" b="1" dirty="0">
              <a:solidFill>
                <a:srgbClr val="020202"/>
              </a:solidFill>
              <a:latin typeface="Courier New" panose="02070309020205020404" pitchFamily="49" charset="0"/>
              <a:cs typeface="Courier New" panose="02070309020205020404" pitchFamily="49" charset="0"/>
            </a:endParaRPr>
          </a:p>
        </p:txBody>
      </p:sp>
      <p:sp>
        <p:nvSpPr>
          <p:cNvPr id="50" name="Rectangle 6"/>
          <p:cNvSpPr>
            <a:spLocks noChangeArrowheads="1"/>
          </p:cNvSpPr>
          <p:nvPr/>
        </p:nvSpPr>
        <p:spPr bwMode="auto">
          <a:xfrm>
            <a:off x="2430780" y="4972685"/>
            <a:ext cx="36150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chemeClr val="accent1"/>
                </a:solidFill>
                <a:latin typeface="+mn-ea"/>
              </a:rPr>
              <a:t>画出至第二次对</a:t>
            </a:r>
            <a:r>
              <a:rPr lang="en-US" altLang="zh-CN" sz="2400" b="1" dirty="0">
                <a:solidFill>
                  <a:schemeClr val="accent1"/>
                </a:solidFill>
                <a:latin typeface="+mn-ea"/>
              </a:rPr>
              <a:t>g</a:t>
            </a:r>
            <a:r>
              <a:rPr lang="zh-CN" altLang="en-US" sz="2400" b="1" dirty="0">
                <a:solidFill>
                  <a:schemeClr val="accent1"/>
                </a:solidFill>
                <a:latin typeface="+mn-ea"/>
              </a:rPr>
              <a:t>调用时，程序的运行时环境：</a:t>
            </a:r>
            <a:endParaRPr lang="zh-CN" altLang="en-US" sz="2400" b="1" dirty="0">
              <a:solidFill>
                <a:schemeClr val="accent1"/>
              </a:solidFill>
              <a:latin typeface="+mn-ea"/>
            </a:endParaRPr>
          </a:p>
        </p:txBody>
      </p:sp>
      <p:grpSp>
        <p:nvGrpSpPr>
          <p:cNvPr id="8" name="Group 2"/>
          <p:cNvGrpSpPr/>
          <p:nvPr/>
        </p:nvGrpSpPr>
        <p:grpSpPr bwMode="auto">
          <a:xfrm>
            <a:off x="7531955" y="992608"/>
            <a:ext cx="4035424" cy="609600"/>
            <a:chOff x="1248" y="288"/>
            <a:chExt cx="2542" cy="384"/>
          </a:xfrm>
        </p:grpSpPr>
        <p:sp useBgFill="1">
          <p:nvSpPr>
            <p:cNvPr id="9" name="Rectangle 3"/>
            <p:cNvSpPr>
              <a:spLocks noChangeArrowheads="1"/>
            </p:cNvSpPr>
            <p:nvPr>
              <p:custDataLst>
                <p:tags r:id="rId1"/>
              </p:custDataLst>
            </p:nvPr>
          </p:nvSpPr>
          <p:spPr bwMode="auto">
            <a:xfrm>
              <a:off x="1248" y="288"/>
              <a:ext cx="1488" cy="384"/>
            </a:xfrm>
            <a:prstGeom prst="rect">
              <a:avLst/>
            </a:prstGeom>
            <a:ln w="9525">
              <a:solidFill>
                <a:srgbClr val="020202"/>
              </a:solidFill>
              <a:miter lim="800000"/>
            </a:ln>
          </p:spPr>
          <p:txBody>
            <a:bodyPr wrap="none" anchor="ctr"/>
            <a:p>
              <a:pPr algn="ctr"/>
              <a:r>
                <a:rPr lang="en-US" altLang="zh-CN" b="1">
                  <a:solidFill>
                    <a:srgbClr val="020202"/>
                  </a:solidFill>
                  <a:latin typeface="+mn-ea"/>
                </a:rPr>
                <a:t>x:2</a:t>
              </a:r>
              <a:endParaRPr lang="en-US" altLang="zh-CN" b="1">
                <a:solidFill>
                  <a:srgbClr val="020202"/>
                </a:solidFill>
                <a:latin typeface="+mn-ea"/>
              </a:endParaRPr>
            </a:p>
            <a:p>
              <a:pPr algn="ctr"/>
              <a:r>
                <a:rPr lang="en-US" altLang="zh-CN" b="1">
                  <a:solidFill>
                    <a:srgbClr val="020202"/>
                  </a:solidFill>
                  <a:latin typeface="+mn-ea"/>
                </a:rPr>
                <a:t>x（from f）:1</a:t>
              </a:r>
              <a:endParaRPr lang="en-US" altLang="zh-CN" b="1">
                <a:solidFill>
                  <a:srgbClr val="020202"/>
                </a:solidFill>
                <a:latin typeface="+mn-ea"/>
              </a:endParaRPr>
            </a:p>
          </p:txBody>
        </p:sp>
        <p:sp>
          <p:nvSpPr>
            <p:cNvPr id="10" name="Rectangle 4"/>
            <p:cNvSpPr>
              <a:spLocks noChangeArrowheads="1"/>
            </p:cNvSpPr>
            <p:nvPr>
              <p:custDataLst>
                <p:tags r:id="rId2"/>
              </p:custDataLst>
            </p:nvPr>
          </p:nvSpPr>
          <p:spPr bwMode="auto">
            <a:xfrm>
              <a:off x="2751" y="375"/>
              <a:ext cx="1039"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全局/静态区域</a:t>
              </a:r>
              <a:endParaRPr lang="zh-CN" altLang="en-US" b="1">
                <a:solidFill>
                  <a:srgbClr val="020202"/>
                </a:solidFill>
                <a:latin typeface="+mn-ea"/>
              </a:endParaRPr>
            </a:p>
          </p:txBody>
        </p:sp>
      </p:grpSp>
      <p:grpSp>
        <p:nvGrpSpPr>
          <p:cNvPr id="11" name="Group 5"/>
          <p:cNvGrpSpPr/>
          <p:nvPr/>
        </p:nvGrpSpPr>
        <p:grpSpPr bwMode="auto">
          <a:xfrm>
            <a:off x="7531955" y="1597445"/>
            <a:ext cx="4243389" cy="600075"/>
            <a:chOff x="1248" y="669"/>
            <a:chExt cx="2673" cy="378"/>
          </a:xfrm>
        </p:grpSpPr>
        <p:sp useBgFill="1">
          <p:nvSpPr>
            <p:cNvPr id="13" name="Rectangle 6"/>
            <p:cNvSpPr>
              <a:spLocks noChangeArrowheads="1"/>
            </p:cNvSpPr>
            <p:nvPr>
              <p:custDataLst>
                <p:tags r:id="rId3"/>
              </p:custDataLst>
            </p:nvPr>
          </p:nvSpPr>
          <p:spPr bwMode="auto">
            <a:xfrm>
              <a:off x="1248" y="669"/>
              <a:ext cx="1488" cy="378"/>
            </a:xfrm>
            <a:prstGeom prst="rect">
              <a:avLst/>
            </a:prstGeom>
            <a:ln w="9525">
              <a:solidFill>
                <a:srgbClr val="020202"/>
              </a:solidFill>
              <a:miter lim="800000"/>
            </a:ln>
          </p:spPr>
          <p:txBody>
            <a:bodyPr wrap="none" anchor="ctr"/>
            <a:p>
              <a:pPr algn="ctr"/>
              <a:endParaRPr lang="en-US" altLang="zh-CN" b="1">
                <a:solidFill>
                  <a:srgbClr val="020202"/>
                </a:solidFill>
                <a:latin typeface="+mn-ea"/>
              </a:endParaRPr>
            </a:p>
          </p:txBody>
        </p:sp>
        <p:sp>
          <p:nvSpPr>
            <p:cNvPr id="14" name="Line 7"/>
            <p:cNvSpPr>
              <a:spLocks noChangeShapeType="1"/>
            </p:cNvSpPr>
            <p:nvPr>
              <p:custDataLst>
                <p:tags r:id="rId4"/>
              </p:custDataLst>
            </p:nvPr>
          </p:nvSpPr>
          <p:spPr bwMode="auto">
            <a:xfrm>
              <a:off x="1248" y="711"/>
              <a:ext cx="1488"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5" name="Rectangle 8"/>
            <p:cNvSpPr>
              <a:spLocks noChangeArrowheads="1"/>
            </p:cNvSpPr>
            <p:nvPr>
              <p:custDataLst>
                <p:tags r:id="rId5"/>
              </p:custDataLst>
            </p:nvPr>
          </p:nvSpPr>
          <p:spPr bwMode="auto">
            <a:xfrm>
              <a:off x="2761" y="747"/>
              <a:ext cx="116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dirty="0">
                  <a:solidFill>
                    <a:srgbClr val="020202"/>
                  </a:solidFill>
                  <a:latin typeface="+mn-ea"/>
                </a:rPr>
                <a:t>main</a:t>
              </a:r>
              <a:r>
                <a:rPr lang="zh-CN" altLang="en-US" b="1" dirty="0">
                  <a:solidFill>
                    <a:srgbClr val="020202"/>
                  </a:solidFill>
                  <a:latin typeface="+mn-ea"/>
                </a:rPr>
                <a:t>的活动记录</a:t>
              </a:r>
              <a:endParaRPr lang="zh-CN" altLang="en-US" b="1" dirty="0">
                <a:solidFill>
                  <a:srgbClr val="020202"/>
                </a:solidFill>
                <a:latin typeface="+mn-ea"/>
              </a:endParaRPr>
            </a:p>
          </p:txBody>
        </p:sp>
      </p:grpSp>
      <p:grpSp>
        <p:nvGrpSpPr>
          <p:cNvPr id="16" name="Group 9"/>
          <p:cNvGrpSpPr/>
          <p:nvPr/>
        </p:nvGrpSpPr>
        <p:grpSpPr bwMode="auto">
          <a:xfrm>
            <a:off x="5855555" y="1830808"/>
            <a:ext cx="1676400" cy="381000"/>
            <a:chOff x="192" y="720"/>
            <a:chExt cx="1056" cy="240"/>
          </a:xfrm>
        </p:grpSpPr>
        <p:sp>
          <p:nvSpPr>
            <p:cNvPr id="17" name="Line 10"/>
            <p:cNvSpPr>
              <a:spLocks noChangeShapeType="1"/>
            </p:cNvSpPr>
            <p:nvPr>
              <p:custDataLst>
                <p:tags r:id="rId6"/>
              </p:custDataLst>
            </p:nvPr>
          </p:nvSpPr>
          <p:spPr bwMode="auto">
            <a:xfrm>
              <a:off x="192" y="960"/>
              <a:ext cx="105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8" name="Rectangle 11"/>
            <p:cNvSpPr>
              <a:spLocks noChangeArrowheads="1"/>
            </p:cNvSpPr>
            <p:nvPr>
              <p:custDataLst>
                <p:tags r:id="rId7"/>
              </p:custDataLst>
            </p:nvPr>
          </p:nvSpPr>
          <p:spPr bwMode="auto">
            <a:xfrm>
              <a:off x="240" y="72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19" name="Group 12"/>
          <p:cNvGrpSpPr/>
          <p:nvPr/>
        </p:nvGrpSpPr>
        <p:grpSpPr bwMode="auto">
          <a:xfrm>
            <a:off x="7531955" y="2187995"/>
            <a:ext cx="4094163" cy="1243013"/>
            <a:chOff x="1152" y="849"/>
            <a:chExt cx="2579" cy="783"/>
          </a:xfrm>
        </p:grpSpPr>
        <p:sp useBgFill="1">
          <p:nvSpPr>
            <p:cNvPr id="20" name="Rectangle 13"/>
            <p:cNvSpPr>
              <a:spLocks noChangeArrowheads="1"/>
            </p:cNvSpPr>
            <p:nvPr>
              <p:custDataLst>
                <p:tags r:id="rId8"/>
              </p:custDataLst>
            </p:nvPr>
          </p:nvSpPr>
          <p:spPr bwMode="auto">
            <a:xfrm>
              <a:off x="1152" y="849"/>
              <a:ext cx="1488" cy="783"/>
            </a:xfrm>
            <a:prstGeom prst="rect">
              <a:avLst/>
            </a:prstGeom>
            <a:ln w="9525">
              <a:solidFill>
                <a:srgbClr val="020202"/>
              </a:solidFill>
              <a:miter lim="800000"/>
            </a:ln>
          </p:spPr>
          <p:txBody>
            <a:bodyPr wrap="none" anchor="ctr"/>
            <a:p>
              <a:pPr algn="ctr"/>
              <a:r>
                <a:rPr lang="en-US" altLang="zh-CN" b="1">
                  <a:solidFill>
                    <a:srgbClr val="020202"/>
                  </a:solidFill>
                  <a:latin typeface="+mn-ea"/>
                </a:rPr>
                <a:t>m:2</a:t>
              </a:r>
              <a:endParaRPr lang="en-US" altLang="zh-CN"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en-US" altLang="zh-CN" b="1">
                  <a:solidFill>
                    <a:srgbClr val="020202"/>
                  </a:solidFill>
                  <a:latin typeface="+mn-ea"/>
                </a:rPr>
                <a:t>main</a:t>
              </a:r>
              <a:r>
                <a:rPr lang="zh-CN" altLang="en-US" b="1">
                  <a:solidFill>
                    <a:srgbClr val="020202"/>
                  </a:solidFill>
                  <a:latin typeface="+mn-ea"/>
                </a:rPr>
                <a:t>的</a:t>
              </a:r>
              <a:r>
                <a:rPr lang="en-US" altLang="zh-CN" b="1">
                  <a:solidFill>
                    <a:srgbClr val="020202"/>
                  </a:solidFill>
                  <a:latin typeface="+mn-ea"/>
                </a:rPr>
                <a:t>ebp  </a:t>
              </a:r>
              <a:endParaRPr lang="en-US" altLang="zh-CN" b="1">
                <a:solidFill>
                  <a:srgbClr val="020202"/>
                </a:solidFill>
                <a:latin typeface="+mn-ea"/>
              </a:endParaRPr>
            </a:p>
            <a:p>
              <a:pPr algn="ctr"/>
              <a:r>
                <a:rPr lang="en-US" altLang="zh-CN" b="1">
                  <a:solidFill>
                    <a:srgbClr val="020202"/>
                  </a:solidFill>
                  <a:latin typeface="+mn-ea"/>
                </a:rPr>
                <a:t>y:1</a:t>
              </a:r>
              <a:endParaRPr lang="en-US" altLang="zh-CN" b="1">
                <a:solidFill>
                  <a:srgbClr val="020202"/>
                </a:solidFill>
                <a:latin typeface="+mn-ea"/>
              </a:endParaRPr>
            </a:p>
          </p:txBody>
        </p:sp>
        <p:sp>
          <p:nvSpPr>
            <p:cNvPr id="21" name="Rectangle 14"/>
            <p:cNvSpPr>
              <a:spLocks noChangeArrowheads="1"/>
            </p:cNvSpPr>
            <p:nvPr>
              <p:custDataLst>
                <p:tags r:id="rId9"/>
              </p:custDataLst>
            </p:nvPr>
          </p:nvSpPr>
          <p:spPr bwMode="auto">
            <a:xfrm>
              <a:off x="2665" y="943"/>
              <a:ext cx="106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第一次调用</a:t>
              </a:r>
              <a:r>
                <a:rPr lang="en-US" altLang="zh-CN" b="1" dirty="0">
                  <a:solidFill>
                    <a:srgbClr val="020202"/>
                  </a:solidFill>
                  <a:latin typeface="+mn-ea"/>
                </a:rPr>
                <a:t>g</a:t>
              </a:r>
              <a:r>
                <a:rPr lang="zh-CN" altLang="en-US" b="1" dirty="0">
                  <a:solidFill>
                    <a:srgbClr val="020202"/>
                  </a:solidFill>
                  <a:latin typeface="+mn-ea"/>
                </a:rPr>
                <a:t>时</a:t>
              </a:r>
              <a:endParaRPr lang="zh-CN" altLang="en-US" b="1" dirty="0">
                <a:solidFill>
                  <a:srgbClr val="020202"/>
                </a:solidFill>
                <a:latin typeface="+mn-ea"/>
              </a:endParaRPr>
            </a:p>
            <a:p>
              <a:r>
                <a:rPr lang="zh-CN" altLang="en-US" b="1" dirty="0">
                  <a:solidFill>
                    <a:srgbClr val="020202"/>
                  </a:solidFill>
                  <a:latin typeface="+mn-ea"/>
                </a:rPr>
                <a:t>的活动记录</a:t>
              </a:r>
              <a:endParaRPr lang="zh-CN" altLang="en-US" b="1" dirty="0">
                <a:solidFill>
                  <a:srgbClr val="020202"/>
                </a:solidFill>
                <a:latin typeface="+mn-ea"/>
              </a:endParaRPr>
            </a:p>
          </p:txBody>
        </p:sp>
      </p:grpSp>
      <p:grpSp>
        <p:nvGrpSpPr>
          <p:cNvPr id="22" name="Group 15"/>
          <p:cNvGrpSpPr/>
          <p:nvPr/>
        </p:nvGrpSpPr>
        <p:grpSpPr bwMode="auto">
          <a:xfrm>
            <a:off x="6084155" y="2821409"/>
            <a:ext cx="1447800" cy="720725"/>
            <a:chOff x="240" y="1248"/>
            <a:chExt cx="912" cy="454"/>
          </a:xfrm>
        </p:grpSpPr>
        <p:sp>
          <p:nvSpPr>
            <p:cNvPr id="23" name="Line 16"/>
            <p:cNvSpPr>
              <a:spLocks noChangeShapeType="1"/>
            </p:cNvSpPr>
            <p:nvPr>
              <p:custDataLst>
                <p:tags r:id="rId10"/>
              </p:custDataLst>
            </p:nvPr>
          </p:nvSpPr>
          <p:spPr bwMode="auto">
            <a:xfrm>
              <a:off x="576" y="1440"/>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4" name="Line 17"/>
            <p:cNvSpPr>
              <a:spLocks noChangeShapeType="1"/>
            </p:cNvSpPr>
            <p:nvPr>
              <p:custDataLst>
                <p:tags r:id="rId11"/>
              </p:custDataLst>
            </p:nvPr>
          </p:nvSpPr>
          <p:spPr bwMode="auto">
            <a:xfrm>
              <a:off x="576" y="1614"/>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5" name="Rectangle 18"/>
            <p:cNvSpPr>
              <a:spLocks noChangeArrowheads="1"/>
            </p:cNvSpPr>
            <p:nvPr>
              <p:custDataLst>
                <p:tags r:id="rId12"/>
              </p:custDataLst>
            </p:nvPr>
          </p:nvSpPr>
          <p:spPr bwMode="auto">
            <a:xfrm>
              <a:off x="240" y="1248"/>
              <a:ext cx="36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ebp</a:t>
              </a:r>
              <a:endParaRPr lang="en-US" altLang="zh-CN" b="1">
                <a:solidFill>
                  <a:srgbClr val="020202"/>
                </a:solidFill>
                <a:latin typeface="+mn-ea"/>
              </a:endParaRPr>
            </a:p>
          </p:txBody>
        </p:sp>
        <p:sp>
          <p:nvSpPr>
            <p:cNvPr id="26" name="Rectangle 19"/>
            <p:cNvSpPr>
              <a:spLocks noChangeArrowheads="1"/>
            </p:cNvSpPr>
            <p:nvPr>
              <p:custDataLst>
                <p:tags r:id="rId13"/>
              </p:custDataLst>
            </p:nvPr>
          </p:nvSpPr>
          <p:spPr bwMode="auto">
            <a:xfrm>
              <a:off x="240" y="1470"/>
              <a:ext cx="34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esp</a:t>
              </a:r>
              <a:endParaRPr lang="en-US" altLang="zh-CN" b="1">
                <a:solidFill>
                  <a:srgbClr val="020202"/>
                </a:solidFill>
                <a:latin typeface="+mn-ea"/>
              </a:endParaRPr>
            </a:p>
          </p:txBody>
        </p:sp>
      </p:grpSp>
      <p:grpSp>
        <p:nvGrpSpPr>
          <p:cNvPr id="27" name="Group 20"/>
          <p:cNvGrpSpPr/>
          <p:nvPr/>
        </p:nvGrpSpPr>
        <p:grpSpPr bwMode="auto">
          <a:xfrm>
            <a:off x="7531955" y="3431008"/>
            <a:ext cx="4035426" cy="1243012"/>
            <a:chOff x="1152" y="1632"/>
            <a:chExt cx="2542" cy="783"/>
          </a:xfrm>
        </p:grpSpPr>
        <p:sp>
          <p:nvSpPr>
            <p:cNvPr id="28" name="Rectangle 21"/>
            <p:cNvSpPr>
              <a:spLocks noChangeArrowheads="1"/>
            </p:cNvSpPr>
            <p:nvPr>
              <p:custDataLst>
                <p:tags r:id="rId14"/>
              </p:custDataLst>
            </p:nvPr>
          </p:nvSpPr>
          <p:spPr bwMode="auto">
            <a:xfrm>
              <a:off x="2665" y="1761"/>
              <a:ext cx="1029"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第一次调用</a:t>
              </a:r>
              <a:r>
                <a:rPr lang="en-US" altLang="zh-CN" b="1" dirty="0">
                  <a:solidFill>
                    <a:srgbClr val="020202"/>
                  </a:solidFill>
                  <a:latin typeface="+mn-ea"/>
                </a:rPr>
                <a:t>f</a:t>
              </a:r>
              <a:r>
                <a:rPr lang="zh-CN" altLang="en-US" b="1" dirty="0">
                  <a:solidFill>
                    <a:srgbClr val="020202"/>
                  </a:solidFill>
                  <a:latin typeface="+mn-ea"/>
                </a:rPr>
                <a:t>时</a:t>
              </a:r>
              <a:endParaRPr lang="zh-CN" altLang="en-US" b="1" dirty="0">
                <a:solidFill>
                  <a:srgbClr val="020202"/>
                </a:solidFill>
                <a:latin typeface="+mn-ea"/>
              </a:endParaRPr>
            </a:p>
            <a:p>
              <a:r>
                <a:rPr lang="zh-CN" altLang="en-US" b="1" dirty="0">
                  <a:solidFill>
                    <a:srgbClr val="020202"/>
                  </a:solidFill>
                  <a:latin typeface="+mn-ea"/>
                </a:rPr>
                <a:t>的活动记录</a:t>
              </a:r>
              <a:endParaRPr lang="zh-CN" altLang="en-US" b="1" dirty="0">
                <a:solidFill>
                  <a:srgbClr val="020202"/>
                </a:solidFill>
                <a:latin typeface="+mn-ea"/>
              </a:endParaRPr>
            </a:p>
          </p:txBody>
        </p:sp>
        <p:sp useBgFill="1">
          <p:nvSpPr>
            <p:cNvPr id="29" name="Rectangle 22"/>
            <p:cNvSpPr>
              <a:spLocks noChangeArrowheads="1"/>
            </p:cNvSpPr>
            <p:nvPr>
              <p:custDataLst>
                <p:tags r:id="rId15"/>
              </p:custDataLst>
            </p:nvPr>
          </p:nvSpPr>
          <p:spPr bwMode="auto">
            <a:xfrm>
              <a:off x="1152" y="1632"/>
              <a:ext cx="1488" cy="783"/>
            </a:xfrm>
            <a:prstGeom prst="rect">
              <a:avLst/>
            </a:prstGeom>
            <a:ln w="9525">
              <a:solidFill>
                <a:srgbClr val="020202"/>
              </a:solidFill>
              <a:miter lim="800000"/>
            </a:ln>
          </p:spPr>
          <p:txBody>
            <a:bodyPr wrap="none" anchor="ctr"/>
            <a:p>
              <a:pPr algn="ctr"/>
              <a:r>
                <a:rPr lang="en-US" altLang="zh-CN" b="1">
                  <a:solidFill>
                    <a:srgbClr val="020202"/>
                  </a:solidFill>
                  <a:latin typeface="+mn-ea"/>
                </a:rPr>
                <a:t>n:1</a:t>
              </a:r>
              <a:r>
                <a:rPr lang="zh-CN" altLang="en-US" b="1">
                  <a:solidFill>
                    <a:srgbClr val="020202"/>
                  </a:solidFill>
                  <a:latin typeface="+mn-ea"/>
                </a:rPr>
                <a:t>      </a:t>
              </a:r>
              <a:endParaRPr lang="zh-CN" altLang="en-US"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zh-CN" altLang="en-US" b="1">
                  <a:solidFill>
                    <a:srgbClr val="020202"/>
                  </a:solidFill>
                  <a:latin typeface="+mn-ea"/>
                </a:rPr>
                <a:t>第一次调用</a:t>
              </a:r>
              <a:r>
                <a:rPr lang="en-US" altLang="zh-CN" b="1">
                  <a:solidFill>
                    <a:srgbClr val="020202"/>
                  </a:solidFill>
                  <a:latin typeface="+mn-ea"/>
                </a:rPr>
                <a:t>g</a:t>
              </a:r>
              <a:r>
                <a:rPr lang="zh-CN" altLang="en-US" b="1">
                  <a:solidFill>
                    <a:srgbClr val="020202"/>
                  </a:solidFill>
                  <a:latin typeface="+mn-ea"/>
                </a:rPr>
                <a:t>时的</a:t>
              </a:r>
              <a:r>
                <a:rPr lang="en-US" altLang="zh-CN" b="1">
                  <a:solidFill>
                    <a:srgbClr val="020202"/>
                  </a:solidFill>
                  <a:latin typeface="+mn-ea"/>
                </a:rPr>
                <a:t>ebp</a:t>
              </a:r>
              <a:endParaRPr lang="en-US" altLang="zh-CN" b="1">
                <a:solidFill>
                  <a:srgbClr val="020202"/>
                </a:solidFill>
                <a:latin typeface="+mn-ea"/>
              </a:endParaRPr>
            </a:p>
          </p:txBody>
        </p:sp>
      </p:grpSp>
      <p:grpSp>
        <p:nvGrpSpPr>
          <p:cNvPr id="30" name="Group 23"/>
          <p:cNvGrpSpPr/>
          <p:nvPr/>
        </p:nvGrpSpPr>
        <p:grpSpPr bwMode="auto">
          <a:xfrm>
            <a:off x="5855555" y="4145383"/>
            <a:ext cx="1676400" cy="381000"/>
            <a:chOff x="192" y="720"/>
            <a:chExt cx="1056" cy="240"/>
          </a:xfrm>
        </p:grpSpPr>
        <p:sp>
          <p:nvSpPr>
            <p:cNvPr id="31" name="Line 24"/>
            <p:cNvSpPr>
              <a:spLocks noChangeShapeType="1"/>
            </p:cNvSpPr>
            <p:nvPr>
              <p:custDataLst>
                <p:tags r:id="rId16"/>
              </p:custDataLst>
            </p:nvPr>
          </p:nvSpPr>
          <p:spPr bwMode="auto">
            <a:xfrm>
              <a:off x="192" y="960"/>
              <a:ext cx="105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2" name="Rectangle 25"/>
            <p:cNvSpPr>
              <a:spLocks noChangeArrowheads="1"/>
            </p:cNvSpPr>
            <p:nvPr>
              <p:custDataLst>
                <p:tags r:id="rId17"/>
              </p:custDataLst>
            </p:nvPr>
          </p:nvSpPr>
          <p:spPr bwMode="auto">
            <a:xfrm>
              <a:off x="240" y="72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ebp,esp</a:t>
              </a:r>
              <a:endParaRPr lang="zh-CN" altLang="en-US" b="1">
                <a:solidFill>
                  <a:srgbClr val="020202"/>
                </a:solidFill>
                <a:latin typeface="+mn-ea"/>
              </a:endParaRPr>
            </a:p>
          </p:txBody>
        </p:sp>
      </p:grpSp>
      <p:grpSp>
        <p:nvGrpSpPr>
          <p:cNvPr id="33" name="Group 26"/>
          <p:cNvGrpSpPr/>
          <p:nvPr/>
        </p:nvGrpSpPr>
        <p:grpSpPr bwMode="auto">
          <a:xfrm>
            <a:off x="7531955" y="4543845"/>
            <a:ext cx="4322763" cy="1349375"/>
            <a:chOff x="1152" y="2333"/>
            <a:chExt cx="2723" cy="850"/>
          </a:xfrm>
        </p:grpSpPr>
        <p:sp>
          <p:nvSpPr>
            <p:cNvPr id="34" name="Rectangle 27"/>
            <p:cNvSpPr>
              <a:spLocks noChangeArrowheads="1"/>
            </p:cNvSpPr>
            <p:nvPr>
              <p:custDataLst>
                <p:tags r:id="rId18"/>
              </p:custDataLst>
            </p:nvPr>
          </p:nvSpPr>
          <p:spPr bwMode="auto">
            <a:xfrm>
              <a:off x="2665" y="2579"/>
              <a:ext cx="1210"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第二次调用</a:t>
              </a:r>
              <a:r>
                <a:rPr lang="en-US" altLang="zh-CN" b="1" dirty="0">
                  <a:solidFill>
                    <a:srgbClr val="020202"/>
                  </a:solidFill>
                  <a:latin typeface="+mn-ea"/>
                </a:rPr>
                <a:t>g</a:t>
              </a:r>
              <a:r>
                <a:rPr lang="zh-CN" altLang="en-US" b="1" dirty="0">
                  <a:solidFill>
                    <a:srgbClr val="020202"/>
                  </a:solidFill>
                  <a:latin typeface="+mn-ea"/>
                </a:rPr>
                <a:t>时的</a:t>
              </a:r>
              <a:endParaRPr lang="zh-CN" altLang="en-US" b="1" dirty="0">
                <a:solidFill>
                  <a:srgbClr val="020202"/>
                </a:solidFill>
                <a:latin typeface="+mn-ea"/>
              </a:endParaRPr>
            </a:p>
            <a:p>
              <a:r>
                <a:rPr lang="zh-CN" altLang="en-US" b="1" dirty="0">
                  <a:solidFill>
                    <a:srgbClr val="020202"/>
                  </a:solidFill>
                  <a:latin typeface="+mn-ea"/>
                </a:rPr>
                <a:t>活动记录</a:t>
              </a:r>
              <a:endParaRPr lang="zh-CN" altLang="en-US" b="1" dirty="0">
                <a:solidFill>
                  <a:srgbClr val="020202"/>
                </a:solidFill>
                <a:latin typeface="+mn-ea"/>
              </a:endParaRPr>
            </a:p>
          </p:txBody>
        </p:sp>
        <p:sp useBgFill="1">
          <p:nvSpPr>
            <p:cNvPr id="35" name="Rectangle 28"/>
            <p:cNvSpPr>
              <a:spLocks noChangeArrowheads="1"/>
            </p:cNvSpPr>
            <p:nvPr>
              <p:custDataLst>
                <p:tags r:id="rId19"/>
              </p:custDataLst>
            </p:nvPr>
          </p:nvSpPr>
          <p:spPr bwMode="auto">
            <a:xfrm>
              <a:off x="1152" y="2333"/>
              <a:ext cx="1488" cy="850"/>
            </a:xfrm>
            <a:prstGeom prst="rect">
              <a:avLst/>
            </a:prstGeom>
            <a:ln w="9525">
              <a:solidFill>
                <a:srgbClr val="020202"/>
              </a:solidFill>
              <a:miter lim="800000"/>
            </a:ln>
          </p:spPr>
          <p:txBody>
            <a:bodyPr wrap="none" anchor="ctr"/>
            <a:p>
              <a:pPr algn="ctr"/>
              <a:r>
                <a:rPr lang="en-US" altLang="zh-CN" b="1">
                  <a:solidFill>
                    <a:srgbClr val="020202"/>
                  </a:solidFill>
                  <a:latin typeface="+mn-ea"/>
                </a:rPr>
                <a:t>m:1</a:t>
              </a:r>
              <a:endParaRPr lang="en-US" altLang="zh-CN" b="1">
                <a:solidFill>
                  <a:srgbClr val="020202"/>
                </a:solidFill>
                <a:latin typeface="+mn-ea"/>
              </a:endParaRPr>
            </a:p>
            <a:p>
              <a:pPr algn="ctr"/>
              <a:r>
                <a:rPr lang="zh-CN" altLang="en-US" b="1">
                  <a:solidFill>
                    <a:srgbClr val="020202"/>
                  </a:solidFill>
                  <a:latin typeface="+mn-ea"/>
                </a:rPr>
                <a:t>   返回地址</a:t>
              </a:r>
              <a:endParaRPr lang="zh-CN" altLang="en-US" b="1">
                <a:solidFill>
                  <a:srgbClr val="020202"/>
                </a:solidFill>
                <a:latin typeface="+mn-ea"/>
              </a:endParaRPr>
            </a:p>
            <a:p>
              <a:pPr algn="ctr" eaLnBrk="0" hangingPunct="0"/>
              <a:r>
                <a:rPr lang="zh-CN" altLang="en-US" b="1">
                  <a:solidFill>
                    <a:srgbClr val="020202"/>
                  </a:solidFill>
                  <a:latin typeface="+mn-ea"/>
                </a:rPr>
                <a:t>第一次调用</a:t>
              </a:r>
              <a:r>
                <a:rPr lang="en-US" altLang="zh-CN" b="1">
                  <a:solidFill>
                    <a:srgbClr val="020202"/>
                  </a:solidFill>
                  <a:latin typeface="+mn-ea"/>
                </a:rPr>
                <a:t>f</a:t>
              </a:r>
              <a:r>
                <a:rPr lang="zh-CN" altLang="en-US" b="1">
                  <a:solidFill>
                    <a:srgbClr val="020202"/>
                  </a:solidFill>
                  <a:latin typeface="+mn-ea"/>
                </a:rPr>
                <a:t>时的</a:t>
              </a:r>
              <a:r>
                <a:rPr lang="en-US" altLang="zh-CN" b="1">
                  <a:solidFill>
                    <a:srgbClr val="020202"/>
                  </a:solidFill>
                  <a:latin typeface="+mn-ea"/>
                </a:rPr>
                <a:t>ebp </a:t>
              </a:r>
              <a:endParaRPr lang="en-US" altLang="zh-CN" b="1">
                <a:solidFill>
                  <a:srgbClr val="020202"/>
                </a:solidFill>
                <a:latin typeface="+mn-ea"/>
              </a:endParaRPr>
            </a:p>
            <a:p>
              <a:pPr algn="ctr" eaLnBrk="0" hangingPunct="0"/>
              <a:r>
                <a:rPr lang="en-US" altLang="zh-CN" b="1">
                  <a:solidFill>
                    <a:srgbClr val="020202"/>
                  </a:solidFill>
                  <a:latin typeface="+mn-ea"/>
                </a:rPr>
                <a:t>y:0</a:t>
              </a:r>
              <a:endParaRPr lang="zh-CN" altLang="en-US" b="1">
                <a:solidFill>
                  <a:srgbClr val="020202"/>
                </a:solidFill>
                <a:latin typeface="+mn-ea"/>
              </a:endParaRPr>
            </a:p>
          </p:txBody>
        </p:sp>
      </p:grpSp>
      <p:grpSp>
        <p:nvGrpSpPr>
          <p:cNvPr id="36" name="Group 29"/>
          <p:cNvGrpSpPr/>
          <p:nvPr/>
        </p:nvGrpSpPr>
        <p:grpSpPr bwMode="auto">
          <a:xfrm>
            <a:off x="6084155" y="5302671"/>
            <a:ext cx="1447800" cy="720725"/>
            <a:chOff x="240" y="1248"/>
            <a:chExt cx="912" cy="454"/>
          </a:xfrm>
        </p:grpSpPr>
        <p:sp>
          <p:nvSpPr>
            <p:cNvPr id="37" name="Line 30"/>
            <p:cNvSpPr>
              <a:spLocks noChangeShapeType="1"/>
            </p:cNvSpPr>
            <p:nvPr>
              <p:custDataLst>
                <p:tags r:id="rId20"/>
              </p:custDataLst>
            </p:nvPr>
          </p:nvSpPr>
          <p:spPr bwMode="auto">
            <a:xfrm>
              <a:off x="576" y="1440"/>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8" name="Line 31"/>
            <p:cNvSpPr>
              <a:spLocks noChangeShapeType="1"/>
            </p:cNvSpPr>
            <p:nvPr>
              <p:custDataLst>
                <p:tags r:id="rId21"/>
              </p:custDataLst>
            </p:nvPr>
          </p:nvSpPr>
          <p:spPr bwMode="auto">
            <a:xfrm>
              <a:off x="576" y="1614"/>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9" name="Rectangle 32"/>
            <p:cNvSpPr>
              <a:spLocks noChangeArrowheads="1"/>
            </p:cNvSpPr>
            <p:nvPr>
              <p:custDataLst>
                <p:tags r:id="rId22"/>
              </p:custDataLst>
            </p:nvPr>
          </p:nvSpPr>
          <p:spPr bwMode="auto">
            <a:xfrm>
              <a:off x="240" y="1248"/>
              <a:ext cx="36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ebp</a:t>
              </a:r>
              <a:endParaRPr lang="en-US" altLang="zh-CN" b="1">
                <a:solidFill>
                  <a:srgbClr val="020202"/>
                </a:solidFill>
                <a:latin typeface="+mn-ea"/>
              </a:endParaRPr>
            </a:p>
          </p:txBody>
        </p:sp>
        <p:sp>
          <p:nvSpPr>
            <p:cNvPr id="40" name="Rectangle 33"/>
            <p:cNvSpPr>
              <a:spLocks noChangeArrowheads="1"/>
            </p:cNvSpPr>
            <p:nvPr>
              <p:custDataLst>
                <p:tags r:id="rId23"/>
              </p:custDataLst>
            </p:nvPr>
          </p:nvSpPr>
          <p:spPr bwMode="auto">
            <a:xfrm>
              <a:off x="240" y="1470"/>
              <a:ext cx="34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esp</a:t>
              </a:r>
              <a:endParaRPr lang="en-US" altLang="zh-CN" b="1">
                <a:solidFill>
                  <a:srgbClr val="020202"/>
                </a:solidFill>
                <a:latin typeface="+mn-ea"/>
              </a:endParaRPr>
            </a:p>
          </p:txBody>
        </p:sp>
      </p:grpSp>
      <p:grpSp>
        <p:nvGrpSpPr>
          <p:cNvPr id="41" name="Group 34"/>
          <p:cNvGrpSpPr/>
          <p:nvPr/>
        </p:nvGrpSpPr>
        <p:grpSpPr bwMode="auto">
          <a:xfrm>
            <a:off x="7531955" y="5869408"/>
            <a:ext cx="3902075" cy="685800"/>
            <a:chOff x="1248" y="3360"/>
            <a:chExt cx="2458" cy="432"/>
          </a:xfrm>
        </p:grpSpPr>
        <p:sp>
          <p:nvSpPr>
            <p:cNvPr id="42" name="Rectangle 35"/>
            <p:cNvSpPr>
              <a:spLocks noChangeArrowheads="1"/>
            </p:cNvSpPr>
            <p:nvPr>
              <p:custDataLst>
                <p:tags r:id="rId24"/>
              </p:custDataLst>
            </p:nvPr>
          </p:nvSpPr>
          <p:spPr bwMode="auto">
            <a:xfrm>
              <a:off x="2871" y="3489"/>
              <a:ext cx="83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栈生长方向</a:t>
              </a:r>
              <a:endParaRPr lang="zh-CN" altLang="en-US" b="1" dirty="0">
                <a:solidFill>
                  <a:srgbClr val="020202"/>
                </a:solidFill>
                <a:latin typeface="+mn-ea"/>
              </a:endParaRPr>
            </a:p>
          </p:txBody>
        </p:sp>
        <p:sp>
          <p:nvSpPr>
            <p:cNvPr id="43" name="Line 36"/>
            <p:cNvSpPr>
              <a:spLocks noChangeShapeType="1"/>
            </p:cNvSpPr>
            <p:nvPr>
              <p:custDataLst>
                <p:tags r:id="rId25"/>
              </p:custDataLst>
            </p:nvPr>
          </p:nvSpPr>
          <p:spPr bwMode="auto">
            <a:xfrm>
              <a:off x="2736" y="3360"/>
              <a:ext cx="0" cy="432"/>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4" name="Rectangle 37"/>
            <p:cNvSpPr>
              <a:spLocks noChangeArrowheads="1"/>
            </p:cNvSpPr>
            <p:nvPr>
              <p:custDataLst>
                <p:tags r:id="rId26"/>
              </p:custDataLst>
            </p:nvPr>
          </p:nvSpPr>
          <p:spPr bwMode="auto">
            <a:xfrm>
              <a:off x="1728" y="3408"/>
              <a:ext cx="691"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自由空间</a:t>
              </a:r>
              <a:endParaRPr lang="zh-CN" altLang="en-US" b="1">
                <a:solidFill>
                  <a:srgbClr val="020202"/>
                </a:solidFill>
                <a:latin typeface="+mn-ea"/>
              </a:endParaRPr>
            </a:p>
          </p:txBody>
        </p:sp>
        <p:sp>
          <p:nvSpPr>
            <p:cNvPr id="45" name="Line 38"/>
            <p:cNvSpPr>
              <a:spLocks noChangeShapeType="1"/>
            </p:cNvSpPr>
            <p:nvPr>
              <p:custDataLst>
                <p:tags r:id="rId27"/>
              </p:custDataLst>
            </p:nvPr>
          </p:nvSpPr>
          <p:spPr bwMode="auto">
            <a:xfrm>
              <a:off x="2832" y="3393"/>
              <a:ext cx="0" cy="336"/>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6" name="Line 39"/>
            <p:cNvSpPr>
              <a:spLocks noChangeShapeType="1"/>
            </p:cNvSpPr>
            <p:nvPr>
              <p:custDataLst>
                <p:tags r:id="rId28"/>
              </p:custDataLst>
            </p:nvPr>
          </p:nvSpPr>
          <p:spPr bwMode="auto">
            <a:xfrm>
              <a:off x="1248" y="3360"/>
              <a:ext cx="0" cy="384"/>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out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outHorizontal)">
                                      <p:cBhvr>
                                        <p:cTn id="17"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arn(outHorizont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arn(outHorizontal)">
                                      <p:cBhvr>
                                        <p:cTn id="27"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arn(outHorizontal)">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arn(outHorizontal)">
                                      <p:cBhvr>
                                        <p:cTn id="37"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barn(outHorizontal)">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Horizont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barn(outHorizontal)">
                                      <p:cBhvr>
                                        <p:cTn id="5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05435" y="276860"/>
            <a:ext cx="7188835" cy="593090"/>
          </a:xfrm>
        </p:spPr>
        <p:txBody>
          <a:bodyPr/>
          <a:lstStyle/>
          <a:p>
            <a:r>
              <a:rPr lang="en-US" altLang="zh-CN" dirty="0"/>
              <a:t>7.2 </a:t>
            </a:r>
            <a:r>
              <a:rPr lang="zh-CN" altLang="en-US" dirty="0"/>
              <a:t>基于栈的运行时环境</a:t>
            </a:r>
            <a:endParaRPr lang="zh-CN" altLang="en-US" dirty="0"/>
          </a:p>
        </p:txBody>
      </p:sp>
      <p:sp>
        <p:nvSpPr>
          <p:cNvPr id="47" name="Rectangle 3"/>
          <p:cNvSpPr txBox="1">
            <a:spLocks noChangeArrowheads="1"/>
          </p:cNvSpPr>
          <p:nvPr/>
        </p:nvSpPr>
        <p:spPr>
          <a:xfrm>
            <a:off x="445770" y="1270635"/>
            <a:ext cx="11431270" cy="4498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solidFill>
                  <a:schemeClr val="accent1"/>
                </a:solidFill>
                <a:latin typeface="+mn-ea"/>
              </a:rPr>
              <a:t>目标代码的生成必须</a:t>
            </a:r>
            <a:endParaRPr lang="zh-CN" altLang="en-US" b="1" dirty="0">
              <a:solidFill>
                <a:schemeClr val="accent1"/>
              </a:solidFill>
              <a:latin typeface="+mn-ea"/>
            </a:endParaRPr>
          </a:p>
          <a:p>
            <a:pPr lvl="1">
              <a:lnSpc>
                <a:spcPct val="150000"/>
              </a:lnSpc>
            </a:pPr>
            <a:r>
              <a:rPr lang="zh-CN" altLang="en-US" b="1" dirty="0">
                <a:solidFill>
                  <a:schemeClr val="accent1"/>
                </a:solidFill>
                <a:latin typeface="+mn-ea"/>
              </a:rPr>
              <a:t>支持变量和临时变量的实际定位，并增加支持运行时环境所必需的代码。</a:t>
            </a:r>
            <a:endParaRPr lang="zh-CN" altLang="en-US" b="1" dirty="0">
              <a:solidFill>
                <a:schemeClr val="accent1"/>
              </a:solidFill>
              <a:latin typeface="+mn-ea"/>
            </a:endParaRPr>
          </a:p>
          <a:p>
            <a:pPr lvl="2">
              <a:lnSpc>
                <a:spcPct val="150000"/>
              </a:lnSpc>
            </a:pPr>
            <a:r>
              <a:rPr lang="zh-CN" altLang="en-US" sz="2400" b="1" dirty="0">
                <a:solidFill>
                  <a:schemeClr val="accent1"/>
                </a:solidFill>
                <a:latin typeface="+mn-ea"/>
              </a:rPr>
              <a:t>对名字的访问</a:t>
            </a:r>
            <a:endParaRPr lang="zh-CN" altLang="en-US" sz="2400" b="1" dirty="0">
              <a:solidFill>
                <a:schemeClr val="accent1"/>
              </a:solidFill>
              <a:latin typeface="+mn-ea"/>
            </a:endParaRPr>
          </a:p>
          <a:p>
            <a:pPr lvl="2">
              <a:lnSpc>
                <a:spcPct val="150000"/>
              </a:lnSpc>
            </a:pPr>
            <a:r>
              <a:rPr lang="zh-CN" altLang="en-US" sz="2400" b="1" dirty="0">
                <a:solidFill>
                  <a:srgbClr val="030305"/>
                </a:solidFill>
                <a:latin typeface="+mn-ea"/>
              </a:rPr>
              <a:t>局部临时变量</a:t>
            </a:r>
            <a:endParaRPr lang="zh-CN" altLang="en-US" sz="2400" b="1" dirty="0">
              <a:solidFill>
                <a:srgbClr val="030305"/>
              </a:solidFill>
              <a:latin typeface="+mn-ea"/>
            </a:endParaRPr>
          </a:p>
          <a:p>
            <a:pPr lvl="2">
              <a:lnSpc>
                <a:spcPct val="150000"/>
              </a:lnSpc>
            </a:pPr>
            <a:r>
              <a:rPr lang="zh-CN" altLang="en-US" sz="2400" b="1" dirty="0">
                <a:solidFill>
                  <a:srgbClr val="030305"/>
                </a:solidFill>
                <a:latin typeface="+mn-ea"/>
              </a:rPr>
              <a:t>嵌套声明</a:t>
            </a:r>
            <a:endParaRPr lang="en-US" altLang="zh-CN" sz="2400" b="1" dirty="0">
              <a:solidFill>
                <a:srgbClr val="030305"/>
              </a:solidFill>
              <a:latin typeface="+mn-ea"/>
            </a:endParaRPr>
          </a:p>
          <a:p>
            <a:pPr lvl="2">
              <a:lnSpc>
                <a:spcPct val="150000"/>
              </a:lnSpc>
            </a:pPr>
            <a:r>
              <a:rPr lang="zh-CN" altLang="en-US" sz="2400" b="1" dirty="0">
                <a:solidFill>
                  <a:srgbClr val="030305"/>
                </a:solidFill>
                <a:latin typeface="+mn-ea"/>
              </a:rPr>
              <a:t>如何处理可变长度的问题</a:t>
            </a:r>
            <a:endParaRPr lang="zh-CN" altLang="en-US" sz="2400"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7">
                                            <p:txEl>
                                              <p:pRg st="1" end="1"/>
                                            </p:txEl>
                                          </p:spTgt>
                                        </p:tgtEl>
                                        <p:attrNameLst>
                                          <p:attrName>style.visibility</p:attrName>
                                        </p:attrNameLst>
                                      </p:cBhvr>
                                      <p:to>
                                        <p:strVal val="visible"/>
                                      </p:to>
                                    </p:set>
                                    <p:animEffect transition="in" filter="barn(inHorizontal)">
                                      <p:cBhvr>
                                        <p:cTn id="7" dur="500"/>
                                        <p:tgtEl>
                                          <p:spTgt spid="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txBox="1">
            <a:spLocks noChangeArrowheads="1"/>
          </p:cNvSpPr>
          <p:nvPr/>
        </p:nvSpPr>
        <p:spPr>
          <a:xfrm>
            <a:off x="472440" y="1151255"/>
            <a:ext cx="11398250" cy="2392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sz="2400" b="1" dirty="0">
                <a:solidFill>
                  <a:srgbClr val="020202"/>
                </a:solidFill>
              </a:rPr>
              <a:t>对名字的</a:t>
            </a:r>
            <a:r>
              <a:rPr lang="zh-CN" altLang="en-US" sz="2400" b="1" dirty="0">
                <a:solidFill>
                  <a:srgbClr val="020202"/>
                </a:solidFill>
              </a:rPr>
              <a:t>访问</a:t>
            </a:r>
            <a:endParaRPr lang="zh-CN" altLang="en-US" sz="2400" b="1" dirty="0">
              <a:solidFill>
                <a:srgbClr val="020202"/>
              </a:solidFill>
            </a:endParaRPr>
          </a:p>
          <a:p>
            <a:pPr marL="457200" indent="-457200">
              <a:lnSpc>
                <a:spcPct val="125000"/>
              </a:lnSpc>
              <a:spcBef>
                <a:spcPts val="0"/>
              </a:spcBef>
              <a:spcAft>
                <a:spcPts val="0"/>
              </a:spcAft>
              <a:buFont typeface="+mj-ea"/>
              <a:buAutoNum type="circleNumDbPlain"/>
            </a:pPr>
            <a:r>
              <a:rPr lang="zh-CN" altLang="en-US" sz="2400" b="1" dirty="0">
                <a:solidFill>
                  <a:srgbClr val="020202"/>
                </a:solidFill>
              </a:rPr>
              <a:t>在没有局部过程的基于栈的运行时环境中，所有的非局部的名字都是全局的</a:t>
            </a:r>
            <a:r>
              <a:rPr lang="zh-CN" altLang="en-US" sz="2400" b="1" dirty="0">
                <a:solidFill>
                  <a:schemeClr val="accent1"/>
                </a:solidFill>
              </a:rPr>
              <a:t>，因此也就是静态的，都具有一个固定的静态地址，可以被直接访问。</a:t>
            </a:r>
            <a:endParaRPr lang="zh-CN" altLang="en-US" sz="2400" b="1" dirty="0">
              <a:solidFill>
                <a:schemeClr val="accent1"/>
              </a:solidFill>
            </a:endParaRPr>
          </a:p>
          <a:p>
            <a:pPr marL="457200" indent="-457200">
              <a:lnSpc>
                <a:spcPct val="125000"/>
              </a:lnSpc>
              <a:spcBef>
                <a:spcPts val="0"/>
              </a:spcBef>
              <a:spcAft>
                <a:spcPts val="0"/>
              </a:spcAft>
              <a:buFont typeface="+mj-ea"/>
              <a:buAutoNum type="circleNumDbPlain"/>
            </a:pPr>
            <a:r>
              <a:rPr lang="zh-CN" altLang="en-US" sz="2400" b="1" dirty="0">
                <a:solidFill>
                  <a:srgbClr val="020202"/>
                </a:solidFill>
              </a:rPr>
              <a:t>如果函数声明在编译时是固定的，为每个声明分配的存储器大小也根据其数据类型而固定，</a:t>
            </a:r>
            <a:r>
              <a:rPr lang="zh-CN" altLang="en-US" sz="2400" b="1" dirty="0">
                <a:solidFill>
                  <a:schemeClr val="accent1"/>
                </a:solidFill>
              </a:rPr>
              <a:t>每个实参和局部声明偏移量可由编译程序计算。</a:t>
            </a:r>
            <a:endParaRPr lang="zh-CN" altLang="en-US" sz="2400" dirty="0">
              <a:solidFill>
                <a:schemeClr val="accent1"/>
              </a:solidFill>
            </a:endParaRPr>
          </a:p>
        </p:txBody>
      </p:sp>
      <p:sp useBgFill="1">
        <p:nvSpPr>
          <p:cNvPr id="2" name="Rectangle 2"/>
          <p:cNvSpPr>
            <a:spLocks noChangeArrowheads="1"/>
          </p:cNvSpPr>
          <p:nvPr>
            <p:custDataLst>
              <p:tags r:id="rId1"/>
            </p:custDataLst>
          </p:nvPr>
        </p:nvSpPr>
        <p:spPr bwMode="auto">
          <a:xfrm>
            <a:off x="3576003" y="4189730"/>
            <a:ext cx="2362200" cy="1371600"/>
          </a:xfrm>
          <a:prstGeom prst="rect">
            <a:avLst/>
          </a:prstGeom>
          <a:ln w="9525">
            <a:solidFill>
              <a:srgbClr val="020202"/>
            </a:solidFill>
            <a:miter lim="800000"/>
          </a:ln>
        </p:spPr>
        <p:txBody>
          <a:bodyPr wrap="none" anchor="ctr"/>
          <a:lstStyle/>
          <a:p>
            <a:pPr algn="ctr"/>
            <a:r>
              <a:rPr lang="en-US" altLang="zh-CN" sz="2400" b="1" dirty="0">
                <a:solidFill>
                  <a:srgbClr val="020202"/>
                </a:solidFill>
                <a:latin typeface="+mn-ea"/>
              </a:rPr>
              <a:t>m:2     </a:t>
            </a:r>
            <a:endParaRPr lang="en-US" altLang="zh-CN" sz="2400" b="1" dirty="0">
              <a:solidFill>
                <a:srgbClr val="020202"/>
              </a:solidFill>
              <a:latin typeface="+mn-ea"/>
            </a:endParaRPr>
          </a:p>
          <a:p>
            <a:pPr algn="ctr"/>
            <a:r>
              <a:rPr lang="zh-CN" altLang="en-US" sz="2400" b="1" dirty="0">
                <a:solidFill>
                  <a:srgbClr val="020202"/>
                </a:solidFill>
                <a:latin typeface="+mn-ea"/>
              </a:rPr>
              <a:t>返回地址</a:t>
            </a:r>
            <a:endParaRPr lang="zh-CN" altLang="en-US" sz="2400" b="1" dirty="0">
              <a:solidFill>
                <a:srgbClr val="020202"/>
              </a:solidFill>
              <a:latin typeface="+mn-ea"/>
            </a:endParaRPr>
          </a:p>
          <a:p>
            <a:pPr algn="ctr"/>
            <a:r>
              <a:rPr lang="zh-CN" altLang="en-US" sz="2400" b="1" dirty="0">
                <a:solidFill>
                  <a:srgbClr val="020202"/>
                </a:solidFill>
                <a:latin typeface="+mn-ea"/>
              </a:rPr>
              <a:t>控制链</a:t>
            </a:r>
            <a:endParaRPr lang="zh-CN" altLang="en-US" sz="2400" b="1" dirty="0">
              <a:solidFill>
                <a:srgbClr val="020202"/>
              </a:solidFill>
              <a:latin typeface="+mn-ea"/>
            </a:endParaRPr>
          </a:p>
          <a:p>
            <a:pPr algn="ctr"/>
            <a:r>
              <a:rPr lang="en-US" altLang="zh-CN" sz="2400" b="1" dirty="0">
                <a:solidFill>
                  <a:srgbClr val="020202"/>
                </a:solidFill>
                <a:latin typeface="+mn-ea"/>
              </a:rPr>
              <a:t>y:1</a:t>
            </a:r>
            <a:endParaRPr lang="en-US" altLang="zh-CN" sz="2400" b="1" dirty="0">
              <a:solidFill>
                <a:srgbClr val="020202"/>
              </a:solidFill>
              <a:latin typeface="+mn-ea"/>
            </a:endParaRPr>
          </a:p>
        </p:txBody>
      </p:sp>
      <p:sp>
        <p:nvSpPr>
          <p:cNvPr id="3" name="Line 3"/>
          <p:cNvSpPr>
            <a:spLocks noChangeShapeType="1"/>
          </p:cNvSpPr>
          <p:nvPr>
            <p:custDataLst>
              <p:tags r:id="rId2"/>
            </p:custDataLst>
          </p:nvPr>
        </p:nvSpPr>
        <p:spPr bwMode="auto">
          <a:xfrm>
            <a:off x="3576003" y="4494530"/>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8" name="Line 4"/>
          <p:cNvSpPr>
            <a:spLocks noChangeShapeType="1"/>
          </p:cNvSpPr>
          <p:nvPr>
            <p:custDataLst>
              <p:tags r:id="rId3"/>
            </p:custDataLst>
          </p:nvPr>
        </p:nvSpPr>
        <p:spPr bwMode="auto">
          <a:xfrm>
            <a:off x="3576003" y="4875530"/>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9" name="Line 5"/>
          <p:cNvSpPr>
            <a:spLocks noChangeShapeType="1"/>
          </p:cNvSpPr>
          <p:nvPr>
            <p:custDataLst>
              <p:tags r:id="rId4"/>
            </p:custDataLst>
          </p:nvPr>
        </p:nvSpPr>
        <p:spPr bwMode="auto">
          <a:xfrm>
            <a:off x="3576003" y="5256530"/>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0" name="Line 6"/>
          <p:cNvSpPr>
            <a:spLocks noChangeShapeType="1"/>
          </p:cNvSpPr>
          <p:nvPr>
            <p:custDataLst>
              <p:tags r:id="rId5"/>
            </p:custDataLst>
          </p:nvPr>
        </p:nvSpPr>
        <p:spPr bwMode="auto">
          <a:xfrm>
            <a:off x="2661603" y="5256530"/>
            <a:ext cx="9144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1" name="Rectangle 7"/>
          <p:cNvSpPr>
            <a:spLocks noChangeArrowheads="1"/>
          </p:cNvSpPr>
          <p:nvPr>
            <p:custDataLst>
              <p:tags r:id="rId6"/>
            </p:custDataLst>
          </p:nvPr>
        </p:nvSpPr>
        <p:spPr bwMode="auto">
          <a:xfrm>
            <a:off x="1882469" y="5023465"/>
            <a:ext cx="7118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err="1">
                <a:solidFill>
                  <a:srgbClr val="020202"/>
                </a:solidFill>
                <a:latin typeface="+mn-ea"/>
              </a:rPr>
              <a:t>ebp</a:t>
            </a:r>
            <a:endParaRPr lang="en-US" altLang="zh-CN" sz="2400" b="1" dirty="0">
              <a:solidFill>
                <a:srgbClr val="020202"/>
              </a:solidFill>
              <a:latin typeface="+mn-ea"/>
            </a:endParaRPr>
          </a:p>
        </p:txBody>
      </p:sp>
      <p:sp>
        <p:nvSpPr>
          <p:cNvPr id="32" name="Line 8"/>
          <p:cNvSpPr>
            <a:spLocks noChangeShapeType="1"/>
          </p:cNvSpPr>
          <p:nvPr>
            <p:custDataLst>
              <p:tags r:id="rId7"/>
            </p:custDataLst>
          </p:nvPr>
        </p:nvSpPr>
        <p:spPr bwMode="auto">
          <a:xfrm>
            <a:off x="5938203" y="4494530"/>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3" name="Line 9"/>
          <p:cNvSpPr>
            <a:spLocks noChangeShapeType="1"/>
          </p:cNvSpPr>
          <p:nvPr>
            <p:custDataLst>
              <p:tags r:id="rId8"/>
            </p:custDataLst>
          </p:nvPr>
        </p:nvSpPr>
        <p:spPr bwMode="auto">
          <a:xfrm>
            <a:off x="5938203" y="5256530"/>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4" name="Line 10"/>
          <p:cNvSpPr>
            <a:spLocks noChangeShapeType="1"/>
          </p:cNvSpPr>
          <p:nvPr>
            <p:custDataLst>
              <p:tags r:id="rId9"/>
            </p:custDataLst>
          </p:nvPr>
        </p:nvSpPr>
        <p:spPr bwMode="auto">
          <a:xfrm>
            <a:off x="5862003" y="5561330"/>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5" name="Line 11"/>
          <p:cNvSpPr>
            <a:spLocks noChangeShapeType="1"/>
          </p:cNvSpPr>
          <p:nvPr>
            <p:custDataLst>
              <p:tags r:id="rId10"/>
            </p:custDataLst>
          </p:nvPr>
        </p:nvSpPr>
        <p:spPr bwMode="auto">
          <a:xfrm>
            <a:off x="6547803" y="5318443"/>
            <a:ext cx="0" cy="242887"/>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6" name="Line 12"/>
          <p:cNvSpPr>
            <a:spLocks noChangeShapeType="1"/>
          </p:cNvSpPr>
          <p:nvPr>
            <p:custDataLst>
              <p:tags r:id="rId11"/>
            </p:custDataLst>
          </p:nvPr>
        </p:nvSpPr>
        <p:spPr bwMode="auto">
          <a:xfrm flipV="1">
            <a:off x="6243003" y="4494530"/>
            <a:ext cx="0" cy="76200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7" name="Rectangle 13"/>
          <p:cNvSpPr>
            <a:spLocks noChangeArrowheads="1"/>
          </p:cNvSpPr>
          <p:nvPr>
            <p:custDataLst>
              <p:tags r:id="rId12"/>
            </p:custDataLst>
          </p:nvPr>
        </p:nvSpPr>
        <p:spPr bwMode="auto">
          <a:xfrm>
            <a:off x="6395403" y="4646930"/>
            <a:ext cx="12960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202"/>
                </a:solidFill>
                <a:latin typeface="+mn-ea"/>
              </a:rPr>
              <a:t>mOffset</a:t>
            </a:r>
            <a:endParaRPr lang="zh-CN" altLang="en-US" sz="2400" b="1">
              <a:solidFill>
                <a:srgbClr val="020202"/>
              </a:solidFill>
              <a:latin typeface="+mn-ea"/>
            </a:endParaRPr>
          </a:p>
        </p:txBody>
      </p:sp>
      <p:sp>
        <p:nvSpPr>
          <p:cNvPr id="38" name="Rectangle 14"/>
          <p:cNvSpPr>
            <a:spLocks noChangeArrowheads="1"/>
          </p:cNvSpPr>
          <p:nvPr>
            <p:custDataLst>
              <p:tags r:id="rId13"/>
            </p:custDataLst>
          </p:nvPr>
        </p:nvSpPr>
        <p:spPr bwMode="auto">
          <a:xfrm>
            <a:off x="6700203" y="5180330"/>
            <a:ext cx="1181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202"/>
                </a:solidFill>
                <a:latin typeface="+mn-ea"/>
              </a:rPr>
              <a:t>yOffset</a:t>
            </a:r>
            <a:endParaRPr lang="zh-CN" altLang="en-US" sz="2400" b="1">
              <a:solidFill>
                <a:srgbClr val="020202"/>
              </a:solidFill>
              <a:latin typeface="+mn-ea"/>
            </a:endParaRPr>
          </a:p>
        </p:txBody>
      </p:sp>
      <p:sp>
        <p:nvSpPr>
          <p:cNvPr id="39" name="Rectangle 15"/>
          <p:cNvSpPr>
            <a:spLocks noChangeArrowheads="1"/>
          </p:cNvSpPr>
          <p:nvPr>
            <p:custDataLst>
              <p:tags r:id="rId14"/>
            </p:custDataLst>
          </p:nvPr>
        </p:nvSpPr>
        <p:spPr bwMode="auto">
          <a:xfrm>
            <a:off x="2600562" y="5899192"/>
            <a:ext cx="18878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202"/>
                </a:solidFill>
                <a:latin typeface="+mn-ea"/>
              </a:rPr>
              <a:t>mOffset=+8</a:t>
            </a:r>
            <a:endParaRPr lang="zh-CN" altLang="en-US" sz="2400" b="1">
              <a:solidFill>
                <a:srgbClr val="020202"/>
              </a:solidFill>
              <a:latin typeface="+mn-ea"/>
            </a:endParaRPr>
          </a:p>
        </p:txBody>
      </p:sp>
      <p:sp>
        <p:nvSpPr>
          <p:cNvPr id="40" name="Rectangle 16"/>
          <p:cNvSpPr>
            <a:spLocks noChangeArrowheads="1"/>
          </p:cNvSpPr>
          <p:nvPr>
            <p:custDataLst>
              <p:tags r:id="rId15"/>
            </p:custDataLst>
          </p:nvPr>
        </p:nvSpPr>
        <p:spPr bwMode="auto">
          <a:xfrm>
            <a:off x="5080953" y="5903657"/>
            <a:ext cx="17138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err="1">
                <a:solidFill>
                  <a:srgbClr val="020202"/>
                </a:solidFill>
                <a:latin typeface="+mn-ea"/>
              </a:rPr>
              <a:t>yOffset</a:t>
            </a:r>
            <a:r>
              <a:rPr lang="en-US" altLang="zh-CN" sz="2400" b="1" dirty="0">
                <a:solidFill>
                  <a:srgbClr val="020202"/>
                </a:solidFill>
                <a:latin typeface="+mn-ea"/>
              </a:rPr>
              <a:t>=-4</a:t>
            </a:r>
            <a:endParaRPr lang="zh-CN" altLang="en-US" sz="2400" b="1" dirty="0">
              <a:solidFill>
                <a:srgbClr val="020202"/>
              </a:solidFill>
              <a:latin typeface="+mn-ea"/>
            </a:endParaRPr>
          </a:p>
        </p:txBody>
      </p:sp>
      <p:sp>
        <p:nvSpPr>
          <p:cNvPr id="41" name="Line 17"/>
          <p:cNvSpPr>
            <a:spLocks noChangeShapeType="1"/>
          </p:cNvSpPr>
          <p:nvPr>
            <p:custDataLst>
              <p:tags r:id="rId16"/>
            </p:custDataLst>
          </p:nvPr>
        </p:nvSpPr>
        <p:spPr bwMode="auto">
          <a:xfrm flipV="1">
            <a:off x="3576003" y="3732530"/>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2" name="Line 18"/>
          <p:cNvSpPr>
            <a:spLocks noChangeShapeType="1"/>
          </p:cNvSpPr>
          <p:nvPr>
            <p:custDataLst>
              <p:tags r:id="rId17"/>
            </p:custDataLst>
          </p:nvPr>
        </p:nvSpPr>
        <p:spPr bwMode="auto">
          <a:xfrm flipV="1">
            <a:off x="5938203" y="3656330"/>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3" name="Line 19"/>
          <p:cNvSpPr>
            <a:spLocks noChangeShapeType="1"/>
          </p:cNvSpPr>
          <p:nvPr>
            <p:custDataLst>
              <p:tags r:id="rId18"/>
            </p:custDataLst>
          </p:nvPr>
        </p:nvSpPr>
        <p:spPr bwMode="auto">
          <a:xfrm>
            <a:off x="3576003" y="5561330"/>
            <a:ext cx="0" cy="3810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4" name="Line 20"/>
          <p:cNvSpPr>
            <a:spLocks noChangeShapeType="1"/>
          </p:cNvSpPr>
          <p:nvPr>
            <p:custDataLst>
              <p:tags r:id="rId19"/>
            </p:custDataLst>
          </p:nvPr>
        </p:nvSpPr>
        <p:spPr bwMode="auto">
          <a:xfrm>
            <a:off x="5938203" y="5485130"/>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5" name="Rectangle 21"/>
          <p:cNvSpPr>
            <a:spLocks noChangeArrowheads="1"/>
          </p:cNvSpPr>
          <p:nvPr>
            <p:custDataLst>
              <p:tags r:id="rId20"/>
            </p:custDataLst>
          </p:nvPr>
        </p:nvSpPr>
        <p:spPr bwMode="auto">
          <a:xfrm>
            <a:off x="7919403" y="3656330"/>
            <a:ext cx="1828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mn-ea"/>
              </a:rPr>
              <a:t>高端地址</a:t>
            </a:r>
            <a:endParaRPr lang="zh-CN" altLang="en-US" sz="2400" b="1">
              <a:solidFill>
                <a:srgbClr val="020202"/>
              </a:solidFill>
              <a:latin typeface="+mn-ea"/>
            </a:endParaRPr>
          </a:p>
        </p:txBody>
      </p:sp>
      <p:sp>
        <p:nvSpPr>
          <p:cNvPr id="46" name="Line 22"/>
          <p:cNvSpPr>
            <a:spLocks noChangeShapeType="1"/>
          </p:cNvSpPr>
          <p:nvPr>
            <p:custDataLst>
              <p:tags r:id="rId21"/>
            </p:custDataLst>
          </p:nvPr>
        </p:nvSpPr>
        <p:spPr bwMode="auto">
          <a:xfrm>
            <a:off x="8605203" y="4113530"/>
            <a:ext cx="0" cy="12192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7" name="Rectangle 23"/>
          <p:cNvSpPr>
            <a:spLocks noChangeArrowheads="1"/>
          </p:cNvSpPr>
          <p:nvPr>
            <p:custDataLst>
              <p:tags r:id="rId22"/>
            </p:custDataLst>
          </p:nvPr>
        </p:nvSpPr>
        <p:spPr bwMode="auto">
          <a:xfrm>
            <a:off x="7919403" y="5408930"/>
            <a:ext cx="1828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mn-ea"/>
              </a:rPr>
              <a:t>低端地址</a:t>
            </a:r>
            <a:endParaRPr lang="zh-CN" altLang="en-US" sz="2400" b="1">
              <a:solidFill>
                <a:srgbClr val="020202"/>
              </a:solidFill>
              <a:latin typeface="+mn-ea"/>
            </a:endParaRPr>
          </a:p>
        </p:txBody>
      </p:sp>
      <p:sp>
        <p:nvSpPr>
          <p:cNvPr id="49" name="文本占位符 48"/>
          <p:cNvSpPr>
            <a:spLocks noGrp="1"/>
          </p:cNvSpPr>
          <p:nvPr>
            <p:ph type="body" sz="quarter" idx="14"/>
            <p:custDataLst>
              <p:tags r:id="rId23"/>
            </p:custDataLst>
          </p:nvPr>
        </p:nvSpPr>
        <p:spPr>
          <a:xfrm>
            <a:off x="305435" y="276860"/>
            <a:ext cx="7188835"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strips(down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strips(downLef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trips(down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38338" y="1725769"/>
            <a:ext cx="3319464" cy="15762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Rectangle 2"/>
          <p:cNvSpPr>
            <a:spLocks noChangeArrowheads="1"/>
          </p:cNvSpPr>
          <p:nvPr/>
        </p:nvSpPr>
        <p:spPr bwMode="auto">
          <a:xfrm>
            <a:off x="1938338" y="1301453"/>
            <a:ext cx="3578225" cy="199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20202"/>
                </a:solidFill>
                <a:latin typeface="+mn-ea"/>
              </a:rPr>
              <a:t>例：考虑下面的</a:t>
            </a:r>
            <a:r>
              <a:rPr lang="en-US" altLang="zh-CN" sz="2400" b="1" dirty="0">
                <a:solidFill>
                  <a:srgbClr val="020202"/>
                </a:solidFill>
                <a:latin typeface="+mn-ea"/>
              </a:rPr>
              <a:t>C</a:t>
            </a:r>
            <a:r>
              <a:rPr lang="zh-CN" altLang="en-US" sz="2400" b="1" dirty="0">
                <a:solidFill>
                  <a:srgbClr val="020202"/>
                </a:solidFill>
                <a:latin typeface="+mn-ea"/>
              </a:rPr>
              <a:t>过程</a:t>
            </a:r>
            <a:endParaRPr lang="zh-CN" altLang="en-US" sz="2400" b="1" dirty="0">
              <a:solidFill>
                <a:srgbClr val="020202"/>
              </a:solidFill>
              <a:latin typeface="+mn-ea"/>
            </a:endParaRPr>
          </a:p>
          <a:p>
            <a:r>
              <a:rPr lang="en-US" altLang="zh-CN" sz="2000" b="1" dirty="0">
                <a:solidFill>
                  <a:srgbClr val="020202"/>
                </a:solidFill>
                <a:latin typeface="Courier New" panose="02070309020205020404" pitchFamily="49" charset="0"/>
                <a:cs typeface="Courier New" panose="02070309020205020404" pitchFamily="49" charset="0"/>
              </a:rPr>
              <a:t>Void f(int x, char c)</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{int a[10];</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 double y;</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 ……</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a:t>
            </a:r>
            <a:endParaRPr lang="zh-CN" altLang="en-US" sz="2000" b="1" dirty="0">
              <a:solidFill>
                <a:srgbClr val="020202"/>
              </a:solidFill>
              <a:latin typeface="Courier New" panose="02070309020205020404" pitchFamily="49" charset="0"/>
              <a:cs typeface="Courier New" panose="02070309020205020404" pitchFamily="49" charset="0"/>
            </a:endParaRPr>
          </a:p>
        </p:txBody>
      </p:sp>
      <p:sp useBgFill="1">
        <p:nvSpPr>
          <p:cNvPr id="30" name="Rectangle 3"/>
          <p:cNvSpPr>
            <a:spLocks noChangeArrowheads="1"/>
          </p:cNvSpPr>
          <p:nvPr/>
        </p:nvSpPr>
        <p:spPr bwMode="auto">
          <a:xfrm>
            <a:off x="5914620" y="2234689"/>
            <a:ext cx="2362200" cy="2819400"/>
          </a:xfrm>
          <a:prstGeom prst="rect">
            <a:avLst/>
          </a:prstGeom>
          <a:ln w="9525">
            <a:solidFill>
              <a:srgbClr val="020202"/>
            </a:solidFill>
            <a:miter lim="800000"/>
          </a:ln>
        </p:spPr>
        <p:txBody>
          <a:bodyPr wrap="none" anchor="ctr"/>
          <a:lstStyle/>
          <a:p>
            <a:pPr algn="ctr"/>
            <a:r>
              <a:rPr lang="en-US" altLang="zh-CN" sz="2000" b="1">
                <a:solidFill>
                  <a:srgbClr val="020202"/>
                </a:solidFill>
                <a:latin typeface="+mn-ea"/>
              </a:rPr>
              <a:t>c</a:t>
            </a:r>
            <a:endParaRPr lang="en-US" altLang="zh-CN" sz="2000" b="1">
              <a:solidFill>
                <a:srgbClr val="020202"/>
              </a:solidFill>
              <a:latin typeface="+mn-ea"/>
            </a:endParaRPr>
          </a:p>
          <a:p>
            <a:pPr algn="ctr"/>
            <a:r>
              <a:rPr lang="en-US" altLang="zh-CN" sz="2000" b="1">
                <a:solidFill>
                  <a:srgbClr val="020202"/>
                </a:solidFill>
                <a:latin typeface="+mn-ea"/>
              </a:rPr>
              <a:t>x</a:t>
            </a:r>
            <a:endParaRPr lang="en-US" altLang="zh-CN" sz="2000" b="1">
              <a:solidFill>
                <a:srgbClr val="020202"/>
              </a:solidFill>
              <a:latin typeface="+mn-ea"/>
            </a:endParaRPr>
          </a:p>
          <a:p>
            <a:pPr algn="ctr"/>
            <a:r>
              <a:rPr lang="en-US" altLang="zh-CN" sz="2000" b="1">
                <a:solidFill>
                  <a:srgbClr val="020202"/>
                </a:solidFill>
                <a:latin typeface="+mn-ea"/>
              </a:rPr>
              <a:t>  </a:t>
            </a:r>
            <a:r>
              <a:rPr lang="zh-CN" altLang="en-US" sz="2000" b="1">
                <a:solidFill>
                  <a:srgbClr val="020202"/>
                </a:solidFill>
                <a:latin typeface="+mn-ea"/>
              </a:rPr>
              <a:t> 返回地址</a:t>
            </a:r>
            <a:endParaRPr lang="zh-CN" altLang="en-US" sz="2000" b="1">
              <a:solidFill>
                <a:srgbClr val="020202"/>
              </a:solidFill>
              <a:latin typeface="+mn-ea"/>
            </a:endParaRPr>
          </a:p>
          <a:p>
            <a:pPr algn="ctr"/>
            <a:r>
              <a:rPr lang="zh-CN" altLang="en-US" sz="2000" b="1">
                <a:solidFill>
                  <a:srgbClr val="020202"/>
                </a:solidFill>
                <a:latin typeface="+mn-ea"/>
              </a:rPr>
              <a:t>控制链</a:t>
            </a:r>
            <a:endParaRPr lang="zh-CN" altLang="en-US" sz="2000" b="1">
              <a:solidFill>
                <a:srgbClr val="020202"/>
              </a:solidFill>
              <a:latin typeface="+mn-ea"/>
            </a:endParaRPr>
          </a:p>
          <a:p>
            <a:pPr algn="ctr"/>
            <a:r>
              <a:rPr lang="en-US" altLang="zh-CN" sz="2000" b="1">
                <a:solidFill>
                  <a:srgbClr val="020202"/>
                </a:solidFill>
                <a:latin typeface="+mn-ea"/>
              </a:rPr>
              <a:t>a[9]</a:t>
            </a:r>
            <a:endParaRPr lang="en-US" altLang="zh-CN" sz="2000" b="1">
              <a:solidFill>
                <a:srgbClr val="020202"/>
              </a:solidFill>
              <a:latin typeface="+mn-ea"/>
            </a:endParaRPr>
          </a:p>
          <a:p>
            <a:pPr algn="ctr"/>
            <a:r>
              <a:rPr lang="en-US" altLang="zh-CN" sz="2000" b="1">
                <a:solidFill>
                  <a:srgbClr val="020202"/>
                </a:solidFill>
                <a:latin typeface="+mn-ea"/>
              </a:rPr>
              <a:t>…</a:t>
            </a:r>
            <a:endParaRPr lang="en-US" altLang="zh-CN" sz="2000" b="1">
              <a:solidFill>
                <a:srgbClr val="020202"/>
              </a:solidFill>
              <a:latin typeface="+mn-ea"/>
            </a:endParaRPr>
          </a:p>
          <a:p>
            <a:pPr algn="ctr"/>
            <a:r>
              <a:rPr lang="en-US" altLang="zh-CN" sz="2000" b="1">
                <a:solidFill>
                  <a:srgbClr val="020202"/>
                </a:solidFill>
                <a:latin typeface="+mn-ea"/>
              </a:rPr>
              <a:t>a[2]</a:t>
            </a:r>
            <a:endParaRPr lang="en-US" altLang="zh-CN" sz="2000" b="1">
              <a:solidFill>
                <a:srgbClr val="020202"/>
              </a:solidFill>
              <a:latin typeface="+mn-ea"/>
            </a:endParaRPr>
          </a:p>
          <a:p>
            <a:pPr algn="ctr"/>
            <a:r>
              <a:rPr lang="en-US" altLang="zh-CN" sz="2000" b="1">
                <a:solidFill>
                  <a:srgbClr val="020202"/>
                </a:solidFill>
                <a:latin typeface="+mn-ea"/>
              </a:rPr>
              <a:t>a[0]</a:t>
            </a:r>
            <a:endParaRPr lang="en-US" altLang="zh-CN" sz="2000" b="1">
              <a:solidFill>
                <a:srgbClr val="020202"/>
              </a:solidFill>
              <a:latin typeface="+mn-ea"/>
            </a:endParaRPr>
          </a:p>
          <a:p>
            <a:pPr algn="ctr"/>
            <a:r>
              <a:rPr lang="en-US" altLang="zh-CN" sz="2000" b="1">
                <a:solidFill>
                  <a:srgbClr val="020202"/>
                </a:solidFill>
                <a:latin typeface="+mn-ea"/>
              </a:rPr>
              <a:t>y</a:t>
            </a:r>
            <a:endParaRPr lang="en-US" altLang="zh-CN" sz="2000" b="1">
              <a:solidFill>
                <a:srgbClr val="020202"/>
              </a:solidFill>
              <a:latin typeface="+mn-ea"/>
            </a:endParaRPr>
          </a:p>
        </p:txBody>
      </p:sp>
      <p:sp>
        <p:nvSpPr>
          <p:cNvPr id="31" name="Line 4"/>
          <p:cNvSpPr>
            <a:spLocks noChangeShapeType="1"/>
          </p:cNvSpPr>
          <p:nvPr/>
        </p:nvSpPr>
        <p:spPr bwMode="auto">
          <a:xfrm>
            <a:off x="5914620" y="25394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2" name="Line 5"/>
          <p:cNvSpPr>
            <a:spLocks noChangeShapeType="1"/>
          </p:cNvSpPr>
          <p:nvPr/>
        </p:nvSpPr>
        <p:spPr bwMode="auto">
          <a:xfrm>
            <a:off x="5914620" y="28442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3" name="Line 6"/>
          <p:cNvSpPr>
            <a:spLocks noChangeShapeType="1"/>
          </p:cNvSpPr>
          <p:nvPr/>
        </p:nvSpPr>
        <p:spPr bwMode="auto">
          <a:xfrm>
            <a:off x="5914620" y="31490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4" name="Line 7"/>
          <p:cNvSpPr>
            <a:spLocks noChangeShapeType="1"/>
          </p:cNvSpPr>
          <p:nvPr/>
        </p:nvSpPr>
        <p:spPr bwMode="auto">
          <a:xfrm>
            <a:off x="5305020" y="3453889"/>
            <a:ext cx="585787"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5" name="Rectangle 8"/>
          <p:cNvSpPr>
            <a:spLocks noChangeArrowheads="1"/>
          </p:cNvSpPr>
          <p:nvPr/>
        </p:nvSpPr>
        <p:spPr bwMode="auto">
          <a:xfrm>
            <a:off x="4771620" y="3301489"/>
            <a:ext cx="62420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solidFill>
                  <a:srgbClr val="020202"/>
                </a:solidFill>
                <a:latin typeface="+mn-ea"/>
              </a:rPr>
              <a:t>ebp</a:t>
            </a:r>
            <a:endParaRPr lang="en-US" altLang="zh-CN" sz="2000" b="1" dirty="0">
              <a:solidFill>
                <a:srgbClr val="020202"/>
              </a:solidFill>
              <a:latin typeface="+mn-ea"/>
            </a:endParaRPr>
          </a:p>
        </p:txBody>
      </p:sp>
      <p:sp>
        <p:nvSpPr>
          <p:cNvPr id="36" name="Line 9"/>
          <p:cNvSpPr>
            <a:spLocks noChangeShapeType="1"/>
          </p:cNvSpPr>
          <p:nvPr/>
        </p:nvSpPr>
        <p:spPr bwMode="auto">
          <a:xfrm>
            <a:off x="8276820" y="2539489"/>
            <a:ext cx="3048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7" name="Line 10"/>
          <p:cNvSpPr>
            <a:spLocks noChangeShapeType="1"/>
          </p:cNvSpPr>
          <p:nvPr/>
        </p:nvSpPr>
        <p:spPr bwMode="auto">
          <a:xfrm>
            <a:off x="8276820" y="3439602"/>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8" name="Line 11"/>
          <p:cNvSpPr>
            <a:spLocks noChangeShapeType="1"/>
          </p:cNvSpPr>
          <p:nvPr/>
        </p:nvSpPr>
        <p:spPr bwMode="auto">
          <a:xfrm>
            <a:off x="8376832" y="4673089"/>
            <a:ext cx="3810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9" name="Line 12"/>
          <p:cNvSpPr>
            <a:spLocks noChangeShapeType="1"/>
          </p:cNvSpPr>
          <p:nvPr/>
        </p:nvSpPr>
        <p:spPr bwMode="auto">
          <a:xfrm flipV="1">
            <a:off x="8581620" y="2539489"/>
            <a:ext cx="0" cy="83820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0" name="Rectangle 13"/>
          <p:cNvSpPr>
            <a:spLocks noChangeArrowheads="1"/>
          </p:cNvSpPr>
          <p:nvPr/>
        </p:nvSpPr>
        <p:spPr bwMode="auto">
          <a:xfrm>
            <a:off x="8581620" y="2310889"/>
            <a:ext cx="10058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cOffset</a:t>
            </a:r>
            <a:endParaRPr lang="zh-CN" altLang="en-US" sz="2000" b="1">
              <a:solidFill>
                <a:srgbClr val="020202"/>
              </a:solidFill>
              <a:latin typeface="+mn-ea"/>
            </a:endParaRPr>
          </a:p>
        </p:txBody>
      </p:sp>
      <p:sp>
        <p:nvSpPr>
          <p:cNvPr id="41" name="Rectangle 14"/>
          <p:cNvSpPr>
            <a:spLocks noChangeArrowheads="1"/>
          </p:cNvSpPr>
          <p:nvPr/>
        </p:nvSpPr>
        <p:spPr bwMode="auto">
          <a:xfrm>
            <a:off x="8429220" y="3682489"/>
            <a:ext cx="12604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20202"/>
                </a:solidFill>
                <a:latin typeface="+mn-ea"/>
              </a:rPr>
              <a:t>aOffset</a:t>
            </a:r>
            <a:endParaRPr lang="zh-CN" altLang="en-US" sz="2000" b="1">
              <a:solidFill>
                <a:srgbClr val="020202"/>
              </a:solidFill>
              <a:latin typeface="+mn-ea"/>
            </a:endParaRPr>
          </a:p>
        </p:txBody>
      </p:sp>
      <p:sp>
        <p:nvSpPr>
          <p:cNvPr id="42" name="Line 15"/>
          <p:cNvSpPr>
            <a:spLocks noChangeShapeType="1"/>
          </p:cNvSpPr>
          <p:nvPr/>
        </p:nvSpPr>
        <p:spPr bwMode="auto">
          <a:xfrm>
            <a:off x="8276820" y="2844289"/>
            <a:ext cx="10668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3" name="Line 16"/>
          <p:cNvSpPr>
            <a:spLocks noChangeShapeType="1"/>
          </p:cNvSpPr>
          <p:nvPr/>
        </p:nvSpPr>
        <p:spPr bwMode="auto">
          <a:xfrm flipV="1">
            <a:off x="9343620" y="2844289"/>
            <a:ext cx="0" cy="53340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4" name="Rectangle 17"/>
          <p:cNvSpPr>
            <a:spLocks noChangeArrowheads="1"/>
          </p:cNvSpPr>
          <p:nvPr/>
        </p:nvSpPr>
        <p:spPr bwMode="auto">
          <a:xfrm>
            <a:off x="9402357" y="2768089"/>
            <a:ext cx="10134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xOffset</a:t>
            </a:r>
            <a:endParaRPr lang="zh-CN" altLang="en-US" sz="2000" b="1">
              <a:solidFill>
                <a:srgbClr val="020202"/>
              </a:solidFill>
              <a:latin typeface="+mn-ea"/>
            </a:endParaRPr>
          </a:p>
        </p:txBody>
      </p:sp>
      <p:sp>
        <p:nvSpPr>
          <p:cNvPr id="45" name="Line 18"/>
          <p:cNvSpPr>
            <a:spLocks noChangeShapeType="1"/>
          </p:cNvSpPr>
          <p:nvPr/>
        </p:nvSpPr>
        <p:spPr bwMode="auto">
          <a:xfrm>
            <a:off x="5924145" y="3444364"/>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6" name="Line 19"/>
          <p:cNvSpPr>
            <a:spLocks noChangeShapeType="1"/>
          </p:cNvSpPr>
          <p:nvPr/>
        </p:nvSpPr>
        <p:spPr bwMode="auto">
          <a:xfrm>
            <a:off x="5924145" y="3787264"/>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7" name="Line 20"/>
          <p:cNvSpPr>
            <a:spLocks noChangeShapeType="1"/>
          </p:cNvSpPr>
          <p:nvPr/>
        </p:nvSpPr>
        <p:spPr bwMode="auto">
          <a:xfrm>
            <a:off x="5924145" y="4058727"/>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8" name="Line 21"/>
          <p:cNvSpPr>
            <a:spLocks noChangeShapeType="1"/>
          </p:cNvSpPr>
          <p:nvPr/>
        </p:nvSpPr>
        <p:spPr bwMode="auto">
          <a:xfrm>
            <a:off x="5909857" y="4358764"/>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9" name="Line 22"/>
          <p:cNvSpPr>
            <a:spLocks noChangeShapeType="1"/>
          </p:cNvSpPr>
          <p:nvPr/>
        </p:nvSpPr>
        <p:spPr bwMode="auto">
          <a:xfrm>
            <a:off x="5909857" y="46730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0" name="Line 23"/>
          <p:cNvSpPr>
            <a:spLocks noChangeShapeType="1"/>
          </p:cNvSpPr>
          <p:nvPr/>
        </p:nvSpPr>
        <p:spPr bwMode="auto">
          <a:xfrm flipV="1">
            <a:off x="8300632" y="5054089"/>
            <a:ext cx="14478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1" name="Rectangle 24"/>
          <p:cNvSpPr>
            <a:spLocks noChangeArrowheads="1"/>
          </p:cNvSpPr>
          <p:nvPr/>
        </p:nvSpPr>
        <p:spPr bwMode="auto">
          <a:xfrm>
            <a:off x="9496020" y="4139689"/>
            <a:ext cx="13716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20202"/>
                </a:solidFill>
                <a:latin typeface="+mn-ea"/>
              </a:rPr>
              <a:t>yOffset</a:t>
            </a:r>
            <a:endParaRPr lang="zh-CN" altLang="en-US" sz="2000" b="1">
              <a:solidFill>
                <a:srgbClr val="020202"/>
              </a:solidFill>
              <a:latin typeface="+mn-ea"/>
            </a:endParaRPr>
          </a:p>
        </p:txBody>
      </p:sp>
      <p:sp>
        <p:nvSpPr>
          <p:cNvPr id="52" name="Rectangle 25"/>
          <p:cNvSpPr>
            <a:spLocks noChangeArrowheads="1"/>
          </p:cNvSpPr>
          <p:nvPr/>
        </p:nvSpPr>
        <p:spPr bwMode="auto">
          <a:xfrm>
            <a:off x="1909178" y="3854184"/>
            <a:ext cx="15074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xOffset=+8</a:t>
            </a:r>
            <a:endParaRPr lang="zh-CN" altLang="en-US" sz="2000" b="1">
              <a:solidFill>
                <a:srgbClr val="020202"/>
              </a:solidFill>
              <a:latin typeface="+mn-ea"/>
            </a:endParaRPr>
          </a:p>
        </p:txBody>
      </p:sp>
      <p:sp>
        <p:nvSpPr>
          <p:cNvPr id="53" name="Rectangle 26"/>
          <p:cNvSpPr>
            <a:spLocks noChangeArrowheads="1"/>
          </p:cNvSpPr>
          <p:nvPr/>
        </p:nvSpPr>
        <p:spPr bwMode="auto">
          <a:xfrm>
            <a:off x="1909178" y="4311384"/>
            <a:ext cx="19589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err="1">
                <a:solidFill>
                  <a:srgbClr val="020202"/>
                </a:solidFill>
                <a:latin typeface="+mn-ea"/>
              </a:rPr>
              <a:t>cOffset</a:t>
            </a:r>
            <a:r>
              <a:rPr lang="en-US" altLang="zh-CN" sz="2000" b="1" dirty="0">
                <a:solidFill>
                  <a:srgbClr val="020202"/>
                </a:solidFill>
                <a:latin typeface="+mn-ea"/>
              </a:rPr>
              <a:t>=+12</a:t>
            </a:r>
            <a:endParaRPr lang="zh-CN" altLang="en-US" sz="2000" b="1" dirty="0">
              <a:solidFill>
                <a:srgbClr val="020202"/>
              </a:solidFill>
              <a:latin typeface="+mn-ea"/>
            </a:endParaRPr>
          </a:p>
        </p:txBody>
      </p:sp>
      <p:sp>
        <p:nvSpPr>
          <p:cNvPr id="54" name="Rectangle 27"/>
          <p:cNvSpPr>
            <a:spLocks noChangeArrowheads="1"/>
          </p:cNvSpPr>
          <p:nvPr/>
        </p:nvSpPr>
        <p:spPr bwMode="auto">
          <a:xfrm>
            <a:off x="3814178" y="3854184"/>
            <a:ext cx="16046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aOffset=-40</a:t>
            </a:r>
            <a:endParaRPr lang="zh-CN" altLang="en-US" sz="2000" b="1">
              <a:solidFill>
                <a:srgbClr val="020202"/>
              </a:solidFill>
              <a:latin typeface="+mn-ea"/>
            </a:endParaRPr>
          </a:p>
        </p:txBody>
      </p:sp>
      <p:sp>
        <p:nvSpPr>
          <p:cNvPr id="55" name="Rectangle 28"/>
          <p:cNvSpPr>
            <a:spLocks noChangeArrowheads="1"/>
          </p:cNvSpPr>
          <p:nvPr/>
        </p:nvSpPr>
        <p:spPr bwMode="auto">
          <a:xfrm>
            <a:off x="3814178" y="4311384"/>
            <a:ext cx="16008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yOffset=-48</a:t>
            </a:r>
            <a:endParaRPr lang="zh-CN" altLang="en-US" sz="2000" b="1">
              <a:solidFill>
                <a:srgbClr val="020202"/>
              </a:solidFill>
              <a:latin typeface="+mn-ea"/>
            </a:endParaRPr>
          </a:p>
        </p:txBody>
      </p:sp>
      <p:sp>
        <p:nvSpPr>
          <p:cNvPr id="56" name="Rectangle 29"/>
          <p:cNvSpPr>
            <a:spLocks noChangeArrowheads="1"/>
          </p:cNvSpPr>
          <p:nvPr/>
        </p:nvSpPr>
        <p:spPr bwMode="auto">
          <a:xfrm>
            <a:off x="1874837" y="5387382"/>
            <a:ext cx="45859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020202"/>
                </a:solidFill>
                <a:latin typeface="+mn-ea"/>
              </a:rPr>
              <a:t>现在</a:t>
            </a:r>
            <a:r>
              <a:rPr lang="zh-CN" altLang="en-US" sz="2400" b="1" dirty="0">
                <a:solidFill>
                  <a:schemeClr val="accent1"/>
                </a:solidFill>
                <a:latin typeface="+mn-ea"/>
              </a:rPr>
              <a:t>对</a:t>
            </a:r>
            <a:r>
              <a:rPr lang="en-US" altLang="zh-CN" sz="2400" b="1" dirty="0">
                <a:solidFill>
                  <a:schemeClr val="accent1"/>
                </a:solidFill>
                <a:latin typeface="+mn-ea"/>
              </a:rPr>
              <a:t>a[</a:t>
            </a:r>
            <a:r>
              <a:rPr lang="en-US" altLang="zh-CN" sz="2400" b="1" dirty="0" err="1">
                <a:solidFill>
                  <a:schemeClr val="accent1"/>
                </a:solidFill>
                <a:latin typeface="+mn-ea"/>
              </a:rPr>
              <a:t>i</a:t>
            </a:r>
            <a:r>
              <a:rPr lang="en-US" altLang="zh-CN" sz="2400" b="1" dirty="0">
                <a:solidFill>
                  <a:schemeClr val="accent1"/>
                </a:solidFill>
                <a:latin typeface="+mn-ea"/>
              </a:rPr>
              <a:t>]</a:t>
            </a:r>
            <a:r>
              <a:rPr lang="zh-CN" altLang="en-US" sz="2400" b="1" dirty="0">
                <a:solidFill>
                  <a:schemeClr val="accent1"/>
                </a:solidFill>
                <a:latin typeface="+mn-ea"/>
              </a:rPr>
              <a:t>访问</a:t>
            </a:r>
            <a:r>
              <a:rPr lang="zh-CN" altLang="en-US" sz="2400" b="1" dirty="0">
                <a:solidFill>
                  <a:srgbClr val="020202"/>
                </a:solidFill>
                <a:latin typeface="+mn-ea"/>
              </a:rPr>
              <a:t>，要求计算地址：</a:t>
            </a:r>
            <a:endParaRPr lang="zh-CN" altLang="en-US" sz="2400" b="1" dirty="0">
              <a:solidFill>
                <a:srgbClr val="020202"/>
              </a:solidFill>
              <a:latin typeface="+mn-ea"/>
            </a:endParaRPr>
          </a:p>
          <a:p>
            <a:r>
              <a:rPr lang="zh-CN" altLang="en-US" sz="2400" b="1" dirty="0">
                <a:solidFill>
                  <a:srgbClr val="020202"/>
                </a:solidFill>
                <a:latin typeface="+mn-ea"/>
              </a:rPr>
              <a:t>(-40+4*</a:t>
            </a:r>
            <a:r>
              <a:rPr lang="en-US" altLang="zh-CN" sz="2400" b="1" dirty="0" err="1">
                <a:solidFill>
                  <a:srgbClr val="020202"/>
                </a:solidFill>
                <a:latin typeface="+mn-ea"/>
              </a:rPr>
              <a:t>i</a:t>
            </a:r>
            <a:r>
              <a:rPr lang="en-US" altLang="zh-CN" sz="2400" b="1" dirty="0">
                <a:solidFill>
                  <a:srgbClr val="020202"/>
                </a:solidFill>
                <a:latin typeface="+mn-ea"/>
              </a:rPr>
              <a:t>)(</a:t>
            </a:r>
            <a:r>
              <a:rPr lang="en-US" altLang="zh-CN" sz="2400" b="1" dirty="0" err="1">
                <a:solidFill>
                  <a:srgbClr val="020202"/>
                </a:solidFill>
                <a:latin typeface="+mn-ea"/>
              </a:rPr>
              <a:t>ebp</a:t>
            </a:r>
            <a:r>
              <a:rPr lang="en-US" altLang="zh-CN" sz="2400" b="1" dirty="0">
                <a:solidFill>
                  <a:srgbClr val="020202"/>
                </a:solidFill>
                <a:latin typeface="+mn-ea"/>
              </a:rPr>
              <a:t>)</a:t>
            </a:r>
            <a:endParaRPr lang="en-US" altLang="zh-CN" sz="2400" b="1" dirty="0">
              <a:solidFill>
                <a:srgbClr val="020202"/>
              </a:solidFill>
              <a:latin typeface="+mn-ea"/>
            </a:endParaRPr>
          </a:p>
        </p:txBody>
      </p:sp>
      <p:sp>
        <p:nvSpPr>
          <p:cNvPr id="57" name="Line 30"/>
          <p:cNvSpPr>
            <a:spLocks noChangeShapeType="1"/>
          </p:cNvSpPr>
          <p:nvPr/>
        </p:nvSpPr>
        <p:spPr bwMode="auto">
          <a:xfrm>
            <a:off x="8505420" y="3453889"/>
            <a:ext cx="0" cy="12192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8" name="Line 31"/>
          <p:cNvSpPr>
            <a:spLocks noChangeShapeType="1"/>
          </p:cNvSpPr>
          <p:nvPr/>
        </p:nvSpPr>
        <p:spPr bwMode="auto">
          <a:xfrm>
            <a:off x="9572220" y="3453889"/>
            <a:ext cx="0" cy="16002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9" name="Line 32"/>
          <p:cNvSpPr>
            <a:spLocks noChangeShapeType="1"/>
          </p:cNvSpPr>
          <p:nvPr/>
        </p:nvSpPr>
        <p:spPr bwMode="auto">
          <a:xfrm flipV="1">
            <a:off x="5914620" y="1701289"/>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60" name="Line 33"/>
          <p:cNvSpPr>
            <a:spLocks noChangeShapeType="1"/>
          </p:cNvSpPr>
          <p:nvPr/>
        </p:nvSpPr>
        <p:spPr bwMode="auto">
          <a:xfrm flipV="1">
            <a:off x="8276820" y="1701289"/>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61" name="Line 35"/>
          <p:cNvSpPr>
            <a:spLocks noChangeShapeType="1"/>
          </p:cNvSpPr>
          <p:nvPr/>
        </p:nvSpPr>
        <p:spPr bwMode="auto">
          <a:xfrm>
            <a:off x="8276820" y="5054089"/>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62" name="Rectangle 38"/>
          <p:cNvSpPr>
            <a:spLocks noChangeArrowheads="1"/>
          </p:cNvSpPr>
          <p:nvPr/>
        </p:nvSpPr>
        <p:spPr bwMode="auto">
          <a:xfrm>
            <a:off x="5810378" y="1233094"/>
            <a:ext cx="3335655"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spcBef>
                <a:spcPct val="20000"/>
              </a:spcBef>
              <a:buClr>
                <a:schemeClr val="accent2"/>
              </a:buClr>
              <a:buFont typeface="Wingdings" panose="05000000000000000000" pitchFamily="2" charset="2"/>
              <a:buNone/>
            </a:pPr>
            <a:r>
              <a:rPr lang="zh-CN" altLang="en-US" sz="2400" b="1" dirty="0">
                <a:solidFill>
                  <a:schemeClr val="accent1"/>
                </a:solidFill>
                <a:latin typeface="+mn-ea"/>
              </a:rPr>
              <a:t>对</a:t>
            </a:r>
            <a:r>
              <a:rPr lang="en-US" altLang="zh-CN" sz="2400" b="1" dirty="0">
                <a:solidFill>
                  <a:schemeClr val="accent1"/>
                </a:solidFill>
                <a:latin typeface="+mn-ea"/>
              </a:rPr>
              <a:t>f</a:t>
            </a:r>
            <a:r>
              <a:rPr lang="zh-CN" altLang="en-US" sz="2400" b="1" dirty="0">
                <a:solidFill>
                  <a:schemeClr val="accent1"/>
                </a:solidFill>
                <a:latin typeface="+mn-ea"/>
              </a:rPr>
              <a:t>调用的活动记录为：</a:t>
            </a:r>
            <a:endParaRPr lang="zh-CN" altLang="en-US" sz="2400" b="1" dirty="0">
              <a:solidFill>
                <a:schemeClr val="accent1"/>
              </a:solidFill>
              <a:latin typeface="+mn-ea"/>
            </a:endParaRPr>
          </a:p>
        </p:txBody>
      </p:sp>
      <p:sp>
        <p:nvSpPr>
          <p:cNvPr id="4" name="文本占位符 3"/>
          <p:cNvSpPr>
            <a:spLocks noGrp="1"/>
          </p:cNvSpPr>
          <p:nvPr>
            <p:ph type="body" sz="quarter" idx="14"/>
            <p:custDataLst>
              <p:tags r:id="rId1"/>
            </p:custDataLst>
          </p:nvPr>
        </p:nvSpPr>
        <p:spPr>
          <a:xfrm>
            <a:off x="327660" y="276860"/>
            <a:ext cx="7166610"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arn(inHorizontal)">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arn(inHorizontal)">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barn(inHorizontal)">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barn(inHorizontal)">
                                      <p:cBhvr>
                                        <p:cTn id="22" dur="500"/>
                                        <p:tgtEl>
                                          <p:spTgt spid="5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56">
                                            <p:txEl>
                                              <p:pRg st="0" end="0"/>
                                            </p:txEl>
                                          </p:spTgt>
                                        </p:tgtEl>
                                        <p:attrNameLst>
                                          <p:attrName>style.visibility</p:attrName>
                                        </p:attrNameLst>
                                      </p:cBhvr>
                                      <p:to>
                                        <p:strVal val="visible"/>
                                      </p:to>
                                    </p:set>
                                    <p:animEffect transition="in" filter="barn(inHorizontal)">
                                      <p:cBhvr>
                                        <p:cTn id="27" dur="500"/>
                                        <p:tgtEl>
                                          <p:spTgt spid="5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56">
                                            <p:txEl>
                                              <p:pRg st="1" end="1"/>
                                            </p:txEl>
                                          </p:spTgt>
                                        </p:tgtEl>
                                        <p:attrNameLst>
                                          <p:attrName>style.visibility</p:attrName>
                                        </p:attrNameLst>
                                      </p:cBhvr>
                                      <p:to>
                                        <p:strVal val="visible"/>
                                      </p:to>
                                    </p:set>
                                    <p:animEffect transition="in" filter="barn(inHorizontal)">
                                      <p:cBhvr>
                                        <p:cTn id="32" dur="500"/>
                                        <p:tgtEl>
                                          <p:spTgt spid="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57835" y="276860"/>
            <a:ext cx="7036435" cy="593090"/>
          </a:xfrm>
        </p:spPr>
        <p:txBody>
          <a:bodyPr/>
          <a:lstStyle/>
          <a:p>
            <a:r>
              <a:rPr lang="en-US" altLang="zh-CN" dirty="0"/>
              <a:t>7.2 </a:t>
            </a:r>
            <a:r>
              <a:rPr lang="zh-CN" altLang="en-US" dirty="0"/>
              <a:t>基于栈的运行时环境</a:t>
            </a:r>
            <a:endParaRPr lang="zh-CN" altLang="en-US" dirty="0"/>
          </a:p>
        </p:txBody>
      </p:sp>
      <p:sp>
        <p:nvSpPr>
          <p:cNvPr id="64" name="Rectangle 3"/>
          <p:cNvSpPr txBox="1">
            <a:spLocks noChangeArrowheads="1"/>
          </p:cNvSpPr>
          <p:nvPr/>
        </p:nvSpPr>
        <p:spPr>
          <a:xfrm>
            <a:off x="598170" y="1348105"/>
            <a:ext cx="10968355" cy="4498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400" b="1" dirty="0">
                <a:solidFill>
                  <a:schemeClr val="accent1"/>
                </a:solidFill>
                <a:latin typeface="+mn-ea"/>
              </a:rPr>
              <a:t>目标代码的生成必须</a:t>
            </a:r>
            <a:endParaRPr lang="zh-CN" altLang="en-US" sz="2400" b="1" dirty="0">
              <a:solidFill>
                <a:schemeClr val="accent1"/>
              </a:solidFill>
              <a:latin typeface="+mn-ea"/>
            </a:endParaRPr>
          </a:p>
          <a:p>
            <a:pPr lvl="1">
              <a:lnSpc>
                <a:spcPct val="150000"/>
              </a:lnSpc>
            </a:pPr>
            <a:r>
              <a:rPr lang="zh-CN" altLang="en-US" b="1" dirty="0">
                <a:solidFill>
                  <a:schemeClr val="accent1"/>
                </a:solidFill>
                <a:latin typeface="+mn-ea"/>
              </a:rPr>
              <a:t>支持变量和临时变量的实际定位，并增加支持运行时环境所必需的代码。</a:t>
            </a:r>
            <a:endParaRPr lang="zh-CN" altLang="en-US" b="1" dirty="0">
              <a:solidFill>
                <a:schemeClr val="accent1"/>
              </a:solidFill>
              <a:latin typeface="+mn-ea"/>
            </a:endParaRPr>
          </a:p>
          <a:p>
            <a:pPr lvl="2">
              <a:lnSpc>
                <a:spcPct val="150000"/>
              </a:lnSpc>
            </a:pPr>
            <a:r>
              <a:rPr lang="zh-CN" altLang="en-US" sz="2400" b="1" dirty="0">
                <a:solidFill>
                  <a:srgbClr val="030305"/>
                </a:solidFill>
                <a:latin typeface="+mn-ea"/>
              </a:rPr>
              <a:t>对名字的访问</a:t>
            </a:r>
            <a:endParaRPr lang="zh-CN" altLang="en-US" sz="2400" b="1" dirty="0">
              <a:solidFill>
                <a:srgbClr val="030305"/>
              </a:solidFill>
              <a:latin typeface="+mn-ea"/>
            </a:endParaRPr>
          </a:p>
          <a:p>
            <a:pPr lvl="2">
              <a:lnSpc>
                <a:spcPct val="150000"/>
              </a:lnSpc>
            </a:pPr>
            <a:r>
              <a:rPr lang="zh-CN" altLang="en-US" sz="2400" b="1" dirty="0">
                <a:solidFill>
                  <a:schemeClr val="accent1"/>
                </a:solidFill>
                <a:latin typeface="+mn-ea"/>
              </a:rPr>
              <a:t>局部临时变量</a:t>
            </a:r>
            <a:endParaRPr lang="zh-CN" altLang="en-US" sz="2400" b="1" dirty="0">
              <a:solidFill>
                <a:schemeClr val="accent1"/>
              </a:solidFill>
              <a:latin typeface="+mn-ea"/>
            </a:endParaRPr>
          </a:p>
          <a:p>
            <a:pPr lvl="2">
              <a:lnSpc>
                <a:spcPct val="150000"/>
              </a:lnSpc>
            </a:pPr>
            <a:r>
              <a:rPr lang="zh-CN" altLang="en-US" sz="2400" b="1" dirty="0">
                <a:solidFill>
                  <a:srgbClr val="030305"/>
                </a:solidFill>
                <a:latin typeface="+mn-ea"/>
              </a:rPr>
              <a:t>嵌套声明</a:t>
            </a:r>
            <a:endParaRPr lang="en-US" altLang="zh-CN" sz="2400" b="1" dirty="0">
              <a:solidFill>
                <a:srgbClr val="030305"/>
              </a:solidFill>
              <a:latin typeface="+mn-ea"/>
            </a:endParaRPr>
          </a:p>
          <a:p>
            <a:pPr lvl="2">
              <a:lnSpc>
                <a:spcPct val="150000"/>
              </a:lnSpc>
            </a:pPr>
            <a:r>
              <a:rPr lang="zh-CN" altLang="en-US" sz="2400" b="1" dirty="0">
                <a:solidFill>
                  <a:srgbClr val="030305"/>
                </a:solidFill>
                <a:latin typeface="+mn-ea"/>
              </a:rPr>
              <a:t>如何处理可变长度的问题</a:t>
            </a:r>
            <a:endParaRPr lang="zh-CN" altLang="en-US" sz="2400" b="1" dirty="0">
              <a:solidFill>
                <a:srgbClr val="030305"/>
              </a:solidFill>
              <a:latin typeface="+mn-ea"/>
            </a:endParaRPr>
          </a:p>
          <a:p>
            <a:pPr lvl="2">
              <a:lnSpc>
                <a:spcPct val="150000"/>
              </a:lnSpc>
            </a:pPr>
            <a:endParaRPr lang="zh-CN" altLang="en-US" sz="2400"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4">
                                            <p:txEl>
                                              <p:pRg st="1" end="1"/>
                                            </p:txEl>
                                          </p:spTgt>
                                        </p:tgtEl>
                                        <p:attrNameLst>
                                          <p:attrName>style.visibility</p:attrName>
                                        </p:attrNameLst>
                                      </p:cBhvr>
                                      <p:to>
                                        <p:strVal val="visible"/>
                                      </p:to>
                                    </p:set>
                                    <p:animEffect transition="in" filter="barn(inHorizontal)">
                                      <p:cBhvr>
                                        <p:cTn id="7" dur="500"/>
                                        <p:tgtEl>
                                          <p:spTgt spid="6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4">
                                            <p:txEl>
                                              <p:pRg st="2" end="2"/>
                                            </p:txEl>
                                          </p:spTgt>
                                        </p:tgtEl>
                                        <p:attrNameLst>
                                          <p:attrName>style.visibility</p:attrName>
                                        </p:attrNameLst>
                                      </p:cBhvr>
                                      <p:to>
                                        <p:strVal val="visible"/>
                                      </p:to>
                                    </p:set>
                                    <p:animEffect transition="in" filter="barn(inHorizontal)">
                                      <p:cBhvr>
                                        <p:cTn id="12" dur="500"/>
                                        <p:tgtEl>
                                          <p:spTgt spid="6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64">
                                            <p:txEl>
                                              <p:pRg st="3" end="3"/>
                                            </p:txEl>
                                          </p:spTgt>
                                        </p:tgtEl>
                                        <p:attrNameLst>
                                          <p:attrName>style.visibility</p:attrName>
                                        </p:attrNameLst>
                                      </p:cBhvr>
                                      <p:to>
                                        <p:strVal val="visible"/>
                                      </p:to>
                                    </p:set>
                                    <p:animEffect transition="in" filter="barn(inHorizontal)">
                                      <p:cBhvr>
                                        <p:cTn id="17" dur="500"/>
                                        <p:tgtEl>
                                          <p:spTgt spid="6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64">
                                            <p:txEl>
                                              <p:pRg st="4" end="4"/>
                                            </p:txEl>
                                          </p:spTgt>
                                        </p:tgtEl>
                                        <p:attrNameLst>
                                          <p:attrName>style.visibility</p:attrName>
                                        </p:attrNameLst>
                                      </p:cBhvr>
                                      <p:to>
                                        <p:strVal val="visible"/>
                                      </p:to>
                                    </p:set>
                                    <p:animEffect transition="in" filter="barn(inHorizontal)">
                                      <p:cBhvr>
                                        <p:cTn id="22" dur="500"/>
                                        <p:tgtEl>
                                          <p:spTgt spid="6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64">
                                            <p:txEl>
                                              <p:pRg st="5" end="5"/>
                                            </p:txEl>
                                          </p:spTgt>
                                        </p:tgtEl>
                                        <p:attrNameLst>
                                          <p:attrName>style.visibility</p:attrName>
                                        </p:attrNameLst>
                                      </p:cBhvr>
                                      <p:to>
                                        <p:strVal val="visible"/>
                                      </p:to>
                                    </p:set>
                                    <p:animEffect transition="in" filter="barn(inHorizontal)">
                                      <p:cBhvr>
                                        <p:cTn id="27" dur="500"/>
                                        <p:tgtEl>
                                          <p:spTgt spid="6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txBox="1">
            <a:spLocks noChangeArrowheads="1"/>
          </p:cNvSpPr>
          <p:nvPr/>
        </p:nvSpPr>
        <p:spPr>
          <a:xfrm>
            <a:off x="327660" y="1156335"/>
            <a:ext cx="5273675" cy="49282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en-US" altLang="zh-CN" sz="2400" b="1" dirty="0">
                <a:solidFill>
                  <a:srgbClr val="020202"/>
                </a:solidFill>
                <a:latin typeface="+mn-ea"/>
              </a:rPr>
              <a:t>C</a:t>
            </a:r>
            <a:r>
              <a:rPr lang="zh-CN" altLang="en-US" sz="2400" b="1" dirty="0">
                <a:solidFill>
                  <a:srgbClr val="020202"/>
                </a:solidFill>
                <a:latin typeface="+mn-ea"/>
              </a:rPr>
              <a:t>表达式：</a:t>
            </a:r>
            <a:r>
              <a:rPr lang="en-US" altLang="zh-CN" sz="2400" b="1" dirty="0">
                <a:solidFill>
                  <a:srgbClr val="020202"/>
                </a:solidFill>
                <a:latin typeface="+mn-ea"/>
              </a:rPr>
              <a:t>x[</a:t>
            </a:r>
            <a:r>
              <a:rPr lang="en-US" altLang="zh-CN" sz="2400" b="1" dirty="0" err="1">
                <a:solidFill>
                  <a:srgbClr val="020202"/>
                </a:solidFill>
                <a:latin typeface="+mn-ea"/>
              </a:rPr>
              <a:t>i</a:t>
            </a:r>
            <a:r>
              <a:rPr lang="en-US" altLang="zh-CN" sz="2400" b="1" dirty="0">
                <a:solidFill>
                  <a:srgbClr val="020202"/>
                </a:solidFill>
                <a:latin typeface="+mn-ea"/>
              </a:rPr>
              <a:t>]=(</a:t>
            </a:r>
            <a:r>
              <a:rPr lang="en-US" altLang="zh-CN" sz="2400" b="1" dirty="0" err="1">
                <a:solidFill>
                  <a:srgbClr val="020202"/>
                </a:solidFill>
                <a:latin typeface="+mn-ea"/>
              </a:rPr>
              <a:t>i+j</a:t>
            </a:r>
            <a:r>
              <a:rPr lang="en-US" altLang="zh-CN" sz="2400" b="1" dirty="0">
                <a:solidFill>
                  <a:srgbClr val="020202"/>
                </a:solidFill>
                <a:latin typeface="+mn-ea"/>
              </a:rPr>
              <a:t>)*(</a:t>
            </a:r>
            <a:r>
              <a:rPr lang="en-US" altLang="zh-CN" sz="2400" b="1" dirty="0" err="1">
                <a:solidFill>
                  <a:srgbClr val="020202"/>
                </a:solidFill>
                <a:latin typeface="+mn-ea"/>
              </a:rPr>
              <a:t>i</a:t>
            </a:r>
            <a:r>
              <a:rPr lang="en-US" altLang="zh-CN" sz="2400" b="1" dirty="0">
                <a:solidFill>
                  <a:srgbClr val="020202"/>
                </a:solidFill>
                <a:latin typeface="+mn-ea"/>
              </a:rPr>
              <a:t>/</a:t>
            </a:r>
            <a:r>
              <a:rPr lang="en-US" altLang="zh-CN" sz="2400" b="1" dirty="0" err="1">
                <a:solidFill>
                  <a:srgbClr val="020202"/>
                </a:solidFill>
                <a:latin typeface="+mn-ea"/>
              </a:rPr>
              <a:t>k+f</a:t>
            </a:r>
            <a:r>
              <a:rPr lang="en-US" altLang="zh-CN" sz="2400" b="1" dirty="0">
                <a:solidFill>
                  <a:srgbClr val="020202"/>
                </a:solidFill>
                <a:latin typeface="+mn-ea"/>
              </a:rPr>
              <a:t>(j))</a:t>
            </a:r>
            <a:r>
              <a:rPr lang="zh-CN" altLang="en-US" sz="2400" b="1" dirty="0">
                <a:solidFill>
                  <a:srgbClr val="020202"/>
                </a:solidFill>
                <a:latin typeface="+mn-ea"/>
              </a:rPr>
              <a:t>，在这个表达式从左到右的求值计算中，在对</a:t>
            </a:r>
            <a:r>
              <a:rPr lang="en-US" altLang="zh-CN" sz="2400" b="1" dirty="0">
                <a:solidFill>
                  <a:srgbClr val="020202"/>
                </a:solidFill>
                <a:latin typeface="+mn-ea"/>
              </a:rPr>
              <a:t>f</a:t>
            </a:r>
            <a:r>
              <a:rPr lang="zh-CN" altLang="en-US" sz="2400" b="1" dirty="0">
                <a:solidFill>
                  <a:srgbClr val="020202"/>
                </a:solidFill>
                <a:latin typeface="+mn-ea"/>
              </a:rPr>
              <a:t>的调用过程中需要保存中间结果： </a:t>
            </a:r>
            <a:r>
              <a:rPr lang="en-US" altLang="zh-CN" sz="2400" b="1" dirty="0">
                <a:solidFill>
                  <a:srgbClr val="020202"/>
                </a:solidFill>
                <a:latin typeface="+mn-ea"/>
              </a:rPr>
              <a:t>x[</a:t>
            </a:r>
            <a:r>
              <a:rPr lang="en-US" altLang="zh-CN" sz="2400" b="1" dirty="0" err="1">
                <a:solidFill>
                  <a:srgbClr val="020202"/>
                </a:solidFill>
                <a:latin typeface="+mn-ea"/>
              </a:rPr>
              <a:t>i</a:t>
            </a:r>
            <a:r>
              <a:rPr lang="en-US" altLang="zh-CN" sz="2400" b="1" dirty="0">
                <a:solidFill>
                  <a:srgbClr val="020202"/>
                </a:solidFill>
                <a:latin typeface="+mn-ea"/>
              </a:rPr>
              <a:t>]</a:t>
            </a:r>
            <a:r>
              <a:rPr lang="zh-CN" altLang="en-US" sz="2400" b="1" dirty="0">
                <a:solidFill>
                  <a:srgbClr val="020202"/>
                </a:solidFill>
                <a:latin typeface="+mn-ea"/>
              </a:rPr>
              <a:t>的地址、</a:t>
            </a:r>
            <a:r>
              <a:rPr lang="en-US" altLang="zh-CN" sz="2400" b="1" dirty="0" err="1">
                <a:solidFill>
                  <a:srgbClr val="020202"/>
                </a:solidFill>
                <a:latin typeface="+mn-ea"/>
              </a:rPr>
              <a:t>i+j</a:t>
            </a:r>
            <a:r>
              <a:rPr lang="zh-CN" altLang="en-US" sz="2400" b="1" dirty="0">
                <a:solidFill>
                  <a:srgbClr val="020202"/>
                </a:solidFill>
                <a:latin typeface="+mn-ea"/>
              </a:rPr>
              <a:t>的和、</a:t>
            </a:r>
            <a:r>
              <a:rPr lang="en-US" altLang="zh-CN" sz="2400" b="1" dirty="0" err="1">
                <a:solidFill>
                  <a:srgbClr val="020202"/>
                </a:solidFill>
                <a:latin typeface="+mn-ea"/>
              </a:rPr>
              <a:t>i</a:t>
            </a:r>
            <a:r>
              <a:rPr lang="en-US" altLang="zh-CN" sz="2400" b="1" dirty="0">
                <a:solidFill>
                  <a:srgbClr val="020202"/>
                </a:solidFill>
                <a:latin typeface="+mn-ea"/>
              </a:rPr>
              <a:t>/k</a:t>
            </a:r>
            <a:r>
              <a:rPr lang="zh-CN" altLang="en-US" sz="2400" b="1" dirty="0">
                <a:solidFill>
                  <a:srgbClr val="020202"/>
                </a:solidFill>
                <a:latin typeface="+mn-ea"/>
              </a:rPr>
              <a:t>的商。</a:t>
            </a:r>
            <a:endParaRPr lang="zh-CN" altLang="en-US" sz="2400" b="1" dirty="0">
              <a:solidFill>
                <a:srgbClr val="020202"/>
              </a:solidFill>
              <a:latin typeface="+mn-ea"/>
            </a:endParaRPr>
          </a:p>
          <a:p>
            <a:pPr lvl="1">
              <a:lnSpc>
                <a:spcPct val="150000"/>
              </a:lnSpc>
              <a:buFont typeface="Wingdings" panose="05000000000000000000" charset="0"/>
              <a:buChar char="p"/>
            </a:pPr>
            <a:r>
              <a:rPr lang="zh-CN" altLang="en-US" b="1" dirty="0">
                <a:solidFill>
                  <a:srgbClr val="020202"/>
                </a:solidFill>
                <a:latin typeface="+mn-ea"/>
              </a:rPr>
              <a:t>这些中间值可计算到寄存器中，根据寄存器进行保存和恢复；或者</a:t>
            </a:r>
            <a:r>
              <a:rPr lang="zh-CN" altLang="en-US" b="1" dirty="0">
                <a:solidFill>
                  <a:schemeClr val="accent1"/>
                </a:solidFill>
                <a:latin typeface="+mn-ea"/>
              </a:rPr>
              <a:t>可将它们作为</a:t>
            </a:r>
            <a:r>
              <a:rPr lang="zh-CN" altLang="en-US" b="1" dirty="0">
                <a:solidFill>
                  <a:schemeClr val="accent1"/>
                </a:solidFill>
                <a:latin typeface="+mn-ea"/>
              </a:rPr>
              <a:t>局部临时变量存储在对</a:t>
            </a:r>
            <a:r>
              <a:rPr lang="en-US" altLang="zh-CN" b="1" dirty="0">
                <a:solidFill>
                  <a:schemeClr val="accent1"/>
                </a:solidFill>
                <a:latin typeface="+mn-ea"/>
              </a:rPr>
              <a:t>f</a:t>
            </a:r>
            <a:r>
              <a:rPr lang="zh-CN" altLang="en-US" b="1" dirty="0">
                <a:solidFill>
                  <a:schemeClr val="accent1"/>
                </a:solidFill>
                <a:latin typeface="+mn-ea"/>
              </a:rPr>
              <a:t>调用之前的运行时栈中</a:t>
            </a:r>
            <a:r>
              <a:rPr lang="zh-CN" altLang="en-US" b="1" dirty="0">
                <a:solidFill>
                  <a:srgbClr val="020202"/>
                </a:solidFill>
                <a:latin typeface="+mn-ea"/>
              </a:rPr>
              <a:t>。</a:t>
            </a:r>
            <a:endParaRPr lang="en-US" altLang="zh-CN" b="1" dirty="0">
              <a:solidFill>
                <a:srgbClr val="020202"/>
              </a:solidFill>
              <a:latin typeface="+mn-ea"/>
            </a:endParaRPr>
          </a:p>
        </p:txBody>
      </p:sp>
      <p:sp useBgFill="1">
        <p:nvSpPr>
          <p:cNvPr id="5" name="Rectangle 2"/>
          <p:cNvSpPr>
            <a:spLocks noChangeArrowheads="1"/>
          </p:cNvSpPr>
          <p:nvPr>
            <p:custDataLst>
              <p:tags r:id="rId1"/>
            </p:custDataLst>
          </p:nvPr>
        </p:nvSpPr>
        <p:spPr bwMode="auto">
          <a:xfrm>
            <a:off x="6724948" y="2168059"/>
            <a:ext cx="2362200" cy="2852737"/>
          </a:xfrm>
          <a:prstGeom prst="rect">
            <a:avLst/>
          </a:prstGeom>
          <a:ln w="9525">
            <a:solidFill>
              <a:srgbClr val="020202"/>
            </a:solidFill>
            <a:miter lim="800000"/>
          </a:ln>
        </p:spPr>
        <p:txBody>
          <a:bodyPr wrap="none" anchor="ctr"/>
          <a:p>
            <a:pPr algn="ctr"/>
            <a:endParaRPr lang="en-US" altLang="zh-CN" sz="2000" b="1">
              <a:solidFill>
                <a:srgbClr val="020202"/>
              </a:solidFill>
              <a:latin typeface="+mn-ea"/>
            </a:endParaRPr>
          </a:p>
          <a:p>
            <a:pPr algn="ctr"/>
            <a:r>
              <a:rPr lang="en-US" altLang="zh-CN" sz="2000" b="1">
                <a:solidFill>
                  <a:srgbClr val="020202"/>
                </a:solidFill>
                <a:latin typeface="+mn-ea"/>
              </a:rPr>
              <a:t>…  </a:t>
            </a:r>
            <a:endParaRPr lang="zh-CN" altLang="en-US" sz="2000" b="1">
              <a:solidFill>
                <a:srgbClr val="020202"/>
              </a:solidFill>
              <a:latin typeface="+mn-ea"/>
            </a:endParaRPr>
          </a:p>
          <a:p>
            <a:pPr algn="ctr"/>
            <a:r>
              <a:rPr lang="zh-CN" altLang="en-US" sz="2000" b="1">
                <a:solidFill>
                  <a:srgbClr val="020202"/>
                </a:solidFill>
                <a:latin typeface="+mn-ea"/>
              </a:rPr>
              <a:t>    返回地址</a:t>
            </a:r>
            <a:endParaRPr lang="zh-CN" altLang="en-US" sz="2000" b="1">
              <a:solidFill>
                <a:srgbClr val="020202"/>
              </a:solidFill>
              <a:latin typeface="+mn-ea"/>
            </a:endParaRPr>
          </a:p>
          <a:p>
            <a:pPr algn="ctr"/>
            <a:r>
              <a:rPr lang="zh-CN" altLang="en-US" sz="2000" b="1">
                <a:solidFill>
                  <a:srgbClr val="020202"/>
                </a:solidFill>
                <a:latin typeface="+mn-ea"/>
              </a:rPr>
              <a:t>控制链</a:t>
            </a:r>
            <a:endParaRPr lang="zh-CN" altLang="en-US" sz="2000" b="1">
              <a:solidFill>
                <a:srgbClr val="020202"/>
              </a:solidFill>
              <a:latin typeface="+mn-ea"/>
            </a:endParaRPr>
          </a:p>
          <a:p>
            <a:pPr algn="ctr"/>
            <a:r>
              <a:rPr lang="zh-CN" altLang="en-US" sz="2000" b="1">
                <a:solidFill>
                  <a:srgbClr val="020202"/>
                </a:solidFill>
                <a:latin typeface="+mn-ea"/>
              </a:rPr>
              <a:t>…</a:t>
            </a:r>
            <a:endParaRPr lang="zh-CN" altLang="en-US" sz="2000" b="1">
              <a:solidFill>
                <a:srgbClr val="020202"/>
              </a:solidFill>
              <a:latin typeface="+mn-ea"/>
            </a:endParaRPr>
          </a:p>
          <a:p>
            <a:pPr algn="ctr"/>
            <a:r>
              <a:rPr lang="en-US" altLang="zh-CN" sz="2000" b="1">
                <a:solidFill>
                  <a:srgbClr val="020202"/>
                </a:solidFill>
                <a:latin typeface="+mn-ea"/>
              </a:rPr>
              <a:t>x[i]</a:t>
            </a:r>
            <a:r>
              <a:rPr lang="zh-CN" altLang="en-US" sz="2000" b="1">
                <a:solidFill>
                  <a:srgbClr val="020202"/>
                </a:solidFill>
                <a:latin typeface="+mn-ea"/>
              </a:rPr>
              <a:t>的地址</a:t>
            </a:r>
            <a:endParaRPr lang="zh-CN" altLang="en-US" sz="2000" b="1">
              <a:solidFill>
                <a:srgbClr val="020202"/>
              </a:solidFill>
              <a:latin typeface="+mn-ea"/>
            </a:endParaRPr>
          </a:p>
          <a:p>
            <a:pPr algn="ctr"/>
            <a:r>
              <a:rPr lang="en-US" altLang="zh-CN" sz="2000" b="1">
                <a:solidFill>
                  <a:srgbClr val="020202"/>
                </a:solidFill>
                <a:latin typeface="+mn-ea"/>
              </a:rPr>
              <a:t>i+j</a:t>
            </a:r>
            <a:r>
              <a:rPr lang="zh-CN" altLang="en-US" sz="2000" b="1">
                <a:solidFill>
                  <a:srgbClr val="020202"/>
                </a:solidFill>
                <a:latin typeface="+mn-ea"/>
              </a:rPr>
              <a:t>的结果</a:t>
            </a:r>
            <a:endParaRPr lang="zh-CN" altLang="en-US" sz="2000" b="1">
              <a:solidFill>
                <a:srgbClr val="020202"/>
              </a:solidFill>
              <a:latin typeface="+mn-ea"/>
            </a:endParaRPr>
          </a:p>
          <a:p>
            <a:pPr algn="ctr"/>
            <a:r>
              <a:rPr lang="en-US" altLang="zh-CN" sz="2000" b="1">
                <a:solidFill>
                  <a:srgbClr val="020202"/>
                </a:solidFill>
                <a:latin typeface="+mn-ea"/>
              </a:rPr>
              <a:t>i/j</a:t>
            </a:r>
            <a:r>
              <a:rPr lang="zh-CN" altLang="en-US" sz="2000" b="1">
                <a:solidFill>
                  <a:srgbClr val="020202"/>
                </a:solidFill>
                <a:latin typeface="+mn-ea"/>
              </a:rPr>
              <a:t>的结果</a:t>
            </a:r>
            <a:endParaRPr lang="zh-CN" altLang="en-US" sz="2000" b="1">
              <a:solidFill>
                <a:srgbClr val="020202"/>
              </a:solidFill>
              <a:latin typeface="+mn-ea"/>
            </a:endParaRPr>
          </a:p>
          <a:p>
            <a:pPr algn="ctr"/>
            <a:endParaRPr lang="en-US" altLang="zh-CN" sz="2000" b="1">
              <a:solidFill>
                <a:srgbClr val="020202"/>
              </a:solidFill>
              <a:latin typeface="+mn-ea"/>
            </a:endParaRPr>
          </a:p>
          <a:p>
            <a:pPr algn="ctr"/>
            <a:endParaRPr lang="en-US" altLang="zh-CN" sz="2000" b="1">
              <a:solidFill>
                <a:srgbClr val="020202"/>
              </a:solidFill>
              <a:latin typeface="+mn-ea"/>
            </a:endParaRPr>
          </a:p>
          <a:p>
            <a:pPr algn="ctr"/>
            <a:endParaRPr lang="en-US" altLang="zh-CN" sz="2000" b="1">
              <a:solidFill>
                <a:srgbClr val="020202"/>
              </a:solidFill>
              <a:latin typeface="+mn-ea"/>
            </a:endParaRPr>
          </a:p>
          <a:p>
            <a:pPr algn="ctr"/>
            <a:endParaRPr lang="en-US" altLang="zh-CN" sz="2000" b="1">
              <a:solidFill>
                <a:srgbClr val="020202"/>
              </a:solidFill>
              <a:latin typeface="+mn-ea"/>
            </a:endParaRPr>
          </a:p>
        </p:txBody>
      </p:sp>
      <p:sp>
        <p:nvSpPr>
          <p:cNvPr id="6" name="Rectangle 3"/>
          <p:cNvSpPr>
            <a:spLocks noChangeArrowheads="1"/>
          </p:cNvSpPr>
          <p:nvPr>
            <p:custDataLst>
              <p:tags r:id="rId2"/>
            </p:custDataLst>
          </p:nvPr>
        </p:nvSpPr>
        <p:spPr bwMode="auto">
          <a:xfrm>
            <a:off x="5995968" y="2528104"/>
            <a:ext cx="8255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000" b="1">
                <a:solidFill>
                  <a:srgbClr val="020202"/>
                </a:solidFill>
                <a:latin typeface="+mn-ea"/>
              </a:rPr>
              <a:t>efp</a:t>
            </a:r>
            <a:endParaRPr lang="en-US" altLang="zh-CN" sz="2000" b="1">
              <a:solidFill>
                <a:srgbClr val="020202"/>
              </a:solidFill>
              <a:latin typeface="+mn-ea"/>
            </a:endParaRPr>
          </a:p>
        </p:txBody>
      </p:sp>
      <p:sp>
        <p:nvSpPr>
          <p:cNvPr id="7" name="Line 4"/>
          <p:cNvSpPr>
            <a:spLocks noChangeShapeType="1"/>
          </p:cNvSpPr>
          <p:nvPr>
            <p:custDataLst>
              <p:tags r:id="rId3"/>
            </p:custDataLst>
          </p:nvPr>
        </p:nvSpPr>
        <p:spPr bwMode="auto">
          <a:xfrm>
            <a:off x="6724948" y="3301534"/>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8" name="Line 5"/>
          <p:cNvSpPr>
            <a:spLocks noChangeShapeType="1"/>
          </p:cNvSpPr>
          <p:nvPr>
            <p:custDataLst>
              <p:tags r:id="rId4"/>
            </p:custDataLst>
          </p:nvPr>
        </p:nvSpPr>
        <p:spPr bwMode="auto">
          <a:xfrm>
            <a:off x="6724948" y="3606334"/>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9" name="Line 6"/>
          <p:cNvSpPr>
            <a:spLocks noChangeShapeType="1"/>
          </p:cNvSpPr>
          <p:nvPr>
            <p:custDataLst>
              <p:tags r:id="rId5"/>
            </p:custDataLst>
          </p:nvPr>
        </p:nvSpPr>
        <p:spPr bwMode="auto">
          <a:xfrm>
            <a:off x="6724948" y="3911134"/>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0" name="Line 7"/>
          <p:cNvSpPr>
            <a:spLocks noChangeShapeType="1"/>
          </p:cNvSpPr>
          <p:nvPr>
            <p:custDataLst>
              <p:tags r:id="rId6"/>
            </p:custDataLst>
          </p:nvPr>
        </p:nvSpPr>
        <p:spPr bwMode="auto">
          <a:xfrm>
            <a:off x="6724948" y="4301659"/>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1" name="Line 8"/>
          <p:cNvSpPr>
            <a:spLocks noChangeShapeType="1"/>
          </p:cNvSpPr>
          <p:nvPr>
            <p:custDataLst>
              <p:tags r:id="rId7"/>
            </p:custDataLst>
          </p:nvPr>
        </p:nvSpPr>
        <p:spPr bwMode="auto">
          <a:xfrm>
            <a:off x="6724948" y="4835059"/>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3" name="Line 9"/>
          <p:cNvSpPr>
            <a:spLocks noChangeShapeType="1"/>
          </p:cNvSpPr>
          <p:nvPr>
            <p:custDataLst>
              <p:tags r:id="rId8"/>
            </p:custDataLst>
          </p:nvPr>
        </p:nvSpPr>
        <p:spPr bwMode="auto">
          <a:xfrm>
            <a:off x="9087148" y="4835059"/>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4" name="Line 10"/>
          <p:cNvSpPr>
            <a:spLocks noChangeShapeType="1"/>
          </p:cNvSpPr>
          <p:nvPr>
            <p:custDataLst>
              <p:tags r:id="rId9"/>
            </p:custDataLst>
          </p:nvPr>
        </p:nvSpPr>
        <p:spPr bwMode="auto">
          <a:xfrm>
            <a:off x="6720186" y="1410821"/>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5" name="Line 11"/>
          <p:cNvSpPr>
            <a:spLocks noChangeShapeType="1"/>
          </p:cNvSpPr>
          <p:nvPr>
            <p:custDataLst>
              <p:tags r:id="rId10"/>
            </p:custDataLst>
          </p:nvPr>
        </p:nvSpPr>
        <p:spPr bwMode="auto">
          <a:xfrm>
            <a:off x="9087148" y="1406059"/>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6" name="Rectangle 12"/>
          <p:cNvSpPr>
            <a:spLocks noChangeArrowheads="1"/>
          </p:cNvSpPr>
          <p:nvPr>
            <p:custDataLst>
              <p:tags r:id="rId11"/>
            </p:custDataLst>
          </p:nvPr>
        </p:nvSpPr>
        <p:spPr bwMode="auto">
          <a:xfrm>
            <a:off x="7105948" y="1710859"/>
            <a:ext cx="18757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(栈的其余部分</a:t>
            </a:r>
            <a:r>
              <a:rPr lang="en-US" altLang="zh-CN" sz="2000" b="1">
                <a:solidFill>
                  <a:srgbClr val="020202"/>
                </a:solidFill>
                <a:latin typeface="+mn-ea"/>
              </a:rPr>
              <a:t>)</a:t>
            </a:r>
            <a:endParaRPr lang="en-US" altLang="zh-CN" sz="2000" b="1">
              <a:solidFill>
                <a:srgbClr val="020202"/>
              </a:solidFill>
              <a:latin typeface="+mn-ea"/>
            </a:endParaRPr>
          </a:p>
        </p:txBody>
      </p:sp>
      <p:sp>
        <p:nvSpPr>
          <p:cNvPr id="17" name="Line 13"/>
          <p:cNvSpPr>
            <a:spLocks noChangeShapeType="1"/>
          </p:cNvSpPr>
          <p:nvPr>
            <p:custDataLst>
              <p:tags r:id="rId12"/>
            </p:custDataLst>
          </p:nvPr>
        </p:nvSpPr>
        <p:spPr bwMode="auto">
          <a:xfrm>
            <a:off x="6115348" y="4301659"/>
            <a:ext cx="585788" cy="1587"/>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8" name="Rectangle 14"/>
          <p:cNvSpPr>
            <a:spLocks noChangeArrowheads="1"/>
          </p:cNvSpPr>
          <p:nvPr>
            <p:custDataLst>
              <p:tags r:id="rId13"/>
            </p:custDataLst>
          </p:nvPr>
        </p:nvSpPr>
        <p:spPr bwMode="auto">
          <a:xfrm>
            <a:off x="5918835" y="3808730"/>
            <a:ext cx="7823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000" b="1">
                <a:solidFill>
                  <a:srgbClr val="020202"/>
                </a:solidFill>
                <a:latin typeface="+mn-ea"/>
              </a:rPr>
              <a:t>ebp</a:t>
            </a:r>
            <a:endParaRPr lang="en-US" altLang="zh-CN" sz="2000" b="1">
              <a:solidFill>
                <a:srgbClr val="020202"/>
              </a:solidFill>
              <a:latin typeface="+mn-ea"/>
            </a:endParaRPr>
          </a:p>
        </p:txBody>
      </p:sp>
      <p:sp>
        <p:nvSpPr>
          <p:cNvPr id="19" name="Rectangle 15"/>
          <p:cNvSpPr>
            <a:spLocks noChangeArrowheads="1"/>
          </p:cNvSpPr>
          <p:nvPr>
            <p:custDataLst>
              <p:tags r:id="rId14"/>
            </p:custDataLst>
          </p:nvPr>
        </p:nvSpPr>
        <p:spPr bwMode="auto">
          <a:xfrm>
            <a:off x="9239548" y="3463459"/>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临时栈</a:t>
            </a:r>
            <a:endParaRPr lang="zh-CN" altLang="en-US" sz="2000" b="1">
              <a:solidFill>
                <a:srgbClr val="020202"/>
              </a:solidFill>
              <a:latin typeface="+mn-ea"/>
            </a:endParaRPr>
          </a:p>
        </p:txBody>
      </p:sp>
      <p:sp>
        <p:nvSpPr>
          <p:cNvPr id="20" name="Rectangle 16"/>
          <p:cNvSpPr>
            <a:spLocks noChangeArrowheads="1"/>
          </p:cNvSpPr>
          <p:nvPr>
            <p:custDataLst>
              <p:tags r:id="rId15"/>
            </p:custDataLst>
          </p:nvPr>
        </p:nvSpPr>
        <p:spPr bwMode="auto">
          <a:xfrm>
            <a:off x="9163050" y="4149090"/>
            <a:ext cx="230568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000" b="1">
                <a:solidFill>
                  <a:srgbClr val="020202"/>
                </a:solidFill>
                <a:latin typeface="+mn-ea"/>
              </a:rPr>
              <a:t>调用</a:t>
            </a:r>
            <a:r>
              <a:rPr lang="en-US" altLang="zh-CN" sz="2000" b="1">
                <a:solidFill>
                  <a:srgbClr val="020202"/>
                </a:solidFill>
                <a:latin typeface="+mn-ea"/>
              </a:rPr>
              <a:t>f（</a:t>
            </a:r>
            <a:r>
              <a:rPr lang="zh-CN" altLang="en-US" sz="2000" b="1">
                <a:solidFill>
                  <a:srgbClr val="020202"/>
                </a:solidFill>
                <a:latin typeface="+mn-ea"/>
              </a:rPr>
              <a:t>将要创建的）时的新活动记录</a:t>
            </a:r>
            <a:endParaRPr lang="zh-CN" altLang="en-US" sz="2000" b="1">
              <a:solidFill>
                <a:srgbClr val="020202"/>
              </a:solidFill>
              <a:latin typeface="+mn-ea"/>
            </a:endParaRPr>
          </a:p>
        </p:txBody>
      </p:sp>
      <p:sp>
        <p:nvSpPr>
          <p:cNvPr id="21" name="Rectangle 17"/>
          <p:cNvSpPr>
            <a:spLocks noChangeArrowheads="1"/>
          </p:cNvSpPr>
          <p:nvPr>
            <p:custDataLst>
              <p:tags r:id="rId16"/>
            </p:custDataLst>
          </p:nvPr>
        </p:nvSpPr>
        <p:spPr bwMode="auto">
          <a:xfrm>
            <a:off x="9195435" y="2244090"/>
            <a:ext cx="20066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000" b="1">
                <a:solidFill>
                  <a:srgbClr val="020202"/>
                </a:solidFill>
                <a:latin typeface="+mn-ea"/>
              </a:rPr>
              <a:t>包含表达式过程的活动记录</a:t>
            </a:r>
            <a:endParaRPr lang="zh-CN" altLang="en-US" sz="2000" b="1">
              <a:solidFill>
                <a:srgbClr val="020202"/>
              </a:solidFill>
              <a:latin typeface="+mn-ea"/>
            </a:endParaRPr>
          </a:p>
        </p:txBody>
      </p:sp>
      <p:sp>
        <p:nvSpPr>
          <p:cNvPr id="22" name="Rectangle 18"/>
          <p:cNvSpPr>
            <a:spLocks noChangeArrowheads="1"/>
          </p:cNvSpPr>
          <p:nvPr>
            <p:custDataLst>
              <p:tags r:id="rId17"/>
            </p:custDataLst>
          </p:nvPr>
        </p:nvSpPr>
        <p:spPr bwMode="auto">
          <a:xfrm>
            <a:off x="7334548" y="5216059"/>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自由空间</a:t>
            </a:r>
            <a:endParaRPr lang="zh-CN" altLang="en-US" sz="2000" b="1">
              <a:solidFill>
                <a:srgbClr val="020202"/>
              </a:solidFill>
              <a:latin typeface="+mn-ea"/>
            </a:endParaRPr>
          </a:p>
        </p:txBody>
      </p:sp>
      <p:sp>
        <p:nvSpPr>
          <p:cNvPr id="23" name="Line 19"/>
          <p:cNvSpPr>
            <a:spLocks noChangeShapeType="1"/>
          </p:cNvSpPr>
          <p:nvPr>
            <p:custDataLst>
              <p:tags r:id="rId18"/>
            </p:custDataLst>
          </p:nvPr>
        </p:nvSpPr>
        <p:spPr bwMode="auto">
          <a:xfrm>
            <a:off x="5886748" y="2874814"/>
            <a:ext cx="8382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 name="文本占位符 2"/>
          <p:cNvSpPr>
            <a:spLocks noGrp="1"/>
          </p:cNvSpPr>
          <p:nvPr>
            <p:ph type="body" sz="quarter" idx="14"/>
            <p:custDataLst>
              <p:tags r:id="rId19"/>
            </p:custDataLst>
          </p:nvPr>
        </p:nvSpPr>
        <p:spPr>
          <a:xfrm>
            <a:off x="327660" y="276860"/>
            <a:ext cx="7166610"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27660" y="276860"/>
            <a:ext cx="7166610" cy="593090"/>
          </a:xfrm>
        </p:spPr>
        <p:txBody>
          <a:bodyPr/>
          <a:lstStyle/>
          <a:p>
            <a:r>
              <a:rPr lang="en-US" altLang="zh-CN" dirty="0"/>
              <a:t>7.2 </a:t>
            </a:r>
            <a:r>
              <a:rPr lang="zh-CN" altLang="en-US" dirty="0"/>
              <a:t>基于栈的运行时环境</a:t>
            </a:r>
            <a:endParaRPr lang="zh-CN" altLang="en-US" dirty="0"/>
          </a:p>
        </p:txBody>
      </p:sp>
      <p:sp>
        <p:nvSpPr>
          <p:cNvPr id="24" name="Rectangle 3"/>
          <p:cNvSpPr txBox="1">
            <a:spLocks noChangeArrowheads="1"/>
          </p:cNvSpPr>
          <p:nvPr/>
        </p:nvSpPr>
        <p:spPr>
          <a:xfrm>
            <a:off x="476885" y="1249680"/>
            <a:ext cx="4702175" cy="4416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pPr>
            <a:r>
              <a:rPr lang="zh-CN" altLang="en-US" sz="2400" b="1" dirty="0">
                <a:solidFill>
                  <a:schemeClr val="accent1"/>
                </a:solidFill>
                <a:latin typeface="宋体" panose="02010600030101010101" pitchFamily="2" charset="-122"/>
              </a:rPr>
              <a:t>目标代码的生成必须</a:t>
            </a:r>
            <a:endParaRPr lang="zh-CN" altLang="en-US" sz="2400" b="1" dirty="0">
              <a:solidFill>
                <a:schemeClr val="accent1"/>
              </a:solidFill>
              <a:latin typeface="宋体" panose="02010600030101010101" pitchFamily="2" charset="-122"/>
            </a:endParaRPr>
          </a:p>
          <a:p>
            <a:pPr lvl="1">
              <a:lnSpc>
                <a:spcPct val="125000"/>
              </a:lnSpc>
              <a:spcBef>
                <a:spcPct val="0"/>
              </a:spcBef>
              <a:spcAft>
                <a:spcPts val="0"/>
              </a:spcAft>
            </a:pPr>
            <a:r>
              <a:rPr lang="zh-CN" altLang="en-US" b="1" dirty="0">
                <a:solidFill>
                  <a:schemeClr val="accent1"/>
                </a:solidFill>
                <a:latin typeface="宋体" panose="02010600030101010101" pitchFamily="2" charset="-122"/>
              </a:rPr>
              <a:t>支持变量和临时变量的实际定位，并增加支持运行时环境所必需的代码。</a:t>
            </a:r>
            <a:endParaRPr lang="zh-CN" altLang="en-US" b="1" dirty="0">
              <a:solidFill>
                <a:schemeClr val="accent1"/>
              </a:solidFill>
              <a:latin typeface="宋体" panose="02010600030101010101" pitchFamily="2" charset="-122"/>
            </a:endParaRPr>
          </a:p>
          <a:p>
            <a:pPr lvl="2">
              <a:lnSpc>
                <a:spcPct val="125000"/>
              </a:lnSpc>
              <a:spcBef>
                <a:spcPct val="0"/>
              </a:spcBef>
              <a:spcAft>
                <a:spcPts val="0"/>
              </a:spcAft>
            </a:pPr>
            <a:r>
              <a:rPr lang="zh-CN" altLang="en-US" sz="2400" b="1" dirty="0">
                <a:solidFill>
                  <a:srgbClr val="030305"/>
                </a:solidFill>
                <a:latin typeface="宋体" panose="02010600030101010101" pitchFamily="2" charset="-122"/>
              </a:rPr>
              <a:t>对名字的访问</a:t>
            </a:r>
            <a:endParaRPr lang="zh-CN" altLang="en-US" sz="2400" b="1" dirty="0">
              <a:solidFill>
                <a:srgbClr val="030305"/>
              </a:solidFill>
              <a:latin typeface="宋体" panose="02010600030101010101" pitchFamily="2" charset="-122"/>
            </a:endParaRPr>
          </a:p>
          <a:p>
            <a:pPr lvl="2">
              <a:lnSpc>
                <a:spcPct val="125000"/>
              </a:lnSpc>
              <a:spcBef>
                <a:spcPct val="0"/>
              </a:spcBef>
              <a:spcAft>
                <a:spcPts val="0"/>
              </a:spcAft>
            </a:pPr>
            <a:r>
              <a:rPr lang="zh-CN" altLang="en-US" sz="2400" b="1" dirty="0">
                <a:solidFill>
                  <a:srgbClr val="030305"/>
                </a:solidFill>
                <a:latin typeface="宋体" panose="02010600030101010101" pitchFamily="2" charset="-122"/>
              </a:rPr>
              <a:t>局部临时变量</a:t>
            </a:r>
            <a:endParaRPr lang="zh-CN" altLang="en-US" sz="2400" b="1" dirty="0">
              <a:solidFill>
                <a:srgbClr val="030305"/>
              </a:solidFill>
              <a:latin typeface="宋体" panose="02010600030101010101" pitchFamily="2" charset="-122"/>
            </a:endParaRPr>
          </a:p>
          <a:p>
            <a:pPr lvl="2">
              <a:lnSpc>
                <a:spcPct val="125000"/>
              </a:lnSpc>
              <a:spcBef>
                <a:spcPct val="0"/>
              </a:spcBef>
              <a:spcAft>
                <a:spcPts val="0"/>
              </a:spcAft>
            </a:pPr>
            <a:r>
              <a:rPr lang="zh-CN" altLang="en-US" sz="2400" b="1" dirty="0">
                <a:solidFill>
                  <a:schemeClr val="accent1"/>
                </a:solidFill>
                <a:latin typeface="宋体" panose="02010600030101010101" pitchFamily="2" charset="-122"/>
              </a:rPr>
              <a:t>嵌套声明</a:t>
            </a:r>
            <a:endParaRPr lang="en-US" altLang="zh-CN" sz="2400" b="1" dirty="0">
              <a:solidFill>
                <a:schemeClr val="accent1"/>
              </a:solidFill>
              <a:latin typeface="宋体" panose="02010600030101010101" pitchFamily="2" charset="-122"/>
            </a:endParaRPr>
          </a:p>
          <a:p>
            <a:pPr lvl="2">
              <a:lnSpc>
                <a:spcPct val="125000"/>
              </a:lnSpc>
              <a:spcBef>
                <a:spcPct val="0"/>
              </a:spcBef>
              <a:spcAft>
                <a:spcPts val="0"/>
              </a:spcAft>
            </a:pPr>
            <a:r>
              <a:rPr lang="zh-CN" altLang="en-US" sz="2400" b="1" dirty="0">
                <a:solidFill>
                  <a:srgbClr val="030305"/>
                </a:solidFill>
                <a:latin typeface="宋体" panose="02010600030101010101" pitchFamily="2" charset="-122"/>
              </a:rPr>
              <a:t>如何处理可变长度的问题</a:t>
            </a:r>
            <a:endParaRPr lang="zh-CN" altLang="en-US" sz="2400" b="1" dirty="0">
              <a:solidFill>
                <a:srgbClr val="030305"/>
              </a:solidFill>
              <a:latin typeface="宋体" panose="02010600030101010101" pitchFamily="2" charset="-122"/>
            </a:endParaRPr>
          </a:p>
          <a:p>
            <a:pPr lvl="2">
              <a:lnSpc>
                <a:spcPct val="150000"/>
              </a:lnSpc>
            </a:pPr>
            <a:endParaRPr lang="zh-CN" altLang="en-US" sz="2400" b="1" dirty="0">
              <a:solidFill>
                <a:srgbClr val="030305"/>
              </a:solidFill>
              <a:latin typeface="宋体" panose="02010600030101010101" pitchFamily="2" charset="-122"/>
            </a:endParaRPr>
          </a:p>
        </p:txBody>
      </p:sp>
      <p:sp>
        <p:nvSpPr>
          <p:cNvPr id="4" name="Rectangle 3"/>
          <p:cNvSpPr>
            <a:spLocks noChangeArrowheads="1"/>
          </p:cNvSpPr>
          <p:nvPr>
            <p:custDataLst>
              <p:tags r:id="rId1"/>
            </p:custDataLst>
          </p:nvPr>
        </p:nvSpPr>
        <p:spPr bwMode="auto">
          <a:xfrm>
            <a:off x="6431280" y="1281430"/>
            <a:ext cx="346456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20202"/>
                </a:solidFill>
                <a:latin typeface="+mn-ea"/>
              </a:rPr>
              <a:t>嵌套声明：</a:t>
            </a:r>
            <a:endParaRPr lang="zh-CN" altLang="en-US" sz="2000" b="1" dirty="0">
              <a:solidFill>
                <a:srgbClr val="020202"/>
              </a:solidFill>
              <a:latin typeface="+mn-ea"/>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Void p(int </a:t>
            </a:r>
            <a:r>
              <a:rPr lang="en-US" altLang="zh-CN" sz="2000" b="1" dirty="0" err="1">
                <a:solidFill>
                  <a:srgbClr val="020202"/>
                </a:solidFill>
                <a:latin typeface="Times New Roman" panose="02020603050405020304" pitchFamily="18" charset="0"/>
                <a:cs typeface="Times New Roman" panose="02020603050405020304" pitchFamily="18" charset="0"/>
              </a:rPr>
              <a:t>x,double</a:t>
            </a:r>
            <a:r>
              <a:rPr lang="en-US" altLang="zh-CN" sz="2000" b="1" dirty="0">
                <a:solidFill>
                  <a:srgbClr val="020202"/>
                </a:solidFill>
                <a:latin typeface="Times New Roman" panose="02020603050405020304" pitchFamily="18" charset="0"/>
                <a:cs typeface="Times New Roman" panose="02020603050405020304" pitchFamily="18" charset="0"/>
              </a:rPr>
              <a:t> y)</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char a;</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int </a:t>
            </a:r>
            <a:r>
              <a:rPr lang="en-US" altLang="zh-CN" sz="2000" b="1" dirty="0" err="1">
                <a:solidFill>
                  <a:srgbClr val="020202"/>
                </a:solidFill>
                <a:latin typeface="Times New Roman" panose="02020603050405020304" pitchFamily="18" charset="0"/>
                <a:cs typeface="Times New Roman" panose="02020603050405020304" pitchFamily="18" charset="0"/>
              </a:rPr>
              <a:t>i</a:t>
            </a:r>
            <a:r>
              <a:rPr lang="en-US" altLang="zh-CN" sz="2000" b="1" dirty="0">
                <a:solidFill>
                  <a:srgbClr val="020202"/>
                </a:solidFill>
                <a:latin typeface="Times New Roman" panose="02020603050405020304" pitchFamily="18" charset="0"/>
                <a:cs typeface="Times New Roman" panose="02020603050405020304" pitchFamily="18" charset="0"/>
              </a:rPr>
              <a:t>;</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 double x;</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int j;</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B:{  char *a;</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int k;</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barn(inHorizontal)">
                                      <p:cBhvr>
                                        <p:cTn id="7" dur="500"/>
                                        <p:tgtEl>
                                          <p:spTgt spid="2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4">
                                            <p:txEl>
                                              <p:pRg st="2" end="2"/>
                                            </p:txEl>
                                          </p:spTgt>
                                        </p:tgtEl>
                                        <p:attrNameLst>
                                          <p:attrName>style.visibility</p:attrName>
                                        </p:attrNameLst>
                                      </p:cBhvr>
                                      <p:to>
                                        <p:strVal val="visible"/>
                                      </p:to>
                                    </p:set>
                                    <p:animEffect transition="in" filter="barn(inHorizontal)">
                                      <p:cBhvr>
                                        <p:cTn id="12" dur="500"/>
                                        <p:tgtEl>
                                          <p:spTgt spid="2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4">
                                            <p:txEl>
                                              <p:pRg st="3" end="3"/>
                                            </p:txEl>
                                          </p:spTgt>
                                        </p:tgtEl>
                                        <p:attrNameLst>
                                          <p:attrName>style.visibility</p:attrName>
                                        </p:attrNameLst>
                                      </p:cBhvr>
                                      <p:to>
                                        <p:strVal val="visible"/>
                                      </p:to>
                                    </p:set>
                                    <p:animEffect transition="in" filter="barn(inHorizontal)">
                                      <p:cBhvr>
                                        <p:cTn id="17" dur="500"/>
                                        <p:tgtEl>
                                          <p:spTgt spid="2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24">
                                            <p:txEl>
                                              <p:pRg st="4" end="4"/>
                                            </p:txEl>
                                          </p:spTgt>
                                        </p:tgtEl>
                                        <p:attrNameLst>
                                          <p:attrName>style.visibility</p:attrName>
                                        </p:attrNameLst>
                                      </p:cBhvr>
                                      <p:to>
                                        <p:strVal val="visible"/>
                                      </p:to>
                                    </p:set>
                                    <p:animEffect transition="in" filter="barn(inHorizontal)">
                                      <p:cBhvr>
                                        <p:cTn id="22" dur="500"/>
                                        <p:tgtEl>
                                          <p:spTgt spid="2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24">
                                            <p:txEl>
                                              <p:pRg st="5" end="5"/>
                                            </p:txEl>
                                          </p:spTgt>
                                        </p:tgtEl>
                                        <p:attrNameLst>
                                          <p:attrName>style.visibility</p:attrName>
                                        </p:attrNameLst>
                                      </p:cBhvr>
                                      <p:to>
                                        <p:strVal val="visible"/>
                                      </p:to>
                                    </p:set>
                                    <p:animEffect transition="in" filter="barn(inHorizontal)">
                                      <p:cBhvr>
                                        <p:cTn id="27"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3"/>
          <p:cNvSpPr>
            <a:spLocks noChangeArrowheads="1"/>
          </p:cNvSpPr>
          <p:nvPr/>
        </p:nvSpPr>
        <p:spPr bwMode="auto">
          <a:xfrm>
            <a:off x="1217774" y="3021259"/>
            <a:ext cx="2362200" cy="2514600"/>
          </a:xfrm>
          <a:prstGeom prst="rect">
            <a:avLst/>
          </a:prstGeom>
          <a:ln w="9525">
            <a:solidFill>
              <a:srgbClr val="020202"/>
            </a:solidFill>
            <a:miter lim="800000"/>
          </a:ln>
        </p:spPr>
        <p:txBody>
          <a:bodyPr wrap="none" anchor="ctr"/>
          <a:lstStyle/>
          <a:p>
            <a:pPr algn="ctr"/>
            <a:r>
              <a:rPr lang="en-US" altLang="zh-CN" sz="2000" b="1" dirty="0">
                <a:solidFill>
                  <a:srgbClr val="020202"/>
                </a:solidFill>
                <a:latin typeface="+mn-ea"/>
              </a:rPr>
              <a:t>y:</a:t>
            </a:r>
            <a:endParaRPr lang="en-US" altLang="zh-CN" sz="2000" b="1" dirty="0">
              <a:solidFill>
                <a:srgbClr val="020202"/>
              </a:solidFill>
              <a:latin typeface="+mn-ea"/>
            </a:endParaRPr>
          </a:p>
          <a:p>
            <a:pPr algn="ctr"/>
            <a:r>
              <a:rPr lang="en-US" altLang="zh-CN" sz="2000" b="1" dirty="0">
                <a:solidFill>
                  <a:srgbClr val="020202"/>
                </a:solidFill>
                <a:latin typeface="+mn-ea"/>
              </a:rPr>
              <a:t>x:</a:t>
            </a:r>
            <a:endParaRPr lang="en-US" altLang="zh-CN" sz="2000" b="1" dirty="0">
              <a:solidFill>
                <a:srgbClr val="020202"/>
              </a:solidFill>
              <a:latin typeface="+mn-ea"/>
            </a:endParaRPr>
          </a:p>
          <a:p>
            <a:pPr algn="ctr"/>
            <a:r>
              <a:rPr lang="en-US" altLang="zh-CN" sz="2000" b="1" dirty="0">
                <a:solidFill>
                  <a:srgbClr val="020202"/>
                </a:solidFill>
                <a:latin typeface="+mn-ea"/>
              </a:rPr>
              <a:t>  </a:t>
            </a:r>
            <a:r>
              <a:rPr lang="zh-CN" altLang="en-US" sz="2000" b="1" dirty="0">
                <a:solidFill>
                  <a:srgbClr val="020202"/>
                </a:solidFill>
                <a:latin typeface="+mn-ea"/>
              </a:rPr>
              <a:t> 返回地址</a:t>
            </a:r>
            <a:endParaRPr lang="zh-CN" altLang="en-US" sz="2000" b="1" dirty="0">
              <a:solidFill>
                <a:srgbClr val="020202"/>
              </a:solidFill>
              <a:latin typeface="+mn-ea"/>
            </a:endParaRPr>
          </a:p>
          <a:p>
            <a:pPr algn="ctr"/>
            <a:r>
              <a:rPr lang="zh-CN" altLang="en-US" sz="2000" b="1" dirty="0">
                <a:solidFill>
                  <a:srgbClr val="020202"/>
                </a:solidFill>
                <a:latin typeface="+mn-ea"/>
              </a:rPr>
              <a:t> 控制链</a:t>
            </a:r>
            <a:endParaRPr lang="zh-CN" altLang="en-US" sz="2000" b="1" dirty="0">
              <a:solidFill>
                <a:srgbClr val="020202"/>
              </a:solidFill>
              <a:latin typeface="+mn-ea"/>
            </a:endParaRPr>
          </a:p>
          <a:p>
            <a:pPr algn="ctr"/>
            <a:r>
              <a:rPr lang="en-US" altLang="zh-CN" sz="2000" b="1" dirty="0">
                <a:solidFill>
                  <a:srgbClr val="020202"/>
                </a:solidFill>
                <a:latin typeface="+mn-ea"/>
              </a:rPr>
              <a:t>a:</a:t>
            </a:r>
            <a:endParaRPr lang="en-US" altLang="zh-CN" sz="2000" b="1" dirty="0">
              <a:solidFill>
                <a:srgbClr val="020202"/>
              </a:solidFill>
              <a:latin typeface="+mn-ea"/>
            </a:endParaRPr>
          </a:p>
          <a:p>
            <a:pPr algn="ctr"/>
            <a:r>
              <a:rPr lang="en-US" altLang="zh-CN" sz="2000" b="1" dirty="0">
                <a:solidFill>
                  <a:srgbClr val="020202"/>
                </a:solidFill>
                <a:latin typeface="+mn-ea"/>
              </a:rPr>
              <a:t>i:</a:t>
            </a:r>
            <a:endParaRPr lang="zh-CN" altLang="en-US" sz="2000" b="1" dirty="0">
              <a:solidFill>
                <a:srgbClr val="020202"/>
              </a:solidFill>
              <a:latin typeface="+mn-ea"/>
            </a:endParaRPr>
          </a:p>
          <a:p>
            <a:pPr algn="ctr"/>
            <a:r>
              <a:rPr lang="en-US" altLang="zh-CN" sz="2000" b="1" dirty="0">
                <a:solidFill>
                  <a:srgbClr val="D80000"/>
                </a:solidFill>
                <a:latin typeface="+mn-ea"/>
              </a:rPr>
              <a:t>x</a:t>
            </a:r>
            <a:r>
              <a:rPr lang="en-US" altLang="zh-CN" sz="2000" b="1" dirty="0">
                <a:solidFill>
                  <a:srgbClr val="020202"/>
                </a:solidFill>
                <a:latin typeface="+mn-ea"/>
              </a:rPr>
              <a:t>:</a:t>
            </a:r>
            <a:endParaRPr lang="en-US" altLang="zh-CN" sz="2000" b="1" dirty="0">
              <a:solidFill>
                <a:srgbClr val="020202"/>
              </a:solidFill>
              <a:latin typeface="+mn-ea"/>
            </a:endParaRPr>
          </a:p>
          <a:p>
            <a:pPr algn="ctr"/>
            <a:r>
              <a:rPr lang="en-US" altLang="zh-CN" sz="2000" b="1" dirty="0">
                <a:solidFill>
                  <a:srgbClr val="D80000"/>
                </a:solidFill>
                <a:latin typeface="+mn-ea"/>
              </a:rPr>
              <a:t>j</a:t>
            </a:r>
            <a:r>
              <a:rPr lang="en-US" altLang="zh-CN" sz="2000" b="1" dirty="0">
                <a:solidFill>
                  <a:srgbClr val="020202"/>
                </a:solidFill>
                <a:latin typeface="+mn-ea"/>
              </a:rPr>
              <a:t>:</a:t>
            </a:r>
            <a:endParaRPr lang="en-US" altLang="zh-CN" sz="2000" b="1" dirty="0">
              <a:solidFill>
                <a:srgbClr val="020202"/>
              </a:solidFill>
              <a:latin typeface="+mn-ea"/>
            </a:endParaRPr>
          </a:p>
        </p:txBody>
      </p:sp>
      <p:sp>
        <p:nvSpPr>
          <p:cNvPr id="8" name="Rectangle 4"/>
          <p:cNvSpPr>
            <a:spLocks noChangeArrowheads="1"/>
          </p:cNvSpPr>
          <p:nvPr/>
        </p:nvSpPr>
        <p:spPr bwMode="auto">
          <a:xfrm>
            <a:off x="410688" y="3917880"/>
            <a:ext cx="8366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err="1">
                <a:solidFill>
                  <a:srgbClr val="020202"/>
                </a:solidFill>
                <a:latin typeface="+mn-ea"/>
              </a:rPr>
              <a:t>ebp</a:t>
            </a:r>
            <a:endParaRPr lang="en-US" altLang="zh-CN" sz="2000" b="1" dirty="0">
              <a:solidFill>
                <a:srgbClr val="020202"/>
              </a:solidFill>
              <a:latin typeface="+mn-ea"/>
            </a:endParaRPr>
          </a:p>
        </p:txBody>
      </p:sp>
      <p:sp>
        <p:nvSpPr>
          <p:cNvPr id="9" name="Line 5"/>
          <p:cNvSpPr>
            <a:spLocks noChangeShapeType="1"/>
          </p:cNvSpPr>
          <p:nvPr/>
        </p:nvSpPr>
        <p:spPr bwMode="auto">
          <a:xfrm>
            <a:off x="1217774" y="43166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0" name="Line 6"/>
          <p:cNvSpPr>
            <a:spLocks noChangeShapeType="1"/>
          </p:cNvSpPr>
          <p:nvPr/>
        </p:nvSpPr>
        <p:spPr bwMode="auto">
          <a:xfrm>
            <a:off x="1217774" y="46214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1" name="Line 7"/>
          <p:cNvSpPr>
            <a:spLocks noChangeShapeType="1"/>
          </p:cNvSpPr>
          <p:nvPr/>
        </p:nvSpPr>
        <p:spPr bwMode="auto">
          <a:xfrm>
            <a:off x="1217774" y="49262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3" name="Line 8"/>
          <p:cNvSpPr>
            <a:spLocks noChangeShapeType="1"/>
          </p:cNvSpPr>
          <p:nvPr/>
        </p:nvSpPr>
        <p:spPr bwMode="auto">
          <a:xfrm>
            <a:off x="1217774" y="52310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4" name="Line 9"/>
          <p:cNvSpPr>
            <a:spLocks noChangeShapeType="1"/>
          </p:cNvSpPr>
          <p:nvPr/>
        </p:nvSpPr>
        <p:spPr bwMode="auto">
          <a:xfrm>
            <a:off x="1217774" y="5531097"/>
            <a:ext cx="1587"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5" name="Line 10"/>
          <p:cNvSpPr>
            <a:spLocks noChangeShapeType="1"/>
          </p:cNvSpPr>
          <p:nvPr/>
        </p:nvSpPr>
        <p:spPr bwMode="auto">
          <a:xfrm>
            <a:off x="3579974" y="5531097"/>
            <a:ext cx="1587"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6" name="Line 11"/>
          <p:cNvSpPr>
            <a:spLocks noChangeShapeType="1"/>
          </p:cNvSpPr>
          <p:nvPr/>
        </p:nvSpPr>
        <p:spPr bwMode="auto">
          <a:xfrm>
            <a:off x="1213011" y="2264022"/>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7" name="Line 12"/>
          <p:cNvSpPr>
            <a:spLocks noChangeShapeType="1"/>
          </p:cNvSpPr>
          <p:nvPr/>
        </p:nvSpPr>
        <p:spPr bwMode="auto">
          <a:xfrm>
            <a:off x="3579974" y="2259259"/>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8" name="Rectangle 13"/>
          <p:cNvSpPr>
            <a:spLocks noChangeArrowheads="1"/>
          </p:cNvSpPr>
          <p:nvPr/>
        </p:nvSpPr>
        <p:spPr bwMode="auto">
          <a:xfrm>
            <a:off x="1598774" y="2564059"/>
            <a:ext cx="18757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020202"/>
                </a:solidFill>
                <a:latin typeface="+mn-ea"/>
              </a:rPr>
              <a:t>(栈的其余部分</a:t>
            </a:r>
            <a:r>
              <a:rPr lang="en-US" altLang="zh-CN" sz="2000" b="1" dirty="0">
                <a:solidFill>
                  <a:srgbClr val="020202"/>
                </a:solidFill>
                <a:latin typeface="+mn-ea"/>
              </a:rPr>
              <a:t>)</a:t>
            </a:r>
            <a:endParaRPr lang="en-US" altLang="zh-CN" sz="2000" b="1" dirty="0">
              <a:solidFill>
                <a:srgbClr val="020202"/>
              </a:solidFill>
              <a:latin typeface="+mn-ea"/>
            </a:endParaRPr>
          </a:p>
        </p:txBody>
      </p:sp>
      <p:sp>
        <p:nvSpPr>
          <p:cNvPr id="19" name="Line 14"/>
          <p:cNvSpPr>
            <a:spLocks noChangeShapeType="1"/>
          </p:cNvSpPr>
          <p:nvPr/>
        </p:nvSpPr>
        <p:spPr bwMode="auto">
          <a:xfrm>
            <a:off x="608174" y="5535859"/>
            <a:ext cx="585787" cy="1588"/>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0" name="Rectangle 15"/>
          <p:cNvSpPr>
            <a:spLocks noChangeArrowheads="1"/>
          </p:cNvSpPr>
          <p:nvPr/>
        </p:nvSpPr>
        <p:spPr bwMode="auto">
          <a:xfrm>
            <a:off x="594204" y="5131999"/>
            <a:ext cx="5905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20202"/>
                </a:solidFill>
                <a:latin typeface="+mn-ea"/>
              </a:rPr>
              <a:t>esp</a:t>
            </a:r>
            <a:endParaRPr lang="en-US" altLang="zh-CN" sz="2000" b="1">
              <a:solidFill>
                <a:srgbClr val="020202"/>
              </a:solidFill>
              <a:latin typeface="+mn-ea"/>
            </a:endParaRPr>
          </a:p>
        </p:txBody>
      </p:sp>
      <p:sp>
        <p:nvSpPr>
          <p:cNvPr id="21" name="Rectangle 16"/>
          <p:cNvSpPr>
            <a:spLocks noChangeArrowheads="1"/>
          </p:cNvSpPr>
          <p:nvPr/>
        </p:nvSpPr>
        <p:spPr bwMode="auto">
          <a:xfrm>
            <a:off x="3924461" y="5134222"/>
            <a:ext cx="16236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20202"/>
                </a:solidFill>
                <a:latin typeface="+mn-ea"/>
              </a:rPr>
              <a:t>块</a:t>
            </a:r>
            <a:r>
              <a:rPr lang="en-US" altLang="zh-CN" sz="2000" b="1">
                <a:solidFill>
                  <a:srgbClr val="020202"/>
                </a:solidFill>
                <a:latin typeface="+mn-ea"/>
              </a:rPr>
              <a:t>A</a:t>
            </a:r>
            <a:r>
              <a:rPr lang="zh-CN" altLang="en-US" sz="2000" b="1">
                <a:solidFill>
                  <a:srgbClr val="020202"/>
                </a:solidFill>
                <a:latin typeface="+mn-ea"/>
              </a:rPr>
              <a:t>的分配区</a:t>
            </a:r>
            <a:endParaRPr lang="zh-CN" altLang="en-US" sz="2000" b="1">
              <a:solidFill>
                <a:srgbClr val="020202"/>
              </a:solidFill>
              <a:latin typeface="+mn-ea"/>
            </a:endParaRPr>
          </a:p>
        </p:txBody>
      </p:sp>
      <p:sp>
        <p:nvSpPr>
          <p:cNvPr id="22" name="Rectangle 17"/>
          <p:cNvSpPr>
            <a:spLocks noChangeArrowheads="1"/>
          </p:cNvSpPr>
          <p:nvPr/>
        </p:nvSpPr>
        <p:spPr bwMode="auto">
          <a:xfrm>
            <a:off x="3974065" y="3768942"/>
            <a:ext cx="23679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020202"/>
                </a:solidFill>
                <a:latin typeface="+mn-ea"/>
              </a:rPr>
              <a:t>调用</a:t>
            </a:r>
            <a:r>
              <a:rPr lang="en-US" altLang="zh-CN" sz="2000" b="1" dirty="0">
                <a:solidFill>
                  <a:srgbClr val="020202"/>
                </a:solidFill>
                <a:latin typeface="+mn-ea"/>
              </a:rPr>
              <a:t>p</a:t>
            </a:r>
            <a:r>
              <a:rPr lang="zh-CN" altLang="en-US" sz="2000" b="1" dirty="0">
                <a:solidFill>
                  <a:srgbClr val="020202"/>
                </a:solidFill>
                <a:latin typeface="+mn-ea"/>
              </a:rPr>
              <a:t>时的活动记录</a:t>
            </a:r>
            <a:endParaRPr lang="zh-CN" altLang="en-US" sz="2000" b="1" dirty="0">
              <a:solidFill>
                <a:srgbClr val="020202"/>
              </a:solidFill>
              <a:latin typeface="+mn-ea"/>
            </a:endParaRPr>
          </a:p>
        </p:txBody>
      </p:sp>
      <p:sp>
        <p:nvSpPr>
          <p:cNvPr id="23" name="Rectangle 18"/>
          <p:cNvSpPr>
            <a:spLocks noChangeArrowheads="1"/>
          </p:cNvSpPr>
          <p:nvPr/>
        </p:nvSpPr>
        <p:spPr bwMode="auto">
          <a:xfrm>
            <a:off x="1827374" y="5688259"/>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20202"/>
                </a:solidFill>
                <a:latin typeface="+mn-ea"/>
              </a:rPr>
              <a:t>自由空间</a:t>
            </a:r>
            <a:endParaRPr lang="zh-CN" altLang="en-US" sz="2000" b="1">
              <a:solidFill>
                <a:srgbClr val="020202"/>
              </a:solidFill>
              <a:latin typeface="+mn-ea"/>
            </a:endParaRPr>
          </a:p>
        </p:txBody>
      </p:sp>
      <p:sp>
        <p:nvSpPr>
          <p:cNvPr id="24" name="Line 19"/>
          <p:cNvSpPr>
            <a:spLocks noChangeShapeType="1"/>
          </p:cNvSpPr>
          <p:nvPr/>
        </p:nvSpPr>
        <p:spPr bwMode="auto">
          <a:xfrm>
            <a:off x="1217774" y="34022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5" name="Line 20"/>
          <p:cNvSpPr>
            <a:spLocks noChangeShapeType="1"/>
          </p:cNvSpPr>
          <p:nvPr/>
        </p:nvSpPr>
        <p:spPr bwMode="auto">
          <a:xfrm>
            <a:off x="531974" y="4316659"/>
            <a:ext cx="6858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6" name="Line 21"/>
          <p:cNvSpPr>
            <a:spLocks noChangeShapeType="1"/>
          </p:cNvSpPr>
          <p:nvPr/>
        </p:nvSpPr>
        <p:spPr bwMode="auto">
          <a:xfrm>
            <a:off x="1227299" y="3968997"/>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7" name="Line 22"/>
          <p:cNvSpPr>
            <a:spLocks noChangeShapeType="1"/>
          </p:cNvSpPr>
          <p:nvPr/>
        </p:nvSpPr>
        <p:spPr bwMode="auto">
          <a:xfrm>
            <a:off x="1213011" y="3697534"/>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8" name="Rectangle 26"/>
          <p:cNvSpPr txBox="1">
            <a:spLocks noChangeArrowheads="1"/>
          </p:cNvSpPr>
          <p:nvPr/>
        </p:nvSpPr>
        <p:spPr>
          <a:xfrm>
            <a:off x="410845" y="1157605"/>
            <a:ext cx="11520170" cy="936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solidFill>
                  <a:srgbClr val="020202"/>
                </a:solidFill>
                <a:latin typeface="+mn-ea"/>
              </a:rPr>
              <a:t>按照与临时表达式相类似的办法</a:t>
            </a:r>
            <a:r>
              <a:rPr lang="zh-CN" altLang="en-US" sz="2400" b="1" dirty="0">
                <a:solidFill>
                  <a:srgbClr val="020202"/>
                </a:solidFill>
                <a:latin typeface="+mn-ea"/>
              </a:rPr>
              <a:t>处理嵌套块声明，并在进入块时在栈中分配它们。当进入块</a:t>
            </a:r>
            <a:r>
              <a:rPr lang="en-US" altLang="zh-CN" sz="2400" b="1" dirty="0">
                <a:solidFill>
                  <a:srgbClr val="020202"/>
                </a:solidFill>
                <a:latin typeface="+mn-ea"/>
              </a:rPr>
              <a:t>A</a:t>
            </a:r>
            <a:r>
              <a:rPr lang="zh-CN" altLang="en-US" sz="2400" b="1" dirty="0">
                <a:solidFill>
                  <a:srgbClr val="020202"/>
                </a:solidFill>
                <a:latin typeface="+mn-ea"/>
              </a:rPr>
              <a:t>后，运行时栈如下所示：</a:t>
            </a:r>
            <a:endParaRPr lang="zh-CN" altLang="en-US" sz="2400" dirty="0">
              <a:latin typeface="+mn-ea"/>
            </a:endParaRPr>
          </a:p>
        </p:txBody>
      </p:sp>
      <p:sp>
        <p:nvSpPr>
          <p:cNvPr id="30" name="AutoShape 28"/>
          <p:cNvSpPr/>
          <p:nvPr/>
        </p:nvSpPr>
        <p:spPr bwMode="auto">
          <a:xfrm>
            <a:off x="3637124" y="3015564"/>
            <a:ext cx="288925" cy="1871662"/>
          </a:xfrm>
          <a:prstGeom prst="rightBrace">
            <a:avLst>
              <a:gd name="adj1" fmla="val 27006"/>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p:nvSpPr>
          <p:cNvPr id="31" name="AutoShape 29"/>
          <p:cNvSpPr/>
          <p:nvPr/>
        </p:nvSpPr>
        <p:spPr bwMode="auto">
          <a:xfrm>
            <a:off x="3637124" y="4916734"/>
            <a:ext cx="287337" cy="649288"/>
          </a:xfrm>
          <a:prstGeom prst="rightBrace">
            <a:avLst>
              <a:gd name="adj1" fmla="val 18789"/>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useBgFill="1">
        <p:nvSpPr>
          <p:cNvPr id="32" name="Rectangle 2"/>
          <p:cNvSpPr>
            <a:spLocks noChangeArrowheads="1"/>
          </p:cNvSpPr>
          <p:nvPr>
            <p:custDataLst>
              <p:tags r:id="rId1"/>
            </p:custDataLst>
          </p:nvPr>
        </p:nvSpPr>
        <p:spPr bwMode="auto">
          <a:xfrm>
            <a:off x="6657210" y="3385951"/>
            <a:ext cx="2362200" cy="2514600"/>
          </a:xfrm>
          <a:prstGeom prst="rect">
            <a:avLst/>
          </a:prstGeom>
          <a:ln w="9525">
            <a:solidFill>
              <a:srgbClr val="020202"/>
            </a:solidFill>
            <a:miter lim="800000"/>
          </a:ln>
        </p:spPr>
        <p:txBody>
          <a:bodyPr wrap="none" anchor="ctr"/>
          <a:p>
            <a:pPr algn="ctr"/>
            <a:r>
              <a:rPr lang="en-US" altLang="zh-CN" sz="2000" b="1">
                <a:solidFill>
                  <a:srgbClr val="020202"/>
                </a:solidFill>
                <a:latin typeface="+mn-ea"/>
              </a:rPr>
              <a:t>y:</a:t>
            </a:r>
            <a:endParaRPr lang="en-US" altLang="zh-CN" sz="2000" b="1">
              <a:solidFill>
                <a:srgbClr val="020202"/>
              </a:solidFill>
              <a:latin typeface="+mn-ea"/>
            </a:endParaRPr>
          </a:p>
          <a:p>
            <a:pPr algn="ctr"/>
            <a:r>
              <a:rPr lang="en-US" altLang="zh-CN" sz="2000" b="1">
                <a:solidFill>
                  <a:srgbClr val="020202"/>
                </a:solidFill>
                <a:latin typeface="+mn-ea"/>
              </a:rPr>
              <a:t>x:</a:t>
            </a:r>
            <a:endParaRPr lang="en-US" altLang="zh-CN" sz="2000" b="1">
              <a:solidFill>
                <a:srgbClr val="020202"/>
              </a:solidFill>
              <a:latin typeface="+mn-ea"/>
            </a:endParaRPr>
          </a:p>
          <a:p>
            <a:pPr algn="ctr"/>
            <a:r>
              <a:rPr lang="en-US" altLang="zh-CN" sz="2000" b="1">
                <a:solidFill>
                  <a:srgbClr val="020202"/>
                </a:solidFill>
                <a:latin typeface="+mn-ea"/>
              </a:rPr>
              <a:t>  </a:t>
            </a:r>
            <a:r>
              <a:rPr lang="zh-CN" altLang="en-US" sz="2000" b="1">
                <a:solidFill>
                  <a:srgbClr val="020202"/>
                </a:solidFill>
                <a:latin typeface="+mn-ea"/>
              </a:rPr>
              <a:t>返回地址</a:t>
            </a:r>
            <a:endParaRPr lang="zh-CN" altLang="en-US" sz="2000" b="1">
              <a:solidFill>
                <a:srgbClr val="020202"/>
              </a:solidFill>
              <a:latin typeface="+mn-ea"/>
            </a:endParaRPr>
          </a:p>
          <a:p>
            <a:pPr algn="ctr"/>
            <a:r>
              <a:rPr lang="zh-CN" altLang="en-US" sz="2000" b="1">
                <a:solidFill>
                  <a:srgbClr val="020202"/>
                </a:solidFill>
                <a:latin typeface="+mn-ea"/>
              </a:rPr>
              <a:t>控制链</a:t>
            </a:r>
            <a:endParaRPr lang="zh-CN" altLang="en-US" sz="2000" b="1">
              <a:solidFill>
                <a:srgbClr val="020202"/>
              </a:solidFill>
              <a:latin typeface="+mn-ea"/>
            </a:endParaRPr>
          </a:p>
          <a:p>
            <a:pPr algn="ctr"/>
            <a:r>
              <a:rPr lang="en-US" altLang="zh-CN" sz="2000" b="1">
                <a:solidFill>
                  <a:srgbClr val="020202"/>
                </a:solidFill>
                <a:latin typeface="+mn-ea"/>
              </a:rPr>
              <a:t>a:</a:t>
            </a:r>
            <a:endParaRPr lang="en-US" altLang="zh-CN" sz="2000" b="1">
              <a:solidFill>
                <a:srgbClr val="020202"/>
              </a:solidFill>
              <a:latin typeface="+mn-ea"/>
            </a:endParaRPr>
          </a:p>
          <a:p>
            <a:pPr algn="ctr"/>
            <a:r>
              <a:rPr lang="en-US" altLang="zh-CN" sz="2000" b="1">
                <a:solidFill>
                  <a:srgbClr val="020202"/>
                </a:solidFill>
                <a:latin typeface="+mn-ea"/>
              </a:rPr>
              <a:t>i:</a:t>
            </a:r>
            <a:endParaRPr lang="zh-CN" altLang="en-US" sz="2000" b="1">
              <a:solidFill>
                <a:srgbClr val="020202"/>
              </a:solidFill>
              <a:latin typeface="+mn-ea"/>
            </a:endParaRPr>
          </a:p>
          <a:p>
            <a:pPr algn="ctr"/>
            <a:r>
              <a:rPr lang="en-US" altLang="zh-CN" sz="2000" b="1">
                <a:solidFill>
                  <a:srgbClr val="D80000"/>
                </a:solidFill>
                <a:latin typeface="+mn-ea"/>
              </a:rPr>
              <a:t>a</a:t>
            </a:r>
            <a:r>
              <a:rPr lang="en-US" altLang="zh-CN" sz="2000" b="1">
                <a:solidFill>
                  <a:srgbClr val="020202"/>
                </a:solidFill>
                <a:latin typeface="+mn-ea"/>
              </a:rPr>
              <a:t>:</a:t>
            </a:r>
            <a:endParaRPr lang="en-US" altLang="zh-CN" sz="2000" b="1">
              <a:solidFill>
                <a:srgbClr val="020202"/>
              </a:solidFill>
              <a:latin typeface="+mn-ea"/>
            </a:endParaRPr>
          </a:p>
          <a:p>
            <a:pPr algn="ctr"/>
            <a:r>
              <a:rPr lang="en-US" altLang="zh-CN" sz="2000" b="1">
                <a:solidFill>
                  <a:srgbClr val="D80000"/>
                </a:solidFill>
                <a:latin typeface="+mn-ea"/>
              </a:rPr>
              <a:t>k</a:t>
            </a:r>
            <a:r>
              <a:rPr lang="en-US" altLang="zh-CN" sz="2000" b="1">
                <a:solidFill>
                  <a:srgbClr val="020202"/>
                </a:solidFill>
                <a:latin typeface="+mn-ea"/>
              </a:rPr>
              <a:t>:</a:t>
            </a:r>
            <a:endParaRPr lang="en-US" altLang="zh-CN" sz="2000" b="1">
              <a:solidFill>
                <a:srgbClr val="020202"/>
              </a:solidFill>
              <a:latin typeface="+mn-ea"/>
            </a:endParaRPr>
          </a:p>
        </p:txBody>
      </p:sp>
      <p:sp>
        <p:nvSpPr>
          <p:cNvPr id="33" name="Rectangle 3"/>
          <p:cNvSpPr>
            <a:spLocks noChangeArrowheads="1"/>
          </p:cNvSpPr>
          <p:nvPr>
            <p:custDataLst>
              <p:tags r:id="rId2"/>
            </p:custDataLst>
          </p:nvPr>
        </p:nvSpPr>
        <p:spPr bwMode="auto">
          <a:xfrm>
            <a:off x="5285610" y="4147951"/>
            <a:ext cx="6667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000" b="1">
                <a:solidFill>
                  <a:srgbClr val="020202"/>
                </a:solidFill>
                <a:latin typeface="+mn-ea"/>
              </a:rPr>
              <a:t>ebp</a:t>
            </a:r>
            <a:endParaRPr lang="en-US" altLang="zh-CN" sz="2000" b="1">
              <a:solidFill>
                <a:srgbClr val="020202"/>
              </a:solidFill>
              <a:latin typeface="+mn-ea"/>
            </a:endParaRPr>
          </a:p>
        </p:txBody>
      </p:sp>
      <p:sp>
        <p:nvSpPr>
          <p:cNvPr id="34" name="Line 4"/>
          <p:cNvSpPr>
            <a:spLocks noChangeShapeType="1"/>
          </p:cNvSpPr>
          <p:nvPr>
            <p:custDataLst>
              <p:tags r:id="rId3"/>
            </p:custDataLst>
          </p:nvPr>
        </p:nvSpPr>
        <p:spPr bwMode="auto">
          <a:xfrm>
            <a:off x="6657210" y="46813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5" name="Line 5"/>
          <p:cNvSpPr>
            <a:spLocks noChangeShapeType="1"/>
          </p:cNvSpPr>
          <p:nvPr>
            <p:custDataLst>
              <p:tags r:id="rId4"/>
            </p:custDataLst>
          </p:nvPr>
        </p:nvSpPr>
        <p:spPr bwMode="auto">
          <a:xfrm>
            <a:off x="6657210" y="49861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6" name="Line 6"/>
          <p:cNvSpPr>
            <a:spLocks noChangeShapeType="1"/>
          </p:cNvSpPr>
          <p:nvPr>
            <p:custDataLst>
              <p:tags r:id="rId5"/>
            </p:custDataLst>
          </p:nvPr>
        </p:nvSpPr>
        <p:spPr bwMode="auto">
          <a:xfrm>
            <a:off x="6657210" y="52909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7" name="Line 7"/>
          <p:cNvSpPr>
            <a:spLocks noChangeShapeType="1"/>
          </p:cNvSpPr>
          <p:nvPr>
            <p:custDataLst>
              <p:tags r:id="rId6"/>
            </p:custDataLst>
          </p:nvPr>
        </p:nvSpPr>
        <p:spPr bwMode="auto">
          <a:xfrm>
            <a:off x="6657210" y="55957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8" name="Line 8"/>
          <p:cNvSpPr>
            <a:spLocks noChangeShapeType="1"/>
          </p:cNvSpPr>
          <p:nvPr>
            <p:custDataLst>
              <p:tags r:id="rId7"/>
            </p:custDataLst>
          </p:nvPr>
        </p:nvSpPr>
        <p:spPr bwMode="auto">
          <a:xfrm>
            <a:off x="6657210" y="5895788"/>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9" name="Line 9"/>
          <p:cNvSpPr>
            <a:spLocks noChangeShapeType="1"/>
          </p:cNvSpPr>
          <p:nvPr>
            <p:custDataLst>
              <p:tags r:id="rId8"/>
            </p:custDataLst>
          </p:nvPr>
        </p:nvSpPr>
        <p:spPr bwMode="auto">
          <a:xfrm>
            <a:off x="9019410" y="5895788"/>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0" name="Line 10"/>
          <p:cNvSpPr>
            <a:spLocks noChangeShapeType="1"/>
          </p:cNvSpPr>
          <p:nvPr>
            <p:custDataLst>
              <p:tags r:id="rId9"/>
            </p:custDataLst>
          </p:nvPr>
        </p:nvSpPr>
        <p:spPr bwMode="auto">
          <a:xfrm>
            <a:off x="6652447" y="2628713"/>
            <a:ext cx="1588"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1" name="Line 11"/>
          <p:cNvSpPr>
            <a:spLocks noChangeShapeType="1"/>
          </p:cNvSpPr>
          <p:nvPr>
            <p:custDataLst>
              <p:tags r:id="rId10"/>
            </p:custDataLst>
          </p:nvPr>
        </p:nvSpPr>
        <p:spPr bwMode="auto">
          <a:xfrm>
            <a:off x="9019410" y="2623951"/>
            <a:ext cx="1587"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2" name="Rectangle 12"/>
          <p:cNvSpPr>
            <a:spLocks noChangeArrowheads="1"/>
          </p:cNvSpPr>
          <p:nvPr>
            <p:custDataLst>
              <p:tags r:id="rId11"/>
            </p:custDataLst>
          </p:nvPr>
        </p:nvSpPr>
        <p:spPr bwMode="auto">
          <a:xfrm>
            <a:off x="7038210" y="2928751"/>
            <a:ext cx="18757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(栈的其余部分</a:t>
            </a:r>
            <a:r>
              <a:rPr lang="en-US" altLang="zh-CN" sz="2000" b="1">
                <a:solidFill>
                  <a:srgbClr val="020202"/>
                </a:solidFill>
                <a:latin typeface="+mn-ea"/>
              </a:rPr>
              <a:t>)</a:t>
            </a:r>
            <a:endParaRPr lang="en-US" altLang="zh-CN" sz="2000" b="1">
              <a:solidFill>
                <a:srgbClr val="020202"/>
              </a:solidFill>
              <a:latin typeface="+mn-ea"/>
            </a:endParaRPr>
          </a:p>
        </p:txBody>
      </p:sp>
      <p:sp>
        <p:nvSpPr>
          <p:cNvPr id="43" name="Line 13"/>
          <p:cNvSpPr>
            <a:spLocks noChangeShapeType="1"/>
          </p:cNvSpPr>
          <p:nvPr>
            <p:custDataLst>
              <p:tags r:id="rId12"/>
            </p:custDataLst>
          </p:nvPr>
        </p:nvSpPr>
        <p:spPr bwMode="auto">
          <a:xfrm>
            <a:off x="6047610" y="5900551"/>
            <a:ext cx="585787" cy="1587"/>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4" name="Rectangle 14"/>
          <p:cNvSpPr>
            <a:spLocks noChangeArrowheads="1"/>
          </p:cNvSpPr>
          <p:nvPr>
            <p:custDataLst>
              <p:tags r:id="rId13"/>
            </p:custDataLst>
          </p:nvPr>
        </p:nvSpPr>
        <p:spPr bwMode="auto">
          <a:xfrm>
            <a:off x="5438010" y="5671951"/>
            <a:ext cx="5905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000" b="1">
                <a:solidFill>
                  <a:srgbClr val="020202"/>
                </a:solidFill>
                <a:latin typeface="+mn-ea"/>
              </a:rPr>
              <a:t>esp</a:t>
            </a:r>
            <a:endParaRPr lang="en-US" altLang="zh-CN" sz="2000" b="1">
              <a:solidFill>
                <a:srgbClr val="020202"/>
              </a:solidFill>
              <a:latin typeface="+mn-ea"/>
            </a:endParaRPr>
          </a:p>
        </p:txBody>
      </p:sp>
      <p:sp>
        <p:nvSpPr>
          <p:cNvPr id="45" name="Rectangle 15"/>
          <p:cNvSpPr>
            <a:spLocks noChangeArrowheads="1"/>
          </p:cNvSpPr>
          <p:nvPr>
            <p:custDataLst>
              <p:tags r:id="rId14"/>
            </p:custDataLst>
          </p:nvPr>
        </p:nvSpPr>
        <p:spPr bwMode="auto">
          <a:xfrm>
            <a:off x="9460735" y="5410013"/>
            <a:ext cx="16065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dirty="0">
                <a:solidFill>
                  <a:srgbClr val="020202"/>
                </a:solidFill>
                <a:latin typeface="+mn-ea"/>
              </a:rPr>
              <a:t>块</a:t>
            </a:r>
            <a:r>
              <a:rPr lang="en-US" altLang="zh-CN" sz="2000" b="1" dirty="0">
                <a:solidFill>
                  <a:srgbClr val="020202"/>
                </a:solidFill>
                <a:latin typeface="+mn-ea"/>
              </a:rPr>
              <a:t>B</a:t>
            </a:r>
            <a:r>
              <a:rPr lang="zh-CN" altLang="en-US" sz="2000" b="1" dirty="0">
                <a:solidFill>
                  <a:srgbClr val="020202"/>
                </a:solidFill>
                <a:latin typeface="+mn-ea"/>
              </a:rPr>
              <a:t>的分配区</a:t>
            </a:r>
            <a:endParaRPr lang="zh-CN" altLang="en-US" sz="2000" b="1" dirty="0">
              <a:solidFill>
                <a:srgbClr val="020202"/>
              </a:solidFill>
              <a:latin typeface="+mn-ea"/>
            </a:endParaRPr>
          </a:p>
        </p:txBody>
      </p:sp>
      <p:sp>
        <p:nvSpPr>
          <p:cNvPr id="46" name="Rectangle 16"/>
          <p:cNvSpPr>
            <a:spLocks noChangeArrowheads="1"/>
          </p:cNvSpPr>
          <p:nvPr>
            <p:custDataLst>
              <p:tags r:id="rId15"/>
            </p:custDataLst>
          </p:nvPr>
        </p:nvSpPr>
        <p:spPr bwMode="auto">
          <a:xfrm>
            <a:off x="9443085" y="4100296"/>
            <a:ext cx="23679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调用</a:t>
            </a:r>
            <a:r>
              <a:rPr lang="en-US" altLang="zh-CN" sz="2000" b="1">
                <a:solidFill>
                  <a:srgbClr val="020202"/>
                </a:solidFill>
                <a:latin typeface="+mn-ea"/>
              </a:rPr>
              <a:t>p</a:t>
            </a:r>
            <a:r>
              <a:rPr lang="zh-CN" altLang="en-US" sz="2000" b="1">
                <a:solidFill>
                  <a:srgbClr val="020202"/>
                </a:solidFill>
                <a:latin typeface="+mn-ea"/>
              </a:rPr>
              <a:t>时的活动记录</a:t>
            </a:r>
            <a:endParaRPr lang="zh-CN" altLang="en-US" sz="2000" b="1">
              <a:solidFill>
                <a:srgbClr val="020202"/>
              </a:solidFill>
              <a:latin typeface="+mn-ea"/>
            </a:endParaRPr>
          </a:p>
        </p:txBody>
      </p:sp>
      <p:sp>
        <p:nvSpPr>
          <p:cNvPr id="47" name="Rectangle 17"/>
          <p:cNvSpPr>
            <a:spLocks noChangeArrowheads="1"/>
          </p:cNvSpPr>
          <p:nvPr>
            <p:custDataLst>
              <p:tags r:id="rId16"/>
            </p:custDataLst>
          </p:nvPr>
        </p:nvSpPr>
        <p:spPr bwMode="auto">
          <a:xfrm>
            <a:off x="7266810" y="6052951"/>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自由空间</a:t>
            </a:r>
            <a:endParaRPr lang="zh-CN" altLang="en-US" sz="2000" b="1">
              <a:solidFill>
                <a:srgbClr val="020202"/>
              </a:solidFill>
              <a:latin typeface="+mn-ea"/>
            </a:endParaRPr>
          </a:p>
        </p:txBody>
      </p:sp>
      <p:sp>
        <p:nvSpPr>
          <p:cNvPr id="48" name="Line 18"/>
          <p:cNvSpPr>
            <a:spLocks noChangeShapeType="1"/>
          </p:cNvSpPr>
          <p:nvPr>
            <p:custDataLst>
              <p:tags r:id="rId17"/>
            </p:custDataLst>
          </p:nvPr>
        </p:nvSpPr>
        <p:spPr bwMode="auto">
          <a:xfrm>
            <a:off x="6657210" y="37669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9" name="Line 19"/>
          <p:cNvSpPr>
            <a:spLocks noChangeShapeType="1"/>
          </p:cNvSpPr>
          <p:nvPr>
            <p:custDataLst>
              <p:tags r:id="rId18"/>
            </p:custDataLst>
          </p:nvPr>
        </p:nvSpPr>
        <p:spPr bwMode="auto">
          <a:xfrm>
            <a:off x="5971410" y="4300351"/>
            <a:ext cx="6858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50" name="Line 20"/>
          <p:cNvSpPr>
            <a:spLocks noChangeShapeType="1"/>
          </p:cNvSpPr>
          <p:nvPr>
            <p:custDataLst>
              <p:tags r:id="rId19"/>
            </p:custDataLst>
          </p:nvPr>
        </p:nvSpPr>
        <p:spPr bwMode="auto">
          <a:xfrm>
            <a:off x="6666735" y="4333688"/>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51" name="Line 21"/>
          <p:cNvSpPr>
            <a:spLocks noChangeShapeType="1"/>
          </p:cNvSpPr>
          <p:nvPr>
            <p:custDataLst>
              <p:tags r:id="rId20"/>
            </p:custDataLst>
          </p:nvPr>
        </p:nvSpPr>
        <p:spPr bwMode="auto">
          <a:xfrm>
            <a:off x="6652447" y="4062226"/>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52" name="Rectangle 22"/>
          <p:cNvSpPr>
            <a:spLocks noChangeArrowheads="1"/>
          </p:cNvSpPr>
          <p:nvPr>
            <p:custDataLst>
              <p:tags r:id="rId21"/>
            </p:custDataLst>
          </p:nvPr>
        </p:nvSpPr>
        <p:spPr bwMode="auto">
          <a:xfrm>
            <a:off x="5285610" y="2075991"/>
            <a:ext cx="5943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20202"/>
                </a:solidFill>
                <a:latin typeface="+mn-ea"/>
              </a:rPr>
              <a:t>当进入块</a:t>
            </a:r>
            <a:r>
              <a:rPr lang="en-US" altLang="zh-CN" sz="2400" b="1" dirty="0">
                <a:solidFill>
                  <a:srgbClr val="020202"/>
                </a:solidFill>
                <a:latin typeface="+mn-ea"/>
              </a:rPr>
              <a:t>B</a:t>
            </a:r>
            <a:r>
              <a:rPr lang="zh-CN" altLang="en-US" sz="2400" b="1" dirty="0">
                <a:solidFill>
                  <a:srgbClr val="020202"/>
                </a:solidFill>
                <a:latin typeface="+mn-ea"/>
              </a:rPr>
              <a:t>后，运行时栈如下所示：</a:t>
            </a:r>
            <a:endParaRPr lang="zh-CN" altLang="en-US" sz="2400" b="1" dirty="0">
              <a:solidFill>
                <a:srgbClr val="020202"/>
              </a:solidFill>
              <a:latin typeface="+mn-ea"/>
            </a:endParaRPr>
          </a:p>
        </p:txBody>
      </p:sp>
      <p:sp>
        <p:nvSpPr>
          <p:cNvPr id="54" name="AutoShape 26"/>
          <p:cNvSpPr/>
          <p:nvPr>
            <p:custDataLst>
              <p:tags r:id="rId22"/>
            </p:custDataLst>
          </p:nvPr>
        </p:nvSpPr>
        <p:spPr bwMode="auto">
          <a:xfrm>
            <a:off x="9038460" y="3385951"/>
            <a:ext cx="288925" cy="1871663"/>
          </a:xfrm>
          <a:prstGeom prst="rightBrace">
            <a:avLst>
              <a:gd name="adj1" fmla="val 27006"/>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p:nvSpPr>
          <p:cNvPr id="55" name="AutoShape 27"/>
          <p:cNvSpPr/>
          <p:nvPr>
            <p:custDataLst>
              <p:tags r:id="rId23"/>
            </p:custDataLst>
          </p:nvPr>
        </p:nvSpPr>
        <p:spPr bwMode="auto">
          <a:xfrm>
            <a:off x="9028935" y="5267138"/>
            <a:ext cx="287337" cy="649288"/>
          </a:xfrm>
          <a:prstGeom prst="rightBrace">
            <a:avLst>
              <a:gd name="adj1" fmla="val 18789"/>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p:nvSpPr>
          <p:cNvPr id="3" name="文本占位符 2"/>
          <p:cNvSpPr>
            <a:spLocks noGrp="1"/>
          </p:cNvSpPr>
          <p:nvPr>
            <p:ph type="body" sz="quarter" idx="14"/>
            <p:custDataLst>
              <p:tags r:id="rId24"/>
            </p:custDataLst>
          </p:nvPr>
        </p:nvSpPr>
        <p:spPr>
          <a:xfrm>
            <a:off x="327660" y="276860"/>
            <a:ext cx="7166610"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arn(in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barn(inHorizontal)">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arn(in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barn(inHorizontal)">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barn(inHorizontal)">
                                      <p:cBhvr>
                                        <p:cTn id="3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30" grpId="0" bldLvl="0" animBg="1"/>
      <p:bldP spid="31" grpId="0" bldLvl="0" animBg="1"/>
      <p:bldP spid="45" grpId="0"/>
      <p:bldP spid="55"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6245" y="276860"/>
            <a:ext cx="7058025" cy="593090"/>
          </a:xfrm>
        </p:spPr>
        <p:txBody>
          <a:bodyPr/>
          <a:lstStyle/>
          <a:p>
            <a:r>
              <a:rPr lang="en-US" altLang="zh-CN" dirty="0"/>
              <a:t>7.2 </a:t>
            </a:r>
            <a:r>
              <a:rPr lang="zh-CN" altLang="en-US" dirty="0"/>
              <a:t>基于栈的运行时环境</a:t>
            </a:r>
            <a:endParaRPr lang="zh-CN" altLang="en-US" dirty="0"/>
          </a:p>
        </p:txBody>
      </p:sp>
      <p:sp>
        <p:nvSpPr>
          <p:cNvPr id="27" name="Rectangle 3"/>
          <p:cNvSpPr txBox="1">
            <a:spLocks noChangeArrowheads="1"/>
          </p:cNvSpPr>
          <p:nvPr/>
        </p:nvSpPr>
        <p:spPr>
          <a:xfrm>
            <a:off x="436245" y="1242695"/>
            <a:ext cx="4377055" cy="5022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solidFill>
                  <a:schemeClr val="accent1"/>
                </a:solidFill>
                <a:latin typeface="+mn-ea"/>
              </a:rPr>
              <a:t>目标代码的生成必须支持变量和临时变量的实际定位，并增加支持运行时环境所必需的代码。</a:t>
            </a:r>
            <a:endParaRPr lang="zh-CN" altLang="en-US" b="1" dirty="0">
              <a:solidFill>
                <a:schemeClr val="accent1"/>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rgbClr val="030305"/>
                </a:solidFill>
                <a:latin typeface="+mn-ea"/>
              </a:rPr>
              <a:t>对名字的访问</a:t>
            </a:r>
            <a:endParaRPr lang="zh-CN" altLang="en-US" sz="2400" b="1" dirty="0">
              <a:solidFill>
                <a:srgbClr val="030305"/>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rgbClr val="030305"/>
                </a:solidFill>
                <a:latin typeface="+mn-ea"/>
              </a:rPr>
              <a:t>局部临时变量</a:t>
            </a:r>
            <a:endParaRPr lang="zh-CN" altLang="en-US" sz="2400" b="1" dirty="0">
              <a:solidFill>
                <a:srgbClr val="030305"/>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rgbClr val="030305"/>
                </a:solidFill>
                <a:latin typeface="+mn-ea"/>
              </a:rPr>
              <a:t>嵌套声明</a:t>
            </a:r>
            <a:endParaRPr lang="en-US" altLang="zh-CN" sz="2400" b="1" dirty="0">
              <a:solidFill>
                <a:srgbClr val="030305"/>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chemeClr val="accent1"/>
                </a:solidFill>
                <a:latin typeface="+mn-ea"/>
              </a:rPr>
              <a:t>如何处理可变长度的问题</a:t>
            </a:r>
            <a:endParaRPr lang="zh-CN" altLang="en-US" sz="2400" b="1" dirty="0">
              <a:solidFill>
                <a:schemeClr val="accent1"/>
              </a:solidFill>
              <a:latin typeface="+mn-ea"/>
            </a:endParaRPr>
          </a:p>
          <a:p>
            <a:pPr lvl="2">
              <a:lnSpc>
                <a:spcPct val="150000"/>
              </a:lnSpc>
            </a:pPr>
            <a:endParaRPr lang="zh-CN" altLang="en-US" sz="2400" b="1" dirty="0">
              <a:solidFill>
                <a:srgbClr val="030305"/>
              </a:solidFill>
              <a:latin typeface="+mn-ea"/>
            </a:endParaRPr>
          </a:p>
        </p:txBody>
      </p:sp>
      <p:sp>
        <p:nvSpPr>
          <p:cNvPr id="4" name="Rectangle 3"/>
          <p:cNvSpPr>
            <a:spLocks noChangeArrowheads="1"/>
          </p:cNvSpPr>
          <p:nvPr>
            <p:custDataLst>
              <p:tags r:id="rId1"/>
            </p:custDataLst>
          </p:nvPr>
        </p:nvSpPr>
        <p:spPr bwMode="auto">
          <a:xfrm>
            <a:off x="5654040" y="1209040"/>
            <a:ext cx="6198235"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zh-CN" altLang="en-US" sz="2400" b="1" dirty="0">
                <a:solidFill>
                  <a:srgbClr val="020202"/>
                </a:solidFill>
                <a:latin typeface="+mn-ea"/>
              </a:rPr>
              <a:t>有时编译程序必须处理数据变化的可能性， </a:t>
            </a:r>
            <a:r>
              <a:rPr lang="zh-CN" altLang="en-US" sz="2400" b="1" dirty="0">
                <a:solidFill>
                  <a:srgbClr val="020202"/>
                </a:solidFill>
                <a:latin typeface="+mn-ea"/>
              </a:rPr>
              <a:t>例如：调用中的自变量的数量可根据调用的不同而不同。</a:t>
            </a:r>
            <a:endParaRPr lang="en-US" altLang="zh-CN" sz="2400" b="1" dirty="0">
              <a:solidFill>
                <a:srgbClr val="020202"/>
              </a:solidFill>
              <a:latin typeface="+mn-ea"/>
            </a:endParaRPr>
          </a:p>
        </p:txBody>
      </p:sp>
      <p:sp>
        <p:nvSpPr>
          <p:cNvPr id="5" name="Rectangle 4"/>
          <p:cNvSpPr>
            <a:spLocks noChangeArrowheads="1"/>
          </p:cNvSpPr>
          <p:nvPr>
            <p:custDataLst>
              <p:tags r:id="rId2"/>
            </p:custDataLst>
          </p:nvPr>
        </p:nvSpPr>
        <p:spPr bwMode="auto">
          <a:xfrm>
            <a:off x="6207432" y="2968625"/>
            <a:ext cx="389826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nSpc>
                <a:spcPct val="120000"/>
              </a:lnSpc>
            </a:pP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a:t>
            </a:r>
            <a:r>
              <a:rPr lang="zh-CN" altLang="en-US" sz="2400" b="1" dirty="0">
                <a:solidFill>
                  <a:srgbClr val="020202"/>
                </a:solidFill>
                <a:latin typeface="Times New Roman" panose="02020603050405020304" pitchFamily="18" charset="0"/>
                <a:cs typeface="Times New Roman" panose="02020603050405020304" pitchFamily="18" charset="0"/>
              </a:rPr>
              <a:t>“</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d%s</a:t>
            </a:r>
            <a:r>
              <a:rPr lang="en-US" altLang="zh-CN" sz="2400" b="1" dirty="0">
                <a:solidFill>
                  <a:srgbClr val="020202"/>
                </a:solidFill>
                <a:latin typeface="Times New Roman" panose="02020603050405020304" pitchFamily="18" charset="0"/>
                <a:cs typeface="Times New Roman" panose="02020603050405020304" pitchFamily="18" charset="0"/>
              </a:rPr>
              <a:t>", n, prompt);</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
        <p:nvSpPr>
          <p:cNvPr id="6" name="Rectangle 5"/>
          <p:cNvSpPr>
            <a:spLocks noChangeArrowheads="1"/>
          </p:cNvSpPr>
          <p:nvPr>
            <p:custDataLst>
              <p:tags r:id="rId3"/>
            </p:custDataLst>
          </p:nvPr>
        </p:nvSpPr>
        <p:spPr bwMode="auto">
          <a:xfrm>
            <a:off x="6173777" y="3487624"/>
            <a:ext cx="402272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nSpc>
                <a:spcPct val="120000"/>
              </a:lnSpc>
            </a:pP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(“%d %d %d </a:t>
            </a:r>
            <a:r>
              <a:rPr lang="zh-CN" altLang="en-US" sz="2400" b="1" dirty="0">
                <a:solidFill>
                  <a:srgbClr val="020202"/>
                </a:solidFill>
                <a:latin typeface="Times New Roman" panose="02020603050405020304" pitchFamily="18" charset="0"/>
                <a:cs typeface="Times New Roman" panose="02020603050405020304" pitchFamily="18" charset="0"/>
              </a:rPr>
              <a:t>”</a:t>
            </a:r>
            <a:r>
              <a:rPr lang="en-US" altLang="zh-CN" sz="2400" b="1" dirty="0">
                <a:solidFill>
                  <a:srgbClr val="020202"/>
                </a:solidFill>
                <a:latin typeface="Times New Roman" panose="02020603050405020304" pitchFamily="18" charset="0"/>
                <a:cs typeface="Times New Roman" panose="02020603050405020304" pitchFamily="18" charset="0"/>
              </a:rPr>
              <a:t>,3,4,50);</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
        <p:nvSpPr>
          <p:cNvPr id="7" name="Rectangle 6"/>
          <p:cNvSpPr>
            <a:spLocks noChangeArrowheads="1"/>
          </p:cNvSpPr>
          <p:nvPr>
            <p:custDataLst>
              <p:tags r:id="rId4"/>
            </p:custDataLst>
          </p:nvPr>
        </p:nvSpPr>
        <p:spPr bwMode="auto">
          <a:xfrm>
            <a:off x="5739765" y="4471035"/>
            <a:ext cx="6016625"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en-US" altLang="zh-CN" sz="2400" b="1" dirty="0">
                <a:solidFill>
                  <a:srgbClr val="020202"/>
                </a:solidFill>
                <a:latin typeface="+mn-ea"/>
              </a:rPr>
              <a:t>C</a:t>
            </a:r>
            <a:r>
              <a:rPr lang="zh-CN" altLang="en-US" sz="2400" b="1" dirty="0">
                <a:solidFill>
                  <a:srgbClr val="020202"/>
                </a:solidFill>
                <a:latin typeface="+mn-ea"/>
              </a:rPr>
              <a:t>编译程序一般通过把调用的自变量按相反顺序压入到运行时栈来处理这一点。</a:t>
            </a:r>
            <a:endParaRPr lang="zh-CN" altLang="en-US" sz="2400" b="1" dirty="0">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animEffect transition="in" filter="barn(inHorizontal)">
                                      <p:cBhvr>
                                        <p:cTn id="7" dur="500"/>
                                        <p:tgtEl>
                                          <p:spTgt spid="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7">
                                            <p:txEl>
                                              <p:pRg st="2" end="2"/>
                                            </p:txEl>
                                          </p:spTgt>
                                        </p:tgtEl>
                                        <p:attrNameLst>
                                          <p:attrName>style.visibility</p:attrName>
                                        </p:attrNameLst>
                                      </p:cBhvr>
                                      <p:to>
                                        <p:strVal val="visible"/>
                                      </p:to>
                                    </p:set>
                                    <p:animEffect transition="in" filter="barn(inHorizontal)">
                                      <p:cBhvr>
                                        <p:cTn id="12" dur="500"/>
                                        <p:tgtEl>
                                          <p:spTgt spid="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7">
                                            <p:txEl>
                                              <p:pRg st="3" end="3"/>
                                            </p:txEl>
                                          </p:spTgt>
                                        </p:tgtEl>
                                        <p:attrNameLst>
                                          <p:attrName>style.visibility</p:attrName>
                                        </p:attrNameLst>
                                      </p:cBhvr>
                                      <p:to>
                                        <p:strVal val="visible"/>
                                      </p:to>
                                    </p:set>
                                    <p:animEffect transition="in" filter="barn(inHorizontal)">
                                      <p:cBhvr>
                                        <p:cTn id="17" dur="500"/>
                                        <p:tgtEl>
                                          <p:spTgt spid="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27">
                                            <p:txEl>
                                              <p:pRg st="4" end="4"/>
                                            </p:txEl>
                                          </p:spTgt>
                                        </p:tgtEl>
                                        <p:attrNameLst>
                                          <p:attrName>style.visibility</p:attrName>
                                        </p:attrNameLst>
                                      </p:cBhvr>
                                      <p:to>
                                        <p:strVal val="visible"/>
                                      </p:to>
                                    </p:set>
                                    <p:animEffect transition="in" filter="barn(inHorizontal)">
                                      <p:cBhvr>
                                        <p:cTn id="22" dur="500"/>
                                        <p:tgtEl>
                                          <p:spTgt spid="2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barn(inHorizontal)">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in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arn(in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arn(inHorizontal)">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423823" y="1343676"/>
            <a:ext cx="5153247" cy="5194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3"/>
          <p:cNvSpPr txBox="1">
            <a:spLocks noChangeArrowheads="1"/>
          </p:cNvSpPr>
          <p:nvPr/>
        </p:nvSpPr>
        <p:spPr>
          <a:xfrm>
            <a:off x="455930" y="1235075"/>
            <a:ext cx="11362690" cy="411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(“%d %d %d” ,3,4,50);</a:t>
            </a:r>
            <a:endParaRPr lang="en-US" altLang="zh-CN" sz="2400" b="1" dirty="0">
              <a:solidFill>
                <a:srgbClr val="020202"/>
              </a:solidFill>
              <a:latin typeface="Times New Roman" panose="02020603050405020304" pitchFamily="18" charset="0"/>
              <a:cs typeface="Times New Roman" panose="02020603050405020304" pitchFamily="18" charset="0"/>
            </a:endParaRPr>
          </a:p>
          <a:p>
            <a:pPr marL="967105" lvl="1" indent="-495300">
              <a:lnSpc>
                <a:spcPct val="130000"/>
              </a:lnSpc>
              <a:buFont typeface="Wingdings" panose="05000000000000000000" pitchFamily="2" charset="2"/>
              <a:buAutoNum type="circleNumDbPlain"/>
            </a:pPr>
            <a:r>
              <a:rPr lang="zh-CN" altLang="en-US" b="1" dirty="0">
                <a:latin typeface="+mn-ea"/>
              </a:rPr>
              <a:t>设置一指针</a:t>
            </a:r>
            <a:r>
              <a:rPr lang="en-US" altLang="zh-CN" b="1" dirty="0">
                <a:latin typeface="+mn-ea"/>
              </a:rPr>
              <a:t>ap</a:t>
            </a:r>
            <a:r>
              <a:rPr lang="zh-CN" altLang="en-US" b="1" dirty="0">
                <a:latin typeface="+mn-ea"/>
              </a:rPr>
              <a:t>；</a:t>
            </a:r>
            <a:endParaRPr lang="zh-CN" altLang="en-US" b="1" dirty="0">
              <a:latin typeface="+mn-ea"/>
            </a:endParaRPr>
          </a:p>
          <a:p>
            <a:pPr marL="967105" lvl="1" indent="-495300">
              <a:lnSpc>
                <a:spcPct val="130000"/>
              </a:lnSpc>
              <a:buFont typeface="Wingdings" panose="05000000000000000000" pitchFamily="2" charset="2"/>
              <a:buAutoNum type="circleNumDbPlain"/>
            </a:pPr>
            <a:r>
              <a:rPr lang="zh-CN" altLang="en-US" b="1" dirty="0">
                <a:latin typeface="+mn-ea"/>
              </a:rPr>
              <a:t>让</a:t>
            </a:r>
            <a:r>
              <a:rPr lang="en-US" altLang="zh-CN" b="1" dirty="0">
                <a:latin typeface="+mn-ea"/>
              </a:rPr>
              <a:t>ap</a:t>
            </a:r>
            <a:r>
              <a:rPr lang="zh-CN" altLang="en-US" b="1" dirty="0">
                <a:latin typeface="+mn-ea"/>
              </a:rPr>
              <a:t>指向第一个可变参数</a:t>
            </a:r>
            <a:r>
              <a:rPr lang="en-US" altLang="zh-CN" b="1" dirty="0">
                <a:latin typeface="+mn-ea"/>
              </a:rPr>
              <a:t>(</a:t>
            </a:r>
            <a:r>
              <a:rPr lang="zh-CN" altLang="en-US" b="1" dirty="0">
                <a:latin typeface="+mn-ea"/>
              </a:rPr>
              <a:t>地址为</a:t>
            </a:r>
            <a:r>
              <a:rPr lang="en-US" altLang="zh-CN" b="1" dirty="0" err="1">
                <a:latin typeface="+mn-ea"/>
              </a:rPr>
              <a:t>ebp</a:t>
            </a:r>
            <a:r>
              <a:rPr lang="en-US" altLang="zh-CN" b="1" dirty="0">
                <a:latin typeface="+mn-ea"/>
              </a:rPr>
              <a:t>+</a:t>
            </a:r>
            <a:r>
              <a:rPr lang="zh-CN" altLang="en-US" b="1" dirty="0">
                <a:latin typeface="+mn-ea"/>
              </a:rPr>
              <a:t>控制链所占的空间</a:t>
            </a:r>
            <a:r>
              <a:rPr lang="en-US" altLang="zh-CN" b="1" dirty="0">
                <a:latin typeface="+mn-ea"/>
              </a:rPr>
              <a:t>+</a:t>
            </a:r>
            <a:r>
              <a:rPr lang="zh-CN" altLang="en-US" b="1" dirty="0">
                <a:latin typeface="+mn-ea"/>
              </a:rPr>
              <a:t>返回地址所占的空间</a:t>
            </a:r>
            <a:r>
              <a:rPr lang="en-US" altLang="zh-CN" b="1" dirty="0">
                <a:latin typeface="+mn-ea"/>
              </a:rPr>
              <a:t>+</a:t>
            </a:r>
            <a:r>
              <a:rPr lang="zh-CN" altLang="en-US" b="1" dirty="0">
                <a:latin typeface="+mn-ea"/>
              </a:rPr>
              <a:t>固定参数所占的空间</a:t>
            </a:r>
            <a:r>
              <a:rPr lang="en-US" altLang="zh-CN" b="1" dirty="0">
                <a:latin typeface="+mn-ea"/>
              </a:rPr>
              <a:t>)</a:t>
            </a:r>
            <a:r>
              <a:rPr lang="zh-CN" altLang="en-US" b="1" dirty="0">
                <a:latin typeface="+mn-ea"/>
              </a:rPr>
              <a:t>，即</a:t>
            </a:r>
            <a:r>
              <a:rPr lang="en-US" altLang="zh-CN" b="1" dirty="0">
                <a:latin typeface="+mn-ea"/>
              </a:rPr>
              <a:t>3</a:t>
            </a:r>
            <a:r>
              <a:rPr lang="zh-CN" altLang="en-US" b="1" dirty="0">
                <a:latin typeface="+mn-ea"/>
              </a:rPr>
              <a:t>所在的空间；</a:t>
            </a:r>
            <a:endParaRPr lang="zh-CN" altLang="en-US" b="1" dirty="0">
              <a:latin typeface="+mn-ea"/>
            </a:endParaRPr>
          </a:p>
          <a:p>
            <a:pPr marL="967105" lvl="1" indent="-495300">
              <a:lnSpc>
                <a:spcPct val="130000"/>
              </a:lnSpc>
              <a:buFont typeface="Wingdings" panose="05000000000000000000" pitchFamily="2" charset="2"/>
              <a:buAutoNum type="circleNumDbPlain"/>
            </a:pPr>
            <a:r>
              <a:rPr lang="zh-CN" altLang="en-US" b="1" dirty="0">
                <a:latin typeface="+mn-ea"/>
              </a:rPr>
              <a:t>返回</a:t>
            </a:r>
            <a:r>
              <a:rPr lang="en-US" altLang="zh-CN" b="1" dirty="0">
                <a:latin typeface="+mn-ea"/>
              </a:rPr>
              <a:t>3</a:t>
            </a:r>
            <a:r>
              <a:rPr lang="zh-CN" altLang="en-US" b="1" dirty="0">
                <a:latin typeface="+mn-ea"/>
              </a:rPr>
              <a:t>，</a:t>
            </a:r>
            <a:r>
              <a:rPr lang="en-US" altLang="zh-CN" b="1" dirty="0">
                <a:latin typeface="+mn-ea"/>
              </a:rPr>
              <a:t>ap</a:t>
            </a:r>
            <a:r>
              <a:rPr lang="zh-CN" altLang="en-US" b="1" dirty="0">
                <a:latin typeface="+mn-ea"/>
              </a:rPr>
              <a:t>的值加</a:t>
            </a:r>
            <a:r>
              <a:rPr lang="en-US" altLang="zh-CN" b="1" dirty="0">
                <a:latin typeface="+mn-ea"/>
              </a:rPr>
              <a:t>4</a:t>
            </a:r>
            <a:r>
              <a:rPr lang="zh-CN" altLang="en-US" b="1" dirty="0">
                <a:latin typeface="+mn-ea"/>
              </a:rPr>
              <a:t>即指向</a:t>
            </a:r>
            <a:r>
              <a:rPr lang="en-US" altLang="zh-CN" b="1" dirty="0">
                <a:latin typeface="+mn-ea"/>
              </a:rPr>
              <a:t>4</a:t>
            </a:r>
            <a:r>
              <a:rPr lang="zh-CN" altLang="en-US" b="1" dirty="0">
                <a:latin typeface="+mn-ea"/>
              </a:rPr>
              <a:t>所在的存储空间</a:t>
            </a:r>
            <a:r>
              <a:rPr lang="en-US" altLang="zh-CN" b="1" dirty="0">
                <a:latin typeface="+mn-ea"/>
              </a:rPr>
              <a:t>……,</a:t>
            </a:r>
            <a:r>
              <a:rPr lang="zh-CN" altLang="en-US" b="1" dirty="0">
                <a:latin typeface="+mn-ea"/>
              </a:rPr>
              <a:t>通过指针</a:t>
            </a:r>
            <a:r>
              <a:rPr lang="en-US" altLang="zh-CN" b="1" dirty="0">
                <a:latin typeface="+mn-ea"/>
              </a:rPr>
              <a:t>ap</a:t>
            </a:r>
            <a:r>
              <a:rPr lang="zh-CN" altLang="en-US" b="1" dirty="0">
                <a:latin typeface="+mn-ea"/>
              </a:rPr>
              <a:t>的移动读取所有的可变参数，根据固定参数“</a:t>
            </a:r>
            <a:r>
              <a:rPr lang="en-US" altLang="zh-CN" b="1" dirty="0">
                <a:latin typeface="+mn-ea"/>
              </a:rPr>
              <a:t>%d %d %d”</a:t>
            </a:r>
            <a:r>
              <a:rPr lang="zh-CN" altLang="en-US" b="1" dirty="0">
                <a:latin typeface="+mn-ea"/>
              </a:rPr>
              <a:t>，该字符串中每出现一个“</a:t>
            </a:r>
            <a:r>
              <a:rPr lang="en-US" altLang="zh-CN" b="1" dirty="0">
                <a:latin typeface="+mn-ea"/>
              </a:rPr>
              <a:t>%d”</a:t>
            </a:r>
            <a:r>
              <a:rPr lang="zh-CN" altLang="en-US" b="1" dirty="0">
                <a:latin typeface="+mn-ea"/>
              </a:rPr>
              <a:t>就执行一次；固定参数指出了后面的可变参数的个数；</a:t>
            </a:r>
            <a:endParaRPr lang="zh-CN" altLang="en-US" b="1" dirty="0">
              <a:latin typeface="+mn-ea"/>
            </a:endParaRPr>
          </a:p>
          <a:p>
            <a:pPr marL="967105" lvl="1" indent="-495300">
              <a:lnSpc>
                <a:spcPct val="130000"/>
              </a:lnSpc>
              <a:buFont typeface="Wingdings" panose="05000000000000000000" pitchFamily="2" charset="2"/>
              <a:buAutoNum type="circleNumDbPlain"/>
            </a:pPr>
            <a:r>
              <a:rPr lang="zh-CN" altLang="en-US" b="1" dirty="0">
                <a:latin typeface="+mn-ea"/>
              </a:rPr>
              <a:t>清除变量</a:t>
            </a:r>
            <a:r>
              <a:rPr lang="en-US" altLang="zh-CN" b="1" dirty="0">
                <a:latin typeface="+mn-ea"/>
              </a:rPr>
              <a:t>ap</a:t>
            </a:r>
            <a:r>
              <a:rPr lang="zh-CN" altLang="en-US" b="1" dirty="0">
                <a:latin typeface="+mn-ea"/>
              </a:rPr>
              <a:t>。</a:t>
            </a:r>
            <a:endParaRPr lang="zh-CN" altLang="en-US" b="1" dirty="0">
              <a:latin typeface="+mn-ea"/>
            </a:endParaRPr>
          </a:p>
        </p:txBody>
      </p:sp>
      <p:sp>
        <p:nvSpPr>
          <p:cNvPr id="3" name="文本占位符 2"/>
          <p:cNvSpPr>
            <a:spLocks noGrp="1"/>
          </p:cNvSpPr>
          <p:nvPr>
            <p:ph type="body" sz="quarter" idx="14"/>
            <p:custDataLst>
              <p:tags r:id="rId1"/>
            </p:custDataLst>
          </p:nvPr>
        </p:nvSpPr>
        <p:spPr>
          <a:xfrm>
            <a:off x="436245" y="276860"/>
            <a:ext cx="7058025" cy="593090"/>
          </a:xfrm>
        </p:spPr>
        <p:txBody>
          <a:bodyPr/>
          <a:lstStyle/>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arn(in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arn(inHorizontal)">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barn(inHorizontal)">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barn(inHorizontal)">
                                      <p:cBhvr>
                                        <p:cTn id="2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7</a:t>
            </a:r>
            <a:r>
              <a:rPr lang="zh-CN" altLang="en-US" dirty="0"/>
              <a:t>单元 运行时环境</a:t>
            </a:r>
            <a:endParaRPr lang="zh-CN" altLang="en-US" dirty="0"/>
          </a:p>
        </p:txBody>
      </p:sp>
      <p:sp>
        <p:nvSpPr>
          <p:cNvPr id="24" name="文本占位符 23"/>
          <p:cNvSpPr>
            <a:spLocks noGrp="1"/>
          </p:cNvSpPr>
          <p:nvPr>
            <p:ph type="body" sz="quarter" idx="14"/>
          </p:nvPr>
        </p:nvSpPr>
        <p:spPr/>
        <p:txBody>
          <a:bodyPr>
            <a:normAutofit/>
          </a:bodyPr>
          <a:lstStyle/>
          <a:p>
            <a:r>
              <a:rPr lang="en-US" altLang="zh-CN" b="1" dirty="0">
                <a:solidFill>
                  <a:schemeClr val="tx1"/>
                </a:solidFill>
              </a:rPr>
              <a:t>7.1 </a:t>
            </a:r>
            <a:r>
              <a:rPr lang="zh-CN" altLang="en-US" b="1" dirty="0">
                <a:solidFill>
                  <a:schemeClr val="tx1"/>
                </a:solidFill>
              </a:rPr>
              <a:t>程序执行时的存储器组织</a:t>
            </a:r>
            <a:endParaRPr lang="en-US" altLang="zh-CN" b="1" dirty="0">
              <a:solidFill>
                <a:schemeClr val="tx1"/>
              </a:solidFill>
            </a:endParaRPr>
          </a:p>
          <a:p>
            <a:r>
              <a:rPr lang="en-US" altLang="zh-CN" b="1" dirty="0">
                <a:solidFill>
                  <a:schemeClr val="tx1"/>
                </a:solidFill>
              </a:rPr>
              <a:t>7.2 </a:t>
            </a:r>
            <a:r>
              <a:rPr lang="zh-CN" altLang="en-US" b="1" dirty="0">
                <a:solidFill>
                  <a:schemeClr val="tx1"/>
                </a:solidFill>
              </a:rPr>
              <a:t>基于栈的运行时环境</a:t>
            </a:r>
            <a:endParaRPr lang="en-US" altLang="zh-CN" b="1" dirty="0">
              <a:solidFill>
                <a:schemeClr val="tx1"/>
              </a:solidFill>
            </a:endParaRPr>
          </a:p>
          <a:p>
            <a:r>
              <a:rPr lang="en-US" altLang="zh-CN" b="1" dirty="0">
                <a:solidFill>
                  <a:schemeClr val="accent1"/>
                </a:solidFill>
              </a:rPr>
              <a:t>7.3 </a:t>
            </a:r>
            <a:r>
              <a:rPr lang="zh-CN" altLang="en-US" b="1" dirty="0">
                <a:solidFill>
                  <a:schemeClr val="accent1"/>
                </a:solidFill>
              </a:rPr>
              <a:t>动态存储器</a:t>
            </a:r>
            <a:endParaRPr lang="en-US" altLang="zh-CN" b="1" dirty="0">
              <a:solidFill>
                <a:schemeClr val="accent1"/>
              </a:solidFill>
            </a:endParaRPr>
          </a:p>
          <a:p>
            <a:endParaRPr lang="zh-CN" altLang="en-US" b="1" dirty="0">
              <a:solidFill>
                <a:schemeClr val="tx1"/>
              </a:solidFill>
            </a:endParaRPr>
          </a:p>
        </p:txBody>
      </p:sp>
      <p:sp>
        <p:nvSpPr>
          <p:cNvPr id="25" name="文本占位符 24"/>
          <p:cNvSpPr>
            <a:spLocks noGrp="1"/>
          </p:cNvSpPr>
          <p:nvPr>
            <p:ph type="body" sz="quarter" idx="15"/>
          </p:nvPr>
        </p:nvSpPr>
        <p:spPr>
          <a:xfrm>
            <a:off x="228531" y="364307"/>
            <a:ext cx="2653249" cy="589645"/>
          </a:xfrm>
        </p:spPr>
        <p:txBody>
          <a:bodyPr>
            <a:normAutofit lnSpcReduction="20000"/>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3385" y="276860"/>
            <a:ext cx="7080885" cy="593090"/>
          </a:xfrm>
        </p:spPr>
        <p:txBody>
          <a:bodyPr/>
          <a:lstStyle/>
          <a:p>
            <a:r>
              <a:rPr lang="en-US" altLang="zh-CN" dirty="0"/>
              <a:t>7.3 </a:t>
            </a:r>
            <a:r>
              <a:rPr lang="zh-CN" altLang="en-US" dirty="0"/>
              <a:t>动态存储器</a:t>
            </a:r>
            <a:endParaRPr lang="zh-CN" altLang="en-US" dirty="0"/>
          </a:p>
        </p:txBody>
      </p:sp>
      <p:sp>
        <p:nvSpPr>
          <p:cNvPr id="7" name="Rectangle 2"/>
          <p:cNvSpPr>
            <a:spLocks noChangeArrowheads="1"/>
          </p:cNvSpPr>
          <p:nvPr/>
        </p:nvSpPr>
        <p:spPr bwMode="auto">
          <a:xfrm>
            <a:off x="413385" y="1182370"/>
            <a:ext cx="37966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chemeClr val="accent1"/>
                </a:solidFill>
                <a:latin typeface="+mn-ea"/>
              </a:rPr>
              <a:t>对象类型</a:t>
            </a:r>
            <a:endParaRPr lang="zh-CN" altLang="en-US" sz="2800" b="1" dirty="0">
              <a:solidFill>
                <a:schemeClr val="accent1"/>
              </a:solidFill>
              <a:latin typeface="+mn-ea"/>
            </a:endParaRPr>
          </a:p>
        </p:txBody>
      </p:sp>
      <p:sp>
        <p:nvSpPr>
          <p:cNvPr id="13" name="Rectangle 3"/>
          <p:cNvSpPr>
            <a:spLocks noChangeArrowheads="1"/>
          </p:cNvSpPr>
          <p:nvPr/>
        </p:nvSpPr>
        <p:spPr bwMode="auto">
          <a:xfrm>
            <a:off x="556260" y="1767840"/>
            <a:ext cx="58039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pPr>
            <a:r>
              <a:rPr lang="zh-CN" altLang="en-US" sz="2400" b="1" dirty="0">
                <a:solidFill>
                  <a:srgbClr val="020202"/>
                </a:solidFill>
                <a:latin typeface="+mn-ea"/>
              </a:rPr>
              <a:t>在面向对象语言中，对象都有构造函数和析构函数。假定有一对象类</a:t>
            </a:r>
            <a:r>
              <a:rPr lang="en-US" altLang="zh-CN" sz="2400" b="1" dirty="0">
                <a:solidFill>
                  <a:srgbClr val="020202"/>
                </a:solidFill>
                <a:latin typeface="+mn-ea"/>
              </a:rPr>
              <a:t>A，</a:t>
            </a:r>
            <a:r>
              <a:rPr lang="zh-CN" altLang="en-US" sz="2400" b="1" dirty="0">
                <a:solidFill>
                  <a:srgbClr val="020202"/>
                </a:solidFill>
                <a:latin typeface="+mn-ea"/>
              </a:rPr>
              <a:t>它有方法</a:t>
            </a:r>
            <a:r>
              <a:rPr lang="en-US" altLang="zh-CN" sz="2400" b="1" dirty="0">
                <a:solidFill>
                  <a:srgbClr val="020202"/>
                </a:solidFill>
                <a:latin typeface="+mn-ea"/>
              </a:rPr>
              <a:t>m1,m2</a:t>
            </a:r>
            <a:r>
              <a:rPr lang="zh-CN" altLang="en-US" sz="2400" b="1" dirty="0">
                <a:solidFill>
                  <a:srgbClr val="020202"/>
                </a:solidFill>
                <a:latin typeface="+mn-ea"/>
              </a:rPr>
              <a:t>以及字段</a:t>
            </a:r>
            <a:r>
              <a:rPr lang="en-US" altLang="zh-CN" sz="2400" b="1" dirty="0">
                <a:solidFill>
                  <a:srgbClr val="020202"/>
                </a:solidFill>
                <a:latin typeface="+mn-ea"/>
              </a:rPr>
              <a:t>a1</a:t>
            </a:r>
            <a:r>
              <a:rPr lang="zh-CN" altLang="en-US" sz="2400" b="1" dirty="0">
                <a:solidFill>
                  <a:srgbClr val="020202"/>
                </a:solidFill>
                <a:latin typeface="+mn-ea"/>
              </a:rPr>
              <a:t>和</a:t>
            </a:r>
            <a:r>
              <a:rPr lang="en-US" altLang="zh-CN" sz="2400" b="1" dirty="0">
                <a:solidFill>
                  <a:srgbClr val="020202"/>
                </a:solidFill>
                <a:latin typeface="+mn-ea"/>
              </a:rPr>
              <a:t>a2。</a:t>
            </a:r>
            <a:r>
              <a:rPr lang="zh-CN" altLang="en-US" sz="2400" b="1" dirty="0">
                <a:solidFill>
                  <a:srgbClr val="020202"/>
                </a:solidFill>
                <a:latin typeface="+mn-ea"/>
              </a:rPr>
              <a:t>那么类</a:t>
            </a:r>
            <a:r>
              <a:rPr lang="en-US" altLang="zh-CN" sz="2400" b="1" dirty="0">
                <a:solidFill>
                  <a:srgbClr val="020202"/>
                </a:solidFill>
                <a:latin typeface="+mn-ea"/>
              </a:rPr>
              <a:t>A</a:t>
            </a:r>
            <a:r>
              <a:rPr lang="zh-CN" altLang="en-US" sz="2400" b="1" dirty="0">
                <a:solidFill>
                  <a:srgbClr val="020202"/>
                </a:solidFill>
                <a:latin typeface="+mn-ea"/>
              </a:rPr>
              <a:t>对象的运行时包含字段</a:t>
            </a:r>
            <a:r>
              <a:rPr lang="en-US" altLang="zh-CN" sz="2400" b="1" dirty="0">
                <a:solidFill>
                  <a:srgbClr val="020202"/>
                </a:solidFill>
                <a:latin typeface="+mn-ea"/>
              </a:rPr>
              <a:t>a1</a:t>
            </a:r>
            <a:r>
              <a:rPr lang="zh-CN" altLang="en-US" sz="2400" b="1" dirty="0">
                <a:solidFill>
                  <a:srgbClr val="020202"/>
                </a:solidFill>
                <a:latin typeface="+mn-ea"/>
              </a:rPr>
              <a:t>和</a:t>
            </a:r>
            <a:r>
              <a:rPr lang="en-US" altLang="zh-CN" sz="2400" b="1" dirty="0">
                <a:solidFill>
                  <a:srgbClr val="020202"/>
                </a:solidFill>
                <a:latin typeface="+mn-ea"/>
              </a:rPr>
              <a:t>a2</a:t>
            </a:r>
            <a:r>
              <a:rPr lang="zh-CN" altLang="en-US" sz="2400" b="1" dirty="0">
                <a:solidFill>
                  <a:srgbClr val="020202"/>
                </a:solidFill>
                <a:latin typeface="+mn-ea"/>
              </a:rPr>
              <a:t>记录组成：</a:t>
            </a:r>
            <a:endParaRPr lang="zh-CN" altLang="en-US" sz="2400" b="1" dirty="0">
              <a:solidFill>
                <a:srgbClr val="020202"/>
              </a:solidFill>
              <a:latin typeface="+mn-ea"/>
            </a:endParaRPr>
          </a:p>
        </p:txBody>
      </p:sp>
      <p:grpSp>
        <p:nvGrpSpPr>
          <p:cNvPr id="2" name="组合 1"/>
          <p:cNvGrpSpPr/>
          <p:nvPr>
            <p:custDataLst>
              <p:tags r:id="rId1"/>
            </p:custDataLst>
          </p:nvPr>
        </p:nvGrpSpPr>
        <p:grpSpPr>
          <a:xfrm>
            <a:off x="1146810" y="3455155"/>
            <a:ext cx="1828800" cy="838200"/>
            <a:chOff x="3657600" y="3447536"/>
            <a:chExt cx="1828800" cy="838200"/>
          </a:xfrm>
        </p:grpSpPr>
        <p:sp useBgFill="1">
          <p:nvSpPr>
            <p:cNvPr id="14" name="Rectangle 4"/>
            <p:cNvSpPr>
              <a:spLocks noChangeArrowheads="1"/>
            </p:cNvSpPr>
            <p:nvPr>
              <p:custDataLst>
                <p:tags r:id="rId2"/>
              </p:custDataLst>
            </p:nvPr>
          </p:nvSpPr>
          <p:spPr bwMode="auto">
            <a:xfrm>
              <a:off x="3657600" y="3447536"/>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a1</a:t>
              </a:r>
              <a:endParaRPr lang="zh-CN" altLang="en-US" sz="2400" b="1">
                <a:solidFill>
                  <a:srgbClr val="020202"/>
                </a:solidFill>
                <a:latin typeface="+mn-ea"/>
              </a:endParaRPr>
            </a:p>
          </p:txBody>
        </p:sp>
        <p:sp useBgFill="1">
          <p:nvSpPr>
            <p:cNvPr id="15" name="Rectangle 5"/>
            <p:cNvSpPr>
              <a:spLocks noChangeArrowheads="1"/>
            </p:cNvSpPr>
            <p:nvPr>
              <p:custDataLst>
                <p:tags r:id="rId3"/>
              </p:custDataLst>
            </p:nvPr>
          </p:nvSpPr>
          <p:spPr bwMode="auto">
            <a:xfrm>
              <a:off x="3657600" y="3828536"/>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a2</a:t>
              </a:r>
              <a:endParaRPr lang="zh-CN" altLang="en-US" sz="2400" b="1">
                <a:solidFill>
                  <a:srgbClr val="020202"/>
                </a:solidFill>
                <a:latin typeface="+mn-ea"/>
              </a:endParaRPr>
            </a:p>
          </p:txBody>
        </p:sp>
      </p:grpSp>
      <p:grpSp>
        <p:nvGrpSpPr>
          <p:cNvPr id="3" name="组合 2"/>
          <p:cNvGrpSpPr/>
          <p:nvPr>
            <p:custDataLst>
              <p:tags r:id="rId4"/>
            </p:custDataLst>
          </p:nvPr>
        </p:nvGrpSpPr>
        <p:grpSpPr>
          <a:xfrm>
            <a:off x="1040765" y="4884929"/>
            <a:ext cx="1828800" cy="914400"/>
            <a:chOff x="3839135" y="5155734"/>
            <a:chExt cx="1828800" cy="914400"/>
          </a:xfrm>
        </p:grpSpPr>
        <p:sp useBgFill="1">
          <p:nvSpPr>
            <p:cNvPr id="16" name="Rectangle 6"/>
            <p:cNvSpPr>
              <a:spLocks noChangeArrowheads="1"/>
            </p:cNvSpPr>
            <p:nvPr>
              <p:custDataLst>
                <p:tags r:id="rId5"/>
              </p:custDataLst>
            </p:nvPr>
          </p:nvSpPr>
          <p:spPr bwMode="auto">
            <a:xfrm>
              <a:off x="3839135" y="5155734"/>
              <a:ext cx="1828800" cy="457200"/>
            </a:xfrm>
            <a:prstGeom prst="rect">
              <a:avLst/>
            </a:prstGeom>
            <a:ln w="9525">
              <a:solidFill>
                <a:srgbClr val="020202"/>
              </a:solidFill>
              <a:miter lim="800000"/>
            </a:ln>
          </p:spPr>
          <p:txBody>
            <a:bodyPr wrap="none" anchor="ctr"/>
            <a:lstStyle/>
            <a:p>
              <a:pPr algn="ctr"/>
              <a:r>
                <a:rPr lang="en-US" altLang="zh-CN" sz="2400" b="1" dirty="0">
                  <a:solidFill>
                    <a:srgbClr val="020202"/>
                  </a:solidFill>
                  <a:latin typeface="+mn-ea"/>
                </a:rPr>
                <a:t>m1_A</a:t>
              </a:r>
              <a:endParaRPr lang="zh-CN" altLang="en-US" sz="2400" b="1" dirty="0">
                <a:solidFill>
                  <a:srgbClr val="020202"/>
                </a:solidFill>
                <a:latin typeface="+mn-ea"/>
              </a:endParaRPr>
            </a:p>
          </p:txBody>
        </p:sp>
        <p:sp useBgFill="1">
          <p:nvSpPr>
            <p:cNvPr id="17" name="Rectangle 7"/>
            <p:cNvSpPr>
              <a:spLocks noChangeArrowheads="1"/>
            </p:cNvSpPr>
            <p:nvPr/>
          </p:nvSpPr>
          <p:spPr bwMode="auto">
            <a:xfrm>
              <a:off x="3839135" y="5612934"/>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m2_A</a:t>
              </a:r>
              <a:endParaRPr lang="zh-CN" altLang="en-US" sz="2400" b="1">
                <a:solidFill>
                  <a:srgbClr val="020202"/>
                </a:solidFill>
                <a:latin typeface="+mn-ea"/>
              </a:endParaRPr>
            </a:p>
          </p:txBody>
        </p:sp>
      </p:grpSp>
      <p:sp>
        <p:nvSpPr>
          <p:cNvPr id="18" name="Rectangle 8"/>
          <p:cNvSpPr>
            <a:spLocks noChangeArrowheads="1"/>
          </p:cNvSpPr>
          <p:nvPr>
            <p:custDataLst>
              <p:tags r:id="rId6"/>
            </p:custDataLst>
          </p:nvPr>
        </p:nvSpPr>
        <p:spPr bwMode="auto">
          <a:xfrm>
            <a:off x="612775" y="4337685"/>
            <a:ext cx="58032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202"/>
                </a:solidFill>
                <a:latin typeface="+mn-ea"/>
              </a:rPr>
              <a:t>编译程序维护一张类</a:t>
            </a:r>
            <a:r>
              <a:rPr lang="en-US" altLang="zh-CN" sz="2400" b="1" dirty="0">
                <a:solidFill>
                  <a:srgbClr val="020202"/>
                </a:solidFill>
                <a:latin typeface="+mn-ea"/>
              </a:rPr>
              <a:t>A</a:t>
            </a:r>
            <a:r>
              <a:rPr lang="zh-CN" altLang="en-US" sz="2400" b="1" dirty="0">
                <a:solidFill>
                  <a:srgbClr val="020202"/>
                </a:solidFill>
                <a:latin typeface="+mn-ea"/>
              </a:rPr>
              <a:t>的编译时方法表：</a:t>
            </a:r>
            <a:endParaRPr lang="zh-CN" altLang="en-US" sz="2400" b="1" dirty="0">
              <a:solidFill>
                <a:srgbClr val="020202"/>
              </a:solidFill>
              <a:latin typeface="+mn-ea"/>
            </a:endParaRPr>
          </a:p>
        </p:txBody>
      </p:sp>
      <p:sp>
        <p:nvSpPr>
          <p:cNvPr id="10" name="内容占位符 7"/>
          <p:cNvSpPr txBox="1">
            <a:spLocks noChangeArrowheads="1"/>
          </p:cNvSpPr>
          <p:nvPr>
            <p:custDataLst>
              <p:tags r:id="rId7"/>
            </p:custDataLst>
          </p:nvPr>
        </p:nvSpPr>
        <p:spPr>
          <a:xfrm>
            <a:off x="6360160" y="1704340"/>
            <a:ext cx="5503545" cy="33286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5000"/>
              </a:lnSpc>
              <a:buNone/>
            </a:pPr>
            <a:r>
              <a:rPr lang="zh-CN" altLang="en-US" sz="2400" b="1" dirty="0">
                <a:solidFill>
                  <a:srgbClr val="020202"/>
                </a:solidFill>
                <a:latin typeface="Times New Roman" panose="02020603050405020304" pitchFamily="18" charset="0"/>
                <a:cs typeface="Times New Roman" panose="02020603050405020304" pitchFamily="18" charset="0"/>
              </a:rPr>
              <a:t>方法</a:t>
            </a:r>
            <a:r>
              <a:rPr lang="en-US" altLang="zh-CN" sz="2400" b="1" dirty="0">
                <a:solidFill>
                  <a:srgbClr val="020202"/>
                </a:solidFill>
                <a:latin typeface="Times New Roman" panose="02020603050405020304" pitchFamily="18" charset="0"/>
                <a:cs typeface="Times New Roman" panose="02020603050405020304" pitchFamily="18" charset="0"/>
              </a:rPr>
              <a:t>m2_A</a:t>
            </a:r>
            <a:r>
              <a:rPr lang="zh-CN" altLang="en-US" sz="2400" b="1" dirty="0">
                <a:solidFill>
                  <a:srgbClr val="020202"/>
                </a:solidFill>
                <a:latin typeface="Times New Roman" panose="02020603050405020304" pitchFamily="18" charset="0"/>
                <a:cs typeface="Times New Roman" panose="02020603050405020304" pitchFamily="18" charset="0"/>
              </a:rPr>
              <a:t>翻译为</a:t>
            </a:r>
            <a:r>
              <a:rPr lang="en-US" altLang="zh-CN" sz="2400" b="1" dirty="0">
                <a:solidFill>
                  <a:srgbClr val="020202"/>
                </a:solidFill>
                <a:latin typeface="Times New Roman" panose="02020603050405020304" pitchFamily="18" charset="0"/>
                <a:cs typeface="Times New Roman" panose="02020603050405020304" pitchFamily="18" charset="0"/>
              </a:rPr>
              <a:t>c</a:t>
            </a:r>
            <a:r>
              <a:rPr lang="zh-CN" altLang="en-US" sz="2400" b="1" dirty="0">
                <a:solidFill>
                  <a:srgbClr val="020202"/>
                </a:solidFill>
                <a:latin typeface="Times New Roman" panose="02020603050405020304" pitchFamily="18" charset="0"/>
                <a:cs typeface="Times New Roman" panose="02020603050405020304" pitchFamily="18" charset="0"/>
              </a:rPr>
              <a:t>语言中的函数</a:t>
            </a:r>
            <a:endParaRPr lang="zh-CN" altLang="en-US" sz="2400" b="1" dirty="0">
              <a:solidFill>
                <a:srgbClr val="020202"/>
              </a:solidFill>
              <a:latin typeface="Times New Roman" panose="02020603050405020304" pitchFamily="18" charset="0"/>
              <a:cs typeface="Times New Roman" panose="02020603050405020304" pitchFamily="18" charset="0"/>
            </a:endParaRPr>
          </a:p>
          <a:p>
            <a:pPr marL="0" indent="0" fontAlgn="auto">
              <a:lnSpc>
                <a:spcPct val="125000"/>
              </a:lnSpc>
              <a:buNone/>
            </a:pPr>
            <a:r>
              <a:rPr lang="en-US" altLang="zh-CN" b="1" dirty="0">
                <a:solidFill>
                  <a:srgbClr val="020202"/>
                </a:solidFill>
                <a:latin typeface="Times New Roman" panose="02020603050405020304" pitchFamily="18" charset="0"/>
                <a:cs typeface="Times New Roman" panose="02020603050405020304" pitchFamily="18" charset="0"/>
              </a:rPr>
              <a:t>void m2_A(</a:t>
            </a:r>
            <a:r>
              <a:rPr lang="en-US" altLang="zh-CN" b="1" dirty="0" err="1">
                <a:solidFill>
                  <a:srgbClr val="020202"/>
                </a:solidFill>
                <a:latin typeface="Times New Roman" panose="02020603050405020304" pitchFamily="18" charset="0"/>
                <a:cs typeface="Times New Roman" panose="02020603050405020304" pitchFamily="18" charset="0"/>
              </a:rPr>
              <a:t>class_A</a:t>
            </a:r>
            <a:r>
              <a:rPr lang="en-US" altLang="zh-CN" b="1" dirty="0">
                <a:solidFill>
                  <a:srgbClr val="020202"/>
                </a:solidFill>
                <a:latin typeface="Times New Roman" panose="02020603050405020304" pitchFamily="18" charset="0"/>
                <a:cs typeface="Times New Roman" panose="02020603050405020304" pitchFamily="18" charset="0"/>
              </a:rPr>
              <a:t> *this,int </a:t>
            </a:r>
            <a:r>
              <a:rPr lang="en-US" altLang="zh-CN" b="1" dirty="0" err="1">
                <a:solidFill>
                  <a:srgbClr val="020202"/>
                </a:solidFill>
                <a:latin typeface="Times New Roman" panose="02020603050405020304" pitchFamily="18" charset="0"/>
                <a:cs typeface="Times New Roman" panose="02020603050405020304" pitchFamily="18" charset="0"/>
              </a:rPr>
              <a:t>i</a:t>
            </a:r>
            <a:r>
              <a:rPr lang="en-US" altLang="zh-CN" b="1" dirty="0">
                <a:solidFill>
                  <a:srgbClr val="020202"/>
                </a:solidFill>
                <a:latin typeface="Times New Roman" panose="02020603050405020304" pitchFamily="18" charset="0"/>
                <a:cs typeface="Times New Roman" panose="02020603050405020304" pitchFamily="18" charset="0"/>
              </a:rPr>
              <a:t>){</a:t>
            </a:r>
            <a:endParaRPr lang="en-US" altLang="zh-CN" b="1" dirty="0">
              <a:solidFill>
                <a:srgbClr val="020202"/>
              </a:solidFill>
              <a:latin typeface="Times New Roman" panose="02020603050405020304" pitchFamily="18" charset="0"/>
              <a:cs typeface="Times New Roman" panose="02020603050405020304" pitchFamily="18" charset="0"/>
            </a:endParaRPr>
          </a:p>
          <a:p>
            <a:pPr marL="457200" lvl="1" indent="0" fontAlgn="auto">
              <a:lnSpc>
                <a:spcPct val="125000"/>
              </a:lnSpc>
              <a:buNone/>
            </a:pPr>
            <a:r>
              <a:rPr lang="zh-CN" altLang="en-US" b="1" dirty="0">
                <a:solidFill>
                  <a:srgbClr val="020202"/>
                </a:solidFill>
                <a:latin typeface="Times New Roman" panose="02020603050405020304" pitchFamily="18" charset="0"/>
                <a:cs typeface="Times New Roman" panose="02020603050405020304" pitchFamily="18" charset="0"/>
              </a:rPr>
              <a:t>方法</a:t>
            </a:r>
            <a:r>
              <a:rPr lang="en-US" altLang="zh-CN" b="1" dirty="0">
                <a:solidFill>
                  <a:srgbClr val="020202"/>
                </a:solidFill>
                <a:latin typeface="Times New Roman" panose="02020603050405020304" pitchFamily="18" charset="0"/>
                <a:cs typeface="Times New Roman" panose="02020603050405020304" pitchFamily="18" charset="0"/>
              </a:rPr>
              <a:t>m2_A</a:t>
            </a:r>
            <a:r>
              <a:rPr lang="zh-CN" altLang="en-US" b="1" dirty="0">
                <a:solidFill>
                  <a:srgbClr val="020202"/>
                </a:solidFill>
                <a:latin typeface="Times New Roman" panose="02020603050405020304" pitchFamily="18" charset="0"/>
                <a:cs typeface="Times New Roman" panose="02020603050405020304" pitchFamily="18" charset="0"/>
              </a:rPr>
              <a:t>的程序体，通过</a:t>
            </a:r>
            <a:r>
              <a:rPr lang="en-US" altLang="zh-CN" b="1" dirty="0">
                <a:solidFill>
                  <a:srgbClr val="020202"/>
                </a:solidFill>
                <a:latin typeface="Times New Roman" panose="02020603050405020304" pitchFamily="18" charset="0"/>
                <a:cs typeface="Times New Roman" panose="02020603050405020304" pitchFamily="18" charset="0"/>
              </a:rPr>
              <a:t>this-&gt;x</a:t>
            </a:r>
            <a:r>
              <a:rPr lang="zh-CN" altLang="en-US" b="1" dirty="0">
                <a:solidFill>
                  <a:srgbClr val="020202"/>
                </a:solidFill>
                <a:latin typeface="Times New Roman" panose="02020603050405020304" pitchFamily="18" charset="0"/>
                <a:cs typeface="Times New Roman" panose="02020603050405020304" pitchFamily="18" charset="0"/>
              </a:rPr>
              <a:t>访问任一对象字段</a:t>
            </a:r>
            <a:r>
              <a:rPr lang="en-US" altLang="zh-CN" b="1" dirty="0">
                <a:solidFill>
                  <a:srgbClr val="020202"/>
                </a:solidFill>
                <a:latin typeface="Times New Roman" panose="02020603050405020304" pitchFamily="18" charset="0"/>
                <a:cs typeface="Times New Roman" panose="02020603050405020304" pitchFamily="18" charset="0"/>
              </a:rPr>
              <a:t>x</a:t>
            </a:r>
            <a:endParaRPr lang="en-US" altLang="zh-CN" b="1" dirty="0">
              <a:solidFill>
                <a:srgbClr val="020202"/>
              </a:solidFill>
              <a:latin typeface="Times New Roman" panose="02020603050405020304" pitchFamily="18" charset="0"/>
              <a:cs typeface="Times New Roman" panose="02020603050405020304" pitchFamily="18" charset="0"/>
            </a:endParaRPr>
          </a:p>
          <a:p>
            <a:pPr marL="457200" lvl="1" indent="0" fontAlgn="auto">
              <a:lnSpc>
                <a:spcPct val="125000"/>
              </a:lnSpc>
              <a:spcBef>
                <a:spcPct val="0"/>
              </a:spcBef>
              <a:buNone/>
            </a:pPr>
            <a:r>
              <a:rPr lang="en-US" altLang="zh-CN" b="1" dirty="0">
                <a:solidFill>
                  <a:srgbClr val="020202"/>
                </a:solidFill>
                <a:latin typeface="Times New Roman" panose="02020603050405020304" pitchFamily="18" charset="0"/>
                <a:cs typeface="Times New Roman" panose="02020603050405020304" pitchFamily="18" charset="0"/>
              </a:rPr>
              <a:t>  }</a:t>
            </a:r>
            <a:endParaRPr lang="en-US" altLang="zh-CN" b="1" dirty="0">
              <a:solidFill>
                <a:srgbClr val="020202"/>
              </a:solidFill>
              <a:latin typeface="Times New Roman" panose="02020603050405020304" pitchFamily="18" charset="0"/>
              <a:cs typeface="Times New Roman" panose="02020603050405020304" pitchFamily="18" charset="0"/>
            </a:endParaRPr>
          </a:p>
          <a:p>
            <a:pPr marL="46355" lvl="1" indent="635" fontAlgn="auto">
              <a:lnSpc>
                <a:spcPct val="125000"/>
              </a:lnSpc>
              <a:spcBef>
                <a:spcPct val="0"/>
              </a:spcBef>
              <a:buNone/>
            </a:pPr>
            <a:r>
              <a:rPr lang="zh-CN" altLang="en-US" b="1" dirty="0">
                <a:solidFill>
                  <a:srgbClr val="020202"/>
                </a:solidFill>
                <a:latin typeface="Times New Roman" panose="02020603050405020304" pitchFamily="18" charset="0"/>
                <a:cs typeface="Times New Roman" panose="02020603050405020304" pitchFamily="18" charset="0"/>
              </a:rPr>
              <a:t>方法的调用</a:t>
            </a:r>
            <a:r>
              <a:rPr lang="en-US" altLang="zh-CN" b="1" dirty="0">
                <a:solidFill>
                  <a:srgbClr val="020202"/>
                </a:solidFill>
                <a:latin typeface="Times New Roman" panose="02020603050405020304" pitchFamily="18" charset="0"/>
                <a:cs typeface="Times New Roman" panose="02020603050405020304" pitchFamily="18" charset="0"/>
              </a:rPr>
              <a:t>a .m2(3)</a:t>
            </a:r>
            <a:r>
              <a:rPr lang="zh-CN" altLang="en-US" b="1" dirty="0">
                <a:solidFill>
                  <a:srgbClr val="020202"/>
                </a:solidFill>
                <a:latin typeface="Times New Roman" panose="02020603050405020304" pitchFamily="18" charset="0"/>
                <a:cs typeface="Times New Roman" panose="02020603050405020304" pitchFamily="18" charset="0"/>
              </a:rPr>
              <a:t>翻译为</a:t>
            </a:r>
            <a:r>
              <a:rPr lang="en-US" altLang="zh-CN" b="1" dirty="0">
                <a:solidFill>
                  <a:srgbClr val="020202"/>
                </a:solidFill>
                <a:latin typeface="Times New Roman" panose="02020603050405020304" pitchFamily="18" charset="0"/>
                <a:cs typeface="Times New Roman" panose="02020603050405020304" pitchFamily="18" charset="0"/>
              </a:rPr>
              <a:t>m2_A(&amp;a,3)</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49885" y="276860"/>
            <a:ext cx="7144385" cy="593090"/>
          </a:xfrm>
        </p:spPr>
        <p:txBody>
          <a:bodyPr/>
          <a:lstStyle/>
          <a:p>
            <a:r>
              <a:rPr lang="en-US" altLang="zh-CN" dirty="0"/>
              <a:t>7.3 </a:t>
            </a:r>
            <a:r>
              <a:rPr lang="zh-CN" altLang="en-US" dirty="0"/>
              <a:t>动态存储器</a:t>
            </a:r>
            <a:endParaRPr lang="zh-CN" altLang="en-US" dirty="0"/>
          </a:p>
        </p:txBody>
      </p:sp>
      <p:sp>
        <p:nvSpPr>
          <p:cNvPr id="4" name="Rectangle 2"/>
          <p:cNvSpPr>
            <a:spLocks noChangeArrowheads="1"/>
          </p:cNvSpPr>
          <p:nvPr/>
        </p:nvSpPr>
        <p:spPr bwMode="auto">
          <a:xfrm>
            <a:off x="501015" y="1248410"/>
            <a:ext cx="30333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chemeClr val="accent1"/>
                </a:solidFill>
                <a:latin typeface="+mn-ea"/>
              </a:rPr>
              <a:t>继承特性</a:t>
            </a:r>
            <a:endParaRPr lang="zh-CN" altLang="en-US" sz="2800" b="1" dirty="0">
              <a:solidFill>
                <a:schemeClr val="accent1"/>
              </a:solidFill>
              <a:latin typeface="+mn-ea"/>
            </a:endParaRPr>
          </a:p>
        </p:txBody>
      </p:sp>
      <p:sp>
        <p:nvSpPr>
          <p:cNvPr id="5" name="Rectangle 3"/>
          <p:cNvSpPr>
            <a:spLocks noChangeArrowheads="1"/>
          </p:cNvSpPr>
          <p:nvPr/>
        </p:nvSpPr>
        <p:spPr bwMode="auto">
          <a:xfrm>
            <a:off x="736600" y="1771650"/>
            <a:ext cx="1091946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b="1" dirty="0">
                <a:solidFill>
                  <a:srgbClr val="020202"/>
                </a:solidFill>
                <a:latin typeface="+mn-ea"/>
              </a:rPr>
              <a:t>现在假定类</a:t>
            </a:r>
            <a:r>
              <a:rPr lang="en-US" altLang="zh-CN" sz="2400" b="1" dirty="0">
                <a:solidFill>
                  <a:srgbClr val="020202"/>
                </a:solidFill>
                <a:latin typeface="+mn-ea"/>
              </a:rPr>
              <a:t>B</a:t>
            </a:r>
            <a:r>
              <a:rPr lang="zh-CN" altLang="en-US" sz="2400" b="1" dirty="0">
                <a:solidFill>
                  <a:srgbClr val="020202"/>
                </a:solidFill>
                <a:latin typeface="+mn-ea"/>
              </a:rPr>
              <a:t>通过增添方法</a:t>
            </a:r>
            <a:r>
              <a:rPr lang="en-US" altLang="zh-CN" sz="2400" b="1" dirty="0">
                <a:solidFill>
                  <a:srgbClr val="020202"/>
                </a:solidFill>
                <a:latin typeface="+mn-ea"/>
              </a:rPr>
              <a:t>m3</a:t>
            </a:r>
            <a:r>
              <a:rPr lang="zh-CN" altLang="en-US" sz="2400" b="1" dirty="0">
                <a:solidFill>
                  <a:srgbClr val="020202"/>
                </a:solidFill>
                <a:latin typeface="+mn-ea"/>
              </a:rPr>
              <a:t>和字段</a:t>
            </a:r>
            <a:r>
              <a:rPr lang="en-US" altLang="zh-CN" sz="2400" b="1" dirty="0">
                <a:solidFill>
                  <a:srgbClr val="020202"/>
                </a:solidFill>
                <a:latin typeface="+mn-ea"/>
              </a:rPr>
              <a:t>b1</a:t>
            </a:r>
            <a:r>
              <a:rPr lang="zh-CN" altLang="en-US" sz="2400" b="1" dirty="0">
                <a:solidFill>
                  <a:srgbClr val="020202"/>
                </a:solidFill>
                <a:latin typeface="+mn-ea"/>
              </a:rPr>
              <a:t>来扩展类</a:t>
            </a:r>
            <a:r>
              <a:rPr lang="en-US" altLang="zh-CN" sz="2400" b="1" dirty="0">
                <a:solidFill>
                  <a:srgbClr val="020202"/>
                </a:solidFill>
                <a:latin typeface="+mn-ea"/>
              </a:rPr>
              <a:t>A, </a:t>
            </a:r>
            <a:r>
              <a:rPr lang="zh-CN" altLang="en-US" sz="2400" b="1" dirty="0">
                <a:solidFill>
                  <a:srgbClr val="020202"/>
                </a:solidFill>
                <a:latin typeface="+mn-ea"/>
              </a:rPr>
              <a:t>那么类</a:t>
            </a:r>
            <a:r>
              <a:rPr lang="en-US" altLang="zh-CN" sz="2400" b="1" dirty="0">
                <a:solidFill>
                  <a:srgbClr val="020202"/>
                </a:solidFill>
                <a:latin typeface="+mn-ea"/>
              </a:rPr>
              <a:t>B</a:t>
            </a:r>
            <a:r>
              <a:rPr lang="zh-CN" altLang="en-US" sz="2400" b="1" dirty="0">
                <a:solidFill>
                  <a:srgbClr val="020202"/>
                </a:solidFill>
                <a:latin typeface="+mn-ea"/>
              </a:rPr>
              <a:t>的运行时表示如下：</a:t>
            </a:r>
            <a:endParaRPr lang="zh-CN" altLang="en-US" sz="2400" b="1" dirty="0">
              <a:solidFill>
                <a:srgbClr val="020202"/>
              </a:solidFill>
              <a:latin typeface="+mn-ea"/>
            </a:endParaRPr>
          </a:p>
        </p:txBody>
      </p:sp>
      <p:sp useBgFill="1">
        <p:nvSpPr>
          <p:cNvPr id="6" name="Rectangle 4"/>
          <p:cNvSpPr>
            <a:spLocks noChangeArrowheads="1"/>
          </p:cNvSpPr>
          <p:nvPr/>
        </p:nvSpPr>
        <p:spPr bwMode="auto">
          <a:xfrm>
            <a:off x="854364" y="2396272"/>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a1</a:t>
            </a:r>
            <a:endParaRPr lang="zh-CN" altLang="en-US" sz="2400" b="1">
              <a:solidFill>
                <a:srgbClr val="020202"/>
              </a:solidFill>
              <a:latin typeface="+mn-ea"/>
            </a:endParaRPr>
          </a:p>
        </p:txBody>
      </p:sp>
      <p:sp useBgFill="1">
        <p:nvSpPr>
          <p:cNvPr id="7" name="Rectangle 5"/>
          <p:cNvSpPr>
            <a:spLocks noChangeArrowheads="1"/>
          </p:cNvSpPr>
          <p:nvPr/>
        </p:nvSpPr>
        <p:spPr bwMode="auto">
          <a:xfrm>
            <a:off x="854364" y="2853472"/>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a2</a:t>
            </a:r>
            <a:endParaRPr lang="zh-CN" altLang="en-US" sz="2400" b="1">
              <a:solidFill>
                <a:srgbClr val="020202"/>
              </a:solidFill>
              <a:latin typeface="+mn-ea"/>
            </a:endParaRPr>
          </a:p>
        </p:txBody>
      </p:sp>
      <p:sp useBgFill="1">
        <p:nvSpPr>
          <p:cNvPr id="8" name="Rectangle 6"/>
          <p:cNvSpPr>
            <a:spLocks noChangeArrowheads="1"/>
          </p:cNvSpPr>
          <p:nvPr/>
        </p:nvSpPr>
        <p:spPr bwMode="auto">
          <a:xfrm>
            <a:off x="796579" y="4708614"/>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m1_A</a:t>
            </a:r>
            <a:endParaRPr lang="zh-CN" altLang="en-US" sz="2400" b="1">
              <a:solidFill>
                <a:srgbClr val="020202"/>
              </a:solidFill>
              <a:latin typeface="+mn-ea"/>
            </a:endParaRPr>
          </a:p>
        </p:txBody>
      </p:sp>
      <p:sp useBgFill="1">
        <p:nvSpPr>
          <p:cNvPr id="9" name="Rectangle 7"/>
          <p:cNvSpPr>
            <a:spLocks noChangeArrowheads="1"/>
          </p:cNvSpPr>
          <p:nvPr/>
        </p:nvSpPr>
        <p:spPr bwMode="auto">
          <a:xfrm>
            <a:off x="796579" y="5165814"/>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m2_A</a:t>
            </a:r>
            <a:endParaRPr lang="zh-CN" altLang="en-US" sz="2400" b="1">
              <a:solidFill>
                <a:srgbClr val="020202"/>
              </a:solidFill>
              <a:latin typeface="+mn-ea"/>
            </a:endParaRPr>
          </a:p>
        </p:txBody>
      </p:sp>
      <p:sp useBgFill="1">
        <p:nvSpPr>
          <p:cNvPr id="11" name="Rectangle 8"/>
          <p:cNvSpPr>
            <a:spLocks noChangeArrowheads="1"/>
          </p:cNvSpPr>
          <p:nvPr/>
        </p:nvSpPr>
        <p:spPr bwMode="auto">
          <a:xfrm>
            <a:off x="865477" y="3291622"/>
            <a:ext cx="1812924"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b1</a:t>
            </a:r>
            <a:endParaRPr lang="zh-CN" altLang="en-US" sz="2400" b="1">
              <a:solidFill>
                <a:srgbClr val="020202"/>
              </a:solidFill>
              <a:latin typeface="+mn-ea"/>
            </a:endParaRPr>
          </a:p>
        </p:txBody>
      </p:sp>
      <p:sp>
        <p:nvSpPr>
          <p:cNvPr id="13" name="Rectangle 9"/>
          <p:cNvSpPr>
            <a:spLocks noChangeArrowheads="1"/>
          </p:cNvSpPr>
          <p:nvPr/>
        </p:nvSpPr>
        <p:spPr bwMode="auto">
          <a:xfrm>
            <a:off x="736600" y="4060825"/>
            <a:ext cx="549846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b="1" dirty="0">
                <a:solidFill>
                  <a:srgbClr val="020202"/>
                </a:solidFill>
                <a:latin typeface="+mn-ea"/>
              </a:rPr>
              <a:t>另外类</a:t>
            </a:r>
            <a:r>
              <a:rPr lang="en-US" altLang="zh-CN" sz="2400" b="1" dirty="0">
                <a:solidFill>
                  <a:srgbClr val="020202"/>
                </a:solidFill>
                <a:latin typeface="+mn-ea"/>
              </a:rPr>
              <a:t>B</a:t>
            </a:r>
            <a:r>
              <a:rPr lang="zh-CN" altLang="en-US" sz="2400" b="1" dirty="0">
                <a:solidFill>
                  <a:srgbClr val="020202"/>
                </a:solidFill>
                <a:latin typeface="+mn-ea"/>
              </a:rPr>
              <a:t>的方法编译时表如下：</a:t>
            </a:r>
            <a:endParaRPr lang="zh-CN" altLang="en-US" sz="2400" b="1" dirty="0">
              <a:solidFill>
                <a:srgbClr val="020202"/>
              </a:solidFill>
              <a:latin typeface="+mn-ea"/>
            </a:endParaRPr>
          </a:p>
        </p:txBody>
      </p:sp>
      <p:sp useBgFill="1">
        <p:nvSpPr>
          <p:cNvPr id="14" name="Rectangle 10"/>
          <p:cNvSpPr>
            <a:spLocks noChangeArrowheads="1"/>
          </p:cNvSpPr>
          <p:nvPr/>
        </p:nvSpPr>
        <p:spPr bwMode="auto">
          <a:xfrm>
            <a:off x="791816" y="5618252"/>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m3_B</a:t>
            </a:r>
            <a:endParaRPr lang="zh-CN" altLang="en-US" sz="2400" b="1">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3" grpId="0"/>
      <p:bldP spid="1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64185" y="276860"/>
            <a:ext cx="7030085" cy="593090"/>
          </a:xfrm>
        </p:spPr>
        <p:txBody>
          <a:bodyPr/>
          <a:lstStyle/>
          <a:p>
            <a:r>
              <a:rPr lang="en-US" altLang="zh-CN" dirty="0"/>
              <a:t>7.3 </a:t>
            </a:r>
            <a:r>
              <a:rPr lang="zh-CN" altLang="en-US" dirty="0"/>
              <a:t>动态存储器</a:t>
            </a:r>
            <a:endParaRPr lang="zh-CN" altLang="en-US" dirty="0"/>
          </a:p>
        </p:txBody>
      </p:sp>
      <p:sp>
        <p:nvSpPr>
          <p:cNvPr id="3" name="Rectangle 2"/>
          <p:cNvSpPr>
            <a:spLocks noChangeArrowheads="1"/>
          </p:cNvSpPr>
          <p:nvPr/>
        </p:nvSpPr>
        <p:spPr bwMode="auto">
          <a:xfrm>
            <a:off x="464820" y="1257300"/>
            <a:ext cx="3425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方法重定义</a:t>
            </a:r>
            <a:endParaRPr lang="zh-CN" altLang="en-US" sz="2800" b="1" dirty="0">
              <a:solidFill>
                <a:srgbClr val="0070C0"/>
              </a:solidFill>
              <a:latin typeface="+mn-ea"/>
              <a:ea typeface="+mn-ea"/>
            </a:endParaRPr>
          </a:p>
        </p:txBody>
      </p:sp>
      <p:sp>
        <p:nvSpPr>
          <p:cNvPr id="13" name="内容占位符 5"/>
          <p:cNvSpPr txBox="1">
            <a:spLocks noChangeArrowheads="1"/>
          </p:cNvSpPr>
          <p:nvPr/>
        </p:nvSpPr>
        <p:spPr>
          <a:xfrm>
            <a:off x="415290" y="1780540"/>
            <a:ext cx="11411585" cy="39465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charset="0"/>
              <a:buChar char="p"/>
            </a:pPr>
            <a:r>
              <a:rPr lang="zh-CN" altLang="en-US" sz="2400" b="1" dirty="0">
                <a:solidFill>
                  <a:srgbClr val="020202"/>
                </a:solidFill>
                <a:latin typeface="+mn-ea"/>
              </a:rPr>
              <a:t>假定上例中类</a:t>
            </a:r>
            <a:r>
              <a:rPr lang="en-US" altLang="zh-CN" sz="2400" b="1" dirty="0">
                <a:solidFill>
                  <a:srgbClr val="020202"/>
                </a:solidFill>
                <a:latin typeface="+mn-ea"/>
              </a:rPr>
              <a:t>B</a:t>
            </a:r>
            <a:r>
              <a:rPr lang="zh-CN" altLang="en-US" sz="2400" b="1" dirty="0">
                <a:solidFill>
                  <a:srgbClr val="020202"/>
                </a:solidFill>
                <a:latin typeface="+mn-ea"/>
              </a:rPr>
              <a:t>重新定义了方法</a:t>
            </a:r>
            <a:r>
              <a:rPr lang="en-US" altLang="zh-CN" sz="2400" b="1" dirty="0">
                <a:solidFill>
                  <a:srgbClr val="020202"/>
                </a:solidFill>
                <a:latin typeface="+mn-ea"/>
              </a:rPr>
              <a:t>m2，</a:t>
            </a:r>
            <a:r>
              <a:rPr lang="zh-CN" altLang="en-US" sz="2400" b="1" dirty="0">
                <a:solidFill>
                  <a:srgbClr val="020202"/>
                </a:solidFill>
                <a:latin typeface="+mn-ea"/>
              </a:rPr>
              <a:t>那么</a:t>
            </a:r>
            <a:r>
              <a:rPr lang="en-US" altLang="zh-CN" sz="2400" b="1" dirty="0">
                <a:solidFill>
                  <a:srgbClr val="020202"/>
                </a:solidFill>
                <a:latin typeface="+mn-ea"/>
              </a:rPr>
              <a:t>A</a:t>
            </a:r>
            <a:r>
              <a:rPr lang="zh-CN" altLang="en-US" sz="2400" b="1" dirty="0">
                <a:solidFill>
                  <a:srgbClr val="020202"/>
                </a:solidFill>
                <a:latin typeface="+mn-ea"/>
              </a:rPr>
              <a:t>中方法</a:t>
            </a:r>
            <a:r>
              <a:rPr lang="en-US" altLang="zh-CN" sz="2400" b="1" dirty="0">
                <a:solidFill>
                  <a:srgbClr val="020202"/>
                </a:solidFill>
                <a:latin typeface="+mn-ea"/>
              </a:rPr>
              <a:t>m2</a:t>
            </a:r>
            <a:r>
              <a:rPr lang="zh-CN" altLang="en-US" sz="2400" b="1" dirty="0">
                <a:solidFill>
                  <a:srgbClr val="020202"/>
                </a:solidFill>
                <a:latin typeface="+mn-ea"/>
              </a:rPr>
              <a:t>的定义既是它唯一的声明也是它的第一次定义，而它在类</a:t>
            </a:r>
            <a:r>
              <a:rPr lang="en-US" altLang="zh-CN" sz="2400" b="1" dirty="0">
                <a:solidFill>
                  <a:srgbClr val="020202"/>
                </a:solidFill>
                <a:latin typeface="+mn-ea"/>
              </a:rPr>
              <a:t>B</a:t>
            </a:r>
            <a:r>
              <a:rPr lang="zh-CN" altLang="en-US" sz="2400" b="1" dirty="0">
                <a:solidFill>
                  <a:srgbClr val="020202"/>
                </a:solidFill>
                <a:latin typeface="+mn-ea"/>
              </a:rPr>
              <a:t>中的定义为重定义。</a:t>
            </a:r>
            <a:endParaRPr lang="en-US" altLang="zh-CN" sz="2400" b="1" dirty="0">
              <a:solidFill>
                <a:srgbClr val="020202"/>
              </a:solidFill>
              <a:latin typeface="+mn-ea"/>
            </a:endParaRPr>
          </a:p>
          <a:p>
            <a:pPr>
              <a:lnSpc>
                <a:spcPct val="130000"/>
              </a:lnSpc>
              <a:buFont typeface="Wingdings" panose="05000000000000000000" charset="0"/>
              <a:buChar char="p"/>
            </a:pPr>
            <a:r>
              <a:rPr lang="zh-CN" altLang="en-US" sz="2400" b="1" dirty="0">
                <a:solidFill>
                  <a:srgbClr val="020202"/>
                </a:solidFill>
                <a:latin typeface="+mn-ea"/>
              </a:rPr>
              <a:t>为使名字既可以反映声明它的类，也可以反映定义它的类。方法的名字可有三部分组成：</a:t>
            </a:r>
            <a:r>
              <a:rPr lang="zh-CN" altLang="en-US" sz="2400" b="1" dirty="0">
                <a:solidFill>
                  <a:srgbClr val="0070C0"/>
                </a:solidFill>
                <a:latin typeface="+mn-ea"/>
              </a:rPr>
              <a:t>方法名、声明方法的类名、定义方法类名。</a:t>
            </a:r>
            <a:r>
              <a:rPr lang="zh-CN" altLang="en-US" sz="2400" b="1" dirty="0">
                <a:solidFill>
                  <a:srgbClr val="020202"/>
                </a:solidFill>
                <a:latin typeface="+mn-ea"/>
              </a:rPr>
              <a:t>各部分之间用下划线（—）分开。因此在类</a:t>
            </a:r>
            <a:r>
              <a:rPr lang="en-US" altLang="zh-CN" sz="2400" b="1" dirty="0">
                <a:solidFill>
                  <a:srgbClr val="020202"/>
                </a:solidFill>
                <a:latin typeface="+mn-ea"/>
              </a:rPr>
              <a:t>A</a:t>
            </a:r>
            <a:r>
              <a:rPr lang="zh-CN" altLang="en-US" sz="2400" b="1" dirty="0">
                <a:solidFill>
                  <a:srgbClr val="020202"/>
                </a:solidFill>
                <a:latin typeface="+mn-ea"/>
              </a:rPr>
              <a:t>中声明在类</a:t>
            </a:r>
            <a:r>
              <a:rPr lang="en-US" altLang="zh-CN" sz="2400" b="1" dirty="0">
                <a:solidFill>
                  <a:srgbClr val="020202"/>
                </a:solidFill>
                <a:latin typeface="+mn-ea"/>
              </a:rPr>
              <a:t>B</a:t>
            </a:r>
            <a:r>
              <a:rPr lang="zh-CN" altLang="en-US" sz="2400" b="1" dirty="0">
                <a:solidFill>
                  <a:srgbClr val="020202"/>
                </a:solidFill>
                <a:latin typeface="+mn-ea"/>
              </a:rPr>
              <a:t>中定义的方法</a:t>
            </a:r>
            <a:r>
              <a:rPr lang="en-US" altLang="zh-CN" sz="2400" b="1" dirty="0">
                <a:solidFill>
                  <a:srgbClr val="020202"/>
                </a:solidFill>
                <a:latin typeface="+mn-ea"/>
              </a:rPr>
              <a:t>m2</a:t>
            </a:r>
            <a:r>
              <a:rPr lang="zh-CN" altLang="en-US" sz="2400" b="1" dirty="0">
                <a:solidFill>
                  <a:srgbClr val="020202"/>
                </a:solidFill>
                <a:latin typeface="+mn-ea"/>
              </a:rPr>
              <a:t>其名字记为</a:t>
            </a:r>
            <a:r>
              <a:rPr lang="en-US" altLang="zh-CN" sz="2400" b="1" dirty="0">
                <a:solidFill>
                  <a:srgbClr val="020202"/>
                </a:solidFill>
                <a:latin typeface="+mn-ea"/>
              </a:rPr>
              <a:t>m2_A_B。</a:t>
            </a:r>
            <a:r>
              <a:rPr lang="zh-CN" altLang="en-US" sz="2400" b="1" dirty="0">
                <a:solidFill>
                  <a:srgbClr val="020202"/>
                </a:solidFill>
                <a:latin typeface="+mn-ea"/>
              </a:rPr>
              <a:t>方法重定义影响方法的编译时表，现在类</a:t>
            </a:r>
            <a:r>
              <a:rPr lang="en-US" altLang="zh-CN" sz="2400" b="1" dirty="0">
                <a:solidFill>
                  <a:srgbClr val="020202"/>
                </a:solidFill>
                <a:latin typeface="+mn-ea"/>
              </a:rPr>
              <a:t>A</a:t>
            </a:r>
            <a:r>
              <a:rPr lang="zh-CN" altLang="en-US" sz="2400" b="1" dirty="0">
                <a:solidFill>
                  <a:srgbClr val="020202"/>
                </a:solidFill>
                <a:latin typeface="+mn-ea"/>
              </a:rPr>
              <a:t>的方法的编译时表如下：</a:t>
            </a:r>
            <a:endParaRPr lang="zh-CN" altLang="en-US" sz="2400" b="1" dirty="0">
              <a:solidFill>
                <a:srgbClr val="020202"/>
              </a:solidFill>
              <a:latin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0205" y="276860"/>
            <a:ext cx="7124065" cy="593090"/>
          </a:xfrm>
        </p:spPr>
        <p:txBody>
          <a:bodyPr/>
          <a:lstStyle/>
          <a:p>
            <a:r>
              <a:rPr lang="en-US" altLang="zh-CN" dirty="0"/>
              <a:t>7.3 </a:t>
            </a:r>
            <a:r>
              <a:rPr lang="zh-CN" altLang="en-US" dirty="0"/>
              <a:t>动态存储器</a:t>
            </a:r>
            <a:endParaRPr lang="zh-CN" altLang="en-US" dirty="0"/>
          </a:p>
        </p:txBody>
      </p:sp>
      <p:sp>
        <p:nvSpPr>
          <p:cNvPr id="14" name="内容占位符 7"/>
          <p:cNvSpPr txBox="1">
            <a:spLocks noChangeArrowheads="1"/>
          </p:cNvSpPr>
          <p:nvPr/>
        </p:nvSpPr>
        <p:spPr>
          <a:xfrm>
            <a:off x="370205" y="3429000"/>
            <a:ext cx="5869940" cy="2108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5000"/>
              </a:lnSpc>
              <a:buFont typeface="Wingdings" panose="05000000000000000000" charset="0"/>
              <a:buChar char="p"/>
            </a:pPr>
            <a:r>
              <a:rPr lang="zh-CN" altLang="en-US" sz="2400" b="1" dirty="0">
                <a:solidFill>
                  <a:srgbClr val="020202"/>
                </a:solidFill>
                <a:latin typeface="+mn-ea"/>
              </a:rPr>
              <a:t>设</a:t>
            </a:r>
            <a:r>
              <a:rPr lang="en-US" altLang="zh-CN" sz="2400" b="1" dirty="0">
                <a:solidFill>
                  <a:srgbClr val="020202"/>
                </a:solidFill>
                <a:latin typeface="+mn-ea"/>
              </a:rPr>
              <a:t>a</a:t>
            </a:r>
            <a:r>
              <a:rPr lang="zh-CN" altLang="en-US" sz="2400" b="1" dirty="0">
                <a:solidFill>
                  <a:srgbClr val="020202"/>
                </a:solidFill>
                <a:latin typeface="+mn-ea"/>
              </a:rPr>
              <a:t>是类</a:t>
            </a:r>
            <a:r>
              <a:rPr lang="en-US" altLang="zh-CN" sz="2400" b="1" dirty="0">
                <a:solidFill>
                  <a:srgbClr val="020202"/>
                </a:solidFill>
                <a:latin typeface="+mn-ea"/>
              </a:rPr>
              <a:t>A</a:t>
            </a:r>
            <a:r>
              <a:rPr lang="zh-CN" altLang="en-US" sz="2400" b="1" dirty="0">
                <a:solidFill>
                  <a:srgbClr val="020202"/>
                </a:solidFill>
                <a:latin typeface="+mn-ea"/>
              </a:rPr>
              <a:t>的对象，</a:t>
            </a:r>
            <a:r>
              <a:rPr lang="en-US" altLang="zh-CN" sz="2400" b="1" dirty="0">
                <a:solidFill>
                  <a:srgbClr val="020202"/>
                </a:solidFill>
                <a:latin typeface="+mn-ea"/>
              </a:rPr>
              <a:t>b</a:t>
            </a:r>
            <a:r>
              <a:rPr lang="zh-CN" altLang="en-US" sz="2400" b="1" dirty="0">
                <a:solidFill>
                  <a:srgbClr val="020202"/>
                </a:solidFill>
                <a:latin typeface="+mn-ea"/>
              </a:rPr>
              <a:t>是类</a:t>
            </a:r>
            <a:r>
              <a:rPr lang="en-US" altLang="zh-CN" sz="2400" b="1" dirty="0">
                <a:solidFill>
                  <a:srgbClr val="020202"/>
                </a:solidFill>
                <a:latin typeface="+mn-ea"/>
              </a:rPr>
              <a:t>B</a:t>
            </a:r>
            <a:r>
              <a:rPr lang="zh-CN" altLang="en-US" sz="2400" b="1" dirty="0">
                <a:solidFill>
                  <a:srgbClr val="020202"/>
                </a:solidFill>
                <a:latin typeface="+mn-ea"/>
              </a:rPr>
              <a:t>的</a:t>
            </a:r>
            <a:r>
              <a:rPr lang="zh-CN" altLang="en-US" sz="2400" b="1" dirty="0">
                <a:solidFill>
                  <a:srgbClr val="020202"/>
                </a:solidFill>
                <a:latin typeface="+mn-ea"/>
              </a:rPr>
              <a:t>对象a.m2(…)将翻译成对m2_A_A的调用</a:t>
            </a:r>
            <a:endParaRPr lang="zh-CN" altLang="en-US" sz="2400" b="1" dirty="0">
              <a:solidFill>
                <a:srgbClr val="020202"/>
              </a:solidFill>
              <a:latin typeface="+mn-ea"/>
            </a:endParaRPr>
          </a:p>
          <a:p>
            <a:pPr marL="715010" lvl="2" indent="-383540" fontAlgn="auto">
              <a:lnSpc>
                <a:spcPct val="125000"/>
              </a:lnSpc>
              <a:buFont typeface="Wingdings" panose="05000000000000000000" charset="0"/>
              <a:buChar char="p"/>
            </a:pPr>
            <a:r>
              <a:rPr lang="en-US" altLang="zh-CN" sz="2400" b="1" dirty="0">
                <a:solidFill>
                  <a:srgbClr val="020202"/>
                </a:solidFill>
                <a:latin typeface="+mn-ea"/>
              </a:rPr>
              <a:t>m2_A_A</a:t>
            </a:r>
            <a:r>
              <a:rPr lang="zh-CN" altLang="en-US" sz="2400" b="1" dirty="0">
                <a:solidFill>
                  <a:srgbClr val="020202"/>
                </a:solidFill>
                <a:latin typeface="+mn-ea"/>
              </a:rPr>
              <a:t>在类</a:t>
            </a:r>
            <a:r>
              <a:rPr lang="en-US" altLang="zh-CN" sz="2400" b="1" dirty="0">
                <a:solidFill>
                  <a:srgbClr val="020202"/>
                </a:solidFill>
                <a:latin typeface="+mn-ea"/>
              </a:rPr>
              <a:t>A</a:t>
            </a:r>
            <a:r>
              <a:rPr lang="zh-CN" altLang="en-US" sz="2400" b="1" dirty="0">
                <a:solidFill>
                  <a:srgbClr val="020202"/>
                </a:solidFill>
                <a:latin typeface="+mn-ea"/>
              </a:rPr>
              <a:t>中声明和定义，翻译为：</a:t>
            </a:r>
            <a:r>
              <a:rPr lang="en-US" altLang="zh-CN" sz="2400" b="1" dirty="0">
                <a:solidFill>
                  <a:srgbClr val="020202"/>
                </a:solidFill>
                <a:latin typeface="+mn-ea"/>
              </a:rPr>
              <a:t>void m2_A_A(</a:t>
            </a:r>
            <a:r>
              <a:rPr lang="en-US" altLang="zh-CN" sz="2400" b="1" dirty="0" err="1">
                <a:solidFill>
                  <a:srgbClr val="020202"/>
                </a:solidFill>
                <a:latin typeface="+mn-ea"/>
              </a:rPr>
              <a:t>Class_A</a:t>
            </a:r>
            <a:r>
              <a:rPr lang="en-US" altLang="zh-CN" sz="2400" b="1" dirty="0">
                <a:solidFill>
                  <a:srgbClr val="020202"/>
                </a:solidFill>
                <a:latin typeface="+mn-ea"/>
              </a:rPr>
              <a:t> *this,  int </a:t>
            </a:r>
            <a:r>
              <a:rPr lang="en-US" altLang="zh-CN" sz="2400" b="1" dirty="0" err="1">
                <a:solidFill>
                  <a:srgbClr val="020202"/>
                </a:solidFill>
                <a:latin typeface="+mn-ea"/>
              </a:rPr>
              <a:t>i</a:t>
            </a:r>
            <a:r>
              <a:rPr lang="en-US" altLang="zh-CN" sz="2400" b="1" dirty="0">
                <a:solidFill>
                  <a:srgbClr val="020202"/>
                </a:solidFill>
                <a:latin typeface="+mn-ea"/>
              </a:rPr>
              <a:t>);</a:t>
            </a:r>
            <a:endParaRPr lang="zh-CN" altLang="en-US" sz="2400" dirty="0">
              <a:latin typeface="+mn-ea"/>
            </a:endParaRPr>
          </a:p>
        </p:txBody>
      </p:sp>
      <p:grpSp>
        <p:nvGrpSpPr>
          <p:cNvPr id="22" name="组合 13"/>
          <p:cNvGrpSpPr/>
          <p:nvPr/>
        </p:nvGrpSpPr>
        <p:grpSpPr bwMode="auto">
          <a:xfrm>
            <a:off x="633557" y="2003185"/>
            <a:ext cx="1324594" cy="914400"/>
            <a:chOff x="1062038" y="3944938"/>
            <a:chExt cx="1828800" cy="914400"/>
          </a:xfrm>
        </p:grpSpPr>
        <p:sp useBgFill="1">
          <p:nvSpPr>
            <p:cNvPr id="23" name="Rectangle 4"/>
            <p:cNvSpPr>
              <a:spLocks noChangeArrowheads="1"/>
            </p:cNvSpPr>
            <p:nvPr/>
          </p:nvSpPr>
          <p:spPr bwMode="auto">
            <a:xfrm>
              <a:off x="1062038" y="3944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24" name="Rectangle 5"/>
            <p:cNvSpPr>
              <a:spLocks noChangeArrowheads="1"/>
            </p:cNvSpPr>
            <p:nvPr/>
          </p:nvSpPr>
          <p:spPr bwMode="auto">
            <a:xfrm>
              <a:off x="1062038" y="44021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m2_A_A</a:t>
              </a:r>
              <a:endParaRPr lang="zh-CN" altLang="en-US" sz="2400" b="1">
                <a:solidFill>
                  <a:srgbClr val="020202"/>
                </a:solidFill>
                <a:latin typeface="+mn-ea"/>
                <a:ea typeface="+mn-ea"/>
              </a:endParaRPr>
            </a:p>
          </p:txBody>
        </p:sp>
      </p:grpSp>
      <p:grpSp>
        <p:nvGrpSpPr>
          <p:cNvPr id="25" name="组合 14"/>
          <p:cNvGrpSpPr/>
          <p:nvPr/>
        </p:nvGrpSpPr>
        <p:grpSpPr bwMode="auto">
          <a:xfrm>
            <a:off x="3918944" y="1839990"/>
            <a:ext cx="1324594" cy="1371600"/>
            <a:chOff x="5938838" y="3792538"/>
            <a:chExt cx="1828800" cy="1371600"/>
          </a:xfrm>
        </p:grpSpPr>
        <p:sp useBgFill="1">
          <p:nvSpPr>
            <p:cNvPr id="26" name="Rectangle 6"/>
            <p:cNvSpPr>
              <a:spLocks noChangeArrowheads="1"/>
            </p:cNvSpPr>
            <p:nvPr/>
          </p:nvSpPr>
          <p:spPr bwMode="auto">
            <a:xfrm>
              <a:off x="5938838" y="37925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27" name="Rectangle 7"/>
            <p:cNvSpPr>
              <a:spLocks noChangeArrowheads="1"/>
            </p:cNvSpPr>
            <p:nvPr/>
          </p:nvSpPr>
          <p:spPr bwMode="auto">
            <a:xfrm>
              <a:off x="5938838" y="42497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m2_A_B</a:t>
              </a:r>
              <a:endParaRPr lang="zh-CN" altLang="en-US" sz="2400" b="1">
                <a:solidFill>
                  <a:srgbClr val="020202"/>
                </a:solidFill>
                <a:latin typeface="+mn-ea"/>
                <a:ea typeface="+mn-ea"/>
              </a:endParaRPr>
            </a:p>
          </p:txBody>
        </p:sp>
        <p:sp useBgFill="1">
          <p:nvSpPr>
            <p:cNvPr id="28" name="Rectangle 8"/>
            <p:cNvSpPr>
              <a:spLocks noChangeArrowheads="1"/>
            </p:cNvSpPr>
            <p:nvPr/>
          </p:nvSpPr>
          <p:spPr bwMode="auto">
            <a:xfrm>
              <a:off x="5938838" y="4706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m3_B_B</a:t>
              </a:r>
              <a:endParaRPr lang="zh-CN" altLang="en-US" sz="2400" b="1">
                <a:solidFill>
                  <a:srgbClr val="020202"/>
                </a:solidFill>
                <a:latin typeface="+mn-ea"/>
                <a:ea typeface="+mn-ea"/>
              </a:endParaRPr>
            </a:p>
          </p:txBody>
        </p:sp>
      </p:grpSp>
      <p:sp>
        <p:nvSpPr>
          <p:cNvPr id="29" name="Rectangle 9"/>
          <p:cNvSpPr>
            <a:spLocks noChangeArrowheads="1"/>
          </p:cNvSpPr>
          <p:nvPr/>
        </p:nvSpPr>
        <p:spPr bwMode="auto">
          <a:xfrm>
            <a:off x="2173686" y="1911745"/>
            <a:ext cx="18288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类</a:t>
            </a:r>
            <a:r>
              <a:rPr lang="en-US" altLang="zh-CN" sz="2400" b="1" dirty="0">
                <a:solidFill>
                  <a:srgbClr val="020202"/>
                </a:solidFill>
                <a:latin typeface="+mn-ea"/>
                <a:ea typeface="+mn-ea"/>
              </a:rPr>
              <a:t>B</a:t>
            </a:r>
            <a:r>
              <a:rPr lang="zh-CN" altLang="en-US" sz="2400" b="1" dirty="0">
                <a:solidFill>
                  <a:srgbClr val="020202"/>
                </a:solidFill>
                <a:latin typeface="+mn-ea"/>
                <a:ea typeface="+mn-ea"/>
              </a:rPr>
              <a:t>的方法的编译时表如右：</a:t>
            </a:r>
            <a:endParaRPr lang="en-US" altLang="zh-CN" sz="2400" b="1" dirty="0">
              <a:solidFill>
                <a:srgbClr val="020202"/>
              </a:solidFill>
              <a:latin typeface="+mn-ea"/>
              <a:ea typeface="+mn-ea"/>
            </a:endParaRPr>
          </a:p>
        </p:txBody>
      </p:sp>
      <p:sp>
        <p:nvSpPr>
          <p:cNvPr id="30" name="Rectangle 2"/>
          <p:cNvSpPr>
            <a:spLocks noChangeArrowheads="1"/>
          </p:cNvSpPr>
          <p:nvPr/>
        </p:nvSpPr>
        <p:spPr bwMode="auto">
          <a:xfrm>
            <a:off x="406923" y="1257581"/>
            <a:ext cx="30276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方法重定义（续）</a:t>
            </a:r>
            <a:endParaRPr lang="zh-CN" altLang="en-US" sz="2800" b="1" dirty="0">
              <a:solidFill>
                <a:srgbClr val="0070C0"/>
              </a:solidFill>
              <a:latin typeface="+mn-ea"/>
              <a:ea typeface="+mn-ea"/>
            </a:endParaRPr>
          </a:p>
        </p:txBody>
      </p:sp>
      <p:sp>
        <p:nvSpPr>
          <p:cNvPr id="2" name="内容占位符 7"/>
          <p:cNvSpPr txBox="1">
            <a:spLocks noChangeArrowheads="1"/>
          </p:cNvSpPr>
          <p:nvPr>
            <p:custDataLst>
              <p:tags r:id="rId1"/>
            </p:custDataLst>
          </p:nvPr>
        </p:nvSpPr>
        <p:spPr>
          <a:xfrm>
            <a:off x="6311265" y="3429000"/>
            <a:ext cx="5592445" cy="24923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1630" lvl="1" indent="-341630">
              <a:lnSpc>
                <a:spcPct val="120000"/>
              </a:lnSpc>
              <a:buFont typeface="Wingdings" panose="05000000000000000000" charset="0"/>
              <a:buChar char="p"/>
            </a:pPr>
            <a:r>
              <a:rPr lang="en-US" altLang="zh-CN" b="1" dirty="0">
                <a:solidFill>
                  <a:srgbClr val="020202"/>
                </a:solidFill>
                <a:latin typeface="+mn-ea"/>
              </a:rPr>
              <a:t>b.m2(…)</a:t>
            </a:r>
            <a:r>
              <a:rPr lang="zh-CN" altLang="en-US" b="1" dirty="0">
                <a:solidFill>
                  <a:srgbClr val="020202"/>
                </a:solidFill>
                <a:latin typeface="+mn-ea"/>
              </a:rPr>
              <a:t>将翻译成对</a:t>
            </a:r>
            <a:r>
              <a:rPr lang="en-US" altLang="zh-CN" b="1" dirty="0">
                <a:solidFill>
                  <a:srgbClr val="020202"/>
                </a:solidFill>
                <a:latin typeface="+mn-ea"/>
              </a:rPr>
              <a:t>m2_A_B</a:t>
            </a:r>
            <a:r>
              <a:rPr lang="zh-CN" altLang="en-US" b="1" dirty="0">
                <a:solidFill>
                  <a:srgbClr val="020202"/>
                </a:solidFill>
                <a:latin typeface="+mn-ea"/>
              </a:rPr>
              <a:t>的调用</a:t>
            </a:r>
            <a:endParaRPr lang="en-US" altLang="zh-CN" b="1" dirty="0">
              <a:solidFill>
                <a:srgbClr val="020202"/>
              </a:solidFill>
              <a:latin typeface="+mn-ea"/>
            </a:endParaRPr>
          </a:p>
          <a:p>
            <a:pPr marL="730885" lvl="2" indent="-274320" defTabSz="914400">
              <a:lnSpc>
                <a:spcPct val="120000"/>
              </a:lnSpc>
              <a:buFont typeface="Wingdings" panose="05000000000000000000" charset="0"/>
              <a:buChar char="p"/>
              <a:tabLst>
                <a:tab pos="805815" algn="l"/>
              </a:tabLst>
            </a:pPr>
            <a:r>
              <a:rPr lang="en-US" altLang="zh-CN" sz="2400" b="1" dirty="0">
                <a:solidFill>
                  <a:srgbClr val="020202"/>
                </a:solidFill>
                <a:latin typeface="+mn-ea"/>
              </a:rPr>
              <a:t>m2_A_B</a:t>
            </a:r>
            <a:r>
              <a:rPr lang="zh-CN" altLang="en-US" sz="2400" b="1" dirty="0">
                <a:solidFill>
                  <a:srgbClr val="020202"/>
                </a:solidFill>
                <a:latin typeface="+mn-ea"/>
              </a:rPr>
              <a:t>在类</a:t>
            </a:r>
            <a:r>
              <a:rPr lang="en-US" altLang="zh-CN" sz="2400" b="1" dirty="0">
                <a:solidFill>
                  <a:srgbClr val="020202"/>
                </a:solidFill>
                <a:latin typeface="+mn-ea"/>
              </a:rPr>
              <a:t>A</a:t>
            </a:r>
            <a:r>
              <a:rPr lang="zh-CN" altLang="en-US" sz="2400" b="1" dirty="0">
                <a:solidFill>
                  <a:srgbClr val="020202"/>
                </a:solidFill>
                <a:latin typeface="+mn-ea"/>
              </a:rPr>
              <a:t>中声明，在类</a:t>
            </a:r>
            <a:r>
              <a:rPr lang="en-US" altLang="zh-CN" sz="2400" b="1" dirty="0">
                <a:solidFill>
                  <a:srgbClr val="020202"/>
                </a:solidFill>
                <a:latin typeface="+mn-ea"/>
              </a:rPr>
              <a:t>B</a:t>
            </a:r>
            <a:r>
              <a:rPr lang="zh-CN" altLang="en-US" sz="2400" b="1" dirty="0">
                <a:solidFill>
                  <a:srgbClr val="020202"/>
                </a:solidFill>
                <a:latin typeface="+mn-ea"/>
              </a:rPr>
              <a:t>中定义</a:t>
            </a:r>
            <a:r>
              <a:rPr lang="zh-CN" sz="2400" b="1" dirty="0">
                <a:solidFill>
                  <a:srgbClr val="020202"/>
                </a:solidFill>
                <a:latin typeface="+mn-ea"/>
              </a:rPr>
              <a:t>，</a:t>
            </a:r>
            <a:r>
              <a:rPr lang="zh-CN" altLang="en-US" sz="2400" b="1" dirty="0">
                <a:solidFill>
                  <a:srgbClr val="020202"/>
                </a:solidFill>
                <a:latin typeface="+mn-ea"/>
              </a:rPr>
              <a:t>翻译为：</a:t>
            </a:r>
            <a:endParaRPr lang="zh-CN" altLang="en-US" sz="2400" b="1" dirty="0">
              <a:solidFill>
                <a:srgbClr val="020202"/>
              </a:solidFill>
              <a:latin typeface="+mn-ea"/>
            </a:endParaRPr>
          </a:p>
          <a:p>
            <a:pPr marL="768985" lvl="3" indent="0" defTabSz="914400">
              <a:lnSpc>
                <a:spcPct val="120000"/>
              </a:lnSpc>
              <a:buFont typeface="Wingdings" panose="05000000000000000000" charset="0"/>
              <a:buNone/>
              <a:tabLst>
                <a:tab pos="984885" algn="l"/>
              </a:tabLst>
            </a:pPr>
            <a:r>
              <a:rPr lang="en-US" altLang="zh-CN" sz="2400" b="1" dirty="0">
                <a:solidFill>
                  <a:srgbClr val="020202"/>
                </a:solidFill>
                <a:latin typeface="+mn-ea"/>
              </a:rPr>
              <a:t>void m2_A_B(</a:t>
            </a:r>
            <a:r>
              <a:rPr lang="en-US" altLang="zh-CN" sz="2400" b="1" dirty="0" err="1">
                <a:solidFill>
                  <a:srgbClr val="020202"/>
                </a:solidFill>
                <a:latin typeface="+mn-ea"/>
              </a:rPr>
              <a:t>Class_B</a:t>
            </a:r>
            <a:r>
              <a:rPr lang="en-US" altLang="zh-CN" sz="2400" b="1" dirty="0">
                <a:solidFill>
                  <a:srgbClr val="020202"/>
                </a:solidFill>
                <a:latin typeface="+mn-ea"/>
              </a:rPr>
              <a:t> *this,  int </a:t>
            </a:r>
            <a:r>
              <a:rPr lang="en-US" altLang="zh-CN" sz="2400" b="1" dirty="0" err="1">
                <a:solidFill>
                  <a:srgbClr val="020202"/>
                </a:solidFill>
                <a:latin typeface="+mn-ea"/>
              </a:rPr>
              <a:t>i</a:t>
            </a:r>
            <a:r>
              <a:rPr lang="en-US" altLang="zh-CN" sz="2400" b="1" dirty="0">
                <a:solidFill>
                  <a:srgbClr val="020202"/>
                </a:solidFill>
                <a:latin typeface="+mn-ea"/>
              </a:rPr>
              <a:t>);</a:t>
            </a:r>
            <a:endParaRPr lang="zh-CN" altLang="en-US" sz="2400" dirty="0">
              <a:latin typeface="+mn-ea"/>
            </a:endParaRPr>
          </a:p>
        </p:txBody>
      </p:sp>
      <p:grpSp>
        <p:nvGrpSpPr>
          <p:cNvPr id="31" name="组合 13"/>
          <p:cNvGrpSpPr/>
          <p:nvPr/>
        </p:nvGrpSpPr>
        <p:grpSpPr bwMode="auto">
          <a:xfrm>
            <a:off x="6752417" y="1685050"/>
            <a:ext cx="1324594" cy="914400"/>
            <a:chOff x="1062038" y="3944938"/>
            <a:chExt cx="1828800" cy="914400"/>
          </a:xfrm>
        </p:grpSpPr>
        <p:sp useBgFill="1">
          <p:nvSpPr>
            <p:cNvPr id="32" name="Rectangle 4"/>
            <p:cNvSpPr>
              <a:spLocks noChangeArrowheads="1"/>
            </p:cNvSpPr>
            <p:nvPr>
              <p:custDataLst>
                <p:tags r:id="rId2"/>
              </p:custDataLst>
            </p:nvPr>
          </p:nvSpPr>
          <p:spPr bwMode="auto">
            <a:xfrm>
              <a:off x="1062038" y="3944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33" name="Rectangle 5"/>
            <p:cNvSpPr>
              <a:spLocks noChangeArrowheads="1"/>
            </p:cNvSpPr>
            <p:nvPr>
              <p:custDataLst>
                <p:tags r:id="rId3"/>
              </p:custDataLst>
            </p:nvPr>
          </p:nvSpPr>
          <p:spPr bwMode="auto">
            <a:xfrm>
              <a:off x="1062038" y="44021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m2_A_A</a:t>
              </a:r>
              <a:endParaRPr lang="zh-CN" altLang="en-US" sz="2400" b="1">
                <a:solidFill>
                  <a:srgbClr val="020202"/>
                </a:solidFill>
                <a:latin typeface="+mn-ea"/>
                <a:ea typeface="+mn-ea"/>
              </a:endParaRPr>
            </a:p>
          </p:txBody>
        </p:sp>
      </p:grpSp>
      <p:grpSp>
        <p:nvGrpSpPr>
          <p:cNvPr id="34" name="组合 14"/>
          <p:cNvGrpSpPr/>
          <p:nvPr/>
        </p:nvGrpSpPr>
        <p:grpSpPr bwMode="auto">
          <a:xfrm>
            <a:off x="10073364" y="1420890"/>
            <a:ext cx="1324594" cy="1371600"/>
            <a:chOff x="5938838" y="3792538"/>
            <a:chExt cx="1828800" cy="1371600"/>
          </a:xfrm>
        </p:grpSpPr>
        <p:sp useBgFill="1">
          <p:nvSpPr>
            <p:cNvPr id="35" name="Rectangle 6"/>
            <p:cNvSpPr>
              <a:spLocks noChangeArrowheads="1"/>
            </p:cNvSpPr>
            <p:nvPr>
              <p:custDataLst>
                <p:tags r:id="rId4"/>
              </p:custDataLst>
            </p:nvPr>
          </p:nvSpPr>
          <p:spPr bwMode="auto">
            <a:xfrm>
              <a:off x="5938838" y="37925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36" name="Rectangle 7"/>
            <p:cNvSpPr>
              <a:spLocks noChangeArrowheads="1"/>
            </p:cNvSpPr>
            <p:nvPr>
              <p:custDataLst>
                <p:tags r:id="rId5"/>
              </p:custDataLst>
            </p:nvPr>
          </p:nvSpPr>
          <p:spPr bwMode="auto">
            <a:xfrm>
              <a:off x="5938838" y="42497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m2_A_B</a:t>
              </a:r>
              <a:endParaRPr lang="zh-CN" altLang="en-US" sz="2400" b="1">
                <a:solidFill>
                  <a:srgbClr val="020202"/>
                </a:solidFill>
                <a:latin typeface="+mn-ea"/>
                <a:ea typeface="+mn-ea"/>
              </a:endParaRPr>
            </a:p>
          </p:txBody>
        </p:sp>
        <p:sp useBgFill="1">
          <p:nvSpPr>
            <p:cNvPr id="37" name="Rectangle 8"/>
            <p:cNvSpPr>
              <a:spLocks noChangeArrowheads="1"/>
            </p:cNvSpPr>
            <p:nvPr>
              <p:custDataLst>
                <p:tags r:id="rId6"/>
              </p:custDataLst>
            </p:nvPr>
          </p:nvSpPr>
          <p:spPr bwMode="auto">
            <a:xfrm>
              <a:off x="5938838" y="4706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m3_B_B</a:t>
              </a:r>
              <a:endParaRPr lang="zh-CN" altLang="en-US" sz="2400" b="1">
                <a:solidFill>
                  <a:srgbClr val="020202"/>
                </a:solidFill>
                <a:latin typeface="+mn-ea"/>
                <a:ea typeface="+mn-ea"/>
              </a:endParaRPr>
            </a:p>
          </p:txBody>
        </p:sp>
      </p:grpSp>
      <p:sp>
        <p:nvSpPr>
          <p:cNvPr id="38" name="Rectangle 9"/>
          <p:cNvSpPr>
            <a:spLocks noChangeArrowheads="1"/>
          </p:cNvSpPr>
          <p:nvPr>
            <p:custDataLst>
              <p:tags r:id="rId7"/>
            </p:custDataLst>
          </p:nvPr>
        </p:nvSpPr>
        <p:spPr bwMode="auto">
          <a:xfrm>
            <a:off x="8244921" y="1507250"/>
            <a:ext cx="18288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类</a:t>
            </a:r>
            <a:r>
              <a:rPr lang="en-US" altLang="zh-CN" sz="2400" b="1" dirty="0">
                <a:solidFill>
                  <a:srgbClr val="020202"/>
                </a:solidFill>
                <a:latin typeface="+mn-ea"/>
                <a:ea typeface="+mn-ea"/>
              </a:rPr>
              <a:t>B</a:t>
            </a:r>
            <a:r>
              <a:rPr lang="zh-CN" altLang="en-US" sz="2400" b="1" dirty="0">
                <a:solidFill>
                  <a:srgbClr val="020202"/>
                </a:solidFill>
                <a:latin typeface="+mn-ea"/>
                <a:ea typeface="+mn-ea"/>
              </a:rPr>
              <a:t>的方法的编译时表如右：</a:t>
            </a:r>
            <a:endParaRPr lang="en-US" altLang="zh-CN" sz="2400" b="1" dirty="0">
              <a:solidFill>
                <a:srgbClr val="020202"/>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childTnLst>
                                </p:cTn>
                              </p:par>
                              <p:par>
                                <p:cTn id="14" presetID="16" presetClass="entr" presetSubtype="26" fill="hold"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barn(inHorizontal)">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barn(inHorizontal)">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69875" y="276860"/>
            <a:ext cx="7224395" cy="593090"/>
          </a:xfrm>
        </p:spPr>
        <p:txBody>
          <a:bodyPr/>
          <a:lstStyle/>
          <a:p>
            <a:r>
              <a:rPr lang="en-US" altLang="zh-CN" dirty="0"/>
              <a:t>7.3 </a:t>
            </a:r>
            <a:r>
              <a:rPr lang="zh-CN" altLang="en-US" dirty="0"/>
              <a:t>动态存储器</a:t>
            </a:r>
            <a:endParaRPr lang="zh-CN" altLang="en-US" dirty="0"/>
          </a:p>
        </p:txBody>
      </p:sp>
      <p:sp>
        <p:nvSpPr>
          <p:cNvPr id="5" name="Rectangle 2"/>
          <p:cNvSpPr>
            <a:spLocks noChangeArrowheads="1"/>
          </p:cNvSpPr>
          <p:nvPr/>
        </p:nvSpPr>
        <p:spPr bwMode="auto">
          <a:xfrm>
            <a:off x="559435" y="1203325"/>
            <a:ext cx="1115885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多态性：</a:t>
            </a:r>
            <a:r>
              <a:rPr lang="zh-CN" altLang="en-US" sz="2400" b="1" dirty="0">
                <a:solidFill>
                  <a:srgbClr val="020202"/>
                </a:solidFill>
                <a:latin typeface="+mn-ea"/>
                <a:sym typeface="+mn-ea"/>
              </a:rPr>
              <a:t>当类</a:t>
            </a:r>
            <a:r>
              <a:rPr lang="en-US" altLang="zh-CN" sz="2400" b="1" dirty="0">
                <a:solidFill>
                  <a:srgbClr val="020202"/>
                </a:solidFill>
                <a:latin typeface="+mn-ea"/>
                <a:sym typeface="+mn-ea"/>
              </a:rPr>
              <a:t>B</a:t>
            </a:r>
            <a:r>
              <a:rPr lang="zh-CN" altLang="en-US" sz="2400" b="1" dirty="0">
                <a:solidFill>
                  <a:srgbClr val="020202"/>
                </a:solidFill>
                <a:latin typeface="+mn-ea"/>
                <a:sym typeface="+mn-ea"/>
              </a:rPr>
              <a:t>继承类</a:t>
            </a:r>
            <a:r>
              <a:rPr lang="en-US" altLang="zh-CN" sz="2400" b="1" dirty="0">
                <a:solidFill>
                  <a:srgbClr val="020202"/>
                </a:solidFill>
                <a:latin typeface="+mn-ea"/>
                <a:sym typeface="+mn-ea"/>
              </a:rPr>
              <a:t>A</a:t>
            </a:r>
            <a:r>
              <a:rPr lang="zh-CN" altLang="en-US" sz="2400" b="1" dirty="0">
                <a:solidFill>
                  <a:srgbClr val="020202"/>
                </a:solidFill>
                <a:latin typeface="+mn-ea"/>
                <a:sym typeface="+mn-ea"/>
              </a:rPr>
              <a:t>，并且该语言允许“类</a:t>
            </a:r>
            <a:r>
              <a:rPr lang="en-US" altLang="zh-CN" sz="2400" b="1" dirty="0">
                <a:solidFill>
                  <a:srgbClr val="020202"/>
                </a:solidFill>
                <a:latin typeface="+mn-ea"/>
                <a:sym typeface="+mn-ea"/>
              </a:rPr>
              <a:t>B</a:t>
            </a:r>
            <a:r>
              <a:rPr lang="zh-CN" altLang="en-US" sz="2400" b="1" dirty="0">
                <a:solidFill>
                  <a:srgbClr val="020202"/>
                </a:solidFill>
                <a:latin typeface="+mn-ea"/>
                <a:sym typeface="+mn-ea"/>
              </a:rPr>
              <a:t>的指针”类型的指针能够赋给一个“类</a:t>
            </a:r>
            <a:r>
              <a:rPr lang="en-US" altLang="zh-CN" sz="2400" b="1" dirty="0">
                <a:solidFill>
                  <a:srgbClr val="020202"/>
                </a:solidFill>
                <a:latin typeface="+mn-ea"/>
                <a:sym typeface="+mn-ea"/>
              </a:rPr>
              <a:t>A</a:t>
            </a:r>
            <a:r>
              <a:rPr lang="zh-CN" altLang="en-US" sz="2400" b="1" dirty="0">
                <a:solidFill>
                  <a:srgbClr val="020202"/>
                </a:solidFill>
                <a:latin typeface="+mn-ea"/>
                <a:sym typeface="+mn-ea"/>
              </a:rPr>
              <a:t>的指针”类型的变量时，那么该语言支持多态型。</a:t>
            </a:r>
            <a:endParaRPr lang="en-US" altLang="zh-CN" sz="2400" b="1" dirty="0">
              <a:solidFill>
                <a:srgbClr val="020202"/>
              </a:solidFill>
              <a:latin typeface="+mn-ea"/>
            </a:endParaRPr>
          </a:p>
          <a:p>
            <a:pPr eaLnBrk="1" hangingPunct="1"/>
            <a:endParaRPr lang="en-US" altLang="zh-CN" sz="2400" b="1" dirty="0">
              <a:solidFill>
                <a:srgbClr val="020202"/>
              </a:solidFill>
              <a:latin typeface="+mn-ea"/>
              <a:ea typeface="+mn-ea"/>
            </a:endParaRPr>
          </a:p>
        </p:txBody>
      </p:sp>
      <p:sp>
        <p:nvSpPr>
          <p:cNvPr id="7" name="矩形 6"/>
          <p:cNvSpPr/>
          <p:nvPr/>
        </p:nvSpPr>
        <p:spPr>
          <a:xfrm>
            <a:off x="429895" y="2108835"/>
            <a:ext cx="4816475" cy="22256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475567" y="2172111"/>
            <a:ext cx="4831080" cy="2079895"/>
            <a:chOff x="3874641" y="1272862"/>
            <a:chExt cx="4831080" cy="2079895"/>
          </a:xfrm>
        </p:grpSpPr>
        <p:sp useBgFill="1">
          <p:nvSpPr>
            <p:cNvPr id="9" name="Rectangle 2"/>
            <p:cNvSpPr>
              <a:spLocks noChangeArrowheads="1"/>
            </p:cNvSpPr>
            <p:nvPr/>
          </p:nvSpPr>
          <p:spPr bwMode="auto">
            <a:xfrm>
              <a:off x="6389240" y="1425262"/>
              <a:ext cx="1828801"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a1</a:t>
              </a:r>
              <a:endParaRPr lang="zh-CN" altLang="en-US" sz="2400" b="1">
                <a:solidFill>
                  <a:srgbClr val="020202"/>
                </a:solidFill>
                <a:latin typeface="+mn-ea"/>
                <a:ea typeface="+mn-ea"/>
              </a:endParaRPr>
            </a:p>
          </p:txBody>
        </p:sp>
        <p:sp useBgFill="1">
          <p:nvSpPr>
            <p:cNvPr id="10" name="Rectangle 3"/>
            <p:cNvSpPr>
              <a:spLocks noChangeArrowheads="1"/>
            </p:cNvSpPr>
            <p:nvPr/>
          </p:nvSpPr>
          <p:spPr bwMode="auto">
            <a:xfrm>
              <a:off x="6389240" y="1882462"/>
              <a:ext cx="1828801"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dirty="0">
                  <a:solidFill>
                    <a:srgbClr val="020202"/>
                  </a:solidFill>
                  <a:latin typeface="+mn-ea"/>
                  <a:ea typeface="+mn-ea"/>
                </a:rPr>
                <a:t>a2</a:t>
              </a:r>
              <a:endParaRPr lang="zh-CN" altLang="en-US" sz="2400" b="1" dirty="0">
                <a:solidFill>
                  <a:srgbClr val="020202"/>
                </a:solidFill>
                <a:latin typeface="+mn-ea"/>
                <a:ea typeface="+mn-ea"/>
              </a:endParaRPr>
            </a:p>
          </p:txBody>
        </p:sp>
        <p:sp useBgFill="1">
          <p:nvSpPr>
            <p:cNvPr id="11" name="Rectangle 4"/>
            <p:cNvSpPr>
              <a:spLocks noChangeArrowheads="1"/>
            </p:cNvSpPr>
            <p:nvPr/>
          </p:nvSpPr>
          <p:spPr bwMode="auto">
            <a:xfrm>
              <a:off x="6384478" y="2320612"/>
              <a:ext cx="1828801"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dirty="0">
                  <a:solidFill>
                    <a:srgbClr val="020202"/>
                  </a:solidFill>
                  <a:latin typeface="+mn-ea"/>
                  <a:ea typeface="+mn-ea"/>
                </a:rPr>
                <a:t>b1</a:t>
              </a:r>
              <a:endParaRPr lang="zh-CN" altLang="en-US" sz="2400" b="1" dirty="0">
                <a:solidFill>
                  <a:srgbClr val="020202"/>
                </a:solidFill>
                <a:latin typeface="+mn-ea"/>
                <a:ea typeface="+mn-ea"/>
              </a:endParaRPr>
            </a:p>
          </p:txBody>
        </p:sp>
        <p:sp>
          <p:nvSpPr>
            <p:cNvPr id="13" name="Line 5"/>
            <p:cNvSpPr>
              <a:spLocks noChangeShapeType="1"/>
            </p:cNvSpPr>
            <p:nvPr/>
          </p:nvSpPr>
          <p:spPr bwMode="auto">
            <a:xfrm>
              <a:off x="3874641" y="1730062"/>
              <a:ext cx="25146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4" name="Rectangle 6"/>
            <p:cNvSpPr>
              <a:spLocks noChangeArrowheads="1"/>
            </p:cNvSpPr>
            <p:nvPr/>
          </p:nvSpPr>
          <p:spPr bwMode="auto">
            <a:xfrm>
              <a:off x="4179441" y="1272862"/>
              <a:ext cx="1891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指向</a:t>
              </a:r>
              <a:r>
                <a:rPr lang="en-US" altLang="zh-CN" sz="2400" b="1">
                  <a:solidFill>
                    <a:srgbClr val="020202"/>
                  </a:solidFill>
                  <a:latin typeface="+mn-ea"/>
                  <a:ea typeface="+mn-ea"/>
                </a:rPr>
                <a:t>B</a:t>
              </a:r>
              <a:r>
                <a:rPr lang="zh-CN" altLang="en-US" sz="2400" b="1">
                  <a:solidFill>
                    <a:srgbClr val="020202"/>
                  </a:solidFill>
                  <a:latin typeface="+mn-ea"/>
                  <a:ea typeface="+mn-ea"/>
                </a:rPr>
                <a:t>的指针</a:t>
              </a:r>
              <a:endParaRPr lang="zh-CN" altLang="en-US" sz="2400" b="1">
                <a:solidFill>
                  <a:srgbClr val="020202"/>
                </a:solidFill>
                <a:latin typeface="+mn-ea"/>
                <a:ea typeface="+mn-ea"/>
              </a:endParaRPr>
            </a:p>
          </p:txBody>
        </p:sp>
        <p:sp>
          <p:nvSpPr>
            <p:cNvPr id="15" name="Rectangle 7"/>
            <p:cNvSpPr>
              <a:spLocks noChangeArrowheads="1"/>
            </p:cNvSpPr>
            <p:nvPr/>
          </p:nvSpPr>
          <p:spPr bwMode="auto">
            <a:xfrm>
              <a:off x="3950841" y="1730062"/>
              <a:ext cx="2400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指向</a:t>
              </a:r>
              <a:r>
                <a:rPr lang="en-US" altLang="zh-CN" sz="2400" b="1" dirty="0">
                  <a:solidFill>
                    <a:srgbClr val="020202"/>
                  </a:solidFill>
                  <a:latin typeface="+mn-ea"/>
                  <a:ea typeface="+mn-ea"/>
                </a:rPr>
                <a:t>B</a:t>
              </a:r>
              <a:r>
                <a:rPr lang="zh-CN" altLang="en-US" sz="2400" b="1" dirty="0">
                  <a:solidFill>
                    <a:srgbClr val="020202"/>
                  </a:solidFill>
                  <a:latin typeface="+mn-ea"/>
                  <a:ea typeface="+mn-ea"/>
                </a:rPr>
                <a:t>中</a:t>
              </a:r>
              <a:r>
                <a:rPr lang="en-US" altLang="zh-CN" sz="2400" b="1" dirty="0">
                  <a:solidFill>
                    <a:srgbClr val="020202"/>
                  </a:solidFill>
                  <a:latin typeface="+mn-ea"/>
                  <a:ea typeface="+mn-ea"/>
                </a:rPr>
                <a:t>A</a:t>
              </a:r>
              <a:r>
                <a:rPr lang="zh-CN" altLang="en-US" sz="2400" b="1" dirty="0">
                  <a:solidFill>
                    <a:srgbClr val="020202"/>
                  </a:solidFill>
                  <a:latin typeface="+mn-ea"/>
                  <a:ea typeface="+mn-ea"/>
                </a:rPr>
                <a:t>的指针</a:t>
              </a:r>
              <a:endParaRPr lang="zh-CN" altLang="en-US" sz="2400" b="1" dirty="0">
                <a:solidFill>
                  <a:srgbClr val="020202"/>
                </a:solidFill>
                <a:latin typeface="+mn-ea"/>
                <a:ea typeface="+mn-ea"/>
              </a:endParaRPr>
            </a:p>
          </p:txBody>
        </p:sp>
        <p:sp>
          <p:nvSpPr>
            <p:cNvPr id="16" name="Rectangle 8"/>
            <p:cNvSpPr>
              <a:spLocks noChangeArrowheads="1"/>
            </p:cNvSpPr>
            <p:nvPr/>
          </p:nvSpPr>
          <p:spPr bwMode="auto">
            <a:xfrm>
              <a:off x="3950841" y="2892382"/>
              <a:ext cx="4754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现在同一指针指向了不同类的对象</a:t>
              </a:r>
              <a:endParaRPr lang="zh-CN" altLang="en-US" sz="2400" b="1" dirty="0">
                <a:solidFill>
                  <a:srgbClr val="020202"/>
                </a:solidFill>
                <a:latin typeface="+mn-ea"/>
                <a:ea typeface="+mn-ea"/>
              </a:endParaRPr>
            </a:p>
          </p:txBody>
        </p:sp>
      </p:grpSp>
      <p:sp>
        <p:nvSpPr>
          <p:cNvPr id="2" name="文本框 1"/>
          <p:cNvSpPr txBox="1"/>
          <p:nvPr/>
        </p:nvSpPr>
        <p:spPr>
          <a:xfrm>
            <a:off x="5246370" y="2066925"/>
            <a:ext cx="6554470" cy="3928110"/>
          </a:xfrm>
          <a:prstGeom prst="rect">
            <a:avLst/>
          </a:prstGeom>
          <a:noFill/>
        </p:spPr>
        <p:txBody>
          <a:bodyPr wrap="square" rtlCol="0" anchor="t">
            <a:spAutoFit/>
          </a:bodyPr>
          <a:p>
            <a:pPr marL="342900" indent="-342900">
              <a:lnSpc>
                <a:spcPct val="130000"/>
              </a:lnSpc>
              <a:buFont typeface="Wingdings" panose="05000000000000000000" charset="0"/>
              <a:buChar char="p"/>
            </a:pPr>
            <a:r>
              <a:rPr lang="en-US" altLang="zh-CN" sz="2400" b="1" dirty="0">
                <a:solidFill>
                  <a:srgbClr val="020202"/>
                </a:solidFill>
                <a:latin typeface="+mn-ea"/>
                <a:sym typeface="+mn-ea"/>
              </a:rPr>
              <a:t>Class B *b=…;     Class A *a=b;</a:t>
            </a:r>
            <a:endParaRPr lang="en-US" altLang="zh-CN" sz="2400" b="1" dirty="0">
              <a:solidFill>
                <a:srgbClr val="020202"/>
              </a:solidFill>
              <a:latin typeface="+mn-ea"/>
            </a:endParaRPr>
          </a:p>
          <a:p>
            <a:pPr marL="342900" lvl="0" indent="-342900">
              <a:lnSpc>
                <a:spcPct val="130000"/>
              </a:lnSpc>
              <a:buFont typeface="Wingdings" panose="05000000000000000000" charset="0"/>
              <a:buChar char="p"/>
            </a:pPr>
            <a:r>
              <a:rPr lang="en-US" altLang="zh-CN" sz="2400" b="1" dirty="0">
                <a:solidFill>
                  <a:srgbClr val="020202"/>
                </a:solidFill>
                <a:latin typeface="+mn-ea"/>
                <a:sym typeface="+mn-ea"/>
              </a:rPr>
              <a:t>class A *a=</a:t>
            </a:r>
            <a:r>
              <a:rPr lang="en-US" altLang="zh-CN" sz="2400" b="1" dirty="0" err="1">
                <a:solidFill>
                  <a:srgbClr val="020202"/>
                </a:solidFill>
                <a:latin typeface="+mn-ea"/>
                <a:sym typeface="+mn-ea"/>
              </a:rPr>
              <a:t>convert_ptr_to_B_to_ptr_to_A</a:t>
            </a:r>
            <a:r>
              <a:rPr lang="en-US" altLang="zh-CN" sz="2400" b="1" dirty="0">
                <a:solidFill>
                  <a:srgbClr val="020202"/>
                </a:solidFill>
                <a:latin typeface="+mn-ea"/>
                <a:sym typeface="+mn-ea"/>
              </a:rPr>
              <a:t>(b);</a:t>
            </a:r>
            <a:endParaRPr lang="en-US" altLang="zh-CN" sz="2400" b="1" dirty="0">
              <a:solidFill>
                <a:srgbClr val="020202"/>
              </a:solidFill>
              <a:latin typeface="+mn-ea"/>
            </a:endParaRPr>
          </a:p>
          <a:p>
            <a:pPr marL="800100" lvl="1" indent="-342900">
              <a:lnSpc>
                <a:spcPct val="130000"/>
              </a:lnSpc>
              <a:buFont typeface="Wingdings" panose="05000000000000000000" charset="0"/>
              <a:buChar char="p"/>
            </a:pPr>
            <a:r>
              <a:rPr lang="en-US" altLang="zh-CN" sz="2400" b="1" dirty="0" err="1">
                <a:solidFill>
                  <a:srgbClr val="020202"/>
                </a:solidFill>
                <a:latin typeface="+mn-ea"/>
                <a:sym typeface="+mn-ea"/>
              </a:rPr>
              <a:t>convert_ptr_to_B_to_ptr_to_A</a:t>
            </a:r>
            <a:r>
              <a:rPr lang="en-US" altLang="zh-CN" sz="2400" b="1" dirty="0">
                <a:solidFill>
                  <a:srgbClr val="020202"/>
                </a:solidFill>
                <a:latin typeface="+mn-ea"/>
                <a:sym typeface="+mn-ea"/>
              </a:rPr>
              <a:t>()</a:t>
            </a:r>
            <a:r>
              <a:rPr lang="zh-CN" altLang="en-US" sz="2400" b="1" dirty="0">
                <a:solidFill>
                  <a:srgbClr val="020202"/>
                </a:solidFill>
                <a:latin typeface="+mn-ea"/>
                <a:sym typeface="+mn-ea"/>
              </a:rPr>
              <a:t>为一编译时类型的操作,它将指向子类</a:t>
            </a:r>
            <a:r>
              <a:rPr lang="en-US" altLang="zh-CN" sz="2400" b="1" dirty="0">
                <a:solidFill>
                  <a:srgbClr val="020202"/>
                </a:solidFill>
                <a:latin typeface="+mn-ea"/>
                <a:sym typeface="+mn-ea"/>
              </a:rPr>
              <a:t>B</a:t>
            </a:r>
            <a:r>
              <a:rPr lang="zh-CN" altLang="en-US" sz="2400" b="1" dirty="0">
                <a:solidFill>
                  <a:srgbClr val="020202"/>
                </a:solidFill>
                <a:latin typeface="+mn-ea"/>
                <a:sym typeface="+mn-ea"/>
              </a:rPr>
              <a:t>的一个对象指针转换为指向其父类</a:t>
            </a:r>
            <a:r>
              <a:rPr lang="en-US" altLang="zh-CN" sz="2400" b="1" dirty="0">
                <a:solidFill>
                  <a:srgbClr val="020202"/>
                </a:solidFill>
                <a:latin typeface="+mn-ea"/>
                <a:sym typeface="+mn-ea"/>
              </a:rPr>
              <a:t>A</a:t>
            </a:r>
            <a:r>
              <a:rPr lang="zh-CN" altLang="en-US" sz="2400" b="1" dirty="0">
                <a:solidFill>
                  <a:srgbClr val="020202"/>
                </a:solidFill>
                <a:latin typeface="+mn-ea"/>
                <a:sym typeface="+mn-ea"/>
              </a:rPr>
              <a:t>对象的指针。</a:t>
            </a:r>
            <a:r>
              <a:rPr lang="zh-CN" altLang="en-US" sz="2400" b="1" dirty="0">
                <a:solidFill>
                  <a:srgbClr val="020202"/>
                </a:solidFill>
                <a:latin typeface="+mn-ea"/>
                <a:sym typeface="+mn-ea"/>
                <a:hlinkClick r:id="rId1" action="ppaction://hlinksldjump"/>
              </a:rPr>
              <a:t>因为类</a:t>
            </a:r>
            <a:r>
              <a:rPr lang="en-US" altLang="zh-CN" sz="2400" b="1" dirty="0">
                <a:solidFill>
                  <a:srgbClr val="020202"/>
                </a:solidFill>
                <a:latin typeface="+mn-ea"/>
                <a:sym typeface="+mn-ea"/>
                <a:hlinkClick r:id="rId1" action="ppaction://hlinksldjump"/>
              </a:rPr>
              <a:t>B</a:t>
            </a:r>
            <a:r>
              <a:rPr lang="zh-CN" altLang="en-US" sz="2400" b="1" dirty="0">
                <a:solidFill>
                  <a:srgbClr val="020202"/>
                </a:solidFill>
                <a:latin typeface="+mn-ea"/>
                <a:sym typeface="+mn-ea"/>
                <a:hlinkClick r:id="rId1" action="ppaction://hlinksldjump"/>
              </a:rPr>
              <a:t>的对象也是从类</a:t>
            </a:r>
            <a:r>
              <a:rPr lang="en-US" altLang="zh-CN" sz="2400" b="1" dirty="0">
                <a:solidFill>
                  <a:srgbClr val="020202"/>
                </a:solidFill>
                <a:latin typeface="+mn-ea"/>
                <a:sym typeface="+mn-ea"/>
                <a:hlinkClick r:id="rId1" action="ppaction://hlinksldjump"/>
              </a:rPr>
              <a:t>A</a:t>
            </a:r>
            <a:r>
              <a:rPr lang="zh-CN" altLang="en-US" sz="2400" b="1" dirty="0">
                <a:solidFill>
                  <a:srgbClr val="020202"/>
                </a:solidFill>
                <a:latin typeface="+mn-ea"/>
                <a:sym typeface="+mn-ea"/>
                <a:hlinkClick r:id="rId1" action="ppaction://hlinksldjump"/>
              </a:rPr>
              <a:t>的字段开始</a:t>
            </a:r>
            <a:r>
              <a:rPr lang="zh-CN" altLang="en-US" sz="2400" b="1" dirty="0">
                <a:solidFill>
                  <a:srgbClr val="020202"/>
                </a:solidFill>
                <a:latin typeface="+mn-ea"/>
                <a:sym typeface="+mn-ea"/>
              </a:rPr>
              <a:t>，因而指针的值并不需要改变，唯一影响的是改变了指针的类型。</a:t>
            </a:r>
            <a:endParaRPr lang="zh-CN" altLang="en-US" sz="2400" b="1" dirty="0">
              <a:solidFill>
                <a:srgbClr val="020202"/>
              </a:solidFill>
              <a:latin typeface="+mn-ea"/>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98450" y="276860"/>
            <a:ext cx="7195820" cy="593090"/>
          </a:xfrm>
        </p:spPr>
        <p:txBody>
          <a:bodyPr/>
          <a:lstStyle/>
          <a:p>
            <a:r>
              <a:rPr lang="en-US" altLang="zh-CN" dirty="0"/>
              <a:t>7.3 </a:t>
            </a:r>
            <a:r>
              <a:rPr lang="zh-CN" altLang="en-US" dirty="0"/>
              <a:t>动态存储器</a:t>
            </a:r>
            <a:endParaRPr lang="zh-CN" altLang="en-US" dirty="0"/>
          </a:p>
        </p:txBody>
      </p:sp>
      <p:sp>
        <p:nvSpPr>
          <p:cNvPr id="14" name="内容占位符 8"/>
          <p:cNvSpPr txBox="1">
            <a:spLocks noChangeArrowheads="1"/>
          </p:cNvSpPr>
          <p:nvPr/>
        </p:nvSpPr>
        <p:spPr>
          <a:xfrm>
            <a:off x="413385" y="1640840"/>
            <a:ext cx="11361420" cy="42837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solidFill>
                  <a:srgbClr val="020202"/>
                </a:solidFill>
                <a:latin typeface="+mn-ea"/>
              </a:rPr>
              <a:t>类型</a:t>
            </a:r>
            <a:r>
              <a:rPr lang="en-US" altLang="zh-CN" sz="2400" b="1" dirty="0">
                <a:solidFill>
                  <a:srgbClr val="020202"/>
                </a:solidFill>
                <a:latin typeface="+mn-ea"/>
              </a:rPr>
              <a:t>class A*</a:t>
            </a:r>
            <a:r>
              <a:rPr lang="zh-CN" altLang="en-US" sz="2400" b="1" dirty="0">
                <a:solidFill>
                  <a:srgbClr val="020202"/>
                </a:solidFill>
                <a:latin typeface="+mn-ea"/>
              </a:rPr>
              <a:t>的指针</a:t>
            </a:r>
            <a:r>
              <a:rPr lang="en-US" altLang="zh-CN" sz="2400" b="1" dirty="0">
                <a:solidFill>
                  <a:srgbClr val="020202"/>
                </a:solidFill>
                <a:latin typeface="+mn-ea"/>
              </a:rPr>
              <a:t>p</a:t>
            </a:r>
            <a:r>
              <a:rPr lang="zh-CN" altLang="en-US" sz="2400" b="1" dirty="0">
                <a:solidFill>
                  <a:srgbClr val="020202"/>
                </a:solidFill>
                <a:latin typeface="+mn-ea"/>
              </a:rPr>
              <a:t>可能引用了类</a:t>
            </a:r>
            <a:r>
              <a:rPr lang="en-US" altLang="zh-CN" sz="2400" b="1" dirty="0">
                <a:solidFill>
                  <a:srgbClr val="020202"/>
                </a:solidFill>
                <a:latin typeface="+mn-ea"/>
              </a:rPr>
              <a:t>B</a:t>
            </a:r>
            <a:r>
              <a:rPr lang="zh-CN" altLang="en-US" sz="2400" b="1" dirty="0">
                <a:solidFill>
                  <a:srgbClr val="020202"/>
                </a:solidFill>
                <a:latin typeface="+mn-ea"/>
              </a:rPr>
              <a:t>的一个对象，动态绑定认为如果实际上为类</a:t>
            </a:r>
            <a:r>
              <a:rPr lang="en-US" altLang="zh-CN" sz="2400" b="1" dirty="0">
                <a:solidFill>
                  <a:srgbClr val="020202"/>
                </a:solidFill>
                <a:latin typeface="+mn-ea"/>
              </a:rPr>
              <a:t>B</a:t>
            </a:r>
            <a:r>
              <a:rPr lang="zh-CN" altLang="en-US" sz="2400" b="1" dirty="0">
                <a:solidFill>
                  <a:srgbClr val="020202"/>
                </a:solidFill>
                <a:latin typeface="+mn-ea"/>
              </a:rPr>
              <a:t>的对象，那就应该调用</a:t>
            </a:r>
            <a:r>
              <a:rPr lang="en-US" altLang="zh-CN" sz="2400" b="1" dirty="0">
                <a:solidFill>
                  <a:srgbClr val="020202"/>
                </a:solidFill>
                <a:latin typeface="+mn-ea"/>
              </a:rPr>
              <a:t>m2_A_B,</a:t>
            </a:r>
            <a:r>
              <a:rPr lang="zh-CN" altLang="en-US" sz="2400" b="1" dirty="0">
                <a:solidFill>
                  <a:srgbClr val="020202"/>
                </a:solidFill>
                <a:latin typeface="+mn-ea"/>
              </a:rPr>
              <a:t>如果实际为</a:t>
            </a:r>
            <a:r>
              <a:rPr lang="en-US" altLang="zh-CN" sz="2400" b="1" dirty="0">
                <a:solidFill>
                  <a:srgbClr val="020202"/>
                </a:solidFill>
                <a:latin typeface="+mn-ea"/>
              </a:rPr>
              <a:t>A</a:t>
            </a:r>
            <a:r>
              <a:rPr lang="zh-CN" altLang="en-US" sz="2400" b="1" dirty="0">
                <a:solidFill>
                  <a:srgbClr val="020202"/>
                </a:solidFill>
                <a:latin typeface="+mn-ea"/>
              </a:rPr>
              <a:t>的对象，那么就应该调用</a:t>
            </a:r>
            <a:r>
              <a:rPr lang="en-US" altLang="zh-CN" sz="2400" b="1" dirty="0">
                <a:solidFill>
                  <a:srgbClr val="020202"/>
                </a:solidFill>
                <a:latin typeface="+mn-ea"/>
              </a:rPr>
              <a:t>m2_A_A</a:t>
            </a:r>
            <a:r>
              <a:rPr lang="zh-CN" altLang="en-US" sz="2400" b="1" dirty="0">
                <a:solidFill>
                  <a:srgbClr val="020202"/>
                </a:solidFill>
                <a:latin typeface="+mn-ea"/>
              </a:rPr>
              <a:t>。</a:t>
            </a:r>
            <a:endParaRPr lang="en-US" altLang="zh-CN" sz="2400" b="1" dirty="0">
              <a:solidFill>
                <a:srgbClr val="020202"/>
              </a:solidFill>
              <a:latin typeface="+mn-ea"/>
            </a:endParaRPr>
          </a:p>
          <a:p>
            <a:pPr>
              <a:lnSpc>
                <a:spcPct val="120000"/>
              </a:lnSpc>
            </a:pPr>
            <a:endParaRPr lang="zh-CN" altLang="en-US" dirty="0">
              <a:latin typeface="+mn-ea"/>
            </a:endParaRPr>
          </a:p>
        </p:txBody>
      </p:sp>
      <p:sp>
        <p:nvSpPr>
          <p:cNvPr id="4" name="矩形 3"/>
          <p:cNvSpPr/>
          <p:nvPr/>
        </p:nvSpPr>
        <p:spPr>
          <a:xfrm>
            <a:off x="412750" y="1248410"/>
            <a:ext cx="4382770" cy="521970"/>
          </a:xfrm>
          <a:prstGeom prst="rect">
            <a:avLst/>
          </a:prstGeom>
        </p:spPr>
        <p:txBody>
          <a:bodyPr wrap="square">
            <a:spAutoFit/>
          </a:bodyPr>
          <a:lstStyle/>
          <a:p>
            <a:pPr indent="0">
              <a:buNone/>
            </a:pPr>
            <a:r>
              <a:rPr lang="zh-CN" altLang="en-US" sz="2800" b="1" dirty="0">
                <a:solidFill>
                  <a:srgbClr val="0070C0"/>
                </a:solidFill>
                <a:latin typeface="+mn-ea"/>
              </a:rPr>
              <a:t>动态绑定</a:t>
            </a:r>
            <a:endParaRPr lang="zh-CN" altLang="en-US" sz="2800" dirty="0"/>
          </a:p>
        </p:txBody>
      </p:sp>
      <p:sp>
        <p:nvSpPr>
          <p:cNvPr id="5" name="矩形 4"/>
          <p:cNvSpPr/>
          <p:nvPr/>
        </p:nvSpPr>
        <p:spPr>
          <a:xfrm>
            <a:off x="1176020" y="3556000"/>
            <a:ext cx="9441180" cy="18103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845185" y="2571750"/>
            <a:ext cx="10483215" cy="3267075"/>
          </a:xfrm>
          <a:prstGeom prst="rect">
            <a:avLst/>
          </a:prstGeom>
        </p:spPr>
        <p:txBody>
          <a:bodyPr wrap="square">
            <a:spAutoFit/>
          </a:bodyPr>
          <a:lstStyle/>
          <a:p>
            <a:pPr>
              <a:lnSpc>
                <a:spcPct val="120000"/>
              </a:lnSpc>
            </a:pPr>
            <a:r>
              <a:rPr lang="zh-CN" altLang="en-US" sz="2400" b="1" dirty="0">
                <a:solidFill>
                  <a:srgbClr val="020202"/>
                </a:solidFill>
                <a:latin typeface="+mn-ea"/>
              </a:rPr>
              <a:t>对于方法调用</a:t>
            </a:r>
            <a:r>
              <a:rPr lang="en-US" altLang="zh-CN" sz="2400" b="1" dirty="0">
                <a:solidFill>
                  <a:srgbClr val="020202"/>
                </a:solidFill>
                <a:latin typeface="+mn-ea"/>
              </a:rPr>
              <a:t>p-&gt;m2(3)</a:t>
            </a:r>
            <a:endParaRPr lang="en-US" altLang="zh-CN" sz="2400" b="1" dirty="0">
              <a:solidFill>
                <a:srgbClr val="020202"/>
              </a:solidFill>
              <a:latin typeface="+mn-ea"/>
            </a:endParaRPr>
          </a:p>
          <a:p>
            <a:pPr marL="800100" lvl="1" indent="-342900">
              <a:lnSpc>
                <a:spcPct val="120000"/>
              </a:lnSpc>
              <a:buFont typeface="Wingdings" panose="05000000000000000000" charset="0"/>
              <a:buChar char="p"/>
            </a:pPr>
            <a:r>
              <a:rPr lang="en-US" altLang="zh-CN" sz="2400" b="1" dirty="0">
                <a:solidFill>
                  <a:srgbClr val="020202"/>
                </a:solidFill>
                <a:latin typeface="+mn-ea"/>
              </a:rPr>
              <a:t>p</a:t>
            </a:r>
            <a:r>
              <a:rPr lang="zh-CN" altLang="en-US" sz="2400" b="1" dirty="0">
                <a:solidFill>
                  <a:srgbClr val="020202"/>
                </a:solidFill>
                <a:latin typeface="+mn-ea"/>
              </a:rPr>
              <a:t>是一指向类</a:t>
            </a:r>
            <a:r>
              <a:rPr lang="en-US" altLang="zh-CN" sz="2400" b="1" dirty="0">
                <a:solidFill>
                  <a:srgbClr val="020202"/>
                </a:solidFill>
                <a:latin typeface="+mn-ea"/>
              </a:rPr>
              <a:t>A</a:t>
            </a:r>
            <a:r>
              <a:rPr lang="zh-CN" altLang="en-US" sz="2400" b="1" dirty="0">
                <a:solidFill>
                  <a:srgbClr val="020202"/>
                </a:solidFill>
                <a:latin typeface="+mn-ea"/>
              </a:rPr>
              <a:t>对象指针，可以将</a:t>
            </a:r>
            <a:r>
              <a:rPr lang="en-US" altLang="zh-CN" sz="2400" b="1" dirty="0">
                <a:solidFill>
                  <a:srgbClr val="020202"/>
                </a:solidFill>
                <a:latin typeface="+mn-ea"/>
              </a:rPr>
              <a:t>p-&gt;m2(3)</a:t>
            </a:r>
            <a:r>
              <a:rPr lang="zh-CN" altLang="en-US" sz="2400" b="1" dirty="0">
                <a:solidFill>
                  <a:srgbClr val="020202"/>
                </a:solidFill>
                <a:latin typeface="+mn-ea"/>
              </a:rPr>
              <a:t>被翻译成如下形式：</a:t>
            </a:r>
            <a:endParaRPr lang="en-US" altLang="zh-CN" sz="2400" b="1" dirty="0">
              <a:solidFill>
                <a:srgbClr val="020202"/>
              </a:solidFill>
              <a:latin typeface="+mn-ea"/>
            </a:endParaRPr>
          </a:p>
          <a:p>
            <a:pPr lvl="1">
              <a:lnSpc>
                <a:spcPct val="120000"/>
              </a:lnSpc>
            </a:pPr>
            <a:r>
              <a:rPr lang="en-US" altLang="zh-CN" sz="2000" b="1" dirty="0">
                <a:solidFill>
                  <a:srgbClr val="020202"/>
                </a:solidFill>
                <a:latin typeface="Courier New" panose="02070309020205020404" pitchFamily="49" charset="0"/>
                <a:cs typeface="Courier New" panose="02070309020205020404" pitchFamily="49" charset="0"/>
              </a:rPr>
              <a:t>switch(</a:t>
            </a:r>
            <a:r>
              <a:rPr lang="en-US" altLang="zh-CN" sz="2000" b="1" dirty="0" err="1">
                <a:solidFill>
                  <a:srgbClr val="020202"/>
                </a:solidFill>
                <a:latin typeface="Courier New" panose="02070309020205020404" pitchFamily="49" charset="0"/>
                <a:cs typeface="Courier New" panose="02070309020205020404" pitchFamily="49" charset="0"/>
              </a:rPr>
              <a:t>dynamic_type_of</a:t>
            </a:r>
            <a:r>
              <a:rPr lang="en-US" altLang="zh-CN" sz="2000" b="1" dirty="0">
                <a:solidFill>
                  <a:srgbClr val="020202"/>
                </a:solidFill>
                <a:latin typeface="Courier New" panose="02070309020205020404" pitchFamily="49" charset="0"/>
                <a:cs typeface="Courier New" panose="02070309020205020404" pitchFamily="49" charset="0"/>
              </a:rPr>
              <a:t>(p)){</a:t>
            </a:r>
            <a:endParaRPr lang="en-US" altLang="zh-CN" sz="2000" b="1" dirty="0">
              <a:solidFill>
                <a:srgbClr val="020202"/>
              </a:solidFill>
              <a:latin typeface="Courier New" panose="02070309020205020404" pitchFamily="49" charset="0"/>
              <a:cs typeface="Courier New" panose="02070309020205020404" pitchFamily="49" charset="0"/>
            </a:endParaRPr>
          </a:p>
          <a:p>
            <a:pPr>
              <a:lnSpc>
                <a:spcPct val="120000"/>
              </a:lnSpc>
              <a:spcBef>
                <a:spcPct val="0"/>
              </a:spcBef>
            </a:pPr>
            <a:r>
              <a:rPr lang="en-US" altLang="zh-CN" sz="2000" b="1" dirty="0">
                <a:solidFill>
                  <a:srgbClr val="020202"/>
                </a:solidFill>
                <a:latin typeface="Courier New" panose="02070309020205020404" pitchFamily="49" charset="0"/>
                <a:cs typeface="Courier New" panose="02070309020205020404" pitchFamily="49" charset="0"/>
              </a:rPr>
              <a:t>		case </a:t>
            </a:r>
            <a:r>
              <a:rPr lang="en-US" altLang="zh-CN" sz="2000" b="1" dirty="0" err="1">
                <a:solidFill>
                  <a:srgbClr val="020202"/>
                </a:solidFill>
                <a:latin typeface="Courier New" panose="02070309020205020404" pitchFamily="49" charset="0"/>
                <a:cs typeface="Courier New" panose="02070309020205020404" pitchFamily="49" charset="0"/>
              </a:rPr>
              <a:t>Dynamic_class_A</a:t>
            </a:r>
            <a:r>
              <a:rPr lang="en-US" altLang="zh-CN" sz="2000" b="1" dirty="0">
                <a:solidFill>
                  <a:srgbClr val="020202"/>
                </a:solidFill>
                <a:latin typeface="Courier New" panose="02070309020205020404" pitchFamily="49" charset="0"/>
                <a:cs typeface="Courier New" panose="02070309020205020404" pitchFamily="49" charset="0"/>
              </a:rPr>
              <a:t>:  m2_A_A(p,3);</a:t>
            </a:r>
            <a:endParaRPr lang="en-US" altLang="zh-CN" sz="2000" b="1" dirty="0">
              <a:solidFill>
                <a:srgbClr val="020202"/>
              </a:solidFill>
              <a:latin typeface="Courier New" panose="02070309020205020404" pitchFamily="49" charset="0"/>
              <a:cs typeface="Courier New" panose="02070309020205020404" pitchFamily="49" charset="0"/>
            </a:endParaRPr>
          </a:p>
          <a:p>
            <a:pPr>
              <a:lnSpc>
                <a:spcPct val="120000"/>
              </a:lnSpc>
              <a:spcBef>
                <a:spcPct val="0"/>
              </a:spcBef>
            </a:pPr>
            <a:r>
              <a:rPr lang="en-US" altLang="zh-CN" sz="2000" b="1" dirty="0">
                <a:solidFill>
                  <a:srgbClr val="020202"/>
                </a:solidFill>
                <a:latin typeface="Courier New" panose="02070309020205020404" pitchFamily="49" charset="0"/>
                <a:cs typeface="Courier New" panose="02070309020205020404" pitchFamily="49" charset="0"/>
              </a:rPr>
              <a:t>		case </a:t>
            </a:r>
            <a:r>
              <a:rPr lang="en-US" altLang="zh-CN" sz="2000" b="1" dirty="0" err="1">
                <a:solidFill>
                  <a:srgbClr val="020202"/>
                </a:solidFill>
                <a:latin typeface="Courier New" panose="02070309020205020404" pitchFamily="49" charset="0"/>
                <a:cs typeface="Courier New" panose="02070309020205020404" pitchFamily="49" charset="0"/>
                <a:hlinkClick r:id="rId1" action="ppaction://hlinksldjump"/>
              </a:rPr>
              <a:t>Dynamic_class_B</a:t>
            </a:r>
            <a:r>
              <a:rPr lang="en-US" altLang="zh-CN" sz="2000" b="1" dirty="0">
                <a:solidFill>
                  <a:srgbClr val="020202"/>
                </a:solidFill>
                <a:latin typeface="Courier New" panose="02070309020205020404" pitchFamily="49" charset="0"/>
                <a:cs typeface="Courier New" panose="02070309020205020404" pitchFamily="49" charset="0"/>
              </a:rPr>
              <a:t>: </a:t>
            </a:r>
            <a:endParaRPr lang="en-US" altLang="zh-CN" sz="2000" b="1" dirty="0">
              <a:solidFill>
                <a:srgbClr val="020202"/>
              </a:solidFill>
              <a:latin typeface="Courier New" panose="02070309020205020404" pitchFamily="49" charset="0"/>
              <a:cs typeface="Courier New" panose="02070309020205020404" pitchFamily="49" charset="0"/>
            </a:endParaRPr>
          </a:p>
          <a:p>
            <a:pPr lvl="1">
              <a:lnSpc>
                <a:spcPct val="120000"/>
              </a:lnSpc>
              <a:spcBef>
                <a:spcPct val="0"/>
              </a:spcBef>
            </a:pPr>
            <a:r>
              <a:rPr lang="en-US" altLang="zh-CN" sz="2000" b="1" dirty="0">
                <a:solidFill>
                  <a:srgbClr val="020202"/>
                </a:solidFill>
                <a:latin typeface="Courier New" panose="02070309020205020404" pitchFamily="49" charset="0"/>
                <a:cs typeface="Courier New" panose="02070309020205020404" pitchFamily="49" charset="0"/>
              </a:rPr>
              <a:t>		m2_A_B(</a:t>
            </a:r>
            <a:r>
              <a:rPr lang="en-US" altLang="zh-CN" sz="2000" b="1" dirty="0" err="1">
                <a:solidFill>
                  <a:srgbClr val="020202"/>
                </a:solidFill>
                <a:latin typeface="Courier New" panose="02070309020205020404" pitchFamily="49" charset="0"/>
                <a:cs typeface="Courier New" panose="02070309020205020404" pitchFamily="49" charset="0"/>
              </a:rPr>
              <a:t>convert_ptr_to_A_to_ptr_to_B</a:t>
            </a:r>
            <a:r>
              <a:rPr lang="en-US" altLang="zh-CN" sz="2000" b="1" dirty="0">
                <a:solidFill>
                  <a:srgbClr val="020202"/>
                </a:solidFill>
                <a:latin typeface="Courier New" panose="02070309020205020404" pitchFamily="49" charset="0"/>
                <a:cs typeface="Courier New" panose="02070309020205020404" pitchFamily="49" charset="0"/>
              </a:rPr>
              <a:t>(p),3);</a:t>
            </a:r>
            <a:endParaRPr lang="en-US" altLang="zh-CN" sz="2000" b="1" dirty="0">
              <a:solidFill>
                <a:srgbClr val="020202"/>
              </a:solidFill>
              <a:latin typeface="Courier New" panose="02070309020205020404" pitchFamily="49" charset="0"/>
              <a:cs typeface="Courier New" panose="02070309020205020404" pitchFamily="49" charset="0"/>
            </a:endParaRPr>
          </a:p>
          <a:p>
            <a:pPr lvl="1">
              <a:lnSpc>
                <a:spcPct val="120000"/>
              </a:lnSpc>
              <a:spcBef>
                <a:spcPct val="0"/>
              </a:spcBef>
            </a:pPr>
            <a:r>
              <a:rPr lang="en-US" altLang="zh-CN" sz="2000" b="1" dirty="0">
                <a:solidFill>
                  <a:srgbClr val="020202"/>
                </a:solidFill>
                <a:latin typeface="Courier New" panose="02070309020205020404" pitchFamily="49" charset="0"/>
                <a:cs typeface="Courier New" panose="02070309020205020404" pitchFamily="49" charset="0"/>
              </a:rPr>
              <a:t>}</a:t>
            </a:r>
            <a:endParaRPr lang="en-US" altLang="zh-CN" sz="2400" b="1" dirty="0">
              <a:solidFill>
                <a:srgbClr val="020202"/>
              </a:solidFill>
              <a:latin typeface="+mn-ea"/>
            </a:endParaRPr>
          </a:p>
          <a:p>
            <a:pPr marL="800100" lvl="1" indent="-342900">
              <a:lnSpc>
                <a:spcPct val="120000"/>
              </a:lnSpc>
              <a:buFont typeface="Wingdings" panose="05000000000000000000" charset="0"/>
              <a:buChar char="p"/>
            </a:pPr>
            <a:r>
              <a:rPr lang="zh-CN" altLang="en-US" sz="2400" b="1" dirty="0">
                <a:solidFill>
                  <a:srgbClr val="020202"/>
                </a:solidFill>
                <a:latin typeface="+mn-ea"/>
              </a:rPr>
              <a:t>当</a:t>
            </a:r>
            <a:r>
              <a:rPr lang="en-US" altLang="zh-CN" sz="2400" b="1" dirty="0">
                <a:solidFill>
                  <a:srgbClr val="020202"/>
                </a:solidFill>
                <a:latin typeface="+mn-ea"/>
              </a:rPr>
              <a:t>p</a:t>
            </a:r>
            <a:r>
              <a:rPr lang="zh-CN" altLang="en-US" sz="2400" b="1" dirty="0">
                <a:solidFill>
                  <a:srgbClr val="020202"/>
                </a:solidFill>
                <a:latin typeface="+mn-ea"/>
              </a:rPr>
              <a:t>为一指向类</a:t>
            </a:r>
            <a:r>
              <a:rPr lang="en-US" altLang="zh-CN" sz="2400" b="1" dirty="0">
                <a:solidFill>
                  <a:srgbClr val="020202"/>
                </a:solidFill>
                <a:latin typeface="+mn-ea"/>
              </a:rPr>
              <a:t>B</a:t>
            </a:r>
            <a:r>
              <a:rPr lang="zh-CN" altLang="en-US" sz="2400" b="1" dirty="0">
                <a:solidFill>
                  <a:srgbClr val="020202"/>
                </a:solidFill>
                <a:latin typeface="+mn-ea"/>
              </a:rPr>
              <a:t>对象指针时，可以将</a:t>
            </a:r>
            <a:r>
              <a:rPr lang="en-US" altLang="zh-CN" sz="2400" b="1" dirty="0">
                <a:solidFill>
                  <a:srgbClr val="020202"/>
                </a:solidFill>
                <a:latin typeface="+mn-ea"/>
              </a:rPr>
              <a:t>p-&gt;m2(3)</a:t>
            </a:r>
            <a:r>
              <a:rPr lang="zh-CN" altLang="en-US" sz="2400" b="1" dirty="0">
                <a:solidFill>
                  <a:srgbClr val="020202"/>
                </a:solidFill>
                <a:latin typeface="+mn-ea"/>
              </a:rPr>
              <a:t> 翻译为：</a:t>
            </a:r>
            <a:r>
              <a:rPr lang="en-US" altLang="zh-CN" sz="2400" b="1" dirty="0">
                <a:solidFill>
                  <a:srgbClr val="020202"/>
                </a:solidFill>
                <a:latin typeface="+mn-ea"/>
              </a:rPr>
              <a:t>m2_A_B(p,3);</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arn(inHorizontal)">
                                      <p:cBhvr>
                                        <p:cTn id="7"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91465" y="276860"/>
            <a:ext cx="7202805" cy="593090"/>
          </a:xfrm>
        </p:spPr>
        <p:txBody>
          <a:bodyPr/>
          <a:lstStyle/>
          <a:p>
            <a:r>
              <a:rPr lang="en-US" altLang="zh-CN" dirty="0"/>
              <a:t>7.3 </a:t>
            </a:r>
            <a:r>
              <a:rPr lang="zh-CN" altLang="en-US" dirty="0"/>
              <a:t>动态存储器</a:t>
            </a:r>
            <a:endParaRPr lang="zh-CN" altLang="en-US" dirty="0"/>
          </a:p>
        </p:txBody>
      </p:sp>
      <p:sp useBgFill="1">
        <p:nvSpPr>
          <p:cNvPr id="4" name="Rectangle 2"/>
          <p:cNvSpPr>
            <a:spLocks noChangeArrowheads="1"/>
          </p:cNvSpPr>
          <p:nvPr/>
        </p:nvSpPr>
        <p:spPr bwMode="auto">
          <a:xfrm>
            <a:off x="7138988" y="2948916"/>
            <a:ext cx="2743200" cy="2667000"/>
          </a:xfrm>
          <a:prstGeom prst="rect">
            <a:avLst/>
          </a:prstGeom>
          <a:ln w="9525">
            <a:solidFill>
              <a:srgbClr val="020202"/>
            </a:solidFill>
            <a:prstDash val="dash"/>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90000"/>
              </a:lnSpc>
              <a:spcBef>
                <a:spcPct val="20000"/>
              </a:spcBef>
              <a:buClr>
                <a:schemeClr val="accent2"/>
              </a:buClr>
              <a:buFont typeface="Wingdings" panose="05000000000000000000" pitchFamily="2" charset="2"/>
              <a:buChar char="•"/>
            </a:pPr>
            <a:endParaRPr lang="zh-CN" altLang="en-US" sz="2400">
              <a:latin typeface="+mn-ea"/>
              <a:ea typeface="+mn-ea"/>
            </a:endParaRPr>
          </a:p>
        </p:txBody>
      </p:sp>
      <p:sp useBgFill="1">
        <p:nvSpPr>
          <p:cNvPr id="5" name="Rectangle 3"/>
          <p:cNvSpPr>
            <a:spLocks noChangeArrowheads="1"/>
          </p:cNvSpPr>
          <p:nvPr/>
        </p:nvSpPr>
        <p:spPr bwMode="auto">
          <a:xfrm>
            <a:off x="3938588" y="2948916"/>
            <a:ext cx="2743200" cy="2667000"/>
          </a:xfrm>
          <a:prstGeom prst="rect">
            <a:avLst/>
          </a:prstGeom>
          <a:ln w="9525">
            <a:solidFill>
              <a:srgbClr val="020202"/>
            </a:solidFill>
            <a:prstDash val="dash"/>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90000"/>
              </a:lnSpc>
              <a:spcBef>
                <a:spcPct val="20000"/>
              </a:spcBef>
              <a:buClr>
                <a:schemeClr val="accent2"/>
              </a:buClr>
              <a:buFont typeface="Wingdings" panose="05000000000000000000" pitchFamily="2" charset="2"/>
              <a:buChar char="•"/>
            </a:pPr>
            <a:endParaRPr lang="zh-CN" altLang="en-US" sz="2400">
              <a:latin typeface="+mn-ea"/>
              <a:ea typeface="+mn-ea"/>
            </a:endParaRPr>
          </a:p>
        </p:txBody>
      </p:sp>
      <p:sp>
        <p:nvSpPr>
          <p:cNvPr id="6" name="Rectangle 4"/>
          <p:cNvSpPr>
            <a:spLocks noChangeArrowheads="1"/>
          </p:cNvSpPr>
          <p:nvPr/>
        </p:nvSpPr>
        <p:spPr bwMode="auto">
          <a:xfrm>
            <a:off x="597535" y="1294130"/>
            <a:ext cx="11195685"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400" b="1" dirty="0">
                <a:solidFill>
                  <a:srgbClr val="020202"/>
                </a:solidFill>
                <a:latin typeface="+mn-ea"/>
                <a:ea typeface="+mn-ea"/>
              </a:rPr>
              <a:t>对于上述的翻译方法，每一个对象的类型信息实现为一个指向分派表的指针，如下图所示</a:t>
            </a:r>
            <a:r>
              <a:rPr lang="zh-CN" altLang="en-US" sz="2400" b="1" dirty="0">
                <a:solidFill>
                  <a:srgbClr val="020202"/>
                </a:solidFill>
                <a:latin typeface="+mn-ea"/>
                <a:ea typeface="+mn-ea"/>
                <a:sym typeface="Wingdings" panose="05000000000000000000" pitchFamily="2" charset="2"/>
              </a:rPr>
              <a:t>(分派表是存储方法地址的记录，下图分派表存储的是方法</a:t>
            </a:r>
            <a:r>
              <a:rPr lang="en-US" altLang="zh-CN" sz="2400" b="1" dirty="0">
                <a:solidFill>
                  <a:srgbClr val="020202"/>
                </a:solidFill>
                <a:latin typeface="+mn-ea"/>
                <a:ea typeface="+mn-ea"/>
                <a:sym typeface="Wingdings" panose="05000000000000000000" pitchFamily="2" charset="2"/>
              </a:rPr>
              <a:t>m1_A_A， m2_A_B</a:t>
            </a:r>
            <a:r>
              <a:rPr lang="zh-CN" altLang="en-US" sz="2400" b="1" dirty="0">
                <a:solidFill>
                  <a:srgbClr val="020202"/>
                </a:solidFill>
                <a:latin typeface="+mn-ea"/>
                <a:ea typeface="+mn-ea"/>
                <a:sym typeface="Wingdings" panose="05000000000000000000" pitchFamily="2" charset="2"/>
              </a:rPr>
              <a:t>和 </a:t>
            </a:r>
            <a:r>
              <a:rPr lang="en-US" altLang="zh-CN" sz="2400" b="1" dirty="0">
                <a:solidFill>
                  <a:srgbClr val="020202"/>
                </a:solidFill>
                <a:latin typeface="+mn-ea"/>
                <a:ea typeface="+mn-ea"/>
                <a:sym typeface="Wingdings" panose="05000000000000000000" pitchFamily="2" charset="2"/>
              </a:rPr>
              <a:t>m1_B_B</a:t>
            </a:r>
            <a:r>
              <a:rPr lang="zh-CN" altLang="en-US" sz="2400" b="1" dirty="0">
                <a:solidFill>
                  <a:srgbClr val="020202"/>
                </a:solidFill>
                <a:latin typeface="+mn-ea"/>
                <a:ea typeface="+mn-ea"/>
                <a:sym typeface="Wingdings" panose="05000000000000000000" pitchFamily="2" charset="2"/>
              </a:rPr>
              <a:t>的地址)</a:t>
            </a:r>
            <a:endParaRPr lang="zh-CN" altLang="en-US" sz="2400" b="1" dirty="0">
              <a:solidFill>
                <a:srgbClr val="020202"/>
              </a:solidFill>
              <a:latin typeface="+mn-ea"/>
              <a:ea typeface="+mn-ea"/>
              <a:sym typeface="Wingdings" panose="05000000000000000000" pitchFamily="2" charset="2"/>
            </a:endParaRPr>
          </a:p>
        </p:txBody>
      </p:sp>
      <p:sp useBgFill="1">
        <p:nvSpPr>
          <p:cNvPr id="7" name="Rectangle 5"/>
          <p:cNvSpPr>
            <a:spLocks noChangeArrowheads="1"/>
          </p:cNvSpPr>
          <p:nvPr/>
        </p:nvSpPr>
        <p:spPr bwMode="auto">
          <a:xfrm>
            <a:off x="4324350" y="38061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a1</a:t>
            </a:r>
            <a:endParaRPr lang="zh-CN" altLang="en-US" sz="2400" b="1">
              <a:solidFill>
                <a:srgbClr val="020202"/>
              </a:solidFill>
              <a:latin typeface="+mn-ea"/>
              <a:ea typeface="+mn-ea"/>
            </a:endParaRPr>
          </a:p>
        </p:txBody>
      </p:sp>
      <p:sp useBgFill="1">
        <p:nvSpPr>
          <p:cNvPr id="8" name="Rectangle 6"/>
          <p:cNvSpPr>
            <a:spLocks noChangeArrowheads="1"/>
          </p:cNvSpPr>
          <p:nvPr/>
        </p:nvSpPr>
        <p:spPr bwMode="auto">
          <a:xfrm>
            <a:off x="4324350" y="42633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a2</a:t>
            </a:r>
            <a:endParaRPr lang="zh-CN" altLang="en-US" sz="2400" b="1">
              <a:solidFill>
                <a:srgbClr val="020202"/>
              </a:solidFill>
              <a:latin typeface="+mn-ea"/>
              <a:ea typeface="+mn-ea"/>
            </a:endParaRPr>
          </a:p>
        </p:txBody>
      </p:sp>
      <p:sp useBgFill="1">
        <p:nvSpPr>
          <p:cNvPr id="9" name="Rectangle 7"/>
          <p:cNvSpPr>
            <a:spLocks noChangeArrowheads="1"/>
          </p:cNvSpPr>
          <p:nvPr/>
        </p:nvSpPr>
        <p:spPr bwMode="auto">
          <a:xfrm>
            <a:off x="4319588" y="470151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b1</a:t>
            </a:r>
            <a:endParaRPr lang="zh-CN" altLang="en-US" sz="2400" b="1">
              <a:solidFill>
                <a:srgbClr val="020202"/>
              </a:solidFill>
              <a:latin typeface="+mn-ea"/>
              <a:ea typeface="+mn-ea"/>
            </a:endParaRPr>
          </a:p>
        </p:txBody>
      </p:sp>
      <p:sp>
        <p:nvSpPr>
          <p:cNvPr id="10" name="Line 8"/>
          <p:cNvSpPr>
            <a:spLocks noChangeShapeType="1"/>
          </p:cNvSpPr>
          <p:nvPr/>
        </p:nvSpPr>
        <p:spPr bwMode="auto">
          <a:xfrm>
            <a:off x="2109788" y="4015716"/>
            <a:ext cx="25146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1" name="Rectangle 9"/>
          <p:cNvSpPr>
            <a:spLocks noChangeArrowheads="1"/>
          </p:cNvSpPr>
          <p:nvPr/>
        </p:nvSpPr>
        <p:spPr bwMode="auto">
          <a:xfrm>
            <a:off x="2109788" y="3101316"/>
            <a:ext cx="1891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指向</a:t>
            </a:r>
            <a:r>
              <a:rPr lang="en-US" altLang="zh-CN" sz="2400" b="1">
                <a:solidFill>
                  <a:srgbClr val="020202"/>
                </a:solidFill>
                <a:latin typeface="+mn-ea"/>
                <a:ea typeface="+mn-ea"/>
              </a:rPr>
              <a:t>B</a:t>
            </a:r>
            <a:r>
              <a:rPr lang="zh-CN" altLang="en-US" sz="2400" b="1">
                <a:solidFill>
                  <a:srgbClr val="020202"/>
                </a:solidFill>
                <a:latin typeface="+mn-ea"/>
                <a:ea typeface="+mn-ea"/>
              </a:rPr>
              <a:t>的指针</a:t>
            </a:r>
            <a:endParaRPr lang="zh-CN" altLang="en-US" sz="2400" b="1">
              <a:solidFill>
                <a:srgbClr val="020202"/>
              </a:solidFill>
              <a:latin typeface="+mn-ea"/>
              <a:ea typeface="+mn-ea"/>
            </a:endParaRPr>
          </a:p>
        </p:txBody>
      </p:sp>
      <p:sp>
        <p:nvSpPr>
          <p:cNvPr id="13" name="Rectangle 10"/>
          <p:cNvSpPr>
            <a:spLocks noChangeArrowheads="1"/>
          </p:cNvSpPr>
          <p:nvPr/>
        </p:nvSpPr>
        <p:spPr bwMode="auto">
          <a:xfrm>
            <a:off x="1881188" y="3558516"/>
            <a:ext cx="2400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指向</a:t>
            </a:r>
            <a:r>
              <a:rPr lang="en-US" altLang="zh-CN" sz="2400" b="1">
                <a:solidFill>
                  <a:srgbClr val="020202"/>
                </a:solidFill>
                <a:latin typeface="+mn-ea"/>
                <a:ea typeface="+mn-ea"/>
              </a:rPr>
              <a:t>B</a:t>
            </a:r>
            <a:r>
              <a:rPr lang="zh-CN" altLang="en-US" sz="2400" b="1">
                <a:solidFill>
                  <a:srgbClr val="020202"/>
                </a:solidFill>
                <a:latin typeface="+mn-ea"/>
                <a:ea typeface="+mn-ea"/>
              </a:rPr>
              <a:t>中</a:t>
            </a:r>
            <a:r>
              <a:rPr lang="en-US" altLang="zh-CN" sz="2400" b="1">
                <a:solidFill>
                  <a:srgbClr val="020202"/>
                </a:solidFill>
                <a:latin typeface="+mn-ea"/>
                <a:ea typeface="+mn-ea"/>
              </a:rPr>
              <a:t>A</a:t>
            </a:r>
            <a:r>
              <a:rPr lang="zh-CN" altLang="en-US" sz="2400" b="1">
                <a:solidFill>
                  <a:srgbClr val="020202"/>
                </a:solidFill>
                <a:latin typeface="+mn-ea"/>
                <a:ea typeface="+mn-ea"/>
              </a:rPr>
              <a:t>的指针</a:t>
            </a:r>
            <a:endParaRPr lang="zh-CN" altLang="en-US" sz="2400" b="1">
              <a:solidFill>
                <a:srgbClr val="020202"/>
              </a:solidFill>
              <a:latin typeface="+mn-ea"/>
              <a:ea typeface="+mn-ea"/>
            </a:endParaRPr>
          </a:p>
        </p:txBody>
      </p:sp>
      <p:sp useBgFill="1">
        <p:nvSpPr>
          <p:cNvPr id="15" name="Rectangle 11"/>
          <p:cNvSpPr>
            <a:spLocks noChangeArrowheads="1"/>
          </p:cNvSpPr>
          <p:nvPr/>
        </p:nvSpPr>
        <p:spPr bwMode="auto">
          <a:xfrm>
            <a:off x="7443788" y="33870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16" name="Rectangle 12"/>
          <p:cNvSpPr>
            <a:spLocks noChangeArrowheads="1"/>
          </p:cNvSpPr>
          <p:nvPr/>
        </p:nvSpPr>
        <p:spPr bwMode="auto">
          <a:xfrm>
            <a:off x="7443788" y="38442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m2_A_B</a:t>
            </a:r>
            <a:endParaRPr lang="zh-CN" altLang="en-US" sz="2400" b="1">
              <a:solidFill>
                <a:srgbClr val="020202"/>
              </a:solidFill>
              <a:latin typeface="+mn-ea"/>
              <a:ea typeface="+mn-ea"/>
            </a:endParaRPr>
          </a:p>
        </p:txBody>
      </p:sp>
      <p:sp useBgFill="1">
        <p:nvSpPr>
          <p:cNvPr id="17" name="Rectangle 13"/>
          <p:cNvSpPr>
            <a:spLocks noChangeArrowheads="1"/>
          </p:cNvSpPr>
          <p:nvPr/>
        </p:nvSpPr>
        <p:spPr bwMode="auto">
          <a:xfrm>
            <a:off x="7443788" y="43014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m3_B_B</a:t>
            </a:r>
            <a:endParaRPr lang="zh-CN" altLang="en-US" sz="2400" b="1">
              <a:solidFill>
                <a:srgbClr val="020202"/>
              </a:solidFill>
              <a:latin typeface="+mn-ea"/>
              <a:ea typeface="+mn-ea"/>
            </a:endParaRPr>
          </a:p>
        </p:txBody>
      </p:sp>
      <p:sp>
        <p:nvSpPr>
          <p:cNvPr id="18" name="Rectangle 14"/>
          <p:cNvSpPr>
            <a:spLocks noChangeArrowheads="1"/>
          </p:cNvSpPr>
          <p:nvPr/>
        </p:nvSpPr>
        <p:spPr bwMode="auto">
          <a:xfrm>
            <a:off x="5538788" y="5844516"/>
            <a:ext cx="21958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类</a:t>
            </a:r>
            <a:r>
              <a:rPr lang="en-US" altLang="zh-CN" sz="2400" b="1">
                <a:solidFill>
                  <a:srgbClr val="020202"/>
                </a:solidFill>
                <a:latin typeface="+mn-ea"/>
                <a:ea typeface="+mn-ea"/>
              </a:rPr>
              <a:t>B</a:t>
            </a:r>
            <a:r>
              <a:rPr lang="zh-CN" altLang="en-US" sz="2400" b="1">
                <a:solidFill>
                  <a:srgbClr val="020202"/>
                </a:solidFill>
                <a:latin typeface="+mn-ea"/>
                <a:ea typeface="+mn-ea"/>
              </a:rPr>
              <a:t>对象的表示</a:t>
            </a:r>
            <a:endParaRPr lang="zh-CN" altLang="en-US" sz="2400" b="1">
              <a:solidFill>
                <a:srgbClr val="020202"/>
              </a:solidFill>
              <a:latin typeface="+mn-ea"/>
              <a:ea typeface="+mn-ea"/>
            </a:endParaRPr>
          </a:p>
        </p:txBody>
      </p:sp>
      <p:sp useBgFill="1">
        <p:nvSpPr>
          <p:cNvPr id="19" name="Rectangle 15"/>
          <p:cNvSpPr>
            <a:spLocks noChangeArrowheads="1"/>
          </p:cNvSpPr>
          <p:nvPr/>
        </p:nvSpPr>
        <p:spPr bwMode="auto">
          <a:xfrm>
            <a:off x="4319588" y="3344203"/>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400" b="1">
              <a:solidFill>
                <a:srgbClr val="020202"/>
              </a:solidFill>
              <a:latin typeface="+mn-ea"/>
              <a:ea typeface="+mn-ea"/>
            </a:endParaRPr>
          </a:p>
        </p:txBody>
      </p:sp>
      <p:sp>
        <p:nvSpPr>
          <p:cNvPr id="20" name="Line 16"/>
          <p:cNvSpPr>
            <a:spLocks noChangeShapeType="1"/>
          </p:cNvSpPr>
          <p:nvPr/>
        </p:nvSpPr>
        <p:spPr bwMode="auto">
          <a:xfrm>
            <a:off x="5995988" y="3558516"/>
            <a:ext cx="13716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1" name="Rectangle 17"/>
          <p:cNvSpPr>
            <a:spLocks noChangeArrowheads="1"/>
          </p:cNvSpPr>
          <p:nvPr/>
        </p:nvSpPr>
        <p:spPr bwMode="auto">
          <a:xfrm>
            <a:off x="7672388" y="2948916"/>
            <a:ext cx="1097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sym typeface="Wingdings" panose="05000000000000000000" pitchFamily="2" charset="2"/>
              </a:rPr>
              <a:t>分派表</a:t>
            </a:r>
            <a:endParaRPr lang="zh-CN" altLang="en-US" sz="2400" b="1">
              <a:solidFill>
                <a:srgbClr val="020202"/>
              </a:solidFill>
              <a:latin typeface="+mn-ea"/>
              <a:ea typeface="+mn-ea"/>
              <a:sym typeface="Wingdings" panose="05000000000000000000" pitchFamily="2" charset="2"/>
            </a:endParaRPr>
          </a:p>
        </p:txBody>
      </p:sp>
      <p:sp>
        <p:nvSpPr>
          <p:cNvPr id="22" name="Rectangle 18"/>
          <p:cNvSpPr>
            <a:spLocks noChangeArrowheads="1"/>
          </p:cNvSpPr>
          <p:nvPr/>
        </p:nvSpPr>
        <p:spPr bwMode="auto">
          <a:xfrm>
            <a:off x="4624388" y="5158716"/>
            <a:ext cx="13798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solidFill>
                  <a:srgbClr val="020202"/>
                </a:solidFill>
                <a:latin typeface="+mn-ea"/>
                <a:ea typeface="+mn-ea"/>
                <a:sym typeface="Wingdings" panose="05000000000000000000" pitchFamily="2" charset="2"/>
              </a:rPr>
              <a:t>B-object</a:t>
            </a:r>
            <a:endParaRPr lang="en-US" altLang="zh-CN" sz="2400" b="1">
              <a:solidFill>
                <a:srgbClr val="020202"/>
              </a:solidFill>
              <a:latin typeface="+mn-ea"/>
              <a:ea typeface="+mn-ea"/>
              <a:sym typeface="Wingdings" panose="05000000000000000000" pitchFamily="2" charset="2"/>
            </a:endParaRPr>
          </a:p>
        </p:txBody>
      </p:sp>
      <p:sp>
        <p:nvSpPr>
          <p:cNvPr id="23" name="Rectangle 19"/>
          <p:cNvSpPr>
            <a:spLocks noChangeArrowheads="1"/>
          </p:cNvSpPr>
          <p:nvPr/>
        </p:nvSpPr>
        <p:spPr bwMode="auto">
          <a:xfrm>
            <a:off x="7672388" y="5006316"/>
            <a:ext cx="11645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solidFill>
                  <a:srgbClr val="020202"/>
                </a:solidFill>
                <a:latin typeface="+mn-ea"/>
                <a:ea typeface="+mn-ea"/>
                <a:sym typeface="Wingdings" panose="05000000000000000000" pitchFamily="2" charset="2"/>
              </a:rPr>
              <a:t>B-class</a:t>
            </a:r>
            <a:endParaRPr lang="en-US" altLang="zh-CN" sz="2400" b="1">
              <a:solidFill>
                <a:srgbClr val="020202"/>
              </a:solidFill>
              <a:latin typeface="+mn-ea"/>
              <a:ea typeface="+mn-ea"/>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Horizontal)">
                                      <p:cBhvr>
                                        <p:cTn id="12" dur="500"/>
                                        <p:tgtEl>
                                          <p:spTgt spid="4"/>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Horizontal)">
                                      <p:cBhvr>
                                        <p:cTn id="15" dur="500"/>
                                        <p:tgtEl>
                                          <p:spTgt spid="15"/>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arn(inHorizontal)">
                                      <p:cBhvr>
                                        <p:cTn id="18" dur="500"/>
                                        <p:tgtEl>
                                          <p:spTgt spid="16"/>
                                        </p:tgtEl>
                                      </p:cBhvr>
                                    </p:animEffect>
                                  </p:childTnLst>
                                </p:cTn>
                              </p:par>
                              <p:par>
                                <p:cTn id="19" presetID="16" presetClass="entr" presetSubtype="26"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Horizontal)">
                                      <p:cBhvr>
                                        <p:cTn id="21" dur="500"/>
                                        <p:tgtEl>
                                          <p:spTgt spid="17"/>
                                        </p:tgtEl>
                                      </p:cBhvr>
                                    </p:animEffect>
                                  </p:childTnLst>
                                </p:cTn>
                              </p:par>
                              <p:par>
                                <p:cTn id="22" presetID="16" presetClass="entr" presetSubtype="2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arn(inHorizontal)">
                                      <p:cBhvr>
                                        <p:cTn id="24" dur="500"/>
                                        <p:tgtEl>
                                          <p:spTgt spid="21"/>
                                        </p:tgtEl>
                                      </p:cBhvr>
                                    </p:animEffect>
                                  </p:childTnLst>
                                </p:cTn>
                              </p:par>
                              <p:par>
                                <p:cTn id="25" presetID="16" presetClass="entr" presetSubtype="26"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arn(inHorizontal)">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5" grpId="0" bldLvl="0" animBg="1"/>
      <p:bldP spid="16" grpId="0" bldLvl="0" animBg="1"/>
      <p:bldP spid="17" grpId="0" bldLvl="0" animBg="1"/>
      <p:bldP spid="21"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14483" y="1357630"/>
            <a:ext cx="718185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灯片编号占位符 5"/>
          <p:cNvSpPr txBox="1">
            <a:spLocks noGrp="1" noChangeArrowheads="1"/>
          </p:cNvSpPr>
          <p:nvPr/>
        </p:nvSpPr>
        <p:spPr bwMode="auto">
          <a:xfrm>
            <a:off x="8077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eaLnBrk="1" hangingPunct="1"/>
            <a:fld id="{BB1907F7-6C80-4020-A234-9DBED5947257}" type="slidenum">
              <a:rPr lang="zh-CN" altLang="en-US" sz="2000" b="1">
                <a:latin typeface="Courier New" panose="02070309020205020404" pitchFamily="49" charset="0"/>
                <a:cs typeface="Courier New" panose="02070309020205020404" pitchFamily="49" charset="0"/>
              </a:rPr>
            </a:fld>
            <a:endParaRPr lang="zh-CN" altLang="en-US" sz="2000" b="1">
              <a:latin typeface="Courier New" panose="02070309020205020404" pitchFamily="49" charset="0"/>
              <a:cs typeface="Courier New" panose="02070309020205020404" pitchFamily="49" charset="0"/>
            </a:endParaRPr>
          </a:p>
        </p:txBody>
      </p:sp>
      <p:sp>
        <p:nvSpPr>
          <p:cNvPr id="28" name="AutoShape 4"/>
          <p:cNvSpPr>
            <a:spLocks noChangeArrowheads="1"/>
          </p:cNvSpPr>
          <p:nvPr/>
        </p:nvSpPr>
        <p:spPr bwMode="auto">
          <a:xfrm flipV="1">
            <a:off x="10450195" y="5791518"/>
            <a:ext cx="503238" cy="215900"/>
          </a:xfrm>
          <a:prstGeom prst="curvedDownArrow">
            <a:avLst>
              <a:gd name="adj1" fmla="val 46618"/>
              <a:gd name="adj2" fmla="val 93235"/>
              <a:gd name="adj3" fmla="val 33315"/>
            </a:avLst>
          </a:prstGeom>
          <a:noFill/>
          <a:ln w="12700">
            <a:solidFill>
              <a:schemeClr val="hlink"/>
            </a:solidFill>
            <a:prstDash val="sysDot"/>
            <a:miter lim="800000"/>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eaLnBrk="1" hangingPunct="1">
              <a:lnSpc>
                <a:spcPct val="75000"/>
              </a:lnSpc>
              <a:spcBef>
                <a:spcPct val="20000"/>
              </a:spcBef>
              <a:buClr>
                <a:schemeClr val="accent2"/>
              </a:buClr>
            </a:pPr>
            <a:endParaRPr lang="zh-CN" altLang="en-US" sz="2000" b="1">
              <a:latin typeface="Courier New" panose="02070309020205020404" pitchFamily="49" charset="0"/>
              <a:cs typeface="Courier New" panose="02070309020205020404" pitchFamily="49" charset="0"/>
            </a:endParaRPr>
          </a:p>
        </p:txBody>
      </p:sp>
      <p:grpSp>
        <p:nvGrpSpPr>
          <p:cNvPr id="29" name="组合 28"/>
          <p:cNvGrpSpPr/>
          <p:nvPr/>
        </p:nvGrpSpPr>
        <p:grpSpPr bwMode="auto">
          <a:xfrm>
            <a:off x="6067108" y="2640330"/>
            <a:ext cx="3143250" cy="1395413"/>
            <a:chOff x="3068638" y="2654759"/>
            <a:chExt cx="3143250" cy="1394501"/>
          </a:xfrm>
        </p:grpSpPr>
        <p:sp>
          <p:nvSpPr>
            <p:cNvPr id="30" name="矩形 8"/>
            <p:cNvSpPr>
              <a:spLocks noChangeArrowheads="1"/>
            </p:cNvSpPr>
            <p:nvPr/>
          </p:nvSpPr>
          <p:spPr bwMode="auto">
            <a:xfrm>
              <a:off x="3089275" y="2654759"/>
              <a:ext cx="3122613" cy="785813"/>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1" name="矩形 9"/>
            <p:cNvSpPr>
              <a:spLocks noChangeArrowheads="1"/>
            </p:cNvSpPr>
            <p:nvPr/>
          </p:nvSpPr>
          <p:spPr bwMode="auto">
            <a:xfrm>
              <a:off x="3068638" y="3763510"/>
              <a:ext cx="3143250" cy="285750"/>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grpSp>
      <p:sp>
        <p:nvSpPr>
          <p:cNvPr id="32" name="Rectangle 7"/>
          <p:cNvSpPr>
            <a:spLocks noChangeArrowheads="1"/>
          </p:cNvSpPr>
          <p:nvPr/>
        </p:nvSpPr>
        <p:spPr bwMode="auto">
          <a:xfrm>
            <a:off x="3244532" y="1334719"/>
            <a:ext cx="29260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b="1">
                <a:latin typeface="Courier New" panose="02070309020205020404" pitchFamily="49" charset="0"/>
                <a:cs typeface="Courier New" panose="02070309020205020404" pitchFamily="49" charset="0"/>
              </a:rPr>
              <a:t>FacultyMemeber  m;</a:t>
            </a:r>
            <a:endParaRPr lang="en-US" altLang="zh-CN" sz="2000" b="1">
              <a:latin typeface="Courier New" panose="02070309020205020404" pitchFamily="49" charset="0"/>
              <a:cs typeface="Courier New" panose="02070309020205020404" pitchFamily="49" charset="0"/>
            </a:endParaRPr>
          </a:p>
        </p:txBody>
      </p:sp>
      <p:sp>
        <p:nvSpPr>
          <p:cNvPr id="33" name="Rectangle 7"/>
          <p:cNvSpPr>
            <a:spLocks noChangeArrowheads="1"/>
          </p:cNvSpPr>
          <p:nvPr/>
        </p:nvSpPr>
        <p:spPr bwMode="auto">
          <a:xfrm>
            <a:off x="9284970" y="1343343"/>
            <a:ext cx="221456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b="1">
                <a:latin typeface="Courier New" panose="02070309020205020404" pitchFamily="49" charset="0"/>
                <a:cs typeface="Courier New" panose="02070309020205020404" pitchFamily="49" charset="0"/>
              </a:rPr>
              <a:t>m.toString ();</a:t>
            </a:r>
            <a:endParaRPr lang="en-US" altLang="zh-CN" sz="2000" b="1">
              <a:latin typeface="Courier New" panose="02070309020205020404" pitchFamily="49" charset="0"/>
              <a:cs typeface="Courier New" panose="02070309020205020404" pitchFamily="49" charset="0"/>
            </a:endParaRPr>
          </a:p>
        </p:txBody>
      </p:sp>
      <p:sp>
        <p:nvSpPr>
          <p:cNvPr id="34" name="AutoShape 9"/>
          <p:cNvSpPr>
            <a:spLocks noChangeArrowheads="1"/>
          </p:cNvSpPr>
          <p:nvPr/>
        </p:nvSpPr>
        <p:spPr bwMode="auto">
          <a:xfrm>
            <a:off x="8977554" y="3194345"/>
            <a:ext cx="2985668" cy="978973"/>
          </a:xfrm>
          <a:prstGeom prst="cloudCallout">
            <a:avLst>
              <a:gd name="adj1" fmla="val -6629"/>
              <a:gd name="adj2" fmla="val -161823"/>
            </a:avLst>
          </a:prstGeom>
          <a:solidFill>
            <a:schemeClr val="bg2"/>
          </a:solidFill>
          <a:ln w="9525">
            <a:solidFill>
              <a:schemeClr val="tx1"/>
            </a:solidFill>
            <a:round/>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lnSpc>
                <a:spcPct val="90000"/>
              </a:lnSpc>
              <a:spcBef>
                <a:spcPct val="20000"/>
              </a:spcBef>
              <a:buClr>
                <a:schemeClr val="accent2"/>
              </a:buClr>
            </a:pPr>
            <a:r>
              <a:rPr lang="en-US" altLang="zh-CN" sz="2000" b="1" dirty="0">
                <a:solidFill>
                  <a:srgbClr val="FF0066"/>
                </a:solidFill>
                <a:latin typeface="Courier New" panose="02070309020205020404" pitchFamily="49" charset="0"/>
                <a:cs typeface="Courier New" panose="02070309020205020404" pitchFamily="49" charset="0"/>
              </a:rPr>
              <a:t>Polymorphic method call</a:t>
            </a:r>
            <a:endParaRPr lang="en-US" altLang="zh-CN" sz="2000" b="1" dirty="0">
              <a:solidFill>
                <a:srgbClr val="FF0066"/>
              </a:solidFill>
              <a:latin typeface="Courier New" panose="02070309020205020404" pitchFamily="49" charset="0"/>
              <a:cs typeface="Courier New" panose="02070309020205020404" pitchFamily="49" charset="0"/>
            </a:endParaRPr>
          </a:p>
          <a:p>
            <a:pPr algn="ctr" eaLnBrk="1" hangingPunct="1">
              <a:lnSpc>
                <a:spcPct val="90000"/>
              </a:lnSpc>
              <a:spcBef>
                <a:spcPct val="20000"/>
              </a:spcBef>
              <a:buClr>
                <a:schemeClr val="accent2"/>
              </a:buClr>
            </a:pPr>
            <a:endParaRPr lang="zh-CN" altLang="en-US" sz="2000" b="1" dirty="0">
              <a:latin typeface="Courier New" panose="02070309020205020404" pitchFamily="49" charset="0"/>
              <a:ea typeface="方正舒体" panose="02010601030101010101" pitchFamily="2" charset="-122"/>
              <a:cs typeface="Courier New" panose="02070309020205020404" pitchFamily="49" charset="0"/>
            </a:endParaRPr>
          </a:p>
        </p:txBody>
      </p:sp>
      <p:sp>
        <p:nvSpPr>
          <p:cNvPr id="35" name="矩形 34"/>
          <p:cNvSpPr>
            <a:spLocks noChangeArrowheads="1"/>
          </p:cNvSpPr>
          <p:nvPr/>
        </p:nvSpPr>
        <p:spPr bwMode="auto">
          <a:xfrm>
            <a:off x="6075045" y="3394393"/>
            <a:ext cx="3143250" cy="314325"/>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6" name="矩形 35"/>
          <p:cNvSpPr>
            <a:spLocks noChangeArrowheads="1"/>
          </p:cNvSpPr>
          <p:nvPr/>
        </p:nvSpPr>
        <p:spPr bwMode="auto">
          <a:xfrm>
            <a:off x="4125595" y="5985193"/>
            <a:ext cx="1463675" cy="309562"/>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7" name="矩形 36"/>
          <p:cNvSpPr>
            <a:spLocks noChangeArrowheads="1"/>
          </p:cNvSpPr>
          <p:nvPr/>
        </p:nvSpPr>
        <p:spPr bwMode="auto">
          <a:xfrm>
            <a:off x="6514783" y="5831205"/>
            <a:ext cx="2063750" cy="320675"/>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8" name="矩形 37"/>
          <p:cNvSpPr>
            <a:spLocks noChangeArrowheads="1"/>
          </p:cNvSpPr>
          <p:nvPr/>
        </p:nvSpPr>
        <p:spPr bwMode="auto">
          <a:xfrm>
            <a:off x="9359583" y="5974080"/>
            <a:ext cx="2065337" cy="320675"/>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9" name="AutoShape 9"/>
          <p:cNvSpPr>
            <a:spLocks noChangeArrowheads="1"/>
          </p:cNvSpPr>
          <p:nvPr/>
        </p:nvSpPr>
        <p:spPr bwMode="auto">
          <a:xfrm>
            <a:off x="3117861" y="2629355"/>
            <a:ext cx="2859226" cy="978251"/>
          </a:xfrm>
          <a:prstGeom prst="cloudCallout">
            <a:avLst>
              <a:gd name="adj1" fmla="val 27028"/>
              <a:gd name="adj2" fmla="val -123551"/>
            </a:avLst>
          </a:prstGeom>
          <a:solidFill>
            <a:schemeClr val="bg2"/>
          </a:solidFill>
          <a:ln w="9525">
            <a:solidFill>
              <a:schemeClr val="tx1"/>
            </a:solidFill>
            <a:round/>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lnSpc>
                <a:spcPct val="90000"/>
              </a:lnSpc>
              <a:spcBef>
                <a:spcPct val="20000"/>
              </a:spcBef>
              <a:buClr>
                <a:schemeClr val="accent2"/>
              </a:buClr>
            </a:pPr>
            <a:r>
              <a:rPr lang="en-US" altLang="zh-CN" sz="2000" b="1" dirty="0">
                <a:solidFill>
                  <a:srgbClr val="FF0066"/>
                </a:solidFill>
                <a:latin typeface="Courier New" panose="02070309020205020404" pitchFamily="49" charset="0"/>
                <a:cs typeface="Courier New" panose="02070309020205020404" pitchFamily="49" charset="0"/>
              </a:rPr>
              <a:t>Polymorphic variable</a:t>
            </a:r>
            <a:endParaRPr lang="zh-CN" altLang="en-US" sz="2000" b="1" dirty="0">
              <a:solidFill>
                <a:srgbClr val="FF0066"/>
              </a:solidFill>
              <a:latin typeface="Courier New" panose="02070309020205020404" pitchFamily="49" charset="0"/>
              <a:cs typeface="Courier New" panose="02070309020205020404" pitchFamily="49" charset="0"/>
            </a:endParaRPr>
          </a:p>
          <a:p>
            <a:pPr algn="ctr" eaLnBrk="1" hangingPunct="1">
              <a:lnSpc>
                <a:spcPct val="90000"/>
              </a:lnSpc>
              <a:spcBef>
                <a:spcPct val="20000"/>
              </a:spcBef>
              <a:buClr>
                <a:schemeClr val="accent2"/>
              </a:buClr>
            </a:pPr>
            <a:endParaRPr lang="zh-CN" altLang="en-US" sz="2800" dirty="0">
              <a:latin typeface="Times New Roman" panose="02020603050405020304" pitchFamily="18" charset="0"/>
              <a:ea typeface="方正舒体" panose="02010601030101010101" pitchFamily="2" charset="-122"/>
            </a:endParaRPr>
          </a:p>
        </p:txBody>
      </p:sp>
      <p:sp>
        <p:nvSpPr>
          <p:cNvPr id="3" name="文本占位符 2"/>
          <p:cNvSpPr>
            <a:spLocks noGrp="1"/>
          </p:cNvSpPr>
          <p:nvPr>
            <p:ph type="body" sz="quarter" idx="14"/>
            <p:custDataLst>
              <p:tags r:id="rId2"/>
            </p:custDataLst>
          </p:nvPr>
        </p:nvSpPr>
        <p:spPr>
          <a:xfrm>
            <a:off x="291465" y="276860"/>
            <a:ext cx="7202805" cy="593090"/>
          </a:xfrm>
        </p:spPr>
        <p:txBody>
          <a:bodyPr/>
          <a:p>
            <a:r>
              <a:rPr lang="en-US" altLang="zh-CN" dirty="0"/>
              <a:t>7.3 </a:t>
            </a:r>
            <a:r>
              <a:rPr lang="zh-CN" altLang="en-US" dirty="0"/>
              <a:t>动态存储器</a:t>
            </a:r>
            <a:endParaRPr lang="zh-CN" altLang="en-US" dirty="0"/>
          </a:p>
        </p:txBody>
      </p:sp>
      <p:sp>
        <p:nvSpPr>
          <p:cNvPr id="4" name="文本框 3"/>
          <p:cNvSpPr txBox="1"/>
          <p:nvPr/>
        </p:nvSpPr>
        <p:spPr>
          <a:xfrm>
            <a:off x="362585" y="1205865"/>
            <a:ext cx="2243455" cy="3744595"/>
          </a:xfrm>
          <a:prstGeom prst="rect">
            <a:avLst/>
          </a:prstGeom>
          <a:noFill/>
        </p:spPr>
        <p:txBody>
          <a:bodyPr wrap="square" rtlCol="0" anchor="t">
            <a:spAutoFit/>
          </a:bodyPr>
          <a:p>
            <a:pPr>
              <a:lnSpc>
                <a:spcPct val="120000"/>
              </a:lnSpc>
              <a:buFont typeface="Wingdings" panose="05000000000000000000" charset="0"/>
              <a:buChar char="p"/>
            </a:pPr>
            <a:r>
              <a:rPr lang="en-US" altLang="zh-CN" b="1" dirty="0">
                <a:latin typeface="+mn-ea"/>
                <a:sym typeface="+mn-ea"/>
              </a:rPr>
              <a:t>Java</a:t>
            </a:r>
            <a:r>
              <a:rPr lang="zh-CN" altLang="en-US" b="1" dirty="0">
                <a:latin typeface="+mn-ea"/>
                <a:sym typeface="+mn-ea"/>
              </a:rPr>
              <a:t>中覆写的方法都是多态的。</a:t>
            </a:r>
            <a:endParaRPr lang="en-US" altLang="zh-CN" b="1" dirty="0">
              <a:latin typeface="+mn-ea"/>
              <a:sym typeface="+mn-ea"/>
            </a:endParaRPr>
          </a:p>
          <a:p>
            <a:pPr>
              <a:lnSpc>
                <a:spcPct val="120000"/>
              </a:lnSpc>
              <a:buFont typeface="Wingdings" panose="05000000000000000000" charset="0"/>
              <a:buChar char="p"/>
            </a:pPr>
            <a:r>
              <a:rPr lang="en-US" altLang="zh-CN" b="1" dirty="0">
                <a:latin typeface="+mn-ea"/>
                <a:sym typeface="+mn-ea"/>
              </a:rPr>
              <a:t>C++</a:t>
            </a:r>
            <a:r>
              <a:rPr lang="zh-CN" altLang="en-US" b="1" dirty="0">
                <a:latin typeface="+mn-ea"/>
                <a:sym typeface="+mn-ea"/>
              </a:rPr>
              <a:t>中的继承机制导致的多态的方法必须满足两个条件：</a:t>
            </a:r>
            <a:endParaRPr lang="en-US" altLang="zh-CN" b="1" dirty="0">
              <a:latin typeface="+mn-ea"/>
            </a:endParaRPr>
          </a:p>
          <a:p>
            <a:pPr indent="0">
              <a:lnSpc>
                <a:spcPct val="120000"/>
              </a:lnSpc>
              <a:buFont typeface="Wingdings" panose="05000000000000000000" charset="0"/>
              <a:buNone/>
            </a:pPr>
            <a:r>
              <a:rPr lang="zh-CN" altLang="en-US" b="1" dirty="0">
                <a:latin typeface="+mn-ea"/>
                <a:sym typeface="+mn-ea"/>
              </a:rPr>
              <a:t>（</a:t>
            </a:r>
            <a:r>
              <a:rPr lang="en-US" altLang="zh-CN" b="1" dirty="0">
                <a:latin typeface="+mn-ea"/>
                <a:sym typeface="+mn-ea"/>
              </a:rPr>
              <a:t>1</a:t>
            </a:r>
            <a:r>
              <a:rPr lang="zh-CN" altLang="en-US" b="1" dirty="0">
                <a:latin typeface="+mn-ea"/>
                <a:sym typeface="+mn-ea"/>
              </a:rPr>
              <a:t>）该方法在基类中必须是虚函数或纯虚函数；</a:t>
            </a:r>
            <a:endParaRPr lang="en-US" altLang="zh-CN" b="1" dirty="0">
              <a:latin typeface="+mn-ea"/>
            </a:endParaRPr>
          </a:p>
          <a:p>
            <a:pPr indent="0">
              <a:lnSpc>
                <a:spcPct val="120000"/>
              </a:lnSpc>
              <a:buFont typeface="Wingdings" panose="05000000000000000000" charset="0"/>
              <a:buNone/>
            </a:pPr>
            <a:r>
              <a:rPr lang="zh-CN" altLang="en-US" b="1" dirty="0">
                <a:latin typeface="+mn-ea"/>
                <a:sym typeface="+mn-ea"/>
              </a:rPr>
              <a:t>（</a:t>
            </a:r>
            <a:r>
              <a:rPr lang="en-US" altLang="zh-CN" b="1" dirty="0">
                <a:latin typeface="+mn-ea"/>
                <a:sym typeface="+mn-ea"/>
              </a:rPr>
              <a:t>2</a:t>
            </a:r>
            <a:r>
              <a:rPr lang="zh-CN" altLang="en-US" b="1" dirty="0">
                <a:latin typeface="+mn-ea"/>
                <a:sym typeface="+mn-ea"/>
              </a:rPr>
              <a:t>）该方法必须通过基类的引用或指针调用；</a:t>
            </a:r>
            <a:endParaRPr lang="zh-CN" altLang="en-US" b="1" dirty="0">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6" presetClass="entr" presetSubtype="26"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barn(inHorizontal)">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barn(inHorizontal)">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6"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barn(inHorizontal)">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6"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arn(inHorizontal)">
                                      <p:cBhvr>
                                        <p:cTn id="31" dur="5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6"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barn(inHorizontal)">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6"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barn(inHorizontal)">
                                      <p:cBhvr>
                                        <p:cTn id="41" dur="5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6" fill="hold" grpId="0"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barn(inHorizontal)">
                                      <p:cBhvr>
                                        <p:cTn id="4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bldLvl="0" animBg="1"/>
      <p:bldP spid="35" grpId="0" bldLvl="0" animBg="1"/>
      <p:bldP spid="36" grpId="0" bldLvl="0" animBg="1"/>
      <p:bldP spid="37" grpId="0" bldLvl="0" animBg="1"/>
      <p:bldP spid="38" grpId="0" bldLvl="0" animBg="1"/>
      <p:bldP spid="39"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2595" y="276860"/>
            <a:ext cx="6965315" cy="593090"/>
          </a:xfrm>
        </p:spPr>
        <p:txBody>
          <a:bodyPr/>
          <a:lstStyle/>
          <a:p>
            <a:r>
              <a:rPr lang="en-US" altLang="zh-CN" dirty="0"/>
              <a:t>7.3 </a:t>
            </a:r>
            <a:r>
              <a:rPr lang="zh-CN" altLang="en-US" dirty="0"/>
              <a:t>动态存储器</a:t>
            </a:r>
            <a:endParaRPr lang="zh-CN" altLang="en-US" dirty="0"/>
          </a:p>
        </p:txBody>
      </p:sp>
      <p:sp>
        <p:nvSpPr>
          <p:cNvPr id="24" name="Rectangle 2"/>
          <p:cNvSpPr>
            <a:spLocks noChangeArrowheads="1"/>
          </p:cNvSpPr>
          <p:nvPr/>
        </p:nvSpPr>
        <p:spPr bwMode="auto">
          <a:xfrm>
            <a:off x="553085" y="1271270"/>
            <a:ext cx="351853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堆管理</a:t>
            </a:r>
            <a:endParaRPr lang="en-US" altLang="zh-CN" sz="2800" b="1" dirty="0">
              <a:solidFill>
                <a:srgbClr val="0070C0"/>
              </a:solidFill>
              <a:latin typeface="+mn-ea"/>
              <a:ea typeface="+mn-ea"/>
            </a:endParaRPr>
          </a:p>
        </p:txBody>
      </p:sp>
      <p:sp>
        <p:nvSpPr>
          <p:cNvPr id="25" name="Rectangle 6"/>
          <p:cNvSpPr txBox="1">
            <a:spLocks noChangeArrowheads="1"/>
          </p:cNvSpPr>
          <p:nvPr/>
        </p:nvSpPr>
        <p:spPr>
          <a:xfrm>
            <a:off x="441960" y="1794510"/>
            <a:ext cx="11380470" cy="36004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rPr>
              <a:t>对于允许程序为变量在运行时动态申请和释放存储空间的语言，采用堆式分配是最有效的解决方案。</a:t>
            </a:r>
            <a:endParaRPr lang="zh-CN" altLang="en-US" sz="2400" b="1" dirty="0">
              <a:solidFill>
                <a:srgbClr val="020202"/>
              </a:solidFill>
              <a:latin typeface="+mn-ea"/>
            </a:endParaRPr>
          </a:p>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sym typeface="+mn-ea"/>
              </a:rPr>
              <a:t>在</a:t>
            </a:r>
            <a:r>
              <a:rPr lang="en-US" altLang="zh-CN" sz="2400" b="1" dirty="0">
                <a:solidFill>
                  <a:srgbClr val="020202"/>
                </a:solidFill>
                <a:latin typeface="+mn-ea"/>
                <a:sym typeface="+mn-ea"/>
              </a:rPr>
              <a:t>C</a:t>
            </a:r>
            <a:r>
              <a:rPr lang="zh-CN" altLang="en-US" sz="2400" b="1" dirty="0">
                <a:solidFill>
                  <a:srgbClr val="020202"/>
                </a:solidFill>
                <a:latin typeface="+mn-ea"/>
                <a:sym typeface="+mn-ea"/>
              </a:rPr>
              <a:t>中处理链表等结构时,常常随机地插入或删除一些结点，利用指针变量和结构类型，可动态地生成新结点(使用</a:t>
            </a:r>
            <a:r>
              <a:rPr lang="en-US" altLang="zh-CN" sz="2400" b="1" dirty="0">
                <a:solidFill>
                  <a:srgbClr val="020202"/>
                </a:solidFill>
                <a:latin typeface="+mn-ea"/>
                <a:sym typeface="+mn-ea"/>
              </a:rPr>
              <a:t>malloc()</a:t>
            </a:r>
            <a:r>
              <a:rPr lang="zh-CN" altLang="en-US" sz="2400" b="1" dirty="0">
                <a:solidFill>
                  <a:srgbClr val="020202"/>
                </a:solidFill>
                <a:latin typeface="+mn-ea"/>
                <a:sym typeface="+mn-ea"/>
              </a:rPr>
              <a:t>函数)，或删除之(使用</a:t>
            </a:r>
            <a:r>
              <a:rPr lang="en-US" altLang="zh-CN" sz="2400" b="1" dirty="0">
                <a:solidFill>
                  <a:srgbClr val="020202"/>
                </a:solidFill>
                <a:latin typeface="+mn-ea"/>
                <a:sym typeface="+mn-ea"/>
              </a:rPr>
              <a:t>free()</a:t>
            </a:r>
            <a:r>
              <a:rPr lang="zh-CN" altLang="en-US" sz="2400" b="1" dirty="0">
                <a:solidFill>
                  <a:srgbClr val="020202"/>
                </a:solidFill>
                <a:latin typeface="+mn-ea"/>
                <a:sym typeface="+mn-ea"/>
              </a:rPr>
              <a:t>函数).</a:t>
            </a:r>
            <a:endParaRPr lang="zh-CN" altLang="en-US" sz="2400" b="1" dirty="0">
              <a:solidFill>
                <a:srgbClr val="020202"/>
              </a:solidFill>
              <a:latin typeface="+mn-ea"/>
            </a:endParaRPr>
          </a:p>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sym typeface="+mn-ea"/>
              </a:rPr>
              <a:t>例如 </a:t>
            </a:r>
            <a:r>
              <a:rPr lang="en-US" altLang="zh-CN" sz="2400" b="1" dirty="0">
                <a:solidFill>
                  <a:srgbClr val="020202"/>
                </a:solidFill>
                <a:latin typeface="+mn-ea"/>
                <a:sym typeface="+mn-ea"/>
              </a:rPr>
              <a:t>struct node {char data; struct node *next;}</a:t>
            </a:r>
            <a:r>
              <a:rPr lang="zh-CN" altLang="en-US" sz="2400" b="1" dirty="0">
                <a:solidFill>
                  <a:srgbClr val="020202"/>
                </a:solidFill>
                <a:latin typeface="+mn-ea"/>
                <a:sym typeface="+mn-ea"/>
              </a:rPr>
              <a:t>定义了链表的结点,下面函数可在表的尾部添加新结点:</a:t>
            </a:r>
            <a:endParaRPr lang="zh-CN" altLang="en-US" sz="2400" b="1" dirty="0">
              <a:solidFill>
                <a:srgbClr val="020202"/>
              </a:solidFill>
              <a:latin typeface="+mn-ea"/>
            </a:endParaRPr>
          </a:p>
          <a:p>
            <a:pPr>
              <a:lnSpc>
                <a:spcPct val="125000"/>
              </a:lnSpc>
              <a:spcBef>
                <a:spcPts val="0"/>
              </a:spcBef>
              <a:spcAft>
                <a:spcPts val="0"/>
              </a:spcAft>
              <a:buFont typeface="Wingdings" panose="05000000000000000000" charset="0"/>
              <a:buChar char="p"/>
            </a:pPr>
            <a:endParaRPr lang="zh-CN" altLang="en-US" sz="2400" b="1" dirty="0">
              <a:solidFill>
                <a:srgbClr val="020202"/>
              </a:solidFill>
              <a:latin typeface="+mn-ea"/>
            </a:endParaRPr>
          </a:p>
          <a:p>
            <a:pPr>
              <a:lnSpc>
                <a:spcPct val="125000"/>
              </a:lnSpc>
              <a:spcBef>
                <a:spcPts val="0"/>
              </a:spcBef>
              <a:spcAft>
                <a:spcPts val="0"/>
              </a:spcAft>
              <a:buFont typeface="Wingdings" panose="05000000000000000000" charset="0"/>
              <a:buChar char="p"/>
            </a:pPr>
            <a:endParaRPr lang="en-US" altLang="zh-CN" sz="2400" b="1" dirty="0">
              <a:solidFill>
                <a:srgbClr val="020202"/>
              </a:solidFill>
              <a:latin typeface="+mn-ea"/>
            </a:endParaRPr>
          </a:p>
        </p:txBody>
      </p:sp>
      <p:sp>
        <p:nvSpPr>
          <p:cNvPr id="6" name="Rectangle 6"/>
          <p:cNvSpPr txBox="1">
            <a:spLocks noChangeArrowheads="1"/>
          </p:cNvSpPr>
          <p:nvPr>
            <p:custDataLst>
              <p:tags r:id="rId1"/>
            </p:custDataLst>
          </p:nvPr>
        </p:nvSpPr>
        <p:spPr>
          <a:xfrm>
            <a:off x="621030" y="4528820"/>
            <a:ext cx="11348720" cy="1960880"/>
          </a:xfrm>
          <a:prstGeom prst="rect">
            <a:avLst/>
          </a:prstGeom>
        </p:spPr>
        <p:txBody>
          <a:bodyPr/>
          <a:p>
            <a:pPr marL="457200" lvl="1" indent="0">
              <a:lnSpc>
                <a:spcPct val="120000"/>
              </a:lnSpc>
              <a:buNone/>
            </a:pPr>
            <a:r>
              <a:rPr lang="en-US" altLang="zh-CN" sz="2000" b="1" dirty="0">
                <a:solidFill>
                  <a:srgbClr val="020202"/>
                </a:solidFill>
                <a:latin typeface="Courier New" panose="02070309020205020404" pitchFamily="49" charset="0"/>
                <a:cs typeface="Courier New" panose="02070309020205020404" pitchFamily="49" charset="0"/>
              </a:rPr>
              <a:t>void Append(struct node *</a:t>
            </a:r>
            <a:r>
              <a:rPr lang="en-US" altLang="zh-CN" sz="2000" b="1" dirty="0" err="1">
                <a:solidFill>
                  <a:srgbClr val="020202"/>
                </a:solidFill>
                <a:latin typeface="Courier New" panose="02070309020205020404" pitchFamily="49" charset="0"/>
                <a:cs typeface="Courier New" panose="02070309020205020404" pitchFamily="49" charset="0"/>
              </a:rPr>
              <a:t>head,char</a:t>
            </a:r>
            <a:r>
              <a:rPr lang="en-US" altLang="zh-CN" sz="2000" b="1" dirty="0">
                <a:solidFill>
                  <a:srgbClr val="020202"/>
                </a:solidFill>
                <a:latin typeface="Courier New" panose="02070309020205020404" pitchFamily="49" charset="0"/>
                <a:cs typeface="Courier New" panose="02070309020205020404" pitchFamily="49" charset="0"/>
              </a:rPr>
              <a:t> </a:t>
            </a:r>
            <a:r>
              <a:rPr lang="en-US" altLang="zh-CN" sz="2000" b="1" dirty="0" err="1">
                <a:solidFill>
                  <a:srgbClr val="020202"/>
                </a:solidFill>
                <a:latin typeface="Courier New" panose="02070309020205020404" pitchFamily="49" charset="0"/>
                <a:cs typeface="Courier New" panose="02070309020205020404" pitchFamily="49" charset="0"/>
              </a:rPr>
              <a:t>ch</a:t>
            </a:r>
            <a:r>
              <a:rPr lang="en-US" altLang="zh-CN" sz="2000" b="1" dirty="0">
                <a:solidFill>
                  <a:srgbClr val="020202"/>
                </a:solidFill>
                <a:latin typeface="Courier New" panose="02070309020205020404" pitchFamily="49" charset="0"/>
                <a:cs typeface="Courier New" panose="02070309020205020404" pitchFamily="49" charset="0"/>
              </a:rPr>
              <a:t>){  struct node *p=head;</a:t>
            </a:r>
            <a:endParaRPr lang="en-US" altLang="zh-CN" sz="2000" b="1" dirty="0">
              <a:solidFill>
                <a:srgbClr val="020202"/>
              </a:solidFill>
              <a:latin typeface="Courier New" panose="02070309020205020404" pitchFamily="49" charset="0"/>
              <a:cs typeface="Courier New" panose="02070309020205020404" pitchFamily="49" charset="0"/>
            </a:endParaRPr>
          </a:p>
          <a:p>
            <a:pPr marL="457200" lvl="1" indent="0">
              <a:lnSpc>
                <a:spcPct val="120000"/>
              </a:lnSpc>
              <a:buNone/>
            </a:pPr>
            <a:r>
              <a:rPr lang="en-US" altLang="zh-CN" sz="2000" b="1" dirty="0">
                <a:solidFill>
                  <a:srgbClr val="020202"/>
                </a:solidFill>
                <a:latin typeface="Courier New" panose="02070309020205020404" pitchFamily="49" charset="0"/>
                <a:cs typeface="Courier New" panose="02070309020205020404" pitchFamily="49" charset="0"/>
              </a:rPr>
              <a:t>while(*p) p=p-&gt;next;  p-&gt;next=malloc(</a:t>
            </a:r>
            <a:r>
              <a:rPr lang="en-US" altLang="zh-CN" sz="2000" b="1" dirty="0" err="1">
                <a:solidFill>
                  <a:srgbClr val="020202"/>
                </a:solidFill>
                <a:latin typeface="Courier New" panose="02070309020205020404" pitchFamily="49" charset="0"/>
                <a:cs typeface="Courier New" panose="02070309020205020404" pitchFamily="49" charset="0"/>
              </a:rPr>
              <a:t>sizeof</a:t>
            </a:r>
            <a:r>
              <a:rPr lang="en-US" altLang="zh-CN" sz="2000" b="1" dirty="0">
                <a:solidFill>
                  <a:srgbClr val="020202"/>
                </a:solidFill>
                <a:latin typeface="Courier New" panose="02070309020205020404" pitchFamily="49" charset="0"/>
                <a:cs typeface="Courier New" panose="02070309020205020404" pitchFamily="49" charset="0"/>
              </a:rPr>
              <a:t>(struct node));</a:t>
            </a:r>
            <a:endParaRPr lang="en-US" altLang="zh-CN" sz="2000" b="1" dirty="0">
              <a:solidFill>
                <a:srgbClr val="020202"/>
              </a:solidFill>
              <a:latin typeface="Courier New" panose="02070309020205020404" pitchFamily="49" charset="0"/>
              <a:cs typeface="Courier New" panose="02070309020205020404" pitchFamily="49" charset="0"/>
            </a:endParaRPr>
          </a:p>
          <a:p>
            <a:pPr marL="457200" lvl="1" indent="0">
              <a:lnSpc>
                <a:spcPct val="120000"/>
              </a:lnSpc>
              <a:buNone/>
            </a:pPr>
            <a:r>
              <a:rPr lang="en-US" altLang="zh-CN" sz="2000" b="1" dirty="0">
                <a:solidFill>
                  <a:srgbClr val="020202"/>
                </a:solidFill>
                <a:latin typeface="Courier New" panose="02070309020205020404" pitchFamily="49" charset="0"/>
                <a:cs typeface="Courier New" panose="02070309020205020404" pitchFamily="49" charset="0"/>
              </a:rPr>
              <a:t>p-&gt;next-&gt;data=</a:t>
            </a:r>
            <a:r>
              <a:rPr lang="en-US" altLang="zh-CN" sz="2000" b="1" dirty="0" err="1">
                <a:solidFill>
                  <a:srgbClr val="020202"/>
                </a:solidFill>
                <a:latin typeface="Courier New" panose="02070309020205020404" pitchFamily="49" charset="0"/>
                <a:cs typeface="Courier New" panose="02070309020205020404" pitchFamily="49" charset="0"/>
              </a:rPr>
              <a:t>ch</a:t>
            </a:r>
            <a:r>
              <a:rPr lang="en-US" altLang="zh-CN" sz="2000" b="1" dirty="0">
                <a:solidFill>
                  <a:srgbClr val="020202"/>
                </a:solidFill>
                <a:latin typeface="Courier New" panose="02070309020205020404" pitchFamily="49" charset="0"/>
                <a:cs typeface="Courier New" panose="02070309020205020404" pitchFamily="49" charset="0"/>
              </a:rPr>
              <a:t>;  p-&gt;next-&gt;next=NULL;}</a:t>
            </a:r>
            <a:endParaRPr lang="en-US" altLang="zh-CN" sz="2000" b="1" dirty="0">
              <a:solidFill>
                <a:srgbClr val="020202"/>
              </a:solidFill>
              <a:latin typeface="Courier New" panose="02070309020205020404" pitchFamily="49" charset="0"/>
              <a:cs typeface="Courier New" panose="02070309020205020404" pitchFamily="49" charset="0"/>
            </a:endParaRPr>
          </a:p>
          <a:p>
            <a:pPr lvl="1">
              <a:lnSpc>
                <a:spcPct val="120000"/>
              </a:lnSpc>
              <a:buSzPct val="80000"/>
              <a:buFontTx/>
              <a:buNone/>
            </a:pPr>
            <a:endParaRPr lang="en-US" altLang="zh-CN" dirty="0">
              <a:latin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42265" y="276860"/>
            <a:ext cx="7152005" cy="593090"/>
          </a:xfrm>
        </p:spPr>
        <p:txBody>
          <a:bodyPr/>
          <a:lstStyle/>
          <a:p>
            <a:r>
              <a:rPr lang="en-US" altLang="zh-CN" dirty="0"/>
              <a:t>7.3 </a:t>
            </a:r>
            <a:r>
              <a:rPr lang="zh-CN" altLang="en-US" dirty="0"/>
              <a:t>动态存储器</a:t>
            </a:r>
            <a:endParaRPr lang="zh-CN" altLang="en-US" dirty="0"/>
          </a:p>
        </p:txBody>
      </p:sp>
      <p:sp>
        <p:nvSpPr>
          <p:cNvPr id="7" name="Rectangle 3"/>
          <p:cNvSpPr>
            <a:spLocks noChangeArrowheads="1"/>
          </p:cNvSpPr>
          <p:nvPr/>
        </p:nvSpPr>
        <p:spPr bwMode="auto">
          <a:xfrm>
            <a:off x="511810" y="1339850"/>
            <a:ext cx="44348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堆存储管理的实现</a:t>
            </a:r>
            <a:endParaRPr lang="zh-CN" altLang="en-US" sz="2800" b="1" dirty="0">
              <a:solidFill>
                <a:srgbClr val="0070C0"/>
              </a:solidFill>
              <a:latin typeface="+mn-ea"/>
              <a:ea typeface="+mn-ea"/>
            </a:endParaRPr>
          </a:p>
        </p:txBody>
      </p:sp>
      <p:sp>
        <p:nvSpPr>
          <p:cNvPr id="8" name="Rectangle 6"/>
          <p:cNvSpPr txBox="1">
            <a:spLocks noChangeArrowheads="1"/>
          </p:cNvSpPr>
          <p:nvPr/>
        </p:nvSpPr>
        <p:spPr>
          <a:xfrm>
            <a:off x="511810" y="1863090"/>
            <a:ext cx="11351895" cy="3527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charset="0"/>
              <a:buChar char="p"/>
            </a:pPr>
            <a:r>
              <a:rPr lang="zh-CN" altLang="en-US" sz="2400" b="1" dirty="0">
                <a:solidFill>
                  <a:srgbClr val="020202"/>
                </a:solidFill>
                <a:latin typeface="+mn-ea"/>
              </a:rPr>
              <a:t>将存储空间划分为若干存储块；用户可随机地申请或释放一个或多个块；</a:t>
            </a:r>
            <a:endParaRPr lang="zh-CN" altLang="en-US" sz="2400" b="1" dirty="0">
              <a:solidFill>
                <a:srgbClr val="020202"/>
              </a:solidFill>
              <a:latin typeface="+mn-ea"/>
            </a:endParaRPr>
          </a:p>
          <a:p>
            <a:pPr>
              <a:lnSpc>
                <a:spcPct val="130000"/>
              </a:lnSpc>
              <a:buFont typeface="Wingdings" panose="05000000000000000000" charset="0"/>
              <a:buChar char="p"/>
            </a:pPr>
            <a:r>
              <a:rPr lang="zh-CN" altLang="en-US" sz="2400" b="1" dirty="0">
                <a:solidFill>
                  <a:srgbClr val="020202"/>
                </a:solidFill>
                <a:latin typeface="+mn-ea"/>
              </a:rPr>
              <a:t>在存储空间中建立两个队列：空闲队列和忙队列，空闲队列拉成链，链首用</a:t>
            </a:r>
            <a:r>
              <a:rPr lang="en-US" altLang="zh-CN" sz="2400" b="1" dirty="0">
                <a:solidFill>
                  <a:srgbClr val="020202"/>
                </a:solidFill>
                <a:latin typeface="+mn-ea"/>
              </a:rPr>
              <a:t>FREE</a:t>
            </a:r>
            <a:r>
              <a:rPr lang="zh-CN" altLang="en-US" sz="2400" b="1" dirty="0">
                <a:solidFill>
                  <a:srgbClr val="020202"/>
                </a:solidFill>
                <a:latin typeface="+mn-ea"/>
              </a:rPr>
              <a:t>指针指明，忙队列用一(已占块)记录表记录各占用块的首址及大小信息(也可用链进行记录)。申请时可按需要找到合适的块分配之(分配策略有最佳分配或随机分配等)；</a:t>
            </a:r>
            <a:endParaRPr lang="zh-CN" altLang="en-US" sz="2400" b="1" dirty="0">
              <a:solidFill>
                <a:srgbClr val="020202"/>
              </a:solidFill>
              <a:latin typeface="+mn-ea"/>
            </a:endParaRPr>
          </a:p>
          <a:p>
            <a:pPr>
              <a:lnSpc>
                <a:spcPct val="130000"/>
              </a:lnSpc>
              <a:buFont typeface="Wingdings" panose="05000000000000000000" charset="0"/>
              <a:buChar char="p"/>
            </a:pPr>
            <a:r>
              <a:rPr lang="zh-CN" altLang="en-US" sz="2400" b="1" dirty="0">
                <a:solidFill>
                  <a:srgbClr val="020202"/>
                </a:solidFill>
                <a:latin typeface="+mn-ea"/>
              </a:rPr>
              <a:t>释放时将该块插入到空闲队列(能合并时可合并)，并从占用记录表中删除相应的项。</a:t>
            </a:r>
            <a:endParaRPr lang="en-US" altLang="zh-CN" sz="2400" b="1" dirty="0">
              <a:solidFill>
                <a:srgbClr val="020202"/>
              </a:solidFill>
              <a:latin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13740" y="1708785"/>
            <a:ext cx="4793615" cy="3439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1"/>
          <p:cNvSpPr>
            <a:spLocks noGrp="1"/>
          </p:cNvSpPr>
          <p:nvPr>
            <p:ph type="body" sz="quarter" idx="14"/>
          </p:nvPr>
        </p:nvSpPr>
        <p:spPr>
          <a:xfrm>
            <a:off x="406400" y="276860"/>
            <a:ext cx="7087870" cy="593090"/>
          </a:xfrm>
        </p:spPr>
        <p:txBody>
          <a:bodyPr/>
          <a:lstStyle/>
          <a:p>
            <a:r>
              <a:rPr lang="zh-CN" altLang="en-US" dirty="0"/>
              <a:t>小结</a:t>
            </a:r>
            <a:endParaRPr lang="zh-CN" altLang="en-US" dirty="0"/>
          </a:p>
        </p:txBody>
      </p:sp>
      <p:sp>
        <p:nvSpPr>
          <p:cNvPr id="8" name="Rectangle 3"/>
          <p:cNvSpPr>
            <a:spLocks noChangeArrowheads="1"/>
          </p:cNvSpPr>
          <p:nvPr/>
        </p:nvSpPr>
        <p:spPr bwMode="auto">
          <a:xfrm>
            <a:off x="713740" y="1320800"/>
            <a:ext cx="10516235" cy="439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AutoNum type="arabicPeriod"/>
            </a:pPr>
            <a:r>
              <a:rPr lang="zh-CN" altLang="en-US" sz="2000" b="1" dirty="0">
                <a:solidFill>
                  <a:srgbClr val="020202"/>
                </a:solidFill>
                <a:latin typeface="+mn-ea"/>
                <a:ea typeface="+mn-ea"/>
              </a:rPr>
              <a:t>设有</a:t>
            </a:r>
            <a:r>
              <a:rPr lang="en-US" altLang="zh-CN" sz="2000" b="1" dirty="0">
                <a:solidFill>
                  <a:srgbClr val="020202"/>
                </a:solidFill>
                <a:latin typeface="+mn-ea"/>
                <a:ea typeface="+mn-ea"/>
              </a:rPr>
              <a:t>c</a:t>
            </a:r>
            <a:r>
              <a:rPr lang="zh-CN" altLang="en-US" sz="2000" b="1" dirty="0">
                <a:solidFill>
                  <a:srgbClr val="020202"/>
                </a:solidFill>
                <a:latin typeface="+mn-ea"/>
                <a:ea typeface="+mn-ea"/>
              </a:rPr>
              <a:t>语言程序</a:t>
            </a:r>
            <a:r>
              <a:rPr lang="zh-CN" altLang="en-US" sz="2000" b="1" dirty="0">
                <a:solidFill>
                  <a:srgbClr val="020202"/>
                </a:solidFill>
                <a:latin typeface="+mn-ea"/>
                <a:ea typeface="+mn-ea"/>
                <a:sym typeface="Wingdings" panose="05000000000000000000" pitchFamily="2" charset="2"/>
              </a:rPr>
              <a:t>:</a:t>
            </a:r>
            <a:endParaRPr lang="zh-CN" altLang="en-US" sz="2000" b="1" dirty="0">
              <a:solidFill>
                <a:srgbClr val="020202"/>
              </a:solidFill>
              <a:latin typeface="+mn-ea"/>
              <a:ea typeface="+mn-ea"/>
              <a:sym typeface="Wingdings" panose="05000000000000000000" pitchFamily="2" charset="2"/>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main()</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a:t>
            </a:r>
            <a:r>
              <a:rPr lang="en-US" altLang="zh-CN" sz="2000" b="1" dirty="0" err="1">
                <a:solidFill>
                  <a:srgbClr val="020202"/>
                </a:solidFill>
                <a:latin typeface="Courier New" panose="02070309020205020404" pitchFamily="49" charset="0"/>
                <a:ea typeface="+mn-ea"/>
                <a:cs typeface="Courier New" panose="02070309020205020404" pitchFamily="49" charset="0"/>
              </a:rPr>
              <a:t>printf</a:t>
            </a:r>
            <a:r>
              <a:rPr lang="en-US" altLang="zh-CN" sz="2000" b="1" dirty="0">
                <a:solidFill>
                  <a:srgbClr val="020202"/>
                </a:solidFill>
                <a:latin typeface="Courier New" panose="02070309020205020404" pitchFamily="49" charset="0"/>
                <a:ea typeface="+mn-ea"/>
                <a:cs typeface="Courier New" panose="02070309020205020404" pitchFamily="49" charset="0"/>
              </a:rPr>
              <a:t>(“%d\</a:t>
            </a:r>
            <a:r>
              <a:rPr lang="en-US" altLang="zh-CN" sz="2000" b="1" dirty="0" err="1">
                <a:solidFill>
                  <a:srgbClr val="020202"/>
                </a:solidFill>
                <a:latin typeface="Courier New" panose="02070309020205020404" pitchFamily="49" charset="0"/>
                <a:ea typeface="+mn-ea"/>
                <a:cs typeface="Courier New" panose="02070309020205020404" pitchFamily="49" charset="0"/>
              </a:rPr>
              <a:t>n”,f</a:t>
            </a:r>
            <a:r>
              <a:rPr lang="en-US" altLang="zh-CN" sz="2000" b="1" dirty="0">
                <a:solidFill>
                  <a:srgbClr val="020202"/>
                </a:solidFill>
                <a:latin typeface="Courier New" panose="02070309020205020404" pitchFamily="49" charset="0"/>
                <a:ea typeface="+mn-ea"/>
                <a:cs typeface="Courier New" panose="02070309020205020404" pitchFamily="49" charset="0"/>
              </a:rPr>
              <a:t>(3));</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f(int x)</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if(x==1)</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return 1;</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else</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return x*f(x-1);</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r>
              <a:rPr lang="zh-CN" altLang="en-US" sz="2000" b="1" dirty="0">
                <a:solidFill>
                  <a:srgbClr val="020202"/>
                </a:solidFill>
                <a:latin typeface="Courier New" panose="02070309020205020404" pitchFamily="49" charset="0"/>
                <a:ea typeface="+mn-ea"/>
                <a:cs typeface="Courier New" panose="02070309020205020404" pitchFamily="49" charset="0"/>
              </a:rPr>
              <a:t> </a:t>
            </a:r>
            <a:endParaRPr lang="zh-CN" altLang="en-US"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endParaRPr lang="zh-CN" altLang="en-US" sz="2000" b="1" dirty="0">
              <a:solidFill>
                <a:srgbClr val="020202"/>
              </a:solidFill>
              <a:latin typeface="+mn-ea"/>
              <a:ea typeface="+mn-ea"/>
            </a:endParaRPr>
          </a:p>
          <a:p>
            <a:pPr eaLnBrk="1" hangingPunct="1">
              <a:spcBef>
                <a:spcPct val="0"/>
              </a:spcBef>
              <a:buClrTx/>
              <a:buFontTx/>
              <a:buNone/>
            </a:pPr>
            <a:r>
              <a:rPr lang="zh-CN" altLang="en-US" sz="2000" b="1" dirty="0">
                <a:solidFill>
                  <a:srgbClr val="020202"/>
                </a:solidFill>
                <a:latin typeface="+mn-ea"/>
                <a:ea typeface="+mn-ea"/>
              </a:rPr>
              <a:t>试给出运行该程序在返回主函数之前运行栈的活动记录示意图。</a:t>
            </a:r>
            <a:endParaRPr lang="zh-CN" altLang="en-US" sz="2000" b="1" dirty="0">
              <a:solidFill>
                <a:srgbClr val="020202"/>
              </a:solidFill>
              <a:latin typeface="+mn-ea"/>
              <a:ea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PLACING_PICTURE_USER_VIEWPORT" val="{&quot;height&quot;:2884,&quot;width&quot;:2884}"/>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DIAGRAM_VIRTUALLY_FRAME" val="{&quot;height&quot;:204.9806299212599,&quot;left&quot;:54.65,&quot;top&quot;:272.85944881889765,&quot;width&quot;:793.55}"/>
</p:tagLst>
</file>

<file path=ppt/tags/tag171.xml><?xml version="1.0" encoding="utf-8"?>
<p:tagLst xmlns:p="http://schemas.openxmlformats.org/presentationml/2006/main">
  <p:tag name="KSO_WM_DIAGRAM_VIRTUALLY_FRAME" val="{&quot;height&quot;:204.9806299212599,&quot;left&quot;:54.65,&quot;top&quot;:272.85944881889765,&quot;width&quot;:793.55}"/>
</p:tagLst>
</file>

<file path=ppt/tags/tag172.xml><?xml version="1.0" encoding="utf-8"?>
<p:tagLst xmlns:p="http://schemas.openxmlformats.org/presentationml/2006/main">
  <p:tag name="KSO_WM_DIAGRAM_VIRTUALLY_FRAME" val="{&quot;height&quot;:204.9806299212599,&quot;left&quot;:54.65,&quot;top&quot;:272.85944881889765,&quot;width&quot;:793.55}"/>
</p:tagLst>
</file>

<file path=ppt/tags/tag173.xml><?xml version="1.0" encoding="utf-8"?>
<p:tagLst xmlns:p="http://schemas.openxmlformats.org/presentationml/2006/main">
  <p:tag name="KSO_WM_DIAGRAM_VIRTUALLY_FRAME" val="{&quot;height&quot;:204.9806299212599,&quot;left&quot;:54.65,&quot;top&quot;:272.85944881889765,&quot;width&quot;:793.55}"/>
</p:tagLst>
</file>

<file path=ppt/tags/tag174.xml><?xml version="1.0" encoding="utf-8"?>
<p:tagLst xmlns:p="http://schemas.openxmlformats.org/presentationml/2006/main">
  <p:tag name="KSO_WM_DIAGRAM_VIRTUALLY_FRAME" val="{&quot;height&quot;:204.9806299212599,&quot;left&quot;:54.65,&quot;top&quot;:272.85944881889765,&quot;width&quot;:793.55}"/>
</p:tagLst>
</file>

<file path=ppt/tags/tag175.xml><?xml version="1.0" encoding="utf-8"?>
<p:tagLst xmlns:p="http://schemas.openxmlformats.org/presentationml/2006/main">
  <p:tag name="KSO_WM_DIAGRAM_VIRTUALLY_FRAME" val="{&quot;height&quot;:204.9806299212599,&quot;left&quot;:54.65,&quot;top&quot;:272.85944881889765,&quot;width&quot;:793.55}"/>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PP_MARK_KEY" val="0386769f-d63b-4424-b4e2-d1b0cbcec642"/>
  <p:tag name="COMMONDATA" val="eyJoZGlkIjoiZTM4ZDYxNzU3YTBlMDhhMzgwMzEwNzJlMjNkNWZkNmE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6936</Words>
  <Application>WPS 演示</Application>
  <PresentationFormat>全屏显示(4:3)</PresentationFormat>
  <Paragraphs>714</Paragraphs>
  <Slides>35</Slides>
  <Notes>46</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35</vt:i4>
      </vt:variant>
    </vt:vector>
  </HeadingPairs>
  <TitlesOfParts>
    <vt:vector size="63" baseType="lpstr">
      <vt:lpstr>Arial</vt:lpstr>
      <vt:lpstr>宋体</vt:lpstr>
      <vt:lpstr>Wingdings</vt:lpstr>
      <vt:lpstr>微软雅黑</vt:lpstr>
      <vt:lpstr>Times New Roman</vt:lpstr>
      <vt:lpstr>等线</vt:lpstr>
      <vt:lpstr>等线 Light</vt:lpstr>
      <vt:lpstr>Wingdings</vt:lpstr>
      <vt:lpstr>Verdana</vt:lpstr>
      <vt:lpstr>Calibri</vt:lpstr>
      <vt:lpstr>Arial Unicode MS</vt:lpstr>
      <vt:lpstr>Calibri Light</vt:lpstr>
      <vt:lpstr>Courier New</vt:lpstr>
      <vt:lpstr>方正舒体</vt:lpstr>
      <vt:lpstr>Cambria</vt:lpstr>
      <vt:lpstr>Bradley Hand ITC</vt:lpstr>
      <vt:lpstr>Bahnschrift SemiBold</vt:lpstr>
      <vt:lpstr>Yu Gothic UI Light</vt:lpstr>
      <vt:lpstr>Yu Gothic Medium</vt:lpstr>
      <vt:lpstr>SimSun-ExtB</vt:lpstr>
      <vt:lpstr>Noto Serif SC ExtraLight</vt:lpstr>
      <vt:lpstr>MS Gothic</vt:lpstr>
      <vt:lpstr>Microsoft YaHei UI Light</vt:lpstr>
      <vt:lpstr>Cascadia Mono SemiLight</vt:lpstr>
      <vt:lpstr>Cascadia Mono SemiBold</vt:lpstr>
      <vt:lpstr>Consolas</vt:lpstr>
      <vt:lpstr>仿宋</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Wren</dc:creator>
  <cp:lastModifiedBy>马春燕</cp:lastModifiedBy>
  <cp:revision>202</cp:revision>
  <dcterms:created xsi:type="dcterms:W3CDTF">2024-03-16T07:28:00Z</dcterms:created>
  <dcterms:modified xsi:type="dcterms:W3CDTF">2026-04-05T11:04:49Z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B7F63B21D31048278091CFD0D0E782DF_13</vt:lpwstr>
  </property>
  <property fmtid="{D5CDD505-2E9C-101B-9397-08002B2CF9AE}" pid="3" name="KSOProductBuildVer">
    <vt:lpwstr>2052-11.1.0.13703</vt:lpwstr>
  </property>
</Properties>
</file>