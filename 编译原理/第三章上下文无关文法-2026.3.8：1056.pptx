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912" r:id="rId3"/>
    <p:sldId id="541" r:id="rId4"/>
    <p:sldId id="859" r:id="rId5"/>
    <p:sldId id="851" r:id="rId6"/>
    <p:sldId id="852" r:id="rId7"/>
    <p:sldId id="853" r:id="rId8"/>
    <p:sldId id="848" r:id="rId9"/>
    <p:sldId id="861" r:id="rId10"/>
    <p:sldId id="862" r:id="rId11"/>
    <p:sldId id="863" r:id="rId12"/>
    <p:sldId id="870" r:id="rId13"/>
    <p:sldId id="872" r:id="rId14"/>
    <p:sldId id="874" r:id="rId15"/>
    <p:sldId id="881" r:id="rId16"/>
    <p:sldId id="888" r:id="rId17"/>
    <p:sldId id="891" r:id="rId18"/>
    <p:sldId id="894" r:id="rId19"/>
    <p:sldId id="895" r:id="rId20"/>
    <p:sldId id="897" r:id="rId21"/>
    <p:sldId id="892" r:id="rId22"/>
    <p:sldId id="849" r:id="rId23"/>
    <p:sldId id="900" r:id="rId24"/>
    <p:sldId id="856" r:id="rId25"/>
    <p:sldId id="850" r:id="rId26"/>
    <p:sldId id="858" r:id="rId27"/>
    <p:sldId id="907" r:id="rId28"/>
    <p:sldId id="909" r:id="rId29"/>
    <p:sldId id="911" r:id="rId30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ren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6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228"/>
    </p:cViewPr>
  </p:sorterViewPr>
  <p:notesViewPr>
    <p:cSldViewPr snapToGrid="0">
      <p:cViewPr varScale="1">
        <p:scale>
          <a:sx n="75" d="100"/>
          <a:sy n="75" d="100"/>
        </p:scale>
        <p:origin x="344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80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EA3E2-C87F-4A69-AA9B-977CB6B7875A}" type="datetimeFigureOut">
              <a:rPr lang="zh-CN" altLang="en-US" smtClean="0">
                <a:cs typeface="等线 Light" panose="02010600030101010101" charset="-122"/>
              </a:rPr>
            </a:fld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2114A-053A-4019-867C-6DA91B73B33C}" type="slidenum">
              <a:rPr lang="zh-CN" altLang="en-US" smtClean="0">
                <a:cs typeface="等线 Light" panose="02010600030101010101" charset="-122"/>
              </a:rPr>
            </a:fld>
            <a:endParaRPr lang="zh-CN" altLang="en-US">
              <a:cs typeface="等线 Light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等线 Light" panose="02010600030101010101" charset="-122"/>
              </a:defRPr>
            </a:lvl1pPr>
          </a:lstStyle>
          <a:p>
            <a:fld id="{95667B0C-C5AB-457F-8F1A-FBF93A90A4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等线 Light" panose="02010600030101010101" charset="-122"/>
              </a:defRPr>
            </a:lvl1pPr>
          </a:lstStyle>
          <a:p>
            <a:fld id="{94E0A2A6-A786-4185-BFBE-5D2240968A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7" Type="http://schemas.openxmlformats.org/officeDocument/2006/relationships/image" Target="../media/image2.png"/><Relationship Id="rId6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tags" Target="../tags/tag12.xml"/><Relationship Id="rId4" Type="http://schemas.openxmlformats.org/officeDocument/2006/relationships/image" Target="../media/image1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pic>
        <p:nvPicPr>
          <p:cNvPr id="10" name="西北工业大学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1" name="校徽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cxnSp>
        <p:nvCxnSpPr>
          <p:cNvPr id="13" name="直线连接符 12"/>
          <p:cNvCxnSpPr/>
          <p:nvPr userDrawn="1"/>
        </p:nvCxnSpPr>
        <p:spPr>
          <a:xfrm>
            <a:off x="1134464" y="1936216"/>
            <a:ext cx="9730740" cy="5080"/>
          </a:xfrm>
          <a:prstGeom prst="line">
            <a:avLst/>
          </a:prstGeom>
          <a:ln w="19050">
            <a:solidFill>
              <a:srgbClr val="034D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占位符 1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432550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15" name="页脚占位符 1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432550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6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432550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cxnSp>
        <p:nvCxnSpPr>
          <p:cNvPr id="17" name="直线连接符 9"/>
          <p:cNvCxnSpPr/>
          <p:nvPr userDrawn="1">
            <p:custDataLst>
              <p:tags r:id="rId7"/>
            </p:custDataLst>
          </p:nvPr>
        </p:nvCxnSpPr>
        <p:spPr>
          <a:xfrm>
            <a:off x="0" y="6333977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1134464" y="1326526"/>
            <a:ext cx="6129867" cy="511118"/>
          </a:xfrm>
        </p:spPr>
        <p:txBody>
          <a:bodyPr>
            <a:normAutofit/>
          </a:bodyPr>
          <a:lstStyle>
            <a:lvl1pPr marL="0" indent="0">
              <a:buNone/>
              <a:defRPr kumimoji="1" lang="zh-CN" altLang="en-US" sz="3200" b="1" kern="1200" dirty="0">
                <a:solidFill>
                  <a:srgbClr val="03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第</a:t>
            </a:r>
            <a:r>
              <a:rPr lang="en-US" altLang="zh-CN" dirty="0"/>
              <a:t> </a:t>
            </a:r>
            <a:r>
              <a:rPr lang="zh-CN" altLang="en-US" dirty="0"/>
              <a:t>单元 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1134464" y="2106539"/>
            <a:ext cx="8255000" cy="283845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800" kern="1200" dirty="0">
                <a:solidFill>
                  <a:srgbClr val="034EA2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en-US" altLang="zh-CN" dirty="0"/>
              <a:t>1.1 </a:t>
            </a:r>
            <a:endParaRPr lang="en-US" altLang="zh-CN" dirty="0"/>
          </a:p>
          <a:p>
            <a:pPr lvl="0"/>
            <a:r>
              <a:rPr lang="en-US" altLang="zh-CN" dirty="0"/>
              <a:t>1.2 </a:t>
            </a:r>
            <a:endParaRPr lang="en-US" altLang="zh-CN" dirty="0"/>
          </a:p>
          <a:p>
            <a:pPr lvl="0"/>
            <a:r>
              <a:rPr lang="en-US" altLang="zh-CN" dirty="0"/>
              <a:t>1.3</a:t>
            </a:r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5" hasCustomPrompt="1"/>
          </p:nvPr>
        </p:nvSpPr>
        <p:spPr>
          <a:xfrm>
            <a:off x="228531" y="263977"/>
            <a:ext cx="2653249" cy="589645"/>
          </a:xfrm>
        </p:spPr>
        <p:txBody>
          <a:bodyPr/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培养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630767" y="1339215"/>
            <a:ext cx="10670540" cy="6394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zh-CN" altLang="en-US" sz="2800" b="1" dirty="0">
                <a:cs typeface="等线 Light" panose="02010600030101010101" charset="-122"/>
              </a:rPr>
              <a:t>本节培养目标</a:t>
            </a:r>
            <a:endParaRPr kumimoji="1" lang="zh-CN" altLang="en-US" sz="2800" b="1" dirty="0">
              <a:cs typeface="等线 Light" panose="02010600030101010101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432550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432550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432550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pic>
        <p:nvPicPr>
          <p:cNvPr id="13" name="西北工业大学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4" name="校徽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352213" y="1188720"/>
            <a:ext cx="11530753" cy="5181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16" name="卷形: 水平 1"/>
          <p:cNvSpPr/>
          <p:nvPr userDrawn="1">
            <p:custDataLst>
              <p:tags r:id="rId8"/>
            </p:custDataLst>
          </p:nvPr>
        </p:nvSpPr>
        <p:spPr>
          <a:xfrm>
            <a:off x="838200" y="1729105"/>
            <a:ext cx="10325100" cy="3736340"/>
          </a:xfrm>
          <a:prstGeom prst="horizontalScroll">
            <a:avLst>
              <a:gd name="adj" fmla="val 12500"/>
            </a:avLst>
          </a:prstGeom>
          <a:noFill/>
          <a:ln w="25400" cap="flat" cmpd="sng">
            <a:solidFill>
              <a:schemeClr val="hlink"/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469900" indent="-46990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1911351" y="2498725"/>
            <a:ext cx="9076267" cy="2197100"/>
          </a:xfrm>
        </p:spPr>
        <p:txBody>
          <a:bodyPr/>
          <a:lstStyle>
            <a:lvl1pPr marL="457200" indent="-457200">
              <a:buFont typeface="+mj-lt"/>
              <a:buAutoNum type="arabicPeriod"/>
              <a:defRPr lang="zh-CN" altLang="en-US" sz="2400" b="1" kern="10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第一级</a:t>
            </a:r>
            <a:endParaRPr lang="zh-CN" altLang="en-US" dirty="0"/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309033" y="276860"/>
            <a:ext cx="4445000" cy="593090"/>
          </a:xfrm>
        </p:spPr>
        <p:txBody>
          <a:bodyPr>
            <a:noAutofit/>
          </a:bodyPr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en-US" altLang="zh-CN" dirty="0"/>
              <a:t>1.1 </a:t>
            </a:r>
            <a:r>
              <a:rPr lang="zh-CN" altLang="en-US" dirty="0"/>
              <a:t>章节名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pic>
        <p:nvPicPr>
          <p:cNvPr id="11" name="西北工业大学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2" name="校徽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352213" y="1188720"/>
            <a:ext cx="11530753" cy="5181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309033" y="276860"/>
            <a:ext cx="4445000" cy="593090"/>
          </a:xfrm>
        </p:spPr>
        <p:txBody>
          <a:bodyPr>
            <a:noAutofit/>
          </a:bodyPr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en-US" altLang="zh-CN" dirty="0"/>
              <a:t>1.1.1 </a:t>
            </a:r>
            <a:r>
              <a:rPr lang="zh-CN" altLang="en-US" dirty="0"/>
              <a:t>小节名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524087" y="1248410"/>
            <a:ext cx="4229947" cy="515619"/>
          </a:xfrm>
        </p:spPr>
        <p:txBody>
          <a:bodyPr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2pPr>
            <a:lvl3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3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级标题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6" hasCustomPrompt="1"/>
          </p:nvPr>
        </p:nvSpPr>
        <p:spPr>
          <a:xfrm>
            <a:off x="529167" y="1910398"/>
            <a:ext cx="11163300" cy="4293551"/>
          </a:xfrm>
        </p:spPr>
        <p:txBody>
          <a:bodyPr>
            <a:normAutofit/>
          </a:bodyPr>
          <a:lstStyle>
            <a:lvl1pPr marL="2286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 marL="6858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2pPr>
            <a:lvl3pPr marL="11430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3pPr>
            <a:lvl4pPr marL="16002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4pPr>
            <a:lvl5pPr marL="20574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等线 Light" panose="0201060003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1" Type="http://schemas.openxmlformats.org/officeDocument/2006/relationships/slideLayout" Target="../slideLayouts/slideLayout3.xml"/><Relationship Id="rId50" Type="http://schemas.openxmlformats.org/officeDocument/2006/relationships/tags" Target="../tags/tag79.xml"/><Relationship Id="rId5" Type="http://schemas.openxmlformats.org/officeDocument/2006/relationships/tags" Target="../tags/tag34.xml"/><Relationship Id="rId49" Type="http://schemas.openxmlformats.org/officeDocument/2006/relationships/tags" Target="../tags/tag78.xml"/><Relationship Id="rId48" Type="http://schemas.openxmlformats.org/officeDocument/2006/relationships/tags" Target="../tags/tag77.xml"/><Relationship Id="rId47" Type="http://schemas.openxmlformats.org/officeDocument/2006/relationships/tags" Target="../tags/tag76.xml"/><Relationship Id="rId46" Type="http://schemas.openxmlformats.org/officeDocument/2006/relationships/tags" Target="../tags/tag75.xml"/><Relationship Id="rId45" Type="http://schemas.openxmlformats.org/officeDocument/2006/relationships/tags" Target="../tags/tag74.xml"/><Relationship Id="rId44" Type="http://schemas.openxmlformats.org/officeDocument/2006/relationships/tags" Target="../tags/tag73.xml"/><Relationship Id="rId43" Type="http://schemas.openxmlformats.org/officeDocument/2006/relationships/tags" Target="../tags/tag72.xml"/><Relationship Id="rId42" Type="http://schemas.openxmlformats.org/officeDocument/2006/relationships/tags" Target="../tags/tag71.xml"/><Relationship Id="rId41" Type="http://schemas.openxmlformats.org/officeDocument/2006/relationships/tags" Target="../tags/tag70.xml"/><Relationship Id="rId40" Type="http://schemas.openxmlformats.org/officeDocument/2006/relationships/tags" Target="../tags/tag69.xml"/><Relationship Id="rId4" Type="http://schemas.openxmlformats.org/officeDocument/2006/relationships/tags" Target="../tags/tag33.xml"/><Relationship Id="rId39" Type="http://schemas.openxmlformats.org/officeDocument/2006/relationships/tags" Target="../tags/tag68.xml"/><Relationship Id="rId38" Type="http://schemas.openxmlformats.org/officeDocument/2006/relationships/tags" Target="../tags/tag67.xml"/><Relationship Id="rId37" Type="http://schemas.openxmlformats.org/officeDocument/2006/relationships/tags" Target="../tags/tag66.xml"/><Relationship Id="rId36" Type="http://schemas.openxmlformats.org/officeDocument/2006/relationships/tags" Target="../tags/tag65.xml"/><Relationship Id="rId35" Type="http://schemas.openxmlformats.org/officeDocument/2006/relationships/tags" Target="../tags/tag64.xml"/><Relationship Id="rId34" Type="http://schemas.openxmlformats.org/officeDocument/2006/relationships/tags" Target="../tags/tag63.xml"/><Relationship Id="rId33" Type="http://schemas.openxmlformats.org/officeDocument/2006/relationships/tags" Target="../tags/tag62.xml"/><Relationship Id="rId32" Type="http://schemas.openxmlformats.org/officeDocument/2006/relationships/tags" Target="../tags/tag61.xml"/><Relationship Id="rId31" Type="http://schemas.openxmlformats.org/officeDocument/2006/relationships/tags" Target="../tags/tag60.xml"/><Relationship Id="rId30" Type="http://schemas.openxmlformats.org/officeDocument/2006/relationships/tags" Target="../tags/tag59.xml"/><Relationship Id="rId3" Type="http://schemas.openxmlformats.org/officeDocument/2006/relationships/tags" Target="../tags/tag32.xml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&#19968;&#20010;&#31616;&#21270;&#30340;C++&#31867;&#22768;&#26126;&#30340;&#35821;&#27861;&#30340;&#24418;&#24335;&#21270;&#23450;&#20041;%20.do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970" y="299720"/>
            <a:ext cx="11230610" cy="6337935"/>
          </a:xfrm>
          <a:prstGeom prst="rect">
            <a:avLst/>
          </a:prstGeom>
          <a:solidFill>
            <a:srgbClr val="03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cs typeface="等线 Light" panose="0201060003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90" y="789940"/>
            <a:ext cx="10549890" cy="53581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88232" sx="104000" sy="104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cs typeface="等线 Light" panose="02010600030101010101" charset="-122"/>
            </a:endParaRPr>
          </a:p>
        </p:txBody>
      </p:sp>
      <p:pic>
        <p:nvPicPr>
          <p:cNvPr id="1026" name="Picture 2" descr="西北工业大学- 维基百科，自由的百科全书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890" y="725805"/>
            <a:ext cx="1831340" cy="18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767330" y="2722245"/>
            <a:ext cx="71945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000" b="1" dirty="0">
                <a:solidFill>
                  <a:srgbClr val="034DA0"/>
                </a:solidFill>
                <a:latin typeface="+mn-ea"/>
                <a:cs typeface="等线 Light" panose="02010600030101010101" charset="-122"/>
                <a:sym typeface="+mn-ea"/>
              </a:rPr>
              <a:t>编译原理</a:t>
            </a:r>
            <a:endParaRPr kumimoji="1" lang="zh-CN" altLang="en-US" sz="4000" b="1" dirty="0">
              <a:solidFill>
                <a:srgbClr val="034DA0"/>
              </a:solidFill>
              <a:latin typeface="+mn-ea"/>
              <a:cs typeface="等线 Light" panose="02010600030101010101" charset="-122"/>
              <a:sym typeface="+mn-ea"/>
            </a:endParaRPr>
          </a:p>
        </p:txBody>
      </p:sp>
      <p:cxnSp>
        <p:nvCxnSpPr>
          <p:cNvPr id="8" name="直线连接符 7"/>
          <p:cNvCxnSpPr/>
          <p:nvPr/>
        </p:nvCxnSpPr>
        <p:spPr>
          <a:xfrm flipV="1">
            <a:off x="2367330" y="3429151"/>
            <a:ext cx="8088630" cy="1397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67280" y="3538220"/>
            <a:ext cx="8289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授课教师：马春燕    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邮箱：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machunyan @nwpu.edu.n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手机：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13991282722      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 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63550" y="276860"/>
            <a:ext cx="861568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三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上下文无关文法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8837" name="Rectangle 5"/>
          <p:cNvSpPr>
            <a:spLocks noGrp="1"/>
          </p:cNvSpPr>
          <p:nvPr/>
        </p:nvSpPr>
        <p:spPr>
          <a:xfrm>
            <a:off x="464185" y="1240790"/>
            <a:ext cx="11052810" cy="32181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/>
              <a:t>本章的目的：</a:t>
            </a:r>
            <a:endParaRPr lang="zh-CN" altLang="en-US" sz="3200" b="1" dirty="0"/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/>
              <a:t>为程序</a:t>
            </a:r>
            <a:r>
              <a:rPr lang="zh-CN" altLang="en-US" sz="3200" b="1" dirty="0"/>
              <a:t>设计语言的语法描述寻求形式工具，要求该工具对程序设计语言给出精确无二义的语法描述。</a:t>
            </a:r>
            <a:endParaRPr lang="zh-CN" altLang="en-US" sz="3200" b="1" dirty="0"/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/>
              <a:t>基于程序设计</a:t>
            </a:r>
            <a:r>
              <a:rPr lang="zh-CN" altLang="en-US" sz="3200" b="1" dirty="0"/>
              <a:t>语言语法的形式化描述，语法分析算法见第四章。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541655" y="276860"/>
            <a:ext cx="853757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三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上下文无关文法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1020" y="1290955"/>
            <a:ext cx="9903460" cy="3618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3.1 语言的表示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上下文无关文法的形式定义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3.3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分析树</a:t>
            </a:r>
            <a:endParaRPr lang="en-US" altLang="zh-CN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</a:t>
            </a: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二义性文法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28625" y="276860"/>
            <a:ext cx="865060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3.1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语言的表示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51911" name="Rectangle 7"/>
          <p:cNvSpPr>
            <a:spLocks noGrp="1"/>
          </p:cNvSpPr>
          <p:nvPr/>
        </p:nvSpPr>
        <p:spPr>
          <a:xfrm>
            <a:off x="354965" y="1189990"/>
            <a:ext cx="11434445" cy="50044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如何描述一种语言</a:t>
            </a:r>
            <a:r>
              <a:rPr lang="en-US" altLang="zh-CN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符号串的集合</a:t>
            </a:r>
            <a:r>
              <a:rPr lang="en-US" altLang="zh-CN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？</a:t>
            </a:r>
            <a:endParaRPr lang="zh-CN" altLang="en-US" sz="3200" b="1" dirty="0">
              <a:solidFill>
                <a:srgbClr val="03010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如果语言是有穷的</a:t>
            </a:r>
            <a:r>
              <a:rPr lang="en-US" altLang="zh-CN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仅包含有穷个句子</a:t>
            </a:r>
            <a:r>
              <a:rPr lang="en-US" altLang="zh-CN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endParaRPr lang="zh-CN" altLang="en-US" sz="2800" b="1" dirty="0">
              <a:solidFill>
                <a:srgbClr val="03010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可以将句子逐一枚举进行表示。</a:t>
            </a:r>
            <a:endParaRPr lang="zh-CN" altLang="en-US" sz="2800" b="1" dirty="0">
              <a:solidFill>
                <a:srgbClr val="03010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如果语言是无穷的，找出语言的有穷表示</a:t>
            </a:r>
            <a:endParaRPr lang="zh-CN" altLang="en-US" sz="2800" b="1" dirty="0">
              <a:solidFill>
                <a:srgbClr val="03010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生成方式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文法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zh-CN" altLang="en-US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：语言的每个句子可以用定义的规则构造，例如，正规表达式。</a:t>
            </a:r>
            <a:endParaRPr lang="zh-CN" altLang="en-US" sz="2800" b="1" dirty="0">
              <a:solidFill>
                <a:srgbClr val="FF0066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识别方式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自动机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zh-CN" altLang="en-US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：用一个过程模型，输入的一任意串属于语言时，该过程经有限次计算后就会停止并回答“是”，若不属于，要么能停止并回答“不是”，要么永远继续下去，例如，</a:t>
            </a:r>
            <a:r>
              <a:rPr lang="en-US" altLang="zh-CN" sz="2800" b="1" dirty="0">
                <a:solidFill>
                  <a:srgbClr val="03010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DFA</a:t>
            </a:r>
            <a:endParaRPr lang="en-US" altLang="zh-CN" sz="2800" b="1" dirty="0">
              <a:solidFill>
                <a:srgbClr val="03010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81000" y="276860"/>
            <a:ext cx="869823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3.1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语言的表示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171" name="内容占位符 2"/>
          <p:cNvSpPr>
            <a:spLocks noGrp="1"/>
          </p:cNvSpPr>
          <p:nvPr/>
        </p:nvSpPr>
        <p:spPr>
          <a:xfrm>
            <a:off x="381635" y="1129030"/>
            <a:ext cx="11481435" cy="2724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6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正规表达式的局限性</a:t>
            </a:r>
            <a:endParaRPr lang="en-US" altLang="zh-CN" sz="36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正规表达式不能用于描述配对</a:t>
            </a:r>
            <a:r>
              <a:rPr lang="en-US" altLang="zh-CN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或嵌套</a:t>
            </a:r>
            <a:r>
              <a:rPr lang="en-US" altLang="zh-CN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的结构</a:t>
            </a:r>
            <a:endParaRPr lang="en-US" altLang="zh-CN" sz="32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{(</a:t>
            </a:r>
            <a:r>
              <a:rPr lang="en-US" altLang="zh-CN" sz="2800" b="1" baseline="30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en-US" altLang="zh-CN" sz="2800" b="1" baseline="30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| n &gt; 1}</a:t>
            </a:r>
            <a:endParaRPr lang="en-US" altLang="zh-CN" sz="28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正规表达式不能用于描述下述重复串</a:t>
            </a:r>
            <a:endParaRPr lang="en-US" altLang="zh-CN" sz="32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{wcw| w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形成的任意串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}</a:t>
            </a:r>
            <a:endParaRPr lang="en-US" altLang="zh-CN" sz="28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0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21212D"/>
                </a:solidFill>
                <a:sym typeface="+mn-ea"/>
              </a:rPr>
              <a:t>Noam Chomsky</a:t>
            </a:r>
            <a:r>
              <a:rPr lang="zh-CN" altLang="en-US" sz="3200" b="1" dirty="0">
                <a:solidFill>
                  <a:srgbClr val="21212D"/>
                </a:solidFill>
                <a:sym typeface="+mn-ea"/>
              </a:rPr>
              <a:t>研究了自然语言的结构，提出描述语言的</a:t>
            </a:r>
            <a:r>
              <a:rPr lang="zh-CN" altLang="en-US" sz="3200" b="1" dirty="0">
                <a:solidFill>
                  <a:srgbClr val="FF0066"/>
                </a:solidFill>
                <a:sym typeface="+mn-ea"/>
              </a:rPr>
              <a:t>数学系统</a:t>
            </a:r>
            <a:r>
              <a:rPr lang="en-US" altLang="zh-CN" sz="3200" b="1" dirty="0">
                <a:solidFill>
                  <a:srgbClr val="FF0066"/>
                </a:solidFill>
                <a:sym typeface="+mn-ea"/>
              </a:rPr>
              <a:t>(</a:t>
            </a:r>
            <a:r>
              <a:rPr lang="en-US" altLang="zh-CN" sz="3200" b="1" dirty="0">
                <a:solidFill>
                  <a:srgbClr val="21212D"/>
                </a:solidFill>
                <a:sym typeface="+mn-ea"/>
              </a:rPr>
              <a:t>Chomsky</a:t>
            </a:r>
            <a:r>
              <a:rPr lang="zh-CN" altLang="en-US" sz="3200" b="1" dirty="0">
                <a:solidFill>
                  <a:srgbClr val="FF0066"/>
                </a:solidFill>
                <a:sym typeface="+mn-ea"/>
              </a:rPr>
              <a:t>文法</a:t>
            </a:r>
            <a:r>
              <a:rPr lang="en-US" altLang="zh-CN" sz="3200" b="1" dirty="0">
                <a:solidFill>
                  <a:srgbClr val="FF0066"/>
                </a:solidFill>
                <a:sym typeface="+mn-ea"/>
              </a:rPr>
              <a:t>)</a:t>
            </a:r>
            <a:r>
              <a:rPr lang="zh-CN" altLang="en-US" sz="3200" b="1" dirty="0">
                <a:solidFill>
                  <a:srgbClr val="21212D"/>
                </a:solidFill>
                <a:sym typeface="+mn-ea"/>
              </a:rPr>
              <a:t>，定义了四类性质不同的文法</a:t>
            </a:r>
            <a:r>
              <a:rPr lang="en-US" altLang="zh-CN" sz="3200" b="1" dirty="0">
                <a:solidFill>
                  <a:srgbClr val="21212D"/>
                </a:solidFill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0型，1型，2型和3型文法</a:t>
            </a:r>
            <a:r>
              <a:rPr lang="en-US" altLang="zh-CN" sz="3200" b="1" dirty="0">
                <a:solidFill>
                  <a:srgbClr val="21212D"/>
                </a:solidFill>
                <a:sym typeface="+mn-ea"/>
              </a:rPr>
              <a:t>)</a:t>
            </a:r>
            <a:r>
              <a:rPr lang="zh-CN" altLang="en-US" sz="3200" b="1" dirty="0">
                <a:solidFill>
                  <a:srgbClr val="21212D"/>
                </a:solidFill>
                <a:sym typeface="+mn-ea"/>
              </a:rPr>
              <a:t>，称为</a:t>
            </a:r>
            <a:r>
              <a:rPr lang="zh-CN" altLang="en-US" sz="3200" b="1" dirty="0">
                <a:solidFill>
                  <a:srgbClr val="FF0066"/>
                </a:solidFill>
                <a:sym typeface="+mn-ea"/>
              </a:rPr>
              <a:t>语言（文法）的</a:t>
            </a:r>
            <a:r>
              <a:rPr lang="en-US" altLang="zh-CN" sz="3200" b="1" dirty="0">
                <a:solidFill>
                  <a:srgbClr val="21212D"/>
                </a:solidFill>
                <a:sym typeface="+mn-ea"/>
              </a:rPr>
              <a:t>Chomsky</a:t>
            </a:r>
            <a:r>
              <a:rPr lang="zh-CN" altLang="en-US" sz="3200" b="1" dirty="0">
                <a:solidFill>
                  <a:srgbClr val="FF0066"/>
                </a:solidFill>
                <a:sym typeface="+mn-ea"/>
              </a:rPr>
              <a:t>分类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。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marL="0" lvl="0" indent="0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zh-CN" altLang="en-US" sz="32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1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4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47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63220" y="276860"/>
            <a:ext cx="871601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3.1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语言的表示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35942" name="Rectangle 6"/>
          <p:cNvSpPr>
            <a:spLocks noGrp="1"/>
          </p:cNvSpPr>
          <p:nvPr/>
        </p:nvSpPr>
        <p:spPr>
          <a:xfrm>
            <a:off x="363855" y="1124585"/>
            <a:ext cx="11490960" cy="28352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2型</a:t>
            </a:r>
            <a:r>
              <a:rPr lang="zh-CN" altLang="en-US" sz="3200" b="1" dirty="0">
                <a:solidFill>
                  <a:srgbClr val="21212D"/>
                </a:solidFill>
              </a:rPr>
              <a:t>文法（或</a:t>
            </a:r>
            <a:r>
              <a:rPr lang="zh-CN" altLang="en-US" sz="3200" b="1" dirty="0">
                <a:solidFill>
                  <a:srgbClr val="FF0066"/>
                </a:solidFill>
              </a:rPr>
              <a:t>上下文无关文法</a:t>
            </a:r>
            <a:r>
              <a:rPr lang="zh-CN" altLang="en-US" sz="3200" b="1" dirty="0">
                <a:solidFill>
                  <a:srgbClr val="21212D"/>
                </a:solidFill>
              </a:rPr>
              <a:t>）作为程序设计语言语法结构描述的标准方式。</a:t>
            </a:r>
            <a:endParaRPr lang="zh-CN" altLang="en-US" sz="3200" b="1" dirty="0">
              <a:solidFill>
                <a:srgbClr val="21212D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2800" b="1" dirty="0">
                <a:solidFill>
                  <a:srgbClr val="21212D"/>
                </a:solidFill>
                <a:sym typeface="+mn-ea"/>
              </a:rPr>
              <a:t>Chomsky</a:t>
            </a:r>
            <a:r>
              <a:rPr lang="zh-CN" altLang="en-US" sz="2800" b="1" dirty="0">
                <a:solidFill>
                  <a:srgbClr val="FF0066"/>
                </a:solidFill>
                <a:sym typeface="+mn-ea"/>
              </a:rPr>
              <a:t>文法</a:t>
            </a:r>
            <a:r>
              <a:rPr lang="zh-CN" altLang="en-US" sz="2800" b="1" dirty="0">
                <a:solidFill>
                  <a:srgbClr val="03010F"/>
                </a:solidFill>
                <a:sym typeface="+mn-ea"/>
              </a:rPr>
              <a:t>用</a:t>
            </a:r>
            <a:r>
              <a:rPr lang="zh-CN" altLang="en-US" sz="2800" b="1" dirty="0">
                <a:solidFill>
                  <a:srgbClr val="FF0066"/>
                </a:solidFill>
                <a:sym typeface="+mn-ea"/>
              </a:rPr>
              <a:t>生成方式</a:t>
            </a:r>
            <a:r>
              <a:rPr lang="en-US" altLang="zh-CN" sz="2800" b="1" dirty="0">
                <a:solidFill>
                  <a:srgbClr val="FF0066"/>
                </a:solidFill>
                <a:sym typeface="+mn-ea"/>
              </a:rPr>
              <a:t>(</a:t>
            </a:r>
            <a:r>
              <a:rPr lang="zh-CN" altLang="en-US" sz="2800" b="1" dirty="0">
                <a:solidFill>
                  <a:srgbClr val="FF0066"/>
                </a:solidFill>
                <a:sym typeface="+mn-ea"/>
              </a:rPr>
              <a:t>规则</a:t>
            </a:r>
            <a:r>
              <a:rPr lang="en-US" altLang="zh-CN" sz="2800" b="1" dirty="0">
                <a:solidFill>
                  <a:srgbClr val="FF0066"/>
                </a:solidFill>
                <a:sym typeface="+mn-ea"/>
              </a:rPr>
              <a:t>)</a:t>
            </a:r>
            <a:r>
              <a:rPr lang="zh-CN" altLang="en-US" sz="2800" b="1" dirty="0">
                <a:solidFill>
                  <a:srgbClr val="03010F"/>
                </a:solidFill>
                <a:sym typeface="+mn-ea"/>
              </a:rPr>
              <a:t>描述语言，语言中的每个句子用严格定义的规则构造。例如：</a:t>
            </a:r>
            <a:r>
              <a:rPr lang="zh-CN" altLang="en-US" sz="2800" b="1" dirty="0">
                <a:solidFill>
                  <a:srgbClr val="FF0066"/>
                </a:solidFill>
                <a:sym typeface="+mn-ea"/>
              </a:rPr>
              <a:t>简单句子的语法结构表示规则:</a:t>
            </a:r>
            <a:endParaRPr lang="zh-CN" altLang="en-US" sz="2800" b="1" dirty="0">
              <a:solidFill>
                <a:srgbClr val="FF0066"/>
              </a:solidFill>
            </a:endParaRPr>
          </a:p>
          <a:p>
            <a:pPr lvl="2" eaLnBrk="1" hangingPunct="1">
              <a:lnSpc>
                <a:spcPct val="100000"/>
              </a:lnSpc>
            </a:pP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&lt;句子&gt;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→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&lt;主语&gt; &lt;谓语&gt;</a:t>
            </a:r>
            <a:endParaRPr lang="zh-CN" altLang="en-US" sz="2305" b="1" dirty="0">
              <a:solidFill>
                <a:srgbClr val="070709"/>
              </a:solidFill>
            </a:endParaRPr>
          </a:p>
          <a:p>
            <a:pPr lvl="2" eaLnBrk="1" hangingPunct="1">
              <a:lnSpc>
                <a:spcPct val="100000"/>
              </a:lnSpc>
            </a:pP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&lt;主语&gt;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→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 &lt;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冠词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&gt; &lt;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形容词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&gt; &lt;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名词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&gt;</a:t>
            </a:r>
            <a:endParaRPr lang="zh-CN" altLang="en-US" sz="2305" b="1" dirty="0">
              <a:solidFill>
                <a:srgbClr val="070709"/>
              </a:solidFill>
            </a:endParaRPr>
          </a:p>
          <a:p>
            <a:pPr lvl="2" eaLnBrk="1" hangingPunct="1">
              <a:lnSpc>
                <a:spcPct val="100000"/>
              </a:lnSpc>
            </a:pPr>
            <a:r>
              <a:rPr lang="en-US" altLang="zh-CN" sz="2305" b="1" dirty="0">
                <a:solidFill>
                  <a:srgbClr val="070709"/>
                </a:solidFill>
                <a:sym typeface="+mn-ea"/>
              </a:rPr>
              <a:t>&lt;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谓词&gt;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→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 &lt;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动词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&gt; &lt;直接宾语&gt;</a:t>
            </a:r>
            <a:endParaRPr lang="zh-CN" altLang="en-US" sz="2305" b="1" dirty="0">
              <a:solidFill>
                <a:srgbClr val="070709"/>
              </a:solidFill>
            </a:endParaRPr>
          </a:p>
          <a:p>
            <a:pPr lvl="2" eaLnBrk="1" hangingPunct="1">
              <a:lnSpc>
                <a:spcPct val="100000"/>
              </a:lnSpc>
            </a:pPr>
            <a:r>
              <a:rPr lang="en-US" altLang="zh-CN" sz="2305" b="1" dirty="0">
                <a:solidFill>
                  <a:srgbClr val="070709"/>
                </a:solidFill>
                <a:sym typeface="+mn-ea"/>
              </a:rPr>
              <a:t>&lt;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直接宾语&gt;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→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&lt;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冠词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&gt; &lt;</a:t>
            </a:r>
            <a:r>
              <a:rPr lang="zh-CN" altLang="en-US" sz="2305" b="1" dirty="0">
                <a:solidFill>
                  <a:srgbClr val="FF0066"/>
                </a:solidFill>
                <a:sym typeface="+mn-ea"/>
              </a:rPr>
              <a:t>名词</a:t>
            </a:r>
            <a:r>
              <a:rPr lang="zh-CN" altLang="en-US" sz="2305" b="1" dirty="0">
                <a:solidFill>
                  <a:srgbClr val="070709"/>
                </a:solidFill>
                <a:sym typeface="+mn-ea"/>
              </a:rPr>
              <a:t>&gt;</a:t>
            </a:r>
            <a:endParaRPr lang="en-US" altLang="zh-CN" sz="2305" b="1" dirty="0">
              <a:solidFill>
                <a:srgbClr val="070709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800" b="1" dirty="0">
                <a:solidFill>
                  <a:srgbClr val="070709"/>
                </a:solidFill>
                <a:sym typeface="+mn-ea"/>
              </a:rPr>
              <a:t>把上述两个字符串中间用一箭头分隔构成的有序对称为</a:t>
            </a:r>
            <a:r>
              <a:rPr lang="zh-CN" altLang="en-US" sz="3200" b="1" dirty="0">
                <a:solidFill>
                  <a:srgbClr val="F33345"/>
                </a:solidFill>
                <a:sym typeface="+mn-ea"/>
              </a:rPr>
              <a:t>产生式</a:t>
            </a:r>
            <a:r>
              <a:rPr lang="zh-CN" altLang="en-US" sz="2800" b="1" dirty="0">
                <a:solidFill>
                  <a:srgbClr val="070709"/>
                </a:solidFill>
                <a:sym typeface="+mn-ea"/>
              </a:rPr>
              <a:t>。其中， “ →”表示“由……组成”, “ →”也可以用=，::=，:来代替。</a:t>
            </a:r>
            <a:endParaRPr lang="zh-CN" altLang="en-US" sz="2800" b="1" dirty="0">
              <a:solidFill>
                <a:srgbClr val="070709"/>
              </a:solidFill>
              <a:sym typeface="+mn-ea"/>
            </a:endParaRPr>
          </a:p>
        </p:txBody>
      </p:sp>
      <p:sp>
        <p:nvSpPr>
          <p:cNvPr id="253959" name="Rectangle 7"/>
          <p:cNvSpPr>
            <a:spLocks noGrp="1"/>
          </p:cNvSpPr>
          <p:nvPr/>
        </p:nvSpPr>
        <p:spPr>
          <a:xfrm>
            <a:off x="364490" y="3119755"/>
            <a:ext cx="11490325" cy="42221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00000"/>
              </a:lnSpc>
            </a:pPr>
            <a:endParaRPr lang="zh-CN" altLang="en-US" sz="2000" b="1" dirty="0">
              <a:solidFill>
                <a:srgbClr val="07070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83540" y="276860"/>
            <a:ext cx="869569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三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上下文无关文法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905" y="1233170"/>
            <a:ext cx="10061575" cy="3488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3.1 语言的表示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上下文无关文法的形式定义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3.3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分析树</a:t>
            </a:r>
            <a:endParaRPr lang="en-US" altLang="zh-CN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</a:t>
            </a: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二义性文法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30" name="Rectangle 10"/>
          <p:cNvSpPr>
            <a:spLocks noGrp="1"/>
          </p:cNvSpPr>
          <p:nvPr/>
        </p:nvSpPr>
        <p:spPr>
          <a:xfrm>
            <a:off x="666115" y="1243330"/>
            <a:ext cx="10927715" cy="34563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lnSpc>
                <a:spcPct val="110000"/>
              </a:lnSpc>
            </a:pP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sym typeface="Symbol" panose="05050102010706020507" pitchFamily="18" charset="2"/>
              </a:rPr>
              <a:t>上下文</a:t>
            </a:r>
            <a:r>
              <a:rPr lang="zh-CN" altLang="en-US" sz="3200" b="1" dirty="0">
                <a:solidFill>
                  <a:srgbClr val="FF0066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  <a:sym typeface="Symbol" panose="05050102010706020507" pitchFamily="18" charset="2"/>
              </a:rPr>
              <a:t>无关</a:t>
            </a: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sym typeface="Symbol" panose="05050102010706020507" pitchFamily="18" charset="2"/>
              </a:rPr>
              <a:t>文法</a:t>
            </a:r>
            <a:endParaRPr lang="zh-CN" altLang="en-US" sz="3200" b="1" dirty="0">
              <a:solidFill>
                <a:srgbClr val="FF0066"/>
              </a:solidFill>
              <a:latin typeface="等线" panose="02010600030101010101" charset="-122"/>
              <a:ea typeface="等线" panose="02010600030101010101" charset="-122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070709"/>
                </a:solidFill>
              </a:rPr>
              <a:t>G</a:t>
            </a:r>
            <a:r>
              <a:rPr lang="zh-CN" altLang="en-US" b="1" dirty="0">
                <a:solidFill>
                  <a:srgbClr val="070709"/>
                </a:solidFill>
              </a:rPr>
              <a:t>是一个四元组，即</a:t>
            </a:r>
            <a:r>
              <a:rPr lang="en-US" altLang="zh-CN" b="1" dirty="0">
                <a:solidFill>
                  <a:srgbClr val="070709"/>
                </a:solidFill>
              </a:rPr>
              <a:t>G=(V</a:t>
            </a:r>
            <a:r>
              <a:rPr lang="en-US" altLang="zh-CN" b="1" baseline="-25000" dirty="0">
                <a:solidFill>
                  <a:srgbClr val="070709"/>
                </a:solidFill>
              </a:rPr>
              <a:t>T</a:t>
            </a:r>
            <a:r>
              <a:rPr lang="zh-CN" altLang="en-US" b="1" dirty="0">
                <a:solidFill>
                  <a:srgbClr val="070709"/>
                </a:solidFill>
              </a:rPr>
              <a:t> ， </a:t>
            </a:r>
            <a:r>
              <a:rPr lang="en-US" altLang="zh-CN" b="1" dirty="0">
                <a:solidFill>
                  <a:srgbClr val="070709"/>
                </a:solidFill>
              </a:rPr>
              <a:t>V</a:t>
            </a:r>
            <a:r>
              <a:rPr lang="en-US" altLang="zh-CN" b="1" baseline="-25000" dirty="0">
                <a:solidFill>
                  <a:srgbClr val="070709"/>
                </a:solidFill>
              </a:rPr>
              <a:t>N</a:t>
            </a:r>
            <a:r>
              <a:rPr lang="zh-CN" altLang="en-US" b="1" dirty="0">
                <a:solidFill>
                  <a:srgbClr val="070709"/>
                </a:solidFill>
              </a:rPr>
              <a:t> ， </a:t>
            </a:r>
            <a:r>
              <a:rPr lang="en-US" altLang="zh-CN" b="1" dirty="0">
                <a:solidFill>
                  <a:srgbClr val="070709"/>
                </a:solidFill>
              </a:rPr>
              <a:t>P</a:t>
            </a:r>
            <a:r>
              <a:rPr lang="zh-CN" altLang="en-US" b="1" dirty="0">
                <a:solidFill>
                  <a:srgbClr val="070709"/>
                </a:solidFill>
              </a:rPr>
              <a:t>，</a:t>
            </a:r>
            <a:r>
              <a:rPr lang="en-US" altLang="zh-CN" b="1" dirty="0">
                <a:solidFill>
                  <a:srgbClr val="070709"/>
                </a:solidFill>
              </a:rPr>
              <a:t>S)</a:t>
            </a:r>
            <a:r>
              <a:rPr lang="zh-CN" altLang="en-US" b="1" dirty="0">
                <a:solidFill>
                  <a:srgbClr val="070709"/>
                </a:solidFill>
              </a:rPr>
              <a:t>：</a:t>
            </a:r>
            <a:endParaRPr lang="zh-CN" altLang="en-US" b="1" dirty="0">
              <a:solidFill>
                <a:srgbClr val="070709"/>
              </a:solidFill>
            </a:endParaRPr>
          </a:p>
          <a:p>
            <a:pPr marL="967105" lvl="1" indent="-495935" eaLnBrk="1" hangingPunct="1">
              <a:lnSpc>
                <a:spcPct val="11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b="1" dirty="0"/>
              <a:t>终结符（或</a:t>
            </a:r>
            <a:r>
              <a:rPr lang="en-US" altLang="zh-CN" b="1" dirty="0"/>
              <a:t>Token</a:t>
            </a:r>
            <a:r>
              <a:rPr lang="zh-CN" altLang="en-US" b="1" dirty="0"/>
              <a:t>）集合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T</a:t>
            </a:r>
            <a:endParaRPr lang="en-US" altLang="zh-CN" b="1" baseline="-25000" dirty="0"/>
          </a:p>
          <a:p>
            <a:pPr marL="967105" lvl="1" indent="-495935" eaLnBrk="1" hangingPunct="1">
              <a:lnSpc>
                <a:spcPct val="11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b="1" dirty="0"/>
              <a:t>非终结符集合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(</a:t>
            </a:r>
            <a:r>
              <a:rPr lang="zh-CN" altLang="en-US" b="1" dirty="0"/>
              <a:t>与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T</a:t>
            </a:r>
            <a:r>
              <a:rPr lang="zh-CN" altLang="en-US" b="1" dirty="0"/>
              <a:t>不相交)</a:t>
            </a:r>
            <a:endParaRPr lang="zh-CN" altLang="en-US" b="1" dirty="0"/>
          </a:p>
          <a:p>
            <a:pPr marL="967105" lvl="1" indent="-495935" eaLnBrk="1" hangingPunct="1">
              <a:lnSpc>
                <a:spcPct val="11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b="1" dirty="0"/>
              <a:t>产生式或文法规则</a:t>
            </a:r>
            <a:r>
              <a:rPr lang="en-US" altLang="zh-CN" b="1" dirty="0"/>
              <a:t>A</a:t>
            </a:r>
            <a:r>
              <a:rPr lang="zh-CN" altLang="en-US" b="1" dirty="0"/>
              <a:t>→</a:t>
            </a:r>
            <a:r>
              <a:rPr lang="en-US" altLang="zh-CN" b="1" dirty="0"/>
              <a:t>α</a:t>
            </a:r>
            <a:r>
              <a:rPr lang="zh-CN" altLang="en-US" b="1" dirty="0"/>
              <a:t>形成的集合</a:t>
            </a:r>
            <a:r>
              <a:rPr lang="en-US" altLang="zh-CN" b="1" dirty="0"/>
              <a:t>P,</a:t>
            </a:r>
            <a:r>
              <a:rPr lang="zh-CN" altLang="en-US" b="1" dirty="0"/>
              <a:t>  其中</a:t>
            </a:r>
            <a:r>
              <a:rPr lang="en-US" altLang="zh-CN" b="1" dirty="0"/>
              <a:t>A∈V</a:t>
            </a:r>
            <a:r>
              <a:rPr lang="en-US" altLang="zh-CN" b="1" baseline="-25000" dirty="0"/>
              <a:t>N</a:t>
            </a:r>
            <a:r>
              <a:rPr lang="zh-CN" altLang="en-US" b="1" dirty="0"/>
              <a:t>，</a:t>
            </a:r>
            <a:r>
              <a:rPr lang="en-US" altLang="zh-CN" b="1" dirty="0"/>
              <a:t>α∈</a:t>
            </a:r>
            <a:r>
              <a:rPr lang="zh-CN" altLang="en-US" b="1" dirty="0"/>
              <a:t>(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∪V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)</a:t>
            </a:r>
            <a:r>
              <a:rPr lang="zh-CN" altLang="en-US" b="1" dirty="0"/>
              <a:t>*</a:t>
            </a:r>
            <a:endParaRPr lang="zh-CN" altLang="en-US" b="1" dirty="0"/>
          </a:p>
          <a:p>
            <a:pPr marL="967105" lvl="1" indent="-495935" eaLnBrk="1" hangingPunct="1">
              <a:lnSpc>
                <a:spcPct val="11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b="1" dirty="0"/>
              <a:t>开始符号</a:t>
            </a:r>
            <a:r>
              <a:rPr lang="en-US" altLang="zh-CN" b="1" dirty="0"/>
              <a:t>S</a:t>
            </a:r>
            <a:r>
              <a:rPr lang="zh-CN" altLang="en-US" b="1" dirty="0"/>
              <a:t>，其中</a:t>
            </a:r>
            <a:r>
              <a:rPr lang="en-US" altLang="zh-CN" b="1" dirty="0"/>
              <a:t>S∈V</a:t>
            </a:r>
            <a:r>
              <a:rPr lang="en-US" altLang="zh-CN" b="1" baseline="-25000" dirty="0"/>
              <a:t>N</a:t>
            </a:r>
            <a:endParaRPr lang="zh-CN" altLang="en-US" b="1" baseline="-25000" dirty="0"/>
          </a:p>
        </p:txBody>
      </p:sp>
      <p:sp>
        <p:nvSpPr>
          <p:cNvPr id="261123" name="Rectangle 3"/>
          <p:cNvSpPr/>
          <p:nvPr/>
        </p:nvSpPr>
        <p:spPr>
          <a:xfrm>
            <a:off x="1755458" y="1675130"/>
            <a:ext cx="800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lnSpc>
                <a:spcPct val="100000"/>
              </a:lnSpc>
              <a:buClrTx/>
              <a:buSzPct val="90000"/>
              <a:buFontTx/>
              <a:buNone/>
            </a:pPr>
            <a:r>
              <a:rPr lang="zh-CN" altLang="en-US" sz="2400" dirty="0"/>
              <a:t> </a:t>
            </a:r>
            <a:endParaRPr lang="zh-CN" altLang="en-US" sz="2800" b="1" dirty="0">
              <a:solidFill>
                <a:srgbClr val="070709"/>
              </a:solidFill>
            </a:endParaRPr>
          </a:p>
        </p:txBody>
      </p:sp>
      <p:sp useBgFill="1">
        <p:nvSpPr>
          <p:cNvPr id="261124" name="AutoShape 4"/>
          <p:cNvSpPr/>
          <p:nvPr/>
        </p:nvSpPr>
        <p:spPr>
          <a:xfrm>
            <a:off x="7884160" y="4154170"/>
            <a:ext cx="1981200" cy="990600"/>
          </a:xfrm>
          <a:prstGeom prst="cloudCallout">
            <a:avLst>
              <a:gd name="adj1" fmla="val -223076"/>
              <a:gd name="adj2" fmla="val -70897"/>
            </a:avLst>
          </a:prstGeom>
          <a:ln w="9525" cap="flat" cmpd="sng">
            <a:solidFill>
              <a:srgbClr val="07070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产生式的左部</a:t>
            </a:r>
            <a:endParaRPr lang="zh-CN" altLang="en-US" sz="2400" b="1" dirty="0">
              <a:solidFill>
                <a:srgbClr val="FF0066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 useBgFill="1">
        <p:nvSpPr>
          <p:cNvPr id="261125" name="AutoShape 5"/>
          <p:cNvSpPr/>
          <p:nvPr/>
        </p:nvSpPr>
        <p:spPr>
          <a:xfrm>
            <a:off x="8307070" y="2179320"/>
            <a:ext cx="1752600" cy="1066800"/>
          </a:xfrm>
          <a:prstGeom prst="cloudCallout">
            <a:avLst>
              <a:gd name="adj1" fmla="val -236630"/>
              <a:gd name="adj2" fmla="val 82440"/>
            </a:avLst>
          </a:prstGeom>
          <a:ln w="9525" cap="flat" cmpd="sng">
            <a:solidFill>
              <a:srgbClr val="07070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产生式的右部</a:t>
            </a:r>
            <a:endParaRPr lang="zh-CN" altLang="en-US" sz="2400" b="1" dirty="0">
              <a:solidFill>
                <a:srgbClr val="FF0066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261131" name="Rectangle 11"/>
          <p:cNvSpPr/>
          <p:nvPr/>
        </p:nvSpPr>
        <p:spPr>
          <a:xfrm>
            <a:off x="666115" y="5220970"/>
            <a:ext cx="9525635" cy="86487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None/>
            </a:pPr>
            <a:r>
              <a:rPr lang="zh-CN" altLang="en-US" sz="2400" b="1" dirty="0"/>
              <a:t>注：终结符和非终结符可以用单个字符表示，也可以用字符串表示。</a:t>
            </a:r>
            <a:endParaRPr lang="zh-CN" altLang="en-US" sz="2400" b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99415" y="276860"/>
            <a:ext cx="867981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3.2.1 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</a:t>
            </a:r>
            <a:r>
              <a:rPr lang="en-US" altLang="zh-CN"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即2型文法)的形式定义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5" grpId="0" bldLvl="0" animBg="1"/>
      <p:bldP spid="261124" grpId="0" animBg="1"/>
      <p:bldP spid="2611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2"/>
          <p:cNvSpPr txBox="1"/>
          <p:nvPr/>
        </p:nvSpPr>
        <p:spPr>
          <a:xfrm>
            <a:off x="514350" y="1310640"/>
            <a:ext cx="10088245" cy="632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例  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</a:t>
            </a:r>
            <a:r>
              <a:rPr lang="en-US" altLang="zh-CN" sz="3200" b="1" baseline="-30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=( { 0，1 }, 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{ N }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, 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2147" name="Text Box 3"/>
          <p:cNvSpPr txBox="1"/>
          <p:nvPr/>
        </p:nvSpPr>
        <p:spPr>
          <a:xfrm>
            <a:off x="1312545" y="2265045"/>
            <a:ext cx="8759190" cy="632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Tx/>
              <a:buSzPct val="90000"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非终结符集合：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</a:t>
            </a:r>
            <a:r>
              <a:rPr lang="en-US" altLang="zh-CN" sz="3200" b="1" baseline="-30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={ N }</a:t>
            </a:r>
            <a:endParaRPr lang="zh-CN" altLang="en-US" sz="32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2148" name="Text Box 4"/>
          <p:cNvSpPr txBox="1"/>
          <p:nvPr/>
        </p:nvSpPr>
        <p:spPr>
          <a:xfrm>
            <a:off x="1313180" y="2966085"/>
            <a:ext cx="8759190" cy="632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终结符集合： 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</a:t>
            </a:r>
            <a:r>
              <a:rPr lang="en-US" altLang="zh-CN" sz="3200" b="1" baseline="-30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={ 0，1 }</a:t>
            </a:r>
            <a:endParaRPr lang="zh-CN" altLang="en-US" sz="32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2149" name="Text Box 5"/>
          <p:cNvSpPr txBox="1"/>
          <p:nvPr/>
        </p:nvSpPr>
        <p:spPr>
          <a:xfrm>
            <a:off x="1313180" y="3598545"/>
            <a:ext cx="9899015" cy="1419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50000"/>
              </a:spcBef>
              <a:buClr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产生式的集合： </a:t>
            </a:r>
            <a:endParaRPr lang="zh-CN" altLang="en-US" sz="32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  P={ N→0N，N→1N，N→0，N→1 }</a:t>
            </a:r>
            <a:endParaRPr lang="zh-CN" altLang="en-US" sz="32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2150" name="Text Box 6"/>
          <p:cNvSpPr txBox="1"/>
          <p:nvPr/>
        </p:nvSpPr>
        <p:spPr>
          <a:xfrm>
            <a:off x="1312545" y="5018405"/>
            <a:ext cx="6598285" cy="632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50000"/>
              </a:spcBef>
              <a:buClr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开始符号为：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endParaRPr lang="en-US" altLang="zh-CN" sz="32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395" name="Rectangle 8"/>
          <p:cNvSpPr/>
          <p:nvPr/>
        </p:nvSpPr>
        <p:spPr>
          <a:xfrm>
            <a:off x="4918075" y="1310640"/>
            <a:ext cx="6954520" cy="632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{ N→0N, N→1N, N→0, N→1 }, N ）</a:t>
            </a:r>
            <a:endParaRPr lang="en-US" altLang="zh-CN" sz="32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99415" y="276860"/>
            <a:ext cx="867981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3.2.1 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</a:t>
            </a:r>
            <a:r>
              <a:rPr lang="en-US" altLang="zh-CN"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即2型文法)的形式定义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6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/>
      <p:bldP spid="262148" grpId="0"/>
      <p:bldP spid="262149" grpId="0"/>
      <p:bldP spid="2621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Text Box 2"/>
          <p:cNvSpPr txBox="1"/>
          <p:nvPr/>
        </p:nvSpPr>
        <p:spPr>
          <a:xfrm>
            <a:off x="327025" y="1209040"/>
            <a:ext cx="93897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FF0066"/>
                </a:solidFill>
              </a:rPr>
              <a:t>文法</a:t>
            </a:r>
            <a:r>
              <a:rPr lang="zh-CN" altLang="en-US" sz="3200" b="1" dirty="0">
                <a:solidFill>
                  <a:srgbClr val="FF0066"/>
                </a:solidFill>
              </a:rPr>
              <a:t>用产生式的集合</a:t>
            </a:r>
            <a:r>
              <a:rPr lang="zh-CN" altLang="en-US" sz="3200" b="1" dirty="0">
                <a:solidFill>
                  <a:srgbClr val="070709"/>
                </a:solidFill>
              </a:rPr>
              <a:t>表示：</a:t>
            </a:r>
            <a:endParaRPr lang="zh-CN" altLang="en-US" sz="3200" b="1" dirty="0">
              <a:solidFill>
                <a:srgbClr val="070709"/>
              </a:solidFill>
            </a:endParaRPr>
          </a:p>
        </p:txBody>
      </p:sp>
      <p:sp useBgFill="1">
        <p:nvSpPr>
          <p:cNvPr id="263171" name="Text Box 3"/>
          <p:cNvSpPr txBox="1"/>
          <p:nvPr/>
        </p:nvSpPr>
        <p:spPr>
          <a:xfrm>
            <a:off x="602933" y="2029143"/>
            <a:ext cx="3124200" cy="2799715"/>
          </a:xfrm>
          <a:prstGeom prst="rect">
            <a:avLst/>
          </a:prstGeom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G</a:t>
            </a:r>
            <a:r>
              <a:rPr lang="en-US" altLang="zh-CN" sz="3200" b="1" baseline="-25000" dirty="0">
                <a:solidFill>
                  <a:srgbClr val="070709"/>
                </a:solidFill>
              </a:rPr>
              <a:t>1</a:t>
            </a:r>
            <a:r>
              <a:rPr lang="en-US" altLang="zh-CN" sz="3200" b="1" dirty="0">
                <a:solidFill>
                  <a:srgbClr val="070709"/>
                </a:solidFill>
              </a:rPr>
              <a:t>[N]:</a:t>
            </a:r>
            <a:endParaRPr lang="en-US" altLang="zh-CN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      N→0N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N→1N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N→0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N→1</a:t>
            </a:r>
            <a:endParaRPr lang="en-US" altLang="zh-CN" sz="3200" b="1" dirty="0">
              <a:solidFill>
                <a:srgbClr val="070709"/>
              </a:solidFill>
            </a:endParaRPr>
          </a:p>
        </p:txBody>
      </p:sp>
      <p:sp useBgFill="1">
        <p:nvSpPr>
          <p:cNvPr id="263172" name="Text Box 4"/>
          <p:cNvSpPr txBox="1"/>
          <p:nvPr/>
        </p:nvSpPr>
        <p:spPr>
          <a:xfrm>
            <a:off x="462598" y="5042218"/>
            <a:ext cx="4114800" cy="1322070"/>
          </a:xfrm>
          <a:prstGeom prst="rect">
            <a:avLst/>
          </a:prstGeom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或写成</a:t>
            </a:r>
            <a:r>
              <a:rPr lang="en-US" altLang="zh-CN" sz="3200" b="1" dirty="0">
                <a:solidFill>
                  <a:srgbClr val="070709"/>
                </a:solidFill>
              </a:rPr>
              <a:t>G</a:t>
            </a:r>
            <a:r>
              <a:rPr lang="en-US" altLang="zh-CN" sz="3200" b="1" baseline="-25000" dirty="0">
                <a:solidFill>
                  <a:srgbClr val="070709"/>
                </a:solidFill>
              </a:rPr>
              <a:t>1</a:t>
            </a:r>
            <a:r>
              <a:rPr lang="en-US" altLang="zh-CN" sz="3200" b="1" dirty="0">
                <a:solidFill>
                  <a:srgbClr val="070709"/>
                </a:solidFill>
              </a:rPr>
              <a:t>[N]:</a:t>
            </a:r>
            <a:endParaRPr lang="en-US" altLang="zh-CN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N→0N | 1N | 0 | 1</a:t>
            </a:r>
            <a:endParaRPr lang="en-US" altLang="zh-CN" sz="3200" b="1" dirty="0">
              <a:solidFill>
                <a:srgbClr val="070709"/>
              </a:solidFill>
            </a:endParaRPr>
          </a:p>
        </p:txBody>
      </p:sp>
      <p:sp>
        <p:nvSpPr>
          <p:cNvPr id="263175" name="AutoShape 7"/>
          <p:cNvSpPr/>
          <p:nvPr/>
        </p:nvSpPr>
        <p:spPr>
          <a:xfrm>
            <a:off x="2397760" y="1736090"/>
            <a:ext cx="2700020" cy="1008380"/>
          </a:xfrm>
          <a:prstGeom prst="cloudCallout">
            <a:avLst>
              <a:gd name="adj1" fmla="val -72906"/>
              <a:gd name="adj2" fmla="val 8942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表示文法的开始符号</a:t>
            </a:r>
            <a:endParaRPr lang="zh-CN" altLang="en-US" sz="2400" b="1" dirty="0">
              <a:solidFill>
                <a:srgbClr val="FF3399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99415" y="276860"/>
            <a:ext cx="867981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3.2.1 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</a:t>
            </a:r>
            <a:r>
              <a:rPr lang="en-US" altLang="zh-CN"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即2型文法)的形式定义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5577840" y="1171575"/>
            <a:ext cx="6300470" cy="54775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None/>
            </a:pPr>
            <a:r>
              <a:rPr lang="zh-CN" altLang="en-US" sz="2800" b="1" dirty="0">
                <a:solidFill>
                  <a:srgbClr val="070709"/>
                </a:solidFill>
                <a:sym typeface="+mn-ea"/>
              </a:rPr>
              <a:t>包含加法、减法和乘法的简单整型算术表达式文法</a:t>
            </a:r>
            <a:r>
              <a:rPr lang="en-US" altLang="zh-CN" sz="2400" b="1" dirty="0">
                <a:solidFill>
                  <a:srgbClr val="070709"/>
                </a:solidFill>
              </a:rPr>
              <a:t>G[exp]</a:t>
            </a:r>
            <a:r>
              <a:rPr lang="zh-CN" altLang="en-US" sz="2400" b="1" dirty="0">
                <a:solidFill>
                  <a:srgbClr val="070709"/>
                </a:solidFill>
              </a:rPr>
              <a:t>：</a:t>
            </a:r>
            <a:endParaRPr lang="en-US" altLang="zh-CN" sz="24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None/>
            </a:pPr>
            <a:r>
              <a:rPr lang="en-US" altLang="zh-CN" sz="2800" b="1" i="1" dirty="0">
                <a:solidFill>
                  <a:srgbClr val="070709"/>
                </a:solidFill>
              </a:rPr>
              <a:t>exp </a:t>
            </a:r>
            <a:r>
              <a:rPr lang="zh-CN" altLang="en-US" sz="2800" b="1" dirty="0">
                <a:solidFill>
                  <a:srgbClr val="070709"/>
                </a:solidFill>
                <a:ea typeface="MingLiU" pitchFamily="49" charset="-128"/>
              </a:rPr>
              <a:t>→</a:t>
            </a:r>
            <a:r>
              <a:rPr lang="en-US" altLang="zh-CN" sz="2800" b="1" i="1" dirty="0">
                <a:solidFill>
                  <a:srgbClr val="070709"/>
                </a:solidFill>
              </a:rPr>
              <a:t> exp op exp</a:t>
            </a:r>
            <a:endParaRPr lang="en-US" altLang="zh-CN" sz="2800" b="1" i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800" b="1" i="1" dirty="0">
                <a:solidFill>
                  <a:srgbClr val="070709"/>
                </a:solidFill>
              </a:rPr>
              <a:t>exp </a:t>
            </a:r>
            <a:r>
              <a:rPr lang="zh-CN" altLang="en-US" sz="2800" b="1" dirty="0">
                <a:solidFill>
                  <a:srgbClr val="070709"/>
                </a:solidFill>
                <a:ea typeface="MingLiU" pitchFamily="49" charset="-128"/>
              </a:rPr>
              <a:t>→</a:t>
            </a:r>
            <a:r>
              <a:rPr lang="en-US" altLang="zh-CN" sz="2800" b="1" dirty="0">
                <a:solidFill>
                  <a:srgbClr val="070709"/>
                </a:solidFill>
              </a:rPr>
              <a:t>( </a:t>
            </a:r>
            <a:r>
              <a:rPr lang="en-US" altLang="zh-CN" sz="2800" b="1" i="1" dirty="0">
                <a:solidFill>
                  <a:srgbClr val="070709"/>
                </a:solidFill>
              </a:rPr>
              <a:t>exp </a:t>
            </a:r>
            <a:r>
              <a:rPr lang="en-US" altLang="zh-CN" sz="2800" b="1" dirty="0">
                <a:solidFill>
                  <a:srgbClr val="070709"/>
                </a:solidFill>
              </a:rPr>
              <a:t>)</a:t>
            </a:r>
            <a:endParaRPr lang="en-US" altLang="zh-CN" sz="28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800" b="1" i="1" dirty="0">
                <a:solidFill>
                  <a:srgbClr val="070709"/>
                </a:solidFill>
              </a:rPr>
              <a:t>exp </a:t>
            </a:r>
            <a:r>
              <a:rPr lang="zh-CN" altLang="en-US" sz="2800" b="1" dirty="0">
                <a:solidFill>
                  <a:srgbClr val="070709"/>
                </a:solidFill>
                <a:ea typeface="MingLiU" pitchFamily="49" charset="-128"/>
              </a:rPr>
              <a:t>→</a:t>
            </a:r>
            <a:r>
              <a:rPr lang="en-US" altLang="zh-CN" sz="2800" b="1" i="1" dirty="0">
                <a:solidFill>
                  <a:srgbClr val="070709"/>
                </a:solidFill>
              </a:rPr>
              <a:t> </a:t>
            </a:r>
            <a:r>
              <a:rPr lang="en-US" altLang="zh-CN" sz="2800" b="1" dirty="0"/>
              <a:t>number</a:t>
            </a:r>
            <a:endParaRPr lang="en-US" altLang="zh-CN" sz="2800" b="1" dirty="0"/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800" b="1" i="1" dirty="0">
                <a:solidFill>
                  <a:srgbClr val="070709"/>
                </a:solidFill>
              </a:rPr>
              <a:t>op </a:t>
            </a:r>
            <a:r>
              <a:rPr lang="zh-CN" altLang="en-US" sz="2800" b="1" dirty="0">
                <a:solidFill>
                  <a:srgbClr val="070709"/>
                </a:solidFill>
                <a:ea typeface="MingLiU" pitchFamily="49" charset="-128"/>
              </a:rPr>
              <a:t>→</a:t>
            </a:r>
            <a:r>
              <a:rPr lang="en-US" altLang="zh-CN" sz="2800" b="1" dirty="0">
                <a:solidFill>
                  <a:srgbClr val="070709"/>
                </a:solidFill>
              </a:rPr>
              <a:t> </a:t>
            </a:r>
            <a:r>
              <a:rPr lang="en-US" altLang="zh-CN" sz="2800" b="1" dirty="0"/>
              <a:t>+ </a:t>
            </a:r>
            <a:r>
              <a:rPr lang="en-US" altLang="zh-CN" sz="2800" b="1" dirty="0">
                <a:solidFill>
                  <a:srgbClr val="070709"/>
                </a:solidFill>
              </a:rPr>
              <a:t>| </a:t>
            </a:r>
            <a:r>
              <a:rPr lang="en-US" altLang="zh-CN" sz="2800" b="1" dirty="0"/>
              <a:t>- </a:t>
            </a:r>
            <a:r>
              <a:rPr lang="en-US" altLang="zh-CN" sz="2800" b="1" dirty="0">
                <a:solidFill>
                  <a:srgbClr val="070709"/>
                </a:solidFill>
              </a:rPr>
              <a:t>| </a:t>
            </a:r>
            <a:r>
              <a:rPr lang="en-US" altLang="zh-CN" sz="2800" b="1" dirty="0"/>
              <a:t>*</a:t>
            </a:r>
            <a:endParaRPr lang="en-US" altLang="zh-CN" sz="2800" b="1" dirty="0"/>
          </a:p>
          <a:p>
            <a:pPr marL="514350" lvl="0" indent="-51435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Font typeface="+mj-ea"/>
              <a:buAutoNum type="circleNumDbPlain"/>
            </a:pPr>
            <a:r>
              <a:rPr lang="zh-CN" altLang="en-US" sz="2800" b="1" dirty="0"/>
              <a:t>上述文法</a:t>
            </a:r>
            <a:r>
              <a:rPr lang="en-US" altLang="zh-CN" sz="2800" b="1" dirty="0"/>
              <a:t>G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70709"/>
                </a:solidFill>
                <a:latin typeface="宋体" panose="02010600030101010101" pitchFamily="2" charset="-122"/>
              </a:rPr>
              <a:t>终结符、非终结符、开始符号分别为？</a:t>
            </a:r>
            <a:endParaRPr lang="zh-CN" altLang="en-US" sz="2800" b="1" dirty="0">
              <a:solidFill>
                <a:srgbClr val="070709"/>
              </a:solidFill>
              <a:latin typeface="宋体" panose="02010600030101010101" pitchFamily="2" charset="-122"/>
            </a:endParaRPr>
          </a:p>
          <a:p>
            <a:pPr marL="514350" lvl="0" indent="-51435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Font typeface="+mj-ea"/>
              <a:buAutoNum type="circleNumDbPlain"/>
            </a:pPr>
            <a:r>
              <a:rPr lang="en-US" altLang="zh-CN" sz="2800" b="1" dirty="0">
                <a:sym typeface="+mn-ea"/>
              </a:rPr>
              <a:t>number </a:t>
            </a:r>
            <a:r>
              <a:rPr lang="en-US" altLang="zh-CN" sz="2800" b="1" i="1" dirty="0">
                <a:solidFill>
                  <a:srgbClr val="070709"/>
                </a:solidFill>
                <a:sym typeface="+mn-ea"/>
              </a:rPr>
              <a:t>– </a:t>
            </a:r>
            <a:r>
              <a:rPr lang="en-US" altLang="zh-CN" sz="2800" b="1" dirty="0">
                <a:sym typeface="+mn-ea"/>
              </a:rPr>
              <a:t>number</a:t>
            </a:r>
            <a:r>
              <a:rPr lang="zh-CN" altLang="en-US" sz="2800" b="1" dirty="0">
                <a:sym typeface="+mn-ea"/>
              </a:rPr>
              <a:t>是否是一个合法的句子？</a:t>
            </a:r>
            <a:endParaRPr lang="zh-CN" altLang="en-US" sz="2800" b="1" dirty="0">
              <a:solidFill>
                <a:srgbClr val="07070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3" name="Rectangle 7"/>
          <p:cNvSpPr>
            <a:spLocks noGrp="1"/>
          </p:cNvSpPr>
          <p:nvPr/>
        </p:nvSpPr>
        <p:spPr>
          <a:xfrm>
            <a:off x="630555" y="1196975"/>
            <a:ext cx="5768975" cy="4584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algn="l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直接推导</a:t>
            </a:r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就是产生式规则的一次运用（用产生式的右部</a:t>
            </a:r>
            <a:r>
              <a:rPr lang="zh-CN" altLang="en-US" sz="32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替换左部</a:t>
            </a:r>
            <a:r>
              <a:rPr lang="zh-CN" altLang="en-US" sz="32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），其</a:t>
            </a:r>
            <a:r>
              <a:rPr lang="zh-CN" altLang="en-US" sz="32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定义为：</a:t>
            </a:r>
            <a:endParaRPr lang="zh-CN" altLang="en-US" b="1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457200" lvl="2" algn="l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若有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v,w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满足： 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v=γαδ,	w=γβδ,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其中：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α→β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是文法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的产生式，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γ∈ 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</a:t>
            </a:r>
            <a:r>
              <a:rPr lang="en-US" altLang="zh-CN" sz="2800" b="1" baseline="-250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∪ V</a:t>
            </a:r>
            <a:r>
              <a:rPr lang="en-US" altLang="zh-CN" sz="2800" b="1" baseline="-250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*，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δ∈ 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</a:t>
            </a:r>
            <a:r>
              <a:rPr lang="en-US" altLang="zh-CN" sz="2800" b="1" baseline="-250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∪ V</a:t>
            </a:r>
            <a:r>
              <a:rPr lang="en-US" altLang="zh-CN" sz="2800" b="1" baseline="-250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*</a:t>
            </a:r>
            <a:endParaRPr lang="en-US" altLang="zh-CN" sz="2800" b="1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则称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直接推导到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zh-CN" altLang="zh-CN" sz="28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记作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 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也称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</a:t>
            </a:r>
            <a:r>
              <a:rPr lang="zh-CN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直接归约到</a:t>
            </a:r>
            <a:r>
              <a:rPr lang="en-US" altLang="zh-CN" sz="2800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v。</a:t>
            </a:r>
            <a:endParaRPr lang="en-US" altLang="zh-CN" sz="2800" b="1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35610" y="276860"/>
            <a:ext cx="864362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3.2.2 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推导和规约的定义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71362" name="Rectangle 2"/>
          <p:cNvSpPr/>
          <p:nvPr>
            <p:custDataLst>
              <p:tags r:id="rId1"/>
            </p:custDataLst>
          </p:nvPr>
        </p:nvSpPr>
        <p:spPr>
          <a:xfrm>
            <a:off x="6652260" y="1273810"/>
            <a:ext cx="527558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 typeface="Monotype Sorts"/>
              <a:buNone/>
            </a:pPr>
            <a:r>
              <a:rPr lang="zh-CN" altLang="en-US" sz="3200" b="1" dirty="0">
                <a:solidFill>
                  <a:srgbClr val="03010F"/>
                </a:solidFill>
              </a:rPr>
              <a:t>例：</a:t>
            </a:r>
            <a:r>
              <a:rPr lang="en-US" altLang="zh-CN" sz="3200" b="1" dirty="0">
                <a:solidFill>
                  <a:srgbClr val="03010F"/>
                </a:solidFill>
              </a:rPr>
              <a:t>G[S]：S→0S1，S→01</a:t>
            </a:r>
            <a:r>
              <a:rPr lang="en-US" altLang="zh-CN" sz="3200" b="1" dirty="0"/>
              <a:t> </a:t>
            </a:r>
            <a:endParaRPr lang="en-US" altLang="zh-CN" sz="3200" b="1" dirty="0"/>
          </a:p>
          <a:p>
            <a:pPr marL="0" lvl="0" indent="0" eaLnBrk="1" hangingPunct="1">
              <a:spcBef>
                <a:spcPct val="50000"/>
              </a:spcBef>
              <a:buFont typeface="Monotype Sorts"/>
              <a:buNone/>
            </a:pPr>
            <a:r>
              <a:rPr lang="zh-CN" altLang="en-US" sz="3200" b="1" dirty="0"/>
              <a:t>直接推导</a:t>
            </a:r>
            <a:r>
              <a:rPr lang="zh-CN" altLang="en-US" sz="3200" b="1" dirty="0"/>
              <a:t>举例：</a:t>
            </a:r>
            <a:r>
              <a:rPr lang="zh-CN" altLang="en-US" sz="3200" b="1" dirty="0">
                <a:latin typeface="Tahoma" panose="020B0604030504040204" pitchFamily="34" charset="0"/>
              </a:rPr>
              <a:t> </a:t>
            </a:r>
            <a:r>
              <a:rPr lang="zh-CN" altLang="en-US" sz="3200" b="1" dirty="0"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Tahoma" panose="020B0604030504040204" pitchFamily="34" charset="0"/>
              </a:rPr>
              <a:t>   </a:t>
            </a:r>
            <a:endParaRPr lang="zh-CN" altLang="en-US" sz="3200" dirty="0">
              <a:latin typeface="Tahoma" panose="020B0604030504040204" pitchFamily="34" charset="0"/>
            </a:endParaRPr>
          </a:p>
        </p:txBody>
      </p:sp>
      <p:sp>
        <p:nvSpPr>
          <p:cNvPr id="2" name="Rectangle 3"/>
          <p:cNvSpPr/>
          <p:nvPr>
            <p:custDataLst>
              <p:tags r:id="rId2"/>
            </p:custDataLst>
          </p:nvPr>
        </p:nvSpPr>
        <p:spPr>
          <a:xfrm>
            <a:off x="7739380" y="2837815"/>
            <a:ext cx="312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0S1</a:t>
            </a:r>
            <a:endParaRPr lang="zh-CN" altLang="en-US" sz="3200" b="1" dirty="0">
              <a:solidFill>
                <a:srgbClr val="FF0066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" name="Rectangle 4"/>
          <p:cNvSpPr/>
          <p:nvPr>
            <p:custDataLst>
              <p:tags r:id="rId3"/>
            </p:custDataLst>
          </p:nvPr>
        </p:nvSpPr>
        <p:spPr>
          <a:xfrm>
            <a:off x="7505700" y="3348990"/>
            <a:ext cx="35902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  0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0S1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zh-CN" altLang="en-US" sz="3200" b="1" dirty="0">
              <a:solidFill>
                <a:srgbClr val="03010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" name="Rectangle 5"/>
          <p:cNvSpPr/>
          <p:nvPr>
            <p:custDataLst>
              <p:tags r:id="rId4"/>
            </p:custDataLst>
          </p:nvPr>
        </p:nvSpPr>
        <p:spPr>
          <a:xfrm>
            <a:off x="7265670" y="3924935"/>
            <a:ext cx="46050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00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11  00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0S1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11</a:t>
            </a:r>
            <a:endParaRPr lang="zh-CN" altLang="en-US" sz="3200" b="1" dirty="0">
              <a:solidFill>
                <a:srgbClr val="03010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" name="Rectangle 6"/>
          <p:cNvSpPr/>
          <p:nvPr>
            <p:custDataLst>
              <p:tags r:id="rId5"/>
            </p:custDataLst>
          </p:nvPr>
        </p:nvSpPr>
        <p:spPr>
          <a:xfrm>
            <a:off x="6881495" y="4572635"/>
            <a:ext cx="56197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000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111  000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01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111</a:t>
            </a:r>
            <a:endParaRPr lang="zh-CN" altLang="en-US" sz="3200" b="1" dirty="0">
              <a:solidFill>
                <a:srgbClr val="03010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9" name="Rectangle 5"/>
          <p:cNvSpPr>
            <a:spLocks noGrp="1" noChangeArrowheads="1"/>
          </p:cNvSpPr>
          <p:nvPr/>
        </p:nvSpPr>
        <p:spPr>
          <a:xfrm>
            <a:off x="379095" y="1174750"/>
            <a:ext cx="11343005" cy="25565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推导的定义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：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3010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若存在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w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... 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(n&gt;0),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用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617E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=&gt;+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表示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到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经历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617E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一步或多步推导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，称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推导出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或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归约到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；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3010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617E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=&gt;*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32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表示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表示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到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w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零步或多步推导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3010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3010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35610" y="276860"/>
            <a:ext cx="864362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3.2.2 </a:t>
            </a: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推导和规约的定义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581" name="Rectangle 2"/>
          <p:cNvSpPr/>
          <p:nvPr>
            <p:custDataLst>
              <p:tags r:id="rId1"/>
            </p:custDataLst>
          </p:nvPr>
        </p:nvSpPr>
        <p:spPr>
          <a:xfrm>
            <a:off x="424180" y="3835400"/>
            <a:ext cx="1141222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lvl="0" indent="0" eaLnBrk="1" hangingPunct="1">
              <a:spcBef>
                <a:spcPct val="50000"/>
              </a:spcBef>
              <a:buFont typeface="Monotype Sorts"/>
              <a:buNone/>
            </a:pPr>
            <a:r>
              <a:rPr lang="zh-CN" altLang="en-US" sz="3200" b="1" dirty="0">
                <a:solidFill>
                  <a:srgbClr val="03010F"/>
                </a:solidFill>
              </a:rPr>
              <a:t>例：</a:t>
            </a:r>
            <a:r>
              <a:rPr lang="en-US" altLang="zh-CN" sz="3200" b="1" dirty="0">
                <a:solidFill>
                  <a:srgbClr val="03010F"/>
                </a:solidFill>
              </a:rPr>
              <a:t>G[S]： S→0S1， S→01</a:t>
            </a:r>
            <a:r>
              <a:rPr lang="zh-CN" altLang="en-US" sz="3200" b="1" dirty="0">
                <a:solidFill>
                  <a:srgbClr val="03010F"/>
                </a:solidFill>
              </a:rPr>
              <a:t>，</a:t>
            </a:r>
            <a:r>
              <a:rPr lang="zh-CN" altLang="en-US" sz="3200" b="1" dirty="0">
                <a:solidFill>
                  <a:srgbClr val="03010F"/>
                </a:solidFill>
                <a:latin typeface="Arial" panose="020B0604020202020204" pitchFamily="34" charset="0"/>
                <a:sym typeface="+mn-ea"/>
              </a:rPr>
              <a:t>给出字符串</a:t>
            </a:r>
            <a:r>
              <a:rPr lang="en-US" altLang="zh-CN" sz="3200" b="1" dirty="0">
                <a:solidFill>
                  <a:srgbClr val="03010F"/>
                </a:solidFill>
                <a:latin typeface="Arial" panose="020B0604020202020204" pitchFamily="34" charset="0"/>
                <a:sym typeface="+mn-ea"/>
              </a:rPr>
              <a:t>00001111</a:t>
            </a:r>
            <a:r>
              <a:rPr lang="zh-CN" altLang="en-US" sz="3200" b="1" dirty="0">
                <a:solidFill>
                  <a:srgbClr val="03010F"/>
                </a:solidFill>
                <a:latin typeface="Arial" panose="020B0604020202020204" pitchFamily="34" charset="0"/>
                <a:sym typeface="+mn-ea"/>
              </a:rPr>
              <a:t>的一个推导：</a:t>
            </a:r>
            <a:endParaRPr lang="zh-CN" altLang="en-US" sz="3200" b="1" dirty="0">
              <a:solidFill>
                <a:srgbClr val="03010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Font typeface="Monotype Sorts"/>
              <a:buNone/>
            </a:pPr>
            <a:r>
              <a:rPr lang="en-US" altLang="zh-CN" sz="3200" b="1" dirty="0">
                <a:latin typeface="Tahoma" panose="020B0604030504040204" pitchFamily="34" charset="0"/>
              </a:rPr>
              <a:t>  </a:t>
            </a:r>
            <a:r>
              <a:rPr lang="en-US" altLang="zh-CN" sz="3200" b="1" dirty="0"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ahoma" panose="020B0604030504040204" pitchFamily="34" charset="0"/>
              </a:rPr>
              <a:t>   </a:t>
            </a:r>
            <a:endParaRPr lang="en-US" altLang="zh-CN" sz="3200" dirty="0">
              <a:latin typeface="Tahoma" panose="020B0604030504040204" pitchFamily="34" charset="0"/>
            </a:endParaRPr>
          </a:p>
        </p:txBody>
      </p:sp>
      <p:sp>
        <p:nvSpPr>
          <p:cNvPr id="273411" name="Rectangle 3"/>
          <p:cNvSpPr/>
          <p:nvPr>
            <p:custDataLst>
              <p:tags r:id="rId2"/>
            </p:custDataLst>
          </p:nvPr>
        </p:nvSpPr>
        <p:spPr>
          <a:xfrm>
            <a:off x="1880235" y="4384675"/>
            <a:ext cx="871156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lvl="0" indent="0" eaLnBrk="1" hangingPunct="1">
              <a:spcBef>
                <a:spcPct val="50000"/>
              </a:spcBef>
              <a:buFont typeface="Monotype Sorts"/>
              <a:buNone/>
            </a:pP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</a:rPr>
              <a:t>S 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 0S1  00S11  000S111  00001111 </a:t>
            </a:r>
            <a:endParaRPr lang="en-US" altLang="zh-CN" sz="3200" b="1" dirty="0">
              <a:solidFill>
                <a:srgbClr val="03010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3412" name="Rectangle 4"/>
          <p:cNvSpPr/>
          <p:nvPr>
            <p:custDataLst>
              <p:tags r:id="rId3"/>
            </p:custDataLst>
          </p:nvPr>
        </p:nvSpPr>
        <p:spPr>
          <a:xfrm>
            <a:off x="1879918" y="5006340"/>
            <a:ext cx="71993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lvl="0" indent="0" eaLnBrk="1" hangingPunct="1">
              <a:spcBef>
                <a:spcPct val="50000"/>
              </a:spcBef>
              <a:buFont typeface="Monotype Sorts"/>
              <a:buNone/>
            </a:pP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</a:rPr>
              <a:t>S </a:t>
            </a:r>
            <a:r>
              <a:rPr lang="en-US" altLang="zh-CN" sz="3200" b="1" dirty="0">
                <a:solidFill>
                  <a:srgbClr val="03010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03010F"/>
                </a:solidFill>
                <a:latin typeface="宋体" panose="02010600030101010101" pitchFamily="2" charset="-122"/>
              </a:rPr>
              <a:t>+00001111</a:t>
            </a:r>
            <a:endParaRPr lang="en-US" altLang="zh-CN" sz="3200" b="1" dirty="0">
              <a:solidFill>
                <a:srgbClr val="03010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9" grpId="0" uiExpand="1" build="p"/>
      <p:bldP spid="273411" grpId="0"/>
      <p:bldP spid="2734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8" name="Rectangle 6"/>
          <p:cNvSpPr>
            <a:spLocks noGrp="1"/>
          </p:cNvSpPr>
          <p:nvPr/>
        </p:nvSpPr>
        <p:spPr>
          <a:xfrm>
            <a:off x="413385" y="1196975"/>
            <a:ext cx="11330940" cy="43078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70709"/>
                </a:solidFill>
              </a:rPr>
              <a:t>设</a:t>
            </a:r>
            <a:r>
              <a:rPr lang="en-US" altLang="zh-CN" b="1" dirty="0">
                <a:solidFill>
                  <a:srgbClr val="070709"/>
                </a:solidFill>
              </a:rPr>
              <a:t>G=(V</a:t>
            </a:r>
            <a:r>
              <a:rPr lang="en-US" altLang="zh-CN" b="1" baseline="-25000" dirty="0">
                <a:solidFill>
                  <a:srgbClr val="070709"/>
                </a:solidFill>
              </a:rPr>
              <a:t>N</a:t>
            </a:r>
            <a:r>
              <a:rPr lang="en-US" altLang="zh-CN" b="1" dirty="0">
                <a:solidFill>
                  <a:srgbClr val="070709"/>
                </a:solidFill>
              </a:rPr>
              <a:t> , V</a:t>
            </a:r>
            <a:r>
              <a:rPr lang="en-US" altLang="zh-CN" b="1" baseline="-25000" dirty="0">
                <a:solidFill>
                  <a:srgbClr val="070709"/>
                </a:solidFill>
              </a:rPr>
              <a:t>T</a:t>
            </a:r>
            <a:r>
              <a:rPr lang="en-US" altLang="zh-CN" b="1" dirty="0">
                <a:solidFill>
                  <a:srgbClr val="070709"/>
                </a:solidFill>
              </a:rPr>
              <a:t> , P , </a:t>
            </a:r>
            <a:r>
              <a:rPr lang="en-US" altLang="zh-CN" b="1" dirty="0">
                <a:solidFill>
                  <a:srgbClr val="FF3399"/>
                </a:solidFill>
              </a:rPr>
              <a:t>S</a:t>
            </a:r>
            <a:r>
              <a:rPr lang="en-US" altLang="zh-CN" b="1" dirty="0">
                <a:solidFill>
                  <a:srgbClr val="070709"/>
                </a:solidFill>
              </a:rPr>
              <a:t>)</a:t>
            </a:r>
            <a:r>
              <a:rPr lang="zh-CN" altLang="en-US" b="1" dirty="0">
                <a:solidFill>
                  <a:srgbClr val="070709"/>
                </a:solidFill>
              </a:rPr>
              <a:t>是一文法,且</a:t>
            </a:r>
            <a:r>
              <a:rPr lang="en-US" altLang="zh-CN" b="1" dirty="0">
                <a:solidFill>
                  <a:srgbClr val="070709"/>
                </a:solidFill>
              </a:rPr>
              <a:t> V=V</a:t>
            </a:r>
            <a:r>
              <a:rPr lang="en-US" altLang="zh-CN" b="1" baseline="-25000" dirty="0">
                <a:solidFill>
                  <a:srgbClr val="070709"/>
                </a:solidFill>
              </a:rPr>
              <a:t>N</a:t>
            </a:r>
            <a:r>
              <a:rPr lang="en-US" altLang="zh-CN" b="1" dirty="0">
                <a:solidFill>
                  <a:srgbClr val="070709"/>
                </a:solidFill>
              </a:rPr>
              <a:t>∪V</a:t>
            </a:r>
            <a:r>
              <a:rPr lang="en-US" altLang="zh-CN" b="1" baseline="-25000" dirty="0">
                <a:solidFill>
                  <a:srgbClr val="070709"/>
                </a:solidFill>
              </a:rPr>
              <a:t>T</a:t>
            </a:r>
            <a:endParaRPr lang="en-US" altLang="zh-CN" b="1" baseline="-25000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70709"/>
                </a:solidFill>
              </a:rPr>
              <a:t>若</a:t>
            </a:r>
            <a:r>
              <a:rPr lang="en-US" altLang="zh-CN" b="1" dirty="0">
                <a:solidFill>
                  <a:srgbClr val="FF3399"/>
                </a:solidFill>
              </a:rPr>
              <a:t>S</a:t>
            </a:r>
            <a:r>
              <a:rPr lang="en-US" altLang="zh-CN" b="1" dirty="0">
                <a:solidFill>
                  <a:srgbClr val="070709"/>
                </a:solidFill>
              </a:rPr>
              <a:t> </a:t>
            </a:r>
            <a:r>
              <a:rPr lang="en-US" altLang="zh-CN" b="1" dirty="0">
                <a:solidFill>
                  <a:srgbClr val="03010F"/>
                </a:solidFill>
                <a:sym typeface="Symbol" panose="05050102010706020507" pitchFamily="18" charset="2"/>
              </a:rPr>
              <a:t>=&gt;*</a:t>
            </a:r>
            <a:r>
              <a:rPr lang="en-US" altLang="zh-CN" b="1" dirty="0">
                <a:solidFill>
                  <a:srgbClr val="070709"/>
                </a:solidFill>
              </a:rPr>
              <a:t>α</a:t>
            </a:r>
            <a:r>
              <a:rPr lang="zh-CN" altLang="en-US" b="1" dirty="0">
                <a:solidFill>
                  <a:srgbClr val="070709"/>
                </a:solidFill>
              </a:rPr>
              <a:t>，</a:t>
            </a:r>
            <a:r>
              <a:rPr lang="en-US" altLang="zh-CN" b="1" dirty="0">
                <a:solidFill>
                  <a:srgbClr val="070709"/>
                </a:solidFill>
              </a:rPr>
              <a:t>α∈</a:t>
            </a:r>
            <a:r>
              <a:rPr lang="en-US" altLang="zh-CN" b="1" dirty="0">
                <a:solidFill>
                  <a:srgbClr val="FF5050"/>
                </a:solidFill>
              </a:rPr>
              <a:t>V*</a:t>
            </a:r>
            <a:r>
              <a:rPr lang="zh-CN" altLang="en-US" b="1" dirty="0">
                <a:solidFill>
                  <a:srgbClr val="070709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则称</a:t>
            </a:r>
            <a:r>
              <a:rPr lang="en-US" altLang="zh-CN" b="1" dirty="0">
                <a:solidFill>
                  <a:srgbClr val="FF0000"/>
                </a:solidFill>
              </a:rPr>
              <a:t>α</a:t>
            </a:r>
            <a:r>
              <a:rPr lang="zh-CN" altLang="en-US" b="1" dirty="0">
                <a:solidFill>
                  <a:srgbClr val="FF0000"/>
                </a:solidFill>
              </a:rPr>
              <a:t>为文法</a:t>
            </a:r>
            <a:r>
              <a:rPr lang="en-US" altLang="zh-CN" b="1" dirty="0">
                <a:solidFill>
                  <a:srgbClr val="FF0000"/>
                </a:solidFill>
              </a:rPr>
              <a:t>G</a:t>
            </a:r>
            <a:r>
              <a:rPr lang="zh-CN" altLang="en-US" b="1" dirty="0">
                <a:solidFill>
                  <a:srgbClr val="FF0000"/>
                </a:solidFill>
              </a:rPr>
              <a:t>的句型；</a:t>
            </a:r>
            <a:endParaRPr lang="zh-CN" altLang="en-US" b="1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70709"/>
                </a:solidFill>
              </a:rPr>
              <a:t>若</a:t>
            </a:r>
            <a:r>
              <a:rPr lang="en-US" altLang="zh-CN" b="1" dirty="0">
                <a:solidFill>
                  <a:srgbClr val="FF3399"/>
                </a:solidFill>
              </a:rPr>
              <a:t>S</a:t>
            </a:r>
            <a:r>
              <a:rPr lang="en-US" altLang="zh-CN" b="1" dirty="0">
                <a:solidFill>
                  <a:srgbClr val="03010F"/>
                </a:solidFill>
                <a:sym typeface="Symbol" panose="05050102010706020507" pitchFamily="18" charset="2"/>
              </a:rPr>
              <a:t>=&gt;+</a:t>
            </a:r>
            <a:r>
              <a:rPr lang="en-US" altLang="zh-CN" b="1" dirty="0">
                <a:solidFill>
                  <a:srgbClr val="070709"/>
                </a:solidFill>
              </a:rPr>
              <a:t>α</a:t>
            </a:r>
            <a:r>
              <a:rPr lang="zh-CN" altLang="en-US" b="1" dirty="0">
                <a:solidFill>
                  <a:srgbClr val="070709"/>
                </a:solidFill>
              </a:rPr>
              <a:t>，</a:t>
            </a:r>
            <a:r>
              <a:rPr lang="en-US" altLang="zh-CN" b="1" dirty="0">
                <a:solidFill>
                  <a:srgbClr val="070709"/>
                </a:solidFill>
              </a:rPr>
              <a:t>α∈</a:t>
            </a:r>
            <a:r>
              <a:rPr lang="en-US" altLang="zh-CN" b="1" dirty="0">
                <a:solidFill>
                  <a:srgbClr val="FF5050"/>
                </a:solidFill>
              </a:rPr>
              <a:t>V</a:t>
            </a:r>
            <a:r>
              <a:rPr lang="en-US" altLang="zh-CN" b="1" baseline="-25000" dirty="0">
                <a:solidFill>
                  <a:srgbClr val="FF5050"/>
                </a:solidFill>
              </a:rPr>
              <a:t>T</a:t>
            </a:r>
            <a:r>
              <a:rPr lang="en-US" altLang="zh-CN" b="1" dirty="0">
                <a:solidFill>
                  <a:srgbClr val="FF5050"/>
                </a:solidFill>
              </a:rPr>
              <a:t>*</a:t>
            </a:r>
            <a:r>
              <a:rPr lang="zh-CN" altLang="en-US" b="1" dirty="0">
                <a:solidFill>
                  <a:srgbClr val="070709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则称</a:t>
            </a:r>
            <a:r>
              <a:rPr lang="en-US" altLang="zh-CN" b="1" dirty="0">
                <a:solidFill>
                  <a:srgbClr val="FF0000"/>
                </a:solidFill>
              </a:rPr>
              <a:t>α</a:t>
            </a:r>
            <a:r>
              <a:rPr lang="zh-CN" altLang="en-US" b="1" dirty="0">
                <a:solidFill>
                  <a:srgbClr val="FF0000"/>
                </a:solidFill>
              </a:rPr>
              <a:t>为文法</a:t>
            </a:r>
            <a:r>
              <a:rPr lang="en-US" altLang="zh-CN" b="1" dirty="0">
                <a:solidFill>
                  <a:srgbClr val="FF0000"/>
                </a:solidFill>
              </a:rPr>
              <a:t>G</a:t>
            </a:r>
            <a:r>
              <a:rPr lang="zh-CN" altLang="en-US" b="1" dirty="0">
                <a:solidFill>
                  <a:srgbClr val="FF0000"/>
                </a:solidFill>
              </a:rPr>
              <a:t>的句子；</a:t>
            </a:r>
            <a:endParaRPr lang="zh-CN" altLang="en-US" b="1" dirty="0">
              <a:solidFill>
                <a:srgbClr val="070709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600" b="1" dirty="0">
                <a:solidFill>
                  <a:srgbClr val="070709"/>
                </a:solidFill>
                <a:sym typeface="+mn-ea"/>
              </a:rPr>
              <a:t>简单整型算术表达式文法</a:t>
            </a:r>
            <a:r>
              <a:rPr lang="en-US" altLang="zh-CN" sz="2600" b="1" dirty="0">
                <a:solidFill>
                  <a:srgbClr val="070709"/>
                </a:solidFill>
                <a:sym typeface="+mn-ea"/>
              </a:rPr>
              <a:t>G[exp]:</a:t>
            </a:r>
            <a:endParaRPr lang="en-US" altLang="zh-CN" sz="2600" b="1" dirty="0">
              <a:solidFill>
                <a:srgbClr val="070709"/>
              </a:solidFill>
              <a:sym typeface="+mn-ea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b="1" i="1" dirty="0">
                <a:solidFill>
                  <a:srgbClr val="070709"/>
                </a:solidFill>
                <a:sym typeface="+mn-ea"/>
              </a:rPr>
              <a:t>exp </a:t>
            </a:r>
            <a:r>
              <a:rPr lang="zh-CN" altLang="en-US" sz="2400" b="1" dirty="0">
                <a:solidFill>
                  <a:srgbClr val="070709"/>
                </a:solidFill>
                <a:sym typeface="+mn-ea"/>
              </a:rPr>
              <a:t>→</a:t>
            </a:r>
            <a:r>
              <a:rPr lang="en-US" altLang="zh-CN" sz="2400" b="1" i="1" dirty="0">
                <a:solidFill>
                  <a:srgbClr val="070709"/>
                </a:solidFill>
                <a:sym typeface="+mn-ea"/>
              </a:rPr>
              <a:t> exp op exp</a:t>
            </a:r>
            <a:r>
              <a:rPr lang="en-US" altLang="zh-CN" sz="2400" b="1" dirty="0">
                <a:solidFill>
                  <a:srgbClr val="070709"/>
                </a:solidFill>
                <a:sym typeface="+mn-ea"/>
              </a:rPr>
              <a:t>|</a:t>
            </a:r>
            <a:r>
              <a:rPr lang="en-US" altLang="zh-CN" sz="2400" b="1" dirty="0">
                <a:solidFill>
                  <a:srgbClr val="FF0066"/>
                </a:solidFill>
                <a:sym typeface="+mn-ea"/>
              </a:rPr>
              <a:t>(</a:t>
            </a:r>
            <a:r>
              <a:rPr lang="en-US" altLang="zh-CN" sz="2400" b="1" i="1" dirty="0">
                <a:solidFill>
                  <a:srgbClr val="070709"/>
                </a:solidFill>
                <a:sym typeface="+mn-ea"/>
              </a:rPr>
              <a:t>exp</a:t>
            </a:r>
            <a:r>
              <a:rPr lang="en-US" altLang="zh-CN" sz="2400" b="1" dirty="0">
                <a:solidFill>
                  <a:srgbClr val="FF0066"/>
                </a:solidFill>
                <a:sym typeface="+mn-ea"/>
              </a:rPr>
              <a:t>)</a:t>
            </a:r>
            <a:r>
              <a:rPr lang="en-US" altLang="zh-CN" sz="2400" b="1" dirty="0">
                <a:solidFill>
                  <a:srgbClr val="070709"/>
                </a:solidFill>
                <a:sym typeface="+mn-ea"/>
              </a:rPr>
              <a:t>|</a:t>
            </a:r>
            <a:r>
              <a:rPr lang="en-US" altLang="zh-CN" sz="2400" b="1" dirty="0">
                <a:solidFill>
                  <a:srgbClr val="FF0066"/>
                </a:solidFill>
                <a:sym typeface="+mn-ea"/>
              </a:rPr>
              <a:t>number</a:t>
            </a:r>
            <a:endParaRPr lang="en-US" altLang="zh-CN" sz="2400" b="1" dirty="0">
              <a:solidFill>
                <a:srgbClr val="FF0066"/>
              </a:solidFill>
              <a:sym typeface="+mn-ea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600" b="1" i="1" dirty="0">
                <a:solidFill>
                  <a:srgbClr val="070709"/>
                </a:solidFill>
                <a:sym typeface="+mn-ea"/>
              </a:rPr>
              <a:t>op </a:t>
            </a:r>
            <a:r>
              <a:rPr lang="zh-CN" altLang="en-US" sz="2600" b="1" dirty="0">
                <a:solidFill>
                  <a:srgbClr val="070709"/>
                </a:solidFill>
                <a:sym typeface="+mn-ea"/>
              </a:rPr>
              <a:t>→</a:t>
            </a:r>
            <a:r>
              <a:rPr lang="en-US" altLang="zh-CN" sz="2600" b="1" dirty="0">
                <a:solidFill>
                  <a:srgbClr val="070709"/>
                </a:solidFill>
                <a:sym typeface="+mn-ea"/>
              </a:rPr>
              <a:t> </a:t>
            </a:r>
            <a:r>
              <a:rPr lang="en-US" altLang="zh-CN" sz="2600" b="1" dirty="0">
                <a:solidFill>
                  <a:srgbClr val="FF0066"/>
                </a:solidFill>
                <a:sym typeface="+mn-ea"/>
              </a:rPr>
              <a:t>+</a:t>
            </a:r>
            <a:r>
              <a:rPr lang="en-US" altLang="zh-CN" sz="2600" b="1" dirty="0">
                <a:solidFill>
                  <a:srgbClr val="070709"/>
                </a:solidFill>
                <a:sym typeface="+mn-ea"/>
              </a:rPr>
              <a:t>|</a:t>
            </a:r>
            <a:r>
              <a:rPr lang="en-US" altLang="zh-CN" sz="2600" b="1" dirty="0">
                <a:solidFill>
                  <a:srgbClr val="FF0066"/>
                </a:solidFill>
                <a:sym typeface="+mn-ea"/>
              </a:rPr>
              <a:t>-</a:t>
            </a:r>
            <a:r>
              <a:rPr lang="en-US" altLang="zh-CN" sz="2600" b="1" dirty="0">
                <a:solidFill>
                  <a:srgbClr val="070709"/>
                </a:solidFill>
                <a:sym typeface="+mn-ea"/>
              </a:rPr>
              <a:t>|</a:t>
            </a:r>
            <a:r>
              <a:rPr lang="en-US" altLang="zh-CN" sz="2600" b="1" dirty="0">
                <a:solidFill>
                  <a:srgbClr val="FF0066"/>
                </a:solidFill>
                <a:sym typeface="+mn-ea"/>
              </a:rPr>
              <a:t>*</a:t>
            </a:r>
            <a:endParaRPr lang="en-US" altLang="zh-CN" sz="2600" b="1" dirty="0">
              <a:solidFill>
                <a:srgbClr val="070709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600" b="1" dirty="0">
                <a:solidFill>
                  <a:srgbClr val="070709"/>
                </a:solidFill>
                <a:sym typeface="+mn-ea"/>
              </a:rPr>
              <a:t>请给出算术表达式（34-3）*42的一个推导，列出推导过程中出现的句型和句子。</a:t>
            </a:r>
            <a:endParaRPr lang="en-US" altLang="zh-CN" sz="2600" b="1" dirty="0">
              <a:solidFill>
                <a:srgbClr val="070709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endParaRPr lang="en-US" altLang="zh-CN" b="1" dirty="0">
              <a:solidFill>
                <a:srgbClr val="070709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21005" y="276860"/>
            <a:ext cx="865822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3.2.3 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句型和句子的定义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99415" y="276860"/>
            <a:ext cx="867981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3.2.4  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最左和最右推导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2776" name="Rectangle 7"/>
          <p:cNvSpPr>
            <a:spLocks noGrp="1"/>
          </p:cNvSpPr>
          <p:nvPr/>
        </p:nvSpPr>
        <p:spPr>
          <a:xfrm>
            <a:off x="400050" y="1196975"/>
            <a:ext cx="5058410" cy="49618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4007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最左推导 </a:t>
            </a:r>
            <a:endParaRPr lang="zh-CN" altLang="en-US" sz="2800" b="1" dirty="0">
              <a:solidFill>
                <a:srgbClr val="F4007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文法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G[S]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 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*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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 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最左推导，在由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推导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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的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过程中，任何一步直接推导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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β，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都是用字符串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中的最左非终结符对应的产生式规则进行推导，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其中</a:t>
            </a:r>
            <a:r>
              <a:rPr lang="en-US" altLang="zh-CN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α、β</a:t>
            </a:r>
            <a:r>
              <a:rPr lang="zh-CN" altLang="en-US" sz="2000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是句型。</a:t>
            </a:r>
            <a:endParaRPr lang="zh-CN" altLang="en-US" sz="2000" b="1" dirty="0">
              <a:solidFill>
                <a:srgbClr val="05050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简单整型算术表达式文法：</a:t>
            </a:r>
            <a:endParaRPr lang="zh-CN" altLang="en-US" sz="28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i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exp </a:t>
            </a:r>
            <a:r>
              <a:rPr lang="zh-CN" altLang="en-US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→</a:t>
            </a:r>
            <a:r>
              <a:rPr lang="en-US" altLang="zh-CN" sz="2400" b="1" i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exp op exp</a:t>
            </a:r>
            <a:r>
              <a:rPr lang="en-US" altLang="zh-CN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|(</a:t>
            </a:r>
            <a:r>
              <a:rPr lang="en-US" altLang="zh-CN" sz="2400" b="1" i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exp</a:t>
            </a:r>
            <a:r>
              <a:rPr lang="en-US" altLang="zh-CN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)|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number</a:t>
            </a:r>
            <a:endParaRPr lang="en-US" altLang="zh-CN" sz="2400" b="1" dirty="0">
              <a:solidFill>
                <a:srgbClr val="FF339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i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op </a:t>
            </a:r>
            <a:r>
              <a:rPr lang="zh-CN" altLang="en-US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→</a:t>
            </a:r>
            <a:r>
              <a:rPr lang="en-US" altLang="zh-CN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+</a:t>
            </a:r>
            <a:r>
              <a:rPr lang="en-US" altLang="zh-CN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|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</a:t>
            </a:r>
            <a:r>
              <a:rPr lang="en-US" altLang="zh-CN" sz="24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|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*</a:t>
            </a:r>
            <a:endParaRPr lang="en-US" altLang="zh-CN" sz="2400" b="1" dirty="0">
              <a:solidFill>
                <a:srgbClr val="FF339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8530" name="Rectangle 2"/>
          <p:cNvSpPr/>
          <p:nvPr>
            <p:custDataLst>
              <p:tags r:id="rId1"/>
            </p:custDataLst>
          </p:nvPr>
        </p:nvSpPr>
        <p:spPr>
          <a:xfrm>
            <a:off x="5459095" y="1955165"/>
            <a:ext cx="6362065" cy="46081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  </a:t>
            </a:r>
            <a:r>
              <a:rPr lang="en-US" altLang="zh-CN" sz="3200" b="1" i="1" dirty="0">
                <a:solidFill>
                  <a:srgbClr val="070709"/>
                </a:solidFill>
              </a:rPr>
              <a:t>exp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 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op exp</a:t>
            </a:r>
            <a:endParaRPr lang="en-US" altLang="zh-CN" sz="3200" b="1" i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)op exp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endParaRPr lang="en-US" altLang="zh-CN" sz="3200" b="1" i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      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 (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op exp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)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op exp 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(number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op 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)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op exp 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(number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-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)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op exp 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(number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-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number)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op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exp 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(number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-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number) *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(number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-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number) *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</p:txBody>
      </p:sp>
      <p:sp>
        <p:nvSpPr>
          <p:cNvPr id="31751" name="Rectangle 4"/>
          <p:cNvSpPr/>
          <p:nvPr>
            <p:custDataLst>
              <p:tags r:id="rId2"/>
            </p:custDataLst>
          </p:nvPr>
        </p:nvSpPr>
        <p:spPr>
          <a:xfrm>
            <a:off x="5459095" y="1291590"/>
            <a:ext cx="6593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070709"/>
                </a:solidFill>
                <a:latin typeface="Arial" panose="020B0604020202020204" pitchFamily="34" charset="0"/>
              </a:rPr>
              <a:t>算术表达式（34-3）*42的</a:t>
            </a:r>
            <a:r>
              <a:rPr lang="zh-CN" altLang="en-US" sz="2800" b="1" dirty="0">
                <a:solidFill>
                  <a:srgbClr val="FF0066"/>
                </a:solidFill>
                <a:latin typeface="Arial" panose="020B0604020202020204" pitchFamily="34" charset="0"/>
              </a:rPr>
              <a:t>最左推导</a:t>
            </a:r>
            <a:r>
              <a:rPr lang="zh-CN" altLang="en-US" sz="2800" b="1" dirty="0">
                <a:solidFill>
                  <a:srgbClr val="070709"/>
                </a:solidFill>
                <a:latin typeface="Arial" panose="020B0604020202020204" pitchFamily="34" charset="0"/>
              </a:rPr>
              <a:t>：</a:t>
            </a:r>
            <a:endParaRPr lang="zh-CN" altLang="en-US" sz="2800" b="1" dirty="0">
              <a:solidFill>
                <a:srgbClr val="07070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charRg st="6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2776">
                                            <p:txEl>
                                              <p:charRg st="6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charRg st="106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2776">
                                            <p:txEl>
                                              <p:charRg st="106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charRg st="13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2776">
                                            <p:txEl>
                                              <p:charRg st="136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7853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19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78530">
                                            <p:txEl>
                                              <p:charRg st="19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4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278530">
                                            <p:txEl>
                                              <p:charRg st="42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278530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278530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137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278530">
                                            <p:txEl>
                                              <p:charRg st="137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173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278530">
                                            <p:txEl>
                                              <p:charRg st="173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278530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6" name="Rectangle 4"/>
          <p:cNvSpPr>
            <a:spLocks noGrp="1"/>
          </p:cNvSpPr>
          <p:nvPr/>
        </p:nvSpPr>
        <p:spPr>
          <a:xfrm>
            <a:off x="400050" y="1041400"/>
            <a:ext cx="4095115" cy="55727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4007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最右推导（规范推导）</a:t>
            </a:r>
            <a:endParaRPr lang="zh-CN" altLang="en-US" sz="2800" b="1" dirty="0">
              <a:solidFill>
                <a:srgbClr val="050507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最右推导</a:t>
            </a:r>
            <a:r>
              <a:rPr lang="en-US" altLang="zh-CN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 </a:t>
            </a:r>
            <a:r>
              <a:rPr lang="en-US" altLang="zh-CN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* </a:t>
            </a:r>
            <a:r>
              <a:rPr lang="zh-CN" altLang="en-US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：由</a:t>
            </a:r>
            <a:r>
              <a:rPr lang="en-US" altLang="zh-CN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推导</a:t>
            </a:r>
            <a:r>
              <a:rPr lang="en-US" altLang="zh-CN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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的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过程中，任何一步直接推导</a:t>
            </a:r>
            <a:r>
              <a:rPr lang="en-US" altLang="zh-CN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</a:t>
            </a:r>
            <a:r>
              <a:rPr lang="en-US" altLang="zh-CN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β，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都是用字符串</a:t>
            </a:r>
            <a:r>
              <a:rPr lang="en-US" altLang="zh-CN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中最右非终结符对应产生式规则进行推导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，其中</a:t>
            </a:r>
            <a:r>
              <a:rPr lang="en-US" altLang="zh-CN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α、β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规范句型</a:t>
            </a:r>
            <a:r>
              <a:rPr lang="zh-CN" altLang="en-US" b="1" dirty="0">
                <a:solidFill>
                  <a:srgbClr val="05050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。</a:t>
            </a:r>
            <a:endParaRPr lang="zh-CN" altLang="en-US" sz="2400" b="1" dirty="0">
              <a:solidFill>
                <a:srgbClr val="F4007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99415" y="276860"/>
            <a:ext cx="867981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3.2.4  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最左和最右推导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80578" name="Rectangle 2"/>
          <p:cNvSpPr/>
          <p:nvPr>
            <p:custDataLst>
              <p:tags r:id="rId1"/>
            </p:custDataLst>
          </p:nvPr>
        </p:nvSpPr>
        <p:spPr>
          <a:xfrm>
            <a:off x="4828540" y="1341755"/>
            <a:ext cx="6981825" cy="41751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 算术表达式（34-3）*42的</a:t>
            </a:r>
            <a:r>
              <a:rPr lang="zh-CN" altLang="en-US" sz="3200" b="1" dirty="0">
                <a:solidFill>
                  <a:srgbClr val="FF0066"/>
                </a:solidFill>
              </a:rPr>
              <a:t>最右推导</a:t>
            </a:r>
            <a:r>
              <a:rPr lang="zh-CN" altLang="en-US" sz="3200" b="1" dirty="0">
                <a:solidFill>
                  <a:srgbClr val="070709"/>
                </a:solidFill>
              </a:rPr>
              <a:t>：</a:t>
            </a:r>
            <a:endParaRPr lang="zh-CN" altLang="en-US" sz="3200" b="1" dirty="0">
              <a:solidFill>
                <a:srgbClr val="070709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 </a:t>
            </a:r>
            <a:r>
              <a:rPr lang="en-US" altLang="zh-CN" sz="3200" b="1" i="1" dirty="0">
                <a:solidFill>
                  <a:srgbClr val="070709"/>
                </a:solidFill>
              </a:rPr>
              <a:t>exp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exp op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endParaRPr lang="en-US" altLang="zh-CN" sz="3200" b="1" i="1" dirty="0">
              <a:solidFill>
                <a:srgbClr val="FF0066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exp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op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*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 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)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*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exp op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)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*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exp 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op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number) 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*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</a:t>
            </a:r>
            <a:r>
              <a:rPr lang="en-US" altLang="zh-CN" sz="3200" b="1" i="1" dirty="0">
                <a:solidFill>
                  <a:srgbClr val="FF0066"/>
                </a:solidFill>
                <a:sym typeface="Symbol" panose="05050102010706020507" pitchFamily="18" charset="2"/>
              </a:rPr>
              <a:t>exp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-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number) 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*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80000"/>
              </a:lnSpc>
              <a:buClrTx/>
              <a:buSzPct val="90000"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         (number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-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number) *</a:t>
            </a:r>
            <a:r>
              <a:rPr lang="en-US" altLang="zh-CN" sz="3200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endParaRPr lang="en-US" altLang="zh-CN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2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80578">
                                            <p:txEl>
                                              <p:charRg st="22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4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80578">
                                            <p:txEl>
                                              <p:charRg st="40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64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80578">
                                            <p:txEl>
                                              <p:charRg st="64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88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80578">
                                            <p:txEl>
                                              <p:charRg st="88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113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80578">
                                            <p:txEl>
                                              <p:charRg st="113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145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280578">
                                            <p:txEl>
                                              <p:charRg st="145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180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280578">
                                            <p:txEl>
                                              <p:charRg st="180" end="2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charRg st="214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280578">
                                            <p:txEl>
                                              <p:charRg st="214" end="2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70840" y="276860"/>
            <a:ext cx="870839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3.2.5 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文法定义的语言</a:t>
            </a:r>
            <a:endParaRPr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81605" name="Rectangle 5"/>
          <p:cNvSpPr>
            <a:spLocks noGrp="1"/>
          </p:cNvSpPr>
          <p:nvPr/>
        </p:nvSpPr>
        <p:spPr>
          <a:xfrm>
            <a:off x="435610" y="1196975"/>
            <a:ext cx="6261735" cy="34563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FF3399"/>
                </a:solidFill>
              </a:rPr>
              <a:t>文法</a:t>
            </a:r>
            <a:r>
              <a:rPr lang="en-US" altLang="zh-CN" sz="3600" b="1" dirty="0">
                <a:solidFill>
                  <a:srgbClr val="FF3399"/>
                </a:solidFill>
              </a:rPr>
              <a:t>G[S]</a:t>
            </a:r>
            <a:r>
              <a:rPr lang="zh-CN" altLang="en-US" sz="3600" b="1" dirty="0">
                <a:solidFill>
                  <a:srgbClr val="FF3399"/>
                </a:solidFill>
              </a:rPr>
              <a:t>定义的语言</a:t>
            </a:r>
            <a:r>
              <a:rPr lang="en-US" altLang="zh-CN" sz="3600" b="1" dirty="0">
                <a:solidFill>
                  <a:srgbClr val="FF3399"/>
                </a:solidFill>
              </a:rPr>
              <a:t>L(G)</a:t>
            </a:r>
            <a:r>
              <a:rPr lang="zh-CN" altLang="en-US" sz="3600" b="1" dirty="0">
                <a:solidFill>
                  <a:srgbClr val="FF3399"/>
                </a:solidFill>
              </a:rPr>
              <a:t> 为</a:t>
            </a:r>
            <a:r>
              <a:rPr lang="zh-CN" altLang="en-US" sz="3300" b="1" dirty="0">
                <a:solidFill>
                  <a:srgbClr val="03010F"/>
                </a:solidFill>
                <a:sym typeface="+mn-ea"/>
              </a:rPr>
              <a:t>所有句子构成的集合</a:t>
            </a:r>
            <a:r>
              <a:rPr lang="zh-CN" altLang="en-US" sz="3600" b="1" dirty="0">
                <a:solidFill>
                  <a:srgbClr val="03010F"/>
                </a:solidFill>
              </a:rPr>
              <a:t>：</a:t>
            </a:r>
            <a:endParaRPr lang="zh-CN" altLang="en-US" sz="3600" b="1" dirty="0">
              <a:solidFill>
                <a:srgbClr val="03010F"/>
              </a:solidFill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300" b="1" dirty="0">
                <a:solidFill>
                  <a:srgbClr val="03010F"/>
                </a:solidFill>
              </a:rPr>
              <a:t>L(G)={x  | S </a:t>
            </a:r>
            <a:r>
              <a:rPr lang="en-US" altLang="zh-CN" sz="3300" b="1" dirty="0">
                <a:solidFill>
                  <a:srgbClr val="03010F"/>
                </a:solidFill>
                <a:sym typeface="Symbol" panose="05050102010706020507" pitchFamily="18" charset="2"/>
              </a:rPr>
              <a:t>=&gt;+</a:t>
            </a:r>
            <a:r>
              <a:rPr lang="en-US" altLang="zh-CN" sz="3300" b="1" dirty="0">
                <a:solidFill>
                  <a:srgbClr val="03010F"/>
                </a:solidFill>
              </a:rPr>
              <a:t>x,</a:t>
            </a:r>
            <a:r>
              <a:rPr lang="zh-CN" altLang="en-US" sz="3300" b="1" dirty="0">
                <a:solidFill>
                  <a:srgbClr val="03010F"/>
                </a:solidFill>
              </a:rPr>
              <a:t>其中</a:t>
            </a:r>
            <a:r>
              <a:rPr lang="en-US" altLang="zh-CN" sz="3300" b="1" dirty="0">
                <a:solidFill>
                  <a:srgbClr val="03010F"/>
                </a:solidFill>
              </a:rPr>
              <a:t>S</a:t>
            </a:r>
            <a:r>
              <a:rPr lang="zh-CN" altLang="en-US" sz="3300" b="1" dirty="0">
                <a:solidFill>
                  <a:srgbClr val="03010F"/>
                </a:solidFill>
              </a:rPr>
              <a:t>为开始符号,</a:t>
            </a:r>
            <a:r>
              <a:rPr lang="en-US" altLang="zh-CN" sz="3300" b="1" dirty="0">
                <a:solidFill>
                  <a:srgbClr val="03010F"/>
                </a:solidFill>
              </a:rPr>
              <a:t>x ∈V</a:t>
            </a:r>
            <a:r>
              <a:rPr lang="en-US" altLang="zh-CN" sz="3300" b="1" baseline="-25000" dirty="0">
                <a:solidFill>
                  <a:srgbClr val="03010F"/>
                </a:solidFill>
              </a:rPr>
              <a:t>T</a:t>
            </a:r>
            <a:r>
              <a:rPr lang="en-US" altLang="zh-CN" sz="3300" b="1" dirty="0">
                <a:solidFill>
                  <a:srgbClr val="03010F"/>
                </a:solidFill>
              </a:rPr>
              <a:t>*} </a:t>
            </a:r>
            <a:endParaRPr lang="zh-CN" altLang="en-US" sz="3300" b="1" dirty="0">
              <a:solidFill>
                <a:srgbClr val="03010F"/>
              </a:solidFill>
            </a:endParaRPr>
          </a:p>
          <a:p>
            <a:pPr lvl="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3399"/>
                </a:solidFill>
              </a:rPr>
              <a:t>上下文无关文法定义的语言称作上下文无关语言。</a:t>
            </a:r>
            <a:endParaRPr lang="zh-CN" altLang="en-US" sz="3200" b="1" dirty="0">
              <a:solidFill>
                <a:srgbClr val="FF3399"/>
              </a:solidFill>
            </a:endParaRPr>
          </a:p>
        </p:txBody>
      </p:sp>
      <p:sp>
        <p:nvSpPr>
          <p:cNvPr id="36869" name="Rectangle 2"/>
          <p:cNvSpPr/>
          <p:nvPr>
            <p:custDataLst>
              <p:tags r:id="rId1"/>
            </p:custDataLst>
          </p:nvPr>
        </p:nvSpPr>
        <p:spPr>
          <a:xfrm>
            <a:off x="7202805" y="1228725"/>
            <a:ext cx="4603750" cy="3169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文法定义的语言举例</a:t>
            </a:r>
            <a:endParaRPr lang="zh-CN" altLang="en-US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例</a:t>
            </a:r>
            <a:r>
              <a:rPr lang="en-US" altLang="zh-CN" sz="3200" b="1" dirty="0">
                <a:solidFill>
                  <a:srgbClr val="070709"/>
                </a:solidFill>
              </a:rPr>
              <a:t>5.</a:t>
            </a:r>
            <a:r>
              <a:rPr lang="zh-CN" altLang="en-US" sz="3200" b="1" dirty="0">
                <a:solidFill>
                  <a:srgbClr val="070709"/>
                </a:solidFill>
              </a:rPr>
              <a:t>1：有文法</a:t>
            </a:r>
            <a:r>
              <a:rPr lang="en-US" altLang="zh-CN" sz="3200" b="1" dirty="0">
                <a:solidFill>
                  <a:srgbClr val="070709"/>
                </a:solidFill>
              </a:rPr>
              <a:t>G[Z]: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  (1)Z →aZb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  (2)Z →ab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zh-CN" altLang="en-US" sz="3200" b="1" dirty="0">
                <a:solidFill>
                  <a:srgbClr val="070709"/>
                </a:solidFill>
              </a:rPr>
              <a:t>它定义的</a:t>
            </a:r>
            <a:r>
              <a:rPr lang="zh-CN" altLang="en-US" sz="3200" b="1" dirty="0">
                <a:solidFill>
                  <a:srgbClr val="FF0066"/>
                </a:solidFill>
              </a:rPr>
              <a:t>语言</a:t>
            </a:r>
            <a:r>
              <a:rPr lang="zh-CN" altLang="en-US" sz="3200" b="1" dirty="0">
                <a:solidFill>
                  <a:srgbClr val="070709"/>
                </a:solidFill>
              </a:rPr>
              <a:t>是什么？</a:t>
            </a:r>
            <a:endParaRPr lang="zh-CN" altLang="en-US" sz="3200" b="1" dirty="0">
              <a:solidFill>
                <a:srgbClr val="070709"/>
              </a:solidFill>
            </a:endParaRPr>
          </a:p>
        </p:txBody>
      </p:sp>
      <p:sp>
        <p:nvSpPr>
          <p:cNvPr id="283652" name="Rectangle 4"/>
          <p:cNvSpPr/>
          <p:nvPr>
            <p:custDataLst>
              <p:tags r:id="rId2"/>
            </p:custDataLst>
          </p:nvPr>
        </p:nvSpPr>
        <p:spPr>
          <a:xfrm>
            <a:off x="7202805" y="4282440"/>
            <a:ext cx="460311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endParaRPr lang="zh-CN" altLang="en-US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106" name="Rectangle 2"/>
          <p:cNvSpPr/>
          <p:nvPr/>
        </p:nvSpPr>
        <p:spPr>
          <a:xfrm>
            <a:off x="449580" y="1196975"/>
            <a:ext cx="10704195" cy="4456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  <a:sym typeface="+mn-ea"/>
              </a:rPr>
              <a:t>由上述规则</a:t>
            </a:r>
            <a:r>
              <a:rPr lang="en-US" altLang="zh-CN" sz="3200" b="1" dirty="0">
                <a:solidFill>
                  <a:srgbClr val="070709"/>
                </a:solidFill>
                <a:sym typeface="+mn-ea"/>
              </a:rPr>
              <a:t>(2)</a:t>
            </a:r>
            <a:r>
              <a:rPr lang="zh-CN" altLang="en-US" sz="3200" b="1" dirty="0">
                <a:solidFill>
                  <a:srgbClr val="070709"/>
                </a:solidFill>
                <a:sym typeface="+mn-ea"/>
              </a:rPr>
              <a:t>知: </a:t>
            </a:r>
            <a:r>
              <a:rPr lang="en-US" altLang="zh-CN" sz="3200" b="1" dirty="0">
                <a:solidFill>
                  <a:srgbClr val="070709"/>
                </a:solidFill>
                <a:sym typeface="+mn-ea"/>
              </a:rPr>
              <a:t>Z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ab  </a:t>
            </a:r>
            <a:r>
              <a:rPr lang="zh-CN" altLang="en-US" sz="3200" b="1" dirty="0">
                <a:solidFill>
                  <a:srgbClr val="070709"/>
                </a:solidFill>
                <a:sym typeface="Symbol" panose="05050102010706020507" pitchFamily="18" charset="2"/>
              </a:rPr>
              <a:t>故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ab</a:t>
            </a:r>
            <a:r>
              <a:rPr lang="zh-CN" altLang="en-US" sz="3200" b="1" dirty="0">
                <a:solidFill>
                  <a:srgbClr val="070709"/>
                </a:solidFill>
                <a:sym typeface="Symbol" panose="05050102010706020507" pitchFamily="18" charset="2"/>
              </a:rPr>
              <a:t>是文法的一个句子</a:t>
            </a:r>
            <a:endParaRPr lang="zh-CN" altLang="en-US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由</a:t>
            </a:r>
            <a:r>
              <a:rPr lang="zh-CN" altLang="en-US" sz="3200" b="1" dirty="0">
                <a:solidFill>
                  <a:srgbClr val="070709"/>
                </a:solidFill>
                <a:sym typeface="+mn-ea"/>
              </a:rPr>
              <a:t>上述规则</a:t>
            </a:r>
            <a:r>
              <a:rPr lang="en-US" altLang="zh-CN" sz="3200" b="1" dirty="0">
                <a:solidFill>
                  <a:srgbClr val="070709"/>
                </a:solidFill>
              </a:rPr>
              <a:t>(1)(2)</a:t>
            </a:r>
            <a:r>
              <a:rPr lang="zh-CN" altLang="en-US" sz="3200" b="1" dirty="0">
                <a:solidFill>
                  <a:srgbClr val="070709"/>
                </a:solidFill>
              </a:rPr>
              <a:t>知:</a:t>
            </a:r>
            <a:endParaRPr lang="zh-CN" altLang="en-US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  Z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aZba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2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b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2 </a:t>
            </a:r>
            <a:r>
              <a:rPr lang="zh-CN" altLang="en-US" sz="3200" b="1" dirty="0">
                <a:solidFill>
                  <a:srgbClr val="070709"/>
                </a:solidFill>
                <a:sym typeface="Symbol" panose="05050102010706020507" pitchFamily="18" charset="2"/>
              </a:rPr>
              <a:t>故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a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2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b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2</a:t>
            </a:r>
            <a:r>
              <a:rPr lang="zh-CN" altLang="en-US" sz="3200" b="1" dirty="0">
                <a:solidFill>
                  <a:srgbClr val="070709"/>
                </a:solidFill>
                <a:sym typeface="Symbol" panose="05050102010706020507" pitchFamily="18" charset="2"/>
              </a:rPr>
              <a:t>是文法的一个句子</a:t>
            </a:r>
            <a:endParaRPr lang="zh-CN" altLang="en-US" sz="32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反复使用产生式(1)：</a:t>
            </a:r>
            <a:endParaRPr lang="zh-CN" altLang="en-US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   Z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aZba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2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Zb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2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…  a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n-1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Zb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n-1 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 a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n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b</a:t>
            </a:r>
            <a:r>
              <a:rPr lang="en-US" altLang="zh-CN" sz="3200" b="1" baseline="30000" dirty="0">
                <a:solidFill>
                  <a:srgbClr val="070709"/>
                </a:solidFill>
                <a:sym typeface="Symbol" panose="05050102010706020507" pitchFamily="18" charset="2"/>
              </a:rPr>
              <a:t>n</a:t>
            </a:r>
            <a:endParaRPr lang="en-US" altLang="zh-CN" sz="3200" b="1" baseline="30000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</a:rPr>
              <a:t>所以上述文法所定义的语言为：</a:t>
            </a:r>
            <a:endParaRPr lang="zh-CN" altLang="en-US" sz="3200" b="1" dirty="0">
              <a:solidFill>
                <a:srgbClr val="070709"/>
              </a:solidFill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 L(G[Z])={a</a:t>
            </a:r>
            <a:r>
              <a:rPr lang="en-US" altLang="zh-CN" sz="3200" b="1" baseline="30000" dirty="0">
                <a:solidFill>
                  <a:srgbClr val="070709"/>
                </a:solidFill>
              </a:rPr>
              <a:t>n</a:t>
            </a:r>
            <a:r>
              <a:rPr lang="en-US" altLang="zh-CN" sz="3200" b="1" dirty="0">
                <a:solidFill>
                  <a:srgbClr val="070709"/>
                </a:solidFill>
              </a:rPr>
              <a:t>b</a:t>
            </a:r>
            <a:r>
              <a:rPr lang="en-US" altLang="zh-CN" sz="3200" b="1" baseline="30000" dirty="0">
                <a:solidFill>
                  <a:srgbClr val="070709"/>
                </a:solidFill>
              </a:rPr>
              <a:t>n </a:t>
            </a:r>
            <a:r>
              <a:rPr lang="en-US" altLang="zh-CN" sz="3200" b="1" dirty="0">
                <a:solidFill>
                  <a:srgbClr val="070709"/>
                </a:solidFill>
              </a:rPr>
              <a:t>| n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3200" b="1" dirty="0">
                <a:solidFill>
                  <a:srgbClr val="070709"/>
                </a:solidFill>
              </a:rPr>
              <a:t>1}</a:t>
            </a:r>
            <a:endParaRPr lang="en-US" altLang="zh-CN" sz="3200" b="1" dirty="0">
              <a:solidFill>
                <a:srgbClr val="070709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70840" y="276860"/>
            <a:ext cx="870839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3.2.5 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文法定义的语言</a:t>
            </a:r>
            <a:endParaRPr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4310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6">
                                            <p:txEl>
                                              <p:charRg st="1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43106">
                                            <p:txEl>
                                              <p:charRg st="1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6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943106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6">
                                            <p:txEl>
                                              <p:charRg st="49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943106">
                                            <p:txEl>
                                              <p:charRg st="49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6">
                                            <p:txEl>
                                              <p:charRg st="8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943106">
                                            <p:txEl>
                                              <p:charRg st="84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6">
                                            <p:txEl>
                                              <p:charRg st="99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943106">
                                            <p:txEl>
                                              <p:charRg st="99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Text Box 2"/>
          <p:cNvSpPr txBox="1"/>
          <p:nvPr/>
        </p:nvSpPr>
        <p:spPr>
          <a:xfrm>
            <a:off x="534670" y="1313180"/>
            <a:ext cx="105867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</a:rPr>
              <a:t>5.2</a:t>
            </a: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：已知语言</a:t>
            </a:r>
            <a:r>
              <a:rPr lang="zh-CN" altLang="en-US" sz="3200" b="1" dirty="0">
                <a:solidFill>
                  <a:srgbClr val="070709"/>
                </a:solidFill>
              </a:rPr>
              <a:t>为  </a:t>
            </a:r>
            <a:r>
              <a:rPr lang="en-US" altLang="zh-CN" sz="3200" b="1" dirty="0">
                <a:solidFill>
                  <a:srgbClr val="070709"/>
                </a:solidFill>
              </a:rPr>
              <a:t>L(G)={ab</a:t>
            </a:r>
            <a:r>
              <a:rPr lang="en-US" altLang="zh-CN" sz="3200" b="1" baseline="30000" dirty="0">
                <a:solidFill>
                  <a:srgbClr val="070709"/>
                </a:solidFill>
              </a:rPr>
              <a:t>n</a:t>
            </a:r>
            <a:r>
              <a:rPr lang="en-US" altLang="zh-CN" sz="3200" b="1" dirty="0">
                <a:solidFill>
                  <a:srgbClr val="070709"/>
                </a:solidFill>
              </a:rPr>
              <a:t>a | n</a:t>
            </a:r>
            <a:r>
              <a:rPr lang="en-US" altLang="zh-CN" sz="3200" b="1" dirty="0">
                <a:solidFill>
                  <a:srgbClr val="070709"/>
                </a:solidFill>
                <a:sym typeface="Symbol" panose="05050102010706020507" pitchFamily="18" charset="2"/>
              </a:rPr>
              <a:t>1</a:t>
            </a:r>
            <a:r>
              <a:rPr lang="en-US" altLang="zh-CN" sz="3200" b="1" dirty="0">
                <a:solidFill>
                  <a:srgbClr val="070709"/>
                </a:solidFill>
              </a:rPr>
              <a:t>}</a:t>
            </a: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试给出其文法。</a:t>
            </a:r>
            <a:endParaRPr lang="zh-CN" altLang="en-US" sz="3200" b="1" dirty="0">
              <a:solidFill>
                <a:srgbClr val="070709"/>
              </a:solidFill>
              <a:latin typeface="宋体" panose="02010600030101010101" pitchFamily="2" charset="-122"/>
            </a:endParaRPr>
          </a:p>
        </p:txBody>
      </p:sp>
      <p:sp>
        <p:nvSpPr>
          <p:cNvPr id="284675" name="Text Box 3"/>
          <p:cNvSpPr txBox="1"/>
          <p:nvPr/>
        </p:nvSpPr>
        <p:spPr>
          <a:xfrm>
            <a:off x="2362200" y="2209483"/>
            <a:ext cx="3733800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G</a:t>
            </a:r>
            <a:r>
              <a:rPr lang="en-US" altLang="zh-CN" sz="3200" b="1" baseline="-25000" dirty="0">
                <a:solidFill>
                  <a:srgbClr val="070709"/>
                </a:solidFill>
              </a:rPr>
              <a:t>1</a:t>
            </a:r>
            <a:r>
              <a:rPr lang="en-US" altLang="zh-CN" sz="3200" b="1" dirty="0">
                <a:solidFill>
                  <a:srgbClr val="070709"/>
                </a:solidFill>
              </a:rPr>
              <a:t>[Z]:Z →aBa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     B →bB|b</a:t>
            </a:r>
            <a:endParaRPr lang="en-US" altLang="zh-CN" sz="3200" b="1" dirty="0">
              <a:solidFill>
                <a:srgbClr val="070709"/>
              </a:solidFill>
            </a:endParaRPr>
          </a:p>
        </p:txBody>
      </p:sp>
      <p:sp>
        <p:nvSpPr>
          <p:cNvPr id="284676" name="Text Box 4"/>
          <p:cNvSpPr txBox="1"/>
          <p:nvPr/>
        </p:nvSpPr>
        <p:spPr>
          <a:xfrm>
            <a:off x="5904865" y="2209483"/>
            <a:ext cx="4648200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</a:rPr>
              <a:t>G</a:t>
            </a:r>
            <a:r>
              <a:rPr lang="en-US" altLang="zh-CN" sz="3200" b="1" baseline="-25000" dirty="0">
                <a:solidFill>
                  <a:srgbClr val="070709"/>
                </a:solidFill>
              </a:rPr>
              <a:t>2</a:t>
            </a:r>
            <a:r>
              <a:rPr lang="en-US" altLang="zh-CN" sz="3200" b="1" dirty="0">
                <a:solidFill>
                  <a:srgbClr val="070709"/>
                </a:solidFill>
              </a:rPr>
              <a:t>[Z]: Z →aBa</a:t>
            </a:r>
            <a:br>
              <a:rPr lang="en-US" altLang="zh-CN" sz="3200" b="1" dirty="0">
                <a:solidFill>
                  <a:srgbClr val="070709"/>
                </a:solidFill>
              </a:rPr>
            </a:br>
            <a:r>
              <a:rPr lang="en-US" altLang="zh-CN" sz="3200" b="1" dirty="0">
                <a:solidFill>
                  <a:srgbClr val="070709"/>
                </a:solidFill>
              </a:rPr>
              <a:t>           B →Bb|b</a:t>
            </a:r>
            <a:endParaRPr lang="en-US" altLang="zh-CN" sz="3200" b="1" dirty="0">
              <a:solidFill>
                <a:srgbClr val="070709"/>
              </a:solidFill>
            </a:endParaRPr>
          </a:p>
        </p:txBody>
      </p:sp>
      <p:sp>
        <p:nvSpPr>
          <p:cNvPr id="284677" name="Text Box 5"/>
          <p:cNvSpPr txBox="1"/>
          <p:nvPr/>
        </p:nvSpPr>
        <p:spPr>
          <a:xfrm>
            <a:off x="607060" y="3488055"/>
            <a:ext cx="11107420" cy="17132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</a:rPr>
              <a:t>结论</a:t>
            </a:r>
            <a:r>
              <a:rPr lang="zh-CN" altLang="en-US" sz="2800" b="1" dirty="0">
                <a:solidFill>
                  <a:srgbClr val="070709"/>
                </a:solidFill>
              </a:rPr>
              <a:t>：给定一种语言</a:t>
            </a:r>
            <a:r>
              <a:rPr lang="en-US" altLang="zh-CN" sz="2800" b="1" dirty="0">
                <a:solidFill>
                  <a:srgbClr val="070709"/>
                </a:solidFill>
              </a:rPr>
              <a:t>L，</a:t>
            </a:r>
            <a:r>
              <a:rPr lang="zh-CN" altLang="en-US" sz="2800" b="1" dirty="0">
                <a:solidFill>
                  <a:srgbClr val="070709"/>
                </a:solidFill>
              </a:rPr>
              <a:t>能确定其文法，但这种文法可能不是唯一的： </a:t>
            </a:r>
            <a:r>
              <a:rPr lang="en-US" altLang="zh-CN" sz="2800" b="1" dirty="0">
                <a:solidFill>
                  <a:srgbClr val="070709"/>
                </a:solidFill>
                <a:sym typeface="Symbol" panose="05050102010706020507" pitchFamily="18" charset="2"/>
              </a:rPr>
              <a:t>LG</a:t>
            </a:r>
            <a:r>
              <a:rPr lang="en-US" altLang="zh-CN" sz="2800" b="1" baseline="-25000" dirty="0">
                <a:solidFill>
                  <a:srgbClr val="070709"/>
                </a:solidFill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olidFill>
                  <a:srgbClr val="070709"/>
                </a:solidFill>
                <a:sym typeface="Symbol" panose="05050102010706020507" pitchFamily="18" charset="2"/>
              </a:rPr>
              <a:t>或</a:t>
            </a:r>
            <a:r>
              <a:rPr lang="en-US" altLang="zh-CN" sz="2800" b="1" dirty="0">
                <a:solidFill>
                  <a:srgbClr val="070709"/>
                </a:solidFill>
                <a:sym typeface="Symbol" panose="05050102010706020507" pitchFamily="18" charset="2"/>
              </a:rPr>
              <a:t>G</a:t>
            </a:r>
            <a:r>
              <a:rPr lang="en-US" altLang="zh-CN" sz="2800" b="1" baseline="-25000" dirty="0">
                <a:solidFill>
                  <a:srgbClr val="070709"/>
                </a:solidFill>
                <a:sym typeface="Symbol" panose="05050102010706020507" pitchFamily="18" charset="2"/>
              </a:rPr>
              <a:t>2</a:t>
            </a:r>
            <a:endParaRPr lang="en-US" altLang="zh-CN" sz="2800" b="1" baseline="-25000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50"/>
              </a:spcBef>
              <a:spcAft>
                <a:spcPts val="0"/>
              </a:spcAft>
              <a:buClrTx/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</a:rPr>
              <a:t>等价文法</a:t>
            </a:r>
            <a:r>
              <a:rPr lang="zh-CN" altLang="en-US" sz="2800" b="1" dirty="0">
                <a:solidFill>
                  <a:srgbClr val="070709"/>
                </a:solidFill>
              </a:rPr>
              <a:t>：如果</a:t>
            </a:r>
            <a:r>
              <a:rPr lang="en-US" altLang="zh-CN" sz="2800" b="1" dirty="0">
                <a:solidFill>
                  <a:srgbClr val="070709"/>
                </a:solidFill>
              </a:rPr>
              <a:t>L(G</a:t>
            </a:r>
            <a:r>
              <a:rPr lang="en-US" altLang="zh-CN" sz="2800" b="1" baseline="-25000" dirty="0">
                <a:solidFill>
                  <a:srgbClr val="070709"/>
                </a:solidFill>
              </a:rPr>
              <a:t>1</a:t>
            </a:r>
            <a:r>
              <a:rPr lang="en-US" altLang="zh-CN" sz="2800" b="1" dirty="0">
                <a:solidFill>
                  <a:srgbClr val="070709"/>
                </a:solidFill>
              </a:rPr>
              <a:t>)</a:t>
            </a:r>
            <a:r>
              <a:rPr lang="zh-CN" altLang="en-US" sz="2800" b="1" dirty="0">
                <a:solidFill>
                  <a:srgbClr val="070709"/>
                </a:solidFill>
              </a:rPr>
              <a:t>=</a:t>
            </a:r>
            <a:r>
              <a:rPr lang="en-US" altLang="zh-CN" sz="2800" b="1" dirty="0">
                <a:solidFill>
                  <a:srgbClr val="070709"/>
                </a:solidFill>
              </a:rPr>
              <a:t>L(G</a:t>
            </a:r>
            <a:r>
              <a:rPr lang="en-US" altLang="zh-CN" sz="2800" b="1" baseline="-25000" dirty="0">
                <a:solidFill>
                  <a:srgbClr val="070709"/>
                </a:solidFill>
              </a:rPr>
              <a:t>2</a:t>
            </a:r>
            <a:r>
              <a:rPr lang="en-US" altLang="zh-CN" sz="2800" b="1" dirty="0">
                <a:solidFill>
                  <a:srgbClr val="070709"/>
                </a:solidFill>
              </a:rPr>
              <a:t>) ，</a:t>
            </a:r>
            <a:r>
              <a:rPr lang="zh-CN" altLang="en-US" sz="2800" b="1" dirty="0">
                <a:solidFill>
                  <a:srgbClr val="070709"/>
                </a:solidFill>
              </a:rPr>
              <a:t>那么称</a:t>
            </a:r>
            <a:r>
              <a:rPr lang="en-US" altLang="zh-CN" sz="2800" b="1" dirty="0">
                <a:solidFill>
                  <a:srgbClr val="070709"/>
                </a:solidFill>
              </a:rPr>
              <a:t>G</a:t>
            </a:r>
            <a:r>
              <a:rPr lang="en-US" altLang="zh-CN" sz="2800" b="1" baseline="-25000" dirty="0">
                <a:solidFill>
                  <a:srgbClr val="070709"/>
                </a:solidFill>
              </a:rPr>
              <a:t>1</a:t>
            </a:r>
            <a:r>
              <a:rPr lang="zh-CN" altLang="en-US" sz="2800" b="1" dirty="0">
                <a:solidFill>
                  <a:srgbClr val="070709"/>
                </a:solidFill>
              </a:rPr>
              <a:t>和</a:t>
            </a:r>
            <a:r>
              <a:rPr lang="en-US" altLang="zh-CN" sz="2800" b="1" dirty="0">
                <a:solidFill>
                  <a:srgbClr val="070709"/>
                </a:solidFill>
              </a:rPr>
              <a:t>G</a:t>
            </a:r>
            <a:r>
              <a:rPr lang="en-US" altLang="zh-CN" sz="2800" b="1" baseline="-25000" dirty="0">
                <a:solidFill>
                  <a:srgbClr val="070709"/>
                </a:solidFill>
              </a:rPr>
              <a:t>2</a:t>
            </a:r>
            <a:r>
              <a:rPr lang="zh-CN" altLang="en-US" sz="2800" b="1" dirty="0">
                <a:solidFill>
                  <a:srgbClr val="070709"/>
                </a:solidFill>
              </a:rPr>
              <a:t>为等价文法。</a:t>
            </a:r>
            <a:endParaRPr lang="zh-CN" altLang="en-US" sz="2800" b="1" baseline="-25000" dirty="0">
              <a:solidFill>
                <a:srgbClr val="070709"/>
              </a:solidFill>
              <a:sym typeface="Symbol" panose="05050102010706020507" pitchFamily="18" charset="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70840" y="276860"/>
            <a:ext cx="870839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3.2.5 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文法定义的语言</a:t>
            </a:r>
            <a:endParaRPr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84677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charRg st="4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84677">
                                            <p:txEl>
                                              <p:charRg st="4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/>
      <p:bldP spid="284676" grpId="0"/>
      <p:bldP spid="28467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56565" y="276860"/>
            <a:ext cx="862266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3.2.6 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递归产生式和递归文法</a:t>
            </a:r>
            <a:endParaRPr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85702" name="Rectangle 6"/>
          <p:cNvSpPr>
            <a:spLocks noGrp="1"/>
          </p:cNvSpPr>
          <p:nvPr/>
        </p:nvSpPr>
        <p:spPr>
          <a:xfrm>
            <a:off x="360680" y="1268730"/>
            <a:ext cx="5126990" cy="4751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70709"/>
                </a:solidFill>
              </a:rPr>
              <a:t>设给定</a:t>
            </a:r>
            <a:r>
              <a:rPr lang="en-US" altLang="zh-CN" b="1" dirty="0">
                <a:solidFill>
                  <a:srgbClr val="070709"/>
                </a:solidFill>
              </a:rPr>
              <a:t>2</a:t>
            </a:r>
            <a:r>
              <a:rPr lang="zh-CN" altLang="en-US" b="1" dirty="0">
                <a:solidFill>
                  <a:srgbClr val="070709"/>
                </a:solidFill>
              </a:rPr>
              <a:t>型文法</a:t>
            </a:r>
            <a:r>
              <a:rPr lang="en-US" altLang="zh-CN" b="1" dirty="0">
                <a:solidFill>
                  <a:srgbClr val="070709"/>
                </a:solidFill>
              </a:rPr>
              <a:t>G=(V</a:t>
            </a:r>
            <a:r>
              <a:rPr lang="en-US" altLang="zh-CN" b="1" baseline="-25000" dirty="0">
                <a:solidFill>
                  <a:srgbClr val="070709"/>
                </a:solidFill>
              </a:rPr>
              <a:t>N</a:t>
            </a:r>
            <a:r>
              <a:rPr lang="en-US" altLang="zh-CN" b="1" dirty="0">
                <a:solidFill>
                  <a:srgbClr val="070709"/>
                </a:solidFill>
              </a:rPr>
              <a:t> , V</a:t>
            </a:r>
            <a:r>
              <a:rPr lang="en-US" altLang="zh-CN" b="1" baseline="-25000" dirty="0">
                <a:solidFill>
                  <a:srgbClr val="070709"/>
                </a:solidFill>
              </a:rPr>
              <a:t>T</a:t>
            </a:r>
            <a:r>
              <a:rPr lang="en-US" altLang="zh-CN" b="1" dirty="0">
                <a:solidFill>
                  <a:srgbClr val="070709"/>
                </a:solidFill>
              </a:rPr>
              <a:t> , P , S)</a:t>
            </a:r>
            <a:r>
              <a:rPr lang="zh-CN" altLang="en-US" b="1" dirty="0">
                <a:solidFill>
                  <a:srgbClr val="070709"/>
                </a:solidFill>
              </a:rPr>
              <a:t>，若存在产生式</a:t>
            </a:r>
            <a:r>
              <a:rPr lang="en-US" altLang="zh-CN" b="1" dirty="0">
                <a:solidFill>
                  <a:srgbClr val="070709"/>
                </a:solidFill>
              </a:rPr>
              <a:t>A→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70709"/>
                </a:solidFill>
              </a:rPr>
              <a:t>Ay∈P </a:t>
            </a:r>
            <a:r>
              <a:rPr lang="zh-CN" altLang="en-US" b="1" dirty="0">
                <a:solidFill>
                  <a:srgbClr val="070709"/>
                </a:solidFill>
              </a:rPr>
              <a:t>，则称产生式</a:t>
            </a:r>
            <a:r>
              <a:rPr lang="en-US" altLang="zh-CN" b="1" dirty="0">
                <a:solidFill>
                  <a:srgbClr val="070709"/>
                </a:solidFill>
              </a:rPr>
              <a:t>A→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70709"/>
                </a:solidFill>
              </a:rPr>
              <a:t>Ay</a:t>
            </a:r>
            <a:r>
              <a:rPr lang="zh-CN" altLang="en-US" b="1" dirty="0">
                <a:solidFill>
                  <a:srgbClr val="070709"/>
                </a:solidFill>
              </a:rPr>
              <a:t>是</a:t>
            </a:r>
            <a:r>
              <a:rPr lang="zh-CN" altLang="en-US" b="1" dirty="0">
                <a:solidFill>
                  <a:srgbClr val="FF0066"/>
                </a:solidFill>
              </a:rPr>
              <a:t>递归产生式</a:t>
            </a:r>
            <a:r>
              <a:rPr lang="zh-CN" altLang="en-US" dirty="0"/>
              <a:t>；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070709"/>
                </a:solidFill>
              </a:rPr>
              <a:t>x，y</a:t>
            </a:r>
            <a:r>
              <a:rPr lang="en-US" altLang="zh-CN" b="1" dirty="0">
                <a:solidFill>
                  <a:srgbClr val="03010F"/>
                </a:solidFill>
              </a:rPr>
              <a:t>∈(</a:t>
            </a:r>
            <a:r>
              <a:rPr lang="en-US" altLang="zh-CN" b="1" dirty="0">
                <a:solidFill>
                  <a:srgbClr val="070709"/>
                </a:solidFill>
              </a:rPr>
              <a:t>V</a:t>
            </a:r>
            <a:r>
              <a:rPr lang="en-US" altLang="zh-CN" b="1" baseline="-25000" dirty="0">
                <a:solidFill>
                  <a:srgbClr val="070709"/>
                </a:solidFill>
              </a:rPr>
              <a:t>N</a:t>
            </a:r>
            <a:r>
              <a:rPr lang="en-US" altLang="zh-CN" b="1" dirty="0">
                <a:solidFill>
                  <a:srgbClr val="070709"/>
                </a:solidFill>
              </a:rPr>
              <a:t>∪V</a:t>
            </a:r>
            <a:r>
              <a:rPr lang="en-US" altLang="zh-CN" b="1" baseline="-25000" dirty="0">
                <a:solidFill>
                  <a:srgbClr val="070709"/>
                </a:solidFill>
              </a:rPr>
              <a:t>T</a:t>
            </a:r>
            <a:r>
              <a:rPr lang="en-US" altLang="zh-CN" b="1" dirty="0">
                <a:solidFill>
                  <a:srgbClr val="03010F"/>
                </a:solidFill>
              </a:rPr>
              <a:t>)*</a:t>
            </a:r>
            <a:r>
              <a:rPr lang="en-US" altLang="zh-CN" b="1" dirty="0">
                <a:solidFill>
                  <a:srgbClr val="070709"/>
                </a:solidFill>
              </a:rPr>
              <a:t> </a:t>
            </a:r>
            <a:endParaRPr lang="en-US" altLang="zh-CN" b="1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70709"/>
                </a:solidFill>
              </a:rPr>
              <a:t>若</a:t>
            </a:r>
            <a:r>
              <a:rPr lang="en-US" altLang="zh-CN" b="1" dirty="0">
                <a:solidFill>
                  <a:srgbClr val="070709"/>
                </a:solidFill>
              </a:rPr>
              <a:t>x=ε</a:t>
            </a:r>
            <a:r>
              <a:rPr lang="zh-CN" altLang="en-US" b="1" dirty="0">
                <a:solidFill>
                  <a:srgbClr val="070709"/>
                </a:solidFill>
              </a:rPr>
              <a:t>且</a:t>
            </a:r>
            <a:r>
              <a:rPr lang="en-US" altLang="zh-CN" b="1" dirty="0">
                <a:solidFill>
                  <a:srgbClr val="070709"/>
                </a:solidFill>
              </a:rPr>
              <a:t>y≠ε,</a:t>
            </a:r>
            <a:r>
              <a:rPr lang="zh-CN" altLang="en-US" b="1" dirty="0">
                <a:solidFill>
                  <a:srgbClr val="070709"/>
                </a:solidFill>
              </a:rPr>
              <a:t>则称产生式</a:t>
            </a:r>
            <a:r>
              <a:rPr lang="en-US" altLang="zh-CN" b="1" dirty="0">
                <a:solidFill>
                  <a:srgbClr val="070709"/>
                </a:solidFill>
              </a:rPr>
              <a:t>A→Ay</a:t>
            </a:r>
            <a:r>
              <a:rPr lang="zh-CN" altLang="en-US" b="1" dirty="0">
                <a:solidFill>
                  <a:srgbClr val="070709"/>
                </a:solidFill>
              </a:rPr>
              <a:t>是</a:t>
            </a:r>
            <a:r>
              <a:rPr lang="zh-CN" altLang="en-US" b="1" dirty="0">
                <a:solidFill>
                  <a:srgbClr val="FF0066"/>
                </a:solidFill>
              </a:rPr>
              <a:t>左递归</a:t>
            </a:r>
            <a:r>
              <a:rPr lang="zh-CN" altLang="en-US" b="1" dirty="0">
                <a:solidFill>
                  <a:srgbClr val="070709"/>
                </a:solidFill>
              </a:rPr>
              <a:t>产生式；</a:t>
            </a:r>
            <a:endParaRPr lang="en-US" altLang="zh-CN" b="1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70709"/>
                </a:solidFill>
              </a:rPr>
              <a:t>若</a:t>
            </a:r>
            <a:r>
              <a:rPr lang="en-US" altLang="zh-CN" b="1" dirty="0">
                <a:solidFill>
                  <a:srgbClr val="070709"/>
                </a:solidFill>
              </a:rPr>
              <a:t>x≠ε</a:t>
            </a:r>
            <a:r>
              <a:rPr lang="zh-CN" altLang="en-US" b="1" dirty="0">
                <a:solidFill>
                  <a:srgbClr val="070709"/>
                </a:solidFill>
              </a:rPr>
              <a:t>且</a:t>
            </a:r>
            <a:r>
              <a:rPr lang="en-US" altLang="zh-CN" b="1" dirty="0">
                <a:solidFill>
                  <a:srgbClr val="070709"/>
                </a:solidFill>
              </a:rPr>
              <a:t>y=ε,</a:t>
            </a:r>
            <a:r>
              <a:rPr lang="zh-CN" altLang="en-US" b="1" dirty="0">
                <a:solidFill>
                  <a:srgbClr val="070709"/>
                </a:solidFill>
              </a:rPr>
              <a:t>则称产生式</a:t>
            </a:r>
            <a:r>
              <a:rPr lang="en-US" altLang="zh-CN" b="1" dirty="0">
                <a:solidFill>
                  <a:srgbClr val="070709"/>
                </a:solidFill>
              </a:rPr>
              <a:t>A→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70709"/>
                </a:solidFill>
              </a:rPr>
              <a:t>A</a:t>
            </a:r>
            <a:r>
              <a:rPr lang="zh-CN" altLang="en-US" b="1" dirty="0">
                <a:solidFill>
                  <a:srgbClr val="070709"/>
                </a:solidFill>
              </a:rPr>
              <a:t>是</a:t>
            </a:r>
            <a:r>
              <a:rPr lang="zh-CN" altLang="en-US" b="1" dirty="0">
                <a:solidFill>
                  <a:srgbClr val="FF0066"/>
                </a:solidFill>
              </a:rPr>
              <a:t>右递归</a:t>
            </a:r>
            <a:r>
              <a:rPr lang="zh-CN" altLang="en-US" b="1" dirty="0">
                <a:solidFill>
                  <a:srgbClr val="070709"/>
                </a:solidFill>
              </a:rPr>
              <a:t>产生式。</a:t>
            </a:r>
            <a:endParaRPr lang="en-US" altLang="zh-CN" dirty="0"/>
          </a:p>
        </p:txBody>
      </p:sp>
      <p:sp>
        <p:nvSpPr>
          <p:cNvPr id="43013" name="Rectangle 4"/>
          <p:cNvSpPr/>
          <p:nvPr>
            <p:custDataLst>
              <p:tags r:id="rId1"/>
            </p:custDataLst>
          </p:nvPr>
        </p:nvSpPr>
        <p:spPr>
          <a:xfrm>
            <a:off x="5937250" y="1446530"/>
            <a:ext cx="5923915" cy="48456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zh-CN" altLang="en-US" sz="2800" b="1" dirty="0">
                <a:solidFill>
                  <a:srgbClr val="050507"/>
                </a:solidFill>
                <a:latin typeface="Verdana" panose="020B0604030504040204" pitchFamily="34" charset="0"/>
              </a:rPr>
              <a:t>简单整型算术表达式文法：</a:t>
            </a:r>
            <a:endParaRPr lang="zh-CN" altLang="en-US" sz="2800" b="1" dirty="0">
              <a:solidFill>
                <a:srgbClr val="050507"/>
              </a:solidFill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en-US" altLang="zh-CN" sz="2800" i="1" dirty="0">
                <a:solidFill>
                  <a:srgbClr val="FF0000"/>
                </a:solidFill>
                <a:latin typeface="Verdana" panose="020B0604030504040204" pitchFamily="34" charset="0"/>
              </a:rPr>
              <a:t>exp</a:t>
            </a:r>
            <a:r>
              <a:rPr lang="zh-CN" altLang="en-US" sz="2800" i="1" dirty="0">
                <a:solidFill>
                  <a:srgbClr val="FF0000"/>
                </a:solidFill>
                <a:latin typeface="Verdana" panose="020B0604030504040204" pitchFamily="34" charset="0"/>
              </a:rPr>
              <a:t>→</a:t>
            </a:r>
            <a:r>
              <a:rPr lang="en-US" altLang="zh-CN" sz="2800" i="1" dirty="0">
                <a:solidFill>
                  <a:srgbClr val="FF0000"/>
                </a:solidFill>
                <a:latin typeface="Verdana" panose="020B0604030504040204" pitchFamily="34" charset="0"/>
              </a:rPr>
              <a:t>exp addop term</a:t>
            </a: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|term</a:t>
            </a:r>
            <a:endParaRPr lang="en-US" altLang="zh-CN" sz="2800" i="1" dirty="0">
              <a:solidFill>
                <a:srgbClr val="070709"/>
              </a:solidFill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addop</a:t>
            </a:r>
            <a:r>
              <a:rPr lang="zh-CN" altLang="en-US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2800" b="1" dirty="0">
                <a:solidFill>
                  <a:srgbClr val="070709"/>
                </a:solidFill>
                <a:latin typeface="Verdana" panose="020B0604030504040204" pitchFamily="34" charset="0"/>
              </a:rPr>
              <a:t>+</a:t>
            </a:r>
            <a:r>
              <a:rPr lang="zh-CN" altLang="en-US" sz="2800" b="1" i="1" dirty="0">
                <a:solidFill>
                  <a:srgbClr val="070709"/>
                </a:solidFill>
                <a:latin typeface="Verdana" panose="020B0604030504040204" pitchFamily="34" charset="0"/>
              </a:rPr>
              <a:t>|</a:t>
            </a:r>
            <a:r>
              <a:rPr lang="zh-CN" altLang="en-US" sz="2800" b="1" dirty="0">
                <a:solidFill>
                  <a:srgbClr val="070709"/>
                </a:solidFill>
                <a:latin typeface="Verdana" panose="020B0604030504040204" pitchFamily="34" charset="0"/>
              </a:rPr>
              <a:t>-</a:t>
            </a:r>
            <a:endParaRPr lang="zh-CN" altLang="en-US" sz="2800" dirty="0">
              <a:solidFill>
                <a:srgbClr val="070709"/>
              </a:solidFill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en-US" altLang="zh-CN" sz="2800" i="1" dirty="0">
                <a:solidFill>
                  <a:srgbClr val="FF0000"/>
                </a:solidFill>
                <a:latin typeface="Verdana" panose="020B0604030504040204" pitchFamily="34" charset="0"/>
              </a:rPr>
              <a:t>term</a:t>
            </a:r>
            <a:r>
              <a:rPr lang="zh-CN" altLang="en-US" sz="2800" i="1" dirty="0">
                <a:solidFill>
                  <a:srgbClr val="FF0000"/>
                </a:solidFill>
                <a:latin typeface="Verdana" panose="020B0604030504040204" pitchFamily="34" charset="0"/>
              </a:rPr>
              <a:t>→</a:t>
            </a:r>
            <a:r>
              <a:rPr lang="en-US" altLang="zh-CN" sz="2800" i="1" dirty="0">
                <a:solidFill>
                  <a:srgbClr val="FF0000"/>
                </a:solidFill>
                <a:latin typeface="Verdana" panose="020B0604030504040204" pitchFamily="34" charset="0"/>
              </a:rPr>
              <a:t>term mulop factor</a:t>
            </a: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|factor</a:t>
            </a:r>
            <a:endParaRPr lang="en-US" altLang="zh-CN" sz="2800" i="1" dirty="0">
              <a:solidFill>
                <a:srgbClr val="070709"/>
              </a:solidFill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mulop</a:t>
            </a:r>
            <a:r>
              <a:rPr lang="zh-CN" altLang="en-US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2800" b="1" dirty="0">
                <a:solidFill>
                  <a:srgbClr val="070709"/>
                </a:solidFill>
                <a:latin typeface="Verdana" panose="020B0604030504040204" pitchFamily="34" charset="0"/>
              </a:rPr>
              <a:t>*</a:t>
            </a:r>
            <a:endParaRPr lang="zh-CN" altLang="en-US" sz="2800" b="1" dirty="0">
              <a:solidFill>
                <a:srgbClr val="070709"/>
              </a:solidFill>
              <a:latin typeface="Verdana" panose="020B060403050404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factor</a:t>
            </a:r>
            <a:r>
              <a:rPr lang="zh-CN" altLang="en-US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2800" b="1" dirty="0">
                <a:solidFill>
                  <a:srgbClr val="070709"/>
                </a:solidFill>
                <a:latin typeface="Verdana" panose="020B0604030504040204" pitchFamily="34" charset="0"/>
              </a:rPr>
              <a:t>(</a:t>
            </a: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exp</a:t>
            </a:r>
            <a:r>
              <a:rPr lang="zh-CN" altLang="en-US" sz="2800" b="1" dirty="0">
                <a:solidFill>
                  <a:srgbClr val="070709"/>
                </a:solidFill>
                <a:latin typeface="Verdana" panose="020B0604030504040204" pitchFamily="34" charset="0"/>
              </a:rPr>
              <a:t>)</a:t>
            </a:r>
            <a:r>
              <a:rPr lang="en-US" altLang="zh-CN" sz="2800" i="1" dirty="0">
                <a:solidFill>
                  <a:srgbClr val="070709"/>
                </a:solidFill>
                <a:latin typeface="Verdana" panose="020B0604030504040204" pitchFamily="34" charset="0"/>
              </a:rPr>
              <a:t>|</a:t>
            </a:r>
            <a:r>
              <a:rPr lang="zh-CN" altLang="en-US" sz="2800" b="1" dirty="0">
                <a:solidFill>
                  <a:srgbClr val="070709"/>
                </a:solidFill>
                <a:latin typeface="Verdana" panose="020B0604030504040204" pitchFamily="34" charset="0"/>
              </a:rPr>
              <a:t>number</a:t>
            </a:r>
            <a:endParaRPr lang="zh-CN" altLang="en-US" sz="2800" b="1" dirty="0">
              <a:solidFill>
                <a:srgbClr val="070709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85702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>
                                            <p:txEl>
                                              <p:charRg st="101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85702">
                                            <p:txEl>
                                              <p:charRg st="101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4" name="Rectangle 4"/>
          <p:cNvSpPr>
            <a:spLocks noGrp="1"/>
          </p:cNvSpPr>
          <p:nvPr/>
        </p:nvSpPr>
        <p:spPr>
          <a:xfrm>
            <a:off x="412115" y="1196975"/>
            <a:ext cx="5892165" cy="4943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FF0066"/>
                </a:solidFill>
              </a:rPr>
              <a:t>递归文法</a:t>
            </a:r>
            <a:r>
              <a:rPr lang="zh-CN" altLang="en-US" b="1" dirty="0">
                <a:solidFill>
                  <a:srgbClr val="070709"/>
                </a:solidFill>
              </a:rPr>
              <a:t>：</a:t>
            </a:r>
            <a:endParaRPr lang="zh-CN" altLang="en-US" b="1" dirty="0">
              <a:solidFill>
                <a:srgbClr val="070709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70709"/>
                </a:solidFill>
              </a:rPr>
              <a:t>若文法中至少存在一条递归产生式则称该文法是</a:t>
            </a:r>
            <a:r>
              <a:rPr lang="zh-CN" altLang="en-US" sz="2800" b="1" dirty="0">
                <a:solidFill>
                  <a:srgbClr val="FF0066"/>
                </a:solidFill>
              </a:rPr>
              <a:t>直接递归的文法</a:t>
            </a:r>
            <a:r>
              <a:rPr lang="zh-CN" altLang="en-US" sz="2800" b="1" dirty="0">
                <a:solidFill>
                  <a:srgbClr val="070709"/>
                </a:solidFill>
              </a:rPr>
              <a:t>；</a:t>
            </a:r>
            <a:endParaRPr lang="zh-CN" altLang="en-US" sz="2800" b="1" dirty="0">
              <a:solidFill>
                <a:srgbClr val="070709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70709"/>
                </a:solidFill>
              </a:rPr>
              <a:t>若有</a:t>
            </a:r>
            <a:r>
              <a:rPr lang="en-US" altLang="zh-CN" sz="2800" b="1" dirty="0">
                <a:solidFill>
                  <a:srgbClr val="070709"/>
                </a:solidFill>
              </a:rPr>
              <a:t>A</a:t>
            </a:r>
            <a:r>
              <a:rPr lang="en-US" altLang="zh-CN" sz="2800" b="1" dirty="0">
                <a:solidFill>
                  <a:srgbClr val="070709"/>
                </a:solidFill>
                <a:sym typeface="Symbol" panose="05050102010706020507" pitchFamily="18" charset="2"/>
              </a:rPr>
              <a:t>+</a:t>
            </a:r>
            <a:r>
              <a:rPr lang="en-US" altLang="zh-CN" sz="2800" b="1" dirty="0">
                <a:solidFill>
                  <a:srgbClr val="070709"/>
                </a:solidFill>
              </a:rPr>
              <a:t>xAy, x,y</a:t>
            </a:r>
            <a:r>
              <a:rPr lang="en-US" altLang="zh-CN" sz="2800" b="1" dirty="0">
                <a:solidFill>
                  <a:srgbClr val="03010F"/>
                </a:solidFill>
              </a:rPr>
              <a:t>∈(</a:t>
            </a:r>
            <a:r>
              <a:rPr lang="en-US" altLang="zh-CN" sz="2800" b="1" dirty="0">
                <a:solidFill>
                  <a:srgbClr val="070709"/>
                </a:solidFill>
              </a:rPr>
              <a:t>V</a:t>
            </a:r>
            <a:r>
              <a:rPr lang="en-US" altLang="zh-CN" sz="2800" b="1" baseline="-25000" dirty="0">
                <a:solidFill>
                  <a:srgbClr val="070709"/>
                </a:solidFill>
              </a:rPr>
              <a:t>N</a:t>
            </a:r>
            <a:r>
              <a:rPr lang="en-US" altLang="zh-CN" sz="2800" b="1" dirty="0">
                <a:solidFill>
                  <a:srgbClr val="070709"/>
                </a:solidFill>
              </a:rPr>
              <a:t>∪V</a:t>
            </a:r>
            <a:r>
              <a:rPr lang="en-US" altLang="zh-CN" sz="2800" b="1" baseline="-25000" dirty="0">
                <a:solidFill>
                  <a:srgbClr val="070709"/>
                </a:solidFill>
              </a:rPr>
              <a:t>T</a:t>
            </a:r>
            <a:r>
              <a:rPr lang="en-US" altLang="zh-CN" sz="2800" b="1" dirty="0">
                <a:solidFill>
                  <a:srgbClr val="03010F"/>
                </a:solidFill>
              </a:rPr>
              <a:t>)*</a:t>
            </a:r>
            <a:r>
              <a:rPr lang="zh-CN" altLang="en-US" sz="2800" b="1" dirty="0">
                <a:solidFill>
                  <a:srgbClr val="070709"/>
                </a:solidFill>
              </a:rPr>
              <a:t>则称文法为</a:t>
            </a:r>
            <a:r>
              <a:rPr lang="zh-CN" altLang="en-US" sz="2800" b="1" dirty="0">
                <a:solidFill>
                  <a:srgbClr val="FF0066"/>
                </a:solidFill>
              </a:rPr>
              <a:t>间接递归的文法。 （</a:t>
            </a:r>
            <a:r>
              <a:rPr lang="en-US" altLang="zh-CN" sz="3200" dirty="0">
                <a:solidFill>
                  <a:srgbClr val="050507"/>
                </a:solidFill>
              </a:rPr>
              <a:t> G[S]:</a:t>
            </a:r>
            <a:r>
              <a:rPr lang="en-US" altLang="zh-CN" sz="3200" dirty="0">
                <a:solidFill>
                  <a:srgbClr val="050507"/>
                </a:solidFill>
                <a:sym typeface="Symbol" panose="05050102010706020507" pitchFamily="18" charset="2"/>
              </a:rPr>
              <a:t>SAb|c  ASa </a:t>
            </a:r>
            <a:r>
              <a:rPr lang="zh-CN" altLang="en-US" sz="3200" dirty="0">
                <a:solidFill>
                  <a:srgbClr val="050507"/>
                </a:solidFill>
                <a:sym typeface="Symbol" panose="05050102010706020507" pitchFamily="18" charset="2"/>
              </a:rPr>
              <a:t>？？</a:t>
            </a:r>
            <a:r>
              <a:rPr lang="zh-CN" altLang="en-US" sz="2800" b="1" dirty="0">
                <a:solidFill>
                  <a:srgbClr val="FF0066"/>
                </a:solidFill>
              </a:rPr>
              <a:t>）</a:t>
            </a:r>
            <a:endParaRPr lang="zh-CN" altLang="en-US" sz="2800" b="1" dirty="0">
              <a:solidFill>
                <a:srgbClr val="FF0066"/>
              </a:solidFill>
            </a:endParaRPr>
          </a:p>
          <a:p>
            <a:pPr lvl="0"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765" b="1" dirty="0">
                <a:solidFill>
                  <a:srgbClr val="FF0066"/>
                </a:solidFill>
              </a:rPr>
              <a:t>一般的文法都是递归的，文法</a:t>
            </a:r>
            <a:r>
              <a:rPr lang="en-US" altLang="zh-CN" sz="2765" b="1" dirty="0">
                <a:solidFill>
                  <a:srgbClr val="FF0066"/>
                </a:solidFill>
              </a:rPr>
              <a:t>G</a:t>
            </a:r>
            <a:r>
              <a:rPr lang="zh-CN" altLang="en-US" sz="2765" b="1" dirty="0">
                <a:solidFill>
                  <a:srgbClr val="FF0066"/>
                </a:solidFill>
              </a:rPr>
              <a:t>只有递归定义，</a:t>
            </a:r>
            <a:r>
              <a:rPr lang="en-US" altLang="zh-CN" sz="2765" b="1" dirty="0">
                <a:solidFill>
                  <a:srgbClr val="FF0066"/>
                </a:solidFill>
              </a:rPr>
              <a:t>L(G)</a:t>
            </a:r>
            <a:r>
              <a:rPr lang="zh-CN" altLang="en-US" sz="2765" b="1" dirty="0">
                <a:solidFill>
                  <a:srgbClr val="FF0066"/>
                </a:solidFill>
              </a:rPr>
              <a:t>中的句子才是无穷的 。</a:t>
            </a:r>
            <a:endParaRPr lang="zh-CN" altLang="en-US" sz="2765" b="1" dirty="0">
              <a:solidFill>
                <a:srgbClr val="FF0066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56565" y="276860"/>
            <a:ext cx="862266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3.2.6 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递归产生式和递归文法</a:t>
            </a:r>
            <a:endParaRPr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Text Box 2"/>
          <p:cNvSpPr txBox="1"/>
          <p:nvPr>
            <p:custDataLst>
              <p:tags r:id="rId1"/>
            </p:custDataLst>
          </p:nvPr>
        </p:nvSpPr>
        <p:spPr>
          <a:xfrm>
            <a:off x="6520815" y="1196975"/>
            <a:ext cx="4864100" cy="24612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070709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sz="2800" b="1" dirty="0">
                <a:solidFill>
                  <a:srgbClr val="070709"/>
                </a:solidFill>
              </a:rPr>
              <a:t>有文法</a:t>
            </a:r>
            <a:r>
              <a:rPr lang="en-US" altLang="zh-CN" sz="2800" b="1" dirty="0">
                <a:solidFill>
                  <a:srgbClr val="070709"/>
                </a:solidFill>
              </a:rPr>
              <a:t>G[S]:</a:t>
            </a:r>
            <a:br>
              <a:rPr lang="en-US" altLang="zh-CN" sz="2800" b="1" dirty="0">
                <a:solidFill>
                  <a:srgbClr val="070709"/>
                </a:solidFill>
              </a:rPr>
            </a:br>
            <a:r>
              <a:rPr lang="en-US" altLang="zh-CN" sz="2800" b="1" dirty="0">
                <a:solidFill>
                  <a:srgbClr val="070709"/>
                </a:solidFill>
              </a:rPr>
              <a:t>	S →aB|bB</a:t>
            </a:r>
            <a:br>
              <a:rPr lang="en-US" altLang="zh-CN" sz="2800" b="1" dirty="0">
                <a:solidFill>
                  <a:srgbClr val="070709"/>
                </a:solidFill>
              </a:rPr>
            </a:br>
            <a:r>
              <a:rPr lang="en-US" altLang="zh-CN" sz="2800" b="1" dirty="0">
                <a:solidFill>
                  <a:srgbClr val="070709"/>
                </a:solidFill>
              </a:rPr>
              <a:t>	B →a|b</a:t>
            </a:r>
            <a:endParaRPr lang="en-US" altLang="zh-CN" sz="2800" b="1" dirty="0">
              <a:solidFill>
                <a:srgbClr val="070709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070709"/>
                </a:solidFill>
              </a:rPr>
              <a:t>是否是递归文法，定义的语言为？</a:t>
            </a:r>
            <a:endParaRPr lang="zh-CN" altLang="en-US" sz="2800" b="1" dirty="0">
              <a:solidFill>
                <a:srgbClr val="070709"/>
              </a:solidFill>
              <a:latin typeface="宋体" panose="02010600030101010101" pitchFamily="2" charset="-122"/>
            </a:endParaRPr>
          </a:p>
        </p:txBody>
      </p:sp>
      <p:sp>
        <p:nvSpPr>
          <p:cNvPr id="287747" name="Text Box 3"/>
          <p:cNvSpPr txBox="1"/>
          <p:nvPr>
            <p:custDataLst>
              <p:tags r:id="rId2"/>
            </p:custDataLst>
          </p:nvPr>
        </p:nvSpPr>
        <p:spPr>
          <a:xfrm>
            <a:off x="6614160" y="3831590"/>
            <a:ext cx="514921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070709"/>
                </a:solidFill>
              </a:rPr>
              <a:t>非递归文法，</a:t>
            </a:r>
            <a:r>
              <a:rPr lang="en-US" altLang="zh-CN" sz="2800" b="1" dirty="0">
                <a:solidFill>
                  <a:srgbClr val="070709"/>
                </a:solidFill>
              </a:rPr>
              <a:t>L(G[S])={aa,ab,ba,bb}</a:t>
            </a:r>
            <a:endParaRPr lang="en-US" altLang="zh-CN" sz="2800" b="1" dirty="0">
              <a:solidFill>
                <a:srgbClr val="07070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86724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8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77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78155" y="276860"/>
            <a:ext cx="860107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三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上下文无关文法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115" y="1290955"/>
            <a:ext cx="10032365" cy="3488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3.1 语言的表示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上下文无关文法的形式定义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3.3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分析树</a:t>
            </a:r>
            <a:endParaRPr lang="en-US" altLang="zh-CN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71500" indent="-571500" eaLnBrk="1" hangingPunct="1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</a:t>
            </a: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二义性文法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608965" y="276860"/>
            <a:ext cx="847026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3.3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分析树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0662" name="Rectangle 3"/>
          <p:cNvSpPr>
            <a:spLocks noGrp="1"/>
          </p:cNvSpPr>
          <p:nvPr/>
        </p:nvSpPr>
        <p:spPr>
          <a:xfrm>
            <a:off x="369570" y="1241425"/>
            <a:ext cx="11424920" cy="2851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句子的每一个推导过程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都对应</a:t>
            </a:r>
            <a:r>
              <a:rPr lang="zh-CN" altLang="en-US" sz="28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一个分析树，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分析树的定义：</a:t>
            </a:r>
            <a:endParaRPr lang="zh-CN" altLang="en-US" sz="28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(1)每个节点都用终结符、非终结符或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ε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标出；</a:t>
            </a:r>
            <a:endParaRPr lang="zh-CN" altLang="en-US" sz="20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(2)根结点用文法的开始符号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标出；</a:t>
            </a:r>
            <a:endParaRPr lang="zh-CN" altLang="en-US" sz="20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(3)每个叶结点都用终结符或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ε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标出；</a:t>
            </a:r>
            <a:endParaRPr lang="zh-CN" altLang="en-US" sz="20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1685" name="Rectangle 2"/>
          <p:cNvSpPr>
            <a:spLocks noGrp="1"/>
          </p:cNvSpPr>
          <p:nvPr/>
        </p:nvSpPr>
        <p:spPr>
          <a:xfrm>
            <a:off x="824865" y="2924810"/>
            <a:ext cx="10882630" cy="23196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(4)每个非叶结点都用非终符标出；</a:t>
            </a:r>
            <a:endParaRPr lang="zh-CN" altLang="en-US" sz="20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(5)</a:t>
            </a:r>
            <a:r>
              <a:rPr lang="zh-CN" altLang="en-US" sz="20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每一步直接推导对应一个子树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：在分析树中，如果标记为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A∈V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的节点有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个标记为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,X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,…X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的孩子，如下图所示，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可以是终结符也可以是非终结符，则文法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中有对应的产生式 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→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…X</a:t>
            </a:r>
            <a:r>
              <a:rPr lang="en-US" altLang="zh-CN" sz="2000" b="1" baseline="-25000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</a:t>
            </a:r>
            <a:r>
              <a:rPr lang="en-US" altLang="zh-CN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∈P</a:t>
            </a:r>
            <a:r>
              <a:rPr lang="zh-CN" altLang="en-US" sz="20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；</a:t>
            </a:r>
            <a:endParaRPr lang="zh-CN" altLang="en-US" sz="20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 useBgFill="1">
        <p:nvSpPr>
          <p:cNvPr id="71687" name="Rectangle 4"/>
          <p:cNvSpPr/>
          <p:nvPr/>
        </p:nvSpPr>
        <p:spPr>
          <a:xfrm>
            <a:off x="4851083" y="4427379"/>
            <a:ext cx="1295400" cy="583565"/>
          </a:xfrm>
          <a:prstGeom prst="rect">
            <a:avLst/>
          </a:prstGeom>
          <a:ln w="9525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A</a:t>
            </a:r>
            <a:endParaRPr lang="en-US" altLang="zh-CN" sz="3200" b="1" dirty="0">
              <a:solidFill>
                <a:srgbClr val="070709"/>
              </a:solidFill>
              <a:latin typeface="宋体" panose="02010600030101010101" pitchFamily="2" charset="-122"/>
            </a:endParaRPr>
          </a:p>
        </p:txBody>
      </p:sp>
      <p:sp useBgFill="1">
        <p:nvSpPr>
          <p:cNvPr id="71688" name="Rectangle 5"/>
          <p:cNvSpPr/>
          <p:nvPr/>
        </p:nvSpPr>
        <p:spPr>
          <a:xfrm>
            <a:off x="4198620" y="5613718"/>
            <a:ext cx="896938" cy="460375"/>
          </a:xfrm>
          <a:prstGeom prst="rect">
            <a:avLst/>
          </a:prstGeom>
          <a:ln w="9525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70709"/>
                </a:solidFill>
              </a:rPr>
              <a:t>X</a:t>
            </a:r>
            <a:r>
              <a:rPr lang="en-US" altLang="zh-CN" sz="2400" b="1" baseline="-25000" dirty="0">
                <a:solidFill>
                  <a:srgbClr val="070709"/>
                </a:solidFill>
              </a:rPr>
              <a:t>1</a:t>
            </a:r>
            <a:endParaRPr lang="en-US" altLang="zh-CN" sz="2400" b="1" baseline="-25000" dirty="0">
              <a:solidFill>
                <a:srgbClr val="070709"/>
              </a:solidFill>
            </a:endParaRPr>
          </a:p>
        </p:txBody>
      </p:sp>
      <p:sp>
        <p:nvSpPr>
          <p:cNvPr id="71689" name="Line 8"/>
          <p:cNvSpPr/>
          <p:nvPr/>
        </p:nvSpPr>
        <p:spPr>
          <a:xfrm flipH="1">
            <a:off x="4698683" y="4962843"/>
            <a:ext cx="533400" cy="685800"/>
          </a:xfrm>
          <a:prstGeom prst="line">
            <a:avLst/>
          </a:prstGeom>
          <a:ln w="12700" cap="flat" cmpd="sng">
            <a:solidFill>
              <a:srgbClr val="07070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0" name="Line 9"/>
          <p:cNvSpPr/>
          <p:nvPr/>
        </p:nvSpPr>
        <p:spPr>
          <a:xfrm>
            <a:off x="5459095" y="4959668"/>
            <a:ext cx="0" cy="762000"/>
          </a:xfrm>
          <a:prstGeom prst="line">
            <a:avLst/>
          </a:prstGeom>
          <a:ln w="9525" cap="flat" cmpd="sng">
            <a:solidFill>
              <a:srgbClr val="07070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1" name="Line 10"/>
          <p:cNvSpPr/>
          <p:nvPr/>
        </p:nvSpPr>
        <p:spPr>
          <a:xfrm>
            <a:off x="5708333" y="5000943"/>
            <a:ext cx="685800" cy="685800"/>
          </a:xfrm>
          <a:prstGeom prst="line">
            <a:avLst/>
          </a:prstGeom>
          <a:ln w="9525" cap="flat" cmpd="sng">
            <a:solidFill>
              <a:srgbClr val="070709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71692" name="Rectangle 15"/>
          <p:cNvSpPr/>
          <p:nvPr/>
        </p:nvSpPr>
        <p:spPr>
          <a:xfrm>
            <a:off x="5062220" y="5639118"/>
            <a:ext cx="896938" cy="460375"/>
          </a:xfrm>
          <a:prstGeom prst="rect">
            <a:avLst/>
          </a:prstGeom>
          <a:ln w="9525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70709"/>
                </a:solidFill>
              </a:rPr>
              <a:t>X</a:t>
            </a:r>
            <a:r>
              <a:rPr lang="en-US" altLang="zh-CN" sz="2400" b="1" baseline="-25000" dirty="0">
                <a:solidFill>
                  <a:srgbClr val="070709"/>
                </a:solidFill>
              </a:rPr>
              <a:t>2</a:t>
            </a:r>
            <a:endParaRPr lang="en-US" altLang="zh-CN" sz="2400" b="1" baseline="-25000" dirty="0">
              <a:solidFill>
                <a:srgbClr val="070709"/>
              </a:solidFill>
            </a:endParaRPr>
          </a:p>
        </p:txBody>
      </p:sp>
      <p:sp useBgFill="1">
        <p:nvSpPr>
          <p:cNvPr id="71693" name="Rectangle 16"/>
          <p:cNvSpPr/>
          <p:nvPr/>
        </p:nvSpPr>
        <p:spPr>
          <a:xfrm>
            <a:off x="5854383" y="5639118"/>
            <a:ext cx="1112837" cy="460375"/>
          </a:xfrm>
          <a:prstGeom prst="rect">
            <a:avLst/>
          </a:prstGeom>
          <a:ln w="9525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70709"/>
                </a:solidFill>
              </a:rPr>
              <a:t>…   X</a:t>
            </a:r>
            <a:r>
              <a:rPr lang="en-US" altLang="zh-CN" sz="2400" b="1" baseline="-25000" dirty="0">
                <a:solidFill>
                  <a:srgbClr val="070709"/>
                </a:solidFill>
              </a:rPr>
              <a:t>n</a:t>
            </a:r>
            <a:endParaRPr lang="en-US" altLang="zh-CN" sz="2400" b="1" baseline="-25000" dirty="0">
              <a:solidFill>
                <a:srgbClr val="07070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71685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charRg st="18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71685">
                                            <p:txEl>
                                              <p:charRg st="18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6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5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8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1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uiExpand="1" build="p"/>
      <p:bldP spid="71687" grpId="0" animBg="1"/>
      <p:bldP spid="71688" grpId="0" animBg="1"/>
      <p:bldP spid="71692" grpId="0" animBg="1"/>
      <p:bldP spid="7169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615950" y="276860"/>
            <a:ext cx="846328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3.3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分析树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2709" name="Rectangle 2"/>
          <p:cNvSpPr>
            <a:spLocks noGrp="1"/>
          </p:cNvSpPr>
          <p:nvPr/>
        </p:nvSpPr>
        <p:spPr>
          <a:xfrm>
            <a:off x="1881188" y="3456623"/>
            <a:ext cx="4000500" cy="2501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b="1" dirty="0">
                <a:solidFill>
                  <a:srgbClr val="070709"/>
                </a:solidFill>
              </a:rPr>
              <a:t>exp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exp op exp</a:t>
            </a:r>
            <a:endParaRPr lang="en-US" altLang="zh-CN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  </a:t>
            </a:r>
            <a:r>
              <a:rPr lang="en-US" altLang="zh-CN" b="1" i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 op exp</a:t>
            </a:r>
            <a:endParaRPr lang="en-US" altLang="zh-CN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  </a:t>
            </a:r>
            <a:r>
              <a:rPr lang="en-US" altLang="zh-CN" b="1" i="1" dirty="0">
                <a:solidFill>
                  <a:srgbClr val="070709"/>
                </a:solidFill>
                <a:sym typeface="Symbol" panose="05050102010706020507" pitchFamily="18" charset="2"/>
              </a:rPr>
              <a:t>number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 + exp</a:t>
            </a:r>
            <a:endParaRPr lang="en-US" altLang="zh-CN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  </a:t>
            </a:r>
            <a:r>
              <a:rPr lang="en-US" altLang="zh-CN" b="1" i="1" dirty="0">
                <a:solidFill>
                  <a:srgbClr val="F33345"/>
                </a:solidFill>
                <a:sym typeface="Symbol" panose="05050102010706020507" pitchFamily="18" charset="2"/>
              </a:rPr>
              <a:t>number</a:t>
            </a:r>
            <a:r>
              <a:rPr lang="en-US" altLang="zh-CN" b="1" i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33345"/>
                </a:solidFill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33345"/>
                </a:solidFill>
                <a:sym typeface="Symbol" panose="05050102010706020507" pitchFamily="18" charset="2"/>
              </a:rPr>
              <a:t>number</a:t>
            </a:r>
            <a:endParaRPr lang="en-US" altLang="zh-CN" b="1" i="1" dirty="0">
              <a:solidFill>
                <a:srgbClr val="F33345"/>
              </a:solidFill>
              <a:sym typeface="Symbol" panose="05050102010706020507" pitchFamily="18" charset="2"/>
            </a:endParaRPr>
          </a:p>
        </p:txBody>
      </p:sp>
      <p:sp>
        <p:nvSpPr>
          <p:cNvPr id="69638" name="Rectangle 3"/>
          <p:cNvSpPr/>
          <p:nvPr/>
        </p:nvSpPr>
        <p:spPr>
          <a:xfrm>
            <a:off x="615315" y="1247775"/>
            <a:ext cx="11214100" cy="1691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75000"/>
              </a:lnSpc>
              <a:spcBef>
                <a:spcPct val="50000"/>
              </a:spcBef>
              <a:buClrTx/>
              <a:buSzPct val="90000"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简单整型算术表达式文法：</a:t>
            </a:r>
            <a:endParaRPr lang="zh-CN" altLang="en-US" sz="3200" b="1" dirty="0">
              <a:solidFill>
                <a:srgbClr val="070709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75000"/>
              </a:lnSpc>
              <a:spcBef>
                <a:spcPct val="50000"/>
              </a:spcBef>
              <a:buClrTx/>
              <a:buSzPct val="90000"/>
              <a:buNone/>
            </a:pPr>
            <a:r>
              <a:rPr lang="en-US" altLang="zh-CN" sz="3200" b="1" i="1" dirty="0">
                <a:solidFill>
                  <a:srgbClr val="070709"/>
                </a:solidFill>
                <a:latin typeface="宋体" panose="02010600030101010101" pitchFamily="2" charset="-122"/>
              </a:rPr>
              <a:t>exp </a:t>
            </a: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3200" b="1" i="1" dirty="0">
                <a:solidFill>
                  <a:srgbClr val="070709"/>
                </a:solidFill>
                <a:latin typeface="宋体" panose="02010600030101010101" pitchFamily="2" charset="-122"/>
              </a:rPr>
              <a:t> exp op exp</a:t>
            </a: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|(</a:t>
            </a:r>
            <a:r>
              <a:rPr lang="en-US" altLang="zh-CN" sz="3200" b="1" i="1" dirty="0">
                <a:solidFill>
                  <a:srgbClr val="070709"/>
                </a:solidFill>
                <a:latin typeface="宋体" panose="02010600030101010101" pitchFamily="2" charset="-122"/>
              </a:rPr>
              <a:t>exp</a:t>
            </a: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)|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</a:rPr>
              <a:t>number</a:t>
            </a:r>
            <a:endParaRPr lang="en-US" altLang="zh-CN" sz="3200" b="1" dirty="0">
              <a:solidFill>
                <a:srgbClr val="FF0066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75000"/>
              </a:lnSpc>
              <a:spcBef>
                <a:spcPct val="50000"/>
              </a:spcBef>
              <a:buClrTx/>
              <a:buSzPct val="90000"/>
              <a:buNone/>
            </a:pPr>
            <a:r>
              <a:rPr lang="en-US" altLang="zh-CN" sz="3200" b="1" i="1" dirty="0">
                <a:solidFill>
                  <a:srgbClr val="070709"/>
                </a:solidFill>
                <a:latin typeface="宋体" panose="02010600030101010101" pitchFamily="2" charset="-122"/>
              </a:rPr>
              <a:t>op </a:t>
            </a: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</a:rPr>
              <a:t>-</a:t>
            </a:r>
            <a:r>
              <a: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3200" b="1" dirty="0">
                <a:solidFill>
                  <a:srgbClr val="FF0066"/>
                </a:solidFill>
                <a:latin typeface="宋体" panose="02010600030101010101" pitchFamily="2" charset="-122"/>
              </a:rPr>
              <a:t>*</a:t>
            </a:r>
            <a:endParaRPr lang="en-US" altLang="zh-CN" sz="3200" b="1" dirty="0">
              <a:solidFill>
                <a:srgbClr val="FF0066"/>
              </a:solidFill>
              <a:latin typeface="宋体" panose="02010600030101010101" pitchFamily="2" charset="-122"/>
            </a:endParaRPr>
          </a:p>
        </p:txBody>
      </p:sp>
      <p:sp>
        <p:nvSpPr>
          <p:cNvPr id="69639" name="Rectangle 4"/>
          <p:cNvSpPr/>
          <p:nvPr/>
        </p:nvSpPr>
        <p:spPr>
          <a:xfrm>
            <a:off x="2019300" y="2832735"/>
            <a:ext cx="425450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FF0066"/>
                </a:solidFill>
                <a:latin typeface="宋体" panose="02010600030101010101" pitchFamily="2" charset="-122"/>
              </a:rPr>
              <a:t>符号串3+4的最左推导:</a:t>
            </a:r>
            <a:endParaRPr lang="zh-CN" altLang="en-US" sz="3200" b="1" dirty="0">
              <a:solidFill>
                <a:srgbClr val="FF0066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7401560" y="3901440"/>
            <a:ext cx="1658938" cy="1058863"/>
            <a:chOff x="1056" y="1833"/>
            <a:chExt cx="1045" cy="667"/>
          </a:xfrm>
        </p:grpSpPr>
        <p:sp useBgFill="1">
          <p:nvSpPr>
            <p:cNvPr id="69661" name="Rectangle 6"/>
            <p:cNvSpPr/>
            <p:nvPr/>
          </p:nvSpPr>
          <p:spPr>
            <a:xfrm>
              <a:off x="1056" y="2132"/>
              <a:ext cx="1045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i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number</a:t>
              </a:r>
              <a:endParaRPr lang="en-US" altLang="zh-CN" sz="3200" b="1" i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662" name="Line 12"/>
            <p:cNvSpPr/>
            <p:nvPr/>
          </p:nvSpPr>
          <p:spPr>
            <a:xfrm>
              <a:off x="1776" y="1833"/>
              <a:ext cx="0" cy="336"/>
            </a:xfrm>
            <a:prstGeom prst="line">
              <a:avLst/>
            </a:prstGeom>
            <a:ln w="9525" cap="flat" cmpd="sng">
              <a:solidFill>
                <a:srgbClr val="070709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2"/>
          <p:cNvGrpSpPr/>
          <p:nvPr/>
        </p:nvGrpSpPr>
        <p:grpSpPr>
          <a:xfrm>
            <a:off x="9230360" y="3901440"/>
            <a:ext cx="304800" cy="1060450"/>
            <a:chOff x="2208" y="1833"/>
            <a:chExt cx="192" cy="668"/>
          </a:xfrm>
        </p:grpSpPr>
        <p:sp useBgFill="1">
          <p:nvSpPr>
            <p:cNvPr id="69659" name="Rectangle 7"/>
            <p:cNvSpPr/>
            <p:nvPr/>
          </p:nvSpPr>
          <p:spPr>
            <a:xfrm>
              <a:off x="2208" y="2133"/>
              <a:ext cx="192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+</a:t>
              </a:r>
              <a:endPara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660" name="Line 13"/>
            <p:cNvSpPr/>
            <p:nvPr/>
          </p:nvSpPr>
          <p:spPr>
            <a:xfrm>
              <a:off x="2304" y="1833"/>
              <a:ext cx="0" cy="336"/>
            </a:xfrm>
            <a:prstGeom prst="line">
              <a:avLst/>
            </a:prstGeom>
            <a:ln w="9525" cap="flat" cmpd="sng">
              <a:solidFill>
                <a:srgbClr val="070709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3"/>
          <p:cNvGrpSpPr/>
          <p:nvPr/>
        </p:nvGrpSpPr>
        <p:grpSpPr>
          <a:xfrm>
            <a:off x="9839960" y="3825240"/>
            <a:ext cx="1905000" cy="1135063"/>
            <a:chOff x="2592" y="1785"/>
            <a:chExt cx="1200" cy="715"/>
          </a:xfrm>
        </p:grpSpPr>
        <p:sp useBgFill="1">
          <p:nvSpPr>
            <p:cNvPr id="69657" name="Rectangle 8"/>
            <p:cNvSpPr/>
            <p:nvPr/>
          </p:nvSpPr>
          <p:spPr>
            <a:xfrm>
              <a:off x="2592" y="2132"/>
              <a:ext cx="1200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i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number</a:t>
              </a:r>
              <a:endParaRPr lang="en-US" altLang="zh-CN" sz="3200" b="1" i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658" name="Line 14"/>
            <p:cNvSpPr/>
            <p:nvPr/>
          </p:nvSpPr>
          <p:spPr>
            <a:xfrm>
              <a:off x="2976" y="1785"/>
              <a:ext cx="0" cy="384"/>
            </a:xfrm>
            <a:prstGeom prst="line">
              <a:avLst/>
            </a:prstGeom>
            <a:ln w="9525" cap="flat" cmpd="sng">
              <a:solidFill>
                <a:srgbClr val="070709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1"/>
          <p:cNvGrpSpPr/>
          <p:nvPr/>
        </p:nvGrpSpPr>
        <p:grpSpPr>
          <a:xfrm>
            <a:off x="7706360" y="2299652"/>
            <a:ext cx="3276600" cy="1727201"/>
            <a:chOff x="1248" y="824"/>
            <a:chExt cx="2064" cy="1088"/>
          </a:xfrm>
        </p:grpSpPr>
        <p:sp useBgFill="1">
          <p:nvSpPr>
            <p:cNvPr id="69646" name="Rectangle 2"/>
            <p:cNvSpPr/>
            <p:nvPr/>
          </p:nvSpPr>
          <p:spPr>
            <a:xfrm>
              <a:off x="1920" y="824"/>
              <a:ext cx="816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exp</a:t>
              </a:r>
              <a:endPara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69647" name="Rectangle 3"/>
            <p:cNvSpPr/>
            <p:nvPr/>
          </p:nvSpPr>
          <p:spPr>
            <a:xfrm>
              <a:off x="1392" y="1508"/>
              <a:ext cx="565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exp</a:t>
              </a:r>
              <a:endPara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69648" name="Rectangle 4"/>
            <p:cNvSpPr/>
            <p:nvPr/>
          </p:nvSpPr>
          <p:spPr>
            <a:xfrm>
              <a:off x="2112" y="1509"/>
              <a:ext cx="421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69649" name="Rectangle 5"/>
            <p:cNvSpPr/>
            <p:nvPr/>
          </p:nvSpPr>
          <p:spPr>
            <a:xfrm>
              <a:off x="2688" y="1496"/>
              <a:ext cx="624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dirty="0">
                  <a:solidFill>
                    <a:srgbClr val="070709"/>
                  </a:solidFill>
                  <a:latin typeface="宋体" panose="02010600030101010101" pitchFamily="2" charset="-122"/>
                </a:rPr>
                <a:t>exp</a:t>
              </a:r>
              <a:endParaRPr lang="en-US" altLang="zh-CN" sz="3200" b="1" dirty="0">
                <a:solidFill>
                  <a:srgbClr val="07070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650" name="Line 9"/>
            <p:cNvSpPr/>
            <p:nvPr/>
          </p:nvSpPr>
          <p:spPr>
            <a:xfrm flipH="1">
              <a:off x="1824" y="1161"/>
              <a:ext cx="336" cy="432"/>
            </a:xfrm>
            <a:prstGeom prst="line">
              <a:avLst/>
            </a:prstGeom>
            <a:ln w="12700" cap="flat" cmpd="sng">
              <a:solidFill>
                <a:srgbClr val="07070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51" name="Line 10"/>
            <p:cNvSpPr/>
            <p:nvPr/>
          </p:nvSpPr>
          <p:spPr>
            <a:xfrm>
              <a:off x="2303" y="1159"/>
              <a:ext cx="0" cy="480"/>
            </a:xfrm>
            <a:prstGeom prst="line">
              <a:avLst/>
            </a:prstGeom>
            <a:ln w="9525" cap="flat" cmpd="sng">
              <a:solidFill>
                <a:srgbClr val="07070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52" name="Line 11"/>
            <p:cNvSpPr/>
            <p:nvPr/>
          </p:nvSpPr>
          <p:spPr>
            <a:xfrm>
              <a:off x="2496" y="1161"/>
              <a:ext cx="432" cy="432"/>
            </a:xfrm>
            <a:prstGeom prst="line">
              <a:avLst/>
            </a:prstGeom>
            <a:ln w="9525" cap="flat" cmpd="sng">
              <a:solidFill>
                <a:srgbClr val="070709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69653" name="Rectangle 15"/>
            <p:cNvSpPr/>
            <p:nvPr/>
          </p:nvSpPr>
          <p:spPr>
            <a:xfrm>
              <a:off x="1872" y="824"/>
              <a:ext cx="192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3200" b="1" dirty="0">
                  <a:solidFill>
                    <a:srgbClr val="FF0066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3200" b="1" dirty="0">
                <a:solidFill>
                  <a:srgbClr val="FF0066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69654" name="Rectangle 16"/>
            <p:cNvSpPr/>
            <p:nvPr/>
          </p:nvSpPr>
          <p:spPr>
            <a:xfrm>
              <a:off x="1248" y="1544"/>
              <a:ext cx="192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3200" b="1" dirty="0">
                  <a:solidFill>
                    <a:srgbClr val="FF0066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3200" b="1" dirty="0">
                <a:solidFill>
                  <a:srgbClr val="FF0066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69655" name="Rectangle 17"/>
            <p:cNvSpPr/>
            <p:nvPr/>
          </p:nvSpPr>
          <p:spPr>
            <a:xfrm>
              <a:off x="1968" y="1509"/>
              <a:ext cx="192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3200" b="1" dirty="0">
                  <a:solidFill>
                    <a:srgbClr val="FF0066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3200" b="1" dirty="0">
                <a:solidFill>
                  <a:srgbClr val="FF0066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69656" name="Rectangle 18"/>
            <p:cNvSpPr/>
            <p:nvPr/>
          </p:nvSpPr>
          <p:spPr>
            <a:xfrm>
              <a:off x="2592" y="1509"/>
              <a:ext cx="192" cy="368"/>
            </a:xfrm>
            <a:prstGeom prst="rect">
              <a:avLst/>
            </a:prstGeom>
            <a:ln w="9525">
              <a:noFill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3200" b="1" dirty="0">
                  <a:solidFill>
                    <a:srgbClr val="FF0066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3200" b="1" dirty="0">
                <a:solidFill>
                  <a:srgbClr val="FF0066"/>
                </a:solidFill>
                <a:latin typeface="宋体" panose="02010600030101010101" pitchFamily="2" charset="-122"/>
              </a:endParaRPr>
            </a:p>
          </p:txBody>
        </p:sp>
      </p:grpSp>
      <p:sp useBgFill="1">
        <p:nvSpPr>
          <p:cNvPr id="30" name="Rectangle 19"/>
          <p:cNvSpPr/>
          <p:nvPr/>
        </p:nvSpPr>
        <p:spPr>
          <a:xfrm>
            <a:off x="8349457" y="5063014"/>
            <a:ext cx="2423795" cy="583565"/>
          </a:xfrm>
          <a:prstGeom prst="rect">
            <a:avLst/>
          </a:prstGeom>
          <a:ln w="9525">
            <a:noFill/>
          </a:ln>
        </p:spPr>
        <p:txBody>
          <a:bodyPr wrap="none"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070709"/>
                </a:solidFill>
                <a:latin typeface="宋体" panose="02010600030101010101" pitchFamily="2" charset="-122"/>
              </a:rPr>
              <a:t>3+4的分析树</a:t>
            </a:r>
            <a:endParaRPr lang="zh-CN" altLang="en-US" sz="3200" b="1" dirty="0">
              <a:solidFill>
                <a:srgbClr val="07070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270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15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72709">
                                            <p:txEl>
                                              <p:charRg st="15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3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72709">
                                            <p:txEl>
                                              <p:charRg st="32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4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72709">
                                            <p:txEl>
                                              <p:charRg st="48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529590" y="276860"/>
            <a:ext cx="854964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三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上下文无关文法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130" y="1247775"/>
            <a:ext cx="10039350" cy="3603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42950" indent="-74295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3.1 语言的表示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indent="-74295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上下文无关文法的形式定义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indent="-74295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3.3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分析树</a:t>
            </a:r>
            <a:endParaRPr lang="en-US" altLang="zh-CN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indent="-74295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</a:t>
            </a:r>
            <a:r>
              <a:rPr lang="en-US" altLang="zh-CN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 </a:t>
            </a:r>
            <a:r>
              <a:rPr lang="zh-CN" altLang="en-US" sz="3600" b="1" dirty="0">
                <a:solidFill>
                  <a:srgbClr val="07070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二义性文法</a:t>
            </a:r>
            <a:endParaRPr lang="zh-CN" altLang="en-US" sz="3600" b="1" dirty="0">
              <a:solidFill>
                <a:srgbClr val="07070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06400" y="276860"/>
            <a:ext cx="867283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3.4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二义性文法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5782" name="Rectangle 5"/>
          <p:cNvSpPr>
            <a:spLocks noGrp="1"/>
          </p:cNvSpPr>
          <p:nvPr/>
        </p:nvSpPr>
        <p:spPr>
          <a:xfrm>
            <a:off x="476885" y="1198880"/>
            <a:ext cx="11377930" cy="23018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lvl="1" indent="-4699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o"/>
            </a:pPr>
            <a:r>
              <a:rPr lang="zh-CN" altLang="en-US" sz="2800" b="1" dirty="0">
                <a:solidFill>
                  <a:srgbClr val="070709"/>
                </a:solidFill>
              </a:rPr>
              <a:t>对于文法</a:t>
            </a:r>
            <a:r>
              <a:rPr lang="en-US" altLang="zh-CN" sz="2800" b="1" i="1" dirty="0">
                <a:solidFill>
                  <a:srgbClr val="070709"/>
                </a:solidFill>
              </a:rPr>
              <a:t>G</a:t>
            </a:r>
            <a:r>
              <a:rPr lang="en-US" altLang="zh-CN" sz="2800" b="1" dirty="0">
                <a:solidFill>
                  <a:srgbClr val="070709"/>
                </a:solidFill>
              </a:rPr>
              <a:t>，</a:t>
            </a:r>
            <a:r>
              <a:rPr lang="zh-CN" altLang="en-US" sz="2800" b="1" dirty="0">
                <a:solidFill>
                  <a:srgbClr val="070709"/>
                </a:solidFill>
              </a:rPr>
              <a:t>若存在某个句子</a:t>
            </a:r>
            <a:r>
              <a:rPr lang="en-US" altLang="zh-CN" sz="2800" b="1" i="1" dirty="0">
                <a:solidFill>
                  <a:srgbClr val="070709"/>
                </a:solidFill>
              </a:rPr>
              <a:t>w</a:t>
            </a:r>
            <a:r>
              <a:rPr lang="en-US" altLang="zh-CN" sz="2800" b="1" i="1" dirty="0">
                <a:solidFill>
                  <a:srgbClr val="070709"/>
                </a:solidFill>
                <a:sym typeface="Symbol" panose="05050102010706020507" pitchFamily="18" charset="2"/>
              </a:rPr>
              <a:t>L(G)</a:t>
            </a:r>
            <a:r>
              <a:rPr lang="zh-CN" altLang="en-US" sz="2800" b="1" i="1" dirty="0">
                <a:solidFill>
                  <a:srgbClr val="070709"/>
                </a:solidFill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070709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70709"/>
                </a:solidFill>
                <a:sym typeface="Symbol" panose="05050102010706020507" pitchFamily="18" charset="2"/>
              </a:rPr>
              <a:t>w</a:t>
            </a:r>
            <a:r>
              <a:rPr lang="zh-CN" altLang="en-US" sz="2800" b="1" dirty="0">
                <a:solidFill>
                  <a:srgbClr val="070709"/>
                </a:solidFill>
                <a:sym typeface="Symbol" panose="05050102010706020507" pitchFamily="18" charset="2"/>
              </a:rPr>
              <a:t>对应</a:t>
            </a:r>
            <a:r>
              <a:rPr lang="zh-CN" altLang="en-US" sz="2800" b="1" dirty="0">
                <a:solidFill>
                  <a:srgbClr val="FF0066"/>
                </a:solidFill>
                <a:sym typeface="Symbol" panose="05050102010706020507" pitchFamily="18" charset="2"/>
              </a:rPr>
              <a:t>多个不同的最左推导（或最右推导） </a:t>
            </a:r>
            <a:r>
              <a:rPr lang="zh-CN" altLang="en-US" sz="2800" b="1" dirty="0">
                <a:solidFill>
                  <a:srgbClr val="070709"/>
                </a:solidFill>
                <a:sym typeface="Symbol" panose="05050102010706020507" pitchFamily="18" charset="2"/>
              </a:rPr>
              <a:t>，这类文法称为</a:t>
            </a:r>
            <a:r>
              <a:rPr lang="zh-CN" altLang="en-US" sz="2800" b="1" dirty="0">
                <a:solidFill>
                  <a:srgbClr val="FF0066"/>
                </a:solidFill>
                <a:sym typeface="Symbol" panose="05050102010706020507" pitchFamily="18" charset="2"/>
              </a:rPr>
              <a:t>二义性文法</a:t>
            </a:r>
            <a:r>
              <a:rPr lang="zh-CN" altLang="en-US" sz="2800" b="1" dirty="0">
                <a:solidFill>
                  <a:srgbClr val="070709"/>
                </a:solidFill>
                <a:sym typeface="Symbol" panose="05050102010706020507" pitchFamily="18" charset="2"/>
              </a:rPr>
              <a:t>。</a:t>
            </a:r>
            <a:endParaRPr lang="en-US" altLang="zh-CN" sz="2800" b="1" dirty="0">
              <a:solidFill>
                <a:srgbClr val="070709"/>
              </a:solidFill>
              <a:sym typeface="Symbol" panose="05050102010706020507" pitchFamily="18" charset="2"/>
            </a:endParaRPr>
          </a:p>
        </p:txBody>
      </p:sp>
      <p:sp>
        <p:nvSpPr>
          <p:cNvPr id="323586" name="Rectangle 2"/>
          <p:cNvSpPr>
            <a:spLocks noChangeArrowheads="1"/>
          </p:cNvSpPr>
          <p:nvPr/>
        </p:nvSpPr>
        <p:spPr bwMode="auto">
          <a:xfrm>
            <a:off x="607060" y="2517775"/>
            <a:ext cx="1116711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folHlink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例1，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G[E]：EE+E|E*E|(E)|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的句子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i+i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*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对应两个最右推导，即两个结构不同的分析树，故该文法是二义性文法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609975" y="3819208"/>
            <a:ext cx="1270000" cy="1098550"/>
            <a:chOff x="528" y="912"/>
            <a:chExt cx="800" cy="692"/>
          </a:xfrm>
        </p:grpSpPr>
        <p:sp>
          <p:nvSpPr>
            <p:cNvPr id="76851" name="Text Box 4"/>
            <p:cNvSpPr txBox="1"/>
            <p:nvPr/>
          </p:nvSpPr>
          <p:spPr>
            <a:xfrm>
              <a:off x="816" y="912"/>
              <a:ext cx="28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E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6852" name="Text Box 5"/>
            <p:cNvSpPr txBox="1"/>
            <p:nvPr/>
          </p:nvSpPr>
          <p:spPr>
            <a:xfrm>
              <a:off x="528" y="1275"/>
              <a:ext cx="2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E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6853" name="Text Box 6"/>
            <p:cNvSpPr txBox="1"/>
            <p:nvPr/>
          </p:nvSpPr>
          <p:spPr>
            <a:xfrm>
              <a:off x="1104" y="1275"/>
              <a:ext cx="2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E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6854" name="Text Box 7"/>
            <p:cNvSpPr txBox="1"/>
            <p:nvPr/>
          </p:nvSpPr>
          <p:spPr>
            <a:xfrm>
              <a:off x="816" y="1275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rgbClr val="0000FF"/>
                  </a:solidFill>
                </a:rPr>
                <a:t>+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76855" name="Line 8"/>
            <p:cNvSpPr/>
            <p:nvPr/>
          </p:nvSpPr>
          <p:spPr>
            <a:xfrm flipH="1">
              <a:off x="720" y="1219"/>
              <a:ext cx="24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56" name="Line 9"/>
            <p:cNvSpPr/>
            <p:nvPr/>
          </p:nvSpPr>
          <p:spPr>
            <a:xfrm>
              <a:off x="960" y="1219"/>
              <a:ext cx="0" cy="1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57" name="Line 10"/>
            <p:cNvSpPr/>
            <p:nvPr/>
          </p:nvSpPr>
          <p:spPr>
            <a:xfrm>
              <a:off x="960" y="1219"/>
              <a:ext cx="288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1"/>
          <p:cNvGrpSpPr/>
          <p:nvPr/>
        </p:nvGrpSpPr>
        <p:grpSpPr>
          <a:xfrm>
            <a:off x="3609975" y="4795520"/>
            <a:ext cx="265113" cy="819150"/>
            <a:chOff x="528" y="1527"/>
            <a:chExt cx="167" cy="516"/>
          </a:xfrm>
        </p:grpSpPr>
        <p:sp>
          <p:nvSpPr>
            <p:cNvPr id="76849" name="Text Box 12"/>
            <p:cNvSpPr txBox="1"/>
            <p:nvPr/>
          </p:nvSpPr>
          <p:spPr>
            <a:xfrm>
              <a:off x="528" y="1714"/>
              <a:ext cx="1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i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6850" name="Line 13"/>
            <p:cNvSpPr/>
            <p:nvPr/>
          </p:nvSpPr>
          <p:spPr>
            <a:xfrm>
              <a:off x="624" y="1527"/>
              <a:ext cx="0" cy="2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4"/>
          <p:cNvGrpSpPr/>
          <p:nvPr/>
        </p:nvGrpSpPr>
        <p:grpSpPr>
          <a:xfrm>
            <a:off x="4143375" y="4795520"/>
            <a:ext cx="1117600" cy="869950"/>
            <a:chOff x="864" y="1527"/>
            <a:chExt cx="704" cy="548"/>
          </a:xfrm>
        </p:grpSpPr>
        <p:grpSp>
          <p:nvGrpSpPr>
            <p:cNvPr id="76842" name="Group 15"/>
            <p:cNvGrpSpPr/>
            <p:nvPr/>
          </p:nvGrpSpPr>
          <p:grpSpPr>
            <a:xfrm>
              <a:off x="864" y="1714"/>
              <a:ext cx="704" cy="361"/>
              <a:chOff x="864" y="1714"/>
              <a:chExt cx="704" cy="361"/>
            </a:xfrm>
          </p:grpSpPr>
          <p:sp>
            <p:nvSpPr>
              <p:cNvPr id="76846" name="Text Box 16"/>
              <p:cNvSpPr txBox="1"/>
              <p:nvPr/>
            </p:nvSpPr>
            <p:spPr>
              <a:xfrm>
                <a:off x="864" y="1746"/>
                <a:ext cx="19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0000FF"/>
                    </a:solidFill>
                  </a:rPr>
                  <a:t>E</a:t>
                </a:r>
                <a:endParaRPr lang="en-US" altLang="zh-CN" sz="28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76847" name="Text Box 17"/>
              <p:cNvSpPr txBox="1"/>
              <p:nvPr/>
            </p:nvSpPr>
            <p:spPr>
              <a:xfrm>
                <a:off x="1344" y="1714"/>
                <a:ext cx="22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0000FF"/>
                    </a:solidFill>
                  </a:rPr>
                  <a:t>E</a:t>
                </a:r>
                <a:endParaRPr lang="en-US" altLang="zh-CN" sz="28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76848" name="Text Box 18"/>
              <p:cNvSpPr txBox="1"/>
              <p:nvPr/>
            </p:nvSpPr>
            <p:spPr>
              <a:xfrm>
                <a:off x="1104" y="1714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 dirty="0">
                    <a:solidFill>
                      <a:srgbClr val="0000FF"/>
                    </a:solidFill>
                  </a:rPr>
                  <a:t>*</a:t>
                </a:r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76843" name="Line 19"/>
            <p:cNvSpPr/>
            <p:nvPr/>
          </p:nvSpPr>
          <p:spPr>
            <a:xfrm flipH="1">
              <a:off x="1008" y="1527"/>
              <a:ext cx="240" cy="2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44" name="Line 20"/>
            <p:cNvSpPr/>
            <p:nvPr/>
          </p:nvSpPr>
          <p:spPr>
            <a:xfrm>
              <a:off x="1248" y="1527"/>
              <a:ext cx="0" cy="2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45" name="Line 21"/>
            <p:cNvSpPr/>
            <p:nvPr/>
          </p:nvSpPr>
          <p:spPr>
            <a:xfrm>
              <a:off x="1296" y="1570"/>
              <a:ext cx="192" cy="2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2"/>
          <p:cNvGrpSpPr/>
          <p:nvPr/>
        </p:nvGrpSpPr>
        <p:grpSpPr>
          <a:xfrm>
            <a:off x="4143375" y="5490845"/>
            <a:ext cx="265113" cy="820738"/>
            <a:chOff x="864" y="1965"/>
            <a:chExt cx="167" cy="517"/>
          </a:xfrm>
        </p:grpSpPr>
        <p:sp>
          <p:nvSpPr>
            <p:cNvPr id="76840" name="Text Box 23"/>
            <p:cNvSpPr txBox="1"/>
            <p:nvPr/>
          </p:nvSpPr>
          <p:spPr>
            <a:xfrm>
              <a:off x="864" y="2153"/>
              <a:ext cx="1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i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6841" name="Line 24"/>
            <p:cNvSpPr/>
            <p:nvPr/>
          </p:nvSpPr>
          <p:spPr>
            <a:xfrm>
              <a:off x="960" y="1965"/>
              <a:ext cx="0" cy="2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25"/>
          <p:cNvGrpSpPr/>
          <p:nvPr/>
        </p:nvGrpSpPr>
        <p:grpSpPr>
          <a:xfrm>
            <a:off x="4905375" y="5490845"/>
            <a:ext cx="265113" cy="820738"/>
            <a:chOff x="1344" y="1965"/>
            <a:chExt cx="167" cy="517"/>
          </a:xfrm>
        </p:grpSpPr>
        <p:sp>
          <p:nvSpPr>
            <p:cNvPr id="76838" name="Text Box 26"/>
            <p:cNvSpPr txBox="1"/>
            <p:nvPr/>
          </p:nvSpPr>
          <p:spPr>
            <a:xfrm>
              <a:off x="1344" y="2153"/>
              <a:ext cx="1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i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6839" name="Line 27"/>
            <p:cNvSpPr/>
            <p:nvPr/>
          </p:nvSpPr>
          <p:spPr>
            <a:xfrm>
              <a:off x="1440" y="1965"/>
              <a:ext cx="0" cy="2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28"/>
          <p:cNvGrpSpPr/>
          <p:nvPr/>
        </p:nvGrpSpPr>
        <p:grpSpPr>
          <a:xfrm>
            <a:off x="6818313" y="3898265"/>
            <a:ext cx="1227138" cy="1093788"/>
            <a:chOff x="771" y="2496"/>
            <a:chExt cx="773" cy="689"/>
          </a:xfrm>
        </p:grpSpPr>
        <p:sp>
          <p:nvSpPr>
            <p:cNvPr id="76830" name="Text Box 29"/>
            <p:cNvSpPr txBox="1"/>
            <p:nvPr/>
          </p:nvSpPr>
          <p:spPr>
            <a:xfrm>
              <a:off x="1056" y="2856"/>
              <a:ext cx="2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rgbClr val="FF0066"/>
                  </a:solidFill>
                </a:rPr>
                <a:t>*</a:t>
              </a:r>
              <a:endParaRPr lang="zh-CN" altLang="en-US" sz="2800" dirty="0">
                <a:solidFill>
                  <a:srgbClr val="FF0066"/>
                </a:solidFill>
              </a:endParaRPr>
            </a:p>
          </p:txBody>
        </p:sp>
        <p:grpSp>
          <p:nvGrpSpPr>
            <p:cNvPr id="76831" name="Group 30"/>
            <p:cNvGrpSpPr/>
            <p:nvPr/>
          </p:nvGrpSpPr>
          <p:grpSpPr>
            <a:xfrm>
              <a:off x="771" y="2496"/>
              <a:ext cx="773" cy="644"/>
              <a:chOff x="771" y="2496"/>
              <a:chExt cx="773" cy="644"/>
            </a:xfrm>
          </p:grpSpPr>
          <p:sp>
            <p:nvSpPr>
              <p:cNvPr id="76832" name="Text Box 31"/>
              <p:cNvSpPr txBox="1"/>
              <p:nvPr/>
            </p:nvSpPr>
            <p:spPr>
              <a:xfrm>
                <a:off x="1056" y="2496"/>
                <a:ext cx="28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0066"/>
                    </a:solidFill>
                  </a:rPr>
                  <a:t>E</a:t>
                </a:r>
                <a:endParaRPr lang="en-US" altLang="zh-CN" sz="28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76833" name="Text Box 32"/>
              <p:cNvSpPr txBox="1"/>
              <p:nvPr/>
            </p:nvSpPr>
            <p:spPr>
              <a:xfrm>
                <a:off x="771" y="2811"/>
                <a:ext cx="22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0066"/>
                    </a:solidFill>
                  </a:rPr>
                  <a:t>E</a:t>
                </a:r>
                <a:endParaRPr lang="en-US" altLang="zh-CN" sz="28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76834" name="Text Box 33"/>
              <p:cNvSpPr txBox="1"/>
              <p:nvPr/>
            </p:nvSpPr>
            <p:spPr>
              <a:xfrm>
                <a:off x="1320" y="2752"/>
                <a:ext cx="224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0066"/>
                    </a:solidFill>
                  </a:rPr>
                  <a:t>E</a:t>
                </a:r>
                <a:endParaRPr lang="en-US" altLang="zh-CN" sz="28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76835" name="Line 34"/>
              <p:cNvSpPr/>
              <p:nvPr/>
            </p:nvSpPr>
            <p:spPr>
              <a:xfrm flipH="1">
                <a:off x="864" y="2728"/>
                <a:ext cx="240" cy="13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6836" name="Line 35"/>
              <p:cNvSpPr/>
              <p:nvPr/>
            </p:nvSpPr>
            <p:spPr>
              <a:xfrm>
                <a:off x="1152" y="2728"/>
                <a:ext cx="0" cy="18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6837" name="Line 36"/>
              <p:cNvSpPr/>
              <p:nvPr/>
            </p:nvSpPr>
            <p:spPr>
              <a:xfrm>
                <a:off x="1221" y="2766"/>
                <a:ext cx="168" cy="15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37"/>
          <p:cNvGrpSpPr/>
          <p:nvPr/>
        </p:nvGrpSpPr>
        <p:grpSpPr>
          <a:xfrm>
            <a:off x="7704138" y="4904740"/>
            <a:ext cx="265113" cy="839788"/>
            <a:chOff x="1344" y="3052"/>
            <a:chExt cx="167" cy="529"/>
          </a:xfrm>
        </p:grpSpPr>
        <p:sp>
          <p:nvSpPr>
            <p:cNvPr id="76828" name="Text Box 38"/>
            <p:cNvSpPr txBox="1"/>
            <p:nvPr/>
          </p:nvSpPr>
          <p:spPr>
            <a:xfrm>
              <a:off x="1344" y="3252"/>
              <a:ext cx="1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endParaRPr lang="en-US" altLang="zh-CN" sz="2800" dirty="0">
                <a:solidFill>
                  <a:srgbClr val="FF0066"/>
                </a:solidFill>
              </a:endParaRPr>
            </a:p>
          </p:txBody>
        </p:sp>
        <p:sp>
          <p:nvSpPr>
            <p:cNvPr id="76829" name="Line 39"/>
            <p:cNvSpPr/>
            <p:nvPr/>
          </p:nvSpPr>
          <p:spPr>
            <a:xfrm>
              <a:off x="1440" y="3052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40"/>
          <p:cNvGrpSpPr/>
          <p:nvPr/>
        </p:nvGrpSpPr>
        <p:grpSpPr>
          <a:xfrm>
            <a:off x="6561138" y="4784090"/>
            <a:ext cx="965200" cy="790575"/>
            <a:chOff x="624" y="2976"/>
            <a:chExt cx="608" cy="498"/>
          </a:xfrm>
        </p:grpSpPr>
        <p:grpSp>
          <p:nvGrpSpPr>
            <p:cNvPr id="76821" name="Group 41"/>
            <p:cNvGrpSpPr/>
            <p:nvPr/>
          </p:nvGrpSpPr>
          <p:grpSpPr>
            <a:xfrm>
              <a:off x="624" y="3113"/>
              <a:ext cx="608" cy="361"/>
              <a:chOff x="624" y="3113"/>
              <a:chExt cx="608" cy="361"/>
            </a:xfrm>
          </p:grpSpPr>
          <p:sp>
            <p:nvSpPr>
              <p:cNvPr id="76825" name="Text Box 42"/>
              <p:cNvSpPr txBox="1"/>
              <p:nvPr/>
            </p:nvSpPr>
            <p:spPr>
              <a:xfrm>
                <a:off x="624" y="3145"/>
                <a:ext cx="19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0066"/>
                    </a:solidFill>
                  </a:rPr>
                  <a:t>E</a:t>
                </a:r>
                <a:endParaRPr lang="en-US" altLang="zh-CN" sz="28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76826" name="Text Box 43"/>
              <p:cNvSpPr txBox="1"/>
              <p:nvPr/>
            </p:nvSpPr>
            <p:spPr>
              <a:xfrm>
                <a:off x="1008" y="3113"/>
                <a:ext cx="22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0066"/>
                    </a:solidFill>
                  </a:rPr>
                  <a:t>E</a:t>
                </a:r>
                <a:endParaRPr lang="en-US" altLang="zh-CN" sz="28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76827" name="Text Box 44"/>
              <p:cNvSpPr txBox="1"/>
              <p:nvPr/>
            </p:nvSpPr>
            <p:spPr>
              <a:xfrm>
                <a:off x="816" y="3113"/>
                <a:ext cx="227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 dirty="0">
                    <a:solidFill>
                      <a:srgbClr val="FF0066"/>
                    </a:solidFill>
                  </a:rPr>
                  <a:t>+</a:t>
                </a:r>
                <a:endParaRPr lang="zh-CN" altLang="en-US" sz="2800" dirty="0">
                  <a:solidFill>
                    <a:srgbClr val="FF0066"/>
                  </a:solidFill>
                </a:endParaRPr>
              </a:p>
            </p:txBody>
          </p:sp>
        </p:grpSp>
        <p:sp>
          <p:nvSpPr>
            <p:cNvPr id="76822" name="Line 45"/>
            <p:cNvSpPr/>
            <p:nvPr/>
          </p:nvSpPr>
          <p:spPr>
            <a:xfrm flipH="1">
              <a:off x="720" y="2976"/>
              <a:ext cx="144" cy="2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3" name="Line 46"/>
            <p:cNvSpPr/>
            <p:nvPr/>
          </p:nvSpPr>
          <p:spPr>
            <a:xfrm>
              <a:off x="912" y="2976"/>
              <a:ext cx="0" cy="2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4" name="Line 47"/>
            <p:cNvSpPr/>
            <p:nvPr/>
          </p:nvSpPr>
          <p:spPr>
            <a:xfrm>
              <a:off x="960" y="2976"/>
              <a:ext cx="192" cy="2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48"/>
          <p:cNvGrpSpPr/>
          <p:nvPr/>
        </p:nvGrpSpPr>
        <p:grpSpPr>
          <a:xfrm>
            <a:off x="6573838" y="5420678"/>
            <a:ext cx="265113" cy="790575"/>
            <a:chOff x="632" y="3377"/>
            <a:chExt cx="167" cy="498"/>
          </a:xfrm>
        </p:grpSpPr>
        <p:sp>
          <p:nvSpPr>
            <p:cNvPr id="76819" name="Text Box 49"/>
            <p:cNvSpPr txBox="1"/>
            <p:nvPr/>
          </p:nvSpPr>
          <p:spPr>
            <a:xfrm>
              <a:off x="632" y="3546"/>
              <a:ext cx="1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endParaRPr lang="en-US" altLang="zh-CN" sz="2800" dirty="0">
                <a:solidFill>
                  <a:srgbClr val="FF0066"/>
                </a:solidFill>
              </a:endParaRPr>
            </a:p>
          </p:txBody>
        </p:sp>
        <p:sp>
          <p:nvSpPr>
            <p:cNvPr id="76820" name="Line 50"/>
            <p:cNvSpPr/>
            <p:nvPr/>
          </p:nvSpPr>
          <p:spPr>
            <a:xfrm>
              <a:off x="720" y="3377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51"/>
          <p:cNvGrpSpPr/>
          <p:nvPr/>
        </p:nvGrpSpPr>
        <p:grpSpPr>
          <a:xfrm>
            <a:off x="7208838" y="5420678"/>
            <a:ext cx="265113" cy="774700"/>
            <a:chOff x="1032" y="3377"/>
            <a:chExt cx="167" cy="488"/>
          </a:xfrm>
        </p:grpSpPr>
        <p:sp>
          <p:nvSpPr>
            <p:cNvPr id="76817" name="Text Box 52"/>
            <p:cNvSpPr txBox="1"/>
            <p:nvPr/>
          </p:nvSpPr>
          <p:spPr>
            <a:xfrm>
              <a:off x="1032" y="3536"/>
              <a:ext cx="16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endParaRPr lang="en-US" altLang="zh-CN" sz="2800" dirty="0">
                <a:solidFill>
                  <a:srgbClr val="FF0066"/>
                </a:solidFill>
              </a:endParaRPr>
            </a:p>
          </p:txBody>
        </p:sp>
        <p:sp>
          <p:nvSpPr>
            <p:cNvPr id="76818" name="Line 53"/>
            <p:cNvSpPr/>
            <p:nvPr/>
          </p:nvSpPr>
          <p:spPr>
            <a:xfrm>
              <a:off x="1104" y="3377"/>
              <a:ext cx="0" cy="2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92430" y="276860"/>
            <a:ext cx="8686800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3.4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二义性文法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7831" name="Rectangle 6"/>
          <p:cNvSpPr>
            <a:spLocks noGrp="1"/>
          </p:cNvSpPr>
          <p:nvPr/>
        </p:nvSpPr>
        <p:spPr>
          <a:xfrm>
            <a:off x="334010" y="1262380"/>
            <a:ext cx="11352530" cy="3024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dirty="0">
                <a:sym typeface="Symbol" panose="05050102010706020507" pitchFamily="18" charset="2"/>
              </a:rPr>
              <a:t>例2，文法</a:t>
            </a:r>
            <a:r>
              <a:rPr lang="en-US" altLang="zh-CN" b="1" dirty="0">
                <a:sym typeface="Symbol" panose="05050102010706020507" pitchFamily="18" charset="2"/>
              </a:rPr>
              <a:t>G[C]</a:t>
            </a:r>
            <a:r>
              <a:rPr lang="zh-CN" altLang="en-US" b="1" dirty="0"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ym typeface="Symbol" panose="05050102010706020507" pitchFamily="18" charset="2"/>
              </a:rPr>
              <a:t>该文法是否是二义性文法？</a:t>
            </a:r>
            <a:endParaRPr lang="en-US" altLang="zh-CN" sz="2800" dirty="0"/>
          </a:p>
          <a:p>
            <a:pPr lvl="1" eaLnBrk="1" hangingPunct="1"/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="1" dirty="0">
                <a:sym typeface="Symbol" panose="05050102010706020507" pitchFamily="18" charset="2"/>
              </a:rPr>
              <a:t>if B then </a:t>
            </a:r>
            <a:r>
              <a:rPr lang="en-US" altLang="zh-CN" b="1" i="1" dirty="0">
                <a:sym typeface="Symbol" panose="05050102010706020507" pitchFamily="18" charset="2"/>
              </a:rPr>
              <a:t>C </a:t>
            </a:r>
            <a:r>
              <a:rPr lang="en-US" altLang="zh-CN" b="1" dirty="0">
                <a:sym typeface="Symbol" panose="05050102010706020507" pitchFamily="18" charset="2"/>
              </a:rPr>
              <a:t>| if B then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b="1" dirty="0">
                <a:sym typeface="Symbol" panose="05050102010706020507" pitchFamily="18" charset="2"/>
              </a:rPr>
              <a:t> else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endParaRPr lang="en-US" altLang="zh-CN" i="1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i="1" dirty="0">
                <a:sym typeface="Symbol" panose="05050102010706020507" pitchFamily="18" charset="2"/>
              </a:rPr>
              <a:t>C </a:t>
            </a:r>
            <a:r>
              <a:rPr lang="en-US" altLang="zh-CN" b="1" dirty="0">
                <a:sym typeface="Symbol" panose="05050102010706020507" pitchFamily="18" charset="2"/>
              </a:rPr>
              <a:t>S</a:t>
            </a:r>
            <a:endParaRPr lang="en-US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438785" y="2757170"/>
            <a:ext cx="10996295" cy="1709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句子</a:t>
            </a:r>
            <a:r>
              <a:rPr lang="en-US" altLang="zh-CN" sz="2800" b="1" i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 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if B then if B then S else S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对应两个最右推导，所以，上述文法是二义性文法。</a:t>
            </a: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2152015" y="3528695"/>
            <a:ext cx="2809875" cy="1066800"/>
            <a:chOff x="2598" y="816"/>
            <a:chExt cx="1728" cy="672"/>
          </a:xfrm>
        </p:grpSpPr>
        <p:sp useBgFill="1">
          <p:nvSpPr>
            <p:cNvPr id="78905" name="Rectangle 3"/>
            <p:cNvSpPr/>
            <p:nvPr>
              <p:custDataLst>
                <p:tags r:id="rId1"/>
              </p:custDataLst>
            </p:nvPr>
          </p:nvSpPr>
          <p:spPr>
            <a:xfrm>
              <a:off x="3366" y="816"/>
              <a:ext cx="432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8906" name="Line 4"/>
            <p:cNvSpPr/>
            <p:nvPr>
              <p:custDataLst>
                <p:tags r:id="rId2"/>
              </p:custDataLst>
            </p:nvPr>
          </p:nvSpPr>
          <p:spPr>
            <a:xfrm flipH="1">
              <a:off x="2838" y="960"/>
              <a:ext cx="720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907" name="Line 5"/>
            <p:cNvSpPr/>
            <p:nvPr>
              <p:custDataLst>
                <p:tags r:id="rId3"/>
              </p:custDataLst>
            </p:nvPr>
          </p:nvSpPr>
          <p:spPr>
            <a:xfrm flipH="1">
              <a:off x="3125" y="960"/>
              <a:ext cx="433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908" name="Line 6"/>
            <p:cNvSpPr/>
            <p:nvPr>
              <p:custDataLst>
                <p:tags r:id="rId4"/>
              </p:custDataLst>
            </p:nvPr>
          </p:nvSpPr>
          <p:spPr>
            <a:xfrm flipH="1">
              <a:off x="3462" y="960"/>
              <a:ext cx="96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909" name="Line 7"/>
            <p:cNvSpPr/>
            <p:nvPr>
              <p:custDataLst>
                <p:tags r:id="rId5"/>
              </p:custDataLst>
            </p:nvPr>
          </p:nvSpPr>
          <p:spPr>
            <a:xfrm>
              <a:off x="3606" y="960"/>
              <a:ext cx="528" cy="288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910" name="Rectangle 8"/>
            <p:cNvSpPr/>
            <p:nvPr>
              <p:custDataLst>
                <p:tags r:id="rId6"/>
              </p:custDataLst>
            </p:nvPr>
          </p:nvSpPr>
          <p:spPr>
            <a:xfrm>
              <a:off x="3894" y="1248"/>
              <a:ext cx="432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11" name="Rectangle 9"/>
            <p:cNvSpPr/>
            <p:nvPr>
              <p:custDataLst>
                <p:tags r:id="rId7"/>
              </p:custDataLst>
            </p:nvPr>
          </p:nvSpPr>
          <p:spPr>
            <a:xfrm>
              <a:off x="2598" y="1296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if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12" name="Rectangle 10"/>
            <p:cNvSpPr/>
            <p:nvPr>
              <p:custDataLst>
                <p:tags r:id="rId8"/>
              </p:custDataLst>
            </p:nvPr>
          </p:nvSpPr>
          <p:spPr>
            <a:xfrm>
              <a:off x="2982" y="1296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B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1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13" name="Rectangle 11"/>
            <p:cNvSpPr/>
            <p:nvPr>
              <p:custDataLst>
                <p:tags r:id="rId9"/>
              </p:custDataLst>
            </p:nvPr>
          </p:nvSpPr>
          <p:spPr>
            <a:xfrm>
              <a:off x="3318" y="1287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then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2901315" y="4366895"/>
            <a:ext cx="3346450" cy="1066800"/>
            <a:chOff x="3078" y="1344"/>
            <a:chExt cx="2058" cy="672"/>
          </a:xfrm>
        </p:grpSpPr>
        <p:sp>
          <p:nvSpPr>
            <p:cNvPr id="78893" name="Line 13"/>
            <p:cNvSpPr/>
            <p:nvPr>
              <p:custDataLst>
                <p:tags r:id="rId10"/>
              </p:custDataLst>
            </p:nvPr>
          </p:nvSpPr>
          <p:spPr>
            <a:xfrm flipH="1">
              <a:off x="3318" y="1392"/>
              <a:ext cx="720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94" name="Line 14"/>
            <p:cNvSpPr/>
            <p:nvPr>
              <p:custDataLst>
                <p:tags r:id="rId11"/>
              </p:custDataLst>
            </p:nvPr>
          </p:nvSpPr>
          <p:spPr>
            <a:xfrm flipH="1">
              <a:off x="3702" y="1440"/>
              <a:ext cx="384" cy="288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95" name="Line 15"/>
            <p:cNvSpPr/>
            <p:nvPr>
              <p:custDataLst>
                <p:tags r:id="rId12"/>
              </p:custDataLst>
            </p:nvPr>
          </p:nvSpPr>
          <p:spPr>
            <a:xfrm flipH="1">
              <a:off x="3942" y="1440"/>
              <a:ext cx="192" cy="288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96" name="Line 16"/>
            <p:cNvSpPr/>
            <p:nvPr>
              <p:custDataLst>
                <p:tags r:id="rId13"/>
              </p:custDataLst>
            </p:nvPr>
          </p:nvSpPr>
          <p:spPr>
            <a:xfrm>
              <a:off x="4182" y="1392"/>
              <a:ext cx="144" cy="384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97" name="Line 17"/>
            <p:cNvSpPr/>
            <p:nvPr>
              <p:custDataLst>
                <p:tags r:id="rId14"/>
              </p:custDataLst>
            </p:nvPr>
          </p:nvSpPr>
          <p:spPr>
            <a:xfrm>
              <a:off x="4230" y="1392"/>
              <a:ext cx="336" cy="384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98" name="Line 18"/>
            <p:cNvSpPr/>
            <p:nvPr>
              <p:custDataLst>
                <p:tags r:id="rId15"/>
              </p:custDataLst>
            </p:nvPr>
          </p:nvSpPr>
          <p:spPr>
            <a:xfrm>
              <a:off x="4230" y="1344"/>
              <a:ext cx="720" cy="432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899" name="Rectangle 19"/>
            <p:cNvSpPr/>
            <p:nvPr>
              <p:custDataLst>
                <p:tags r:id="rId16"/>
              </p:custDataLst>
            </p:nvPr>
          </p:nvSpPr>
          <p:spPr>
            <a:xfrm>
              <a:off x="3078" y="1728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if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00" name="Rectangle 20"/>
            <p:cNvSpPr/>
            <p:nvPr>
              <p:custDataLst>
                <p:tags r:id="rId17"/>
              </p:custDataLst>
            </p:nvPr>
          </p:nvSpPr>
          <p:spPr>
            <a:xfrm>
              <a:off x="3462" y="1728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B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2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01" name="Rectangle 21"/>
            <p:cNvSpPr/>
            <p:nvPr>
              <p:custDataLst>
                <p:tags r:id="rId18"/>
              </p:custDataLst>
            </p:nvPr>
          </p:nvSpPr>
          <p:spPr>
            <a:xfrm>
              <a:off x="3798" y="1719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then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02" name="Rectangle 22"/>
            <p:cNvSpPr/>
            <p:nvPr>
              <p:custDataLst>
                <p:tags r:id="rId19"/>
              </p:custDataLst>
            </p:nvPr>
          </p:nvSpPr>
          <p:spPr>
            <a:xfrm>
              <a:off x="4176" y="1776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03" name="Rectangle 23"/>
            <p:cNvSpPr/>
            <p:nvPr>
              <p:custDataLst>
                <p:tags r:id="rId20"/>
              </p:custDataLst>
            </p:nvPr>
          </p:nvSpPr>
          <p:spPr>
            <a:xfrm>
              <a:off x="4473" y="1779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else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904" name="Rectangle 24"/>
            <p:cNvSpPr/>
            <p:nvPr>
              <p:custDataLst>
                <p:tags r:id="rId21"/>
              </p:custDataLst>
            </p:nvPr>
          </p:nvSpPr>
          <p:spPr>
            <a:xfrm>
              <a:off x="4848" y="1824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4636770" y="5433695"/>
            <a:ext cx="467995" cy="671830"/>
            <a:chOff x="4128" y="2016"/>
            <a:chExt cx="288" cy="423"/>
          </a:xfrm>
        </p:grpSpPr>
        <p:sp>
          <p:nvSpPr>
            <p:cNvPr id="78891" name="Line 26"/>
            <p:cNvSpPr/>
            <p:nvPr>
              <p:custDataLst>
                <p:tags r:id="rId22"/>
              </p:custDataLst>
            </p:nvPr>
          </p:nvSpPr>
          <p:spPr>
            <a:xfrm flipH="1">
              <a:off x="4272" y="2016"/>
              <a:ext cx="0" cy="240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892" name="Rectangle 27"/>
            <p:cNvSpPr/>
            <p:nvPr>
              <p:custDataLst>
                <p:tags r:id="rId23"/>
              </p:custDataLst>
            </p:nvPr>
          </p:nvSpPr>
          <p:spPr>
            <a:xfrm>
              <a:off x="4128" y="2295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S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1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5" name="Group 28"/>
          <p:cNvGrpSpPr/>
          <p:nvPr/>
        </p:nvGrpSpPr>
        <p:grpSpPr>
          <a:xfrm>
            <a:off x="5855970" y="5433695"/>
            <a:ext cx="467995" cy="671830"/>
            <a:chOff x="4896" y="2016"/>
            <a:chExt cx="288" cy="423"/>
          </a:xfrm>
        </p:grpSpPr>
        <p:sp useBgFill="1">
          <p:nvSpPr>
            <p:cNvPr id="78889" name="Rectangle 29"/>
            <p:cNvSpPr/>
            <p:nvPr>
              <p:custDataLst>
                <p:tags r:id="rId24"/>
              </p:custDataLst>
            </p:nvPr>
          </p:nvSpPr>
          <p:spPr>
            <a:xfrm>
              <a:off x="4896" y="2295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S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2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78890" name="Line 30"/>
            <p:cNvSpPr/>
            <p:nvPr>
              <p:custDataLst>
                <p:tags r:id="rId25"/>
              </p:custDataLst>
            </p:nvPr>
          </p:nvSpPr>
          <p:spPr>
            <a:xfrm>
              <a:off x="5040" y="2016"/>
              <a:ext cx="0" cy="240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31"/>
          <p:cNvGrpSpPr/>
          <p:nvPr/>
        </p:nvGrpSpPr>
        <p:grpSpPr>
          <a:xfrm>
            <a:off x="7444105" y="4560570"/>
            <a:ext cx="2185035" cy="852805"/>
            <a:chOff x="3360" y="3168"/>
            <a:chExt cx="1344" cy="537"/>
          </a:xfrm>
        </p:grpSpPr>
        <p:sp>
          <p:nvSpPr>
            <p:cNvPr id="78881" name="Line 32"/>
            <p:cNvSpPr/>
            <p:nvPr>
              <p:custDataLst>
                <p:tags r:id="rId26"/>
              </p:custDataLst>
            </p:nvPr>
          </p:nvSpPr>
          <p:spPr>
            <a:xfrm flipH="1">
              <a:off x="3504" y="3168"/>
              <a:ext cx="672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2" name="Line 33"/>
            <p:cNvSpPr/>
            <p:nvPr>
              <p:custDataLst>
                <p:tags r:id="rId27"/>
              </p:custDataLst>
            </p:nvPr>
          </p:nvSpPr>
          <p:spPr>
            <a:xfrm flipH="1">
              <a:off x="3984" y="3168"/>
              <a:ext cx="240" cy="345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3" name="Line 34"/>
            <p:cNvSpPr/>
            <p:nvPr>
              <p:custDataLst>
                <p:tags r:id="rId28"/>
              </p:custDataLst>
            </p:nvPr>
          </p:nvSpPr>
          <p:spPr>
            <a:xfrm flipH="1">
              <a:off x="4224" y="3168"/>
              <a:ext cx="48" cy="345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4" name="Line 35"/>
            <p:cNvSpPr/>
            <p:nvPr>
              <p:custDataLst>
                <p:tags r:id="rId29"/>
              </p:custDataLst>
            </p:nvPr>
          </p:nvSpPr>
          <p:spPr>
            <a:xfrm>
              <a:off x="4320" y="3168"/>
              <a:ext cx="192" cy="384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885" name="Rectangle 36"/>
            <p:cNvSpPr/>
            <p:nvPr>
              <p:custDataLst>
                <p:tags r:id="rId30"/>
              </p:custDataLst>
            </p:nvPr>
          </p:nvSpPr>
          <p:spPr>
            <a:xfrm>
              <a:off x="3360" y="3513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if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86" name="Rectangle 37"/>
            <p:cNvSpPr/>
            <p:nvPr>
              <p:custDataLst>
                <p:tags r:id="rId31"/>
              </p:custDataLst>
            </p:nvPr>
          </p:nvSpPr>
          <p:spPr>
            <a:xfrm>
              <a:off x="3744" y="3513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B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2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87" name="Rectangle 38"/>
            <p:cNvSpPr/>
            <p:nvPr>
              <p:custDataLst>
                <p:tags r:id="rId32"/>
              </p:custDataLst>
            </p:nvPr>
          </p:nvSpPr>
          <p:spPr>
            <a:xfrm>
              <a:off x="4080" y="3504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then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88" name="Rectangle 39"/>
            <p:cNvSpPr/>
            <p:nvPr>
              <p:custDataLst>
                <p:tags r:id="rId33"/>
              </p:custDataLst>
            </p:nvPr>
          </p:nvSpPr>
          <p:spPr>
            <a:xfrm>
              <a:off x="4416" y="3504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7" name="Group 40"/>
          <p:cNvGrpSpPr/>
          <p:nvPr/>
        </p:nvGrpSpPr>
        <p:grpSpPr>
          <a:xfrm>
            <a:off x="6642735" y="3646170"/>
            <a:ext cx="3824605" cy="1066800"/>
            <a:chOff x="2880" y="2592"/>
            <a:chExt cx="2352" cy="672"/>
          </a:xfrm>
        </p:grpSpPr>
        <p:sp useBgFill="1">
          <p:nvSpPr>
            <p:cNvPr id="78868" name="Rectangle 41"/>
            <p:cNvSpPr/>
            <p:nvPr>
              <p:custDataLst>
                <p:tags r:id="rId34"/>
              </p:custDataLst>
            </p:nvPr>
          </p:nvSpPr>
          <p:spPr>
            <a:xfrm>
              <a:off x="3648" y="2592"/>
              <a:ext cx="432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8869" name="Line 42"/>
            <p:cNvSpPr/>
            <p:nvPr>
              <p:custDataLst>
                <p:tags r:id="rId35"/>
              </p:custDataLst>
            </p:nvPr>
          </p:nvSpPr>
          <p:spPr>
            <a:xfrm flipH="1">
              <a:off x="3120" y="2736"/>
              <a:ext cx="720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0" name="Line 43"/>
            <p:cNvSpPr/>
            <p:nvPr>
              <p:custDataLst>
                <p:tags r:id="rId36"/>
              </p:custDataLst>
            </p:nvPr>
          </p:nvSpPr>
          <p:spPr>
            <a:xfrm flipH="1">
              <a:off x="3407" y="2736"/>
              <a:ext cx="433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1" name="Line 44"/>
            <p:cNvSpPr/>
            <p:nvPr>
              <p:custDataLst>
                <p:tags r:id="rId37"/>
              </p:custDataLst>
            </p:nvPr>
          </p:nvSpPr>
          <p:spPr>
            <a:xfrm flipH="1">
              <a:off x="3744" y="2736"/>
              <a:ext cx="96" cy="336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2" name="Line 45"/>
            <p:cNvSpPr/>
            <p:nvPr>
              <p:custDataLst>
                <p:tags r:id="rId38"/>
              </p:custDataLst>
            </p:nvPr>
          </p:nvSpPr>
          <p:spPr>
            <a:xfrm>
              <a:off x="3888" y="2736"/>
              <a:ext cx="432" cy="231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873" name="Rectangle 46"/>
            <p:cNvSpPr/>
            <p:nvPr>
              <p:custDataLst>
                <p:tags r:id="rId39"/>
              </p:custDataLst>
            </p:nvPr>
          </p:nvSpPr>
          <p:spPr>
            <a:xfrm>
              <a:off x="4032" y="2976"/>
              <a:ext cx="432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  <p:sp>
          <p:nvSpPr>
            <p:cNvPr id="78874" name="Line 47"/>
            <p:cNvSpPr/>
            <p:nvPr>
              <p:custDataLst>
                <p:tags r:id="rId40"/>
              </p:custDataLst>
            </p:nvPr>
          </p:nvSpPr>
          <p:spPr>
            <a:xfrm>
              <a:off x="3984" y="2727"/>
              <a:ext cx="624" cy="240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5" name="Line 48"/>
            <p:cNvSpPr/>
            <p:nvPr>
              <p:custDataLst>
                <p:tags r:id="rId41"/>
              </p:custDataLst>
            </p:nvPr>
          </p:nvSpPr>
          <p:spPr>
            <a:xfrm>
              <a:off x="3936" y="2679"/>
              <a:ext cx="1152" cy="288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876" name="Rectangle 49"/>
            <p:cNvSpPr/>
            <p:nvPr>
              <p:custDataLst>
                <p:tags r:id="rId42"/>
              </p:custDataLst>
            </p:nvPr>
          </p:nvSpPr>
          <p:spPr>
            <a:xfrm>
              <a:off x="2880" y="3072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if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77" name="Rectangle 50"/>
            <p:cNvSpPr/>
            <p:nvPr>
              <p:custDataLst>
                <p:tags r:id="rId43"/>
              </p:custDataLst>
            </p:nvPr>
          </p:nvSpPr>
          <p:spPr>
            <a:xfrm>
              <a:off x="3264" y="3072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B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1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78" name="Rectangle 51"/>
            <p:cNvSpPr/>
            <p:nvPr>
              <p:custDataLst>
                <p:tags r:id="rId44"/>
              </p:custDataLst>
            </p:nvPr>
          </p:nvSpPr>
          <p:spPr>
            <a:xfrm>
              <a:off x="3648" y="3024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then</a:t>
              </a:r>
              <a:endParaRPr lang="en-US" altLang="zh-CN" sz="2800" i="1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79" name="Rectangle 52"/>
            <p:cNvSpPr/>
            <p:nvPr>
              <p:custDataLst>
                <p:tags r:id="rId45"/>
              </p:custDataLst>
            </p:nvPr>
          </p:nvSpPr>
          <p:spPr>
            <a:xfrm>
              <a:off x="4560" y="2967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else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 useBgFill="1">
          <p:nvSpPr>
            <p:cNvPr id="78880" name="Rectangle 53"/>
            <p:cNvSpPr/>
            <p:nvPr>
              <p:custDataLst>
                <p:tags r:id="rId46"/>
              </p:custDataLst>
            </p:nvPr>
          </p:nvSpPr>
          <p:spPr>
            <a:xfrm>
              <a:off x="4944" y="2967"/>
              <a:ext cx="288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dirty="0">
                  <a:solidFill>
                    <a:srgbClr val="0000FF"/>
                  </a:solidFill>
                </a:rPr>
                <a:t>C</a:t>
              </a:r>
              <a:endParaRPr lang="en-US" altLang="zh-CN" sz="28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9" name="Group 54"/>
          <p:cNvGrpSpPr/>
          <p:nvPr/>
        </p:nvGrpSpPr>
        <p:grpSpPr>
          <a:xfrm>
            <a:off x="9161145" y="5398770"/>
            <a:ext cx="467995" cy="609600"/>
            <a:chOff x="4416" y="3696"/>
            <a:chExt cx="288" cy="384"/>
          </a:xfrm>
        </p:grpSpPr>
        <p:sp>
          <p:nvSpPr>
            <p:cNvPr id="78866" name="Line 55"/>
            <p:cNvSpPr/>
            <p:nvPr>
              <p:custDataLst>
                <p:tags r:id="rId47"/>
              </p:custDataLst>
            </p:nvPr>
          </p:nvSpPr>
          <p:spPr>
            <a:xfrm flipH="1">
              <a:off x="4560" y="3696"/>
              <a:ext cx="0" cy="240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  <p:sp useBgFill="1">
          <p:nvSpPr>
            <p:cNvPr id="78867" name="Rectangle 56"/>
            <p:cNvSpPr/>
            <p:nvPr>
              <p:custDataLst>
                <p:tags r:id="rId48"/>
              </p:custDataLst>
            </p:nvPr>
          </p:nvSpPr>
          <p:spPr>
            <a:xfrm>
              <a:off x="4416" y="3936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S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1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0" name="Group 57"/>
          <p:cNvGrpSpPr/>
          <p:nvPr/>
        </p:nvGrpSpPr>
        <p:grpSpPr>
          <a:xfrm>
            <a:off x="10075545" y="4560570"/>
            <a:ext cx="467995" cy="685800"/>
            <a:chOff x="4992" y="3168"/>
            <a:chExt cx="288" cy="432"/>
          </a:xfrm>
        </p:grpSpPr>
        <p:sp useBgFill="1">
          <p:nvSpPr>
            <p:cNvPr id="78864" name="Rectangle 58"/>
            <p:cNvSpPr/>
            <p:nvPr>
              <p:custDataLst>
                <p:tags r:id="rId49"/>
              </p:custDataLst>
            </p:nvPr>
          </p:nvSpPr>
          <p:spPr>
            <a:xfrm>
              <a:off x="4992" y="3456"/>
              <a:ext cx="288" cy="14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Pct val="90000"/>
                <a:buFontTx/>
                <a:buNone/>
              </a:pPr>
              <a:r>
                <a:rPr lang="en-US" altLang="zh-CN" sz="2800" i="1" dirty="0">
                  <a:solidFill>
                    <a:srgbClr val="0000FF"/>
                  </a:solidFill>
                </a:rPr>
                <a:t>S</a:t>
              </a:r>
              <a:r>
                <a:rPr lang="en-US" altLang="zh-CN" sz="2800" i="1" baseline="-25000" dirty="0">
                  <a:solidFill>
                    <a:srgbClr val="0000FF"/>
                  </a:solidFill>
                </a:rPr>
                <a:t>2</a:t>
              </a:r>
              <a:endParaRPr lang="en-US" altLang="zh-CN" sz="2800" i="1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78865" name="Line 59"/>
            <p:cNvSpPr/>
            <p:nvPr>
              <p:custDataLst>
                <p:tags r:id="rId50"/>
              </p:custDataLst>
            </p:nvPr>
          </p:nvSpPr>
          <p:spPr>
            <a:xfrm>
              <a:off x="5088" y="3168"/>
              <a:ext cx="0" cy="240"/>
            </a:xfrm>
            <a:prstGeom prst="line">
              <a:avLst/>
            </a:prstGeom>
            <a:ln w="9525" cap="flat" cmpd="sng">
              <a:solidFill>
                <a:srgbClr val="03010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507365" y="276860"/>
            <a:ext cx="8571865" cy="593090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3.4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二义性文法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7046" name="Rectangle 4"/>
          <p:cNvSpPr>
            <a:spLocks noGrp="1"/>
          </p:cNvSpPr>
          <p:nvPr/>
        </p:nvSpPr>
        <p:spPr>
          <a:xfrm>
            <a:off x="362585" y="1170305"/>
            <a:ext cx="11266805" cy="19875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70709"/>
                </a:solidFill>
              </a:rPr>
              <a:t>二义性文法不能准确地指出程序设计语言的语法结构，为解决二义性文法的不确定性，通常有两种方法：</a:t>
            </a:r>
            <a:endParaRPr lang="zh-CN" altLang="en-US" sz="2800" b="1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70709"/>
                </a:solidFill>
              </a:rPr>
              <a:t>修改文法</a:t>
            </a:r>
            <a:endParaRPr lang="zh-CN" altLang="en-US" sz="2400" b="1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66"/>
                </a:solidFill>
              </a:rPr>
              <a:t>通常采用</a:t>
            </a:r>
            <a:r>
              <a:rPr lang="zh-CN" altLang="en-US" sz="2400" b="1" dirty="0">
                <a:solidFill>
                  <a:srgbClr val="070709"/>
                </a:solidFill>
              </a:rPr>
              <a:t>设置消除二义性的规则，例如：</a:t>
            </a:r>
            <a:r>
              <a:rPr lang="zh-CN" altLang="en-US" sz="2400" b="1" dirty="0">
                <a:solidFill>
                  <a:srgbClr val="FF0066"/>
                </a:solidFill>
              </a:rPr>
              <a:t>优先权</a:t>
            </a:r>
            <a:r>
              <a:rPr lang="zh-CN" altLang="en-US" sz="2400" b="1" dirty="0">
                <a:solidFill>
                  <a:srgbClr val="070709"/>
                </a:solidFill>
              </a:rPr>
              <a:t>和</a:t>
            </a:r>
            <a:r>
              <a:rPr lang="zh-CN" altLang="en-US" sz="2400" b="1" dirty="0">
                <a:solidFill>
                  <a:srgbClr val="FF0066"/>
                </a:solidFill>
              </a:rPr>
              <a:t>结合性</a:t>
            </a:r>
            <a:endParaRPr lang="zh-CN" altLang="en-US" sz="2400" b="1" dirty="0">
              <a:solidFill>
                <a:srgbClr val="FF0066"/>
              </a:solidFill>
            </a:endParaRPr>
          </a:p>
        </p:txBody>
      </p:sp>
      <p:sp>
        <p:nvSpPr>
          <p:cNvPr id="2" name="Rectangle 4"/>
          <p:cNvSpPr>
            <a:spLocks noGrp="1"/>
          </p:cNvSpPr>
          <p:nvPr/>
        </p:nvSpPr>
        <p:spPr>
          <a:xfrm>
            <a:off x="362585" y="3157855"/>
            <a:ext cx="11402060" cy="31165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70709"/>
                </a:solidFill>
              </a:rPr>
              <a:t>任一前后文无关文法</a:t>
            </a:r>
            <a:r>
              <a:rPr lang="zh-CN" altLang="en-US" sz="2800" b="1" dirty="0">
                <a:solidFill>
                  <a:srgbClr val="FF0066"/>
                </a:solidFill>
              </a:rPr>
              <a:t>是否</a:t>
            </a:r>
            <a:r>
              <a:rPr lang="zh-CN" altLang="en-US" sz="2800" b="1" dirty="0">
                <a:solidFill>
                  <a:srgbClr val="070709"/>
                </a:solidFill>
              </a:rPr>
              <a:t>是</a:t>
            </a:r>
            <a:r>
              <a:rPr lang="zh-CN" altLang="en-US" sz="2800" b="1" dirty="0">
                <a:solidFill>
                  <a:srgbClr val="FF0066"/>
                </a:solidFill>
              </a:rPr>
              <a:t>二义性</a:t>
            </a:r>
            <a:r>
              <a:rPr lang="zh-CN" altLang="en-US" sz="2800" b="1" dirty="0">
                <a:solidFill>
                  <a:srgbClr val="070709"/>
                </a:solidFill>
              </a:rPr>
              <a:t>的是</a:t>
            </a:r>
            <a:r>
              <a:rPr lang="zh-CN" altLang="en-US" sz="2800" b="1" dirty="0">
                <a:solidFill>
                  <a:srgbClr val="FF0066"/>
                </a:solidFill>
              </a:rPr>
              <a:t>不可判定</a:t>
            </a:r>
            <a:r>
              <a:rPr lang="zh-CN" altLang="en-US" sz="2800" b="1" dirty="0">
                <a:solidFill>
                  <a:srgbClr val="070709"/>
                </a:solidFill>
              </a:rPr>
              <a:t>的，但存在一些判定文法是否二义性的充分条件：</a:t>
            </a:r>
            <a:endParaRPr lang="zh-CN" altLang="en-US" sz="2800" b="1" dirty="0">
              <a:solidFill>
                <a:srgbClr val="070709"/>
              </a:solidFill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70709"/>
                </a:solidFill>
              </a:rPr>
              <a:t>若一文法含有</a:t>
            </a:r>
            <a:r>
              <a:rPr lang="zh-CN" altLang="en-US" sz="2400" b="1" dirty="0">
                <a:solidFill>
                  <a:srgbClr val="FF0066"/>
                </a:solidFill>
              </a:rPr>
              <a:t>既是左递归又是右递归的文法符号</a:t>
            </a:r>
            <a:r>
              <a:rPr lang="zh-CN" altLang="en-US" sz="2400" b="1" dirty="0">
                <a:solidFill>
                  <a:srgbClr val="070709"/>
                </a:solidFill>
              </a:rPr>
              <a:t>，即有</a:t>
            </a:r>
            <a:endParaRPr lang="zh-CN" altLang="en-US" sz="2400" b="1" dirty="0">
              <a:solidFill>
                <a:srgbClr val="070709"/>
              </a:solidFill>
            </a:endParaRPr>
          </a:p>
          <a:p>
            <a:pPr lvl="2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70709"/>
                </a:solidFill>
              </a:rPr>
              <a:t>	</a:t>
            </a:r>
            <a:r>
              <a:rPr lang="en-US" altLang="zh-CN" sz="2000" b="1" dirty="0">
                <a:solidFill>
                  <a:srgbClr val="070709"/>
                </a:solidFill>
              </a:rPr>
              <a:t>A</a:t>
            </a:r>
            <a:r>
              <a:rPr lang="en-US" altLang="zh-CN" sz="2000" b="1" dirty="0">
                <a:solidFill>
                  <a:srgbClr val="070709"/>
                </a:solidFill>
                <a:sym typeface="Symbol" panose="05050102010706020507" pitchFamily="18" charset="2"/>
              </a:rPr>
              <a:t>+ AvA    v(V</a:t>
            </a:r>
            <a:r>
              <a:rPr lang="en-US" altLang="zh-CN" sz="2000" b="1" baseline="-25000" dirty="0">
                <a:solidFill>
                  <a:srgbClr val="070709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rgbClr val="070709"/>
                </a:solidFill>
                <a:sym typeface="Symbol" panose="05050102010706020507" pitchFamily="18" charset="2"/>
              </a:rPr>
              <a:t>V</a:t>
            </a:r>
            <a:r>
              <a:rPr lang="en-US" altLang="zh-CN" sz="2000" b="1" baseline="-25000" dirty="0">
                <a:solidFill>
                  <a:srgbClr val="070709"/>
                </a:solidFill>
                <a:sym typeface="Symbol" panose="05050102010706020507" pitchFamily="18" charset="2"/>
              </a:rPr>
              <a:t>T</a:t>
            </a:r>
            <a:r>
              <a:rPr lang="en-US" altLang="zh-CN" sz="2000" b="1" dirty="0">
                <a:solidFill>
                  <a:srgbClr val="070709"/>
                </a:solidFill>
                <a:sym typeface="Symbol" panose="05050102010706020507" pitchFamily="18" charset="2"/>
              </a:rPr>
              <a:t>)*</a:t>
            </a: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或	</a:t>
            </a:r>
            <a:endParaRPr lang="zh-CN" altLang="en-US" sz="20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lvl="2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	</a:t>
            </a:r>
            <a:r>
              <a:rPr lang="en-US" altLang="zh-CN" sz="2000" b="1" dirty="0">
                <a:solidFill>
                  <a:srgbClr val="070709"/>
                </a:solidFill>
                <a:sym typeface="Symbol" panose="05050102010706020507" pitchFamily="18" charset="2"/>
              </a:rPr>
              <a:t>A+ A      </a:t>
            </a: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或</a:t>
            </a:r>
            <a:endParaRPr lang="zh-CN" altLang="en-US" sz="20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lvl="2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	</a:t>
            </a:r>
            <a:r>
              <a:rPr lang="en-US" altLang="zh-CN" sz="2000" b="1" dirty="0">
                <a:solidFill>
                  <a:srgbClr val="070709"/>
                </a:solidFill>
                <a:sym typeface="Symbol" panose="05050102010706020507" pitchFamily="18" charset="2"/>
              </a:rPr>
              <a:t>A+ A </a:t>
            </a: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及 </a:t>
            </a:r>
            <a:r>
              <a:rPr lang="en-US" altLang="zh-CN" sz="2000" b="1" dirty="0">
                <a:solidFill>
                  <a:srgbClr val="070709"/>
                </a:solidFill>
                <a:sym typeface="Symbol" panose="05050102010706020507" pitchFamily="18" charset="2"/>
              </a:rPr>
              <a:t>A+A </a:t>
            </a:r>
            <a:endParaRPr lang="en-US" altLang="zh-CN" sz="2000" b="1" dirty="0">
              <a:solidFill>
                <a:srgbClr val="070709"/>
              </a:solidFill>
              <a:sym typeface="Symbol" panose="05050102010706020507" pitchFamily="18" charset="2"/>
            </a:endParaRPr>
          </a:p>
          <a:p>
            <a:pPr lvl="2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则</a:t>
            </a:r>
            <a:r>
              <a:rPr lang="en-US" altLang="zh-CN" sz="2000" b="1" dirty="0">
                <a:solidFill>
                  <a:srgbClr val="FF0066"/>
                </a:solidFill>
                <a:sym typeface="Symbol" panose="05050102010706020507" pitchFamily="18" charset="2"/>
              </a:rPr>
              <a:t>G</a:t>
            </a:r>
            <a:r>
              <a:rPr lang="zh-CN" altLang="en-US" sz="2000" b="1" dirty="0">
                <a:solidFill>
                  <a:srgbClr val="FF0066"/>
                </a:solidFill>
                <a:sym typeface="Symbol" panose="05050102010706020507" pitchFamily="18" charset="2"/>
              </a:rPr>
              <a:t>必定是二义性的</a:t>
            </a:r>
            <a:r>
              <a:rPr lang="zh-CN" altLang="en-US" sz="2000" b="1" dirty="0">
                <a:solidFill>
                  <a:srgbClr val="070709"/>
                </a:solidFill>
                <a:sym typeface="Symbol" panose="05050102010706020507" pitchFamily="18" charset="2"/>
              </a:rPr>
              <a:t>。</a:t>
            </a:r>
            <a:endParaRPr lang="zh-CN" altLang="en-US" sz="2000" b="1" dirty="0">
              <a:solidFill>
                <a:srgbClr val="070709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57835" y="276860"/>
            <a:ext cx="8621395" cy="593090"/>
          </a:xfrm>
        </p:spPr>
        <p:txBody>
          <a:bodyPr/>
          <a:lstStyle/>
          <a:p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本章小结</a:t>
            </a:r>
            <a:endParaRPr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59491" name="Rectangle 3"/>
          <p:cNvSpPr>
            <a:spLocks noGrp="1"/>
          </p:cNvSpPr>
          <p:nvPr/>
        </p:nvSpPr>
        <p:spPr>
          <a:xfrm>
            <a:off x="394335" y="1291590"/>
            <a:ext cx="11413490" cy="32543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本章给出了</a:t>
            </a:r>
            <a:r>
              <a:rPr lang="en-US" altLang="zh-CN" sz="2600" b="1" dirty="0">
                <a:solidFill>
                  <a:srgbClr val="03010F"/>
                </a:solidFill>
              </a:rPr>
              <a:t>chomsky</a:t>
            </a:r>
            <a:r>
              <a:rPr lang="zh-CN" altLang="en-US" b="1" dirty="0">
                <a:solidFill>
                  <a:srgbClr val="070709"/>
                </a:solidFill>
              </a:rPr>
              <a:t>文法</a:t>
            </a: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的形式定义，其中</a:t>
            </a:r>
            <a:endParaRPr lang="zh-CN" altLang="en-US" b="1" dirty="0">
              <a:solidFill>
                <a:srgbClr val="070709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2型文法(即上下文无关文法</a:t>
            </a:r>
            <a:r>
              <a:rPr lang="en-US" altLang="zh-CN" b="1" dirty="0">
                <a:solidFill>
                  <a:srgbClr val="070709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是描述程序设计语言语法的形式化工具；</a:t>
            </a:r>
            <a:endParaRPr lang="zh-CN" altLang="en-US" b="1" dirty="0">
              <a:solidFill>
                <a:srgbClr val="070709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3型文法（正规表达式</a:t>
            </a: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）是描述程序设计语言词法的形式化工具；</a:t>
            </a:r>
            <a:endParaRPr lang="zh-CN" altLang="en-US" b="1" dirty="0">
              <a:solidFill>
                <a:srgbClr val="07070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</a:rPr>
              <a:t>举例：</a:t>
            </a:r>
            <a:endParaRPr lang="zh-CN" altLang="en-US" b="1" dirty="0">
              <a:solidFill>
                <a:srgbClr val="07070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rgbClr val="070709"/>
                </a:solidFill>
              </a:rPr>
              <a:t>  </a:t>
            </a:r>
            <a:r>
              <a:rPr lang="en-US" altLang="zh-CN" b="1" dirty="0">
                <a:solidFill>
                  <a:srgbClr val="070709"/>
                </a:solidFill>
              </a:rPr>
              <a:t>   </a:t>
            </a:r>
            <a:r>
              <a:rPr lang="zh-CN" altLang="en-US" b="1" dirty="0">
                <a:solidFill>
                  <a:srgbClr val="070709"/>
                </a:solidFill>
              </a:rPr>
              <a:t>一个简化的</a:t>
            </a:r>
            <a:r>
              <a:rPr lang="en-US" altLang="zh-CN" b="1" dirty="0">
                <a:solidFill>
                  <a:srgbClr val="070709"/>
                </a:solidFill>
                <a:latin typeface="宋体" panose="02010600030101010101" pitchFamily="2" charset="-122"/>
              </a:rPr>
              <a:t>C++</a:t>
            </a:r>
            <a:r>
              <a:rPr lang="zh-CN" altLang="en-US" b="1" dirty="0">
                <a:solidFill>
                  <a:srgbClr val="070709"/>
                </a:solidFill>
              </a:rPr>
              <a:t>类声明的语法的形式化定义</a:t>
            </a:r>
            <a:r>
              <a:rPr lang="zh-CN" altLang="en-US" b="1" dirty="0">
                <a:solidFill>
                  <a:srgbClr val="070709"/>
                </a:solidFill>
                <a:latin typeface="宋体" panose="02010600030101010101" pitchFamily="2" charset="-122"/>
                <a:hlinkClick r:id="rId1" action="ppaction://hlinkfile"/>
              </a:rPr>
              <a:t> </a:t>
            </a:r>
            <a:endParaRPr lang="zh-CN" altLang="en-US" b="1" dirty="0">
              <a:solidFill>
                <a:srgbClr val="07070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594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charRg st="2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59491">
                                            <p:txEl>
                                              <p:charRg st="23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charRg st="56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959491">
                                            <p:txEl>
                                              <p:charRg st="56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charRg st="8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959491">
                                            <p:txEl>
                                              <p:charRg st="8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charRg st="84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959491">
                                            <p:txEl>
                                              <p:charRg st="84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PLACING_PICTURE_USER_VIEWPORT" val="{&quot;height&quot;:2884,&quot;width&quot;:2884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PP_MARK_KEY" val="a8cb7fbe-3bb3-466b-9ca4-08b2b30fb1e2"/>
  <p:tag name="COMMONDATA" val="eyJoZGlkIjoiMzJjODM0ODFlMzJmZDYxYTU5ZjM3ODk5NzI1YjE1ODg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4973</Words>
  <Application>WPS 演示</Application>
  <PresentationFormat>全屏显示(4:3)</PresentationFormat>
  <Paragraphs>434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宋体</vt:lpstr>
      <vt:lpstr>Wingdings</vt:lpstr>
      <vt:lpstr>等线 Light</vt:lpstr>
      <vt:lpstr>微软雅黑</vt:lpstr>
      <vt:lpstr>Times New Roman</vt:lpstr>
      <vt:lpstr>等线</vt:lpstr>
      <vt:lpstr>Wingdings</vt:lpstr>
      <vt:lpstr>Symbol</vt:lpstr>
      <vt:lpstr>方正舒体</vt:lpstr>
      <vt:lpstr>Calibri</vt:lpstr>
      <vt:lpstr>Arial Unicode MS</vt:lpstr>
      <vt:lpstr>Calibri Light</vt:lpstr>
      <vt:lpstr>MingLiU</vt:lpstr>
      <vt:lpstr>Yu Gothic</vt:lpstr>
      <vt:lpstr>Monotype Sorts</vt:lpstr>
      <vt:lpstr>Tahoma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关于二义性文法的几点声明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Wren</dc:creator>
  <cp:lastModifiedBy>马春燕</cp:lastModifiedBy>
  <cp:revision>299</cp:revision>
  <dcterms:created xsi:type="dcterms:W3CDTF">2024-03-16T07:28:00Z</dcterms:created>
  <dcterms:modified xsi:type="dcterms:W3CDTF">2026-03-08T02:54:39Z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B2225844DFC147FAAD24F33CB554B470_13</vt:lpwstr>
  </property>
  <property fmtid="{D5CDD505-2E9C-101B-9397-08002B2CF9AE}" pid="3" name="KSOProductBuildVer">
    <vt:lpwstr>2052-11.1.0.13703</vt:lpwstr>
  </property>
</Properties>
</file>