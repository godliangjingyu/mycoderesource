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39"/>
  </p:handoutMasterIdLst>
  <p:sldIdLst>
    <p:sldId id="257" r:id="rId3"/>
    <p:sldId id="541" r:id="rId4"/>
    <p:sldId id="1014" r:id="rId5"/>
    <p:sldId id="930" r:id="rId6"/>
    <p:sldId id="1015" r:id="rId7"/>
    <p:sldId id="1016" r:id="rId8"/>
    <p:sldId id="983" r:id="rId9"/>
    <p:sldId id="881" r:id="rId10"/>
    <p:sldId id="931" r:id="rId11"/>
    <p:sldId id="791" r:id="rId12"/>
    <p:sldId id="792" r:id="rId14"/>
    <p:sldId id="790" r:id="rId15"/>
    <p:sldId id="882" r:id="rId16"/>
    <p:sldId id="838" r:id="rId17"/>
    <p:sldId id="984" r:id="rId18"/>
    <p:sldId id="795" r:id="rId19"/>
    <p:sldId id="805" r:id="rId20"/>
    <p:sldId id="806" r:id="rId21"/>
    <p:sldId id="985" r:id="rId22"/>
    <p:sldId id="798" r:id="rId23"/>
    <p:sldId id="986" r:id="rId24"/>
    <p:sldId id="801" r:id="rId25"/>
    <p:sldId id="987" r:id="rId26"/>
    <p:sldId id="809" r:id="rId27"/>
    <p:sldId id="988" r:id="rId28"/>
    <p:sldId id="814" r:id="rId29"/>
    <p:sldId id="989" r:id="rId30"/>
    <p:sldId id="815" r:id="rId31"/>
    <p:sldId id="824" r:id="rId32"/>
    <p:sldId id="990" r:id="rId33"/>
    <p:sldId id="825" r:id="rId34"/>
    <p:sldId id="991" r:id="rId35"/>
    <p:sldId id="1011" r:id="rId36"/>
    <p:sldId id="846" r:id="rId37"/>
    <p:sldId id="1012" r:id="rId38"/>
  </p:sldIdLst>
  <p:sldSz cx="12192000" cy="6858000"/>
  <p:notesSz cx="6858000" cy="9144000"/>
  <p:custDataLst>
    <p:tags r:id="rId4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ren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56" y="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228"/>
    </p:cViewPr>
  </p:sorterViewPr>
  <p:notesViewPr>
    <p:cSldViewPr snapToGrid="0">
      <p:cViewPr varScale="1">
        <p:scale>
          <a:sx n="75" d="100"/>
          <a:sy n="75" d="100"/>
        </p:scale>
        <p:origin x="3448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gs" Target="tags/tag198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EA3E2-C87F-4A69-AA9B-977CB6B7875A}" type="datetimeFigureOut">
              <a:rPr lang="zh-CN" altLang="en-US" smtClean="0">
                <a:cs typeface="等线 Light" panose="02010600030101010101" charset="-122"/>
              </a:rPr>
            </a:fld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2114A-053A-4019-867C-6DA91B73B33C}" type="slidenum">
              <a:rPr lang="zh-CN" altLang="en-US" smtClean="0">
                <a:cs typeface="等线 Light" panose="02010600030101010101" charset="-122"/>
              </a:rPr>
            </a:fld>
            <a:endParaRPr lang="zh-CN" altLang="en-US">
              <a:cs typeface="等线 Light" panose="0201060003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02T16:51:3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1285.000 1071.000,'3.000'0.000,"0.000"0.000,1.000 0.000,0.000 0.000,2.000-2.000,3.000 2.000,4.000-2.000,4.000 2.000,4.000 0.000,-3.000 0.000,9.000 0.000,-1.000 0.000,1.000 0.000,-3.000 0.000,-1.000 0.000,-4.000 0.000,-3.000 0.000,-2.000 0.000,-6.000 0.000,0.000 0.000,-2.000 0.000,-2.000 0.000,2.000 0.000,0.000 0.000,0.000 0.000,-1.000 0.000,1.000 0.000,-1.000 0.000,2.000 0.000,-2.000 0.000,1.000 0.000,2.000 0.000,1.000 0.000,-1.000 0.000,3.000 0.000,-3.000 0.000,3.000 0.000,-3.000 0.000,-2.000 0.000,0.000 0.000,2.000 0.000,-2.000-1.000,2.000 1.000,-1.000-2.000,-1.000 2.000,2.000-2.000,-4.000 2.000,-1.000-1.000,0.000 0.000,1.000 0.000,0.000-1.000,-1.000 2.000,1.000-1.000,1.000 0.000,-1.000 1.000,-3.000-3.000,2.000 0.000,-1.000-1.000,0.000 1.000,-1.000 0.000,-1.000 0.000,0.000 0.000,0.000 0.000,0.000 0.000,0.000 0.000,0.000-2.000,-1.000 0.000,1.000 2.000,-2.000-2.000,0.000 2.000,1.000-2.000,0.000 2.000,1.000 0.000,-3.000-2.000,3.000 2.000,-3.000-2.000,2.000 1.000,-1.000 1.000,-1.000-1.000,2.000 1.000,0.000-1.000,-1.000 1.000,0.000-1.000,-1.000 1.000,2.000 0.000,-1.000-2.000,-1.000 3.000,1.000-2.000,0.000 0.000,-1.000 4.000,2.000-3.000,-3.000 2.000,1.000 1.000,-3.000 0.000,2.000 0.000,-2.000 0.000,0.000 0.000,-2.000 0.000,2.000 0.000,-4.000 0.000,1.000 0.000,1.000 0.000,-3.000-2.000,7.000 2.000,-1.000-1.000,0.000 1.000,2.000 0.000,0.000 0.000,-1.000 0.000,-1.000 1.000,0.000 1.000,0.000-1.000,1.000-1.000,1.000 1.000,-3.000 1.000,2.000-2.000,1.000 1.000,-2.000-1.000,1.000 2.000,-2.000-2.000,1.000 0.000,-3.000 0.000,4.000 0.000,0.000 0.000,-2.000 0.000,2.000 0.000,-1.000 0.000,-2.000 0.000,3.000 0.000,-2.000 0.000,2.000 0.000,-2.000 0.000,2.000 0.000,-2.000 0.000,0.000 0.000,1.000 0.000,-1.000 0.000,0.000 1.000,0.000-1.000,0.000 0.000,-2.000 0.000,2.000 2.000,0.000-2.000,0.000 0.000,0.000 0.000,0.000 0.000,-2.000 0.000,-3.000 0.000,3.000 0.000,-3.000 0.000,1.000 0.000,1.000 0.000,1.000 0.000,2.000 0.000,2.000 0.000,-1.000 0.000,1.000 0.000,0.000 0.000,1.000 0.000,-1.000-1.000,0.000 1.000,-1.000 0.000,1.000 0.000,0.000 0.000,1.000 0.000,0.000 0.000,0.000 0.000,0.000 0.000,0.000 0.000,0.000 0.000,0.000 0.000,0.000 1.000,0.000-1.000,0.000 1.000,-1.000 0.000,1.000 3.000,2.000-1.000,0.000 0.000,-1.000 2.000,-1.000 0.000,1.000-1.000,1.000 1.000,-2.000-1.000,-1.000 3.000,3.000-1.000,-3.000 3.000,3.000-3.000,1.000 0.000,-2.000-2.000,2.000-1.000,0.000 1.000,0.000-1.000,0.000 1.000,0.000-1.000,0.000 3.000,0.000-1.000,0.000 2.000,0.000-3.000,0.000 0.000,0.000 0.000,0.000 1.000,0.000 0.000,0.000-2.000,0.000 1.000,0.000 3.000,0.000-3.000,0.000-1.000,0.000 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02T16:51:3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1519.000 1200.000,'3.000'0.000,"0.000"0.000,1.000 0.000,0.000 0.000,4.000 0.000,6.000 0.000,2.000 0.000,0.000 0.000,5.000 0.000,19.000 0.000,-13.000 0.000,-1.000 0.000,3.000 0.000,0.000 0.000,0.000 0.000,4.000-2.000,-4.000 2.000,8.000-2.000,-13.000 2.000,-2.000 0.000,-4.000 0.000,-1.000-2.000,1.000 2.000,-4.000 0.000,2.000 0.000,-3.000 0.000,1.000 0.000,-1.000 0.000,0.000 0.000,-2.000 0.000,5.000 0.000,-5.000 0.000,16.000 0.000,-19.000 0.000,1.000 0.000,-3.000 0.000,-2.000 0.000,0.000 0.000,-1.000 0.000,1.000 0.000,0.000 0.000,2.000 0.000,2.000 0.000,-2.000 0.000,2.000 0.000,-2.000 0.000,-2.000 0.000,1.000 0.000,3.000 0.000,-2.000 0.000,-2.000 0.000,4.000 0.000,-2.000 0.000,0.000 0.000,2.000 2.000,1.000-2.000,-1.000 0.000,-2.000 1.000,7.000-1.000,-6.000 2.000,-1.000-2.000,2.000 2.000,0.000-1.000,1.000-1.000,-1.000 0.000,-2.000 0.000,0.000 0.000,-3.000 0.000,0.000 0.000,1.000-4.000,0.000 0.000,-3.000 1.000,2.000 1.000,-1.000-1.000,-2.000 0.000,1.000 0.000,2.000-2.000,-2.000 1.000,-1.000 1.000,0.000-1.000,0.000 0.000,0.000 1.000,-1.000 0.000,-2.000 0.000,0.000-2.000,2.000 2.000,-1.000 0.000,0.000 0.000,0.000 0.000,-1.000-1.000,0.000 2.000,0.000 0.000,-1.000-1.000,-1.000 0.000,1.000 2.000,1.000-2.000,-1.000 1.000,1.000 1.000,-2.000-2.000,-2.000-1.000,1.000 2.000,-1.000-1.000,3.000 1.000,-2.000-1.000,1.000 2.000,1.000-2.000,1.000 1.000,0.000 0.000,0.000 0.000,-1.000-1.000,1.000 0.000,0.000 2.000,-2.000-2.000,1.000-1.000,0.000 3.000,1.000-1.000,0.000-1.000,0.000 3.000,-2.000-1.000,0.000-1.000,2.000 2.000,-1.000-1.000,1.000 0.000,0.000 1.000,-3.000 0.000,1.000 0.000,-3.000 0.000,4.000 0.000,-4.000 0.000,0.000 0.000,0.000 0.000,-3.000 0.000,0.000 0.000,3.000 0.000,-3.000 0.000,5.000 0.000,0.000 0.000,-13.000 0.000,11.000 0.000,0.000 0.000,-3.000 0.000,5.000 0.000,-2.000 0.000,0.000 0.000,-1.000 0.000,-4.000 0.000,-1.000 0.000,1.000 1.000,2.000-1.000,-3.000 0.000,1.000 0.000,-1.000 2.000,1.000-2.000,2.000 0.000,0.000 2.000,2.000-2.000,1.000 1.000,-1.000-1.000,1.000 2.000,0.000-2.000,-1.000 0.000,3.000 0.000,0.000 2.000,-5.000-2.000,3.000 1.000,-1.000-1.000,1.000 0.000,-6.000 2.000,9.000 0.000,0.000-1.000,2.000 1.000,-3.000-2.000,0.000 0.000,-2.000 0.000,-3.000 0.000,0.000 0.000,1.000 0.000,-1.000 0.000,2.000 0.000,3.000 0.000,-1.000 0.000,2.000 1.000,1.000 0.000,-1.000-1.000,0.000 2.000,0.000-1.000,1.000-1.000,0.000 0.000,-2.000 0.000,1.000 0.000,1.000 0.000,0.000 1.000,-1.000-1.000,1.000 2.000,1.000-2.000,-3.000 1.000,3.000-1.000,-1.000 0.000,-1.000 0.000,1.000 0.000,-2.000 0.000,2.000 0.000,-2.000 0.000,0.000 0.000,0.000 0.000,2.000 0.000,-2.000 0.000,0.000 0.000,0.000 0.000,-2.000 0.000,4.000 0.000,-1.000 0.000,2.000 1.000,-1.000 1.000,-1.000-1.000,-2.000 0.000,2.000 0.000,2.000 1.000,-1.000-2.000,-1.000 0.000,0.000 1.000,2.000 0.000,-2.000-1.000,2.000 1.000,1.000 2.000,0.000 0.000,1.000 0.000,0.000 0.000,0.000 0.000,1.000 0.000,-2.000 0.000,2.000 2.000,0.000-1.000,0.000-1.000,0.000 1.000,1.000-1.000,-1.000 1.000,0.000 0.000,0.000-1.000,0.000 1.000,0.000-1.000,0.000 2.000,0.000 0.000,0.000-2.000,1.000 2.000,0.000 2.000,1.000-4.000,0.000 0.000,-1.000 0.000,0.000 0.000,0.000 0.000,0.000 0.000,1.000 0.000,0.000 0.000,-1.000 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02T16:51:3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1178.000 1337.000,'4.000'0.000,"0.000"0.000,1.000 0.000,5.000 0.000,22.000 0.000,-13.000 0.000,5.000 1.000,0.000-1.000,5.000 0.000,3.000 0.000,-3.000 2.000,-2.000 1.000,-1.000-3.000,-2.000 2.000,0.000-2.000,0.000 2.000,-2.000 0.000,-9.000 0.000,3.000-2.000,-7.000 2.000,-5.000-2.000,-1.000 0.000,0.000 0.000,0.000 0.000,0.000 0.000,1.000 0.000,0.000 0.000,4.000 0.000,0.000 0.000,1.000 0.000,-3.000 0.000,4.000 0.000,-6.000 0.000,0.000 0.000,-1.000 0.000,1.000 0.000,-1.000 0.000,0.000 0.000,0.000 0.000,0.000 0.000,0.000 0.000,0.000 0.000,0.000 0.000,1.000 0.000,-1.000 0.000,1.000 0.000,1.000-1.000,-2.000 1.000,0.000 0.000,0.000-1.000,0.000 0.000,1.000 1.000,0.000-1.000,1.000-1.000,1.000 2.000,2.000-1.000,1.000-1.000,-1.000 2.000,0.000 0.000,-2.000-2.000,-1.000 2.000,-1.000 0.000,0.000 0.000,0.000 0.000,0.000 0.000,2.000 0.000,0.000 0.000,0.000-1.000,-2.000 1.000,2.000 0.000,4.000 0.000,-7.000 0.000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02T16:51:38"/>
    </inkml:context>
    <inkml:brush xml:id="br0">
      <inkml:brushProperty name="width" value="0.08819" units="cm"/>
      <inkml:brushProperty name="height" value="0.35278" units="cm"/>
      <inkml:brushProperty name="color" value="#000000"/>
      <inkml:brushProperty name="tip" value="rectangle"/>
      <inkml:brushProperty name="rasterOp" value="maskPen"/>
      <inkml:brushProperty name="ignorePressure" value="0"/>
    </inkml:brush>
  </inkml:definitions>
  <inkml:trace contextRef="#ctx0" brushRef="#br0">1113.000 348.000,'1.000'0.000,"2.000"0.000,1.000 0.000,2.000 0.000,-1.000 0.000,-1.000 0.000,0.000 0.000,-1.000 0.000,-2.000 0.000,0.000 0.000,0.000 0.000,0.000 0.000,0.000 0.000,0.000 0.000,1.000-1.000,0.000-1.000,-1.000 0.000,0.000 1.000,-1.000 0.000,2.000 0.000,-3.000 1.000,0.000 0.000,0.000 0.000,0.000 1.000,0.000 0.000,0.000 1.000,0.000-1.000,0.000 0.000,-1.000 1.000,1.000 1.000,-2.000 1.000,2.000-2.000,-2.000 1.000,2.000-2.000,0.000 1.000,0.000-1.000,0.000-1.000,0.000 1.000,-1.000-1.000,1.000 1.000,0.000 0.000,1.000 0.000,-2.000 0.000,1.000-1.000,1.000 2.000,-2.000-2.000,1.000 0.000,1.000 1.000,-1.000-1.000,0.000 0.000,0.000 1.000,0.000-1.000,0.000 0.000,-1.000 1.000,1.000-1.000,0.000 0.000,0.000 0.000,0.000 1.000,0.000-1.000,0.000 0.000,-1.000 0.000,1.000 0.000,3.000 0.000,0.000 0.000,1.000 0.000,-1.000 0.000,1.000 0.000,-1.000 0.000,-1.000 0.000,2.000 0.000,-2.000 0.000,1.000 0.000,0.000 0.000,-1.000 0.000,0.000 0.000,0.000 0.000,0.000 0.000,1.000 0.000,0.000 0.000,-1.000 0.000,0.000 0.000,0.000 0.000,0.000 0.000,0.000 0.000,0.000 0.000,1.000 0.000,-1.000 0.000,0.000 0.000,1.000 0.000,1.000 0.000,-2.000 0.000,0.000 0.000,0.000 0.000,0.000 0.000,1.000 0.000,-3.000 0.000,-1.000 1.000,-2.000-1.000,-4.000 3.000,6.000-1.000,-1.000-1.000,0.000 2.000,0.000-2.000,2.000 0.000,0.000 0.000,0.000-1.000,0.000 2.000,0.000-2.000,0.000 0.000,1.000 1.000,-2.000-1.000,1.000 1.000,0.000 0.000,0.000 0.000,0.000-1.000,0.000 0.000,0.000 1.000,0.000 0.000,-1.000-1.000,1.000 2.000,0.000-1.000,0.000-1.000,1.000 1.000,-1.000-1.000,0.000 0.000,0.000 1.000,-1.000-1.000,3.000 1.000,1.000 0.000,2.000 1.000,-1.000-2.000,1.000 1.000,-1.000 1.000,1.000-2.000,-2.000 1.000,0.000-1.000,1.000 0.000,-1.000 0.000,1.000 0.000,-2.000 0.000,0.000 0.000,0.000 0.000,0.000 0.000,0.000 0.000,0.000 0.000,1.000 1.000,-1.000-1.000,0.000 0.000,3.000 0.000,-2.000 0.000,1.000 0.000,-2.000 0.000,0.000 0.000,-2.000 0.000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02T16:51:38"/>
    </inkml:context>
    <inkml:brush xml:id="br0">
      <inkml:brushProperty name="width" value="0.08819" units="cm"/>
      <inkml:brushProperty name="height" value="0.35278" units="cm"/>
      <inkml:brushProperty name="color" value="#000000"/>
      <inkml:brushProperty name="tip" value="rectangle"/>
      <inkml:brushProperty name="rasterOp" value="maskPen"/>
      <inkml:brushProperty name="ignorePressure" value="0"/>
    </inkml:brush>
  </inkml:definitions>
  <inkml:trace contextRef="#ctx0" brushRef="#br0">1112.000 358.000,'2.000'0.000,"0.000"0.000,2.000 0.000,1.000 1.000,-1.000-1.000,-2.000 0.000,1.000 1.000,0.000-1.000,-1.000 0.000,-1.000 0.000,1.000 0.000,0.000 0.000,-1.000 0.000,0.000 0.000,0.000 0.000,1.000 0.000,-1.000 0.000,0.000 0.000,0.000 0.000,0.000 0.000,0.000-1.000,0.000 1.000,2.000 0.000,-2.000-1.000,1.000 1.000,-1.000 0.000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02T16:51:38"/>
    </inkml:context>
    <inkml:brush xml:id="br0">
      <inkml:brushProperty name="width" value="0.08819" units="cm"/>
      <inkml:brushProperty name="height" value="0.35278" units="cm"/>
      <inkml:brushProperty name="color" value="#000000"/>
      <inkml:brushProperty name="tip" value="rectangle"/>
      <inkml:brushProperty name="rasterOp" value="maskPen"/>
      <inkml:brushProperty name="ignorePressure" value="0"/>
    </inkml:brush>
  </inkml:definitions>
  <inkml:trace contextRef="#ctx0" brushRef="#br0">1106.000 387.000,'3.000'0.000,"-2.000"0.000,1.000 0.000,1.000 0.000,1.000 0.000,-1.000 0.000,1.000 1.000,-1.000-1.000,1.000 0.000,0.000 0.000,-1.000 0.000,-1.000 0.000,0.000 0.000,-1.000 0.000,0.000 0.000,0.000 0.000,0.000 0.000,0.000 0.000,0.000 0.000,1.000 0.000,-1.000 0.000,0.000 0.000,-1.000-1.000,1.000 1.000,0.000 0.000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02T16:51:38"/>
    </inkml:context>
    <inkml:brush xml:id="br0">
      <inkml:brushProperty name="width" value="0.08819" units="cm"/>
      <inkml:brushProperty name="height" value="0.35278" units="cm"/>
      <inkml:brushProperty name="color" value="#000000"/>
      <inkml:brushProperty name="tip" value="rectangle"/>
      <inkml:brushProperty name="rasterOp" value="maskPen"/>
      <inkml:brushProperty name="ignorePressure" value="0"/>
    </inkml:brush>
  </inkml:definitions>
  <inkml:trace contextRef="#ctx0" brushRef="#br0">1115.000 402.000,'1.000'0.000,"0.000"0.000,0.000 0.000,1.000 0.000,1.000 0.000,-2.000 0.000,3.000 1.000,-2.000-1.000,0.000 0.000,1.000 0.000,0.000 0.000,1.000 0.000,-1.000 0.000,-2.000 0.000,3.000 0.000,-3.000 0.000,0.000 0.000,0.000 0.000,0.000 0.000,2.000 0.000,-2.000 0.000,0.000 0.000,0.000 0.000,0.000 0.000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3-02T16:51:3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796.000 577.000,'0.000'3.000,"0.000"0.000,0.000 0.000,0.000 1.000,0.000-1.000,0.000 0.000,0.000 1.000,0.000-1.000,0.000 0.000,1.000 1.000,-1.000 1.000,0.000 0.000,1.000-2.000,-1.000 0.000,0.000 1.000,0.000-1.000,2.000 0.000,-1.000 0.000,-1.000 0.000,1.000 0.000,-1.000 0.000,2.000 0.000,-2.000 0.000,1.000 0.000,-1.000 1.000,1.000 1.000,-1.000-1.000,2.000-1.000,-2.000 2.000,1.000-2.000,-1.000 0.000,1.000 0.000,-1.000 2.000,1.000 0.000,0.000-2.000,-1.000 1.000,0.000-1.000,0.000 0.000,0.000 0.000,1.000 0.000,-1.000 0.000,0.000 0.000,0.000 0.000,0.000 0.000,0.000 0.000,0.000 0.000,0.000 0.000,0.000 0.000,0.000 1.000,0.000-1.000,0.000 0.000,0.000 0.000,0.000 0.000,0.000 0.000,0.000 2.000,0.000-1.000,0.000-1.000,0.000 0.000,0.000 1.000,0.000 1.000,0.000-2.000,0.000 2.000,0.000-2.000,1.000 1.000,1.000-1.000,-1.000 2.000,-1.000-1.000,0.000-1.000,2.000 2.000,-2.000-2.000,1.000 0.000,0.000 2.000,-1.000-1.000,1.000-1.000,0.000 1.000,0.000-1.000,2.000 0.000,-3.000 0.000,2.000 0.000,-1.000 0.000,4.000 0.000,-1.000-1.000,-1.000-2.000,1.000 0.000,1.000 1.000,2.000 0.000,-3.000 1.000,0.000-1.000,1.000-1.000,-1.000 2.000,4.000-2.000,-2.000 0.000,2.000 0.000,-2.000 0.000,-2.000 0.000,2.000 0.000,-2.000 0.000,1.000 0.000,2.000-1.000,-3.000 0.000,0.000 1.000,2.000-2.000,-1.000 2.000,1.000-1.000,-2.000 1.000,2.000 0.000,-2.000 0.000,2.000 0.000,-1.000 0.000,-1.000 0.000,1.000 0.000,-1.000 0.000,-1.000 0.000,1.000 0.000,-1.000 0.000,1.000 0.000,-1.000 0.000,2.000 0.000,-2.000 0.000,0.000 0.000,2.000 0.000,0.000-2.000,-2.000 2.000,0.000-1.000,2.000 1.000,-2.000 0.000,0.000-1.000,0.000 1.000,0.000-1.000,0.000 1.000,1.000-1.000,1.000-1.000,-2.000 2.000,0.000-1.000,1.000-1.000,-1.000-1.000,1.000 2.000,0.000-1.000,-3.000-1.000,1.000 0.000,0.000-1.000,1.000 2.000,-2.000-1.000,0.000 0.000,-1.000 0.000,1.000 0.000,-1.000 0.000,0.000 0.000,1.000-1.000,-1.000 1.000,0.000 0.000,0.000 0.000,0.000-1.000,0.000 1.000,0.000-2.000,0.000 2.000,-1.000 0.000,0.000 0.000,0.000 0.000,1.000 0.000,-2.000 0.000,2.000-2.000,0.000 1.000,-1.000 0.000,0.000 1.000,0.000 0.000,1.000-1.000,-1.000 1.000,-1.000-1.000,2.000 1.000,0.000-1.000,0.000 1.000,0.000 0.000,0.000-1.000,0.000 1.000,0.000 0.000,0.000-2.000,0.000 2.000,0.000 0.000,0.000 0.000,0.000 0.000,0.000-1.000,0.000 1.000,1.000-2.000,-1.000 2.000,0.000 0.000,0.000-1.000,0.000 1.000,0.000 0.000,0.000-1.000,0.000 1.000,0.000 0.000,0.000 0.000,1.000-1.000,-1.000 1.000,0.000 0.000,0.000 0.000,0.000 0.000,0.000-1.000,0.000 1.000,1.000 0.000,0.000-1.000,0.000-1.000,1.000 2.000,-1.000-1.000,0.000 1.000,0.000-1.000,-1.000 1.000,2.000 0.000,-1.000-1.000,-1.000 1.000,0.000 0.000,0.000 0.000,0.000 0.000,-3.000 1.000,0.000-1.000,0.000 3.000,0.000-1.000,-4.000-2.000,3.000 3.000,-2.000-1.000,0.000-1.000,0.000 0.000,1.000 1.000,1.000-1.000,0.000 2.000,1.000-1.000,0.000 1.000,-2.000 0.000,0.000 0.000,1.000 0.000,-2.000 0.000,1.000 0.000,1.000 0.000,0.000 0.000,-2.000 0.000,2.000-1.000,-2.000 1.000,0.000 0.000,0.000 0.000,1.000 0.000,1.000 0.000,-2.000-2.000,2.000 2.000,-2.000-1.000,1.000 1.000,-1.000 0.000,2.000-2.000,-2.000 2.000,0.000 0.000,2.000-1.000,-1.000 1.000,2.000-2.000,-1.000 2.000,-3.000 0.000,1.000 0.000,3.000-1.000,-1.000 1.000,1.000 0.000,-1.000-1.000,1.000 1.000,-1.000 0.000,0.000 0.000,0.000 0.000,-1.000 0.000,-1.000 0.000,1.000 0.000,-3.000 0.000,3.000 0.000,1.000 0.000,-3.000 0.000,3.000 0.000,0.000 0.000,-1.000 0.000,1.000 0.000,1.000 0.000,0.000 0.000,-2.000 1.000,1.000 1.000,1.000 0.000,0.000-1.000,3.000 2.000,0.000 1.000,1.000-1.000,2.000 0.000,0.000-1.000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147480000" units="dev"/>
        </inkml:traceFormat>
        <inkml:channelProperties>
          <inkml:channelProperty channel="X" name="resolution" value="40.42105" units="1/cm"/>
          <inkml:channelProperty channel="Y" name="resolution" value="40.44944" units="1/cm"/>
          <inkml:channelProperty channel="T" name="resolution" value="28.34646" units="1/dev"/>
        </inkml:channelProperties>
      </inkml:inkSource>
      <inkml:timestamp xml:id="ts0" timeString="2020-02-26T11:14: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9419.000 4304.000 0,'-17.000'0.000'16,"-1.000"0.000"-1,0.000 0.000 16,1.000 0.000-31,-1.000 0.000 0,0.000 0.000 16,1.000 0.000 0,-19.000 0.000-16,19.000 0.000 0,-1.000 0.000 15,1.000 0.000-15,-36.000 0.000 16,17.000 0.000-16,1.000 0.000 16,0.000 0.000-1,-1.000 0.000-15,1.000-18.000 0,0.000 18.000 16,0.000 0.000-16,17.000 0.000 15,0.000 0.000-15,-17.000-17.000 16,17.000 17.000-16,1.000 0.000 16,-1.000 0.000-16,-17.000 0.000 15,17.000 0.000 1,1.000 0.000-16,-19.000 0.000 16,19.000 0.000-16,-19.000 0.000 0,19.000 0.000 15,-19.000 0.000-15,19.000 0.000 16,-1.000 17.000-16,-17.000-17.000 15,17.000 0.000 1,1.000 0.000-16,-1.000 0.000 16,-17.000 18.000-1,17.000-18.000 1,-17.000 18.000-16,0.000 17.000 16,-1.000-18.000-16,1.000 1.000 15,17.000 0.000-15,-17.000-18.000 16,0.000 17.000-1,0.000 1.000-15,17.000-18.000 16,0.000 0.000-16,1.000 18.000 16,-19.000-18.000-16,19.000 17.000 15,-36.000 1.000 1,35.000-18.000-16,1.000 0.000 16,-1.000 18.000-16,0.000-18.000 15,18.000 17.000 1,-17.000-17.000-1,-1.000 18.000 1,-17.000-18.000-16,17.000 0.000 0,18.000 17.000 16,-35.000-17.000-1,17.000 0.000-15,18.000 18.000 32,-18.000-18.000-17,18.000 18.000 1,-17.000-18.000 31,17.000 17.000-32,-18.000 1.000-15,18.000 0.000 0,-17.000-1.000 16,-1.000-17.000 0,18.000 18.000-16,0.000 0.000 15,0.000-1.000 1,0.000 1.000-1,0.000 17.000 1,0.000 0.000 0,-18.000-17.000-1,18.000 17.000-15,-17.000 1.000 16,17.000-19.000-16,0.000 1.000 16,0.000 17.000-16,0.000-17.000 15,0.000-1.000-15,0.000 19.000 16,0.000-19.000-1,0.000 1.000 64,0.000 0.000-64,0.000-1.000-15,0.000 1.000 47,17.000-18.000-47,-17.000 18.000 16,18.000-18.000-1,-18.000 35.000-15,18.000-35.000 16,-1.000 17.000 0,1.000-17.000-16,-1.000 18.000 15,1.000 0.000-15,0.000-18.000 16,-1.000 17.000-16,1.000 1.000 15,17.000-18.000-15,-17.000 18.000 16,0.000-1.000-16,17.000-17.000 16,-17.000 0.000-16,17.000 18.000 15,0.000 0.000-15,53.000-1.000 16,-52.000-17.000-16,16.000 18.000 16,-34.000 0.000-16,17.000-18.000 15,-17.000 0.000-15,0.000 0.000 78,-1.000 0.000-78,1.000 0.000 32,-18.000-18.000-17,18.000 18.000-15,-1.000 0.000 16,1.000-18.000-16,17.000 18.000 15,-17.000 0.000-15,-1.000-17.000 16,19.000 17.000-16,-1.000-18.000 16,-17.000 18.000-16,17.000 0.000 15,35.000 0.000-15,-17.000 0.000 16,0.000 0.000-16,-17.000 18.000 16,-19.000-1.000-16,1.000-17.000 15,-1.000 0.000 1,1.000 0.000 31,-18.000-17.000-47,35.000 17.000 15,-35.000-18.000 1,18.000 0.000 0,17.000 1.000-1,-35.000-1.000 1,18.000 18.000-16,17.000-18.000 15,-35.000 1.000-15,35.000-1.000 16,-17.000 0.000-16,0.000 1.000 16,-1.000-18.000-1,1.000 17.000 1,0.000 0.000-16,-1.000 1.000 16,1.000-1.000-16,0.000 0.000 15,17.000 1.000-15,-35.000-19.000 16,18.000 36.000-16,-18.000-17.000 15,17.000 17.000-15,-17.000-35.000 16,0.000-1.000-16,0.000 19.000 31,18.000-1.000-31,-18.000 0.000 16,17.000-17.000-16,1.000 17.000 16,0.000-17.000-1,-1.000 17.000-15,-17.000 1.000 0,18.000-18.000 16,0.000 17.000-1,-18.000 0.000-15,0.000 1.000 16,0.000-1.000-16,0.000 0.000 16,0.000 1.000-1,0.000-1.000-15,0.000 0.000 16,0.000 1.000 0,0.000-1.000-1,0.000-17.000 1,0.000 17.000-1,0.000 1.000 64,0.000-1.000-64,0.000 0.000-15,17.000-17.000 16,-17.000 17.000-16,18.000 1.000 15,-18.000-1.000 1,0.000 1.000-16,0.000-1.000 16</inkml:trace>
  <inkml:trace contextRef="#ctx0" brushRef="#br0">9419.000 4304.000 0,'18.000'0.000'110,"17.000"-18.000"-110,53.000 18.000 15,18.000-35.000-15,35.000 35.000 16,0.000-18.000 0,36.000 1.000-16,-1.000-1.000 15,18.000-17.000-15,18.000 0.000 0,-71.000 17.000 16,-35.000 18.000-16,0.000-18.000 16,-36.000 18.000-16,-52.000 0.000 15,-1.000 0.000-15,1.000 0.000 16,0.000 0.000-1,-1.000 0.000 1,1.000-35.000 0,17.000 35.000-16,-17.000 0.000 15,0.000 0.000 32,34.000 0.000-31,142.000 0.000-16,36.000-18.000 15,17.000-35.000-15,-71.000 53.000 16,0.000 0.000-16,-70.000 0.000 16,-17.000 0.000-16,-72.000 0.000 15,-17.000 18.000 126</inkml:trace>
  <inkml:trace contextRef="#ctx0" brushRef="#br0">2646.000 11483.000 0,'0.000'18.000'47,"17.000"-18.000"16,1.000 0.000-48,17.000 0.000-15,-17.000-18.000 16,17.000 18.000-16,1.000-18.000 16,52.000-17.000-16,0.000 35.000 15,18.000-18.000-15,-18.000 18.000 16,-17.000 0.000-16,-19.000 0.000 15,-16.000 0.000-15,17.000 0.000 16,-36.000 0.000-16,1.000 0.000 16,0.000 0.000-1,17.000 0.000-15,-18.000 0.000 0,1.000 0.000 16,0.000 0.000 0,-1.000 0.000-16,1.000 0.000 15,0.000 0.000 1,-1.000 0.000-1,1.000 0.000 1,0.000 0.000-16,-1.000 18.000 16,1.000-18.000-16,0.000 0.000 15,17.000 18.000-15,-18.000-1.000 16,19.000-17.000-16,-19.000 0.000 16,-17.000 18.000-16,36.000-18.000 15,-19.000 18.000-15,1.000-18.000 16,0.000 0.000-16,-1.000 17.000 15,1.000-17.000-15,17.000 0.000 16,-17.000 0.000-16,-1.000 0.000 16,19.000 0.000-16,-19.000 0.000 15,1.000 0.000-15,0.000 0.000 16,17.000 0.000-16,-17.000 0.000 16,-1.000 0.000-16,18.000 0.000 15,1.000 0.000-15,-19.000-17.000 16,1.000 17.000-16,17.000 0.000 15,-17.000 0.000-15,0.000-18.000 16,-1.000 18.000 0,-17.000-18.000-16,18.000 18.000 15,-1.000-17.000-15,1.000-1.000 16,17.000 18.000 0,1.000-18.000-16,-1.000 18.000 15,-17.000-17.000-15,17.000 17.000 0,-18.000 0.000 16,1.000 0.000-16,17.000 0.000 15,-35.000-18.000 1,18.000 18.000-16,0.000 0.000 16,-1.000 0.000-16,1.000 0.000 15,17.000-18.000-15,-17.000 18.000 0,17.000 0.000 16,0.000 0.000-16,1.000 0.000 16,17.000 0.000-1,-36.000 0.000-15,1.000 0.000 16,17.000 0.000-16,-17.000 0.000 15,-1.000 0.000-15,1.000 18.000 16,17.000-18.000-16,-17.000 0.000 16,0.000 0.000-1,-1.000 18.000-15,19.000-18.000 0,-19.000 0.000 16,1.000 17.000-16,17.000-17.000 16,-35.000 18.000-1,18.000-18.000-15,-1.000 0.000 0,1.000 0.000 16,0.000 0.000-16,17.000 0.000 15,-17.000 0.000 1,-1.000 0.000-16,1.000 0.000 16,0.000 0.000-16,-1.000 0.000 15,18.000 0.000-15,-17.000 0.000 16,0.000 0.000-16,-1.000 0.000 16,1.000 18.000-1,0.000-18.000-15,-1.000 0.000 0,-17.000 17.000 16,36.000-17.000-16,-19.000 0.000 15,1.000 0.000-15,-1.000 0.000 16,19.000 0.000-16,-19.000 0.000 16,1.000 0.000-16,0.000 0.000 15,-1.000 0.000-15,1.000 0.000 16,0.000 0.000-16,17.000 0.000 16,-18.000 0.000-1,1.000 0.000-15,17.000 0.000 16,-17.000 0.000-16,0.000 0.000 15,-1.000 0.000-15,19.000 0.000 16,-19.000 0.000-16,19.000 0.000 16,-19.000 0.000-1,36.000-17.000-15,-35.000 17.000 16,-1.000-18.000-16,1.000 18.000 16,0.000-18.000-16,17.000 1.000 0,-35.000-1.000 31,18.000 18.000-31,-18.000-18.000 15,0.000 1.000 1,0.000-1.000-16,17.000 18.000 16,-17.000-17.000-16,18.000-19.000 15,-1.000 19.000-15,-17.000-1.000 16,0.000-17.000-16,18.000 17.000 16,-18.000 0.000-16,0.000-17.000 15,0.000 17.000-15,0.000 1.000 16,0.000-1.000-1,0.000-17.000-15,0.000 17.000 16,0.000 1.000-16,0.000-1.000 16,0.000-17.000-1,-18.000-1.000-15,1.000 1.000 16,17.000 18.000-16,-18.000 17.000 16,18.000-18.000 15,-17.000 18.000-16,-1.000-18.000 1,0.000 1.000-16,-17.000 17.000 16,17.000-36.000-16,1.000 36.000 15,-1.000-17.000-15,0.000-1.000 16,1.000 0.000-16,-1.000 1.000 16,1.000 17.000-16,-1.000-18.000 15,0.000 18.000-15,1.000 0.000 16,-1.000-17.000-16,0.000 17.000 15,-17.000 0.000 1,17.000 0.000 0,1.000 0.000-1,-1.000 0.000-15,0.000 0.000 16,-17.000 0.000 0,18.000 0.000-16,-1.000 0.000 15,0.000 0.000-15,-17.000 0.000 16,17.000 0.000-16,-17.000 0.000 15,17.000 0.000-15,-17.000 0.000 16,18.000-18.000-16,-1.000 18.000 16,-17.000 0.000-16,17.000 0.000 15,0.000 0.000-15,1.000 0.000 16,-19.000 0.000-16,19.000 0.000 16,-1.000 0.000-16,-17.000 0.000 15,17.000 0.000-15,1.000 0.000 16,-1.000 0.000-16,-17.000 0.000 0,17.000 0.000 15,-17.000 18.000 1,-1.000-18.000 0,19.000 0.000-1,-1.000 0.000 1,1.000 0.000-16,-1.000 0.000 16,-17.000 0.000-16,17.000 0.000 15,0.000 0.000 1,-17.000 0.000-16,17.000 0.000 15,1.000 0.000-15,-1.000 0.000 16,-17.000 0.000-16,17.000 0.000 16,1.000 0.000-16,-19.000 0.000 15,19.000 0.000-15,-1.000 0.000 16,0.000 0.000-16,-52.000 0.000 16,52.000 0.000-1,1.000 0.000-15,-36.000 0.000 0,35.000 0.000 16,0.000 0.000-16,-17.000 17.000 15,17.000-17.000 1,1.000 0.000-16,-1.000 0.000 0,-17.000 0.000 16,17.000 0.000-16,1.000 0.000 15,-1.000 0.000 1,-17.000 18.000-16,17.000-18.000 0,-17.000 0.000 16,17.000 0.000-16,1.000 0.000 15,-1.000 0.000-15,-17.000 0.000 16,17.000 0.000-1,0.000 17.000-15,-17.000-17.000 16,17.000 0.000-16,1.000 18.000 0,-1.000-18.000 16,-17.000 0.000-16,17.000 18.000 15,-35.000-1.000 1,36.000-17.000-16,-19.000 0.000 16,1.000 18.000-16,17.000-18.000 15,1.000 0.000-15,-18.000 18.000 16,17.000-18.000-16,0.000 0.000 15,-17.000 0.000-15,17.000 17.000 16,1.000-17.000-16,-19.000 0.000 16,19.000 18.000-16,-1.000-18.000 15,1.000 0.000 1,-19.000 0.000-16,19.000 0.000 16,-1.000 0.000-16,0.000 0.000 15,-17.000 18.000-15,0.000-18.000 16,17.000 17.000-16,-17.000-17.000 15,0.000 0.000-15,17.000 0.000 16,0.000 0.000-16,-17.000 0.000 16,17.000 0.000-16,1.000 18.000 15,-19.000-18.000-15,19.000 0.000 16,-1.000 0.000-16,1.000 17.000 16,-19.000 1.000-16,19.000-18.000 15,-1.000 0.000-15,-35.000 0.000 16,35.000 0.000-16,1.000 0.000 15,-1.000 0.000 1,1.000 0.000-16,-1.000 0.000 16,0.000 0.000-16,-35.000 18.000 15,36.000-18.000-15,-1.000 0.000 16,-17.000 17.000-16,17.000-17.000 16,1.000 0.000-16,-1.000 0.000 15,0.000 0.000-15,1.000 0.000 16,-1.000 18.000-1,0.000-18.000-15,1.000 0.000 16,-1.000 18.000-16,0.000-1.000 16,1.000-17.000-1,-1.000 0.000-15,0.000 18.000 16,1.000 17.000 0,-1.000-35.000-16,18.000 18.000 15,-17.000-18.000-15,-1.000 35.000 16,0.000-17.000-1,18.000-1.000 1,0.000 1.000-16,-17.000 0.000 16,17.000-1.000-1,0.000 19.000 1,0.000-19.000-16,-18.000 1.000 16,18.000 17.000-16,0.000-17.000 15,-18.000-18.000 1,18.000 35.000-16,0.000-17.000 15,0.000-1.000 17,0.000 1.000 61,0.000 0.000 17,18.000-18.000-95,0.000 0.000-15,17.000 17.000 16,-17.000-17.000 0,-1.000 0.000-1,-17.000 18.000 1,35.000 0.000-16,-17.000-18.000 16,0.000 17.000-16,-1.000-17.000 15,1.000 18.000-15,0.000-18.000 94</inkml:trace>
  <inkml:trace contextRef="#ctx0" brushRef="#br0">6209.000 10795.000 0,'35.000'0.000'172,"36.000"0.000"-156,35.000 0.000-16,-1.000 0.000 15,37.000 0.000-15,69.000 0.000 16,18.000 0.000-16,36.000 0.000 16,0.000 0.000-16,17.000 18.000 15,18.000-18.000-15,-18.000 0.000 16,18.000 0.000-16,-53.000-36.000 15,-36.000 1.000-15,-52.000-18.000 16,0.000 0.000-16,-18.000 0.000 16,18.000 0.000-1,52.000-52.000-15,-105.000 69.000 0,0.000 19.000 16,-18.000-19.000 0,18.000 1.000-16,0.000 0.000 0,0.000 0.000 15,-36.000 17.000-15,1.000-17.000 16,-18.000 17.000-16,-36.000 18.000 15,19.000 0.000 1,-36.000-18.000 31,0.000 54.000 94,0.000-19.000-126</inkml:trace>
  <inkml:trace contextRef="#ctx0" brushRef="#br0">2240.000 13282.000 0,'18.000'0.000'125,"-1.000"0.000"-125,1.000 0.000 16,17.000 0.000-16,-17.000 0.000 16,17.000-18.000-16,1.000 18.000 15,16.000 0.000-15,1.000 0.000 16,18.000 0.000-16,-18.000 0.000 15,17.000 0.000-15,-17.000 0.000 16,0.000 36.000-16,-35.000-19.000 16,17.000-17.000-16,-17.000 0.000 15,-1.000 0.000-15,19.000 0.000 16,-19.000 0.000-16,1.000 0.000 16,17.000 0.000-16,-17.000 0.000 15,0.000 0.000-15,-1.000 18.000 16,1.000-18.000-16,-1.000 0.000 15,1.000 0.000-15,0.000 0.000 32,-1.000 0.000-32,1.000 0.000 15,17.000 0.000-15,1.000 0.000 16,-1.000 0.000 0,-18.000 0.000-16,19.000 0.000 15,-1.000 18.000 1,-17.000-18.000-16,-1.000 0.000 15,19.000 0.000-15,-19.000 0.000 16,1.000 0.000-16,-1.000 0.000 0,19.000 0.000 16,-19.000 0.000-1,19.000 0.000-15,-19.000 0.000 16,19.000 0.000 0,-19.000 0.000-1,19.000 0.000 1,-19.000 0.000-16,1.000 0.000 15,17.000 0.000-15,-17.000 0.000 16,-1.000 0.000-16,19.000 0.000 16,-19.000 0.000-16,1.000 17.000 15,17.000-17.000-15,0.000 0.000 16,18.000 0.000-16,0.000 0.000 16,18.000 0.000-16,-18.000 0.000 15,35.000 18.000-15,-17.000-18.000 16,-19.000 0.000-16,-16.000 18.000 15,-19.000-18.000-15,19.000 0.000 16,-19.000 0.000 0,19.000 0.000-16,-19.000 0.000 15,1.000 0.000-15,-1.000 0.000 16,19.000 0.000-16,-19.000 0.000 16,1.000 0.000-16,17.000 0.000 15,-17.000 0.000-15,0.000 0.000 16,-1.000 0.000-16,19.000 0.000 15,-19.000 0.000-15,1.000 0.000 16,17.000 0.000-16,-17.000 0.000 16,17.000 0.000-16,-17.000 0.000 15,17.000 0.000-15,0.000 0.000 16,0.000 0.000-16,-17.000 0.000 16,0.000 0.000-16,17.000 0.000 15,-17.000 0.000-15,-1.000 0.000 16,19.000 0.000-16,-1.000 0.000 15,-18.000 0.000-15,19.000 17.000 16,-1.000-17.000-16,18.000 18.000 16,-18.000-18.000-16,1.000 0.000 15,-1.000 0.000-15,-18.000 0.000 16,1.000 0.000-16,17.000 0.000 16,-17.000 0.000-16,0.000 0.000 15,17.000 0.000-15,-17.000 0.000 16,-1.000 0.000-16,1.000 0.000 15,35.000 0.000-15,-36.000 0.000 16,1.000 0.000-16,0.000 0.000 16,17.000 0.000-16,-17.000 0.000 15,-1.000 0.000-15,18.000 0.000 16,-17.000 0.000-16,0.000 0.000 16,-1.000 0.000-16,19.000 0.000 15,-19.000 0.000-15,1.000 0.000 16,0.000 0.000-16,35.000 0.000 15,-36.000 0.000-15,18.000 0.000 16,-17.000 0.000-16,17.000 0.000 16,-17.000 0.000-16,0.000 0.000 15,-1.000 0.000-15,19.000 0.000 16,-1.000 0.000 0,-18.000 0.000-16,1.000 0.000 15,0.000 0.000-15,17.000 0.000 16,0.000 0.000-16,-17.000 0.000 15,17.000 0.000-15,36.000 0.000 16,-36.000 0.000-16,18.000 0.000 16,-18.000 0.000-16,1.000 0.000 15,-1.000 0.000-15,-18.000 0.000 16,1.000 0.000-16,17.000 0.000 16,-17.000 0.000-16,17.000 0.000 15,1.000 0.000-15,-1.000-18.000 16,-18.000 18.000-16,1.000 0.000 15,0.000 0.000-15,17.000 0.000 16,-17.000 0.000-16,-1.000-17.000 16,19.000-1.000-16,-19.000 18.000 15,18.000 0.000-15,-17.000 0.000 16,0.000-18.000-16,-1.000 18.000 16,-17.000-17.000-16,18.000 17.000 15,17.000 0.000-15,-17.000 0.000 16,0.000 0.000-16,35.000-18.000 15,-18.000 0.000-15,0.000 1.000 16,0.000 17.000-16,1.000-18.000 16,17.000 18.000-16,-36.000-18.000 0,36.000 18.000 15,-35.000 0.000-15,35.000 0.000 16,-18.000 0.000 0,18.000 0.000-16,0.000 0.000 15,17.000-17.000-15,-17.000 17.000 0,18.000 0.000 16,-1.000 0.000-1,-17.000 0.000-15,18.000 0.000 0,-1.000 0.000 16,-17.000 0.000 0,18.000 0.000-16,-18.000 0.000 0,0.000 0.000 15,17.000 0.000-15,-17.000 0.000 16,-18.000 0.000-16,1.000 0.000 16,17.000 0.000-16,-18.000 0.000 15,18.000 0.000 1,-36.000 0.000-16,1.000 0.000 0,0.000 0.000 15,35.000 0.000-15,-36.000 0.000 16,1.000 0.000-16,0.000 0.000 16,17.000 0.000-1,-18.000 0.000-15,1.000 0.000 0,17.000 0.000 16,-17.000 0.000-16,0.000 0.000 16,-1.000 17.000-16,19.000-17.000 15,-19.000 0.000-15,1.000 0.000 16,17.000 0.000-16,-17.000 0.000 15,-1.000 0.000 1,19.000 0.000-16,-19.000 0.000 0,1.000 0.000 16,0.000 0.000-1,-1.000 0.000 235,1.000-17.000-234,0.000 17.000-16,-1.000 0.000 31,18.000-18.000 735,18.000-17.000-766,18.000 17.000 15,35.000 18.000-15,-36.000 0.000 16,1.000 0.000-16,-18.000 0.000 16,0.000-17.000-16,-36.000 17.000 15,19.000-18.000-15,-19.000 18.000 16,-17.000-18.000 0,36.000 1.000-1,-19.000 17.000-15,18.000-36.000 16,18.000 19.000-16,0.000-1.000 15,18.000 1.000-15,-36.000-1.000 16,0.000 18.000-16,-17.000-18.000 16,0.000 18.000-16,-1.000 0.000 15,-17.000-17.000 63</inkml:trace>
  <inkml:trace contextRef="#ctx0" brushRef="#br0">2170.000 13247.000 0,'0.000'-18.000'109,"35.000"1.000"-93,-18.000-1.000-16,1.000 0.000 15,17.000 1.000-15,-17.000-1.000 16,17.000-17.000-16,-17.000 17.000 16,0.000 0.000-16,35.000-17.000 15,-36.000 18.000-15,71.000-54.000 16,-52.000 53.000-1,34.000-35.000 1,-35.000 36.000-16,18.000-19.000 16,-17.000 19.000-16,-1.000-18.000 15,-17.000 35.000-15,17.000 0.000 16,-17.000-18.000-16,-1.000 18.000 16,-17.000-18.000-16,35.000 18.000 15,-35.000-17.000-15,18.000 17.000 16,17.000-18.000-16,-17.000 18.000 15,0.000 0.000-15,17.000 0.000 16,0.000 0.000-16,-17.000 0.000 16,-1.000 0.000-16,1.000 0.000 15,0.000 0.000-15,-1.000 0.000 16,1.000 0.000 0,17.000 0.000-16,-17.000-18.000 15,0.000 18.000-15,17.000 0.000 16,-18.000 0.000-1,1.000 0.000-15,0.000 0.000 16,17.000 0.000-16,-17.000 0.000 16,-1.000 0.000-16,1.000 0.000 0,17.000-17.000 15,-17.000 17.000-15,17.000 0.000 16,0.000 0.000 0,-17.000-18.000-16,0.000 18.000 0,-1.000 0.000 15,19.000 0.000-15,-19.000 0.000 16,1.000 0.000-16,17.000-18.000 15,18.000 18.000 1,-35.000-17.000 0,-1.000 17.000-16,19.000 0.000 0,-19.000 0.000 15,1.000 0.000-15,17.000 0.000 16,-17.000 0.000-16,-1.000-18.000 16,19.000 18.000-16,-19.000 0.000 15,1.000 0.000-15,0.000 0.000 16,17.000-17.000-16,-17.000 17.000 15,17.000 0.000-15,-17.000 0.000 16,17.000 0.000-16,-18.000 0.000 16,19.000 0.000-16,-19.000 0.000 15,19.000 0.000-15,-19.000 0.000 16,1.000 0.000-16,0.000 0.000 16,17.000 0.000-16,-18.000 0.000 15,1.000 0.000-15,17.000 0.000 16,-17.000 0.000-16,0.000 0.000 15,-1.000 0.000-15,19.000 0.000 16,-1.000 0.000 0,-18.000 0.000-1,1.000 0.000 1,0.000 0.000-16,-1.000 0.000 16,19.000 0.000-16,-1.000 0.000 15,-17.000 0.000-15,-1.000-18.000 16,19.000 18.000-16,-19.000 0.000 15,1.000 0.000-15,17.000 0.000 16,-17.000 0.000-16,-1.000-18.000 16,19.000 1.000-16,-19.000 17.000 15,19.000 0.000-15,-19.000-18.000 16,18.000 18.000-16,-17.000-18.000 16,0.000 18.000-16,17.000 0.000 15,-17.000-17.000-15,-1.000 17.000 16,19.000 0.000-16,-19.000-18.000 15,1.000 18.000-15,17.000 0.000 16,0.000 0.000 0,-17.000 0.000 62,0.000 0.000-63,-1.000 0.000-15,19.000 0.000 16,-19.000-18.000-16,1.000 18.000 16,17.000 0.000-16,-17.000 0.000 15,-1.000 0.000-15,1.000 0.000 16,17.000-17.000-16,18.000 17.000 31,-35.000 0.000-15,35.000 0.000-1,-36.000 0.000-15,1.000-18.000 16,17.000 18.000-16,18.000-18.000 0,-35.000 1.000 16,17.000 17.000-16,-17.000 0.000 15,17.000 0.000 1,0.000 0.000-16,-17.000 0.000 16,0.000 0.000-16,17.000 0.000 0,0.000 0.000 15,-17.000 0.000 1,0.000 0.000-16,17.000 0.000 0,-18.000 0.000 15,1.000 0.000-15,0.000 0.000 16,17.000-18.000-16,-17.000 18.000 16,-1.000-17.000-16,19.000 17.000 15,-19.000 0.000-15,1.000 0.000 16,17.000 0.000-16,-17.000-18.000 16,-1.000 18.000-16,19.000 0.000 15,-19.000 0.000-15,1.000 0.000 16,17.000-18.000-16,0.000 18.000 15,-17.000 0.000-15,0.000 0.000 16,17.000 0.000-16,18.000 0.000 16,-18.000 0.000-16,36.000 0.000 15,-18.000 0.000-15,17.000 0.000 16,1.000 0.000-16,-1.000 18.000 16,36.000-18.000-16,0.000 18.000 15,-18.000-18.000 1,0.000 0.000-16,18.000 17.000 0,-18.000-17.000 15,1.000 0.000 1,-1.000 0.000-16,-18.000 0.000 0,1.000 0.000 16,0.000 0.000-16,-19.000 0.000 15,37.000 0.000-15,-1.000 0.000 16,-18.000 0.000-16,1.000 18.000 16,17.000-18.000-16,-17.000 17.000 15,-18.000-17.000-15,17.000 0.000 16,36.000 18.000-16,-53.000 0.000 15,0.000-1.000-15,17.000 1.000 16,1.000 0.000-16,-18.000-18.000 16,0.000 35.000-16,-18.000-17.000 15,0.000-1.000-15,1.000-17.000 16,-1.000 0.000-16,0.000 0.000 16,-17.000 18.000-1,-1.000-18.000-15,36.000 0.000 16,-35.000 0.000-16,0.000 0.000 0,-1.000 0.000 15,19.000 0.000-15,-19.000 0.000 16,1.000 0.000-16,17.000 0.000 16,-17.000 0.000-16,17.000 0.000 15,36.000 0.000-15,-1.000-18.000 16,36.000 18.000-16,-36.000-17.000 16,36.000 17.000-16,-70.000 0.000 15,-1.000 0.000-15,-17.000 0.000 16,-1.000 0.000-16,18.000 0.000 15,-17.000 0.000 1,0.000 0.000-16,-1.000 0.000 16,19.000 0.000-16,-19.000 0.000 15,1.000 0.000 95,0.000 35.000-95,-18.000-17.000-15,52.000 17.000 16,-34.000 0.000-16,0.000-17.000 16,-1.000 17.000-16,-17.000-17.000 15,18.000-18.000-15,-18.000 17.000 16,0.000 1.000-1,0.000 0.000 1,18.000 17.000 0,-18.000-18.000-16,0.000 1.000 15,17.000 17.000-15,-17.000-17.000 16,0.000 0.000-16,0.000-1.000 16,0.000 1.000-1,18.000 0.000-15,-18.000-1.000 16,18.000 1.000-16,-18.000 0.000 15,17.000-36.000 204,1.000 0.000-203,17.000 1.000-1,0.000-19.000-15,36.000 19.000 16,17.000-19.000-16,18.000 1.000 16,194.000-53.000-1,-177.000 53.000-15,18.000-1.000 16,-17.000 1.000-16,35.000 0.000 16,-36.000 17.000-16,-35.000 1.000 15,18.000 17.000-15,-18.000-18.000 16,18.000 18.000-16,-18.000 0.000 15,-17.000-18.000-15,35.000 18.000 16,-18.000 0.000-16,18.000 0.000 16,-18.000-17.000-16,18.000 17.000 15,-53.000 0.000-15,-36.000 0.000 16</inkml:trace>
  <inkml:trace contextRef="#ctx0" brushRef="#br0">15169.000 10125.000 0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等线 Light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等线 Light" panose="02010600030101010101" charset="-122"/>
              </a:defRPr>
            </a:lvl1pPr>
          </a:lstStyle>
          <a:p>
            <a:fld id="{95667B0C-C5AB-457F-8F1A-FBF93A90A4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等线 Light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等线 Light" panose="02010600030101010101" charset="-122"/>
              </a:defRPr>
            </a:lvl1pPr>
          </a:lstStyle>
          <a:p>
            <a:fld id="{94E0A2A6-A786-4185-BFBE-5D2240968AB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等线 Light" panose="0201060003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7" Type="http://schemas.openxmlformats.org/officeDocument/2006/relationships/image" Target="../media/image2.png"/><Relationship Id="rId6" Type="http://schemas.openxmlformats.org/officeDocument/2006/relationships/tags" Target="../tags/tag8.xml"/><Relationship Id="rId5" Type="http://schemas.openxmlformats.org/officeDocument/2006/relationships/image" Target="../media/image1.png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png"/><Relationship Id="rId5" Type="http://schemas.openxmlformats.org/officeDocument/2006/relationships/tags" Target="../tags/tag12.xml"/><Relationship Id="rId4" Type="http://schemas.openxmlformats.org/officeDocument/2006/relationships/image" Target="../media/image1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201930"/>
            <a:ext cx="12192000" cy="723265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等线 Light" panose="02010600030101010101" charset="-122"/>
            </a:endParaRPr>
          </a:p>
        </p:txBody>
      </p:sp>
      <p:pic>
        <p:nvPicPr>
          <p:cNvPr id="10" name="西北工业大学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968653" y="417830"/>
            <a:ext cx="1817793" cy="342900"/>
          </a:xfrm>
          <a:prstGeom prst="rect">
            <a:avLst/>
          </a:prstGeom>
        </p:spPr>
      </p:pic>
      <p:pic>
        <p:nvPicPr>
          <p:cNvPr id="11" name="校徽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157547" y="342900"/>
            <a:ext cx="575733" cy="431800"/>
          </a:xfrm>
          <a:prstGeom prst="rect">
            <a:avLst/>
          </a:prstGeom>
        </p:spPr>
      </p:pic>
      <p:cxnSp>
        <p:nvCxnSpPr>
          <p:cNvPr id="13" name="直线连接符 12"/>
          <p:cNvCxnSpPr/>
          <p:nvPr userDrawn="1"/>
        </p:nvCxnSpPr>
        <p:spPr>
          <a:xfrm>
            <a:off x="1134464" y="1936216"/>
            <a:ext cx="9730740" cy="5080"/>
          </a:xfrm>
          <a:prstGeom prst="line">
            <a:avLst/>
          </a:prstGeom>
          <a:ln w="19050">
            <a:solidFill>
              <a:srgbClr val="034D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日期占位符 1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432550"/>
            <a:ext cx="2743200" cy="365125"/>
          </a:xfrm>
        </p:spPr>
        <p:txBody>
          <a:bodyPr/>
          <a:lstStyle/>
          <a:p>
            <a:fld id="{8BEB6EB5-CC0D-C94C-91B9-9EA1B45E848E}" type="datetime1">
              <a:rPr kumimoji="1" lang="zh-CN" altLang="en-US" sz="900" smtClean="0"/>
            </a:fld>
            <a:endParaRPr kumimoji="1" lang="zh-CN" altLang="en-US" sz="900"/>
          </a:p>
        </p:txBody>
      </p:sp>
      <p:sp>
        <p:nvSpPr>
          <p:cNvPr id="15" name="页脚占位符 1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432550"/>
            <a:ext cx="4114800" cy="365125"/>
          </a:xfrm>
        </p:spPr>
        <p:txBody>
          <a:bodyPr/>
          <a:lstStyle/>
          <a:p>
            <a:r>
              <a:rPr kumimoji="1" lang="zh-CN" altLang="en-US" sz="900" dirty="0"/>
              <a:t>西北工业大学软件学院</a:t>
            </a:r>
            <a:endParaRPr kumimoji="1" lang="zh-CN" altLang="en-US" sz="900" dirty="0"/>
          </a:p>
        </p:txBody>
      </p:sp>
      <p:sp>
        <p:nvSpPr>
          <p:cNvPr id="16" name="灯片编号占位符 1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432550"/>
            <a:ext cx="2743200" cy="365125"/>
          </a:xfrm>
        </p:spPr>
        <p:txBody>
          <a:bodyPr/>
          <a:lstStyle/>
          <a:p>
            <a:fld id="{5A1A6423-77BD-D842-A714-25250E903C41}" type="slidenum">
              <a:rPr kumimoji="1" lang="zh-CN" altLang="en-US" sz="900" smtClean="0"/>
            </a:fld>
            <a:endParaRPr kumimoji="1" lang="zh-CN" altLang="en-US" sz="900"/>
          </a:p>
        </p:txBody>
      </p:sp>
      <p:cxnSp>
        <p:nvCxnSpPr>
          <p:cNvPr id="17" name="直线连接符 9"/>
          <p:cNvCxnSpPr/>
          <p:nvPr userDrawn="1">
            <p:custDataLst>
              <p:tags r:id="rId7"/>
            </p:custDataLst>
          </p:nvPr>
        </p:nvCxnSpPr>
        <p:spPr>
          <a:xfrm>
            <a:off x="0" y="6333977"/>
            <a:ext cx="121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1134464" y="1326526"/>
            <a:ext cx="6129867" cy="511118"/>
          </a:xfrm>
        </p:spPr>
        <p:txBody>
          <a:bodyPr>
            <a:normAutofit/>
          </a:bodyPr>
          <a:lstStyle>
            <a:lvl1pPr marL="0" indent="0">
              <a:buNone/>
              <a:defRPr kumimoji="1" lang="zh-CN" altLang="en-US" sz="3200" b="1" kern="1200" dirty="0">
                <a:solidFill>
                  <a:srgbClr val="034E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第</a:t>
            </a:r>
            <a:r>
              <a:rPr lang="en-US" altLang="zh-CN" dirty="0"/>
              <a:t> </a:t>
            </a:r>
            <a:r>
              <a:rPr lang="zh-CN" altLang="en-US" dirty="0"/>
              <a:t>单元 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1134464" y="2106539"/>
            <a:ext cx="8255000" cy="283845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2800" kern="1200" dirty="0">
                <a:solidFill>
                  <a:srgbClr val="034EA2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 lang="en-US" altLang="zh-CN" dirty="0"/>
              <a:t>1.1 </a:t>
            </a:r>
            <a:endParaRPr lang="en-US" altLang="zh-CN" dirty="0"/>
          </a:p>
          <a:p>
            <a:pPr lvl="0"/>
            <a:r>
              <a:rPr lang="en-US" altLang="zh-CN" dirty="0"/>
              <a:t>1.2 </a:t>
            </a:r>
            <a:endParaRPr lang="en-US" altLang="zh-CN" dirty="0"/>
          </a:p>
          <a:p>
            <a:pPr lvl="0"/>
            <a:r>
              <a:rPr lang="en-US" altLang="zh-CN" dirty="0"/>
              <a:t>1.3</a:t>
            </a:r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15" hasCustomPrompt="1"/>
          </p:nvPr>
        </p:nvSpPr>
        <p:spPr>
          <a:xfrm>
            <a:off x="228531" y="263977"/>
            <a:ext cx="2653249" cy="589645"/>
          </a:xfrm>
        </p:spPr>
        <p:txBody>
          <a:bodyPr/>
          <a:lstStyle>
            <a:lvl1pPr marL="0" indent="0"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等线 Light" panose="02010600030101010101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培养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630767" y="1339215"/>
            <a:ext cx="10670540" cy="6394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zh-CN" altLang="en-US" sz="2800" b="1" dirty="0">
                <a:cs typeface="等线 Light" panose="02010600030101010101" charset="-122"/>
              </a:rPr>
              <a:t>本节培养目标</a:t>
            </a:r>
            <a:endParaRPr kumimoji="1" lang="zh-CN" altLang="en-US" sz="2800" b="1" dirty="0">
              <a:cs typeface="等线 Light" panose="02010600030101010101" charset="-122"/>
            </a:endParaRPr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0" y="201930"/>
            <a:ext cx="12192000" cy="723265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等线 Light" panose="02010600030101010101" charset="-122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432550"/>
            <a:ext cx="2743200" cy="365125"/>
          </a:xfrm>
        </p:spPr>
        <p:txBody>
          <a:bodyPr/>
          <a:lstStyle/>
          <a:p>
            <a:fld id="{8BEB6EB5-CC0D-C94C-91B9-9EA1B45E848E}" type="datetime1">
              <a:rPr kumimoji="1" lang="zh-CN" altLang="en-US" sz="900" smtClean="0"/>
            </a:fld>
            <a:endParaRPr kumimoji="1" lang="zh-CN" altLang="en-US" sz="90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432550"/>
            <a:ext cx="4114800" cy="365125"/>
          </a:xfrm>
        </p:spPr>
        <p:txBody>
          <a:bodyPr/>
          <a:lstStyle/>
          <a:p>
            <a:r>
              <a:rPr kumimoji="1" lang="zh-CN" altLang="en-US" sz="900" dirty="0"/>
              <a:t>西北工业大学软件学院</a:t>
            </a:r>
            <a:endParaRPr kumimoji="1" lang="zh-CN" altLang="en-US" sz="900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432550"/>
            <a:ext cx="2743200" cy="365125"/>
          </a:xfrm>
        </p:spPr>
        <p:txBody>
          <a:bodyPr/>
          <a:lstStyle/>
          <a:p>
            <a:fld id="{5A1A6423-77BD-D842-A714-25250E903C41}" type="slidenum">
              <a:rPr kumimoji="1" lang="zh-CN" altLang="en-US" sz="900" smtClean="0"/>
            </a:fld>
            <a:endParaRPr kumimoji="1" lang="zh-CN" altLang="en-US" sz="900"/>
          </a:p>
        </p:txBody>
      </p:sp>
      <p:pic>
        <p:nvPicPr>
          <p:cNvPr id="13" name="西北工业大学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/>
          <a:stretch>
            <a:fillRect/>
          </a:stretch>
        </p:blipFill>
        <p:spPr>
          <a:xfrm>
            <a:off x="9968653" y="417830"/>
            <a:ext cx="1817793" cy="342900"/>
          </a:xfrm>
          <a:prstGeom prst="rect">
            <a:avLst/>
          </a:prstGeom>
        </p:spPr>
      </p:pic>
      <p:pic>
        <p:nvPicPr>
          <p:cNvPr id="14" name="校徽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9157547" y="342900"/>
            <a:ext cx="575733" cy="43180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352213" y="1188720"/>
            <a:ext cx="11530753" cy="5181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16" name="卷形: 水平 1"/>
          <p:cNvSpPr/>
          <p:nvPr userDrawn="1">
            <p:custDataLst>
              <p:tags r:id="rId8"/>
            </p:custDataLst>
          </p:nvPr>
        </p:nvSpPr>
        <p:spPr>
          <a:xfrm>
            <a:off x="838200" y="1729105"/>
            <a:ext cx="10325100" cy="3736340"/>
          </a:xfrm>
          <a:prstGeom prst="horizontalScroll">
            <a:avLst>
              <a:gd name="adj" fmla="val 12500"/>
            </a:avLst>
          </a:prstGeom>
          <a:noFill/>
          <a:ln w="25400" cap="flat" cmpd="sng">
            <a:solidFill>
              <a:schemeClr val="hlink"/>
            </a:solidFill>
            <a:prstDash val="sysDot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marL="469900" indent="-469900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3" hasCustomPrompt="1"/>
          </p:nvPr>
        </p:nvSpPr>
        <p:spPr>
          <a:xfrm>
            <a:off x="1911351" y="2498725"/>
            <a:ext cx="9076267" cy="2197100"/>
          </a:xfrm>
        </p:spPr>
        <p:txBody>
          <a:bodyPr/>
          <a:lstStyle>
            <a:lvl1pPr marL="457200" indent="-457200">
              <a:buFont typeface="+mj-lt"/>
              <a:buAutoNum type="arabicPeriod"/>
              <a:defRPr lang="zh-CN" altLang="en-US" sz="2400" b="1" kern="10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tabLst>
                <a:tab pos="457200" algn="l"/>
              </a:tabLst>
              <a:defRPr/>
            </a:pPr>
            <a:r>
              <a:rPr lang="zh-CN" altLang="en-US" dirty="0"/>
              <a:t>第一级</a:t>
            </a:r>
            <a:endParaRPr lang="zh-CN" altLang="en-US" dirty="0"/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tabLst>
                <a:tab pos="457200" algn="l"/>
              </a:tabLst>
              <a:defRPr/>
            </a:pPr>
            <a:r>
              <a:rPr lang="zh-CN" altLang="en-US" dirty="0"/>
              <a:t>第二级</a:t>
            </a:r>
            <a:endParaRPr lang="zh-CN" altLang="en-US" dirty="0"/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tabLst>
                <a:tab pos="457200" algn="l"/>
              </a:tabLst>
              <a:defRPr/>
            </a:pPr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309033" y="276860"/>
            <a:ext cx="4445000" cy="593090"/>
          </a:xfrm>
        </p:spPr>
        <p:txBody>
          <a:bodyPr>
            <a:noAutofit/>
          </a:bodyPr>
          <a:lstStyle>
            <a:lvl1pPr marL="0" indent="0"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等线 Light" panose="02010600030101010101" charset="-122"/>
              </a:defRPr>
            </a:lvl1pPr>
          </a:lstStyle>
          <a:p>
            <a:pPr lvl="0"/>
            <a:r>
              <a:rPr lang="en-US" altLang="zh-CN" dirty="0"/>
              <a:t>1.1 </a:t>
            </a:r>
            <a:r>
              <a:rPr lang="zh-CN" altLang="en-US" dirty="0"/>
              <a:t>章节名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201930"/>
            <a:ext cx="12192000" cy="723265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cs typeface="等线 Light" panose="02010600030101010101" charset="-122"/>
            </a:endParaRP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8BEB6EB5-CC0D-C94C-91B9-9EA1B45E848E}" type="datetime1">
              <a:rPr kumimoji="1" lang="zh-CN" altLang="en-US" sz="900" smtClean="0"/>
            </a:fld>
            <a:endParaRPr kumimoji="1" lang="zh-CN" altLang="en-US" sz="900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r>
              <a:rPr kumimoji="1" lang="zh-CN" altLang="en-US" sz="900" dirty="0"/>
              <a:t>西北工业大学软件学院</a:t>
            </a:r>
            <a:endParaRPr kumimoji="1" lang="zh-CN" altLang="en-US" sz="900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5A1A6423-77BD-D842-A714-25250E903C41}" type="slidenum">
              <a:rPr kumimoji="1" lang="zh-CN" altLang="en-US" sz="900" smtClean="0"/>
            </a:fld>
            <a:endParaRPr kumimoji="1" lang="zh-CN" altLang="en-US" sz="900"/>
          </a:p>
        </p:txBody>
      </p:sp>
      <p:pic>
        <p:nvPicPr>
          <p:cNvPr id="11" name="西北工业大学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9968653" y="417830"/>
            <a:ext cx="1817793" cy="342900"/>
          </a:xfrm>
          <a:prstGeom prst="rect">
            <a:avLst/>
          </a:prstGeom>
        </p:spPr>
      </p:pic>
      <p:pic>
        <p:nvPicPr>
          <p:cNvPr id="12" name="校徽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9157547" y="342900"/>
            <a:ext cx="575733" cy="431800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352213" y="1188720"/>
            <a:ext cx="11530753" cy="5181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等线 Light" panose="02010600030101010101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309033" y="276860"/>
            <a:ext cx="4445000" cy="593090"/>
          </a:xfrm>
        </p:spPr>
        <p:txBody>
          <a:bodyPr>
            <a:noAutofit/>
          </a:bodyPr>
          <a:lstStyle>
            <a:lvl1pPr marL="0" indent="0"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等线 Light" panose="02010600030101010101" charset="-122"/>
              </a:defRPr>
            </a:lvl1pPr>
          </a:lstStyle>
          <a:p>
            <a:pPr lvl="0"/>
            <a:r>
              <a:rPr lang="en-US" altLang="zh-CN" dirty="0"/>
              <a:t>1.1.1 </a:t>
            </a:r>
            <a:r>
              <a:rPr lang="zh-CN" altLang="en-US" dirty="0"/>
              <a:t>小节名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5" hasCustomPrompt="1"/>
          </p:nvPr>
        </p:nvSpPr>
        <p:spPr>
          <a:xfrm>
            <a:off x="524087" y="1248410"/>
            <a:ext cx="4229947" cy="515619"/>
          </a:xfrm>
        </p:spPr>
        <p:txBody>
          <a:bodyPr/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2800" b="1" kern="1200" dirty="0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defRPr>
            </a:lvl1pPr>
            <a:lvl2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28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2pPr>
            <a:lvl3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28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3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级标题</a:t>
            </a:r>
            <a:endParaRPr lang="zh-CN" altLang="en-US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6" hasCustomPrompt="1"/>
          </p:nvPr>
        </p:nvSpPr>
        <p:spPr>
          <a:xfrm>
            <a:off x="529167" y="1910398"/>
            <a:ext cx="11163300" cy="4293551"/>
          </a:xfrm>
        </p:spPr>
        <p:txBody>
          <a:bodyPr>
            <a:normAutofit/>
          </a:bodyPr>
          <a:lstStyle>
            <a:lvl1pPr marL="2286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1pPr>
            <a:lvl2pPr marL="6858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2pPr>
            <a:lvl3pPr marL="11430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3pPr>
            <a:lvl4pPr marL="16002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4pPr>
            <a:lvl5pPr marL="2057400" indent="-228600" algn="l" rtl="0" eaLnBrk="1" latinLnBrk="0" hangingPunct="1">
              <a:buClr>
                <a:srgbClr val="000000"/>
              </a:buClr>
              <a:buFont typeface="Arial" panose="020B0604020202020204" pitchFamily="34" charset="0"/>
              <a:buChar char="•"/>
              <a:defRPr lang="zh-CN" alt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cs typeface="等线 Light" panose="02010600030101010101" charset="-122"/>
              </a:defRPr>
            </a:lvl1pPr>
          </a:lstStyle>
          <a:p>
            <a:fld id="{C34801DB-D675-416A-BFF5-F346E24F3BD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cs typeface="等线 Light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cs typeface="等线 Light" panose="02010600030101010101" charset="-122"/>
              </a:defRPr>
            </a:lvl1pPr>
          </a:lstStyle>
          <a:p>
            <a:fld id="{7C7206B7-967B-48F3-989E-8CF2542470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等线 Light" panose="0201060003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等线 Light" panose="0201060003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tags" Target="../tags/tag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customXml" Target="../ink/ink4.xml"/><Relationship Id="rId8" Type="http://schemas.openxmlformats.org/officeDocument/2006/relationships/image" Target="../media/image7.png"/><Relationship Id="rId7" Type="http://schemas.openxmlformats.org/officeDocument/2006/relationships/customXml" Target="../ink/ink3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7" Type="http://schemas.openxmlformats.org/officeDocument/2006/relationships/slideLayout" Target="../slideLayouts/slideLayout3.xml"/><Relationship Id="rId16" Type="http://schemas.openxmlformats.org/officeDocument/2006/relationships/image" Target="../media/image11.png"/><Relationship Id="rId15" Type="http://schemas.openxmlformats.org/officeDocument/2006/relationships/customXml" Target="../ink/ink7.xml"/><Relationship Id="rId14" Type="http://schemas.openxmlformats.org/officeDocument/2006/relationships/image" Target="../media/image10.png"/><Relationship Id="rId13" Type="http://schemas.openxmlformats.org/officeDocument/2006/relationships/customXml" Target="../ink/ink6.xml"/><Relationship Id="rId12" Type="http://schemas.openxmlformats.org/officeDocument/2006/relationships/image" Target="../media/image9.png"/><Relationship Id="rId11" Type="http://schemas.openxmlformats.org/officeDocument/2006/relationships/customXml" Target="../ink/ink5.xml"/><Relationship Id="rId10" Type="http://schemas.openxmlformats.org/officeDocument/2006/relationships/image" Target="../media/image8.png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png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customXml" Target="../ink/ink8.xml"/><Relationship Id="rId4" Type="http://schemas.openxmlformats.org/officeDocument/2006/relationships/image" Target="../media/image18.png"/><Relationship Id="rId3" Type="http://schemas.openxmlformats.org/officeDocument/2006/relationships/tags" Target="../tags/tag20.xml"/><Relationship Id="rId2" Type="http://schemas.openxmlformats.org/officeDocument/2006/relationships/slide" Target="slide29.xml"/><Relationship Id="rId1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3.xml"/><Relationship Id="rId6" Type="http://schemas.openxmlformats.org/officeDocument/2006/relationships/tags" Target="../tags/tag21.xml"/><Relationship Id="rId5" Type="http://schemas.openxmlformats.org/officeDocument/2006/relationships/hyperlink" Target="IRS&#36719;&#20214;&#30697;&#38453;&#36816;&#31639;&#24211;&#37325;&#26500;&#21644;&#20248;&#21270;&#26041;&#26696;.docx" TargetMode="External"/><Relationship Id="rId4" Type="http://schemas.openxmlformats.org/officeDocument/2006/relationships/image" Target="../media/image2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9" Type="http://schemas.openxmlformats.org/officeDocument/2006/relationships/vmlDrawing" Target="../drawings/vmlDrawing2.vml"/><Relationship Id="rId28" Type="http://schemas.openxmlformats.org/officeDocument/2006/relationships/slideLayout" Target="../slideLayouts/slideLayout3.xml"/><Relationship Id="rId27" Type="http://schemas.openxmlformats.org/officeDocument/2006/relationships/tags" Target="../tags/tag41.xml"/><Relationship Id="rId26" Type="http://schemas.openxmlformats.org/officeDocument/2006/relationships/oleObject" Target="../embeddings/oleObject7.bin"/><Relationship Id="rId25" Type="http://schemas.openxmlformats.org/officeDocument/2006/relationships/tags" Target="../tags/tag40.xml"/><Relationship Id="rId24" Type="http://schemas.openxmlformats.org/officeDocument/2006/relationships/tags" Target="../tags/tag39.xml"/><Relationship Id="rId23" Type="http://schemas.openxmlformats.org/officeDocument/2006/relationships/oleObject" Target="../embeddings/oleObject6.bin"/><Relationship Id="rId22" Type="http://schemas.openxmlformats.org/officeDocument/2006/relationships/tags" Target="../tags/tag38.xml"/><Relationship Id="rId21" Type="http://schemas.openxmlformats.org/officeDocument/2006/relationships/oleObject" Target="../embeddings/oleObject5.bin"/><Relationship Id="rId20" Type="http://schemas.openxmlformats.org/officeDocument/2006/relationships/tags" Target="../tags/tag37.xml"/><Relationship Id="rId2" Type="http://schemas.openxmlformats.org/officeDocument/2006/relationships/tags" Target="../tags/tag23.xml"/><Relationship Id="rId19" Type="http://schemas.openxmlformats.org/officeDocument/2006/relationships/tags" Target="../tags/tag36.xml"/><Relationship Id="rId18" Type="http://schemas.openxmlformats.org/officeDocument/2006/relationships/image" Target="../media/image23.wmf"/><Relationship Id="rId17" Type="http://schemas.openxmlformats.org/officeDocument/2006/relationships/oleObject" Target="../embeddings/oleObject4.bin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image" Target="../media/image22.wmf"/><Relationship Id="rId12" Type="http://schemas.openxmlformats.org/officeDocument/2006/relationships/oleObject" Target="../embeddings/oleObject3.bin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26.png"/><Relationship Id="rId7" Type="http://schemas.openxmlformats.org/officeDocument/2006/relationships/tags" Target="../tags/tag44.xml"/><Relationship Id="rId6" Type="http://schemas.openxmlformats.org/officeDocument/2006/relationships/customXml" Target="../ink/ink9.xml"/><Relationship Id="rId5" Type="http://schemas.openxmlformats.org/officeDocument/2006/relationships/image" Target="../media/image25.png"/><Relationship Id="rId4" Type="http://schemas.openxmlformats.org/officeDocument/2006/relationships/tags" Target="../tags/tag43.xml"/><Relationship Id="rId3" Type="http://schemas.openxmlformats.org/officeDocument/2006/relationships/image" Target="../media/image24.emf"/><Relationship Id="rId2" Type="http://schemas.openxmlformats.org/officeDocument/2006/relationships/oleObject" Target="../embeddings/oleObject8.bin"/><Relationship Id="rId10" Type="http://schemas.openxmlformats.org/officeDocument/2006/relationships/vmlDrawing" Target="../drawings/vmlDrawing3.vml"/><Relationship Id="rId1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" Target="slide1.xml"/><Relationship Id="rId1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54.xml"/><Relationship Id="rId1" Type="http://schemas.openxmlformats.org/officeDocument/2006/relationships/tags" Target="../tags/tag4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slide" Target="slide1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slide" Target="slide18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7" Type="http://schemas.openxmlformats.org/officeDocument/2006/relationships/slideLayout" Target="../slideLayouts/slideLayout3.xml"/><Relationship Id="rId36" Type="http://schemas.openxmlformats.org/officeDocument/2006/relationships/tags" Target="../tags/tag99.xml"/><Relationship Id="rId35" Type="http://schemas.openxmlformats.org/officeDocument/2006/relationships/tags" Target="../tags/tag98.xml"/><Relationship Id="rId34" Type="http://schemas.openxmlformats.org/officeDocument/2006/relationships/tags" Target="../tags/tag97.xml"/><Relationship Id="rId33" Type="http://schemas.openxmlformats.org/officeDocument/2006/relationships/tags" Target="../tags/tag96.xml"/><Relationship Id="rId32" Type="http://schemas.openxmlformats.org/officeDocument/2006/relationships/tags" Target="../tags/tag95.xml"/><Relationship Id="rId31" Type="http://schemas.openxmlformats.org/officeDocument/2006/relationships/tags" Target="../tags/tag94.xml"/><Relationship Id="rId30" Type="http://schemas.openxmlformats.org/officeDocument/2006/relationships/tags" Target="../tags/tag93.xml"/><Relationship Id="rId3" Type="http://schemas.openxmlformats.org/officeDocument/2006/relationships/tags" Target="../tags/tag66.xml"/><Relationship Id="rId29" Type="http://schemas.openxmlformats.org/officeDocument/2006/relationships/tags" Target="../tags/tag92.xml"/><Relationship Id="rId28" Type="http://schemas.openxmlformats.org/officeDocument/2006/relationships/tags" Target="../tags/tag91.xml"/><Relationship Id="rId27" Type="http://schemas.openxmlformats.org/officeDocument/2006/relationships/tags" Target="../tags/tag90.xml"/><Relationship Id="rId26" Type="http://schemas.openxmlformats.org/officeDocument/2006/relationships/tags" Target="../tags/tag89.xml"/><Relationship Id="rId25" Type="http://schemas.openxmlformats.org/officeDocument/2006/relationships/tags" Target="../tags/tag88.xml"/><Relationship Id="rId24" Type="http://schemas.openxmlformats.org/officeDocument/2006/relationships/tags" Target="../tags/tag87.xml"/><Relationship Id="rId23" Type="http://schemas.openxmlformats.org/officeDocument/2006/relationships/tags" Target="../tags/tag86.xml"/><Relationship Id="rId22" Type="http://schemas.openxmlformats.org/officeDocument/2006/relationships/tags" Target="../tags/tag85.xml"/><Relationship Id="rId21" Type="http://schemas.openxmlformats.org/officeDocument/2006/relationships/tags" Target="../tags/tag84.xml"/><Relationship Id="rId20" Type="http://schemas.openxmlformats.org/officeDocument/2006/relationships/tags" Target="../tags/tag83.xml"/><Relationship Id="rId2" Type="http://schemas.openxmlformats.org/officeDocument/2006/relationships/tags" Target="../tags/tag65.xml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slide" Target="slide1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slide" Target="slide18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slide" Target="slide1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slide" Target="slide18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7" Type="http://schemas.openxmlformats.org/officeDocument/2006/relationships/slideLayout" Target="../slideLayouts/slideLayout3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slide" Target="slide1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slide" Target="slide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slide" Target="slide1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slide" Target="slide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image" Target="../media/image27.emf"/><Relationship Id="rId2" Type="http://schemas.openxmlformats.org/officeDocument/2006/relationships/oleObject" Target="../embeddings/oleObject9.bin"/><Relationship Id="rId16" Type="http://schemas.openxmlformats.org/officeDocument/2006/relationships/vmlDrawing" Target="../drawings/vmlDrawing4.v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slide" Target="slide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2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8" Type="http://schemas.openxmlformats.org/officeDocument/2006/relationships/slideLayout" Target="../slideLayouts/slideLayout3.xml"/><Relationship Id="rId17" Type="http://schemas.openxmlformats.org/officeDocument/2006/relationships/tags" Target="../tags/tag193.xml"/><Relationship Id="rId16" Type="http://schemas.openxmlformats.org/officeDocument/2006/relationships/tags" Target="../tags/tag192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tags" Target="../tags/tag17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slide" Target="slide2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8.emf"/><Relationship Id="rId2" Type="http://schemas.openxmlformats.org/officeDocument/2006/relationships/oleObject" Target="../embeddings/oleObject10.bin"/><Relationship Id="rId1" Type="http://schemas.openxmlformats.org/officeDocument/2006/relationships/tags" Target="../tags/tag194.xm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96.xml"/><Relationship Id="rId3" Type="http://schemas.openxmlformats.org/officeDocument/2006/relationships/image" Target="../media/image29.emf"/><Relationship Id="rId2" Type="http://schemas.openxmlformats.org/officeDocument/2006/relationships/oleObject" Target="../embeddings/oleObject11.bin"/><Relationship Id="rId1" Type="http://schemas.openxmlformats.org/officeDocument/2006/relationships/tags" Target="../tags/tag19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21970" y="299720"/>
            <a:ext cx="11230610" cy="6337935"/>
          </a:xfrm>
          <a:prstGeom prst="rect">
            <a:avLst/>
          </a:prstGeom>
          <a:solidFill>
            <a:srgbClr val="034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cs typeface="等线 Light" panose="0201060003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72490" y="789940"/>
            <a:ext cx="10549890" cy="53581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88232" sx="104000" sy="104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cs typeface="等线 Light" panose="02010600030101010101" charset="-122"/>
            </a:endParaRPr>
          </a:p>
        </p:txBody>
      </p:sp>
      <p:pic>
        <p:nvPicPr>
          <p:cNvPr id="1026" name="Picture 2" descr="西北工业大学- 维基百科，自由的百科全书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890" y="725805"/>
            <a:ext cx="1831340" cy="183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767330" y="2722245"/>
            <a:ext cx="71945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000" b="1" dirty="0">
                <a:solidFill>
                  <a:srgbClr val="034DA0"/>
                </a:solidFill>
                <a:latin typeface="+mn-ea"/>
                <a:cs typeface="等线 Light" panose="02010600030101010101" charset="-122"/>
                <a:sym typeface="+mn-ea"/>
              </a:rPr>
              <a:t>编译原理</a:t>
            </a:r>
            <a:endParaRPr kumimoji="1" lang="zh-CN" altLang="en-US" sz="4000" b="1" dirty="0">
              <a:solidFill>
                <a:srgbClr val="034DA0"/>
              </a:solidFill>
              <a:latin typeface="+mn-ea"/>
              <a:cs typeface="等线 Light" panose="02010600030101010101" charset="-122"/>
              <a:sym typeface="+mn-ea"/>
            </a:endParaRPr>
          </a:p>
        </p:txBody>
      </p:sp>
      <p:cxnSp>
        <p:nvCxnSpPr>
          <p:cNvPr id="8" name="直线连接符 7"/>
          <p:cNvCxnSpPr/>
          <p:nvPr/>
        </p:nvCxnSpPr>
        <p:spPr>
          <a:xfrm flipV="1">
            <a:off x="2367330" y="3429151"/>
            <a:ext cx="8088630" cy="1397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367280" y="3538220"/>
            <a:ext cx="82899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授课教师：马春燕    </a:t>
            </a:r>
            <a:r>
              <a:rPr kumimoji="1"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</a:t>
            </a:r>
            <a:endParaRPr kumimoji="1"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邮箱：</a:t>
            </a:r>
            <a:r>
              <a:rPr kumimoji="1"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machunyan @nwpu.edu.n</a:t>
            </a:r>
            <a:endParaRPr kumimoji="1" lang="zh-CN" altLang="en-US" sz="32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手机：</a:t>
            </a:r>
            <a:r>
              <a:rPr kumimoji="1" lang="en-US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13991282722      </a:t>
            </a:r>
            <a:r>
              <a:rPr kumimoji="1"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   </a:t>
            </a:r>
            <a:endParaRPr kumimoji="1" lang="en-US" altLang="zh-CN" sz="20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351155" y="361315"/>
            <a:ext cx="7323455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一章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编译器技术发展和工作原理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622300" y="1282700"/>
            <a:ext cx="9659620" cy="429323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1</a:t>
            </a:r>
            <a:r>
              <a:rPr lang="en-US" altLang="zh-CN"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.0 </a:t>
            </a: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课程相关信息</a:t>
            </a: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  <a:hlinkClick r:id="rId1" action="ppaction://hlinksldjump"/>
              </a:rPr>
              <a:t>  </a:t>
            </a:r>
            <a:endParaRPr lang="zh-CN" altLang="en-US" sz="3200" dirty="0">
              <a:solidFill>
                <a:srgbClr val="0070C0"/>
              </a:solidFill>
              <a:latin typeface="等线" panose="02010600030101010101" charset="-122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en-US" altLang="zh-CN"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1.1 </a:t>
            </a:r>
            <a:r>
              <a:rPr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编译器技术的发展</a:t>
            </a:r>
            <a:endParaRPr sz="3200">
              <a:solidFill>
                <a:srgbClr val="21212D"/>
              </a:solidFill>
              <a:latin typeface="等线" panose="02010600030101010101" charset="-122"/>
              <a:sym typeface="+mn-ea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1.</a:t>
            </a:r>
            <a:r>
              <a:rPr lang="en-US" altLang="zh-CN"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2 </a:t>
            </a:r>
            <a:r>
              <a:rPr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编译器构造逻辑阶段划分</a:t>
            </a:r>
            <a:endParaRPr lang="en-US" altLang="zh-CN" sz="3200" dirty="0">
              <a:solidFill>
                <a:srgbClr val="21212D"/>
              </a:solidFill>
              <a:latin typeface="等线" panose="02010600030101010101" charset="-122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en-US" altLang="zh-CN"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1.3 </a:t>
            </a:r>
            <a:r>
              <a:rPr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编译阶段组合</a:t>
            </a:r>
            <a:endParaRPr lang="zh-CN" altLang="en-US" sz="3200" dirty="0">
              <a:solidFill>
                <a:srgbClr val="21212D"/>
              </a:solidFill>
              <a:latin typeface="等线" panose="02010600030101010101" charset="-122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1.4 </a:t>
            </a:r>
            <a:r>
              <a:rPr sz="3200">
                <a:solidFill>
                  <a:srgbClr val="21212D"/>
                </a:solidFill>
                <a:latin typeface="等线" panose="02010600030101010101" charset="-122"/>
              </a:rPr>
              <a:t>深度学习</a:t>
            </a:r>
            <a:r>
              <a:rPr lang="zh-CN" altLang="en-US" sz="3200">
                <a:solidFill>
                  <a:srgbClr val="21212D"/>
                </a:solidFill>
                <a:latin typeface="等线" panose="02010600030101010101" charset="-122"/>
              </a:rPr>
              <a:t>编译器</a:t>
            </a:r>
            <a:endParaRPr lang="zh-CN" altLang="en-US" sz="3200">
              <a:solidFill>
                <a:srgbClr val="21212D"/>
              </a:solidFill>
              <a:latin typeface="等线" panose="02010600030101010101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</a:pPr>
            <a:endParaRPr lang="zh-CN" altLang="en-US" sz="3200" dirty="0">
              <a:solidFill>
                <a:srgbClr val="21212D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23215" y="276860"/>
            <a:ext cx="732345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0 </a:t>
            </a:r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宋体" panose="02010600030101010101" pitchFamily="2" charset="-122"/>
              </a:rPr>
              <a:t>课程相关信息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18435" name="Rectangle 2"/>
          <p:cNvSpPr/>
          <p:nvPr>
            <p:custDataLst>
              <p:tags r:id="rId1"/>
            </p:custDataLst>
          </p:nvPr>
        </p:nvSpPr>
        <p:spPr>
          <a:xfrm>
            <a:off x="525145" y="1296670"/>
            <a:ext cx="11216005" cy="48615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inden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8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</a:t>
            </a:r>
            <a:r>
              <a:rPr lang="zh-CN" altLang="en-US" sz="28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、考核方式：</a:t>
            </a:r>
            <a:r>
              <a:rPr lang="zh-CN" altLang="pt-BR" sz="280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最终成绩</a:t>
            </a:r>
            <a:r>
              <a:rPr lang="pt-BR" altLang="zh-CN" sz="280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 = A×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30%</a:t>
            </a:r>
            <a:r>
              <a:rPr lang="pt-BR" altLang="zh-CN" sz="280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+B×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</a:t>
            </a:r>
            <a:r>
              <a:rPr lang="pt-BR" altLang="zh-CN" sz="280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0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%+C</a:t>
            </a:r>
            <a:r>
              <a:rPr lang="pt-BR" altLang="zh-CN" sz="280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×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50%</a:t>
            </a:r>
            <a:endParaRPr lang="zh-CN" altLang="en-US" sz="2800" dirty="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514350" indent="-51435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 typeface="+mj-ea"/>
              <a:buAutoNum type="circleNumDbPlain"/>
            </a:pP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编译器实现 </a:t>
            </a:r>
            <a:r>
              <a:rPr lang="en-US" altLang="zh-CN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(A)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 </a:t>
            </a:r>
            <a:endParaRPr lang="en-US" altLang="zh-CN" sz="2800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 typeface="+mj-ea"/>
              <a:buNone/>
            </a:pPr>
            <a:r>
              <a:rPr lang="en-US" altLang="zh-CN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(1) 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词法分析、语法分析和代码生成</a:t>
            </a:r>
            <a:endParaRPr lang="en-US" altLang="zh-CN" sz="2800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 typeface="+mj-ea"/>
              <a:buNone/>
            </a:pPr>
            <a:r>
              <a:rPr lang="en-US" altLang="zh-CN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(2) 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或其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它：与编译技术相关的</a:t>
            </a:r>
            <a:r>
              <a:rPr lang="en-US" altLang="zh-CN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1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项编程实践（</a:t>
            </a:r>
            <a:r>
              <a:rPr lang="zh-CN" altLang="en-US" sz="24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例如，大模型生成代码的质量检测、机器人指令翻译软件等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）</a:t>
            </a:r>
            <a:endParaRPr lang="en-US" altLang="zh-CN" sz="2800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514350" indent="-51435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随堂测试 </a:t>
            </a:r>
            <a:r>
              <a:rPr lang="en-US" altLang="zh-CN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+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作业 </a:t>
            </a:r>
            <a:r>
              <a:rPr lang="en-US" altLang="zh-CN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(B)</a:t>
            </a:r>
            <a:endParaRPr lang="pt-BR" altLang="zh-CN" sz="2800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514350" indent="-51435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zh-CN" altLang="pt-BR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期末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考试（</a:t>
            </a:r>
            <a:r>
              <a:rPr lang="en-US" altLang="zh-CN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C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）</a:t>
            </a:r>
            <a:endParaRPr lang="zh-CN" altLang="en-US" sz="2800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inden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+mj-ea"/>
              <a:buNone/>
            </a:pPr>
            <a:r>
              <a:rPr lang="en-US" altLang="zh-CN" sz="28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</a:t>
            </a:r>
            <a:r>
              <a:rPr lang="zh-CN" altLang="en-US" sz="28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、参考教材</a:t>
            </a:r>
            <a:endParaRPr lang="zh-CN" altLang="en-US" sz="2800" b="1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inden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+mj-ea"/>
              <a:buNone/>
            </a:pPr>
            <a:r>
              <a:rPr lang="en-US" altLang="zh-CN" sz="24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   </a:t>
            </a:r>
            <a:r>
              <a:rPr lang="zh-CN" altLang="en-US" sz="24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张莉等，《编译原理与技术》，</a:t>
            </a:r>
            <a:r>
              <a:rPr lang="en-US" altLang="zh-CN" sz="24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2024</a:t>
            </a:r>
            <a:r>
              <a:rPr lang="zh-CN" altLang="en-US" sz="24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年，高等教育出版社</a:t>
            </a:r>
            <a:endParaRPr lang="zh-CN" altLang="en-US" sz="2400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23215" y="276860"/>
            <a:ext cx="732345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0 </a:t>
            </a:r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宋体" panose="02010600030101010101" pitchFamily="2" charset="-122"/>
              </a:rPr>
              <a:t>课程相关信息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18435" name="Rectangle 2"/>
          <p:cNvSpPr/>
          <p:nvPr>
            <p:custDataLst>
              <p:tags r:id="rId1"/>
            </p:custDataLst>
          </p:nvPr>
        </p:nvSpPr>
        <p:spPr>
          <a:xfrm>
            <a:off x="525145" y="1296670"/>
            <a:ext cx="3488690" cy="16300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inden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、课程重要性举例（</a:t>
            </a:r>
            <a:r>
              <a:rPr lang="en-US" altLang="zh-CN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2025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届本科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毕业生） </a:t>
            </a:r>
            <a:endParaRPr lang="en-US" altLang="zh-CN" sz="2800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 typeface="+mj-ea"/>
              <a:buNone/>
            </a:pPr>
            <a:endParaRPr lang="zh-CN" altLang="en-US" sz="2400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085" y="1231900"/>
            <a:ext cx="7754620" cy="49447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5422900" y="3919855"/>
              <a:ext cx="2188210" cy="706755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5422900" y="3919855"/>
                <a:ext cx="2188210" cy="706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" name="墨迹 4"/>
              <p14:cNvContentPartPr/>
              <p14:nvPr/>
            </p14:nvContentPartPr>
            <p14:xfrm>
              <a:off x="6358255" y="4491355"/>
              <a:ext cx="3733800" cy="62674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6"/>
            </p:blipFill>
            <p:spPr>
              <a:xfrm>
                <a:off x="6358255" y="4491355"/>
                <a:ext cx="3733800" cy="6267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6" name="墨迹 5"/>
              <p14:cNvContentPartPr/>
              <p14:nvPr/>
            </p14:nvContentPartPr>
            <p14:xfrm>
              <a:off x="4986655" y="5659755"/>
              <a:ext cx="2734945" cy="67945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8"/>
            </p:blipFill>
            <p:spPr>
              <a:xfrm>
                <a:off x="4986655" y="5659755"/>
                <a:ext cx="2734945" cy="679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7" name="墨迹 6"/>
              <p14:cNvContentPartPr/>
              <p14:nvPr/>
            </p14:nvContentPartPr>
            <p14:xfrm>
              <a:off x="4690110" y="1438910"/>
              <a:ext cx="233045" cy="29654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0"/>
            </p:blipFill>
            <p:spPr>
              <a:xfrm>
                <a:off x="4690110" y="1438910"/>
                <a:ext cx="233045" cy="2965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8" name="墨迹 7"/>
              <p14:cNvContentPartPr/>
              <p14:nvPr/>
            </p14:nvContentPartPr>
            <p14:xfrm>
              <a:off x="4707255" y="1515110"/>
              <a:ext cx="211455" cy="889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2"/>
            </p:blipFill>
            <p:spPr>
              <a:xfrm>
                <a:off x="4707255" y="1515110"/>
                <a:ext cx="211455" cy="88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9" name="墨迹 8"/>
              <p14:cNvContentPartPr/>
              <p14:nvPr/>
            </p14:nvContentPartPr>
            <p14:xfrm>
              <a:off x="4681855" y="1638300"/>
              <a:ext cx="211455" cy="381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4"/>
            </p:blipFill>
            <p:spPr>
              <a:xfrm>
                <a:off x="4681855" y="1638300"/>
                <a:ext cx="211455" cy="38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0" name="墨迹 9"/>
              <p14:cNvContentPartPr/>
              <p14:nvPr/>
            </p14:nvContentPartPr>
            <p14:xfrm>
              <a:off x="4719955" y="1701800"/>
              <a:ext cx="194945" cy="381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6"/>
            </p:blipFill>
            <p:spPr>
              <a:xfrm>
                <a:off x="4719955" y="1701800"/>
                <a:ext cx="194945" cy="381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23215" y="276860"/>
            <a:ext cx="732345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0 </a:t>
            </a:r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宋体" panose="02010600030101010101" pitchFamily="2" charset="-122"/>
              </a:rPr>
              <a:t>课程相关信息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18435" name="Rectangle 2"/>
          <p:cNvSpPr/>
          <p:nvPr>
            <p:custDataLst>
              <p:tags r:id="rId1"/>
            </p:custDataLst>
          </p:nvPr>
        </p:nvSpPr>
        <p:spPr>
          <a:xfrm>
            <a:off x="525145" y="1296670"/>
            <a:ext cx="9920605" cy="1091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inden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、课程重要性举例（</a:t>
            </a:r>
            <a:r>
              <a:rPr lang="en-US" altLang="zh-CN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2026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届毕业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研究生） </a:t>
            </a:r>
            <a:endParaRPr lang="en-US" altLang="zh-CN" sz="2800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 typeface="+mj-ea"/>
              <a:buNone/>
            </a:pPr>
            <a:endParaRPr lang="zh-CN" altLang="en-US" sz="2400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2814955"/>
            <a:ext cx="5698490" cy="24447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210" y="2174875"/>
            <a:ext cx="5726430" cy="3463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23215" y="276860"/>
            <a:ext cx="732345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0 </a:t>
            </a:r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宋体" panose="02010600030101010101" pitchFamily="2" charset="-122"/>
              </a:rPr>
              <a:t>课程相关信息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18435" name="Rectangle 2"/>
          <p:cNvSpPr/>
          <p:nvPr>
            <p:custDataLst>
              <p:tags r:id="rId1"/>
            </p:custDataLst>
          </p:nvPr>
        </p:nvSpPr>
        <p:spPr>
          <a:xfrm>
            <a:off x="525145" y="1296670"/>
            <a:ext cx="9353550" cy="591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inden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3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、课程重要性举例：承担的编译技术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相关部分科研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项目 </a:t>
            </a:r>
            <a:endParaRPr lang="en-US" altLang="zh-CN" sz="2800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lvl="1" indent="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Font typeface="+mj-ea"/>
              <a:buNone/>
            </a:pPr>
            <a:endParaRPr lang="zh-CN" altLang="en-US" sz="2400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681355" y="1968500"/>
          <a:ext cx="6727825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465"/>
                <a:gridCol w="1520825"/>
                <a:gridCol w="2538730"/>
                <a:gridCol w="922020"/>
                <a:gridCol w="1073785"/>
              </a:tblGrid>
              <a:tr h="3111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序号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项目编号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项目名称（公开）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 负责人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经费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D5203241046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面向IRS软件的目标码自动化分析技术研究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马春燕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45</a:t>
                      </a:r>
                      <a:r>
                        <a:rPr lang="zh-CN" altLang="en-US"/>
                        <a:t>万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D5204190373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基于数据分布服务的IDL编译工具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马春燕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37</a:t>
                      </a:r>
                      <a:r>
                        <a:rPr lang="zh-CN" altLang="en-US"/>
                        <a:t>万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D5204190373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C程序源码与目标码映射技术研究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马春燕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17</a:t>
                      </a:r>
                      <a:r>
                        <a:rPr lang="zh-CN" altLang="en-US"/>
                        <a:t>万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D5204220685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工业软件静态测试工具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马春燕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78.2</a:t>
                      </a:r>
                      <a:r>
                        <a:rPr lang="zh-CN" altLang="en-US"/>
                        <a:t>万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D5203200904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基于国产操作系统的飞控核心软件形式化验证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马春燕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50</a:t>
                      </a:r>
                      <a:r>
                        <a:rPr lang="zh-CN" altLang="en-US"/>
                        <a:t>万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.......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面向持续集成的变更影响域分析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洽谈中</a:t>
                      </a:r>
                      <a:endParaRPr lang="zh-CN" altLang="en-US" sz="18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835" y="1968500"/>
            <a:ext cx="3302635" cy="42532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187960" y="276860"/>
            <a:ext cx="8891270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一章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编译器技术发展和工作原理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393065" y="1282700"/>
            <a:ext cx="11237595" cy="429323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1</a:t>
            </a:r>
            <a:r>
              <a:rPr lang="en-US" altLang="zh-CN"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.0 </a:t>
            </a: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课程相关信息</a:t>
            </a: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  <a:hlinkClick r:id="rId1" action="ppaction://hlinksldjump"/>
              </a:rPr>
              <a:t>  </a:t>
            </a:r>
            <a:endParaRPr sz="3200">
              <a:solidFill>
                <a:srgbClr val="0070C0"/>
              </a:solidFill>
              <a:latin typeface="等线" panose="02010600030101010101" charset="-122"/>
              <a:sym typeface="+mn-ea"/>
              <a:hlinkClick r:id="rId1" action="ppaction://hlinksldjump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1.1 编译器技术的发展</a:t>
            </a:r>
            <a:endParaRPr sz="3200">
              <a:solidFill>
                <a:srgbClr val="0070C0"/>
              </a:solidFill>
              <a:latin typeface="等线" panose="02010600030101010101" charset="-122"/>
              <a:sym typeface="+mn-ea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1.</a:t>
            </a:r>
            <a:r>
              <a:rPr lang="en-US" altLang="zh-CN"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2 </a:t>
            </a:r>
            <a:r>
              <a:rPr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编译器构造逻辑阶段划分</a:t>
            </a:r>
            <a:endParaRPr lang="en-US" altLang="zh-CN" sz="3200" dirty="0">
              <a:solidFill>
                <a:srgbClr val="21212D"/>
              </a:solidFill>
              <a:latin typeface="等线" panose="02010600030101010101" charset="-122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en-US" altLang="zh-CN"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1.3 </a:t>
            </a:r>
            <a:r>
              <a:rPr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编译阶段组合</a:t>
            </a:r>
            <a:endParaRPr lang="zh-CN" altLang="en-US" sz="3200" dirty="0">
              <a:solidFill>
                <a:srgbClr val="21212D"/>
              </a:solidFill>
              <a:latin typeface="等线" panose="02010600030101010101" charset="-122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1.4 </a:t>
            </a:r>
            <a:r>
              <a:rPr sz="3200">
                <a:solidFill>
                  <a:srgbClr val="21212D"/>
                </a:solidFill>
                <a:latin typeface="等线" panose="02010600030101010101" charset="-122"/>
              </a:rPr>
              <a:t>深度学习</a:t>
            </a:r>
            <a:r>
              <a:rPr lang="zh-CN" altLang="en-US" sz="3200">
                <a:solidFill>
                  <a:srgbClr val="21212D"/>
                </a:solidFill>
                <a:latin typeface="等线" panose="02010600030101010101" charset="-122"/>
              </a:rPr>
              <a:t>编译器</a:t>
            </a:r>
            <a:endParaRPr lang="zh-CN" altLang="en-US" sz="3200">
              <a:solidFill>
                <a:srgbClr val="21212D"/>
              </a:solidFill>
              <a:latin typeface="等线" panose="02010600030101010101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</a:pPr>
            <a:endParaRPr lang="zh-CN" altLang="en-US" sz="3200">
              <a:solidFill>
                <a:srgbClr val="0070C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12420" y="276860"/>
            <a:ext cx="8766810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 </a:t>
            </a:r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宋体" panose="02010600030101010101" pitchFamily="2" charset="-122"/>
              </a:rPr>
              <a:t>编译器技术的发展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65564" name="Rectangle 28"/>
          <p:cNvSpPr>
            <a:spLocks noGrp="1"/>
          </p:cNvSpPr>
          <p:nvPr>
            <p:ph idx="1"/>
          </p:nvPr>
        </p:nvSpPr>
        <p:spPr>
          <a:xfrm>
            <a:off x="417830" y="1280160"/>
            <a:ext cx="11313795" cy="5020945"/>
          </a:xfrm>
        </p:spPr>
        <p:txBody>
          <a:bodyPr vert="horz" wrap="square" lIns="91440" tIns="45720" rIns="91440" bIns="45720" anchor="t" anchorCtr="0">
            <a:noAutofit/>
          </a:bodyPr>
          <a:p>
            <a:pPr eaLnBrk="1" hangingPunct="1">
              <a:lnSpc>
                <a:spcPct val="125000"/>
              </a:lnSpc>
              <a:spcAft>
                <a:spcPts val="0"/>
              </a:spcAft>
              <a:buFont typeface="Wingdings" panose="05000000000000000000" charset="0"/>
              <a:buChar char="p"/>
            </a:pPr>
            <a:r>
              <a:rPr lang="en-US" altLang="zh-CN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把计算机高级语言 </a:t>
            </a:r>
            <a:r>
              <a:rPr lang="en-US" altLang="zh-CN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zh-CN" altLang="en-US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源语言</a:t>
            </a:r>
            <a:r>
              <a:rPr lang="en-US" altLang="zh-CN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)</a:t>
            </a: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编写的程序</a:t>
            </a:r>
            <a:r>
              <a:rPr lang="en-US" altLang="zh-CN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zh-CN" altLang="en-US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源程序</a:t>
            </a:r>
            <a:r>
              <a:rPr lang="en-US" altLang="zh-CN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)</a:t>
            </a:r>
            <a:r>
              <a:rPr lang="zh-CN" altLang="en-US" b="1" dirty="0">
                <a:solidFill>
                  <a:srgbClr val="21212D"/>
                </a:solidFill>
                <a:highlight>
                  <a:srgbClr val="FFFF00"/>
                </a:highlight>
                <a:latin typeface="等线" panose="02010600030101010101" charset="-122"/>
                <a:ea typeface="等线" panose="02010600030101010101" charset="-122"/>
              </a:rPr>
              <a:t>翻译成</a:t>
            </a: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该计算机的汇编语言或机器语言</a:t>
            </a:r>
            <a:r>
              <a:rPr lang="en-US" altLang="zh-CN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zh-CN" altLang="en-US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目标语言</a:t>
            </a: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)书写的程序</a:t>
            </a:r>
            <a:r>
              <a:rPr lang="en-US" altLang="zh-CN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zh-CN" altLang="en-US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目标程序</a:t>
            </a:r>
            <a:r>
              <a:rPr lang="en-US" altLang="zh-CN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)</a:t>
            </a: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的</a:t>
            </a:r>
            <a:r>
              <a:rPr lang="zh-CN" altLang="en-US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计算机程序</a:t>
            </a: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称为</a:t>
            </a:r>
            <a:r>
              <a:rPr lang="zh-CN" altLang="en-US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编译器</a:t>
            </a:r>
            <a:r>
              <a:rPr lang="en-US" altLang="zh-CN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zh-CN" altLang="en-US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或编译程序</a:t>
            </a:r>
            <a:r>
              <a:rPr lang="en-US" altLang="zh-CN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)</a:t>
            </a:r>
            <a:r>
              <a:rPr lang="en-US" altLang="zh-CN" b="1" dirty="0">
                <a:latin typeface="等线" panose="02010600030101010101" charset="-122"/>
                <a:ea typeface="等线" panose="02010600030101010101" charset="-122"/>
              </a:rPr>
              <a:t>。</a:t>
            </a:r>
            <a:endParaRPr lang="en-US" altLang="zh-CN" b="1" dirty="0">
              <a:latin typeface="等线" panose="02010600030101010101" charset="-122"/>
              <a:ea typeface="等线" panose="02010600030101010101" charset="-122"/>
            </a:endParaRPr>
          </a:p>
          <a:p>
            <a:pPr eaLnBrk="1" hangingPunct="1"/>
            <a:endParaRPr lang="en-US" altLang="zh-CN" sz="3200" dirty="0">
              <a:latin typeface="等线" panose="02010600030101010101" charset="-122"/>
              <a:ea typeface="等线" panose="02010600030101010101" charset="-122"/>
            </a:endParaRPr>
          </a:p>
          <a:p>
            <a:pPr eaLnBrk="1" hangingPunct="1"/>
            <a:endParaRPr lang="en-US" altLang="zh-CN" sz="3200" dirty="0">
              <a:latin typeface="等线" panose="02010600030101010101" charset="-122"/>
              <a:ea typeface="等线" panose="02010600030101010101" charset="-122"/>
            </a:endParaRPr>
          </a:p>
          <a:p>
            <a:pPr eaLnBrk="1" hangingPunct="1"/>
            <a:endParaRPr lang="en-US" altLang="zh-CN" sz="2400" b="1" dirty="0">
              <a:latin typeface="等线" panose="02010600030101010101" charset="-122"/>
              <a:ea typeface="等线" panose="02010600030101010101" charset="-122"/>
            </a:endParaRPr>
          </a:p>
          <a:p>
            <a:pPr eaLnBrk="1" hangingPunct="1">
              <a:buFont typeface="Wingdings" panose="05000000000000000000" charset="0"/>
              <a:buChar char="p"/>
            </a:pPr>
            <a:endParaRPr lang="en-US" altLang="zh-CN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14343" name="Picture 7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663" y="3562668"/>
            <a:ext cx="6943725" cy="1504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725" y="4153218"/>
            <a:ext cx="2506663" cy="10144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8663" y="4070668"/>
            <a:ext cx="2563812" cy="928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51155" y="276860"/>
            <a:ext cx="732345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 </a:t>
            </a:r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宋体" panose="02010600030101010101" pitchFamily="2" charset="-122"/>
              </a:rPr>
              <a:t>编译器技术的发展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1159171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428625" y="1336040"/>
            <a:ext cx="11357610" cy="1656080"/>
          </a:xfrm>
        </p:spPr>
        <p:txBody>
          <a:bodyPr vert="horz" wrap="square" lIns="91440" tIns="45720" rIns="91440" bIns="45720" numCol="1" anchor="t" anchorCtr="0" compatLnSpc="1">
            <a:normAutofit/>
          </a:bodyPr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  <a:hlinkClick r:id="rId2" action="ppaction://hlinksldjump"/>
              </a:rPr>
              <a:t>对</a:t>
            </a:r>
            <a:r>
              <a:rPr kumimoji="0" lang="zh-CN" altLang="en-US" sz="3200" b="1" i="0" u="none" strike="noStrike" cap="none" spc="0" normalizeH="0" baseline="0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hlinkClick r:id="rId2" action="ppaction://hlinksldjump"/>
              </a:rPr>
              <a:t>编译程序（编译器）</a:t>
            </a:r>
            <a:r>
              <a:rPr kumimoji="0" lang="zh-CN" alt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宋体" panose="02010600030101010101" pitchFamily="2" charset="-122"/>
                <a:hlinkClick r:id="rId2" action="ppaction://hlinksldjump"/>
              </a:rPr>
              <a:t>的认识</a:t>
            </a:r>
            <a:endParaRPr kumimoji="0" lang="en-US" altLang="zh-CN" sz="32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宋体" panose="02010600030101010101" pitchFamily="2" charset="-122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C/C++: 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Gcc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(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GNU Compiler Collection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支持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9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种语言，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850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万行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+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）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62355" y="2530475"/>
            <a:ext cx="10181590" cy="27222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476250" y="5203190"/>
            <a:ext cx="10922635" cy="13220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eaLnBrk="1" hangingPunct="1">
              <a:buFont typeface="Wingdings" panose="05000000000000000000" charset="0"/>
              <a:buChar char="p"/>
            </a:pPr>
            <a:r>
              <a:rPr lang="en-US" altLang="zh-CN" sz="2800" b="1" dirty="0">
                <a:latin typeface="等线" panose="02010600030101010101" charset="-122"/>
                <a:ea typeface="等线" panose="02010600030101010101" charset="-122"/>
                <a:sym typeface="+mn-ea"/>
              </a:rPr>
              <a:t> open-source compilers:</a:t>
            </a:r>
            <a:endParaRPr lang="en-US" altLang="zh-CN" sz="2800" b="1" dirty="0">
              <a:latin typeface="等线" panose="02010600030101010101" charset="-122"/>
              <a:ea typeface="等线" panose="02010600030101010101" charset="-122"/>
            </a:endParaRPr>
          </a:p>
          <a:p>
            <a:pPr lvl="3" indent="-436245" eaLnBrk="1" hangingPunct="1"/>
            <a:r>
              <a:rPr lang="en-US" altLang="zh-CN" sz="2000" b="1" dirty="0">
                <a:latin typeface="等线" panose="02010600030101010101" charset="-122"/>
                <a:ea typeface="等线" panose="02010600030101010101" charset="-122"/>
                <a:sym typeface="+mn-ea"/>
              </a:rPr>
              <a:t>– Clang</a:t>
            </a:r>
            <a:endParaRPr lang="en-US" altLang="zh-CN" sz="2000" b="1" dirty="0">
              <a:latin typeface="等线" panose="02010600030101010101" charset="-122"/>
              <a:ea typeface="等线" panose="02010600030101010101" charset="-122"/>
            </a:endParaRPr>
          </a:p>
          <a:p>
            <a:pPr lvl="3" indent="-436245" eaLnBrk="1" hangingPunct="1"/>
            <a:r>
              <a:rPr lang="en-US" altLang="zh-CN" sz="2000" b="1" dirty="0">
                <a:latin typeface="等线" panose="02010600030101010101" charset="-122"/>
                <a:ea typeface="等线" panose="02010600030101010101" charset="-122"/>
                <a:sym typeface="+mn-ea"/>
              </a:rPr>
              <a:t>– JavaC</a:t>
            </a:r>
            <a:r>
              <a:rPr lang="zh-CN" altLang="en-US" sz="2000" b="1" dirty="0">
                <a:latin typeface="等线" panose="02010600030101010101" charset="-122"/>
                <a:ea typeface="等线" panose="02010600030101010101" charset="-122"/>
                <a:sym typeface="+mn-ea"/>
              </a:rPr>
              <a:t>、</a:t>
            </a:r>
            <a:r>
              <a:rPr lang="en-US" altLang="zh-CN" sz="2000" b="1" dirty="0">
                <a:latin typeface="等线" panose="02010600030101010101" charset="-122"/>
                <a:ea typeface="等线" panose="02010600030101010101" charset="-122"/>
                <a:sym typeface="+mn-ea"/>
              </a:rPr>
              <a:t>Java</a:t>
            </a:r>
            <a:endParaRPr lang="en-US" altLang="zh-CN" sz="2000" b="1" dirty="0">
              <a:latin typeface="等线" panose="02010600030101010101" charset="-122"/>
              <a:ea typeface="等线" panose="02010600030101010101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3348355" y="2374900"/>
              <a:ext cx="1308100" cy="129540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3348355" y="2374900"/>
                <a:ext cx="1308100" cy="12954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384810" y="1234440"/>
            <a:ext cx="11427460" cy="4669790"/>
          </a:xfrm>
        </p:spPr>
        <p:txBody>
          <a:bodyPr/>
          <a:lstStyle/>
          <a:p>
            <a:pPr marL="469900" marR="0" lvl="0" indent="-46990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ern="0" noProof="0">
                <a:ln>
                  <a:noFill/>
                </a:ln>
                <a:solidFill>
                  <a:srgbClr val="FF3399"/>
                </a:solidFill>
                <a:effectLst/>
                <a:uLnTx/>
                <a:uFillTx/>
                <a:latin typeface="等线" panose="02010600030101010101" charset="-122"/>
                <a:cs typeface="等线" panose="02010600030101010101" charset="-122"/>
                <a:sym typeface="+mn-ea"/>
              </a:rPr>
              <a:t>第一代编程语言</a:t>
            </a:r>
            <a:r>
              <a:rPr kern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等线" panose="02010600030101010101" charset="-122"/>
                <a:cs typeface="等线" panose="02010600030101010101" charset="-122"/>
                <a:sym typeface="+mn-ea"/>
              </a:rPr>
              <a:t>：20世纪40年代，冯•诺伊曼存储—程序计算机（</a:t>
            </a:r>
            <a:r>
              <a:rPr u="sng" kern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等线" panose="02010600030101010101" charset="-122"/>
                <a:cs typeface="等线" panose="02010600030101010101" charset="-122"/>
                <a:sym typeface="+mn-ea"/>
              </a:rPr>
              <a:t>把程序指令和数据统一存放在同一存储器中，由控制器按顺序取指并执行的计算机体系结构</a:t>
            </a:r>
            <a:r>
              <a:rPr kern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等线" panose="02010600030101010101" charset="-122"/>
                <a:cs typeface="等线" panose="02010600030101010101" charset="-122"/>
                <a:sym typeface="+mn-ea"/>
              </a:rPr>
              <a:t>），开始用</a:t>
            </a:r>
            <a:r>
              <a:rPr kern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等线" panose="02010600030101010101" charset="-122"/>
                <a:cs typeface="等线" panose="02010600030101010101" charset="-122"/>
                <a:sym typeface="+mn-ea"/>
              </a:rPr>
              <a:t>机器语言编写程序：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21212D"/>
              </a:solidFill>
              <a:effectLst/>
              <a:uLnTx/>
              <a:uFillTx/>
              <a:latin typeface="等线" panose="02010600030101010101" charset="-122"/>
              <a:cs typeface="等线" panose="02010600030101010101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kern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等线" panose="02010600030101010101" charset="-122"/>
                <a:cs typeface="等线" panose="02010600030101010101" charset="-122"/>
                <a:sym typeface="+mn-ea"/>
              </a:rPr>
              <a:t>            c7   06   0000 0002（16</a:t>
            </a:r>
            <a:r>
              <a:rPr kern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等线" panose="02010600030101010101" charset="-122"/>
                <a:cs typeface="等线" panose="02010600030101010101" charset="-122"/>
                <a:sym typeface="+mn-ea"/>
              </a:rPr>
              <a:t>进制）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21212D"/>
              </a:solidFill>
              <a:effectLst/>
              <a:uLnTx/>
              <a:uFillTx/>
              <a:latin typeface="等线" panose="02010600030101010101" charset="-122"/>
              <a:cs typeface="等线" panose="02010600030101010101" charset="-122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ern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等线" panose="02010600030101010101" charset="-122"/>
                <a:cs typeface="等线" panose="02010600030101010101" charset="-122"/>
                <a:sym typeface="+mn-ea"/>
              </a:rPr>
              <a:t>该机器码表示：在</a:t>
            </a:r>
            <a:r>
              <a:rPr lang="en-US" altLang="zh-CN" kern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等线" panose="02010600030101010101" charset="-122"/>
                <a:cs typeface="等线" panose="02010600030101010101" charset="-122"/>
                <a:sym typeface="+mn-ea"/>
              </a:rPr>
              <a:t>IBM PC</a:t>
            </a:r>
            <a:r>
              <a:rPr kern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等线" panose="02010600030101010101" charset="-122"/>
                <a:cs typeface="等线" panose="02010600030101010101" charset="-122"/>
                <a:sym typeface="+mn-ea"/>
              </a:rPr>
              <a:t>上使用</a:t>
            </a:r>
            <a:r>
              <a:rPr lang="en-US" altLang="zh-CN" kern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等线" panose="02010600030101010101" charset="-122"/>
                <a:cs typeface="等线" panose="02010600030101010101" charset="-122"/>
                <a:sym typeface="+mn-ea"/>
              </a:rPr>
              <a:t>Intel 8x86</a:t>
            </a:r>
            <a:r>
              <a:rPr kern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等线" panose="02010600030101010101" charset="-122"/>
                <a:cs typeface="等线" panose="02010600030101010101" charset="-122"/>
                <a:sym typeface="+mn-ea"/>
              </a:rPr>
              <a:t>处理器将数字2存入地址为0000的位置。</a:t>
            </a: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21212D"/>
              </a:solidFill>
              <a:effectLst/>
              <a:uLnTx/>
              <a:uFillTx/>
              <a:latin typeface="等线" panose="02010600030101010101" charset="-122"/>
              <a:cs typeface="等线" panose="02010600030101010101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</a:pPr>
            <a:endParaRPr kumimoji="0" lang="en-US" altLang="zh-CN" b="1" i="0" u="none" strike="noStrike" kern="0" cap="none" spc="0" normalizeH="0" baseline="0" noProof="0" dirty="0">
              <a:ln>
                <a:noFill/>
              </a:ln>
              <a:solidFill>
                <a:srgbClr val="21212D"/>
              </a:solidFill>
              <a:effectLst/>
              <a:uLnTx/>
              <a:uFillTx/>
              <a:latin typeface="等线" panose="02010600030101010101" charset="-122"/>
              <a:cs typeface="等线" panose="0201060003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98433" y="4092575"/>
            <a:ext cx="7243762" cy="2047875"/>
            <a:chOff x="1258888" y="4076700"/>
            <a:chExt cx="7243762" cy="2047875"/>
          </a:xfrm>
        </p:grpSpPr>
        <p:pic>
          <p:nvPicPr>
            <p:cNvPr id="20486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921375" y="4076700"/>
              <a:ext cx="2581275" cy="204787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487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8888" y="4165600"/>
              <a:ext cx="4200525" cy="194310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1523" name="Rectangle 10"/>
          <p:cNvSpPr>
            <a:spLocks noGrp="1"/>
          </p:cNvSpPr>
          <p:nvPr/>
        </p:nvSpPr>
        <p:spPr>
          <a:xfrm>
            <a:off x="258445" y="274320"/>
            <a:ext cx="6851650" cy="60896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r>
              <a:rPr kumimoji="1" lang="zh-CN" altLang="en-US" sz="3200" b="1" smtClean="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</a:rPr>
              <a:t>1.1 </a:t>
            </a:r>
            <a:r>
              <a:rPr kumimoji="1" lang="zh-CN" altLang="en-US" sz="3200" b="1" smtClean="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宋体" panose="02010600030101010101" pitchFamily="2" charset="-122"/>
              </a:rPr>
              <a:t>编译器技术的发展</a:t>
            </a:r>
            <a:endParaRPr kumimoji="1" lang="zh-CN" altLang="en-US" sz="3200" b="1" smtClean="0">
              <a:solidFill>
                <a:schemeClr val="bg1"/>
              </a:solidFill>
              <a:latin typeface="方正舒体" panose="02010601030101010101" pitchFamily="2" charset="-122"/>
              <a:cs typeface="等线 Light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06" name="Oval 3"/>
          <p:cNvSpPr/>
          <p:nvPr/>
        </p:nvSpPr>
        <p:spPr>
          <a:xfrm>
            <a:off x="7607935" y="3535045"/>
            <a:ext cx="2498725" cy="685800"/>
          </a:xfrm>
          <a:prstGeom prst="ellips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汇编语言</a:t>
            </a:r>
            <a:r>
              <a:rPr lang="zh-CN" altLang="en-US" sz="2400" b="1" dirty="0">
                <a:solidFill>
                  <a:srgbClr val="21212D"/>
                </a:solidFill>
                <a:latin typeface="等线 Light" panose="02010600030101010101" charset="-122"/>
                <a:cs typeface="等线 Light" panose="02010600030101010101" charset="-122"/>
              </a:rPr>
              <a:t>程序</a:t>
            </a:r>
            <a:endParaRPr lang="zh-CN" altLang="en-US" sz="2400" b="1" dirty="0">
              <a:solidFill>
                <a:srgbClr val="21212D"/>
              </a:solidFill>
              <a:latin typeface="等线 Light" panose="02010600030101010101" charset="-122"/>
              <a:cs typeface="等线 Light" panose="02010600030101010101" charset="-122"/>
            </a:endParaRPr>
          </a:p>
        </p:txBody>
      </p:sp>
      <p:graphicFrame>
        <p:nvGraphicFramePr>
          <p:cNvPr id="21507" name="Object 4"/>
          <p:cNvGraphicFramePr>
            <a:graphicFrameLocks noChangeAspect="1"/>
          </p:cNvGraphicFramePr>
          <p:nvPr/>
        </p:nvGraphicFramePr>
        <p:xfrm>
          <a:off x="10568305" y="3535045"/>
          <a:ext cx="5556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772795" imgH="770890" progId="Visio.Drawing.6">
                  <p:embed/>
                </p:oleObj>
              </mc:Choice>
              <mc:Fallback>
                <p:oleObj name="" r:id="rId1" imgW="772795" imgH="770890" progId="Visio.Drawing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568305" y="3535045"/>
                        <a:ext cx="555625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21508" name="Rectangle 5"/>
          <p:cNvSpPr/>
          <p:nvPr/>
        </p:nvSpPr>
        <p:spPr>
          <a:xfrm>
            <a:off x="4322445" y="3521075"/>
            <a:ext cx="2693035" cy="5334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mov x, 2</a:t>
            </a:r>
            <a:endParaRPr lang="en-US" altLang="zh-CN" sz="3200" b="1" dirty="0">
              <a:solidFill>
                <a:srgbClr val="21212D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 useBgFill="1">
        <p:nvSpPr>
          <p:cNvPr id="21510" name="Oval 7"/>
          <p:cNvSpPr/>
          <p:nvPr/>
        </p:nvSpPr>
        <p:spPr>
          <a:xfrm>
            <a:off x="7385685" y="1303020"/>
            <a:ext cx="2411730" cy="609600"/>
          </a:xfrm>
          <a:prstGeom prst="ellips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机器语言程序</a:t>
            </a:r>
            <a:endParaRPr lang="zh-CN" altLang="en-US" sz="2400" b="1" dirty="0">
              <a:solidFill>
                <a:srgbClr val="21212D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graphicFrame>
        <p:nvGraphicFramePr>
          <p:cNvPr id="21511" name="Object 8"/>
          <p:cNvGraphicFramePr>
            <a:graphicFrameLocks noChangeAspect="1"/>
          </p:cNvGraphicFramePr>
          <p:nvPr/>
        </p:nvGraphicFramePr>
        <p:xfrm>
          <a:off x="10075545" y="1379220"/>
          <a:ext cx="687705" cy="630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564515" imgH="629285" progId="Visio.Drawing.6">
                  <p:embed/>
                </p:oleObj>
              </mc:Choice>
              <mc:Fallback>
                <p:oleObj name="" r:id="rId3" imgW="564515" imgH="629285" progId="Visio.Drawing.6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75545" y="1379220"/>
                        <a:ext cx="687705" cy="6305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21512" name="Rectangle 9"/>
          <p:cNvSpPr/>
          <p:nvPr/>
        </p:nvSpPr>
        <p:spPr>
          <a:xfrm>
            <a:off x="2875915" y="1417320"/>
            <a:ext cx="4081145" cy="5334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800" b="1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c7 06 0000 0002</a:t>
            </a:r>
            <a:endParaRPr lang="en-US" altLang="zh-CN" sz="2800" b="1" dirty="0">
              <a:solidFill>
                <a:srgbClr val="21212D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>
        <p:nvSpPr>
          <p:cNvPr id="82954" name="AutoShape 10"/>
          <p:cNvSpPr/>
          <p:nvPr/>
        </p:nvSpPr>
        <p:spPr>
          <a:xfrm>
            <a:off x="8629650" y="2987358"/>
            <a:ext cx="152400" cy="533400"/>
          </a:xfrm>
          <a:prstGeom prst="upArrow">
            <a:avLst>
              <a:gd name="adj1" fmla="val 50000"/>
              <a:gd name="adj2" fmla="val 87500"/>
            </a:avLst>
          </a:prstGeom>
          <a:solidFill>
            <a:srgbClr val="99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endParaRPr lang="zh-CN" altLang="en-US" b="1" dirty="0"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>
        <p:nvSpPr>
          <p:cNvPr id="82955" name="AutoShape 11"/>
          <p:cNvSpPr/>
          <p:nvPr/>
        </p:nvSpPr>
        <p:spPr>
          <a:xfrm>
            <a:off x="8629650" y="1950720"/>
            <a:ext cx="152400" cy="533400"/>
          </a:xfrm>
          <a:prstGeom prst="upArrow">
            <a:avLst>
              <a:gd name="adj1" fmla="val 50000"/>
              <a:gd name="adj2" fmla="val 87500"/>
            </a:avLst>
          </a:prstGeom>
          <a:solidFill>
            <a:srgbClr val="99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endParaRPr lang="zh-CN" altLang="en-US" b="1" dirty="0"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>
        <p:nvSpPr>
          <p:cNvPr id="82956" name="Rectangle 12"/>
          <p:cNvSpPr/>
          <p:nvPr/>
        </p:nvSpPr>
        <p:spPr>
          <a:xfrm>
            <a:off x="7750175" y="2382520"/>
            <a:ext cx="2868613" cy="620713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latin typeface="Times New Roman" panose="02020603050405020304" pitchFamily="18" charset="0"/>
                <a:cs typeface="等线 Light" panose="02010600030101010101" charset="-122"/>
              </a:rPr>
              <a:t>翻译程序</a:t>
            </a:r>
            <a:endParaRPr lang="zh-CN" altLang="en-US" sz="2800" b="1" dirty="0"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>
        <p:nvSpPr>
          <p:cNvPr id="82957" name="Rectangle 13"/>
          <p:cNvSpPr/>
          <p:nvPr/>
        </p:nvSpPr>
        <p:spPr>
          <a:xfrm>
            <a:off x="7749858" y="2326958"/>
            <a:ext cx="2879725" cy="676275"/>
          </a:xfrm>
          <a:prstGeom prst="rect">
            <a:avLst/>
          </a:prstGeom>
          <a:solidFill>
            <a:schemeClr val="bg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汇编器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>
        <p:nvSpPr>
          <p:cNvPr id="82963" name="Rectangle 19"/>
          <p:cNvSpPr/>
          <p:nvPr/>
        </p:nvSpPr>
        <p:spPr>
          <a:xfrm>
            <a:off x="460375" y="4239260"/>
            <a:ext cx="11410315" cy="1588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457200" indent="-457200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p"/>
            </a:pPr>
            <a:r>
              <a:rPr lang="en-US" altLang="zh-CN" sz="28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zh-CN" altLang="en-US" sz="28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汇编程序</a:t>
            </a:r>
            <a:r>
              <a:rPr lang="zh-CN" altLang="en-US" sz="28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将汇编语言程序的符号代码和存储地址翻译成与之等价的机器码。</a:t>
            </a:r>
            <a:r>
              <a:rPr lang="zh-CN" altLang="en-US" sz="2800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机器语言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、</a:t>
            </a:r>
            <a:r>
              <a:rPr lang="zh-CN" altLang="en-US" sz="2800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汇编语言被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称为</a:t>
            </a:r>
            <a:r>
              <a:rPr lang="zh-CN" altLang="en-US" sz="2800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低级语言</a:t>
            </a:r>
            <a:endParaRPr lang="zh-CN" altLang="en-US" sz="2800" b="1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pPr marL="457200" indent="-457200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charset="0"/>
              <a:buChar char="p"/>
            </a:pP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在一些</a:t>
            </a:r>
            <a:r>
              <a:rPr lang="zh-CN" altLang="en-US" sz="2800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实时性要求较高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及希望使用</a:t>
            </a:r>
            <a:r>
              <a:rPr lang="zh-CN" altLang="en-US" sz="2800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计算机特定硬件结构特性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的场合仍用汇编语言在编写程序（</a:t>
            </a:r>
            <a:r>
              <a:rPr lang="zh-CN" altLang="en-US" sz="2800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  <a:hlinkClick r:id="rId5" action="ppaction://hlinkfile"/>
              </a:rPr>
              <a:t>举例</a:t>
            </a:r>
            <a:r>
              <a:rPr lang="zh-CN" altLang="en-US" sz="28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）。</a:t>
            </a:r>
            <a:endParaRPr lang="en-US" altLang="zh-CN" sz="2800" b="1" dirty="0">
              <a:solidFill>
                <a:srgbClr val="FF339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</p:txBody>
      </p:sp>
      <p:sp>
        <p:nvSpPr>
          <p:cNvPr id="21519" name="Rectangle 22"/>
          <p:cNvSpPr/>
          <p:nvPr/>
        </p:nvSpPr>
        <p:spPr>
          <a:xfrm>
            <a:off x="492760" y="2013585"/>
            <a:ext cx="6892925" cy="132207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 marL="469900" indent="-469900" fontAlgn="auto">
              <a:lnSpc>
                <a:spcPct val="125000"/>
              </a:lnSpc>
              <a:spcBef>
                <a:spcPts val="0"/>
              </a:spcBef>
              <a:buClr>
                <a:schemeClr val="accent2"/>
              </a:buClr>
            </a:pPr>
            <a:r>
              <a:rPr lang="en-US" altLang="zh-CN" sz="3200" b="1" dirty="0">
                <a:solidFill>
                  <a:srgbClr val="FF3399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1950~</a:t>
            </a:r>
            <a:r>
              <a:rPr lang="zh-CN" altLang="en-US" sz="3200" b="1" dirty="0">
                <a:solidFill>
                  <a:srgbClr val="FF3399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，第二代编程语言</a:t>
            </a:r>
            <a:r>
              <a:rPr lang="zh-CN" altLang="en-US" sz="3200" b="1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：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汇编语言</a:t>
            </a:r>
            <a:r>
              <a:rPr lang="zh-CN" altLang="en-US" sz="3200" dirty="0">
                <a:solidFill>
                  <a:srgbClr val="21212D"/>
                </a:solidFill>
                <a:latin typeface="Tahoma" panose="020B0604030504040204" pitchFamily="34" charset="0"/>
                <a:sym typeface="+mn-ea"/>
              </a:rPr>
              <a:t>以符号的形式给出指令及存储地址</a:t>
            </a:r>
            <a:endParaRPr lang="zh-CN" altLang="en-US" sz="3200" b="1" dirty="0">
              <a:solidFill>
                <a:srgbClr val="21212D"/>
              </a:solidFill>
              <a:latin typeface="Tahoma" panose="020B0604030504040204" pitchFamily="34" charset="0"/>
              <a:cs typeface="等线 Light" panose="02010600030101010101" charset="-122"/>
              <a:sym typeface="+mn-ea"/>
            </a:endParaRPr>
          </a:p>
        </p:txBody>
      </p:sp>
      <p:sp>
        <p:nvSpPr>
          <p:cNvPr id="3" name="Rectangle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58445" y="274320"/>
            <a:ext cx="6851650" cy="60896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r>
              <a:rPr kumimoji="1" lang="zh-CN" altLang="en-US" sz="3200" b="1" smtClean="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</a:rPr>
              <a:t>1.1 </a:t>
            </a:r>
            <a:r>
              <a:rPr kumimoji="1" lang="zh-CN" altLang="en-US" sz="3200" b="1" smtClean="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宋体" panose="02010600030101010101" pitchFamily="2" charset="-122"/>
              </a:rPr>
              <a:t>编译器技术的发展</a:t>
            </a:r>
            <a:endParaRPr kumimoji="1" lang="zh-CN" altLang="en-US" sz="3200" b="1" smtClean="0">
              <a:solidFill>
                <a:schemeClr val="bg1"/>
              </a:solidFill>
              <a:latin typeface="方正舒体" panose="02010601030101010101" pitchFamily="2" charset="-122"/>
              <a:cs typeface="等线 Light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6" dur="500"/>
                                        <p:tgtEl>
                                          <p:spTgt spid="82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54" grpId="0" bldLvl="0" animBg="1"/>
      <p:bldP spid="82955" grpId="0" bldLvl="0" animBg="1"/>
      <p:bldP spid="82956" grpId="0" bldLvl="0" animBg="1"/>
      <p:bldP spid="82957" grpId="0" bldLvl="0" animBg="1"/>
      <p:bldP spid="829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429895" y="1316990"/>
            <a:ext cx="11381740" cy="3657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5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zh-CN" altLang="en-US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第三代编程语言（</a:t>
            </a:r>
            <a:r>
              <a:rPr lang="en-US" altLang="zh-CN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C</a:t>
            </a:r>
            <a:r>
              <a:rPr lang="zh-CN" altLang="en-US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、</a:t>
            </a:r>
            <a:r>
              <a:rPr lang="en-US" altLang="zh-CN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C++</a:t>
            </a:r>
            <a:r>
              <a:rPr lang="zh-CN" altLang="en-US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、</a:t>
            </a:r>
            <a:r>
              <a:rPr lang="en-US" altLang="zh-CN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Python</a:t>
            </a:r>
            <a:r>
              <a:rPr lang="zh-CN" altLang="en-US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、</a:t>
            </a:r>
            <a:r>
              <a:rPr lang="en-US" altLang="zh-CN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Java</a:t>
            </a:r>
            <a:r>
              <a:rPr lang="zh-CN" altLang="en-US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）</a:t>
            </a:r>
            <a:r>
              <a:rPr lang="en-US" altLang="zh-CN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—</a:t>
            </a:r>
            <a:r>
              <a:rPr lang="zh-CN" altLang="en-US" sz="24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</a:rPr>
              <a:t>高级语言</a:t>
            </a:r>
            <a:r>
              <a:rPr lang="zh-CN" altLang="en-US" sz="24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的出现：类似于数学定义或自然语言的简洁形式来编写程序，与机器无关，例如：</a:t>
            </a:r>
            <a:r>
              <a:rPr lang="en-US" altLang="zh-CN" sz="24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x=2; </a:t>
            </a:r>
            <a:r>
              <a:rPr lang="en-US" altLang="zh-CN" sz="2400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en-US" altLang="zh-CN" sz="2400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ectangle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58445" y="274320"/>
            <a:ext cx="6851650" cy="60896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 anchorCtr="0"/>
          <a:p>
            <a:r>
              <a:rPr kumimoji="1" lang="zh-CN" altLang="en-US" sz="3200" b="1" smtClean="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</a:rPr>
              <a:t>1.1 </a:t>
            </a:r>
            <a:r>
              <a:rPr kumimoji="1" lang="zh-CN" altLang="en-US" sz="3200" b="1" smtClean="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宋体" panose="02010600030101010101" pitchFamily="2" charset="-122"/>
              </a:rPr>
              <a:t>编译器技术的发展</a:t>
            </a:r>
            <a:endParaRPr kumimoji="1" lang="zh-CN" altLang="en-US" sz="3200" b="1" smtClean="0">
              <a:solidFill>
                <a:schemeClr val="bg1"/>
              </a:solidFill>
              <a:latin typeface="方正舒体" panose="02010601030101010101" pitchFamily="2" charset="-122"/>
              <a:cs typeface="等线 Light" panose="02010600030101010101" charset="-122"/>
            </a:endParaRPr>
          </a:p>
        </p:txBody>
      </p:sp>
      <p:sp>
        <p:nvSpPr>
          <p:cNvPr id="23" name="Line 2"/>
          <p:cNvSpPr/>
          <p:nvPr>
            <p:custDataLst>
              <p:tags r:id="rId2"/>
            </p:custDataLst>
          </p:nvPr>
        </p:nvSpPr>
        <p:spPr>
          <a:xfrm flipV="1">
            <a:off x="5946775" y="3747135"/>
            <a:ext cx="1676400" cy="914400"/>
          </a:xfrm>
          <a:prstGeom prst="line">
            <a:avLst/>
          </a:prstGeom>
          <a:ln w="7620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24" name="Group 3"/>
          <p:cNvGrpSpPr/>
          <p:nvPr/>
        </p:nvGrpSpPr>
        <p:grpSpPr>
          <a:xfrm>
            <a:off x="3024188" y="3636010"/>
            <a:ext cx="3455987" cy="1984375"/>
            <a:chOff x="1152" y="1920"/>
            <a:chExt cx="1776" cy="1296"/>
          </a:xfrm>
        </p:grpSpPr>
        <p:sp>
          <p:nvSpPr>
            <p:cNvPr id="25" name="Rectangle 4"/>
            <p:cNvSpPr/>
            <p:nvPr>
              <p:custDataLst>
                <p:tags r:id="rId3"/>
              </p:custDataLst>
            </p:nvPr>
          </p:nvSpPr>
          <p:spPr>
            <a:xfrm>
              <a:off x="2064" y="2544"/>
              <a:ext cx="864" cy="336"/>
            </a:xfrm>
            <a:prstGeom prst="rect">
              <a:avLst/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2800" dirty="0">
                  <a:latin typeface="Times New Roman" panose="02020603050405020304" pitchFamily="18" charset="0"/>
                  <a:ea typeface="宋体" panose="02010600030101010101" pitchFamily="2" charset="-122"/>
                  <a:cs typeface="等线 Light" panose="02010600030101010101" charset="-122"/>
                </a:rPr>
                <a:t>翻译程序</a:t>
              </a:r>
              <a:endPara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endParaRPr>
            </a:p>
          </p:txBody>
        </p:sp>
        <p:sp>
          <p:nvSpPr>
            <p:cNvPr id="26" name="AutoShape 5"/>
            <p:cNvSpPr/>
            <p:nvPr>
              <p:custDataLst>
                <p:tags r:id="rId4"/>
              </p:custDataLst>
            </p:nvPr>
          </p:nvSpPr>
          <p:spPr>
            <a:xfrm>
              <a:off x="2496" y="2880"/>
              <a:ext cx="96" cy="336"/>
            </a:xfrm>
            <a:prstGeom prst="upArrow">
              <a:avLst>
                <a:gd name="adj1" fmla="val 50000"/>
                <a:gd name="adj2" fmla="val 87500"/>
              </a:avLst>
            </a:prstGeom>
            <a:solidFill>
              <a:srgbClr val="99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endParaRPr>
            </a:p>
          </p:txBody>
        </p:sp>
        <p:sp>
          <p:nvSpPr>
            <p:cNvPr id="27" name="Line 6"/>
            <p:cNvSpPr/>
            <p:nvPr>
              <p:custDataLst>
                <p:tags r:id="rId5"/>
              </p:custDataLst>
            </p:nvPr>
          </p:nvSpPr>
          <p:spPr>
            <a:xfrm flipH="1" flipV="1">
              <a:off x="1152" y="1920"/>
              <a:ext cx="1056" cy="672"/>
            </a:xfrm>
            <a:prstGeom prst="line">
              <a:avLst/>
            </a:prstGeom>
            <a:ln w="76200" cap="flat" cmpd="sng">
              <a:solidFill>
                <a:srgbClr val="99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28" name="Group 8"/>
          <p:cNvGrpSpPr/>
          <p:nvPr/>
        </p:nvGrpSpPr>
        <p:grpSpPr>
          <a:xfrm>
            <a:off x="4032250" y="3131185"/>
            <a:ext cx="3095625" cy="533400"/>
            <a:chOff x="1632" y="1632"/>
            <a:chExt cx="1632" cy="336"/>
          </a:xfrm>
        </p:grpSpPr>
        <p:sp>
          <p:nvSpPr>
            <p:cNvPr id="29" name="Rectangle 9"/>
            <p:cNvSpPr/>
            <p:nvPr>
              <p:custDataLst>
                <p:tags r:id="rId6"/>
              </p:custDataLst>
            </p:nvPr>
          </p:nvSpPr>
          <p:spPr>
            <a:xfrm>
              <a:off x="2016" y="1632"/>
              <a:ext cx="864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2800" b="1" dirty="0">
                  <a:solidFill>
                    <a:srgbClr val="21212D"/>
                  </a:solidFill>
                  <a:latin typeface="等线" panose="02010600030101010101" charset="-122"/>
                  <a:ea typeface="等线" panose="02010600030101010101" charset="-122"/>
                  <a:cs typeface="等线 Light" panose="02010600030101010101" charset="-122"/>
                </a:rPr>
                <a:t>汇编器</a:t>
              </a:r>
              <a:endParaRPr lang="zh-CN" altLang="en-US" sz="28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 Light" panose="02010600030101010101" charset="-122"/>
              </a:endParaRPr>
            </a:p>
          </p:txBody>
        </p:sp>
        <p:sp>
          <p:nvSpPr>
            <p:cNvPr id="30" name="AutoShape 10"/>
            <p:cNvSpPr/>
            <p:nvPr>
              <p:custDataLst>
                <p:tags r:id="rId7"/>
              </p:custDataLst>
            </p:nvPr>
          </p:nvSpPr>
          <p:spPr>
            <a:xfrm>
              <a:off x="1632" y="1728"/>
              <a:ext cx="432" cy="96"/>
            </a:xfrm>
            <a:prstGeom prst="rightArrow">
              <a:avLst>
                <a:gd name="adj1" fmla="val 50000"/>
                <a:gd name="adj2" fmla="val 112500"/>
              </a:avLst>
            </a:prstGeom>
            <a:solidFill>
              <a:srgbClr val="99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endParaRPr>
            </a:p>
          </p:txBody>
        </p:sp>
        <p:sp>
          <p:nvSpPr>
            <p:cNvPr id="31" name="AutoShape 11"/>
            <p:cNvSpPr/>
            <p:nvPr>
              <p:custDataLst>
                <p:tags r:id="rId8"/>
              </p:custDataLst>
            </p:nvPr>
          </p:nvSpPr>
          <p:spPr>
            <a:xfrm>
              <a:off x="2880" y="1728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99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endParaRPr>
            </a:p>
          </p:txBody>
        </p:sp>
      </p:grpSp>
      <p:sp>
        <p:nvSpPr>
          <p:cNvPr id="32" name="Rectangle 12"/>
          <p:cNvSpPr/>
          <p:nvPr>
            <p:custDataLst>
              <p:tags r:id="rId9"/>
            </p:custDataLst>
          </p:nvPr>
        </p:nvSpPr>
        <p:spPr>
          <a:xfrm>
            <a:off x="4571683" y="4513898"/>
            <a:ext cx="2016125" cy="5334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0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 Light" panose="02010600030101010101" charset="-122"/>
              </a:rPr>
              <a:t>编译器</a:t>
            </a:r>
            <a:endParaRPr lang="zh-CN" altLang="en-US" sz="2000" b="1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 Light" panose="02010600030101010101" charset="-122"/>
            </a:endParaRPr>
          </a:p>
        </p:txBody>
      </p:sp>
      <p:grpSp>
        <p:nvGrpSpPr>
          <p:cNvPr id="33" name="Group 14"/>
          <p:cNvGrpSpPr/>
          <p:nvPr/>
        </p:nvGrpSpPr>
        <p:grpSpPr>
          <a:xfrm>
            <a:off x="2087563" y="3131185"/>
            <a:ext cx="1981200" cy="1000125"/>
            <a:chOff x="480" y="1632"/>
            <a:chExt cx="1152" cy="630"/>
          </a:xfrm>
        </p:grpSpPr>
        <p:sp useBgFill="1">
          <p:nvSpPr>
            <p:cNvPr id="34" name="Oval 15"/>
            <p:cNvSpPr/>
            <p:nvPr>
              <p:custDataLst>
                <p:tags r:id="rId10"/>
              </p:custDataLst>
            </p:nvPr>
          </p:nvSpPr>
          <p:spPr>
            <a:xfrm>
              <a:off x="480" y="1632"/>
              <a:ext cx="1152" cy="288"/>
            </a:xfrm>
            <a:prstGeom prst="ellips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zh-CN" altLang="en-US" sz="2400" b="1" dirty="0">
                  <a:solidFill>
                    <a:srgbClr val="21212D"/>
                  </a:solidFill>
                  <a:latin typeface="等线" panose="02010600030101010101" charset="-122"/>
                  <a:ea typeface="等线" panose="02010600030101010101" charset="-122"/>
                  <a:cs typeface="等线 Light" panose="02010600030101010101" charset="-122"/>
                </a:rPr>
                <a:t>汇编语言程序</a:t>
              </a:r>
              <a:endParaRPr lang="en-US" altLang="zh-CN" sz="24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 Light" panose="02010600030101010101" charset="-122"/>
              </a:endParaRPr>
            </a:p>
          </p:txBody>
        </p:sp>
        <p:graphicFrame>
          <p:nvGraphicFramePr>
            <p:cNvPr id="35" name="Object 16"/>
            <p:cNvGraphicFramePr>
              <a:graphicFrameLocks noChangeAspect="1"/>
            </p:cNvGraphicFramePr>
            <p:nvPr>
              <p:custDataLst>
                <p:tags r:id="rId11"/>
              </p:custDataLst>
            </p:nvPr>
          </p:nvGraphicFramePr>
          <p:xfrm>
            <a:off x="528" y="1920"/>
            <a:ext cx="288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" name="" r:id="rId12" imgW="772795" imgH="770890" progId="Visio.Drawing.6">
                    <p:embed/>
                  </p:oleObj>
                </mc:Choice>
                <mc:Fallback>
                  <p:oleObj name="" r:id="rId12" imgW="772795" imgH="770890" progId="Visio.Drawing.6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28" y="1920"/>
                          <a:ext cx="288" cy="3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 useBgFill="1">
        <p:nvSpPr>
          <p:cNvPr id="37" name="Rectangle 17"/>
          <p:cNvSpPr/>
          <p:nvPr>
            <p:custDataLst>
              <p:tags r:id="rId14"/>
            </p:custDataLst>
          </p:nvPr>
        </p:nvSpPr>
        <p:spPr>
          <a:xfrm>
            <a:off x="2136775" y="4280535"/>
            <a:ext cx="1828800" cy="5334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dirty="0">
                <a:latin typeface="Tahoma" panose="020B0604030504040204" pitchFamily="34" charset="0"/>
                <a:cs typeface="等线 Light" panose="02010600030101010101" charset="-122"/>
              </a:rPr>
              <a:t>mov x,2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8" name="Oval 19"/>
          <p:cNvSpPr/>
          <p:nvPr>
            <p:custDataLst>
              <p:tags r:id="rId15"/>
            </p:custDataLst>
          </p:nvPr>
        </p:nvSpPr>
        <p:spPr>
          <a:xfrm>
            <a:off x="7165975" y="3061335"/>
            <a:ext cx="2122488" cy="685800"/>
          </a:xfrm>
          <a:prstGeom prst="ellips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 Light" panose="02010600030101010101" charset="-122"/>
              </a:rPr>
              <a:t>机器语言程序</a:t>
            </a:r>
            <a:endParaRPr lang="zh-CN" altLang="en-US" sz="2400" b="1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 Light" panose="02010600030101010101" charset="-122"/>
            </a:endParaRPr>
          </a:p>
        </p:txBody>
      </p:sp>
      <p:graphicFrame>
        <p:nvGraphicFramePr>
          <p:cNvPr id="39" name="Object 20"/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9288463" y="3059748"/>
          <a:ext cx="56515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" r:id="rId17" imgW="564515" imgH="629285" progId="Visio.Drawing.6">
                  <p:embed/>
                </p:oleObj>
              </mc:Choice>
              <mc:Fallback>
                <p:oleObj name="" r:id="rId17" imgW="564515" imgH="629285" progId="Visio.Drawing.6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288463" y="3059748"/>
                        <a:ext cx="565150" cy="630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21"/>
          <p:cNvSpPr/>
          <p:nvPr>
            <p:custDataLst>
              <p:tags r:id="rId19"/>
            </p:custDataLst>
          </p:nvPr>
        </p:nvSpPr>
        <p:spPr>
          <a:xfrm>
            <a:off x="7089775" y="4051935"/>
            <a:ext cx="3733800" cy="5334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dirty="0">
                <a:latin typeface="Tahoma" panose="020B0604030504040204" pitchFamily="34" charset="0"/>
                <a:cs typeface="等线 Light" panose="02010600030101010101" charset="-122"/>
              </a:rPr>
              <a:t>c7  06  0000 0002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graphicFrame>
        <p:nvGraphicFramePr>
          <p:cNvPr id="42" name="Object 23"/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6861175" y="5423535"/>
          <a:ext cx="4572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" r:id="rId21" imgW="772795" imgH="770890" progId="Visio.Drawing.6">
                  <p:embed/>
                </p:oleObj>
              </mc:Choice>
              <mc:Fallback>
                <p:oleObj name="" r:id="rId21" imgW="772795" imgH="770890" progId="Visio.Drawing.6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61175" y="5423535"/>
                        <a:ext cx="45720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4"/>
          <p:cNvGraphicFramePr>
            <a:graphicFrameLocks noChangeAspect="1"/>
          </p:cNvGraphicFramePr>
          <p:nvPr>
            <p:custDataLst>
              <p:tags r:id="rId22"/>
            </p:custDataLst>
          </p:nvPr>
        </p:nvGraphicFramePr>
        <p:xfrm>
          <a:off x="7242175" y="5347335"/>
          <a:ext cx="4572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" r:id="rId23" imgW="772795" imgH="770890" progId="Visio.Drawing.6">
                  <p:embed/>
                </p:oleObj>
              </mc:Choice>
              <mc:Fallback>
                <p:oleObj name="" r:id="rId23" imgW="772795" imgH="770890" progId="Visio.Drawing.6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242175" y="5347335"/>
                        <a:ext cx="45720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46" name="Oval 26"/>
          <p:cNvSpPr/>
          <p:nvPr>
            <p:custDataLst>
              <p:tags r:id="rId24"/>
            </p:custDataLst>
          </p:nvPr>
        </p:nvSpPr>
        <p:spPr>
          <a:xfrm>
            <a:off x="4751388" y="5580698"/>
            <a:ext cx="2028825" cy="609600"/>
          </a:xfrm>
          <a:prstGeom prst="ellips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等线 Light" panose="02010600030101010101" charset="-122"/>
              </a:rPr>
              <a:t>高级语言程序</a:t>
            </a:r>
            <a:endParaRPr lang="zh-CN" altLang="en-US" sz="2400" b="1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等线 Light" panose="02010600030101010101" charset="-122"/>
            </a:endParaRPr>
          </a:p>
        </p:txBody>
      </p:sp>
      <p:graphicFrame>
        <p:nvGraphicFramePr>
          <p:cNvPr id="47" name="Object 27"/>
          <p:cNvGraphicFramePr>
            <a:graphicFrameLocks noChangeAspect="1"/>
          </p:cNvGraphicFramePr>
          <p:nvPr>
            <p:custDataLst>
              <p:tags r:id="rId25"/>
            </p:custDataLst>
          </p:nvPr>
        </p:nvGraphicFramePr>
        <p:xfrm>
          <a:off x="7242175" y="5652135"/>
          <a:ext cx="4572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" r:id="rId26" imgW="772795" imgH="770890" progId="Visio.Drawing.6">
                  <p:embed/>
                </p:oleObj>
              </mc:Choice>
              <mc:Fallback>
                <p:oleObj name="" r:id="rId26" imgW="772795" imgH="770890" progId="Visio.Drawing.6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242175" y="5652135"/>
                        <a:ext cx="457200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49" name="Rectangle 28"/>
          <p:cNvSpPr/>
          <p:nvPr>
            <p:custDataLst>
              <p:tags r:id="rId27"/>
            </p:custDataLst>
          </p:nvPr>
        </p:nvSpPr>
        <p:spPr>
          <a:xfrm>
            <a:off x="7775575" y="5728335"/>
            <a:ext cx="1143000" cy="5334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dirty="0">
                <a:latin typeface="Tahoma" panose="020B0604030504040204" pitchFamily="34" charset="0"/>
                <a:cs typeface="等线 Light" panose="02010600030101010101" charset="-122"/>
              </a:rPr>
              <a:t>x=2</a:t>
            </a:r>
            <a:endParaRPr lang="en-US" altLang="zh-CN" dirty="0">
              <a:latin typeface="Tahoma" panose="020B0604030504040204" pitchFamily="34" charset="0"/>
              <a:cs typeface="等线 Light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61950" y="276860"/>
            <a:ext cx="732345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 </a:t>
            </a:r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宋体" panose="02010600030101010101" pitchFamily="2" charset="-122"/>
              </a:rPr>
              <a:t>编译器技术的发展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6080" y="2186305"/>
            <a:ext cx="11563350" cy="3307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自然语言处理，本质是用‘</a:t>
            </a:r>
            <a:r>
              <a:rPr lang="zh-CN" altLang="en-US" sz="320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数据统计的概率思维</a:t>
            </a:r>
            <a:r>
              <a:rPr lang="zh-CN" altLang="en-US" sz="3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’替代‘</a:t>
            </a:r>
            <a:r>
              <a:rPr lang="zh-CN" altLang="en-US" sz="320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人工规则的确定性思维</a:t>
            </a:r>
            <a:r>
              <a:rPr lang="zh-CN" altLang="en-US" sz="3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’；而编译原理的核心，是用‘</a:t>
            </a:r>
            <a:r>
              <a:rPr lang="zh-CN" altLang="en-US" sz="320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无歧义的形式规则</a:t>
            </a:r>
            <a:r>
              <a:rPr lang="zh-CN" altLang="en-US" sz="3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’保障程序语言的精确执行，两者的差异源于处理对象的本质不同：</a:t>
            </a:r>
            <a:r>
              <a:rPr lang="zh-CN" altLang="en-US" sz="3200">
                <a:solidFill>
                  <a:srgbClr val="0070C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自然语言是‘演化的、模糊的’，程序语言是‘设计的、精确的’</a:t>
            </a:r>
            <a:r>
              <a:rPr lang="zh-CN" altLang="en-US" sz="3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  <a:r>
              <a:rPr lang="en-US" altLang="zh-CN" sz="3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——</a:t>
            </a:r>
            <a:r>
              <a:rPr lang="zh-CN" altLang="en-US" sz="3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《数学之美》</a:t>
            </a:r>
            <a:endParaRPr lang="zh-CN" altLang="en-US" sz="32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18465" y="1346200"/>
            <a:ext cx="88004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>
                <a:solidFill>
                  <a:srgbClr val="FF3399"/>
                </a:solidFill>
                <a:latin typeface="等线" panose="02010600030101010101" charset="-122"/>
                <a:ea typeface="等线" panose="02010600030101010101" charset="-122"/>
                <a:cs typeface="等线 Light" panose="02010600030101010101" charset="-122"/>
                <a:sym typeface="+mn-ea"/>
              </a:rPr>
              <a:t>自然语言处理技术：深度学习和大语言模型？</a:t>
            </a:r>
            <a:endParaRPr lang="zh-CN" altLang="en-US" sz="3200" b="1" dirty="0">
              <a:solidFill>
                <a:srgbClr val="FF3399"/>
              </a:solidFill>
              <a:latin typeface="等线" panose="02010600030101010101" charset="-122"/>
              <a:ea typeface="等线" panose="02010600030101010101" charset="-122"/>
              <a:cs typeface="等线 Light" panose="0201060003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2" grpId="0"/>
      <p:bldP spid="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267335" y="262890"/>
            <a:ext cx="8766810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 </a:t>
            </a:r>
            <a:r>
              <a:rPr sz="3200">
                <a:solidFill>
                  <a:schemeClr val="bg1"/>
                </a:solidFill>
                <a:latin typeface="方正舒体" panose="02010601030101010101" pitchFamily="2" charset="-122"/>
                <a:cs typeface="等线 Light" panose="02010600030101010101" charset="-122"/>
                <a:sym typeface="宋体" panose="02010600030101010101" pitchFamily="2" charset="-122"/>
              </a:rPr>
              <a:t>编译器技术的发展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4510" y="1203325"/>
            <a:ext cx="10799445" cy="5172710"/>
            <a:chOff x="826" y="1895"/>
            <a:chExt cx="17007" cy="8146"/>
          </a:xfrm>
        </p:grpSpPr>
        <p:sp>
          <p:nvSpPr>
            <p:cNvPr id="85" name="矩形 84"/>
            <p:cNvSpPr/>
            <p:nvPr/>
          </p:nvSpPr>
          <p:spPr>
            <a:xfrm>
              <a:off x="2471" y="1939"/>
              <a:ext cx="14182" cy="81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等线 Light" panose="02010600030101010101" charset="-122"/>
              </a:endParaRPr>
            </a:p>
          </p:txBody>
        </p:sp>
        <p:cxnSp>
          <p:nvCxnSpPr>
            <p:cNvPr id="86" name="直接连接符 2"/>
            <p:cNvCxnSpPr/>
            <p:nvPr/>
          </p:nvCxnSpPr>
          <p:spPr>
            <a:xfrm>
              <a:off x="2329" y="4463"/>
              <a:ext cx="14400" cy="0"/>
            </a:xfrm>
            <a:prstGeom prst="line">
              <a:avLst/>
            </a:prstGeom>
            <a:ln w="6350" cap="flat" cmpd="sng">
              <a:solidFill>
                <a:srgbClr val="A6A6A6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grpSp>
          <p:nvGrpSpPr>
            <p:cNvPr id="87" name="组合 10"/>
            <p:cNvGrpSpPr/>
            <p:nvPr/>
          </p:nvGrpSpPr>
          <p:grpSpPr>
            <a:xfrm>
              <a:off x="1144" y="4278"/>
              <a:ext cx="3683" cy="5581"/>
              <a:chOff x="-1187" y="3919"/>
              <a:chExt cx="3685" cy="5582"/>
            </a:xfrm>
          </p:grpSpPr>
          <p:sp>
            <p:nvSpPr>
              <p:cNvPr id="88" name="六边形 4"/>
              <p:cNvSpPr/>
              <p:nvPr/>
            </p:nvSpPr>
            <p:spPr>
              <a:xfrm>
                <a:off x="986" y="3919"/>
                <a:ext cx="314" cy="356"/>
              </a:xfrm>
              <a:custGeom>
                <a:avLst/>
                <a:gdLst>
                  <a:gd name="connsiteX0" fmla="*/ 180423 w 4095081"/>
                  <a:gd name="connsiteY0" fmla="*/ 1015536 h 4603701"/>
                  <a:gd name="connsiteX1" fmla="*/ 1861521 w 4095081"/>
                  <a:gd name="connsiteY1" fmla="*/ 47992 h 4603701"/>
                  <a:gd name="connsiteX2" fmla="*/ 2221098 w 4095081"/>
                  <a:gd name="connsiteY2" fmla="*/ 48236 h 4603701"/>
                  <a:gd name="connsiteX3" fmla="*/ 3912450 w 4095081"/>
                  <a:gd name="connsiteY3" fmla="*/ 1024739 h 4603701"/>
                  <a:gd name="connsiteX4" fmla="*/ 4092449 w 4095081"/>
                  <a:gd name="connsiteY4" fmla="*/ 1336019 h 4603701"/>
                  <a:gd name="connsiteX5" fmla="*/ 4095081 w 4095081"/>
                  <a:gd name="connsiteY5" fmla="*/ 3275664 h 4603701"/>
                  <a:gd name="connsiteX6" fmla="*/ 3914658 w 4095081"/>
                  <a:gd name="connsiteY6" fmla="*/ 3588166 h 4603701"/>
                  <a:gd name="connsiteX7" fmla="*/ 2233561 w 4095081"/>
                  <a:gd name="connsiteY7" fmla="*/ 4555710 h 4603701"/>
                  <a:gd name="connsiteX8" fmla="*/ 1873984 w 4095081"/>
                  <a:gd name="connsiteY8" fmla="*/ 4555466 h 4603701"/>
                  <a:gd name="connsiteX9" fmla="*/ 182632 w 4095081"/>
                  <a:gd name="connsiteY9" fmla="*/ 3578963 h 4603701"/>
                  <a:gd name="connsiteX10" fmla="*/ 2632 w 4095081"/>
                  <a:gd name="connsiteY10" fmla="*/ 3267683 h 4603701"/>
                  <a:gd name="connsiteX11" fmla="*/ 1 w 4095081"/>
                  <a:gd name="connsiteY11" fmla="*/ 1328038 h 4603701"/>
                  <a:gd name="connsiteX12" fmla="*/ 180423 w 4095081"/>
                  <a:gd name="connsiteY12" fmla="*/ 1015536 h 4603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095081" h="4603701">
                    <a:moveTo>
                      <a:pt x="180423" y="1015536"/>
                    </a:moveTo>
                    <a:lnTo>
                      <a:pt x="1861521" y="47992"/>
                    </a:lnTo>
                    <a:cubicBezTo>
                      <a:pt x="1972854" y="-16084"/>
                      <a:pt x="2109853" y="-15991"/>
                      <a:pt x="2221098" y="48236"/>
                    </a:cubicBezTo>
                    <a:lnTo>
                      <a:pt x="3912450" y="1024739"/>
                    </a:lnTo>
                    <a:cubicBezTo>
                      <a:pt x="4023695" y="1088966"/>
                      <a:pt x="4092275" y="1207564"/>
                      <a:pt x="4092449" y="1336019"/>
                    </a:cubicBezTo>
                    <a:lnTo>
                      <a:pt x="4095081" y="3275664"/>
                    </a:lnTo>
                    <a:cubicBezTo>
                      <a:pt x="4095257" y="3404724"/>
                      <a:pt x="4026515" y="3523788"/>
                      <a:pt x="3914658" y="3588166"/>
                    </a:cubicBezTo>
                    <a:lnTo>
                      <a:pt x="2233561" y="4555710"/>
                    </a:lnTo>
                    <a:cubicBezTo>
                      <a:pt x="2122228" y="4619786"/>
                      <a:pt x="1985230" y="4619693"/>
                      <a:pt x="1873984" y="4555466"/>
                    </a:cubicBezTo>
                    <a:lnTo>
                      <a:pt x="182632" y="3578963"/>
                    </a:lnTo>
                    <a:cubicBezTo>
                      <a:pt x="71387" y="3514736"/>
                      <a:pt x="2807" y="3396138"/>
                      <a:pt x="2632" y="3267683"/>
                    </a:cubicBezTo>
                    <a:lnTo>
                      <a:pt x="1" y="1328038"/>
                    </a:lnTo>
                    <a:cubicBezTo>
                      <a:pt x="-174" y="1198978"/>
                      <a:pt x="68567" y="1079915"/>
                      <a:pt x="180423" y="1015536"/>
                    </a:cubicBezTo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41300" dist="889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 fontAlgn="base"/>
                <a:endParaRPr lang="zh-CN" altLang="en-US" sz="1575" strike="noStrike" kern="0" noProof="1">
                  <a:solidFill>
                    <a:prstClr val="white"/>
                  </a:solidFill>
                  <a:latin typeface="汉仪雅酷黑 45W" panose="020B0404020202020204" pitchFamily="34" charset="-122"/>
                  <a:cs typeface="汉仪雅酷黑 45W" panose="020B0404020202020204" pitchFamily="34" charset="-122"/>
                </a:endParaRPr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-1187" y="7989"/>
                <a:ext cx="3685" cy="1512"/>
                <a:chOff x="-1597" y="8579"/>
                <a:chExt cx="4913" cy="1995"/>
              </a:xfrm>
              <a:effectLst>
                <a:outerShdw blurRad="25400" dist="12700" dir="4500000" algn="tr" rotWithShape="0">
                  <a:prstClr val="black">
                    <a:alpha val="34000"/>
                  </a:prstClr>
                </a:outerShdw>
              </a:effectLst>
            </p:grpSpPr>
            <p:sp>
              <p:nvSpPr>
                <p:cNvPr id="90" name="矩形 89"/>
                <p:cNvSpPr/>
                <p:nvPr/>
              </p:nvSpPr>
              <p:spPr>
                <a:xfrm>
                  <a:off x="-1597" y="9388"/>
                  <a:ext cx="4913" cy="1186"/>
                </a:xfrm>
                <a:prstGeom prst="rect">
                  <a:avLst/>
                </a:prstGeom>
                <a:ln>
                  <a:solidFill>
                    <a:srgbClr val="292B30"/>
                  </a:solidFill>
                </a:ln>
              </p:spPr>
              <p:txBody>
                <a:bodyPr wrap="square">
                  <a:spAutoFit/>
                </a:bodyPr>
                <a:p>
                  <a:pPr marL="0" marR="0" lvl="0" indent="0" algn="ctr" defTabSz="91440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完成程序语言到机器语言的翻译，侧重编译器前端实现</a:t>
                  </a:r>
                  <a:endPara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91" name="文本框 90"/>
                <p:cNvSpPr txBox="1"/>
                <p:nvPr/>
              </p:nvSpPr>
              <p:spPr>
                <a:xfrm>
                  <a:off x="-566" y="8579"/>
                  <a:ext cx="3506" cy="7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fontAlgn="base"/>
                  <a:r>
                    <a:rPr lang="zh-CN" altLang="en-US" sz="1800" b="1" strike="noStrike" noProof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  <a:cs typeface="思源黑体 Bold" charset="-122"/>
                    </a:rPr>
                    <a:t>编译</a:t>
                  </a:r>
                  <a:r>
                    <a:rPr lang="en-US" altLang="zh-CN" sz="1800" b="1" strike="noStrike" noProof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  <a:cs typeface="思源黑体 Bold" charset="-122"/>
                    </a:rPr>
                    <a:t>1.0</a:t>
                  </a:r>
                  <a:r>
                    <a:rPr lang="zh-CN" altLang="en-US" sz="1800" b="1" strike="noStrike" noProof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  <a:cs typeface="思源黑体 Bold" charset="-122"/>
                    </a:rPr>
                    <a:t>时代</a:t>
                  </a:r>
                  <a:endParaRPr lang="zh-CN" altLang="en-US" sz="1800" b="1" strike="noStrike" noProof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思源黑体 Bold" charset="-122"/>
                  </a:endParaRPr>
                </a:p>
              </p:txBody>
            </p:sp>
          </p:grpSp>
        </p:grpSp>
        <p:grpSp>
          <p:nvGrpSpPr>
            <p:cNvPr id="92" name="组合 55"/>
            <p:cNvGrpSpPr/>
            <p:nvPr/>
          </p:nvGrpSpPr>
          <p:grpSpPr>
            <a:xfrm>
              <a:off x="826" y="4638"/>
              <a:ext cx="5183" cy="2498"/>
              <a:chOff x="-1982" y="-87"/>
              <a:chExt cx="6913" cy="4728"/>
            </a:xfrm>
          </p:grpSpPr>
          <p:sp>
            <p:nvSpPr>
              <p:cNvPr id="93" name="任意多边形: 形状 3"/>
              <p:cNvSpPr/>
              <p:nvPr/>
            </p:nvSpPr>
            <p:spPr>
              <a:xfrm rot="10800000" flipV="1">
                <a:off x="-1853" y="-87"/>
                <a:ext cx="6784" cy="4728"/>
              </a:xfrm>
              <a:custGeom>
                <a:avLst/>
                <a:gdLst>
                  <a:gd name="connsiteX0" fmla="*/ 0 w 2539997"/>
                  <a:gd name="connsiteY0" fmla="*/ 1678631 h 1678631"/>
                  <a:gd name="connsiteX1" fmla="*/ 2539997 w 2539997"/>
                  <a:gd name="connsiteY1" fmla="*/ 1678631 h 1678631"/>
                  <a:gd name="connsiteX2" fmla="*/ 2539997 w 2539997"/>
                  <a:gd name="connsiteY2" fmla="*/ 167903 h 1678631"/>
                  <a:gd name="connsiteX3" fmla="*/ 1367382 w 2539997"/>
                  <a:gd name="connsiteY3" fmla="*/ 167903 h 1678631"/>
                  <a:gd name="connsiteX4" fmla="*/ 1269998 w 2539997"/>
                  <a:gd name="connsiteY4" fmla="*/ 0 h 1678631"/>
                  <a:gd name="connsiteX5" fmla="*/ 1172614 w 2539997"/>
                  <a:gd name="connsiteY5" fmla="*/ 167903 h 1678631"/>
                  <a:gd name="connsiteX6" fmla="*/ 0 w 2539997"/>
                  <a:gd name="connsiteY6" fmla="*/ 167903 h 1678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39997" h="1678631">
                    <a:moveTo>
                      <a:pt x="0" y="1678631"/>
                    </a:moveTo>
                    <a:lnTo>
                      <a:pt x="2539997" y="1678631"/>
                    </a:lnTo>
                    <a:lnTo>
                      <a:pt x="2539997" y="167903"/>
                    </a:lnTo>
                    <a:lnTo>
                      <a:pt x="1367382" y="167903"/>
                    </a:lnTo>
                    <a:lnTo>
                      <a:pt x="1269998" y="0"/>
                    </a:lnTo>
                    <a:lnTo>
                      <a:pt x="1172614" y="167903"/>
                    </a:lnTo>
                    <a:lnTo>
                      <a:pt x="0" y="167903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>
                <a:outerShdw blurRad="241300" dist="88900" dir="2700000" algn="tl" rotWithShape="0">
                  <a:prstClr val="black">
                    <a:alpha val="17000"/>
                  </a:prstClr>
                </a:outerShdw>
              </a:effectLst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 fontAlgn="base">
                  <a:defRPr/>
                </a:pPr>
                <a:endParaRPr lang="zh-CN" altLang="en-US" sz="1575" strike="noStrike" kern="0" noProof="1">
                  <a:solidFill>
                    <a:prstClr val="white"/>
                  </a:solidFill>
                  <a:latin typeface="汉仪雅酷黑 45W" panose="020B0404020202020204" pitchFamily="34" charset="-122"/>
                  <a:cs typeface="汉仪雅酷黑 45W" panose="020B0404020202020204" pitchFamily="34" charset="-122"/>
                </a:endParaRPr>
              </a:p>
            </p:txBody>
          </p:sp>
          <p:sp>
            <p:nvSpPr>
              <p:cNvPr id="94" name="文本框 93"/>
              <p:cNvSpPr txBox="1"/>
              <p:nvPr/>
            </p:nvSpPr>
            <p:spPr>
              <a:xfrm>
                <a:off x="1133" y="396"/>
                <a:ext cx="3711" cy="10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r>
                  <a:rPr lang="zh-CN" altLang="en-US" sz="1800" b="1" u="sng" noProof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思源黑体 Bold" charset="-122"/>
                    <a:ea typeface="思源黑体 Bold" charset="-122"/>
                    <a:cs typeface="思源黑体 Bold" charset="-122"/>
                    <a:sym typeface="+mn-ea"/>
                  </a:rPr>
                  <a:t>20世纪50年代</a:t>
                </a:r>
                <a:endParaRPr lang="en-US" altLang="zh-CN" sz="1800" b="1" noProof="1" dirty="0">
                  <a:latin typeface="思源黑体 Bold" charset="-122"/>
                  <a:ea typeface="思源黑体 Bold" charset="-122"/>
                  <a:cs typeface="思源黑体 Bold" charset="-122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-1982" y="898"/>
                <a:ext cx="6886" cy="636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p>
                <a:pPr lvl="1" indent="0" algn="l" fontAlgn="auto">
                  <a:lnSpc>
                    <a:spcPct val="110000"/>
                  </a:lnSpc>
                  <a:buClr>
                    <a:srgbClr val="7F7F7F"/>
                  </a:buClr>
                  <a:buNone/>
                  <a:defRPr/>
                </a:pPr>
                <a:endParaRPr kumimoji="0" lang="zh-CN" altLang="en-US" sz="1200" b="1" i="0" u="sng" strike="noStrike" kern="0" cap="none" spc="10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+mn-ea"/>
                </a:endParaRPr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5724" y="1951"/>
              <a:ext cx="7108" cy="7908"/>
              <a:chOff x="3396" y="1602"/>
              <a:chExt cx="7108" cy="7908"/>
            </a:xfrm>
          </p:grpSpPr>
          <p:sp>
            <p:nvSpPr>
              <p:cNvPr id="97" name="六边形 4"/>
              <p:cNvSpPr/>
              <p:nvPr/>
            </p:nvSpPr>
            <p:spPr>
              <a:xfrm>
                <a:off x="5620" y="3917"/>
                <a:ext cx="314" cy="353"/>
              </a:xfrm>
              <a:custGeom>
                <a:avLst/>
                <a:gdLst>
                  <a:gd name="connsiteX0" fmla="*/ 180423 w 4095081"/>
                  <a:gd name="connsiteY0" fmla="*/ 1015536 h 4603701"/>
                  <a:gd name="connsiteX1" fmla="*/ 1861521 w 4095081"/>
                  <a:gd name="connsiteY1" fmla="*/ 47992 h 4603701"/>
                  <a:gd name="connsiteX2" fmla="*/ 2221098 w 4095081"/>
                  <a:gd name="connsiteY2" fmla="*/ 48236 h 4603701"/>
                  <a:gd name="connsiteX3" fmla="*/ 3912450 w 4095081"/>
                  <a:gd name="connsiteY3" fmla="*/ 1024739 h 4603701"/>
                  <a:gd name="connsiteX4" fmla="*/ 4092449 w 4095081"/>
                  <a:gd name="connsiteY4" fmla="*/ 1336019 h 4603701"/>
                  <a:gd name="connsiteX5" fmla="*/ 4095081 w 4095081"/>
                  <a:gd name="connsiteY5" fmla="*/ 3275664 h 4603701"/>
                  <a:gd name="connsiteX6" fmla="*/ 3914658 w 4095081"/>
                  <a:gd name="connsiteY6" fmla="*/ 3588166 h 4603701"/>
                  <a:gd name="connsiteX7" fmla="*/ 2233561 w 4095081"/>
                  <a:gd name="connsiteY7" fmla="*/ 4555710 h 4603701"/>
                  <a:gd name="connsiteX8" fmla="*/ 1873984 w 4095081"/>
                  <a:gd name="connsiteY8" fmla="*/ 4555466 h 4603701"/>
                  <a:gd name="connsiteX9" fmla="*/ 182632 w 4095081"/>
                  <a:gd name="connsiteY9" fmla="*/ 3578963 h 4603701"/>
                  <a:gd name="connsiteX10" fmla="*/ 2632 w 4095081"/>
                  <a:gd name="connsiteY10" fmla="*/ 3267683 h 4603701"/>
                  <a:gd name="connsiteX11" fmla="*/ 1 w 4095081"/>
                  <a:gd name="connsiteY11" fmla="*/ 1328038 h 4603701"/>
                  <a:gd name="connsiteX12" fmla="*/ 180423 w 4095081"/>
                  <a:gd name="connsiteY12" fmla="*/ 1015536 h 4603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095081" h="4603701">
                    <a:moveTo>
                      <a:pt x="180423" y="1015536"/>
                    </a:moveTo>
                    <a:lnTo>
                      <a:pt x="1861521" y="47992"/>
                    </a:lnTo>
                    <a:cubicBezTo>
                      <a:pt x="1972854" y="-16084"/>
                      <a:pt x="2109853" y="-15991"/>
                      <a:pt x="2221098" y="48236"/>
                    </a:cubicBezTo>
                    <a:lnTo>
                      <a:pt x="3912450" y="1024739"/>
                    </a:lnTo>
                    <a:cubicBezTo>
                      <a:pt x="4023695" y="1088966"/>
                      <a:pt x="4092275" y="1207564"/>
                      <a:pt x="4092449" y="1336019"/>
                    </a:cubicBezTo>
                    <a:lnTo>
                      <a:pt x="4095081" y="3275664"/>
                    </a:lnTo>
                    <a:cubicBezTo>
                      <a:pt x="4095257" y="3404724"/>
                      <a:pt x="4026515" y="3523788"/>
                      <a:pt x="3914658" y="3588166"/>
                    </a:cubicBezTo>
                    <a:lnTo>
                      <a:pt x="2233561" y="4555710"/>
                    </a:lnTo>
                    <a:cubicBezTo>
                      <a:pt x="2122228" y="4619786"/>
                      <a:pt x="1985230" y="4619693"/>
                      <a:pt x="1873984" y="4555466"/>
                    </a:cubicBezTo>
                    <a:lnTo>
                      <a:pt x="182632" y="3578963"/>
                    </a:lnTo>
                    <a:cubicBezTo>
                      <a:pt x="71387" y="3514736"/>
                      <a:pt x="2807" y="3396138"/>
                      <a:pt x="2632" y="3267683"/>
                    </a:cubicBezTo>
                    <a:lnTo>
                      <a:pt x="1" y="1328038"/>
                    </a:lnTo>
                    <a:cubicBezTo>
                      <a:pt x="-174" y="1198978"/>
                      <a:pt x="68567" y="1079915"/>
                      <a:pt x="180423" y="1015536"/>
                    </a:cubicBezTo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41300" dist="889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 fontAlgn="base"/>
                <a:endParaRPr lang="zh-CN" altLang="en-US" sz="1575" strike="noStrike" kern="0" noProof="1">
                  <a:solidFill>
                    <a:prstClr val="white"/>
                  </a:solidFill>
                  <a:latin typeface="汉仪雅酷黑 45W" panose="020B0404020202020204" pitchFamily="34" charset="-122"/>
                  <a:cs typeface="汉仪雅酷黑 45W" panose="020B0404020202020204" pitchFamily="34" charset="-122"/>
                </a:endParaRPr>
              </a:p>
            </p:txBody>
          </p:sp>
          <p:sp>
            <p:nvSpPr>
              <p:cNvPr id="98" name="六边形 4"/>
              <p:cNvSpPr/>
              <p:nvPr/>
            </p:nvSpPr>
            <p:spPr>
              <a:xfrm>
                <a:off x="7180" y="3905"/>
                <a:ext cx="314" cy="353"/>
              </a:xfrm>
              <a:custGeom>
                <a:avLst/>
                <a:gdLst>
                  <a:gd name="connsiteX0" fmla="*/ 180423 w 4095081"/>
                  <a:gd name="connsiteY0" fmla="*/ 1015536 h 4603701"/>
                  <a:gd name="connsiteX1" fmla="*/ 1861521 w 4095081"/>
                  <a:gd name="connsiteY1" fmla="*/ 47992 h 4603701"/>
                  <a:gd name="connsiteX2" fmla="*/ 2221098 w 4095081"/>
                  <a:gd name="connsiteY2" fmla="*/ 48236 h 4603701"/>
                  <a:gd name="connsiteX3" fmla="*/ 3912450 w 4095081"/>
                  <a:gd name="connsiteY3" fmla="*/ 1024739 h 4603701"/>
                  <a:gd name="connsiteX4" fmla="*/ 4092449 w 4095081"/>
                  <a:gd name="connsiteY4" fmla="*/ 1336019 h 4603701"/>
                  <a:gd name="connsiteX5" fmla="*/ 4095081 w 4095081"/>
                  <a:gd name="connsiteY5" fmla="*/ 3275664 h 4603701"/>
                  <a:gd name="connsiteX6" fmla="*/ 3914658 w 4095081"/>
                  <a:gd name="connsiteY6" fmla="*/ 3588166 h 4603701"/>
                  <a:gd name="connsiteX7" fmla="*/ 2233561 w 4095081"/>
                  <a:gd name="connsiteY7" fmla="*/ 4555710 h 4603701"/>
                  <a:gd name="connsiteX8" fmla="*/ 1873984 w 4095081"/>
                  <a:gd name="connsiteY8" fmla="*/ 4555466 h 4603701"/>
                  <a:gd name="connsiteX9" fmla="*/ 182632 w 4095081"/>
                  <a:gd name="connsiteY9" fmla="*/ 3578963 h 4603701"/>
                  <a:gd name="connsiteX10" fmla="*/ 2632 w 4095081"/>
                  <a:gd name="connsiteY10" fmla="*/ 3267683 h 4603701"/>
                  <a:gd name="connsiteX11" fmla="*/ 1 w 4095081"/>
                  <a:gd name="connsiteY11" fmla="*/ 1328038 h 4603701"/>
                  <a:gd name="connsiteX12" fmla="*/ 180423 w 4095081"/>
                  <a:gd name="connsiteY12" fmla="*/ 1015536 h 4603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095081" h="4603701">
                    <a:moveTo>
                      <a:pt x="180423" y="1015536"/>
                    </a:moveTo>
                    <a:lnTo>
                      <a:pt x="1861521" y="47992"/>
                    </a:lnTo>
                    <a:cubicBezTo>
                      <a:pt x="1972854" y="-16084"/>
                      <a:pt x="2109853" y="-15991"/>
                      <a:pt x="2221098" y="48236"/>
                    </a:cubicBezTo>
                    <a:lnTo>
                      <a:pt x="3912450" y="1024739"/>
                    </a:lnTo>
                    <a:cubicBezTo>
                      <a:pt x="4023695" y="1088966"/>
                      <a:pt x="4092275" y="1207564"/>
                      <a:pt x="4092449" y="1336019"/>
                    </a:cubicBezTo>
                    <a:lnTo>
                      <a:pt x="4095081" y="3275664"/>
                    </a:lnTo>
                    <a:cubicBezTo>
                      <a:pt x="4095257" y="3404724"/>
                      <a:pt x="4026515" y="3523788"/>
                      <a:pt x="3914658" y="3588166"/>
                    </a:cubicBezTo>
                    <a:lnTo>
                      <a:pt x="2233561" y="4555710"/>
                    </a:lnTo>
                    <a:cubicBezTo>
                      <a:pt x="2122228" y="4619786"/>
                      <a:pt x="1985230" y="4619693"/>
                      <a:pt x="1873984" y="4555466"/>
                    </a:cubicBezTo>
                    <a:lnTo>
                      <a:pt x="182632" y="3578963"/>
                    </a:lnTo>
                    <a:cubicBezTo>
                      <a:pt x="71387" y="3514736"/>
                      <a:pt x="2807" y="3396138"/>
                      <a:pt x="2632" y="3267683"/>
                    </a:cubicBezTo>
                    <a:lnTo>
                      <a:pt x="1" y="1328038"/>
                    </a:lnTo>
                    <a:cubicBezTo>
                      <a:pt x="-174" y="1198978"/>
                      <a:pt x="68567" y="1079915"/>
                      <a:pt x="180423" y="1015536"/>
                    </a:cubicBezTo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41300" dist="889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 fontAlgn="base"/>
                <a:endParaRPr lang="zh-CN" altLang="en-US" sz="1575" strike="noStrike" kern="0" noProof="1">
                  <a:solidFill>
                    <a:prstClr val="white"/>
                  </a:solidFill>
                  <a:latin typeface="汉仪雅酷黑 45W" panose="020B0404020202020204" pitchFamily="34" charset="-122"/>
                  <a:cs typeface="汉仪雅酷黑 45W" panose="020B0404020202020204" pitchFamily="34" charset="-122"/>
                </a:endParaRPr>
              </a:p>
            </p:txBody>
          </p:sp>
          <p:grpSp>
            <p:nvGrpSpPr>
              <p:cNvPr id="99" name="组合 98"/>
              <p:cNvGrpSpPr/>
              <p:nvPr/>
            </p:nvGrpSpPr>
            <p:grpSpPr>
              <a:xfrm>
                <a:off x="4106" y="8002"/>
                <a:ext cx="6341" cy="1508"/>
                <a:chOff x="4105" y="8571"/>
                <a:chExt cx="8455" cy="2011"/>
              </a:xfrm>
              <a:effectLst>
                <a:outerShdw blurRad="25400" dist="12700" dir="4500000" algn="tr" rotWithShape="0">
                  <a:prstClr val="black">
                    <a:alpha val="34000"/>
                  </a:prstClr>
                </a:outerShdw>
              </a:effectLst>
            </p:grpSpPr>
            <p:sp>
              <p:nvSpPr>
                <p:cNvPr id="100" name="矩形 99"/>
                <p:cNvSpPr/>
                <p:nvPr/>
              </p:nvSpPr>
              <p:spPr>
                <a:xfrm>
                  <a:off x="4105" y="9383"/>
                  <a:ext cx="8455" cy="1199"/>
                </a:xfrm>
                <a:prstGeom prst="rect">
                  <a:avLst/>
                </a:prstGeom>
                <a:ln>
                  <a:solidFill>
                    <a:srgbClr val="292B30"/>
                  </a:solidFill>
                </a:ln>
              </p:spPr>
              <p:txBody>
                <a:bodyPr wrap="square">
                  <a:spAutoFit/>
                </a:bodyPr>
                <a:p>
                  <a:pPr marL="0" marR="0" lvl="0" indent="0" algn="ctr" defTabSz="91440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生成高效的代码：研究循环优化、指令调度、目标平台优化等内容</a:t>
                  </a:r>
                  <a:endPara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01" name="文本框 100"/>
                <p:cNvSpPr txBox="1"/>
                <p:nvPr/>
              </p:nvSpPr>
              <p:spPr>
                <a:xfrm>
                  <a:off x="6951" y="8571"/>
                  <a:ext cx="3033" cy="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pPr fontAlgn="base"/>
                  <a:r>
                    <a:rPr lang="zh-CN" altLang="en-US" sz="1800" b="1" strike="noStrike" noProof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  <a:cs typeface="思源黑体 Bold" charset="-122"/>
                    </a:rPr>
                    <a:t>编译</a:t>
                  </a:r>
                  <a:r>
                    <a:rPr lang="en-US" altLang="zh-CN" sz="1800" b="1" strike="noStrike" noProof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  <a:cs typeface="思源黑体 Bold" charset="-122"/>
                    </a:rPr>
                    <a:t>2.0</a:t>
                  </a:r>
                  <a:r>
                    <a:rPr lang="zh-CN" altLang="en-US" sz="1800" b="1" strike="noStrike" noProof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  <a:cs typeface="思源黑体 Bold" charset="-122"/>
                    </a:rPr>
                    <a:t>时代</a:t>
                  </a:r>
                  <a:endParaRPr lang="zh-CN" altLang="en-US" sz="1800" b="1" strike="noStrike" noProof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思源黑体 Bold" charset="-122"/>
                  </a:endParaRPr>
                </a:p>
              </p:txBody>
            </p:sp>
          </p:grpSp>
          <p:grpSp>
            <p:nvGrpSpPr>
              <p:cNvPr id="102" name="组合 53"/>
              <p:cNvGrpSpPr/>
              <p:nvPr/>
            </p:nvGrpSpPr>
            <p:grpSpPr>
              <a:xfrm>
                <a:off x="3396" y="4270"/>
                <a:ext cx="4042" cy="3240"/>
                <a:chOff x="4401" y="144"/>
                <a:chExt cx="5390" cy="4320"/>
              </a:xfrm>
            </p:grpSpPr>
            <p:grpSp>
              <p:nvGrpSpPr>
                <p:cNvPr id="103" name="组合 39"/>
                <p:cNvGrpSpPr/>
                <p:nvPr/>
              </p:nvGrpSpPr>
              <p:grpSpPr>
                <a:xfrm>
                  <a:off x="5336" y="144"/>
                  <a:ext cx="4455" cy="4253"/>
                  <a:chOff x="1412" y="2270"/>
                  <a:chExt cx="3911" cy="2837"/>
                </a:xfrm>
              </p:grpSpPr>
              <p:sp>
                <p:nvSpPr>
                  <p:cNvPr id="104" name="任意多边形: 形状 3"/>
                  <p:cNvSpPr/>
                  <p:nvPr/>
                </p:nvSpPr>
                <p:spPr>
                  <a:xfrm rot="10800000" flipV="1">
                    <a:off x="1412" y="2270"/>
                    <a:ext cx="3911" cy="2837"/>
                  </a:xfrm>
                  <a:custGeom>
                    <a:avLst/>
                    <a:gdLst>
                      <a:gd name="connsiteX0" fmla="*/ 0 w 2539997"/>
                      <a:gd name="connsiteY0" fmla="*/ 1678631 h 1678631"/>
                      <a:gd name="connsiteX1" fmla="*/ 2539997 w 2539997"/>
                      <a:gd name="connsiteY1" fmla="*/ 1678631 h 1678631"/>
                      <a:gd name="connsiteX2" fmla="*/ 2539997 w 2539997"/>
                      <a:gd name="connsiteY2" fmla="*/ 167903 h 1678631"/>
                      <a:gd name="connsiteX3" fmla="*/ 1367382 w 2539997"/>
                      <a:gd name="connsiteY3" fmla="*/ 167903 h 1678631"/>
                      <a:gd name="connsiteX4" fmla="*/ 1269998 w 2539997"/>
                      <a:gd name="connsiteY4" fmla="*/ 0 h 1678631"/>
                      <a:gd name="connsiteX5" fmla="*/ 1172614 w 2539997"/>
                      <a:gd name="connsiteY5" fmla="*/ 167903 h 1678631"/>
                      <a:gd name="connsiteX6" fmla="*/ 0 w 2539997"/>
                      <a:gd name="connsiteY6" fmla="*/ 167903 h 16786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539997" h="1678631">
                        <a:moveTo>
                          <a:pt x="0" y="1678631"/>
                        </a:moveTo>
                        <a:lnTo>
                          <a:pt x="2539997" y="1678631"/>
                        </a:lnTo>
                        <a:lnTo>
                          <a:pt x="2539997" y="167903"/>
                        </a:lnTo>
                        <a:lnTo>
                          <a:pt x="1367382" y="167903"/>
                        </a:lnTo>
                        <a:lnTo>
                          <a:pt x="1269998" y="0"/>
                        </a:lnTo>
                        <a:lnTo>
                          <a:pt x="1172614" y="167903"/>
                        </a:lnTo>
                        <a:lnTo>
                          <a:pt x="0" y="167903"/>
                        </a:lnTo>
                        <a:close/>
                      </a:path>
                    </a:pathLst>
                  </a:custGeom>
                  <a:solidFill>
                    <a:sysClr val="window" lastClr="FFFFFF"/>
                  </a:solidFill>
                  <a:ln w="12700" cap="flat" cmpd="sng" algn="ctr">
                    <a:solidFill>
                      <a:srgbClr val="292B30"/>
                    </a:solidFill>
                    <a:prstDash val="solid"/>
                    <a:miter lim="800000"/>
                  </a:ln>
                  <a:effectLst>
                    <a:outerShdw blurRad="241300" dist="88900" dir="2700000" algn="tl" rotWithShape="0">
                      <a:prstClr val="black">
                        <a:alpha val="17000"/>
                      </a:prstClr>
                    </a:outerShdw>
                  </a:effectLst>
                </p:spPr>
                <p:txBody>
  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  <a:noAutofit/>
                  </a:bodyPr>
                  <a:lstStyle/>
                  <a:p>
                    <a:pPr algn="ctr" fontAlgn="base">
                      <a:defRPr/>
                    </a:pPr>
                    <a:endParaRPr lang="zh-CN" altLang="en-US" sz="1575" strike="noStrike" kern="0" noProof="1">
                      <a:solidFill>
                        <a:prstClr val="white"/>
                      </a:solidFill>
                      <a:latin typeface="汉仪雅酷黑 45W" panose="020B0404020202020204" pitchFamily="34" charset="-122"/>
                      <a:cs typeface="汉仪雅酷黑 45W" panose="020B0404020202020204" pitchFamily="34" charset="-122"/>
                    </a:endParaRPr>
                  </a:p>
                </p:txBody>
              </p:sp>
              <p:sp>
                <p:nvSpPr>
                  <p:cNvPr id="105" name="文本框 104"/>
                  <p:cNvSpPr txBox="1"/>
                  <p:nvPr/>
                </p:nvSpPr>
                <p:spPr>
                  <a:xfrm>
                    <a:off x="1909" y="2572"/>
                    <a:ext cx="3037" cy="51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800" b="1" u="sng" noProof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思源黑体 Bold" charset="-122"/>
                        <a:ea typeface="思源黑体 Bold" charset="-122"/>
                        <a:cs typeface="思源黑体 Bold" charset="-122"/>
                      </a:rPr>
                      <a:t>20世纪60年代</a:t>
                    </a:r>
                    <a:endParaRPr lang="zh-CN" altLang="en-US" sz="1800" b="1" noProof="1" dirty="0">
                      <a:latin typeface="思源黑体 Bold" charset="-122"/>
                      <a:ea typeface="思源黑体 Bold" charset="-122"/>
                      <a:cs typeface="思源黑体 Bold" charset="-122"/>
                    </a:endParaRPr>
                  </a:p>
                </p:txBody>
              </p:sp>
            </p:grpSp>
            <p:sp>
              <p:nvSpPr>
                <p:cNvPr id="106" name="矩形 105"/>
                <p:cNvSpPr/>
                <p:nvPr/>
              </p:nvSpPr>
              <p:spPr>
                <a:xfrm>
                  <a:off x="4401" y="1218"/>
                  <a:ext cx="5325" cy="3246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p>
                  <a:pPr lvl="1" indent="0" algn="l" fontAlgn="auto">
                    <a:lnSpc>
                      <a:spcPct val="100000"/>
                    </a:lnSpc>
                    <a:buClr>
                      <a:srgbClr val="7F7F7F"/>
                    </a:buClr>
                    <a:buNone/>
                    <a:defRPr/>
                  </a:pPr>
                  <a:r>
                    <a:rPr lang="en-US" altLang="zh-CN" sz="1050" b="1" u="sng" strike="noStrike" kern="0" spc="10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思源黑体 Regular" panose="020B0500000000000000" charset="-122"/>
                      <a:sym typeface="+mn-ea"/>
                    </a:rPr>
                    <a:t>自展技术</a:t>
                  </a:r>
                  <a:r>
                    <a:rPr lang="en-US" altLang="zh-CN" sz="1050" strike="noStrike" kern="0" spc="10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  <a:sym typeface="+mn-ea"/>
                    </a:rPr>
                    <a:t>——用被编译的语言来书写该语言自身的编译程序</a:t>
                  </a:r>
                  <a:endParaRPr lang="en-US" altLang="zh-CN" sz="1050" strike="noStrike" kern="0" spc="10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  <a:sym typeface="+mn-ea"/>
                  </a:endParaRPr>
                </a:p>
                <a:p>
                  <a:pPr lvl="1" indent="0" algn="l" fontAlgn="auto">
                    <a:lnSpc>
                      <a:spcPct val="100000"/>
                    </a:lnSpc>
                    <a:buClr>
                      <a:srgbClr val="7F7F7F"/>
                    </a:buClr>
                    <a:buNone/>
                    <a:defRPr/>
                  </a:pPr>
                  <a:r>
                    <a:rPr kumimoji="0" lang="en-US" altLang="zh-CN" sz="105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Chomsky文法体系中的</a:t>
                  </a:r>
                  <a:r>
                    <a:rPr kumimoji="0" lang="en-US" altLang="zh-CN" sz="1050" b="1" i="0" u="sng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思源黑体 Regular" panose="020B0500000000000000" charset="-122"/>
                    </a:rPr>
                    <a:t>上下文无关文法</a:t>
                  </a:r>
                  <a:r>
                    <a:rPr kumimoji="0" lang="zh-CN" altLang="en-US" sz="1050" b="1" i="0" u="sng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思源黑体 Regular" panose="020B0500000000000000" charset="-122"/>
                    </a:rPr>
                    <a:t>、正则表达式</a:t>
                  </a:r>
                  <a:r>
                    <a:rPr kumimoji="0" lang="en-US" altLang="zh-CN" sz="105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开始被广泛应用于编译器</a:t>
                  </a:r>
                  <a:endParaRPr kumimoji="0" lang="en-US" altLang="zh-CN" sz="1050" b="0" i="0" u="none" strike="noStrike" kern="0" cap="none" spc="10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</a:endParaRPr>
                </a:p>
                <a:p>
                  <a:pPr lvl="1" indent="0" algn="l" fontAlgn="auto">
                    <a:lnSpc>
                      <a:spcPct val="100000"/>
                    </a:lnSpc>
                    <a:buClr>
                      <a:srgbClr val="7F7F7F"/>
                    </a:buClr>
                    <a:buNone/>
                    <a:defRPr/>
                  </a:pPr>
                  <a:r>
                    <a:rPr kumimoji="0" lang="zh-CN" altLang="en-US" sz="105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开始研究</a:t>
                  </a:r>
                  <a:r>
                    <a:rPr kumimoji="0" lang="zh-CN" altLang="en-US" sz="1050" b="1" i="0" u="sng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思源黑体 Regular" panose="020B0500000000000000" charset="-122"/>
                    </a:rPr>
                    <a:t>并行化</a:t>
                  </a:r>
                  <a:r>
                    <a:rPr kumimoji="0" lang="en-US" altLang="zh-CN" sz="105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——</a:t>
                  </a:r>
                  <a:r>
                    <a:rPr kumimoji="0" lang="zh-CN" altLang="en-US" sz="105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实现编译器指令级并行、自动向量化</a:t>
                  </a:r>
                  <a:endParaRPr kumimoji="0" lang="zh-CN" altLang="en-US" sz="1050" b="0" i="0" u="none" strike="noStrike" kern="0" cap="none" spc="10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</a:endParaRPr>
                </a:p>
              </p:txBody>
            </p:sp>
          </p:grpSp>
          <p:grpSp>
            <p:nvGrpSpPr>
              <p:cNvPr id="107" name="组合 54"/>
              <p:cNvGrpSpPr/>
              <p:nvPr/>
            </p:nvGrpSpPr>
            <p:grpSpPr>
              <a:xfrm>
                <a:off x="4854" y="1602"/>
                <a:ext cx="5650" cy="2290"/>
                <a:chOff x="5036" y="552"/>
                <a:chExt cx="7535" cy="3054"/>
              </a:xfrm>
            </p:grpSpPr>
            <p:sp>
              <p:nvSpPr>
                <p:cNvPr id="108" name="任意多边形: 形状 11"/>
                <p:cNvSpPr/>
                <p:nvPr/>
              </p:nvSpPr>
              <p:spPr>
                <a:xfrm flipV="1">
                  <a:off x="6047" y="1216"/>
                  <a:ext cx="6524" cy="2390"/>
                </a:xfrm>
                <a:custGeom>
                  <a:avLst/>
                  <a:gdLst>
                    <a:gd name="connsiteX0" fmla="*/ 0 w 2539997"/>
                    <a:gd name="connsiteY0" fmla="*/ 1678631 h 1678631"/>
                    <a:gd name="connsiteX1" fmla="*/ 2539997 w 2539997"/>
                    <a:gd name="connsiteY1" fmla="*/ 1678631 h 1678631"/>
                    <a:gd name="connsiteX2" fmla="*/ 2539997 w 2539997"/>
                    <a:gd name="connsiteY2" fmla="*/ 167903 h 1678631"/>
                    <a:gd name="connsiteX3" fmla="*/ 1367382 w 2539997"/>
                    <a:gd name="connsiteY3" fmla="*/ 167903 h 1678631"/>
                    <a:gd name="connsiteX4" fmla="*/ 1269998 w 2539997"/>
                    <a:gd name="connsiteY4" fmla="*/ 0 h 1678631"/>
                    <a:gd name="connsiteX5" fmla="*/ 1172614 w 2539997"/>
                    <a:gd name="connsiteY5" fmla="*/ 167903 h 1678631"/>
                    <a:gd name="connsiteX6" fmla="*/ 0 w 2539997"/>
                    <a:gd name="connsiteY6" fmla="*/ 167903 h 1678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39997" h="1678631">
                      <a:moveTo>
                        <a:pt x="0" y="1678631"/>
                      </a:moveTo>
                      <a:lnTo>
                        <a:pt x="2539997" y="1678631"/>
                      </a:lnTo>
                      <a:lnTo>
                        <a:pt x="2539997" y="167903"/>
                      </a:lnTo>
                      <a:lnTo>
                        <a:pt x="1367382" y="167903"/>
                      </a:lnTo>
                      <a:lnTo>
                        <a:pt x="1269998" y="0"/>
                      </a:lnTo>
                      <a:lnTo>
                        <a:pt x="1172614" y="167903"/>
                      </a:lnTo>
                      <a:lnTo>
                        <a:pt x="0" y="167903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solidFill>
                    <a:srgbClr val="292B30"/>
                  </a:solidFill>
                  <a:prstDash val="solid"/>
                  <a:miter lim="800000"/>
                </a:ln>
                <a:effectLst>
                  <a:outerShdw blurRad="241300" dist="88900" dir="2700000" algn="tl" rotWithShape="0">
                    <a:prstClr val="black">
                      <a:alpha val="17000"/>
                    </a:prstClr>
                  </a:outerShdw>
                </a:effectLst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noAutofit/>
                </a:bodyPr>
                <a:p>
                  <a:pPr algn="ctr" fontAlgn="base">
                    <a:defRPr/>
                  </a:pPr>
                  <a:endParaRPr lang="zh-CN" altLang="en-US" sz="1575" strike="noStrike" kern="0" noProof="1">
                    <a:solidFill>
                      <a:prstClr val="white"/>
                    </a:solidFill>
                    <a:latin typeface="汉仪雅酷黑 45W" panose="020B0404020202020204" pitchFamily="34" charset="-122"/>
                    <a:cs typeface="汉仪雅酷黑 45W" panose="020B0404020202020204" pitchFamily="34" charset="-122"/>
                  </a:endParaRPr>
                </a:p>
              </p:txBody>
            </p:sp>
            <p:sp>
              <p:nvSpPr>
                <p:cNvPr id="109" name="文本框 108"/>
                <p:cNvSpPr txBox="1"/>
                <p:nvPr/>
              </p:nvSpPr>
              <p:spPr>
                <a:xfrm>
                  <a:off x="6150" y="552"/>
                  <a:ext cx="4507" cy="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p>
                  <a:r>
                    <a:rPr lang="zh-CN" altLang="en-US" sz="1800" b="1" u="sng" noProof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思源黑体 Bold" charset="-122"/>
                      <a:ea typeface="思源黑体 Bold" charset="-122"/>
                      <a:cs typeface="思源黑体 Bold" charset="-122"/>
                    </a:rPr>
                    <a:t>2</a:t>
                  </a:r>
                  <a:r>
                    <a:rPr lang="zh-CN" altLang="en-US" sz="1800" b="1" u="sng" noProof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思源黑体 Bold" charset="-122"/>
                      <a:ea typeface="思源黑体 Bold" charset="-122"/>
                      <a:cs typeface="思源黑体 Bold" charset="-122"/>
                      <a:sym typeface="+mn-ea"/>
                    </a:rPr>
                    <a:t>0世纪70、80年代</a:t>
                  </a:r>
                  <a:endParaRPr lang="en-US" altLang="zh-CN" sz="1800" b="1" noProof="1" dirty="0">
                    <a:latin typeface="思源黑体 Bold" charset="-122"/>
                    <a:ea typeface="思源黑体 Bold" charset="-122"/>
                    <a:cs typeface="思源黑体 Bold" charset="-122"/>
                  </a:endParaRPr>
                </a:p>
              </p:txBody>
            </p:sp>
            <p:sp>
              <p:nvSpPr>
                <p:cNvPr id="110" name="矩形 109"/>
                <p:cNvSpPr/>
                <p:nvPr/>
              </p:nvSpPr>
              <p:spPr>
                <a:xfrm>
                  <a:off x="5036" y="1350"/>
                  <a:ext cx="7535" cy="178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noAutofit/>
                </a:bodyPr>
                <a:p>
                  <a:pPr lvl="1" indent="0" algn="l" fontAlgn="base">
                    <a:lnSpc>
                      <a:spcPct val="150000"/>
                    </a:lnSpc>
                    <a:buClr>
                      <a:srgbClr val="7F7F7F"/>
                    </a:buClr>
                    <a:buNone/>
                    <a:defRPr/>
                  </a:pPr>
                  <a:r>
                    <a:rPr lang="zh-CN" altLang="en-US" sz="1000" strike="noStrike" spc="100" noProof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  <a:sym typeface="+mn-ea"/>
                    </a:rPr>
                    <a:t>编译器</a:t>
                  </a:r>
                  <a:r>
                    <a:rPr lang="zh-CN" altLang="en-US" sz="1000" strike="noStrike" spc="100" noProof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  <a:sym typeface="+mn-ea"/>
                    </a:rPr>
                    <a:t>其他部分自动生成</a:t>
                  </a:r>
                  <a:r>
                    <a:rPr lang="en-US" altLang="zh-CN" sz="1000" strike="noStrike" spc="100" noProof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  <a:sym typeface="+mn-ea"/>
                    </a:rPr>
                    <a:t>——</a:t>
                  </a:r>
                  <a:r>
                    <a:rPr lang="zh-CN" altLang="en-US" sz="1000" strike="noStrike" spc="100" noProof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  <a:sym typeface="+mn-ea"/>
                    </a:rPr>
                    <a:t>如</a:t>
                  </a:r>
                  <a:r>
                    <a:rPr lang="zh-CN" altLang="en-US" sz="1000" b="1" u="sng" strike="noStrike" spc="100" noProof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  <a:cs typeface="思源黑体 Regular" panose="020B0500000000000000" charset="-122"/>
                      <a:sym typeface="+mn-ea"/>
                    </a:rPr>
                    <a:t>代码的自动生成</a:t>
                  </a:r>
                  <a:endParaRPr lang="zh-CN" altLang="en-US" sz="1000" strike="noStrike" spc="100" noProof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  <a:sym typeface="+mn-ea"/>
                  </a:endParaRPr>
                </a:p>
                <a:p>
                  <a:pPr lvl="1" indent="0" algn="l" fontAlgn="auto">
                    <a:lnSpc>
                      <a:spcPct val="150000"/>
                    </a:lnSpc>
                    <a:buClr>
                      <a:srgbClr val="7F7F7F"/>
                    </a:buClr>
                    <a:buNone/>
                    <a:defRPr/>
                  </a:pPr>
                  <a:r>
                    <a:rPr kumimoji="0" lang="zh-CN" altLang="en-US" sz="100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  <a:sym typeface="+mn-ea"/>
                    </a:rPr>
                    <a:t>实现了</a:t>
                  </a:r>
                  <a:r>
                    <a:rPr kumimoji="0" lang="en-US" altLang="zh-CN" sz="1000" b="1" i="0" u="sng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YACC</a:t>
                  </a:r>
                  <a:r>
                    <a:rPr kumimoji="0" lang="zh-CN" altLang="en-US" sz="1000" b="1" i="0" u="sng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、</a:t>
                  </a:r>
                  <a:r>
                    <a:rPr kumimoji="0" lang="en-US" altLang="zh-CN" sz="1000" b="1" i="0" u="sng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LEX</a:t>
                  </a:r>
                  <a:r>
                    <a:rPr kumimoji="0" lang="zh-CN" altLang="en-US" sz="100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  <a:sym typeface="+mn-ea"/>
                    </a:rPr>
                    <a:t>工具</a:t>
                  </a:r>
                  <a:endParaRPr kumimoji="0" lang="zh-CN" altLang="en-US" sz="1000" b="0" i="0" u="none" strike="noStrike" kern="0" cap="none" spc="10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  <a:sym typeface="+mn-ea"/>
                  </a:endParaRPr>
                </a:p>
                <a:p>
                  <a:pPr lvl="1" indent="0" algn="l" fontAlgn="base">
                    <a:lnSpc>
                      <a:spcPct val="150000"/>
                    </a:lnSpc>
                    <a:buClr>
                      <a:srgbClr val="7F7F7F"/>
                    </a:buClr>
                    <a:buNone/>
                    <a:defRPr/>
                  </a:pPr>
                  <a:r>
                    <a:rPr lang="zh-CN" altLang="en-US" sz="1000" strike="noStrike" kern="0" spc="10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  <a:sym typeface="+mn-ea"/>
                    </a:rPr>
                    <a:t>提出</a:t>
                  </a:r>
                  <a:r>
                    <a:rPr lang="zh-CN" altLang="en-US" sz="1000" b="1" u="sng" strike="noStrike" kern="0" spc="10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思源黑体 Regular" panose="020B0500000000000000" charset="-122"/>
                      <a:sym typeface="+mn-ea"/>
                    </a:rPr>
                    <a:t>反馈制导</a:t>
                  </a:r>
                  <a:r>
                    <a:rPr lang="zh-CN" altLang="en-US" sz="1000" strike="noStrike" kern="0" spc="10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  <a:sym typeface="+mn-ea"/>
                    </a:rPr>
                    <a:t>的编译优化</a:t>
                  </a:r>
                  <a:endPara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</a:endParaRPr>
                </a:p>
                <a:p>
                  <a:pPr marL="742950" lvl="1" indent="-285750" algn="l" fontAlgn="base">
                    <a:lnSpc>
                      <a:spcPct val="150000"/>
                    </a:lnSpc>
                    <a:buClr>
                      <a:srgbClr val="7F7F7F"/>
                    </a:buClr>
                    <a:buFont typeface="等线 Light" panose="02010600030101010101" charset="-122"/>
                    <a:buChar char="•"/>
                    <a:defRPr/>
                  </a:pPr>
                  <a:endParaRPr kumimoji="0" lang="zh-CN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  <a:sym typeface="+mn-ea"/>
                  </a:endParaRPr>
                </a:p>
              </p:txBody>
            </p:sp>
          </p:grpSp>
          <p:sp>
            <p:nvSpPr>
              <p:cNvPr id="111" name="六边形 4"/>
              <p:cNvSpPr/>
              <p:nvPr/>
            </p:nvSpPr>
            <p:spPr>
              <a:xfrm>
                <a:off x="8740" y="3920"/>
                <a:ext cx="314" cy="353"/>
              </a:xfrm>
              <a:custGeom>
                <a:avLst/>
                <a:gdLst>
                  <a:gd name="connsiteX0" fmla="*/ 180423 w 4095081"/>
                  <a:gd name="connsiteY0" fmla="*/ 1015536 h 4603701"/>
                  <a:gd name="connsiteX1" fmla="*/ 1861521 w 4095081"/>
                  <a:gd name="connsiteY1" fmla="*/ 47992 h 4603701"/>
                  <a:gd name="connsiteX2" fmla="*/ 2221098 w 4095081"/>
                  <a:gd name="connsiteY2" fmla="*/ 48236 h 4603701"/>
                  <a:gd name="connsiteX3" fmla="*/ 3912450 w 4095081"/>
                  <a:gd name="connsiteY3" fmla="*/ 1024739 h 4603701"/>
                  <a:gd name="connsiteX4" fmla="*/ 4092449 w 4095081"/>
                  <a:gd name="connsiteY4" fmla="*/ 1336019 h 4603701"/>
                  <a:gd name="connsiteX5" fmla="*/ 4095081 w 4095081"/>
                  <a:gd name="connsiteY5" fmla="*/ 3275664 h 4603701"/>
                  <a:gd name="connsiteX6" fmla="*/ 3914658 w 4095081"/>
                  <a:gd name="connsiteY6" fmla="*/ 3588166 h 4603701"/>
                  <a:gd name="connsiteX7" fmla="*/ 2233561 w 4095081"/>
                  <a:gd name="connsiteY7" fmla="*/ 4555710 h 4603701"/>
                  <a:gd name="connsiteX8" fmla="*/ 1873984 w 4095081"/>
                  <a:gd name="connsiteY8" fmla="*/ 4555466 h 4603701"/>
                  <a:gd name="connsiteX9" fmla="*/ 182632 w 4095081"/>
                  <a:gd name="connsiteY9" fmla="*/ 3578963 h 4603701"/>
                  <a:gd name="connsiteX10" fmla="*/ 2632 w 4095081"/>
                  <a:gd name="connsiteY10" fmla="*/ 3267683 h 4603701"/>
                  <a:gd name="connsiteX11" fmla="*/ 1 w 4095081"/>
                  <a:gd name="connsiteY11" fmla="*/ 1328038 h 4603701"/>
                  <a:gd name="connsiteX12" fmla="*/ 180423 w 4095081"/>
                  <a:gd name="connsiteY12" fmla="*/ 1015536 h 4603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095081" h="4603701">
                    <a:moveTo>
                      <a:pt x="180423" y="1015536"/>
                    </a:moveTo>
                    <a:lnTo>
                      <a:pt x="1861521" y="47992"/>
                    </a:lnTo>
                    <a:cubicBezTo>
                      <a:pt x="1972854" y="-16084"/>
                      <a:pt x="2109853" y="-15991"/>
                      <a:pt x="2221098" y="48236"/>
                    </a:cubicBezTo>
                    <a:lnTo>
                      <a:pt x="3912450" y="1024739"/>
                    </a:lnTo>
                    <a:cubicBezTo>
                      <a:pt x="4023695" y="1088966"/>
                      <a:pt x="4092275" y="1207564"/>
                      <a:pt x="4092449" y="1336019"/>
                    </a:cubicBezTo>
                    <a:lnTo>
                      <a:pt x="4095081" y="3275664"/>
                    </a:lnTo>
                    <a:cubicBezTo>
                      <a:pt x="4095257" y="3404724"/>
                      <a:pt x="4026515" y="3523788"/>
                      <a:pt x="3914658" y="3588166"/>
                    </a:cubicBezTo>
                    <a:lnTo>
                      <a:pt x="2233561" y="4555710"/>
                    </a:lnTo>
                    <a:cubicBezTo>
                      <a:pt x="2122228" y="4619786"/>
                      <a:pt x="1985230" y="4619693"/>
                      <a:pt x="1873984" y="4555466"/>
                    </a:cubicBezTo>
                    <a:lnTo>
                      <a:pt x="182632" y="3578963"/>
                    </a:lnTo>
                    <a:cubicBezTo>
                      <a:pt x="71387" y="3514736"/>
                      <a:pt x="2807" y="3396138"/>
                      <a:pt x="2632" y="3267683"/>
                    </a:cubicBezTo>
                    <a:lnTo>
                      <a:pt x="1" y="1328038"/>
                    </a:lnTo>
                    <a:cubicBezTo>
                      <a:pt x="-174" y="1198978"/>
                      <a:pt x="68567" y="1079915"/>
                      <a:pt x="180423" y="1015536"/>
                    </a:cubicBezTo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41300" dist="889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 fontAlgn="base"/>
                <a:endParaRPr lang="zh-CN" altLang="en-US" sz="1575" strike="noStrike" kern="0" noProof="1">
                  <a:solidFill>
                    <a:prstClr val="white"/>
                  </a:solidFill>
                  <a:latin typeface="汉仪雅酷黑 45W" panose="020B0404020202020204" pitchFamily="34" charset="-122"/>
                  <a:cs typeface="汉仪雅酷黑 45W" panose="020B0404020202020204" pitchFamily="34" charset="-122"/>
                </a:endParaRPr>
              </a:p>
            </p:txBody>
          </p:sp>
          <p:grpSp>
            <p:nvGrpSpPr>
              <p:cNvPr id="112" name="组合 56"/>
              <p:cNvGrpSpPr/>
              <p:nvPr/>
            </p:nvGrpSpPr>
            <p:grpSpPr>
              <a:xfrm>
                <a:off x="7446" y="4291"/>
                <a:ext cx="3001" cy="2753"/>
                <a:chOff x="9881" y="4233"/>
                <a:chExt cx="4002" cy="3671"/>
              </a:xfrm>
            </p:grpSpPr>
            <p:sp>
              <p:nvSpPr>
                <p:cNvPr id="113" name="任意多边形: 形状 7"/>
                <p:cNvSpPr/>
                <p:nvPr/>
              </p:nvSpPr>
              <p:spPr>
                <a:xfrm rot="10800000" flipV="1">
                  <a:off x="9958" y="4233"/>
                  <a:ext cx="3723" cy="3524"/>
                </a:xfrm>
                <a:custGeom>
                  <a:avLst/>
                  <a:gdLst>
                    <a:gd name="connsiteX0" fmla="*/ 0 w 2539997"/>
                    <a:gd name="connsiteY0" fmla="*/ 1678631 h 1678631"/>
                    <a:gd name="connsiteX1" fmla="*/ 2539997 w 2539997"/>
                    <a:gd name="connsiteY1" fmla="*/ 1678631 h 1678631"/>
                    <a:gd name="connsiteX2" fmla="*/ 2539997 w 2539997"/>
                    <a:gd name="connsiteY2" fmla="*/ 167903 h 1678631"/>
                    <a:gd name="connsiteX3" fmla="*/ 1367382 w 2539997"/>
                    <a:gd name="connsiteY3" fmla="*/ 167903 h 1678631"/>
                    <a:gd name="connsiteX4" fmla="*/ 1269998 w 2539997"/>
                    <a:gd name="connsiteY4" fmla="*/ 0 h 1678631"/>
                    <a:gd name="connsiteX5" fmla="*/ 1172614 w 2539997"/>
                    <a:gd name="connsiteY5" fmla="*/ 167903 h 1678631"/>
                    <a:gd name="connsiteX6" fmla="*/ 0 w 2539997"/>
                    <a:gd name="connsiteY6" fmla="*/ 167903 h 1678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39997" h="1678631">
                      <a:moveTo>
                        <a:pt x="0" y="1678631"/>
                      </a:moveTo>
                      <a:lnTo>
                        <a:pt x="2539997" y="1678631"/>
                      </a:lnTo>
                      <a:lnTo>
                        <a:pt x="2539997" y="167903"/>
                      </a:lnTo>
                      <a:lnTo>
                        <a:pt x="1367382" y="167903"/>
                      </a:lnTo>
                      <a:lnTo>
                        <a:pt x="1269998" y="0"/>
                      </a:lnTo>
                      <a:lnTo>
                        <a:pt x="1172614" y="167903"/>
                      </a:lnTo>
                      <a:lnTo>
                        <a:pt x="0" y="167903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solidFill>
                    <a:srgbClr val="292B30"/>
                  </a:solidFill>
                  <a:prstDash val="solid"/>
                  <a:miter lim="800000"/>
                </a:ln>
                <a:effectLst>
                  <a:outerShdw blurRad="241300" dist="88900" dir="2700000" algn="tl" rotWithShape="0">
                    <a:prstClr val="black">
                      <a:alpha val="17000"/>
                    </a:prstClr>
                  </a:outerShdw>
                </a:effectLst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noAutofit/>
                </a:bodyPr>
                <a:lstStyle/>
                <a:p>
                  <a:pPr algn="ctr" fontAlgn="base">
                    <a:defRPr/>
                  </a:pPr>
                  <a:endParaRPr lang="zh-CN" altLang="en-US" sz="1575" strike="noStrike" kern="0" noProof="1">
                    <a:solidFill>
                      <a:prstClr val="white"/>
                    </a:solidFill>
                    <a:latin typeface="汉仪雅酷黑 45W" panose="020B0404020202020204" pitchFamily="34" charset="-122"/>
                    <a:cs typeface="汉仪雅酷黑 45W" panose="020B0404020202020204" pitchFamily="34" charset="-122"/>
                  </a:endParaRPr>
                </a:p>
              </p:txBody>
            </p:sp>
            <p:sp>
              <p:nvSpPr>
                <p:cNvPr id="114" name="文本框 113"/>
                <p:cNvSpPr txBox="1"/>
                <p:nvPr/>
              </p:nvSpPr>
              <p:spPr>
                <a:xfrm>
                  <a:off x="10294" y="4692"/>
                  <a:ext cx="3286" cy="7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800" b="1" u="sng" noProof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思源黑体 Bold" charset="-122"/>
                      <a:ea typeface="思源黑体 Bold" charset="-122"/>
                      <a:cs typeface="思源黑体 Bold" charset="-122"/>
                    </a:rPr>
                    <a:t>20世纪90年代</a:t>
                  </a:r>
                  <a:endParaRPr lang="zh-CN" altLang="en-US" sz="1800" b="1" noProof="1" dirty="0">
                    <a:latin typeface="思源黑体 Bold" charset="-122"/>
                    <a:ea typeface="思源黑体 Bold" charset="-122"/>
                    <a:cs typeface="思源黑体 Bold" charset="-122"/>
                  </a:endParaRPr>
                </a:p>
              </p:txBody>
            </p:sp>
            <p:sp>
              <p:nvSpPr>
                <p:cNvPr id="115" name="矩形 114"/>
                <p:cNvSpPr/>
                <p:nvPr/>
              </p:nvSpPr>
              <p:spPr>
                <a:xfrm>
                  <a:off x="9881" y="5168"/>
                  <a:ext cx="4002" cy="2736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marL="1270" marR="0" lvl="0" indent="0" algn="l" defTabSz="914400" fontAlgn="auto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r>
                    <a:rPr kumimoji="0" lang="en-US" altLang="zh-CN" sz="1050" b="1" i="0" u="sng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思源黑体 Regular" panose="020B0500000000000000" charset="-122"/>
                    </a:rPr>
                    <a:t>OpenMP</a:t>
                  </a:r>
                  <a:r>
                    <a:rPr kumimoji="0" lang="en-US" altLang="zh-CN" sz="1050" i="0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出现并取代了针对特定供应商的并行指令集</a:t>
                  </a:r>
                  <a:endParaRPr kumimoji="0" lang="en-US" altLang="zh-CN" sz="1050" i="0" strike="noStrike" kern="0" cap="none" spc="10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</a:endParaRPr>
                </a:p>
                <a:p>
                  <a:pPr marL="1270" marR="0" lvl="0" indent="0" algn="l" defTabSz="914400" fontAlgn="auto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r>
                    <a:rPr kumimoji="0" lang="en-US" altLang="zh-CN" sz="1050" i="0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提出</a:t>
                  </a:r>
                  <a:r>
                    <a:rPr kumimoji="0" lang="en-US" altLang="zh-CN" sz="1050" b="1" i="0" u="sng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思源黑体 Regular" panose="020B0500000000000000" charset="-122"/>
                    </a:rPr>
                    <a:t>SIMD</a:t>
                  </a:r>
                  <a:r>
                    <a:rPr kumimoji="0" lang="en-US" altLang="zh-CN" sz="1050" i="0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并应用于自动向量化</a:t>
                  </a:r>
                  <a:endParaRPr kumimoji="0" lang="en-US" altLang="zh-CN" sz="1050" i="0" strike="noStrike" kern="0" cap="none" spc="10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</a:endParaRPr>
                </a:p>
              </p:txBody>
            </p:sp>
          </p:grpSp>
        </p:grpSp>
        <p:grpSp>
          <p:nvGrpSpPr>
            <p:cNvPr id="116" name="组合 115"/>
            <p:cNvGrpSpPr/>
            <p:nvPr/>
          </p:nvGrpSpPr>
          <p:grpSpPr>
            <a:xfrm>
              <a:off x="12883" y="1895"/>
              <a:ext cx="4951" cy="7966"/>
              <a:chOff x="10554" y="1544"/>
              <a:chExt cx="4951" cy="7968"/>
            </a:xfrm>
          </p:grpSpPr>
          <p:grpSp>
            <p:nvGrpSpPr>
              <p:cNvPr id="117" name="组合 44"/>
              <p:cNvGrpSpPr/>
              <p:nvPr/>
            </p:nvGrpSpPr>
            <p:grpSpPr>
              <a:xfrm>
                <a:off x="11235" y="1544"/>
                <a:ext cx="4269" cy="2355"/>
                <a:chOff x="13863" y="2422"/>
                <a:chExt cx="5693" cy="3141"/>
              </a:xfrm>
            </p:grpSpPr>
            <p:sp>
              <p:nvSpPr>
                <p:cNvPr id="118" name="任意多边形: 形状 11"/>
                <p:cNvSpPr/>
                <p:nvPr/>
              </p:nvSpPr>
              <p:spPr>
                <a:xfrm flipV="1">
                  <a:off x="13904" y="2514"/>
                  <a:ext cx="5652" cy="3049"/>
                </a:xfrm>
                <a:custGeom>
                  <a:avLst/>
                  <a:gdLst>
                    <a:gd name="connsiteX0" fmla="*/ 0 w 2539997"/>
                    <a:gd name="connsiteY0" fmla="*/ 1678631 h 1678631"/>
                    <a:gd name="connsiteX1" fmla="*/ 2539997 w 2539997"/>
                    <a:gd name="connsiteY1" fmla="*/ 1678631 h 1678631"/>
                    <a:gd name="connsiteX2" fmla="*/ 2539997 w 2539997"/>
                    <a:gd name="connsiteY2" fmla="*/ 167903 h 1678631"/>
                    <a:gd name="connsiteX3" fmla="*/ 1367382 w 2539997"/>
                    <a:gd name="connsiteY3" fmla="*/ 167903 h 1678631"/>
                    <a:gd name="connsiteX4" fmla="*/ 1269998 w 2539997"/>
                    <a:gd name="connsiteY4" fmla="*/ 0 h 1678631"/>
                    <a:gd name="connsiteX5" fmla="*/ 1172614 w 2539997"/>
                    <a:gd name="connsiteY5" fmla="*/ 167903 h 1678631"/>
                    <a:gd name="connsiteX6" fmla="*/ 0 w 2539997"/>
                    <a:gd name="connsiteY6" fmla="*/ 167903 h 1678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39997" h="1678631">
                      <a:moveTo>
                        <a:pt x="0" y="1678631"/>
                      </a:moveTo>
                      <a:lnTo>
                        <a:pt x="2539997" y="1678631"/>
                      </a:lnTo>
                      <a:lnTo>
                        <a:pt x="2539997" y="167903"/>
                      </a:lnTo>
                      <a:lnTo>
                        <a:pt x="1367382" y="167903"/>
                      </a:lnTo>
                      <a:lnTo>
                        <a:pt x="1269998" y="0"/>
                      </a:lnTo>
                      <a:lnTo>
                        <a:pt x="1172614" y="167903"/>
                      </a:lnTo>
                      <a:lnTo>
                        <a:pt x="0" y="167903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solidFill>
                    <a:srgbClr val="292B30"/>
                  </a:solidFill>
                  <a:prstDash val="solid"/>
                  <a:miter lim="800000"/>
                </a:ln>
                <a:effectLst>
                  <a:outerShdw blurRad="241300" dist="88900" dir="2700000" algn="tl" rotWithShape="0">
                    <a:prstClr val="black">
                      <a:alpha val="17000"/>
                    </a:prstClr>
                  </a:outerShdw>
                </a:effectLst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noAutofit/>
                </a:bodyPr>
                <a:lstStyle/>
                <a:p>
                  <a:pPr algn="ctr" fontAlgn="base">
                    <a:defRPr/>
                  </a:pPr>
                  <a:endParaRPr lang="zh-CN" altLang="en-US" sz="1575" strike="noStrike" kern="0" noProof="1">
                    <a:solidFill>
                      <a:prstClr val="white"/>
                    </a:solidFill>
                    <a:latin typeface="汉仪雅酷黑 45W" panose="020B0404020202020204" pitchFamily="34" charset="-122"/>
                    <a:cs typeface="汉仪雅酷黑 45W" panose="020B0404020202020204" pitchFamily="34" charset="-122"/>
                  </a:endParaRPr>
                </a:p>
              </p:txBody>
            </p:sp>
            <p:sp>
              <p:nvSpPr>
                <p:cNvPr id="119" name="文本框 118"/>
                <p:cNvSpPr txBox="1"/>
                <p:nvPr/>
              </p:nvSpPr>
              <p:spPr>
                <a:xfrm>
                  <a:off x="15286" y="2422"/>
                  <a:ext cx="1350" cy="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800" b="1" u="sng" noProof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思源黑体 Bold" charset="-122"/>
                      <a:ea typeface="思源黑体 Bold" charset="-122"/>
                      <a:cs typeface="思源黑体 Bold" charset="-122"/>
                    </a:rPr>
                    <a:t>现在</a:t>
                  </a:r>
                  <a:endParaRPr lang="zh-CN" altLang="en-US" sz="1800" b="1" noProof="1" dirty="0">
                    <a:latin typeface="思源黑体 Bold" charset="-122"/>
                    <a:ea typeface="思源黑体 Bold" charset="-122"/>
                    <a:cs typeface="思源黑体 Bold" charset="-122"/>
                  </a:endParaRPr>
                </a:p>
              </p:txBody>
            </p:sp>
            <p:sp>
              <p:nvSpPr>
                <p:cNvPr id="120" name="矩形 119"/>
                <p:cNvSpPr/>
                <p:nvPr/>
              </p:nvSpPr>
              <p:spPr>
                <a:xfrm>
                  <a:off x="13863" y="2896"/>
                  <a:ext cx="5364" cy="204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marR="0" lvl="0" indent="0" algn="l" defTabSz="91440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r>
                    <a:rPr kumimoji="0" lang="en-US" altLang="zh-CN" sz="100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研究</a:t>
                  </a:r>
                  <a:r>
                    <a:rPr kumimoji="0" lang="en-US" altLang="zh-CN" sz="1000" b="1" i="0" u="sng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思源黑体 Regular" panose="020B0500000000000000" charset="-122"/>
                    </a:rPr>
                    <a:t>异构多核架构</a:t>
                  </a:r>
                  <a:r>
                    <a:rPr kumimoji="0" lang="en-US" altLang="zh-CN" sz="100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编译及编译优化问题</a:t>
                  </a:r>
                  <a:endParaRPr kumimoji="0" lang="en-US" altLang="zh-CN" sz="1000" b="0" i="0" u="none" strike="noStrike" kern="0" cap="none" spc="10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</a:endParaRPr>
                </a:p>
                <a:p>
                  <a:pPr marR="0" lvl="0" indent="0" algn="l" defTabSz="91440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r>
                    <a:rPr kumimoji="0" lang="en-US" altLang="zh-CN" sz="1000" b="1" i="0" u="sng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思源黑体 Regular" panose="020B0500000000000000" charset="-122"/>
                    </a:rPr>
                    <a:t>多学科交叉研究</a:t>
                  </a:r>
                  <a:r>
                    <a:rPr kumimoji="0" lang="en-US" altLang="zh-CN" sz="100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：</a:t>
                  </a:r>
                  <a:r>
                    <a:rPr kumimoji="0" lang="en-US" altLang="zh-CN" sz="1200" b="1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基于深度学习的编译技术</a:t>
                  </a:r>
                  <a:r>
                    <a:rPr kumimoji="0" lang="zh-CN" altLang="en-US" sz="1000" b="1" i="0" u="sng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（</a:t>
                  </a:r>
                  <a:r>
                    <a:rPr kumimoji="0" lang="en-US" altLang="zh-CN" sz="1000" b="1" i="0" u="sng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AI</a:t>
                  </a:r>
                  <a:r>
                    <a:rPr kumimoji="0" lang="zh-CN" altLang="en-US" sz="1000" b="1" i="0" u="sng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编译器）</a:t>
                  </a:r>
                  <a:r>
                    <a:rPr kumimoji="0" lang="en-US" altLang="zh-CN" sz="1000" i="0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等等</a:t>
                  </a:r>
                  <a:endParaRPr kumimoji="0" lang="en-US" altLang="zh-CN" sz="1000" b="1" i="0" u="sng" strike="noStrike" kern="0" cap="none" spc="10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</a:endParaRPr>
                </a:p>
              </p:txBody>
            </p:sp>
          </p:grpSp>
          <p:sp>
            <p:nvSpPr>
              <p:cNvPr id="121" name="六边形 4"/>
              <p:cNvSpPr/>
              <p:nvPr/>
            </p:nvSpPr>
            <p:spPr>
              <a:xfrm>
                <a:off x="11916" y="3922"/>
                <a:ext cx="314" cy="353"/>
              </a:xfrm>
              <a:custGeom>
                <a:avLst/>
                <a:gdLst>
                  <a:gd name="connsiteX0" fmla="*/ 180423 w 4095081"/>
                  <a:gd name="connsiteY0" fmla="*/ 1015536 h 4603701"/>
                  <a:gd name="connsiteX1" fmla="*/ 1861521 w 4095081"/>
                  <a:gd name="connsiteY1" fmla="*/ 47992 h 4603701"/>
                  <a:gd name="connsiteX2" fmla="*/ 2221098 w 4095081"/>
                  <a:gd name="connsiteY2" fmla="*/ 48236 h 4603701"/>
                  <a:gd name="connsiteX3" fmla="*/ 3912450 w 4095081"/>
                  <a:gd name="connsiteY3" fmla="*/ 1024739 h 4603701"/>
                  <a:gd name="connsiteX4" fmla="*/ 4092449 w 4095081"/>
                  <a:gd name="connsiteY4" fmla="*/ 1336019 h 4603701"/>
                  <a:gd name="connsiteX5" fmla="*/ 4095081 w 4095081"/>
                  <a:gd name="connsiteY5" fmla="*/ 3275664 h 4603701"/>
                  <a:gd name="connsiteX6" fmla="*/ 3914658 w 4095081"/>
                  <a:gd name="connsiteY6" fmla="*/ 3588166 h 4603701"/>
                  <a:gd name="connsiteX7" fmla="*/ 2233561 w 4095081"/>
                  <a:gd name="connsiteY7" fmla="*/ 4555710 h 4603701"/>
                  <a:gd name="connsiteX8" fmla="*/ 1873984 w 4095081"/>
                  <a:gd name="connsiteY8" fmla="*/ 4555466 h 4603701"/>
                  <a:gd name="connsiteX9" fmla="*/ 182632 w 4095081"/>
                  <a:gd name="connsiteY9" fmla="*/ 3578963 h 4603701"/>
                  <a:gd name="connsiteX10" fmla="*/ 2632 w 4095081"/>
                  <a:gd name="connsiteY10" fmla="*/ 3267683 h 4603701"/>
                  <a:gd name="connsiteX11" fmla="*/ 1 w 4095081"/>
                  <a:gd name="connsiteY11" fmla="*/ 1328038 h 4603701"/>
                  <a:gd name="connsiteX12" fmla="*/ 180423 w 4095081"/>
                  <a:gd name="connsiteY12" fmla="*/ 1015536 h 4603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095081" h="4603701">
                    <a:moveTo>
                      <a:pt x="180423" y="1015536"/>
                    </a:moveTo>
                    <a:lnTo>
                      <a:pt x="1861521" y="47992"/>
                    </a:lnTo>
                    <a:cubicBezTo>
                      <a:pt x="1972854" y="-16084"/>
                      <a:pt x="2109853" y="-15991"/>
                      <a:pt x="2221098" y="48236"/>
                    </a:cubicBezTo>
                    <a:lnTo>
                      <a:pt x="3912450" y="1024739"/>
                    </a:lnTo>
                    <a:cubicBezTo>
                      <a:pt x="4023695" y="1088966"/>
                      <a:pt x="4092275" y="1207564"/>
                      <a:pt x="4092449" y="1336019"/>
                    </a:cubicBezTo>
                    <a:lnTo>
                      <a:pt x="4095081" y="3275664"/>
                    </a:lnTo>
                    <a:cubicBezTo>
                      <a:pt x="4095257" y="3404724"/>
                      <a:pt x="4026515" y="3523788"/>
                      <a:pt x="3914658" y="3588166"/>
                    </a:cubicBezTo>
                    <a:lnTo>
                      <a:pt x="2233561" y="4555710"/>
                    </a:lnTo>
                    <a:cubicBezTo>
                      <a:pt x="2122228" y="4619786"/>
                      <a:pt x="1985230" y="4619693"/>
                      <a:pt x="1873984" y="4555466"/>
                    </a:cubicBezTo>
                    <a:lnTo>
                      <a:pt x="182632" y="3578963"/>
                    </a:lnTo>
                    <a:cubicBezTo>
                      <a:pt x="71387" y="3514736"/>
                      <a:pt x="2807" y="3396138"/>
                      <a:pt x="2632" y="3267683"/>
                    </a:cubicBezTo>
                    <a:lnTo>
                      <a:pt x="1" y="1328038"/>
                    </a:lnTo>
                    <a:cubicBezTo>
                      <a:pt x="-174" y="1198978"/>
                      <a:pt x="68567" y="1079915"/>
                      <a:pt x="180423" y="1015536"/>
                    </a:cubicBezTo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41300" dist="889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 fontAlgn="base"/>
                <a:endParaRPr lang="zh-CN" altLang="en-US" sz="1575" strike="noStrike" kern="0" noProof="1">
                  <a:solidFill>
                    <a:prstClr val="white"/>
                  </a:solidFill>
                  <a:latin typeface="汉仪雅酷黑 45W" panose="020B0404020202020204" pitchFamily="34" charset="-122"/>
                  <a:cs typeface="汉仪雅酷黑 45W" panose="020B0404020202020204" pitchFamily="34" charset="-122"/>
                </a:endParaRPr>
              </a:p>
            </p:txBody>
          </p:sp>
          <p:sp>
            <p:nvSpPr>
              <p:cNvPr id="122" name="六边形 4"/>
              <p:cNvSpPr/>
              <p:nvPr/>
            </p:nvSpPr>
            <p:spPr>
              <a:xfrm>
                <a:off x="12615" y="3917"/>
                <a:ext cx="314" cy="353"/>
              </a:xfrm>
              <a:custGeom>
                <a:avLst/>
                <a:gdLst>
                  <a:gd name="connsiteX0" fmla="*/ 180423 w 4095081"/>
                  <a:gd name="connsiteY0" fmla="*/ 1015536 h 4603701"/>
                  <a:gd name="connsiteX1" fmla="*/ 1861521 w 4095081"/>
                  <a:gd name="connsiteY1" fmla="*/ 47992 h 4603701"/>
                  <a:gd name="connsiteX2" fmla="*/ 2221098 w 4095081"/>
                  <a:gd name="connsiteY2" fmla="*/ 48236 h 4603701"/>
                  <a:gd name="connsiteX3" fmla="*/ 3912450 w 4095081"/>
                  <a:gd name="connsiteY3" fmla="*/ 1024739 h 4603701"/>
                  <a:gd name="connsiteX4" fmla="*/ 4092449 w 4095081"/>
                  <a:gd name="connsiteY4" fmla="*/ 1336019 h 4603701"/>
                  <a:gd name="connsiteX5" fmla="*/ 4095081 w 4095081"/>
                  <a:gd name="connsiteY5" fmla="*/ 3275664 h 4603701"/>
                  <a:gd name="connsiteX6" fmla="*/ 3914658 w 4095081"/>
                  <a:gd name="connsiteY6" fmla="*/ 3588166 h 4603701"/>
                  <a:gd name="connsiteX7" fmla="*/ 2233561 w 4095081"/>
                  <a:gd name="connsiteY7" fmla="*/ 4555710 h 4603701"/>
                  <a:gd name="connsiteX8" fmla="*/ 1873984 w 4095081"/>
                  <a:gd name="connsiteY8" fmla="*/ 4555466 h 4603701"/>
                  <a:gd name="connsiteX9" fmla="*/ 182632 w 4095081"/>
                  <a:gd name="connsiteY9" fmla="*/ 3578963 h 4603701"/>
                  <a:gd name="connsiteX10" fmla="*/ 2632 w 4095081"/>
                  <a:gd name="connsiteY10" fmla="*/ 3267683 h 4603701"/>
                  <a:gd name="connsiteX11" fmla="*/ 1 w 4095081"/>
                  <a:gd name="connsiteY11" fmla="*/ 1328038 h 4603701"/>
                  <a:gd name="connsiteX12" fmla="*/ 180423 w 4095081"/>
                  <a:gd name="connsiteY12" fmla="*/ 1015536 h 4603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095081" h="4603701">
                    <a:moveTo>
                      <a:pt x="180423" y="1015536"/>
                    </a:moveTo>
                    <a:lnTo>
                      <a:pt x="1861521" y="47992"/>
                    </a:lnTo>
                    <a:cubicBezTo>
                      <a:pt x="1972854" y="-16084"/>
                      <a:pt x="2109853" y="-15991"/>
                      <a:pt x="2221098" y="48236"/>
                    </a:cubicBezTo>
                    <a:lnTo>
                      <a:pt x="3912450" y="1024739"/>
                    </a:lnTo>
                    <a:cubicBezTo>
                      <a:pt x="4023695" y="1088966"/>
                      <a:pt x="4092275" y="1207564"/>
                      <a:pt x="4092449" y="1336019"/>
                    </a:cubicBezTo>
                    <a:lnTo>
                      <a:pt x="4095081" y="3275664"/>
                    </a:lnTo>
                    <a:cubicBezTo>
                      <a:pt x="4095257" y="3404724"/>
                      <a:pt x="4026515" y="3523788"/>
                      <a:pt x="3914658" y="3588166"/>
                    </a:cubicBezTo>
                    <a:lnTo>
                      <a:pt x="2233561" y="4555710"/>
                    </a:lnTo>
                    <a:cubicBezTo>
                      <a:pt x="2122228" y="4619786"/>
                      <a:pt x="1985230" y="4619693"/>
                      <a:pt x="1873984" y="4555466"/>
                    </a:cubicBezTo>
                    <a:lnTo>
                      <a:pt x="182632" y="3578963"/>
                    </a:lnTo>
                    <a:cubicBezTo>
                      <a:pt x="71387" y="3514736"/>
                      <a:pt x="2807" y="3396138"/>
                      <a:pt x="2632" y="3267683"/>
                    </a:cubicBezTo>
                    <a:lnTo>
                      <a:pt x="1" y="1328038"/>
                    </a:lnTo>
                    <a:cubicBezTo>
                      <a:pt x="-174" y="1198978"/>
                      <a:pt x="68567" y="1079915"/>
                      <a:pt x="180423" y="1015536"/>
                    </a:cubicBezTo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41300" dist="889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 fontAlgn="base"/>
                <a:endParaRPr lang="zh-CN" altLang="en-US" sz="1575" strike="noStrike" kern="0" noProof="1">
                  <a:solidFill>
                    <a:prstClr val="white"/>
                  </a:solidFill>
                  <a:latin typeface="汉仪雅酷黑 45W" panose="020B0404020202020204" pitchFamily="34" charset="-122"/>
                  <a:cs typeface="汉仪雅酷黑 45W" panose="020B0404020202020204" pitchFamily="34" charset="-122"/>
                </a:endParaRPr>
              </a:p>
            </p:txBody>
          </p:sp>
          <p:grpSp>
            <p:nvGrpSpPr>
              <p:cNvPr id="123" name="组合 122"/>
              <p:cNvGrpSpPr/>
              <p:nvPr/>
            </p:nvGrpSpPr>
            <p:grpSpPr>
              <a:xfrm>
                <a:off x="10853" y="7949"/>
                <a:ext cx="4652" cy="1563"/>
                <a:chOff x="14750" y="8532"/>
                <a:chExt cx="6203" cy="2083"/>
              </a:xfrm>
              <a:effectLst>
                <a:outerShdw blurRad="25400" dist="12700" dir="4500000" algn="tr" rotWithShape="0">
                  <a:prstClr val="black">
                    <a:alpha val="34000"/>
                  </a:prstClr>
                </a:outerShdw>
              </a:effectLst>
            </p:grpSpPr>
            <p:sp>
              <p:nvSpPr>
                <p:cNvPr id="124" name="矩形 123"/>
                <p:cNvSpPr/>
                <p:nvPr/>
              </p:nvSpPr>
              <p:spPr>
                <a:xfrm>
                  <a:off x="14750" y="9220"/>
                  <a:ext cx="6203" cy="1395"/>
                </a:xfrm>
                <a:prstGeom prst="rect">
                  <a:avLst/>
                </a:prstGeom>
                <a:ln>
                  <a:solidFill>
                    <a:srgbClr val="292B30"/>
                  </a:solidFill>
                </a:ln>
              </p:spPr>
              <p:txBody>
                <a:bodyPr wrap="square">
                  <a:noAutofit/>
                </a:bodyPr>
                <a:p>
                  <a:pPr marL="0" marR="0" lvl="0" indent="0" algn="ctr" defTabSz="91440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异构、自动并行，应用编译优化于安全、数据库、深度学习等等领域</a:t>
                  </a:r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</a:endParaRPr>
                </a:p>
              </p:txBody>
            </p:sp>
            <p:sp>
              <p:nvSpPr>
                <p:cNvPr id="125" name="文本框 124"/>
                <p:cNvSpPr txBox="1"/>
                <p:nvPr/>
              </p:nvSpPr>
              <p:spPr>
                <a:xfrm>
                  <a:off x="16993" y="8532"/>
                  <a:ext cx="3034" cy="77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pPr fontAlgn="base"/>
                  <a:r>
                    <a:rPr lang="zh-CN" altLang="en-US" sz="1800" b="1" strike="noStrike" noProof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  <a:cs typeface="思源黑体 Bold" charset="-122"/>
                    </a:rPr>
                    <a:t>编译</a:t>
                  </a:r>
                  <a:r>
                    <a:rPr lang="en-US" altLang="zh-CN" sz="1800" b="1" strike="noStrike" noProof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  <a:cs typeface="思源黑体 Bold" charset="-122"/>
                    </a:rPr>
                    <a:t>3.0</a:t>
                  </a:r>
                  <a:r>
                    <a:rPr lang="zh-CN" altLang="en-US" sz="1800" b="1" strike="noStrike" noProof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  <a:cs typeface="思源黑体 Bold" charset="-122"/>
                    </a:rPr>
                    <a:t>时代</a:t>
                  </a:r>
                  <a:endParaRPr lang="zh-CN" altLang="en-US" sz="1800" b="1" strike="noStrike" noProof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思源黑体 Bold" charset="-122"/>
                  </a:endParaRPr>
                </a:p>
              </p:txBody>
            </p:sp>
          </p:grpSp>
          <p:grpSp>
            <p:nvGrpSpPr>
              <p:cNvPr id="126" name="组合 42"/>
              <p:cNvGrpSpPr/>
              <p:nvPr/>
            </p:nvGrpSpPr>
            <p:grpSpPr>
              <a:xfrm>
                <a:off x="10554" y="4298"/>
                <a:ext cx="4839" cy="2909"/>
                <a:chOff x="10738" y="6237"/>
                <a:chExt cx="7380" cy="5004"/>
              </a:xfrm>
            </p:grpSpPr>
            <p:sp>
              <p:nvSpPr>
                <p:cNvPr id="127" name="任意多边形: 形状 9"/>
                <p:cNvSpPr/>
                <p:nvPr/>
              </p:nvSpPr>
              <p:spPr>
                <a:xfrm rot="10800000" flipV="1">
                  <a:off x="10738" y="6237"/>
                  <a:ext cx="7380" cy="4413"/>
                </a:xfrm>
                <a:custGeom>
                  <a:avLst/>
                  <a:gdLst>
                    <a:gd name="connsiteX0" fmla="*/ 0 w 2539997"/>
                    <a:gd name="connsiteY0" fmla="*/ 1678631 h 1678631"/>
                    <a:gd name="connsiteX1" fmla="*/ 2539997 w 2539997"/>
                    <a:gd name="connsiteY1" fmla="*/ 1678631 h 1678631"/>
                    <a:gd name="connsiteX2" fmla="*/ 2539997 w 2539997"/>
                    <a:gd name="connsiteY2" fmla="*/ 167903 h 1678631"/>
                    <a:gd name="connsiteX3" fmla="*/ 1367382 w 2539997"/>
                    <a:gd name="connsiteY3" fmla="*/ 167903 h 1678631"/>
                    <a:gd name="connsiteX4" fmla="*/ 1269998 w 2539997"/>
                    <a:gd name="connsiteY4" fmla="*/ 0 h 1678631"/>
                    <a:gd name="connsiteX5" fmla="*/ 1172614 w 2539997"/>
                    <a:gd name="connsiteY5" fmla="*/ 167903 h 1678631"/>
                    <a:gd name="connsiteX6" fmla="*/ 0 w 2539997"/>
                    <a:gd name="connsiteY6" fmla="*/ 167903 h 1678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39997" h="1678631">
                      <a:moveTo>
                        <a:pt x="0" y="1678631"/>
                      </a:moveTo>
                      <a:lnTo>
                        <a:pt x="2539997" y="1678631"/>
                      </a:lnTo>
                      <a:lnTo>
                        <a:pt x="2539997" y="167903"/>
                      </a:lnTo>
                      <a:lnTo>
                        <a:pt x="1367382" y="167903"/>
                      </a:lnTo>
                      <a:lnTo>
                        <a:pt x="1269998" y="0"/>
                      </a:lnTo>
                      <a:lnTo>
                        <a:pt x="1172614" y="167903"/>
                      </a:lnTo>
                      <a:lnTo>
                        <a:pt x="0" y="167903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12700" cap="flat" cmpd="sng" algn="ctr">
                  <a:solidFill>
                    <a:srgbClr val="292B30"/>
                  </a:solidFill>
                  <a:prstDash val="solid"/>
                  <a:miter lim="800000"/>
                </a:ln>
                <a:effectLst>
                  <a:outerShdw blurRad="241300" dist="88900" dir="2700000" algn="tl" rotWithShape="0">
                    <a:prstClr val="black">
                      <a:alpha val="17000"/>
                    </a:prstClr>
                  </a:outerShdw>
                </a:effectLst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noAutofit/>
                </a:bodyPr>
                <a:lstStyle/>
                <a:p>
                  <a:pPr algn="ctr" fontAlgn="base">
                    <a:defRPr/>
                  </a:pPr>
                  <a:endParaRPr lang="zh-CN" altLang="en-US" sz="1575" strike="noStrike" kern="0" noProof="1">
                    <a:solidFill>
                      <a:prstClr val="white"/>
                    </a:solidFill>
                    <a:latin typeface="汉仪雅酷黑 45W" panose="020B0404020202020204" pitchFamily="34" charset="-122"/>
                    <a:cs typeface="汉仪雅酷黑 45W" panose="020B0404020202020204" pitchFamily="34" charset="-122"/>
                  </a:endParaRPr>
                </a:p>
              </p:txBody>
            </p:sp>
            <p:sp>
              <p:nvSpPr>
                <p:cNvPr id="128" name="文本框 127"/>
                <p:cNvSpPr txBox="1"/>
                <p:nvPr/>
              </p:nvSpPr>
              <p:spPr>
                <a:xfrm>
                  <a:off x="11593" y="6931"/>
                  <a:ext cx="3098" cy="9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800" b="1" u="sng" noProof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思源黑体 Bold" charset="-122"/>
                      <a:ea typeface="思源黑体 Bold" charset="-122"/>
                      <a:cs typeface="思源黑体 Bold" charset="-122"/>
                    </a:rPr>
                    <a:t>21世纪初</a:t>
                  </a:r>
                  <a:endParaRPr lang="zh-CN" altLang="en-US" sz="1800" b="1" noProof="1" dirty="0">
                    <a:latin typeface="思源黑体 Bold" charset="-122"/>
                    <a:ea typeface="思源黑体 Bold" charset="-122"/>
                    <a:cs typeface="思源黑体 Bold" charset="-122"/>
                  </a:endParaRPr>
                </a:p>
              </p:txBody>
            </p:sp>
            <p:sp>
              <p:nvSpPr>
                <p:cNvPr id="129" name="矩形 128"/>
                <p:cNvSpPr/>
                <p:nvPr/>
              </p:nvSpPr>
              <p:spPr>
                <a:xfrm>
                  <a:off x="10787" y="7553"/>
                  <a:ext cx="7238" cy="3688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marR="0" lvl="0" indent="0" algn="l" defTabSz="914400" fontAlgn="auto">
                    <a:lnSpc>
                      <a:spcPct val="12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None/>
                    <a:defRPr/>
                  </a:pPr>
                  <a:r>
                    <a:rPr kumimoji="0" lang="en-US" altLang="zh-CN" sz="120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研究多核处理器的并行优化</a:t>
                  </a:r>
                  <a:r>
                    <a:rPr kumimoji="0" lang="zh-CN" altLang="en-US" sz="120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、</a:t>
                  </a:r>
                  <a:r>
                    <a:rPr kumimoji="0" lang="en-US" altLang="zh-CN" sz="120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循环级优化问题</a:t>
                  </a:r>
                  <a:r>
                    <a:rPr kumimoji="0" lang="zh-CN" altLang="en-US" sz="120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提出</a:t>
                  </a:r>
                  <a:r>
                    <a:rPr kumimoji="0" lang="en-US" altLang="zh-CN" b="1" i="0" u="sng" strike="noStrike" kern="0" cap="none" spc="100" normalizeH="0" baseline="0" noProof="0" dirty="0">
                      <a:ln>
                        <a:noFill/>
                      </a:ln>
                      <a:solidFill>
                        <a:schemeClr val="accent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uLnTx/>
                      <a:uFillTx/>
                      <a:latin typeface="微软雅黑" panose="020B0503020204020204" charset="-122"/>
                      <a:ea typeface="微软雅黑" panose="020B0503020204020204" charset="-122"/>
                      <a:cs typeface="思源黑体 Regular" panose="020B0500000000000000" charset="-122"/>
                    </a:rPr>
                    <a:t>LLVM</a:t>
                  </a:r>
                  <a:r>
                    <a:rPr kumimoji="0" lang="en-US" altLang="zh-CN" sz="140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编译器架构</a:t>
                  </a:r>
                  <a:r>
                    <a:rPr kumimoji="0" lang="en-US" altLang="zh-CN" sz="1200" b="0" i="0" u="none" strike="noStrike" kern="0" cap="none" spc="100" normalizeH="0" baseline="0" noProof="0" dirty="0">
                      <a:ln>
                        <a:noFill/>
                      </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uLnTx/>
                      <a:uFillTx/>
                      <a:latin typeface="思源黑体 Regular" panose="020B0500000000000000" charset="-122"/>
                      <a:ea typeface="思源黑体 Regular" panose="020B0500000000000000" charset="-122"/>
                      <a:cs typeface="思源黑体 Regular" panose="020B0500000000000000" charset="-122"/>
                    </a:rPr>
                    <a:t>,代表了模块化 IR、中间表示驱动、可扩展后端的现代工业编译体系。</a:t>
                  </a:r>
                  <a:endParaRPr kumimoji="0" lang="en-US" altLang="zh-CN" sz="1200" b="0" i="0" u="none" strike="noStrike" kern="0" cap="none" spc="10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</a:endParaRPr>
                </a:p>
                <a:p>
                  <a:pPr marL="0" marR="0" lvl="0" indent="0" algn="l" defTabSz="914400" eaLnBrk="1" fontAlgn="auto" latinLnBrk="0" hangingPunct="1">
                    <a:lnSpc>
                      <a:spcPct val="12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altLang="zh-CN" sz="1200" b="0" i="0" u="none" strike="noStrike" kern="0" cap="none" spc="10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思源黑体 Regular" panose="020B0500000000000000" charset="-122"/>
                    <a:ea typeface="思源黑体 Regular" panose="020B0500000000000000" charset="-122"/>
                    <a:cs typeface="思源黑体 Regular" panose="020B0500000000000000" charset="-122"/>
                  </a:endParaRPr>
                </a:p>
              </p:txBody>
            </p:sp>
          </p:grpSp>
        </p:grpSp>
        <p:sp>
          <p:nvSpPr>
            <p:cNvPr id="5" name="文本框 4"/>
            <p:cNvSpPr txBox="1"/>
            <p:nvPr/>
          </p:nvSpPr>
          <p:spPr>
            <a:xfrm>
              <a:off x="971" y="5538"/>
              <a:ext cx="5039" cy="159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lvl="1" indent="0" algn="l" fontAlgn="auto">
                <a:lnSpc>
                  <a:spcPct val="125000"/>
                </a:lnSpc>
                <a:buClr>
                  <a:srgbClr val="7F7F7F"/>
                </a:buClr>
                <a:defRPr/>
              </a:pPr>
              <a:r>
                <a:rPr lang="en-US" altLang="zh-CN" sz="1200" kern="0" spc="10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黑体 Regular" panose="020B0500000000000000" charset="-122"/>
                  <a:ea typeface="思源黑体 Regular" panose="020B0500000000000000" charset="-122"/>
                  <a:cs typeface="思源黑体 Regular" panose="020B0500000000000000" charset="-122"/>
                  <a:sym typeface="+mn-ea"/>
                </a:rPr>
                <a:t>研究</a:t>
              </a:r>
              <a:r>
                <a:rPr lang="en-US" altLang="zh-CN" sz="1200" b="1" u="sng" kern="0" spc="10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+mn-ea"/>
                </a:rPr>
                <a:t>自动生成技术</a:t>
              </a:r>
              <a:r>
                <a:rPr lang="en-US" altLang="zh-CN" sz="1200" kern="0" spc="10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+mn-ea"/>
                </a:rPr>
                <a:t>——词法、语法</a:t>
              </a:r>
              <a:r>
                <a:rPr lang="zh-CN" altLang="en-US" sz="1200" kern="0" spc="10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+mn-ea"/>
                </a:rPr>
                <a:t>、</a:t>
              </a:r>
              <a:r>
                <a:rPr lang="en-US" altLang="zh-CN" sz="1200" kern="0" spc="10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+mn-ea"/>
                </a:rPr>
                <a:t>语义的自动生成IBM开始研发</a:t>
              </a:r>
              <a:r>
                <a:rPr lang="en-US" altLang="zh-CN" sz="1200" b="1" u="sng" kern="0" spc="10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+mn-ea"/>
                </a:rPr>
                <a:t>FORTRAN</a:t>
              </a:r>
              <a:r>
                <a:rPr lang="en-US" altLang="zh-CN" sz="1200" b="1" kern="0" spc="10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+mn-ea"/>
                </a:rPr>
                <a:t>语言</a:t>
              </a:r>
              <a:r>
                <a:rPr lang="en-US" altLang="zh-CN" sz="1200" kern="0" spc="10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+mn-ea"/>
                </a:rPr>
                <a:t>及其编译器</a:t>
              </a:r>
              <a:r>
                <a:rPr lang="en-US" altLang="zh-CN" sz="1200" b="1" kern="0" spc="10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+mn-ea"/>
                </a:rPr>
                <a:t>Chomsky</a:t>
              </a:r>
              <a:r>
                <a:rPr lang="zh-CN" altLang="en-US" sz="1200" kern="0" spc="10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+mn-ea"/>
                </a:rPr>
                <a:t>开始研究</a:t>
              </a:r>
              <a:r>
                <a:rPr lang="zh-CN" altLang="en-US" sz="1200" b="1" u="sng" kern="0" spc="10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  <a:sym typeface="+mn-ea"/>
                </a:rPr>
                <a:t>自然文法体系</a:t>
              </a:r>
              <a:endParaRPr lang="zh-CN" altLang="en-US" sz="1200" b="1" u="sng" kern="0" spc="1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187960" y="276860"/>
            <a:ext cx="8891270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一章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编译器技术发展和工作原理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393065" y="1282700"/>
            <a:ext cx="11237595" cy="429323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1</a:t>
            </a:r>
            <a:r>
              <a:rPr lang="en-US" altLang="zh-CN"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.0 </a:t>
            </a: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课程相关信息</a:t>
            </a: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  <a:hlinkClick r:id="rId1" action="ppaction://hlinksldjump"/>
              </a:rPr>
              <a:t>  </a:t>
            </a:r>
            <a:endParaRPr sz="3200">
              <a:solidFill>
                <a:srgbClr val="0070C0"/>
              </a:solidFill>
              <a:latin typeface="等线" panose="02010600030101010101" charset="-122"/>
              <a:sym typeface="+mn-ea"/>
              <a:hlinkClick r:id="rId1" action="ppaction://hlinksldjump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1.1 编译器技术的发展</a:t>
            </a:r>
            <a:endParaRPr sz="3200">
              <a:solidFill>
                <a:srgbClr val="0070C0"/>
              </a:solidFill>
              <a:latin typeface="等线" panose="02010600030101010101" charset="-122"/>
              <a:sym typeface="+mn-ea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1.2 编译器构造逻辑阶段划分</a:t>
            </a:r>
            <a:endParaRPr sz="3200">
              <a:solidFill>
                <a:srgbClr val="0070C0"/>
              </a:solidFill>
              <a:latin typeface="等线" panose="02010600030101010101" charset="-122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lang="en-US" altLang="zh-CN"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1.3 </a:t>
            </a:r>
            <a:r>
              <a:rPr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编译阶段组合</a:t>
            </a:r>
            <a:endParaRPr lang="zh-CN" altLang="en-US" sz="3200" dirty="0">
              <a:solidFill>
                <a:srgbClr val="21212D"/>
              </a:solidFill>
              <a:latin typeface="等线" panose="02010600030101010101" charset="-122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1.4 </a:t>
            </a:r>
            <a:r>
              <a:rPr sz="3200">
                <a:solidFill>
                  <a:srgbClr val="21212D"/>
                </a:solidFill>
                <a:latin typeface="等线" panose="02010600030101010101" charset="-122"/>
              </a:rPr>
              <a:t>深度学习</a:t>
            </a:r>
            <a:r>
              <a:rPr lang="zh-CN" altLang="en-US" sz="3200">
                <a:solidFill>
                  <a:srgbClr val="21212D"/>
                </a:solidFill>
                <a:latin typeface="等线" panose="02010600030101010101" charset="-122"/>
              </a:rPr>
              <a:t>编译器</a:t>
            </a:r>
            <a:endParaRPr lang="zh-CN" altLang="en-US" sz="3200">
              <a:solidFill>
                <a:srgbClr val="21212D"/>
              </a:solidFill>
              <a:latin typeface="等线" panose="02010600030101010101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</a:pPr>
            <a:endParaRPr lang="zh-CN" altLang="en-US" sz="3200">
              <a:solidFill>
                <a:srgbClr val="0070C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290195" y="276860"/>
            <a:ext cx="878903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编译器构造逻辑阶段的划分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graphicFrame>
        <p:nvGraphicFramePr>
          <p:cNvPr id="29699" name="Object 4">
            <a:hlinkClick r:id="rId1" action="ppaction://hlinksldjump"/>
          </p:cNvPr>
          <p:cNvGraphicFramePr>
            <a:graphicFrameLocks noChangeAspect="1"/>
          </p:cNvGraphicFramePr>
          <p:nvPr/>
        </p:nvGraphicFramePr>
        <p:xfrm>
          <a:off x="201295" y="2498725"/>
          <a:ext cx="7345680" cy="35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8658225" imgH="3819525" progId="Word.Document.8">
                  <p:embed/>
                </p:oleObj>
              </mc:Choice>
              <mc:Fallback>
                <p:oleObj name="" r:id="rId2" imgW="8658225" imgH="3819525" progId="Word.Documen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1295" y="2498725"/>
                        <a:ext cx="7345680" cy="355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Rectangle 5"/>
          <p:cNvSpPr/>
          <p:nvPr/>
        </p:nvSpPr>
        <p:spPr>
          <a:xfrm>
            <a:off x="629603" y="1425258"/>
            <a:ext cx="7315200" cy="381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90000"/>
            </a:pPr>
            <a:r>
              <a:rPr lang="zh-CN" altLang="en-US" sz="2800" dirty="0">
                <a:solidFill>
                  <a:srgbClr val="21212D"/>
                </a:solidFill>
                <a:latin typeface="Tahoma" panose="020B0604030504040204" pitchFamily="34" charset="0"/>
                <a:ea typeface="宋体" panose="02010600030101010101" pitchFamily="2" charset="-122"/>
                <a:cs typeface="等线 Light" panose="02010600030101010101" charset="-122"/>
              </a:rPr>
              <a:t>翻译外文书刊与编译工作比较：</a:t>
            </a:r>
            <a:endParaRPr lang="zh-CN" altLang="en-US" sz="2800" dirty="0">
              <a:solidFill>
                <a:srgbClr val="21212D"/>
              </a:solidFill>
              <a:latin typeface="Tahoma" panose="020B0604030504040204" pitchFamily="34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813550" y="1337945"/>
            <a:ext cx="4776470" cy="4959350"/>
            <a:chOff x="10653" y="1885"/>
            <a:chExt cx="7522" cy="7810"/>
          </a:xfrm>
        </p:grpSpPr>
        <p:pic>
          <p:nvPicPr>
            <p:cNvPr id="28676" name="图片 6">
              <a:hlinkClick r:id="rId1" action="ppaction://hlinksldjump"/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653" y="1885"/>
              <a:ext cx="6635" cy="7810"/>
            </a:xfrm>
            <a:prstGeom prst="rect">
              <a:avLst/>
            </a:prstGeom>
            <a:noFill/>
            <a:ln w="9525">
              <a:noFill/>
            </a:ln>
          </p:spPr>
        </p:pic>
        <mc:AlternateContent xmlns:mc="http://schemas.openxmlformats.org/markup-compatibility/2006" xmlns:p14="http://schemas.microsoft.com/office/powerpoint/2010/main">
          <mc:Choice Requires="p14">
            <p:contentPart r:id="rId6" p14:bwMode="auto">
              <p14:nvContentPartPr>
                <p14:cNvPr id="2" name="墨迹 1"/>
                <p14:cNvContentPartPr/>
                <p14:nvPr>
                  <p:custDataLst>
                    <p:tags r:id="rId7"/>
                  </p:custDataLst>
                </p14:nvPr>
              </p14:nvContentPartPr>
              <p14:xfrm>
                <a:off x="10805" y="2260"/>
                <a:ext cx="7370" cy="5361"/>
              </p14:xfrm>
            </p:contentPart>
          </mc:Choice>
          <mc:Fallback xmlns="">
            <p:pic>
              <p:nvPicPr>
                <p:cNvPr id="2" name="墨迹 1"/>
              </p:nvPicPr>
              <p:blipFill>
                <a:blip r:embed="rId8"/>
              </p:blipFill>
              <p:spPr>
                <a:xfrm>
                  <a:off x="10805" y="2260"/>
                  <a:ext cx="7370" cy="5361"/>
                </a:xfrm>
                <a:prstGeom prst="rect"/>
              </p:spPr>
            </p:pic>
          </mc:Fallback>
        </mc:AlternateContent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18135" y="276860"/>
            <a:ext cx="876109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编译器构造逻辑阶段的划分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 useBgFill="1">
        <p:nvSpPr>
          <p:cNvPr id="30722" name="Rectangle 33"/>
          <p:cNvSpPr/>
          <p:nvPr/>
        </p:nvSpPr>
        <p:spPr>
          <a:xfrm>
            <a:off x="2068195" y="2075180"/>
            <a:ext cx="8075930" cy="4227195"/>
          </a:xfrm>
          <a:prstGeom prst="rect">
            <a:avLst/>
          </a:prstGeom>
          <a:ln w="381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2586355" y="1262380"/>
            <a:ext cx="7070725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b="1" dirty="0">
                <a:latin typeface="等线" panose="02010600030101010101" charset="-122"/>
                <a:ea typeface="等线" panose="02010600030101010101" charset="-122"/>
              </a:rPr>
              <a:t>编译器逻辑结构的组成</a:t>
            </a:r>
            <a:endParaRPr lang="zh-CN" altLang="en-US" sz="3200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sp useBgFill="1">
        <p:nvSpPr>
          <p:cNvPr id="30724" name="Text Box 3">
            <a:hlinkClick r:id="rId1" action="ppaction://hlinksldjump"/>
          </p:cNvPr>
          <p:cNvSpPr txBox="1"/>
          <p:nvPr/>
        </p:nvSpPr>
        <p:spPr>
          <a:xfrm>
            <a:off x="2440940" y="3689350"/>
            <a:ext cx="6096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词法分析程序</a:t>
            </a:r>
            <a:endParaRPr lang="zh-CN" altLang="en-US" sz="2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5" name="Text Box 4"/>
          <p:cNvSpPr txBox="1"/>
          <p:nvPr/>
        </p:nvSpPr>
        <p:spPr>
          <a:xfrm>
            <a:off x="3751580" y="3740785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语法分析程序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6" name="Text Box 5"/>
          <p:cNvSpPr txBox="1"/>
          <p:nvPr/>
        </p:nvSpPr>
        <p:spPr>
          <a:xfrm>
            <a:off x="502158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语义分析程序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7" name="Text Box 6">
            <a:hlinkClick r:id="rId2" action="ppaction://hlinksldjump"/>
          </p:cNvPr>
          <p:cNvSpPr txBox="1"/>
          <p:nvPr/>
        </p:nvSpPr>
        <p:spPr>
          <a:xfrm>
            <a:off x="633730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中间代码生成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8" name="Text Box 7"/>
          <p:cNvSpPr txBox="1"/>
          <p:nvPr/>
        </p:nvSpPr>
        <p:spPr>
          <a:xfrm>
            <a:off x="775462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代码优化程序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9" name="Text Box 8"/>
          <p:cNvSpPr txBox="1"/>
          <p:nvPr/>
        </p:nvSpPr>
        <p:spPr>
          <a:xfrm>
            <a:off x="912368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目标代码生成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0" name="AutoShape 9"/>
          <p:cNvSpPr/>
          <p:nvPr/>
        </p:nvSpPr>
        <p:spPr>
          <a:xfrm>
            <a:off x="663575" y="3879533"/>
            <a:ext cx="838200" cy="1524000"/>
          </a:xfrm>
          <a:prstGeom prst="parallelogram">
            <a:avLst>
              <a:gd name="adj" fmla="val 25000"/>
            </a:avLst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源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码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1" name="AutoShape 10"/>
          <p:cNvSpPr/>
          <p:nvPr/>
        </p:nvSpPr>
        <p:spPr>
          <a:xfrm>
            <a:off x="10685780" y="3627120"/>
            <a:ext cx="609600" cy="1905000"/>
          </a:xfrm>
          <a:prstGeom prst="parallelogram">
            <a:avLst>
              <a:gd name="adj" fmla="val 25000"/>
            </a:avLst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目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标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码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2" name="AutoShape 11"/>
          <p:cNvSpPr/>
          <p:nvPr/>
        </p:nvSpPr>
        <p:spPr>
          <a:xfrm>
            <a:off x="3065780" y="2165350"/>
            <a:ext cx="1524000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常数表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3" name="AutoShape 12"/>
          <p:cNvSpPr/>
          <p:nvPr/>
        </p:nvSpPr>
        <p:spPr>
          <a:xfrm>
            <a:off x="4742180" y="2165350"/>
            <a:ext cx="1371600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符号表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4" name="AutoShape 13"/>
          <p:cNvSpPr/>
          <p:nvPr/>
        </p:nvSpPr>
        <p:spPr>
          <a:xfrm>
            <a:off x="6189980" y="2165350"/>
            <a:ext cx="2016125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错误处理器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30735" name="Line 14"/>
          <p:cNvSpPr/>
          <p:nvPr/>
        </p:nvSpPr>
        <p:spPr>
          <a:xfrm>
            <a:off x="1406525" y="4760595"/>
            <a:ext cx="60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6" name="Line 15"/>
          <p:cNvSpPr/>
          <p:nvPr/>
        </p:nvSpPr>
        <p:spPr>
          <a:xfrm>
            <a:off x="3050540" y="4756150"/>
            <a:ext cx="596265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7" name="Line 16"/>
          <p:cNvSpPr/>
          <p:nvPr/>
        </p:nvSpPr>
        <p:spPr>
          <a:xfrm flipV="1">
            <a:off x="4326255" y="4756785"/>
            <a:ext cx="67310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8" name="Line 17"/>
          <p:cNvSpPr/>
          <p:nvPr/>
        </p:nvSpPr>
        <p:spPr>
          <a:xfrm>
            <a:off x="5598795" y="4756150"/>
            <a:ext cx="64135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9" name="Line 18"/>
          <p:cNvSpPr/>
          <p:nvPr/>
        </p:nvSpPr>
        <p:spPr>
          <a:xfrm flipV="1">
            <a:off x="6929755" y="4795520"/>
            <a:ext cx="71374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40" name="Line 19"/>
          <p:cNvSpPr/>
          <p:nvPr/>
        </p:nvSpPr>
        <p:spPr>
          <a:xfrm flipV="1">
            <a:off x="8359140" y="4756785"/>
            <a:ext cx="707390" cy="381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41" name="Line 20"/>
          <p:cNvSpPr/>
          <p:nvPr/>
        </p:nvSpPr>
        <p:spPr>
          <a:xfrm>
            <a:off x="10228580" y="4693920"/>
            <a:ext cx="533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42" name="Line 21"/>
          <p:cNvSpPr/>
          <p:nvPr/>
        </p:nvSpPr>
        <p:spPr>
          <a:xfrm>
            <a:off x="4056380" y="2698750"/>
            <a:ext cx="137160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43" name="Line 22"/>
          <p:cNvSpPr/>
          <p:nvPr/>
        </p:nvSpPr>
        <p:spPr>
          <a:xfrm>
            <a:off x="5427980" y="2698750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44" name="Line 23"/>
          <p:cNvSpPr/>
          <p:nvPr/>
        </p:nvSpPr>
        <p:spPr>
          <a:xfrm flipV="1">
            <a:off x="5427980" y="2698750"/>
            <a:ext cx="160020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45" name="Line 24"/>
          <p:cNvSpPr/>
          <p:nvPr/>
        </p:nvSpPr>
        <p:spPr>
          <a:xfrm flipV="1">
            <a:off x="2801620" y="3155950"/>
            <a:ext cx="2626360" cy="533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46" name="Line 25"/>
          <p:cNvSpPr/>
          <p:nvPr/>
        </p:nvSpPr>
        <p:spPr>
          <a:xfrm flipV="1">
            <a:off x="3952240" y="3155315"/>
            <a:ext cx="1475105" cy="51498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47" name="Line 26"/>
          <p:cNvSpPr/>
          <p:nvPr/>
        </p:nvSpPr>
        <p:spPr>
          <a:xfrm flipH="1" flipV="1">
            <a:off x="5427980" y="3155950"/>
            <a:ext cx="0" cy="533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48" name="Line 27"/>
          <p:cNvSpPr/>
          <p:nvPr/>
        </p:nvSpPr>
        <p:spPr>
          <a:xfrm flipH="1" flipV="1">
            <a:off x="5427980" y="3155950"/>
            <a:ext cx="1209675" cy="52959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49" name="Line 28"/>
          <p:cNvSpPr/>
          <p:nvPr/>
        </p:nvSpPr>
        <p:spPr>
          <a:xfrm flipH="1" flipV="1">
            <a:off x="5427980" y="3155950"/>
            <a:ext cx="2588895" cy="51562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50" name="Line 29"/>
          <p:cNvSpPr/>
          <p:nvPr/>
        </p:nvSpPr>
        <p:spPr>
          <a:xfrm flipH="1" flipV="1">
            <a:off x="5427980" y="3155950"/>
            <a:ext cx="3980815" cy="47053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28295" y="276860"/>
            <a:ext cx="875093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编译器构造逻辑阶段的划分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427990" y="1275080"/>
            <a:ext cx="4807585" cy="615950"/>
          </a:xfrm>
        </p:spPr>
        <p:txBody>
          <a:bodyPr vert="horz" wrap="square" lIns="91440" tIns="45720" rIns="91440" bIns="45720" anchor="b" anchorCtr="0">
            <a:normAutofit/>
          </a:bodyPr>
          <a:p>
            <a:pPr eaLnBrk="1" hangingPunct="1"/>
            <a:r>
              <a:rPr lang="zh-CN" altLang="en-US" sz="3555" b="1" dirty="0">
                <a:latin typeface="等线" panose="02010600030101010101" charset="-122"/>
                <a:ea typeface="等线" panose="02010600030101010101" charset="-122"/>
              </a:rPr>
              <a:t>词法分析程序</a:t>
            </a:r>
            <a:endParaRPr lang="zh-CN" altLang="en-US" sz="3555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1747" name="Rectangle 21"/>
          <p:cNvSpPr>
            <a:spLocks noGrp="1"/>
          </p:cNvSpPr>
          <p:nvPr>
            <p:ph idx="1"/>
          </p:nvPr>
        </p:nvSpPr>
        <p:spPr>
          <a:xfrm>
            <a:off x="501650" y="1967230"/>
            <a:ext cx="2802255" cy="3576955"/>
          </a:xfrm>
        </p:spPr>
        <p:txBody>
          <a:bodyPr vert="horz" wrap="square" lIns="91440" tIns="45720" rIns="91440" bIns="45720" anchor="t" anchorCtr="0">
            <a:noAutofit/>
          </a:bodyPr>
          <a:p>
            <a:pPr marL="0" indent="0"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任务</a:t>
            </a: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：逐个读入源程序字符并按照</a:t>
            </a:r>
            <a:r>
              <a:rPr lang="zh-CN" altLang="en-US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构词规则</a:t>
            </a: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切分成一系列</a:t>
            </a: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具有独立意义的</a:t>
            </a: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单词</a:t>
            </a:r>
            <a:r>
              <a:rPr lang="en-US" altLang="zh-CN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(token)</a:t>
            </a: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。</a:t>
            </a:r>
            <a:endParaRPr lang="zh-CN" altLang="en-US" b="1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8069" name="Rectangle 5"/>
          <p:cNvSpPr/>
          <p:nvPr>
            <p:custDataLst>
              <p:tags r:id="rId1"/>
            </p:custDataLst>
          </p:nvPr>
        </p:nvSpPr>
        <p:spPr>
          <a:xfrm>
            <a:off x="5699125" y="2114868"/>
            <a:ext cx="51847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  <a:buSzPct val="90000"/>
            </a:pPr>
            <a:r>
              <a:rPr lang="en-US" altLang="zh-CN" sz="3200" b="1" dirty="0">
                <a:solidFill>
                  <a:srgbClr val="FF0066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a</a:t>
            </a:r>
            <a:r>
              <a:rPr lang="en-US" altLang="zh-CN" sz="3200" b="1" dirty="0">
                <a:latin typeface="Times New Roman" panose="02020603050405020304" pitchFamily="18" charset="0"/>
                <a:cs typeface="等线 Light" panose="02010600030101010101" charset="-122"/>
              </a:rPr>
              <a:t>                  </a:t>
            </a:r>
            <a:r>
              <a:rPr lang="zh-CN" altLang="en-US" sz="32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标示符</a:t>
            </a:r>
            <a:endParaRPr lang="zh-CN" altLang="en-US" sz="32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88070" name="Rectangle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730875" y="2572068"/>
            <a:ext cx="580072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[ 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               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左括号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21212D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88071" name="Rectangle 7"/>
          <p:cNvSpPr/>
          <p:nvPr>
            <p:custDataLst>
              <p:tags r:id="rId3"/>
            </p:custDataLst>
          </p:nvPr>
        </p:nvSpPr>
        <p:spPr>
          <a:xfrm>
            <a:off x="5622925" y="3080068"/>
            <a:ext cx="56927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3200" b="1" dirty="0">
                <a:solidFill>
                  <a:srgbClr val="FF0066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Index</a:t>
            </a:r>
            <a:r>
              <a:rPr lang="en-US" altLang="zh-CN" sz="3200" b="1" dirty="0">
                <a:latin typeface="Times New Roman" panose="02020603050405020304" pitchFamily="18" charset="0"/>
                <a:cs typeface="等线 Light" panose="02010600030101010101" charset="-122"/>
              </a:rPr>
              <a:t>           </a:t>
            </a:r>
            <a:r>
              <a:rPr lang="zh-CN" altLang="en-US" sz="32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标示符</a:t>
            </a:r>
            <a:endParaRPr lang="zh-CN" altLang="en-US" sz="32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88072" name="Rectangle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699125" y="3592830"/>
            <a:ext cx="5976938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] 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                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右括号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21212D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88073" name="Rectangle 9"/>
          <p:cNvSpPr/>
          <p:nvPr>
            <p:custDataLst>
              <p:tags r:id="rId5"/>
            </p:custDataLst>
          </p:nvPr>
        </p:nvSpPr>
        <p:spPr>
          <a:xfrm>
            <a:off x="5622925" y="4050030"/>
            <a:ext cx="59086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3200" b="1" dirty="0">
                <a:solidFill>
                  <a:srgbClr val="FF0066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=</a:t>
            </a:r>
            <a:r>
              <a:rPr lang="en-US" altLang="zh-CN" sz="3200" b="1" dirty="0">
                <a:latin typeface="Times New Roman" panose="02020603050405020304" pitchFamily="18" charset="0"/>
                <a:cs typeface="等线 Light" panose="02010600030101010101" charset="-122"/>
              </a:rPr>
              <a:t>                  </a:t>
            </a:r>
            <a:r>
              <a:rPr lang="zh-CN" altLang="en-US" sz="32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赋值</a:t>
            </a:r>
            <a:endParaRPr lang="zh-CN" altLang="en-US" sz="32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88074" name="Rectangle 1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622925" y="4507230"/>
            <a:ext cx="598170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4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                  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数字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21212D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88075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622925" y="4888230"/>
            <a:ext cx="590867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+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                 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加号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21212D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88076" name="Rectangle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622925" y="5345430"/>
            <a:ext cx="6269038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2</a:t>
            </a: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                   </a:t>
            </a: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等线 Light" panose="02010600030101010101" charset="-122"/>
              </a:rPr>
              <a:t>数字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21212D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32778" name="Rectangle 13"/>
          <p:cNvSpPr/>
          <p:nvPr>
            <p:custDataLst>
              <p:tags r:id="rId9"/>
            </p:custDataLst>
          </p:nvPr>
        </p:nvSpPr>
        <p:spPr>
          <a:xfrm>
            <a:off x="4455160" y="1275080"/>
            <a:ext cx="729678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3200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分析语句</a:t>
            </a:r>
            <a:r>
              <a:rPr lang="en-US" altLang="zh-CN" sz="3200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a[index]=4+2</a:t>
            </a:r>
            <a:r>
              <a:rPr lang="zh-CN" altLang="en-US" sz="3200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的</a:t>
            </a:r>
            <a:r>
              <a:rPr lang="zh-CN" altLang="en-US" sz="4000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 Light" panose="02010600030101010101" charset="-122"/>
              </a:rPr>
              <a:t>单词</a:t>
            </a:r>
            <a:r>
              <a:rPr lang="zh-CN" altLang="en-US" sz="4000" dirty="0">
                <a:solidFill>
                  <a:srgbClr val="21212D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 Light" panose="02010600030101010101" charset="-122"/>
              </a:rPr>
              <a:t>序列</a:t>
            </a:r>
            <a:r>
              <a:rPr lang="zh-CN" altLang="en-US" sz="3200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:</a:t>
            </a:r>
            <a:endParaRPr lang="zh-CN" altLang="en-US" sz="3200" dirty="0">
              <a:solidFill>
                <a:srgbClr val="21212D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</p:txBody>
      </p:sp>
      <p:sp>
        <p:nvSpPr>
          <p:cNvPr id="88078" name="Rectangle 1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226050" y="2057718"/>
            <a:ext cx="4537075" cy="431800"/>
          </a:xfrm>
          <a:prstGeom prst="rect">
            <a:avLst/>
          </a:prstGeom>
          <a:noFill/>
          <a:ln w="28575" algn="ctr">
            <a:solidFill>
              <a:schemeClr val="hlink"/>
            </a:solidFill>
            <a:prstDash val="sysDot"/>
            <a:miter lim="800000"/>
          </a:ln>
          <a:effectLst/>
        </p:spPr>
        <p:txBody>
          <a:bodyPr wrap="none" anchor="ctr"/>
          <a:p>
            <a:pPr marL="0" marR="0" lvl="0" indent="0" algn="l" defTabSz="914400" rtl="0" eaLnBrk="1" fontAlgn="base" latinLnBrk="0" hangingPunct="1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等线 Light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8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500"/>
                                        <p:tgtEl>
                                          <p:spTgt spid="8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9" grpId="0"/>
      <p:bldP spid="88070" grpId="0" bldLvl="0" animBg="1"/>
      <p:bldP spid="88071" grpId="0"/>
      <p:bldP spid="88072" grpId="0" bldLvl="0" animBg="1"/>
      <p:bldP spid="88073" grpId="0"/>
      <p:bldP spid="88074" grpId="0" bldLvl="0" animBg="1"/>
      <p:bldP spid="88075" grpId="0" bldLvl="0" animBg="1"/>
      <p:bldP spid="88076" grpId="0" bldLvl="0" animBg="1"/>
      <p:bldP spid="88078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18135" y="276860"/>
            <a:ext cx="876109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编译器构造逻辑阶段的划分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 useBgFill="1">
        <p:nvSpPr>
          <p:cNvPr id="30722" name="Rectangle 33"/>
          <p:cNvSpPr/>
          <p:nvPr/>
        </p:nvSpPr>
        <p:spPr>
          <a:xfrm>
            <a:off x="2068195" y="2075180"/>
            <a:ext cx="8075930" cy="4227195"/>
          </a:xfrm>
          <a:prstGeom prst="rect">
            <a:avLst/>
          </a:prstGeom>
          <a:ln w="381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2586355" y="1262380"/>
            <a:ext cx="7070725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b="1" dirty="0">
                <a:latin typeface="等线" panose="02010600030101010101" charset="-122"/>
                <a:ea typeface="等线" panose="02010600030101010101" charset="-122"/>
              </a:rPr>
              <a:t>编译器逻辑结构的组成</a:t>
            </a:r>
            <a:endParaRPr lang="zh-CN" altLang="en-US" sz="3200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sp useBgFill="1">
        <p:nvSpPr>
          <p:cNvPr id="30724" name="Text Box 3">
            <a:hlinkClick r:id="rId1" action="ppaction://hlinksldjump"/>
          </p:cNvPr>
          <p:cNvSpPr txBox="1"/>
          <p:nvPr/>
        </p:nvSpPr>
        <p:spPr>
          <a:xfrm>
            <a:off x="2440940" y="3689350"/>
            <a:ext cx="6096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词法分析程序</a:t>
            </a:r>
            <a:endParaRPr lang="zh-CN" altLang="en-US" sz="2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5" name="Text Box 4"/>
          <p:cNvSpPr txBox="1"/>
          <p:nvPr/>
        </p:nvSpPr>
        <p:spPr>
          <a:xfrm>
            <a:off x="3751580" y="3740785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语法分析程序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6" name="Text Box 5"/>
          <p:cNvSpPr txBox="1"/>
          <p:nvPr/>
        </p:nvSpPr>
        <p:spPr>
          <a:xfrm>
            <a:off x="502158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语义分析程序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7" name="Text Box 6">
            <a:hlinkClick r:id="rId2" action="ppaction://hlinksldjump"/>
          </p:cNvPr>
          <p:cNvSpPr txBox="1"/>
          <p:nvPr/>
        </p:nvSpPr>
        <p:spPr>
          <a:xfrm>
            <a:off x="633730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中间代码生成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8" name="Text Box 7"/>
          <p:cNvSpPr txBox="1"/>
          <p:nvPr/>
        </p:nvSpPr>
        <p:spPr>
          <a:xfrm>
            <a:off x="775462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代码优化程序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9" name="Text Box 8"/>
          <p:cNvSpPr txBox="1"/>
          <p:nvPr/>
        </p:nvSpPr>
        <p:spPr>
          <a:xfrm>
            <a:off x="912368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目标代码生成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0" name="AutoShape 9"/>
          <p:cNvSpPr/>
          <p:nvPr/>
        </p:nvSpPr>
        <p:spPr>
          <a:xfrm>
            <a:off x="663575" y="3879533"/>
            <a:ext cx="838200" cy="1524000"/>
          </a:xfrm>
          <a:prstGeom prst="parallelogram">
            <a:avLst>
              <a:gd name="adj" fmla="val 25000"/>
            </a:avLst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源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码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1" name="AutoShape 10"/>
          <p:cNvSpPr/>
          <p:nvPr/>
        </p:nvSpPr>
        <p:spPr>
          <a:xfrm>
            <a:off x="10685780" y="3627120"/>
            <a:ext cx="609600" cy="1905000"/>
          </a:xfrm>
          <a:prstGeom prst="parallelogram">
            <a:avLst>
              <a:gd name="adj" fmla="val 25000"/>
            </a:avLst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目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标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码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2" name="AutoShape 11"/>
          <p:cNvSpPr/>
          <p:nvPr/>
        </p:nvSpPr>
        <p:spPr>
          <a:xfrm>
            <a:off x="3065780" y="2165350"/>
            <a:ext cx="1524000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常数表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3" name="AutoShape 12"/>
          <p:cNvSpPr/>
          <p:nvPr/>
        </p:nvSpPr>
        <p:spPr>
          <a:xfrm>
            <a:off x="4742180" y="2165350"/>
            <a:ext cx="1371600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符号表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4" name="AutoShape 13"/>
          <p:cNvSpPr/>
          <p:nvPr/>
        </p:nvSpPr>
        <p:spPr>
          <a:xfrm>
            <a:off x="6189980" y="2165350"/>
            <a:ext cx="2016125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错误处理器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30735" name="Line 14"/>
          <p:cNvSpPr/>
          <p:nvPr/>
        </p:nvSpPr>
        <p:spPr>
          <a:xfrm>
            <a:off x="1406525" y="4760595"/>
            <a:ext cx="60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6" name="Line 15"/>
          <p:cNvSpPr/>
          <p:nvPr/>
        </p:nvSpPr>
        <p:spPr>
          <a:xfrm>
            <a:off x="3050540" y="4756150"/>
            <a:ext cx="596265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7" name="Line 16"/>
          <p:cNvSpPr/>
          <p:nvPr/>
        </p:nvSpPr>
        <p:spPr>
          <a:xfrm flipV="1">
            <a:off x="4326255" y="4756785"/>
            <a:ext cx="67310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8" name="Line 17"/>
          <p:cNvSpPr/>
          <p:nvPr/>
        </p:nvSpPr>
        <p:spPr>
          <a:xfrm>
            <a:off x="5598795" y="4756150"/>
            <a:ext cx="64135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9" name="Line 18"/>
          <p:cNvSpPr/>
          <p:nvPr/>
        </p:nvSpPr>
        <p:spPr>
          <a:xfrm flipV="1">
            <a:off x="6929755" y="4795520"/>
            <a:ext cx="71374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40" name="Line 19"/>
          <p:cNvSpPr/>
          <p:nvPr/>
        </p:nvSpPr>
        <p:spPr>
          <a:xfrm flipV="1">
            <a:off x="8359140" y="4756785"/>
            <a:ext cx="707390" cy="381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41" name="Line 20"/>
          <p:cNvSpPr/>
          <p:nvPr/>
        </p:nvSpPr>
        <p:spPr>
          <a:xfrm>
            <a:off x="10228580" y="4693920"/>
            <a:ext cx="533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2" name="Line 21"/>
          <p:cNvSpPr/>
          <p:nvPr>
            <p:custDataLst>
              <p:tags r:id="rId3"/>
            </p:custDataLst>
          </p:nvPr>
        </p:nvSpPr>
        <p:spPr>
          <a:xfrm>
            <a:off x="4056380" y="2698750"/>
            <a:ext cx="137160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" name="Line 22"/>
          <p:cNvSpPr/>
          <p:nvPr>
            <p:custDataLst>
              <p:tags r:id="rId4"/>
            </p:custDataLst>
          </p:nvPr>
        </p:nvSpPr>
        <p:spPr>
          <a:xfrm>
            <a:off x="5427980" y="2698750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" name="Line 23"/>
          <p:cNvSpPr/>
          <p:nvPr>
            <p:custDataLst>
              <p:tags r:id="rId5"/>
            </p:custDataLst>
          </p:nvPr>
        </p:nvSpPr>
        <p:spPr>
          <a:xfrm flipV="1">
            <a:off x="5427980" y="2698750"/>
            <a:ext cx="160020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Line 24"/>
          <p:cNvSpPr/>
          <p:nvPr>
            <p:custDataLst>
              <p:tags r:id="rId6"/>
            </p:custDataLst>
          </p:nvPr>
        </p:nvSpPr>
        <p:spPr>
          <a:xfrm flipV="1">
            <a:off x="2801620" y="3155950"/>
            <a:ext cx="2626360" cy="533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" name="Line 25"/>
          <p:cNvSpPr/>
          <p:nvPr>
            <p:custDataLst>
              <p:tags r:id="rId7"/>
            </p:custDataLst>
          </p:nvPr>
        </p:nvSpPr>
        <p:spPr>
          <a:xfrm flipV="1">
            <a:off x="3952240" y="3155315"/>
            <a:ext cx="1475105" cy="51498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" name="Line 26"/>
          <p:cNvSpPr/>
          <p:nvPr>
            <p:custDataLst>
              <p:tags r:id="rId8"/>
            </p:custDataLst>
          </p:nvPr>
        </p:nvSpPr>
        <p:spPr>
          <a:xfrm flipH="1" flipV="1">
            <a:off x="5427980" y="3155950"/>
            <a:ext cx="0" cy="533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" name="Line 27"/>
          <p:cNvSpPr/>
          <p:nvPr>
            <p:custDataLst>
              <p:tags r:id="rId9"/>
            </p:custDataLst>
          </p:nvPr>
        </p:nvSpPr>
        <p:spPr>
          <a:xfrm flipH="1" flipV="1">
            <a:off x="5427980" y="3155950"/>
            <a:ext cx="1209675" cy="52959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" name="Line 28"/>
          <p:cNvSpPr/>
          <p:nvPr>
            <p:custDataLst>
              <p:tags r:id="rId10"/>
            </p:custDataLst>
          </p:nvPr>
        </p:nvSpPr>
        <p:spPr>
          <a:xfrm flipH="1" flipV="1">
            <a:off x="5427980" y="3155950"/>
            <a:ext cx="2588895" cy="51562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" name="Line 29"/>
          <p:cNvSpPr/>
          <p:nvPr>
            <p:custDataLst>
              <p:tags r:id="rId11"/>
            </p:custDataLst>
          </p:nvPr>
        </p:nvSpPr>
        <p:spPr>
          <a:xfrm flipH="1" flipV="1">
            <a:off x="5427980" y="3155950"/>
            <a:ext cx="3980815" cy="47053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0"/>
          <p:cNvSpPr>
            <a:spLocks noGrp="1"/>
          </p:cNvSpPr>
          <p:nvPr>
            <p:ph type="title"/>
          </p:nvPr>
        </p:nvSpPr>
        <p:spPr>
          <a:xfrm>
            <a:off x="425133" y="1293813"/>
            <a:ext cx="5997575" cy="544512"/>
          </a:xfrm>
        </p:spPr>
        <p:txBody>
          <a:bodyPr vert="horz" wrap="square" lIns="91440" tIns="45720" rIns="91440" bIns="45720" anchor="b" anchorCtr="0">
            <a:normAutofit fontScale="90000"/>
          </a:bodyPr>
          <a:p>
            <a:pPr eaLnBrk="1" hangingPunct="1"/>
            <a:r>
              <a:rPr lang="zh-CN" altLang="en-US" sz="3555" b="1" dirty="0">
                <a:latin typeface="等线" panose="02010600030101010101" charset="-122"/>
                <a:ea typeface="等线" panose="02010600030101010101" charset="-122"/>
              </a:rPr>
              <a:t>语法分析程序（</a:t>
            </a:r>
            <a:r>
              <a:rPr lang="en-US" altLang="zh-CN" sz="3555" b="1" dirty="0">
                <a:latin typeface="等线" panose="02010600030101010101" charset="-122"/>
                <a:ea typeface="等线" panose="02010600030101010101" charset="-122"/>
              </a:rPr>
              <a:t>parser）</a:t>
            </a:r>
            <a:endParaRPr lang="en-US" altLang="zh-CN" sz="3555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1559" name="Rectangle 55"/>
          <p:cNvSpPr>
            <a:spLocks noGrp="1" noChangeArrowheads="1"/>
          </p:cNvSpPr>
          <p:nvPr>
            <p:ph idx="1"/>
          </p:nvPr>
        </p:nvSpPr>
        <p:spPr>
          <a:xfrm>
            <a:off x="460375" y="1941830"/>
            <a:ext cx="2457450" cy="3745230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21212D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</a:rPr>
              <a:t>语法分析以单词序列为输入，分析源程序的语法结构，判断它是否为相应程序设计语言的</a:t>
            </a: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</a:rPr>
              <a:t>合法程序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</a:endParaRPr>
          </a:p>
        </p:txBody>
      </p:sp>
      <p:sp>
        <p:nvSpPr>
          <p:cNvPr id="2" name="文本占位符 11"/>
          <p:cNvSpPr>
            <a:spLocks noGrp="1"/>
          </p:cNvSpPr>
          <p:nvPr/>
        </p:nvSpPr>
        <p:spPr>
          <a:xfrm>
            <a:off x="334645" y="237490"/>
            <a:ext cx="732345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编译器构造逻辑阶段的划分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grpSp>
        <p:nvGrpSpPr>
          <p:cNvPr id="13" name="Group 50"/>
          <p:cNvGrpSpPr/>
          <p:nvPr/>
        </p:nvGrpSpPr>
        <p:grpSpPr>
          <a:xfrm>
            <a:off x="7075170" y="2905760"/>
            <a:ext cx="914400" cy="652463"/>
            <a:chOff x="2304" y="1223"/>
            <a:chExt cx="576" cy="411"/>
          </a:xfrm>
        </p:grpSpPr>
        <p:sp useBgFill="1">
          <p:nvSpPr>
            <p:cNvPr id="14" name="Rectangle 4"/>
            <p:cNvSpPr/>
            <p:nvPr>
              <p:custDataLst>
                <p:tags r:id="rId1"/>
              </p:custDataLst>
            </p:nvPr>
          </p:nvSpPr>
          <p:spPr>
            <a:xfrm>
              <a:off x="2304" y="1223"/>
              <a:ext cx="576" cy="228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2000" dirty="0">
                  <a:latin typeface="Times New Roman" panose="02020603050405020304" pitchFamily="18" charset="0"/>
                  <a:cs typeface="等线 Light" panose="02010600030101010101" charset="-122"/>
                </a:rPr>
                <a:t>op</a:t>
              </a:r>
              <a:endParaRPr lang="en-US" altLang="zh-CN" sz="2000" dirty="0">
                <a:latin typeface="Times New Roman" panose="02020603050405020304" pitchFamily="18" charset="0"/>
                <a:cs typeface="等线 Light" panose="02010600030101010101" charset="-122"/>
              </a:endParaRPr>
            </a:p>
          </p:txBody>
        </p:sp>
        <p:sp>
          <p:nvSpPr>
            <p:cNvPr id="15" name="Line 5"/>
            <p:cNvSpPr/>
            <p:nvPr>
              <p:custDataLst>
                <p:tags r:id="rId2"/>
              </p:custDataLst>
            </p:nvPr>
          </p:nvSpPr>
          <p:spPr>
            <a:xfrm>
              <a:off x="2608" y="1497"/>
              <a:ext cx="0" cy="13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 useBgFill="1">
        <p:nvSpPr>
          <p:cNvPr id="16" name="Rectangle 6"/>
          <p:cNvSpPr/>
          <p:nvPr>
            <p:custDataLst>
              <p:tags r:id="rId3"/>
            </p:custDataLst>
          </p:nvPr>
        </p:nvSpPr>
        <p:spPr>
          <a:xfrm>
            <a:off x="7233920" y="3710623"/>
            <a:ext cx="609600" cy="144462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000" dirty="0">
                <a:solidFill>
                  <a:srgbClr val="FF0066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=</a:t>
            </a:r>
            <a:endParaRPr lang="en-US" altLang="zh-CN" sz="2000" dirty="0">
              <a:solidFill>
                <a:srgbClr val="FF0066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grpSp>
        <p:nvGrpSpPr>
          <p:cNvPr id="17" name="Group 52"/>
          <p:cNvGrpSpPr/>
          <p:nvPr/>
        </p:nvGrpSpPr>
        <p:grpSpPr>
          <a:xfrm>
            <a:off x="6082983" y="2097723"/>
            <a:ext cx="3455987" cy="936625"/>
            <a:chOff x="1776" y="729"/>
            <a:chExt cx="1920" cy="684"/>
          </a:xfrm>
        </p:grpSpPr>
        <p:sp>
          <p:nvSpPr>
            <p:cNvPr id="18" name="Line 7"/>
            <p:cNvSpPr/>
            <p:nvPr>
              <p:custDataLst>
                <p:tags r:id="rId4"/>
              </p:custDataLst>
            </p:nvPr>
          </p:nvSpPr>
          <p:spPr>
            <a:xfrm flipH="1">
              <a:off x="1776" y="998"/>
              <a:ext cx="650" cy="41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9" name="Line 8"/>
            <p:cNvSpPr/>
            <p:nvPr>
              <p:custDataLst>
                <p:tags r:id="rId5"/>
              </p:custDataLst>
            </p:nvPr>
          </p:nvSpPr>
          <p:spPr>
            <a:xfrm>
              <a:off x="2744" y="998"/>
              <a:ext cx="952" cy="36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 useBgFill="1">
          <p:nvSpPr>
            <p:cNvPr id="20" name="Rectangle 11"/>
            <p:cNvSpPr/>
            <p:nvPr>
              <p:custDataLst>
                <p:tags r:id="rId6"/>
              </p:custDataLst>
            </p:nvPr>
          </p:nvSpPr>
          <p:spPr>
            <a:xfrm>
              <a:off x="2352" y="729"/>
              <a:ext cx="624" cy="18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2000" dirty="0">
                  <a:latin typeface="Times New Roman" panose="02020603050405020304" pitchFamily="18" charset="0"/>
                  <a:cs typeface="等线 Light" panose="02010600030101010101" charset="-122"/>
                </a:rPr>
                <a:t>exp</a:t>
              </a:r>
              <a:endParaRPr lang="en-US" altLang="zh-CN" sz="2000" dirty="0">
                <a:latin typeface="Times New Roman" panose="02020603050405020304" pitchFamily="18" charset="0"/>
                <a:cs typeface="等线 Light" panose="02010600030101010101" charset="-122"/>
              </a:endParaRPr>
            </a:p>
          </p:txBody>
        </p:sp>
        <p:sp>
          <p:nvSpPr>
            <p:cNvPr id="21" name="Line 12"/>
            <p:cNvSpPr/>
            <p:nvPr>
              <p:custDataLst>
                <p:tags r:id="rId7"/>
              </p:custDataLst>
            </p:nvPr>
          </p:nvSpPr>
          <p:spPr>
            <a:xfrm>
              <a:off x="2608" y="957"/>
              <a:ext cx="0" cy="31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2" name="Group 49"/>
          <p:cNvGrpSpPr/>
          <p:nvPr/>
        </p:nvGrpSpPr>
        <p:grpSpPr>
          <a:xfrm>
            <a:off x="5236845" y="3072448"/>
            <a:ext cx="838200" cy="579437"/>
            <a:chOff x="1440" y="1413"/>
            <a:chExt cx="528" cy="365"/>
          </a:xfrm>
        </p:grpSpPr>
        <p:sp useBgFill="1">
          <p:nvSpPr>
            <p:cNvPr id="23" name="Rectangle 9"/>
            <p:cNvSpPr/>
            <p:nvPr>
              <p:custDataLst>
                <p:tags r:id="rId8"/>
              </p:custDataLst>
            </p:nvPr>
          </p:nvSpPr>
          <p:spPr>
            <a:xfrm>
              <a:off x="1440" y="1413"/>
              <a:ext cx="528" cy="18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2000" dirty="0">
                  <a:latin typeface="Times New Roman" panose="02020603050405020304" pitchFamily="18" charset="0"/>
                  <a:cs typeface="等线 Light" panose="02010600030101010101" charset="-122"/>
                </a:rPr>
                <a:t>exp</a:t>
              </a:r>
              <a:endParaRPr lang="en-US" altLang="zh-CN" sz="2000" dirty="0">
                <a:latin typeface="Times New Roman" panose="02020603050405020304" pitchFamily="18" charset="0"/>
                <a:cs typeface="等线 Light" panose="02010600030101010101" charset="-122"/>
              </a:endParaRPr>
            </a:p>
          </p:txBody>
        </p:sp>
        <p:sp>
          <p:nvSpPr>
            <p:cNvPr id="24" name="Line 13"/>
            <p:cNvSpPr/>
            <p:nvPr>
              <p:custDataLst>
                <p:tags r:id="rId9"/>
              </p:custDataLst>
            </p:nvPr>
          </p:nvSpPr>
          <p:spPr>
            <a:xfrm>
              <a:off x="1680" y="1595"/>
              <a:ext cx="0" cy="18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5" name="Group 51"/>
          <p:cNvGrpSpPr/>
          <p:nvPr/>
        </p:nvGrpSpPr>
        <p:grpSpPr>
          <a:xfrm>
            <a:off x="8818245" y="2999423"/>
            <a:ext cx="990600" cy="579437"/>
            <a:chOff x="3696" y="1367"/>
            <a:chExt cx="624" cy="365"/>
          </a:xfrm>
        </p:grpSpPr>
        <p:sp useBgFill="1">
          <p:nvSpPr>
            <p:cNvPr id="26" name="Rectangle 10"/>
            <p:cNvSpPr/>
            <p:nvPr>
              <p:custDataLst>
                <p:tags r:id="rId10"/>
              </p:custDataLst>
            </p:nvPr>
          </p:nvSpPr>
          <p:spPr>
            <a:xfrm>
              <a:off x="3696" y="1367"/>
              <a:ext cx="624" cy="137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2000" dirty="0">
                  <a:latin typeface="Times New Roman" panose="02020603050405020304" pitchFamily="18" charset="0"/>
                  <a:cs typeface="等线 Light" panose="02010600030101010101" charset="-122"/>
                </a:rPr>
                <a:t>exp</a:t>
              </a:r>
              <a:endParaRPr lang="en-US" altLang="zh-CN" sz="2000" dirty="0">
                <a:latin typeface="Times New Roman" panose="02020603050405020304" pitchFamily="18" charset="0"/>
                <a:cs typeface="等线 Light" panose="02010600030101010101" charset="-122"/>
              </a:endParaRPr>
            </a:p>
          </p:txBody>
        </p:sp>
        <p:sp>
          <p:nvSpPr>
            <p:cNvPr id="27" name="Line 14"/>
            <p:cNvSpPr/>
            <p:nvPr>
              <p:custDataLst>
                <p:tags r:id="rId11"/>
              </p:custDataLst>
            </p:nvPr>
          </p:nvSpPr>
          <p:spPr>
            <a:xfrm>
              <a:off x="3984" y="1550"/>
              <a:ext cx="0" cy="18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28" name="Group 47"/>
          <p:cNvGrpSpPr/>
          <p:nvPr/>
        </p:nvGrpSpPr>
        <p:grpSpPr>
          <a:xfrm>
            <a:off x="3941445" y="3578860"/>
            <a:ext cx="3276600" cy="723900"/>
            <a:chOff x="624" y="1732"/>
            <a:chExt cx="2064" cy="456"/>
          </a:xfrm>
        </p:grpSpPr>
        <p:sp useBgFill="1">
          <p:nvSpPr>
            <p:cNvPr id="29" name="Rectangle 15"/>
            <p:cNvSpPr/>
            <p:nvPr>
              <p:custDataLst>
                <p:tags r:id="rId12"/>
              </p:custDataLst>
            </p:nvPr>
          </p:nvSpPr>
          <p:spPr>
            <a:xfrm>
              <a:off x="1056" y="1732"/>
              <a:ext cx="1200" cy="137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2000" dirty="0">
                  <a:latin typeface="Times New Roman" panose="02020603050405020304" pitchFamily="18" charset="0"/>
                  <a:cs typeface="等线 Light" panose="02010600030101010101" charset="-122"/>
                </a:rPr>
                <a:t>Subscript-exp</a:t>
              </a:r>
              <a:endParaRPr lang="en-US" altLang="zh-CN" sz="2000" dirty="0">
                <a:latin typeface="Times New Roman" panose="02020603050405020304" pitchFamily="18" charset="0"/>
                <a:cs typeface="等线 Light" panose="02010600030101010101" charset="-122"/>
              </a:endParaRPr>
            </a:p>
          </p:txBody>
        </p:sp>
        <p:sp>
          <p:nvSpPr>
            <p:cNvPr id="30" name="Line 17"/>
            <p:cNvSpPr/>
            <p:nvPr>
              <p:custDataLst>
                <p:tags r:id="rId13"/>
              </p:custDataLst>
            </p:nvPr>
          </p:nvSpPr>
          <p:spPr>
            <a:xfrm flipH="1">
              <a:off x="624" y="1915"/>
              <a:ext cx="864" cy="2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1" name="Line 18"/>
            <p:cNvSpPr/>
            <p:nvPr>
              <p:custDataLst>
                <p:tags r:id="rId14"/>
              </p:custDataLst>
            </p:nvPr>
          </p:nvSpPr>
          <p:spPr>
            <a:xfrm flipH="1">
              <a:off x="1344" y="1915"/>
              <a:ext cx="240" cy="2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2" name="Line 19"/>
            <p:cNvSpPr/>
            <p:nvPr>
              <p:custDataLst>
                <p:tags r:id="rId15"/>
              </p:custDataLst>
            </p:nvPr>
          </p:nvSpPr>
          <p:spPr>
            <a:xfrm>
              <a:off x="1680" y="1915"/>
              <a:ext cx="432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3" name="Line 20"/>
            <p:cNvSpPr/>
            <p:nvPr>
              <p:custDataLst>
                <p:tags r:id="rId16"/>
              </p:custDataLst>
            </p:nvPr>
          </p:nvSpPr>
          <p:spPr>
            <a:xfrm>
              <a:off x="1824" y="1915"/>
              <a:ext cx="864" cy="18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34" name="Group 48"/>
          <p:cNvGrpSpPr/>
          <p:nvPr/>
        </p:nvGrpSpPr>
        <p:grpSpPr>
          <a:xfrm>
            <a:off x="8361045" y="3507423"/>
            <a:ext cx="1905000" cy="650875"/>
            <a:chOff x="3408" y="1687"/>
            <a:chExt cx="1200" cy="410"/>
          </a:xfrm>
        </p:grpSpPr>
        <p:sp useBgFill="1">
          <p:nvSpPr>
            <p:cNvPr id="35" name="Rectangle 16"/>
            <p:cNvSpPr/>
            <p:nvPr>
              <p:custDataLst>
                <p:tags r:id="rId17"/>
              </p:custDataLst>
            </p:nvPr>
          </p:nvSpPr>
          <p:spPr>
            <a:xfrm>
              <a:off x="3648" y="1687"/>
              <a:ext cx="768" cy="18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2000" dirty="0">
                  <a:latin typeface="Times New Roman" panose="02020603050405020304" pitchFamily="18" charset="0"/>
                  <a:cs typeface="等线 Light" panose="02010600030101010101" charset="-122"/>
                </a:rPr>
                <a:t>add-exp</a:t>
              </a:r>
              <a:endParaRPr lang="en-US" altLang="zh-CN" sz="2000" dirty="0">
                <a:latin typeface="Times New Roman" panose="02020603050405020304" pitchFamily="18" charset="0"/>
                <a:cs typeface="等线 Light" panose="02010600030101010101" charset="-122"/>
              </a:endParaRPr>
            </a:p>
          </p:txBody>
        </p:sp>
        <p:sp>
          <p:nvSpPr>
            <p:cNvPr id="36" name="Line 21"/>
            <p:cNvSpPr/>
            <p:nvPr>
              <p:custDataLst>
                <p:tags r:id="rId18"/>
              </p:custDataLst>
            </p:nvPr>
          </p:nvSpPr>
          <p:spPr>
            <a:xfrm flipH="1">
              <a:off x="3408" y="1915"/>
              <a:ext cx="528" cy="18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7" name="Line 22"/>
            <p:cNvSpPr/>
            <p:nvPr>
              <p:custDataLst>
                <p:tags r:id="rId19"/>
              </p:custDataLst>
            </p:nvPr>
          </p:nvSpPr>
          <p:spPr>
            <a:xfrm flipH="1">
              <a:off x="4032" y="1915"/>
              <a:ext cx="0" cy="18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38" name="Line 23"/>
            <p:cNvSpPr/>
            <p:nvPr>
              <p:custDataLst>
                <p:tags r:id="rId20"/>
              </p:custDataLst>
            </p:nvPr>
          </p:nvSpPr>
          <p:spPr>
            <a:xfrm>
              <a:off x="4128" y="1915"/>
              <a:ext cx="480" cy="1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 useBgFill="1">
        <p:nvSpPr>
          <p:cNvPr id="39" name="Rectangle 28"/>
          <p:cNvSpPr/>
          <p:nvPr>
            <p:custDataLst>
              <p:tags r:id="rId21"/>
            </p:custDataLst>
          </p:nvPr>
        </p:nvSpPr>
        <p:spPr>
          <a:xfrm>
            <a:off x="4932045" y="4158298"/>
            <a:ext cx="228600" cy="36195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000" dirty="0">
                <a:solidFill>
                  <a:srgbClr val="FF0066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[</a:t>
            </a:r>
            <a:endParaRPr lang="en-US" altLang="zh-CN" sz="2000" dirty="0">
              <a:solidFill>
                <a:srgbClr val="FF0066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 useBgFill="1">
        <p:nvSpPr>
          <p:cNvPr id="40" name="Rectangle 29"/>
          <p:cNvSpPr/>
          <p:nvPr>
            <p:custDataLst>
              <p:tags r:id="rId22"/>
            </p:custDataLst>
          </p:nvPr>
        </p:nvSpPr>
        <p:spPr>
          <a:xfrm>
            <a:off x="7218045" y="4158298"/>
            <a:ext cx="228600" cy="36195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000" dirty="0">
                <a:solidFill>
                  <a:srgbClr val="FF0066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]</a:t>
            </a:r>
            <a:endParaRPr lang="en-US" altLang="zh-CN" sz="2000" dirty="0">
              <a:solidFill>
                <a:srgbClr val="FF0066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 useBgFill="1">
        <p:nvSpPr>
          <p:cNvPr id="41" name="Rectangle 30"/>
          <p:cNvSpPr/>
          <p:nvPr>
            <p:custDataLst>
              <p:tags r:id="rId23"/>
            </p:custDataLst>
          </p:nvPr>
        </p:nvSpPr>
        <p:spPr>
          <a:xfrm>
            <a:off x="9275445" y="4158298"/>
            <a:ext cx="228600" cy="36195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000" dirty="0">
                <a:solidFill>
                  <a:srgbClr val="FF0066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+</a:t>
            </a:r>
            <a:endParaRPr lang="en-US" altLang="zh-CN" sz="2000" dirty="0">
              <a:solidFill>
                <a:srgbClr val="FF0066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grpSp>
        <p:nvGrpSpPr>
          <p:cNvPr id="42" name="Group 43"/>
          <p:cNvGrpSpPr/>
          <p:nvPr/>
        </p:nvGrpSpPr>
        <p:grpSpPr>
          <a:xfrm>
            <a:off x="3432810" y="4519613"/>
            <a:ext cx="990600" cy="650875"/>
            <a:chOff x="240" y="2143"/>
            <a:chExt cx="624" cy="410"/>
          </a:xfrm>
        </p:grpSpPr>
        <p:sp useBgFill="1">
          <p:nvSpPr>
            <p:cNvPr id="43" name="Rectangle 24"/>
            <p:cNvSpPr/>
            <p:nvPr>
              <p:custDataLst>
                <p:tags r:id="rId24"/>
              </p:custDataLst>
            </p:nvPr>
          </p:nvSpPr>
          <p:spPr>
            <a:xfrm>
              <a:off x="240" y="2143"/>
              <a:ext cx="624" cy="18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2000" dirty="0">
                  <a:latin typeface="Times New Roman" panose="02020603050405020304" pitchFamily="18" charset="0"/>
                  <a:cs typeface="等线 Light" panose="02010600030101010101" charset="-122"/>
                </a:rPr>
                <a:t>exp</a:t>
              </a:r>
              <a:endParaRPr lang="en-US" altLang="zh-CN" sz="2000" dirty="0">
                <a:latin typeface="Times New Roman" panose="02020603050405020304" pitchFamily="18" charset="0"/>
                <a:cs typeface="等线 Light" panose="02010600030101010101" charset="-122"/>
              </a:endParaRPr>
            </a:p>
          </p:txBody>
        </p:sp>
        <p:sp>
          <p:nvSpPr>
            <p:cNvPr id="44" name="Line 31"/>
            <p:cNvSpPr/>
            <p:nvPr>
              <p:custDataLst>
                <p:tags r:id="rId25"/>
              </p:custDataLst>
            </p:nvPr>
          </p:nvSpPr>
          <p:spPr>
            <a:xfrm>
              <a:off x="624" y="2371"/>
              <a:ext cx="0" cy="18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45" name="Group 46"/>
          <p:cNvGrpSpPr/>
          <p:nvPr/>
        </p:nvGrpSpPr>
        <p:grpSpPr>
          <a:xfrm>
            <a:off x="9961245" y="4158298"/>
            <a:ext cx="914400" cy="579437"/>
            <a:chOff x="4416" y="2097"/>
            <a:chExt cx="576" cy="365"/>
          </a:xfrm>
        </p:grpSpPr>
        <p:sp useBgFill="1">
          <p:nvSpPr>
            <p:cNvPr id="46" name="Rectangle 27"/>
            <p:cNvSpPr/>
            <p:nvPr>
              <p:custDataLst>
                <p:tags r:id="rId26"/>
              </p:custDataLst>
            </p:nvPr>
          </p:nvSpPr>
          <p:spPr>
            <a:xfrm>
              <a:off x="4416" y="2097"/>
              <a:ext cx="576" cy="18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2000" dirty="0">
                  <a:latin typeface="Times New Roman" panose="02020603050405020304" pitchFamily="18" charset="0"/>
                  <a:cs typeface="等线 Light" panose="02010600030101010101" charset="-122"/>
                </a:rPr>
                <a:t>exp</a:t>
              </a:r>
              <a:endParaRPr lang="en-US" altLang="zh-CN" sz="2000" dirty="0">
                <a:latin typeface="Times New Roman" panose="02020603050405020304" pitchFamily="18" charset="0"/>
                <a:cs typeface="等线 Light" panose="02010600030101010101" charset="-122"/>
              </a:endParaRPr>
            </a:p>
          </p:txBody>
        </p:sp>
        <p:sp>
          <p:nvSpPr>
            <p:cNvPr id="47" name="Line 32"/>
            <p:cNvSpPr/>
            <p:nvPr>
              <p:custDataLst>
                <p:tags r:id="rId27"/>
              </p:custDataLst>
            </p:nvPr>
          </p:nvSpPr>
          <p:spPr>
            <a:xfrm>
              <a:off x="4752" y="2279"/>
              <a:ext cx="0" cy="18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48" name="Group 44"/>
          <p:cNvGrpSpPr/>
          <p:nvPr/>
        </p:nvGrpSpPr>
        <p:grpSpPr>
          <a:xfrm>
            <a:off x="5770245" y="4231323"/>
            <a:ext cx="838200" cy="577850"/>
            <a:chOff x="1776" y="2143"/>
            <a:chExt cx="528" cy="364"/>
          </a:xfrm>
        </p:grpSpPr>
        <p:sp useBgFill="1">
          <p:nvSpPr>
            <p:cNvPr id="49" name="Rectangle 25"/>
            <p:cNvSpPr/>
            <p:nvPr>
              <p:custDataLst>
                <p:tags r:id="rId28"/>
              </p:custDataLst>
            </p:nvPr>
          </p:nvSpPr>
          <p:spPr>
            <a:xfrm>
              <a:off x="1776" y="2143"/>
              <a:ext cx="528" cy="182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2000" dirty="0">
                  <a:latin typeface="Times New Roman" panose="02020603050405020304" pitchFamily="18" charset="0"/>
                  <a:cs typeface="等线 Light" panose="02010600030101010101" charset="-122"/>
                </a:rPr>
                <a:t>exp</a:t>
              </a:r>
              <a:endParaRPr lang="en-US" altLang="zh-CN" sz="2000" dirty="0">
                <a:latin typeface="Times New Roman" panose="02020603050405020304" pitchFamily="18" charset="0"/>
                <a:cs typeface="等线 Light" panose="02010600030101010101" charset="-122"/>
              </a:endParaRPr>
            </a:p>
          </p:txBody>
        </p:sp>
        <p:sp>
          <p:nvSpPr>
            <p:cNvPr id="50" name="Line 33"/>
            <p:cNvSpPr/>
            <p:nvPr>
              <p:custDataLst>
                <p:tags r:id="rId29"/>
              </p:custDataLst>
            </p:nvPr>
          </p:nvSpPr>
          <p:spPr>
            <a:xfrm>
              <a:off x="2064" y="2325"/>
              <a:ext cx="0" cy="18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pSp>
        <p:nvGrpSpPr>
          <p:cNvPr id="51" name="Group 45"/>
          <p:cNvGrpSpPr/>
          <p:nvPr/>
        </p:nvGrpSpPr>
        <p:grpSpPr>
          <a:xfrm>
            <a:off x="7903845" y="4231323"/>
            <a:ext cx="914400" cy="506412"/>
            <a:chOff x="3120" y="2143"/>
            <a:chExt cx="576" cy="319"/>
          </a:xfrm>
        </p:grpSpPr>
        <p:sp useBgFill="1">
          <p:nvSpPr>
            <p:cNvPr id="52" name="Rectangle 26"/>
            <p:cNvSpPr/>
            <p:nvPr>
              <p:custDataLst>
                <p:tags r:id="rId30"/>
              </p:custDataLst>
            </p:nvPr>
          </p:nvSpPr>
          <p:spPr>
            <a:xfrm>
              <a:off x="3120" y="2143"/>
              <a:ext cx="576" cy="91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2000" dirty="0">
                  <a:latin typeface="Times New Roman" panose="02020603050405020304" pitchFamily="18" charset="0"/>
                  <a:cs typeface="等线 Light" panose="02010600030101010101" charset="-122"/>
                </a:rPr>
                <a:t>exp</a:t>
              </a:r>
              <a:endParaRPr lang="en-US" altLang="zh-CN" sz="2000" dirty="0">
                <a:latin typeface="Times New Roman" panose="02020603050405020304" pitchFamily="18" charset="0"/>
                <a:cs typeface="等线 Light" panose="02010600030101010101" charset="-122"/>
              </a:endParaRPr>
            </a:p>
          </p:txBody>
        </p:sp>
        <p:sp>
          <p:nvSpPr>
            <p:cNvPr id="53" name="Line 34"/>
            <p:cNvSpPr/>
            <p:nvPr>
              <p:custDataLst>
                <p:tags r:id="rId31"/>
              </p:custDataLst>
            </p:nvPr>
          </p:nvSpPr>
          <p:spPr>
            <a:xfrm>
              <a:off x="3456" y="2279"/>
              <a:ext cx="0" cy="18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 useBgFill="1">
        <p:nvSpPr>
          <p:cNvPr id="54" name="Rectangle 35"/>
          <p:cNvSpPr/>
          <p:nvPr>
            <p:custDataLst>
              <p:tags r:id="rId32"/>
            </p:custDataLst>
          </p:nvPr>
        </p:nvSpPr>
        <p:spPr>
          <a:xfrm>
            <a:off x="3356610" y="5170488"/>
            <a:ext cx="1524000" cy="723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000" dirty="0">
                <a:latin typeface="Times New Roman" panose="02020603050405020304" pitchFamily="18" charset="0"/>
                <a:cs typeface="等线 Light" panose="02010600030101010101" charset="-122"/>
              </a:rPr>
              <a:t>identifier</a:t>
            </a:r>
            <a:endParaRPr lang="en-US" altLang="zh-CN" sz="2000" dirty="0">
              <a:latin typeface="Times New Roman" panose="02020603050405020304" pitchFamily="18" charset="0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000" dirty="0">
                <a:solidFill>
                  <a:srgbClr val="FF0066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a</a:t>
            </a:r>
            <a:endParaRPr lang="en-US" altLang="zh-CN" sz="2000" dirty="0">
              <a:solidFill>
                <a:srgbClr val="FF0066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 useBgFill="1">
        <p:nvSpPr>
          <p:cNvPr id="55" name="Rectangle 36"/>
          <p:cNvSpPr/>
          <p:nvPr>
            <p:custDataLst>
              <p:tags r:id="rId33"/>
            </p:custDataLst>
          </p:nvPr>
        </p:nvSpPr>
        <p:spPr>
          <a:xfrm>
            <a:off x="7522845" y="4882198"/>
            <a:ext cx="1828800" cy="723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000" dirty="0">
                <a:latin typeface="Times New Roman" panose="02020603050405020304" pitchFamily="18" charset="0"/>
                <a:cs typeface="等线 Light" panose="02010600030101010101" charset="-122"/>
              </a:rPr>
              <a:t>number</a:t>
            </a:r>
            <a:endParaRPr lang="en-US" altLang="zh-CN" sz="2000" dirty="0">
              <a:latin typeface="Times New Roman" panose="02020603050405020304" pitchFamily="18" charset="0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000" dirty="0">
                <a:solidFill>
                  <a:srgbClr val="FF0066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4</a:t>
            </a:r>
            <a:endParaRPr lang="en-US" altLang="zh-CN" sz="2000" dirty="0">
              <a:solidFill>
                <a:srgbClr val="FF0066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 useBgFill="1">
        <p:nvSpPr>
          <p:cNvPr id="56" name="Rectangle 37"/>
          <p:cNvSpPr/>
          <p:nvPr>
            <p:custDataLst>
              <p:tags r:id="rId34"/>
            </p:custDataLst>
          </p:nvPr>
        </p:nvSpPr>
        <p:spPr>
          <a:xfrm>
            <a:off x="9656445" y="4882198"/>
            <a:ext cx="1752600" cy="723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000" dirty="0">
                <a:latin typeface="Times New Roman" panose="02020603050405020304" pitchFamily="18" charset="0"/>
                <a:cs typeface="等线 Light" panose="02010600030101010101" charset="-122"/>
              </a:rPr>
              <a:t>number</a:t>
            </a:r>
            <a:endParaRPr lang="en-US" altLang="zh-CN" sz="2000" dirty="0">
              <a:latin typeface="Times New Roman" panose="02020603050405020304" pitchFamily="18" charset="0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000" dirty="0">
                <a:solidFill>
                  <a:srgbClr val="FF0066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2</a:t>
            </a:r>
            <a:endParaRPr lang="en-US" altLang="zh-CN" sz="2000" dirty="0">
              <a:solidFill>
                <a:srgbClr val="FF0066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 useBgFill="1">
        <p:nvSpPr>
          <p:cNvPr id="57" name="Rectangle 38"/>
          <p:cNvSpPr/>
          <p:nvPr>
            <p:custDataLst>
              <p:tags r:id="rId35"/>
            </p:custDataLst>
          </p:nvPr>
        </p:nvSpPr>
        <p:spPr>
          <a:xfrm>
            <a:off x="5541645" y="4955223"/>
            <a:ext cx="1828800" cy="72390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000" dirty="0">
                <a:latin typeface="Times New Roman" panose="02020603050405020304" pitchFamily="18" charset="0"/>
                <a:cs typeface="等线 Light" panose="02010600030101010101" charset="-122"/>
              </a:rPr>
              <a:t>identifier</a:t>
            </a:r>
            <a:endParaRPr lang="en-US" altLang="zh-CN" sz="2000" dirty="0">
              <a:latin typeface="Times New Roman" panose="02020603050405020304" pitchFamily="18" charset="0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000" dirty="0">
                <a:solidFill>
                  <a:srgbClr val="FF0066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index</a:t>
            </a:r>
            <a:endParaRPr lang="en-US" altLang="zh-CN" sz="2000" dirty="0">
              <a:solidFill>
                <a:srgbClr val="FF0066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 useBgFill="1">
        <p:nvSpPr>
          <p:cNvPr id="58" name="Rectangle 40"/>
          <p:cNvSpPr/>
          <p:nvPr>
            <p:custDataLst>
              <p:tags r:id="rId36"/>
            </p:custDataLst>
          </p:nvPr>
        </p:nvSpPr>
        <p:spPr>
          <a:xfrm>
            <a:off x="5223510" y="1405890"/>
            <a:ext cx="6518275" cy="579755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句子</a:t>
            </a:r>
            <a:r>
              <a:rPr lang="en-US" altLang="zh-CN" sz="2800" b="1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a[index]=4+2</a:t>
            </a: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的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分析树</a:t>
            </a: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(</a:t>
            </a:r>
            <a:r>
              <a:rPr lang="en-US" altLang="zh-CN" sz="28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parse tree)：</a:t>
            </a:r>
            <a:endParaRPr lang="en-US" altLang="zh-CN" sz="2800" b="1" dirty="0">
              <a:solidFill>
                <a:srgbClr val="21212D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39" grpId="0" bldLvl="0" animBg="1"/>
      <p:bldP spid="40" grpId="0" bldLvl="0" animBg="1"/>
      <p:bldP spid="41" grpId="0" bldLvl="0" animBg="1"/>
      <p:bldP spid="54" grpId="0" bldLvl="0" animBg="1"/>
      <p:bldP spid="55" grpId="0" bldLvl="0" animBg="1"/>
      <p:bldP spid="56" grpId="0" bldLvl="0" animBg="1"/>
      <p:bldP spid="57" grpId="0" bldLvl="0" animBg="1"/>
      <p:bldP spid="58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18135" y="276860"/>
            <a:ext cx="876109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编译器构造逻辑阶段的划分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 useBgFill="1">
        <p:nvSpPr>
          <p:cNvPr id="30722" name="Rectangle 33"/>
          <p:cNvSpPr/>
          <p:nvPr/>
        </p:nvSpPr>
        <p:spPr>
          <a:xfrm>
            <a:off x="2068195" y="2075180"/>
            <a:ext cx="8075930" cy="4227195"/>
          </a:xfrm>
          <a:prstGeom prst="rect">
            <a:avLst/>
          </a:prstGeom>
          <a:ln w="381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2586355" y="1262380"/>
            <a:ext cx="7070725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b="1" dirty="0">
                <a:latin typeface="等线" panose="02010600030101010101" charset="-122"/>
                <a:ea typeface="等线" panose="02010600030101010101" charset="-122"/>
              </a:rPr>
              <a:t>编译器逻辑结构的组成</a:t>
            </a:r>
            <a:endParaRPr lang="zh-CN" altLang="en-US" sz="3200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sp useBgFill="1">
        <p:nvSpPr>
          <p:cNvPr id="30724" name="Text Box 3">
            <a:hlinkClick r:id="rId1" action="ppaction://hlinksldjump"/>
          </p:cNvPr>
          <p:cNvSpPr txBox="1"/>
          <p:nvPr/>
        </p:nvSpPr>
        <p:spPr>
          <a:xfrm>
            <a:off x="2440940" y="3689350"/>
            <a:ext cx="6096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词法分析程序</a:t>
            </a:r>
            <a:endParaRPr lang="zh-CN" altLang="en-US" sz="2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5" name="Text Box 4"/>
          <p:cNvSpPr txBox="1"/>
          <p:nvPr/>
        </p:nvSpPr>
        <p:spPr>
          <a:xfrm>
            <a:off x="3751580" y="3740785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语法分析程序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6" name="Text Box 5"/>
          <p:cNvSpPr txBox="1"/>
          <p:nvPr/>
        </p:nvSpPr>
        <p:spPr>
          <a:xfrm>
            <a:off x="502158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语义分析程序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7" name="Text Box 6">
            <a:hlinkClick r:id="rId2" action="ppaction://hlinksldjump"/>
          </p:cNvPr>
          <p:cNvSpPr txBox="1"/>
          <p:nvPr/>
        </p:nvSpPr>
        <p:spPr>
          <a:xfrm>
            <a:off x="633730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中间代码生成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8" name="Text Box 7"/>
          <p:cNvSpPr txBox="1"/>
          <p:nvPr/>
        </p:nvSpPr>
        <p:spPr>
          <a:xfrm>
            <a:off x="775462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代码优化程序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9" name="Text Box 8"/>
          <p:cNvSpPr txBox="1"/>
          <p:nvPr/>
        </p:nvSpPr>
        <p:spPr>
          <a:xfrm>
            <a:off x="912368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目标代码生成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0" name="AutoShape 9"/>
          <p:cNvSpPr/>
          <p:nvPr/>
        </p:nvSpPr>
        <p:spPr>
          <a:xfrm>
            <a:off x="663575" y="3879533"/>
            <a:ext cx="838200" cy="1524000"/>
          </a:xfrm>
          <a:prstGeom prst="parallelogram">
            <a:avLst>
              <a:gd name="adj" fmla="val 25000"/>
            </a:avLst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源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码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1" name="AutoShape 10"/>
          <p:cNvSpPr/>
          <p:nvPr/>
        </p:nvSpPr>
        <p:spPr>
          <a:xfrm>
            <a:off x="10685780" y="3627120"/>
            <a:ext cx="609600" cy="1905000"/>
          </a:xfrm>
          <a:prstGeom prst="parallelogram">
            <a:avLst>
              <a:gd name="adj" fmla="val 25000"/>
            </a:avLst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目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标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码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2" name="AutoShape 11"/>
          <p:cNvSpPr/>
          <p:nvPr/>
        </p:nvSpPr>
        <p:spPr>
          <a:xfrm>
            <a:off x="3065780" y="2165350"/>
            <a:ext cx="1524000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常数表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3" name="AutoShape 12"/>
          <p:cNvSpPr/>
          <p:nvPr/>
        </p:nvSpPr>
        <p:spPr>
          <a:xfrm>
            <a:off x="4742180" y="2165350"/>
            <a:ext cx="1371600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符号表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4" name="AutoShape 13"/>
          <p:cNvSpPr/>
          <p:nvPr/>
        </p:nvSpPr>
        <p:spPr>
          <a:xfrm>
            <a:off x="6189980" y="2165350"/>
            <a:ext cx="2016125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错误处理器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30735" name="Line 14"/>
          <p:cNvSpPr/>
          <p:nvPr/>
        </p:nvSpPr>
        <p:spPr>
          <a:xfrm>
            <a:off x="1406525" y="4760595"/>
            <a:ext cx="60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6" name="Line 15"/>
          <p:cNvSpPr/>
          <p:nvPr/>
        </p:nvSpPr>
        <p:spPr>
          <a:xfrm>
            <a:off x="3050540" y="4756150"/>
            <a:ext cx="596265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7" name="Line 16"/>
          <p:cNvSpPr/>
          <p:nvPr/>
        </p:nvSpPr>
        <p:spPr>
          <a:xfrm flipV="1">
            <a:off x="4326255" y="4756785"/>
            <a:ext cx="67310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8" name="Line 17"/>
          <p:cNvSpPr/>
          <p:nvPr/>
        </p:nvSpPr>
        <p:spPr>
          <a:xfrm>
            <a:off x="5598795" y="4756150"/>
            <a:ext cx="64135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9" name="Line 18"/>
          <p:cNvSpPr/>
          <p:nvPr/>
        </p:nvSpPr>
        <p:spPr>
          <a:xfrm flipV="1">
            <a:off x="6929755" y="4795520"/>
            <a:ext cx="71374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40" name="Line 19"/>
          <p:cNvSpPr/>
          <p:nvPr/>
        </p:nvSpPr>
        <p:spPr>
          <a:xfrm flipV="1">
            <a:off x="8359140" y="4756785"/>
            <a:ext cx="707390" cy="381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41" name="Line 20"/>
          <p:cNvSpPr/>
          <p:nvPr/>
        </p:nvSpPr>
        <p:spPr>
          <a:xfrm>
            <a:off x="10228580" y="4693920"/>
            <a:ext cx="533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2" name="Line 21"/>
          <p:cNvSpPr/>
          <p:nvPr>
            <p:custDataLst>
              <p:tags r:id="rId3"/>
            </p:custDataLst>
          </p:nvPr>
        </p:nvSpPr>
        <p:spPr>
          <a:xfrm>
            <a:off x="4056380" y="2698750"/>
            <a:ext cx="137160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" name="Line 22"/>
          <p:cNvSpPr/>
          <p:nvPr>
            <p:custDataLst>
              <p:tags r:id="rId4"/>
            </p:custDataLst>
          </p:nvPr>
        </p:nvSpPr>
        <p:spPr>
          <a:xfrm>
            <a:off x="5427980" y="2698750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" name="Line 23"/>
          <p:cNvSpPr/>
          <p:nvPr>
            <p:custDataLst>
              <p:tags r:id="rId5"/>
            </p:custDataLst>
          </p:nvPr>
        </p:nvSpPr>
        <p:spPr>
          <a:xfrm flipV="1">
            <a:off x="5427980" y="2698750"/>
            <a:ext cx="160020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Line 24"/>
          <p:cNvSpPr/>
          <p:nvPr>
            <p:custDataLst>
              <p:tags r:id="rId6"/>
            </p:custDataLst>
          </p:nvPr>
        </p:nvSpPr>
        <p:spPr>
          <a:xfrm flipV="1">
            <a:off x="2801620" y="3155950"/>
            <a:ext cx="2626360" cy="533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" name="Line 25"/>
          <p:cNvSpPr/>
          <p:nvPr>
            <p:custDataLst>
              <p:tags r:id="rId7"/>
            </p:custDataLst>
          </p:nvPr>
        </p:nvSpPr>
        <p:spPr>
          <a:xfrm flipV="1">
            <a:off x="3952240" y="3155315"/>
            <a:ext cx="1475105" cy="51498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" name="Line 26"/>
          <p:cNvSpPr/>
          <p:nvPr>
            <p:custDataLst>
              <p:tags r:id="rId8"/>
            </p:custDataLst>
          </p:nvPr>
        </p:nvSpPr>
        <p:spPr>
          <a:xfrm flipH="1" flipV="1">
            <a:off x="5427980" y="3155950"/>
            <a:ext cx="0" cy="533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" name="Line 27"/>
          <p:cNvSpPr/>
          <p:nvPr>
            <p:custDataLst>
              <p:tags r:id="rId9"/>
            </p:custDataLst>
          </p:nvPr>
        </p:nvSpPr>
        <p:spPr>
          <a:xfrm flipH="1" flipV="1">
            <a:off x="5427980" y="3155950"/>
            <a:ext cx="1209675" cy="52959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" name="Line 28"/>
          <p:cNvSpPr/>
          <p:nvPr>
            <p:custDataLst>
              <p:tags r:id="rId10"/>
            </p:custDataLst>
          </p:nvPr>
        </p:nvSpPr>
        <p:spPr>
          <a:xfrm flipH="1" flipV="1">
            <a:off x="5427980" y="3155950"/>
            <a:ext cx="2588895" cy="51562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" name="Line 29"/>
          <p:cNvSpPr/>
          <p:nvPr>
            <p:custDataLst>
              <p:tags r:id="rId11"/>
            </p:custDataLst>
          </p:nvPr>
        </p:nvSpPr>
        <p:spPr>
          <a:xfrm flipH="1" flipV="1">
            <a:off x="5427980" y="3155950"/>
            <a:ext cx="3980815" cy="47053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>
            <a:spLocks noGrp="1"/>
          </p:cNvSpPr>
          <p:nvPr/>
        </p:nvSpPr>
        <p:spPr>
          <a:xfrm>
            <a:off x="351790" y="276860"/>
            <a:ext cx="8727440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编译器构造逻辑阶段的划分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38916" name="Rectangle 41"/>
          <p:cNvSpPr>
            <a:spLocks noGrp="1"/>
          </p:cNvSpPr>
          <p:nvPr>
            <p:ph type="title"/>
          </p:nvPr>
        </p:nvSpPr>
        <p:spPr>
          <a:xfrm>
            <a:off x="459105" y="1298575"/>
            <a:ext cx="4263390" cy="533400"/>
          </a:xfrm>
        </p:spPr>
        <p:txBody>
          <a:bodyPr vert="horz" wrap="square" lIns="91440" tIns="45720" rIns="91440" bIns="45720" anchor="b" anchorCtr="0">
            <a:noAutofit/>
          </a:bodyPr>
          <a:p>
            <a:pPr eaLnBrk="1" hangingPunct="1"/>
            <a:r>
              <a:rPr lang="zh-CN" altLang="en-US" sz="3200" b="1" dirty="0">
                <a:latin typeface="等线" panose="02010600030101010101" charset="-122"/>
                <a:ea typeface="等线" panose="02010600030101010101" charset="-122"/>
              </a:rPr>
              <a:t>语义分析程序</a:t>
            </a:r>
            <a:endParaRPr lang="en-US" altLang="zh-CN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3604" name="Rectangle 52"/>
          <p:cNvSpPr>
            <a:spLocks noGrp="1"/>
          </p:cNvSpPr>
          <p:nvPr>
            <p:ph idx="1"/>
          </p:nvPr>
        </p:nvSpPr>
        <p:spPr>
          <a:xfrm>
            <a:off x="646430" y="1965325"/>
            <a:ext cx="2245360" cy="4277360"/>
          </a:xfrm>
        </p:spPr>
        <p:txBody>
          <a:bodyPr vert="horz" wrap="square" lIns="91440" tIns="45720" rIns="91440" bIns="45720" anchor="t" anchorCtr="0">
            <a:noAutofit/>
          </a:bodyPr>
          <a:p>
            <a:pPr marL="0" indent="0" eaLnBrk="1" hangingPunct="1"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24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语义分析是</a:t>
            </a:r>
            <a:r>
              <a:rPr lang="zh-CN" altLang="en-US" sz="2400" b="1" dirty="0">
                <a:latin typeface="等线" panose="02010600030101010101" charset="-122"/>
                <a:ea typeface="等线" panose="02010600030101010101" charset="-122"/>
              </a:rPr>
              <a:t>在</a:t>
            </a:r>
            <a:r>
              <a:rPr lang="zh-CN" altLang="en-US" sz="2400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</a:rPr>
              <a:t>语法分析程序确定出语法短语后，审查有无语义错误，并为代码生成阶段收集符号属性信息。</a:t>
            </a:r>
            <a:endParaRPr lang="en-US" altLang="zh-CN" sz="2400" b="1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396875" lvl="2" indent="0" eaLnBrk="1" hangingPunct="1">
              <a:lnSpc>
                <a:spcPct val="110000"/>
              </a:lnSpc>
              <a:buNone/>
            </a:pPr>
            <a:endParaRPr lang="zh-CN" altLang="en-US" sz="2400" b="1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919980" y="1401445"/>
            <a:ext cx="5843588" cy="3378200"/>
            <a:chOff x="576" y="1920"/>
            <a:chExt cx="4368" cy="2160"/>
          </a:xfrm>
        </p:grpSpPr>
        <p:grpSp>
          <p:nvGrpSpPr>
            <p:cNvPr id="39941" name="Group 3"/>
            <p:cNvGrpSpPr/>
            <p:nvPr/>
          </p:nvGrpSpPr>
          <p:grpSpPr>
            <a:xfrm>
              <a:off x="624" y="1920"/>
              <a:ext cx="4320" cy="2112"/>
              <a:chOff x="624" y="1920"/>
              <a:chExt cx="4320" cy="2112"/>
            </a:xfrm>
          </p:grpSpPr>
          <p:sp useBgFill="1">
            <p:nvSpPr>
              <p:cNvPr id="39942" name="Rectangle 4"/>
              <p:cNvSpPr/>
              <p:nvPr>
                <p:custDataLst>
                  <p:tags r:id="rId1"/>
                </p:custDataLst>
              </p:nvPr>
            </p:nvSpPr>
            <p:spPr>
              <a:xfrm>
                <a:off x="1968" y="1920"/>
                <a:ext cx="624" cy="240"/>
              </a:xfrm>
              <a:prstGeom prst="rect">
                <a:avLst/>
              </a:prstGeom>
              <a:ln w="9525">
                <a:noFill/>
              </a:ln>
            </p:spPr>
            <p:txBody>
              <a:bodyPr wrap="none" anchor="ctr" anchorCtr="0"/>
              <a:p>
                <a:pPr algn="ctr">
                  <a:lnSpc>
                    <a:spcPct val="75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3600" dirty="0">
                    <a:solidFill>
                      <a:srgbClr val="21212D"/>
                    </a:solidFill>
                    <a:latin typeface="Times New Roman" panose="02020603050405020304" pitchFamily="18" charset="0"/>
                    <a:cs typeface="等线 Light" panose="02010600030101010101" charset="-122"/>
                  </a:rPr>
                  <a:t>=</a:t>
                </a:r>
                <a:endParaRPr lang="en-US" altLang="zh-CN" sz="3600" dirty="0">
                  <a:solidFill>
                    <a:srgbClr val="21212D"/>
                  </a:solidFill>
                  <a:latin typeface="Times New Roman" panose="02020603050405020304" pitchFamily="18" charset="0"/>
                  <a:cs typeface="等线 Light" panose="02010600030101010101" charset="-122"/>
                </a:endParaRPr>
              </a:p>
            </p:txBody>
          </p:sp>
          <p:sp>
            <p:nvSpPr>
              <p:cNvPr id="39943" name="Line 5"/>
              <p:cNvSpPr/>
              <p:nvPr>
                <p:custDataLst>
                  <p:tags r:id="rId2"/>
                </p:custDataLst>
              </p:nvPr>
            </p:nvSpPr>
            <p:spPr>
              <a:xfrm flipH="1">
                <a:off x="1440" y="2112"/>
                <a:ext cx="720" cy="38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9944" name="Line 6"/>
              <p:cNvSpPr/>
              <p:nvPr>
                <p:custDataLst>
                  <p:tags r:id="rId3"/>
                </p:custDataLst>
              </p:nvPr>
            </p:nvSpPr>
            <p:spPr>
              <a:xfrm>
                <a:off x="2592" y="2160"/>
                <a:ext cx="624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 useBgFill="1">
            <p:nvSpPr>
              <p:cNvPr id="39945" name="Rectangle 7"/>
              <p:cNvSpPr/>
              <p:nvPr>
                <p:custDataLst>
                  <p:tags r:id="rId4"/>
                </p:custDataLst>
              </p:nvPr>
            </p:nvSpPr>
            <p:spPr>
              <a:xfrm>
                <a:off x="624" y="2496"/>
                <a:ext cx="1248" cy="432"/>
              </a:xfrm>
              <a:prstGeom prst="rect">
                <a:avLst/>
              </a:prstGeom>
              <a:ln w="9525">
                <a:noFill/>
              </a:ln>
            </p:spPr>
            <p:txBody>
              <a:bodyPr wrap="none" anchor="ctr" anchorCtr="0"/>
              <a:p>
                <a:pPr algn="ctr">
                  <a:lnSpc>
                    <a:spcPct val="75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3600" dirty="0">
                    <a:solidFill>
                      <a:srgbClr val="21212D"/>
                    </a:solidFill>
                    <a:latin typeface="Times New Roman" panose="02020603050405020304" pitchFamily="18" charset="0"/>
                    <a:cs typeface="等线 Light" panose="02010600030101010101" charset="-122"/>
                  </a:rPr>
                  <a:t>a[]</a:t>
                </a:r>
                <a:endParaRPr lang="en-US" altLang="zh-CN" sz="3600" dirty="0">
                  <a:solidFill>
                    <a:srgbClr val="21212D"/>
                  </a:solidFill>
                  <a:latin typeface="Times New Roman" panose="02020603050405020304" pitchFamily="18" charset="0"/>
                  <a:cs typeface="等线 Light" panose="02010600030101010101" charset="-122"/>
                </a:endParaRPr>
              </a:p>
              <a:p>
                <a:pPr algn="ctr">
                  <a:lnSpc>
                    <a:spcPct val="75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等线 Light" panose="02010600030101010101" charset="-122"/>
                  </a:rPr>
                  <a:t>array of integer</a:t>
                </a:r>
                <a:endPara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等线 Light" panose="02010600030101010101" charset="-122"/>
                </a:endParaRPr>
              </a:p>
            </p:txBody>
          </p:sp>
          <p:sp useBgFill="1">
            <p:nvSpPr>
              <p:cNvPr id="39946" name="Rectangle 8"/>
              <p:cNvSpPr/>
              <p:nvPr>
                <p:custDataLst>
                  <p:tags r:id="rId5"/>
                </p:custDataLst>
              </p:nvPr>
            </p:nvSpPr>
            <p:spPr>
              <a:xfrm>
                <a:off x="2928" y="2352"/>
                <a:ext cx="816" cy="576"/>
              </a:xfrm>
              <a:prstGeom prst="rect">
                <a:avLst/>
              </a:prstGeom>
              <a:ln w="9525">
                <a:noFill/>
              </a:ln>
            </p:spPr>
            <p:txBody>
              <a:bodyPr wrap="none" anchor="ctr" anchorCtr="0"/>
              <a:p>
                <a:pPr algn="ctr">
                  <a:lnSpc>
                    <a:spcPct val="75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3600" dirty="0">
                    <a:solidFill>
                      <a:srgbClr val="21212D"/>
                    </a:solidFill>
                    <a:latin typeface="Times New Roman" panose="02020603050405020304" pitchFamily="18" charset="0"/>
                    <a:cs typeface="等线 Light" panose="02010600030101010101" charset="-122"/>
                  </a:rPr>
                  <a:t>+</a:t>
                </a:r>
                <a:endParaRPr lang="en-US" altLang="zh-CN" sz="3600" dirty="0">
                  <a:solidFill>
                    <a:srgbClr val="21212D"/>
                  </a:solidFill>
                  <a:latin typeface="Times New Roman" panose="02020603050405020304" pitchFamily="18" charset="0"/>
                  <a:cs typeface="等线 Light" panose="02010600030101010101" charset="-122"/>
                </a:endParaRPr>
              </a:p>
              <a:p>
                <a:pPr algn="ctr">
                  <a:lnSpc>
                    <a:spcPct val="75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等线 Light" panose="02010600030101010101" charset="-122"/>
                  </a:rPr>
                  <a:t>Integer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等线 Light" panose="02010600030101010101" charset="-122"/>
                </a:endParaRPr>
              </a:p>
              <a:p>
                <a:pPr algn="ctr">
                  <a:lnSpc>
                    <a:spcPct val="75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dirty="0">
                    <a:solidFill>
                      <a:srgbClr val="21212D"/>
                    </a:solidFill>
                    <a:latin typeface="Times New Roman" panose="02020603050405020304" pitchFamily="18" charset="0"/>
                    <a:cs typeface="等线 Light" panose="02010600030101010101" charset="-122"/>
                  </a:rPr>
                  <a:t>val=6</a:t>
                </a:r>
                <a:endParaRPr lang="en-US" altLang="zh-CN" dirty="0">
                  <a:solidFill>
                    <a:srgbClr val="21212D"/>
                  </a:solidFill>
                  <a:latin typeface="Times New Roman" panose="02020603050405020304" pitchFamily="18" charset="0"/>
                  <a:cs typeface="等线 Light" panose="02010600030101010101" charset="-122"/>
                </a:endParaRPr>
              </a:p>
            </p:txBody>
          </p:sp>
          <p:sp>
            <p:nvSpPr>
              <p:cNvPr id="39947" name="Line 9"/>
              <p:cNvSpPr/>
              <p:nvPr>
                <p:custDataLst>
                  <p:tags r:id="rId6"/>
                </p:custDataLst>
              </p:nvPr>
            </p:nvSpPr>
            <p:spPr>
              <a:xfrm>
                <a:off x="1200" y="2928"/>
                <a:ext cx="1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9948" name="Line 10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2880" y="2976"/>
                <a:ext cx="192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39949" name="Line 11"/>
              <p:cNvSpPr/>
              <p:nvPr>
                <p:custDataLst>
                  <p:tags r:id="rId8"/>
                </p:custDataLst>
              </p:nvPr>
            </p:nvSpPr>
            <p:spPr>
              <a:xfrm>
                <a:off x="3600" y="2976"/>
                <a:ext cx="672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 useBgFill="1">
            <p:nvSpPr>
              <p:cNvPr id="39950" name="Rectangle 12"/>
              <p:cNvSpPr/>
              <p:nvPr>
                <p:custDataLst>
                  <p:tags r:id="rId9"/>
                </p:custDataLst>
              </p:nvPr>
            </p:nvSpPr>
            <p:spPr>
              <a:xfrm>
                <a:off x="2256" y="3168"/>
                <a:ext cx="1152" cy="864"/>
              </a:xfrm>
              <a:prstGeom prst="rect">
                <a:avLst/>
              </a:prstGeom>
              <a:ln w="9525">
                <a:noFill/>
              </a:ln>
            </p:spPr>
            <p:txBody>
              <a:bodyPr wrap="none" anchor="ctr" anchorCtr="0"/>
              <a:p>
                <a:pPr algn="ctr">
                  <a:lnSpc>
                    <a:spcPct val="75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3600" dirty="0">
                    <a:solidFill>
                      <a:srgbClr val="21212D"/>
                    </a:solidFill>
                    <a:latin typeface="Times New Roman" panose="02020603050405020304" pitchFamily="18" charset="0"/>
                    <a:cs typeface="等线 Light" panose="02010600030101010101" charset="-122"/>
                  </a:rPr>
                  <a:t>4</a:t>
                </a:r>
                <a:endParaRPr lang="en-US" altLang="zh-CN" sz="3600" dirty="0">
                  <a:solidFill>
                    <a:srgbClr val="21212D"/>
                  </a:solidFill>
                  <a:latin typeface="Times New Roman" panose="02020603050405020304" pitchFamily="18" charset="0"/>
                  <a:cs typeface="等线 Light" panose="02010600030101010101" charset="-122"/>
                </a:endParaRPr>
              </a:p>
              <a:p>
                <a:pPr algn="ctr">
                  <a:lnSpc>
                    <a:spcPct val="75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等线 Light" panose="02010600030101010101" charset="-122"/>
                  </a:rPr>
                  <a:t>dtype=integer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等线 Light" panose="02010600030101010101" charset="-122"/>
                </a:endParaRPr>
              </a:p>
              <a:p>
                <a:pPr algn="ctr">
                  <a:lnSpc>
                    <a:spcPct val="75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dirty="0">
                    <a:solidFill>
                      <a:srgbClr val="21212D"/>
                    </a:solidFill>
                    <a:latin typeface="Times New Roman" panose="02020603050405020304" pitchFamily="18" charset="0"/>
                    <a:cs typeface="等线 Light" panose="02010600030101010101" charset="-122"/>
                  </a:rPr>
                  <a:t>val=4</a:t>
                </a:r>
                <a:endParaRPr lang="en-US" altLang="zh-CN" dirty="0">
                  <a:solidFill>
                    <a:srgbClr val="21212D"/>
                  </a:solidFill>
                  <a:latin typeface="Times New Roman" panose="02020603050405020304" pitchFamily="18" charset="0"/>
                  <a:cs typeface="等线 Light" panose="02010600030101010101" charset="-122"/>
                </a:endParaRPr>
              </a:p>
            </p:txBody>
          </p:sp>
          <p:sp useBgFill="1">
            <p:nvSpPr>
              <p:cNvPr id="39951" name="Rectangle 13"/>
              <p:cNvSpPr/>
              <p:nvPr>
                <p:custDataLst>
                  <p:tags r:id="rId10"/>
                </p:custDataLst>
              </p:nvPr>
            </p:nvSpPr>
            <p:spPr>
              <a:xfrm>
                <a:off x="3696" y="3216"/>
                <a:ext cx="1248" cy="768"/>
              </a:xfrm>
              <a:prstGeom prst="rect">
                <a:avLst/>
              </a:prstGeom>
              <a:ln w="9525">
                <a:noFill/>
              </a:ln>
            </p:spPr>
            <p:txBody>
              <a:bodyPr wrap="none" anchor="ctr" anchorCtr="0"/>
              <a:p>
                <a:pPr algn="ctr">
                  <a:lnSpc>
                    <a:spcPct val="75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sz="3600" dirty="0">
                    <a:solidFill>
                      <a:srgbClr val="21212D"/>
                    </a:solidFill>
                    <a:latin typeface="Times New Roman" panose="02020603050405020304" pitchFamily="18" charset="0"/>
                    <a:cs typeface="等线 Light" panose="02010600030101010101" charset="-122"/>
                  </a:rPr>
                  <a:t>2</a:t>
                </a:r>
                <a:endParaRPr lang="en-US" altLang="zh-CN" sz="3600" dirty="0">
                  <a:solidFill>
                    <a:srgbClr val="21212D"/>
                  </a:solidFill>
                  <a:latin typeface="Times New Roman" panose="02020603050405020304" pitchFamily="18" charset="0"/>
                  <a:cs typeface="等线 Light" panose="02010600030101010101" charset="-122"/>
                </a:endParaRPr>
              </a:p>
              <a:p>
                <a:pPr algn="ctr">
                  <a:lnSpc>
                    <a:spcPct val="75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等线 Light" panose="02010600030101010101" charset="-122"/>
                  </a:rPr>
                  <a:t>dtype=integer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等线 Light" panose="02010600030101010101" charset="-122"/>
                </a:endParaRPr>
              </a:p>
              <a:p>
                <a:pPr algn="ctr">
                  <a:lnSpc>
                    <a:spcPct val="75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altLang="zh-CN" dirty="0">
                    <a:solidFill>
                      <a:srgbClr val="21212D"/>
                    </a:solidFill>
                    <a:latin typeface="Times New Roman" panose="02020603050405020304" pitchFamily="18" charset="0"/>
                    <a:cs typeface="等线 Light" panose="02010600030101010101" charset="-122"/>
                  </a:rPr>
                  <a:t>val=2</a:t>
                </a:r>
                <a:endParaRPr lang="en-US" altLang="zh-CN" dirty="0">
                  <a:solidFill>
                    <a:srgbClr val="21212D"/>
                  </a:solidFill>
                  <a:latin typeface="Times New Roman" panose="02020603050405020304" pitchFamily="18" charset="0"/>
                  <a:cs typeface="等线 Light" panose="02010600030101010101" charset="-122"/>
                </a:endParaRPr>
              </a:p>
            </p:txBody>
          </p:sp>
        </p:grpSp>
        <p:sp useBgFill="1">
          <p:nvSpPr>
            <p:cNvPr id="39952" name="Rectangle 14"/>
            <p:cNvSpPr/>
            <p:nvPr>
              <p:custDataLst>
                <p:tags r:id="rId11"/>
              </p:custDataLst>
            </p:nvPr>
          </p:nvSpPr>
          <p:spPr>
            <a:xfrm>
              <a:off x="576" y="3216"/>
              <a:ext cx="1152" cy="864"/>
            </a:xfrm>
            <a:prstGeom prst="rect">
              <a:avLst/>
            </a:prstGeom>
            <a:ln w="9525">
              <a:noFill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3600" dirty="0">
                  <a:solidFill>
                    <a:srgbClr val="21212D"/>
                  </a:solidFill>
                  <a:latin typeface="Times New Roman" panose="02020603050405020304" pitchFamily="18" charset="0"/>
                  <a:cs typeface="等线 Light" panose="02010600030101010101" charset="-122"/>
                </a:rPr>
                <a:t>index</a:t>
              </a:r>
              <a:endParaRPr lang="en-US" altLang="zh-CN" sz="3600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endParaRPr>
            </a:p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cs typeface="等线 Light" panose="02010600030101010101" charset="-122"/>
                </a:rPr>
                <a:t>dtype=integer</a:t>
              </a:r>
              <a:endPara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等线 Light" panose="02010600030101010101" charset="-122"/>
              </a:endParaRPr>
            </a:p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dirty="0">
                  <a:solidFill>
                    <a:srgbClr val="21212D"/>
                  </a:solidFill>
                  <a:latin typeface="Times New Roman" panose="02020603050405020304" pitchFamily="18" charset="0"/>
                  <a:cs typeface="等线 Light" panose="02010600030101010101" charset="-122"/>
                </a:rPr>
                <a:t>val=index</a:t>
              </a:r>
              <a:endParaRPr lang="en-US" altLang="zh-CN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endParaRPr>
            </a:p>
          </p:txBody>
        </p:sp>
      </p:grpSp>
      <p:sp>
        <p:nvSpPr>
          <p:cNvPr id="39953" name="Rectangle 17"/>
          <p:cNvSpPr/>
          <p:nvPr>
            <p:custDataLst>
              <p:tags r:id="rId12"/>
            </p:custDataLst>
          </p:nvPr>
        </p:nvSpPr>
        <p:spPr>
          <a:xfrm>
            <a:off x="5831205" y="4847908"/>
            <a:ext cx="5256213" cy="41402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marL="469900" indent="-469900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句子</a:t>
            </a:r>
            <a:r>
              <a:rPr lang="en-US" altLang="zh-CN" sz="2800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a[index]=4+2</a:t>
            </a:r>
            <a:r>
              <a:rPr lang="zh-CN" altLang="en-US" sz="2800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的注释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语法树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4">
                                            <p:txEl>
                                              <p:charRg st="55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23604">
                                            <p:txEl>
                                              <p:charRg st="55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0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18135" y="276860"/>
            <a:ext cx="876109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编译器构造逻辑阶段的划分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 useBgFill="1">
        <p:nvSpPr>
          <p:cNvPr id="30722" name="Rectangle 33"/>
          <p:cNvSpPr/>
          <p:nvPr/>
        </p:nvSpPr>
        <p:spPr>
          <a:xfrm>
            <a:off x="2068195" y="2075180"/>
            <a:ext cx="8075930" cy="4227195"/>
          </a:xfrm>
          <a:prstGeom prst="rect">
            <a:avLst/>
          </a:prstGeom>
          <a:ln w="381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2586355" y="1262380"/>
            <a:ext cx="7070725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b="1" dirty="0">
                <a:latin typeface="等线" panose="02010600030101010101" charset="-122"/>
                <a:ea typeface="等线" panose="02010600030101010101" charset="-122"/>
              </a:rPr>
              <a:t>编译器逻辑结构的组成</a:t>
            </a:r>
            <a:endParaRPr lang="zh-CN" altLang="en-US" sz="3200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sp useBgFill="1">
        <p:nvSpPr>
          <p:cNvPr id="30724" name="Text Box 3">
            <a:hlinkClick r:id="rId1" action="ppaction://hlinksldjump"/>
          </p:cNvPr>
          <p:cNvSpPr txBox="1"/>
          <p:nvPr/>
        </p:nvSpPr>
        <p:spPr>
          <a:xfrm>
            <a:off x="2440940" y="3689350"/>
            <a:ext cx="6096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词法分析程序</a:t>
            </a:r>
            <a:endParaRPr lang="zh-CN" altLang="en-US" sz="2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5" name="Text Box 4"/>
          <p:cNvSpPr txBox="1"/>
          <p:nvPr/>
        </p:nvSpPr>
        <p:spPr>
          <a:xfrm>
            <a:off x="3751580" y="3740785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语法分析程序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6" name="Text Box 5"/>
          <p:cNvSpPr txBox="1"/>
          <p:nvPr/>
        </p:nvSpPr>
        <p:spPr>
          <a:xfrm>
            <a:off x="502158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语义分析程序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7" name="Text Box 6">
            <a:hlinkClick r:id="rId2" action="ppaction://hlinksldjump"/>
          </p:cNvPr>
          <p:cNvSpPr txBox="1"/>
          <p:nvPr/>
        </p:nvSpPr>
        <p:spPr>
          <a:xfrm>
            <a:off x="633730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中间代码生成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8" name="Text Box 7"/>
          <p:cNvSpPr txBox="1"/>
          <p:nvPr/>
        </p:nvSpPr>
        <p:spPr>
          <a:xfrm>
            <a:off x="775462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代码优化程序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9" name="Text Box 8"/>
          <p:cNvSpPr txBox="1"/>
          <p:nvPr/>
        </p:nvSpPr>
        <p:spPr>
          <a:xfrm>
            <a:off x="912368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目标代码生成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0" name="AutoShape 9"/>
          <p:cNvSpPr/>
          <p:nvPr/>
        </p:nvSpPr>
        <p:spPr>
          <a:xfrm>
            <a:off x="663575" y="3879533"/>
            <a:ext cx="838200" cy="1524000"/>
          </a:xfrm>
          <a:prstGeom prst="parallelogram">
            <a:avLst>
              <a:gd name="adj" fmla="val 25000"/>
            </a:avLst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源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码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1" name="AutoShape 10"/>
          <p:cNvSpPr/>
          <p:nvPr/>
        </p:nvSpPr>
        <p:spPr>
          <a:xfrm>
            <a:off x="10685780" y="3627120"/>
            <a:ext cx="609600" cy="1905000"/>
          </a:xfrm>
          <a:prstGeom prst="parallelogram">
            <a:avLst>
              <a:gd name="adj" fmla="val 25000"/>
            </a:avLst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目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标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码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2" name="AutoShape 11"/>
          <p:cNvSpPr/>
          <p:nvPr/>
        </p:nvSpPr>
        <p:spPr>
          <a:xfrm>
            <a:off x="3065780" y="2165350"/>
            <a:ext cx="1524000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常数表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3" name="AutoShape 12"/>
          <p:cNvSpPr/>
          <p:nvPr/>
        </p:nvSpPr>
        <p:spPr>
          <a:xfrm>
            <a:off x="4742180" y="2165350"/>
            <a:ext cx="1371600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符号表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4" name="AutoShape 13"/>
          <p:cNvSpPr/>
          <p:nvPr/>
        </p:nvSpPr>
        <p:spPr>
          <a:xfrm>
            <a:off x="6189980" y="2165350"/>
            <a:ext cx="2016125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错误处理器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30735" name="Line 14"/>
          <p:cNvSpPr/>
          <p:nvPr/>
        </p:nvSpPr>
        <p:spPr>
          <a:xfrm>
            <a:off x="1406525" y="4760595"/>
            <a:ext cx="60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6" name="Line 15"/>
          <p:cNvSpPr/>
          <p:nvPr/>
        </p:nvSpPr>
        <p:spPr>
          <a:xfrm>
            <a:off x="3050540" y="4756150"/>
            <a:ext cx="596265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7" name="Line 16"/>
          <p:cNvSpPr/>
          <p:nvPr/>
        </p:nvSpPr>
        <p:spPr>
          <a:xfrm flipV="1">
            <a:off x="4326255" y="4756785"/>
            <a:ext cx="67310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8" name="Line 17"/>
          <p:cNvSpPr/>
          <p:nvPr/>
        </p:nvSpPr>
        <p:spPr>
          <a:xfrm>
            <a:off x="5598795" y="4756150"/>
            <a:ext cx="64135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9" name="Line 18"/>
          <p:cNvSpPr/>
          <p:nvPr/>
        </p:nvSpPr>
        <p:spPr>
          <a:xfrm flipV="1">
            <a:off x="6929755" y="4795520"/>
            <a:ext cx="71374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40" name="Line 19"/>
          <p:cNvSpPr/>
          <p:nvPr/>
        </p:nvSpPr>
        <p:spPr>
          <a:xfrm flipV="1">
            <a:off x="8359140" y="4756785"/>
            <a:ext cx="707390" cy="381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41" name="Line 20"/>
          <p:cNvSpPr/>
          <p:nvPr/>
        </p:nvSpPr>
        <p:spPr>
          <a:xfrm>
            <a:off x="10228580" y="4693920"/>
            <a:ext cx="533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2" name="Line 21"/>
          <p:cNvSpPr/>
          <p:nvPr>
            <p:custDataLst>
              <p:tags r:id="rId3"/>
            </p:custDataLst>
          </p:nvPr>
        </p:nvSpPr>
        <p:spPr>
          <a:xfrm>
            <a:off x="4056380" y="2698750"/>
            <a:ext cx="137160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" name="Line 22"/>
          <p:cNvSpPr/>
          <p:nvPr>
            <p:custDataLst>
              <p:tags r:id="rId4"/>
            </p:custDataLst>
          </p:nvPr>
        </p:nvSpPr>
        <p:spPr>
          <a:xfrm>
            <a:off x="5427980" y="2698750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" name="Line 23"/>
          <p:cNvSpPr/>
          <p:nvPr>
            <p:custDataLst>
              <p:tags r:id="rId5"/>
            </p:custDataLst>
          </p:nvPr>
        </p:nvSpPr>
        <p:spPr>
          <a:xfrm flipV="1">
            <a:off x="5427980" y="2698750"/>
            <a:ext cx="160020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Line 24"/>
          <p:cNvSpPr/>
          <p:nvPr>
            <p:custDataLst>
              <p:tags r:id="rId6"/>
            </p:custDataLst>
          </p:nvPr>
        </p:nvSpPr>
        <p:spPr>
          <a:xfrm flipV="1">
            <a:off x="2801620" y="3155950"/>
            <a:ext cx="2626360" cy="533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" name="Line 25"/>
          <p:cNvSpPr/>
          <p:nvPr>
            <p:custDataLst>
              <p:tags r:id="rId7"/>
            </p:custDataLst>
          </p:nvPr>
        </p:nvSpPr>
        <p:spPr>
          <a:xfrm flipV="1">
            <a:off x="3952240" y="3155315"/>
            <a:ext cx="1475105" cy="51498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" name="Line 26"/>
          <p:cNvSpPr/>
          <p:nvPr>
            <p:custDataLst>
              <p:tags r:id="rId8"/>
            </p:custDataLst>
          </p:nvPr>
        </p:nvSpPr>
        <p:spPr>
          <a:xfrm flipH="1" flipV="1">
            <a:off x="5427980" y="3155950"/>
            <a:ext cx="0" cy="533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" name="Line 27"/>
          <p:cNvSpPr/>
          <p:nvPr>
            <p:custDataLst>
              <p:tags r:id="rId9"/>
            </p:custDataLst>
          </p:nvPr>
        </p:nvSpPr>
        <p:spPr>
          <a:xfrm flipH="1" flipV="1">
            <a:off x="5427980" y="3155950"/>
            <a:ext cx="1209675" cy="52959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" name="Line 28"/>
          <p:cNvSpPr/>
          <p:nvPr>
            <p:custDataLst>
              <p:tags r:id="rId10"/>
            </p:custDataLst>
          </p:nvPr>
        </p:nvSpPr>
        <p:spPr>
          <a:xfrm flipH="1" flipV="1">
            <a:off x="5427980" y="3155950"/>
            <a:ext cx="2588895" cy="51562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" name="Line 29"/>
          <p:cNvSpPr/>
          <p:nvPr>
            <p:custDataLst>
              <p:tags r:id="rId11"/>
            </p:custDataLst>
          </p:nvPr>
        </p:nvSpPr>
        <p:spPr>
          <a:xfrm flipH="1" flipV="1">
            <a:off x="5427980" y="3155950"/>
            <a:ext cx="3980815" cy="47053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>
            <a:spLocks noGrp="1"/>
          </p:cNvSpPr>
          <p:nvPr/>
        </p:nvSpPr>
        <p:spPr>
          <a:xfrm>
            <a:off x="1755775" y="276860"/>
            <a:ext cx="732345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编译器构造逻辑阶段的划分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41988" name="Rectangle 2"/>
          <p:cNvSpPr>
            <a:spLocks noGrp="1"/>
          </p:cNvSpPr>
          <p:nvPr>
            <p:ph type="title"/>
          </p:nvPr>
        </p:nvSpPr>
        <p:spPr>
          <a:xfrm>
            <a:off x="563245" y="1163955"/>
            <a:ext cx="4343400" cy="692150"/>
          </a:xfrm>
        </p:spPr>
        <p:txBody>
          <a:bodyPr vert="horz" wrap="square" lIns="91440" tIns="45720" rIns="91440" bIns="45720" anchor="b" anchorCtr="0">
            <a:normAutofit/>
          </a:bodyPr>
          <a:p>
            <a:pPr eaLnBrk="1" hangingPunct="1"/>
            <a:r>
              <a:rPr lang="zh-CN" altLang="en-US" sz="3555" b="1" dirty="0">
                <a:latin typeface="等线" panose="02010600030101010101" charset="-122"/>
                <a:ea typeface="等线" panose="02010600030101010101" charset="-122"/>
              </a:rPr>
              <a:t>中间代码生成</a:t>
            </a:r>
            <a:endParaRPr lang="zh-CN" altLang="en-US" sz="3555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4584" name="Rectangle 8"/>
          <p:cNvSpPr/>
          <p:nvPr/>
        </p:nvSpPr>
        <p:spPr>
          <a:xfrm>
            <a:off x="479425" y="1964055"/>
            <a:ext cx="3563620" cy="38614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indent="457200">
              <a:lnSpc>
                <a:spcPct val="125000"/>
              </a:lnSpc>
              <a:spcBef>
                <a:spcPts val="20"/>
              </a:spcBef>
              <a:spcAft>
                <a:spcPts val="0"/>
              </a:spcAft>
              <a:buClr>
                <a:schemeClr val="accent2"/>
              </a:buClr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 Light" panose="02010600030101010101" charset="-122"/>
              </a:rPr>
              <a:t>为了处理方便和便于代码优化，通常在语义分析后并不直接产生目标代码，而是生成介于源代码和目标代码二者之间的中间代码。</a:t>
            </a:r>
            <a:endParaRPr lang="zh-CN" altLang="en-US" sz="28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4" name="Rectangle 3"/>
          <p:cNvSpPr/>
          <p:nvPr>
            <p:custDataLst>
              <p:tags r:id="rId1"/>
            </p:custDataLst>
          </p:nvPr>
        </p:nvSpPr>
        <p:spPr>
          <a:xfrm>
            <a:off x="5514340" y="1737995"/>
            <a:ext cx="607060" cy="22606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3200" dirty="0">
                <a:latin typeface="Times New Roman" panose="02020603050405020304" pitchFamily="18" charset="0"/>
                <a:cs typeface="等线 Light" panose="02010600030101010101" charset="-122"/>
              </a:rPr>
              <a:t>=</a:t>
            </a:r>
            <a:endParaRPr lang="en-US" altLang="zh-CN" sz="3200" dirty="0"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>
        <p:nvSpPr>
          <p:cNvPr id="5" name="Line 4"/>
          <p:cNvSpPr/>
          <p:nvPr>
            <p:custDataLst>
              <p:tags r:id="rId2"/>
            </p:custDataLst>
          </p:nvPr>
        </p:nvSpPr>
        <p:spPr>
          <a:xfrm flipH="1">
            <a:off x="4860925" y="1964055"/>
            <a:ext cx="840105" cy="4070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Line 5"/>
          <p:cNvSpPr/>
          <p:nvPr>
            <p:custDataLst>
              <p:tags r:id="rId3"/>
            </p:custDataLst>
          </p:nvPr>
        </p:nvSpPr>
        <p:spPr>
          <a:xfrm>
            <a:off x="5887720" y="1964055"/>
            <a:ext cx="1213485" cy="4070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 useBgFill="1">
        <p:nvSpPr>
          <p:cNvPr id="7" name="Rectangle 6"/>
          <p:cNvSpPr/>
          <p:nvPr>
            <p:custDataLst>
              <p:tags r:id="rId4"/>
            </p:custDataLst>
          </p:nvPr>
        </p:nvSpPr>
        <p:spPr>
          <a:xfrm>
            <a:off x="4441190" y="2371725"/>
            <a:ext cx="513715" cy="180975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3200" dirty="0">
                <a:latin typeface="Times New Roman" panose="02020603050405020304" pitchFamily="18" charset="0"/>
                <a:cs typeface="等线 Light" panose="02010600030101010101" charset="-122"/>
              </a:rPr>
              <a:t>a[]</a:t>
            </a:r>
            <a:endParaRPr lang="en-US" altLang="zh-CN" sz="3200" dirty="0"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 useBgFill="1">
        <p:nvSpPr>
          <p:cNvPr id="8" name="Rectangle 7"/>
          <p:cNvSpPr/>
          <p:nvPr>
            <p:custDataLst>
              <p:tags r:id="rId5"/>
            </p:custDataLst>
          </p:nvPr>
        </p:nvSpPr>
        <p:spPr>
          <a:xfrm>
            <a:off x="6961505" y="2371725"/>
            <a:ext cx="420370" cy="22606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3200" dirty="0">
                <a:latin typeface="Times New Roman" panose="02020603050405020304" pitchFamily="18" charset="0"/>
                <a:cs typeface="等线 Light" panose="02010600030101010101" charset="-122"/>
              </a:rPr>
              <a:t>+</a:t>
            </a:r>
            <a:endParaRPr lang="en-US" altLang="zh-CN" sz="3200" dirty="0"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>
        <p:nvSpPr>
          <p:cNvPr id="9" name="Line 8"/>
          <p:cNvSpPr/>
          <p:nvPr>
            <p:custDataLst>
              <p:tags r:id="rId6"/>
            </p:custDataLst>
          </p:nvPr>
        </p:nvSpPr>
        <p:spPr>
          <a:xfrm>
            <a:off x="4721225" y="2597785"/>
            <a:ext cx="0" cy="63373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" name="Line 9"/>
          <p:cNvSpPr/>
          <p:nvPr>
            <p:custDataLst>
              <p:tags r:id="rId7"/>
            </p:custDataLst>
          </p:nvPr>
        </p:nvSpPr>
        <p:spPr>
          <a:xfrm flipH="1">
            <a:off x="6494780" y="2597785"/>
            <a:ext cx="607060" cy="63373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" name="Line 10"/>
          <p:cNvSpPr/>
          <p:nvPr>
            <p:custDataLst>
              <p:tags r:id="rId8"/>
            </p:custDataLst>
          </p:nvPr>
        </p:nvSpPr>
        <p:spPr>
          <a:xfrm>
            <a:off x="7194550" y="2597785"/>
            <a:ext cx="746760" cy="63373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 useBgFill="1">
        <p:nvSpPr>
          <p:cNvPr id="12" name="Rectangle 11"/>
          <p:cNvSpPr/>
          <p:nvPr>
            <p:custDataLst>
              <p:tags r:id="rId9"/>
            </p:custDataLst>
          </p:nvPr>
        </p:nvSpPr>
        <p:spPr>
          <a:xfrm>
            <a:off x="6308090" y="3383280"/>
            <a:ext cx="420370" cy="27178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3200" dirty="0">
                <a:latin typeface="Times New Roman" panose="02020603050405020304" pitchFamily="18" charset="0"/>
                <a:cs typeface="等线 Light" panose="02010600030101010101" charset="-122"/>
              </a:rPr>
              <a:t>4</a:t>
            </a:r>
            <a:endParaRPr lang="en-US" altLang="zh-CN" sz="3200" dirty="0"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 useBgFill="1">
        <p:nvSpPr>
          <p:cNvPr id="13" name="Rectangle 12"/>
          <p:cNvSpPr/>
          <p:nvPr>
            <p:custDataLst>
              <p:tags r:id="rId10"/>
            </p:custDataLst>
          </p:nvPr>
        </p:nvSpPr>
        <p:spPr>
          <a:xfrm>
            <a:off x="7708265" y="3428365"/>
            <a:ext cx="420370" cy="180975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3200" dirty="0">
                <a:latin typeface="Times New Roman" panose="02020603050405020304" pitchFamily="18" charset="0"/>
                <a:cs typeface="等线 Light" panose="02010600030101010101" charset="-122"/>
              </a:rPr>
              <a:t>2</a:t>
            </a:r>
            <a:endParaRPr lang="en-US" altLang="zh-CN" sz="3200" dirty="0"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 useBgFill="1">
        <p:nvSpPr>
          <p:cNvPr id="14" name="Rectangle 13"/>
          <p:cNvSpPr/>
          <p:nvPr>
            <p:custDataLst>
              <p:tags r:id="rId11"/>
            </p:custDataLst>
          </p:nvPr>
        </p:nvSpPr>
        <p:spPr>
          <a:xfrm>
            <a:off x="4394200" y="3383280"/>
            <a:ext cx="560070" cy="271780"/>
          </a:xfrm>
          <a:prstGeom prst="rect">
            <a:avLst/>
          </a:prstGeom>
          <a:ln w="9525">
            <a:noFill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3200" dirty="0">
                <a:latin typeface="Times New Roman" panose="02020603050405020304" pitchFamily="18" charset="0"/>
                <a:cs typeface="等线 Light" panose="02010600030101010101" charset="-122"/>
              </a:rPr>
              <a:t>index</a:t>
            </a:r>
            <a:endParaRPr lang="en-US" altLang="zh-CN" sz="3200" dirty="0"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>
        <p:nvSpPr>
          <p:cNvPr id="15" name="Rectangle 18"/>
          <p:cNvSpPr/>
          <p:nvPr>
            <p:custDataLst>
              <p:tags r:id="rId12"/>
            </p:custDataLst>
          </p:nvPr>
        </p:nvSpPr>
        <p:spPr>
          <a:xfrm>
            <a:off x="4013200" y="4444683"/>
            <a:ext cx="5211763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800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a[index]=4+2</a:t>
            </a:r>
            <a:r>
              <a:rPr lang="zh-CN" altLang="en-US" sz="2800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的</a:t>
            </a:r>
            <a:r>
              <a:rPr lang="zh-CN" altLang="en-US" sz="2800" dirty="0">
                <a:solidFill>
                  <a:srgbClr val="FF3399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语法树</a:t>
            </a:r>
            <a:endParaRPr lang="zh-CN" altLang="en-US" sz="2800" dirty="0">
              <a:solidFill>
                <a:srgbClr val="FF3399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</p:txBody>
      </p:sp>
      <p:sp>
        <p:nvSpPr>
          <p:cNvPr id="16" name="AutoShape 17"/>
          <p:cNvSpPr/>
          <p:nvPr>
            <p:custDataLst>
              <p:tags r:id="rId13"/>
            </p:custDataLst>
          </p:nvPr>
        </p:nvSpPr>
        <p:spPr>
          <a:xfrm>
            <a:off x="7923530" y="2334419"/>
            <a:ext cx="1074420" cy="524827"/>
          </a:xfrm>
          <a:prstGeom prst="rightArrow">
            <a:avLst>
              <a:gd name="adj1" fmla="val 50000"/>
              <a:gd name="adj2" fmla="val 81250"/>
            </a:avLst>
          </a:prstGeom>
          <a:solidFill>
            <a:srgbClr val="0000FF"/>
          </a:solidFill>
          <a:ln w="9525">
            <a:noFill/>
          </a:ln>
        </p:spPr>
        <p:txBody>
          <a:bodyPr wrap="square" anchor="ctr" anchorCtr="0">
            <a:spAutoFit/>
          </a:bodyPr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endParaRPr lang="zh-CN" altLang="en-US" dirty="0"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>
        <p:nvSpPr>
          <p:cNvPr id="17" name="AutoShape 19"/>
          <p:cNvSpPr/>
          <p:nvPr>
            <p:custDataLst>
              <p:tags r:id="rId14"/>
            </p:custDataLst>
          </p:nvPr>
        </p:nvSpPr>
        <p:spPr>
          <a:xfrm>
            <a:off x="7575550" y="4370864"/>
            <a:ext cx="860425" cy="524827"/>
          </a:xfrm>
          <a:prstGeom prst="rightArrow">
            <a:avLst>
              <a:gd name="adj1" fmla="val 50000"/>
              <a:gd name="adj2" fmla="val 81250"/>
            </a:avLst>
          </a:prstGeom>
          <a:solidFill>
            <a:srgbClr val="0000FF"/>
          </a:solidFill>
          <a:ln w="9525">
            <a:noFill/>
          </a:ln>
        </p:spPr>
        <p:txBody>
          <a:bodyPr wrap="square" anchor="ctr" anchorCtr="0">
            <a:spAutoFit/>
          </a:bodyPr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endParaRPr lang="zh-CN" altLang="en-US" dirty="0"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>
        <p:nvSpPr>
          <p:cNvPr id="18" name="Rectangle 14"/>
          <p:cNvSpPr/>
          <p:nvPr>
            <p:custDataLst>
              <p:tags r:id="rId15"/>
            </p:custDataLst>
          </p:nvPr>
        </p:nvSpPr>
        <p:spPr>
          <a:xfrm>
            <a:off x="8691880" y="1864995"/>
            <a:ext cx="2774950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     t1=4+2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     t2=index×4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     t3=&amp;a+t2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     * t3=t1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cs typeface="等线 Light" panose="02010600030101010101" charset="-122"/>
            </a:endParaRPr>
          </a:p>
        </p:txBody>
      </p:sp>
      <p:sp>
        <p:nvSpPr>
          <p:cNvPr id="19" name="Rectangle 20"/>
          <p:cNvSpPr/>
          <p:nvPr>
            <p:custDataLst>
              <p:tags r:id="rId16"/>
            </p:custDataLst>
          </p:nvPr>
        </p:nvSpPr>
        <p:spPr>
          <a:xfrm>
            <a:off x="8558530" y="4450715"/>
            <a:ext cx="3194050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dirty="0">
                <a:solidFill>
                  <a:srgbClr val="21212D"/>
                </a:solidFill>
                <a:latin typeface="宋体" panose="02010600030101010101" pitchFamily="2" charset="-122"/>
                <a:cs typeface="等线 Light" panose="02010600030101010101" charset="-122"/>
              </a:rPr>
              <a:t>生成的</a:t>
            </a:r>
            <a:r>
              <a:rPr lang="zh-CN" altLang="en-US" sz="3600" dirty="0">
                <a:solidFill>
                  <a:srgbClr val="FF0000"/>
                </a:solidFill>
                <a:latin typeface="方正舒体" panose="02010601030101010101" pitchFamily="2" charset="-122"/>
                <a:ea typeface="方正舒体" panose="02010601030101010101" pitchFamily="2" charset="-122"/>
                <a:cs typeface="等线 Light" panose="02010600030101010101" charset="-122"/>
              </a:rPr>
              <a:t>三地址码</a:t>
            </a:r>
            <a:endParaRPr lang="zh-CN" altLang="en-US" sz="3600" dirty="0">
              <a:solidFill>
                <a:srgbClr val="FF0000"/>
              </a:solidFill>
              <a:latin typeface="方正舒体" panose="02010601030101010101" pitchFamily="2" charset="-122"/>
              <a:ea typeface="方正舒体" panose="02010601030101010101" pitchFamily="2" charset="-122"/>
              <a:cs typeface="等线 Light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18135" y="276860"/>
            <a:ext cx="876109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编译器构造逻辑阶段的划分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 useBgFill="1">
        <p:nvSpPr>
          <p:cNvPr id="30722" name="Rectangle 33"/>
          <p:cNvSpPr/>
          <p:nvPr/>
        </p:nvSpPr>
        <p:spPr>
          <a:xfrm>
            <a:off x="2068195" y="2075180"/>
            <a:ext cx="8075930" cy="4227195"/>
          </a:xfrm>
          <a:prstGeom prst="rect">
            <a:avLst/>
          </a:prstGeom>
          <a:ln w="381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2586355" y="1262380"/>
            <a:ext cx="7070725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b="1" dirty="0">
                <a:latin typeface="等线" panose="02010600030101010101" charset="-122"/>
                <a:ea typeface="等线" panose="02010600030101010101" charset="-122"/>
              </a:rPr>
              <a:t>编译器逻辑结构的组成</a:t>
            </a:r>
            <a:endParaRPr lang="zh-CN" altLang="en-US" sz="3200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sp useBgFill="1">
        <p:nvSpPr>
          <p:cNvPr id="30724" name="Text Box 3">
            <a:hlinkClick r:id="rId1" action="ppaction://hlinksldjump"/>
          </p:cNvPr>
          <p:cNvSpPr txBox="1"/>
          <p:nvPr/>
        </p:nvSpPr>
        <p:spPr>
          <a:xfrm>
            <a:off x="2440940" y="3689350"/>
            <a:ext cx="6096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词法分析程序</a:t>
            </a:r>
            <a:endParaRPr lang="zh-CN" altLang="en-US" sz="2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5" name="Text Box 4"/>
          <p:cNvSpPr txBox="1"/>
          <p:nvPr/>
        </p:nvSpPr>
        <p:spPr>
          <a:xfrm>
            <a:off x="3751580" y="3740785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语法分析程序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6" name="Text Box 5"/>
          <p:cNvSpPr txBox="1"/>
          <p:nvPr/>
        </p:nvSpPr>
        <p:spPr>
          <a:xfrm>
            <a:off x="502158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语义分析程序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7" name="Text Box 6">
            <a:hlinkClick r:id="rId2" action="ppaction://hlinksldjump"/>
          </p:cNvPr>
          <p:cNvSpPr txBox="1"/>
          <p:nvPr/>
        </p:nvSpPr>
        <p:spPr>
          <a:xfrm>
            <a:off x="633730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中间代码生成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8" name="Text Box 7"/>
          <p:cNvSpPr txBox="1"/>
          <p:nvPr/>
        </p:nvSpPr>
        <p:spPr>
          <a:xfrm>
            <a:off x="775462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代码优化程序</a:t>
            </a:r>
            <a:endParaRPr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9" name="Text Box 8"/>
          <p:cNvSpPr txBox="1"/>
          <p:nvPr/>
        </p:nvSpPr>
        <p:spPr>
          <a:xfrm>
            <a:off x="912368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目标代码生成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0" name="AutoShape 9"/>
          <p:cNvSpPr/>
          <p:nvPr/>
        </p:nvSpPr>
        <p:spPr>
          <a:xfrm>
            <a:off x="663575" y="3879533"/>
            <a:ext cx="838200" cy="1524000"/>
          </a:xfrm>
          <a:prstGeom prst="parallelogram">
            <a:avLst>
              <a:gd name="adj" fmla="val 25000"/>
            </a:avLst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源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码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1" name="AutoShape 10"/>
          <p:cNvSpPr/>
          <p:nvPr/>
        </p:nvSpPr>
        <p:spPr>
          <a:xfrm>
            <a:off x="10685780" y="3627120"/>
            <a:ext cx="609600" cy="1905000"/>
          </a:xfrm>
          <a:prstGeom prst="parallelogram">
            <a:avLst>
              <a:gd name="adj" fmla="val 25000"/>
            </a:avLst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目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标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码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2" name="AutoShape 11"/>
          <p:cNvSpPr/>
          <p:nvPr/>
        </p:nvSpPr>
        <p:spPr>
          <a:xfrm>
            <a:off x="3065780" y="2165350"/>
            <a:ext cx="1524000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常数表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3" name="AutoShape 12"/>
          <p:cNvSpPr/>
          <p:nvPr/>
        </p:nvSpPr>
        <p:spPr>
          <a:xfrm>
            <a:off x="4742180" y="2165350"/>
            <a:ext cx="1371600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符号表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4" name="AutoShape 13"/>
          <p:cNvSpPr/>
          <p:nvPr/>
        </p:nvSpPr>
        <p:spPr>
          <a:xfrm>
            <a:off x="6189980" y="2165350"/>
            <a:ext cx="2016125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错误处理器</a:t>
            </a:r>
            <a:endParaRPr lang="zh-CN" altLang="en-US" sz="2800" b="1" dirty="0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30735" name="Line 14"/>
          <p:cNvSpPr/>
          <p:nvPr/>
        </p:nvSpPr>
        <p:spPr>
          <a:xfrm>
            <a:off x="1406525" y="4760595"/>
            <a:ext cx="60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6" name="Line 15"/>
          <p:cNvSpPr/>
          <p:nvPr/>
        </p:nvSpPr>
        <p:spPr>
          <a:xfrm>
            <a:off x="3050540" y="4756150"/>
            <a:ext cx="596265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7" name="Line 16"/>
          <p:cNvSpPr/>
          <p:nvPr/>
        </p:nvSpPr>
        <p:spPr>
          <a:xfrm flipV="1">
            <a:off x="4326255" y="4756785"/>
            <a:ext cx="67310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8" name="Line 17"/>
          <p:cNvSpPr/>
          <p:nvPr/>
        </p:nvSpPr>
        <p:spPr>
          <a:xfrm>
            <a:off x="5598795" y="4756150"/>
            <a:ext cx="64135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9" name="Line 18"/>
          <p:cNvSpPr/>
          <p:nvPr/>
        </p:nvSpPr>
        <p:spPr>
          <a:xfrm flipV="1">
            <a:off x="6929755" y="4795520"/>
            <a:ext cx="71374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40" name="Line 19"/>
          <p:cNvSpPr/>
          <p:nvPr/>
        </p:nvSpPr>
        <p:spPr>
          <a:xfrm flipV="1">
            <a:off x="8359140" y="4756785"/>
            <a:ext cx="707390" cy="381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41" name="Line 20"/>
          <p:cNvSpPr/>
          <p:nvPr/>
        </p:nvSpPr>
        <p:spPr>
          <a:xfrm>
            <a:off x="10228580" y="4693920"/>
            <a:ext cx="533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2" name="Line 21"/>
          <p:cNvSpPr/>
          <p:nvPr>
            <p:custDataLst>
              <p:tags r:id="rId3"/>
            </p:custDataLst>
          </p:nvPr>
        </p:nvSpPr>
        <p:spPr>
          <a:xfrm>
            <a:off x="4056380" y="2698750"/>
            <a:ext cx="137160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" name="Line 22"/>
          <p:cNvSpPr/>
          <p:nvPr>
            <p:custDataLst>
              <p:tags r:id="rId4"/>
            </p:custDataLst>
          </p:nvPr>
        </p:nvSpPr>
        <p:spPr>
          <a:xfrm>
            <a:off x="5427980" y="2698750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" name="Line 23"/>
          <p:cNvSpPr/>
          <p:nvPr>
            <p:custDataLst>
              <p:tags r:id="rId5"/>
            </p:custDataLst>
          </p:nvPr>
        </p:nvSpPr>
        <p:spPr>
          <a:xfrm flipV="1">
            <a:off x="5427980" y="2698750"/>
            <a:ext cx="160020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Line 24"/>
          <p:cNvSpPr/>
          <p:nvPr>
            <p:custDataLst>
              <p:tags r:id="rId6"/>
            </p:custDataLst>
          </p:nvPr>
        </p:nvSpPr>
        <p:spPr>
          <a:xfrm flipV="1">
            <a:off x="2801620" y="3155950"/>
            <a:ext cx="2626360" cy="533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" name="Line 25"/>
          <p:cNvSpPr/>
          <p:nvPr>
            <p:custDataLst>
              <p:tags r:id="rId7"/>
            </p:custDataLst>
          </p:nvPr>
        </p:nvSpPr>
        <p:spPr>
          <a:xfrm flipV="1">
            <a:off x="3952240" y="3155315"/>
            <a:ext cx="1475105" cy="51498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" name="Line 26"/>
          <p:cNvSpPr/>
          <p:nvPr>
            <p:custDataLst>
              <p:tags r:id="rId8"/>
            </p:custDataLst>
          </p:nvPr>
        </p:nvSpPr>
        <p:spPr>
          <a:xfrm flipH="1" flipV="1">
            <a:off x="5427980" y="3155950"/>
            <a:ext cx="0" cy="533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" name="Line 27"/>
          <p:cNvSpPr/>
          <p:nvPr>
            <p:custDataLst>
              <p:tags r:id="rId9"/>
            </p:custDataLst>
          </p:nvPr>
        </p:nvSpPr>
        <p:spPr>
          <a:xfrm flipH="1" flipV="1">
            <a:off x="5427980" y="3155950"/>
            <a:ext cx="1209675" cy="52959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" name="Line 28"/>
          <p:cNvSpPr/>
          <p:nvPr>
            <p:custDataLst>
              <p:tags r:id="rId10"/>
            </p:custDataLst>
          </p:nvPr>
        </p:nvSpPr>
        <p:spPr>
          <a:xfrm flipH="1" flipV="1">
            <a:off x="5427980" y="3155950"/>
            <a:ext cx="2588895" cy="51562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" name="Line 29"/>
          <p:cNvSpPr/>
          <p:nvPr>
            <p:custDataLst>
              <p:tags r:id="rId11"/>
            </p:custDataLst>
          </p:nvPr>
        </p:nvSpPr>
        <p:spPr>
          <a:xfrm flipH="1" flipV="1">
            <a:off x="5427980" y="3155950"/>
            <a:ext cx="3980815" cy="47053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06070" y="344170"/>
            <a:ext cx="732345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编译器构造逻辑阶段的划分</a:t>
            </a:r>
            <a:r>
              <a:rPr sz="3200">
                <a:cs typeface="等线 Light" panose="02010600030101010101" charset="-122"/>
                <a:sym typeface="+mn-ea"/>
              </a:rPr>
              <a:t> </a:t>
            </a:r>
            <a:endParaRPr lang="zh-CN" altLang="en-US" sz="3200" dirty="0">
              <a:cs typeface="等线 Light" panose="02010600030101010101" charset="-122"/>
            </a:endParaRPr>
          </a:p>
          <a:p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91138" name="Rectangle 2"/>
          <p:cNvSpPr>
            <a:spLocks noRot="1"/>
          </p:cNvSpPr>
          <p:nvPr/>
        </p:nvSpPr>
        <p:spPr>
          <a:xfrm>
            <a:off x="5159375" y="1968500"/>
            <a:ext cx="4747895" cy="3517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5000"/>
            </a:pPr>
            <a:r>
              <a:rPr lang="zh-CN" altLang="en-US" sz="3200" b="1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优化为如下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 Light" panose="02010600030101010101" charset="-122"/>
              </a:rPr>
              <a:t>代码</a:t>
            </a:r>
            <a:r>
              <a:rPr lang="zh-CN" altLang="en-US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:</a:t>
            </a:r>
            <a:endParaRPr lang="zh-CN" altLang="en-US" sz="3200" b="1" dirty="0"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5000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t2=index × 4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5000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t3=&amp;a+ t2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95000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* t3=6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</p:txBody>
      </p:sp>
      <p:sp>
        <p:nvSpPr>
          <p:cNvPr id="91139" name="Rectangle 3"/>
          <p:cNvSpPr/>
          <p:nvPr/>
        </p:nvSpPr>
        <p:spPr>
          <a:xfrm>
            <a:off x="893445" y="2040255"/>
            <a:ext cx="4986655" cy="29229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zh-CN" altLang="en-US" sz="3200" b="1" dirty="0">
                <a:solidFill>
                  <a:srgbClr val="21212D"/>
                </a:solidFill>
                <a:latin typeface="Times New Roman" panose="02020603050405020304" pitchFamily="18" charset="0"/>
                <a:cs typeface="等线 Light" panose="02010600030101010101" charset="-122"/>
              </a:rPr>
              <a:t>上述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 Light" panose="02010600030101010101" charset="-122"/>
              </a:rPr>
              <a:t>中间代码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t1=4+2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   t2=index ×</a:t>
            </a:r>
            <a:r>
              <a:rPr lang="en-US" altLang="zh-CN" sz="3200" b="1" baseline="-10000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4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   t3=&amp;a+t2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   </a:t>
            </a:r>
            <a:r>
              <a:rPr lang="en-US" altLang="zh-CN" sz="3200" b="1" baseline="-10000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*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t3=t1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</p:txBody>
      </p:sp>
      <p:sp>
        <p:nvSpPr>
          <p:cNvPr id="47110" name="Rectangle 2"/>
          <p:cNvSpPr txBox="1"/>
          <p:nvPr/>
        </p:nvSpPr>
        <p:spPr>
          <a:xfrm>
            <a:off x="893445" y="1265555"/>
            <a:ext cx="4986655" cy="549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3200" dirty="0">
                <a:solidFill>
                  <a:schemeClr val="tx1"/>
                </a:solidFill>
                <a:latin typeface="方正舒体" panose="02010601030101010101" pitchFamily="2" charset="-122"/>
                <a:cs typeface="等线 Light" panose="02010600030101010101" charset="-122"/>
              </a:rPr>
              <a:t>代码优化程序</a:t>
            </a:r>
            <a:endParaRPr lang="zh-CN" altLang="en-US" sz="3200" dirty="0">
              <a:solidFill>
                <a:schemeClr val="tx1"/>
              </a:solidFill>
              <a:latin typeface="方正舒体" panose="02010601030101010101" pitchFamily="2" charset="-122"/>
              <a:cs typeface="等线 Light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18135" y="276860"/>
            <a:ext cx="876109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编译器构造逻辑阶段的划分</a:t>
            </a:r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 useBgFill="1">
        <p:nvSpPr>
          <p:cNvPr id="30722" name="Rectangle 33"/>
          <p:cNvSpPr/>
          <p:nvPr/>
        </p:nvSpPr>
        <p:spPr>
          <a:xfrm>
            <a:off x="2068195" y="2075180"/>
            <a:ext cx="8075930" cy="4227195"/>
          </a:xfrm>
          <a:prstGeom prst="rect">
            <a:avLst/>
          </a:prstGeom>
          <a:ln w="38100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2586355" y="1262380"/>
            <a:ext cx="7070725" cy="609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b="1" dirty="0">
                <a:latin typeface="等线" panose="02010600030101010101" charset="-122"/>
                <a:ea typeface="等线" panose="02010600030101010101" charset="-122"/>
              </a:rPr>
              <a:t>编译器逻辑结构的组成</a:t>
            </a:r>
            <a:endParaRPr lang="zh-CN" altLang="en-US" sz="3200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sp useBgFill="1">
        <p:nvSpPr>
          <p:cNvPr id="30724" name="Text Box 3">
            <a:hlinkClick r:id="rId1" action="ppaction://hlinksldjump"/>
          </p:cNvPr>
          <p:cNvSpPr txBox="1"/>
          <p:nvPr/>
        </p:nvSpPr>
        <p:spPr>
          <a:xfrm>
            <a:off x="2440940" y="3689350"/>
            <a:ext cx="6096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词法分析程序</a:t>
            </a:r>
            <a:endParaRPr lang="zh-CN" altLang="en-US" sz="2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5" name="Text Box 4"/>
          <p:cNvSpPr txBox="1"/>
          <p:nvPr/>
        </p:nvSpPr>
        <p:spPr>
          <a:xfrm>
            <a:off x="3751580" y="3740785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语法分析程序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6" name="Text Box 5"/>
          <p:cNvSpPr txBox="1"/>
          <p:nvPr/>
        </p:nvSpPr>
        <p:spPr>
          <a:xfrm>
            <a:off x="502158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语义分析程序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7" name="Text Box 6">
            <a:hlinkClick r:id="rId2" action="ppaction://hlinksldjump"/>
          </p:cNvPr>
          <p:cNvSpPr txBox="1"/>
          <p:nvPr/>
        </p:nvSpPr>
        <p:spPr>
          <a:xfrm>
            <a:off x="633730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中间代码生成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8" name="Text Box 7"/>
          <p:cNvSpPr txBox="1"/>
          <p:nvPr/>
        </p:nvSpPr>
        <p:spPr>
          <a:xfrm>
            <a:off x="775462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代码优化程序</a:t>
            </a:r>
            <a:endParaRPr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29" name="Text Box 8"/>
          <p:cNvSpPr txBox="1"/>
          <p:nvPr/>
        </p:nvSpPr>
        <p:spPr>
          <a:xfrm>
            <a:off x="9123680" y="3689350"/>
            <a:ext cx="533400" cy="2030095"/>
          </a:xfrm>
          <a:prstGeom prst="rect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目标代码生成</a:t>
            </a:r>
            <a:endParaRPr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0" name="AutoShape 9"/>
          <p:cNvSpPr/>
          <p:nvPr/>
        </p:nvSpPr>
        <p:spPr>
          <a:xfrm>
            <a:off x="663575" y="3879533"/>
            <a:ext cx="838200" cy="1524000"/>
          </a:xfrm>
          <a:prstGeom prst="parallelogram">
            <a:avLst>
              <a:gd name="adj" fmla="val 25000"/>
            </a:avLst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源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码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1" name="AutoShape 10"/>
          <p:cNvSpPr/>
          <p:nvPr/>
        </p:nvSpPr>
        <p:spPr>
          <a:xfrm>
            <a:off x="10685780" y="3627120"/>
            <a:ext cx="609600" cy="1905000"/>
          </a:xfrm>
          <a:prstGeom prst="parallelogram">
            <a:avLst>
              <a:gd name="adj" fmla="val 25000"/>
            </a:avLst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目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标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代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rgbClr val="21212D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码</a:t>
            </a:r>
            <a:endParaRPr lang="zh-CN" altLang="en-US" sz="2800" b="1" dirty="0">
              <a:solidFill>
                <a:srgbClr val="21212D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2" name="AutoShape 11"/>
          <p:cNvSpPr/>
          <p:nvPr/>
        </p:nvSpPr>
        <p:spPr>
          <a:xfrm>
            <a:off x="3065780" y="2165350"/>
            <a:ext cx="1524000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常数表</a:t>
            </a:r>
            <a:endParaRPr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3" name="AutoShape 12"/>
          <p:cNvSpPr/>
          <p:nvPr/>
        </p:nvSpPr>
        <p:spPr>
          <a:xfrm>
            <a:off x="4742180" y="2165350"/>
            <a:ext cx="1371600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符号表</a:t>
            </a:r>
            <a:endParaRPr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 useBgFill="1">
        <p:nvSpPr>
          <p:cNvPr id="30734" name="AutoShape 13"/>
          <p:cNvSpPr/>
          <p:nvPr/>
        </p:nvSpPr>
        <p:spPr>
          <a:xfrm>
            <a:off x="6189980" y="2165350"/>
            <a:ext cx="2016125" cy="533400"/>
          </a:xfrm>
          <a:prstGeom prst="roundRect">
            <a:avLst>
              <a:gd name="adj" fmla="val 16667"/>
            </a:avLst>
          </a:prstGeom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等线 Light" panose="02010600030101010101" charset="-122"/>
              </a:rPr>
              <a:t>错误处理器</a:t>
            </a:r>
            <a:endParaRPr lang="zh-CN" altLang="en-US" sz="2800" b="1" dirty="0">
              <a:solidFill>
                <a:schemeClr val="accent1"/>
              </a:solidFill>
              <a:latin typeface="Times New Roman" panose="02020603050405020304" pitchFamily="18" charset="0"/>
              <a:ea typeface="宋体" panose="02010600030101010101" pitchFamily="2" charset="-122"/>
              <a:cs typeface="等线 Light" panose="02010600030101010101" charset="-122"/>
            </a:endParaRPr>
          </a:p>
        </p:txBody>
      </p:sp>
      <p:sp>
        <p:nvSpPr>
          <p:cNvPr id="30735" name="Line 14"/>
          <p:cNvSpPr/>
          <p:nvPr/>
        </p:nvSpPr>
        <p:spPr>
          <a:xfrm>
            <a:off x="1406525" y="4760595"/>
            <a:ext cx="60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6" name="Line 15"/>
          <p:cNvSpPr/>
          <p:nvPr/>
        </p:nvSpPr>
        <p:spPr>
          <a:xfrm>
            <a:off x="3050540" y="4756150"/>
            <a:ext cx="596265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7" name="Line 16"/>
          <p:cNvSpPr/>
          <p:nvPr/>
        </p:nvSpPr>
        <p:spPr>
          <a:xfrm flipV="1">
            <a:off x="4326255" y="4756785"/>
            <a:ext cx="67310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8" name="Line 17"/>
          <p:cNvSpPr/>
          <p:nvPr/>
        </p:nvSpPr>
        <p:spPr>
          <a:xfrm>
            <a:off x="5598795" y="4756150"/>
            <a:ext cx="64135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39" name="Line 18"/>
          <p:cNvSpPr/>
          <p:nvPr/>
        </p:nvSpPr>
        <p:spPr>
          <a:xfrm flipV="1">
            <a:off x="6929755" y="4795520"/>
            <a:ext cx="713740" cy="63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40" name="Line 19"/>
          <p:cNvSpPr/>
          <p:nvPr/>
        </p:nvSpPr>
        <p:spPr>
          <a:xfrm flipV="1">
            <a:off x="8359140" y="4756785"/>
            <a:ext cx="707390" cy="381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0741" name="Line 20"/>
          <p:cNvSpPr/>
          <p:nvPr/>
        </p:nvSpPr>
        <p:spPr>
          <a:xfrm>
            <a:off x="10228580" y="4693920"/>
            <a:ext cx="533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2" name="Line 21"/>
          <p:cNvSpPr/>
          <p:nvPr>
            <p:custDataLst>
              <p:tags r:id="rId3"/>
            </p:custDataLst>
          </p:nvPr>
        </p:nvSpPr>
        <p:spPr>
          <a:xfrm>
            <a:off x="4056380" y="2698750"/>
            <a:ext cx="137160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" name="Line 22"/>
          <p:cNvSpPr/>
          <p:nvPr>
            <p:custDataLst>
              <p:tags r:id="rId4"/>
            </p:custDataLst>
          </p:nvPr>
        </p:nvSpPr>
        <p:spPr>
          <a:xfrm>
            <a:off x="5427980" y="2698750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" name="Line 23"/>
          <p:cNvSpPr/>
          <p:nvPr>
            <p:custDataLst>
              <p:tags r:id="rId5"/>
            </p:custDataLst>
          </p:nvPr>
        </p:nvSpPr>
        <p:spPr>
          <a:xfrm flipV="1">
            <a:off x="5427980" y="2698750"/>
            <a:ext cx="160020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Line 24"/>
          <p:cNvSpPr/>
          <p:nvPr>
            <p:custDataLst>
              <p:tags r:id="rId6"/>
            </p:custDataLst>
          </p:nvPr>
        </p:nvSpPr>
        <p:spPr>
          <a:xfrm flipV="1">
            <a:off x="2801620" y="3155950"/>
            <a:ext cx="2626360" cy="533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" name="Line 25"/>
          <p:cNvSpPr/>
          <p:nvPr>
            <p:custDataLst>
              <p:tags r:id="rId7"/>
            </p:custDataLst>
          </p:nvPr>
        </p:nvSpPr>
        <p:spPr>
          <a:xfrm flipV="1">
            <a:off x="3952240" y="3155315"/>
            <a:ext cx="1475105" cy="51498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" name="Line 26"/>
          <p:cNvSpPr/>
          <p:nvPr>
            <p:custDataLst>
              <p:tags r:id="rId8"/>
            </p:custDataLst>
          </p:nvPr>
        </p:nvSpPr>
        <p:spPr>
          <a:xfrm flipH="1" flipV="1">
            <a:off x="5427980" y="3155950"/>
            <a:ext cx="0" cy="533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" name="Line 27"/>
          <p:cNvSpPr/>
          <p:nvPr>
            <p:custDataLst>
              <p:tags r:id="rId9"/>
            </p:custDataLst>
          </p:nvPr>
        </p:nvSpPr>
        <p:spPr>
          <a:xfrm flipH="1" flipV="1">
            <a:off x="5427980" y="3155950"/>
            <a:ext cx="1209675" cy="52959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" name="Line 28"/>
          <p:cNvSpPr/>
          <p:nvPr>
            <p:custDataLst>
              <p:tags r:id="rId10"/>
            </p:custDataLst>
          </p:nvPr>
        </p:nvSpPr>
        <p:spPr>
          <a:xfrm flipH="1" flipV="1">
            <a:off x="5427980" y="3155950"/>
            <a:ext cx="2588895" cy="51562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" name="Line 29"/>
          <p:cNvSpPr/>
          <p:nvPr>
            <p:custDataLst>
              <p:tags r:id="rId11"/>
            </p:custDataLst>
          </p:nvPr>
        </p:nvSpPr>
        <p:spPr>
          <a:xfrm flipH="1" flipV="1">
            <a:off x="5427980" y="3155950"/>
            <a:ext cx="3980815" cy="47053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73380" y="276860"/>
            <a:ext cx="732345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编译器构造逻辑阶段的划分</a:t>
            </a:r>
            <a:r>
              <a:rPr sz="3200">
                <a:cs typeface="等线 Light" panose="02010600030101010101" charset="-122"/>
                <a:sym typeface="+mn-ea"/>
              </a:rPr>
              <a:t> </a:t>
            </a:r>
            <a:endParaRPr lang="zh-CN" altLang="en-US" sz="3200" dirty="0">
              <a:cs typeface="等线 Light" panose="02010600030101010101" charset="-122"/>
            </a:endParaRPr>
          </a:p>
          <a:p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49156" name="Rectangle 2"/>
          <p:cNvSpPr>
            <a:spLocks noGrp="1"/>
          </p:cNvSpPr>
          <p:nvPr>
            <p:ph type="title"/>
          </p:nvPr>
        </p:nvSpPr>
        <p:spPr>
          <a:xfrm>
            <a:off x="455295" y="1343025"/>
            <a:ext cx="6818630" cy="571500"/>
          </a:xfrm>
        </p:spPr>
        <p:txBody>
          <a:bodyPr vert="horz" wrap="square" lIns="91440" tIns="45720" rIns="91440" bIns="45720" anchor="b" anchorCtr="0">
            <a:normAutofit fontScale="90000"/>
          </a:bodyPr>
          <a:p>
            <a:pPr eaLnBrk="1" hangingPunct="1"/>
            <a:r>
              <a:rPr lang="zh-CN" altLang="en-US" sz="3555" b="1" dirty="0">
                <a:latin typeface="等线" panose="02010600030101010101" charset="-122"/>
                <a:ea typeface="等线" panose="02010600030101010101" charset="-122"/>
              </a:rPr>
              <a:t>目标代码生成</a:t>
            </a:r>
            <a:endParaRPr lang="zh-CN" altLang="en-US" sz="3555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9157" name="Rectangle 9"/>
          <p:cNvSpPr>
            <a:spLocks noGrp="1"/>
          </p:cNvSpPr>
          <p:nvPr>
            <p:ph idx="1"/>
          </p:nvPr>
        </p:nvSpPr>
        <p:spPr>
          <a:xfrm>
            <a:off x="455930" y="1965325"/>
            <a:ext cx="2279015" cy="3024505"/>
          </a:xfrm>
        </p:spPr>
        <p:txBody>
          <a:bodyPr vert="horz" wrap="square" lIns="91440" tIns="45720" rIns="91440" bIns="45720" anchor="t" anchorCtr="0">
            <a:normAutofit lnSpcReduction="10000"/>
          </a:bodyPr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任务：</a:t>
            </a:r>
            <a:endParaRPr lang="zh-CN" altLang="en-US" sz="3200" b="1" dirty="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 eaLnBrk="1" hangingPunct="1">
              <a:lnSpc>
                <a:spcPct val="125000"/>
              </a:lnSpc>
              <a:spcAft>
                <a:spcPts val="0"/>
              </a:spcAft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将中间代码翻译成为目标程序</a:t>
            </a:r>
            <a:endParaRPr lang="zh-CN" altLang="en-US" sz="3200" b="1" dirty="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eaLnBrk="1" hangingPunct="1">
              <a:lnSpc>
                <a:spcPct val="125000"/>
              </a:lnSpc>
              <a:spcAft>
                <a:spcPts val="0"/>
              </a:spcAft>
              <a:buNone/>
            </a:pPr>
            <a:endParaRPr lang="zh-CN" altLang="en-US" sz="3200" b="1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5778" name="Rectangle 2"/>
          <p:cNvSpPr/>
          <p:nvPr>
            <p:custDataLst>
              <p:tags r:id="rId1"/>
            </p:custDataLst>
          </p:nvPr>
        </p:nvSpPr>
        <p:spPr>
          <a:xfrm>
            <a:off x="3087688" y="2270125"/>
            <a:ext cx="3906837" cy="23069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 Light" panose="02010600030101010101" charset="-122"/>
              </a:rPr>
              <a:t>优化后的中间代码：</a:t>
            </a:r>
            <a:endParaRPr lang="zh-CN" altLang="en-US" sz="3200" b="1" dirty="0">
              <a:solidFill>
                <a:srgbClr val="FF0066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t2=index ×</a:t>
            </a:r>
            <a:r>
              <a:rPr lang="en-US" altLang="zh-CN" sz="3200" b="1" baseline="-10000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</a:t>
            </a: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4</a:t>
            </a:r>
            <a:endParaRPr lang="zh-CN" altLang="en-US" sz="3200" b="1" dirty="0">
              <a:solidFill>
                <a:srgbClr val="21212D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t3=&amp;a+ t2</a:t>
            </a:r>
            <a:endParaRPr lang="en-US" altLang="zh-CN" sz="3200" b="1" dirty="0">
              <a:solidFill>
                <a:srgbClr val="21212D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</a:t>
            </a:r>
            <a:r>
              <a:rPr lang="en-US" altLang="zh-CN" sz="3200" b="1" baseline="-10000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*</a:t>
            </a: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t3=6</a:t>
            </a:r>
            <a:endParaRPr lang="en-US" altLang="zh-CN" sz="3200" b="1" dirty="0">
              <a:solidFill>
                <a:srgbClr val="21212D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</p:txBody>
      </p:sp>
      <p:sp>
        <p:nvSpPr>
          <p:cNvPr id="75779" name="Rectangle 3"/>
          <p:cNvSpPr/>
          <p:nvPr>
            <p:custDataLst>
              <p:tags r:id="rId2"/>
            </p:custDataLst>
          </p:nvPr>
        </p:nvSpPr>
        <p:spPr>
          <a:xfrm>
            <a:off x="7264083" y="2269808"/>
            <a:ext cx="4114800" cy="35382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等线 Light" panose="02010600030101010101" charset="-122"/>
              </a:rPr>
              <a:t>生成的目标代码：</a:t>
            </a:r>
            <a:endParaRPr lang="zh-CN" altLang="en-US" sz="3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MOV   R0, index </a:t>
            </a:r>
            <a:endParaRPr lang="en-US" altLang="zh-CN" sz="3200" b="1" dirty="0">
              <a:solidFill>
                <a:srgbClr val="21212D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MUL    R0,</a:t>
            </a:r>
            <a:r>
              <a:rPr lang="zh-CN" altLang="en-US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</a:t>
            </a: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4</a:t>
            </a:r>
            <a:endParaRPr lang="en-US" altLang="zh-CN" sz="3200" b="1" dirty="0">
              <a:solidFill>
                <a:srgbClr val="21212D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MOV   R1,</a:t>
            </a:r>
            <a:r>
              <a:rPr lang="zh-CN" altLang="en-US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</a:t>
            </a: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&amp;a</a:t>
            </a:r>
            <a:endParaRPr lang="en-US" altLang="zh-CN" sz="3200" b="1" dirty="0">
              <a:solidFill>
                <a:srgbClr val="21212D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ADD    R1,</a:t>
            </a:r>
            <a:r>
              <a:rPr lang="zh-CN" altLang="en-US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</a:t>
            </a: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R0    </a:t>
            </a:r>
            <a:endParaRPr lang="en-US" altLang="zh-CN" sz="3200" b="1" dirty="0">
              <a:solidFill>
                <a:srgbClr val="21212D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Clr>
                <a:schemeClr val="accent2"/>
              </a:buClr>
              <a:buSzPct val="90000"/>
            </a:pP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MOV   *R1,</a:t>
            </a:r>
            <a:r>
              <a:rPr lang="zh-CN" altLang="en-US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 </a:t>
            </a:r>
            <a:r>
              <a:rPr lang="en-US" altLang="zh-CN" sz="3200" b="1" dirty="0">
                <a:solidFill>
                  <a:srgbClr val="21212D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等线 Light" panose="02010600030101010101" charset="-122"/>
              </a:rPr>
              <a:t>6    </a:t>
            </a:r>
            <a:endParaRPr lang="en-US" altLang="zh-CN" sz="3200" b="1" dirty="0">
              <a:solidFill>
                <a:srgbClr val="21212D"/>
              </a:solidFill>
              <a:latin typeface="Times New Roman" panose="02020603050405020304" pitchFamily="18" charset="0"/>
              <a:ea typeface="方正舒体" panose="02010601030101010101" pitchFamily="2" charset="-122"/>
              <a:cs typeface="等线 Light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39725" y="372110"/>
            <a:ext cx="732345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2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编译器构造逻辑阶段的划分</a:t>
            </a:r>
            <a:r>
              <a:rPr sz="3200">
                <a:cs typeface="等线 Light" panose="02010600030101010101" charset="-122"/>
                <a:sym typeface="+mn-ea"/>
              </a:rPr>
              <a:t> </a:t>
            </a:r>
            <a:endParaRPr lang="zh-CN" altLang="en-US" sz="3200" dirty="0">
              <a:cs typeface="等线 Light" panose="02010600030101010101" charset="-122"/>
            </a:endParaRPr>
          </a:p>
          <a:p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58372" name="Rectangle 2"/>
          <p:cNvSpPr>
            <a:spLocks noGrp="1"/>
          </p:cNvSpPr>
          <p:nvPr>
            <p:ph type="title"/>
          </p:nvPr>
        </p:nvSpPr>
        <p:spPr>
          <a:xfrm>
            <a:off x="388620" y="1153795"/>
            <a:ext cx="5031105" cy="646430"/>
          </a:xfrm>
        </p:spPr>
        <p:txBody>
          <a:bodyPr vert="horz" wrap="square" lIns="91440" tIns="45720" rIns="91440" bIns="45720" anchor="b" anchorCtr="0">
            <a:normAutofit/>
          </a:bodyPr>
          <a:p>
            <a:pPr eaLnBrk="1" hangingPunct="1"/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  <a:cs typeface="黑体" panose="02010609060101010101" charset="-122"/>
                <a:hlinkClick r:id="rId1" action="ppaction://hlinksldjump"/>
              </a:rPr>
              <a:t>解释执行：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  <a:cs typeface="黑体" panose="02010609060101010101" charset="-122"/>
                <a:hlinkClick r:id="rId1" action="ppaction://hlinksldjump"/>
              </a:rPr>
              <a:t>java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  <a:cs typeface="黑体" panose="02010609060101010101" charset="-122"/>
            </a:endParaRPr>
          </a:p>
        </p:txBody>
      </p:sp>
      <p:graphicFrame>
        <p:nvGraphicFramePr>
          <p:cNvPr id="58373" name="Object 10"/>
          <p:cNvGraphicFramePr>
            <a:graphicFrameLocks noGrp="1" noChangeAspect="1"/>
          </p:cNvGraphicFramePr>
          <p:nvPr>
            <p:ph idx="1"/>
          </p:nvPr>
        </p:nvGraphicFramePr>
        <p:xfrm>
          <a:off x="518795" y="1733550"/>
          <a:ext cx="5955665" cy="463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2" imgW="4589780" imgH="2982595" progId="Visio.Drawing.11">
                  <p:embed/>
                </p:oleObj>
              </mc:Choice>
              <mc:Fallback>
                <p:oleObj name="" r:id="rId2" imgW="4589780" imgH="2982595" progId="Visio.Drawing.11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8795" y="1733550"/>
                        <a:ext cx="5955665" cy="46386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509260" y="1277620"/>
            <a:ext cx="6096000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>
              <a:lnSpc>
                <a:spcPct val="90000"/>
              </a:lnSpc>
              <a:buClrTx/>
              <a:buSzTx/>
              <a:buFontTx/>
            </a:pP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  <a:cs typeface="黑体" panose="02010609060101010101" charset="-122"/>
                <a:sym typeface="+mn-ea"/>
              </a:rPr>
              <a:t>Python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5621020" y="2124075"/>
            <a:ext cx="1753870" cy="7073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源代码（</a:t>
            </a:r>
            <a:r>
              <a:rPr lang="en-US" altLang="zh-CN" b="1"/>
              <a:t>.py/.js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7948930" y="2124075"/>
            <a:ext cx="1717675" cy="7073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解释器</a:t>
            </a:r>
            <a:endParaRPr lang="zh-CN" altLang="en-US" b="1"/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7948930" y="3242310"/>
            <a:ext cx="1717675" cy="7073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词法分析</a:t>
            </a:r>
            <a:endParaRPr lang="zh-CN" altLang="en-US" b="1"/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7948930" y="4194810"/>
            <a:ext cx="1717675" cy="7073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语法分析</a:t>
            </a:r>
            <a:endParaRPr lang="zh-CN" altLang="en-US" b="1"/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7948930" y="5147310"/>
            <a:ext cx="1717040" cy="7073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语义分析</a:t>
            </a:r>
            <a:endParaRPr lang="zh-CN" altLang="en-US" b="1"/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10394315" y="5147310"/>
            <a:ext cx="1429385" cy="7073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逐行执行</a:t>
            </a:r>
            <a:endParaRPr lang="zh-CN" altLang="en-US" b="1"/>
          </a:p>
        </p:txBody>
      </p:sp>
      <p:cxnSp>
        <p:nvCxnSpPr>
          <p:cNvPr id="12" name="直接箭头连接符 11"/>
          <p:cNvCxnSpPr/>
          <p:nvPr>
            <p:custDataLst>
              <p:tags r:id="rId10"/>
            </p:custDataLst>
          </p:nvPr>
        </p:nvCxnSpPr>
        <p:spPr>
          <a:xfrm>
            <a:off x="7374890" y="2477770"/>
            <a:ext cx="59880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7" idx="2"/>
            <a:endCxn id="8" idx="0"/>
          </p:cNvCxnSpPr>
          <p:nvPr>
            <p:custDataLst>
              <p:tags r:id="rId11"/>
            </p:custDataLst>
          </p:nvPr>
        </p:nvCxnSpPr>
        <p:spPr>
          <a:xfrm>
            <a:off x="8808085" y="2831465"/>
            <a:ext cx="0" cy="410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>
            <p:custDataLst>
              <p:tags r:id="rId12"/>
            </p:custDataLst>
          </p:nvPr>
        </p:nvCxnSpPr>
        <p:spPr>
          <a:xfrm>
            <a:off x="8808085" y="3949700"/>
            <a:ext cx="0" cy="2451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>
            <p:custDataLst>
              <p:tags r:id="rId13"/>
            </p:custDataLst>
          </p:nvPr>
        </p:nvCxnSpPr>
        <p:spPr>
          <a:xfrm>
            <a:off x="8808085" y="4902200"/>
            <a:ext cx="0" cy="2451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0" idx="3"/>
            <a:endCxn id="11" idx="1"/>
          </p:cNvCxnSpPr>
          <p:nvPr>
            <p:custDataLst>
              <p:tags r:id="rId14"/>
            </p:custDataLst>
          </p:nvPr>
        </p:nvCxnSpPr>
        <p:spPr>
          <a:xfrm>
            <a:off x="9665970" y="5501005"/>
            <a:ext cx="72834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187960" y="276860"/>
            <a:ext cx="8891270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一章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编译器技术发展和工作原理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393065" y="1282700"/>
            <a:ext cx="11237595" cy="429323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1</a:t>
            </a:r>
            <a:r>
              <a:rPr lang="en-US" altLang="zh-CN"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.0 </a:t>
            </a: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课程相关信息</a:t>
            </a: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  <a:hlinkClick r:id="rId1" action="ppaction://hlinksldjump"/>
              </a:rPr>
              <a:t>  </a:t>
            </a:r>
            <a:endParaRPr sz="3200">
              <a:solidFill>
                <a:srgbClr val="0070C0"/>
              </a:solidFill>
              <a:latin typeface="等线" panose="02010600030101010101" charset="-122"/>
              <a:sym typeface="+mn-ea"/>
              <a:hlinkClick r:id="rId1" action="ppaction://hlinksldjump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1.1 编译器技术的发展</a:t>
            </a:r>
            <a:endParaRPr sz="3200">
              <a:solidFill>
                <a:srgbClr val="0070C0"/>
              </a:solidFill>
              <a:latin typeface="等线" panose="02010600030101010101" charset="-122"/>
              <a:sym typeface="+mn-ea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1.2 编译器构造逻辑阶段划分</a:t>
            </a:r>
            <a:endParaRPr sz="3200">
              <a:solidFill>
                <a:srgbClr val="0070C0"/>
              </a:solidFill>
              <a:latin typeface="等线" panose="02010600030101010101" charset="-122"/>
              <a:sym typeface="+mn-ea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accent1"/>
                </a:solidFill>
                <a:latin typeface="等线" panose="02010600030101010101" charset="-122"/>
                <a:sym typeface="+mn-ea"/>
              </a:rPr>
              <a:t>1.3 </a:t>
            </a:r>
            <a:r>
              <a:rPr sz="3200">
                <a:solidFill>
                  <a:schemeClr val="accent1"/>
                </a:solidFill>
                <a:latin typeface="等线" panose="02010600030101010101" charset="-122"/>
                <a:sym typeface="+mn-ea"/>
              </a:rPr>
              <a:t>编译阶段组合</a:t>
            </a:r>
            <a:endParaRPr lang="zh-CN" altLang="en-US" sz="3200" dirty="0">
              <a:solidFill>
                <a:schemeClr val="accent1"/>
              </a:solidFill>
              <a:latin typeface="等线" panose="02010600030101010101" charset="-122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charset="0"/>
              <a:buChar char="p"/>
            </a:pPr>
            <a:r>
              <a:rPr sz="3200">
                <a:solidFill>
                  <a:srgbClr val="21212D"/>
                </a:solidFill>
                <a:latin typeface="等线" panose="02010600030101010101" charset="-122"/>
                <a:sym typeface="+mn-ea"/>
              </a:rPr>
              <a:t>1.4 </a:t>
            </a:r>
            <a:r>
              <a:rPr sz="3200">
                <a:solidFill>
                  <a:srgbClr val="21212D"/>
                </a:solidFill>
                <a:latin typeface="等线" panose="02010600030101010101" charset="-122"/>
              </a:rPr>
              <a:t>深度学习</a:t>
            </a:r>
            <a:r>
              <a:rPr lang="zh-CN" altLang="en-US" sz="3200">
                <a:solidFill>
                  <a:srgbClr val="21212D"/>
                </a:solidFill>
                <a:latin typeface="等线" panose="02010600030101010101" charset="-122"/>
              </a:rPr>
              <a:t>编译器</a:t>
            </a:r>
            <a:endParaRPr lang="zh-CN" altLang="en-US" sz="3200">
              <a:solidFill>
                <a:srgbClr val="21212D"/>
              </a:solidFill>
              <a:latin typeface="等线" panose="02010600030101010101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</a:pPr>
            <a:endParaRPr lang="zh-CN" altLang="en-US" sz="3200">
              <a:solidFill>
                <a:srgbClr val="0070C0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357505" y="276860"/>
            <a:ext cx="872172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3 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编译阶段的组合</a:t>
            </a:r>
            <a:r>
              <a:rPr sz="3200">
                <a:latin typeface="Tahoma" panose="020B0604030504040204" pitchFamily="34" charset="0"/>
                <a:cs typeface="等线 Light" panose="02010600030101010101" charset="-122"/>
                <a:sym typeface="+mn-ea"/>
              </a:rPr>
              <a:t>——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前端和后端</a:t>
            </a:r>
            <a:endParaRPr lang="zh-CN" altLang="en-US" sz="3200" dirty="0">
              <a:latin typeface="方正舒体" panose="02010601030101010101" pitchFamily="2" charset="-122"/>
              <a:cs typeface="等线 Light" panose="02010600030101010101" charset="-122"/>
            </a:endParaRPr>
          </a:p>
          <a:p>
            <a:r>
              <a:rPr sz="3200">
                <a:cs typeface="等线 Light" panose="02010600030101010101" charset="-122"/>
                <a:sym typeface="+mn-ea"/>
              </a:rPr>
              <a:t> </a:t>
            </a:r>
            <a:endParaRPr lang="zh-CN" altLang="en-US" sz="3200" dirty="0">
              <a:cs typeface="等线 Light" panose="02010600030101010101" charset="-122"/>
            </a:endParaRPr>
          </a:p>
          <a:p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43025" name="Rectangle 17"/>
          <p:cNvSpPr>
            <a:spLocks noGrp="1"/>
          </p:cNvSpPr>
          <p:nvPr>
            <p:ph idx="1"/>
          </p:nvPr>
        </p:nvSpPr>
        <p:spPr>
          <a:xfrm>
            <a:off x="423545" y="1217295"/>
            <a:ext cx="11391265" cy="2087245"/>
          </a:xfrm>
        </p:spPr>
        <p:txBody>
          <a:bodyPr vert="horz" wrap="square" lIns="91440" tIns="45720" rIns="91440" bIns="45720" anchor="t" anchorCtr="0">
            <a:normAutofit lnSpcReduction="20000"/>
          </a:bodyPr>
          <a:p>
            <a:pPr eaLnBrk="1" hangingPunct="1">
              <a:lnSpc>
                <a:spcPct val="120000"/>
              </a:lnSpc>
              <a:spcAft>
                <a:spcPts val="0"/>
              </a:spcAft>
            </a:pP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</a:rPr>
              <a:t>前端(</a:t>
            </a:r>
            <a:r>
              <a:rPr lang="en-US" altLang="zh-CN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</a:rPr>
              <a:t>Front-End</a:t>
            </a: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</a:rPr>
              <a:t>)—与目标机无关：分析部分(词法、语法、语义分析)、中间代码生成与优化以及这部分的符号表管理错误处理；</a:t>
            </a:r>
            <a:endParaRPr lang="zh-CN" altLang="en-US" b="1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Aft>
                <a:spcPts val="0"/>
              </a:spcAft>
            </a:pP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</a:rPr>
              <a:t>后端(</a:t>
            </a:r>
            <a:r>
              <a:rPr lang="en-US" altLang="zh-CN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</a:rPr>
              <a:t>Back-End</a:t>
            </a:r>
            <a:r>
              <a:rPr lang="zh-CN" altLang="en-US" b="1" dirty="0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</a:rPr>
              <a:t>)—与目标机有关部分：目标代码生成、与目标机有关的优化以及这部分的符号表管理和错误处理工作。</a:t>
            </a:r>
            <a:endParaRPr lang="zh-CN" altLang="en-US" b="1" dirty="0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宋体" panose="02010600030101010101" pitchFamily="2" charset="-122"/>
            </a:endParaRPr>
          </a:p>
        </p:txBody>
      </p:sp>
      <p:sp>
        <p:nvSpPr>
          <p:cNvPr id="4" name="Oval 15"/>
          <p:cNvSpPr/>
          <p:nvPr>
            <p:custDataLst>
              <p:tags r:id="rId1"/>
            </p:custDataLst>
          </p:nvPr>
        </p:nvSpPr>
        <p:spPr>
          <a:xfrm>
            <a:off x="8171815" y="4989830"/>
            <a:ext cx="1447800" cy="7620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dirty="0">
                <a:solidFill>
                  <a:srgbClr val="21212D"/>
                </a:solidFill>
                <a:latin typeface="Tahoma" panose="020B0604030504040204" pitchFamily="34" charset="0"/>
                <a:cs typeface="等线 Light" panose="02010600030101010101" charset="-122"/>
              </a:rPr>
              <a:t>Machine</a:t>
            </a:r>
            <a:endParaRPr lang="en-US" altLang="zh-CN" sz="1800" dirty="0">
              <a:solidFill>
                <a:srgbClr val="21212D"/>
              </a:solidFill>
              <a:latin typeface="Tahoma" panose="020B0604030504040204" pitchFamily="34" charset="0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dirty="0">
                <a:solidFill>
                  <a:srgbClr val="21212D"/>
                </a:solidFill>
                <a:latin typeface="Tahoma" panose="020B0604030504040204" pitchFamily="34" charset="0"/>
                <a:cs typeface="等线 Light" panose="02010600030101010101" charset="-122"/>
              </a:rPr>
              <a:t>code2</a:t>
            </a:r>
            <a:endParaRPr lang="en-US" altLang="zh-CN" sz="1800" dirty="0">
              <a:solidFill>
                <a:srgbClr val="21212D"/>
              </a:solidFill>
              <a:latin typeface="Tahoma" panose="020B0604030504040204" pitchFamily="34" charset="0"/>
              <a:cs typeface="等线 Light" panose="02010600030101010101" charset="-122"/>
            </a:endParaRPr>
          </a:p>
        </p:txBody>
      </p:sp>
      <p:sp>
        <p:nvSpPr>
          <p:cNvPr id="5" name="Rectangle 16"/>
          <p:cNvSpPr/>
          <p:nvPr>
            <p:custDataLst>
              <p:tags r:id="rId2"/>
            </p:custDataLst>
          </p:nvPr>
        </p:nvSpPr>
        <p:spPr>
          <a:xfrm>
            <a:off x="6514465" y="5085080"/>
            <a:ext cx="1143000" cy="533400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dirty="0">
                <a:solidFill>
                  <a:srgbClr val="21212D"/>
                </a:solidFill>
                <a:latin typeface="Tahoma" panose="020B0604030504040204" pitchFamily="34" charset="0"/>
                <a:cs typeface="等线 Light" panose="02010600030101010101" charset="-122"/>
              </a:rPr>
              <a:t>Back-End2</a:t>
            </a:r>
            <a:endParaRPr lang="en-US" altLang="zh-CN" sz="1800" dirty="0">
              <a:solidFill>
                <a:srgbClr val="21212D"/>
              </a:solidFill>
              <a:latin typeface="Tahoma" panose="020B0604030504040204" pitchFamily="34" charset="0"/>
              <a:cs typeface="等线 Light" panose="02010600030101010101" charset="-122"/>
            </a:endParaRPr>
          </a:p>
        </p:txBody>
      </p:sp>
      <p:sp>
        <p:nvSpPr>
          <p:cNvPr id="6" name="Line 17"/>
          <p:cNvSpPr/>
          <p:nvPr>
            <p:custDataLst>
              <p:tags r:id="rId3"/>
            </p:custDataLst>
          </p:nvPr>
        </p:nvSpPr>
        <p:spPr>
          <a:xfrm>
            <a:off x="6057265" y="4704080"/>
            <a:ext cx="7620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7" name="Line 18"/>
          <p:cNvSpPr/>
          <p:nvPr>
            <p:custDataLst>
              <p:tags r:id="rId4"/>
            </p:custDataLst>
          </p:nvPr>
        </p:nvSpPr>
        <p:spPr>
          <a:xfrm>
            <a:off x="7657465" y="538988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grpSp>
        <p:nvGrpSpPr>
          <p:cNvPr id="8" name="Group 4"/>
          <p:cNvGrpSpPr/>
          <p:nvPr/>
        </p:nvGrpSpPr>
        <p:grpSpPr>
          <a:xfrm rot="0">
            <a:off x="4895215" y="3122930"/>
            <a:ext cx="4667250" cy="1789447"/>
            <a:chOff x="2388" y="1692"/>
            <a:chExt cx="2940" cy="1127"/>
          </a:xfrm>
        </p:grpSpPr>
        <p:sp>
          <p:nvSpPr>
            <p:cNvPr id="9" name="Oval 7"/>
            <p:cNvSpPr/>
            <p:nvPr>
              <p:custDataLst>
                <p:tags r:id="rId5"/>
              </p:custDataLst>
            </p:nvPr>
          </p:nvSpPr>
          <p:spPr>
            <a:xfrm>
              <a:off x="2388" y="2339"/>
              <a:ext cx="816" cy="48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800" dirty="0">
                  <a:solidFill>
                    <a:srgbClr val="21212D"/>
                  </a:solidFill>
                  <a:latin typeface="Tahoma" panose="020B0604030504040204" pitchFamily="34" charset="0"/>
                  <a:cs typeface="等线 Light" panose="02010600030101010101" charset="-122"/>
                </a:rPr>
                <a:t>Intermedite</a:t>
              </a:r>
              <a:endParaRPr lang="en-US" altLang="zh-CN" sz="1800" dirty="0">
                <a:solidFill>
                  <a:srgbClr val="21212D"/>
                </a:solidFill>
                <a:latin typeface="Tahoma" panose="020B0604030504040204" pitchFamily="34" charset="0"/>
                <a:cs typeface="等线 Light" panose="02010600030101010101" charset="-122"/>
              </a:endParaRPr>
            </a:p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800" dirty="0">
                  <a:solidFill>
                    <a:srgbClr val="21212D"/>
                  </a:solidFill>
                  <a:latin typeface="Tahoma" panose="020B0604030504040204" pitchFamily="34" charset="0"/>
                  <a:cs typeface="等线 Light" panose="02010600030101010101" charset="-122"/>
                </a:rPr>
                <a:t>code</a:t>
              </a:r>
              <a:endParaRPr lang="en-US" altLang="zh-CN" sz="1800" dirty="0">
                <a:solidFill>
                  <a:srgbClr val="21212D"/>
                </a:solidFill>
                <a:latin typeface="Tahoma" panose="020B0604030504040204" pitchFamily="34" charset="0"/>
                <a:cs typeface="等线 Light" panose="02010600030101010101" charset="-122"/>
              </a:endParaRPr>
            </a:p>
          </p:txBody>
        </p:sp>
        <p:sp>
          <p:nvSpPr>
            <p:cNvPr id="10" name="Rectangle 8"/>
            <p:cNvSpPr/>
            <p:nvPr>
              <p:custDataLst>
                <p:tags r:id="rId6"/>
              </p:custDataLst>
            </p:nvPr>
          </p:nvSpPr>
          <p:spPr>
            <a:xfrm>
              <a:off x="3360" y="1776"/>
              <a:ext cx="720" cy="336"/>
            </a:xfrm>
            <a:prstGeom prst="rect">
              <a:avLst/>
            </a:prstGeom>
            <a:solidFill>
              <a:srgbClr val="66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800" dirty="0">
                  <a:solidFill>
                    <a:srgbClr val="21212D"/>
                  </a:solidFill>
                  <a:latin typeface="Tahoma" panose="020B0604030504040204" pitchFamily="34" charset="0"/>
                  <a:cs typeface="等线 Light" panose="02010600030101010101" charset="-122"/>
                </a:rPr>
                <a:t>Back-End1</a:t>
              </a:r>
              <a:endParaRPr lang="en-US" altLang="zh-CN" sz="1800" dirty="0">
                <a:solidFill>
                  <a:srgbClr val="21212D"/>
                </a:solidFill>
                <a:latin typeface="Tahoma" panose="020B0604030504040204" pitchFamily="34" charset="0"/>
                <a:cs typeface="等线 Light" panose="02010600030101010101" charset="-122"/>
              </a:endParaRPr>
            </a:p>
          </p:txBody>
        </p:sp>
        <p:sp>
          <p:nvSpPr>
            <p:cNvPr id="11" name="Oval 9"/>
            <p:cNvSpPr/>
            <p:nvPr>
              <p:custDataLst>
                <p:tags r:id="rId7"/>
              </p:custDataLst>
            </p:nvPr>
          </p:nvSpPr>
          <p:spPr>
            <a:xfrm>
              <a:off x="4416" y="1692"/>
              <a:ext cx="912" cy="48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800" dirty="0">
                  <a:solidFill>
                    <a:srgbClr val="21212D"/>
                  </a:solidFill>
                  <a:latin typeface="Tahoma" panose="020B0604030504040204" pitchFamily="34" charset="0"/>
                  <a:cs typeface="等线 Light" panose="02010600030101010101" charset="-122"/>
                </a:rPr>
                <a:t>Machine</a:t>
              </a:r>
              <a:endParaRPr lang="en-US" altLang="zh-CN" sz="1800" dirty="0">
                <a:solidFill>
                  <a:srgbClr val="21212D"/>
                </a:solidFill>
                <a:latin typeface="Tahoma" panose="020B0604030504040204" pitchFamily="34" charset="0"/>
                <a:cs typeface="等线 Light" panose="02010600030101010101" charset="-122"/>
              </a:endParaRPr>
            </a:p>
            <a:p>
              <a:pPr algn="ctr">
                <a:lnSpc>
                  <a:spcPct val="75000"/>
                </a:lnSpc>
                <a:spcBef>
                  <a:spcPct val="20000"/>
                </a:spcBef>
                <a:buClr>
                  <a:schemeClr val="accent2"/>
                </a:buClr>
              </a:pPr>
              <a:r>
                <a:rPr lang="en-US" altLang="zh-CN" sz="1800" dirty="0">
                  <a:solidFill>
                    <a:srgbClr val="21212D"/>
                  </a:solidFill>
                  <a:latin typeface="Tahoma" panose="020B0604030504040204" pitchFamily="34" charset="0"/>
                  <a:cs typeface="等线 Light" panose="02010600030101010101" charset="-122"/>
                </a:rPr>
                <a:t>code1</a:t>
              </a:r>
              <a:endParaRPr lang="en-US" altLang="zh-CN" sz="1800" dirty="0">
                <a:solidFill>
                  <a:srgbClr val="21212D"/>
                </a:solidFill>
                <a:latin typeface="Tahoma" panose="020B0604030504040204" pitchFamily="34" charset="0"/>
                <a:cs typeface="等线 Light" panose="02010600030101010101" charset="-122"/>
              </a:endParaRPr>
            </a:p>
          </p:txBody>
        </p:sp>
        <p:sp>
          <p:nvSpPr>
            <p:cNvPr id="12" name="Line 12"/>
            <p:cNvSpPr/>
            <p:nvPr>
              <p:custDataLst>
                <p:tags r:id="rId8"/>
              </p:custDataLst>
            </p:nvPr>
          </p:nvSpPr>
          <p:spPr>
            <a:xfrm flipV="1">
              <a:off x="3120" y="2112"/>
              <a:ext cx="432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13" name="Line 13"/>
            <p:cNvSpPr/>
            <p:nvPr>
              <p:custDataLst>
                <p:tags r:id="rId9"/>
              </p:custDataLst>
            </p:nvPr>
          </p:nvSpPr>
          <p:spPr>
            <a:xfrm>
              <a:off x="4080" y="1968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</p:grpSp>
      <p:sp>
        <p:nvSpPr>
          <p:cNvPr id="14" name="Rectangle 15"/>
          <p:cNvSpPr/>
          <p:nvPr>
            <p:custDataLst>
              <p:tags r:id="rId10"/>
            </p:custDataLst>
          </p:nvPr>
        </p:nvSpPr>
        <p:spPr>
          <a:xfrm>
            <a:off x="2887663" y="5171123"/>
            <a:ext cx="1176337" cy="533400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dirty="0">
                <a:solidFill>
                  <a:srgbClr val="21212D"/>
                </a:solidFill>
                <a:latin typeface="Tahoma" panose="020B0604030504040204" pitchFamily="34" charset="0"/>
                <a:cs typeface="等线 Light" panose="02010600030101010101" charset="-122"/>
              </a:rPr>
              <a:t>Front-End2</a:t>
            </a:r>
            <a:endParaRPr lang="en-US" altLang="zh-CN" sz="1800" dirty="0">
              <a:solidFill>
                <a:srgbClr val="21212D"/>
              </a:solidFill>
              <a:latin typeface="Tahoma" panose="020B0604030504040204" pitchFamily="34" charset="0"/>
              <a:cs typeface="等线 Light" panose="02010600030101010101" charset="-122"/>
            </a:endParaRPr>
          </a:p>
        </p:txBody>
      </p:sp>
      <p:sp>
        <p:nvSpPr>
          <p:cNvPr id="15" name="Oval 16"/>
          <p:cNvSpPr/>
          <p:nvPr>
            <p:custDataLst>
              <p:tags r:id="rId11"/>
            </p:custDataLst>
          </p:nvPr>
        </p:nvSpPr>
        <p:spPr>
          <a:xfrm>
            <a:off x="1244600" y="5094923"/>
            <a:ext cx="1295400" cy="685800"/>
          </a:xfrm>
          <a:prstGeom prst="ellipse">
            <a:avLst/>
          </a:prstGeom>
          <a:solidFill>
            <a:schemeClr val="bg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dirty="0">
                <a:solidFill>
                  <a:srgbClr val="21212D"/>
                </a:solidFill>
                <a:latin typeface="Tahoma" panose="020B0604030504040204" pitchFamily="34" charset="0"/>
                <a:cs typeface="等线 Light" panose="02010600030101010101" charset="-122"/>
              </a:rPr>
              <a:t>Source </a:t>
            </a:r>
            <a:endParaRPr lang="en-US" altLang="zh-CN" sz="1800" dirty="0">
              <a:solidFill>
                <a:srgbClr val="21212D"/>
              </a:solidFill>
              <a:latin typeface="Tahoma" panose="020B0604030504040204" pitchFamily="34" charset="0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dirty="0">
                <a:solidFill>
                  <a:srgbClr val="21212D"/>
                </a:solidFill>
                <a:latin typeface="Tahoma" panose="020B0604030504040204" pitchFamily="34" charset="0"/>
                <a:cs typeface="等线 Light" panose="02010600030101010101" charset="-122"/>
              </a:rPr>
              <a:t>program2</a:t>
            </a:r>
            <a:endParaRPr lang="en-US" altLang="zh-CN" sz="1800" dirty="0">
              <a:solidFill>
                <a:srgbClr val="21212D"/>
              </a:solidFill>
              <a:latin typeface="Tahoma" panose="020B0604030504040204" pitchFamily="34" charset="0"/>
              <a:cs typeface="等线 Light" panose="02010600030101010101" charset="-122"/>
            </a:endParaRPr>
          </a:p>
        </p:txBody>
      </p:sp>
      <p:sp>
        <p:nvSpPr>
          <p:cNvPr id="16" name="Line 17"/>
          <p:cNvSpPr/>
          <p:nvPr>
            <p:custDataLst>
              <p:tags r:id="rId12"/>
            </p:custDataLst>
          </p:nvPr>
        </p:nvSpPr>
        <p:spPr>
          <a:xfrm>
            <a:off x="2540000" y="5475923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17" name="Oval 20"/>
          <p:cNvSpPr/>
          <p:nvPr>
            <p:custDataLst>
              <p:tags r:id="rId13"/>
            </p:custDataLst>
          </p:nvPr>
        </p:nvSpPr>
        <p:spPr>
          <a:xfrm>
            <a:off x="1112520" y="3266440"/>
            <a:ext cx="1356995" cy="685800"/>
          </a:xfrm>
          <a:prstGeom prst="ellipse">
            <a:avLst/>
          </a:prstGeom>
          <a:solidFill>
            <a:schemeClr val="bg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dirty="0">
                <a:solidFill>
                  <a:srgbClr val="21212D"/>
                </a:solidFill>
                <a:latin typeface="Tahoma" panose="020B0604030504040204" pitchFamily="34" charset="0"/>
                <a:cs typeface="等线 Light" panose="02010600030101010101" charset="-122"/>
              </a:rPr>
              <a:t>Source </a:t>
            </a:r>
            <a:endParaRPr lang="en-US" altLang="zh-CN" sz="1800" dirty="0">
              <a:solidFill>
                <a:srgbClr val="21212D"/>
              </a:solidFill>
              <a:latin typeface="Tahoma" panose="020B0604030504040204" pitchFamily="34" charset="0"/>
              <a:cs typeface="等线 Light" panose="02010600030101010101" charset="-122"/>
            </a:endParaRPr>
          </a:p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dirty="0">
                <a:solidFill>
                  <a:srgbClr val="21212D"/>
                </a:solidFill>
                <a:latin typeface="Tahoma" panose="020B0604030504040204" pitchFamily="34" charset="0"/>
                <a:cs typeface="等线 Light" panose="02010600030101010101" charset="-122"/>
              </a:rPr>
              <a:t>program1</a:t>
            </a:r>
            <a:endParaRPr lang="en-US" altLang="zh-CN" sz="1800" dirty="0">
              <a:solidFill>
                <a:srgbClr val="21212D"/>
              </a:solidFill>
              <a:latin typeface="Tahoma" panose="020B0604030504040204" pitchFamily="34" charset="0"/>
              <a:cs typeface="等线 Light" panose="02010600030101010101" charset="-122"/>
            </a:endParaRPr>
          </a:p>
        </p:txBody>
      </p:sp>
      <p:sp>
        <p:nvSpPr>
          <p:cNvPr id="18" name="Rectangle 21"/>
          <p:cNvSpPr/>
          <p:nvPr>
            <p:custDataLst>
              <p:tags r:id="rId14"/>
            </p:custDataLst>
          </p:nvPr>
        </p:nvSpPr>
        <p:spPr>
          <a:xfrm>
            <a:off x="2848610" y="3342640"/>
            <a:ext cx="1217295" cy="533400"/>
          </a:xfrm>
          <a:prstGeom prst="rect">
            <a:avLst/>
          </a:prstGeom>
          <a:solidFill>
            <a:srgbClr val="66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7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1800" dirty="0">
                <a:solidFill>
                  <a:srgbClr val="21212D"/>
                </a:solidFill>
                <a:latin typeface="Tahoma" panose="020B0604030504040204" pitchFamily="34" charset="0"/>
                <a:cs typeface="等线 Light" panose="02010600030101010101" charset="-122"/>
              </a:rPr>
              <a:t>Front-End1</a:t>
            </a:r>
            <a:endParaRPr lang="en-US" altLang="zh-CN" sz="1800" dirty="0">
              <a:solidFill>
                <a:srgbClr val="21212D"/>
              </a:solidFill>
              <a:latin typeface="Tahoma" panose="020B0604030504040204" pitchFamily="34" charset="0"/>
              <a:cs typeface="等线 Light" panose="02010600030101010101" charset="-122"/>
            </a:endParaRPr>
          </a:p>
        </p:txBody>
      </p:sp>
      <p:sp>
        <p:nvSpPr>
          <p:cNvPr id="19" name="Line 25"/>
          <p:cNvSpPr/>
          <p:nvPr>
            <p:custDataLst>
              <p:tags r:id="rId15"/>
            </p:custDataLst>
          </p:nvPr>
        </p:nvSpPr>
        <p:spPr>
          <a:xfrm>
            <a:off x="2469515" y="3647440"/>
            <a:ext cx="39941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62471" name="Line 18"/>
          <p:cNvSpPr/>
          <p:nvPr>
            <p:custDataLst>
              <p:tags r:id="rId16"/>
            </p:custDataLst>
          </p:nvPr>
        </p:nvSpPr>
        <p:spPr>
          <a:xfrm flipV="1">
            <a:off x="4025265" y="4704715"/>
            <a:ext cx="869950" cy="46609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20" name="Line 26"/>
          <p:cNvSpPr/>
          <p:nvPr>
            <p:custDataLst>
              <p:tags r:id="rId17"/>
            </p:custDataLst>
          </p:nvPr>
        </p:nvSpPr>
        <p:spPr>
          <a:xfrm>
            <a:off x="4024630" y="3559175"/>
            <a:ext cx="932815" cy="68707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21" name="文本框 20"/>
          <p:cNvSpPr txBox="1"/>
          <p:nvPr/>
        </p:nvSpPr>
        <p:spPr>
          <a:xfrm>
            <a:off x="946785" y="5858510"/>
            <a:ext cx="100222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2400" b="1">
                <a:solidFill>
                  <a:srgbClr val="21212D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+mn-ea"/>
              </a:rPr>
              <a:t>前端和不同的后端相互配合可以得到不同的编译器</a:t>
            </a:r>
            <a:endParaRPr lang="zh-CN" altLang="en-US" sz="2400" b="1">
              <a:solidFill>
                <a:srgbClr val="21212D"/>
              </a:solidFill>
              <a:latin typeface="等线" panose="02010600030101010101" charset="-122"/>
              <a:ea typeface="等线" panose="02010600030101010101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4"/>
          </p:nvPr>
        </p:nvSpPr>
        <p:spPr>
          <a:xfrm>
            <a:off x="187960" y="276860"/>
            <a:ext cx="8891270" cy="593090"/>
          </a:xfrm>
        </p:spPr>
        <p:txBody>
          <a:bodyPr/>
          <a:lstStyle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一章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编译器技术发展和工作原理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6"/>
          </p:nvPr>
        </p:nvSpPr>
        <p:spPr>
          <a:xfrm>
            <a:off x="393065" y="1282700"/>
            <a:ext cx="11237595" cy="429323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1</a:t>
            </a:r>
            <a:r>
              <a:rPr lang="en-US" altLang="zh-CN"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.0 </a:t>
            </a: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课程相关信息</a:t>
            </a: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  <a:hlinkClick r:id="rId1" action="ppaction://hlinksldjump"/>
              </a:rPr>
              <a:t>  </a:t>
            </a:r>
            <a:endParaRPr sz="3200">
              <a:solidFill>
                <a:srgbClr val="0070C0"/>
              </a:solidFill>
              <a:latin typeface="等线" panose="02010600030101010101" charset="-122"/>
              <a:sym typeface="+mn-ea"/>
              <a:hlinkClick r:id="rId1" action="ppaction://hlinksldjump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1.1 编译器技术的发展</a:t>
            </a:r>
            <a:endParaRPr sz="3200">
              <a:solidFill>
                <a:srgbClr val="0070C0"/>
              </a:solidFill>
              <a:latin typeface="等线" panose="02010600030101010101" charset="-122"/>
              <a:sym typeface="+mn-ea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sz="3200">
                <a:solidFill>
                  <a:srgbClr val="0070C0"/>
                </a:solidFill>
                <a:latin typeface="等线" panose="02010600030101010101" charset="-122"/>
                <a:sym typeface="+mn-ea"/>
              </a:rPr>
              <a:t>1.2 编译器构造逻辑阶段划分</a:t>
            </a:r>
            <a:endParaRPr sz="3200">
              <a:solidFill>
                <a:srgbClr val="0070C0"/>
              </a:solidFill>
              <a:latin typeface="等线" panose="02010600030101010101" charset="-122"/>
              <a:sym typeface="+mn-ea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zh-CN" sz="3200">
                <a:solidFill>
                  <a:schemeClr val="accent1"/>
                </a:solidFill>
                <a:latin typeface="等线" panose="02010600030101010101" charset="-122"/>
                <a:sym typeface="+mn-ea"/>
              </a:rPr>
              <a:t>1.3 </a:t>
            </a:r>
            <a:r>
              <a:rPr sz="3200">
                <a:solidFill>
                  <a:schemeClr val="accent1"/>
                </a:solidFill>
                <a:latin typeface="等线" panose="02010600030101010101" charset="-122"/>
                <a:sym typeface="+mn-ea"/>
              </a:rPr>
              <a:t>编译阶段组合</a:t>
            </a:r>
            <a:endParaRPr sz="3200">
              <a:solidFill>
                <a:schemeClr val="accent1"/>
              </a:solidFill>
              <a:latin typeface="等线" panose="02010600030101010101" charset="-122"/>
              <a:sym typeface="+mn-ea"/>
            </a:endParaRPr>
          </a:p>
          <a:p>
            <a:pPr eaLnBrk="1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sz="3200">
                <a:solidFill>
                  <a:schemeClr val="accent1"/>
                </a:solidFill>
                <a:latin typeface="等线" panose="02010600030101010101" charset="-122"/>
                <a:sym typeface="+mn-ea"/>
              </a:rPr>
              <a:t>1.4 </a:t>
            </a:r>
            <a:r>
              <a:rPr sz="3200">
                <a:solidFill>
                  <a:schemeClr val="accent1"/>
                </a:solidFill>
                <a:latin typeface="等线" panose="02010600030101010101" charset="-122"/>
              </a:rPr>
              <a:t>深度学习</a:t>
            </a:r>
            <a:r>
              <a:rPr lang="zh-CN" altLang="en-US" sz="3200">
                <a:solidFill>
                  <a:schemeClr val="accent1"/>
                </a:solidFill>
                <a:latin typeface="等线" panose="02010600030101010101" charset="-122"/>
              </a:rPr>
              <a:t>编译器</a:t>
            </a:r>
            <a:endParaRPr lang="zh-CN" altLang="en-US" sz="3200">
              <a:solidFill>
                <a:schemeClr val="accent1"/>
              </a:solidFill>
              <a:latin typeface="等线" panose="02010600030101010101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0"/>
              </a:spcAft>
            </a:pPr>
            <a:endParaRPr lang="zh-CN" altLang="en-US" sz="3200">
              <a:solidFill>
                <a:schemeClr val="accent1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295275" y="276860"/>
            <a:ext cx="878395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4 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深度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学习编译器</a:t>
            </a:r>
            <a:endParaRPr lang="zh-CN" altLang="en-US" sz="3200" dirty="0">
              <a:latin typeface="方正舒体" panose="02010601030101010101" pitchFamily="2" charset="-122"/>
              <a:cs typeface="等线 Light" panose="02010600030101010101" charset="-122"/>
            </a:endParaRPr>
          </a:p>
          <a:p>
            <a:r>
              <a:rPr sz="3200">
                <a:cs typeface="等线 Light" panose="02010600030101010101" charset="-122"/>
                <a:sym typeface="+mn-ea"/>
              </a:rPr>
              <a:t> </a:t>
            </a:r>
            <a:endParaRPr lang="zh-CN" altLang="en-US" sz="3200" dirty="0">
              <a:cs typeface="等线 Light" panose="02010600030101010101" charset="-122"/>
            </a:endParaRPr>
          </a:p>
          <a:p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graphicFrame>
        <p:nvGraphicFramePr>
          <p:cNvPr id="6" name="对象 -2147482577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610844" y="1287083"/>
          <a:ext cx="4058285" cy="4938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Visio" r:id="rId2" imgW="6400800" imgH="7787640" progId="Visio.Drawing.15">
                  <p:embed/>
                </p:oleObj>
              </mc:Choice>
              <mc:Fallback>
                <p:oleObj name="Visio" r:id="rId2" imgW="6400800" imgH="7787640" progId="Visio.Drawing.15">
                  <p:embed/>
                  <p:pic>
                    <p:nvPicPr>
                      <p:cNvPr id="0" name="对象 -21474825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0844" y="1287083"/>
                        <a:ext cx="4058285" cy="49383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953000" y="1287145"/>
            <a:ext cx="6807200" cy="4781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indent="-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zh-CN" altLang="en-US" sz="2400" b="1">
                <a:solidFill>
                  <a:schemeClr val="accent1"/>
                </a:solidFill>
              </a:rPr>
              <a:t>依赖框架的深度学习模型执行：</a:t>
            </a:r>
            <a:r>
              <a:rPr lang="zh-CN" altLang="en-US" sz="2400" b="1"/>
              <a:t>“按菜谱一道一道做菜”，深度学习框架先把模型变成计算图（像流程图），然后运行时按节点顺序执行，每个节点都去调用厂商提供的算子库（如卷积库、矩阵乘库）。</a:t>
            </a:r>
            <a:endParaRPr lang="zh-CN" altLang="en-US" sz="2400" b="1"/>
          </a:p>
          <a:p>
            <a:pPr marL="457200" indent="-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zh-CN" altLang="en-US" sz="2400" b="1">
                <a:solidFill>
                  <a:schemeClr val="accent1"/>
                </a:solidFill>
              </a:rPr>
              <a:t>独立部署的深度学习模型</a:t>
            </a:r>
            <a:r>
              <a:rPr lang="zh-CN" altLang="en-US" sz="2400" b="1">
                <a:solidFill>
                  <a:schemeClr val="accent1"/>
                </a:solidFill>
              </a:rPr>
              <a:t>执行：“先把整套流程优化后再一次性做”：</a:t>
            </a:r>
            <a:r>
              <a:rPr lang="zh-CN" altLang="en-US" sz="2400" b="1"/>
              <a:t>运行时把计算图中的一段子图交给深度学习编译器，编译器会把多个步骤合并、重排、自动调优，然后生成适合当前硬件的可执行代码。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/>
        </p:nvSpPr>
        <p:spPr>
          <a:xfrm>
            <a:off x="295275" y="276860"/>
            <a:ext cx="8783955" cy="593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zh-CN" altLang="en-US" sz="3600" b="1" kern="1200" dirty="0" smtClean="0">
                <a:solidFill>
                  <a:schemeClr val="bg1"/>
                </a:solidFill>
                <a:latin typeface="+mn-ea"/>
                <a:ea typeface="+mn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1.</a:t>
            </a:r>
            <a:r>
              <a:rPr lang="en-US" altLang="zh-CN"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4 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深度</a:t>
            </a:r>
            <a:r>
              <a:rPr sz="3200">
                <a:latin typeface="方正舒体" panose="02010601030101010101" pitchFamily="2" charset="-122"/>
                <a:cs typeface="等线 Light" panose="02010600030101010101" charset="-122"/>
                <a:sym typeface="+mn-ea"/>
              </a:rPr>
              <a:t>学习编译器</a:t>
            </a:r>
            <a:endParaRPr lang="zh-CN" altLang="en-US" sz="3200" dirty="0">
              <a:latin typeface="方正舒体" panose="02010601030101010101" pitchFamily="2" charset="-122"/>
              <a:cs typeface="等线 Light" panose="02010600030101010101" charset="-122"/>
            </a:endParaRPr>
          </a:p>
          <a:p>
            <a:r>
              <a:rPr sz="3200">
                <a:cs typeface="等线 Light" panose="02010600030101010101" charset="-122"/>
                <a:sym typeface="+mn-ea"/>
              </a:rPr>
              <a:t> </a:t>
            </a:r>
            <a:endParaRPr lang="zh-CN" altLang="en-US" sz="3200" dirty="0">
              <a:cs typeface="等线 Light" panose="02010600030101010101" charset="-122"/>
            </a:endParaRPr>
          </a:p>
          <a:p>
            <a:r>
              <a:rPr lang="zh-CN" altLang="en-US" dirty="0">
                <a:cs typeface="等线 Light" panose="02010600030101010101" charset="-122"/>
              </a:rPr>
              <a:t> </a:t>
            </a:r>
            <a:endParaRPr lang="zh-CN" altLang="en-US" dirty="0">
              <a:cs typeface="等线 Light" panose="02010600030101010101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601335" y="2214880"/>
            <a:ext cx="6167755" cy="4187825"/>
          </a:xfrm>
        </p:spPr>
        <p:txBody>
          <a:bodyPr>
            <a:normAutofit fontScale="90000" lnSpcReduction="10000"/>
          </a:bodyPr>
          <a:p>
            <a:pPr marL="457200" indent="-457200">
              <a:lnSpc>
                <a:spcPct val="125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输入神经网络模型，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TVM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将其转换为计算图表示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25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在计算图表示上进行数据流重写，生成优化计算图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25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算子级优化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负责为计算图的每个节点生成高效的代码，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TVM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根据声明式张量表达与硬件感知的优化原语进行代码的生成与优化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25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TVM可以为给定硬件平台的算子发现代码优化的地方，TVM支持基于机器学习的自动调优，用于搜索最好的优化策略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25000"/>
              </a:lnSpc>
              <a:spcAft>
                <a:spcPts val="0"/>
              </a:spcAft>
              <a:buFont typeface="+mj-ea"/>
              <a:buAutoNum type="circleNumDbPlain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TVM支持GPU、CPU以及专用加速器；还支持生成LLVM IR，可以使用LLVM编译器进一步优化及代码生成；还可以生成CUDA、Metal和OpenCL源代码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对象 -2147482576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343218" y="2395855"/>
          <a:ext cx="5194935" cy="3895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2" imgW="6184900" imgH="4640580" progId="Visio.Drawing.15">
                  <p:embed/>
                </p:oleObj>
              </mc:Choice>
              <mc:Fallback>
                <p:oleObj name="" r:id="rId2" imgW="6184900" imgH="4640580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3218" y="2395855"/>
                        <a:ext cx="5194935" cy="38950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416560" y="1226185"/>
            <a:ext cx="113518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ym typeface="+mn-ea"/>
              </a:rPr>
              <a:t>深度学习编译流程可以划分为</a:t>
            </a: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前端、高级优化、低级优化和后端</a:t>
            </a:r>
            <a:r>
              <a:rPr lang="zh-CN" altLang="en-US" sz="2800" dirty="0">
                <a:sym typeface="+mn-ea"/>
              </a:rPr>
              <a:t>四个阶段，例如：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TVM编译器结构</a:t>
            </a:r>
            <a:endParaRPr lang="zh-CN" altLang="en-US" sz="28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3945" y="2085340"/>
            <a:ext cx="10640060" cy="2260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1500"/>
              <a:t>总结和</a:t>
            </a:r>
            <a:r>
              <a:rPr lang="zh-CN" altLang="en-US" sz="11500"/>
              <a:t>扩展</a:t>
            </a:r>
            <a:endParaRPr lang="zh-CN" altLang="en-US" sz="1150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/>
            <p:custDataLst>
              <p:tags r:id="rId1"/>
            </p:custDataLst>
          </p:nvPr>
        </p:nvSpPr>
        <p:spPr>
          <a:xfrm>
            <a:off x="351155" y="361315"/>
            <a:ext cx="7323455" cy="593090"/>
          </a:xfrm>
        </p:spPr>
        <p:txBody>
          <a:bodyPr/>
          <a:p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第</a:t>
            </a:r>
            <a:r>
              <a:rPr sz="3200" dirty="0">
                <a:latin typeface="等线" panose="02010600030101010101" charset="-122"/>
                <a:ea typeface="等线" panose="02010600030101010101" charset="-122"/>
              </a:rPr>
              <a:t>一章</a:t>
            </a:r>
            <a:r>
              <a:rPr lang="en-US" altLang="zh-CN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sz="3200">
                <a:latin typeface="等线" panose="02010600030101010101" charset="-122"/>
                <a:ea typeface="等线" panose="02010600030101010101" charset="-122"/>
                <a:sym typeface="+mn-ea"/>
              </a:rPr>
              <a:t>编译器技术发展和工作原理</a:t>
            </a:r>
            <a:r>
              <a:rPr lang="zh-CN" altLang="en-US" sz="3200" dirty="0"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zh-CN" alt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UNIT_PLACING_PICTURE_USER_VIEWPORT" val="{&quot;height&quot;:2884,&quot;width&quot;:2884}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UNIT_TABLE_BEAUTIFY" val="smartTable{e3789423-f435-4ab7-8f43-75f4daaa40eb}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  <p:tag name="KSO_WM_UNIT_PLACING_PICTURE_USER_VIEWPORT" val="{&quot;height&quot;:7810,&quot;width&quot;:6635}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PP_MARK_KEY" val="a8cb7fbe-3bb3-466b-9ca4-08b2b30fb1e2"/>
  <p:tag name="COMMONDATA" val="eyJoZGlkIjoiMzJjODM0ODFlMzJmZDYxYTU5ZjM3ODk5NzI1YjE1ODgifQ=="/>
  <p:tag name="commondata" val="eyJoZGlkIjoiNzgzODRmMmQ1YmU3OTMzNzM4MTAxOTY0ZDVjYmE4MDc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等线 Light"/>
        <a:font script="Hebr" typeface="等线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等线 Light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等线 Light"/>
        <a:font script="Hebr" typeface="等线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等线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等线 Light"/>
        <a:font script="Hebr" typeface="等线 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等线 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4740</Words>
  <Application>WPS 演示</Application>
  <PresentationFormat>全屏显示(4:3)</PresentationFormat>
  <Paragraphs>691</Paragraphs>
  <Slides>35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35</vt:i4>
      </vt:variant>
    </vt:vector>
  </HeadingPairs>
  <TitlesOfParts>
    <vt:vector size="64" baseType="lpstr">
      <vt:lpstr>Arial</vt:lpstr>
      <vt:lpstr>宋体</vt:lpstr>
      <vt:lpstr>Wingdings</vt:lpstr>
      <vt:lpstr>等线 Light</vt:lpstr>
      <vt:lpstr>微软雅黑</vt:lpstr>
      <vt:lpstr>Times New Roman</vt:lpstr>
      <vt:lpstr>等线</vt:lpstr>
      <vt:lpstr>Wingdings</vt:lpstr>
      <vt:lpstr>方正舒体</vt:lpstr>
      <vt:lpstr>Calibri</vt:lpstr>
      <vt:lpstr>Arial Unicode MS</vt:lpstr>
      <vt:lpstr>Calibri Light</vt:lpstr>
      <vt:lpstr>Tahoma</vt:lpstr>
      <vt:lpstr>黑体</vt:lpstr>
      <vt:lpstr>汉仪雅酷黑 45W</vt:lpstr>
      <vt:lpstr>思源黑体 Regular</vt:lpstr>
      <vt:lpstr>思源黑体 Bold</vt:lpstr>
      <vt:lpstr>Office 主题​​</vt:lpstr>
      <vt:lpstr>Visio.Drawing.6</vt:lpstr>
      <vt:lpstr>Visio.Drawing.15</vt:lpstr>
      <vt:lpstr>Visio.Drawing.15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Word.Document.8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编译器逻辑结构的组成</vt:lpstr>
      <vt:lpstr>词法分析程序</vt:lpstr>
      <vt:lpstr>编译器逻辑结构的组成</vt:lpstr>
      <vt:lpstr>语法分析程序（parser）</vt:lpstr>
      <vt:lpstr>编译器逻辑结构的组成</vt:lpstr>
      <vt:lpstr>语义分析程序</vt:lpstr>
      <vt:lpstr>编译器逻辑结构的组成</vt:lpstr>
      <vt:lpstr>中间代码生成</vt:lpstr>
      <vt:lpstr>编译器逻辑结构的组成</vt:lpstr>
      <vt:lpstr>PowerPoint 演示文稿</vt:lpstr>
      <vt:lpstr>编译器逻辑结构的组成</vt:lpstr>
      <vt:lpstr>目标代码生成</vt:lpstr>
      <vt:lpstr>解释执行：java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Wren</dc:creator>
  <cp:lastModifiedBy>LENOVO</cp:lastModifiedBy>
  <cp:revision>331</cp:revision>
  <dcterms:created xsi:type="dcterms:W3CDTF">2024-03-16T07:28:00Z</dcterms:created>
  <dcterms:modified xsi:type="dcterms:W3CDTF">2026-03-03T07:51:32Z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F1DE139325FD4D43AED2387FF8BF0C0A_13</vt:lpwstr>
  </property>
  <property fmtid="{D5CDD505-2E9C-101B-9397-08002B2CF9AE}" pid="3" name="KSOProductBuildVer">
    <vt:lpwstr>2052-12.1.0.18276</vt:lpwstr>
  </property>
</Properties>
</file>