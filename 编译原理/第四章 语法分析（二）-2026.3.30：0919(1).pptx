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63"/>
  </p:handoutMasterIdLst>
  <p:sldIdLst>
    <p:sldId id="861" r:id="rId3"/>
    <p:sldId id="540" r:id="rId4"/>
    <p:sldId id="538" r:id="rId5"/>
    <p:sldId id="545" r:id="rId6"/>
    <p:sldId id="548" r:id="rId7"/>
    <p:sldId id="549" r:id="rId8"/>
    <p:sldId id="854" r:id="rId9"/>
    <p:sldId id="855" r:id="rId10"/>
    <p:sldId id="856" r:id="rId12"/>
    <p:sldId id="553" r:id="rId13"/>
    <p:sldId id="556" r:id="rId14"/>
    <p:sldId id="557" r:id="rId15"/>
    <p:sldId id="559" r:id="rId16"/>
    <p:sldId id="562" r:id="rId17"/>
    <p:sldId id="567" r:id="rId18"/>
    <p:sldId id="566" r:id="rId19"/>
    <p:sldId id="571" r:id="rId20"/>
    <p:sldId id="572" r:id="rId21"/>
    <p:sldId id="574" r:id="rId22"/>
    <p:sldId id="576" r:id="rId23"/>
    <p:sldId id="578" r:id="rId24"/>
    <p:sldId id="580" r:id="rId25"/>
    <p:sldId id="583" r:id="rId26"/>
    <p:sldId id="584" r:id="rId27"/>
    <p:sldId id="587" r:id="rId28"/>
    <p:sldId id="590" r:id="rId29"/>
    <p:sldId id="859" r:id="rId30"/>
    <p:sldId id="592" r:id="rId31"/>
    <p:sldId id="594" r:id="rId32"/>
    <p:sldId id="595" r:id="rId33"/>
    <p:sldId id="597" r:id="rId34"/>
    <p:sldId id="599" r:id="rId35"/>
    <p:sldId id="603" r:id="rId36"/>
    <p:sldId id="605" r:id="rId37"/>
    <p:sldId id="609" r:id="rId38"/>
    <p:sldId id="610" r:id="rId39"/>
    <p:sldId id="613" r:id="rId40"/>
    <p:sldId id="617" r:id="rId41"/>
    <p:sldId id="620" r:id="rId42"/>
    <p:sldId id="623" r:id="rId43"/>
    <p:sldId id="625" r:id="rId44"/>
    <p:sldId id="626" r:id="rId45"/>
    <p:sldId id="629" r:id="rId46"/>
    <p:sldId id="631" r:id="rId47"/>
    <p:sldId id="632" r:id="rId48"/>
    <p:sldId id="634" r:id="rId49"/>
    <p:sldId id="636" r:id="rId50"/>
    <p:sldId id="638" r:id="rId51"/>
    <p:sldId id="665" r:id="rId52"/>
    <p:sldId id="639" r:id="rId53"/>
    <p:sldId id="640" r:id="rId54"/>
    <p:sldId id="641" r:id="rId55"/>
    <p:sldId id="642" r:id="rId56"/>
    <p:sldId id="643" r:id="rId57"/>
    <p:sldId id="644" r:id="rId58"/>
    <p:sldId id="646" r:id="rId59"/>
    <p:sldId id="650" r:id="rId60"/>
    <p:sldId id="653" r:id="rId61"/>
    <p:sldId id="664" r:id="rId62"/>
  </p:sldIdLst>
  <p:sldSz cx="12192000" cy="6858000"/>
  <p:notesSz cx="6858000" cy="9144000"/>
  <p:custDataLst>
    <p:tags r:id="rId6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87" autoAdjust="0"/>
    <p:restoredTop sz="94986" autoAdjust="0"/>
  </p:normalViewPr>
  <p:slideViewPr>
    <p:cSldViewPr snapToGrid="0">
      <p:cViewPr varScale="1">
        <p:scale>
          <a:sx n="94" d="100"/>
          <a:sy n="94" d="100"/>
        </p:scale>
        <p:origin x="1564" y="64"/>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8" Type="http://schemas.openxmlformats.org/officeDocument/2006/relationships/tags" Target="tags/tag519.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12.xml"/><Relationship Id="rId4" Type="http://schemas.openxmlformats.org/officeDocument/2006/relationships/image" Target="../media/image1.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4" name="日期占位符 11"/>
          <p:cNvSpPr>
            <a:spLocks noGrp="1"/>
          </p:cNvSpPr>
          <p:nvPr>
            <p:ph type="dt" sz="half" idx="10"/>
            <p:custDataLst>
              <p:tags r:id="rId4"/>
            </p:custDataLst>
          </p:nvPr>
        </p:nvSpPr>
        <p:spPr>
          <a:xfrm>
            <a:off x="838200" y="6432550"/>
            <a:ext cx="2743200" cy="365125"/>
          </a:xfrm>
        </p:spPr>
        <p:txBody>
          <a:bodyPr/>
          <a:lstStyle/>
          <a:p>
            <a:fld id="{8BEB6EB5-CC0D-C94C-91B9-9EA1B45E848E}" type="datetime1">
              <a:rPr kumimoji="1" lang="zh-CN" altLang="en-US" sz="900" smtClean="0"/>
            </a:fld>
            <a:endParaRPr kumimoji="1" lang="zh-CN" altLang="en-US" sz="900"/>
          </a:p>
        </p:txBody>
      </p:sp>
      <p:sp>
        <p:nvSpPr>
          <p:cNvPr id="15" name="页脚占位符 13"/>
          <p:cNvSpPr>
            <a:spLocks noGrp="1"/>
          </p:cNvSpPr>
          <p:nvPr>
            <p:ph type="ftr" sz="quarter" idx="11"/>
            <p:custDataLst>
              <p:tags r:id="rId5"/>
            </p:custDataLst>
          </p:nvPr>
        </p:nvSpPr>
        <p:spPr>
          <a:xfrm>
            <a:off x="4038600" y="6432550"/>
            <a:ext cx="4114800" cy="365125"/>
          </a:xfrm>
        </p:spPr>
        <p:txBody>
          <a:bodyPr/>
          <a:lstStyle/>
          <a:p>
            <a:r>
              <a:rPr kumimoji="1" lang="zh-CN" altLang="en-US" sz="900" dirty="0"/>
              <a:t>西北工业大学软件学院</a:t>
            </a:r>
            <a:endParaRPr kumimoji="1" lang="zh-CN" altLang="en-US" sz="900" dirty="0"/>
          </a:p>
        </p:txBody>
      </p:sp>
      <p:sp>
        <p:nvSpPr>
          <p:cNvPr id="16" name="灯片编号占位符 14"/>
          <p:cNvSpPr>
            <a:spLocks noGrp="1"/>
          </p:cNvSpPr>
          <p:nvPr>
            <p:ph type="sldNum" sz="quarter" idx="12"/>
            <p:custDataLst>
              <p:tags r:id="rId6"/>
            </p:custDataLst>
          </p:nvPr>
        </p:nvSpPr>
        <p:spPr>
          <a:xfrm>
            <a:off x="8610600" y="6432550"/>
            <a:ext cx="2743200" cy="365125"/>
          </a:xfrm>
        </p:spPr>
        <p:txBody>
          <a:bodyPr/>
          <a:lstStyle/>
          <a:p>
            <a:fld id="{5A1A6423-77BD-D842-A714-25250E903C41}" type="slidenum">
              <a:rPr kumimoji="1" lang="zh-CN" altLang="en-US" sz="900" smtClean="0"/>
            </a:fld>
            <a:endParaRPr kumimoji="1" lang="zh-CN" altLang="en-US" sz="900"/>
          </a:p>
        </p:txBody>
      </p:sp>
      <p:cxnSp>
        <p:nvCxnSpPr>
          <p:cNvPr id="17" name="直线连接符 9"/>
          <p:cNvCxnSpPr/>
          <p:nvPr userDrawn="1">
            <p:custDataLst>
              <p:tags r:id="rId7"/>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209311"/>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日期占位符 3"/>
          <p:cNvSpPr>
            <a:spLocks noGrp="1"/>
          </p:cNvSpPr>
          <p:nvPr>
            <p:ph type="dt" sz="half" idx="10"/>
          </p:nvPr>
        </p:nvSpPr>
        <p:spPr>
          <a:xfrm>
            <a:off x="838200" y="6432550"/>
            <a:ext cx="2743200" cy="365125"/>
          </a:xfrm>
        </p:spPr>
        <p:txBody>
          <a:bodyPr/>
          <a:lstStyle/>
          <a:p>
            <a:fld id="{8BEB6EB5-CC0D-C94C-91B9-9EA1B45E848E}" type="datetime1">
              <a:rPr kumimoji="1" lang="zh-CN" altLang="en-US" sz="900" smtClean="0"/>
            </a:fld>
            <a:endParaRPr kumimoji="1" lang="zh-CN" altLang="en-US" sz="900"/>
          </a:p>
        </p:txBody>
      </p:sp>
      <p:sp>
        <p:nvSpPr>
          <p:cNvPr id="10" name="页脚占位符 4"/>
          <p:cNvSpPr>
            <a:spLocks noGrp="1"/>
          </p:cNvSpPr>
          <p:nvPr>
            <p:ph type="ftr" sz="quarter" idx="11"/>
          </p:nvPr>
        </p:nvSpPr>
        <p:spPr>
          <a:xfrm>
            <a:off x="4038600" y="6432550"/>
            <a:ext cx="4114800" cy="365125"/>
          </a:xfrm>
        </p:spPr>
        <p:txBody>
          <a:bodyPr/>
          <a:lstStyle/>
          <a:p>
            <a:r>
              <a:rPr kumimoji="1" lang="zh-CN" altLang="en-US" sz="900" dirty="0"/>
              <a:t>西北工业大学软件学院</a:t>
            </a:r>
            <a:endParaRPr kumimoji="1" lang="zh-CN" altLang="en-US" sz="900" dirty="0"/>
          </a:p>
        </p:txBody>
      </p:sp>
      <p:sp>
        <p:nvSpPr>
          <p:cNvPr id="11" name="灯片编号占位符 5"/>
          <p:cNvSpPr>
            <a:spLocks noGrp="1"/>
          </p:cNvSpPr>
          <p:nvPr>
            <p:ph type="sldNum" sz="quarter" idx="12"/>
          </p:nvPr>
        </p:nvSpPr>
        <p:spPr>
          <a:xfrm>
            <a:off x="8610600" y="6432550"/>
            <a:ext cx="2743200" cy="365125"/>
          </a:xfrm>
        </p:spPr>
        <p:txBody>
          <a:bodyPr/>
          <a:lstStyle/>
          <a:p>
            <a:fld id="{5A1A6423-77BD-D842-A714-25250E903C41}" type="slidenum">
              <a:rPr kumimoji="1" lang="zh-CN" altLang="en-US" sz="900" smtClean="0"/>
            </a:fld>
            <a:endParaRPr kumimoji="1" lang="zh-CN" altLang="en-US" sz="90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日期占位符 3"/>
          <p:cNvSpPr>
            <a:spLocks noGrp="1"/>
          </p:cNvSpPr>
          <p:nvPr>
            <p:ph type="dt" sz="half" idx="10"/>
          </p:nvPr>
        </p:nvSpPr>
        <p:spPr>
          <a:xfrm>
            <a:off x="838200" y="6356351"/>
            <a:ext cx="2743200" cy="365125"/>
          </a:xfrm>
        </p:spPr>
        <p:txBody>
          <a:bodyPr/>
          <a:lstStyle/>
          <a:p>
            <a:fld id="{8BEB6EB5-CC0D-C94C-91B9-9EA1B45E848E}" type="datetime1">
              <a:rPr kumimoji="1" lang="zh-CN" altLang="en-US" sz="900" smtClean="0"/>
            </a:fld>
            <a:endParaRPr kumimoji="1" lang="zh-CN" altLang="en-US" sz="900"/>
          </a:p>
        </p:txBody>
      </p:sp>
      <p:sp>
        <p:nvSpPr>
          <p:cNvPr id="9" name="页脚占位符 4"/>
          <p:cNvSpPr>
            <a:spLocks noGrp="1"/>
          </p:cNvSpPr>
          <p:nvPr>
            <p:ph type="ftr" sz="quarter" idx="11"/>
          </p:nvPr>
        </p:nvSpPr>
        <p:spPr>
          <a:xfrm>
            <a:off x="4038600" y="6356351"/>
            <a:ext cx="4114800" cy="365125"/>
          </a:xfrm>
        </p:spPr>
        <p:txBody>
          <a:bodyPr/>
          <a:lstStyle/>
          <a:p>
            <a:r>
              <a:rPr kumimoji="1" lang="zh-CN" altLang="en-US" sz="900" dirty="0"/>
              <a:t>西北工业大学软件学院</a:t>
            </a:r>
            <a:endParaRPr kumimoji="1" lang="zh-CN" altLang="en-US" sz="900" dirty="0"/>
          </a:p>
        </p:txBody>
      </p:sp>
      <p:sp>
        <p:nvSpPr>
          <p:cNvPr id="10" name="灯片编号占位符 5"/>
          <p:cNvSpPr>
            <a:spLocks noGrp="1"/>
          </p:cNvSpPr>
          <p:nvPr>
            <p:ph type="sldNum" sz="quarter" idx="12"/>
          </p:nvPr>
        </p:nvSpPr>
        <p:spPr>
          <a:xfrm>
            <a:off x="8610600" y="6356351"/>
            <a:ext cx="27432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9"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C7206B7-967B-48F3-989E-8CF2542470FC}"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7206B7-967B-48F3-989E-8CF2542470F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4" Type="http://schemas.openxmlformats.org/officeDocument/2006/relationships/slideLayout" Target="../slideLayouts/slideLayout3.xml"/><Relationship Id="rId33" Type="http://schemas.openxmlformats.org/officeDocument/2006/relationships/tags" Target="../tags/tag46.xml"/><Relationship Id="rId32" Type="http://schemas.openxmlformats.org/officeDocument/2006/relationships/tags" Target="../tags/tag45.xml"/><Relationship Id="rId31" Type="http://schemas.openxmlformats.org/officeDocument/2006/relationships/tags" Target="../tags/tag44.xml"/><Relationship Id="rId30" Type="http://schemas.openxmlformats.org/officeDocument/2006/relationships/tags" Target="../tags/tag43.xml"/><Relationship Id="rId3" Type="http://schemas.openxmlformats.org/officeDocument/2006/relationships/tags" Target="../tags/tag16.xml"/><Relationship Id="rId29" Type="http://schemas.openxmlformats.org/officeDocument/2006/relationships/tags" Target="../tags/tag42.xml"/><Relationship Id="rId28" Type="http://schemas.openxmlformats.org/officeDocument/2006/relationships/tags" Target="../tags/tag41.xml"/><Relationship Id="rId27" Type="http://schemas.openxmlformats.org/officeDocument/2006/relationships/tags" Target="../tags/tag40.xml"/><Relationship Id="rId26" Type="http://schemas.openxmlformats.org/officeDocument/2006/relationships/tags" Target="../tags/tag39.xml"/><Relationship Id="rId25" Type="http://schemas.openxmlformats.org/officeDocument/2006/relationships/tags" Target="../tags/tag38.xml"/><Relationship Id="rId24" Type="http://schemas.openxmlformats.org/officeDocument/2006/relationships/tags" Target="../tags/tag37.xml"/><Relationship Id="rId23" Type="http://schemas.openxmlformats.org/officeDocument/2006/relationships/tags" Target="../tags/tag36.xml"/><Relationship Id="rId22" Type="http://schemas.openxmlformats.org/officeDocument/2006/relationships/tags" Target="../tags/tag35.xml"/><Relationship Id="rId21" Type="http://schemas.openxmlformats.org/officeDocument/2006/relationships/tags" Target="../tags/tag34.xml"/><Relationship Id="rId20" Type="http://schemas.openxmlformats.org/officeDocument/2006/relationships/tags" Target="../tags/tag33.xml"/><Relationship Id="rId2" Type="http://schemas.openxmlformats.org/officeDocument/2006/relationships/tags" Target="../tags/tag15.xml"/><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4.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9" Type="http://schemas.openxmlformats.org/officeDocument/2006/relationships/slideLayout" Target="../slideLayouts/slideLayout3.xml"/><Relationship Id="rId28" Type="http://schemas.openxmlformats.org/officeDocument/2006/relationships/tags" Target="../tags/tag73.xml"/><Relationship Id="rId27" Type="http://schemas.openxmlformats.org/officeDocument/2006/relationships/tags" Target="../tags/tag7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tags" Target="../tags/tag47.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9" Type="http://schemas.openxmlformats.org/officeDocument/2006/relationships/slideLayout" Target="../slideLayouts/slideLayout3.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8.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2" Type="http://schemas.openxmlformats.org/officeDocument/2006/relationships/notesSlide" Target="../notesSlides/notesSlide1.xml"/><Relationship Id="rId11" Type="http://schemas.openxmlformats.org/officeDocument/2006/relationships/slideLayout" Target="../slideLayouts/slideLayout3.xml"/><Relationship Id="rId10" Type="http://schemas.openxmlformats.org/officeDocument/2006/relationships/tags" Target="../tags/tag101.xml"/><Relationship Id="rId1" Type="http://schemas.openxmlformats.org/officeDocument/2006/relationships/tags" Target="../tags/tag92.xml"/></Relationships>
</file>

<file path=ppt/slides/_rels/slide9.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2" Type="http://schemas.openxmlformats.org/officeDocument/2006/relationships/notesSlide" Target="../notesSlides/notesSlide2.xml"/><Relationship Id="rId41" Type="http://schemas.openxmlformats.org/officeDocument/2006/relationships/slideLayout" Target="../slideLayouts/slideLayout3.xml"/><Relationship Id="rId40" Type="http://schemas.openxmlformats.org/officeDocument/2006/relationships/tags" Target="../tags/tag141.xml"/><Relationship Id="rId4" Type="http://schemas.openxmlformats.org/officeDocument/2006/relationships/tags" Target="../tags/tag105.xml"/><Relationship Id="rId39" Type="http://schemas.openxmlformats.org/officeDocument/2006/relationships/tags" Target="../tags/tag140.xml"/><Relationship Id="rId38" Type="http://schemas.openxmlformats.org/officeDocument/2006/relationships/tags" Target="../tags/tag139.xml"/><Relationship Id="rId37" Type="http://schemas.openxmlformats.org/officeDocument/2006/relationships/tags" Target="../tags/tag138.xml"/><Relationship Id="rId36" Type="http://schemas.openxmlformats.org/officeDocument/2006/relationships/tags" Target="../tags/tag137.xml"/><Relationship Id="rId35" Type="http://schemas.openxmlformats.org/officeDocument/2006/relationships/tags" Target="../tags/tag136.xml"/><Relationship Id="rId34" Type="http://schemas.openxmlformats.org/officeDocument/2006/relationships/tags" Target="../tags/tag135.xml"/><Relationship Id="rId33" Type="http://schemas.openxmlformats.org/officeDocument/2006/relationships/tags" Target="../tags/tag134.xml"/><Relationship Id="rId32" Type="http://schemas.openxmlformats.org/officeDocument/2006/relationships/tags" Target="../tags/tag133.xml"/><Relationship Id="rId31" Type="http://schemas.openxmlformats.org/officeDocument/2006/relationships/tags" Target="../tags/tag132.xml"/><Relationship Id="rId30" Type="http://schemas.openxmlformats.org/officeDocument/2006/relationships/tags" Target="../tags/tag131.xml"/><Relationship Id="rId3" Type="http://schemas.openxmlformats.org/officeDocument/2006/relationships/tags" Target="../tags/tag104.xml"/><Relationship Id="rId29" Type="http://schemas.openxmlformats.org/officeDocument/2006/relationships/tags" Target="../tags/tag130.xml"/><Relationship Id="rId28" Type="http://schemas.openxmlformats.org/officeDocument/2006/relationships/tags" Target="../tags/tag129.xml"/><Relationship Id="rId27" Type="http://schemas.openxmlformats.org/officeDocument/2006/relationships/tags" Target="../tags/tag128.xml"/><Relationship Id="rId26" Type="http://schemas.openxmlformats.org/officeDocument/2006/relationships/tags" Target="../tags/tag127.xml"/><Relationship Id="rId25" Type="http://schemas.openxmlformats.org/officeDocument/2006/relationships/tags" Target="../tags/tag126.xml"/><Relationship Id="rId24" Type="http://schemas.openxmlformats.org/officeDocument/2006/relationships/tags" Target="../tags/tag125.xml"/><Relationship Id="rId23" Type="http://schemas.openxmlformats.org/officeDocument/2006/relationships/tags" Target="../tags/tag124.xml"/><Relationship Id="rId22" Type="http://schemas.openxmlformats.org/officeDocument/2006/relationships/tags" Target="../tags/tag123.xml"/><Relationship Id="rId21" Type="http://schemas.openxmlformats.org/officeDocument/2006/relationships/tags" Target="../tags/tag122.xml"/><Relationship Id="rId20" Type="http://schemas.openxmlformats.org/officeDocument/2006/relationships/tags" Target="../tags/tag121.xml"/><Relationship Id="rId2" Type="http://schemas.openxmlformats.org/officeDocument/2006/relationships/tags" Target="../tags/tag103.xml"/><Relationship Id="rId19" Type="http://schemas.openxmlformats.org/officeDocument/2006/relationships/tags" Target="../tags/tag120.xml"/><Relationship Id="rId18" Type="http://schemas.openxmlformats.org/officeDocument/2006/relationships/tags" Target="../tags/tag119.xml"/><Relationship Id="rId17" Type="http://schemas.openxmlformats.org/officeDocument/2006/relationships/tags" Target="../tags/tag118.xml"/><Relationship Id="rId16" Type="http://schemas.openxmlformats.org/officeDocument/2006/relationships/tags" Target="../tags/tag117.xml"/><Relationship Id="rId15" Type="http://schemas.openxmlformats.org/officeDocument/2006/relationships/tags" Target="../tags/tag116.xml"/><Relationship Id="rId14" Type="http://schemas.openxmlformats.org/officeDocument/2006/relationships/tags" Target="../tags/tag115.xml"/><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tags" Target="../tags/tag10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tags" Target="../tags/tag144.xml"/><Relationship Id="rId1" Type="http://schemas.openxmlformats.org/officeDocument/2006/relationships/tags" Target="../tags/tag14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1" Type="http://schemas.openxmlformats.org/officeDocument/2006/relationships/notesSlide" Target="../notesSlides/notesSlide8.xml"/><Relationship Id="rId70" Type="http://schemas.openxmlformats.org/officeDocument/2006/relationships/slideLayout" Target="../slideLayouts/slideLayout3.xml"/><Relationship Id="rId7" Type="http://schemas.openxmlformats.org/officeDocument/2006/relationships/tags" Target="../tags/tag151.xml"/><Relationship Id="rId69" Type="http://schemas.openxmlformats.org/officeDocument/2006/relationships/tags" Target="../tags/tag213.xml"/><Relationship Id="rId68" Type="http://schemas.openxmlformats.org/officeDocument/2006/relationships/tags" Target="../tags/tag212.xml"/><Relationship Id="rId67" Type="http://schemas.openxmlformats.org/officeDocument/2006/relationships/tags" Target="../tags/tag211.xml"/><Relationship Id="rId66" Type="http://schemas.openxmlformats.org/officeDocument/2006/relationships/tags" Target="../tags/tag210.xml"/><Relationship Id="rId65" Type="http://schemas.openxmlformats.org/officeDocument/2006/relationships/tags" Target="../tags/tag209.xml"/><Relationship Id="rId64" Type="http://schemas.openxmlformats.org/officeDocument/2006/relationships/tags" Target="../tags/tag208.xml"/><Relationship Id="rId63" Type="http://schemas.openxmlformats.org/officeDocument/2006/relationships/tags" Target="../tags/tag207.xml"/><Relationship Id="rId62" Type="http://schemas.openxmlformats.org/officeDocument/2006/relationships/tags" Target="../tags/tag206.xml"/><Relationship Id="rId61" Type="http://schemas.openxmlformats.org/officeDocument/2006/relationships/tags" Target="../tags/tag205.xml"/><Relationship Id="rId60" Type="http://schemas.openxmlformats.org/officeDocument/2006/relationships/tags" Target="../tags/tag204.xml"/><Relationship Id="rId6" Type="http://schemas.openxmlformats.org/officeDocument/2006/relationships/tags" Target="../tags/tag150.xml"/><Relationship Id="rId59" Type="http://schemas.openxmlformats.org/officeDocument/2006/relationships/tags" Target="../tags/tag203.xml"/><Relationship Id="rId58" Type="http://schemas.openxmlformats.org/officeDocument/2006/relationships/tags" Target="../tags/tag202.xml"/><Relationship Id="rId57" Type="http://schemas.openxmlformats.org/officeDocument/2006/relationships/tags" Target="../tags/tag201.xml"/><Relationship Id="rId56" Type="http://schemas.openxmlformats.org/officeDocument/2006/relationships/tags" Target="../tags/tag200.xml"/><Relationship Id="rId55" Type="http://schemas.openxmlformats.org/officeDocument/2006/relationships/tags" Target="../tags/tag199.xml"/><Relationship Id="rId54" Type="http://schemas.openxmlformats.org/officeDocument/2006/relationships/tags" Target="../tags/tag198.xml"/><Relationship Id="rId53" Type="http://schemas.openxmlformats.org/officeDocument/2006/relationships/tags" Target="../tags/tag197.xml"/><Relationship Id="rId52" Type="http://schemas.openxmlformats.org/officeDocument/2006/relationships/tags" Target="../tags/tag196.xml"/><Relationship Id="rId51" Type="http://schemas.openxmlformats.org/officeDocument/2006/relationships/tags" Target="../tags/tag195.xml"/><Relationship Id="rId50" Type="http://schemas.openxmlformats.org/officeDocument/2006/relationships/tags" Target="../tags/tag194.xml"/><Relationship Id="rId5" Type="http://schemas.openxmlformats.org/officeDocument/2006/relationships/tags" Target="../tags/tag149.xml"/><Relationship Id="rId49" Type="http://schemas.openxmlformats.org/officeDocument/2006/relationships/tags" Target="../tags/tag193.xml"/><Relationship Id="rId48" Type="http://schemas.openxmlformats.org/officeDocument/2006/relationships/tags" Target="../tags/tag192.xml"/><Relationship Id="rId47" Type="http://schemas.openxmlformats.org/officeDocument/2006/relationships/tags" Target="../tags/tag191.xml"/><Relationship Id="rId46" Type="http://schemas.openxmlformats.org/officeDocument/2006/relationships/tags" Target="../tags/tag190.xml"/><Relationship Id="rId45" Type="http://schemas.openxmlformats.org/officeDocument/2006/relationships/tags" Target="../tags/tag189.xml"/><Relationship Id="rId44" Type="http://schemas.openxmlformats.org/officeDocument/2006/relationships/tags" Target="../tags/tag188.xml"/><Relationship Id="rId43" Type="http://schemas.openxmlformats.org/officeDocument/2006/relationships/tags" Target="../tags/tag187.xml"/><Relationship Id="rId42" Type="http://schemas.openxmlformats.org/officeDocument/2006/relationships/tags" Target="../tags/tag186.xml"/><Relationship Id="rId41" Type="http://schemas.openxmlformats.org/officeDocument/2006/relationships/tags" Target="../tags/tag185.xml"/><Relationship Id="rId40" Type="http://schemas.openxmlformats.org/officeDocument/2006/relationships/tags" Target="../tags/tag184.xml"/><Relationship Id="rId4" Type="http://schemas.openxmlformats.org/officeDocument/2006/relationships/tags" Target="../tags/tag148.xml"/><Relationship Id="rId39" Type="http://schemas.openxmlformats.org/officeDocument/2006/relationships/tags" Target="../tags/tag183.xml"/><Relationship Id="rId38" Type="http://schemas.openxmlformats.org/officeDocument/2006/relationships/tags" Target="../tags/tag182.xml"/><Relationship Id="rId37" Type="http://schemas.openxmlformats.org/officeDocument/2006/relationships/tags" Target="../tags/tag181.xml"/><Relationship Id="rId36" Type="http://schemas.openxmlformats.org/officeDocument/2006/relationships/tags" Target="../tags/tag180.xml"/><Relationship Id="rId35" Type="http://schemas.openxmlformats.org/officeDocument/2006/relationships/tags" Target="../tags/tag179.xml"/><Relationship Id="rId34" Type="http://schemas.openxmlformats.org/officeDocument/2006/relationships/tags" Target="../tags/tag178.xml"/><Relationship Id="rId33" Type="http://schemas.openxmlformats.org/officeDocument/2006/relationships/tags" Target="../tags/tag177.xml"/><Relationship Id="rId32" Type="http://schemas.openxmlformats.org/officeDocument/2006/relationships/tags" Target="../tags/tag176.xml"/><Relationship Id="rId31" Type="http://schemas.openxmlformats.org/officeDocument/2006/relationships/tags" Target="../tags/tag175.xml"/><Relationship Id="rId30" Type="http://schemas.openxmlformats.org/officeDocument/2006/relationships/tags" Target="../tags/tag174.xml"/><Relationship Id="rId3" Type="http://schemas.openxmlformats.org/officeDocument/2006/relationships/tags" Target="../tags/tag147.xml"/><Relationship Id="rId29" Type="http://schemas.openxmlformats.org/officeDocument/2006/relationships/tags" Target="../tags/tag173.xml"/><Relationship Id="rId28" Type="http://schemas.openxmlformats.org/officeDocument/2006/relationships/tags" Target="../tags/tag172.xml"/><Relationship Id="rId27" Type="http://schemas.openxmlformats.org/officeDocument/2006/relationships/tags" Target="../tags/tag171.xml"/><Relationship Id="rId26" Type="http://schemas.openxmlformats.org/officeDocument/2006/relationships/tags" Target="../tags/tag170.xml"/><Relationship Id="rId25" Type="http://schemas.openxmlformats.org/officeDocument/2006/relationships/tags" Target="../tags/tag169.xml"/><Relationship Id="rId24" Type="http://schemas.openxmlformats.org/officeDocument/2006/relationships/tags" Target="../tags/tag168.xml"/><Relationship Id="rId23" Type="http://schemas.openxmlformats.org/officeDocument/2006/relationships/tags" Target="../tags/tag167.xml"/><Relationship Id="rId22" Type="http://schemas.openxmlformats.org/officeDocument/2006/relationships/tags" Target="../tags/tag166.xml"/><Relationship Id="rId21" Type="http://schemas.openxmlformats.org/officeDocument/2006/relationships/tags" Target="../tags/tag165.xml"/><Relationship Id="rId20" Type="http://schemas.openxmlformats.org/officeDocument/2006/relationships/tags" Target="../tags/tag164.xml"/><Relationship Id="rId2" Type="http://schemas.openxmlformats.org/officeDocument/2006/relationships/tags" Target="../tags/tag146.xml"/><Relationship Id="rId19" Type="http://schemas.openxmlformats.org/officeDocument/2006/relationships/tags" Target="../tags/tag163.xml"/><Relationship Id="rId18" Type="http://schemas.openxmlformats.org/officeDocument/2006/relationships/tags" Target="../tags/tag162.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2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tags" Target="../tags/tag216.xml"/><Relationship Id="rId1" Type="http://schemas.openxmlformats.org/officeDocument/2006/relationships/tags" Target="../tags/tag215.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22.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6" Type="http://schemas.openxmlformats.org/officeDocument/2006/relationships/notesSlide" Target="../notesSlides/notesSlide14.xml"/><Relationship Id="rId25" Type="http://schemas.openxmlformats.org/officeDocument/2006/relationships/slideLayout" Target="../slideLayouts/slideLayout3.xml"/><Relationship Id="rId24" Type="http://schemas.openxmlformats.org/officeDocument/2006/relationships/tags" Target="../tags/tag243.xml"/><Relationship Id="rId23" Type="http://schemas.openxmlformats.org/officeDocument/2006/relationships/tags" Target="../tags/tag242.xml"/><Relationship Id="rId22" Type="http://schemas.openxmlformats.org/officeDocument/2006/relationships/tags" Target="../tags/tag241.xml"/><Relationship Id="rId21" Type="http://schemas.openxmlformats.org/officeDocument/2006/relationships/tags" Target="../tags/tag240.xml"/><Relationship Id="rId20" Type="http://schemas.openxmlformats.org/officeDocument/2006/relationships/tags" Target="../tags/tag239.xml"/><Relationship Id="rId2" Type="http://schemas.openxmlformats.org/officeDocument/2006/relationships/image" Target="../media/image4.png"/><Relationship Id="rId19" Type="http://schemas.openxmlformats.org/officeDocument/2006/relationships/tags" Target="../tags/tag238.xml"/><Relationship Id="rId18" Type="http://schemas.openxmlformats.org/officeDocument/2006/relationships/tags" Target="../tags/tag237.xml"/><Relationship Id="rId17" Type="http://schemas.openxmlformats.org/officeDocument/2006/relationships/tags" Target="../tags/tag236.xml"/><Relationship Id="rId16" Type="http://schemas.openxmlformats.org/officeDocument/2006/relationships/tags" Target="../tags/tag235.xml"/><Relationship Id="rId15" Type="http://schemas.openxmlformats.org/officeDocument/2006/relationships/tags" Target="../tags/tag234.xml"/><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9" Type="http://schemas.openxmlformats.org/officeDocument/2006/relationships/tags" Target="../tags/tag256.xml"/><Relationship Id="rId8" Type="http://schemas.openxmlformats.org/officeDocument/2006/relationships/tags" Target="../tags/tag255.xml"/><Relationship Id="rId7" Type="http://schemas.openxmlformats.org/officeDocument/2006/relationships/tags" Target="../tags/tag254.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7" Type="http://schemas.openxmlformats.org/officeDocument/2006/relationships/notesSlide" Target="../notesSlides/notesSlide19.xml"/><Relationship Id="rId26" Type="http://schemas.openxmlformats.org/officeDocument/2006/relationships/slideLayout" Target="../slideLayouts/slideLayout3.xml"/><Relationship Id="rId25" Type="http://schemas.openxmlformats.org/officeDocument/2006/relationships/image" Target="../media/image5.png"/><Relationship Id="rId24" Type="http://schemas.openxmlformats.org/officeDocument/2006/relationships/tags" Target="../tags/tag271.xml"/><Relationship Id="rId23" Type="http://schemas.openxmlformats.org/officeDocument/2006/relationships/tags" Target="../tags/tag270.xml"/><Relationship Id="rId22" Type="http://schemas.openxmlformats.org/officeDocument/2006/relationships/tags" Target="../tags/tag269.xml"/><Relationship Id="rId21" Type="http://schemas.openxmlformats.org/officeDocument/2006/relationships/tags" Target="../tags/tag268.xml"/><Relationship Id="rId20" Type="http://schemas.openxmlformats.org/officeDocument/2006/relationships/tags" Target="../tags/tag267.xml"/><Relationship Id="rId2" Type="http://schemas.openxmlformats.org/officeDocument/2006/relationships/tags" Target="../tags/tag249.xml"/><Relationship Id="rId19" Type="http://schemas.openxmlformats.org/officeDocument/2006/relationships/tags" Target="../tags/tag266.xml"/><Relationship Id="rId18" Type="http://schemas.openxmlformats.org/officeDocument/2006/relationships/tags" Target="../tags/tag265.xml"/><Relationship Id="rId17" Type="http://schemas.openxmlformats.org/officeDocument/2006/relationships/tags" Target="../tags/tag264.xml"/><Relationship Id="rId16" Type="http://schemas.openxmlformats.org/officeDocument/2006/relationships/tags" Target="../tags/tag263.xml"/><Relationship Id="rId15" Type="http://schemas.openxmlformats.org/officeDocument/2006/relationships/tags" Target="../tags/tag262.xml"/><Relationship Id="rId14" Type="http://schemas.openxmlformats.org/officeDocument/2006/relationships/tags" Target="../tags/tag261.xml"/><Relationship Id="rId13" Type="http://schemas.openxmlformats.org/officeDocument/2006/relationships/tags" Target="../tags/tag260.xml"/><Relationship Id="rId12" Type="http://schemas.openxmlformats.org/officeDocument/2006/relationships/tags" Target="../tags/tag259.xml"/><Relationship Id="rId11" Type="http://schemas.openxmlformats.org/officeDocument/2006/relationships/tags" Target="../tags/tag258.xml"/><Relationship Id="rId10" Type="http://schemas.openxmlformats.org/officeDocument/2006/relationships/tags" Target="../tags/tag257.xml"/><Relationship Id="rId1" Type="http://schemas.openxmlformats.org/officeDocument/2006/relationships/tags" Target="../tags/tag248.xml"/></Relationships>
</file>

<file path=ppt/slides/_rels/slide28.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0" Type="http://schemas.openxmlformats.org/officeDocument/2006/relationships/notesSlide" Target="../notesSlides/notesSlide20.xml"/><Relationship Id="rId4" Type="http://schemas.openxmlformats.org/officeDocument/2006/relationships/tags" Target="../tags/tag275.xml"/><Relationship Id="rId39" Type="http://schemas.openxmlformats.org/officeDocument/2006/relationships/slideLayout" Target="../slideLayouts/slideLayout3.xml"/><Relationship Id="rId38" Type="http://schemas.openxmlformats.org/officeDocument/2006/relationships/tags" Target="../tags/tag309.xml"/><Relationship Id="rId37" Type="http://schemas.openxmlformats.org/officeDocument/2006/relationships/tags" Target="../tags/tag308.xml"/><Relationship Id="rId36" Type="http://schemas.openxmlformats.org/officeDocument/2006/relationships/tags" Target="../tags/tag307.xml"/><Relationship Id="rId35" Type="http://schemas.openxmlformats.org/officeDocument/2006/relationships/tags" Target="../tags/tag306.xml"/><Relationship Id="rId34" Type="http://schemas.openxmlformats.org/officeDocument/2006/relationships/tags" Target="../tags/tag305.xml"/><Relationship Id="rId33" Type="http://schemas.openxmlformats.org/officeDocument/2006/relationships/tags" Target="../tags/tag304.xml"/><Relationship Id="rId32" Type="http://schemas.openxmlformats.org/officeDocument/2006/relationships/tags" Target="../tags/tag303.xml"/><Relationship Id="rId31" Type="http://schemas.openxmlformats.org/officeDocument/2006/relationships/tags" Target="../tags/tag302.xml"/><Relationship Id="rId30" Type="http://schemas.openxmlformats.org/officeDocument/2006/relationships/tags" Target="../tags/tag301.xml"/><Relationship Id="rId3" Type="http://schemas.openxmlformats.org/officeDocument/2006/relationships/tags" Target="../tags/tag274.xml"/><Relationship Id="rId29" Type="http://schemas.openxmlformats.org/officeDocument/2006/relationships/tags" Target="../tags/tag300.xml"/><Relationship Id="rId28" Type="http://schemas.openxmlformats.org/officeDocument/2006/relationships/tags" Target="../tags/tag299.xml"/><Relationship Id="rId27" Type="http://schemas.openxmlformats.org/officeDocument/2006/relationships/tags" Target="../tags/tag298.xml"/><Relationship Id="rId26" Type="http://schemas.openxmlformats.org/officeDocument/2006/relationships/tags" Target="../tags/tag297.xml"/><Relationship Id="rId25" Type="http://schemas.openxmlformats.org/officeDocument/2006/relationships/tags" Target="../tags/tag296.xml"/><Relationship Id="rId24" Type="http://schemas.openxmlformats.org/officeDocument/2006/relationships/tags" Target="../tags/tag295.xml"/><Relationship Id="rId23" Type="http://schemas.openxmlformats.org/officeDocument/2006/relationships/tags" Target="../tags/tag294.xml"/><Relationship Id="rId22" Type="http://schemas.openxmlformats.org/officeDocument/2006/relationships/tags" Target="../tags/tag293.xml"/><Relationship Id="rId21" Type="http://schemas.openxmlformats.org/officeDocument/2006/relationships/tags" Target="../tags/tag292.xml"/><Relationship Id="rId20" Type="http://schemas.openxmlformats.org/officeDocument/2006/relationships/tags" Target="../tags/tag291.xml"/><Relationship Id="rId2" Type="http://schemas.openxmlformats.org/officeDocument/2006/relationships/tags" Target="../tags/tag273.xml"/><Relationship Id="rId19" Type="http://schemas.openxmlformats.org/officeDocument/2006/relationships/tags" Target="../tags/tag290.xml"/><Relationship Id="rId18" Type="http://schemas.openxmlformats.org/officeDocument/2006/relationships/tags" Target="../tags/tag289.xml"/><Relationship Id="rId17" Type="http://schemas.openxmlformats.org/officeDocument/2006/relationships/tags" Target="../tags/tag288.xml"/><Relationship Id="rId16" Type="http://schemas.openxmlformats.org/officeDocument/2006/relationships/tags" Target="../tags/tag287.xml"/><Relationship Id="rId15" Type="http://schemas.openxmlformats.org/officeDocument/2006/relationships/tags" Target="../tags/tag286.xml"/><Relationship Id="rId14" Type="http://schemas.openxmlformats.org/officeDocument/2006/relationships/tags" Target="../tags/tag285.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tags" Target="../tags/tag27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310.xml"/></Relationships>
</file>

<file path=ppt/slides/_rels/slide31.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tags" Target="../tags/tag316.xml"/><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 Type="http://schemas.openxmlformats.org/officeDocument/2006/relationships/tags" Target="../tags/tag312.xml"/><Relationship Id="rId20" Type="http://schemas.openxmlformats.org/officeDocument/2006/relationships/notesSlide" Target="../notesSlides/notesSlide23.xml"/><Relationship Id="rId2" Type="http://schemas.openxmlformats.org/officeDocument/2006/relationships/tags" Target="../tags/tag311.xml"/><Relationship Id="rId19" Type="http://schemas.openxmlformats.org/officeDocument/2006/relationships/slideLayout" Target="../slideLayouts/slideLayout3.xml"/><Relationship Id="rId18" Type="http://schemas.openxmlformats.org/officeDocument/2006/relationships/tags" Target="../tags/tag327.xml"/><Relationship Id="rId17" Type="http://schemas.openxmlformats.org/officeDocument/2006/relationships/tags" Target="../tags/tag326.xml"/><Relationship Id="rId16" Type="http://schemas.openxmlformats.org/officeDocument/2006/relationships/tags" Target="../tags/tag325.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tags" Target="../tags/tag319.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9" Type="http://schemas.openxmlformats.org/officeDocument/2006/relationships/tags" Target="../tags/tag336.xml"/><Relationship Id="rId8" Type="http://schemas.openxmlformats.org/officeDocument/2006/relationships/tags" Target="../tags/tag335.xml"/><Relationship Id="rId7" Type="http://schemas.openxmlformats.org/officeDocument/2006/relationships/tags" Target="../tags/tag334.xml"/><Relationship Id="rId6" Type="http://schemas.openxmlformats.org/officeDocument/2006/relationships/tags" Target="../tags/tag333.xml"/><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tags" Target="../tags/tag329.xml"/><Relationship Id="rId19" Type="http://schemas.openxmlformats.org/officeDocument/2006/relationships/notesSlide" Target="../notesSlides/notesSlide25.xml"/><Relationship Id="rId18" Type="http://schemas.openxmlformats.org/officeDocument/2006/relationships/slideLayout" Target="../slideLayouts/slideLayout3.xml"/><Relationship Id="rId17" Type="http://schemas.openxmlformats.org/officeDocument/2006/relationships/image" Target="../media/image8.png"/><Relationship Id="rId16" Type="http://schemas.openxmlformats.org/officeDocument/2006/relationships/tags" Target="../tags/tag343.xml"/><Relationship Id="rId15" Type="http://schemas.openxmlformats.org/officeDocument/2006/relationships/tags" Target="../tags/tag342.xml"/><Relationship Id="rId14" Type="http://schemas.openxmlformats.org/officeDocument/2006/relationships/tags" Target="../tags/tag341.xml"/><Relationship Id="rId13" Type="http://schemas.openxmlformats.org/officeDocument/2006/relationships/tags" Target="../tags/tag340.xml"/><Relationship Id="rId12" Type="http://schemas.openxmlformats.org/officeDocument/2006/relationships/tags" Target="../tags/tag339.xml"/><Relationship Id="rId11" Type="http://schemas.openxmlformats.org/officeDocument/2006/relationships/tags" Target="../tags/tag338.xml"/><Relationship Id="rId10" Type="http://schemas.openxmlformats.org/officeDocument/2006/relationships/tags" Target="../tags/tag337.xml"/><Relationship Id="rId1" Type="http://schemas.openxmlformats.org/officeDocument/2006/relationships/tags" Target="../tags/tag3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3.xml"/><Relationship Id="rId3" Type="http://schemas.openxmlformats.org/officeDocument/2006/relationships/tags" Target="../tags/tag345.xml"/><Relationship Id="rId2" Type="http://schemas.openxmlformats.org/officeDocument/2006/relationships/image" Target="../media/image6.png"/><Relationship Id="rId1" Type="http://schemas.openxmlformats.org/officeDocument/2006/relationships/tags" Target="../tags/tag344.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3.xml"/><Relationship Id="rId3" Type="http://schemas.openxmlformats.org/officeDocument/2006/relationships/tags" Target="../tags/tag347.xml"/><Relationship Id="rId2" Type="http://schemas.openxmlformats.org/officeDocument/2006/relationships/image" Target="../media/image9.png"/><Relationship Id="rId1" Type="http://schemas.openxmlformats.org/officeDocument/2006/relationships/tags" Target="../tags/tag34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3.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image" Target="../media/image10.png"/><Relationship Id="rId1" Type="http://schemas.openxmlformats.org/officeDocument/2006/relationships/tags" Target="../tags/tag348.xml"/></Relationships>
</file>

<file path=ppt/slides/_rels/slide40.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8" Type="http://schemas.openxmlformats.org/officeDocument/2006/relationships/notesSlide" Target="../notesSlides/notesSlide31.xml"/><Relationship Id="rId17" Type="http://schemas.openxmlformats.org/officeDocument/2006/relationships/slideLayout" Target="../slideLayouts/slideLayout3.xml"/><Relationship Id="rId16" Type="http://schemas.openxmlformats.org/officeDocument/2006/relationships/tags" Target="../tags/tag367.xml"/><Relationship Id="rId15" Type="http://schemas.openxmlformats.org/officeDocument/2006/relationships/tags" Target="../tags/tag366.xml"/><Relationship Id="rId14" Type="http://schemas.openxmlformats.org/officeDocument/2006/relationships/tags" Target="../tags/tag365.xml"/><Relationship Id="rId13" Type="http://schemas.openxmlformats.org/officeDocument/2006/relationships/tags" Target="../tags/tag364.xml"/><Relationship Id="rId12" Type="http://schemas.openxmlformats.org/officeDocument/2006/relationships/tags" Target="../tags/tag363.xml"/><Relationship Id="rId11" Type="http://schemas.openxmlformats.org/officeDocument/2006/relationships/tags" Target="../tags/tag362.xml"/><Relationship Id="rId10" Type="http://schemas.openxmlformats.org/officeDocument/2006/relationships/tags" Target="../tags/tag361.xml"/><Relationship Id="rId1" Type="http://schemas.openxmlformats.org/officeDocument/2006/relationships/tags" Target="../tags/tag35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9" Type="http://schemas.openxmlformats.org/officeDocument/2006/relationships/tags" Target="../tags/tag376.xml"/><Relationship Id="rId8" Type="http://schemas.openxmlformats.org/officeDocument/2006/relationships/tags" Target="../tags/tag375.xml"/><Relationship Id="rId7" Type="http://schemas.openxmlformats.org/officeDocument/2006/relationships/tags" Target="../tags/tag374.xml"/><Relationship Id="rId6" Type="http://schemas.openxmlformats.org/officeDocument/2006/relationships/tags" Target="../tags/tag373.xml"/><Relationship Id="rId55" Type="http://schemas.openxmlformats.org/officeDocument/2006/relationships/notesSlide" Target="../notesSlides/notesSlide32.xml"/><Relationship Id="rId54" Type="http://schemas.openxmlformats.org/officeDocument/2006/relationships/slideLayout" Target="../slideLayouts/slideLayout3.xml"/><Relationship Id="rId53" Type="http://schemas.openxmlformats.org/officeDocument/2006/relationships/tags" Target="../tags/tag420.xml"/><Relationship Id="rId52" Type="http://schemas.openxmlformats.org/officeDocument/2006/relationships/tags" Target="../tags/tag419.xml"/><Relationship Id="rId51" Type="http://schemas.openxmlformats.org/officeDocument/2006/relationships/tags" Target="../tags/tag418.xml"/><Relationship Id="rId50" Type="http://schemas.openxmlformats.org/officeDocument/2006/relationships/tags" Target="../tags/tag417.xml"/><Relationship Id="rId5" Type="http://schemas.openxmlformats.org/officeDocument/2006/relationships/tags" Target="../tags/tag372.xml"/><Relationship Id="rId49" Type="http://schemas.openxmlformats.org/officeDocument/2006/relationships/tags" Target="../tags/tag416.xml"/><Relationship Id="rId48" Type="http://schemas.openxmlformats.org/officeDocument/2006/relationships/tags" Target="../tags/tag415.xml"/><Relationship Id="rId47" Type="http://schemas.openxmlformats.org/officeDocument/2006/relationships/tags" Target="../tags/tag414.xml"/><Relationship Id="rId46" Type="http://schemas.openxmlformats.org/officeDocument/2006/relationships/tags" Target="../tags/tag413.xml"/><Relationship Id="rId45" Type="http://schemas.openxmlformats.org/officeDocument/2006/relationships/tags" Target="../tags/tag412.xml"/><Relationship Id="rId44" Type="http://schemas.openxmlformats.org/officeDocument/2006/relationships/tags" Target="../tags/tag411.xml"/><Relationship Id="rId43" Type="http://schemas.openxmlformats.org/officeDocument/2006/relationships/tags" Target="../tags/tag410.xml"/><Relationship Id="rId42" Type="http://schemas.openxmlformats.org/officeDocument/2006/relationships/tags" Target="../tags/tag409.xml"/><Relationship Id="rId41" Type="http://schemas.openxmlformats.org/officeDocument/2006/relationships/tags" Target="../tags/tag408.xml"/><Relationship Id="rId40" Type="http://schemas.openxmlformats.org/officeDocument/2006/relationships/tags" Target="../tags/tag407.xml"/><Relationship Id="rId4" Type="http://schemas.openxmlformats.org/officeDocument/2006/relationships/tags" Target="../tags/tag371.xml"/><Relationship Id="rId39" Type="http://schemas.openxmlformats.org/officeDocument/2006/relationships/tags" Target="../tags/tag406.xml"/><Relationship Id="rId38" Type="http://schemas.openxmlformats.org/officeDocument/2006/relationships/tags" Target="../tags/tag405.xml"/><Relationship Id="rId37" Type="http://schemas.openxmlformats.org/officeDocument/2006/relationships/tags" Target="../tags/tag404.xml"/><Relationship Id="rId36" Type="http://schemas.openxmlformats.org/officeDocument/2006/relationships/tags" Target="../tags/tag403.xml"/><Relationship Id="rId35" Type="http://schemas.openxmlformats.org/officeDocument/2006/relationships/tags" Target="../tags/tag402.xml"/><Relationship Id="rId34" Type="http://schemas.openxmlformats.org/officeDocument/2006/relationships/tags" Target="../tags/tag401.xml"/><Relationship Id="rId33" Type="http://schemas.openxmlformats.org/officeDocument/2006/relationships/tags" Target="../tags/tag400.xml"/><Relationship Id="rId32" Type="http://schemas.openxmlformats.org/officeDocument/2006/relationships/tags" Target="../tags/tag399.xml"/><Relationship Id="rId31" Type="http://schemas.openxmlformats.org/officeDocument/2006/relationships/tags" Target="../tags/tag398.xml"/><Relationship Id="rId30" Type="http://schemas.openxmlformats.org/officeDocument/2006/relationships/tags" Target="../tags/tag397.xml"/><Relationship Id="rId3" Type="http://schemas.openxmlformats.org/officeDocument/2006/relationships/tags" Target="../tags/tag370.xml"/><Relationship Id="rId29" Type="http://schemas.openxmlformats.org/officeDocument/2006/relationships/tags" Target="../tags/tag396.xml"/><Relationship Id="rId28" Type="http://schemas.openxmlformats.org/officeDocument/2006/relationships/tags" Target="../tags/tag395.xml"/><Relationship Id="rId27" Type="http://schemas.openxmlformats.org/officeDocument/2006/relationships/tags" Target="../tags/tag394.xml"/><Relationship Id="rId26" Type="http://schemas.openxmlformats.org/officeDocument/2006/relationships/tags" Target="../tags/tag393.xml"/><Relationship Id="rId25" Type="http://schemas.openxmlformats.org/officeDocument/2006/relationships/tags" Target="../tags/tag392.xml"/><Relationship Id="rId24" Type="http://schemas.openxmlformats.org/officeDocument/2006/relationships/tags" Target="../tags/tag391.xml"/><Relationship Id="rId23" Type="http://schemas.openxmlformats.org/officeDocument/2006/relationships/tags" Target="../tags/tag390.xml"/><Relationship Id="rId22" Type="http://schemas.openxmlformats.org/officeDocument/2006/relationships/tags" Target="../tags/tag389.xml"/><Relationship Id="rId21" Type="http://schemas.openxmlformats.org/officeDocument/2006/relationships/tags" Target="../tags/tag388.xml"/><Relationship Id="rId20" Type="http://schemas.openxmlformats.org/officeDocument/2006/relationships/tags" Target="../tags/tag387.xml"/><Relationship Id="rId2" Type="http://schemas.openxmlformats.org/officeDocument/2006/relationships/tags" Target="../tags/tag369.xml"/><Relationship Id="rId19" Type="http://schemas.openxmlformats.org/officeDocument/2006/relationships/tags" Target="../tags/tag386.xml"/><Relationship Id="rId18" Type="http://schemas.openxmlformats.org/officeDocument/2006/relationships/tags" Target="../tags/tag385.xml"/><Relationship Id="rId17" Type="http://schemas.openxmlformats.org/officeDocument/2006/relationships/tags" Target="../tags/tag384.xml"/><Relationship Id="rId16" Type="http://schemas.openxmlformats.org/officeDocument/2006/relationships/tags" Target="../tags/tag383.xml"/><Relationship Id="rId15" Type="http://schemas.openxmlformats.org/officeDocument/2006/relationships/tags" Target="../tags/tag382.xml"/><Relationship Id="rId14" Type="http://schemas.openxmlformats.org/officeDocument/2006/relationships/tags" Target="../tags/tag381.xml"/><Relationship Id="rId13" Type="http://schemas.openxmlformats.org/officeDocument/2006/relationships/tags" Target="../tags/tag380.xml"/><Relationship Id="rId12" Type="http://schemas.openxmlformats.org/officeDocument/2006/relationships/tags" Target="../tags/tag379.xml"/><Relationship Id="rId11" Type="http://schemas.openxmlformats.org/officeDocument/2006/relationships/tags" Target="../tags/tag378.xml"/><Relationship Id="rId10" Type="http://schemas.openxmlformats.org/officeDocument/2006/relationships/tags" Target="../tags/tag377.xml"/><Relationship Id="rId1" Type="http://schemas.openxmlformats.org/officeDocument/2006/relationships/tags" Target="../tags/tag36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9" Type="http://schemas.openxmlformats.org/officeDocument/2006/relationships/tags" Target="../tags/tag429.xml"/><Relationship Id="rId8" Type="http://schemas.openxmlformats.org/officeDocument/2006/relationships/tags" Target="../tags/tag428.xml"/><Relationship Id="rId7" Type="http://schemas.openxmlformats.org/officeDocument/2006/relationships/tags" Target="../tags/tag427.xml"/><Relationship Id="rId6" Type="http://schemas.openxmlformats.org/officeDocument/2006/relationships/tags" Target="../tags/tag426.xml"/><Relationship Id="rId5" Type="http://schemas.openxmlformats.org/officeDocument/2006/relationships/tags" Target="../tags/tag425.xml"/><Relationship Id="rId41" Type="http://schemas.openxmlformats.org/officeDocument/2006/relationships/notesSlide" Target="../notesSlides/notesSlide34.xml"/><Relationship Id="rId40" Type="http://schemas.openxmlformats.org/officeDocument/2006/relationships/slideLayout" Target="../slideLayouts/slideLayout3.xml"/><Relationship Id="rId4" Type="http://schemas.openxmlformats.org/officeDocument/2006/relationships/tags" Target="../tags/tag424.xml"/><Relationship Id="rId39" Type="http://schemas.openxmlformats.org/officeDocument/2006/relationships/tags" Target="../tags/tag459.xml"/><Relationship Id="rId38" Type="http://schemas.openxmlformats.org/officeDocument/2006/relationships/tags" Target="../tags/tag458.xml"/><Relationship Id="rId37" Type="http://schemas.openxmlformats.org/officeDocument/2006/relationships/tags" Target="../tags/tag457.xml"/><Relationship Id="rId36" Type="http://schemas.openxmlformats.org/officeDocument/2006/relationships/tags" Target="../tags/tag456.xml"/><Relationship Id="rId35" Type="http://schemas.openxmlformats.org/officeDocument/2006/relationships/tags" Target="../tags/tag455.xml"/><Relationship Id="rId34" Type="http://schemas.openxmlformats.org/officeDocument/2006/relationships/tags" Target="../tags/tag454.xml"/><Relationship Id="rId33" Type="http://schemas.openxmlformats.org/officeDocument/2006/relationships/tags" Target="../tags/tag453.xml"/><Relationship Id="rId32" Type="http://schemas.openxmlformats.org/officeDocument/2006/relationships/tags" Target="../tags/tag452.xml"/><Relationship Id="rId31" Type="http://schemas.openxmlformats.org/officeDocument/2006/relationships/tags" Target="../tags/tag451.xml"/><Relationship Id="rId30" Type="http://schemas.openxmlformats.org/officeDocument/2006/relationships/tags" Target="../tags/tag450.xml"/><Relationship Id="rId3" Type="http://schemas.openxmlformats.org/officeDocument/2006/relationships/tags" Target="../tags/tag423.xml"/><Relationship Id="rId29" Type="http://schemas.openxmlformats.org/officeDocument/2006/relationships/tags" Target="../tags/tag449.xml"/><Relationship Id="rId28" Type="http://schemas.openxmlformats.org/officeDocument/2006/relationships/tags" Target="../tags/tag448.xml"/><Relationship Id="rId27" Type="http://schemas.openxmlformats.org/officeDocument/2006/relationships/tags" Target="../tags/tag447.xml"/><Relationship Id="rId26" Type="http://schemas.openxmlformats.org/officeDocument/2006/relationships/tags" Target="../tags/tag446.xml"/><Relationship Id="rId25" Type="http://schemas.openxmlformats.org/officeDocument/2006/relationships/tags" Target="../tags/tag445.xml"/><Relationship Id="rId24" Type="http://schemas.openxmlformats.org/officeDocument/2006/relationships/tags" Target="../tags/tag444.xml"/><Relationship Id="rId23" Type="http://schemas.openxmlformats.org/officeDocument/2006/relationships/tags" Target="../tags/tag443.xml"/><Relationship Id="rId22" Type="http://schemas.openxmlformats.org/officeDocument/2006/relationships/tags" Target="../tags/tag442.xml"/><Relationship Id="rId21" Type="http://schemas.openxmlformats.org/officeDocument/2006/relationships/tags" Target="../tags/tag441.xml"/><Relationship Id="rId20" Type="http://schemas.openxmlformats.org/officeDocument/2006/relationships/tags" Target="../tags/tag440.xml"/><Relationship Id="rId2" Type="http://schemas.openxmlformats.org/officeDocument/2006/relationships/tags" Target="../tags/tag422.xml"/><Relationship Id="rId19" Type="http://schemas.openxmlformats.org/officeDocument/2006/relationships/tags" Target="../tags/tag439.xml"/><Relationship Id="rId18" Type="http://schemas.openxmlformats.org/officeDocument/2006/relationships/tags" Target="../tags/tag438.xml"/><Relationship Id="rId17" Type="http://schemas.openxmlformats.org/officeDocument/2006/relationships/tags" Target="../tags/tag437.xml"/><Relationship Id="rId16" Type="http://schemas.openxmlformats.org/officeDocument/2006/relationships/tags" Target="../tags/tag436.xml"/><Relationship Id="rId15" Type="http://schemas.openxmlformats.org/officeDocument/2006/relationships/tags" Target="../tags/tag435.xml"/><Relationship Id="rId14" Type="http://schemas.openxmlformats.org/officeDocument/2006/relationships/tags" Target="../tags/tag434.xml"/><Relationship Id="rId13" Type="http://schemas.openxmlformats.org/officeDocument/2006/relationships/tags" Target="../tags/tag433.xml"/><Relationship Id="rId12" Type="http://schemas.openxmlformats.org/officeDocument/2006/relationships/tags" Target="../tags/tag432.xml"/><Relationship Id="rId11" Type="http://schemas.openxmlformats.org/officeDocument/2006/relationships/tags" Target="../tags/tag431.xml"/><Relationship Id="rId10" Type="http://schemas.openxmlformats.org/officeDocument/2006/relationships/tags" Target="../tags/tag430.xml"/><Relationship Id="rId1" Type="http://schemas.openxmlformats.org/officeDocument/2006/relationships/tags" Target="../tags/tag421.xml"/></Relationships>
</file>

<file path=ppt/slides/_rels/slide45.xml.rels><?xml version="1.0" encoding="UTF-8" standalone="yes"?>
<Relationships xmlns="http://schemas.openxmlformats.org/package/2006/relationships"><Relationship Id="rId9" Type="http://schemas.openxmlformats.org/officeDocument/2006/relationships/tags" Target="../tags/tag468.xml"/><Relationship Id="rId8" Type="http://schemas.openxmlformats.org/officeDocument/2006/relationships/tags" Target="../tags/tag467.xml"/><Relationship Id="rId7" Type="http://schemas.openxmlformats.org/officeDocument/2006/relationships/tags" Target="../tags/tag466.xml"/><Relationship Id="rId6" Type="http://schemas.openxmlformats.org/officeDocument/2006/relationships/tags" Target="../tags/tag465.xml"/><Relationship Id="rId5" Type="http://schemas.openxmlformats.org/officeDocument/2006/relationships/tags" Target="../tags/tag464.xml"/><Relationship Id="rId44" Type="http://schemas.openxmlformats.org/officeDocument/2006/relationships/notesSlide" Target="../notesSlides/notesSlide35.xml"/><Relationship Id="rId43" Type="http://schemas.openxmlformats.org/officeDocument/2006/relationships/slideLayout" Target="../slideLayouts/slideLayout3.xml"/><Relationship Id="rId42" Type="http://schemas.openxmlformats.org/officeDocument/2006/relationships/tags" Target="../tags/tag501.xml"/><Relationship Id="rId41" Type="http://schemas.openxmlformats.org/officeDocument/2006/relationships/tags" Target="../tags/tag500.xml"/><Relationship Id="rId40" Type="http://schemas.openxmlformats.org/officeDocument/2006/relationships/tags" Target="../tags/tag499.xml"/><Relationship Id="rId4" Type="http://schemas.openxmlformats.org/officeDocument/2006/relationships/tags" Target="../tags/tag463.xml"/><Relationship Id="rId39" Type="http://schemas.openxmlformats.org/officeDocument/2006/relationships/tags" Target="../tags/tag498.xml"/><Relationship Id="rId38" Type="http://schemas.openxmlformats.org/officeDocument/2006/relationships/tags" Target="../tags/tag497.xml"/><Relationship Id="rId37" Type="http://schemas.openxmlformats.org/officeDocument/2006/relationships/tags" Target="../tags/tag496.xml"/><Relationship Id="rId36" Type="http://schemas.openxmlformats.org/officeDocument/2006/relationships/tags" Target="../tags/tag495.xml"/><Relationship Id="rId35" Type="http://schemas.openxmlformats.org/officeDocument/2006/relationships/tags" Target="../tags/tag494.xml"/><Relationship Id="rId34" Type="http://schemas.openxmlformats.org/officeDocument/2006/relationships/tags" Target="../tags/tag493.xml"/><Relationship Id="rId33" Type="http://schemas.openxmlformats.org/officeDocument/2006/relationships/tags" Target="../tags/tag492.xml"/><Relationship Id="rId32" Type="http://schemas.openxmlformats.org/officeDocument/2006/relationships/tags" Target="../tags/tag491.xml"/><Relationship Id="rId31" Type="http://schemas.openxmlformats.org/officeDocument/2006/relationships/tags" Target="../tags/tag490.xml"/><Relationship Id="rId30" Type="http://schemas.openxmlformats.org/officeDocument/2006/relationships/tags" Target="../tags/tag489.xml"/><Relationship Id="rId3" Type="http://schemas.openxmlformats.org/officeDocument/2006/relationships/tags" Target="../tags/tag462.xml"/><Relationship Id="rId29" Type="http://schemas.openxmlformats.org/officeDocument/2006/relationships/tags" Target="../tags/tag488.xml"/><Relationship Id="rId28" Type="http://schemas.openxmlformats.org/officeDocument/2006/relationships/tags" Target="../tags/tag487.xml"/><Relationship Id="rId27" Type="http://schemas.openxmlformats.org/officeDocument/2006/relationships/tags" Target="../tags/tag486.xml"/><Relationship Id="rId26" Type="http://schemas.openxmlformats.org/officeDocument/2006/relationships/tags" Target="../tags/tag485.xml"/><Relationship Id="rId25" Type="http://schemas.openxmlformats.org/officeDocument/2006/relationships/tags" Target="../tags/tag484.xml"/><Relationship Id="rId24" Type="http://schemas.openxmlformats.org/officeDocument/2006/relationships/tags" Target="../tags/tag483.xml"/><Relationship Id="rId23" Type="http://schemas.openxmlformats.org/officeDocument/2006/relationships/tags" Target="../tags/tag482.xml"/><Relationship Id="rId22" Type="http://schemas.openxmlformats.org/officeDocument/2006/relationships/tags" Target="../tags/tag481.xml"/><Relationship Id="rId21" Type="http://schemas.openxmlformats.org/officeDocument/2006/relationships/tags" Target="../tags/tag480.xml"/><Relationship Id="rId20" Type="http://schemas.openxmlformats.org/officeDocument/2006/relationships/tags" Target="../tags/tag479.xml"/><Relationship Id="rId2" Type="http://schemas.openxmlformats.org/officeDocument/2006/relationships/tags" Target="../tags/tag461.xml"/><Relationship Id="rId19" Type="http://schemas.openxmlformats.org/officeDocument/2006/relationships/tags" Target="../tags/tag478.xml"/><Relationship Id="rId18" Type="http://schemas.openxmlformats.org/officeDocument/2006/relationships/tags" Target="../tags/tag477.xml"/><Relationship Id="rId17" Type="http://schemas.openxmlformats.org/officeDocument/2006/relationships/tags" Target="../tags/tag476.xml"/><Relationship Id="rId16" Type="http://schemas.openxmlformats.org/officeDocument/2006/relationships/tags" Target="../tags/tag475.xml"/><Relationship Id="rId15" Type="http://schemas.openxmlformats.org/officeDocument/2006/relationships/tags" Target="../tags/tag474.xml"/><Relationship Id="rId14" Type="http://schemas.openxmlformats.org/officeDocument/2006/relationships/tags" Target="../tags/tag473.xml"/><Relationship Id="rId13" Type="http://schemas.openxmlformats.org/officeDocument/2006/relationships/tags" Target="../tags/tag472.xml"/><Relationship Id="rId12" Type="http://schemas.openxmlformats.org/officeDocument/2006/relationships/tags" Target="../tags/tag471.xml"/><Relationship Id="rId11" Type="http://schemas.openxmlformats.org/officeDocument/2006/relationships/tags" Target="../tags/tag470.xml"/><Relationship Id="rId10" Type="http://schemas.openxmlformats.org/officeDocument/2006/relationships/tags" Target="../tags/tag469.xml"/><Relationship Id="rId1" Type="http://schemas.openxmlformats.org/officeDocument/2006/relationships/tags" Target="../tags/tag46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502.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3.xml"/><Relationship Id="rId3" Type="http://schemas.openxmlformats.org/officeDocument/2006/relationships/tags" Target="../tags/tag505.xml"/><Relationship Id="rId2" Type="http://schemas.openxmlformats.org/officeDocument/2006/relationships/tags" Target="../tags/tag504.xml"/><Relationship Id="rId1" Type="http://schemas.openxmlformats.org/officeDocument/2006/relationships/tags" Target="../tags/tag503.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tags" Target="../tags/tag507.xml"/><Relationship Id="rId1" Type="http://schemas.openxmlformats.org/officeDocument/2006/relationships/tags" Target="../tags/tag50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50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50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51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tags" Target="../tags/tag511.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3.xml"/><Relationship Id="rId2" Type="http://schemas.openxmlformats.org/officeDocument/2006/relationships/tags" Target="../tags/tag513.xml"/><Relationship Id="rId1" Type="http://schemas.openxmlformats.org/officeDocument/2006/relationships/tags" Target="../tags/tag5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5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3.xml"/><Relationship Id="rId2" Type="http://schemas.openxmlformats.org/officeDocument/2006/relationships/tags" Target="../tags/tag516.xml"/><Relationship Id="rId1" Type="http://schemas.openxmlformats.org/officeDocument/2006/relationships/tags" Target="../tags/tag515.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3.xml"/><Relationship Id="rId2" Type="http://schemas.openxmlformats.org/officeDocument/2006/relationships/tags" Target="../tags/tag518.xml"/><Relationship Id="rId1" Type="http://schemas.openxmlformats.org/officeDocument/2006/relationships/tags" Target="../tags/tag5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
        <p:nvSpPr>
          <p:cNvPr id="2" name="灯片编号占位符 1"/>
          <p:cNvSpPr>
            <a:spLocks noGrp="1"/>
          </p:cNvSpPr>
          <p:nvPr>
            <p:ph type="sldNum" sz="quarter" idx="12"/>
          </p:nvPr>
        </p:nvSpPr>
        <p:spPr/>
        <p:txBody>
          <a:bodyPr/>
          <a:p>
            <a:fld id="{7C7206B7-967B-48F3-989E-8CF2542470F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050925" y="2009140"/>
            <a:ext cx="9709785" cy="4347845"/>
          </a:xfrm>
        </p:spPr>
        <p:txBody>
          <a:bodyPr>
            <a:noAutofit/>
          </a:bodyPr>
          <a:lstStyle/>
          <a:p>
            <a:pPr>
              <a:lnSpc>
                <a:spcPct val="125000"/>
              </a:lnSpc>
              <a:spcAft>
                <a:spcPts val="0"/>
              </a:spcAft>
            </a:pPr>
            <a:r>
              <a:rPr lang="zh-CN" altLang="en-US" b="1" dirty="0">
                <a:solidFill>
                  <a:srgbClr val="0070C0"/>
                </a:solidFill>
              </a:rPr>
              <a:t> </a:t>
            </a:r>
            <a:r>
              <a:rPr lang="en-US" altLang="zh-CN" b="1" dirty="0">
                <a:solidFill>
                  <a:srgbClr val="0070C0"/>
                </a:solidFill>
              </a:rPr>
              <a:t>4.1 </a:t>
            </a:r>
            <a:r>
              <a:rPr lang="zh-CN" altLang="en-US" b="1" dirty="0">
                <a:solidFill>
                  <a:srgbClr val="0070C0"/>
                </a:solidFill>
              </a:rPr>
              <a:t>自下而上的语法分析概览</a:t>
            </a:r>
            <a:endParaRPr lang="zh-CN" altLang="en-US" b="1" dirty="0">
              <a:solidFill>
                <a:srgbClr val="0070C0"/>
              </a:solidFill>
            </a:endParaRPr>
          </a:p>
          <a:p>
            <a:pPr>
              <a:lnSpc>
                <a:spcPct val="125000"/>
              </a:lnSpc>
              <a:spcAft>
                <a:spcPts val="0"/>
              </a:spcAft>
            </a:pPr>
            <a:r>
              <a:rPr lang="zh-CN" altLang="en-US" b="1" dirty="0">
                <a:solidFill>
                  <a:schemeClr val="tx1"/>
                </a:solidFill>
              </a:rPr>
              <a:t> </a:t>
            </a:r>
            <a:r>
              <a:rPr lang="en-US" altLang="zh-CN" b="1" dirty="0">
                <a:solidFill>
                  <a:schemeClr val="tx1"/>
                </a:solidFill>
              </a:rPr>
              <a:t>4.2 LR</a:t>
            </a:r>
            <a:r>
              <a:rPr lang="zh-CN" altLang="en-US" b="1" dirty="0">
                <a:solidFill>
                  <a:schemeClr val="tx1"/>
                </a:solidFill>
              </a:rPr>
              <a:t>分析概览</a:t>
            </a:r>
            <a:endParaRPr lang="zh-CN" altLang="en-US" b="1" dirty="0">
              <a:solidFill>
                <a:schemeClr val="tx1"/>
              </a:solidFill>
            </a:endParaRPr>
          </a:p>
          <a:p>
            <a:pPr>
              <a:lnSpc>
                <a:spcPct val="125000"/>
              </a:lnSpc>
              <a:spcAft>
                <a:spcPts val="0"/>
              </a:spcAft>
            </a:pPr>
            <a:r>
              <a:rPr lang="zh-CN" altLang="en-US" b="1" dirty="0">
                <a:solidFill>
                  <a:schemeClr val="tx1"/>
                </a:solidFill>
              </a:rPr>
              <a:t> </a:t>
            </a:r>
            <a:r>
              <a:rPr lang="en-US" altLang="zh-CN" b="1" dirty="0">
                <a:solidFill>
                  <a:schemeClr val="tx1"/>
                </a:solidFill>
              </a:rPr>
              <a:t>4.3 LR(0)</a:t>
            </a:r>
            <a:r>
              <a:rPr lang="zh-CN" altLang="en-US" b="1" dirty="0">
                <a:solidFill>
                  <a:schemeClr val="tx1"/>
                </a:solidFill>
              </a:rPr>
              <a:t>项目的有穷自动机与</a:t>
            </a:r>
            <a:r>
              <a:rPr lang="en-US" altLang="zh-CN" b="1" dirty="0">
                <a:solidFill>
                  <a:schemeClr val="tx1"/>
                </a:solidFill>
              </a:rPr>
              <a:t>LR(0)</a:t>
            </a:r>
            <a:r>
              <a:rPr lang="zh-CN" altLang="en-US" b="1" dirty="0">
                <a:solidFill>
                  <a:schemeClr val="tx1"/>
                </a:solidFill>
              </a:rPr>
              <a:t>分析</a:t>
            </a:r>
            <a:endParaRPr lang="zh-CN" altLang="en-US" b="1" dirty="0">
              <a:solidFill>
                <a:schemeClr val="tx1"/>
              </a:solidFill>
            </a:endParaRPr>
          </a:p>
          <a:p>
            <a:pPr>
              <a:lnSpc>
                <a:spcPct val="125000"/>
              </a:lnSpc>
              <a:spcAft>
                <a:spcPts val="0"/>
              </a:spcAft>
            </a:pPr>
            <a:r>
              <a:rPr lang="zh-CN" altLang="en-US" b="1" dirty="0">
                <a:solidFill>
                  <a:schemeClr val="tx1"/>
                </a:solidFill>
              </a:rPr>
              <a:t> </a:t>
            </a:r>
            <a:r>
              <a:rPr lang="en-US" altLang="zh-CN" b="1" dirty="0">
                <a:solidFill>
                  <a:schemeClr val="tx1"/>
                </a:solidFill>
              </a:rPr>
              <a:t>4.4 SLR(1) </a:t>
            </a:r>
            <a:r>
              <a:rPr lang="zh-CN" altLang="en-US" b="1" dirty="0">
                <a:solidFill>
                  <a:schemeClr val="tx1"/>
                </a:solidFill>
              </a:rPr>
              <a:t>分析</a:t>
            </a:r>
            <a:endParaRPr lang="zh-CN" altLang="en-US" b="1" dirty="0">
              <a:solidFill>
                <a:schemeClr val="tx1"/>
              </a:solidFill>
            </a:endParaRPr>
          </a:p>
          <a:p>
            <a:pPr>
              <a:lnSpc>
                <a:spcPct val="125000"/>
              </a:lnSpc>
              <a:spcAft>
                <a:spcPts val="0"/>
              </a:spcAft>
            </a:pPr>
            <a:r>
              <a:rPr lang="zh-CN" altLang="en-US" b="1" dirty="0">
                <a:solidFill>
                  <a:schemeClr val="tx1"/>
                </a:solidFill>
              </a:rPr>
              <a:t> </a:t>
            </a:r>
            <a:r>
              <a:rPr lang="en-US" altLang="zh-CN" b="1" dirty="0">
                <a:solidFill>
                  <a:schemeClr val="tx1"/>
                </a:solidFill>
              </a:rPr>
              <a:t>4.5  </a:t>
            </a:r>
            <a:r>
              <a:rPr lang="zh-CN" altLang="en-US" b="1" dirty="0">
                <a:solidFill>
                  <a:schemeClr val="tx1"/>
                </a:solidFill>
              </a:rPr>
              <a:t>一般的</a:t>
            </a:r>
            <a:r>
              <a:rPr lang="en-US" altLang="zh-CN" b="1" dirty="0">
                <a:solidFill>
                  <a:schemeClr val="tx1"/>
                </a:solidFill>
              </a:rPr>
              <a:t>LR(1)</a:t>
            </a:r>
            <a:endParaRPr lang="en-US" altLang="zh-CN" b="1" dirty="0">
              <a:solidFill>
                <a:schemeClr val="tx1"/>
              </a:solidFill>
            </a:endParaRPr>
          </a:p>
          <a:p>
            <a:pPr>
              <a:lnSpc>
                <a:spcPct val="125000"/>
              </a:lnSpc>
              <a:spcAft>
                <a:spcPts val="0"/>
              </a:spcAft>
            </a:pPr>
            <a:r>
              <a:rPr lang="en-US" altLang="zh-CN" b="1" dirty="0">
                <a:solidFill>
                  <a:schemeClr val="tx1"/>
                </a:solidFill>
              </a:rPr>
              <a:t> 4.6  LALR(1)</a:t>
            </a:r>
            <a:r>
              <a:rPr lang="zh-CN" altLang="en-US" b="1" dirty="0">
                <a:solidFill>
                  <a:schemeClr val="tx1"/>
                </a:solidFill>
              </a:rPr>
              <a:t>分析</a:t>
            </a:r>
            <a:endParaRPr lang="zh-CN" altLang="en-US" b="1" dirty="0">
              <a:solidFill>
                <a:schemeClr val="tx1"/>
              </a:solidFill>
            </a:endParaRPr>
          </a:p>
        </p:txBody>
      </p:sp>
      <p:sp>
        <p:nvSpPr>
          <p:cNvPr id="25" name="文本占位符 24"/>
          <p:cNvSpPr>
            <a:spLocks noGrp="1"/>
          </p:cNvSpPr>
          <p:nvPr>
            <p:ph type="body" sz="quarter" idx="15"/>
          </p:nvPr>
        </p:nvSpPr>
        <p:spPr>
          <a:xfrm>
            <a:off x="228600" y="409575"/>
            <a:ext cx="3522980" cy="589915"/>
          </a:xfrm>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608965" y="276860"/>
            <a:ext cx="7244080" cy="593090"/>
          </a:xfrm>
        </p:spPr>
        <p:txBody>
          <a:bodyPr/>
          <a:lstStyle/>
          <a:p>
            <a:r>
              <a:rPr lang="en-US" altLang="zh-CN" dirty="0"/>
              <a:t>4.1 </a:t>
            </a:r>
            <a:r>
              <a:rPr lang="zh-CN" altLang="en-US" dirty="0"/>
              <a:t>自下而上的语法分析概览</a:t>
            </a:r>
            <a:endParaRPr lang="zh-CN" altLang="en-US" dirty="0"/>
          </a:p>
        </p:txBody>
      </p:sp>
      <p:sp>
        <p:nvSpPr>
          <p:cNvPr id="14" name="文本占位符 13"/>
          <p:cNvSpPr>
            <a:spLocks noGrp="1"/>
          </p:cNvSpPr>
          <p:nvPr>
            <p:ph type="body" sz="quarter" idx="15"/>
          </p:nvPr>
        </p:nvSpPr>
        <p:spPr>
          <a:xfrm>
            <a:off x="408305" y="1248410"/>
            <a:ext cx="5750560" cy="515620"/>
          </a:xfrm>
        </p:spPr>
        <p:txBody>
          <a:bodyPr>
            <a:normAutofit lnSpcReduction="10000"/>
          </a:bodyPr>
          <a:lstStyle/>
          <a:p>
            <a:r>
              <a:rPr lang="zh-CN" altLang="en-US" dirty="0">
                <a:solidFill>
                  <a:srgbClr val="0070C0"/>
                </a:solidFill>
              </a:rPr>
              <a:t>自下而上语法分析方法</a:t>
            </a:r>
            <a:endParaRPr lang="zh-CN" altLang="en-US" dirty="0">
              <a:solidFill>
                <a:srgbClr val="0070C0"/>
              </a:solidFill>
            </a:endParaRPr>
          </a:p>
        </p:txBody>
      </p:sp>
      <p:sp>
        <p:nvSpPr>
          <p:cNvPr id="15" name="文本占位符 14"/>
          <p:cNvSpPr>
            <a:spLocks noGrp="1"/>
          </p:cNvSpPr>
          <p:nvPr>
            <p:ph type="body" sz="quarter" idx="16"/>
          </p:nvPr>
        </p:nvSpPr>
        <p:spPr>
          <a:xfrm>
            <a:off x="462915" y="1681480"/>
            <a:ext cx="11355705" cy="1021080"/>
          </a:xfrm>
        </p:spPr>
        <p:txBody>
          <a:bodyPr/>
          <a:lstStyle/>
          <a:p>
            <a:pPr marL="0" indent="0" fontAlgn="auto">
              <a:lnSpc>
                <a:spcPct val="125000"/>
              </a:lnSpc>
              <a:buNone/>
            </a:pPr>
            <a:r>
              <a:rPr lang="zh-CN" altLang="en-US" dirty="0"/>
              <a:t>从输入单词序列开始，自左至右逐步进行归约，试图将其归约为文法的开始符号。</a:t>
            </a:r>
            <a:r>
              <a:rPr lang="zh-CN" altLang="en-US" dirty="0"/>
              <a:t>同时以单词做为语法树的叶节点，自底向上地构造语法分析的结果</a:t>
            </a:r>
            <a:r>
              <a:rPr lang="en-US" altLang="zh-CN" dirty="0"/>
              <a:t>----</a:t>
            </a:r>
            <a:r>
              <a:rPr lang="zh-CN" altLang="en-US" dirty="0"/>
              <a:t>语法树。</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 name="Group 2"/>
          <p:cNvGrpSpPr/>
          <p:nvPr/>
        </p:nvGrpSpPr>
        <p:grpSpPr bwMode="auto">
          <a:xfrm>
            <a:off x="1409383" y="3638270"/>
            <a:ext cx="7767637" cy="717550"/>
            <a:chOff x="99" y="1008"/>
            <a:chExt cx="4893" cy="452"/>
          </a:xfrm>
        </p:grpSpPr>
        <p:sp>
          <p:nvSpPr>
            <p:cNvPr id="4" name="Text Box 3"/>
            <p:cNvSpPr txBox="1">
              <a:spLocks noChangeArrowheads="1"/>
            </p:cNvSpPr>
            <p:nvPr>
              <p:custDataLst>
                <p:tags r:id="rId1"/>
              </p:custDataLst>
            </p:nvPr>
          </p:nvSpPr>
          <p:spPr bwMode="auto">
            <a:xfrm>
              <a:off x="99" y="1104"/>
              <a:ext cx="28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S</a:t>
              </a:r>
              <a:endParaRPr lang="en-US" altLang="zh-CN" sz="2400" b="1">
                <a:solidFill>
                  <a:srgbClr val="050507"/>
                </a:solidFill>
                <a:latin typeface="+mn-ea"/>
              </a:endParaRPr>
            </a:p>
          </p:txBody>
        </p:sp>
        <p:grpSp>
          <p:nvGrpSpPr>
            <p:cNvPr id="5" name="Group 4"/>
            <p:cNvGrpSpPr/>
            <p:nvPr/>
          </p:nvGrpSpPr>
          <p:grpSpPr bwMode="auto">
            <a:xfrm>
              <a:off x="357" y="1008"/>
              <a:ext cx="315" cy="452"/>
              <a:chOff x="1605" y="3456"/>
              <a:chExt cx="315" cy="452"/>
            </a:xfrm>
          </p:grpSpPr>
          <p:grpSp>
            <p:nvGrpSpPr>
              <p:cNvPr id="6" name="Group 5"/>
              <p:cNvGrpSpPr/>
              <p:nvPr/>
            </p:nvGrpSpPr>
            <p:grpSpPr bwMode="auto">
              <a:xfrm>
                <a:off x="1605" y="3456"/>
                <a:ext cx="315" cy="338"/>
                <a:chOff x="1605" y="3456"/>
                <a:chExt cx="315" cy="338"/>
              </a:xfrm>
            </p:grpSpPr>
            <p:sp>
              <p:nvSpPr>
                <p:cNvPr id="7" name="Text Box 6"/>
                <p:cNvSpPr txBox="1">
                  <a:spLocks noChangeArrowheads="1"/>
                </p:cNvSpPr>
                <p:nvPr>
                  <p:custDataLst>
                    <p:tags r:id="rId2"/>
                  </p:custDataLst>
                </p:nvPr>
              </p:nvSpPr>
              <p:spPr bwMode="auto">
                <a:xfrm>
                  <a:off x="1605" y="3504"/>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solidFill>
                        <a:srgbClr val="050507"/>
                      </a:solidFill>
                      <a:latin typeface="+mn-ea"/>
                      <a:sym typeface="Symbol" panose="05050102010706020507" pitchFamily="18" charset="2"/>
                    </a:rPr>
                    <a:t></a:t>
                  </a:r>
                  <a:endParaRPr lang="zh-CN" altLang="en-US" sz="2400" b="1">
                    <a:solidFill>
                      <a:srgbClr val="050507"/>
                    </a:solidFill>
                    <a:latin typeface="+mn-ea"/>
                  </a:endParaRPr>
                </a:p>
              </p:txBody>
            </p:sp>
            <p:sp>
              <p:nvSpPr>
                <p:cNvPr id="8" name="Text Box 7"/>
                <p:cNvSpPr txBox="1">
                  <a:spLocks noChangeArrowheads="1"/>
                </p:cNvSpPr>
                <p:nvPr>
                  <p:custDataLst>
                    <p:tags r:id="rId3"/>
                  </p:custDataLst>
                </p:nvPr>
              </p:nvSpPr>
              <p:spPr bwMode="auto">
                <a:xfrm>
                  <a:off x="1632" y="3456"/>
                  <a:ext cx="28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endParaRPr lang="zh-CN" altLang="en-US" sz="2400" b="1">
                    <a:solidFill>
                      <a:srgbClr val="050507"/>
                    </a:solidFill>
                    <a:latin typeface="+mn-ea"/>
                  </a:endParaRPr>
                </a:p>
              </p:txBody>
            </p:sp>
          </p:grpSp>
          <p:sp>
            <p:nvSpPr>
              <p:cNvPr id="9" name="Text Box 8"/>
              <p:cNvSpPr txBox="1">
                <a:spLocks noChangeArrowheads="1"/>
              </p:cNvSpPr>
              <p:nvPr>
                <p:custDataLst>
                  <p:tags r:id="rId4"/>
                </p:custDataLst>
              </p:nvPr>
            </p:nvSpPr>
            <p:spPr bwMode="auto">
              <a:xfrm>
                <a:off x="1650" y="3618"/>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r</a:t>
                </a:r>
                <a:endParaRPr lang="en-US" altLang="zh-CN" sz="2400" b="1">
                  <a:solidFill>
                    <a:srgbClr val="050507"/>
                  </a:solidFill>
                  <a:latin typeface="+mn-ea"/>
                </a:endParaRPr>
              </a:p>
            </p:txBody>
          </p:sp>
        </p:grpSp>
        <p:sp>
          <p:nvSpPr>
            <p:cNvPr id="10" name="Text Box 9"/>
            <p:cNvSpPr txBox="1">
              <a:spLocks noChangeArrowheads="1"/>
            </p:cNvSpPr>
            <p:nvPr>
              <p:custDataLst>
                <p:tags r:id="rId5"/>
              </p:custDataLst>
            </p:nvPr>
          </p:nvSpPr>
          <p:spPr bwMode="auto">
            <a:xfrm>
              <a:off x="624" y="1104"/>
              <a:ext cx="86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aAcBe</a:t>
              </a:r>
              <a:endParaRPr lang="en-US" altLang="zh-CN" sz="2400" b="1">
                <a:solidFill>
                  <a:srgbClr val="050507"/>
                </a:solidFill>
                <a:latin typeface="+mn-ea"/>
              </a:endParaRPr>
            </a:p>
          </p:txBody>
        </p:sp>
        <p:grpSp>
          <p:nvGrpSpPr>
            <p:cNvPr id="11" name="Group 10"/>
            <p:cNvGrpSpPr/>
            <p:nvPr/>
          </p:nvGrpSpPr>
          <p:grpSpPr bwMode="auto">
            <a:xfrm>
              <a:off x="1344" y="1008"/>
              <a:ext cx="315" cy="452"/>
              <a:chOff x="1605" y="3456"/>
              <a:chExt cx="315" cy="452"/>
            </a:xfrm>
          </p:grpSpPr>
          <p:grpSp>
            <p:nvGrpSpPr>
              <p:cNvPr id="13" name="Group 11"/>
              <p:cNvGrpSpPr/>
              <p:nvPr/>
            </p:nvGrpSpPr>
            <p:grpSpPr bwMode="auto">
              <a:xfrm>
                <a:off x="1605" y="3456"/>
                <a:ext cx="315" cy="338"/>
                <a:chOff x="1605" y="3456"/>
                <a:chExt cx="315" cy="338"/>
              </a:xfrm>
            </p:grpSpPr>
            <p:sp>
              <p:nvSpPr>
                <p:cNvPr id="16" name="Text Box 12"/>
                <p:cNvSpPr txBox="1">
                  <a:spLocks noChangeArrowheads="1"/>
                </p:cNvSpPr>
                <p:nvPr>
                  <p:custDataLst>
                    <p:tags r:id="rId6"/>
                  </p:custDataLst>
                </p:nvPr>
              </p:nvSpPr>
              <p:spPr bwMode="auto">
                <a:xfrm>
                  <a:off x="1605" y="3504"/>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solidFill>
                        <a:srgbClr val="050507"/>
                      </a:solidFill>
                      <a:latin typeface="+mn-ea"/>
                      <a:sym typeface="Symbol" panose="05050102010706020507" pitchFamily="18" charset="2"/>
                    </a:rPr>
                    <a:t></a:t>
                  </a:r>
                  <a:endParaRPr lang="zh-CN" altLang="en-US" sz="2400" b="1">
                    <a:solidFill>
                      <a:srgbClr val="050507"/>
                    </a:solidFill>
                    <a:latin typeface="+mn-ea"/>
                  </a:endParaRPr>
                </a:p>
              </p:txBody>
            </p:sp>
            <p:sp>
              <p:nvSpPr>
                <p:cNvPr id="17" name="Text Box 13"/>
                <p:cNvSpPr txBox="1">
                  <a:spLocks noChangeArrowheads="1"/>
                </p:cNvSpPr>
                <p:nvPr>
                  <p:custDataLst>
                    <p:tags r:id="rId7"/>
                  </p:custDataLst>
                </p:nvPr>
              </p:nvSpPr>
              <p:spPr bwMode="auto">
                <a:xfrm>
                  <a:off x="1632" y="3456"/>
                  <a:ext cx="28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endParaRPr lang="zh-CN" altLang="en-US" sz="2400" b="1">
                    <a:solidFill>
                      <a:srgbClr val="050507"/>
                    </a:solidFill>
                    <a:latin typeface="+mn-ea"/>
                  </a:endParaRPr>
                </a:p>
              </p:txBody>
            </p:sp>
          </p:grpSp>
          <p:sp>
            <p:nvSpPr>
              <p:cNvPr id="18" name="Text Box 14"/>
              <p:cNvSpPr txBox="1">
                <a:spLocks noChangeArrowheads="1"/>
              </p:cNvSpPr>
              <p:nvPr>
                <p:custDataLst>
                  <p:tags r:id="rId8"/>
                </p:custDataLst>
              </p:nvPr>
            </p:nvSpPr>
            <p:spPr bwMode="auto">
              <a:xfrm>
                <a:off x="1650" y="3618"/>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r</a:t>
                </a:r>
                <a:endParaRPr lang="en-US" altLang="zh-CN" sz="2400" b="1">
                  <a:solidFill>
                    <a:srgbClr val="050507"/>
                  </a:solidFill>
                  <a:latin typeface="+mn-ea"/>
                </a:endParaRPr>
              </a:p>
            </p:txBody>
          </p:sp>
        </p:grpSp>
        <p:sp>
          <p:nvSpPr>
            <p:cNvPr id="19" name="Text Box 15"/>
            <p:cNvSpPr txBox="1">
              <a:spLocks noChangeArrowheads="1"/>
            </p:cNvSpPr>
            <p:nvPr>
              <p:custDataLst>
                <p:tags r:id="rId9"/>
              </p:custDataLst>
            </p:nvPr>
          </p:nvSpPr>
          <p:spPr bwMode="auto">
            <a:xfrm>
              <a:off x="1632" y="1056"/>
              <a:ext cx="147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aAcde</a:t>
              </a:r>
              <a:endParaRPr lang="en-US" altLang="zh-CN" sz="2400" b="1">
                <a:solidFill>
                  <a:srgbClr val="050507"/>
                </a:solidFill>
                <a:latin typeface="+mn-ea"/>
              </a:endParaRPr>
            </a:p>
          </p:txBody>
        </p:sp>
        <p:grpSp>
          <p:nvGrpSpPr>
            <p:cNvPr id="20" name="Group 16"/>
            <p:cNvGrpSpPr/>
            <p:nvPr/>
          </p:nvGrpSpPr>
          <p:grpSpPr bwMode="auto">
            <a:xfrm>
              <a:off x="2352" y="1008"/>
              <a:ext cx="315" cy="452"/>
              <a:chOff x="1605" y="3456"/>
              <a:chExt cx="315" cy="452"/>
            </a:xfrm>
          </p:grpSpPr>
          <p:grpSp>
            <p:nvGrpSpPr>
              <p:cNvPr id="21" name="Group 17"/>
              <p:cNvGrpSpPr/>
              <p:nvPr/>
            </p:nvGrpSpPr>
            <p:grpSpPr bwMode="auto">
              <a:xfrm>
                <a:off x="1605" y="3456"/>
                <a:ext cx="315" cy="338"/>
                <a:chOff x="1605" y="3456"/>
                <a:chExt cx="315" cy="338"/>
              </a:xfrm>
            </p:grpSpPr>
            <p:sp>
              <p:nvSpPr>
                <p:cNvPr id="22" name="Text Box 18"/>
                <p:cNvSpPr txBox="1">
                  <a:spLocks noChangeArrowheads="1"/>
                </p:cNvSpPr>
                <p:nvPr>
                  <p:custDataLst>
                    <p:tags r:id="rId10"/>
                  </p:custDataLst>
                </p:nvPr>
              </p:nvSpPr>
              <p:spPr bwMode="auto">
                <a:xfrm>
                  <a:off x="1605" y="3504"/>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solidFill>
                        <a:srgbClr val="050507"/>
                      </a:solidFill>
                      <a:latin typeface="+mn-ea"/>
                      <a:sym typeface="Symbol" panose="05050102010706020507" pitchFamily="18" charset="2"/>
                    </a:rPr>
                    <a:t></a:t>
                  </a:r>
                  <a:endParaRPr lang="zh-CN" altLang="en-US" sz="2400" b="1">
                    <a:solidFill>
                      <a:srgbClr val="050507"/>
                    </a:solidFill>
                    <a:latin typeface="+mn-ea"/>
                  </a:endParaRPr>
                </a:p>
              </p:txBody>
            </p:sp>
            <p:sp>
              <p:nvSpPr>
                <p:cNvPr id="23" name="Text Box 19"/>
                <p:cNvSpPr txBox="1">
                  <a:spLocks noChangeArrowheads="1"/>
                </p:cNvSpPr>
                <p:nvPr>
                  <p:custDataLst>
                    <p:tags r:id="rId11"/>
                  </p:custDataLst>
                </p:nvPr>
              </p:nvSpPr>
              <p:spPr bwMode="auto">
                <a:xfrm>
                  <a:off x="1632" y="3456"/>
                  <a:ext cx="28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endParaRPr lang="zh-CN" altLang="en-US" sz="2400" b="1">
                    <a:solidFill>
                      <a:srgbClr val="050507"/>
                    </a:solidFill>
                    <a:latin typeface="+mn-ea"/>
                  </a:endParaRPr>
                </a:p>
              </p:txBody>
            </p:sp>
          </p:grpSp>
          <p:sp>
            <p:nvSpPr>
              <p:cNvPr id="24" name="Text Box 20"/>
              <p:cNvSpPr txBox="1">
                <a:spLocks noChangeArrowheads="1"/>
              </p:cNvSpPr>
              <p:nvPr>
                <p:custDataLst>
                  <p:tags r:id="rId12"/>
                </p:custDataLst>
              </p:nvPr>
            </p:nvSpPr>
            <p:spPr bwMode="auto">
              <a:xfrm>
                <a:off x="1650" y="3618"/>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r</a:t>
                </a:r>
                <a:endParaRPr lang="en-US" altLang="zh-CN" sz="2400" b="1">
                  <a:solidFill>
                    <a:srgbClr val="050507"/>
                  </a:solidFill>
                  <a:latin typeface="+mn-ea"/>
                </a:endParaRPr>
              </a:p>
            </p:txBody>
          </p:sp>
        </p:grpSp>
        <p:sp>
          <p:nvSpPr>
            <p:cNvPr id="25" name="Text Box 21"/>
            <p:cNvSpPr txBox="1">
              <a:spLocks noChangeArrowheads="1"/>
            </p:cNvSpPr>
            <p:nvPr>
              <p:custDataLst>
                <p:tags r:id="rId13"/>
              </p:custDataLst>
            </p:nvPr>
          </p:nvSpPr>
          <p:spPr bwMode="auto">
            <a:xfrm>
              <a:off x="2688" y="1056"/>
              <a:ext cx="14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aAbcde</a:t>
              </a:r>
              <a:endParaRPr lang="en-US" altLang="zh-CN" sz="2400" b="1">
                <a:solidFill>
                  <a:srgbClr val="050507"/>
                </a:solidFill>
                <a:latin typeface="+mn-ea"/>
              </a:endParaRPr>
            </a:p>
          </p:txBody>
        </p:sp>
        <p:grpSp>
          <p:nvGrpSpPr>
            <p:cNvPr id="26" name="Group 22"/>
            <p:cNvGrpSpPr/>
            <p:nvPr/>
          </p:nvGrpSpPr>
          <p:grpSpPr bwMode="auto">
            <a:xfrm>
              <a:off x="3525" y="1008"/>
              <a:ext cx="315" cy="452"/>
              <a:chOff x="1605" y="3456"/>
              <a:chExt cx="315" cy="452"/>
            </a:xfrm>
          </p:grpSpPr>
          <p:grpSp>
            <p:nvGrpSpPr>
              <p:cNvPr id="27" name="Group 23"/>
              <p:cNvGrpSpPr/>
              <p:nvPr/>
            </p:nvGrpSpPr>
            <p:grpSpPr bwMode="auto">
              <a:xfrm>
                <a:off x="1605" y="3456"/>
                <a:ext cx="315" cy="338"/>
                <a:chOff x="1605" y="3456"/>
                <a:chExt cx="315" cy="338"/>
              </a:xfrm>
            </p:grpSpPr>
            <p:sp>
              <p:nvSpPr>
                <p:cNvPr id="28" name="Text Box 24"/>
                <p:cNvSpPr txBox="1">
                  <a:spLocks noChangeArrowheads="1"/>
                </p:cNvSpPr>
                <p:nvPr>
                  <p:custDataLst>
                    <p:tags r:id="rId14"/>
                  </p:custDataLst>
                </p:nvPr>
              </p:nvSpPr>
              <p:spPr bwMode="auto">
                <a:xfrm>
                  <a:off x="1605" y="3504"/>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solidFill>
                        <a:srgbClr val="050507"/>
                      </a:solidFill>
                      <a:latin typeface="+mn-ea"/>
                      <a:sym typeface="Symbol" panose="05050102010706020507" pitchFamily="18" charset="2"/>
                    </a:rPr>
                    <a:t></a:t>
                  </a:r>
                  <a:endParaRPr lang="zh-CN" altLang="en-US" sz="2400" b="1">
                    <a:solidFill>
                      <a:srgbClr val="050507"/>
                    </a:solidFill>
                    <a:latin typeface="+mn-ea"/>
                  </a:endParaRPr>
                </a:p>
              </p:txBody>
            </p:sp>
            <p:sp>
              <p:nvSpPr>
                <p:cNvPr id="29" name="Text Box 25"/>
                <p:cNvSpPr txBox="1">
                  <a:spLocks noChangeArrowheads="1"/>
                </p:cNvSpPr>
                <p:nvPr>
                  <p:custDataLst>
                    <p:tags r:id="rId15"/>
                  </p:custDataLst>
                </p:nvPr>
              </p:nvSpPr>
              <p:spPr bwMode="auto">
                <a:xfrm>
                  <a:off x="1632" y="3456"/>
                  <a:ext cx="28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endParaRPr lang="zh-CN" altLang="en-US" sz="2400" b="1">
                    <a:solidFill>
                      <a:srgbClr val="050507"/>
                    </a:solidFill>
                    <a:latin typeface="+mn-ea"/>
                  </a:endParaRPr>
                </a:p>
              </p:txBody>
            </p:sp>
          </p:grpSp>
          <p:sp>
            <p:nvSpPr>
              <p:cNvPr id="30" name="Text Box 26"/>
              <p:cNvSpPr txBox="1">
                <a:spLocks noChangeArrowheads="1"/>
              </p:cNvSpPr>
              <p:nvPr>
                <p:custDataLst>
                  <p:tags r:id="rId16"/>
                </p:custDataLst>
              </p:nvPr>
            </p:nvSpPr>
            <p:spPr bwMode="auto">
              <a:xfrm>
                <a:off x="1650" y="3618"/>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r</a:t>
                </a:r>
                <a:endParaRPr lang="en-US" altLang="zh-CN" sz="2400" b="1">
                  <a:solidFill>
                    <a:srgbClr val="050507"/>
                  </a:solidFill>
                  <a:latin typeface="+mn-ea"/>
                </a:endParaRPr>
              </a:p>
            </p:txBody>
          </p:sp>
        </p:grpSp>
        <p:sp>
          <p:nvSpPr>
            <p:cNvPr id="31" name="Text Box 27"/>
            <p:cNvSpPr txBox="1">
              <a:spLocks noChangeArrowheads="1"/>
            </p:cNvSpPr>
            <p:nvPr>
              <p:custDataLst>
                <p:tags r:id="rId17"/>
              </p:custDataLst>
            </p:nvPr>
          </p:nvSpPr>
          <p:spPr bwMode="auto">
            <a:xfrm>
              <a:off x="3888" y="1056"/>
              <a:ext cx="11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50507"/>
                  </a:solidFill>
                  <a:latin typeface="+mn-ea"/>
                </a:rPr>
                <a:t>abbcde</a:t>
              </a:r>
              <a:endParaRPr lang="en-US" altLang="zh-CN" sz="2400" b="1">
                <a:solidFill>
                  <a:srgbClr val="050507"/>
                </a:solidFill>
                <a:latin typeface="+mn-ea"/>
              </a:endParaRPr>
            </a:p>
          </p:txBody>
        </p:sp>
      </p:grpSp>
      <p:sp>
        <p:nvSpPr>
          <p:cNvPr id="32" name="Rectangle 28"/>
          <p:cNvSpPr>
            <a:spLocks noChangeArrowheads="1"/>
          </p:cNvSpPr>
          <p:nvPr>
            <p:custDataLst>
              <p:tags r:id="rId18"/>
            </p:custDataLst>
          </p:nvPr>
        </p:nvSpPr>
        <p:spPr bwMode="auto">
          <a:xfrm>
            <a:off x="1480820" y="3278860"/>
            <a:ext cx="784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buFont typeface="Wingdings" panose="05000000000000000000" pitchFamily="2" charset="2"/>
              <a:buChar char="ü"/>
            </a:pPr>
            <a:r>
              <a:rPr lang="zh-CN" altLang="en-US" sz="2400" b="1">
                <a:solidFill>
                  <a:srgbClr val="050507"/>
                </a:solidFill>
                <a:latin typeface="+mn-ea"/>
              </a:rPr>
              <a:t>建立</a:t>
            </a:r>
            <a:r>
              <a:rPr lang="zh-CN" altLang="en-US" sz="2400" b="1">
                <a:solidFill>
                  <a:srgbClr val="050507"/>
                </a:solidFill>
                <a:latin typeface="+mn-ea"/>
                <a:sym typeface="Symbol" panose="05050102010706020507" pitchFamily="18" charset="2"/>
              </a:rPr>
              <a:t>输入串</a:t>
            </a:r>
            <a:r>
              <a:rPr lang="en-US" altLang="zh-CN" sz="2400" b="1">
                <a:solidFill>
                  <a:srgbClr val="050507"/>
                </a:solidFill>
                <a:latin typeface="+mn-ea"/>
                <a:sym typeface="Symbol" panose="05050102010706020507" pitchFamily="18" charset="2"/>
              </a:rPr>
              <a:t>abbcde</a:t>
            </a:r>
            <a:r>
              <a:rPr lang="zh-CN" altLang="en-US" sz="2400" b="1">
                <a:solidFill>
                  <a:srgbClr val="050507"/>
                </a:solidFill>
                <a:latin typeface="+mn-ea"/>
                <a:sym typeface="Symbol" panose="05050102010706020507" pitchFamily="18" charset="2"/>
              </a:rPr>
              <a:t>的</a:t>
            </a:r>
            <a:r>
              <a:rPr lang="zh-CN" altLang="en-US" sz="2400" b="1">
                <a:solidFill>
                  <a:srgbClr val="050507"/>
                </a:solidFill>
                <a:latin typeface="+mn-ea"/>
              </a:rPr>
              <a:t>规范（最右）推导：</a:t>
            </a:r>
            <a:endParaRPr lang="en-US" altLang="zh-CN" sz="2400" b="1">
              <a:solidFill>
                <a:srgbClr val="050507"/>
              </a:solidFill>
              <a:latin typeface="+mn-ea"/>
            </a:endParaRPr>
          </a:p>
        </p:txBody>
      </p:sp>
      <p:sp>
        <p:nvSpPr>
          <p:cNvPr id="33" name="Text Box 30"/>
          <p:cNvSpPr txBox="1">
            <a:spLocks noChangeArrowheads="1"/>
          </p:cNvSpPr>
          <p:nvPr>
            <p:custDataLst>
              <p:tags r:id="rId19"/>
            </p:custDataLst>
          </p:nvPr>
        </p:nvSpPr>
        <p:spPr bwMode="auto">
          <a:xfrm>
            <a:off x="1480820" y="4356455"/>
            <a:ext cx="8610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buFont typeface="Wingdings" panose="05000000000000000000" pitchFamily="2" charset="2"/>
              <a:buChar char="ü"/>
            </a:pPr>
            <a:r>
              <a:rPr lang="zh-CN" altLang="en-US" sz="2400" b="1" dirty="0">
                <a:solidFill>
                  <a:srgbClr val="0070C0"/>
                </a:solidFill>
                <a:latin typeface="+mn-ea"/>
              </a:rPr>
              <a:t>规范归约</a:t>
            </a:r>
            <a:r>
              <a:rPr lang="zh-CN" altLang="en-US" sz="2400" b="1" dirty="0">
                <a:solidFill>
                  <a:srgbClr val="050507"/>
                </a:solidFill>
                <a:latin typeface="+mn-ea"/>
              </a:rPr>
              <a:t>是规范推导的逆过程：</a:t>
            </a:r>
            <a:endParaRPr lang="zh-CN" altLang="en-US" sz="2400" b="1" dirty="0">
              <a:solidFill>
                <a:srgbClr val="050507"/>
              </a:solidFill>
              <a:latin typeface="+mn-ea"/>
            </a:endParaRPr>
          </a:p>
        </p:txBody>
      </p:sp>
      <p:grpSp>
        <p:nvGrpSpPr>
          <p:cNvPr id="34" name="Group 50"/>
          <p:cNvGrpSpPr/>
          <p:nvPr/>
        </p:nvGrpSpPr>
        <p:grpSpPr bwMode="auto">
          <a:xfrm>
            <a:off x="1645920" y="4863820"/>
            <a:ext cx="2362200" cy="688975"/>
            <a:chOff x="248" y="1920"/>
            <a:chExt cx="1488" cy="434"/>
          </a:xfrm>
        </p:grpSpPr>
        <p:sp>
          <p:nvSpPr>
            <p:cNvPr id="35" name="Text Box 31"/>
            <p:cNvSpPr txBox="1">
              <a:spLocks noChangeArrowheads="1"/>
            </p:cNvSpPr>
            <p:nvPr>
              <p:custDataLst>
                <p:tags r:id="rId20"/>
              </p:custDataLst>
            </p:nvPr>
          </p:nvSpPr>
          <p:spPr bwMode="auto">
            <a:xfrm>
              <a:off x="248" y="1920"/>
              <a:ext cx="14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dirty="0" err="1">
                  <a:latin typeface="+mn-ea"/>
                </a:rPr>
                <a:t>a</a:t>
              </a:r>
              <a:r>
                <a:rPr lang="en-US" altLang="zh-CN" sz="2400" b="1" dirty="0" err="1">
                  <a:solidFill>
                    <a:srgbClr val="0070C0"/>
                  </a:solidFill>
                  <a:latin typeface="+mn-ea"/>
                </a:rPr>
                <a:t>b</a:t>
              </a:r>
              <a:r>
                <a:rPr lang="en-US" altLang="zh-CN" sz="2400" b="1" dirty="0" err="1">
                  <a:latin typeface="+mn-ea"/>
                </a:rPr>
                <a:t>bcde</a:t>
              </a:r>
              <a:endParaRPr lang="en-US" altLang="zh-CN" sz="2400" b="1" dirty="0">
                <a:latin typeface="+mn-ea"/>
              </a:endParaRPr>
            </a:p>
          </p:txBody>
        </p:sp>
        <p:grpSp>
          <p:nvGrpSpPr>
            <p:cNvPr id="36" name="Group 32"/>
            <p:cNvGrpSpPr/>
            <p:nvPr/>
          </p:nvGrpSpPr>
          <p:grpSpPr bwMode="auto">
            <a:xfrm>
              <a:off x="1048" y="1920"/>
              <a:ext cx="384" cy="434"/>
              <a:chOff x="1248" y="1632"/>
              <a:chExt cx="384" cy="434"/>
            </a:xfrm>
          </p:grpSpPr>
          <p:sp>
            <p:nvSpPr>
              <p:cNvPr id="37" name="Text Box 33"/>
              <p:cNvSpPr txBox="1">
                <a:spLocks noChangeArrowheads="1"/>
              </p:cNvSpPr>
              <p:nvPr>
                <p:custDataLst>
                  <p:tags r:id="rId21"/>
                </p:custDataLst>
              </p:nvPr>
            </p:nvSpPr>
            <p:spPr bwMode="auto">
              <a:xfrm>
                <a:off x="1266" y="1776"/>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sp>
            <p:nvSpPr>
              <p:cNvPr id="38" name="Text Box 34"/>
              <p:cNvSpPr txBox="1">
                <a:spLocks noChangeArrowheads="1"/>
              </p:cNvSpPr>
              <p:nvPr>
                <p:custDataLst>
                  <p:tags r:id="rId22"/>
                </p:custDataLst>
              </p:nvPr>
            </p:nvSpPr>
            <p:spPr bwMode="auto">
              <a:xfrm>
                <a:off x="1248" y="1632"/>
                <a:ext cx="3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grpSp>
      </p:grpSp>
      <p:grpSp>
        <p:nvGrpSpPr>
          <p:cNvPr id="39" name="Group 51"/>
          <p:cNvGrpSpPr/>
          <p:nvPr/>
        </p:nvGrpSpPr>
        <p:grpSpPr bwMode="auto">
          <a:xfrm>
            <a:off x="3385820" y="4817782"/>
            <a:ext cx="2819400" cy="688975"/>
            <a:chOff x="1344" y="1891"/>
            <a:chExt cx="1776" cy="434"/>
          </a:xfrm>
        </p:grpSpPr>
        <p:sp>
          <p:nvSpPr>
            <p:cNvPr id="40" name="Text Box 35"/>
            <p:cNvSpPr txBox="1">
              <a:spLocks noChangeArrowheads="1"/>
            </p:cNvSpPr>
            <p:nvPr>
              <p:custDataLst>
                <p:tags r:id="rId23"/>
              </p:custDataLst>
            </p:nvPr>
          </p:nvSpPr>
          <p:spPr bwMode="auto">
            <a:xfrm>
              <a:off x="1344" y="1920"/>
              <a:ext cx="177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dirty="0" err="1">
                  <a:latin typeface="+mn-ea"/>
                </a:rPr>
                <a:t>a</a:t>
              </a:r>
              <a:r>
                <a:rPr lang="en-US" altLang="zh-CN" sz="2400" b="1" dirty="0" err="1">
                  <a:solidFill>
                    <a:srgbClr val="0070C0"/>
                  </a:solidFill>
                  <a:latin typeface="+mn-ea"/>
                </a:rPr>
                <a:t>Ab</a:t>
              </a:r>
              <a:r>
                <a:rPr lang="en-US" altLang="zh-CN" sz="2400" b="1" dirty="0" err="1">
                  <a:latin typeface="+mn-ea"/>
                </a:rPr>
                <a:t>cde</a:t>
              </a:r>
              <a:endParaRPr lang="en-US" altLang="zh-CN" sz="2400" b="1" dirty="0">
                <a:latin typeface="+mn-ea"/>
              </a:endParaRPr>
            </a:p>
          </p:txBody>
        </p:sp>
        <p:grpSp>
          <p:nvGrpSpPr>
            <p:cNvPr id="41" name="Group 36"/>
            <p:cNvGrpSpPr/>
            <p:nvPr/>
          </p:nvGrpSpPr>
          <p:grpSpPr bwMode="auto">
            <a:xfrm>
              <a:off x="2160" y="1891"/>
              <a:ext cx="384" cy="434"/>
              <a:chOff x="1248" y="1632"/>
              <a:chExt cx="384" cy="434"/>
            </a:xfrm>
          </p:grpSpPr>
          <p:sp>
            <p:nvSpPr>
              <p:cNvPr id="42" name="Text Box 37"/>
              <p:cNvSpPr txBox="1">
                <a:spLocks noChangeArrowheads="1"/>
              </p:cNvSpPr>
              <p:nvPr>
                <p:custDataLst>
                  <p:tags r:id="rId24"/>
                </p:custDataLst>
              </p:nvPr>
            </p:nvSpPr>
            <p:spPr bwMode="auto">
              <a:xfrm>
                <a:off x="1266" y="1776"/>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sp>
            <p:nvSpPr>
              <p:cNvPr id="93" name="Text Box 38"/>
              <p:cNvSpPr txBox="1">
                <a:spLocks noChangeArrowheads="1"/>
              </p:cNvSpPr>
              <p:nvPr>
                <p:custDataLst>
                  <p:tags r:id="rId25"/>
                </p:custDataLst>
              </p:nvPr>
            </p:nvSpPr>
            <p:spPr bwMode="auto">
              <a:xfrm>
                <a:off x="1248" y="1632"/>
                <a:ext cx="3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grpSp>
      </p:grpSp>
      <p:grpSp>
        <p:nvGrpSpPr>
          <p:cNvPr id="94" name="Group 52"/>
          <p:cNvGrpSpPr/>
          <p:nvPr/>
        </p:nvGrpSpPr>
        <p:grpSpPr bwMode="auto">
          <a:xfrm>
            <a:off x="5214620" y="4817782"/>
            <a:ext cx="2057400" cy="688975"/>
            <a:chOff x="2496" y="1891"/>
            <a:chExt cx="1296" cy="434"/>
          </a:xfrm>
        </p:grpSpPr>
        <p:sp>
          <p:nvSpPr>
            <p:cNvPr id="95" name="Text Box 39"/>
            <p:cNvSpPr txBox="1">
              <a:spLocks noChangeArrowheads="1"/>
            </p:cNvSpPr>
            <p:nvPr>
              <p:custDataLst>
                <p:tags r:id="rId26"/>
              </p:custDataLst>
            </p:nvPr>
          </p:nvSpPr>
          <p:spPr bwMode="auto">
            <a:xfrm>
              <a:off x="2496" y="1920"/>
              <a:ext cx="129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dirty="0" err="1">
                  <a:latin typeface="+mn-ea"/>
                </a:rPr>
                <a:t>aAc</a:t>
              </a:r>
              <a:r>
                <a:rPr lang="en-US" altLang="zh-CN" sz="2400" b="1" dirty="0" err="1">
                  <a:solidFill>
                    <a:srgbClr val="0070C0"/>
                  </a:solidFill>
                  <a:latin typeface="+mn-ea"/>
                </a:rPr>
                <a:t>d</a:t>
              </a:r>
              <a:r>
                <a:rPr lang="en-US" altLang="zh-CN" sz="2400" b="1" dirty="0" err="1">
                  <a:latin typeface="+mn-ea"/>
                </a:rPr>
                <a:t>e</a:t>
              </a:r>
              <a:endParaRPr lang="en-US" altLang="zh-CN" sz="2400" b="1" dirty="0">
                <a:latin typeface="+mn-ea"/>
              </a:endParaRPr>
            </a:p>
          </p:txBody>
        </p:sp>
        <p:grpSp>
          <p:nvGrpSpPr>
            <p:cNvPr id="96" name="Group 40"/>
            <p:cNvGrpSpPr/>
            <p:nvPr/>
          </p:nvGrpSpPr>
          <p:grpSpPr bwMode="auto">
            <a:xfrm>
              <a:off x="3168" y="1891"/>
              <a:ext cx="384" cy="434"/>
              <a:chOff x="1248" y="1632"/>
              <a:chExt cx="384" cy="434"/>
            </a:xfrm>
          </p:grpSpPr>
          <p:sp>
            <p:nvSpPr>
              <p:cNvPr id="97" name="Text Box 41"/>
              <p:cNvSpPr txBox="1">
                <a:spLocks noChangeArrowheads="1"/>
              </p:cNvSpPr>
              <p:nvPr>
                <p:custDataLst>
                  <p:tags r:id="rId27"/>
                </p:custDataLst>
              </p:nvPr>
            </p:nvSpPr>
            <p:spPr bwMode="auto">
              <a:xfrm>
                <a:off x="1266" y="1776"/>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sp>
            <p:nvSpPr>
              <p:cNvPr id="98" name="Text Box 42"/>
              <p:cNvSpPr txBox="1">
                <a:spLocks noChangeArrowheads="1"/>
              </p:cNvSpPr>
              <p:nvPr>
                <p:custDataLst>
                  <p:tags r:id="rId28"/>
                </p:custDataLst>
              </p:nvPr>
            </p:nvSpPr>
            <p:spPr bwMode="auto">
              <a:xfrm>
                <a:off x="1248" y="1632"/>
                <a:ext cx="3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grpSp>
      </p:grpSp>
      <p:grpSp>
        <p:nvGrpSpPr>
          <p:cNvPr id="99" name="Group 53"/>
          <p:cNvGrpSpPr/>
          <p:nvPr/>
        </p:nvGrpSpPr>
        <p:grpSpPr bwMode="auto">
          <a:xfrm>
            <a:off x="6751321" y="4741582"/>
            <a:ext cx="1752600" cy="688975"/>
            <a:chOff x="3464" y="1843"/>
            <a:chExt cx="1104" cy="434"/>
          </a:xfrm>
        </p:grpSpPr>
        <p:sp>
          <p:nvSpPr>
            <p:cNvPr id="100" name="Text Box 43"/>
            <p:cNvSpPr txBox="1">
              <a:spLocks noChangeArrowheads="1"/>
            </p:cNvSpPr>
            <p:nvPr>
              <p:custDataLst>
                <p:tags r:id="rId29"/>
              </p:custDataLst>
            </p:nvPr>
          </p:nvSpPr>
          <p:spPr bwMode="auto">
            <a:xfrm>
              <a:off x="3464" y="1891"/>
              <a:ext cx="11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dirty="0" err="1">
                  <a:solidFill>
                    <a:srgbClr val="0070C0"/>
                  </a:solidFill>
                  <a:latin typeface="+mn-ea"/>
                </a:rPr>
                <a:t>aAcBe</a:t>
              </a:r>
              <a:endParaRPr lang="en-US" altLang="zh-CN" sz="2400" b="1" dirty="0">
                <a:solidFill>
                  <a:srgbClr val="0070C0"/>
                </a:solidFill>
                <a:latin typeface="+mn-ea"/>
              </a:endParaRPr>
            </a:p>
          </p:txBody>
        </p:sp>
        <p:grpSp>
          <p:nvGrpSpPr>
            <p:cNvPr id="101" name="Group 44"/>
            <p:cNvGrpSpPr/>
            <p:nvPr/>
          </p:nvGrpSpPr>
          <p:grpSpPr bwMode="auto">
            <a:xfrm>
              <a:off x="4144" y="1843"/>
              <a:ext cx="384" cy="434"/>
              <a:chOff x="1248" y="1632"/>
              <a:chExt cx="384" cy="434"/>
            </a:xfrm>
          </p:grpSpPr>
          <p:sp>
            <p:nvSpPr>
              <p:cNvPr id="102" name="Text Box 45"/>
              <p:cNvSpPr txBox="1">
                <a:spLocks noChangeArrowheads="1"/>
              </p:cNvSpPr>
              <p:nvPr>
                <p:custDataLst>
                  <p:tags r:id="rId30"/>
                </p:custDataLst>
              </p:nvPr>
            </p:nvSpPr>
            <p:spPr bwMode="auto">
              <a:xfrm>
                <a:off x="1266" y="1776"/>
                <a:ext cx="2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sp>
            <p:nvSpPr>
              <p:cNvPr id="103" name="Text Box 46"/>
              <p:cNvSpPr txBox="1">
                <a:spLocks noChangeArrowheads="1"/>
              </p:cNvSpPr>
              <p:nvPr>
                <p:custDataLst>
                  <p:tags r:id="rId31"/>
                </p:custDataLst>
              </p:nvPr>
            </p:nvSpPr>
            <p:spPr bwMode="auto">
              <a:xfrm>
                <a:off x="1248" y="1632"/>
                <a:ext cx="3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latin typeface="+mn-ea"/>
                    <a:sym typeface="Symbol" panose="05050102010706020507" pitchFamily="18" charset="2"/>
                  </a:rPr>
                  <a:t></a:t>
                </a:r>
                <a:endParaRPr lang="zh-CN" altLang="en-US" sz="2400" b="1">
                  <a:latin typeface="+mn-ea"/>
                </a:endParaRPr>
              </a:p>
            </p:txBody>
          </p:sp>
        </p:grpSp>
      </p:grpSp>
      <p:sp>
        <p:nvSpPr>
          <p:cNvPr id="104" name="Text Box 47"/>
          <p:cNvSpPr txBox="1">
            <a:spLocks noChangeArrowheads="1"/>
          </p:cNvSpPr>
          <p:nvPr>
            <p:custDataLst>
              <p:tags r:id="rId32"/>
            </p:custDataLst>
          </p:nvPr>
        </p:nvSpPr>
        <p:spPr bwMode="auto">
          <a:xfrm>
            <a:off x="8529320" y="4817782"/>
            <a:ext cx="1281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latin typeface="+mn-ea"/>
              </a:rPr>
              <a:t>S</a:t>
            </a:r>
            <a:endParaRPr lang="en-US" altLang="zh-CN" sz="2400" b="1">
              <a:latin typeface="+mn-ea"/>
            </a:endParaRPr>
          </a:p>
        </p:txBody>
      </p:sp>
      <p:sp>
        <p:nvSpPr>
          <p:cNvPr id="105" name="Rectangle 48"/>
          <p:cNvSpPr>
            <a:spLocks noChangeArrowheads="1"/>
          </p:cNvSpPr>
          <p:nvPr>
            <p:custDataLst>
              <p:tags r:id="rId33"/>
            </p:custDataLst>
          </p:nvPr>
        </p:nvSpPr>
        <p:spPr bwMode="auto">
          <a:xfrm>
            <a:off x="1480820" y="2738475"/>
            <a:ext cx="838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400" b="1">
                <a:solidFill>
                  <a:srgbClr val="050507"/>
                </a:solidFill>
                <a:latin typeface="+mn-ea"/>
              </a:rPr>
              <a:t>对于文法</a:t>
            </a:r>
            <a:r>
              <a:rPr lang="en-US" altLang="zh-CN" sz="2400" b="1">
                <a:solidFill>
                  <a:srgbClr val="050507"/>
                </a:solidFill>
                <a:latin typeface="+mn-ea"/>
              </a:rPr>
              <a:t>G[S]:S</a:t>
            </a:r>
            <a:r>
              <a:rPr lang="en-US" altLang="zh-CN" sz="2400" b="1">
                <a:solidFill>
                  <a:srgbClr val="050507"/>
                </a:solidFill>
                <a:latin typeface="+mn-ea"/>
                <a:sym typeface="Symbol" panose="05050102010706020507" pitchFamily="18" charset="2"/>
              </a:rPr>
              <a:t>aAcBe    Ab   AAb    Bd</a:t>
            </a:r>
            <a:endParaRPr lang="en-US" altLang="zh-CN" sz="2400" b="1">
              <a:solidFill>
                <a:srgbClr val="050507"/>
              </a:solidFill>
              <a:latin typeface="+mn-ea"/>
              <a:sym typeface="Symbol" panose="05050102010706020507" pitchFamily="18" charset="2"/>
            </a:endParaRPr>
          </a:p>
        </p:txBody>
      </p:sp>
      <p:sp>
        <p:nvSpPr>
          <p:cNvPr id="106" name="文本框 105"/>
          <p:cNvSpPr txBox="1"/>
          <p:nvPr/>
        </p:nvSpPr>
        <p:spPr>
          <a:xfrm>
            <a:off x="1252220" y="5615940"/>
            <a:ext cx="8279765" cy="521970"/>
          </a:xfrm>
          <a:prstGeom prst="rect">
            <a:avLst/>
          </a:prstGeom>
          <a:noFill/>
        </p:spPr>
        <p:txBody>
          <a:bodyPr wrap="square" rtlCol="0" anchor="t">
            <a:spAutoFit/>
          </a:bodyPr>
          <a:p>
            <a:r>
              <a:rPr lang="zh-CN" altLang="en-US" sz="2800" b="1" dirty="0">
                <a:solidFill>
                  <a:srgbClr val="010000"/>
                </a:solidFill>
                <a:latin typeface="+mn-ea"/>
                <a:sym typeface="+mn-ea"/>
              </a:rPr>
              <a:t>本章将每次</a:t>
            </a:r>
            <a:r>
              <a:rPr lang="zh-CN" altLang="en-US" sz="2800" b="1" dirty="0">
                <a:solidFill>
                  <a:srgbClr val="0070C0"/>
                </a:solidFill>
                <a:latin typeface="+mn-ea"/>
                <a:sym typeface="+mn-ea"/>
              </a:rPr>
              <a:t>规约的子串</a:t>
            </a:r>
            <a:r>
              <a:rPr lang="zh-CN" altLang="en-US" sz="2800" b="1" dirty="0">
                <a:solidFill>
                  <a:srgbClr val="010000"/>
                </a:solidFill>
                <a:latin typeface="+mn-ea"/>
                <a:sym typeface="+mn-ea"/>
              </a:rPr>
              <a:t>称为</a:t>
            </a:r>
            <a:r>
              <a:rPr lang="zh-CN" altLang="en-US" sz="2800" b="1" dirty="0">
                <a:solidFill>
                  <a:srgbClr val="0070C0"/>
                </a:solidFill>
                <a:latin typeface="+mn-ea"/>
                <a:sym typeface="+mn-ea"/>
              </a:rPr>
              <a:t>句柄</a:t>
            </a:r>
            <a:endParaRPr lang="zh-CN" altLang="en-US" sz="2800" b="1" dirty="0">
              <a:solidFill>
                <a:srgbClr val="0070C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trips(down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strips(down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strips(downLeft)">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strips(downLeft)">
                                      <p:cBhvr>
                                        <p:cTn id="27" dur="500"/>
                                        <p:tgtEl>
                                          <p:spTgt spid="9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04"/>
                                        </p:tgtEl>
                                        <p:attrNameLst>
                                          <p:attrName>style.visibility</p:attrName>
                                        </p:attrNameLst>
                                      </p:cBhvr>
                                      <p:to>
                                        <p:strVal val="visible"/>
                                      </p:to>
                                    </p:set>
                                    <p:animEffect transition="in" filter="strips(downLeft)">
                                      <p:cBhvr>
                                        <p:cTn id="32" dur="500"/>
                                        <p:tgtEl>
                                          <p:spTgt spid="104"/>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6" grpId="0"/>
      <p:bldP spid="106"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368935" y="1514475"/>
            <a:ext cx="5026025" cy="4939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fontAlgn="auto">
              <a:lnSpc>
                <a:spcPct val="125000"/>
              </a:lnSpc>
              <a:spcBef>
                <a:spcPts val="0"/>
              </a:spcBef>
              <a:buClr>
                <a:srgbClr val="F4007A"/>
              </a:buClr>
              <a:buSzPct val="65000"/>
              <a:buFont typeface="Wingdings" panose="05000000000000000000" pitchFamily="2" charset="2"/>
              <a:buChar char="l"/>
            </a:pPr>
            <a:r>
              <a:rPr lang="zh-CN" altLang="en-US" sz="2800" b="1" dirty="0">
                <a:solidFill>
                  <a:srgbClr val="020001"/>
                </a:solidFill>
                <a:latin typeface="+mn-ea"/>
              </a:rPr>
              <a:t>句型</a:t>
            </a:r>
            <a:r>
              <a:rPr lang="en-US" altLang="zh-CN" sz="2800" b="1" dirty="0">
                <a:solidFill>
                  <a:srgbClr val="020001"/>
                </a:solidFill>
                <a:latin typeface="+mn-ea"/>
              </a:rPr>
              <a:t>αβδ</a:t>
            </a:r>
            <a:r>
              <a:rPr lang="zh-CN" altLang="en-US" sz="2800" b="1" dirty="0">
                <a:solidFill>
                  <a:srgbClr val="020001"/>
                </a:solidFill>
                <a:latin typeface="+mn-ea"/>
              </a:rPr>
              <a:t>的</a:t>
            </a:r>
            <a:r>
              <a:rPr lang="zh-CN" altLang="en-US" sz="2800" b="1" dirty="0">
                <a:solidFill>
                  <a:srgbClr val="F4007A"/>
                </a:solidFill>
                <a:latin typeface="+mn-ea"/>
              </a:rPr>
              <a:t>直接短语：</a:t>
            </a:r>
            <a:r>
              <a:rPr lang="zh-CN" altLang="en-US" sz="2800" b="1" dirty="0">
                <a:solidFill>
                  <a:srgbClr val="020001"/>
                </a:solidFill>
                <a:latin typeface="+mn-ea"/>
              </a:rPr>
              <a:t>若有</a:t>
            </a:r>
            <a:r>
              <a:rPr lang="en-US" altLang="zh-CN" sz="2800" b="1" dirty="0">
                <a:solidFill>
                  <a:srgbClr val="020001"/>
                </a:solidFill>
                <a:latin typeface="+mn-ea"/>
              </a:rPr>
              <a:t>S </a:t>
            </a:r>
            <a:r>
              <a:rPr lang="en-US" altLang="zh-CN" sz="2800" b="1" dirty="0">
                <a:solidFill>
                  <a:srgbClr val="020001"/>
                </a:solidFill>
                <a:latin typeface="+mn-ea"/>
                <a:sym typeface="Symbol" panose="05050102010706020507" pitchFamily="18" charset="2"/>
              </a:rPr>
              <a:t>=&gt;*</a:t>
            </a:r>
            <a:r>
              <a:rPr lang="en-US" altLang="zh-CN" sz="2800" b="1" dirty="0">
                <a:solidFill>
                  <a:srgbClr val="020001"/>
                </a:solidFill>
                <a:latin typeface="+mn-ea"/>
              </a:rPr>
              <a:t>α</a:t>
            </a:r>
            <a:r>
              <a:rPr lang="en-US" altLang="zh-CN" sz="2800" b="1" dirty="0" err="1">
                <a:solidFill>
                  <a:srgbClr val="020001"/>
                </a:solidFill>
                <a:latin typeface="+mn-ea"/>
              </a:rPr>
              <a:t>Aδ</a:t>
            </a:r>
            <a:r>
              <a:rPr lang="en-US" altLang="zh-CN" sz="2800" b="1" dirty="0">
                <a:solidFill>
                  <a:srgbClr val="020001"/>
                </a:solidFill>
                <a:latin typeface="+mn-ea"/>
              </a:rPr>
              <a:t> </a:t>
            </a:r>
            <a:r>
              <a:rPr lang="en-US" altLang="zh-CN" sz="2800" b="1" dirty="0">
                <a:solidFill>
                  <a:srgbClr val="020001"/>
                </a:solidFill>
                <a:latin typeface="+mn-ea"/>
                <a:sym typeface="Symbol" panose="05050102010706020507" pitchFamily="18" charset="2"/>
              </a:rPr>
              <a:t></a:t>
            </a:r>
            <a:r>
              <a:rPr lang="en-US" altLang="zh-CN" sz="2800" b="1" dirty="0">
                <a:solidFill>
                  <a:srgbClr val="020001"/>
                </a:solidFill>
                <a:latin typeface="+mn-ea"/>
              </a:rPr>
              <a:t>α</a:t>
            </a:r>
            <a:r>
              <a:rPr lang="en-US" altLang="zh-CN" sz="2800" b="1" dirty="0">
                <a:solidFill>
                  <a:srgbClr val="FF3399"/>
                </a:solidFill>
                <a:latin typeface="+mn-ea"/>
              </a:rPr>
              <a:t>β</a:t>
            </a:r>
            <a:r>
              <a:rPr lang="en-US" altLang="zh-CN" sz="2800" b="1" dirty="0">
                <a:solidFill>
                  <a:srgbClr val="020001"/>
                </a:solidFill>
                <a:latin typeface="+mn-ea"/>
              </a:rPr>
              <a:t>δ，α、β δ</a:t>
            </a:r>
            <a:r>
              <a:rPr lang="en-US" altLang="zh-CN" sz="2800" b="1" dirty="0">
                <a:solidFill>
                  <a:srgbClr val="020001"/>
                </a:solidFill>
                <a:latin typeface="+mn-ea"/>
                <a:sym typeface="Symbol" panose="05050102010706020507" pitchFamily="18" charset="2"/>
              </a:rPr>
              <a:t>(V</a:t>
            </a:r>
            <a:r>
              <a:rPr lang="en-US" altLang="zh-CN" sz="2800" b="1" baseline="-25000" dirty="0">
                <a:solidFill>
                  <a:srgbClr val="020001"/>
                </a:solidFill>
                <a:latin typeface="+mn-ea"/>
                <a:sym typeface="Symbol" panose="05050102010706020507" pitchFamily="18" charset="2"/>
              </a:rPr>
              <a:t>N</a:t>
            </a:r>
            <a:r>
              <a:rPr lang="en-US" altLang="zh-CN" sz="2800" b="1" dirty="0">
                <a:solidFill>
                  <a:srgbClr val="020001"/>
                </a:solidFill>
                <a:latin typeface="+mn-ea"/>
                <a:sym typeface="Symbol" panose="05050102010706020507" pitchFamily="18" charset="2"/>
              </a:rPr>
              <a:t>V</a:t>
            </a:r>
            <a:r>
              <a:rPr lang="en-US" altLang="zh-CN" sz="2800" b="1" baseline="-25000" dirty="0">
                <a:solidFill>
                  <a:srgbClr val="020001"/>
                </a:solidFill>
                <a:latin typeface="+mn-ea"/>
                <a:sym typeface="Symbol" panose="05050102010706020507" pitchFamily="18" charset="2"/>
              </a:rPr>
              <a:t>T</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 </a:t>
            </a:r>
            <a:r>
              <a:rPr lang="en-US" altLang="zh-CN" sz="2800" b="1" dirty="0">
                <a:solidFill>
                  <a:srgbClr val="020001"/>
                </a:solidFill>
                <a:latin typeface="+mn-ea"/>
                <a:sym typeface="Symbol" panose="05050102010706020507" pitchFamily="18" charset="2"/>
              </a:rPr>
              <a:t>A</a:t>
            </a:r>
            <a:r>
              <a:rPr lang="zh-CN" altLang="en-US"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V</a:t>
            </a:r>
            <a:r>
              <a:rPr lang="en-US" altLang="zh-CN" sz="2800" b="1" baseline="-25000" dirty="0">
                <a:solidFill>
                  <a:srgbClr val="020001"/>
                </a:solidFill>
                <a:latin typeface="+mn-ea"/>
                <a:sym typeface="Symbol" panose="05050102010706020507" pitchFamily="18" charset="2"/>
              </a:rPr>
              <a:t>N</a:t>
            </a:r>
            <a:r>
              <a:rPr lang="zh-CN" altLang="en-US" sz="2800" b="1" baseline="-25000" dirty="0">
                <a:solidFill>
                  <a:srgbClr val="020001"/>
                </a:solidFill>
                <a:latin typeface="+mn-ea"/>
                <a:sym typeface="Symbol" panose="05050102010706020507" pitchFamily="18" charset="2"/>
              </a:rPr>
              <a:t>，</a:t>
            </a:r>
            <a:r>
              <a:rPr lang="zh-CN" altLang="en-US" sz="2800" b="1" dirty="0">
                <a:solidFill>
                  <a:srgbClr val="020001"/>
                </a:solidFill>
                <a:latin typeface="+mn-ea"/>
              </a:rPr>
              <a:t>则称</a:t>
            </a:r>
            <a:r>
              <a:rPr lang="en-US" altLang="zh-CN" sz="2800" b="1" dirty="0">
                <a:solidFill>
                  <a:srgbClr val="FF3399"/>
                </a:solidFill>
                <a:latin typeface="+mn-ea"/>
              </a:rPr>
              <a:t>β</a:t>
            </a:r>
            <a:r>
              <a:rPr lang="zh-CN" altLang="en-US" sz="2800" b="1" dirty="0">
                <a:solidFill>
                  <a:srgbClr val="020001"/>
                </a:solidFill>
                <a:latin typeface="+mn-ea"/>
              </a:rPr>
              <a:t>是句型</a:t>
            </a:r>
            <a:r>
              <a:rPr lang="en-US" altLang="zh-CN" sz="2800" b="1" dirty="0">
                <a:solidFill>
                  <a:srgbClr val="020001"/>
                </a:solidFill>
                <a:latin typeface="+mn-ea"/>
              </a:rPr>
              <a:t>αβδ</a:t>
            </a:r>
            <a:r>
              <a:rPr lang="zh-CN" altLang="en-US" sz="2800" b="1" dirty="0">
                <a:solidFill>
                  <a:srgbClr val="020001"/>
                </a:solidFill>
                <a:latin typeface="+mn-ea"/>
              </a:rPr>
              <a:t>相对于非终结符</a:t>
            </a:r>
            <a:r>
              <a:rPr lang="en-US" altLang="zh-CN" sz="2800" b="1" dirty="0">
                <a:solidFill>
                  <a:srgbClr val="020001"/>
                </a:solidFill>
                <a:latin typeface="+mn-ea"/>
              </a:rPr>
              <a:t>A </a:t>
            </a:r>
            <a:r>
              <a:rPr lang="zh-CN" altLang="en-US" sz="2800" b="1" dirty="0">
                <a:solidFill>
                  <a:srgbClr val="020001"/>
                </a:solidFill>
                <a:latin typeface="+mn-ea"/>
              </a:rPr>
              <a:t>的</a:t>
            </a:r>
            <a:r>
              <a:rPr lang="zh-CN" altLang="en-US" sz="2800" b="1" dirty="0">
                <a:solidFill>
                  <a:srgbClr val="020001"/>
                </a:solidFill>
                <a:latin typeface="+mn-ea"/>
                <a:hlinkClick r:id="rId1" action="ppaction://hlinksldjump"/>
              </a:rPr>
              <a:t>直接短语</a:t>
            </a:r>
            <a:r>
              <a:rPr lang="zh-CN" altLang="en-US" sz="2800" b="1" dirty="0">
                <a:solidFill>
                  <a:srgbClr val="020001"/>
                </a:solidFill>
                <a:latin typeface="+mn-ea"/>
              </a:rPr>
              <a:t>;</a:t>
            </a:r>
            <a:endParaRPr lang="zh-CN" altLang="en-US" sz="2800" b="1" dirty="0">
              <a:solidFill>
                <a:srgbClr val="020001"/>
              </a:solidFill>
              <a:latin typeface="+mn-ea"/>
            </a:endParaRPr>
          </a:p>
          <a:p>
            <a:pPr marL="457200" indent="-457200" fontAlgn="auto">
              <a:lnSpc>
                <a:spcPct val="125000"/>
              </a:lnSpc>
              <a:spcBef>
                <a:spcPts val="0"/>
              </a:spcBef>
              <a:buClr>
                <a:srgbClr val="F4007A"/>
              </a:buClr>
              <a:buSzPct val="65000"/>
              <a:buFont typeface="Wingdings" panose="05000000000000000000" pitchFamily="2" charset="2"/>
              <a:buChar char="l"/>
            </a:pPr>
            <a:r>
              <a:rPr lang="zh-CN" altLang="en-US" sz="2800" b="1" dirty="0">
                <a:solidFill>
                  <a:srgbClr val="020001"/>
                </a:solidFill>
                <a:latin typeface="+mn-ea"/>
                <a:sym typeface="+mn-ea"/>
              </a:rPr>
              <a:t>句型</a:t>
            </a:r>
            <a:r>
              <a:rPr lang="en-US" altLang="zh-CN" sz="2800" b="1" dirty="0">
                <a:solidFill>
                  <a:srgbClr val="020001"/>
                </a:solidFill>
                <a:latin typeface="+mn-ea"/>
                <a:sym typeface="+mn-ea"/>
              </a:rPr>
              <a:t>αβδ</a:t>
            </a:r>
            <a:r>
              <a:rPr lang="zh-CN" altLang="en-US" sz="2800" b="1" dirty="0">
                <a:solidFill>
                  <a:srgbClr val="020001"/>
                </a:solidFill>
                <a:latin typeface="+mn-ea"/>
                <a:sym typeface="+mn-ea"/>
              </a:rPr>
              <a:t>的</a:t>
            </a:r>
            <a:r>
              <a:rPr lang="zh-CN" altLang="en-US" sz="2800" b="1" dirty="0">
                <a:solidFill>
                  <a:srgbClr val="F4007A"/>
                </a:solidFill>
                <a:latin typeface="+mn-ea"/>
                <a:sym typeface="+mn-ea"/>
              </a:rPr>
              <a:t>句柄：</a:t>
            </a:r>
            <a:r>
              <a:rPr lang="zh-CN" altLang="en-US" sz="2800" b="1" dirty="0">
                <a:solidFill>
                  <a:srgbClr val="020001"/>
                </a:solidFill>
                <a:latin typeface="+mn-ea"/>
                <a:sym typeface="+mn-ea"/>
              </a:rPr>
              <a:t>句型的最左直接短语（在</a:t>
            </a:r>
            <a:r>
              <a:rPr lang="zh-CN" altLang="en-US" sz="2800" b="1" dirty="0">
                <a:latin typeface="+mn-ea"/>
                <a:sym typeface="+mn-ea"/>
              </a:rPr>
              <a:t>规范推导中，最先被归约的子串），</a:t>
            </a:r>
            <a:r>
              <a:rPr lang="zh-CN" altLang="en-US" sz="2800" b="1" dirty="0">
                <a:solidFill>
                  <a:srgbClr val="020001"/>
                </a:solidFill>
                <a:latin typeface="+mn-ea"/>
                <a:sym typeface="+mn-ea"/>
              </a:rPr>
              <a:t>称为该句型的</a:t>
            </a:r>
            <a:r>
              <a:rPr lang="zh-CN" altLang="en-US" sz="2800" b="1" dirty="0">
                <a:solidFill>
                  <a:srgbClr val="020001"/>
                </a:solidFill>
                <a:latin typeface="+mn-ea"/>
                <a:sym typeface="+mn-ea"/>
                <a:hlinkClick r:id="rId1" action="ppaction://hlinksldjump"/>
              </a:rPr>
              <a:t>句柄</a:t>
            </a:r>
            <a:r>
              <a:rPr lang="zh-CN" altLang="en-US" sz="2800" b="1" dirty="0">
                <a:solidFill>
                  <a:srgbClr val="020001"/>
                </a:solidFill>
                <a:latin typeface="+mn-ea"/>
                <a:sym typeface="+mn-ea"/>
              </a:rPr>
              <a:t>;</a:t>
            </a:r>
            <a:endParaRPr lang="zh-CN" altLang="en-US" sz="2800" b="1" dirty="0">
              <a:solidFill>
                <a:srgbClr val="020001"/>
              </a:solidFill>
              <a:latin typeface="+mn-ea"/>
            </a:endParaRPr>
          </a:p>
        </p:txBody>
      </p:sp>
      <p:sp>
        <p:nvSpPr>
          <p:cNvPr id="6" name="Rectangle 3"/>
          <p:cNvSpPr>
            <a:spLocks noChangeArrowheads="1"/>
          </p:cNvSpPr>
          <p:nvPr/>
        </p:nvSpPr>
        <p:spPr bwMode="auto">
          <a:xfrm>
            <a:off x="428625" y="1068070"/>
            <a:ext cx="51479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accent2"/>
              </a:buClr>
              <a:buFont typeface="Monotype Sorts"/>
              <a:buNone/>
            </a:pPr>
            <a:r>
              <a:rPr lang="zh-CN" altLang="en-US" sz="3200" b="1" dirty="0">
                <a:solidFill>
                  <a:srgbClr val="020001"/>
                </a:solidFill>
                <a:latin typeface="+mn-ea"/>
              </a:rPr>
              <a:t>文法</a:t>
            </a:r>
            <a:r>
              <a:rPr lang="en-US" altLang="zh-CN" sz="3200" b="1" dirty="0">
                <a:solidFill>
                  <a:srgbClr val="020001"/>
                </a:solidFill>
                <a:latin typeface="+mn-ea"/>
              </a:rPr>
              <a:t>G[S]</a:t>
            </a:r>
            <a:endParaRPr lang="zh-CN" altLang="en-US" sz="3200" b="1" dirty="0">
              <a:solidFill>
                <a:srgbClr val="020001"/>
              </a:solidFill>
              <a:latin typeface="+mn-ea"/>
            </a:endParaRPr>
          </a:p>
        </p:txBody>
      </p:sp>
      <p:sp>
        <p:nvSpPr>
          <p:cNvPr id="2" name="灯片编号占位符 1"/>
          <p:cNvSpPr>
            <a:spLocks noGrp="1"/>
          </p:cNvSpPr>
          <p:nvPr>
            <p:ph type="sldNum" sz="quarter" idx="12"/>
          </p:nvPr>
        </p:nvSpPr>
        <p:spPr>
          <a:xfrm>
            <a:off x="8488045" y="6183631"/>
            <a:ext cx="2743200" cy="365125"/>
          </a:xfrm>
        </p:spPr>
        <p:txBody>
          <a:bodyPr/>
          <a:p>
            <a:fld id="{5A1A6423-77BD-D842-A714-25250E903C41}" type="slidenum">
              <a:rPr kumimoji="1" lang="zh-CN" altLang="en-US" sz="900" smtClean="0"/>
            </a:fld>
            <a:endParaRPr kumimoji="1" lang="zh-CN" altLang="en-US" sz="900"/>
          </a:p>
        </p:txBody>
      </p:sp>
      <p:sp>
        <p:nvSpPr>
          <p:cNvPr id="10" name="文本占位符 9"/>
          <p:cNvSpPr>
            <a:spLocks noGrp="1"/>
          </p:cNvSpPr>
          <p:nvPr>
            <p:ph type="body" sz="quarter" idx="14"/>
            <p:custDataLst>
              <p:tags r:id="rId2"/>
            </p:custDataLst>
          </p:nvPr>
        </p:nvSpPr>
        <p:spPr>
          <a:xfrm>
            <a:off x="608965" y="276860"/>
            <a:ext cx="7244080" cy="593090"/>
          </a:xfrm>
        </p:spPr>
        <p:txBody>
          <a:bodyPr/>
          <a:p>
            <a:r>
              <a:rPr lang="en-US" altLang="zh-CN" dirty="0"/>
              <a:t>4.1 </a:t>
            </a:r>
            <a:r>
              <a:rPr lang="zh-CN" altLang="en-US" dirty="0"/>
              <a:t>自下而上的语法分析概览</a:t>
            </a:r>
            <a:endParaRPr lang="zh-CN" altLang="en-US" dirty="0"/>
          </a:p>
        </p:txBody>
      </p:sp>
      <p:sp>
        <p:nvSpPr>
          <p:cNvPr id="40" name="Rectangle 3"/>
          <p:cNvSpPr>
            <a:spLocks noChangeArrowheads="1"/>
          </p:cNvSpPr>
          <p:nvPr/>
        </p:nvSpPr>
        <p:spPr bwMode="auto">
          <a:xfrm>
            <a:off x="7000875" y="1217930"/>
            <a:ext cx="1937385" cy="198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0" hangingPunct="0">
              <a:lnSpc>
                <a:spcPct val="110000"/>
              </a:lnSpc>
              <a:spcBef>
                <a:spcPct val="50000"/>
              </a:spcBef>
            </a:pPr>
            <a:r>
              <a:rPr lang="zh-CN" altLang="en-US" sz="2800" b="1" dirty="0">
                <a:solidFill>
                  <a:srgbClr val="020001"/>
                </a:solidFill>
                <a:latin typeface="+mn-ea"/>
                <a:ea typeface="+mn-ea"/>
              </a:rPr>
              <a:t>文法</a:t>
            </a:r>
            <a:r>
              <a:rPr lang="en-US" altLang="zh-CN" sz="2800" b="1" dirty="0">
                <a:solidFill>
                  <a:srgbClr val="020001"/>
                </a:solidFill>
                <a:latin typeface="+mn-ea"/>
                <a:ea typeface="+mn-ea"/>
              </a:rPr>
              <a:t>G[E]：E→E+T|T    T→T*F|F</a:t>
            </a:r>
            <a:br>
              <a:rPr lang="en-US" altLang="zh-CN" sz="2800" b="1" dirty="0">
                <a:solidFill>
                  <a:srgbClr val="020001"/>
                </a:solidFill>
                <a:latin typeface="+mn-ea"/>
                <a:ea typeface="+mn-ea"/>
              </a:rPr>
            </a:br>
            <a:r>
              <a:rPr lang="en-US" altLang="zh-CN" sz="2800" b="1" dirty="0">
                <a:solidFill>
                  <a:srgbClr val="020001"/>
                </a:solidFill>
                <a:latin typeface="+mn-ea"/>
                <a:ea typeface="+mn-ea"/>
              </a:rPr>
              <a:t>F→(E)|</a:t>
            </a:r>
            <a:r>
              <a:rPr lang="en-US" altLang="zh-CN" sz="2800" b="1" dirty="0" err="1">
                <a:solidFill>
                  <a:srgbClr val="020001"/>
                </a:solidFill>
                <a:latin typeface="+mn-ea"/>
                <a:ea typeface="+mn-ea"/>
              </a:rPr>
              <a:t>i</a:t>
            </a:r>
            <a:endParaRPr lang="en-US" altLang="zh-CN" sz="2800" b="1" dirty="0">
              <a:solidFill>
                <a:srgbClr val="020001"/>
              </a:solidFill>
              <a:latin typeface="+mn-ea"/>
              <a:ea typeface="+mn-ea"/>
            </a:endParaRPr>
          </a:p>
        </p:txBody>
      </p:sp>
      <p:grpSp>
        <p:nvGrpSpPr>
          <p:cNvPr id="13" name="Group 11"/>
          <p:cNvGrpSpPr/>
          <p:nvPr/>
        </p:nvGrpSpPr>
        <p:grpSpPr bwMode="auto">
          <a:xfrm>
            <a:off x="8710296" y="1067846"/>
            <a:ext cx="3048000" cy="3811049"/>
            <a:chOff x="3264" y="432"/>
            <a:chExt cx="2256" cy="2892"/>
          </a:xfrm>
        </p:grpSpPr>
        <p:sp>
          <p:nvSpPr>
            <p:cNvPr id="15" name="Rectangle 12"/>
            <p:cNvSpPr>
              <a:spLocks noChangeArrowheads="1"/>
            </p:cNvSpPr>
            <p:nvPr>
              <p:custDataLst>
                <p:tags r:id="rId3"/>
              </p:custDataLst>
            </p:nvPr>
          </p:nvSpPr>
          <p:spPr bwMode="auto">
            <a:xfrm>
              <a:off x="4320" y="432"/>
              <a:ext cx="39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E</a:t>
              </a:r>
              <a:endParaRPr lang="zh-CN" altLang="en-US" sz="2800" b="1">
                <a:solidFill>
                  <a:srgbClr val="020001"/>
                </a:solidFill>
                <a:latin typeface="+mn-ea"/>
              </a:endParaRPr>
            </a:p>
          </p:txBody>
        </p:sp>
        <p:sp>
          <p:nvSpPr>
            <p:cNvPr id="16" name="Line 13"/>
            <p:cNvSpPr>
              <a:spLocks noChangeShapeType="1"/>
            </p:cNvSpPr>
            <p:nvPr>
              <p:custDataLst>
                <p:tags r:id="rId4"/>
              </p:custDataLst>
            </p:nvPr>
          </p:nvSpPr>
          <p:spPr bwMode="auto">
            <a:xfrm flipH="1">
              <a:off x="4080" y="698"/>
              <a:ext cx="317" cy="21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17" name="Line 14"/>
            <p:cNvSpPr>
              <a:spLocks noChangeShapeType="1"/>
            </p:cNvSpPr>
            <p:nvPr>
              <p:custDataLst>
                <p:tags r:id="rId5"/>
              </p:custDataLst>
            </p:nvPr>
          </p:nvSpPr>
          <p:spPr bwMode="auto">
            <a:xfrm>
              <a:off x="4464" y="720"/>
              <a:ext cx="0" cy="273"/>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18" name="Line 15"/>
            <p:cNvSpPr>
              <a:spLocks noChangeShapeType="1"/>
            </p:cNvSpPr>
            <p:nvPr>
              <p:custDataLst>
                <p:tags r:id="rId6"/>
              </p:custDataLst>
            </p:nvPr>
          </p:nvSpPr>
          <p:spPr bwMode="auto">
            <a:xfrm>
              <a:off x="4567" y="698"/>
              <a:ext cx="424" cy="219"/>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19" name="Rectangle 16"/>
            <p:cNvSpPr>
              <a:spLocks noChangeArrowheads="1"/>
            </p:cNvSpPr>
            <p:nvPr>
              <p:custDataLst>
                <p:tags r:id="rId7"/>
              </p:custDataLst>
            </p:nvPr>
          </p:nvSpPr>
          <p:spPr bwMode="auto">
            <a:xfrm>
              <a:off x="3888" y="864"/>
              <a:ext cx="38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E</a:t>
              </a:r>
              <a:endParaRPr lang="zh-CN" altLang="en-US" sz="2800" b="1">
                <a:solidFill>
                  <a:srgbClr val="020001"/>
                </a:solidFill>
                <a:latin typeface="+mn-ea"/>
              </a:endParaRPr>
            </a:p>
          </p:txBody>
        </p:sp>
        <p:sp>
          <p:nvSpPr>
            <p:cNvPr id="20" name="Rectangle 17"/>
            <p:cNvSpPr>
              <a:spLocks noChangeArrowheads="1"/>
            </p:cNvSpPr>
            <p:nvPr>
              <p:custDataLst>
                <p:tags r:id="rId8"/>
              </p:custDataLst>
            </p:nvPr>
          </p:nvSpPr>
          <p:spPr bwMode="auto">
            <a:xfrm>
              <a:off x="4320" y="911"/>
              <a:ext cx="53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a:t>
              </a:r>
              <a:endParaRPr lang="zh-CN" altLang="en-US" sz="2800" b="1">
                <a:solidFill>
                  <a:srgbClr val="020001"/>
                </a:solidFill>
                <a:latin typeface="+mn-ea"/>
              </a:endParaRPr>
            </a:p>
          </p:txBody>
        </p:sp>
        <p:sp>
          <p:nvSpPr>
            <p:cNvPr id="21" name="Rectangle 18"/>
            <p:cNvSpPr>
              <a:spLocks noChangeArrowheads="1"/>
            </p:cNvSpPr>
            <p:nvPr>
              <p:custDataLst>
                <p:tags r:id="rId9"/>
              </p:custDataLst>
            </p:nvPr>
          </p:nvSpPr>
          <p:spPr bwMode="auto">
            <a:xfrm>
              <a:off x="4896" y="864"/>
              <a:ext cx="480"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T</a:t>
              </a:r>
              <a:endParaRPr lang="zh-CN" altLang="en-US" sz="2800" b="1">
                <a:solidFill>
                  <a:srgbClr val="020001"/>
                </a:solidFill>
                <a:latin typeface="+mn-ea"/>
              </a:endParaRPr>
            </a:p>
          </p:txBody>
        </p:sp>
        <p:sp>
          <p:nvSpPr>
            <p:cNvPr id="22" name="Line 19"/>
            <p:cNvSpPr>
              <a:spLocks noChangeShapeType="1"/>
            </p:cNvSpPr>
            <p:nvPr>
              <p:custDataLst>
                <p:tags r:id="rId10"/>
              </p:custDataLst>
            </p:nvPr>
          </p:nvSpPr>
          <p:spPr bwMode="auto">
            <a:xfrm>
              <a:off x="5040" y="1152"/>
              <a:ext cx="0" cy="32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23" name="Rectangle 20"/>
            <p:cNvSpPr>
              <a:spLocks noChangeArrowheads="1"/>
            </p:cNvSpPr>
            <p:nvPr>
              <p:custDataLst>
                <p:tags r:id="rId11"/>
              </p:custDataLst>
            </p:nvPr>
          </p:nvSpPr>
          <p:spPr bwMode="auto">
            <a:xfrm>
              <a:off x="4902" y="1452"/>
              <a:ext cx="47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F</a:t>
              </a:r>
              <a:endParaRPr lang="en-US" altLang="zh-CN" sz="2800" b="1">
                <a:solidFill>
                  <a:srgbClr val="020001"/>
                </a:solidFill>
                <a:latin typeface="+mn-ea"/>
              </a:endParaRPr>
            </a:p>
          </p:txBody>
        </p:sp>
        <p:sp>
          <p:nvSpPr>
            <p:cNvPr id="24" name="Rectangle 21"/>
            <p:cNvSpPr>
              <a:spLocks noChangeArrowheads="1"/>
            </p:cNvSpPr>
            <p:nvPr>
              <p:custDataLst>
                <p:tags r:id="rId12"/>
              </p:custDataLst>
            </p:nvPr>
          </p:nvSpPr>
          <p:spPr bwMode="auto">
            <a:xfrm>
              <a:off x="4944" y="1968"/>
              <a:ext cx="576"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i</a:t>
              </a:r>
              <a:r>
                <a:rPr lang="en-US" altLang="zh-CN" sz="2800" b="1" baseline="-25000">
                  <a:solidFill>
                    <a:srgbClr val="020001"/>
                  </a:solidFill>
                  <a:latin typeface="+mn-ea"/>
                </a:rPr>
                <a:t>3</a:t>
              </a:r>
              <a:endParaRPr lang="zh-CN" altLang="en-US" sz="2800" b="1" baseline="-25000">
                <a:solidFill>
                  <a:srgbClr val="020001"/>
                </a:solidFill>
                <a:latin typeface="+mn-ea"/>
              </a:endParaRPr>
            </a:p>
          </p:txBody>
        </p:sp>
        <p:sp>
          <p:nvSpPr>
            <p:cNvPr id="25" name="Line 22"/>
            <p:cNvSpPr>
              <a:spLocks noChangeShapeType="1"/>
            </p:cNvSpPr>
            <p:nvPr>
              <p:custDataLst>
                <p:tags r:id="rId13"/>
              </p:custDataLst>
            </p:nvPr>
          </p:nvSpPr>
          <p:spPr bwMode="auto">
            <a:xfrm>
              <a:off x="5040" y="1728"/>
              <a:ext cx="0" cy="273"/>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26" name="Line 23"/>
            <p:cNvSpPr>
              <a:spLocks noChangeShapeType="1"/>
            </p:cNvSpPr>
            <p:nvPr>
              <p:custDataLst>
                <p:tags r:id="rId14"/>
              </p:custDataLst>
            </p:nvPr>
          </p:nvSpPr>
          <p:spPr bwMode="auto">
            <a:xfrm>
              <a:off x="4054" y="1142"/>
              <a:ext cx="0" cy="305"/>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27" name="Rectangle 24"/>
            <p:cNvSpPr>
              <a:spLocks noChangeArrowheads="1"/>
            </p:cNvSpPr>
            <p:nvPr>
              <p:custDataLst>
                <p:tags r:id="rId15"/>
              </p:custDataLst>
            </p:nvPr>
          </p:nvSpPr>
          <p:spPr bwMode="auto">
            <a:xfrm>
              <a:off x="3937" y="1392"/>
              <a:ext cx="383"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T</a:t>
              </a:r>
              <a:endParaRPr lang="zh-CN" altLang="en-US" sz="2800" b="1">
                <a:solidFill>
                  <a:srgbClr val="020001"/>
                </a:solidFill>
                <a:latin typeface="+mn-ea"/>
              </a:endParaRPr>
            </a:p>
          </p:txBody>
        </p:sp>
        <p:sp>
          <p:nvSpPr>
            <p:cNvPr id="28" name="Rectangle 25"/>
            <p:cNvSpPr>
              <a:spLocks noChangeArrowheads="1"/>
            </p:cNvSpPr>
            <p:nvPr>
              <p:custDataLst>
                <p:tags r:id="rId16"/>
              </p:custDataLst>
            </p:nvPr>
          </p:nvSpPr>
          <p:spPr bwMode="auto">
            <a:xfrm>
              <a:off x="3984" y="2053"/>
              <a:ext cx="250"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800" b="1">
                  <a:solidFill>
                    <a:srgbClr val="020001"/>
                  </a:solidFill>
                  <a:latin typeface="+mn-ea"/>
                </a:rPr>
                <a:t>*</a:t>
              </a:r>
              <a:endParaRPr lang="zh-CN" altLang="en-US" sz="2800" b="1">
                <a:solidFill>
                  <a:srgbClr val="020001"/>
                </a:solidFill>
                <a:latin typeface="+mn-ea"/>
              </a:endParaRPr>
            </a:p>
          </p:txBody>
        </p:sp>
        <p:sp>
          <p:nvSpPr>
            <p:cNvPr id="29" name="Line 26"/>
            <p:cNvSpPr>
              <a:spLocks noChangeShapeType="1"/>
            </p:cNvSpPr>
            <p:nvPr>
              <p:custDataLst>
                <p:tags r:id="rId17"/>
              </p:custDataLst>
            </p:nvPr>
          </p:nvSpPr>
          <p:spPr bwMode="auto">
            <a:xfrm flipH="1">
              <a:off x="3360" y="1680"/>
              <a:ext cx="679" cy="273"/>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0" name="Line 27"/>
            <p:cNvSpPr>
              <a:spLocks noChangeShapeType="1"/>
            </p:cNvSpPr>
            <p:nvPr>
              <p:custDataLst>
                <p:tags r:id="rId18"/>
              </p:custDataLst>
            </p:nvPr>
          </p:nvSpPr>
          <p:spPr bwMode="auto">
            <a:xfrm>
              <a:off x="4080" y="1680"/>
              <a:ext cx="0" cy="32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1" name="Line 28"/>
            <p:cNvSpPr>
              <a:spLocks noChangeShapeType="1"/>
            </p:cNvSpPr>
            <p:nvPr>
              <p:custDataLst>
                <p:tags r:id="rId19"/>
              </p:custDataLst>
            </p:nvPr>
          </p:nvSpPr>
          <p:spPr bwMode="auto">
            <a:xfrm>
              <a:off x="4128" y="1680"/>
              <a:ext cx="594" cy="219"/>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2" name="Rectangle 29"/>
            <p:cNvSpPr>
              <a:spLocks noChangeArrowheads="1"/>
            </p:cNvSpPr>
            <p:nvPr>
              <p:custDataLst>
                <p:tags r:id="rId20"/>
              </p:custDataLst>
            </p:nvPr>
          </p:nvSpPr>
          <p:spPr bwMode="auto">
            <a:xfrm>
              <a:off x="3264" y="1957"/>
              <a:ext cx="28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800" b="1">
                  <a:solidFill>
                    <a:srgbClr val="020001"/>
                  </a:solidFill>
                  <a:latin typeface="+mn-ea"/>
                </a:rPr>
                <a:t>T</a:t>
              </a:r>
              <a:endParaRPr lang="zh-CN" altLang="en-US" sz="2800" b="1">
                <a:solidFill>
                  <a:srgbClr val="020001"/>
                </a:solidFill>
                <a:latin typeface="+mn-ea"/>
              </a:endParaRPr>
            </a:p>
          </p:txBody>
        </p:sp>
        <p:sp>
          <p:nvSpPr>
            <p:cNvPr id="33" name="Rectangle 30"/>
            <p:cNvSpPr>
              <a:spLocks noChangeArrowheads="1"/>
            </p:cNvSpPr>
            <p:nvPr>
              <p:custDataLst>
                <p:tags r:id="rId21"/>
              </p:custDataLst>
            </p:nvPr>
          </p:nvSpPr>
          <p:spPr bwMode="auto">
            <a:xfrm>
              <a:off x="4560" y="1909"/>
              <a:ext cx="26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800" b="1">
                  <a:solidFill>
                    <a:srgbClr val="020001"/>
                  </a:solidFill>
                  <a:latin typeface="+mn-ea"/>
                </a:rPr>
                <a:t>F</a:t>
              </a:r>
              <a:endParaRPr lang="en-US" altLang="zh-CN" sz="2800" b="1">
                <a:solidFill>
                  <a:srgbClr val="020001"/>
                </a:solidFill>
                <a:latin typeface="+mn-ea"/>
              </a:endParaRPr>
            </a:p>
          </p:txBody>
        </p:sp>
        <p:sp>
          <p:nvSpPr>
            <p:cNvPr id="34" name="Line 31"/>
            <p:cNvSpPr>
              <a:spLocks noChangeShapeType="1"/>
            </p:cNvSpPr>
            <p:nvPr>
              <p:custDataLst>
                <p:tags r:id="rId22"/>
              </p:custDataLst>
            </p:nvPr>
          </p:nvSpPr>
          <p:spPr bwMode="auto">
            <a:xfrm>
              <a:off x="4693" y="2160"/>
              <a:ext cx="0" cy="32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5" name="Rectangle 32"/>
            <p:cNvSpPr>
              <a:spLocks noChangeArrowheads="1"/>
            </p:cNvSpPr>
            <p:nvPr>
              <p:custDataLst>
                <p:tags r:id="rId23"/>
              </p:custDataLst>
            </p:nvPr>
          </p:nvSpPr>
          <p:spPr bwMode="auto">
            <a:xfrm>
              <a:off x="4608" y="2470"/>
              <a:ext cx="52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i</a:t>
              </a:r>
              <a:r>
                <a:rPr lang="en-US" altLang="zh-CN" sz="2800" b="1" baseline="-25000">
                  <a:solidFill>
                    <a:srgbClr val="020001"/>
                  </a:solidFill>
                  <a:latin typeface="+mn-ea"/>
                </a:rPr>
                <a:t>2</a:t>
              </a:r>
              <a:endParaRPr lang="zh-CN" altLang="en-US" sz="2800" b="1" baseline="-25000">
                <a:solidFill>
                  <a:srgbClr val="020001"/>
                </a:solidFill>
                <a:latin typeface="+mn-ea"/>
              </a:endParaRPr>
            </a:p>
          </p:txBody>
        </p:sp>
        <p:sp>
          <p:nvSpPr>
            <p:cNvPr id="36" name="Rectangle 33"/>
            <p:cNvSpPr>
              <a:spLocks noChangeArrowheads="1"/>
            </p:cNvSpPr>
            <p:nvPr>
              <p:custDataLst>
                <p:tags r:id="rId24"/>
              </p:custDataLst>
            </p:nvPr>
          </p:nvSpPr>
          <p:spPr bwMode="auto">
            <a:xfrm>
              <a:off x="3264" y="2447"/>
              <a:ext cx="52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F</a:t>
              </a:r>
              <a:endParaRPr lang="en-US" altLang="zh-CN" sz="2800" b="1">
                <a:solidFill>
                  <a:srgbClr val="020001"/>
                </a:solidFill>
                <a:latin typeface="+mn-ea"/>
              </a:endParaRPr>
            </a:p>
          </p:txBody>
        </p:sp>
        <p:sp>
          <p:nvSpPr>
            <p:cNvPr id="37" name="Rectangle 34"/>
            <p:cNvSpPr>
              <a:spLocks noChangeArrowheads="1"/>
            </p:cNvSpPr>
            <p:nvPr>
              <p:custDataLst>
                <p:tags r:id="rId25"/>
              </p:custDataLst>
            </p:nvPr>
          </p:nvSpPr>
          <p:spPr bwMode="auto">
            <a:xfrm>
              <a:off x="3312" y="2928"/>
              <a:ext cx="62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b="1">
                  <a:solidFill>
                    <a:srgbClr val="020001"/>
                  </a:solidFill>
                  <a:latin typeface="+mn-ea"/>
                </a:rPr>
                <a:t>i</a:t>
              </a:r>
              <a:r>
                <a:rPr lang="en-US" altLang="zh-CN" sz="2800" b="1" baseline="-25000">
                  <a:solidFill>
                    <a:srgbClr val="020001"/>
                  </a:solidFill>
                  <a:latin typeface="+mn-ea"/>
                </a:rPr>
                <a:t>1</a:t>
              </a:r>
              <a:endParaRPr lang="zh-CN" altLang="en-US" sz="2800" b="1" baseline="-25000">
                <a:solidFill>
                  <a:srgbClr val="020001"/>
                </a:solidFill>
                <a:latin typeface="+mn-ea"/>
              </a:endParaRPr>
            </a:p>
          </p:txBody>
        </p:sp>
        <p:sp>
          <p:nvSpPr>
            <p:cNvPr id="38" name="Line 35"/>
            <p:cNvSpPr>
              <a:spLocks noChangeShapeType="1"/>
            </p:cNvSpPr>
            <p:nvPr>
              <p:custDataLst>
                <p:tags r:id="rId26"/>
              </p:custDataLst>
            </p:nvPr>
          </p:nvSpPr>
          <p:spPr bwMode="auto">
            <a:xfrm flipH="1">
              <a:off x="3408" y="2736"/>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9" name="Line 36"/>
            <p:cNvSpPr>
              <a:spLocks noChangeShapeType="1"/>
            </p:cNvSpPr>
            <p:nvPr>
              <p:custDataLst>
                <p:tags r:id="rId27"/>
              </p:custDataLst>
            </p:nvPr>
          </p:nvSpPr>
          <p:spPr bwMode="auto">
            <a:xfrm flipH="1">
              <a:off x="3408" y="2208"/>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b="1">
                <a:latin typeface="+mn-ea"/>
              </a:endParaRPr>
            </a:p>
          </p:txBody>
        </p:sp>
      </p:grpSp>
      <p:sp>
        <p:nvSpPr>
          <p:cNvPr id="41" name="Rectangle 2"/>
          <p:cNvSpPr>
            <a:spLocks noChangeArrowheads="1"/>
          </p:cNvSpPr>
          <p:nvPr/>
        </p:nvSpPr>
        <p:spPr bwMode="auto">
          <a:xfrm>
            <a:off x="6271895" y="4817110"/>
            <a:ext cx="49504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800" b="1" dirty="0">
                <a:solidFill>
                  <a:srgbClr val="020001"/>
                </a:solidFill>
                <a:latin typeface="+mn-ea"/>
              </a:rPr>
              <a:t>句型</a:t>
            </a:r>
            <a:r>
              <a:rPr lang="en-US" altLang="zh-CN" sz="2800" b="1" dirty="0" err="1">
                <a:solidFill>
                  <a:srgbClr val="020001"/>
                </a:solidFill>
                <a:latin typeface="+mn-ea"/>
              </a:rPr>
              <a:t>i</a:t>
            </a:r>
            <a:r>
              <a:rPr lang="en-US" altLang="zh-CN" sz="2800" b="1" dirty="0">
                <a:solidFill>
                  <a:srgbClr val="020001"/>
                </a:solidFill>
                <a:latin typeface="+mn-ea"/>
              </a:rPr>
              <a:t>*</a:t>
            </a:r>
            <a:r>
              <a:rPr lang="en-US" altLang="zh-CN" sz="2800" b="1" dirty="0" err="1">
                <a:solidFill>
                  <a:srgbClr val="020001"/>
                </a:solidFill>
                <a:latin typeface="+mn-ea"/>
              </a:rPr>
              <a:t>i+i</a:t>
            </a:r>
            <a:r>
              <a:rPr lang="en-US" altLang="zh-CN" sz="2800" b="1" dirty="0">
                <a:solidFill>
                  <a:srgbClr val="020001"/>
                </a:solidFill>
                <a:latin typeface="+mn-ea"/>
              </a:rPr>
              <a:t> </a:t>
            </a:r>
            <a:r>
              <a:rPr lang="zh-CN" altLang="en-US" sz="2800" b="1" dirty="0">
                <a:solidFill>
                  <a:srgbClr val="020001"/>
                </a:solidFill>
                <a:latin typeface="+mn-ea"/>
              </a:rPr>
              <a:t>：</a:t>
            </a:r>
            <a:endParaRPr lang="zh-CN" altLang="en-US" sz="2800" b="1" dirty="0">
              <a:solidFill>
                <a:srgbClr val="020001"/>
              </a:solidFill>
              <a:latin typeface="+mn-ea"/>
            </a:endParaRPr>
          </a:p>
        </p:txBody>
      </p:sp>
      <p:sp>
        <p:nvSpPr>
          <p:cNvPr id="42" name="Rectangle 6"/>
          <p:cNvSpPr>
            <a:spLocks noChangeArrowheads="1"/>
          </p:cNvSpPr>
          <p:nvPr/>
        </p:nvSpPr>
        <p:spPr bwMode="auto">
          <a:xfrm>
            <a:off x="6407922" y="5256566"/>
            <a:ext cx="478627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3200" b="1" dirty="0">
                <a:solidFill>
                  <a:srgbClr val="0070C0"/>
                </a:solidFill>
                <a:latin typeface="+mn-ea"/>
              </a:rPr>
              <a:t>直接短语</a:t>
            </a:r>
            <a:r>
              <a:rPr lang="zh-CN" altLang="en-US" sz="3200" b="1" dirty="0">
                <a:solidFill>
                  <a:srgbClr val="020001"/>
                </a:solidFill>
                <a:latin typeface="+mn-ea"/>
              </a:rPr>
              <a:t>： </a:t>
            </a:r>
            <a:r>
              <a:rPr lang="en-US" altLang="zh-CN" sz="3200" b="1" dirty="0">
                <a:solidFill>
                  <a:srgbClr val="020001"/>
                </a:solidFill>
                <a:latin typeface="+mn-ea"/>
              </a:rPr>
              <a:t>i</a:t>
            </a:r>
            <a:r>
              <a:rPr lang="en-US" altLang="zh-CN" sz="3200" b="1" baseline="-25000" dirty="0">
                <a:solidFill>
                  <a:srgbClr val="020001"/>
                </a:solidFill>
                <a:latin typeface="+mn-ea"/>
              </a:rPr>
              <a:t>1 </a:t>
            </a:r>
            <a:r>
              <a:rPr lang="en-US" altLang="zh-CN" sz="3200" b="1" dirty="0">
                <a:solidFill>
                  <a:srgbClr val="020001"/>
                </a:solidFill>
                <a:latin typeface="+mn-ea"/>
              </a:rPr>
              <a:t>， i</a:t>
            </a:r>
            <a:r>
              <a:rPr lang="en-US" altLang="zh-CN" sz="3200" b="1" baseline="-25000" dirty="0">
                <a:solidFill>
                  <a:srgbClr val="020001"/>
                </a:solidFill>
                <a:latin typeface="+mn-ea"/>
              </a:rPr>
              <a:t>2 </a:t>
            </a:r>
            <a:r>
              <a:rPr lang="en-US" altLang="zh-CN" sz="3200" b="1" dirty="0">
                <a:solidFill>
                  <a:srgbClr val="020001"/>
                </a:solidFill>
                <a:latin typeface="+mn-ea"/>
              </a:rPr>
              <a:t>， i</a:t>
            </a:r>
            <a:r>
              <a:rPr lang="en-US" altLang="zh-CN" sz="3200" b="1" baseline="-25000" dirty="0">
                <a:solidFill>
                  <a:srgbClr val="020001"/>
                </a:solidFill>
                <a:latin typeface="+mn-ea"/>
              </a:rPr>
              <a:t>3</a:t>
            </a:r>
            <a:endParaRPr lang="zh-CN" altLang="en-US" sz="3200" b="1" baseline="-25000" dirty="0">
              <a:solidFill>
                <a:srgbClr val="020001"/>
              </a:solidFill>
              <a:latin typeface="+mn-ea"/>
            </a:endParaRPr>
          </a:p>
        </p:txBody>
      </p:sp>
      <p:sp>
        <p:nvSpPr>
          <p:cNvPr id="43" name="Rectangle 7"/>
          <p:cNvSpPr>
            <a:spLocks noChangeArrowheads="1"/>
          </p:cNvSpPr>
          <p:nvPr>
            <p:custDataLst>
              <p:tags r:id="rId28"/>
            </p:custDataLst>
          </p:nvPr>
        </p:nvSpPr>
        <p:spPr bwMode="auto">
          <a:xfrm>
            <a:off x="6407922" y="5808381"/>
            <a:ext cx="48006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3200" b="1" dirty="0">
                <a:solidFill>
                  <a:srgbClr val="0070C0"/>
                </a:solidFill>
                <a:latin typeface="+mn-ea"/>
              </a:rPr>
              <a:t>句柄</a:t>
            </a:r>
            <a:r>
              <a:rPr lang="zh-CN" altLang="en-US" sz="3200" b="1" dirty="0">
                <a:solidFill>
                  <a:srgbClr val="020001"/>
                </a:solidFill>
                <a:latin typeface="+mn-ea"/>
              </a:rPr>
              <a:t>： </a:t>
            </a:r>
            <a:r>
              <a:rPr lang="en-US" altLang="zh-CN" sz="3200" b="1" dirty="0">
                <a:solidFill>
                  <a:srgbClr val="020001"/>
                </a:solidFill>
                <a:latin typeface="+mn-ea"/>
              </a:rPr>
              <a:t>i</a:t>
            </a:r>
            <a:r>
              <a:rPr lang="en-US" altLang="zh-CN" sz="3200" b="1" baseline="-25000" dirty="0">
                <a:solidFill>
                  <a:srgbClr val="020001"/>
                </a:solidFill>
                <a:latin typeface="+mn-ea"/>
              </a:rPr>
              <a:t>1</a:t>
            </a:r>
            <a:endParaRPr lang="zh-CN" altLang="en-US" sz="3200" b="1" baseline="-25000" dirty="0">
              <a:solidFill>
                <a:srgbClr val="02000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barn(outHorizontal)">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childTnLst>
                                    <p:set>
                                      <p:cBhvr>
                                        <p:cTn id="23" dur="1" fill="hold">
                                          <p:stCondLst>
                                            <p:cond delay="0"/>
                                          </p:stCondLst>
                                        </p:cTn>
                                        <p:tgtEl>
                                          <p:spTgt spid="4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grpId="0" nodeType="click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barn(outHorizontal)">
                                      <p:cBhvr>
                                        <p:cTn id="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5" grpId="1"/>
      <p:bldP spid="41" grpId="0"/>
      <p:bldP spid="40" grpId="0"/>
      <p:bldP spid="41" grpId="1"/>
      <p:bldP spid="40" grpId="1"/>
      <p:bldP spid="4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222375" y="1942465"/>
            <a:ext cx="8836025" cy="4425950"/>
          </a:xfrm>
        </p:spPr>
        <p:txBody>
          <a:bodyPr>
            <a:normAutofit fontScale="90000"/>
          </a:bodyPr>
          <a:lstStyle/>
          <a:p>
            <a:r>
              <a:rPr lang="zh-CN" altLang="en-US" b="1" dirty="0">
                <a:solidFill>
                  <a:schemeClr val="tx1"/>
                </a:solidFill>
              </a:rPr>
              <a:t> </a:t>
            </a:r>
            <a:r>
              <a:rPr lang="en-US" altLang="zh-CN" b="1" dirty="0">
                <a:solidFill>
                  <a:schemeClr val="tx1"/>
                </a:solidFill>
              </a:rPr>
              <a:t>4.1 </a:t>
            </a:r>
            <a:r>
              <a:rPr lang="zh-CN" altLang="en-US" b="1" dirty="0">
                <a:solidFill>
                  <a:schemeClr val="tx1"/>
                </a:solidFill>
              </a:rPr>
              <a:t>自下而上的语法分析概览</a:t>
            </a:r>
            <a:endParaRPr lang="zh-CN" altLang="en-US" b="1" dirty="0">
              <a:solidFill>
                <a:schemeClr val="tx1"/>
              </a:solidFill>
            </a:endParaRPr>
          </a:p>
          <a:p>
            <a:r>
              <a:rPr lang="zh-CN" altLang="en-US" b="1" dirty="0">
                <a:solidFill>
                  <a:schemeClr val="accent1"/>
                </a:solidFill>
              </a:rPr>
              <a:t> </a:t>
            </a:r>
            <a:r>
              <a:rPr lang="en-US" altLang="zh-CN" b="1" dirty="0">
                <a:solidFill>
                  <a:schemeClr val="accent1"/>
                </a:solidFill>
              </a:rPr>
              <a:t>4.2 LR</a:t>
            </a:r>
            <a:r>
              <a:rPr lang="zh-CN" altLang="en-US" b="1" dirty="0">
                <a:solidFill>
                  <a:schemeClr val="accent1"/>
                </a:solidFill>
              </a:rPr>
              <a:t>分析概览</a:t>
            </a:r>
            <a:endParaRPr lang="zh-CN" altLang="en-US" b="1" dirty="0">
              <a:solidFill>
                <a:schemeClr val="accent1"/>
              </a:solidFill>
            </a:endParaRPr>
          </a:p>
          <a:p>
            <a:r>
              <a:rPr lang="zh-CN" altLang="en-US" b="1" dirty="0">
                <a:solidFill>
                  <a:schemeClr val="tx1"/>
                </a:solidFill>
              </a:rPr>
              <a:t> </a:t>
            </a:r>
            <a:r>
              <a:rPr lang="en-US" altLang="zh-CN" b="1" dirty="0">
                <a:solidFill>
                  <a:schemeClr val="tx1"/>
                </a:solidFill>
              </a:rPr>
              <a:t>4.3 LR(0)</a:t>
            </a:r>
            <a:r>
              <a:rPr lang="zh-CN" altLang="en-US" b="1" dirty="0">
                <a:solidFill>
                  <a:schemeClr val="tx1"/>
                </a:solidFill>
              </a:rPr>
              <a:t>项目的有穷自动机与</a:t>
            </a:r>
            <a:r>
              <a:rPr lang="en-US" altLang="zh-CN" b="1" dirty="0">
                <a:solidFill>
                  <a:schemeClr val="tx1"/>
                </a:solidFill>
              </a:rPr>
              <a:t>LR(0)</a:t>
            </a:r>
            <a:r>
              <a:rPr lang="zh-CN" altLang="en-US" b="1" dirty="0">
                <a:solidFill>
                  <a:schemeClr val="tx1"/>
                </a:solidFill>
              </a:rPr>
              <a:t>分析</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4.4 SLR(1) </a:t>
            </a:r>
            <a:r>
              <a:rPr lang="zh-CN" altLang="en-US" b="1" dirty="0">
                <a:solidFill>
                  <a:schemeClr val="tx1"/>
                </a:solidFill>
              </a:rPr>
              <a:t>分析</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4.5  </a:t>
            </a:r>
            <a:r>
              <a:rPr lang="zh-CN" altLang="en-US" b="1" dirty="0">
                <a:solidFill>
                  <a:schemeClr val="tx1"/>
                </a:solidFill>
              </a:rPr>
              <a:t>一般的</a:t>
            </a:r>
            <a:r>
              <a:rPr lang="en-US" altLang="zh-CN" b="1" dirty="0">
                <a:solidFill>
                  <a:schemeClr val="tx1"/>
                </a:solidFill>
              </a:rPr>
              <a:t>LR(1)</a:t>
            </a:r>
            <a:endParaRPr lang="en-US" altLang="zh-CN" b="1" dirty="0">
              <a:solidFill>
                <a:schemeClr val="tx1"/>
              </a:solidFill>
            </a:endParaRPr>
          </a:p>
          <a:p>
            <a:r>
              <a:rPr lang="en-US" altLang="zh-CN" b="1" dirty="0">
                <a:solidFill>
                  <a:schemeClr val="tx1"/>
                </a:solidFill>
              </a:rPr>
              <a:t> 4.6  LALR(1)</a:t>
            </a:r>
            <a:r>
              <a:rPr lang="zh-CN" altLang="en-US" b="1" dirty="0">
                <a:solidFill>
                  <a:schemeClr val="tx1"/>
                </a:solidFill>
              </a:rPr>
              <a:t>分析</a:t>
            </a:r>
            <a:endParaRPr lang="en-US" altLang="zh-CN" b="1"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1640" y="276860"/>
            <a:ext cx="7431405" cy="593090"/>
          </a:xfrm>
        </p:spPr>
        <p:txBody>
          <a:bodyPr/>
          <a:lstStyle/>
          <a:p>
            <a:r>
              <a:rPr lang="en-US" altLang="zh-CN" dirty="0"/>
              <a:t>4.2   LR </a:t>
            </a:r>
            <a:r>
              <a:rPr lang="zh-CN" altLang="en-US" dirty="0"/>
              <a:t>分析概览</a:t>
            </a:r>
            <a:endParaRPr lang="zh-CN" altLang="en-US" dirty="0"/>
          </a:p>
        </p:txBody>
      </p:sp>
      <p:sp>
        <p:nvSpPr>
          <p:cNvPr id="15" name="文本占位符 14"/>
          <p:cNvSpPr>
            <a:spLocks noGrp="1"/>
          </p:cNvSpPr>
          <p:nvPr>
            <p:ph type="body" sz="quarter" idx="16"/>
          </p:nvPr>
        </p:nvSpPr>
        <p:spPr>
          <a:xfrm>
            <a:off x="481330" y="1147445"/>
            <a:ext cx="5779135" cy="4479925"/>
          </a:xfrm>
        </p:spPr>
        <p:txBody>
          <a:bodyPr>
            <a:normAutofit/>
          </a:bodyPr>
          <a:lstStyle/>
          <a:p>
            <a:pPr>
              <a:lnSpc>
                <a:spcPct val="150000"/>
              </a:lnSpc>
            </a:pPr>
            <a:r>
              <a:rPr lang="en-US" altLang="zh-CN" dirty="0">
                <a:solidFill>
                  <a:srgbClr val="020001"/>
                </a:solidFill>
              </a:rPr>
              <a:t>LR(k)</a:t>
            </a:r>
            <a:r>
              <a:rPr lang="zh-CN" altLang="en-US" dirty="0">
                <a:solidFill>
                  <a:srgbClr val="020001"/>
                </a:solidFill>
              </a:rPr>
              <a:t>分析方法：</a:t>
            </a:r>
            <a:endParaRPr lang="zh-CN" altLang="en-US" dirty="0">
              <a:solidFill>
                <a:srgbClr val="020001"/>
              </a:solidFill>
            </a:endParaRPr>
          </a:p>
          <a:p>
            <a:pPr lvl="1">
              <a:lnSpc>
                <a:spcPct val="150000"/>
              </a:lnSpc>
            </a:pPr>
            <a:r>
              <a:rPr lang="en-US" altLang="zh-CN" dirty="0">
                <a:solidFill>
                  <a:srgbClr val="020001"/>
                </a:solidFill>
              </a:rPr>
              <a:t>L</a:t>
            </a:r>
            <a:r>
              <a:rPr lang="zh-CN" altLang="en-US" dirty="0">
                <a:solidFill>
                  <a:srgbClr val="020001"/>
                </a:solidFill>
              </a:rPr>
              <a:t>是指自左(</a:t>
            </a:r>
            <a:r>
              <a:rPr lang="en-US" altLang="zh-CN" dirty="0">
                <a:solidFill>
                  <a:srgbClr val="020001"/>
                </a:solidFill>
              </a:rPr>
              <a:t>Left)</a:t>
            </a:r>
            <a:r>
              <a:rPr lang="zh-CN" altLang="en-US" dirty="0">
                <a:solidFill>
                  <a:srgbClr val="020001"/>
                </a:solidFill>
              </a:rPr>
              <a:t>向右分析输入单词序列</a:t>
            </a:r>
            <a:endParaRPr lang="zh-CN" altLang="en-US" dirty="0">
              <a:solidFill>
                <a:srgbClr val="020001"/>
              </a:solidFill>
            </a:endParaRPr>
          </a:p>
          <a:p>
            <a:pPr lvl="1">
              <a:lnSpc>
                <a:spcPct val="150000"/>
              </a:lnSpc>
            </a:pPr>
            <a:r>
              <a:rPr lang="en-US" altLang="zh-CN" dirty="0">
                <a:solidFill>
                  <a:srgbClr val="020001"/>
                </a:solidFill>
              </a:rPr>
              <a:t>R</a:t>
            </a:r>
            <a:r>
              <a:rPr lang="zh-CN" altLang="en-US" dirty="0">
                <a:solidFill>
                  <a:srgbClr val="020001"/>
                </a:solidFill>
              </a:rPr>
              <a:t>是指分析过程都是构造最右(</a:t>
            </a:r>
            <a:r>
              <a:rPr lang="en-US" altLang="zh-CN" dirty="0">
                <a:solidFill>
                  <a:srgbClr val="020001"/>
                </a:solidFill>
              </a:rPr>
              <a:t>Right)</a:t>
            </a:r>
            <a:r>
              <a:rPr lang="zh-CN" altLang="en-US" dirty="0">
                <a:solidFill>
                  <a:srgbClr val="020001"/>
                </a:solidFill>
              </a:rPr>
              <a:t>推导的逆过程(</a:t>
            </a:r>
            <a:r>
              <a:rPr lang="zh-CN" altLang="en-US" dirty="0">
                <a:solidFill>
                  <a:srgbClr val="0070C0"/>
                </a:solidFill>
              </a:rPr>
              <a:t>规范归约</a:t>
            </a:r>
            <a:r>
              <a:rPr lang="zh-CN" altLang="en-US" dirty="0">
                <a:solidFill>
                  <a:srgbClr val="020001"/>
                </a:solidFill>
              </a:rPr>
              <a:t>)</a:t>
            </a:r>
            <a:endParaRPr lang="zh-CN" altLang="en-US" dirty="0">
              <a:solidFill>
                <a:srgbClr val="020001"/>
              </a:solidFill>
            </a:endParaRPr>
          </a:p>
          <a:p>
            <a:pPr lvl="1">
              <a:lnSpc>
                <a:spcPct val="150000"/>
              </a:lnSpc>
            </a:pPr>
            <a:r>
              <a:rPr lang="zh-CN" altLang="en-US" dirty="0">
                <a:solidFill>
                  <a:srgbClr val="020001"/>
                </a:solidFill>
              </a:rPr>
              <a:t>括号中的</a:t>
            </a:r>
            <a:r>
              <a:rPr lang="en-US" altLang="zh-CN" dirty="0">
                <a:solidFill>
                  <a:srgbClr val="020001"/>
                </a:solidFill>
              </a:rPr>
              <a:t>k</a:t>
            </a:r>
            <a:r>
              <a:rPr lang="zh-CN" altLang="en-US" dirty="0">
                <a:solidFill>
                  <a:srgbClr val="020001"/>
                </a:solidFill>
              </a:rPr>
              <a:t>是指在决定当前分析动作时向右看的单词个数</a:t>
            </a:r>
            <a:endParaRPr lang="en-US" altLang="zh-CN"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6863715" y="1282065"/>
            <a:ext cx="4859655" cy="4935855"/>
          </a:xfrm>
          <a:prstGeom prst="rect">
            <a:avLst/>
          </a:prstGeom>
          <a:noFill/>
        </p:spPr>
        <p:txBody>
          <a:bodyPr wrap="square" rtlCol="0" anchor="t">
            <a:noAutofit/>
          </a:bodyPr>
          <a:p>
            <a:pPr lvl="1" indent="0" fontAlgn="auto">
              <a:lnSpc>
                <a:spcPct val="125000"/>
              </a:lnSpc>
            </a:pPr>
            <a:r>
              <a:rPr lang="zh-CN" altLang="en-US" sz="2400" b="1" dirty="0">
                <a:solidFill>
                  <a:srgbClr val="020001"/>
                </a:solidFill>
                <a:sym typeface="+mn-ea"/>
              </a:rPr>
              <a:t>应用面广：</a:t>
            </a:r>
            <a:r>
              <a:rPr lang="zh-CN" altLang="en-US" sz="2400" dirty="0">
                <a:solidFill>
                  <a:srgbClr val="020001"/>
                </a:solidFill>
                <a:sym typeface="+mn-ea"/>
              </a:rPr>
              <a:t>能够通过</a:t>
            </a:r>
            <a:r>
              <a:rPr lang="en-US" altLang="zh-CN" sz="2400" dirty="0">
                <a:solidFill>
                  <a:srgbClr val="020001"/>
                </a:solidFill>
                <a:sym typeface="+mn-ea"/>
              </a:rPr>
              <a:t>LR</a:t>
            </a:r>
            <a:r>
              <a:rPr lang="zh-CN" altLang="en-US" sz="2400" dirty="0">
                <a:solidFill>
                  <a:srgbClr val="020001"/>
                </a:solidFill>
                <a:sym typeface="+mn-ea"/>
              </a:rPr>
              <a:t>分析程序识别所有采用上下文无关文法描述的程序设计语言的语法结构；</a:t>
            </a:r>
            <a:endParaRPr lang="zh-CN" altLang="en-US" sz="2400" dirty="0">
              <a:solidFill>
                <a:srgbClr val="020001"/>
              </a:solidFill>
            </a:endParaRPr>
          </a:p>
          <a:p>
            <a:pPr lvl="1" indent="0" fontAlgn="auto">
              <a:lnSpc>
                <a:spcPct val="125000"/>
              </a:lnSpc>
            </a:pPr>
            <a:r>
              <a:rPr lang="zh-CN" altLang="en-US" sz="2400" b="1" dirty="0">
                <a:solidFill>
                  <a:srgbClr val="020001"/>
                </a:solidFill>
                <a:sym typeface="+mn-ea"/>
              </a:rPr>
              <a:t>能有效实现：</a:t>
            </a:r>
            <a:r>
              <a:rPr lang="zh-CN" altLang="en-US" sz="2400" dirty="0">
                <a:solidFill>
                  <a:srgbClr val="020001"/>
                </a:solidFill>
                <a:sym typeface="+mn-ea"/>
              </a:rPr>
              <a:t>无回溯的移进—归约方法；</a:t>
            </a:r>
            <a:endParaRPr lang="zh-CN" altLang="en-US" sz="2400" dirty="0">
              <a:solidFill>
                <a:srgbClr val="020001"/>
              </a:solidFill>
            </a:endParaRPr>
          </a:p>
          <a:p>
            <a:pPr lvl="1" algn="l" fontAlgn="auto">
              <a:lnSpc>
                <a:spcPct val="125000"/>
              </a:lnSpc>
              <a:buClrTx/>
              <a:buSzTx/>
              <a:buFontTx/>
            </a:pPr>
            <a:r>
              <a:rPr lang="zh-CN" altLang="en-US" sz="2400" b="1" dirty="0">
                <a:solidFill>
                  <a:srgbClr val="020001"/>
                </a:solidFill>
                <a:sym typeface="+mn-ea"/>
              </a:rPr>
              <a:t>容易查错：</a:t>
            </a:r>
            <a:r>
              <a:rPr lang="zh-CN" altLang="en-US" sz="2400" dirty="0">
                <a:solidFill>
                  <a:srgbClr val="020001"/>
                </a:solidFill>
                <a:sym typeface="+mn-ea"/>
              </a:rPr>
              <a:t>LR分析器能够及时发现语法错误和准确指出错误位置。</a:t>
            </a:r>
            <a:endParaRPr lang="zh-CN" altLang="en-US" sz="2400" dirty="0">
              <a:solidFill>
                <a:srgbClr val="02000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animEffect transition="in" filter="fade">
                                      <p:cBhvr>
                                        <p:cTn id="12" dur="500"/>
                                        <p:tgtEl>
                                          <p:spTgt spid="1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7990" y="276860"/>
            <a:ext cx="7425055" cy="593090"/>
          </a:xfrm>
        </p:spPr>
        <p:txBody>
          <a:bodyPr/>
          <a:lstStyle/>
          <a:p>
            <a:r>
              <a:rPr lang="en-US" altLang="zh-CN" dirty="0"/>
              <a:t>4.2   LR </a:t>
            </a:r>
            <a:r>
              <a:rPr lang="zh-CN" altLang="en-US" dirty="0"/>
              <a:t>分析概览（续）</a:t>
            </a:r>
            <a:endParaRPr lang="zh-CN" altLang="en-US" dirty="0"/>
          </a:p>
        </p:txBody>
      </p:sp>
      <p:sp>
        <p:nvSpPr>
          <p:cNvPr id="6" name="Rectangle 2"/>
          <p:cNvSpPr>
            <a:spLocks noChangeArrowheads="1"/>
          </p:cNvSpPr>
          <p:nvPr/>
        </p:nvSpPr>
        <p:spPr bwMode="auto">
          <a:xfrm>
            <a:off x="588645" y="1221105"/>
            <a:ext cx="969137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a:solidFill>
                  <a:srgbClr val="010000"/>
                </a:solidFill>
                <a:latin typeface="+mn-ea"/>
              </a:rPr>
              <a:t>文法：</a:t>
            </a:r>
            <a:r>
              <a:rPr lang="en-US" altLang="zh-CN" sz="2800" b="1">
                <a:solidFill>
                  <a:srgbClr val="010000"/>
                </a:solidFill>
                <a:latin typeface="+mn-ea"/>
              </a:rPr>
              <a:t> S</a:t>
            </a:r>
            <a:r>
              <a:rPr lang="en-US" altLang="zh-CN" sz="2800" b="1">
                <a:solidFill>
                  <a:srgbClr val="050507"/>
                </a:solidFill>
                <a:latin typeface="+mn-ea"/>
                <a:sym typeface="Symbol" panose="05050102010706020507" pitchFamily="18" charset="2"/>
              </a:rPr>
              <a:t>(S)S    </a:t>
            </a:r>
            <a:r>
              <a:rPr lang="en-US" altLang="zh-CN" sz="2800" b="1">
                <a:solidFill>
                  <a:srgbClr val="010000"/>
                </a:solidFill>
                <a:latin typeface="+mn-ea"/>
                <a:sym typeface="+mn-ea"/>
              </a:rPr>
              <a:t>S</a:t>
            </a:r>
            <a:r>
              <a:rPr lang="en-US" altLang="zh-CN" sz="2800" b="1">
                <a:solidFill>
                  <a:srgbClr val="050507"/>
                </a:solidFill>
                <a:latin typeface="+mn-ea"/>
                <a:sym typeface="Symbol" panose="05050102010706020507" pitchFamily="18" charset="2"/>
              </a:rPr>
              <a:t>a  </a:t>
            </a:r>
            <a:endParaRPr lang="en-US" altLang="zh-CN" sz="2800" b="1">
              <a:solidFill>
                <a:srgbClr val="010000"/>
              </a:solidFill>
              <a:latin typeface="+mn-ea"/>
            </a:endParaRPr>
          </a:p>
        </p:txBody>
      </p:sp>
      <p:sp>
        <p:nvSpPr>
          <p:cNvPr id="7" name="Rectangle 9"/>
          <p:cNvSpPr>
            <a:spLocks noChangeArrowheads="1"/>
          </p:cNvSpPr>
          <p:nvPr/>
        </p:nvSpPr>
        <p:spPr bwMode="auto">
          <a:xfrm>
            <a:off x="5534025" y="1226820"/>
            <a:ext cx="62814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err="1">
                <a:solidFill>
                  <a:srgbClr val="010000"/>
                </a:solidFill>
                <a:latin typeface="+mn-ea"/>
              </a:rPr>
              <a:t>(a)a</a:t>
            </a:r>
            <a:r>
              <a:rPr lang="zh-CN" altLang="en-US" sz="3200" b="1" dirty="0" err="1">
                <a:solidFill>
                  <a:srgbClr val="010000"/>
                </a:solidFill>
                <a:latin typeface="+mn-ea"/>
              </a:rPr>
              <a:t>、</a:t>
            </a:r>
            <a:r>
              <a:rPr lang="en-US" altLang="zh-CN" sz="3200" b="1" dirty="0">
                <a:solidFill>
                  <a:srgbClr val="010000"/>
                </a:solidFill>
                <a:latin typeface="+mn-ea"/>
                <a:sym typeface="+mn-ea"/>
              </a:rPr>
              <a:t>((a)a)a</a:t>
            </a:r>
            <a:r>
              <a:rPr lang="zh-CN" altLang="en-US" sz="3200" b="1" dirty="0">
                <a:solidFill>
                  <a:srgbClr val="010000"/>
                </a:solidFill>
                <a:latin typeface="+mn-ea"/>
              </a:rPr>
              <a:t>对应的规范规约</a:t>
            </a:r>
            <a:r>
              <a:rPr lang="en-US" altLang="zh-CN" sz="3200" b="1" dirty="0">
                <a:solidFill>
                  <a:srgbClr val="010000"/>
                </a:solidFill>
                <a:latin typeface="+mn-ea"/>
              </a:rPr>
              <a:t>：</a:t>
            </a:r>
            <a:endParaRPr lang="en-US" altLang="zh-CN" sz="3200" b="1" dirty="0">
              <a:solidFill>
                <a:srgbClr val="010000"/>
              </a:solidFill>
              <a:latin typeface="+mn-ea"/>
            </a:endParaRPr>
          </a:p>
        </p:txBody>
      </p:sp>
      <p:sp>
        <p:nvSpPr>
          <p:cNvPr id="8" name="Rectangle 18"/>
          <p:cNvSpPr>
            <a:spLocks noChangeArrowheads="1"/>
          </p:cNvSpPr>
          <p:nvPr/>
        </p:nvSpPr>
        <p:spPr bwMode="auto">
          <a:xfrm>
            <a:off x="7432190" y="1928748"/>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sz="2400" b="1">
              <a:solidFill>
                <a:srgbClr val="010000"/>
              </a:solidFill>
              <a:latin typeface="+mn-ea"/>
            </a:endParaRPr>
          </a:p>
        </p:txBody>
      </p:sp>
      <p:sp>
        <p:nvSpPr>
          <p:cNvPr id="9" name="Rectangle 42"/>
          <p:cNvSpPr>
            <a:spLocks noChangeArrowheads="1"/>
          </p:cNvSpPr>
          <p:nvPr/>
        </p:nvSpPr>
        <p:spPr bwMode="auto">
          <a:xfrm>
            <a:off x="2094063" y="5566663"/>
            <a:ext cx="75723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0070C0"/>
                </a:solidFill>
                <a:latin typeface="+mn-ea"/>
              </a:rPr>
              <a:t>构造规范规约的语法分析程序要解决的问题？</a:t>
            </a:r>
            <a:endParaRPr lang="zh-CN" altLang="en-US" sz="2800" b="1" dirty="0">
              <a:solidFill>
                <a:srgbClr val="0070C0"/>
              </a:solidFill>
              <a:latin typeface="+mn-ea"/>
            </a:endParaRPr>
          </a:p>
        </p:txBody>
      </p:sp>
      <p:grpSp>
        <p:nvGrpSpPr>
          <p:cNvPr id="10" name="Group 50"/>
          <p:cNvGrpSpPr/>
          <p:nvPr/>
        </p:nvGrpSpPr>
        <p:grpSpPr bwMode="auto">
          <a:xfrm>
            <a:off x="1830538" y="2126233"/>
            <a:ext cx="1717675" cy="750887"/>
            <a:chOff x="654" y="1920"/>
            <a:chExt cx="1082" cy="473"/>
          </a:xfrm>
        </p:grpSpPr>
        <p:sp>
          <p:nvSpPr>
            <p:cNvPr id="11" name="Text Box 31"/>
            <p:cNvSpPr txBox="1">
              <a:spLocks noChangeArrowheads="1"/>
            </p:cNvSpPr>
            <p:nvPr/>
          </p:nvSpPr>
          <p:spPr bwMode="auto">
            <a:xfrm>
              <a:off x="654" y="1920"/>
              <a:ext cx="108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dirty="0">
                  <a:latin typeface="+mn-ea"/>
                </a:rPr>
                <a:t>(a)a</a:t>
              </a:r>
              <a:endParaRPr lang="en-US" altLang="zh-CN" sz="2800" b="1" dirty="0">
                <a:latin typeface="+mn-ea"/>
              </a:endParaRPr>
            </a:p>
          </p:txBody>
        </p:sp>
        <p:grpSp>
          <p:nvGrpSpPr>
            <p:cNvPr id="13" name="Group 32"/>
            <p:cNvGrpSpPr/>
            <p:nvPr/>
          </p:nvGrpSpPr>
          <p:grpSpPr bwMode="auto">
            <a:xfrm>
              <a:off x="1048" y="1920"/>
              <a:ext cx="384" cy="473"/>
              <a:chOff x="1248" y="1632"/>
              <a:chExt cx="384" cy="473"/>
            </a:xfrm>
          </p:grpSpPr>
          <p:sp>
            <p:nvSpPr>
              <p:cNvPr id="14" name="Text Box 33"/>
              <p:cNvSpPr txBox="1">
                <a:spLocks noChangeArrowheads="1"/>
              </p:cNvSpPr>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16" name="Text Box 34"/>
              <p:cNvSpPr txBox="1">
                <a:spLocks noChangeArrowheads="1"/>
              </p:cNvSpPr>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grpSp>
      <p:sp>
        <p:nvSpPr>
          <p:cNvPr id="17" name="Text Box 35"/>
          <p:cNvSpPr txBox="1">
            <a:spLocks noChangeArrowheads="1"/>
          </p:cNvSpPr>
          <p:nvPr/>
        </p:nvSpPr>
        <p:spPr bwMode="auto">
          <a:xfrm>
            <a:off x="2900513" y="2126233"/>
            <a:ext cx="14001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dirty="0" err="1">
                <a:latin typeface="+mn-ea"/>
              </a:rPr>
              <a:t>(S)a</a:t>
            </a:r>
            <a:endParaRPr lang="en-US" altLang="zh-CN" sz="2800" b="1" dirty="0">
              <a:latin typeface="+mn-ea"/>
            </a:endParaRPr>
          </a:p>
        </p:txBody>
      </p:sp>
      <p:grpSp>
        <p:nvGrpSpPr>
          <p:cNvPr id="18" name="组合 78"/>
          <p:cNvGrpSpPr/>
          <p:nvPr/>
        </p:nvGrpSpPr>
        <p:grpSpPr bwMode="auto">
          <a:xfrm>
            <a:off x="2471888" y="2670111"/>
            <a:ext cx="1768474" cy="740159"/>
            <a:chOff x="2071670" y="3000372"/>
            <a:chExt cx="1768487" cy="740164"/>
          </a:xfrm>
        </p:grpSpPr>
        <p:grpSp>
          <p:nvGrpSpPr>
            <p:cNvPr id="19" name="Group 36"/>
            <p:cNvGrpSpPr/>
            <p:nvPr/>
          </p:nvGrpSpPr>
          <p:grpSpPr bwMode="auto">
            <a:xfrm>
              <a:off x="2071670" y="3000372"/>
              <a:ext cx="609600" cy="740164"/>
              <a:chOff x="1248" y="1632"/>
              <a:chExt cx="384" cy="488"/>
            </a:xfrm>
          </p:grpSpPr>
          <p:sp>
            <p:nvSpPr>
              <p:cNvPr id="21" name="Text Box 37"/>
              <p:cNvSpPr txBox="1">
                <a:spLocks noChangeArrowheads="1"/>
              </p:cNvSpPr>
              <p:nvPr/>
            </p:nvSpPr>
            <p:spPr bwMode="auto">
              <a:xfrm>
                <a:off x="1266" y="1776"/>
                <a:ext cx="28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22" name="Text Box 38"/>
              <p:cNvSpPr txBox="1">
                <a:spLocks noChangeArrowheads="1"/>
              </p:cNvSpPr>
              <p:nvPr/>
            </p:nvSpPr>
            <p:spPr bwMode="auto">
              <a:xfrm>
                <a:off x="1248" y="1632"/>
                <a:ext cx="38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20" name="Text Box 39"/>
            <p:cNvSpPr txBox="1">
              <a:spLocks noChangeArrowheads="1"/>
            </p:cNvSpPr>
            <p:nvPr/>
          </p:nvSpPr>
          <p:spPr bwMode="auto">
            <a:xfrm>
              <a:off x="2571735" y="3071810"/>
              <a:ext cx="1268422" cy="52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dirty="0" err="1">
                  <a:latin typeface="+mn-ea"/>
                </a:rPr>
                <a:t>(S)S</a:t>
              </a:r>
              <a:endParaRPr lang="en-US" altLang="zh-CN" sz="2800" b="1" dirty="0">
                <a:latin typeface="+mn-ea"/>
              </a:endParaRPr>
            </a:p>
          </p:txBody>
        </p:sp>
      </p:grpSp>
      <p:grpSp>
        <p:nvGrpSpPr>
          <p:cNvPr id="28" name="组合 80"/>
          <p:cNvGrpSpPr/>
          <p:nvPr/>
        </p:nvGrpSpPr>
        <p:grpSpPr bwMode="auto">
          <a:xfrm>
            <a:off x="2456013" y="3263518"/>
            <a:ext cx="1042987" cy="750887"/>
            <a:chOff x="2071670" y="4357694"/>
            <a:chExt cx="1043018" cy="750888"/>
          </a:xfrm>
        </p:grpSpPr>
        <p:grpSp>
          <p:nvGrpSpPr>
            <p:cNvPr id="29" name="Group 44"/>
            <p:cNvGrpSpPr/>
            <p:nvPr/>
          </p:nvGrpSpPr>
          <p:grpSpPr bwMode="auto">
            <a:xfrm>
              <a:off x="2071670" y="4357694"/>
              <a:ext cx="609600" cy="750888"/>
              <a:chOff x="1248" y="1632"/>
              <a:chExt cx="384" cy="473"/>
            </a:xfrm>
          </p:grpSpPr>
          <p:sp>
            <p:nvSpPr>
              <p:cNvPr id="31" name="Text Box 45"/>
              <p:cNvSpPr txBox="1">
                <a:spLocks noChangeArrowheads="1"/>
              </p:cNvSpPr>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32" name="Text Box 46"/>
              <p:cNvSpPr txBox="1">
                <a:spLocks noChangeArrowheads="1"/>
              </p:cNvSpPr>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30" name="Text Box 47"/>
            <p:cNvSpPr txBox="1">
              <a:spLocks noChangeArrowheads="1"/>
            </p:cNvSpPr>
            <p:nvPr/>
          </p:nvSpPr>
          <p:spPr bwMode="auto">
            <a:xfrm>
              <a:off x="2643174" y="4428814"/>
              <a:ext cx="471514" cy="521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mn-ea"/>
                </a:rPr>
                <a:t>S</a:t>
              </a:r>
              <a:endParaRPr lang="en-US" altLang="zh-CN" sz="2800" b="1">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 name="Group 50"/>
          <p:cNvGrpSpPr/>
          <p:nvPr/>
        </p:nvGrpSpPr>
        <p:grpSpPr bwMode="auto">
          <a:xfrm>
            <a:off x="5979946" y="2022728"/>
            <a:ext cx="2163763" cy="750887"/>
            <a:chOff x="373" y="1920"/>
            <a:chExt cx="1363" cy="473"/>
          </a:xfrm>
        </p:grpSpPr>
        <p:sp>
          <p:nvSpPr>
            <p:cNvPr id="4" name="Text Box 31"/>
            <p:cNvSpPr txBox="1">
              <a:spLocks noChangeArrowheads="1"/>
            </p:cNvSpPr>
            <p:nvPr>
              <p:custDataLst>
                <p:tags r:id="rId1"/>
              </p:custDataLst>
            </p:nvPr>
          </p:nvSpPr>
          <p:spPr bwMode="auto">
            <a:xfrm>
              <a:off x="373" y="1920"/>
              <a:ext cx="13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800" b="1" dirty="0">
                  <a:solidFill>
                    <a:srgbClr val="010000"/>
                  </a:solidFill>
                  <a:latin typeface="+mn-ea"/>
                  <a:sym typeface="+mn-ea"/>
                </a:rPr>
                <a:t>((a)a)a</a:t>
              </a:r>
              <a:endParaRPr lang="en-US" altLang="zh-CN" sz="2800" b="1" dirty="0">
                <a:latin typeface="+mn-ea"/>
              </a:endParaRPr>
            </a:p>
          </p:txBody>
        </p:sp>
        <p:grpSp>
          <p:nvGrpSpPr>
            <p:cNvPr id="5" name="Group 32"/>
            <p:cNvGrpSpPr/>
            <p:nvPr/>
          </p:nvGrpSpPr>
          <p:grpSpPr bwMode="auto">
            <a:xfrm>
              <a:off x="1048" y="1920"/>
              <a:ext cx="384" cy="473"/>
              <a:chOff x="1248" y="1632"/>
              <a:chExt cx="384" cy="473"/>
            </a:xfrm>
          </p:grpSpPr>
          <p:sp>
            <p:nvSpPr>
              <p:cNvPr id="15" name="Text Box 33"/>
              <p:cNvSpPr txBox="1">
                <a:spLocks noChangeArrowheads="1"/>
              </p:cNvSpPr>
              <p:nvPr>
                <p:custDataLst>
                  <p:tags r:id="rId2"/>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33" name="Text Box 34"/>
              <p:cNvSpPr txBox="1">
                <a:spLocks noChangeArrowheads="1"/>
              </p:cNvSpPr>
              <p:nvPr>
                <p:custDataLst>
                  <p:tags r:id="rId3"/>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grpSp>
      <p:sp>
        <p:nvSpPr>
          <p:cNvPr id="35" name="Text Box 35"/>
          <p:cNvSpPr txBox="1">
            <a:spLocks noChangeArrowheads="1"/>
          </p:cNvSpPr>
          <p:nvPr>
            <p:custDataLst>
              <p:tags r:id="rId4"/>
            </p:custDataLst>
          </p:nvPr>
        </p:nvSpPr>
        <p:spPr bwMode="auto">
          <a:xfrm>
            <a:off x="7496008" y="2022728"/>
            <a:ext cx="14001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800" b="1" dirty="0">
                <a:solidFill>
                  <a:srgbClr val="010000"/>
                </a:solidFill>
                <a:latin typeface="+mn-ea"/>
                <a:sym typeface="+mn-ea"/>
              </a:rPr>
              <a:t>((S)a)a</a:t>
            </a:r>
            <a:endParaRPr lang="en-US" altLang="zh-CN" sz="2800" b="1" dirty="0">
              <a:latin typeface="+mn-ea"/>
            </a:endParaRPr>
          </a:p>
        </p:txBody>
      </p:sp>
      <p:grpSp>
        <p:nvGrpSpPr>
          <p:cNvPr id="36" name="组合 78"/>
          <p:cNvGrpSpPr/>
          <p:nvPr/>
        </p:nvGrpSpPr>
        <p:grpSpPr bwMode="auto">
          <a:xfrm>
            <a:off x="7067383" y="2566606"/>
            <a:ext cx="2044700" cy="740159"/>
            <a:chOff x="2071670" y="3000372"/>
            <a:chExt cx="2044715" cy="740164"/>
          </a:xfrm>
        </p:grpSpPr>
        <p:grpSp>
          <p:nvGrpSpPr>
            <p:cNvPr id="37" name="Group 36"/>
            <p:cNvGrpSpPr/>
            <p:nvPr/>
          </p:nvGrpSpPr>
          <p:grpSpPr bwMode="auto">
            <a:xfrm>
              <a:off x="2071670" y="3000372"/>
              <a:ext cx="609600" cy="740164"/>
              <a:chOff x="1248" y="1632"/>
              <a:chExt cx="384" cy="488"/>
            </a:xfrm>
          </p:grpSpPr>
          <p:sp>
            <p:nvSpPr>
              <p:cNvPr id="38" name="Text Box 37"/>
              <p:cNvSpPr txBox="1">
                <a:spLocks noChangeArrowheads="1"/>
              </p:cNvSpPr>
              <p:nvPr>
                <p:custDataLst>
                  <p:tags r:id="rId5"/>
                </p:custDataLst>
              </p:nvPr>
            </p:nvSpPr>
            <p:spPr bwMode="auto">
              <a:xfrm>
                <a:off x="1266" y="1776"/>
                <a:ext cx="28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39" name="Text Box 38"/>
              <p:cNvSpPr txBox="1">
                <a:spLocks noChangeArrowheads="1"/>
              </p:cNvSpPr>
              <p:nvPr>
                <p:custDataLst>
                  <p:tags r:id="rId6"/>
                </p:custDataLst>
              </p:nvPr>
            </p:nvSpPr>
            <p:spPr bwMode="auto">
              <a:xfrm>
                <a:off x="1248" y="1632"/>
                <a:ext cx="38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40" name="Text Box 39"/>
            <p:cNvSpPr txBox="1">
              <a:spLocks noChangeArrowheads="1"/>
            </p:cNvSpPr>
            <p:nvPr>
              <p:custDataLst>
                <p:tags r:id="rId7"/>
              </p:custDataLst>
            </p:nvPr>
          </p:nvSpPr>
          <p:spPr bwMode="auto">
            <a:xfrm>
              <a:off x="2571419" y="3072127"/>
              <a:ext cx="1544966" cy="52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800" b="1" dirty="0">
                  <a:solidFill>
                    <a:srgbClr val="010000"/>
                  </a:solidFill>
                  <a:latin typeface="+mn-ea"/>
                  <a:sym typeface="+mn-ea"/>
                </a:rPr>
                <a:t>((S)S)a</a:t>
              </a:r>
              <a:endParaRPr lang="en-US" altLang="zh-CN" sz="2800" b="1" dirty="0">
                <a:latin typeface="+mn-ea"/>
              </a:endParaRPr>
            </a:p>
          </p:txBody>
        </p:sp>
      </p:grpSp>
      <p:grpSp>
        <p:nvGrpSpPr>
          <p:cNvPr id="42" name="Group 44"/>
          <p:cNvGrpSpPr/>
          <p:nvPr/>
        </p:nvGrpSpPr>
        <p:grpSpPr bwMode="auto">
          <a:xfrm rot="0">
            <a:off x="7051675" y="3159760"/>
            <a:ext cx="609600" cy="750569"/>
            <a:chOff x="1248" y="1632"/>
            <a:chExt cx="384" cy="473"/>
          </a:xfrm>
        </p:grpSpPr>
        <p:sp>
          <p:nvSpPr>
            <p:cNvPr id="43" name="Text Box 45"/>
            <p:cNvSpPr txBox="1">
              <a:spLocks noChangeArrowheads="1"/>
            </p:cNvSpPr>
            <p:nvPr>
              <p:custDataLst>
                <p:tags r:id="rId8"/>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44" name="Text Box 46"/>
            <p:cNvSpPr txBox="1">
              <a:spLocks noChangeArrowheads="1"/>
            </p:cNvSpPr>
            <p:nvPr>
              <p:custDataLst>
                <p:tags r:id="rId9"/>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46" name="文本框 45"/>
          <p:cNvSpPr txBox="1"/>
          <p:nvPr/>
        </p:nvSpPr>
        <p:spPr>
          <a:xfrm>
            <a:off x="7567295" y="3217545"/>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((S)S)a</a:t>
            </a:r>
            <a:endParaRPr lang="en-US" altLang="zh-CN" sz="2800" b="1" dirty="0">
              <a:solidFill>
                <a:srgbClr val="010000"/>
              </a:solidFill>
              <a:latin typeface="+mn-ea"/>
              <a:sym typeface="+mn-ea"/>
            </a:endParaRPr>
          </a:p>
        </p:txBody>
      </p:sp>
      <p:grpSp>
        <p:nvGrpSpPr>
          <p:cNvPr id="47" name="Group 44"/>
          <p:cNvGrpSpPr/>
          <p:nvPr/>
        </p:nvGrpSpPr>
        <p:grpSpPr bwMode="auto">
          <a:xfrm rot="0">
            <a:off x="7066280" y="3680460"/>
            <a:ext cx="609600" cy="750569"/>
            <a:chOff x="1248" y="1632"/>
            <a:chExt cx="384" cy="473"/>
          </a:xfrm>
        </p:grpSpPr>
        <p:sp>
          <p:nvSpPr>
            <p:cNvPr id="48" name="Text Box 45"/>
            <p:cNvSpPr txBox="1">
              <a:spLocks noChangeArrowheads="1"/>
            </p:cNvSpPr>
            <p:nvPr>
              <p:custDataLst>
                <p:tags r:id="rId10"/>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49" name="Text Box 46"/>
            <p:cNvSpPr txBox="1">
              <a:spLocks noChangeArrowheads="1"/>
            </p:cNvSpPr>
            <p:nvPr>
              <p:custDataLst>
                <p:tags r:id="rId11"/>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50" name="文本框 49"/>
          <p:cNvSpPr txBox="1"/>
          <p:nvPr>
            <p:custDataLst>
              <p:tags r:id="rId12"/>
            </p:custDataLst>
          </p:nvPr>
        </p:nvSpPr>
        <p:spPr>
          <a:xfrm>
            <a:off x="7581900" y="3738245"/>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a:t>
            </a:r>
            <a:endParaRPr lang="en-US" altLang="zh-CN" sz="2800" b="1" dirty="0">
              <a:solidFill>
                <a:srgbClr val="010000"/>
              </a:solidFill>
              <a:latin typeface="+mn-ea"/>
              <a:sym typeface="+mn-ea"/>
            </a:endParaRPr>
          </a:p>
        </p:txBody>
      </p:sp>
      <p:grpSp>
        <p:nvGrpSpPr>
          <p:cNvPr id="51" name="Group 44"/>
          <p:cNvGrpSpPr/>
          <p:nvPr/>
        </p:nvGrpSpPr>
        <p:grpSpPr bwMode="auto">
          <a:xfrm rot="0">
            <a:off x="7066280" y="4161790"/>
            <a:ext cx="609600" cy="750569"/>
            <a:chOff x="1248" y="1632"/>
            <a:chExt cx="384" cy="473"/>
          </a:xfrm>
        </p:grpSpPr>
        <p:sp>
          <p:nvSpPr>
            <p:cNvPr id="52" name="Text Box 45"/>
            <p:cNvSpPr txBox="1">
              <a:spLocks noChangeArrowheads="1"/>
            </p:cNvSpPr>
            <p:nvPr>
              <p:custDataLst>
                <p:tags r:id="rId13"/>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53" name="Text Box 46"/>
            <p:cNvSpPr txBox="1">
              <a:spLocks noChangeArrowheads="1"/>
            </p:cNvSpPr>
            <p:nvPr>
              <p:custDataLst>
                <p:tags r:id="rId14"/>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54" name="文本框 53"/>
          <p:cNvSpPr txBox="1"/>
          <p:nvPr>
            <p:custDataLst>
              <p:tags r:id="rId15"/>
            </p:custDataLst>
          </p:nvPr>
        </p:nvSpPr>
        <p:spPr>
          <a:xfrm>
            <a:off x="7581900" y="4219575"/>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t>
            </a:r>
            <a:r>
              <a:rPr lang="en-US" altLang="zh-CN" sz="2800" b="1" dirty="0">
                <a:solidFill>
                  <a:srgbClr val="010000"/>
                </a:solidFill>
                <a:latin typeface="+mn-ea"/>
                <a:sym typeface="+mn-ea"/>
              </a:rPr>
              <a:t>S</a:t>
            </a:r>
            <a:endParaRPr lang="en-US" altLang="zh-CN" sz="2800" b="1" dirty="0">
              <a:solidFill>
                <a:srgbClr val="010000"/>
              </a:solidFill>
              <a:latin typeface="+mn-ea"/>
              <a:sym typeface="+mn-ea"/>
            </a:endParaRPr>
          </a:p>
        </p:txBody>
      </p:sp>
      <p:grpSp>
        <p:nvGrpSpPr>
          <p:cNvPr id="55" name="Group 44"/>
          <p:cNvGrpSpPr/>
          <p:nvPr/>
        </p:nvGrpSpPr>
        <p:grpSpPr bwMode="auto">
          <a:xfrm rot="0">
            <a:off x="7073265" y="4631690"/>
            <a:ext cx="609600" cy="750569"/>
            <a:chOff x="1248" y="1632"/>
            <a:chExt cx="384" cy="473"/>
          </a:xfrm>
        </p:grpSpPr>
        <p:sp>
          <p:nvSpPr>
            <p:cNvPr id="56" name="Text Box 45"/>
            <p:cNvSpPr txBox="1">
              <a:spLocks noChangeArrowheads="1"/>
            </p:cNvSpPr>
            <p:nvPr>
              <p:custDataLst>
                <p:tags r:id="rId16"/>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57" name="Text Box 46"/>
            <p:cNvSpPr txBox="1">
              <a:spLocks noChangeArrowheads="1"/>
            </p:cNvSpPr>
            <p:nvPr>
              <p:custDataLst>
                <p:tags r:id="rId17"/>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58" name="文本框 57"/>
          <p:cNvSpPr txBox="1"/>
          <p:nvPr>
            <p:custDataLst>
              <p:tags r:id="rId18"/>
            </p:custDataLst>
          </p:nvPr>
        </p:nvSpPr>
        <p:spPr>
          <a:xfrm>
            <a:off x="7588885" y="4689475"/>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t>
            </a:r>
            <a:endParaRPr lang="en-US" altLang="zh-CN" sz="2800" b="1" dirty="0">
              <a:solidFill>
                <a:srgbClr val="01000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Horizontal)">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inHorizont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arn(inHorizontal)">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arn(inHorizontal)">
                                      <p:cBhvr>
                                        <p:cTn id="4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2605" y="276860"/>
            <a:ext cx="7330440" cy="593090"/>
          </a:xfrm>
        </p:spPr>
        <p:txBody>
          <a:bodyPr/>
          <a:lstStyle/>
          <a:p>
            <a:r>
              <a:rPr lang="en-US" altLang="zh-CN" dirty="0"/>
              <a:t>4.2   LR </a:t>
            </a:r>
            <a:r>
              <a:rPr lang="zh-CN" altLang="en-US" dirty="0"/>
              <a:t>分析概览（续）</a:t>
            </a:r>
            <a:endParaRPr lang="zh-CN" altLang="en-US" dirty="0"/>
          </a:p>
        </p:txBody>
      </p:sp>
      <p:sp>
        <p:nvSpPr>
          <p:cNvPr id="37" name="Rectangle 2"/>
          <p:cNvSpPr>
            <a:spLocks noChangeArrowheads="1"/>
          </p:cNvSpPr>
          <p:nvPr/>
        </p:nvSpPr>
        <p:spPr bwMode="auto">
          <a:xfrm>
            <a:off x="5139672" y="2277558"/>
            <a:ext cx="1905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移进</a:t>
            </a:r>
            <a:endParaRPr lang="zh-CN" altLang="en-US" sz="2800" b="1">
              <a:solidFill>
                <a:srgbClr val="010000"/>
              </a:solidFill>
              <a:latin typeface="+mn-ea"/>
            </a:endParaRPr>
          </a:p>
        </p:txBody>
      </p:sp>
      <p:sp>
        <p:nvSpPr>
          <p:cNvPr id="38" name="Rectangle 3"/>
          <p:cNvSpPr>
            <a:spLocks noChangeArrowheads="1"/>
          </p:cNvSpPr>
          <p:nvPr/>
        </p:nvSpPr>
        <p:spPr bwMode="auto">
          <a:xfrm>
            <a:off x="1786890" y="2341245"/>
            <a:ext cx="10210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a:t>
            </a:r>
            <a:endParaRPr lang="zh-CN" altLang="en-US" sz="2800" b="1">
              <a:solidFill>
                <a:srgbClr val="010000"/>
              </a:solidFill>
              <a:latin typeface="+mn-ea"/>
            </a:endParaRPr>
          </a:p>
        </p:txBody>
      </p:sp>
      <p:sp>
        <p:nvSpPr>
          <p:cNvPr id="39" name="Rectangle 4"/>
          <p:cNvSpPr>
            <a:spLocks noChangeArrowheads="1"/>
          </p:cNvSpPr>
          <p:nvPr/>
        </p:nvSpPr>
        <p:spPr bwMode="auto">
          <a:xfrm>
            <a:off x="3158472" y="2329946"/>
            <a:ext cx="14573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en-US" altLang="zh-CN" sz="2800" b="1">
                <a:latin typeface="+mn-ea"/>
              </a:rPr>
              <a:t> (a)a</a:t>
            </a:r>
            <a:r>
              <a:rPr lang="zh-CN" altLang="en-US" sz="2800" b="1">
                <a:solidFill>
                  <a:srgbClr val="010000"/>
                </a:solidFill>
                <a:latin typeface="+mn-ea"/>
              </a:rPr>
              <a:t>$</a:t>
            </a:r>
            <a:endParaRPr lang="zh-CN" altLang="en-US" sz="2800" b="1">
              <a:solidFill>
                <a:srgbClr val="010000"/>
              </a:solidFill>
              <a:latin typeface="+mn-ea"/>
            </a:endParaRPr>
          </a:p>
        </p:txBody>
      </p:sp>
      <p:sp>
        <p:nvSpPr>
          <p:cNvPr id="40" name="Rectangle 5"/>
          <p:cNvSpPr>
            <a:spLocks noChangeArrowheads="1"/>
          </p:cNvSpPr>
          <p:nvPr/>
        </p:nvSpPr>
        <p:spPr bwMode="auto">
          <a:xfrm>
            <a:off x="1042334" y="2341058"/>
            <a:ext cx="3803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1</a:t>
            </a:r>
            <a:endParaRPr lang="zh-CN" altLang="en-US" sz="2800" b="1">
              <a:solidFill>
                <a:srgbClr val="010000"/>
              </a:solidFill>
              <a:latin typeface="+mn-ea"/>
            </a:endParaRPr>
          </a:p>
        </p:txBody>
      </p:sp>
      <p:sp>
        <p:nvSpPr>
          <p:cNvPr id="41" name="Rectangle 6"/>
          <p:cNvSpPr>
            <a:spLocks noChangeArrowheads="1"/>
          </p:cNvSpPr>
          <p:nvPr/>
        </p:nvSpPr>
        <p:spPr bwMode="auto">
          <a:xfrm>
            <a:off x="710859" y="1344292"/>
            <a:ext cx="687514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zh-CN" altLang="en-US" sz="2800" b="1" dirty="0">
                <a:solidFill>
                  <a:srgbClr val="010000"/>
                </a:solidFill>
                <a:latin typeface="+mn-ea"/>
              </a:rPr>
              <a:t>下表给出了使用该文法对串</a:t>
            </a:r>
            <a:r>
              <a:rPr lang="en-US" altLang="zh-CN" sz="2800" b="1" dirty="0">
                <a:solidFill>
                  <a:srgbClr val="010000"/>
                </a:solidFill>
                <a:latin typeface="+mn-ea"/>
              </a:rPr>
              <a:t>(a)a</a:t>
            </a:r>
            <a:r>
              <a:rPr lang="zh-CN" altLang="en-US" sz="2800" b="1" dirty="0">
                <a:solidFill>
                  <a:srgbClr val="010000"/>
                </a:solidFill>
                <a:latin typeface="+mn-ea"/>
              </a:rPr>
              <a:t>的</a:t>
            </a:r>
            <a:r>
              <a:rPr lang="en-US" altLang="zh-CN" sz="2800" b="1" dirty="0">
                <a:solidFill>
                  <a:srgbClr val="010000"/>
                </a:solidFill>
                <a:latin typeface="+mn-ea"/>
              </a:rPr>
              <a:t>LR</a:t>
            </a:r>
            <a:r>
              <a:rPr lang="zh-CN" altLang="en-US" sz="2800" b="1" dirty="0">
                <a:solidFill>
                  <a:srgbClr val="010000"/>
                </a:solidFill>
                <a:latin typeface="+mn-ea"/>
              </a:rPr>
              <a:t>分析。</a:t>
            </a:r>
            <a:endParaRPr lang="zh-CN" altLang="en-US" sz="2800" b="1" dirty="0">
              <a:solidFill>
                <a:srgbClr val="010000"/>
              </a:solidFill>
              <a:latin typeface="+mn-ea"/>
            </a:endParaRPr>
          </a:p>
        </p:txBody>
      </p:sp>
      <p:sp>
        <p:nvSpPr>
          <p:cNvPr id="42" name="Line 7"/>
          <p:cNvSpPr>
            <a:spLocks noChangeShapeType="1"/>
          </p:cNvSpPr>
          <p:nvPr/>
        </p:nvSpPr>
        <p:spPr bwMode="auto">
          <a:xfrm flipV="1">
            <a:off x="858184" y="1939421"/>
            <a:ext cx="6719888" cy="9525"/>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useBgFill="1">
        <p:nvSpPr>
          <p:cNvPr id="43" name="Rectangle 8"/>
          <p:cNvSpPr>
            <a:spLocks noChangeArrowheads="1"/>
          </p:cNvSpPr>
          <p:nvPr/>
        </p:nvSpPr>
        <p:spPr bwMode="auto">
          <a:xfrm>
            <a:off x="1777347" y="1963233"/>
            <a:ext cx="914400"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10000"/>
                </a:solidFill>
                <a:latin typeface="+mn-ea"/>
              </a:rPr>
              <a:t>分析栈</a:t>
            </a:r>
            <a:endParaRPr lang="zh-CN" altLang="en-US" sz="2800" b="1">
              <a:solidFill>
                <a:srgbClr val="010000"/>
              </a:solidFill>
              <a:latin typeface="+mn-ea"/>
            </a:endParaRPr>
          </a:p>
        </p:txBody>
      </p:sp>
      <p:sp useBgFill="1">
        <p:nvSpPr>
          <p:cNvPr id="44" name="Rectangle 9"/>
          <p:cNvSpPr>
            <a:spLocks noChangeArrowheads="1"/>
          </p:cNvSpPr>
          <p:nvPr/>
        </p:nvSpPr>
        <p:spPr bwMode="auto">
          <a:xfrm>
            <a:off x="3387072" y="1972758"/>
            <a:ext cx="795337" cy="3905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10000"/>
                </a:solidFill>
                <a:latin typeface="+mn-ea"/>
              </a:rPr>
              <a:t>输入</a:t>
            </a:r>
            <a:endParaRPr lang="zh-CN" altLang="en-US" sz="2800" b="1">
              <a:solidFill>
                <a:srgbClr val="010000"/>
              </a:solidFill>
              <a:latin typeface="+mn-ea"/>
            </a:endParaRPr>
          </a:p>
        </p:txBody>
      </p:sp>
      <p:sp useBgFill="1">
        <p:nvSpPr>
          <p:cNvPr id="45" name="Rectangle 10"/>
          <p:cNvSpPr>
            <a:spLocks noChangeArrowheads="1"/>
          </p:cNvSpPr>
          <p:nvPr/>
        </p:nvSpPr>
        <p:spPr bwMode="auto">
          <a:xfrm>
            <a:off x="5125384" y="2058483"/>
            <a:ext cx="795338"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10000"/>
                </a:solidFill>
                <a:latin typeface="+mn-ea"/>
              </a:rPr>
              <a:t>动作</a:t>
            </a:r>
            <a:endParaRPr lang="zh-CN" altLang="en-US" sz="2800" b="1">
              <a:solidFill>
                <a:srgbClr val="010000"/>
              </a:solidFill>
              <a:latin typeface="+mn-ea"/>
            </a:endParaRPr>
          </a:p>
        </p:txBody>
      </p:sp>
      <p:sp useBgFill="1">
        <p:nvSpPr>
          <p:cNvPr id="46" name="Rectangle 11"/>
          <p:cNvSpPr>
            <a:spLocks noChangeArrowheads="1"/>
          </p:cNvSpPr>
          <p:nvPr/>
        </p:nvSpPr>
        <p:spPr bwMode="auto">
          <a:xfrm>
            <a:off x="796272" y="2039433"/>
            <a:ext cx="9144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10000"/>
                </a:solidFill>
                <a:latin typeface="+mn-ea"/>
              </a:rPr>
              <a:t>步骤</a:t>
            </a:r>
            <a:endParaRPr lang="zh-CN" altLang="en-US" sz="2800" b="1">
              <a:solidFill>
                <a:srgbClr val="010000"/>
              </a:solidFill>
              <a:latin typeface="+mn-ea"/>
            </a:endParaRPr>
          </a:p>
        </p:txBody>
      </p:sp>
      <p:sp>
        <p:nvSpPr>
          <p:cNvPr id="47" name="Line 12"/>
          <p:cNvSpPr>
            <a:spLocks noChangeShapeType="1"/>
          </p:cNvSpPr>
          <p:nvPr/>
        </p:nvSpPr>
        <p:spPr bwMode="auto">
          <a:xfrm>
            <a:off x="829609" y="2346456"/>
            <a:ext cx="67056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grpSp>
        <p:nvGrpSpPr>
          <p:cNvPr id="48" name="Group 14"/>
          <p:cNvGrpSpPr/>
          <p:nvPr/>
        </p:nvGrpSpPr>
        <p:grpSpPr bwMode="auto">
          <a:xfrm>
            <a:off x="1050272" y="2647446"/>
            <a:ext cx="6438900" cy="614363"/>
            <a:chOff x="528" y="1152"/>
            <a:chExt cx="4056" cy="387"/>
          </a:xfrm>
        </p:grpSpPr>
        <p:sp>
          <p:nvSpPr>
            <p:cNvPr id="49" name="Rectangle 15"/>
            <p:cNvSpPr>
              <a:spLocks noChangeArrowheads="1"/>
            </p:cNvSpPr>
            <p:nvPr/>
          </p:nvSpPr>
          <p:spPr bwMode="auto">
            <a:xfrm>
              <a:off x="981" y="1192"/>
              <a:ext cx="72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a:t>
              </a:r>
              <a:r>
                <a:rPr lang="en-US" altLang="zh-CN" sz="2800" b="1">
                  <a:solidFill>
                    <a:srgbClr val="010000"/>
                  </a:solidFill>
                  <a:latin typeface="+mn-ea"/>
                </a:rPr>
                <a:t>( </a:t>
              </a:r>
              <a:endParaRPr lang="en-US" altLang="zh-CN" sz="2800" b="1">
                <a:solidFill>
                  <a:srgbClr val="010000"/>
                </a:solidFill>
                <a:latin typeface="+mn-ea"/>
              </a:endParaRPr>
            </a:p>
          </p:txBody>
        </p:sp>
        <p:sp>
          <p:nvSpPr>
            <p:cNvPr id="50" name="Rectangle 16"/>
            <p:cNvSpPr>
              <a:spLocks noChangeArrowheads="1"/>
            </p:cNvSpPr>
            <p:nvPr/>
          </p:nvSpPr>
          <p:spPr bwMode="auto">
            <a:xfrm>
              <a:off x="1968" y="1152"/>
              <a:ext cx="9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latin typeface="+mn-ea"/>
                  <a:sym typeface="+mn-ea"/>
                </a:rPr>
                <a:t>a)a</a:t>
              </a:r>
              <a:r>
                <a:rPr lang="en-US" altLang="zh-CN" sz="2800" b="1">
                  <a:solidFill>
                    <a:srgbClr val="010000"/>
                  </a:solidFill>
                  <a:latin typeface="+mn-ea"/>
                </a:rPr>
                <a:t>$</a:t>
              </a:r>
              <a:endParaRPr lang="en-US" altLang="zh-CN" sz="2800" b="1">
                <a:solidFill>
                  <a:srgbClr val="010000"/>
                </a:solidFill>
                <a:latin typeface="+mn-ea"/>
              </a:endParaRPr>
            </a:p>
          </p:txBody>
        </p:sp>
        <p:sp>
          <p:nvSpPr>
            <p:cNvPr id="51" name="Rectangle 17"/>
            <p:cNvSpPr>
              <a:spLocks noChangeArrowheads="1"/>
            </p:cNvSpPr>
            <p:nvPr/>
          </p:nvSpPr>
          <p:spPr bwMode="auto">
            <a:xfrm>
              <a:off x="3096" y="1166"/>
              <a:ext cx="14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移进</a:t>
              </a:r>
              <a:endParaRPr lang="zh-CN" altLang="en-US" sz="2800" b="1">
                <a:solidFill>
                  <a:srgbClr val="010000"/>
                </a:solidFill>
                <a:latin typeface="+mn-ea"/>
              </a:endParaRPr>
            </a:p>
          </p:txBody>
        </p:sp>
        <p:sp>
          <p:nvSpPr>
            <p:cNvPr id="52" name="Rectangle 18"/>
            <p:cNvSpPr>
              <a:spLocks noChangeArrowheads="1"/>
            </p:cNvSpPr>
            <p:nvPr/>
          </p:nvSpPr>
          <p:spPr bwMode="auto">
            <a:xfrm>
              <a:off x="528" y="1210"/>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2</a:t>
              </a:r>
              <a:endParaRPr lang="zh-CN" altLang="en-US" sz="2800" b="1">
                <a:solidFill>
                  <a:srgbClr val="010000"/>
                </a:solidFill>
                <a:latin typeface="+mn-ea"/>
              </a:endParaRPr>
            </a:p>
          </p:txBody>
        </p:sp>
      </p:grpSp>
      <p:grpSp>
        <p:nvGrpSpPr>
          <p:cNvPr id="53" name="Group 19"/>
          <p:cNvGrpSpPr/>
          <p:nvPr/>
        </p:nvGrpSpPr>
        <p:grpSpPr bwMode="auto">
          <a:xfrm>
            <a:off x="1024872" y="3015746"/>
            <a:ext cx="6438900" cy="614363"/>
            <a:chOff x="520" y="1424"/>
            <a:chExt cx="4056" cy="387"/>
          </a:xfrm>
        </p:grpSpPr>
        <p:sp>
          <p:nvSpPr>
            <p:cNvPr id="54" name="Rectangle 20"/>
            <p:cNvSpPr>
              <a:spLocks noChangeArrowheads="1"/>
            </p:cNvSpPr>
            <p:nvPr/>
          </p:nvSpPr>
          <p:spPr bwMode="auto">
            <a:xfrm>
              <a:off x="973" y="1464"/>
              <a:ext cx="100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a:t>
              </a:r>
              <a:r>
                <a:rPr lang="en-US" altLang="zh-CN" sz="2800" b="1">
                  <a:solidFill>
                    <a:srgbClr val="010000"/>
                  </a:solidFill>
                  <a:latin typeface="+mn-ea"/>
                </a:rPr>
                <a:t>(a </a:t>
              </a:r>
              <a:endParaRPr lang="en-US" altLang="zh-CN" sz="2800" b="1">
                <a:solidFill>
                  <a:srgbClr val="010000"/>
                </a:solidFill>
                <a:latin typeface="+mn-ea"/>
              </a:endParaRPr>
            </a:p>
          </p:txBody>
        </p:sp>
        <p:sp>
          <p:nvSpPr>
            <p:cNvPr id="55" name="Rectangle 21"/>
            <p:cNvSpPr>
              <a:spLocks noChangeArrowheads="1"/>
            </p:cNvSpPr>
            <p:nvPr/>
          </p:nvSpPr>
          <p:spPr bwMode="auto">
            <a:xfrm>
              <a:off x="1960" y="1424"/>
              <a:ext cx="104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latin typeface="+mn-ea"/>
                  <a:sym typeface="+mn-ea"/>
                </a:rPr>
                <a:t> )a</a:t>
              </a:r>
              <a:r>
                <a:rPr lang="en-US" altLang="zh-CN" sz="2800" b="1">
                  <a:solidFill>
                    <a:srgbClr val="010000"/>
                  </a:solidFill>
                  <a:latin typeface="+mn-ea"/>
                </a:rPr>
                <a:t>$</a:t>
              </a:r>
              <a:endParaRPr lang="en-US" altLang="zh-CN" sz="2800" b="1">
                <a:solidFill>
                  <a:srgbClr val="010000"/>
                </a:solidFill>
                <a:latin typeface="+mn-ea"/>
              </a:endParaRPr>
            </a:p>
          </p:txBody>
        </p:sp>
        <p:sp>
          <p:nvSpPr>
            <p:cNvPr id="56" name="Rectangle 22"/>
            <p:cNvSpPr>
              <a:spLocks noChangeArrowheads="1"/>
            </p:cNvSpPr>
            <p:nvPr/>
          </p:nvSpPr>
          <p:spPr bwMode="auto">
            <a:xfrm>
              <a:off x="3088" y="1438"/>
              <a:ext cx="14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用</a:t>
              </a:r>
              <a:r>
                <a:rPr lang="en-US" altLang="zh-CN" sz="2800" b="1">
                  <a:solidFill>
                    <a:srgbClr val="010000"/>
                  </a:solidFill>
                  <a:latin typeface="+mn-ea"/>
                </a:rPr>
                <a:t>S→</a:t>
              </a:r>
              <a:r>
                <a:rPr lang="en-US" altLang="zh-CN" sz="2800" b="1">
                  <a:solidFill>
                    <a:srgbClr val="010000"/>
                  </a:solidFill>
                  <a:latin typeface="+mn-ea"/>
                  <a:sym typeface="Symbol" panose="05050102010706020507" pitchFamily="18" charset="2"/>
                </a:rPr>
                <a:t>a</a:t>
              </a:r>
              <a:r>
                <a:rPr lang="zh-CN" altLang="en-US" sz="2800" b="1">
                  <a:solidFill>
                    <a:srgbClr val="010000"/>
                  </a:solidFill>
                  <a:latin typeface="+mn-ea"/>
                </a:rPr>
                <a:t>归约</a:t>
              </a:r>
              <a:endParaRPr lang="zh-CN" altLang="en-US" sz="2800" b="1">
                <a:solidFill>
                  <a:srgbClr val="010000"/>
                </a:solidFill>
                <a:latin typeface="+mn-ea"/>
              </a:endParaRPr>
            </a:p>
          </p:txBody>
        </p:sp>
        <p:sp>
          <p:nvSpPr>
            <p:cNvPr id="57" name="Rectangle 23"/>
            <p:cNvSpPr>
              <a:spLocks noChangeArrowheads="1"/>
            </p:cNvSpPr>
            <p:nvPr/>
          </p:nvSpPr>
          <p:spPr bwMode="auto">
            <a:xfrm>
              <a:off x="520" y="1482"/>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3</a:t>
              </a:r>
              <a:endParaRPr lang="zh-CN" altLang="en-US" sz="2800" b="1">
                <a:solidFill>
                  <a:srgbClr val="010000"/>
                </a:solidFill>
                <a:latin typeface="+mn-ea"/>
              </a:endParaRPr>
            </a:p>
          </p:txBody>
        </p:sp>
      </p:grpSp>
      <p:grpSp>
        <p:nvGrpSpPr>
          <p:cNvPr id="58" name="Group 24"/>
          <p:cNvGrpSpPr/>
          <p:nvPr/>
        </p:nvGrpSpPr>
        <p:grpSpPr bwMode="auto">
          <a:xfrm>
            <a:off x="1012172" y="3393571"/>
            <a:ext cx="6438900" cy="592138"/>
            <a:chOff x="520" y="1582"/>
            <a:chExt cx="4056" cy="373"/>
          </a:xfrm>
        </p:grpSpPr>
        <p:sp>
          <p:nvSpPr>
            <p:cNvPr id="59" name="Rectangle 25"/>
            <p:cNvSpPr>
              <a:spLocks noChangeArrowheads="1"/>
            </p:cNvSpPr>
            <p:nvPr/>
          </p:nvSpPr>
          <p:spPr bwMode="auto">
            <a:xfrm>
              <a:off x="973" y="1608"/>
              <a:ext cx="98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a:t>
              </a:r>
              <a:r>
                <a:rPr lang="en-US" altLang="zh-CN" sz="2800" b="1">
                  <a:solidFill>
                    <a:srgbClr val="010000"/>
                  </a:solidFill>
                  <a:latin typeface="+mn-ea"/>
                </a:rPr>
                <a:t>(S </a:t>
              </a:r>
              <a:endParaRPr lang="en-US" altLang="zh-CN" sz="2800" b="1">
                <a:solidFill>
                  <a:srgbClr val="010000"/>
                </a:solidFill>
                <a:latin typeface="+mn-ea"/>
              </a:endParaRPr>
            </a:p>
          </p:txBody>
        </p:sp>
        <p:sp>
          <p:nvSpPr>
            <p:cNvPr id="60" name="Rectangle 26"/>
            <p:cNvSpPr>
              <a:spLocks noChangeArrowheads="1"/>
            </p:cNvSpPr>
            <p:nvPr/>
          </p:nvSpPr>
          <p:spPr bwMode="auto">
            <a:xfrm>
              <a:off x="1960" y="1584"/>
              <a:ext cx="9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10000"/>
                  </a:solidFill>
                  <a:latin typeface="+mn-ea"/>
                </a:rPr>
                <a:t> )a$</a:t>
              </a:r>
              <a:endParaRPr lang="en-US" altLang="zh-CN" sz="2800" b="1">
                <a:solidFill>
                  <a:srgbClr val="010000"/>
                </a:solidFill>
                <a:latin typeface="+mn-ea"/>
              </a:endParaRPr>
            </a:p>
          </p:txBody>
        </p:sp>
        <p:sp>
          <p:nvSpPr>
            <p:cNvPr id="61" name="Rectangle 27"/>
            <p:cNvSpPr>
              <a:spLocks noChangeArrowheads="1"/>
            </p:cNvSpPr>
            <p:nvPr/>
          </p:nvSpPr>
          <p:spPr bwMode="auto">
            <a:xfrm>
              <a:off x="3088" y="1582"/>
              <a:ext cx="14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移进</a:t>
              </a:r>
              <a:endParaRPr lang="zh-CN" altLang="en-US" sz="2800" b="1">
                <a:solidFill>
                  <a:srgbClr val="010000"/>
                </a:solidFill>
                <a:latin typeface="+mn-ea"/>
              </a:endParaRPr>
            </a:p>
          </p:txBody>
        </p:sp>
        <p:sp>
          <p:nvSpPr>
            <p:cNvPr id="62" name="Rectangle 28"/>
            <p:cNvSpPr>
              <a:spLocks noChangeArrowheads="1"/>
            </p:cNvSpPr>
            <p:nvPr/>
          </p:nvSpPr>
          <p:spPr bwMode="auto">
            <a:xfrm>
              <a:off x="520" y="1626"/>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4</a:t>
              </a:r>
              <a:endParaRPr lang="zh-CN" altLang="en-US" sz="2800" b="1">
                <a:solidFill>
                  <a:srgbClr val="010000"/>
                </a:solidFill>
                <a:latin typeface="+mn-ea"/>
              </a:endParaRPr>
            </a:p>
          </p:txBody>
        </p:sp>
      </p:grpSp>
      <p:grpSp>
        <p:nvGrpSpPr>
          <p:cNvPr id="63" name="Group 29"/>
          <p:cNvGrpSpPr/>
          <p:nvPr/>
        </p:nvGrpSpPr>
        <p:grpSpPr bwMode="auto">
          <a:xfrm>
            <a:off x="1012172" y="3787270"/>
            <a:ext cx="6438900" cy="592138"/>
            <a:chOff x="520" y="1966"/>
            <a:chExt cx="4056" cy="373"/>
          </a:xfrm>
        </p:grpSpPr>
        <p:sp>
          <p:nvSpPr>
            <p:cNvPr id="64" name="Rectangle 30"/>
            <p:cNvSpPr>
              <a:spLocks noChangeArrowheads="1"/>
            </p:cNvSpPr>
            <p:nvPr/>
          </p:nvSpPr>
          <p:spPr bwMode="auto">
            <a:xfrm>
              <a:off x="973" y="1992"/>
              <a:ext cx="85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a:t>
              </a:r>
              <a:r>
                <a:rPr lang="en-US" altLang="zh-CN" sz="2800" b="1">
                  <a:solidFill>
                    <a:srgbClr val="010000"/>
                  </a:solidFill>
                  <a:latin typeface="+mn-ea"/>
                  <a:sym typeface="+mn-ea"/>
                </a:rPr>
                <a:t>(S)</a:t>
              </a:r>
              <a:r>
                <a:rPr lang="en-US" altLang="zh-CN" sz="2800" b="1">
                  <a:solidFill>
                    <a:srgbClr val="010000"/>
                  </a:solidFill>
                  <a:latin typeface="+mn-ea"/>
                </a:rPr>
                <a:t> </a:t>
              </a:r>
              <a:endParaRPr lang="en-US" altLang="zh-CN" sz="2800" b="1">
                <a:solidFill>
                  <a:srgbClr val="010000"/>
                </a:solidFill>
                <a:latin typeface="+mn-ea"/>
              </a:endParaRPr>
            </a:p>
          </p:txBody>
        </p:sp>
        <p:sp>
          <p:nvSpPr>
            <p:cNvPr id="65" name="Rectangle 31"/>
            <p:cNvSpPr>
              <a:spLocks noChangeArrowheads="1"/>
            </p:cNvSpPr>
            <p:nvPr/>
          </p:nvSpPr>
          <p:spPr bwMode="auto">
            <a:xfrm>
              <a:off x="1960" y="1968"/>
              <a:ext cx="9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10000"/>
                  </a:solidFill>
                  <a:latin typeface="+mn-ea"/>
                </a:rPr>
                <a:t>  </a:t>
              </a:r>
              <a:r>
                <a:rPr lang="en-US" altLang="zh-CN" sz="2800" b="1">
                  <a:solidFill>
                    <a:srgbClr val="010000"/>
                  </a:solidFill>
                  <a:latin typeface="+mn-ea"/>
                  <a:sym typeface="+mn-ea"/>
                </a:rPr>
                <a:t>a</a:t>
              </a:r>
              <a:r>
                <a:rPr lang="en-US" altLang="zh-CN" sz="2800" b="1">
                  <a:solidFill>
                    <a:srgbClr val="010000"/>
                  </a:solidFill>
                  <a:latin typeface="+mn-ea"/>
                </a:rPr>
                <a:t>$</a:t>
              </a:r>
              <a:endParaRPr lang="en-US" altLang="zh-CN" sz="2800" b="1">
                <a:solidFill>
                  <a:srgbClr val="010000"/>
                </a:solidFill>
                <a:latin typeface="+mn-ea"/>
              </a:endParaRPr>
            </a:p>
          </p:txBody>
        </p:sp>
        <p:sp>
          <p:nvSpPr>
            <p:cNvPr id="66" name="Rectangle 32"/>
            <p:cNvSpPr>
              <a:spLocks noChangeArrowheads="1"/>
            </p:cNvSpPr>
            <p:nvPr/>
          </p:nvSpPr>
          <p:spPr bwMode="auto">
            <a:xfrm>
              <a:off x="3088" y="1966"/>
              <a:ext cx="14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移进</a:t>
              </a:r>
              <a:endParaRPr lang="zh-CN" altLang="en-US" sz="2800" b="1">
                <a:solidFill>
                  <a:srgbClr val="010000"/>
                </a:solidFill>
                <a:latin typeface="+mn-ea"/>
              </a:endParaRPr>
            </a:p>
          </p:txBody>
        </p:sp>
        <p:sp>
          <p:nvSpPr>
            <p:cNvPr id="67" name="Rectangle 33"/>
            <p:cNvSpPr>
              <a:spLocks noChangeArrowheads="1"/>
            </p:cNvSpPr>
            <p:nvPr/>
          </p:nvSpPr>
          <p:spPr bwMode="auto">
            <a:xfrm>
              <a:off x="520" y="2010"/>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10000"/>
                  </a:solidFill>
                  <a:latin typeface="+mn-ea"/>
                </a:rPr>
                <a:t>5</a:t>
              </a:r>
              <a:endParaRPr lang="en-US" altLang="zh-CN" sz="2800" b="1">
                <a:solidFill>
                  <a:srgbClr val="010000"/>
                </a:solidFill>
                <a:latin typeface="+mn-ea"/>
              </a:endParaRPr>
            </a:p>
          </p:txBody>
        </p:sp>
      </p:grpSp>
      <p:grpSp>
        <p:nvGrpSpPr>
          <p:cNvPr id="68" name="Group 34"/>
          <p:cNvGrpSpPr/>
          <p:nvPr/>
        </p:nvGrpSpPr>
        <p:grpSpPr bwMode="auto">
          <a:xfrm>
            <a:off x="1024872" y="4180971"/>
            <a:ext cx="6438900" cy="592138"/>
            <a:chOff x="528" y="2254"/>
            <a:chExt cx="4056" cy="373"/>
          </a:xfrm>
        </p:grpSpPr>
        <p:sp>
          <p:nvSpPr>
            <p:cNvPr id="69" name="Rectangle 35"/>
            <p:cNvSpPr>
              <a:spLocks noChangeArrowheads="1"/>
            </p:cNvSpPr>
            <p:nvPr/>
          </p:nvSpPr>
          <p:spPr bwMode="auto">
            <a:xfrm>
              <a:off x="981" y="2280"/>
              <a:ext cx="98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a:t>
              </a:r>
              <a:r>
                <a:rPr lang="en-US" altLang="zh-CN" sz="2800" b="1">
                  <a:solidFill>
                    <a:srgbClr val="010000"/>
                  </a:solidFill>
                  <a:latin typeface="+mn-ea"/>
                  <a:sym typeface="+mn-ea"/>
                </a:rPr>
                <a:t>(S)a</a:t>
              </a:r>
              <a:r>
                <a:rPr lang="en-US" altLang="zh-CN" sz="2800" b="1">
                  <a:solidFill>
                    <a:srgbClr val="010000"/>
                  </a:solidFill>
                  <a:latin typeface="+mn-ea"/>
                </a:rPr>
                <a:t> </a:t>
              </a:r>
              <a:endParaRPr lang="en-US" altLang="zh-CN" sz="2800" b="1">
                <a:solidFill>
                  <a:srgbClr val="010000"/>
                </a:solidFill>
                <a:latin typeface="+mn-ea"/>
              </a:endParaRPr>
            </a:p>
          </p:txBody>
        </p:sp>
        <p:sp>
          <p:nvSpPr>
            <p:cNvPr id="70" name="Rectangle 36"/>
            <p:cNvSpPr>
              <a:spLocks noChangeArrowheads="1"/>
            </p:cNvSpPr>
            <p:nvPr/>
          </p:nvSpPr>
          <p:spPr bwMode="auto">
            <a:xfrm>
              <a:off x="1968" y="2256"/>
              <a:ext cx="9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10000"/>
                  </a:solidFill>
                  <a:latin typeface="+mn-ea"/>
                </a:rPr>
                <a:t>    $</a:t>
              </a:r>
              <a:endParaRPr lang="en-US" altLang="zh-CN" sz="2800" b="1">
                <a:solidFill>
                  <a:srgbClr val="010000"/>
                </a:solidFill>
                <a:latin typeface="+mn-ea"/>
              </a:endParaRPr>
            </a:p>
          </p:txBody>
        </p:sp>
        <p:sp>
          <p:nvSpPr>
            <p:cNvPr id="71" name="Rectangle 37"/>
            <p:cNvSpPr>
              <a:spLocks noChangeArrowheads="1"/>
            </p:cNvSpPr>
            <p:nvPr/>
          </p:nvSpPr>
          <p:spPr bwMode="auto">
            <a:xfrm>
              <a:off x="3096" y="2254"/>
              <a:ext cx="14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sym typeface="+mn-ea"/>
                </a:rPr>
                <a:t>用</a:t>
              </a:r>
              <a:r>
                <a:rPr lang="en-US" altLang="zh-CN" sz="2800" b="1">
                  <a:solidFill>
                    <a:srgbClr val="010000"/>
                  </a:solidFill>
                  <a:latin typeface="+mn-ea"/>
                  <a:sym typeface="+mn-ea"/>
                </a:rPr>
                <a:t>S→</a:t>
              </a:r>
              <a:r>
                <a:rPr lang="en-US" altLang="zh-CN" sz="2800" b="1">
                  <a:solidFill>
                    <a:srgbClr val="010000"/>
                  </a:solidFill>
                  <a:latin typeface="+mn-ea"/>
                  <a:sym typeface="Symbol" panose="05050102010706020507" pitchFamily="18" charset="2"/>
                </a:rPr>
                <a:t>a</a:t>
              </a:r>
              <a:r>
                <a:rPr lang="zh-CN" altLang="en-US" sz="2800" b="1">
                  <a:solidFill>
                    <a:srgbClr val="010000"/>
                  </a:solidFill>
                  <a:latin typeface="+mn-ea"/>
                  <a:sym typeface="+mn-ea"/>
                </a:rPr>
                <a:t>归约</a:t>
              </a:r>
              <a:endParaRPr lang="zh-CN" altLang="en-US" sz="2800" b="1">
                <a:solidFill>
                  <a:srgbClr val="010000"/>
                </a:solidFill>
                <a:latin typeface="+mn-ea"/>
                <a:sym typeface="+mn-ea"/>
              </a:endParaRPr>
            </a:p>
          </p:txBody>
        </p:sp>
        <p:sp>
          <p:nvSpPr>
            <p:cNvPr id="72" name="Rectangle 38"/>
            <p:cNvSpPr>
              <a:spLocks noChangeArrowheads="1"/>
            </p:cNvSpPr>
            <p:nvPr/>
          </p:nvSpPr>
          <p:spPr bwMode="auto">
            <a:xfrm>
              <a:off x="528" y="2298"/>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6</a:t>
              </a:r>
              <a:endParaRPr lang="zh-CN" altLang="en-US" sz="2800" b="1">
                <a:solidFill>
                  <a:srgbClr val="010000"/>
                </a:solidFill>
                <a:latin typeface="+mn-ea"/>
              </a:endParaRPr>
            </a:p>
          </p:txBody>
        </p:sp>
      </p:grpSp>
      <p:grpSp>
        <p:nvGrpSpPr>
          <p:cNvPr id="73" name="Group 39"/>
          <p:cNvGrpSpPr/>
          <p:nvPr/>
        </p:nvGrpSpPr>
        <p:grpSpPr bwMode="auto">
          <a:xfrm>
            <a:off x="1012172" y="4582291"/>
            <a:ext cx="7404100" cy="592138"/>
            <a:chOff x="520" y="2502"/>
            <a:chExt cx="4664" cy="373"/>
          </a:xfrm>
        </p:grpSpPr>
        <p:sp>
          <p:nvSpPr>
            <p:cNvPr id="74" name="Rectangle 40"/>
            <p:cNvSpPr>
              <a:spLocks noChangeArrowheads="1"/>
            </p:cNvSpPr>
            <p:nvPr/>
          </p:nvSpPr>
          <p:spPr bwMode="auto">
            <a:xfrm>
              <a:off x="973" y="2528"/>
              <a:ext cx="99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a:t>
              </a:r>
              <a:r>
                <a:rPr lang="en-US" altLang="zh-CN" sz="2800" b="1">
                  <a:solidFill>
                    <a:srgbClr val="010000"/>
                  </a:solidFill>
                  <a:latin typeface="+mn-ea"/>
                </a:rPr>
                <a:t>(S)S </a:t>
              </a:r>
              <a:endParaRPr lang="en-US" altLang="zh-CN" sz="2800" b="1">
                <a:solidFill>
                  <a:srgbClr val="010000"/>
                </a:solidFill>
                <a:latin typeface="+mn-ea"/>
              </a:endParaRPr>
            </a:p>
          </p:txBody>
        </p:sp>
        <p:sp>
          <p:nvSpPr>
            <p:cNvPr id="75" name="Rectangle 41"/>
            <p:cNvSpPr>
              <a:spLocks noChangeArrowheads="1"/>
            </p:cNvSpPr>
            <p:nvPr/>
          </p:nvSpPr>
          <p:spPr bwMode="auto">
            <a:xfrm>
              <a:off x="1960" y="2504"/>
              <a:ext cx="9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10000"/>
                  </a:solidFill>
                  <a:latin typeface="+mn-ea"/>
                </a:rPr>
                <a:t>    $</a:t>
              </a:r>
              <a:endParaRPr lang="en-US" altLang="zh-CN" sz="2800" b="1">
                <a:solidFill>
                  <a:srgbClr val="010000"/>
                </a:solidFill>
                <a:latin typeface="+mn-ea"/>
              </a:endParaRPr>
            </a:p>
          </p:txBody>
        </p:sp>
        <p:sp>
          <p:nvSpPr>
            <p:cNvPr id="76" name="Rectangle 42"/>
            <p:cNvSpPr>
              <a:spLocks noChangeArrowheads="1"/>
            </p:cNvSpPr>
            <p:nvPr/>
          </p:nvSpPr>
          <p:spPr bwMode="auto">
            <a:xfrm>
              <a:off x="3088" y="2502"/>
              <a:ext cx="209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10000"/>
                  </a:solidFill>
                  <a:latin typeface="+mn-ea"/>
                </a:rPr>
                <a:t>用</a:t>
              </a:r>
              <a:r>
                <a:rPr lang="en-US" altLang="zh-CN" sz="2800" b="1">
                  <a:solidFill>
                    <a:srgbClr val="010000"/>
                  </a:solidFill>
                  <a:latin typeface="+mn-ea"/>
                  <a:sym typeface="+mn-ea"/>
                </a:rPr>
                <a:t>S→</a:t>
              </a:r>
              <a:r>
                <a:rPr lang="en-US" altLang="zh-CN" sz="2800" b="1">
                  <a:solidFill>
                    <a:srgbClr val="010000"/>
                  </a:solidFill>
                  <a:latin typeface="+mn-ea"/>
                  <a:sym typeface="Symbol" panose="05050102010706020507" pitchFamily="18" charset="2"/>
                </a:rPr>
                <a:t>(S)S</a:t>
              </a:r>
              <a:r>
                <a:rPr lang="zh-CN" altLang="en-US" sz="2800" b="1">
                  <a:solidFill>
                    <a:srgbClr val="010000"/>
                  </a:solidFill>
                  <a:latin typeface="+mn-ea"/>
                  <a:sym typeface="+mn-ea"/>
                </a:rPr>
                <a:t>归约</a:t>
              </a:r>
              <a:endParaRPr lang="zh-CN" altLang="en-US" sz="2800" b="1">
                <a:solidFill>
                  <a:srgbClr val="010000"/>
                </a:solidFill>
                <a:latin typeface="+mn-ea"/>
                <a:sym typeface="+mn-ea"/>
              </a:endParaRPr>
            </a:p>
          </p:txBody>
        </p:sp>
        <p:sp>
          <p:nvSpPr>
            <p:cNvPr id="77" name="Rectangle 43"/>
            <p:cNvSpPr>
              <a:spLocks noChangeArrowheads="1"/>
            </p:cNvSpPr>
            <p:nvPr/>
          </p:nvSpPr>
          <p:spPr bwMode="auto">
            <a:xfrm>
              <a:off x="520" y="2546"/>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10000"/>
                  </a:solidFill>
                  <a:latin typeface="+mn-ea"/>
                </a:rPr>
                <a:t>7</a:t>
              </a:r>
              <a:endParaRPr lang="zh-CN" altLang="en-US" sz="2800" b="1">
                <a:solidFill>
                  <a:srgbClr val="010000"/>
                </a:solidFill>
                <a:latin typeface="+mn-ea"/>
              </a:endParaRPr>
            </a:p>
          </p:txBody>
        </p:sp>
      </p:grpSp>
      <p:sp>
        <p:nvSpPr>
          <p:cNvPr id="83" name="Line 49"/>
          <p:cNvSpPr>
            <a:spLocks noChangeShapeType="1"/>
          </p:cNvSpPr>
          <p:nvPr/>
        </p:nvSpPr>
        <p:spPr bwMode="auto">
          <a:xfrm flipV="1">
            <a:off x="2050397" y="6378388"/>
            <a:ext cx="6948487" cy="1428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grpSp>
        <p:nvGrpSpPr>
          <p:cNvPr id="96" name="Group 44"/>
          <p:cNvGrpSpPr/>
          <p:nvPr/>
        </p:nvGrpSpPr>
        <p:grpSpPr bwMode="auto">
          <a:xfrm>
            <a:off x="1005822" y="4962025"/>
            <a:ext cx="5803900" cy="538163"/>
            <a:chOff x="512" y="2767"/>
            <a:chExt cx="3656" cy="339"/>
          </a:xfrm>
        </p:grpSpPr>
        <p:sp>
          <p:nvSpPr>
            <p:cNvPr id="97" name="Rectangle 45"/>
            <p:cNvSpPr>
              <a:spLocks noChangeArrowheads="1"/>
            </p:cNvSpPr>
            <p:nvPr/>
          </p:nvSpPr>
          <p:spPr bwMode="auto">
            <a:xfrm>
              <a:off x="512" y="2777"/>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10000"/>
                  </a:solidFill>
                  <a:latin typeface="+mn-ea"/>
                </a:rPr>
                <a:t>8</a:t>
              </a:r>
              <a:endParaRPr lang="en-US" altLang="zh-CN" sz="2800" b="1">
                <a:solidFill>
                  <a:srgbClr val="010000"/>
                </a:solidFill>
                <a:latin typeface="+mn-ea"/>
              </a:endParaRPr>
            </a:p>
          </p:txBody>
        </p:sp>
        <p:sp>
          <p:nvSpPr>
            <p:cNvPr id="98" name="Rectangle 46"/>
            <p:cNvSpPr>
              <a:spLocks noChangeArrowheads="1"/>
            </p:cNvSpPr>
            <p:nvPr/>
          </p:nvSpPr>
          <p:spPr bwMode="auto">
            <a:xfrm>
              <a:off x="952" y="2776"/>
              <a:ext cx="77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 </a:t>
              </a:r>
              <a:r>
                <a:rPr lang="en-US" altLang="zh-CN" sz="2800" b="1">
                  <a:solidFill>
                    <a:srgbClr val="010000"/>
                  </a:solidFill>
                  <a:latin typeface="+mn-ea"/>
                </a:rPr>
                <a:t>S</a:t>
              </a:r>
              <a:endParaRPr lang="en-US" altLang="zh-CN" sz="2800" b="1">
                <a:solidFill>
                  <a:srgbClr val="010000"/>
                </a:solidFill>
                <a:latin typeface="+mn-ea"/>
              </a:endParaRPr>
            </a:p>
          </p:txBody>
        </p:sp>
        <p:sp>
          <p:nvSpPr>
            <p:cNvPr id="99" name="Rectangle 47"/>
            <p:cNvSpPr>
              <a:spLocks noChangeArrowheads="1"/>
            </p:cNvSpPr>
            <p:nvPr/>
          </p:nvSpPr>
          <p:spPr bwMode="auto">
            <a:xfrm>
              <a:off x="2188" y="2776"/>
              <a:ext cx="54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a:t>
              </a:r>
              <a:endParaRPr lang="zh-CN" altLang="en-US" sz="2800" b="1">
                <a:solidFill>
                  <a:srgbClr val="010000"/>
                </a:solidFill>
                <a:latin typeface="+mn-ea"/>
              </a:endParaRPr>
            </a:p>
          </p:txBody>
        </p:sp>
        <p:sp>
          <p:nvSpPr>
            <p:cNvPr id="100" name="Rectangle 48"/>
            <p:cNvSpPr>
              <a:spLocks noChangeArrowheads="1"/>
            </p:cNvSpPr>
            <p:nvPr/>
          </p:nvSpPr>
          <p:spPr bwMode="auto">
            <a:xfrm>
              <a:off x="3105" y="2767"/>
              <a:ext cx="10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10000"/>
                  </a:solidFill>
                  <a:latin typeface="+mn-ea"/>
                </a:rPr>
                <a:t>接受</a:t>
              </a:r>
              <a:endParaRPr lang="zh-CN" altLang="en-US" sz="2800" b="1">
                <a:solidFill>
                  <a:srgbClr val="010000"/>
                </a:solidFill>
                <a:latin typeface="+mn-ea"/>
              </a:endParaRPr>
            </a:p>
          </p:txBody>
        </p:sp>
      </p:grpSp>
      <p:sp useBgFill="1">
        <p:nvSpPr>
          <p:cNvPr id="101" name="Rectangle 10"/>
          <p:cNvSpPr>
            <a:spLocks noChangeArrowheads="1"/>
          </p:cNvSpPr>
          <p:nvPr/>
        </p:nvSpPr>
        <p:spPr bwMode="auto">
          <a:xfrm>
            <a:off x="7709834" y="2190246"/>
            <a:ext cx="596900" cy="340836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dirty="0">
                <a:solidFill>
                  <a:srgbClr val="010000"/>
                </a:solidFill>
                <a:latin typeface="+mn-ea"/>
              </a:rPr>
              <a:t>句柄</a:t>
            </a:r>
            <a:endParaRPr lang="zh-CN" altLang="en-US" sz="2800" b="1" dirty="0">
              <a:solidFill>
                <a:srgbClr val="010000"/>
              </a:solidFill>
              <a:latin typeface="+mn-ea"/>
            </a:endParaRPr>
          </a:p>
          <a:p>
            <a:pPr algn="ctr"/>
            <a:r>
              <a:rPr lang="zh-CN" altLang="en-US" sz="2800" b="1" dirty="0">
                <a:solidFill>
                  <a:srgbClr val="010000"/>
                </a:solidFill>
                <a:latin typeface="+mn-ea"/>
              </a:rPr>
              <a:t>的上</a:t>
            </a:r>
            <a:endParaRPr lang="en-US" altLang="zh-CN" sz="2800" b="1" dirty="0">
              <a:solidFill>
                <a:srgbClr val="010000"/>
              </a:solidFill>
              <a:latin typeface="+mn-ea"/>
            </a:endParaRPr>
          </a:p>
          <a:p>
            <a:pPr algn="ctr"/>
            <a:r>
              <a:rPr lang="zh-CN" altLang="en-US" sz="2800" b="1" dirty="0">
                <a:solidFill>
                  <a:srgbClr val="010000"/>
                </a:solidFill>
                <a:latin typeface="+mn-ea"/>
              </a:rPr>
              <a:t>下文</a:t>
            </a:r>
            <a:endParaRPr lang="en-US" altLang="zh-CN" sz="2800" b="1" dirty="0">
              <a:solidFill>
                <a:srgbClr val="010000"/>
              </a:solidFill>
              <a:latin typeface="+mn-ea"/>
            </a:endParaRPr>
          </a:p>
          <a:p>
            <a:pPr algn="ctr"/>
            <a:r>
              <a:rPr lang="zh-CN" altLang="en-US" sz="2800" b="1" dirty="0">
                <a:solidFill>
                  <a:srgbClr val="010000"/>
                </a:solidFill>
                <a:latin typeface="+mn-ea"/>
              </a:rPr>
              <a:t>环境</a:t>
            </a:r>
            <a:endParaRPr lang="en-US" altLang="zh-CN" sz="2800" b="1" dirty="0">
              <a:solidFill>
                <a:srgbClr val="010000"/>
              </a:solidFill>
              <a:latin typeface="+mn-ea"/>
            </a:endParaRPr>
          </a:p>
          <a:p>
            <a:pPr algn="ctr"/>
            <a:r>
              <a:rPr lang="zh-CN" altLang="en-US" sz="2800" b="1" dirty="0">
                <a:solidFill>
                  <a:srgbClr val="010000"/>
                </a:solidFill>
                <a:latin typeface="+mn-ea"/>
              </a:rPr>
              <a:t>是句</a:t>
            </a:r>
            <a:endParaRPr lang="en-US" altLang="zh-CN" sz="2800" b="1" dirty="0">
              <a:solidFill>
                <a:srgbClr val="010000"/>
              </a:solidFill>
              <a:latin typeface="+mn-ea"/>
            </a:endParaRPr>
          </a:p>
          <a:p>
            <a:pPr algn="ctr"/>
            <a:r>
              <a:rPr lang="zh-CN" altLang="en-US" sz="2800" b="1" dirty="0">
                <a:solidFill>
                  <a:srgbClr val="010000"/>
                </a:solidFill>
                <a:latin typeface="+mn-ea"/>
              </a:rPr>
              <a:t>型</a:t>
            </a:r>
            <a:endParaRPr lang="zh-CN" altLang="en-US" sz="2800" b="1" dirty="0">
              <a:solidFill>
                <a:srgbClr val="010000"/>
              </a:solidFill>
              <a:latin typeface="+mn-ea"/>
            </a:endParaRPr>
          </a:p>
        </p:txBody>
      </p:sp>
      <p:cxnSp>
        <p:nvCxnSpPr>
          <p:cNvPr id="102" name="直接连接符 101"/>
          <p:cNvCxnSpPr/>
          <p:nvPr/>
        </p:nvCxnSpPr>
        <p:spPr>
          <a:xfrm flipV="1">
            <a:off x="1792521" y="3507589"/>
            <a:ext cx="485588" cy="8124"/>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444954" y="2624704"/>
            <a:ext cx="1198880" cy="398780"/>
          </a:xfrm>
          <a:prstGeom prst="rect">
            <a:avLst/>
          </a:prstGeom>
          <a:noFill/>
        </p:spPr>
        <p:txBody>
          <a:bodyPr wrap="none" rtlCol="0">
            <a:spAutoFit/>
          </a:bodyPr>
          <a:lstStyle/>
          <a:p>
            <a:r>
              <a:rPr lang="zh-CN" altLang="en-US" sz="2000" b="1" dirty="0">
                <a:solidFill>
                  <a:srgbClr val="FF0000"/>
                </a:solidFill>
              </a:rPr>
              <a:t>可归前缀</a:t>
            </a:r>
            <a:endParaRPr lang="zh-CN" altLang="en-US" sz="2000" b="1" dirty="0">
              <a:solidFill>
                <a:srgbClr val="FF0000"/>
              </a:solidFill>
            </a:endParaRPr>
          </a:p>
        </p:txBody>
      </p:sp>
      <p:cxnSp>
        <p:nvCxnSpPr>
          <p:cNvPr id="5" name="直接箭头连接符 4"/>
          <p:cNvCxnSpPr/>
          <p:nvPr/>
        </p:nvCxnSpPr>
        <p:spPr>
          <a:xfrm>
            <a:off x="1471793" y="3025548"/>
            <a:ext cx="315079" cy="3677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10" name="Group 50"/>
          <p:cNvGrpSpPr/>
          <p:nvPr/>
        </p:nvGrpSpPr>
        <p:grpSpPr bwMode="auto">
          <a:xfrm>
            <a:off x="9222573" y="1344548"/>
            <a:ext cx="1717675" cy="812799"/>
            <a:chOff x="654" y="1920"/>
            <a:chExt cx="1082" cy="512"/>
          </a:xfrm>
        </p:grpSpPr>
        <p:sp>
          <p:nvSpPr>
            <p:cNvPr id="11" name="Text Box 31"/>
            <p:cNvSpPr txBox="1">
              <a:spLocks noChangeArrowheads="1"/>
            </p:cNvSpPr>
            <p:nvPr>
              <p:custDataLst>
                <p:tags r:id="rId1"/>
              </p:custDataLst>
            </p:nvPr>
          </p:nvSpPr>
          <p:spPr bwMode="auto">
            <a:xfrm>
              <a:off x="654" y="1920"/>
              <a:ext cx="108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3200" b="1" dirty="0">
                  <a:latin typeface="+mn-ea"/>
                </a:rPr>
                <a:t>(a)a</a:t>
              </a:r>
              <a:endParaRPr lang="en-US" altLang="zh-CN" sz="3200" b="1" dirty="0">
                <a:latin typeface="+mn-ea"/>
              </a:endParaRPr>
            </a:p>
          </p:txBody>
        </p:sp>
        <p:grpSp>
          <p:nvGrpSpPr>
            <p:cNvPr id="13" name="Group 32"/>
            <p:cNvGrpSpPr/>
            <p:nvPr/>
          </p:nvGrpSpPr>
          <p:grpSpPr bwMode="auto">
            <a:xfrm>
              <a:off x="1048" y="1920"/>
              <a:ext cx="384" cy="512"/>
              <a:chOff x="1248" y="1632"/>
              <a:chExt cx="384" cy="512"/>
            </a:xfrm>
          </p:grpSpPr>
          <p:sp>
            <p:nvSpPr>
              <p:cNvPr id="14" name="Text Box 33"/>
              <p:cNvSpPr txBox="1">
                <a:spLocks noChangeArrowheads="1"/>
              </p:cNvSpPr>
              <p:nvPr>
                <p:custDataLst>
                  <p:tags r:id="rId2"/>
                </p:custDataLst>
              </p:nvPr>
            </p:nvSpPr>
            <p:spPr bwMode="auto">
              <a:xfrm>
                <a:off x="1266" y="177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sp>
            <p:nvSpPr>
              <p:cNvPr id="16" name="Text Box 34"/>
              <p:cNvSpPr txBox="1">
                <a:spLocks noChangeArrowheads="1"/>
              </p:cNvSpPr>
              <p:nvPr>
                <p:custDataLst>
                  <p:tags r:id="rId3"/>
                </p:custDataLst>
              </p:nvPr>
            </p:nvSpPr>
            <p:spPr bwMode="auto">
              <a:xfrm>
                <a:off x="1248" y="1632"/>
                <a:ext cx="38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grpSp>
      </p:grpSp>
      <p:sp>
        <p:nvSpPr>
          <p:cNvPr id="17" name="Text Box 35"/>
          <p:cNvSpPr txBox="1">
            <a:spLocks noChangeArrowheads="1"/>
          </p:cNvSpPr>
          <p:nvPr>
            <p:custDataLst>
              <p:tags r:id="rId4"/>
            </p:custDataLst>
          </p:nvPr>
        </p:nvSpPr>
        <p:spPr bwMode="auto">
          <a:xfrm>
            <a:off x="10292548" y="1344548"/>
            <a:ext cx="14001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dirty="0" err="1">
                <a:latin typeface="+mn-ea"/>
              </a:rPr>
              <a:t>(S)a</a:t>
            </a:r>
            <a:endParaRPr lang="en-US" altLang="zh-CN" sz="3200" b="1" dirty="0" err="1">
              <a:latin typeface="+mn-ea"/>
            </a:endParaRPr>
          </a:p>
        </p:txBody>
      </p:sp>
      <p:grpSp>
        <p:nvGrpSpPr>
          <p:cNvPr id="18" name="组合 78"/>
          <p:cNvGrpSpPr/>
          <p:nvPr/>
        </p:nvGrpSpPr>
        <p:grpSpPr bwMode="auto">
          <a:xfrm>
            <a:off x="9863923" y="1888426"/>
            <a:ext cx="1768474" cy="802344"/>
            <a:chOff x="2071670" y="3000372"/>
            <a:chExt cx="1768487" cy="802350"/>
          </a:xfrm>
        </p:grpSpPr>
        <p:grpSp>
          <p:nvGrpSpPr>
            <p:cNvPr id="19" name="Group 36"/>
            <p:cNvGrpSpPr/>
            <p:nvPr/>
          </p:nvGrpSpPr>
          <p:grpSpPr bwMode="auto">
            <a:xfrm>
              <a:off x="2071670" y="3000372"/>
              <a:ext cx="609600" cy="802350"/>
              <a:chOff x="1248" y="1632"/>
              <a:chExt cx="384" cy="529"/>
            </a:xfrm>
          </p:grpSpPr>
          <p:sp>
            <p:nvSpPr>
              <p:cNvPr id="21" name="Text Box 37"/>
              <p:cNvSpPr txBox="1">
                <a:spLocks noChangeArrowheads="1"/>
              </p:cNvSpPr>
              <p:nvPr>
                <p:custDataLst>
                  <p:tags r:id="rId5"/>
                </p:custDataLst>
              </p:nvPr>
            </p:nvSpPr>
            <p:spPr bwMode="auto">
              <a:xfrm>
                <a:off x="1266" y="1776"/>
                <a:ext cx="288"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sp>
            <p:nvSpPr>
              <p:cNvPr id="22" name="Text Box 38"/>
              <p:cNvSpPr txBox="1">
                <a:spLocks noChangeArrowheads="1"/>
              </p:cNvSpPr>
              <p:nvPr>
                <p:custDataLst>
                  <p:tags r:id="rId6"/>
                </p:custDataLst>
              </p:nvPr>
            </p:nvSpPr>
            <p:spPr bwMode="auto">
              <a:xfrm>
                <a:off x="1248" y="1632"/>
                <a:ext cx="38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grpSp>
        <p:sp>
          <p:nvSpPr>
            <p:cNvPr id="20" name="Text Box 39"/>
            <p:cNvSpPr txBox="1">
              <a:spLocks noChangeArrowheads="1"/>
            </p:cNvSpPr>
            <p:nvPr>
              <p:custDataLst>
                <p:tags r:id="rId7"/>
              </p:custDataLst>
            </p:nvPr>
          </p:nvSpPr>
          <p:spPr bwMode="auto">
            <a:xfrm>
              <a:off x="2571735" y="3071810"/>
              <a:ext cx="1268422" cy="58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3200" b="1" dirty="0" err="1">
                  <a:latin typeface="+mn-ea"/>
                </a:rPr>
                <a:t>(S)S</a:t>
              </a:r>
              <a:endParaRPr lang="en-US" altLang="zh-CN" sz="3200" b="1" dirty="0" err="1">
                <a:latin typeface="+mn-ea"/>
              </a:endParaRPr>
            </a:p>
          </p:txBody>
        </p:sp>
      </p:grpSp>
      <p:grpSp>
        <p:nvGrpSpPr>
          <p:cNvPr id="28" name="组合 80"/>
          <p:cNvGrpSpPr/>
          <p:nvPr/>
        </p:nvGrpSpPr>
        <p:grpSpPr bwMode="auto">
          <a:xfrm>
            <a:off x="9848048" y="2481833"/>
            <a:ext cx="1042987" cy="812799"/>
            <a:chOff x="2071670" y="4357694"/>
            <a:chExt cx="1043018" cy="812801"/>
          </a:xfrm>
        </p:grpSpPr>
        <p:grpSp>
          <p:nvGrpSpPr>
            <p:cNvPr id="29" name="Group 44"/>
            <p:cNvGrpSpPr/>
            <p:nvPr/>
          </p:nvGrpSpPr>
          <p:grpSpPr bwMode="auto">
            <a:xfrm>
              <a:off x="2071670" y="4357694"/>
              <a:ext cx="609600" cy="812801"/>
              <a:chOff x="1248" y="1632"/>
              <a:chExt cx="384" cy="512"/>
            </a:xfrm>
          </p:grpSpPr>
          <p:sp>
            <p:nvSpPr>
              <p:cNvPr id="31" name="Text Box 45"/>
              <p:cNvSpPr txBox="1">
                <a:spLocks noChangeArrowheads="1"/>
              </p:cNvSpPr>
              <p:nvPr>
                <p:custDataLst>
                  <p:tags r:id="rId8"/>
                </p:custDataLst>
              </p:nvPr>
            </p:nvSpPr>
            <p:spPr bwMode="auto">
              <a:xfrm>
                <a:off x="1266" y="177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sp>
            <p:nvSpPr>
              <p:cNvPr id="32" name="Text Box 46"/>
              <p:cNvSpPr txBox="1">
                <a:spLocks noChangeArrowheads="1"/>
              </p:cNvSpPr>
              <p:nvPr>
                <p:custDataLst>
                  <p:tags r:id="rId9"/>
                </p:custDataLst>
              </p:nvPr>
            </p:nvSpPr>
            <p:spPr bwMode="auto">
              <a:xfrm>
                <a:off x="1248" y="1632"/>
                <a:ext cx="38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latin typeface="+mn-ea"/>
                    <a:sym typeface="Symbol" panose="05050102010706020507" pitchFamily="18" charset="2"/>
                  </a:rPr>
                  <a:t></a:t>
                </a:r>
                <a:endParaRPr lang="zh-CN" altLang="en-US" sz="3200" b="1">
                  <a:latin typeface="+mn-ea"/>
                  <a:sym typeface="Symbol" panose="05050102010706020507" pitchFamily="18" charset="2"/>
                </a:endParaRPr>
              </a:p>
            </p:txBody>
          </p:sp>
        </p:grpSp>
        <p:sp>
          <p:nvSpPr>
            <p:cNvPr id="30" name="Text Box 47"/>
            <p:cNvSpPr txBox="1">
              <a:spLocks noChangeArrowheads="1"/>
            </p:cNvSpPr>
            <p:nvPr>
              <p:custDataLst>
                <p:tags r:id="rId10"/>
              </p:custDataLst>
            </p:nvPr>
          </p:nvSpPr>
          <p:spPr bwMode="auto">
            <a:xfrm>
              <a:off x="2643174" y="4428814"/>
              <a:ext cx="471514" cy="58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latin typeface="+mn-ea"/>
                </a:rPr>
                <a:t>S</a:t>
              </a:r>
              <a:endParaRPr lang="en-US" altLang="zh-CN" sz="3200" b="1">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arn(outHorizontal)">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arn(out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barn(outHorizontal)">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barn(outHorizontal)">
                                      <p:cBhvr>
                                        <p:cTn id="22" dur="5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barn(outHorizontal)">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barn(outHorizontal)">
                                      <p:cBhvr>
                                        <p:cTn id="32" dur="500"/>
                                        <p:tgtEl>
                                          <p:spTgt spid="7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barn(outHorizontal)">
                                      <p:cBhvr>
                                        <p:cTn id="37" dur="500"/>
                                        <p:tgtEl>
                                          <p:spTgt spid="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wipe(up)">
                                      <p:cBhvr>
                                        <p:cTn id="42" dur="500"/>
                                        <p:tgtEl>
                                          <p:spTgt spid="102"/>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up)">
                                      <p:cBhvr>
                                        <p:cTn id="45" dur="500"/>
                                        <p:tgtEl>
                                          <p:spTgt spid="3"/>
                                        </p:tgtEl>
                                      </p:cBhvr>
                                    </p:animEffect>
                                  </p:childTnLst>
                                </p:cTn>
                              </p:par>
                              <p:par>
                                <p:cTn id="46" presetID="22" presetClass="entr" presetSubtype="1"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99415" y="276860"/>
            <a:ext cx="7453630" cy="593090"/>
          </a:xfrm>
        </p:spPr>
        <p:txBody>
          <a:bodyPr/>
          <a:lstStyle/>
          <a:p>
            <a:r>
              <a:rPr lang="en-US" altLang="zh-CN" dirty="0"/>
              <a:t>4.2   LR </a:t>
            </a:r>
            <a:r>
              <a:rPr lang="zh-CN" altLang="en-US" dirty="0"/>
              <a:t>分析概览（续）</a:t>
            </a:r>
            <a:endParaRPr lang="zh-CN" altLang="en-US" dirty="0"/>
          </a:p>
        </p:txBody>
      </p:sp>
      <p:sp>
        <p:nvSpPr>
          <p:cNvPr id="37" name="Rectangle 2"/>
          <p:cNvSpPr>
            <a:spLocks noChangeArrowheads="1"/>
          </p:cNvSpPr>
          <p:nvPr/>
        </p:nvSpPr>
        <p:spPr bwMode="auto">
          <a:xfrm>
            <a:off x="4806315" y="1950085"/>
            <a:ext cx="19050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zh-CN" altLang="en-US" sz="2400" b="1">
                <a:solidFill>
                  <a:srgbClr val="010000"/>
                </a:solidFill>
                <a:latin typeface="+mn-ea"/>
              </a:rPr>
              <a:t>移进</a:t>
            </a:r>
            <a:endParaRPr lang="zh-CN" altLang="en-US" sz="2400" b="1">
              <a:solidFill>
                <a:srgbClr val="010000"/>
              </a:solidFill>
              <a:latin typeface="+mn-ea"/>
            </a:endParaRPr>
          </a:p>
        </p:txBody>
      </p:sp>
      <p:sp>
        <p:nvSpPr>
          <p:cNvPr id="38" name="Rectangle 3"/>
          <p:cNvSpPr>
            <a:spLocks noChangeArrowheads="1"/>
          </p:cNvSpPr>
          <p:nvPr/>
        </p:nvSpPr>
        <p:spPr bwMode="auto">
          <a:xfrm>
            <a:off x="1453515" y="2013585"/>
            <a:ext cx="10204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a:t>
            </a:r>
            <a:endParaRPr lang="zh-CN" altLang="en-US" sz="2400" b="1">
              <a:solidFill>
                <a:srgbClr val="010000"/>
              </a:solidFill>
              <a:latin typeface="+mn-ea"/>
            </a:endParaRPr>
          </a:p>
        </p:txBody>
      </p:sp>
      <p:sp>
        <p:nvSpPr>
          <p:cNvPr id="39" name="Rectangle 4"/>
          <p:cNvSpPr>
            <a:spLocks noChangeArrowheads="1"/>
          </p:cNvSpPr>
          <p:nvPr/>
        </p:nvSpPr>
        <p:spPr bwMode="auto">
          <a:xfrm>
            <a:off x="2825115" y="2002155"/>
            <a:ext cx="182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Wingdings" panose="05000000000000000000" pitchFamily="2" charset="2"/>
              <a:buNone/>
            </a:pPr>
            <a:r>
              <a:rPr lang="en-US" altLang="zh-CN" sz="2400" b="1">
                <a:latin typeface="+mn-ea"/>
              </a:rPr>
              <a:t> </a:t>
            </a:r>
            <a:r>
              <a:rPr lang="en-US" altLang="zh-CN" sz="2400" b="1">
                <a:latin typeface="+mn-ea"/>
                <a:sym typeface="+mn-ea"/>
              </a:rPr>
              <a:t>((a)a)a</a:t>
            </a:r>
            <a:r>
              <a:rPr lang="zh-CN" altLang="en-US" sz="2400" b="1">
                <a:solidFill>
                  <a:srgbClr val="010000"/>
                </a:solidFill>
                <a:latin typeface="+mn-ea"/>
              </a:rPr>
              <a:t>$</a:t>
            </a:r>
            <a:endParaRPr lang="zh-CN" altLang="en-US" sz="2400" b="1">
              <a:solidFill>
                <a:srgbClr val="010000"/>
              </a:solidFill>
              <a:latin typeface="+mn-ea"/>
            </a:endParaRPr>
          </a:p>
        </p:txBody>
      </p:sp>
      <p:sp>
        <p:nvSpPr>
          <p:cNvPr id="40" name="Rectangle 5"/>
          <p:cNvSpPr>
            <a:spLocks noChangeArrowheads="1"/>
          </p:cNvSpPr>
          <p:nvPr/>
        </p:nvSpPr>
        <p:spPr bwMode="auto">
          <a:xfrm>
            <a:off x="708959" y="2013398"/>
            <a:ext cx="3517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1</a:t>
            </a:r>
            <a:endParaRPr lang="zh-CN" altLang="en-US" sz="2400" b="1">
              <a:solidFill>
                <a:srgbClr val="010000"/>
              </a:solidFill>
              <a:latin typeface="+mn-ea"/>
            </a:endParaRPr>
          </a:p>
        </p:txBody>
      </p:sp>
      <p:sp>
        <p:nvSpPr>
          <p:cNvPr id="41" name="Rectangle 6"/>
          <p:cNvSpPr>
            <a:spLocks noChangeArrowheads="1"/>
          </p:cNvSpPr>
          <p:nvPr/>
        </p:nvSpPr>
        <p:spPr bwMode="auto">
          <a:xfrm>
            <a:off x="377484" y="1224277"/>
            <a:ext cx="62807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zh-CN" altLang="en-US" sz="2400" b="1" dirty="0">
                <a:solidFill>
                  <a:srgbClr val="010000"/>
                </a:solidFill>
                <a:latin typeface="+mn-ea"/>
              </a:rPr>
              <a:t>下表给出了使用该文法对串</a:t>
            </a:r>
            <a:r>
              <a:rPr lang="en-US" altLang="zh-CN" sz="2400" b="1" dirty="0">
                <a:solidFill>
                  <a:srgbClr val="010000"/>
                </a:solidFill>
                <a:latin typeface="+mn-ea"/>
              </a:rPr>
              <a:t>((a)a)a</a:t>
            </a:r>
            <a:r>
              <a:rPr lang="zh-CN" altLang="en-US" sz="2400" b="1" dirty="0">
                <a:solidFill>
                  <a:srgbClr val="010000"/>
                </a:solidFill>
                <a:latin typeface="+mn-ea"/>
              </a:rPr>
              <a:t>的</a:t>
            </a:r>
            <a:r>
              <a:rPr lang="en-US" altLang="zh-CN" sz="2400" b="1" dirty="0">
                <a:solidFill>
                  <a:srgbClr val="010000"/>
                </a:solidFill>
                <a:latin typeface="+mn-ea"/>
              </a:rPr>
              <a:t>LR</a:t>
            </a:r>
            <a:r>
              <a:rPr lang="zh-CN" altLang="en-US" sz="2400" b="1" dirty="0">
                <a:solidFill>
                  <a:srgbClr val="010000"/>
                </a:solidFill>
                <a:latin typeface="+mn-ea"/>
              </a:rPr>
              <a:t>分析。</a:t>
            </a:r>
            <a:endParaRPr lang="zh-CN" altLang="en-US" sz="2400" b="1" dirty="0">
              <a:solidFill>
                <a:srgbClr val="010000"/>
              </a:solidFill>
              <a:latin typeface="+mn-ea"/>
            </a:endParaRPr>
          </a:p>
        </p:txBody>
      </p:sp>
      <p:sp>
        <p:nvSpPr>
          <p:cNvPr id="42" name="Line 7"/>
          <p:cNvSpPr>
            <a:spLocks noChangeShapeType="1"/>
          </p:cNvSpPr>
          <p:nvPr/>
        </p:nvSpPr>
        <p:spPr bwMode="auto">
          <a:xfrm flipV="1">
            <a:off x="524809" y="1611761"/>
            <a:ext cx="6719888" cy="9525"/>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useBgFill="1">
        <p:nvSpPr>
          <p:cNvPr id="43" name="Rectangle 8"/>
          <p:cNvSpPr>
            <a:spLocks noChangeArrowheads="1"/>
          </p:cNvSpPr>
          <p:nvPr/>
        </p:nvSpPr>
        <p:spPr bwMode="auto">
          <a:xfrm>
            <a:off x="1424940" y="1635760"/>
            <a:ext cx="1214120"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b="1">
                <a:solidFill>
                  <a:srgbClr val="010000"/>
                </a:solidFill>
                <a:latin typeface="+mn-ea"/>
              </a:rPr>
              <a:t>分析栈</a:t>
            </a:r>
            <a:endParaRPr lang="zh-CN" altLang="en-US" sz="2400" b="1">
              <a:solidFill>
                <a:srgbClr val="010000"/>
              </a:solidFill>
              <a:latin typeface="+mn-ea"/>
            </a:endParaRPr>
          </a:p>
        </p:txBody>
      </p:sp>
      <p:sp useBgFill="1">
        <p:nvSpPr>
          <p:cNvPr id="44" name="Rectangle 9"/>
          <p:cNvSpPr>
            <a:spLocks noChangeArrowheads="1"/>
          </p:cNvSpPr>
          <p:nvPr/>
        </p:nvSpPr>
        <p:spPr bwMode="auto">
          <a:xfrm>
            <a:off x="2710815" y="1645285"/>
            <a:ext cx="1800860" cy="3905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b="1">
                <a:solidFill>
                  <a:srgbClr val="010000"/>
                </a:solidFill>
                <a:latin typeface="+mn-ea"/>
              </a:rPr>
              <a:t>输入</a:t>
            </a:r>
            <a:endParaRPr lang="zh-CN" altLang="en-US" sz="2400" b="1">
              <a:solidFill>
                <a:srgbClr val="010000"/>
              </a:solidFill>
              <a:latin typeface="+mn-ea"/>
            </a:endParaRPr>
          </a:p>
        </p:txBody>
      </p:sp>
      <p:sp useBgFill="1">
        <p:nvSpPr>
          <p:cNvPr id="45" name="Rectangle 10"/>
          <p:cNvSpPr>
            <a:spLocks noChangeArrowheads="1"/>
          </p:cNvSpPr>
          <p:nvPr/>
        </p:nvSpPr>
        <p:spPr bwMode="auto">
          <a:xfrm>
            <a:off x="4390390" y="1731010"/>
            <a:ext cx="1656080"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b="1">
                <a:solidFill>
                  <a:srgbClr val="010000"/>
                </a:solidFill>
                <a:latin typeface="+mn-ea"/>
              </a:rPr>
              <a:t>动作</a:t>
            </a:r>
            <a:endParaRPr lang="zh-CN" altLang="en-US" sz="2400" b="1">
              <a:solidFill>
                <a:srgbClr val="010000"/>
              </a:solidFill>
              <a:latin typeface="+mn-ea"/>
            </a:endParaRPr>
          </a:p>
        </p:txBody>
      </p:sp>
      <p:sp useBgFill="1">
        <p:nvSpPr>
          <p:cNvPr id="46" name="Rectangle 11"/>
          <p:cNvSpPr>
            <a:spLocks noChangeArrowheads="1"/>
          </p:cNvSpPr>
          <p:nvPr/>
        </p:nvSpPr>
        <p:spPr bwMode="auto">
          <a:xfrm>
            <a:off x="377190" y="1711960"/>
            <a:ext cx="109728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b="1">
                <a:solidFill>
                  <a:srgbClr val="010000"/>
                </a:solidFill>
                <a:latin typeface="+mn-ea"/>
              </a:rPr>
              <a:t>步骤</a:t>
            </a:r>
            <a:endParaRPr lang="zh-CN" altLang="en-US" sz="2400" b="1">
              <a:solidFill>
                <a:srgbClr val="010000"/>
              </a:solidFill>
              <a:latin typeface="+mn-ea"/>
            </a:endParaRPr>
          </a:p>
        </p:txBody>
      </p:sp>
      <p:sp>
        <p:nvSpPr>
          <p:cNvPr id="47" name="Line 12"/>
          <p:cNvSpPr>
            <a:spLocks noChangeShapeType="1"/>
          </p:cNvSpPr>
          <p:nvPr/>
        </p:nvSpPr>
        <p:spPr bwMode="auto">
          <a:xfrm>
            <a:off x="496234" y="2018796"/>
            <a:ext cx="67056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grpSp>
        <p:nvGrpSpPr>
          <p:cNvPr id="48" name="Group 14"/>
          <p:cNvGrpSpPr/>
          <p:nvPr/>
        </p:nvGrpSpPr>
        <p:grpSpPr bwMode="auto">
          <a:xfrm>
            <a:off x="716897" y="2284226"/>
            <a:ext cx="6438900" cy="552450"/>
            <a:chOff x="528" y="1152"/>
            <a:chExt cx="4056" cy="348"/>
          </a:xfrm>
        </p:grpSpPr>
        <p:sp>
          <p:nvSpPr>
            <p:cNvPr id="49" name="Rectangle 15"/>
            <p:cNvSpPr>
              <a:spLocks noChangeArrowheads="1"/>
            </p:cNvSpPr>
            <p:nvPr/>
          </p:nvSpPr>
          <p:spPr bwMode="auto">
            <a:xfrm>
              <a:off x="981" y="1192"/>
              <a:ext cx="65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a:t>
              </a:r>
              <a:r>
                <a:rPr lang="en-US" altLang="zh-CN" sz="2400" b="1">
                  <a:solidFill>
                    <a:srgbClr val="010000"/>
                  </a:solidFill>
                  <a:latin typeface="+mn-ea"/>
                </a:rPr>
                <a:t>(</a:t>
              </a:r>
              <a:r>
                <a:rPr lang="en-US" altLang="zh-CN" sz="2400" b="1">
                  <a:solidFill>
                    <a:srgbClr val="010000"/>
                  </a:solidFill>
                  <a:latin typeface="+mn-ea"/>
                </a:rPr>
                <a:t> </a:t>
              </a:r>
              <a:endParaRPr lang="en-US" altLang="zh-CN" sz="2400" b="1">
                <a:solidFill>
                  <a:srgbClr val="010000"/>
                </a:solidFill>
                <a:latin typeface="+mn-ea"/>
              </a:endParaRPr>
            </a:p>
          </p:txBody>
        </p:sp>
        <p:sp>
          <p:nvSpPr>
            <p:cNvPr id="50" name="Rectangle 16"/>
            <p:cNvSpPr>
              <a:spLocks noChangeArrowheads="1"/>
            </p:cNvSpPr>
            <p:nvPr/>
          </p:nvSpPr>
          <p:spPr bwMode="auto">
            <a:xfrm>
              <a:off x="1968" y="1152"/>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mn-ea"/>
                  <a:sym typeface="+mn-ea"/>
                </a:rPr>
                <a:t>(a)a)a</a:t>
              </a:r>
              <a:r>
                <a:rPr lang="en-US" altLang="zh-CN" sz="2400" b="1">
                  <a:solidFill>
                    <a:srgbClr val="010000"/>
                  </a:solidFill>
                  <a:latin typeface="+mn-ea"/>
                </a:rPr>
                <a:t>$</a:t>
              </a:r>
              <a:endParaRPr lang="en-US" altLang="zh-CN" sz="2400" b="1">
                <a:solidFill>
                  <a:srgbClr val="010000"/>
                </a:solidFill>
                <a:latin typeface="+mn-ea"/>
              </a:endParaRPr>
            </a:p>
          </p:txBody>
        </p:sp>
        <p:sp>
          <p:nvSpPr>
            <p:cNvPr id="51" name="Rectangle 17"/>
            <p:cNvSpPr>
              <a:spLocks noChangeArrowheads="1"/>
            </p:cNvSpPr>
            <p:nvPr/>
          </p:nvSpPr>
          <p:spPr bwMode="auto">
            <a:xfrm>
              <a:off x="3096" y="1166"/>
              <a:ext cx="14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移进</a:t>
              </a:r>
              <a:endParaRPr lang="zh-CN" altLang="en-US" sz="2400" b="1">
                <a:solidFill>
                  <a:srgbClr val="010000"/>
                </a:solidFill>
                <a:latin typeface="+mn-ea"/>
              </a:endParaRPr>
            </a:p>
          </p:txBody>
        </p:sp>
        <p:sp>
          <p:nvSpPr>
            <p:cNvPr id="52" name="Rectangle 18"/>
            <p:cNvSpPr>
              <a:spLocks noChangeArrowheads="1"/>
            </p:cNvSpPr>
            <p:nvPr/>
          </p:nvSpPr>
          <p:spPr bwMode="auto">
            <a:xfrm>
              <a:off x="528" y="1210"/>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2</a:t>
              </a:r>
              <a:endParaRPr lang="zh-CN" altLang="en-US" sz="2400" b="1">
                <a:solidFill>
                  <a:srgbClr val="010000"/>
                </a:solidFill>
                <a:latin typeface="+mn-ea"/>
              </a:endParaRPr>
            </a:p>
          </p:txBody>
        </p:sp>
      </p:grpSp>
      <p:grpSp>
        <p:nvGrpSpPr>
          <p:cNvPr id="53" name="Group 19"/>
          <p:cNvGrpSpPr/>
          <p:nvPr/>
        </p:nvGrpSpPr>
        <p:grpSpPr bwMode="auto">
          <a:xfrm>
            <a:off x="706737" y="2586486"/>
            <a:ext cx="6438900" cy="552450"/>
            <a:chOff x="520" y="1424"/>
            <a:chExt cx="4056" cy="348"/>
          </a:xfrm>
        </p:grpSpPr>
        <p:sp>
          <p:nvSpPr>
            <p:cNvPr id="54" name="Rectangle 20"/>
            <p:cNvSpPr>
              <a:spLocks noChangeArrowheads="1"/>
            </p:cNvSpPr>
            <p:nvPr/>
          </p:nvSpPr>
          <p:spPr bwMode="auto">
            <a:xfrm>
              <a:off x="973" y="1464"/>
              <a:ext cx="81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a:t>
              </a:r>
              <a:r>
                <a:rPr lang="en-US" altLang="zh-CN" sz="2400" b="1">
                  <a:solidFill>
                    <a:srgbClr val="010000"/>
                  </a:solidFill>
                  <a:latin typeface="+mn-ea"/>
                </a:rPr>
                <a:t>(( </a:t>
              </a:r>
              <a:endParaRPr lang="en-US" altLang="zh-CN" sz="2400" b="1">
                <a:solidFill>
                  <a:srgbClr val="010000"/>
                </a:solidFill>
                <a:latin typeface="+mn-ea"/>
              </a:endParaRPr>
            </a:p>
          </p:txBody>
        </p:sp>
        <p:sp>
          <p:nvSpPr>
            <p:cNvPr id="55" name="Rectangle 21"/>
            <p:cNvSpPr>
              <a:spLocks noChangeArrowheads="1"/>
            </p:cNvSpPr>
            <p:nvPr/>
          </p:nvSpPr>
          <p:spPr bwMode="auto">
            <a:xfrm>
              <a:off x="1960" y="1424"/>
              <a:ext cx="104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mn-ea"/>
                  <a:sym typeface="+mn-ea"/>
                </a:rPr>
                <a:t> a)a)a</a:t>
              </a:r>
              <a:r>
                <a:rPr lang="en-US" altLang="zh-CN" sz="2400" b="1">
                  <a:solidFill>
                    <a:srgbClr val="010000"/>
                  </a:solidFill>
                  <a:latin typeface="+mn-ea"/>
                </a:rPr>
                <a:t>$</a:t>
              </a:r>
              <a:endParaRPr lang="en-US" altLang="zh-CN" sz="2400" b="1">
                <a:solidFill>
                  <a:srgbClr val="010000"/>
                </a:solidFill>
                <a:latin typeface="+mn-ea"/>
              </a:endParaRPr>
            </a:p>
          </p:txBody>
        </p:sp>
        <p:sp>
          <p:nvSpPr>
            <p:cNvPr id="56" name="Rectangle 22"/>
            <p:cNvSpPr>
              <a:spLocks noChangeArrowheads="1"/>
            </p:cNvSpPr>
            <p:nvPr/>
          </p:nvSpPr>
          <p:spPr bwMode="auto">
            <a:xfrm>
              <a:off x="3088" y="1438"/>
              <a:ext cx="14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移</a:t>
              </a:r>
              <a:r>
                <a:rPr lang="zh-CN" altLang="en-US" sz="2400" b="1">
                  <a:solidFill>
                    <a:srgbClr val="010000"/>
                  </a:solidFill>
                  <a:latin typeface="+mn-ea"/>
                </a:rPr>
                <a:t>进</a:t>
              </a:r>
              <a:endParaRPr lang="zh-CN" altLang="en-US" sz="2400" b="1">
                <a:solidFill>
                  <a:srgbClr val="010000"/>
                </a:solidFill>
                <a:latin typeface="+mn-ea"/>
              </a:endParaRPr>
            </a:p>
          </p:txBody>
        </p:sp>
        <p:sp>
          <p:nvSpPr>
            <p:cNvPr id="57" name="Rectangle 23"/>
            <p:cNvSpPr>
              <a:spLocks noChangeArrowheads="1"/>
            </p:cNvSpPr>
            <p:nvPr/>
          </p:nvSpPr>
          <p:spPr bwMode="auto">
            <a:xfrm>
              <a:off x="520" y="1482"/>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3</a:t>
              </a:r>
              <a:endParaRPr lang="zh-CN" altLang="en-US" sz="2400" b="1">
                <a:solidFill>
                  <a:srgbClr val="010000"/>
                </a:solidFill>
                <a:latin typeface="+mn-ea"/>
              </a:endParaRPr>
            </a:p>
          </p:txBody>
        </p:sp>
      </p:grpSp>
      <p:grpSp>
        <p:nvGrpSpPr>
          <p:cNvPr id="58" name="Group 24"/>
          <p:cNvGrpSpPr/>
          <p:nvPr/>
        </p:nvGrpSpPr>
        <p:grpSpPr bwMode="auto">
          <a:xfrm>
            <a:off x="694037" y="2913511"/>
            <a:ext cx="6438900" cy="830262"/>
            <a:chOff x="520" y="1582"/>
            <a:chExt cx="4056" cy="523"/>
          </a:xfrm>
        </p:grpSpPr>
        <p:sp>
          <p:nvSpPr>
            <p:cNvPr id="59" name="Rectangle 25"/>
            <p:cNvSpPr>
              <a:spLocks noChangeArrowheads="1"/>
            </p:cNvSpPr>
            <p:nvPr/>
          </p:nvSpPr>
          <p:spPr bwMode="auto">
            <a:xfrm>
              <a:off x="973" y="1608"/>
              <a:ext cx="9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a:t>
              </a:r>
              <a:r>
                <a:rPr lang="en-US" altLang="zh-CN" sz="2400" b="1">
                  <a:solidFill>
                    <a:srgbClr val="010000"/>
                  </a:solidFill>
                  <a:latin typeface="+mn-ea"/>
                </a:rPr>
                <a:t>((a </a:t>
              </a:r>
              <a:endParaRPr lang="en-US" altLang="zh-CN" sz="2400" b="1">
                <a:solidFill>
                  <a:srgbClr val="010000"/>
                </a:solidFill>
                <a:latin typeface="+mn-ea"/>
              </a:endParaRPr>
            </a:p>
          </p:txBody>
        </p:sp>
        <p:sp>
          <p:nvSpPr>
            <p:cNvPr id="60" name="Rectangle 26"/>
            <p:cNvSpPr>
              <a:spLocks noChangeArrowheads="1"/>
            </p:cNvSpPr>
            <p:nvPr/>
          </p:nvSpPr>
          <p:spPr bwMode="auto">
            <a:xfrm>
              <a:off x="1960" y="1584"/>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10000"/>
                  </a:solidFill>
                  <a:latin typeface="+mn-ea"/>
                </a:rPr>
                <a:t> </a:t>
              </a:r>
              <a:r>
                <a:rPr lang="en-US" altLang="zh-CN" sz="2400" b="1">
                  <a:latin typeface="+mn-ea"/>
                  <a:sym typeface="+mn-ea"/>
                </a:rPr>
                <a:t>)a)a</a:t>
              </a:r>
              <a:r>
                <a:rPr lang="en-US" altLang="zh-CN" sz="2400" b="1">
                  <a:solidFill>
                    <a:srgbClr val="010000"/>
                  </a:solidFill>
                  <a:latin typeface="+mn-ea"/>
                </a:rPr>
                <a:t>$</a:t>
              </a:r>
              <a:endParaRPr lang="en-US" altLang="zh-CN" sz="2400" b="1">
                <a:solidFill>
                  <a:srgbClr val="010000"/>
                </a:solidFill>
                <a:latin typeface="+mn-ea"/>
              </a:endParaRPr>
            </a:p>
          </p:txBody>
        </p:sp>
        <p:sp>
          <p:nvSpPr>
            <p:cNvPr id="61" name="Rectangle 27"/>
            <p:cNvSpPr>
              <a:spLocks noChangeArrowheads="1"/>
            </p:cNvSpPr>
            <p:nvPr/>
          </p:nvSpPr>
          <p:spPr bwMode="auto">
            <a:xfrm>
              <a:off x="3088" y="1582"/>
              <a:ext cx="148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sym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a</a:t>
              </a:r>
              <a:r>
                <a:rPr lang="zh-CN" altLang="en-US" sz="2400" b="1">
                  <a:solidFill>
                    <a:srgbClr val="010000"/>
                  </a:solidFill>
                  <a:latin typeface="+mn-ea"/>
                  <a:sym typeface="+mn-ea"/>
                </a:rPr>
                <a:t>归约</a:t>
              </a:r>
              <a:endParaRPr lang="zh-CN" altLang="en-US" sz="2400" b="1">
                <a:solidFill>
                  <a:srgbClr val="010000"/>
                </a:solidFill>
                <a:latin typeface="+mn-ea"/>
              </a:endParaRPr>
            </a:p>
            <a:p>
              <a:endParaRPr lang="zh-CN" altLang="en-US" sz="2400" b="1">
                <a:solidFill>
                  <a:srgbClr val="010000"/>
                </a:solidFill>
                <a:latin typeface="+mn-ea"/>
              </a:endParaRPr>
            </a:p>
          </p:txBody>
        </p:sp>
        <p:sp>
          <p:nvSpPr>
            <p:cNvPr id="62" name="Rectangle 28"/>
            <p:cNvSpPr>
              <a:spLocks noChangeArrowheads="1"/>
            </p:cNvSpPr>
            <p:nvPr/>
          </p:nvSpPr>
          <p:spPr bwMode="auto">
            <a:xfrm>
              <a:off x="520" y="162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4</a:t>
              </a:r>
              <a:endParaRPr lang="zh-CN" altLang="en-US" sz="2400" b="1">
                <a:solidFill>
                  <a:srgbClr val="010000"/>
                </a:solidFill>
                <a:latin typeface="+mn-ea"/>
              </a:endParaRPr>
            </a:p>
          </p:txBody>
        </p:sp>
      </p:grpSp>
      <p:grpSp>
        <p:nvGrpSpPr>
          <p:cNvPr id="63" name="Group 29"/>
          <p:cNvGrpSpPr/>
          <p:nvPr/>
        </p:nvGrpSpPr>
        <p:grpSpPr bwMode="auto">
          <a:xfrm>
            <a:off x="688957" y="3220850"/>
            <a:ext cx="6438900" cy="530225"/>
            <a:chOff x="520" y="1966"/>
            <a:chExt cx="4056" cy="334"/>
          </a:xfrm>
        </p:grpSpPr>
        <p:sp>
          <p:nvSpPr>
            <p:cNvPr id="64" name="Rectangle 30"/>
            <p:cNvSpPr>
              <a:spLocks noChangeArrowheads="1"/>
            </p:cNvSpPr>
            <p:nvPr/>
          </p:nvSpPr>
          <p:spPr bwMode="auto">
            <a:xfrm>
              <a:off x="973" y="1992"/>
              <a:ext cx="95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a:t>
              </a:r>
              <a:r>
                <a:rPr lang="en-US" altLang="zh-CN" sz="2400" b="1">
                  <a:solidFill>
                    <a:srgbClr val="010000"/>
                  </a:solidFill>
                  <a:latin typeface="+mn-ea"/>
                  <a:sym typeface="+mn-ea"/>
                </a:rPr>
                <a:t>((S</a:t>
              </a:r>
              <a:endParaRPr lang="en-US" altLang="zh-CN" sz="2400" b="1">
                <a:solidFill>
                  <a:srgbClr val="010000"/>
                </a:solidFill>
                <a:latin typeface="+mn-ea"/>
              </a:endParaRPr>
            </a:p>
          </p:txBody>
        </p:sp>
        <p:sp>
          <p:nvSpPr>
            <p:cNvPr id="65" name="Rectangle 31"/>
            <p:cNvSpPr>
              <a:spLocks noChangeArrowheads="1"/>
            </p:cNvSpPr>
            <p:nvPr/>
          </p:nvSpPr>
          <p:spPr bwMode="auto">
            <a:xfrm>
              <a:off x="1960" y="1968"/>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10000"/>
                  </a:solidFill>
                  <a:latin typeface="+mn-ea"/>
                </a:rPr>
                <a:t>  </a:t>
              </a:r>
              <a:r>
                <a:rPr lang="en-US" altLang="zh-CN" sz="2400" b="1">
                  <a:latin typeface="+mn-ea"/>
                  <a:sym typeface="+mn-ea"/>
                </a:rPr>
                <a:t>)a)a</a:t>
              </a:r>
              <a:r>
                <a:rPr lang="en-US" altLang="zh-CN" sz="2400" b="1">
                  <a:solidFill>
                    <a:srgbClr val="010000"/>
                  </a:solidFill>
                  <a:latin typeface="+mn-ea"/>
                </a:rPr>
                <a:t>$</a:t>
              </a:r>
              <a:endParaRPr lang="en-US" altLang="zh-CN" sz="2400" b="1">
                <a:solidFill>
                  <a:srgbClr val="010000"/>
                </a:solidFill>
                <a:latin typeface="+mn-ea"/>
              </a:endParaRPr>
            </a:p>
          </p:txBody>
        </p:sp>
        <p:sp>
          <p:nvSpPr>
            <p:cNvPr id="66" name="Rectangle 32"/>
            <p:cNvSpPr>
              <a:spLocks noChangeArrowheads="1"/>
            </p:cNvSpPr>
            <p:nvPr/>
          </p:nvSpPr>
          <p:spPr bwMode="auto">
            <a:xfrm>
              <a:off x="3088" y="1966"/>
              <a:ext cx="14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移</a:t>
              </a:r>
              <a:r>
                <a:rPr lang="zh-CN" altLang="en-US" sz="2400" b="1">
                  <a:solidFill>
                    <a:srgbClr val="010000"/>
                  </a:solidFill>
                  <a:latin typeface="+mn-ea"/>
                </a:rPr>
                <a:t>进</a:t>
              </a:r>
              <a:endParaRPr lang="zh-CN" altLang="en-US" sz="2400" b="1">
                <a:solidFill>
                  <a:srgbClr val="010000"/>
                </a:solidFill>
                <a:latin typeface="+mn-ea"/>
              </a:endParaRPr>
            </a:p>
          </p:txBody>
        </p:sp>
        <p:sp>
          <p:nvSpPr>
            <p:cNvPr id="67" name="Rectangle 33"/>
            <p:cNvSpPr>
              <a:spLocks noChangeArrowheads="1"/>
            </p:cNvSpPr>
            <p:nvPr/>
          </p:nvSpPr>
          <p:spPr bwMode="auto">
            <a:xfrm>
              <a:off x="520" y="2010"/>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10000"/>
                  </a:solidFill>
                  <a:latin typeface="+mn-ea"/>
                </a:rPr>
                <a:t>5</a:t>
              </a:r>
              <a:endParaRPr lang="en-US" altLang="zh-CN" sz="2400" b="1">
                <a:solidFill>
                  <a:srgbClr val="010000"/>
                </a:solidFill>
                <a:latin typeface="+mn-ea"/>
              </a:endParaRPr>
            </a:p>
          </p:txBody>
        </p:sp>
      </p:grpSp>
      <p:grpSp>
        <p:nvGrpSpPr>
          <p:cNvPr id="68" name="Group 34"/>
          <p:cNvGrpSpPr/>
          <p:nvPr/>
        </p:nvGrpSpPr>
        <p:grpSpPr bwMode="auto">
          <a:xfrm>
            <a:off x="701657" y="3563751"/>
            <a:ext cx="6629400" cy="530225"/>
            <a:chOff x="528" y="2254"/>
            <a:chExt cx="4176" cy="334"/>
          </a:xfrm>
        </p:grpSpPr>
        <p:sp>
          <p:nvSpPr>
            <p:cNvPr id="69" name="Rectangle 35"/>
            <p:cNvSpPr>
              <a:spLocks noChangeArrowheads="1"/>
            </p:cNvSpPr>
            <p:nvPr/>
          </p:nvSpPr>
          <p:spPr bwMode="auto">
            <a:xfrm>
              <a:off x="981" y="2280"/>
              <a:ext cx="98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a:t>
              </a:r>
              <a:r>
                <a:rPr lang="en-US" altLang="zh-CN" sz="2400" b="1">
                  <a:solidFill>
                    <a:srgbClr val="010000"/>
                  </a:solidFill>
                  <a:latin typeface="+mn-ea"/>
                  <a:sym typeface="+mn-ea"/>
                </a:rPr>
                <a:t>((S)</a:t>
              </a:r>
              <a:r>
                <a:rPr lang="en-US" altLang="zh-CN" sz="2400" b="1">
                  <a:solidFill>
                    <a:srgbClr val="010000"/>
                  </a:solidFill>
                  <a:latin typeface="+mn-ea"/>
                </a:rPr>
                <a:t> </a:t>
              </a:r>
              <a:endParaRPr lang="en-US" altLang="zh-CN" sz="2400" b="1">
                <a:solidFill>
                  <a:srgbClr val="010000"/>
                </a:solidFill>
                <a:latin typeface="+mn-ea"/>
              </a:endParaRPr>
            </a:p>
          </p:txBody>
        </p:sp>
        <p:sp>
          <p:nvSpPr>
            <p:cNvPr id="70" name="Rectangle 36"/>
            <p:cNvSpPr>
              <a:spLocks noChangeArrowheads="1"/>
            </p:cNvSpPr>
            <p:nvPr/>
          </p:nvSpPr>
          <p:spPr bwMode="auto">
            <a:xfrm>
              <a:off x="1968" y="2256"/>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10000"/>
                  </a:solidFill>
                  <a:latin typeface="+mn-ea"/>
                </a:rPr>
                <a:t>   </a:t>
              </a:r>
              <a:r>
                <a:rPr lang="en-US" altLang="zh-CN" sz="2400" b="1">
                  <a:latin typeface="+mn-ea"/>
                  <a:sym typeface="+mn-ea"/>
                </a:rPr>
                <a:t>a)a</a:t>
              </a:r>
              <a:r>
                <a:rPr lang="en-US" altLang="zh-CN" sz="2400" b="1">
                  <a:solidFill>
                    <a:srgbClr val="010000"/>
                  </a:solidFill>
                  <a:latin typeface="+mn-ea"/>
                </a:rPr>
                <a:t>$</a:t>
              </a:r>
              <a:endParaRPr lang="en-US" altLang="zh-CN" sz="2400" b="1">
                <a:solidFill>
                  <a:srgbClr val="010000"/>
                </a:solidFill>
                <a:latin typeface="+mn-ea"/>
              </a:endParaRPr>
            </a:p>
          </p:txBody>
        </p:sp>
        <p:sp>
          <p:nvSpPr>
            <p:cNvPr id="71" name="Rectangle 37"/>
            <p:cNvSpPr>
              <a:spLocks noChangeArrowheads="1"/>
            </p:cNvSpPr>
            <p:nvPr/>
          </p:nvSpPr>
          <p:spPr bwMode="auto">
            <a:xfrm>
              <a:off x="3096" y="2254"/>
              <a:ext cx="160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sym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a</a:t>
              </a:r>
              <a:r>
                <a:rPr lang="zh-CN" altLang="en-US" sz="2400" b="1">
                  <a:solidFill>
                    <a:srgbClr val="010000"/>
                  </a:solidFill>
                  <a:latin typeface="+mn-ea"/>
                  <a:sym typeface="+mn-ea"/>
                </a:rPr>
                <a:t>归约</a:t>
              </a:r>
              <a:endParaRPr lang="zh-CN" altLang="en-US" sz="2400" b="1">
                <a:solidFill>
                  <a:srgbClr val="010000"/>
                </a:solidFill>
                <a:latin typeface="+mn-ea"/>
              </a:endParaRPr>
            </a:p>
          </p:txBody>
        </p:sp>
        <p:sp>
          <p:nvSpPr>
            <p:cNvPr id="72" name="Rectangle 38"/>
            <p:cNvSpPr>
              <a:spLocks noChangeArrowheads="1"/>
            </p:cNvSpPr>
            <p:nvPr/>
          </p:nvSpPr>
          <p:spPr bwMode="auto">
            <a:xfrm>
              <a:off x="528" y="2298"/>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6</a:t>
              </a:r>
              <a:endParaRPr lang="zh-CN" altLang="en-US" sz="2400" b="1">
                <a:solidFill>
                  <a:srgbClr val="010000"/>
                </a:solidFill>
                <a:latin typeface="+mn-ea"/>
              </a:endParaRPr>
            </a:p>
          </p:txBody>
        </p:sp>
      </p:grpSp>
      <p:grpSp>
        <p:nvGrpSpPr>
          <p:cNvPr id="73" name="Group 39"/>
          <p:cNvGrpSpPr/>
          <p:nvPr/>
        </p:nvGrpSpPr>
        <p:grpSpPr bwMode="auto">
          <a:xfrm>
            <a:off x="688957" y="3901571"/>
            <a:ext cx="7404100" cy="530225"/>
            <a:chOff x="520" y="2502"/>
            <a:chExt cx="4664" cy="334"/>
          </a:xfrm>
        </p:grpSpPr>
        <p:sp>
          <p:nvSpPr>
            <p:cNvPr id="74" name="Rectangle 40"/>
            <p:cNvSpPr>
              <a:spLocks noChangeArrowheads="1"/>
            </p:cNvSpPr>
            <p:nvPr/>
          </p:nvSpPr>
          <p:spPr bwMode="auto">
            <a:xfrm>
              <a:off x="973" y="2528"/>
              <a:ext cx="99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a:t>
              </a:r>
              <a:r>
                <a:rPr lang="en-US" altLang="zh-CN" sz="2400" b="1">
                  <a:solidFill>
                    <a:srgbClr val="010000"/>
                  </a:solidFill>
                  <a:latin typeface="+mn-ea"/>
                  <a:sym typeface="+mn-ea"/>
                </a:rPr>
                <a:t>((S)a</a:t>
              </a:r>
              <a:r>
                <a:rPr lang="en-US" altLang="zh-CN" sz="2400" b="1">
                  <a:solidFill>
                    <a:srgbClr val="010000"/>
                  </a:solidFill>
                  <a:latin typeface="+mn-ea"/>
                </a:rPr>
                <a:t> </a:t>
              </a:r>
              <a:endParaRPr lang="en-US" altLang="zh-CN" sz="2400" b="1">
                <a:solidFill>
                  <a:srgbClr val="010000"/>
                </a:solidFill>
                <a:latin typeface="+mn-ea"/>
              </a:endParaRPr>
            </a:p>
          </p:txBody>
        </p:sp>
        <p:sp>
          <p:nvSpPr>
            <p:cNvPr id="75" name="Rectangle 41"/>
            <p:cNvSpPr>
              <a:spLocks noChangeArrowheads="1"/>
            </p:cNvSpPr>
            <p:nvPr/>
          </p:nvSpPr>
          <p:spPr bwMode="auto">
            <a:xfrm>
              <a:off x="1960" y="2504"/>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10000"/>
                  </a:solidFill>
                  <a:latin typeface="+mn-ea"/>
                </a:rPr>
                <a:t>     </a:t>
              </a:r>
              <a:r>
                <a:rPr lang="en-US" altLang="zh-CN" sz="2400" b="1">
                  <a:latin typeface="+mn-ea"/>
                  <a:sym typeface="+mn-ea"/>
                </a:rPr>
                <a:t>)a</a:t>
              </a:r>
              <a:r>
                <a:rPr lang="en-US" altLang="zh-CN" sz="2400" b="1">
                  <a:solidFill>
                    <a:srgbClr val="010000"/>
                  </a:solidFill>
                  <a:latin typeface="+mn-ea"/>
                </a:rPr>
                <a:t>$</a:t>
              </a:r>
              <a:endParaRPr lang="en-US" altLang="zh-CN" sz="2400" b="1">
                <a:solidFill>
                  <a:srgbClr val="010000"/>
                </a:solidFill>
                <a:latin typeface="+mn-ea"/>
              </a:endParaRPr>
            </a:p>
          </p:txBody>
        </p:sp>
        <p:sp>
          <p:nvSpPr>
            <p:cNvPr id="76" name="Rectangle 42"/>
            <p:cNvSpPr>
              <a:spLocks noChangeArrowheads="1"/>
            </p:cNvSpPr>
            <p:nvPr/>
          </p:nvSpPr>
          <p:spPr bwMode="auto">
            <a:xfrm>
              <a:off x="3088" y="2502"/>
              <a:ext cx="209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10000"/>
                  </a:solidFill>
                  <a:latin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a</a:t>
              </a:r>
              <a:r>
                <a:rPr lang="zh-CN" altLang="en-US" sz="2400" b="1">
                  <a:solidFill>
                    <a:srgbClr val="010000"/>
                  </a:solidFill>
                  <a:latin typeface="+mn-ea"/>
                  <a:sym typeface="+mn-ea"/>
                </a:rPr>
                <a:t>归约</a:t>
              </a:r>
              <a:endParaRPr lang="zh-CN" altLang="en-US" sz="2400" b="1">
                <a:solidFill>
                  <a:srgbClr val="010000"/>
                </a:solidFill>
                <a:latin typeface="+mn-ea"/>
              </a:endParaRPr>
            </a:p>
          </p:txBody>
        </p:sp>
        <p:sp>
          <p:nvSpPr>
            <p:cNvPr id="77" name="Rectangle 43"/>
            <p:cNvSpPr>
              <a:spLocks noChangeArrowheads="1"/>
            </p:cNvSpPr>
            <p:nvPr/>
          </p:nvSpPr>
          <p:spPr bwMode="auto">
            <a:xfrm>
              <a:off x="520" y="2546"/>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10000"/>
                  </a:solidFill>
                  <a:latin typeface="+mn-ea"/>
                </a:rPr>
                <a:t>7</a:t>
              </a:r>
              <a:endParaRPr lang="zh-CN" altLang="en-US" sz="2400" b="1">
                <a:solidFill>
                  <a:srgbClr val="010000"/>
                </a:solidFill>
                <a:latin typeface="+mn-ea"/>
              </a:endParaRPr>
            </a:p>
          </p:txBody>
        </p:sp>
      </p:grpSp>
      <p:sp>
        <p:nvSpPr>
          <p:cNvPr id="83" name="Line 49"/>
          <p:cNvSpPr>
            <a:spLocks noChangeShapeType="1"/>
          </p:cNvSpPr>
          <p:nvPr/>
        </p:nvSpPr>
        <p:spPr bwMode="auto">
          <a:xfrm flipV="1">
            <a:off x="567672" y="6198683"/>
            <a:ext cx="6948487" cy="1428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grpSp>
        <p:nvGrpSpPr>
          <p:cNvPr id="96" name="Group 44"/>
          <p:cNvGrpSpPr/>
          <p:nvPr/>
        </p:nvGrpSpPr>
        <p:grpSpPr bwMode="auto">
          <a:xfrm>
            <a:off x="697847" y="4182245"/>
            <a:ext cx="6678611" cy="476250"/>
            <a:chOff x="512" y="2767"/>
            <a:chExt cx="4207" cy="300"/>
          </a:xfrm>
        </p:grpSpPr>
        <p:sp>
          <p:nvSpPr>
            <p:cNvPr id="97" name="Rectangle 45"/>
            <p:cNvSpPr>
              <a:spLocks noChangeArrowheads="1"/>
            </p:cNvSpPr>
            <p:nvPr/>
          </p:nvSpPr>
          <p:spPr bwMode="auto">
            <a:xfrm>
              <a:off x="512" y="2777"/>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10000"/>
                  </a:solidFill>
                  <a:latin typeface="+mn-ea"/>
                </a:rPr>
                <a:t>8</a:t>
              </a:r>
              <a:endParaRPr lang="en-US" altLang="zh-CN" sz="2400" b="1">
                <a:solidFill>
                  <a:srgbClr val="010000"/>
                </a:solidFill>
                <a:latin typeface="+mn-ea"/>
              </a:endParaRPr>
            </a:p>
          </p:txBody>
        </p:sp>
        <p:sp>
          <p:nvSpPr>
            <p:cNvPr id="98" name="Rectangle 46"/>
            <p:cNvSpPr>
              <a:spLocks noChangeArrowheads="1"/>
            </p:cNvSpPr>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 </a:t>
              </a:r>
              <a:r>
                <a:rPr lang="en-US" altLang="zh-CN" sz="2400" b="1">
                  <a:solidFill>
                    <a:srgbClr val="010000"/>
                  </a:solidFill>
                  <a:latin typeface="+mn-ea"/>
                  <a:sym typeface="+mn-ea"/>
                </a:rPr>
                <a:t>((S)S</a:t>
              </a:r>
              <a:endParaRPr lang="en-US" altLang="zh-CN" sz="2400" b="1">
                <a:solidFill>
                  <a:srgbClr val="010000"/>
                </a:solidFill>
                <a:latin typeface="+mn-ea"/>
              </a:endParaRPr>
            </a:p>
          </p:txBody>
        </p:sp>
        <p:sp>
          <p:nvSpPr>
            <p:cNvPr id="99" name="Rectangle 47"/>
            <p:cNvSpPr>
              <a:spLocks noChangeArrowheads="1"/>
            </p:cNvSpPr>
            <p:nvPr/>
          </p:nvSpPr>
          <p:spPr bwMode="auto">
            <a:xfrm>
              <a:off x="2188" y="2776"/>
              <a:ext cx="5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en-US" altLang="zh-CN" sz="2400" b="1">
                  <a:latin typeface="+mn-ea"/>
                  <a:sym typeface="+mn-ea"/>
                </a:rPr>
                <a:t>)a</a:t>
              </a:r>
              <a:r>
                <a:rPr lang="zh-CN" altLang="en-US" sz="2400" b="1">
                  <a:solidFill>
                    <a:srgbClr val="010000"/>
                  </a:solidFill>
                  <a:latin typeface="+mn-ea"/>
                </a:rPr>
                <a:t>$</a:t>
              </a:r>
              <a:endParaRPr lang="zh-CN" altLang="en-US" sz="2400" b="1">
                <a:solidFill>
                  <a:srgbClr val="010000"/>
                </a:solidFill>
                <a:latin typeface="+mn-ea"/>
              </a:endParaRPr>
            </a:p>
          </p:txBody>
        </p:sp>
        <p:sp>
          <p:nvSpPr>
            <p:cNvPr id="100" name="Rectangle 48"/>
            <p:cNvSpPr>
              <a:spLocks noChangeArrowheads="1"/>
            </p:cNvSpPr>
            <p:nvPr/>
          </p:nvSpPr>
          <p:spPr bwMode="auto">
            <a:xfrm>
              <a:off x="3084" y="2767"/>
              <a:ext cx="163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sz="2400" b="1">
                  <a:solidFill>
                    <a:srgbClr val="010000"/>
                  </a:solidFill>
                  <a:latin typeface="+mn-ea"/>
                  <a:sym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(S)S</a:t>
              </a:r>
              <a:r>
                <a:rPr lang="zh-CN" altLang="en-US" sz="2400" b="1">
                  <a:solidFill>
                    <a:srgbClr val="010000"/>
                  </a:solidFill>
                  <a:latin typeface="+mn-ea"/>
                  <a:sym typeface="+mn-ea"/>
                </a:rPr>
                <a:t>归约</a:t>
              </a:r>
              <a:endParaRPr lang="zh-CN" altLang="en-US" sz="2400" b="1">
                <a:solidFill>
                  <a:srgbClr val="010000"/>
                </a:solidFill>
                <a:latin typeface="+mn-ea"/>
              </a:endParaRPr>
            </a:p>
          </p:txBody>
        </p:sp>
      </p:grpSp>
      <p:sp useBgFill="1">
        <p:nvSpPr>
          <p:cNvPr id="101" name="Rectangle 10"/>
          <p:cNvSpPr>
            <a:spLocks noChangeArrowheads="1"/>
          </p:cNvSpPr>
          <p:nvPr/>
        </p:nvSpPr>
        <p:spPr bwMode="auto">
          <a:xfrm>
            <a:off x="7376459" y="1684786"/>
            <a:ext cx="596900" cy="340836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400" b="1" dirty="0">
                <a:solidFill>
                  <a:srgbClr val="010000"/>
                </a:solidFill>
                <a:latin typeface="+mn-ea"/>
              </a:rPr>
              <a:t>句柄</a:t>
            </a:r>
            <a:endParaRPr lang="zh-CN" altLang="en-US" sz="2400" b="1" dirty="0">
              <a:solidFill>
                <a:srgbClr val="010000"/>
              </a:solidFill>
              <a:latin typeface="+mn-ea"/>
            </a:endParaRPr>
          </a:p>
          <a:p>
            <a:pPr algn="ctr"/>
            <a:r>
              <a:rPr lang="zh-CN" altLang="en-US" sz="2400" b="1" dirty="0">
                <a:solidFill>
                  <a:srgbClr val="010000"/>
                </a:solidFill>
                <a:latin typeface="+mn-ea"/>
              </a:rPr>
              <a:t>的上</a:t>
            </a:r>
            <a:endParaRPr lang="en-US" altLang="zh-CN" sz="2400" b="1" dirty="0">
              <a:solidFill>
                <a:srgbClr val="010000"/>
              </a:solidFill>
              <a:latin typeface="+mn-ea"/>
            </a:endParaRPr>
          </a:p>
          <a:p>
            <a:pPr algn="ctr"/>
            <a:r>
              <a:rPr lang="zh-CN" altLang="en-US" sz="2400" b="1" dirty="0">
                <a:solidFill>
                  <a:srgbClr val="010000"/>
                </a:solidFill>
                <a:latin typeface="+mn-ea"/>
              </a:rPr>
              <a:t>下文</a:t>
            </a:r>
            <a:endParaRPr lang="en-US" altLang="zh-CN" sz="2400" b="1" dirty="0">
              <a:solidFill>
                <a:srgbClr val="010000"/>
              </a:solidFill>
              <a:latin typeface="+mn-ea"/>
            </a:endParaRPr>
          </a:p>
          <a:p>
            <a:pPr algn="ctr"/>
            <a:r>
              <a:rPr lang="zh-CN" altLang="en-US" sz="2400" b="1" dirty="0">
                <a:solidFill>
                  <a:srgbClr val="010000"/>
                </a:solidFill>
                <a:latin typeface="+mn-ea"/>
              </a:rPr>
              <a:t>环境</a:t>
            </a:r>
            <a:endParaRPr lang="en-US" altLang="zh-CN" sz="2400" b="1" dirty="0">
              <a:solidFill>
                <a:srgbClr val="010000"/>
              </a:solidFill>
              <a:latin typeface="+mn-ea"/>
            </a:endParaRPr>
          </a:p>
          <a:p>
            <a:pPr algn="ctr"/>
            <a:r>
              <a:rPr lang="zh-CN" altLang="en-US" sz="2400" b="1" dirty="0">
                <a:solidFill>
                  <a:srgbClr val="010000"/>
                </a:solidFill>
                <a:latin typeface="+mn-ea"/>
              </a:rPr>
              <a:t>是句</a:t>
            </a:r>
            <a:endParaRPr lang="en-US" altLang="zh-CN" sz="2400" b="1" dirty="0">
              <a:solidFill>
                <a:srgbClr val="010000"/>
              </a:solidFill>
              <a:latin typeface="+mn-ea"/>
            </a:endParaRPr>
          </a:p>
          <a:p>
            <a:pPr algn="ctr"/>
            <a:r>
              <a:rPr lang="zh-CN" altLang="en-US" sz="2400" b="1" dirty="0">
                <a:solidFill>
                  <a:srgbClr val="010000"/>
                </a:solidFill>
                <a:latin typeface="+mn-ea"/>
              </a:rPr>
              <a:t>型</a:t>
            </a:r>
            <a:endParaRPr lang="zh-CN" altLang="en-US" sz="2400" b="1" dirty="0">
              <a:solidFill>
                <a:srgbClr val="010000"/>
              </a:solidFill>
              <a:latin typeface="+mn-ea"/>
            </a:endParaRPr>
          </a:p>
        </p:txBody>
      </p:sp>
      <p:cxnSp>
        <p:nvCxnSpPr>
          <p:cNvPr id="102" name="直接连接符 101"/>
          <p:cNvCxnSpPr/>
          <p:nvPr/>
        </p:nvCxnSpPr>
        <p:spPr>
          <a:xfrm flipV="1">
            <a:off x="1474386" y="3352649"/>
            <a:ext cx="485588" cy="8124"/>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111579" y="2637404"/>
            <a:ext cx="1097280" cy="368300"/>
          </a:xfrm>
          <a:prstGeom prst="rect">
            <a:avLst/>
          </a:prstGeom>
          <a:noFill/>
        </p:spPr>
        <p:txBody>
          <a:bodyPr wrap="none" rtlCol="0">
            <a:spAutoFit/>
          </a:bodyPr>
          <a:lstStyle/>
          <a:p>
            <a:r>
              <a:rPr lang="zh-CN" altLang="en-US" b="1" dirty="0">
                <a:solidFill>
                  <a:srgbClr val="FF0000"/>
                </a:solidFill>
              </a:rPr>
              <a:t>可归前缀</a:t>
            </a:r>
            <a:endParaRPr lang="zh-CN" altLang="en-US" b="1" dirty="0">
              <a:solidFill>
                <a:srgbClr val="FF0000"/>
              </a:solidFill>
            </a:endParaRPr>
          </a:p>
        </p:txBody>
      </p:sp>
      <p:cxnSp>
        <p:nvCxnSpPr>
          <p:cNvPr id="5" name="直接箭头连接符 4"/>
          <p:cNvCxnSpPr/>
          <p:nvPr/>
        </p:nvCxnSpPr>
        <p:spPr>
          <a:xfrm>
            <a:off x="1153658" y="2840128"/>
            <a:ext cx="315079" cy="3677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7" name="Group 44"/>
          <p:cNvGrpSpPr/>
          <p:nvPr/>
        </p:nvGrpSpPr>
        <p:grpSpPr bwMode="auto">
          <a:xfrm>
            <a:off x="696577" y="4483235"/>
            <a:ext cx="6165849" cy="476250"/>
            <a:chOff x="512" y="2767"/>
            <a:chExt cx="3884" cy="300"/>
          </a:xfrm>
        </p:grpSpPr>
        <p:sp>
          <p:nvSpPr>
            <p:cNvPr id="8" name="Rectangle 45"/>
            <p:cNvSpPr>
              <a:spLocks noChangeArrowheads="1"/>
            </p:cNvSpPr>
            <p:nvPr>
              <p:custDataLst>
                <p:tags r:id="rId1"/>
              </p:custDataLst>
            </p:nvPr>
          </p:nvSpPr>
          <p:spPr bwMode="auto">
            <a:xfrm>
              <a:off x="512" y="2777"/>
              <a:ext cx="2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10000"/>
                  </a:solidFill>
                  <a:latin typeface="+mn-ea"/>
                </a:rPr>
                <a:t>9</a:t>
              </a:r>
              <a:endParaRPr lang="en-US" altLang="zh-CN" sz="2400" b="1">
                <a:solidFill>
                  <a:srgbClr val="010000"/>
                </a:solidFill>
                <a:latin typeface="+mn-ea"/>
              </a:endParaRPr>
            </a:p>
          </p:txBody>
        </p:sp>
        <p:sp>
          <p:nvSpPr>
            <p:cNvPr id="9" name="Rectangle 46"/>
            <p:cNvSpPr>
              <a:spLocks noChangeArrowheads="1"/>
            </p:cNvSpPr>
            <p:nvPr>
              <p:custDataLst>
                <p:tags r:id="rId2"/>
              </p:custDataLst>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10000"/>
                  </a:solidFill>
                  <a:latin typeface="+mn-ea"/>
                </a:rPr>
                <a:t>$ </a:t>
              </a:r>
              <a:r>
                <a:rPr lang="en-US" altLang="zh-CN" sz="2400" b="1">
                  <a:solidFill>
                    <a:srgbClr val="010000"/>
                  </a:solidFill>
                  <a:latin typeface="+mn-ea"/>
                  <a:sym typeface="+mn-ea"/>
                </a:rPr>
                <a:t>(S</a:t>
              </a:r>
              <a:endParaRPr lang="en-US" altLang="zh-CN" sz="2400" b="1">
                <a:solidFill>
                  <a:srgbClr val="010000"/>
                </a:solidFill>
                <a:latin typeface="+mn-ea"/>
              </a:endParaRPr>
            </a:p>
          </p:txBody>
        </p:sp>
        <p:sp>
          <p:nvSpPr>
            <p:cNvPr id="10" name="Rectangle 47"/>
            <p:cNvSpPr>
              <a:spLocks noChangeArrowheads="1"/>
            </p:cNvSpPr>
            <p:nvPr>
              <p:custDataLst>
                <p:tags r:id="rId3"/>
              </p:custDataLst>
            </p:nvPr>
          </p:nvSpPr>
          <p:spPr bwMode="auto">
            <a:xfrm>
              <a:off x="2188" y="2776"/>
              <a:ext cx="5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r>
                <a:rPr lang="en-US" altLang="zh-CN" sz="2400" b="1">
                  <a:latin typeface="+mn-ea"/>
                  <a:sym typeface="+mn-ea"/>
                </a:rPr>
                <a:t>)a</a:t>
              </a:r>
              <a:r>
                <a:rPr lang="zh-CN" altLang="en-US" sz="2400" b="1">
                  <a:solidFill>
                    <a:srgbClr val="010000"/>
                  </a:solidFill>
                  <a:latin typeface="+mn-ea"/>
                </a:rPr>
                <a:t>$</a:t>
              </a:r>
              <a:endParaRPr lang="zh-CN" altLang="en-US" sz="2400" b="1">
                <a:solidFill>
                  <a:srgbClr val="010000"/>
                </a:solidFill>
                <a:latin typeface="+mn-ea"/>
              </a:endParaRPr>
            </a:p>
          </p:txBody>
        </p:sp>
        <p:sp>
          <p:nvSpPr>
            <p:cNvPr id="11" name="Rectangle 48"/>
            <p:cNvSpPr>
              <a:spLocks noChangeArrowheads="1"/>
            </p:cNvSpPr>
            <p:nvPr>
              <p:custDataLst>
                <p:tags r:id="rId4"/>
              </p:custDataLst>
            </p:nvPr>
          </p:nvSpPr>
          <p:spPr bwMode="auto">
            <a:xfrm>
              <a:off x="3084" y="2767"/>
              <a:ext cx="13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r>
                <a:rPr lang="zh-CN" altLang="en-US" sz="2400" b="1">
                  <a:solidFill>
                    <a:srgbClr val="010000"/>
                  </a:solidFill>
                  <a:latin typeface="+mn-ea"/>
                  <a:sym typeface="+mn-ea"/>
                </a:rPr>
                <a:t>移进</a:t>
              </a:r>
              <a:endParaRPr lang="zh-CN" altLang="en-US" sz="2400" b="1">
                <a:solidFill>
                  <a:srgbClr val="010000"/>
                </a:solidFill>
                <a:latin typeface="+mn-ea"/>
                <a:sym typeface="+mn-ea"/>
              </a:endParaRPr>
            </a:p>
          </p:txBody>
        </p:sp>
      </p:grpSp>
      <p:grpSp>
        <p:nvGrpSpPr>
          <p:cNvPr id="13" name="Group 44"/>
          <p:cNvGrpSpPr/>
          <p:nvPr/>
        </p:nvGrpSpPr>
        <p:grpSpPr bwMode="auto">
          <a:xfrm>
            <a:off x="692767" y="4812165"/>
            <a:ext cx="6165849" cy="476250"/>
            <a:chOff x="512" y="2767"/>
            <a:chExt cx="3884" cy="300"/>
          </a:xfrm>
        </p:grpSpPr>
        <p:sp>
          <p:nvSpPr>
            <p:cNvPr id="14" name="Rectangle 45"/>
            <p:cNvSpPr>
              <a:spLocks noChangeArrowheads="1"/>
            </p:cNvSpPr>
            <p:nvPr>
              <p:custDataLst>
                <p:tags r:id="rId5"/>
              </p:custDataLst>
            </p:nvPr>
          </p:nvSpPr>
          <p:spPr bwMode="auto">
            <a:xfrm>
              <a:off x="512" y="2777"/>
              <a:ext cx="3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10000"/>
                  </a:solidFill>
                  <a:latin typeface="+mn-ea"/>
                </a:rPr>
                <a:t>10</a:t>
              </a:r>
              <a:endParaRPr lang="en-US" altLang="zh-CN" sz="2400" b="1">
                <a:solidFill>
                  <a:srgbClr val="010000"/>
                </a:solidFill>
                <a:latin typeface="+mn-ea"/>
              </a:endParaRPr>
            </a:p>
          </p:txBody>
        </p:sp>
        <p:sp>
          <p:nvSpPr>
            <p:cNvPr id="15" name="Rectangle 46"/>
            <p:cNvSpPr>
              <a:spLocks noChangeArrowheads="1"/>
            </p:cNvSpPr>
            <p:nvPr>
              <p:custDataLst>
                <p:tags r:id="rId6"/>
              </p:custDataLst>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 </a:t>
              </a:r>
              <a:r>
                <a:rPr lang="en-US" altLang="zh-CN" sz="2400" b="1">
                  <a:solidFill>
                    <a:srgbClr val="010000"/>
                  </a:solidFill>
                  <a:latin typeface="+mn-ea"/>
                  <a:sym typeface="+mn-ea"/>
                </a:rPr>
                <a:t>(S)</a:t>
              </a:r>
              <a:endParaRPr lang="en-US" altLang="zh-CN" sz="2400" b="1">
                <a:solidFill>
                  <a:srgbClr val="010000"/>
                </a:solidFill>
                <a:latin typeface="+mn-ea"/>
              </a:endParaRPr>
            </a:p>
          </p:txBody>
        </p:sp>
        <p:sp>
          <p:nvSpPr>
            <p:cNvPr id="16" name="Rectangle 47"/>
            <p:cNvSpPr>
              <a:spLocks noChangeArrowheads="1"/>
            </p:cNvSpPr>
            <p:nvPr>
              <p:custDataLst>
                <p:tags r:id="rId7"/>
              </p:custDataLst>
            </p:nvPr>
          </p:nvSpPr>
          <p:spPr bwMode="auto">
            <a:xfrm>
              <a:off x="2188" y="2776"/>
              <a:ext cx="62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en-US" altLang="zh-CN" sz="2400" b="1">
                  <a:latin typeface="+mn-ea"/>
                  <a:sym typeface="+mn-ea"/>
                </a:rPr>
                <a:t> a</a:t>
              </a:r>
              <a:r>
                <a:rPr lang="zh-CN" altLang="en-US" sz="2400" b="1">
                  <a:solidFill>
                    <a:srgbClr val="010000"/>
                  </a:solidFill>
                  <a:latin typeface="+mn-ea"/>
                </a:rPr>
                <a:t>$</a:t>
              </a:r>
              <a:endParaRPr lang="zh-CN" altLang="en-US" sz="2400" b="1">
                <a:solidFill>
                  <a:srgbClr val="010000"/>
                </a:solidFill>
                <a:latin typeface="+mn-ea"/>
              </a:endParaRPr>
            </a:p>
          </p:txBody>
        </p:sp>
        <p:sp>
          <p:nvSpPr>
            <p:cNvPr id="17" name="Rectangle 48"/>
            <p:cNvSpPr>
              <a:spLocks noChangeArrowheads="1"/>
            </p:cNvSpPr>
            <p:nvPr>
              <p:custDataLst>
                <p:tags r:id="rId8"/>
              </p:custDataLst>
            </p:nvPr>
          </p:nvSpPr>
          <p:spPr bwMode="auto">
            <a:xfrm>
              <a:off x="3084" y="2767"/>
              <a:ext cx="13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sz="2400" b="1">
                  <a:solidFill>
                    <a:srgbClr val="010000"/>
                  </a:solidFill>
                  <a:latin typeface="+mn-ea"/>
                  <a:sym typeface="+mn-ea"/>
                </a:rPr>
                <a:t>移进</a:t>
              </a:r>
              <a:endParaRPr lang="zh-CN" altLang="en-US" sz="2400" b="1">
                <a:solidFill>
                  <a:srgbClr val="010000"/>
                </a:solidFill>
                <a:latin typeface="+mn-ea"/>
                <a:sym typeface="+mn-ea"/>
              </a:endParaRPr>
            </a:p>
          </p:txBody>
        </p:sp>
      </p:grpSp>
      <p:grpSp>
        <p:nvGrpSpPr>
          <p:cNvPr id="18" name="Group 44"/>
          <p:cNvGrpSpPr/>
          <p:nvPr/>
        </p:nvGrpSpPr>
        <p:grpSpPr bwMode="auto">
          <a:xfrm>
            <a:off x="687687" y="5127125"/>
            <a:ext cx="6376986" cy="476250"/>
            <a:chOff x="512" y="2767"/>
            <a:chExt cx="4017" cy="300"/>
          </a:xfrm>
        </p:grpSpPr>
        <p:sp>
          <p:nvSpPr>
            <p:cNvPr id="19" name="Rectangle 45"/>
            <p:cNvSpPr>
              <a:spLocks noChangeArrowheads="1"/>
            </p:cNvSpPr>
            <p:nvPr>
              <p:custDataLst>
                <p:tags r:id="rId9"/>
              </p:custDataLst>
            </p:nvPr>
          </p:nvSpPr>
          <p:spPr bwMode="auto">
            <a:xfrm>
              <a:off x="512" y="2777"/>
              <a:ext cx="3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10000"/>
                  </a:solidFill>
                  <a:latin typeface="+mn-ea"/>
                </a:rPr>
                <a:t>11</a:t>
              </a:r>
              <a:endParaRPr lang="en-US" altLang="zh-CN" sz="2400" b="1">
                <a:solidFill>
                  <a:srgbClr val="010000"/>
                </a:solidFill>
                <a:latin typeface="+mn-ea"/>
              </a:endParaRPr>
            </a:p>
          </p:txBody>
        </p:sp>
        <p:sp>
          <p:nvSpPr>
            <p:cNvPr id="20" name="Rectangle 46"/>
            <p:cNvSpPr>
              <a:spLocks noChangeArrowheads="1"/>
            </p:cNvSpPr>
            <p:nvPr>
              <p:custDataLst>
                <p:tags r:id="rId10"/>
              </p:custDataLst>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10000"/>
                  </a:solidFill>
                  <a:latin typeface="+mn-ea"/>
                </a:rPr>
                <a:t>$ </a:t>
              </a:r>
              <a:r>
                <a:rPr lang="en-US" altLang="zh-CN" sz="2400" b="1">
                  <a:solidFill>
                    <a:srgbClr val="010000"/>
                  </a:solidFill>
                  <a:latin typeface="+mn-ea"/>
                  <a:sym typeface="+mn-ea"/>
                </a:rPr>
                <a:t>(S)a</a:t>
              </a:r>
              <a:endParaRPr lang="en-US" altLang="zh-CN" sz="2400" b="1">
                <a:solidFill>
                  <a:srgbClr val="010000"/>
                </a:solidFill>
                <a:latin typeface="+mn-ea"/>
              </a:endParaRPr>
            </a:p>
          </p:txBody>
        </p:sp>
        <p:sp>
          <p:nvSpPr>
            <p:cNvPr id="21" name="Rectangle 47"/>
            <p:cNvSpPr>
              <a:spLocks noChangeArrowheads="1"/>
            </p:cNvSpPr>
            <p:nvPr>
              <p:custDataLst>
                <p:tags r:id="rId11"/>
              </p:custDataLst>
            </p:nvPr>
          </p:nvSpPr>
          <p:spPr bwMode="auto">
            <a:xfrm>
              <a:off x="2188" y="2776"/>
              <a:ext cx="72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en-US" altLang="zh-CN" sz="2400" b="1">
                  <a:solidFill>
                    <a:srgbClr val="010000"/>
                  </a:solidFill>
                  <a:latin typeface="+mn-ea"/>
                </a:rPr>
                <a:t>    </a:t>
              </a:r>
              <a:r>
                <a:rPr lang="zh-CN" altLang="en-US" sz="2400" b="1">
                  <a:solidFill>
                    <a:srgbClr val="010000"/>
                  </a:solidFill>
                  <a:latin typeface="+mn-ea"/>
                </a:rPr>
                <a:t>$</a:t>
              </a:r>
              <a:endParaRPr lang="zh-CN" altLang="en-US" sz="2400" b="1">
                <a:solidFill>
                  <a:srgbClr val="010000"/>
                </a:solidFill>
                <a:latin typeface="+mn-ea"/>
              </a:endParaRPr>
            </a:p>
          </p:txBody>
        </p:sp>
        <p:sp>
          <p:nvSpPr>
            <p:cNvPr id="22" name="Rectangle 48"/>
            <p:cNvSpPr>
              <a:spLocks noChangeArrowheads="1"/>
            </p:cNvSpPr>
            <p:nvPr>
              <p:custDataLst>
                <p:tags r:id="rId12"/>
              </p:custDataLst>
            </p:nvPr>
          </p:nvSpPr>
          <p:spPr bwMode="auto">
            <a:xfrm>
              <a:off x="3084" y="2767"/>
              <a:ext cx="144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sz="2400" b="1">
                  <a:solidFill>
                    <a:srgbClr val="010000"/>
                  </a:solidFill>
                  <a:latin typeface="+mn-ea"/>
                  <a:sym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a</a:t>
              </a:r>
              <a:r>
                <a:rPr lang="zh-CN" altLang="en-US" sz="2400" b="1">
                  <a:solidFill>
                    <a:srgbClr val="010000"/>
                  </a:solidFill>
                  <a:latin typeface="+mn-ea"/>
                  <a:sym typeface="+mn-ea"/>
                </a:rPr>
                <a:t>归约</a:t>
              </a:r>
              <a:endParaRPr lang="zh-CN" altLang="en-US" sz="2400" b="1">
                <a:solidFill>
                  <a:srgbClr val="010000"/>
                </a:solidFill>
                <a:latin typeface="+mn-ea"/>
              </a:endParaRPr>
            </a:p>
          </p:txBody>
        </p:sp>
      </p:grpSp>
      <p:grpSp>
        <p:nvGrpSpPr>
          <p:cNvPr id="23" name="Group 44"/>
          <p:cNvGrpSpPr/>
          <p:nvPr/>
        </p:nvGrpSpPr>
        <p:grpSpPr bwMode="auto">
          <a:xfrm>
            <a:off x="661017" y="5480820"/>
            <a:ext cx="6670674" cy="476250"/>
            <a:chOff x="512" y="2767"/>
            <a:chExt cx="4202" cy="300"/>
          </a:xfrm>
        </p:grpSpPr>
        <p:sp>
          <p:nvSpPr>
            <p:cNvPr id="24" name="Rectangle 45"/>
            <p:cNvSpPr>
              <a:spLocks noChangeArrowheads="1"/>
            </p:cNvSpPr>
            <p:nvPr>
              <p:custDataLst>
                <p:tags r:id="rId13"/>
              </p:custDataLst>
            </p:nvPr>
          </p:nvSpPr>
          <p:spPr bwMode="auto">
            <a:xfrm>
              <a:off x="512" y="2777"/>
              <a:ext cx="3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10000"/>
                  </a:solidFill>
                  <a:latin typeface="+mn-ea"/>
                </a:rPr>
                <a:t>12</a:t>
              </a:r>
              <a:endParaRPr lang="en-US" altLang="zh-CN" sz="2400" b="1">
                <a:solidFill>
                  <a:srgbClr val="010000"/>
                </a:solidFill>
                <a:latin typeface="+mn-ea"/>
              </a:endParaRPr>
            </a:p>
          </p:txBody>
        </p:sp>
        <p:sp>
          <p:nvSpPr>
            <p:cNvPr id="25" name="Rectangle 46"/>
            <p:cNvSpPr>
              <a:spLocks noChangeArrowheads="1"/>
            </p:cNvSpPr>
            <p:nvPr>
              <p:custDataLst>
                <p:tags r:id="rId14"/>
              </p:custDataLst>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10000"/>
                  </a:solidFill>
                  <a:latin typeface="+mn-ea"/>
                </a:rPr>
                <a:t>$ </a:t>
              </a:r>
              <a:r>
                <a:rPr lang="en-US" altLang="zh-CN" sz="2400" b="1">
                  <a:solidFill>
                    <a:srgbClr val="010000"/>
                  </a:solidFill>
                  <a:latin typeface="+mn-ea"/>
                  <a:sym typeface="+mn-ea"/>
                </a:rPr>
                <a:t>(S)S</a:t>
              </a:r>
              <a:endParaRPr lang="en-US" altLang="zh-CN" sz="2400" b="1">
                <a:solidFill>
                  <a:srgbClr val="010000"/>
                </a:solidFill>
                <a:latin typeface="+mn-ea"/>
              </a:endParaRPr>
            </a:p>
          </p:txBody>
        </p:sp>
        <p:sp>
          <p:nvSpPr>
            <p:cNvPr id="26" name="Rectangle 47"/>
            <p:cNvSpPr>
              <a:spLocks noChangeArrowheads="1"/>
            </p:cNvSpPr>
            <p:nvPr>
              <p:custDataLst>
                <p:tags r:id="rId15"/>
              </p:custDataLst>
            </p:nvPr>
          </p:nvSpPr>
          <p:spPr bwMode="auto">
            <a:xfrm>
              <a:off x="2188" y="2776"/>
              <a:ext cx="64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r>
                <a:rPr lang="en-US" altLang="zh-CN" sz="2400" b="1">
                  <a:solidFill>
                    <a:srgbClr val="010000"/>
                  </a:solidFill>
                  <a:latin typeface="+mn-ea"/>
                </a:rPr>
                <a:t>    </a:t>
              </a:r>
              <a:r>
                <a:rPr lang="zh-CN" altLang="en-US" sz="2400" b="1">
                  <a:solidFill>
                    <a:srgbClr val="010000"/>
                  </a:solidFill>
                  <a:latin typeface="+mn-ea"/>
                </a:rPr>
                <a:t>$</a:t>
              </a:r>
              <a:endParaRPr lang="zh-CN" altLang="en-US" sz="2400" b="1">
                <a:solidFill>
                  <a:srgbClr val="010000"/>
                </a:solidFill>
                <a:latin typeface="+mn-ea"/>
              </a:endParaRPr>
            </a:p>
          </p:txBody>
        </p:sp>
        <p:sp>
          <p:nvSpPr>
            <p:cNvPr id="27" name="Rectangle 48"/>
            <p:cNvSpPr>
              <a:spLocks noChangeArrowheads="1"/>
            </p:cNvSpPr>
            <p:nvPr>
              <p:custDataLst>
                <p:tags r:id="rId16"/>
              </p:custDataLst>
            </p:nvPr>
          </p:nvSpPr>
          <p:spPr bwMode="auto">
            <a:xfrm>
              <a:off x="3084" y="2767"/>
              <a:ext cx="163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r>
                <a:rPr lang="zh-CN" altLang="en-US" sz="2400" b="1">
                  <a:solidFill>
                    <a:srgbClr val="010000"/>
                  </a:solidFill>
                  <a:latin typeface="+mn-ea"/>
                  <a:sym typeface="+mn-ea"/>
                </a:rPr>
                <a:t>用</a:t>
              </a:r>
              <a:r>
                <a:rPr lang="en-US" altLang="zh-CN" sz="2400" b="1">
                  <a:solidFill>
                    <a:srgbClr val="010000"/>
                  </a:solidFill>
                  <a:latin typeface="+mn-ea"/>
                  <a:sym typeface="+mn-ea"/>
                </a:rPr>
                <a:t>S→</a:t>
              </a:r>
              <a:r>
                <a:rPr lang="en-US" altLang="zh-CN" sz="2400" b="1">
                  <a:solidFill>
                    <a:srgbClr val="010000"/>
                  </a:solidFill>
                  <a:latin typeface="+mn-ea"/>
                  <a:sym typeface="Symbol" panose="05050102010706020507" pitchFamily="18" charset="2"/>
                </a:rPr>
                <a:t>(S)S</a:t>
              </a:r>
              <a:r>
                <a:rPr lang="zh-CN" altLang="en-US" sz="2400" b="1">
                  <a:solidFill>
                    <a:srgbClr val="010000"/>
                  </a:solidFill>
                  <a:latin typeface="+mn-ea"/>
                  <a:sym typeface="+mn-ea"/>
                </a:rPr>
                <a:t>归约</a:t>
              </a:r>
              <a:endParaRPr lang="zh-CN" altLang="en-US" sz="2400" b="1">
                <a:solidFill>
                  <a:srgbClr val="010000"/>
                </a:solidFill>
                <a:latin typeface="+mn-ea"/>
              </a:endParaRPr>
            </a:p>
          </p:txBody>
        </p:sp>
      </p:grpSp>
      <p:grpSp>
        <p:nvGrpSpPr>
          <p:cNvPr id="28" name="Group 44"/>
          <p:cNvGrpSpPr/>
          <p:nvPr/>
        </p:nvGrpSpPr>
        <p:grpSpPr bwMode="auto">
          <a:xfrm>
            <a:off x="655937" y="5818640"/>
            <a:ext cx="6165849" cy="476250"/>
            <a:chOff x="512" y="2767"/>
            <a:chExt cx="3884" cy="300"/>
          </a:xfrm>
        </p:grpSpPr>
        <p:sp>
          <p:nvSpPr>
            <p:cNvPr id="29" name="Rectangle 45"/>
            <p:cNvSpPr>
              <a:spLocks noChangeArrowheads="1"/>
            </p:cNvSpPr>
            <p:nvPr>
              <p:custDataLst>
                <p:tags r:id="rId17"/>
              </p:custDataLst>
            </p:nvPr>
          </p:nvSpPr>
          <p:spPr bwMode="auto">
            <a:xfrm>
              <a:off x="512" y="2777"/>
              <a:ext cx="32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10000"/>
                  </a:solidFill>
                  <a:latin typeface="+mn-ea"/>
                </a:rPr>
                <a:t>13</a:t>
              </a:r>
              <a:endParaRPr lang="en-US" altLang="zh-CN" sz="2400" b="1">
                <a:solidFill>
                  <a:srgbClr val="010000"/>
                </a:solidFill>
                <a:latin typeface="+mn-ea"/>
              </a:endParaRPr>
            </a:p>
          </p:txBody>
        </p:sp>
        <p:sp>
          <p:nvSpPr>
            <p:cNvPr id="30" name="Rectangle 46"/>
            <p:cNvSpPr>
              <a:spLocks noChangeArrowheads="1"/>
            </p:cNvSpPr>
            <p:nvPr>
              <p:custDataLst>
                <p:tags r:id="rId18"/>
              </p:custDataLst>
            </p:nvPr>
          </p:nvSpPr>
          <p:spPr bwMode="auto">
            <a:xfrm>
              <a:off x="952" y="2776"/>
              <a:ext cx="10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a:solidFill>
                    <a:srgbClr val="010000"/>
                  </a:solidFill>
                  <a:latin typeface="+mn-ea"/>
                </a:rPr>
                <a:t>$ </a:t>
              </a:r>
              <a:r>
                <a:rPr lang="en-US" altLang="zh-CN" sz="2400" b="1">
                  <a:solidFill>
                    <a:srgbClr val="010000"/>
                  </a:solidFill>
                  <a:latin typeface="+mn-ea"/>
                  <a:sym typeface="+mn-ea"/>
                </a:rPr>
                <a:t>S</a:t>
              </a:r>
              <a:endParaRPr lang="en-US" altLang="zh-CN" sz="2400" b="1">
                <a:solidFill>
                  <a:srgbClr val="010000"/>
                </a:solidFill>
                <a:latin typeface="+mn-ea"/>
              </a:endParaRPr>
            </a:p>
          </p:txBody>
        </p:sp>
        <p:sp>
          <p:nvSpPr>
            <p:cNvPr id="31" name="Rectangle 47"/>
            <p:cNvSpPr>
              <a:spLocks noChangeArrowheads="1"/>
            </p:cNvSpPr>
            <p:nvPr>
              <p:custDataLst>
                <p:tags r:id="rId19"/>
              </p:custDataLst>
            </p:nvPr>
          </p:nvSpPr>
          <p:spPr bwMode="auto">
            <a:xfrm>
              <a:off x="2188" y="2776"/>
              <a:ext cx="67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r>
                <a:rPr lang="en-US" altLang="zh-CN" sz="2400" b="1">
                  <a:solidFill>
                    <a:srgbClr val="010000"/>
                  </a:solidFill>
                  <a:latin typeface="+mn-ea"/>
                </a:rPr>
                <a:t>    </a:t>
              </a:r>
              <a:r>
                <a:rPr lang="zh-CN" altLang="en-US" sz="2400" b="1">
                  <a:solidFill>
                    <a:srgbClr val="010000"/>
                  </a:solidFill>
                  <a:latin typeface="+mn-ea"/>
                </a:rPr>
                <a:t>$</a:t>
              </a:r>
              <a:endParaRPr lang="zh-CN" altLang="en-US" sz="2400" b="1">
                <a:solidFill>
                  <a:srgbClr val="010000"/>
                </a:solidFill>
                <a:latin typeface="+mn-ea"/>
              </a:endParaRPr>
            </a:p>
          </p:txBody>
        </p:sp>
        <p:sp>
          <p:nvSpPr>
            <p:cNvPr id="32" name="Rectangle 48"/>
            <p:cNvSpPr>
              <a:spLocks noChangeArrowheads="1"/>
            </p:cNvSpPr>
            <p:nvPr>
              <p:custDataLst>
                <p:tags r:id="rId20"/>
              </p:custDataLst>
            </p:nvPr>
          </p:nvSpPr>
          <p:spPr bwMode="auto">
            <a:xfrm>
              <a:off x="3084" y="2767"/>
              <a:ext cx="13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endParaRPr lang="zh-CN" altLang="en-US" sz="2400" b="1">
                <a:solidFill>
                  <a:srgbClr val="010000"/>
                </a:solidFill>
                <a:latin typeface="+mn-ea"/>
              </a:endParaRPr>
            </a:p>
          </p:txBody>
        </p:sp>
      </p:grpSp>
      <p:sp>
        <p:nvSpPr>
          <p:cNvPr id="33" name="文本框 32"/>
          <p:cNvSpPr txBox="1"/>
          <p:nvPr/>
        </p:nvSpPr>
        <p:spPr>
          <a:xfrm>
            <a:off x="4784090" y="5818505"/>
            <a:ext cx="1263015" cy="460375"/>
          </a:xfrm>
          <a:prstGeom prst="rect">
            <a:avLst/>
          </a:prstGeom>
          <a:noFill/>
        </p:spPr>
        <p:txBody>
          <a:bodyPr wrap="square" rtlCol="0" anchor="t">
            <a:spAutoFit/>
          </a:bodyPr>
          <a:p>
            <a:pPr algn="l"/>
            <a:r>
              <a:rPr lang="zh-CN" altLang="en-US" sz="2400" b="1">
                <a:solidFill>
                  <a:srgbClr val="010000"/>
                </a:solidFill>
                <a:latin typeface="+mn-ea"/>
                <a:sym typeface="+mn-ea"/>
              </a:rPr>
              <a:t>移进</a:t>
            </a:r>
            <a:endParaRPr lang="zh-CN" altLang="en-US" sz="2400" b="1">
              <a:solidFill>
                <a:srgbClr val="010000"/>
              </a:solidFill>
              <a:latin typeface="+mn-ea"/>
              <a:sym typeface="+mn-ea"/>
            </a:endParaRPr>
          </a:p>
        </p:txBody>
      </p:sp>
      <p:sp>
        <p:nvSpPr>
          <p:cNvPr id="4" name="Rectangle 18"/>
          <p:cNvSpPr>
            <a:spLocks noChangeArrowheads="1"/>
          </p:cNvSpPr>
          <p:nvPr>
            <p:custDataLst>
              <p:tags r:id="rId21"/>
            </p:custDataLst>
          </p:nvPr>
        </p:nvSpPr>
        <p:spPr bwMode="auto">
          <a:xfrm>
            <a:off x="10179835" y="147726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endParaRPr lang="zh-CN" altLang="en-US" sz="2400" b="1">
              <a:solidFill>
                <a:srgbClr val="010000"/>
              </a:solidFill>
              <a:latin typeface="+mn-ea"/>
            </a:endParaRPr>
          </a:p>
        </p:txBody>
      </p:sp>
      <p:grpSp>
        <p:nvGrpSpPr>
          <p:cNvPr id="6" name="Group 50"/>
          <p:cNvGrpSpPr/>
          <p:nvPr/>
        </p:nvGrpSpPr>
        <p:grpSpPr bwMode="auto">
          <a:xfrm>
            <a:off x="8727591" y="1571243"/>
            <a:ext cx="2163763" cy="750887"/>
            <a:chOff x="373" y="1920"/>
            <a:chExt cx="1363" cy="473"/>
          </a:xfrm>
        </p:grpSpPr>
        <p:sp>
          <p:nvSpPr>
            <p:cNvPr id="34" name="Text Box 31"/>
            <p:cNvSpPr txBox="1">
              <a:spLocks noChangeArrowheads="1"/>
            </p:cNvSpPr>
            <p:nvPr>
              <p:custDataLst>
                <p:tags r:id="rId22"/>
              </p:custDataLst>
            </p:nvPr>
          </p:nvSpPr>
          <p:spPr bwMode="auto">
            <a:xfrm>
              <a:off x="373" y="1920"/>
              <a:ext cx="13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800" b="1" dirty="0">
                  <a:solidFill>
                    <a:srgbClr val="010000"/>
                  </a:solidFill>
                  <a:latin typeface="+mn-ea"/>
                  <a:sym typeface="+mn-ea"/>
                </a:rPr>
                <a:t>((a)a)a</a:t>
              </a:r>
              <a:endParaRPr lang="en-US" altLang="zh-CN" sz="2800" b="1" dirty="0">
                <a:latin typeface="+mn-ea"/>
              </a:endParaRPr>
            </a:p>
          </p:txBody>
        </p:sp>
        <p:grpSp>
          <p:nvGrpSpPr>
            <p:cNvPr id="35" name="Group 32"/>
            <p:cNvGrpSpPr/>
            <p:nvPr/>
          </p:nvGrpSpPr>
          <p:grpSpPr bwMode="auto">
            <a:xfrm>
              <a:off x="1048" y="1920"/>
              <a:ext cx="384" cy="473"/>
              <a:chOff x="1248" y="1632"/>
              <a:chExt cx="384" cy="473"/>
            </a:xfrm>
          </p:grpSpPr>
          <p:sp>
            <p:nvSpPr>
              <p:cNvPr id="36" name="Text Box 33"/>
              <p:cNvSpPr txBox="1">
                <a:spLocks noChangeArrowheads="1"/>
              </p:cNvSpPr>
              <p:nvPr>
                <p:custDataLst>
                  <p:tags r:id="rId23"/>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78" name="Text Box 34"/>
              <p:cNvSpPr txBox="1">
                <a:spLocks noChangeArrowheads="1"/>
              </p:cNvSpPr>
              <p:nvPr>
                <p:custDataLst>
                  <p:tags r:id="rId24"/>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grpSp>
      <p:sp>
        <p:nvSpPr>
          <p:cNvPr id="79" name="Text Box 35"/>
          <p:cNvSpPr txBox="1">
            <a:spLocks noChangeArrowheads="1"/>
          </p:cNvSpPr>
          <p:nvPr>
            <p:custDataLst>
              <p:tags r:id="rId25"/>
            </p:custDataLst>
          </p:nvPr>
        </p:nvSpPr>
        <p:spPr bwMode="auto">
          <a:xfrm>
            <a:off x="10243653" y="1571243"/>
            <a:ext cx="14001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800" b="1" dirty="0">
                <a:solidFill>
                  <a:srgbClr val="010000"/>
                </a:solidFill>
                <a:latin typeface="+mn-ea"/>
                <a:sym typeface="+mn-ea"/>
              </a:rPr>
              <a:t>((S)a)a</a:t>
            </a:r>
            <a:endParaRPr lang="en-US" altLang="zh-CN" sz="2800" b="1" dirty="0">
              <a:latin typeface="+mn-ea"/>
            </a:endParaRPr>
          </a:p>
        </p:txBody>
      </p:sp>
      <p:grpSp>
        <p:nvGrpSpPr>
          <p:cNvPr id="80" name="组合 78"/>
          <p:cNvGrpSpPr/>
          <p:nvPr/>
        </p:nvGrpSpPr>
        <p:grpSpPr bwMode="auto">
          <a:xfrm>
            <a:off x="9815028" y="2115121"/>
            <a:ext cx="2044700" cy="740159"/>
            <a:chOff x="2071670" y="3000372"/>
            <a:chExt cx="2044715" cy="740164"/>
          </a:xfrm>
        </p:grpSpPr>
        <p:grpSp>
          <p:nvGrpSpPr>
            <p:cNvPr id="81" name="Group 36"/>
            <p:cNvGrpSpPr/>
            <p:nvPr/>
          </p:nvGrpSpPr>
          <p:grpSpPr bwMode="auto">
            <a:xfrm>
              <a:off x="2071670" y="3000372"/>
              <a:ext cx="609600" cy="740164"/>
              <a:chOff x="1248" y="1632"/>
              <a:chExt cx="384" cy="488"/>
            </a:xfrm>
          </p:grpSpPr>
          <p:sp>
            <p:nvSpPr>
              <p:cNvPr id="82" name="Text Box 37"/>
              <p:cNvSpPr txBox="1">
                <a:spLocks noChangeArrowheads="1"/>
              </p:cNvSpPr>
              <p:nvPr>
                <p:custDataLst>
                  <p:tags r:id="rId26"/>
                </p:custDataLst>
              </p:nvPr>
            </p:nvSpPr>
            <p:spPr bwMode="auto">
              <a:xfrm>
                <a:off x="1266" y="1776"/>
                <a:ext cx="28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86" name="Text Box 38"/>
              <p:cNvSpPr txBox="1">
                <a:spLocks noChangeArrowheads="1"/>
              </p:cNvSpPr>
              <p:nvPr>
                <p:custDataLst>
                  <p:tags r:id="rId27"/>
                </p:custDataLst>
              </p:nvPr>
            </p:nvSpPr>
            <p:spPr bwMode="auto">
              <a:xfrm>
                <a:off x="1248" y="1632"/>
                <a:ext cx="38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87" name="Text Box 39"/>
            <p:cNvSpPr txBox="1">
              <a:spLocks noChangeArrowheads="1"/>
            </p:cNvSpPr>
            <p:nvPr>
              <p:custDataLst>
                <p:tags r:id="rId28"/>
              </p:custDataLst>
            </p:nvPr>
          </p:nvSpPr>
          <p:spPr bwMode="auto">
            <a:xfrm>
              <a:off x="2571419" y="3072127"/>
              <a:ext cx="1544966" cy="52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800" b="1" dirty="0">
                  <a:solidFill>
                    <a:srgbClr val="010000"/>
                  </a:solidFill>
                  <a:latin typeface="+mn-ea"/>
                  <a:sym typeface="+mn-ea"/>
                </a:rPr>
                <a:t>((S)S)a</a:t>
              </a:r>
              <a:endParaRPr lang="en-US" altLang="zh-CN" sz="2800" b="1" dirty="0">
                <a:latin typeface="+mn-ea"/>
              </a:endParaRPr>
            </a:p>
          </p:txBody>
        </p:sp>
      </p:grpSp>
      <p:grpSp>
        <p:nvGrpSpPr>
          <p:cNvPr id="88" name="Group 44"/>
          <p:cNvGrpSpPr/>
          <p:nvPr/>
        </p:nvGrpSpPr>
        <p:grpSpPr bwMode="auto">
          <a:xfrm rot="0">
            <a:off x="9799320" y="2708275"/>
            <a:ext cx="609600" cy="750569"/>
            <a:chOff x="1248" y="1632"/>
            <a:chExt cx="384" cy="473"/>
          </a:xfrm>
        </p:grpSpPr>
        <p:sp>
          <p:nvSpPr>
            <p:cNvPr id="89" name="Text Box 45"/>
            <p:cNvSpPr txBox="1">
              <a:spLocks noChangeArrowheads="1"/>
            </p:cNvSpPr>
            <p:nvPr>
              <p:custDataLst>
                <p:tags r:id="rId29"/>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90" name="Text Box 46"/>
            <p:cNvSpPr txBox="1">
              <a:spLocks noChangeArrowheads="1"/>
            </p:cNvSpPr>
            <p:nvPr>
              <p:custDataLst>
                <p:tags r:id="rId30"/>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91" name="文本框 90"/>
          <p:cNvSpPr txBox="1"/>
          <p:nvPr>
            <p:custDataLst>
              <p:tags r:id="rId31"/>
            </p:custDataLst>
          </p:nvPr>
        </p:nvSpPr>
        <p:spPr>
          <a:xfrm>
            <a:off x="10314940" y="2766060"/>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((S)S)a</a:t>
            </a:r>
            <a:endParaRPr lang="en-US" altLang="zh-CN" sz="2800" b="1" dirty="0">
              <a:solidFill>
                <a:srgbClr val="010000"/>
              </a:solidFill>
              <a:latin typeface="+mn-ea"/>
              <a:sym typeface="+mn-ea"/>
            </a:endParaRPr>
          </a:p>
        </p:txBody>
      </p:sp>
      <p:grpSp>
        <p:nvGrpSpPr>
          <p:cNvPr id="92" name="Group 44"/>
          <p:cNvGrpSpPr/>
          <p:nvPr/>
        </p:nvGrpSpPr>
        <p:grpSpPr bwMode="auto">
          <a:xfrm rot="0">
            <a:off x="9813925" y="3228975"/>
            <a:ext cx="609600" cy="750569"/>
            <a:chOff x="1248" y="1632"/>
            <a:chExt cx="384" cy="473"/>
          </a:xfrm>
        </p:grpSpPr>
        <p:sp>
          <p:nvSpPr>
            <p:cNvPr id="93" name="Text Box 45"/>
            <p:cNvSpPr txBox="1">
              <a:spLocks noChangeArrowheads="1"/>
            </p:cNvSpPr>
            <p:nvPr>
              <p:custDataLst>
                <p:tags r:id="rId32"/>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94" name="Text Box 46"/>
            <p:cNvSpPr txBox="1">
              <a:spLocks noChangeArrowheads="1"/>
            </p:cNvSpPr>
            <p:nvPr>
              <p:custDataLst>
                <p:tags r:id="rId33"/>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95" name="文本框 94"/>
          <p:cNvSpPr txBox="1"/>
          <p:nvPr>
            <p:custDataLst>
              <p:tags r:id="rId34"/>
            </p:custDataLst>
          </p:nvPr>
        </p:nvSpPr>
        <p:spPr>
          <a:xfrm>
            <a:off x="10329545" y="3286760"/>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a:t>
            </a:r>
            <a:endParaRPr lang="en-US" altLang="zh-CN" sz="2800" b="1" dirty="0">
              <a:solidFill>
                <a:srgbClr val="010000"/>
              </a:solidFill>
              <a:latin typeface="+mn-ea"/>
              <a:sym typeface="+mn-ea"/>
            </a:endParaRPr>
          </a:p>
        </p:txBody>
      </p:sp>
      <p:grpSp>
        <p:nvGrpSpPr>
          <p:cNvPr id="103" name="Group 44"/>
          <p:cNvGrpSpPr/>
          <p:nvPr/>
        </p:nvGrpSpPr>
        <p:grpSpPr bwMode="auto">
          <a:xfrm rot="0">
            <a:off x="9813925" y="3710305"/>
            <a:ext cx="609600" cy="750569"/>
            <a:chOff x="1248" y="1632"/>
            <a:chExt cx="384" cy="473"/>
          </a:xfrm>
        </p:grpSpPr>
        <p:sp>
          <p:nvSpPr>
            <p:cNvPr id="104" name="Text Box 45"/>
            <p:cNvSpPr txBox="1">
              <a:spLocks noChangeArrowheads="1"/>
            </p:cNvSpPr>
            <p:nvPr>
              <p:custDataLst>
                <p:tags r:id="rId35"/>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105" name="Text Box 46"/>
            <p:cNvSpPr txBox="1">
              <a:spLocks noChangeArrowheads="1"/>
            </p:cNvSpPr>
            <p:nvPr>
              <p:custDataLst>
                <p:tags r:id="rId36"/>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106" name="文本框 105"/>
          <p:cNvSpPr txBox="1"/>
          <p:nvPr>
            <p:custDataLst>
              <p:tags r:id="rId37"/>
            </p:custDataLst>
          </p:nvPr>
        </p:nvSpPr>
        <p:spPr>
          <a:xfrm>
            <a:off x="10329545" y="3768090"/>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t>
            </a:r>
            <a:r>
              <a:rPr lang="en-US" altLang="zh-CN" sz="2800" b="1" dirty="0">
                <a:solidFill>
                  <a:srgbClr val="010000"/>
                </a:solidFill>
                <a:latin typeface="+mn-ea"/>
                <a:sym typeface="+mn-ea"/>
              </a:rPr>
              <a:t>S</a:t>
            </a:r>
            <a:endParaRPr lang="en-US" altLang="zh-CN" sz="2800" b="1" dirty="0">
              <a:solidFill>
                <a:srgbClr val="010000"/>
              </a:solidFill>
              <a:latin typeface="+mn-ea"/>
              <a:sym typeface="+mn-ea"/>
            </a:endParaRPr>
          </a:p>
        </p:txBody>
      </p:sp>
      <p:grpSp>
        <p:nvGrpSpPr>
          <p:cNvPr id="107" name="Group 44"/>
          <p:cNvGrpSpPr/>
          <p:nvPr/>
        </p:nvGrpSpPr>
        <p:grpSpPr bwMode="auto">
          <a:xfrm rot="0">
            <a:off x="9820910" y="4180205"/>
            <a:ext cx="609600" cy="750569"/>
            <a:chOff x="1248" y="1632"/>
            <a:chExt cx="384" cy="473"/>
          </a:xfrm>
        </p:grpSpPr>
        <p:sp>
          <p:nvSpPr>
            <p:cNvPr id="108" name="Text Box 45"/>
            <p:cNvSpPr txBox="1">
              <a:spLocks noChangeArrowheads="1"/>
            </p:cNvSpPr>
            <p:nvPr>
              <p:custDataLst>
                <p:tags r:id="rId38"/>
              </p:custDataLst>
            </p:nvPr>
          </p:nvSpPr>
          <p:spPr bwMode="auto">
            <a:xfrm>
              <a:off x="1266" y="1776"/>
              <a:ext cx="2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sp>
          <p:nvSpPr>
            <p:cNvPr id="109" name="Text Box 46"/>
            <p:cNvSpPr txBox="1">
              <a:spLocks noChangeArrowheads="1"/>
            </p:cNvSpPr>
            <p:nvPr>
              <p:custDataLst>
                <p:tags r:id="rId39"/>
              </p:custDataLst>
            </p:nvPr>
          </p:nvSpPr>
          <p:spPr bwMode="auto">
            <a:xfrm>
              <a:off x="1248" y="1632"/>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2800" b="1">
                  <a:latin typeface="+mn-ea"/>
                  <a:sym typeface="Symbol" panose="05050102010706020507" pitchFamily="18" charset="2"/>
                </a:rPr>
                <a:t></a:t>
              </a:r>
              <a:endParaRPr lang="zh-CN" altLang="en-US" sz="2800" b="1">
                <a:latin typeface="+mn-ea"/>
              </a:endParaRPr>
            </a:p>
          </p:txBody>
        </p:sp>
      </p:grpSp>
      <p:sp>
        <p:nvSpPr>
          <p:cNvPr id="110" name="文本框 109"/>
          <p:cNvSpPr txBox="1"/>
          <p:nvPr>
            <p:custDataLst>
              <p:tags r:id="rId40"/>
            </p:custDataLst>
          </p:nvPr>
        </p:nvSpPr>
        <p:spPr>
          <a:xfrm>
            <a:off x="10336530" y="4237990"/>
            <a:ext cx="1500505" cy="521970"/>
          </a:xfrm>
          <a:prstGeom prst="rect">
            <a:avLst/>
          </a:prstGeom>
          <a:noFill/>
        </p:spPr>
        <p:txBody>
          <a:bodyPr wrap="square" rtlCol="0" anchor="t">
            <a:spAutoFit/>
          </a:bodyPr>
          <a:p>
            <a:pPr>
              <a:spcBef>
                <a:spcPct val="50000"/>
              </a:spcBef>
            </a:pPr>
            <a:r>
              <a:rPr lang="en-US" altLang="zh-CN" sz="2800" b="1" dirty="0">
                <a:solidFill>
                  <a:srgbClr val="010000"/>
                </a:solidFill>
                <a:latin typeface="+mn-ea"/>
                <a:sym typeface="+mn-ea"/>
              </a:rPr>
              <a:t>S</a:t>
            </a:r>
            <a:endParaRPr lang="en-US" altLang="zh-CN" sz="2800" b="1" dirty="0">
              <a:solidFill>
                <a:srgbClr val="01000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arn(outHorizontal)">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arn(out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barn(outHorizontal)">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barn(outHorizontal)">
                                      <p:cBhvr>
                                        <p:cTn id="22" dur="5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barn(outHorizontal)">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barn(outHorizontal)">
                                      <p:cBhvr>
                                        <p:cTn id="32" dur="500"/>
                                        <p:tgtEl>
                                          <p:spTgt spid="7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barn(outHorizontal)">
                                      <p:cBhvr>
                                        <p:cTn id="37" dur="500"/>
                                        <p:tgtEl>
                                          <p:spTgt spid="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wipe(up)">
                                      <p:cBhvr>
                                        <p:cTn id="42" dur="500"/>
                                        <p:tgtEl>
                                          <p:spTgt spid="102"/>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up)">
                                      <p:cBhvr>
                                        <p:cTn id="45" dur="500"/>
                                        <p:tgtEl>
                                          <p:spTgt spid="3"/>
                                        </p:tgtEl>
                                      </p:cBhvr>
                                    </p:animEffect>
                                  </p:childTnLst>
                                </p:cTn>
                              </p:par>
                              <p:par>
                                <p:cTn id="46" presetID="22" presetClass="entr" presetSubtype="1"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42"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arn(outHorizontal)">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barn(outHorizontal)">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42"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arn(outHorizontal)">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42"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barn(outHorizontal)">
                                      <p:cBhvr>
                                        <p:cTn id="68" dur="500"/>
                                        <p:tgtEl>
                                          <p:spTgt spid="23"/>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42"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barn(outHorizontal)">
                                      <p:cBhvr>
                                        <p:cTn id="7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8800" y="276860"/>
            <a:ext cx="7294245" cy="593090"/>
          </a:xfrm>
        </p:spPr>
        <p:txBody>
          <a:bodyPr/>
          <a:lstStyle/>
          <a:p>
            <a:r>
              <a:rPr lang="en-US" altLang="zh-CN" dirty="0"/>
              <a:t>4.2   LR </a:t>
            </a:r>
            <a:r>
              <a:rPr lang="zh-CN" altLang="en-US" dirty="0"/>
              <a:t>分析概览（续）</a:t>
            </a:r>
            <a:endParaRPr lang="zh-CN" altLang="en-US"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Rectangle 9"/>
          <p:cNvSpPr txBox="1">
            <a:spLocks noChangeArrowheads="1"/>
          </p:cNvSpPr>
          <p:nvPr/>
        </p:nvSpPr>
        <p:spPr>
          <a:xfrm>
            <a:off x="278130" y="1311275"/>
            <a:ext cx="11177270" cy="43205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3200" b="1" dirty="0">
                <a:solidFill>
                  <a:srgbClr val="0070C0"/>
                </a:solidFill>
                <a:latin typeface="+mn-ea"/>
              </a:rPr>
              <a:t>活前缀和可归前缀</a:t>
            </a:r>
            <a:r>
              <a:rPr lang="zh-CN" altLang="en-US" sz="3200" b="1" dirty="0">
                <a:solidFill>
                  <a:srgbClr val="020001"/>
                </a:solidFill>
                <a:latin typeface="+mn-ea"/>
              </a:rPr>
              <a:t>：</a:t>
            </a:r>
            <a:endParaRPr lang="zh-CN" altLang="en-US" sz="3200" b="1" dirty="0">
              <a:solidFill>
                <a:srgbClr val="020001"/>
              </a:solidFill>
              <a:latin typeface="+mn-ea"/>
            </a:endParaRPr>
          </a:p>
          <a:p>
            <a:pPr lvl="1">
              <a:lnSpc>
                <a:spcPct val="120000"/>
              </a:lnSpc>
              <a:spcAft>
                <a:spcPts val="0"/>
              </a:spcAft>
            </a:pPr>
            <a:r>
              <a:rPr lang="zh-CN" altLang="en-US" sz="3200" b="1" dirty="0">
                <a:solidFill>
                  <a:srgbClr val="020001"/>
                </a:solidFill>
                <a:latin typeface="+mn-ea"/>
              </a:rPr>
              <a:t>文法</a:t>
            </a:r>
            <a:r>
              <a:rPr lang="en-US" altLang="zh-CN" sz="3200" b="1" dirty="0">
                <a:solidFill>
                  <a:srgbClr val="020001"/>
                </a:solidFill>
                <a:latin typeface="+mn-ea"/>
              </a:rPr>
              <a:t>G[S]</a:t>
            </a:r>
            <a:r>
              <a:rPr lang="zh-CN" altLang="en-US" sz="3200" b="1" dirty="0">
                <a:solidFill>
                  <a:srgbClr val="020001"/>
                </a:solidFill>
                <a:latin typeface="+mn-ea"/>
              </a:rPr>
              <a:t>，若</a:t>
            </a:r>
            <a:r>
              <a:rPr lang="en-US" altLang="zh-CN" sz="3200" b="1" dirty="0">
                <a:solidFill>
                  <a:srgbClr val="020001"/>
                </a:solidFill>
                <a:latin typeface="+mn-ea"/>
              </a:rPr>
              <a:t>S </a:t>
            </a:r>
            <a:r>
              <a:rPr lang="en-US" altLang="zh-CN" sz="3200" b="1" dirty="0">
                <a:solidFill>
                  <a:srgbClr val="020001"/>
                </a:solidFill>
                <a:latin typeface="+mn-ea"/>
                <a:sym typeface="Symbol" panose="05050102010706020507" pitchFamily="18" charset="2"/>
              </a:rPr>
              <a:t>=&gt;*</a:t>
            </a:r>
            <a:r>
              <a:rPr lang="en-US" altLang="zh-CN" sz="3200" b="1" dirty="0">
                <a:solidFill>
                  <a:srgbClr val="020001"/>
                </a:solidFill>
                <a:latin typeface="+mn-ea"/>
              </a:rPr>
              <a:t> </a:t>
            </a:r>
            <a:r>
              <a:rPr lang="zh-CN" altLang="en-US" sz="3200" b="1" dirty="0">
                <a:solidFill>
                  <a:srgbClr val="020001"/>
                </a:solidFill>
                <a:latin typeface="+mn-ea"/>
                <a:sym typeface="Symbol" panose="05050102010706020507" pitchFamily="18" charset="2"/>
              </a:rPr>
              <a:t></a:t>
            </a:r>
            <a:r>
              <a:rPr lang="en-US" altLang="zh-CN" sz="3200" b="1" u="sng" dirty="0">
                <a:solidFill>
                  <a:srgbClr val="FF0000"/>
                </a:solidFill>
                <a:latin typeface="+mn-ea"/>
                <a:sym typeface="Symbol" panose="05050102010706020507" pitchFamily="18" charset="2"/>
              </a:rPr>
              <a:t>A</a:t>
            </a:r>
            <a:r>
              <a:rPr lang="en-US" altLang="zh-CN" sz="3200" b="1" dirty="0">
                <a:solidFill>
                  <a:srgbClr val="020001"/>
                </a:solidFill>
                <a:latin typeface="+mn-ea"/>
                <a:sym typeface="Symbol" panose="05050102010706020507" pitchFamily="18" charset="2"/>
              </a:rPr>
              <a:t> =&gt; </a:t>
            </a:r>
            <a:r>
              <a:rPr lang="en-US" altLang="zh-CN" sz="3200" b="1" u="sng" dirty="0">
                <a:solidFill>
                  <a:srgbClr val="FF0000"/>
                </a:solidFill>
                <a:latin typeface="+mn-ea"/>
                <a:sym typeface="Symbol" panose="05050102010706020507" pitchFamily="18" charset="2"/>
              </a:rPr>
              <a:t></a:t>
            </a:r>
            <a:r>
              <a:rPr lang="en-US" altLang="zh-CN" sz="3200" b="1" dirty="0">
                <a:solidFill>
                  <a:srgbClr val="020001"/>
                </a:solidFill>
                <a:latin typeface="+mn-ea"/>
                <a:sym typeface="Symbol" panose="05050102010706020507" pitchFamily="18" charset="2"/>
              </a:rPr>
              <a:t></a:t>
            </a:r>
            <a:r>
              <a:rPr lang="zh-CN" altLang="en-US" sz="3200" b="1" dirty="0">
                <a:solidFill>
                  <a:srgbClr val="020001"/>
                </a:solidFill>
                <a:latin typeface="+mn-ea"/>
                <a:sym typeface="Symbol" panose="05050102010706020507" pitchFamily="18" charset="2"/>
              </a:rPr>
              <a:t>是文法</a:t>
            </a:r>
            <a:r>
              <a:rPr lang="en-US" altLang="zh-CN" sz="3200" b="1" dirty="0">
                <a:solidFill>
                  <a:srgbClr val="020001"/>
                </a:solidFill>
                <a:latin typeface="+mn-ea"/>
                <a:sym typeface="Symbol" panose="05050102010706020507" pitchFamily="18" charset="2"/>
              </a:rPr>
              <a:t>G</a:t>
            </a:r>
            <a:r>
              <a:rPr lang="zh-CN" altLang="en-US" sz="3200" b="1" dirty="0">
                <a:solidFill>
                  <a:srgbClr val="020001"/>
                </a:solidFill>
                <a:latin typeface="+mn-ea"/>
                <a:sym typeface="Symbol" panose="05050102010706020507" pitchFamily="18" charset="2"/>
              </a:rPr>
              <a:t>的一个规范推导，</a:t>
            </a:r>
            <a:r>
              <a:rPr lang="en-US" altLang="zh-CN" sz="3200" b="1" dirty="0">
                <a:solidFill>
                  <a:srgbClr val="020001"/>
                </a:solidFill>
                <a:latin typeface="+mn-ea"/>
                <a:sym typeface="Symbol" panose="05050102010706020507" pitchFamily="18" charset="2"/>
              </a:rPr>
              <a:t>(</a:t>
            </a:r>
            <a:r>
              <a:rPr lang="zh-CN" altLang="en-US" sz="3200" b="1" dirty="0">
                <a:solidFill>
                  <a:srgbClr val="020001"/>
                </a:solidFill>
                <a:latin typeface="+mn-ea"/>
                <a:sym typeface="Symbol" panose="05050102010706020507" pitchFamily="18" charset="2"/>
              </a:rPr>
              <a:t>， </a:t>
            </a:r>
            <a:r>
              <a:rPr lang="en-US" altLang="zh-CN" sz="3200" b="1" dirty="0">
                <a:solidFill>
                  <a:srgbClr val="020001"/>
                </a:solidFill>
                <a:latin typeface="+mn-ea"/>
                <a:sym typeface="Symbol" panose="05050102010706020507" pitchFamily="18" charset="2"/>
              </a:rPr>
              <a:t>(V</a:t>
            </a:r>
            <a:r>
              <a:rPr lang="en-US" altLang="zh-CN" sz="3200" b="1" baseline="-25000" dirty="0">
                <a:solidFill>
                  <a:srgbClr val="020001"/>
                </a:solidFill>
                <a:latin typeface="+mn-ea"/>
                <a:sym typeface="Symbol" panose="05050102010706020507" pitchFamily="18" charset="2"/>
              </a:rPr>
              <a:t>T</a:t>
            </a:r>
            <a:r>
              <a:rPr lang="en-US" altLang="zh-CN" sz="3200" b="1" dirty="0">
                <a:solidFill>
                  <a:srgbClr val="020001"/>
                </a:solidFill>
                <a:latin typeface="+mn-ea"/>
                <a:sym typeface="Symbol" panose="05050102010706020507" pitchFamily="18" charset="2"/>
              </a:rPr>
              <a:t> V</a:t>
            </a:r>
            <a:r>
              <a:rPr lang="en-US" altLang="zh-CN" sz="3200" b="1" baseline="-25000" dirty="0">
                <a:solidFill>
                  <a:srgbClr val="020001"/>
                </a:solidFill>
                <a:latin typeface="+mn-ea"/>
                <a:sym typeface="Symbol" panose="05050102010706020507" pitchFamily="18" charset="2"/>
              </a:rPr>
              <a:t>N</a:t>
            </a:r>
            <a:r>
              <a:rPr lang="en-US" altLang="zh-CN" sz="3200" b="1" dirty="0">
                <a:solidFill>
                  <a:srgbClr val="020001"/>
                </a:solidFill>
                <a:latin typeface="+mn-ea"/>
                <a:sym typeface="Symbol" panose="05050102010706020507" pitchFamily="18" charset="2"/>
              </a:rPr>
              <a:t>)</a:t>
            </a:r>
            <a:r>
              <a:rPr lang="en-US" altLang="zh-CN" sz="3200" b="1" baseline="30000" dirty="0">
                <a:solidFill>
                  <a:srgbClr val="020001"/>
                </a:solidFill>
                <a:latin typeface="+mn-ea"/>
                <a:sym typeface="Symbol" panose="05050102010706020507" pitchFamily="18" charset="2"/>
              </a:rPr>
              <a:t>+</a:t>
            </a:r>
            <a:r>
              <a:rPr lang="zh-CN" altLang="en-US" sz="3200" b="1" dirty="0">
                <a:solidFill>
                  <a:srgbClr val="020001"/>
                </a:solidFill>
                <a:latin typeface="+mn-ea"/>
                <a:sym typeface="Symbol" panose="05050102010706020507" pitchFamily="18" charset="2"/>
              </a:rPr>
              <a:t>，</a:t>
            </a:r>
            <a:r>
              <a:rPr lang="en-US" altLang="zh-CN" sz="3200" b="1" dirty="0">
                <a:solidFill>
                  <a:srgbClr val="020001"/>
                </a:solidFill>
                <a:latin typeface="+mn-ea"/>
                <a:sym typeface="Symbol" panose="05050102010706020507" pitchFamily="18" charset="2"/>
              </a:rPr>
              <a:t>V</a:t>
            </a:r>
            <a:r>
              <a:rPr lang="en-US" altLang="zh-CN" sz="3200" b="1" baseline="-25000" dirty="0">
                <a:solidFill>
                  <a:srgbClr val="020001"/>
                </a:solidFill>
                <a:latin typeface="+mn-ea"/>
                <a:sym typeface="Symbol" panose="05050102010706020507" pitchFamily="18" charset="2"/>
              </a:rPr>
              <a:t>T</a:t>
            </a:r>
            <a:r>
              <a:rPr lang="en-US" altLang="zh-CN" sz="3200" b="1" dirty="0">
                <a:solidFill>
                  <a:srgbClr val="020001"/>
                </a:solidFill>
                <a:latin typeface="+mn-ea"/>
                <a:sym typeface="Symbol" panose="05050102010706020507" pitchFamily="18" charset="2"/>
              </a:rPr>
              <a:t>*</a:t>
            </a:r>
            <a:r>
              <a:rPr lang="zh-CN" altLang="en-US" sz="3200" b="1" dirty="0">
                <a:solidFill>
                  <a:srgbClr val="020001"/>
                </a:solidFill>
                <a:latin typeface="+mn-ea"/>
                <a:sym typeface="Symbol" panose="05050102010706020507" pitchFamily="18" charset="2"/>
              </a:rPr>
              <a:t>，</a:t>
            </a:r>
            <a:r>
              <a:rPr lang="en-US" altLang="zh-CN" sz="3200" b="1" dirty="0">
                <a:solidFill>
                  <a:srgbClr val="020001"/>
                </a:solidFill>
                <a:latin typeface="+mn-ea"/>
                <a:sym typeface="Symbol" panose="05050102010706020507" pitchFamily="18" charset="2"/>
              </a:rPr>
              <a:t>A</a:t>
            </a:r>
            <a:r>
              <a:rPr lang="zh-CN" altLang="en-US" sz="3200" b="1" dirty="0">
                <a:solidFill>
                  <a:srgbClr val="020001"/>
                </a:solidFill>
                <a:latin typeface="+mn-ea"/>
                <a:sym typeface="Symbol" panose="05050102010706020507" pitchFamily="18" charset="2"/>
              </a:rPr>
              <a:t></a:t>
            </a:r>
            <a:r>
              <a:rPr lang="en-US" altLang="zh-CN" sz="3200" b="1" dirty="0">
                <a:solidFill>
                  <a:srgbClr val="020001"/>
                </a:solidFill>
                <a:latin typeface="+mn-ea"/>
                <a:sym typeface="Symbol" panose="05050102010706020507" pitchFamily="18" charset="2"/>
              </a:rPr>
              <a:t>V</a:t>
            </a:r>
            <a:r>
              <a:rPr lang="en-US" altLang="zh-CN" sz="3200" b="1" baseline="-25000" dirty="0">
                <a:solidFill>
                  <a:srgbClr val="020001"/>
                </a:solidFill>
                <a:latin typeface="+mn-ea"/>
                <a:sym typeface="Symbol" panose="05050102010706020507" pitchFamily="18" charset="2"/>
              </a:rPr>
              <a:t>N</a:t>
            </a:r>
            <a:r>
              <a:rPr lang="en-US" altLang="zh-CN" sz="3200" b="1" dirty="0">
                <a:solidFill>
                  <a:srgbClr val="020001"/>
                </a:solidFill>
                <a:latin typeface="+mn-ea"/>
                <a:sym typeface="Symbol" panose="05050102010706020507" pitchFamily="18" charset="2"/>
              </a:rPr>
              <a:t>)</a:t>
            </a:r>
            <a:r>
              <a:rPr lang="zh-CN" altLang="en-US" sz="3200" b="1" dirty="0">
                <a:solidFill>
                  <a:srgbClr val="020001"/>
                </a:solidFill>
                <a:latin typeface="+mn-ea"/>
                <a:sym typeface="Symbol" panose="05050102010706020507" pitchFamily="18" charset="2"/>
              </a:rPr>
              <a:t>，</a:t>
            </a:r>
            <a:endParaRPr lang="zh-CN" altLang="en-US" sz="3200" b="1" dirty="0">
              <a:solidFill>
                <a:srgbClr val="020001"/>
              </a:solidFill>
              <a:latin typeface="+mn-ea"/>
              <a:sym typeface="Symbol" panose="05050102010706020507" pitchFamily="18" charset="2"/>
            </a:endParaRPr>
          </a:p>
          <a:p>
            <a:pPr lvl="2">
              <a:lnSpc>
                <a:spcPct val="120000"/>
              </a:lnSpc>
              <a:spcAft>
                <a:spcPts val="0"/>
              </a:spcAft>
            </a:pPr>
            <a:r>
              <a:rPr lang="zh-CN" altLang="en-US"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的一个</a:t>
            </a:r>
            <a:r>
              <a:rPr lang="zh-CN" altLang="en-US" sz="2800" b="1" dirty="0">
                <a:solidFill>
                  <a:srgbClr val="0070C0"/>
                </a:solidFill>
                <a:latin typeface="+mn-ea"/>
                <a:sym typeface="Symbol" panose="05050102010706020507" pitchFamily="18" charset="2"/>
              </a:rPr>
              <a:t>前缀</a:t>
            </a:r>
            <a:r>
              <a:rPr lang="zh-CN" altLang="en-US" sz="2800" b="1" dirty="0">
                <a:solidFill>
                  <a:srgbClr val="020001"/>
                </a:solidFill>
                <a:latin typeface="+mn-ea"/>
                <a:sym typeface="Symbol" panose="05050102010706020507" pitchFamily="18" charset="2"/>
              </a:rPr>
              <a:t>称为文法</a:t>
            </a:r>
            <a:r>
              <a:rPr lang="en-US" altLang="zh-CN" sz="2800" b="1" dirty="0">
                <a:solidFill>
                  <a:srgbClr val="020001"/>
                </a:solidFill>
                <a:latin typeface="+mn-ea"/>
                <a:sym typeface="Symbol" panose="05050102010706020507" pitchFamily="18" charset="2"/>
              </a:rPr>
              <a:t>G</a:t>
            </a:r>
            <a:r>
              <a:rPr lang="zh-CN" altLang="en-US" sz="2800" b="1" dirty="0">
                <a:solidFill>
                  <a:srgbClr val="020001"/>
                </a:solidFill>
                <a:latin typeface="+mn-ea"/>
                <a:sym typeface="Symbol" panose="05050102010706020507" pitchFamily="18" charset="2"/>
              </a:rPr>
              <a:t>的一个</a:t>
            </a:r>
            <a:r>
              <a:rPr lang="zh-CN" altLang="en-US" sz="2800" b="1" dirty="0">
                <a:solidFill>
                  <a:srgbClr val="0070C0"/>
                </a:solidFill>
                <a:latin typeface="+mn-ea"/>
                <a:sym typeface="Symbol" panose="05050102010706020507" pitchFamily="18" charset="2"/>
              </a:rPr>
              <a:t>活前缀</a:t>
            </a:r>
            <a:r>
              <a:rPr lang="zh-CN" altLang="en-US" sz="2800" b="1" dirty="0">
                <a:latin typeface="+mn-ea"/>
                <a:sym typeface="Symbol" panose="05050102010706020507" pitchFamily="18" charset="2"/>
              </a:rPr>
              <a:t>(分析</a:t>
            </a:r>
            <a:r>
              <a:rPr lang="zh-CN" altLang="en-US" sz="2800" b="1" dirty="0">
                <a:latin typeface="+mn-ea"/>
                <a:sym typeface="+mn-ea"/>
              </a:rPr>
              <a:t>栈中存储的符号串</a:t>
            </a:r>
            <a:r>
              <a:rPr lang="zh-CN" altLang="en-US" sz="2800" b="1" dirty="0">
                <a:latin typeface="+mn-ea"/>
                <a:sym typeface="Symbol" panose="05050102010706020507" pitchFamily="18" charset="2"/>
              </a:rPr>
              <a:t>)</a:t>
            </a:r>
            <a:endParaRPr lang="zh-CN" altLang="en-US" sz="2800" b="1" dirty="0">
              <a:latin typeface="+mn-ea"/>
              <a:sym typeface="Symbol" panose="05050102010706020507" pitchFamily="18" charset="2"/>
            </a:endParaRPr>
          </a:p>
          <a:p>
            <a:pPr lvl="2">
              <a:lnSpc>
                <a:spcPct val="120000"/>
              </a:lnSpc>
              <a:spcAft>
                <a:spcPts val="0"/>
              </a:spcAft>
            </a:pPr>
            <a:r>
              <a:rPr lang="zh-CN" altLang="en-US"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称为文法</a:t>
            </a:r>
            <a:r>
              <a:rPr lang="en-US" altLang="zh-CN" sz="2800" b="1" dirty="0">
                <a:solidFill>
                  <a:srgbClr val="020001"/>
                </a:solidFill>
                <a:latin typeface="+mn-ea"/>
                <a:sym typeface="Symbol" panose="05050102010706020507" pitchFamily="18" charset="2"/>
              </a:rPr>
              <a:t>G</a:t>
            </a:r>
            <a:r>
              <a:rPr lang="zh-CN" altLang="en-US" sz="2800" b="1" dirty="0">
                <a:solidFill>
                  <a:srgbClr val="020001"/>
                </a:solidFill>
                <a:latin typeface="+mn-ea"/>
                <a:sym typeface="Symbol" panose="05050102010706020507" pitchFamily="18" charset="2"/>
              </a:rPr>
              <a:t>的</a:t>
            </a:r>
            <a:r>
              <a:rPr lang="zh-CN" altLang="en-US" sz="2800" b="1" dirty="0">
                <a:solidFill>
                  <a:srgbClr val="0070C0"/>
                </a:solidFill>
                <a:latin typeface="+mn-ea"/>
                <a:sym typeface="Symbol" panose="05050102010706020507" pitchFamily="18" charset="2"/>
              </a:rPr>
              <a:t>可归前缀</a:t>
            </a:r>
            <a:r>
              <a:rPr lang="zh-CN" altLang="en-US" sz="2800" b="1" dirty="0">
                <a:solidFill>
                  <a:srgbClr val="020001"/>
                </a:solidFill>
                <a:latin typeface="+mn-ea"/>
                <a:sym typeface="Symbol" panose="05050102010706020507" pitchFamily="18" charset="2"/>
              </a:rPr>
              <a:t>。</a:t>
            </a:r>
            <a:endParaRPr lang="zh-CN" altLang="en-US" sz="2800" b="1" dirty="0">
              <a:solidFill>
                <a:srgbClr val="020001"/>
              </a:solidFill>
              <a:latin typeface="+mn-ea"/>
              <a:sym typeface="Symbol" panose="05050102010706020507" pitchFamily="18" charset="2"/>
            </a:endParaRPr>
          </a:p>
          <a:p>
            <a:pPr lvl="3">
              <a:lnSpc>
                <a:spcPct val="120000"/>
              </a:lnSpc>
              <a:spcAft>
                <a:spcPts val="0"/>
              </a:spcAft>
            </a:pPr>
            <a:r>
              <a:rPr lang="zh-CN" altLang="en-US" sz="2800" b="1" dirty="0">
                <a:solidFill>
                  <a:srgbClr val="020001"/>
                </a:solidFill>
                <a:latin typeface="+mn-ea"/>
                <a:sym typeface="+mn-ea"/>
              </a:rPr>
              <a:t>如果分析栈的内容是可归前缀，那么栈顶已经形成当前句型的句柄，进行</a:t>
            </a:r>
            <a:r>
              <a:rPr lang="zh-CN" altLang="en-US" sz="2800" b="1" dirty="0">
                <a:solidFill>
                  <a:srgbClr val="0070C0"/>
                </a:solidFill>
                <a:latin typeface="+mn-ea"/>
                <a:sym typeface="+mn-ea"/>
              </a:rPr>
              <a:t>归约</a:t>
            </a:r>
            <a:r>
              <a:rPr lang="zh-CN" altLang="en-US" sz="2800" b="1" dirty="0">
                <a:solidFill>
                  <a:srgbClr val="020001"/>
                </a:solidFill>
                <a:latin typeface="+mn-ea"/>
                <a:sym typeface="+mn-ea"/>
              </a:rPr>
              <a:t>，否则继续</a:t>
            </a:r>
            <a:r>
              <a:rPr lang="zh-CN" altLang="en-US" sz="2800" b="1" dirty="0">
                <a:solidFill>
                  <a:srgbClr val="0070C0"/>
                </a:solidFill>
                <a:latin typeface="+mn-ea"/>
                <a:sym typeface="+mn-ea"/>
              </a:rPr>
              <a:t>移进</a:t>
            </a:r>
            <a:r>
              <a:rPr lang="zh-CN" altLang="en-US" sz="2800" b="1" dirty="0">
                <a:solidFill>
                  <a:srgbClr val="020001"/>
                </a:solidFill>
                <a:latin typeface="+mn-ea"/>
                <a:sym typeface="+mn-ea"/>
              </a:rPr>
              <a:t>。</a:t>
            </a:r>
            <a:endParaRPr lang="zh-CN" altLang="en-US" sz="2800" b="1" dirty="0">
              <a:solidFill>
                <a:srgbClr val="020001"/>
              </a:solidFill>
              <a:latin typeface="+mn-ea"/>
            </a:endParaRPr>
          </a:p>
          <a:p>
            <a:pPr lvl="3">
              <a:lnSpc>
                <a:spcPct val="120000"/>
              </a:lnSpc>
              <a:spcAft>
                <a:spcPts val="0"/>
              </a:spcAft>
            </a:pPr>
            <a:endParaRPr lang="zh-CN" altLang="en-US" sz="2800" b="1" dirty="0">
              <a:solidFill>
                <a:srgbClr val="020001"/>
              </a:solidFill>
              <a:latin typeface="+mn-ea"/>
              <a:sym typeface="Symbol" panose="05050102010706020507" pitchFamily="18" charset="2"/>
            </a:endParaRPr>
          </a:p>
        </p:txBody>
      </p:sp>
      <p:sp useBgFill="1">
        <p:nvSpPr>
          <p:cNvPr id="6" name="AutoShape 3"/>
          <p:cNvSpPr>
            <a:spLocks noChangeArrowheads="1"/>
          </p:cNvSpPr>
          <p:nvPr>
            <p:custDataLst>
              <p:tags r:id="rId1"/>
            </p:custDataLst>
          </p:nvPr>
        </p:nvSpPr>
        <p:spPr bwMode="auto">
          <a:xfrm>
            <a:off x="7509510" y="3556635"/>
            <a:ext cx="4381500" cy="1066800"/>
          </a:xfrm>
          <a:prstGeom prst="cloudCallout">
            <a:avLst>
              <a:gd name="adj1" fmla="val -23811"/>
              <a:gd name="adj2" fmla="val -51130"/>
            </a:avLst>
          </a:prstGeom>
          <a:ln w="9525">
            <a:solidFill>
              <a:schemeClr val="tx1"/>
            </a:solidFill>
            <a:round/>
          </a:ln>
        </p:spPr>
        <p:txBody>
          <a:bodyPr/>
          <a:lstStyle/>
          <a:p>
            <a:pPr algn="ctr"/>
            <a:r>
              <a:rPr lang="zh-CN" altLang="en-US" sz="2400" b="1" dirty="0">
                <a:solidFill>
                  <a:srgbClr val="020001"/>
                </a:solidFill>
                <a:latin typeface="+mn-ea"/>
                <a:sym typeface="Symbol" panose="05050102010706020507" pitchFamily="18" charset="2"/>
              </a:rPr>
              <a:t>当前规范句型(</a:t>
            </a:r>
            <a:r>
              <a:rPr lang="en-US" altLang="zh-CN" sz="2400" b="1" dirty="0">
                <a:solidFill>
                  <a:srgbClr val="020001"/>
                </a:solidFill>
                <a:latin typeface="+mn-ea"/>
                <a:sym typeface="Symbol" panose="05050102010706020507" pitchFamily="18" charset="2"/>
              </a:rPr>
              <a:t></a:t>
            </a:r>
            <a:r>
              <a:rPr lang="zh-CN" altLang="en-US" sz="2400" b="1" dirty="0">
                <a:solidFill>
                  <a:srgbClr val="020001"/>
                </a:solidFill>
                <a:latin typeface="+mn-ea"/>
                <a:sym typeface="Symbol" panose="05050102010706020507" pitchFamily="18" charset="2"/>
              </a:rPr>
              <a:t>)的句柄是什么？</a:t>
            </a:r>
            <a:endParaRPr lang="zh-CN" altLang="en-US" sz="2400" b="1" dirty="0">
              <a:solidFill>
                <a:srgbClr val="020001"/>
              </a:solidFill>
              <a:latin typeface="+mn-ea"/>
              <a:sym typeface="Symbol" panose="05050102010706020507" pitchFamily="18" charset="2"/>
            </a:endParaRPr>
          </a:p>
        </p:txBody>
      </p:sp>
      <p:sp>
        <p:nvSpPr>
          <p:cNvPr id="7" name="文本框 6"/>
          <p:cNvSpPr txBox="1"/>
          <p:nvPr/>
        </p:nvSpPr>
        <p:spPr>
          <a:xfrm>
            <a:off x="316865" y="5383530"/>
            <a:ext cx="11466830" cy="737235"/>
          </a:xfrm>
          <a:prstGeom prst="rect">
            <a:avLst/>
          </a:prstGeom>
          <a:noFill/>
        </p:spPr>
        <p:txBody>
          <a:bodyPr wrap="square" rtlCol="0" anchor="t">
            <a:spAutoFit/>
          </a:bodyPr>
          <a:p>
            <a:pPr lvl="1">
              <a:lnSpc>
                <a:spcPct val="150000"/>
              </a:lnSpc>
              <a:buFont typeface="Wingdings" panose="05000000000000000000" charset="0"/>
              <a:buChar char="p"/>
            </a:pPr>
            <a:r>
              <a:rPr lang="zh-CN" altLang="en-US" sz="2800" b="1" dirty="0">
                <a:latin typeface="+mn-ea"/>
                <a:sym typeface="Symbol" panose="05050102010706020507" pitchFamily="18" charset="2"/>
              </a:rPr>
              <a:t>符号串缀是指从符号串尾部删去若干(包括0个)个符号后余下的部分。</a:t>
            </a:r>
            <a:endParaRPr lang="zh-CN" altLang="en-US" sz="2800" b="1" dirty="0">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bldLvl="0" animBg="1"/>
      <p:bldP spid="7" grpId="0"/>
      <p:bldP spid="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37210" y="276860"/>
            <a:ext cx="7315835" cy="593090"/>
          </a:xfrm>
        </p:spPr>
        <p:txBody>
          <a:bodyPr/>
          <a:lstStyle/>
          <a:p>
            <a:r>
              <a:rPr lang="en-US" altLang="zh-CN" dirty="0"/>
              <a:t>4.2   LR </a:t>
            </a:r>
            <a:r>
              <a:rPr lang="zh-CN" altLang="en-US" dirty="0"/>
              <a:t>分析概览（续）</a:t>
            </a:r>
            <a:endParaRPr lang="zh-CN" altLang="en-US" dirty="0"/>
          </a:p>
        </p:txBody>
      </p:sp>
      <p:sp>
        <p:nvSpPr>
          <p:cNvPr id="9" name="Text Box 2"/>
          <p:cNvSpPr txBox="1">
            <a:spLocks noChangeArrowheads="1"/>
          </p:cNvSpPr>
          <p:nvPr/>
        </p:nvSpPr>
        <p:spPr bwMode="auto">
          <a:xfrm>
            <a:off x="2111188" y="2806233"/>
            <a:ext cx="2362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020001"/>
                </a:solidFill>
                <a:latin typeface="+mn-ea"/>
              </a:rPr>
              <a:t>规范句型</a:t>
            </a:r>
            <a:endParaRPr lang="zh-CN" altLang="en-US" sz="2800" b="1">
              <a:solidFill>
                <a:srgbClr val="020001"/>
              </a:solidFill>
              <a:latin typeface="+mn-ea"/>
            </a:endParaRPr>
          </a:p>
        </p:txBody>
      </p:sp>
      <p:sp>
        <p:nvSpPr>
          <p:cNvPr id="10" name="Text Box 3"/>
          <p:cNvSpPr txBox="1">
            <a:spLocks noChangeArrowheads="1"/>
          </p:cNvSpPr>
          <p:nvPr/>
        </p:nvSpPr>
        <p:spPr bwMode="auto">
          <a:xfrm>
            <a:off x="4854388" y="2806233"/>
            <a:ext cx="2590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020001"/>
                </a:solidFill>
                <a:latin typeface="+mn-ea"/>
              </a:rPr>
              <a:t>当前句柄</a:t>
            </a:r>
            <a:endParaRPr lang="zh-CN" altLang="en-US" sz="2800" b="1">
              <a:solidFill>
                <a:srgbClr val="020001"/>
              </a:solidFill>
              <a:latin typeface="+mn-ea"/>
            </a:endParaRPr>
          </a:p>
        </p:txBody>
      </p:sp>
      <p:sp>
        <p:nvSpPr>
          <p:cNvPr id="11" name="Text Box 4"/>
          <p:cNvSpPr txBox="1">
            <a:spLocks noChangeArrowheads="1"/>
          </p:cNvSpPr>
          <p:nvPr/>
        </p:nvSpPr>
        <p:spPr bwMode="auto">
          <a:xfrm>
            <a:off x="6683188" y="2806233"/>
            <a:ext cx="3200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800" b="1">
                <a:solidFill>
                  <a:srgbClr val="020001"/>
                </a:solidFill>
                <a:latin typeface="+mn-ea"/>
              </a:rPr>
              <a:t>可归前缀</a:t>
            </a:r>
            <a:endParaRPr lang="zh-CN" altLang="en-US" sz="2800" b="1">
              <a:solidFill>
                <a:srgbClr val="020001"/>
              </a:solidFill>
              <a:latin typeface="+mn-ea"/>
            </a:endParaRPr>
          </a:p>
        </p:txBody>
      </p:sp>
      <p:sp>
        <p:nvSpPr>
          <p:cNvPr id="13" name="Text Box 5"/>
          <p:cNvSpPr txBox="1">
            <a:spLocks noChangeArrowheads="1"/>
          </p:cNvSpPr>
          <p:nvPr/>
        </p:nvSpPr>
        <p:spPr bwMode="auto">
          <a:xfrm>
            <a:off x="2568388" y="33396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abbcde</a:t>
            </a:r>
            <a:endParaRPr lang="en-US" altLang="zh-CN" sz="2800" b="1">
              <a:solidFill>
                <a:srgbClr val="020001"/>
              </a:solidFill>
              <a:latin typeface="+mn-ea"/>
            </a:endParaRPr>
          </a:p>
        </p:txBody>
      </p:sp>
      <p:sp>
        <p:nvSpPr>
          <p:cNvPr id="14" name="Text Box 6"/>
          <p:cNvSpPr txBox="1">
            <a:spLocks noChangeArrowheads="1"/>
          </p:cNvSpPr>
          <p:nvPr/>
        </p:nvSpPr>
        <p:spPr bwMode="auto">
          <a:xfrm>
            <a:off x="4854388" y="33396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b</a:t>
            </a:r>
            <a:endParaRPr lang="en-US" altLang="zh-CN" sz="2800" b="1">
              <a:solidFill>
                <a:srgbClr val="020001"/>
              </a:solidFill>
              <a:latin typeface="+mn-ea"/>
            </a:endParaRPr>
          </a:p>
        </p:txBody>
      </p:sp>
      <p:sp>
        <p:nvSpPr>
          <p:cNvPr id="15" name="Text Box 7"/>
          <p:cNvSpPr txBox="1">
            <a:spLocks noChangeArrowheads="1"/>
          </p:cNvSpPr>
          <p:nvPr/>
        </p:nvSpPr>
        <p:spPr bwMode="auto">
          <a:xfrm>
            <a:off x="7597588" y="3339633"/>
            <a:ext cx="1066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ab</a:t>
            </a:r>
            <a:endParaRPr lang="en-US" altLang="zh-CN" sz="2800" b="1">
              <a:solidFill>
                <a:srgbClr val="020001"/>
              </a:solidFill>
              <a:latin typeface="+mn-ea"/>
            </a:endParaRPr>
          </a:p>
        </p:txBody>
      </p:sp>
      <p:sp>
        <p:nvSpPr>
          <p:cNvPr id="16" name="Text Box 8"/>
          <p:cNvSpPr txBox="1">
            <a:spLocks noChangeArrowheads="1"/>
          </p:cNvSpPr>
          <p:nvPr/>
        </p:nvSpPr>
        <p:spPr bwMode="auto">
          <a:xfrm>
            <a:off x="2568388" y="3796833"/>
            <a:ext cx="2438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aAbcde</a:t>
            </a:r>
            <a:endParaRPr lang="en-US" altLang="zh-CN" sz="2800" b="1">
              <a:solidFill>
                <a:srgbClr val="020001"/>
              </a:solidFill>
              <a:latin typeface="+mn-ea"/>
            </a:endParaRPr>
          </a:p>
        </p:txBody>
      </p:sp>
      <p:sp>
        <p:nvSpPr>
          <p:cNvPr id="17" name="Text Box 9"/>
          <p:cNvSpPr txBox="1">
            <a:spLocks noChangeArrowheads="1"/>
          </p:cNvSpPr>
          <p:nvPr/>
        </p:nvSpPr>
        <p:spPr bwMode="auto">
          <a:xfrm>
            <a:off x="4854388" y="3873033"/>
            <a:ext cx="1600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Ab</a:t>
            </a:r>
            <a:endParaRPr lang="en-US" altLang="zh-CN" sz="2800" b="1">
              <a:solidFill>
                <a:srgbClr val="020001"/>
              </a:solidFill>
              <a:latin typeface="+mn-ea"/>
            </a:endParaRPr>
          </a:p>
        </p:txBody>
      </p:sp>
      <p:sp>
        <p:nvSpPr>
          <p:cNvPr id="18" name="Text Box 10"/>
          <p:cNvSpPr txBox="1">
            <a:spLocks noChangeArrowheads="1"/>
          </p:cNvSpPr>
          <p:nvPr/>
        </p:nvSpPr>
        <p:spPr bwMode="auto">
          <a:xfrm>
            <a:off x="7445188" y="3796833"/>
            <a:ext cx="1828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aAb</a:t>
            </a:r>
            <a:endParaRPr lang="en-US" altLang="zh-CN" sz="2800" b="1">
              <a:solidFill>
                <a:srgbClr val="020001"/>
              </a:solidFill>
              <a:latin typeface="+mn-ea"/>
            </a:endParaRPr>
          </a:p>
        </p:txBody>
      </p:sp>
      <p:sp>
        <p:nvSpPr>
          <p:cNvPr id="19" name="Text Box 11"/>
          <p:cNvSpPr txBox="1">
            <a:spLocks noChangeArrowheads="1"/>
          </p:cNvSpPr>
          <p:nvPr/>
        </p:nvSpPr>
        <p:spPr bwMode="auto">
          <a:xfrm>
            <a:off x="2568388" y="4254033"/>
            <a:ext cx="1905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aAcde</a:t>
            </a:r>
            <a:endParaRPr lang="en-US" altLang="zh-CN" sz="2800" b="1">
              <a:solidFill>
                <a:srgbClr val="020001"/>
              </a:solidFill>
              <a:latin typeface="+mn-ea"/>
            </a:endParaRPr>
          </a:p>
        </p:txBody>
      </p:sp>
      <p:sp>
        <p:nvSpPr>
          <p:cNvPr id="20" name="Text Box 12"/>
          <p:cNvSpPr txBox="1">
            <a:spLocks noChangeArrowheads="1"/>
          </p:cNvSpPr>
          <p:nvPr/>
        </p:nvSpPr>
        <p:spPr bwMode="auto">
          <a:xfrm>
            <a:off x="4930588" y="43302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d</a:t>
            </a:r>
            <a:endParaRPr lang="en-US" altLang="zh-CN" sz="2800" b="1">
              <a:solidFill>
                <a:srgbClr val="020001"/>
              </a:solidFill>
              <a:latin typeface="+mn-ea"/>
            </a:endParaRPr>
          </a:p>
        </p:txBody>
      </p:sp>
      <p:sp>
        <p:nvSpPr>
          <p:cNvPr id="21" name="Text Box 13"/>
          <p:cNvSpPr txBox="1">
            <a:spLocks noChangeArrowheads="1"/>
          </p:cNvSpPr>
          <p:nvPr/>
        </p:nvSpPr>
        <p:spPr bwMode="auto">
          <a:xfrm>
            <a:off x="7445188" y="4254033"/>
            <a:ext cx="1828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aAcd</a:t>
            </a:r>
            <a:endParaRPr lang="en-US" altLang="zh-CN" sz="2800" b="1">
              <a:solidFill>
                <a:srgbClr val="020001"/>
              </a:solidFill>
              <a:latin typeface="+mn-ea"/>
            </a:endParaRPr>
          </a:p>
        </p:txBody>
      </p:sp>
      <p:sp>
        <p:nvSpPr>
          <p:cNvPr id="22" name="Text Box 14"/>
          <p:cNvSpPr txBox="1">
            <a:spLocks noChangeArrowheads="1"/>
          </p:cNvSpPr>
          <p:nvPr/>
        </p:nvSpPr>
        <p:spPr bwMode="auto">
          <a:xfrm>
            <a:off x="2568388" y="4787433"/>
            <a:ext cx="1905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aAcBe</a:t>
            </a:r>
            <a:endParaRPr lang="en-US" altLang="zh-CN" sz="2800" b="1">
              <a:solidFill>
                <a:srgbClr val="020001"/>
              </a:solidFill>
              <a:latin typeface="+mn-ea"/>
            </a:endParaRPr>
          </a:p>
        </p:txBody>
      </p:sp>
      <p:sp>
        <p:nvSpPr>
          <p:cNvPr id="23" name="Text Box 15"/>
          <p:cNvSpPr txBox="1">
            <a:spLocks noChangeArrowheads="1"/>
          </p:cNvSpPr>
          <p:nvPr/>
        </p:nvSpPr>
        <p:spPr bwMode="auto">
          <a:xfrm>
            <a:off x="5006788" y="47874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aAcBe</a:t>
            </a:r>
            <a:endParaRPr lang="en-US" altLang="zh-CN" sz="2800" b="1">
              <a:solidFill>
                <a:srgbClr val="020001"/>
              </a:solidFill>
              <a:latin typeface="+mn-ea"/>
            </a:endParaRPr>
          </a:p>
        </p:txBody>
      </p:sp>
      <p:sp>
        <p:nvSpPr>
          <p:cNvPr id="24" name="Text Box 16"/>
          <p:cNvSpPr txBox="1">
            <a:spLocks noChangeArrowheads="1"/>
          </p:cNvSpPr>
          <p:nvPr/>
        </p:nvSpPr>
        <p:spPr bwMode="auto">
          <a:xfrm>
            <a:off x="7445188" y="4711233"/>
            <a:ext cx="2286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aAcBe</a:t>
            </a:r>
            <a:endParaRPr lang="en-US" altLang="zh-CN" sz="2800" b="1">
              <a:solidFill>
                <a:srgbClr val="020001"/>
              </a:solidFill>
              <a:latin typeface="+mn-ea"/>
            </a:endParaRPr>
          </a:p>
        </p:txBody>
      </p:sp>
      <p:sp>
        <p:nvSpPr>
          <p:cNvPr id="25" name="Text Box 17"/>
          <p:cNvSpPr txBox="1">
            <a:spLocks noChangeArrowheads="1"/>
          </p:cNvSpPr>
          <p:nvPr/>
        </p:nvSpPr>
        <p:spPr bwMode="auto">
          <a:xfrm>
            <a:off x="2492188" y="5320833"/>
            <a:ext cx="1295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S</a:t>
            </a:r>
            <a:endParaRPr lang="en-US" altLang="zh-CN" sz="2800" b="1">
              <a:solidFill>
                <a:srgbClr val="020001"/>
              </a:solidFill>
              <a:latin typeface="+mn-ea"/>
            </a:endParaRPr>
          </a:p>
        </p:txBody>
      </p:sp>
      <p:sp>
        <p:nvSpPr>
          <p:cNvPr id="26" name="Text Box 18"/>
          <p:cNvSpPr txBox="1">
            <a:spLocks noChangeArrowheads="1"/>
          </p:cNvSpPr>
          <p:nvPr/>
        </p:nvSpPr>
        <p:spPr bwMode="auto">
          <a:xfrm>
            <a:off x="5006788" y="53208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S</a:t>
            </a:r>
            <a:endParaRPr lang="en-US" altLang="zh-CN" sz="2800" b="1">
              <a:solidFill>
                <a:srgbClr val="020001"/>
              </a:solidFill>
              <a:latin typeface="+mn-ea"/>
            </a:endParaRPr>
          </a:p>
        </p:txBody>
      </p:sp>
      <p:sp>
        <p:nvSpPr>
          <p:cNvPr id="27" name="Text Box 19"/>
          <p:cNvSpPr txBox="1">
            <a:spLocks noChangeArrowheads="1"/>
          </p:cNvSpPr>
          <p:nvPr/>
        </p:nvSpPr>
        <p:spPr bwMode="auto">
          <a:xfrm>
            <a:off x="7368988" y="5244633"/>
            <a:ext cx="1447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800" b="1">
                <a:solidFill>
                  <a:srgbClr val="020001"/>
                </a:solidFill>
                <a:latin typeface="+mn-ea"/>
              </a:rPr>
              <a:t>S</a:t>
            </a:r>
            <a:endParaRPr lang="en-US" altLang="zh-CN" sz="2800" b="1">
              <a:solidFill>
                <a:srgbClr val="020001"/>
              </a:solidFill>
              <a:latin typeface="+mn-ea"/>
            </a:endParaRPr>
          </a:p>
        </p:txBody>
      </p:sp>
      <p:sp>
        <p:nvSpPr>
          <p:cNvPr id="28" name="Text Box 20"/>
          <p:cNvSpPr txBox="1">
            <a:spLocks noChangeArrowheads="1"/>
          </p:cNvSpPr>
          <p:nvPr/>
        </p:nvSpPr>
        <p:spPr bwMode="auto">
          <a:xfrm>
            <a:off x="581660" y="1301115"/>
            <a:ext cx="8940165"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a:solidFill>
                  <a:srgbClr val="020001"/>
                </a:solidFill>
                <a:latin typeface="+mn-ea"/>
              </a:rPr>
              <a:t>例，对于</a:t>
            </a:r>
            <a:r>
              <a:rPr lang="en-US" altLang="zh-CN" sz="2800" b="1">
                <a:solidFill>
                  <a:srgbClr val="020001"/>
                </a:solidFill>
                <a:latin typeface="+mn-ea"/>
              </a:rPr>
              <a:t>G[S]</a:t>
            </a:r>
            <a:br>
              <a:rPr lang="en-US" altLang="zh-CN" sz="2800" b="1">
                <a:solidFill>
                  <a:srgbClr val="020001"/>
                </a:solidFill>
                <a:latin typeface="+mn-ea"/>
              </a:rPr>
            </a:br>
            <a:r>
              <a:rPr lang="en-US" altLang="zh-CN" sz="2800" b="1">
                <a:solidFill>
                  <a:srgbClr val="020001"/>
                </a:solidFill>
                <a:latin typeface="+mn-ea"/>
              </a:rPr>
              <a:t>    S</a:t>
            </a:r>
            <a:r>
              <a:rPr lang="en-US" altLang="zh-CN" sz="2800" b="1">
                <a:solidFill>
                  <a:srgbClr val="020001"/>
                </a:solidFill>
                <a:latin typeface="+mn-ea"/>
                <a:sym typeface="Symbol" panose="05050102010706020507" pitchFamily="18" charset="2"/>
              </a:rPr>
              <a:t>aAcBe   Ab    AAb    Bd</a:t>
            </a:r>
            <a:br>
              <a:rPr lang="en-US" altLang="zh-CN" sz="2800" b="1">
                <a:solidFill>
                  <a:srgbClr val="020001"/>
                </a:solidFill>
                <a:latin typeface="+mn-ea"/>
                <a:sym typeface="Symbol" panose="05050102010706020507" pitchFamily="18" charset="2"/>
              </a:rPr>
            </a:br>
            <a:r>
              <a:rPr lang="en-US" altLang="zh-CN" sz="2800" b="1">
                <a:solidFill>
                  <a:srgbClr val="020001"/>
                </a:solidFill>
                <a:latin typeface="+mn-ea"/>
                <a:sym typeface="Symbol" panose="05050102010706020507" pitchFamily="18" charset="2"/>
              </a:rPr>
              <a:t>    </a:t>
            </a:r>
            <a:r>
              <a:rPr lang="zh-CN" altLang="en-US" sz="2800" b="1">
                <a:solidFill>
                  <a:srgbClr val="020001"/>
                </a:solidFill>
                <a:latin typeface="+mn-ea"/>
                <a:sym typeface="Symbol" panose="05050102010706020507" pitchFamily="18" charset="2"/>
              </a:rPr>
              <a:t>输入串:</a:t>
            </a:r>
            <a:r>
              <a:rPr lang="en-US" altLang="zh-CN" sz="2800" b="1">
                <a:solidFill>
                  <a:srgbClr val="020001"/>
                </a:solidFill>
                <a:latin typeface="+mn-ea"/>
                <a:sym typeface="Symbol" panose="05050102010706020507" pitchFamily="18" charset="2"/>
              </a:rPr>
              <a:t>abbcde</a:t>
            </a:r>
            <a:endParaRPr lang="en-US" altLang="zh-CN" sz="2800" b="1">
              <a:solidFill>
                <a:srgbClr val="020001"/>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8800" y="276860"/>
            <a:ext cx="7294245" cy="593090"/>
          </a:xfrm>
        </p:spPr>
        <p:txBody>
          <a:bodyPr/>
          <a:lstStyle/>
          <a:p>
            <a:r>
              <a:rPr lang="en-US" altLang="zh-CN" dirty="0"/>
              <a:t>LR</a:t>
            </a:r>
            <a:r>
              <a:rPr lang="zh-CN" altLang="en-US" dirty="0"/>
              <a:t>分析算法的关键技术</a:t>
            </a:r>
            <a:endParaRPr lang="zh-CN" altLang="en-US" dirty="0"/>
          </a:p>
        </p:txBody>
      </p:sp>
      <p:sp>
        <p:nvSpPr>
          <p:cNvPr id="30" name="Rectangle 3"/>
          <p:cNvSpPr txBox="1">
            <a:spLocks noChangeArrowheads="1"/>
          </p:cNvSpPr>
          <p:nvPr/>
        </p:nvSpPr>
        <p:spPr>
          <a:xfrm>
            <a:off x="351155" y="1209040"/>
            <a:ext cx="5495925" cy="43300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sz="2400" b="1" dirty="0">
                <a:solidFill>
                  <a:srgbClr val="020001"/>
                </a:solidFill>
                <a:latin typeface="+mn-ea"/>
              </a:rPr>
              <a:t>如何识别(符号栈)栈顶的符号组成的符号串是否是</a:t>
            </a:r>
            <a:r>
              <a:rPr lang="zh-CN" altLang="en-US" sz="2400" b="1" dirty="0">
                <a:solidFill>
                  <a:srgbClr val="0070C0"/>
                </a:solidFill>
                <a:latin typeface="+mn-ea"/>
              </a:rPr>
              <a:t>可归前缀，是可归前缀就规约，否则移进</a:t>
            </a:r>
            <a:endParaRPr lang="zh-CN" altLang="en-US" sz="2400" b="1" dirty="0">
              <a:solidFill>
                <a:srgbClr val="0070C0"/>
              </a:solidFill>
              <a:latin typeface="+mn-ea"/>
            </a:endParaRPr>
          </a:p>
          <a:p>
            <a:pPr>
              <a:lnSpc>
                <a:spcPct val="150000"/>
              </a:lnSpc>
              <a:buFont typeface="Wingdings" panose="05000000000000000000" charset="0"/>
              <a:buChar char="p"/>
            </a:pPr>
            <a:r>
              <a:rPr lang="zh-CN" altLang="en-US" sz="2400" b="1" dirty="0">
                <a:solidFill>
                  <a:srgbClr val="0070C0"/>
                </a:solidFill>
                <a:latin typeface="+mn-ea"/>
              </a:rPr>
              <a:t>分析表指导，分析表如何构造</a:t>
            </a:r>
            <a:endParaRPr lang="zh-CN" altLang="en-US" sz="2400" b="1" dirty="0">
              <a:solidFill>
                <a:srgbClr val="0070C0"/>
              </a:solidFill>
              <a:latin typeface="+mn-ea"/>
            </a:endParaRPr>
          </a:p>
          <a:p>
            <a:pPr lvl="1">
              <a:lnSpc>
                <a:spcPct val="150000"/>
              </a:lnSpc>
              <a:buFont typeface="Wingdings" panose="05000000000000000000" charset="0"/>
              <a:buChar char="p"/>
            </a:pPr>
            <a:r>
              <a:rPr lang="zh-CN" altLang="en-US" b="1" dirty="0">
                <a:latin typeface="+mn-ea"/>
              </a:rPr>
              <a:t>求文法中的所有可归前缀</a:t>
            </a:r>
            <a:endParaRPr lang="zh-CN" altLang="en-US" b="1" dirty="0">
              <a:latin typeface="+mn-ea"/>
            </a:endParaRPr>
          </a:p>
          <a:p>
            <a:pPr lvl="1">
              <a:lnSpc>
                <a:spcPct val="150000"/>
              </a:lnSpc>
              <a:buFont typeface="Wingdings" panose="05000000000000000000" charset="0"/>
              <a:buChar char="p"/>
            </a:pPr>
            <a:r>
              <a:rPr lang="zh-CN" altLang="en-US" b="1" dirty="0">
                <a:latin typeface="+mn-ea"/>
              </a:rPr>
              <a:t>识别可归前缀和活前缀</a:t>
            </a:r>
            <a:endParaRPr lang="zh-CN" altLang="en-US" b="1" dirty="0">
              <a:latin typeface="+mn-ea"/>
            </a:endParaRPr>
          </a:p>
          <a:p>
            <a:pPr lvl="1">
              <a:lnSpc>
                <a:spcPct val="150000"/>
              </a:lnSpc>
              <a:buFont typeface="Wingdings" panose="05000000000000000000" charset="0"/>
              <a:buChar char="p"/>
            </a:pPr>
            <a:r>
              <a:rPr lang="zh-CN" altLang="en-US" b="1" dirty="0">
                <a:latin typeface="+mn-ea"/>
              </a:rPr>
              <a:t>分析表的构造</a:t>
            </a:r>
            <a:endParaRPr lang="zh-CN" altLang="en-US" b="1" dirty="0">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7" name="Text Box 3"/>
          <p:cNvSpPr txBox="1">
            <a:spLocks noChangeArrowheads="1"/>
          </p:cNvSpPr>
          <p:nvPr>
            <p:custDataLst>
              <p:tags r:id="rId1"/>
            </p:custDataLst>
          </p:nvPr>
        </p:nvSpPr>
        <p:spPr bwMode="auto">
          <a:xfrm>
            <a:off x="6278245" y="1116330"/>
            <a:ext cx="5561965" cy="193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514350" indent="-514350">
              <a:lnSpc>
                <a:spcPct val="120000"/>
              </a:lnSpc>
              <a:spcBef>
                <a:spcPts val="50"/>
              </a:spcBef>
              <a:spcAft>
                <a:spcPts val="0"/>
              </a:spcAft>
              <a:buFont typeface="Wingdings" panose="05000000000000000000" charset="0"/>
              <a:buChar char="p"/>
            </a:pPr>
            <a:r>
              <a:rPr lang="zh-CN" altLang="en-US" sz="2400" b="1" dirty="0">
                <a:solidFill>
                  <a:srgbClr val="0070C0"/>
                </a:solidFill>
                <a:latin typeface="+mn-ea"/>
              </a:rPr>
              <a:t>方法</a:t>
            </a:r>
            <a:r>
              <a:rPr lang="zh-CN" altLang="en-US" sz="2400" b="1" dirty="0">
                <a:solidFill>
                  <a:srgbClr val="020001"/>
                </a:solidFill>
                <a:latin typeface="+mn-ea"/>
              </a:rPr>
              <a:t>：对任一文法，若已知它有可归前缀</a:t>
            </a:r>
            <a:r>
              <a:rPr lang="en-US" altLang="zh-CN" sz="2400" b="1" dirty="0" err="1">
                <a:solidFill>
                  <a:srgbClr val="020001"/>
                </a:solidFill>
                <a:latin typeface="+mn-ea"/>
              </a:rPr>
              <a:t>xUy，U</a:t>
            </a:r>
            <a:r>
              <a:rPr lang="en-US" altLang="zh-CN" sz="2400" b="1" dirty="0" err="1">
                <a:solidFill>
                  <a:srgbClr val="020001"/>
                </a:solidFill>
                <a:latin typeface="+mn-ea"/>
                <a:sym typeface="Symbol" panose="05050102010706020507" pitchFamily="18" charset="2"/>
              </a:rPr>
              <a:t>V</a:t>
            </a:r>
            <a:r>
              <a:rPr lang="en-US" altLang="zh-CN" sz="2400" b="1" baseline="-25000" dirty="0" err="1">
                <a:solidFill>
                  <a:srgbClr val="020001"/>
                </a:solidFill>
                <a:latin typeface="+mn-ea"/>
                <a:sym typeface="Symbol" panose="05050102010706020507" pitchFamily="18" charset="2"/>
              </a:rPr>
              <a:t>N</a:t>
            </a:r>
            <a:r>
              <a:rPr lang="zh-CN" altLang="en-US" sz="2400" b="1" dirty="0">
                <a:solidFill>
                  <a:srgbClr val="020001"/>
                </a:solidFill>
                <a:latin typeface="+mn-ea"/>
                <a:sym typeface="Symbol" panose="05050102010706020507" pitchFamily="18" charset="2"/>
              </a:rPr>
              <a:t>，且文法中有产生式</a:t>
            </a:r>
            <a:r>
              <a:rPr lang="en-US" altLang="zh-CN" sz="2400" b="1" dirty="0" err="1">
                <a:solidFill>
                  <a:srgbClr val="020001"/>
                </a:solidFill>
                <a:latin typeface="+mn-ea"/>
                <a:sym typeface="Symbol" panose="05050102010706020507" pitchFamily="18" charset="2"/>
              </a:rPr>
              <a:t>Uu</a:t>
            </a:r>
            <a:r>
              <a:rPr lang="zh-CN" altLang="en-US" sz="2400" b="1" dirty="0">
                <a:solidFill>
                  <a:srgbClr val="020001"/>
                </a:solidFill>
                <a:latin typeface="+mn-ea"/>
                <a:sym typeface="Symbol" panose="05050102010706020507" pitchFamily="18" charset="2"/>
              </a:rPr>
              <a:t>，则有</a:t>
            </a:r>
            <a:r>
              <a:rPr lang="en-US" altLang="zh-CN" sz="2400" b="1" dirty="0" err="1">
                <a:solidFill>
                  <a:srgbClr val="020001"/>
                </a:solidFill>
                <a:latin typeface="+mn-ea"/>
              </a:rPr>
              <a:t>xUy</a:t>
            </a:r>
            <a:r>
              <a:rPr lang="en-US" altLang="zh-CN" sz="2400" b="1" dirty="0">
                <a:solidFill>
                  <a:srgbClr val="020001"/>
                </a:solidFill>
                <a:latin typeface="+mn-ea"/>
                <a:sym typeface="Symbol" panose="05050102010706020507" pitchFamily="18" charset="2"/>
              </a:rPr>
              <a:t> </a:t>
            </a:r>
            <a:r>
              <a:rPr lang="en-US" altLang="zh-CN" sz="2400" b="1" dirty="0" err="1">
                <a:solidFill>
                  <a:srgbClr val="020001"/>
                </a:solidFill>
                <a:latin typeface="+mn-ea"/>
              </a:rPr>
              <a:t>x</a:t>
            </a:r>
            <a:r>
              <a:rPr lang="en-US" altLang="zh-CN" sz="2400" b="1" dirty="0" err="1">
                <a:solidFill>
                  <a:srgbClr val="020001"/>
                </a:solidFill>
                <a:latin typeface="+mn-ea"/>
                <a:sym typeface="Symbol" panose="05050102010706020507" pitchFamily="18" charset="2"/>
              </a:rPr>
              <a:t>u</a:t>
            </a:r>
            <a:r>
              <a:rPr lang="en-US" altLang="zh-CN" sz="2400" b="1" dirty="0" err="1">
                <a:solidFill>
                  <a:srgbClr val="020001"/>
                </a:solidFill>
                <a:latin typeface="+mn-ea"/>
              </a:rPr>
              <a:t>y</a:t>
            </a:r>
            <a:r>
              <a:rPr lang="zh-CN" altLang="en-US" sz="2400" b="1" dirty="0" err="1">
                <a:solidFill>
                  <a:srgbClr val="020001"/>
                </a:solidFill>
                <a:latin typeface="+mn-ea"/>
              </a:rPr>
              <a:t>，</a:t>
            </a:r>
            <a:r>
              <a:rPr lang="zh-CN" altLang="en-US" sz="2400" b="1" dirty="0">
                <a:solidFill>
                  <a:srgbClr val="020001"/>
                </a:solidFill>
                <a:latin typeface="+mn-ea"/>
                <a:sym typeface="Symbol" panose="05050102010706020507" pitchFamily="18" charset="2"/>
              </a:rPr>
              <a:t>则</a:t>
            </a:r>
            <a:r>
              <a:rPr lang="en-US" altLang="zh-CN" sz="2400" b="1" dirty="0" err="1">
                <a:solidFill>
                  <a:srgbClr val="020001"/>
                </a:solidFill>
                <a:latin typeface="+mn-ea"/>
                <a:sym typeface="Symbol" panose="05050102010706020507" pitchFamily="18" charset="2"/>
              </a:rPr>
              <a:t>xu</a:t>
            </a:r>
            <a:r>
              <a:rPr lang="zh-CN" altLang="en-US" sz="2400" b="1" dirty="0">
                <a:solidFill>
                  <a:srgbClr val="020001"/>
                </a:solidFill>
                <a:latin typeface="+mn-ea"/>
                <a:sym typeface="Symbol" panose="05050102010706020507" pitchFamily="18" charset="2"/>
              </a:rPr>
              <a:t>也是文法的可归前缀</a:t>
            </a:r>
            <a:r>
              <a:rPr lang="zh-CN" altLang="en-US" sz="2800" b="1" dirty="0">
                <a:solidFill>
                  <a:srgbClr val="020001"/>
                </a:solidFill>
                <a:latin typeface="+mn-ea"/>
                <a:sym typeface="Symbol" panose="05050102010706020507" pitchFamily="18" charset="2"/>
              </a:rPr>
              <a:t>。</a:t>
            </a:r>
            <a:endParaRPr lang="zh-CN" altLang="en-US" sz="2800" b="1" dirty="0">
              <a:solidFill>
                <a:srgbClr val="020001"/>
              </a:solidFill>
              <a:latin typeface="+mn-ea"/>
              <a:sym typeface="Symbol" panose="05050102010706020507" pitchFamily="18" charset="2"/>
            </a:endParaRPr>
          </a:p>
        </p:txBody>
      </p:sp>
      <p:sp>
        <p:nvSpPr>
          <p:cNvPr id="9" name="Text Box 4"/>
          <p:cNvSpPr txBox="1">
            <a:spLocks noChangeArrowheads="1"/>
          </p:cNvSpPr>
          <p:nvPr>
            <p:custDataLst>
              <p:tags r:id="rId2"/>
            </p:custDataLst>
          </p:nvPr>
        </p:nvSpPr>
        <p:spPr bwMode="auto">
          <a:xfrm>
            <a:off x="6332855" y="3100070"/>
            <a:ext cx="5279390" cy="185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a:spcBef>
                <a:spcPct val="50000"/>
              </a:spcBef>
              <a:buFont typeface="Wingdings" panose="05000000000000000000" pitchFamily="2" charset="2"/>
              <a:buChar char="Ø"/>
            </a:pPr>
            <a:r>
              <a:rPr lang="zh-CN" altLang="en-US" sz="2400" b="1">
                <a:solidFill>
                  <a:srgbClr val="020001"/>
                </a:solidFill>
                <a:latin typeface="+mn-ea"/>
              </a:rPr>
              <a:t>例：对拓广文法</a:t>
            </a:r>
            <a:br>
              <a:rPr lang="zh-CN" altLang="en-US" sz="2400" b="1">
                <a:solidFill>
                  <a:srgbClr val="020001"/>
                </a:solidFill>
                <a:latin typeface="+mn-ea"/>
              </a:rPr>
            </a:br>
            <a:r>
              <a:rPr lang="zh-CN" altLang="en-US" sz="2400" b="1">
                <a:solidFill>
                  <a:srgbClr val="020001"/>
                </a:solidFill>
                <a:latin typeface="+mn-ea"/>
              </a:rPr>
              <a:t>     </a:t>
            </a:r>
            <a:r>
              <a:rPr lang="en-US" altLang="zh-CN" sz="2400" b="1">
                <a:solidFill>
                  <a:srgbClr val="020001"/>
                </a:solidFill>
                <a:latin typeface="+mn-ea"/>
              </a:rPr>
              <a:t>(0) S’</a:t>
            </a:r>
            <a:r>
              <a:rPr lang="en-US" altLang="zh-CN" sz="2400" b="1">
                <a:solidFill>
                  <a:srgbClr val="020001"/>
                </a:solidFill>
                <a:latin typeface="+mn-ea"/>
                <a:sym typeface="Symbol" panose="05050102010706020507" pitchFamily="18" charset="2"/>
              </a:rPr>
              <a:t>S       (1) </a:t>
            </a:r>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aAcBe</a:t>
            </a:r>
            <a:br>
              <a:rPr lang="en-US" altLang="zh-CN" sz="2400" b="1">
                <a:solidFill>
                  <a:srgbClr val="020001"/>
                </a:solidFill>
                <a:latin typeface="+mn-ea"/>
                <a:sym typeface="Symbol" panose="05050102010706020507" pitchFamily="18" charset="2"/>
              </a:rPr>
            </a:br>
            <a:r>
              <a:rPr lang="en-US" altLang="zh-CN" sz="2400" b="1">
                <a:solidFill>
                  <a:srgbClr val="020001"/>
                </a:solidFill>
                <a:latin typeface="+mn-ea"/>
                <a:sym typeface="Symbol" panose="05050102010706020507" pitchFamily="18" charset="2"/>
              </a:rPr>
              <a:t>     (2) Ab        (3) AAb</a:t>
            </a:r>
            <a:br>
              <a:rPr lang="en-US" altLang="zh-CN" sz="2400" b="1">
                <a:solidFill>
                  <a:srgbClr val="020001"/>
                </a:solidFill>
                <a:latin typeface="+mn-ea"/>
                <a:sym typeface="Symbol" panose="05050102010706020507" pitchFamily="18" charset="2"/>
              </a:rPr>
            </a:br>
            <a:r>
              <a:rPr lang="en-US" altLang="zh-CN" sz="2400" b="1">
                <a:solidFill>
                  <a:srgbClr val="020001"/>
                </a:solidFill>
                <a:latin typeface="+mn-ea"/>
                <a:sym typeface="Symbol" panose="05050102010706020507" pitchFamily="18" charset="2"/>
              </a:rPr>
              <a:t>     (4) Bd</a:t>
            </a:r>
            <a:endParaRPr lang="en-US" altLang="zh-CN" sz="2400" b="1">
              <a:solidFill>
                <a:srgbClr val="020001"/>
              </a:solidFill>
              <a:latin typeface="+mn-ea"/>
              <a:sym typeface="Symbol" panose="05050102010706020507" pitchFamily="18" charset="2"/>
            </a:endParaRPr>
          </a:p>
        </p:txBody>
      </p:sp>
      <p:sp>
        <p:nvSpPr>
          <p:cNvPr id="20" name="Text Box 9"/>
          <p:cNvSpPr txBox="1">
            <a:spLocks noChangeArrowheads="1"/>
          </p:cNvSpPr>
          <p:nvPr/>
        </p:nvSpPr>
        <p:spPr bwMode="auto">
          <a:xfrm>
            <a:off x="6278245" y="4804410"/>
            <a:ext cx="5421630" cy="131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indent="0" fontAlgn="auto">
              <a:lnSpc>
                <a:spcPct val="120000"/>
              </a:lnSpc>
              <a:spcBef>
                <a:spcPts val="0"/>
              </a:spcBef>
              <a:buFont typeface="Wingdings" panose="05000000000000000000" charset="0"/>
              <a:buNone/>
            </a:pPr>
            <a:r>
              <a:rPr lang="en-US" altLang="zh-CN" sz="2400" b="1" dirty="0">
                <a:solidFill>
                  <a:srgbClr val="020001"/>
                </a:solidFill>
                <a:latin typeface="+mn-ea"/>
              </a:rPr>
              <a:t>S</a:t>
            </a:r>
            <a:r>
              <a:rPr lang="zh-CN" altLang="en-US" sz="2400" b="1" dirty="0">
                <a:solidFill>
                  <a:srgbClr val="020001"/>
                </a:solidFill>
                <a:latin typeface="+mn-ea"/>
              </a:rPr>
              <a:t>为当前句型</a:t>
            </a:r>
            <a:r>
              <a:rPr lang="en-US" altLang="zh-CN" sz="2400" b="1" dirty="0">
                <a:solidFill>
                  <a:srgbClr val="020001"/>
                </a:solidFill>
                <a:latin typeface="+mn-ea"/>
              </a:rPr>
              <a:t>S</a:t>
            </a:r>
            <a:r>
              <a:rPr lang="zh-CN" altLang="en-US" sz="2400" b="1" dirty="0">
                <a:solidFill>
                  <a:srgbClr val="020001"/>
                </a:solidFill>
                <a:latin typeface="+mn-ea"/>
              </a:rPr>
              <a:t>的句柄，故</a:t>
            </a:r>
            <a:r>
              <a:rPr lang="en-US" altLang="zh-CN" sz="2400" b="1" dirty="0">
                <a:solidFill>
                  <a:srgbClr val="020001"/>
                </a:solidFill>
                <a:latin typeface="+mn-ea"/>
              </a:rPr>
              <a:t>S</a:t>
            </a:r>
            <a:r>
              <a:rPr lang="zh-CN" altLang="en-US" sz="2400" b="1" dirty="0">
                <a:solidFill>
                  <a:srgbClr val="020001"/>
                </a:solidFill>
                <a:latin typeface="+mn-ea"/>
              </a:rPr>
              <a:t>为可归前缀，因为有</a:t>
            </a:r>
            <a:r>
              <a:rPr lang="zh-CN" altLang="en-US" sz="2400" b="1">
                <a:solidFill>
                  <a:srgbClr val="020001"/>
                </a:solidFill>
                <a:latin typeface="+mn-ea"/>
                <a:sym typeface="+mn-ea"/>
              </a:rPr>
              <a:t>产生式</a:t>
            </a:r>
            <a:r>
              <a:rPr lang="en-US" altLang="zh-CN" sz="2400" b="1">
                <a:solidFill>
                  <a:srgbClr val="020001"/>
                </a:solidFill>
                <a:latin typeface="+mn-ea"/>
                <a:sym typeface="+mn-ea"/>
              </a:rPr>
              <a:t>S</a:t>
            </a:r>
            <a:r>
              <a:rPr lang="en-US" altLang="zh-CN" sz="2400" b="1">
                <a:solidFill>
                  <a:srgbClr val="020001"/>
                </a:solidFill>
                <a:latin typeface="+mn-ea"/>
                <a:sym typeface="Symbol" panose="05050102010706020507" pitchFamily="18" charset="2"/>
              </a:rPr>
              <a:t>aAcBe，</a:t>
            </a:r>
            <a:r>
              <a:rPr lang="zh-CN" altLang="en-US" sz="2400" b="1">
                <a:solidFill>
                  <a:srgbClr val="020001"/>
                </a:solidFill>
                <a:latin typeface="+mn-ea"/>
                <a:sym typeface="Symbol" panose="05050102010706020507" pitchFamily="18" charset="2"/>
              </a:rPr>
              <a:t>故 </a:t>
            </a:r>
            <a:r>
              <a:rPr lang="en-US" altLang="zh-CN" sz="2400" b="1">
                <a:solidFill>
                  <a:srgbClr val="020001"/>
                </a:solidFill>
                <a:latin typeface="+mn-ea"/>
                <a:sym typeface="Symbol" panose="05050102010706020507" pitchFamily="18" charset="2"/>
              </a:rPr>
              <a:t>aAcBe</a:t>
            </a:r>
            <a:r>
              <a:rPr lang="zh-CN" altLang="en-US" sz="2400" b="1">
                <a:solidFill>
                  <a:srgbClr val="020001"/>
                </a:solidFill>
                <a:latin typeface="+mn-ea"/>
                <a:sym typeface="Symbol" panose="05050102010706020507" pitchFamily="18" charset="2"/>
              </a:rPr>
              <a:t>是可归前缀。</a:t>
            </a:r>
            <a:endParaRPr lang="zh-CN" altLang="en-US" sz="2400" b="1" dirty="0">
              <a:solidFill>
                <a:srgbClr val="020001"/>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43560" y="276860"/>
            <a:ext cx="7309485" cy="593090"/>
          </a:xfrm>
        </p:spPr>
        <p:txBody>
          <a:bodyPr/>
          <a:lstStyle/>
          <a:p>
            <a:r>
              <a:rPr lang="en-US" altLang="zh-CN" sz="3200" dirty="0"/>
              <a:t>1.</a:t>
            </a:r>
            <a:r>
              <a:rPr lang="zh-CN" altLang="en-US" sz="3200" dirty="0"/>
              <a:t>求文法中的所有可归前缀（续）</a:t>
            </a:r>
            <a:endParaRPr lang="zh-CN" altLang="en-US" sz="3200" dirty="0"/>
          </a:p>
        </p:txBody>
      </p:sp>
      <p:sp>
        <p:nvSpPr>
          <p:cNvPr id="18" name="Text Box 11"/>
          <p:cNvSpPr txBox="1">
            <a:spLocks noChangeArrowheads="1"/>
          </p:cNvSpPr>
          <p:nvPr/>
        </p:nvSpPr>
        <p:spPr bwMode="auto">
          <a:xfrm>
            <a:off x="699135" y="1197610"/>
            <a:ext cx="1102106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fontAlgn="auto">
              <a:lnSpc>
                <a:spcPct val="120000"/>
              </a:lnSpc>
              <a:spcBef>
                <a:spcPts val="0"/>
              </a:spcBef>
              <a:buFont typeface="Arial" panose="020B0604020202020204" pitchFamily="34" charset="0"/>
              <a:buChar char="•"/>
            </a:pPr>
            <a:r>
              <a:rPr lang="zh-CN" altLang="en-US" sz="2800" b="1">
                <a:solidFill>
                  <a:srgbClr val="020001"/>
                </a:solidFill>
                <a:latin typeface="+mn-ea"/>
              </a:rPr>
              <a:t>因</a:t>
            </a:r>
            <a:r>
              <a:rPr lang="en-US" altLang="zh-CN" sz="2800" b="1">
                <a:solidFill>
                  <a:srgbClr val="020001"/>
                </a:solidFill>
                <a:latin typeface="+mn-ea"/>
                <a:sym typeface="Symbol" panose="05050102010706020507" pitchFamily="18" charset="2"/>
              </a:rPr>
              <a:t>aAcBe</a:t>
            </a:r>
            <a:r>
              <a:rPr lang="zh-CN" altLang="en-US" sz="2800" b="1">
                <a:solidFill>
                  <a:srgbClr val="020001"/>
                </a:solidFill>
                <a:latin typeface="+mn-ea"/>
              </a:rPr>
              <a:t> 为可归前缀，且有产生式</a:t>
            </a:r>
            <a:r>
              <a:rPr lang="en-US" altLang="zh-CN" sz="2800" b="1">
                <a:solidFill>
                  <a:srgbClr val="020001"/>
                </a:solidFill>
                <a:latin typeface="+mn-ea"/>
              </a:rPr>
              <a:t>A</a:t>
            </a:r>
            <a:r>
              <a:rPr lang="en-US" altLang="zh-CN" sz="2800" b="1">
                <a:solidFill>
                  <a:srgbClr val="020001"/>
                </a:solidFill>
                <a:latin typeface="+mn-ea"/>
                <a:sym typeface="Symbol" panose="05050102010706020507" pitchFamily="18" charset="2"/>
              </a:rPr>
              <a:t>Ab，</a:t>
            </a:r>
            <a:r>
              <a:rPr lang="zh-CN" altLang="en-US" sz="2800" b="1">
                <a:solidFill>
                  <a:srgbClr val="020001"/>
                </a:solidFill>
                <a:latin typeface="+mn-ea"/>
                <a:sym typeface="Symbol" panose="05050102010706020507" pitchFamily="18" charset="2"/>
              </a:rPr>
              <a:t>故</a:t>
            </a:r>
            <a:r>
              <a:rPr lang="en-US" altLang="zh-CN" sz="2800" b="1">
                <a:solidFill>
                  <a:srgbClr val="020001"/>
                </a:solidFill>
                <a:latin typeface="+mn-ea"/>
                <a:sym typeface="Symbol" panose="05050102010706020507" pitchFamily="18" charset="2"/>
              </a:rPr>
              <a:t>aAb</a:t>
            </a:r>
            <a:r>
              <a:rPr lang="zh-CN" altLang="en-US" sz="2800" b="1">
                <a:solidFill>
                  <a:srgbClr val="020001"/>
                </a:solidFill>
                <a:latin typeface="+mn-ea"/>
                <a:sym typeface="Symbol" panose="05050102010706020507" pitchFamily="18" charset="2"/>
              </a:rPr>
              <a:t>是可归前缀</a:t>
            </a:r>
            <a:endParaRPr lang="zh-CN" altLang="en-US" sz="2800" b="1">
              <a:solidFill>
                <a:srgbClr val="020001"/>
              </a:solidFill>
              <a:latin typeface="+mn-ea"/>
              <a:sym typeface="Symbol" panose="05050102010706020507" pitchFamily="18" charset="2"/>
            </a:endParaRPr>
          </a:p>
        </p:txBody>
      </p:sp>
      <p:sp>
        <p:nvSpPr>
          <p:cNvPr id="19" name="Text Box 12"/>
          <p:cNvSpPr txBox="1">
            <a:spLocks noChangeArrowheads="1"/>
          </p:cNvSpPr>
          <p:nvPr/>
        </p:nvSpPr>
        <p:spPr bwMode="auto">
          <a:xfrm>
            <a:off x="699135" y="1708150"/>
            <a:ext cx="1087374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fontAlgn="auto">
              <a:lnSpc>
                <a:spcPct val="120000"/>
              </a:lnSpc>
              <a:spcBef>
                <a:spcPts val="0"/>
              </a:spcBef>
              <a:buFont typeface="Arial" panose="020B0604020202020204" pitchFamily="34" charset="0"/>
              <a:buChar char="•"/>
            </a:pPr>
            <a:r>
              <a:rPr lang="zh-CN" altLang="en-US" sz="2800" b="1" dirty="0">
                <a:solidFill>
                  <a:srgbClr val="020001"/>
                </a:solidFill>
                <a:latin typeface="+mn-ea"/>
              </a:rPr>
              <a:t>因</a:t>
            </a:r>
            <a:r>
              <a:rPr lang="en-US" altLang="zh-CN" sz="2800" b="1" dirty="0" err="1">
                <a:solidFill>
                  <a:srgbClr val="020001"/>
                </a:solidFill>
                <a:latin typeface="+mn-ea"/>
                <a:sym typeface="Symbol" panose="05050102010706020507" pitchFamily="18" charset="2"/>
              </a:rPr>
              <a:t>aAcBe</a:t>
            </a:r>
            <a:r>
              <a:rPr lang="zh-CN" altLang="en-US" sz="2800" b="1" dirty="0">
                <a:solidFill>
                  <a:srgbClr val="020001"/>
                </a:solidFill>
                <a:latin typeface="+mn-ea"/>
              </a:rPr>
              <a:t> 为可归前缀，且有产生式</a:t>
            </a:r>
            <a:r>
              <a:rPr lang="en-US" altLang="zh-CN" sz="2800" b="1" dirty="0" err="1">
                <a:solidFill>
                  <a:srgbClr val="020001"/>
                </a:solidFill>
                <a:latin typeface="+mn-ea"/>
              </a:rPr>
              <a:t>A</a:t>
            </a:r>
            <a:r>
              <a:rPr lang="en-US" altLang="zh-CN" sz="2800" b="1" dirty="0" err="1">
                <a:solidFill>
                  <a:srgbClr val="020001"/>
                </a:solidFill>
                <a:latin typeface="+mn-ea"/>
                <a:sym typeface="Symbol" panose="05050102010706020507" pitchFamily="18" charset="2"/>
              </a:rPr>
              <a:t>b</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故</a:t>
            </a:r>
            <a:r>
              <a:rPr lang="en-US" altLang="zh-CN" sz="2800" b="1" dirty="0">
                <a:solidFill>
                  <a:srgbClr val="020001"/>
                </a:solidFill>
                <a:latin typeface="+mn-ea"/>
                <a:sym typeface="Symbol" panose="05050102010706020507" pitchFamily="18" charset="2"/>
              </a:rPr>
              <a:t>ab</a:t>
            </a:r>
            <a:r>
              <a:rPr lang="zh-CN" altLang="en-US" sz="2800" b="1" dirty="0">
                <a:solidFill>
                  <a:srgbClr val="020001"/>
                </a:solidFill>
                <a:latin typeface="+mn-ea"/>
                <a:sym typeface="Symbol" panose="05050102010706020507" pitchFamily="18" charset="2"/>
              </a:rPr>
              <a:t>是可归前缀</a:t>
            </a:r>
            <a:endParaRPr lang="zh-CN" altLang="en-US" sz="2800" b="1" dirty="0">
              <a:solidFill>
                <a:srgbClr val="020001"/>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21" name="Text Box 2"/>
          <p:cNvSpPr txBox="1">
            <a:spLocks noChangeArrowheads="1"/>
          </p:cNvSpPr>
          <p:nvPr/>
        </p:nvSpPr>
        <p:spPr bwMode="auto">
          <a:xfrm>
            <a:off x="721360" y="2821305"/>
            <a:ext cx="1092708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457200" indent="-457200">
              <a:lnSpc>
                <a:spcPct val="120000"/>
              </a:lnSpc>
              <a:spcBef>
                <a:spcPts val="50"/>
              </a:spcBef>
              <a:spcAft>
                <a:spcPts val="0"/>
              </a:spcAft>
              <a:buFont typeface="Arial" panose="020B0604020202020204" pitchFamily="34" charset="0"/>
              <a:buChar char="•"/>
            </a:pPr>
            <a:r>
              <a:rPr lang="zh-CN" altLang="en-US" sz="2800" b="1" dirty="0">
                <a:solidFill>
                  <a:srgbClr val="020001"/>
                </a:solidFill>
              </a:rPr>
              <a:t>因</a:t>
            </a:r>
            <a:r>
              <a:rPr lang="en-US" altLang="zh-CN" sz="2800" b="1" dirty="0" err="1">
                <a:solidFill>
                  <a:srgbClr val="020001"/>
                </a:solidFill>
                <a:sym typeface="Symbol" panose="05050102010706020507" pitchFamily="18" charset="2"/>
              </a:rPr>
              <a:t>aAb</a:t>
            </a:r>
            <a:r>
              <a:rPr lang="zh-CN" altLang="en-US" sz="2800" b="1" dirty="0">
                <a:solidFill>
                  <a:srgbClr val="020001"/>
                </a:solidFill>
              </a:rPr>
              <a:t> 为可归前缀，且有产生式</a:t>
            </a:r>
            <a:r>
              <a:rPr lang="en-US" altLang="zh-CN" sz="2800" b="1" dirty="0" err="1">
                <a:solidFill>
                  <a:srgbClr val="020001"/>
                </a:solidFill>
              </a:rPr>
              <a:t>A</a:t>
            </a:r>
            <a:r>
              <a:rPr lang="en-US" altLang="zh-CN" sz="2800" b="1" dirty="0" err="1">
                <a:solidFill>
                  <a:srgbClr val="020001"/>
                </a:solidFill>
                <a:sym typeface="Symbol" panose="05050102010706020507" pitchFamily="18" charset="2"/>
              </a:rPr>
              <a:t>Ab</a:t>
            </a:r>
            <a:r>
              <a:rPr lang="en-US" altLang="zh-CN" sz="2800" b="1" dirty="0">
                <a:solidFill>
                  <a:srgbClr val="020001"/>
                </a:solidFill>
                <a:sym typeface="Symbol" panose="05050102010706020507" pitchFamily="18" charset="2"/>
              </a:rPr>
              <a:t>，</a:t>
            </a:r>
            <a:r>
              <a:rPr lang="zh-CN" altLang="en-US" sz="2800" b="1" dirty="0">
                <a:solidFill>
                  <a:srgbClr val="020001"/>
                </a:solidFill>
                <a:sym typeface="Symbol" panose="05050102010706020507" pitchFamily="18" charset="2"/>
              </a:rPr>
              <a:t>故</a:t>
            </a:r>
            <a:r>
              <a:rPr lang="en-US" altLang="zh-CN" sz="2800" b="1" dirty="0" err="1">
                <a:solidFill>
                  <a:srgbClr val="020001"/>
                </a:solidFill>
                <a:sym typeface="Symbol" panose="05050102010706020507" pitchFamily="18" charset="2"/>
              </a:rPr>
              <a:t>aAb</a:t>
            </a:r>
            <a:r>
              <a:rPr lang="zh-CN" altLang="en-US" sz="2800" b="1" dirty="0">
                <a:solidFill>
                  <a:srgbClr val="020001"/>
                </a:solidFill>
                <a:sym typeface="Symbol" panose="05050102010706020507" pitchFamily="18" charset="2"/>
              </a:rPr>
              <a:t>是可归前缀(重复)</a:t>
            </a:r>
            <a:endParaRPr lang="zh-CN" altLang="en-US" sz="2800" b="1" dirty="0">
              <a:solidFill>
                <a:srgbClr val="020001"/>
              </a:solidFill>
              <a:sym typeface="Symbol" panose="05050102010706020507" pitchFamily="18" charset="2"/>
            </a:endParaRPr>
          </a:p>
        </p:txBody>
      </p:sp>
      <p:sp>
        <p:nvSpPr>
          <p:cNvPr id="22" name="Text Box 3"/>
          <p:cNvSpPr txBox="1">
            <a:spLocks noChangeArrowheads="1"/>
          </p:cNvSpPr>
          <p:nvPr/>
        </p:nvSpPr>
        <p:spPr bwMode="auto">
          <a:xfrm>
            <a:off x="721360" y="3394075"/>
            <a:ext cx="1074356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457200" indent="-457200">
              <a:lnSpc>
                <a:spcPct val="120000"/>
              </a:lnSpc>
              <a:spcBef>
                <a:spcPts val="50"/>
              </a:spcBef>
              <a:spcAft>
                <a:spcPts val="0"/>
              </a:spcAft>
              <a:buFont typeface="Arial" panose="020B0604020202020204" pitchFamily="34" charset="0"/>
              <a:buChar char="•"/>
            </a:pPr>
            <a:r>
              <a:rPr lang="zh-CN" altLang="en-US" sz="2800" b="1">
                <a:solidFill>
                  <a:srgbClr val="020001"/>
                </a:solidFill>
              </a:rPr>
              <a:t>因</a:t>
            </a:r>
            <a:r>
              <a:rPr lang="en-US" altLang="zh-CN" sz="2800" b="1">
                <a:solidFill>
                  <a:srgbClr val="020001"/>
                </a:solidFill>
                <a:sym typeface="Symbol" panose="05050102010706020507" pitchFamily="18" charset="2"/>
              </a:rPr>
              <a:t>aAb</a:t>
            </a:r>
            <a:r>
              <a:rPr lang="zh-CN" altLang="en-US" sz="2800" b="1">
                <a:solidFill>
                  <a:srgbClr val="020001"/>
                </a:solidFill>
              </a:rPr>
              <a:t> 为可归前缀，且有产生式</a:t>
            </a:r>
            <a:r>
              <a:rPr lang="en-US" altLang="zh-CN" sz="2800" b="1">
                <a:solidFill>
                  <a:srgbClr val="020001"/>
                </a:solidFill>
              </a:rPr>
              <a:t>A</a:t>
            </a:r>
            <a:r>
              <a:rPr lang="en-US" altLang="zh-CN" sz="2800" b="1">
                <a:solidFill>
                  <a:srgbClr val="020001"/>
                </a:solidFill>
                <a:sym typeface="Symbol" panose="05050102010706020507" pitchFamily="18" charset="2"/>
              </a:rPr>
              <a:t>b，</a:t>
            </a:r>
            <a:r>
              <a:rPr lang="zh-CN" altLang="en-US" sz="2800" b="1">
                <a:solidFill>
                  <a:srgbClr val="020001"/>
                </a:solidFill>
                <a:sym typeface="Symbol" panose="05050102010706020507" pitchFamily="18" charset="2"/>
              </a:rPr>
              <a:t>故</a:t>
            </a:r>
            <a:r>
              <a:rPr lang="en-US" altLang="zh-CN" sz="2800" b="1">
                <a:solidFill>
                  <a:srgbClr val="020001"/>
                </a:solidFill>
                <a:sym typeface="Symbol" panose="05050102010706020507" pitchFamily="18" charset="2"/>
              </a:rPr>
              <a:t>ab</a:t>
            </a:r>
            <a:r>
              <a:rPr lang="zh-CN" altLang="en-US" sz="2800" b="1">
                <a:solidFill>
                  <a:srgbClr val="020001"/>
                </a:solidFill>
                <a:sym typeface="Symbol" panose="05050102010706020507" pitchFamily="18" charset="2"/>
              </a:rPr>
              <a:t>是可归前缀(重复)</a:t>
            </a:r>
            <a:endParaRPr lang="zh-CN" altLang="en-US" sz="2800" b="1">
              <a:solidFill>
                <a:srgbClr val="020001"/>
              </a:solidFill>
              <a:sym typeface="Symbol" panose="05050102010706020507" pitchFamily="18" charset="2"/>
            </a:endParaRPr>
          </a:p>
        </p:txBody>
      </p:sp>
      <p:sp>
        <p:nvSpPr>
          <p:cNvPr id="23" name="Text Box 4"/>
          <p:cNvSpPr txBox="1">
            <a:spLocks noChangeArrowheads="1"/>
          </p:cNvSpPr>
          <p:nvPr/>
        </p:nvSpPr>
        <p:spPr bwMode="auto">
          <a:xfrm>
            <a:off x="734695" y="2271395"/>
            <a:ext cx="110236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457200" indent="-457200">
              <a:lnSpc>
                <a:spcPct val="120000"/>
              </a:lnSpc>
              <a:spcBef>
                <a:spcPts val="50"/>
              </a:spcBef>
              <a:spcAft>
                <a:spcPts val="0"/>
              </a:spcAft>
              <a:buFont typeface="Arial" panose="020B0604020202020204" pitchFamily="34" charset="0"/>
              <a:buChar char="•"/>
            </a:pPr>
            <a:r>
              <a:rPr lang="zh-CN" altLang="en-US" sz="2800" b="1">
                <a:solidFill>
                  <a:srgbClr val="020001"/>
                </a:solidFill>
              </a:rPr>
              <a:t>因</a:t>
            </a:r>
            <a:r>
              <a:rPr lang="en-US" altLang="zh-CN" sz="2800" b="1">
                <a:solidFill>
                  <a:srgbClr val="020001"/>
                </a:solidFill>
                <a:sym typeface="Symbol" panose="05050102010706020507" pitchFamily="18" charset="2"/>
              </a:rPr>
              <a:t>aAcBe</a:t>
            </a:r>
            <a:r>
              <a:rPr lang="zh-CN" altLang="en-US" sz="2800" b="1">
                <a:solidFill>
                  <a:srgbClr val="020001"/>
                </a:solidFill>
              </a:rPr>
              <a:t> 为可归前缀，且有产生式</a:t>
            </a:r>
            <a:r>
              <a:rPr lang="en-US" altLang="zh-CN" sz="2800" b="1">
                <a:solidFill>
                  <a:srgbClr val="020001"/>
                </a:solidFill>
              </a:rPr>
              <a:t>B</a:t>
            </a:r>
            <a:r>
              <a:rPr lang="en-US" altLang="zh-CN" sz="2800" b="1">
                <a:solidFill>
                  <a:srgbClr val="020001"/>
                </a:solidFill>
                <a:sym typeface="Symbol" panose="05050102010706020507" pitchFamily="18" charset="2"/>
              </a:rPr>
              <a:t>d，</a:t>
            </a:r>
            <a:r>
              <a:rPr lang="zh-CN" altLang="en-US" sz="2800" b="1">
                <a:solidFill>
                  <a:srgbClr val="020001"/>
                </a:solidFill>
                <a:sym typeface="Symbol" panose="05050102010706020507" pitchFamily="18" charset="2"/>
              </a:rPr>
              <a:t>故</a:t>
            </a:r>
            <a:r>
              <a:rPr lang="en-US" altLang="zh-CN" sz="2800" b="1">
                <a:solidFill>
                  <a:srgbClr val="020001"/>
                </a:solidFill>
                <a:sym typeface="Symbol" panose="05050102010706020507" pitchFamily="18" charset="2"/>
              </a:rPr>
              <a:t>aAcd</a:t>
            </a:r>
            <a:r>
              <a:rPr lang="zh-CN" altLang="en-US" sz="2800" b="1">
                <a:solidFill>
                  <a:srgbClr val="020001"/>
                </a:solidFill>
                <a:sym typeface="Symbol" panose="05050102010706020507" pitchFamily="18" charset="2"/>
              </a:rPr>
              <a:t>是可归前缀</a:t>
            </a:r>
            <a:endParaRPr lang="zh-CN" altLang="en-US" sz="2800" b="1">
              <a:solidFill>
                <a:srgbClr val="020001"/>
              </a:solidFill>
              <a:sym typeface="Symbol" panose="05050102010706020507" pitchFamily="18" charset="2"/>
            </a:endParaRPr>
          </a:p>
        </p:txBody>
      </p:sp>
      <p:sp>
        <p:nvSpPr>
          <p:cNvPr id="3" name="Text Box 2"/>
          <p:cNvSpPr txBox="1">
            <a:spLocks noChangeArrowheads="1"/>
          </p:cNvSpPr>
          <p:nvPr/>
        </p:nvSpPr>
        <p:spPr bwMode="auto">
          <a:xfrm>
            <a:off x="734695" y="3998595"/>
            <a:ext cx="1097534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457200" indent="-457200">
              <a:lnSpc>
                <a:spcPct val="120000"/>
              </a:lnSpc>
              <a:spcBef>
                <a:spcPts val="50"/>
              </a:spcBef>
              <a:spcAft>
                <a:spcPts val="0"/>
              </a:spcAft>
              <a:buFont typeface="Arial" panose="020B0604020202020204" pitchFamily="34" charset="0"/>
              <a:buChar char="•"/>
            </a:pPr>
            <a:r>
              <a:rPr lang="zh-CN" altLang="en-US" sz="2800" b="1">
                <a:solidFill>
                  <a:srgbClr val="020001"/>
                </a:solidFill>
              </a:rPr>
              <a:t>因</a:t>
            </a:r>
            <a:r>
              <a:rPr lang="en-US" altLang="zh-CN" sz="2800" b="1">
                <a:solidFill>
                  <a:srgbClr val="020001"/>
                </a:solidFill>
                <a:sym typeface="Symbol" panose="05050102010706020507" pitchFamily="18" charset="2"/>
              </a:rPr>
              <a:t>aAcd</a:t>
            </a:r>
            <a:r>
              <a:rPr lang="zh-CN" altLang="en-US" sz="2800" b="1">
                <a:solidFill>
                  <a:srgbClr val="020001"/>
                </a:solidFill>
              </a:rPr>
              <a:t> 为可归前缀，且有产生式</a:t>
            </a:r>
            <a:r>
              <a:rPr lang="en-US" altLang="zh-CN" sz="2800" b="1">
                <a:solidFill>
                  <a:srgbClr val="020001"/>
                </a:solidFill>
              </a:rPr>
              <a:t>A</a:t>
            </a:r>
            <a:r>
              <a:rPr lang="en-US" altLang="zh-CN" sz="2800" b="1">
                <a:solidFill>
                  <a:srgbClr val="020001"/>
                </a:solidFill>
                <a:sym typeface="Symbol" panose="05050102010706020507" pitchFamily="18" charset="2"/>
              </a:rPr>
              <a:t>Ab，</a:t>
            </a:r>
            <a:r>
              <a:rPr lang="zh-CN" altLang="en-US" sz="2800" b="1">
                <a:solidFill>
                  <a:srgbClr val="020001"/>
                </a:solidFill>
                <a:sym typeface="Symbol" panose="05050102010706020507" pitchFamily="18" charset="2"/>
              </a:rPr>
              <a:t>故</a:t>
            </a:r>
            <a:r>
              <a:rPr lang="en-US" altLang="zh-CN" sz="2800" b="1">
                <a:solidFill>
                  <a:srgbClr val="020001"/>
                </a:solidFill>
                <a:sym typeface="Symbol" panose="05050102010706020507" pitchFamily="18" charset="2"/>
              </a:rPr>
              <a:t>aAb</a:t>
            </a:r>
            <a:r>
              <a:rPr lang="zh-CN" altLang="en-US" sz="2800" b="1">
                <a:solidFill>
                  <a:srgbClr val="020001"/>
                </a:solidFill>
                <a:sym typeface="Symbol" panose="05050102010706020507" pitchFamily="18" charset="2"/>
              </a:rPr>
              <a:t>是可归前缀(重复)</a:t>
            </a:r>
            <a:endParaRPr lang="zh-CN" altLang="en-US" sz="2800" b="1">
              <a:solidFill>
                <a:srgbClr val="020001"/>
              </a:solidFill>
              <a:sym typeface="Symbol" panose="05050102010706020507" pitchFamily="18" charset="2"/>
            </a:endParaRPr>
          </a:p>
        </p:txBody>
      </p:sp>
      <p:sp>
        <p:nvSpPr>
          <p:cNvPr id="7" name="Text Box 3"/>
          <p:cNvSpPr txBox="1">
            <a:spLocks noChangeArrowheads="1"/>
          </p:cNvSpPr>
          <p:nvPr/>
        </p:nvSpPr>
        <p:spPr bwMode="auto">
          <a:xfrm>
            <a:off x="760730" y="4578985"/>
            <a:ext cx="1089215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457200" indent="-457200">
              <a:lnSpc>
                <a:spcPct val="120000"/>
              </a:lnSpc>
              <a:spcBef>
                <a:spcPts val="50"/>
              </a:spcBef>
              <a:spcAft>
                <a:spcPts val="0"/>
              </a:spcAft>
              <a:buFont typeface="Arial" panose="020B0604020202020204" pitchFamily="34" charset="0"/>
              <a:buChar char="•"/>
            </a:pPr>
            <a:r>
              <a:rPr lang="zh-CN" altLang="en-US" sz="2800" b="1">
                <a:solidFill>
                  <a:srgbClr val="020001"/>
                </a:solidFill>
              </a:rPr>
              <a:t>因</a:t>
            </a:r>
            <a:r>
              <a:rPr lang="en-US" altLang="zh-CN" sz="2800" b="1">
                <a:solidFill>
                  <a:srgbClr val="020001"/>
                </a:solidFill>
                <a:sym typeface="Symbol" panose="05050102010706020507" pitchFamily="18" charset="2"/>
              </a:rPr>
              <a:t>aAcd</a:t>
            </a:r>
            <a:r>
              <a:rPr lang="zh-CN" altLang="en-US" sz="2800" b="1">
                <a:solidFill>
                  <a:srgbClr val="020001"/>
                </a:solidFill>
              </a:rPr>
              <a:t> 为可归前缀，且有产生式</a:t>
            </a:r>
            <a:r>
              <a:rPr lang="en-US" altLang="zh-CN" sz="2800" b="1">
                <a:solidFill>
                  <a:srgbClr val="020001"/>
                </a:solidFill>
              </a:rPr>
              <a:t>A</a:t>
            </a:r>
            <a:r>
              <a:rPr lang="en-US" altLang="zh-CN" sz="2800" b="1">
                <a:solidFill>
                  <a:srgbClr val="020001"/>
                </a:solidFill>
                <a:sym typeface="Symbol" panose="05050102010706020507" pitchFamily="18" charset="2"/>
              </a:rPr>
              <a:t>b，</a:t>
            </a:r>
            <a:r>
              <a:rPr lang="zh-CN" altLang="en-US" sz="2800" b="1">
                <a:solidFill>
                  <a:srgbClr val="020001"/>
                </a:solidFill>
                <a:sym typeface="Symbol" panose="05050102010706020507" pitchFamily="18" charset="2"/>
              </a:rPr>
              <a:t>故</a:t>
            </a:r>
            <a:r>
              <a:rPr lang="en-US" altLang="zh-CN" sz="2800" b="1">
                <a:solidFill>
                  <a:srgbClr val="020001"/>
                </a:solidFill>
                <a:sym typeface="Symbol" panose="05050102010706020507" pitchFamily="18" charset="2"/>
              </a:rPr>
              <a:t>ab</a:t>
            </a:r>
            <a:r>
              <a:rPr lang="zh-CN" altLang="en-US" sz="2800" b="1">
                <a:solidFill>
                  <a:srgbClr val="020001"/>
                </a:solidFill>
                <a:sym typeface="Symbol" panose="05050102010706020507" pitchFamily="18" charset="2"/>
              </a:rPr>
              <a:t>是可归前缀(重复)</a:t>
            </a:r>
            <a:endParaRPr lang="zh-CN" altLang="en-US" sz="2800" b="1">
              <a:solidFill>
                <a:srgbClr val="020001"/>
              </a:solidFill>
              <a:sym typeface="Symbol" panose="05050102010706020507" pitchFamily="18" charset="2"/>
            </a:endParaRPr>
          </a:p>
        </p:txBody>
      </p:sp>
      <p:sp>
        <p:nvSpPr>
          <p:cNvPr id="8" name="Text Box 4"/>
          <p:cNvSpPr txBox="1">
            <a:spLocks noChangeArrowheads="1"/>
          </p:cNvSpPr>
          <p:nvPr/>
        </p:nvSpPr>
        <p:spPr bwMode="auto">
          <a:xfrm>
            <a:off x="1053465" y="5306695"/>
            <a:ext cx="89274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800" b="1">
                <a:solidFill>
                  <a:srgbClr val="020001"/>
                </a:solidFill>
              </a:rPr>
              <a:t>所以文法的可归前缀有：</a:t>
            </a:r>
            <a:r>
              <a:rPr lang="en-US" altLang="zh-CN" sz="2800" b="1">
                <a:solidFill>
                  <a:srgbClr val="020001"/>
                </a:solidFill>
              </a:rPr>
              <a:t>S , aAcBe , aAb , ab , aAcd</a:t>
            </a:r>
            <a:endParaRPr lang="en-US" altLang="zh-CN" sz="2800" b="1">
              <a:solidFill>
                <a:srgbClr val="02000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3" grpId="0"/>
      <p:bldP spid="21" grpId="0"/>
      <p:bldP spid="22" grpId="0"/>
      <p:bldP spid="3"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709930" y="276860"/>
            <a:ext cx="7143115" cy="593090"/>
          </a:xfrm>
        </p:spPr>
        <p:txBody>
          <a:bodyPr/>
          <a:lstStyle/>
          <a:p>
            <a:r>
              <a:rPr lang="en-US" altLang="zh-CN" sz="3200" dirty="0"/>
              <a:t>2.</a:t>
            </a:r>
            <a:r>
              <a:rPr lang="zh-CN" altLang="en-US" sz="3200" dirty="0"/>
              <a:t>识别可归前缀和活前缀</a:t>
            </a:r>
            <a:endParaRPr lang="zh-CN" altLang="en-US" sz="3200" dirty="0"/>
          </a:p>
        </p:txBody>
      </p:sp>
      <p:sp>
        <p:nvSpPr>
          <p:cNvPr id="10" name="Rectangle 5"/>
          <p:cNvSpPr txBox="1">
            <a:spLocks noChangeArrowheads="1"/>
          </p:cNvSpPr>
          <p:nvPr/>
        </p:nvSpPr>
        <p:spPr>
          <a:xfrm>
            <a:off x="535940" y="1319530"/>
            <a:ext cx="11312525" cy="38754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Aft>
                <a:spcPts val="0"/>
              </a:spcAft>
            </a:pPr>
            <a:r>
              <a:rPr lang="zh-CN" altLang="en-US" b="1">
                <a:latin typeface="+mn-ea"/>
              </a:rPr>
              <a:t>可以证明一个文法</a:t>
            </a:r>
            <a:r>
              <a:rPr lang="en-US" altLang="zh-CN" b="1">
                <a:latin typeface="+mn-ea"/>
              </a:rPr>
              <a:t>G</a:t>
            </a:r>
            <a:r>
              <a:rPr lang="zh-CN" altLang="en-US" b="1">
                <a:latin typeface="+mn-ea"/>
              </a:rPr>
              <a:t>的所有可归前缀是一个正规集，它可以由</a:t>
            </a:r>
            <a:r>
              <a:rPr lang="en-US" altLang="zh-CN" b="1">
                <a:latin typeface="+mn-ea"/>
              </a:rPr>
              <a:t>DFA</a:t>
            </a:r>
            <a:r>
              <a:rPr lang="zh-CN" altLang="en-US" b="1">
                <a:latin typeface="+mn-ea"/>
              </a:rPr>
              <a:t>加以识别。</a:t>
            </a:r>
            <a:endParaRPr lang="en-US" altLang="zh-CN" b="1">
              <a:latin typeface="+mn-ea"/>
            </a:endParaRPr>
          </a:p>
        </p:txBody>
      </p:sp>
      <p:sp useBgFill="1">
        <p:nvSpPr>
          <p:cNvPr id="11" name="AutoShape 109"/>
          <p:cNvSpPr>
            <a:spLocks noChangeArrowheads="1"/>
          </p:cNvSpPr>
          <p:nvPr/>
        </p:nvSpPr>
        <p:spPr bwMode="auto">
          <a:xfrm>
            <a:off x="5710331" y="4309269"/>
            <a:ext cx="2514600" cy="1600200"/>
          </a:xfrm>
          <a:prstGeom prst="wedgeRoundRectCallout">
            <a:avLst>
              <a:gd name="adj1" fmla="val -117741"/>
              <a:gd name="adj2" fmla="val -50792"/>
              <a:gd name="adj3" fmla="val 16667"/>
            </a:avLst>
          </a:prstGeom>
          <a:ln w="9525">
            <a:solidFill>
              <a:schemeClr val="tx1"/>
            </a:solidFill>
            <a:miter lim="800000"/>
          </a:ln>
        </p:spPr>
        <p:txBody>
          <a:bodyPr/>
          <a:lstStyle/>
          <a:p>
            <a:r>
              <a:rPr lang="zh-CN" altLang="en-US" sz="2800" b="1" dirty="0">
                <a:solidFill>
                  <a:srgbClr val="020001"/>
                </a:solidFill>
                <a:latin typeface="+mn-ea"/>
              </a:rPr>
              <a:t>每个终态都是可归前缀的识别态。</a:t>
            </a:r>
            <a:endParaRPr lang="zh-CN" altLang="en-US" sz="2800" b="1" dirty="0">
              <a:solidFill>
                <a:srgbClr val="020001"/>
              </a:solidFill>
              <a:latin typeface="+mn-ea"/>
            </a:endParaRPr>
          </a:p>
        </p:txBody>
      </p:sp>
      <p:grpSp>
        <p:nvGrpSpPr>
          <p:cNvPr id="13" name="组合 130"/>
          <p:cNvGrpSpPr/>
          <p:nvPr/>
        </p:nvGrpSpPr>
        <p:grpSpPr bwMode="auto">
          <a:xfrm>
            <a:off x="709706" y="2650331"/>
            <a:ext cx="4833938" cy="3124200"/>
            <a:chOff x="1082676" y="2355841"/>
            <a:chExt cx="4833938" cy="3124200"/>
          </a:xfrm>
        </p:grpSpPr>
        <p:grpSp>
          <p:nvGrpSpPr>
            <p:cNvPr id="14" name="Group 2"/>
            <p:cNvGrpSpPr/>
            <p:nvPr/>
          </p:nvGrpSpPr>
          <p:grpSpPr bwMode="auto">
            <a:xfrm>
              <a:off x="1082676" y="3070216"/>
              <a:ext cx="2438400" cy="581025"/>
              <a:chOff x="2592" y="2274"/>
              <a:chExt cx="1536" cy="366"/>
            </a:xfrm>
          </p:grpSpPr>
          <p:sp>
            <p:nvSpPr>
              <p:cNvPr id="119" name="Line 3"/>
              <p:cNvSpPr>
                <a:spLocks noChangeShapeType="1"/>
              </p:cNvSpPr>
              <p:nvPr/>
            </p:nvSpPr>
            <p:spPr bwMode="auto">
              <a:xfrm>
                <a:off x="2592" y="2496"/>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120" name="Group 4"/>
              <p:cNvGrpSpPr/>
              <p:nvPr/>
            </p:nvGrpSpPr>
            <p:grpSpPr bwMode="auto">
              <a:xfrm>
                <a:off x="2841" y="2274"/>
                <a:ext cx="1287" cy="366"/>
                <a:chOff x="2841" y="2274"/>
                <a:chExt cx="1287" cy="366"/>
              </a:xfrm>
            </p:grpSpPr>
            <p:grpSp>
              <p:nvGrpSpPr>
                <p:cNvPr id="121" name="Group 5"/>
                <p:cNvGrpSpPr/>
                <p:nvPr/>
              </p:nvGrpSpPr>
              <p:grpSpPr bwMode="auto">
                <a:xfrm>
                  <a:off x="2841" y="2352"/>
                  <a:ext cx="249" cy="261"/>
                  <a:chOff x="2592" y="3819"/>
                  <a:chExt cx="249" cy="261"/>
                </a:xfrm>
              </p:grpSpPr>
              <p:sp>
                <p:nvSpPr>
                  <p:cNvPr id="134" name="Oval 6"/>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35" name="Text Box 7"/>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2</a:t>
                    </a:r>
                    <a:endParaRPr lang="zh-CN" altLang="en-US" sz="2000" b="1">
                      <a:solidFill>
                        <a:srgbClr val="020001"/>
                      </a:solidFill>
                      <a:latin typeface="+mn-ea"/>
                    </a:endParaRPr>
                  </a:p>
                </p:txBody>
              </p:sp>
            </p:grpSp>
            <p:grpSp>
              <p:nvGrpSpPr>
                <p:cNvPr id="122" name="Group 8"/>
                <p:cNvGrpSpPr/>
                <p:nvPr/>
              </p:nvGrpSpPr>
              <p:grpSpPr bwMode="auto">
                <a:xfrm>
                  <a:off x="3312" y="2352"/>
                  <a:ext cx="249" cy="261"/>
                  <a:chOff x="2592" y="3819"/>
                  <a:chExt cx="249" cy="261"/>
                </a:xfrm>
              </p:grpSpPr>
              <p:sp>
                <p:nvSpPr>
                  <p:cNvPr id="132" name="Oval 9"/>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33" name="Text Box 10"/>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3</a:t>
                    </a:r>
                    <a:endParaRPr lang="zh-CN" altLang="en-US" sz="2000" b="1">
                      <a:solidFill>
                        <a:srgbClr val="020001"/>
                      </a:solidFill>
                      <a:latin typeface="+mn-ea"/>
                    </a:endParaRPr>
                  </a:p>
                </p:txBody>
              </p:sp>
            </p:grpSp>
            <p:sp>
              <p:nvSpPr>
                <p:cNvPr id="123" name="Line 11"/>
                <p:cNvSpPr>
                  <a:spLocks noChangeShapeType="1"/>
                </p:cNvSpPr>
                <p:nvPr/>
              </p:nvSpPr>
              <p:spPr bwMode="auto">
                <a:xfrm>
                  <a:off x="3081" y="2496"/>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124" name="Line 12"/>
                <p:cNvSpPr>
                  <a:spLocks noChangeShapeType="1"/>
                </p:cNvSpPr>
                <p:nvPr/>
              </p:nvSpPr>
              <p:spPr bwMode="auto">
                <a:xfrm>
                  <a:off x="3552" y="2496"/>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125" name="Group 13"/>
                <p:cNvGrpSpPr/>
                <p:nvPr/>
              </p:nvGrpSpPr>
              <p:grpSpPr bwMode="auto">
                <a:xfrm>
                  <a:off x="3792" y="2304"/>
                  <a:ext cx="336" cy="336"/>
                  <a:chOff x="3792" y="2304"/>
                  <a:chExt cx="336" cy="336"/>
                </a:xfrm>
              </p:grpSpPr>
              <p:grpSp>
                <p:nvGrpSpPr>
                  <p:cNvPr id="128" name="Group 14"/>
                  <p:cNvGrpSpPr/>
                  <p:nvPr/>
                </p:nvGrpSpPr>
                <p:grpSpPr bwMode="auto">
                  <a:xfrm>
                    <a:off x="3792" y="2304"/>
                    <a:ext cx="336" cy="336"/>
                    <a:chOff x="3072" y="3795"/>
                    <a:chExt cx="336" cy="336"/>
                  </a:xfrm>
                </p:grpSpPr>
                <p:sp>
                  <p:nvSpPr>
                    <p:cNvPr id="130" name="Oval 15"/>
                    <p:cNvSpPr>
                      <a:spLocks noChangeArrowheads="1"/>
                    </p:cNvSpPr>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31" name="Oval 16"/>
                    <p:cNvSpPr>
                      <a:spLocks noChangeArrowheads="1"/>
                    </p:cNvSpPr>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grpSp>
              <p:sp>
                <p:nvSpPr>
                  <p:cNvPr id="129" name="Text Box 17"/>
                  <p:cNvSpPr txBox="1">
                    <a:spLocks noChangeArrowheads="1"/>
                  </p:cNvSpPr>
                  <p:nvPr/>
                </p:nvSpPr>
                <p:spPr bwMode="auto">
                  <a:xfrm>
                    <a:off x="3849" y="2322"/>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4</a:t>
                    </a:r>
                    <a:endParaRPr lang="zh-CN" altLang="en-US" sz="2000" b="1">
                      <a:solidFill>
                        <a:srgbClr val="020001"/>
                      </a:solidFill>
                      <a:latin typeface="+mn-ea"/>
                    </a:endParaRPr>
                  </a:p>
                </p:txBody>
              </p:sp>
            </p:grpSp>
            <p:sp>
              <p:nvSpPr>
                <p:cNvPr id="126" name="Text Box 18"/>
                <p:cNvSpPr txBox="1">
                  <a:spLocks noChangeArrowheads="1"/>
                </p:cNvSpPr>
                <p:nvPr/>
              </p:nvSpPr>
              <p:spPr bwMode="auto">
                <a:xfrm>
                  <a:off x="3072" y="2275"/>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sp>
              <p:nvSpPr>
                <p:cNvPr id="127" name="Text Box 19"/>
                <p:cNvSpPr txBox="1">
                  <a:spLocks noChangeArrowheads="1"/>
                </p:cNvSpPr>
                <p:nvPr/>
              </p:nvSpPr>
              <p:spPr bwMode="auto">
                <a:xfrm>
                  <a:off x="3561" y="2274"/>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b</a:t>
                  </a:r>
                  <a:endParaRPr lang="en-US" altLang="zh-CN" sz="2000" b="1">
                    <a:solidFill>
                      <a:srgbClr val="020001"/>
                    </a:solidFill>
                    <a:latin typeface="+mn-ea"/>
                  </a:endParaRPr>
                </a:p>
              </p:txBody>
            </p:sp>
          </p:grpSp>
        </p:grpSp>
        <p:grpSp>
          <p:nvGrpSpPr>
            <p:cNvPr id="15" name="Group 20"/>
            <p:cNvGrpSpPr/>
            <p:nvPr/>
          </p:nvGrpSpPr>
          <p:grpSpPr bwMode="auto">
            <a:xfrm>
              <a:off x="1082676" y="3676641"/>
              <a:ext cx="3200400" cy="584200"/>
              <a:chOff x="2592" y="2656"/>
              <a:chExt cx="2016" cy="368"/>
            </a:xfrm>
          </p:grpSpPr>
          <p:sp>
            <p:nvSpPr>
              <p:cNvPr id="97" name="Line 21"/>
              <p:cNvSpPr>
                <a:spLocks noChangeShapeType="1"/>
              </p:cNvSpPr>
              <p:nvPr/>
            </p:nvSpPr>
            <p:spPr bwMode="auto">
              <a:xfrm>
                <a:off x="2592" y="2880"/>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98" name="Group 22"/>
              <p:cNvGrpSpPr/>
              <p:nvPr/>
            </p:nvGrpSpPr>
            <p:grpSpPr bwMode="auto">
              <a:xfrm>
                <a:off x="2841" y="2656"/>
                <a:ext cx="1767" cy="368"/>
                <a:chOff x="2841" y="2656"/>
                <a:chExt cx="1767" cy="368"/>
              </a:xfrm>
            </p:grpSpPr>
            <p:grpSp>
              <p:nvGrpSpPr>
                <p:cNvPr id="99" name="Group 23"/>
                <p:cNvGrpSpPr/>
                <p:nvPr/>
              </p:nvGrpSpPr>
              <p:grpSpPr bwMode="auto">
                <a:xfrm>
                  <a:off x="2841" y="2736"/>
                  <a:ext cx="249" cy="261"/>
                  <a:chOff x="2592" y="3819"/>
                  <a:chExt cx="249" cy="261"/>
                </a:xfrm>
              </p:grpSpPr>
              <p:sp>
                <p:nvSpPr>
                  <p:cNvPr id="117" name="Oval 24"/>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18" name="Text Box 25"/>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4</a:t>
                    </a:r>
                    <a:endParaRPr lang="zh-CN" altLang="en-US" sz="2000" b="1">
                      <a:solidFill>
                        <a:srgbClr val="020001"/>
                      </a:solidFill>
                      <a:latin typeface="+mn-ea"/>
                    </a:endParaRPr>
                  </a:p>
                </p:txBody>
              </p:sp>
            </p:grpSp>
            <p:grpSp>
              <p:nvGrpSpPr>
                <p:cNvPr id="100" name="Group 26"/>
                <p:cNvGrpSpPr/>
                <p:nvPr/>
              </p:nvGrpSpPr>
              <p:grpSpPr bwMode="auto">
                <a:xfrm>
                  <a:off x="3312" y="2736"/>
                  <a:ext cx="249" cy="261"/>
                  <a:chOff x="2592" y="3819"/>
                  <a:chExt cx="249" cy="261"/>
                </a:xfrm>
              </p:grpSpPr>
              <p:sp>
                <p:nvSpPr>
                  <p:cNvPr id="115" name="Oval 27"/>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16" name="Text Box 28"/>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6</a:t>
                    </a:r>
                    <a:endParaRPr lang="zh-CN" altLang="en-US" sz="2000" b="1">
                      <a:solidFill>
                        <a:srgbClr val="020001"/>
                      </a:solidFill>
                      <a:latin typeface="+mn-ea"/>
                    </a:endParaRPr>
                  </a:p>
                </p:txBody>
              </p:sp>
            </p:grpSp>
            <p:grpSp>
              <p:nvGrpSpPr>
                <p:cNvPr id="101" name="Group 29"/>
                <p:cNvGrpSpPr/>
                <p:nvPr/>
              </p:nvGrpSpPr>
              <p:grpSpPr bwMode="auto">
                <a:xfrm>
                  <a:off x="3783" y="2736"/>
                  <a:ext cx="249" cy="261"/>
                  <a:chOff x="2592" y="3819"/>
                  <a:chExt cx="249" cy="261"/>
                </a:xfrm>
              </p:grpSpPr>
              <p:sp>
                <p:nvSpPr>
                  <p:cNvPr id="113" name="Oval 30"/>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14" name="Text Box 31"/>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7</a:t>
                    </a:r>
                    <a:endParaRPr lang="zh-CN" altLang="en-US" sz="2000" b="1">
                      <a:solidFill>
                        <a:srgbClr val="020001"/>
                      </a:solidFill>
                      <a:latin typeface="+mn-ea"/>
                    </a:endParaRPr>
                  </a:p>
                </p:txBody>
              </p:sp>
            </p:grpSp>
            <p:sp>
              <p:nvSpPr>
                <p:cNvPr id="102" name="Line 32"/>
                <p:cNvSpPr>
                  <a:spLocks noChangeShapeType="1"/>
                </p:cNvSpPr>
                <p:nvPr/>
              </p:nvSpPr>
              <p:spPr bwMode="auto">
                <a:xfrm>
                  <a:off x="3081" y="2880"/>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103" name="Line 33"/>
                <p:cNvSpPr>
                  <a:spLocks noChangeShapeType="1"/>
                </p:cNvSpPr>
                <p:nvPr/>
              </p:nvSpPr>
              <p:spPr bwMode="auto">
                <a:xfrm>
                  <a:off x="3552" y="2880"/>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104" name="Line 34"/>
                <p:cNvSpPr>
                  <a:spLocks noChangeShapeType="1"/>
                </p:cNvSpPr>
                <p:nvPr/>
              </p:nvSpPr>
              <p:spPr bwMode="auto">
                <a:xfrm>
                  <a:off x="4023" y="2880"/>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105" name="Group 35"/>
                <p:cNvGrpSpPr/>
                <p:nvPr/>
              </p:nvGrpSpPr>
              <p:grpSpPr bwMode="auto">
                <a:xfrm>
                  <a:off x="4272" y="2688"/>
                  <a:ext cx="336" cy="336"/>
                  <a:chOff x="4272" y="2688"/>
                  <a:chExt cx="336" cy="336"/>
                </a:xfrm>
              </p:grpSpPr>
              <p:grpSp>
                <p:nvGrpSpPr>
                  <p:cNvPr id="109" name="Group 36"/>
                  <p:cNvGrpSpPr/>
                  <p:nvPr/>
                </p:nvGrpSpPr>
                <p:grpSpPr bwMode="auto">
                  <a:xfrm>
                    <a:off x="4272" y="2688"/>
                    <a:ext cx="336" cy="336"/>
                    <a:chOff x="3072" y="3795"/>
                    <a:chExt cx="336" cy="336"/>
                  </a:xfrm>
                </p:grpSpPr>
                <p:sp>
                  <p:nvSpPr>
                    <p:cNvPr id="111" name="Oval 37"/>
                    <p:cNvSpPr>
                      <a:spLocks noChangeArrowheads="1"/>
                    </p:cNvSpPr>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112" name="Oval 38"/>
                    <p:cNvSpPr>
                      <a:spLocks noChangeArrowheads="1"/>
                    </p:cNvSpPr>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grpSp>
              <p:sp>
                <p:nvSpPr>
                  <p:cNvPr id="110" name="Text Box 39"/>
                  <p:cNvSpPr txBox="1">
                    <a:spLocks noChangeArrowheads="1"/>
                  </p:cNvSpPr>
                  <p:nvPr/>
                </p:nvSpPr>
                <p:spPr bwMode="auto">
                  <a:xfrm>
                    <a:off x="4329" y="2706"/>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dirty="0">
                        <a:solidFill>
                          <a:srgbClr val="020001"/>
                        </a:solidFill>
                        <a:latin typeface="+mn-ea"/>
                      </a:rPr>
                      <a:t>8</a:t>
                    </a:r>
                    <a:endParaRPr lang="zh-CN" altLang="en-US" sz="2000" b="1" dirty="0">
                      <a:solidFill>
                        <a:srgbClr val="020001"/>
                      </a:solidFill>
                      <a:latin typeface="+mn-ea"/>
                    </a:endParaRPr>
                  </a:p>
                </p:txBody>
              </p:sp>
            </p:grpSp>
            <p:sp>
              <p:nvSpPr>
                <p:cNvPr id="106" name="Text Box 40"/>
                <p:cNvSpPr txBox="1">
                  <a:spLocks noChangeArrowheads="1"/>
                </p:cNvSpPr>
                <p:nvPr/>
              </p:nvSpPr>
              <p:spPr bwMode="auto">
                <a:xfrm>
                  <a:off x="4032" y="2656"/>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b</a:t>
                  </a:r>
                  <a:endParaRPr lang="en-US" altLang="zh-CN" sz="2000" b="1">
                    <a:solidFill>
                      <a:srgbClr val="020001"/>
                    </a:solidFill>
                    <a:latin typeface="+mn-ea"/>
                  </a:endParaRPr>
                </a:p>
              </p:txBody>
            </p:sp>
            <p:sp>
              <p:nvSpPr>
                <p:cNvPr id="107" name="Text Box 41"/>
                <p:cNvSpPr txBox="1">
                  <a:spLocks noChangeArrowheads="1"/>
                </p:cNvSpPr>
                <p:nvPr/>
              </p:nvSpPr>
              <p:spPr bwMode="auto">
                <a:xfrm>
                  <a:off x="3081" y="265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sp>
              <p:nvSpPr>
                <p:cNvPr id="108" name="Text Box 42"/>
                <p:cNvSpPr txBox="1">
                  <a:spLocks noChangeArrowheads="1"/>
                </p:cNvSpPr>
                <p:nvPr/>
              </p:nvSpPr>
              <p:spPr bwMode="auto">
                <a:xfrm>
                  <a:off x="3552" y="265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grpSp>
        </p:grpSp>
        <p:grpSp>
          <p:nvGrpSpPr>
            <p:cNvPr id="16" name="Group 43"/>
            <p:cNvGrpSpPr/>
            <p:nvPr/>
          </p:nvGrpSpPr>
          <p:grpSpPr bwMode="auto">
            <a:xfrm>
              <a:off x="1082676" y="4276716"/>
              <a:ext cx="4057650" cy="593725"/>
              <a:chOff x="2592" y="3034"/>
              <a:chExt cx="2556" cy="374"/>
            </a:xfrm>
          </p:grpSpPr>
          <p:sp>
            <p:nvSpPr>
              <p:cNvPr id="70" name="Line 44"/>
              <p:cNvSpPr>
                <a:spLocks noChangeShapeType="1"/>
              </p:cNvSpPr>
              <p:nvPr/>
            </p:nvSpPr>
            <p:spPr bwMode="auto">
              <a:xfrm>
                <a:off x="2592" y="3264"/>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71" name="Group 45"/>
              <p:cNvGrpSpPr/>
              <p:nvPr/>
            </p:nvGrpSpPr>
            <p:grpSpPr bwMode="auto">
              <a:xfrm>
                <a:off x="2841" y="3034"/>
                <a:ext cx="2307" cy="374"/>
                <a:chOff x="2841" y="3034"/>
                <a:chExt cx="2307" cy="374"/>
              </a:xfrm>
            </p:grpSpPr>
            <p:grpSp>
              <p:nvGrpSpPr>
                <p:cNvPr id="72" name="Group 46"/>
                <p:cNvGrpSpPr/>
                <p:nvPr/>
              </p:nvGrpSpPr>
              <p:grpSpPr bwMode="auto">
                <a:xfrm>
                  <a:off x="2841" y="3120"/>
                  <a:ext cx="249" cy="261"/>
                  <a:chOff x="2592" y="3819"/>
                  <a:chExt cx="249" cy="261"/>
                </a:xfrm>
              </p:grpSpPr>
              <p:sp>
                <p:nvSpPr>
                  <p:cNvPr id="95" name="Oval 47"/>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96" name="Text Box 48"/>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9</a:t>
                    </a:r>
                    <a:endParaRPr lang="zh-CN" altLang="en-US" sz="2000" b="1">
                      <a:solidFill>
                        <a:srgbClr val="020001"/>
                      </a:solidFill>
                      <a:latin typeface="+mn-ea"/>
                    </a:endParaRPr>
                  </a:p>
                </p:txBody>
              </p:sp>
            </p:grpSp>
            <p:grpSp>
              <p:nvGrpSpPr>
                <p:cNvPr id="73" name="Group 49"/>
                <p:cNvGrpSpPr/>
                <p:nvPr/>
              </p:nvGrpSpPr>
              <p:grpSpPr bwMode="auto">
                <a:xfrm>
                  <a:off x="3303" y="3120"/>
                  <a:ext cx="327" cy="261"/>
                  <a:chOff x="3303" y="3120"/>
                  <a:chExt cx="327" cy="261"/>
                </a:xfrm>
              </p:grpSpPr>
              <p:sp>
                <p:nvSpPr>
                  <p:cNvPr id="93" name="Oval 50"/>
                  <p:cNvSpPr>
                    <a:spLocks noChangeArrowheads="1"/>
                  </p:cNvSpPr>
                  <p:nvPr/>
                </p:nvSpPr>
                <p:spPr bwMode="auto">
                  <a:xfrm>
                    <a:off x="3312" y="3141"/>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94" name="Text Box 51"/>
                  <p:cNvSpPr txBox="1">
                    <a:spLocks noChangeArrowheads="1"/>
                  </p:cNvSpPr>
                  <p:nvPr/>
                </p:nvSpPr>
                <p:spPr bwMode="auto">
                  <a:xfrm>
                    <a:off x="3303" y="3120"/>
                    <a:ext cx="3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10</a:t>
                    </a:r>
                    <a:endParaRPr lang="zh-CN" altLang="en-US" sz="2000" b="1">
                      <a:solidFill>
                        <a:srgbClr val="020001"/>
                      </a:solidFill>
                      <a:latin typeface="+mn-ea"/>
                    </a:endParaRPr>
                  </a:p>
                </p:txBody>
              </p:sp>
            </p:grpSp>
            <p:grpSp>
              <p:nvGrpSpPr>
                <p:cNvPr id="74" name="Group 52"/>
                <p:cNvGrpSpPr/>
                <p:nvPr/>
              </p:nvGrpSpPr>
              <p:grpSpPr bwMode="auto">
                <a:xfrm>
                  <a:off x="3774" y="3120"/>
                  <a:ext cx="336" cy="261"/>
                  <a:chOff x="3774" y="3120"/>
                  <a:chExt cx="336" cy="261"/>
                </a:xfrm>
              </p:grpSpPr>
              <p:sp>
                <p:nvSpPr>
                  <p:cNvPr id="91" name="Oval 53"/>
                  <p:cNvSpPr>
                    <a:spLocks noChangeArrowheads="1"/>
                  </p:cNvSpPr>
                  <p:nvPr/>
                </p:nvSpPr>
                <p:spPr bwMode="auto">
                  <a:xfrm>
                    <a:off x="3783" y="3141"/>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92" name="Text Box 54"/>
                  <p:cNvSpPr txBox="1">
                    <a:spLocks noChangeArrowheads="1"/>
                  </p:cNvSpPr>
                  <p:nvPr/>
                </p:nvSpPr>
                <p:spPr bwMode="auto">
                  <a:xfrm>
                    <a:off x="3774" y="3120"/>
                    <a:ext cx="33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11</a:t>
                    </a:r>
                    <a:endParaRPr lang="zh-CN" altLang="en-US" sz="2000" b="1">
                      <a:solidFill>
                        <a:srgbClr val="020001"/>
                      </a:solidFill>
                      <a:latin typeface="+mn-ea"/>
                    </a:endParaRPr>
                  </a:p>
                </p:txBody>
              </p:sp>
            </p:grpSp>
            <p:grpSp>
              <p:nvGrpSpPr>
                <p:cNvPr id="75" name="Group 55"/>
                <p:cNvGrpSpPr/>
                <p:nvPr/>
              </p:nvGrpSpPr>
              <p:grpSpPr bwMode="auto">
                <a:xfrm>
                  <a:off x="4236" y="3120"/>
                  <a:ext cx="336" cy="261"/>
                  <a:chOff x="4236" y="3120"/>
                  <a:chExt cx="336" cy="261"/>
                </a:xfrm>
              </p:grpSpPr>
              <p:sp>
                <p:nvSpPr>
                  <p:cNvPr id="89" name="Oval 56"/>
                  <p:cNvSpPr>
                    <a:spLocks noChangeArrowheads="1"/>
                  </p:cNvSpPr>
                  <p:nvPr/>
                </p:nvSpPr>
                <p:spPr bwMode="auto">
                  <a:xfrm>
                    <a:off x="4263" y="3141"/>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90" name="Text Box 57"/>
                  <p:cNvSpPr txBox="1">
                    <a:spLocks noChangeArrowheads="1"/>
                  </p:cNvSpPr>
                  <p:nvPr/>
                </p:nvSpPr>
                <p:spPr bwMode="auto">
                  <a:xfrm>
                    <a:off x="4236" y="3120"/>
                    <a:ext cx="33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12</a:t>
                    </a:r>
                    <a:endParaRPr lang="zh-CN" altLang="en-US" sz="2000" b="1">
                      <a:solidFill>
                        <a:srgbClr val="020001"/>
                      </a:solidFill>
                      <a:latin typeface="+mn-ea"/>
                    </a:endParaRPr>
                  </a:p>
                </p:txBody>
              </p:sp>
            </p:grpSp>
            <p:sp>
              <p:nvSpPr>
                <p:cNvPr id="76" name="Line 58"/>
                <p:cNvSpPr>
                  <a:spLocks noChangeShapeType="1"/>
                </p:cNvSpPr>
                <p:nvPr/>
              </p:nvSpPr>
              <p:spPr bwMode="auto">
                <a:xfrm>
                  <a:off x="3081" y="3264"/>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77" name="Line 59"/>
                <p:cNvSpPr>
                  <a:spLocks noChangeShapeType="1"/>
                </p:cNvSpPr>
                <p:nvPr/>
              </p:nvSpPr>
              <p:spPr bwMode="auto">
                <a:xfrm>
                  <a:off x="3552" y="3264"/>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78" name="Line 60"/>
                <p:cNvSpPr>
                  <a:spLocks noChangeShapeType="1"/>
                </p:cNvSpPr>
                <p:nvPr/>
              </p:nvSpPr>
              <p:spPr bwMode="auto">
                <a:xfrm>
                  <a:off x="4032" y="3264"/>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79" name="Line 61"/>
                <p:cNvSpPr>
                  <a:spLocks noChangeShapeType="1"/>
                </p:cNvSpPr>
                <p:nvPr/>
              </p:nvSpPr>
              <p:spPr bwMode="auto">
                <a:xfrm>
                  <a:off x="4512" y="3264"/>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80" name="Group 62"/>
                <p:cNvGrpSpPr/>
                <p:nvPr/>
              </p:nvGrpSpPr>
              <p:grpSpPr bwMode="auto">
                <a:xfrm>
                  <a:off x="4752" y="3072"/>
                  <a:ext cx="396" cy="336"/>
                  <a:chOff x="4752" y="3072"/>
                  <a:chExt cx="396" cy="336"/>
                </a:xfrm>
              </p:grpSpPr>
              <p:grpSp>
                <p:nvGrpSpPr>
                  <p:cNvPr id="85" name="Group 63"/>
                  <p:cNvGrpSpPr/>
                  <p:nvPr/>
                </p:nvGrpSpPr>
                <p:grpSpPr bwMode="auto">
                  <a:xfrm>
                    <a:off x="4752" y="3072"/>
                    <a:ext cx="336" cy="336"/>
                    <a:chOff x="3072" y="3795"/>
                    <a:chExt cx="336" cy="336"/>
                  </a:xfrm>
                </p:grpSpPr>
                <p:sp>
                  <p:nvSpPr>
                    <p:cNvPr id="87" name="Oval 64"/>
                    <p:cNvSpPr>
                      <a:spLocks noChangeArrowheads="1"/>
                    </p:cNvSpPr>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88" name="Oval 65"/>
                    <p:cNvSpPr>
                      <a:spLocks noChangeArrowheads="1"/>
                    </p:cNvSpPr>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grpSp>
              <p:sp>
                <p:nvSpPr>
                  <p:cNvPr id="86" name="Text Box 66"/>
                  <p:cNvSpPr txBox="1">
                    <a:spLocks noChangeArrowheads="1"/>
                  </p:cNvSpPr>
                  <p:nvPr/>
                </p:nvSpPr>
                <p:spPr bwMode="auto">
                  <a:xfrm>
                    <a:off x="4782" y="3099"/>
                    <a:ext cx="36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13</a:t>
                    </a:r>
                    <a:endParaRPr lang="zh-CN" altLang="en-US" sz="2000" b="1">
                      <a:solidFill>
                        <a:srgbClr val="020001"/>
                      </a:solidFill>
                      <a:latin typeface="+mn-ea"/>
                    </a:endParaRPr>
                  </a:p>
                </p:txBody>
              </p:sp>
            </p:grpSp>
            <p:sp>
              <p:nvSpPr>
                <p:cNvPr id="81" name="Text Box 67"/>
                <p:cNvSpPr txBox="1">
                  <a:spLocks noChangeArrowheads="1"/>
                </p:cNvSpPr>
                <p:nvPr/>
              </p:nvSpPr>
              <p:spPr bwMode="auto">
                <a:xfrm>
                  <a:off x="3081" y="3040"/>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sp>
              <p:nvSpPr>
                <p:cNvPr id="82" name="Text Box 68"/>
                <p:cNvSpPr txBox="1">
                  <a:spLocks noChangeArrowheads="1"/>
                </p:cNvSpPr>
                <p:nvPr/>
              </p:nvSpPr>
              <p:spPr bwMode="auto">
                <a:xfrm>
                  <a:off x="3561" y="3034"/>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sp>
              <p:nvSpPr>
                <p:cNvPr id="83" name="Text Box 69"/>
                <p:cNvSpPr txBox="1">
                  <a:spLocks noChangeArrowheads="1"/>
                </p:cNvSpPr>
                <p:nvPr/>
              </p:nvSpPr>
              <p:spPr bwMode="auto">
                <a:xfrm>
                  <a:off x="4032" y="3043"/>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c</a:t>
                  </a:r>
                  <a:endParaRPr lang="en-US" altLang="zh-CN" sz="2000" b="1">
                    <a:solidFill>
                      <a:srgbClr val="020001"/>
                    </a:solidFill>
                    <a:latin typeface="+mn-ea"/>
                  </a:endParaRPr>
                </a:p>
              </p:txBody>
            </p:sp>
            <p:sp>
              <p:nvSpPr>
                <p:cNvPr id="84" name="Text Box 70"/>
                <p:cNvSpPr txBox="1">
                  <a:spLocks noChangeArrowheads="1"/>
                </p:cNvSpPr>
                <p:nvPr/>
              </p:nvSpPr>
              <p:spPr bwMode="auto">
                <a:xfrm>
                  <a:off x="4512" y="3054"/>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d</a:t>
                  </a:r>
                  <a:endParaRPr lang="en-US" altLang="zh-CN" sz="2000" b="1">
                    <a:solidFill>
                      <a:srgbClr val="020001"/>
                    </a:solidFill>
                    <a:latin typeface="+mn-ea"/>
                  </a:endParaRPr>
                </a:p>
              </p:txBody>
            </p:sp>
          </p:grpSp>
        </p:grpSp>
        <p:grpSp>
          <p:nvGrpSpPr>
            <p:cNvPr id="17" name="Group 71"/>
            <p:cNvGrpSpPr/>
            <p:nvPr/>
          </p:nvGrpSpPr>
          <p:grpSpPr bwMode="auto">
            <a:xfrm>
              <a:off x="1082676" y="4867266"/>
              <a:ext cx="4833938" cy="612775"/>
              <a:chOff x="2592" y="3406"/>
              <a:chExt cx="3045" cy="386"/>
            </a:xfrm>
          </p:grpSpPr>
          <p:sp>
            <p:nvSpPr>
              <p:cNvPr id="33" name="Line 72"/>
              <p:cNvSpPr>
                <a:spLocks noChangeShapeType="1"/>
              </p:cNvSpPr>
              <p:nvPr/>
            </p:nvSpPr>
            <p:spPr bwMode="auto">
              <a:xfrm>
                <a:off x="2592"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34" name="Group 73"/>
              <p:cNvGrpSpPr/>
              <p:nvPr/>
            </p:nvGrpSpPr>
            <p:grpSpPr bwMode="auto">
              <a:xfrm>
                <a:off x="2832" y="3406"/>
                <a:ext cx="2805" cy="386"/>
                <a:chOff x="2832" y="3406"/>
                <a:chExt cx="2805" cy="386"/>
              </a:xfrm>
            </p:grpSpPr>
            <p:grpSp>
              <p:nvGrpSpPr>
                <p:cNvPr id="35" name="Group 74"/>
                <p:cNvGrpSpPr/>
                <p:nvPr/>
              </p:nvGrpSpPr>
              <p:grpSpPr bwMode="auto">
                <a:xfrm>
                  <a:off x="2832" y="3504"/>
                  <a:ext cx="318" cy="261"/>
                  <a:chOff x="2832" y="3504"/>
                  <a:chExt cx="318" cy="261"/>
                </a:xfrm>
              </p:grpSpPr>
              <p:sp>
                <p:nvSpPr>
                  <p:cNvPr id="68" name="Oval 75"/>
                  <p:cNvSpPr>
                    <a:spLocks noChangeArrowheads="1"/>
                  </p:cNvSpPr>
                  <p:nvPr/>
                </p:nvSpPr>
                <p:spPr bwMode="auto">
                  <a:xfrm>
                    <a:off x="2841" y="3525"/>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69" name="Text Box 76"/>
                  <p:cNvSpPr txBox="1">
                    <a:spLocks noChangeArrowheads="1"/>
                  </p:cNvSpPr>
                  <p:nvPr/>
                </p:nvSpPr>
                <p:spPr bwMode="auto">
                  <a:xfrm>
                    <a:off x="2832" y="3504"/>
                    <a:ext cx="31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14</a:t>
                    </a:r>
                    <a:endParaRPr lang="zh-CN" altLang="en-US" sz="2000" b="1">
                      <a:solidFill>
                        <a:srgbClr val="020001"/>
                      </a:solidFill>
                      <a:latin typeface="+mn-ea"/>
                    </a:endParaRPr>
                  </a:p>
                </p:txBody>
              </p:sp>
            </p:grpSp>
            <p:grpSp>
              <p:nvGrpSpPr>
                <p:cNvPr id="36" name="Group 77"/>
                <p:cNvGrpSpPr/>
                <p:nvPr/>
              </p:nvGrpSpPr>
              <p:grpSpPr bwMode="auto">
                <a:xfrm>
                  <a:off x="3303" y="3504"/>
                  <a:ext cx="327" cy="261"/>
                  <a:chOff x="3303" y="3504"/>
                  <a:chExt cx="327" cy="261"/>
                </a:xfrm>
              </p:grpSpPr>
              <p:sp>
                <p:nvSpPr>
                  <p:cNvPr id="66" name="Oval 78"/>
                  <p:cNvSpPr>
                    <a:spLocks noChangeArrowheads="1"/>
                  </p:cNvSpPr>
                  <p:nvPr/>
                </p:nvSpPr>
                <p:spPr bwMode="auto">
                  <a:xfrm>
                    <a:off x="3312" y="3525"/>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67" name="Text Box 79"/>
                  <p:cNvSpPr txBox="1">
                    <a:spLocks noChangeArrowheads="1"/>
                  </p:cNvSpPr>
                  <p:nvPr/>
                </p:nvSpPr>
                <p:spPr bwMode="auto">
                  <a:xfrm>
                    <a:off x="3303" y="3504"/>
                    <a:ext cx="3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a:t>
                    </a:r>
                    <a:r>
                      <a:rPr lang="en-US" altLang="zh-CN" sz="2000" b="1">
                        <a:solidFill>
                          <a:srgbClr val="020001"/>
                        </a:solidFill>
                        <a:latin typeface="+mn-ea"/>
                      </a:rPr>
                      <a:t>4</a:t>
                    </a:r>
                    <a:endParaRPr lang="zh-CN" altLang="en-US" sz="2000" b="1">
                      <a:solidFill>
                        <a:srgbClr val="020001"/>
                      </a:solidFill>
                      <a:latin typeface="+mn-ea"/>
                    </a:endParaRPr>
                  </a:p>
                </p:txBody>
              </p:sp>
            </p:grpSp>
            <p:grpSp>
              <p:nvGrpSpPr>
                <p:cNvPr id="37" name="Group 80"/>
                <p:cNvGrpSpPr/>
                <p:nvPr/>
              </p:nvGrpSpPr>
              <p:grpSpPr bwMode="auto">
                <a:xfrm>
                  <a:off x="3762" y="3504"/>
                  <a:ext cx="327" cy="261"/>
                  <a:chOff x="3762" y="3504"/>
                  <a:chExt cx="327" cy="261"/>
                </a:xfrm>
              </p:grpSpPr>
              <p:sp>
                <p:nvSpPr>
                  <p:cNvPr id="64" name="Oval 81"/>
                  <p:cNvSpPr>
                    <a:spLocks noChangeArrowheads="1"/>
                  </p:cNvSpPr>
                  <p:nvPr/>
                </p:nvSpPr>
                <p:spPr bwMode="auto">
                  <a:xfrm>
                    <a:off x="3792" y="3525"/>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65" name="Text Box 82"/>
                  <p:cNvSpPr txBox="1">
                    <a:spLocks noChangeArrowheads="1"/>
                  </p:cNvSpPr>
                  <p:nvPr/>
                </p:nvSpPr>
                <p:spPr bwMode="auto">
                  <a:xfrm>
                    <a:off x="3762" y="3504"/>
                    <a:ext cx="3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16</a:t>
                    </a:r>
                    <a:endParaRPr lang="zh-CN" altLang="en-US" sz="2000" b="1">
                      <a:solidFill>
                        <a:srgbClr val="020001"/>
                      </a:solidFill>
                      <a:latin typeface="+mn-ea"/>
                    </a:endParaRPr>
                  </a:p>
                </p:txBody>
              </p:sp>
            </p:grpSp>
            <p:grpSp>
              <p:nvGrpSpPr>
                <p:cNvPr id="38" name="Group 83"/>
                <p:cNvGrpSpPr/>
                <p:nvPr/>
              </p:nvGrpSpPr>
              <p:grpSpPr bwMode="auto">
                <a:xfrm>
                  <a:off x="4245" y="3504"/>
                  <a:ext cx="327" cy="261"/>
                  <a:chOff x="4245" y="3504"/>
                  <a:chExt cx="327" cy="261"/>
                </a:xfrm>
              </p:grpSpPr>
              <p:sp>
                <p:nvSpPr>
                  <p:cNvPr id="62" name="Oval 84"/>
                  <p:cNvSpPr>
                    <a:spLocks noChangeArrowheads="1"/>
                  </p:cNvSpPr>
                  <p:nvPr/>
                </p:nvSpPr>
                <p:spPr bwMode="auto">
                  <a:xfrm>
                    <a:off x="4272" y="3525"/>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63" name="Text Box 85"/>
                  <p:cNvSpPr txBox="1">
                    <a:spLocks noChangeArrowheads="1"/>
                  </p:cNvSpPr>
                  <p:nvPr/>
                </p:nvSpPr>
                <p:spPr bwMode="auto">
                  <a:xfrm>
                    <a:off x="4245" y="3504"/>
                    <a:ext cx="3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17</a:t>
                    </a:r>
                    <a:endParaRPr lang="zh-CN" altLang="en-US" sz="2000" b="1">
                      <a:solidFill>
                        <a:srgbClr val="020001"/>
                      </a:solidFill>
                      <a:latin typeface="+mn-ea"/>
                    </a:endParaRPr>
                  </a:p>
                </p:txBody>
              </p:sp>
            </p:grpSp>
            <p:grpSp>
              <p:nvGrpSpPr>
                <p:cNvPr id="39" name="Group 86"/>
                <p:cNvGrpSpPr/>
                <p:nvPr/>
              </p:nvGrpSpPr>
              <p:grpSpPr bwMode="auto">
                <a:xfrm>
                  <a:off x="4734" y="3504"/>
                  <a:ext cx="327" cy="261"/>
                  <a:chOff x="4734" y="3504"/>
                  <a:chExt cx="327" cy="261"/>
                </a:xfrm>
              </p:grpSpPr>
              <p:sp>
                <p:nvSpPr>
                  <p:cNvPr id="60" name="Oval 87"/>
                  <p:cNvSpPr>
                    <a:spLocks noChangeArrowheads="1"/>
                  </p:cNvSpPr>
                  <p:nvPr/>
                </p:nvSpPr>
                <p:spPr bwMode="auto">
                  <a:xfrm>
                    <a:off x="4752" y="3525"/>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61" name="Text Box 88"/>
                  <p:cNvSpPr txBox="1">
                    <a:spLocks noChangeArrowheads="1"/>
                  </p:cNvSpPr>
                  <p:nvPr/>
                </p:nvSpPr>
                <p:spPr bwMode="auto">
                  <a:xfrm>
                    <a:off x="4734" y="3504"/>
                    <a:ext cx="3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18</a:t>
                    </a:r>
                    <a:endParaRPr lang="zh-CN" altLang="en-US" sz="2000" b="1">
                      <a:solidFill>
                        <a:srgbClr val="020001"/>
                      </a:solidFill>
                      <a:latin typeface="+mn-ea"/>
                    </a:endParaRPr>
                  </a:p>
                </p:txBody>
              </p:sp>
            </p:grpSp>
            <p:grpSp>
              <p:nvGrpSpPr>
                <p:cNvPr id="40" name="Group 89"/>
                <p:cNvGrpSpPr/>
                <p:nvPr/>
              </p:nvGrpSpPr>
              <p:grpSpPr bwMode="auto">
                <a:xfrm>
                  <a:off x="5223" y="3456"/>
                  <a:ext cx="414" cy="336"/>
                  <a:chOff x="5223" y="3456"/>
                  <a:chExt cx="414" cy="336"/>
                </a:xfrm>
              </p:grpSpPr>
              <p:grpSp>
                <p:nvGrpSpPr>
                  <p:cNvPr id="56" name="Group 90"/>
                  <p:cNvGrpSpPr/>
                  <p:nvPr/>
                </p:nvGrpSpPr>
                <p:grpSpPr bwMode="auto">
                  <a:xfrm>
                    <a:off x="5223" y="3456"/>
                    <a:ext cx="336" cy="336"/>
                    <a:chOff x="3072" y="3795"/>
                    <a:chExt cx="336" cy="336"/>
                  </a:xfrm>
                </p:grpSpPr>
                <p:sp>
                  <p:nvSpPr>
                    <p:cNvPr id="58" name="Oval 91"/>
                    <p:cNvSpPr>
                      <a:spLocks noChangeArrowheads="1"/>
                    </p:cNvSpPr>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59" name="Oval 92"/>
                    <p:cNvSpPr>
                      <a:spLocks noChangeArrowheads="1"/>
                    </p:cNvSpPr>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grpSp>
              <p:sp>
                <p:nvSpPr>
                  <p:cNvPr id="57" name="Text Box 93"/>
                  <p:cNvSpPr txBox="1">
                    <a:spLocks noChangeArrowheads="1"/>
                  </p:cNvSpPr>
                  <p:nvPr/>
                </p:nvSpPr>
                <p:spPr bwMode="auto">
                  <a:xfrm>
                    <a:off x="5262" y="3492"/>
                    <a:ext cx="3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19</a:t>
                    </a:r>
                    <a:endParaRPr lang="zh-CN" altLang="en-US" sz="2000" b="1">
                      <a:solidFill>
                        <a:srgbClr val="020001"/>
                      </a:solidFill>
                      <a:latin typeface="+mn-ea"/>
                    </a:endParaRPr>
                  </a:p>
                </p:txBody>
              </p:sp>
            </p:grpSp>
            <p:grpSp>
              <p:nvGrpSpPr>
                <p:cNvPr id="41" name="Group 94"/>
                <p:cNvGrpSpPr/>
                <p:nvPr/>
              </p:nvGrpSpPr>
              <p:grpSpPr bwMode="auto">
                <a:xfrm>
                  <a:off x="3081" y="3418"/>
                  <a:ext cx="300" cy="251"/>
                  <a:chOff x="3081" y="3418"/>
                  <a:chExt cx="300" cy="251"/>
                </a:xfrm>
              </p:grpSpPr>
              <p:sp>
                <p:nvSpPr>
                  <p:cNvPr id="54" name="Line 95"/>
                  <p:cNvSpPr>
                    <a:spLocks noChangeShapeType="1"/>
                  </p:cNvSpPr>
                  <p:nvPr/>
                </p:nvSpPr>
                <p:spPr bwMode="auto">
                  <a:xfrm>
                    <a:off x="3081"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55" name="Text Box 96"/>
                  <p:cNvSpPr txBox="1">
                    <a:spLocks noChangeArrowheads="1"/>
                  </p:cNvSpPr>
                  <p:nvPr/>
                </p:nvSpPr>
                <p:spPr bwMode="auto">
                  <a:xfrm>
                    <a:off x="3093" y="341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grpSp>
            <p:grpSp>
              <p:nvGrpSpPr>
                <p:cNvPr id="42" name="Group 97"/>
                <p:cNvGrpSpPr/>
                <p:nvPr/>
              </p:nvGrpSpPr>
              <p:grpSpPr bwMode="auto">
                <a:xfrm>
                  <a:off x="3561" y="3406"/>
                  <a:ext cx="297" cy="251"/>
                  <a:chOff x="3561" y="3406"/>
                  <a:chExt cx="297" cy="251"/>
                </a:xfrm>
              </p:grpSpPr>
              <p:sp>
                <p:nvSpPr>
                  <p:cNvPr id="52" name="Line 98"/>
                  <p:cNvSpPr>
                    <a:spLocks noChangeShapeType="1"/>
                  </p:cNvSpPr>
                  <p:nvPr/>
                </p:nvSpPr>
                <p:spPr bwMode="auto">
                  <a:xfrm>
                    <a:off x="3561"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53" name="Text Box 99"/>
                  <p:cNvSpPr txBox="1">
                    <a:spLocks noChangeArrowheads="1"/>
                  </p:cNvSpPr>
                  <p:nvPr/>
                </p:nvSpPr>
                <p:spPr bwMode="auto">
                  <a:xfrm>
                    <a:off x="3570" y="3406"/>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A</a:t>
                    </a:r>
                    <a:endParaRPr lang="en-US" altLang="zh-CN" sz="2000" b="1">
                      <a:solidFill>
                        <a:srgbClr val="020001"/>
                      </a:solidFill>
                      <a:latin typeface="+mn-ea"/>
                    </a:endParaRPr>
                  </a:p>
                </p:txBody>
              </p:sp>
            </p:grpSp>
            <p:grpSp>
              <p:nvGrpSpPr>
                <p:cNvPr id="43" name="Group 100"/>
                <p:cNvGrpSpPr/>
                <p:nvPr/>
              </p:nvGrpSpPr>
              <p:grpSpPr bwMode="auto">
                <a:xfrm>
                  <a:off x="4032" y="3409"/>
                  <a:ext cx="306" cy="251"/>
                  <a:chOff x="4032" y="3409"/>
                  <a:chExt cx="306" cy="251"/>
                </a:xfrm>
              </p:grpSpPr>
              <p:sp>
                <p:nvSpPr>
                  <p:cNvPr id="50" name="Line 101"/>
                  <p:cNvSpPr>
                    <a:spLocks noChangeShapeType="1"/>
                  </p:cNvSpPr>
                  <p:nvPr/>
                </p:nvSpPr>
                <p:spPr bwMode="auto">
                  <a:xfrm>
                    <a:off x="4032"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51" name="Text Box 102"/>
                  <p:cNvSpPr txBox="1">
                    <a:spLocks noChangeArrowheads="1"/>
                  </p:cNvSpPr>
                  <p:nvPr/>
                </p:nvSpPr>
                <p:spPr bwMode="auto">
                  <a:xfrm>
                    <a:off x="4050" y="3409"/>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c</a:t>
                    </a:r>
                    <a:endParaRPr lang="en-US" altLang="zh-CN" sz="2000" b="1">
                      <a:solidFill>
                        <a:srgbClr val="020001"/>
                      </a:solidFill>
                      <a:latin typeface="+mn-ea"/>
                    </a:endParaRPr>
                  </a:p>
                </p:txBody>
              </p:sp>
            </p:grpSp>
            <p:grpSp>
              <p:nvGrpSpPr>
                <p:cNvPr id="44" name="Group 103"/>
                <p:cNvGrpSpPr/>
                <p:nvPr/>
              </p:nvGrpSpPr>
              <p:grpSpPr bwMode="auto">
                <a:xfrm>
                  <a:off x="4512" y="3427"/>
                  <a:ext cx="288" cy="251"/>
                  <a:chOff x="4512" y="3427"/>
                  <a:chExt cx="288" cy="251"/>
                </a:xfrm>
              </p:grpSpPr>
              <p:sp>
                <p:nvSpPr>
                  <p:cNvPr id="48" name="Line 104"/>
                  <p:cNvSpPr>
                    <a:spLocks noChangeShapeType="1"/>
                  </p:cNvSpPr>
                  <p:nvPr/>
                </p:nvSpPr>
                <p:spPr bwMode="auto">
                  <a:xfrm>
                    <a:off x="4512"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49" name="Text Box 105"/>
                  <p:cNvSpPr txBox="1">
                    <a:spLocks noChangeArrowheads="1"/>
                  </p:cNvSpPr>
                  <p:nvPr/>
                </p:nvSpPr>
                <p:spPr bwMode="auto">
                  <a:xfrm>
                    <a:off x="4512" y="3427"/>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B</a:t>
                    </a:r>
                    <a:endParaRPr lang="en-US" altLang="zh-CN" sz="2000" b="1">
                      <a:solidFill>
                        <a:srgbClr val="020001"/>
                      </a:solidFill>
                      <a:latin typeface="+mn-ea"/>
                    </a:endParaRPr>
                  </a:p>
                </p:txBody>
              </p:sp>
            </p:grpSp>
            <p:grpSp>
              <p:nvGrpSpPr>
                <p:cNvPr id="45" name="Group 106"/>
                <p:cNvGrpSpPr/>
                <p:nvPr/>
              </p:nvGrpSpPr>
              <p:grpSpPr bwMode="auto">
                <a:xfrm>
                  <a:off x="4992" y="3427"/>
                  <a:ext cx="288" cy="251"/>
                  <a:chOff x="4992" y="3427"/>
                  <a:chExt cx="288" cy="251"/>
                </a:xfrm>
              </p:grpSpPr>
              <p:sp>
                <p:nvSpPr>
                  <p:cNvPr id="46" name="Line 107"/>
                  <p:cNvSpPr>
                    <a:spLocks noChangeShapeType="1"/>
                  </p:cNvSpPr>
                  <p:nvPr/>
                </p:nvSpPr>
                <p:spPr bwMode="auto">
                  <a:xfrm>
                    <a:off x="4992" y="3648"/>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sp>
                <p:nvSpPr>
                  <p:cNvPr id="47" name="Text Box 108"/>
                  <p:cNvSpPr txBox="1">
                    <a:spLocks noChangeArrowheads="1"/>
                  </p:cNvSpPr>
                  <p:nvPr/>
                </p:nvSpPr>
                <p:spPr bwMode="auto">
                  <a:xfrm>
                    <a:off x="4992" y="3427"/>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e</a:t>
                    </a:r>
                    <a:endParaRPr lang="en-US" altLang="zh-CN" sz="2000" b="1">
                      <a:solidFill>
                        <a:srgbClr val="020001"/>
                      </a:solidFill>
                      <a:latin typeface="+mn-ea"/>
                    </a:endParaRPr>
                  </a:p>
                </p:txBody>
              </p:sp>
            </p:grpSp>
          </p:grpSp>
        </p:grpSp>
        <p:grpSp>
          <p:nvGrpSpPr>
            <p:cNvPr id="18" name="Group 110"/>
            <p:cNvGrpSpPr/>
            <p:nvPr/>
          </p:nvGrpSpPr>
          <p:grpSpPr bwMode="auto">
            <a:xfrm>
              <a:off x="1082676" y="2355841"/>
              <a:ext cx="1905000" cy="685800"/>
              <a:chOff x="2592" y="1824"/>
              <a:chExt cx="1200" cy="432"/>
            </a:xfrm>
          </p:grpSpPr>
          <p:grpSp>
            <p:nvGrpSpPr>
              <p:cNvPr id="19" name="Group 111"/>
              <p:cNvGrpSpPr/>
              <p:nvPr/>
            </p:nvGrpSpPr>
            <p:grpSpPr bwMode="auto">
              <a:xfrm>
                <a:off x="2592" y="1902"/>
                <a:ext cx="1056" cy="354"/>
                <a:chOff x="2592" y="1902"/>
                <a:chExt cx="1056" cy="354"/>
              </a:xfrm>
            </p:grpSpPr>
            <p:sp>
              <p:nvSpPr>
                <p:cNvPr id="21" name="Line 112"/>
                <p:cNvSpPr>
                  <a:spLocks noChangeShapeType="1"/>
                </p:cNvSpPr>
                <p:nvPr/>
              </p:nvSpPr>
              <p:spPr bwMode="auto">
                <a:xfrm>
                  <a:off x="2592" y="2112"/>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22" name="Group 113"/>
                <p:cNvGrpSpPr/>
                <p:nvPr/>
              </p:nvGrpSpPr>
              <p:grpSpPr bwMode="auto">
                <a:xfrm>
                  <a:off x="2832" y="1902"/>
                  <a:ext cx="816" cy="354"/>
                  <a:chOff x="2832" y="1902"/>
                  <a:chExt cx="816" cy="354"/>
                </a:xfrm>
              </p:grpSpPr>
              <p:grpSp>
                <p:nvGrpSpPr>
                  <p:cNvPr id="23" name="Group 114"/>
                  <p:cNvGrpSpPr/>
                  <p:nvPr/>
                </p:nvGrpSpPr>
                <p:grpSpPr bwMode="auto">
                  <a:xfrm>
                    <a:off x="2832" y="1968"/>
                    <a:ext cx="249" cy="261"/>
                    <a:chOff x="2592" y="3819"/>
                    <a:chExt cx="249" cy="261"/>
                  </a:xfrm>
                </p:grpSpPr>
                <p:sp>
                  <p:nvSpPr>
                    <p:cNvPr id="31" name="Oval 115"/>
                    <p:cNvSpPr>
                      <a:spLocks noChangeArrowheads="1"/>
                    </p:cNvSpPr>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32" name="Text Box 116"/>
                    <p:cNvSpPr txBox="1">
                      <a:spLocks noChangeArrowheads="1"/>
                    </p:cNvSpPr>
                    <p:nvPr/>
                  </p:nvSpPr>
                  <p:spPr bwMode="auto">
                    <a:xfrm>
                      <a:off x="2601" y="3819"/>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0</a:t>
                      </a:r>
                      <a:endParaRPr lang="zh-CN" altLang="en-US" sz="2000" b="1">
                        <a:solidFill>
                          <a:srgbClr val="020001"/>
                        </a:solidFill>
                        <a:latin typeface="+mn-ea"/>
                      </a:endParaRPr>
                    </a:p>
                  </p:txBody>
                </p:sp>
              </p:grpSp>
              <p:sp>
                <p:nvSpPr>
                  <p:cNvPr id="24" name="Line 117"/>
                  <p:cNvSpPr>
                    <a:spLocks noChangeShapeType="1"/>
                  </p:cNvSpPr>
                  <p:nvPr/>
                </p:nvSpPr>
                <p:spPr bwMode="auto">
                  <a:xfrm>
                    <a:off x="3072" y="2112"/>
                    <a:ext cx="240"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1600" b="1">
                      <a:latin typeface="+mn-ea"/>
                    </a:endParaRPr>
                  </a:p>
                </p:txBody>
              </p:sp>
              <p:grpSp>
                <p:nvGrpSpPr>
                  <p:cNvPr id="25" name="Group 118"/>
                  <p:cNvGrpSpPr/>
                  <p:nvPr/>
                </p:nvGrpSpPr>
                <p:grpSpPr bwMode="auto">
                  <a:xfrm>
                    <a:off x="3312" y="1920"/>
                    <a:ext cx="336" cy="336"/>
                    <a:chOff x="3312" y="1920"/>
                    <a:chExt cx="336" cy="336"/>
                  </a:xfrm>
                </p:grpSpPr>
                <p:grpSp>
                  <p:nvGrpSpPr>
                    <p:cNvPr id="27" name="Group 119"/>
                    <p:cNvGrpSpPr/>
                    <p:nvPr/>
                  </p:nvGrpSpPr>
                  <p:grpSpPr bwMode="auto">
                    <a:xfrm>
                      <a:off x="3312" y="1920"/>
                      <a:ext cx="336" cy="336"/>
                      <a:chOff x="3072" y="3795"/>
                      <a:chExt cx="336" cy="336"/>
                    </a:xfrm>
                  </p:grpSpPr>
                  <p:sp>
                    <p:nvSpPr>
                      <p:cNvPr id="29" name="Oval 120"/>
                      <p:cNvSpPr>
                        <a:spLocks noChangeArrowheads="1"/>
                      </p:cNvSpPr>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sp>
                    <p:nvSpPr>
                      <p:cNvPr id="30" name="Oval 121"/>
                      <p:cNvSpPr>
                        <a:spLocks noChangeArrowheads="1"/>
                      </p:cNvSpPr>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1600" b="1">
                          <a:latin typeface="+mn-ea"/>
                        </a:endParaRPr>
                      </a:p>
                    </p:txBody>
                  </p:sp>
                </p:grpSp>
                <p:sp>
                  <p:nvSpPr>
                    <p:cNvPr id="28" name="Text Box 122"/>
                    <p:cNvSpPr txBox="1">
                      <a:spLocks noChangeArrowheads="1"/>
                    </p:cNvSpPr>
                    <p:nvPr/>
                  </p:nvSpPr>
                  <p:spPr bwMode="auto">
                    <a:xfrm>
                      <a:off x="3369" y="1950"/>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1</a:t>
                      </a:r>
                      <a:endParaRPr lang="zh-CN" altLang="en-US" sz="2000" b="1">
                        <a:solidFill>
                          <a:srgbClr val="020001"/>
                        </a:solidFill>
                        <a:latin typeface="+mn-ea"/>
                      </a:endParaRPr>
                    </a:p>
                  </p:txBody>
                </p:sp>
              </p:grpSp>
              <p:sp>
                <p:nvSpPr>
                  <p:cNvPr id="26" name="Text Box 123"/>
                  <p:cNvSpPr txBox="1">
                    <a:spLocks noChangeArrowheads="1"/>
                  </p:cNvSpPr>
                  <p:nvPr/>
                </p:nvSpPr>
                <p:spPr bwMode="auto">
                  <a:xfrm>
                    <a:off x="3072" y="1902"/>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20001"/>
                        </a:solidFill>
                        <a:latin typeface="+mn-ea"/>
                      </a:rPr>
                      <a:t>S</a:t>
                    </a:r>
                    <a:endParaRPr lang="en-US" altLang="zh-CN" sz="2000" b="1">
                      <a:solidFill>
                        <a:srgbClr val="020001"/>
                      </a:solidFill>
                      <a:latin typeface="+mn-ea"/>
                    </a:endParaRPr>
                  </a:p>
                </p:txBody>
              </p:sp>
            </p:grpSp>
          </p:grpSp>
          <p:sp>
            <p:nvSpPr>
              <p:cNvPr id="20" name="Text Box 124"/>
              <p:cNvSpPr txBox="1">
                <a:spLocks noChangeArrowheads="1"/>
              </p:cNvSpPr>
              <p:nvPr/>
            </p:nvSpPr>
            <p:spPr bwMode="auto">
              <a:xfrm>
                <a:off x="3600" y="1824"/>
                <a:ext cx="19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020001"/>
                    </a:solidFill>
                    <a:latin typeface="+mn-ea"/>
                  </a:rPr>
                  <a:t>*</a:t>
                </a:r>
                <a:endParaRPr lang="zh-CN" altLang="en-US" sz="2000" b="1">
                  <a:solidFill>
                    <a:srgbClr val="020001"/>
                  </a:solidFill>
                  <a:latin typeface="+mn-ea"/>
                </a:endParaRPr>
              </a:p>
            </p:txBody>
          </p:sp>
        </p:grpSp>
      </p:grpSp>
      <p:sp useBgFill="1">
        <p:nvSpPr>
          <p:cNvPr id="136" name="AutoShape 125"/>
          <p:cNvSpPr>
            <a:spLocks noChangeArrowheads="1"/>
          </p:cNvSpPr>
          <p:nvPr/>
        </p:nvSpPr>
        <p:spPr bwMode="auto">
          <a:xfrm>
            <a:off x="4341906" y="2509044"/>
            <a:ext cx="3886200" cy="1524000"/>
          </a:xfrm>
          <a:prstGeom prst="wedgeRoundRectCallout">
            <a:avLst>
              <a:gd name="adj1" fmla="val -97509"/>
              <a:gd name="adj2" fmla="val 7083"/>
              <a:gd name="adj3" fmla="val 16667"/>
            </a:avLst>
          </a:prstGeom>
          <a:ln w="9525">
            <a:solidFill>
              <a:schemeClr val="tx1"/>
            </a:solidFill>
            <a:miter lim="800000"/>
          </a:ln>
        </p:spPr>
        <p:txBody>
          <a:bodyPr/>
          <a:lstStyle/>
          <a:p>
            <a:r>
              <a:rPr lang="zh-CN" altLang="en-US" sz="2800" b="1" dirty="0">
                <a:solidFill>
                  <a:srgbClr val="020001"/>
                </a:solidFill>
                <a:latin typeface="+mn-ea"/>
              </a:rPr>
              <a:t>终结符和非终结符都看成是有限自动机的输入符号。</a:t>
            </a:r>
            <a:endParaRPr lang="zh-CN" altLang="en-US" sz="28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useBgFill="1">
        <p:nvSpPr>
          <p:cNvPr id="262" name="AutoShape 128"/>
          <p:cNvSpPr>
            <a:spLocks noChangeArrowheads="1"/>
          </p:cNvSpPr>
          <p:nvPr/>
        </p:nvSpPr>
        <p:spPr bwMode="auto">
          <a:xfrm>
            <a:off x="8610600" y="2879090"/>
            <a:ext cx="3149600" cy="1918335"/>
          </a:xfrm>
          <a:prstGeom prst="wedgeRoundRectCallout">
            <a:avLst>
              <a:gd name="adj1" fmla="val -198891"/>
              <a:gd name="adj2" fmla="val 17342"/>
              <a:gd name="adj3" fmla="val 16667"/>
            </a:avLst>
          </a:prstGeom>
          <a:ln w="9525">
            <a:solidFill>
              <a:schemeClr val="tx1"/>
            </a:solidFill>
            <a:miter lim="800000"/>
          </a:ln>
        </p:spPr>
        <p:txBody>
          <a:bodyPr/>
          <a:p>
            <a:r>
              <a:rPr lang="zh-CN" altLang="en-US" sz="2800" b="1" dirty="0">
                <a:solidFill>
                  <a:srgbClr val="0070C0"/>
                </a:solidFill>
              </a:rPr>
              <a:t>从初态到任一终态形成的符号串构成了文法的可归前缀</a:t>
            </a:r>
            <a:endParaRPr lang="zh-CN" altLang="en-US" sz="28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barn(inHorizontal)">
                                      <p:cBhvr>
                                        <p:cTn id="7" dur="500"/>
                                        <p:tgtEl>
                                          <p:spTgt spid="1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36" grpId="0" bldLvl="0" animBg="1"/>
      <p:bldP spid="262" grpId="0" animBg="1"/>
      <p:bldP spid="26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85445" y="276860"/>
            <a:ext cx="7467600" cy="593090"/>
          </a:xfrm>
        </p:spPr>
        <p:txBody>
          <a:bodyPr/>
          <a:lstStyle/>
          <a:p>
            <a:r>
              <a:rPr lang="en-US" altLang="zh-CN" sz="3200" dirty="0"/>
              <a:t>3.</a:t>
            </a:r>
            <a:r>
              <a:rPr lang="zh-CN" altLang="en-US" sz="3200" dirty="0"/>
              <a:t>分析表的构造</a:t>
            </a:r>
            <a:endParaRPr lang="en-US" altLang="zh-CN" sz="3200" dirty="0"/>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09" name="Group 2"/>
          <p:cNvGrpSpPr/>
          <p:nvPr/>
        </p:nvGrpSpPr>
        <p:grpSpPr bwMode="auto">
          <a:xfrm>
            <a:off x="385966" y="1331397"/>
            <a:ext cx="6080125" cy="3181688"/>
            <a:chOff x="634" y="527"/>
            <a:chExt cx="3830" cy="2004"/>
          </a:xfrm>
        </p:grpSpPr>
        <p:grpSp>
          <p:nvGrpSpPr>
            <p:cNvPr id="310" name="Group 3"/>
            <p:cNvGrpSpPr/>
            <p:nvPr/>
          </p:nvGrpSpPr>
          <p:grpSpPr bwMode="auto">
            <a:xfrm>
              <a:off x="1611" y="1613"/>
              <a:ext cx="317" cy="368"/>
              <a:chOff x="2592" y="3819"/>
              <a:chExt cx="249" cy="266"/>
            </a:xfrm>
          </p:grpSpPr>
          <p:sp>
            <p:nvSpPr>
              <p:cNvPr id="360" name="Oval 4"/>
              <p:cNvSpPr>
                <a:spLocks noChangeArrowheads="1"/>
              </p:cNvSpPr>
              <p:nvPr>
                <p:custDataLst>
                  <p:tags r:id="rId1"/>
                </p:custDataLst>
              </p:nvPr>
            </p:nvSpPr>
            <p:spPr bwMode="auto">
              <a:xfrm>
                <a:off x="2592"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61" name="Text Box 5"/>
              <p:cNvSpPr txBox="1">
                <a:spLocks noChangeArrowheads="1"/>
              </p:cNvSpPr>
              <p:nvPr>
                <p:custDataLst>
                  <p:tags r:id="rId2"/>
                </p:custDataLst>
              </p:nvPr>
            </p:nvSpPr>
            <p:spPr bwMode="auto">
              <a:xfrm>
                <a:off x="2601" y="3819"/>
                <a:ext cx="240"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2</a:t>
                </a:r>
                <a:endParaRPr lang="en-US" altLang="zh-CN" sz="3200" b="1">
                  <a:solidFill>
                    <a:srgbClr val="020001"/>
                  </a:solidFill>
                  <a:latin typeface="+mn-ea"/>
                </a:endParaRPr>
              </a:p>
            </p:txBody>
          </p:sp>
        </p:grpSp>
        <p:grpSp>
          <p:nvGrpSpPr>
            <p:cNvPr id="311" name="Group 6"/>
            <p:cNvGrpSpPr/>
            <p:nvPr/>
          </p:nvGrpSpPr>
          <p:grpSpPr bwMode="auto">
            <a:xfrm>
              <a:off x="2114" y="2144"/>
              <a:ext cx="404" cy="387"/>
              <a:chOff x="3792" y="2304"/>
              <a:chExt cx="336" cy="350"/>
            </a:xfrm>
          </p:grpSpPr>
          <p:grpSp>
            <p:nvGrpSpPr>
              <p:cNvPr id="356" name="Group 7"/>
              <p:cNvGrpSpPr/>
              <p:nvPr/>
            </p:nvGrpSpPr>
            <p:grpSpPr bwMode="auto">
              <a:xfrm>
                <a:off x="3792" y="2304"/>
                <a:ext cx="336" cy="336"/>
                <a:chOff x="3072" y="3795"/>
                <a:chExt cx="336" cy="336"/>
              </a:xfrm>
            </p:grpSpPr>
            <p:sp>
              <p:nvSpPr>
                <p:cNvPr id="358" name="Oval 8"/>
                <p:cNvSpPr>
                  <a:spLocks noChangeArrowheads="1"/>
                </p:cNvSpPr>
                <p:nvPr>
                  <p:custDataLst>
                    <p:tags r:id="rId3"/>
                  </p:custDataLst>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59" name="Oval 9"/>
                <p:cNvSpPr>
                  <a:spLocks noChangeArrowheads="1"/>
                </p:cNvSpPr>
                <p:nvPr>
                  <p:custDataLst>
                    <p:tags r:id="rId4"/>
                  </p:custDataLst>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grpSp>
          <p:sp>
            <p:nvSpPr>
              <p:cNvPr id="357" name="Text Box 10"/>
              <p:cNvSpPr txBox="1">
                <a:spLocks noChangeArrowheads="1"/>
              </p:cNvSpPr>
              <p:nvPr>
                <p:custDataLst>
                  <p:tags r:id="rId5"/>
                </p:custDataLst>
              </p:nvPr>
            </p:nvSpPr>
            <p:spPr bwMode="auto">
              <a:xfrm>
                <a:off x="3849" y="2322"/>
                <a:ext cx="240"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5</a:t>
                </a:r>
                <a:endParaRPr lang="zh-CN" altLang="en-US" sz="3200" b="1">
                  <a:solidFill>
                    <a:srgbClr val="020001"/>
                  </a:solidFill>
                  <a:latin typeface="+mn-ea"/>
                </a:endParaRPr>
              </a:p>
            </p:txBody>
          </p:sp>
        </p:grpSp>
        <p:sp>
          <p:nvSpPr>
            <p:cNvPr id="312" name="Text Box 11"/>
            <p:cNvSpPr txBox="1">
              <a:spLocks noChangeArrowheads="1"/>
            </p:cNvSpPr>
            <p:nvPr>
              <p:custDataLst>
                <p:tags r:id="rId6"/>
              </p:custDataLst>
            </p:nvPr>
          </p:nvSpPr>
          <p:spPr bwMode="auto">
            <a:xfrm>
              <a:off x="1792" y="1933"/>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b</a:t>
              </a:r>
              <a:endParaRPr lang="en-US" altLang="zh-CN" sz="3200" b="1">
                <a:solidFill>
                  <a:srgbClr val="020001"/>
                </a:solidFill>
                <a:latin typeface="+mn-ea"/>
              </a:endParaRPr>
            </a:p>
          </p:txBody>
        </p:sp>
        <p:sp>
          <p:nvSpPr>
            <p:cNvPr id="313" name="Text Box 12"/>
            <p:cNvSpPr txBox="1">
              <a:spLocks noChangeArrowheads="1"/>
            </p:cNvSpPr>
            <p:nvPr>
              <p:custDataLst>
                <p:tags r:id="rId7"/>
              </p:custDataLst>
            </p:nvPr>
          </p:nvSpPr>
          <p:spPr bwMode="auto">
            <a:xfrm>
              <a:off x="2427" y="1525"/>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b</a:t>
              </a:r>
              <a:endParaRPr lang="en-US" altLang="zh-CN" sz="3200" b="1">
                <a:solidFill>
                  <a:srgbClr val="020001"/>
                </a:solidFill>
                <a:latin typeface="+mn-ea"/>
              </a:endParaRPr>
            </a:p>
          </p:txBody>
        </p:sp>
        <p:sp>
          <p:nvSpPr>
            <p:cNvPr id="314" name="Text Box 13"/>
            <p:cNvSpPr txBox="1">
              <a:spLocks noChangeArrowheads="1"/>
            </p:cNvSpPr>
            <p:nvPr>
              <p:custDataLst>
                <p:tags r:id="rId8"/>
              </p:custDataLst>
            </p:nvPr>
          </p:nvSpPr>
          <p:spPr bwMode="auto">
            <a:xfrm>
              <a:off x="1792" y="1343"/>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A</a:t>
              </a:r>
              <a:endParaRPr lang="en-US" altLang="zh-CN" sz="3200" b="1">
                <a:solidFill>
                  <a:srgbClr val="020001"/>
                </a:solidFill>
                <a:latin typeface="+mn-ea"/>
              </a:endParaRPr>
            </a:p>
          </p:txBody>
        </p:sp>
        <p:sp>
          <p:nvSpPr>
            <p:cNvPr id="315" name="Text Box 14"/>
            <p:cNvSpPr txBox="1">
              <a:spLocks noChangeArrowheads="1"/>
            </p:cNvSpPr>
            <p:nvPr>
              <p:custDataLst>
                <p:tags r:id="rId9"/>
              </p:custDataLst>
            </p:nvPr>
          </p:nvSpPr>
          <p:spPr bwMode="auto">
            <a:xfrm>
              <a:off x="2473" y="1071"/>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c</a:t>
              </a:r>
              <a:endParaRPr lang="en-US" altLang="zh-CN" sz="3200" b="1">
                <a:solidFill>
                  <a:srgbClr val="020001"/>
                </a:solidFill>
                <a:latin typeface="+mn-ea"/>
              </a:endParaRPr>
            </a:p>
          </p:txBody>
        </p:sp>
        <p:sp>
          <p:nvSpPr>
            <p:cNvPr id="316" name="Text Box 15"/>
            <p:cNvSpPr txBox="1">
              <a:spLocks noChangeArrowheads="1"/>
            </p:cNvSpPr>
            <p:nvPr>
              <p:custDataLst>
                <p:tags r:id="rId10"/>
              </p:custDataLst>
            </p:nvPr>
          </p:nvSpPr>
          <p:spPr bwMode="auto">
            <a:xfrm>
              <a:off x="3152" y="1071"/>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d</a:t>
              </a:r>
              <a:endParaRPr lang="en-US" altLang="zh-CN" sz="3200" b="1">
                <a:solidFill>
                  <a:srgbClr val="020001"/>
                </a:solidFill>
                <a:latin typeface="+mn-ea"/>
              </a:endParaRPr>
            </a:p>
          </p:txBody>
        </p:sp>
        <p:sp>
          <p:nvSpPr>
            <p:cNvPr id="317" name="Text Box 16"/>
            <p:cNvSpPr txBox="1">
              <a:spLocks noChangeArrowheads="1"/>
            </p:cNvSpPr>
            <p:nvPr>
              <p:custDataLst>
                <p:tags r:id="rId11"/>
              </p:custDataLst>
            </p:nvPr>
          </p:nvSpPr>
          <p:spPr bwMode="auto">
            <a:xfrm>
              <a:off x="3016" y="754"/>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B</a:t>
              </a:r>
              <a:endParaRPr lang="en-US" altLang="zh-CN" sz="3200" b="1">
                <a:solidFill>
                  <a:srgbClr val="020001"/>
                </a:solidFill>
                <a:latin typeface="+mn-ea"/>
              </a:endParaRPr>
            </a:p>
          </p:txBody>
        </p:sp>
        <p:sp>
          <p:nvSpPr>
            <p:cNvPr id="318" name="Text Box 17"/>
            <p:cNvSpPr txBox="1">
              <a:spLocks noChangeArrowheads="1"/>
            </p:cNvSpPr>
            <p:nvPr>
              <p:custDataLst>
                <p:tags r:id="rId12"/>
              </p:custDataLst>
            </p:nvPr>
          </p:nvSpPr>
          <p:spPr bwMode="auto">
            <a:xfrm>
              <a:off x="3651" y="527"/>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e</a:t>
              </a:r>
              <a:endParaRPr lang="en-US" altLang="zh-CN" sz="3200" b="1">
                <a:solidFill>
                  <a:srgbClr val="020001"/>
                </a:solidFill>
                <a:latin typeface="+mn-ea"/>
              </a:endParaRPr>
            </a:p>
          </p:txBody>
        </p:sp>
        <p:grpSp>
          <p:nvGrpSpPr>
            <p:cNvPr id="319" name="Group 18"/>
            <p:cNvGrpSpPr/>
            <p:nvPr/>
          </p:nvGrpSpPr>
          <p:grpSpPr bwMode="auto">
            <a:xfrm>
              <a:off x="1611" y="888"/>
              <a:ext cx="408" cy="402"/>
              <a:chOff x="3312" y="1920"/>
              <a:chExt cx="336" cy="351"/>
            </a:xfrm>
          </p:grpSpPr>
          <p:grpSp>
            <p:nvGrpSpPr>
              <p:cNvPr id="352" name="Group 19"/>
              <p:cNvGrpSpPr/>
              <p:nvPr/>
            </p:nvGrpSpPr>
            <p:grpSpPr bwMode="auto">
              <a:xfrm>
                <a:off x="3312" y="1920"/>
                <a:ext cx="336" cy="336"/>
                <a:chOff x="3072" y="3795"/>
                <a:chExt cx="336" cy="336"/>
              </a:xfrm>
            </p:grpSpPr>
            <p:sp>
              <p:nvSpPr>
                <p:cNvPr id="354" name="Oval 20"/>
                <p:cNvSpPr>
                  <a:spLocks noChangeArrowheads="1"/>
                </p:cNvSpPr>
                <p:nvPr>
                  <p:custDataLst>
                    <p:tags r:id="rId13"/>
                  </p:custDataLst>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55" name="Oval 21"/>
                <p:cNvSpPr>
                  <a:spLocks noChangeArrowheads="1"/>
                </p:cNvSpPr>
                <p:nvPr>
                  <p:custDataLst>
                    <p:tags r:id="rId14"/>
                  </p:custDataLst>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grpSp>
          <p:sp>
            <p:nvSpPr>
              <p:cNvPr id="353" name="Text Box 22"/>
              <p:cNvSpPr txBox="1">
                <a:spLocks noChangeArrowheads="1"/>
              </p:cNvSpPr>
              <p:nvPr>
                <p:custDataLst>
                  <p:tags r:id="rId15"/>
                </p:custDataLst>
              </p:nvPr>
            </p:nvSpPr>
            <p:spPr bwMode="auto">
              <a:xfrm>
                <a:off x="3369" y="1950"/>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solidFill>
                      <a:srgbClr val="020001"/>
                    </a:solidFill>
                    <a:latin typeface="+mn-ea"/>
                  </a:rPr>
                  <a:t>1</a:t>
                </a:r>
                <a:endParaRPr lang="zh-CN" altLang="en-US" sz="3200" b="1">
                  <a:solidFill>
                    <a:srgbClr val="020001"/>
                  </a:solidFill>
                  <a:latin typeface="+mn-ea"/>
                </a:endParaRPr>
              </a:p>
            </p:txBody>
          </p:sp>
        </p:grpSp>
        <p:sp>
          <p:nvSpPr>
            <p:cNvPr id="320" name="Text Box 23"/>
            <p:cNvSpPr txBox="1">
              <a:spLocks noChangeArrowheads="1"/>
            </p:cNvSpPr>
            <p:nvPr>
              <p:custDataLst>
                <p:tags r:id="rId16"/>
              </p:custDataLst>
            </p:nvPr>
          </p:nvSpPr>
          <p:spPr bwMode="auto">
            <a:xfrm>
              <a:off x="1838" y="799"/>
              <a:ext cx="19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zh-CN" altLang="en-US" sz="3200" b="1">
                  <a:solidFill>
                    <a:srgbClr val="020001"/>
                  </a:solidFill>
                  <a:latin typeface="+mn-ea"/>
                </a:rPr>
                <a:t>*</a:t>
              </a:r>
              <a:endParaRPr lang="zh-CN" altLang="en-US" sz="3200" b="1">
                <a:solidFill>
                  <a:srgbClr val="020001"/>
                </a:solidFill>
                <a:latin typeface="+mn-ea"/>
              </a:endParaRPr>
            </a:p>
          </p:txBody>
        </p:sp>
        <p:sp>
          <p:nvSpPr>
            <p:cNvPr id="321" name="Oval 24"/>
            <p:cNvSpPr>
              <a:spLocks noChangeArrowheads="1"/>
            </p:cNvSpPr>
            <p:nvPr>
              <p:custDataLst>
                <p:tags r:id="rId17"/>
              </p:custDataLst>
            </p:nvPr>
          </p:nvSpPr>
          <p:spPr bwMode="auto">
            <a:xfrm>
              <a:off x="787" y="1669"/>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gn="ctr"/>
              <a:r>
                <a:rPr lang="en-US" altLang="zh-CN" sz="3200" b="1">
                  <a:solidFill>
                    <a:srgbClr val="010000"/>
                  </a:solidFill>
                  <a:latin typeface="+mn-ea"/>
                </a:rPr>
                <a:t>0</a:t>
              </a:r>
              <a:endParaRPr lang="en-US" altLang="zh-CN" sz="3200" b="1">
                <a:solidFill>
                  <a:srgbClr val="010000"/>
                </a:solidFill>
                <a:latin typeface="+mn-ea"/>
              </a:endParaRPr>
            </a:p>
          </p:txBody>
        </p:sp>
        <p:sp>
          <p:nvSpPr>
            <p:cNvPr id="322" name="Line 25"/>
            <p:cNvSpPr>
              <a:spLocks noChangeShapeType="1"/>
            </p:cNvSpPr>
            <p:nvPr>
              <p:custDataLst>
                <p:tags r:id="rId18"/>
              </p:custDataLst>
            </p:nvPr>
          </p:nvSpPr>
          <p:spPr bwMode="auto">
            <a:xfrm flipV="1">
              <a:off x="988" y="1132"/>
              <a:ext cx="624"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23" name="Line 26"/>
            <p:cNvSpPr>
              <a:spLocks noChangeShapeType="1"/>
            </p:cNvSpPr>
            <p:nvPr>
              <p:custDataLst>
                <p:tags r:id="rId19"/>
              </p:custDataLst>
            </p:nvPr>
          </p:nvSpPr>
          <p:spPr bwMode="auto">
            <a:xfrm>
              <a:off x="1027" y="1813"/>
              <a:ext cx="57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24" name="Text Box 27"/>
            <p:cNvSpPr txBox="1">
              <a:spLocks noChangeArrowheads="1"/>
            </p:cNvSpPr>
            <p:nvPr>
              <p:custDataLst>
                <p:tags r:id="rId20"/>
              </p:custDataLst>
            </p:nvPr>
          </p:nvSpPr>
          <p:spPr bwMode="auto">
            <a:xfrm>
              <a:off x="1157" y="1141"/>
              <a:ext cx="2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sym typeface="Symbol" panose="05050102010706020507" pitchFamily="18" charset="2"/>
                </a:rPr>
                <a:t>S</a:t>
              </a:r>
              <a:endParaRPr lang="en-US" altLang="zh-CN" sz="3200" b="1">
                <a:solidFill>
                  <a:srgbClr val="020001"/>
                </a:solidFill>
                <a:latin typeface="+mn-ea"/>
              </a:endParaRPr>
            </a:p>
          </p:txBody>
        </p:sp>
        <p:sp>
          <p:nvSpPr>
            <p:cNvPr id="325" name="Text Box 28"/>
            <p:cNvSpPr txBox="1">
              <a:spLocks noChangeArrowheads="1"/>
            </p:cNvSpPr>
            <p:nvPr>
              <p:custDataLst>
                <p:tags r:id="rId21"/>
              </p:custDataLst>
            </p:nvPr>
          </p:nvSpPr>
          <p:spPr bwMode="auto">
            <a:xfrm>
              <a:off x="1203" y="1525"/>
              <a:ext cx="23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sym typeface="Symbol" panose="05050102010706020507" pitchFamily="18" charset="2"/>
                </a:rPr>
                <a:t>a</a:t>
              </a:r>
              <a:endParaRPr lang="en-US" altLang="zh-CN" sz="3200" b="1">
                <a:solidFill>
                  <a:srgbClr val="020001"/>
                </a:solidFill>
                <a:latin typeface="+mn-ea"/>
              </a:endParaRPr>
            </a:p>
          </p:txBody>
        </p:sp>
        <p:sp>
          <p:nvSpPr>
            <p:cNvPr id="326" name="Line 29"/>
            <p:cNvSpPr>
              <a:spLocks noChangeShapeType="1"/>
            </p:cNvSpPr>
            <p:nvPr>
              <p:custDataLst>
                <p:tags r:id="rId22"/>
              </p:custDataLst>
            </p:nvPr>
          </p:nvSpPr>
          <p:spPr bwMode="auto">
            <a:xfrm>
              <a:off x="1883" y="1933"/>
              <a:ext cx="272"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27" name="Line 30"/>
            <p:cNvSpPr>
              <a:spLocks noChangeShapeType="1"/>
            </p:cNvSpPr>
            <p:nvPr>
              <p:custDataLst>
                <p:tags r:id="rId23"/>
              </p:custDataLst>
            </p:nvPr>
          </p:nvSpPr>
          <p:spPr bwMode="auto">
            <a:xfrm flipV="1">
              <a:off x="1883" y="1525"/>
              <a:ext cx="363" cy="18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28" name="Oval 31"/>
            <p:cNvSpPr>
              <a:spLocks noChangeArrowheads="1"/>
            </p:cNvSpPr>
            <p:nvPr>
              <p:custDataLst>
                <p:tags r:id="rId24"/>
              </p:custDataLst>
            </p:nvPr>
          </p:nvSpPr>
          <p:spPr bwMode="auto">
            <a:xfrm>
              <a:off x="2246" y="1388"/>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gn="ctr"/>
              <a:r>
                <a:rPr lang="en-US" altLang="zh-CN" sz="3200" b="1">
                  <a:solidFill>
                    <a:srgbClr val="010000"/>
                  </a:solidFill>
                  <a:latin typeface="+mn-ea"/>
                </a:rPr>
                <a:t>3</a:t>
              </a:r>
              <a:endParaRPr lang="en-US" altLang="zh-CN" sz="3200" b="1">
                <a:solidFill>
                  <a:srgbClr val="010000"/>
                </a:solidFill>
                <a:latin typeface="+mn-ea"/>
              </a:endParaRPr>
            </a:p>
          </p:txBody>
        </p:sp>
        <p:sp>
          <p:nvSpPr>
            <p:cNvPr id="329" name="Line 32"/>
            <p:cNvSpPr>
              <a:spLocks noChangeShapeType="1"/>
            </p:cNvSpPr>
            <p:nvPr>
              <p:custDataLst>
                <p:tags r:id="rId25"/>
              </p:custDataLst>
            </p:nvPr>
          </p:nvSpPr>
          <p:spPr bwMode="auto">
            <a:xfrm flipV="1">
              <a:off x="2473" y="1252"/>
              <a:ext cx="363" cy="18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30" name="Oval 33"/>
            <p:cNvSpPr>
              <a:spLocks noChangeArrowheads="1"/>
            </p:cNvSpPr>
            <p:nvPr>
              <p:custDataLst>
                <p:tags r:id="rId26"/>
              </p:custDataLst>
            </p:nvPr>
          </p:nvSpPr>
          <p:spPr bwMode="auto">
            <a:xfrm>
              <a:off x="2836" y="1071"/>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gn="ctr"/>
              <a:r>
                <a:rPr lang="en-US" altLang="zh-CN" sz="3200" b="1">
                  <a:solidFill>
                    <a:srgbClr val="010000"/>
                  </a:solidFill>
                  <a:latin typeface="+mn-ea"/>
                </a:rPr>
                <a:t>4</a:t>
              </a:r>
              <a:endParaRPr lang="en-US" altLang="zh-CN" sz="3200" b="1">
                <a:solidFill>
                  <a:srgbClr val="010000"/>
                </a:solidFill>
                <a:latin typeface="+mn-ea"/>
              </a:endParaRPr>
            </a:p>
          </p:txBody>
        </p:sp>
        <p:sp>
          <p:nvSpPr>
            <p:cNvPr id="331" name="Line 34"/>
            <p:cNvSpPr>
              <a:spLocks noChangeShapeType="1"/>
            </p:cNvSpPr>
            <p:nvPr>
              <p:custDataLst>
                <p:tags r:id="rId27"/>
              </p:custDataLst>
            </p:nvPr>
          </p:nvSpPr>
          <p:spPr bwMode="auto">
            <a:xfrm>
              <a:off x="2473" y="1570"/>
              <a:ext cx="363"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32" name="Oval 35"/>
            <p:cNvSpPr>
              <a:spLocks noChangeArrowheads="1"/>
            </p:cNvSpPr>
            <p:nvPr>
              <p:custDataLst>
                <p:tags r:id="rId28"/>
              </p:custDataLst>
            </p:nvPr>
          </p:nvSpPr>
          <p:spPr bwMode="auto">
            <a:xfrm>
              <a:off x="3334" y="708"/>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gn="ctr"/>
              <a:r>
                <a:rPr lang="en-US" altLang="zh-CN" sz="3200" b="1">
                  <a:solidFill>
                    <a:srgbClr val="010000"/>
                  </a:solidFill>
                  <a:latin typeface="+mn-ea"/>
                </a:rPr>
                <a:t>8</a:t>
              </a:r>
              <a:endParaRPr lang="en-US" altLang="zh-CN" sz="3200" b="1">
                <a:solidFill>
                  <a:srgbClr val="010000"/>
                </a:solidFill>
                <a:latin typeface="+mn-ea"/>
              </a:endParaRPr>
            </a:p>
          </p:txBody>
        </p:sp>
        <p:grpSp>
          <p:nvGrpSpPr>
            <p:cNvPr id="333" name="Group 36"/>
            <p:cNvGrpSpPr/>
            <p:nvPr/>
          </p:nvGrpSpPr>
          <p:grpSpPr bwMode="auto">
            <a:xfrm>
              <a:off x="2790" y="1525"/>
              <a:ext cx="404" cy="387"/>
              <a:chOff x="3792" y="2304"/>
              <a:chExt cx="336" cy="350"/>
            </a:xfrm>
          </p:grpSpPr>
          <p:grpSp>
            <p:nvGrpSpPr>
              <p:cNvPr id="348" name="Group 37"/>
              <p:cNvGrpSpPr/>
              <p:nvPr/>
            </p:nvGrpSpPr>
            <p:grpSpPr bwMode="auto">
              <a:xfrm>
                <a:off x="3792" y="2304"/>
                <a:ext cx="336" cy="336"/>
                <a:chOff x="3072" y="3795"/>
                <a:chExt cx="336" cy="336"/>
              </a:xfrm>
            </p:grpSpPr>
            <p:sp>
              <p:nvSpPr>
                <p:cNvPr id="350" name="Oval 38"/>
                <p:cNvSpPr>
                  <a:spLocks noChangeArrowheads="1"/>
                </p:cNvSpPr>
                <p:nvPr>
                  <p:custDataLst>
                    <p:tags r:id="rId29"/>
                  </p:custDataLst>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51" name="Oval 39"/>
                <p:cNvSpPr>
                  <a:spLocks noChangeArrowheads="1"/>
                </p:cNvSpPr>
                <p:nvPr>
                  <p:custDataLst>
                    <p:tags r:id="rId30"/>
                  </p:custDataLst>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grpSp>
          <p:sp>
            <p:nvSpPr>
              <p:cNvPr id="349" name="Text Box 40"/>
              <p:cNvSpPr txBox="1">
                <a:spLocks noChangeArrowheads="1"/>
              </p:cNvSpPr>
              <p:nvPr>
                <p:custDataLst>
                  <p:tags r:id="rId31"/>
                </p:custDataLst>
              </p:nvPr>
            </p:nvSpPr>
            <p:spPr bwMode="auto">
              <a:xfrm>
                <a:off x="3849" y="2322"/>
                <a:ext cx="240"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6</a:t>
                </a:r>
                <a:endParaRPr lang="en-US" altLang="zh-CN" sz="3200" b="1">
                  <a:solidFill>
                    <a:srgbClr val="020001"/>
                  </a:solidFill>
                  <a:latin typeface="+mn-ea"/>
                </a:endParaRPr>
              </a:p>
            </p:txBody>
          </p:sp>
        </p:grpSp>
        <p:sp>
          <p:nvSpPr>
            <p:cNvPr id="334" name="Line 41"/>
            <p:cNvSpPr>
              <a:spLocks noChangeShapeType="1"/>
            </p:cNvSpPr>
            <p:nvPr>
              <p:custDataLst>
                <p:tags r:id="rId32"/>
              </p:custDataLst>
            </p:nvPr>
          </p:nvSpPr>
          <p:spPr bwMode="auto">
            <a:xfrm flipV="1">
              <a:off x="3062" y="935"/>
              <a:ext cx="317" cy="18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335" name="Line 42"/>
            <p:cNvSpPr>
              <a:spLocks noChangeShapeType="1"/>
            </p:cNvSpPr>
            <p:nvPr>
              <p:custDataLst>
                <p:tags r:id="rId33"/>
              </p:custDataLst>
            </p:nvPr>
          </p:nvSpPr>
          <p:spPr bwMode="auto">
            <a:xfrm>
              <a:off x="3062" y="1252"/>
              <a:ext cx="363" cy="18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nvGrpSpPr>
            <p:cNvPr id="336" name="Group 43"/>
            <p:cNvGrpSpPr/>
            <p:nvPr/>
          </p:nvGrpSpPr>
          <p:grpSpPr bwMode="auto">
            <a:xfrm>
              <a:off x="3379" y="1298"/>
              <a:ext cx="404" cy="387"/>
              <a:chOff x="3792" y="2304"/>
              <a:chExt cx="336" cy="350"/>
            </a:xfrm>
          </p:grpSpPr>
          <p:grpSp>
            <p:nvGrpSpPr>
              <p:cNvPr id="344" name="Group 44"/>
              <p:cNvGrpSpPr/>
              <p:nvPr/>
            </p:nvGrpSpPr>
            <p:grpSpPr bwMode="auto">
              <a:xfrm>
                <a:off x="3792" y="2304"/>
                <a:ext cx="336" cy="336"/>
                <a:chOff x="3072" y="3795"/>
                <a:chExt cx="336" cy="336"/>
              </a:xfrm>
            </p:grpSpPr>
            <p:sp>
              <p:nvSpPr>
                <p:cNvPr id="346" name="Oval 45"/>
                <p:cNvSpPr>
                  <a:spLocks noChangeArrowheads="1"/>
                </p:cNvSpPr>
                <p:nvPr>
                  <p:custDataLst>
                    <p:tags r:id="rId34"/>
                  </p:custDataLst>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47" name="Oval 46"/>
                <p:cNvSpPr>
                  <a:spLocks noChangeArrowheads="1"/>
                </p:cNvSpPr>
                <p:nvPr>
                  <p:custDataLst>
                    <p:tags r:id="rId35"/>
                  </p:custDataLst>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grpSp>
          <p:sp>
            <p:nvSpPr>
              <p:cNvPr id="345" name="Text Box 47"/>
              <p:cNvSpPr txBox="1">
                <a:spLocks noChangeArrowheads="1"/>
              </p:cNvSpPr>
              <p:nvPr>
                <p:custDataLst>
                  <p:tags r:id="rId36"/>
                </p:custDataLst>
              </p:nvPr>
            </p:nvSpPr>
            <p:spPr bwMode="auto">
              <a:xfrm>
                <a:off x="3849" y="2322"/>
                <a:ext cx="240"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7</a:t>
                </a:r>
                <a:endParaRPr lang="en-US" altLang="zh-CN" sz="3200" b="1">
                  <a:solidFill>
                    <a:srgbClr val="020001"/>
                  </a:solidFill>
                  <a:latin typeface="+mn-ea"/>
                </a:endParaRPr>
              </a:p>
            </p:txBody>
          </p:sp>
        </p:grpSp>
        <p:sp>
          <p:nvSpPr>
            <p:cNvPr id="337" name="Line 48"/>
            <p:cNvSpPr>
              <a:spLocks noChangeShapeType="1"/>
            </p:cNvSpPr>
            <p:nvPr>
              <p:custDataLst>
                <p:tags r:id="rId37"/>
              </p:custDataLst>
            </p:nvPr>
          </p:nvSpPr>
          <p:spPr bwMode="auto">
            <a:xfrm>
              <a:off x="3606" y="799"/>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nvGrpSpPr>
            <p:cNvPr id="338" name="Group 49"/>
            <p:cNvGrpSpPr/>
            <p:nvPr/>
          </p:nvGrpSpPr>
          <p:grpSpPr bwMode="auto">
            <a:xfrm>
              <a:off x="4060" y="617"/>
              <a:ext cx="404" cy="387"/>
              <a:chOff x="3792" y="2304"/>
              <a:chExt cx="336" cy="350"/>
            </a:xfrm>
          </p:grpSpPr>
          <p:grpSp>
            <p:nvGrpSpPr>
              <p:cNvPr id="340" name="Group 50"/>
              <p:cNvGrpSpPr/>
              <p:nvPr/>
            </p:nvGrpSpPr>
            <p:grpSpPr bwMode="auto">
              <a:xfrm>
                <a:off x="3792" y="2304"/>
                <a:ext cx="336" cy="336"/>
                <a:chOff x="3072" y="3795"/>
                <a:chExt cx="336" cy="336"/>
              </a:xfrm>
            </p:grpSpPr>
            <p:sp>
              <p:nvSpPr>
                <p:cNvPr id="342" name="Oval 51"/>
                <p:cNvSpPr>
                  <a:spLocks noChangeArrowheads="1"/>
                </p:cNvSpPr>
                <p:nvPr>
                  <p:custDataLst>
                    <p:tags r:id="rId38"/>
                  </p:custDataLst>
                </p:nvPr>
              </p:nvSpPr>
              <p:spPr bwMode="auto">
                <a:xfrm>
                  <a:off x="3120" y="3840"/>
                  <a:ext cx="240" cy="24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sp>
              <p:nvSpPr>
                <p:cNvPr id="343" name="Oval 52"/>
                <p:cNvSpPr>
                  <a:spLocks noChangeArrowheads="1"/>
                </p:cNvSpPr>
                <p:nvPr>
                  <p:custDataLst>
                    <p:tags r:id="rId39"/>
                  </p:custDataLst>
                </p:nvPr>
              </p:nvSpPr>
              <p:spPr bwMode="auto">
                <a:xfrm>
                  <a:off x="3072" y="3795"/>
                  <a:ext cx="336" cy="33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p>
                  <a:pPr>
                    <a:lnSpc>
                      <a:spcPct val="75000"/>
                    </a:lnSpc>
                    <a:spcBef>
                      <a:spcPct val="20000"/>
                    </a:spcBef>
                    <a:buClr>
                      <a:schemeClr val="accent2"/>
                    </a:buClr>
                    <a:buFont typeface="Wingdings" panose="05000000000000000000" pitchFamily="2" charset="2"/>
                    <a:buNone/>
                  </a:pPr>
                  <a:endParaRPr lang="zh-CN" altLang="en-US" b="1">
                    <a:latin typeface="+mn-ea"/>
                  </a:endParaRPr>
                </a:p>
              </p:txBody>
            </p:sp>
          </p:grpSp>
          <p:sp>
            <p:nvSpPr>
              <p:cNvPr id="341" name="Text Box 53"/>
              <p:cNvSpPr txBox="1">
                <a:spLocks noChangeArrowheads="1"/>
              </p:cNvSpPr>
              <p:nvPr>
                <p:custDataLst>
                  <p:tags r:id="rId40"/>
                </p:custDataLst>
              </p:nvPr>
            </p:nvSpPr>
            <p:spPr bwMode="auto">
              <a:xfrm>
                <a:off x="3849" y="2322"/>
                <a:ext cx="240"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020001"/>
                    </a:solidFill>
                    <a:latin typeface="+mn-ea"/>
                  </a:rPr>
                  <a:t>9</a:t>
                </a:r>
                <a:endParaRPr lang="en-US" altLang="zh-CN" sz="3200" b="1">
                  <a:solidFill>
                    <a:srgbClr val="020001"/>
                  </a:solidFill>
                  <a:latin typeface="+mn-ea"/>
                </a:endParaRPr>
              </a:p>
            </p:txBody>
          </p:sp>
        </p:grpSp>
        <p:sp>
          <p:nvSpPr>
            <p:cNvPr id="339" name="Line 54"/>
            <p:cNvSpPr>
              <a:spLocks noChangeShapeType="1"/>
            </p:cNvSpPr>
            <p:nvPr>
              <p:custDataLst>
                <p:tags r:id="rId41"/>
              </p:custDataLst>
            </p:nvPr>
          </p:nvSpPr>
          <p:spPr bwMode="auto">
            <a:xfrm flipV="1">
              <a:off x="634" y="1797"/>
              <a:ext cx="136" cy="1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sp>
        <p:nvSpPr>
          <p:cNvPr id="366" name="Rectangle 62"/>
          <p:cNvSpPr>
            <a:spLocks noChangeArrowheads="1"/>
          </p:cNvSpPr>
          <p:nvPr>
            <p:custDataLst>
              <p:tags r:id="rId42"/>
            </p:custDataLst>
          </p:nvPr>
        </p:nvSpPr>
        <p:spPr bwMode="auto">
          <a:xfrm>
            <a:off x="948298" y="4775032"/>
            <a:ext cx="285432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3200" b="1">
                <a:solidFill>
                  <a:srgbClr val="020001"/>
                </a:solidFill>
                <a:latin typeface="+mn-ea"/>
                <a:sym typeface="Symbol" panose="05050102010706020507" pitchFamily="18" charset="2"/>
              </a:rPr>
              <a:t>输入串:</a:t>
            </a:r>
            <a:r>
              <a:rPr lang="en-US" altLang="zh-CN" sz="3200" b="1">
                <a:solidFill>
                  <a:srgbClr val="020001"/>
                </a:solidFill>
                <a:latin typeface="+mn-ea"/>
                <a:sym typeface="Symbol" panose="05050102010706020507" pitchFamily="18" charset="2"/>
              </a:rPr>
              <a:t>abbcde</a:t>
            </a:r>
            <a:endParaRPr lang="zh-CN" altLang="en-US" sz="3200" b="1">
              <a:solidFill>
                <a:srgbClr val="020001"/>
              </a:solidFill>
              <a:latin typeface="+mn-ea"/>
              <a:sym typeface="Symbol" panose="05050102010706020507" pitchFamily="18" charset="2"/>
            </a:endParaRPr>
          </a:p>
        </p:txBody>
      </p:sp>
      <p:graphicFrame>
        <p:nvGraphicFramePr>
          <p:cNvPr id="4" name="表格 3"/>
          <p:cNvGraphicFramePr>
            <a:graphicFrameLocks noGrp="1"/>
          </p:cNvGraphicFramePr>
          <p:nvPr/>
        </p:nvGraphicFramePr>
        <p:xfrm>
          <a:off x="7243333" y="1553135"/>
          <a:ext cx="4474845" cy="4529136"/>
        </p:xfrm>
        <a:graphic>
          <a:graphicData uri="http://schemas.openxmlformats.org/drawingml/2006/table">
            <a:tbl>
              <a:tblPr/>
              <a:tblGrid>
                <a:gridCol w="474345"/>
                <a:gridCol w="474980"/>
                <a:gridCol w="474980"/>
                <a:gridCol w="474345"/>
                <a:gridCol w="474345"/>
                <a:gridCol w="474345"/>
                <a:gridCol w="406400"/>
                <a:gridCol w="407035"/>
                <a:gridCol w="407035"/>
                <a:gridCol w="407035"/>
              </a:tblGrid>
              <a:tr h="377428">
                <a:tc rowSpan="2">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9">
                  <a:txBody>
                    <a:bodyPr/>
                    <a:p>
                      <a:pPr algn="just">
                        <a:spcAft>
                          <a:spcPts val="0"/>
                        </a:spcAft>
                      </a:pPr>
                      <a:r>
                        <a:rPr lang="en-US" sz="2000" b="1" kern="100" dirty="0">
                          <a:latin typeface="楷体_GB2312"/>
                          <a:ea typeface="宋体" panose="02010600030101010101" pitchFamily="2" charset="-122"/>
                          <a:cs typeface="Times New Roman" panose="02020603050405020304"/>
                        </a:rPr>
                        <a:t>                        </a:t>
                      </a:r>
                      <a:r>
                        <a:rPr lang="en-US" sz="2000" b="1" kern="100" dirty="0" err="1">
                          <a:latin typeface="楷体_GB2312"/>
                          <a:ea typeface="宋体" panose="02010600030101010101" pitchFamily="2" charset="-122"/>
                          <a:cs typeface="Times New Roman" panose="02020603050405020304"/>
                        </a:rPr>
                        <a:t>Goto</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c hMerge="1">
                  <a:tcPr/>
                </a:tc>
                <a:tc hMerge="1">
                  <a:tcPr/>
                </a:tc>
              </a:tr>
              <a:tr h="377428">
                <a:tc vMerge="1">
                  <a:tcPr/>
                </a:tc>
                <a:tc>
                  <a:txBody>
                    <a:bodyPr/>
                    <a:p>
                      <a:pPr algn="just">
                        <a:spcAft>
                          <a:spcPts val="0"/>
                        </a:spcAft>
                      </a:pPr>
                      <a:r>
                        <a:rPr lang="en-US" sz="2000" b="1" kern="100">
                          <a:latin typeface="楷体_GB2312"/>
                          <a:ea typeface="宋体" panose="02010600030101010101" pitchFamily="2" charset="-122"/>
                          <a:cs typeface="Times New Roman" panose="02020603050405020304"/>
                        </a:rPr>
                        <a:t>a</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b</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c</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d</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e</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 $</a:t>
                      </a:r>
                      <a:endParaRPr lang="zh-CN" sz="2000" b="1" kern="100" dirty="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 S</a:t>
                      </a:r>
                      <a:endParaRPr lang="zh-CN" sz="2000" b="1" kern="100" dirty="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 A</a:t>
                      </a:r>
                      <a:endParaRPr lang="zh-CN" sz="2000" b="1" kern="10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 B</a:t>
                      </a:r>
                      <a:endParaRPr lang="zh-CN" sz="2000" b="1" kern="100" dirty="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0</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2</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1</a:t>
                      </a:r>
                      <a:endParaRPr lang="zh-CN" sz="2000" b="1" kern="10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1</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2</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5</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3</a:t>
                      </a:r>
                      <a:endParaRPr lang="zh-CN" sz="2000" b="1" kern="10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3</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6</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dirty="0">
                          <a:latin typeface="楷体_GB2312"/>
                          <a:ea typeface="宋体" panose="02010600030101010101" pitchFamily="2" charset="-122"/>
                          <a:cs typeface="Times New Roman" panose="02020603050405020304"/>
                        </a:rPr>
                        <a:t>4</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4</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sz="2000" b="1" kern="100" dirty="0">
                          <a:latin typeface="楷体_GB2312"/>
                          <a:ea typeface="+mn-ea"/>
                          <a:cs typeface="Times New Roman" panose="02020603050405020304"/>
                        </a:rPr>
                        <a:t>7</a:t>
                      </a:r>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dirty="0">
                          <a:latin typeface="楷体_GB2312"/>
                          <a:ea typeface="宋体" panose="02010600030101010101" pitchFamily="2" charset="-122"/>
                          <a:cs typeface="Times New Roman" panose="02020603050405020304"/>
                        </a:rPr>
                        <a:t>5</a:t>
                      </a: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zh-CN" sz="2000" b="1" kern="100" dirty="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8</a:t>
                      </a:r>
                      <a:endParaRPr lang="zh-CN" sz="2000" b="1" kern="100">
                        <a:latin typeface="Times New Roman" panose="02020603050405020304"/>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6</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dirty="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7</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8</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en-US" sz="2000" b="1" kern="100">
                          <a:latin typeface="楷体_GB2312"/>
                          <a:ea typeface="宋体" panose="02010600030101010101" pitchFamily="2" charset="-122"/>
                          <a:cs typeface="Times New Roman" panose="02020603050405020304"/>
                        </a:rPr>
                        <a:t>9</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428">
                <a:tc>
                  <a:txBody>
                    <a:bodyPr/>
                    <a:p>
                      <a:pPr algn="just">
                        <a:spcAft>
                          <a:spcPts val="0"/>
                        </a:spcAft>
                      </a:pPr>
                      <a:r>
                        <a:rPr lang="en-US" sz="2000" b="1" kern="100">
                          <a:latin typeface="楷体_GB2312"/>
                          <a:ea typeface="宋体" panose="02010600030101010101" pitchFamily="2" charset="-122"/>
                          <a:cs typeface="Times New Roman" panose="02020603050405020304"/>
                        </a:rPr>
                        <a:t>9</a:t>
                      </a:r>
                      <a:endParaRPr lang="zh-CN" sz="2000" b="1" kern="100">
                        <a:latin typeface="Times New Roman" panose="02020603050405020304"/>
                        <a:ea typeface="宋体" panose="02010600030101010101" pitchFamily="2" charset="-122"/>
                        <a:cs typeface="Times New Roman" panose="02020603050405020304"/>
                      </a:endParaRPr>
                    </a:p>
                  </a:txBody>
                  <a:tcPr marL="72570" marR="72570" marT="36291" marB="36291">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endParaRPr lang="zh-CN" sz="2000" b="1" kern="100">
                        <a:latin typeface="Calibri" panose="020F0502020204030204"/>
                        <a:ea typeface="宋体" panose="02010600030101010101" pitchFamily="2" charset="-122"/>
                        <a:cs typeface="Times New Roman" panose="02020603050405020304"/>
                      </a:endParaRPr>
                    </a:p>
                  </a:txBody>
                  <a:tcPr marL="72570" marR="72570" marT="36291" marB="36291">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pPr algn="just">
                        <a:spcAft>
                          <a:spcPts val="0"/>
                        </a:spcAft>
                      </a:pPr>
                      <a:endParaRPr lang="en-US" sz="2000" b="1" kern="10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p>
                      <a:pPr algn="just">
                        <a:spcAft>
                          <a:spcPts val="0"/>
                        </a:spcAft>
                      </a:pPr>
                      <a:endParaRPr lang="en-US" sz="2000" b="1" kern="100" dirty="0">
                        <a:latin typeface="楷体_GB2312"/>
                        <a:ea typeface="宋体" panose="02010600030101010101" pitchFamily="2" charset="-122"/>
                        <a:cs typeface="Times New Roman" panose="02020603050405020304"/>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7" name="文本框 6"/>
          <p:cNvSpPr txBox="1"/>
          <p:nvPr/>
        </p:nvSpPr>
        <p:spPr>
          <a:xfrm>
            <a:off x="8658366" y="1481049"/>
            <a:ext cx="1003300" cy="460375"/>
          </a:xfrm>
          <a:prstGeom prst="rect">
            <a:avLst/>
          </a:prstGeom>
          <a:noFill/>
        </p:spPr>
        <p:txBody>
          <a:bodyPr wrap="none" rtlCol="0">
            <a:spAutoFit/>
          </a:bodyPr>
          <a:p>
            <a:r>
              <a:rPr lang="en-US" altLang="zh-CN" sz="2400" b="1" dirty="0">
                <a:solidFill>
                  <a:srgbClr val="FF0000"/>
                </a:solidFill>
              </a:rPr>
              <a:t>Action</a:t>
            </a:r>
            <a:endParaRPr lang="zh-CN" altLang="en-US" sz="2400" b="1" dirty="0">
              <a:solidFill>
                <a:srgbClr val="FF0000"/>
              </a:solidFill>
            </a:endParaRPr>
          </a:p>
        </p:txBody>
      </p:sp>
      <p:grpSp>
        <p:nvGrpSpPr>
          <p:cNvPr id="9" name="组合 8"/>
          <p:cNvGrpSpPr/>
          <p:nvPr/>
        </p:nvGrpSpPr>
        <p:grpSpPr>
          <a:xfrm>
            <a:off x="7753421" y="2602508"/>
            <a:ext cx="2675756" cy="3502941"/>
            <a:chOff x="1106241" y="2469158"/>
            <a:chExt cx="2675756" cy="3502941"/>
          </a:xfrm>
        </p:grpSpPr>
        <p:sp>
          <p:nvSpPr>
            <p:cNvPr id="11" name="文本框 10"/>
            <p:cNvSpPr txBox="1"/>
            <p:nvPr>
              <p:custDataLst>
                <p:tags r:id="rId43"/>
              </p:custDataLst>
            </p:nvPr>
          </p:nvSpPr>
          <p:spPr>
            <a:xfrm>
              <a:off x="3505959" y="2469158"/>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3" name="文本框 12"/>
            <p:cNvSpPr txBox="1"/>
            <p:nvPr>
              <p:custDataLst>
                <p:tags r:id="rId44"/>
              </p:custDataLst>
            </p:nvPr>
          </p:nvSpPr>
          <p:spPr>
            <a:xfrm>
              <a:off x="1148242" y="398419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4" name="文本框 13"/>
            <p:cNvSpPr txBox="1"/>
            <p:nvPr>
              <p:custDataLst>
                <p:tags r:id="rId45"/>
              </p:custDataLst>
            </p:nvPr>
          </p:nvSpPr>
          <p:spPr>
            <a:xfrm>
              <a:off x="1639105" y="398419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5" name="文本框 14"/>
            <p:cNvSpPr txBox="1"/>
            <p:nvPr>
              <p:custDataLst>
                <p:tags r:id="rId46"/>
              </p:custDataLst>
            </p:nvPr>
          </p:nvSpPr>
          <p:spPr>
            <a:xfrm>
              <a:off x="2129968" y="398419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6" name="文本框 15"/>
            <p:cNvSpPr txBox="1"/>
            <p:nvPr>
              <p:custDataLst>
                <p:tags r:id="rId47"/>
              </p:custDataLst>
            </p:nvPr>
          </p:nvSpPr>
          <p:spPr>
            <a:xfrm>
              <a:off x="2614666" y="398419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7" name="文本框 16"/>
            <p:cNvSpPr txBox="1"/>
            <p:nvPr>
              <p:custDataLst>
                <p:tags r:id="rId48"/>
              </p:custDataLst>
            </p:nvPr>
          </p:nvSpPr>
          <p:spPr>
            <a:xfrm>
              <a:off x="3095297" y="398419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8" name="文本框 17"/>
            <p:cNvSpPr txBox="1"/>
            <p:nvPr>
              <p:custDataLst>
                <p:tags r:id="rId49"/>
              </p:custDataLst>
            </p:nvPr>
          </p:nvSpPr>
          <p:spPr>
            <a:xfrm>
              <a:off x="1169575" y="438430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19" name="文本框 18"/>
            <p:cNvSpPr txBox="1"/>
            <p:nvPr>
              <p:custDataLst>
                <p:tags r:id="rId50"/>
              </p:custDataLst>
            </p:nvPr>
          </p:nvSpPr>
          <p:spPr>
            <a:xfrm>
              <a:off x="1660438" y="438430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0" name="文本框 19"/>
            <p:cNvSpPr txBox="1"/>
            <p:nvPr>
              <p:custDataLst>
                <p:tags r:id="rId51"/>
              </p:custDataLst>
            </p:nvPr>
          </p:nvSpPr>
          <p:spPr>
            <a:xfrm>
              <a:off x="2151301" y="438430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1" name="文本框 20"/>
            <p:cNvSpPr txBox="1"/>
            <p:nvPr>
              <p:custDataLst>
                <p:tags r:id="rId52"/>
              </p:custDataLst>
            </p:nvPr>
          </p:nvSpPr>
          <p:spPr>
            <a:xfrm>
              <a:off x="2635999" y="438430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2" name="文本框 21"/>
            <p:cNvSpPr txBox="1"/>
            <p:nvPr>
              <p:custDataLst>
                <p:tags r:id="rId53"/>
              </p:custDataLst>
            </p:nvPr>
          </p:nvSpPr>
          <p:spPr>
            <a:xfrm>
              <a:off x="3116630" y="438430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3" name="文本框 22"/>
            <p:cNvSpPr txBox="1"/>
            <p:nvPr>
              <p:custDataLst>
                <p:tags r:id="rId54"/>
              </p:custDataLst>
            </p:nvPr>
          </p:nvSpPr>
          <p:spPr>
            <a:xfrm>
              <a:off x="1157041" y="473408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4" name="文本框 23"/>
            <p:cNvSpPr txBox="1"/>
            <p:nvPr>
              <p:custDataLst>
                <p:tags r:id="rId55"/>
              </p:custDataLst>
            </p:nvPr>
          </p:nvSpPr>
          <p:spPr>
            <a:xfrm>
              <a:off x="1647904" y="473408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5" name="文本框 24"/>
            <p:cNvSpPr txBox="1"/>
            <p:nvPr>
              <p:custDataLst>
                <p:tags r:id="rId56"/>
              </p:custDataLst>
            </p:nvPr>
          </p:nvSpPr>
          <p:spPr>
            <a:xfrm>
              <a:off x="2138767" y="473408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6" name="文本框 25"/>
            <p:cNvSpPr txBox="1"/>
            <p:nvPr>
              <p:custDataLst>
                <p:tags r:id="rId57"/>
              </p:custDataLst>
            </p:nvPr>
          </p:nvSpPr>
          <p:spPr>
            <a:xfrm>
              <a:off x="2623465" y="473408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7" name="文本框 26"/>
            <p:cNvSpPr txBox="1"/>
            <p:nvPr>
              <p:custDataLst>
                <p:tags r:id="rId58"/>
              </p:custDataLst>
            </p:nvPr>
          </p:nvSpPr>
          <p:spPr>
            <a:xfrm>
              <a:off x="3104096" y="473408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8" name="文本框 27"/>
            <p:cNvSpPr txBox="1"/>
            <p:nvPr>
              <p:custDataLst>
                <p:tags r:id="rId59"/>
              </p:custDataLst>
            </p:nvPr>
          </p:nvSpPr>
          <p:spPr>
            <a:xfrm>
              <a:off x="1106241" y="551172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29" name="文本框 28"/>
            <p:cNvSpPr txBox="1"/>
            <p:nvPr>
              <p:custDataLst>
                <p:tags r:id="rId60"/>
              </p:custDataLst>
            </p:nvPr>
          </p:nvSpPr>
          <p:spPr>
            <a:xfrm>
              <a:off x="1597104" y="551172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30" name="文本框 29"/>
            <p:cNvSpPr txBox="1"/>
            <p:nvPr>
              <p:custDataLst>
                <p:tags r:id="rId61"/>
              </p:custDataLst>
            </p:nvPr>
          </p:nvSpPr>
          <p:spPr>
            <a:xfrm>
              <a:off x="2087967" y="551172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31" name="文本框 30"/>
            <p:cNvSpPr txBox="1"/>
            <p:nvPr>
              <p:custDataLst>
                <p:tags r:id="rId62"/>
              </p:custDataLst>
            </p:nvPr>
          </p:nvSpPr>
          <p:spPr>
            <a:xfrm>
              <a:off x="2572665" y="551172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sp>
          <p:nvSpPr>
            <p:cNvPr id="32" name="文本框 31"/>
            <p:cNvSpPr txBox="1"/>
            <p:nvPr>
              <p:custDataLst>
                <p:tags r:id="rId63"/>
              </p:custDataLst>
            </p:nvPr>
          </p:nvSpPr>
          <p:spPr>
            <a:xfrm>
              <a:off x="3053296" y="5511724"/>
              <a:ext cx="276038" cy="460375"/>
            </a:xfrm>
            <a:prstGeom prst="rect">
              <a:avLst/>
            </a:prstGeom>
            <a:noFill/>
          </p:spPr>
          <p:txBody>
            <a:bodyPr wrap="square" rtlCol="0">
              <a:spAutoFit/>
            </a:bodyPr>
            <a:p>
              <a:r>
                <a:rPr lang="en-US" altLang="zh-CN" sz="2400" b="1" dirty="0">
                  <a:solidFill>
                    <a:srgbClr val="FF0000"/>
                  </a:solidFill>
                </a:rPr>
                <a:t>r</a:t>
              </a:r>
              <a:endParaRPr lang="zh-CN" altLang="en-US" sz="2400" b="1" dirty="0">
                <a:solidFill>
                  <a:srgbClr val="FF0000"/>
                </a:solidFill>
              </a:endParaRPr>
            </a:p>
          </p:txBody>
        </p:sp>
      </p:grpSp>
      <p:grpSp>
        <p:nvGrpSpPr>
          <p:cNvPr id="33" name="组合 32"/>
          <p:cNvGrpSpPr/>
          <p:nvPr/>
        </p:nvGrpSpPr>
        <p:grpSpPr>
          <a:xfrm>
            <a:off x="7552557" y="2213448"/>
            <a:ext cx="2132145" cy="3464141"/>
            <a:chOff x="905377" y="2080098"/>
            <a:chExt cx="2132145" cy="3464141"/>
          </a:xfrm>
        </p:grpSpPr>
        <p:sp>
          <p:nvSpPr>
            <p:cNvPr id="34" name="文本框 33"/>
            <p:cNvSpPr txBox="1"/>
            <p:nvPr>
              <p:custDataLst>
                <p:tags r:id="rId64"/>
              </p:custDataLst>
            </p:nvPr>
          </p:nvSpPr>
          <p:spPr>
            <a:xfrm>
              <a:off x="2761484" y="5083864"/>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sp>
          <p:nvSpPr>
            <p:cNvPr id="35" name="文本框 34"/>
            <p:cNvSpPr txBox="1"/>
            <p:nvPr>
              <p:custDataLst>
                <p:tags r:id="rId65"/>
              </p:custDataLst>
            </p:nvPr>
          </p:nvSpPr>
          <p:spPr>
            <a:xfrm>
              <a:off x="905377" y="2080098"/>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sp>
          <p:nvSpPr>
            <p:cNvPr id="36" name="文本框 35"/>
            <p:cNvSpPr txBox="1"/>
            <p:nvPr>
              <p:custDataLst>
                <p:tags r:id="rId66"/>
              </p:custDataLst>
            </p:nvPr>
          </p:nvSpPr>
          <p:spPr>
            <a:xfrm>
              <a:off x="1371866" y="2869268"/>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sp>
          <p:nvSpPr>
            <p:cNvPr id="37" name="文本框 36"/>
            <p:cNvSpPr txBox="1"/>
            <p:nvPr>
              <p:custDataLst>
                <p:tags r:id="rId67"/>
              </p:custDataLst>
            </p:nvPr>
          </p:nvSpPr>
          <p:spPr>
            <a:xfrm>
              <a:off x="1371866" y="3250335"/>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sp>
          <p:nvSpPr>
            <p:cNvPr id="38" name="文本框 37"/>
            <p:cNvSpPr txBox="1"/>
            <p:nvPr>
              <p:custDataLst>
                <p:tags r:id="rId68"/>
              </p:custDataLst>
            </p:nvPr>
          </p:nvSpPr>
          <p:spPr>
            <a:xfrm>
              <a:off x="1875263" y="3250335"/>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sp>
          <p:nvSpPr>
            <p:cNvPr id="39" name="文本框 38"/>
            <p:cNvSpPr txBox="1"/>
            <p:nvPr>
              <p:custDataLst>
                <p:tags r:id="rId69"/>
              </p:custDataLst>
            </p:nvPr>
          </p:nvSpPr>
          <p:spPr>
            <a:xfrm>
              <a:off x="2313228" y="3641404"/>
              <a:ext cx="276038" cy="460375"/>
            </a:xfrm>
            <a:prstGeom prst="rect">
              <a:avLst/>
            </a:prstGeom>
            <a:noFill/>
          </p:spPr>
          <p:txBody>
            <a:bodyPr wrap="square" rtlCol="0">
              <a:spAutoFit/>
            </a:bodyPr>
            <a:p>
              <a:r>
                <a:rPr lang="en-US" altLang="zh-CN" sz="2400" b="1" dirty="0">
                  <a:solidFill>
                    <a:srgbClr val="FF0000"/>
                  </a:solidFill>
                </a:rPr>
                <a:t>S</a:t>
              </a:r>
              <a:endParaRPr lang="zh-CN" altLang="en-US" sz="2400" b="1"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43560" y="276860"/>
            <a:ext cx="7309485" cy="593090"/>
          </a:xfrm>
        </p:spPr>
        <p:txBody>
          <a:bodyPr/>
          <a:lstStyle/>
          <a:p>
            <a:r>
              <a:rPr lang="en-US" altLang="zh-CN" sz="3200" dirty="0"/>
              <a:t>3.</a:t>
            </a:r>
            <a:r>
              <a:rPr lang="zh-CN" altLang="en-US" sz="3200" dirty="0"/>
              <a:t>分析表的构造</a:t>
            </a:r>
            <a:r>
              <a:rPr lang="en-US" altLang="zh-CN" sz="3200">
                <a:sym typeface="+mn-ea"/>
              </a:rPr>
              <a:t>(</a:t>
            </a:r>
            <a:r>
              <a:rPr sz="3200">
                <a:sym typeface="+mn-ea"/>
              </a:rPr>
              <a:t>续</a:t>
            </a:r>
            <a:r>
              <a:rPr lang="en-US" altLang="zh-CN" sz="3200">
                <a:sym typeface="+mn-ea"/>
              </a:rPr>
              <a:t>)</a:t>
            </a:r>
            <a:endParaRPr lang="en-US" altLang="zh-CN" sz="3200" dirty="0"/>
          </a:p>
          <a:p>
            <a:endParaRPr lang="zh-CN" altLang="en-US" sz="3200" dirty="0"/>
          </a:p>
        </p:txBody>
      </p:sp>
      <p:sp>
        <p:nvSpPr>
          <p:cNvPr id="4" name="Rectangle 9"/>
          <p:cNvSpPr txBox="1">
            <a:spLocks noChangeArrowheads="1"/>
          </p:cNvSpPr>
          <p:nvPr/>
        </p:nvSpPr>
        <p:spPr>
          <a:xfrm>
            <a:off x="337820" y="1029335"/>
            <a:ext cx="6360795" cy="53270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solidFill>
                  <a:srgbClr val="0070C0"/>
                </a:solidFill>
                <a:latin typeface="+mn-ea"/>
              </a:rPr>
              <a:t>分析表：动作表</a:t>
            </a:r>
            <a:r>
              <a:rPr lang="zh-CN" altLang="en-US" b="1" dirty="0">
                <a:solidFill>
                  <a:srgbClr val="020001"/>
                </a:solidFill>
                <a:latin typeface="+mn-ea"/>
              </a:rPr>
              <a:t>和</a:t>
            </a:r>
            <a:r>
              <a:rPr lang="zh-CN" altLang="en-US" b="1" dirty="0">
                <a:solidFill>
                  <a:srgbClr val="0070C0"/>
                </a:solidFill>
                <a:latin typeface="+mn-ea"/>
              </a:rPr>
              <a:t>状态转换表，</a:t>
            </a:r>
            <a:r>
              <a:rPr lang="zh-CN" altLang="en-US" sz="2800" b="1" dirty="0">
                <a:solidFill>
                  <a:srgbClr val="020001"/>
                </a:solidFill>
                <a:latin typeface="+mn-ea"/>
                <a:sym typeface="+mn-ea"/>
              </a:rPr>
              <a:t>列代表状态，</a:t>
            </a:r>
            <a:r>
              <a:rPr lang="zh-CN" altLang="en-US" sz="2800" b="1" dirty="0">
                <a:solidFill>
                  <a:srgbClr val="020001"/>
                </a:solidFill>
                <a:latin typeface="+mn-ea"/>
                <a:sym typeface="+mn-ea"/>
              </a:rPr>
              <a:t>行代表文法符号：</a:t>
            </a:r>
            <a:endParaRPr lang="zh-CN" altLang="en-US" b="1" dirty="0">
              <a:solidFill>
                <a:srgbClr val="020001"/>
              </a:solidFill>
              <a:latin typeface="+mn-ea"/>
            </a:endParaRPr>
          </a:p>
          <a:p>
            <a:pPr marL="967105" lvl="1" indent="-495300">
              <a:lnSpc>
                <a:spcPct val="150000"/>
              </a:lnSpc>
              <a:buFont typeface="Wingdings" panose="05000000000000000000" charset="0"/>
              <a:buChar char="p"/>
            </a:pPr>
            <a:r>
              <a:rPr lang="zh-CN" altLang="en-US" b="1" dirty="0">
                <a:solidFill>
                  <a:srgbClr val="020001"/>
                </a:solidFill>
                <a:latin typeface="+mn-ea"/>
              </a:rPr>
              <a:t>动作表</a:t>
            </a:r>
            <a:r>
              <a:rPr lang="en-US" altLang="zh-CN" b="1" dirty="0">
                <a:solidFill>
                  <a:srgbClr val="020001"/>
                </a:solidFill>
                <a:latin typeface="+mn-ea"/>
              </a:rPr>
              <a:t>(Action)</a:t>
            </a:r>
            <a:r>
              <a:rPr lang="zh-CN" altLang="en-US" b="1" dirty="0">
                <a:solidFill>
                  <a:srgbClr val="020001"/>
                </a:solidFill>
                <a:latin typeface="+mn-ea"/>
              </a:rPr>
              <a:t>，数组元素</a:t>
            </a:r>
            <a:r>
              <a:rPr lang="en-US" altLang="zh-CN" b="1" dirty="0">
                <a:solidFill>
                  <a:srgbClr val="020001"/>
                </a:solidFill>
                <a:latin typeface="+mn-ea"/>
              </a:rPr>
              <a:t>Action[</a:t>
            </a:r>
            <a:r>
              <a:rPr lang="en-US" altLang="zh-CN" b="1" dirty="0" err="1">
                <a:solidFill>
                  <a:srgbClr val="020001"/>
                </a:solidFill>
                <a:latin typeface="+mn-ea"/>
              </a:rPr>
              <a:t>i</a:t>
            </a:r>
            <a:r>
              <a:rPr lang="zh-CN" altLang="en-US" b="1" dirty="0">
                <a:solidFill>
                  <a:srgbClr val="020001"/>
                </a:solidFill>
                <a:latin typeface="+mn-ea"/>
              </a:rPr>
              <a:t>，</a:t>
            </a:r>
            <a:r>
              <a:rPr lang="en-US" altLang="zh-CN" b="1" dirty="0">
                <a:solidFill>
                  <a:srgbClr val="020001"/>
                </a:solidFill>
                <a:latin typeface="+mn-ea"/>
              </a:rPr>
              <a:t>a]</a:t>
            </a:r>
            <a:r>
              <a:rPr lang="zh-CN" altLang="en-US" b="1" dirty="0">
                <a:solidFill>
                  <a:srgbClr val="020001"/>
                </a:solidFill>
                <a:latin typeface="+mn-ea"/>
              </a:rPr>
              <a:t>表示当前识别活前缀的状态为</a:t>
            </a:r>
            <a:r>
              <a:rPr lang="en-US" altLang="zh-CN" b="1" dirty="0" err="1">
                <a:solidFill>
                  <a:srgbClr val="020001"/>
                </a:solidFill>
                <a:latin typeface="+mn-ea"/>
              </a:rPr>
              <a:t>i</a:t>
            </a:r>
            <a:r>
              <a:rPr lang="en-US" altLang="zh-CN" b="1" dirty="0">
                <a:solidFill>
                  <a:srgbClr val="020001"/>
                </a:solidFill>
                <a:latin typeface="+mn-ea"/>
              </a:rPr>
              <a:t>，</a:t>
            </a:r>
            <a:r>
              <a:rPr lang="zh-CN" altLang="en-US" b="1" dirty="0">
                <a:solidFill>
                  <a:srgbClr val="020001"/>
                </a:solidFill>
                <a:latin typeface="+mn-ea"/>
              </a:rPr>
              <a:t>而输入符号为</a:t>
            </a:r>
            <a:r>
              <a:rPr lang="en-US" altLang="zh-CN" b="1" dirty="0">
                <a:solidFill>
                  <a:srgbClr val="020001"/>
                </a:solidFill>
                <a:latin typeface="+mn-ea"/>
              </a:rPr>
              <a:t>a</a:t>
            </a:r>
            <a:r>
              <a:rPr lang="zh-CN" altLang="en-US" b="1" dirty="0">
                <a:solidFill>
                  <a:srgbClr val="020001"/>
                </a:solidFill>
                <a:latin typeface="+mn-ea"/>
              </a:rPr>
              <a:t>时所执行的动作。</a:t>
            </a:r>
            <a:endParaRPr lang="zh-CN" altLang="en-US" b="1" dirty="0">
              <a:solidFill>
                <a:srgbClr val="020001"/>
              </a:solidFill>
              <a:latin typeface="+mn-ea"/>
            </a:endParaRPr>
          </a:p>
          <a:p>
            <a:pPr marL="967105" lvl="1" indent="-495300">
              <a:lnSpc>
                <a:spcPct val="150000"/>
              </a:lnSpc>
              <a:buFont typeface="Wingdings" panose="05000000000000000000" charset="0"/>
              <a:buChar char="p"/>
            </a:pPr>
            <a:r>
              <a:rPr lang="zh-CN" altLang="en-US" b="1" dirty="0">
                <a:solidFill>
                  <a:srgbClr val="0070C0"/>
                </a:solidFill>
                <a:latin typeface="+mn-ea"/>
                <a:sym typeface="+mn-ea"/>
              </a:rPr>
              <a:t>状态转换表（</a:t>
            </a:r>
            <a:r>
              <a:rPr lang="en-US" altLang="zh-CN" b="1" dirty="0">
                <a:solidFill>
                  <a:srgbClr val="0070C0"/>
                </a:solidFill>
                <a:latin typeface="+mn-ea"/>
                <a:sym typeface="+mn-ea"/>
              </a:rPr>
              <a:t>Goto</a:t>
            </a:r>
            <a:r>
              <a:rPr lang="zh-CN" altLang="en-US" b="1" dirty="0">
                <a:solidFill>
                  <a:srgbClr val="0070C0"/>
                </a:solidFill>
                <a:latin typeface="+mn-ea"/>
                <a:sym typeface="+mn-ea"/>
              </a:rPr>
              <a:t>），</a:t>
            </a:r>
            <a:r>
              <a:rPr lang="zh-CN" altLang="en-US" b="1" dirty="0">
                <a:solidFill>
                  <a:srgbClr val="020001"/>
                </a:solidFill>
                <a:latin typeface="+mn-ea"/>
                <a:sym typeface="+mn-ea"/>
              </a:rPr>
              <a:t>数组元素</a:t>
            </a:r>
            <a:r>
              <a:rPr lang="en-US" altLang="zh-CN" b="1" dirty="0" err="1">
                <a:solidFill>
                  <a:srgbClr val="020001"/>
                </a:solidFill>
                <a:latin typeface="+mn-ea"/>
                <a:sym typeface="+mn-ea"/>
              </a:rPr>
              <a:t>Goto</a:t>
            </a:r>
            <a:r>
              <a:rPr lang="en-US" altLang="zh-CN" b="1" dirty="0">
                <a:solidFill>
                  <a:srgbClr val="020001"/>
                </a:solidFill>
                <a:latin typeface="+mn-ea"/>
                <a:sym typeface="+mn-ea"/>
              </a:rPr>
              <a:t>[</a:t>
            </a:r>
            <a:r>
              <a:rPr lang="en-US" altLang="zh-CN" b="1" dirty="0" err="1">
                <a:solidFill>
                  <a:srgbClr val="020001"/>
                </a:solidFill>
                <a:latin typeface="+mn-ea"/>
                <a:sym typeface="+mn-ea"/>
              </a:rPr>
              <a:t>i,X</a:t>
            </a:r>
            <a:r>
              <a:rPr lang="en-US" altLang="zh-CN" b="1" dirty="0">
                <a:solidFill>
                  <a:srgbClr val="020001"/>
                </a:solidFill>
                <a:latin typeface="+mn-ea"/>
                <a:sym typeface="+mn-ea"/>
              </a:rPr>
              <a:t>]</a:t>
            </a:r>
            <a:r>
              <a:rPr lang="zh-CN" altLang="en-US" b="1" dirty="0">
                <a:solidFill>
                  <a:srgbClr val="020001"/>
                </a:solidFill>
                <a:latin typeface="+mn-ea"/>
                <a:sym typeface="+mn-ea"/>
              </a:rPr>
              <a:t>表示当前识别活前缀的状态为</a:t>
            </a:r>
            <a:r>
              <a:rPr lang="en-US" altLang="zh-CN" b="1" dirty="0" err="1">
                <a:solidFill>
                  <a:srgbClr val="020001"/>
                </a:solidFill>
                <a:latin typeface="+mn-ea"/>
                <a:sym typeface="+mn-ea"/>
              </a:rPr>
              <a:t>i</a:t>
            </a:r>
            <a:r>
              <a:rPr lang="zh-CN" altLang="en-US" b="1" dirty="0">
                <a:solidFill>
                  <a:srgbClr val="020001"/>
                </a:solidFill>
                <a:latin typeface="+mn-ea"/>
                <a:sym typeface="+mn-ea"/>
              </a:rPr>
              <a:t>面对文法符号为</a:t>
            </a:r>
            <a:r>
              <a:rPr lang="en-US" altLang="zh-CN" b="1" dirty="0">
                <a:solidFill>
                  <a:srgbClr val="020001"/>
                </a:solidFill>
                <a:latin typeface="+mn-ea"/>
                <a:sym typeface="+mn-ea"/>
              </a:rPr>
              <a:t>X</a:t>
            </a:r>
            <a:r>
              <a:rPr lang="zh-CN" altLang="en-US" b="1" dirty="0">
                <a:solidFill>
                  <a:srgbClr val="020001"/>
                </a:solidFill>
                <a:latin typeface="+mn-ea"/>
                <a:sym typeface="+mn-ea"/>
              </a:rPr>
              <a:t>时，应转去的新状态</a:t>
            </a:r>
            <a:r>
              <a:rPr lang="en-US" altLang="zh-CN" b="1" dirty="0">
                <a:solidFill>
                  <a:srgbClr val="020001"/>
                </a:solidFill>
                <a:latin typeface="+mn-ea"/>
                <a:sym typeface="+mn-ea"/>
              </a:rPr>
              <a:t>。</a:t>
            </a:r>
            <a:endParaRPr lang="en-US" altLang="zh-CN"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9" name="Rectangle 7"/>
          <p:cNvSpPr txBox="1">
            <a:spLocks noChangeArrowheads="1"/>
          </p:cNvSpPr>
          <p:nvPr>
            <p:custDataLst>
              <p:tags r:id="rId1"/>
            </p:custDataLst>
          </p:nvPr>
        </p:nvSpPr>
        <p:spPr>
          <a:xfrm>
            <a:off x="6829425" y="1029335"/>
            <a:ext cx="5041900" cy="45961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solidFill>
                  <a:srgbClr val="020001"/>
                </a:solidFill>
              </a:rPr>
              <a:t>4种动作：</a:t>
            </a:r>
            <a:endParaRPr lang="zh-CN" altLang="en-US" b="1" dirty="0">
              <a:solidFill>
                <a:srgbClr val="F4007A"/>
              </a:solidFill>
            </a:endParaRPr>
          </a:p>
          <a:p>
            <a:pPr lvl="1">
              <a:lnSpc>
                <a:spcPct val="150000"/>
              </a:lnSpc>
            </a:pPr>
            <a:r>
              <a:rPr lang="zh-CN" altLang="en-US" b="1" dirty="0">
                <a:solidFill>
                  <a:srgbClr val="0070C0"/>
                </a:solidFill>
              </a:rPr>
              <a:t>移进：</a:t>
            </a:r>
            <a:r>
              <a:rPr lang="zh-CN" altLang="en-US" b="1" dirty="0">
                <a:solidFill>
                  <a:srgbClr val="020001"/>
                </a:solidFill>
              </a:rPr>
              <a:t>输入符号进符号栈；</a:t>
            </a:r>
            <a:endParaRPr lang="zh-CN" altLang="en-US" b="1" dirty="0">
              <a:solidFill>
                <a:srgbClr val="020001"/>
              </a:solidFill>
            </a:endParaRPr>
          </a:p>
          <a:p>
            <a:pPr lvl="1">
              <a:lnSpc>
                <a:spcPct val="150000"/>
              </a:lnSpc>
            </a:pPr>
            <a:r>
              <a:rPr lang="zh-CN" altLang="en-US" b="1" dirty="0">
                <a:solidFill>
                  <a:srgbClr val="0070C0"/>
                </a:solidFill>
              </a:rPr>
              <a:t>归约：</a:t>
            </a:r>
            <a:r>
              <a:rPr lang="zh-CN" altLang="en-US" b="1" dirty="0">
                <a:solidFill>
                  <a:srgbClr val="020001"/>
                </a:solidFill>
              </a:rPr>
              <a:t>用</a:t>
            </a:r>
            <a:r>
              <a:rPr lang="zh-CN" altLang="en-US" b="1" dirty="0">
                <a:solidFill>
                  <a:srgbClr val="020001"/>
                </a:solidFill>
              </a:rPr>
              <a:t>某产生式进行归约；</a:t>
            </a:r>
            <a:endParaRPr lang="zh-CN" altLang="en-US" b="1" dirty="0">
              <a:solidFill>
                <a:srgbClr val="020001"/>
              </a:solidFill>
            </a:endParaRPr>
          </a:p>
          <a:p>
            <a:pPr lvl="1">
              <a:lnSpc>
                <a:spcPct val="150000"/>
              </a:lnSpc>
            </a:pPr>
            <a:r>
              <a:rPr lang="zh-CN" altLang="en-US" b="1" dirty="0">
                <a:solidFill>
                  <a:srgbClr val="0070C0"/>
                </a:solidFill>
              </a:rPr>
              <a:t>接受：</a:t>
            </a:r>
            <a:r>
              <a:rPr lang="zh-CN" altLang="en-US" b="1" dirty="0">
                <a:solidFill>
                  <a:srgbClr val="020001"/>
                </a:solidFill>
              </a:rPr>
              <a:t>当文法符号归约到只剩下开始符号，且输入串结束时(当前输入为$)，分析成功；</a:t>
            </a:r>
            <a:endParaRPr lang="zh-CN" altLang="en-US" b="1" dirty="0">
              <a:solidFill>
                <a:srgbClr val="020001"/>
              </a:solidFill>
            </a:endParaRPr>
          </a:p>
          <a:p>
            <a:pPr lvl="1">
              <a:lnSpc>
                <a:spcPct val="150000"/>
              </a:lnSpc>
            </a:pPr>
            <a:r>
              <a:rPr lang="zh-CN" altLang="en-US" b="1" dirty="0">
                <a:solidFill>
                  <a:srgbClr val="0070C0"/>
                </a:solidFill>
              </a:rPr>
              <a:t>报警：</a:t>
            </a:r>
            <a:r>
              <a:rPr lang="zh-CN" altLang="en-US" b="1" dirty="0">
                <a:solidFill>
                  <a:srgbClr val="020001"/>
                </a:solidFill>
              </a:rPr>
              <a:t>空白元素</a:t>
            </a:r>
            <a:r>
              <a:rPr lang="zh-CN" altLang="en-US" b="1" dirty="0">
                <a:solidFill>
                  <a:srgbClr val="020001"/>
                </a:solidFill>
              </a:rPr>
              <a:t>均报错。</a:t>
            </a:r>
            <a:endParaRPr lang="zh-CN" altLang="en-US" b="1" dirty="0">
              <a:solidFill>
                <a:srgbClr val="02000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9250" y="276860"/>
            <a:ext cx="7503795" cy="593090"/>
          </a:xfrm>
        </p:spPr>
        <p:txBody>
          <a:bodyPr/>
          <a:lstStyle/>
          <a:p>
            <a:r>
              <a:rPr lang="zh-CN" altLang="en-US" sz="3200" dirty="0"/>
              <a:t>文法的活前缀  可规前缀</a:t>
            </a:r>
            <a:endParaRPr lang="zh-CN" altLang="en-US" sz="3200" dirty="0"/>
          </a:p>
        </p:txBody>
      </p:sp>
      <p:sp>
        <p:nvSpPr>
          <p:cNvPr id="38" name="Line 7"/>
          <p:cNvSpPr>
            <a:spLocks noChangeShapeType="1"/>
          </p:cNvSpPr>
          <p:nvPr/>
        </p:nvSpPr>
        <p:spPr bwMode="auto">
          <a:xfrm>
            <a:off x="2052955" y="1345421"/>
            <a:ext cx="7929562" cy="4603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sp useBgFill="1">
        <p:nvSpPr>
          <p:cNvPr id="39" name="Rectangle 8"/>
          <p:cNvSpPr>
            <a:spLocks noChangeArrowheads="1"/>
          </p:cNvSpPr>
          <p:nvPr/>
        </p:nvSpPr>
        <p:spPr bwMode="auto">
          <a:xfrm>
            <a:off x="4181792" y="1415271"/>
            <a:ext cx="914400"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10000"/>
                </a:solidFill>
                <a:latin typeface="+mn-ea"/>
              </a:rPr>
              <a:t>分析栈</a:t>
            </a:r>
            <a:endParaRPr lang="zh-CN" altLang="en-US" sz="2000" b="1">
              <a:solidFill>
                <a:srgbClr val="010000"/>
              </a:solidFill>
              <a:latin typeface="+mn-ea"/>
            </a:endParaRPr>
          </a:p>
        </p:txBody>
      </p:sp>
      <p:sp useBgFill="1">
        <p:nvSpPr>
          <p:cNvPr id="40" name="Rectangle 9"/>
          <p:cNvSpPr>
            <a:spLocks noChangeArrowheads="1"/>
          </p:cNvSpPr>
          <p:nvPr/>
        </p:nvSpPr>
        <p:spPr bwMode="auto">
          <a:xfrm>
            <a:off x="5791517" y="1424796"/>
            <a:ext cx="795338" cy="3905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10000"/>
                </a:solidFill>
                <a:latin typeface="+mn-ea"/>
              </a:rPr>
              <a:t>输入</a:t>
            </a:r>
            <a:endParaRPr lang="zh-CN" altLang="en-US" sz="2000" b="1">
              <a:solidFill>
                <a:srgbClr val="010000"/>
              </a:solidFill>
              <a:latin typeface="+mn-ea"/>
            </a:endParaRPr>
          </a:p>
        </p:txBody>
      </p:sp>
      <p:sp useBgFill="1">
        <p:nvSpPr>
          <p:cNvPr id="41" name="Rectangle 10"/>
          <p:cNvSpPr>
            <a:spLocks noChangeArrowheads="1"/>
          </p:cNvSpPr>
          <p:nvPr/>
        </p:nvSpPr>
        <p:spPr bwMode="auto">
          <a:xfrm>
            <a:off x="7418050" y="1459578"/>
            <a:ext cx="795337" cy="3143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dirty="0">
                <a:solidFill>
                  <a:srgbClr val="010000"/>
                </a:solidFill>
                <a:latin typeface="+mn-ea"/>
              </a:rPr>
              <a:t>动作</a:t>
            </a:r>
            <a:endParaRPr lang="zh-CN" altLang="en-US" sz="2000" b="1" dirty="0">
              <a:solidFill>
                <a:srgbClr val="010000"/>
              </a:solidFill>
              <a:latin typeface="+mn-ea"/>
            </a:endParaRPr>
          </a:p>
        </p:txBody>
      </p:sp>
      <p:sp useBgFill="1">
        <p:nvSpPr>
          <p:cNvPr id="42" name="Rectangle 11"/>
          <p:cNvSpPr>
            <a:spLocks noChangeArrowheads="1"/>
          </p:cNvSpPr>
          <p:nvPr/>
        </p:nvSpPr>
        <p:spPr bwMode="auto">
          <a:xfrm>
            <a:off x="1910080" y="1443846"/>
            <a:ext cx="9144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10000"/>
                </a:solidFill>
                <a:latin typeface="+mn-ea"/>
              </a:rPr>
              <a:t>步骤</a:t>
            </a:r>
            <a:endParaRPr lang="zh-CN" altLang="en-US" sz="2000" b="1">
              <a:solidFill>
                <a:srgbClr val="010000"/>
              </a:solidFill>
              <a:latin typeface="+mn-ea"/>
            </a:endParaRPr>
          </a:p>
        </p:txBody>
      </p:sp>
      <p:sp>
        <p:nvSpPr>
          <p:cNvPr id="43" name="Line 49"/>
          <p:cNvSpPr>
            <a:spLocks noChangeShapeType="1"/>
          </p:cNvSpPr>
          <p:nvPr/>
        </p:nvSpPr>
        <p:spPr bwMode="auto">
          <a:xfrm>
            <a:off x="2103894" y="5848707"/>
            <a:ext cx="7929563" cy="14295"/>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grpSp>
        <p:nvGrpSpPr>
          <p:cNvPr id="44" name="组合 77"/>
          <p:cNvGrpSpPr/>
          <p:nvPr/>
        </p:nvGrpSpPr>
        <p:grpSpPr bwMode="auto">
          <a:xfrm>
            <a:off x="2207875" y="1789256"/>
            <a:ext cx="7886700" cy="442322"/>
            <a:chOff x="357158" y="1624000"/>
            <a:chExt cx="7886728" cy="442323"/>
          </a:xfrm>
        </p:grpSpPr>
        <p:sp>
          <p:nvSpPr>
            <p:cNvPr id="45" name="Rectangle 2"/>
            <p:cNvSpPr>
              <a:spLocks noChangeArrowheads="1"/>
            </p:cNvSpPr>
            <p:nvPr/>
          </p:nvSpPr>
          <p:spPr bwMode="auto">
            <a:xfrm>
              <a:off x="5616565" y="1667542"/>
              <a:ext cx="1905000" cy="39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移进</a:t>
              </a:r>
              <a:endParaRPr lang="zh-CN" altLang="en-US" sz="2000" b="1" dirty="0">
                <a:solidFill>
                  <a:srgbClr val="010000"/>
                </a:solidFill>
                <a:latin typeface="+mn-ea"/>
              </a:endParaRPr>
            </a:p>
          </p:txBody>
        </p:sp>
        <p:sp>
          <p:nvSpPr>
            <p:cNvPr id="46" name="Rectangle 3"/>
            <p:cNvSpPr>
              <a:spLocks noChangeArrowheads="1"/>
            </p:cNvSpPr>
            <p:nvPr/>
          </p:nvSpPr>
          <p:spPr bwMode="auto">
            <a:xfrm>
              <a:off x="2495577" y="1635112"/>
              <a:ext cx="739775" cy="39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a:t>
              </a:r>
              <a:endParaRPr lang="zh-CN" altLang="en-US" sz="2000" b="1">
                <a:solidFill>
                  <a:srgbClr val="010000"/>
                </a:solidFill>
                <a:latin typeface="+mn-ea"/>
              </a:endParaRPr>
            </a:p>
          </p:txBody>
        </p:sp>
        <p:sp>
          <p:nvSpPr>
            <p:cNvPr id="47" name="Rectangle 4"/>
            <p:cNvSpPr>
              <a:spLocks noChangeArrowheads="1"/>
            </p:cNvSpPr>
            <p:nvPr/>
          </p:nvSpPr>
          <p:spPr bwMode="auto">
            <a:xfrm>
              <a:off x="3867177" y="1624000"/>
              <a:ext cx="1457324" cy="39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en-US" altLang="zh-CN" sz="2000" b="1">
                  <a:latin typeface="+mn-ea"/>
                </a:rPr>
                <a:t>abbcde</a:t>
              </a:r>
              <a:r>
                <a:rPr lang="zh-CN" altLang="en-US" sz="2000" b="1">
                  <a:solidFill>
                    <a:srgbClr val="010000"/>
                  </a:solidFill>
                  <a:latin typeface="+mn-ea"/>
                </a:rPr>
                <a:t>$</a:t>
              </a:r>
              <a:endParaRPr lang="zh-CN" altLang="en-US" sz="2000" b="1">
                <a:solidFill>
                  <a:srgbClr val="010000"/>
                </a:solidFill>
                <a:latin typeface="+mn-ea"/>
              </a:endParaRPr>
            </a:p>
          </p:txBody>
        </p:sp>
        <p:sp>
          <p:nvSpPr>
            <p:cNvPr id="48" name="Rectangle 5"/>
            <p:cNvSpPr>
              <a:spLocks noChangeArrowheads="1"/>
            </p:cNvSpPr>
            <p:nvPr/>
          </p:nvSpPr>
          <p:spPr bwMode="auto">
            <a:xfrm>
              <a:off x="361747" y="1642681"/>
              <a:ext cx="327335" cy="39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rgbClr val="010000"/>
                  </a:solidFill>
                  <a:latin typeface="+mn-ea"/>
                </a:rPr>
                <a:t>1</a:t>
              </a:r>
              <a:endParaRPr lang="zh-CN" altLang="en-US" sz="2000" b="1" dirty="0">
                <a:solidFill>
                  <a:srgbClr val="010000"/>
                </a:solidFill>
                <a:latin typeface="+mn-ea"/>
              </a:endParaRPr>
            </a:p>
          </p:txBody>
        </p:sp>
        <p:sp>
          <p:nvSpPr>
            <p:cNvPr id="49" name="Line 12"/>
            <p:cNvSpPr>
              <a:spLocks noChangeShapeType="1"/>
            </p:cNvSpPr>
            <p:nvPr/>
          </p:nvSpPr>
          <p:spPr bwMode="auto">
            <a:xfrm>
              <a:off x="357158" y="1639873"/>
              <a:ext cx="7886728" cy="4128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000" b="1">
                <a:latin typeface="+mn-ea"/>
              </a:endParaRPr>
            </a:p>
          </p:txBody>
        </p:sp>
        <p:sp>
          <p:nvSpPr>
            <p:cNvPr id="50" name="Rectangle 3"/>
            <p:cNvSpPr>
              <a:spLocks noChangeArrowheads="1"/>
            </p:cNvSpPr>
            <p:nvPr/>
          </p:nvSpPr>
          <p:spPr bwMode="auto">
            <a:xfrm>
              <a:off x="1142976" y="1643050"/>
              <a:ext cx="1025527" cy="39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a:t>
              </a:r>
              <a:endParaRPr lang="zh-CN" altLang="en-US" sz="2000" b="1" dirty="0">
                <a:solidFill>
                  <a:srgbClr val="010000"/>
                </a:solidFill>
                <a:latin typeface="+mn-ea"/>
              </a:endParaRPr>
            </a:p>
          </p:txBody>
        </p:sp>
      </p:grpSp>
      <p:grpSp>
        <p:nvGrpSpPr>
          <p:cNvPr id="51" name="组合 78"/>
          <p:cNvGrpSpPr/>
          <p:nvPr/>
        </p:nvGrpSpPr>
        <p:grpSpPr bwMode="auto">
          <a:xfrm>
            <a:off x="2207875" y="2106758"/>
            <a:ext cx="7626350" cy="490538"/>
            <a:chOff x="571524" y="1941502"/>
            <a:chExt cx="7626358" cy="490538"/>
          </a:xfrm>
        </p:grpSpPr>
        <p:grpSp>
          <p:nvGrpSpPr>
            <p:cNvPr id="52" name="Group 14"/>
            <p:cNvGrpSpPr/>
            <p:nvPr/>
          </p:nvGrpSpPr>
          <p:grpSpPr bwMode="auto">
            <a:xfrm>
              <a:off x="571524" y="1941502"/>
              <a:ext cx="7626358" cy="490538"/>
              <a:chOff x="-220" y="1152"/>
              <a:chExt cx="4804" cy="309"/>
            </a:xfrm>
          </p:grpSpPr>
          <p:sp>
            <p:nvSpPr>
              <p:cNvPr id="54" name="Rectangle 15"/>
              <p:cNvSpPr>
                <a:spLocks noChangeArrowheads="1"/>
              </p:cNvSpPr>
              <p:nvPr/>
            </p:nvSpPr>
            <p:spPr bwMode="auto">
              <a:xfrm>
                <a:off x="1115" y="1192"/>
                <a:ext cx="48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a:solidFill>
                      <a:srgbClr val="010000"/>
                    </a:solidFill>
                    <a:latin typeface="+mn-ea"/>
                  </a:rPr>
                  <a:t>a </a:t>
                </a:r>
                <a:endParaRPr lang="en-US" altLang="zh-CN" sz="2000" b="1" dirty="0">
                  <a:solidFill>
                    <a:srgbClr val="010000"/>
                  </a:solidFill>
                  <a:latin typeface="+mn-ea"/>
                </a:endParaRPr>
              </a:p>
            </p:txBody>
          </p:sp>
          <p:sp>
            <p:nvSpPr>
              <p:cNvPr id="55" name="Rectangle 16"/>
              <p:cNvSpPr>
                <a:spLocks noChangeArrowheads="1"/>
              </p:cNvSpPr>
              <p:nvPr/>
            </p:nvSpPr>
            <p:spPr bwMode="auto">
              <a:xfrm>
                <a:off x="1968" y="1152"/>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bbcde$</a:t>
                </a:r>
                <a:endParaRPr lang="en-US" altLang="zh-CN" sz="2000" b="1">
                  <a:solidFill>
                    <a:srgbClr val="010000"/>
                  </a:solidFill>
                  <a:latin typeface="+mn-ea"/>
                </a:endParaRPr>
              </a:p>
            </p:txBody>
          </p:sp>
          <p:sp>
            <p:nvSpPr>
              <p:cNvPr id="56" name="Rectangle 17"/>
              <p:cNvSpPr>
                <a:spLocks noChangeArrowheads="1"/>
              </p:cNvSpPr>
              <p:nvPr/>
            </p:nvSpPr>
            <p:spPr bwMode="auto">
              <a:xfrm>
                <a:off x="3096" y="1166"/>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移进</a:t>
                </a:r>
                <a:endParaRPr lang="zh-CN" altLang="en-US" sz="2000" b="1">
                  <a:solidFill>
                    <a:srgbClr val="010000"/>
                  </a:solidFill>
                  <a:latin typeface="+mn-ea"/>
                </a:endParaRPr>
              </a:p>
            </p:txBody>
          </p:sp>
          <p:sp>
            <p:nvSpPr>
              <p:cNvPr id="57" name="Rectangle 18"/>
              <p:cNvSpPr>
                <a:spLocks noChangeArrowheads="1"/>
              </p:cNvSpPr>
              <p:nvPr/>
            </p:nvSpPr>
            <p:spPr bwMode="auto">
              <a:xfrm>
                <a:off x="-220" y="1210"/>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2</a:t>
                </a:r>
                <a:endParaRPr lang="zh-CN" altLang="en-US" sz="2000" b="1">
                  <a:solidFill>
                    <a:srgbClr val="010000"/>
                  </a:solidFill>
                  <a:latin typeface="+mn-ea"/>
                </a:endParaRPr>
              </a:p>
            </p:txBody>
          </p:sp>
        </p:grpSp>
        <p:sp>
          <p:nvSpPr>
            <p:cNvPr id="53" name="Rectangle 3"/>
            <p:cNvSpPr>
              <a:spLocks noChangeArrowheads="1"/>
            </p:cNvSpPr>
            <p:nvPr/>
          </p:nvSpPr>
          <p:spPr bwMode="auto">
            <a:xfrm>
              <a:off x="1285082" y="2000024"/>
              <a:ext cx="102552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a:t>
              </a:r>
              <a:endParaRPr lang="zh-CN" altLang="en-US" sz="2000" b="1" dirty="0">
                <a:solidFill>
                  <a:srgbClr val="010000"/>
                </a:solidFill>
                <a:latin typeface="+mn-ea"/>
              </a:endParaRPr>
            </a:p>
          </p:txBody>
        </p:sp>
      </p:grpSp>
      <p:grpSp>
        <p:nvGrpSpPr>
          <p:cNvPr id="58" name="组合 79"/>
          <p:cNvGrpSpPr/>
          <p:nvPr/>
        </p:nvGrpSpPr>
        <p:grpSpPr bwMode="auto">
          <a:xfrm>
            <a:off x="2207875" y="2475058"/>
            <a:ext cx="7600950" cy="490538"/>
            <a:chOff x="571524" y="2309802"/>
            <a:chExt cx="7600958" cy="490538"/>
          </a:xfrm>
        </p:grpSpPr>
        <p:grpSp>
          <p:nvGrpSpPr>
            <p:cNvPr id="59" name="Group 19"/>
            <p:cNvGrpSpPr/>
            <p:nvPr/>
          </p:nvGrpSpPr>
          <p:grpSpPr bwMode="auto">
            <a:xfrm>
              <a:off x="571524" y="2309802"/>
              <a:ext cx="7600958" cy="490538"/>
              <a:chOff x="-212" y="1424"/>
              <a:chExt cx="4788" cy="309"/>
            </a:xfrm>
          </p:grpSpPr>
          <p:sp>
            <p:nvSpPr>
              <p:cNvPr id="61" name="Rectangle 20"/>
              <p:cNvSpPr>
                <a:spLocks noChangeArrowheads="1"/>
              </p:cNvSpPr>
              <p:nvPr/>
            </p:nvSpPr>
            <p:spPr bwMode="auto">
              <a:xfrm>
                <a:off x="1123" y="1464"/>
                <a:ext cx="61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a:solidFill>
                      <a:srgbClr val="010000"/>
                    </a:solidFill>
                    <a:latin typeface="+mn-ea"/>
                  </a:rPr>
                  <a:t>ab </a:t>
                </a:r>
                <a:endParaRPr lang="en-US" altLang="zh-CN" sz="2000" b="1" dirty="0">
                  <a:solidFill>
                    <a:srgbClr val="010000"/>
                  </a:solidFill>
                  <a:latin typeface="+mn-ea"/>
                </a:endParaRPr>
              </a:p>
            </p:txBody>
          </p:sp>
          <p:sp>
            <p:nvSpPr>
              <p:cNvPr id="62" name="Rectangle 21"/>
              <p:cNvSpPr>
                <a:spLocks noChangeArrowheads="1"/>
              </p:cNvSpPr>
              <p:nvPr/>
            </p:nvSpPr>
            <p:spPr bwMode="auto">
              <a:xfrm>
                <a:off x="1960" y="1424"/>
                <a:ext cx="104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bcde$</a:t>
                </a:r>
                <a:endParaRPr lang="en-US" altLang="zh-CN" sz="2000" b="1">
                  <a:solidFill>
                    <a:srgbClr val="010000"/>
                  </a:solidFill>
                  <a:latin typeface="+mn-ea"/>
                </a:endParaRPr>
              </a:p>
            </p:txBody>
          </p:sp>
          <p:sp>
            <p:nvSpPr>
              <p:cNvPr id="63" name="Rectangle 22"/>
              <p:cNvSpPr>
                <a:spLocks noChangeArrowheads="1"/>
              </p:cNvSpPr>
              <p:nvPr/>
            </p:nvSpPr>
            <p:spPr bwMode="auto">
              <a:xfrm>
                <a:off x="3088" y="1438"/>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用</a:t>
                </a:r>
                <a:r>
                  <a:rPr lang="en-US" altLang="zh-CN" sz="2000" b="1">
                    <a:solidFill>
                      <a:srgbClr val="010000"/>
                    </a:solidFill>
                    <a:latin typeface="+mn-ea"/>
                  </a:rPr>
                  <a:t>A→</a:t>
                </a:r>
                <a:r>
                  <a:rPr lang="en-US" altLang="zh-CN" sz="2000" b="1">
                    <a:solidFill>
                      <a:srgbClr val="010000"/>
                    </a:solidFill>
                    <a:latin typeface="+mn-ea"/>
                    <a:sym typeface="Symbol" panose="05050102010706020507" pitchFamily="18" charset="2"/>
                  </a:rPr>
                  <a:t>b</a:t>
                </a:r>
                <a:r>
                  <a:rPr lang="zh-CN" altLang="en-US" sz="2000" b="1">
                    <a:solidFill>
                      <a:srgbClr val="010000"/>
                    </a:solidFill>
                    <a:latin typeface="+mn-ea"/>
                  </a:rPr>
                  <a:t>归约</a:t>
                </a:r>
                <a:endParaRPr lang="zh-CN" altLang="en-US" sz="2000" b="1">
                  <a:solidFill>
                    <a:srgbClr val="010000"/>
                  </a:solidFill>
                  <a:latin typeface="+mn-ea"/>
                </a:endParaRPr>
              </a:p>
            </p:txBody>
          </p:sp>
          <p:sp>
            <p:nvSpPr>
              <p:cNvPr id="64" name="Rectangle 23"/>
              <p:cNvSpPr>
                <a:spLocks noChangeArrowheads="1"/>
              </p:cNvSpPr>
              <p:nvPr/>
            </p:nvSpPr>
            <p:spPr bwMode="auto">
              <a:xfrm>
                <a:off x="-212" y="1482"/>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3</a:t>
                </a:r>
                <a:endParaRPr lang="zh-CN" altLang="en-US" sz="2000" b="1">
                  <a:solidFill>
                    <a:srgbClr val="010000"/>
                  </a:solidFill>
                  <a:latin typeface="+mn-ea"/>
                </a:endParaRPr>
              </a:p>
            </p:txBody>
          </p:sp>
        </p:grpSp>
        <p:sp>
          <p:nvSpPr>
            <p:cNvPr id="60" name="Rectangle 3"/>
            <p:cNvSpPr>
              <a:spLocks noChangeArrowheads="1"/>
            </p:cNvSpPr>
            <p:nvPr/>
          </p:nvSpPr>
          <p:spPr bwMode="auto">
            <a:xfrm>
              <a:off x="1278731" y="2356914"/>
              <a:ext cx="102552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025</a:t>
              </a:r>
              <a:endParaRPr lang="zh-CN" altLang="en-US" sz="2000" b="1" dirty="0">
                <a:solidFill>
                  <a:srgbClr val="010000"/>
                </a:solidFill>
                <a:latin typeface="+mn-ea"/>
              </a:endParaRPr>
            </a:p>
          </p:txBody>
        </p:sp>
      </p:grpSp>
      <p:grpSp>
        <p:nvGrpSpPr>
          <p:cNvPr id="65" name="组合 80"/>
          <p:cNvGrpSpPr/>
          <p:nvPr/>
        </p:nvGrpSpPr>
        <p:grpSpPr bwMode="auto">
          <a:xfrm>
            <a:off x="2207875" y="2852881"/>
            <a:ext cx="7588250" cy="478584"/>
            <a:chOff x="571525" y="2687627"/>
            <a:chExt cx="7588258" cy="478594"/>
          </a:xfrm>
        </p:grpSpPr>
        <p:grpSp>
          <p:nvGrpSpPr>
            <p:cNvPr id="66" name="Group 24"/>
            <p:cNvGrpSpPr/>
            <p:nvPr/>
          </p:nvGrpSpPr>
          <p:grpSpPr bwMode="auto">
            <a:xfrm>
              <a:off x="571525" y="2687627"/>
              <a:ext cx="7588258" cy="468313"/>
              <a:chOff x="-204" y="1582"/>
              <a:chExt cx="4780" cy="295"/>
            </a:xfrm>
          </p:grpSpPr>
          <p:sp>
            <p:nvSpPr>
              <p:cNvPr id="68" name="Rectangle 25"/>
              <p:cNvSpPr>
                <a:spLocks noChangeArrowheads="1"/>
              </p:cNvSpPr>
              <p:nvPr/>
            </p:nvSpPr>
            <p:spPr bwMode="auto">
              <a:xfrm>
                <a:off x="1114" y="1602"/>
                <a:ext cx="8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69" name="Rectangle 26"/>
              <p:cNvSpPr>
                <a:spLocks noChangeArrowheads="1"/>
              </p:cNvSpPr>
              <p:nvPr/>
            </p:nvSpPr>
            <p:spPr bwMode="auto">
              <a:xfrm>
                <a:off x="1960" y="1584"/>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bcde$</a:t>
                </a:r>
                <a:endParaRPr lang="en-US" altLang="zh-CN" sz="2000" b="1">
                  <a:solidFill>
                    <a:srgbClr val="010000"/>
                  </a:solidFill>
                  <a:latin typeface="+mn-ea"/>
                </a:endParaRPr>
              </a:p>
            </p:txBody>
          </p:sp>
          <p:sp>
            <p:nvSpPr>
              <p:cNvPr id="70" name="Rectangle 27"/>
              <p:cNvSpPr>
                <a:spLocks noChangeArrowheads="1"/>
              </p:cNvSpPr>
              <p:nvPr/>
            </p:nvSpPr>
            <p:spPr bwMode="auto">
              <a:xfrm>
                <a:off x="3088" y="1582"/>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移进</a:t>
                </a:r>
                <a:endParaRPr lang="zh-CN" altLang="en-US" sz="2000" b="1">
                  <a:solidFill>
                    <a:srgbClr val="010000"/>
                  </a:solidFill>
                  <a:latin typeface="+mn-ea"/>
                </a:endParaRPr>
              </a:p>
            </p:txBody>
          </p:sp>
          <p:sp>
            <p:nvSpPr>
              <p:cNvPr id="71" name="Rectangle 28"/>
              <p:cNvSpPr>
                <a:spLocks noChangeArrowheads="1"/>
              </p:cNvSpPr>
              <p:nvPr/>
            </p:nvSpPr>
            <p:spPr bwMode="auto">
              <a:xfrm>
                <a:off x="-204" y="1626"/>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4</a:t>
                </a:r>
                <a:endParaRPr lang="zh-CN" altLang="en-US" sz="2000" b="1">
                  <a:solidFill>
                    <a:srgbClr val="010000"/>
                  </a:solidFill>
                  <a:latin typeface="+mn-ea"/>
                </a:endParaRPr>
              </a:p>
            </p:txBody>
          </p:sp>
        </p:grpSp>
        <p:sp>
          <p:nvSpPr>
            <p:cNvPr id="67" name="Rectangle 3"/>
            <p:cNvSpPr>
              <a:spLocks noChangeArrowheads="1"/>
            </p:cNvSpPr>
            <p:nvPr/>
          </p:nvSpPr>
          <p:spPr bwMode="auto">
            <a:xfrm>
              <a:off x="1270027" y="2767433"/>
              <a:ext cx="1025527" cy="3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a:t>
              </a:r>
              <a:endParaRPr lang="zh-CN" altLang="en-US" sz="2000" b="1" dirty="0">
                <a:solidFill>
                  <a:srgbClr val="010000"/>
                </a:solidFill>
                <a:latin typeface="+mn-ea"/>
              </a:endParaRPr>
            </a:p>
          </p:txBody>
        </p:sp>
      </p:grpSp>
      <p:grpSp>
        <p:nvGrpSpPr>
          <p:cNvPr id="72" name="组合 81"/>
          <p:cNvGrpSpPr/>
          <p:nvPr/>
        </p:nvGrpSpPr>
        <p:grpSpPr bwMode="auto">
          <a:xfrm>
            <a:off x="2207875" y="3246584"/>
            <a:ext cx="7516812" cy="468313"/>
            <a:chOff x="642963" y="3081328"/>
            <a:chExt cx="7516820" cy="468313"/>
          </a:xfrm>
        </p:grpSpPr>
        <p:grpSp>
          <p:nvGrpSpPr>
            <p:cNvPr id="73" name="Group 29"/>
            <p:cNvGrpSpPr/>
            <p:nvPr/>
          </p:nvGrpSpPr>
          <p:grpSpPr bwMode="auto">
            <a:xfrm>
              <a:off x="642963" y="3081328"/>
              <a:ext cx="7516820" cy="468313"/>
              <a:chOff x="-159" y="1966"/>
              <a:chExt cx="4735" cy="295"/>
            </a:xfrm>
          </p:grpSpPr>
          <p:sp>
            <p:nvSpPr>
              <p:cNvPr id="75" name="Rectangle 30"/>
              <p:cNvSpPr>
                <a:spLocks noChangeArrowheads="1"/>
              </p:cNvSpPr>
              <p:nvPr/>
            </p:nvSpPr>
            <p:spPr bwMode="auto">
              <a:xfrm>
                <a:off x="1140" y="1993"/>
                <a:ext cx="8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aAb</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76" name="Rectangle 31"/>
              <p:cNvSpPr>
                <a:spLocks noChangeArrowheads="1"/>
              </p:cNvSpPr>
              <p:nvPr/>
            </p:nvSpPr>
            <p:spPr bwMode="auto">
              <a:xfrm>
                <a:off x="1960" y="1968"/>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cde$</a:t>
                </a:r>
                <a:endParaRPr lang="en-US" altLang="zh-CN" sz="2000" b="1">
                  <a:solidFill>
                    <a:srgbClr val="010000"/>
                  </a:solidFill>
                  <a:latin typeface="+mn-ea"/>
                </a:endParaRPr>
              </a:p>
            </p:txBody>
          </p:sp>
          <p:sp>
            <p:nvSpPr>
              <p:cNvPr id="77" name="Rectangle 32"/>
              <p:cNvSpPr>
                <a:spLocks noChangeArrowheads="1"/>
              </p:cNvSpPr>
              <p:nvPr/>
            </p:nvSpPr>
            <p:spPr bwMode="auto">
              <a:xfrm>
                <a:off x="3088" y="1966"/>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用</a:t>
                </a:r>
                <a:r>
                  <a:rPr lang="en-US" altLang="zh-CN" sz="2000" b="1">
                    <a:solidFill>
                      <a:srgbClr val="010000"/>
                    </a:solidFill>
                    <a:latin typeface="+mn-ea"/>
                  </a:rPr>
                  <a:t>A→A</a:t>
                </a:r>
                <a:r>
                  <a:rPr lang="en-US" altLang="zh-CN" sz="2000" b="1">
                    <a:solidFill>
                      <a:srgbClr val="010000"/>
                    </a:solidFill>
                    <a:latin typeface="+mn-ea"/>
                    <a:sym typeface="Symbol" panose="05050102010706020507" pitchFamily="18" charset="2"/>
                  </a:rPr>
                  <a:t>b</a:t>
                </a:r>
                <a:r>
                  <a:rPr lang="zh-CN" altLang="en-US" sz="2000" b="1">
                    <a:solidFill>
                      <a:srgbClr val="010000"/>
                    </a:solidFill>
                    <a:latin typeface="+mn-ea"/>
                  </a:rPr>
                  <a:t>归约</a:t>
                </a:r>
                <a:endParaRPr lang="zh-CN" altLang="en-US" sz="2000" b="1">
                  <a:solidFill>
                    <a:srgbClr val="010000"/>
                  </a:solidFill>
                  <a:latin typeface="+mn-ea"/>
                </a:endParaRPr>
              </a:p>
            </p:txBody>
          </p:sp>
          <p:sp>
            <p:nvSpPr>
              <p:cNvPr id="78" name="Rectangle 33"/>
              <p:cNvSpPr>
                <a:spLocks noChangeArrowheads="1"/>
              </p:cNvSpPr>
              <p:nvPr/>
            </p:nvSpPr>
            <p:spPr bwMode="auto">
              <a:xfrm>
                <a:off x="-159" y="2010"/>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10000"/>
                    </a:solidFill>
                    <a:latin typeface="+mn-ea"/>
                  </a:rPr>
                  <a:t>5</a:t>
                </a:r>
                <a:endParaRPr lang="zh-CN" altLang="en-US" sz="2000" b="1">
                  <a:solidFill>
                    <a:srgbClr val="010000"/>
                  </a:solidFill>
                  <a:latin typeface="+mn-ea"/>
                </a:endParaRPr>
              </a:p>
            </p:txBody>
          </p:sp>
        </p:grpSp>
        <p:sp>
          <p:nvSpPr>
            <p:cNvPr id="74" name="Rectangle 3"/>
            <p:cNvSpPr>
              <a:spLocks noChangeArrowheads="1"/>
            </p:cNvSpPr>
            <p:nvPr/>
          </p:nvSpPr>
          <p:spPr bwMode="auto">
            <a:xfrm>
              <a:off x="1324937" y="3143988"/>
              <a:ext cx="102552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0236</a:t>
              </a:r>
              <a:endParaRPr lang="zh-CN" altLang="en-US" sz="2000" b="1" dirty="0">
                <a:solidFill>
                  <a:srgbClr val="010000"/>
                </a:solidFill>
                <a:latin typeface="+mn-ea"/>
              </a:endParaRPr>
            </a:p>
          </p:txBody>
        </p:sp>
      </p:grpSp>
      <p:grpSp>
        <p:nvGrpSpPr>
          <p:cNvPr id="79" name="组合 82"/>
          <p:cNvGrpSpPr/>
          <p:nvPr/>
        </p:nvGrpSpPr>
        <p:grpSpPr bwMode="auto">
          <a:xfrm>
            <a:off x="2207875" y="3640288"/>
            <a:ext cx="7529512" cy="475832"/>
            <a:chOff x="642963" y="3475028"/>
            <a:chExt cx="7529520" cy="475845"/>
          </a:xfrm>
        </p:grpSpPr>
        <p:grpSp>
          <p:nvGrpSpPr>
            <p:cNvPr id="80" name="Group 34"/>
            <p:cNvGrpSpPr/>
            <p:nvPr/>
          </p:nvGrpSpPr>
          <p:grpSpPr bwMode="auto">
            <a:xfrm>
              <a:off x="642963" y="3475028"/>
              <a:ext cx="7529520" cy="468313"/>
              <a:chOff x="-159" y="2254"/>
              <a:chExt cx="4743" cy="295"/>
            </a:xfrm>
          </p:grpSpPr>
          <p:sp>
            <p:nvSpPr>
              <p:cNvPr id="82" name="Rectangle 35"/>
              <p:cNvSpPr>
                <a:spLocks noChangeArrowheads="1"/>
              </p:cNvSpPr>
              <p:nvPr/>
            </p:nvSpPr>
            <p:spPr bwMode="auto">
              <a:xfrm>
                <a:off x="1142" y="2264"/>
                <a:ext cx="98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83" name="Rectangle 36"/>
              <p:cNvSpPr>
                <a:spLocks noChangeArrowheads="1"/>
              </p:cNvSpPr>
              <p:nvPr/>
            </p:nvSpPr>
            <p:spPr bwMode="auto">
              <a:xfrm>
                <a:off x="1968" y="2256"/>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cde$</a:t>
                </a:r>
                <a:endParaRPr lang="en-US" altLang="zh-CN" sz="2000" b="1">
                  <a:solidFill>
                    <a:srgbClr val="010000"/>
                  </a:solidFill>
                  <a:latin typeface="+mn-ea"/>
                </a:endParaRPr>
              </a:p>
            </p:txBody>
          </p:sp>
          <p:sp>
            <p:nvSpPr>
              <p:cNvPr id="84" name="Rectangle 37"/>
              <p:cNvSpPr>
                <a:spLocks noChangeArrowheads="1"/>
              </p:cNvSpPr>
              <p:nvPr/>
            </p:nvSpPr>
            <p:spPr bwMode="auto">
              <a:xfrm>
                <a:off x="3096" y="2254"/>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移进</a:t>
                </a:r>
                <a:endParaRPr lang="zh-CN" altLang="en-US" sz="2000" b="1">
                  <a:solidFill>
                    <a:srgbClr val="010000"/>
                  </a:solidFill>
                  <a:latin typeface="+mn-ea"/>
                </a:endParaRPr>
              </a:p>
            </p:txBody>
          </p:sp>
          <p:sp>
            <p:nvSpPr>
              <p:cNvPr id="85" name="Rectangle 38"/>
              <p:cNvSpPr>
                <a:spLocks noChangeArrowheads="1"/>
              </p:cNvSpPr>
              <p:nvPr/>
            </p:nvSpPr>
            <p:spPr bwMode="auto">
              <a:xfrm>
                <a:off x="-159" y="2298"/>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10000"/>
                    </a:solidFill>
                    <a:latin typeface="+mn-ea"/>
                  </a:rPr>
                  <a:t>6</a:t>
                </a:r>
                <a:endParaRPr lang="zh-CN" altLang="en-US" sz="2000" b="1" dirty="0">
                  <a:solidFill>
                    <a:srgbClr val="010000"/>
                  </a:solidFill>
                  <a:latin typeface="+mn-ea"/>
                </a:endParaRPr>
              </a:p>
            </p:txBody>
          </p:sp>
        </p:grpSp>
        <p:sp>
          <p:nvSpPr>
            <p:cNvPr id="81" name="Rectangle 3"/>
            <p:cNvSpPr>
              <a:spLocks noChangeArrowheads="1"/>
            </p:cNvSpPr>
            <p:nvPr/>
          </p:nvSpPr>
          <p:spPr bwMode="auto">
            <a:xfrm>
              <a:off x="1321333" y="3552082"/>
              <a:ext cx="1025527" cy="398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a:t>
              </a:r>
              <a:endParaRPr lang="zh-CN" altLang="en-US" sz="2000" b="1" dirty="0">
                <a:solidFill>
                  <a:srgbClr val="010000"/>
                </a:solidFill>
                <a:latin typeface="+mn-ea"/>
              </a:endParaRPr>
            </a:p>
          </p:txBody>
        </p:sp>
      </p:grpSp>
      <p:grpSp>
        <p:nvGrpSpPr>
          <p:cNvPr id="86" name="组合 83"/>
          <p:cNvGrpSpPr/>
          <p:nvPr/>
        </p:nvGrpSpPr>
        <p:grpSpPr bwMode="auto">
          <a:xfrm>
            <a:off x="2207875" y="3985705"/>
            <a:ext cx="7038929" cy="468313"/>
            <a:chOff x="642963" y="3792529"/>
            <a:chExt cx="7016756" cy="468313"/>
          </a:xfrm>
        </p:grpSpPr>
        <p:grpSp>
          <p:nvGrpSpPr>
            <p:cNvPr id="87" name="Group 39"/>
            <p:cNvGrpSpPr/>
            <p:nvPr/>
          </p:nvGrpSpPr>
          <p:grpSpPr bwMode="auto">
            <a:xfrm>
              <a:off x="642963" y="3792529"/>
              <a:ext cx="7016756" cy="468313"/>
              <a:chOff x="-159" y="2502"/>
              <a:chExt cx="4420" cy="295"/>
            </a:xfrm>
          </p:grpSpPr>
          <p:sp>
            <p:nvSpPr>
              <p:cNvPr id="89" name="Rectangle 40"/>
              <p:cNvSpPr>
                <a:spLocks noChangeArrowheads="1"/>
              </p:cNvSpPr>
              <p:nvPr/>
            </p:nvSpPr>
            <p:spPr bwMode="auto">
              <a:xfrm>
                <a:off x="1120" y="2523"/>
                <a:ext cx="99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aAc</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90" name="Rectangle 41"/>
              <p:cNvSpPr>
                <a:spLocks noChangeArrowheads="1"/>
              </p:cNvSpPr>
              <p:nvPr/>
            </p:nvSpPr>
            <p:spPr bwMode="auto">
              <a:xfrm>
                <a:off x="1960" y="2504"/>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de$</a:t>
                </a:r>
                <a:endParaRPr lang="en-US" altLang="zh-CN" sz="2000" b="1">
                  <a:solidFill>
                    <a:srgbClr val="010000"/>
                  </a:solidFill>
                  <a:latin typeface="+mn-ea"/>
                </a:endParaRPr>
              </a:p>
            </p:txBody>
          </p:sp>
          <p:sp>
            <p:nvSpPr>
              <p:cNvPr id="91" name="Rectangle 42"/>
              <p:cNvSpPr>
                <a:spLocks noChangeArrowheads="1"/>
              </p:cNvSpPr>
              <p:nvPr/>
            </p:nvSpPr>
            <p:spPr bwMode="auto">
              <a:xfrm>
                <a:off x="3088" y="2502"/>
                <a:ext cx="117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a:solidFill>
                      <a:srgbClr val="010000"/>
                    </a:solidFill>
                    <a:latin typeface="+mn-ea"/>
                  </a:rPr>
                  <a:t>移进</a:t>
                </a:r>
                <a:endParaRPr lang="zh-CN" altLang="en-US" sz="2000" b="1">
                  <a:solidFill>
                    <a:srgbClr val="010000"/>
                  </a:solidFill>
                  <a:latin typeface="+mn-ea"/>
                </a:endParaRPr>
              </a:p>
            </p:txBody>
          </p:sp>
          <p:sp>
            <p:nvSpPr>
              <p:cNvPr id="92" name="Rectangle 43"/>
              <p:cNvSpPr>
                <a:spLocks noChangeArrowheads="1"/>
              </p:cNvSpPr>
              <p:nvPr/>
            </p:nvSpPr>
            <p:spPr bwMode="auto">
              <a:xfrm>
                <a:off x="-159" y="2546"/>
                <a:ext cx="20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7</a:t>
                </a:r>
                <a:endParaRPr lang="zh-CN" altLang="en-US" sz="2000" b="1">
                  <a:solidFill>
                    <a:srgbClr val="010000"/>
                  </a:solidFill>
                  <a:latin typeface="+mn-ea"/>
                </a:endParaRPr>
              </a:p>
            </p:txBody>
          </p:sp>
        </p:grpSp>
        <p:sp>
          <p:nvSpPr>
            <p:cNvPr id="88" name="Rectangle 3"/>
            <p:cNvSpPr>
              <a:spLocks noChangeArrowheads="1"/>
            </p:cNvSpPr>
            <p:nvPr/>
          </p:nvSpPr>
          <p:spPr bwMode="auto">
            <a:xfrm>
              <a:off x="1313200" y="3830564"/>
              <a:ext cx="102552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0234</a:t>
              </a:r>
              <a:endParaRPr lang="zh-CN" altLang="en-US" sz="2000" b="1" dirty="0">
                <a:solidFill>
                  <a:srgbClr val="010000"/>
                </a:solidFill>
                <a:latin typeface="+mn-ea"/>
              </a:endParaRPr>
            </a:p>
          </p:txBody>
        </p:sp>
      </p:grpSp>
      <p:grpSp>
        <p:nvGrpSpPr>
          <p:cNvPr id="93" name="组合 84"/>
          <p:cNvGrpSpPr/>
          <p:nvPr/>
        </p:nvGrpSpPr>
        <p:grpSpPr bwMode="auto">
          <a:xfrm>
            <a:off x="2207875" y="4353064"/>
            <a:ext cx="6638925" cy="414338"/>
            <a:chOff x="642967" y="4187807"/>
            <a:chExt cx="6638917" cy="414338"/>
          </a:xfrm>
        </p:grpSpPr>
        <p:grpSp>
          <p:nvGrpSpPr>
            <p:cNvPr id="94" name="Group 44"/>
            <p:cNvGrpSpPr/>
            <p:nvPr/>
          </p:nvGrpSpPr>
          <p:grpSpPr bwMode="auto">
            <a:xfrm>
              <a:off x="642967" y="4187807"/>
              <a:ext cx="6638917" cy="414338"/>
              <a:chOff x="-151" y="2767"/>
              <a:chExt cx="4182" cy="261"/>
            </a:xfrm>
          </p:grpSpPr>
          <p:sp>
            <p:nvSpPr>
              <p:cNvPr id="96" name="Rectangle 45"/>
              <p:cNvSpPr>
                <a:spLocks noChangeArrowheads="1"/>
              </p:cNvSpPr>
              <p:nvPr/>
            </p:nvSpPr>
            <p:spPr bwMode="auto">
              <a:xfrm>
                <a:off x="-151" y="2777"/>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8</a:t>
                </a:r>
                <a:endParaRPr lang="zh-CN" altLang="en-US" sz="2000" b="1">
                  <a:solidFill>
                    <a:srgbClr val="010000"/>
                  </a:solidFill>
                  <a:latin typeface="+mn-ea"/>
                </a:endParaRPr>
              </a:p>
            </p:txBody>
          </p:sp>
          <p:sp>
            <p:nvSpPr>
              <p:cNvPr id="97" name="Rectangle 46"/>
              <p:cNvSpPr>
                <a:spLocks noChangeArrowheads="1"/>
              </p:cNvSpPr>
              <p:nvPr/>
            </p:nvSpPr>
            <p:spPr bwMode="auto">
              <a:xfrm>
                <a:off x="1119" y="2776"/>
                <a:ext cx="94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aAcd</a:t>
                </a:r>
                <a:endParaRPr lang="en-US" altLang="zh-CN" sz="2000" b="1" dirty="0">
                  <a:solidFill>
                    <a:srgbClr val="010000"/>
                  </a:solidFill>
                  <a:latin typeface="+mn-ea"/>
                </a:endParaRPr>
              </a:p>
            </p:txBody>
          </p:sp>
          <p:sp>
            <p:nvSpPr>
              <p:cNvPr id="98" name="Rectangle 47"/>
              <p:cNvSpPr>
                <a:spLocks noChangeArrowheads="1"/>
              </p:cNvSpPr>
              <p:nvPr/>
            </p:nvSpPr>
            <p:spPr bwMode="auto">
              <a:xfrm>
                <a:off x="2224" y="2776"/>
                <a:ext cx="37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  </a:t>
                </a:r>
                <a:r>
                  <a:rPr lang="en-US" altLang="zh-CN" sz="2000" b="1">
                    <a:solidFill>
                      <a:srgbClr val="010000"/>
                    </a:solidFill>
                    <a:latin typeface="+mn-ea"/>
                  </a:rPr>
                  <a:t>e</a:t>
                </a:r>
                <a:r>
                  <a:rPr lang="zh-CN" altLang="en-US" sz="2000" b="1">
                    <a:solidFill>
                      <a:srgbClr val="010000"/>
                    </a:solidFill>
                    <a:latin typeface="+mn-ea"/>
                  </a:rPr>
                  <a:t>$</a:t>
                </a:r>
                <a:endParaRPr lang="zh-CN" altLang="en-US" sz="2000" b="1">
                  <a:solidFill>
                    <a:srgbClr val="010000"/>
                  </a:solidFill>
                  <a:latin typeface="+mn-ea"/>
                </a:endParaRPr>
              </a:p>
            </p:txBody>
          </p:sp>
          <p:sp>
            <p:nvSpPr>
              <p:cNvPr id="99" name="Rectangle 48"/>
              <p:cNvSpPr>
                <a:spLocks noChangeArrowheads="1"/>
              </p:cNvSpPr>
              <p:nvPr/>
            </p:nvSpPr>
            <p:spPr bwMode="auto">
              <a:xfrm>
                <a:off x="3105" y="2767"/>
                <a:ext cx="92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用</a:t>
                </a:r>
                <a:r>
                  <a:rPr lang="en-US" altLang="zh-CN" sz="2000" b="1">
                    <a:solidFill>
                      <a:srgbClr val="010000"/>
                    </a:solidFill>
                    <a:latin typeface="+mn-ea"/>
                  </a:rPr>
                  <a:t>B→</a:t>
                </a:r>
                <a:r>
                  <a:rPr lang="en-US" altLang="zh-CN" sz="2000" b="1">
                    <a:solidFill>
                      <a:srgbClr val="010000"/>
                    </a:solidFill>
                    <a:latin typeface="+mn-ea"/>
                    <a:sym typeface="Symbol" panose="05050102010706020507" pitchFamily="18" charset="2"/>
                  </a:rPr>
                  <a:t>d</a:t>
                </a:r>
                <a:r>
                  <a:rPr lang="zh-CN" altLang="en-US" sz="2000" b="1">
                    <a:solidFill>
                      <a:srgbClr val="010000"/>
                    </a:solidFill>
                    <a:latin typeface="+mn-ea"/>
                  </a:rPr>
                  <a:t>归约</a:t>
                </a:r>
                <a:endParaRPr lang="zh-CN" altLang="en-US" sz="2000" b="1">
                  <a:solidFill>
                    <a:srgbClr val="010000"/>
                  </a:solidFill>
                  <a:latin typeface="+mn-ea"/>
                </a:endParaRPr>
              </a:p>
            </p:txBody>
          </p:sp>
        </p:grpSp>
        <p:sp>
          <p:nvSpPr>
            <p:cNvPr id="95" name="Rectangle 3"/>
            <p:cNvSpPr>
              <a:spLocks noChangeArrowheads="1"/>
            </p:cNvSpPr>
            <p:nvPr/>
          </p:nvSpPr>
          <p:spPr bwMode="auto">
            <a:xfrm>
              <a:off x="1312136" y="4195677"/>
              <a:ext cx="121444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02347</a:t>
              </a:r>
              <a:endParaRPr lang="zh-CN" altLang="en-US" sz="2000" b="1" dirty="0">
                <a:solidFill>
                  <a:srgbClr val="010000"/>
                </a:solidFill>
                <a:latin typeface="+mn-ea"/>
              </a:endParaRPr>
            </a:p>
          </p:txBody>
        </p:sp>
      </p:grpSp>
      <p:grpSp>
        <p:nvGrpSpPr>
          <p:cNvPr id="100" name="组合 85"/>
          <p:cNvGrpSpPr/>
          <p:nvPr/>
        </p:nvGrpSpPr>
        <p:grpSpPr bwMode="auto">
          <a:xfrm>
            <a:off x="2207875" y="4689356"/>
            <a:ext cx="7558087" cy="439738"/>
            <a:chOff x="633410" y="4533898"/>
            <a:chExt cx="7558095" cy="439738"/>
          </a:xfrm>
        </p:grpSpPr>
        <p:grpSp>
          <p:nvGrpSpPr>
            <p:cNvPr id="101" name="Group 34"/>
            <p:cNvGrpSpPr/>
            <p:nvPr/>
          </p:nvGrpSpPr>
          <p:grpSpPr bwMode="auto">
            <a:xfrm>
              <a:off x="633410" y="4533898"/>
              <a:ext cx="7558095" cy="439738"/>
              <a:chOff x="-177" y="2254"/>
              <a:chExt cx="4761" cy="277"/>
            </a:xfrm>
          </p:grpSpPr>
          <p:sp>
            <p:nvSpPr>
              <p:cNvPr id="103" name="Rectangle 35"/>
              <p:cNvSpPr>
                <a:spLocks noChangeArrowheads="1"/>
              </p:cNvSpPr>
              <p:nvPr/>
            </p:nvSpPr>
            <p:spPr bwMode="auto">
              <a:xfrm>
                <a:off x="1093" y="2280"/>
                <a:ext cx="98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aAcB</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104" name="Rectangle 36"/>
              <p:cNvSpPr>
                <a:spLocks noChangeArrowheads="1"/>
              </p:cNvSpPr>
              <p:nvPr/>
            </p:nvSpPr>
            <p:spPr bwMode="auto">
              <a:xfrm>
                <a:off x="1968" y="2256"/>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e$</a:t>
                </a:r>
                <a:endParaRPr lang="en-US" altLang="zh-CN" sz="2000" b="1">
                  <a:solidFill>
                    <a:srgbClr val="010000"/>
                  </a:solidFill>
                  <a:latin typeface="+mn-ea"/>
                </a:endParaRPr>
              </a:p>
            </p:txBody>
          </p:sp>
          <p:sp>
            <p:nvSpPr>
              <p:cNvPr id="105" name="Rectangle 37"/>
              <p:cNvSpPr>
                <a:spLocks noChangeArrowheads="1"/>
              </p:cNvSpPr>
              <p:nvPr/>
            </p:nvSpPr>
            <p:spPr bwMode="auto">
              <a:xfrm>
                <a:off x="3096" y="2254"/>
                <a:ext cx="14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10000"/>
                    </a:solidFill>
                    <a:latin typeface="+mn-ea"/>
                  </a:rPr>
                  <a:t>移进</a:t>
                </a:r>
                <a:endParaRPr lang="zh-CN" altLang="en-US" sz="2000" b="1">
                  <a:solidFill>
                    <a:srgbClr val="010000"/>
                  </a:solidFill>
                  <a:latin typeface="+mn-ea"/>
                </a:endParaRPr>
              </a:p>
            </p:txBody>
          </p:sp>
          <p:sp>
            <p:nvSpPr>
              <p:cNvPr id="106" name="Rectangle 38"/>
              <p:cNvSpPr>
                <a:spLocks noChangeArrowheads="1"/>
              </p:cNvSpPr>
              <p:nvPr/>
            </p:nvSpPr>
            <p:spPr bwMode="auto">
              <a:xfrm>
                <a:off x="-177" y="2270"/>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10000"/>
                    </a:solidFill>
                    <a:latin typeface="+mn-ea"/>
                  </a:rPr>
                  <a:t>9</a:t>
                </a:r>
                <a:endParaRPr lang="zh-CN" altLang="en-US" sz="2000" b="1">
                  <a:solidFill>
                    <a:srgbClr val="010000"/>
                  </a:solidFill>
                  <a:latin typeface="+mn-ea"/>
                </a:endParaRPr>
              </a:p>
            </p:txBody>
          </p:sp>
        </p:grpSp>
        <p:sp>
          <p:nvSpPr>
            <p:cNvPr id="102" name="Rectangle 3"/>
            <p:cNvSpPr>
              <a:spLocks noChangeArrowheads="1"/>
            </p:cNvSpPr>
            <p:nvPr/>
          </p:nvSpPr>
          <p:spPr bwMode="auto">
            <a:xfrm>
              <a:off x="1320045" y="4553776"/>
              <a:ext cx="1357322" cy="39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02348</a:t>
              </a:r>
              <a:endParaRPr lang="zh-CN" altLang="en-US" sz="2000" b="1" dirty="0">
                <a:solidFill>
                  <a:srgbClr val="010000"/>
                </a:solidFill>
                <a:latin typeface="+mn-ea"/>
              </a:endParaRPr>
            </a:p>
          </p:txBody>
        </p:sp>
      </p:grpSp>
      <p:grpSp>
        <p:nvGrpSpPr>
          <p:cNvPr id="107" name="组合 87"/>
          <p:cNvGrpSpPr/>
          <p:nvPr/>
        </p:nvGrpSpPr>
        <p:grpSpPr bwMode="auto">
          <a:xfrm>
            <a:off x="2207875" y="5386218"/>
            <a:ext cx="5949951" cy="420863"/>
            <a:chOff x="571503" y="5246678"/>
            <a:chExt cx="5949942" cy="420876"/>
          </a:xfrm>
        </p:grpSpPr>
        <p:grpSp>
          <p:nvGrpSpPr>
            <p:cNvPr id="108" name="Group 44"/>
            <p:cNvGrpSpPr/>
            <p:nvPr/>
          </p:nvGrpSpPr>
          <p:grpSpPr bwMode="auto">
            <a:xfrm>
              <a:off x="571503" y="5246678"/>
              <a:ext cx="5949942" cy="414338"/>
              <a:chOff x="-208" y="2767"/>
              <a:chExt cx="3748" cy="261"/>
            </a:xfrm>
          </p:grpSpPr>
          <p:sp>
            <p:nvSpPr>
              <p:cNvPr id="110" name="Rectangle 45"/>
              <p:cNvSpPr>
                <a:spLocks noChangeArrowheads="1"/>
              </p:cNvSpPr>
              <p:nvPr/>
            </p:nvSpPr>
            <p:spPr bwMode="auto">
              <a:xfrm>
                <a:off x="-208" y="2777"/>
                <a:ext cx="29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10000"/>
                    </a:solidFill>
                    <a:latin typeface="+mn-ea"/>
                  </a:rPr>
                  <a:t>11</a:t>
                </a:r>
                <a:endParaRPr lang="zh-CN" altLang="en-US" sz="2000" b="1">
                  <a:solidFill>
                    <a:srgbClr val="010000"/>
                  </a:solidFill>
                  <a:latin typeface="+mn-ea"/>
                </a:endParaRPr>
              </a:p>
            </p:txBody>
          </p:sp>
          <p:sp>
            <p:nvSpPr>
              <p:cNvPr id="111" name="Rectangle 46"/>
              <p:cNvSpPr>
                <a:spLocks noChangeArrowheads="1"/>
              </p:cNvSpPr>
              <p:nvPr/>
            </p:nvSpPr>
            <p:spPr bwMode="auto">
              <a:xfrm>
                <a:off x="1091" y="2776"/>
                <a:ext cx="4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 </a:t>
                </a:r>
                <a:r>
                  <a:rPr lang="en-US" altLang="zh-CN" sz="2000" b="1" dirty="0">
                    <a:solidFill>
                      <a:srgbClr val="010000"/>
                    </a:solidFill>
                    <a:latin typeface="+mn-ea"/>
                  </a:rPr>
                  <a:t>S</a:t>
                </a:r>
                <a:endParaRPr lang="en-US" altLang="zh-CN" sz="2000" b="1" dirty="0">
                  <a:solidFill>
                    <a:srgbClr val="010000"/>
                  </a:solidFill>
                  <a:latin typeface="+mn-ea"/>
                </a:endParaRPr>
              </a:p>
            </p:txBody>
          </p:sp>
          <p:sp>
            <p:nvSpPr>
              <p:cNvPr id="112" name="Rectangle 47"/>
              <p:cNvSpPr>
                <a:spLocks noChangeArrowheads="1"/>
              </p:cNvSpPr>
              <p:nvPr/>
            </p:nvSpPr>
            <p:spPr bwMode="auto">
              <a:xfrm>
                <a:off x="2224" y="2776"/>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  $</a:t>
                </a:r>
                <a:endParaRPr lang="zh-CN" altLang="en-US" sz="2000" b="1">
                  <a:solidFill>
                    <a:srgbClr val="010000"/>
                  </a:solidFill>
                  <a:latin typeface="+mn-ea"/>
                </a:endParaRPr>
              </a:p>
            </p:txBody>
          </p:sp>
          <p:sp>
            <p:nvSpPr>
              <p:cNvPr id="113" name="Rectangle 48"/>
              <p:cNvSpPr>
                <a:spLocks noChangeArrowheads="1"/>
              </p:cNvSpPr>
              <p:nvPr/>
            </p:nvSpPr>
            <p:spPr bwMode="auto">
              <a:xfrm>
                <a:off x="3105" y="2767"/>
                <a:ext cx="4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10000"/>
                    </a:solidFill>
                    <a:latin typeface="+mn-ea"/>
                  </a:rPr>
                  <a:t>接受</a:t>
                </a:r>
                <a:endParaRPr lang="zh-CN" altLang="en-US" sz="2000" b="1">
                  <a:solidFill>
                    <a:srgbClr val="010000"/>
                  </a:solidFill>
                  <a:latin typeface="+mn-ea"/>
                </a:endParaRPr>
              </a:p>
            </p:txBody>
          </p:sp>
        </p:grpSp>
        <p:sp>
          <p:nvSpPr>
            <p:cNvPr id="109" name="Rectangle 3"/>
            <p:cNvSpPr>
              <a:spLocks noChangeArrowheads="1"/>
            </p:cNvSpPr>
            <p:nvPr/>
          </p:nvSpPr>
          <p:spPr bwMode="auto">
            <a:xfrm>
              <a:off x="1286781" y="5268762"/>
              <a:ext cx="1025527" cy="39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rgbClr val="010000"/>
                  </a:solidFill>
                  <a:latin typeface="+mn-ea"/>
                </a:rPr>
                <a:t>01</a:t>
              </a:r>
              <a:endParaRPr lang="zh-CN" altLang="en-US" sz="2000" b="1" dirty="0">
                <a:solidFill>
                  <a:srgbClr val="010000"/>
                </a:solidFill>
                <a:latin typeface="+mn-ea"/>
              </a:endParaRPr>
            </a:p>
          </p:txBody>
        </p:sp>
      </p:grpSp>
      <p:sp>
        <p:nvSpPr>
          <p:cNvPr id="114" name="Rectangle 8"/>
          <p:cNvSpPr>
            <a:spLocks noChangeArrowheads="1"/>
          </p:cNvSpPr>
          <p:nvPr/>
        </p:nvSpPr>
        <p:spPr bwMode="auto">
          <a:xfrm>
            <a:off x="2838767" y="1372409"/>
            <a:ext cx="914400" cy="457200"/>
          </a:xfrm>
          <a:prstGeom prst="rect">
            <a:avLst/>
          </a:prstGeom>
          <a:noFill/>
          <a:ln>
            <a:noFill/>
          </a:ln>
        </p:spPr>
        <p:txBody>
          <a:bodyPr wrap="none" anchor="ctr"/>
          <a:lstStyle/>
          <a:p>
            <a:pPr algn="ctr"/>
            <a:r>
              <a:rPr lang="zh-CN" altLang="en-US" sz="2000" b="1" dirty="0">
                <a:solidFill>
                  <a:srgbClr val="010000"/>
                </a:solidFill>
                <a:latin typeface="+mn-ea"/>
              </a:rPr>
              <a:t>状态栈</a:t>
            </a:r>
            <a:endParaRPr lang="zh-CN" altLang="en-US" sz="2000" b="1" dirty="0">
              <a:solidFill>
                <a:srgbClr val="010000"/>
              </a:solidFill>
              <a:latin typeface="+mn-ea"/>
            </a:endParaRPr>
          </a:p>
        </p:txBody>
      </p:sp>
      <p:grpSp>
        <p:nvGrpSpPr>
          <p:cNvPr id="117" name="组合 86"/>
          <p:cNvGrpSpPr/>
          <p:nvPr/>
        </p:nvGrpSpPr>
        <p:grpSpPr bwMode="auto">
          <a:xfrm>
            <a:off x="2207875" y="5008331"/>
            <a:ext cx="8572500" cy="468314"/>
            <a:chOff x="571497" y="4851409"/>
            <a:chExt cx="8572508" cy="468313"/>
          </a:xfrm>
        </p:grpSpPr>
        <p:grpSp>
          <p:nvGrpSpPr>
            <p:cNvPr id="118" name="Group 39"/>
            <p:cNvGrpSpPr/>
            <p:nvPr/>
          </p:nvGrpSpPr>
          <p:grpSpPr bwMode="auto">
            <a:xfrm>
              <a:off x="571497" y="4851409"/>
              <a:ext cx="8572508" cy="468313"/>
              <a:chOff x="-216" y="2502"/>
              <a:chExt cx="5400" cy="295"/>
            </a:xfrm>
          </p:grpSpPr>
          <p:sp>
            <p:nvSpPr>
              <p:cNvPr id="120" name="Rectangle 40"/>
              <p:cNvSpPr>
                <a:spLocks noChangeArrowheads="1"/>
              </p:cNvSpPr>
              <p:nvPr/>
            </p:nvSpPr>
            <p:spPr bwMode="auto">
              <a:xfrm>
                <a:off x="1076" y="2523"/>
                <a:ext cx="99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a:t>
                </a:r>
                <a:r>
                  <a:rPr lang="en-US" altLang="zh-CN" sz="2000" b="1" dirty="0" err="1">
                    <a:solidFill>
                      <a:srgbClr val="010000"/>
                    </a:solidFill>
                    <a:latin typeface="+mn-ea"/>
                  </a:rPr>
                  <a:t>aAcBe</a:t>
                </a:r>
                <a:r>
                  <a:rPr lang="en-US" altLang="zh-CN" sz="2000" b="1" dirty="0">
                    <a:solidFill>
                      <a:srgbClr val="010000"/>
                    </a:solidFill>
                    <a:latin typeface="+mn-ea"/>
                  </a:rPr>
                  <a:t> </a:t>
                </a:r>
                <a:endParaRPr lang="en-US" altLang="zh-CN" sz="2000" b="1" dirty="0">
                  <a:solidFill>
                    <a:srgbClr val="010000"/>
                  </a:solidFill>
                  <a:latin typeface="+mn-ea"/>
                </a:endParaRPr>
              </a:p>
            </p:txBody>
          </p:sp>
          <p:sp>
            <p:nvSpPr>
              <p:cNvPr id="121" name="Rectangle 41"/>
              <p:cNvSpPr>
                <a:spLocks noChangeArrowheads="1"/>
              </p:cNvSpPr>
              <p:nvPr/>
            </p:nvSpPr>
            <p:spPr bwMode="auto">
              <a:xfrm>
                <a:off x="1960" y="2504"/>
                <a:ext cx="96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10000"/>
                    </a:solidFill>
                    <a:latin typeface="+mn-ea"/>
                  </a:rPr>
                  <a:t>        $</a:t>
                </a:r>
                <a:endParaRPr lang="en-US" altLang="zh-CN" sz="2000" b="1">
                  <a:solidFill>
                    <a:srgbClr val="010000"/>
                  </a:solidFill>
                  <a:latin typeface="+mn-ea"/>
                </a:endParaRPr>
              </a:p>
            </p:txBody>
          </p:sp>
          <p:sp>
            <p:nvSpPr>
              <p:cNvPr id="122" name="Rectangle 42"/>
              <p:cNvSpPr>
                <a:spLocks noChangeArrowheads="1"/>
              </p:cNvSpPr>
              <p:nvPr/>
            </p:nvSpPr>
            <p:spPr bwMode="auto">
              <a:xfrm>
                <a:off x="3088" y="2502"/>
                <a:ext cx="20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10000"/>
                    </a:solidFill>
                    <a:latin typeface="+mn-ea"/>
                  </a:rPr>
                  <a:t>用</a:t>
                </a:r>
                <a:r>
                  <a:rPr lang="en-US" altLang="zh-CN" sz="2000" b="1" dirty="0" err="1">
                    <a:solidFill>
                      <a:srgbClr val="010000"/>
                    </a:solidFill>
                    <a:latin typeface="+mn-ea"/>
                  </a:rPr>
                  <a:t>S→aAcBe</a:t>
                </a:r>
                <a:r>
                  <a:rPr lang="zh-CN" altLang="en-US" sz="2000" b="1" dirty="0">
                    <a:solidFill>
                      <a:srgbClr val="010000"/>
                    </a:solidFill>
                    <a:latin typeface="+mn-ea"/>
                  </a:rPr>
                  <a:t>归约</a:t>
                </a:r>
                <a:endParaRPr lang="zh-CN" altLang="en-US" sz="2000" b="1" dirty="0">
                  <a:solidFill>
                    <a:srgbClr val="010000"/>
                  </a:solidFill>
                  <a:latin typeface="+mn-ea"/>
                </a:endParaRPr>
              </a:p>
            </p:txBody>
          </p:sp>
          <p:sp>
            <p:nvSpPr>
              <p:cNvPr id="123" name="Rectangle 43"/>
              <p:cNvSpPr>
                <a:spLocks noChangeArrowheads="1"/>
              </p:cNvSpPr>
              <p:nvPr/>
            </p:nvSpPr>
            <p:spPr bwMode="auto">
              <a:xfrm>
                <a:off x="-216" y="2546"/>
                <a:ext cx="29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10000"/>
                    </a:solidFill>
                    <a:latin typeface="+mn-ea"/>
                  </a:rPr>
                  <a:t>10</a:t>
                </a:r>
                <a:endParaRPr lang="zh-CN" altLang="en-US" sz="2000" b="1">
                  <a:solidFill>
                    <a:srgbClr val="010000"/>
                  </a:solidFill>
                  <a:latin typeface="+mn-ea"/>
                </a:endParaRPr>
              </a:p>
            </p:txBody>
          </p:sp>
        </p:grpSp>
        <p:sp>
          <p:nvSpPr>
            <p:cNvPr id="119" name="Rectangle 3"/>
            <p:cNvSpPr>
              <a:spLocks noChangeArrowheads="1"/>
            </p:cNvSpPr>
            <p:nvPr/>
          </p:nvSpPr>
          <p:spPr bwMode="auto">
            <a:xfrm>
              <a:off x="1279633" y="4909436"/>
              <a:ext cx="1060341" cy="39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b="1" dirty="0">
                  <a:solidFill>
                    <a:srgbClr val="010000"/>
                  </a:solidFill>
                  <a:latin typeface="+mn-ea"/>
                </a:rPr>
                <a:t>023489</a:t>
              </a:r>
              <a:endParaRPr lang="zh-CN" altLang="en-US" sz="2000" b="1" dirty="0">
                <a:solidFill>
                  <a:srgbClr val="010000"/>
                </a:solidFill>
                <a:latin typeface="+mn-ea"/>
              </a:endParaRPr>
            </a:p>
          </p:txBody>
        </p:sp>
      </p:grpSp>
      <p:sp>
        <p:nvSpPr>
          <p:cNvPr id="124" name="Rectangle 8"/>
          <p:cNvSpPr>
            <a:spLocks noChangeArrowheads="1"/>
          </p:cNvSpPr>
          <p:nvPr/>
        </p:nvSpPr>
        <p:spPr bwMode="auto">
          <a:xfrm>
            <a:off x="4198688" y="869950"/>
            <a:ext cx="3704415" cy="457200"/>
          </a:xfrm>
          <a:prstGeom prst="rect">
            <a:avLst/>
          </a:prstGeom>
          <a:noFill/>
          <a:ln>
            <a:noFill/>
          </a:ln>
        </p:spPr>
        <p:txBody>
          <a:bodyPr wrap="none" anchor="ctr"/>
          <a:lstStyle/>
          <a:p>
            <a:pPr algn="ctr"/>
            <a:endParaRPr lang="zh-CN" altLang="en-US" sz="2000" b="1" dirty="0">
              <a:solidFill>
                <a:srgbClr val="010000"/>
              </a:solidFill>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86740" y="320040"/>
            <a:ext cx="6854825" cy="593090"/>
          </a:xfrm>
        </p:spPr>
        <p:txBody>
          <a:bodyPr/>
          <a:lstStyle/>
          <a:p>
            <a:r>
              <a:rPr lang="en-US" altLang="zh-CN" sz="3200" dirty="0"/>
              <a:t>LR</a:t>
            </a:r>
            <a:r>
              <a:rPr lang="zh-CN" altLang="en-US" sz="3200" dirty="0"/>
              <a:t>分析算法的逻辑结构：</a:t>
            </a:r>
            <a:endParaRPr lang="zh-CN" altLang="en-US" sz="3200" dirty="0"/>
          </a:p>
        </p:txBody>
      </p:sp>
      <p:sp>
        <p:nvSpPr>
          <p:cNvPr id="124" name="Rectangle 8"/>
          <p:cNvSpPr>
            <a:spLocks noChangeArrowheads="1"/>
          </p:cNvSpPr>
          <p:nvPr/>
        </p:nvSpPr>
        <p:spPr bwMode="auto">
          <a:xfrm>
            <a:off x="6366167" y="1204782"/>
            <a:ext cx="3704415" cy="457200"/>
          </a:xfrm>
          <a:prstGeom prst="rect">
            <a:avLst/>
          </a:prstGeom>
          <a:noFill/>
          <a:ln>
            <a:noFill/>
          </a:ln>
        </p:spPr>
        <p:txBody>
          <a:bodyPr wrap="none" anchor="ctr"/>
          <a:lstStyle/>
          <a:p>
            <a:pPr algn="ctr"/>
            <a:endParaRPr lang="zh-CN" altLang="en-US" sz="2000" b="1" dirty="0">
              <a:solidFill>
                <a:srgbClr val="010000"/>
              </a:solidFill>
            </a:endParaRPr>
          </a:p>
        </p:txBody>
      </p:sp>
      <p:sp>
        <p:nvSpPr>
          <p:cNvPr id="115" name="Text Box 3"/>
          <p:cNvSpPr txBox="1">
            <a:spLocks noChangeArrowheads="1"/>
          </p:cNvSpPr>
          <p:nvPr/>
        </p:nvSpPr>
        <p:spPr bwMode="auto">
          <a:xfrm>
            <a:off x="7806279" y="2670045"/>
            <a:ext cx="1905000" cy="5835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zh-CN" altLang="en-US" sz="3200" b="1">
                <a:solidFill>
                  <a:srgbClr val="020001"/>
                </a:solidFill>
              </a:rPr>
              <a:t>总控程序</a:t>
            </a:r>
            <a:endParaRPr lang="en-US" altLang="zh-CN" sz="3200" b="1">
              <a:solidFill>
                <a:srgbClr val="020001"/>
              </a:solidFill>
            </a:endParaRPr>
          </a:p>
        </p:txBody>
      </p:sp>
      <p:sp>
        <p:nvSpPr>
          <p:cNvPr id="116" name="Text Box 4"/>
          <p:cNvSpPr txBox="1">
            <a:spLocks noChangeArrowheads="1"/>
          </p:cNvSpPr>
          <p:nvPr/>
        </p:nvSpPr>
        <p:spPr bwMode="auto">
          <a:xfrm>
            <a:off x="7272879" y="1460370"/>
            <a:ext cx="3200400" cy="5835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3200" b="1">
                <a:solidFill>
                  <a:srgbClr val="020001"/>
                </a:solidFill>
              </a:rPr>
              <a:t>a</a:t>
            </a:r>
            <a:r>
              <a:rPr lang="en-US" altLang="zh-CN" sz="3200" b="1" baseline="-25000">
                <a:solidFill>
                  <a:srgbClr val="020001"/>
                </a:solidFill>
              </a:rPr>
              <a:t>1</a:t>
            </a:r>
            <a:r>
              <a:rPr lang="en-US" altLang="zh-CN" sz="3200" b="1">
                <a:solidFill>
                  <a:srgbClr val="020001"/>
                </a:solidFill>
              </a:rPr>
              <a:t>a</a:t>
            </a:r>
            <a:r>
              <a:rPr lang="en-US" altLang="zh-CN" sz="3200" b="1" baseline="-25000">
                <a:solidFill>
                  <a:srgbClr val="020001"/>
                </a:solidFill>
              </a:rPr>
              <a:t>2</a:t>
            </a:r>
            <a:r>
              <a:rPr lang="en-US" altLang="zh-CN" sz="3200" b="1">
                <a:solidFill>
                  <a:srgbClr val="020001"/>
                </a:solidFill>
              </a:rPr>
              <a:t>…a</a:t>
            </a:r>
            <a:r>
              <a:rPr lang="en-US" altLang="zh-CN" sz="3200" b="1" baseline="-25000">
                <a:solidFill>
                  <a:srgbClr val="020001"/>
                </a:solidFill>
              </a:rPr>
              <a:t>i</a:t>
            </a:r>
            <a:r>
              <a:rPr lang="en-US" altLang="zh-CN" sz="3200" b="1">
                <a:solidFill>
                  <a:srgbClr val="020001"/>
                </a:solidFill>
              </a:rPr>
              <a:t>a</a:t>
            </a:r>
            <a:r>
              <a:rPr lang="en-US" altLang="zh-CN" sz="3200" b="1" baseline="-25000">
                <a:solidFill>
                  <a:srgbClr val="020001"/>
                </a:solidFill>
              </a:rPr>
              <a:t>i+1</a:t>
            </a:r>
            <a:r>
              <a:rPr lang="en-US" altLang="zh-CN" sz="3200" b="1">
                <a:solidFill>
                  <a:srgbClr val="020001"/>
                </a:solidFill>
              </a:rPr>
              <a:t>…a</a:t>
            </a:r>
            <a:r>
              <a:rPr lang="en-US" altLang="zh-CN" sz="3200" b="1" baseline="-25000">
                <a:solidFill>
                  <a:srgbClr val="020001"/>
                </a:solidFill>
              </a:rPr>
              <a:t>n</a:t>
            </a:r>
            <a:r>
              <a:rPr lang="en-US" altLang="zh-CN" sz="3200" b="1">
                <a:solidFill>
                  <a:srgbClr val="020001"/>
                </a:solidFill>
              </a:rPr>
              <a:t>$</a:t>
            </a:r>
            <a:endParaRPr lang="en-US" altLang="zh-CN" sz="3200" b="1">
              <a:solidFill>
                <a:srgbClr val="020001"/>
              </a:solidFill>
            </a:endParaRPr>
          </a:p>
        </p:txBody>
      </p:sp>
      <p:grpSp>
        <p:nvGrpSpPr>
          <p:cNvPr id="127" name="Group 5"/>
          <p:cNvGrpSpPr/>
          <p:nvPr/>
        </p:nvGrpSpPr>
        <p:grpSpPr bwMode="auto">
          <a:xfrm>
            <a:off x="7044279" y="3289170"/>
            <a:ext cx="4800600" cy="1828800"/>
            <a:chOff x="2112" y="1728"/>
            <a:chExt cx="3024" cy="1152"/>
          </a:xfrm>
        </p:grpSpPr>
        <p:sp>
          <p:nvSpPr>
            <p:cNvPr id="128" name="Text Box 6"/>
            <p:cNvSpPr txBox="1">
              <a:spLocks noChangeArrowheads="1"/>
            </p:cNvSpPr>
            <p:nvPr/>
          </p:nvSpPr>
          <p:spPr bwMode="auto">
            <a:xfrm>
              <a:off x="2256" y="2058"/>
              <a:ext cx="912" cy="36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zh-CN" altLang="en-US" sz="3200" b="1">
                  <a:solidFill>
                    <a:srgbClr val="020001"/>
                  </a:solidFill>
                </a:rPr>
                <a:t>动作表</a:t>
              </a:r>
              <a:endParaRPr lang="en-US" altLang="zh-CN" sz="3200" b="1">
                <a:solidFill>
                  <a:srgbClr val="020001"/>
                </a:solidFill>
              </a:endParaRPr>
            </a:p>
          </p:txBody>
        </p:sp>
        <p:sp>
          <p:nvSpPr>
            <p:cNvPr id="129" name="Text Box 7"/>
            <p:cNvSpPr txBox="1">
              <a:spLocks noChangeArrowheads="1"/>
            </p:cNvSpPr>
            <p:nvPr/>
          </p:nvSpPr>
          <p:spPr bwMode="auto">
            <a:xfrm>
              <a:off x="3456" y="2064"/>
              <a:ext cx="1632" cy="36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zh-CN" altLang="en-US" sz="3200" b="1">
                  <a:solidFill>
                    <a:srgbClr val="020001"/>
                  </a:solidFill>
                </a:rPr>
                <a:t>状态转换表</a:t>
              </a:r>
              <a:endParaRPr lang="en-US" altLang="zh-CN" sz="3200" b="1">
                <a:solidFill>
                  <a:srgbClr val="020001"/>
                </a:solidFill>
              </a:endParaRPr>
            </a:p>
          </p:txBody>
        </p:sp>
        <p:sp>
          <p:nvSpPr>
            <p:cNvPr id="130" name="Line 8"/>
            <p:cNvSpPr>
              <a:spLocks noChangeShapeType="1"/>
            </p:cNvSpPr>
            <p:nvPr/>
          </p:nvSpPr>
          <p:spPr bwMode="auto">
            <a:xfrm>
              <a:off x="2112" y="1872"/>
              <a:ext cx="0" cy="1008"/>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p>
          </p:txBody>
        </p:sp>
        <p:sp>
          <p:nvSpPr>
            <p:cNvPr id="131" name="Line 9"/>
            <p:cNvSpPr>
              <a:spLocks noChangeShapeType="1"/>
            </p:cNvSpPr>
            <p:nvPr/>
          </p:nvSpPr>
          <p:spPr bwMode="auto">
            <a:xfrm>
              <a:off x="5136" y="1872"/>
              <a:ext cx="0" cy="1008"/>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p>
          </p:txBody>
        </p:sp>
        <p:sp>
          <p:nvSpPr>
            <p:cNvPr id="132" name="Line 10"/>
            <p:cNvSpPr>
              <a:spLocks noChangeShapeType="1"/>
            </p:cNvSpPr>
            <p:nvPr/>
          </p:nvSpPr>
          <p:spPr bwMode="auto">
            <a:xfrm>
              <a:off x="2112" y="1872"/>
              <a:ext cx="3024"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p>
          </p:txBody>
        </p:sp>
        <p:sp>
          <p:nvSpPr>
            <p:cNvPr id="133" name="Line 11"/>
            <p:cNvSpPr>
              <a:spLocks noChangeShapeType="1"/>
            </p:cNvSpPr>
            <p:nvPr/>
          </p:nvSpPr>
          <p:spPr bwMode="auto">
            <a:xfrm>
              <a:off x="2112" y="2880"/>
              <a:ext cx="3024"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p>
          </p:txBody>
        </p:sp>
        <p:sp>
          <p:nvSpPr>
            <p:cNvPr id="134" name="Text Box 12"/>
            <p:cNvSpPr txBox="1">
              <a:spLocks noChangeArrowheads="1"/>
            </p:cNvSpPr>
            <p:nvPr/>
          </p:nvSpPr>
          <p:spPr bwMode="auto">
            <a:xfrm>
              <a:off x="2880" y="2448"/>
              <a:ext cx="90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i="1">
                  <a:solidFill>
                    <a:srgbClr val="020001"/>
                  </a:solidFill>
                </a:rPr>
                <a:t>分析表</a:t>
              </a:r>
              <a:endParaRPr lang="zh-CN" altLang="en-US" sz="3200" b="1" i="1">
                <a:solidFill>
                  <a:srgbClr val="020001"/>
                </a:solidFill>
              </a:endParaRPr>
            </a:p>
          </p:txBody>
        </p:sp>
        <p:sp>
          <p:nvSpPr>
            <p:cNvPr id="135" name="Line 13"/>
            <p:cNvSpPr>
              <a:spLocks noChangeShapeType="1"/>
            </p:cNvSpPr>
            <p:nvPr/>
          </p:nvSpPr>
          <p:spPr bwMode="auto">
            <a:xfrm>
              <a:off x="2736" y="1728"/>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36" name="Line 14"/>
            <p:cNvSpPr>
              <a:spLocks noChangeShapeType="1"/>
            </p:cNvSpPr>
            <p:nvPr/>
          </p:nvSpPr>
          <p:spPr bwMode="auto">
            <a:xfrm>
              <a:off x="3696" y="1728"/>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137" name="Line 15"/>
          <p:cNvSpPr>
            <a:spLocks noChangeShapeType="1"/>
          </p:cNvSpPr>
          <p:nvPr/>
        </p:nvSpPr>
        <p:spPr bwMode="auto">
          <a:xfrm flipH="1">
            <a:off x="6815679" y="2908170"/>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38" name="Line 16"/>
          <p:cNvSpPr>
            <a:spLocks noChangeShapeType="1"/>
          </p:cNvSpPr>
          <p:nvPr/>
        </p:nvSpPr>
        <p:spPr bwMode="auto">
          <a:xfrm flipV="1">
            <a:off x="8644479" y="2069970"/>
            <a:ext cx="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39" name="Line 17"/>
          <p:cNvSpPr>
            <a:spLocks noChangeShapeType="1"/>
          </p:cNvSpPr>
          <p:nvPr/>
        </p:nvSpPr>
        <p:spPr bwMode="auto">
          <a:xfrm>
            <a:off x="9635079" y="290817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40" name="Text Box 18"/>
          <p:cNvSpPr txBox="1">
            <a:spLocks noChangeArrowheads="1"/>
          </p:cNvSpPr>
          <p:nvPr/>
        </p:nvSpPr>
        <p:spPr bwMode="auto">
          <a:xfrm>
            <a:off x="10244679" y="2665282"/>
            <a:ext cx="13716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a:solidFill>
                  <a:srgbClr val="020001"/>
                </a:solidFill>
              </a:rPr>
              <a:t>输出</a:t>
            </a:r>
            <a:endParaRPr lang="zh-CN" altLang="en-US" sz="3200" b="1">
              <a:solidFill>
                <a:srgbClr val="020001"/>
              </a:solidFill>
            </a:endParaRPr>
          </a:p>
        </p:txBody>
      </p:sp>
      <p:sp useBgFill="1">
        <p:nvSpPr>
          <p:cNvPr id="141" name="Rectangle 19"/>
          <p:cNvSpPr>
            <a:spLocks noChangeArrowheads="1"/>
          </p:cNvSpPr>
          <p:nvPr/>
        </p:nvSpPr>
        <p:spPr bwMode="auto">
          <a:xfrm>
            <a:off x="5520279" y="2222370"/>
            <a:ext cx="13716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b="1"/>
          </a:p>
        </p:txBody>
      </p:sp>
      <p:grpSp>
        <p:nvGrpSpPr>
          <p:cNvPr id="142" name="Group 20"/>
          <p:cNvGrpSpPr/>
          <p:nvPr/>
        </p:nvGrpSpPr>
        <p:grpSpPr bwMode="auto">
          <a:xfrm>
            <a:off x="4548729" y="2263645"/>
            <a:ext cx="2378075" cy="3486150"/>
            <a:chOff x="540" y="1082"/>
            <a:chExt cx="1498" cy="2196"/>
          </a:xfrm>
        </p:grpSpPr>
        <p:sp>
          <p:nvSpPr>
            <p:cNvPr id="143" name="Text Box 21"/>
            <p:cNvSpPr txBox="1">
              <a:spLocks noChangeArrowheads="1"/>
            </p:cNvSpPr>
            <p:nvPr/>
          </p:nvSpPr>
          <p:spPr bwMode="auto">
            <a:xfrm>
              <a:off x="1584" y="1152"/>
              <a:ext cx="384" cy="145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400" b="1">
                  <a:solidFill>
                    <a:srgbClr val="020001"/>
                  </a:solidFill>
                </a:rPr>
                <a:t>X</a:t>
              </a:r>
              <a:r>
                <a:rPr lang="en-US" altLang="zh-CN" sz="2400" b="1" baseline="-25000">
                  <a:solidFill>
                    <a:srgbClr val="020001"/>
                  </a:solidFill>
                </a:rPr>
                <a:t>m</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X</a:t>
              </a:r>
              <a:r>
                <a:rPr lang="en-US" altLang="zh-CN" sz="2400" b="1" baseline="-25000">
                  <a:solidFill>
                    <a:srgbClr val="020001"/>
                  </a:solidFill>
                </a:rPr>
                <a:t>1</a:t>
              </a:r>
              <a:br>
                <a:rPr lang="en-US" altLang="zh-CN" sz="2400" b="1">
                  <a:solidFill>
                    <a:srgbClr val="020001"/>
                  </a:solidFill>
                </a:rPr>
              </a:br>
              <a:r>
                <a:rPr lang="en-US" altLang="zh-CN" sz="2400" b="1">
                  <a:solidFill>
                    <a:srgbClr val="020001"/>
                  </a:solidFill>
                </a:rPr>
                <a:t>$</a:t>
              </a:r>
              <a:endParaRPr lang="en-US" altLang="zh-CN" sz="2400" b="1">
                <a:solidFill>
                  <a:srgbClr val="020001"/>
                </a:solidFill>
              </a:endParaRPr>
            </a:p>
          </p:txBody>
        </p:sp>
        <p:sp>
          <p:nvSpPr>
            <p:cNvPr id="144" name="Line 22"/>
            <p:cNvSpPr>
              <a:spLocks noChangeShapeType="1"/>
            </p:cNvSpPr>
            <p:nvPr/>
          </p:nvSpPr>
          <p:spPr bwMode="auto">
            <a:xfrm>
              <a:off x="864" y="1296"/>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45" name="Text Box 23"/>
            <p:cNvSpPr txBox="1">
              <a:spLocks noChangeArrowheads="1"/>
            </p:cNvSpPr>
            <p:nvPr/>
          </p:nvSpPr>
          <p:spPr bwMode="auto">
            <a:xfrm>
              <a:off x="540" y="1082"/>
              <a:ext cx="288"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20001"/>
                  </a:solidFill>
                </a:rPr>
                <a:t>状态栈</a:t>
              </a:r>
              <a:endParaRPr lang="zh-CN" altLang="en-US" sz="2400" b="1">
                <a:solidFill>
                  <a:srgbClr val="020001"/>
                </a:solidFill>
              </a:endParaRPr>
            </a:p>
          </p:txBody>
        </p:sp>
        <p:sp>
          <p:nvSpPr>
            <p:cNvPr id="146" name="Line 24"/>
            <p:cNvSpPr>
              <a:spLocks noChangeShapeType="1"/>
            </p:cNvSpPr>
            <p:nvPr/>
          </p:nvSpPr>
          <p:spPr bwMode="auto">
            <a:xfrm flipV="1">
              <a:off x="1872" y="2592"/>
              <a:ext cx="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147" name="Rectangle 25"/>
            <p:cNvSpPr>
              <a:spLocks noChangeArrowheads="1"/>
            </p:cNvSpPr>
            <p:nvPr/>
          </p:nvSpPr>
          <p:spPr bwMode="auto">
            <a:xfrm>
              <a:off x="1443" y="3027"/>
              <a:ext cx="59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10000"/>
                  </a:solidFill>
                </a:rPr>
                <a:t>符号栈</a:t>
              </a:r>
              <a:endParaRPr lang="zh-CN" altLang="en-US" sz="2000" b="1">
                <a:solidFill>
                  <a:srgbClr val="010000"/>
                </a:solidFill>
              </a:endParaRPr>
            </a:p>
          </p:txBody>
        </p:sp>
      </p:grpSp>
      <p:grpSp>
        <p:nvGrpSpPr>
          <p:cNvPr id="148" name="Group 26"/>
          <p:cNvGrpSpPr/>
          <p:nvPr/>
        </p:nvGrpSpPr>
        <p:grpSpPr bwMode="auto">
          <a:xfrm>
            <a:off x="3920079" y="2374770"/>
            <a:ext cx="2286000" cy="3179763"/>
            <a:chOff x="144" y="1152"/>
            <a:chExt cx="1440" cy="2003"/>
          </a:xfrm>
        </p:grpSpPr>
        <p:sp>
          <p:nvSpPr>
            <p:cNvPr id="149" name="Text Box 27"/>
            <p:cNvSpPr txBox="1">
              <a:spLocks noChangeArrowheads="1"/>
            </p:cNvSpPr>
            <p:nvPr/>
          </p:nvSpPr>
          <p:spPr bwMode="auto">
            <a:xfrm>
              <a:off x="1200" y="1152"/>
              <a:ext cx="384" cy="145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spcBef>
                  <a:spcPct val="50000"/>
                </a:spcBef>
              </a:pPr>
              <a:r>
                <a:rPr lang="en-US" altLang="zh-CN" sz="2400" b="1">
                  <a:solidFill>
                    <a:srgbClr val="020001"/>
                  </a:solidFill>
                </a:rPr>
                <a:t>m</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a:t>
              </a:r>
              <a:br>
                <a:rPr lang="en-US" altLang="zh-CN" sz="2400" b="1">
                  <a:solidFill>
                    <a:srgbClr val="020001"/>
                  </a:solidFill>
                </a:rPr>
              </a:br>
              <a:r>
                <a:rPr lang="en-US" altLang="zh-CN" sz="2400" b="1">
                  <a:solidFill>
                    <a:srgbClr val="020001"/>
                  </a:solidFill>
                </a:rPr>
                <a:t>1</a:t>
              </a:r>
              <a:br>
                <a:rPr lang="en-US" altLang="zh-CN" sz="2400" b="1">
                  <a:solidFill>
                    <a:srgbClr val="020001"/>
                  </a:solidFill>
                </a:rPr>
              </a:br>
              <a:r>
                <a:rPr lang="en-US" altLang="zh-CN" sz="2400" b="1">
                  <a:solidFill>
                    <a:srgbClr val="020001"/>
                  </a:solidFill>
                </a:rPr>
                <a:t>0</a:t>
              </a:r>
              <a:endParaRPr lang="en-US" altLang="zh-CN" sz="2400" b="1">
                <a:solidFill>
                  <a:srgbClr val="020001"/>
                </a:solidFill>
              </a:endParaRPr>
            </a:p>
          </p:txBody>
        </p:sp>
        <p:sp>
          <p:nvSpPr>
            <p:cNvPr id="150" name="Rectangle 28"/>
            <p:cNvSpPr>
              <a:spLocks noChangeArrowheads="1"/>
            </p:cNvSpPr>
            <p:nvPr/>
          </p:nvSpPr>
          <p:spPr bwMode="auto">
            <a:xfrm>
              <a:off x="144" y="2400"/>
              <a:ext cx="1008"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400" b="1">
                  <a:solidFill>
                    <a:srgbClr val="020001"/>
                  </a:solidFill>
                </a:rPr>
                <a:t>识别活前缀的自动机状态</a:t>
              </a:r>
              <a:endParaRPr lang="zh-CN" altLang="en-US" sz="2400" b="1">
                <a:solidFill>
                  <a:srgbClr val="020001"/>
                </a:solidFill>
              </a:endParaRPr>
            </a:p>
          </p:txBody>
        </p:sp>
        <p:sp>
          <p:nvSpPr>
            <p:cNvPr id="151" name="Line 29"/>
            <p:cNvSpPr>
              <a:spLocks noChangeShapeType="1"/>
            </p:cNvSpPr>
            <p:nvPr/>
          </p:nvSpPr>
          <p:spPr bwMode="auto">
            <a:xfrm flipV="1">
              <a:off x="816" y="2208"/>
              <a:ext cx="48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338455" y="1330960"/>
            <a:ext cx="3618865" cy="3969385"/>
          </a:xfrm>
          <a:prstGeom prst="rect">
            <a:avLst/>
          </a:prstGeom>
          <a:noFill/>
        </p:spPr>
        <p:txBody>
          <a:bodyPr wrap="square" rtlCol="0" anchor="t">
            <a:spAutoFit/>
          </a:bodyPr>
          <a:p>
            <a:pPr>
              <a:lnSpc>
                <a:spcPct val="150000"/>
              </a:lnSpc>
            </a:pPr>
            <a:r>
              <a:rPr lang="zh-CN" altLang="en-US" sz="2400" b="1" dirty="0">
                <a:solidFill>
                  <a:srgbClr val="020001"/>
                </a:solidFill>
                <a:sym typeface="+mn-ea"/>
              </a:rPr>
              <a:t>在总控程序控制下，从左</a:t>
            </a:r>
            <a:r>
              <a:rPr lang="zh-CN" altLang="en-US" sz="2400" b="1" dirty="0">
                <a:solidFill>
                  <a:srgbClr val="020001"/>
                </a:solidFill>
                <a:sym typeface="+mn-ea"/>
              </a:rPr>
              <a:t>至右处理词法分析输入，根据</a:t>
            </a:r>
            <a:r>
              <a:rPr lang="zh-CN" altLang="en-US" sz="2400" b="1" dirty="0">
                <a:solidFill>
                  <a:srgbClr val="020001"/>
                </a:solidFill>
                <a:latin typeface="Times New Roman" panose="02020603050405020304" pitchFamily="18" charset="0"/>
                <a:sym typeface="+mn-ea"/>
              </a:rPr>
              <a:t>文法符号栈</a:t>
            </a:r>
            <a:r>
              <a:rPr lang="en-US" altLang="zh-CN" sz="2400" b="1" dirty="0">
                <a:solidFill>
                  <a:srgbClr val="020001"/>
                </a:solidFill>
                <a:latin typeface="Times New Roman" panose="02020603050405020304" pitchFamily="18" charset="0"/>
                <a:sym typeface="+mn-ea"/>
              </a:rPr>
              <a:t>X[</a:t>
            </a:r>
            <a:r>
              <a:rPr lang="en-US" altLang="zh-CN" sz="2400" b="1" dirty="0" err="1">
                <a:solidFill>
                  <a:srgbClr val="020001"/>
                </a:solidFill>
                <a:latin typeface="Times New Roman" panose="02020603050405020304" pitchFamily="18" charset="0"/>
                <a:sym typeface="+mn-ea"/>
              </a:rPr>
              <a:t>i</a:t>
            </a:r>
            <a:r>
              <a:rPr lang="en-US" altLang="zh-CN" sz="2400" b="1" dirty="0">
                <a:solidFill>
                  <a:srgbClr val="020001"/>
                </a:solidFill>
                <a:latin typeface="Times New Roman" panose="02020603050405020304" pitchFamily="18" charset="0"/>
                <a:sym typeface="+mn-ea"/>
              </a:rPr>
              <a:t>]</a:t>
            </a:r>
            <a:r>
              <a:rPr lang="zh-CN" altLang="en-US" sz="2400" b="1" dirty="0">
                <a:solidFill>
                  <a:srgbClr val="020001"/>
                </a:solidFill>
                <a:latin typeface="Times New Roman" panose="02020603050405020304" pitchFamily="18" charset="0"/>
                <a:sym typeface="+mn-ea"/>
              </a:rPr>
              <a:t>、</a:t>
            </a:r>
            <a:r>
              <a:rPr lang="zh-CN" altLang="en-US" sz="2400" b="1" dirty="0">
                <a:solidFill>
                  <a:srgbClr val="020001"/>
                </a:solidFill>
                <a:latin typeface="Times New Roman" panose="02020603050405020304" pitchFamily="18" charset="0"/>
                <a:sym typeface="+mn-ea"/>
              </a:rPr>
              <a:t>状态栈</a:t>
            </a:r>
            <a:r>
              <a:rPr lang="en-US" altLang="zh-CN" sz="2400" b="1" dirty="0">
                <a:solidFill>
                  <a:srgbClr val="020001"/>
                </a:solidFill>
                <a:latin typeface="Times New Roman" panose="02020603050405020304" pitchFamily="18" charset="0"/>
                <a:sym typeface="+mn-ea"/>
              </a:rPr>
              <a:t>S[</a:t>
            </a:r>
            <a:r>
              <a:rPr lang="en-US" altLang="zh-CN" sz="2400" b="1" dirty="0" err="1">
                <a:solidFill>
                  <a:srgbClr val="020001"/>
                </a:solidFill>
                <a:latin typeface="Times New Roman" panose="02020603050405020304" pitchFamily="18" charset="0"/>
                <a:sym typeface="+mn-ea"/>
              </a:rPr>
              <a:t>i</a:t>
            </a:r>
            <a:r>
              <a:rPr lang="en-US" altLang="zh-CN" sz="2400" b="1" dirty="0">
                <a:solidFill>
                  <a:srgbClr val="020001"/>
                </a:solidFill>
                <a:latin typeface="Times New Roman" panose="02020603050405020304" pitchFamily="18" charset="0"/>
                <a:sym typeface="+mn-ea"/>
              </a:rPr>
              <a:t>]</a:t>
            </a:r>
            <a:r>
              <a:rPr lang="zh-CN" altLang="en-US" sz="2400" b="1" dirty="0">
                <a:solidFill>
                  <a:srgbClr val="020001"/>
                </a:solidFill>
                <a:sym typeface="+mn-ea"/>
              </a:rPr>
              <a:t>）和输入符号的情况，查</a:t>
            </a:r>
            <a:r>
              <a:rPr lang="zh-CN" altLang="en-US" sz="2400" b="1" dirty="0">
                <a:solidFill>
                  <a:srgbClr val="020001"/>
                </a:solidFill>
                <a:latin typeface="Times New Roman" panose="02020603050405020304" pitchFamily="18" charset="0"/>
                <a:sym typeface="+mn-ea"/>
              </a:rPr>
              <a:t>动作表(</a:t>
            </a:r>
            <a:r>
              <a:rPr lang="en-US" altLang="zh-CN" sz="2400" b="1" dirty="0">
                <a:solidFill>
                  <a:srgbClr val="020001"/>
                </a:solidFill>
                <a:latin typeface="Times New Roman" panose="02020603050405020304" pitchFamily="18" charset="0"/>
                <a:sym typeface="+mn-ea"/>
              </a:rPr>
              <a:t>Action)</a:t>
            </a:r>
            <a:r>
              <a:rPr lang="zh-CN" altLang="en-US" sz="2400" b="1" dirty="0">
                <a:solidFill>
                  <a:srgbClr val="020001"/>
                </a:solidFill>
                <a:latin typeface="Times New Roman" panose="02020603050405020304" pitchFamily="18" charset="0"/>
                <a:sym typeface="+mn-ea"/>
              </a:rPr>
              <a:t>和状态转换表(</a:t>
            </a:r>
            <a:r>
              <a:rPr lang="en-US" altLang="zh-CN" sz="2400" b="1" dirty="0" err="1">
                <a:solidFill>
                  <a:srgbClr val="020001"/>
                </a:solidFill>
                <a:latin typeface="Times New Roman" panose="02020603050405020304" pitchFamily="18" charset="0"/>
                <a:sym typeface="+mn-ea"/>
              </a:rPr>
              <a:t>Goto</a:t>
            </a:r>
            <a:r>
              <a:rPr lang="en-US" altLang="zh-CN" sz="2400" b="1" dirty="0">
                <a:solidFill>
                  <a:srgbClr val="020001"/>
                </a:solidFill>
                <a:latin typeface="Times New Roman" panose="02020603050405020304" pitchFamily="18" charset="0"/>
                <a:sym typeface="+mn-ea"/>
              </a:rPr>
              <a:t>)</a:t>
            </a:r>
            <a:r>
              <a:rPr lang="zh-CN" altLang="en-US" sz="2400" b="1" dirty="0">
                <a:solidFill>
                  <a:srgbClr val="020001"/>
                </a:solidFill>
                <a:sym typeface="+mn-ea"/>
              </a:rPr>
              <a:t>），确定分析动作。</a:t>
            </a:r>
            <a:endParaRPr lang="zh-CN" altLang="en-US" sz="2400" b="1" dirty="0">
              <a:solidFill>
                <a:srgbClr val="02000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barn(outHorizontal)">
                                      <p:cBhvr>
                                        <p:cTn id="7" dur="500"/>
                                        <p:tgtEl>
                                          <p:spTgt spid="1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barn(outHorizontal)">
                                      <p:cBhvr>
                                        <p:cTn id="12" dur="5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barn(outHorizontal)">
                                      <p:cBhvr>
                                        <p:cTn id="17" dur="500"/>
                                        <p:tgtEl>
                                          <p:spTgt spid="14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134110" y="1954530"/>
            <a:ext cx="8924290" cy="4356735"/>
          </a:xfrm>
        </p:spPr>
        <p:txBody>
          <a:bodyPr>
            <a:normAutofit/>
          </a:bodyPr>
          <a:lstStyle/>
          <a:p>
            <a:pPr fontAlgn="auto">
              <a:lnSpc>
                <a:spcPct val="125000"/>
              </a:lnSpc>
            </a:pPr>
            <a:r>
              <a:rPr lang="zh-CN" altLang="en-US" b="1" dirty="0">
                <a:solidFill>
                  <a:schemeClr val="tx1"/>
                </a:solidFill>
              </a:rPr>
              <a:t> </a:t>
            </a:r>
            <a:r>
              <a:rPr lang="en-US" altLang="zh-CN" b="1" dirty="0">
                <a:solidFill>
                  <a:schemeClr val="tx1"/>
                </a:solidFill>
              </a:rPr>
              <a:t>4.1 </a:t>
            </a:r>
            <a:r>
              <a:rPr lang="zh-CN" altLang="en-US" b="1" dirty="0">
                <a:solidFill>
                  <a:schemeClr val="tx1"/>
                </a:solidFill>
              </a:rPr>
              <a:t>自下而上的语法分析概览</a:t>
            </a:r>
            <a:endParaRPr lang="zh-CN" altLang="en-US" b="1" dirty="0">
              <a:solidFill>
                <a:schemeClr val="tx1"/>
              </a:solidFill>
            </a:endParaRPr>
          </a:p>
          <a:p>
            <a:pPr fontAlgn="auto">
              <a:lnSpc>
                <a:spcPct val="125000"/>
              </a:lnSpc>
            </a:pPr>
            <a:r>
              <a:rPr lang="zh-CN" altLang="en-US" b="1" dirty="0">
                <a:solidFill>
                  <a:schemeClr val="tx1"/>
                </a:solidFill>
              </a:rPr>
              <a:t> </a:t>
            </a:r>
            <a:r>
              <a:rPr lang="en-US" altLang="zh-CN" b="1" dirty="0">
                <a:solidFill>
                  <a:schemeClr val="tx1"/>
                </a:solidFill>
              </a:rPr>
              <a:t>4.2 LR</a:t>
            </a:r>
            <a:r>
              <a:rPr lang="zh-CN" altLang="en-US" b="1" dirty="0">
                <a:solidFill>
                  <a:schemeClr val="tx1"/>
                </a:solidFill>
              </a:rPr>
              <a:t>分析概览</a:t>
            </a:r>
            <a:endParaRPr lang="zh-CN" altLang="en-US" b="1" dirty="0">
              <a:solidFill>
                <a:schemeClr val="tx1"/>
              </a:solidFill>
            </a:endParaRPr>
          </a:p>
          <a:p>
            <a:pPr fontAlgn="auto">
              <a:lnSpc>
                <a:spcPct val="125000"/>
              </a:lnSpc>
            </a:pPr>
            <a:r>
              <a:rPr lang="zh-CN" altLang="en-US" b="1" dirty="0">
                <a:solidFill>
                  <a:srgbClr val="0070C0"/>
                </a:solidFill>
              </a:rPr>
              <a:t> </a:t>
            </a:r>
            <a:r>
              <a:rPr lang="en-US" altLang="zh-CN" b="1" dirty="0">
                <a:solidFill>
                  <a:srgbClr val="0070C0"/>
                </a:solidFill>
              </a:rPr>
              <a:t>4.3 LR(0)</a:t>
            </a:r>
            <a:r>
              <a:rPr lang="zh-CN" altLang="en-US" b="1" dirty="0">
                <a:solidFill>
                  <a:srgbClr val="0070C0"/>
                </a:solidFill>
              </a:rPr>
              <a:t>项目的有穷自动机与</a:t>
            </a:r>
            <a:r>
              <a:rPr lang="en-US" altLang="zh-CN" b="1" dirty="0">
                <a:solidFill>
                  <a:srgbClr val="0070C0"/>
                </a:solidFill>
              </a:rPr>
              <a:t>LR(0)</a:t>
            </a:r>
            <a:r>
              <a:rPr lang="zh-CN" altLang="en-US" b="1" dirty="0">
                <a:solidFill>
                  <a:srgbClr val="0070C0"/>
                </a:solidFill>
              </a:rPr>
              <a:t>分析</a:t>
            </a:r>
            <a:endParaRPr lang="zh-CN" altLang="en-US" b="1" dirty="0">
              <a:solidFill>
                <a:srgbClr val="0070C0"/>
              </a:solidFill>
            </a:endParaRPr>
          </a:p>
          <a:p>
            <a:pPr fontAlgn="auto">
              <a:lnSpc>
                <a:spcPct val="125000"/>
              </a:lnSpc>
            </a:pPr>
            <a:r>
              <a:rPr lang="zh-CN" altLang="en-US" b="1" dirty="0">
                <a:solidFill>
                  <a:schemeClr val="tx1"/>
                </a:solidFill>
              </a:rPr>
              <a:t> </a:t>
            </a:r>
            <a:r>
              <a:rPr lang="en-US" altLang="zh-CN" b="1" dirty="0">
                <a:solidFill>
                  <a:schemeClr val="tx1"/>
                </a:solidFill>
              </a:rPr>
              <a:t>4.4 SLR(1) </a:t>
            </a:r>
            <a:r>
              <a:rPr lang="zh-CN" altLang="en-US" b="1" dirty="0">
                <a:solidFill>
                  <a:schemeClr val="tx1"/>
                </a:solidFill>
              </a:rPr>
              <a:t>分析</a:t>
            </a:r>
            <a:endParaRPr lang="zh-CN" altLang="en-US" b="1" dirty="0">
              <a:solidFill>
                <a:schemeClr val="tx1"/>
              </a:solidFill>
            </a:endParaRPr>
          </a:p>
          <a:p>
            <a:pPr fontAlgn="auto">
              <a:lnSpc>
                <a:spcPct val="125000"/>
              </a:lnSpc>
            </a:pPr>
            <a:r>
              <a:rPr lang="zh-CN" altLang="en-US" b="1" dirty="0">
                <a:solidFill>
                  <a:schemeClr val="tx1"/>
                </a:solidFill>
              </a:rPr>
              <a:t> </a:t>
            </a:r>
            <a:r>
              <a:rPr lang="en-US" altLang="zh-CN" b="1" dirty="0">
                <a:solidFill>
                  <a:schemeClr val="tx1"/>
                </a:solidFill>
              </a:rPr>
              <a:t>4.5  </a:t>
            </a:r>
            <a:r>
              <a:rPr lang="zh-CN" altLang="en-US" b="1" dirty="0">
                <a:solidFill>
                  <a:schemeClr val="tx1"/>
                </a:solidFill>
              </a:rPr>
              <a:t>一般的</a:t>
            </a:r>
            <a:r>
              <a:rPr lang="en-US" altLang="zh-CN" b="1" dirty="0">
                <a:solidFill>
                  <a:schemeClr val="tx1"/>
                </a:solidFill>
              </a:rPr>
              <a:t>LR(1)</a:t>
            </a:r>
            <a:endParaRPr lang="en-US" altLang="zh-CN" b="1" dirty="0">
              <a:solidFill>
                <a:schemeClr val="tx1"/>
              </a:solidFill>
            </a:endParaRPr>
          </a:p>
          <a:p>
            <a:pPr fontAlgn="auto">
              <a:lnSpc>
                <a:spcPct val="125000"/>
              </a:lnSpc>
            </a:pPr>
            <a:r>
              <a:rPr lang="en-US" altLang="zh-CN" b="1" dirty="0">
                <a:solidFill>
                  <a:schemeClr val="tx1"/>
                </a:solidFill>
              </a:rPr>
              <a:t> 4.6  LALR(1)</a:t>
            </a:r>
            <a:r>
              <a:rPr lang="zh-CN" altLang="en-US" b="1" dirty="0">
                <a:solidFill>
                  <a:schemeClr val="tx1"/>
                </a:solidFill>
              </a:rPr>
              <a:t>分析</a:t>
            </a:r>
            <a:endParaRPr lang="zh-CN" altLang="en-US" b="1" dirty="0">
              <a:solidFill>
                <a:schemeClr val="tx1"/>
              </a:solidFill>
            </a:endParaRPr>
          </a:p>
        </p:txBody>
      </p:sp>
      <p:sp>
        <p:nvSpPr>
          <p:cNvPr id="25" name="文本占位符 24"/>
          <p:cNvSpPr>
            <a:spLocks noGrp="1"/>
          </p:cNvSpPr>
          <p:nvPr>
            <p:ph type="body" sz="quarter" idx="15"/>
          </p:nvPr>
        </p:nvSpPr>
        <p:spPr>
          <a:xfrm>
            <a:off x="228600" y="315595"/>
            <a:ext cx="2653030" cy="601980"/>
          </a:xfrm>
        </p:spPr>
        <p:txBody>
          <a:bodyPr>
            <a:normAutofit fontScale="9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78790" y="276860"/>
            <a:ext cx="7374255" cy="593090"/>
          </a:xfrm>
        </p:spPr>
        <p:txBody>
          <a:bodyPr/>
          <a:lstStyle/>
          <a:p>
            <a:r>
              <a:rPr lang="en-US" altLang="zh-CN" sz="3200" dirty="0"/>
              <a:t>4.3 LR(0)</a:t>
            </a:r>
            <a:r>
              <a:rPr lang="zh-CN" altLang="en-US" sz="3200" dirty="0"/>
              <a:t>分析算法</a:t>
            </a:r>
            <a:endParaRPr lang="en-US" altLang="zh-CN" sz="3200" dirty="0"/>
          </a:p>
        </p:txBody>
      </p:sp>
      <p:sp>
        <p:nvSpPr>
          <p:cNvPr id="6" name="Rectangle 3"/>
          <p:cNvSpPr txBox="1">
            <a:spLocks noChangeArrowheads="1"/>
          </p:cNvSpPr>
          <p:nvPr/>
        </p:nvSpPr>
        <p:spPr>
          <a:xfrm>
            <a:off x="407670" y="1152525"/>
            <a:ext cx="11349990" cy="25730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ct val="0"/>
              </a:spcBef>
              <a:spcAft>
                <a:spcPts val="0"/>
              </a:spcAft>
            </a:pPr>
            <a:r>
              <a:rPr lang="zh-CN" altLang="en-US" sz="3200" b="1" dirty="0">
                <a:solidFill>
                  <a:srgbClr val="0070C0"/>
                </a:solidFill>
                <a:latin typeface="+mn-ea"/>
              </a:rPr>
              <a:t>定义</a:t>
            </a:r>
            <a:r>
              <a:rPr lang="zh-CN" altLang="en-US" sz="3200" b="1" dirty="0">
                <a:latin typeface="+mn-ea"/>
              </a:rPr>
              <a:t>：对于文法</a:t>
            </a:r>
            <a:r>
              <a:rPr lang="en-US" altLang="zh-CN" sz="3200" b="1" dirty="0">
                <a:latin typeface="+mn-ea"/>
              </a:rPr>
              <a:t>G</a:t>
            </a:r>
            <a:r>
              <a:rPr lang="zh-CN" altLang="en-US" sz="3200" b="1" dirty="0">
                <a:latin typeface="+mn-ea"/>
              </a:rPr>
              <a:t>，其产生式的右部添加一个特殊符号“</a:t>
            </a:r>
            <a:r>
              <a:rPr lang="en-US" altLang="zh-CN" sz="3200" b="1" dirty="0">
                <a:latin typeface="+mn-ea"/>
              </a:rPr>
              <a:t>.”</a:t>
            </a:r>
            <a:r>
              <a:rPr lang="zh-CN" altLang="en-US" sz="3200" b="1" dirty="0">
                <a:latin typeface="+mn-ea"/>
              </a:rPr>
              <a:t>就构成文法的一个</a:t>
            </a:r>
            <a:r>
              <a:rPr lang="en-US" altLang="zh-CN" sz="3200" b="1" dirty="0">
                <a:latin typeface="+mn-ea"/>
              </a:rPr>
              <a:t>LR(0)</a:t>
            </a:r>
            <a:r>
              <a:rPr lang="zh-CN" altLang="en-US" sz="3200" b="1" dirty="0">
                <a:solidFill>
                  <a:srgbClr val="0070C0"/>
                </a:solidFill>
                <a:latin typeface="+mn-ea"/>
              </a:rPr>
              <a:t>项目</a:t>
            </a:r>
            <a:r>
              <a:rPr lang="zh-CN" altLang="en-US" sz="3200" b="1" dirty="0">
                <a:latin typeface="+mn-ea"/>
              </a:rPr>
              <a:t>，简称项目。</a:t>
            </a:r>
            <a:endParaRPr lang="en-US" altLang="zh-CN" sz="3200" b="1" dirty="0">
              <a:latin typeface="+mn-ea"/>
            </a:endParaRPr>
          </a:p>
          <a:p>
            <a:pPr lvl="1">
              <a:lnSpc>
                <a:spcPct val="130000"/>
              </a:lnSpc>
              <a:spcBef>
                <a:spcPct val="0"/>
              </a:spcBef>
              <a:spcAft>
                <a:spcPts val="0"/>
              </a:spcAft>
            </a:pPr>
            <a:r>
              <a:rPr kumimoji="1" lang="zh-CN" altLang="en-US" sz="2800" b="1" kern="0" dirty="0">
                <a:solidFill>
                  <a:srgbClr val="020001"/>
                </a:solidFill>
              </a:rPr>
              <a:t>若</a:t>
            </a:r>
            <a:r>
              <a:rPr kumimoji="1" lang="en-US" altLang="zh-CN" sz="2800" b="1" i="1" kern="0" dirty="0">
                <a:solidFill>
                  <a:srgbClr val="020001"/>
                </a:solidFill>
              </a:rPr>
              <a:t>A</a:t>
            </a:r>
            <a:r>
              <a:rPr kumimoji="1" lang="en-US" altLang="zh-CN" sz="2800" b="1" kern="0" dirty="0">
                <a:solidFill>
                  <a:srgbClr val="020001"/>
                </a:solidFill>
              </a:rPr>
              <a:t>→</a:t>
            </a:r>
            <a:r>
              <a:rPr kumimoji="1" lang="zh-CN" altLang="en-US" sz="2800" b="1" kern="0" dirty="0">
                <a:solidFill>
                  <a:srgbClr val="020001"/>
                </a:solidFill>
                <a:sym typeface="Symbol" panose="05050102010706020507" pitchFamily="18" charset="2"/>
              </a:rPr>
              <a:t></a:t>
            </a:r>
            <a:r>
              <a:rPr kumimoji="1" lang="zh-CN" altLang="en-US" sz="2800" b="1" kern="0" dirty="0">
                <a:solidFill>
                  <a:srgbClr val="020001"/>
                </a:solidFill>
              </a:rPr>
              <a:t>是产生式</a:t>
            </a:r>
            <a:r>
              <a:rPr kumimoji="1" lang="en-US" altLang="zh-CN" sz="2800" b="1" kern="0" dirty="0">
                <a:solidFill>
                  <a:srgbClr val="020001"/>
                </a:solidFill>
              </a:rPr>
              <a:t>，</a:t>
            </a:r>
            <a:r>
              <a:rPr kumimoji="1" lang="zh-CN" altLang="en-US" sz="2800" b="1" kern="0" dirty="0">
                <a:solidFill>
                  <a:srgbClr val="020001"/>
                </a:solidFill>
              </a:rPr>
              <a:t>其中</a:t>
            </a:r>
            <a:r>
              <a:rPr kumimoji="1" lang="zh-CN" altLang="en-US" sz="2800" b="1" kern="0" dirty="0">
                <a:solidFill>
                  <a:srgbClr val="020001"/>
                </a:solidFill>
                <a:sym typeface="Symbol" panose="05050102010706020507" pitchFamily="18" charset="2"/>
              </a:rPr>
              <a:t></a:t>
            </a:r>
            <a:r>
              <a:rPr kumimoji="1" lang="zh-CN" altLang="en-US" sz="2800" b="1" kern="0" dirty="0">
                <a:solidFill>
                  <a:srgbClr val="020001"/>
                </a:solidFill>
              </a:rPr>
              <a:t>和</a:t>
            </a:r>
            <a:r>
              <a:rPr kumimoji="1" lang="zh-CN" altLang="en-US" sz="2800" b="1" kern="0" dirty="0">
                <a:solidFill>
                  <a:srgbClr val="020001"/>
                </a:solidFill>
                <a:sym typeface="Symbol" panose="05050102010706020507" pitchFamily="18" charset="2"/>
              </a:rPr>
              <a:t></a:t>
            </a:r>
            <a:r>
              <a:rPr kumimoji="1" lang="zh-CN" altLang="en-US" sz="2800" b="1" kern="0" dirty="0">
                <a:solidFill>
                  <a:srgbClr val="020001"/>
                </a:solidFill>
              </a:rPr>
              <a:t>是任意符号串（包括空串），那么</a:t>
            </a:r>
            <a:r>
              <a:rPr kumimoji="1" lang="en-US" altLang="zh-CN" sz="2800" b="1" i="1" kern="0" dirty="0">
                <a:solidFill>
                  <a:srgbClr val="0070C0"/>
                </a:solidFill>
              </a:rPr>
              <a:t>A</a:t>
            </a:r>
            <a:r>
              <a:rPr kumimoji="1" lang="en-US" altLang="zh-CN" sz="2800" b="1" kern="0" dirty="0">
                <a:solidFill>
                  <a:srgbClr val="0070C0"/>
                </a:solidFill>
              </a:rPr>
              <a:t>→</a:t>
            </a:r>
            <a:r>
              <a:rPr kumimoji="1" lang="zh-CN" altLang="en-US" sz="2800" b="1" kern="0" dirty="0">
                <a:solidFill>
                  <a:srgbClr val="0070C0"/>
                </a:solidFill>
                <a:sym typeface="Symbol" panose="05050102010706020507" pitchFamily="18" charset="2"/>
              </a:rPr>
              <a:t></a:t>
            </a:r>
            <a:r>
              <a:rPr kumimoji="1" lang="en-US" altLang="zh-CN" sz="2800" b="1" kern="0" dirty="0">
                <a:solidFill>
                  <a:srgbClr val="0070C0"/>
                </a:solidFill>
              </a:rPr>
              <a:t>. </a:t>
            </a:r>
            <a:r>
              <a:rPr kumimoji="1" lang="zh-CN" altLang="en-US" sz="2800" b="1" kern="0" dirty="0">
                <a:solidFill>
                  <a:srgbClr val="0070C0"/>
                </a:solidFill>
                <a:sym typeface="Symbol" panose="05050102010706020507" pitchFamily="18" charset="2"/>
              </a:rPr>
              <a:t></a:t>
            </a:r>
            <a:r>
              <a:rPr kumimoji="1" lang="zh-CN" altLang="en-US" sz="2800" b="1" kern="0" dirty="0">
                <a:solidFill>
                  <a:srgbClr val="020001"/>
                </a:solidFill>
              </a:rPr>
              <a:t>就是</a:t>
            </a:r>
            <a:r>
              <a:rPr kumimoji="1" lang="en-US" altLang="zh-CN" sz="2800" b="1" kern="0" dirty="0">
                <a:solidFill>
                  <a:srgbClr val="0070C0"/>
                </a:solidFill>
              </a:rPr>
              <a:t>LR(0)</a:t>
            </a:r>
            <a:r>
              <a:rPr kumimoji="1" lang="zh-CN" altLang="en-US" sz="2800" b="1" kern="0" dirty="0">
                <a:solidFill>
                  <a:srgbClr val="0070C0"/>
                </a:solidFill>
              </a:rPr>
              <a:t>项目。</a:t>
            </a:r>
            <a:endParaRPr lang="en-US" altLang="zh-CN" sz="2800" b="1" dirty="0">
              <a:solidFill>
                <a:srgbClr val="0070C0"/>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Rectangle 2"/>
          <p:cNvSpPr>
            <a:spLocks noChangeArrowheads="1"/>
          </p:cNvSpPr>
          <p:nvPr/>
        </p:nvSpPr>
        <p:spPr bwMode="auto">
          <a:xfrm>
            <a:off x="676275" y="3740150"/>
            <a:ext cx="1108138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dirty="0">
                <a:solidFill>
                  <a:srgbClr val="020001"/>
                </a:solidFill>
                <a:latin typeface="+mn-ea"/>
              </a:rPr>
              <a:t>例对于文法：</a:t>
            </a:r>
            <a:r>
              <a:rPr lang="en-US" altLang="zh-CN" sz="2800" b="1" dirty="0">
                <a:solidFill>
                  <a:srgbClr val="020001"/>
                </a:solidFill>
                <a:latin typeface="+mn-ea"/>
              </a:rPr>
              <a:t>S’→S        S→( S ) S | </a:t>
            </a:r>
            <a:r>
              <a:rPr lang="en-US" altLang="zh-CN" sz="2800" b="1" dirty="0">
                <a:solidFill>
                  <a:srgbClr val="010000"/>
                </a:solidFill>
                <a:latin typeface="+mn-ea"/>
                <a:sym typeface="Symbol" panose="05050102010706020507" pitchFamily="18" charset="2"/>
              </a:rPr>
              <a:t>ε               </a:t>
            </a:r>
            <a:r>
              <a:rPr lang="zh-CN" altLang="en-US" sz="2400" b="1" dirty="0">
                <a:solidFill>
                  <a:srgbClr val="020001"/>
                </a:solidFill>
                <a:latin typeface="+mn-ea"/>
              </a:rPr>
              <a:t>有以下</a:t>
            </a:r>
            <a:r>
              <a:rPr lang="en-US" altLang="zh-CN" sz="2400" b="1" dirty="0">
                <a:solidFill>
                  <a:srgbClr val="020001"/>
                </a:solidFill>
                <a:latin typeface="+mn-ea"/>
              </a:rPr>
              <a:t>LR(0)</a:t>
            </a:r>
            <a:r>
              <a:rPr lang="zh-CN" altLang="en-US" sz="2400" b="1" dirty="0">
                <a:solidFill>
                  <a:srgbClr val="020001"/>
                </a:solidFill>
                <a:latin typeface="+mn-ea"/>
              </a:rPr>
              <a:t>项目：</a:t>
            </a:r>
            <a:endParaRPr lang="en-US" altLang="zh-CN" sz="2400" b="1" dirty="0">
              <a:solidFill>
                <a:srgbClr val="020001"/>
              </a:solidFill>
              <a:latin typeface="+mn-ea"/>
            </a:endParaRPr>
          </a:p>
        </p:txBody>
      </p:sp>
      <p:grpSp>
        <p:nvGrpSpPr>
          <p:cNvPr id="5" name="Group 3"/>
          <p:cNvGrpSpPr/>
          <p:nvPr/>
        </p:nvGrpSpPr>
        <p:grpSpPr bwMode="auto">
          <a:xfrm>
            <a:off x="2181225" y="4277022"/>
            <a:ext cx="4572000" cy="827088"/>
            <a:chOff x="2400" y="1968"/>
            <a:chExt cx="2880" cy="521"/>
          </a:xfrm>
        </p:grpSpPr>
        <p:sp>
          <p:nvSpPr>
            <p:cNvPr id="7" name="Rectangle 4"/>
            <p:cNvSpPr>
              <a:spLocks noChangeArrowheads="1"/>
            </p:cNvSpPr>
            <p:nvPr>
              <p:custDataLst>
                <p:tags r:id="rId1"/>
              </p:custDataLst>
            </p:nvPr>
          </p:nvSpPr>
          <p:spPr bwMode="auto">
            <a:xfrm>
              <a:off x="2400" y="1968"/>
              <a:ext cx="288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S’→.S</a:t>
              </a:r>
              <a:endParaRPr lang="en-US" altLang="zh-CN" sz="2800" b="1">
                <a:solidFill>
                  <a:srgbClr val="020001"/>
                </a:solidFill>
                <a:latin typeface="+mn-ea"/>
              </a:endParaRPr>
            </a:p>
          </p:txBody>
        </p:sp>
        <p:sp>
          <p:nvSpPr>
            <p:cNvPr id="8" name="Rectangle 5"/>
            <p:cNvSpPr>
              <a:spLocks noChangeArrowheads="1"/>
            </p:cNvSpPr>
            <p:nvPr>
              <p:custDataLst>
                <p:tags r:id="rId2"/>
              </p:custDataLst>
            </p:nvPr>
          </p:nvSpPr>
          <p:spPr bwMode="auto">
            <a:xfrm>
              <a:off x="2400" y="2160"/>
              <a:ext cx="288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S’→S.</a:t>
              </a:r>
              <a:endParaRPr lang="en-US" altLang="zh-CN" sz="2800" b="1">
                <a:solidFill>
                  <a:srgbClr val="020001"/>
                </a:solidFill>
                <a:latin typeface="+mn-ea"/>
              </a:endParaRPr>
            </a:p>
          </p:txBody>
        </p:sp>
      </p:grpSp>
      <p:sp>
        <p:nvSpPr>
          <p:cNvPr id="9" name="Rectangle 6"/>
          <p:cNvSpPr>
            <a:spLocks noChangeArrowheads="1"/>
          </p:cNvSpPr>
          <p:nvPr/>
        </p:nvSpPr>
        <p:spPr bwMode="auto">
          <a:xfrm>
            <a:off x="7868920" y="4501179"/>
            <a:ext cx="1676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20001"/>
                </a:solidFill>
                <a:latin typeface="+mn-ea"/>
              </a:rPr>
              <a:t>S→.</a:t>
            </a:r>
            <a:endParaRPr lang="en-US" altLang="zh-CN" sz="2800" b="1">
              <a:solidFill>
                <a:srgbClr val="020001"/>
              </a:solidFill>
              <a:latin typeface="+mn-ea"/>
            </a:endParaRPr>
          </a:p>
        </p:txBody>
      </p:sp>
      <p:sp>
        <p:nvSpPr>
          <p:cNvPr id="10" name="Rectangle 7"/>
          <p:cNvSpPr>
            <a:spLocks noChangeArrowheads="1"/>
          </p:cNvSpPr>
          <p:nvPr/>
        </p:nvSpPr>
        <p:spPr bwMode="auto">
          <a:xfrm>
            <a:off x="4467225" y="4277024"/>
            <a:ext cx="4648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 ( S ) S</a:t>
            </a:r>
            <a:endParaRPr lang="en-US" altLang="zh-CN" sz="2800" b="1">
              <a:solidFill>
                <a:srgbClr val="020001"/>
              </a:solidFill>
              <a:latin typeface="+mn-ea"/>
            </a:endParaRPr>
          </a:p>
        </p:txBody>
      </p:sp>
      <p:sp>
        <p:nvSpPr>
          <p:cNvPr id="11" name="Rectangle 8"/>
          <p:cNvSpPr>
            <a:spLocks noChangeArrowheads="1"/>
          </p:cNvSpPr>
          <p:nvPr/>
        </p:nvSpPr>
        <p:spPr bwMode="auto">
          <a:xfrm>
            <a:off x="4467225" y="4658024"/>
            <a:ext cx="44545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 .S ) S</a:t>
            </a:r>
            <a:endParaRPr lang="en-US" altLang="zh-CN" sz="2800" b="1">
              <a:solidFill>
                <a:srgbClr val="020001"/>
              </a:solidFill>
              <a:latin typeface="+mn-ea"/>
            </a:endParaRPr>
          </a:p>
        </p:txBody>
      </p:sp>
      <p:sp>
        <p:nvSpPr>
          <p:cNvPr id="13" name="Rectangle 9"/>
          <p:cNvSpPr>
            <a:spLocks noChangeArrowheads="1"/>
          </p:cNvSpPr>
          <p:nvPr/>
        </p:nvSpPr>
        <p:spPr bwMode="auto">
          <a:xfrm>
            <a:off x="4467225" y="5115224"/>
            <a:ext cx="40671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 S. )S</a:t>
            </a:r>
            <a:endParaRPr lang="en-US" altLang="zh-CN" sz="2800" b="1">
              <a:solidFill>
                <a:srgbClr val="020001"/>
              </a:solidFill>
              <a:latin typeface="+mn-ea"/>
            </a:endParaRPr>
          </a:p>
        </p:txBody>
      </p:sp>
      <p:sp>
        <p:nvSpPr>
          <p:cNvPr id="14" name="Rectangle 10"/>
          <p:cNvSpPr>
            <a:spLocks noChangeArrowheads="1"/>
          </p:cNvSpPr>
          <p:nvPr/>
        </p:nvSpPr>
        <p:spPr bwMode="auto">
          <a:xfrm>
            <a:off x="4467225" y="5496224"/>
            <a:ext cx="426085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solidFill>
                  <a:srgbClr val="020001"/>
                </a:solidFill>
                <a:latin typeface="+mn-ea"/>
              </a:rPr>
              <a:t>S→( S ) .S</a:t>
            </a:r>
            <a:endParaRPr lang="en-US" altLang="zh-CN" sz="2800" b="1">
              <a:solidFill>
                <a:srgbClr val="020001"/>
              </a:solidFill>
              <a:latin typeface="+mn-ea"/>
            </a:endParaRPr>
          </a:p>
        </p:txBody>
      </p:sp>
      <p:sp>
        <p:nvSpPr>
          <p:cNvPr id="15" name="Rectangle 11"/>
          <p:cNvSpPr>
            <a:spLocks noChangeArrowheads="1"/>
          </p:cNvSpPr>
          <p:nvPr/>
        </p:nvSpPr>
        <p:spPr bwMode="auto">
          <a:xfrm>
            <a:off x="4467225" y="5853412"/>
            <a:ext cx="15881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2800" b="1">
                <a:solidFill>
                  <a:srgbClr val="020001"/>
                </a:solidFill>
                <a:latin typeface="+mn-ea"/>
              </a:rPr>
              <a:t>S→( S )S.</a:t>
            </a:r>
            <a:endParaRPr lang="en-US" altLang="zh-CN" sz="2800" b="1">
              <a:solidFill>
                <a:srgbClr val="02000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3" grpId="0"/>
      <p:bldP spid="14" grpId="0"/>
      <p:bldP spid="15"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1970" y="276860"/>
            <a:ext cx="7331075" cy="593090"/>
          </a:xfrm>
        </p:spPr>
        <p:txBody>
          <a:bodyPr/>
          <a:lstStyle/>
          <a:p>
            <a:r>
              <a:rPr lang="en-US" altLang="zh-CN" sz="3200" dirty="0"/>
              <a:t>1. </a:t>
            </a:r>
            <a:r>
              <a:rPr lang="zh-CN" altLang="en-US" sz="3200" dirty="0"/>
              <a:t>构造识别活前缀的</a:t>
            </a:r>
            <a:r>
              <a:rPr lang="en-US" altLang="zh-CN" sz="3200" dirty="0"/>
              <a:t>NFA</a:t>
            </a:r>
            <a:endParaRPr lang="en-US" altLang="zh-CN" sz="3200" dirty="0"/>
          </a:p>
        </p:txBody>
      </p:sp>
      <p:sp>
        <p:nvSpPr>
          <p:cNvPr id="15" name="Rectangle 8"/>
          <p:cNvSpPr txBox="1">
            <a:spLocks noChangeArrowheads="1"/>
          </p:cNvSpPr>
          <p:nvPr/>
        </p:nvSpPr>
        <p:spPr>
          <a:xfrm>
            <a:off x="433070" y="1083945"/>
            <a:ext cx="11473815" cy="24834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0"/>
              </a:spcBef>
              <a:spcAft>
                <a:spcPts val="0"/>
              </a:spcAft>
              <a:buNone/>
            </a:pPr>
            <a:r>
              <a:rPr lang="zh-CN" altLang="en-US" sz="2400" b="1" dirty="0">
                <a:solidFill>
                  <a:srgbClr val="020001"/>
                </a:solidFill>
                <a:latin typeface="+mn-ea"/>
              </a:rPr>
              <a:t>拓广文法</a:t>
            </a:r>
            <a:r>
              <a:rPr lang="en-US" altLang="zh-CN" sz="2400" b="1" dirty="0">
                <a:solidFill>
                  <a:srgbClr val="020001"/>
                </a:solidFill>
                <a:latin typeface="+mn-ea"/>
              </a:rPr>
              <a:t>G</a:t>
            </a:r>
            <a:r>
              <a:rPr lang="zh-CN" altLang="en-US" sz="2400" b="1" dirty="0">
                <a:solidFill>
                  <a:srgbClr val="020001"/>
                </a:solidFill>
                <a:latin typeface="+mn-ea"/>
              </a:rPr>
              <a:t>为</a:t>
            </a:r>
            <a:r>
              <a:rPr lang="en-US" altLang="zh-CN" sz="2400" b="1" dirty="0">
                <a:solidFill>
                  <a:srgbClr val="020001"/>
                </a:solidFill>
                <a:latin typeface="+mn-ea"/>
              </a:rPr>
              <a:t>G’,</a:t>
            </a:r>
            <a:r>
              <a:rPr lang="zh-CN" altLang="en-US" sz="2400" b="1" dirty="0">
                <a:solidFill>
                  <a:srgbClr val="020001"/>
                </a:solidFill>
                <a:latin typeface="+mn-ea"/>
              </a:rPr>
              <a:t>引进一新的产生式</a:t>
            </a:r>
            <a:r>
              <a:rPr lang="en-US" altLang="zh-CN" sz="2400" b="1" dirty="0">
                <a:solidFill>
                  <a:srgbClr val="020001"/>
                </a:solidFill>
                <a:latin typeface="+mn-ea"/>
              </a:rPr>
              <a:t>S’</a:t>
            </a:r>
            <a:r>
              <a:rPr lang="en-US" altLang="zh-CN" sz="2400" b="1" dirty="0">
                <a:solidFill>
                  <a:srgbClr val="020001"/>
                </a:solidFill>
                <a:latin typeface="+mn-ea"/>
                <a:sym typeface="Symbol" panose="05050102010706020507" pitchFamily="18" charset="2"/>
              </a:rPr>
              <a:t> S</a:t>
            </a:r>
            <a:r>
              <a:rPr lang="en-US" altLang="zh-CN" sz="2400" b="1" dirty="0">
                <a:solidFill>
                  <a:srgbClr val="010000"/>
                </a:solidFill>
                <a:latin typeface="+mn-ea"/>
                <a:sym typeface="Symbol" panose="05050102010706020507" pitchFamily="18" charset="2"/>
              </a:rPr>
              <a:t> </a:t>
            </a:r>
            <a:r>
              <a:rPr lang="zh-CN" altLang="en-US" sz="2400" b="1" dirty="0">
                <a:solidFill>
                  <a:srgbClr val="010000"/>
                </a:solidFill>
                <a:latin typeface="+mn-ea"/>
                <a:sym typeface="Symbol" panose="05050102010706020507" pitchFamily="18" charset="2"/>
              </a:rPr>
              <a:t>， </a:t>
            </a:r>
            <a:r>
              <a:rPr lang="en-US" altLang="zh-CN" sz="2400" b="1" dirty="0">
                <a:solidFill>
                  <a:srgbClr val="020001"/>
                </a:solidFill>
                <a:latin typeface="+mn-ea"/>
              </a:rPr>
              <a:t>S’</a:t>
            </a:r>
            <a:r>
              <a:rPr lang="zh-CN" altLang="en-US" sz="2400" b="1" dirty="0">
                <a:solidFill>
                  <a:srgbClr val="020001"/>
                </a:solidFill>
                <a:latin typeface="+mn-ea"/>
              </a:rPr>
              <a:t>是新增加的非终结符作为</a:t>
            </a:r>
            <a:r>
              <a:rPr lang="en-US" altLang="zh-CN" sz="2400" b="1" dirty="0">
                <a:solidFill>
                  <a:srgbClr val="020001"/>
                </a:solidFill>
                <a:latin typeface="+mn-ea"/>
              </a:rPr>
              <a:t>G’</a:t>
            </a:r>
            <a:r>
              <a:rPr lang="zh-CN" altLang="en-US" sz="2400" b="1" dirty="0">
                <a:solidFill>
                  <a:srgbClr val="020001"/>
                </a:solidFill>
                <a:latin typeface="+mn-ea"/>
              </a:rPr>
              <a:t>的开始符。</a:t>
            </a:r>
            <a:endParaRPr lang="zh-CN" altLang="en-US" sz="2400" b="1" dirty="0">
              <a:solidFill>
                <a:srgbClr val="F4007A"/>
              </a:solidFill>
              <a:latin typeface="+mn-ea"/>
            </a:endParaRPr>
          </a:p>
          <a:p>
            <a:pPr marL="967105" lvl="1" indent="-495300">
              <a:lnSpc>
                <a:spcPct val="130000"/>
              </a:lnSpc>
              <a:spcBef>
                <a:spcPts val="0"/>
              </a:spcBef>
              <a:spcAft>
                <a:spcPts val="0"/>
              </a:spcAft>
              <a:buFont typeface="Wingdings" panose="05000000000000000000" pitchFamily="2" charset="2"/>
              <a:buAutoNum type="circleNumDbPlain"/>
            </a:pPr>
            <a:r>
              <a:rPr lang="en-US" altLang="zh-CN" b="1" dirty="0">
                <a:solidFill>
                  <a:srgbClr val="020001"/>
                </a:solidFill>
                <a:latin typeface="+mn-ea"/>
              </a:rPr>
              <a:t>NFA</a:t>
            </a:r>
            <a:r>
              <a:rPr lang="zh-CN" altLang="en-US" b="1" dirty="0">
                <a:solidFill>
                  <a:srgbClr val="020001"/>
                </a:solidFill>
                <a:latin typeface="+mn-ea"/>
              </a:rPr>
              <a:t>的状态集：每个项目对应一个</a:t>
            </a:r>
            <a:r>
              <a:rPr lang="en-US" altLang="zh-CN" b="1" dirty="0">
                <a:solidFill>
                  <a:srgbClr val="020001"/>
                </a:solidFill>
                <a:latin typeface="+mn-ea"/>
              </a:rPr>
              <a:t>NFA</a:t>
            </a:r>
            <a:r>
              <a:rPr lang="zh-CN" altLang="en-US" b="1" dirty="0">
                <a:solidFill>
                  <a:srgbClr val="020001"/>
                </a:solidFill>
                <a:latin typeface="+mn-ea"/>
              </a:rPr>
              <a:t>状态，所有项目对应状态的集合；</a:t>
            </a:r>
            <a:endParaRPr lang="zh-CN" altLang="en-US" b="1" dirty="0">
              <a:solidFill>
                <a:srgbClr val="020001"/>
              </a:solidFill>
              <a:latin typeface="+mn-ea"/>
            </a:endParaRPr>
          </a:p>
          <a:p>
            <a:pPr marL="967105" lvl="1" indent="-495300">
              <a:lnSpc>
                <a:spcPct val="130000"/>
              </a:lnSpc>
              <a:spcBef>
                <a:spcPts val="0"/>
              </a:spcBef>
              <a:spcAft>
                <a:spcPts val="0"/>
              </a:spcAft>
              <a:buFont typeface="Wingdings" panose="05000000000000000000" pitchFamily="2" charset="2"/>
              <a:buAutoNum type="circleNumDbPlain"/>
            </a:pPr>
            <a:r>
              <a:rPr lang="zh-CN" altLang="en-US" b="1" dirty="0">
                <a:solidFill>
                  <a:srgbClr val="020001"/>
                </a:solidFill>
                <a:latin typeface="+mn-ea"/>
              </a:rPr>
              <a:t>输入字符集合：包括终结符、非终结符和</a:t>
            </a:r>
            <a:r>
              <a:rPr lang="zh-CN" altLang="en-US" b="1" dirty="0">
                <a:solidFill>
                  <a:srgbClr val="020001"/>
                </a:solidFill>
                <a:latin typeface="+mn-ea"/>
                <a:sym typeface="Symbol" panose="05050102010706020507" pitchFamily="18" charset="2"/>
              </a:rPr>
              <a:t></a:t>
            </a:r>
            <a:r>
              <a:rPr lang="zh-CN" altLang="en-US" b="1" dirty="0">
                <a:solidFill>
                  <a:srgbClr val="020001"/>
                </a:solidFill>
                <a:latin typeface="+mn-ea"/>
              </a:rPr>
              <a:t>；</a:t>
            </a:r>
            <a:endParaRPr lang="zh-CN" altLang="en-US" b="1" dirty="0">
              <a:solidFill>
                <a:srgbClr val="020001"/>
              </a:solidFill>
              <a:latin typeface="+mn-ea"/>
            </a:endParaRPr>
          </a:p>
          <a:p>
            <a:pPr marL="967105" lvl="1" indent="-495300">
              <a:lnSpc>
                <a:spcPct val="130000"/>
              </a:lnSpc>
              <a:spcBef>
                <a:spcPts val="0"/>
              </a:spcBef>
              <a:spcAft>
                <a:spcPts val="0"/>
              </a:spcAft>
              <a:buFont typeface="Wingdings" panose="05000000000000000000" pitchFamily="2" charset="2"/>
              <a:buAutoNum type="circleNumDbPlain"/>
            </a:pPr>
            <a:r>
              <a:rPr lang="zh-CN" altLang="en-US" b="1" dirty="0">
                <a:solidFill>
                  <a:srgbClr val="020001"/>
                </a:solidFill>
                <a:latin typeface="+mn-ea"/>
              </a:rPr>
              <a:t>初态：项目</a:t>
            </a:r>
            <a:r>
              <a:rPr lang="en-US" altLang="zh-CN" b="1" dirty="0">
                <a:solidFill>
                  <a:srgbClr val="020001"/>
                </a:solidFill>
                <a:latin typeface="+mn-ea"/>
              </a:rPr>
              <a:t>S’</a:t>
            </a:r>
            <a:r>
              <a:rPr lang="en-US" altLang="zh-CN" b="1" dirty="0">
                <a:solidFill>
                  <a:srgbClr val="020001"/>
                </a:solidFill>
                <a:latin typeface="+mn-ea"/>
                <a:sym typeface="Symbol" panose="05050102010706020507" pitchFamily="18" charset="2"/>
              </a:rPr>
              <a:t> . S </a:t>
            </a:r>
            <a:r>
              <a:rPr lang="zh-CN" altLang="en-US" b="1" dirty="0">
                <a:solidFill>
                  <a:srgbClr val="020001"/>
                </a:solidFill>
                <a:latin typeface="+mn-ea"/>
                <a:sym typeface="Symbol" panose="05050102010706020507" pitchFamily="18" charset="2"/>
              </a:rPr>
              <a:t>；</a:t>
            </a:r>
            <a:endParaRPr lang="zh-CN" altLang="en-US" b="1" dirty="0">
              <a:solidFill>
                <a:srgbClr val="020001"/>
              </a:solidFill>
              <a:latin typeface="+mn-ea"/>
              <a:sym typeface="Symbol" panose="05050102010706020507" pitchFamily="18" charset="2"/>
            </a:endParaRPr>
          </a:p>
          <a:p>
            <a:pPr marL="967105" lvl="1" indent="-495300">
              <a:lnSpc>
                <a:spcPct val="130000"/>
              </a:lnSpc>
              <a:spcBef>
                <a:spcPts val="0"/>
              </a:spcBef>
              <a:spcAft>
                <a:spcPts val="0"/>
              </a:spcAft>
              <a:buFont typeface="Wingdings" panose="05000000000000000000" pitchFamily="2" charset="2"/>
              <a:buAutoNum type="circleNumDbPlain"/>
            </a:pPr>
            <a:r>
              <a:rPr lang="zh-CN" altLang="en-US" b="1" dirty="0">
                <a:solidFill>
                  <a:srgbClr val="020001"/>
                </a:solidFill>
                <a:latin typeface="+mn-ea"/>
              </a:rPr>
              <a:t>终态：项目</a:t>
            </a:r>
            <a:r>
              <a:rPr lang="en-US" altLang="zh-CN" b="1" dirty="0" err="1">
                <a:solidFill>
                  <a:srgbClr val="020001"/>
                </a:solidFill>
                <a:latin typeface="+mn-ea"/>
              </a:rPr>
              <a:t>U</a:t>
            </a:r>
            <a:r>
              <a:rPr lang="en-US" altLang="zh-CN" b="1" dirty="0" err="1">
                <a:solidFill>
                  <a:srgbClr val="020001"/>
                </a:solidFill>
                <a:latin typeface="+mn-ea"/>
                <a:sym typeface="Symbol" panose="05050102010706020507" pitchFamily="18" charset="2"/>
              </a:rPr>
              <a:t>u</a:t>
            </a:r>
            <a:r>
              <a:rPr lang="en-US" altLang="zh-CN" b="1" dirty="0">
                <a:solidFill>
                  <a:srgbClr val="020001"/>
                </a:solidFill>
                <a:latin typeface="+mn-ea"/>
                <a:sym typeface="Symbol" panose="05050102010706020507" pitchFamily="18" charset="2"/>
              </a:rPr>
              <a:t>. (</a:t>
            </a:r>
            <a:r>
              <a:rPr lang="zh-CN" altLang="en-US" b="1" dirty="0">
                <a:solidFill>
                  <a:srgbClr val="020001"/>
                </a:solidFill>
                <a:latin typeface="+mn-ea"/>
                <a:sym typeface="Symbol" panose="05050102010706020507" pitchFamily="18" charset="2"/>
              </a:rPr>
              <a:t>即圆点在最后的项目)作为</a:t>
            </a:r>
            <a:r>
              <a:rPr lang="en-US" altLang="zh-CN" b="1" dirty="0">
                <a:solidFill>
                  <a:srgbClr val="020001"/>
                </a:solidFill>
                <a:latin typeface="+mn-ea"/>
                <a:sym typeface="Symbol" panose="05050102010706020507" pitchFamily="18" charset="2"/>
              </a:rPr>
              <a:t>NFA</a:t>
            </a:r>
            <a:r>
              <a:rPr lang="zh-CN" altLang="en-US" b="1" dirty="0">
                <a:solidFill>
                  <a:srgbClr val="020001"/>
                </a:solidFill>
                <a:latin typeface="+mn-ea"/>
                <a:sym typeface="Symbol" panose="05050102010706020507" pitchFamily="18" charset="2"/>
              </a:rPr>
              <a:t>的终态；</a:t>
            </a:r>
            <a:endParaRPr lang="en-US" altLang="zh-CN" b="1" dirty="0">
              <a:latin typeface="+mn-ea"/>
            </a:endParaRPr>
          </a:p>
        </p:txBody>
      </p:sp>
      <p:sp>
        <p:nvSpPr>
          <p:cNvPr id="2" name="灯片编号占位符 1"/>
          <p:cNvSpPr>
            <a:spLocks noGrp="1"/>
          </p:cNvSpPr>
          <p:nvPr>
            <p:ph type="sldNum" sz="quarter" idx="12"/>
          </p:nvPr>
        </p:nvSpPr>
        <p:spPr>
          <a:xfrm>
            <a:off x="8663305" y="6344921"/>
            <a:ext cx="2743200" cy="365125"/>
          </a:xfrm>
        </p:spPr>
        <p:txBody>
          <a:bodyPr/>
          <a:p>
            <a:fld id="{5A1A6423-77BD-D842-A714-25250E903C41}" type="slidenum">
              <a:rPr kumimoji="1" lang="zh-CN" altLang="en-US" sz="900" smtClean="0"/>
            </a:fld>
            <a:endParaRPr kumimoji="1" lang="zh-CN" altLang="en-US" sz="900"/>
          </a:p>
        </p:txBody>
      </p:sp>
      <p:sp>
        <p:nvSpPr>
          <p:cNvPr id="4" name="Text Box 2"/>
          <p:cNvSpPr txBox="1">
            <a:spLocks noChangeArrowheads="1"/>
          </p:cNvSpPr>
          <p:nvPr/>
        </p:nvSpPr>
        <p:spPr bwMode="auto">
          <a:xfrm>
            <a:off x="861060" y="3522345"/>
            <a:ext cx="108426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514350" indent="-514350">
              <a:spcBef>
                <a:spcPct val="50000"/>
              </a:spcBef>
              <a:buFont typeface="+mj-ea"/>
              <a:buAutoNum type="circleNumDbPlain" startAt="5"/>
            </a:pPr>
            <a:r>
              <a:rPr lang="zh-CN" altLang="en-US" sz="2800" b="1" dirty="0">
                <a:solidFill>
                  <a:srgbClr val="020001"/>
                </a:solidFill>
                <a:latin typeface="+mn-ea"/>
                <a:ea typeface="+mn-ea"/>
              </a:rPr>
              <a:t>转换函数</a:t>
            </a:r>
            <a:r>
              <a:rPr lang="en-US" altLang="zh-CN" sz="2800" b="1" dirty="0">
                <a:solidFill>
                  <a:srgbClr val="020001"/>
                </a:solidFill>
                <a:latin typeface="+mn-ea"/>
                <a:ea typeface="+mn-ea"/>
              </a:rPr>
              <a:t>f：</a:t>
            </a:r>
            <a:r>
              <a:rPr lang="zh-CN" altLang="en-US" sz="2800" b="1" dirty="0">
                <a:solidFill>
                  <a:srgbClr val="020001"/>
                </a:solidFill>
                <a:latin typeface="+mn-ea"/>
                <a:sym typeface="+mn-ea"/>
              </a:rPr>
              <a:t>若文法中有项目</a:t>
            </a:r>
            <a:r>
              <a:rPr lang="en-US" altLang="zh-CN" sz="2800" b="1" dirty="0" err="1">
                <a:solidFill>
                  <a:srgbClr val="020001"/>
                </a:solidFill>
                <a:latin typeface="+mn-ea"/>
                <a:sym typeface="+mn-ea"/>
              </a:rPr>
              <a:t>i</a:t>
            </a:r>
            <a:r>
              <a:rPr lang="zh-CN" altLang="en-US" sz="2800" b="1" dirty="0">
                <a:solidFill>
                  <a:srgbClr val="020001"/>
                </a:solidFill>
                <a:latin typeface="+mn-ea"/>
                <a:sym typeface="+mn-ea"/>
              </a:rPr>
              <a:t>为：</a:t>
            </a:r>
            <a:r>
              <a:rPr lang="en-US" altLang="zh-CN" sz="2800" b="1" dirty="0">
                <a:solidFill>
                  <a:srgbClr val="020001"/>
                </a:solidFill>
                <a:latin typeface="+mn-ea"/>
                <a:sym typeface="+mn-ea"/>
              </a:rPr>
              <a:t>X</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1</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i-1</a:t>
            </a:r>
            <a:r>
              <a:rPr lang="en-US" altLang="zh-CN" sz="2800" b="1" dirty="0">
                <a:solidFill>
                  <a:srgbClr val="F4007A"/>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i</a:t>
            </a:r>
            <a:r>
              <a:rPr lang="en-US" altLang="zh-CN" sz="2800" b="1" dirty="0">
                <a:solidFill>
                  <a:srgbClr val="020001"/>
                </a:solidFill>
                <a:latin typeface="+mn-ea"/>
                <a:sym typeface="Symbol" panose="05050102010706020507" pitchFamily="18" charset="2"/>
              </a:rPr>
              <a:t>…</a:t>
            </a:r>
            <a:r>
              <a:rPr lang="en-US" altLang="zh-CN" sz="2800" b="1" dirty="0" err="1">
                <a:solidFill>
                  <a:srgbClr val="020001"/>
                </a:solidFill>
                <a:latin typeface="+mn-ea"/>
                <a:sym typeface="Symbol" panose="05050102010706020507" pitchFamily="18" charset="2"/>
              </a:rPr>
              <a:t>x</a:t>
            </a:r>
            <a:r>
              <a:rPr lang="en-US" altLang="zh-CN" sz="2800" b="1" baseline="-25000" dirty="0" err="1">
                <a:solidFill>
                  <a:srgbClr val="020001"/>
                </a:solidFill>
                <a:latin typeface="+mn-ea"/>
                <a:sym typeface="Symbol" panose="05050102010706020507" pitchFamily="18" charset="2"/>
              </a:rPr>
              <a:t>n</a:t>
            </a:r>
            <a:endParaRPr lang="zh-CN" altLang="en-US" sz="2800" b="1" dirty="0">
              <a:solidFill>
                <a:srgbClr val="020001"/>
              </a:solidFill>
              <a:latin typeface="+mn-ea"/>
              <a:ea typeface="+mn-ea"/>
            </a:endParaRPr>
          </a:p>
        </p:txBody>
      </p:sp>
      <p:grpSp>
        <p:nvGrpSpPr>
          <p:cNvPr id="5" name="Group 3"/>
          <p:cNvGrpSpPr/>
          <p:nvPr/>
        </p:nvGrpSpPr>
        <p:grpSpPr bwMode="auto">
          <a:xfrm>
            <a:off x="911225" y="4131945"/>
            <a:ext cx="9550597" cy="1044757"/>
            <a:chOff x="192" y="528"/>
            <a:chExt cx="5208" cy="658"/>
          </a:xfrm>
        </p:grpSpPr>
        <p:sp>
          <p:nvSpPr>
            <p:cNvPr id="6" name="Text Box 4"/>
            <p:cNvSpPr txBox="1">
              <a:spLocks noChangeArrowheads="1"/>
            </p:cNvSpPr>
            <p:nvPr>
              <p:custDataLst>
                <p:tags r:id="rId1"/>
              </p:custDataLst>
            </p:nvPr>
          </p:nvSpPr>
          <p:spPr bwMode="auto">
            <a:xfrm>
              <a:off x="192" y="528"/>
              <a:ext cx="494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buFont typeface="Wingdings" panose="05000000000000000000" pitchFamily="2" charset="2"/>
                <a:buNone/>
              </a:pPr>
              <a:endParaRPr lang="en-US" altLang="zh-CN" sz="2800" b="1" baseline="-25000" dirty="0">
                <a:solidFill>
                  <a:srgbClr val="020001"/>
                </a:solidFill>
                <a:latin typeface="+mn-ea"/>
                <a:ea typeface="+mn-ea"/>
                <a:sym typeface="Symbol" panose="05050102010706020507" pitchFamily="18" charset="2"/>
              </a:endParaRPr>
            </a:p>
          </p:txBody>
        </p:sp>
        <p:sp>
          <p:nvSpPr>
            <p:cNvPr id="7" name="Text Box 5"/>
            <p:cNvSpPr txBox="1">
              <a:spLocks noChangeArrowheads="1"/>
            </p:cNvSpPr>
            <p:nvPr>
              <p:custDataLst>
                <p:tags r:id="rId2"/>
              </p:custDataLst>
            </p:nvPr>
          </p:nvSpPr>
          <p:spPr bwMode="auto">
            <a:xfrm>
              <a:off x="1152" y="528"/>
              <a:ext cx="408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800" b="1" dirty="0">
                  <a:solidFill>
                    <a:srgbClr val="020001"/>
                  </a:solidFill>
                  <a:latin typeface="+mn-ea"/>
                </a:rPr>
                <a:t>  项目</a:t>
              </a:r>
              <a:r>
                <a:rPr lang="en-US" altLang="zh-CN" sz="2800" b="1" dirty="0">
                  <a:solidFill>
                    <a:srgbClr val="020001"/>
                  </a:solidFill>
                  <a:latin typeface="+mn-ea"/>
                </a:rPr>
                <a:t>j</a:t>
              </a:r>
              <a:r>
                <a:rPr lang="zh-CN" altLang="en-US" sz="2800" b="1" dirty="0">
                  <a:solidFill>
                    <a:srgbClr val="020001"/>
                  </a:solidFill>
                  <a:latin typeface="+mn-ea"/>
                </a:rPr>
                <a:t>为：</a:t>
              </a:r>
              <a:r>
                <a:rPr lang="en-US" altLang="zh-CN" sz="2800" b="1" dirty="0">
                  <a:solidFill>
                    <a:srgbClr val="020001"/>
                  </a:solidFill>
                  <a:latin typeface="+mn-ea"/>
                </a:rPr>
                <a:t>X</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1</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i</a:t>
              </a:r>
              <a:r>
                <a:rPr lang="en-US" altLang="zh-CN" sz="2800" b="1" dirty="0">
                  <a:solidFill>
                    <a:srgbClr val="F4007A"/>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x</a:t>
              </a:r>
              <a:r>
                <a:rPr lang="en-US" altLang="zh-CN" sz="2800" b="1" baseline="-25000" dirty="0">
                  <a:solidFill>
                    <a:srgbClr val="020001"/>
                  </a:solidFill>
                  <a:latin typeface="+mn-ea"/>
                  <a:sym typeface="Symbol" panose="05050102010706020507" pitchFamily="18" charset="2"/>
                </a:rPr>
                <a:t>i+1</a:t>
              </a:r>
              <a:r>
                <a:rPr lang="en-US" altLang="zh-CN" sz="2800" b="1" dirty="0">
                  <a:solidFill>
                    <a:srgbClr val="020001"/>
                  </a:solidFill>
                  <a:latin typeface="+mn-ea"/>
                  <a:sym typeface="Symbol" panose="05050102010706020507" pitchFamily="18" charset="2"/>
                </a:rPr>
                <a:t>…</a:t>
              </a:r>
              <a:r>
                <a:rPr lang="en-US" altLang="zh-CN" sz="2800" b="1" dirty="0" err="1">
                  <a:solidFill>
                    <a:srgbClr val="020001"/>
                  </a:solidFill>
                  <a:latin typeface="+mn-ea"/>
                  <a:sym typeface="Symbol" panose="05050102010706020507" pitchFamily="18" charset="2"/>
                </a:rPr>
                <a:t>x</a:t>
              </a:r>
              <a:r>
                <a:rPr lang="en-US" altLang="zh-CN" sz="2800" b="1" baseline="-25000" dirty="0" err="1">
                  <a:solidFill>
                    <a:srgbClr val="020001"/>
                  </a:solidFill>
                  <a:latin typeface="+mn-ea"/>
                  <a:sym typeface="Symbol" panose="05050102010706020507" pitchFamily="18" charset="2"/>
                </a:rPr>
                <a:t>n</a:t>
              </a:r>
              <a:endParaRPr lang="en-US" altLang="zh-CN" sz="2800" b="1" baseline="-25000" dirty="0">
                <a:solidFill>
                  <a:srgbClr val="020001"/>
                </a:solidFill>
                <a:latin typeface="+mn-ea"/>
                <a:sym typeface="Symbol" panose="05050102010706020507" pitchFamily="18" charset="2"/>
              </a:endParaRPr>
            </a:p>
          </p:txBody>
        </p:sp>
        <p:sp>
          <p:nvSpPr>
            <p:cNvPr id="8" name="Text Box 6"/>
            <p:cNvSpPr txBox="1">
              <a:spLocks noChangeArrowheads="1"/>
            </p:cNvSpPr>
            <p:nvPr>
              <p:custDataLst>
                <p:tags r:id="rId3"/>
              </p:custDataLst>
            </p:nvPr>
          </p:nvSpPr>
          <p:spPr bwMode="auto">
            <a:xfrm>
              <a:off x="456" y="857"/>
              <a:ext cx="494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800" b="1" dirty="0">
                  <a:solidFill>
                    <a:srgbClr val="020001"/>
                  </a:solidFill>
                  <a:latin typeface="+mn-ea"/>
                  <a:sym typeface="Symbol" panose="05050102010706020507" pitchFamily="18" charset="2"/>
                </a:rPr>
                <a:t>1) </a:t>
              </a:r>
              <a:r>
                <a:rPr lang="zh-CN" altLang="en-US" sz="2800" b="1" dirty="0">
                  <a:solidFill>
                    <a:srgbClr val="020001"/>
                  </a:solidFill>
                  <a:latin typeface="+mn-ea"/>
                  <a:sym typeface="Symbol" panose="05050102010706020507" pitchFamily="18" charset="2"/>
                </a:rPr>
                <a:t>则有转换函数</a:t>
              </a:r>
              <a:r>
                <a:rPr lang="en-US" altLang="zh-CN" sz="2800" b="1" dirty="0">
                  <a:solidFill>
                    <a:srgbClr val="020001"/>
                  </a:solidFill>
                  <a:latin typeface="+mn-ea"/>
                  <a:sym typeface="Symbol" panose="05050102010706020507" pitchFamily="18" charset="2"/>
                </a:rPr>
                <a:t>GO</a:t>
              </a:r>
              <a:r>
                <a:rPr lang="en-US" altLang="zh-CN" sz="2800" b="1" dirty="0">
                  <a:solidFill>
                    <a:srgbClr val="0000FF"/>
                  </a:solidFill>
                  <a:latin typeface="+mn-ea"/>
                  <a:sym typeface="Symbol" panose="05050102010706020507" pitchFamily="18" charset="2"/>
                </a:rPr>
                <a:t>(</a:t>
              </a:r>
              <a:r>
                <a:rPr lang="en-US" altLang="zh-CN" sz="2800" b="1" dirty="0" err="1">
                  <a:solidFill>
                    <a:srgbClr val="0000FF"/>
                  </a:solidFill>
                  <a:latin typeface="+mn-ea"/>
                  <a:sym typeface="Symbol" panose="05050102010706020507" pitchFamily="18" charset="2"/>
                </a:rPr>
                <a:t>i</a:t>
              </a:r>
              <a:r>
                <a:rPr lang="zh-CN" altLang="en-US" sz="2800" b="1" dirty="0">
                  <a:solidFill>
                    <a:srgbClr val="0000FF"/>
                  </a:solidFill>
                  <a:latin typeface="+mn-ea"/>
                  <a:sym typeface="Symbol" panose="05050102010706020507" pitchFamily="18" charset="2"/>
                </a:rPr>
                <a:t>，</a:t>
              </a:r>
              <a:r>
                <a:rPr lang="en-US" altLang="zh-CN" sz="2800" b="1" dirty="0">
                  <a:solidFill>
                    <a:srgbClr val="0000FF"/>
                  </a:solidFill>
                  <a:latin typeface="+mn-ea"/>
                  <a:sym typeface="Symbol" panose="05050102010706020507" pitchFamily="18" charset="2"/>
                </a:rPr>
                <a:t>x</a:t>
              </a:r>
              <a:r>
                <a:rPr lang="en-US" altLang="zh-CN" sz="2800" b="1" baseline="-25000" dirty="0">
                  <a:solidFill>
                    <a:srgbClr val="0000FF"/>
                  </a:solidFill>
                  <a:latin typeface="+mn-ea"/>
                  <a:sym typeface="Symbol" panose="05050102010706020507" pitchFamily="18" charset="2"/>
                </a:rPr>
                <a:t>i</a:t>
              </a:r>
              <a:r>
                <a:rPr lang="en-US" altLang="zh-CN" sz="2800" b="1" dirty="0">
                  <a:solidFill>
                    <a:srgbClr val="0000FF"/>
                  </a:solidFill>
                  <a:latin typeface="+mn-ea"/>
                  <a:sym typeface="Symbol" panose="05050102010706020507" pitchFamily="18" charset="2"/>
                </a:rPr>
                <a:t>)=j</a:t>
              </a:r>
              <a:endParaRPr lang="en-US" altLang="zh-CN" sz="2800" b="1" baseline="-25000" dirty="0">
                <a:solidFill>
                  <a:srgbClr val="0000FF"/>
                </a:solidFill>
                <a:latin typeface="+mn-ea"/>
                <a:sym typeface="Symbol" panose="05050102010706020507" pitchFamily="18" charset="2"/>
              </a:endParaRPr>
            </a:p>
          </p:txBody>
        </p:sp>
      </p:grpSp>
      <p:sp>
        <p:nvSpPr>
          <p:cNvPr id="9" name="Text Box 8"/>
          <p:cNvSpPr txBox="1">
            <a:spLocks noChangeArrowheads="1"/>
          </p:cNvSpPr>
          <p:nvPr>
            <p:custDataLst>
              <p:tags r:id="rId4"/>
            </p:custDataLst>
          </p:nvPr>
        </p:nvSpPr>
        <p:spPr bwMode="auto">
          <a:xfrm>
            <a:off x="1318895" y="5176520"/>
            <a:ext cx="921893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buFont typeface="Wingdings" panose="05000000000000000000" pitchFamily="2" charset="2"/>
              <a:buNone/>
            </a:pPr>
            <a:r>
              <a:rPr lang="zh-CN" altLang="en-US" sz="2800" b="1" dirty="0">
                <a:solidFill>
                  <a:srgbClr val="020001"/>
                </a:solidFill>
                <a:latin typeface="+mn-ea"/>
                <a:ea typeface="+mn-ea"/>
              </a:rPr>
              <a:t> </a:t>
            </a:r>
            <a:r>
              <a:rPr lang="en-US" altLang="zh-CN" sz="2800" b="1" dirty="0">
                <a:solidFill>
                  <a:srgbClr val="020001"/>
                </a:solidFill>
                <a:latin typeface="+mn-ea"/>
                <a:ea typeface="+mn-ea"/>
              </a:rPr>
              <a:t>2) </a:t>
            </a:r>
            <a:r>
              <a:rPr lang="zh-CN" altLang="en-US" sz="2800" b="1" dirty="0">
                <a:solidFill>
                  <a:srgbClr val="020001"/>
                </a:solidFill>
                <a:latin typeface="+mn-ea"/>
                <a:ea typeface="+mn-ea"/>
              </a:rPr>
              <a:t>若</a:t>
            </a:r>
            <a:r>
              <a:rPr lang="en-US" altLang="zh-CN" sz="2800" b="1" dirty="0">
                <a:solidFill>
                  <a:srgbClr val="020001"/>
                </a:solidFill>
                <a:latin typeface="+mn-ea"/>
                <a:ea typeface="+mn-ea"/>
                <a:sym typeface="Symbol" panose="05050102010706020507" pitchFamily="18" charset="2"/>
              </a:rPr>
              <a:t>x</a:t>
            </a:r>
            <a:r>
              <a:rPr lang="en-US" altLang="zh-CN" sz="2800" b="1" baseline="-25000" dirty="0">
                <a:solidFill>
                  <a:srgbClr val="020001"/>
                </a:solidFill>
                <a:latin typeface="+mn-ea"/>
                <a:ea typeface="+mn-ea"/>
                <a:sym typeface="Symbol" panose="05050102010706020507" pitchFamily="18" charset="2"/>
              </a:rPr>
              <a:t>i</a:t>
            </a:r>
            <a:r>
              <a:rPr lang="zh-CN" altLang="en-US" sz="2800" b="1" dirty="0">
                <a:solidFill>
                  <a:srgbClr val="020001"/>
                </a:solidFill>
                <a:latin typeface="+mn-ea"/>
                <a:ea typeface="+mn-ea"/>
                <a:sym typeface="Symbol" panose="05050102010706020507" pitchFamily="18" charset="2"/>
              </a:rPr>
              <a:t>为</a:t>
            </a:r>
            <a:r>
              <a:rPr lang="zh-CN" altLang="en-US" sz="2800" b="1" dirty="0">
                <a:solidFill>
                  <a:srgbClr val="F4007A"/>
                </a:solidFill>
                <a:latin typeface="+mn-ea"/>
                <a:ea typeface="+mn-ea"/>
                <a:sym typeface="Symbol" panose="05050102010706020507" pitchFamily="18" charset="2"/>
              </a:rPr>
              <a:t>非终结符号</a:t>
            </a:r>
            <a:r>
              <a:rPr lang="zh-CN" altLang="en-US" sz="2800" b="1" dirty="0">
                <a:solidFill>
                  <a:srgbClr val="020001"/>
                </a:solidFill>
                <a:latin typeface="+mn-ea"/>
                <a:ea typeface="+mn-ea"/>
                <a:sym typeface="Symbol" panose="05050102010706020507" pitchFamily="18" charset="2"/>
              </a:rPr>
              <a:t>，则</a:t>
            </a:r>
            <a:r>
              <a:rPr lang="zh-CN" altLang="en-US" sz="2800" b="1" dirty="0">
                <a:solidFill>
                  <a:srgbClr val="F4007A"/>
                </a:solidFill>
                <a:latin typeface="+mn-ea"/>
                <a:ea typeface="+mn-ea"/>
                <a:sym typeface="Symbol" panose="05050102010706020507" pitchFamily="18" charset="2"/>
              </a:rPr>
              <a:t>还有</a:t>
            </a:r>
            <a:r>
              <a:rPr lang="zh-CN" altLang="en-US" sz="2800" b="1" dirty="0">
                <a:solidFill>
                  <a:srgbClr val="020001"/>
                </a:solidFill>
                <a:latin typeface="+mn-ea"/>
                <a:ea typeface="+mn-ea"/>
                <a:sym typeface="Symbol" panose="05050102010706020507" pitchFamily="18" charset="2"/>
              </a:rPr>
              <a:t>转换函数</a:t>
            </a:r>
            <a:r>
              <a:rPr lang="en-US" altLang="zh-CN" sz="2800" b="1" dirty="0">
                <a:solidFill>
                  <a:srgbClr val="020001"/>
                </a:solidFill>
                <a:latin typeface="+mn-ea"/>
                <a:ea typeface="+mn-ea"/>
                <a:sym typeface="Symbol" panose="05050102010706020507" pitchFamily="18" charset="2"/>
              </a:rPr>
              <a:t>GO</a:t>
            </a:r>
            <a:r>
              <a:rPr lang="en-US" altLang="zh-CN" sz="2800" b="1" dirty="0">
                <a:solidFill>
                  <a:srgbClr val="010000"/>
                </a:solidFill>
                <a:latin typeface="+mn-ea"/>
                <a:ea typeface="+mn-ea"/>
                <a:sym typeface="Symbol" panose="05050102010706020507" pitchFamily="18" charset="2"/>
              </a:rPr>
              <a:t> </a:t>
            </a:r>
            <a:r>
              <a:rPr lang="en-US" altLang="zh-CN" sz="2800" b="1" dirty="0">
                <a:solidFill>
                  <a:srgbClr val="0000FF"/>
                </a:solidFill>
                <a:latin typeface="+mn-ea"/>
                <a:ea typeface="+mn-ea"/>
                <a:sym typeface="Symbol" panose="05050102010706020507" pitchFamily="18" charset="2"/>
              </a:rPr>
              <a:t>(</a:t>
            </a:r>
            <a:r>
              <a:rPr lang="en-US" altLang="zh-CN" sz="2800" b="1" dirty="0" err="1">
                <a:solidFill>
                  <a:srgbClr val="0000FF"/>
                </a:solidFill>
                <a:latin typeface="+mn-ea"/>
                <a:ea typeface="+mn-ea"/>
                <a:sym typeface="Symbol" panose="05050102010706020507" pitchFamily="18" charset="2"/>
              </a:rPr>
              <a:t>i</a:t>
            </a:r>
            <a:r>
              <a:rPr lang="en-US" altLang="zh-CN" sz="2800" b="1" dirty="0">
                <a:solidFill>
                  <a:srgbClr val="0000FF"/>
                </a:solidFill>
                <a:latin typeface="+mn-ea"/>
                <a:ea typeface="+mn-ea"/>
                <a:sym typeface="Symbol" panose="05050102010706020507" pitchFamily="18" charset="2"/>
              </a:rPr>
              <a:t>, )=k</a:t>
            </a:r>
            <a:endParaRPr lang="en-US" altLang="zh-CN" sz="2800" b="1" dirty="0">
              <a:solidFill>
                <a:srgbClr val="0000FF"/>
              </a:solidFill>
              <a:latin typeface="+mn-ea"/>
              <a:ea typeface="+mn-ea"/>
              <a:sym typeface="Symbol" panose="05050102010706020507" pitchFamily="18" charset="2"/>
            </a:endParaRPr>
          </a:p>
          <a:p>
            <a:pPr>
              <a:spcBef>
                <a:spcPct val="50000"/>
              </a:spcBef>
            </a:pPr>
            <a:r>
              <a:rPr lang="zh-CN" altLang="en-US" sz="2800" b="1" dirty="0">
                <a:solidFill>
                  <a:srgbClr val="020001"/>
                </a:solidFill>
                <a:latin typeface="+mn-ea"/>
                <a:ea typeface="+mn-ea"/>
              </a:rPr>
              <a:t>             项目</a:t>
            </a:r>
            <a:r>
              <a:rPr lang="en-US" altLang="zh-CN" sz="2800" b="1" dirty="0">
                <a:solidFill>
                  <a:srgbClr val="020001"/>
                </a:solidFill>
                <a:latin typeface="+mn-ea"/>
                <a:ea typeface="+mn-ea"/>
              </a:rPr>
              <a:t>k</a:t>
            </a:r>
            <a:r>
              <a:rPr lang="zh-CN" altLang="en-US" sz="2800" b="1" dirty="0">
                <a:solidFill>
                  <a:srgbClr val="020001"/>
                </a:solidFill>
                <a:latin typeface="+mn-ea"/>
                <a:ea typeface="+mn-ea"/>
              </a:rPr>
              <a:t>为：</a:t>
            </a:r>
            <a:r>
              <a:rPr lang="en-US" altLang="zh-CN" sz="2800" b="1" dirty="0">
                <a:solidFill>
                  <a:srgbClr val="020001"/>
                </a:solidFill>
                <a:latin typeface="+mn-ea"/>
                <a:ea typeface="+mn-ea"/>
                <a:sym typeface="Symbol" panose="05050102010706020507" pitchFamily="18" charset="2"/>
              </a:rPr>
              <a:t>x</a:t>
            </a:r>
            <a:r>
              <a:rPr lang="en-US" altLang="zh-CN" sz="2800" b="1" baseline="-25000" dirty="0">
                <a:solidFill>
                  <a:srgbClr val="020001"/>
                </a:solidFill>
                <a:latin typeface="+mn-ea"/>
                <a:ea typeface="+mn-ea"/>
                <a:sym typeface="Symbol" panose="05050102010706020507" pitchFamily="18" charset="2"/>
              </a:rPr>
              <a:t>i</a:t>
            </a:r>
            <a:r>
              <a:rPr lang="en-US" altLang="zh-CN" sz="2800" b="1" dirty="0">
                <a:solidFill>
                  <a:srgbClr val="020001"/>
                </a:solidFill>
                <a:latin typeface="+mn-ea"/>
                <a:ea typeface="+mn-ea"/>
              </a:rPr>
              <a:t> </a:t>
            </a:r>
            <a:r>
              <a:rPr lang="en-US" altLang="zh-CN" sz="2800" b="1" dirty="0">
                <a:solidFill>
                  <a:srgbClr val="020001"/>
                </a:solidFill>
                <a:latin typeface="+mn-ea"/>
                <a:ea typeface="+mn-ea"/>
                <a:sym typeface="Symbol" panose="05050102010706020507" pitchFamily="18" charset="2"/>
              </a:rPr>
              <a:t>. </a:t>
            </a:r>
            <a:endParaRPr lang="zh-CN" altLang="en-US" sz="2800" b="1" baseline="-25000" dirty="0">
              <a:solidFill>
                <a:srgbClr val="020001"/>
              </a:solidFill>
              <a:latin typeface="+mn-ea"/>
              <a:ea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barn(inHorizontal)">
                                      <p:cBhvr>
                                        <p:cTn id="7" dur="500"/>
                                        <p:tgtEl>
                                          <p:spTgt spid="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5">
                                            <p:txEl>
                                              <p:pRg st="4" end="4"/>
                                            </p:txEl>
                                          </p:spTgt>
                                        </p:tgtEl>
                                        <p:attrNameLst>
                                          <p:attrName>style.visibility</p:attrName>
                                        </p:attrNameLst>
                                      </p:cBhvr>
                                      <p:to>
                                        <p:strVal val="visible"/>
                                      </p:to>
                                    </p:set>
                                    <p:animEffect transition="in" filter="barn(inHorizontal)">
                                      <p:cBhvr>
                                        <p:cTn id="12" dur="500"/>
                                        <p:tgtEl>
                                          <p:spTgt spid="1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out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9" grpId="0"/>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601980" y="276860"/>
            <a:ext cx="7251065" cy="593090"/>
          </a:xfrm>
        </p:spPr>
        <p:txBody>
          <a:bodyPr/>
          <a:lstStyle/>
          <a:p>
            <a:r>
              <a:rPr lang="en-US" altLang="zh-CN" sz="3200" dirty="0"/>
              <a:t>1. </a:t>
            </a:r>
            <a:r>
              <a:rPr lang="zh-CN" altLang="en-US" sz="3200" dirty="0"/>
              <a:t>构造识别活前缀的</a:t>
            </a:r>
            <a:r>
              <a:rPr lang="en-US" altLang="zh-CN" sz="3200" dirty="0"/>
              <a:t>NFA(</a:t>
            </a:r>
            <a:r>
              <a:rPr lang="zh-CN" altLang="en-US" sz="3200" dirty="0"/>
              <a:t>续</a:t>
            </a:r>
            <a:r>
              <a:rPr lang="en-US" altLang="zh-CN" sz="3200" dirty="0"/>
              <a:t>)</a:t>
            </a:r>
            <a:endParaRPr lang="en-US" altLang="zh-CN" sz="3200" dirty="0"/>
          </a:p>
        </p:txBody>
      </p:sp>
      <p:sp>
        <p:nvSpPr>
          <p:cNvPr id="25" name="Rectangle 15"/>
          <p:cNvSpPr>
            <a:spLocks noChangeArrowheads="1"/>
          </p:cNvSpPr>
          <p:nvPr/>
        </p:nvSpPr>
        <p:spPr bwMode="auto">
          <a:xfrm>
            <a:off x="367030" y="1175385"/>
            <a:ext cx="2397125" cy="20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3200" b="1" dirty="0">
                <a:solidFill>
                  <a:srgbClr val="020001"/>
                </a:solidFill>
                <a:latin typeface="+mn-ea"/>
              </a:rPr>
              <a:t>文法：</a:t>
            </a:r>
            <a:r>
              <a:rPr lang="en-US" altLang="zh-CN" sz="3200" b="1" dirty="0">
                <a:solidFill>
                  <a:srgbClr val="020001"/>
                </a:solidFill>
                <a:latin typeface="+mn-ea"/>
              </a:rPr>
              <a:t>S’→S    S→( S ) S | </a:t>
            </a:r>
            <a:r>
              <a:rPr lang="en-US" altLang="zh-CN" sz="3200" b="1" dirty="0">
                <a:solidFill>
                  <a:srgbClr val="010000"/>
                </a:solidFill>
                <a:latin typeface="+mn-ea"/>
                <a:sym typeface="Symbol" panose="05050102010706020507" pitchFamily="18" charset="2"/>
              </a:rPr>
              <a:t>ε </a:t>
            </a:r>
            <a:r>
              <a:rPr lang="zh-CN" altLang="en-US" sz="3200" b="1" dirty="0">
                <a:solidFill>
                  <a:srgbClr val="010000"/>
                </a:solidFill>
                <a:latin typeface="+mn-ea"/>
                <a:sym typeface="Symbol" panose="05050102010706020507" pitchFamily="18" charset="2"/>
              </a:rPr>
              <a:t>对应</a:t>
            </a:r>
            <a:r>
              <a:rPr lang="en-US" altLang="zh-CN" sz="3200" b="1" dirty="0">
                <a:solidFill>
                  <a:srgbClr val="010000"/>
                </a:solidFill>
                <a:latin typeface="+mn-ea"/>
                <a:sym typeface="Symbol" panose="05050102010706020507" pitchFamily="18" charset="2"/>
              </a:rPr>
              <a:t>LR(0)</a:t>
            </a:r>
            <a:r>
              <a:rPr lang="zh-CN" altLang="en-US" sz="3200" b="1" dirty="0">
                <a:solidFill>
                  <a:srgbClr val="020001"/>
                </a:solidFill>
                <a:latin typeface="+mn-ea"/>
                <a:sym typeface="Symbol" panose="05050102010706020507" pitchFamily="18" charset="2"/>
              </a:rPr>
              <a:t>项目</a:t>
            </a:r>
            <a:r>
              <a:rPr lang="zh-CN" altLang="en-US" sz="3200" b="1" dirty="0">
                <a:solidFill>
                  <a:srgbClr val="010000"/>
                </a:solidFill>
                <a:latin typeface="+mn-ea"/>
                <a:sym typeface="Symbol" panose="05050102010706020507" pitchFamily="18" charset="2"/>
              </a:rPr>
              <a:t>的</a:t>
            </a:r>
            <a:r>
              <a:rPr lang="en-US" altLang="zh-CN" sz="3200" b="1" dirty="0">
                <a:solidFill>
                  <a:srgbClr val="010000"/>
                </a:solidFill>
                <a:latin typeface="+mn-ea"/>
                <a:sym typeface="Symbol" panose="05050102010706020507" pitchFamily="18" charset="2"/>
              </a:rPr>
              <a:t>NFA</a:t>
            </a:r>
            <a:endParaRPr lang="en-US" altLang="zh-CN" sz="3200" b="1" dirty="0">
              <a:solidFill>
                <a:srgbClr val="010000"/>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42" name="Picture 7"/>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3428365" y="931545"/>
            <a:ext cx="8352155" cy="576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 name="组合 42"/>
          <p:cNvGrpSpPr/>
          <p:nvPr/>
        </p:nvGrpSpPr>
        <p:grpSpPr>
          <a:xfrm>
            <a:off x="5873750" y="1068705"/>
            <a:ext cx="1407160" cy="513715"/>
            <a:chOff x="3003177" y="1234502"/>
            <a:chExt cx="1407459" cy="513616"/>
          </a:xfrm>
        </p:grpSpPr>
        <p:cxnSp>
          <p:nvCxnSpPr>
            <p:cNvPr id="44" name="直接箭头连接符 43"/>
            <p:cNvCxnSpPr/>
            <p:nvPr>
              <p:custDataLst>
                <p:tags r:id="rId3"/>
              </p:custDataLst>
            </p:nvPr>
          </p:nvCxnSpPr>
          <p:spPr>
            <a:xfrm>
              <a:off x="3003177" y="1748118"/>
              <a:ext cx="14074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custDataLst>
                <p:tags r:id="rId4"/>
              </p:custDataLst>
            </p:nvPr>
          </p:nvSpPr>
          <p:spPr>
            <a:xfrm>
              <a:off x="3553659" y="1234502"/>
              <a:ext cx="302895" cy="398703"/>
            </a:xfrm>
            <a:prstGeom prst="rect">
              <a:avLst/>
            </a:prstGeom>
            <a:noFill/>
          </p:spPr>
          <p:txBody>
            <a:bodyPr wrap="square" rtlCol="0">
              <a:spAutoFit/>
            </a:bodyPr>
            <a:lstStyle/>
            <a:p>
              <a:r>
                <a:rPr lang="en-US" altLang="zh-CN" sz="2000" b="1" dirty="0">
                  <a:solidFill>
                    <a:srgbClr val="FF0000"/>
                  </a:solidFill>
                </a:rPr>
                <a:t>S</a:t>
              </a:r>
              <a:endParaRPr lang="zh-CN" altLang="en-US" sz="2000" b="1" dirty="0">
                <a:solidFill>
                  <a:srgbClr val="FF0000"/>
                </a:solidFill>
              </a:endParaRPr>
            </a:p>
          </p:txBody>
        </p:sp>
      </p:grpSp>
      <p:grpSp>
        <p:nvGrpSpPr>
          <p:cNvPr id="51" name="组合 50"/>
          <p:cNvGrpSpPr/>
          <p:nvPr/>
        </p:nvGrpSpPr>
        <p:grpSpPr>
          <a:xfrm>
            <a:off x="4125595" y="4092575"/>
            <a:ext cx="528955" cy="959485"/>
            <a:chOff x="1255041" y="4258234"/>
            <a:chExt cx="528936" cy="959224"/>
          </a:xfrm>
        </p:grpSpPr>
        <p:cxnSp>
          <p:nvCxnSpPr>
            <p:cNvPr id="52" name="直接箭头连接符 51"/>
            <p:cNvCxnSpPr/>
            <p:nvPr>
              <p:custDataLst>
                <p:tags r:id="rId5"/>
              </p:custDataLst>
            </p:nvPr>
          </p:nvCxnSpPr>
          <p:spPr>
            <a:xfrm>
              <a:off x="1783977" y="4258234"/>
              <a:ext cx="0" cy="9592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custDataLst>
                <p:tags r:id="rId6"/>
              </p:custDataLst>
            </p:nvPr>
          </p:nvSpPr>
          <p:spPr>
            <a:xfrm>
              <a:off x="1255041" y="4537792"/>
              <a:ext cx="436880" cy="398672"/>
            </a:xfrm>
            <a:prstGeom prst="rect">
              <a:avLst/>
            </a:prstGeom>
            <a:noFill/>
          </p:spPr>
          <p:txBody>
            <a:bodyPr wrap="square" rtlCol="0">
              <a:spAutoFit/>
            </a:bodyPr>
            <a:lstStyle/>
            <a:p>
              <a:r>
                <a:rPr lang="zh-CN" altLang="en-US" sz="2000" b="1" dirty="0">
                  <a:solidFill>
                    <a:srgbClr val="FF0000"/>
                  </a:solidFill>
                </a:rPr>
                <a:t>（</a:t>
              </a:r>
              <a:endParaRPr lang="zh-CN" altLang="en-US" sz="2000" b="1" dirty="0">
                <a:solidFill>
                  <a:srgbClr val="FF0000"/>
                </a:solidFill>
              </a:endParaRPr>
            </a:p>
          </p:txBody>
        </p:sp>
      </p:grpSp>
      <p:grpSp>
        <p:nvGrpSpPr>
          <p:cNvPr id="56" name="组合 55"/>
          <p:cNvGrpSpPr/>
          <p:nvPr/>
        </p:nvGrpSpPr>
        <p:grpSpPr>
          <a:xfrm>
            <a:off x="5789930" y="5194935"/>
            <a:ext cx="635000" cy="448310"/>
            <a:chOff x="2918859" y="5360927"/>
            <a:chExt cx="634800" cy="448203"/>
          </a:xfrm>
        </p:grpSpPr>
        <p:cxnSp>
          <p:nvCxnSpPr>
            <p:cNvPr id="57" name="直接箭头连接符 56"/>
            <p:cNvCxnSpPr/>
            <p:nvPr>
              <p:custDataLst>
                <p:tags r:id="rId7"/>
              </p:custDataLst>
            </p:nvPr>
          </p:nvCxnSpPr>
          <p:spPr>
            <a:xfrm>
              <a:off x="2918859" y="5809130"/>
              <a:ext cx="634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custDataLst>
                <p:tags r:id="rId8"/>
              </p:custDataLst>
            </p:nvPr>
          </p:nvSpPr>
          <p:spPr>
            <a:xfrm>
              <a:off x="3083012" y="5360927"/>
              <a:ext cx="302895" cy="398685"/>
            </a:xfrm>
            <a:prstGeom prst="rect">
              <a:avLst/>
            </a:prstGeom>
            <a:noFill/>
          </p:spPr>
          <p:txBody>
            <a:bodyPr wrap="square" rtlCol="0">
              <a:spAutoFit/>
            </a:bodyPr>
            <a:lstStyle/>
            <a:p>
              <a:r>
                <a:rPr lang="en-US" altLang="zh-CN" sz="2000" b="1" dirty="0">
                  <a:solidFill>
                    <a:srgbClr val="FF0000"/>
                  </a:solidFill>
                </a:rPr>
                <a:t>S</a:t>
              </a:r>
              <a:endParaRPr lang="zh-CN" altLang="en-US" sz="2000" b="1" dirty="0">
                <a:solidFill>
                  <a:srgbClr val="FF0000"/>
                </a:solidFill>
              </a:endParaRPr>
            </a:p>
          </p:txBody>
        </p:sp>
      </p:grpSp>
      <p:grpSp>
        <p:nvGrpSpPr>
          <p:cNvPr id="60" name="组合 59"/>
          <p:cNvGrpSpPr/>
          <p:nvPr/>
        </p:nvGrpSpPr>
        <p:grpSpPr>
          <a:xfrm>
            <a:off x="8653145" y="5216525"/>
            <a:ext cx="627380" cy="427355"/>
            <a:chOff x="5782236" y="5382062"/>
            <a:chExt cx="627529" cy="427068"/>
          </a:xfrm>
        </p:grpSpPr>
        <p:cxnSp>
          <p:nvCxnSpPr>
            <p:cNvPr id="61" name="直接箭头连接符 60"/>
            <p:cNvCxnSpPr/>
            <p:nvPr>
              <p:custDataLst>
                <p:tags r:id="rId9"/>
              </p:custDataLst>
            </p:nvPr>
          </p:nvCxnSpPr>
          <p:spPr>
            <a:xfrm>
              <a:off x="5782236" y="5809130"/>
              <a:ext cx="6275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custDataLst>
                <p:tags r:id="rId10"/>
              </p:custDataLst>
            </p:nvPr>
          </p:nvSpPr>
          <p:spPr>
            <a:xfrm>
              <a:off x="5928822" y="5382062"/>
              <a:ext cx="436880" cy="398512"/>
            </a:xfrm>
            <a:prstGeom prst="rect">
              <a:avLst/>
            </a:prstGeom>
            <a:noFill/>
          </p:spPr>
          <p:txBody>
            <a:bodyPr wrap="square" rtlCol="0">
              <a:spAutoFit/>
            </a:bodyPr>
            <a:lstStyle/>
            <a:p>
              <a:r>
                <a:rPr lang="zh-CN" altLang="en-US" sz="2000" b="1" dirty="0">
                  <a:solidFill>
                    <a:srgbClr val="FF0000"/>
                  </a:solidFill>
                </a:rPr>
                <a:t>）</a:t>
              </a:r>
              <a:endParaRPr lang="zh-CN" altLang="en-US" sz="2000" b="1" dirty="0">
                <a:solidFill>
                  <a:srgbClr val="FF0000"/>
                </a:solidFill>
              </a:endParaRPr>
            </a:p>
          </p:txBody>
        </p:sp>
      </p:grpSp>
      <p:grpSp>
        <p:nvGrpSpPr>
          <p:cNvPr id="63" name="组合 62"/>
          <p:cNvGrpSpPr/>
          <p:nvPr/>
        </p:nvGrpSpPr>
        <p:grpSpPr>
          <a:xfrm>
            <a:off x="10455275" y="4182110"/>
            <a:ext cx="307975" cy="869315"/>
            <a:chOff x="7584143" y="4347882"/>
            <a:chExt cx="308222" cy="869579"/>
          </a:xfrm>
        </p:grpSpPr>
        <p:cxnSp>
          <p:nvCxnSpPr>
            <p:cNvPr id="64" name="直接箭头连接符 63"/>
            <p:cNvCxnSpPr/>
            <p:nvPr>
              <p:custDataLst>
                <p:tags r:id="rId11"/>
              </p:custDataLst>
            </p:nvPr>
          </p:nvCxnSpPr>
          <p:spPr>
            <a:xfrm flipH="1" flipV="1">
              <a:off x="7584143" y="4347882"/>
              <a:ext cx="1" cy="8695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custDataLst>
                <p:tags r:id="rId12"/>
              </p:custDataLst>
            </p:nvPr>
          </p:nvSpPr>
          <p:spPr>
            <a:xfrm>
              <a:off x="7589470" y="4537792"/>
              <a:ext cx="302895" cy="398901"/>
            </a:xfrm>
            <a:prstGeom prst="rect">
              <a:avLst/>
            </a:prstGeom>
            <a:noFill/>
          </p:spPr>
          <p:txBody>
            <a:bodyPr wrap="square" rtlCol="0">
              <a:spAutoFit/>
            </a:bodyPr>
            <a:lstStyle/>
            <a:p>
              <a:r>
                <a:rPr lang="en-US" altLang="zh-CN" sz="2000" b="1" dirty="0">
                  <a:solidFill>
                    <a:srgbClr val="FF0000"/>
                  </a:solidFill>
                </a:rPr>
                <a:t>S</a:t>
              </a:r>
              <a:endParaRPr lang="zh-CN" altLang="en-US" sz="2000" b="1" dirty="0">
                <a:solidFill>
                  <a:srgbClr val="FF0000"/>
                </a:solidFill>
              </a:endParaRPr>
            </a:p>
          </p:txBody>
        </p:sp>
      </p:grpSp>
      <p:grpSp>
        <p:nvGrpSpPr>
          <p:cNvPr id="66" name="组合 65"/>
          <p:cNvGrpSpPr/>
          <p:nvPr/>
        </p:nvGrpSpPr>
        <p:grpSpPr>
          <a:xfrm>
            <a:off x="4346575" y="1883410"/>
            <a:ext cx="2675255" cy="1007745"/>
            <a:chOff x="1475614" y="2049271"/>
            <a:chExt cx="2675045" cy="1007694"/>
          </a:xfrm>
        </p:grpSpPr>
        <p:cxnSp>
          <p:nvCxnSpPr>
            <p:cNvPr id="67" name="直接箭头连接符 66"/>
            <p:cNvCxnSpPr/>
            <p:nvPr>
              <p:custDataLst>
                <p:tags r:id="rId13"/>
              </p:custDataLst>
            </p:nvPr>
          </p:nvCxnSpPr>
          <p:spPr>
            <a:xfrm>
              <a:off x="1859330" y="2312894"/>
              <a:ext cx="0" cy="74407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custDataLst>
                <p:tags r:id="rId14"/>
              </p:custDataLst>
            </p:nvPr>
          </p:nvCxnSpPr>
          <p:spPr>
            <a:xfrm>
              <a:off x="2716306" y="2098130"/>
              <a:ext cx="1434353" cy="9588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69"/>
            <p:cNvSpPr txBox="1"/>
            <p:nvPr>
              <p:custDataLst>
                <p:tags r:id="rId15"/>
              </p:custDataLst>
            </p:nvPr>
          </p:nvSpPr>
          <p:spPr>
            <a:xfrm>
              <a:off x="1475614" y="2386861"/>
              <a:ext cx="320040" cy="460352"/>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sp>
          <p:nvSpPr>
            <p:cNvPr id="71" name="文本框 70"/>
            <p:cNvSpPr txBox="1"/>
            <p:nvPr>
              <p:custDataLst>
                <p:tags r:id="rId16"/>
              </p:custDataLst>
            </p:nvPr>
          </p:nvSpPr>
          <p:spPr>
            <a:xfrm>
              <a:off x="3392397" y="2049271"/>
              <a:ext cx="320040" cy="460352"/>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grpSp>
      <p:grpSp>
        <p:nvGrpSpPr>
          <p:cNvPr id="72" name="组合 71"/>
          <p:cNvGrpSpPr/>
          <p:nvPr/>
        </p:nvGrpSpPr>
        <p:grpSpPr>
          <a:xfrm>
            <a:off x="4941570" y="4137025"/>
            <a:ext cx="378460" cy="869315"/>
            <a:chOff x="2070849" y="4303057"/>
            <a:chExt cx="378567" cy="869579"/>
          </a:xfrm>
        </p:grpSpPr>
        <p:cxnSp>
          <p:nvCxnSpPr>
            <p:cNvPr id="73" name="直接箭头连接符 72"/>
            <p:cNvCxnSpPr/>
            <p:nvPr>
              <p:custDataLst>
                <p:tags r:id="rId17"/>
              </p:custDataLst>
            </p:nvPr>
          </p:nvCxnSpPr>
          <p:spPr>
            <a:xfrm flipH="1" flipV="1">
              <a:off x="2070849" y="4303057"/>
              <a:ext cx="1" cy="8695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custDataLst>
                <p:tags r:id="rId18"/>
              </p:custDataLst>
            </p:nvPr>
          </p:nvSpPr>
          <p:spPr>
            <a:xfrm>
              <a:off x="2129376" y="4456656"/>
              <a:ext cx="320040" cy="460515"/>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grpSp>
      <p:grpSp>
        <p:nvGrpSpPr>
          <p:cNvPr id="76" name="组合 75"/>
          <p:cNvGrpSpPr/>
          <p:nvPr/>
        </p:nvGrpSpPr>
        <p:grpSpPr>
          <a:xfrm>
            <a:off x="5393690" y="3966845"/>
            <a:ext cx="1434465" cy="1084580"/>
            <a:chOff x="2522645" y="4132729"/>
            <a:chExt cx="1434353" cy="1084729"/>
          </a:xfrm>
        </p:grpSpPr>
        <p:cxnSp>
          <p:nvCxnSpPr>
            <p:cNvPr id="77" name="直接箭头连接符 76"/>
            <p:cNvCxnSpPr/>
            <p:nvPr>
              <p:custDataLst>
                <p:tags r:id="rId19"/>
              </p:custDataLst>
            </p:nvPr>
          </p:nvCxnSpPr>
          <p:spPr>
            <a:xfrm flipV="1">
              <a:off x="2522645" y="4132729"/>
              <a:ext cx="1434353" cy="108472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custDataLst>
                <p:tags r:id="rId20"/>
              </p:custDataLst>
            </p:nvPr>
          </p:nvSpPr>
          <p:spPr>
            <a:xfrm>
              <a:off x="3003177" y="4213428"/>
              <a:ext cx="320040" cy="460438"/>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grpSp>
      <p:grpSp>
        <p:nvGrpSpPr>
          <p:cNvPr id="79" name="组合 78"/>
          <p:cNvGrpSpPr/>
          <p:nvPr/>
        </p:nvGrpSpPr>
        <p:grpSpPr>
          <a:xfrm>
            <a:off x="8281670" y="3966845"/>
            <a:ext cx="1590040" cy="1179830"/>
            <a:chOff x="5411123" y="4132729"/>
            <a:chExt cx="1590313" cy="1180105"/>
          </a:xfrm>
        </p:grpSpPr>
        <p:cxnSp>
          <p:nvCxnSpPr>
            <p:cNvPr id="80" name="直接箭头连接符 79"/>
            <p:cNvCxnSpPr/>
            <p:nvPr>
              <p:custDataLst>
                <p:tags r:id="rId21"/>
              </p:custDataLst>
            </p:nvPr>
          </p:nvCxnSpPr>
          <p:spPr>
            <a:xfrm flipH="1" flipV="1">
              <a:off x="5411123" y="4132729"/>
              <a:ext cx="1590313" cy="11801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custDataLst>
                <p:tags r:id="rId22"/>
              </p:custDataLst>
            </p:nvPr>
          </p:nvSpPr>
          <p:spPr>
            <a:xfrm>
              <a:off x="5756521" y="4501933"/>
              <a:ext cx="320040" cy="460482"/>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grpSp>
      <p:grpSp>
        <p:nvGrpSpPr>
          <p:cNvPr id="82" name="组合 81"/>
          <p:cNvGrpSpPr/>
          <p:nvPr/>
        </p:nvGrpSpPr>
        <p:grpSpPr>
          <a:xfrm>
            <a:off x="3578860" y="3496310"/>
            <a:ext cx="6445885" cy="3182585"/>
            <a:chOff x="708212" y="3661932"/>
            <a:chExt cx="6445626" cy="3182346"/>
          </a:xfrm>
        </p:grpSpPr>
        <p:cxnSp>
          <p:nvCxnSpPr>
            <p:cNvPr id="83" name="连接符: 肘形 67"/>
            <p:cNvCxnSpPr/>
            <p:nvPr>
              <p:custDataLst>
                <p:tags r:id="rId23"/>
              </p:custDataLst>
            </p:nvPr>
          </p:nvCxnSpPr>
          <p:spPr>
            <a:xfrm rot="10800000">
              <a:off x="708212" y="3661932"/>
              <a:ext cx="6445626" cy="2765762"/>
            </a:xfrm>
            <a:prstGeom prst="bentConnector3">
              <a:avLst>
                <a:gd name="adj1" fmla="val 10340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custDataLst>
                <p:tags r:id="rId24"/>
              </p:custDataLst>
            </p:nvPr>
          </p:nvSpPr>
          <p:spPr>
            <a:xfrm>
              <a:off x="3164439" y="6383938"/>
              <a:ext cx="320040" cy="460340"/>
            </a:xfrm>
            <a:prstGeom prst="rect">
              <a:avLst/>
            </a:prstGeom>
            <a:noFill/>
          </p:spPr>
          <p:txBody>
            <a:bodyPr wrap="square" rtlCol="0">
              <a:spAutoFit/>
            </a:bodyPr>
            <a:lstStyle/>
            <a:p>
              <a:r>
                <a:rPr lang="en-US" altLang="zh-CN" sz="2400" b="1" dirty="0">
                  <a:solidFill>
                    <a:srgbClr val="FF0000"/>
                  </a:solidFill>
                  <a:latin typeface="+mn-ea"/>
                  <a:sym typeface="Symbol" panose="05050102010706020507" pitchFamily="18" charset="2"/>
                </a:rPr>
                <a:t>ε</a:t>
              </a:r>
              <a:endParaRPr lang="zh-CN" altLang="en-US" sz="24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up)">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wipe(left)">
                                      <p:cBhvr>
                                        <p:cTn id="17" dur="500"/>
                                        <p:tgtEl>
                                          <p:spTgt spid="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left)">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wipe(down)">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up)">
                                      <p:cBhvr>
                                        <p:cTn id="32" dur="500"/>
                                        <p:tgtEl>
                                          <p:spTgt spid="6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wipe(down)">
                                      <p:cBhvr>
                                        <p:cTn id="37" dur="500"/>
                                        <p:tgtEl>
                                          <p:spTgt spid="7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wipe(down)">
                                      <p:cBhvr>
                                        <p:cTn id="42" dur="500"/>
                                        <p:tgtEl>
                                          <p:spTgt spid="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wipe(down)">
                                      <p:cBhvr>
                                        <p:cTn id="47" dur="5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wipe(down)">
                                      <p:cBhvr>
                                        <p:cTn id="5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86410" y="276860"/>
            <a:ext cx="7366635" cy="593090"/>
          </a:xfrm>
        </p:spPr>
        <p:txBody>
          <a:bodyPr/>
          <a:lstStyle/>
          <a:p>
            <a:r>
              <a:rPr lang="en-US" altLang="zh-CN" sz="3200" dirty="0"/>
              <a:t>1. </a:t>
            </a:r>
            <a:r>
              <a:rPr lang="zh-CN" altLang="en-US" sz="3200" dirty="0"/>
              <a:t>构造识别活前缀的</a:t>
            </a:r>
            <a:r>
              <a:rPr lang="en-US" altLang="zh-CN" sz="3200" dirty="0"/>
              <a:t>NFA(</a:t>
            </a:r>
            <a:r>
              <a:rPr lang="zh-CN" altLang="en-US" sz="3200" dirty="0"/>
              <a:t>续</a:t>
            </a:r>
            <a:r>
              <a:rPr lang="en-US" altLang="zh-CN" sz="3200" dirty="0"/>
              <a:t>)</a:t>
            </a:r>
            <a:endParaRPr lang="en-US" altLang="zh-CN" sz="3200" dirty="0"/>
          </a:p>
        </p:txBody>
      </p:sp>
      <p:sp>
        <p:nvSpPr>
          <p:cNvPr id="4" name="Text Box 2"/>
          <p:cNvSpPr txBox="1">
            <a:spLocks noChangeArrowheads="1"/>
          </p:cNvSpPr>
          <p:nvPr/>
        </p:nvSpPr>
        <p:spPr bwMode="auto">
          <a:xfrm>
            <a:off x="433705" y="1217295"/>
            <a:ext cx="11369675" cy="513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fontAlgn="auto">
              <a:lnSpc>
                <a:spcPct val="125000"/>
              </a:lnSpc>
              <a:spcBef>
                <a:spcPts val="0"/>
              </a:spcBef>
            </a:pPr>
            <a:r>
              <a:rPr lang="zh-CN" altLang="en-US" sz="3200" dirty="0">
                <a:solidFill>
                  <a:srgbClr val="020001"/>
                </a:solidFill>
              </a:rPr>
              <a:t> 例：对拓广文法</a:t>
            </a:r>
            <a:br>
              <a:rPr lang="zh-CN" altLang="en-US" sz="3200" dirty="0">
                <a:solidFill>
                  <a:srgbClr val="020001"/>
                </a:solidFill>
              </a:rPr>
            </a:br>
            <a:r>
              <a:rPr lang="en-US" altLang="zh-CN" sz="3200" dirty="0">
                <a:solidFill>
                  <a:srgbClr val="020001"/>
                </a:solidFill>
              </a:rPr>
              <a:t>0) S’</a:t>
            </a:r>
            <a:r>
              <a:rPr lang="en-US" altLang="zh-CN" sz="3200" dirty="0">
                <a:solidFill>
                  <a:srgbClr val="020001"/>
                </a:solidFill>
                <a:sym typeface="Symbol" panose="05050102010706020507" pitchFamily="18" charset="2"/>
              </a:rPr>
              <a:t>S                   </a:t>
            </a:r>
            <a:r>
              <a:rPr lang="en-US" altLang="zh-CN" sz="3200" dirty="0">
                <a:solidFill>
                  <a:srgbClr val="020001"/>
                </a:solidFill>
              </a:rPr>
              <a:t>S’</a:t>
            </a:r>
            <a:r>
              <a:rPr lang="en-US" altLang="zh-CN" sz="3200" dirty="0">
                <a:solidFill>
                  <a:srgbClr val="020001"/>
                </a:solidFill>
                <a:sym typeface="Symbol" panose="05050102010706020507" pitchFamily="18" charset="2"/>
              </a:rPr>
              <a:t>.S   </a:t>
            </a:r>
            <a:r>
              <a:rPr lang="en-US" altLang="zh-CN" sz="3200" dirty="0">
                <a:solidFill>
                  <a:srgbClr val="020001"/>
                </a:solidFill>
              </a:rPr>
              <a:t>S’</a:t>
            </a:r>
            <a:r>
              <a:rPr lang="en-US" altLang="zh-CN" sz="3200" dirty="0">
                <a:solidFill>
                  <a:srgbClr val="020001"/>
                </a:solidFill>
                <a:sym typeface="Symbol" panose="05050102010706020507" pitchFamily="18" charset="2"/>
              </a:rPr>
              <a:t>S. </a:t>
            </a:r>
            <a:br>
              <a:rPr lang="en-US" altLang="zh-CN" sz="3200" dirty="0">
                <a:solidFill>
                  <a:srgbClr val="020001"/>
                </a:solidFill>
                <a:sym typeface="Symbol" panose="05050102010706020507" pitchFamily="18" charset="2"/>
              </a:rPr>
            </a:br>
            <a:r>
              <a:rPr lang="en-US" altLang="zh-CN" sz="3200" dirty="0">
                <a:solidFill>
                  <a:srgbClr val="020001"/>
                </a:solidFill>
                <a:sym typeface="Symbol" panose="05050102010706020507" pitchFamily="18" charset="2"/>
              </a:rPr>
              <a:t>1) </a:t>
            </a:r>
            <a:r>
              <a:rPr lang="en-US" altLang="zh-CN" sz="3200" dirty="0" err="1">
                <a:solidFill>
                  <a:srgbClr val="020001"/>
                </a:solidFill>
              </a:rPr>
              <a:t>S</a:t>
            </a:r>
            <a:r>
              <a:rPr lang="en-US" altLang="zh-CN" sz="3200" dirty="0" err="1">
                <a:solidFill>
                  <a:srgbClr val="020001"/>
                </a:solidFill>
                <a:sym typeface="Symbol" panose="05050102010706020507" pitchFamily="18" charset="2"/>
              </a:rPr>
              <a:t>aAcBe</a:t>
            </a:r>
            <a:r>
              <a:rPr lang="en-US" altLang="zh-CN" sz="3200" dirty="0">
                <a:solidFill>
                  <a:srgbClr val="020001"/>
                </a:solidFill>
                <a:sym typeface="Symbol" panose="05050102010706020507" pitchFamily="18" charset="2"/>
              </a:rPr>
              <a:t>           </a:t>
            </a:r>
            <a:r>
              <a:rPr lang="en-US" altLang="zh-CN" sz="3200" dirty="0">
                <a:solidFill>
                  <a:srgbClr val="020001"/>
                </a:solidFill>
              </a:rPr>
              <a:t>S</a:t>
            </a:r>
            <a:r>
              <a:rPr lang="en-US" altLang="zh-CN" sz="3200" dirty="0">
                <a:solidFill>
                  <a:srgbClr val="020001"/>
                </a:solidFill>
                <a:sym typeface="Symbol" panose="05050102010706020507" pitchFamily="18" charset="2"/>
              </a:rPr>
              <a:t>.</a:t>
            </a:r>
            <a:r>
              <a:rPr lang="en-US" altLang="zh-CN" sz="3200" dirty="0" err="1">
                <a:solidFill>
                  <a:srgbClr val="020001"/>
                </a:solidFill>
                <a:sym typeface="Symbol" panose="05050102010706020507" pitchFamily="18" charset="2"/>
              </a:rPr>
              <a:t>aAcBe</a:t>
            </a:r>
            <a:r>
              <a:rPr lang="en-US" altLang="zh-CN" sz="3200" dirty="0">
                <a:solidFill>
                  <a:srgbClr val="020001"/>
                </a:solidFill>
                <a:sym typeface="Symbol" panose="05050102010706020507" pitchFamily="18" charset="2"/>
              </a:rPr>
              <a:t>    …  </a:t>
            </a:r>
            <a:r>
              <a:rPr lang="en-US" altLang="zh-CN" sz="3200" dirty="0" err="1">
                <a:solidFill>
                  <a:srgbClr val="020001"/>
                </a:solidFill>
              </a:rPr>
              <a:t>S</a:t>
            </a:r>
            <a:r>
              <a:rPr lang="en-US" altLang="zh-CN" sz="3200" dirty="0" err="1">
                <a:solidFill>
                  <a:srgbClr val="020001"/>
                </a:solidFill>
                <a:sym typeface="Symbol" panose="05050102010706020507" pitchFamily="18" charset="2"/>
              </a:rPr>
              <a:t>aAcBe</a:t>
            </a:r>
            <a:r>
              <a:rPr lang="en-US" altLang="zh-CN" sz="3200" dirty="0">
                <a:solidFill>
                  <a:srgbClr val="020001"/>
                </a:solidFill>
                <a:sym typeface="Symbol" panose="05050102010706020507" pitchFamily="18" charset="2"/>
              </a:rPr>
              <a:t>. </a:t>
            </a:r>
            <a:br>
              <a:rPr lang="en-US" altLang="zh-CN" sz="3200" dirty="0">
                <a:solidFill>
                  <a:srgbClr val="020001"/>
                </a:solidFill>
                <a:sym typeface="Symbol" panose="05050102010706020507" pitchFamily="18" charset="2"/>
              </a:rPr>
            </a:br>
            <a:r>
              <a:rPr lang="en-US" altLang="zh-CN" sz="3200" dirty="0">
                <a:solidFill>
                  <a:srgbClr val="020001"/>
                </a:solidFill>
                <a:sym typeface="Symbol" panose="05050102010706020507" pitchFamily="18" charset="2"/>
              </a:rPr>
              <a:t>2) </a:t>
            </a:r>
            <a:r>
              <a:rPr lang="en-US" altLang="zh-CN" sz="3200" dirty="0" err="1">
                <a:solidFill>
                  <a:srgbClr val="020001"/>
                </a:solidFill>
                <a:sym typeface="Symbol" panose="05050102010706020507" pitchFamily="18" charset="2"/>
              </a:rPr>
              <a:t>Ab</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A.b</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Ab</a:t>
            </a:r>
            <a:r>
              <a:rPr lang="en-US" altLang="zh-CN" sz="3200" dirty="0">
                <a:solidFill>
                  <a:srgbClr val="020001"/>
                </a:solidFill>
                <a:sym typeface="Symbol" panose="05050102010706020507" pitchFamily="18" charset="2"/>
              </a:rPr>
              <a:t>. </a:t>
            </a:r>
            <a:endParaRPr lang="en-US" altLang="zh-CN" sz="3200" dirty="0">
              <a:solidFill>
                <a:srgbClr val="020001"/>
              </a:solidFill>
              <a:sym typeface="Symbol" panose="05050102010706020507" pitchFamily="18" charset="2"/>
            </a:endParaRPr>
          </a:p>
          <a:p>
            <a:pPr indent="0" fontAlgn="auto">
              <a:lnSpc>
                <a:spcPct val="125000"/>
              </a:lnSpc>
              <a:spcBef>
                <a:spcPct val="50000"/>
              </a:spcBef>
            </a:pPr>
            <a:r>
              <a:rPr lang="en-US" altLang="zh-CN" sz="3200" dirty="0">
                <a:solidFill>
                  <a:srgbClr val="020001"/>
                </a:solidFill>
                <a:sym typeface="Symbol" panose="05050102010706020507" pitchFamily="18" charset="2"/>
              </a:rPr>
              <a:t>3) </a:t>
            </a:r>
            <a:r>
              <a:rPr lang="en-US" altLang="zh-CN" sz="3200" dirty="0" err="1">
                <a:solidFill>
                  <a:srgbClr val="020001"/>
                </a:solidFill>
                <a:sym typeface="Symbol" panose="05050102010706020507" pitchFamily="18" charset="2"/>
              </a:rPr>
              <a:t>AAb</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A.Ab</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AA.b</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AAb</a:t>
            </a:r>
            <a:r>
              <a:rPr lang="en-US" altLang="zh-CN" sz="3200" dirty="0">
                <a:solidFill>
                  <a:srgbClr val="020001"/>
                </a:solidFill>
                <a:sym typeface="Symbol" panose="05050102010706020507" pitchFamily="18" charset="2"/>
              </a:rPr>
              <a:t>. </a:t>
            </a:r>
            <a:endParaRPr lang="en-US" altLang="zh-CN" sz="3200" dirty="0">
              <a:solidFill>
                <a:srgbClr val="020001"/>
              </a:solidFill>
              <a:sym typeface="Symbol" panose="05050102010706020507" pitchFamily="18" charset="2"/>
            </a:endParaRPr>
          </a:p>
          <a:p>
            <a:pPr indent="0" fontAlgn="auto">
              <a:lnSpc>
                <a:spcPct val="125000"/>
              </a:lnSpc>
              <a:spcBef>
                <a:spcPct val="50000"/>
              </a:spcBef>
            </a:pPr>
            <a:r>
              <a:rPr lang="en-US" altLang="zh-CN" sz="3200" dirty="0">
                <a:solidFill>
                  <a:srgbClr val="020001"/>
                </a:solidFill>
                <a:sym typeface="Symbol" panose="05050102010706020507" pitchFamily="18" charset="2"/>
              </a:rPr>
              <a:t>4) </a:t>
            </a:r>
            <a:r>
              <a:rPr lang="en-US" altLang="zh-CN" sz="3200" dirty="0" err="1">
                <a:solidFill>
                  <a:srgbClr val="020001"/>
                </a:solidFill>
                <a:sym typeface="Symbol" panose="05050102010706020507" pitchFamily="18" charset="2"/>
              </a:rPr>
              <a:t>Bd</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B.d</a:t>
            </a:r>
            <a:r>
              <a:rPr lang="en-US" altLang="zh-CN" sz="3200" dirty="0">
                <a:solidFill>
                  <a:srgbClr val="020001"/>
                </a:solidFill>
                <a:sym typeface="Symbol" panose="05050102010706020507" pitchFamily="18" charset="2"/>
              </a:rPr>
              <a:t>    </a:t>
            </a:r>
            <a:r>
              <a:rPr lang="en-US" altLang="zh-CN" sz="3200" dirty="0" err="1">
                <a:solidFill>
                  <a:srgbClr val="020001"/>
                </a:solidFill>
                <a:sym typeface="Symbol" panose="05050102010706020507" pitchFamily="18" charset="2"/>
              </a:rPr>
              <a:t>B.d</a:t>
            </a:r>
            <a:endParaRPr lang="en-US" altLang="zh-CN" sz="3200" dirty="0">
              <a:solidFill>
                <a:srgbClr val="020001"/>
              </a:solidFill>
              <a:sym typeface="Symbol" panose="05050102010706020507" pitchFamily="18" charset="2"/>
            </a:endParaRPr>
          </a:p>
          <a:p>
            <a:pPr indent="0" fontAlgn="auto">
              <a:lnSpc>
                <a:spcPct val="125000"/>
              </a:lnSpc>
              <a:spcBef>
                <a:spcPct val="50000"/>
              </a:spcBef>
            </a:pPr>
            <a:r>
              <a:rPr lang="zh-CN" altLang="en-US" sz="3200" dirty="0">
                <a:solidFill>
                  <a:srgbClr val="020001"/>
                </a:solidFill>
                <a:sym typeface="Symbol" panose="05050102010706020507" pitchFamily="18" charset="2"/>
              </a:rPr>
              <a:t>求出其对应的</a:t>
            </a:r>
            <a:r>
              <a:rPr lang="en-US" altLang="zh-CN" sz="3200" dirty="0">
                <a:solidFill>
                  <a:srgbClr val="010000"/>
                </a:solidFill>
                <a:sym typeface="Symbol" panose="05050102010706020507" pitchFamily="18" charset="2"/>
              </a:rPr>
              <a:t>LR(0)</a:t>
            </a:r>
            <a:r>
              <a:rPr lang="zh-CN" altLang="en-US" sz="3200" dirty="0">
                <a:solidFill>
                  <a:srgbClr val="020001"/>
                </a:solidFill>
                <a:sym typeface="Symbol" panose="05050102010706020507" pitchFamily="18" charset="2"/>
              </a:rPr>
              <a:t>项目</a:t>
            </a:r>
            <a:r>
              <a:rPr lang="zh-CN" altLang="en-US" sz="3200" dirty="0">
                <a:solidFill>
                  <a:srgbClr val="010000"/>
                </a:solidFill>
                <a:sym typeface="Symbol" panose="05050102010706020507" pitchFamily="18" charset="2"/>
              </a:rPr>
              <a:t>的</a:t>
            </a:r>
            <a:r>
              <a:rPr lang="en-US" altLang="zh-CN" sz="3200" dirty="0">
                <a:solidFill>
                  <a:srgbClr val="010000"/>
                </a:solidFill>
                <a:sym typeface="Symbol" panose="05050102010706020507" pitchFamily="18" charset="2"/>
              </a:rPr>
              <a:t>NFA</a:t>
            </a:r>
            <a:endParaRPr lang="en-US" altLang="zh-CN" sz="3200" dirty="0">
              <a:solidFill>
                <a:srgbClr val="010000"/>
              </a:solidFill>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01015" y="276860"/>
            <a:ext cx="7352030" cy="593090"/>
          </a:xfrm>
        </p:spPr>
        <p:txBody>
          <a:bodyPr/>
          <a:lstStyle/>
          <a:p>
            <a:r>
              <a:rPr lang="en-US" altLang="zh-CN" sz="3200" dirty="0"/>
              <a:t>1. </a:t>
            </a:r>
            <a:r>
              <a:rPr lang="zh-CN" altLang="en-US" sz="3200" dirty="0"/>
              <a:t>构造识别活前缀的</a:t>
            </a:r>
            <a:r>
              <a:rPr lang="en-US" altLang="zh-CN" sz="3200" dirty="0"/>
              <a:t>NFA(</a:t>
            </a:r>
            <a:r>
              <a:rPr lang="zh-CN" altLang="en-US" sz="3200" dirty="0"/>
              <a:t>续</a:t>
            </a:r>
            <a:r>
              <a:rPr lang="en-US" altLang="zh-CN" sz="3200" dirty="0"/>
              <a:t>)</a:t>
            </a:r>
            <a:endParaRPr lang="en-US" altLang="zh-CN" sz="3200" dirty="0"/>
          </a:p>
        </p:txBody>
      </p:sp>
      <p:sp>
        <p:nvSpPr>
          <p:cNvPr id="6" name="Text Box 2"/>
          <p:cNvSpPr txBox="1">
            <a:spLocks noChangeArrowheads="1"/>
          </p:cNvSpPr>
          <p:nvPr/>
        </p:nvSpPr>
        <p:spPr bwMode="auto">
          <a:xfrm>
            <a:off x="9165432" y="3328483"/>
            <a:ext cx="25146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aAc.Be</a:t>
            </a:r>
            <a:endParaRPr lang="zh-CN" altLang="en-US" sz="3200" b="1">
              <a:solidFill>
                <a:srgbClr val="020001"/>
              </a:solidFill>
              <a:latin typeface="+mn-ea"/>
              <a:sym typeface="Symbol" panose="05050102010706020507" pitchFamily="18" charset="2"/>
            </a:endParaRPr>
          </a:p>
        </p:txBody>
      </p:sp>
      <p:grpSp>
        <p:nvGrpSpPr>
          <p:cNvPr id="7" name="Group 3"/>
          <p:cNvGrpSpPr/>
          <p:nvPr/>
        </p:nvGrpSpPr>
        <p:grpSpPr bwMode="auto">
          <a:xfrm>
            <a:off x="10384632" y="2718883"/>
            <a:ext cx="511175" cy="660401"/>
            <a:chOff x="4704" y="1824"/>
            <a:chExt cx="322" cy="416"/>
          </a:xfrm>
        </p:grpSpPr>
        <p:sp>
          <p:nvSpPr>
            <p:cNvPr id="8" name="Line 4"/>
            <p:cNvSpPr>
              <a:spLocks noChangeShapeType="1"/>
            </p:cNvSpPr>
            <p:nvPr/>
          </p:nvSpPr>
          <p:spPr bwMode="auto">
            <a:xfrm>
              <a:off x="4704" y="1824"/>
              <a:ext cx="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9" name="Text Box 5"/>
            <p:cNvSpPr txBox="1">
              <a:spLocks noChangeArrowheads="1"/>
            </p:cNvSpPr>
            <p:nvPr/>
          </p:nvSpPr>
          <p:spPr bwMode="auto">
            <a:xfrm>
              <a:off x="4752" y="1872"/>
              <a:ext cx="27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20001"/>
                  </a:solidFill>
                  <a:latin typeface="+mn-ea"/>
                </a:rPr>
                <a:t>c</a:t>
              </a:r>
              <a:endParaRPr lang="en-US" altLang="zh-CN" sz="3200" b="1">
                <a:solidFill>
                  <a:srgbClr val="020001"/>
                </a:solidFill>
                <a:latin typeface="+mn-ea"/>
              </a:endParaRPr>
            </a:p>
          </p:txBody>
        </p:sp>
      </p:grpSp>
      <p:sp>
        <p:nvSpPr>
          <p:cNvPr id="10" name="Text Box 6"/>
          <p:cNvSpPr txBox="1">
            <a:spLocks noChangeArrowheads="1"/>
          </p:cNvSpPr>
          <p:nvPr/>
        </p:nvSpPr>
        <p:spPr bwMode="auto">
          <a:xfrm>
            <a:off x="3498057" y="1228221"/>
            <a:ext cx="17526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.S</a:t>
            </a:r>
            <a:endParaRPr lang="zh-CN" altLang="en-US" sz="3200" b="1">
              <a:solidFill>
                <a:srgbClr val="020001"/>
              </a:solidFill>
              <a:latin typeface="+mn-ea"/>
              <a:sym typeface="Symbol" panose="05050102010706020507" pitchFamily="18" charset="2"/>
            </a:endParaRPr>
          </a:p>
        </p:txBody>
      </p:sp>
      <p:grpSp>
        <p:nvGrpSpPr>
          <p:cNvPr id="11" name="Group 7"/>
          <p:cNvGrpSpPr/>
          <p:nvPr/>
        </p:nvGrpSpPr>
        <p:grpSpPr bwMode="auto">
          <a:xfrm>
            <a:off x="10356057" y="3976183"/>
            <a:ext cx="533400" cy="660401"/>
            <a:chOff x="4896" y="2448"/>
            <a:chExt cx="336" cy="416"/>
          </a:xfrm>
        </p:grpSpPr>
        <p:sp>
          <p:nvSpPr>
            <p:cNvPr id="13" name="Line 8"/>
            <p:cNvSpPr>
              <a:spLocks noChangeShapeType="1"/>
            </p:cNvSpPr>
            <p:nvPr/>
          </p:nvSpPr>
          <p:spPr bwMode="auto">
            <a:xfrm>
              <a:off x="4896" y="2448"/>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4" name="Text Box 9"/>
            <p:cNvSpPr txBox="1">
              <a:spLocks noChangeArrowheads="1"/>
            </p:cNvSpPr>
            <p:nvPr/>
          </p:nvSpPr>
          <p:spPr bwMode="auto">
            <a:xfrm>
              <a:off x="4944" y="249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rPr>
                <a:t>B</a:t>
              </a:r>
              <a:endParaRPr lang="en-US" altLang="zh-CN" sz="3200" b="1">
                <a:solidFill>
                  <a:srgbClr val="020001"/>
                </a:solidFill>
                <a:latin typeface="+mn-ea"/>
              </a:endParaRPr>
            </a:p>
          </p:txBody>
        </p:sp>
      </p:grpSp>
      <p:sp>
        <p:nvSpPr>
          <p:cNvPr id="15" name="Text Box 10"/>
          <p:cNvSpPr txBox="1">
            <a:spLocks noChangeArrowheads="1"/>
          </p:cNvSpPr>
          <p:nvPr/>
        </p:nvSpPr>
        <p:spPr bwMode="auto">
          <a:xfrm>
            <a:off x="9441657" y="4614358"/>
            <a:ext cx="23622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aAcB.e</a:t>
            </a:r>
            <a:endParaRPr lang="en-US" altLang="zh-CN" sz="3200" b="1">
              <a:solidFill>
                <a:srgbClr val="020001"/>
              </a:solidFill>
              <a:latin typeface="+mn-ea"/>
              <a:sym typeface="Symbol" panose="05050102010706020507" pitchFamily="18" charset="2"/>
            </a:endParaRPr>
          </a:p>
        </p:txBody>
      </p:sp>
      <p:grpSp>
        <p:nvGrpSpPr>
          <p:cNvPr id="16" name="Group 11"/>
          <p:cNvGrpSpPr/>
          <p:nvPr/>
        </p:nvGrpSpPr>
        <p:grpSpPr bwMode="auto">
          <a:xfrm>
            <a:off x="8603457" y="3899983"/>
            <a:ext cx="714375" cy="762000"/>
            <a:chOff x="4032" y="2448"/>
            <a:chExt cx="384" cy="384"/>
          </a:xfrm>
        </p:grpSpPr>
        <p:sp>
          <p:nvSpPr>
            <p:cNvPr id="17" name="Line 12"/>
            <p:cNvSpPr>
              <a:spLocks noChangeShapeType="1"/>
            </p:cNvSpPr>
            <p:nvPr/>
          </p:nvSpPr>
          <p:spPr bwMode="auto">
            <a:xfrm flipH="1">
              <a:off x="4032" y="2448"/>
              <a:ext cx="288"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8" name="Text Box 13"/>
            <p:cNvSpPr txBox="1">
              <a:spLocks noChangeArrowheads="1"/>
            </p:cNvSpPr>
            <p:nvPr/>
          </p:nvSpPr>
          <p:spPr bwMode="auto">
            <a:xfrm>
              <a:off x="4224" y="2448"/>
              <a:ext cx="19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t>
              </a:r>
              <a:endParaRPr lang="zh-CN" altLang="en-US" sz="3200" b="1">
                <a:solidFill>
                  <a:srgbClr val="020001"/>
                </a:solidFill>
                <a:latin typeface="+mn-ea"/>
                <a:sym typeface="Symbol" panose="05050102010706020507" pitchFamily="18" charset="2"/>
              </a:endParaRPr>
            </a:p>
          </p:txBody>
        </p:sp>
      </p:grpSp>
      <p:sp>
        <p:nvSpPr>
          <p:cNvPr id="19" name="Text Box 14"/>
          <p:cNvSpPr txBox="1">
            <a:spLocks noChangeArrowheads="1"/>
          </p:cNvSpPr>
          <p:nvPr/>
        </p:nvSpPr>
        <p:spPr bwMode="auto">
          <a:xfrm>
            <a:off x="7650957" y="4661983"/>
            <a:ext cx="16002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B.d</a:t>
            </a:r>
            <a:endParaRPr lang="en-US" altLang="zh-CN" sz="3200" b="1">
              <a:solidFill>
                <a:srgbClr val="020001"/>
              </a:solidFill>
              <a:latin typeface="+mn-ea"/>
              <a:sym typeface="Symbol" panose="05050102010706020507" pitchFamily="18" charset="2"/>
            </a:endParaRPr>
          </a:p>
        </p:txBody>
      </p:sp>
      <p:grpSp>
        <p:nvGrpSpPr>
          <p:cNvPr id="20" name="Group 15"/>
          <p:cNvGrpSpPr/>
          <p:nvPr/>
        </p:nvGrpSpPr>
        <p:grpSpPr bwMode="auto">
          <a:xfrm>
            <a:off x="5388769" y="1058358"/>
            <a:ext cx="685800" cy="583861"/>
            <a:chOff x="2208" y="816"/>
            <a:chExt cx="432" cy="264"/>
          </a:xfrm>
        </p:grpSpPr>
        <p:sp>
          <p:nvSpPr>
            <p:cNvPr id="21" name="Line 16"/>
            <p:cNvSpPr>
              <a:spLocks noChangeShapeType="1"/>
            </p:cNvSpPr>
            <p:nvPr/>
          </p:nvSpPr>
          <p:spPr bwMode="auto">
            <a:xfrm>
              <a:off x="2208" y="1056"/>
              <a:ext cx="43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2" name="Text Box 17"/>
            <p:cNvSpPr txBox="1">
              <a:spLocks noChangeArrowheads="1"/>
            </p:cNvSpPr>
            <p:nvPr/>
          </p:nvSpPr>
          <p:spPr bwMode="auto">
            <a:xfrm>
              <a:off x="2304" y="816"/>
              <a:ext cx="2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rPr>
                <a:t>S</a:t>
              </a:r>
              <a:endParaRPr lang="en-US" altLang="zh-CN" sz="3200" b="1">
                <a:solidFill>
                  <a:srgbClr val="020001"/>
                </a:solidFill>
                <a:latin typeface="+mn-ea"/>
              </a:endParaRPr>
            </a:p>
          </p:txBody>
        </p:sp>
      </p:grpSp>
      <p:sp>
        <p:nvSpPr>
          <p:cNvPr id="23" name="Text Box 18"/>
          <p:cNvSpPr txBox="1">
            <a:spLocks noChangeArrowheads="1"/>
          </p:cNvSpPr>
          <p:nvPr/>
        </p:nvSpPr>
        <p:spPr bwMode="auto">
          <a:xfrm>
            <a:off x="6126957" y="1209171"/>
            <a:ext cx="1600200" cy="583565"/>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070C0"/>
                </a:solidFill>
                <a:latin typeface="+mn-ea"/>
              </a:rPr>
              <a:t>S’</a:t>
            </a:r>
            <a:r>
              <a:rPr lang="en-US" altLang="zh-CN" sz="3200" b="1">
                <a:solidFill>
                  <a:srgbClr val="0070C0"/>
                </a:solidFill>
                <a:latin typeface="+mn-ea"/>
                <a:sym typeface="Symbol" panose="05050102010706020507" pitchFamily="18" charset="2"/>
              </a:rPr>
              <a:t> S.</a:t>
            </a:r>
            <a:endParaRPr lang="zh-CN" altLang="en-US" sz="3200" b="1">
              <a:solidFill>
                <a:srgbClr val="0070C0"/>
              </a:solidFill>
              <a:latin typeface="+mn-ea"/>
              <a:sym typeface="Symbol" panose="05050102010706020507" pitchFamily="18" charset="2"/>
            </a:endParaRPr>
          </a:p>
        </p:txBody>
      </p:sp>
      <p:sp>
        <p:nvSpPr>
          <p:cNvPr id="24" name="Text Box 19"/>
          <p:cNvSpPr txBox="1">
            <a:spLocks noChangeArrowheads="1"/>
          </p:cNvSpPr>
          <p:nvPr/>
        </p:nvSpPr>
        <p:spPr bwMode="auto">
          <a:xfrm>
            <a:off x="2888457" y="2299783"/>
            <a:ext cx="22860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.aAcBe</a:t>
            </a:r>
            <a:endParaRPr lang="en-US" altLang="zh-CN" sz="3200" b="1">
              <a:solidFill>
                <a:srgbClr val="020001"/>
              </a:solidFill>
              <a:latin typeface="+mn-ea"/>
              <a:sym typeface="Symbol" panose="05050102010706020507" pitchFamily="18" charset="2"/>
            </a:endParaRPr>
          </a:p>
        </p:txBody>
      </p:sp>
      <p:grpSp>
        <p:nvGrpSpPr>
          <p:cNvPr id="25" name="Group 20"/>
          <p:cNvGrpSpPr/>
          <p:nvPr/>
        </p:nvGrpSpPr>
        <p:grpSpPr bwMode="auto">
          <a:xfrm>
            <a:off x="3802857" y="1837821"/>
            <a:ext cx="457200" cy="636131"/>
            <a:chOff x="1872" y="1152"/>
            <a:chExt cx="288" cy="591"/>
          </a:xfrm>
        </p:grpSpPr>
        <p:sp>
          <p:nvSpPr>
            <p:cNvPr id="26" name="Text Box 21"/>
            <p:cNvSpPr txBox="1">
              <a:spLocks noChangeArrowheads="1"/>
            </p:cNvSpPr>
            <p:nvPr/>
          </p:nvSpPr>
          <p:spPr bwMode="auto">
            <a:xfrm>
              <a:off x="1968" y="1201"/>
              <a:ext cx="192"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t>
              </a:r>
              <a:endParaRPr lang="zh-CN" altLang="en-US" sz="3200" b="1">
                <a:solidFill>
                  <a:srgbClr val="020001"/>
                </a:solidFill>
                <a:latin typeface="+mn-ea"/>
                <a:sym typeface="Symbol" panose="05050102010706020507" pitchFamily="18" charset="2"/>
              </a:endParaRPr>
            </a:p>
          </p:txBody>
        </p:sp>
        <p:sp>
          <p:nvSpPr>
            <p:cNvPr id="27" name="Line 22"/>
            <p:cNvSpPr>
              <a:spLocks noChangeShapeType="1"/>
            </p:cNvSpPr>
            <p:nvPr/>
          </p:nvSpPr>
          <p:spPr bwMode="auto">
            <a:xfrm>
              <a:off x="1872" y="1152"/>
              <a:ext cx="0" cy="432"/>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grpSp>
        <p:nvGrpSpPr>
          <p:cNvPr id="28" name="Group 23"/>
          <p:cNvGrpSpPr/>
          <p:nvPr/>
        </p:nvGrpSpPr>
        <p:grpSpPr bwMode="auto">
          <a:xfrm>
            <a:off x="5250657" y="2128333"/>
            <a:ext cx="457200" cy="584201"/>
            <a:chOff x="2352" y="1392"/>
            <a:chExt cx="432" cy="368"/>
          </a:xfrm>
        </p:grpSpPr>
        <p:sp>
          <p:nvSpPr>
            <p:cNvPr id="29" name="Line 24"/>
            <p:cNvSpPr>
              <a:spLocks noChangeShapeType="1"/>
            </p:cNvSpPr>
            <p:nvPr/>
          </p:nvSpPr>
          <p:spPr bwMode="auto">
            <a:xfrm>
              <a:off x="2352" y="1680"/>
              <a:ext cx="43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30" name="Text Box 25"/>
            <p:cNvSpPr txBox="1">
              <a:spLocks noChangeArrowheads="1"/>
            </p:cNvSpPr>
            <p:nvPr/>
          </p:nvSpPr>
          <p:spPr bwMode="auto">
            <a:xfrm>
              <a:off x="2448" y="1392"/>
              <a:ext cx="27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20001"/>
                  </a:solidFill>
                  <a:latin typeface="+mn-ea"/>
                </a:rPr>
                <a:t>a</a:t>
              </a:r>
              <a:endParaRPr lang="en-US" altLang="zh-CN" sz="3200" b="1">
                <a:solidFill>
                  <a:srgbClr val="020001"/>
                </a:solidFill>
                <a:latin typeface="+mn-ea"/>
              </a:endParaRPr>
            </a:p>
          </p:txBody>
        </p:sp>
      </p:grpSp>
      <p:sp>
        <p:nvSpPr>
          <p:cNvPr id="31" name="Text Box 26"/>
          <p:cNvSpPr txBox="1">
            <a:spLocks noChangeArrowheads="1"/>
          </p:cNvSpPr>
          <p:nvPr/>
        </p:nvSpPr>
        <p:spPr bwMode="auto">
          <a:xfrm>
            <a:off x="5707857" y="2299783"/>
            <a:ext cx="26670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a .AcBe</a:t>
            </a:r>
            <a:endParaRPr lang="zh-CN" altLang="en-US" sz="3200" b="1">
              <a:solidFill>
                <a:srgbClr val="020001"/>
              </a:solidFill>
              <a:latin typeface="+mn-ea"/>
              <a:sym typeface="Symbol" panose="05050102010706020507" pitchFamily="18" charset="2"/>
            </a:endParaRPr>
          </a:p>
        </p:txBody>
      </p:sp>
      <p:grpSp>
        <p:nvGrpSpPr>
          <p:cNvPr id="32" name="Group 27"/>
          <p:cNvGrpSpPr/>
          <p:nvPr/>
        </p:nvGrpSpPr>
        <p:grpSpPr bwMode="auto">
          <a:xfrm>
            <a:off x="8403432" y="2175958"/>
            <a:ext cx="533400" cy="583861"/>
            <a:chOff x="3696" y="1488"/>
            <a:chExt cx="576" cy="264"/>
          </a:xfrm>
        </p:grpSpPr>
        <p:sp>
          <p:nvSpPr>
            <p:cNvPr id="33" name="Line 28"/>
            <p:cNvSpPr>
              <a:spLocks noChangeShapeType="1"/>
            </p:cNvSpPr>
            <p:nvPr/>
          </p:nvSpPr>
          <p:spPr bwMode="auto">
            <a:xfrm>
              <a:off x="3696" y="1695"/>
              <a:ext cx="57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34" name="Text Box 29"/>
            <p:cNvSpPr txBox="1">
              <a:spLocks noChangeArrowheads="1"/>
            </p:cNvSpPr>
            <p:nvPr/>
          </p:nvSpPr>
          <p:spPr bwMode="auto">
            <a:xfrm>
              <a:off x="3840" y="1488"/>
              <a:ext cx="2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rPr>
                <a:t>A</a:t>
              </a:r>
              <a:endParaRPr lang="en-US" altLang="zh-CN" sz="3200" b="1">
                <a:solidFill>
                  <a:srgbClr val="020001"/>
                </a:solidFill>
                <a:latin typeface="+mn-ea"/>
              </a:endParaRPr>
            </a:p>
          </p:txBody>
        </p:sp>
      </p:grpSp>
      <p:sp>
        <p:nvSpPr>
          <p:cNvPr id="35" name="Text Box 30"/>
          <p:cNvSpPr txBox="1">
            <a:spLocks noChangeArrowheads="1"/>
          </p:cNvSpPr>
          <p:nvPr/>
        </p:nvSpPr>
        <p:spPr bwMode="auto">
          <a:xfrm>
            <a:off x="9165432" y="2152146"/>
            <a:ext cx="26670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aA .cBe</a:t>
            </a:r>
            <a:endParaRPr lang="en-US" altLang="zh-CN" sz="3200" b="1">
              <a:solidFill>
                <a:srgbClr val="020001"/>
              </a:solidFill>
              <a:latin typeface="+mn-ea"/>
              <a:sym typeface="Symbol" panose="05050102010706020507" pitchFamily="18" charset="2"/>
            </a:endParaRPr>
          </a:p>
        </p:txBody>
      </p:sp>
      <p:grpSp>
        <p:nvGrpSpPr>
          <p:cNvPr id="36" name="Group 31"/>
          <p:cNvGrpSpPr/>
          <p:nvPr/>
        </p:nvGrpSpPr>
        <p:grpSpPr bwMode="auto">
          <a:xfrm>
            <a:off x="4945857" y="2888746"/>
            <a:ext cx="957256" cy="666699"/>
            <a:chOff x="2496" y="1824"/>
            <a:chExt cx="720" cy="386"/>
          </a:xfrm>
        </p:grpSpPr>
        <p:sp>
          <p:nvSpPr>
            <p:cNvPr id="37" name="Text Box 32"/>
            <p:cNvSpPr txBox="1">
              <a:spLocks noChangeArrowheads="1"/>
            </p:cNvSpPr>
            <p:nvPr/>
          </p:nvSpPr>
          <p:spPr bwMode="auto">
            <a:xfrm>
              <a:off x="2832" y="1872"/>
              <a:ext cx="19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t>
              </a:r>
              <a:endParaRPr lang="zh-CN" altLang="en-US" sz="3200" b="1">
                <a:solidFill>
                  <a:srgbClr val="020001"/>
                </a:solidFill>
                <a:latin typeface="+mn-ea"/>
                <a:sym typeface="Symbol" panose="05050102010706020507" pitchFamily="18" charset="2"/>
              </a:endParaRPr>
            </a:p>
          </p:txBody>
        </p:sp>
        <p:sp>
          <p:nvSpPr>
            <p:cNvPr id="38" name="Line 33"/>
            <p:cNvSpPr>
              <a:spLocks noChangeShapeType="1"/>
            </p:cNvSpPr>
            <p:nvPr/>
          </p:nvSpPr>
          <p:spPr bwMode="auto">
            <a:xfrm flipH="1">
              <a:off x="2496" y="1824"/>
              <a:ext cx="720"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sp>
        <p:nvSpPr>
          <p:cNvPr id="39" name="Text Box 34"/>
          <p:cNvSpPr txBox="1">
            <a:spLocks noChangeArrowheads="1"/>
          </p:cNvSpPr>
          <p:nvPr/>
        </p:nvSpPr>
        <p:spPr bwMode="auto">
          <a:xfrm>
            <a:off x="4031457" y="3480883"/>
            <a:ext cx="16002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A.b</a:t>
            </a:r>
            <a:endParaRPr lang="en-US" altLang="zh-CN" sz="3200" b="1">
              <a:solidFill>
                <a:srgbClr val="020001"/>
              </a:solidFill>
              <a:latin typeface="+mn-ea"/>
              <a:sym typeface="Symbol" panose="05050102010706020507" pitchFamily="18" charset="2"/>
            </a:endParaRPr>
          </a:p>
        </p:txBody>
      </p:sp>
      <p:sp>
        <p:nvSpPr>
          <p:cNvPr id="40" name="Text Box 35"/>
          <p:cNvSpPr txBox="1">
            <a:spLocks noChangeArrowheads="1"/>
          </p:cNvSpPr>
          <p:nvPr/>
        </p:nvSpPr>
        <p:spPr bwMode="auto">
          <a:xfrm>
            <a:off x="6131719" y="3480883"/>
            <a:ext cx="18288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A.Ab</a:t>
            </a:r>
            <a:endParaRPr lang="en-US" altLang="zh-CN" sz="3200" b="1">
              <a:solidFill>
                <a:srgbClr val="020001"/>
              </a:solidFill>
              <a:latin typeface="+mn-ea"/>
              <a:sym typeface="Symbol" panose="05050102010706020507" pitchFamily="18" charset="2"/>
            </a:endParaRPr>
          </a:p>
        </p:txBody>
      </p:sp>
      <p:grpSp>
        <p:nvGrpSpPr>
          <p:cNvPr id="41" name="Group 36"/>
          <p:cNvGrpSpPr/>
          <p:nvPr/>
        </p:nvGrpSpPr>
        <p:grpSpPr bwMode="auto">
          <a:xfrm>
            <a:off x="6741319" y="2871283"/>
            <a:ext cx="457200" cy="658790"/>
            <a:chOff x="3408" y="1824"/>
            <a:chExt cx="288" cy="418"/>
          </a:xfrm>
        </p:grpSpPr>
        <p:sp>
          <p:nvSpPr>
            <p:cNvPr id="42" name="Line 37"/>
            <p:cNvSpPr>
              <a:spLocks noChangeShapeType="1"/>
            </p:cNvSpPr>
            <p:nvPr/>
          </p:nvSpPr>
          <p:spPr bwMode="auto">
            <a:xfrm>
              <a:off x="3408" y="1824"/>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43" name="Text Box 38"/>
            <p:cNvSpPr txBox="1">
              <a:spLocks noChangeArrowheads="1"/>
            </p:cNvSpPr>
            <p:nvPr/>
          </p:nvSpPr>
          <p:spPr bwMode="auto">
            <a:xfrm>
              <a:off x="3504" y="1872"/>
              <a:ext cx="19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t>
              </a:r>
              <a:endParaRPr lang="zh-CN" altLang="en-US" sz="3200" b="1">
                <a:solidFill>
                  <a:srgbClr val="020001"/>
                </a:solidFill>
                <a:latin typeface="+mn-ea"/>
                <a:sym typeface="Symbol" panose="05050102010706020507" pitchFamily="18" charset="2"/>
              </a:endParaRPr>
            </a:p>
          </p:txBody>
        </p:sp>
      </p:grpSp>
      <p:sp>
        <p:nvSpPr>
          <p:cNvPr id="44" name="Text Box 39"/>
          <p:cNvSpPr txBox="1">
            <a:spLocks noChangeArrowheads="1"/>
          </p:cNvSpPr>
          <p:nvPr/>
        </p:nvSpPr>
        <p:spPr bwMode="auto">
          <a:xfrm>
            <a:off x="3050382" y="4590546"/>
            <a:ext cx="1600200" cy="583565"/>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070C0"/>
                </a:solidFill>
                <a:latin typeface="+mn-ea"/>
                <a:sym typeface="Symbol" panose="05050102010706020507" pitchFamily="18" charset="2"/>
              </a:rPr>
              <a:t>Ab .</a:t>
            </a:r>
            <a:endParaRPr lang="en-US" altLang="zh-CN" sz="3200" b="1">
              <a:solidFill>
                <a:srgbClr val="0070C0"/>
              </a:solidFill>
              <a:latin typeface="+mn-ea"/>
              <a:sym typeface="Symbol" panose="05050102010706020507" pitchFamily="18" charset="2"/>
            </a:endParaRPr>
          </a:p>
        </p:txBody>
      </p:sp>
      <p:sp>
        <p:nvSpPr>
          <p:cNvPr id="45" name="Text Box 40"/>
          <p:cNvSpPr txBox="1">
            <a:spLocks noChangeArrowheads="1"/>
          </p:cNvSpPr>
          <p:nvPr/>
        </p:nvSpPr>
        <p:spPr bwMode="auto">
          <a:xfrm>
            <a:off x="7879557" y="5728783"/>
            <a:ext cx="1419225" cy="583565"/>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070C0"/>
                </a:solidFill>
                <a:latin typeface="+mn-ea"/>
                <a:sym typeface="Symbol" panose="05050102010706020507" pitchFamily="18" charset="2"/>
              </a:rPr>
              <a:t>Bd .</a:t>
            </a:r>
            <a:endParaRPr lang="en-US" altLang="zh-CN" sz="3200" b="1">
              <a:solidFill>
                <a:srgbClr val="0070C0"/>
              </a:solidFill>
              <a:latin typeface="+mn-ea"/>
              <a:sym typeface="Symbol" panose="05050102010706020507" pitchFamily="18" charset="2"/>
            </a:endParaRPr>
          </a:p>
        </p:txBody>
      </p:sp>
      <p:sp>
        <p:nvSpPr>
          <p:cNvPr id="46" name="Text Box 41"/>
          <p:cNvSpPr txBox="1">
            <a:spLocks noChangeArrowheads="1"/>
          </p:cNvSpPr>
          <p:nvPr/>
        </p:nvSpPr>
        <p:spPr bwMode="auto">
          <a:xfrm>
            <a:off x="9517857" y="5728783"/>
            <a:ext cx="2228850" cy="583565"/>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070C0"/>
                </a:solidFill>
                <a:latin typeface="+mn-ea"/>
              </a:rPr>
              <a:t>S</a:t>
            </a:r>
            <a:r>
              <a:rPr lang="en-US" altLang="zh-CN" sz="3200" b="1">
                <a:solidFill>
                  <a:srgbClr val="0070C0"/>
                </a:solidFill>
                <a:latin typeface="+mn-ea"/>
                <a:sym typeface="Symbol" panose="05050102010706020507" pitchFamily="18" charset="2"/>
              </a:rPr>
              <a:t>aAcBe .</a:t>
            </a:r>
            <a:endParaRPr lang="en-US" altLang="zh-CN" sz="3200" b="1">
              <a:solidFill>
                <a:srgbClr val="0070C0"/>
              </a:solidFill>
              <a:latin typeface="+mn-ea"/>
              <a:sym typeface="Symbol" panose="05050102010706020507" pitchFamily="18" charset="2"/>
            </a:endParaRPr>
          </a:p>
        </p:txBody>
      </p:sp>
      <p:grpSp>
        <p:nvGrpSpPr>
          <p:cNvPr id="47" name="Group 42"/>
          <p:cNvGrpSpPr/>
          <p:nvPr/>
        </p:nvGrpSpPr>
        <p:grpSpPr bwMode="auto">
          <a:xfrm>
            <a:off x="3583782" y="4057146"/>
            <a:ext cx="914400" cy="686905"/>
            <a:chOff x="1776" y="2400"/>
            <a:chExt cx="672" cy="321"/>
          </a:xfrm>
        </p:grpSpPr>
        <p:sp>
          <p:nvSpPr>
            <p:cNvPr id="48" name="Line 43"/>
            <p:cNvSpPr>
              <a:spLocks noChangeShapeType="1"/>
            </p:cNvSpPr>
            <p:nvPr/>
          </p:nvSpPr>
          <p:spPr bwMode="auto">
            <a:xfrm flipH="1">
              <a:off x="1776" y="2400"/>
              <a:ext cx="672"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49" name="Text Box 44"/>
            <p:cNvSpPr txBox="1">
              <a:spLocks noChangeArrowheads="1"/>
            </p:cNvSpPr>
            <p:nvPr/>
          </p:nvSpPr>
          <p:spPr bwMode="auto">
            <a:xfrm>
              <a:off x="2112" y="2448"/>
              <a:ext cx="27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20001"/>
                  </a:solidFill>
                  <a:latin typeface="+mn-ea"/>
                </a:rPr>
                <a:t>b</a:t>
              </a:r>
              <a:endParaRPr lang="en-US" altLang="zh-CN" sz="3200" b="1">
                <a:solidFill>
                  <a:srgbClr val="020001"/>
                </a:solidFill>
                <a:latin typeface="+mn-ea"/>
              </a:endParaRPr>
            </a:p>
          </p:txBody>
        </p:sp>
      </p:grpSp>
      <p:grpSp>
        <p:nvGrpSpPr>
          <p:cNvPr id="50" name="Group 45"/>
          <p:cNvGrpSpPr/>
          <p:nvPr/>
        </p:nvGrpSpPr>
        <p:grpSpPr bwMode="auto">
          <a:xfrm>
            <a:off x="8260557" y="5195383"/>
            <a:ext cx="457200" cy="584201"/>
            <a:chOff x="3696" y="3024"/>
            <a:chExt cx="288" cy="368"/>
          </a:xfrm>
        </p:grpSpPr>
        <p:sp>
          <p:nvSpPr>
            <p:cNvPr id="51" name="Line 46"/>
            <p:cNvSpPr>
              <a:spLocks noChangeShapeType="1"/>
            </p:cNvSpPr>
            <p:nvPr/>
          </p:nvSpPr>
          <p:spPr bwMode="auto">
            <a:xfrm>
              <a:off x="3984" y="3072"/>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52" name="Text Box 47"/>
            <p:cNvSpPr txBox="1">
              <a:spLocks noChangeArrowheads="1"/>
            </p:cNvSpPr>
            <p:nvPr/>
          </p:nvSpPr>
          <p:spPr bwMode="auto">
            <a:xfrm>
              <a:off x="3696" y="3024"/>
              <a:ext cx="27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20001"/>
                  </a:solidFill>
                  <a:latin typeface="+mn-ea"/>
                </a:rPr>
                <a:t>d</a:t>
              </a:r>
              <a:endParaRPr lang="en-US" altLang="zh-CN" sz="3200" b="1">
                <a:solidFill>
                  <a:srgbClr val="020001"/>
                </a:solidFill>
                <a:latin typeface="+mn-ea"/>
              </a:endParaRPr>
            </a:p>
          </p:txBody>
        </p:sp>
      </p:grpSp>
      <p:grpSp>
        <p:nvGrpSpPr>
          <p:cNvPr id="53" name="Group 48"/>
          <p:cNvGrpSpPr/>
          <p:nvPr/>
        </p:nvGrpSpPr>
        <p:grpSpPr bwMode="auto">
          <a:xfrm>
            <a:off x="9975057" y="5119183"/>
            <a:ext cx="457200" cy="584201"/>
            <a:chOff x="4704" y="2976"/>
            <a:chExt cx="288" cy="368"/>
          </a:xfrm>
        </p:grpSpPr>
        <p:sp>
          <p:nvSpPr>
            <p:cNvPr id="54" name="Line 49"/>
            <p:cNvSpPr>
              <a:spLocks noChangeShapeType="1"/>
            </p:cNvSpPr>
            <p:nvPr/>
          </p:nvSpPr>
          <p:spPr bwMode="auto">
            <a:xfrm>
              <a:off x="4992" y="3024"/>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55" name="Text Box 50"/>
            <p:cNvSpPr txBox="1">
              <a:spLocks noChangeArrowheads="1"/>
            </p:cNvSpPr>
            <p:nvPr/>
          </p:nvSpPr>
          <p:spPr bwMode="auto">
            <a:xfrm>
              <a:off x="4704" y="2976"/>
              <a:ext cx="27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solidFill>
                    <a:srgbClr val="020001"/>
                  </a:solidFill>
                  <a:latin typeface="+mn-ea"/>
                </a:rPr>
                <a:t>e</a:t>
              </a:r>
              <a:endParaRPr lang="en-US" altLang="zh-CN" sz="3200" b="1">
                <a:solidFill>
                  <a:srgbClr val="020001"/>
                </a:solidFill>
                <a:latin typeface="+mn-ea"/>
              </a:endParaRPr>
            </a:p>
          </p:txBody>
        </p:sp>
      </p:grpSp>
      <p:grpSp>
        <p:nvGrpSpPr>
          <p:cNvPr id="56" name="Group 51"/>
          <p:cNvGrpSpPr/>
          <p:nvPr/>
        </p:nvGrpSpPr>
        <p:grpSpPr bwMode="auto">
          <a:xfrm>
            <a:off x="5903119" y="4052383"/>
            <a:ext cx="685800" cy="660401"/>
            <a:chOff x="3072" y="2448"/>
            <a:chExt cx="288" cy="416"/>
          </a:xfrm>
        </p:grpSpPr>
        <p:sp>
          <p:nvSpPr>
            <p:cNvPr id="57" name="Text Box 52"/>
            <p:cNvSpPr txBox="1">
              <a:spLocks noChangeArrowheads="1"/>
            </p:cNvSpPr>
            <p:nvPr/>
          </p:nvSpPr>
          <p:spPr bwMode="auto">
            <a:xfrm>
              <a:off x="3072" y="249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rPr>
                <a:t>A</a:t>
              </a:r>
              <a:endParaRPr lang="en-US" altLang="zh-CN" sz="3200" b="1">
                <a:solidFill>
                  <a:srgbClr val="020001"/>
                </a:solidFill>
                <a:latin typeface="+mn-ea"/>
              </a:endParaRPr>
            </a:p>
          </p:txBody>
        </p:sp>
        <p:sp>
          <p:nvSpPr>
            <p:cNvPr id="58" name="Line 53"/>
            <p:cNvSpPr>
              <a:spLocks noChangeShapeType="1"/>
            </p:cNvSpPr>
            <p:nvPr/>
          </p:nvSpPr>
          <p:spPr bwMode="auto">
            <a:xfrm>
              <a:off x="3312" y="2448"/>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sp>
        <p:nvSpPr>
          <p:cNvPr id="59" name="Text Box 54"/>
          <p:cNvSpPr txBox="1">
            <a:spLocks noChangeArrowheads="1"/>
          </p:cNvSpPr>
          <p:nvPr/>
        </p:nvSpPr>
        <p:spPr bwMode="auto">
          <a:xfrm>
            <a:off x="5707857" y="4738183"/>
            <a:ext cx="17526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AA.b</a:t>
            </a:r>
            <a:endParaRPr lang="en-US" altLang="zh-CN" sz="3200" b="1">
              <a:solidFill>
                <a:srgbClr val="020001"/>
              </a:solidFill>
              <a:latin typeface="+mn-ea"/>
              <a:sym typeface="Symbol" panose="05050102010706020507" pitchFamily="18" charset="2"/>
            </a:endParaRPr>
          </a:p>
        </p:txBody>
      </p:sp>
      <p:grpSp>
        <p:nvGrpSpPr>
          <p:cNvPr id="60" name="Group 55"/>
          <p:cNvGrpSpPr/>
          <p:nvPr/>
        </p:nvGrpSpPr>
        <p:grpSpPr bwMode="auto">
          <a:xfrm>
            <a:off x="6393657" y="5347783"/>
            <a:ext cx="457200" cy="584201"/>
            <a:chOff x="3312" y="3072"/>
            <a:chExt cx="288" cy="368"/>
          </a:xfrm>
        </p:grpSpPr>
        <p:sp>
          <p:nvSpPr>
            <p:cNvPr id="61" name="Line 56"/>
            <p:cNvSpPr>
              <a:spLocks noChangeShapeType="1"/>
            </p:cNvSpPr>
            <p:nvPr/>
          </p:nvSpPr>
          <p:spPr bwMode="auto">
            <a:xfrm>
              <a:off x="3312" y="3072"/>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62" name="Text Box 57"/>
            <p:cNvSpPr txBox="1">
              <a:spLocks noChangeArrowheads="1"/>
            </p:cNvSpPr>
            <p:nvPr/>
          </p:nvSpPr>
          <p:spPr bwMode="auto">
            <a:xfrm>
              <a:off x="3360" y="3072"/>
              <a:ext cx="24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b</a:t>
              </a:r>
              <a:endParaRPr lang="zh-CN" altLang="en-US" sz="3200" b="1">
                <a:solidFill>
                  <a:srgbClr val="020001"/>
                </a:solidFill>
                <a:latin typeface="+mn-ea"/>
                <a:sym typeface="Symbol" panose="05050102010706020507" pitchFamily="18" charset="2"/>
              </a:endParaRPr>
            </a:p>
          </p:txBody>
        </p:sp>
      </p:grpSp>
      <p:sp>
        <p:nvSpPr>
          <p:cNvPr id="63" name="Text Box 58"/>
          <p:cNvSpPr txBox="1">
            <a:spLocks noChangeArrowheads="1"/>
          </p:cNvSpPr>
          <p:nvPr/>
        </p:nvSpPr>
        <p:spPr bwMode="auto">
          <a:xfrm>
            <a:off x="5707857" y="5804983"/>
            <a:ext cx="1752600" cy="583565"/>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pPr>
              <a:spcBef>
                <a:spcPct val="50000"/>
              </a:spcBef>
            </a:pPr>
            <a:r>
              <a:rPr lang="en-US" altLang="zh-CN" sz="3200" b="1" dirty="0" err="1">
                <a:solidFill>
                  <a:srgbClr val="0070C0"/>
                </a:solidFill>
                <a:latin typeface="+mn-ea"/>
                <a:sym typeface="Symbol" panose="05050102010706020507" pitchFamily="18" charset="2"/>
              </a:rPr>
              <a:t>AAb</a:t>
            </a:r>
            <a:r>
              <a:rPr lang="en-US" altLang="zh-CN" sz="3200" b="1" dirty="0">
                <a:solidFill>
                  <a:srgbClr val="0070C0"/>
                </a:solidFill>
                <a:latin typeface="+mn-ea"/>
                <a:sym typeface="Symbol" panose="05050102010706020507" pitchFamily="18" charset="2"/>
              </a:rPr>
              <a:t> .</a:t>
            </a:r>
            <a:endParaRPr lang="en-US" altLang="zh-CN" sz="3200" b="1" dirty="0">
              <a:solidFill>
                <a:srgbClr val="0070C0"/>
              </a:solidFill>
              <a:latin typeface="+mn-ea"/>
              <a:sym typeface="Symbol" panose="05050102010706020507" pitchFamily="18" charset="2"/>
            </a:endParaRPr>
          </a:p>
        </p:txBody>
      </p:sp>
      <p:grpSp>
        <p:nvGrpSpPr>
          <p:cNvPr id="64" name="Group 59"/>
          <p:cNvGrpSpPr/>
          <p:nvPr/>
        </p:nvGrpSpPr>
        <p:grpSpPr bwMode="auto">
          <a:xfrm>
            <a:off x="5598319" y="3633283"/>
            <a:ext cx="533400" cy="460375"/>
            <a:chOff x="2688" y="2304"/>
            <a:chExt cx="336" cy="290"/>
          </a:xfrm>
        </p:grpSpPr>
        <p:sp>
          <p:nvSpPr>
            <p:cNvPr id="65" name="Line 60"/>
            <p:cNvSpPr>
              <a:spLocks noChangeShapeType="1"/>
            </p:cNvSpPr>
            <p:nvPr/>
          </p:nvSpPr>
          <p:spPr bwMode="auto">
            <a:xfrm flipH="1">
              <a:off x="2688" y="2352"/>
              <a:ext cx="33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66" name="Text Box 61"/>
            <p:cNvSpPr txBox="1">
              <a:spLocks noChangeArrowheads="1"/>
            </p:cNvSpPr>
            <p:nvPr/>
          </p:nvSpPr>
          <p:spPr bwMode="auto">
            <a:xfrm>
              <a:off x="2784" y="2304"/>
              <a:ext cx="1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solidFill>
                    <a:srgbClr val="020001"/>
                  </a:solidFill>
                  <a:latin typeface="+mn-ea"/>
                  <a:sym typeface="Symbol" panose="05050102010706020507" pitchFamily="18" charset="2"/>
                </a:rPr>
                <a:t></a:t>
              </a:r>
              <a:endParaRPr lang="zh-CN" altLang="en-US" sz="2400" b="1">
                <a:solidFill>
                  <a:srgbClr val="020001"/>
                </a:solidFill>
                <a:latin typeface="+mn-ea"/>
                <a:sym typeface="Symbol" panose="05050102010706020507" pitchFamily="18" charset="2"/>
              </a:endParaRPr>
            </a:p>
          </p:txBody>
        </p:sp>
      </p:grpSp>
      <p:grpSp>
        <p:nvGrpSpPr>
          <p:cNvPr id="67" name="Group 62"/>
          <p:cNvGrpSpPr/>
          <p:nvPr/>
        </p:nvGrpSpPr>
        <p:grpSpPr bwMode="auto">
          <a:xfrm>
            <a:off x="6573047" y="3833306"/>
            <a:ext cx="1473201" cy="698499"/>
            <a:chOff x="3829" y="2437"/>
            <a:chExt cx="928" cy="440"/>
          </a:xfrm>
        </p:grpSpPr>
        <p:cxnSp>
          <p:nvCxnSpPr>
            <p:cNvPr id="68" name="AutoShape 63"/>
            <p:cNvCxnSpPr>
              <a:cxnSpLocks noChangeShapeType="1"/>
              <a:stCxn id="40" idx="2"/>
              <a:endCxn id="40" idx="3"/>
            </p:cNvCxnSpPr>
            <p:nvPr/>
          </p:nvCxnSpPr>
          <p:spPr bwMode="auto">
            <a:xfrm rot="5400000" flipH="1" flipV="1">
              <a:off x="4377" y="2241"/>
              <a:ext cx="184" cy="576"/>
            </a:xfrm>
            <a:prstGeom prst="curvedConnector4">
              <a:avLst>
                <a:gd name="adj1" fmla="val -81655"/>
                <a:gd name="adj2" fmla="val 125989"/>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69" name="Text Box 64"/>
            <p:cNvSpPr txBox="1">
              <a:spLocks noChangeArrowheads="1"/>
            </p:cNvSpPr>
            <p:nvPr/>
          </p:nvSpPr>
          <p:spPr bwMode="auto">
            <a:xfrm>
              <a:off x="3829" y="2509"/>
              <a:ext cx="19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a:solidFill>
                    <a:srgbClr val="020001"/>
                  </a:solidFill>
                  <a:latin typeface="+mn-ea"/>
                  <a:sym typeface="Symbol" panose="05050102010706020507" pitchFamily="18" charset="2"/>
                </a:rPr>
                <a:t></a:t>
              </a:r>
              <a:endParaRPr lang="zh-CN" altLang="en-US" sz="3200" b="1">
                <a:solidFill>
                  <a:srgbClr val="020001"/>
                </a:solidFill>
                <a:latin typeface="+mn-ea"/>
                <a:sym typeface="Symbol" panose="05050102010706020507" pitchFamily="18" charset="2"/>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415925" y="1174115"/>
            <a:ext cx="2233930" cy="3784600"/>
          </a:xfrm>
          <a:prstGeom prst="rect">
            <a:avLst/>
          </a:prstGeom>
          <a:noFill/>
        </p:spPr>
        <p:txBody>
          <a:bodyPr wrap="square" rtlCol="0" anchor="t">
            <a:spAutoFit/>
          </a:bodyPr>
          <a:p>
            <a:pPr indent="0" fontAlgn="auto">
              <a:lnSpc>
                <a:spcPct val="125000"/>
              </a:lnSpc>
              <a:spcBef>
                <a:spcPts val="0"/>
              </a:spcBef>
            </a:pPr>
            <a:r>
              <a:rPr lang="zh-CN" altLang="en-US" sz="3200" dirty="0">
                <a:solidFill>
                  <a:srgbClr val="020001"/>
                </a:solidFill>
                <a:sym typeface="+mn-ea"/>
              </a:rPr>
              <a:t>对拓广文法</a:t>
            </a:r>
            <a:endParaRPr lang="en-US" altLang="zh-CN" sz="3200" dirty="0">
              <a:solidFill>
                <a:srgbClr val="020001"/>
              </a:solidFill>
              <a:sym typeface="+mn-ea"/>
            </a:endParaRPr>
          </a:p>
          <a:p>
            <a:pPr indent="0" fontAlgn="auto">
              <a:lnSpc>
                <a:spcPct val="125000"/>
              </a:lnSpc>
              <a:spcBef>
                <a:spcPts val="0"/>
              </a:spcBef>
            </a:pPr>
            <a:r>
              <a:rPr lang="en-US" altLang="zh-CN" sz="3200" dirty="0">
                <a:solidFill>
                  <a:srgbClr val="020001"/>
                </a:solidFill>
                <a:sym typeface="+mn-ea"/>
              </a:rPr>
              <a:t>0) S’</a:t>
            </a:r>
            <a:r>
              <a:rPr lang="en-US" altLang="zh-CN" sz="3200" dirty="0">
                <a:solidFill>
                  <a:srgbClr val="020001"/>
                </a:solidFill>
                <a:sym typeface="Symbol" panose="05050102010706020507" pitchFamily="18" charset="2"/>
              </a:rPr>
              <a:t>S                   </a:t>
            </a:r>
            <a:br>
              <a:rPr lang="en-US" altLang="zh-CN" sz="3200" dirty="0">
                <a:solidFill>
                  <a:srgbClr val="020001"/>
                </a:solidFill>
                <a:sym typeface="Symbol" panose="05050102010706020507" pitchFamily="18" charset="2"/>
              </a:rPr>
            </a:br>
            <a:r>
              <a:rPr lang="en-US" altLang="zh-CN" sz="3200" dirty="0">
                <a:solidFill>
                  <a:srgbClr val="020001"/>
                </a:solidFill>
                <a:sym typeface="Symbol" panose="05050102010706020507" pitchFamily="18" charset="2"/>
              </a:rPr>
              <a:t>1) </a:t>
            </a:r>
            <a:r>
              <a:rPr lang="en-US" altLang="zh-CN" sz="3200" dirty="0" err="1">
                <a:solidFill>
                  <a:srgbClr val="020001"/>
                </a:solidFill>
                <a:sym typeface="+mn-ea"/>
              </a:rPr>
              <a:t>S</a:t>
            </a:r>
            <a:r>
              <a:rPr lang="en-US" altLang="zh-CN" sz="3200" dirty="0" err="1">
                <a:solidFill>
                  <a:srgbClr val="020001"/>
                </a:solidFill>
                <a:sym typeface="Symbol" panose="05050102010706020507" pitchFamily="18" charset="2"/>
              </a:rPr>
              <a:t>aAcBe</a:t>
            </a:r>
            <a:endParaRPr lang="en-US" altLang="zh-CN" sz="3200" dirty="0">
              <a:solidFill>
                <a:srgbClr val="020001"/>
              </a:solidFill>
              <a:sym typeface="Symbol" panose="05050102010706020507" pitchFamily="18" charset="2"/>
            </a:endParaRPr>
          </a:p>
          <a:p>
            <a:pPr indent="0" fontAlgn="auto">
              <a:lnSpc>
                <a:spcPct val="125000"/>
              </a:lnSpc>
              <a:spcBef>
                <a:spcPts val="0"/>
              </a:spcBef>
            </a:pPr>
            <a:r>
              <a:rPr lang="en-US" altLang="zh-CN" sz="3200" dirty="0">
                <a:solidFill>
                  <a:srgbClr val="020001"/>
                </a:solidFill>
                <a:sym typeface="Symbol" panose="05050102010706020507" pitchFamily="18" charset="2"/>
              </a:rPr>
              <a:t>2) </a:t>
            </a:r>
            <a:r>
              <a:rPr lang="en-US" altLang="zh-CN" sz="3200" dirty="0" err="1">
                <a:solidFill>
                  <a:srgbClr val="020001"/>
                </a:solidFill>
                <a:sym typeface="Symbol" panose="05050102010706020507" pitchFamily="18" charset="2"/>
              </a:rPr>
              <a:t>Ab</a:t>
            </a:r>
            <a:r>
              <a:rPr lang="en-US" altLang="zh-CN" sz="3200" dirty="0">
                <a:solidFill>
                  <a:srgbClr val="020001"/>
                </a:solidFill>
                <a:sym typeface="Symbol" panose="05050102010706020507" pitchFamily="18" charset="2"/>
              </a:rPr>
              <a:t> </a:t>
            </a:r>
            <a:endParaRPr lang="en-US" altLang="zh-CN" sz="3200" dirty="0">
              <a:solidFill>
                <a:srgbClr val="020001"/>
              </a:solidFill>
              <a:sym typeface="Symbol" panose="05050102010706020507" pitchFamily="18" charset="2"/>
            </a:endParaRPr>
          </a:p>
          <a:p>
            <a:pPr indent="0" fontAlgn="auto">
              <a:lnSpc>
                <a:spcPct val="125000"/>
              </a:lnSpc>
              <a:spcBef>
                <a:spcPts val="0"/>
              </a:spcBef>
            </a:pPr>
            <a:r>
              <a:rPr lang="en-US" altLang="zh-CN" sz="3200" dirty="0">
                <a:solidFill>
                  <a:srgbClr val="020001"/>
                </a:solidFill>
                <a:sym typeface="Symbol" panose="05050102010706020507" pitchFamily="18" charset="2"/>
              </a:rPr>
              <a:t>3) </a:t>
            </a:r>
            <a:r>
              <a:rPr lang="en-US" altLang="zh-CN" sz="3200" dirty="0" err="1">
                <a:solidFill>
                  <a:srgbClr val="020001"/>
                </a:solidFill>
                <a:sym typeface="Symbol" panose="05050102010706020507" pitchFamily="18" charset="2"/>
              </a:rPr>
              <a:t>AAb</a:t>
            </a:r>
            <a:r>
              <a:rPr lang="en-US" altLang="zh-CN" sz="3200" dirty="0">
                <a:solidFill>
                  <a:srgbClr val="020001"/>
                </a:solidFill>
                <a:sym typeface="Symbol" panose="05050102010706020507" pitchFamily="18" charset="2"/>
              </a:rPr>
              <a:t>                </a:t>
            </a:r>
            <a:endParaRPr lang="en-US" altLang="zh-CN" sz="3200" dirty="0">
              <a:solidFill>
                <a:srgbClr val="020001"/>
              </a:solidFill>
              <a:sym typeface="Symbol" panose="05050102010706020507" pitchFamily="18" charset="2"/>
            </a:endParaRPr>
          </a:p>
          <a:p>
            <a:pPr indent="0" fontAlgn="auto">
              <a:lnSpc>
                <a:spcPct val="125000"/>
              </a:lnSpc>
              <a:spcBef>
                <a:spcPts val="0"/>
              </a:spcBef>
            </a:pPr>
            <a:r>
              <a:rPr lang="en-US" altLang="zh-CN" sz="3200" dirty="0">
                <a:solidFill>
                  <a:srgbClr val="020001"/>
                </a:solidFill>
                <a:sym typeface="Symbol" panose="05050102010706020507" pitchFamily="18" charset="2"/>
              </a:rPr>
              <a:t>4) </a:t>
            </a:r>
            <a:r>
              <a:rPr lang="en-US" altLang="zh-CN" sz="3200" dirty="0" err="1">
                <a:solidFill>
                  <a:srgbClr val="020001"/>
                </a:solidFill>
                <a:sym typeface="Symbol" panose="05050102010706020507" pitchFamily="18" charset="2"/>
              </a:rPr>
              <a:t>Bd</a:t>
            </a:r>
            <a:r>
              <a:rPr lang="en-US" altLang="zh-CN" sz="3200" dirty="0">
                <a:solidFill>
                  <a:srgbClr val="020001"/>
                </a:solidFill>
                <a:sym typeface="Symbol" panose="05050102010706020507" pitchFamily="18" charset="2"/>
              </a:rPr>
              <a:t>  </a:t>
            </a:r>
            <a:endParaRPr lang="en-US" altLang="zh-CN" sz="3200" dirty="0">
              <a:solidFill>
                <a:srgbClr val="020001"/>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out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out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arn(outHorizontal)">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arn(outHorizont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arn(out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arn(outHorizontal)">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barn(outHorizontal)">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barn(outHorizontal)">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barn(outHorizontal)">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barn(outHorizontal)">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barn(outHorizontal)">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barn(outHorizontal)">
                                      <p:cBhvr>
                                        <p:cTn id="67" dur="5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barn(outHorizontal)">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nodeType="click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barn(outHorizontal)">
                                      <p:cBhvr>
                                        <p:cTn id="77" dur="500"/>
                                        <p:tgtEl>
                                          <p:spTgt spid="47"/>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barn(outHorizontal)">
                                      <p:cBhvr>
                                        <p:cTn id="82"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42" fill="hold" nodeType="click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barn(outHorizontal)">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42"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barn(outHorizontal)">
                                      <p:cBhvr>
                                        <p:cTn id="92" dur="500"/>
                                        <p:tgtEl>
                                          <p:spTgt spid="59"/>
                                        </p:tgtEl>
                                      </p:cBhvr>
                                    </p:animEffect>
                                  </p:childTnLst>
                                </p:cTn>
                              </p:par>
                            </p:childTnLst>
                          </p:cTn>
                        </p:par>
                      </p:childTnLst>
                    </p:cTn>
                  </p:par>
                  <p:par>
                    <p:cTn id="93" fill="hold">
                      <p:stCondLst>
                        <p:cond delay="indefinite"/>
                      </p:stCondLst>
                      <p:childTnLst>
                        <p:par>
                          <p:cTn id="94" fill="hold">
                            <p:stCondLst>
                              <p:cond delay="0"/>
                            </p:stCondLst>
                            <p:childTnLst>
                              <p:par>
                                <p:cTn id="95" presetID="16" presetClass="entr" presetSubtype="42" fill="hold" nodeType="clickEffect">
                                  <p:stCondLst>
                                    <p:cond delay="0"/>
                                  </p:stCondLst>
                                  <p:childTnLst>
                                    <p:set>
                                      <p:cBhvr>
                                        <p:cTn id="96" dur="1" fill="hold">
                                          <p:stCondLst>
                                            <p:cond delay="0"/>
                                          </p:stCondLst>
                                        </p:cTn>
                                        <p:tgtEl>
                                          <p:spTgt spid="67"/>
                                        </p:tgtEl>
                                        <p:attrNameLst>
                                          <p:attrName>style.visibility</p:attrName>
                                        </p:attrNameLst>
                                      </p:cBhvr>
                                      <p:to>
                                        <p:strVal val="visible"/>
                                      </p:to>
                                    </p:set>
                                    <p:animEffect transition="in" filter="barn(outHorizontal)">
                                      <p:cBhvr>
                                        <p:cTn id="97" dur="500"/>
                                        <p:tgtEl>
                                          <p:spTgt spid="67"/>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42" fill="hold" nodeType="clickEffect">
                                  <p:stCondLst>
                                    <p:cond delay="0"/>
                                  </p:stCondLst>
                                  <p:childTnLst>
                                    <p:set>
                                      <p:cBhvr>
                                        <p:cTn id="101" dur="1" fill="hold">
                                          <p:stCondLst>
                                            <p:cond delay="0"/>
                                          </p:stCondLst>
                                        </p:cTn>
                                        <p:tgtEl>
                                          <p:spTgt spid="64"/>
                                        </p:tgtEl>
                                        <p:attrNameLst>
                                          <p:attrName>style.visibility</p:attrName>
                                        </p:attrNameLst>
                                      </p:cBhvr>
                                      <p:to>
                                        <p:strVal val="visible"/>
                                      </p:to>
                                    </p:set>
                                    <p:animEffect transition="in" filter="barn(outHorizontal)">
                                      <p:cBhvr>
                                        <p:cTn id="102" dur="500"/>
                                        <p:tgtEl>
                                          <p:spTgt spid="64"/>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42"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arn(outHorizontal)">
                                      <p:cBhvr>
                                        <p:cTn id="107" dur="5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42" fill="hold" nodeType="clickEffect">
                                  <p:stCondLst>
                                    <p:cond delay="0"/>
                                  </p:stCondLst>
                                  <p:childTnLst>
                                    <p:set>
                                      <p:cBhvr>
                                        <p:cTn id="111" dur="1" fill="hold">
                                          <p:stCondLst>
                                            <p:cond delay="0"/>
                                          </p:stCondLst>
                                        </p:cTn>
                                        <p:tgtEl>
                                          <p:spTgt spid="11"/>
                                        </p:tgtEl>
                                        <p:attrNameLst>
                                          <p:attrName>style.visibility</p:attrName>
                                        </p:attrNameLst>
                                      </p:cBhvr>
                                      <p:to>
                                        <p:strVal val="visible"/>
                                      </p:to>
                                    </p:set>
                                    <p:animEffect transition="in" filter="barn(outHorizontal)">
                                      <p:cBhvr>
                                        <p:cTn id="112" dur="500"/>
                                        <p:tgtEl>
                                          <p:spTgt spid="11"/>
                                        </p:tgtEl>
                                      </p:cBhvr>
                                    </p:animEffect>
                                  </p:childTnLst>
                                </p:cTn>
                              </p:par>
                            </p:childTnLst>
                          </p:cTn>
                        </p:par>
                      </p:childTnLst>
                    </p:cTn>
                  </p:par>
                  <p:par>
                    <p:cTn id="113" fill="hold">
                      <p:stCondLst>
                        <p:cond delay="indefinite"/>
                      </p:stCondLst>
                      <p:childTnLst>
                        <p:par>
                          <p:cTn id="114" fill="hold">
                            <p:stCondLst>
                              <p:cond delay="0"/>
                            </p:stCondLst>
                            <p:childTnLst>
                              <p:par>
                                <p:cTn id="115" presetID="16" presetClass="entr" presetSubtype="42" fill="hold" grpId="0" nodeType="clickEffect">
                                  <p:stCondLst>
                                    <p:cond delay="0"/>
                                  </p:stCondLst>
                                  <p:childTnLst>
                                    <p:set>
                                      <p:cBhvr>
                                        <p:cTn id="116" dur="1" fill="hold">
                                          <p:stCondLst>
                                            <p:cond delay="0"/>
                                          </p:stCondLst>
                                        </p:cTn>
                                        <p:tgtEl>
                                          <p:spTgt spid="15"/>
                                        </p:tgtEl>
                                        <p:attrNameLst>
                                          <p:attrName>style.visibility</p:attrName>
                                        </p:attrNameLst>
                                      </p:cBhvr>
                                      <p:to>
                                        <p:strVal val="visible"/>
                                      </p:to>
                                    </p:set>
                                    <p:animEffect transition="in" filter="barn(outHorizontal)">
                                      <p:cBhvr>
                                        <p:cTn id="117" dur="500"/>
                                        <p:tgtEl>
                                          <p:spTgt spid="15"/>
                                        </p:tgtEl>
                                      </p:cBhvr>
                                    </p:animEffect>
                                  </p:childTnLst>
                                </p:cTn>
                              </p:par>
                            </p:childTnLst>
                          </p:cTn>
                        </p:par>
                      </p:childTnLst>
                    </p:cTn>
                  </p:par>
                  <p:par>
                    <p:cTn id="118" fill="hold">
                      <p:stCondLst>
                        <p:cond delay="indefinite"/>
                      </p:stCondLst>
                      <p:childTnLst>
                        <p:par>
                          <p:cTn id="119" fill="hold">
                            <p:stCondLst>
                              <p:cond delay="0"/>
                            </p:stCondLst>
                            <p:childTnLst>
                              <p:par>
                                <p:cTn id="120" presetID="16" presetClass="entr" presetSubtype="42" fill="hold" grpId="0" nodeType="clickEffect">
                                  <p:stCondLst>
                                    <p:cond delay="0"/>
                                  </p:stCondLst>
                                  <p:childTnLst>
                                    <p:set>
                                      <p:cBhvr>
                                        <p:cTn id="121" dur="1" fill="hold">
                                          <p:stCondLst>
                                            <p:cond delay="0"/>
                                          </p:stCondLst>
                                        </p:cTn>
                                        <p:tgtEl>
                                          <p:spTgt spid="19"/>
                                        </p:tgtEl>
                                        <p:attrNameLst>
                                          <p:attrName>style.visibility</p:attrName>
                                        </p:attrNameLst>
                                      </p:cBhvr>
                                      <p:to>
                                        <p:strVal val="visible"/>
                                      </p:to>
                                    </p:set>
                                    <p:animEffect transition="in" filter="barn(outHorizontal)">
                                      <p:cBhvr>
                                        <p:cTn id="122" dur="500"/>
                                        <p:tgtEl>
                                          <p:spTgt spid="19"/>
                                        </p:tgtEl>
                                      </p:cBhvr>
                                    </p:animEffect>
                                  </p:childTnLst>
                                </p:cTn>
                              </p:par>
                            </p:childTnLst>
                          </p:cTn>
                        </p:par>
                      </p:childTnLst>
                    </p:cTn>
                  </p:par>
                  <p:par>
                    <p:cTn id="123" fill="hold">
                      <p:stCondLst>
                        <p:cond delay="indefinite"/>
                      </p:stCondLst>
                      <p:childTnLst>
                        <p:par>
                          <p:cTn id="124" fill="hold">
                            <p:stCondLst>
                              <p:cond delay="0"/>
                            </p:stCondLst>
                            <p:childTnLst>
                              <p:par>
                                <p:cTn id="125" presetID="16" presetClass="entr" presetSubtype="42" fill="hold" nodeType="click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barn(outHorizontal)">
                                      <p:cBhvr>
                                        <p:cTn id="127" dur="500"/>
                                        <p:tgtEl>
                                          <p:spTgt spid="60"/>
                                        </p:tgtEl>
                                      </p:cBhvr>
                                    </p:animEffect>
                                  </p:childTnLst>
                                </p:cTn>
                              </p:par>
                            </p:childTnLst>
                          </p:cTn>
                        </p:par>
                      </p:childTnLst>
                    </p:cTn>
                  </p:par>
                  <p:par>
                    <p:cTn id="128" fill="hold">
                      <p:stCondLst>
                        <p:cond delay="indefinite"/>
                      </p:stCondLst>
                      <p:childTnLst>
                        <p:par>
                          <p:cTn id="129" fill="hold">
                            <p:stCondLst>
                              <p:cond delay="0"/>
                            </p:stCondLst>
                            <p:childTnLst>
                              <p:par>
                                <p:cTn id="130" presetID="16" presetClass="entr" presetSubtype="42" fill="hold" grpId="0" nodeType="clickEffect">
                                  <p:stCondLst>
                                    <p:cond delay="0"/>
                                  </p:stCondLst>
                                  <p:childTnLst>
                                    <p:set>
                                      <p:cBhvr>
                                        <p:cTn id="131" dur="1" fill="hold">
                                          <p:stCondLst>
                                            <p:cond delay="0"/>
                                          </p:stCondLst>
                                        </p:cTn>
                                        <p:tgtEl>
                                          <p:spTgt spid="63"/>
                                        </p:tgtEl>
                                        <p:attrNameLst>
                                          <p:attrName>style.visibility</p:attrName>
                                        </p:attrNameLst>
                                      </p:cBhvr>
                                      <p:to>
                                        <p:strVal val="visible"/>
                                      </p:to>
                                    </p:set>
                                    <p:animEffect transition="in" filter="barn(outHorizontal)">
                                      <p:cBhvr>
                                        <p:cTn id="132" dur="500"/>
                                        <p:tgtEl>
                                          <p:spTgt spid="63"/>
                                        </p:tgtEl>
                                      </p:cBhvr>
                                    </p:animEffect>
                                  </p:childTnLst>
                                </p:cTn>
                              </p:par>
                            </p:childTnLst>
                          </p:cTn>
                        </p:par>
                      </p:childTnLst>
                    </p:cTn>
                  </p:par>
                  <p:par>
                    <p:cTn id="133" fill="hold">
                      <p:stCondLst>
                        <p:cond delay="indefinite"/>
                      </p:stCondLst>
                      <p:childTnLst>
                        <p:par>
                          <p:cTn id="134" fill="hold">
                            <p:stCondLst>
                              <p:cond delay="0"/>
                            </p:stCondLst>
                            <p:childTnLst>
                              <p:par>
                                <p:cTn id="135" presetID="16" presetClass="entr" presetSubtype="42" fill="hold"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barn(outHorizontal)">
                                      <p:cBhvr>
                                        <p:cTn id="137" dur="500"/>
                                        <p:tgtEl>
                                          <p:spTgt spid="50"/>
                                        </p:tgtEl>
                                      </p:cBhvr>
                                    </p:animEffect>
                                  </p:childTnLst>
                                </p:cTn>
                              </p:par>
                            </p:childTnLst>
                          </p:cTn>
                        </p:par>
                      </p:childTnLst>
                    </p:cTn>
                  </p:par>
                  <p:par>
                    <p:cTn id="138" fill="hold">
                      <p:stCondLst>
                        <p:cond delay="indefinite"/>
                      </p:stCondLst>
                      <p:childTnLst>
                        <p:par>
                          <p:cTn id="139" fill="hold">
                            <p:stCondLst>
                              <p:cond delay="0"/>
                            </p:stCondLst>
                            <p:childTnLst>
                              <p:par>
                                <p:cTn id="140" presetID="16" presetClass="entr" presetSubtype="42" fill="hold" grpId="0" nodeType="click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barn(outHorizontal)">
                                      <p:cBhvr>
                                        <p:cTn id="142" dur="500"/>
                                        <p:tgtEl>
                                          <p:spTgt spid="45"/>
                                        </p:tgtEl>
                                      </p:cBhvr>
                                    </p:animEffect>
                                  </p:childTnLst>
                                </p:cTn>
                              </p:par>
                            </p:childTnLst>
                          </p:cTn>
                        </p:par>
                      </p:childTnLst>
                    </p:cTn>
                  </p:par>
                  <p:par>
                    <p:cTn id="143" fill="hold">
                      <p:stCondLst>
                        <p:cond delay="indefinite"/>
                      </p:stCondLst>
                      <p:childTnLst>
                        <p:par>
                          <p:cTn id="144" fill="hold">
                            <p:stCondLst>
                              <p:cond delay="0"/>
                            </p:stCondLst>
                            <p:childTnLst>
                              <p:par>
                                <p:cTn id="145" presetID="16" presetClass="entr" presetSubtype="42" fill="hold" nodeType="clickEffect">
                                  <p:stCondLst>
                                    <p:cond delay="0"/>
                                  </p:stCondLst>
                                  <p:childTnLst>
                                    <p:set>
                                      <p:cBhvr>
                                        <p:cTn id="146" dur="1" fill="hold">
                                          <p:stCondLst>
                                            <p:cond delay="0"/>
                                          </p:stCondLst>
                                        </p:cTn>
                                        <p:tgtEl>
                                          <p:spTgt spid="53"/>
                                        </p:tgtEl>
                                        <p:attrNameLst>
                                          <p:attrName>style.visibility</p:attrName>
                                        </p:attrNameLst>
                                      </p:cBhvr>
                                      <p:to>
                                        <p:strVal val="visible"/>
                                      </p:to>
                                    </p:set>
                                    <p:animEffect transition="in" filter="barn(outHorizontal)">
                                      <p:cBhvr>
                                        <p:cTn id="147" dur="500"/>
                                        <p:tgtEl>
                                          <p:spTgt spid="53"/>
                                        </p:tgtEl>
                                      </p:cBhvr>
                                    </p:animEffect>
                                  </p:childTnLst>
                                </p:cTn>
                              </p:par>
                            </p:childTnLst>
                          </p:cTn>
                        </p:par>
                      </p:childTnLst>
                    </p:cTn>
                  </p:par>
                  <p:par>
                    <p:cTn id="148" fill="hold">
                      <p:stCondLst>
                        <p:cond delay="indefinite"/>
                      </p:stCondLst>
                      <p:childTnLst>
                        <p:par>
                          <p:cTn id="149" fill="hold">
                            <p:stCondLst>
                              <p:cond delay="0"/>
                            </p:stCondLst>
                            <p:childTnLst>
                              <p:par>
                                <p:cTn id="150" presetID="16" presetClass="entr" presetSubtype="42" fill="hold" grpId="0" nodeType="clickEffect">
                                  <p:stCondLst>
                                    <p:cond delay="0"/>
                                  </p:stCondLst>
                                  <p:childTnLst>
                                    <p:set>
                                      <p:cBhvr>
                                        <p:cTn id="151" dur="1" fill="hold">
                                          <p:stCondLst>
                                            <p:cond delay="0"/>
                                          </p:stCondLst>
                                        </p:cTn>
                                        <p:tgtEl>
                                          <p:spTgt spid="46"/>
                                        </p:tgtEl>
                                        <p:attrNameLst>
                                          <p:attrName>style.visibility</p:attrName>
                                        </p:attrNameLst>
                                      </p:cBhvr>
                                      <p:to>
                                        <p:strVal val="visible"/>
                                      </p:to>
                                    </p:set>
                                    <p:animEffect transition="in" filter="barn(outHorizontal)">
                                      <p:cBhvr>
                                        <p:cTn id="15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5" grpId="0" bldLvl="0" animBg="1"/>
      <p:bldP spid="19" grpId="0" bldLvl="0" animBg="1"/>
      <p:bldP spid="23" grpId="0" bldLvl="0" animBg="1"/>
      <p:bldP spid="24" grpId="0" bldLvl="0" animBg="1"/>
      <p:bldP spid="31" grpId="0" bldLvl="0" animBg="1"/>
      <p:bldP spid="35" grpId="0" bldLvl="0" animBg="1"/>
      <p:bldP spid="39" grpId="0" bldLvl="0" animBg="1"/>
      <p:bldP spid="40" grpId="0" bldLvl="0" animBg="1"/>
      <p:bldP spid="44" grpId="0" bldLvl="0" animBg="1"/>
      <p:bldP spid="45" grpId="0" bldLvl="0" animBg="1"/>
      <p:bldP spid="46" grpId="0" bldLvl="0" animBg="1"/>
      <p:bldP spid="59" grpId="0" bldLvl="0" animBg="1"/>
      <p:bldP spid="6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8955" y="276860"/>
            <a:ext cx="7324090" cy="593090"/>
          </a:xfrm>
        </p:spPr>
        <p:txBody>
          <a:bodyPr/>
          <a:lstStyle/>
          <a:p>
            <a:r>
              <a:rPr lang="en-US" altLang="zh-CN" sz="3200" dirty="0"/>
              <a:t>2. </a:t>
            </a:r>
            <a:r>
              <a:rPr lang="zh-CN" altLang="en-US" sz="3200" dirty="0"/>
              <a:t>构造识别活前缀的</a:t>
            </a:r>
            <a:r>
              <a:rPr lang="en-US" altLang="zh-CN" sz="3200" dirty="0"/>
              <a:t>DFA</a:t>
            </a:r>
            <a:endParaRPr lang="en-US" altLang="zh-CN" sz="3200" dirty="0"/>
          </a:p>
        </p:txBody>
      </p:sp>
      <p:sp>
        <p:nvSpPr>
          <p:cNvPr id="5" name="Rectangle 5"/>
          <p:cNvSpPr txBox="1">
            <a:spLocks noChangeArrowheads="1"/>
          </p:cNvSpPr>
          <p:nvPr/>
        </p:nvSpPr>
        <p:spPr>
          <a:xfrm>
            <a:off x="383540" y="1254125"/>
            <a:ext cx="4389755" cy="33267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buFont typeface="Wingdings" panose="05000000000000000000" charset="0"/>
              <a:buChar char="p"/>
            </a:pPr>
            <a:r>
              <a:rPr lang="zh-CN" altLang="en-US" b="1" dirty="0">
                <a:latin typeface="+mn-ea"/>
              </a:rPr>
              <a:t>基于闭包函数</a:t>
            </a:r>
            <a:r>
              <a:rPr lang="en-US" altLang="zh-CN" b="1" dirty="0">
                <a:latin typeface="+mn-ea"/>
              </a:rPr>
              <a:t>CLOSURE(I)</a:t>
            </a:r>
            <a:r>
              <a:rPr lang="zh-CN" altLang="en-US" b="1" dirty="0">
                <a:latin typeface="+mn-ea"/>
              </a:rPr>
              <a:t>以及转移函数</a:t>
            </a:r>
            <a:r>
              <a:rPr lang="en-US" altLang="zh-CN" b="1" dirty="0">
                <a:latin typeface="+mn-ea"/>
              </a:rPr>
              <a:t>GO(I</a:t>
            </a:r>
            <a:r>
              <a:rPr lang="zh-CN" altLang="en-US" b="1" dirty="0">
                <a:latin typeface="+mn-ea"/>
              </a:rPr>
              <a:t>，</a:t>
            </a:r>
            <a:r>
              <a:rPr lang="en-US" altLang="zh-CN" b="1" dirty="0">
                <a:latin typeface="+mn-ea"/>
              </a:rPr>
              <a:t>x)</a:t>
            </a:r>
            <a:r>
              <a:rPr lang="zh-CN" altLang="en-US" b="1" dirty="0">
                <a:latin typeface="+mn-ea"/>
              </a:rPr>
              <a:t>构造识别活前缀的</a:t>
            </a:r>
            <a:r>
              <a:rPr lang="en-US" altLang="zh-CN" b="1" dirty="0">
                <a:latin typeface="+mn-ea"/>
              </a:rPr>
              <a:t>DFA;</a:t>
            </a:r>
            <a:endParaRPr lang="en-US" altLang="zh-CN" b="1" dirty="0">
              <a:latin typeface="+mn-ea"/>
            </a:endParaRPr>
          </a:p>
          <a:p>
            <a:pPr lvl="1" fontAlgn="auto">
              <a:lnSpc>
                <a:spcPct val="125000"/>
              </a:lnSpc>
              <a:buFont typeface="Wingdings" panose="05000000000000000000" charset="0"/>
              <a:buChar char="p"/>
            </a:pPr>
            <a:r>
              <a:rPr lang="en-US" altLang="zh-CN" b="1" dirty="0">
                <a:latin typeface="+mn-ea"/>
              </a:rPr>
              <a:t>CLOSURE(I)</a:t>
            </a:r>
            <a:r>
              <a:rPr lang="zh-CN" altLang="en-US" b="1" dirty="0">
                <a:latin typeface="+mn-ea"/>
              </a:rPr>
              <a:t>的定义</a:t>
            </a:r>
            <a:endParaRPr lang="zh-CN" altLang="en-US" b="1" dirty="0">
              <a:latin typeface="+mn-ea"/>
            </a:endParaRPr>
          </a:p>
          <a:p>
            <a:pPr lvl="1" fontAlgn="auto">
              <a:lnSpc>
                <a:spcPct val="125000"/>
              </a:lnSpc>
              <a:buFont typeface="Wingdings" panose="05000000000000000000" charset="0"/>
              <a:buChar char="p"/>
            </a:pPr>
            <a:r>
              <a:rPr lang="en-US" altLang="zh-CN" b="1" dirty="0">
                <a:latin typeface="+mn-ea"/>
              </a:rPr>
              <a:t>GO(I</a:t>
            </a:r>
            <a:r>
              <a:rPr lang="zh-CN" altLang="en-US" b="1" dirty="0">
                <a:latin typeface="+mn-ea"/>
              </a:rPr>
              <a:t>，</a:t>
            </a:r>
            <a:r>
              <a:rPr lang="en-US" altLang="zh-CN" b="1" dirty="0">
                <a:latin typeface="+mn-ea"/>
              </a:rPr>
              <a:t>x)</a:t>
            </a:r>
            <a:r>
              <a:rPr lang="zh-CN" altLang="en-US" b="1" dirty="0">
                <a:latin typeface="+mn-ea"/>
              </a:rPr>
              <a:t>的定义</a:t>
            </a:r>
            <a:endParaRPr lang="zh-CN" altLang="en-US" b="1" dirty="0">
              <a:latin typeface="+mn-ea"/>
            </a:endParaRPr>
          </a:p>
          <a:p>
            <a:pPr lvl="1" fontAlgn="auto">
              <a:lnSpc>
                <a:spcPct val="125000"/>
              </a:lnSpc>
              <a:buFont typeface="Wingdings" panose="05000000000000000000" charset="0"/>
              <a:buChar char="p"/>
            </a:pPr>
            <a:r>
              <a:rPr lang="zh-CN" altLang="en-US" b="1" dirty="0">
                <a:latin typeface="+mn-ea"/>
              </a:rPr>
              <a:t>构造识别活前缀的</a:t>
            </a:r>
            <a:r>
              <a:rPr lang="en-US" altLang="zh-CN" b="1" dirty="0">
                <a:latin typeface="+mn-ea"/>
              </a:rPr>
              <a:t>DFA</a:t>
            </a:r>
            <a:endParaRPr lang="en-US" altLang="zh-CN" b="1" dirty="0">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6" name="Text Box 2"/>
          <p:cNvSpPr txBox="1">
            <a:spLocks noChangeArrowheads="1"/>
          </p:cNvSpPr>
          <p:nvPr>
            <p:custDataLst>
              <p:tags r:id="rId1"/>
            </p:custDataLst>
          </p:nvPr>
        </p:nvSpPr>
        <p:spPr bwMode="auto">
          <a:xfrm>
            <a:off x="5386705" y="2378710"/>
            <a:ext cx="53162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spcBef>
                <a:spcPct val="50000"/>
              </a:spcBef>
              <a:buFont typeface="Wingdings" panose="05000000000000000000" pitchFamily="2" charset="2"/>
              <a:buNone/>
            </a:pPr>
            <a:r>
              <a:rPr lang="zh-CN" altLang="en-US" sz="2400" b="1">
                <a:solidFill>
                  <a:srgbClr val="020001"/>
                </a:solidFill>
                <a:latin typeface="+mn-ea"/>
                <a:ea typeface="+mn-ea"/>
              </a:rPr>
              <a:t>步骤</a:t>
            </a:r>
            <a:r>
              <a:rPr lang="en-US" altLang="zh-CN" sz="2400" b="1">
                <a:solidFill>
                  <a:srgbClr val="020001"/>
                </a:solidFill>
                <a:latin typeface="+mn-ea"/>
                <a:ea typeface="+mn-ea"/>
              </a:rPr>
              <a:t>1</a:t>
            </a:r>
            <a:r>
              <a:rPr lang="zh-CN" altLang="en-US" sz="2400" b="1">
                <a:solidFill>
                  <a:srgbClr val="020001"/>
                </a:solidFill>
                <a:latin typeface="+mn-ea"/>
                <a:ea typeface="+mn-ea"/>
              </a:rPr>
              <a:t>：令 </a:t>
            </a:r>
            <a:r>
              <a:rPr lang="en-US" altLang="zh-CN" sz="2400" b="1">
                <a:solidFill>
                  <a:srgbClr val="020001"/>
                </a:solidFill>
                <a:latin typeface="+mn-ea"/>
                <a:ea typeface="+mn-ea"/>
              </a:rPr>
              <a:t>CLOSURE(I)=I</a:t>
            </a:r>
            <a:r>
              <a:rPr lang="zh-CN" altLang="en-US" sz="2400" b="1">
                <a:solidFill>
                  <a:srgbClr val="020001"/>
                </a:solidFill>
                <a:latin typeface="+mn-ea"/>
                <a:ea typeface="+mn-ea"/>
              </a:rPr>
              <a:t>；</a:t>
            </a:r>
            <a:endParaRPr lang="zh-CN" altLang="en-US" sz="2400" b="1">
              <a:solidFill>
                <a:srgbClr val="020001"/>
              </a:solidFill>
              <a:latin typeface="+mn-ea"/>
              <a:ea typeface="+mn-ea"/>
            </a:endParaRPr>
          </a:p>
        </p:txBody>
      </p:sp>
      <p:sp>
        <p:nvSpPr>
          <p:cNvPr id="7" name="Text Box 3"/>
          <p:cNvSpPr txBox="1">
            <a:spLocks noChangeArrowheads="1"/>
          </p:cNvSpPr>
          <p:nvPr>
            <p:custDataLst>
              <p:tags r:id="rId2"/>
            </p:custDataLst>
          </p:nvPr>
        </p:nvSpPr>
        <p:spPr bwMode="auto">
          <a:xfrm>
            <a:off x="5386070" y="2781300"/>
            <a:ext cx="5316855" cy="124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spcBef>
                <a:spcPct val="50000"/>
              </a:spcBef>
            </a:pPr>
            <a:r>
              <a:rPr lang="zh-CN" altLang="en-US" sz="2400" b="1" dirty="0">
                <a:solidFill>
                  <a:srgbClr val="020001"/>
                </a:solidFill>
                <a:latin typeface="+mn-ea"/>
              </a:rPr>
              <a:t>步骤</a:t>
            </a:r>
            <a:r>
              <a:rPr lang="en-US" altLang="zh-CN" sz="2400" b="1" dirty="0">
                <a:solidFill>
                  <a:srgbClr val="020001"/>
                </a:solidFill>
                <a:latin typeface="+mn-ea"/>
              </a:rPr>
              <a:t>2</a:t>
            </a:r>
            <a:r>
              <a:rPr lang="zh-CN" altLang="en-US" sz="2400" b="1" dirty="0">
                <a:solidFill>
                  <a:srgbClr val="020001"/>
                </a:solidFill>
                <a:latin typeface="+mn-ea"/>
              </a:rPr>
              <a:t>：若项目</a:t>
            </a:r>
            <a:r>
              <a:rPr lang="en-US" altLang="zh-CN" sz="2400" b="1" dirty="0">
                <a:solidFill>
                  <a:srgbClr val="0070C0"/>
                </a:solidFill>
                <a:latin typeface="+mn-ea"/>
              </a:rPr>
              <a:t>A</a:t>
            </a:r>
            <a:r>
              <a:rPr lang="en-US" altLang="zh-CN" sz="2400" b="1" dirty="0">
                <a:solidFill>
                  <a:srgbClr val="0070C0"/>
                </a:solidFill>
                <a:latin typeface="+mn-ea"/>
                <a:sym typeface="Symbol" panose="05050102010706020507" pitchFamily="18" charset="2"/>
              </a:rPr>
              <a:t>.B </a:t>
            </a:r>
            <a:r>
              <a:rPr lang="en-US" altLang="zh-CN" sz="2400" b="1" dirty="0">
                <a:solidFill>
                  <a:srgbClr val="020001"/>
                </a:solidFill>
                <a:latin typeface="+mn-ea"/>
                <a:sym typeface="Symbol" panose="05050102010706020507" pitchFamily="18" charset="2"/>
              </a:rPr>
              <a:t></a:t>
            </a:r>
            <a:r>
              <a:rPr lang="en-US" altLang="zh-CN" sz="2400" b="1" dirty="0">
                <a:solidFill>
                  <a:srgbClr val="020001"/>
                </a:solidFill>
                <a:latin typeface="+mn-ea"/>
              </a:rPr>
              <a:t> CLOSURE(I), </a:t>
            </a:r>
            <a:r>
              <a:rPr lang="en-US" altLang="zh-CN" sz="2400" b="1" dirty="0">
                <a:solidFill>
                  <a:srgbClr val="0070C0"/>
                </a:solidFill>
                <a:latin typeface="+mn-ea"/>
              </a:rPr>
              <a:t>B</a:t>
            </a:r>
            <a:r>
              <a:rPr lang="en-US" altLang="zh-CN" sz="2400" b="1" dirty="0">
                <a:solidFill>
                  <a:srgbClr val="0070C0"/>
                </a:solidFill>
                <a:latin typeface="+mn-ea"/>
                <a:sym typeface="Symbol" panose="05050102010706020507" pitchFamily="18" charset="2"/>
              </a:rPr>
              <a:t>V</a:t>
            </a:r>
            <a:r>
              <a:rPr lang="en-US" altLang="zh-CN" sz="2400" b="1" baseline="-25000" dirty="0">
                <a:solidFill>
                  <a:srgbClr val="0070C0"/>
                </a:solidFill>
                <a:latin typeface="+mn-ea"/>
                <a:sym typeface="Symbol" panose="05050102010706020507" pitchFamily="18" charset="2"/>
              </a:rPr>
              <a:t>N</a:t>
            </a:r>
            <a:r>
              <a:rPr lang="en-US" altLang="zh-CN" sz="2400" b="1" dirty="0">
                <a:solidFill>
                  <a:srgbClr val="0070C0"/>
                </a:solidFill>
                <a:latin typeface="+mn-ea"/>
              </a:rPr>
              <a:t> </a:t>
            </a:r>
            <a:r>
              <a:rPr lang="zh-CN" altLang="en-US" sz="2400" b="1" dirty="0">
                <a:solidFill>
                  <a:srgbClr val="020001"/>
                </a:solidFill>
                <a:latin typeface="+mn-ea"/>
              </a:rPr>
              <a:t>，</a:t>
            </a:r>
            <a:r>
              <a:rPr lang="zh-CN" altLang="en-US" sz="2400" b="1" dirty="0">
                <a:solidFill>
                  <a:srgbClr val="020001"/>
                </a:solidFill>
                <a:latin typeface="+mn-ea"/>
              </a:rPr>
              <a:t>则</a:t>
            </a:r>
            <a:r>
              <a:rPr lang="en-US" altLang="zh-CN" sz="2400" b="1" dirty="0">
                <a:solidFill>
                  <a:srgbClr val="020001"/>
                </a:solidFill>
                <a:latin typeface="+mn-ea"/>
              </a:rPr>
              <a:t>CLOSURE(I)</a:t>
            </a:r>
            <a:r>
              <a:rPr lang="en-US" altLang="zh-CN" sz="2400" b="1" dirty="0">
                <a:solidFill>
                  <a:srgbClr val="010000"/>
                </a:solidFill>
                <a:latin typeface="+mn-ea"/>
              </a:rPr>
              <a:t> =</a:t>
            </a:r>
            <a:r>
              <a:rPr lang="en-US" altLang="zh-CN" sz="2400" b="1" dirty="0">
                <a:solidFill>
                  <a:srgbClr val="020001"/>
                </a:solidFill>
                <a:latin typeface="+mn-ea"/>
              </a:rPr>
              <a:t> CLOSURE(I) </a:t>
            </a:r>
            <a:r>
              <a:rPr lang="en-US" altLang="zh-CN" sz="2400" b="1" dirty="0">
                <a:solidFill>
                  <a:srgbClr val="020001"/>
                </a:solidFill>
                <a:latin typeface="+mn-ea"/>
                <a:sym typeface="Symbol" panose="05050102010706020507" pitchFamily="18" charset="2"/>
              </a:rPr>
              <a:t></a:t>
            </a:r>
            <a:r>
              <a:rPr lang="en-US" altLang="zh-CN" sz="2400" b="1" dirty="0">
                <a:solidFill>
                  <a:srgbClr val="0070C0"/>
                </a:solidFill>
                <a:latin typeface="+mn-ea"/>
                <a:sym typeface="Symbol" panose="05050102010706020507" pitchFamily="18" charset="2"/>
              </a:rPr>
              <a:t>{</a:t>
            </a:r>
            <a:r>
              <a:rPr lang="en-US" altLang="zh-CN" sz="2400" b="1" dirty="0">
                <a:solidFill>
                  <a:srgbClr val="0070C0"/>
                </a:solidFill>
                <a:latin typeface="+mn-ea"/>
              </a:rPr>
              <a:t>B</a:t>
            </a:r>
            <a:r>
              <a:rPr lang="en-US" altLang="zh-CN" sz="2400" b="1" dirty="0">
                <a:solidFill>
                  <a:srgbClr val="0070C0"/>
                </a:solidFill>
                <a:latin typeface="+mn-ea"/>
                <a:sym typeface="Symbol" panose="05050102010706020507" pitchFamily="18" charset="2"/>
              </a:rPr>
              <a:t>.}</a:t>
            </a:r>
            <a:r>
              <a:rPr lang="zh-CN" altLang="en-US" sz="2400" b="1" dirty="0">
                <a:solidFill>
                  <a:srgbClr val="010000"/>
                </a:solidFill>
                <a:latin typeface="+mn-ea"/>
              </a:rPr>
              <a:t>；</a:t>
            </a:r>
            <a:endParaRPr lang="en-US" altLang="zh-CN" sz="2400" b="1" dirty="0">
              <a:solidFill>
                <a:srgbClr val="010000"/>
              </a:solidFill>
              <a:latin typeface="+mn-ea"/>
            </a:endParaRPr>
          </a:p>
        </p:txBody>
      </p:sp>
      <p:sp>
        <p:nvSpPr>
          <p:cNvPr id="8" name="Text Box 4"/>
          <p:cNvSpPr txBox="1">
            <a:spLocks noChangeArrowheads="1"/>
          </p:cNvSpPr>
          <p:nvPr>
            <p:custDataLst>
              <p:tags r:id="rId3"/>
            </p:custDataLst>
          </p:nvPr>
        </p:nvSpPr>
        <p:spPr bwMode="auto">
          <a:xfrm>
            <a:off x="5386705" y="4026535"/>
            <a:ext cx="657923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solidFill>
                  <a:srgbClr val="020001"/>
                </a:solidFill>
                <a:latin typeface="+mn-ea"/>
              </a:rPr>
              <a:t>步骤</a:t>
            </a:r>
            <a:r>
              <a:rPr lang="en-US" altLang="zh-CN" sz="2400" b="1" dirty="0">
                <a:solidFill>
                  <a:srgbClr val="020001"/>
                </a:solidFill>
                <a:latin typeface="+mn-ea"/>
              </a:rPr>
              <a:t>3</a:t>
            </a:r>
            <a:r>
              <a:rPr lang="zh-CN" altLang="en-US" sz="2400" b="1" dirty="0">
                <a:solidFill>
                  <a:srgbClr val="020001"/>
                </a:solidFill>
                <a:latin typeface="+mn-ea"/>
              </a:rPr>
              <a:t>：重复步骤</a:t>
            </a:r>
            <a:r>
              <a:rPr lang="en-US" altLang="zh-CN" sz="2400" b="1" dirty="0">
                <a:solidFill>
                  <a:srgbClr val="020001"/>
                </a:solidFill>
                <a:latin typeface="+mn-ea"/>
              </a:rPr>
              <a:t>2</a:t>
            </a:r>
            <a:r>
              <a:rPr lang="zh-CN" altLang="en-US" sz="2400" b="1" dirty="0">
                <a:solidFill>
                  <a:srgbClr val="020001"/>
                </a:solidFill>
                <a:latin typeface="+mn-ea"/>
              </a:rPr>
              <a:t>直至</a:t>
            </a:r>
            <a:r>
              <a:rPr lang="en-US" altLang="zh-CN" sz="2400" b="1" dirty="0">
                <a:solidFill>
                  <a:srgbClr val="020001"/>
                </a:solidFill>
                <a:latin typeface="+mn-ea"/>
              </a:rPr>
              <a:t>CLOSURE(I) </a:t>
            </a:r>
            <a:r>
              <a:rPr lang="zh-CN" altLang="en-US" sz="2400" b="1" dirty="0">
                <a:solidFill>
                  <a:srgbClr val="020001"/>
                </a:solidFill>
                <a:latin typeface="+mn-ea"/>
              </a:rPr>
              <a:t>不增加新的项目为止。</a:t>
            </a:r>
            <a:endParaRPr lang="zh-CN" altLang="en-US" sz="2400" b="1" dirty="0">
              <a:solidFill>
                <a:srgbClr val="020001"/>
              </a:solidFill>
              <a:latin typeface="+mn-ea"/>
            </a:endParaRPr>
          </a:p>
        </p:txBody>
      </p:sp>
      <p:sp>
        <p:nvSpPr>
          <p:cNvPr id="9" name="Rectangle 6"/>
          <p:cNvSpPr>
            <a:spLocks noChangeArrowheads="1"/>
          </p:cNvSpPr>
          <p:nvPr>
            <p:custDataLst>
              <p:tags r:id="rId4"/>
            </p:custDataLst>
          </p:nvPr>
        </p:nvSpPr>
        <p:spPr bwMode="auto">
          <a:xfrm>
            <a:off x="5123815" y="1254125"/>
            <a:ext cx="6697345" cy="112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spcAft>
                <a:spcPts val="0"/>
              </a:spcAft>
              <a:buFont typeface="Arial" panose="020B0604020202020204" pitchFamily="34" charset="0"/>
              <a:buChar char="•"/>
            </a:pPr>
            <a:r>
              <a:rPr lang="zh-CN" altLang="en-US" sz="2800" b="1" dirty="0">
                <a:solidFill>
                  <a:srgbClr val="020001"/>
                </a:solidFill>
                <a:latin typeface="+mn-ea"/>
                <a:ea typeface="+mn-ea"/>
              </a:rPr>
              <a:t>拓广文法</a:t>
            </a:r>
            <a:r>
              <a:rPr lang="en-US" altLang="zh-CN" sz="2800" b="1" dirty="0">
                <a:solidFill>
                  <a:srgbClr val="020001"/>
                </a:solidFill>
                <a:latin typeface="+mn-ea"/>
                <a:ea typeface="+mn-ea"/>
              </a:rPr>
              <a:t>G’</a:t>
            </a:r>
            <a:r>
              <a:rPr lang="zh-CN" altLang="en-US" sz="2800" b="1" dirty="0">
                <a:solidFill>
                  <a:srgbClr val="020001"/>
                </a:solidFill>
                <a:latin typeface="+mn-ea"/>
                <a:ea typeface="+mn-ea"/>
              </a:rPr>
              <a:t>的一个</a:t>
            </a:r>
            <a:r>
              <a:rPr lang="en-US" altLang="zh-CN" sz="2800" b="1" dirty="0">
                <a:solidFill>
                  <a:srgbClr val="020001"/>
                </a:solidFill>
                <a:latin typeface="+mn-ea"/>
                <a:ea typeface="+mn-ea"/>
              </a:rPr>
              <a:t>LR(0)</a:t>
            </a:r>
            <a:r>
              <a:rPr lang="zh-CN" altLang="en-US" sz="2800" b="1" dirty="0">
                <a:solidFill>
                  <a:srgbClr val="020001"/>
                </a:solidFill>
                <a:latin typeface="+mn-ea"/>
                <a:ea typeface="+mn-ea"/>
              </a:rPr>
              <a:t>项目集合</a:t>
            </a:r>
            <a:r>
              <a:rPr lang="en-US" altLang="zh-CN" sz="2800" b="1" dirty="0">
                <a:solidFill>
                  <a:srgbClr val="020001"/>
                </a:solidFill>
                <a:latin typeface="+mn-ea"/>
                <a:ea typeface="+mn-ea"/>
              </a:rPr>
              <a:t>I</a:t>
            </a:r>
            <a:r>
              <a:rPr lang="zh-CN" altLang="en-US" sz="2800" b="1" dirty="0">
                <a:solidFill>
                  <a:srgbClr val="020001"/>
                </a:solidFill>
                <a:latin typeface="+mn-ea"/>
                <a:ea typeface="+mn-ea"/>
              </a:rPr>
              <a:t>的</a:t>
            </a:r>
            <a:r>
              <a:rPr lang="zh-CN" altLang="en-US" sz="2800" b="1" dirty="0">
                <a:solidFill>
                  <a:srgbClr val="0070C0"/>
                </a:solidFill>
                <a:latin typeface="+mn-ea"/>
                <a:ea typeface="+mn-ea"/>
              </a:rPr>
              <a:t>闭包函数</a:t>
            </a:r>
            <a:r>
              <a:rPr lang="en-US" altLang="zh-CN" sz="2800" b="1" dirty="0">
                <a:solidFill>
                  <a:srgbClr val="020001"/>
                </a:solidFill>
                <a:latin typeface="+mn-ea"/>
                <a:ea typeface="+mn-ea"/>
              </a:rPr>
              <a:t>CLOSURE(I)</a:t>
            </a:r>
            <a:r>
              <a:rPr lang="zh-CN" altLang="en-US" sz="2800" b="1" dirty="0">
                <a:solidFill>
                  <a:srgbClr val="020001"/>
                </a:solidFill>
                <a:latin typeface="+mn-ea"/>
                <a:ea typeface="+mn-ea"/>
              </a:rPr>
              <a:t>的定义如下：</a:t>
            </a:r>
            <a:endParaRPr lang="zh-CN" altLang="en-US" sz="2800" b="1" dirty="0">
              <a:solidFill>
                <a:srgbClr val="020001"/>
              </a:solidFill>
              <a:latin typeface="+mn-ea"/>
              <a:ea typeface="+mn-ea"/>
            </a:endParaRPr>
          </a:p>
        </p:txBody>
      </p:sp>
      <p:sp>
        <p:nvSpPr>
          <p:cNvPr id="14" name="Rectangle 5"/>
          <p:cNvSpPr txBox="1">
            <a:spLocks noChangeArrowheads="1"/>
          </p:cNvSpPr>
          <p:nvPr/>
        </p:nvSpPr>
        <p:spPr>
          <a:xfrm>
            <a:off x="383540" y="4856480"/>
            <a:ext cx="11299190" cy="1061085"/>
          </a:xfrm>
          <a:prstGeom prst="rect">
            <a:avLst/>
          </a:prstGeom>
        </p:spPr>
        <p:txBody>
          <a:bodyPr/>
          <a:p>
            <a:pPr fontAlgn="auto">
              <a:lnSpc>
                <a:spcPct val="125000"/>
              </a:lnSpc>
            </a:pPr>
            <a:r>
              <a:rPr lang="en-US" altLang="zh-CN" sz="2400" b="1" dirty="0">
                <a:solidFill>
                  <a:srgbClr val="020001"/>
                </a:solidFill>
                <a:latin typeface="+mn-ea"/>
                <a:sym typeface="Symbol" panose="05050102010706020507" pitchFamily="18" charset="2"/>
              </a:rPr>
              <a:t>I</a:t>
            </a:r>
            <a:r>
              <a:rPr lang="zh-CN" altLang="en-US" sz="2400" b="1" dirty="0">
                <a:solidFill>
                  <a:srgbClr val="020001"/>
                </a:solidFill>
                <a:latin typeface="+mn-ea"/>
                <a:sym typeface="Symbol" panose="05050102010706020507" pitchFamily="18" charset="2"/>
              </a:rPr>
              <a:t>是一个项目集，</a:t>
            </a:r>
            <a:r>
              <a:rPr lang="en-US" altLang="zh-CN" sz="2400" b="1" dirty="0">
                <a:solidFill>
                  <a:srgbClr val="020001"/>
                </a:solidFill>
                <a:latin typeface="+mn-ea"/>
              </a:rPr>
              <a:t> </a:t>
            </a:r>
            <a:r>
              <a:rPr lang="en-US" altLang="zh-CN" sz="2400" b="1" dirty="0" err="1">
                <a:solidFill>
                  <a:srgbClr val="020001"/>
                </a:solidFill>
                <a:latin typeface="+mn-ea"/>
              </a:rPr>
              <a:t>x</a:t>
            </a:r>
            <a:r>
              <a:rPr lang="en-US" altLang="zh-CN" sz="2400" b="1" dirty="0" err="1">
                <a:solidFill>
                  <a:srgbClr val="020001"/>
                </a:solidFill>
                <a:latin typeface="+mn-ea"/>
                <a:sym typeface="Symbol" panose="05050102010706020507" pitchFamily="18" charset="2"/>
              </a:rPr>
              <a:t>V</a:t>
            </a:r>
            <a:r>
              <a:rPr lang="en-US" altLang="zh-CN" sz="2400" b="1" baseline="-25000" dirty="0" err="1">
                <a:solidFill>
                  <a:srgbClr val="020001"/>
                </a:solidFill>
                <a:latin typeface="+mn-ea"/>
                <a:sym typeface="Symbol" panose="05050102010706020507" pitchFamily="18" charset="2"/>
              </a:rPr>
              <a:t>N</a:t>
            </a:r>
            <a:r>
              <a:rPr lang="en-US" altLang="zh-CN" sz="2400" b="1" dirty="0" err="1">
                <a:solidFill>
                  <a:srgbClr val="010000"/>
                </a:solidFill>
                <a:latin typeface="+mn-ea"/>
                <a:sym typeface="Symbol" panose="05050102010706020507" pitchFamily="18" charset="2"/>
              </a:rPr>
              <a:t>∪</a:t>
            </a:r>
            <a:r>
              <a:rPr lang="en-US" altLang="zh-CN" sz="2400" b="1" dirty="0" err="1">
                <a:solidFill>
                  <a:srgbClr val="020001"/>
                </a:solidFill>
                <a:latin typeface="+mn-ea"/>
                <a:sym typeface="Symbol" panose="05050102010706020507" pitchFamily="18" charset="2"/>
              </a:rPr>
              <a:t>V</a:t>
            </a:r>
            <a:r>
              <a:rPr lang="en-US" altLang="zh-CN" sz="2400" b="1" baseline="-25000" dirty="0" err="1">
                <a:solidFill>
                  <a:srgbClr val="020001"/>
                </a:solidFill>
                <a:latin typeface="+mn-ea"/>
                <a:sym typeface="Symbol" panose="05050102010706020507" pitchFamily="18" charset="2"/>
              </a:rPr>
              <a:t>T</a:t>
            </a:r>
            <a:r>
              <a:rPr lang="en-US" altLang="zh-CN" sz="2400" b="1" dirty="0">
                <a:solidFill>
                  <a:srgbClr val="020001"/>
                </a:solidFill>
                <a:latin typeface="+mn-ea"/>
                <a:sym typeface="Symbol" panose="05050102010706020507" pitchFamily="18" charset="2"/>
              </a:rPr>
              <a:t>，</a:t>
            </a:r>
            <a:r>
              <a:rPr lang="zh-CN" altLang="en-US" sz="2400" b="1" dirty="0">
                <a:solidFill>
                  <a:srgbClr val="0070C0"/>
                </a:solidFill>
                <a:latin typeface="+mn-ea"/>
              </a:rPr>
              <a:t>状态转移函数</a:t>
            </a:r>
            <a:r>
              <a:rPr lang="en-US" altLang="zh-CN" sz="2400" b="1" dirty="0">
                <a:solidFill>
                  <a:srgbClr val="020001"/>
                </a:solidFill>
                <a:latin typeface="+mn-ea"/>
              </a:rPr>
              <a:t>GO(I</a:t>
            </a:r>
            <a:r>
              <a:rPr lang="zh-CN" altLang="en-US" sz="2400" b="1" dirty="0">
                <a:solidFill>
                  <a:srgbClr val="020001"/>
                </a:solidFill>
                <a:latin typeface="+mn-ea"/>
              </a:rPr>
              <a:t>，</a:t>
            </a:r>
            <a:r>
              <a:rPr lang="en-US" altLang="zh-CN" sz="2400" b="1" dirty="0">
                <a:solidFill>
                  <a:srgbClr val="020001"/>
                </a:solidFill>
                <a:latin typeface="+mn-ea"/>
              </a:rPr>
              <a:t>x)</a:t>
            </a:r>
            <a:r>
              <a:rPr lang="zh-CN" altLang="en-US" sz="2400" b="1" dirty="0">
                <a:solidFill>
                  <a:srgbClr val="020001"/>
                </a:solidFill>
                <a:latin typeface="+mn-ea"/>
              </a:rPr>
              <a:t>的定义如下：</a:t>
            </a:r>
            <a:r>
              <a:rPr lang="en-US" altLang="zh-CN" sz="2400" b="1" dirty="0">
                <a:solidFill>
                  <a:srgbClr val="020001"/>
                </a:solidFill>
                <a:latin typeface="+mn-ea"/>
              </a:rPr>
              <a:t> </a:t>
            </a:r>
            <a:endParaRPr lang="en-US" altLang="zh-CN" sz="2400" b="1" dirty="0">
              <a:solidFill>
                <a:srgbClr val="020001"/>
              </a:solidFill>
              <a:latin typeface="+mn-ea"/>
            </a:endParaRPr>
          </a:p>
          <a:p>
            <a:pPr fontAlgn="auto">
              <a:lnSpc>
                <a:spcPct val="125000"/>
              </a:lnSpc>
            </a:pPr>
            <a:r>
              <a:rPr lang="en-US" altLang="zh-CN" sz="2400" b="1" dirty="0">
                <a:solidFill>
                  <a:srgbClr val="020001"/>
                </a:solidFill>
                <a:latin typeface="+mn-ea"/>
              </a:rPr>
              <a:t>          GO(I</a:t>
            </a:r>
            <a:r>
              <a:rPr lang="zh-CN" altLang="en-US" sz="2400" b="1" dirty="0">
                <a:solidFill>
                  <a:srgbClr val="020001"/>
                </a:solidFill>
                <a:latin typeface="+mn-ea"/>
              </a:rPr>
              <a:t>，</a:t>
            </a:r>
            <a:r>
              <a:rPr lang="en-US" altLang="zh-CN" sz="2400" b="1" dirty="0">
                <a:solidFill>
                  <a:srgbClr val="020001"/>
                </a:solidFill>
                <a:latin typeface="+mn-ea"/>
              </a:rPr>
              <a:t>x)= CLOSURE(J)</a:t>
            </a:r>
            <a:r>
              <a:rPr lang="zh-CN" altLang="en-US" sz="2400" b="1" dirty="0">
                <a:solidFill>
                  <a:srgbClr val="020001"/>
                </a:solidFill>
                <a:latin typeface="+mn-ea"/>
              </a:rPr>
              <a:t>， </a:t>
            </a:r>
            <a:r>
              <a:rPr lang="en-US" altLang="zh-CN" sz="2400" b="1" dirty="0">
                <a:solidFill>
                  <a:srgbClr val="020001"/>
                </a:solidFill>
                <a:latin typeface="+mn-ea"/>
              </a:rPr>
              <a:t>     J= {A</a:t>
            </a:r>
            <a:r>
              <a:rPr lang="en-US" altLang="zh-CN" sz="2400" b="1" dirty="0">
                <a:solidFill>
                  <a:srgbClr val="020001"/>
                </a:solidFill>
                <a:latin typeface="+mn-ea"/>
                <a:sym typeface="Symbol" panose="05050102010706020507" pitchFamily="18" charset="2"/>
              </a:rPr>
              <a:t>x. | </a:t>
            </a:r>
            <a:r>
              <a:rPr lang="en-US" altLang="zh-CN" sz="2400" b="1" dirty="0">
                <a:solidFill>
                  <a:srgbClr val="020001"/>
                </a:solidFill>
                <a:latin typeface="+mn-ea"/>
              </a:rPr>
              <a:t>A</a:t>
            </a:r>
            <a:r>
              <a:rPr lang="en-US" altLang="zh-CN" sz="2400" b="1" dirty="0">
                <a:solidFill>
                  <a:srgbClr val="020001"/>
                </a:solidFill>
                <a:latin typeface="+mn-ea"/>
                <a:sym typeface="Symbol" panose="05050102010706020507" pitchFamily="18" charset="2"/>
              </a:rPr>
              <a:t>.x </a:t>
            </a:r>
            <a:r>
              <a:rPr lang="en-US" altLang="zh-CN" sz="2400" b="1" dirty="0">
                <a:solidFill>
                  <a:srgbClr val="020001"/>
                </a:solidFill>
                <a:latin typeface="+mn-ea"/>
              </a:rPr>
              <a:t>I }</a:t>
            </a:r>
            <a:endParaRPr lang="en-US" altLang="zh-CN" sz="2400" b="1" dirty="0">
              <a:solidFill>
                <a:srgbClr val="02000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out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out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4" grpId="0"/>
      <p:bldP spid="14"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7410450" cy="593090"/>
          </a:xfrm>
        </p:spPr>
        <p:txBody>
          <a:bodyPr/>
          <a:lstStyle/>
          <a:p>
            <a:r>
              <a:rPr lang="en-US" altLang="zh-CN" sz="3200" dirty="0"/>
              <a:t>2. </a:t>
            </a:r>
            <a:r>
              <a:rPr lang="zh-CN" altLang="en-US" sz="3200" dirty="0"/>
              <a:t>构造识别活前缀的</a:t>
            </a:r>
            <a:r>
              <a:rPr lang="en-US" altLang="zh-CN" sz="3200" dirty="0"/>
              <a:t>DFA</a:t>
            </a:r>
            <a:r>
              <a:rPr lang="zh-CN" altLang="en-US" sz="3200" dirty="0"/>
              <a:t>（续）</a:t>
            </a:r>
            <a:endParaRPr lang="en-US" altLang="zh-CN" sz="3200" dirty="0"/>
          </a:p>
        </p:txBody>
      </p:sp>
      <p:sp>
        <p:nvSpPr>
          <p:cNvPr id="6" name="Rectangle 8"/>
          <p:cNvSpPr txBox="1">
            <a:spLocks noChangeArrowheads="1"/>
          </p:cNvSpPr>
          <p:nvPr/>
        </p:nvSpPr>
        <p:spPr>
          <a:xfrm>
            <a:off x="327025" y="1019810"/>
            <a:ext cx="11148060" cy="42322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30000"/>
              </a:lnSpc>
              <a:spcBef>
                <a:spcPts val="0"/>
              </a:spcBef>
              <a:spcAft>
                <a:spcPts val="0"/>
              </a:spcAft>
            </a:pPr>
            <a:r>
              <a:rPr lang="zh-CN" altLang="en-US" b="1" dirty="0">
                <a:solidFill>
                  <a:srgbClr val="020001"/>
                </a:solidFill>
              </a:rPr>
              <a:t>基于闭包函数</a:t>
            </a:r>
            <a:r>
              <a:rPr lang="en-US" altLang="zh-CN" b="1" dirty="0">
                <a:solidFill>
                  <a:srgbClr val="020001"/>
                </a:solidFill>
              </a:rPr>
              <a:t>CLOSURE(I)</a:t>
            </a:r>
            <a:r>
              <a:rPr lang="zh-CN" altLang="en-US" b="1" dirty="0">
                <a:solidFill>
                  <a:srgbClr val="020001"/>
                </a:solidFill>
              </a:rPr>
              <a:t>和转移函数</a:t>
            </a:r>
            <a:r>
              <a:rPr lang="en-US" altLang="zh-CN" b="1" dirty="0">
                <a:solidFill>
                  <a:srgbClr val="020001"/>
                </a:solidFill>
              </a:rPr>
              <a:t>GO(I</a:t>
            </a:r>
            <a:r>
              <a:rPr lang="zh-CN" altLang="en-US" b="1" dirty="0">
                <a:solidFill>
                  <a:srgbClr val="020001"/>
                </a:solidFill>
              </a:rPr>
              <a:t>，</a:t>
            </a:r>
            <a:r>
              <a:rPr lang="en-US" altLang="zh-CN" b="1" dirty="0">
                <a:solidFill>
                  <a:srgbClr val="020001"/>
                </a:solidFill>
              </a:rPr>
              <a:t>x)</a:t>
            </a:r>
            <a:r>
              <a:rPr lang="zh-CN" altLang="en-US" b="1" dirty="0">
                <a:solidFill>
                  <a:srgbClr val="020001"/>
                </a:solidFill>
              </a:rPr>
              <a:t>构造识别文法活前缀的</a:t>
            </a:r>
            <a:r>
              <a:rPr lang="en-US" altLang="zh-CN" b="1" dirty="0">
                <a:solidFill>
                  <a:srgbClr val="020001"/>
                </a:solidFill>
              </a:rPr>
              <a:t>DFA</a:t>
            </a:r>
            <a:r>
              <a:rPr lang="zh-CN" altLang="en-US" b="1" dirty="0">
                <a:solidFill>
                  <a:srgbClr val="020001"/>
                </a:solidFill>
              </a:rPr>
              <a:t>的算法如下：</a:t>
            </a:r>
            <a:endParaRPr lang="zh-CN" altLang="en-US" b="1" dirty="0">
              <a:solidFill>
                <a:srgbClr val="020001"/>
              </a:solidFill>
            </a:endParaRPr>
          </a:p>
          <a:p>
            <a:pPr marL="967105" lvl="1" indent="-495300">
              <a:lnSpc>
                <a:spcPct val="130000"/>
              </a:lnSpc>
              <a:spcBef>
                <a:spcPts val="0"/>
              </a:spcBef>
              <a:spcAft>
                <a:spcPts val="0"/>
              </a:spcAft>
              <a:buFont typeface="Wingdings" panose="05000000000000000000" pitchFamily="2" charset="2"/>
              <a:buAutoNum type="arabicPeriod"/>
            </a:pPr>
            <a:r>
              <a:rPr lang="zh-CN" altLang="en-US" b="1" dirty="0">
                <a:solidFill>
                  <a:srgbClr val="020001"/>
                </a:solidFill>
                <a:latin typeface="+mn-ea"/>
              </a:rPr>
              <a:t>令项目集</a:t>
            </a:r>
            <a:r>
              <a:rPr lang="en-US" altLang="zh-CN" b="1" dirty="0">
                <a:solidFill>
                  <a:srgbClr val="0070C0"/>
                </a:solidFill>
                <a:latin typeface="+mn-ea"/>
              </a:rPr>
              <a:t>CLOSURE({S’</a:t>
            </a:r>
            <a:r>
              <a:rPr lang="en-US" altLang="zh-CN" b="1" dirty="0">
                <a:solidFill>
                  <a:srgbClr val="0070C0"/>
                </a:solidFill>
                <a:latin typeface="+mn-ea"/>
                <a:sym typeface="Symbol" panose="05050102010706020507" pitchFamily="18" charset="2"/>
              </a:rPr>
              <a:t> .S </a:t>
            </a:r>
            <a:r>
              <a:rPr lang="en-US" altLang="zh-CN" b="1" dirty="0">
                <a:solidFill>
                  <a:srgbClr val="0070C0"/>
                </a:solidFill>
                <a:latin typeface="+mn-ea"/>
              </a:rPr>
              <a:t>})</a:t>
            </a:r>
            <a:r>
              <a:rPr lang="zh-CN" altLang="en-US" b="1" dirty="0">
                <a:solidFill>
                  <a:srgbClr val="020001"/>
                </a:solidFill>
                <a:latin typeface="+mn-ea"/>
              </a:rPr>
              <a:t>为</a:t>
            </a:r>
            <a:r>
              <a:rPr lang="en-US" altLang="zh-CN" b="1" dirty="0">
                <a:solidFill>
                  <a:srgbClr val="020001"/>
                </a:solidFill>
                <a:latin typeface="+mn-ea"/>
              </a:rPr>
              <a:t>DFA</a:t>
            </a:r>
            <a:r>
              <a:rPr lang="zh-CN" altLang="en-US" b="1" dirty="0">
                <a:solidFill>
                  <a:srgbClr val="020001"/>
                </a:solidFill>
                <a:latin typeface="+mn-ea"/>
              </a:rPr>
              <a:t>的初态；</a:t>
            </a:r>
            <a:endParaRPr lang="en-US" altLang="zh-CN" b="1" dirty="0">
              <a:solidFill>
                <a:srgbClr val="020001"/>
              </a:solidFill>
              <a:latin typeface="+mn-ea"/>
            </a:endParaRPr>
          </a:p>
          <a:p>
            <a:pPr marL="967105" lvl="1" indent="-495300">
              <a:lnSpc>
                <a:spcPct val="130000"/>
              </a:lnSpc>
              <a:spcBef>
                <a:spcPts val="0"/>
              </a:spcBef>
              <a:spcAft>
                <a:spcPts val="0"/>
              </a:spcAft>
              <a:buFont typeface="Wingdings" panose="05000000000000000000" pitchFamily="2" charset="2"/>
              <a:buAutoNum type="arabicPeriod"/>
            </a:pPr>
            <a:r>
              <a:rPr lang="zh-CN" altLang="en-US" b="1" dirty="0">
                <a:solidFill>
                  <a:srgbClr val="020001"/>
                </a:solidFill>
                <a:latin typeface="+mn-ea"/>
              </a:rPr>
              <a:t>输入字符集合：包括终结符、非终结符；</a:t>
            </a:r>
            <a:endParaRPr lang="zh-CN" altLang="en-US" b="1" dirty="0">
              <a:solidFill>
                <a:srgbClr val="020001"/>
              </a:solidFill>
              <a:latin typeface="+mn-ea"/>
            </a:endParaRPr>
          </a:p>
          <a:p>
            <a:pPr marL="967105" lvl="1" indent="-495300">
              <a:lnSpc>
                <a:spcPct val="130000"/>
              </a:lnSpc>
              <a:spcBef>
                <a:spcPts val="0"/>
              </a:spcBef>
              <a:spcAft>
                <a:spcPts val="0"/>
              </a:spcAft>
              <a:buFont typeface="Wingdings" panose="05000000000000000000" pitchFamily="2" charset="2"/>
              <a:buAutoNum type="arabicPeriod"/>
            </a:pPr>
            <a:r>
              <a:rPr lang="zh-CN" altLang="en-US" b="1" dirty="0">
                <a:solidFill>
                  <a:srgbClr val="020001"/>
                </a:solidFill>
                <a:latin typeface="+mn-ea"/>
              </a:rPr>
              <a:t>设</a:t>
            </a:r>
            <a:r>
              <a:rPr lang="en-US" altLang="zh-CN" b="1" dirty="0">
                <a:solidFill>
                  <a:srgbClr val="020001"/>
                </a:solidFill>
                <a:latin typeface="+mn-ea"/>
              </a:rPr>
              <a:t>I</a:t>
            </a:r>
            <a:r>
              <a:rPr lang="zh-CN" altLang="en-US" b="1" dirty="0">
                <a:solidFill>
                  <a:srgbClr val="020001"/>
                </a:solidFill>
                <a:latin typeface="+mn-ea"/>
              </a:rPr>
              <a:t>是</a:t>
            </a:r>
            <a:r>
              <a:rPr lang="en-US" altLang="zh-CN" b="1" dirty="0">
                <a:solidFill>
                  <a:srgbClr val="020001"/>
                </a:solidFill>
                <a:latin typeface="+mn-ea"/>
              </a:rPr>
              <a:t>DFA</a:t>
            </a:r>
            <a:r>
              <a:rPr lang="zh-CN" altLang="en-US" b="1" dirty="0">
                <a:solidFill>
                  <a:srgbClr val="020001"/>
                </a:solidFill>
                <a:latin typeface="+mn-ea"/>
              </a:rPr>
              <a:t>中一个已存在的状态(项目集)，若存在</a:t>
            </a:r>
            <a:r>
              <a:rPr lang="en-US" altLang="zh-CN" b="1" dirty="0">
                <a:solidFill>
                  <a:srgbClr val="020001"/>
                </a:solidFill>
                <a:latin typeface="+mn-ea"/>
              </a:rPr>
              <a:t>A</a:t>
            </a:r>
            <a:r>
              <a:rPr lang="en-US" altLang="zh-CN" b="1" dirty="0">
                <a:solidFill>
                  <a:srgbClr val="020001"/>
                </a:solidFill>
                <a:latin typeface="+mn-ea"/>
                <a:sym typeface="Symbol" panose="05050102010706020507" pitchFamily="18" charset="2"/>
              </a:rPr>
              <a:t>.xI</a:t>
            </a:r>
            <a:r>
              <a:rPr lang="zh-CN" altLang="en-US" b="1" dirty="0">
                <a:solidFill>
                  <a:srgbClr val="020001"/>
                </a:solidFill>
                <a:latin typeface="+mn-ea"/>
                <a:sym typeface="Symbol" panose="05050102010706020507" pitchFamily="18" charset="2"/>
              </a:rPr>
              <a:t>，则</a:t>
            </a:r>
            <a:r>
              <a:rPr lang="zh-CN" altLang="en-US" b="1" dirty="0">
                <a:solidFill>
                  <a:srgbClr val="020001"/>
                </a:solidFill>
                <a:latin typeface="+mn-ea"/>
              </a:rPr>
              <a:t>对</a:t>
            </a:r>
            <a:r>
              <a:rPr lang="en-US" altLang="zh-CN" b="1" dirty="0" err="1">
                <a:solidFill>
                  <a:srgbClr val="020001"/>
                </a:solidFill>
                <a:latin typeface="+mn-ea"/>
              </a:rPr>
              <a:t>x</a:t>
            </a:r>
            <a:r>
              <a:rPr lang="en-US" altLang="zh-CN" b="1" dirty="0" err="1">
                <a:solidFill>
                  <a:srgbClr val="020001"/>
                </a:solidFill>
                <a:latin typeface="+mn-ea"/>
                <a:sym typeface="Symbol" panose="05050102010706020507" pitchFamily="18" charset="2"/>
              </a:rPr>
              <a:t>V</a:t>
            </a:r>
            <a:r>
              <a:rPr lang="en-US" altLang="zh-CN" b="1" baseline="-25000" dirty="0" err="1">
                <a:solidFill>
                  <a:srgbClr val="020001"/>
                </a:solidFill>
                <a:latin typeface="+mn-ea"/>
                <a:sym typeface="Symbol" panose="05050102010706020507" pitchFamily="18" charset="2"/>
              </a:rPr>
              <a:t>N</a:t>
            </a:r>
            <a:r>
              <a:rPr lang="en-US" altLang="zh-CN" b="1" dirty="0" err="1">
                <a:solidFill>
                  <a:srgbClr val="010000"/>
                </a:solidFill>
                <a:latin typeface="+mn-ea"/>
                <a:sym typeface="Symbol" panose="05050102010706020507" pitchFamily="18" charset="2"/>
              </a:rPr>
              <a:t>∪</a:t>
            </a:r>
            <a:r>
              <a:rPr lang="en-US" altLang="zh-CN" b="1" dirty="0" err="1">
                <a:solidFill>
                  <a:srgbClr val="020001"/>
                </a:solidFill>
                <a:latin typeface="+mn-ea"/>
                <a:sym typeface="Symbol" panose="05050102010706020507" pitchFamily="18" charset="2"/>
              </a:rPr>
              <a:t>V</a:t>
            </a:r>
            <a:r>
              <a:rPr lang="en-US" altLang="zh-CN" b="1" baseline="-25000" dirty="0" err="1">
                <a:solidFill>
                  <a:srgbClr val="020001"/>
                </a:solidFill>
                <a:latin typeface="+mn-ea"/>
                <a:sym typeface="Symbol" panose="05050102010706020507" pitchFamily="18" charset="2"/>
              </a:rPr>
              <a:t>T</a:t>
            </a:r>
            <a:r>
              <a:rPr lang="en-US" altLang="zh-CN" b="1" dirty="0">
                <a:solidFill>
                  <a:srgbClr val="020001"/>
                </a:solidFill>
                <a:latin typeface="+mn-ea"/>
                <a:sym typeface="Symbol" panose="05050102010706020507" pitchFamily="18" charset="2"/>
              </a:rPr>
              <a:t> </a:t>
            </a:r>
            <a:r>
              <a:rPr lang="zh-CN" altLang="en-US" b="1" dirty="0">
                <a:solidFill>
                  <a:srgbClr val="020001"/>
                </a:solidFill>
                <a:latin typeface="+mn-ea"/>
              </a:rPr>
              <a:t>，</a:t>
            </a:r>
            <a:endParaRPr lang="zh-CN" altLang="en-US" b="1" dirty="0">
              <a:solidFill>
                <a:srgbClr val="020001"/>
              </a:solidFill>
              <a:latin typeface="+mn-ea"/>
            </a:endParaRPr>
          </a:p>
          <a:p>
            <a:pPr marL="1348105" lvl="2" indent="-438150">
              <a:lnSpc>
                <a:spcPct val="130000"/>
              </a:lnSpc>
              <a:spcBef>
                <a:spcPts val="0"/>
              </a:spcBef>
              <a:spcAft>
                <a:spcPts val="0"/>
              </a:spcAft>
            </a:pPr>
            <a:r>
              <a:rPr lang="zh-CN" altLang="en-US" sz="2400" b="1" dirty="0">
                <a:solidFill>
                  <a:srgbClr val="020001"/>
                </a:solidFill>
                <a:latin typeface="+mn-ea"/>
              </a:rPr>
              <a:t>计算</a:t>
            </a:r>
            <a:r>
              <a:rPr lang="en-US" altLang="zh-CN" sz="2400" b="1" dirty="0">
                <a:solidFill>
                  <a:srgbClr val="020001"/>
                </a:solidFill>
                <a:latin typeface="+mn-ea"/>
              </a:rPr>
              <a:t>GO(I</a:t>
            </a:r>
            <a:r>
              <a:rPr lang="zh-CN" altLang="en-US" sz="2400" b="1" dirty="0">
                <a:solidFill>
                  <a:srgbClr val="020001"/>
                </a:solidFill>
                <a:latin typeface="+mn-ea"/>
              </a:rPr>
              <a:t>，</a:t>
            </a:r>
            <a:r>
              <a:rPr lang="en-US" altLang="zh-CN" sz="2400" b="1" dirty="0">
                <a:solidFill>
                  <a:srgbClr val="020001"/>
                </a:solidFill>
                <a:latin typeface="+mn-ea"/>
              </a:rPr>
              <a:t>x)= </a:t>
            </a:r>
            <a:r>
              <a:rPr lang="en-US" altLang="zh-CN" sz="2400" b="1" dirty="0">
                <a:solidFill>
                  <a:srgbClr val="0070C0"/>
                </a:solidFill>
                <a:latin typeface="+mn-ea"/>
              </a:rPr>
              <a:t>CLOSURE(J)，</a:t>
            </a:r>
            <a:r>
              <a:rPr lang="zh-CN" altLang="en-US" sz="2400" b="1" dirty="0">
                <a:solidFill>
                  <a:srgbClr val="010000"/>
                </a:solidFill>
                <a:latin typeface="+mn-ea"/>
              </a:rPr>
              <a:t>将</a:t>
            </a:r>
            <a:r>
              <a:rPr lang="zh-CN" altLang="en-US" sz="2400" b="1" dirty="0">
                <a:solidFill>
                  <a:srgbClr val="020001"/>
                </a:solidFill>
                <a:latin typeface="+mn-ea"/>
              </a:rPr>
              <a:t>项目集 </a:t>
            </a:r>
            <a:r>
              <a:rPr lang="en-US" altLang="zh-CN" sz="2400" b="1" dirty="0">
                <a:solidFill>
                  <a:srgbClr val="0070C0"/>
                </a:solidFill>
                <a:latin typeface="+mn-ea"/>
              </a:rPr>
              <a:t>CLOSURE(J)</a:t>
            </a:r>
            <a:r>
              <a:rPr lang="en-US" altLang="zh-CN" sz="2400" b="1" dirty="0">
                <a:solidFill>
                  <a:srgbClr val="020001"/>
                </a:solidFill>
                <a:latin typeface="+mn-ea"/>
              </a:rPr>
              <a:t> </a:t>
            </a:r>
            <a:r>
              <a:rPr lang="zh-CN" altLang="en-US" sz="2400" b="1" dirty="0">
                <a:solidFill>
                  <a:srgbClr val="010000"/>
                </a:solidFill>
                <a:latin typeface="+mn-ea"/>
              </a:rPr>
              <a:t>作为</a:t>
            </a:r>
            <a:r>
              <a:rPr lang="en-US" altLang="zh-CN" sz="2400" b="1" dirty="0">
                <a:solidFill>
                  <a:srgbClr val="010000"/>
                </a:solidFill>
                <a:latin typeface="+mn-ea"/>
              </a:rPr>
              <a:t>DFA</a:t>
            </a:r>
            <a:r>
              <a:rPr lang="zh-CN" altLang="en-US" sz="2400" b="1" dirty="0">
                <a:solidFill>
                  <a:srgbClr val="010000"/>
                </a:solidFill>
                <a:latin typeface="+mn-ea"/>
              </a:rPr>
              <a:t>的一个</a:t>
            </a:r>
            <a:r>
              <a:rPr lang="zh-CN" altLang="en-US" sz="2400" b="1" dirty="0">
                <a:solidFill>
                  <a:srgbClr val="0070C0"/>
                </a:solidFill>
                <a:latin typeface="+mn-ea"/>
              </a:rPr>
              <a:t>新状态</a:t>
            </a:r>
            <a:r>
              <a:rPr lang="zh-CN" altLang="en-US" sz="2400" b="1" dirty="0">
                <a:solidFill>
                  <a:srgbClr val="010000"/>
                </a:solidFill>
                <a:latin typeface="+mn-ea"/>
              </a:rPr>
              <a:t>加入</a:t>
            </a:r>
            <a:r>
              <a:rPr lang="en-US" altLang="zh-CN" sz="2400" b="1" dirty="0">
                <a:solidFill>
                  <a:srgbClr val="010000"/>
                </a:solidFill>
                <a:latin typeface="+mn-ea"/>
              </a:rPr>
              <a:t>DFA</a:t>
            </a:r>
            <a:r>
              <a:rPr lang="zh-CN" altLang="en-US" sz="2400" b="1" dirty="0">
                <a:solidFill>
                  <a:srgbClr val="010000"/>
                </a:solidFill>
                <a:latin typeface="+mn-ea"/>
              </a:rPr>
              <a:t>的状态集；</a:t>
            </a:r>
            <a:endParaRPr lang="en-US" altLang="zh-CN" sz="2400" b="1" dirty="0">
              <a:solidFill>
                <a:srgbClr val="FF3399"/>
              </a:solidFill>
              <a:latin typeface="+mn-ea"/>
            </a:endParaRPr>
          </a:p>
          <a:p>
            <a:pPr marL="1348105" lvl="2" indent="-438150">
              <a:lnSpc>
                <a:spcPct val="130000"/>
              </a:lnSpc>
              <a:spcBef>
                <a:spcPts val="0"/>
              </a:spcBef>
              <a:spcAft>
                <a:spcPts val="0"/>
              </a:spcAft>
            </a:pPr>
            <a:r>
              <a:rPr lang="zh-CN" altLang="en-US" sz="2400" b="1" dirty="0">
                <a:solidFill>
                  <a:srgbClr val="010000"/>
                </a:solidFill>
                <a:latin typeface="+mn-ea"/>
              </a:rPr>
              <a:t>同时将</a:t>
            </a:r>
            <a:r>
              <a:rPr lang="zh-CN" altLang="en-US" sz="2400" b="1" dirty="0">
                <a:solidFill>
                  <a:srgbClr val="0070C0"/>
                </a:solidFill>
                <a:latin typeface="+mn-ea"/>
              </a:rPr>
              <a:t>转移函数</a:t>
            </a:r>
            <a:r>
              <a:rPr lang="en-US" altLang="zh-CN" sz="2400" b="1" dirty="0">
                <a:solidFill>
                  <a:srgbClr val="020001"/>
                </a:solidFill>
                <a:latin typeface="+mn-ea"/>
              </a:rPr>
              <a:t>GO(I</a:t>
            </a:r>
            <a:r>
              <a:rPr lang="zh-CN" altLang="en-US" sz="2400" b="1" dirty="0">
                <a:solidFill>
                  <a:srgbClr val="020001"/>
                </a:solidFill>
                <a:latin typeface="+mn-ea"/>
              </a:rPr>
              <a:t>，</a:t>
            </a:r>
            <a:r>
              <a:rPr lang="en-US" altLang="zh-CN" sz="2400" b="1" dirty="0">
                <a:solidFill>
                  <a:srgbClr val="020001"/>
                </a:solidFill>
                <a:latin typeface="+mn-ea"/>
              </a:rPr>
              <a:t>x)= </a:t>
            </a:r>
            <a:r>
              <a:rPr lang="en-US" altLang="zh-CN" sz="2400" b="1" dirty="0">
                <a:solidFill>
                  <a:srgbClr val="0070C0"/>
                </a:solidFill>
                <a:latin typeface="+mn-ea"/>
              </a:rPr>
              <a:t>CLOSURE(J)</a:t>
            </a:r>
            <a:r>
              <a:rPr lang="zh-CN" altLang="en-US" sz="2400" b="1" dirty="0">
                <a:solidFill>
                  <a:srgbClr val="010000"/>
                </a:solidFill>
                <a:latin typeface="+mn-ea"/>
              </a:rPr>
              <a:t>作为</a:t>
            </a:r>
            <a:r>
              <a:rPr lang="en-US" altLang="zh-CN" sz="2400" b="1" dirty="0">
                <a:solidFill>
                  <a:srgbClr val="010000"/>
                </a:solidFill>
                <a:latin typeface="+mn-ea"/>
              </a:rPr>
              <a:t>DFA</a:t>
            </a:r>
            <a:r>
              <a:rPr lang="zh-CN" altLang="en-US" sz="2400" b="1" dirty="0">
                <a:solidFill>
                  <a:srgbClr val="010000"/>
                </a:solidFill>
                <a:latin typeface="+mn-ea"/>
              </a:rPr>
              <a:t>的</a:t>
            </a:r>
            <a:r>
              <a:rPr lang="zh-CN" altLang="en-US" sz="2400" b="1" dirty="0">
                <a:solidFill>
                  <a:srgbClr val="0070C0"/>
                </a:solidFill>
                <a:latin typeface="+mn-ea"/>
              </a:rPr>
              <a:t>转换函数</a:t>
            </a:r>
            <a:r>
              <a:rPr lang="zh-CN" altLang="en-US" sz="2400" b="1" dirty="0">
                <a:solidFill>
                  <a:srgbClr val="010000"/>
                </a:solidFill>
                <a:latin typeface="+mn-ea"/>
              </a:rPr>
              <a:t>。</a:t>
            </a:r>
            <a:endParaRPr lang="zh-CN" altLang="en-US" sz="24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7" name="Rectangle 3"/>
          <p:cNvSpPr txBox="1">
            <a:spLocks noChangeArrowheads="1"/>
          </p:cNvSpPr>
          <p:nvPr/>
        </p:nvSpPr>
        <p:spPr>
          <a:xfrm>
            <a:off x="760095" y="5401945"/>
            <a:ext cx="9608820" cy="965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20000"/>
              </a:lnSpc>
              <a:spcBef>
                <a:spcPts val="50"/>
              </a:spcBef>
              <a:spcAft>
                <a:spcPts val="0"/>
              </a:spcAft>
              <a:buFont typeface="Times New Roman" panose="02020603050405020304" pitchFamily="18" charset="0"/>
              <a:buAutoNum type="arabicPeriod" startAt="4"/>
            </a:pPr>
            <a:r>
              <a:rPr lang="zh-CN" altLang="en-US" sz="2400" b="1" dirty="0">
                <a:solidFill>
                  <a:srgbClr val="010000"/>
                </a:solidFill>
                <a:latin typeface="+mn-ea"/>
              </a:rPr>
              <a:t>重复2直至的</a:t>
            </a:r>
            <a:r>
              <a:rPr lang="en-US" altLang="zh-CN" sz="2400" b="1" dirty="0">
                <a:solidFill>
                  <a:srgbClr val="010000"/>
                </a:solidFill>
                <a:latin typeface="+mn-ea"/>
              </a:rPr>
              <a:t>DFA</a:t>
            </a:r>
            <a:r>
              <a:rPr lang="zh-CN" altLang="en-US" sz="2400" b="1" dirty="0">
                <a:solidFill>
                  <a:srgbClr val="010000"/>
                </a:solidFill>
                <a:latin typeface="+mn-ea"/>
              </a:rPr>
              <a:t>的状态集中不产生新的状态</a:t>
            </a:r>
            <a:r>
              <a:rPr lang="en-US" altLang="zh-CN" sz="2400" b="1" dirty="0">
                <a:solidFill>
                  <a:srgbClr val="010000"/>
                </a:solidFill>
                <a:latin typeface="+mn-ea"/>
              </a:rPr>
              <a:t>(</a:t>
            </a:r>
            <a:r>
              <a:rPr lang="zh-CN" altLang="en-US" sz="2400" b="1" dirty="0">
                <a:solidFill>
                  <a:srgbClr val="010000"/>
                </a:solidFill>
                <a:latin typeface="+mn-ea"/>
              </a:rPr>
              <a:t>项目集)为止；</a:t>
            </a:r>
            <a:endParaRPr lang="en-US" altLang="zh-CN" sz="2400" b="1" dirty="0">
              <a:solidFill>
                <a:srgbClr val="010000"/>
              </a:solidFill>
              <a:latin typeface="+mn-ea"/>
            </a:endParaRPr>
          </a:p>
          <a:p>
            <a:pPr marL="609600" indent="-609600">
              <a:lnSpc>
                <a:spcPct val="120000"/>
              </a:lnSpc>
              <a:spcBef>
                <a:spcPts val="50"/>
              </a:spcBef>
              <a:spcAft>
                <a:spcPts val="0"/>
              </a:spcAft>
              <a:buFont typeface="Times New Roman" panose="02020603050405020304" pitchFamily="18" charset="0"/>
              <a:buAutoNum type="arabicPeriod" startAt="4"/>
            </a:pPr>
            <a:r>
              <a:rPr lang="zh-CN" altLang="en-US" sz="2400" b="1" dirty="0">
                <a:solidFill>
                  <a:srgbClr val="020001"/>
                </a:solidFill>
                <a:latin typeface="+mn-ea"/>
              </a:rPr>
              <a:t>含有项目</a:t>
            </a:r>
            <a:r>
              <a:rPr lang="en-US" altLang="zh-CN" sz="2400" b="1" dirty="0" err="1">
                <a:solidFill>
                  <a:srgbClr val="020001"/>
                </a:solidFill>
                <a:latin typeface="+mn-ea"/>
              </a:rPr>
              <a:t>U</a:t>
            </a:r>
            <a:r>
              <a:rPr lang="en-US" altLang="zh-CN" sz="2400" b="1" dirty="0" err="1">
                <a:solidFill>
                  <a:srgbClr val="020001"/>
                </a:solidFill>
                <a:latin typeface="+mn-ea"/>
                <a:sym typeface="Symbol" panose="05050102010706020507" pitchFamily="18" charset="2"/>
              </a:rPr>
              <a:t>u</a:t>
            </a:r>
            <a:r>
              <a:rPr lang="en-US" altLang="zh-CN" sz="2400" b="1" dirty="0">
                <a:solidFill>
                  <a:srgbClr val="020001"/>
                </a:solidFill>
                <a:latin typeface="+mn-ea"/>
                <a:sym typeface="Symbol" panose="05050102010706020507" pitchFamily="18" charset="2"/>
              </a:rPr>
              <a:t>. </a:t>
            </a:r>
            <a:r>
              <a:rPr lang="zh-CN" altLang="en-US" sz="2400" b="1" dirty="0">
                <a:solidFill>
                  <a:srgbClr val="020001"/>
                </a:solidFill>
                <a:latin typeface="+mn-ea"/>
                <a:sym typeface="Symbol" panose="05050102010706020507" pitchFamily="18" charset="2"/>
              </a:rPr>
              <a:t>的项目集,作为</a:t>
            </a:r>
            <a:r>
              <a:rPr lang="en-US" altLang="zh-CN" sz="2400" b="1" dirty="0">
                <a:solidFill>
                  <a:srgbClr val="020001"/>
                </a:solidFill>
                <a:latin typeface="+mn-ea"/>
                <a:sym typeface="Symbol" panose="05050102010706020507" pitchFamily="18" charset="2"/>
              </a:rPr>
              <a:t>DFA</a:t>
            </a:r>
            <a:r>
              <a:rPr lang="zh-CN" altLang="en-US" sz="2400" b="1" dirty="0">
                <a:solidFill>
                  <a:srgbClr val="020001"/>
                </a:solidFill>
                <a:latin typeface="+mn-ea"/>
                <a:sym typeface="Symbol" panose="05050102010706020507" pitchFamily="18" charset="2"/>
              </a:rPr>
              <a:t>的终态。</a:t>
            </a:r>
            <a:endParaRPr lang="en-US" altLang="zh-CN"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Horizont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arn(inHorizontal)">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Horizont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arn(inHorizontal)">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p:bldP spid="7"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5"/>
          <p:cNvSpPr>
            <a:spLocks noChangeArrowheads="1"/>
          </p:cNvSpPr>
          <p:nvPr/>
        </p:nvSpPr>
        <p:spPr bwMode="auto">
          <a:xfrm>
            <a:off x="433183" y="1185041"/>
            <a:ext cx="84772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ts val="50"/>
              </a:spcBef>
              <a:spcAft>
                <a:spcPts val="0"/>
              </a:spcAft>
            </a:pPr>
            <a:r>
              <a:rPr lang="zh-CN" altLang="en-US" sz="3200" b="1" dirty="0">
                <a:solidFill>
                  <a:srgbClr val="020001"/>
                </a:solidFill>
                <a:latin typeface="+mn-ea"/>
              </a:rPr>
              <a:t>考虑文法：</a:t>
            </a:r>
            <a:r>
              <a:rPr lang="en-US" altLang="zh-CN" sz="3200" b="1" dirty="0">
                <a:solidFill>
                  <a:srgbClr val="020001"/>
                </a:solidFill>
                <a:latin typeface="+mn-ea"/>
              </a:rPr>
              <a:t>S’→S    S→(S) S | </a:t>
            </a:r>
            <a:r>
              <a:rPr lang="en-US" altLang="zh-CN" sz="3200" b="1" dirty="0">
                <a:solidFill>
                  <a:srgbClr val="010000"/>
                </a:solidFill>
                <a:latin typeface="+mn-ea"/>
                <a:sym typeface="Symbol" panose="05050102010706020507" pitchFamily="18" charset="2"/>
              </a:rPr>
              <a:t>a</a:t>
            </a:r>
            <a:r>
              <a:rPr lang="en-US" altLang="zh-CN" sz="3200" b="1" dirty="0">
                <a:solidFill>
                  <a:srgbClr val="010000"/>
                </a:solidFill>
                <a:latin typeface="+mn-ea"/>
                <a:sym typeface="Symbol" panose="05050102010706020507" pitchFamily="18" charset="2"/>
              </a:rPr>
              <a:t> </a:t>
            </a:r>
            <a:endParaRPr lang="en-US" altLang="zh-CN" sz="3200" b="1" dirty="0">
              <a:solidFill>
                <a:srgbClr val="010000"/>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3" name="Text Box 6"/>
          <p:cNvSpPr txBox="1">
            <a:spLocks noChangeArrowheads="1"/>
          </p:cNvSpPr>
          <p:nvPr>
            <p:custDataLst>
              <p:tags r:id="rId1"/>
            </p:custDataLst>
          </p:nvPr>
        </p:nvSpPr>
        <p:spPr bwMode="auto">
          <a:xfrm>
            <a:off x="4779645" y="1861820"/>
            <a:ext cx="1979930" cy="13963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lnSpc>
                <a:spcPct val="100000"/>
              </a:lnSpc>
              <a:spcBef>
                <a:spcPts val="50"/>
              </a:spcBef>
              <a:spcAft>
                <a:spcPts val="0"/>
              </a:spcAft>
            </a:pPr>
            <a:r>
              <a:rPr lang="en-US" altLang="zh-CN" sz="2800" b="1">
                <a:solidFill>
                  <a:srgbClr val="020001"/>
                </a:solidFill>
                <a:latin typeface="+mn-ea"/>
              </a:rPr>
              <a:t>S’</a:t>
            </a:r>
            <a:r>
              <a:rPr lang="en-US" altLang="zh-CN" sz="2800" b="1">
                <a:solidFill>
                  <a:srgbClr val="020001"/>
                </a:solidFill>
                <a:latin typeface="+mn-ea"/>
                <a:sym typeface="Symbol" panose="05050102010706020507" pitchFamily="18" charset="2"/>
              </a:rPr>
              <a:t> .S</a:t>
            </a:r>
            <a:endParaRPr lang="en-US" altLang="zh-CN" sz="2800" b="1">
              <a:solidFill>
                <a:srgbClr val="020001"/>
              </a:solidFill>
              <a:latin typeface="+mn-ea"/>
              <a:sym typeface="Symbol" panose="05050102010706020507" pitchFamily="18" charset="2"/>
            </a:endParaRPr>
          </a:p>
          <a:p>
            <a:pPr>
              <a:lnSpc>
                <a:spcPct val="100000"/>
              </a:lnSpc>
              <a:spcBef>
                <a:spcPts val="50"/>
              </a:spcBef>
              <a:spcAft>
                <a:spcPts val="0"/>
              </a:spcAft>
            </a:pPr>
            <a:r>
              <a:rPr lang="en-US" altLang="zh-CN" sz="2800" b="1">
                <a:solidFill>
                  <a:srgbClr val="020001"/>
                </a:solidFill>
                <a:latin typeface="+mn-ea"/>
                <a:sym typeface="+mn-ea"/>
              </a:rPr>
              <a:t>S</a:t>
            </a:r>
            <a:r>
              <a:rPr lang="en-US" altLang="zh-CN" sz="2800" b="1">
                <a:solidFill>
                  <a:srgbClr val="020001"/>
                </a:solidFill>
                <a:latin typeface="+mn-ea"/>
                <a:sym typeface="Symbol" panose="05050102010706020507" pitchFamily="18" charset="2"/>
              </a:rPr>
              <a:t> .</a:t>
            </a:r>
            <a:r>
              <a:rPr lang="en-US" altLang="zh-CN" sz="2800" b="1" dirty="0">
                <a:solidFill>
                  <a:srgbClr val="020001"/>
                </a:solidFill>
                <a:latin typeface="+mn-ea"/>
                <a:sym typeface="+mn-ea"/>
              </a:rPr>
              <a:t>(S) S</a:t>
            </a:r>
            <a:endParaRPr lang="en-US" altLang="zh-CN" sz="2800" b="1" dirty="0">
              <a:solidFill>
                <a:srgbClr val="020001"/>
              </a:solidFill>
              <a:latin typeface="+mn-ea"/>
              <a:sym typeface="+mn-ea"/>
            </a:endParaRPr>
          </a:p>
          <a:p>
            <a:pPr>
              <a:lnSpc>
                <a:spcPct val="100000"/>
              </a:lnSpc>
              <a:spcBef>
                <a:spcPts val="50"/>
              </a:spcBef>
              <a:spcAft>
                <a:spcPts val="0"/>
              </a:spcAft>
            </a:pPr>
            <a:r>
              <a:rPr lang="en-US" altLang="zh-CN" sz="2800" b="1">
                <a:solidFill>
                  <a:srgbClr val="020001"/>
                </a:solidFill>
                <a:latin typeface="+mn-ea"/>
                <a:sym typeface="+mn-ea"/>
              </a:rPr>
              <a:t>S</a:t>
            </a:r>
            <a:r>
              <a:rPr lang="en-US" altLang="zh-CN" sz="2800" b="1">
                <a:solidFill>
                  <a:srgbClr val="020001"/>
                </a:solidFill>
                <a:latin typeface="+mn-ea"/>
                <a:sym typeface="Symbol" panose="05050102010706020507" pitchFamily="18" charset="2"/>
              </a:rPr>
              <a:t>.a</a:t>
            </a:r>
            <a:endParaRPr lang="en-US" altLang="zh-CN" sz="2800" b="1">
              <a:solidFill>
                <a:srgbClr val="020001"/>
              </a:solidFill>
              <a:latin typeface="+mn-ea"/>
              <a:sym typeface="Symbol" panose="05050102010706020507" pitchFamily="18" charset="2"/>
            </a:endParaRPr>
          </a:p>
        </p:txBody>
      </p:sp>
      <p:sp>
        <p:nvSpPr>
          <p:cNvPr id="4" name="Text Box 6"/>
          <p:cNvSpPr txBox="1">
            <a:spLocks noChangeArrowheads="1"/>
          </p:cNvSpPr>
          <p:nvPr>
            <p:custDataLst>
              <p:tags r:id="rId2"/>
            </p:custDataLst>
          </p:nvPr>
        </p:nvSpPr>
        <p:spPr bwMode="auto">
          <a:xfrm>
            <a:off x="7765257" y="2055626"/>
            <a:ext cx="175260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a:spAutoFit/>
          </a:bodyPr>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S.</a:t>
            </a:r>
            <a:endParaRPr lang="zh-CN" altLang="en-US" sz="3200" b="1">
              <a:solidFill>
                <a:srgbClr val="020001"/>
              </a:solidFill>
              <a:latin typeface="+mn-ea"/>
              <a:sym typeface="Symbol" panose="05050102010706020507" pitchFamily="18" charset="2"/>
            </a:endParaRPr>
          </a:p>
        </p:txBody>
      </p:sp>
      <p:sp>
        <p:nvSpPr>
          <p:cNvPr id="5" name="Text Box 6"/>
          <p:cNvSpPr txBox="1">
            <a:spLocks noChangeArrowheads="1"/>
          </p:cNvSpPr>
          <p:nvPr>
            <p:custDataLst>
              <p:tags r:id="rId3"/>
            </p:custDataLst>
          </p:nvPr>
        </p:nvSpPr>
        <p:spPr bwMode="auto">
          <a:xfrm>
            <a:off x="5386070" y="3778885"/>
            <a:ext cx="2110105" cy="13963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lnSpc>
                <a:spcPct val="100000"/>
              </a:lnSpc>
              <a:spcBef>
                <a:spcPts val="50"/>
              </a:spcBef>
              <a:spcAft>
                <a:spcPts val="0"/>
              </a:spcAft>
            </a:pPr>
            <a:r>
              <a:rPr lang="en-US" altLang="zh-CN" sz="2800" b="1">
                <a:solidFill>
                  <a:srgbClr val="020001"/>
                </a:solidFill>
                <a:latin typeface="+mn-ea"/>
              </a:rPr>
              <a:t>S</a:t>
            </a:r>
            <a:r>
              <a:rPr lang="en-US" altLang="zh-CN" sz="2800" b="1">
                <a:solidFill>
                  <a:srgbClr val="020001"/>
                </a:solidFill>
                <a:latin typeface="+mn-ea"/>
                <a:sym typeface="Symbol" panose="05050102010706020507" pitchFamily="18" charset="2"/>
              </a:rPr>
              <a:t> </a:t>
            </a:r>
            <a:r>
              <a:rPr lang="en-US" altLang="zh-CN" sz="2800" b="1" dirty="0">
                <a:solidFill>
                  <a:srgbClr val="020001"/>
                </a:solidFill>
                <a:latin typeface="+mn-ea"/>
                <a:sym typeface="+mn-ea"/>
              </a:rPr>
              <a:t>(</a:t>
            </a:r>
            <a:r>
              <a:rPr lang="en-US" altLang="zh-CN" sz="2800" b="1">
                <a:solidFill>
                  <a:srgbClr val="020001"/>
                </a:solidFill>
                <a:latin typeface="+mn-ea"/>
                <a:sym typeface="Symbol" panose="05050102010706020507" pitchFamily="18" charset="2"/>
              </a:rPr>
              <a:t>.</a:t>
            </a:r>
            <a:r>
              <a:rPr lang="en-US" altLang="zh-CN" sz="2800" b="1" dirty="0">
                <a:solidFill>
                  <a:srgbClr val="020001"/>
                </a:solidFill>
                <a:latin typeface="+mn-ea"/>
                <a:sym typeface="+mn-ea"/>
              </a:rPr>
              <a:t>S) S</a:t>
            </a:r>
            <a:endParaRPr lang="en-US" altLang="zh-CN" sz="2800" b="1" dirty="0">
              <a:solidFill>
                <a:srgbClr val="020001"/>
              </a:solidFill>
              <a:latin typeface="+mn-ea"/>
              <a:sym typeface="+mn-ea"/>
            </a:endParaRPr>
          </a:p>
          <a:p>
            <a:pPr>
              <a:lnSpc>
                <a:spcPct val="100000"/>
              </a:lnSpc>
              <a:spcBef>
                <a:spcPts val="50"/>
              </a:spcBef>
              <a:spcAft>
                <a:spcPts val="0"/>
              </a:spcAft>
            </a:pPr>
            <a:r>
              <a:rPr lang="en-US" altLang="zh-CN" sz="2800" b="1">
                <a:solidFill>
                  <a:srgbClr val="020001"/>
                </a:solidFill>
                <a:latin typeface="+mn-ea"/>
                <a:sym typeface="+mn-ea"/>
              </a:rPr>
              <a:t>S</a:t>
            </a:r>
            <a:r>
              <a:rPr lang="en-US" altLang="zh-CN" sz="2800" b="1">
                <a:solidFill>
                  <a:srgbClr val="020001"/>
                </a:solidFill>
                <a:latin typeface="+mn-ea"/>
                <a:sym typeface="Symbol" panose="05050102010706020507" pitchFamily="18" charset="2"/>
              </a:rPr>
              <a:t> .</a:t>
            </a:r>
            <a:r>
              <a:rPr lang="en-US" altLang="zh-CN" sz="2800" b="1" dirty="0">
                <a:solidFill>
                  <a:srgbClr val="020001"/>
                </a:solidFill>
                <a:latin typeface="+mn-ea"/>
                <a:sym typeface="+mn-ea"/>
              </a:rPr>
              <a:t>(S) S</a:t>
            </a:r>
            <a:endParaRPr lang="en-US" altLang="zh-CN" sz="2800" b="1" dirty="0">
              <a:solidFill>
                <a:srgbClr val="020001"/>
              </a:solidFill>
              <a:latin typeface="+mn-ea"/>
              <a:sym typeface="+mn-ea"/>
            </a:endParaRPr>
          </a:p>
          <a:p>
            <a:pPr>
              <a:lnSpc>
                <a:spcPct val="100000"/>
              </a:lnSpc>
              <a:spcBef>
                <a:spcPts val="50"/>
              </a:spcBef>
              <a:spcAft>
                <a:spcPts val="0"/>
              </a:spcAft>
            </a:pPr>
            <a:r>
              <a:rPr lang="en-US" altLang="zh-CN" sz="2800" b="1">
                <a:solidFill>
                  <a:srgbClr val="020001"/>
                </a:solidFill>
                <a:latin typeface="+mn-ea"/>
                <a:sym typeface="+mn-ea"/>
              </a:rPr>
              <a:t>S</a:t>
            </a:r>
            <a:r>
              <a:rPr lang="en-US" altLang="zh-CN" sz="2800" b="1">
                <a:solidFill>
                  <a:srgbClr val="020001"/>
                </a:solidFill>
                <a:latin typeface="+mn-ea"/>
                <a:sym typeface="Symbol" panose="05050102010706020507" pitchFamily="18" charset="2"/>
              </a:rPr>
              <a:t>.a</a:t>
            </a:r>
            <a:endParaRPr lang="en-US" altLang="zh-CN" sz="2800" b="1" dirty="0">
              <a:solidFill>
                <a:srgbClr val="020001"/>
              </a:solidFill>
              <a:latin typeface="+mn-ea"/>
              <a:sym typeface="Symbol" panose="05050102010706020507" pitchFamily="18" charset="2"/>
            </a:endParaRPr>
          </a:p>
        </p:txBody>
      </p:sp>
      <p:sp>
        <p:nvSpPr>
          <p:cNvPr id="8" name="Text Box 6"/>
          <p:cNvSpPr txBox="1">
            <a:spLocks noChangeArrowheads="1"/>
          </p:cNvSpPr>
          <p:nvPr>
            <p:custDataLst>
              <p:tags r:id="rId4"/>
            </p:custDataLst>
          </p:nvPr>
        </p:nvSpPr>
        <p:spPr bwMode="auto">
          <a:xfrm>
            <a:off x="8562975" y="4159250"/>
            <a:ext cx="2110105"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a:t>
            </a:r>
            <a:r>
              <a:rPr lang="en-US" altLang="zh-CN" sz="3200" b="1" dirty="0">
                <a:solidFill>
                  <a:srgbClr val="020001"/>
                </a:solidFill>
                <a:latin typeface="+mn-ea"/>
                <a:sym typeface="+mn-ea"/>
              </a:rPr>
              <a:t>(S</a:t>
            </a:r>
            <a:r>
              <a:rPr lang="en-US" altLang="zh-CN" sz="3200" b="1">
                <a:solidFill>
                  <a:srgbClr val="020001"/>
                </a:solidFill>
                <a:latin typeface="+mn-ea"/>
                <a:sym typeface="Symbol" panose="05050102010706020507" pitchFamily="18" charset="2"/>
              </a:rPr>
              <a:t>.</a:t>
            </a:r>
            <a:r>
              <a:rPr lang="en-US" altLang="zh-CN" sz="3200" b="1" dirty="0">
                <a:solidFill>
                  <a:srgbClr val="020001"/>
                </a:solidFill>
                <a:latin typeface="+mn-ea"/>
                <a:sym typeface="+mn-ea"/>
              </a:rPr>
              <a:t>) S</a:t>
            </a:r>
            <a:endParaRPr lang="zh-CN" altLang="en-US" sz="3200" b="1">
              <a:solidFill>
                <a:srgbClr val="020001"/>
              </a:solidFill>
              <a:latin typeface="+mn-ea"/>
              <a:sym typeface="Symbol" panose="05050102010706020507" pitchFamily="18" charset="2"/>
            </a:endParaRPr>
          </a:p>
        </p:txBody>
      </p:sp>
      <p:sp>
        <p:nvSpPr>
          <p:cNvPr id="9" name="Text Box 6"/>
          <p:cNvSpPr txBox="1">
            <a:spLocks noChangeArrowheads="1"/>
          </p:cNvSpPr>
          <p:nvPr>
            <p:custDataLst>
              <p:tags r:id="rId5"/>
            </p:custDataLst>
          </p:nvPr>
        </p:nvSpPr>
        <p:spPr bwMode="auto">
          <a:xfrm>
            <a:off x="6752590" y="5515610"/>
            <a:ext cx="2033905"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a:t>
            </a:r>
            <a:r>
              <a:rPr lang="en-US" altLang="zh-CN" sz="3200" b="1" dirty="0">
                <a:solidFill>
                  <a:srgbClr val="020001"/>
                </a:solidFill>
                <a:latin typeface="+mn-ea"/>
                <a:sym typeface="+mn-ea"/>
              </a:rPr>
              <a:t>(S)</a:t>
            </a:r>
            <a:r>
              <a:rPr lang="en-US" altLang="zh-CN" sz="3200" b="1">
                <a:solidFill>
                  <a:srgbClr val="020001"/>
                </a:solidFill>
                <a:latin typeface="+mn-ea"/>
                <a:sym typeface="Symbol" panose="05050102010706020507" pitchFamily="18" charset="2"/>
              </a:rPr>
              <a:t>.</a:t>
            </a:r>
            <a:r>
              <a:rPr lang="en-US" altLang="zh-CN" sz="3200" b="1" dirty="0">
                <a:solidFill>
                  <a:srgbClr val="020001"/>
                </a:solidFill>
                <a:latin typeface="+mn-ea"/>
                <a:sym typeface="+mn-ea"/>
              </a:rPr>
              <a:t> S</a:t>
            </a:r>
            <a:endParaRPr lang="zh-CN" altLang="en-US" sz="3200" b="1">
              <a:solidFill>
                <a:srgbClr val="020001"/>
              </a:solidFill>
              <a:latin typeface="+mn-ea"/>
              <a:sym typeface="Symbol" panose="05050102010706020507" pitchFamily="18" charset="2"/>
            </a:endParaRPr>
          </a:p>
        </p:txBody>
      </p:sp>
      <p:sp>
        <p:nvSpPr>
          <p:cNvPr id="26" name="Text Box 6"/>
          <p:cNvSpPr txBox="1">
            <a:spLocks noChangeArrowheads="1"/>
          </p:cNvSpPr>
          <p:nvPr>
            <p:custDataLst>
              <p:tags r:id="rId6"/>
            </p:custDataLst>
          </p:nvPr>
        </p:nvSpPr>
        <p:spPr bwMode="auto">
          <a:xfrm>
            <a:off x="9646920" y="5515610"/>
            <a:ext cx="2110105"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 </a:t>
            </a:r>
            <a:r>
              <a:rPr lang="en-US" altLang="zh-CN" sz="3200" b="1" dirty="0">
                <a:solidFill>
                  <a:srgbClr val="020001"/>
                </a:solidFill>
                <a:latin typeface="+mn-ea"/>
                <a:sym typeface="+mn-ea"/>
              </a:rPr>
              <a:t>(S) S</a:t>
            </a:r>
            <a:r>
              <a:rPr lang="en-US" altLang="zh-CN" sz="3200" b="1">
                <a:solidFill>
                  <a:srgbClr val="020001"/>
                </a:solidFill>
                <a:latin typeface="+mn-ea"/>
                <a:sym typeface="Symbol" panose="05050102010706020507" pitchFamily="18" charset="2"/>
              </a:rPr>
              <a:t>.</a:t>
            </a:r>
            <a:endParaRPr lang="en-US" altLang="zh-CN" sz="3200" b="1">
              <a:solidFill>
                <a:srgbClr val="020001"/>
              </a:solidFill>
              <a:latin typeface="+mn-ea"/>
              <a:sym typeface="Symbol" panose="05050102010706020507" pitchFamily="18" charset="2"/>
            </a:endParaRPr>
          </a:p>
        </p:txBody>
      </p:sp>
      <p:sp>
        <p:nvSpPr>
          <p:cNvPr id="29" name="Text Box 6"/>
          <p:cNvSpPr txBox="1">
            <a:spLocks noChangeArrowheads="1"/>
          </p:cNvSpPr>
          <p:nvPr>
            <p:custDataLst>
              <p:tags r:id="rId7"/>
            </p:custDataLst>
          </p:nvPr>
        </p:nvSpPr>
        <p:spPr bwMode="auto">
          <a:xfrm>
            <a:off x="4738370" y="5638800"/>
            <a:ext cx="1419860" cy="583565"/>
          </a:xfrm>
          <a:prstGeom prst="rect">
            <a:avLst/>
          </a:prstGeom>
          <a:noFill/>
          <a:ln w="9525">
            <a:solidFill>
              <a:srgbClr val="020001"/>
            </a:solidFill>
            <a:miter lim="800000"/>
          </a:ln>
          <a:extLst>
            <a:ext uri="{909E8E84-426E-40DD-AFC4-6F175D3DCCD1}">
              <a14:hiddenFill xmlns:a14="http://schemas.microsoft.com/office/drawing/2010/main">
                <a:solidFill>
                  <a:srgbClr val="FFFFFF"/>
                </a:solidFill>
              </a14:hiddenFill>
            </a:ext>
          </a:extLst>
        </p:spPr>
        <p:txBody>
          <a:bodyPr wrap="square">
            <a:spAutoFit/>
          </a:bodyPr>
          <a:p>
            <a:pPr>
              <a:spcBef>
                <a:spcPct val="50000"/>
              </a:spcBef>
            </a:pPr>
            <a:r>
              <a:rPr lang="en-US" altLang="zh-CN" sz="3200" b="1">
                <a:solidFill>
                  <a:srgbClr val="020001"/>
                </a:solidFill>
                <a:latin typeface="+mn-ea"/>
              </a:rPr>
              <a:t>S</a:t>
            </a:r>
            <a:r>
              <a:rPr lang="en-US" altLang="zh-CN" sz="3200" b="1">
                <a:solidFill>
                  <a:srgbClr val="020001"/>
                </a:solidFill>
                <a:latin typeface="+mn-ea"/>
                <a:sym typeface="Symbol" panose="05050102010706020507" pitchFamily="18" charset="2"/>
              </a:rPr>
              <a:t>a</a:t>
            </a:r>
            <a:r>
              <a:rPr lang="en-US" altLang="zh-CN" sz="3200" b="1">
                <a:solidFill>
                  <a:srgbClr val="020001"/>
                </a:solidFill>
                <a:latin typeface="+mn-ea"/>
                <a:sym typeface="Symbol" panose="05050102010706020507" pitchFamily="18" charset="2"/>
              </a:rPr>
              <a:t>.</a:t>
            </a:r>
            <a:endParaRPr lang="en-US" altLang="zh-CN" sz="3200" b="1">
              <a:solidFill>
                <a:srgbClr val="020001"/>
              </a:solidFill>
              <a:latin typeface="+mn-ea"/>
              <a:sym typeface="Symbol" panose="05050102010706020507" pitchFamily="18" charset="2"/>
            </a:endParaRPr>
          </a:p>
        </p:txBody>
      </p:sp>
      <p:sp>
        <p:nvSpPr>
          <p:cNvPr id="31" name="文本框 30"/>
          <p:cNvSpPr txBox="1"/>
          <p:nvPr/>
        </p:nvSpPr>
        <p:spPr>
          <a:xfrm>
            <a:off x="6352540" y="2832735"/>
            <a:ext cx="407035" cy="368300"/>
          </a:xfrm>
          <a:prstGeom prst="rect">
            <a:avLst/>
          </a:prstGeom>
          <a:noFill/>
        </p:spPr>
        <p:txBody>
          <a:bodyPr wrap="square" rtlCol="0" anchor="t">
            <a:spAutoFit/>
          </a:bodyPr>
          <a:p>
            <a:r>
              <a:rPr lang="zh-CN" altLang="en-US" b="1">
                <a:latin typeface="Calibri" panose="020F0502020204030204" charset="0"/>
                <a:sym typeface="+mn-ea"/>
              </a:rPr>
              <a:t>①</a:t>
            </a:r>
            <a:endParaRPr lang="zh-CN" altLang="en-US" b="1">
              <a:latin typeface="Calibri" panose="020F0502020204030204" charset="0"/>
              <a:sym typeface="+mn-ea"/>
            </a:endParaRPr>
          </a:p>
        </p:txBody>
      </p:sp>
      <p:sp>
        <p:nvSpPr>
          <p:cNvPr id="32" name="文本框 31"/>
          <p:cNvSpPr txBox="1"/>
          <p:nvPr/>
        </p:nvSpPr>
        <p:spPr>
          <a:xfrm>
            <a:off x="9154795" y="2322830"/>
            <a:ext cx="459740" cy="368300"/>
          </a:xfrm>
          <a:prstGeom prst="rect">
            <a:avLst/>
          </a:prstGeom>
          <a:noFill/>
        </p:spPr>
        <p:txBody>
          <a:bodyPr wrap="square" rtlCol="0" anchor="t">
            <a:spAutoFit/>
          </a:bodyPr>
          <a:p>
            <a:r>
              <a:rPr lang="zh-CN" altLang="en-US" b="1">
                <a:highlight>
                  <a:srgbClr val="FFFF00"/>
                </a:highlight>
                <a:latin typeface="Calibri" panose="020F0502020204030204" charset="0"/>
                <a:sym typeface="+mn-ea"/>
              </a:rPr>
              <a:t>②</a:t>
            </a:r>
            <a:endParaRPr lang="zh-CN" altLang="en-US" b="1">
              <a:highlight>
                <a:srgbClr val="FFFF00"/>
              </a:highlight>
              <a:latin typeface="Calibri" panose="020F0502020204030204" charset="0"/>
              <a:sym typeface="+mn-ea"/>
            </a:endParaRPr>
          </a:p>
        </p:txBody>
      </p:sp>
      <p:sp>
        <p:nvSpPr>
          <p:cNvPr id="33" name="文本框 32"/>
          <p:cNvSpPr txBox="1"/>
          <p:nvPr/>
        </p:nvSpPr>
        <p:spPr>
          <a:xfrm>
            <a:off x="7093585" y="4833620"/>
            <a:ext cx="407670" cy="36830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sym typeface="+mn-ea"/>
              </a:rPr>
              <a:t>③</a:t>
            </a:r>
            <a:endParaRPr lang="zh-CN" altLang="en-US">
              <a:latin typeface="微软雅黑" panose="020B0503020204020204" charset="-122"/>
              <a:ea typeface="微软雅黑" panose="020B0503020204020204" charset="-122"/>
              <a:sym typeface="+mn-ea"/>
            </a:endParaRPr>
          </a:p>
        </p:txBody>
      </p:sp>
      <p:sp>
        <p:nvSpPr>
          <p:cNvPr id="34" name="文本框 33"/>
          <p:cNvSpPr txBox="1"/>
          <p:nvPr/>
        </p:nvSpPr>
        <p:spPr>
          <a:xfrm>
            <a:off x="5746750" y="5854065"/>
            <a:ext cx="459740" cy="368300"/>
          </a:xfrm>
          <a:prstGeom prst="rect">
            <a:avLst/>
          </a:prstGeom>
          <a:noFill/>
        </p:spPr>
        <p:txBody>
          <a:bodyPr wrap="square" rtlCol="0" anchor="t">
            <a:spAutoFit/>
          </a:bodyPr>
          <a:p>
            <a:r>
              <a:rPr lang="zh-CN" altLang="en-US">
                <a:highlight>
                  <a:srgbClr val="FFFF00"/>
                </a:highlight>
                <a:latin typeface="微软雅黑" panose="020B0503020204020204" charset="-122"/>
                <a:ea typeface="微软雅黑" panose="020B0503020204020204" charset="-122"/>
                <a:sym typeface="+mn-ea"/>
              </a:rPr>
              <a:t>④</a:t>
            </a:r>
            <a:endParaRPr lang="zh-CN" altLang="en-US">
              <a:highlight>
                <a:srgbClr val="FFFF00"/>
              </a:highlight>
              <a:latin typeface="微软雅黑" panose="020B0503020204020204" charset="-122"/>
              <a:ea typeface="微软雅黑" panose="020B0503020204020204" charset="-122"/>
              <a:sym typeface="+mn-ea"/>
            </a:endParaRPr>
          </a:p>
        </p:txBody>
      </p:sp>
      <p:sp>
        <p:nvSpPr>
          <p:cNvPr id="35" name="文本框 34"/>
          <p:cNvSpPr txBox="1"/>
          <p:nvPr/>
        </p:nvSpPr>
        <p:spPr>
          <a:xfrm>
            <a:off x="10314940" y="4382135"/>
            <a:ext cx="407670" cy="36830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sym typeface="+mn-ea"/>
              </a:rPr>
              <a:t>⑤</a:t>
            </a:r>
            <a:endParaRPr lang="zh-CN" altLang="en-US">
              <a:latin typeface="微软雅黑" panose="020B0503020204020204" charset="-122"/>
              <a:ea typeface="微软雅黑" panose="020B0503020204020204" charset="-122"/>
              <a:sym typeface="+mn-ea"/>
            </a:endParaRPr>
          </a:p>
        </p:txBody>
      </p:sp>
      <p:sp>
        <p:nvSpPr>
          <p:cNvPr id="36" name="文本框 35"/>
          <p:cNvSpPr txBox="1"/>
          <p:nvPr/>
        </p:nvSpPr>
        <p:spPr>
          <a:xfrm>
            <a:off x="8440420" y="5760720"/>
            <a:ext cx="376555" cy="36830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sym typeface="+mn-ea"/>
              </a:rPr>
              <a:t>⑥</a:t>
            </a:r>
            <a:endParaRPr lang="zh-CN" altLang="en-US">
              <a:latin typeface="微软雅黑" panose="020B0503020204020204" charset="-122"/>
              <a:ea typeface="微软雅黑" panose="020B0503020204020204" charset="-122"/>
              <a:sym typeface="+mn-ea"/>
            </a:endParaRPr>
          </a:p>
        </p:txBody>
      </p:sp>
      <p:sp>
        <p:nvSpPr>
          <p:cNvPr id="37" name="文本框 36"/>
          <p:cNvSpPr txBox="1"/>
          <p:nvPr/>
        </p:nvSpPr>
        <p:spPr>
          <a:xfrm>
            <a:off x="11426825" y="5746115"/>
            <a:ext cx="320040" cy="368300"/>
          </a:xfrm>
          <a:prstGeom prst="rect">
            <a:avLst/>
          </a:prstGeom>
          <a:noFill/>
        </p:spPr>
        <p:txBody>
          <a:bodyPr wrap="square" rtlCol="0" anchor="t">
            <a:spAutoFit/>
          </a:bodyPr>
          <a:p>
            <a:r>
              <a:rPr lang="zh-CN" altLang="en-US">
                <a:highlight>
                  <a:srgbClr val="FFFF00"/>
                </a:highlight>
                <a:latin typeface="微软雅黑" panose="020B0503020204020204" charset="-122"/>
                <a:ea typeface="微软雅黑" panose="020B0503020204020204" charset="-122"/>
                <a:sym typeface="+mn-ea"/>
              </a:rPr>
              <a:t>⑦</a:t>
            </a:r>
            <a:endParaRPr lang="zh-CN" altLang="en-US">
              <a:highlight>
                <a:srgbClr val="FFFF00"/>
              </a:highlight>
              <a:latin typeface="微软雅黑" panose="020B0503020204020204" charset="-122"/>
              <a:ea typeface="微软雅黑" panose="020B0503020204020204" charset="-122"/>
              <a:sym typeface="+mn-ea"/>
            </a:endParaRPr>
          </a:p>
        </p:txBody>
      </p:sp>
      <p:grpSp>
        <p:nvGrpSpPr>
          <p:cNvPr id="39" name="Group 20"/>
          <p:cNvGrpSpPr/>
          <p:nvPr/>
        </p:nvGrpSpPr>
        <p:grpSpPr bwMode="auto">
          <a:xfrm>
            <a:off x="5929790" y="3179782"/>
            <a:ext cx="304800" cy="583389"/>
            <a:chOff x="1839" y="1046"/>
            <a:chExt cx="192" cy="542"/>
          </a:xfrm>
        </p:grpSpPr>
        <p:sp>
          <p:nvSpPr>
            <p:cNvPr id="40" name="Text Box 21"/>
            <p:cNvSpPr txBox="1">
              <a:spLocks noChangeArrowheads="1"/>
            </p:cNvSpPr>
            <p:nvPr>
              <p:custDataLst>
                <p:tags r:id="rId8"/>
              </p:custDataLst>
            </p:nvPr>
          </p:nvSpPr>
          <p:spPr bwMode="auto">
            <a:xfrm>
              <a:off x="1839" y="1046"/>
              <a:ext cx="192"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FF0000"/>
                  </a:solidFill>
                  <a:latin typeface="+mn-ea"/>
                  <a:sym typeface="Symbol" panose="05050102010706020507" pitchFamily="18" charset="2"/>
                </a:rPr>
                <a:t>(</a:t>
              </a:r>
              <a:endParaRPr lang="en-US" altLang="zh-CN" sz="3200" b="1">
                <a:solidFill>
                  <a:srgbClr val="FF0000"/>
                </a:solidFill>
                <a:latin typeface="+mn-ea"/>
                <a:sym typeface="Symbol" panose="05050102010706020507" pitchFamily="18" charset="2"/>
              </a:endParaRPr>
            </a:p>
          </p:txBody>
        </p:sp>
        <p:sp>
          <p:nvSpPr>
            <p:cNvPr id="41" name="Line 22"/>
            <p:cNvSpPr>
              <a:spLocks noChangeShapeType="1"/>
            </p:cNvSpPr>
            <p:nvPr>
              <p:custDataLst>
                <p:tags r:id="rId9"/>
              </p:custDataLst>
            </p:nvPr>
          </p:nvSpPr>
          <p:spPr bwMode="auto">
            <a:xfrm>
              <a:off x="1872" y="1119"/>
              <a:ext cx="0" cy="46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grpSp>
        <p:nvGrpSpPr>
          <p:cNvPr id="48" name="Group 15"/>
          <p:cNvGrpSpPr/>
          <p:nvPr/>
        </p:nvGrpSpPr>
        <p:grpSpPr bwMode="auto">
          <a:xfrm>
            <a:off x="6808470" y="2053590"/>
            <a:ext cx="956310" cy="484505"/>
            <a:chOff x="2208" y="859"/>
            <a:chExt cx="672" cy="219"/>
          </a:xfrm>
        </p:grpSpPr>
        <p:sp>
          <p:nvSpPr>
            <p:cNvPr id="49" name="Line 16"/>
            <p:cNvSpPr>
              <a:spLocks noChangeShapeType="1"/>
            </p:cNvSpPr>
            <p:nvPr>
              <p:custDataLst>
                <p:tags r:id="rId10"/>
              </p:custDataLst>
            </p:nvPr>
          </p:nvSpPr>
          <p:spPr bwMode="auto">
            <a:xfrm flipV="1">
              <a:off x="2208" y="1078"/>
              <a:ext cx="67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50" name="Text Box 17"/>
            <p:cNvSpPr txBox="1">
              <a:spLocks noChangeArrowheads="1"/>
            </p:cNvSpPr>
            <p:nvPr>
              <p:custDataLst>
                <p:tags r:id="rId11"/>
              </p:custDataLst>
            </p:nvPr>
          </p:nvSpPr>
          <p:spPr bwMode="auto">
            <a:xfrm>
              <a:off x="2375" y="859"/>
              <a:ext cx="23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p>
              <a:pPr>
                <a:spcBef>
                  <a:spcPct val="50000"/>
                </a:spcBef>
              </a:pPr>
              <a:r>
                <a:rPr lang="en-US" altLang="zh-CN" sz="3200" b="1">
                  <a:solidFill>
                    <a:srgbClr val="FF0000"/>
                  </a:solidFill>
                  <a:latin typeface="+mn-ea"/>
                </a:rPr>
                <a:t>S</a:t>
              </a:r>
              <a:endParaRPr lang="en-US" altLang="zh-CN" sz="3200" b="1">
                <a:solidFill>
                  <a:srgbClr val="FF0000"/>
                </a:solidFill>
                <a:latin typeface="+mn-ea"/>
              </a:endParaRPr>
            </a:p>
          </p:txBody>
        </p:sp>
      </p:grpSp>
      <p:grpSp>
        <p:nvGrpSpPr>
          <p:cNvPr id="54" name="Group 15"/>
          <p:cNvGrpSpPr/>
          <p:nvPr/>
        </p:nvGrpSpPr>
        <p:grpSpPr bwMode="auto">
          <a:xfrm>
            <a:off x="7519829" y="4505895"/>
            <a:ext cx="1022350" cy="484339"/>
            <a:chOff x="2022" y="1096"/>
            <a:chExt cx="644" cy="219"/>
          </a:xfrm>
        </p:grpSpPr>
        <p:sp>
          <p:nvSpPr>
            <p:cNvPr id="55" name="Line 16"/>
            <p:cNvSpPr>
              <a:spLocks noChangeShapeType="1"/>
            </p:cNvSpPr>
            <p:nvPr>
              <p:custDataLst>
                <p:tags r:id="rId12"/>
              </p:custDataLst>
            </p:nvPr>
          </p:nvSpPr>
          <p:spPr bwMode="auto">
            <a:xfrm flipV="1">
              <a:off x="2022" y="1096"/>
              <a:ext cx="644" cy="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56" name="Text Box 17"/>
            <p:cNvSpPr txBox="1">
              <a:spLocks noChangeArrowheads="1"/>
            </p:cNvSpPr>
            <p:nvPr>
              <p:custDataLst>
                <p:tags r:id="rId13"/>
              </p:custDataLst>
            </p:nvPr>
          </p:nvSpPr>
          <p:spPr bwMode="auto">
            <a:xfrm>
              <a:off x="2269" y="1096"/>
              <a:ext cx="23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p>
              <a:pPr>
                <a:spcBef>
                  <a:spcPct val="50000"/>
                </a:spcBef>
              </a:pPr>
              <a:r>
                <a:rPr lang="en-US" altLang="zh-CN" sz="3200" b="1">
                  <a:solidFill>
                    <a:srgbClr val="FF0000"/>
                  </a:solidFill>
                  <a:latin typeface="+mn-ea"/>
                </a:rPr>
                <a:t>S</a:t>
              </a:r>
              <a:endParaRPr lang="en-US" altLang="zh-CN" sz="3200" b="1">
                <a:solidFill>
                  <a:srgbClr val="FF0000"/>
                </a:solidFill>
                <a:latin typeface="+mn-ea"/>
              </a:endParaRPr>
            </a:p>
          </p:txBody>
        </p:sp>
      </p:grpSp>
      <p:grpSp>
        <p:nvGrpSpPr>
          <p:cNvPr id="57" name="Group 15"/>
          <p:cNvGrpSpPr/>
          <p:nvPr/>
        </p:nvGrpSpPr>
        <p:grpSpPr bwMode="auto">
          <a:xfrm>
            <a:off x="8789670" y="5380990"/>
            <a:ext cx="864235" cy="493395"/>
            <a:chOff x="2434" y="903"/>
            <a:chExt cx="882" cy="223"/>
          </a:xfrm>
        </p:grpSpPr>
        <p:sp>
          <p:nvSpPr>
            <p:cNvPr id="58" name="Line 16"/>
            <p:cNvSpPr>
              <a:spLocks noChangeShapeType="1"/>
            </p:cNvSpPr>
            <p:nvPr>
              <p:custDataLst>
                <p:tags r:id="rId14"/>
              </p:custDataLst>
            </p:nvPr>
          </p:nvSpPr>
          <p:spPr bwMode="auto">
            <a:xfrm>
              <a:off x="2434" y="1122"/>
              <a:ext cx="882" cy="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59" name="Text Box 17"/>
            <p:cNvSpPr txBox="1">
              <a:spLocks noChangeArrowheads="1"/>
            </p:cNvSpPr>
            <p:nvPr>
              <p:custDataLst>
                <p:tags r:id="rId15"/>
              </p:custDataLst>
            </p:nvPr>
          </p:nvSpPr>
          <p:spPr bwMode="auto">
            <a:xfrm>
              <a:off x="2755" y="903"/>
              <a:ext cx="23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p>
              <a:pPr>
                <a:spcBef>
                  <a:spcPct val="50000"/>
                </a:spcBef>
              </a:pPr>
              <a:r>
                <a:rPr lang="en-US" altLang="zh-CN" sz="3200" b="1">
                  <a:solidFill>
                    <a:srgbClr val="FF0000"/>
                  </a:solidFill>
                  <a:latin typeface="+mn-ea"/>
                </a:rPr>
                <a:t>S</a:t>
              </a:r>
              <a:endParaRPr lang="en-US" altLang="zh-CN" sz="3200" b="1">
                <a:solidFill>
                  <a:srgbClr val="FF0000"/>
                </a:solidFill>
                <a:latin typeface="+mn-ea"/>
              </a:endParaRPr>
            </a:p>
          </p:txBody>
        </p:sp>
      </p:grpSp>
      <p:grpSp>
        <p:nvGrpSpPr>
          <p:cNvPr id="60" name="Group 20"/>
          <p:cNvGrpSpPr/>
          <p:nvPr/>
        </p:nvGrpSpPr>
        <p:grpSpPr bwMode="auto">
          <a:xfrm>
            <a:off x="7903587" y="4754080"/>
            <a:ext cx="1557684" cy="740367"/>
            <a:chOff x="-558" y="1099"/>
            <a:chExt cx="2924" cy="147"/>
          </a:xfrm>
        </p:grpSpPr>
        <p:sp>
          <p:nvSpPr>
            <p:cNvPr id="61" name="Text Box 21"/>
            <p:cNvSpPr txBox="1">
              <a:spLocks noChangeArrowheads="1"/>
            </p:cNvSpPr>
            <p:nvPr>
              <p:custDataLst>
                <p:tags r:id="rId16"/>
              </p:custDataLst>
            </p:nvPr>
          </p:nvSpPr>
          <p:spPr bwMode="auto">
            <a:xfrm>
              <a:off x="916" y="1109"/>
              <a:ext cx="52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p>
              <a:pPr>
                <a:spcBef>
                  <a:spcPct val="50000"/>
                </a:spcBef>
              </a:pPr>
              <a:r>
                <a:rPr lang="en-US" altLang="zh-CN" sz="3200" b="1">
                  <a:solidFill>
                    <a:srgbClr val="FF0000"/>
                  </a:solidFill>
                  <a:latin typeface="+mn-ea"/>
                  <a:sym typeface="Symbol" panose="05050102010706020507" pitchFamily="18" charset="2"/>
                </a:rPr>
                <a:t>)</a:t>
              </a:r>
              <a:endParaRPr lang="en-US" altLang="zh-CN" sz="3200" b="1">
                <a:solidFill>
                  <a:srgbClr val="FF0000"/>
                </a:solidFill>
                <a:latin typeface="+mn-ea"/>
                <a:sym typeface="Symbol" panose="05050102010706020507" pitchFamily="18" charset="2"/>
              </a:endParaRPr>
            </a:p>
          </p:txBody>
        </p:sp>
        <p:sp>
          <p:nvSpPr>
            <p:cNvPr id="62" name="Line 22"/>
            <p:cNvSpPr>
              <a:spLocks noChangeShapeType="1"/>
            </p:cNvSpPr>
            <p:nvPr>
              <p:custDataLst>
                <p:tags r:id="rId17"/>
              </p:custDataLst>
            </p:nvPr>
          </p:nvSpPr>
          <p:spPr bwMode="auto">
            <a:xfrm flipH="1">
              <a:off x="-558" y="1099"/>
              <a:ext cx="2924" cy="14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grpSp>
        <p:nvGrpSpPr>
          <p:cNvPr id="63" name="Group 15"/>
          <p:cNvGrpSpPr/>
          <p:nvPr/>
        </p:nvGrpSpPr>
        <p:grpSpPr bwMode="auto">
          <a:xfrm>
            <a:off x="5746592" y="5020717"/>
            <a:ext cx="365125" cy="619248"/>
            <a:chOff x="2609" y="878"/>
            <a:chExt cx="230" cy="280"/>
          </a:xfrm>
        </p:grpSpPr>
        <p:sp>
          <p:nvSpPr>
            <p:cNvPr id="64" name="Line 16"/>
            <p:cNvSpPr>
              <a:spLocks noChangeShapeType="1"/>
            </p:cNvSpPr>
            <p:nvPr>
              <p:custDataLst>
                <p:tags r:id="rId18"/>
              </p:custDataLst>
            </p:nvPr>
          </p:nvSpPr>
          <p:spPr bwMode="auto">
            <a:xfrm>
              <a:off x="2609" y="952"/>
              <a:ext cx="0" cy="20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sp>
          <p:nvSpPr>
            <p:cNvPr id="65" name="Text Box 17"/>
            <p:cNvSpPr txBox="1">
              <a:spLocks noChangeArrowheads="1"/>
            </p:cNvSpPr>
            <p:nvPr>
              <p:custDataLst>
                <p:tags r:id="rId19"/>
              </p:custDataLst>
            </p:nvPr>
          </p:nvSpPr>
          <p:spPr bwMode="auto">
            <a:xfrm>
              <a:off x="2609" y="878"/>
              <a:ext cx="23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p>
              <a:pPr>
                <a:spcBef>
                  <a:spcPct val="50000"/>
                </a:spcBef>
              </a:pPr>
              <a:r>
                <a:rPr lang="en-US" altLang="zh-CN" sz="3200" b="1">
                  <a:solidFill>
                    <a:srgbClr val="FF0000"/>
                  </a:solidFill>
                  <a:latin typeface="+mn-ea"/>
                </a:rPr>
                <a:t>a</a:t>
              </a:r>
              <a:endParaRPr lang="en-US" altLang="zh-CN" sz="3200" b="1">
                <a:solidFill>
                  <a:srgbClr val="FF0000"/>
                </a:solidFill>
                <a:latin typeface="+mn-ea"/>
              </a:endParaRPr>
            </a:p>
          </p:txBody>
        </p:sp>
      </p:grpSp>
      <p:grpSp>
        <p:nvGrpSpPr>
          <p:cNvPr id="66" name="Group 62"/>
          <p:cNvGrpSpPr/>
          <p:nvPr/>
        </p:nvGrpSpPr>
        <p:grpSpPr bwMode="auto">
          <a:xfrm>
            <a:off x="6904374" y="3628390"/>
            <a:ext cx="898506" cy="853687"/>
            <a:chOff x="2387" y="4376"/>
            <a:chExt cx="555" cy="1322"/>
          </a:xfrm>
        </p:grpSpPr>
        <p:cxnSp>
          <p:nvCxnSpPr>
            <p:cNvPr id="70" name="AutoShape 63"/>
            <p:cNvCxnSpPr>
              <a:cxnSpLocks noChangeShapeType="1"/>
              <a:stCxn id="5" idx="3"/>
            </p:cNvCxnSpPr>
            <p:nvPr>
              <p:custDataLst>
                <p:tags r:id="rId20"/>
              </p:custDataLst>
            </p:nvPr>
          </p:nvCxnSpPr>
          <p:spPr bwMode="auto">
            <a:xfrm flipH="1" flipV="1">
              <a:off x="2387" y="4706"/>
              <a:ext cx="365" cy="992"/>
            </a:xfrm>
            <a:prstGeom prst="curvedConnector4">
              <a:avLst>
                <a:gd name="adj1" fmla="val -40252"/>
                <a:gd name="adj2" fmla="val 130814"/>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71" name="Text Box 64"/>
            <p:cNvSpPr txBox="1">
              <a:spLocks noChangeArrowheads="1"/>
            </p:cNvSpPr>
            <p:nvPr>
              <p:custDataLst>
                <p:tags r:id="rId21"/>
              </p:custDataLst>
            </p:nvPr>
          </p:nvSpPr>
          <p:spPr bwMode="auto">
            <a:xfrm>
              <a:off x="2750" y="4376"/>
              <a:ext cx="192"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FF0000"/>
                  </a:solidFill>
                  <a:latin typeface="+mn-ea"/>
                  <a:sym typeface="Symbol" panose="05050102010706020507" pitchFamily="18" charset="2"/>
                </a:rPr>
                <a:t>(</a:t>
              </a:r>
              <a:endParaRPr lang="en-US" altLang="zh-CN" sz="3200" b="1">
                <a:solidFill>
                  <a:srgbClr val="FF0000"/>
                </a:solidFill>
                <a:latin typeface="+mn-ea"/>
                <a:sym typeface="Symbol" panose="05050102010706020507" pitchFamily="18" charset="2"/>
              </a:endParaRPr>
            </a:p>
          </p:txBody>
        </p:sp>
      </p:grpSp>
      <p:sp>
        <p:nvSpPr>
          <p:cNvPr id="11" name="文本占位符 10"/>
          <p:cNvSpPr>
            <a:spLocks noGrp="1"/>
          </p:cNvSpPr>
          <p:nvPr>
            <p:ph type="body" sz="quarter" idx="14"/>
            <p:custDataLst>
              <p:tags r:id="rId22"/>
            </p:custDataLst>
          </p:nvPr>
        </p:nvSpPr>
        <p:spPr>
          <a:xfrm>
            <a:off x="501015" y="276860"/>
            <a:ext cx="7352030" cy="593090"/>
          </a:xfrm>
        </p:spPr>
        <p:txBody>
          <a:bodyPr/>
          <a:lstStyle/>
          <a:p>
            <a:r>
              <a:rPr lang="en-US" altLang="zh-CN" sz="3200" dirty="0"/>
              <a:t>2. </a:t>
            </a:r>
            <a:r>
              <a:rPr lang="zh-CN" altLang="en-US" sz="3200" dirty="0"/>
              <a:t>构造识别活前缀的</a:t>
            </a:r>
            <a:r>
              <a:rPr lang="en-US" altLang="zh-CN" sz="3200" dirty="0"/>
              <a:t>DFA</a:t>
            </a:r>
            <a:r>
              <a:rPr lang="zh-CN" altLang="en-US" sz="3200" dirty="0"/>
              <a:t>（续）</a:t>
            </a:r>
            <a:endParaRPr lang="en-US" altLang="zh-CN" sz="3200" dirty="0"/>
          </a:p>
        </p:txBody>
      </p:sp>
      <p:grpSp>
        <p:nvGrpSpPr>
          <p:cNvPr id="13" name="Group 20"/>
          <p:cNvGrpSpPr/>
          <p:nvPr/>
        </p:nvGrpSpPr>
        <p:grpSpPr bwMode="auto">
          <a:xfrm>
            <a:off x="4869180" y="3282805"/>
            <a:ext cx="304800" cy="2320332"/>
            <a:chOff x="1839" y="1065"/>
            <a:chExt cx="192" cy="519"/>
          </a:xfrm>
        </p:grpSpPr>
        <p:sp>
          <p:nvSpPr>
            <p:cNvPr id="14" name="Text Box 21"/>
            <p:cNvSpPr txBox="1">
              <a:spLocks noChangeArrowheads="1"/>
            </p:cNvSpPr>
            <p:nvPr>
              <p:custDataLst>
                <p:tags r:id="rId23"/>
              </p:custDataLst>
            </p:nvPr>
          </p:nvSpPr>
          <p:spPr bwMode="auto">
            <a:xfrm>
              <a:off x="1839" y="1215"/>
              <a:ext cx="19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3200" b="1">
                  <a:solidFill>
                    <a:srgbClr val="FF0000"/>
                  </a:solidFill>
                  <a:latin typeface="+mn-ea"/>
                  <a:sym typeface="Symbol" panose="05050102010706020507" pitchFamily="18" charset="2"/>
                </a:rPr>
                <a:t>a</a:t>
              </a:r>
              <a:endParaRPr lang="en-US" altLang="zh-CN" sz="3200" b="1">
                <a:solidFill>
                  <a:srgbClr val="FF0000"/>
                </a:solidFill>
                <a:latin typeface="+mn-ea"/>
                <a:sym typeface="Symbol" panose="05050102010706020507" pitchFamily="18" charset="2"/>
              </a:endParaRPr>
            </a:p>
          </p:txBody>
        </p:sp>
        <p:sp>
          <p:nvSpPr>
            <p:cNvPr id="15" name="Line 22"/>
            <p:cNvSpPr>
              <a:spLocks noChangeShapeType="1"/>
            </p:cNvSpPr>
            <p:nvPr>
              <p:custDataLst>
                <p:tags r:id="rId24"/>
              </p:custDataLst>
            </p:nvPr>
          </p:nvSpPr>
          <p:spPr bwMode="auto">
            <a:xfrm>
              <a:off x="1859" y="1065"/>
              <a:ext cx="13" cy="519"/>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b="1">
                <a:latin typeface="+mn-ea"/>
              </a:endParaRPr>
            </a:p>
          </p:txBody>
        </p:sp>
      </p:grpSp>
      <p:pic>
        <p:nvPicPr>
          <p:cNvPr id="6" name="图片 5"/>
          <p:cNvPicPr>
            <a:picLocks noChangeAspect="1"/>
          </p:cNvPicPr>
          <p:nvPr/>
        </p:nvPicPr>
        <p:blipFill>
          <a:blip r:embed="rId25"/>
          <a:stretch>
            <a:fillRect/>
          </a:stretch>
        </p:blipFill>
        <p:spPr>
          <a:xfrm>
            <a:off x="464820" y="1813560"/>
            <a:ext cx="4081780" cy="1919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22605" y="276860"/>
            <a:ext cx="7330440" cy="593090"/>
          </a:xfrm>
        </p:spPr>
        <p:txBody>
          <a:bodyPr/>
          <a:lstStyle/>
          <a:p>
            <a:r>
              <a:rPr lang="en-US" altLang="zh-CN" sz="3200" dirty="0"/>
              <a:t>2. </a:t>
            </a:r>
            <a:r>
              <a:rPr lang="zh-CN" altLang="en-US" sz="3200" dirty="0"/>
              <a:t>构造识别活前缀的</a:t>
            </a:r>
            <a:r>
              <a:rPr lang="en-US" altLang="zh-CN" sz="3200" dirty="0"/>
              <a:t>DFA</a:t>
            </a:r>
            <a:r>
              <a:rPr lang="zh-CN" altLang="en-US" sz="3200" dirty="0"/>
              <a:t>（续）</a:t>
            </a:r>
            <a:endParaRPr lang="en-US" altLang="zh-CN" sz="3200" dirty="0"/>
          </a:p>
        </p:txBody>
      </p:sp>
      <p:sp>
        <p:nvSpPr>
          <p:cNvPr id="5" name="Text Box 2"/>
          <p:cNvSpPr txBox="1">
            <a:spLocks noChangeArrowheads="1"/>
          </p:cNvSpPr>
          <p:nvPr/>
        </p:nvSpPr>
        <p:spPr bwMode="auto">
          <a:xfrm>
            <a:off x="416560" y="1400810"/>
            <a:ext cx="3660140"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dirty="0">
                <a:solidFill>
                  <a:srgbClr val="020001"/>
                </a:solidFill>
                <a:latin typeface="+mn-ea"/>
              </a:rPr>
              <a:t> 例：对拓广文法，</a:t>
            </a:r>
            <a:r>
              <a:rPr lang="zh-CN" altLang="en-US" sz="2800" b="1" dirty="0">
                <a:solidFill>
                  <a:srgbClr val="020001"/>
                </a:solidFill>
                <a:latin typeface="+mn-ea"/>
                <a:sym typeface="Symbol" panose="05050102010706020507" pitchFamily="18" charset="2"/>
              </a:rPr>
              <a:t>求出其对应的</a:t>
            </a:r>
            <a:r>
              <a:rPr lang="en-US" altLang="zh-CN" sz="2800" b="1" dirty="0">
                <a:solidFill>
                  <a:srgbClr val="010000"/>
                </a:solidFill>
                <a:latin typeface="+mn-ea"/>
                <a:sym typeface="Symbol" panose="05050102010706020507" pitchFamily="18" charset="2"/>
              </a:rPr>
              <a:t>LR(0)</a:t>
            </a:r>
            <a:r>
              <a:rPr lang="zh-CN" altLang="en-US" sz="2800" b="1" dirty="0">
                <a:solidFill>
                  <a:srgbClr val="020001"/>
                </a:solidFill>
                <a:latin typeface="+mn-ea"/>
                <a:sym typeface="Symbol" panose="05050102010706020507" pitchFamily="18" charset="2"/>
              </a:rPr>
              <a:t>项目集合</a:t>
            </a:r>
            <a:r>
              <a:rPr lang="zh-CN" altLang="en-US" sz="2800" b="1" dirty="0">
                <a:solidFill>
                  <a:srgbClr val="010000"/>
                </a:solidFill>
                <a:latin typeface="+mn-ea"/>
                <a:sym typeface="Symbol" panose="05050102010706020507" pitchFamily="18" charset="2"/>
              </a:rPr>
              <a:t>的</a:t>
            </a:r>
            <a:r>
              <a:rPr lang="en-US" altLang="zh-CN" sz="2800" b="1" dirty="0">
                <a:solidFill>
                  <a:srgbClr val="010000"/>
                </a:solidFill>
                <a:latin typeface="+mn-ea"/>
                <a:sym typeface="Symbol" panose="05050102010706020507" pitchFamily="18" charset="2"/>
              </a:rPr>
              <a:t>DFA</a:t>
            </a:r>
            <a:br>
              <a:rPr lang="zh-CN" altLang="en-US" sz="2800" b="1" dirty="0">
                <a:solidFill>
                  <a:srgbClr val="020001"/>
                </a:solidFill>
                <a:latin typeface="+mn-ea"/>
              </a:rPr>
            </a:br>
            <a:r>
              <a:rPr lang="en-US" altLang="zh-CN" sz="2800" b="1" dirty="0">
                <a:solidFill>
                  <a:srgbClr val="020001"/>
                </a:solidFill>
                <a:latin typeface="+mn-ea"/>
              </a:rPr>
              <a:t>(0) S’</a:t>
            </a:r>
            <a:r>
              <a:rPr lang="en-US" altLang="zh-CN" sz="2800" b="1" dirty="0">
                <a:solidFill>
                  <a:srgbClr val="020001"/>
                </a:solidFill>
                <a:latin typeface="+mn-ea"/>
                <a:sym typeface="Symbol" panose="05050102010706020507" pitchFamily="18" charset="2"/>
              </a:rPr>
              <a:t>S</a:t>
            </a:r>
            <a:br>
              <a:rPr lang="en-US" altLang="zh-CN" sz="2800" b="1" dirty="0">
                <a:solidFill>
                  <a:srgbClr val="020001"/>
                </a:solidFill>
                <a:latin typeface="+mn-ea"/>
                <a:sym typeface="Symbol" panose="05050102010706020507" pitchFamily="18" charset="2"/>
              </a:rPr>
            </a:br>
            <a:r>
              <a:rPr lang="en-US" altLang="zh-CN" sz="2800" b="1" dirty="0">
                <a:solidFill>
                  <a:srgbClr val="020001"/>
                </a:solidFill>
                <a:latin typeface="+mn-ea"/>
                <a:sym typeface="Symbol" panose="05050102010706020507" pitchFamily="18" charset="2"/>
              </a:rPr>
              <a:t>(1) </a:t>
            </a:r>
            <a:r>
              <a:rPr lang="en-US" altLang="zh-CN" sz="2800" b="1" dirty="0" err="1">
                <a:solidFill>
                  <a:srgbClr val="020001"/>
                </a:solidFill>
                <a:latin typeface="+mn-ea"/>
              </a:rPr>
              <a:t>S</a:t>
            </a:r>
            <a:r>
              <a:rPr lang="en-US" altLang="zh-CN" sz="2800" b="1" dirty="0" err="1">
                <a:solidFill>
                  <a:srgbClr val="020001"/>
                </a:solidFill>
                <a:latin typeface="+mn-ea"/>
                <a:sym typeface="Symbol" panose="05050102010706020507" pitchFamily="18" charset="2"/>
              </a:rPr>
              <a:t>aAcBe</a:t>
            </a:r>
            <a:br>
              <a:rPr lang="en-US" altLang="zh-CN" sz="2800" b="1" dirty="0">
                <a:solidFill>
                  <a:srgbClr val="020001"/>
                </a:solidFill>
                <a:latin typeface="+mn-ea"/>
                <a:sym typeface="Symbol" panose="05050102010706020507" pitchFamily="18" charset="2"/>
              </a:rPr>
            </a:br>
            <a:r>
              <a:rPr lang="en-US" altLang="zh-CN" sz="2800" b="1" dirty="0">
                <a:solidFill>
                  <a:srgbClr val="020001"/>
                </a:solidFill>
                <a:latin typeface="+mn-ea"/>
                <a:sym typeface="Symbol" panose="05050102010706020507" pitchFamily="18" charset="2"/>
              </a:rPr>
              <a:t>(2) </a:t>
            </a:r>
            <a:r>
              <a:rPr lang="en-US" altLang="zh-CN" sz="2800" b="1" dirty="0" err="1">
                <a:solidFill>
                  <a:srgbClr val="020001"/>
                </a:solidFill>
                <a:latin typeface="+mn-ea"/>
                <a:sym typeface="Symbol" panose="05050102010706020507" pitchFamily="18" charset="2"/>
              </a:rPr>
              <a:t>Ab</a:t>
            </a:r>
            <a:br>
              <a:rPr lang="en-US" altLang="zh-CN" sz="2800" b="1" dirty="0">
                <a:solidFill>
                  <a:srgbClr val="020001"/>
                </a:solidFill>
                <a:latin typeface="+mn-ea"/>
                <a:sym typeface="Symbol" panose="05050102010706020507" pitchFamily="18" charset="2"/>
              </a:rPr>
            </a:br>
            <a:r>
              <a:rPr lang="en-US" altLang="zh-CN" sz="2800" b="1" dirty="0">
                <a:solidFill>
                  <a:srgbClr val="020001"/>
                </a:solidFill>
                <a:latin typeface="+mn-ea"/>
                <a:sym typeface="Symbol" panose="05050102010706020507" pitchFamily="18" charset="2"/>
              </a:rPr>
              <a:t>(3) </a:t>
            </a:r>
            <a:r>
              <a:rPr lang="en-US" altLang="zh-CN" sz="2800" b="1" dirty="0" err="1">
                <a:solidFill>
                  <a:srgbClr val="020001"/>
                </a:solidFill>
                <a:latin typeface="+mn-ea"/>
                <a:sym typeface="Symbol" panose="05050102010706020507" pitchFamily="18" charset="2"/>
              </a:rPr>
              <a:t>AAb</a:t>
            </a:r>
            <a:br>
              <a:rPr lang="en-US" altLang="zh-CN" sz="2800" b="1" dirty="0">
                <a:solidFill>
                  <a:srgbClr val="020001"/>
                </a:solidFill>
                <a:latin typeface="+mn-ea"/>
                <a:sym typeface="Symbol" panose="05050102010706020507" pitchFamily="18" charset="2"/>
              </a:rPr>
            </a:br>
            <a:r>
              <a:rPr lang="en-US" altLang="zh-CN" sz="2800" b="1" dirty="0">
                <a:solidFill>
                  <a:srgbClr val="020001"/>
                </a:solidFill>
                <a:latin typeface="+mn-ea"/>
                <a:sym typeface="Symbol" panose="05050102010706020507" pitchFamily="18" charset="2"/>
              </a:rPr>
              <a:t>(4) </a:t>
            </a:r>
            <a:r>
              <a:rPr lang="en-US" altLang="zh-CN" sz="2800" b="1" dirty="0" err="1">
                <a:solidFill>
                  <a:srgbClr val="020001"/>
                </a:solidFill>
                <a:latin typeface="+mn-ea"/>
                <a:sym typeface="Symbol" panose="05050102010706020507" pitchFamily="18" charset="2"/>
              </a:rPr>
              <a:t>Bd</a:t>
            </a:r>
            <a:endParaRPr lang="en-US" altLang="zh-CN" sz="2800" b="1" dirty="0">
              <a:solidFill>
                <a:srgbClr val="020001"/>
              </a:solidFill>
              <a:latin typeface="+mn-ea"/>
              <a:sym typeface="Symbol" panose="05050102010706020507" pitchFamily="18" charset="2"/>
            </a:endParaRPr>
          </a:p>
          <a:p>
            <a:pPr>
              <a:spcBef>
                <a:spcPct val="50000"/>
              </a:spcBef>
            </a:pPr>
            <a:endParaRPr lang="en-US" altLang="zh-CN" sz="2800" b="1" dirty="0">
              <a:solidFill>
                <a:srgbClr val="020001"/>
              </a:solidFill>
              <a:latin typeface="+mn-ea"/>
              <a:sym typeface="Symbol" panose="05050102010706020507" pitchFamily="18" charset="2"/>
            </a:endParaRPr>
          </a:p>
        </p:txBody>
      </p:sp>
      <p:sp>
        <p:nvSpPr>
          <p:cNvPr id="9" name="Rectangle 4"/>
          <p:cNvSpPr>
            <a:spLocks noChangeArrowheads="1"/>
          </p:cNvSpPr>
          <p:nvPr/>
        </p:nvSpPr>
        <p:spPr bwMode="auto">
          <a:xfrm>
            <a:off x="365125" y="5396865"/>
            <a:ext cx="36423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solidFill>
                  <a:srgbClr val="0070C0"/>
                </a:solidFill>
                <a:latin typeface="+mn-ea"/>
              </a:rPr>
              <a:t>CLOSURE({S’</a:t>
            </a:r>
            <a:r>
              <a:rPr lang="en-US" altLang="zh-CN" sz="2400" b="1" dirty="0">
                <a:solidFill>
                  <a:srgbClr val="0070C0"/>
                </a:solidFill>
                <a:latin typeface="+mn-ea"/>
                <a:sym typeface="Symbol" panose="05050102010706020507" pitchFamily="18" charset="2"/>
              </a:rPr>
              <a:t> .S </a:t>
            </a:r>
            <a:r>
              <a:rPr lang="en-US" altLang="zh-CN" sz="2400" b="1" dirty="0">
                <a:solidFill>
                  <a:srgbClr val="0070C0"/>
                </a:solidFill>
                <a:latin typeface="+mn-ea"/>
              </a:rPr>
              <a:t>})     ?</a:t>
            </a:r>
            <a:endParaRPr lang="zh-CN" altLang="en-US" sz="2400" b="1" dirty="0">
              <a:solidFill>
                <a:srgbClr val="0070C0"/>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7" name="Group 2"/>
          <p:cNvGrpSpPr/>
          <p:nvPr/>
        </p:nvGrpSpPr>
        <p:grpSpPr bwMode="auto">
          <a:xfrm>
            <a:off x="6670807" y="1245712"/>
            <a:ext cx="822192" cy="537488"/>
            <a:chOff x="2592" y="996"/>
            <a:chExt cx="576" cy="348"/>
          </a:xfrm>
        </p:grpSpPr>
        <p:sp>
          <p:nvSpPr>
            <p:cNvPr id="8" name="Line 3"/>
            <p:cNvSpPr>
              <a:spLocks noChangeShapeType="1"/>
            </p:cNvSpPr>
            <p:nvPr>
              <p:custDataLst>
                <p:tags r:id="rId1"/>
              </p:custDataLst>
            </p:nvPr>
          </p:nvSpPr>
          <p:spPr bwMode="auto">
            <a:xfrm>
              <a:off x="2592" y="1344"/>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1400" b="1">
                <a:latin typeface="+mn-ea"/>
              </a:endParaRPr>
            </a:p>
          </p:txBody>
        </p:sp>
        <p:sp>
          <p:nvSpPr>
            <p:cNvPr id="10" name="Rectangle 4"/>
            <p:cNvSpPr>
              <a:spLocks noChangeArrowheads="1"/>
            </p:cNvSpPr>
            <p:nvPr>
              <p:custDataLst>
                <p:tags r:id="rId2"/>
              </p:custDataLst>
            </p:nvPr>
          </p:nvSpPr>
          <p:spPr bwMode="auto">
            <a:xfrm>
              <a:off x="2784" y="996"/>
              <a:ext cx="24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S</a:t>
              </a:r>
              <a:endParaRPr lang="zh-CN" altLang="en-US" sz="2400" b="1">
                <a:solidFill>
                  <a:srgbClr val="020001"/>
                </a:solidFill>
                <a:latin typeface="+mn-ea"/>
                <a:sym typeface="Symbol" panose="05050102010706020507" pitchFamily="18" charset="2"/>
              </a:endParaRPr>
            </a:p>
          </p:txBody>
        </p:sp>
      </p:grpSp>
      <p:grpSp>
        <p:nvGrpSpPr>
          <p:cNvPr id="11" name="Group 5"/>
          <p:cNvGrpSpPr/>
          <p:nvPr/>
        </p:nvGrpSpPr>
        <p:grpSpPr bwMode="auto">
          <a:xfrm>
            <a:off x="4689328" y="1363584"/>
            <a:ext cx="2090710" cy="1093510"/>
            <a:chOff x="384" y="144"/>
            <a:chExt cx="1796" cy="708"/>
          </a:xfrm>
        </p:grpSpPr>
        <p:sp useBgFill="1">
          <p:nvSpPr>
            <p:cNvPr id="13" name="AutoShape 6"/>
            <p:cNvSpPr>
              <a:spLocks noChangeArrowheads="1"/>
            </p:cNvSpPr>
            <p:nvPr>
              <p:custDataLst>
                <p:tags r:id="rId3"/>
              </p:custDataLst>
            </p:nvPr>
          </p:nvSpPr>
          <p:spPr bwMode="auto">
            <a:xfrm>
              <a:off x="384" y="144"/>
              <a:ext cx="1680" cy="672"/>
            </a:xfrm>
            <a:prstGeom prst="roundRect">
              <a:avLst>
                <a:gd name="adj" fmla="val 16667"/>
              </a:avLst>
            </a:prstGeom>
            <a:ln w="9525">
              <a:solidFill>
                <a:schemeClr val="tx1"/>
              </a:solidFill>
              <a:miter lim="800000"/>
            </a:ln>
          </p:spPr>
          <p:txBody>
            <a:bodyPr wrap="none" anchor="ctr"/>
            <a:p>
              <a:r>
                <a:rPr lang="en-US" altLang="zh-CN" sz="2400" b="1" dirty="0">
                  <a:solidFill>
                    <a:srgbClr val="020001"/>
                  </a:solidFill>
                  <a:latin typeface="+mn-ea"/>
                </a:rPr>
                <a:t>S’</a:t>
              </a:r>
              <a:r>
                <a:rPr lang="en-US" altLang="zh-CN" sz="2400" b="1" dirty="0">
                  <a:solidFill>
                    <a:srgbClr val="020001"/>
                  </a:solidFill>
                  <a:latin typeface="+mn-ea"/>
                  <a:sym typeface="Symbol" panose="05050102010706020507" pitchFamily="18" charset="2"/>
                </a:rPr>
                <a:t> .S</a:t>
              </a:r>
              <a:endParaRPr lang="en-US" altLang="zh-CN" sz="2400" b="1" dirty="0">
                <a:solidFill>
                  <a:srgbClr val="020001"/>
                </a:solidFill>
                <a:latin typeface="+mn-ea"/>
                <a:sym typeface="Symbol" panose="05050102010706020507" pitchFamily="18" charset="2"/>
              </a:endParaRPr>
            </a:p>
            <a:p>
              <a:r>
                <a:rPr lang="en-US" altLang="zh-CN" sz="2400" b="1" dirty="0">
                  <a:solidFill>
                    <a:srgbClr val="020001"/>
                  </a:solidFill>
                  <a:latin typeface="+mn-ea"/>
                </a:rPr>
                <a:t>S</a:t>
              </a:r>
              <a:r>
                <a:rPr lang="en-US" altLang="zh-CN" sz="2400" b="1" dirty="0">
                  <a:solidFill>
                    <a:srgbClr val="020001"/>
                  </a:solidFill>
                  <a:latin typeface="+mn-ea"/>
                  <a:sym typeface="Symbol" panose="05050102010706020507" pitchFamily="18" charset="2"/>
                </a:rPr>
                <a:t> .</a:t>
              </a:r>
              <a:r>
                <a:rPr lang="en-US" altLang="zh-CN" sz="2400" b="1" dirty="0" err="1">
                  <a:solidFill>
                    <a:srgbClr val="020001"/>
                  </a:solidFill>
                  <a:latin typeface="+mn-ea"/>
                  <a:sym typeface="Symbol" panose="05050102010706020507" pitchFamily="18" charset="2"/>
                </a:rPr>
                <a:t>aAcBe</a:t>
              </a:r>
              <a:endParaRPr lang="zh-CN" altLang="en-US" sz="2400" b="1" dirty="0">
                <a:solidFill>
                  <a:srgbClr val="020001"/>
                </a:solidFill>
                <a:latin typeface="+mn-ea"/>
              </a:endParaRPr>
            </a:p>
          </p:txBody>
        </p:sp>
        <p:sp useBgFill="1">
          <p:nvSpPr>
            <p:cNvPr id="14" name="Oval 7"/>
            <p:cNvSpPr>
              <a:spLocks noChangeArrowheads="1"/>
            </p:cNvSpPr>
            <p:nvPr>
              <p:custDataLst>
                <p:tags r:id="rId4"/>
              </p:custDataLst>
            </p:nvPr>
          </p:nvSpPr>
          <p:spPr bwMode="auto">
            <a:xfrm>
              <a:off x="1920" y="624"/>
              <a:ext cx="260" cy="228"/>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0</a:t>
              </a:r>
              <a:endParaRPr lang="zh-CN" altLang="en-US" sz="2400" b="1">
                <a:solidFill>
                  <a:srgbClr val="020001"/>
                </a:solidFill>
                <a:latin typeface="+mn-ea"/>
              </a:endParaRPr>
            </a:p>
          </p:txBody>
        </p:sp>
      </p:grpSp>
      <p:grpSp>
        <p:nvGrpSpPr>
          <p:cNvPr id="15" name="Group 8"/>
          <p:cNvGrpSpPr/>
          <p:nvPr/>
        </p:nvGrpSpPr>
        <p:grpSpPr bwMode="auto">
          <a:xfrm>
            <a:off x="7542187" y="1509121"/>
            <a:ext cx="1587642" cy="593090"/>
            <a:chOff x="2688" y="192"/>
            <a:chExt cx="1344" cy="384"/>
          </a:xfrm>
        </p:grpSpPr>
        <p:sp useBgFill="1">
          <p:nvSpPr>
            <p:cNvPr id="16" name="AutoShape 9"/>
            <p:cNvSpPr>
              <a:spLocks noChangeArrowheads="1"/>
            </p:cNvSpPr>
            <p:nvPr>
              <p:custDataLst>
                <p:tags r:id="rId5"/>
              </p:custDataLst>
            </p:nvPr>
          </p:nvSpPr>
          <p:spPr bwMode="auto">
            <a:xfrm>
              <a:off x="2688" y="192"/>
              <a:ext cx="1201" cy="336"/>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S .</a:t>
              </a:r>
              <a:endParaRPr lang="zh-CN" altLang="en-US" sz="2400" b="1">
                <a:solidFill>
                  <a:srgbClr val="020001"/>
                </a:solidFill>
                <a:latin typeface="+mn-ea"/>
              </a:endParaRPr>
            </a:p>
          </p:txBody>
        </p:sp>
        <p:sp useBgFill="1">
          <p:nvSpPr>
            <p:cNvPr id="17" name="Oval 10"/>
            <p:cNvSpPr>
              <a:spLocks noChangeArrowheads="1"/>
            </p:cNvSpPr>
            <p:nvPr>
              <p:custDataLst>
                <p:tags r:id="rId6"/>
              </p:custDataLst>
            </p:nvPr>
          </p:nvSpPr>
          <p:spPr bwMode="auto">
            <a:xfrm>
              <a:off x="3744" y="384"/>
              <a:ext cx="288" cy="192"/>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1</a:t>
              </a:r>
              <a:endParaRPr lang="zh-CN" altLang="en-US" sz="2400" b="1">
                <a:solidFill>
                  <a:srgbClr val="020001"/>
                </a:solidFill>
                <a:latin typeface="+mn-ea"/>
              </a:endParaRPr>
            </a:p>
          </p:txBody>
        </p:sp>
      </p:grpSp>
      <p:grpSp>
        <p:nvGrpSpPr>
          <p:cNvPr id="18" name="Group 11"/>
          <p:cNvGrpSpPr/>
          <p:nvPr/>
        </p:nvGrpSpPr>
        <p:grpSpPr bwMode="auto">
          <a:xfrm>
            <a:off x="5369324" y="2387591"/>
            <a:ext cx="411095" cy="620891"/>
            <a:chOff x="1968" y="1668"/>
            <a:chExt cx="288" cy="444"/>
          </a:xfrm>
        </p:grpSpPr>
        <p:sp>
          <p:nvSpPr>
            <p:cNvPr id="19" name="Line 12"/>
            <p:cNvSpPr>
              <a:spLocks noChangeShapeType="1"/>
            </p:cNvSpPr>
            <p:nvPr>
              <p:custDataLst>
                <p:tags r:id="rId7"/>
              </p:custDataLst>
            </p:nvPr>
          </p:nvSpPr>
          <p:spPr bwMode="auto">
            <a:xfrm>
              <a:off x="1968" y="1728"/>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0" name="Rectangle 13"/>
            <p:cNvSpPr>
              <a:spLocks noChangeArrowheads="1"/>
            </p:cNvSpPr>
            <p:nvPr>
              <p:custDataLst>
                <p:tags r:id="rId8"/>
              </p:custDataLst>
            </p:nvPr>
          </p:nvSpPr>
          <p:spPr bwMode="auto">
            <a:xfrm>
              <a:off x="2016" y="1668"/>
              <a:ext cx="24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a</a:t>
              </a:r>
              <a:endParaRPr lang="en-US" altLang="zh-CN" sz="2400" b="1">
                <a:solidFill>
                  <a:srgbClr val="020001"/>
                </a:solidFill>
                <a:latin typeface="+mn-ea"/>
                <a:sym typeface="Symbol" panose="05050102010706020507" pitchFamily="18" charset="2"/>
              </a:endParaRPr>
            </a:p>
          </p:txBody>
        </p:sp>
      </p:grpSp>
      <p:grpSp>
        <p:nvGrpSpPr>
          <p:cNvPr id="21" name="Group 14"/>
          <p:cNvGrpSpPr/>
          <p:nvPr/>
        </p:nvGrpSpPr>
        <p:grpSpPr bwMode="auto">
          <a:xfrm>
            <a:off x="6197600" y="3100703"/>
            <a:ext cx="573464" cy="537488"/>
            <a:chOff x="2544" y="1908"/>
            <a:chExt cx="480" cy="348"/>
          </a:xfrm>
        </p:grpSpPr>
        <p:sp>
          <p:nvSpPr>
            <p:cNvPr id="22" name="Line 15"/>
            <p:cNvSpPr>
              <a:spLocks noChangeShapeType="1"/>
            </p:cNvSpPr>
            <p:nvPr>
              <p:custDataLst>
                <p:tags r:id="rId9"/>
              </p:custDataLst>
            </p:nvPr>
          </p:nvSpPr>
          <p:spPr bwMode="auto">
            <a:xfrm>
              <a:off x="2544" y="2256"/>
              <a:ext cx="48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3" name="Rectangle 16"/>
            <p:cNvSpPr>
              <a:spLocks noChangeArrowheads="1"/>
            </p:cNvSpPr>
            <p:nvPr>
              <p:custDataLst>
                <p:tags r:id="rId10"/>
              </p:custDataLst>
            </p:nvPr>
          </p:nvSpPr>
          <p:spPr bwMode="auto">
            <a:xfrm>
              <a:off x="2688" y="1908"/>
              <a:ext cx="3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A</a:t>
              </a:r>
              <a:endParaRPr lang="zh-CN" altLang="en-US" sz="2400" b="1">
                <a:solidFill>
                  <a:srgbClr val="020001"/>
                </a:solidFill>
                <a:latin typeface="+mn-ea"/>
                <a:sym typeface="Symbol" panose="05050102010706020507" pitchFamily="18" charset="2"/>
              </a:endParaRPr>
            </a:p>
          </p:txBody>
        </p:sp>
      </p:grpSp>
      <p:grpSp>
        <p:nvGrpSpPr>
          <p:cNvPr id="24" name="Group 17"/>
          <p:cNvGrpSpPr/>
          <p:nvPr/>
        </p:nvGrpSpPr>
        <p:grpSpPr bwMode="auto">
          <a:xfrm>
            <a:off x="3959225" y="3050818"/>
            <a:ext cx="2010101" cy="1572306"/>
            <a:chOff x="144" y="1200"/>
            <a:chExt cx="1719" cy="1018"/>
          </a:xfrm>
        </p:grpSpPr>
        <p:sp useBgFill="1">
          <p:nvSpPr>
            <p:cNvPr id="25" name="AutoShape 18"/>
            <p:cNvSpPr>
              <a:spLocks noChangeArrowheads="1"/>
            </p:cNvSpPr>
            <p:nvPr>
              <p:custDataLst>
                <p:tags r:id="rId11"/>
              </p:custDataLst>
            </p:nvPr>
          </p:nvSpPr>
          <p:spPr bwMode="auto">
            <a:xfrm>
              <a:off x="144" y="1200"/>
              <a:ext cx="1695" cy="960"/>
            </a:xfrm>
            <a:prstGeom prst="roundRect">
              <a:avLst>
                <a:gd name="adj" fmla="val 16667"/>
              </a:avLst>
            </a:prstGeom>
            <a:ln w="9525">
              <a:solidFill>
                <a:schemeClr val="tx1"/>
              </a:solidFill>
              <a:miter lim="800000"/>
            </a:ln>
          </p:spPr>
          <p:txBody>
            <a:bodyPr wrap="none" anchor="ctr"/>
            <a:p>
              <a:r>
                <a:rPr lang="en-US" altLang="zh-CN" sz="2400" b="1" dirty="0">
                  <a:solidFill>
                    <a:srgbClr val="0070C0"/>
                  </a:solidFill>
                  <a:latin typeface="+mn-ea"/>
                </a:rPr>
                <a:t>S</a:t>
              </a:r>
              <a:r>
                <a:rPr lang="en-US" altLang="zh-CN" sz="2400" b="1" dirty="0">
                  <a:solidFill>
                    <a:srgbClr val="0070C0"/>
                  </a:solidFill>
                  <a:latin typeface="+mn-ea"/>
                  <a:sym typeface="Symbol" panose="05050102010706020507" pitchFamily="18" charset="2"/>
                </a:rPr>
                <a:t> a .</a:t>
              </a:r>
              <a:r>
                <a:rPr lang="en-US" altLang="zh-CN" sz="2400" b="1" dirty="0" err="1">
                  <a:solidFill>
                    <a:srgbClr val="0070C0"/>
                  </a:solidFill>
                  <a:latin typeface="+mn-ea"/>
                  <a:sym typeface="Symbol" panose="05050102010706020507" pitchFamily="18" charset="2"/>
                </a:rPr>
                <a:t>AcBe</a:t>
              </a:r>
              <a:endParaRPr lang="en-US" altLang="zh-CN" sz="2400" b="1" dirty="0">
                <a:solidFill>
                  <a:srgbClr val="0070C0"/>
                </a:solidFill>
                <a:latin typeface="+mn-ea"/>
                <a:sym typeface="Symbol" panose="05050102010706020507" pitchFamily="18" charset="2"/>
              </a:endParaRPr>
            </a:p>
            <a:p>
              <a:r>
                <a:rPr lang="en-US" altLang="zh-CN" sz="2400" b="1" dirty="0">
                  <a:solidFill>
                    <a:srgbClr val="020001"/>
                  </a:solidFill>
                  <a:latin typeface="+mn-ea"/>
                  <a:sym typeface="Symbol" panose="05050102010706020507" pitchFamily="18" charset="2"/>
                </a:rPr>
                <a:t>A .b</a:t>
              </a:r>
              <a:endParaRPr lang="en-US" altLang="zh-CN" sz="2400" b="1" dirty="0">
                <a:solidFill>
                  <a:srgbClr val="F4007A"/>
                </a:solidFill>
                <a:latin typeface="+mn-ea"/>
                <a:sym typeface="Symbol" panose="05050102010706020507" pitchFamily="18" charset="2"/>
              </a:endParaRPr>
            </a:p>
            <a:p>
              <a:r>
                <a:rPr lang="en-US" altLang="zh-CN" sz="2400" b="1" dirty="0">
                  <a:solidFill>
                    <a:srgbClr val="020001"/>
                  </a:solidFill>
                  <a:latin typeface="+mn-ea"/>
                  <a:sym typeface="Symbol" panose="05050102010706020507" pitchFamily="18" charset="2"/>
                </a:rPr>
                <a:t>A .Ab</a:t>
              </a:r>
              <a:r>
                <a:rPr lang="zh-CN" altLang="en-US" sz="2400" b="1" dirty="0">
                  <a:solidFill>
                    <a:srgbClr val="020001"/>
                  </a:solidFill>
                  <a:latin typeface="+mn-ea"/>
                </a:rPr>
                <a:t>  </a:t>
              </a:r>
              <a:endParaRPr lang="zh-CN" altLang="en-US" sz="2400" b="1" dirty="0">
                <a:solidFill>
                  <a:srgbClr val="020001"/>
                </a:solidFill>
                <a:latin typeface="+mn-ea"/>
              </a:endParaRPr>
            </a:p>
          </p:txBody>
        </p:sp>
        <p:sp useBgFill="1">
          <p:nvSpPr>
            <p:cNvPr id="26" name="Oval 19"/>
            <p:cNvSpPr>
              <a:spLocks noChangeArrowheads="1"/>
            </p:cNvSpPr>
            <p:nvPr>
              <p:custDataLst>
                <p:tags r:id="rId12"/>
              </p:custDataLst>
            </p:nvPr>
          </p:nvSpPr>
          <p:spPr bwMode="auto">
            <a:xfrm>
              <a:off x="1496" y="1942"/>
              <a:ext cx="367" cy="276"/>
            </a:xfrm>
            <a:prstGeom prst="ellipse">
              <a:avLst/>
            </a:prstGeom>
            <a:ln w="9525">
              <a:solidFill>
                <a:srgbClr val="020001"/>
              </a:solidFill>
              <a:miter lim="800000"/>
            </a:ln>
          </p:spPr>
          <p:txBody>
            <a:bodyPr wrap="none" anchor="ctr"/>
            <a:p>
              <a:pPr algn="ctr"/>
              <a:r>
                <a:rPr lang="zh-CN" altLang="en-US" sz="2400" b="1" dirty="0">
                  <a:solidFill>
                    <a:srgbClr val="020001"/>
                  </a:solidFill>
                  <a:latin typeface="+mn-ea"/>
                </a:rPr>
                <a:t>2</a:t>
              </a:r>
              <a:endParaRPr lang="zh-CN" altLang="en-US" sz="2400" b="1" dirty="0">
                <a:solidFill>
                  <a:srgbClr val="020001"/>
                </a:solidFill>
                <a:latin typeface="+mn-ea"/>
              </a:endParaRPr>
            </a:p>
          </p:txBody>
        </p:sp>
      </p:grpSp>
      <p:grpSp>
        <p:nvGrpSpPr>
          <p:cNvPr id="27" name="Group 20"/>
          <p:cNvGrpSpPr/>
          <p:nvPr/>
        </p:nvGrpSpPr>
        <p:grpSpPr bwMode="auto">
          <a:xfrm>
            <a:off x="6959599" y="3034480"/>
            <a:ext cx="2305277" cy="963771"/>
            <a:chOff x="2304" y="1200"/>
            <a:chExt cx="1615" cy="624"/>
          </a:xfrm>
        </p:grpSpPr>
        <p:sp useBgFill="1">
          <p:nvSpPr>
            <p:cNvPr id="28" name="AutoShape 21"/>
            <p:cNvSpPr>
              <a:spLocks noChangeArrowheads="1"/>
            </p:cNvSpPr>
            <p:nvPr>
              <p:custDataLst>
                <p:tags r:id="rId13"/>
              </p:custDataLst>
            </p:nvPr>
          </p:nvSpPr>
          <p:spPr bwMode="auto">
            <a:xfrm>
              <a:off x="2304" y="1200"/>
              <a:ext cx="1516" cy="576"/>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aA .cBe</a:t>
              </a:r>
              <a:endParaRPr lang="en-US" altLang="zh-CN" sz="2400" b="1">
                <a:solidFill>
                  <a:srgbClr val="020001"/>
                </a:solidFill>
                <a:latin typeface="+mn-ea"/>
                <a:sym typeface="Symbol" panose="05050102010706020507" pitchFamily="18" charset="2"/>
              </a:endParaRPr>
            </a:p>
            <a:p>
              <a:pPr algn="ctr"/>
              <a:r>
                <a:rPr lang="en-US" altLang="zh-CN" sz="2400" b="1">
                  <a:solidFill>
                    <a:srgbClr val="020001"/>
                  </a:solidFill>
                  <a:latin typeface="+mn-ea"/>
                  <a:sym typeface="Symbol" panose="05050102010706020507" pitchFamily="18" charset="2"/>
                </a:rPr>
                <a:t>A A .b</a:t>
              </a:r>
              <a:r>
                <a:rPr lang="zh-CN" altLang="en-US" sz="2400" b="1">
                  <a:solidFill>
                    <a:srgbClr val="020001"/>
                  </a:solidFill>
                  <a:latin typeface="+mn-ea"/>
                </a:rPr>
                <a:t>  </a:t>
              </a:r>
              <a:endParaRPr lang="zh-CN" altLang="en-US" sz="2400" b="1">
                <a:solidFill>
                  <a:srgbClr val="020001"/>
                </a:solidFill>
                <a:latin typeface="+mn-ea"/>
              </a:endParaRPr>
            </a:p>
          </p:txBody>
        </p:sp>
        <p:sp useBgFill="1">
          <p:nvSpPr>
            <p:cNvPr id="29" name="Oval 22"/>
            <p:cNvSpPr>
              <a:spLocks noChangeArrowheads="1"/>
            </p:cNvSpPr>
            <p:nvPr>
              <p:custDataLst>
                <p:tags r:id="rId14"/>
              </p:custDataLst>
            </p:nvPr>
          </p:nvSpPr>
          <p:spPr bwMode="auto">
            <a:xfrm>
              <a:off x="3668" y="1586"/>
              <a:ext cx="251" cy="238"/>
            </a:xfrm>
            <a:prstGeom prst="ellipse">
              <a:avLst/>
            </a:prstGeom>
            <a:ln w="9525">
              <a:solidFill>
                <a:srgbClr val="020001"/>
              </a:solidFill>
              <a:miter lim="800000"/>
            </a:ln>
          </p:spPr>
          <p:txBody>
            <a:bodyPr wrap="none" anchor="ctr"/>
            <a:p>
              <a:pPr algn="ctr"/>
              <a:r>
                <a:rPr lang="zh-CN" altLang="en-US" sz="2400" b="1" dirty="0">
                  <a:solidFill>
                    <a:srgbClr val="020001"/>
                  </a:solidFill>
                  <a:latin typeface="+mn-ea"/>
                </a:rPr>
                <a:t>3</a:t>
              </a:r>
              <a:endParaRPr lang="zh-CN" altLang="en-US" sz="2400" b="1" dirty="0">
                <a:solidFill>
                  <a:srgbClr val="020001"/>
                </a:solidFill>
                <a:latin typeface="+mn-ea"/>
              </a:endParaRPr>
            </a:p>
          </p:txBody>
        </p:sp>
      </p:grpSp>
      <p:grpSp>
        <p:nvGrpSpPr>
          <p:cNvPr id="30" name="Group 23"/>
          <p:cNvGrpSpPr/>
          <p:nvPr/>
        </p:nvGrpSpPr>
        <p:grpSpPr bwMode="auto">
          <a:xfrm>
            <a:off x="4263855" y="4605108"/>
            <a:ext cx="588675" cy="523315"/>
            <a:chOff x="912" y="2880"/>
            <a:chExt cx="1068" cy="240"/>
          </a:xfrm>
        </p:grpSpPr>
        <p:sp>
          <p:nvSpPr>
            <p:cNvPr id="31" name="Line 24"/>
            <p:cNvSpPr>
              <a:spLocks noChangeShapeType="1"/>
            </p:cNvSpPr>
            <p:nvPr>
              <p:custDataLst>
                <p:tags r:id="rId15"/>
              </p:custDataLst>
            </p:nvPr>
          </p:nvSpPr>
          <p:spPr bwMode="auto">
            <a:xfrm flipH="1">
              <a:off x="912" y="2880"/>
              <a:ext cx="57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2" name="Rectangle 25"/>
            <p:cNvSpPr>
              <a:spLocks noChangeArrowheads="1"/>
            </p:cNvSpPr>
            <p:nvPr>
              <p:custDataLst>
                <p:tags r:id="rId16"/>
              </p:custDataLst>
            </p:nvPr>
          </p:nvSpPr>
          <p:spPr bwMode="auto">
            <a:xfrm>
              <a:off x="1315" y="2905"/>
              <a:ext cx="66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dirty="0">
                  <a:solidFill>
                    <a:srgbClr val="020001"/>
                  </a:solidFill>
                  <a:latin typeface="+mn-ea"/>
                  <a:sym typeface="Symbol" panose="05050102010706020507" pitchFamily="18" charset="2"/>
                </a:rPr>
                <a:t>b</a:t>
              </a:r>
              <a:endParaRPr lang="en-US" altLang="zh-CN" sz="2400" b="1" dirty="0">
                <a:solidFill>
                  <a:srgbClr val="020001"/>
                </a:solidFill>
                <a:latin typeface="+mn-ea"/>
                <a:sym typeface="Symbol" panose="05050102010706020507" pitchFamily="18" charset="2"/>
              </a:endParaRPr>
            </a:p>
          </p:txBody>
        </p:sp>
      </p:grpSp>
      <p:grpSp>
        <p:nvGrpSpPr>
          <p:cNvPr id="33" name="Group 26"/>
          <p:cNvGrpSpPr/>
          <p:nvPr/>
        </p:nvGrpSpPr>
        <p:grpSpPr bwMode="auto">
          <a:xfrm>
            <a:off x="3776488" y="5147909"/>
            <a:ext cx="1781415" cy="650237"/>
            <a:chOff x="96" y="2592"/>
            <a:chExt cx="1248" cy="421"/>
          </a:xfrm>
        </p:grpSpPr>
        <p:sp useBgFill="1">
          <p:nvSpPr>
            <p:cNvPr id="34" name="AutoShape 27"/>
            <p:cNvSpPr>
              <a:spLocks noChangeArrowheads="1"/>
            </p:cNvSpPr>
            <p:nvPr>
              <p:custDataLst>
                <p:tags r:id="rId17"/>
              </p:custDataLst>
            </p:nvPr>
          </p:nvSpPr>
          <p:spPr bwMode="auto">
            <a:xfrm>
              <a:off x="96" y="2592"/>
              <a:ext cx="1201" cy="384"/>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A b .</a:t>
              </a:r>
              <a:endParaRPr lang="zh-CN" altLang="en-US" sz="2400" b="1">
                <a:solidFill>
                  <a:srgbClr val="020001"/>
                </a:solidFill>
                <a:latin typeface="+mn-ea"/>
              </a:endParaRPr>
            </a:p>
          </p:txBody>
        </p:sp>
        <p:sp useBgFill="1">
          <p:nvSpPr>
            <p:cNvPr id="35" name="Oval 28"/>
            <p:cNvSpPr>
              <a:spLocks noChangeArrowheads="1"/>
            </p:cNvSpPr>
            <p:nvPr>
              <p:custDataLst>
                <p:tags r:id="rId18"/>
              </p:custDataLst>
            </p:nvPr>
          </p:nvSpPr>
          <p:spPr bwMode="auto">
            <a:xfrm>
              <a:off x="1104" y="2784"/>
              <a:ext cx="240" cy="229"/>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4</a:t>
              </a:r>
              <a:endParaRPr lang="zh-CN" altLang="en-US" sz="2400" b="1">
                <a:solidFill>
                  <a:srgbClr val="020001"/>
                </a:solidFill>
                <a:latin typeface="+mn-ea"/>
              </a:endParaRPr>
            </a:p>
          </p:txBody>
        </p:sp>
      </p:grpSp>
      <p:grpSp>
        <p:nvGrpSpPr>
          <p:cNvPr id="36" name="Group 29"/>
          <p:cNvGrpSpPr/>
          <p:nvPr/>
        </p:nvGrpSpPr>
        <p:grpSpPr bwMode="auto">
          <a:xfrm>
            <a:off x="6731002" y="3944580"/>
            <a:ext cx="807506" cy="741363"/>
            <a:chOff x="2784" y="2688"/>
            <a:chExt cx="439" cy="480"/>
          </a:xfrm>
        </p:grpSpPr>
        <p:sp>
          <p:nvSpPr>
            <p:cNvPr id="37" name="Line 30"/>
            <p:cNvSpPr>
              <a:spLocks noChangeShapeType="1"/>
            </p:cNvSpPr>
            <p:nvPr>
              <p:custDataLst>
                <p:tags r:id="rId19"/>
              </p:custDataLst>
            </p:nvPr>
          </p:nvSpPr>
          <p:spPr bwMode="auto">
            <a:xfrm flipH="1">
              <a:off x="2784" y="2688"/>
              <a:ext cx="384" cy="48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8" name="Rectangle 31"/>
            <p:cNvSpPr>
              <a:spLocks noChangeArrowheads="1"/>
            </p:cNvSpPr>
            <p:nvPr>
              <p:custDataLst>
                <p:tags r:id="rId20"/>
              </p:custDataLst>
            </p:nvPr>
          </p:nvSpPr>
          <p:spPr bwMode="auto">
            <a:xfrm>
              <a:off x="3024" y="2772"/>
              <a:ext cx="19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b</a:t>
              </a:r>
              <a:endParaRPr lang="zh-CN" altLang="en-US" sz="2400" b="1">
                <a:solidFill>
                  <a:srgbClr val="020001"/>
                </a:solidFill>
                <a:latin typeface="+mn-ea"/>
                <a:sym typeface="Symbol" panose="05050102010706020507" pitchFamily="18" charset="2"/>
              </a:endParaRPr>
            </a:p>
          </p:txBody>
        </p:sp>
      </p:grpSp>
      <p:grpSp>
        <p:nvGrpSpPr>
          <p:cNvPr id="39" name="Group 32"/>
          <p:cNvGrpSpPr/>
          <p:nvPr/>
        </p:nvGrpSpPr>
        <p:grpSpPr bwMode="auto">
          <a:xfrm>
            <a:off x="8483607" y="3929658"/>
            <a:ext cx="326879" cy="889635"/>
            <a:chOff x="3552" y="2688"/>
            <a:chExt cx="229" cy="480"/>
          </a:xfrm>
        </p:grpSpPr>
        <p:sp>
          <p:nvSpPr>
            <p:cNvPr id="40" name="Line 33"/>
            <p:cNvSpPr>
              <a:spLocks noChangeShapeType="1"/>
            </p:cNvSpPr>
            <p:nvPr>
              <p:custDataLst>
                <p:tags r:id="rId21"/>
              </p:custDataLst>
            </p:nvPr>
          </p:nvSpPr>
          <p:spPr bwMode="auto">
            <a:xfrm>
              <a:off x="3552" y="2688"/>
              <a:ext cx="0" cy="48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41" name="Rectangle 34"/>
            <p:cNvSpPr>
              <a:spLocks noChangeArrowheads="1"/>
            </p:cNvSpPr>
            <p:nvPr>
              <p:custDataLst>
                <p:tags r:id="rId22"/>
              </p:custDataLst>
            </p:nvPr>
          </p:nvSpPr>
          <p:spPr bwMode="auto">
            <a:xfrm>
              <a:off x="3552" y="2724"/>
              <a:ext cx="22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c</a:t>
              </a:r>
              <a:endParaRPr lang="zh-CN" altLang="en-US" sz="2400" b="1">
                <a:solidFill>
                  <a:srgbClr val="020001"/>
                </a:solidFill>
                <a:latin typeface="+mn-ea"/>
                <a:sym typeface="Symbol" panose="05050102010706020507" pitchFamily="18" charset="2"/>
              </a:endParaRPr>
            </a:p>
          </p:txBody>
        </p:sp>
      </p:grpSp>
      <p:grpSp>
        <p:nvGrpSpPr>
          <p:cNvPr id="42" name="Group 35"/>
          <p:cNvGrpSpPr/>
          <p:nvPr/>
        </p:nvGrpSpPr>
        <p:grpSpPr bwMode="auto">
          <a:xfrm>
            <a:off x="5514974" y="4694517"/>
            <a:ext cx="1775705" cy="593090"/>
            <a:chOff x="1584" y="2784"/>
            <a:chExt cx="1152" cy="384"/>
          </a:xfrm>
        </p:grpSpPr>
        <p:sp useBgFill="1">
          <p:nvSpPr>
            <p:cNvPr id="43" name="AutoShape 36"/>
            <p:cNvSpPr>
              <a:spLocks noChangeArrowheads="1"/>
            </p:cNvSpPr>
            <p:nvPr>
              <p:custDataLst>
                <p:tags r:id="rId23"/>
              </p:custDataLst>
            </p:nvPr>
          </p:nvSpPr>
          <p:spPr bwMode="auto">
            <a:xfrm>
              <a:off x="1584" y="2784"/>
              <a:ext cx="1057" cy="288"/>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AAb .</a:t>
              </a:r>
              <a:endParaRPr lang="zh-CN" altLang="en-US" sz="2400" b="1">
                <a:solidFill>
                  <a:srgbClr val="020001"/>
                </a:solidFill>
                <a:latin typeface="+mn-ea"/>
              </a:endParaRPr>
            </a:p>
          </p:txBody>
        </p:sp>
        <p:sp useBgFill="1">
          <p:nvSpPr>
            <p:cNvPr id="44" name="Oval 37"/>
            <p:cNvSpPr>
              <a:spLocks noChangeArrowheads="1"/>
            </p:cNvSpPr>
            <p:nvPr>
              <p:custDataLst>
                <p:tags r:id="rId24"/>
              </p:custDataLst>
            </p:nvPr>
          </p:nvSpPr>
          <p:spPr bwMode="auto">
            <a:xfrm>
              <a:off x="2496" y="2928"/>
              <a:ext cx="240"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6</a:t>
              </a:r>
              <a:endParaRPr lang="zh-CN" altLang="en-US" sz="2400" b="1">
                <a:solidFill>
                  <a:srgbClr val="020001"/>
                </a:solidFill>
                <a:latin typeface="+mn-ea"/>
              </a:endParaRPr>
            </a:p>
          </p:txBody>
        </p:sp>
      </p:grpSp>
      <p:grpSp>
        <p:nvGrpSpPr>
          <p:cNvPr id="45" name="Group 38"/>
          <p:cNvGrpSpPr/>
          <p:nvPr/>
        </p:nvGrpSpPr>
        <p:grpSpPr bwMode="auto">
          <a:xfrm>
            <a:off x="7851281" y="4916158"/>
            <a:ext cx="1884189" cy="1130579"/>
            <a:chOff x="2699" y="2285"/>
            <a:chExt cx="1320" cy="732"/>
          </a:xfrm>
        </p:grpSpPr>
        <p:sp useBgFill="1">
          <p:nvSpPr>
            <p:cNvPr id="46" name="AutoShape 39"/>
            <p:cNvSpPr>
              <a:spLocks noChangeArrowheads="1"/>
            </p:cNvSpPr>
            <p:nvPr>
              <p:custDataLst>
                <p:tags r:id="rId25"/>
              </p:custDataLst>
            </p:nvPr>
          </p:nvSpPr>
          <p:spPr bwMode="auto">
            <a:xfrm>
              <a:off x="2699" y="2285"/>
              <a:ext cx="1263" cy="624"/>
            </a:xfrm>
            <a:prstGeom prst="roundRect">
              <a:avLst>
                <a:gd name="adj" fmla="val 16667"/>
              </a:avLst>
            </a:prstGeom>
            <a:ln w="9525">
              <a:solidFill>
                <a:schemeClr val="tx1"/>
              </a:solidFill>
              <a:miter lim="800000"/>
            </a:ln>
          </p:spPr>
          <p:txBody>
            <a:bodyPr wrap="none" anchor="ctr"/>
            <a:p>
              <a:r>
                <a:rPr lang="en-US" altLang="zh-CN" sz="2400" b="1" dirty="0">
                  <a:solidFill>
                    <a:srgbClr val="0070C0"/>
                  </a:solidFill>
                  <a:latin typeface="+mn-ea"/>
                </a:rPr>
                <a:t>S</a:t>
              </a:r>
              <a:r>
                <a:rPr lang="en-US" altLang="zh-CN" sz="2400" b="1" dirty="0">
                  <a:solidFill>
                    <a:srgbClr val="0070C0"/>
                  </a:solidFill>
                  <a:latin typeface="+mn-ea"/>
                  <a:sym typeface="Symbol" panose="05050102010706020507" pitchFamily="18" charset="2"/>
                </a:rPr>
                <a:t> </a:t>
              </a:r>
              <a:r>
                <a:rPr lang="en-US" altLang="zh-CN" sz="2400" b="1" dirty="0" err="1">
                  <a:solidFill>
                    <a:srgbClr val="0070C0"/>
                  </a:solidFill>
                  <a:latin typeface="+mn-ea"/>
                  <a:sym typeface="Symbol" panose="05050102010706020507" pitchFamily="18" charset="2"/>
                </a:rPr>
                <a:t>aAc.Be</a:t>
              </a:r>
              <a:endParaRPr lang="en-US" altLang="zh-CN" sz="2400" b="1" dirty="0">
                <a:solidFill>
                  <a:srgbClr val="0070C0"/>
                </a:solidFill>
                <a:latin typeface="+mn-ea"/>
                <a:sym typeface="Symbol" panose="05050102010706020507" pitchFamily="18" charset="2"/>
              </a:endParaRPr>
            </a:p>
            <a:p>
              <a:r>
                <a:rPr lang="en-US" altLang="zh-CN" sz="2400" b="1" dirty="0" err="1">
                  <a:solidFill>
                    <a:srgbClr val="020001"/>
                  </a:solidFill>
                  <a:latin typeface="+mn-ea"/>
                  <a:sym typeface="Symbol" panose="05050102010706020507" pitchFamily="18" charset="2"/>
                </a:rPr>
                <a:t>B.d</a:t>
              </a:r>
              <a:r>
                <a:rPr lang="en-US" altLang="zh-CN" sz="2400" b="1" dirty="0">
                  <a:solidFill>
                    <a:srgbClr val="020001"/>
                  </a:solidFill>
                  <a:latin typeface="+mn-ea"/>
                  <a:sym typeface="Symbol" panose="05050102010706020507" pitchFamily="18" charset="2"/>
                </a:rPr>
                <a:t> </a:t>
              </a:r>
              <a:endParaRPr lang="zh-CN" altLang="en-US" sz="2400" b="1" dirty="0">
                <a:solidFill>
                  <a:srgbClr val="020001"/>
                </a:solidFill>
                <a:latin typeface="+mn-ea"/>
              </a:endParaRPr>
            </a:p>
          </p:txBody>
        </p:sp>
        <p:sp useBgFill="1">
          <p:nvSpPr>
            <p:cNvPr id="47" name="Oval 40"/>
            <p:cNvSpPr>
              <a:spLocks noChangeArrowheads="1"/>
            </p:cNvSpPr>
            <p:nvPr>
              <p:custDataLst>
                <p:tags r:id="rId26"/>
              </p:custDataLst>
            </p:nvPr>
          </p:nvSpPr>
          <p:spPr bwMode="auto">
            <a:xfrm>
              <a:off x="3751" y="2776"/>
              <a:ext cx="268" cy="241"/>
            </a:xfrm>
            <a:prstGeom prst="ellipse">
              <a:avLst/>
            </a:prstGeom>
            <a:ln w="9525">
              <a:solidFill>
                <a:srgbClr val="020001"/>
              </a:solidFill>
              <a:miter lim="800000"/>
            </a:ln>
          </p:spPr>
          <p:txBody>
            <a:bodyPr wrap="none" anchor="ctr"/>
            <a:p>
              <a:pPr algn="ctr"/>
              <a:r>
                <a:rPr lang="en-US" altLang="zh-CN" sz="2400" b="1">
                  <a:solidFill>
                    <a:srgbClr val="020001"/>
                  </a:solidFill>
                  <a:latin typeface="+mn-ea"/>
                </a:rPr>
                <a:t>5</a:t>
              </a:r>
              <a:endParaRPr lang="zh-CN" altLang="en-US" sz="2400" b="1">
                <a:solidFill>
                  <a:srgbClr val="020001"/>
                </a:solidFill>
                <a:latin typeface="+mn-ea"/>
              </a:endParaRPr>
            </a:p>
          </p:txBody>
        </p:sp>
      </p:grpSp>
      <p:grpSp>
        <p:nvGrpSpPr>
          <p:cNvPr id="48" name="Group 41"/>
          <p:cNvGrpSpPr/>
          <p:nvPr/>
        </p:nvGrpSpPr>
        <p:grpSpPr bwMode="auto">
          <a:xfrm>
            <a:off x="10205968" y="5249204"/>
            <a:ext cx="1717182" cy="518954"/>
            <a:chOff x="4368" y="2592"/>
            <a:chExt cx="1203" cy="336"/>
          </a:xfrm>
        </p:grpSpPr>
        <p:sp useBgFill="1">
          <p:nvSpPr>
            <p:cNvPr id="49" name="AutoShape 42"/>
            <p:cNvSpPr>
              <a:spLocks noChangeArrowheads="1"/>
            </p:cNvSpPr>
            <p:nvPr>
              <p:custDataLst>
                <p:tags r:id="rId27"/>
              </p:custDataLst>
            </p:nvPr>
          </p:nvSpPr>
          <p:spPr bwMode="auto">
            <a:xfrm>
              <a:off x="4368" y="2592"/>
              <a:ext cx="1203" cy="288"/>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B d.</a:t>
              </a:r>
              <a:r>
                <a:rPr lang="zh-CN" altLang="en-US" sz="2400" b="1">
                  <a:solidFill>
                    <a:srgbClr val="020001"/>
                  </a:solidFill>
                  <a:latin typeface="+mn-ea"/>
                </a:rPr>
                <a:t>  </a:t>
              </a:r>
              <a:endParaRPr lang="zh-CN" altLang="en-US" sz="2400" b="1">
                <a:solidFill>
                  <a:srgbClr val="020001"/>
                </a:solidFill>
                <a:latin typeface="+mn-ea"/>
              </a:endParaRPr>
            </a:p>
          </p:txBody>
        </p:sp>
        <p:sp useBgFill="1">
          <p:nvSpPr>
            <p:cNvPr id="50" name="Oval 43"/>
            <p:cNvSpPr>
              <a:spLocks noChangeArrowheads="1"/>
            </p:cNvSpPr>
            <p:nvPr>
              <p:custDataLst>
                <p:tags r:id="rId28"/>
              </p:custDataLst>
            </p:nvPr>
          </p:nvSpPr>
          <p:spPr bwMode="auto">
            <a:xfrm>
              <a:off x="5280" y="2688"/>
              <a:ext cx="243"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7</a:t>
              </a:r>
              <a:endParaRPr lang="zh-CN" altLang="en-US" sz="2400" b="1">
                <a:solidFill>
                  <a:srgbClr val="020001"/>
                </a:solidFill>
                <a:latin typeface="+mn-ea"/>
              </a:endParaRPr>
            </a:p>
          </p:txBody>
        </p:sp>
      </p:grpSp>
      <p:grpSp>
        <p:nvGrpSpPr>
          <p:cNvPr id="51" name="Group 44"/>
          <p:cNvGrpSpPr/>
          <p:nvPr/>
        </p:nvGrpSpPr>
        <p:grpSpPr bwMode="auto">
          <a:xfrm>
            <a:off x="9571571" y="4547609"/>
            <a:ext cx="470756" cy="495125"/>
            <a:chOff x="3959" y="2794"/>
            <a:chExt cx="505" cy="374"/>
          </a:xfrm>
        </p:grpSpPr>
        <p:sp>
          <p:nvSpPr>
            <p:cNvPr id="52" name="Line 45"/>
            <p:cNvSpPr>
              <a:spLocks noChangeShapeType="1"/>
            </p:cNvSpPr>
            <p:nvPr>
              <p:custDataLst>
                <p:tags r:id="rId29"/>
              </p:custDataLst>
            </p:nvPr>
          </p:nvSpPr>
          <p:spPr bwMode="auto">
            <a:xfrm flipV="1">
              <a:off x="4128" y="2928"/>
              <a:ext cx="33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53" name="Rectangle 46"/>
            <p:cNvSpPr>
              <a:spLocks noChangeArrowheads="1"/>
            </p:cNvSpPr>
            <p:nvPr>
              <p:custDataLst>
                <p:tags r:id="rId30"/>
              </p:custDataLst>
            </p:nvPr>
          </p:nvSpPr>
          <p:spPr bwMode="auto">
            <a:xfrm>
              <a:off x="3959" y="2794"/>
              <a:ext cx="394"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dirty="0">
                  <a:solidFill>
                    <a:srgbClr val="020001"/>
                  </a:solidFill>
                  <a:latin typeface="+mn-ea"/>
                  <a:sym typeface="Symbol" panose="05050102010706020507" pitchFamily="18" charset="2"/>
                </a:rPr>
                <a:t>B</a:t>
              </a:r>
              <a:endParaRPr lang="zh-CN" altLang="en-US" sz="2400" b="1" dirty="0">
                <a:solidFill>
                  <a:srgbClr val="020001"/>
                </a:solidFill>
                <a:latin typeface="+mn-ea"/>
                <a:sym typeface="Symbol" panose="05050102010706020507" pitchFamily="18" charset="2"/>
              </a:endParaRPr>
            </a:p>
          </p:txBody>
        </p:sp>
      </p:grpSp>
      <p:grpSp>
        <p:nvGrpSpPr>
          <p:cNvPr id="54" name="Group 47"/>
          <p:cNvGrpSpPr/>
          <p:nvPr/>
        </p:nvGrpSpPr>
        <p:grpSpPr bwMode="auto">
          <a:xfrm>
            <a:off x="9824967" y="4038258"/>
            <a:ext cx="1986963" cy="815499"/>
            <a:chOff x="4224" y="1536"/>
            <a:chExt cx="1392" cy="528"/>
          </a:xfrm>
        </p:grpSpPr>
        <p:sp useBgFill="1">
          <p:nvSpPr>
            <p:cNvPr id="55" name="AutoShape 48"/>
            <p:cNvSpPr>
              <a:spLocks noChangeArrowheads="1"/>
            </p:cNvSpPr>
            <p:nvPr>
              <p:custDataLst>
                <p:tags r:id="rId31"/>
              </p:custDataLst>
            </p:nvPr>
          </p:nvSpPr>
          <p:spPr bwMode="auto">
            <a:xfrm>
              <a:off x="4224" y="1536"/>
              <a:ext cx="1265" cy="384"/>
            </a:xfrm>
            <a:prstGeom prst="roundRect">
              <a:avLst>
                <a:gd name="adj" fmla="val 16667"/>
              </a:avLst>
            </a:prstGeom>
            <a:ln w="9525">
              <a:solidFill>
                <a:schemeClr val="tx1"/>
              </a:solidFill>
              <a:miter lim="800000"/>
            </a:ln>
          </p:spPr>
          <p:txBody>
            <a:bodyPr wrap="none" anchor="ctr"/>
            <a:p>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aAcB.e</a:t>
              </a:r>
              <a:endParaRPr lang="zh-CN" altLang="en-US" sz="2400" b="1">
                <a:solidFill>
                  <a:srgbClr val="020001"/>
                </a:solidFill>
                <a:latin typeface="+mn-ea"/>
              </a:endParaRPr>
            </a:p>
          </p:txBody>
        </p:sp>
        <p:sp useBgFill="1">
          <p:nvSpPr>
            <p:cNvPr id="56" name="Oval 49"/>
            <p:cNvSpPr>
              <a:spLocks noChangeArrowheads="1"/>
            </p:cNvSpPr>
            <p:nvPr>
              <p:custDataLst>
                <p:tags r:id="rId32"/>
              </p:custDataLst>
            </p:nvPr>
          </p:nvSpPr>
          <p:spPr bwMode="auto">
            <a:xfrm>
              <a:off x="5328" y="1824"/>
              <a:ext cx="288"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8</a:t>
              </a:r>
              <a:endParaRPr lang="zh-CN" altLang="en-US" sz="2400" b="1">
                <a:solidFill>
                  <a:srgbClr val="020001"/>
                </a:solidFill>
                <a:latin typeface="+mn-ea"/>
              </a:endParaRPr>
            </a:p>
          </p:txBody>
        </p:sp>
      </p:grpSp>
      <p:grpSp>
        <p:nvGrpSpPr>
          <p:cNvPr id="57" name="Group 50"/>
          <p:cNvGrpSpPr/>
          <p:nvPr/>
        </p:nvGrpSpPr>
        <p:grpSpPr bwMode="auto">
          <a:xfrm>
            <a:off x="11044172" y="3498668"/>
            <a:ext cx="413951" cy="516889"/>
            <a:chOff x="4992" y="2052"/>
            <a:chExt cx="290" cy="348"/>
          </a:xfrm>
        </p:grpSpPr>
        <p:sp>
          <p:nvSpPr>
            <p:cNvPr id="58" name="Line 51"/>
            <p:cNvSpPr>
              <a:spLocks noChangeShapeType="1"/>
            </p:cNvSpPr>
            <p:nvPr>
              <p:custDataLst>
                <p:tags r:id="rId33"/>
              </p:custDataLst>
            </p:nvPr>
          </p:nvSpPr>
          <p:spPr bwMode="auto">
            <a:xfrm flipV="1">
              <a:off x="4992" y="2112"/>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59" name="Rectangle 52"/>
            <p:cNvSpPr>
              <a:spLocks noChangeArrowheads="1"/>
            </p:cNvSpPr>
            <p:nvPr>
              <p:custDataLst>
                <p:tags r:id="rId34"/>
              </p:custDataLst>
            </p:nvPr>
          </p:nvSpPr>
          <p:spPr bwMode="auto">
            <a:xfrm>
              <a:off x="5040" y="2052"/>
              <a:ext cx="2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e</a:t>
              </a:r>
              <a:endParaRPr lang="en-US" altLang="zh-CN" sz="2400" b="1">
                <a:solidFill>
                  <a:srgbClr val="020001"/>
                </a:solidFill>
                <a:latin typeface="+mn-ea"/>
                <a:sym typeface="Symbol" panose="05050102010706020507" pitchFamily="18" charset="2"/>
              </a:endParaRPr>
            </a:p>
          </p:txBody>
        </p:sp>
      </p:grpSp>
      <p:grpSp>
        <p:nvGrpSpPr>
          <p:cNvPr id="60" name="Group 53"/>
          <p:cNvGrpSpPr/>
          <p:nvPr/>
        </p:nvGrpSpPr>
        <p:grpSpPr bwMode="auto">
          <a:xfrm>
            <a:off x="9754842" y="2903514"/>
            <a:ext cx="2085575" cy="667226"/>
            <a:chOff x="3696" y="672"/>
            <a:chExt cx="1728" cy="432"/>
          </a:xfrm>
        </p:grpSpPr>
        <p:sp useBgFill="1">
          <p:nvSpPr>
            <p:cNvPr id="61" name="AutoShape 54"/>
            <p:cNvSpPr>
              <a:spLocks noChangeArrowheads="1"/>
            </p:cNvSpPr>
            <p:nvPr>
              <p:custDataLst>
                <p:tags r:id="rId35"/>
              </p:custDataLst>
            </p:nvPr>
          </p:nvSpPr>
          <p:spPr bwMode="auto">
            <a:xfrm>
              <a:off x="3696" y="672"/>
              <a:ext cx="1728" cy="384"/>
            </a:xfrm>
            <a:prstGeom prst="roundRect">
              <a:avLst>
                <a:gd name="adj" fmla="val 16667"/>
              </a:avLst>
            </a:prstGeom>
            <a:ln w="9525">
              <a:solidFill>
                <a:schemeClr val="tx1"/>
              </a:solidFill>
              <a:miter lim="800000"/>
            </a:ln>
          </p:spPr>
          <p:txBody>
            <a:bodyPr wrap="none" anchor="ctr"/>
            <a:p>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aAcBe.</a:t>
              </a:r>
              <a:endParaRPr lang="zh-CN" altLang="en-US" sz="2400" b="1">
                <a:solidFill>
                  <a:srgbClr val="020001"/>
                </a:solidFill>
                <a:latin typeface="+mn-ea"/>
              </a:endParaRPr>
            </a:p>
          </p:txBody>
        </p:sp>
        <p:sp useBgFill="1">
          <p:nvSpPr>
            <p:cNvPr id="62" name="Oval 55"/>
            <p:cNvSpPr>
              <a:spLocks noChangeArrowheads="1"/>
            </p:cNvSpPr>
            <p:nvPr>
              <p:custDataLst>
                <p:tags r:id="rId36"/>
              </p:custDataLst>
            </p:nvPr>
          </p:nvSpPr>
          <p:spPr bwMode="auto">
            <a:xfrm>
              <a:off x="5136" y="864"/>
              <a:ext cx="288"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9</a:t>
              </a:r>
              <a:endParaRPr lang="zh-CN" altLang="en-US" sz="2400" b="1">
                <a:solidFill>
                  <a:srgbClr val="020001"/>
                </a:solidFill>
                <a:latin typeface="+mn-ea"/>
              </a:endParaRPr>
            </a:p>
          </p:txBody>
        </p:sp>
      </p:grpSp>
      <p:grpSp>
        <p:nvGrpSpPr>
          <p:cNvPr id="63" name="Group 56"/>
          <p:cNvGrpSpPr/>
          <p:nvPr/>
        </p:nvGrpSpPr>
        <p:grpSpPr bwMode="auto">
          <a:xfrm>
            <a:off x="9748762" y="4925866"/>
            <a:ext cx="435362" cy="537488"/>
            <a:chOff x="4224" y="3108"/>
            <a:chExt cx="305" cy="348"/>
          </a:xfrm>
        </p:grpSpPr>
        <p:sp>
          <p:nvSpPr>
            <p:cNvPr id="64" name="Line 57"/>
            <p:cNvSpPr>
              <a:spLocks noChangeShapeType="1"/>
            </p:cNvSpPr>
            <p:nvPr>
              <p:custDataLst>
                <p:tags r:id="rId37"/>
              </p:custDataLst>
            </p:nvPr>
          </p:nvSpPr>
          <p:spPr bwMode="auto">
            <a:xfrm>
              <a:off x="4224" y="3456"/>
              <a:ext cx="28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65" name="Rectangle 58"/>
            <p:cNvSpPr>
              <a:spLocks noChangeArrowheads="1"/>
            </p:cNvSpPr>
            <p:nvPr>
              <p:custDataLst>
                <p:tags r:id="rId38"/>
              </p:custDataLst>
            </p:nvPr>
          </p:nvSpPr>
          <p:spPr bwMode="auto">
            <a:xfrm>
              <a:off x="4272" y="3108"/>
              <a:ext cx="25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d</a:t>
              </a:r>
              <a:endParaRPr lang="zh-CN" altLang="en-US" sz="2400" b="1">
                <a:solidFill>
                  <a:srgbClr val="020001"/>
                </a:solidFill>
                <a:latin typeface="+mn-ea"/>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out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out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out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arn(out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out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arn(outHorizont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arn(outHorizontal)">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barn(outHorizontal)">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barn(outHorizontal)">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barn(outHorizontal)">
                                      <p:cBhvr>
                                        <p:cTn id="57" dur="5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barn(outHorizontal)">
                                      <p:cBhvr>
                                        <p:cTn id="62" dur="500"/>
                                        <p:tgtEl>
                                          <p:spTgt spid="36"/>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arn(outHorizontal)">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barn(outHorizontal)">
                                      <p:cBhvr>
                                        <p:cTn id="72" dur="500"/>
                                        <p:tgtEl>
                                          <p:spTgt spid="63"/>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barn(outHorizontal)">
                                      <p:cBhvr>
                                        <p:cTn id="77" dur="500"/>
                                        <p:tgtEl>
                                          <p:spTgt spid="48"/>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nodeType="click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barn(outHorizontal)">
                                      <p:cBhvr>
                                        <p:cTn id="82" dur="500"/>
                                        <p:tgtEl>
                                          <p:spTgt spid="51"/>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42" fill="hold"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barn(outHorizontal)">
                                      <p:cBhvr>
                                        <p:cTn id="87" dur="500"/>
                                        <p:tgtEl>
                                          <p:spTgt spid="54"/>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42" fill="hold" nodeType="click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barn(outHorizontal)">
                                      <p:cBhvr>
                                        <p:cTn id="92" dur="500"/>
                                        <p:tgtEl>
                                          <p:spTgt spid="57"/>
                                        </p:tgtEl>
                                      </p:cBhvr>
                                    </p:animEffect>
                                  </p:childTnLst>
                                </p:cTn>
                              </p:par>
                            </p:childTnLst>
                          </p:cTn>
                        </p:par>
                      </p:childTnLst>
                    </p:cTn>
                  </p:par>
                  <p:par>
                    <p:cTn id="93" fill="hold">
                      <p:stCondLst>
                        <p:cond delay="indefinite"/>
                      </p:stCondLst>
                      <p:childTnLst>
                        <p:par>
                          <p:cTn id="94" fill="hold">
                            <p:stCondLst>
                              <p:cond delay="0"/>
                            </p:stCondLst>
                            <p:childTnLst>
                              <p:par>
                                <p:cTn id="95" presetID="16" presetClass="entr" presetSubtype="42" fill="hold" nodeType="clickEffect">
                                  <p:stCondLst>
                                    <p:cond delay="0"/>
                                  </p:stCondLst>
                                  <p:childTnLst>
                                    <p:set>
                                      <p:cBhvr>
                                        <p:cTn id="96" dur="1" fill="hold">
                                          <p:stCondLst>
                                            <p:cond delay="0"/>
                                          </p:stCondLst>
                                        </p:cTn>
                                        <p:tgtEl>
                                          <p:spTgt spid="60"/>
                                        </p:tgtEl>
                                        <p:attrNameLst>
                                          <p:attrName>style.visibility</p:attrName>
                                        </p:attrNameLst>
                                      </p:cBhvr>
                                      <p:to>
                                        <p:strVal val="visible"/>
                                      </p:to>
                                    </p:set>
                                    <p:animEffect transition="in" filter="barn(outHorizontal)">
                                      <p:cBhvr>
                                        <p:cTn id="9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64185" y="276860"/>
            <a:ext cx="7388860" cy="593090"/>
          </a:xfrm>
        </p:spPr>
        <p:txBody>
          <a:bodyPr/>
          <a:lstStyle/>
          <a:p>
            <a:r>
              <a:rPr lang="en-US" altLang="zh-CN" sz="3200" dirty="0"/>
              <a:t>2. </a:t>
            </a:r>
            <a:r>
              <a:rPr lang="zh-CN" altLang="en-US" sz="3200" dirty="0"/>
              <a:t>构造识别活前缀的</a:t>
            </a:r>
            <a:r>
              <a:rPr lang="en-US" altLang="zh-CN" sz="3200" dirty="0"/>
              <a:t>DFA</a:t>
            </a:r>
            <a:r>
              <a:rPr lang="zh-CN" altLang="en-US" sz="3200" dirty="0"/>
              <a:t>（续）</a:t>
            </a:r>
            <a:endParaRPr lang="en-US" altLang="zh-CN" sz="3200" dirty="0"/>
          </a:p>
        </p:txBody>
      </p:sp>
      <p:pic>
        <p:nvPicPr>
          <p:cNvPr id="6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565743"/>
            <a:ext cx="8610600" cy="484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Rectangle 3"/>
          <p:cNvSpPr>
            <a:spLocks noChangeArrowheads="1"/>
          </p:cNvSpPr>
          <p:nvPr/>
        </p:nvSpPr>
        <p:spPr bwMode="auto">
          <a:xfrm>
            <a:off x="7579098" y="1565743"/>
            <a:ext cx="28194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solidFill>
                  <a:srgbClr val="020001"/>
                </a:solidFill>
                <a:latin typeface="+mn-ea"/>
              </a:rPr>
              <a:t>求文法:</a:t>
            </a:r>
            <a:r>
              <a:rPr lang="en-US" altLang="zh-CN" sz="2400" b="1" dirty="0">
                <a:solidFill>
                  <a:srgbClr val="020001"/>
                </a:solidFill>
                <a:latin typeface="+mn-ea"/>
              </a:rPr>
              <a:t>S’→S      S→(S) S |</a:t>
            </a:r>
            <a:r>
              <a:rPr lang="en-US" altLang="zh-CN" sz="2400" b="1" dirty="0">
                <a:solidFill>
                  <a:srgbClr val="010000"/>
                </a:solidFill>
                <a:latin typeface="+mn-ea"/>
                <a:sym typeface="Symbol" panose="05050102010706020507" pitchFamily="18" charset="2"/>
              </a:rPr>
              <a:t>ε </a:t>
            </a:r>
            <a:r>
              <a:rPr lang="zh-CN" altLang="en-US" sz="2400" b="1" dirty="0">
                <a:solidFill>
                  <a:srgbClr val="010000"/>
                </a:solidFill>
                <a:latin typeface="+mn-ea"/>
                <a:sym typeface="Symbol" panose="05050102010706020507" pitchFamily="18" charset="2"/>
              </a:rPr>
              <a:t>对应的</a:t>
            </a:r>
            <a:r>
              <a:rPr lang="en-US" altLang="zh-CN" sz="2400" b="1" dirty="0">
                <a:solidFill>
                  <a:srgbClr val="010000"/>
                </a:solidFill>
                <a:latin typeface="+mn-ea"/>
                <a:sym typeface="Symbol" panose="05050102010706020507" pitchFamily="18" charset="2"/>
              </a:rPr>
              <a:t>LR(0)</a:t>
            </a:r>
            <a:r>
              <a:rPr lang="zh-CN" altLang="en-US" sz="2400" b="1" dirty="0">
                <a:solidFill>
                  <a:srgbClr val="020001"/>
                </a:solidFill>
                <a:latin typeface="+mn-ea"/>
                <a:sym typeface="Symbol" panose="05050102010706020507" pitchFamily="18" charset="2"/>
              </a:rPr>
              <a:t>项目集合</a:t>
            </a:r>
            <a:r>
              <a:rPr lang="zh-CN" altLang="en-US" sz="2400" b="1" dirty="0">
                <a:solidFill>
                  <a:srgbClr val="010000"/>
                </a:solidFill>
                <a:latin typeface="+mn-ea"/>
                <a:sym typeface="Symbol" panose="05050102010706020507" pitchFamily="18" charset="2"/>
              </a:rPr>
              <a:t>的</a:t>
            </a:r>
            <a:r>
              <a:rPr lang="en-US" altLang="zh-CN" sz="2400" b="1" dirty="0">
                <a:solidFill>
                  <a:srgbClr val="0070C0"/>
                </a:solidFill>
                <a:latin typeface="+mn-ea"/>
                <a:sym typeface="Symbol" panose="05050102010706020507" pitchFamily="18" charset="2"/>
              </a:rPr>
              <a:t>DFA</a:t>
            </a:r>
            <a:endParaRPr lang="en-US" altLang="zh-CN" sz="2400" b="1" dirty="0">
              <a:solidFill>
                <a:srgbClr val="0070C0"/>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strips(downLeft)">
                                      <p:cBhvr>
                                        <p:cTn id="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87375" y="276860"/>
            <a:ext cx="7265670" cy="593090"/>
          </a:xfrm>
        </p:spPr>
        <p:txBody>
          <a:bodyPr/>
          <a:lstStyle/>
          <a:p>
            <a:r>
              <a:rPr lang="en-US" altLang="zh-CN" sz="3200" dirty="0"/>
              <a:t>3. LR(0)</a:t>
            </a:r>
            <a:r>
              <a:rPr lang="zh-CN" altLang="en-US" sz="3200" dirty="0"/>
              <a:t>分析表的构造</a:t>
            </a:r>
            <a:endParaRPr lang="zh-CN" altLang="en-US" sz="3200" dirty="0"/>
          </a:p>
        </p:txBody>
      </p:sp>
      <p:sp>
        <p:nvSpPr>
          <p:cNvPr id="5" name="Text Box 3"/>
          <p:cNvSpPr txBox="1">
            <a:spLocks noChangeArrowheads="1"/>
          </p:cNvSpPr>
          <p:nvPr/>
        </p:nvSpPr>
        <p:spPr bwMode="auto">
          <a:xfrm>
            <a:off x="623570" y="1760855"/>
            <a:ext cx="113131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0" indent="0">
              <a:spcBef>
                <a:spcPct val="50000"/>
              </a:spcBef>
              <a:buFont typeface="Times New Roman" panose="02020603050405020304" pitchFamily="18" charset="0"/>
              <a:buNone/>
            </a:pPr>
            <a:r>
              <a:rPr lang="en-US" altLang="zh-CN" sz="2800" b="1" dirty="0">
                <a:solidFill>
                  <a:srgbClr val="020001"/>
                </a:solidFill>
                <a:latin typeface="+mn-ea"/>
                <a:ea typeface="+mn-ea"/>
              </a:rPr>
              <a:t>1) </a:t>
            </a:r>
            <a:r>
              <a:rPr lang="zh-CN" altLang="en-US" sz="2800" b="1" dirty="0">
                <a:solidFill>
                  <a:srgbClr val="020001"/>
                </a:solidFill>
                <a:latin typeface="+mn-ea"/>
                <a:ea typeface="+mn-ea"/>
              </a:rPr>
              <a:t>设</a:t>
            </a:r>
            <a:r>
              <a:rPr lang="zh-CN" altLang="en-US" sz="2800" b="1" dirty="0">
                <a:latin typeface="+mn-ea"/>
                <a:ea typeface="+mn-ea"/>
              </a:rPr>
              <a:t>状态</a:t>
            </a:r>
            <a:r>
              <a:rPr lang="en-US" altLang="zh-CN" sz="2800" b="1" dirty="0" err="1">
                <a:latin typeface="+mn-ea"/>
                <a:ea typeface="+mn-ea"/>
              </a:rPr>
              <a:t>i</a:t>
            </a:r>
            <a:r>
              <a:rPr lang="zh-CN" altLang="en-US" sz="2800" b="1" dirty="0">
                <a:latin typeface="+mn-ea"/>
                <a:ea typeface="+mn-ea"/>
              </a:rPr>
              <a:t>、</a:t>
            </a:r>
            <a:r>
              <a:rPr lang="en-US" altLang="zh-CN" sz="2800" b="1" dirty="0">
                <a:latin typeface="+mn-ea"/>
                <a:ea typeface="+mn-ea"/>
              </a:rPr>
              <a:t>j</a:t>
            </a:r>
            <a:r>
              <a:rPr lang="zh-CN" altLang="en-US" sz="2800" b="1" dirty="0">
                <a:latin typeface="+mn-ea"/>
                <a:ea typeface="+mn-ea"/>
              </a:rPr>
              <a:t>，</a:t>
            </a:r>
            <a:r>
              <a:rPr lang="zh-CN" altLang="en-US" sz="2800" b="1" dirty="0">
                <a:solidFill>
                  <a:srgbClr val="0070C0"/>
                </a:solidFill>
                <a:latin typeface="+mn-ea"/>
                <a:ea typeface="+mn-ea"/>
              </a:rPr>
              <a:t>若有</a:t>
            </a:r>
            <a:r>
              <a:rPr lang="en-US" altLang="zh-CN" sz="2800" b="1" dirty="0">
                <a:solidFill>
                  <a:srgbClr val="0070C0"/>
                </a:solidFill>
                <a:latin typeface="+mn-ea"/>
                <a:ea typeface="+mn-ea"/>
              </a:rPr>
              <a:t>GO(</a:t>
            </a:r>
            <a:r>
              <a:rPr lang="en-US" altLang="zh-CN" sz="2800" b="1" dirty="0" err="1">
                <a:solidFill>
                  <a:srgbClr val="0070C0"/>
                </a:solidFill>
                <a:latin typeface="+mn-ea"/>
                <a:ea typeface="+mn-ea"/>
              </a:rPr>
              <a:t>i</a:t>
            </a:r>
            <a:r>
              <a:rPr lang="zh-CN" altLang="en-US" sz="2800" b="1" dirty="0">
                <a:solidFill>
                  <a:srgbClr val="0070C0"/>
                </a:solidFill>
                <a:latin typeface="+mn-ea"/>
                <a:ea typeface="+mn-ea"/>
              </a:rPr>
              <a:t>，</a:t>
            </a:r>
            <a:r>
              <a:rPr lang="en-US" altLang="zh-CN" sz="2800" b="1" dirty="0">
                <a:solidFill>
                  <a:srgbClr val="0070C0"/>
                </a:solidFill>
                <a:latin typeface="+mn-ea"/>
                <a:ea typeface="+mn-ea"/>
              </a:rPr>
              <a:t>x)=j </a:t>
            </a:r>
            <a:r>
              <a:rPr lang="zh-CN" altLang="en-US" sz="2800" b="1" dirty="0">
                <a:solidFill>
                  <a:srgbClr val="020001"/>
                </a:solidFill>
                <a:latin typeface="+mn-ea"/>
                <a:ea typeface="+mn-ea"/>
              </a:rPr>
              <a:t>，对于状态</a:t>
            </a:r>
            <a:r>
              <a:rPr lang="en-US" altLang="zh-CN" sz="2800" b="1" dirty="0" err="1">
                <a:solidFill>
                  <a:srgbClr val="020001"/>
                </a:solidFill>
                <a:latin typeface="+mn-ea"/>
                <a:ea typeface="+mn-ea"/>
              </a:rPr>
              <a:t>i</a:t>
            </a:r>
            <a:r>
              <a:rPr lang="zh-CN" altLang="en-US" sz="2800" b="1" dirty="0">
                <a:solidFill>
                  <a:srgbClr val="020001"/>
                </a:solidFill>
                <a:latin typeface="+mn-ea"/>
                <a:ea typeface="+mn-ea"/>
              </a:rPr>
              <a:t>中的项目</a:t>
            </a:r>
            <a:r>
              <a:rPr lang="en-US" altLang="zh-CN" sz="2800" b="1" dirty="0">
                <a:solidFill>
                  <a:srgbClr val="020001"/>
                </a:solidFill>
                <a:latin typeface="+mn-ea"/>
                <a:ea typeface="+mn-ea"/>
              </a:rPr>
              <a:t>A</a:t>
            </a:r>
            <a:r>
              <a:rPr lang="en-US" altLang="zh-CN" sz="2800" b="1" dirty="0">
                <a:solidFill>
                  <a:srgbClr val="020001"/>
                </a:solidFill>
                <a:latin typeface="+mn-ea"/>
                <a:ea typeface="+mn-ea"/>
                <a:sym typeface="Symbol" panose="05050102010706020507" pitchFamily="18" charset="2"/>
              </a:rPr>
              <a:t>.x,</a:t>
            </a:r>
            <a:endParaRPr lang="en-US" altLang="zh-CN" sz="2800" b="1" dirty="0">
              <a:solidFill>
                <a:srgbClr val="020001"/>
              </a:solidFill>
              <a:latin typeface="+mn-ea"/>
              <a:ea typeface="+mn-ea"/>
              <a:sym typeface="Symbol" panose="05050102010706020507" pitchFamily="18" charset="2"/>
            </a:endParaRPr>
          </a:p>
        </p:txBody>
      </p:sp>
      <p:grpSp>
        <p:nvGrpSpPr>
          <p:cNvPr id="6" name="Group 4"/>
          <p:cNvGrpSpPr/>
          <p:nvPr/>
        </p:nvGrpSpPr>
        <p:grpSpPr bwMode="auto">
          <a:xfrm>
            <a:off x="2109470" y="3037840"/>
            <a:ext cx="6990715" cy="551180"/>
            <a:chOff x="326" y="1998"/>
            <a:chExt cx="4313" cy="347"/>
          </a:xfrm>
        </p:grpSpPr>
        <p:sp>
          <p:nvSpPr>
            <p:cNvPr id="7" name="Text Box 5"/>
            <p:cNvSpPr txBox="1">
              <a:spLocks noChangeArrowheads="1"/>
            </p:cNvSpPr>
            <p:nvPr/>
          </p:nvSpPr>
          <p:spPr bwMode="auto">
            <a:xfrm>
              <a:off x="326" y="1998"/>
              <a:ext cx="164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a:solidFill>
                    <a:srgbClr val="020001"/>
                  </a:solidFill>
                  <a:latin typeface="+mn-ea"/>
                  <a:sym typeface="Symbol" panose="05050102010706020507" pitchFamily="18" charset="2"/>
                </a:rPr>
                <a:t>若</a:t>
              </a:r>
              <a:r>
                <a:rPr lang="en-US" altLang="zh-CN" sz="2800" b="1">
                  <a:solidFill>
                    <a:srgbClr val="020001"/>
                  </a:solidFill>
                  <a:latin typeface="+mn-ea"/>
                  <a:sym typeface="Symbol" panose="05050102010706020507" pitchFamily="18" charset="2"/>
                </a:rPr>
                <a:t>xV</a:t>
              </a:r>
              <a:r>
                <a:rPr lang="en-US" altLang="zh-CN" sz="2800" b="1" baseline="-25000">
                  <a:solidFill>
                    <a:srgbClr val="020001"/>
                  </a:solidFill>
                  <a:latin typeface="+mn-ea"/>
                  <a:sym typeface="Symbol" panose="05050102010706020507" pitchFamily="18" charset="2"/>
                </a:rPr>
                <a:t>N</a:t>
              </a:r>
              <a:r>
                <a:rPr lang="en-US" altLang="zh-CN" sz="2800" b="1">
                  <a:solidFill>
                    <a:srgbClr val="020001"/>
                  </a:solidFill>
                  <a:latin typeface="+mn-ea"/>
                  <a:sym typeface="Symbol" panose="05050102010706020507" pitchFamily="18" charset="2"/>
                </a:rPr>
                <a:t>,</a:t>
              </a:r>
              <a:endParaRPr lang="en-US" altLang="zh-CN" sz="2800" b="1">
                <a:solidFill>
                  <a:srgbClr val="020001"/>
                </a:solidFill>
                <a:latin typeface="+mn-ea"/>
                <a:sym typeface="Symbol" panose="05050102010706020507" pitchFamily="18" charset="2"/>
              </a:endParaRPr>
            </a:p>
          </p:txBody>
        </p:sp>
        <p:sp>
          <p:nvSpPr>
            <p:cNvPr id="8" name="Text Box 6"/>
            <p:cNvSpPr txBox="1">
              <a:spLocks noChangeArrowheads="1"/>
            </p:cNvSpPr>
            <p:nvPr/>
          </p:nvSpPr>
          <p:spPr bwMode="auto">
            <a:xfrm>
              <a:off x="1824" y="2016"/>
              <a:ext cx="281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020001"/>
                  </a:solidFill>
                  <a:latin typeface="+mn-ea"/>
                  <a:sym typeface="Symbol" panose="05050102010706020507" pitchFamily="18" charset="2"/>
                </a:rPr>
                <a:t>则置</a:t>
              </a:r>
              <a:r>
                <a:rPr lang="en-US" altLang="zh-CN" sz="2800" b="1">
                  <a:solidFill>
                    <a:srgbClr val="020001"/>
                  </a:solidFill>
                  <a:latin typeface="+mn-ea"/>
                  <a:sym typeface="Symbol" panose="05050102010706020507" pitchFamily="18" charset="2"/>
                </a:rPr>
                <a:t>Goto[i</a:t>
              </a:r>
              <a:r>
                <a:rPr lang="zh-CN" altLang="en-US" sz="2800" b="1">
                  <a:solidFill>
                    <a:srgbClr val="020001"/>
                  </a:solidFill>
                  <a:latin typeface="+mn-ea"/>
                  <a:sym typeface="Symbol" panose="05050102010706020507" pitchFamily="18" charset="2"/>
                </a:rPr>
                <a:t>，</a:t>
              </a:r>
              <a:r>
                <a:rPr lang="en-US" altLang="zh-CN" sz="2800" b="1">
                  <a:solidFill>
                    <a:srgbClr val="020001"/>
                  </a:solidFill>
                  <a:latin typeface="+mn-ea"/>
                  <a:sym typeface="Symbol" panose="05050102010706020507" pitchFamily="18" charset="2"/>
                </a:rPr>
                <a:t>x]=j;</a:t>
              </a:r>
              <a:endParaRPr lang="en-US" altLang="zh-CN" sz="2800" b="1">
                <a:solidFill>
                  <a:srgbClr val="020001"/>
                </a:solidFill>
                <a:latin typeface="+mn-ea"/>
                <a:sym typeface="Symbol" panose="05050102010706020507" pitchFamily="18" charset="2"/>
              </a:endParaRPr>
            </a:p>
          </p:txBody>
        </p:sp>
      </p:grpSp>
      <p:grpSp>
        <p:nvGrpSpPr>
          <p:cNvPr id="9" name="Group 7"/>
          <p:cNvGrpSpPr/>
          <p:nvPr/>
        </p:nvGrpSpPr>
        <p:grpSpPr bwMode="auto">
          <a:xfrm>
            <a:off x="2109470" y="2428240"/>
            <a:ext cx="7310120" cy="522605"/>
            <a:chOff x="528" y="1440"/>
            <a:chExt cx="4312" cy="329"/>
          </a:xfrm>
        </p:grpSpPr>
        <p:sp>
          <p:nvSpPr>
            <p:cNvPr id="10" name="Text Box 8"/>
            <p:cNvSpPr txBox="1">
              <a:spLocks noChangeArrowheads="1"/>
            </p:cNvSpPr>
            <p:nvPr/>
          </p:nvSpPr>
          <p:spPr bwMode="auto">
            <a:xfrm>
              <a:off x="1824" y="1440"/>
              <a:ext cx="301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solidFill>
                    <a:srgbClr val="020001"/>
                  </a:solidFill>
                  <a:latin typeface="+mn-ea"/>
                  <a:sym typeface="Symbol" panose="05050102010706020507" pitchFamily="18" charset="2"/>
                </a:rPr>
                <a:t>则置</a:t>
              </a:r>
              <a:r>
                <a:rPr lang="en-US" altLang="zh-CN" sz="2800" b="1">
                  <a:solidFill>
                    <a:srgbClr val="020001"/>
                  </a:solidFill>
                  <a:latin typeface="+mn-ea"/>
                  <a:sym typeface="Symbol" panose="05050102010706020507" pitchFamily="18" charset="2"/>
                </a:rPr>
                <a:t>Action[i</a:t>
              </a:r>
              <a:r>
                <a:rPr lang="zh-CN" altLang="en-US" sz="2800" b="1">
                  <a:solidFill>
                    <a:srgbClr val="020001"/>
                  </a:solidFill>
                  <a:latin typeface="+mn-ea"/>
                  <a:sym typeface="Symbol" panose="05050102010706020507" pitchFamily="18" charset="2"/>
                </a:rPr>
                <a:t>，</a:t>
              </a:r>
              <a:r>
                <a:rPr lang="en-US" altLang="zh-CN" sz="2800" b="1">
                  <a:solidFill>
                    <a:srgbClr val="020001"/>
                  </a:solidFill>
                  <a:latin typeface="+mn-ea"/>
                  <a:sym typeface="Symbol" panose="05050102010706020507" pitchFamily="18" charset="2"/>
                </a:rPr>
                <a:t>x]=</a:t>
              </a:r>
              <a:r>
                <a:rPr lang="en-US" altLang="zh-CN" sz="2800" b="1">
                  <a:solidFill>
                    <a:srgbClr val="020001"/>
                  </a:solidFill>
                  <a:latin typeface="+mn-ea"/>
                </a:rPr>
                <a:t>S</a:t>
              </a:r>
              <a:r>
                <a:rPr lang="en-US" altLang="zh-CN" sz="2800" b="1" baseline="-25000">
                  <a:solidFill>
                    <a:srgbClr val="020001"/>
                  </a:solidFill>
                  <a:latin typeface="+mn-ea"/>
                  <a:sym typeface="Symbol" panose="05050102010706020507" pitchFamily="18" charset="2"/>
                </a:rPr>
                <a:t>j</a:t>
              </a:r>
              <a:r>
                <a:rPr lang="en-US" altLang="zh-CN" sz="2800" b="1">
                  <a:solidFill>
                    <a:srgbClr val="020001"/>
                  </a:solidFill>
                  <a:latin typeface="+mn-ea"/>
                  <a:sym typeface="Symbol" panose="05050102010706020507" pitchFamily="18" charset="2"/>
                </a:rPr>
                <a:t>;</a:t>
              </a:r>
              <a:endParaRPr lang="en-US" altLang="zh-CN" sz="2800" b="1">
                <a:solidFill>
                  <a:srgbClr val="020001"/>
                </a:solidFill>
                <a:latin typeface="+mn-ea"/>
                <a:sym typeface="Symbol" panose="05050102010706020507" pitchFamily="18" charset="2"/>
              </a:endParaRPr>
            </a:p>
          </p:txBody>
        </p:sp>
        <p:sp>
          <p:nvSpPr>
            <p:cNvPr id="11" name="Rectangle 9"/>
            <p:cNvSpPr>
              <a:spLocks noChangeArrowheads="1"/>
            </p:cNvSpPr>
            <p:nvPr/>
          </p:nvSpPr>
          <p:spPr bwMode="auto">
            <a:xfrm>
              <a:off x="528" y="1440"/>
              <a:ext cx="115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20001"/>
                  </a:solidFill>
                  <a:latin typeface="+mn-ea"/>
                  <a:sym typeface="Symbol" panose="05050102010706020507" pitchFamily="18" charset="2"/>
                </a:rPr>
                <a:t>若</a:t>
              </a:r>
              <a:r>
                <a:rPr lang="en-US" altLang="zh-CN" sz="2800" b="1">
                  <a:solidFill>
                    <a:srgbClr val="020001"/>
                  </a:solidFill>
                  <a:latin typeface="+mn-ea"/>
                  <a:sym typeface="Symbol" panose="05050102010706020507" pitchFamily="18" charset="2"/>
                </a:rPr>
                <a:t>xV</a:t>
              </a:r>
              <a:r>
                <a:rPr lang="en-US" altLang="zh-CN" sz="2800" b="1" baseline="-25000">
                  <a:solidFill>
                    <a:srgbClr val="020001"/>
                  </a:solidFill>
                  <a:latin typeface="+mn-ea"/>
                  <a:sym typeface="Symbol" panose="05050102010706020507" pitchFamily="18" charset="2"/>
                </a:rPr>
                <a:t>T</a:t>
              </a:r>
              <a:r>
                <a:rPr lang="en-US" altLang="zh-CN" sz="2800" b="1">
                  <a:solidFill>
                    <a:srgbClr val="020001"/>
                  </a:solidFill>
                  <a:latin typeface="+mn-ea"/>
                  <a:sym typeface="Symbol" panose="05050102010706020507" pitchFamily="18" charset="2"/>
                </a:rPr>
                <a:t>,</a:t>
              </a:r>
              <a:endParaRPr lang="en-US" altLang="zh-CN" sz="2800" b="1">
                <a:solidFill>
                  <a:srgbClr val="020001"/>
                </a:solidFill>
                <a:latin typeface="+mn-ea"/>
                <a:sym typeface="Symbol" panose="05050102010706020507" pitchFamily="18" charset="2"/>
              </a:endParaRPr>
            </a:p>
          </p:txBody>
        </p:sp>
      </p:grpSp>
      <p:sp>
        <p:nvSpPr>
          <p:cNvPr id="13" name="Rectangle 10"/>
          <p:cNvSpPr>
            <a:spLocks noChangeArrowheads="1"/>
          </p:cNvSpPr>
          <p:nvPr/>
        </p:nvSpPr>
        <p:spPr bwMode="auto">
          <a:xfrm>
            <a:off x="509270" y="1238885"/>
            <a:ext cx="8910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10000"/>
                </a:solidFill>
                <a:latin typeface="+mn-ea"/>
                <a:sym typeface="Symbol" panose="05050102010706020507" pitchFamily="18" charset="2"/>
              </a:rPr>
              <a:t>由识别活前缀的</a:t>
            </a:r>
            <a:r>
              <a:rPr lang="en-US" altLang="zh-CN" sz="2800" b="1" dirty="0">
                <a:solidFill>
                  <a:srgbClr val="010000"/>
                </a:solidFill>
                <a:latin typeface="+mn-ea"/>
                <a:sym typeface="Symbol" panose="05050102010706020507" pitchFamily="18" charset="2"/>
              </a:rPr>
              <a:t>DFA</a:t>
            </a:r>
            <a:r>
              <a:rPr lang="zh-CN" altLang="en-US" sz="2800" b="1" dirty="0">
                <a:solidFill>
                  <a:srgbClr val="010000"/>
                </a:solidFill>
                <a:latin typeface="+mn-ea"/>
                <a:sym typeface="Symbol" panose="05050102010706020507" pitchFamily="18" charset="2"/>
              </a:rPr>
              <a:t>构造</a:t>
            </a:r>
            <a:r>
              <a:rPr lang="en-US" altLang="zh-CN" sz="2800" b="1" dirty="0">
                <a:solidFill>
                  <a:srgbClr val="010000"/>
                </a:solidFill>
                <a:latin typeface="+mn-ea"/>
                <a:sym typeface="Symbol" panose="05050102010706020507" pitchFamily="18" charset="2"/>
              </a:rPr>
              <a:t>LR(0)</a:t>
            </a:r>
            <a:r>
              <a:rPr lang="zh-CN" altLang="en-US" sz="2800" b="1" dirty="0">
                <a:solidFill>
                  <a:srgbClr val="010000"/>
                </a:solidFill>
                <a:latin typeface="+mn-ea"/>
                <a:sym typeface="Symbol" panose="05050102010706020507" pitchFamily="18" charset="2"/>
              </a:rPr>
              <a:t>分析表的方法：</a:t>
            </a:r>
            <a:endParaRPr lang="zh-CN" altLang="en-US" sz="2800" b="1" dirty="0">
              <a:solidFill>
                <a:srgbClr val="010000"/>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15" name="Rectangle 6"/>
          <p:cNvSpPr txBox="1">
            <a:spLocks noChangeArrowheads="1"/>
          </p:cNvSpPr>
          <p:nvPr>
            <p:custDataLst>
              <p:tags r:id="rId1"/>
            </p:custDataLst>
          </p:nvPr>
        </p:nvSpPr>
        <p:spPr>
          <a:xfrm>
            <a:off x="623570" y="3509010"/>
            <a:ext cx="10944860" cy="2778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Bef>
                <a:spcPts val="0"/>
              </a:spcBef>
              <a:spcAft>
                <a:spcPts val="0"/>
              </a:spcAft>
              <a:buFontTx/>
              <a:buNone/>
            </a:pPr>
            <a:r>
              <a:rPr lang="zh-CN" altLang="en-US" b="1" dirty="0">
                <a:solidFill>
                  <a:srgbClr val="020001"/>
                </a:solidFill>
                <a:latin typeface="+mn-ea"/>
              </a:rPr>
              <a:t>2) 对于终态</a:t>
            </a:r>
            <a:r>
              <a:rPr lang="en-US" altLang="zh-CN" b="1" dirty="0" err="1">
                <a:solidFill>
                  <a:srgbClr val="020001"/>
                </a:solidFill>
                <a:latin typeface="+mn-ea"/>
              </a:rPr>
              <a:t>i</a:t>
            </a:r>
            <a:r>
              <a:rPr lang="zh-CN" altLang="en-US" b="1" dirty="0">
                <a:solidFill>
                  <a:srgbClr val="020001"/>
                </a:solidFill>
                <a:latin typeface="+mn-ea"/>
              </a:rPr>
              <a:t>中的项目</a:t>
            </a:r>
            <a:r>
              <a:rPr lang="en-US" altLang="zh-CN" b="1" dirty="0">
                <a:solidFill>
                  <a:srgbClr val="020001"/>
                </a:solidFill>
                <a:latin typeface="+mn-ea"/>
              </a:rPr>
              <a:t>A</a:t>
            </a:r>
            <a:r>
              <a:rPr lang="en-US" altLang="zh-CN" b="1" dirty="0">
                <a:solidFill>
                  <a:srgbClr val="020001"/>
                </a:solidFill>
                <a:latin typeface="+mn-ea"/>
                <a:sym typeface="Symbol" panose="05050102010706020507" pitchFamily="18" charset="2"/>
              </a:rPr>
              <a:t>. </a:t>
            </a:r>
            <a:r>
              <a:rPr lang="zh-CN" altLang="en-US" b="1" dirty="0">
                <a:solidFill>
                  <a:srgbClr val="020001"/>
                </a:solidFill>
                <a:latin typeface="+mn-ea"/>
                <a:sym typeface="Symbol" panose="05050102010706020507" pitchFamily="18" charset="2"/>
              </a:rPr>
              <a:t>，若</a:t>
            </a:r>
            <a:r>
              <a:rPr lang="en-US" altLang="zh-CN" b="1" dirty="0">
                <a:solidFill>
                  <a:srgbClr val="020001"/>
                </a:solidFill>
                <a:latin typeface="+mn-ea"/>
              </a:rPr>
              <a:t>A</a:t>
            </a:r>
            <a:r>
              <a:rPr lang="en-US" altLang="zh-CN" b="1" dirty="0">
                <a:solidFill>
                  <a:srgbClr val="020001"/>
                </a:solidFill>
                <a:latin typeface="+mn-ea"/>
                <a:sym typeface="Symbol" panose="05050102010706020507" pitchFamily="18" charset="2"/>
              </a:rPr>
              <a:t></a:t>
            </a:r>
            <a:r>
              <a:rPr lang="zh-CN" altLang="en-US" b="1" dirty="0">
                <a:solidFill>
                  <a:srgbClr val="020001"/>
                </a:solidFill>
                <a:latin typeface="+mn-ea"/>
                <a:sym typeface="Symbol" panose="05050102010706020507" pitchFamily="18" charset="2"/>
              </a:rPr>
              <a:t> 是</a:t>
            </a:r>
            <a:r>
              <a:rPr lang="en-US" altLang="zh-CN" b="1" dirty="0">
                <a:solidFill>
                  <a:srgbClr val="020001"/>
                </a:solidFill>
                <a:latin typeface="+mn-ea"/>
                <a:sym typeface="Symbol" panose="05050102010706020507" pitchFamily="18" charset="2"/>
              </a:rPr>
              <a:t>G</a:t>
            </a:r>
            <a:r>
              <a:rPr lang="zh-CN" altLang="en-US" b="1" dirty="0">
                <a:solidFill>
                  <a:srgbClr val="020001"/>
                </a:solidFill>
                <a:latin typeface="+mn-ea"/>
                <a:sym typeface="Symbol" panose="05050102010706020507" pitchFamily="18" charset="2"/>
              </a:rPr>
              <a:t>中第</a:t>
            </a:r>
            <a:r>
              <a:rPr lang="en-US" altLang="zh-CN" b="1" dirty="0">
                <a:solidFill>
                  <a:srgbClr val="020001"/>
                </a:solidFill>
                <a:latin typeface="+mn-ea"/>
                <a:sym typeface="Symbol" panose="05050102010706020507" pitchFamily="18" charset="2"/>
              </a:rPr>
              <a:t>k</a:t>
            </a:r>
            <a:r>
              <a:rPr lang="zh-CN" altLang="en-US" b="1" dirty="0">
                <a:solidFill>
                  <a:srgbClr val="020001"/>
                </a:solidFill>
                <a:latin typeface="+mn-ea"/>
                <a:sym typeface="Symbol" panose="05050102010706020507" pitchFamily="18" charset="2"/>
              </a:rPr>
              <a:t>个产生式，则</a:t>
            </a:r>
            <a:r>
              <a:rPr lang="zh-CN" altLang="en-US" b="1" dirty="0">
                <a:solidFill>
                  <a:srgbClr val="0070C0"/>
                </a:solidFill>
                <a:latin typeface="+mn-ea"/>
                <a:sym typeface="Symbol" panose="05050102010706020507" pitchFamily="18" charset="2"/>
              </a:rPr>
              <a:t>对所有输入符号</a:t>
            </a:r>
            <a:r>
              <a:rPr lang="en-US" altLang="zh-CN" b="1" dirty="0" err="1">
                <a:solidFill>
                  <a:srgbClr val="0070C0"/>
                </a:solidFill>
                <a:latin typeface="+mn-ea"/>
                <a:sym typeface="Symbol" panose="05050102010706020507" pitchFamily="18" charset="2"/>
              </a:rPr>
              <a:t>xV</a:t>
            </a:r>
            <a:r>
              <a:rPr lang="en-US" altLang="zh-CN" b="1" baseline="-25000" dirty="0" err="1">
                <a:solidFill>
                  <a:srgbClr val="0070C0"/>
                </a:solidFill>
                <a:latin typeface="+mn-ea"/>
                <a:sym typeface="Symbol" panose="05050102010706020507" pitchFamily="18" charset="2"/>
              </a:rPr>
              <a:t>T</a:t>
            </a:r>
            <a:r>
              <a:rPr lang="en-US" altLang="zh-CN" b="1" dirty="0">
                <a:solidFill>
                  <a:srgbClr val="0070C0"/>
                </a:solidFill>
                <a:latin typeface="+mn-ea"/>
                <a:sym typeface="Symbol" panose="05050102010706020507" pitchFamily="18" charset="2"/>
              </a:rPr>
              <a:t>(</a:t>
            </a:r>
            <a:r>
              <a:rPr lang="zh-CN" altLang="en-US" b="1" dirty="0">
                <a:solidFill>
                  <a:srgbClr val="0070C0"/>
                </a:solidFill>
                <a:latin typeface="+mn-ea"/>
                <a:sym typeface="Symbol" panose="05050102010706020507" pitchFamily="18" charset="2"/>
              </a:rPr>
              <a:t>包括$)</a:t>
            </a:r>
            <a:r>
              <a:rPr lang="zh-CN" altLang="en-US" b="1" dirty="0">
                <a:solidFill>
                  <a:srgbClr val="020001"/>
                </a:solidFill>
                <a:latin typeface="+mn-ea"/>
                <a:sym typeface="Symbol" panose="05050102010706020507" pitchFamily="18" charset="2"/>
              </a:rPr>
              <a:t>, 均置</a:t>
            </a:r>
            <a:r>
              <a:rPr lang="en-US" altLang="zh-CN" b="1" dirty="0">
                <a:solidFill>
                  <a:srgbClr val="020001"/>
                </a:solidFill>
                <a:latin typeface="+mn-ea"/>
                <a:sym typeface="Symbol" panose="05050102010706020507" pitchFamily="18" charset="2"/>
              </a:rPr>
              <a:t>Action[</a:t>
            </a:r>
            <a:r>
              <a:rPr lang="en-US" altLang="zh-CN" b="1" dirty="0" err="1">
                <a:solidFill>
                  <a:srgbClr val="020001"/>
                </a:solidFill>
                <a:latin typeface="+mn-ea"/>
                <a:sym typeface="Symbol" panose="05050102010706020507" pitchFamily="18" charset="2"/>
              </a:rPr>
              <a:t>i,x</a:t>
            </a:r>
            <a:r>
              <a:rPr lang="en-US" altLang="zh-CN" b="1" dirty="0">
                <a:solidFill>
                  <a:srgbClr val="020001"/>
                </a:solidFill>
                <a:latin typeface="+mn-ea"/>
                <a:sym typeface="Symbol" panose="05050102010706020507" pitchFamily="18" charset="2"/>
              </a:rPr>
              <a:t>]=</a:t>
            </a:r>
            <a:r>
              <a:rPr lang="en-US" altLang="zh-CN" b="1" dirty="0" err="1">
                <a:solidFill>
                  <a:srgbClr val="020001"/>
                </a:solidFill>
                <a:latin typeface="+mn-ea"/>
                <a:sym typeface="Symbol" panose="05050102010706020507" pitchFamily="18" charset="2"/>
              </a:rPr>
              <a:t>r</a:t>
            </a:r>
            <a:r>
              <a:rPr lang="en-US" altLang="zh-CN" b="1" baseline="-25000" dirty="0" err="1">
                <a:solidFill>
                  <a:srgbClr val="020001"/>
                </a:solidFill>
                <a:latin typeface="+mn-ea"/>
                <a:sym typeface="Symbol" panose="05050102010706020507" pitchFamily="18" charset="2"/>
              </a:rPr>
              <a:t>k</a:t>
            </a:r>
            <a:r>
              <a:rPr lang="en-US" altLang="zh-CN" b="1" baseline="-25000" dirty="0">
                <a:solidFill>
                  <a:srgbClr val="020001"/>
                </a:solidFill>
                <a:latin typeface="+mn-ea"/>
                <a:sym typeface="Symbol" panose="05050102010706020507" pitchFamily="18" charset="2"/>
              </a:rPr>
              <a:t> </a:t>
            </a:r>
            <a:r>
              <a:rPr lang="en-US" altLang="zh-CN" b="1" dirty="0">
                <a:solidFill>
                  <a:srgbClr val="020001"/>
                </a:solidFill>
                <a:latin typeface="+mn-ea"/>
                <a:sym typeface="Symbol" panose="05050102010706020507" pitchFamily="18" charset="2"/>
              </a:rPr>
              <a:t>;</a:t>
            </a:r>
            <a:endParaRPr lang="en-US" altLang="zh-CN" b="1" dirty="0">
              <a:solidFill>
                <a:srgbClr val="020001"/>
              </a:solidFill>
              <a:latin typeface="+mn-ea"/>
              <a:sym typeface="Symbol" panose="05050102010706020507" pitchFamily="18" charset="2"/>
            </a:endParaRPr>
          </a:p>
          <a:p>
            <a:pPr fontAlgn="auto">
              <a:lnSpc>
                <a:spcPct val="150000"/>
              </a:lnSpc>
              <a:spcBef>
                <a:spcPts val="0"/>
              </a:spcBef>
              <a:spcAft>
                <a:spcPts val="0"/>
              </a:spcAft>
              <a:buFontTx/>
              <a:buNone/>
            </a:pPr>
            <a:r>
              <a:rPr lang="zh-CN" altLang="en-US" b="1" dirty="0">
                <a:solidFill>
                  <a:srgbClr val="020001"/>
                </a:solidFill>
                <a:latin typeface="+mn-ea"/>
              </a:rPr>
              <a:t>3)若终态</a:t>
            </a:r>
            <a:r>
              <a:rPr lang="en-US" altLang="zh-CN" b="1" dirty="0" err="1">
                <a:solidFill>
                  <a:srgbClr val="020001"/>
                </a:solidFill>
                <a:latin typeface="+mn-ea"/>
              </a:rPr>
              <a:t>i</a:t>
            </a:r>
            <a:r>
              <a:rPr lang="zh-CN" altLang="en-US" b="1" dirty="0">
                <a:solidFill>
                  <a:srgbClr val="020001"/>
                </a:solidFill>
                <a:latin typeface="+mn-ea"/>
              </a:rPr>
              <a:t>中含</a:t>
            </a:r>
            <a:r>
              <a:rPr lang="zh-CN" altLang="en-US" b="1" dirty="0">
                <a:solidFill>
                  <a:srgbClr val="0070C0"/>
                </a:solidFill>
                <a:latin typeface="+mn-ea"/>
              </a:rPr>
              <a:t>项目</a:t>
            </a:r>
            <a:r>
              <a:rPr lang="en-US" altLang="zh-CN" b="1" dirty="0">
                <a:solidFill>
                  <a:srgbClr val="0070C0"/>
                </a:solidFill>
                <a:latin typeface="+mn-ea"/>
              </a:rPr>
              <a:t>S’</a:t>
            </a:r>
            <a:r>
              <a:rPr lang="en-US" altLang="zh-CN" b="1" dirty="0">
                <a:solidFill>
                  <a:srgbClr val="0070C0"/>
                </a:solidFill>
                <a:latin typeface="+mn-ea"/>
                <a:sym typeface="Symbol" panose="05050102010706020507" pitchFamily="18" charset="2"/>
              </a:rPr>
              <a:t>S</a:t>
            </a:r>
            <a:r>
              <a:rPr lang="en-US" altLang="zh-CN" b="1" dirty="0">
                <a:solidFill>
                  <a:srgbClr val="020001"/>
                </a:solidFill>
                <a:latin typeface="+mn-ea"/>
                <a:sym typeface="Symbol" panose="05050102010706020507" pitchFamily="18" charset="2"/>
              </a:rPr>
              <a:t>.   </a:t>
            </a:r>
            <a:r>
              <a:rPr lang="zh-CN" altLang="en-US" b="1" dirty="0">
                <a:solidFill>
                  <a:srgbClr val="020001"/>
                </a:solidFill>
                <a:latin typeface="+mn-ea"/>
                <a:sym typeface="Symbol" panose="05050102010706020507" pitchFamily="18" charset="2"/>
              </a:rPr>
              <a:t>则置</a:t>
            </a:r>
            <a:r>
              <a:rPr lang="en-US" altLang="zh-CN" b="1" dirty="0">
                <a:solidFill>
                  <a:srgbClr val="0070C0"/>
                </a:solidFill>
                <a:latin typeface="+mn-ea"/>
                <a:sym typeface="Symbol" panose="05050102010706020507" pitchFamily="18" charset="2"/>
              </a:rPr>
              <a:t>Action[</a:t>
            </a:r>
            <a:r>
              <a:rPr lang="en-US" altLang="zh-CN" b="1" dirty="0" err="1">
                <a:solidFill>
                  <a:srgbClr val="0070C0"/>
                </a:solidFill>
                <a:latin typeface="+mn-ea"/>
                <a:sym typeface="Symbol" panose="05050102010706020507" pitchFamily="18" charset="2"/>
              </a:rPr>
              <a:t>i</a:t>
            </a:r>
            <a:r>
              <a:rPr lang="en-US" altLang="zh-CN" b="1" dirty="0">
                <a:solidFill>
                  <a:srgbClr val="0070C0"/>
                </a:solidFill>
                <a:latin typeface="+mn-ea"/>
                <a:sym typeface="Symbol" panose="05050102010706020507" pitchFamily="18" charset="2"/>
              </a:rPr>
              <a:t>,$]=acc</a:t>
            </a:r>
            <a:r>
              <a:rPr lang="en-US" altLang="zh-CN" b="1" baseline="-25000" dirty="0">
                <a:solidFill>
                  <a:srgbClr val="0070C0"/>
                </a:solidFill>
                <a:latin typeface="+mn-ea"/>
                <a:sym typeface="Symbol" panose="05050102010706020507" pitchFamily="18" charset="2"/>
              </a:rPr>
              <a:t> </a:t>
            </a:r>
            <a:r>
              <a:rPr lang="en-US" altLang="zh-CN" b="1" dirty="0">
                <a:solidFill>
                  <a:srgbClr val="020001"/>
                </a:solidFill>
                <a:latin typeface="+mn-ea"/>
                <a:sym typeface="Symbol" panose="05050102010706020507" pitchFamily="18" charset="2"/>
              </a:rPr>
              <a:t>($</a:t>
            </a:r>
            <a:r>
              <a:rPr lang="zh-CN" altLang="en-US" b="1" dirty="0">
                <a:solidFill>
                  <a:srgbClr val="020001"/>
                </a:solidFill>
                <a:latin typeface="+mn-ea"/>
                <a:sym typeface="Symbol" panose="05050102010706020507" pitchFamily="18" charset="2"/>
              </a:rPr>
              <a:t>表示输入串结束符);</a:t>
            </a:r>
            <a:endParaRPr lang="zh-CN" altLang="en-US" b="1" dirty="0">
              <a:solidFill>
                <a:srgbClr val="020001"/>
              </a:solidFill>
              <a:latin typeface="+mn-ea"/>
              <a:sym typeface="Symbol" panose="05050102010706020507" pitchFamily="18" charset="2"/>
            </a:endParaRPr>
          </a:p>
          <a:p>
            <a:pPr fontAlgn="auto">
              <a:lnSpc>
                <a:spcPct val="150000"/>
              </a:lnSpc>
              <a:spcBef>
                <a:spcPts val="0"/>
              </a:spcBef>
              <a:spcAft>
                <a:spcPts val="0"/>
              </a:spcAft>
              <a:buFontTx/>
              <a:buNone/>
            </a:pPr>
            <a:r>
              <a:rPr lang="zh-CN" altLang="en-US" b="1" dirty="0">
                <a:solidFill>
                  <a:srgbClr val="020001"/>
                </a:solidFill>
                <a:latin typeface="+mn-ea"/>
              </a:rPr>
              <a:t>4) 其它情况均置错。</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barn(inHorizontal)">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barn(inHorizontal)">
                                      <p:cBhvr>
                                        <p:cTn id="1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1180" y="276860"/>
            <a:ext cx="7301865" cy="593090"/>
          </a:xfrm>
        </p:spPr>
        <p:txBody>
          <a:bodyPr/>
          <a:lstStyle/>
          <a:p>
            <a:r>
              <a:rPr lang="en-US" altLang="zh-CN" sz="3200" dirty="0"/>
              <a:t>3. LR(0)</a:t>
            </a:r>
            <a:r>
              <a:rPr lang="zh-CN" altLang="en-US" sz="3200" dirty="0"/>
              <a:t>分析表的构造</a:t>
            </a:r>
            <a:r>
              <a:rPr lang="en-US" altLang="zh-CN" sz="3200" dirty="0"/>
              <a:t>(</a:t>
            </a:r>
            <a:r>
              <a:rPr lang="zh-CN" altLang="en-US" sz="3200" dirty="0"/>
              <a:t>续</a:t>
            </a:r>
            <a:r>
              <a:rPr lang="en-US" altLang="zh-CN" sz="3200" dirty="0"/>
              <a:t>)</a:t>
            </a:r>
            <a:endParaRPr lang="en-US" altLang="zh-CN" sz="3200" dirty="0"/>
          </a:p>
        </p:txBody>
      </p:sp>
      <p:sp>
        <p:nvSpPr>
          <p:cNvPr id="7" name="Rectangle 2"/>
          <p:cNvSpPr>
            <a:spLocks noChangeArrowheads="1"/>
          </p:cNvSpPr>
          <p:nvPr/>
        </p:nvSpPr>
        <p:spPr bwMode="auto">
          <a:xfrm>
            <a:off x="1755774" y="1207453"/>
            <a:ext cx="80325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dirty="0">
                <a:solidFill>
                  <a:srgbClr val="020001"/>
                </a:solidFill>
                <a:latin typeface="+mn-ea"/>
              </a:rPr>
              <a:t>例：文法</a:t>
            </a:r>
            <a:r>
              <a:rPr lang="en-US" altLang="zh-CN" sz="2800" b="1" dirty="0">
                <a:solidFill>
                  <a:srgbClr val="020001"/>
                </a:solidFill>
                <a:latin typeface="+mn-ea"/>
              </a:rPr>
              <a:t>A→(A)| a </a:t>
            </a:r>
            <a:r>
              <a:rPr lang="zh-CN" altLang="en-US" sz="2800" b="1" dirty="0">
                <a:solidFill>
                  <a:srgbClr val="010000"/>
                </a:solidFill>
                <a:latin typeface="+mn-ea"/>
                <a:sym typeface="Symbol" panose="05050102010706020507" pitchFamily="18" charset="2"/>
              </a:rPr>
              <a:t>对应的</a:t>
            </a:r>
            <a:r>
              <a:rPr lang="en-US" altLang="zh-CN" sz="2800" b="1" dirty="0">
                <a:solidFill>
                  <a:srgbClr val="010000"/>
                </a:solidFill>
                <a:latin typeface="+mn-ea"/>
                <a:sym typeface="Symbol" panose="05050102010706020507" pitchFamily="18" charset="2"/>
              </a:rPr>
              <a:t>LR(0)</a:t>
            </a:r>
            <a:r>
              <a:rPr lang="zh-CN" altLang="en-US" sz="2800" b="1" dirty="0">
                <a:solidFill>
                  <a:srgbClr val="020001"/>
                </a:solidFill>
                <a:latin typeface="+mn-ea"/>
                <a:sym typeface="Symbol" panose="05050102010706020507" pitchFamily="18" charset="2"/>
              </a:rPr>
              <a:t>项目集合</a:t>
            </a:r>
            <a:r>
              <a:rPr lang="zh-CN" altLang="en-US" sz="2800" b="1" dirty="0">
                <a:solidFill>
                  <a:srgbClr val="010000"/>
                </a:solidFill>
                <a:latin typeface="+mn-ea"/>
                <a:sym typeface="Symbol" panose="05050102010706020507" pitchFamily="18" charset="2"/>
              </a:rPr>
              <a:t>的</a:t>
            </a:r>
            <a:r>
              <a:rPr lang="en-US" altLang="zh-CN" sz="2800" b="1" dirty="0">
                <a:solidFill>
                  <a:srgbClr val="010000"/>
                </a:solidFill>
                <a:latin typeface="+mn-ea"/>
                <a:sym typeface="Symbol" panose="05050102010706020507" pitchFamily="18" charset="2"/>
              </a:rPr>
              <a:t>DFA</a:t>
            </a:r>
            <a:endParaRPr lang="en-US" altLang="zh-CN" sz="2800" b="1" dirty="0">
              <a:solidFill>
                <a:srgbClr val="010000"/>
              </a:solidFill>
              <a:latin typeface="+mn-ea"/>
              <a:sym typeface="Symbol" panose="05050102010706020507" pitchFamily="18" charset="2"/>
            </a:endParaRPr>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4330" y="1922780"/>
            <a:ext cx="524256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aphicFrame>
        <p:nvGraphicFramePr>
          <p:cNvPr id="6" name="Group 88"/>
          <p:cNvGraphicFramePr>
            <a:graphicFrameLocks noGrp="1"/>
          </p:cNvGraphicFramePr>
          <p:nvPr>
            <p:custDataLst>
              <p:tags r:id="rId2"/>
            </p:custDataLst>
          </p:nvPr>
        </p:nvGraphicFramePr>
        <p:xfrm>
          <a:off x="5617977" y="1922836"/>
          <a:ext cx="6090920" cy="4392295"/>
        </p:xfrm>
        <a:graphic>
          <a:graphicData uri="http://schemas.openxmlformats.org/drawingml/2006/table">
            <a:tbl>
              <a:tblPr/>
              <a:tblGrid>
                <a:gridCol w="911225"/>
                <a:gridCol w="860425"/>
                <a:gridCol w="866775"/>
                <a:gridCol w="860425"/>
                <a:gridCol w="1314450"/>
                <a:gridCol w="1277620"/>
              </a:tblGrid>
              <a:tr h="548640">
                <a:tc rowSpan="2">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Action</a:t>
                      </a:r>
                      <a:endPar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Goto</a:t>
                      </a:r>
                      <a:endPar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v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t>
                      </a:r>
                      <a:endPar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rgbClr val="F4007A"/>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0</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1815">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5</a:t>
                      </a:r>
                      <a:endParaRPr kumimoji="0" lang="en-US" altLang="zh-CN"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3000" b="0"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 name="Rectangle 67"/>
          <p:cNvSpPr>
            <a:spLocks noChangeArrowheads="1"/>
          </p:cNvSpPr>
          <p:nvPr>
            <p:custDataLst>
              <p:tags r:id="rId3"/>
            </p:custDataLst>
          </p:nvPr>
        </p:nvSpPr>
        <p:spPr bwMode="auto">
          <a:xfrm>
            <a:off x="6614927" y="3010274"/>
            <a:ext cx="6007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spcBef>
                <a:spcPct val="20000"/>
              </a:spcBef>
              <a:buClr>
                <a:schemeClr val="folHlink"/>
              </a:buClr>
              <a:buSzPct val="95000"/>
              <a:buFont typeface="Wingdings" panose="05000000000000000000" pitchFamily="2" charset="2"/>
              <a:buNone/>
            </a:pPr>
            <a:r>
              <a:rPr lang="en-US" altLang="zh-CN" sz="3200">
                <a:solidFill>
                  <a:srgbClr val="020001"/>
                </a:solidFill>
                <a:latin typeface="Arial" panose="020B0604020202020204" pitchFamily="34" charset="0"/>
              </a:rPr>
              <a:t>S</a:t>
            </a:r>
            <a:r>
              <a:rPr lang="en-US" altLang="zh-CN" sz="3200" baseline="-25000">
                <a:solidFill>
                  <a:srgbClr val="020001"/>
                </a:solidFill>
                <a:latin typeface="Arial" panose="020B0604020202020204" pitchFamily="34" charset="0"/>
              </a:rPr>
              <a:t>2</a:t>
            </a:r>
            <a:endParaRPr lang="en-US" altLang="zh-CN" sz="3200" baseline="-25000">
              <a:solidFill>
                <a:srgbClr val="020001"/>
              </a:solidFill>
              <a:latin typeface="Arial" panose="020B0604020202020204" pitchFamily="34" charset="0"/>
            </a:endParaRPr>
          </a:p>
        </p:txBody>
      </p:sp>
      <p:sp>
        <p:nvSpPr>
          <p:cNvPr id="14" name="Rectangle 68"/>
          <p:cNvSpPr>
            <a:spLocks noChangeArrowheads="1"/>
          </p:cNvSpPr>
          <p:nvPr>
            <p:custDataLst>
              <p:tags r:id="rId4"/>
            </p:custDataLst>
          </p:nvPr>
        </p:nvSpPr>
        <p:spPr bwMode="auto">
          <a:xfrm>
            <a:off x="7551552" y="3010274"/>
            <a:ext cx="6007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spcBef>
                <a:spcPct val="20000"/>
              </a:spcBef>
              <a:buClr>
                <a:schemeClr val="folHlink"/>
              </a:buClr>
              <a:buSzPct val="95000"/>
              <a:buFont typeface="Wingdings" panose="05000000000000000000" pitchFamily="2" charset="2"/>
              <a:buNone/>
            </a:pPr>
            <a:r>
              <a:rPr lang="en-US" altLang="zh-CN" sz="3200">
                <a:solidFill>
                  <a:srgbClr val="020001"/>
                </a:solidFill>
                <a:latin typeface="Arial" panose="020B0604020202020204" pitchFamily="34" charset="0"/>
              </a:rPr>
              <a:t>S</a:t>
            </a:r>
            <a:r>
              <a:rPr lang="en-US" altLang="zh-CN" sz="3200" baseline="-25000">
                <a:solidFill>
                  <a:srgbClr val="020001"/>
                </a:solidFill>
                <a:latin typeface="Arial" panose="020B0604020202020204" pitchFamily="34" charset="0"/>
              </a:rPr>
              <a:t>3</a:t>
            </a:r>
            <a:endParaRPr lang="en-US" altLang="zh-CN" sz="3200" baseline="-25000">
              <a:solidFill>
                <a:srgbClr val="020001"/>
              </a:solidFill>
              <a:latin typeface="Arial" panose="020B0604020202020204" pitchFamily="34" charset="0"/>
            </a:endParaRPr>
          </a:p>
        </p:txBody>
      </p:sp>
      <p:sp>
        <p:nvSpPr>
          <p:cNvPr id="15" name="Rectangle 69"/>
          <p:cNvSpPr>
            <a:spLocks noChangeArrowheads="1"/>
          </p:cNvSpPr>
          <p:nvPr>
            <p:custDataLst>
              <p:tags r:id="rId5"/>
            </p:custDataLst>
          </p:nvPr>
        </p:nvSpPr>
        <p:spPr bwMode="auto">
          <a:xfrm>
            <a:off x="10718614" y="3010274"/>
            <a:ext cx="40894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3200">
                <a:solidFill>
                  <a:srgbClr val="020001"/>
                </a:solidFill>
                <a:latin typeface="Arial" panose="020B0604020202020204" pitchFamily="34" charset="0"/>
              </a:rPr>
              <a:t>1</a:t>
            </a:r>
            <a:endParaRPr lang="zh-CN" altLang="en-US" sz="3200">
              <a:solidFill>
                <a:srgbClr val="020001"/>
              </a:solidFill>
              <a:latin typeface="Arial" panose="020B0604020202020204" pitchFamily="34" charset="0"/>
            </a:endParaRPr>
          </a:p>
        </p:txBody>
      </p:sp>
      <p:sp>
        <p:nvSpPr>
          <p:cNvPr id="16" name="Rectangle 70"/>
          <p:cNvSpPr>
            <a:spLocks noChangeArrowheads="1"/>
          </p:cNvSpPr>
          <p:nvPr>
            <p:custDataLst>
              <p:tags r:id="rId6"/>
            </p:custDataLst>
          </p:nvPr>
        </p:nvSpPr>
        <p:spPr bwMode="auto">
          <a:xfrm>
            <a:off x="9278752" y="3470649"/>
            <a:ext cx="81534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acc</a:t>
            </a:r>
            <a:endParaRPr lang="zh-CN" altLang="en-US" sz="3200">
              <a:solidFill>
                <a:srgbClr val="020001"/>
              </a:solidFill>
              <a:latin typeface="Arial" panose="020B0604020202020204" pitchFamily="34" charset="0"/>
            </a:endParaRPr>
          </a:p>
        </p:txBody>
      </p:sp>
      <p:sp>
        <p:nvSpPr>
          <p:cNvPr id="17" name="Rectangle 71"/>
          <p:cNvSpPr>
            <a:spLocks noChangeArrowheads="1"/>
          </p:cNvSpPr>
          <p:nvPr>
            <p:custDataLst>
              <p:tags r:id="rId7"/>
            </p:custDataLst>
          </p:nvPr>
        </p:nvSpPr>
        <p:spPr bwMode="auto">
          <a:xfrm>
            <a:off x="6686364" y="3975474"/>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2</a:t>
            </a:r>
            <a:endParaRPr lang="zh-CN" altLang="en-US" sz="3200" baseline="-25000">
              <a:solidFill>
                <a:srgbClr val="020001"/>
              </a:solidFill>
              <a:latin typeface="Arial" panose="020B0604020202020204" pitchFamily="34" charset="0"/>
            </a:endParaRPr>
          </a:p>
        </p:txBody>
      </p:sp>
      <p:sp>
        <p:nvSpPr>
          <p:cNvPr id="18" name="Rectangle 72"/>
          <p:cNvSpPr>
            <a:spLocks noChangeArrowheads="1"/>
          </p:cNvSpPr>
          <p:nvPr>
            <p:custDataLst>
              <p:tags r:id="rId8"/>
            </p:custDataLst>
          </p:nvPr>
        </p:nvSpPr>
        <p:spPr bwMode="auto">
          <a:xfrm>
            <a:off x="7478527" y="3975474"/>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2</a:t>
            </a:r>
            <a:endParaRPr lang="zh-CN" altLang="en-US" sz="3200" baseline="-25000">
              <a:solidFill>
                <a:srgbClr val="020001"/>
              </a:solidFill>
              <a:latin typeface="Arial" panose="020B0604020202020204" pitchFamily="34" charset="0"/>
            </a:endParaRPr>
          </a:p>
        </p:txBody>
      </p:sp>
      <p:sp>
        <p:nvSpPr>
          <p:cNvPr id="19" name="Rectangle 73"/>
          <p:cNvSpPr>
            <a:spLocks noChangeArrowheads="1"/>
          </p:cNvSpPr>
          <p:nvPr>
            <p:custDataLst>
              <p:tags r:id="rId9"/>
            </p:custDataLst>
          </p:nvPr>
        </p:nvSpPr>
        <p:spPr bwMode="auto">
          <a:xfrm>
            <a:off x="8415152" y="3975474"/>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2</a:t>
            </a:r>
            <a:endParaRPr lang="zh-CN" altLang="en-US" sz="3200" baseline="-25000">
              <a:solidFill>
                <a:srgbClr val="020001"/>
              </a:solidFill>
              <a:latin typeface="Arial" panose="020B0604020202020204" pitchFamily="34" charset="0"/>
            </a:endParaRPr>
          </a:p>
        </p:txBody>
      </p:sp>
      <p:sp>
        <p:nvSpPr>
          <p:cNvPr id="20" name="Rectangle 74"/>
          <p:cNvSpPr>
            <a:spLocks noChangeArrowheads="1"/>
          </p:cNvSpPr>
          <p:nvPr>
            <p:custDataLst>
              <p:tags r:id="rId10"/>
            </p:custDataLst>
          </p:nvPr>
        </p:nvSpPr>
        <p:spPr bwMode="auto">
          <a:xfrm>
            <a:off x="9351777" y="3975474"/>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2</a:t>
            </a:r>
            <a:endParaRPr lang="zh-CN" altLang="en-US" sz="3200" baseline="-25000">
              <a:solidFill>
                <a:srgbClr val="020001"/>
              </a:solidFill>
              <a:latin typeface="Arial" panose="020B0604020202020204" pitchFamily="34" charset="0"/>
            </a:endParaRPr>
          </a:p>
        </p:txBody>
      </p:sp>
      <p:sp>
        <p:nvSpPr>
          <p:cNvPr id="21" name="Rectangle 76"/>
          <p:cNvSpPr>
            <a:spLocks noChangeArrowheads="1"/>
          </p:cNvSpPr>
          <p:nvPr>
            <p:custDataLst>
              <p:tags r:id="rId11"/>
            </p:custDataLst>
          </p:nvPr>
        </p:nvSpPr>
        <p:spPr bwMode="auto">
          <a:xfrm>
            <a:off x="6686364" y="4551736"/>
            <a:ext cx="6007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spcBef>
                <a:spcPct val="20000"/>
              </a:spcBef>
              <a:buClr>
                <a:schemeClr val="folHlink"/>
              </a:buClr>
              <a:buSzPct val="95000"/>
              <a:buFont typeface="Wingdings" panose="05000000000000000000" pitchFamily="2" charset="2"/>
              <a:buNone/>
            </a:pPr>
            <a:r>
              <a:rPr lang="en-US" altLang="zh-CN" sz="3200">
                <a:solidFill>
                  <a:srgbClr val="020001"/>
                </a:solidFill>
                <a:latin typeface="Arial" panose="020B0604020202020204" pitchFamily="34" charset="0"/>
              </a:rPr>
              <a:t>S</a:t>
            </a:r>
            <a:r>
              <a:rPr lang="en-US" altLang="zh-CN" sz="3200" baseline="-25000">
                <a:solidFill>
                  <a:srgbClr val="020001"/>
                </a:solidFill>
                <a:latin typeface="Arial" panose="020B0604020202020204" pitchFamily="34" charset="0"/>
              </a:rPr>
              <a:t>2</a:t>
            </a:r>
            <a:endParaRPr lang="en-US" altLang="zh-CN" sz="3200" baseline="-25000">
              <a:solidFill>
                <a:srgbClr val="020001"/>
              </a:solidFill>
              <a:latin typeface="Arial" panose="020B0604020202020204" pitchFamily="34" charset="0"/>
            </a:endParaRPr>
          </a:p>
        </p:txBody>
      </p:sp>
      <p:sp>
        <p:nvSpPr>
          <p:cNvPr id="22" name="Rectangle 77"/>
          <p:cNvSpPr>
            <a:spLocks noChangeArrowheads="1"/>
          </p:cNvSpPr>
          <p:nvPr>
            <p:custDataLst>
              <p:tags r:id="rId12"/>
            </p:custDataLst>
          </p:nvPr>
        </p:nvSpPr>
        <p:spPr bwMode="auto">
          <a:xfrm>
            <a:off x="7551552" y="4551736"/>
            <a:ext cx="6007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spcBef>
                <a:spcPct val="20000"/>
              </a:spcBef>
              <a:buClr>
                <a:schemeClr val="folHlink"/>
              </a:buClr>
              <a:buSzPct val="95000"/>
              <a:buFont typeface="Wingdings" panose="05000000000000000000" pitchFamily="2" charset="2"/>
              <a:buNone/>
            </a:pPr>
            <a:r>
              <a:rPr lang="en-US" altLang="zh-CN" sz="3200">
                <a:solidFill>
                  <a:srgbClr val="020001"/>
                </a:solidFill>
                <a:latin typeface="Arial" panose="020B0604020202020204" pitchFamily="34" charset="0"/>
              </a:rPr>
              <a:t>S</a:t>
            </a:r>
            <a:r>
              <a:rPr lang="en-US" altLang="zh-CN" sz="3200" baseline="-25000">
                <a:solidFill>
                  <a:srgbClr val="020001"/>
                </a:solidFill>
                <a:latin typeface="Arial" panose="020B0604020202020204" pitchFamily="34" charset="0"/>
              </a:rPr>
              <a:t>3</a:t>
            </a:r>
            <a:endParaRPr lang="en-US" altLang="zh-CN" sz="3200" baseline="-25000">
              <a:solidFill>
                <a:srgbClr val="020001"/>
              </a:solidFill>
              <a:latin typeface="Arial" panose="020B0604020202020204" pitchFamily="34" charset="0"/>
            </a:endParaRPr>
          </a:p>
        </p:txBody>
      </p:sp>
      <p:sp>
        <p:nvSpPr>
          <p:cNvPr id="23" name="Rectangle 78"/>
          <p:cNvSpPr>
            <a:spLocks noChangeArrowheads="1"/>
          </p:cNvSpPr>
          <p:nvPr>
            <p:custDataLst>
              <p:tags r:id="rId13"/>
            </p:custDataLst>
          </p:nvPr>
        </p:nvSpPr>
        <p:spPr bwMode="auto">
          <a:xfrm>
            <a:off x="8270689" y="5127999"/>
            <a:ext cx="6007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spcBef>
                <a:spcPct val="20000"/>
              </a:spcBef>
              <a:buClr>
                <a:schemeClr val="folHlink"/>
              </a:buClr>
              <a:buSzPct val="95000"/>
              <a:buFont typeface="Wingdings" panose="05000000000000000000" pitchFamily="2" charset="2"/>
              <a:buNone/>
            </a:pPr>
            <a:r>
              <a:rPr lang="en-US" altLang="zh-CN" sz="3200">
                <a:solidFill>
                  <a:srgbClr val="020001"/>
                </a:solidFill>
                <a:latin typeface="Arial" panose="020B0604020202020204" pitchFamily="34" charset="0"/>
              </a:rPr>
              <a:t>S</a:t>
            </a:r>
            <a:r>
              <a:rPr lang="en-US" altLang="zh-CN" sz="3200" baseline="-25000">
                <a:solidFill>
                  <a:srgbClr val="020001"/>
                </a:solidFill>
                <a:latin typeface="Arial" panose="020B0604020202020204" pitchFamily="34" charset="0"/>
              </a:rPr>
              <a:t>5</a:t>
            </a:r>
            <a:endParaRPr lang="en-US" altLang="zh-CN" sz="3200" baseline="-25000">
              <a:solidFill>
                <a:srgbClr val="020001"/>
              </a:solidFill>
              <a:latin typeface="Arial" panose="020B0604020202020204" pitchFamily="34" charset="0"/>
            </a:endParaRPr>
          </a:p>
        </p:txBody>
      </p:sp>
      <p:sp>
        <p:nvSpPr>
          <p:cNvPr id="24" name="Rectangle 79"/>
          <p:cNvSpPr>
            <a:spLocks noChangeArrowheads="1"/>
          </p:cNvSpPr>
          <p:nvPr>
            <p:custDataLst>
              <p:tags r:id="rId14"/>
            </p:custDataLst>
          </p:nvPr>
        </p:nvSpPr>
        <p:spPr bwMode="auto">
          <a:xfrm>
            <a:off x="6614927" y="5704261"/>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1</a:t>
            </a:r>
            <a:endParaRPr lang="zh-CN" altLang="en-US" sz="3200" baseline="-25000">
              <a:solidFill>
                <a:srgbClr val="020001"/>
              </a:solidFill>
              <a:latin typeface="Arial" panose="020B0604020202020204" pitchFamily="34" charset="0"/>
            </a:endParaRPr>
          </a:p>
        </p:txBody>
      </p:sp>
      <p:sp>
        <p:nvSpPr>
          <p:cNvPr id="25" name="Rectangle 80"/>
          <p:cNvSpPr>
            <a:spLocks noChangeArrowheads="1"/>
          </p:cNvSpPr>
          <p:nvPr>
            <p:custDataLst>
              <p:tags r:id="rId15"/>
            </p:custDataLst>
          </p:nvPr>
        </p:nvSpPr>
        <p:spPr bwMode="auto">
          <a:xfrm>
            <a:off x="7478527" y="5704261"/>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1</a:t>
            </a:r>
            <a:endParaRPr lang="zh-CN" altLang="en-US" sz="3200" baseline="-25000">
              <a:solidFill>
                <a:srgbClr val="020001"/>
              </a:solidFill>
              <a:latin typeface="Arial" panose="020B0604020202020204" pitchFamily="34" charset="0"/>
            </a:endParaRPr>
          </a:p>
        </p:txBody>
      </p:sp>
      <p:sp>
        <p:nvSpPr>
          <p:cNvPr id="26" name="Rectangle 81"/>
          <p:cNvSpPr>
            <a:spLocks noChangeArrowheads="1"/>
          </p:cNvSpPr>
          <p:nvPr>
            <p:custDataLst>
              <p:tags r:id="rId16"/>
            </p:custDataLst>
          </p:nvPr>
        </p:nvSpPr>
        <p:spPr bwMode="auto">
          <a:xfrm>
            <a:off x="8343714" y="5704261"/>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1</a:t>
            </a:r>
            <a:endParaRPr lang="zh-CN" altLang="en-US" sz="3200" baseline="-25000">
              <a:solidFill>
                <a:srgbClr val="020001"/>
              </a:solidFill>
              <a:latin typeface="Arial" panose="020B0604020202020204" pitchFamily="34" charset="0"/>
            </a:endParaRPr>
          </a:p>
        </p:txBody>
      </p:sp>
      <p:sp>
        <p:nvSpPr>
          <p:cNvPr id="27" name="Rectangle 82"/>
          <p:cNvSpPr>
            <a:spLocks noChangeArrowheads="1"/>
          </p:cNvSpPr>
          <p:nvPr>
            <p:custDataLst>
              <p:tags r:id="rId17"/>
            </p:custDataLst>
          </p:nvPr>
        </p:nvSpPr>
        <p:spPr bwMode="auto">
          <a:xfrm>
            <a:off x="9351777" y="5704261"/>
            <a:ext cx="4648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3200">
                <a:solidFill>
                  <a:srgbClr val="020001"/>
                </a:solidFill>
                <a:latin typeface="Arial" panose="020B0604020202020204" pitchFamily="34" charset="0"/>
              </a:rPr>
              <a:t>r</a:t>
            </a:r>
            <a:r>
              <a:rPr lang="en-US" altLang="zh-CN" sz="3200" baseline="-25000">
                <a:solidFill>
                  <a:srgbClr val="020001"/>
                </a:solidFill>
                <a:latin typeface="Arial" panose="020B0604020202020204" pitchFamily="34" charset="0"/>
              </a:rPr>
              <a:t>1</a:t>
            </a:r>
            <a:endParaRPr lang="zh-CN" altLang="en-US" sz="3200" baseline="-25000">
              <a:solidFill>
                <a:srgbClr val="020001"/>
              </a:solidFill>
              <a:latin typeface="Arial" panose="020B0604020202020204" pitchFamily="34" charset="0"/>
            </a:endParaRPr>
          </a:p>
        </p:txBody>
      </p:sp>
      <p:sp>
        <p:nvSpPr>
          <p:cNvPr id="28" name="Rectangle 84"/>
          <p:cNvSpPr>
            <a:spLocks noChangeArrowheads="1"/>
          </p:cNvSpPr>
          <p:nvPr>
            <p:custDataLst>
              <p:tags r:id="rId18"/>
            </p:custDataLst>
          </p:nvPr>
        </p:nvSpPr>
        <p:spPr bwMode="auto">
          <a:xfrm>
            <a:off x="10718614" y="4551736"/>
            <a:ext cx="40894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3200">
                <a:solidFill>
                  <a:srgbClr val="020001"/>
                </a:solidFill>
                <a:latin typeface="Arial" panose="020B0604020202020204" pitchFamily="34" charset="0"/>
              </a:rPr>
              <a:t>4</a:t>
            </a:r>
            <a:endParaRPr lang="zh-CN" altLang="en-US" sz="3200">
              <a:solidFill>
                <a:srgbClr val="02000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down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strips(down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down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trips(down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trips(down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strips(down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strips(down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strips(downLeft)">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strips(downLeft)">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strips(down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strips(downLeft)">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strips(downLeft)">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strips(downLeft)">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strips(downLeft)">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strips(downLeft)">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1640" y="276860"/>
            <a:ext cx="7431405" cy="593090"/>
          </a:xfrm>
        </p:spPr>
        <p:txBody>
          <a:bodyPr/>
          <a:lstStyle/>
          <a:p>
            <a:r>
              <a:rPr lang="en-US" altLang="zh-CN" sz="3200" dirty="0"/>
              <a:t>4. LR(0)</a:t>
            </a:r>
            <a:r>
              <a:rPr lang="zh-CN" altLang="en-US" sz="3200" dirty="0"/>
              <a:t>分析算法</a:t>
            </a:r>
            <a:endParaRPr lang="zh-CN" altLang="en-US" sz="3200" dirty="0"/>
          </a:p>
        </p:txBody>
      </p:sp>
      <p:sp>
        <p:nvSpPr>
          <p:cNvPr id="31" name="Text Box 3"/>
          <p:cNvSpPr txBox="1">
            <a:spLocks noChangeArrowheads="1"/>
          </p:cNvSpPr>
          <p:nvPr/>
        </p:nvSpPr>
        <p:spPr bwMode="auto">
          <a:xfrm>
            <a:off x="421640" y="1151890"/>
            <a:ext cx="11495405" cy="470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indent="0" fontAlgn="auto">
              <a:lnSpc>
                <a:spcPct val="125000"/>
              </a:lnSpc>
              <a:spcBef>
                <a:spcPts val="0"/>
              </a:spcBef>
              <a:spcAft>
                <a:spcPts val="0"/>
              </a:spcAft>
            </a:pPr>
            <a:r>
              <a:rPr lang="en-US" altLang="zh-CN" sz="2400" b="1" dirty="0">
                <a:solidFill>
                  <a:srgbClr val="020001"/>
                </a:solidFill>
                <a:latin typeface="+mn-ea"/>
              </a:rPr>
              <a:t>1) </a:t>
            </a:r>
            <a:r>
              <a:rPr lang="zh-CN" altLang="en-US" sz="2400" b="1" dirty="0">
                <a:solidFill>
                  <a:srgbClr val="020001"/>
                </a:solidFill>
                <a:latin typeface="+mn-ea"/>
              </a:rPr>
              <a:t>将输入串左边界$进符号栈和初始状态进状态栈；</a:t>
            </a:r>
            <a:endParaRPr lang="zh-CN" altLang="en-US" sz="2400" b="1" dirty="0">
              <a:solidFill>
                <a:srgbClr val="020001"/>
              </a:solidFill>
              <a:latin typeface="+mn-ea"/>
            </a:endParaRPr>
          </a:p>
          <a:p>
            <a:pPr indent="0" fontAlgn="auto">
              <a:lnSpc>
                <a:spcPct val="125000"/>
              </a:lnSpc>
              <a:spcBef>
                <a:spcPts val="0"/>
              </a:spcBef>
              <a:spcAft>
                <a:spcPts val="0"/>
              </a:spcAft>
            </a:pPr>
            <a:r>
              <a:rPr lang="en-US" altLang="zh-CN" sz="2400" b="1">
                <a:solidFill>
                  <a:srgbClr val="020001"/>
                </a:solidFill>
                <a:latin typeface="+mn-ea"/>
                <a:sym typeface="+mn-ea"/>
              </a:rPr>
              <a:t>2) </a:t>
            </a:r>
            <a:r>
              <a:rPr lang="zh-CN" altLang="en-US" sz="2400" b="1">
                <a:solidFill>
                  <a:srgbClr val="020001"/>
                </a:solidFill>
                <a:latin typeface="+mn-ea"/>
                <a:sym typeface="+mn-ea"/>
              </a:rPr>
              <a:t>根据状态栈栈顶状态</a:t>
            </a:r>
            <a:r>
              <a:rPr lang="en-US" altLang="zh-CN" sz="2400" b="1">
                <a:solidFill>
                  <a:srgbClr val="FF0000"/>
                </a:solidFill>
                <a:latin typeface="+mn-ea"/>
                <a:sym typeface="+mn-ea"/>
              </a:rPr>
              <a:t>i</a:t>
            </a:r>
            <a:r>
              <a:rPr lang="zh-CN" altLang="en-US" sz="2400" b="1">
                <a:solidFill>
                  <a:srgbClr val="020001"/>
                </a:solidFill>
                <a:latin typeface="+mn-ea"/>
                <a:sym typeface="+mn-ea"/>
              </a:rPr>
              <a:t>和当前输入符号</a:t>
            </a:r>
            <a:r>
              <a:rPr lang="en-US" altLang="zh-CN" sz="2400" b="1">
                <a:solidFill>
                  <a:srgbClr val="FF0000"/>
                </a:solidFill>
                <a:latin typeface="+mn-ea"/>
                <a:sym typeface="+mn-ea"/>
              </a:rPr>
              <a:t>a</a:t>
            </a:r>
            <a:r>
              <a:rPr lang="zh-CN" altLang="en-US" sz="2400" b="1">
                <a:solidFill>
                  <a:srgbClr val="020001"/>
                </a:solidFill>
                <a:latin typeface="+mn-ea"/>
                <a:sym typeface="+mn-ea"/>
              </a:rPr>
              <a:t>查</a:t>
            </a:r>
            <a:r>
              <a:rPr lang="en-US" altLang="zh-CN" sz="2400" b="1">
                <a:solidFill>
                  <a:srgbClr val="020001"/>
                </a:solidFill>
                <a:latin typeface="+mn-ea"/>
                <a:sym typeface="+mn-ea"/>
              </a:rPr>
              <a:t>Action</a:t>
            </a:r>
            <a:r>
              <a:rPr lang="zh-CN" altLang="en-US" sz="2400" b="1">
                <a:solidFill>
                  <a:srgbClr val="020001"/>
                </a:solidFill>
                <a:latin typeface="+mn-ea"/>
                <a:sym typeface="+mn-ea"/>
              </a:rPr>
              <a:t>表进行如下工作：</a:t>
            </a:r>
            <a:endParaRPr lang="zh-CN" altLang="en-US" sz="2400" b="1">
              <a:solidFill>
                <a:srgbClr val="020001"/>
              </a:solidFill>
              <a:latin typeface="+mn-ea"/>
              <a:sym typeface="+mn-ea"/>
            </a:endParaRPr>
          </a:p>
          <a:p>
            <a:pPr lvl="1" indent="0" fontAlgn="auto">
              <a:lnSpc>
                <a:spcPct val="125000"/>
              </a:lnSpc>
              <a:spcBef>
                <a:spcPts val="0"/>
              </a:spcBef>
              <a:spcAft>
                <a:spcPts val="0"/>
              </a:spcAft>
              <a:buFont typeface="Wingdings" panose="05000000000000000000" pitchFamily="2" charset="2"/>
              <a:buNone/>
            </a:pPr>
            <a:r>
              <a:rPr lang="en-US" altLang="zh-CN" sz="2400" b="1" dirty="0">
                <a:solidFill>
                  <a:srgbClr val="0070C0"/>
                </a:solidFill>
                <a:latin typeface="+mn-ea"/>
                <a:sym typeface="+mn-ea"/>
              </a:rPr>
              <a:t>2.1)</a:t>
            </a:r>
            <a:r>
              <a:rPr lang="zh-CN" altLang="en-US" sz="2400" b="1" dirty="0">
                <a:solidFill>
                  <a:srgbClr val="0070C0"/>
                </a:solidFill>
                <a:latin typeface="+mn-ea"/>
                <a:sym typeface="+mn-ea"/>
              </a:rPr>
              <a:t>移进</a:t>
            </a:r>
            <a:r>
              <a:rPr lang="zh-CN" altLang="en-US" sz="2400" b="1" dirty="0">
                <a:solidFill>
                  <a:srgbClr val="020001"/>
                </a:solidFill>
                <a:latin typeface="+mn-ea"/>
                <a:sym typeface="+mn-ea"/>
              </a:rPr>
              <a:t>:若</a:t>
            </a:r>
            <a:r>
              <a:rPr lang="en-US" altLang="zh-CN" sz="2400" b="1" dirty="0">
                <a:solidFill>
                  <a:srgbClr val="020001"/>
                </a:solidFill>
                <a:latin typeface="+mn-ea"/>
                <a:sym typeface="+mn-ea"/>
              </a:rPr>
              <a:t>Action[</a:t>
            </a:r>
            <a:r>
              <a:rPr lang="en-US" altLang="zh-CN" sz="2400" b="1" dirty="0" err="1">
                <a:solidFill>
                  <a:srgbClr val="020001"/>
                </a:solidFill>
                <a:latin typeface="+mn-ea"/>
                <a:sym typeface="+mn-ea"/>
              </a:rPr>
              <a:t>i</a:t>
            </a:r>
            <a:r>
              <a:rPr lang="zh-CN" altLang="en-US" sz="2400" b="1" dirty="0">
                <a:solidFill>
                  <a:srgbClr val="020001"/>
                </a:solidFill>
                <a:latin typeface="+mn-ea"/>
                <a:sym typeface="+mn-ea"/>
              </a:rPr>
              <a:t>，</a:t>
            </a:r>
            <a:r>
              <a:rPr lang="en-US" altLang="zh-CN" sz="2400" b="1" dirty="0">
                <a:solidFill>
                  <a:srgbClr val="020001"/>
                </a:solidFill>
                <a:latin typeface="+mn-ea"/>
                <a:sym typeface="+mn-ea"/>
              </a:rPr>
              <a:t>a]=</a:t>
            </a:r>
            <a:r>
              <a:rPr lang="en-US" altLang="zh-CN" sz="2400" b="1" dirty="0" err="1">
                <a:solidFill>
                  <a:srgbClr val="020001"/>
                </a:solidFill>
                <a:latin typeface="+mn-ea"/>
                <a:sym typeface="+mn-ea"/>
              </a:rPr>
              <a:t>S</a:t>
            </a:r>
            <a:r>
              <a:rPr lang="en-US" altLang="zh-CN" sz="2400" b="1" baseline="-25000" dirty="0" err="1">
                <a:solidFill>
                  <a:srgbClr val="020001"/>
                </a:solidFill>
                <a:latin typeface="+mn-ea"/>
                <a:sym typeface="+mn-ea"/>
              </a:rPr>
              <a:t>j</a:t>
            </a:r>
            <a:r>
              <a:rPr lang="en-US" altLang="zh-CN" sz="2400" b="1" baseline="-25000" dirty="0">
                <a:solidFill>
                  <a:srgbClr val="020001"/>
                </a:solidFill>
                <a:latin typeface="+mn-ea"/>
                <a:sym typeface="+mn-ea"/>
              </a:rPr>
              <a:t> </a:t>
            </a:r>
            <a:r>
              <a:rPr lang="en-US" altLang="zh-CN" sz="2400" b="1" dirty="0">
                <a:solidFill>
                  <a:srgbClr val="020001"/>
                </a:solidFill>
                <a:latin typeface="+mn-ea"/>
                <a:sym typeface="+mn-ea"/>
              </a:rPr>
              <a:t>，a</a:t>
            </a:r>
            <a:r>
              <a:rPr lang="zh-CN" altLang="en-US" sz="2400" b="1" dirty="0">
                <a:solidFill>
                  <a:srgbClr val="020001"/>
                </a:solidFill>
                <a:latin typeface="+mn-ea"/>
                <a:sym typeface="+mn-ea"/>
              </a:rPr>
              <a:t>进符号栈，新状态</a:t>
            </a:r>
            <a:r>
              <a:rPr lang="en-US" altLang="zh-CN" sz="2400" b="1" dirty="0">
                <a:solidFill>
                  <a:srgbClr val="020001"/>
                </a:solidFill>
                <a:latin typeface="+mn-ea"/>
                <a:sym typeface="+mn-ea"/>
              </a:rPr>
              <a:t>j</a:t>
            </a:r>
            <a:r>
              <a:rPr lang="zh-CN" altLang="en-US" sz="2400" b="1" dirty="0">
                <a:solidFill>
                  <a:srgbClr val="020001"/>
                </a:solidFill>
                <a:latin typeface="+mn-ea"/>
                <a:sym typeface="+mn-ea"/>
              </a:rPr>
              <a:t>进状态栈，</a:t>
            </a:r>
            <a:r>
              <a:rPr lang="zh-CN" altLang="en-US" sz="2400" b="1" dirty="0">
                <a:solidFill>
                  <a:srgbClr val="020001"/>
                </a:solidFill>
                <a:latin typeface="+mn-ea"/>
                <a:sym typeface="+mn-ea"/>
              </a:rPr>
              <a:t>读下一个输入符号；</a:t>
            </a:r>
            <a:endParaRPr lang="zh-CN" altLang="en-US" sz="2400" b="1" dirty="0">
              <a:solidFill>
                <a:srgbClr val="020001"/>
              </a:solidFill>
              <a:latin typeface="+mn-ea"/>
              <a:ea typeface="+mn-ea"/>
            </a:endParaRPr>
          </a:p>
          <a:p>
            <a:pPr lvl="1" indent="0" fontAlgn="auto">
              <a:lnSpc>
                <a:spcPct val="125000"/>
              </a:lnSpc>
              <a:spcBef>
                <a:spcPts val="0"/>
              </a:spcBef>
              <a:spcAft>
                <a:spcPts val="0"/>
              </a:spcAft>
              <a:buFont typeface="Wingdings" panose="05000000000000000000" pitchFamily="2" charset="2"/>
              <a:buNone/>
            </a:pPr>
            <a:r>
              <a:rPr lang="en-US" altLang="zh-CN" sz="2400" b="1" dirty="0">
                <a:solidFill>
                  <a:srgbClr val="0070C0"/>
                </a:solidFill>
                <a:latin typeface="+mn-ea"/>
                <a:sym typeface="+mn-ea"/>
              </a:rPr>
              <a:t>2.2)</a:t>
            </a:r>
            <a:r>
              <a:rPr lang="zh-CN" altLang="en-US" sz="2400" b="1" dirty="0">
                <a:solidFill>
                  <a:srgbClr val="0070C0"/>
                </a:solidFill>
                <a:latin typeface="+mn-ea"/>
                <a:sym typeface="+mn-ea"/>
              </a:rPr>
              <a:t>归约</a:t>
            </a:r>
            <a:r>
              <a:rPr lang="zh-CN" altLang="en-US" sz="2400" b="1" dirty="0">
                <a:solidFill>
                  <a:srgbClr val="020001"/>
                </a:solidFill>
                <a:latin typeface="+mn-ea"/>
                <a:sym typeface="+mn-ea"/>
              </a:rPr>
              <a:t>:若</a:t>
            </a:r>
            <a:r>
              <a:rPr lang="en-US" altLang="zh-CN" sz="2400" b="1" dirty="0">
                <a:solidFill>
                  <a:srgbClr val="020001"/>
                </a:solidFill>
                <a:latin typeface="+mn-ea"/>
                <a:sym typeface="+mn-ea"/>
              </a:rPr>
              <a:t>Action[</a:t>
            </a:r>
            <a:r>
              <a:rPr lang="en-US" altLang="zh-CN" sz="2400" b="1" dirty="0" err="1">
                <a:solidFill>
                  <a:srgbClr val="020001"/>
                </a:solidFill>
                <a:latin typeface="+mn-ea"/>
                <a:sym typeface="+mn-ea"/>
              </a:rPr>
              <a:t>i</a:t>
            </a:r>
            <a:r>
              <a:rPr lang="zh-CN" altLang="en-US" sz="2400" b="1" dirty="0">
                <a:solidFill>
                  <a:srgbClr val="020001"/>
                </a:solidFill>
                <a:latin typeface="+mn-ea"/>
                <a:sym typeface="+mn-ea"/>
              </a:rPr>
              <a:t>，</a:t>
            </a:r>
            <a:r>
              <a:rPr lang="en-US" altLang="zh-CN" sz="2400" b="1" dirty="0">
                <a:solidFill>
                  <a:srgbClr val="020001"/>
                </a:solidFill>
                <a:latin typeface="+mn-ea"/>
                <a:sym typeface="+mn-ea"/>
              </a:rPr>
              <a:t>a]=</a:t>
            </a:r>
            <a:r>
              <a:rPr lang="en-US" altLang="zh-CN" sz="2400" b="1" dirty="0" err="1">
                <a:solidFill>
                  <a:srgbClr val="020001"/>
                </a:solidFill>
                <a:latin typeface="+mn-ea"/>
                <a:sym typeface="+mn-ea"/>
              </a:rPr>
              <a:t>r</a:t>
            </a:r>
            <a:r>
              <a:rPr lang="en-US" altLang="zh-CN" sz="2400" b="1" baseline="-25000" dirty="0" err="1">
                <a:solidFill>
                  <a:srgbClr val="020001"/>
                </a:solidFill>
                <a:latin typeface="+mn-ea"/>
                <a:sym typeface="+mn-ea"/>
              </a:rPr>
              <a:t>j</a:t>
            </a:r>
            <a:r>
              <a:rPr lang="en-US" altLang="zh-CN" sz="2400" b="1" baseline="-25000" dirty="0">
                <a:solidFill>
                  <a:srgbClr val="020001"/>
                </a:solidFill>
                <a:latin typeface="+mn-ea"/>
                <a:sym typeface="+mn-ea"/>
              </a:rPr>
              <a:t> </a:t>
            </a:r>
            <a:r>
              <a:rPr lang="zh-CN" altLang="en-US" sz="2400" b="1" dirty="0">
                <a:solidFill>
                  <a:srgbClr val="020001"/>
                </a:solidFill>
                <a:latin typeface="+mn-ea"/>
                <a:sym typeface="+mn-ea"/>
              </a:rPr>
              <a:t>，按</a:t>
            </a:r>
            <a:r>
              <a:rPr lang="en-US" altLang="zh-CN" sz="2400" b="1" dirty="0" err="1">
                <a:solidFill>
                  <a:srgbClr val="020001"/>
                </a:solidFill>
                <a:latin typeface="+mn-ea"/>
                <a:sym typeface="+mn-ea"/>
              </a:rPr>
              <a:t>r</a:t>
            </a:r>
            <a:r>
              <a:rPr lang="en-US" altLang="zh-CN" sz="2400" b="1" baseline="-25000" dirty="0" err="1">
                <a:solidFill>
                  <a:srgbClr val="020001"/>
                </a:solidFill>
                <a:latin typeface="+mn-ea"/>
                <a:sym typeface="+mn-ea"/>
              </a:rPr>
              <a:t>j</a:t>
            </a:r>
            <a:r>
              <a:rPr lang="zh-CN" altLang="en-US" sz="2400" b="1" dirty="0">
                <a:solidFill>
                  <a:srgbClr val="020001"/>
                </a:solidFill>
                <a:latin typeface="+mn-ea"/>
                <a:sym typeface="+mn-ea"/>
              </a:rPr>
              <a:t>进行归约，若</a:t>
            </a:r>
            <a:r>
              <a:rPr lang="en-US" altLang="zh-CN" sz="2400" b="1" dirty="0" err="1">
                <a:solidFill>
                  <a:srgbClr val="020001"/>
                </a:solidFill>
                <a:latin typeface="+mn-ea"/>
                <a:sym typeface="+mn-ea"/>
              </a:rPr>
              <a:t>r</a:t>
            </a:r>
            <a:r>
              <a:rPr lang="en-US" altLang="zh-CN" sz="2400" b="1" baseline="-25000" dirty="0" err="1">
                <a:solidFill>
                  <a:srgbClr val="020001"/>
                </a:solidFill>
                <a:latin typeface="+mn-ea"/>
                <a:sym typeface="+mn-ea"/>
              </a:rPr>
              <a:t>j</a:t>
            </a:r>
            <a:r>
              <a:rPr lang="zh-CN" altLang="en-US" sz="2400" b="1" dirty="0">
                <a:solidFill>
                  <a:srgbClr val="020001"/>
                </a:solidFill>
                <a:latin typeface="+mn-ea"/>
                <a:sym typeface="+mn-ea"/>
              </a:rPr>
              <a:t>右部符号串长度为</a:t>
            </a:r>
            <a:r>
              <a:rPr lang="en-US" altLang="zh-CN" sz="2400" b="1" dirty="0">
                <a:solidFill>
                  <a:srgbClr val="020001"/>
                </a:solidFill>
                <a:latin typeface="+mn-ea"/>
                <a:sym typeface="+mn-ea"/>
              </a:rPr>
              <a:t>n，</a:t>
            </a:r>
            <a:r>
              <a:rPr lang="zh-CN" altLang="en-US" sz="2400" b="1" dirty="0">
                <a:solidFill>
                  <a:srgbClr val="020001"/>
                </a:solidFill>
                <a:latin typeface="+mn-ea"/>
                <a:sym typeface="+mn-ea"/>
              </a:rPr>
              <a:t>则</a:t>
            </a:r>
            <a:endParaRPr lang="en-US" altLang="zh-CN" sz="2400" b="1" dirty="0">
              <a:solidFill>
                <a:srgbClr val="020001"/>
              </a:solidFill>
              <a:latin typeface="+mn-ea"/>
              <a:ea typeface="+mn-ea"/>
            </a:endParaRPr>
          </a:p>
          <a:p>
            <a:pPr marL="1371600" lvl="2" indent="-457200" fontAlgn="auto">
              <a:lnSpc>
                <a:spcPct val="125000"/>
              </a:lnSpc>
              <a:spcBef>
                <a:spcPts val="0"/>
              </a:spcBef>
              <a:spcAft>
                <a:spcPts val="0"/>
              </a:spcAft>
              <a:buFont typeface="+mj-ea"/>
              <a:buAutoNum type="circleNumDbPlain"/>
            </a:pPr>
            <a:r>
              <a:rPr lang="zh-CN" altLang="en-US" sz="2400" b="1" dirty="0">
                <a:solidFill>
                  <a:srgbClr val="0070C0"/>
                </a:solidFill>
                <a:latin typeface="+mn-ea"/>
                <a:sym typeface="+mn-ea"/>
              </a:rPr>
              <a:t>移进</a:t>
            </a:r>
            <a:r>
              <a:rPr lang="zh-CN" altLang="en-US" sz="2400" b="1" dirty="0">
                <a:solidFill>
                  <a:srgbClr val="020001"/>
                </a:solidFill>
                <a:latin typeface="+mn-ea"/>
                <a:sym typeface="+mn-ea"/>
              </a:rPr>
              <a:t>：符号栈栈顶</a:t>
            </a:r>
            <a:r>
              <a:rPr lang="en-US" altLang="zh-CN" sz="2400" b="1" dirty="0">
                <a:solidFill>
                  <a:srgbClr val="020001"/>
                </a:solidFill>
                <a:latin typeface="+mn-ea"/>
                <a:sym typeface="+mn-ea"/>
              </a:rPr>
              <a:t>/</a:t>
            </a:r>
            <a:r>
              <a:rPr lang="zh-CN" altLang="en-US" sz="2400" b="1" dirty="0">
                <a:solidFill>
                  <a:srgbClr val="020001"/>
                </a:solidFill>
                <a:latin typeface="+mn-ea"/>
                <a:sym typeface="+mn-ea"/>
              </a:rPr>
              <a:t>状态栈栈顶的n个符号</a:t>
            </a:r>
            <a:r>
              <a:rPr lang="en-US" altLang="zh-CN" sz="2400" b="1" dirty="0">
                <a:solidFill>
                  <a:srgbClr val="020001"/>
                </a:solidFill>
                <a:latin typeface="+mn-ea"/>
                <a:sym typeface="+mn-ea"/>
              </a:rPr>
              <a:t>/</a:t>
            </a:r>
            <a:r>
              <a:rPr lang="zh-CN" altLang="en-US" sz="2400" b="1" dirty="0">
                <a:solidFill>
                  <a:srgbClr val="020001"/>
                </a:solidFill>
                <a:latin typeface="+mn-ea"/>
                <a:sym typeface="+mn-ea"/>
              </a:rPr>
              <a:t>元素出栈；归约后的文法符号A进符号栈；假设当前状态栈栈顶为k，若Goto[k，A]=</a:t>
            </a:r>
            <a:r>
              <a:rPr lang="en-US" altLang="zh-CN" sz="2400" b="1" dirty="0">
                <a:solidFill>
                  <a:srgbClr val="020001"/>
                </a:solidFill>
                <a:latin typeface="+mn-ea"/>
                <a:sym typeface="+mn-ea"/>
              </a:rPr>
              <a:t>m</a:t>
            </a:r>
            <a:r>
              <a:rPr lang="zh-CN" altLang="en-US" sz="2400" b="1" dirty="0">
                <a:solidFill>
                  <a:srgbClr val="020001"/>
                </a:solidFill>
                <a:latin typeface="+mn-ea"/>
                <a:sym typeface="+mn-ea"/>
              </a:rPr>
              <a:t>，则将新状态</a:t>
            </a:r>
            <a:r>
              <a:rPr lang="en-US" altLang="zh-CN" sz="2400" b="1" dirty="0">
                <a:solidFill>
                  <a:srgbClr val="020001"/>
                </a:solidFill>
                <a:latin typeface="+mn-ea"/>
                <a:sym typeface="+mn-ea"/>
              </a:rPr>
              <a:t>m</a:t>
            </a:r>
            <a:r>
              <a:rPr lang="zh-CN" altLang="en-US" sz="2400" b="1" dirty="0">
                <a:solidFill>
                  <a:srgbClr val="020001"/>
                </a:solidFill>
                <a:latin typeface="+mn-ea"/>
                <a:sym typeface="+mn-ea"/>
              </a:rPr>
              <a:t>进状态栈</a:t>
            </a:r>
            <a:r>
              <a:rPr lang="en-US" altLang="zh-CN" sz="2400" b="1" dirty="0">
                <a:solidFill>
                  <a:srgbClr val="020001"/>
                </a:solidFill>
                <a:latin typeface="+mn-ea"/>
                <a:sym typeface="+mn-ea"/>
              </a:rPr>
              <a:t>;</a:t>
            </a:r>
            <a:endParaRPr lang="zh-CN" altLang="en-US" sz="2400" b="1" dirty="0">
              <a:solidFill>
                <a:srgbClr val="020001"/>
              </a:solidFill>
              <a:latin typeface="+mn-ea"/>
              <a:sym typeface="+mn-ea"/>
            </a:endParaRPr>
          </a:p>
          <a:p>
            <a:pPr marL="1371600" lvl="2" indent="-457200" fontAlgn="auto">
              <a:lnSpc>
                <a:spcPct val="125000"/>
              </a:lnSpc>
              <a:spcBef>
                <a:spcPts val="0"/>
              </a:spcBef>
              <a:spcAft>
                <a:spcPts val="0"/>
              </a:spcAft>
              <a:buFont typeface="+mj-ea"/>
              <a:buAutoNum type="circleNumDbPlain"/>
            </a:pPr>
            <a:r>
              <a:rPr lang="zh-CN" altLang="en-US" sz="2400" b="1" dirty="0">
                <a:solidFill>
                  <a:srgbClr val="0070C0"/>
                </a:solidFill>
                <a:latin typeface="+mn-ea"/>
                <a:sym typeface="+mn-ea"/>
              </a:rPr>
              <a:t>接受</a:t>
            </a:r>
            <a:r>
              <a:rPr lang="zh-CN" altLang="en-US" sz="2400" b="1" dirty="0">
                <a:solidFill>
                  <a:srgbClr val="020001"/>
                </a:solidFill>
                <a:latin typeface="+mn-ea"/>
                <a:sym typeface="+mn-ea"/>
              </a:rPr>
              <a:t>：</a:t>
            </a:r>
            <a:r>
              <a:rPr lang="zh-CN" altLang="en-US" sz="2400" b="1" dirty="0">
                <a:solidFill>
                  <a:srgbClr val="020001"/>
                </a:solidFill>
                <a:latin typeface="+mn-ea"/>
                <a:sym typeface="+mn-ea"/>
              </a:rPr>
              <a:t>若动作表中对应“</a:t>
            </a:r>
            <a:r>
              <a:rPr lang="en-US" altLang="zh-CN" sz="2400" b="1" dirty="0">
                <a:solidFill>
                  <a:srgbClr val="020001"/>
                </a:solidFill>
                <a:latin typeface="+mn-ea"/>
                <a:sym typeface="+mn-ea"/>
              </a:rPr>
              <a:t>acc”，</a:t>
            </a:r>
            <a:r>
              <a:rPr lang="zh-CN" altLang="en-US" sz="2400" b="1" dirty="0">
                <a:solidFill>
                  <a:srgbClr val="020001"/>
                </a:solidFill>
                <a:latin typeface="+mn-ea"/>
                <a:sym typeface="+mn-ea"/>
              </a:rPr>
              <a:t>则分析成功；</a:t>
            </a:r>
            <a:endParaRPr lang="zh-CN" altLang="en-US" sz="2400" b="1" dirty="0">
              <a:solidFill>
                <a:srgbClr val="020001"/>
              </a:solidFill>
              <a:latin typeface="+mn-ea"/>
              <a:sym typeface="+mn-ea"/>
            </a:endParaRPr>
          </a:p>
          <a:p>
            <a:pPr marL="1371600" lvl="2" indent="-457200" fontAlgn="auto">
              <a:lnSpc>
                <a:spcPct val="125000"/>
              </a:lnSpc>
              <a:spcBef>
                <a:spcPts val="0"/>
              </a:spcBef>
              <a:spcAft>
                <a:spcPts val="0"/>
              </a:spcAft>
              <a:buFont typeface="+mj-ea"/>
              <a:buAutoNum type="circleNumDbPlain"/>
            </a:pPr>
            <a:r>
              <a:rPr lang="zh-CN" altLang="en-US" sz="2400" b="1" dirty="0">
                <a:solidFill>
                  <a:srgbClr val="0070C0"/>
                </a:solidFill>
                <a:latin typeface="+mn-ea"/>
                <a:sym typeface="+mn-ea"/>
              </a:rPr>
              <a:t>出错</a:t>
            </a:r>
            <a:r>
              <a:rPr lang="zh-CN" altLang="en-US" sz="2400" b="1" dirty="0">
                <a:solidFill>
                  <a:srgbClr val="020001"/>
                </a:solidFill>
                <a:latin typeface="+mn-ea"/>
                <a:sym typeface="+mn-ea"/>
              </a:rPr>
              <a:t>：</a:t>
            </a:r>
            <a:r>
              <a:rPr lang="zh-CN" altLang="en-US" sz="2400" b="1" dirty="0">
                <a:solidFill>
                  <a:srgbClr val="020001"/>
                </a:solidFill>
                <a:latin typeface="+mn-ea"/>
                <a:sym typeface="+mn-ea"/>
              </a:rPr>
              <a:t>若动作表中对应空白</a:t>
            </a:r>
            <a:r>
              <a:rPr lang="en-US" altLang="zh-CN" sz="2400" b="1" dirty="0">
                <a:solidFill>
                  <a:srgbClr val="020001"/>
                </a:solidFill>
                <a:latin typeface="+mn-ea"/>
                <a:sym typeface="+mn-ea"/>
              </a:rPr>
              <a:t>，</a:t>
            </a:r>
            <a:r>
              <a:rPr lang="zh-CN" altLang="en-US" sz="2400" b="1" dirty="0">
                <a:solidFill>
                  <a:srgbClr val="020001"/>
                </a:solidFill>
                <a:latin typeface="+mn-ea"/>
                <a:sym typeface="+mn-ea"/>
              </a:rPr>
              <a:t>则报告错误信息。</a:t>
            </a:r>
            <a:endParaRPr lang="zh-CN" altLang="en-US" sz="2400" b="1" dirty="0">
              <a:solidFill>
                <a:srgbClr val="020001"/>
              </a:solidFill>
              <a:latin typeface="+mn-ea"/>
              <a:sym typeface="+mn-ea"/>
            </a:endParaRPr>
          </a:p>
          <a:p>
            <a:pPr lvl="0" indent="0" fontAlgn="auto">
              <a:lnSpc>
                <a:spcPct val="125000"/>
              </a:lnSpc>
              <a:spcBef>
                <a:spcPts val="0"/>
              </a:spcBef>
              <a:spcAft>
                <a:spcPts val="0"/>
              </a:spcAft>
              <a:buFont typeface="+mj-ea"/>
              <a:buNone/>
            </a:pPr>
            <a:r>
              <a:rPr lang="en-US" altLang="zh-CN" sz="2400" b="1" dirty="0">
                <a:solidFill>
                  <a:srgbClr val="020001"/>
                </a:solidFill>
                <a:latin typeface="+mn-ea"/>
                <a:sym typeface="+mn-ea"/>
              </a:rPr>
              <a:t>3) </a:t>
            </a:r>
            <a:r>
              <a:rPr lang="zh-CN" altLang="en-US" sz="2400" b="1" dirty="0">
                <a:solidFill>
                  <a:srgbClr val="020001"/>
                </a:solidFill>
                <a:latin typeface="+mn-ea"/>
                <a:sym typeface="+mn-ea"/>
              </a:rPr>
              <a:t>重复以上(2)的工作直到接受或出错为止。</a:t>
            </a:r>
            <a:endParaRPr lang="zh-CN" altLang="en-US" sz="2400" b="1" dirty="0">
              <a:solidFill>
                <a:srgbClr val="020001"/>
              </a:solidFill>
              <a:latin typeface="+mn-ea"/>
              <a:sym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outHorizontal)">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702310" y="327660"/>
            <a:ext cx="7150735" cy="593090"/>
          </a:xfrm>
        </p:spPr>
        <p:txBody>
          <a:bodyPr/>
          <a:lstStyle/>
          <a:p>
            <a:r>
              <a:rPr lang="en-US" altLang="zh-CN" sz="3200" dirty="0"/>
              <a:t>4. LR(0)</a:t>
            </a:r>
            <a:r>
              <a:rPr lang="zh-CN" altLang="en-US" sz="3200" dirty="0"/>
              <a:t>分析算法（</a:t>
            </a:r>
            <a:r>
              <a:rPr lang="zh-CN" altLang="en-US" sz="3200" dirty="0"/>
              <a:t>续）</a:t>
            </a:r>
            <a:endParaRPr lang="zh-CN" altLang="en-US" sz="3200" dirty="0"/>
          </a:p>
        </p:txBody>
      </p:sp>
      <p:grpSp>
        <p:nvGrpSpPr>
          <p:cNvPr id="10" name="Group 2"/>
          <p:cNvGrpSpPr/>
          <p:nvPr/>
        </p:nvGrpSpPr>
        <p:grpSpPr bwMode="auto">
          <a:xfrm>
            <a:off x="3821000" y="1623359"/>
            <a:ext cx="8013023" cy="460375"/>
            <a:chOff x="720" y="1152"/>
            <a:chExt cx="4224" cy="290"/>
          </a:xfrm>
        </p:grpSpPr>
        <p:sp>
          <p:nvSpPr>
            <p:cNvPr id="11" name="Text Box 3"/>
            <p:cNvSpPr txBox="1">
              <a:spLocks noChangeArrowheads="1"/>
            </p:cNvSpPr>
            <p:nvPr/>
          </p:nvSpPr>
          <p:spPr bwMode="auto">
            <a:xfrm>
              <a:off x="720" y="1152"/>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步骤</a:t>
              </a:r>
              <a:endParaRPr lang="zh-CN" altLang="en-US" sz="2400" b="1">
                <a:solidFill>
                  <a:srgbClr val="020001"/>
                </a:solidFill>
                <a:latin typeface="+mn-ea"/>
              </a:endParaRPr>
            </a:p>
          </p:txBody>
        </p:sp>
        <p:sp>
          <p:nvSpPr>
            <p:cNvPr id="13" name="Text Box 4"/>
            <p:cNvSpPr txBox="1">
              <a:spLocks noChangeArrowheads="1"/>
            </p:cNvSpPr>
            <p:nvPr/>
          </p:nvSpPr>
          <p:spPr bwMode="auto">
            <a:xfrm>
              <a:off x="1200"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spcBef>
                  <a:spcPct val="50000"/>
                </a:spcBef>
              </a:pPr>
              <a:r>
                <a:rPr lang="zh-CN" altLang="en-US" sz="2400" b="1">
                  <a:solidFill>
                    <a:srgbClr val="020001"/>
                  </a:solidFill>
                  <a:latin typeface="+mn-ea"/>
                </a:rPr>
                <a:t>状态栈</a:t>
              </a:r>
              <a:r>
                <a:rPr lang="en-US" altLang="zh-CN" sz="2400" b="1">
                  <a:solidFill>
                    <a:srgbClr val="020001"/>
                  </a:solidFill>
                  <a:latin typeface="+mn-ea"/>
                </a:rPr>
                <a:t>S</a:t>
              </a:r>
              <a:endParaRPr lang="en-US" altLang="zh-CN" sz="2400" b="1">
                <a:solidFill>
                  <a:srgbClr val="020001"/>
                </a:solidFill>
                <a:latin typeface="+mn-ea"/>
              </a:endParaRPr>
            </a:p>
          </p:txBody>
        </p:sp>
        <p:sp>
          <p:nvSpPr>
            <p:cNvPr id="14" name="Text Box 5"/>
            <p:cNvSpPr txBox="1">
              <a:spLocks noChangeArrowheads="1"/>
            </p:cNvSpPr>
            <p:nvPr/>
          </p:nvSpPr>
          <p:spPr bwMode="auto">
            <a:xfrm>
              <a:off x="2160" y="1152"/>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符号栈</a:t>
              </a:r>
              <a:r>
                <a:rPr lang="en-US" altLang="zh-CN" sz="2400" b="1">
                  <a:solidFill>
                    <a:srgbClr val="020001"/>
                  </a:solidFill>
                  <a:latin typeface="+mn-ea"/>
                </a:rPr>
                <a:t>X</a:t>
              </a:r>
              <a:endParaRPr lang="en-US" altLang="zh-CN" sz="2400" b="1">
                <a:solidFill>
                  <a:srgbClr val="020001"/>
                </a:solidFill>
                <a:latin typeface="+mn-ea"/>
              </a:endParaRPr>
            </a:p>
          </p:txBody>
        </p:sp>
        <p:sp>
          <p:nvSpPr>
            <p:cNvPr id="15" name="Text Box 6"/>
            <p:cNvSpPr txBox="1">
              <a:spLocks noChangeArrowheads="1"/>
            </p:cNvSpPr>
            <p:nvPr/>
          </p:nvSpPr>
          <p:spPr bwMode="auto">
            <a:xfrm>
              <a:off x="398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动作</a:t>
              </a:r>
              <a:endParaRPr lang="zh-CN" altLang="en-US" sz="2400" b="1">
                <a:solidFill>
                  <a:srgbClr val="020001"/>
                </a:solidFill>
                <a:latin typeface="+mn-ea"/>
              </a:endParaRPr>
            </a:p>
          </p:txBody>
        </p:sp>
        <p:sp>
          <p:nvSpPr>
            <p:cNvPr id="16" name="Text Box 7"/>
            <p:cNvSpPr txBox="1">
              <a:spLocks noChangeArrowheads="1"/>
            </p:cNvSpPr>
            <p:nvPr/>
          </p:nvSpPr>
          <p:spPr bwMode="auto">
            <a:xfrm>
              <a:off x="302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输入符号</a:t>
              </a:r>
              <a:endParaRPr lang="zh-CN" altLang="en-US" sz="2400" b="1">
                <a:solidFill>
                  <a:srgbClr val="020001"/>
                </a:solidFill>
                <a:latin typeface="+mn-ea"/>
              </a:endParaRPr>
            </a:p>
          </p:txBody>
        </p:sp>
      </p:grpSp>
      <p:grpSp>
        <p:nvGrpSpPr>
          <p:cNvPr id="17" name="Group 8"/>
          <p:cNvGrpSpPr/>
          <p:nvPr/>
        </p:nvGrpSpPr>
        <p:grpSpPr bwMode="auto">
          <a:xfrm>
            <a:off x="3816238" y="2092307"/>
            <a:ext cx="8017249" cy="460375"/>
            <a:chOff x="720" y="1388"/>
            <a:chExt cx="4224" cy="290"/>
          </a:xfrm>
        </p:grpSpPr>
        <p:sp>
          <p:nvSpPr>
            <p:cNvPr id="18" name="Text Box 9"/>
            <p:cNvSpPr txBox="1">
              <a:spLocks noChangeArrowheads="1"/>
            </p:cNvSpPr>
            <p:nvPr/>
          </p:nvSpPr>
          <p:spPr bwMode="auto">
            <a:xfrm>
              <a:off x="720" y="138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1</a:t>
              </a:r>
              <a:endParaRPr lang="zh-CN" altLang="en-US" sz="2400" b="1">
                <a:solidFill>
                  <a:srgbClr val="020001"/>
                </a:solidFill>
                <a:latin typeface="+mn-ea"/>
              </a:endParaRPr>
            </a:p>
          </p:txBody>
        </p:sp>
        <p:sp>
          <p:nvSpPr>
            <p:cNvPr id="19" name="Text Box 10"/>
            <p:cNvSpPr txBox="1">
              <a:spLocks noChangeArrowheads="1"/>
            </p:cNvSpPr>
            <p:nvPr/>
          </p:nvSpPr>
          <p:spPr bwMode="auto">
            <a:xfrm>
              <a:off x="1200"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a:t>
              </a:r>
              <a:endParaRPr lang="en-US" altLang="zh-CN" sz="2400" b="1">
                <a:solidFill>
                  <a:srgbClr val="020001"/>
                </a:solidFill>
                <a:latin typeface="+mn-ea"/>
              </a:endParaRPr>
            </a:p>
          </p:txBody>
        </p:sp>
        <p:sp>
          <p:nvSpPr>
            <p:cNvPr id="20" name="Text Box 11"/>
            <p:cNvSpPr txBox="1">
              <a:spLocks noChangeArrowheads="1"/>
            </p:cNvSpPr>
            <p:nvPr/>
          </p:nvSpPr>
          <p:spPr bwMode="auto">
            <a:xfrm>
              <a:off x="2160" y="138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sp>
          <p:nvSpPr>
            <p:cNvPr id="21" name="Text Box 12"/>
            <p:cNvSpPr txBox="1">
              <a:spLocks noChangeArrowheads="1"/>
            </p:cNvSpPr>
            <p:nvPr/>
          </p:nvSpPr>
          <p:spPr bwMode="auto">
            <a:xfrm>
              <a:off x="398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S</a:t>
              </a:r>
              <a:r>
                <a:rPr lang="en-US" altLang="zh-CN" sz="2400" b="1" baseline="-25000" dirty="0">
                  <a:solidFill>
                    <a:srgbClr val="020001"/>
                  </a:solidFill>
                  <a:latin typeface="+mn-ea"/>
                </a:rPr>
                <a:t>3</a:t>
              </a:r>
              <a:endParaRPr lang="en-US" altLang="zh-CN" sz="2400" b="1" baseline="-25000" dirty="0">
                <a:solidFill>
                  <a:srgbClr val="020001"/>
                </a:solidFill>
                <a:latin typeface="+mn-ea"/>
              </a:endParaRPr>
            </a:p>
          </p:txBody>
        </p:sp>
        <p:sp>
          <p:nvSpPr>
            <p:cNvPr id="22" name="Text Box 13"/>
            <p:cNvSpPr txBox="1">
              <a:spLocks noChangeArrowheads="1"/>
            </p:cNvSpPr>
            <p:nvPr/>
          </p:nvSpPr>
          <p:spPr bwMode="auto">
            <a:xfrm>
              <a:off x="302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grpSp>
      <p:grpSp>
        <p:nvGrpSpPr>
          <p:cNvPr id="24" name="Group 15"/>
          <p:cNvGrpSpPr/>
          <p:nvPr/>
        </p:nvGrpSpPr>
        <p:grpSpPr bwMode="auto">
          <a:xfrm>
            <a:off x="3816238" y="2571096"/>
            <a:ext cx="8017249" cy="460375"/>
            <a:chOff x="720" y="1628"/>
            <a:chExt cx="4224" cy="290"/>
          </a:xfrm>
        </p:grpSpPr>
        <p:sp>
          <p:nvSpPr>
            <p:cNvPr id="25" name="Text Box 16"/>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2</a:t>
              </a:r>
              <a:endParaRPr lang="zh-CN" altLang="en-US" sz="2400" b="1">
                <a:solidFill>
                  <a:srgbClr val="020001"/>
                </a:solidFill>
                <a:latin typeface="+mn-ea"/>
              </a:endParaRPr>
            </a:p>
          </p:txBody>
        </p:sp>
        <p:sp>
          <p:nvSpPr>
            <p:cNvPr id="26" name="Text Box 17"/>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03</a:t>
              </a:r>
              <a:endParaRPr lang="en-US" altLang="zh-CN" sz="2400" b="1">
                <a:solidFill>
                  <a:srgbClr val="020001"/>
                </a:solidFill>
                <a:latin typeface="+mn-ea"/>
              </a:endParaRPr>
            </a:p>
          </p:txBody>
        </p:sp>
        <p:sp>
          <p:nvSpPr>
            <p:cNvPr id="27" name="Text Box 18"/>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sp>
          <p:nvSpPr>
            <p:cNvPr id="28" name="Text Box 19"/>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S</a:t>
              </a:r>
              <a:r>
                <a:rPr lang="en-US" altLang="zh-CN" sz="2400" b="1" baseline="-25000" dirty="0">
                  <a:solidFill>
                    <a:srgbClr val="020001"/>
                  </a:solidFill>
                  <a:latin typeface="+mn-ea"/>
                </a:rPr>
                <a:t>3</a:t>
              </a:r>
              <a:endParaRPr lang="en-US" altLang="zh-CN" sz="2400" b="1" baseline="-25000" dirty="0">
                <a:solidFill>
                  <a:srgbClr val="020001"/>
                </a:solidFill>
                <a:latin typeface="+mn-ea"/>
              </a:endParaRPr>
            </a:p>
          </p:txBody>
        </p:sp>
        <p:sp>
          <p:nvSpPr>
            <p:cNvPr id="29" name="Text Box 20"/>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grpSp>
      <p:grpSp>
        <p:nvGrpSpPr>
          <p:cNvPr id="32" name="Group 23"/>
          <p:cNvGrpSpPr/>
          <p:nvPr/>
        </p:nvGrpSpPr>
        <p:grpSpPr bwMode="auto">
          <a:xfrm>
            <a:off x="3816238" y="3036235"/>
            <a:ext cx="8017249" cy="460375"/>
            <a:chOff x="720" y="1628"/>
            <a:chExt cx="4224" cy="290"/>
          </a:xfrm>
        </p:grpSpPr>
        <p:sp>
          <p:nvSpPr>
            <p:cNvPr id="33" name="Text Box 24"/>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3</a:t>
              </a:r>
              <a:endParaRPr lang="zh-CN" altLang="en-US" sz="2400" b="1">
                <a:solidFill>
                  <a:srgbClr val="020001"/>
                </a:solidFill>
                <a:latin typeface="+mn-ea"/>
              </a:endParaRPr>
            </a:p>
          </p:txBody>
        </p:sp>
        <p:sp>
          <p:nvSpPr>
            <p:cNvPr id="34" name="Text Box 25"/>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033</a:t>
              </a:r>
              <a:endParaRPr lang="en-US" altLang="zh-CN" sz="2400" b="1">
                <a:solidFill>
                  <a:srgbClr val="020001"/>
                </a:solidFill>
                <a:latin typeface="+mn-ea"/>
              </a:endParaRPr>
            </a:p>
          </p:txBody>
        </p:sp>
        <p:sp>
          <p:nvSpPr>
            <p:cNvPr id="35" name="Text Box 26"/>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sp>
          <p:nvSpPr>
            <p:cNvPr id="36" name="Text Box 27"/>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2</a:t>
              </a:r>
              <a:endParaRPr lang="en-US" altLang="zh-CN" sz="2400" b="1" baseline="-25000">
                <a:solidFill>
                  <a:srgbClr val="020001"/>
                </a:solidFill>
                <a:latin typeface="+mn-ea"/>
              </a:endParaRPr>
            </a:p>
          </p:txBody>
        </p:sp>
        <p:sp>
          <p:nvSpPr>
            <p:cNvPr id="37" name="Text Box 28"/>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grpSp>
      <p:grpSp>
        <p:nvGrpSpPr>
          <p:cNvPr id="39" name="Group 30"/>
          <p:cNvGrpSpPr/>
          <p:nvPr/>
        </p:nvGrpSpPr>
        <p:grpSpPr bwMode="auto">
          <a:xfrm>
            <a:off x="3816238" y="3511215"/>
            <a:ext cx="8017249" cy="460375"/>
            <a:chOff x="720" y="1628"/>
            <a:chExt cx="4224" cy="290"/>
          </a:xfrm>
        </p:grpSpPr>
        <p:sp>
          <p:nvSpPr>
            <p:cNvPr id="40" name="Text Box 31"/>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4</a:t>
              </a:r>
              <a:endParaRPr lang="zh-CN" altLang="en-US" sz="2400" b="1">
                <a:solidFill>
                  <a:srgbClr val="020001"/>
                </a:solidFill>
                <a:latin typeface="+mn-ea"/>
              </a:endParaRPr>
            </a:p>
          </p:txBody>
        </p:sp>
        <p:sp>
          <p:nvSpPr>
            <p:cNvPr id="41" name="Text Box 32"/>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0332</a:t>
              </a:r>
              <a:endParaRPr lang="en-US" altLang="zh-CN" sz="2400" b="1">
                <a:solidFill>
                  <a:srgbClr val="020001"/>
                </a:solidFill>
                <a:latin typeface="+mn-ea"/>
              </a:endParaRPr>
            </a:p>
          </p:txBody>
        </p:sp>
        <p:sp>
          <p:nvSpPr>
            <p:cNvPr id="42" name="Text Box 33"/>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43" name="Text Box 34"/>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r</a:t>
              </a:r>
              <a:r>
                <a:rPr lang="en-US" altLang="zh-CN" sz="2400" b="1" baseline="-25000" dirty="0">
                  <a:solidFill>
                    <a:srgbClr val="020001"/>
                  </a:solidFill>
                  <a:latin typeface="+mn-ea"/>
                </a:rPr>
                <a:t>2</a:t>
              </a:r>
              <a:r>
                <a:rPr lang="en-US" altLang="zh-CN" sz="2400" b="1" dirty="0">
                  <a:solidFill>
                    <a:srgbClr val="020001"/>
                  </a:solidFill>
                  <a:latin typeface="+mn-ea"/>
                </a:rPr>
                <a:t>(</a:t>
              </a:r>
              <a:r>
                <a:rPr lang="en-US" altLang="zh-CN" sz="2400" b="1" dirty="0" err="1">
                  <a:solidFill>
                    <a:srgbClr val="F4007A"/>
                  </a:solidFill>
                  <a:latin typeface="+mn-ea"/>
                </a:rPr>
                <a:t>A</a:t>
              </a:r>
              <a:r>
                <a:rPr lang="en-US" altLang="zh-CN" sz="2400" b="1" dirty="0" err="1">
                  <a:solidFill>
                    <a:srgbClr val="F4007A"/>
                  </a:solidFill>
                  <a:latin typeface="+mn-ea"/>
                  <a:sym typeface="Symbol" panose="05050102010706020507" pitchFamily="18" charset="2"/>
                </a:rPr>
                <a:t>a</a:t>
              </a:r>
              <a:r>
                <a:rPr lang="en-US" altLang="zh-CN" sz="2400" b="1" dirty="0">
                  <a:solidFill>
                    <a:srgbClr val="020001"/>
                  </a:solidFill>
                  <a:latin typeface="+mn-ea"/>
                </a:rPr>
                <a:t>)</a:t>
              </a:r>
              <a:endParaRPr lang="en-US" altLang="zh-CN" sz="2400" b="1" baseline="-25000" dirty="0">
                <a:solidFill>
                  <a:srgbClr val="020001"/>
                </a:solidFill>
                <a:latin typeface="+mn-ea"/>
              </a:endParaRPr>
            </a:p>
          </p:txBody>
        </p:sp>
        <p:sp>
          <p:nvSpPr>
            <p:cNvPr id="44" name="Text Box 35"/>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46" name="Group 37"/>
          <p:cNvGrpSpPr/>
          <p:nvPr/>
        </p:nvGrpSpPr>
        <p:grpSpPr bwMode="auto">
          <a:xfrm>
            <a:off x="3821001" y="3994766"/>
            <a:ext cx="8017250" cy="460375"/>
            <a:chOff x="720" y="1628"/>
            <a:chExt cx="4224" cy="290"/>
          </a:xfrm>
        </p:grpSpPr>
        <p:sp>
          <p:nvSpPr>
            <p:cNvPr id="47" name="Text Box 38"/>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5</a:t>
              </a:r>
              <a:endParaRPr lang="zh-CN" altLang="en-US" sz="2400" b="1">
                <a:solidFill>
                  <a:srgbClr val="020001"/>
                </a:solidFill>
                <a:latin typeface="+mn-ea"/>
              </a:endParaRPr>
            </a:p>
          </p:txBody>
        </p:sp>
        <p:sp>
          <p:nvSpPr>
            <p:cNvPr id="48" name="Text Box 39"/>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0334</a:t>
              </a:r>
              <a:endParaRPr lang="en-US" altLang="zh-CN" sz="2400" b="1">
                <a:solidFill>
                  <a:srgbClr val="020001"/>
                </a:solidFill>
                <a:latin typeface="+mn-ea"/>
              </a:endParaRPr>
            </a:p>
          </p:txBody>
        </p:sp>
        <p:sp>
          <p:nvSpPr>
            <p:cNvPr id="49" name="Text Box 40"/>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50" name="Text Box 41"/>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5</a:t>
              </a:r>
              <a:endParaRPr lang="en-US" altLang="zh-CN" sz="2400" b="1" baseline="-25000">
                <a:solidFill>
                  <a:srgbClr val="020001"/>
                </a:solidFill>
                <a:latin typeface="+mn-ea"/>
              </a:endParaRPr>
            </a:p>
          </p:txBody>
        </p:sp>
        <p:sp>
          <p:nvSpPr>
            <p:cNvPr id="51" name="Text Box 42"/>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53" name="Group 44"/>
          <p:cNvGrpSpPr/>
          <p:nvPr/>
        </p:nvGrpSpPr>
        <p:grpSpPr bwMode="auto">
          <a:xfrm>
            <a:off x="3821001" y="4465301"/>
            <a:ext cx="8017250" cy="460375"/>
            <a:chOff x="720" y="1628"/>
            <a:chExt cx="4224" cy="290"/>
          </a:xfrm>
        </p:grpSpPr>
        <p:sp>
          <p:nvSpPr>
            <p:cNvPr id="54" name="Text Box 45"/>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6</a:t>
              </a:r>
              <a:endParaRPr lang="zh-CN" altLang="en-US" sz="2400" b="1">
                <a:solidFill>
                  <a:srgbClr val="020001"/>
                </a:solidFill>
                <a:latin typeface="+mn-ea"/>
              </a:endParaRPr>
            </a:p>
          </p:txBody>
        </p:sp>
        <p:sp>
          <p:nvSpPr>
            <p:cNvPr id="55" name="Text Box 46"/>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03345</a:t>
              </a:r>
              <a:endParaRPr lang="en-US" altLang="zh-CN" sz="2400" b="1">
                <a:solidFill>
                  <a:srgbClr val="020001"/>
                </a:solidFill>
                <a:latin typeface="+mn-ea"/>
              </a:endParaRPr>
            </a:p>
          </p:txBody>
        </p:sp>
        <p:sp>
          <p:nvSpPr>
            <p:cNvPr id="56" name="Text Box 47"/>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57" name="Text Box 48"/>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r</a:t>
              </a:r>
              <a:r>
                <a:rPr lang="en-US" altLang="zh-CN" sz="2400" b="1" baseline="-25000" dirty="0">
                  <a:solidFill>
                    <a:srgbClr val="020001"/>
                  </a:solidFill>
                  <a:latin typeface="+mn-ea"/>
                </a:rPr>
                <a:t>1</a:t>
              </a:r>
              <a:r>
                <a:rPr lang="en-US" altLang="zh-CN" sz="2400" b="1" dirty="0">
                  <a:solidFill>
                    <a:srgbClr val="020001"/>
                  </a:solidFill>
                  <a:latin typeface="+mn-ea"/>
                </a:rPr>
                <a:t>(</a:t>
              </a:r>
              <a:r>
                <a:rPr lang="en-US" altLang="zh-CN" sz="2400" b="1" dirty="0">
                  <a:solidFill>
                    <a:srgbClr val="F4007A"/>
                  </a:solidFill>
                  <a:latin typeface="+mn-ea"/>
                </a:rPr>
                <a:t>A</a:t>
              </a:r>
              <a:r>
                <a:rPr lang="en-US" altLang="zh-CN" sz="2400" b="1" dirty="0">
                  <a:solidFill>
                    <a:srgbClr val="F4007A"/>
                  </a:solidFill>
                  <a:latin typeface="+mn-ea"/>
                  <a:sym typeface="Symbol" panose="05050102010706020507" pitchFamily="18" charset="2"/>
                </a:rPr>
                <a:t>(A)</a:t>
              </a:r>
              <a:r>
                <a:rPr lang="en-US" altLang="zh-CN" sz="2400" b="1" dirty="0">
                  <a:solidFill>
                    <a:srgbClr val="020001"/>
                  </a:solidFill>
                  <a:latin typeface="+mn-ea"/>
                </a:rPr>
                <a:t>)</a:t>
              </a:r>
              <a:endParaRPr lang="en-US" altLang="zh-CN" sz="2400" b="1" dirty="0">
                <a:solidFill>
                  <a:srgbClr val="020001"/>
                </a:solidFill>
                <a:latin typeface="+mn-ea"/>
              </a:endParaRPr>
            </a:p>
          </p:txBody>
        </p:sp>
        <p:sp>
          <p:nvSpPr>
            <p:cNvPr id="58" name="Text Box 49"/>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7" name="Rectangle 2"/>
          <p:cNvSpPr>
            <a:spLocks noChangeArrowheads="1"/>
          </p:cNvSpPr>
          <p:nvPr>
            <p:custDataLst>
              <p:tags r:id="rId1"/>
            </p:custDataLst>
          </p:nvPr>
        </p:nvSpPr>
        <p:spPr bwMode="auto">
          <a:xfrm>
            <a:off x="382270" y="1149350"/>
            <a:ext cx="93345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800" b="1" dirty="0">
                <a:solidFill>
                  <a:srgbClr val="020001"/>
                </a:solidFill>
                <a:latin typeface="+mn-ea"/>
              </a:rPr>
              <a:t>判断</a:t>
            </a:r>
            <a:r>
              <a:rPr lang="en-US" altLang="zh-CN" sz="2800" b="1" dirty="0">
                <a:solidFill>
                  <a:srgbClr val="020001"/>
                </a:solidFill>
                <a:latin typeface="+mn-ea"/>
              </a:rPr>
              <a:t>((a))</a:t>
            </a:r>
            <a:r>
              <a:rPr lang="zh-CN" altLang="en-US" sz="2800" b="1" dirty="0">
                <a:solidFill>
                  <a:srgbClr val="020001"/>
                </a:solidFill>
                <a:latin typeface="+mn-ea"/>
              </a:rPr>
              <a:t>是否是文法</a:t>
            </a:r>
            <a:r>
              <a:rPr lang="en-US" altLang="zh-CN" sz="2800" b="1" dirty="0">
                <a:solidFill>
                  <a:srgbClr val="020001"/>
                </a:solidFill>
                <a:latin typeface="+mn-ea"/>
              </a:rPr>
              <a:t>A→(A)| a </a:t>
            </a:r>
            <a:r>
              <a:rPr lang="zh-CN" altLang="en-US" sz="2800" b="1" dirty="0">
                <a:solidFill>
                  <a:srgbClr val="020001"/>
                </a:solidFill>
                <a:latin typeface="+mn-ea"/>
              </a:rPr>
              <a:t>定义的合法的字符串。</a:t>
            </a:r>
            <a:endParaRPr lang="en-US" altLang="zh-CN" sz="2800" b="1" dirty="0">
              <a:solidFill>
                <a:srgbClr val="010000"/>
              </a:solidFill>
              <a:latin typeface="+mn-ea"/>
              <a:sym typeface="Symbol" panose="05050102010706020507" pitchFamily="18" charset="2"/>
            </a:endParaRPr>
          </a:p>
        </p:txBody>
      </p:sp>
      <p:grpSp>
        <p:nvGrpSpPr>
          <p:cNvPr id="52" name="Group 2"/>
          <p:cNvGrpSpPr/>
          <p:nvPr/>
        </p:nvGrpSpPr>
        <p:grpSpPr bwMode="auto">
          <a:xfrm>
            <a:off x="3801745" y="4926965"/>
            <a:ext cx="8031480" cy="460375"/>
            <a:chOff x="720" y="1628"/>
            <a:chExt cx="4224" cy="290"/>
          </a:xfrm>
        </p:grpSpPr>
        <p:sp>
          <p:nvSpPr>
            <p:cNvPr id="59" name="Text Box 3"/>
            <p:cNvSpPr txBox="1">
              <a:spLocks noChangeArrowheads="1"/>
            </p:cNvSpPr>
            <p:nvPr>
              <p:custDataLst>
                <p:tags r:id="rId2"/>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zh-CN" altLang="en-US" sz="2400" b="1">
                  <a:solidFill>
                    <a:srgbClr val="020001"/>
                  </a:solidFill>
                  <a:latin typeface="+mn-ea"/>
                </a:rPr>
                <a:t>7</a:t>
              </a:r>
              <a:endParaRPr lang="zh-CN" altLang="en-US" sz="2400" b="1">
                <a:solidFill>
                  <a:srgbClr val="020001"/>
                </a:solidFill>
                <a:latin typeface="+mn-ea"/>
              </a:endParaRPr>
            </a:p>
          </p:txBody>
        </p:sp>
        <p:sp>
          <p:nvSpPr>
            <p:cNvPr id="60" name="Text Box 4"/>
            <p:cNvSpPr txBox="1">
              <a:spLocks noChangeArrowheads="1"/>
            </p:cNvSpPr>
            <p:nvPr>
              <p:custDataLst>
                <p:tags r:id="rId3"/>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034</a:t>
              </a:r>
              <a:endParaRPr lang="en-US" altLang="zh-CN" sz="2400" b="1">
                <a:solidFill>
                  <a:srgbClr val="020001"/>
                </a:solidFill>
                <a:latin typeface="+mn-ea"/>
              </a:endParaRPr>
            </a:p>
          </p:txBody>
        </p:sp>
        <p:sp>
          <p:nvSpPr>
            <p:cNvPr id="61" name="Text Box 5"/>
            <p:cNvSpPr txBox="1">
              <a:spLocks noChangeArrowheads="1"/>
            </p:cNvSpPr>
            <p:nvPr>
              <p:custDataLst>
                <p:tags r:id="rId4"/>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62" name="Text Box 6"/>
            <p:cNvSpPr txBox="1">
              <a:spLocks noChangeArrowheads="1"/>
            </p:cNvSpPr>
            <p:nvPr>
              <p:custDataLst>
                <p:tags r:id="rId5"/>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5</a:t>
              </a:r>
              <a:endParaRPr lang="en-US" altLang="zh-CN" sz="2400" b="1">
                <a:solidFill>
                  <a:srgbClr val="020001"/>
                </a:solidFill>
                <a:latin typeface="+mn-ea"/>
              </a:endParaRPr>
            </a:p>
          </p:txBody>
        </p:sp>
        <p:sp>
          <p:nvSpPr>
            <p:cNvPr id="63" name="Text Box 7"/>
            <p:cNvSpPr txBox="1">
              <a:spLocks noChangeArrowheads="1"/>
            </p:cNvSpPr>
            <p:nvPr>
              <p:custDataLst>
                <p:tags r:id="rId6"/>
              </p:custDataLst>
            </p:nvPr>
          </p:nvSpPr>
          <p:spPr bwMode="auto">
            <a:xfrm>
              <a:off x="3024" y="1628"/>
              <a:ext cx="9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wrap="square">
              <a:spAutoFit/>
            </a:bodyPr>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65" name="Group 9"/>
          <p:cNvGrpSpPr/>
          <p:nvPr/>
        </p:nvGrpSpPr>
        <p:grpSpPr bwMode="auto">
          <a:xfrm>
            <a:off x="3801745" y="5407660"/>
            <a:ext cx="8032115" cy="460375"/>
            <a:chOff x="720" y="1628"/>
            <a:chExt cx="4224" cy="290"/>
          </a:xfrm>
        </p:grpSpPr>
        <p:sp>
          <p:nvSpPr>
            <p:cNvPr id="66" name="Text Box 10"/>
            <p:cNvSpPr txBox="1">
              <a:spLocks noChangeArrowheads="1"/>
            </p:cNvSpPr>
            <p:nvPr>
              <p:custDataLst>
                <p:tags r:id="rId7"/>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zh-CN" altLang="en-US" sz="2400" b="1">
                  <a:solidFill>
                    <a:srgbClr val="020001"/>
                  </a:solidFill>
                  <a:latin typeface="+mn-ea"/>
                </a:rPr>
                <a:t>8</a:t>
              </a:r>
              <a:endParaRPr lang="zh-CN" altLang="en-US" sz="2400" b="1">
                <a:solidFill>
                  <a:srgbClr val="020001"/>
                </a:solidFill>
                <a:latin typeface="+mn-ea"/>
              </a:endParaRPr>
            </a:p>
          </p:txBody>
        </p:sp>
        <p:sp>
          <p:nvSpPr>
            <p:cNvPr id="67" name="Text Box 11"/>
            <p:cNvSpPr txBox="1">
              <a:spLocks noChangeArrowheads="1"/>
            </p:cNvSpPr>
            <p:nvPr>
              <p:custDataLst>
                <p:tags r:id="rId8"/>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0345</a:t>
              </a:r>
              <a:endParaRPr lang="en-US" altLang="zh-CN" sz="2400" b="1">
                <a:solidFill>
                  <a:srgbClr val="020001"/>
                </a:solidFill>
                <a:latin typeface="+mn-ea"/>
              </a:endParaRPr>
            </a:p>
          </p:txBody>
        </p:sp>
        <p:sp>
          <p:nvSpPr>
            <p:cNvPr id="68" name="Text Box 12"/>
            <p:cNvSpPr txBox="1">
              <a:spLocks noChangeArrowheads="1"/>
            </p:cNvSpPr>
            <p:nvPr>
              <p:custDataLst>
                <p:tags r:id="rId9"/>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69" name="Text Box 13"/>
            <p:cNvSpPr txBox="1">
              <a:spLocks noChangeArrowheads="1"/>
            </p:cNvSpPr>
            <p:nvPr>
              <p:custDataLst>
                <p:tags r:id="rId10"/>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r</a:t>
              </a:r>
              <a:r>
                <a:rPr lang="en-US" altLang="zh-CN" sz="2400" b="1" baseline="-25000">
                  <a:solidFill>
                    <a:srgbClr val="020001"/>
                  </a:solidFill>
                  <a:latin typeface="+mn-ea"/>
                </a:rPr>
                <a:t>1</a:t>
              </a:r>
              <a:r>
                <a:rPr lang="en-US" altLang="zh-CN" sz="2400" b="1">
                  <a:solidFill>
                    <a:srgbClr val="020001"/>
                  </a:solidFill>
                  <a:latin typeface="+mn-ea"/>
                </a:rPr>
                <a:t>(</a:t>
              </a:r>
              <a:r>
                <a:rPr lang="en-US" altLang="zh-CN" sz="2400" b="1">
                  <a:solidFill>
                    <a:srgbClr val="F4007A"/>
                  </a:solidFill>
                  <a:latin typeface="+mn-ea"/>
                </a:rPr>
                <a:t>A</a:t>
              </a:r>
              <a:r>
                <a:rPr lang="en-US" altLang="zh-CN" sz="2400" b="1">
                  <a:solidFill>
                    <a:srgbClr val="F4007A"/>
                  </a:solidFill>
                  <a:latin typeface="+mn-ea"/>
                  <a:sym typeface="Symbol" panose="05050102010706020507" pitchFamily="18" charset="2"/>
                </a:rPr>
                <a:t>(A)</a:t>
              </a:r>
              <a:r>
                <a:rPr lang="en-US" altLang="zh-CN" sz="2400" b="1">
                  <a:solidFill>
                    <a:srgbClr val="020001"/>
                  </a:solidFill>
                  <a:latin typeface="+mn-ea"/>
                </a:rPr>
                <a:t>)</a:t>
              </a:r>
              <a:endParaRPr lang="en-US" altLang="zh-CN" sz="2400" b="1">
                <a:solidFill>
                  <a:srgbClr val="020001"/>
                </a:solidFill>
                <a:latin typeface="+mn-ea"/>
              </a:endParaRPr>
            </a:p>
          </p:txBody>
        </p:sp>
        <p:sp>
          <p:nvSpPr>
            <p:cNvPr id="70" name="Text Box 14"/>
            <p:cNvSpPr txBox="1">
              <a:spLocks noChangeArrowheads="1"/>
            </p:cNvSpPr>
            <p:nvPr>
              <p:custDataLst>
                <p:tags r:id="rId11"/>
              </p:custDataLst>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72" name="Group 16"/>
          <p:cNvGrpSpPr/>
          <p:nvPr/>
        </p:nvGrpSpPr>
        <p:grpSpPr bwMode="auto">
          <a:xfrm>
            <a:off x="3801745" y="5895340"/>
            <a:ext cx="8035925" cy="460375"/>
            <a:chOff x="720" y="1628"/>
            <a:chExt cx="4224" cy="290"/>
          </a:xfrm>
        </p:grpSpPr>
        <p:sp>
          <p:nvSpPr>
            <p:cNvPr id="73" name="Text Box 17"/>
            <p:cNvSpPr txBox="1">
              <a:spLocks noChangeArrowheads="1"/>
            </p:cNvSpPr>
            <p:nvPr>
              <p:custDataLst>
                <p:tags r:id="rId12"/>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zh-CN" altLang="en-US" sz="2400" b="1">
                  <a:solidFill>
                    <a:srgbClr val="020001"/>
                  </a:solidFill>
                  <a:latin typeface="+mn-ea"/>
                </a:rPr>
                <a:t>9</a:t>
              </a:r>
              <a:endParaRPr lang="zh-CN" altLang="en-US" sz="2400" b="1">
                <a:solidFill>
                  <a:srgbClr val="020001"/>
                </a:solidFill>
                <a:latin typeface="+mn-ea"/>
              </a:endParaRPr>
            </a:p>
          </p:txBody>
        </p:sp>
        <p:sp>
          <p:nvSpPr>
            <p:cNvPr id="74" name="Text Box 18"/>
            <p:cNvSpPr txBox="1">
              <a:spLocks noChangeArrowheads="1"/>
            </p:cNvSpPr>
            <p:nvPr>
              <p:custDataLst>
                <p:tags r:id="rId13"/>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01</a:t>
              </a:r>
              <a:endParaRPr lang="en-US" altLang="zh-CN" sz="2400" b="1">
                <a:solidFill>
                  <a:srgbClr val="020001"/>
                </a:solidFill>
                <a:latin typeface="+mn-ea"/>
              </a:endParaRPr>
            </a:p>
          </p:txBody>
        </p:sp>
        <p:sp>
          <p:nvSpPr>
            <p:cNvPr id="75" name="Text Box 19"/>
            <p:cNvSpPr txBox="1">
              <a:spLocks noChangeArrowheads="1"/>
            </p:cNvSpPr>
            <p:nvPr>
              <p:custDataLst>
                <p:tags r:id="rId14"/>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76" name="Text Box 20"/>
            <p:cNvSpPr txBox="1">
              <a:spLocks noChangeArrowheads="1"/>
            </p:cNvSpPr>
            <p:nvPr>
              <p:custDataLst>
                <p:tags r:id="rId15"/>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zh-CN" altLang="en-US" sz="2400" b="1">
                  <a:solidFill>
                    <a:srgbClr val="020001"/>
                  </a:solidFill>
                  <a:latin typeface="+mn-ea"/>
                </a:rPr>
                <a:t>接受</a:t>
              </a:r>
              <a:endParaRPr lang="en-US" altLang="zh-CN" sz="2400" b="1">
                <a:solidFill>
                  <a:srgbClr val="020001"/>
                </a:solidFill>
                <a:latin typeface="+mn-ea"/>
              </a:endParaRPr>
            </a:p>
          </p:txBody>
        </p:sp>
        <p:sp>
          <p:nvSpPr>
            <p:cNvPr id="77" name="Text Box 21"/>
            <p:cNvSpPr txBox="1">
              <a:spLocks noChangeArrowheads="1"/>
            </p:cNvSpPr>
            <p:nvPr>
              <p:custDataLst>
                <p:tags r:id="rId16"/>
              </p:custDataLst>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pic>
        <p:nvPicPr>
          <p:cNvPr id="4" name="图片 3"/>
          <p:cNvPicPr>
            <a:picLocks noChangeAspect="1"/>
          </p:cNvPicPr>
          <p:nvPr/>
        </p:nvPicPr>
        <p:blipFill>
          <a:blip r:embed="rId17"/>
          <a:stretch>
            <a:fillRect/>
          </a:stretch>
        </p:blipFill>
        <p:spPr>
          <a:xfrm>
            <a:off x="452120" y="1538605"/>
            <a:ext cx="3102610" cy="22390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arn(outHorizontal)">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arn(out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barn(outHorizontal)">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barn(outHorizontal)">
                                      <p:cBhvr>
                                        <p:cTn id="27" dur="500"/>
                                        <p:tgtEl>
                                          <p:spTgt spid="5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barn(outHorizontal)">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barn(outHorizontal)">
                                      <p:cBhvr>
                                        <p:cTn id="37" dur="500"/>
                                        <p:tgtEl>
                                          <p:spTgt spid="6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barn(outHorizontal)">
                                      <p:cBhvr>
                                        <p:cTn id="4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58800" y="314960"/>
            <a:ext cx="7294245" cy="593090"/>
          </a:xfrm>
        </p:spPr>
        <p:txBody>
          <a:bodyPr/>
          <a:lstStyle/>
          <a:p>
            <a:r>
              <a:rPr lang="en-US" altLang="zh-CN" sz="3200" dirty="0"/>
              <a:t>5. </a:t>
            </a:r>
            <a:r>
              <a:rPr lang="zh-CN" altLang="en-US" sz="3200" dirty="0"/>
              <a:t>项目的分类</a:t>
            </a:r>
            <a:endParaRPr lang="zh-CN" altLang="en-US" sz="3200" dirty="0"/>
          </a:p>
        </p:txBody>
      </p:sp>
      <p:sp>
        <p:nvSpPr>
          <p:cNvPr id="23" name="Text Box 4"/>
          <p:cNvSpPr txBox="1">
            <a:spLocks noChangeArrowheads="1"/>
          </p:cNvSpPr>
          <p:nvPr/>
        </p:nvSpPr>
        <p:spPr bwMode="auto">
          <a:xfrm>
            <a:off x="558800" y="1267460"/>
            <a:ext cx="1120965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0" indent="0" fontAlgn="auto">
              <a:lnSpc>
                <a:spcPct val="125000"/>
              </a:lnSpc>
              <a:spcBef>
                <a:spcPts val="50"/>
              </a:spcBef>
              <a:spcAft>
                <a:spcPts val="0"/>
              </a:spcAft>
              <a:buFontTx/>
              <a:buNone/>
            </a:pPr>
            <a:r>
              <a:rPr lang="zh-CN" altLang="en-US" sz="2000" b="1" dirty="0">
                <a:solidFill>
                  <a:srgbClr val="020001"/>
                </a:solidFill>
                <a:latin typeface="+mn-ea"/>
                <a:sym typeface="+mn-ea"/>
              </a:rPr>
              <a:t>项目分类的原则是根据圆点所在位置和圆点之后是终结符还是非终结符进行的。</a:t>
            </a:r>
            <a:endParaRPr lang="zh-CN" altLang="en-US" sz="2000" b="1" i="1" dirty="0">
              <a:solidFill>
                <a:srgbClr val="0070C0"/>
              </a:solidFill>
              <a:latin typeface="+mn-ea"/>
              <a:ea typeface="+mn-ea"/>
            </a:endParaRPr>
          </a:p>
          <a:p>
            <a:pPr marL="0" indent="0" fontAlgn="auto">
              <a:lnSpc>
                <a:spcPct val="125000"/>
              </a:lnSpc>
              <a:spcBef>
                <a:spcPts val="50"/>
              </a:spcBef>
              <a:spcAft>
                <a:spcPts val="0"/>
              </a:spcAft>
              <a:buFontTx/>
              <a:buNone/>
            </a:pPr>
            <a:r>
              <a:rPr lang="zh-CN" altLang="en-US" sz="2000" b="1" i="1" dirty="0">
                <a:solidFill>
                  <a:srgbClr val="0070C0"/>
                </a:solidFill>
                <a:latin typeface="+mn-ea"/>
                <a:ea typeface="+mn-ea"/>
              </a:rPr>
              <a:t>1）移进项目</a:t>
            </a:r>
            <a:r>
              <a:rPr lang="zh-CN" altLang="en-US" sz="2000" b="1" dirty="0">
                <a:solidFill>
                  <a:srgbClr val="0070C0"/>
                </a:solidFill>
                <a:latin typeface="+mn-ea"/>
                <a:ea typeface="+mn-ea"/>
              </a:rPr>
              <a:t>：</a:t>
            </a:r>
            <a:r>
              <a:rPr lang="zh-CN" altLang="en-US" sz="2000" b="1" dirty="0">
                <a:solidFill>
                  <a:srgbClr val="020001"/>
                </a:solidFill>
                <a:latin typeface="+mn-ea"/>
                <a:ea typeface="+mn-ea"/>
              </a:rPr>
              <a:t>圆点之后为终结符的项目， </a:t>
            </a:r>
            <a:r>
              <a:rPr lang="en-US" altLang="zh-CN" sz="2000" b="1" dirty="0">
                <a:solidFill>
                  <a:srgbClr val="020001"/>
                </a:solidFill>
                <a:latin typeface="+mn-ea"/>
                <a:ea typeface="+mn-ea"/>
              </a:rPr>
              <a:t>A</a:t>
            </a:r>
            <a:r>
              <a:rPr lang="en-US" altLang="zh-CN" sz="2000" b="1" dirty="0">
                <a:solidFill>
                  <a:srgbClr val="020001"/>
                </a:solidFill>
                <a:latin typeface="+mn-ea"/>
                <a:ea typeface="+mn-ea"/>
                <a:sym typeface="Symbol" panose="05050102010706020507" pitchFamily="18" charset="2"/>
              </a:rPr>
              <a:t>.a, ,V</a:t>
            </a:r>
            <a:r>
              <a:rPr lang="en-US" altLang="zh-CN" sz="2000" b="1" baseline="30000" dirty="0">
                <a:solidFill>
                  <a:srgbClr val="020001"/>
                </a:solidFill>
                <a:latin typeface="+mn-ea"/>
                <a:ea typeface="+mn-ea"/>
                <a:sym typeface="Symbol" panose="05050102010706020507" pitchFamily="18" charset="2"/>
              </a:rPr>
              <a:t>*</a:t>
            </a:r>
            <a:r>
              <a:rPr lang="en-US" altLang="zh-CN" sz="2000" b="1" dirty="0">
                <a:solidFill>
                  <a:srgbClr val="020001"/>
                </a:solidFill>
                <a:latin typeface="+mn-ea"/>
                <a:ea typeface="+mn-ea"/>
                <a:sym typeface="Symbol" panose="05050102010706020507" pitchFamily="18" charset="2"/>
              </a:rPr>
              <a:t>,</a:t>
            </a:r>
            <a:r>
              <a:rPr lang="zh-CN" altLang="en-US" sz="2000" b="1" dirty="0">
                <a:solidFill>
                  <a:srgbClr val="020001"/>
                </a:solidFill>
                <a:latin typeface="+mn-ea"/>
                <a:ea typeface="+mn-ea"/>
              </a:rPr>
              <a:t> </a:t>
            </a:r>
            <a:r>
              <a:rPr lang="en-US" altLang="zh-CN" sz="2000" b="1" dirty="0" err="1">
                <a:solidFill>
                  <a:srgbClr val="020001"/>
                </a:solidFill>
                <a:latin typeface="+mn-ea"/>
                <a:ea typeface="+mn-ea"/>
              </a:rPr>
              <a:t>a</a:t>
            </a:r>
            <a:r>
              <a:rPr lang="en-US" altLang="zh-CN" sz="2000" b="1" dirty="0" err="1">
                <a:solidFill>
                  <a:srgbClr val="020001"/>
                </a:solidFill>
                <a:latin typeface="+mn-ea"/>
                <a:ea typeface="+mn-ea"/>
                <a:sym typeface="Symbol" panose="05050102010706020507" pitchFamily="18" charset="2"/>
              </a:rPr>
              <a:t>V</a:t>
            </a:r>
            <a:r>
              <a:rPr lang="en-US" altLang="zh-CN" sz="2000" b="1" baseline="-25000" dirty="0" err="1">
                <a:solidFill>
                  <a:srgbClr val="020001"/>
                </a:solidFill>
                <a:latin typeface="+mn-ea"/>
                <a:ea typeface="+mn-ea"/>
              </a:rPr>
              <a:t>T     </a:t>
            </a:r>
            <a:r>
              <a:rPr lang="zh-CN" altLang="en-US" sz="2000" b="1" dirty="0">
                <a:solidFill>
                  <a:srgbClr val="020001"/>
                </a:solidFill>
                <a:latin typeface="+mn-ea"/>
                <a:ea typeface="+mn-ea"/>
                <a:sym typeface="+mn-ea"/>
              </a:rPr>
              <a:t>,</a:t>
            </a:r>
            <a:r>
              <a:rPr lang="en-US" altLang="zh-CN" sz="2000" b="1" dirty="0">
                <a:solidFill>
                  <a:srgbClr val="020001"/>
                </a:solidFill>
                <a:latin typeface="+mn-ea"/>
                <a:ea typeface="+mn-ea"/>
                <a:sym typeface="+mn-ea"/>
              </a:rPr>
              <a:t> </a:t>
            </a:r>
            <a:r>
              <a:rPr lang="en-US" altLang="zh-CN" sz="2000" b="1" baseline="-25000" dirty="0" err="1">
                <a:solidFill>
                  <a:srgbClr val="020001"/>
                </a:solidFill>
                <a:latin typeface="+mn-ea"/>
                <a:ea typeface="+mn-ea"/>
              </a:rPr>
              <a:t>  </a:t>
            </a:r>
            <a:r>
              <a:rPr lang="zh-CN" altLang="en-US" sz="2000" b="1" dirty="0">
                <a:solidFill>
                  <a:srgbClr val="020001"/>
                </a:solidFill>
                <a:latin typeface="+mn-ea"/>
                <a:ea typeface="+mn-ea"/>
              </a:rPr>
              <a:t>为移进状态；</a:t>
            </a:r>
            <a:endParaRPr lang="zh-CN" altLang="en-US" sz="2000" b="1" dirty="0">
              <a:solidFill>
                <a:srgbClr val="020001"/>
              </a:solidFill>
              <a:latin typeface="+mn-ea"/>
              <a:ea typeface="+mn-ea"/>
            </a:endParaRPr>
          </a:p>
          <a:p>
            <a:pPr fontAlgn="auto">
              <a:lnSpc>
                <a:spcPct val="125000"/>
              </a:lnSpc>
              <a:spcBef>
                <a:spcPts val="50"/>
              </a:spcBef>
              <a:spcAft>
                <a:spcPts val="0"/>
              </a:spcAft>
            </a:pPr>
            <a:r>
              <a:rPr lang="zh-CN" altLang="en-US" sz="2000" b="1" i="1" dirty="0">
                <a:solidFill>
                  <a:srgbClr val="0070C0"/>
                </a:solidFill>
                <a:latin typeface="+mn-ea"/>
                <a:ea typeface="+mn-ea"/>
              </a:rPr>
              <a:t>2）待约项目</a:t>
            </a:r>
            <a:r>
              <a:rPr lang="zh-CN" altLang="en-US" sz="2000" b="1" dirty="0">
                <a:solidFill>
                  <a:srgbClr val="0070C0"/>
                </a:solidFill>
                <a:latin typeface="+mn-ea"/>
                <a:ea typeface="+mn-ea"/>
              </a:rPr>
              <a:t>：</a:t>
            </a:r>
            <a:r>
              <a:rPr lang="zh-CN" altLang="en-US" sz="2000" b="1" dirty="0">
                <a:solidFill>
                  <a:srgbClr val="020001"/>
                </a:solidFill>
                <a:latin typeface="+mn-ea"/>
                <a:ea typeface="+mn-ea"/>
              </a:rPr>
              <a:t>圆点之后为非终结符的项目， </a:t>
            </a:r>
            <a:r>
              <a:rPr lang="en-US" altLang="zh-CN" sz="2000" b="1" dirty="0">
                <a:solidFill>
                  <a:srgbClr val="020001"/>
                </a:solidFill>
                <a:latin typeface="+mn-ea"/>
                <a:ea typeface="+mn-ea"/>
              </a:rPr>
              <a:t>A</a:t>
            </a:r>
            <a:r>
              <a:rPr lang="en-US" altLang="zh-CN" sz="2000" b="1" dirty="0">
                <a:solidFill>
                  <a:srgbClr val="020001"/>
                </a:solidFill>
                <a:latin typeface="+mn-ea"/>
                <a:ea typeface="+mn-ea"/>
                <a:sym typeface="Symbol" panose="05050102010706020507" pitchFamily="18" charset="2"/>
              </a:rPr>
              <a:t>.B</a:t>
            </a:r>
            <a:r>
              <a:rPr lang="zh-CN" altLang="en-US" sz="2000" b="1" dirty="0">
                <a:solidFill>
                  <a:srgbClr val="020001"/>
                </a:solidFill>
                <a:latin typeface="+mn-ea"/>
                <a:ea typeface="+mn-ea"/>
              </a:rPr>
              <a:t> ， </a:t>
            </a:r>
            <a:r>
              <a:rPr lang="en-US" altLang="zh-CN" sz="2000" b="1" dirty="0">
                <a:solidFill>
                  <a:srgbClr val="020001"/>
                </a:solidFill>
                <a:latin typeface="+mn-ea"/>
                <a:ea typeface="+mn-ea"/>
                <a:sym typeface="Symbol" panose="05050102010706020507" pitchFamily="18" charset="2"/>
              </a:rPr>
              <a:t>,V</a:t>
            </a:r>
            <a:r>
              <a:rPr lang="en-US" altLang="zh-CN" sz="2000" b="1" baseline="30000" dirty="0">
                <a:solidFill>
                  <a:srgbClr val="020001"/>
                </a:solidFill>
                <a:latin typeface="+mn-ea"/>
                <a:ea typeface="+mn-ea"/>
                <a:sym typeface="Symbol" panose="05050102010706020507" pitchFamily="18" charset="2"/>
              </a:rPr>
              <a:t>*</a:t>
            </a:r>
            <a:r>
              <a:rPr lang="en-US" altLang="zh-CN" sz="2000" b="1" dirty="0">
                <a:solidFill>
                  <a:srgbClr val="020001"/>
                </a:solidFill>
                <a:latin typeface="+mn-ea"/>
                <a:ea typeface="+mn-ea"/>
                <a:sym typeface="Symbol" panose="05050102010706020507" pitchFamily="18" charset="2"/>
              </a:rPr>
              <a:t>,</a:t>
            </a:r>
            <a:r>
              <a:rPr lang="en-US" altLang="zh-CN" sz="2000" b="1" dirty="0">
                <a:solidFill>
                  <a:srgbClr val="020001"/>
                </a:solidFill>
                <a:latin typeface="+mn-ea"/>
                <a:ea typeface="+mn-ea"/>
              </a:rPr>
              <a:t>B</a:t>
            </a:r>
            <a:r>
              <a:rPr lang="en-US" altLang="zh-CN" sz="2000" b="1" dirty="0">
                <a:solidFill>
                  <a:srgbClr val="020001"/>
                </a:solidFill>
                <a:latin typeface="+mn-ea"/>
                <a:ea typeface="+mn-ea"/>
                <a:sym typeface="Symbol" panose="05050102010706020507" pitchFamily="18" charset="2"/>
              </a:rPr>
              <a:t>V</a:t>
            </a:r>
            <a:r>
              <a:rPr lang="en-US" altLang="zh-CN" sz="2000" b="1" baseline="-25000" dirty="0">
                <a:solidFill>
                  <a:srgbClr val="020001"/>
                </a:solidFill>
                <a:latin typeface="+mn-ea"/>
                <a:ea typeface="+mn-ea"/>
              </a:rPr>
              <a:t>N</a:t>
            </a:r>
            <a:r>
              <a:rPr lang="zh-CN" altLang="en-US" sz="2000" b="1" dirty="0">
                <a:solidFill>
                  <a:srgbClr val="020001"/>
                </a:solidFill>
                <a:latin typeface="+mn-ea"/>
                <a:ea typeface="+mn-ea"/>
              </a:rPr>
              <a:t> ,</a:t>
            </a:r>
            <a:r>
              <a:rPr lang="en-US" altLang="zh-CN" sz="2000" b="1" dirty="0">
                <a:solidFill>
                  <a:srgbClr val="020001"/>
                </a:solidFill>
                <a:latin typeface="+mn-ea"/>
                <a:ea typeface="+mn-ea"/>
              </a:rPr>
              <a:t> </a:t>
            </a:r>
            <a:r>
              <a:rPr lang="zh-CN" altLang="en-US" sz="2000" b="1" dirty="0">
                <a:solidFill>
                  <a:srgbClr val="020001"/>
                </a:solidFill>
                <a:latin typeface="+mn-ea"/>
                <a:ea typeface="+mn-ea"/>
              </a:rPr>
              <a:t>为待约状态</a:t>
            </a:r>
            <a:endParaRPr lang="zh-CN" altLang="en-US" sz="2000" b="1" dirty="0">
              <a:solidFill>
                <a:srgbClr val="020001"/>
              </a:solidFill>
              <a:latin typeface="+mn-ea"/>
              <a:ea typeface="+mn-ea"/>
            </a:endParaRPr>
          </a:p>
          <a:p>
            <a:pPr marL="0" indent="0" fontAlgn="auto">
              <a:lnSpc>
                <a:spcPct val="125000"/>
              </a:lnSpc>
              <a:spcBef>
                <a:spcPts val="50"/>
              </a:spcBef>
              <a:spcAft>
                <a:spcPts val="0"/>
              </a:spcAft>
              <a:buFontTx/>
              <a:buNone/>
            </a:pPr>
            <a:r>
              <a:rPr lang="en-US" altLang="zh-CN" sz="2000" b="1" i="1" dirty="0">
                <a:solidFill>
                  <a:srgbClr val="0070C0"/>
                </a:solidFill>
                <a:latin typeface="+mn-ea"/>
                <a:ea typeface="+mn-ea"/>
                <a:sym typeface="+mn-ea"/>
              </a:rPr>
              <a:t>3</a:t>
            </a:r>
            <a:r>
              <a:rPr lang="zh-CN" altLang="en-US" sz="2000" b="1" i="1" dirty="0">
                <a:solidFill>
                  <a:srgbClr val="0070C0"/>
                </a:solidFill>
                <a:latin typeface="+mn-ea"/>
                <a:ea typeface="+mn-ea"/>
                <a:sym typeface="+mn-ea"/>
              </a:rPr>
              <a:t>）归约项目</a:t>
            </a:r>
            <a:r>
              <a:rPr lang="zh-CN" altLang="en-US" sz="2000" b="1" dirty="0">
                <a:solidFill>
                  <a:srgbClr val="020001"/>
                </a:solidFill>
                <a:latin typeface="+mn-ea"/>
                <a:ea typeface="+mn-ea"/>
                <a:sym typeface="+mn-ea"/>
              </a:rPr>
              <a:t>：圆点之后没有符号(圆点在最后)的项目，</a:t>
            </a:r>
            <a:r>
              <a:rPr lang="en-US" altLang="zh-CN" sz="2000" b="1" dirty="0">
                <a:solidFill>
                  <a:srgbClr val="020001"/>
                </a:solidFill>
                <a:latin typeface="+mn-ea"/>
                <a:ea typeface="+mn-ea"/>
                <a:sym typeface="+mn-ea"/>
              </a:rPr>
              <a:t>A</a:t>
            </a:r>
            <a:r>
              <a:rPr lang="en-US" altLang="zh-CN" sz="2000" b="1" dirty="0">
                <a:solidFill>
                  <a:srgbClr val="020001"/>
                </a:solidFill>
                <a:latin typeface="+mn-ea"/>
                <a:ea typeface="+mn-ea"/>
                <a:sym typeface="Symbol" panose="05050102010706020507" pitchFamily="18" charset="2"/>
              </a:rPr>
              <a:t>. V</a:t>
            </a:r>
            <a:r>
              <a:rPr lang="en-US" altLang="zh-CN" sz="2000" b="1" baseline="30000" dirty="0">
                <a:solidFill>
                  <a:srgbClr val="020001"/>
                </a:solidFill>
                <a:latin typeface="+mn-ea"/>
                <a:ea typeface="+mn-ea"/>
                <a:sym typeface="Symbol" panose="05050102010706020507" pitchFamily="18" charset="2"/>
              </a:rPr>
              <a:t>*</a:t>
            </a:r>
            <a:r>
              <a:rPr lang="en-US" altLang="zh-CN" sz="2000" b="1" dirty="0">
                <a:solidFill>
                  <a:srgbClr val="020001"/>
                </a:solidFill>
                <a:latin typeface="+mn-ea"/>
                <a:ea typeface="+mn-ea"/>
                <a:sym typeface="Symbol" panose="05050102010706020507" pitchFamily="18" charset="2"/>
              </a:rPr>
              <a:t>,  </a:t>
            </a:r>
            <a:r>
              <a:rPr lang="zh-CN" altLang="en-US" sz="2000" b="1" dirty="0">
                <a:solidFill>
                  <a:srgbClr val="020001"/>
                </a:solidFill>
                <a:latin typeface="+mn-ea"/>
                <a:ea typeface="+mn-ea"/>
                <a:sym typeface="Symbol" panose="05050102010706020507" pitchFamily="18" charset="2"/>
              </a:rPr>
              <a:t>为归约状态</a:t>
            </a:r>
            <a:r>
              <a:rPr lang="zh-CN" altLang="en-US" sz="2000" b="1" dirty="0">
                <a:solidFill>
                  <a:srgbClr val="020001"/>
                </a:solidFill>
                <a:latin typeface="+mn-ea"/>
                <a:ea typeface="+mn-ea"/>
                <a:sym typeface="+mn-ea"/>
              </a:rPr>
              <a:t>；</a:t>
            </a:r>
            <a:endParaRPr lang="en-US" altLang="zh-CN" sz="2000" b="1" dirty="0">
              <a:solidFill>
                <a:srgbClr val="020001"/>
              </a:solidFill>
              <a:latin typeface="+mn-ea"/>
              <a:ea typeface="+mn-ea"/>
              <a:sym typeface="Symbol" panose="05050102010706020507" pitchFamily="18" charset="2"/>
            </a:endParaRPr>
          </a:p>
          <a:p>
            <a:pPr marL="0" indent="0" fontAlgn="auto">
              <a:lnSpc>
                <a:spcPct val="125000"/>
              </a:lnSpc>
              <a:spcBef>
                <a:spcPts val="50"/>
              </a:spcBef>
              <a:spcAft>
                <a:spcPts val="0"/>
              </a:spcAft>
              <a:buFontTx/>
              <a:buNone/>
            </a:pPr>
            <a:r>
              <a:rPr lang="en-US" altLang="zh-CN" sz="2000" b="1" i="1" dirty="0">
                <a:solidFill>
                  <a:srgbClr val="0070C0"/>
                </a:solidFill>
                <a:latin typeface="+mn-ea"/>
                <a:ea typeface="+mn-ea"/>
                <a:sym typeface="+mn-ea"/>
              </a:rPr>
              <a:t>4</a:t>
            </a:r>
            <a:r>
              <a:rPr lang="zh-CN" altLang="en-US" sz="2000" b="1" i="1" dirty="0">
                <a:solidFill>
                  <a:srgbClr val="0070C0"/>
                </a:solidFill>
                <a:latin typeface="+mn-ea"/>
                <a:ea typeface="+mn-ea"/>
                <a:sym typeface="+mn-ea"/>
              </a:rPr>
              <a:t>）接受项目</a:t>
            </a:r>
            <a:r>
              <a:rPr lang="zh-CN" altLang="en-US" sz="2000" b="1" dirty="0">
                <a:solidFill>
                  <a:srgbClr val="020001"/>
                </a:solidFill>
                <a:latin typeface="+mn-ea"/>
                <a:ea typeface="+mn-ea"/>
                <a:sym typeface="+mn-ea"/>
              </a:rPr>
              <a:t>：对于拓广文法</a:t>
            </a:r>
            <a:r>
              <a:rPr lang="en-US" altLang="zh-CN" sz="2000" b="1" dirty="0">
                <a:solidFill>
                  <a:srgbClr val="020001"/>
                </a:solidFill>
                <a:latin typeface="+mn-ea"/>
                <a:ea typeface="+mn-ea"/>
                <a:sym typeface="+mn-ea"/>
              </a:rPr>
              <a:t>G[S’]</a:t>
            </a:r>
            <a:r>
              <a:rPr lang="zh-CN" altLang="en-US" sz="2000" b="1" dirty="0">
                <a:solidFill>
                  <a:srgbClr val="020001"/>
                </a:solidFill>
                <a:latin typeface="+mn-ea"/>
                <a:ea typeface="+mn-ea"/>
                <a:sym typeface="+mn-ea"/>
              </a:rPr>
              <a:t>，</a:t>
            </a:r>
            <a:r>
              <a:rPr lang="zh-CN" altLang="en-US" sz="2000" b="1" dirty="0">
                <a:solidFill>
                  <a:srgbClr val="020001"/>
                </a:solidFill>
                <a:latin typeface="+mn-ea"/>
                <a:ea typeface="+mn-ea"/>
                <a:sym typeface="+mn-ea"/>
              </a:rPr>
              <a:t>有项目</a:t>
            </a:r>
            <a:r>
              <a:rPr lang="en-US" altLang="zh-CN" sz="2000" b="1" dirty="0">
                <a:solidFill>
                  <a:srgbClr val="020001"/>
                </a:solidFill>
                <a:latin typeface="+mn-ea"/>
                <a:ea typeface="+mn-ea"/>
                <a:sym typeface="+mn-ea"/>
              </a:rPr>
              <a:t>S’</a:t>
            </a:r>
            <a:r>
              <a:rPr lang="en-US" altLang="zh-CN" sz="2000" b="1" dirty="0">
                <a:solidFill>
                  <a:srgbClr val="020001"/>
                </a:solidFill>
                <a:latin typeface="+mn-ea"/>
                <a:ea typeface="+mn-ea"/>
                <a:sym typeface="Symbol" panose="05050102010706020507" pitchFamily="18" charset="2"/>
              </a:rPr>
              <a:t></a:t>
            </a:r>
            <a:r>
              <a:rPr lang="en-US" altLang="zh-CN" sz="2000" b="1" dirty="0">
                <a:solidFill>
                  <a:srgbClr val="020001"/>
                </a:solidFill>
                <a:latin typeface="+mn-ea"/>
                <a:ea typeface="+mn-ea"/>
                <a:sym typeface="+mn-ea"/>
              </a:rPr>
              <a:t>S.   </a:t>
            </a:r>
            <a:r>
              <a:rPr lang="zh-CN" altLang="en-US" sz="2000" b="1" dirty="0">
                <a:solidFill>
                  <a:srgbClr val="020001"/>
                </a:solidFill>
                <a:latin typeface="+mn-ea"/>
                <a:ea typeface="+mn-ea"/>
                <a:sym typeface="+mn-ea"/>
              </a:rPr>
              <a:t>称为接受项目</a:t>
            </a:r>
            <a:endParaRPr lang="zh-CN" altLang="en-US" sz="2000" b="1" dirty="0">
              <a:solidFill>
                <a:srgbClr val="020001"/>
              </a:solidFill>
              <a:latin typeface="+mn-ea"/>
              <a:ea typeface="+mn-ea"/>
              <a:sym typeface="+mn-ea"/>
            </a:endParaRPr>
          </a:p>
          <a:p>
            <a:pPr marL="0" indent="0" fontAlgn="auto">
              <a:lnSpc>
                <a:spcPct val="125000"/>
              </a:lnSpc>
              <a:spcBef>
                <a:spcPct val="50000"/>
              </a:spcBef>
              <a:buFontTx/>
              <a:buNone/>
            </a:pPr>
            <a:r>
              <a:rPr lang="zh-CN" altLang="en-US" sz="2000" b="1" dirty="0">
                <a:solidFill>
                  <a:srgbClr val="0070C0"/>
                </a:solidFill>
                <a:latin typeface="+mn-ea"/>
                <a:ea typeface="+mn-ea"/>
                <a:sym typeface="+mn-ea"/>
              </a:rPr>
              <a:t>项目集的相容性</a:t>
            </a:r>
            <a:r>
              <a:rPr lang="zh-CN" altLang="en-US" sz="2000" b="1" dirty="0">
                <a:solidFill>
                  <a:srgbClr val="020001"/>
                </a:solidFill>
                <a:latin typeface="+mn-ea"/>
                <a:ea typeface="+mn-ea"/>
                <a:sym typeface="+mn-ea"/>
              </a:rPr>
              <a:t>：</a:t>
            </a:r>
            <a:endParaRPr lang="zh-CN" altLang="en-US" sz="2000" b="1" dirty="0">
              <a:solidFill>
                <a:srgbClr val="020001"/>
              </a:solidFill>
              <a:latin typeface="+mn-ea"/>
              <a:ea typeface="+mn-ea"/>
              <a:sym typeface="+mn-ea"/>
            </a:endParaRPr>
          </a:p>
          <a:p>
            <a:pPr marL="0" indent="0" fontAlgn="auto">
              <a:lnSpc>
                <a:spcPct val="125000"/>
              </a:lnSpc>
              <a:spcBef>
                <a:spcPct val="50000"/>
              </a:spcBef>
              <a:buFontTx/>
              <a:buNone/>
            </a:pPr>
            <a:r>
              <a:rPr lang="zh-CN" altLang="en-US" sz="2000" b="1" dirty="0">
                <a:solidFill>
                  <a:srgbClr val="020001"/>
                </a:solidFill>
                <a:latin typeface="+mn-ea"/>
                <a:sym typeface="+mn-ea"/>
              </a:rPr>
              <a:t>1)移进项目和归约项目不并存，否则是移近</a:t>
            </a:r>
            <a:r>
              <a:rPr lang="en-US" altLang="zh-CN" sz="2000" b="1" dirty="0">
                <a:solidFill>
                  <a:srgbClr val="020001"/>
                </a:solidFill>
                <a:latin typeface="+mn-ea"/>
                <a:sym typeface="+mn-ea"/>
              </a:rPr>
              <a:t>-</a:t>
            </a:r>
            <a:r>
              <a:rPr lang="zh-CN" altLang="en-US" sz="2000" b="1" dirty="0">
                <a:solidFill>
                  <a:srgbClr val="020001"/>
                </a:solidFill>
                <a:latin typeface="+mn-ea"/>
                <a:sym typeface="+mn-ea"/>
              </a:rPr>
              <a:t>规约冲突；</a:t>
            </a:r>
            <a:endParaRPr lang="zh-CN" altLang="en-US" sz="2000" b="1" dirty="0">
              <a:solidFill>
                <a:srgbClr val="020001"/>
              </a:solidFill>
              <a:latin typeface="+mn-ea"/>
              <a:sym typeface="+mn-ea"/>
            </a:endParaRPr>
          </a:p>
          <a:p>
            <a:pPr marL="0" indent="0" fontAlgn="auto">
              <a:lnSpc>
                <a:spcPct val="125000"/>
              </a:lnSpc>
              <a:spcBef>
                <a:spcPct val="50000"/>
              </a:spcBef>
              <a:buFontTx/>
              <a:buNone/>
            </a:pPr>
            <a:r>
              <a:rPr lang="zh-CN" altLang="en-US" sz="2000" b="1">
                <a:solidFill>
                  <a:srgbClr val="020001"/>
                </a:solidFill>
                <a:latin typeface="+mn-ea"/>
                <a:sym typeface="+mn-ea"/>
              </a:rPr>
              <a:t>2)多个归约项目不并存，否则称规约</a:t>
            </a:r>
            <a:r>
              <a:rPr lang="en-US" altLang="zh-CN" sz="2000" b="1">
                <a:solidFill>
                  <a:srgbClr val="020001"/>
                </a:solidFill>
                <a:latin typeface="+mn-ea"/>
                <a:sym typeface="+mn-ea"/>
              </a:rPr>
              <a:t>-</a:t>
            </a:r>
            <a:r>
              <a:rPr lang="zh-CN" altLang="en-US" sz="2000" b="1">
                <a:solidFill>
                  <a:srgbClr val="020001"/>
                </a:solidFill>
                <a:latin typeface="+mn-ea"/>
                <a:sym typeface="+mn-ea"/>
              </a:rPr>
              <a:t>规约冲突；</a:t>
            </a:r>
            <a:endParaRPr lang="en-US" altLang="zh-CN" sz="2000" b="1" dirty="0">
              <a:solidFill>
                <a:srgbClr val="020001"/>
              </a:solidFill>
              <a:latin typeface="+mn-ea"/>
            </a:endParaRPr>
          </a:p>
          <a:p>
            <a:pPr marL="0" indent="0" fontAlgn="auto">
              <a:lnSpc>
                <a:spcPct val="125000"/>
              </a:lnSpc>
              <a:spcBef>
                <a:spcPct val="50000"/>
              </a:spcBef>
              <a:buFontTx/>
              <a:buNone/>
            </a:pPr>
            <a:r>
              <a:rPr lang="en-US" altLang="zh-CN" sz="2000" b="1" dirty="0">
                <a:solidFill>
                  <a:srgbClr val="0070C0"/>
                </a:solidFill>
                <a:latin typeface="+mn-ea"/>
                <a:ea typeface="+mn-ea"/>
                <a:sym typeface="+mn-ea"/>
              </a:rPr>
              <a:t>LR(0)</a:t>
            </a:r>
            <a:r>
              <a:rPr lang="zh-CN" altLang="en-US" sz="2000" b="1" dirty="0">
                <a:solidFill>
                  <a:srgbClr val="0070C0"/>
                </a:solidFill>
                <a:latin typeface="+mn-ea"/>
                <a:ea typeface="+mn-ea"/>
                <a:sym typeface="+mn-ea"/>
              </a:rPr>
              <a:t>文法</a:t>
            </a:r>
            <a:r>
              <a:rPr lang="zh-CN" altLang="en-US" sz="2000" b="1" dirty="0">
                <a:solidFill>
                  <a:srgbClr val="020001"/>
                </a:solidFill>
                <a:latin typeface="+mn-ea"/>
                <a:ea typeface="+mn-ea"/>
                <a:sym typeface="+mn-ea"/>
              </a:rPr>
              <a:t>：若一个文法</a:t>
            </a:r>
            <a:r>
              <a:rPr lang="en-US" altLang="zh-CN" sz="2000" b="1" dirty="0">
                <a:solidFill>
                  <a:srgbClr val="020001"/>
                </a:solidFill>
                <a:latin typeface="+mn-ea"/>
                <a:ea typeface="+mn-ea"/>
                <a:sym typeface="+mn-ea"/>
              </a:rPr>
              <a:t>G</a:t>
            </a:r>
            <a:r>
              <a:rPr lang="zh-CN" altLang="en-US" sz="2000" b="1" dirty="0">
                <a:solidFill>
                  <a:srgbClr val="020001"/>
                </a:solidFill>
                <a:latin typeface="+mn-ea"/>
                <a:ea typeface="+mn-ea"/>
                <a:sym typeface="+mn-ea"/>
              </a:rPr>
              <a:t>的任一项目集中的所有项目都是相容的（即</a:t>
            </a:r>
            <a:r>
              <a:rPr lang="en-US" altLang="zh-CN" sz="2000" b="1" dirty="0">
                <a:solidFill>
                  <a:srgbClr val="020001"/>
                </a:solidFill>
                <a:latin typeface="+mn-ea"/>
                <a:ea typeface="+mn-ea"/>
                <a:sym typeface="+mn-ea"/>
              </a:rPr>
              <a:t>LR(0)</a:t>
            </a:r>
            <a:r>
              <a:rPr lang="zh-CN" altLang="en-US" sz="2000" b="1" dirty="0">
                <a:solidFill>
                  <a:srgbClr val="020001"/>
                </a:solidFill>
                <a:latin typeface="+mn-ea"/>
                <a:ea typeface="+mn-ea"/>
                <a:sym typeface="+mn-ea"/>
              </a:rPr>
              <a:t>分析表表项的元素</a:t>
            </a:r>
            <a:r>
              <a:rPr lang="zh-CN" altLang="en-US" sz="2000" b="1" dirty="0">
                <a:solidFill>
                  <a:srgbClr val="050507"/>
                </a:solidFill>
                <a:latin typeface="+mn-ea"/>
                <a:ea typeface="+mn-ea"/>
                <a:sym typeface="+mn-ea"/>
              </a:rPr>
              <a:t>至多只有一个</a:t>
            </a:r>
            <a:r>
              <a:rPr lang="zh-CN" altLang="en-US" sz="2000" b="1" dirty="0">
                <a:solidFill>
                  <a:srgbClr val="020001"/>
                </a:solidFill>
                <a:latin typeface="+mn-ea"/>
                <a:ea typeface="+mn-ea"/>
                <a:sym typeface="+mn-ea"/>
              </a:rPr>
              <a:t>），</a:t>
            </a:r>
            <a:r>
              <a:rPr lang="en-US" altLang="zh-CN" sz="2000" b="1" dirty="0">
                <a:solidFill>
                  <a:srgbClr val="020001"/>
                </a:solidFill>
                <a:latin typeface="+mn-ea"/>
                <a:ea typeface="+mn-ea"/>
                <a:sym typeface="+mn-ea"/>
              </a:rPr>
              <a:t> </a:t>
            </a:r>
            <a:r>
              <a:rPr lang="zh-CN" altLang="en-US" sz="2000" b="1" dirty="0">
                <a:solidFill>
                  <a:srgbClr val="020001"/>
                </a:solidFill>
                <a:latin typeface="+mn-ea"/>
                <a:ea typeface="+mn-ea"/>
                <a:sym typeface="+mn-ea"/>
              </a:rPr>
              <a:t>则称文法</a:t>
            </a:r>
            <a:r>
              <a:rPr lang="en-US" altLang="zh-CN" sz="2000" b="1" dirty="0">
                <a:solidFill>
                  <a:srgbClr val="020001"/>
                </a:solidFill>
                <a:latin typeface="+mn-ea"/>
                <a:ea typeface="+mn-ea"/>
                <a:sym typeface="+mn-ea"/>
              </a:rPr>
              <a:t>G</a:t>
            </a:r>
            <a:r>
              <a:rPr lang="zh-CN" altLang="en-US" sz="2000" b="1" dirty="0">
                <a:solidFill>
                  <a:srgbClr val="020001"/>
                </a:solidFill>
                <a:latin typeface="+mn-ea"/>
                <a:ea typeface="+mn-ea"/>
                <a:sym typeface="+mn-ea"/>
              </a:rPr>
              <a:t>为</a:t>
            </a:r>
            <a:r>
              <a:rPr lang="en-US" altLang="zh-CN" sz="2000" b="1" dirty="0">
                <a:solidFill>
                  <a:srgbClr val="020001"/>
                </a:solidFill>
                <a:latin typeface="+mn-ea"/>
                <a:ea typeface="+mn-ea"/>
                <a:sym typeface="+mn-ea"/>
              </a:rPr>
              <a:t>LR(0)</a:t>
            </a:r>
            <a:r>
              <a:rPr lang="zh-CN" altLang="en-US" sz="2000" b="1" dirty="0">
                <a:solidFill>
                  <a:srgbClr val="020001"/>
                </a:solidFill>
                <a:latin typeface="+mn-ea"/>
                <a:ea typeface="+mn-ea"/>
                <a:sym typeface="+mn-ea"/>
              </a:rPr>
              <a:t>文法。</a:t>
            </a:r>
            <a:endParaRPr lang="zh-CN" altLang="en-US" sz="2000" b="1" dirty="0">
              <a:solidFill>
                <a:srgbClr val="020001"/>
              </a:solidFill>
              <a:latin typeface="+mn-ea"/>
              <a:ea typeface="+mn-ea"/>
            </a:endParaRPr>
          </a:p>
          <a:p>
            <a:pPr marL="0" indent="0">
              <a:lnSpc>
                <a:spcPct val="130000"/>
              </a:lnSpc>
              <a:spcBef>
                <a:spcPts val="50"/>
              </a:spcBef>
              <a:spcAft>
                <a:spcPts val="0"/>
              </a:spcAft>
              <a:buFontTx/>
              <a:buNone/>
            </a:pPr>
            <a:endParaRPr lang="en-US" altLang="zh-CN" sz="2000" b="1" dirty="0" err="1">
              <a:solidFill>
                <a:srgbClr val="020001"/>
              </a:solidFill>
              <a:latin typeface="+mn-ea"/>
              <a:ea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294765" y="1882140"/>
            <a:ext cx="8763635" cy="4441825"/>
          </a:xfrm>
        </p:spPr>
        <p:txBody>
          <a:bodyPr>
            <a:normAutofit fontScale="90000"/>
          </a:bodyPr>
          <a:lstStyle/>
          <a:p>
            <a:r>
              <a:rPr lang="zh-CN" altLang="en-US" b="1" dirty="0">
                <a:solidFill>
                  <a:schemeClr val="tx1"/>
                </a:solidFill>
              </a:rPr>
              <a:t> </a:t>
            </a:r>
            <a:r>
              <a:rPr lang="en-US" altLang="zh-CN" b="1" dirty="0">
                <a:solidFill>
                  <a:schemeClr val="tx1"/>
                </a:solidFill>
              </a:rPr>
              <a:t>4.1 </a:t>
            </a:r>
            <a:r>
              <a:rPr lang="zh-CN" altLang="en-US" b="1" dirty="0">
                <a:solidFill>
                  <a:schemeClr val="tx1"/>
                </a:solidFill>
              </a:rPr>
              <a:t>自下而上的语法分析概览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4.2 LR</a:t>
            </a:r>
            <a:r>
              <a:rPr lang="zh-CN" altLang="en-US" b="1" dirty="0">
                <a:solidFill>
                  <a:schemeClr val="tx1"/>
                </a:solidFill>
              </a:rPr>
              <a:t>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4.3 LR(0)</a:t>
            </a:r>
            <a:r>
              <a:rPr lang="zh-CN" altLang="en-US" b="1" dirty="0">
                <a:solidFill>
                  <a:schemeClr val="tx1"/>
                </a:solidFill>
              </a:rPr>
              <a:t>项目的有穷自动机与</a:t>
            </a:r>
            <a:r>
              <a:rPr lang="en-US" altLang="zh-CN" b="1" dirty="0">
                <a:solidFill>
                  <a:schemeClr val="tx1"/>
                </a:solidFill>
              </a:rPr>
              <a:t>LR(0)</a:t>
            </a:r>
            <a:r>
              <a:rPr lang="zh-CN" altLang="en-US" b="1" dirty="0">
                <a:solidFill>
                  <a:schemeClr val="tx1"/>
                </a:solidFill>
              </a:rPr>
              <a:t>分析</a:t>
            </a:r>
            <a:endParaRPr lang="zh-CN" altLang="en-US" b="1" dirty="0">
              <a:solidFill>
                <a:schemeClr val="tx1"/>
              </a:solidFill>
            </a:endParaRPr>
          </a:p>
          <a:p>
            <a:r>
              <a:rPr lang="zh-CN" altLang="en-US" b="1" dirty="0">
                <a:solidFill>
                  <a:srgbClr val="0070C0"/>
                </a:solidFill>
              </a:rPr>
              <a:t> </a:t>
            </a:r>
            <a:r>
              <a:rPr lang="en-US" altLang="zh-CN" b="1" dirty="0">
                <a:solidFill>
                  <a:srgbClr val="0070C0"/>
                </a:solidFill>
              </a:rPr>
              <a:t>4.4 SLR(1) </a:t>
            </a:r>
            <a:r>
              <a:rPr lang="zh-CN" altLang="en-US" b="1" dirty="0">
                <a:solidFill>
                  <a:srgbClr val="0070C0"/>
                </a:solidFill>
              </a:rPr>
              <a:t>分析</a:t>
            </a:r>
            <a:endParaRPr lang="zh-CN" altLang="en-US" b="1" dirty="0">
              <a:solidFill>
                <a:srgbClr val="0070C0"/>
              </a:solidFill>
            </a:endParaRPr>
          </a:p>
          <a:p>
            <a:r>
              <a:rPr lang="zh-CN" altLang="en-US" b="1" dirty="0">
                <a:solidFill>
                  <a:schemeClr val="tx1"/>
                </a:solidFill>
              </a:rPr>
              <a:t> </a:t>
            </a:r>
            <a:r>
              <a:rPr lang="en-US" altLang="zh-CN" b="1" dirty="0">
                <a:solidFill>
                  <a:schemeClr val="tx1"/>
                </a:solidFill>
              </a:rPr>
              <a:t>4.5  </a:t>
            </a:r>
            <a:r>
              <a:rPr lang="zh-CN" altLang="en-US" b="1" dirty="0">
                <a:solidFill>
                  <a:schemeClr val="tx1"/>
                </a:solidFill>
              </a:rPr>
              <a:t>一般的</a:t>
            </a:r>
            <a:r>
              <a:rPr lang="en-US" altLang="zh-CN" b="1" dirty="0">
                <a:solidFill>
                  <a:schemeClr val="tx1"/>
                </a:solidFill>
              </a:rPr>
              <a:t>LR(1)</a:t>
            </a:r>
            <a:endParaRPr lang="en-US" altLang="zh-CN" b="1" dirty="0">
              <a:solidFill>
                <a:schemeClr val="tx1"/>
              </a:solidFill>
            </a:endParaRPr>
          </a:p>
          <a:p>
            <a:r>
              <a:rPr lang="en-US" altLang="zh-CN" b="1" dirty="0">
                <a:solidFill>
                  <a:schemeClr val="tx1"/>
                </a:solidFill>
              </a:rPr>
              <a:t> 4.6  LALR(1)</a:t>
            </a:r>
            <a:r>
              <a:rPr lang="zh-CN" altLang="en-US" b="1" dirty="0">
                <a:solidFill>
                  <a:schemeClr val="tx1"/>
                </a:solidFill>
              </a:rPr>
              <a:t>分析</a:t>
            </a:r>
            <a:endParaRPr lang="en-US" altLang="zh-CN" b="1" dirty="0">
              <a:solidFill>
                <a:schemeClr val="tx1"/>
              </a:solidFill>
            </a:endParaRPr>
          </a:p>
        </p:txBody>
      </p:sp>
      <p:sp>
        <p:nvSpPr>
          <p:cNvPr id="25" name="文本占位符 24"/>
          <p:cNvSpPr>
            <a:spLocks noGrp="1"/>
          </p:cNvSpPr>
          <p:nvPr>
            <p:ph type="body" sz="quarter" idx="15"/>
          </p:nvPr>
        </p:nvSpPr>
        <p:spPr>
          <a:xfrm>
            <a:off x="228531" y="352877"/>
            <a:ext cx="2653249" cy="589645"/>
          </a:xfrm>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7990" y="276860"/>
            <a:ext cx="7425055" cy="593090"/>
          </a:xfrm>
        </p:spPr>
        <p:txBody>
          <a:bodyPr/>
          <a:lstStyle/>
          <a:p>
            <a:r>
              <a:rPr lang="en-US" altLang="zh-CN" sz="3200" dirty="0"/>
              <a:t>4.5 SLR(1)</a:t>
            </a:r>
            <a:r>
              <a:rPr lang="zh-CN" altLang="en-US" sz="3200" dirty="0"/>
              <a:t>分析算法</a:t>
            </a:r>
            <a:endParaRPr lang="zh-CN" altLang="en-US" sz="3200" dirty="0"/>
          </a:p>
        </p:txBody>
      </p:sp>
      <p:sp>
        <p:nvSpPr>
          <p:cNvPr id="10" name="Text Box 3"/>
          <p:cNvSpPr txBox="1">
            <a:spLocks noChangeArrowheads="1"/>
          </p:cNvSpPr>
          <p:nvPr/>
        </p:nvSpPr>
        <p:spPr bwMode="auto">
          <a:xfrm>
            <a:off x="427990" y="1250315"/>
            <a:ext cx="58654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70C0"/>
                </a:solidFill>
                <a:latin typeface="+mn-ea"/>
              </a:rPr>
              <a:t>问题的提出：</a:t>
            </a:r>
            <a:endParaRPr lang="zh-CN" altLang="en-US" sz="2800" b="1" dirty="0">
              <a:solidFill>
                <a:srgbClr val="0070C0"/>
              </a:solidFill>
              <a:latin typeface="+mn-ea"/>
            </a:endParaRPr>
          </a:p>
        </p:txBody>
      </p:sp>
      <p:sp>
        <p:nvSpPr>
          <p:cNvPr id="11" name="Text Box 4"/>
          <p:cNvSpPr txBox="1">
            <a:spLocks noChangeArrowheads="1"/>
          </p:cNvSpPr>
          <p:nvPr/>
        </p:nvSpPr>
        <p:spPr bwMode="auto">
          <a:xfrm>
            <a:off x="427990" y="1628775"/>
            <a:ext cx="408749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ts val="0"/>
              </a:spcBef>
              <a:spcAft>
                <a:spcPts val="0"/>
              </a:spcAft>
            </a:pPr>
            <a:r>
              <a:rPr lang="zh-CN" altLang="en-US" sz="2400" b="1" dirty="0">
                <a:solidFill>
                  <a:srgbClr val="020001"/>
                </a:solidFill>
                <a:latin typeface="+mn-ea"/>
              </a:rPr>
              <a:t>文法：</a:t>
            </a:r>
            <a:r>
              <a:rPr lang="en-US" altLang="zh-CN" sz="2400" b="1" dirty="0">
                <a:solidFill>
                  <a:srgbClr val="020001"/>
                </a:solidFill>
                <a:latin typeface="+mn-ea"/>
              </a:rPr>
              <a:t>S’→S      S→(S)</a:t>
            </a:r>
            <a:r>
              <a:rPr lang="en-US" altLang="zh-CN" sz="2400" b="1" dirty="0" err="1">
                <a:solidFill>
                  <a:srgbClr val="020001"/>
                </a:solidFill>
                <a:latin typeface="+mn-ea"/>
              </a:rPr>
              <a:t>S|</a:t>
            </a:r>
            <a:r>
              <a:rPr lang="en-US" altLang="zh-CN" sz="2400" b="1" dirty="0" err="1">
                <a:solidFill>
                  <a:srgbClr val="010000"/>
                </a:solidFill>
                <a:latin typeface="+mn-ea"/>
                <a:sym typeface="Symbol" panose="05050102010706020507" pitchFamily="18" charset="2"/>
              </a:rPr>
              <a:t>ε</a:t>
            </a:r>
            <a:r>
              <a:rPr lang="en-US" altLang="zh-CN" sz="2400" b="1" dirty="0">
                <a:solidFill>
                  <a:srgbClr val="010000"/>
                </a:solidFill>
                <a:latin typeface="+mn-ea"/>
                <a:sym typeface="Symbol" panose="05050102010706020507" pitchFamily="18" charset="2"/>
              </a:rPr>
              <a:t>  </a:t>
            </a:r>
            <a:endParaRPr lang="zh-CN" altLang="en-US" sz="24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5"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4979035" y="1250315"/>
            <a:ext cx="680910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Group 61"/>
          <p:cNvGraphicFramePr>
            <a:graphicFrameLocks noGrp="1"/>
          </p:cNvGraphicFramePr>
          <p:nvPr>
            <p:custDataLst>
              <p:tags r:id="rId3"/>
            </p:custDataLst>
          </p:nvPr>
        </p:nvGraphicFramePr>
        <p:xfrm>
          <a:off x="523875" y="2273935"/>
          <a:ext cx="3896360" cy="3901440"/>
        </p:xfrm>
        <a:graphic>
          <a:graphicData uri="http://schemas.openxmlformats.org/drawingml/2006/table">
            <a:tbl>
              <a:tblPr/>
              <a:tblGrid>
                <a:gridCol w="554355"/>
                <a:gridCol w="963930"/>
                <a:gridCol w="680720"/>
                <a:gridCol w="778510"/>
                <a:gridCol w="918845"/>
              </a:tblGrid>
              <a:tr h="487680">
                <a:tc rowSpan="2">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楷体_GB2312" pitchFamily="49" charset="-122"/>
                        </a:rPr>
                        <a:t>状态</a:t>
                      </a:r>
                      <a:endParaRPr kumimoji="0" lang="zh-CN" altLang="en-US" sz="2600" b="1" i="0" u="none" strike="noStrike" cap="none" normalizeH="0" baseline="0">
                        <a:ln>
                          <a:noFill/>
                        </a:ln>
                        <a:solidFill>
                          <a:srgbClr val="020001"/>
                        </a:solidFill>
                        <a:effectLst/>
                        <a:latin typeface="Times New Roman" panose="02020603050405020304" pitchFamily="18" charset="0"/>
                        <a:ea typeface="楷体_GB2312" pitchFamily="49"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      </a:t>
                      </a: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Action</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Goto</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v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0</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2 </a:t>
                      </a: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 </a:t>
                      </a: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acc</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2 </a:t>
                      </a: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 </a:t>
                      </a:r>
                      <a:r>
                        <a:rPr kumimoji="0" lang="en-US" altLang="zh-CN" sz="2600" b="1" i="0" u="none" strike="noStrike" cap="none" normalizeH="0" baseline="0">
                          <a:ln>
                            <a:noFill/>
                          </a:ln>
                          <a:solidFill>
                            <a:srgbClr val="C00000"/>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25000">
                        <a:ln>
                          <a:noFill/>
                        </a:ln>
                        <a:solidFill>
                          <a:srgbClr val="C00000"/>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5</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dirty="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72770" y="276860"/>
            <a:ext cx="7280275" cy="593090"/>
          </a:xfrm>
        </p:spPr>
        <p:txBody>
          <a:bodyPr/>
          <a:lstStyle/>
          <a:p>
            <a:r>
              <a:rPr lang="en-US" altLang="zh-CN" sz="3200" dirty="0"/>
              <a:t>4.5 SLR(1)</a:t>
            </a:r>
            <a:r>
              <a:rPr lang="zh-CN" altLang="en-US" sz="3200" dirty="0"/>
              <a:t>分析算法</a:t>
            </a:r>
            <a:r>
              <a:rPr lang="en-US" altLang="zh-CN" sz="3200" dirty="0"/>
              <a:t>(</a:t>
            </a:r>
            <a:r>
              <a:rPr lang="zh-CN" altLang="en-US" sz="3200" dirty="0"/>
              <a:t>续</a:t>
            </a:r>
            <a:r>
              <a:rPr lang="en-US" altLang="zh-CN" sz="3200" dirty="0"/>
              <a:t>)</a:t>
            </a:r>
            <a:endParaRPr lang="zh-CN" altLang="en-US" sz="3200" dirty="0"/>
          </a:p>
        </p:txBody>
      </p:sp>
      <p:sp>
        <p:nvSpPr>
          <p:cNvPr id="8" name="Rectangle 5"/>
          <p:cNvSpPr txBox="1">
            <a:spLocks noChangeArrowheads="1"/>
          </p:cNvSpPr>
          <p:nvPr/>
        </p:nvSpPr>
        <p:spPr>
          <a:xfrm>
            <a:off x="433705" y="1213485"/>
            <a:ext cx="6090920" cy="51911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pPr>
            <a:r>
              <a:rPr lang="zh-CN" altLang="en-US" b="1" dirty="0">
                <a:solidFill>
                  <a:srgbClr val="020001"/>
                </a:solidFill>
                <a:latin typeface="+mn-ea"/>
              </a:rPr>
              <a:t>从分析表发现：</a:t>
            </a:r>
            <a:r>
              <a:rPr lang="en-US" altLang="zh-CN" b="1" dirty="0">
                <a:solidFill>
                  <a:srgbClr val="020001"/>
                </a:solidFill>
                <a:latin typeface="+mn-ea"/>
              </a:rPr>
              <a:t>Action[</a:t>
            </a:r>
            <a:r>
              <a:rPr lang="en-US" altLang="zh-CN" b="1" dirty="0">
                <a:solidFill>
                  <a:srgbClr val="0070C0"/>
                </a:solidFill>
                <a:latin typeface="+mn-ea"/>
              </a:rPr>
              <a:t>0 ,(</a:t>
            </a:r>
            <a:r>
              <a:rPr lang="en-US" altLang="zh-CN" b="1" dirty="0">
                <a:solidFill>
                  <a:srgbClr val="020001"/>
                </a:solidFill>
                <a:latin typeface="+mn-ea"/>
              </a:rPr>
              <a:t>]</a:t>
            </a:r>
            <a:r>
              <a:rPr lang="zh-CN" altLang="en-US" b="1" dirty="0">
                <a:solidFill>
                  <a:srgbClr val="020001"/>
                </a:solidFill>
                <a:latin typeface="+mn-ea"/>
              </a:rPr>
              <a:t>出现了多重定义的元素，即冲突。</a:t>
            </a:r>
            <a:endParaRPr lang="zh-CN" altLang="en-US" b="1" dirty="0">
              <a:solidFill>
                <a:srgbClr val="020001"/>
              </a:solidFill>
              <a:latin typeface="+mn-ea"/>
            </a:endParaRPr>
          </a:p>
          <a:p>
            <a:pPr fontAlgn="auto">
              <a:lnSpc>
                <a:spcPct val="125000"/>
              </a:lnSpc>
            </a:pPr>
            <a:r>
              <a:rPr lang="zh-CN" altLang="en-US" sz="2400" b="1" dirty="0">
                <a:solidFill>
                  <a:srgbClr val="FF0000"/>
                </a:solidFill>
                <a:latin typeface="+mn-ea"/>
                <a:sym typeface="+mn-ea"/>
              </a:rPr>
              <a:t>问题分析：</a:t>
            </a:r>
            <a:r>
              <a:rPr lang="zh-CN" altLang="en-US" sz="2400" b="1" dirty="0">
                <a:solidFill>
                  <a:srgbClr val="050507"/>
                </a:solidFill>
                <a:latin typeface="+mn-ea"/>
                <a:sym typeface="+mn-ea"/>
              </a:rPr>
              <a:t>对于状态</a:t>
            </a:r>
            <a:r>
              <a:rPr lang="en-US" altLang="zh-CN" sz="2400" b="1" dirty="0">
                <a:solidFill>
                  <a:srgbClr val="050507"/>
                </a:solidFill>
                <a:latin typeface="+mn-ea"/>
                <a:sym typeface="+mn-ea"/>
              </a:rPr>
              <a:t>2，</a:t>
            </a:r>
            <a:r>
              <a:rPr lang="zh-CN" altLang="en-US" sz="2400" b="1" dirty="0">
                <a:solidFill>
                  <a:srgbClr val="050507"/>
                </a:solidFill>
                <a:latin typeface="+mn-ea"/>
                <a:sym typeface="+mn-ea"/>
              </a:rPr>
              <a:t>如果要做归约动作，这时</a:t>
            </a:r>
            <a:r>
              <a:rPr lang="en-US" altLang="zh-CN" sz="2400" b="1" dirty="0">
                <a:solidFill>
                  <a:srgbClr val="050507"/>
                </a:solidFill>
                <a:latin typeface="+mn-ea"/>
                <a:sym typeface="+mn-ea"/>
              </a:rPr>
              <a:t>S</a:t>
            </a:r>
            <a:r>
              <a:rPr lang="zh-CN" altLang="en-US" sz="2400" b="1" dirty="0">
                <a:solidFill>
                  <a:srgbClr val="050507"/>
                </a:solidFill>
                <a:latin typeface="+mn-ea"/>
                <a:sym typeface="+mn-ea"/>
              </a:rPr>
              <a:t>之后的下一个输入符号可以时‘）’或‘$’。对于移进项</a:t>
            </a:r>
            <a:r>
              <a:rPr lang="en-US" altLang="zh-CN" sz="2400" b="1" dirty="0">
                <a:solidFill>
                  <a:srgbClr val="050507"/>
                </a:solidFill>
                <a:latin typeface="+mn-ea"/>
                <a:sym typeface="+mn-ea"/>
              </a:rPr>
              <a:t>S</a:t>
            </a:r>
            <a:r>
              <a:rPr lang="en-US" altLang="zh-CN" sz="2400" b="1" dirty="0">
                <a:solidFill>
                  <a:srgbClr val="050507"/>
                </a:solidFill>
                <a:latin typeface="+mn-ea"/>
                <a:sym typeface="Symbol" panose="05050102010706020507" pitchFamily="18" charset="2"/>
              </a:rPr>
              <a:t>.(S)S,</a:t>
            </a:r>
            <a:r>
              <a:rPr lang="zh-CN" altLang="en-US" sz="2400" b="1" dirty="0">
                <a:solidFill>
                  <a:srgbClr val="050507"/>
                </a:solidFill>
                <a:latin typeface="+mn-ea"/>
                <a:sym typeface="Symbol" panose="05050102010706020507" pitchFamily="18" charset="2"/>
              </a:rPr>
              <a:t>它所期待的移进符号为‘(’，而不是其它符号。</a:t>
            </a:r>
            <a:endParaRPr lang="en-US" altLang="zh-CN" sz="2400" b="1" dirty="0">
              <a:solidFill>
                <a:srgbClr val="050507"/>
              </a:solidFill>
              <a:latin typeface="+mn-ea"/>
              <a:sym typeface="Symbol" panose="05050102010706020507" pitchFamily="18" charset="2"/>
            </a:endParaRPr>
          </a:p>
          <a:p>
            <a:pPr>
              <a:lnSpc>
                <a:spcPct val="150000"/>
              </a:lnSpc>
            </a:pPr>
            <a:r>
              <a:rPr lang="zh-CN" altLang="en-US" sz="2400" b="1" dirty="0">
                <a:solidFill>
                  <a:srgbClr val="FF0000"/>
                </a:solidFill>
                <a:latin typeface="+mn-ea"/>
                <a:sym typeface="+mn-ea"/>
              </a:rPr>
              <a:t>解决办法：</a:t>
            </a:r>
            <a:r>
              <a:rPr lang="zh-CN" altLang="en-US" sz="2400" b="1" dirty="0">
                <a:solidFill>
                  <a:srgbClr val="050507"/>
                </a:solidFill>
                <a:latin typeface="+mn-ea"/>
                <a:sym typeface="Symbol" panose="05050102010706020507" pitchFamily="18" charset="2"/>
              </a:rPr>
              <a:t>当下一个输入符号‘(’时，做移进动作，当下一个输入符号‘)’和</a:t>
            </a:r>
            <a:r>
              <a:rPr lang="en-US" altLang="zh-CN" sz="2400" b="1" dirty="0">
                <a:solidFill>
                  <a:srgbClr val="050507"/>
                </a:solidFill>
                <a:latin typeface="+mn-ea"/>
                <a:sym typeface="Symbol" panose="05050102010706020507" pitchFamily="18" charset="2"/>
              </a:rPr>
              <a:t>‘$’</a:t>
            </a:r>
            <a:r>
              <a:rPr lang="zh-CN" altLang="en-US" sz="2400" b="1" dirty="0">
                <a:solidFill>
                  <a:srgbClr val="050507"/>
                </a:solidFill>
                <a:latin typeface="+mn-ea"/>
                <a:sym typeface="Symbol" panose="05050102010706020507" pitchFamily="18" charset="2"/>
              </a:rPr>
              <a:t>时做归约动作。</a:t>
            </a:r>
            <a:endParaRPr lang="en-US" altLang="zh-CN" sz="2400" b="1" dirty="0">
              <a:solidFill>
                <a:srgbClr val="050507"/>
              </a:solidFill>
              <a:latin typeface="+mn-ea"/>
            </a:endParaRPr>
          </a:p>
          <a:p>
            <a:pPr lvl="1" fontAlgn="auto">
              <a:lnSpc>
                <a:spcPct val="125000"/>
              </a:lnSpc>
            </a:pPr>
            <a:endParaRPr lang="zh-CN" altLang="en-US"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5"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298055" y="1183640"/>
            <a:ext cx="2221230" cy="127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Group 61"/>
          <p:cNvGraphicFramePr>
            <a:graphicFrameLocks noGrp="1"/>
          </p:cNvGraphicFramePr>
          <p:nvPr>
            <p:custDataLst>
              <p:tags r:id="rId3"/>
            </p:custDataLst>
          </p:nvPr>
        </p:nvGraphicFramePr>
        <p:xfrm>
          <a:off x="7354570" y="2454910"/>
          <a:ext cx="3896360" cy="3901440"/>
        </p:xfrm>
        <a:graphic>
          <a:graphicData uri="http://schemas.openxmlformats.org/drawingml/2006/table">
            <a:tbl>
              <a:tblPr/>
              <a:tblGrid>
                <a:gridCol w="554355"/>
                <a:gridCol w="963930"/>
                <a:gridCol w="680720"/>
                <a:gridCol w="778510"/>
                <a:gridCol w="918845"/>
              </a:tblGrid>
              <a:tr h="487680">
                <a:tc rowSpan="2">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楷体_GB2312" pitchFamily="49" charset="-122"/>
                        </a:rPr>
                        <a:t>状态</a:t>
                      </a:r>
                      <a:endParaRPr kumimoji="0" lang="zh-CN" altLang="en-US" sz="2600" b="1" i="0" u="none" strike="noStrike" cap="none" normalizeH="0" baseline="0">
                        <a:ln>
                          <a:noFill/>
                        </a:ln>
                        <a:solidFill>
                          <a:srgbClr val="020001"/>
                        </a:solidFill>
                        <a:effectLst/>
                        <a:latin typeface="Times New Roman" panose="02020603050405020304" pitchFamily="18" charset="0"/>
                        <a:ea typeface="楷体_GB2312" pitchFamily="49"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      </a:t>
                      </a: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Action</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Goto</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v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0</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 </a:t>
                      </a: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acc</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 </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5</a:t>
                      </a:r>
                      <a:endPar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26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600" b="1" i="0" u="none" strike="noStrike" cap="none" normalizeH="0" baseline="0" dirty="0">
                        <a:ln>
                          <a:noFill/>
                        </a:ln>
                        <a:solidFill>
                          <a:srgbClr val="02000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79755" y="276860"/>
            <a:ext cx="7273290" cy="593090"/>
          </a:xfrm>
        </p:spPr>
        <p:txBody>
          <a:bodyPr/>
          <a:lstStyle/>
          <a:p>
            <a:r>
              <a:rPr lang="en-US" altLang="zh-CN" sz="3200" dirty="0"/>
              <a:t>4.5 SLR(1)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
        <p:nvSpPr>
          <p:cNvPr id="6" name="内容占位符 7"/>
          <p:cNvSpPr txBox="1">
            <a:spLocks noChangeArrowheads="1"/>
          </p:cNvSpPr>
          <p:nvPr/>
        </p:nvSpPr>
        <p:spPr>
          <a:xfrm>
            <a:off x="463550" y="1214755"/>
            <a:ext cx="11247755" cy="42532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b="1" dirty="0">
                <a:solidFill>
                  <a:srgbClr val="050507"/>
                </a:solidFill>
                <a:latin typeface="+mn-ea"/>
              </a:rPr>
              <a:t>在</a:t>
            </a:r>
            <a:r>
              <a:rPr lang="en-US" altLang="zh-CN" sz="2400" b="1" dirty="0">
                <a:solidFill>
                  <a:srgbClr val="050507"/>
                </a:solidFill>
                <a:latin typeface="+mn-ea"/>
              </a:rPr>
              <a:t>SLR(1)</a:t>
            </a:r>
            <a:r>
              <a:rPr lang="zh-CN" altLang="en-US" sz="2400" b="1" dirty="0">
                <a:solidFill>
                  <a:srgbClr val="050507"/>
                </a:solidFill>
                <a:latin typeface="+mn-ea"/>
              </a:rPr>
              <a:t>文法中，向右看一个符号，所以属于</a:t>
            </a:r>
            <a:r>
              <a:rPr lang="en-US" altLang="zh-CN" sz="2400" b="1" dirty="0">
                <a:solidFill>
                  <a:srgbClr val="050507"/>
                </a:solidFill>
                <a:latin typeface="+mn-ea"/>
              </a:rPr>
              <a:t>LR(1)</a:t>
            </a:r>
            <a:r>
              <a:rPr lang="zh-CN" altLang="en-US" sz="2400" b="1" dirty="0">
                <a:solidFill>
                  <a:srgbClr val="050507"/>
                </a:solidFill>
                <a:latin typeface="+mn-ea"/>
              </a:rPr>
              <a:t>方法。而它仅在发生冲突时才向右看一个符号，为了与普通的</a:t>
            </a:r>
            <a:r>
              <a:rPr lang="en-US" altLang="zh-CN" sz="2400" b="1" dirty="0">
                <a:solidFill>
                  <a:srgbClr val="050507"/>
                </a:solidFill>
                <a:latin typeface="+mn-ea"/>
              </a:rPr>
              <a:t>LR(1)</a:t>
            </a:r>
            <a:r>
              <a:rPr lang="zh-CN" altLang="en-US" sz="2400" b="1" dirty="0">
                <a:solidFill>
                  <a:srgbClr val="050507"/>
                </a:solidFill>
                <a:latin typeface="+mn-ea"/>
              </a:rPr>
              <a:t>方法区别，将其称为简单的</a:t>
            </a:r>
            <a:r>
              <a:rPr lang="en-US" altLang="zh-CN" sz="2400" b="1" dirty="0">
                <a:solidFill>
                  <a:srgbClr val="050507"/>
                </a:solidFill>
                <a:latin typeface="+mn-ea"/>
              </a:rPr>
              <a:t>LR(1)</a:t>
            </a:r>
            <a:r>
              <a:rPr lang="zh-CN" altLang="en-US" sz="2400" b="1" dirty="0">
                <a:solidFill>
                  <a:srgbClr val="050507"/>
                </a:solidFill>
                <a:latin typeface="+mn-ea"/>
              </a:rPr>
              <a:t>方法-</a:t>
            </a:r>
            <a:r>
              <a:rPr lang="en-US" altLang="zh-CN" sz="2400" b="1" dirty="0">
                <a:solidFill>
                  <a:srgbClr val="050507"/>
                </a:solidFill>
                <a:latin typeface="+mn-ea"/>
              </a:rPr>
              <a:t>SLR(1)</a:t>
            </a:r>
            <a:r>
              <a:rPr lang="zh-CN" altLang="en-US" sz="2400" b="1" dirty="0">
                <a:solidFill>
                  <a:srgbClr val="050507"/>
                </a:solidFill>
                <a:latin typeface="+mn-ea"/>
              </a:rPr>
              <a:t>方法。</a:t>
            </a:r>
            <a:endParaRPr lang="en-US" altLang="zh-CN" sz="2400" b="1" dirty="0">
              <a:solidFill>
                <a:srgbClr val="050507"/>
              </a:solidFill>
              <a:latin typeface="+mn-ea"/>
            </a:endParaRPr>
          </a:p>
          <a:p>
            <a:pPr>
              <a:lnSpc>
                <a:spcPct val="150000"/>
              </a:lnSpc>
            </a:pPr>
            <a:r>
              <a:rPr lang="en-US" altLang="zh-CN" sz="2400" b="1" dirty="0">
                <a:solidFill>
                  <a:srgbClr val="050507"/>
                </a:solidFill>
                <a:latin typeface="+mn-ea"/>
              </a:rPr>
              <a:t>SLR(1)</a:t>
            </a:r>
            <a:r>
              <a:rPr lang="zh-CN" altLang="en-US" sz="2400" b="1" dirty="0">
                <a:solidFill>
                  <a:srgbClr val="050507"/>
                </a:solidFill>
                <a:latin typeface="+mn-ea"/>
              </a:rPr>
              <a:t>文法与</a:t>
            </a:r>
            <a:r>
              <a:rPr lang="en-US" altLang="zh-CN" sz="2400" b="1" dirty="0">
                <a:solidFill>
                  <a:srgbClr val="050507"/>
                </a:solidFill>
                <a:latin typeface="+mn-ea"/>
              </a:rPr>
              <a:t>LR(0)</a:t>
            </a:r>
            <a:r>
              <a:rPr lang="zh-CN" altLang="en-US" sz="2400" b="1" dirty="0">
                <a:solidFill>
                  <a:srgbClr val="050507"/>
                </a:solidFill>
                <a:latin typeface="+mn-ea"/>
              </a:rPr>
              <a:t>文法识别其活前缀项目集合的</a:t>
            </a:r>
            <a:r>
              <a:rPr lang="en-US" altLang="zh-CN" sz="2400" b="1" dirty="0">
                <a:solidFill>
                  <a:srgbClr val="050507"/>
                </a:solidFill>
                <a:latin typeface="+mn-ea"/>
              </a:rPr>
              <a:t>DFA</a:t>
            </a:r>
            <a:r>
              <a:rPr lang="zh-CN" altLang="en-US" sz="2400" b="1" dirty="0">
                <a:solidFill>
                  <a:srgbClr val="050507"/>
                </a:solidFill>
                <a:latin typeface="+mn-ea"/>
              </a:rPr>
              <a:t>以及算法分析步骤是一样的，</a:t>
            </a:r>
            <a:r>
              <a:rPr lang="zh-CN" altLang="en-US" sz="2400" b="1" dirty="0">
                <a:solidFill>
                  <a:srgbClr val="0070C0"/>
                </a:solidFill>
                <a:latin typeface="+mn-ea"/>
              </a:rPr>
              <a:t>区别在于它们构造分析表的规则不一样（怎么不一样</a:t>
            </a:r>
            <a:r>
              <a:rPr lang="zh-CN" altLang="en-US" sz="2400" b="1" dirty="0">
                <a:solidFill>
                  <a:srgbClr val="0070C0"/>
                </a:solidFill>
                <a:latin typeface="+mn-ea"/>
              </a:rPr>
              <a:t>的？）。</a:t>
            </a:r>
            <a:endParaRPr lang="en-US" altLang="zh-CN" sz="2400" b="1" dirty="0">
              <a:solidFill>
                <a:srgbClr val="0070C0"/>
              </a:solidFill>
              <a:latin typeface="+mn-ea"/>
            </a:endParaRPr>
          </a:p>
          <a:p>
            <a:pPr lvl="2">
              <a:lnSpc>
                <a:spcPct val="150000"/>
              </a:lnSpc>
            </a:pPr>
            <a:r>
              <a:rPr lang="zh-CN" altLang="en-US" sz="2400" b="1" dirty="0">
                <a:solidFill>
                  <a:srgbClr val="FF0000"/>
                </a:solidFill>
                <a:latin typeface="+mn-ea"/>
                <a:sym typeface="+mn-ea"/>
              </a:rPr>
              <a:t>对于状态</a:t>
            </a:r>
            <a:r>
              <a:rPr lang="en-US" altLang="zh-CN" sz="2400" b="1" dirty="0" err="1">
                <a:solidFill>
                  <a:srgbClr val="FF0000"/>
                </a:solidFill>
                <a:latin typeface="+mn-ea"/>
                <a:sym typeface="Symbol" panose="05050102010706020507" pitchFamily="18" charset="2"/>
              </a:rPr>
              <a:t>i</a:t>
            </a:r>
            <a:r>
              <a:rPr lang="zh-CN" altLang="en-US" sz="2400" b="1" dirty="0">
                <a:solidFill>
                  <a:srgbClr val="FF0000"/>
                </a:solidFill>
                <a:latin typeface="+mn-ea"/>
                <a:sym typeface="+mn-ea"/>
              </a:rPr>
              <a:t>中的归约项目：</a:t>
            </a:r>
            <a:r>
              <a:rPr lang="en-US" altLang="zh-CN" sz="2400" b="1" dirty="0">
                <a:solidFill>
                  <a:srgbClr val="FF0000"/>
                </a:solidFill>
                <a:latin typeface="+mn-ea"/>
                <a:sym typeface="+mn-ea"/>
              </a:rPr>
              <a:t>A</a:t>
            </a:r>
            <a:r>
              <a:rPr lang="en-US" altLang="zh-CN" sz="2400" b="1" dirty="0">
                <a:solidFill>
                  <a:srgbClr val="FF0000"/>
                </a:solidFill>
                <a:latin typeface="+mn-ea"/>
                <a:sym typeface="Symbol" panose="05050102010706020507" pitchFamily="18" charset="2"/>
              </a:rPr>
              <a:t></a:t>
            </a:r>
            <a:r>
              <a:rPr lang="en-US" altLang="zh-CN" sz="2400" b="1" dirty="0">
                <a:solidFill>
                  <a:srgbClr val="FF0000"/>
                </a:solidFill>
                <a:latin typeface="+mn-ea"/>
                <a:sym typeface="+mn-ea"/>
              </a:rPr>
              <a:t>α.</a:t>
            </a:r>
            <a:r>
              <a:rPr lang="en-US" altLang="zh-CN" sz="2400" b="1" dirty="0">
                <a:solidFill>
                  <a:srgbClr val="FF0000"/>
                </a:solidFill>
                <a:latin typeface="+mn-ea"/>
                <a:sym typeface="Symbol" panose="05050102010706020507" pitchFamily="18" charset="2"/>
              </a:rPr>
              <a:t></a:t>
            </a:r>
            <a:r>
              <a:rPr lang="en-US" altLang="zh-CN" sz="2400" b="1" dirty="0" err="1">
                <a:solidFill>
                  <a:srgbClr val="FF0000"/>
                </a:solidFill>
                <a:latin typeface="+mn-ea"/>
                <a:sym typeface="Symbol" panose="05050102010706020507" pitchFamily="18" charset="2"/>
              </a:rPr>
              <a:t>i</a:t>
            </a:r>
            <a:r>
              <a:rPr lang="en-US" altLang="zh-CN" sz="2400" b="1" dirty="0">
                <a:solidFill>
                  <a:srgbClr val="FF0000"/>
                </a:solidFill>
                <a:latin typeface="+mn-ea"/>
                <a:sym typeface="Symbol" panose="05050102010706020507" pitchFamily="18" charset="2"/>
              </a:rPr>
              <a:t>  </a:t>
            </a:r>
            <a:r>
              <a:rPr lang="zh-CN" altLang="en-US" sz="2400" b="1" dirty="0">
                <a:solidFill>
                  <a:srgbClr val="FF0000"/>
                </a:solidFill>
                <a:latin typeface="+mn-ea"/>
                <a:sym typeface="Symbol" panose="05050102010706020507" pitchFamily="18" charset="2"/>
              </a:rPr>
              <a:t>若</a:t>
            </a:r>
            <a:r>
              <a:rPr lang="en-US" altLang="zh-CN" sz="2400" b="1" dirty="0">
                <a:solidFill>
                  <a:srgbClr val="FF0000"/>
                </a:solidFill>
                <a:latin typeface="+mn-ea"/>
                <a:sym typeface="Symbol" panose="05050102010706020507" pitchFamily="18" charset="2"/>
              </a:rPr>
              <a:t>A</a:t>
            </a:r>
            <a:r>
              <a:rPr lang="en-US" altLang="zh-CN" sz="2400" b="1" dirty="0">
                <a:solidFill>
                  <a:srgbClr val="FF0000"/>
                </a:solidFill>
                <a:latin typeface="+mn-ea"/>
                <a:sym typeface="+mn-ea"/>
              </a:rPr>
              <a:t>α</a:t>
            </a:r>
            <a:r>
              <a:rPr lang="zh-CN" altLang="en-US" sz="2400" b="1" dirty="0">
                <a:solidFill>
                  <a:srgbClr val="FF0000"/>
                </a:solidFill>
                <a:latin typeface="+mn-ea"/>
                <a:sym typeface="+mn-ea"/>
              </a:rPr>
              <a:t>为文法的第</a:t>
            </a:r>
            <a:r>
              <a:rPr lang="en-US" altLang="zh-CN" sz="2400" b="1" dirty="0">
                <a:solidFill>
                  <a:srgbClr val="FF0000"/>
                </a:solidFill>
                <a:latin typeface="+mn-ea"/>
                <a:sym typeface="+mn-ea"/>
              </a:rPr>
              <a:t>j</a:t>
            </a:r>
            <a:r>
              <a:rPr lang="zh-CN" altLang="en-US" sz="2400" b="1" dirty="0">
                <a:solidFill>
                  <a:srgbClr val="FF0000"/>
                </a:solidFill>
                <a:latin typeface="+mn-ea"/>
                <a:sym typeface="+mn-ea"/>
              </a:rPr>
              <a:t>个产生式，则对于任意输入符号</a:t>
            </a:r>
            <a:r>
              <a:rPr lang="en-US" altLang="zh-CN" sz="2400" b="1" dirty="0" err="1">
                <a:solidFill>
                  <a:srgbClr val="FF0000"/>
                </a:solidFill>
                <a:latin typeface="+mn-ea"/>
                <a:sym typeface="+mn-ea"/>
              </a:rPr>
              <a:t>a</a:t>
            </a:r>
            <a:r>
              <a:rPr lang="zh-CN" altLang="en-US" sz="2400" b="1" dirty="0" err="1">
                <a:solidFill>
                  <a:srgbClr val="FF0000"/>
                </a:solidFill>
                <a:latin typeface="+mn-ea"/>
                <a:sym typeface="+mn-ea"/>
              </a:rPr>
              <a:t>，</a:t>
            </a:r>
            <a:r>
              <a:rPr lang="en-US" altLang="zh-CN" sz="2400" b="1" dirty="0" err="1">
                <a:solidFill>
                  <a:srgbClr val="FF0000"/>
                </a:solidFill>
                <a:latin typeface="+mn-ea"/>
                <a:sym typeface="+mn-ea"/>
              </a:rPr>
              <a:t>a</a:t>
            </a:r>
            <a:r>
              <a:rPr lang="en-US" altLang="zh-CN" sz="2400" b="1" dirty="0" err="1">
                <a:solidFill>
                  <a:srgbClr val="FF0000"/>
                </a:solidFill>
                <a:latin typeface="+mn-ea"/>
                <a:sym typeface="Symbol" panose="05050102010706020507" pitchFamily="18" charset="2"/>
              </a:rPr>
              <a:t>Follow</a:t>
            </a:r>
            <a:r>
              <a:rPr lang="en-US" altLang="zh-CN" sz="2400" b="1" dirty="0">
                <a:solidFill>
                  <a:srgbClr val="FF0000"/>
                </a:solidFill>
                <a:latin typeface="+mn-ea"/>
                <a:sym typeface="Symbol" panose="05050102010706020507" pitchFamily="18" charset="2"/>
              </a:rPr>
              <a:t>(A), </a:t>
            </a:r>
            <a:r>
              <a:rPr lang="zh-CN" altLang="en-US" sz="2400" b="1" dirty="0">
                <a:solidFill>
                  <a:srgbClr val="FF0000"/>
                </a:solidFill>
                <a:latin typeface="+mn-ea"/>
                <a:sym typeface="Symbol" panose="05050102010706020507" pitchFamily="18" charset="2"/>
              </a:rPr>
              <a:t>则置</a:t>
            </a:r>
            <a:r>
              <a:rPr lang="en-US" altLang="zh-CN" sz="2400" b="1" dirty="0">
                <a:solidFill>
                  <a:srgbClr val="FF0000"/>
                </a:solidFill>
                <a:latin typeface="+mn-ea"/>
                <a:sym typeface="Symbol" panose="05050102010706020507" pitchFamily="18" charset="2"/>
              </a:rPr>
              <a:t>Action[</a:t>
            </a:r>
            <a:r>
              <a:rPr lang="en-US" altLang="zh-CN" sz="2400" b="1" dirty="0" err="1">
                <a:solidFill>
                  <a:srgbClr val="FF0000"/>
                </a:solidFill>
                <a:latin typeface="+mn-ea"/>
                <a:sym typeface="Symbol" panose="05050102010706020507" pitchFamily="18" charset="2"/>
              </a:rPr>
              <a:t>i,a</a:t>
            </a:r>
            <a:r>
              <a:rPr lang="en-US" altLang="zh-CN" sz="2400" b="1" dirty="0">
                <a:solidFill>
                  <a:srgbClr val="FF0000"/>
                </a:solidFill>
                <a:latin typeface="+mn-ea"/>
                <a:sym typeface="Symbol" panose="05050102010706020507" pitchFamily="18" charset="2"/>
              </a:rPr>
              <a:t>]=</a:t>
            </a:r>
            <a:r>
              <a:rPr lang="en-US" altLang="zh-CN" sz="2400" b="1" dirty="0" err="1">
                <a:solidFill>
                  <a:srgbClr val="FF0000"/>
                </a:solidFill>
                <a:latin typeface="+mn-ea"/>
                <a:sym typeface="Symbol" panose="05050102010706020507" pitchFamily="18" charset="2"/>
              </a:rPr>
              <a:t>r</a:t>
            </a:r>
            <a:r>
              <a:rPr lang="en-US" altLang="zh-CN" sz="2400" b="1" baseline="-25000" dirty="0" err="1">
                <a:solidFill>
                  <a:srgbClr val="FF0000"/>
                </a:solidFill>
                <a:latin typeface="+mn-ea"/>
                <a:sym typeface="Symbol" panose="05050102010706020507" pitchFamily="18" charset="2"/>
              </a:rPr>
              <a:t>j</a:t>
            </a:r>
            <a:endParaRPr lang="en-US" altLang="zh-CN" sz="2400" b="1" baseline="-25000" dirty="0" err="1">
              <a:solidFill>
                <a:srgbClr val="FF0000"/>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4"/>
          <p:cNvSpPr>
            <a:spLocks noChangeArrowheads="1"/>
          </p:cNvSpPr>
          <p:nvPr/>
        </p:nvSpPr>
        <p:spPr bwMode="auto">
          <a:xfrm>
            <a:off x="518160" y="1266190"/>
            <a:ext cx="539305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20001"/>
                </a:solidFill>
                <a:latin typeface="+mn-ea"/>
              </a:rPr>
              <a:t>基本算术表达式扩充文法：</a:t>
            </a:r>
            <a:endParaRPr lang="zh-CN" altLang="en-US" sz="2800" b="1">
              <a:solidFill>
                <a:srgbClr val="020001"/>
              </a:solidFill>
              <a:latin typeface="+mn-ea"/>
            </a:endParaRPr>
          </a:p>
        </p:txBody>
      </p:sp>
      <p:sp>
        <p:nvSpPr>
          <p:cNvPr id="10" name="Rectangle 5"/>
          <p:cNvSpPr>
            <a:spLocks noChangeArrowheads="1"/>
          </p:cNvSpPr>
          <p:nvPr/>
        </p:nvSpPr>
        <p:spPr bwMode="auto">
          <a:xfrm>
            <a:off x="644525" y="1628775"/>
            <a:ext cx="4038600" cy="1926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indent="0" fontAlgn="auto">
              <a:lnSpc>
                <a:spcPct val="125000"/>
              </a:lnSpc>
              <a:spcBef>
                <a:spcPts val="0"/>
              </a:spcBef>
            </a:pPr>
            <a:r>
              <a:rPr lang="en-US" altLang="zh-CN" sz="2800" b="1" dirty="0">
                <a:solidFill>
                  <a:srgbClr val="020001"/>
                </a:solidFill>
                <a:latin typeface="+mn-ea"/>
              </a:rPr>
              <a:t>E</a:t>
            </a:r>
            <a:r>
              <a:rPr lang="zh-CN" altLang="en-US" sz="2800" b="1" dirty="0">
                <a:solidFill>
                  <a:srgbClr val="050507"/>
                </a:solidFill>
                <a:latin typeface="+mn-ea"/>
              </a:rPr>
              <a:t>’</a:t>
            </a:r>
            <a:r>
              <a:rPr lang="en-US" altLang="zh-CN" sz="2800" b="1" dirty="0">
                <a:solidFill>
                  <a:srgbClr val="020001"/>
                </a:solidFill>
                <a:latin typeface="+mn-ea"/>
              </a:rPr>
              <a:t>→E</a:t>
            </a:r>
            <a:endParaRPr lang="en-US" altLang="zh-CN" sz="2800" b="1" dirty="0">
              <a:solidFill>
                <a:srgbClr val="020001"/>
              </a:solidFill>
              <a:latin typeface="+mn-ea"/>
            </a:endParaRPr>
          </a:p>
          <a:p>
            <a:pPr indent="0" fontAlgn="auto">
              <a:lnSpc>
                <a:spcPct val="125000"/>
              </a:lnSpc>
              <a:spcBef>
                <a:spcPts val="0"/>
              </a:spcBef>
            </a:pPr>
            <a:r>
              <a:rPr lang="en-US" altLang="zh-CN" sz="2800" b="1">
                <a:solidFill>
                  <a:srgbClr val="020001"/>
                </a:solidFill>
                <a:latin typeface="+mn-ea"/>
                <a:sym typeface="+mn-ea"/>
              </a:rPr>
              <a:t>E→E+n</a:t>
            </a:r>
            <a:endParaRPr lang="en-US" altLang="zh-CN" sz="2800" b="1">
              <a:solidFill>
                <a:srgbClr val="020001"/>
              </a:solidFill>
              <a:latin typeface="+mn-ea"/>
              <a:sym typeface="+mn-ea"/>
            </a:endParaRPr>
          </a:p>
          <a:p>
            <a:pPr indent="0" fontAlgn="auto">
              <a:lnSpc>
                <a:spcPct val="125000"/>
              </a:lnSpc>
              <a:spcBef>
                <a:spcPts val="0"/>
              </a:spcBef>
            </a:pPr>
            <a:r>
              <a:rPr lang="en-US" altLang="zh-CN" sz="2800" b="1">
                <a:solidFill>
                  <a:srgbClr val="020001"/>
                </a:solidFill>
                <a:latin typeface="+mn-ea"/>
                <a:sym typeface="+mn-ea"/>
              </a:rPr>
              <a:t>E→n</a:t>
            </a:r>
            <a:endParaRPr lang="en-US" altLang="zh-CN" sz="2800" b="1">
              <a:solidFill>
                <a:srgbClr val="020001"/>
              </a:solidFill>
              <a:latin typeface="+mn-ea"/>
            </a:endParaRPr>
          </a:p>
          <a:p>
            <a:pPr indent="0" fontAlgn="auto">
              <a:lnSpc>
                <a:spcPct val="125000"/>
              </a:lnSpc>
              <a:spcBef>
                <a:spcPts val="0"/>
              </a:spcBef>
            </a:pPr>
            <a:endParaRPr lang="zh-CN" altLang="en-US" sz="2800" b="1">
              <a:solidFill>
                <a:srgbClr val="020001"/>
              </a:solidFill>
              <a:latin typeface="+mn-ea"/>
            </a:endParaRPr>
          </a:p>
          <a:p>
            <a:pPr>
              <a:spcBef>
                <a:spcPct val="50000"/>
              </a:spcBef>
            </a:pPr>
            <a:endParaRPr lang="zh-CN" altLang="en-US" sz="28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pic>
        <p:nvPicPr>
          <p:cNvPr id="14"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93090" y="3159125"/>
            <a:ext cx="5751830" cy="3196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Group 52"/>
          <p:cNvGraphicFramePr>
            <a:graphicFrameLocks noGrp="1"/>
          </p:cNvGraphicFramePr>
          <p:nvPr>
            <p:custDataLst>
              <p:tags r:id="rId3"/>
            </p:custDataLst>
          </p:nvPr>
        </p:nvGraphicFramePr>
        <p:xfrm>
          <a:off x="7375263" y="2430613"/>
          <a:ext cx="4065905" cy="4053840"/>
        </p:xfrm>
        <a:graphic>
          <a:graphicData uri="http://schemas.openxmlformats.org/drawingml/2006/table">
            <a:tbl>
              <a:tblPr/>
              <a:tblGrid>
                <a:gridCol w="859790"/>
                <a:gridCol w="580390"/>
                <a:gridCol w="771525"/>
                <a:gridCol w="882650"/>
                <a:gridCol w="971550"/>
              </a:tblGrid>
              <a:tr h="513603">
                <a:tc rowSpan="2">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800" b="1" i="0" u="none" strike="noStrike" cap="none" normalizeH="0" baseline="0">
                          <a:ln>
                            <a:noFill/>
                          </a:ln>
                          <a:solidFill>
                            <a:srgbClr val="020001"/>
                          </a:solidFill>
                          <a:effectLst/>
                          <a:latin typeface="Times New Roman" panose="02020603050405020304" pitchFamily="18" charset="0"/>
                          <a:ea typeface="楷体_GB2312" pitchFamily="49" charset="-122"/>
                        </a:rPr>
                        <a:t>状态</a:t>
                      </a:r>
                      <a:endParaRPr kumimoji="0" lang="zh-CN" altLang="en-US" sz="2800" b="1" i="0" u="none" strike="noStrike" cap="none" normalizeH="0" baseline="0">
                        <a:ln>
                          <a:noFill/>
                        </a:ln>
                        <a:solidFill>
                          <a:srgbClr val="020001"/>
                        </a:solidFill>
                        <a:effectLst/>
                        <a:latin typeface="Times New Roman" panose="02020603050405020304" pitchFamily="18" charset="0"/>
                        <a:ea typeface="楷体_GB2312" pitchFamily="49" charset="-122"/>
                      </a:endParaRPr>
                    </a:p>
                  </a:txBody>
                  <a:tcPr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      </a:t>
                      </a: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Action</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Goto</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3603">
                <a:tc vMerge="1">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n</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E</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3603">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0</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169">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acc</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3603">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25000" dirty="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3603">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3603">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28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dirty="0">
                        <a:ln>
                          <a:noFill/>
                        </a:ln>
                        <a:solidFill>
                          <a:srgbClr val="02000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Rectangle 49"/>
          <p:cNvSpPr>
            <a:spLocks noChangeArrowheads="1"/>
          </p:cNvSpPr>
          <p:nvPr>
            <p:custDataLst>
              <p:tags r:id="rId4"/>
            </p:custDataLst>
          </p:nvPr>
        </p:nvSpPr>
        <p:spPr bwMode="auto">
          <a:xfrm>
            <a:off x="6793865" y="1270000"/>
            <a:ext cx="49504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800" b="1">
                <a:solidFill>
                  <a:srgbClr val="020001"/>
                </a:solidFill>
                <a:latin typeface="+mn-ea"/>
              </a:rPr>
              <a:t>构造</a:t>
            </a:r>
            <a:r>
              <a:rPr lang="en-US" altLang="zh-CN" sz="2800" b="1">
                <a:solidFill>
                  <a:srgbClr val="020001"/>
                </a:solidFill>
                <a:latin typeface="+mn-ea"/>
              </a:rPr>
              <a:t>SLR(1)</a:t>
            </a:r>
            <a:r>
              <a:rPr lang="zh-CN" altLang="en-US" sz="2800" b="1">
                <a:solidFill>
                  <a:srgbClr val="020001"/>
                </a:solidFill>
                <a:latin typeface="+mn-ea"/>
              </a:rPr>
              <a:t>分析表如下：</a:t>
            </a:r>
            <a:endParaRPr lang="zh-CN" altLang="en-US" sz="2800" b="1">
              <a:solidFill>
                <a:srgbClr val="020001"/>
              </a:solidFill>
              <a:latin typeface="+mn-ea"/>
            </a:endParaRPr>
          </a:p>
        </p:txBody>
      </p:sp>
      <p:sp>
        <p:nvSpPr>
          <p:cNvPr id="15" name="Rectangle 50"/>
          <p:cNvSpPr>
            <a:spLocks noChangeArrowheads="1"/>
          </p:cNvSpPr>
          <p:nvPr/>
        </p:nvSpPr>
        <p:spPr bwMode="auto">
          <a:xfrm>
            <a:off x="6885305" y="1862455"/>
            <a:ext cx="49104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020001"/>
                </a:solidFill>
                <a:latin typeface="+mn-ea"/>
                <a:sym typeface="Symbol" panose="05050102010706020507" pitchFamily="18" charset="2"/>
              </a:rPr>
              <a:t>Follow(E’)={$}    Follow(E)={$,+}</a:t>
            </a:r>
            <a:endParaRPr lang="en-US" altLang="zh-CN" sz="2400" b="1" dirty="0">
              <a:solidFill>
                <a:srgbClr val="020001"/>
              </a:solidFill>
              <a:latin typeface="+mn-ea"/>
              <a:sym typeface="Symbol" panose="05050102010706020507" pitchFamily="18" charset="2"/>
            </a:endParaRPr>
          </a:p>
        </p:txBody>
      </p:sp>
      <p:sp>
        <p:nvSpPr>
          <p:cNvPr id="6" name="文本占位符 5"/>
          <p:cNvSpPr>
            <a:spLocks noGrp="1"/>
          </p:cNvSpPr>
          <p:nvPr>
            <p:ph type="body" sz="quarter" idx="14"/>
            <p:custDataLst>
              <p:tags r:id="rId5"/>
            </p:custDataLst>
          </p:nvPr>
        </p:nvSpPr>
        <p:spPr>
          <a:xfrm>
            <a:off x="579755" y="276860"/>
            <a:ext cx="7273290" cy="593090"/>
          </a:xfrm>
        </p:spPr>
        <p:txBody>
          <a:bodyPr/>
          <a:p>
            <a:r>
              <a:rPr lang="en-US" altLang="zh-CN" sz="3200" dirty="0"/>
              <a:t>4.5 SLR(1)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664210" y="1233805"/>
            <a:ext cx="89668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001"/>
                </a:solidFill>
                <a:latin typeface="+mn-ea"/>
              </a:rPr>
              <a:t>用</a:t>
            </a:r>
            <a:r>
              <a:rPr lang="en-US" altLang="zh-CN" sz="2400" b="1" dirty="0">
                <a:solidFill>
                  <a:srgbClr val="020001"/>
                </a:solidFill>
                <a:latin typeface="+mn-ea"/>
              </a:rPr>
              <a:t>SLR(1)</a:t>
            </a:r>
            <a:r>
              <a:rPr lang="zh-CN" altLang="en-US" sz="2400" b="1" dirty="0">
                <a:solidFill>
                  <a:srgbClr val="020001"/>
                </a:solidFill>
                <a:latin typeface="+mn-ea"/>
              </a:rPr>
              <a:t>分析算法对输入串</a:t>
            </a:r>
            <a:r>
              <a:rPr lang="en-US" altLang="zh-CN" sz="2400" b="1" dirty="0" err="1">
                <a:solidFill>
                  <a:srgbClr val="020001"/>
                </a:solidFill>
                <a:latin typeface="+mn-ea"/>
              </a:rPr>
              <a:t>n+n+n</a:t>
            </a:r>
            <a:r>
              <a:rPr lang="zh-CN" altLang="en-US" sz="2400" b="1" dirty="0">
                <a:solidFill>
                  <a:srgbClr val="020001"/>
                </a:solidFill>
                <a:latin typeface="+mn-ea"/>
              </a:rPr>
              <a:t>的分析步骤：</a:t>
            </a:r>
            <a:endParaRPr lang="zh-CN" altLang="en-US" sz="2400" b="1" dirty="0">
              <a:solidFill>
                <a:srgbClr val="020001"/>
              </a:solidFill>
              <a:latin typeface="+mn-ea"/>
            </a:endParaRPr>
          </a:p>
        </p:txBody>
      </p:sp>
      <p:grpSp>
        <p:nvGrpSpPr>
          <p:cNvPr id="9" name="Group 4"/>
          <p:cNvGrpSpPr/>
          <p:nvPr/>
        </p:nvGrpSpPr>
        <p:grpSpPr bwMode="auto">
          <a:xfrm>
            <a:off x="1951773" y="1693863"/>
            <a:ext cx="8052840" cy="460375"/>
            <a:chOff x="720" y="1152"/>
            <a:chExt cx="4224" cy="290"/>
          </a:xfrm>
        </p:grpSpPr>
        <p:sp>
          <p:nvSpPr>
            <p:cNvPr id="10" name="Text Box 5"/>
            <p:cNvSpPr txBox="1">
              <a:spLocks noChangeArrowheads="1"/>
            </p:cNvSpPr>
            <p:nvPr/>
          </p:nvSpPr>
          <p:spPr bwMode="auto">
            <a:xfrm>
              <a:off x="720" y="1152"/>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步骤</a:t>
              </a:r>
              <a:endParaRPr lang="zh-CN" altLang="en-US" sz="2400" b="1">
                <a:solidFill>
                  <a:srgbClr val="020001"/>
                </a:solidFill>
                <a:latin typeface="+mn-ea"/>
              </a:endParaRPr>
            </a:p>
          </p:txBody>
        </p:sp>
        <p:sp>
          <p:nvSpPr>
            <p:cNvPr id="14" name="Text Box 6"/>
            <p:cNvSpPr txBox="1">
              <a:spLocks noChangeArrowheads="1"/>
            </p:cNvSpPr>
            <p:nvPr/>
          </p:nvSpPr>
          <p:spPr bwMode="auto">
            <a:xfrm>
              <a:off x="1200"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spcBef>
                  <a:spcPct val="50000"/>
                </a:spcBef>
              </a:pPr>
              <a:r>
                <a:rPr lang="zh-CN" altLang="en-US" sz="2400" b="1">
                  <a:solidFill>
                    <a:srgbClr val="020001"/>
                  </a:solidFill>
                  <a:latin typeface="+mn-ea"/>
                </a:rPr>
                <a:t>状态栈</a:t>
              </a:r>
              <a:r>
                <a:rPr lang="en-US" altLang="zh-CN" sz="2400" b="1">
                  <a:solidFill>
                    <a:srgbClr val="020001"/>
                  </a:solidFill>
                  <a:latin typeface="+mn-ea"/>
                </a:rPr>
                <a:t>S</a:t>
              </a:r>
              <a:endParaRPr lang="en-US" altLang="zh-CN" sz="2400" b="1">
                <a:solidFill>
                  <a:srgbClr val="020001"/>
                </a:solidFill>
                <a:latin typeface="+mn-ea"/>
              </a:endParaRPr>
            </a:p>
          </p:txBody>
        </p:sp>
        <p:sp>
          <p:nvSpPr>
            <p:cNvPr id="17" name="Text Box 7"/>
            <p:cNvSpPr txBox="1">
              <a:spLocks noChangeArrowheads="1"/>
            </p:cNvSpPr>
            <p:nvPr/>
          </p:nvSpPr>
          <p:spPr bwMode="auto">
            <a:xfrm>
              <a:off x="2160" y="1152"/>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符号栈</a:t>
              </a:r>
              <a:r>
                <a:rPr lang="en-US" altLang="zh-CN" sz="2400" b="1">
                  <a:solidFill>
                    <a:srgbClr val="020001"/>
                  </a:solidFill>
                  <a:latin typeface="+mn-ea"/>
                </a:rPr>
                <a:t>X</a:t>
              </a:r>
              <a:endParaRPr lang="en-US" altLang="zh-CN" sz="2400" b="1">
                <a:solidFill>
                  <a:srgbClr val="020001"/>
                </a:solidFill>
                <a:latin typeface="+mn-ea"/>
              </a:endParaRPr>
            </a:p>
          </p:txBody>
        </p:sp>
        <p:sp>
          <p:nvSpPr>
            <p:cNvPr id="18" name="Text Box 8"/>
            <p:cNvSpPr txBox="1">
              <a:spLocks noChangeArrowheads="1"/>
            </p:cNvSpPr>
            <p:nvPr/>
          </p:nvSpPr>
          <p:spPr bwMode="auto">
            <a:xfrm>
              <a:off x="398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动作</a:t>
              </a:r>
              <a:endParaRPr lang="zh-CN" altLang="en-US" sz="2400" b="1">
                <a:solidFill>
                  <a:srgbClr val="020001"/>
                </a:solidFill>
                <a:latin typeface="+mn-ea"/>
              </a:endParaRPr>
            </a:p>
          </p:txBody>
        </p:sp>
        <p:sp>
          <p:nvSpPr>
            <p:cNvPr id="19" name="Text Box 9"/>
            <p:cNvSpPr txBox="1">
              <a:spLocks noChangeArrowheads="1"/>
            </p:cNvSpPr>
            <p:nvPr/>
          </p:nvSpPr>
          <p:spPr bwMode="auto">
            <a:xfrm>
              <a:off x="302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输入符号</a:t>
              </a:r>
              <a:endParaRPr lang="zh-CN" altLang="en-US" sz="2400" b="1">
                <a:solidFill>
                  <a:srgbClr val="020001"/>
                </a:solidFill>
                <a:latin typeface="+mn-ea"/>
              </a:endParaRPr>
            </a:p>
          </p:txBody>
        </p:sp>
      </p:grpSp>
      <p:grpSp>
        <p:nvGrpSpPr>
          <p:cNvPr id="20" name="Group 10"/>
          <p:cNvGrpSpPr/>
          <p:nvPr/>
        </p:nvGrpSpPr>
        <p:grpSpPr bwMode="auto">
          <a:xfrm>
            <a:off x="1947010" y="2158365"/>
            <a:ext cx="8057088" cy="460375"/>
            <a:chOff x="720" y="1388"/>
            <a:chExt cx="4224" cy="290"/>
          </a:xfrm>
        </p:grpSpPr>
        <p:sp>
          <p:nvSpPr>
            <p:cNvPr id="21" name="Text Box 11"/>
            <p:cNvSpPr txBox="1">
              <a:spLocks noChangeArrowheads="1"/>
            </p:cNvSpPr>
            <p:nvPr/>
          </p:nvSpPr>
          <p:spPr bwMode="auto">
            <a:xfrm>
              <a:off x="720" y="138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1</a:t>
              </a:r>
              <a:endParaRPr lang="en-US" altLang="zh-CN" sz="2400" b="1">
                <a:solidFill>
                  <a:srgbClr val="020001"/>
                </a:solidFill>
                <a:latin typeface="+mn-ea"/>
                <a:sym typeface="+mn-ea"/>
              </a:endParaRPr>
            </a:p>
          </p:txBody>
        </p:sp>
        <p:sp>
          <p:nvSpPr>
            <p:cNvPr id="22" name="Text Box 12"/>
            <p:cNvSpPr txBox="1">
              <a:spLocks noChangeArrowheads="1"/>
            </p:cNvSpPr>
            <p:nvPr/>
          </p:nvSpPr>
          <p:spPr bwMode="auto">
            <a:xfrm>
              <a:off x="1200"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a:t>
              </a:r>
              <a:endParaRPr lang="en-US" altLang="zh-CN" sz="2400" b="1">
                <a:solidFill>
                  <a:srgbClr val="020001"/>
                </a:solidFill>
                <a:latin typeface="+mn-ea"/>
                <a:sym typeface="+mn-ea"/>
              </a:endParaRPr>
            </a:p>
          </p:txBody>
        </p:sp>
        <p:sp>
          <p:nvSpPr>
            <p:cNvPr id="23" name="Text Box 13"/>
            <p:cNvSpPr txBox="1">
              <a:spLocks noChangeArrowheads="1"/>
            </p:cNvSpPr>
            <p:nvPr/>
          </p:nvSpPr>
          <p:spPr bwMode="auto">
            <a:xfrm>
              <a:off x="2160" y="138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sp>
          <p:nvSpPr>
            <p:cNvPr id="24" name="Text Box 14"/>
            <p:cNvSpPr txBox="1">
              <a:spLocks noChangeArrowheads="1"/>
            </p:cNvSpPr>
            <p:nvPr/>
          </p:nvSpPr>
          <p:spPr bwMode="auto">
            <a:xfrm>
              <a:off x="398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S</a:t>
              </a:r>
              <a:r>
                <a:rPr lang="en-US" altLang="zh-CN" sz="2400" b="1">
                  <a:solidFill>
                    <a:srgbClr val="020001"/>
                  </a:solidFill>
                  <a:latin typeface="+mn-ea"/>
                  <a:sym typeface="+mn-ea"/>
                </a:rPr>
                <a:t>2</a:t>
              </a:r>
              <a:endParaRPr lang="en-US" altLang="zh-CN" sz="2400" b="1">
                <a:solidFill>
                  <a:srgbClr val="020001"/>
                </a:solidFill>
                <a:latin typeface="+mn-ea"/>
                <a:sym typeface="+mn-ea"/>
              </a:endParaRPr>
            </a:p>
          </p:txBody>
        </p:sp>
        <p:sp>
          <p:nvSpPr>
            <p:cNvPr id="25" name="Text Box 15"/>
            <p:cNvSpPr txBox="1">
              <a:spLocks noChangeArrowheads="1"/>
            </p:cNvSpPr>
            <p:nvPr/>
          </p:nvSpPr>
          <p:spPr bwMode="auto">
            <a:xfrm>
              <a:off x="302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n+n+n$</a:t>
              </a:r>
              <a:endParaRPr lang="en-US" altLang="zh-CN" sz="2400" b="1">
                <a:solidFill>
                  <a:srgbClr val="020001"/>
                </a:solidFill>
                <a:latin typeface="+mn-ea"/>
                <a:sym typeface="+mn-ea"/>
              </a:endParaRPr>
            </a:p>
          </p:txBody>
        </p:sp>
      </p:grpSp>
      <p:grpSp>
        <p:nvGrpSpPr>
          <p:cNvPr id="27" name="Group 17"/>
          <p:cNvGrpSpPr/>
          <p:nvPr/>
        </p:nvGrpSpPr>
        <p:grpSpPr bwMode="auto">
          <a:xfrm>
            <a:off x="1947010" y="2619376"/>
            <a:ext cx="8057088" cy="460375"/>
            <a:chOff x="720" y="1628"/>
            <a:chExt cx="4224" cy="290"/>
          </a:xfrm>
        </p:grpSpPr>
        <p:sp>
          <p:nvSpPr>
            <p:cNvPr id="28" name="Text Box 18"/>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2</a:t>
              </a:r>
              <a:endParaRPr lang="en-US" altLang="zh-CN" sz="2400" b="1">
                <a:solidFill>
                  <a:srgbClr val="020001"/>
                </a:solidFill>
                <a:latin typeface="+mn-ea"/>
                <a:sym typeface="+mn-ea"/>
              </a:endParaRPr>
            </a:p>
          </p:txBody>
        </p:sp>
        <p:sp>
          <p:nvSpPr>
            <p:cNvPr id="29" name="Text Box 19"/>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02</a:t>
              </a:r>
              <a:endParaRPr lang="en-US" altLang="zh-CN" sz="2400" b="1">
                <a:solidFill>
                  <a:srgbClr val="020001"/>
                </a:solidFill>
                <a:latin typeface="+mn-ea"/>
                <a:sym typeface="+mn-ea"/>
              </a:endParaRPr>
            </a:p>
          </p:txBody>
        </p:sp>
        <p:sp>
          <p:nvSpPr>
            <p:cNvPr id="30" name="Text Box 20"/>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a:t>
              </a:r>
              <a:endParaRPr lang="en-US" altLang="zh-CN" sz="2400" b="1">
                <a:solidFill>
                  <a:srgbClr val="020001"/>
                </a:solidFill>
                <a:latin typeface="+mn-ea"/>
                <a:sym typeface="+mn-ea"/>
              </a:endParaRPr>
            </a:p>
          </p:txBody>
        </p:sp>
        <p:sp>
          <p:nvSpPr>
            <p:cNvPr id="31" name="Text Box 21"/>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r</a:t>
              </a:r>
              <a:r>
                <a:rPr lang="en-US" altLang="zh-CN" sz="2400" b="1">
                  <a:solidFill>
                    <a:srgbClr val="020001"/>
                  </a:solidFill>
                  <a:latin typeface="+mn-ea"/>
                  <a:sym typeface="+mn-ea"/>
                </a:rPr>
                <a:t>2</a:t>
              </a:r>
              <a:r>
                <a:rPr lang="en-US" altLang="zh-CN" sz="2400" b="1">
                  <a:solidFill>
                    <a:srgbClr val="020001"/>
                  </a:solidFill>
                  <a:latin typeface="+mn-ea"/>
                  <a:sym typeface="+mn-ea"/>
                </a:rPr>
                <a:t>(</a:t>
              </a:r>
              <a:r>
                <a:rPr lang="en-US" altLang="zh-CN" sz="2400" b="1">
                  <a:solidFill>
                    <a:srgbClr val="020001"/>
                  </a:solidFill>
                  <a:latin typeface="+mn-ea"/>
                  <a:sym typeface="+mn-ea"/>
                </a:rPr>
                <a:t>E</a:t>
              </a:r>
              <a:r>
                <a:rPr lang="en-US" altLang="zh-CN" sz="2400" b="1">
                  <a:solidFill>
                    <a:srgbClr val="020001"/>
                  </a:solidFill>
                  <a:latin typeface="+mn-ea"/>
                  <a:sym typeface="Symbol" panose="05050102010706020507" pitchFamily="18" charset="2"/>
                </a:rPr>
                <a:t>n</a:t>
              </a: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sp>
          <p:nvSpPr>
            <p:cNvPr id="32" name="Text Box 22"/>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+n+n$</a:t>
              </a:r>
              <a:endParaRPr lang="en-US" altLang="zh-CN" sz="2400" b="1">
                <a:solidFill>
                  <a:srgbClr val="020001"/>
                </a:solidFill>
                <a:latin typeface="+mn-ea"/>
                <a:sym typeface="+mn-ea"/>
              </a:endParaRPr>
            </a:p>
          </p:txBody>
        </p:sp>
      </p:grpSp>
      <p:grpSp>
        <p:nvGrpSpPr>
          <p:cNvPr id="34" name="Group 24"/>
          <p:cNvGrpSpPr/>
          <p:nvPr/>
        </p:nvGrpSpPr>
        <p:grpSpPr bwMode="auto">
          <a:xfrm>
            <a:off x="1947010" y="3084512"/>
            <a:ext cx="8057088" cy="460375"/>
            <a:chOff x="720" y="1628"/>
            <a:chExt cx="4224" cy="290"/>
          </a:xfrm>
        </p:grpSpPr>
        <p:sp>
          <p:nvSpPr>
            <p:cNvPr id="35" name="Text Box 25"/>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3</a:t>
              </a:r>
              <a:endParaRPr lang="en-US" altLang="zh-CN" sz="2400" b="1">
                <a:solidFill>
                  <a:srgbClr val="020001"/>
                </a:solidFill>
                <a:latin typeface="+mn-ea"/>
                <a:sym typeface="+mn-ea"/>
              </a:endParaRPr>
            </a:p>
          </p:txBody>
        </p:sp>
        <p:sp>
          <p:nvSpPr>
            <p:cNvPr id="36" name="Text Box 26"/>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a:t>
              </a:r>
              <a:endParaRPr lang="en-US" altLang="zh-CN" sz="2400" b="1">
                <a:solidFill>
                  <a:srgbClr val="020001"/>
                </a:solidFill>
                <a:latin typeface="+mn-ea"/>
                <a:sym typeface="+mn-ea"/>
              </a:endParaRPr>
            </a:p>
          </p:txBody>
        </p:sp>
        <p:sp>
          <p:nvSpPr>
            <p:cNvPr id="37" name="Text Box 27"/>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$E</a:t>
              </a:r>
              <a:endParaRPr lang="en-US" altLang="zh-CN" sz="2400" b="1">
                <a:solidFill>
                  <a:srgbClr val="020001"/>
                </a:solidFill>
                <a:latin typeface="+mn-ea"/>
                <a:sym typeface="+mn-ea"/>
              </a:endParaRPr>
            </a:p>
          </p:txBody>
        </p:sp>
        <p:sp>
          <p:nvSpPr>
            <p:cNvPr id="38" name="Text Box 28"/>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S</a:t>
              </a:r>
              <a:r>
                <a:rPr lang="en-US" altLang="zh-CN" sz="2400" b="1">
                  <a:solidFill>
                    <a:srgbClr val="020001"/>
                  </a:solidFill>
                  <a:latin typeface="+mn-ea"/>
                  <a:sym typeface="+mn-ea"/>
                </a:rPr>
                <a:t>3</a:t>
              </a:r>
              <a:endParaRPr lang="en-US" altLang="zh-CN" sz="2400" b="1">
                <a:solidFill>
                  <a:srgbClr val="020001"/>
                </a:solidFill>
                <a:latin typeface="+mn-ea"/>
                <a:sym typeface="+mn-ea"/>
              </a:endParaRPr>
            </a:p>
          </p:txBody>
        </p:sp>
        <p:sp>
          <p:nvSpPr>
            <p:cNvPr id="39" name="Text Box 29"/>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+n+n$</a:t>
              </a:r>
              <a:endParaRPr lang="en-US" altLang="zh-CN" sz="2400" b="1">
                <a:solidFill>
                  <a:srgbClr val="020001"/>
                </a:solidFill>
                <a:latin typeface="+mn-ea"/>
                <a:sym typeface="+mn-ea"/>
              </a:endParaRPr>
            </a:p>
          </p:txBody>
        </p:sp>
      </p:grpSp>
      <p:grpSp>
        <p:nvGrpSpPr>
          <p:cNvPr id="41" name="Group 31"/>
          <p:cNvGrpSpPr/>
          <p:nvPr/>
        </p:nvGrpSpPr>
        <p:grpSpPr bwMode="auto">
          <a:xfrm>
            <a:off x="1947010" y="3559492"/>
            <a:ext cx="8057088" cy="460375"/>
            <a:chOff x="720" y="1628"/>
            <a:chExt cx="4224" cy="290"/>
          </a:xfrm>
        </p:grpSpPr>
        <p:sp>
          <p:nvSpPr>
            <p:cNvPr id="42" name="Text Box 32"/>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4</a:t>
              </a:r>
              <a:endParaRPr lang="en-US" altLang="zh-CN" sz="2400" b="1">
                <a:solidFill>
                  <a:srgbClr val="020001"/>
                </a:solidFill>
                <a:latin typeface="+mn-ea"/>
                <a:sym typeface="+mn-ea"/>
              </a:endParaRPr>
            </a:p>
          </p:txBody>
        </p:sp>
        <p:sp>
          <p:nvSpPr>
            <p:cNvPr id="43" name="Text Box 33"/>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013</a:t>
              </a:r>
              <a:endParaRPr lang="en-US" altLang="zh-CN" sz="2400" b="1">
                <a:solidFill>
                  <a:srgbClr val="020001"/>
                </a:solidFill>
                <a:latin typeface="+mn-ea"/>
                <a:sym typeface="+mn-ea"/>
              </a:endParaRPr>
            </a:p>
          </p:txBody>
        </p:sp>
        <p:sp>
          <p:nvSpPr>
            <p:cNvPr id="44" name="Text Box 34"/>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 E+</a:t>
              </a:r>
              <a:endParaRPr lang="en-US" altLang="zh-CN" sz="2400" b="1">
                <a:solidFill>
                  <a:srgbClr val="020001"/>
                </a:solidFill>
                <a:latin typeface="+mn-ea"/>
                <a:sym typeface="+mn-ea"/>
              </a:endParaRPr>
            </a:p>
          </p:txBody>
        </p:sp>
        <p:sp>
          <p:nvSpPr>
            <p:cNvPr id="45" name="Text Box 35"/>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S</a:t>
              </a:r>
              <a:r>
                <a:rPr lang="en-US" altLang="zh-CN" sz="2400" b="1">
                  <a:solidFill>
                    <a:srgbClr val="020001"/>
                  </a:solidFill>
                  <a:latin typeface="+mn-ea"/>
                  <a:sym typeface="+mn-ea"/>
                </a:rPr>
                <a:t>4</a:t>
              </a:r>
              <a:endParaRPr lang="en-US" altLang="zh-CN" sz="2400" b="1">
                <a:solidFill>
                  <a:srgbClr val="020001"/>
                </a:solidFill>
                <a:latin typeface="+mn-ea"/>
                <a:sym typeface="+mn-ea"/>
              </a:endParaRPr>
            </a:p>
          </p:txBody>
        </p:sp>
        <p:sp>
          <p:nvSpPr>
            <p:cNvPr id="46" name="Text Box 36"/>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n+n$</a:t>
              </a:r>
              <a:endParaRPr lang="en-US" altLang="zh-CN" sz="2400" b="1">
                <a:solidFill>
                  <a:srgbClr val="020001"/>
                </a:solidFill>
                <a:latin typeface="+mn-ea"/>
                <a:sym typeface="+mn-ea"/>
              </a:endParaRPr>
            </a:p>
          </p:txBody>
        </p:sp>
      </p:grpSp>
      <p:grpSp>
        <p:nvGrpSpPr>
          <p:cNvPr id="48" name="Group 38"/>
          <p:cNvGrpSpPr/>
          <p:nvPr/>
        </p:nvGrpSpPr>
        <p:grpSpPr bwMode="auto">
          <a:xfrm>
            <a:off x="1951772" y="3994151"/>
            <a:ext cx="8057087" cy="460375"/>
            <a:chOff x="720" y="1628"/>
            <a:chExt cx="4224" cy="290"/>
          </a:xfrm>
        </p:grpSpPr>
        <p:sp>
          <p:nvSpPr>
            <p:cNvPr id="49" name="Text Box 39"/>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5</a:t>
              </a:r>
              <a:endParaRPr lang="en-US" altLang="zh-CN" sz="2400" b="1">
                <a:solidFill>
                  <a:srgbClr val="020001"/>
                </a:solidFill>
                <a:latin typeface="+mn-ea"/>
                <a:sym typeface="+mn-ea"/>
              </a:endParaRPr>
            </a:p>
          </p:txBody>
        </p:sp>
        <p:sp>
          <p:nvSpPr>
            <p:cNvPr id="50" name="Text Box 40"/>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0134</a:t>
              </a:r>
              <a:endParaRPr lang="en-US" altLang="zh-CN" sz="2400" b="1">
                <a:solidFill>
                  <a:srgbClr val="020001"/>
                </a:solidFill>
                <a:latin typeface="+mn-ea"/>
                <a:sym typeface="+mn-ea"/>
              </a:endParaRPr>
            </a:p>
          </p:txBody>
        </p:sp>
        <p:sp>
          <p:nvSpPr>
            <p:cNvPr id="51" name="Text Box 41"/>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 E+n</a:t>
              </a:r>
              <a:endParaRPr lang="en-US" altLang="zh-CN" sz="2400" b="1">
                <a:solidFill>
                  <a:srgbClr val="020001"/>
                </a:solidFill>
                <a:latin typeface="+mn-ea"/>
                <a:sym typeface="+mn-ea"/>
              </a:endParaRPr>
            </a:p>
          </p:txBody>
        </p:sp>
        <p:sp>
          <p:nvSpPr>
            <p:cNvPr id="52" name="Text Box 42"/>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r</a:t>
              </a:r>
              <a:r>
                <a:rPr lang="en-US" altLang="zh-CN" sz="2400" b="1">
                  <a:solidFill>
                    <a:srgbClr val="020001"/>
                  </a:solidFill>
                  <a:latin typeface="+mn-ea"/>
                  <a:sym typeface="+mn-ea"/>
                </a:rPr>
                <a:t>1</a:t>
              </a:r>
              <a:r>
                <a:rPr lang="en-US" altLang="zh-CN" sz="2400" b="1">
                  <a:solidFill>
                    <a:srgbClr val="020001"/>
                  </a:solidFill>
                  <a:latin typeface="+mn-ea"/>
                  <a:sym typeface="+mn-ea"/>
                </a:rPr>
                <a:t>(</a:t>
              </a:r>
              <a:r>
                <a:rPr lang="en-US" altLang="zh-CN" sz="2400" b="1">
                  <a:solidFill>
                    <a:srgbClr val="020001"/>
                  </a:solidFill>
                  <a:latin typeface="+mn-ea"/>
                  <a:sym typeface="+mn-ea"/>
                </a:rPr>
                <a:t>E</a:t>
              </a:r>
              <a:r>
                <a:rPr lang="en-US" altLang="zh-CN" sz="2400" b="1">
                  <a:solidFill>
                    <a:srgbClr val="020001"/>
                  </a:solidFill>
                  <a:latin typeface="+mn-ea"/>
                  <a:sym typeface="Symbol" panose="05050102010706020507" pitchFamily="18" charset="2"/>
                </a:rPr>
                <a:t>E+n</a:t>
              </a: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sp>
          <p:nvSpPr>
            <p:cNvPr id="53" name="Text Box 43"/>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a:t>
              </a:r>
              <a:endParaRPr lang="en-US" altLang="zh-CN" sz="2400" b="1">
                <a:solidFill>
                  <a:srgbClr val="020001"/>
                </a:solidFill>
                <a:latin typeface="+mn-ea"/>
                <a:sym typeface="+mn-ea"/>
              </a:endParaRPr>
            </a:p>
          </p:txBody>
        </p:sp>
      </p:grpSp>
      <p:grpSp>
        <p:nvGrpSpPr>
          <p:cNvPr id="55" name="Group 45"/>
          <p:cNvGrpSpPr/>
          <p:nvPr/>
        </p:nvGrpSpPr>
        <p:grpSpPr bwMode="auto">
          <a:xfrm>
            <a:off x="1951772" y="4451351"/>
            <a:ext cx="8057087" cy="460375"/>
            <a:chOff x="720" y="1628"/>
            <a:chExt cx="4224" cy="290"/>
          </a:xfrm>
        </p:grpSpPr>
        <p:sp>
          <p:nvSpPr>
            <p:cNvPr id="56" name="Text Box 46"/>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6</a:t>
              </a:r>
              <a:endParaRPr lang="en-US" altLang="zh-CN" sz="2400" b="1">
                <a:solidFill>
                  <a:srgbClr val="020001"/>
                </a:solidFill>
                <a:latin typeface="+mn-ea"/>
                <a:sym typeface="+mn-ea"/>
              </a:endParaRPr>
            </a:p>
          </p:txBody>
        </p:sp>
        <p:sp>
          <p:nvSpPr>
            <p:cNvPr id="57" name="Text Box 47"/>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a:t>
              </a:r>
              <a:endParaRPr lang="en-US" altLang="zh-CN" sz="2400" b="1">
                <a:solidFill>
                  <a:srgbClr val="020001"/>
                </a:solidFill>
                <a:latin typeface="+mn-ea"/>
                <a:sym typeface="+mn-ea"/>
              </a:endParaRPr>
            </a:p>
          </p:txBody>
        </p:sp>
        <p:sp>
          <p:nvSpPr>
            <p:cNvPr id="58" name="Text Box 48"/>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$E</a:t>
              </a:r>
              <a:endParaRPr lang="en-US" altLang="zh-CN" sz="2400" b="1">
                <a:solidFill>
                  <a:srgbClr val="020001"/>
                </a:solidFill>
                <a:latin typeface="+mn-ea"/>
                <a:sym typeface="+mn-ea"/>
              </a:endParaRPr>
            </a:p>
          </p:txBody>
        </p:sp>
        <p:sp>
          <p:nvSpPr>
            <p:cNvPr id="59" name="Text Box 49"/>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S</a:t>
              </a:r>
              <a:r>
                <a:rPr lang="en-US" altLang="zh-CN" sz="2400" b="1">
                  <a:solidFill>
                    <a:srgbClr val="020001"/>
                  </a:solidFill>
                  <a:latin typeface="+mn-ea"/>
                  <a:sym typeface="+mn-ea"/>
                </a:rPr>
                <a:t>3</a:t>
              </a:r>
              <a:endParaRPr lang="en-US" altLang="zh-CN" sz="2400" b="1">
                <a:solidFill>
                  <a:srgbClr val="020001"/>
                </a:solidFill>
                <a:latin typeface="+mn-ea"/>
                <a:sym typeface="+mn-ea"/>
              </a:endParaRPr>
            </a:p>
          </p:txBody>
        </p:sp>
        <p:sp>
          <p:nvSpPr>
            <p:cNvPr id="60" name="Text Box 50"/>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a:t>
              </a:r>
              <a:endParaRPr lang="en-US" altLang="zh-CN" sz="2400" b="1">
                <a:solidFill>
                  <a:srgbClr val="020001"/>
                </a:solidFill>
                <a:latin typeface="+mn-ea"/>
                <a:sym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47" name="Group 2"/>
          <p:cNvGrpSpPr/>
          <p:nvPr/>
        </p:nvGrpSpPr>
        <p:grpSpPr bwMode="auto">
          <a:xfrm>
            <a:off x="1942465" y="4912360"/>
            <a:ext cx="8065770" cy="460375"/>
            <a:chOff x="720" y="1628"/>
            <a:chExt cx="4224" cy="290"/>
          </a:xfrm>
        </p:grpSpPr>
        <p:sp>
          <p:nvSpPr>
            <p:cNvPr id="54" name="Text Box 3"/>
            <p:cNvSpPr txBox="1">
              <a:spLocks noChangeArrowheads="1"/>
            </p:cNvSpPr>
            <p:nvPr>
              <p:custDataLst>
                <p:tags r:id="rId1"/>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7</a:t>
              </a:r>
              <a:endParaRPr lang="en-US" altLang="zh-CN" sz="2400" b="1">
                <a:solidFill>
                  <a:srgbClr val="020001"/>
                </a:solidFill>
                <a:latin typeface="+mn-ea"/>
                <a:sym typeface="+mn-ea"/>
              </a:endParaRPr>
            </a:p>
          </p:txBody>
        </p:sp>
        <p:sp>
          <p:nvSpPr>
            <p:cNvPr id="61" name="Text Box 4"/>
            <p:cNvSpPr txBox="1">
              <a:spLocks noChangeArrowheads="1"/>
            </p:cNvSpPr>
            <p:nvPr>
              <p:custDataLst>
                <p:tags r:id="rId2"/>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013</a:t>
              </a:r>
              <a:endParaRPr lang="en-US" altLang="zh-CN" sz="2400" b="1">
                <a:solidFill>
                  <a:srgbClr val="020001"/>
                </a:solidFill>
                <a:latin typeface="+mn-ea"/>
                <a:sym typeface="+mn-ea"/>
              </a:endParaRPr>
            </a:p>
          </p:txBody>
        </p:sp>
        <p:sp>
          <p:nvSpPr>
            <p:cNvPr id="62" name="Text Box 5"/>
            <p:cNvSpPr txBox="1">
              <a:spLocks noChangeArrowheads="1"/>
            </p:cNvSpPr>
            <p:nvPr>
              <p:custDataLst>
                <p:tags r:id="rId3"/>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$E+</a:t>
              </a:r>
              <a:endParaRPr lang="en-US" altLang="zh-CN" sz="2400" b="1">
                <a:solidFill>
                  <a:srgbClr val="020001"/>
                </a:solidFill>
                <a:latin typeface="+mn-ea"/>
                <a:sym typeface="+mn-ea"/>
              </a:endParaRPr>
            </a:p>
          </p:txBody>
        </p:sp>
        <p:sp>
          <p:nvSpPr>
            <p:cNvPr id="63" name="Text Box 6"/>
            <p:cNvSpPr txBox="1">
              <a:spLocks noChangeArrowheads="1"/>
            </p:cNvSpPr>
            <p:nvPr>
              <p:custDataLst>
                <p:tags r:id="rId4"/>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S</a:t>
              </a:r>
              <a:r>
                <a:rPr lang="en-US" altLang="zh-CN" sz="2400" b="1">
                  <a:solidFill>
                    <a:srgbClr val="020001"/>
                  </a:solidFill>
                  <a:latin typeface="+mn-ea"/>
                  <a:sym typeface="+mn-ea"/>
                </a:rPr>
                <a:t>4</a:t>
              </a:r>
              <a:endParaRPr lang="en-US" altLang="zh-CN" sz="2400" b="1">
                <a:solidFill>
                  <a:srgbClr val="020001"/>
                </a:solidFill>
                <a:latin typeface="+mn-ea"/>
                <a:sym typeface="+mn-ea"/>
              </a:endParaRPr>
            </a:p>
          </p:txBody>
        </p:sp>
        <p:sp>
          <p:nvSpPr>
            <p:cNvPr id="64" name="Text Box 7"/>
            <p:cNvSpPr txBox="1">
              <a:spLocks noChangeArrowheads="1"/>
            </p:cNvSpPr>
            <p:nvPr>
              <p:custDataLst>
                <p:tags r:id="rId5"/>
              </p:custDataLst>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n$</a:t>
              </a:r>
              <a:endParaRPr lang="en-US" altLang="zh-CN" sz="2400" b="1">
                <a:solidFill>
                  <a:srgbClr val="020001"/>
                </a:solidFill>
                <a:latin typeface="+mn-ea"/>
                <a:sym typeface="+mn-ea"/>
              </a:endParaRPr>
            </a:p>
          </p:txBody>
        </p:sp>
      </p:grpSp>
      <p:grpSp>
        <p:nvGrpSpPr>
          <p:cNvPr id="66" name="Group 9"/>
          <p:cNvGrpSpPr/>
          <p:nvPr/>
        </p:nvGrpSpPr>
        <p:grpSpPr bwMode="auto">
          <a:xfrm>
            <a:off x="1942465" y="5384165"/>
            <a:ext cx="8067040" cy="460375"/>
            <a:chOff x="720" y="1628"/>
            <a:chExt cx="4224" cy="290"/>
          </a:xfrm>
        </p:grpSpPr>
        <p:sp>
          <p:nvSpPr>
            <p:cNvPr id="67" name="Text Box 10"/>
            <p:cNvSpPr txBox="1">
              <a:spLocks noChangeArrowheads="1"/>
            </p:cNvSpPr>
            <p:nvPr>
              <p:custDataLst>
                <p:tags r:id="rId6"/>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8</a:t>
              </a:r>
              <a:endParaRPr lang="en-US" altLang="zh-CN" sz="2400" b="1">
                <a:solidFill>
                  <a:srgbClr val="020001"/>
                </a:solidFill>
                <a:latin typeface="+mn-ea"/>
                <a:sym typeface="+mn-ea"/>
              </a:endParaRPr>
            </a:p>
          </p:txBody>
        </p:sp>
        <p:sp>
          <p:nvSpPr>
            <p:cNvPr id="68" name="Text Box 11"/>
            <p:cNvSpPr txBox="1">
              <a:spLocks noChangeArrowheads="1"/>
            </p:cNvSpPr>
            <p:nvPr>
              <p:custDataLst>
                <p:tags r:id="rId7"/>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0134</a:t>
              </a:r>
              <a:endParaRPr lang="en-US" altLang="zh-CN" sz="2400" b="1">
                <a:solidFill>
                  <a:srgbClr val="020001"/>
                </a:solidFill>
                <a:latin typeface="+mn-ea"/>
                <a:sym typeface="+mn-ea"/>
              </a:endParaRPr>
            </a:p>
          </p:txBody>
        </p:sp>
        <p:sp>
          <p:nvSpPr>
            <p:cNvPr id="69" name="Text Box 12"/>
            <p:cNvSpPr txBox="1">
              <a:spLocks noChangeArrowheads="1"/>
            </p:cNvSpPr>
            <p:nvPr>
              <p:custDataLst>
                <p:tags r:id="rId8"/>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$E+n</a:t>
              </a:r>
              <a:endParaRPr lang="en-US" altLang="zh-CN" sz="2400" b="1">
                <a:solidFill>
                  <a:srgbClr val="020001"/>
                </a:solidFill>
                <a:latin typeface="+mn-ea"/>
                <a:sym typeface="+mn-ea"/>
              </a:endParaRPr>
            </a:p>
          </p:txBody>
        </p:sp>
        <p:sp>
          <p:nvSpPr>
            <p:cNvPr id="70" name="Text Box 13"/>
            <p:cNvSpPr txBox="1">
              <a:spLocks noChangeArrowheads="1"/>
            </p:cNvSpPr>
            <p:nvPr>
              <p:custDataLst>
                <p:tags r:id="rId9"/>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r</a:t>
              </a:r>
              <a:r>
                <a:rPr lang="en-US" altLang="zh-CN" sz="2400" b="1">
                  <a:solidFill>
                    <a:srgbClr val="020001"/>
                  </a:solidFill>
                  <a:latin typeface="+mn-ea"/>
                  <a:sym typeface="+mn-ea"/>
                </a:rPr>
                <a:t>1</a:t>
              </a:r>
              <a:r>
                <a:rPr lang="en-US" altLang="zh-CN" sz="2400" b="1">
                  <a:solidFill>
                    <a:srgbClr val="020001"/>
                  </a:solidFill>
                  <a:latin typeface="+mn-ea"/>
                  <a:sym typeface="+mn-ea"/>
                </a:rPr>
                <a:t>(</a:t>
              </a:r>
              <a:r>
                <a:rPr lang="en-US" altLang="zh-CN" sz="2400" b="1">
                  <a:solidFill>
                    <a:srgbClr val="020001"/>
                  </a:solidFill>
                  <a:latin typeface="+mn-ea"/>
                  <a:sym typeface="+mn-ea"/>
                </a:rPr>
                <a:t>E</a:t>
              </a:r>
              <a:r>
                <a:rPr lang="en-US" altLang="zh-CN" sz="2400" b="1">
                  <a:solidFill>
                    <a:srgbClr val="020001"/>
                  </a:solidFill>
                  <a:latin typeface="+mn-ea"/>
                  <a:sym typeface="Symbol" panose="05050102010706020507" pitchFamily="18" charset="2"/>
                </a:rPr>
                <a:t>E+n</a:t>
              </a: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sp>
          <p:nvSpPr>
            <p:cNvPr id="71" name="Text Box 14"/>
            <p:cNvSpPr txBox="1">
              <a:spLocks noChangeArrowheads="1"/>
            </p:cNvSpPr>
            <p:nvPr>
              <p:custDataLst>
                <p:tags r:id="rId10"/>
              </p:custDataLst>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grpSp>
      <p:grpSp>
        <p:nvGrpSpPr>
          <p:cNvPr id="73" name="Group 16"/>
          <p:cNvGrpSpPr/>
          <p:nvPr/>
        </p:nvGrpSpPr>
        <p:grpSpPr bwMode="auto">
          <a:xfrm>
            <a:off x="1942465" y="5849620"/>
            <a:ext cx="8067675" cy="460375"/>
            <a:chOff x="720" y="1628"/>
            <a:chExt cx="4224" cy="290"/>
          </a:xfrm>
        </p:grpSpPr>
        <p:sp>
          <p:nvSpPr>
            <p:cNvPr id="74" name="Text Box 17"/>
            <p:cNvSpPr txBox="1">
              <a:spLocks noChangeArrowheads="1"/>
            </p:cNvSpPr>
            <p:nvPr>
              <p:custDataLst>
                <p:tags r:id="rId11"/>
              </p:custDataLst>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9</a:t>
              </a:r>
              <a:endParaRPr lang="en-US" altLang="zh-CN" sz="2400" b="1">
                <a:solidFill>
                  <a:srgbClr val="020001"/>
                </a:solidFill>
                <a:latin typeface="+mn-ea"/>
                <a:sym typeface="+mn-ea"/>
              </a:endParaRPr>
            </a:p>
          </p:txBody>
        </p:sp>
        <p:sp>
          <p:nvSpPr>
            <p:cNvPr id="75" name="Text Box 18"/>
            <p:cNvSpPr txBox="1">
              <a:spLocks noChangeArrowheads="1"/>
            </p:cNvSpPr>
            <p:nvPr>
              <p:custDataLst>
                <p:tags r:id="rId12"/>
              </p:custDataLst>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01</a:t>
              </a:r>
              <a:endParaRPr lang="en-US" altLang="zh-CN" sz="2400" b="1">
                <a:solidFill>
                  <a:srgbClr val="020001"/>
                </a:solidFill>
                <a:latin typeface="+mn-ea"/>
                <a:sym typeface="+mn-ea"/>
              </a:endParaRPr>
            </a:p>
          </p:txBody>
        </p:sp>
        <p:sp>
          <p:nvSpPr>
            <p:cNvPr id="76" name="Text Box 19"/>
            <p:cNvSpPr txBox="1">
              <a:spLocks noChangeArrowheads="1"/>
            </p:cNvSpPr>
            <p:nvPr>
              <p:custDataLst>
                <p:tags r:id="rId13"/>
              </p:custDataLst>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$E</a:t>
              </a:r>
              <a:endParaRPr lang="en-US" altLang="zh-CN" sz="2400" b="1">
                <a:solidFill>
                  <a:srgbClr val="020001"/>
                </a:solidFill>
                <a:latin typeface="+mn-ea"/>
                <a:sym typeface="+mn-ea"/>
              </a:endParaRPr>
            </a:p>
          </p:txBody>
        </p:sp>
        <p:sp>
          <p:nvSpPr>
            <p:cNvPr id="77" name="Text Box 20"/>
            <p:cNvSpPr txBox="1">
              <a:spLocks noChangeArrowheads="1"/>
            </p:cNvSpPr>
            <p:nvPr>
              <p:custDataLst>
                <p:tags r:id="rId14"/>
              </p:custDataLst>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接受</a:t>
              </a:r>
              <a:endParaRPr lang="en-US" altLang="zh-CN" sz="2400" b="1">
                <a:solidFill>
                  <a:srgbClr val="020001"/>
                </a:solidFill>
                <a:latin typeface="+mn-ea"/>
                <a:sym typeface="+mn-ea"/>
              </a:endParaRPr>
            </a:p>
          </p:txBody>
        </p:sp>
        <p:sp>
          <p:nvSpPr>
            <p:cNvPr id="78" name="Text Box 21"/>
            <p:cNvSpPr txBox="1">
              <a:spLocks noChangeArrowheads="1"/>
            </p:cNvSpPr>
            <p:nvPr>
              <p:custDataLst>
                <p:tags r:id="rId15"/>
              </p:custDataLst>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ctr" anchorCtr="0" forceAA="0" compatLnSpc="1">
              <a:spAutoFit/>
            </a:bodyPr>
            <a:lstStyle/>
            <a:p>
              <a:pPr lvl="0" algn="l">
                <a:spcBef>
                  <a:spcPct val="50000"/>
                </a:spcBef>
                <a:buClrTx/>
                <a:buSzTx/>
                <a:buFontTx/>
              </a:pPr>
              <a:r>
                <a:rPr lang="en-US" altLang="zh-CN" sz="2400" b="1">
                  <a:solidFill>
                    <a:srgbClr val="020001"/>
                  </a:solidFill>
                  <a:latin typeface="+mn-ea"/>
                  <a:sym typeface="+mn-ea"/>
                </a:rPr>
                <a:t>$</a:t>
              </a:r>
              <a:endParaRPr lang="en-US" altLang="zh-CN" sz="2400" b="1">
                <a:solidFill>
                  <a:srgbClr val="020001"/>
                </a:solidFill>
                <a:latin typeface="+mn-ea"/>
                <a:sym typeface="+mn-ea"/>
              </a:endParaRPr>
            </a:p>
          </p:txBody>
        </p:sp>
      </p:grpSp>
      <p:sp>
        <p:nvSpPr>
          <p:cNvPr id="4" name="文本占位符 3"/>
          <p:cNvSpPr>
            <a:spLocks noGrp="1"/>
          </p:cNvSpPr>
          <p:nvPr>
            <p:ph type="body" sz="quarter" idx="14"/>
            <p:custDataLst>
              <p:tags r:id="rId16"/>
            </p:custDataLst>
          </p:nvPr>
        </p:nvSpPr>
        <p:spPr>
          <a:xfrm>
            <a:off x="579755" y="276860"/>
            <a:ext cx="7273290" cy="593090"/>
          </a:xfrm>
        </p:spPr>
        <p:txBody>
          <a:bodyPr/>
          <a:lstStyle/>
          <a:p>
            <a:r>
              <a:rPr lang="en-US" altLang="zh-CN" sz="3200" dirty="0"/>
              <a:t>4.5 SLR(1)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out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arn(outHorizont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outHorizont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barn(outHorizontal)">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barn(outHorizontal)">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barn(outHorizontal)">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barn(outHorizontal)">
                                      <p:cBhvr>
                                        <p:cTn id="37" dur="5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barn(outHorizontal)">
                                      <p:cBhvr>
                                        <p:cTn id="42" dur="5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barn(outHorizontal)">
                                      <p:cBhvr>
                                        <p:cTn id="4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178560" y="1887855"/>
            <a:ext cx="8879840" cy="4430395"/>
          </a:xfrm>
        </p:spPr>
        <p:txBody>
          <a:bodyPr>
            <a:normAutofit fontScale="90000"/>
          </a:bodyPr>
          <a:lstStyle/>
          <a:p>
            <a:r>
              <a:rPr lang="zh-CN" altLang="en-US" b="1" dirty="0">
                <a:solidFill>
                  <a:schemeClr val="tx1"/>
                </a:solidFill>
              </a:rPr>
              <a:t> </a:t>
            </a:r>
            <a:r>
              <a:rPr lang="en-US" altLang="zh-CN" b="1" dirty="0">
                <a:solidFill>
                  <a:schemeClr val="tx1"/>
                </a:solidFill>
              </a:rPr>
              <a:t>4.1 </a:t>
            </a:r>
            <a:r>
              <a:rPr lang="zh-CN" altLang="en-US" b="1" dirty="0">
                <a:solidFill>
                  <a:schemeClr val="tx1"/>
                </a:solidFill>
              </a:rPr>
              <a:t>自下而上的语法分析概览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4.2 LR</a:t>
            </a:r>
            <a:r>
              <a:rPr lang="zh-CN" altLang="en-US" b="1" dirty="0">
                <a:solidFill>
                  <a:schemeClr val="tx1"/>
                </a:solidFill>
              </a:rPr>
              <a:t>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4.3 LR(0)</a:t>
            </a:r>
            <a:r>
              <a:rPr lang="zh-CN" altLang="en-US" b="1" dirty="0">
                <a:solidFill>
                  <a:schemeClr val="tx1"/>
                </a:solidFill>
              </a:rPr>
              <a:t>项目的有穷自动机与</a:t>
            </a:r>
            <a:r>
              <a:rPr lang="en-US" altLang="zh-CN" b="1" dirty="0">
                <a:solidFill>
                  <a:schemeClr val="tx1"/>
                </a:solidFill>
              </a:rPr>
              <a:t>LR(0)</a:t>
            </a:r>
            <a:r>
              <a:rPr lang="zh-CN" altLang="en-US" b="1" dirty="0">
                <a:solidFill>
                  <a:schemeClr val="tx1"/>
                </a:solidFill>
              </a:rPr>
              <a:t>分析</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4.4 SLR(1) </a:t>
            </a:r>
            <a:r>
              <a:rPr lang="zh-CN" altLang="en-US" b="1" dirty="0">
                <a:solidFill>
                  <a:schemeClr val="tx1"/>
                </a:solidFill>
              </a:rPr>
              <a:t>分析</a:t>
            </a:r>
            <a:endParaRPr lang="zh-CN" altLang="en-US" b="1" dirty="0">
              <a:solidFill>
                <a:schemeClr val="tx1"/>
              </a:solidFill>
            </a:endParaRPr>
          </a:p>
          <a:p>
            <a:r>
              <a:rPr lang="zh-CN" altLang="en-US" b="1" dirty="0">
                <a:solidFill>
                  <a:srgbClr val="0070C0"/>
                </a:solidFill>
              </a:rPr>
              <a:t> </a:t>
            </a:r>
            <a:r>
              <a:rPr lang="en-US" altLang="zh-CN" b="1" dirty="0">
                <a:solidFill>
                  <a:srgbClr val="0070C0"/>
                </a:solidFill>
              </a:rPr>
              <a:t>4.5  </a:t>
            </a:r>
            <a:r>
              <a:rPr lang="zh-CN" altLang="en-US" b="1" dirty="0">
                <a:solidFill>
                  <a:srgbClr val="0070C0"/>
                </a:solidFill>
              </a:rPr>
              <a:t>一般的</a:t>
            </a:r>
            <a:r>
              <a:rPr lang="en-US" altLang="zh-CN" b="1" dirty="0">
                <a:solidFill>
                  <a:srgbClr val="0070C0"/>
                </a:solidFill>
              </a:rPr>
              <a:t>LR(1)</a:t>
            </a:r>
            <a:endParaRPr lang="en-US" altLang="zh-CN" b="1" dirty="0">
              <a:solidFill>
                <a:srgbClr val="0070C0"/>
              </a:solidFill>
            </a:endParaRPr>
          </a:p>
          <a:p>
            <a:r>
              <a:rPr lang="en-US" altLang="zh-CN" b="1" dirty="0">
                <a:solidFill>
                  <a:schemeClr val="tx1"/>
                </a:solidFill>
              </a:rPr>
              <a:t> 4.6  LALR(1)</a:t>
            </a:r>
            <a:r>
              <a:rPr lang="zh-CN" altLang="en-US" b="1" dirty="0">
                <a:solidFill>
                  <a:schemeClr val="tx1"/>
                </a:solidFill>
              </a:rPr>
              <a:t>分析</a:t>
            </a:r>
            <a:endParaRPr lang="zh-CN" altLang="en-US" b="1" dirty="0">
              <a:solidFill>
                <a:schemeClr val="tx1"/>
              </a:solidFill>
            </a:endParaRPr>
          </a:p>
          <a:p>
            <a:endParaRPr lang="en-US" altLang="zh-CN" b="1" dirty="0">
              <a:solidFill>
                <a:schemeClr val="tx1"/>
              </a:solidFill>
            </a:endParaRPr>
          </a:p>
        </p:txBody>
      </p:sp>
      <p:sp>
        <p:nvSpPr>
          <p:cNvPr id="25" name="文本占位符 24"/>
          <p:cNvSpPr>
            <a:spLocks noGrp="1"/>
          </p:cNvSpPr>
          <p:nvPr>
            <p:ph type="body" sz="quarter" idx="15"/>
          </p:nvPr>
        </p:nvSpPr>
        <p:spPr>
          <a:xfrm>
            <a:off x="228531" y="340177"/>
            <a:ext cx="2653249" cy="589645"/>
          </a:xfrm>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7439025" cy="593090"/>
          </a:xfrm>
        </p:spPr>
        <p:txBody>
          <a:bodyPr/>
          <a:lstStyle/>
          <a:p>
            <a:r>
              <a:rPr lang="en-US" altLang="zh-CN" sz="3200" dirty="0"/>
              <a:t>4.5 LR</a:t>
            </a:r>
            <a:r>
              <a:rPr lang="zh-CN" altLang="en-US" sz="3200" dirty="0"/>
              <a:t>（</a:t>
            </a:r>
            <a:r>
              <a:rPr lang="en-US" altLang="zh-CN" sz="3200" dirty="0"/>
              <a:t>1</a:t>
            </a:r>
            <a:r>
              <a:rPr lang="zh-CN" altLang="en-US" sz="3200" dirty="0"/>
              <a:t>）分析算法</a:t>
            </a:r>
            <a:endParaRPr lang="zh-CN" altLang="en-US" sz="3200" dirty="0"/>
          </a:p>
        </p:txBody>
      </p:sp>
      <p:sp>
        <p:nvSpPr>
          <p:cNvPr id="7" name="Rectangle 2"/>
          <p:cNvSpPr>
            <a:spLocks noChangeArrowheads="1"/>
          </p:cNvSpPr>
          <p:nvPr/>
        </p:nvSpPr>
        <p:spPr bwMode="auto">
          <a:xfrm>
            <a:off x="414020" y="1162685"/>
            <a:ext cx="303085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70C0"/>
                </a:solidFill>
                <a:latin typeface="+mn-ea"/>
              </a:rPr>
              <a:t>问题的提出：</a:t>
            </a:r>
            <a:endParaRPr lang="zh-CN" altLang="en-US" sz="2800" b="1" dirty="0">
              <a:solidFill>
                <a:srgbClr val="0070C0"/>
              </a:solidFill>
              <a:latin typeface="+mn-ea"/>
            </a:endParaRPr>
          </a:p>
        </p:txBody>
      </p:sp>
      <p:sp>
        <p:nvSpPr>
          <p:cNvPr id="47" name="Text Box 2"/>
          <p:cNvSpPr txBox="1">
            <a:spLocks noChangeArrowheads="1"/>
          </p:cNvSpPr>
          <p:nvPr/>
        </p:nvSpPr>
        <p:spPr bwMode="auto">
          <a:xfrm>
            <a:off x="414020" y="1729740"/>
            <a:ext cx="261747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20001"/>
                </a:solidFill>
                <a:latin typeface="+mn-ea"/>
              </a:rPr>
              <a:t>例如：有文法</a:t>
            </a:r>
            <a:r>
              <a:rPr lang="en-US" altLang="zh-CN" sz="2400" b="1">
                <a:solidFill>
                  <a:srgbClr val="020001"/>
                </a:solidFill>
                <a:latin typeface="+mn-ea"/>
              </a:rPr>
              <a:t>G[S’]</a:t>
            </a:r>
            <a:endParaRPr lang="en-US" altLang="zh-CN" sz="2400" b="1">
              <a:solidFill>
                <a:srgbClr val="020001"/>
              </a:solidFill>
              <a:latin typeface="+mn-ea"/>
            </a:endParaRPr>
          </a:p>
          <a:p>
            <a:r>
              <a:rPr lang="en-US" altLang="zh-CN" sz="2400" b="1">
                <a:solidFill>
                  <a:srgbClr val="020001"/>
                </a:solidFill>
                <a:latin typeface="+mn-ea"/>
              </a:rPr>
              <a:t>0)S'</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rPr>
              <a:t>S </a:t>
            </a:r>
            <a:endParaRPr lang="en-US" altLang="zh-CN" sz="2400" b="1">
              <a:solidFill>
                <a:srgbClr val="020001"/>
              </a:solidFill>
              <a:latin typeface="+mn-ea"/>
            </a:endParaRPr>
          </a:p>
          <a:p>
            <a:r>
              <a:rPr lang="en-US" altLang="zh-CN" sz="2400" b="1">
                <a:solidFill>
                  <a:srgbClr val="020001"/>
                </a:solidFill>
                <a:latin typeface="+mn-ea"/>
                <a:sym typeface="+mn-ea"/>
              </a:rPr>
              <a:t>1)S</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sym typeface="+mn-ea"/>
              </a:rPr>
              <a:t>aAd</a:t>
            </a:r>
            <a:endParaRPr lang="en-US" altLang="zh-CN" sz="2400" b="1">
              <a:solidFill>
                <a:srgbClr val="020001"/>
              </a:solidFill>
              <a:latin typeface="+mn-ea"/>
              <a:sym typeface="+mn-ea"/>
            </a:endParaRPr>
          </a:p>
          <a:p>
            <a:r>
              <a:rPr lang="en-US" altLang="zh-CN" sz="2400" b="1">
                <a:solidFill>
                  <a:srgbClr val="020001"/>
                </a:solidFill>
                <a:latin typeface="+mn-ea"/>
                <a:sym typeface="+mn-ea"/>
              </a:rPr>
              <a:t>2)S</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sym typeface="+mn-ea"/>
              </a:rPr>
              <a:t>bAc </a:t>
            </a:r>
            <a:endParaRPr lang="en-US" altLang="zh-CN" sz="2400" b="1">
              <a:solidFill>
                <a:srgbClr val="020001"/>
              </a:solidFill>
              <a:latin typeface="+mn-ea"/>
              <a:sym typeface="+mn-ea"/>
            </a:endParaRPr>
          </a:p>
          <a:p>
            <a:r>
              <a:rPr lang="en-US" altLang="zh-CN" sz="2400" b="1">
                <a:solidFill>
                  <a:srgbClr val="020001"/>
                </a:solidFill>
                <a:latin typeface="+mn-ea"/>
              </a:rPr>
              <a:t>3)S</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rPr>
              <a:t>aec</a:t>
            </a:r>
            <a:endParaRPr lang="en-US" altLang="zh-CN" sz="2400" b="1">
              <a:solidFill>
                <a:srgbClr val="020001"/>
              </a:solidFill>
              <a:latin typeface="+mn-ea"/>
            </a:endParaRPr>
          </a:p>
          <a:p>
            <a:r>
              <a:rPr lang="en-US" altLang="zh-CN" sz="2400" b="1">
                <a:solidFill>
                  <a:srgbClr val="020001"/>
                </a:solidFill>
                <a:latin typeface="+mn-ea"/>
              </a:rPr>
              <a:t>4)S</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rPr>
              <a:t>bed</a:t>
            </a:r>
            <a:endParaRPr lang="en-US" altLang="zh-CN" sz="2400" b="1">
              <a:solidFill>
                <a:srgbClr val="020001"/>
              </a:solidFill>
              <a:latin typeface="+mn-ea"/>
            </a:endParaRPr>
          </a:p>
          <a:p>
            <a:r>
              <a:rPr lang="en-US" altLang="zh-CN" sz="2400" b="1">
                <a:solidFill>
                  <a:srgbClr val="020001"/>
                </a:solidFill>
                <a:latin typeface="+mn-ea"/>
              </a:rPr>
              <a:t>5)A</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rPr>
              <a:t>e</a:t>
            </a:r>
            <a:endParaRPr lang="en-US" altLang="zh-CN" sz="2400" b="1">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6" name="Group 2"/>
          <p:cNvGrpSpPr/>
          <p:nvPr/>
        </p:nvGrpSpPr>
        <p:grpSpPr bwMode="auto">
          <a:xfrm>
            <a:off x="2994024" y="1622799"/>
            <a:ext cx="8796338" cy="3449638"/>
            <a:chOff x="96" y="1571"/>
            <a:chExt cx="5541" cy="2173"/>
          </a:xfrm>
        </p:grpSpPr>
        <p:grpSp>
          <p:nvGrpSpPr>
            <p:cNvPr id="8" name="Group 3"/>
            <p:cNvGrpSpPr/>
            <p:nvPr/>
          </p:nvGrpSpPr>
          <p:grpSpPr bwMode="auto">
            <a:xfrm>
              <a:off x="2853" y="2304"/>
              <a:ext cx="2544" cy="288"/>
              <a:chOff x="2853" y="2304"/>
              <a:chExt cx="2544" cy="288"/>
            </a:xfrm>
          </p:grpSpPr>
          <p:sp>
            <p:nvSpPr>
              <p:cNvPr id="71" name="Rectangle 4"/>
              <p:cNvSpPr>
                <a:spLocks noChangeArrowheads="1"/>
              </p:cNvSpPr>
              <p:nvPr>
                <p:custDataLst>
                  <p:tags r:id="rId1"/>
                </p:custDataLst>
              </p:nvPr>
            </p:nvSpPr>
            <p:spPr bwMode="auto">
              <a:xfrm>
                <a:off x="2853" y="2304"/>
                <a:ext cx="2544"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b.Ac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b.ed A</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e</a:t>
                </a:r>
                <a:endParaRPr lang="en-US" altLang="zh-CN" sz="2000" b="1">
                  <a:solidFill>
                    <a:srgbClr val="020001"/>
                  </a:solidFill>
                  <a:latin typeface="+mn-ea"/>
                </a:endParaRPr>
              </a:p>
            </p:txBody>
          </p:sp>
          <p:sp useBgFill="1">
            <p:nvSpPr>
              <p:cNvPr id="72" name="Oval 5"/>
              <p:cNvSpPr>
                <a:spLocks noChangeArrowheads="1"/>
              </p:cNvSpPr>
              <p:nvPr>
                <p:custDataLst>
                  <p:tags r:id="rId2"/>
                </p:custDataLst>
              </p:nvPr>
            </p:nvSpPr>
            <p:spPr bwMode="auto">
              <a:xfrm>
                <a:off x="2880" y="2352"/>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3</a:t>
                </a:r>
                <a:endParaRPr lang="zh-CN" altLang="en-US" sz="2000" b="1">
                  <a:solidFill>
                    <a:srgbClr val="020001"/>
                  </a:solidFill>
                  <a:latin typeface="+mn-ea"/>
                </a:endParaRPr>
              </a:p>
            </p:txBody>
          </p:sp>
        </p:grpSp>
        <p:grpSp>
          <p:nvGrpSpPr>
            <p:cNvPr id="9" name="Group 6"/>
            <p:cNvGrpSpPr/>
            <p:nvPr/>
          </p:nvGrpSpPr>
          <p:grpSpPr bwMode="auto">
            <a:xfrm>
              <a:off x="3813" y="1571"/>
              <a:ext cx="528" cy="253"/>
              <a:chOff x="3744" y="1331"/>
              <a:chExt cx="528" cy="253"/>
            </a:xfrm>
          </p:grpSpPr>
          <p:sp>
            <p:nvSpPr>
              <p:cNvPr id="69" name="Line 7"/>
              <p:cNvSpPr>
                <a:spLocks noChangeShapeType="1"/>
              </p:cNvSpPr>
              <p:nvPr>
                <p:custDataLst>
                  <p:tags r:id="rId3"/>
                </p:custDataLst>
              </p:nvPr>
            </p:nvSpPr>
            <p:spPr bwMode="auto">
              <a:xfrm>
                <a:off x="3744" y="1584"/>
                <a:ext cx="52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70" name="Text Box 8"/>
              <p:cNvSpPr txBox="1">
                <a:spLocks noChangeArrowheads="1"/>
              </p:cNvSpPr>
              <p:nvPr>
                <p:custDataLst>
                  <p:tags r:id="rId4"/>
                </p:custDataLst>
              </p:nvPr>
            </p:nvSpPr>
            <p:spPr bwMode="auto">
              <a:xfrm>
                <a:off x="3793" y="1331"/>
                <a:ext cx="20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S</a:t>
                </a:r>
                <a:endParaRPr lang="en-US" altLang="zh-CN" sz="2000" b="1">
                  <a:solidFill>
                    <a:srgbClr val="020001"/>
                  </a:solidFill>
                  <a:latin typeface="+mn-ea"/>
                </a:endParaRPr>
              </a:p>
            </p:txBody>
          </p:sp>
        </p:grpSp>
        <p:grpSp>
          <p:nvGrpSpPr>
            <p:cNvPr id="10" name="Group 9"/>
            <p:cNvGrpSpPr/>
            <p:nvPr/>
          </p:nvGrpSpPr>
          <p:grpSpPr bwMode="auto">
            <a:xfrm>
              <a:off x="1029" y="1763"/>
              <a:ext cx="459" cy="541"/>
              <a:chOff x="960" y="1572"/>
              <a:chExt cx="624" cy="492"/>
            </a:xfrm>
          </p:grpSpPr>
          <p:sp>
            <p:nvSpPr>
              <p:cNvPr id="66" name="Line 10"/>
              <p:cNvSpPr>
                <a:spLocks noChangeShapeType="1"/>
              </p:cNvSpPr>
              <p:nvPr>
                <p:custDataLst>
                  <p:tags r:id="rId5"/>
                </p:custDataLst>
              </p:nvPr>
            </p:nvSpPr>
            <p:spPr bwMode="auto">
              <a:xfrm flipH="1">
                <a:off x="960" y="1824"/>
                <a:ext cx="62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7" name="Line 11"/>
              <p:cNvSpPr>
                <a:spLocks noChangeShapeType="1"/>
              </p:cNvSpPr>
              <p:nvPr>
                <p:custDataLst>
                  <p:tags r:id="rId6"/>
                </p:custDataLst>
              </p:nvPr>
            </p:nvSpPr>
            <p:spPr bwMode="auto">
              <a:xfrm>
                <a:off x="960" y="1824"/>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8" name="Text Box 12"/>
              <p:cNvSpPr txBox="1">
                <a:spLocks noChangeArrowheads="1"/>
              </p:cNvSpPr>
              <p:nvPr>
                <p:custDataLst>
                  <p:tags r:id="rId7"/>
                </p:custDataLst>
              </p:nvPr>
            </p:nvSpPr>
            <p:spPr bwMode="auto">
              <a:xfrm>
                <a:off x="1047" y="1572"/>
                <a:ext cx="270"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a</a:t>
                </a:r>
                <a:endParaRPr lang="en-US" altLang="zh-CN" sz="2000" b="1">
                  <a:solidFill>
                    <a:srgbClr val="020001"/>
                  </a:solidFill>
                  <a:latin typeface="+mn-ea"/>
                </a:endParaRPr>
              </a:p>
            </p:txBody>
          </p:sp>
        </p:grpSp>
        <p:grpSp>
          <p:nvGrpSpPr>
            <p:cNvPr id="11" name="Group 13"/>
            <p:cNvGrpSpPr/>
            <p:nvPr/>
          </p:nvGrpSpPr>
          <p:grpSpPr bwMode="auto">
            <a:xfrm>
              <a:off x="3813" y="1982"/>
              <a:ext cx="490" cy="338"/>
              <a:chOff x="3840" y="2080"/>
              <a:chExt cx="490" cy="272"/>
            </a:xfrm>
          </p:grpSpPr>
          <p:sp>
            <p:nvSpPr>
              <p:cNvPr id="63" name="Line 14"/>
              <p:cNvSpPr>
                <a:spLocks noChangeShapeType="1"/>
              </p:cNvSpPr>
              <p:nvPr>
                <p:custDataLst>
                  <p:tags r:id="rId8"/>
                </p:custDataLst>
              </p:nvPr>
            </p:nvSpPr>
            <p:spPr bwMode="auto">
              <a:xfrm>
                <a:off x="4128" y="2112"/>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4" name="Line 15"/>
              <p:cNvSpPr>
                <a:spLocks noChangeShapeType="1"/>
              </p:cNvSpPr>
              <p:nvPr>
                <p:custDataLst>
                  <p:tags r:id="rId9"/>
                </p:custDataLst>
              </p:nvPr>
            </p:nvSpPr>
            <p:spPr bwMode="auto">
              <a:xfrm>
                <a:off x="3840" y="2112"/>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5" name="Text Box 16"/>
              <p:cNvSpPr txBox="1">
                <a:spLocks noChangeArrowheads="1"/>
              </p:cNvSpPr>
              <p:nvPr>
                <p:custDataLst>
                  <p:tags r:id="rId10"/>
                </p:custDataLst>
              </p:nvPr>
            </p:nvSpPr>
            <p:spPr bwMode="auto">
              <a:xfrm>
                <a:off x="4118" y="2080"/>
                <a:ext cx="21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b</a:t>
                </a:r>
                <a:endParaRPr lang="en-US" altLang="zh-CN" sz="2000" b="1">
                  <a:solidFill>
                    <a:srgbClr val="020001"/>
                  </a:solidFill>
                  <a:latin typeface="+mn-ea"/>
                </a:endParaRPr>
              </a:p>
            </p:txBody>
          </p:sp>
        </p:grpSp>
        <p:sp>
          <p:nvSpPr>
            <p:cNvPr id="13" name="Rectangle 17"/>
            <p:cNvSpPr>
              <a:spLocks noChangeArrowheads="1"/>
            </p:cNvSpPr>
            <p:nvPr>
              <p:custDataLst>
                <p:tags r:id="rId11"/>
              </p:custDataLst>
            </p:nvPr>
          </p:nvSpPr>
          <p:spPr bwMode="auto">
            <a:xfrm>
              <a:off x="213" y="2304"/>
              <a:ext cx="2352"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a.Ad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a.ec  A</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.e</a:t>
              </a:r>
              <a:endParaRPr lang="en-US" altLang="zh-CN" sz="2000" b="1">
                <a:solidFill>
                  <a:srgbClr val="020001"/>
                </a:solidFill>
                <a:latin typeface="+mn-ea"/>
              </a:endParaRPr>
            </a:p>
          </p:txBody>
        </p:sp>
        <p:grpSp>
          <p:nvGrpSpPr>
            <p:cNvPr id="14" name="Group 18"/>
            <p:cNvGrpSpPr/>
            <p:nvPr/>
          </p:nvGrpSpPr>
          <p:grpSpPr bwMode="auto">
            <a:xfrm>
              <a:off x="592" y="2509"/>
              <a:ext cx="261" cy="371"/>
              <a:chOff x="384" y="2319"/>
              <a:chExt cx="261" cy="321"/>
            </a:xfrm>
          </p:grpSpPr>
          <p:sp>
            <p:nvSpPr>
              <p:cNvPr id="61" name="Line 19"/>
              <p:cNvSpPr>
                <a:spLocks noChangeShapeType="1"/>
              </p:cNvSpPr>
              <p:nvPr>
                <p:custDataLst>
                  <p:tags r:id="rId12"/>
                </p:custDataLst>
              </p:nvPr>
            </p:nvSpPr>
            <p:spPr bwMode="auto">
              <a:xfrm>
                <a:off x="384" y="2400"/>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2" name="Text Box 20"/>
              <p:cNvSpPr txBox="1">
                <a:spLocks noChangeArrowheads="1"/>
              </p:cNvSpPr>
              <p:nvPr>
                <p:custDataLst>
                  <p:tags r:id="rId13"/>
                </p:custDataLst>
              </p:nvPr>
            </p:nvSpPr>
            <p:spPr bwMode="auto">
              <a:xfrm>
                <a:off x="422" y="2319"/>
                <a:ext cx="22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A</a:t>
                </a:r>
                <a:endParaRPr lang="en-US" altLang="zh-CN" sz="2000" b="1">
                  <a:solidFill>
                    <a:srgbClr val="020001"/>
                  </a:solidFill>
                  <a:latin typeface="+mn-ea"/>
                </a:endParaRPr>
              </a:p>
            </p:txBody>
          </p:sp>
        </p:grpSp>
        <p:grpSp>
          <p:nvGrpSpPr>
            <p:cNvPr id="15" name="Group 21"/>
            <p:cNvGrpSpPr/>
            <p:nvPr/>
          </p:nvGrpSpPr>
          <p:grpSpPr bwMode="auto">
            <a:xfrm>
              <a:off x="2137" y="2509"/>
              <a:ext cx="200" cy="371"/>
              <a:chOff x="2064" y="2319"/>
              <a:chExt cx="209" cy="321"/>
            </a:xfrm>
          </p:grpSpPr>
          <p:sp>
            <p:nvSpPr>
              <p:cNvPr id="59" name="Line 22"/>
              <p:cNvSpPr>
                <a:spLocks noChangeShapeType="1"/>
              </p:cNvSpPr>
              <p:nvPr>
                <p:custDataLst>
                  <p:tags r:id="rId14"/>
                </p:custDataLst>
              </p:nvPr>
            </p:nvSpPr>
            <p:spPr bwMode="auto">
              <a:xfrm>
                <a:off x="2064" y="2400"/>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60" name="Text Box 23"/>
              <p:cNvSpPr txBox="1">
                <a:spLocks noChangeArrowheads="1"/>
              </p:cNvSpPr>
              <p:nvPr>
                <p:custDataLst>
                  <p:tags r:id="rId15"/>
                </p:custDataLst>
              </p:nvPr>
            </p:nvSpPr>
            <p:spPr bwMode="auto">
              <a:xfrm>
                <a:off x="2064" y="2319"/>
                <a:ext cx="209"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e</a:t>
                </a:r>
                <a:endParaRPr lang="en-US" altLang="zh-CN" sz="2000" b="1">
                  <a:solidFill>
                    <a:srgbClr val="020001"/>
                  </a:solidFill>
                  <a:latin typeface="+mn-ea"/>
                </a:endParaRPr>
              </a:p>
            </p:txBody>
          </p:sp>
        </p:grpSp>
        <p:sp>
          <p:nvSpPr>
            <p:cNvPr id="16" name="Rectangle 24"/>
            <p:cNvSpPr>
              <a:spLocks noChangeArrowheads="1"/>
            </p:cNvSpPr>
            <p:nvPr>
              <p:custDataLst>
                <p:tags r:id="rId16"/>
              </p:custDataLst>
            </p:nvPr>
          </p:nvSpPr>
          <p:spPr bwMode="auto">
            <a:xfrm>
              <a:off x="117" y="2880"/>
              <a:ext cx="1008"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aA.d</a:t>
              </a:r>
              <a:endParaRPr lang="en-US" altLang="zh-CN" sz="2000" b="1">
                <a:solidFill>
                  <a:srgbClr val="020001"/>
                </a:solidFill>
                <a:latin typeface="+mn-ea"/>
              </a:endParaRPr>
            </a:p>
          </p:txBody>
        </p:sp>
        <p:sp>
          <p:nvSpPr>
            <p:cNvPr id="17" name="Rectangle 25"/>
            <p:cNvSpPr>
              <a:spLocks noChangeArrowheads="1"/>
            </p:cNvSpPr>
            <p:nvPr>
              <p:custDataLst>
                <p:tags r:id="rId17"/>
              </p:custDataLst>
            </p:nvPr>
          </p:nvSpPr>
          <p:spPr bwMode="auto">
            <a:xfrm>
              <a:off x="1317" y="2880"/>
              <a:ext cx="1584"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ae.c  A</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e.</a:t>
              </a:r>
              <a:endParaRPr lang="en-US" altLang="zh-CN" sz="2000" b="1">
                <a:solidFill>
                  <a:srgbClr val="020001"/>
                </a:solidFill>
                <a:latin typeface="+mn-ea"/>
              </a:endParaRPr>
            </a:p>
          </p:txBody>
        </p:sp>
        <p:grpSp>
          <p:nvGrpSpPr>
            <p:cNvPr id="18" name="Group 26"/>
            <p:cNvGrpSpPr/>
            <p:nvPr/>
          </p:nvGrpSpPr>
          <p:grpSpPr bwMode="auto">
            <a:xfrm>
              <a:off x="3467" y="2531"/>
              <a:ext cx="223" cy="349"/>
              <a:chOff x="3398" y="2291"/>
              <a:chExt cx="223" cy="349"/>
            </a:xfrm>
          </p:grpSpPr>
          <p:sp>
            <p:nvSpPr>
              <p:cNvPr id="57" name="Line 27"/>
              <p:cNvSpPr>
                <a:spLocks noChangeShapeType="1"/>
              </p:cNvSpPr>
              <p:nvPr>
                <p:custDataLst>
                  <p:tags r:id="rId18"/>
                </p:custDataLst>
              </p:nvPr>
            </p:nvSpPr>
            <p:spPr bwMode="auto">
              <a:xfrm>
                <a:off x="3408" y="2352"/>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58" name="Text Box 28"/>
              <p:cNvSpPr txBox="1">
                <a:spLocks noChangeArrowheads="1"/>
              </p:cNvSpPr>
              <p:nvPr>
                <p:custDataLst>
                  <p:tags r:id="rId19"/>
                </p:custDataLst>
              </p:nvPr>
            </p:nvSpPr>
            <p:spPr bwMode="auto">
              <a:xfrm>
                <a:off x="3398" y="2291"/>
                <a:ext cx="2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A</a:t>
                </a:r>
                <a:endParaRPr lang="en-US" altLang="zh-CN" sz="2000" b="1">
                  <a:solidFill>
                    <a:srgbClr val="020001"/>
                  </a:solidFill>
                  <a:latin typeface="+mn-ea"/>
                </a:endParaRPr>
              </a:p>
            </p:txBody>
          </p:sp>
        </p:grpSp>
        <p:grpSp>
          <p:nvGrpSpPr>
            <p:cNvPr id="19" name="Group 29"/>
            <p:cNvGrpSpPr/>
            <p:nvPr/>
          </p:nvGrpSpPr>
          <p:grpSpPr bwMode="auto">
            <a:xfrm>
              <a:off x="4869" y="2557"/>
              <a:ext cx="200" cy="323"/>
              <a:chOff x="4646" y="2317"/>
              <a:chExt cx="200" cy="323"/>
            </a:xfrm>
          </p:grpSpPr>
          <p:sp>
            <p:nvSpPr>
              <p:cNvPr id="55" name="Line 30"/>
              <p:cNvSpPr>
                <a:spLocks noChangeShapeType="1"/>
              </p:cNvSpPr>
              <p:nvPr>
                <p:custDataLst>
                  <p:tags r:id="rId20"/>
                </p:custDataLst>
              </p:nvPr>
            </p:nvSpPr>
            <p:spPr bwMode="auto">
              <a:xfrm>
                <a:off x="4656" y="2352"/>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56" name="Text Box 31"/>
              <p:cNvSpPr txBox="1">
                <a:spLocks noChangeArrowheads="1"/>
              </p:cNvSpPr>
              <p:nvPr>
                <p:custDataLst>
                  <p:tags r:id="rId21"/>
                </p:custDataLst>
              </p:nvPr>
            </p:nvSpPr>
            <p:spPr bwMode="auto">
              <a:xfrm>
                <a:off x="4646" y="2317"/>
                <a:ext cx="20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e</a:t>
                </a:r>
                <a:endParaRPr lang="en-US" altLang="zh-CN" sz="2000" b="1">
                  <a:solidFill>
                    <a:srgbClr val="020001"/>
                  </a:solidFill>
                  <a:latin typeface="+mn-ea"/>
                </a:endParaRPr>
              </a:p>
            </p:txBody>
          </p:sp>
        </p:grpSp>
        <p:sp>
          <p:nvSpPr>
            <p:cNvPr id="20" name="Rectangle 32"/>
            <p:cNvSpPr>
              <a:spLocks noChangeArrowheads="1"/>
            </p:cNvSpPr>
            <p:nvPr>
              <p:custDataLst>
                <p:tags r:id="rId22"/>
              </p:custDataLst>
            </p:nvPr>
          </p:nvSpPr>
          <p:spPr bwMode="auto">
            <a:xfrm>
              <a:off x="2949" y="2880"/>
              <a:ext cx="1056"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bA.c</a:t>
              </a:r>
              <a:endParaRPr lang="en-US" altLang="zh-CN" sz="2000" b="1">
                <a:solidFill>
                  <a:srgbClr val="020001"/>
                </a:solidFill>
                <a:latin typeface="+mn-ea"/>
              </a:endParaRPr>
            </a:p>
          </p:txBody>
        </p:sp>
        <p:sp>
          <p:nvSpPr>
            <p:cNvPr id="21" name="Rectangle 33"/>
            <p:cNvSpPr>
              <a:spLocks noChangeArrowheads="1"/>
            </p:cNvSpPr>
            <p:nvPr>
              <p:custDataLst>
                <p:tags r:id="rId23"/>
              </p:custDataLst>
            </p:nvPr>
          </p:nvSpPr>
          <p:spPr bwMode="auto">
            <a:xfrm>
              <a:off x="4149" y="2880"/>
              <a:ext cx="1488" cy="2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be.d A</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e.</a:t>
              </a:r>
              <a:endParaRPr lang="en-US" altLang="zh-CN" sz="2000" b="1">
                <a:solidFill>
                  <a:srgbClr val="020001"/>
                </a:solidFill>
                <a:latin typeface="+mn-ea"/>
              </a:endParaRPr>
            </a:p>
          </p:txBody>
        </p:sp>
        <p:grpSp>
          <p:nvGrpSpPr>
            <p:cNvPr id="22" name="Group 34"/>
            <p:cNvGrpSpPr/>
            <p:nvPr/>
          </p:nvGrpSpPr>
          <p:grpSpPr bwMode="auto">
            <a:xfrm>
              <a:off x="625" y="3107"/>
              <a:ext cx="212" cy="397"/>
              <a:chOff x="518" y="2917"/>
              <a:chExt cx="212" cy="347"/>
            </a:xfrm>
          </p:grpSpPr>
          <p:sp>
            <p:nvSpPr>
              <p:cNvPr id="52" name="Line 35"/>
              <p:cNvSpPr>
                <a:spLocks noChangeShapeType="1"/>
              </p:cNvSpPr>
              <p:nvPr>
                <p:custDataLst>
                  <p:tags r:id="rId24"/>
                </p:custDataLst>
              </p:nvPr>
            </p:nvSpPr>
            <p:spPr bwMode="auto">
              <a:xfrm>
                <a:off x="528" y="297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53" name="Text Box 36"/>
              <p:cNvSpPr txBox="1">
                <a:spLocks noChangeArrowheads="1"/>
              </p:cNvSpPr>
              <p:nvPr>
                <p:custDataLst>
                  <p:tags r:id="rId25"/>
                </p:custDataLst>
              </p:nvPr>
            </p:nvSpPr>
            <p:spPr bwMode="auto">
              <a:xfrm>
                <a:off x="518" y="2917"/>
                <a:ext cx="212"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d</a:t>
                </a:r>
                <a:endParaRPr lang="en-US" altLang="zh-CN" sz="2000" b="1">
                  <a:solidFill>
                    <a:srgbClr val="020001"/>
                  </a:solidFill>
                  <a:latin typeface="+mn-ea"/>
                </a:endParaRPr>
              </a:p>
            </p:txBody>
          </p:sp>
        </p:grpSp>
        <p:grpSp>
          <p:nvGrpSpPr>
            <p:cNvPr id="23" name="Group 37"/>
            <p:cNvGrpSpPr/>
            <p:nvPr/>
          </p:nvGrpSpPr>
          <p:grpSpPr bwMode="auto">
            <a:xfrm>
              <a:off x="2133" y="3086"/>
              <a:ext cx="190" cy="418"/>
              <a:chOff x="2064" y="2895"/>
              <a:chExt cx="190" cy="369"/>
            </a:xfrm>
          </p:grpSpPr>
          <p:sp>
            <p:nvSpPr>
              <p:cNvPr id="50" name="Line 38"/>
              <p:cNvSpPr>
                <a:spLocks noChangeShapeType="1"/>
              </p:cNvSpPr>
              <p:nvPr>
                <p:custDataLst>
                  <p:tags r:id="rId26"/>
                </p:custDataLst>
              </p:nvPr>
            </p:nvSpPr>
            <p:spPr bwMode="auto">
              <a:xfrm>
                <a:off x="2064" y="297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51" name="Text Box 39"/>
              <p:cNvSpPr txBox="1">
                <a:spLocks noChangeArrowheads="1"/>
              </p:cNvSpPr>
              <p:nvPr>
                <p:custDataLst>
                  <p:tags r:id="rId27"/>
                </p:custDataLst>
              </p:nvPr>
            </p:nvSpPr>
            <p:spPr bwMode="auto">
              <a:xfrm>
                <a:off x="2064" y="2895"/>
                <a:ext cx="19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c</a:t>
                </a:r>
                <a:endParaRPr lang="en-US" altLang="zh-CN" sz="2000" b="1">
                  <a:solidFill>
                    <a:srgbClr val="020001"/>
                  </a:solidFill>
                  <a:latin typeface="+mn-ea"/>
                </a:endParaRPr>
              </a:p>
            </p:txBody>
          </p:sp>
        </p:grpSp>
        <p:grpSp>
          <p:nvGrpSpPr>
            <p:cNvPr id="24" name="Group 40"/>
            <p:cNvGrpSpPr/>
            <p:nvPr/>
          </p:nvGrpSpPr>
          <p:grpSpPr bwMode="auto">
            <a:xfrm>
              <a:off x="3477" y="3086"/>
              <a:ext cx="190" cy="418"/>
              <a:chOff x="3399" y="2895"/>
              <a:chExt cx="199" cy="369"/>
            </a:xfrm>
          </p:grpSpPr>
          <p:sp>
            <p:nvSpPr>
              <p:cNvPr id="48" name="Line 41"/>
              <p:cNvSpPr>
                <a:spLocks noChangeShapeType="1"/>
              </p:cNvSpPr>
              <p:nvPr>
                <p:custDataLst>
                  <p:tags r:id="rId28"/>
                </p:custDataLst>
              </p:nvPr>
            </p:nvSpPr>
            <p:spPr bwMode="auto">
              <a:xfrm>
                <a:off x="3408" y="297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49" name="Text Box 42"/>
              <p:cNvSpPr txBox="1">
                <a:spLocks noChangeArrowheads="1"/>
              </p:cNvSpPr>
              <p:nvPr>
                <p:custDataLst>
                  <p:tags r:id="rId29"/>
                </p:custDataLst>
              </p:nvPr>
            </p:nvSpPr>
            <p:spPr bwMode="auto">
              <a:xfrm>
                <a:off x="3399" y="2895"/>
                <a:ext cx="19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c</a:t>
                </a:r>
                <a:endParaRPr lang="en-US" altLang="zh-CN" sz="2000" b="1">
                  <a:solidFill>
                    <a:srgbClr val="020001"/>
                  </a:solidFill>
                  <a:latin typeface="+mn-ea"/>
                </a:endParaRPr>
              </a:p>
            </p:txBody>
          </p:sp>
        </p:grpSp>
        <p:grpSp>
          <p:nvGrpSpPr>
            <p:cNvPr id="25" name="Group 43"/>
            <p:cNvGrpSpPr/>
            <p:nvPr/>
          </p:nvGrpSpPr>
          <p:grpSpPr bwMode="auto">
            <a:xfrm>
              <a:off x="4917" y="3107"/>
              <a:ext cx="212" cy="397"/>
              <a:chOff x="4838" y="2917"/>
              <a:chExt cx="223" cy="347"/>
            </a:xfrm>
          </p:grpSpPr>
          <p:sp>
            <p:nvSpPr>
              <p:cNvPr id="45" name="Line 44"/>
              <p:cNvSpPr>
                <a:spLocks noChangeShapeType="1"/>
              </p:cNvSpPr>
              <p:nvPr>
                <p:custDataLst>
                  <p:tags r:id="rId30"/>
                </p:custDataLst>
              </p:nvPr>
            </p:nvSpPr>
            <p:spPr bwMode="auto">
              <a:xfrm>
                <a:off x="4848" y="297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1600" b="1">
                  <a:latin typeface="+mn-ea"/>
                </a:endParaRPr>
              </a:p>
            </p:txBody>
          </p:sp>
          <p:sp>
            <p:nvSpPr>
              <p:cNvPr id="46" name="Text Box 45"/>
              <p:cNvSpPr txBox="1">
                <a:spLocks noChangeArrowheads="1"/>
              </p:cNvSpPr>
              <p:nvPr>
                <p:custDataLst>
                  <p:tags r:id="rId31"/>
                </p:custDataLst>
              </p:nvPr>
            </p:nvSpPr>
            <p:spPr bwMode="auto">
              <a:xfrm>
                <a:off x="4838" y="2917"/>
                <a:ext cx="22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000" b="1">
                    <a:solidFill>
                      <a:srgbClr val="020001"/>
                    </a:solidFill>
                    <a:latin typeface="+mn-ea"/>
                  </a:rPr>
                  <a:t>d</a:t>
                </a:r>
                <a:endParaRPr lang="en-US" altLang="zh-CN" sz="2000" b="1">
                  <a:solidFill>
                    <a:srgbClr val="020001"/>
                  </a:solidFill>
                  <a:latin typeface="+mn-ea"/>
                </a:endParaRPr>
              </a:p>
            </p:txBody>
          </p:sp>
        </p:grpSp>
        <p:sp>
          <p:nvSpPr>
            <p:cNvPr id="26" name="Rectangle 46"/>
            <p:cNvSpPr>
              <a:spLocks noChangeArrowheads="1"/>
            </p:cNvSpPr>
            <p:nvPr>
              <p:custDataLst>
                <p:tags r:id="rId32"/>
              </p:custDataLst>
            </p:nvPr>
          </p:nvSpPr>
          <p:spPr bwMode="auto">
            <a:xfrm>
              <a:off x="117" y="3504"/>
              <a:ext cx="105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aAd.</a:t>
              </a:r>
              <a:endParaRPr lang="en-US" altLang="zh-CN" sz="2000" b="1">
                <a:solidFill>
                  <a:srgbClr val="020001"/>
                </a:solidFill>
                <a:latin typeface="+mn-ea"/>
              </a:endParaRPr>
            </a:p>
          </p:txBody>
        </p:sp>
        <p:sp>
          <p:nvSpPr>
            <p:cNvPr id="27" name="Rectangle 47"/>
            <p:cNvSpPr>
              <a:spLocks noChangeArrowheads="1"/>
            </p:cNvSpPr>
            <p:nvPr>
              <p:custDataLst>
                <p:tags r:id="rId33"/>
              </p:custDataLst>
            </p:nvPr>
          </p:nvSpPr>
          <p:spPr bwMode="auto">
            <a:xfrm>
              <a:off x="1557" y="3504"/>
              <a:ext cx="1152"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aec.</a:t>
              </a:r>
              <a:endParaRPr lang="en-US" altLang="zh-CN" sz="2000" b="1">
                <a:solidFill>
                  <a:srgbClr val="020001"/>
                </a:solidFill>
                <a:latin typeface="+mn-ea"/>
              </a:endParaRPr>
            </a:p>
          </p:txBody>
        </p:sp>
        <p:sp>
          <p:nvSpPr>
            <p:cNvPr id="28" name="Rectangle 48"/>
            <p:cNvSpPr>
              <a:spLocks noChangeArrowheads="1"/>
            </p:cNvSpPr>
            <p:nvPr>
              <p:custDataLst>
                <p:tags r:id="rId34"/>
              </p:custDataLst>
            </p:nvPr>
          </p:nvSpPr>
          <p:spPr bwMode="auto">
            <a:xfrm>
              <a:off x="2853" y="3504"/>
              <a:ext cx="12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bAc.</a:t>
              </a:r>
              <a:endParaRPr lang="en-US" altLang="zh-CN" sz="2000" b="1">
                <a:solidFill>
                  <a:srgbClr val="020001"/>
                </a:solidFill>
                <a:latin typeface="+mn-ea"/>
              </a:endParaRPr>
            </a:p>
          </p:txBody>
        </p:sp>
        <p:sp>
          <p:nvSpPr>
            <p:cNvPr id="29" name="Rectangle 49"/>
            <p:cNvSpPr>
              <a:spLocks noChangeArrowheads="1"/>
            </p:cNvSpPr>
            <p:nvPr>
              <p:custDataLst>
                <p:tags r:id="rId35"/>
              </p:custDataLst>
            </p:nvPr>
          </p:nvSpPr>
          <p:spPr bwMode="auto">
            <a:xfrm>
              <a:off x="4341" y="3504"/>
              <a:ext cx="1104"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bed.</a:t>
              </a:r>
              <a:endParaRPr lang="en-US" altLang="zh-CN" sz="2000" b="1">
                <a:solidFill>
                  <a:srgbClr val="020001"/>
                </a:solidFill>
                <a:latin typeface="+mn-ea"/>
              </a:endParaRPr>
            </a:p>
          </p:txBody>
        </p:sp>
        <p:grpSp>
          <p:nvGrpSpPr>
            <p:cNvPr id="30" name="Group 50"/>
            <p:cNvGrpSpPr/>
            <p:nvPr/>
          </p:nvGrpSpPr>
          <p:grpSpPr bwMode="auto">
            <a:xfrm>
              <a:off x="1344" y="1584"/>
              <a:ext cx="2469" cy="528"/>
              <a:chOff x="1344" y="1584"/>
              <a:chExt cx="2469" cy="528"/>
            </a:xfrm>
          </p:grpSpPr>
          <p:sp>
            <p:nvSpPr>
              <p:cNvPr id="43" name="Rectangle 51"/>
              <p:cNvSpPr>
                <a:spLocks noChangeArrowheads="1"/>
              </p:cNvSpPr>
              <p:nvPr>
                <p:custDataLst>
                  <p:tags r:id="rId36"/>
                </p:custDataLst>
              </p:nvPr>
            </p:nvSpPr>
            <p:spPr bwMode="auto">
              <a:xfrm>
                <a:off x="1488" y="1632"/>
                <a:ext cx="2325" cy="4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.S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aAd</a:t>
                </a:r>
                <a:endParaRPr lang="en-US" altLang="zh-CN" sz="2000" b="1">
                  <a:solidFill>
                    <a:srgbClr val="020001"/>
                  </a:solidFill>
                  <a:latin typeface="+mn-ea"/>
                </a:endParaRPr>
              </a:p>
              <a:p>
                <a:r>
                  <a:rPr lang="en-US" altLang="zh-CN" sz="2000" b="1">
                    <a:solidFill>
                      <a:srgbClr val="020001"/>
                    </a:solidFill>
                    <a:latin typeface="+mn-ea"/>
                  </a:rPr>
                  <a:t>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bAc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.aec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bed</a:t>
                </a:r>
                <a:endParaRPr lang="en-US" altLang="zh-CN" sz="2000" b="1">
                  <a:solidFill>
                    <a:srgbClr val="020001"/>
                  </a:solidFill>
                  <a:latin typeface="+mn-ea"/>
                </a:endParaRPr>
              </a:p>
            </p:txBody>
          </p:sp>
          <p:sp useBgFill="1">
            <p:nvSpPr>
              <p:cNvPr id="44" name="Oval 52"/>
              <p:cNvSpPr>
                <a:spLocks noChangeArrowheads="1"/>
              </p:cNvSpPr>
              <p:nvPr>
                <p:custDataLst>
                  <p:tags r:id="rId37"/>
                </p:custDataLst>
              </p:nvPr>
            </p:nvSpPr>
            <p:spPr bwMode="auto">
              <a:xfrm>
                <a:off x="1344" y="1584"/>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0</a:t>
                </a:r>
                <a:endParaRPr lang="zh-CN" altLang="en-US" sz="2000" b="1">
                  <a:solidFill>
                    <a:srgbClr val="020001"/>
                  </a:solidFill>
                  <a:latin typeface="+mn-ea"/>
                </a:endParaRPr>
              </a:p>
            </p:txBody>
          </p:sp>
        </p:grpSp>
        <p:sp useBgFill="1">
          <p:nvSpPr>
            <p:cNvPr id="31" name="Oval 53"/>
            <p:cNvSpPr>
              <a:spLocks noChangeArrowheads="1"/>
            </p:cNvSpPr>
            <p:nvPr>
              <p:custDataLst>
                <p:tags r:id="rId38"/>
              </p:custDataLst>
            </p:nvPr>
          </p:nvSpPr>
          <p:spPr bwMode="auto">
            <a:xfrm>
              <a:off x="144" y="2256"/>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2</a:t>
              </a:r>
              <a:endParaRPr lang="zh-CN" altLang="en-US" sz="2000" b="1">
                <a:solidFill>
                  <a:srgbClr val="020001"/>
                </a:solidFill>
                <a:latin typeface="+mn-ea"/>
              </a:endParaRPr>
            </a:p>
          </p:txBody>
        </p:sp>
        <p:sp useBgFill="1">
          <p:nvSpPr>
            <p:cNvPr id="32" name="Oval 54"/>
            <p:cNvSpPr>
              <a:spLocks noChangeArrowheads="1"/>
            </p:cNvSpPr>
            <p:nvPr>
              <p:custDataLst>
                <p:tags r:id="rId39"/>
              </p:custDataLst>
            </p:nvPr>
          </p:nvSpPr>
          <p:spPr bwMode="auto">
            <a:xfrm>
              <a:off x="96" y="2784"/>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4</a:t>
              </a:r>
              <a:endParaRPr lang="zh-CN" altLang="en-US" sz="2000" b="1">
                <a:solidFill>
                  <a:srgbClr val="020001"/>
                </a:solidFill>
                <a:latin typeface="+mn-ea"/>
              </a:endParaRPr>
            </a:p>
          </p:txBody>
        </p:sp>
        <p:sp useBgFill="1">
          <p:nvSpPr>
            <p:cNvPr id="33" name="Oval 55"/>
            <p:cNvSpPr>
              <a:spLocks noChangeArrowheads="1"/>
            </p:cNvSpPr>
            <p:nvPr>
              <p:custDataLst>
                <p:tags r:id="rId40"/>
              </p:custDataLst>
            </p:nvPr>
          </p:nvSpPr>
          <p:spPr bwMode="auto">
            <a:xfrm>
              <a:off x="144" y="3408"/>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8</a:t>
              </a:r>
              <a:endParaRPr lang="zh-CN" altLang="en-US" sz="2000" b="1">
                <a:solidFill>
                  <a:srgbClr val="020001"/>
                </a:solidFill>
                <a:latin typeface="+mn-ea"/>
              </a:endParaRPr>
            </a:p>
          </p:txBody>
        </p:sp>
        <p:sp useBgFill="1">
          <p:nvSpPr>
            <p:cNvPr id="34" name="Oval 56"/>
            <p:cNvSpPr>
              <a:spLocks noChangeArrowheads="1"/>
            </p:cNvSpPr>
            <p:nvPr>
              <p:custDataLst>
                <p:tags r:id="rId41"/>
              </p:custDataLst>
            </p:nvPr>
          </p:nvSpPr>
          <p:spPr bwMode="auto">
            <a:xfrm>
              <a:off x="1488" y="3504"/>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9</a:t>
              </a:r>
              <a:endParaRPr lang="zh-CN" altLang="en-US" sz="2000" b="1">
                <a:solidFill>
                  <a:srgbClr val="020001"/>
                </a:solidFill>
                <a:latin typeface="+mn-ea"/>
              </a:endParaRPr>
            </a:p>
          </p:txBody>
        </p:sp>
        <p:sp useBgFill="1">
          <p:nvSpPr>
            <p:cNvPr id="35" name="Oval 57"/>
            <p:cNvSpPr>
              <a:spLocks noChangeArrowheads="1"/>
            </p:cNvSpPr>
            <p:nvPr>
              <p:custDataLst>
                <p:tags r:id="rId42"/>
              </p:custDataLst>
            </p:nvPr>
          </p:nvSpPr>
          <p:spPr bwMode="auto">
            <a:xfrm>
              <a:off x="2832" y="3408"/>
              <a:ext cx="192" cy="192"/>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10</a:t>
              </a:r>
              <a:endParaRPr lang="zh-CN" altLang="en-US" sz="2000" b="1">
                <a:solidFill>
                  <a:srgbClr val="020001"/>
                </a:solidFill>
                <a:latin typeface="+mn-ea"/>
              </a:endParaRPr>
            </a:p>
          </p:txBody>
        </p:sp>
        <p:sp useBgFill="1">
          <p:nvSpPr>
            <p:cNvPr id="36" name="Oval 58"/>
            <p:cNvSpPr>
              <a:spLocks noChangeArrowheads="1"/>
            </p:cNvSpPr>
            <p:nvPr>
              <p:custDataLst>
                <p:tags r:id="rId43"/>
              </p:custDataLst>
            </p:nvPr>
          </p:nvSpPr>
          <p:spPr bwMode="auto">
            <a:xfrm>
              <a:off x="4272" y="3456"/>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11</a:t>
              </a:r>
              <a:endParaRPr lang="zh-CN" altLang="en-US" sz="2000" b="1">
                <a:solidFill>
                  <a:srgbClr val="020001"/>
                </a:solidFill>
                <a:latin typeface="+mn-ea"/>
              </a:endParaRPr>
            </a:p>
          </p:txBody>
        </p:sp>
        <p:sp useBgFill="1">
          <p:nvSpPr>
            <p:cNvPr id="37" name="Oval 59"/>
            <p:cNvSpPr>
              <a:spLocks noChangeArrowheads="1"/>
            </p:cNvSpPr>
            <p:nvPr>
              <p:custDataLst>
                <p:tags r:id="rId44"/>
              </p:custDataLst>
            </p:nvPr>
          </p:nvSpPr>
          <p:spPr bwMode="auto">
            <a:xfrm>
              <a:off x="1344" y="2832"/>
              <a:ext cx="144" cy="144"/>
            </a:xfrm>
            <a:prstGeom prst="ellipse">
              <a:avLst/>
            </a:prstGeom>
            <a:ln w="9525">
              <a:solidFill>
                <a:srgbClr val="020001"/>
              </a:solidFill>
              <a:miter lim="800000"/>
            </a:ln>
          </p:spPr>
          <p:txBody>
            <a:bodyPr wrap="none" anchor="ctr"/>
            <a:p>
              <a:pPr algn="ctr"/>
              <a:r>
                <a:rPr lang="en-US" altLang="zh-CN" sz="2000" b="1">
                  <a:solidFill>
                    <a:srgbClr val="020001"/>
                  </a:solidFill>
                  <a:latin typeface="+mn-ea"/>
                </a:rPr>
                <a:t>5</a:t>
              </a:r>
              <a:endParaRPr lang="zh-CN" altLang="en-US" sz="2000" b="1">
                <a:solidFill>
                  <a:srgbClr val="020001"/>
                </a:solidFill>
                <a:latin typeface="+mn-ea"/>
              </a:endParaRPr>
            </a:p>
          </p:txBody>
        </p:sp>
        <p:sp useBgFill="1">
          <p:nvSpPr>
            <p:cNvPr id="38" name="Oval 60"/>
            <p:cNvSpPr>
              <a:spLocks noChangeArrowheads="1"/>
            </p:cNvSpPr>
            <p:nvPr>
              <p:custDataLst>
                <p:tags r:id="rId45"/>
              </p:custDataLst>
            </p:nvPr>
          </p:nvSpPr>
          <p:spPr bwMode="auto">
            <a:xfrm>
              <a:off x="2928" y="2928"/>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6</a:t>
              </a:r>
              <a:endParaRPr lang="zh-CN" altLang="en-US" sz="2000" b="1">
                <a:solidFill>
                  <a:srgbClr val="020001"/>
                </a:solidFill>
                <a:latin typeface="+mn-ea"/>
              </a:endParaRPr>
            </a:p>
          </p:txBody>
        </p:sp>
        <p:sp useBgFill="1">
          <p:nvSpPr>
            <p:cNvPr id="39" name="Oval 61"/>
            <p:cNvSpPr>
              <a:spLocks noChangeArrowheads="1"/>
            </p:cNvSpPr>
            <p:nvPr>
              <p:custDataLst>
                <p:tags r:id="rId46"/>
              </p:custDataLst>
            </p:nvPr>
          </p:nvSpPr>
          <p:spPr bwMode="auto">
            <a:xfrm>
              <a:off x="4128" y="2928"/>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7</a:t>
              </a:r>
              <a:endParaRPr lang="zh-CN" altLang="en-US" sz="2000" b="1">
                <a:solidFill>
                  <a:srgbClr val="020001"/>
                </a:solidFill>
                <a:latin typeface="+mn-ea"/>
              </a:endParaRPr>
            </a:p>
          </p:txBody>
        </p:sp>
        <p:grpSp>
          <p:nvGrpSpPr>
            <p:cNvPr id="40" name="Group 62"/>
            <p:cNvGrpSpPr/>
            <p:nvPr/>
          </p:nvGrpSpPr>
          <p:grpSpPr bwMode="auto">
            <a:xfrm>
              <a:off x="4341" y="1680"/>
              <a:ext cx="1083" cy="336"/>
              <a:chOff x="4341" y="1680"/>
              <a:chExt cx="1083" cy="336"/>
            </a:xfrm>
          </p:grpSpPr>
          <p:sp>
            <p:nvSpPr>
              <p:cNvPr id="41" name="Rectangle 63"/>
              <p:cNvSpPr>
                <a:spLocks noChangeArrowheads="1"/>
              </p:cNvSpPr>
              <p:nvPr>
                <p:custDataLst>
                  <p:tags r:id="rId47"/>
                </p:custDataLst>
              </p:nvPr>
            </p:nvSpPr>
            <p:spPr bwMode="auto">
              <a:xfrm>
                <a:off x="4341" y="1680"/>
                <a:ext cx="1083" cy="3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000" b="1">
                    <a:solidFill>
                      <a:srgbClr val="020001"/>
                    </a:solidFill>
                    <a:latin typeface="+mn-ea"/>
                  </a:rPr>
                  <a:t>S</a:t>
                </a:r>
                <a:r>
                  <a:rPr lang="en-US" altLang="zh-CN" sz="2000" b="1" baseline="-25000">
                    <a:solidFill>
                      <a:srgbClr val="020001"/>
                    </a:solidFill>
                    <a:latin typeface="+mn-ea"/>
                  </a:rPr>
                  <a:t>1</a:t>
                </a:r>
                <a:r>
                  <a:rPr lang="en-US" altLang="zh-CN" sz="2000" b="1">
                    <a:solidFill>
                      <a:srgbClr val="020001"/>
                    </a:solidFill>
                    <a:latin typeface="+mn-ea"/>
                  </a:rPr>
                  <a:t>: S'</a:t>
                </a:r>
                <a:r>
                  <a:rPr lang="en-US" altLang="zh-CN" sz="2000" b="1">
                    <a:solidFill>
                      <a:srgbClr val="020001"/>
                    </a:solidFill>
                    <a:latin typeface="+mn-ea"/>
                    <a:sym typeface="Symbol" panose="05050102010706020507" pitchFamily="18" charset="2"/>
                  </a:rPr>
                  <a:t></a:t>
                </a:r>
                <a:r>
                  <a:rPr lang="en-US" altLang="zh-CN" sz="2000" b="1">
                    <a:solidFill>
                      <a:srgbClr val="020001"/>
                    </a:solidFill>
                    <a:latin typeface="+mn-ea"/>
                  </a:rPr>
                  <a:t>S.</a:t>
                </a:r>
                <a:endParaRPr lang="en-US" altLang="zh-CN" sz="2000" b="1">
                  <a:solidFill>
                    <a:srgbClr val="020001"/>
                  </a:solidFill>
                  <a:latin typeface="+mn-ea"/>
                </a:endParaRPr>
              </a:p>
            </p:txBody>
          </p:sp>
          <p:sp useBgFill="1">
            <p:nvSpPr>
              <p:cNvPr id="42" name="Oval 64"/>
              <p:cNvSpPr>
                <a:spLocks noChangeArrowheads="1"/>
              </p:cNvSpPr>
              <p:nvPr>
                <p:custDataLst>
                  <p:tags r:id="rId48"/>
                </p:custDataLst>
              </p:nvPr>
            </p:nvSpPr>
            <p:spPr bwMode="auto">
              <a:xfrm>
                <a:off x="4368" y="1680"/>
                <a:ext cx="144" cy="144"/>
              </a:xfrm>
              <a:prstGeom prst="ellipse">
                <a:avLst/>
              </a:prstGeom>
              <a:ln w="9525">
                <a:solidFill>
                  <a:srgbClr val="020001"/>
                </a:solidFill>
                <a:miter lim="800000"/>
              </a:ln>
            </p:spPr>
            <p:txBody>
              <a:bodyPr wrap="none" anchor="ctr"/>
              <a:p>
                <a:pPr algn="ctr"/>
                <a:r>
                  <a:rPr lang="zh-CN" altLang="en-US" sz="2000" b="1">
                    <a:solidFill>
                      <a:srgbClr val="020001"/>
                    </a:solidFill>
                    <a:latin typeface="+mn-ea"/>
                  </a:rPr>
                  <a:t>1</a:t>
                </a:r>
                <a:endParaRPr lang="zh-CN" altLang="en-US" sz="2000" b="1">
                  <a:solidFill>
                    <a:srgbClr val="020001"/>
                  </a:solidFill>
                  <a:latin typeface="+mn-ea"/>
                </a:endParaRPr>
              </a:p>
            </p:txBody>
          </p:sp>
        </p:grpSp>
      </p:grpSp>
      <p:sp useBgFill="1">
        <p:nvSpPr>
          <p:cNvPr id="73" name="AutoShape 65"/>
          <p:cNvSpPr>
            <a:spLocks noChangeArrowheads="1"/>
          </p:cNvSpPr>
          <p:nvPr>
            <p:custDataLst>
              <p:tags r:id="rId49"/>
            </p:custDataLst>
          </p:nvPr>
        </p:nvSpPr>
        <p:spPr bwMode="auto">
          <a:xfrm>
            <a:off x="8937624" y="2557837"/>
            <a:ext cx="2514600" cy="609600"/>
          </a:xfrm>
          <a:prstGeom prst="wedgeRoundRectCallout">
            <a:avLst>
              <a:gd name="adj1" fmla="val -3472"/>
              <a:gd name="adj2" fmla="val 144009"/>
              <a:gd name="adj3" fmla="val 16667"/>
            </a:avLst>
          </a:prstGeom>
          <a:ln w="9525">
            <a:solidFill>
              <a:schemeClr val="tx1"/>
            </a:solidFill>
            <a:miter lim="800000"/>
          </a:ln>
        </p:spPr>
        <p:txBody>
          <a:bodyPr/>
          <a:p>
            <a:r>
              <a:rPr lang="zh-CN" altLang="en-US" sz="2000" b="1">
                <a:solidFill>
                  <a:srgbClr val="F4007A"/>
                </a:solidFill>
                <a:latin typeface="+mn-ea"/>
              </a:rPr>
              <a:t>移进—归约冲突</a:t>
            </a:r>
            <a:endParaRPr lang="zh-CN" altLang="en-US" sz="2000" b="1">
              <a:solidFill>
                <a:srgbClr val="F4007A"/>
              </a:solidFill>
              <a:latin typeface="+mn-ea"/>
            </a:endParaRPr>
          </a:p>
        </p:txBody>
      </p:sp>
      <p:sp useBgFill="1">
        <p:nvSpPr>
          <p:cNvPr id="74" name="AutoShape 66"/>
          <p:cNvSpPr>
            <a:spLocks noChangeArrowheads="1"/>
          </p:cNvSpPr>
          <p:nvPr>
            <p:custDataLst>
              <p:tags r:id="rId50"/>
            </p:custDataLst>
          </p:nvPr>
        </p:nvSpPr>
        <p:spPr bwMode="auto">
          <a:xfrm>
            <a:off x="9242424" y="1948237"/>
            <a:ext cx="2514600" cy="990600"/>
          </a:xfrm>
          <a:prstGeom prst="wedgeRoundRectCallout">
            <a:avLst>
              <a:gd name="adj1" fmla="val -569"/>
              <a:gd name="adj2" fmla="val 132051"/>
              <a:gd name="adj3" fmla="val 16667"/>
            </a:avLst>
          </a:prstGeom>
          <a:ln w="9525">
            <a:solidFill>
              <a:schemeClr val="tx1"/>
            </a:solidFill>
            <a:miter lim="800000"/>
          </a:ln>
        </p:spPr>
        <p:txBody>
          <a:bodyPr/>
          <a:p>
            <a:r>
              <a:rPr lang="en-US" altLang="zh-CN" sz="2000" b="1">
                <a:solidFill>
                  <a:srgbClr val="F4007A"/>
                </a:solidFill>
                <a:latin typeface="+mn-ea"/>
              </a:rPr>
              <a:t>Follow(A)={c,d}</a:t>
            </a:r>
            <a:br>
              <a:rPr lang="en-US" altLang="zh-CN" sz="2000" b="1">
                <a:solidFill>
                  <a:srgbClr val="F4007A"/>
                </a:solidFill>
                <a:latin typeface="+mn-ea"/>
              </a:rPr>
            </a:br>
            <a:r>
              <a:rPr lang="en-US" altLang="zh-CN" sz="2000" b="1">
                <a:solidFill>
                  <a:srgbClr val="F4007A"/>
                </a:solidFill>
                <a:latin typeface="+mn-ea"/>
              </a:rPr>
              <a:t>First(d)={d}</a:t>
            </a:r>
            <a:r>
              <a:rPr lang="zh-CN" altLang="en-US" sz="2000" b="1">
                <a:solidFill>
                  <a:srgbClr val="F4007A"/>
                </a:solidFill>
                <a:latin typeface="+mn-ea"/>
              </a:rPr>
              <a:t>相交</a:t>
            </a:r>
            <a:endParaRPr lang="zh-CN" altLang="en-US" sz="2000" b="1">
              <a:solidFill>
                <a:srgbClr val="F4007A"/>
              </a:solidFill>
              <a:latin typeface="+mn-ea"/>
            </a:endParaRPr>
          </a:p>
        </p:txBody>
      </p:sp>
      <p:sp useBgFill="1">
        <p:nvSpPr>
          <p:cNvPr id="75" name="AutoShape 67"/>
          <p:cNvSpPr>
            <a:spLocks noChangeArrowheads="1"/>
          </p:cNvSpPr>
          <p:nvPr>
            <p:custDataLst>
              <p:tags r:id="rId51"/>
            </p:custDataLst>
          </p:nvPr>
        </p:nvSpPr>
        <p:spPr bwMode="auto">
          <a:xfrm>
            <a:off x="5965824" y="2710237"/>
            <a:ext cx="2514600" cy="609600"/>
          </a:xfrm>
          <a:prstGeom prst="wedgeRoundRectCallout">
            <a:avLst>
              <a:gd name="adj1" fmla="val -51199"/>
              <a:gd name="adj2" fmla="val 134116"/>
              <a:gd name="adj3" fmla="val 16667"/>
            </a:avLst>
          </a:prstGeom>
          <a:ln w="9525">
            <a:solidFill>
              <a:schemeClr val="tx1"/>
            </a:solidFill>
            <a:miter lim="800000"/>
          </a:ln>
        </p:spPr>
        <p:txBody>
          <a:bodyPr/>
          <a:p>
            <a:r>
              <a:rPr lang="zh-CN" altLang="en-US" sz="2000" b="1">
                <a:solidFill>
                  <a:srgbClr val="F4007A"/>
                </a:solidFill>
                <a:latin typeface="+mn-ea"/>
              </a:rPr>
              <a:t>移进—归约冲突</a:t>
            </a:r>
            <a:endParaRPr lang="zh-CN" altLang="en-US" sz="2000" b="1">
              <a:solidFill>
                <a:srgbClr val="F4007A"/>
              </a:solidFill>
              <a:latin typeface="+mn-ea"/>
            </a:endParaRPr>
          </a:p>
        </p:txBody>
      </p:sp>
      <p:sp useBgFill="1">
        <p:nvSpPr>
          <p:cNvPr id="76" name="AutoShape 68"/>
          <p:cNvSpPr>
            <a:spLocks noChangeArrowheads="1"/>
          </p:cNvSpPr>
          <p:nvPr>
            <p:custDataLst>
              <p:tags r:id="rId52"/>
            </p:custDataLst>
          </p:nvPr>
        </p:nvSpPr>
        <p:spPr bwMode="auto">
          <a:xfrm>
            <a:off x="6270624" y="2329237"/>
            <a:ext cx="2514600" cy="990600"/>
          </a:xfrm>
          <a:prstGeom prst="wedgeRoundRectCallout">
            <a:avLst>
              <a:gd name="adj1" fmla="val -51199"/>
              <a:gd name="adj2" fmla="val 101764"/>
              <a:gd name="adj3" fmla="val 16667"/>
            </a:avLst>
          </a:prstGeom>
          <a:ln w="9525">
            <a:solidFill>
              <a:schemeClr val="tx1"/>
            </a:solidFill>
            <a:miter lim="800000"/>
          </a:ln>
        </p:spPr>
        <p:txBody>
          <a:bodyPr/>
          <a:p>
            <a:r>
              <a:rPr lang="en-US" altLang="zh-CN" sz="2000" b="1">
                <a:solidFill>
                  <a:srgbClr val="F4007A"/>
                </a:solidFill>
                <a:latin typeface="+mn-ea"/>
              </a:rPr>
              <a:t>Follow(A)={c,d}</a:t>
            </a:r>
            <a:br>
              <a:rPr lang="en-US" altLang="zh-CN" sz="2000" b="1">
                <a:solidFill>
                  <a:srgbClr val="F4007A"/>
                </a:solidFill>
                <a:latin typeface="+mn-ea"/>
              </a:rPr>
            </a:br>
            <a:r>
              <a:rPr lang="en-US" altLang="zh-CN" sz="2000" b="1">
                <a:solidFill>
                  <a:srgbClr val="F4007A"/>
                </a:solidFill>
                <a:latin typeface="+mn-ea"/>
              </a:rPr>
              <a:t>First(c)={c}</a:t>
            </a:r>
            <a:r>
              <a:rPr lang="zh-CN" altLang="en-US" sz="2000" b="1">
                <a:solidFill>
                  <a:srgbClr val="F4007A"/>
                </a:solidFill>
                <a:latin typeface="+mn-ea"/>
              </a:rPr>
              <a:t>相交</a:t>
            </a:r>
            <a:endParaRPr lang="zh-CN" altLang="en-US" sz="2000" b="1">
              <a:solidFill>
                <a:srgbClr val="F4007A"/>
              </a:solidFill>
              <a:latin typeface="+mn-ea"/>
            </a:endParaRPr>
          </a:p>
        </p:txBody>
      </p:sp>
      <p:sp useBgFill="1">
        <p:nvSpPr>
          <p:cNvPr id="77" name="Oval 69"/>
          <p:cNvSpPr>
            <a:spLocks noChangeArrowheads="1"/>
          </p:cNvSpPr>
          <p:nvPr>
            <p:custDataLst>
              <p:tags r:id="rId53"/>
            </p:custDataLst>
          </p:nvPr>
        </p:nvSpPr>
        <p:spPr bwMode="auto">
          <a:xfrm>
            <a:off x="5889624" y="2710237"/>
            <a:ext cx="3886200" cy="1066800"/>
          </a:xfrm>
          <a:prstGeom prst="ellipse">
            <a:avLst/>
          </a:prstGeom>
          <a:ln w="9525">
            <a:solidFill>
              <a:schemeClr val="tx1"/>
            </a:solidFill>
            <a:round/>
          </a:ln>
        </p:spPr>
        <p:txBody>
          <a:bodyPr wrap="none" anchor="ctr"/>
          <a:p>
            <a:pPr algn="ctr"/>
            <a:r>
              <a:rPr lang="zh-CN" altLang="en-US" sz="2000" b="1">
                <a:solidFill>
                  <a:srgbClr val="F4007A"/>
                </a:solidFill>
                <a:latin typeface="+mn-ea"/>
                <a:sym typeface="Symbol" panose="05050102010706020507" pitchFamily="18" charset="2"/>
              </a:rPr>
              <a:t>结论：冲突不能用</a:t>
            </a:r>
            <a:r>
              <a:rPr lang="en-US" altLang="zh-CN" sz="2000" b="1">
                <a:solidFill>
                  <a:srgbClr val="F4007A"/>
                </a:solidFill>
                <a:latin typeface="+mn-ea"/>
              </a:rPr>
              <a:t>SLR(1)</a:t>
            </a:r>
            <a:br>
              <a:rPr lang="en-US" altLang="zh-CN" sz="2000" b="1">
                <a:solidFill>
                  <a:srgbClr val="F4007A"/>
                </a:solidFill>
                <a:latin typeface="+mn-ea"/>
              </a:rPr>
            </a:br>
            <a:r>
              <a:rPr lang="zh-CN" altLang="en-US" sz="2000" b="1">
                <a:solidFill>
                  <a:srgbClr val="F4007A"/>
                </a:solidFill>
                <a:latin typeface="+mn-ea"/>
              </a:rPr>
              <a:t>方法解决！</a:t>
            </a:r>
            <a:endParaRPr lang="zh-CN" altLang="en-US" sz="2000" b="1">
              <a:solidFill>
                <a:srgbClr val="F4007A"/>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3"/>
                                        </p:tgtEl>
                                        <p:attrNameLst>
                                          <p:attrName>style.visibility</p:attrName>
                                        </p:attrNameLst>
                                      </p:cBhvr>
                                      <p:to>
                                        <p:strVal val="visible"/>
                                      </p:to>
                                    </p:set>
                                  </p:childTnLst>
                                  <p:subTnLst>
                                    <p:set>
                                      <p:cBhvr override="childStyle">
                                        <p:cTn dur="1" fill="hold" display="0" masterRel="nextClick" afterEffect="1"/>
                                        <p:tgtEl>
                                          <p:spTgt spid="7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
                                        </p:tgtEl>
                                        <p:attrNameLst>
                                          <p:attrName>style.visibility</p:attrName>
                                        </p:attrNameLst>
                                      </p:cBhvr>
                                      <p:to>
                                        <p:strVal val="visible"/>
                                      </p:to>
                                    </p:set>
                                  </p:childTnLst>
                                  <p:subTnLst>
                                    <p:set>
                                      <p:cBhvr override="childStyle">
                                        <p:cTn dur="1" fill="hold" display="0" masterRel="nextClick" afterEffect="1"/>
                                        <p:tgtEl>
                                          <p:spTgt spid="7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
                                        </p:tgtEl>
                                        <p:attrNameLst>
                                          <p:attrName>style.visibility</p:attrName>
                                        </p:attrNameLst>
                                      </p:cBhvr>
                                      <p:to>
                                        <p:strVal val="visible"/>
                                      </p:to>
                                    </p:se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6"/>
                                        </p:tgtEl>
                                        <p:attrNameLst>
                                          <p:attrName>style.visibility</p:attrName>
                                        </p:attrNameLst>
                                      </p:cBhvr>
                                      <p:to>
                                        <p:strVal val="visible"/>
                                      </p:to>
                                    </p:set>
                                  </p:childTnLst>
                                  <p:subTnLst>
                                    <p:set>
                                      <p:cBhvr override="childStyle">
                                        <p:cTn dur="1" fill="hold" display="0" masterRel="nextClick" afterEffect="1"/>
                                        <p:tgtEl>
                                          <p:spTgt spid="7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bldLvl="0" animBg="1"/>
      <p:bldP spid="74" grpId="0" bldLvl="0" animBg="1"/>
      <p:bldP spid="75" grpId="0" bldLvl="0" animBg="1"/>
      <p:bldP spid="76" grpId="0" bldLvl="0" animBg="1"/>
      <p:bldP spid="77"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2745" y="276860"/>
            <a:ext cx="7480300"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
        <p:nvSpPr>
          <p:cNvPr id="5" name="Text Box 2"/>
          <p:cNvSpPr txBox="1">
            <a:spLocks noChangeArrowheads="1"/>
          </p:cNvSpPr>
          <p:nvPr/>
        </p:nvSpPr>
        <p:spPr bwMode="auto">
          <a:xfrm>
            <a:off x="459740" y="2617470"/>
            <a:ext cx="6337300" cy="37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indent="0" fontAlgn="auto">
              <a:lnSpc>
                <a:spcPct val="125000"/>
              </a:lnSpc>
              <a:spcBef>
                <a:spcPts val="0"/>
              </a:spcBef>
            </a:pPr>
            <a:r>
              <a:rPr lang="en-US" altLang="zh-CN" sz="2400" b="1">
                <a:solidFill>
                  <a:srgbClr val="FF0000"/>
                </a:solidFill>
                <a:latin typeface="+mn-ea"/>
                <a:sym typeface="+mn-ea"/>
              </a:rPr>
              <a:t>I</a:t>
            </a:r>
            <a:r>
              <a:rPr lang="zh-CN" altLang="en-US" sz="2400" b="1">
                <a:solidFill>
                  <a:srgbClr val="FF0000"/>
                </a:solidFill>
                <a:latin typeface="+mn-ea"/>
                <a:sym typeface="+mn-ea"/>
              </a:rPr>
              <a:t>的闭包函数</a:t>
            </a:r>
            <a:r>
              <a:rPr lang="en-US" altLang="zh-CN" sz="2400" b="1">
                <a:solidFill>
                  <a:srgbClr val="FF0000"/>
                </a:solidFill>
                <a:latin typeface="+mn-ea"/>
                <a:sym typeface="+mn-ea"/>
              </a:rPr>
              <a:t>CLOSURE(I)</a:t>
            </a:r>
            <a:r>
              <a:rPr lang="zh-CN" altLang="en-US" sz="2400" b="1">
                <a:solidFill>
                  <a:srgbClr val="FF0000"/>
                </a:solidFill>
                <a:latin typeface="+mn-ea"/>
                <a:sym typeface="+mn-ea"/>
              </a:rPr>
              <a:t>定义如下：</a:t>
            </a:r>
            <a:endParaRPr lang="zh-CN" altLang="en-US" sz="2400" b="1">
              <a:solidFill>
                <a:srgbClr val="FF0000"/>
              </a:solidFill>
              <a:latin typeface="+mn-ea"/>
            </a:endParaRPr>
          </a:p>
          <a:p>
            <a:pPr indent="0" fontAlgn="auto">
              <a:lnSpc>
                <a:spcPct val="125000"/>
              </a:lnSpc>
              <a:spcBef>
                <a:spcPts val="0"/>
              </a:spcBef>
            </a:pPr>
            <a:r>
              <a:rPr lang="zh-CN" altLang="en-US" sz="2400" b="1">
                <a:solidFill>
                  <a:srgbClr val="020001"/>
                </a:solidFill>
                <a:latin typeface="+mn-ea"/>
              </a:rPr>
              <a:t>步骤</a:t>
            </a:r>
            <a:r>
              <a:rPr lang="en-US" altLang="zh-CN" sz="2400" b="1">
                <a:solidFill>
                  <a:srgbClr val="020001"/>
                </a:solidFill>
                <a:latin typeface="+mn-ea"/>
              </a:rPr>
              <a:t>1</a:t>
            </a:r>
            <a:r>
              <a:rPr lang="zh-CN" altLang="en-US" sz="2400" b="1">
                <a:solidFill>
                  <a:srgbClr val="020001"/>
                </a:solidFill>
                <a:latin typeface="+mn-ea"/>
              </a:rPr>
              <a:t>：</a:t>
            </a:r>
            <a:r>
              <a:rPr lang="en-US" altLang="zh-CN" sz="2400" b="1">
                <a:solidFill>
                  <a:srgbClr val="020001"/>
                </a:solidFill>
                <a:latin typeface="+mn-ea"/>
              </a:rPr>
              <a:t>CLOSURE(I)=I</a:t>
            </a:r>
            <a:r>
              <a:rPr lang="zh-CN" altLang="en-US" sz="2400" b="1">
                <a:solidFill>
                  <a:srgbClr val="020001"/>
                </a:solidFill>
                <a:latin typeface="+mn-ea"/>
              </a:rPr>
              <a:t>；</a:t>
            </a:r>
            <a:endParaRPr lang="zh-CN" altLang="en-US" sz="2400" b="1">
              <a:solidFill>
                <a:srgbClr val="020001"/>
              </a:solidFill>
              <a:latin typeface="+mn-ea"/>
            </a:endParaRPr>
          </a:p>
          <a:p>
            <a:pPr indent="0" fontAlgn="auto">
              <a:lnSpc>
                <a:spcPct val="125000"/>
              </a:lnSpc>
              <a:spcBef>
                <a:spcPts val="0"/>
              </a:spcBef>
            </a:pPr>
            <a:r>
              <a:rPr lang="zh-CN" altLang="en-US" sz="2400" b="1" dirty="0">
                <a:solidFill>
                  <a:srgbClr val="020001"/>
                </a:solidFill>
                <a:latin typeface="+mn-ea"/>
                <a:sym typeface="+mn-ea"/>
              </a:rPr>
              <a:t>步骤</a:t>
            </a:r>
            <a:r>
              <a:rPr lang="en-US" altLang="zh-CN" sz="2400" b="1" dirty="0">
                <a:solidFill>
                  <a:srgbClr val="020001"/>
                </a:solidFill>
                <a:latin typeface="+mn-ea"/>
                <a:sym typeface="+mn-ea"/>
              </a:rPr>
              <a:t>2</a:t>
            </a:r>
            <a:r>
              <a:rPr lang="zh-CN" altLang="en-US" sz="2400" b="1" dirty="0">
                <a:solidFill>
                  <a:srgbClr val="020001"/>
                </a:solidFill>
                <a:latin typeface="+mn-ea"/>
                <a:sym typeface="+mn-ea"/>
              </a:rPr>
              <a:t>：若存在</a:t>
            </a:r>
            <a:r>
              <a:rPr lang="en-US" altLang="zh-CN" sz="2400" b="1" dirty="0">
                <a:solidFill>
                  <a:srgbClr val="020001"/>
                </a:solidFill>
                <a:latin typeface="+mn-ea"/>
                <a:sym typeface="+mn-ea"/>
              </a:rPr>
              <a:t>[A</a:t>
            </a:r>
            <a:r>
              <a:rPr lang="en-US" altLang="zh-CN" sz="2400" b="1" dirty="0">
                <a:solidFill>
                  <a:srgbClr val="020001"/>
                </a:solidFill>
                <a:latin typeface="+mn-ea"/>
                <a:sym typeface="Symbol" panose="05050102010706020507" pitchFamily="18" charset="2"/>
              </a:rPr>
              <a:t>.B，a]</a:t>
            </a:r>
            <a:r>
              <a:rPr lang="en-US" altLang="zh-CN" sz="2400" b="1" dirty="0">
                <a:solidFill>
                  <a:srgbClr val="020001"/>
                </a:solidFill>
                <a:latin typeface="+mn-ea"/>
                <a:sym typeface="+mn-ea"/>
              </a:rPr>
              <a:t> CLOSURE(I), B</a:t>
            </a:r>
            <a:r>
              <a:rPr lang="en-US" altLang="zh-CN" sz="2400" b="1" dirty="0">
                <a:solidFill>
                  <a:srgbClr val="020001"/>
                </a:solidFill>
                <a:latin typeface="+mn-ea"/>
                <a:sym typeface="Symbol" panose="05050102010706020507" pitchFamily="18" charset="2"/>
              </a:rPr>
              <a:t>V</a:t>
            </a:r>
            <a:r>
              <a:rPr lang="en-US" altLang="zh-CN" sz="2400" b="1" baseline="-25000" dirty="0">
                <a:solidFill>
                  <a:srgbClr val="020001"/>
                </a:solidFill>
                <a:latin typeface="+mn-ea"/>
                <a:sym typeface="Symbol" panose="05050102010706020507" pitchFamily="18" charset="2"/>
              </a:rPr>
              <a:t>N</a:t>
            </a:r>
            <a:r>
              <a:rPr lang="en-US" altLang="zh-CN" sz="2400" b="1" dirty="0">
                <a:solidFill>
                  <a:srgbClr val="020001"/>
                </a:solidFill>
                <a:latin typeface="+mn-ea"/>
                <a:sym typeface="+mn-ea"/>
              </a:rPr>
              <a:t> , </a:t>
            </a:r>
            <a:endParaRPr lang="en-US" altLang="zh-CN" sz="2400" b="1" dirty="0">
              <a:solidFill>
                <a:srgbClr val="020001"/>
              </a:solidFill>
              <a:latin typeface="+mn-ea"/>
              <a:ea typeface="+mn-ea"/>
            </a:endParaRPr>
          </a:p>
          <a:p>
            <a:pPr indent="0" fontAlgn="auto">
              <a:lnSpc>
                <a:spcPct val="125000"/>
              </a:lnSpc>
              <a:spcBef>
                <a:spcPts val="0"/>
              </a:spcBef>
            </a:pPr>
            <a:r>
              <a:rPr lang="en-US" altLang="zh-CN" sz="2400" b="1" dirty="0">
                <a:solidFill>
                  <a:srgbClr val="020001"/>
                </a:solidFill>
                <a:latin typeface="+mn-ea"/>
                <a:sym typeface="+mn-ea"/>
              </a:rPr>
              <a:t>    </a:t>
            </a:r>
            <a:r>
              <a:rPr lang="zh-CN" altLang="en-US" sz="2400" b="1" dirty="0">
                <a:solidFill>
                  <a:srgbClr val="020001"/>
                </a:solidFill>
                <a:latin typeface="+mn-ea"/>
                <a:sym typeface="+mn-ea"/>
              </a:rPr>
              <a:t>则</a:t>
            </a:r>
            <a:r>
              <a:rPr lang="en-US" altLang="zh-CN" sz="2400" b="1" dirty="0">
                <a:solidFill>
                  <a:srgbClr val="020001"/>
                </a:solidFill>
                <a:latin typeface="+mn-ea"/>
                <a:sym typeface="+mn-ea"/>
              </a:rPr>
              <a:t>CLOSURE(I)</a:t>
            </a:r>
            <a:r>
              <a:rPr lang="en-US" altLang="zh-CN" sz="2400" b="1" dirty="0">
                <a:solidFill>
                  <a:srgbClr val="010000"/>
                </a:solidFill>
                <a:latin typeface="+mn-ea"/>
                <a:sym typeface="+mn-ea"/>
              </a:rPr>
              <a:t> = </a:t>
            </a:r>
            <a:r>
              <a:rPr lang="en-US" altLang="zh-CN" sz="2400" b="1" dirty="0">
                <a:solidFill>
                  <a:srgbClr val="020001"/>
                </a:solidFill>
                <a:latin typeface="+mn-ea"/>
                <a:sym typeface="+mn-ea"/>
              </a:rPr>
              <a:t>CLOSURE(I) </a:t>
            </a:r>
            <a:r>
              <a:rPr lang="en-US" altLang="zh-CN" sz="2400" b="1" dirty="0">
                <a:solidFill>
                  <a:srgbClr val="020001"/>
                </a:solidFill>
                <a:latin typeface="+mn-ea"/>
                <a:sym typeface="Symbol" panose="05050102010706020507" pitchFamily="18" charset="2"/>
              </a:rPr>
              <a:t></a:t>
            </a:r>
            <a:r>
              <a:rPr lang="en-US" altLang="zh-CN" sz="2400" b="1" dirty="0">
                <a:solidFill>
                  <a:srgbClr val="020001"/>
                </a:solidFill>
                <a:latin typeface="+mn-ea"/>
                <a:sym typeface="+mn-ea"/>
              </a:rPr>
              <a:t>{[B</a:t>
            </a:r>
            <a:r>
              <a:rPr lang="en-US" altLang="zh-CN" sz="2400" b="1" dirty="0">
                <a:solidFill>
                  <a:srgbClr val="020001"/>
                </a:solidFill>
                <a:latin typeface="+mn-ea"/>
                <a:sym typeface="Symbol" panose="05050102010706020507" pitchFamily="18" charset="2"/>
              </a:rPr>
              <a:t>.,  b]} </a:t>
            </a:r>
            <a:r>
              <a:rPr lang="zh-CN" altLang="en-US" sz="2400" b="1" dirty="0">
                <a:solidFill>
                  <a:srgbClr val="020001"/>
                </a:solidFill>
                <a:latin typeface="+mn-ea"/>
                <a:sym typeface="+mn-ea"/>
              </a:rPr>
              <a:t>， </a:t>
            </a:r>
            <a:r>
              <a:rPr lang="zh-CN" altLang="en-US" sz="2400" b="1" dirty="0">
                <a:solidFill>
                  <a:srgbClr val="010000"/>
                </a:solidFill>
                <a:latin typeface="+mn-ea"/>
                <a:sym typeface="+mn-ea"/>
              </a:rPr>
              <a:t>其中 </a:t>
            </a:r>
            <a:r>
              <a:rPr lang="en-US" altLang="zh-CN" sz="2400" b="1" dirty="0" err="1">
                <a:solidFill>
                  <a:srgbClr val="0070C0"/>
                </a:solidFill>
                <a:latin typeface="+mn-ea"/>
                <a:sym typeface="Symbol" panose="05050102010706020507" pitchFamily="18" charset="2"/>
              </a:rPr>
              <a:t>bFirst</a:t>
            </a:r>
            <a:r>
              <a:rPr lang="en-US" altLang="zh-CN" sz="2400" b="1" dirty="0">
                <a:solidFill>
                  <a:srgbClr val="0070C0"/>
                </a:solidFill>
                <a:latin typeface="+mn-ea"/>
                <a:sym typeface="Symbol" panose="05050102010706020507" pitchFamily="18" charset="2"/>
              </a:rPr>
              <a:t>(a)</a:t>
            </a:r>
            <a:endParaRPr lang="en-US" altLang="zh-CN" sz="2400" b="1" dirty="0">
              <a:solidFill>
                <a:srgbClr val="0070C0"/>
              </a:solidFill>
              <a:latin typeface="+mn-ea"/>
              <a:sym typeface="Symbol" panose="05050102010706020507" pitchFamily="18" charset="2"/>
            </a:endParaRPr>
          </a:p>
          <a:p>
            <a:pPr indent="0" fontAlgn="auto">
              <a:lnSpc>
                <a:spcPct val="125000"/>
              </a:lnSpc>
              <a:spcBef>
                <a:spcPts val="0"/>
              </a:spcBef>
            </a:pPr>
            <a:r>
              <a:rPr lang="zh-CN" altLang="en-US" sz="2400" b="1" dirty="0">
                <a:solidFill>
                  <a:srgbClr val="020001"/>
                </a:solidFill>
                <a:latin typeface="+mn-ea"/>
                <a:sym typeface="+mn-ea"/>
              </a:rPr>
              <a:t>步骤</a:t>
            </a:r>
            <a:r>
              <a:rPr lang="en-US" altLang="zh-CN" sz="2400" b="1" dirty="0">
                <a:solidFill>
                  <a:srgbClr val="020001"/>
                </a:solidFill>
                <a:latin typeface="+mn-ea"/>
                <a:sym typeface="+mn-ea"/>
              </a:rPr>
              <a:t>3</a:t>
            </a:r>
            <a:r>
              <a:rPr lang="zh-CN" altLang="en-US" sz="2400" b="1" dirty="0">
                <a:solidFill>
                  <a:srgbClr val="020001"/>
                </a:solidFill>
                <a:latin typeface="+mn-ea"/>
                <a:sym typeface="+mn-ea"/>
              </a:rPr>
              <a:t>：重复步骤</a:t>
            </a:r>
            <a:r>
              <a:rPr lang="en-US" altLang="zh-CN" sz="2400" b="1" dirty="0">
                <a:solidFill>
                  <a:srgbClr val="020001"/>
                </a:solidFill>
                <a:latin typeface="+mn-ea"/>
                <a:sym typeface="+mn-ea"/>
              </a:rPr>
              <a:t>2</a:t>
            </a:r>
            <a:r>
              <a:rPr lang="zh-CN" altLang="en-US" sz="2400" b="1" dirty="0">
                <a:solidFill>
                  <a:srgbClr val="020001"/>
                </a:solidFill>
                <a:latin typeface="+mn-ea"/>
                <a:sym typeface="+mn-ea"/>
              </a:rPr>
              <a:t>直至</a:t>
            </a:r>
            <a:r>
              <a:rPr lang="en-US" altLang="zh-CN" sz="2400" b="1" dirty="0">
                <a:solidFill>
                  <a:srgbClr val="020001"/>
                </a:solidFill>
                <a:latin typeface="+mn-ea"/>
                <a:sym typeface="+mn-ea"/>
              </a:rPr>
              <a:t>CLOSURE(I) </a:t>
            </a:r>
            <a:r>
              <a:rPr lang="zh-CN" altLang="en-US" sz="2400" b="1" dirty="0">
                <a:solidFill>
                  <a:srgbClr val="020001"/>
                </a:solidFill>
                <a:latin typeface="+mn-ea"/>
                <a:sym typeface="+mn-ea"/>
              </a:rPr>
              <a:t>不</a:t>
            </a:r>
            <a:r>
              <a:rPr lang="zh-CN" altLang="en-US" sz="2400" b="1" dirty="0">
                <a:solidFill>
                  <a:srgbClr val="0070C0"/>
                </a:solidFill>
                <a:latin typeface="+mn-ea"/>
                <a:sym typeface="+mn-ea"/>
              </a:rPr>
              <a:t>增加新项目</a:t>
            </a:r>
            <a:r>
              <a:rPr lang="zh-CN" altLang="en-US" sz="2400" b="1" dirty="0">
                <a:solidFill>
                  <a:srgbClr val="020001"/>
                </a:solidFill>
                <a:latin typeface="+mn-ea"/>
                <a:sym typeface="+mn-ea"/>
              </a:rPr>
              <a:t>为止。</a:t>
            </a:r>
            <a:endParaRPr lang="zh-CN" altLang="en-US" sz="2400" b="1">
              <a:solidFill>
                <a:srgbClr val="020001"/>
              </a:solidFill>
              <a:latin typeface="+mn-ea"/>
            </a:endParaRPr>
          </a:p>
        </p:txBody>
      </p:sp>
      <p:sp>
        <p:nvSpPr>
          <p:cNvPr id="7" name="Rectangle 5"/>
          <p:cNvSpPr>
            <a:spLocks noChangeArrowheads="1"/>
          </p:cNvSpPr>
          <p:nvPr/>
        </p:nvSpPr>
        <p:spPr bwMode="auto">
          <a:xfrm>
            <a:off x="459740" y="1193165"/>
            <a:ext cx="1127569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fontAlgn="auto">
              <a:lnSpc>
                <a:spcPct val="125000"/>
              </a:lnSpc>
            </a:pPr>
            <a:r>
              <a:rPr lang="en-US" altLang="zh-CN" sz="2400" b="1" dirty="0">
                <a:solidFill>
                  <a:srgbClr val="0070C0"/>
                </a:solidFill>
                <a:latin typeface="+mn-ea"/>
                <a:sym typeface="+mn-ea"/>
              </a:rPr>
              <a:t>LR(1)</a:t>
            </a:r>
            <a:r>
              <a:rPr lang="zh-CN" altLang="en-US" sz="2400" b="1" dirty="0">
                <a:solidFill>
                  <a:srgbClr val="0070C0"/>
                </a:solidFill>
                <a:latin typeface="+mn-ea"/>
                <a:sym typeface="+mn-ea"/>
              </a:rPr>
              <a:t>项目：</a:t>
            </a:r>
            <a:r>
              <a:rPr lang="zh-CN" altLang="en-US" sz="2400" b="1" dirty="0">
                <a:solidFill>
                  <a:srgbClr val="020001"/>
                </a:solidFill>
                <a:latin typeface="+mn-ea"/>
                <a:sym typeface="+mn-ea"/>
              </a:rPr>
              <a:t>在</a:t>
            </a:r>
            <a:r>
              <a:rPr lang="en-US" altLang="zh-CN" sz="2400" b="1" dirty="0">
                <a:solidFill>
                  <a:srgbClr val="020001"/>
                </a:solidFill>
                <a:latin typeface="+mn-ea"/>
                <a:sym typeface="+mn-ea"/>
              </a:rPr>
              <a:t>LR(0)</a:t>
            </a:r>
            <a:r>
              <a:rPr lang="zh-CN" altLang="en-US" sz="2400" b="1" dirty="0">
                <a:solidFill>
                  <a:srgbClr val="020001"/>
                </a:solidFill>
                <a:latin typeface="+mn-ea"/>
                <a:sym typeface="+mn-ea"/>
              </a:rPr>
              <a:t>项目中放置一个向右搜索符号</a:t>
            </a:r>
            <a:r>
              <a:rPr lang="en-US" altLang="zh-CN" sz="2400" b="1" dirty="0">
                <a:solidFill>
                  <a:srgbClr val="020001"/>
                </a:solidFill>
                <a:latin typeface="+mn-ea"/>
                <a:sym typeface="+mn-ea"/>
              </a:rPr>
              <a:t>a，LR(1)</a:t>
            </a:r>
            <a:r>
              <a:rPr lang="zh-CN" altLang="en-US" sz="2400" b="1" dirty="0">
                <a:solidFill>
                  <a:srgbClr val="020001"/>
                </a:solidFill>
                <a:latin typeface="+mn-ea"/>
                <a:sym typeface="+mn-ea"/>
              </a:rPr>
              <a:t>项目：</a:t>
            </a:r>
            <a:r>
              <a:rPr lang="en-US" altLang="zh-CN" sz="2400" b="1" dirty="0">
                <a:solidFill>
                  <a:srgbClr val="020001"/>
                </a:solidFill>
                <a:latin typeface="+mn-ea"/>
                <a:sym typeface="+mn-ea"/>
              </a:rPr>
              <a:t>[A</a:t>
            </a:r>
            <a:r>
              <a:rPr lang="en-US" altLang="zh-CN" sz="2400" b="1" dirty="0">
                <a:solidFill>
                  <a:srgbClr val="020001"/>
                </a:solidFill>
                <a:latin typeface="+mn-ea"/>
                <a:sym typeface="Symbol" panose="05050102010706020507" pitchFamily="18" charset="2"/>
              </a:rPr>
              <a:t></a:t>
            </a:r>
            <a:r>
              <a:rPr lang="en-US" altLang="zh-CN" sz="2400" b="1" dirty="0">
                <a:solidFill>
                  <a:srgbClr val="020001"/>
                </a:solidFill>
                <a:latin typeface="+mn-ea"/>
                <a:sym typeface="+mn-ea"/>
              </a:rPr>
              <a:t>α.</a:t>
            </a:r>
            <a:r>
              <a:rPr lang="en-US" altLang="zh-CN" sz="2400" b="1" dirty="0">
                <a:solidFill>
                  <a:srgbClr val="020001"/>
                </a:solidFill>
                <a:latin typeface="+mn-ea"/>
                <a:sym typeface="Symbol" panose="05050102010706020507" pitchFamily="18" charset="2"/>
              </a:rPr>
              <a:t></a:t>
            </a:r>
            <a:r>
              <a:rPr lang="zh-CN" altLang="en-US" sz="2400" b="1" dirty="0">
                <a:solidFill>
                  <a:srgbClr val="020001"/>
                </a:solidFill>
                <a:latin typeface="+mn-ea"/>
                <a:sym typeface="Symbol" panose="05050102010706020507" pitchFamily="18" charset="2"/>
              </a:rPr>
              <a:t>，</a:t>
            </a:r>
            <a:r>
              <a:rPr lang="en-US" altLang="zh-CN" sz="2400" b="1" dirty="0">
                <a:solidFill>
                  <a:srgbClr val="020001"/>
                </a:solidFill>
                <a:latin typeface="+mn-ea"/>
                <a:sym typeface="Symbol" panose="05050102010706020507" pitchFamily="18" charset="2"/>
              </a:rPr>
              <a:t>a]</a:t>
            </a:r>
            <a:endParaRPr lang="zh-CN" altLang="en-US" sz="2400" b="1" dirty="0">
              <a:solidFill>
                <a:srgbClr val="020001"/>
              </a:solidFill>
              <a:latin typeface="+mn-ea"/>
              <a:sym typeface="Symbol" panose="05050102010706020507" pitchFamily="18" charset="2"/>
            </a:endParaRPr>
          </a:p>
          <a:p>
            <a:pPr indent="0" fontAlgn="auto">
              <a:lnSpc>
                <a:spcPct val="125000"/>
              </a:lnSpc>
            </a:pPr>
            <a:r>
              <a:rPr lang="en-US" altLang="zh-CN" sz="2400" b="1" dirty="0">
                <a:solidFill>
                  <a:srgbClr val="020001"/>
                </a:solidFill>
                <a:latin typeface="+mn-ea"/>
                <a:sym typeface="+mn-ea"/>
              </a:rPr>
              <a:t>LR(1)</a:t>
            </a:r>
            <a:r>
              <a:rPr lang="zh-CN" altLang="en-US" sz="2400" b="1" dirty="0">
                <a:solidFill>
                  <a:srgbClr val="020001"/>
                </a:solidFill>
                <a:latin typeface="+mn-ea"/>
                <a:sym typeface="+mn-ea"/>
              </a:rPr>
              <a:t>每个状态就是包含若干</a:t>
            </a:r>
            <a:r>
              <a:rPr lang="en-US" altLang="zh-CN" sz="2400" b="1" dirty="0">
                <a:solidFill>
                  <a:srgbClr val="020001"/>
                </a:solidFill>
                <a:latin typeface="+mn-ea"/>
                <a:sym typeface="+mn-ea"/>
              </a:rPr>
              <a:t>LR(1)</a:t>
            </a:r>
            <a:r>
              <a:rPr lang="zh-CN" altLang="en-US" sz="2400" b="1" dirty="0">
                <a:solidFill>
                  <a:srgbClr val="020001"/>
                </a:solidFill>
                <a:latin typeface="+mn-ea"/>
                <a:sym typeface="+mn-ea"/>
              </a:rPr>
              <a:t>项目的一个</a:t>
            </a:r>
            <a:r>
              <a:rPr lang="en-US" altLang="zh-CN" sz="2400" b="1" dirty="0">
                <a:solidFill>
                  <a:srgbClr val="020001"/>
                </a:solidFill>
                <a:latin typeface="+mn-ea"/>
                <a:sym typeface="+mn-ea"/>
              </a:rPr>
              <a:t>LR(1)</a:t>
            </a:r>
            <a:r>
              <a:rPr lang="zh-CN" altLang="en-US" sz="2400" b="1" dirty="0">
                <a:solidFill>
                  <a:srgbClr val="020001"/>
                </a:solidFill>
                <a:latin typeface="+mn-ea"/>
                <a:sym typeface="+mn-ea"/>
              </a:rPr>
              <a:t>项目集，</a:t>
            </a:r>
            <a:r>
              <a:rPr lang="zh-CN" altLang="en-US" sz="2400" b="1" dirty="0">
                <a:solidFill>
                  <a:srgbClr val="0070C0"/>
                </a:solidFill>
                <a:latin typeface="+mn-ea"/>
                <a:sym typeface="+mn-ea"/>
              </a:rPr>
              <a:t>构造 </a:t>
            </a:r>
            <a:r>
              <a:rPr lang="en-US" altLang="zh-CN" sz="2400" b="1" dirty="0">
                <a:solidFill>
                  <a:srgbClr val="0070C0"/>
                </a:solidFill>
                <a:latin typeface="+mn-ea"/>
                <a:sym typeface="+mn-ea"/>
              </a:rPr>
              <a:t>LR(1)</a:t>
            </a:r>
            <a:r>
              <a:rPr lang="zh-CN" altLang="en-US" sz="2400" b="1" dirty="0">
                <a:solidFill>
                  <a:srgbClr val="0070C0"/>
                </a:solidFill>
                <a:latin typeface="+mn-ea"/>
                <a:sym typeface="+mn-ea"/>
              </a:rPr>
              <a:t>项目集合的</a:t>
            </a:r>
            <a:r>
              <a:rPr lang="en-US" altLang="zh-CN" sz="2400" b="1" dirty="0">
                <a:solidFill>
                  <a:srgbClr val="0070C0"/>
                </a:solidFill>
                <a:latin typeface="+mn-ea"/>
                <a:sym typeface="+mn-ea"/>
              </a:rPr>
              <a:t>DFA</a:t>
            </a:r>
            <a:r>
              <a:rPr lang="zh-CN" altLang="en-US" sz="2400" b="1" dirty="0">
                <a:solidFill>
                  <a:srgbClr val="0070C0"/>
                </a:solidFill>
                <a:latin typeface="+mn-ea"/>
                <a:sym typeface="+mn-ea"/>
              </a:rPr>
              <a:t>的算法</a:t>
            </a:r>
            <a:r>
              <a:rPr lang="zh-CN" altLang="en-US" sz="2400" b="1" dirty="0">
                <a:solidFill>
                  <a:srgbClr val="020001"/>
                </a:solidFill>
                <a:latin typeface="+mn-ea"/>
                <a:sym typeface="+mn-ea"/>
              </a:rPr>
              <a:t>与</a:t>
            </a:r>
            <a:r>
              <a:rPr lang="en-US" altLang="zh-CN" sz="2400" b="1" dirty="0">
                <a:solidFill>
                  <a:srgbClr val="020001"/>
                </a:solidFill>
                <a:latin typeface="+mn-ea"/>
                <a:sym typeface="+mn-ea"/>
              </a:rPr>
              <a:t>LR(0)</a:t>
            </a:r>
            <a:r>
              <a:rPr lang="zh-CN" altLang="en-US" sz="2400" b="1" dirty="0">
                <a:solidFill>
                  <a:srgbClr val="020001"/>
                </a:solidFill>
                <a:latin typeface="+mn-ea"/>
                <a:sym typeface="+mn-ea"/>
              </a:rPr>
              <a:t>类似</a:t>
            </a:r>
            <a:endParaRPr lang="en-US" altLang="zh-CN" sz="2400" b="1">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10" name="Rectangle 2"/>
          <p:cNvSpPr>
            <a:spLocks noChangeArrowheads="1"/>
          </p:cNvSpPr>
          <p:nvPr/>
        </p:nvSpPr>
        <p:spPr bwMode="auto">
          <a:xfrm>
            <a:off x="7022465" y="2947035"/>
            <a:ext cx="4770120" cy="274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a:lnSpc>
                <a:spcPct val="120000"/>
              </a:lnSpc>
              <a:spcBef>
                <a:spcPts val="0"/>
              </a:spcBef>
              <a:spcAft>
                <a:spcPts val="0"/>
              </a:spcAft>
            </a:pPr>
            <a:r>
              <a:rPr lang="en-US" altLang="zh-CN" sz="2400" b="1" dirty="0">
                <a:solidFill>
                  <a:srgbClr val="020001"/>
                </a:solidFill>
                <a:latin typeface="+mn-ea"/>
                <a:sym typeface="Symbol" panose="05050102010706020507" pitchFamily="18" charset="2"/>
              </a:rPr>
              <a:t>I</a:t>
            </a:r>
            <a:r>
              <a:rPr lang="zh-CN" altLang="en-US" sz="2400" b="1" dirty="0">
                <a:solidFill>
                  <a:srgbClr val="020001"/>
                </a:solidFill>
                <a:latin typeface="+mn-ea"/>
                <a:sym typeface="Symbol" panose="05050102010706020507" pitchFamily="18" charset="2"/>
              </a:rPr>
              <a:t>是一个</a:t>
            </a:r>
            <a:r>
              <a:rPr lang="en-US" altLang="zh-CN" sz="2400" b="1" dirty="0">
                <a:solidFill>
                  <a:srgbClr val="020001"/>
                </a:solidFill>
                <a:latin typeface="+mn-ea"/>
                <a:sym typeface="Symbol" panose="05050102010706020507" pitchFamily="18" charset="2"/>
              </a:rPr>
              <a:t>LR(1)</a:t>
            </a:r>
            <a:r>
              <a:rPr lang="zh-CN" altLang="en-US" sz="2400" b="1" dirty="0">
                <a:solidFill>
                  <a:srgbClr val="020001"/>
                </a:solidFill>
                <a:latin typeface="+mn-ea"/>
                <a:sym typeface="Symbol" panose="05050102010706020507" pitchFamily="18" charset="2"/>
              </a:rPr>
              <a:t>项目集，</a:t>
            </a:r>
            <a:r>
              <a:rPr lang="en-US" altLang="zh-CN" sz="2400" b="1" dirty="0" err="1">
                <a:solidFill>
                  <a:srgbClr val="020001"/>
                </a:solidFill>
                <a:latin typeface="+mn-ea"/>
              </a:rPr>
              <a:t>x</a:t>
            </a:r>
            <a:r>
              <a:rPr lang="en-US" altLang="zh-CN" sz="2400" b="1" dirty="0" err="1">
                <a:solidFill>
                  <a:srgbClr val="020001"/>
                </a:solidFill>
                <a:latin typeface="+mn-ea"/>
                <a:sym typeface="Symbol" panose="05050102010706020507" pitchFamily="18" charset="2"/>
              </a:rPr>
              <a:t>V</a:t>
            </a:r>
            <a:r>
              <a:rPr lang="en-US" altLang="zh-CN" sz="2400" b="1" baseline="-25000" dirty="0" err="1">
                <a:solidFill>
                  <a:srgbClr val="020001"/>
                </a:solidFill>
                <a:latin typeface="+mn-ea"/>
                <a:sym typeface="Symbol" panose="05050102010706020507" pitchFamily="18" charset="2"/>
              </a:rPr>
              <a:t>N</a:t>
            </a:r>
            <a:r>
              <a:rPr lang="en-US" altLang="zh-CN" sz="2400" b="1" dirty="0" err="1">
                <a:solidFill>
                  <a:srgbClr val="010000"/>
                </a:solidFill>
                <a:latin typeface="+mn-ea"/>
                <a:sym typeface="Symbol" panose="05050102010706020507" pitchFamily="18" charset="2"/>
              </a:rPr>
              <a:t>∪</a:t>
            </a:r>
            <a:r>
              <a:rPr lang="en-US" altLang="zh-CN" sz="2400" b="1" dirty="0" err="1">
                <a:solidFill>
                  <a:srgbClr val="020001"/>
                </a:solidFill>
                <a:latin typeface="+mn-ea"/>
                <a:sym typeface="Symbol" panose="05050102010706020507" pitchFamily="18" charset="2"/>
              </a:rPr>
              <a:t>V</a:t>
            </a:r>
            <a:r>
              <a:rPr lang="en-US" altLang="zh-CN" sz="2400" b="1" baseline="-25000" dirty="0" err="1">
                <a:solidFill>
                  <a:srgbClr val="020001"/>
                </a:solidFill>
                <a:latin typeface="+mn-ea"/>
                <a:sym typeface="Symbol" panose="05050102010706020507" pitchFamily="18" charset="2"/>
              </a:rPr>
              <a:t>T</a:t>
            </a:r>
            <a:r>
              <a:rPr lang="en-US" altLang="zh-CN" sz="2400" b="1" dirty="0">
                <a:solidFill>
                  <a:srgbClr val="020001"/>
                </a:solidFill>
                <a:latin typeface="+mn-ea"/>
                <a:sym typeface="Symbol" panose="05050102010706020507" pitchFamily="18" charset="2"/>
              </a:rPr>
              <a:t>，</a:t>
            </a:r>
            <a:r>
              <a:rPr lang="zh-CN" altLang="en-US" sz="2400" b="1" dirty="0">
                <a:solidFill>
                  <a:srgbClr val="FF0000"/>
                </a:solidFill>
                <a:latin typeface="+mn-ea"/>
              </a:rPr>
              <a:t>状态转移函数</a:t>
            </a:r>
            <a:r>
              <a:rPr lang="en-US" altLang="zh-CN" sz="2400" b="1" dirty="0">
                <a:solidFill>
                  <a:srgbClr val="FF0000"/>
                </a:solidFill>
                <a:latin typeface="+mn-ea"/>
              </a:rPr>
              <a:t>GO(</a:t>
            </a:r>
            <a:r>
              <a:rPr lang="en-US" altLang="zh-CN" sz="2400" b="1" dirty="0" err="1">
                <a:solidFill>
                  <a:srgbClr val="FF0000"/>
                </a:solidFill>
                <a:latin typeface="+mn-ea"/>
              </a:rPr>
              <a:t>I,x</a:t>
            </a:r>
            <a:r>
              <a:rPr lang="en-US" altLang="zh-CN" sz="2400" b="1" dirty="0">
                <a:solidFill>
                  <a:srgbClr val="FF0000"/>
                </a:solidFill>
                <a:latin typeface="+mn-ea"/>
              </a:rPr>
              <a:t>)</a:t>
            </a:r>
            <a:r>
              <a:rPr lang="zh-CN" altLang="en-US" sz="2400" b="1" dirty="0">
                <a:solidFill>
                  <a:srgbClr val="FF0000"/>
                </a:solidFill>
                <a:latin typeface="+mn-ea"/>
              </a:rPr>
              <a:t>定义如下：</a:t>
            </a:r>
            <a:r>
              <a:rPr lang="en-US" altLang="zh-CN" sz="2400" b="1" dirty="0">
                <a:solidFill>
                  <a:srgbClr val="020001"/>
                </a:solidFill>
                <a:latin typeface="+mn-ea"/>
              </a:rPr>
              <a:t>GO(I</a:t>
            </a:r>
            <a:r>
              <a:rPr lang="zh-CN" altLang="en-US" sz="2400" b="1" dirty="0">
                <a:solidFill>
                  <a:srgbClr val="020001"/>
                </a:solidFill>
                <a:latin typeface="+mn-ea"/>
              </a:rPr>
              <a:t>，</a:t>
            </a:r>
            <a:r>
              <a:rPr lang="en-US" altLang="zh-CN" sz="2400" b="1" dirty="0">
                <a:solidFill>
                  <a:srgbClr val="020001"/>
                </a:solidFill>
                <a:latin typeface="+mn-ea"/>
              </a:rPr>
              <a:t>x)= CLOSURE(J) ,</a:t>
            </a:r>
            <a:r>
              <a:rPr lang="zh-CN" altLang="en-US" sz="2400" b="1" dirty="0">
                <a:solidFill>
                  <a:srgbClr val="020001"/>
                </a:solidFill>
                <a:latin typeface="+mn-ea"/>
              </a:rPr>
              <a:t>其中</a:t>
            </a:r>
            <a:r>
              <a:rPr lang="en-US" altLang="zh-CN" sz="2400" b="1" dirty="0">
                <a:solidFill>
                  <a:srgbClr val="020001"/>
                </a:solidFill>
                <a:latin typeface="+mn-ea"/>
                <a:sym typeface="Symbol" panose="05050102010706020507" pitchFamily="18" charset="2"/>
              </a:rPr>
              <a:t>J</a:t>
            </a:r>
            <a:r>
              <a:rPr lang="zh-CN" altLang="en-US" sz="2400" b="1" dirty="0">
                <a:solidFill>
                  <a:srgbClr val="020001"/>
                </a:solidFill>
                <a:latin typeface="+mn-ea"/>
                <a:sym typeface="Symbol" panose="05050102010706020507" pitchFamily="18" charset="2"/>
              </a:rPr>
              <a:t>是</a:t>
            </a:r>
            <a:r>
              <a:rPr lang="en-US" altLang="zh-CN" sz="2400" b="1" dirty="0">
                <a:solidFill>
                  <a:srgbClr val="020001"/>
                </a:solidFill>
                <a:latin typeface="+mn-ea"/>
                <a:sym typeface="Symbol" panose="05050102010706020507" pitchFamily="18" charset="2"/>
              </a:rPr>
              <a:t>I</a:t>
            </a:r>
            <a:r>
              <a:rPr lang="zh-CN" altLang="en-US" sz="2400" b="1" dirty="0">
                <a:solidFill>
                  <a:srgbClr val="0070C0"/>
                </a:solidFill>
                <a:latin typeface="+mn-ea"/>
              </a:rPr>
              <a:t>识别</a:t>
            </a:r>
            <a:r>
              <a:rPr lang="zh-CN" altLang="en-US" sz="2400" b="1" dirty="0">
                <a:solidFill>
                  <a:srgbClr val="020001"/>
                </a:solidFill>
                <a:latin typeface="+mn-ea"/>
              </a:rPr>
              <a:t>输入符号</a:t>
            </a:r>
            <a:r>
              <a:rPr lang="en-US" altLang="zh-CN" sz="2400" b="1" dirty="0">
                <a:solidFill>
                  <a:srgbClr val="020001"/>
                </a:solidFill>
                <a:latin typeface="+mn-ea"/>
              </a:rPr>
              <a:t>x</a:t>
            </a:r>
            <a:r>
              <a:rPr lang="zh-CN" altLang="en-US" sz="2400" b="1" dirty="0">
                <a:solidFill>
                  <a:srgbClr val="020001"/>
                </a:solidFill>
                <a:latin typeface="+mn-ea"/>
              </a:rPr>
              <a:t>后所到达的项目集，后跟符号不变。</a:t>
            </a:r>
            <a:endParaRPr lang="zh-CN" altLang="en-US" sz="2400" b="1" dirty="0">
              <a:solidFill>
                <a:srgbClr val="020001"/>
              </a:solidFill>
              <a:latin typeface="+mn-ea"/>
            </a:endParaRPr>
          </a:p>
          <a:p>
            <a:pPr>
              <a:lnSpc>
                <a:spcPct val="120000"/>
              </a:lnSpc>
              <a:spcBef>
                <a:spcPts val="0"/>
              </a:spcBef>
              <a:spcAft>
                <a:spcPts val="0"/>
              </a:spcAft>
            </a:pPr>
            <a:r>
              <a:rPr lang="en-US" altLang="zh-CN" sz="2400" b="1" dirty="0">
                <a:solidFill>
                  <a:srgbClr val="020001"/>
                </a:solidFill>
                <a:latin typeface="+mn-ea"/>
              </a:rPr>
              <a:t>J={[A</a:t>
            </a:r>
            <a:r>
              <a:rPr lang="en-US" altLang="zh-CN" sz="2400" b="1" dirty="0">
                <a:solidFill>
                  <a:srgbClr val="020001"/>
                </a:solidFill>
                <a:latin typeface="+mn-ea"/>
                <a:sym typeface="Symbol" panose="05050102010706020507" pitchFamily="18" charset="2"/>
              </a:rPr>
              <a:t>x.，a] | [</a:t>
            </a:r>
            <a:r>
              <a:rPr lang="en-US" altLang="zh-CN" sz="2400" b="1" dirty="0">
                <a:solidFill>
                  <a:srgbClr val="020001"/>
                </a:solidFill>
                <a:latin typeface="+mn-ea"/>
              </a:rPr>
              <a:t>A</a:t>
            </a:r>
            <a:r>
              <a:rPr lang="en-US" altLang="zh-CN" sz="2400" b="1" dirty="0">
                <a:solidFill>
                  <a:srgbClr val="020001"/>
                </a:solidFill>
                <a:latin typeface="+mn-ea"/>
                <a:sym typeface="Symbol" panose="05050102010706020507" pitchFamily="18" charset="2"/>
              </a:rPr>
              <a:t>.x,  a] </a:t>
            </a:r>
            <a:r>
              <a:rPr lang="en-US" altLang="zh-CN" sz="2400" b="1" dirty="0">
                <a:solidFill>
                  <a:srgbClr val="020001"/>
                </a:solidFill>
                <a:latin typeface="+mn-ea"/>
              </a:rPr>
              <a:t>I}</a:t>
            </a:r>
            <a:endParaRPr lang="en-US" altLang="zh-CN" sz="2400" b="1" dirty="0">
              <a:solidFill>
                <a:srgbClr val="02000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14350" y="276860"/>
            <a:ext cx="733869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
        <p:nvSpPr>
          <p:cNvPr id="7" name="Rectangle 3"/>
          <p:cNvSpPr>
            <a:spLocks noChangeArrowheads="1"/>
          </p:cNvSpPr>
          <p:nvPr/>
        </p:nvSpPr>
        <p:spPr bwMode="auto">
          <a:xfrm>
            <a:off x="337820" y="1146175"/>
            <a:ext cx="4241165" cy="484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marL="914400" indent="-457200">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0" indent="0">
              <a:lnSpc>
                <a:spcPct val="140000"/>
              </a:lnSpc>
              <a:spcBef>
                <a:spcPts val="50"/>
              </a:spcBef>
              <a:spcAft>
                <a:spcPts val="0"/>
              </a:spcAft>
              <a:buFont typeface="+mj-lt"/>
              <a:buNone/>
            </a:pPr>
            <a:r>
              <a:rPr lang="en-US" altLang="zh-CN" sz="2200" b="1">
                <a:solidFill>
                  <a:srgbClr val="020001"/>
                </a:solidFill>
                <a:latin typeface="+mn-ea"/>
                <a:ea typeface="+mn-ea"/>
                <a:sym typeface="+mn-ea"/>
              </a:rPr>
              <a:t>1</a:t>
            </a:r>
            <a:r>
              <a:rPr lang="zh-CN" altLang="en-US" sz="2200" b="1">
                <a:solidFill>
                  <a:srgbClr val="020001"/>
                </a:solidFill>
                <a:latin typeface="+mn-ea"/>
                <a:ea typeface="+mn-ea"/>
                <a:sym typeface="+mn-ea"/>
              </a:rPr>
              <a:t>）令</a:t>
            </a:r>
            <a:r>
              <a:rPr lang="en-US" altLang="zh-CN" sz="2200" b="1">
                <a:solidFill>
                  <a:srgbClr val="020001"/>
                </a:solidFill>
                <a:latin typeface="+mn-ea"/>
                <a:ea typeface="+mn-ea"/>
                <a:sym typeface="+mn-ea"/>
              </a:rPr>
              <a:t>CLOSURE({[S’</a:t>
            </a:r>
            <a:r>
              <a:rPr lang="en-US" altLang="zh-CN" sz="2200" b="1">
                <a:solidFill>
                  <a:srgbClr val="020001"/>
                </a:solidFill>
                <a:latin typeface="+mn-ea"/>
                <a:ea typeface="+mn-ea"/>
                <a:sym typeface="Symbol" panose="05050102010706020507" pitchFamily="18" charset="2"/>
              </a:rPr>
              <a:t> .S, $</a:t>
            </a:r>
            <a:r>
              <a:rPr lang="en-US" altLang="zh-CN" sz="2200" b="1">
                <a:solidFill>
                  <a:srgbClr val="010000"/>
                </a:solidFill>
                <a:latin typeface="+mn-ea"/>
                <a:ea typeface="+mn-ea"/>
                <a:sym typeface="Symbol" panose="05050102010706020507" pitchFamily="18" charset="2"/>
              </a:rPr>
              <a:t> ]</a:t>
            </a:r>
            <a:r>
              <a:rPr lang="en-US" altLang="zh-CN" sz="2200" b="1">
                <a:solidFill>
                  <a:srgbClr val="020001"/>
                </a:solidFill>
                <a:latin typeface="+mn-ea"/>
                <a:ea typeface="+mn-ea"/>
                <a:sym typeface="+mn-ea"/>
              </a:rPr>
              <a:t>})</a:t>
            </a:r>
            <a:r>
              <a:rPr lang="zh-CN" altLang="en-US" sz="2200" b="1">
                <a:solidFill>
                  <a:srgbClr val="020001"/>
                </a:solidFill>
                <a:latin typeface="+mn-ea"/>
                <a:ea typeface="+mn-ea"/>
                <a:sym typeface="+mn-ea"/>
              </a:rPr>
              <a:t>为初态</a:t>
            </a:r>
            <a:endParaRPr lang="zh-CN" altLang="en-US" sz="2200" b="1">
              <a:solidFill>
                <a:srgbClr val="020001"/>
              </a:solidFill>
              <a:latin typeface="+mn-ea"/>
              <a:ea typeface="+mn-ea"/>
              <a:sym typeface="+mn-ea"/>
            </a:endParaRPr>
          </a:p>
          <a:p>
            <a:pPr marL="0" indent="0">
              <a:lnSpc>
                <a:spcPct val="140000"/>
              </a:lnSpc>
              <a:spcBef>
                <a:spcPts val="50"/>
              </a:spcBef>
              <a:spcAft>
                <a:spcPts val="0"/>
              </a:spcAft>
              <a:buFont typeface="+mj-lt"/>
              <a:buNone/>
            </a:pPr>
            <a:r>
              <a:rPr lang="en-US" altLang="zh-CN" sz="2200" b="1">
                <a:solidFill>
                  <a:srgbClr val="020001"/>
                </a:solidFill>
                <a:latin typeface="+mn-ea"/>
                <a:ea typeface="+mn-ea"/>
                <a:sym typeface="+mn-ea"/>
              </a:rPr>
              <a:t>2</a:t>
            </a:r>
            <a:r>
              <a:rPr lang="zh-CN" altLang="en-US" sz="2200" b="1">
                <a:solidFill>
                  <a:srgbClr val="020001"/>
                </a:solidFill>
                <a:latin typeface="+mn-ea"/>
                <a:ea typeface="+mn-ea"/>
                <a:sym typeface="+mn-ea"/>
              </a:rPr>
              <a:t>）</a:t>
            </a:r>
            <a:r>
              <a:rPr lang="zh-CN" altLang="en-US" sz="2200" b="1" dirty="0">
                <a:solidFill>
                  <a:srgbClr val="020001"/>
                </a:solidFill>
                <a:latin typeface="+mn-ea"/>
                <a:ea typeface="+mn-ea"/>
              </a:rPr>
              <a:t>设</a:t>
            </a:r>
            <a:r>
              <a:rPr lang="en-US" altLang="zh-CN" sz="2200" b="1" dirty="0">
                <a:solidFill>
                  <a:srgbClr val="020001"/>
                </a:solidFill>
                <a:latin typeface="+mn-ea"/>
                <a:ea typeface="+mn-ea"/>
              </a:rPr>
              <a:t>I</a:t>
            </a:r>
            <a:r>
              <a:rPr lang="zh-CN" altLang="en-US" sz="2200" b="1" dirty="0">
                <a:solidFill>
                  <a:srgbClr val="020001"/>
                </a:solidFill>
                <a:latin typeface="+mn-ea"/>
                <a:ea typeface="+mn-ea"/>
              </a:rPr>
              <a:t>是</a:t>
            </a:r>
            <a:r>
              <a:rPr lang="en-US" altLang="zh-CN" sz="2200" b="1" dirty="0">
                <a:solidFill>
                  <a:srgbClr val="020001"/>
                </a:solidFill>
                <a:latin typeface="+mn-ea"/>
                <a:ea typeface="+mn-ea"/>
              </a:rPr>
              <a:t>DFA</a:t>
            </a:r>
            <a:r>
              <a:rPr lang="zh-CN" altLang="en-US" sz="2200" b="1" dirty="0">
                <a:solidFill>
                  <a:srgbClr val="020001"/>
                </a:solidFill>
                <a:latin typeface="+mn-ea"/>
                <a:ea typeface="+mn-ea"/>
              </a:rPr>
              <a:t>中状态，对</a:t>
            </a:r>
            <a:r>
              <a:rPr lang="en-US" altLang="zh-CN" sz="2200" b="1" dirty="0" err="1">
                <a:solidFill>
                  <a:srgbClr val="020001"/>
                </a:solidFill>
                <a:latin typeface="+mn-ea"/>
                <a:ea typeface="+mn-ea"/>
              </a:rPr>
              <a:t>x</a:t>
            </a:r>
            <a:r>
              <a:rPr lang="en-US" altLang="zh-CN" sz="2200" b="1" dirty="0" err="1">
                <a:solidFill>
                  <a:srgbClr val="020001"/>
                </a:solidFill>
                <a:latin typeface="+mn-ea"/>
                <a:ea typeface="+mn-ea"/>
                <a:sym typeface="Symbol" panose="05050102010706020507" pitchFamily="18" charset="2"/>
              </a:rPr>
              <a:t>V</a:t>
            </a:r>
            <a:r>
              <a:rPr lang="en-US" altLang="zh-CN" sz="2200" b="1" baseline="-25000" dirty="0" err="1">
                <a:solidFill>
                  <a:srgbClr val="020001"/>
                </a:solidFill>
                <a:latin typeface="+mn-ea"/>
                <a:ea typeface="+mn-ea"/>
                <a:sym typeface="Symbol" panose="05050102010706020507" pitchFamily="18" charset="2"/>
              </a:rPr>
              <a:t>N</a:t>
            </a:r>
            <a:r>
              <a:rPr lang="en-US" altLang="zh-CN" sz="2200" b="1" dirty="0" err="1">
                <a:solidFill>
                  <a:srgbClr val="010000"/>
                </a:solidFill>
                <a:latin typeface="+mn-ea"/>
                <a:ea typeface="+mn-ea"/>
                <a:sym typeface="Symbol" panose="05050102010706020507" pitchFamily="18" charset="2"/>
              </a:rPr>
              <a:t>∪</a:t>
            </a:r>
            <a:r>
              <a:rPr lang="en-US" altLang="zh-CN" sz="2200" b="1" dirty="0" err="1">
                <a:solidFill>
                  <a:srgbClr val="020001"/>
                </a:solidFill>
                <a:latin typeface="+mn-ea"/>
                <a:ea typeface="+mn-ea"/>
                <a:sym typeface="Symbol" panose="05050102010706020507" pitchFamily="18" charset="2"/>
              </a:rPr>
              <a:t>V</a:t>
            </a:r>
            <a:r>
              <a:rPr lang="en-US" altLang="zh-CN" sz="2200" b="1" baseline="-25000" dirty="0" err="1">
                <a:solidFill>
                  <a:srgbClr val="020001"/>
                </a:solidFill>
                <a:latin typeface="+mn-ea"/>
                <a:ea typeface="+mn-ea"/>
                <a:sym typeface="Symbol" panose="05050102010706020507" pitchFamily="18" charset="2"/>
              </a:rPr>
              <a:t>T</a:t>
            </a:r>
            <a:r>
              <a:rPr lang="en-US" altLang="zh-CN" sz="2200" b="1" baseline="-25000" dirty="0">
                <a:solidFill>
                  <a:srgbClr val="020001"/>
                </a:solidFill>
                <a:latin typeface="+mn-ea"/>
                <a:ea typeface="+mn-ea"/>
                <a:sym typeface="Symbol" panose="05050102010706020507" pitchFamily="18" charset="2"/>
              </a:rPr>
              <a:t> </a:t>
            </a:r>
            <a:r>
              <a:rPr lang="zh-CN" altLang="en-US" sz="2200" b="1" dirty="0">
                <a:solidFill>
                  <a:srgbClr val="020001"/>
                </a:solidFill>
                <a:latin typeface="+mn-ea"/>
                <a:ea typeface="+mn-ea"/>
              </a:rPr>
              <a:t>，</a:t>
            </a:r>
            <a:r>
              <a:rPr lang="zh-CN" altLang="en-US" sz="2200" b="1" dirty="0">
                <a:solidFill>
                  <a:srgbClr val="010000"/>
                </a:solidFill>
                <a:latin typeface="+mn-ea"/>
                <a:ea typeface="+mn-ea"/>
                <a:sym typeface="+mn-ea"/>
              </a:rPr>
              <a:t>转移函数</a:t>
            </a:r>
            <a:r>
              <a:rPr lang="en-US" altLang="zh-CN" sz="2200" b="1" dirty="0">
                <a:solidFill>
                  <a:srgbClr val="020001"/>
                </a:solidFill>
                <a:latin typeface="+mn-ea"/>
                <a:ea typeface="+mn-ea"/>
                <a:sym typeface="+mn-ea"/>
              </a:rPr>
              <a:t>GO(</a:t>
            </a:r>
            <a:r>
              <a:rPr lang="en-US" altLang="zh-CN" sz="2200" b="1" dirty="0" err="1">
                <a:solidFill>
                  <a:srgbClr val="020001"/>
                </a:solidFill>
                <a:latin typeface="+mn-ea"/>
                <a:ea typeface="+mn-ea"/>
                <a:sym typeface="+mn-ea"/>
              </a:rPr>
              <a:t>I,x</a:t>
            </a:r>
            <a:r>
              <a:rPr lang="en-US" altLang="zh-CN" sz="2200" b="1" dirty="0">
                <a:solidFill>
                  <a:srgbClr val="020001"/>
                </a:solidFill>
                <a:latin typeface="+mn-ea"/>
                <a:ea typeface="+mn-ea"/>
                <a:sym typeface="+mn-ea"/>
              </a:rPr>
              <a:t>)= CLOSURE(J)</a:t>
            </a:r>
            <a:r>
              <a:rPr lang="en-US" altLang="zh-CN" sz="2200" b="1" dirty="0">
                <a:solidFill>
                  <a:srgbClr val="010000"/>
                </a:solidFill>
                <a:latin typeface="+mn-ea"/>
                <a:ea typeface="+mn-ea"/>
                <a:sym typeface="+mn-ea"/>
              </a:rPr>
              <a:t> </a:t>
            </a:r>
            <a:r>
              <a:rPr lang="zh-CN" altLang="en-US" sz="2200" b="1" dirty="0">
                <a:solidFill>
                  <a:srgbClr val="010000"/>
                </a:solidFill>
                <a:latin typeface="+mn-ea"/>
                <a:ea typeface="+mn-ea"/>
                <a:sym typeface="+mn-ea"/>
              </a:rPr>
              <a:t>作为</a:t>
            </a:r>
            <a:r>
              <a:rPr lang="en-US" altLang="zh-CN" sz="2200" b="1" dirty="0">
                <a:solidFill>
                  <a:srgbClr val="010000"/>
                </a:solidFill>
                <a:latin typeface="+mn-ea"/>
                <a:ea typeface="+mn-ea"/>
                <a:sym typeface="+mn-ea"/>
              </a:rPr>
              <a:t>DFA</a:t>
            </a:r>
            <a:r>
              <a:rPr lang="zh-CN" altLang="en-US" sz="2200" b="1" dirty="0">
                <a:solidFill>
                  <a:srgbClr val="010000"/>
                </a:solidFill>
                <a:latin typeface="+mn-ea"/>
                <a:ea typeface="+mn-ea"/>
                <a:sym typeface="+mn-ea"/>
              </a:rPr>
              <a:t>的转换函数，</a:t>
            </a:r>
            <a:r>
              <a:rPr lang="en-US" altLang="zh-CN" sz="2200" b="1" dirty="0">
                <a:solidFill>
                  <a:srgbClr val="020001"/>
                </a:solidFill>
                <a:latin typeface="+mn-ea"/>
                <a:ea typeface="+mn-ea"/>
              </a:rPr>
              <a:t>CLOSURE(J)</a:t>
            </a:r>
            <a:r>
              <a:rPr lang="en-US" altLang="zh-CN" sz="2200" b="1" dirty="0">
                <a:solidFill>
                  <a:srgbClr val="010000"/>
                </a:solidFill>
                <a:latin typeface="+mn-ea"/>
                <a:ea typeface="+mn-ea"/>
              </a:rPr>
              <a:t> </a:t>
            </a:r>
            <a:r>
              <a:rPr lang="zh-CN" altLang="en-US" sz="2200" b="1" dirty="0">
                <a:solidFill>
                  <a:srgbClr val="010000"/>
                </a:solidFill>
                <a:latin typeface="+mn-ea"/>
                <a:ea typeface="+mn-ea"/>
              </a:rPr>
              <a:t>作为</a:t>
            </a:r>
            <a:r>
              <a:rPr lang="en-US" altLang="zh-CN" sz="2200" b="1" dirty="0">
                <a:solidFill>
                  <a:srgbClr val="020001"/>
                </a:solidFill>
                <a:latin typeface="+mn-ea"/>
                <a:ea typeface="+mn-ea"/>
              </a:rPr>
              <a:t>DFA</a:t>
            </a:r>
            <a:r>
              <a:rPr lang="zh-CN" altLang="en-US" sz="2200" b="1" dirty="0">
                <a:solidFill>
                  <a:srgbClr val="010000"/>
                </a:solidFill>
                <a:latin typeface="+mn-ea"/>
                <a:ea typeface="+mn-ea"/>
              </a:rPr>
              <a:t>新状态。</a:t>
            </a:r>
            <a:endParaRPr lang="zh-CN" altLang="en-US" sz="2200" b="1" dirty="0">
              <a:solidFill>
                <a:srgbClr val="010000"/>
              </a:solidFill>
              <a:latin typeface="+mn-ea"/>
              <a:ea typeface="+mn-ea"/>
            </a:endParaRPr>
          </a:p>
          <a:p>
            <a:pPr marL="0" indent="0">
              <a:lnSpc>
                <a:spcPct val="140000"/>
              </a:lnSpc>
              <a:spcBef>
                <a:spcPts val="50"/>
              </a:spcBef>
              <a:spcAft>
                <a:spcPts val="0"/>
              </a:spcAft>
              <a:buFont typeface="+mj-lt"/>
              <a:buNone/>
            </a:pPr>
            <a:r>
              <a:rPr lang="en-US" altLang="zh-CN" sz="2200" b="1" dirty="0">
                <a:solidFill>
                  <a:srgbClr val="010000"/>
                </a:solidFill>
                <a:latin typeface="+mn-ea"/>
                <a:ea typeface="+mn-ea"/>
              </a:rPr>
              <a:t>3</a:t>
            </a:r>
            <a:r>
              <a:rPr lang="zh-CN" altLang="en-US" sz="2200" b="1" dirty="0">
                <a:solidFill>
                  <a:srgbClr val="010000"/>
                </a:solidFill>
                <a:latin typeface="+mn-ea"/>
                <a:ea typeface="+mn-ea"/>
              </a:rPr>
              <a:t>）重复2)直至</a:t>
            </a:r>
            <a:r>
              <a:rPr lang="en-US" altLang="zh-CN" sz="2200" b="1" dirty="0">
                <a:solidFill>
                  <a:srgbClr val="020001"/>
                </a:solidFill>
                <a:latin typeface="+mn-ea"/>
                <a:ea typeface="+mn-ea"/>
              </a:rPr>
              <a:t>DFA</a:t>
            </a:r>
            <a:r>
              <a:rPr lang="zh-CN" altLang="en-US" sz="2200" b="1" dirty="0">
                <a:solidFill>
                  <a:srgbClr val="020001"/>
                </a:solidFill>
                <a:latin typeface="+mn-ea"/>
                <a:ea typeface="+mn-ea"/>
              </a:rPr>
              <a:t>中</a:t>
            </a:r>
            <a:r>
              <a:rPr lang="zh-CN" altLang="en-US" sz="2200" b="1" dirty="0">
                <a:solidFill>
                  <a:srgbClr val="010000"/>
                </a:solidFill>
                <a:latin typeface="+mn-ea"/>
                <a:ea typeface="+mn-ea"/>
              </a:rPr>
              <a:t>不产生新状态为止；</a:t>
            </a:r>
            <a:endParaRPr lang="zh-CN" altLang="en-US" sz="2200" b="1" dirty="0">
              <a:solidFill>
                <a:srgbClr val="010000"/>
              </a:solidFill>
              <a:latin typeface="+mn-ea"/>
              <a:ea typeface="+mn-ea"/>
            </a:endParaRPr>
          </a:p>
          <a:p>
            <a:pPr marL="0" indent="0">
              <a:lnSpc>
                <a:spcPct val="140000"/>
              </a:lnSpc>
              <a:spcBef>
                <a:spcPts val="50"/>
              </a:spcBef>
              <a:spcAft>
                <a:spcPts val="0"/>
              </a:spcAft>
              <a:buFontTx/>
              <a:buNone/>
            </a:pPr>
            <a:r>
              <a:rPr lang="en-US" altLang="zh-CN" sz="2200" b="1" dirty="0">
                <a:solidFill>
                  <a:srgbClr val="020001"/>
                </a:solidFill>
                <a:latin typeface="+mn-ea"/>
                <a:ea typeface="+mn-ea"/>
              </a:rPr>
              <a:t>4</a:t>
            </a:r>
            <a:r>
              <a:rPr lang="zh-CN" altLang="en-US" sz="2200" b="1" dirty="0">
                <a:solidFill>
                  <a:srgbClr val="020001"/>
                </a:solidFill>
                <a:latin typeface="+mn-ea"/>
                <a:ea typeface="+mn-ea"/>
              </a:rPr>
              <a:t>）含有项目</a:t>
            </a:r>
            <a:r>
              <a:rPr lang="en-US" altLang="zh-CN" sz="2200" b="1" dirty="0" err="1">
                <a:solidFill>
                  <a:srgbClr val="020001"/>
                </a:solidFill>
                <a:latin typeface="+mn-ea"/>
                <a:ea typeface="+mn-ea"/>
              </a:rPr>
              <a:t>U</a:t>
            </a:r>
            <a:r>
              <a:rPr lang="en-US" altLang="zh-CN" sz="2200" b="1" dirty="0" err="1">
                <a:solidFill>
                  <a:srgbClr val="020001"/>
                </a:solidFill>
                <a:latin typeface="+mn-ea"/>
                <a:ea typeface="+mn-ea"/>
                <a:sym typeface="Symbol" panose="05050102010706020507" pitchFamily="18" charset="2"/>
              </a:rPr>
              <a:t>u</a:t>
            </a:r>
            <a:r>
              <a:rPr lang="en-US" altLang="zh-CN" sz="2200" b="1" dirty="0">
                <a:solidFill>
                  <a:srgbClr val="020001"/>
                </a:solidFill>
                <a:latin typeface="+mn-ea"/>
                <a:ea typeface="+mn-ea"/>
                <a:sym typeface="Symbol" panose="05050102010706020507" pitchFamily="18" charset="2"/>
              </a:rPr>
              <a:t>.</a:t>
            </a:r>
            <a:r>
              <a:rPr lang="zh-CN" altLang="en-US" sz="2200" b="1" dirty="0">
                <a:solidFill>
                  <a:srgbClr val="020001"/>
                </a:solidFill>
                <a:latin typeface="+mn-ea"/>
                <a:ea typeface="+mn-ea"/>
                <a:sym typeface="Symbol" panose="05050102010706020507" pitchFamily="18" charset="2"/>
              </a:rPr>
              <a:t>的项目集，作为</a:t>
            </a:r>
            <a:r>
              <a:rPr lang="en-US" altLang="zh-CN" sz="2200" b="1" dirty="0">
                <a:solidFill>
                  <a:srgbClr val="020001"/>
                </a:solidFill>
                <a:latin typeface="+mn-ea"/>
                <a:ea typeface="+mn-ea"/>
                <a:sym typeface="Symbol" panose="05050102010706020507" pitchFamily="18" charset="2"/>
              </a:rPr>
              <a:t>DFA</a:t>
            </a:r>
            <a:r>
              <a:rPr lang="zh-CN" altLang="en-US" sz="2200" b="1" dirty="0">
                <a:solidFill>
                  <a:srgbClr val="020001"/>
                </a:solidFill>
                <a:latin typeface="+mn-ea"/>
                <a:ea typeface="+mn-ea"/>
                <a:sym typeface="Symbol" panose="05050102010706020507" pitchFamily="18" charset="2"/>
              </a:rPr>
              <a:t>的终态；</a:t>
            </a:r>
            <a:endParaRPr lang="zh-CN" altLang="en-US" sz="2200" b="1" dirty="0">
              <a:solidFill>
                <a:srgbClr val="020001"/>
              </a:solidFill>
              <a:latin typeface="+mn-ea"/>
              <a:ea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3" name="Group 2"/>
          <p:cNvGrpSpPr/>
          <p:nvPr/>
        </p:nvGrpSpPr>
        <p:grpSpPr bwMode="auto">
          <a:xfrm>
            <a:off x="6879087" y="2154834"/>
            <a:ext cx="822192" cy="460263"/>
            <a:chOff x="2592" y="1104"/>
            <a:chExt cx="576" cy="298"/>
          </a:xfrm>
        </p:grpSpPr>
        <p:sp>
          <p:nvSpPr>
            <p:cNvPr id="8" name="Line 3"/>
            <p:cNvSpPr>
              <a:spLocks noChangeShapeType="1"/>
            </p:cNvSpPr>
            <p:nvPr>
              <p:custDataLst>
                <p:tags r:id="rId1"/>
              </p:custDataLst>
            </p:nvPr>
          </p:nvSpPr>
          <p:spPr bwMode="auto">
            <a:xfrm>
              <a:off x="2592" y="1344"/>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1400" b="1">
                <a:latin typeface="+mn-ea"/>
              </a:endParaRPr>
            </a:p>
          </p:txBody>
        </p:sp>
        <p:sp>
          <p:nvSpPr>
            <p:cNvPr id="10" name="Rectangle 4"/>
            <p:cNvSpPr>
              <a:spLocks noChangeArrowheads="1"/>
            </p:cNvSpPr>
            <p:nvPr>
              <p:custDataLst>
                <p:tags r:id="rId2"/>
              </p:custDataLst>
            </p:nvPr>
          </p:nvSpPr>
          <p:spPr bwMode="auto">
            <a:xfrm>
              <a:off x="2784" y="1104"/>
              <a:ext cx="24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S</a:t>
              </a:r>
              <a:endParaRPr lang="zh-CN" altLang="en-US" sz="2400" b="1">
                <a:solidFill>
                  <a:srgbClr val="020001"/>
                </a:solidFill>
                <a:latin typeface="+mn-ea"/>
                <a:sym typeface="Symbol" panose="05050102010706020507" pitchFamily="18" charset="2"/>
              </a:endParaRPr>
            </a:p>
          </p:txBody>
        </p:sp>
      </p:grpSp>
      <p:grpSp>
        <p:nvGrpSpPr>
          <p:cNvPr id="11" name="Group 5"/>
          <p:cNvGrpSpPr/>
          <p:nvPr/>
        </p:nvGrpSpPr>
        <p:grpSpPr bwMode="auto">
          <a:xfrm>
            <a:off x="4745228" y="2105899"/>
            <a:ext cx="2412000" cy="1093510"/>
            <a:chOff x="108" y="144"/>
            <a:chExt cx="2072" cy="708"/>
          </a:xfrm>
        </p:grpSpPr>
        <p:sp useBgFill="1">
          <p:nvSpPr>
            <p:cNvPr id="13" name="AutoShape 6"/>
            <p:cNvSpPr>
              <a:spLocks noChangeArrowheads="1"/>
            </p:cNvSpPr>
            <p:nvPr>
              <p:custDataLst>
                <p:tags r:id="rId3"/>
              </p:custDataLst>
            </p:nvPr>
          </p:nvSpPr>
          <p:spPr bwMode="auto">
            <a:xfrm>
              <a:off x="108" y="144"/>
              <a:ext cx="1956" cy="672"/>
            </a:xfrm>
            <a:prstGeom prst="roundRect">
              <a:avLst>
                <a:gd name="adj" fmla="val 16667"/>
              </a:avLst>
            </a:prstGeom>
            <a:ln w="9525">
              <a:solidFill>
                <a:schemeClr val="tx1"/>
              </a:solidFill>
              <a:miter lim="800000"/>
            </a:ln>
          </p:spPr>
          <p:txBody>
            <a:bodyPr wrap="none" anchor="ctr"/>
            <a:p>
              <a:r>
                <a:rPr lang="en-US" altLang="zh-CN" sz="2400" b="1" dirty="0">
                  <a:solidFill>
                    <a:srgbClr val="020001"/>
                  </a:solidFill>
                  <a:latin typeface="+mn-ea"/>
                </a:rPr>
                <a:t>[S’</a:t>
              </a:r>
              <a:r>
                <a:rPr lang="en-US" altLang="zh-CN" sz="2400" b="1" dirty="0">
                  <a:solidFill>
                    <a:srgbClr val="020001"/>
                  </a:solidFill>
                  <a:latin typeface="+mn-ea"/>
                  <a:sym typeface="Symbol" panose="05050102010706020507" pitchFamily="18" charset="2"/>
                </a:rPr>
                <a:t> .S, $]</a:t>
              </a:r>
              <a:endParaRPr lang="en-US" altLang="zh-CN" sz="2400" b="1" dirty="0">
                <a:solidFill>
                  <a:srgbClr val="020001"/>
                </a:solidFill>
                <a:latin typeface="+mn-ea"/>
                <a:sym typeface="Symbol" panose="05050102010706020507" pitchFamily="18" charset="2"/>
              </a:endParaRPr>
            </a:p>
            <a:p>
              <a:r>
                <a:rPr lang="en-US" altLang="zh-CN" sz="2400" b="1" dirty="0">
                  <a:solidFill>
                    <a:srgbClr val="020001"/>
                  </a:solidFill>
                  <a:latin typeface="+mn-ea"/>
                </a:rPr>
                <a:t>[S</a:t>
              </a:r>
              <a:r>
                <a:rPr lang="en-US" altLang="zh-CN" sz="2400" b="1" dirty="0">
                  <a:solidFill>
                    <a:srgbClr val="020001"/>
                  </a:solidFill>
                  <a:latin typeface="+mn-ea"/>
                  <a:sym typeface="Symbol" panose="05050102010706020507" pitchFamily="18" charset="2"/>
                </a:rPr>
                <a:t> .</a:t>
              </a:r>
              <a:r>
                <a:rPr lang="en-US" altLang="zh-CN" sz="2400" b="1" dirty="0" err="1">
                  <a:solidFill>
                    <a:srgbClr val="020001"/>
                  </a:solidFill>
                  <a:latin typeface="+mn-ea"/>
                  <a:sym typeface="Symbol" panose="05050102010706020507" pitchFamily="18" charset="2"/>
                </a:rPr>
                <a:t>aAcBe,$]</a:t>
              </a:r>
              <a:endParaRPr lang="zh-CN" altLang="en-US" sz="2400" b="1" dirty="0">
                <a:solidFill>
                  <a:srgbClr val="020001"/>
                </a:solidFill>
                <a:latin typeface="+mn-ea"/>
              </a:endParaRPr>
            </a:p>
          </p:txBody>
        </p:sp>
        <p:sp useBgFill="1">
          <p:nvSpPr>
            <p:cNvPr id="14" name="Oval 7"/>
            <p:cNvSpPr>
              <a:spLocks noChangeArrowheads="1"/>
            </p:cNvSpPr>
            <p:nvPr>
              <p:custDataLst>
                <p:tags r:id="rId4"/>
              </p:custDataLst>
            </p:nvPr>
          </p:nvSpPr>
          <p:spPr bwMode="auto">
            <a:xfrm>
              <a:off x="1920" y="624"/>
              <a:ext cx="260" cy="228"/>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0</a:t>
              </a:r>
              <a:endParaRPr lang="zh-CN" altLang="en-US" sz="2400" b="1">
                <a:solidFill>
                  <a:srgbClr val="020001"/>
                </a:solidFill>
                <a:latin typeface="+mn-ea"/>
              </a:endParaRPr>
            </a:p>
          </p:txBody>
        </p:sp>
      </p:grpSp>
      <p:grpSp>
        <p:nvGrpSpPr>
          <p:cNvPr id="15" name="Group 8"/>
          <p:cNvGrpSpPr/>
          <p:nvPr/>
        </p:nvGrpSpPr>
        <p:grpSpPr bwMode="auto">
          <a:xfrm>
            <a:off x="7750467" y="2251436"/>
            <a:ext cx="1625443" cy="704294"/>
            <a:chOff x="2688" y="192"/>
            <a:chExt cx="1376" cy="456"/>
          </a:xfrm>
        </p:grpSpPr>
        <p:sp useBgFill="1">
          <p:nvSpPr>
            <p:cNvPr id="16" name="AutoShape 9"/>
            <p:cNvSpPr>
              <a:spLocks noChangeArrowheads="1"/>
            </p:cNvSpPr>
            <p:nvPr>
              <p:custDataLst>
                <p:tags r:id="rId5"/>
              </p:custDataLst>
            </p:nvPr>
          </p:nvSpPr>
          <p:spPr bwMode="auto">
            <a:xfrm>
              <a:off x="2688" y="192"/>
              <a:ext cx="1201" cy="336"/>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S .,$]</a:t>
              </a:r>
              <a:endParaRPr lang="zh-CN" altLang="en-US" sz="2400" b="1">
                <a:solidFill>
                  <a:srgbClr val="020001"/>
                </a:solidFill>
                <a:latin typeface="+mn-ea"/>
              </a:endParaRPr>
            </a:p>
          </p:txBody>
        </p:sp>
        <p:sp useBgFill="1">
          <p:nvSpPr>
            <p:cNvPr id="17" name="Oval 10"/>
            <p:cNvSpPr>
              <a:spLocks noChangeArrowheads="1"/>
            </p:cNvSpPr>
            <p:nvPr>
              <p:custDataLst>
                <p:tags r:id="rId6"/>
              </p:custDataLst>
            </p:nvPr>
          </p:nvSpPr>
          <p:spPr bwMode="auto">
            <a:xfrm>
              <a:off x="3776" y="456"/>
              <a:ext cx="288" cy="192"/>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1</a:t>
              </a:r>
              <a:endParaRPr lang="zh-CN" altLang="en-US" sz="2400" b="1">
                <a:solidFill>
                  <a:srgbClr val="020001"/>
                </a:solidFill>
                <a:latin typeface="+mn-ea"/>
              </a:endParaRPr>
            </a:p>
          </p:txBody>
        </p:sp>
      </p:grpSp>
      <p:grpSp>
        <p:nvGrpSpPr>
          <p:cNvPr id="18" name="Group 11"/>
          <p:cNvGrpSpPr/>
          <p:nvPr/>
        </p:nvGrpSpPr>
        <p:grpSpPr bwMode="auto">
          <a:xfrm>
            <a:off x="5924550" y="3115310"/>
            <a:ext cx="410845" cy="459997"/>
            <a:chOff x="1968" y="1668"/>
            <a:chExt cx="288" cy="547"/>
          </a:xfrm>
        </p:grpSpPr>
        <p:sp>
          <p:nvSpPr>
            <p:cNvPr id="19" name="Line 12"/>
            <p:cNvSpPr>
              <a:spLocks noChangeShapeType="1"/>
            </p:cNvSpPr>
            <p:nvPr>
              <p:custDataLst>
                <p:tags r:id="rId7"/>
              </p:custDataLst>
            </p:nvPr>
          </p:nvSpPr>
          <p:spPr bwMode="auto">
            <a:xfrm>
              <a:off x="1968" y="1728"/>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0" name="Rectangle 13"/>
            <p:cNvSpPr>
              <a:spLocks noChangeArrowheads="1"/>
            </p:cNvSpPr>
            <p:nvPr>
              <p:custDataLst>
                <p:tags r:id="rId8"/>
              </p:custDataLst>
            </p:nvPr>
          </p:nvSpPr>
          <p:spPr bwMode="auto">
            <a:xfrm>
              <a:off x="2016" y="1668"/>
              <a:ext cx="240"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20001"/>
                  </a:solidFill>
                  <a:latin typeface="+mn-ea"/>
                  <a:sym typeface="Symbol" panose="05050102010706020507" pitchFamily="18" charset="2"/>
                </a:rPr>
                <a:t>a</a:t>
              </a:r>
              <a:endParaRPr lang="en-US" altLang="zh-CN" sz="2400" b="1">
                <a:solidFill>
                  <a:srgbClr val="020001"/>
                </a:solidFill>
                <a:latin typeface="+mn-ea"/>
                <a:sym typeface="Symbol" panose="05050102010706020507" pitchFamily="18" charset="2"/>
              </a:endParaRPr>
            </a:p>
          </p:txBody>
        </p:sp>
      </p:grpSp>
      <p:grpSp>
        <p:nvGrpSpPr>
          <p:cNvPr id="21" name="Group 14"/>
          <p:cNvGrpSpPr/>
          <p:nvPr/>
        </p:nvGrpSpPr>
        <p:grpSpPr bwMode="auto">
          <a:xfrm>
            <a:off x="6797040" y="3660140"/>
            <a:ext cx="401955" cy="460375"/>
            <a:chOff x="2544" y="1968"/>
            <a:chExt cx="480" cy="298"/>
          </a:xfrm>
        </p:grpSpPr>
        <p:sp>
          <p:nvSpPr>
            <p:cNvPr id="22" name="Line 15"/>
            <p:cNvSpPr>
              <a:spLocks noChangeShapeType="1"/>
            </p:cNvSpPr>
            <p:nvPr>
              <p:custDataLst>
                <p:tags r:id="rId9"/>
              </p:custDataLst>
            </p:nvPr>
          </p:nvSpPr>
          <p:spPr bwMode="auto">
            <a:xfrm>
              <a:off x="2544" y="2256"/>
              <a:ext cx="48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23" name="Rectangle 16"/>
            <p:cNvSpPr>
              <a:spLocks noChangeArrowheads="1"/>
            </p:cNvSpPr>
            <p:nvPr>
              <p:custDataLst>
                <p:tags r:id="rId10"/>
              </p:custDataLst>
            </p:nvPr>
          </p:nvSpPr>
          <p:spPr bwMode="auto">
            <a:xfrm>
              <a:off x="2593" y="1968"/>
              <a:ext cx="3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20001"/>
                  </a:solidFill>
                  <a:latin typeface="+mn-ea"/>
                  <a:sym typeface="Symbol" panose="05050102010706020507" pitchFamily="18" charset="2"/>
                </a:rPr>
                <a:t>A</a:t>
              </a:r>
              <a:endParaRPr lang="zh-CN" altLang="en-US" sz="2400" b="1">
                <a:solidFill>
                  <a:srgbClr val="020001"/>
                </a:solidFill>
                <a:latin typeface="+mn-ea"/>
                <a:sym typeface="Symbol" panose="05050102010706020507" pitchFamily="18" charset="2"/>
              </a:endParaRPr>
            </a:p>
          </p:txBody>
        </p:sp>
      </p:grpSp>
      <p:grpSp>
        <p:nvGrpSpPr>
          <p:cNvPr id="24" name="Group 17"/>
          <p:cNvGrpSpPr/>
          <p:nvPr/>
        </p:nvGrpSpPr>
        <p:grpSpPr bwMode="auto">
          <a:xfrm>
            <a:off x="4622165" y="3503930"/>
            <a:ext cx="2244725" cy="1572260"/>
            <a:chOff x="-110" y="1200"/>
            <a:chExt cx="2148" cy="1018"/>
          </a:xfrm>
        </p:grpSpPr>
        <p:sp useBgFill="1">
          <p:nvSpPr>
            <p:cNvPr id="25" name="AutoShape 18"/>
            <p:cNvSpPr>
              <a:spLocks noChangeArrowheads="1"/>
            </p:cNvSpPr>
            <p:nvPr>
              <p:custDataLst>
                <p:tags r:id="rId11"/>
              </p:custDataLst>
            </p:nvPr>
          </p:nvSpPr>
          <p:spPr bwMode="auto">
            <a:xfrm>
              <a:off x="-110" y="1200"/>
              <a:ext cx="2148" cy="960"/>
            </a:xfrm>
            <a:prstGeom prst="roundRect">
              <a:avLst>
                <a:gd name="adj" fmla="val 16667"/>
              </a:avLst>
            </a:prstGeom>
            <a:ln w="9525">
              <a:solidFill>
                <a:schemeClr val="tx1"/>
              </a:solidFill>
              <a:miter lim="800000"/>
            </a:ln>
          </p:spPr>
          <p:txBody>
            <a:bodyPr wrap="none" anchor="ctr"/>
            <a:p>
              <a:r>
                <a:rPr lang="en-US" altLang="zh-CN" sz="2400" b="1" dirty="0">
                  <a:solidFill>
                    <a:srgbClr val="0070C0"/>
                  </a:solidFill>
                  <a:latin typeface="+mn-ea"/>
                </a:rPr>
                <a:t>[S</a:t>
              </a:r>
              <a:r>
                <a:rPr lang="en-US" altLang="zh-CN" sz="2400" b="1" dirty="0">
                  <a:solidFill>
                    <a:srgbClr val="0070C0"/>
                  </a:solidFill>
                  <a:latin typeface="+mn-ea"/>
                  <a:sym typeface="Symbol" panose="05050102010706020507" pitchFamily="18" charset="2"/>
                </a:rPr>
                <a:t> a .</a:t>
              </a:r>
              <a:r>
                <a:rPr lang="en-US" altLang="zh-CN" sz="2400" b="1" dirty="0" err="1">
                  <a:solidFill>
                    <a:srgbClr val="0070C0"/>
                  </a:solidFill>
                  <a:latin typeface="+mn-ea"/>
                  <a:sym typeface="Symbol" panose="05050102010706020507" pitchFamily="18" charset="2"/>
                </a:rPr>
                <a:t>AcBe,$]</a:t>
              </a:r>
              <a:endParaRPr lang="en-US" altLang="zh-CN" sz="2400" b="1" dirty="0">
                <a:solidFill>
                  <a:srgbClr val="0070C0"/>
                </a:solidFill>
                <a:latin typeface="+mn-ea"/>
                <a:sym typeface="Symbol" panose="05050102010706020507" pitchFamily="18" charset="2"/>
              </a:endParaRPr>
            </a:p>
            <a:p>
              <a:r>
                <a:rPr lang="en-US" altLang="zh-CN" sz="2400" b="1" dirty="0">
                  <a:solidFill>
                    <a:srgbClr val="020001"/>
                  </a:solidFill>
                  <a:latin typeface="+mn-ea"/>
                  <a:sym typeface="Symbol" panose="05050102010706020507" pitchFamily="18" charset="2"/>
                </a:rPr>
                <a:t>[A .b, c]</a:t>
              </a:r>
              <a:endParaRPr lang="en-US" altLang="zh-CN" sz="2400" b="1" dirty="0">
                <a:solidFill>
                  <a:srgbClr val="F4007A"/>
                </a:solidFill>
                <a:latin typeface="+mn-ea"/>
                <a:sym typeface="Symbol" panose="05050102010706020507" pitchFamily="18" charset="2"/>
              </a:endParaRPr>
            </a:p>
            <a:p>
              <a:r>
                <a:rPr lang="en-US" altLang="zh-CN" sz="2400" b="1" dirty="0">
                  <a:solidFill>
                    <a:srgbClr val="020001"/>
                  </a:solidFill>
                  <a:latin typeface="+mn-ea"/>
                  <a:sym typeface="Symbol" panose="05050102010706020507" pitchFamily="18" charset="2"/>
                </a:rPr>
                <a:t>[A .Ab, c]</a:t>
              </a:r>
              <a:r>
                <a:rPr lang="zh-CN" altLang="en-US" sz="2400" b="1" dirty="0">
                  <a:solidFill>
                    <a:srgbClr val="020001"/>
                  </a:solidFill>
                  <a:latin typeface="+mn-ea"/>
                </a:rPr>
                <a:t>  </a:t>
              </a:r>
              <a:endParaRPr lang="zh-CN" altLang="en-US" sz="2400" b="1" dirty="0">
                <a:solidFill>
                  <a:srgbClr val="020001"/>
                </a:solidFill>
                <a:latin typeface="+mn-ea"/>
              </a:endParaRPr>
            </a:p>
          </p:txBody>
        </p:sp>
        <p:sp useBgFill="1">
          <p:nvSpPr>
            <p:cNvPr id="26" name="Oval 19"/>
            <p:cNvSpPr>
              <a:spLocks noChangeArrowheads="1"/>
            </p:cNvSpPr>
            <p:nvPr>
              <p:custDataLst>
                <p:tags r:id="rId12"/>
              </p:custDataLst>
            </p:nvPr>
          </p:nvSpPr>
          <p:spPr bwMode="auto">
            <a:xfrm>
              <a:off x="1496" y="1942"/>
              <a:ext cx="367" cy="276"/>
            </a:xfrm>
            <a:prstGeom prst="ellipse">
              <a:avLst/>
            </a:prstGeom>
            <a:ln w="9525">
              <a:solidFill>
                <a:srgbClr val="020001"/>
              </a:solidFill>
              <a:miter lim="800000"/>
            </a:ln>
          </p:spPr>
          <p:txBody>
            <a:bodyPr wrap="none" anchor="ctr"/>
            <a:p>
              <a:pPr algn="ctr"/>
              <a:r>
                <a:rPr lang="zh-CN" altLang="en-US" sz="2400" b="1" dirty="0">
                  <a:solidFill>
                    <a:srgbClr val="020001"/>
                  </a:solidFill>
                  <a:latin typeface="+mn-ea"/>
                </a:rPr>
                <a:t>2</a:t>
              </a:r>
              <a:endParaRPr lang="zh-CN" altLang="en-US" sz="2400" b="1" dirty="0">
                <a:solidFill>
                  <a:srgbClr val="020001"/>
                </a:solidFill>
                <a:latin typeface="+mn-ea"/>
              </a:endParaRPr>
            </a:p>
          </p:txBody>
        </p:sp>
      </p:grpSp>
      <p:grpSp>
        <p:nvGrpSpPr>
          <p:cNvPr id="27" name="Group 20"/>
          <p:cNvGrpSpPr/>
          <p:nvPr/>
        </p:nvGrpSpPr>
        <p:grpSpPr bwMode="auto">
          <a:xfrm>
            <a:off x="7198994" y="3514540"/>
            <a:ext cx="2305277" cy="963771"/>
            <a:chOff x="2304" y="1200"/>
            <a:chExt cx="1615" cy="624"/>
          </a:xfrm>
        </p:grpSpPr>
        <p:sp useBgFill="1">
          <p:nvSpPr>
            <p:cNvPr id="28" name="AutoShape 21"/>
            <p:cNvSpPr>
              <a:spLocks noChangeArrowheads="1"/>
            </p:cNvSpPr>
            <p:nvPr>
              <p:custDataLst>
                <p:tags r:id="rId13"/>
              </p:custDataLst>
            </p:nvPr>
          </p:nvSpPr>
          <p:spPr bwMode="auto">
            <a:xfrm>
              <a:off x="2304" y="1200"/>
              <a:ext cx="1516" cy="576"/>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aA .cBe , $]</a:t>
              </a:r>
              <a:endParaRPr lang="en-US" altLang="zh-CN" sz="2400" b="1">
                <a:solidFill>
                  <a:srgbClr val="020001"/>
                </a:solidFill>
                <a:latin typeface="+mn-ea"/>
                <a:sym typeface="Symbol" panose="05050102010706020507" pitchFamily="18" charset="2"/>
              </a:endParaRPr>
            </a:p>
            <a:p>
              <a:pPr algn="ctr"/>
              <a:r>
                <a:rPr lang="en-US" altLang="zh-CN" sz="2400" b="1">
                  <a:solidFill>
                    <a:srgbClr val="020001"/>
                  </a:solidFill>
                  <a:latin typeface="+mn-ea"/>
                  <a:sym typeface="Symbol" panose="05050102010706020507" pitchFamily="18" charset="2"/>
                </a:rPr>
                <a:t>[A A .b</a:t>
              </a:r>
              <a:r>
                <a:rPr lang="zh-CN" altLang="en-US" sz="2400" b="1">
                  <a:solidFill>
                    <a:srgbClr val="020001"/>
                  </a:solidFill>
                  <a:latin typeface="+mn-ea"/>
                </a:rPr>
                <a:t> </a:t>
              </a:r>
              <a:r>
                <a:rPr lang="en-US" altLang="zh-CN" sz="2400" b="1">
                  <a:solidFill>
                    <a:srgbClr val="020001"/>
                  </a:solidFill>
                  <a:latin typeface="+mn-ea"/>
                </a:rPr>
                <a:t> , c]  </a:t>
              </a:r>
              <a:r>
                <a:rPr lang="zh-CN" altLang="en-US" sz="2400" b="1">
                  <a:solidFill>
                    <a:srgbClr val="020001"/>
                  </a:solidFill>
                  <a:latin typeface="+mn-ea"/>
                </a:rPr>
                <a:t> </a:t>
              </a:r>
              <a:endParaRPr lang="zh-CN" altLang="en-US" sz="2400" b="1">
                <a:solidFill>
                  <a:srgbClr val="020001"/>
                </a:solidFill>
                <a:latin typeface="+mn-ea"/>
              </a:endParaRPr>
            </a:p>
          </p:txBody>
        </p:sp>
        <p:sp useBgFill="1">
          <p:nvSpPr>
            <p:cNvPr id="29" name="Oval 22"/>
            <p:cNvSpPr>
              <a:spLocks noChangeArrowheads="1"/>
            </p:cNvSpPr>
            <p:nvPr>
              <p:custDataLst>
                <p:tags r:id="rId14"/>
              </p:custDataLst>
            </p:nvPr>
          </p:nvSpPr>
          <p:spPr bwMode="auto">
            <a:xfrm>
              <a:off x="3668" y="1586"/>
              <a:ext cx="251" cy="238"/>
            </a:xfrm>
            <a:prstGeom prst="ellipse">
              <a:avLst/>
            </a:prstGeom>
            <a:ln w="9525">
              <a:solidFill>
                <a:srgbClr val="020001"/>
              </a:solidFill>
              <a:miter lim="800000"/>
            </a:ln>
          </p:spPr>
          <p:txBody>
            <a:bodyPr wrap="none" anchor="ctr"/>
            <a:p>
              <a:pPr algn="ctr"/>
              <a:r>
                <a:rPr lang="zh-CN" altLang="en-US" sz="2400" b="1" dirty="0">
                  <a:solidFill>
                    <a:srgbClr val="020001"/>
                  </a:solidFill>
                  <a:latin typeface="+mn-ea"/>
                </a:rPr>
                <a:t>3</a:t>
              </a:r>
              <a:endParaRPr lang="zh-CN" altLang="en-US" sz="2400" b="1" dirty="0">
                <a:solidFill>
                  <a:srgbClr val="020001"/>
                </a:solidFill>
                <a:latin typeface="+mn-ea"/>
              </a:endParaRPr>
            </a:p>
          </p:txBody>
        </p:sp>
      </p:grpSp>
      <p:grpSp>
        <p:nvGrpSpPr>
          <p:cNvPr id="30" name="Group 23"/>
          <p:cNvGrpSpPr/>
          <p:nvPr/>
        </p:nvGrpSpPr>
        <p:grpSpPr bwMode="auto">
          <a:xfrm>
            <a:off x="4992370" y="5008245"/>
            <a:ext cx="588645" cy="600075"/>
            <a:chOff x="912" y="2880"/>
            <a:chExt cx="1068" cy="240"/>
          </a:xfrm>
        </p:grpSpPr>
        <p:sp>
          <p:nvSpPr>
            <p:cNvPr id="31" name="Line 24"/>
            <p:cNvSpPr>
              <a:spLocks noChangeShapeType="1"/>
            </p:cNvSpPr>
            <p:nvPr>
              <p:custDataLst>
                <p:tags r:id="rId15"/>
              </p:custDataLst>
            </p:nvPr>
          </p:nvSpPr>
          <p:spPr bwMode="auto">
            <a:xfrm flipH="1">
              <a:off x="912" y="2880"/>
              <a:ext cx="576" cy="24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2" name="Rectangle 25"/>
            <p:cNvSpPr>
              <a:spLocks noChangeArrowheads="1"/>
            </p:cNvSpPr>
            <p:nvPr>
              <p:custDataLst>
                <p:tags r:id="rId16"/>
              </p:custDataLst>
            </p:nvPr>
          </p:nvSpPr>
          <p:spPr bwMode="auto">
            <a:xfrm>
              <a:off x="1315" y="2905"/>
              <a:ext cx="6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020001"/>
                  </a:solidFill>
                  <a:latin typeface="+mn-ea"/>
                  <a:sym typeface="Symbol" panose="05050102010706020507" pitchFamily="18" charset="2"/>
                </a:rPr>
                <a:t>b</a:t>
              </a:r>
              <a:endParaRPr lang="en-US" altLang="zh-CN" sz="2400" b="1" dirty="0">
                <a:solidFill>
                  <a:srgbClr val="020001"/>
                </a:solidFill>
                <a:latin typeface="+mn-ea"/>
                <a:sym typeface="Symbol" panose="05050102010706020507" pitchFamily="18" charset="2"/>
              </a:endParaRPr>
            </a:p>
          </p:txBody>
        </p:sp>
      </p:grpSp>
      <p:grpSp>
        <p:nvGrpSpPr>
          <p:cNvPr id="33" name="Group 26"/>
          <p:cNvGrpSpPr/>
          <p:nvPr/>
        </p:nvGrpSpPr>
        <p:grpSpPr bwMode="auto">
          <a:xfrm>
            <a:off x="4651518" y="5627969"/>
            <a:ext cx="1781415" cy="650237"/>
            <a:chOff x="96" y="2592"/>
            <a:chExt cx="1248" cy="421"/>
          </a:xfrm>
        </p:grpSpPr>
        <p:sp useBgFill="1">
          <p:nvSpPr>
            <p:cNvPr id="34" name="AutoShape 27"/>
            <p:cNvSpPr>
              <a:spLocks noChangeArrowheads="1"/>
            </p:cNvSpPr>
            <p:nvPr>
              <p:custDataLst>
                <p:tags r:id="rId17"/>
              </p:custDataLst>
            </p:nvPr>
          </p:nvSpPr>
          <p:spPr bwMode="auto">
            <a:xfrm>
              <a:off x="96" y="2592"/>
              <a:ext cx="1201" cy="384"/>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[A b . , c]</a:t>
              </a:r>
              <a:endParaRPr lang="zh-CN" altLang="en-US" sz="2400" b="1">
                <a:solidFill>
                  <a:srgbClr val="020001"/>
                </a:solidFill>
                <a:latin typeface="+mn-ea"/>
              </a:endParaRPr>
            </a:p>
          </p:txBody>
        </p:sp>
        <p:sp useBgFill="1">
          <p:nvSpPr>
            <p:cNvPr id="35" name="Oval 28"/>
            <p:cNvSpPr>
              <a:spLocks noChangeArrowheads="1"/>
            </p:cNvSpPr>
            <p:nvPr>
              <p:custDataLst>
                <p:tags r:id="rId18"/>
              </p:custDataLst>
            </p:nvPr>
          </p:nvSpPr>
          <p:spPr bwMode="auto">
            <a:xfrm>
              <a:off x="1104" y="2784"/>
              <a:ext cx="240" cy="229"/>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4</a:t>
              </a:r>
              <a:endParaRPr lang="zh-CN" altLang="en-US" sz="2400" b="1">
                <a:solidFill>
                  <a:srgbClr val="020001"/>
                </a:solidFill>
                <a:latin typeface="+mn-ea"/>
              </a:endParaRPr>
            </a:p>
          </p:txBody>
        </p:sp>
      </p:grpSp>
      <p:grpSp>
        <p:nvGrpSpPr>
          <p:cNvPr id="36" name="Group 29"/>
          <p:cNvGrpSpPr/>
          <p:nvPr/>
        </p:nvGrpSpPr>
        <p:grpSpPr bwMode="auto">
          <a:xfrm>
            <a:off x="6939282" y="4424640"/>
            <a:ext cx="807506" cy="741363"/>
            <a:chOff x="2784" y="2688"/>
            <a:chExt cx="439" cy="480"/>
          </a:xfrm>
        </p:grpSpPr>
        <p:sp>
          <p:nvSpPr>
            <p:cNvPr id="37" name="Line 30"/>
            <p:cNvSpPr>
              <a:spLocks noChangeShapeType="1"/>
            </p:cNvSpPr>
            <p:nvPr>
              <p:custDataLst>
                <p:tags r:id="rId19"/>
              </p:custDataLst>
            </p:nvPr>
          </p:nvSpPr>
          <p:spPr bwMode="auto">
            <a:xfrm flipH="1">
              <a:off x="2784" y="2688"/>
              <a:ext cx="384" cy="48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8" name="Rectangle 31"/>
            <p:cNvSpPr>
              <a:spLocks noChangeArrowheads="1"/>
            </p:cNvSpPr>
            <p:nvPr>
              <p:custDataLst>
                <p:tags r:id="rId20"/>
              </p:custDataLst>
            </p:nvPr>
          </p:nvSpPr>
          <p:spPr bwMode="auto">
            <a:xfrm>
              <a:off x="3024" y="2772"/>
              <a:ext cx="19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b</a:t>
              </a:r>
              <a:endParaRPr lang="zh-CN" altLang="en-US" sz="2400" b="1">
                <a:solidFill>
                  <a:srgbClr val="020001"/>
                </a:solidFill>
                <a:latin typeface="+mn-ea"/>
                <a:sym typeface="Symbol" panose="05050102010706020507" pitchFamily="18" charset="2"/>
              </a:endParaRPr>
            </a:p>
          </p:txBody>
        </p:sp>
      </p:grpSp>
      <p:grpSp>
        <p:nvGrpSpPr>
          <p:cNvPr id="39" name="Group 32"/>
          <p:cNvGrpSpPr/>
          <p:nvPr/>
        </p:nvGrpSpPr>
        <p:grpSpPr bwMode="auto">
          <a:xfrm>
            <a:off x="8691887" y="4409718"/>
            <a:ext cx="326879" cy="889635"/>
            <a:chOff x="3552" y="2688"/>
            <a:chExt cx="229" cy="480"/>
          </a:xfrm>
        </p:grpSpPr>
        <p:sp>
          <p:nvSpPr>
            <p:cNvPr id="40" name="Line 33"/>
            <p:cNvSpPr>
              <a:spLocks noChangeShapeType="1"/>
            </p:cNvSpPr>
            <p:nvPr>
              <p:custDataLst>
                <p:tags r:id="rId21"/>
              </p:custDataLst>
            </p:nvPr>
          </p:nvSpPr>
          <p:spPr bwMode="auto">
            <a:xfrm>
              <a:off x="3552" y="2688"/>
              <a:ext cx="0" cy="48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41" name="Rectangle 34"/>
            <p:cNvSpPr>
              <a:spLocks noChangeArrowheads="1"/>
            </p:cNvSpPr>
            <p:nvPr>
              <p:custDataLst>
                <p:tags r:id="rId22"/>
              </p:custDataLst>
            </p:nvPr>
          </p:nvSpPr>
          <p:spPr bwMode="auto">
            <a:xfrm>
              <a:off x="3552" y="2724"/>
              <a:ext cx="22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c</a:t>
              </a:r>
              <a:endParaRPr lang="zh-CN" altLang="en-US" sz="2400" b="1">
                <a:solidFill>
                  <a:srgbClr val="020001"/>
                </a:solidFill>
                <a:latin typeface="+mn-ea"/>
                <a:sym typeface="Symbol" panose="05050102010706020507" pitchFamily="18" charset="2"/>
              </a:endParaRPr>
            </a:p>
          </p:txBody>
        </p:sp>
      </p:grpSp>
      <p:grpSp>
        <p:nvGrpSpPr>
          <p:cNvPr id="42" name="Group 35"/>
          <p:cNvGrpSpPr/>
          <p:nvPr/>
        </p:nvGrpSpPr>
        <p:grpSpPr bwMode="auto">
          <a:xfrm>
            <a:off x="5723254" y="4935179"/>
            <a:ext cx="1882062" cy="684215"/>
            <a:chOff x="1584" y="2629"/>
            <a:chExt cx="1221" cy="443"/>
          </a:xfrm>
        </p:grpSpPr>
        <p:sp useBgFill="1">
          <p:nvSpPr>
            <p:cNvPr id="43" name="AutoShape 36"/>
            <p:cNvSpPr>
              <a:spLocks noChangeArrowheads="1"/>
            </p:cNvSpPr>
            <p:nvPr>
              <p:custDataLst>
                <p:tags r:id="rId23"/>
              </p:custDataLst>
            </p:nvPr>
          </p:nvSpPr>
          <p:spPr bwMode="auto">
            <a:xfrm>
              <a:off x="1584" y="2784"/>
              <a:ext cx="1057" cy="288"/>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[AAb ., c]</a:t>
              </a:r>
              <a:endParaRPr lang="zh-CN" altLang="en-US" sz="2400" b="1">
                <a:solidFill>
                  <a:srgbClr val="020001"/>
                </a:solidFill>
                <a:latin typeface="+mn-ea"/>
              </a:endParaRPr>
            </a:p>
          </p:txBody>
        </p:sp>
        <p:sp useBgFill="1">
          <p:nvSpPr>
            <p:cNvPr id="44" name="Oval 37"/>
            <p:cNvSpPr>
              <a:spLocks noChangeArrowheads="1"/>
            </p:cNvSpPr>
            <p:nvPr>
              <p:custDataLst>
                <p:tags r:id="rId24"/>
              </p:custDataLst>
            </p:nvPr>
          </p:nvSpPr>
          <p:spPr bwMode="auto">
            <a:xfrm>
              <a:off x="2565" y="2629"/>
              <a:ext cx="240"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6</a:t>
              </a:r>
              <a:endParaRPr lang="zh-CN" altLang="en-US" sz="2400" b="1">
                <a:solidFill>
                  <a:srgbClr val="020001"/>
                </a:solidFill>
                <a:latin typeface="+mn-ea"/>
              </a:endParaRPr>
            </a:p>
          </p:txBody>
        </p:sp>
      </p:grpSp>
      <p:grpSp>
        <p:nvGrpSpPr>
          <p:cNvPr id="45" name="Group 38"/>
          <p:cNvGrpSpPr/>
          <p:nvPr/>
        </p:nvGrpSpPr>
        <p:grpSpPr bwMode="auto">
          <a:xfrm>
            <a:off x="7499985" y="5254625"/>
            <a:ext cx="2337435" cy="1130300"/>
            <a:chOff x="2699" y="2285"/>
            <a:chExt cx="1320" cy="732"/>
          </a:xfrm>
        </p:grpSpPr>
        <p:sp useBgFill="1">
          <p:nvSpPr>
            <p:cNvPr id="46" name="AutoShape 39"/>
            <p:cNvSpPr>
              <a:spLocks noChangeArrowheads="1"/>
            </p:cNvSpPr>
            <p:nvPr>
              <p:custDataLst>
                <p:tags r:id="rId25"/>
              </p:custDataLst>
            </p:nvPr>
          </p:nvSpPr>
          <p:spPr bwMode="auto">
            <a:xfrm>
              <a:off x="2699" y="2285"/>
              <a:ext cx="1263" cy="624"/>
            </a:xfrm>
            <a:prstGeom prst="roundRect">
              <a:avLst>
                <a:gd name="adj" fmla="val 16667"/>
              </a:avLst>
            </a:prstGeom>
            <a:ln w="9525">
              <a:solidFill>
                <a:schemeClr val="tx1"/>
              </a:solidFill>
              <a:miter lim="800000"/>
            </a:ln>
          </p:spPr>
          <p:txBody>
            <a:bodyPr wrap="none" anchor="ctr"/>
            <a:p>
              <a:r>
                <a:rPr lang="en-US" altLang="zh-CN" sz="2400" b="1" dirty="0">
                  <a:solidFill>
                    <a:srgbClr val="0070C0"/>
                  </a:solidFill>
                  <a:latin typeface="+mn-ea"/>
                </a:rPr>
                <a:t>[S</a:t>
              </a:r>
              <a:r>
                <a:rPr lang="en-US" altLang="zh-CN" sz="2400" b="1" dirty="0">
                  <a:solidFill>
                    <a:srgbClr val="0070C0"/>
                  </a:solidFill>
                  <a:latin typeface="+mn-ea"/>
                  <a:sym typeface="Symbol" panose="05050102010706020507" pitchFamily="18" charset="2"/>
                </a:rPr>
                <a:t> </a:t>
              </a:r>
              <a:r>
                <a:rPr lang="en-US" altLang="zh-CN" sz="2400" b="1" dirty="0" err="1">
                  <a:solidFill>
                    <a:srgbClr val="0070C0"/>
                  </a:solidFill>
                  <a:latin typeface="+mn-ea"/>
                  <a:sym typeface="Symbol" panose="05050102010706020507" pitchFamily="18" charset="2"/>
                </a:rPr>
                <a:t>aAc.Be, $]</a:t>
              </a:r>
              <a:endParaRPr lang="en-US" altLang="zh-CN" sz="2400" b="1" dirty="0">
                <a:solidFill>
                  <a:srgbClr val="0070C0"/>
                </a:solidFill>
                <a:latin typeface="+mn-ea"/>
                <a:sym typeface="Symbol" panose="05050102010706020507" pitchFamily="18" charset="2"/>
              </a:endParaRPr>
            </a:p>
            <a:p>
              <a:r>
                <a:rPr lang="en-US" altLang="zh-CN" sz="2400" b="1" dirty="0" err="1">
                  <a:solidFill>
                    <a:srgbClr val="020001"/>
                  </a:solidFill>
                  <a:latin typeface="+mn-ea"/>
                  <a:sym typeface="Symbol" panose="05050102010706020507" pitchFamily="18" charset="2"/>
                </a:rPr>
                <a:t>[B.d,  e]</a:t>
              </a:r>
              <a:r>
                <a:rPr lang="en-US" altLang="zh-CN" sz="2400" b="1" dirty="0">
                  <a:solidFill>
                    <a:srgbClr val="020001"/>
                  </a:solidFill>
                  <a:latin typeface="+mn-ea"/>
                  <a:sym typeface="Symbol" panose="05050102010706020507" pitchFamily="18" charset="2"/>
                </a:rPr>
                <a:t> </a:t>
              </a:r>
              <a:endParaRPr lang="zh-CN" altLang="en-US" sz="2400" b="1" dirty="0">
                <a:solidFill>
                  <a:srgbClr val="020001"/>
                </a:solidFill>
                <a:latin typeface="+mn-ea"/>
              </a:endParaRPr>
            </a:p>
          </p:txBody>
        </p:sp>
        <p:sp useBgFill="1">
          <p:nvSpPr>
            <p:cNvPr id="47" name="Oval 40"/>
            <p:cNvSpPr>
              <a:spLocks noChangeArrowheads="1"/>
            </p:cNvSpPr>
            <p:nvPr>
              <p:custDataLst>
                <p:tags r:id="rId26"/>
              </p:custDataLst>
            </p:nvPr>
          </p:nvSpPr>
          <p:spPr bwMode="auto">
            <a:xfrm>
              <a:off x="3751" y="2776"/>
              <a:ext cx="268" cy="241"/>
            </a:xfrm>
            <a:prstGeom prst="ellipse">
              <a:avLst/>
            </a:prstGeom>
            <a:ln w="9525">
              <a:solidFill>
                <a:srgbClr val="020001"/>
              </a:solidFill>
              <a:miter lim="800000"/>
            </a:ln>
          </p:spPr>
          <p:txBody>
            <a:bodyPr wrap="none" anchor="ctr"/>
            <a:p>
              <a:pPr algn="ctr"/>
              <a:r>
                <a:rPr lang="en-US" altLang="zh-CN" sz="2400" b="1">
                  <a:solidFill>
                    <a:srgbClr val="020001"/>
                  </a:solidFill>
                  <a:latin typeface="+mn-ea"/>
                </a:rPr>
                <a:t>5</a:t>
              </a:r>
              <a:endParaRPr lang="zh-CN" altLang="en-US" sz="2400" b="1">
                <a:solidFill>
                  <a:srgbClr val="020001"/>
                </a:solidFill>
                <a:latin typeface="+mn-ea"/>
              </a:endParaRPr>
            </a:p>
          </p:txBody>
        </p:sp>
      </p:grpSp>
      <p:grpSp>
        <p:nvGrpSpPr>
          <p:cNvPr id="48" name="Group 41"/>
          <p:cNvGrpSpPr/>
          <p:nvPr/>
        </p:nvGrpSpPr>
        <p:grpSpPr bwMode="auto">
          <a:xfrm>
            <a:off x="10024854" y="5728970"/>
            <a:ext cx="1788269" cy="585188"/>
            <a:chOff x="4246" y="2592"/>
            <a:chExt cx="1081" cy="379"/>
          </a:xfrm>
        </p:grpSpPr>
        <p:sp useBgFill="1">
          <p:nvSpPr>
            <p:cNvPr id="49" name="AutoShape 42"/>
            <p:cNvSpPr>
              <a:spLocks noChangeArrowheads="1"/>
            </p:cNvSpPr>
            <p:nvPr>
              <p:custDataLst>
                <p:tags r:id="rId27"/>
              </p:custDataLst>
            </p:nvPr>
          </p:nvSpPr>
          <p:spPr bwMode="auto">
            <a:xfrm>
              <a:off x="4246" y="2592"/>
              <a:ext cx="1053" cy="288"/>
            </a:xfrm>
            <a:prstGeom prst="roundRect">
              <a:avLst>
                <a:gd name="adj" fmla="val 16667"/>
              </a:avLst>
            </a:prstGeom>
            <a:ln w="9525">
              <a:solidFill>
                <a:schemeClr val="tx1"/>
              </a:solidFill>
              <a:miter lim="800000"/>
            </a:ln>
          </p:spPr>
          <p:txBody>
            <a:bodyPr wrap="none" anchor="ctr"/>
            <a:p>
              <a:pPr algn="ctr"/>
              <a:r>
                <a:rPr lang="en-US" altLang="zh-CN" sz="2400" b="1">
                  <a:solidFill>
                    <a:srgbClr val="020001"/>
                  </a:solidFill>
                  <a:latin typeface="+mn-ea"/>
                  <a:sym typeface="Symbol" panose="05050102010706020507" pitchFamily="18" charset="2"/>
                </a:rPr>
                <a:t>[B d., e]</a:t>
              </a:r>
              <a:r>
                <a:rPr lang="zh-CN" altLang="en-US" sz="2400" b="1">
                  <a:solidFill>
                    <a:srgbClr val="020001"/>
                  </a:solidFill>
                  <a:latin typeface="+mn-ea"/>
                </a:rPr>
                <a:t> </a:t>
              </a:r>
              <a:endParaRPr lang="zh-CN" altLang="en-US" sz="2400" b="1">
                <a:solidFill>
                  <a:srgbClr val="020001"/>
                </a:solidFill>
                <a:latin typeface="+mn-ea"/>
              </a:endParaRPr>
            </a:p>
          </p:txBody>
        </p:sp>
        <p:sp useBgFill="1">
          <p:nvSpPr>
            <p:cNvPr id="50" name="Oval 43"/>
            <p:cNvSpPr>
              <a:spLocks noChangeArrowheads="1"/>
            </p:cNvSpPr>
            <p:nvPr>
              <p:custDataLst>
                <p:tags r:id="rId28"/>
              </p:custDataLst>
            </p:nvPr>
          </p:nvSpPr>
          <p:spPr bwMode="auto">
            <a:xfrm>
              <a:off x="5170" y="2776"/>
              <a:ext cx="157" cy="195"/>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7</a:t>
              </a:r>
              <a:endParaRPr lang="zh-CN" altLang="en-US" sz="2400" b="1">
                <a:solidFill>
                  <a:srgbClr val="020001"/>
                </a:solidFill>
                <a:latin typeface="+mn-ea"/>
              </a:endParaRPr>
            </a:p>
          </p:txBody>
        </p:sp>
      </p:grpSp>
      <p:grpSp>
        <p:nvGrpSpPr>
          <p:cNvPr id="51" name="Group 44"/>
          <p:cNvGrpSpPr/>
          <p:nvPr/>
        </p:nvGrpSpPr>
        <p:grpSpPr bwMode="auto">
          <a:xfrm>
            <a:off x="9682061" y="5027669"/>
            <a:ext cx="494061" cy="495125"/>
            <a:chOff x="3959" y="2794"/>
            <a:chExt cx="530" cy="374"/>
          </a:xfrm>
        </p:grpSpPr>
        <p:sp>
          <p:nvSpPr>
            <p:cNvPr id="52" name="Line 45"/>
            <p:cNvSpPr>
              <a:spLocks noChangeShapeType="1"/>
            </p:cNvSpPr>
            <p:nvPr>
              <p:custDataLst>
                <p:tags r:id="rId29"/>
              </p:custDataLst>
            </p:nvPr>
          </p:nvSpPr>
          <p:spPr bwMode="auto">
            <a:xfrm flipV="1">
              <a:off x="4128" y="2857"/>
              <a:ext cx="361" cy="311"/>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53" name="Rectangle 46"/>
            <p:cNvSpPr>
              <a:spLocks noChangeArrowheads="1"/>
            </p:cNvSpPr>
            <p:nvPr>
              <p:custDataLst>
                <p:tags r:id="rId30"/>
              </p:custDataLst>
            </p:nvPr>
          </p:nvSpPr>
          <p:spPr bwMode="auto">
            <a:xfrm>
              <a:off x="3959" y="2794"/>
              <a:ext cx="394"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dirty="0">
                  <a:solidFill>
                    <a:srgbClr val="020001"/>
                  </a:solidFill>
                  <a:latin typeface="+mn-ea"/>
                  <a:sym typeface="Symbol" panose="05050102010706020507" pitchFamily="18" charset="2"/>
                </a:rPr>
                <a:t>B</a:t>
              </a:r>
              <a:endParaRPr lang="zh-CN" altLang="en-US" sz="2400" b="1" dirty="0">
                <a:solidFill>
                  <a:srgbClr val="020001"/>
                </a:solidFill>
                <a:latin typeface="+mn-ea"/>
                <a:sym typeface="Symbol" panose="05050102010706020507" pitchFamily="18" charset="2"/>
              </a:endParaRPr>
            </a:p>
          </p:txBody>
        </p:sp>
      </p:grpSp>
      <p:grpSp>
        <p:nvGrpSpPr>
          <p:cNvPr id="54" name="Group 47"/>
          <p:cNvGrpSpPr/>
          <p:nvPr/>
        </p:nvGrpSpPr>
        <p:grpSpPr bwMode="auto">
          <a:xfrm>
            <a:off x="9899897" y="4518318"/>
            <a:ext cx="1938431" cy="787698"/>
            <a:chOff x="4224" y="1536"/>
            <a:chExt cx="1358" cy="510"/>
          </a:xfrm>
        </p:grpSpPr>
        <p:sp useBgFill="1">
          <p:nvSpPr>
            <p:cNvPr id="55" name="AutoShape 48"/>
            <p:cNvSpPr>
              <a:spLocks noChangeArrowheads="1"/>
            </p:cNvSpPr>
            <p:nvPr>
              <p:custDataLst>
                <p:tags r:id="rId31"/>
              </p:custDataLst>
            </p:nvPr>
          </p:nvSpPr>
          <p:spPr bwMode="auto">
            <a:xfrm>
              <a:off x="4224" y="1536"/>
              <a:ext cx="1357" cy="384"/>
            </a:xfrm>
            <a:prstGeom prst="roundRect">
              <a:avLst>
                <a:gd name="adj" fmla="val 16667"/>
              </a:avLst>
            </a:prstGeom>
            <a:ln w="9525">
              <a:solidFill>
                <a:schemeClr val="tx1"/>
              </a:solidFill>
              <a:miter lim="800000"/>
            </a:ln>
          </p:spPr>
          <p:txBody>
            <a:bodyPr wrap="none" anchor="ctr"/>
            <a:p>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aAcB.e, $</a:t>
              </a:r>
              <a:endParaRPr lang="zh-CN" altLang="en-US" sz="2400" b="1">
                <a:solidFill>
                  <a:srgbClr val="020001"/>
                </a:solidFill>
                <a:latin typeface="+mn-ea"/>
              </a:endParaRPr>
            </a:p>
          </p:txBody>
        </p:sp>
        <p:sp useBgFill="1">
          <p:nvSpPr>
            <p:cNvPr id="56" name="Oval 49"/>
            <p:cNvSpPr>
              <a:spLocks noChangeArrowheads="1"/>
            </p:cNvSpPr>
            <p:nvPr>
              <p:custDataLst>
                <p:tags r:id="rId32"/>
              </p:custDataLst>
            </p:nvPr>
          </p:nvSpPr>
          <p:spPr bwMode="auto">
            <a:xfrm>
              <a:off x="5328" y="1824"/>
              <a:ext cx="254" cy="222"/>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8</a:t>
              </a:r>
              <a:endParaRPr lang="zh-CN" altLang="en-US" sz="2400" b="1">
                <a:solidFill>
                  <a:srgbClr val="020001"/>
                </a:solidFill>
                <a:latin typeface="+mn-ea"/>
              </a:endParaRPr>
            </a:p>
          </p:txBody>
        </p:sp>
      </p:grpSp>
      <p:grpSp>
        <p:nvGrpSpPr>
          <p:cNvPr id="57" name="Group 50"/>
          <p:cNvGrpSpPr/>
          <p:nvPr/>
        </p:nvGrpSpPr>
        <p:grpSpPr bwMode="auto">
          <a:xfrm>
            <a:off x="11252452" y="3978728"/>
            <a:ext cx="345435" cy="516889"/>
            <a:chOff x="4992" y="2052"/>
            <a:chExt cx="242" cy="348"/>
          </a:xfrm>
        </p:grpSpPr>
        <p:sp>
          <p:nvSpPr>
            <p:cNvPr id="58" name="Line 51"/>
            <p:cNvSpPr>
              <a:spLocks noChangeShapeType="1"/>
            </p:cNvSpPr>
            <p:nvPr>
              <p:custDataLst>
                <p:tags r:id="rId33"/>
              </p:custDataLst>
            </p:nvPr>
          </p:nvSpPr>
          <p:spPr bwMode="auto">
            <a:xfrm flipV="1">
              <a:off x="4992" y="2112"/>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59" name="Rectangle 52"/>
            <p:cNvSpPr>
              <a:spLocks noChangeArrowheads="1"/>
            </p:cNvSpPr>
            <p:nvPr>
              <p:custDataLst>
                <p:tags r:id="rId34"/>
              </p:custDataLst>
            </p:nvPr>
          </p:nvSpPr>
          <p:spPr bwMode="auto">
            <a:xfrm>
              <a:off x="4992" y="2052"/>
              <a:ext cx="2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20001"/>
                  </a:solidFill>
                  <a:latin typeface="+mn-ea"/>
                  <a:sym typeface="Symbol" panose="05050102010706020507" pitchFamily="18" charset="2"/>
                </a:rPr>
                <a:t>e</a:t>
              </a:r>
              <a:endParaRPr lang="en-US" altLang="zh-CN" sz="2400" b="1">
                <a:solidFill>
                  <a:srgbClr val="020001"/>
                </a:solidFill>
                <a:latin typeface="+mn-ea"/>
                <a:sym typeface="Symbol" panose="05050102010706020507" pitchFamily="18" charset="2"/>
              </a:endParaRPr>
            </a:p>
          </p:txBody>
        </p:sp>
      </p:grpSp>
      <p:grpSp>
        <p:nvGrpSpPr>
          <p:cNvPr id="60" name="Group 53"/>
          <p:cNvGrpSpPr/>
          <p:nvPr/>
        </p:nvGrpSpPr>
        <p:grpSpPr bwMode="auto">
          <a:xfrm>
            <a:off x="9605645" y="3383280"/>
            <a:ext cx="2272030" cy="667385"/>
            <a:chOff x="3400" y="672"/>
            <a:chExt cx="2024" cy="432"/>
          </a:xfrm>
        </p:grpSpPr>
        <p:sp useBgFill="1">
          <p:nvSpPr>
            <p:cNvPr id="61" name="AutoShape 54"/>
            <p:cNvSpPr>
              <a:spLocks noChangeArrowheads="1"/>
            </p:cNvSpPr>
            <p:nvPr>
              <p:custDataLst>
                <p:tags r:id="rId35"/>
              </p:custDataLst>
            </p:nvPr>
          </p:nvSpPr>
          <p:spPr bwMode="auto">
            <a:xfrm>
              <a:off x="3400" y="672"/>
              <a:ext cx="1950" cy="384"/>
            </a:xfrm>
            <a:prstGeom prst="roundRect">
              <a:avLst>
                <a:gd name="adj" fmla="val 16667"/>
              </a:avLst>
            </a:prstGeom>
            <a:ln w="9525">
              <a:solidFill>
                <a:schemeClr val="tx1"/>
              </a:solidFill>
              <a:miter lim="800000"/>
            </a:ln>
          </p:spPr>
          <p:txBody>
            <a:bodyPr wrap="none" anchor="ctr"/>
            <a:p>
              <a:r>
                <a:rPr lang="en-US" altLang="zh-CN" sz="2400" b="1">
                  <a:solidFill>
                    <a:srgbClr val="020001"/>
                  </a:solidFill>
                  <a:latin typeface="+mn-ea"/>
                </a:rPr>
                <a:t>[S</a:t>
              </a:r>
              <a:r>
                <a:rPr lang="en-US" altLang="zh-CN" sz="2400" b="1">
                  <a:solidFill>
                    <a:srgbClr val="020001"/>
                  </a:solidFill>
                  <a:latin typeface="+mn-ea"/>
                  <a:sym typeface="Symbol" panose="05050102010706020507" pitchFamily="18" charset="2"/>
                </a:rPr>
                <a:t> aAcBe.,$]</a:t>
              </a:r>
              <a:endParaRPr lang="zh-CN" altLang="en-US" sz="2400" b="1">
                <a:solidFill>
                  <a:srgbClr val="020001"/>
                </a:solidFill>
                <a:latin typeface="+mn-ea"/>
              </a:endParaRPr>
            </a:p>
          </p:txBody>
        </p:sp>
        <p:sp useBgFill="1">
          <p:nvSpPr>
            <p:cNvPr id="62" name="Oval 55"/>
            <p:cNvSpPr>
              <a:spLocks noChangeArrowheads="1"/>
            </p:cNvSpPr>
            <p:nvPr>
              <p:custDataLst>
                <p:tags r:id="rId36"/>
              </p:custDataLst>
            </p:nvPr>
          </p:nvSpPr>
          <p:spPr bwMode="auto">
            <a:xfrm>
              <a:off x="5136" y="864"/>
              <a:ext cx="288" cy="240"/>
            </a:xfrm>
            <a:prstGeom prst="ellipse">
              <a:avLst/>
            </a:prstGeom>
            <a:ln w="9525">
              <a:solidFill>
                <a:srgbClr val="020001"/>
              </a:solidFill>
              <a:miter lim="800000"/>
            </a:ln>
          </p:spPr>
          <p:txBody>
            <a:bodyPr wrap="none" anchor="ctr"/>
            <a:p>
              <a:pPr algn="ctr"/>
              <a:r>
                <a:rPr lang="zh-CN" altLang="en-US" sz="2400" b="1">
                  <a:solidFill>
                    <a:srgbClr val="020001"/>
                  </a:solidFill>
                  <a:latin typeface="+mn-ea"/>
                </a:rPr>
                <a:t>9</a:t>
              </a:r>
              <a:endParaRPr lang="zh-CN" altLang="en-US" sz="2400" b="1">
                <a:solidFill>
                  <a:srgbClr val="020001"/>
                </a:solidFill>
                <a:latin typeface="+mn-ea"/>
              </a:endParaRPr>
            </a:p>
          </p:txBody>
        </p:sp>
      </p:grpSp>
      <p:grpSp>
        <p:nvGrpSpPr>
          <p:cNvPr id="63" name="Group 56"/>
          <p:cNvGrpSpPr/>
          <p:nvPr/>
        </p:nvGrpSpPr>
        <p:grpSpPr bwMode="auto">
          <a:xfrm>
            <a:off x="9751695" y="5405755"/>
            <a:ext cx="297180" cy="537210"/>
            <a:chOff x="4220" y="3108"/>
            <a:chExt cx="292" cy="348"/>
          </a:xfrm>
        </p:grpSpPr>
        <p:sp>
          <p:nvSpPr>
            <p:cNvPr id="64" name="Line 57"/>
            <p:cNvSpPr>
              <a:spLocks noChangeShapeType="1"/>
            </p:cNvSpPr>
            <p:nvPr>
              <p:custDataLst>
                <p:tags r:id="rId37"/>
              </p:custDataLst>
            </p:nvPr>
          </p:nvSpPr>
          <p:spPr bwMode="auto">
            <a:xfrm>
              <a:off x="4224" y="3456"/>
              <a:ext cx="28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65" name="Rectangle 58"/>
            <p:cNvSpPr>
              <a:spLocks noChangeArrowheads="1"/>
            </p:cNvSpPr>
            <p:nvPr>
              <p:custDataLst>
                <p:tags r:id="rId38"/>
              </p:custDataLst>
            </p:nvPr>
          </p:nvSpPr>
          <p:spPr bwMode="auto">
            <a:xfrm>
              <a:off x="4220" y="3108"/>
              <a:ext cx="25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20001"/>
                  </a:solidFill>
                  <a:latin typeface="+mn-ea"/>
                  <a:sym typeface="Symbol" panose="05050102010706020507" pitchFamily="18" charset="2"/>
                </a:rPr>
                <a:t>d</a:t>
              </a:r>
              <a:endParaRPr lang="zh-CN" altLang="en-US" sz="2400" b="1">
                <a:solidFill>
                  <a:srgbClr val="020001"/>
                </a:solidFill>
                <a:latin typeface="+mn-ea"/>
                <a:sym typeface="Symbol" panose="05050102010706020507" pitchFamily="18" charset="2"/>
              </a:endParaRPr>
            </a:p>
          </p:txBody>
        </p:sp>
      </p:grpSp>
      <p:sp>
        <p:nvSpPr>
          <p:cNvPr id="5" name="Text Box 2"/>
          <p:cNvSpPr txBox="1">
            <a:spLocks noChangeArrowheads="1"/>
          </p:cNvSpPr>
          <p:nvPr>
            <p:custDataLst>
              <p:tags r:id="rId39"/>
            </p:custDataLst>
          </p:nvPr>
        </p:nvSpPr>
        <p:spPr bwMode="auto">
          <a:xfrm>
            <a:off x="4537710" y="1146175"/>
            <a:ext cx="733933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400" b="1" dirty="0">
                <a:solidFill>
                  <a:srgbClr val="020001"/>
                </a:solidFill>
                <a:latin typeface="+mn-ea"/>
              </a:rPr>
              <a:t> 例：对拓广文法</a:t>
            </a:r>
            <a:r>
              <a:rPr lang="en-US" altLang="zh-CN" sz="2400" b="1" dirty="0">
                <a:solidFill>
                  <a:srgbClr val="020001"/>
                </a:solidFill>
                <a:latin typeface="+mn-ea"/>
              </a:rPr>
              <a:t> 0) S’</a:t>
            </a:r>
            <a:r>
              <a:rPr lang="en-US" altLang="zh-CN" sz="2400" b="1" dirty="0">
                <a:solidFill>
                  <a:srgbClr val="020001"/>
                </a:solidFill>
                <a:latin typeface="+mn-ea"/>
                <a:sym typeface="Symbol" panose="05050102010706020507" pitchFamily="18" charset="2"/>
              </a:rPr>
              <a:t>S   1) </a:t>
            </a:r>
            <a:r>
              <a:rPr lang="en-US" altLang="zh-CN" sz="2400" b="1" dirty="0" err="1">
                <a:solidFill>
                  <a:srgbClr val="020001"/>
                </a:solidFill>
                <a:latin typeface="+mn-ea"/>
              </a:rPr>
              <a:t>S</a:t>
            </a:r>
            <a:r>
              <a:rPr lang="en-US" altLang="zh-CN" sz="2400" b="1" dirty="0" err="1">
                <a:solidFill>
                  <a:srgbClr val="020001"/>
                </a:solidFill>
                <a:latin typeface="+mn-ea"/>
                <a:sym typeface="Symbol" panose="05050102010706020507" pitchFamily="18" charset="2"/>
              </a:rPr>
              <a:t>aAcBe   </a:t>
            </a:r>
            <a:r>
              <a:rPr lang="en-US" altLang="zh-CN" sz="2400" b="1" dirty="0">
                <a:solidFill>
                  <a:srgbClr val="020001"/>
                </a:solidFill>
                <a:latin typeface="+mn-ea"/>
                <a:sym typeface="Symbol" panose="05050102010706020507" pitchFamily="18" charset="2"/>
              </a:rPr>
              <a:t>2) </a:t>
            </a:r>
            <a:r>
              <a:rPr lang="en-US" altLang="zh-CN" sz="2400" b="1" dirty="0" err="1">
                <a:solidFill>
                  <a:srgbClr val="020001"/>
                </a:solidFill>
                <a:latin typeface="+mn-ea"/>
                <a:sym typeface="Symbol" panose="05050102010706020507" pitchFamily="18" charset="2"/>
              </a:rPr>
              <a:t>Ab   </a:t>
            </a:r>
            <a:r>
              <a:rPr lang="en-US" altLang="zh-CN" sz="2400" b="1" dirty="0">
                <a:solidFill>
                  <a:srgbClr val="020001"/>
                </a:solidFill>
                <a:latin typeface="+mn-ea"/>
                <a:sym typeface="Symbol" panose="05050102010706020507" pitchFamily="18" charset="2"/>
              </a:rPr>
              <a:t>3) </a:t>
            </a:r>
            <a:r>
              <a:rPr lang="en-US" altLang="zh-CN" sz="2400" b="1" dirty="0" err="1">
                <a:solidFill>
                  <a:srgbClr val="020001"/>
                </a:solidFill>
                <a:latin typeface="+mn-ea"/>
                <a:sym typeface="Symbol" panose="05050102010706020507" pitchFamily="18" charset="2"/>
              </a:rPr>
              <a:t>AAb   </a:t>
            </a:r>
            <a:r>
              <a:rPr lang="en-US" altLang="zh-CN" sz="2400" b="1" dirty="0">
                <a:solidFill>
                  <a:srgbClr val="020001"/>
                </a:solidFill>
                <a:latin typeface="+mn-ea"/>
                <a:sym typeface="Symbol" panose="05050102010706020507" pitchFamily="18" charset="2"/>
              </a:rPr>
              <a:t>4) </a:t>
            </a:r>
            <a:r>
              <a:rPr lang="en-US" altLang="zh-CN" sz="2400" b="1" dirty="0" err="1">
                <a:solidFill>
                  <a:srgbClr val="020001"/>
                </a:solidFill>
                <a:latin typeface="+mn-ea"/>
                <a:sym typeface="Symbol" panose="05050102010706020507" pitchFamily="18" charset="2"/>
              </a:rPr>
              <a:t>Bd</a:t>
            </a:r>
            <a:r>
              <a:rPr lang="zh-CN" altLang="en-US" sz="2400" b="1" dirty="0" err="1">
                <a:solidFill>
                  <a:srgbClr val="020001"/>
                </a:solidFill>
                <a:latin typeface="+mn-ea"/>
                <a:sym typeface="Symbol" panose="05050102010706020507" pitchFamily="18" charset="2"/>
              </a:rPr>
              <a:t>，</a:t>
            </a:r>
            <a:r>
              <a:rPr lang="zh-CN" altLang="en-US" sz="2400" b="1" dirty="0">
                <a:solidFill>
                  <a:srgbClr val="020001"/>
                </a:solidFill>
                <a:latin typeface="+mn-ea"/>
                <a:sym typeface="Symbol" panose="05050102010706020507" pitchFamily="18" charset="2"/>
              </a:rPr>
              <a:t>求其对应的</a:t>
            </a:r>
            <a:r>
              <a:rPr lang="en-US" altLang="zh-CN" sz="2400" b="1" dirty="0">
                <a:solidFill>
                  <a:srgbClr val="010000"/>
                </a:solidFill>
                <a:latin typeface="+mn-ea"/>
                <a:sym typeface="Symbol" panose="05050102010706020507" pitchFamily="18" charset="2"/>
              </a:rPr>
              <a:t>LR(1)</a:t>
            </a:r>
            <a:r>
              <a:rPr lang="zh-CN" altLang="en-US" sz="2400" b="1" dirty="0">
                <a:solidFill>
                  <a:srgbClr val="020001"/>
                </a:solidFill>
                <a:latin typeface="+mn-ea"/>
                <a:sym typeface="Symbol" panose="05050102010706020507" pitchFamily="18" charset="2"/>
              </a:rPr>
              <a:t>项目集合</a:t>
            </a:r>
            <a:r>
              <a:rPr lang="zh-CN" altLang="en-US" sz="2400" b="1" dirty="0">
                <a:solidFill>
                  <a:srgbClr val="010000"/>
                </a:solidFill>
                <a:latin typeface="+mn-ea"/>
                <a:sym typeface="Symbol" panose="05050102010706020507" pitchFamily="18" charset="2"/>
              </a:rPr>
              <a:t>的</a:t>
            </a:r>
            <a:r>
              <a:rPr lang="en-US" altLang="zh-CN" sz="2400" b="1" dirty="0">
                <a:solidFill>
                  <a:srgbClr val="010000"/>
                </a:solidFill>
                <a:latin typeface="+mn-ea"/>
                <a:sym typeface="Symbol" panose="05050102010706020507" pitchFamily="18" charset="2"/>
              </a:rPr>
              <a:t>DFA</a:t>
            </a:r>
            <a:endParaRPr lang="en-US" altLang="zh-CN" sz="2400" b="1" dirty="0">
              <a:solidFill>
                <a:srgbClr val="010000"/>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Horizontal)">
                                      <p:cBhvr>
                                        <p:cTn id="12" dur="500"/>
                                        <p:tgtEl>
                                          <p:spTgt spid="7">
                                            <p:txEl>
                                              <p:pRg st="1" end="1"/>
                                            </p:txEl>
                                          </p:spTgt>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arn(inHorizontal)">
                                      <p:cBhvr>
                                        <p:cTn id="15" dur="500"/>
                                        <p:tgtEl>
                                          <p:spTgt spid="7">
                                            <p:txEl>
                                              <p:pRg st="2" end="2"/>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barn(inHorizontal)">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arn(outHorizontal)">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arn(outHorizontal)">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outHorizontal)">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barn(outHorizontal)">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42"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outHorizontal)">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42"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barn(outHorizontal)">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42"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barn(outHorizontal)">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barn(outHorizontal)">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42" fill="hold"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barn(outHorizontal)">
                                      <p:cBhvr>
                                        <p:cTn id="63" dur="500"/>
                                        <p:tgtEl>
                                          <p:spTgt spid="39"/>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42" fill="hold" nodeType="click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barn(outHorizontal)">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42" fill="hold" nodeType="click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barn(outHorizontal)">
                                      <p:cBhvr>
                                        <p:cTn id="73" dur="500"/>
                                        <p:tgtEl>
                                          <p:spTgt spid="36"/>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42" fill="hold" nodeType="click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barn(outHorizontal)">
                                      <p:cBhvr>
                                        <p:cTn id="78" dur="500"/>
                                        <p:tgtEl>
                                          <p:spTgt spid="42"/>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42" fill="hold" nodeType="click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barn(outHorizontal)">
                                      <p:cBhvr>
                                        <p:cTn id="83" dur="500"/>
                                        <p:tgtEl>
                                          <p:spTgt spid="63"/>
                                        </p:tgtEl>
                                      </p:cBhvr>
                                    </p:animEffect>
                                  </p:childTnLst>
                                </p:cTn>
                              </p:par>
                            </p:childTnLst>
                          </p:cTn>
                        </p:par>
                      </p:childTnLst>
                    </p:cTn>
                  </p:par>
                  <p:par>
                    <p:cTn id="84" fill="hold">
                      <p:stCondLst>
                        <p:cond delay="indefinite"/>
                      </p:stCondLst>
                      <p:childTnLst>
                        <p:par>
                          <p:cTn id="85" fill="hold">
                            <p:stCondLst>
                              <p:cond delay="0"/>
                            </p:stCondLst>
                            <p:childTnLst>
                              <p:par>
                                <p:cTn id="86" presetID="16" presetClass="entr" presetSubtype="42" fill="hold" nodeType="click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barn(outHorizontal)">
                                      <p:cBhvr>
                                        <p:cTn id="88" dur="500"/>
                                        <p:tgtEl>
                                          <p:spTgt spid="48"/>
                                        </p:tgtEl>
                                      </p:cBhvr>
                                    </p:animEffect>
                                  </p:childTnLst>
                                </p:cTn>
                              </p:par>
                            </p:childTnLst>
                          </p:cTn>
                        </p:par>
                      </p:childTnLst>
                    </p:cTn>
                  </p:par>
                  <p:par>
                    <p:cTn id="89" fill="hold">
                      <p:stCondLst>
                        <p:cond delay="indefinite"/>
                      </p:stCondLst>
                      <p:childTnLst>
                        <p:par>
                          <p:cTn id="90" fill="hold">
                            <p:stCondLst>
                              <p:cond delay="0"/>
                            </p:stCondLst>
                            <p:childTnLst>
                              <p:par>
                                <p:cTn id="91" presetID="16" presetClass="entr" presetSubtype="42" fill="hold" nodeType="click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barn(outHorizontal)">
                                      <p:cBhvr>
                                        <p:cTn id="93" dur="500"/>
                                        <p:tgtEl>
                                          <p:spTgt spid="51"/>
                                        </p:tgtEl>
                                      </p:cBhvr>
                                    </p:animEffect>
                                  </p:childTnLst>
                                </p:cTn>
                              </p:par>
                            </p:childTnLst>
                          </p:cTn>
                        </p:par>
                      </p:childTnLst>
                    </p:cTn>
                  </p:par>
                  <p:par>
                    <p:cTn id="94" fill="hold">
                      <p:stCondLst>
                        <p:cond delay="indefinite"/>
                      </p:stCondLst>
                      <p:childTnLst>
                        <p:par>
                          <p:cTn id="95" fill="hold">
                            <p:stCondLst>
                              <p:cond delay="0"/>
                            </p:stCondLst>
                            <p:childTnLst>
                              <p:par>
                                <p:cTn id="96" presetID="16" presetClass="entr" presetSubtype="42" fill="hold" nodeType="click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barn(outHorizontal)">
                                      <p:cBhvr>
                                        <p:cTn id="98" dur="500"/>
                                        <p:tgtEl>
                                          <p:spTgt spid="54"/>
                                        </p:tgtEl>
                                      </p:cBhvr>
                                    </p:animEffect>
                                  </p:childTnLst>
                                </p:cTn>
                              </p:par>
                            </p:childTnLst>
                          </p:cTn>
                        </p:par>
                      </p:childTnLst>
                    </p:cTn>
                  </p:par>
                  <p:par>
                    <p:cTn id="99" fill="hold">
                      <p:stCondLst>
                        <p:cond delay="indefinite"/>
                      </p:stCondLst>
                      <p:childTnLst>
                        <p:par>
                          <p:cTn id="100" fill="hold">
                            <p:stCondLst>
                              <p:cond delay="0"/>
                            </p:stCondLst>
                            <p:childTnLst>
                              <p:par>
                                <p:cTn id="101" presetID="16" presetClass="entr" presetSubtype="42" fill="hold" nodeType="clickEffect">
                                  <p:stCondLst>
                                    <p:cond delay="0"/>
                                  </p:stCondLst>
                                  <p:childTnLst>
                                    <p:set>
                                      <p:cBhvr>
                                        <p:cTn id="102" dur="1" fill="hold">
                                          <p:stCondLst>
                                            <p:cond delay="0"/>
                                          </p:stCondLst>
                                        </p:cTn>
                                        <p:tgtEl>
                                          <p:spTgt spid="57"/>
                                        </p:tgtEl>
                                        <p:attrNameLst>
                                          <p:attrName>style.visibility</p:attrName>
                                        </p:attrNameLst>
                                      </p:cBhvr>
                                      <p:to>
                                        <p:strVal val="visible"/>
                                      </p:to>
                                    </p:set>
                                    <p:animEffect transition="in" filter="barn(outHorizontal)">
                                      <p:cBhvr>
                                        <p:cTn id="103" dur="500"/>
                                        <p:tgtEl>
                                          <p:spTgt spid="57"/>
                                        </p:tgtEl>
                                      </p:cBhvr>
                                    </p:animEffect>
                                  </p:childTnLst>
                                </p:cTn>
                              </p:par>
                            </p:childTnLst>
                          </p:cTn>
                        </p:par>
                      </p:childTnLst>
                    </p:cTn>
                  </p:par>
                  <p:par>
                    <p:cTn id="104" fill="hold">
                      <p:stCondLst>
                        <p:cond delay="indefinite"/>
                      </p:stCondLst>
                      <p:childTnLst>
                        <p:par>
                          <p:cTn id="105" fill="hold">
                            <p:stCondLst>
                              <p:cond delay="0"/>
                            </p:stCondLst>
                            <p:childTnLst>
                              <p:par>
                                <p:cTn id="106" presetID="16" presetClass="entr" presetSubtype="42" fill="hold" nodeType="clickEffect">
                                  <p:stCondLst>
                                    <p:cond delay="0"/>
                                  </p:stCondLst>
                                  <p:childTnLst>
                                    <p:set>
                                      <p:cBhvr>
                                        <p:cTn id="107" dur="1" fill="hold">
                                          <p:stCondLst>
                                            <p:cond delay="0"/>
                                          </p:stCondLst>
                                        </p:cTn>
                                        <p:tgtEl>
                                          <p:spTgt spid="60"/>
                                        </p:tgtEl>
                                        <p:attrNameLst>
                                          <p:attrName>style.visibility</p:attrName>
                                        </p:attrNameLst>
                                      </p:cBhvr>
                                      <p:to>
                                        <p:strVal val="visible"/>
                                      </p:to>
                                    </p:set>
                                    <p:animEffect transition="in" filter="barn(outHorizontal)">
                                      <p:cBhvr>
                                        <p:cTn id="10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
        <p:nvSpPr>
          <p:cNvPr id="5" name="Rectangle 2"/>
          <p:cNvSpPr>
            <a:spLocks noChangeArrowheads="1"/>
          </p:cNvSpPr>
          <p:nvPr/>
        </p:nvSpPr>
        <p:spPr bwMode="auto">
          <a:xfrm>
            <a:off x="333375" y="1203325"/>
            <a:ext cx="228536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001"/>
                </a:solidFill>
                <a:latin typeface="+mn-ea"/>
              </a:rPr>
              <a:t>扩展该文法：</a:t>
            </a:r>
            <a:endParaRPr lang="zh-CN" altLang="en-US" sz="2400" b="1" dirty="0">
              <a:solidFill>
                <a:srgbClr val="020001"/>
              </a:solidFill>
              <a:latin typeface="+mn-ea"/>
            </a:endParaRPr>
          </a:p>
          <a:p>
            <a:r>
              <a:rPr lang="en-US" altLang="zh-CN" sz="2400" b="1" dirty="0">
                <a:solidFill>
                  <a:srgbClr val="020001"/>
                </a:solidFill>
                <a:latin typeface="+mn-ea"/>
              </a:rPr>
              <a:t>              A’→A</a:t>
            </a:r>
            <a:endParaRPr lang="en-US" altLang="zh-CN" sz="2400" b="1" dirty="0">
              <a:solidFill>
                <a:srgbClr val="020001"/>
              </a:solidFill>
              <a:latin typeface="+mn-ea"/>
            </a:endParaRPr>
          </a:p>
          <a:p>
            <a:r>
              <a:rPr lang="en-US" altLang="zh-CN" sz="2400" b="1" dirty="0">
                <a:solidFill>
                  <a:srgbClr val="020001"/>
                </a:solidFill>
                <a:latin typeface="+mn-ea"/>
              </a:rPr>
              <a:t>             </a:t>
            </a:r>
            <a:r>
              <a:rPr lang="en-US" altLang="zh-CN" sz="2400" b="1" dirty="0">
                <a:solidFill>
                  <a:schemeClr val="accent1"/>
                </a:solidFill>
                <a:latin typeface="+mn-ea"/>
              </a:rPr>
              <a:t> A→(A)</a:t>
            </a:r>
            <a:endParaRPr lang="en-US" altLang="zh-CN" sz="2400" b="1" dirty="0">
              <a:solidFill>
                <a:schemeClr val="accent1"/>
              </a:solidFill>
              <a:latin typeface="+mn-ea"/>
            </a:endParaRPr>
          </a:p>
          <a:p>
            <a:r>
              <a:rPr lang="en-US" altLang="zh-CN" sz="2400" b="1" dirty="0">
                <a:solidFill>
                  <a:schemeClr val="accent1"/>
                </a:solidFill>
                <a:latin typeface="+mn-ea"/>
              </a:rPr>
              <a:t>              A→ a</a:t>
            </a:r>
            <a:r>
              <a:rPr lang="zh-CN" altLang="en-US" sz="2400" b="1" dirty="0">
                <a:solidFill>
                  <a:schemeClr val="accent1"/>
                </a:solidFill>
                <a:latin typeface="+mn-ea"/>
              </a:rPr>
              <a:t> </a:t>
            </a:r>
            <a:r>
              <a:rPr lang="zh-CN" altLang="en-US" sz="2400" b="1" dirty="0">
                <a:solidFill>
                  <a:srgbClr val="020001"/>
                </a:solidFill>
                <a:latin typeface="+mn-ea"/>
              </a:rPr>
              <a:t> </a:t>
            </a:r>
            <a:endParaRPr lang="zh-CN" altLang="en-US" sz="24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pSp>
        <p:nvGrpSpPr>
          <p:cNvPr id="6" name="Group 2"/>
          <p:cNvGrpSpPr/>
          <p:nvPr/>
        </p:nvGrpSpPr>
        <p:grpSpPr bwMode="auto">
          <a:xfrm>
            <a:off x="3651305" y="1338122"/>
            <a:ext cx="2669502" cy="1411312"/>
            <a:chOff x="78" y="384"/>
            <a:chExt cx="1824" cy="960"/>
          </a:xfrm>
        </p:grpSpPr>
        <p:sp useBgFill="1">
          <p:nvSpPr>
            <p:cNvPr id="7" name="AutoShape 3"/>
            <p:cNvSpPr>
              <a:spLocks noChangeArrowheads="1"/>
            </p:cNvSpPr>
            <p:nvPr>
              <p:custDataLst>
                <p:tags r:id="rId1"/>
              </p:custDataLst>
            </p:nvPr>
          </p:nvSpPr>
          <p:spPr bwMode="auto">
            <a:xfrm>
              <a:off x="78" y="384"/>
              <a:ext cx="1776" cy="816"/>
            </a:xfrm>
            <a:prstGeom prst="flowChartAlternateProcess">
              <a:avLst/>
            </a:prstGeom>
            <a:ln w="19050">
              <a:solidFill>
                <a:schemeClr val="tx1"/>
              </a:solidFill>
              <a:miter lim="800000"/>
            </a:ln>
          </p:spPr>
          <p:txBody>
            <a:bodyPr wrap="none" anchor="ctr"/>
            <a:p>
              <a:r>
                <a:rPr lang="zh-CN" altLang="en-US" sz="2400" b="1" dirty="0">
                  <a:solidFill>
                    <a:srgbClr val="010000"/>
                  </a:solidFill>
                  <a:latin typeface="+mn-ea"/>
                </a:rPr>
                <a:t>[</a:t>
              </a:r>
              <a:r>
                <a:rPr lang="en-US" altLang="zh-CN" sz="2400" b="1" dirty="0">
                  <a:solidFill>
                    <a:srgbClr val="010000"/>
                  </a:solidFill>
                  <a:latin typeface="+mn-ea"/>
                </a:rPr>
                <a:t>A’</a:t>
              </a:r>
              <a:r>
                <a:rPr lang="en-US" altLang="zh-CN" sz="2400" b="1" dirty="0">
                  <a:solidFill>
                    <a:srgbClr val="020001"/>
                  </a:solidFill>
                  <a:latin typeface="+mn-ea"/>
                </a:rPr>
                <a:t>→.</a:t>
              </a:r>
              <a:r>
                <a:rPr lang="en-US" altLang="zh-CN" sz="2400" b="1" dirty="0">
                  <a:solidFill>
                    <a:srgbClr val="010000"/>
                  </a:solidFill>
                  <a:latin typeface="+mn-ea"/>
                </a:rPr>
                <a:t>A ,  $]</a:t>
              </a:r>
              <a:endParaRPr lang="en-US" altLang="zh-CN" sz="2400" b="1" dirty="0">
                <a:solidFill>
                  <a:srgbClr val="010000"/>
                </a:solidFill>
                <a:latin typeface="+mn-ea"/>
              </a:endParaRPr>
            </a:p>
            <a:p>
              <a:r>
                <a:rPr lang="zh-CN" altLang="en-US" sz="2400" b="1" dirty="0">
                  <a:solidFill>
                    <a:srgbClr val="010000"/>
                  </a:solidFill>
                  <a:latin typeface="+mn-ea"/>
                </a:rPr>
                <a:t>[</a:t>
              </a:r>
              <a:r>
                <a:rPr lang="en-US" altLang="zh-CN" sz="2400" b="1" dirty="0">
                  <a:solidFill>
                    <a:srgbClr val="020001"/>
                  </a:solidFill>
                  <a:latin typeface="+mn-ea"/>
                </a:rPr>
                <a:t>A→.(A),  $</a:t>
              </a:r>
              <a:r>
                <a:rPr lang="zh-CN" altLang="en-US" sz="2400" b="1" dirty="0">
                  <a:solidFill>
                    <a:srgbClr val="010000"/>
                  </a:solidFill>
                  <a:latin typeface="+mn-ea"/>
                </a:rPr>
                <a:t>]</a:t>
              </a:r>
              <a:endParaRPr lang="zh-CN" altLang="en-US" sz="2400" b="1" dirty="0">
                <a:solidFill>
                  <a:srgbClr val="010000"/>
                </a:solidFill>
                <a:latin typeface="+mn-ea"/>
              </a:endParaRPr>
            </a:p>
            <a:p>
              <a:r>
                <a:rPr lang="zh-CN" altLang="en-US" sz="2400" b="1" dirty="0">
                  <a:solidFill>
                    <a:srgbClr val="010000"/>
                  </a:solidFill>
                  <a:latin typeface="+mn-ea"/>
                </a:rPr>
                <a:t>[</a:t>
              </a:r>
              <a:r>
                <a:rPr lang="en-US" altLang="zh-CN" sz="2400" b="1" dirty="0" err="1">
                  <a:solidFill>
                    <a:srgbClr val="020001"/>
                  </a:solidFill>
                  <a:latin typeface="+mn-ea"/>
                </a:rPr>
                <a:t>A→.a</a:t>
              </a:r>
              <a:r>
                <a:rPr lang="en-US" altLang="zh-CN" sz="2400" b="1" dirty="0">
                  <a:solidFill>
                    <a:srgbClr val="020001"/>
                  </a:solidFill>
                  <a:latin typeface="+mn-ea"/>
                </a:rPr>
                <a:t>,  $</a:t>
              </a:r>
              <a:r>
                <a:rPr lang="zh-CN" altLang="en-US" sz="2400" b="1" dirty="0">
                  <a:solidFill>
                    <a:srgbClr val="010000"/>
                  </a:solidFill>
                  <a:latin typeface="+mn-ea"/>
                </a:rPr>
                <a:t>]</a:t>
              </a:r>
              <a:endParaRPr lang="zh-CN" altLang="en-US" sz="2400" b="1" dirty="0">
                <a:solidFill>
                  <a:srgbClr val="010000"/>
                </a:solidFill>
                <a:latin typeface="+mn-ea"/>
              </a:endParaRPr>
            </a:p>
          </p:txBody>
        </p:sp>
        <p:sp useBgFill="1">
          <p:nvSpPr>
            <p:cNvPr id="10" name="Oval 4"/>
            <p:cNvSpPr>
              <a:spLocks noChangeArrowheads="1"/>
            </p:cNvSpPr>
            <p:nvPr>
              <p:custDataLst>
                <p:tags r:id="rId2"/>
              </p:custDataLst>
            </p:nvPr>
          </p:nvSpPr>
          <p:spPr bwMode="auto">
            <a:xfrm>
              <a:off x="1614" y="1056"/>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0</a:t>
              </a:r>
              <a:endParaRPr lang="zh-CN" altLang="en-US" sz="2400" b="1">
                <a:solidFill>
                  <a:srgbClr val="010000"/>
                </a:solidFill>
                <a:latin typeface="+mn-ea"/>
              </a:endParaRPr>
            </a:p>
          </p:txBody>
        </p:sp>
      </p:grpSp>
      <p:grpSp>
        <p:nvGrpSpPr>
          <p:cNvPr id="11" name="Group 5"/>
          <p:cNvGrpSpPr/>
          <p:nvPr/>
        </p:nvGrpSpPr>
        <p:grpSpPr bwMode="auto">
          <a:xfrm>
            <a:off x="6322531" y="1444961"/>
            <a:ext cx="2826415" cy="645382"/>
            <a:chOff x="1854" y="336"/>
            <a:chExt cx="2160" cy="439"/>
          </a:xfrm>
        </p:grpSpPr>
        <p:sp>
          <p:nvSpPr>
            <p:cNvPr id="13" name="Line 6"/>
            <p:cNvSpPr>
              <a:spLocks noChangeShapeType="1"/>
            </p:cNvSpPr>
            <p:nvPr>
              <p:custDataLst>
                <p:tags r:id="rId3"/>
              </p:custDataLst>
            </p:nvPr>
          </p:nvSpPr>
          <p:spPr bwMode="auto">
            <a:xfrm>
              <a:off x="1854" y="5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useBgFill="1">
          <p:nvSpPr>
            <p:cNvPr id="14" name="AutoShape 7"/>
            <p:cNvSpPr>
              <a:spLocks noChangeArrowheads="1"/>
            </p:cNvSpPr>
            <p:nvPr>
              <p:custDataLst>
                <p:tags r:id="rId4"/>
              </p:custDataLst>
            </p:nvPr>
          </p:nvSpPr>
          <p:spPr bwMode="auto">
            <a:xfrm>
              <a:off x="2238" y="336"/>
              <a:ext cx="1680"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t>
              </a:r>
              <a:r>
                <a:rPr lang="en-US" altLang="zh-CN" sz="2400" b="1">
                  <a:solidFill>
                    <a:srgbClr val="010000"/>
                  </a:solidFill>
                  <a:latin typeface="+mn-ea"/>
                </a:rPr>
                <a:t>A. ,  $]</a:t>
              </a:r>
              <a:endParaRPr lang="en-US" altLang="zh-CN" sz="2400" b="1">
                <a:solidFill>
                  <a:srgbClr val="010000"/>
                </a:solidFill>
                <a:latin typeface="+mn-ea"/>
              </a:endParaRPr>
            </a:p>
          </p:txBody>
        </p:sp>
        <p:sp useBgFill="1">
          <p:nvSpPr>
            <p:cNvPr id="15" name="Oval 8"/>
            <p:cNvSpPr>
              <a:spLocks noChangeArrowheads="1"/>
            </p:cNvSpPr>
            <p:nvPr>
              <p:custDataLst>
                <p:tags r:id="rId5"/>
              </p:custDataLst>
            </p:nvPr>
          </p:nvSpPr>
          <p:spPr bwMode="auto">
            <a:xfrm>
              <a:off x="3726" y="432"/>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1</a:t>
              </a:r>
              <a:endParaRPr lang="zh-CN" altLang="en-US" sz="2400" b="1">
                <a:solidFill>
                  <a:srgbClr val="010000"/>
                </a:solidFill>
                <a:latin typeface="+mn-ea"/>
              </a:endParaRPr>
            </a:p>
          </p:txBody>
        </p:sp>
        <p:sp>
          <p:nvSpPr>
            <p:cNvPr id="16" name="Rectangle 9"/>
            <p:cNvSpPr>
              <a:spLocks noChangeArrowheads="1"/>
            </p:cNvSpPr>
            <p:nvPr>
              <p:custDataLst>
                <p:tags r:id="rId6"/>
              </p:custDataLst>
            </p:nvPr>
          </p:nvSpPr>
          <p:spPr bwMode="auto">
            <a:xfrm>
              <a:off x="1856" y="462"/>
              <a:ext cx="29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17" name="Group 10"/>
          <p:cNvGrpSpPr/>
          <p:nvPr/>
        </p:nvGrpSpPr>
        <p:grpSpPr bwMode="auto">
          <a:xfrm>
            <a:off x="6322531" y="2206961"/>
            <a:ext cx="2899975" cy="705656"/>
            <a:chOff x="1854" y="816"/>
            <a:chExt cx="2160" cy="480"/>
          </a:xfrm>
        </p:grpSpPr>
        <p:sp>
          <p:nvSpPr>
            <p:cNvPr id="18" name="Line 11"/>
            <p:cNvSpPr>
              <a:spLocks noChangeShapeType="1"/>
            </p:cNvSpPr>
            <p:nvPr>
              <p:custDataLst>
                <p:tags r:id="rId7"/>
              </p:custDataLst>
            </p:nvPr>
          </p:nvSpPr>
          <p:spPr bwMode="auto">
            <a:xfrm>
              <a:off x="1854" y="960"/>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useBgFill="1">
          <p:nvSpPr>
            <p:cNvPr id="19" name="AutoShape 12"/>
            <p:cNvSpPr>
              <a:spLocks noChangeArrowheads="1"/>
            </p:cNvSpPr>
            <p:nvPr>
              <p:custDataLst>
                <p:tags r:id="rId8"/>
              </p:custDataLst>
            </p:nvPr>
          </p:nvSpPr>
          <p:spPr bwMode="auto">
            <a:xfrm>
              <a:off x="2238" y="816"/>
              <a:ext cx="1680"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en-US" altLang="zh-CN" sz="2400" b="1">
                <a:solidFill>
                  <a:srgbClr val="010000"/>
                </a:solidFill>
                <a:latin typeface="+mn-ea"/>
              </a:endParaRPr>
            </a:p>
          </p:txBody>
        </p:sp>
        <p:sp useBgFill="1">
          <p:nvSpPr>
            <p:cNvPr id="20" name="Oval 13"/>
            <p:cNvSpPr>
              <a:spLocks noChangeArrowheads="1"/>
            </p:cNvSpPr>
            <p:nvPr>
              <p:custDataLst>
                <p:tags r:id="rId9"/>
              </p:custDataLst>
            </p:nvPr>
          </p:nvSpPr>
          <p:spPr bwMode="auto">
            <a:xfrm>
              <a:off x="3726" y="1008"/>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3</a:t>
              </a:r>
              <a:endParaRPr lang="zh-CN" altLang="en-US" sz="2400" b="1">
                <a:solidFill>
                  <a:srgbClr val="010000"/>
                </a:solidFill>
                <a:latin typeface="+mn-ea"/>
              </a:endParaRPr>
            </a:p>
          </p:txBody>
        </p:sp>
        <p:sp>
          <p:nvSpPr>
            <p:cNvPr id="21" name="Rectangle 14"/>
            <p:cNvSpPr>
              <a:spLocks noChangeArrowheads="1"/>
            </p:cNvSpPr>
            <p:nvPr>
              <p:custDataLst>
                <p:tags r:id="rId10"/>
              </p:custDataLst>
            </p:nvPr>
          </p:nvSpPr>
          <p:spPr bwMode="auto">
            <a:xfrm>
              <a:off x="1897" y="894"/>
              <a:ext cx="25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22" name="Group 15"/>
          <p:cNvGrpSpPr/>
          <p:nvPr/>
        </p:nvGrpSpPr>
        <p:grpSpPr bwMode="auto">
          <a:xfrm>
            <a:off x="3651305" y="2614472"/>
            <a:ext cx="2669502" cy="1940554"/>
            <a:chOff x="78" y="1188"/>
            <a:chExt cx="1824" cy="1320"/>
          </a:xfrm>
        </p:grpSpPr>
        <p:sp useBgFill="1">
          <p:nvSpPr>
            <p:cNvPr id="23" name="AutoShape 16"/>
            <p:cNvSpPr>
              <a:spLocks noChangeArrowheads="1"/>
            </p:cNvSpPr>
            <p:nvPr>
              <p:custDataLst>
                <p:tags r:id="rId11"/>
              </p:custDataLst>
            </p:nvPr>
          </p:nvSpPr>
          <p:spPr bwMode="auto">
            <a:xfrm>
              <a:off x="78" y="1500"/>
              <a:ext cx="1776" cy="864"/>
            </a:xfrm>
            <a:prstGeom prst="flowChartAlternateProcess">
              <a:avLst/>
            </a:prstGeom>
            <a:ln w="19050">
              <a:solidFill>
                <a:schemeClr val="tx1"/>
              </a:solidFill>
              <a:miter lim="800000"/>
            </a:ln>
          </p:spPr>
          <p:txBody>
            <a:bodyPr wrap="none" anchor="ctr"/>
            <a:p>
              <a:r>
                <a:rPr lang="zh-CN" altLang="en-US" sz="2400" b="1" dirty="0">
                  <a:solidFill>
                    <a:srgbClr val="0070C0"/>
                  </a:solidFill>
                  <a:latin typeface="+mn-ea"/>
                </a:rPr>
                <a:t>[</a:t>
              </a:r>
              <a:r>
                <a:rPr lang="en-US" altLang="zh-CN" sz="2400" b="1" dirty="0">
                  <a:solidFill>
                    <a:srgbClr val="0070C0"/>
                  </a:solidFill>
                  <a:latin typeface="+mn-ea"/>
                </a:rPr>
                <a:t>A→(.A) ,  $</a:t>
              </a:r>
              <a:r>
                <a:rPr lang="zh-CN" altLang="en-US" sz="2400" b="1" dirty="0">
                  <a:solidFill>
                    <a:srgbClr val="0070C0"/>
                  </a:solidFill>
                  <a:latin typeface="+mn-ea"/>
                </a:rPr>
                <a:t>]</a:t>
              </a:r>
              <a:endParaRPr lang="zh-CN" altLang="en-US" sz="2400" b="1" dirty="0">
                <a:solidFill>
                  <a:srgbClr val="0070C0"/>
                </a:solidFill>
                <a:latin typeface="+mn-ea"/>
              </a:endParaRPr>
            </a:p>
            <a:p>
              <a:r>
                <a:rPr lang="zh-CN" altLang="en-US" sz="2400" b="1" dirty="0">
                  <a:solidFill>
                    <a:srgbClr val="010000"/>
                  </a:solidFill>
                  <a:latin typeface="+mn-ea"/>
                </a:rPr>
                <a:t>[</a:t>
              </a:r>
              <a:r>
                <a:rPr lang="en-US" altLang="zh-CN" sz="2400" b="1" dirty="0">
                  <a:solidFill>
                    <a:srgbClr val="010000"/>
                  </a:solidFill>
                  <a:latin typeface="+mn-ea"/>
                </a:rPr>
                <a:t>A</a:t>
              </a:r>
              <a:r>
                <a:rPr lang="en-US" altLang="zh-CN" sz="2400" b="1" dirty="0">
                  <a:solidFill>
                    <a:srgbClr val="020001"/>
                  </a:solidFill>
                  <a:latin typeface="+mn-ea"/>
                </a:rPr>
                <a:t>→.(A)</a:t>
              </a:r>
              <a:r>
                <a:rPr lang="en-US" altLang="zh-CN" sz="2400" b="1" dirty="0">
                  <a:solidFill>
                    <a:srgbClr val="010000"/>
                  </a:solidFill>
                  <a:latin typeface="+mn-ea"/>
                </a:rPr>
                <a:t>,  )]</a:t>
              </a:r>
              <a:endParaRPr lang="en-US" altLang="zh-CN" sz="2400" b="1" dirty="0">
                <a:solidFill>
                  <a:srgbClr val="010000"/>
                </a:solidFill>
                <a:latin typeface="+mn-ea"/>
              </a:endParaRPr>
            </a:p>
            <a:p>
              <a:r>
                <a:rPr lang="zh-CN" altLang="en-US" sz="2400" b="1" dirty="0">
                  <a:solidFill>
                    <a:srgbClr val="010000"/>
                  </a:solidFill>
                  <a:latin typeface="+mn-ea"/>
                </a:rPr>
                <a:t>[</a:t>
              </a:r>
              <a:r>
                <a:rPr lang="en-US" altLang="zh-CN" sz="2400" b="1" dirty="0" err="1">
                  <a:solidFill>
                    <a:srgbClr val="020001"/>
                  </a:solidFill>
                  <a:latin typeface="+mn-ea"/>
                </a:rPr>
                <a:t>A→.a</a:t>
              </a:r>
              <a:r>
                <a:rPr lang="en-US" altLang="zh-CN" sz="2400" b="1" dirty="0">
                  <a:solidFill>
                    <a:srgbClr val="020001"/>
                  </a:solidFill>
                  <a:latin typeface="+mn-ea"/>
                </a:rPr>
                <a:t> ,  )</a:t>
              </a:r>
              <a:r>
                <a:rPr lang="zh-CN" altLang="en-US" sz="2400" b="1" dirty="0">
                  <a:solidFill>
                    <a:srgbClr val="010000"/>
                  </a:solidFill>
                  <a:latin typeface="+mn-ea"/>
                </a:rPr>
                <a:t>]</a:t>
              </a:r>
              <a:endParaRPr lang="zh-CN" altLang="en-US" sz="2400" b="1" dirty="0">
                <a:solidFill>
                  <a:srgbClr val="010000"/>
                </a:solidFill>
                <a:latin typeface="+mn-ea"/>
              </a:endParaRPr>
            </a:p>
          </p:txBody>
        </p:sp>
        <p:sp>
          <p:nvSpPr>
            <p:cNvPr id="24" name="Line 17"/>
            <p:cNvSpPr>
              <a:spLocks noChangeShapeType="1"/>
            </p:cNvSpPr>
            <p:nvPr>
              <p:custDataLst>
                <p:tags r:id="rId12"/>
              </p:custDataLst>
            </p:nvPr>
          </p:nvSpPr>
          <p:spPr bwMode="auto">
            <a:xfrm>
              <a:off x="894" y="1260"/>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useBgFill="1">
          <p:nvSpPr>
            <p:cNvPr id="25" name="Oval 18"/>
            <p:cNvSpPr>
              <a:spLocks noChangeArrowheads="1"/>
            </p:cNvSpPr>
            <p:nvPr>
              <p:custDataLst>
                <p:tags r:id="rId13"/>
              </p:custDataLst>
            </p:nvPr>
          </p:nvSpPr>
          <p:spPr bwMode="auto">
            <a:xfrm>
              <a:off x="1614" y="2220"/>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2</a:t>
              </a:r>
              <a:endParaRPr lang="zh-CN" altLang="en-US" sz="2400" b="1">
                <a:solidFill>
                  <a:srgbClr val="010000"/>
                </a:solidFill>
                <a:latin typeface="+mn-ea"/>
              </a:endParaRPr>
            </a:p>
          </p:txBody>
        </p:sp>
        <p:sp>
          <p:nvSpPr>
            <p:cNvPr id="26" name="Rectangle 19"/>
            <p:cNvSpPr>
              <a:spLocks noChangeArrowheads="1"/>
            </p:cNvSpPr>
            <p:nvPr>
              <p:custDataLst>
                <p:tags r:id="rId14"/>
              </p:custDataLst>
            </p:nvPr>
          </p:nvSpPr>
          <p:spPr bwMode="auto">
            <a:xfrm>
              <a:off x="920" y="1188"/>
              <a:ext cx="19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t>
              </a:r>
              <a:endParaRPr lang="zh-CN" altLang="en-US" sz="2400" b="1">
                <a:solidFill>
                  <a:srgbClr val="010000"/>
                </a:solidFill>
                <a:latin typeface="+mn-ea"/>
              </a:endParaRPr>
            </a:p>
          </p:txBody>
        </p:sp>
      </p:grpSp>
      <p:grpSp>
        <p:nvGrpSpPr>
          <p:cNvPr id="27" name="Group 20"/>
          <p:cNvGrpSpPr/>
          <p:nvPr/>
        </p:nvGrpSpPr>
        <p:grpSpPr bwMode="auto">
          <a:xfrm>
            <a:off x="6382851" y="3035637"/>
            <a:ext cx="2839652" cy="802684"/>
            <a:chOff x="1902" y="1338"/>
            <a:chExt cx="2034" cy="546"/>
          </a:xfrm>
        </p:grpSpPr>
        <p:sp>
          <p:nvSpPr>
            <p:cNvPr id="28" name="Line 21"/>
            <p:cNvSpPr>
              <a:spLocks noChangeShapeType="1"/>
            </p:cNvSpPr>
            <p:nvPr>
              <p:custDataLst>
                <p:tags r:id="rId15"/>
              </p:custDataLst>
            </p:nvPr>
          </p:nvSpPr>
          <p:spPr bwMode="auto">
            <a:xfrm>
              <a:off x="1902" y="1596"/>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useBgFill="1">
          <p:nvSpPr>
            <p:cNvPr id="29" name="AutoShape 22"/>
            <p:cNvSpPr>
              <a:spLocks noChangeArrowheads="1"/>
            </p:cNvSpPr>
            <p:nvPr>
              <p:custDataLst>
                <p:tags r:id="rId16"/>
              </p:custDataLst>
            </p:nvPr>
          </p:nvSpPr>
          <p:spPr bwMode="auto">
            <a:xfrm>
              <a:off x="2286" y="1356"/>
              <a:ext cx="1506"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30" name="Oval 23"/>
            <p:cNvSpPr>
              <a:spLocks noChangeArrowheads="1"/>
            </p:cNvSpPr>
            <p:nvPr>
              <p:custDataLst>
                <p:tags r:id="rId17"/>
              </p:custDataLst>
            </p:nvPr>
          </p:nvSpPr>
          <p:spPr bwMode="auto">
            <a:xfrm>
              <a:off x="3648" y="1596"/>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4</a:t>
              </a:r>
              <a:endParaRPr lang="zh-CN" altLang="en-US" sz="2400" b="1">
                <a:solidFill>
                  <a:srgbClr val="010000"/>
                </a:solidFill>
                <a:latin typeface="+mn-ea"/>
              </a:endParaRPr>
            </a:p>
          </p:txBody>
        </p:sp>
        <p:sp>
          <p:nvSpPr>
            <p:cNvPr id="31" name="Rectangle 24"/>
            <p:cNvSpPr>
              <a:spLocks noChangeArrowheads="1"/>
            </p:cNvSpPr>
            <p:nvPr>
              <p:custDataLst>
                <p:tags r:id="rId18"/>
              </p:custDataLst>
            </p:nvPr>
          </p:nvSpPr>
          <p:spPr bwMode="auto">
            <a:xfrm>
              <a:off x="1913" y="1338"/>
              <a:ext cx="27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32" name="Group 25"/>
          <p:cNvGrpSpPr/>
          <p:nvPr/>
        </p:nvGrpSpPr>
        <p:grpSpPr bwMode="auto">
          <a:xfrm>
            <a:off x="3575105" y="4405172"/>
            <a:ext cx="2627059" cy="1590667"/>
            <a:chOff x="30" y="2316"/>
            <a:chExt cx="1795" cy="1082"/>
          </a:xfrm>
        </p:grpSpPr>
        <p:sp>
          <p:nvSpPr>
            <p:cNvPr id="33" name="Line 26"/>
            <p:cNvSpPr>
              <a:spLocks noChangeShapeType="1"/>
            </p:cNvSpPr>
            <p:nvPr>
              <p:custDataLst>
                <p:tags r:id="rId19"/>
              </p:custDataLst>
            </p:nvPr>
          </p:nvSpPr>
          <p:spPr bwMode="auto">
            <a:xfrm>
              <a:off x="750" y="2379"/>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4" name="Rectangle 27"/>
            <p:cNvSpPr>
              <a:spLocks noChangeArrowheads="1"/>
            </p:cNvSpPr>
            <p:nvPr>
              <p:custDataLst>
                <p:tags r:id="rId20"/>
              </p:custDataLst>
            </p:nvPr>
          </p:nvSpPr>
          <p:spPr bwMode="auto">
            <a:xfrm>
              <a:off x="785" y="2316"/>
              <a:ext cx="19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t>
              </a:r>
              <a:endParaRPr lang="zh-CN" altLang="en-US" sz="2400" b="1">
                <a:solidFill>
                  <a:srgbClr val="010000"/>
                </a:solidFill>
                <a:latin typeface="+mn-ea"/>
              </a:endParaRPr>
            </a:p>
          </p:txBody>
        </p:sp>
        <p:sp useBgFill="1">
          <p:nvSpPr>
            <p:cNvPr id="35" name="AutoShape 28"/>
            <p:cNvSpPr>
              <a:spLocks noChangeArrowheads="1"/>
            </p:cNvSpPr>
            <p:nvPr>
              <p:custDataLst>
                <p:tags r:id="rId21"/>
              </p:custDataLst>
            </p:nvPr>
          </p:nvSpPr>
          <p:spPr bwMode="auto">
            <a:xfrm>
              <a:off x="30" y="2607"/>
              <a:ext cx="1776" cy="768"/>
            </a:xfrm>
            <a:prstGeom prst="flowChartAlternateProcess">
              <a:avLst/>
            </a:prstGeom>
            <a:ln w="19050">
              <a:solidFill>
                <a:schemeClr val="tx1"/>
              </a:solidFill>
              <a:miter lim="800000"/>
            </a:ln>
          </p:spPr>
          <p:txBody>
            <a:bodyPr wrap="none" anchor="ctr"/>
            <a:p>
              <a:r>
                <a:rPr lang="zh-CN" altLang="en-US" sz="2400" b="1" dirty="0">
                  <a:solidFill>
                    <a:srgbClr val="0070C0"/>
                  </a:solidFill>
                  <a:latin typeface="+mn-ea"/>
                </a:rPr>
                <a:t>[</a:t>
              </a:r>
              <a:r>
                <a:rPr lang="en-US" altLang="zh-CN" sz="2400" b="1" dirty="0">
                  <a:solidFill>
                    <a:srgbClr val="0070C0"/>
                  </a:solidFill>
                  <a:latin typeface="+mn-ea"/>
                </a:rPr>
                <a:t>A→(.A) ,  )</a:t>
              </a:r>
              <a:r>
                <a:rPr lang="zh-CN" altLang="en-US" sz="2400" b="1" dirty="0">
                  <a:solidFill>
                    <a:srgbClr val="0070C0"/>
                  </a:solidFill>
                  <a:latin typeface="+mn-ea"/>
                </a:rPr>
                <a:t>]</a:t>
              </a:r>
              <a:endParaRPr lang="zh-CN" altLang="en-US" sz="2400" b="1" dirty="0">
                <a:solidFill>
                  <a:srgbClr val="0070C0"/>
                </a:solidFill>
                <a:latin typeface="+mn-ea"/>
              </a:endParaRPr>
            </a:p>
            <a:p>
              <a:r>
                <a:rPr lang="zh-CN" altLang="en-US" sz="2400" b="1" dirty="0">
                  <a:solidFill>
                    <a:srgbClr val="010000"/>
                  </a:solidFill>
                  <a:latin typeface="+mn-ea"/>
                </a:rPr>
                <a:t>[</a:t>
              </a:r>
              <a:r>
                <a:rPr lang="en-US" altLang="zh-CN" sz="2400" b="1" dirty="0">
                  <a:solidFill>
                    <a:srgbClr val="010000"/>
                  </a:solidFill>
                  <a:latin typeface="+mn-ea"/>
                </a:rPr>
                <a:t>A</a:t>
              </a:r>
              <a:r>
                <a:rPr lang="en-US" altLang="zh-CN" sz="2400" b="1" dirty="0">
                  <a:solidFill>
                    <a:srgbClr val="020001"/>
                  </a:solidFill>
                  <a:latin typeface="+mn-ea"/>
                </a:rPr>
                <a:t>→.(A)</a:t>
              </a:r>
              <a:r>
                <a:rPr lang="en-US" altLang="zh-CN" sz="2400" b="1" dirty="0">
                  <a:solidFill>
                    <a:srgbClr val="010000"/>
                  </a:solidFill>
                  <a:latin typeface="+mn-ea"/>
                </a:rPr>
                <a:t>,  )]</a:t>
              </a:r>
              <a:endParaRPr lang="en-US" altLang="zh-CN" sz="2400" b="1" dirty="0">
                <a:solidFill>
                  <a:srgbClr val="010000"/>
                </a:solidFill>
                <a:latin typeface="+mn-ea"/>
              </a:endParaRPr>
            </a:p>
            <a:p>
              <a:r>
                <a:rPr lang="zh-CN" altLang="en-US" sz="2400" b="1" dirty="0">
                  <a:solidFill>
                    <a:srgbClr val="010000"/>
                  </a:solidFill>
                  <a:latin typeface="+mn-ea"/>
                </a:rPr>
                <a:t>[</a:t>
              </a:r>
              <a:r>
                <a:rPr lang="en-US" altLang="zh-CN" sz="2400" b="1" dirty="0" err="1">
                  <a:solidFill>
                    <a:srgbClr val="020001"/>
                  </a:solidFill>
                  <a:latin typeface="+mn-ea"/>
                </a:rPr>
                <a:t>A→.a</a:t>
              </a:r>
              <a:r>
                <a:rPr lang="en-US" altLang="zh-CN" sz="2400" b="1" dirty="0">
                  <a:solidFill>
                    <a:srgbClr val="020001"/>
                  </a:solidFill>
                  <a:latin typeface="+mn-ea"/>
                </a:rPr>
                <a:t> ,  )</a:t>
              </a:r>
              <a:r>
                <a:rPr lang="zh-CN" altLang="en-US" sz="2400" b="1" dirty="0">
                  <a:solidFill>
                    <a:srgbClr val="010000"/>
                  </a:solidFill>
                  <a:latin typeface="+mn-ea"/>
                </a:rPr>
                <a:t>]</a:t>
              </a:r>
              <a:endParaRPr lang="zh-CN" altLang="en-US" sz="2400" b="1" dirty="0">
                <a:solidFill>
                  <a:srgbClr val="010000"/>
                </a:solidFill>
                <a:latin typeface="+mn-ea"/>
              </a:endParaRPr>
            </a:p>
          </p:txBody>
        </p:sp>
        <p:sp useBgFill="1">
          <p:nvSpPr>
            <p:cNvPr id="36" name="Oval 29"/>
            <p:cNvSpPr>
              <a:spLocks noChangeArrowheads="1"/>
            </p:cNvSpPr>
            <p:nvPr>
              <p:custDataLst>
                <p:tags r:id="rId22"/>
              </p:custDataLst>
            </p:nvPr>
          </p:nvSpPr>
          <p:spPr bwMode="auto">
            <a:xfrm>
              <a:off x="1537" y="3110"/>
              <a:ext cx="288" cy="288"/>
            </a:xfrm>
            <a:prstGeom prst="ellipse">
              <a:avLst/>
            </a:prstGeom>
            <a:ln w="9525">
              <a:solidFill>
                <a:schemeClr val="tx1"/>
              </a:solidFill>
              <a:round/>
            </a:ln>
          </p:spPr>
          <p:txBody>
            <a:bodyPr wrap="none" anchor="ctr"/>
            <a:p>
              <a:pPr algn="ctr"/>
              <a:r>
                <a:rPr lang="en-US" altLang="zh-CN" sz="2400" b="1" dirty="0">
                  <a:solidFill>
                    <a:srgbClr val="010000"/>
                  </a:solidFill>
                  <a:latin typeface="+mn-ea"/>
                </a:rPr>
                <a:t>5</a:t>
              </a:r>
              <a:endParaRPr lang="zh-CN" altLang="en-US" sz="2400" b="1" dirty="0">
                <a:solidFill>
                  <a:srgbClr val="010000"/>
                </a:solidFill>
                <a:latin typeface="+mn-ea"/>
              </a:endParaRPr>
            </a:p>
          </p:txBody>
        </p:sp>
      </p:grpSp>
      <p:grpSp>
        <p:nvGrpSpPr>
          <p:cNvPr id="37" name="Group 30"/>
          <p:cNvGrpSpPr/>
          <p:nvPr/>
        </p:nvGrpSpPr>
        <p:grpSpPr bwMode="auto">
          <a:xfrm>
            <a:off x="6320855" y="3978611"/>
            <a:ext cx="2810003" cy="776222"/>
            <a:chOff x="1872" y="1932"/>
            <a:chExt cx="1920" cy="528"/>
          </a:xfrm>
        </p:grpSpPr>
        <p:sp>
          <p:nvSpPr>
            <p:cNvPr id="38" name="Line 31"/>
            <p:cNvSpPr>
              <a:spLocks noChangeShapeType="1"/>
            </p:cNvSpPr>
            <p:nvPr>
              <p:custDataLst>
                <p:tags r:id="rId23"/>
              </p:custDataLst>
            </p:nvPr>
          </p:nvSpPr>
          <p:spPr bwMode="auto">
            <a:xfrm>
              <a:off x="1872" y="20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39" name="Rectangle 32"/>
            <p:cNvSpPr>
              <a:spLocks noChangeArrowheads="1"/>
            </p:cNvSpPr>
            <p:nvPr>
              <p:custDataLst>
                <p:tags r:id="rId24"/>
              </p:custDataLst>
            </p:nvPr>
          </p:nvSpPr>
          <p:spPr bwMode="auto">
            <a:xfrm>
              <a:off x="1907" y="1962"/>
              <a:ext cx="23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sp useBgFill="1">
          <p:nvSpPr>
            <p:cNvPr id="40" name="AutoShape 33"/>
            <p:cNvSpPr>
              <a:spLocks noChangeArrowheads="1"/>
            </p:cNvSpPr>
            <p:nvPr>
              <p:custDataLst>
                <p:tags r:id="rId25"/>
              </p:custDataLst>
            </p:nvPr>
          </p:nvSpPr>
          <p:spPr bwMode="auto">
            <a:xfrm>
              <a:off x="2256" y="1932"/>
              <a:ext cx="1392"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en-US" altLang="zh-CN" sz="2400" b="1">
                <a:solidFill>
                  <a:srgbClr val="010000"/>
                </a:solidFill>
                <a:latin typeface="+mn-ea"/>
              </a:endParaRPr>
            </a:p>
          </p:txBody>
        </p:sp>
        <p:sp useBgFill="1">
          <p:nvSpPr>
            <p:cNvPr id="41" name="Oval 34"/>
            <p:cNvSpPr>
              <a:spLocks noChangeArrowheads="1"/>
            </p:cNvSpPr>
            <p:nvPr>
              <p:custDataLst>
                <p:tags r:id="rId26"/>
              </p:custDataLst>
            </p:nvPr>
          </p:nvSpPr>
          <p:spPr bwMode="auto">
            <a:xfrm>
              <a:off x="3504" y="2172"/>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6</a:t>
              </a:r>
              <a:endParaRPr lang="zh-CN" altLang="en-US" sz="2400" b="1">
                <a:solidFill>
                  <a:srgbClr val="010000"/>
                </a:solidFill>
                <a:latin typeface="+mn-ea"/>
              </a:endParaRPr>
            </a:p>
          </p:txBody>
        </p:sp>
      </p:grpSp>
      <p:grpSp>
        <p:nvGrpSpPr>
          <p:cNvPr id="42" name="Group 35"/>
          <p:cNvGrpSpPr/>
          <p:nvPr/>
        </p:nvGrpSpPr>
        <p:grpSpPr bwMode="auto">
          <a:xfrm>
            <a:off x="6174899" y="4550743"/>
            <a:ext cx="604444" cy="539533"/>
            <a:chOff x="1873" y="2270"/>
            <a:chExt cx="413" cy="367"/>
          </a:xfrm>
        </p:grpSpPr>
        <p:sp>
          <p:nvSpPr>
            <p:cNvPr id="43" name="Line 36"/>
            <p:cNvSpPr>
              <a:spLocks noChangeShapeType="1"/>
            </p:cNvSpPr>
            <p:nvPr>
              <p:custDataLst>
                <p:tags r:id="rId27"/>
              </p:custDataLst>
            </p:nvPr>
          </p:nvSpPr>
          <p:spPr bwMode="auto">
            <a:xfrm flipV="1">
              <a:off x="1873" y="2270"/>
              <a:ext cx="413" cy="22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44" name="Rectangle 37"/>
            <p:cNvSpPr>
              <a:spLocks noChangeArrowheads="1"/>
            </p:cNvSpPr>
            <p:nvPr>
              <p:custDataLst>
                <p:tags r:id="rId28"/>
              </p:custDataLst>
            </p:nvPr>
          </p:nvSpPr>
          <p:spPr bwMode="auto">
            <a:xfrm>
              <a:off x="2031" y="2324"/>
              <a:ext cx="23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45" name="Group 38"/>
          <p:cNvGrpSpPr/>
          <p:nvPr/>
        </p:nvGrpSpPr>
        <p:grpSpPr bwMode="auto">
          <a:xfrm>
            <a:off x="9130526" y="2859223"/>
            <a:ext cx="2713564" cy="1027612"/>
            <a:chOff x="3696" y="1185"/>
            <a:chExt cx="2064" cy="699"/>
          </a:xfrm>
        </p:grpSpPr>
        <p:sp>
          <p:nvSpPr>
            <p:cNvPr id="46" name="Line 39"/>
            <p:cNvSpPr>
              <a:spLocks noChangeShapeType="1"/>
            </p:cNvSpPr>
            <p:nvPr>
              <p:custDataLst>
                <p:tags r:id="rId29"/>
              </p:custDataLst>
            </p:nvPr>
          </p:nvSpPr>
          <p:spPr bwMode="auto">
            <a:xfrm>
              <a:off x="3696" y="1497"/>
              <a:ext cx="480" cy="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47" name="Rectangle 40"/>
            <p:cNvSpPr>
              <a:spLocks noChangeArrowheads="1"/>
            </p:cNvSpPr>
            <p:nvPr>
              <p:custDataLst>
                <p:tags r:id="rId30"/>
              </p:custDataLst>
            </p:nvPr>
          </p:nvSpPr>
          <p:spPr bwMode="auto">
            <a:xfrm>
              <a:off x="3852" y="1185"/>
              <a:ext cx="21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dirty="0">
                  <a:solidFill>
                    <a:srgbClr val="010000"/>
                  </a:solidFill>
                  <a:latin typeface="+mn-ea"/>
                </a:rPr>
                <a:t>)</a:t>
              </a:r>
              <a:endParaRPr lang="zh-CN" altLang="en-US" sz="2400" b="1" dirty="0">
                <a:solidFill>
                  <a:srgbClr val="010000"/>
                </a:solidFill>
                <a:latin typeface="+mn-ea"/>
              </a:endParaRPr>
            </a:p>
          </p:txBody>
        </p:sp>
        <p:sp useBgFill="1">
          <p:nvSpPr>
            <p:cNvPr id="48" name="AutoShape 41"/>
            <p:cNvSpPr>
              <a:spLocks noChangeArrowheads="1"/>
            </p:cNvSpPr>
            <p:nvPr>
              <p:custDataLst>
                <p:tags r:id="rId31"/>
              </p:custDataLst>
            </p:nvPr>
          </p:nvSpPr>
          <p:spPr bwMode="auto">
            <a:xfrm>
              <a:off x="4176" y="1308"/>
              <a:ext cx="1488"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49" name="Oval 42"/>
            <p:cNvSpPr>
              <a:spLocks noChangeArrowheads="1"/>
            </p:cNvSpPr>
            <p:nvPr>
              <p:custDataLst>
                <p:tags r:id="rId32"/>
              </p:custDataLst>
            </p:nvPr>
          </p:nvSpPr>
          <p:spPr bwMode="auto">
            <a:xfrm>
              <a:off x="5472" y="1596"/>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7</a:t>
              </a:r>
              <a:endParaRPr lang="zh-CN" altLang="en-US" sz="2400" b="1">
                <a:solidFill>
                  <a:srgbClr val="010000"/>
                </a:solidFill>
                <a:latin typeface="+mn-ea"/>
              </a:endParaRPr>
            </a:p>
          </p:txBody>
        </p:sp>
      </p:grpSp>
      <p:grpSp>
        <p:nvGrpSpPr>
          <p:cNvPr id="50" name="Group 43"/>
          <p:cNvGrpSpPr/>
          <p:nvPr/>
        </p:nvGrpSpPr>
        <p:grpSpPr bwMode="auto">
          <a:xfrm>
            <a:off x="5383178" y="5315148"/>
            <a:ext cx="2308504" cy="1285687"/>
            <a:chOff x="1456" y="3409"/>
            <a:chExt cx="1453" cy="563"/>
          </a:xfrm>
        </p:grpSpPr>
        <p:sp>
          <p:nvSpPr>
            <p:cNvPr id="51" name="Rectangle 44"/>
            <p:cNvSpPr>
              <a:spLocks noChangeArrowheads="1"/>
            </p:cNvSpPr>
            <p:nvPr>
              <p:custDataLst>
                <p:tags r:id="rId33"/>
              </p:custDataLst>
            </p:nvPr>
          </p:nvSpPr>
          <p:spPr bwMode="auto">
            <a:xfrm>
              <a:off x="1456" y="3770"/>
              <a:ext cx="17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dirty="0">
                  <a:solidFill>
                    <a:srgbClr val="010000"/>
                  </a:solidFill>
                  <a:latin typeface="+mn-ea"/>
                </a:rPr>
                <a:t>(</a:t>
              </a:r>
              <a:endParaRPr lang="zh-CN" altLang="en-US" sz="2400" b="1" dirty="0">
                <a:solidFill>
                  <a:srgbClr val="010000"/>
                </a:solidFill>
                <a:latin typeface="+mn-ea"/>
              </a:endParaRPr>
            </a:p>
          </p:txBody>
        </p:sp>
        <p:cxnSp>
          <p:nvCxnSpPr>
            <p:cNvPr id="52" name="AutoShape 45"/>
            <p:cNvCxnSpPr>
              <a:cxnSpLocks noChangeShapeType="1"/>
              <a:stCxn id="35" idx="3"/>
              <a:endCxn id="35" idx="2"/>
            </p:cNvCxnSpPr>
            <p:nvPr>
              <p:custDataLst>
                <p:tags r:id="rId34"/>
              </p:custDataLst>
            </p:nvPr>
          </p:nvCxnSpPr>
          <p:spPr bwMode="auto">
            <a:xfrm flipH="1">
              <a:off x="2091" y="3409"/>
              <a:ext cx="818" cy="247"/>
            </a:xfrm>
            <a:prstGeom prst="curvedConnector4">
              <a:avLst>
                <a:gd name="adj1" fmla="val -18307"/>
                <a:gd name="adj2" fmla="val 142147"/>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grpSp>
        <p:nvGrpSpPr>
          <p:cNvPr id="53" name="Group 46"/>
          <p:cNvGrpSpPr/>
          <p:nvPr/>
        </p:nvGrpSpPr>
        <p:grpSpPr bwMode="auto">
          <a:xfrm>
            <a:off x="6230451" y="5250200"/>
            <a:ext cx="2976846" cy="802684"/>
            <a:chOff x="1806" y="2733"/>
            <a:chExt cx="2034" cy="546"/>
          </a:xfrm>
        </p:grpSpPr>
        <p:sp>
          <p:nvSpPr>
            <p:cNvPr id="54" name="Line 47"/>
            <p:cNvSpPr>
              <a:spLocks noChangeShapeType="1"/>
            </p:cNvSpPr>
            <p:nvPr>
              <p:custDataLst>
                <p:tags r:id="rId35"/>
              </p:custDataLst>
            </p:nvPr>
          </p:nvSpPr>
          <p:spPr bwMode="auto">
            <a:xfrm>
              <a:off x="1806" y="2991"/>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useBgFill="1">
          <p:nvSpPr>
            <p:cNvPr id="55" name="AutoShape 48"/>
            <p:cNvSpPr>
              <a:spLocks noChangeArrowheads="1"/>
            </p:cNvSpPr>
            <p:nvPr>
              <p:custDataLst>
                <p:tags r:id="rId36"/>
              </p:custDataLst>
            </p:nvPr>
          </p:nvSpPr>
          <p:spPr bwMode="auto">
            <a:xfrm>
              <a:off x="2190" y="2751"/>
              <a:ext cx="1506"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56" name="Oval 49"/>
            <p:cNvSpPr>
              <a:spLocks noChangeArrowheads="1"/>
            </p:cNvSpPr>
            <p:nvPr>
              <p:custDataLst>
                <p:tags r:id="rId37"/>
              </p:custDataLst>
            </p:nvPr>
          </p:nvSpPr>
          <p:spPr bwMode="auto">
            <a:xfrm>
              <a:off x="3552" y="2991"/>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8</a:t>
              </a:r>
              <a:endParaRPr lang="zh-CN" altLang="en-US" sz="2400" b="1">
                <a:solidFill>
                  <a:srgbClr val="010000"/>
                </a:solidFill>
                <a:latin typeface="+mn-ea"/>
              </a:endParaRPr>
            </a:p>
          </p:txBody>
        </p:sp>
        <p:sp>
          <p:nvSpPr>
            <p:cNvPr id="57" name="Rectangle 50"/>
            <p:cNvSpPr>
              <a:spLocks noChangeArrowheads="1"/>
            </p:cNvSpPr>
            <p:nvPr>
              <p:custDataLst>
                <p:tags r:id="rId38"/>
              </p:custDataLst>
            </p:nvPr>
          </p:nvSpPr>
          <p:spPr bwMode="auto">
            <a:xfrm>
              <a:off x="1824" y="2733"/>
              <a:ext cx="26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58" name="Group 51"/>
          <p:cNvGrpSpPr/>
          <p:nvPr/>
        </p:nvGrpSpPr>
        <p:grpSpPr bwMode="auto">
          <a:xfrm>
            <a:off x="9093689" y="5058105"/>
            <a:ext cx="2742358" cy="983508"/>
            <a:chOff x="3599" y="2610"/>
            <a:chExt cx="2065" cy="669"/>
          </a:xfrm>
        </p:grpSpPr>
        <p:sp>
          <p:nvSpPr>
            <p:cNvPr id="59" name="Line 52"/>
            <p:cNvSpPr>
              <a:spLocks noChangeShapeType="1"/>
            </p:cNvSpPr>
            <p:nvPr>
              <p:custDataLst>
                <p:tags r:id="rId39"/>
              </p:custDataLst>
            </p:nvPr>
          </p:nvSpPr>
          <p:spPr bwMode="auto">
            <a:xfrm>
              <a:off x="3599" y="2892"/>
              <a:ext cx="481" cy="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60" name="Rectangle 53"/>
            <p:cNvSpPr>
              <a:spLocks noChangeArrowheads="1"/>
            </p:cNvSpPr>
            <p:nvPr>
              <p:custDataLst>
                <p:tags r:id="rId40"/>
              </p:custDataLst>
            </p:nvPr>
          </p:nvSpPr>
          <p:spPr bwMode="auto">
            <a:xfrm>
              <a:off x="3743" y="2610"/>
              <a:ext cx="21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gn="ctr"/>
              <a:r>
                <a:rPr lang="en-US" altLang="zh-CN" sz="2400" b="1" dirty="0">
                  <a:solidFill>
                    <a:srgbClr val="010000"/>
                  </a:solidFill>
                  <a:latin typeface="+mn-ea"/>
                </a:rPr>
                <a:t>)</a:t>
              </a:r>
              <a:endParaRPr lang="zh-CN" altLang="en-US" sz="2400" b="1" dirty="0">
                <a:solidFill>
                  <a:srgbClr val="010000"/>
                </a:solidFill>
                <a:latin typeface="+mn-ea"/>
              </a:endParaRPr>
            </a:p>
          </p:txBody>
        </p:sp>
        <p:sp useBgFill="1">
          <p:nvSpPr>
            <p:cNvPr id="61" name="AutoShape 54"/>
            <p:cNvSpPr>
              <a:spLocks noChangeArrowheads="1"/>
            </p:cNvSpPr>
            <p:nvPr>
              <p:custDataLst>
                <p:tags r:id="rId41"/>
              </p:custDataLst>
            </p:nvPr>
          </p:nvSpPr>
          <p:spPr bwMode="auto">
            <a:xfrm>
              <a:off x="4080" y="2703"/>
              <a:ext cx="1488" cy="384"/>
            </a:xfrm>
            <a:prstGeom prst="flowChartAlternateProcess">
              <a:avLst/>
            </a:prstGeom>
            <a:ln w="19050">
              <a:solidFill>
                <a:schemeClr val="tx1"/>
              </a:solidFill>
              <a:miter lim="800000"/>
            </a:ln>
          </p:spPr>
          <p:txBody>
            <a:bodyPr wrap="none" anchor="ctr"/>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62" name="Oval 55"/>
            <p:cNvSpPr>
              <a:spLocks noChangeArrowheads="1"/>
            </p:cNvSpPr>
            <p:nvPr>
              <p:custDataLst>
                <p:tags r:id="rId42"/>
              </p:custDataLst>
            </p:nvPr>
          </p:nvSpPr>
          <p:spPr bwMode="auto">
            <a:xfrm>
              <a:off x="5376" y="2991"/>
              <a:ext cx="288" cy="288"/>
            </a:xfrm>
            <a:prstGeom prst="ellipse">
              <a:avLst/>
            </a:prstGeom>
            <a:ln w="9525">
              <a:solidFill>
                <a:schemeClr val="tx1"/>
              </a:solidFill>
              <a:round/>
            </a:ln>
          </p:spPr>
          <p:txBody>
            <a:bodyPr wrap="none" anchor="ctr"/>
            <a:p>
              <a:pPr algn="ctr"/>
              <a:r>
                <a:rPr lang="zh-CN" altLang="en-US" sz="2400" b="1">
                  <a:solidFill>
                    <a:srgbClr val="010000"/>
                  </a:solidFill>
                  <a:latin typeface="+mn-ea"/>
                </a:rPr>
                <a:t>9</a:t>
              </a:r>
              <a:endParaRPr lang="zh-CN" altLang="en-US" sz="2400" b="1">
                <a:solidFill>
                  <a:srgbClr val="010000"/>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out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outHorizont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out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arn(outHorizontal)">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barn(outHorizontal)">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barn(outHorizontal)">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arn(outHorizontal)">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barn(outHorizontal)">
                                      <p:cBhvr>
                                        <p:cTn id="47" dur="500"/>
                                        <p:tgtEl>
                                          <p:spTgt spid="5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barn(outHorizontal)">
                                      <p:cBhvr>
                                        <p:cTn id="52" dur="5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barn(outHorizontal)">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barn(outHorizontal)">
                                      <p:cBhvr>
                                        <p:cTn id="6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Box 3"/>
          <p:cNvSpPr txBox="1">
            <a:spLocks noChangeArrowheads="1"/>
          </p:cNvSpPr>
          <p:nvPr/>
        </p:nvSpPr>
        <p:spPr bwMode="auto">
          <a:xfrm>
            <a:off x="369570" y="1260475"/>
            <a:ext cx="11475085" cy="4945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r>
              <a:rPr lang="zh-CN" altLang="en-US" sz="2800" b="1" dirty="0">
                <a:solidFill>
                  <a:srgbClr val="020001"/>
                </a:solidFill>
                <a:latin typeface="+mn-ea"/>
              </a:rPr>
              <a:t>对于文法</a:t>
            </a:r>
            <a:r>
              <a:rPr lang="en-US" altLang="zh-CN" sz="2800" b="1" dirty="0">
                <a:solidFill>
                  <a:srgbClr val="020001"/>
                </a:solidFill>
                <a:latin typeface="+mn-ea"/>
              </a:rPr>
              <a:t>G[S]</a:t>
            </a:r>
            <a:r>
              <a:rPr lang="zh-CN" altLang="en-US" sz="2800" b="1" dirty="0">
                <a:solidFill>
                  <a:srgbClr val="020001"/>
                </a:solidFill>
                <a:latin typeface="+mn-ea"/>
              </a:rPr>
              <a:t>的</a:t>
            </a:r>
            <a:r>
              <a:rPr lang="en-US" altLang="zh-CN" sz="2800" b="1" dirty="0">
                <a:solidFill>
                  <a:srgbClr val="020001"/>
                </a:solidFill>
                <a:latin typeface="+mn-ea"/>
              </a:rPr>
              <a:t>LR(1)</a:t>
            </a:r>
            <a:r>
              <a:rPr lang="zh-CN" altLang="en-US" sz="2800" b="1" dirty="0">
                <a:solidFill>
                  <a:srgbClr val="020001"/>
                </a:solidFill>
                <a:latin typeface="+mn-ea"/>
              </a:rPr>
              <a:t>分析表构造规则为：</a:t>
            </a:r>
            <a:endParaRPr lang="zh-CN" altLang="en-US" sz="2800" b="1" dirty="0">
              <a:solidFill>
                <a:srgbClr val="020001"/>
              </a:solidFill>
              <a:latin typeface="+mn-ea"/>
            </a:endParaRPr>
          </a:p>
          <a:p>
            <a:pPr>
              <a:lnSpc>
                <a:spcPct val="130000"/>
              </a:lnSpc>
              <a:spcBef>
                <a:spcPts val="0"/>
              </a:spcBef>
              <a:spcAft>
                <a:spcPts val="0"/>
              </a:spcAft>
            </a:pPr>
            <a:r>
              <a:rPr lang="zh-CN" altLang="en-US" sz="2800" b="1" dirty="0">
                <a:solidFill>
                  <a:srgbClr val="020001"/>
                </a:solidFill>
                <a:latin typeface="+mn-ea"/>
                <a:sym typeface="+mn-ea"/>
              </a:rPr>
              <a:t>1. </a:t>
            </a:r>
            <a:r>
              <a:rPr lang="zh-CN" altLang="en-US" sz="2800" b="1" dirty="0">
                <a:solidFill>
                  <a:srgbClr val="0070C0"/>
                </a:solidFill>
                <a:latin typeface="+mn-ea"/>
                <a:sym typeface="+mn-ea"/>
              </a:rPr>
              <a:t>对于[</a:t>
            </a:r>
            <a:r>
              <a:rPr lang="en-US" altLang="zh-CN" sz="2800" b="1" dirty="0">
                <a:solidFill>
                  <a:srgbClr val="0070C0"/>
                </a:solidFill>
                <a:latin typeface="+mn-ea"/>
                <a:sym typeface="+mn-ea"/>
              </a:rPr>
              <a:t>A</a:t>
            </a:r>
            <a:r>
              <a:rPr lang="en-US" altLang="zh-CN" sz="2800" b="1" dirty="0">
                <a:solidFill>
                  <a:srgbClr val="0070C0"/>
                </a:solidFill>
                <a:latin typeface="+mn-ea"/>
                <a:sym typeface="Symbol" panose="05050102010706020507" pitchFamily="18" charset="2"/>
              </a:rPr>
              <a:t></a:t>
            </a:r>
            <a:r>
              <a:rPr lang="en-US" altLang="zh-CN" sz="2800" b="1" dirty="0">
                <a:solidFill>
                  <a:srgbClr val="0070C0"/>
                </a:solidFill>
                <a:latin typeface="+mn-ea"/>
                <a:sym typeface="+mn-ea"/>
              </a:rPr>
              <a:t>α.x</a:t>
            </a:r>
            <a:r>
              <a:rPr lang="en-US" altLang="zh-CN" sz="2800" b="1" dirty="0">
                <a:solidFill>
                  <a:srgbClr val="0070C0"/>
                </a:solidFill>
                <a:latin typeface="+mn-ea"/>
                <a:sym typeface="Symbol" panose="05050102010706020507" pitchFamily="18" charset="2"/>
              </a:rPr>
              <a:t>,  a]</a:t>
            </a:r>
            <a:r>
              <a:rPr lang="zh-CN" altLang="en-US" sz="2800" b="1" dirty="0">
                <a:solidFill>
                  <a:srgbClr val="0070C0"/>
                </a:solidFill>
                <a:latin typeface="+mn-ea"/>
                <a:sym typeface="Symbol" panose="05050102010706020507" pitchFamily="18" charset="2"/>
              </a:rPr>
              <a:t>状态</a:t>
            </a:r>
            <a:r>
              <a:rPr lang="en-US" altLang="zh-CN" sz="2800" b="1" dirty="0" err="1">
                <a:solidFill>
                  <a:srgbClr val="0070C0"/>
                </a:solidFill>
                <a:latin typeface="+mn-ea"/>
                <a:sym typeface="Symbol" panose="05050102010706020507" pitchFamily="18" charset="2"/>
              </a:rPr>
              <a:t>i</a:t>
            </a:r>
            <a:r>
              <a:rPr lang="en-US" altLang="zh-CN" sz="2800" b="1" dirty="0">
                <a:solidFill>
                  <a:srgbClr val="0070C0"/>
                </a:solidFill>
                <a:latin typeface="+mn-ea"/>
                <a:sym typeface="Symbol" panose="05050102010706020507" pitchFamily="18" charset="2"/>
              </a:rPr>
              <a:t>,</a:t>
            </a:r>
            <a:r>
              <a:rPr lang="zh-CN" altLang="en-US" sz="2800" b="1" dirty="0">
                <a:solidFill>
                  <a:srgbClr val="0070C0"/>
                </a:solidFill>
                <a:latin typeface="+mn-ea"/>
                <a:sym typeface="Symbol" panose="05050102010706020507" pitchFamily="18" charset="2"/>
              </a:rPr>
              <a:t>且</a:t>
            </a:r>
            <a:r>
              <a:rPr lang="en-US" altLang="zh-CN" sz="2800" b="1" dirty="0">
                <a:solidFill>
                  <a:srgbClr val="0070C0"/>
                </a:solidFill>
                <a:latin typeface="+mn-ea"/>
                <a:sym typeface="Symbol" panose="05050102010706020507" pitchFamily="18" charset="2"/>
              </a:rPr>
              <a:t>GO(</a:t>
            </a:r>
            <a:r>
              <a:rPr lang="en-US" altLang="zh-CN" sz="2800" b="1" dirty="0" err="1">
                <a:solidFill>
                  <a:srgbClr val="0070C0"/>
                </a:solidFill>
                <a:latin typeface="+mn-ea"/>
                <a:sym typeface="Symbol" panose="05050102010706020507" pitchFamily="18" charset="2"/>
              </a:rPr>
              <a:t>i</a:t>
            </a:r>
            <a:r>
              <a:rPr lang="zh-CN" altLang="en-US" sz="2800" b="1" dirty="0">
                <a:solidFill>
                  <a:srgbClr val="0070C0"/>
                </a:solidFill>
                <a:latin typeface="+mn-ea"/>
                <a:sym typeface="Symbol" panose="05050102010706020507" pitchFamily="18" charset="2"/>
              </a:rPr>
              <a:t>，</a:t>
            </a:r>
            <a:r>
              <a:rPr lang="en-US" altLang="zh-CN" sz="2800" b="1" dirty="0">
                <a:solidFill>
                  <a:srgbClr val="0070C0"/>
                </a:solidFill>
                <a:latin typeface="+mn-ea"/>
                <a:sym typeface="Symbol" panose="05050102010706020507" pitchFamily="18" charset="2"/>
              </a:rPr>
              <a:t>x)=j.</a:t>
            </a:r>
            <a:endParaRPr lang="en-US" altLang="zh-CN" sz="2800" b="1" dirty="0">
              <a:solidFill>
                <a:srgbClr val="0070C0"/>
              </a:solidFill>
              <a:latin typeface="+mn-ea"/>
              <a:sym typeface="Symbol" panose="05050102010706020507" pitchFamily="18" charset="2"/>
            </a:endParaRPr>
          </a:p>
          <a:p>
            <a:pPr>
              <a:lnSpc>
                <a:spcPct val="130000"/>
              </a:lnSpc>
              <a:spcBef>
                <a:spcPts val="0"/>
              </a:spcBef>
              <a:spcAft>
                <a:spcPts val="0"/>
              </a:spcAft>
            </a:pPr>
            <a:r>
              <a:rPr lang="zh-CN" altLang="en-US" sz="2800" b="1" dirty="0">
                <a:solidFill>
                  <a:srgbClr val="020001"/>
                </a:solidFill>
                <a:latin typeface="+mn-ea"/>
                <a:sym typeface="Symbol" panose="05050102010706020507" pitchFamily="18" charset="2"/>
              </a:rPr>
              <a:t>	若</a:t>
            </a:r>
            <a:r>
              <a:rPr lang="en-US" altLang="zh-CN" sz="2800" b="1" dirty="0" err="1">
                <a:solidFill>
                  <a:srgbClr val="020001"/>
                </a:solidFill>
                <a:latin typeface="+mn-ea"/>
                <a:sym typeface="Symbol" panose="05050102010706020507" pitchFamily="18" charset="2"/>
              </a:rPr>
              <a:t>xV</a:t>
            </a:r>
            <a:r>
              <a:rPr lang="en-US" altLang="zh-CN" sz="2800" b="1" baseline="-25000" dirty="0" err="1">
                <a:solidFill>
                  <a:srgbClr val="020001"/>
                </a:solidFill>
                <a:latin typeface="+mn-ea"/>
                <a:sym typeface="Symbol" panose="05050102010706020507" pitchFamily="18" charset="2"/>
              </a:rPr>
              <a:t>T</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则置</a:t>
            </a:r>
            <a:r>
              <a:rPr lang="en-US" altLang="zh-CN" sz="2800" b="1" dirty="0">
                <a:solidFill>
                  <a:srgbClr val="020001"/>
                </a:solidFill>
                <a:latin typeface="+mn-ea"/>
                <a:sym typeface="Symbol" panose="05050102010706020507" pitchFamily="18" charset="2"/>
              </a:rPr>
              <a:t>Action[</a:t>
            </a:r>
            <a:r>
              <a:rPr lang="en-US" altLang="zh-CN" sz="2800" b="1" dirty="0" err="1">
                <a:solidFill>
                  <a:srgbClr val="020001"/>
                </a:solidFill>
                <a:latin typeface="+mn-ea"/>
                <a:sym typeface="Symbol" panose="05050102010706020507" pitchFamily="18" charset="2"/>
              </a:rPr>
              <a:t>i</a:t>
            </a:r>
            <a:r>
              <a:rPr lang="zh-CN" altLang="en-US"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x]=</a:t>
            </a:r>
            <a:r>
              <a:rPr lang="en-US" altLang="zh-CN" sz="2800" b="1" dirty="0" err="1">
                <a:solidFill>
                  <a:srgbClr val="020001"/>
                </a:solidFill>
                <a:latin typeface="+mn-ea"/>
                <a:sym typeface="Symbol" panose="05050102010706020507" pitchFamily="18" charset="2"/>
              </a:rPr>
              <a:t>S</a:t>
            </a:r>
            <a:r>
              <a:rPr lang="en-US" altLang="zh-CN" sz="2800" b="1" baseline="-25000" dirty="0" err="1">
                <a:solidFill>
                  <a:srgbClr val="020001"/>
                </a:solidFill>
                <a:latin typeface="+mn-ea"/>
                <a:sym typeface="Symbol" panose="05050102010706020507" pitchFamily="18" charset="2"/>
              </a:rPr>
              <a:t>j</a:t>
            </a:r>
            <a:r>
              <a:rPr lang="en-US" altLang="zh-CN" sz="2800" b="1" baseline="-25000" dirty="0">
                <a:solidFill>
                  <a:srgbClr val="020001"/>
                </a:solidFill>
                <a:latin typeface="+mn-ea"/>
                <a:sym typeface="Symbol" panose="05050102010706020507" pitchFamily="18" charset="2"/>
              </a:rPr>
              <a:t> </a:t>
            </a:r>
            <a:endParaRPr lang="en-US" altLang="zh-CN" sz="2800" b="1" baseline="-25000" dirty="0">
              <a:solidFill>
                <a:srgbClr val="020001"/>
              </a:solidFill>
              <a:latin typeface="+mn-ea"/>
              <a:sym typeface="Symbol" panose="05050102010706020507" pitchFamily="18" charset="2"/>
            </a:endParaRPr>
          </a:p>
          <a:p>
            <a:pPr>
              <a:lnSpc>
                <a:spcPct val="130000"/>
              </a:lnSpc>
              <a:spcBef>
                <a:spcPts val="0"/>
              </a:spcBef>
              <a:spcAft>
                <a:spcPts val="0"/>
              </a:spcAft>
            </a:pPr>
            <a:r>
              <a:rPr lang="zh-CN" altLang="en-US" sz="2800" b="1" dirty="0">
                <a:solidFill>
                  <a:srgbClr val="020001"/>
                </a:solidFill>
                <a:latin typeface="+mn-ea"/>
                <a:sym typeface="Symbol" panose="05050102010706020507" pitchFamily="18" charset="2"/>
              </a:rPr>
              <a:t>	若</a:t>
            </a:r>
            <a:r>
              <a:rPr lang="en-US" altLang="zh-CN" sz="2800" b="1" dirty="0" err="1">
                <a:solidFill>
                  <a:srgbClr val="020001"/>
                </a:solidFill>
                <a:latin typeface="+mn-ea"/>
                <a:sym typeface="Symbol" panose="05050102010706020507" pitchFamily="18" charset="2"/>
              </a:rPr>
              <a:t>xV</a:t>
            </a:r>
            <a:r>
              <a:rPr lang="en-US" altLang="zh-CN" sz="2800" b="1" baseline="-25000" dirty="0" err="1">
                <a:solidFill>
                  <a:srgbClr val="020001"/>
                </a:solidFill>
                <a:latin typeface="+mn-ea"/>
                <a:sym typeface="Symbol" panose="05050102010706020507" pitchFamily="18" charset="2"/>
              </a:rPr>
              <a:t>N</a:t>
            </a:r>
            <a:r>
              <a:rPr lang="en-US" altLang="zh-CN" sz="2800" b="1" baseline="-25000" dirty="0">
                <a:solidFill>
                  <a:srgbClr val="020001"/>
                </a:solidFill>
                <a:latin typeface="+mn-ea"/>
                <a:sym typeface="Symbol" panose="05050102010706020507" pitchFamily="18" charset="2"/>
              </a:rPr>
              <a:t> </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则置</a:t>
            </a:r>
            <a:r>
              <a:rPr lang="en-US" altLang="zh-CN" sz="2800" b="1" dirty="0" err="1">
                <a:solidFill>
                  <a:srgbClr val="020001"/>
                </a:solidFill>
                <a:latin typeface="+mn-ea"/>
                <a:sym typeface="Symbol" panose="05050102010706020507" pitchFamily="18" charset="2"/>
              </a:rPr>
              <a:t>Goto</a:t>
            </a:r>
            <a:r>
              <a:rPr lang="en-US" altLang="zh-CN" sz="2800" b="1" dirty="0">
                <a:solidFill>
                  <a:srgbClr val="020001"/>
                </a:solidFill>
                <a:latin typeface="+mn-ea"/>
                <a:sym typeface="Symbol" panose="05050102010706020507" pitchFamily="18" charset="2"/>
              </a:rPr>
              <a:t>[</a:t>
            </a:r>
            <a:r>
              <a:rPr lang="en-US" altLang="zh-CN" sz="2800" b="1" dirty="0" err="1">
                <a:solidFill>
                  <a:srgbClr val="020001"/>
                </a:solidFill>
                <a:latin typeface="+mn-ea"/>
                <a:sym typeface="Symbol" panose="05050102010706020507" pitchFamily="18" charset="2"/>
              </a:rPr>
              <a:t>i</a:t>
            </a:r>
            <a:r>
              <a:rPr lang="zh-CN" altLang="en-US"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Symbol" panose="05050102010706020507" pitchFamily="18" charset="2"/>
              </a:rPr>
              <a:t>x]=j</a:t>
            </a:r>
            <a:endParaRPr lang="en-US" altLang="zh-CN" sz="2800" b="1" dirty="0">
              <a:solidFill>
                <a:srgbClr val="020001"/>
              </a:solidFill>
              <a:latin typeface="+mn-ea"/>
              <a:sym typeface="Symbol" panose="05050102010706020507" pitchFamily="18" charset="2"/>
            </a:endParaRPr>
          </a:p>
          <a:p>
            <a:pPr>
              <a:lnSpc>
                <a:spcPct val="130000"/>
              </a:lnSpc>
              <a:spcBef>
                <a:spcPts val="0"/>
              </a:spcBef>
              <a:spcAft>
                <a:spcPts val="0"/>
              </a:spcAft>
            </a:pPr>
            <a:r>
              <a:rPr lang="zh-CN" altLang="en-US" sz="2800" b="1" dirty="0">
                <a:solidFill>
                  <a:srgbClr val="020001"/>
                </a:solidFill>
                <a:latin typeface="+mn-ea"/>
                <a:sym typeface="+mn-ea"/>
              </a:rPr>
              <a:t>2. </a:t>
            </a:r>
            <a:r>
              <a:rPr lang="zh-CN" altLang="en-US" sz="2800" b="1" dirty="0">
                <a:solidFill>
                  <a:srgbClr val="C00000"/>
                </a:solidFill>
                <a:latin typeface="+mn-ea"/>
                <a:sym typeface="+mn-ea"/>
              </a:rPr>
              <a:t>对于[</a:t>
            </a:r>
            <a:r>
              <a:rPr lang="en-US" altLang="zh-CN" sz="2800" b="1" dirty="0">
                <a:solidFill>
                  <a:srgbClr val="C00000"/>
                </a:solidFill>
                <a:latin typeface="+mn-ea"/>
                <a:sym typeface="+mn-ea"/>
              </a:rPr>
              <a:t>A</a:t>
            </a:r>
            <a:r>
              <a:rPr lang="en-US" altLang="zh-CN" sz="2800" b="1" dirty="0">
                <a:solidFill>
                  <a:srgbClr val="C00000"/>
                </a:solidFill>
                <a:latin typeface="+mn-ea"/>
                <a:sym typeface="Symbol" panose="05050102010706020507" pitchFamily="18" charset="2"/>
              </a:rPr>
              <a:t></a:t>
            </a:r>
            <a:r>
              <a:rPr lang="en-US" altLang="zh-CN" sz="2800" b="1" dirty="0">
                <a:solidFill>
                  <a:srgbClr val="C00000"/>
                </a:solidFill>
                <a:latin typeface="+mn-ea"/>
                <a:sym typeface="+mn-ea"/>
              </a:rPr>
              <a:t>α. , a]</a:t>
            </a:r>
            <a:r>
              <a:rPr lang="en-US" altLang="zh-CN" sz="2800" b="1" dirty="0">
                <a:solidFill>
                  <a:srgbClr val="C00000"/>
                </a:solidFill>
                <a:latin typeface="+mn-ea"/>
                <a:sym typeface="Symbol" panose="05050102010706020507" pitchFamily="18" charset="2"/>
              </a:rPr>
              <a:t></a:t>
            </a:r>
            <a:r>
              <a:rPr lang="zh-CN" altLang="en-US" sz="2800" b="1" dirty="0">
                <a:solidFill>
                  <a:srgbClr val="C00000"/>
                </a:solidFill>
                <a:latin typeface="+mn-ea"/>
                <a:sym typeface="Symbol" panose="05050102010706020507" pitchFamily="18" charset="2"/>
              </a:rPr>
              <a:t>状态</a:t>
            </a:r>
            <a:r>
              <a:rPr lang="en-US" altLang="zh-CN" sz="2800" b="1" dirty="0" err="1">
                <a:solidFill>
                  <a:srgbClr val="C00000"/>
                </a:solidFill>
                <a:latin typeface="+mn-ea"/>
                <a:sym typeface="Symbol" panose="05050102010706020507" pitchFamily="18" charset="2"/>
              </a:rPr>
              <a:t>i</a:t>
            </a:r>
            <a:r>
              <a:rPr lang="zh-CN" altLang="en-US" sz="2800" b="1" dirty="0">
                <a:solidFill>
                  <a:srgbClr val="C00000"/>
                </a:solidFill>
                <a:latin typeface="+mn-ea"/>
                <a:sym typeface="Symbol" panose="05050102010706020507" pitchFamily="18" charset="2"/>
              </a:rPr>
              <a:t>，若</a:t>
            </a:r>
            <a:r>
              <a:rPr lang="en-US" altLang="zh-CN" sz="2800" b="1" dirty="0">
                <a:solidFill>
                  <a:srgbClr val="C00000"/>
                </a:solidFill>
                <a:latin typeface="+mn-ea"/>
                <a:sym typeface="Symbol" panose="05050102010706020507" pitchFamily="18" charset="2"/>
              </a:rPr>
              <a:t>A</a:t>
            </a:r>
            <a:r>
              <a:rPr lang="en-US" altLang="zh-CN" sz="2800" b="1" dirty="0">
                <a:solidFill>
                  <a:srgbClr val="C00000"/>
                </a:solidFill>
                <a:latin typeface="+mn-ea"/>
                <a:sym typeface="+mn-ea"/>
              </a:rPr>
              <a:t>α</a:t>
            </a:r>
            <a:r>
              <a:rPr lang="zh-CN" altLang="en-US" sz="2800" b="1" dirty="0">
                <a:solidFill>
                  <a:srgbClr val="C00000"/>
                </a:solidFill>
                <a:latin typeface="+mn-ea"/>
                <a:sym typeface="+mn-ea"/>
              </a:rPr>
              <a:t>是第</a:t>
            </a:r>
            <a:r>
              <a:rPr lang="en-US" altLang="zh-CN" sz="2800" b="1" dirty="0">
                <a:solidFill>
                  <a:srgbClr val="C00000"/>
                </a:solidFill>
                <a:latin typeface="+mn-ea"/>
                <a:sym typeface="+mn-ea"/>
              </a:rPr>
              <a:t>j</a:t>
            </a:r>
            <a:r>
              <a:rPr lang="zh-CN" altLang="en-US" sz="2800" b="1" dirty="0">
                <a:solidFill>
                  <a:srgbClr val="C00000"/>
                </a:solidFill>
                <a:latin typeface="+mn-ea"/>
                <a:sym typeface="+mn-ea"/>
              </a:rPr>
              <a:t>个产生式，则置</a:t>
            </a:r>
            <a:r>
              <a:rPr lang="en-US" altLang="zh-CN" sz="2800" b="1" dirty="0">
                <a:solidFill>
                  <a:srgbClr val="C00000"/>
                </a:solidFill>
                <a:latin typeface="+mn-ea"/>
                <a:sym typeface="+mn-ea"/>
              </a:rPr>
              <a:t> Action[</a:t>
            </a:r>
            <a:r>
              <a:rPr lang="en-US" altLang="zh-CN" sz="2800" b="1" dirty="0" err="1">
                <a:solidFill>
                  <a:srgbClr val="C00000"/>
                </a:solidFill>
                <a:latin typeface="+mn-ea"/>
                <a:sym typeface="+mn-ea"/>
              </a:rPr>
              <a:t>i</a:t>
            </a:r>
            <a:r>
              <a:rPr lang="zh-CN" altLang="en-US" sz="2800" b="1" dirty="0">
                <a:solidFill>
                  <a:srgbClr val="C00000"/>
                </a:solidFill>
                <a:latin typeface="+mn-ea"/>
                <a:sym typeface="+mn-ea"/>
              </a:rPr>
              <a:t>，</a:t>
            </a:r>
            <a:r>
              <a:rPr lang="en-US" altLang="zh-CN" sz="2800" b="1" dirty="0">
                <a:solidFill>
                  <a:srgbClr val="C00000"/>
                </a:solidFill>
                <a:latin typeface="+mn-ea"/>
                <a:sym typeface="+mn-ea"/>
              </a:rPr>
              <a:t>a]=</a:t>
            </a:r>
            <a:r>
              <a:rPr lang="en-US" altLang="zh-CN" sz="2800" b="1" dirty="0" err="1">
                <a:solidFill>
                  <a:srgbClr val="C00000"/>
                </a:solidFill>
                <a:latin typeface="+mn-ea"/>
                <a:sym typeface="+mn-ea"/>
              </a:rPr>
              <a:t>r</a:t>
            </a:r>
            <a:r>
              <a:rPr lang="en-US" altLang="zh-CN" sz="2800" b="1" baseline="-25000" dirty="0" err="1">
                <a:solidFill>
                  <a:srgbClr val="C00000"/>
                </a:solidFill>
                <a:latin typeface="+mn-ea"/>
                <a:sym typeface="+mn-ea"/>
              </a:rPr>
              <a:t>j</a:t>
            </a:r>
            <a:endParaRPr lang="en-US" altLang="zh-CN" sz="2800" b="1" baseline="-25000" dirty="0" err="1">
              <a:solidFill>
                <a:srgbClr val="C00000"/>
              </a:solidFill>
              <a:latin typeface="+mn-ea"/>
              <a:sym typeface="+mn-ea"/>
            </a:endParaRPr>
          </a:p>
          <a:p>
            <a:pPr>
              <a:lnSpc>
                <a:spcPct val="130000"/>
              </a:lnSpc>
              <a:spcBef>
                <a:spcPts val="0"/>
              </a:spcBef>
              <a:spcAft>
                <a:spcPts val="0"/>
              </a:spcAft>
            </a:pPr>
            <a:r>
              <a:rPr lang="zh-CN" altLang="en-US" sz="2800" b="1" dirty="0">
                <a:solidFill>
                  <a:srgbClr val="020001"/>
                </a:solidFill>
                <a:latin typeface="+mn-ea"/>
                <a:sym typeface="+mn-ea"/>
              </a:rPr>
              <a:t>3.对于[</a:t>
            </a:r>
            <a:r>
              <a:rPr lang="en-US" altLang="zh-CN" sz="2800" b="1" dirty="0">
                <a:solidFill>
                  <a:srgbClr val="020001"/>
                </a:solidFill>
                <a:latin typeface="+mn-ea"/>
                <a:sym typeface="+mn-ea"/>
              </a:rPr>
              <a:t>S</a:t>
            </a:r>
            <a:r>
              <a:rPr lang="en-US" altLang="zh-CN" sz="2800" b="1" dirty="0">
                <a:solidFill>
                  <a:srgbClr val="020001"/>
                </a:solidFill>
                <a:latin typeface="+mn-ea"/>
                <a:sym typeface="Symbol" panose="05050102010706020507" pitchFamily="18" charset="2"/>
              </a:rPr>
              <a:t></a:t>
            </a:r>
            <a:r>
              <a:rPr lang="en-US" altLang="zh-CN" sz="2800" b="1" dirty="0">
                <a:solidFill>
                  <a:srgbClr val="020001"/>
                </a:solidFill>
                <a:latin typeface="+mn-ea"/>
                <a:sym typeface="+mn-ea"/>
              </a:rPr>
              <a:t>α.</a:t>
            </a:r>
            <a:r>
              <a:rPr lang="zh-CN" altLang="en-US" sz="2800" b="1" dirty="0">
                <a:solidFill>
                  <a:srgbClr val="020001"/>
                </a:solidFill>
                <a:latin typeface="+mn-ea"/>
                <a:sym typeface="+mn-ea"/>
              </a:rPr>
              <a:t>，</a:t>
            </a:r>
            <a:r>
              <a:rPr lang="en-US" altLang="zh-CN" sz="2800" b="1" dirty="0">
                <a:solidFill>
                  <a:srgbClr val="020001"/>
                </a:solidFill>
                <a:latin typeface="+mn-ea"/>
                <a:sym typeface="+mn-ea"/>
              </a:rPr>
              <a:t>$]</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状态</a:t>
            </a:r>
            <a:r>
              <a:rPr lang="en-US" altLang="zh-CN" sz="2800" b="1" dirty="0" err="1">
                <a:solidFill>
                  <a:srgbClr val="020001"/>
                </a:solidFill>
                <a:latin typeface="+mn-ea"/>
                <a:sym typeface="Symbol" panose="05050102010706020507" pitchFamily="18" charset="2"/>
              </a:rPr>
              <a:t>i</a:t>
            </a:r>
            <a:r>
              <a:rPr lang="en-US" altLang="zh-CN" sz="2800" b="1" dirty="0">
                <a:solidFill>
                  <a:srgbClr val="020001"/>
                </a:solidFill>
                <a:latin typeface="+mn-ea"/>
                <a:sym typeface="Symbol" panose="05050102010706020507" pitchFamily="18" charset="2"/>
              </a:rPr>
              <a:t>，</a:t>
            </a:r>
            <a:r>
              <a:rPr lang="zh-CN" altLang="en-US" sz="2800" b="1" dirty="0">
                <a:solidFill>
                  <a:srgbClr val="020001"/>
                </a:solidFill>
                <a:latin typeface="+mn-ea"/>
                <a:sym typeface="Symbol" panose="05050102010706020507" pitchFamily="18" charset="2"/>
              </a:rPr>
              <a:t>则</a:t>
            </a:r>
            <a:r>
              <a:rPr lang="en-US" altLang="zh-CN" sz="2800" b="1" dirty="0">
                <a:solidFill>
                  <a:srgbClr val="0070C0"/>
                </a:solidFill>
                <a:latin typeface="+mn-ea"/>
                <a:sym typeface="Symbol" panose="05050102010706020507" pitchFamily="18" charset="2"/>
              </a:rPr>
              <a:t>action[</a:t>
            </a:r>
            <a:r>
              <a:rPr lang="en-US" altLang="zh-CN" sz="2800" b="1" dirty="0" err="1">
                <a:solidFill>
                  <a:srgbClr val="0070C0"/>
                </a:solidFill>
                <a:latin typeface="+mn-ea"/>
                <a:sym typeface="Symbol" panose="05050102010706020507" pitchFamily="18" charset="2"/>
              </a:rPr>
              <a:t>i</a:t>
            </a:r>
            <a:r>
              <a:rPr lang="zh-CN" altLang="en-US" sz="2800" b="1" dirty="0">
                <a:solidFill>
                  <a:srgbClr val="0070C0"/>
                </a:solidFill>
                <a:latin typeface="+mn-ea"/>
                <a:sym typeface="Symbol" panose="05050102010706020507" pitchFamily="18" charset="2"/>
              </a:rPr>
              <a:t>，</a:t>
            </a:r>
            <a:r>
              <a:rPr lang="en-US" altLang="zh-CN" sz="2800" b="1" dirty="0">
                <a:solidFill>
                  <a:srgbClr val="0070C0"/>
                </a:solidFill>
                <a:latin typeface="+mn-ea"/>
                <a:sym typeface="Symbol" panose="05050102010706020507" pitchFamily="18" charset="2"/>
              </a:rPr>
              <a:t>$]=acc</a:t>
            </a:r>
            <a:endParaRPr lang="en-US" altLang="zh-CN" sz="2800" b="1" dirty="0">
              <a:solidFill>
                <a:srgbClr val="0070C0"/>
              </a:solidFill>
              <a:latin typeface="+mn-ea"/>
              <a:sym typeface="Symbol" panose="05050102010706020507" pitchFamily="18" charset="2"/>
            </a:endParaRPr>
          </a:p>
          <a:p>
            <a:pPr>
              <a:lnSpc>
                <a:spcPct val="130000"/>
              </a:lnSpc>
              <a:spcBef>
                <a:spcPts val="0"/>
              </a:spcBef>
              <a:spcAft>
                <a:spcPts val="0"/>
              </a:spcAft>
            </a:pPr>
            <a:r>
              <a:rPr lang="zh-CN" altLang="en-US" sz="2800" b="1">
                <a:solidFill>
                  <a:srgbClr val="020001"/>
                </a:solidFill>
                <a:latin typeface="+mn-ea"/>
                <a:sym typeface="+mn-ea"/>
              </a:rPr>
              <a:t>4.其它情况置错。</a:t>
            </a:r>
            <a:endParaRPr lang="zh-CN" altLang="en-US" sz="2800" b="1">
              <a:solidFill>
                <a:srgbClr val="020001"/>
              </a:solidFill>
              <a:latin typeface="+mn-ea"/>
            </a:endParaRPr>
          </a:p>
          <a:p>
            <a:pPr>
              <a:lnSpc>
                <a:spcPct val="130000"/>
              </a:lnSpc>
              <a:spcBef>
                <a:spcPts val="0"/>
              </a:spcBef>
              <a:spcAft>
                <a:spcPts val="0"/>
              </a:spcAft>
            </a:pPr>
            <a:endParaRPr lang="en-US" altLang="zh-CN" sz="2800" b="1" baseline="-25000" dirty="0">
              <a:solidFill>
                <a:srgbClr val="020001"/>
              </a:solidFill>
              <a:latin typeface="+mn-ea"/>
            </a:endParaRPr>
          </a:p>
          <a:p>
            <a:pPr>
              <a:lnSpc>
                <a:spcPct val="130000"/>
              </a:lnSpc>
              <a:spcBef>
                <a:spcPts val="0"/>
              </a:spcBef>
              <a:spcAft>
                <a:spcPts val="0"/>
              </a:spcAft>
            </a:pPr>
            <a:endParaRPr lang="en-US" altLang="zh-CN" sz="2800" b="1" dirty="0">
              <a:solidFill>
                <a:srgbClr val="020001"/>
              </a:solidFill>
              <a:latin typeface="+mn-ea"/>
              <a:sym typeface="Symbol" panose="05050102010706020507" pitchFamily="18" charset="2"/>
            </a:endParaRPr>
          </a:p>
          <a:p>
            <a:endParaRPr lang="zh-CN" altLang="en-US" sz="28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8" name="文本占位符 7"/>
          <p:cNvSpPr>
            <a:spLocks noGrp="1"/>
          </p:cNvSpPr>
          <p:nvPr>
            <p:ph type="body" sz="quarter" idx="14"/>
            <p:custDataLst>
              <p:tags r:id="rId1"/>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p:nvPr/>
        </p:nvGrpSpPr>
        <p:grpSpPr bwMode="auto">
          <a:xfrm>
            <a:off x="449239" y="1969135"/>
            <a:ext cx="2444463" cy="1524000"/>
            <a:chOff x="78" y="456"/>
            <a:chExt cx="1824" cy="960"/>
          </a:xfrm>
        </p:grpSpPr>
        <p:sp useBgFill="1">
          <p:nvSpPr>
            <p:cNvPr id="6" name="AutoShape 3"/>
            <p:cNvSpPr>
              <a:spLocks noChangeArrowheads="1"/>
            </p:cNvSpPr>
            <p:nvPr/>
          </p:nvSpPr>
          <p:spPr bwMode="auto">
            <a:xfrm>
              <a:off x="78" y="456"/>
              <a:ext cx="1776" cy="743"/>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t>
              </a:r>
              <a:r>
                <a:rPr lang="en-US" altLang="zh-CN" sz="2400" b="1">
                  <a:solidFill>
                    <a:srgbClr val="010000"/>
                  </a:solidFill>
                  <a:latin typeface="+mn-ea"/>
                </a:rPr>
                <a:t>A ,  $]</a:t>
              </a:r>
              <a:endParaRPr lang="en-US" altLang="zh-CN" sz="2400" b="1">
                <a:solidFill>
                  <a:srgbClr val="010000"/>
                </a:solidFill>
                <a:latin typeface="+mn-ea"/>
              </a:endParaRPr>
            </a:p>
            <a:p>
              <a:r>
                <a:rPr lang="zh-CN" altLang="en-US" sz="2400" b="1">
                  <a:solidFill>
                    <a:srgbClr val="010000"/>
                  </a:solidFill>
                  <a:latin typeface="+mn-ea"/>
                </a:rPr>
                <a:t>[</a:t>
              </a:r>
              <a:r>
                <a:rPr lang="en-US" altLang="zh-CN" sz="2400" b="1">
                  <a:solidFill>
                    <a:srgbClr val="020001"/>
                  </a:solidFill>
                  <a:latin typeface="+mn-ea"/>
                </a:rPr>
                <a:t>A→.(A),  $</a:t>
              </a:r>
              <a:r>
                <a:rPr lang="zh-CN" altLang="en-US" sz="2400" b="1">
                  <a:solidFill>
                    <a:srgbClr val="010000"/>
                  </a:solidFill>
                  <a:latin typeface="+mn-ea"/>
                </a:rPr>
                <a:t>]</a:t>
              </a:r>
              <a:endParaRPr lang="zh-CN" altLang="en-US" sz="2400" b="1">
                <a:solidFill>
                  <a:srgbClr val="010000"/>
                </a:solidFill>
                <a:latin typeface="+mn-ea"/>
              </a:endParaRPr>
            </a:p>
            <a:p>
              <a:r>
                <a:rPr lang="zh-CN" altLang="en-US" sz="2400" b="1">
                  <a:solidFill>
                    <a:srgbClr val="010000"/>
                  </a:solidFill>
                  <a:latin typeface="+mn-ea"/>
                </a:rPr>
                <a:t>[</a:t>
              </a:r>
              <a:r>
                <a:rPr lang="en-US" altLang="zh-CN" sz="2400" b="1">
                  <a:solidFill>
                    <a:srgbClr val="020001"/>
                  </a:solidFill>
                  <a:latin typeface="+mn-ea"/>
                </a:rPr>
                <a:t>A→.a,  $</a:t>
              </a:r>
              <a:r>
                <a:rPr lang="zh-CN" altLang="en-US" sz="2400" b="1">
                  <a:solidFill>
                    <a:srgbClr val="010000"/>
                  </a:solidFill>
                  <a:latin typeface="+mn-ea"/>
                </a:rPr>
                <a:t>]</a:t>
              </a:r>
              <a:endParaRPr lang="zh-CN" altLang="en-US" sz="2400" b="1">
                <a:solidFill>
                  <a:srgbClr val="010000"/>
                </a:solidFill>
                <a:latin typeface="+mn-ea"/>
              </a:endParaRPr>
            </a:p>
          </p:txBody>
        </p:sp>
        <p:sp useBgFill="1">
          <p:nvSpPr>
            <p:cNvPr id="7" name="Oval 4"/>
            <p:cNvSpPr>
              <a:spLocks noChangeArrowheads="1"/>
            </p:cNvSpPr>
            <p:nvPr/>
          </p:nvSpPr>
          <p:spPr bwMode="auto">
            <a:xfrm>
              <a:off x="1557" y="1128"/>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0</a:t>
              </a:r>
              <a:endParaRPr lang="zh-CN" altLang="en-US" sz="2400" b="1" dirty="0">
                <a:solidFill>
                  <a:srgbClr val="010000"/>
                </a:solidFill>
                <a:latin typeface="+mn-ea"/>
              </a:endParaRPr>
            </a:p>
          </p:txBody>
        </p:sp>
      </p:grpSp>
      <p:grpSp>
        <p:nvGrpSpPr>
          <p:cNvPr id="10" name="Group 5"/>
          <p:cNvGrpSpPr/>
          <p:nvPr/>
        </p:nvGrpSpPr>
        <p:grpSpPr bwMode="auto">
          <a:xfrm>
            <a:off x="2929311" y="2075441"/>
            <a:ext cx="2800947" cy="612775"/>
            <a:chOff x="1854" y="404"/>
            <a:chExt cx="2090" cy="386"/>
          </a:xfrm>
        </p:grpSpPr>
        <p:sp>
          <p:nvSpPr>
            <p:cNvPr id="11" name="Line 6"/>
            <p:cNvSpPr>
              <a:spLocks noChangeShapeType="1"/>
            </p:cNvSpPr>
            <p:nvPr/>
          </p:nvSpPr>
          <p:spPr bwMode="auto">
            <a:xfrm>
              <a:off x="1854" y="5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3" name="AutoShape 7"/>
            <p:cNvSpPr>
              <a:spLocks noChangeArrowheads="1"/>
            </p:cNvSpPr>
            <p:nvPr/>
          </p:nvSpPr>
          <p:spPr bwMode="auto">
            <a:xfrm>
              <a:off x="2238" y="404"/>
              <a:ext cx="1680" cy="320"/>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t>
              </a:r>
              <a:r>
                <a:rPr lang="en-US" altLang="zh-CN" sz="2400" b="1">
                  <a:solidFill>
                    <a:srgbClr val="010000"/>
                  </a:solidFill>
                  <a:latin typeface="+mn-ea"/>
                </a:rPr>
                <a:t>A. ,  $]</a:t>
              </a:r>
              <a:endParaRPr lang="en-US" altLang="zh-CN" sz="2400" b="1">
                <a:solidFill>
                  <a:srgbClr val="010000"/>
                </a:solidFill>
                <a:latin typeface="+mn-ea"/>
              </a:endParaRPr>
            </a:p>
          </p:txBody>
        </p:sp>
        <p:sp useBgFill="1">
          <p:nvSpPr>
            <p:cNvPr id="14" name="Oval 8"/>
            <p:cNvSpPr>
              <a:spLocks noChangeArrowheads="1"/>
            </p:cNvSpPr>
            <p:nvPr/>
          </p:nvSpPr>
          <p:spPr bwMode="auto">
            <a:xfrm>
              <a:off x="3687" y="500"/>
              <a:ext cx="257" cy="224"/>
            </a:xfrm>
            <a:prstGeom prst="ellipse">
              <a:avLst/>
            </a:prstGeom>
            <a:ln w="9525">
              <a:solidFill>
                <a:schemeClr val="tx1"/>
              </a:solidFill>
              <a:round/>
            </a:ln>
          </p:spPr>
          <p:txBody>
            <a:bodyPr wrap="none" anchor="ctr"/>
            <a:lstStyle/>
            <a:p>
              <a:pPr algn="ctr"/>
              <a:r>
                <a:rPr lang="zh-CN" altLang="en-US" sz="2400" b="1">
                  <a:solidFill>
                    <a:srgbClr val="010000"/>
                  </a:solidFill>
                  <a:latin typeface="+mn-ea"/>
                </a:rPr>
                <a:t>1</a:t>
              </a:r>
              <a:endParaRPr lang="zh-CN" altLang="en-US" sz="2400" b="1">
                <a:solidFill>
                  <a:srgbClr val="010000"/>
                </a:solidFill>
                <a:latin typeface="+mn-ea"/>
              </a:endParaRPr>
            </a:p>
          </p:txBody>
        </p:sp>
        <p:sp>
          <p:nvSpPr>
            <p:cNvPr id="15" name="Rectangle 9"/>
            <p:cNvSpPr>
              <a:spLocks noChangeArrowheads="1"/>
            </p:cNvSpPr>
            <p:nvPr/>
          </p:nvSpPr>
          <p:spPr bwMode="auto">
            <a:xfrm>
              <a:off x="1860" y="500"/>
              <a:ext cx="28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16" name="Group 10"/>
          <p:cNvGrpSpPr/>
          <p:nvPr/>
        </p:nvGrpSpPr>
        <p:grpSpPr bwMode="auto">
          <a:xfrm>
            <a:off x="2929311" y="2729491"/>
            <a:ext cx="2843833" cy="649288"/>
            <a:chOff x="1854" y="816"/>
            <a:chExt cx="2122" cy="409"/>
          </a:xfrm>
        </p:grpSpPr>
        <p:sp>
          <p:nvSpPr>
            <p:cNvPr id="17" name="Line 11"/>
            <p:cNvSpPr>
              <a:spLocks noChangeShapeType="1"/>
            </p:cNvSpPr>
            <p:nvPr/>
          </p:nvSpPr>
          <p:spPr bwMode="auto">
            <a:xfrm>
              <a:off x="1854" y="960"/>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8" name="AutoShape 12"/>
            <p:cNvSpPr>
              <a:spLocks noChangeArrowheads="1"/>
            </p:cNvSpPr>
            <p:nvPr/>
          </p:nvSpPr>
          <p:spPr bwMode="auto">
            <a:xfrm>
              <a:off x="2238" y="816"/>
              <a:ext cx="1680" cy="296"/>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en-US" altLang="zh-CN" sz="2400" b="1">
                <a:solidFill>
                  <a:srgbClr val="010000"/>
                </a:solidFill>
                <a:latin typeface="+mn-ea"/>
              </a:endParaRPr>
            </a:p>
          </p:txBody>
        </p:sp>
        <p:sp useBgFill="1">
          <p:nvSpPr>
            <p:cNvPr id="19" name="Oval 13"/>
            <p:cNvSpPr>
              <a:spLocks noChangeArrowheads="1"/>
            </p:cNvSpPr>
            <p:nvPr/>
          </p:nvSpPr>
          <p:spPr bwMode="auto">
            <a:xfrm>
              <a:off x="3669" y="1008"/>
              <a:ext cx="307" cy="217"/>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3</a:t>
              </a:r>
              <a:endParaRPr lang="zh-CN" altLang="en-US" sz="2400" b="1" dirty="0">
                <a:solidFill>
                  <a:srgbClr val="010000"/>
                </a:solidFill>
                <a:latin typeface="+mn-ea"/>
              </a:endParaRPr>
            </a:p>
          </p:txBody>
        </p:sp>
        <p:sp>
          <p:nvSpPr>
            <p:cNvPr id="20" name="Rectangle 14"/>
            <p:cNvSpPr>
              <a:spLocks noChangeArrowheads="1"/>
            </p:cNvSpPr>
            <p:nvPr/>
          </p:nvSpPr>
          <p:spPr bwMode="auto">
            <a:xfrm>
              <a:off x="1896" y="864"/>
              <a:ext cx="25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21" name="Group 15"/>
          <p:cNvGrpSpPr/>
          <p:nvPr/>
        </p:nvGrpSpPr>
        <p:grpSpPr bwMode="auto">
          <a:xfrm>
            <a:off x="449239" y="3134360"/>
            <a:ext cx="2380135" cy="1747838"/>
            <a:chOff x="78" y="1346"/>
            <a:chExt cx="1776" cy="1101"/>
          </a:xfrm>
        </p:grpSpPr>
        <p:sp useBgFill="1">
          <p:nvSpPr>
            <p:cNvPr id="22" name="AutoShape 16"/>
            <p:cNvSpPr>
              <a:spLocks noChangeArrowheads="1"/>
            </p:cNvSpPr>
            <p:nvPr/>
          </p:nvSpPr>
          <p:spPr bwMode="auto">
            <a:xfrm>
              <a:off x="78" y="1612"/>
              <a:ext cx="1776" cy="742"/>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zh-CN" altLang="en-US" sz="2400" b="1">
                <a:solidFill>
                  <a:srgbClr val="010000"/>
                </a:solidFill>
                <a:latin typeface="+mn-ea"/>
              </a:endParaRPr>
            </a:p>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zh-CN" altLang="en-US" sz="2400" b="1">
                <a:solidFill>
                  <a:srgbClr val="010000"/>
                </a:solidFill>
                <a:latin typeface="+mn-ea"/>
              </a:endParaRPr>
            </a:p>
          </p:txBody>
        </p:sp>
        <p:sp>
          <p:nvSpPr>
            <p:cNvPr id="23" name="Line 17"/>
            <p:cNvSpPr>
              <a:spLocks noChangeShapeType="1"/>
            </p:cNvSpPr>
            <p:nvPr/>
          </p:nvSpPr>
          <p:spPr bwMode="auto">
            <a:xfrm>
              <a:off x="894" y="1348"/>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24" name="Oval 18"/>
            <p:cNvSpPr>
              <a:spLocks noChangeArrowheads="1"/>
            </p:cNvSpPr>
            <p:nvPr/>
          </p:nvSpPr>
          <p:spPr bwMode="auto">
            <a:xfrm>
              <a:off x="1509" y="2159"/>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2</a:t>
              </a:r>
              <a:endParaRPr lang="zh-CN" altLang="en-US" sz="2400" b="1" dirty="0">
                <a:solidFill>
                  <a:srgbClr val="010000"/>
                </a:solidFill>
                <a:latin typeface="+mn-ea"/>
              </a:endParaRPr>
            </a:p>
          </p:txBody>
        </p:sp>
        <p:sp>
          <p:nvSpPr>
            <p:cNvPr id="25" name="Rectangle 19"/>
            <p:cNvSpPr>
              <a:spLocks noChangeArrowheads="1"/>
            </p:cNvSpPr>
            <p:nvPr/>
          </p:nvSpPr>
          <p:spPr bwMode="auto">
            <a:xfrm>
              <a:off x="910" y="1346"/>
              <a:ext cx="2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t>
              </a:r>
              <a:endParaRPr lang="zh-CN" altLang="en-US" sz="2400" b="1">
                <a:solidFill>
                  <a:srgbClr val="010000"/>
                </a:solidFill>
                <a:latin typeface="+mn-ea"/>
              </a:endParaRPr>
            </a:p>
          </p:txBody>
        </p:sp>
      </p:grpSp>
      <p:grpSp>
        <p:nvGrpSpPr>
          <p:cNvPr id="26" name="Group 20"/>
          <p:cNvGrpSpPr/>
          <p:nvPr/>
        </p:nvGrpSpPr>
        <p:grpSpPr bwMode="auto">
          <a:xfrm>
            <a:off x="3005512" y="3262891"/>
            <a:ext cx="2725898" cy="914400"/>
            <a:chOff x="1902" y="1308"/>
            <a:chExt cx="2034" cy="576"/>
          </a:xfrm>
        </p:grpSpPr>
        <p:sp>
          <p:nvSpPr>
            <p:cNvPr id="27" name="Line 21"/>
            <p:cNvSpPr>
              <a:spLocks noChangeShapeType="1"/>
            </p:cNvSpPr>
            <p:nvPr/>
          </p:nvSpPr>
          <p:spPr bwMode="auto">
            <a:xfrm>
              <a:off x="1902" y="1596"/>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28" name="AutoShape 22"/>
            <p:cNvSpPr>
              <a:spLocks noChangeArrowheads="1"/>
            </p:cNvSpPr>
            <p:nvPr/>
          </p:nvSpPr>
          <p:spPr bwMode="auto">
            <a:xfrm>
              <a:off x="2286" y="1356"/>
              <a:ext cx="1506" cy="384"/>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29" name="Oval 23"/>
            <p:cNvSpPr>
              <a:spLocks noChangeArrowheads="1"/>
            </p:cNvSpPr>
            <p:nvPr/>
          </p:nvSpPr>
          <p:spPr bwMode="auto">
            <a:xfrm>
              <a:off x="3591" y="1596"/>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4</a:t>
              </a:r>
              <a:endParaRPr lang="zh-CN" altLang="en-US" sz="2400" b="1" dirty="0">
                <a:solidFill>
                  <a:srgbClr val="010000"/>
                </a:solidFill>
                <a:latin typeface="+mn-ea"/>
              </a:endParaRPr>
            </a:p>
          </p:txBody>
        </p:sp>
        <p:sp>
          <p:nvSpPr>
            <p:cNvPr id="30" name="Rectangle 24"/>
            <p:cNvSpPr>
              <a:spLocks noChangeArrowheads="1"/>
            </p:cNvSpPr>
            <p:nvPr/>
          </p:nvSpPr>
          <p:spPr bwMode="auto">
            <a:xfrm>
              <a:off x="1908" y="1308"/>
              <a:ext cx="28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31" name="Group 25"/>
          <p:cNvGrpSpPr/>
          <p:nvPr/>
        </p:nvGrpSpPr>
        <p:grpSpPr bwMode="auto">
          <a:xfrm>
            <a:off x="373039" y="4664709"/>
            <a:ext cx="2418999" cy="1657350"/>
            <a:chOff x="30" y="2354"/>
            <a:chExt cx="1805" cy="1044"/>
          </a:xfrm>
        </p:grpSpPr>
        <p:sp>
          <p:nvSpPr>
            <p:cNvPr id="32" name="Line 26"/>
            <p:cNvSpPr>
              <a:spLocks noChangeShapeType="1"/>
            </p:cNvSpPr>
            <p:nvPr/>
          </p:nvSpPr>
          <p:spPr bwMode="auto">
            <a:xfrm>
              <a:off x="750" y="2379"/>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3" name="Rectangle 27"/>
            <p:cNvSpPr>
              <a:spLocks noChangeArrowheads="1"/>
            </p:cNvSpPr>
            <p:nvPr/>
          </p:nvSpPr>
          <p:spPr bwMode="auto">
            <a:xfrm>
              <a:off x="775" y="2354"/>
              <a:ext cx="2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t>
              </a:r>
              <a:endParaRPr lang="zh-CN" altLang="en-US" sz="2400" b="1">
                <a:solidFill>
                  <a:srgbClr val="010000"/>
                </a:solidFill>
                <a:latin typeface="+mn-ea"/>
              </a:endParaRPr>
            </a:p>
          </p:txBody>
        </p:sp>
        <p:sp useBgFill="1">
          <p:nvSpPr>
            <p:cNvPr id="34" name="AutoShape 28"/>
            <p:cNvSpPr>
              <a:spLocks noChangeArrowheads="1"/>
            </p:cNvSpPr>
            <p:nvPr/>
          </p:nvSpPr>
          <p:spPr bwMode="auto">
            <a:xfrm>
              <a:off x="30" y="2607"/>
              <a:ext cx="1776" cy="768"/>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zh-CN" altLang="en-US" sz="2400" b="1">
                <a:solidFill>
                  <a:srgbClr val="010000"/>
                </a:solidFill>
                <a:latin typeface="+mn-ea"/>
              </a:endParaRPr>
            </a:p>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zh-CN" altLang="en-US" sz="2400" b="1">
                <a:solidFill>
                  <a:srgbClr val="010000"/>
                </a:solidFill>
                <a:latin typeface="+mn-ea"/>
              </a:endParaRPr>
            </a:p>
          </p:txBody>
        </p:sp>
        <p:sp useBgFill="1">
          <p:nvSpPr>
            <p:cNvPr id="35" name="Oval 29"/>
            <p:cNvSpPr>
              <a:spLocks noChangeArrowheads="1"/>
            </p:cNvSpPr>
            <p:nvPr/>
          </p:nvSpPr>
          <p:spPr bwMode="auto">
            <a:xfrm>
              <a:off x="1490" y="3110"/>
              <a:ext cx="345" cy="288"/>
            </a:xfrm>
            <a:prstGeom prst="ellipse">
              <a:avLst/>
            </a:prstGeom>
            <a:ln w="9525">
              <a:solidFill>
                <a:schemeClr val="tx1"/>
              </a:solidFill>
              <a:round/>
            </a:ln>
          </p:spPr>
          <p:txBody>
            <a:bodyPr wrap="none" anchor="ctr"/>
            <a:lstStyle/>
            <a:p>
              <a:pPr algn="ctr"/>
              <a:r>
                <a:rPr lang="en-US" altLang="zh-CN" sz="2400" b="1" dirty="0">
                  <a:solidFill>
                    <a:srgbClr val="010000"/>
                  </a:solidFill>
                  <a:latin typeface="+mn-ea"/>
                </a:rPr>
                <a:t>5</a:t>
              </a:r>
              <a:endParaRPr lang="zh-CN" altLang="en-US" sz="2400" b="1" dirty="0">
                <a:solidFill>
                  <a:srgbClr val="010000"/>
                </a:solidFill>
                <a:latin typeface="+mn-ea"/>
              </a:endParaRPr>
            </a:p>
          </p:txBody>
        </p:sp>
      </p:grpSp>
      <p:grpSp>
        <p:nvGrpSpPr>
          <p:cNvPr id="36" name="Group 30"/>
          <p:cNvGrpSpPr/>
          <p:nvPr/>
        </p:nvGrpSpPr>
        <p:grpSpPr bwMode="auto">
          <a:xfrm>
            <a:off x="2868986" y="4253491"/>
            <a:ext cx="2573119" cy="838200"/>
            <a:chOff x="1872" y="1932"/>
            <a:chExt cx="1920" cy="528"/>
          </a:xfrm>
        </p:grpSpPr>
        <p:sp>
          <p:nvSpPr>
            <p:cNvPr id="37" name="Line 31"/>
            <p:cNvSpPr>
              <a:spLocks noChangeShapeType="1"/>
            </p:cNvSpPr>
            <p:nvPr/>
          </p:nvSpPr>
          <p:spPr bwMode="auto">
            <a:xfrm>
              <a:off x="1872" y="20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8" name="Rectangle 32"/>
            <p:cNvSpPr>
              <a:spLocks noChangeArrowheads="1"/>
            </p:cNvSpPr>
            <p:nvPr/>
          </p:nvSpPr>
          <p:spPr bwMode="auto">
            <a:xfrm>
              <a:off x="1896" y="1932"/>
              <a:ext cx="25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sp useBgFill="1">
          <p:nvSpPr>
            <p:cNvPr id="39" name="AutoShape 33"/>
            <p:cNvSpPr>
              <a:spLocks noChangeArrowheads="1"/>
            </p:cNvSpPr>
            <p:nvPr/>
          </p:nvSpPr>
          <p:spPr bwMode="auto">
            <a:xfrm>
              <a:off x="2256" y="1932"/>
              <a:ext cx="1392" cy="384"/>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20001"/>
                  </a:solidFill>
                  <a:latin typeface="+mn-ea"/>
                </a:rPr>
                <a:t>A→a. ,  )</a:t>
              </a:r>
              <a:r>
                <a:rPr lang="zh-CN" altLang="en-US" sz="2400" b="1">
                  <a:solidFill>
                    <a:srgbClr val="010000"/>
                  </a:solidFill>
                  <a:latin typeface="+mn-ea"/>
                </a:rPr>
                <a:t>]</a:t>
              </a:r>
              <a:endParaRPr lang="en-US" altLang="zh-CN" sz="2400" b="1">
                <a:solidFill>
                  <a:srgbClr val="010000"/>
                </a:solidFill>
                <a:latin typeface="+mn-ea"/>
              </a:endParaRPr>
            </a:p>
          </p:txBody>
        </p:sp>
        <p:sp useBgFill="1">
          <p:nvSpPr>
            <p:cNvPr id="40" name="Oval 34"/>
            <p:cNvSpPr>
              <a:spLocks noChangeArrowheads="1"/>
            </p:cNvSpPr>
            <p:nvPr/>
          </p:nvSpPr>
          <p:spPr bwMode="auto">
            <a:xfrm>
              <a:off x="3447" y="2172"/>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6</a:t>
              </a:r>
              <a:endParaRPr lang="zh-CN" altLang="en-US" sz="2400" b="1" dirty="0">
                <a:solidFill>
                  <a:srgbClr val="010000"/>
                </a:solidFill>
                <a:latin typeface="+mn-ea"/>
              </a:endParaRPr>
            </a:p>
          </p:txBody>
        </p:sp>
      </p:grpSp>
      <p:grpSp>
        <p:nvGrpSpPr>
          <p:cNvPr id="41" name="Group 35"/>
          <p:cNvGrpSpPr/>
          <p:nvPr/>
        </p:nvGrpSpPr>
        <p:grpSpPr bwMode="auto">
          <a:xfrm>
            <a:off x="2719761" y="4780541"/>
            <a:ext cx="643280" cy="838200"/>
            <a:chOff x="1806" y="2220"/>
            <a:chExt cx="480" cy="528"/>
          </a:xfrm>
        </p:grpSpPr>
        <p:sp>
          <p:nvSpPr>
            <p:cNvPr id="42" name="Line 36"/>
            <p:cNvSpPr>
              <a:spLocks noChangeShapeType="1"/>
            </p:cNvSpPr>
            <p:nvPr/>
          </p:nvSpPr>
          <p:spPr bwMode="auto">
            <a:xfrm flipV="1">
              <a:off x="1806" y="2220"/>
              <a:ext cx="480"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3" name="Rectangle 37"/>
            <p:cNvSpPr>
              <a:spLocks noChangeArrowheads="1"/>
            </p:cNvSpPr>
            <p:nvPr/>
          </p:nvSpPr>
          <p:spPr bwMode="auto">
            <a:xfrm>
              <a:off x="1944" y="2367"/>
              <a:ext cx="25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44" name="Group 38"/>
          <p:cNvGrpSpPr/>
          <p:nvPr/>
        </p:nvGrpSpPr>
        <p:grpSpPr bwMode="auto">
          <a:xfrm>
            <a:off x="5561328" y="3243841"/>
            <a:ext cx="2637447" cy="1066800"/>
            <a:chOff x="3792" y="1212"/>
            <a:chExt cx="1968" cy="672"/>
          </a:xfrm>
        </p:grpSpPr>
        <p:sp>
          <p:nvSpPr>
            <p:cNvPr id="45" name="Line 39"/>
            <p:cNvSpPr>
              <a:spLocks noChangeShapeType="1"/>
            </p:cNvSpPr>
            <p:nvPr/>
          </p:nvSpPr>
          <p:spPr bwMode="auto">
            <a:xfrm>
              <a:off x="3792" y="1500"/>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6" name="Rectangle 40"/>
            <p:cNvSpPr>
              <a:spLocks noChangeArrowheads="1"/>
            </p:cNvSpPr>
            <p:nvPr/>
          </p:nvSpPr>
          <p:spPr bwMode="auto">
            <a:xfrm>
              <a:off x="3837" y="1212"/>
              <a:ext cx="2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t>
              </a:r>
              <a:endParaRPr lang="zh-CN" altLang="en-US" sz="2400" b="1">
                <a:solidFill>
                  <a:srgbClr val="010000"/>
                </a:solidFill>
                <a:latin typeface="+mn-ea"/>
              </a:endParaRPr>
            </a:p>
          </p:txBody>
        </p:sp>
        <p:sp useBgFill="1">
          <p:nvSpPr>
            <p:cNvPr id="47" name="AutoShape 41"/>
            <p:cNvSpPr>
              <a:spLocks noChangeArrowheads="1"/>
            </p:cNvSpPr>
            <p:nvPr/>
          </p:nvSpPr>
          <p:spPr bwMode="auto">
            <a:xfrm>
              <a:off x="4176" y="1308"/>
              <a:ext cx="1488" cy="384"/>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48" name="Oval 42"/>
            <p:cNvSpPr>
              <a:spLocks noChangeArrowheads="1"/>
            </p:cNvSpPr>
            <p:nvPr/>
          </p:nvSpPr>
          <p:spPr bwMode="auto">
            <a:xfrm>
              <a:off x="5415" y="1596"/>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7</a:t>
              </a:r>
              <a:endParaRPr lang="zh-CN" altLang="en-US" sz="2400" b="1" dirty="0">
                <a:solidFill>
                  <a:srgbClr val="010000"/>
                </a:solidFill>
                <a:latin typeface="+mn-ea"/>
              </a:endParaRPr>
            </a:p>
          </p:txBody>
        </p:sp>
      </p:grpSp>
      <p:grpSp>
        <p:nvGrpSpPr>
          <p:cNvPr id="49" name="Group 43"/>
          <p:cNvGrpSpPr/>
          <p:nvPr/>
        </p:nvGrpSpPr>
        <p:grpSpPr bwMode="auto">
          <a:xfrm>
            <a:off x="1562067" y="5858519"/>
            <a:ext cx="1230059" cy="792163"/>
            <a:chOff x="964" y="3538"/>
            <a:chExt cx="770" cy="499"/>
          </a:xfrm>
        </p:grpSpPr>
        <p:sp>
          <p:nvSpPr>
            <p:cNvPr id="50" name="Rectangle 44"/>
            <p:cNvSpPr>
              <a:spLocks noChangeArrowheads="1"/>
            </p:cNvSpPr>
            <p:nvPr/>
          </p:nvSpPr>
          <p:spPr bwMode="auto">
            <a:xfrm>
              <a:off x="1204" y="3747"/>
              <a:ext cx="17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dirty="0">
                  <a:solidFill>
                    <a:srgbClr val="010000"/>
                  </a:solidFill>
                  <a:latin typeface="+mn-ea"/>
                </a:rPr>
                <a:t>(</a:t>
              </a:r>
              <a:endParaRPr lang="zh-CN" altLang="en-US" sz="2400" b="1" dirty="0">
                <a:solidFill>
                  <a:srgbClr val="010000"/>
                </a:solidFill>
                <a:latin typeface="+mn-ea"/>
              </a:endParaRPr>
            </a:p>
          </p:txBody>
        </p:sp>
        <p:cxnSp>
          <p:nvCxnSpPr>
            <p:cNvPr id="51" name="AutoShape 45"/>
            <p:cNvCxnSpPr>
              <a:cxnSpLocks noChangeShapeType="1"/>
              <a:endCxn id="34" idx="2"/>
            </p:cNvCxnSpPr>
            <p:nvPr/>
          </p:nvCxnSpPr>
          <p:spPr bwMode="auto">
            <a:xfrm rot="10800000" flipV="1">
              <a:off x="964" y="3538"/>
              <a:ext cx="770" cy="273"/>
            </a:xfrm>
            <a:prstGeom prst="curvedConnector4">
              <a:avLst>
                <a:gd name="adj1" fmla="val 1593"/>
                <a:gd name="adj2" fmla="val 154983"/>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grpSp>
        <p:nvGrpSpPr>
          <p:cNvPr id="52" name="Group 46"/>
          <p:cNvGrpSpPr/>
          <p:nvPr/>
        </p:nvGrpSpPr>
        <p:grpSpPr bwMode="auto">
          <a:xfrm>
            <a:off x="2853112" y="5407604"/>
            <a:ext cx="2725898" cy="914400"/>
            <a:chOff x="1806" y="2703"/>
            <a:chExt cx="2034" cy="576"/>
          </a:xfrm>
        </p:grpSpPr>
        <p:sp>
          <p:nvSpPr>
            <p:cNvPr id="53" name="Line 47"/>
            <p:cNvSpPr>
              <a:spLocks noChangeShapeType="1"/>
            </p:cNvSpPr>
            <p:nvPr/>
          </p:nvSpPr>
          <p:spPr bwMode="auto">
            <a:xfrm>
              <a:off x="1806" y="2991"/>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54" name="AutoShape 48"/>
            <p:cNvSpPr>
              <a:spLocks noChangeArrowheads="1"/>
            </p:cNvSpPr>
            <p:nvPr/>
          </p:nvSpPr>
          <p:spPr bwMode="auto">
            <a:xfrm>
              <a:off x="2190" y="2751"/>
              <a:ext cx="1506" cy="384"/>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55" name="Oval 49"/>
            <p:cNvSpPr>
              <a:spLocks noChangeArrowheads="1"/>
            </p:cNvSpPr>
            <p:nvPr/>
          </p:nvSpPr>
          <p:spPr bwMode="auto">
            <a:xfrm>
              <a:off x="3495" y="2991"/>
              <a:ext cx="345" cy="288"/>
            </a:xfrm>
            <a:prstGeom prst="ellipse">
              <a:avLst/>
            </a:prstGeom>
            <a:ln w="9525">
              <a:solidFill>
                <a:schemeClr val="tx1"/>
              </a:solidFill>
              <a:round/>
            </a:ln>
          </p:spPr>
          <p:txBody>
            <a:bodyPr wrap="none" anchor="ctr"/>
            <a:lstStyle/>
            <a:p>
              <a:pPr algn="ctr"/>
              <a:r>
                <a:rPr lang="zh-CN" altLang="en-US" sz="2400" b="1" dirty="0">
                  <a:solidFill>
                    <a:srgbClr val="010000"/>
                  </a:solidFill>
                  <a:latin typeface="+mn-ea"/>
                </a:rPr>
                <a:t>8</a:t>
              </a:r>
              <a:endParaRPr lang="zh-CN" altLang="en-US" sz="2400" b="1" dirty="0">
                <a:solidFill>
                  <a:srgbClr val="010000"/>
                </a:solidFill>
                <a:latin typeface="+mn-ea"/>
              </a:endParaRPr>
            </a:p>
          </p:txBody>
        </p:sp>
        <p:sp>
          <p:nvSpPr>
            <p:cNvPr id="56" name="Rectangle 50"/>
            <p:cNvSpPr>
              <a:spLocks noChangeArrowheads="1"/>
            </p:cNvSpPr>
            <p:nvPr/>
          </p:nvSpPr>
          <p:spPr bwMode="auto">
            <a:xfrm>
              <a:off x="1812" y="2703"/>
              <a:ext cx="28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a:t>
              </a:r>
              <a:endParaRPr lang="zh-CN" altLang="en-US" sz="2400" b="1">
                <a:solidFill>
                  <a:srgbClr val="010000"/>
                </a:solidFill>
                <a:latin typeface="+mn-ea"/>
              </a:endParaRPr>
            </a:p>
          </p:txBody>
        </p:sp>
      </p:grpSp>
      <p:grpSp>
        <p:nvGrpSpPr>
          <p:cNvPr id="57" name="Group 51"/>
          <p:cNvGrpSpPr/>
          <p:nvPr/>
        </p:nvGrpSpPr>
        <p:grpSpPr bwMode="auto">
          <a:xfrm>
            <a:off x="5379676" y="5271956"/>
            <a:ext cx="2637447" cy="1066800"/>
            <a:chOff x="3696" y="2607"/>
            <a:chExt cx="1968" cy="672"/>
          </a:xfrm>
        </p:grpSpPr>
        <p:sp>
          <p:nvSpPr>
            <p:cNvPr id="58" name="Line 52"/>
            <p:cNvSpPr>
              <a:spLocks noChangeShapeType="1"/>
            </p:cNvSpPr>
            <p:nvPr/>
          </p:nvSpPr>
          <p:spPr bwMode="auto">
            <a:xfrm>
              <a:off x="3696" y="2895"/>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9" name="Rectangle 53"/>
            <p:cNvSpPr>
              <a:spLocks noChangeArrowheads="1"/>
            </p:cNvSpPr>
            <p:nvPr/>
          </p:nvSpPr>
          <p:spPr bwMode="auto">
            <a:xfrm>
              <a:off x="3741" y="2607"/>
              <a:ext cx="2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10000"/>
                  </a:solidFill>
                  <a:latin typeface="+mn-ea"/>
                </a:rPr>
                <a:t>)</a:t>
              </a:r>
              <a:endParaRPr lang="zh-CN" altLang="en-US" sz="2400" b="1">
                <a:solidFill>
                  <a:srgbClr val="010000"/>
                </a:solidFill>
                <a:latin typeface="+mn-ea"/>
              </a:endParaRPr>
            </a:p>
          </p:txBody>
        </p:sp>
        <p:sp useBgFill="1">
          <p:nvSpPr>
            <p:cNvPr id="60" name="AutoShape 54"/>
            <p:cNvSpPr>
              <a:spLocks noChangeArrowheads="1"/>
            </p:cNvSpPr>
            <p:nvPr/>
          </p:nvSpPr>
          <p:spPr bwMode="auto">
            <a:xfrm>
              <a:off x="4080" y="2703"/>
              <a:ext cx="1488" cy="384"/>
            </a:xfrm>
            <a:prstGeom prst="flowChartAlternateProcess">
              <a:avLst/>
            </a:prstGeom>
            <a:ln w="19050">
              <a:solidFill>
                <a:schemeClr val="tx1"/>
              </a:solidFill>
              <a:miter lim="800000"/>
            </a:ln>
          </p:spPr>
          <p:txBody>
            <a:bodyPr wrap="none" anchor="ctr"/>
            <a:lstStyle/>
            <a:p>
              <a:r>
                <a:rPr lang="zh-CN" altLang="en-US" sz="2400" b="1">
                  <a:solidFill>
                    <a:srgbClr val="010000"/>
                  </a:solidFill>
                  <a:latin typeface="+mn-ea"/>
                </a:rPr>
                <a:t>[</a:t>
              </a:r>
              <a:r>
                <a:rPr lang="en-US" altLang="zh-CN" sz="2400" b="1">
                  <a:solidFill>
                    <a:srgbClr val="010000"/>
                  </a:solidFill>
                  <a:latin typeface="+mn-ea"/>
                </a:rPr>
                <a:t>A</a:t>
              </a:r>
              <a:r>
                <a:rPr lang="en-US" altLang="zh-CN" sz="2400" b="1">
                  <a:solidFill>
                    <a:srgbClr val="020001"/>
                  </a:solidFill>
                  <a:latin typeface="+mn-ea"/>
                </a:rPr>
                <a:t>→(A).</a:t>
              </a:r>
              <a:r>
                <a:rPr lang="en-US" altLang="zh-CN" sz="2400" b="1">
                  <a:solidFill>
                    <a:srgbClr val="010000"/>
                  </a:solidFill>
                  <a:latin typeface="+mn-ea"/>
                </a:rPr>
                <a:t>, )]</a:t>
              </a:r>
              <a:endParaRPr lang="en-US" altLang="zh-CN" sz="2400" b="1">
                <a:solidFill>
                  <a:srgbClr val="010000"/>
                </a:solidFill>
                <a:latin typeface="+mn-ea"/>
              </a:endParaRPr>
            </a:p>
          </p:txBody>
        </p:sp>
        <p:sp useBgFill="1">
          <p:nvSpPr>
            <p:cNvPr id="61" name="Oval 55"/>
            <p:cNvSpPr>
              <a:spLocks noChangeArrowheads="1"/>
            </p:cNvSpPr>
            <p:nvPr/>
          </p:nvSpPr>
          <p:spPr bwMode="auto">
            <a:xfrm>
              <a:off x="5319" y="2991"/>
              <a:ext cx="345" cy="288"/>
            </a:xfrm>
            <a:prstGeom prst="ellipse">
              <a:avLst/>
            </a:prstGeom>
            <a:ln w="9525">
              <a:solidFill>
                <a:schemeClr val="tx1"/>
              </a:solidFill>
              <a:round/>
            </a:ln>
          </p:spPr>
          <p:txBody>
            <a:bodyPr wrap="none" anchor="ctr"/>
            <a:lstStyle/>
            <a:p>
              <a:pPr algn="ctr"/>
              <a:r>
                <a:rPr lang="zh-CN" altLang="en-US" sz="2400" b="1">
                  <a:solidFill>
                    <a:srgbClr val="010000"/>
                  </a:solidFill>
                  <a:latin typeface="+mn-ea"/>
                </a:rPr>
                <a:t>9</a:t>
              </a:r>
              <a:endParaRPr lang="zh-CN" altLang="en-US" sz="2400" b="1">
                <a:solidFill>
                  <a:srgbClr val="010000"/>
                </a:solidFill>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aphicFrame>
        <p:nvGraphicFramePr>
          <p:cNvPr id="62" name="Group 80"/>
          <p:cNvGraphicFramePr>
            <a:graphicFrameLocks noGrp="1"/>
          </p:cNvGraphicFramePr>
          <p:nvPr>
            <p:custDataLst>
              <p:tags r:id="rId1"/>
            </p:custDataLst>
          </p:nvPr>
        </p:nvGraphicFramePr>
        <p:xfrm>
          <a:off x="8525996" y="1442422"/>
          <a:ext cx="3200400" cy="4493895"/>
        </p:xfrm>
        <a:graphic>
          <a:graphicData uri="http://schemas.openxmlformats.org/drawingml/2006/table">
            <a:tbl>
              <a:tblPr/>
              <a:tblGrid>
                <a:gridCol w="520700"/>
                <a:gridCol w="520700"/>
                <a:gridCol w="482600"/>
                <a:gridCol w="463550"/>
                <a:gridCol w="495300"/>
                <a:gridCol w="717550"/>
              </a:tblGrid>
              <a:tr h="427355">
                <a:tc row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状态</a:t>
                      </a:r>
                      <a:endPar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Action</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Goto</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v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21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7</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Rectangle 2"/>
          <p:cNvSpPr>
            <a:spLocks noChangeArrowheads="1"/>
          </p:cNvSpPr>
          <p:nvPr>
            <p:custDataLst>
              <p:tags r:id="rId2"/>
            </p:custDataLst>
          </p:nvPr>
        </p:nvSpPr>
        <p:spPr bwMode="auto">
          <a:xfrm>
            <a:off x="372745" y="1250315"/>
            <a:ext cx="7790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a:solidFill>
                  <a:srgbClr val="020001"/>
                </a:solidFill>
                <a:latin typeface="+mn-ea"/>
                <a:sym typeface="+mn-ea"/>
              </a:rPr>
              <a:t>0) A’→A    1) A→(A)    2) A→ a</a:t>
            </a:r>
            <a:r>
              <a:rPr lang="zh-CN" altLang="en-US" sz="2400" b="1" dirty="0">
                <a:solidFill>
                  <a:srgbClr val="020001"/>
                </a:solidFill>
                <a:latin typeface="+mn-ea"/>
              </a:rPr>
              <a:t>构造其对应的</a:t>
            </a:r>
            <a:r>
              <a:rPr lang="en-US" altLang="zh-CN" sz="2400" b="1" dirty="0">
                <a:solidFill>
                  <a:srgbClr val="020001"/>
                </a:solidFill>
                <a:latin typeface="+mn-ea"/>
              </a:rPr>
              <a:t>LR(1)</a:t>
            </a:r>
            <a:r>
              <a:rPr lang="zh-CN" altLang="en-US" sz="2400" b="1" dirty="0">
                <a:solidFill>
                  <a:srgbClr val="020001"/>
                </a:solidFill>
                <a:latin typeface="+mn-ea"/>
              </a:rPr>
              <a:t>分析表:</a:t>
            </a:r>
            <a:endParaRPr lang="en-US" altLang="zh-CN" sz="2400" b="1" dirty="0">
              <a:solidFill>
                <a:srgbClr val="020001"/>
              </a:solidFill>
              <a:latin typeface="+mn-ea"/>
            </a:endParaRPr>
          </a:p>
        </p:txBody>
      </p:sp>
      <p:sp>
        <p:nvSpPr>
          <p:cNvPr id="64" name="文本占位符 63"/>
          <p:cNvSpPr>
            <a:spLocks noGrp="1"/>
          </p:cNvSpPr>
          <p:nvPr>
            <p:ph type="body" sz="quarter" idx="14"/>
            <p:custDataLst>
              <p:tags r:id="rId3"/>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781175" y="1218079"/>
            <a:ext cx="79186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20001"/>
                </a:solidFill>
                <a:latin typeface="+mn-ea"/>
              </a:rPr>
              <a:t>用</a:t>
            </a:r>
            <a:r>
              <a:rPr lang="en-US" altLang="zh-CN" sz="2400" b="1">
                <a:solidFill>
                  <a:srgbClr val="020001"/>
                </a:solidFill>
                <a:latin typeface="+mn-ea"/>
              </a:rPr>
              <a:t>LR(1)</a:t>
            </a:r>
            <a:r>
              <a:rPr lang="zh-CN" altLang="en-US" sz="2400" b="1">
                <a:solidFill>
                  <a:srgbClr val="020001"/>
                </a:solidFill>
                <a:latin typeface="+mn-ea"/>
              </a:rPr>
              <a:t>分析算法对输入串</a:t>
            </a:r>
            <a:r>
              <a:rPr lang="en-US" altLang="zh-CN" sz="2400" b="1">
                <a:solidFill>
                  <a:srgbClr val="020001"/>
                </a:solidFill>
                <a:latin typeface="+mn-ea"/>
              </a:rPr>
              <a:t>(a)</a:t>
            </a:r>
            <a:r>
              <a:rPr lang="zh-CN" altLang="en-US" sz="2400" b="1">
                <a:solidFill>
                  <a:srgbClr val="020001"/>
                </a:solidFill>
                <a:latin typeface="+mn-ea"/>
              </a:rPr>
              <a:t>的分析步骤：</a:t>
            </a:r>
            <a:endParaRPr lang="zh-CN" altLang="en-US" sz="2400" b="1">
              <a:solidFill>
                <a:srgbClr val="020001"/>
              </a:solidFill>
              <a:latin typeface="+mn-ea"/>
            </a:endParaRPr>
          </a:p>
        </p:txBody>
      </p:sp>
      <p:grpSp>
        <p:nvGrpSpPr>
          <p:cNvPr id="6" name="Group 3"/>
          <p:cNvGrpSpPr/>
          <p:nvPr/>
        </p:nvGrpSpPr>
        <p:grpSpPr bwMode="auto">
          <a:xfrm>
            <a:off x="3693429" y="1805936"/>
            <a:ext cx="8030942" cy="460375"/>
            <a:chOff x="720" y="1152"/>
            <a:chExt cx="4224" cy="290"/>
          </a:xfrm>
        </p:grpSpPr>
        <p:sp>
          <p:nvSpPr>
            <p:cNvPr id="7" name="Text Box 4"/>
            <p:cNvSpPr txBox="1">
              <a:spLocks noChangeArrowheads="1"/>
            </p:cNvSpPr>
            <p:nvPr/>
          </p:nvSpPr>
          <p:spPr bwMode="auto">
            <a:xfrm>
              <a:off x="720" y="1152"/>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步骤</a:t>
              </a:r>
              <a:endParaRPr lang="zh-CN" altLang="en-US" sz="2400" b="1">
                <a:solidFill>
                  <a:srgbClr val="020001"/>
                </a:solidFill>
                <a:latin typeface="+mn-ea"/>
              </a:endParaRPr>
            </a:p>
          </p:txBody>
        </p:sp>
        <p:sp>
          <p:nvSpPr>
            <p:cNvPr id="8" name="Text Box 5"/>
            <p:cNvSpPr txBox="1">
              <a:spLocks noChangeArrowheads="1"/>
            </p:cNvSpPr>
            <p:nvPr/>
          </p:nvSpPr>
          <p:spPr bwMode="auto">
            <a:xfrm>
              <a:off x="1200"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spcBef>
                  <a:spcPct val="50000"/>
                </a:spcBef>
              </a:pPr>
              <a:r>
                <a:rPr lang="zh-CN" altLang="en-US" sz="2400" b="1">
                  <a:solidFill>
                    <a:srgbClr val="020001"/>
                  </a:solidFill>
                  <a:latin typeface="+mn-ea"/>
                </a:rPr>
                <a:t>状态栈</a:t>
              </a:r>
              <a:r>
                <a:rPr lang="en-US" altLang="zh-CN" sz="2400" b="1">
                  <a:solidFill>
                    <a:srgbClr val="020001"/>
                  </a:solidFill>
                  <a:latin typeface="+mn-ea"/>
                </a:rPr>
                <a:t>S</a:t>
              </a:r>
              <a:endParaRPr lang="en-US" altLang="zh-CN" sz="2400" b="1">
                <a:solidFill>
                  <a:srgbClr val="020001"/>
                </a:solidFill>
                <a:latin typeface="+mn-ea"/>
              </a:endParaRPr>
            </a:p>
          </p:txBody>
        </p:sp>
        <p:sp>
          <p:nvSpPr>
            <p:cNvPr id="9" name="Text Box 6"/>
            <p:cNvSpPr txBox="1">
              <a:spLocks noChangeArrowheads="1"/>
            </p:cNvSpPr>
            <p:nvPr/>
          </p:nvSpPr>
          <p:spPr bwMode="auto">
            <a:xfrm>
              <a:off x="2160" y="1152"/>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符号栈</a:t>
              </a:r>
              <a:r>
                <a:rPr lang="en-US" altLang="zh-CN" sz="2400" b="1">
                  <a:solidFill>
                    <a:srgbClr val="020001"/>
                  </a:solidFill>
                  <a:latin typeface="+mn-ea"/>
                </a:rPr>
                <a:t>X</a:t>
              </a:r>
              <a:endParaRPr lang="en-US" altLang="zh-CN" sz="2400" b="1">
                <a:solidFill>
                  <a:srgbClr val="020001"/>
                </a:solidFill>
                <a:latin typeface="+mn-ea"/>
              </a:endParaRPr>
            </a:p>
          </p:txBody>
        </p:sp>
        <p:sp>
          <p:nvSpPr>
            <p:cNvPr id="10" name="Text Box 7"/>
            <p:cNvSpPr txBox="1">
              <a:spLocks noChangeArrowheads="1"/>
            </p:cNvSpPr>
            <p:nvPr/>
          </p:nvSpPr>
          <p:spPr bwMode="auto">
            <a:xfrm>
              <a:off x="398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动作</a:t>
              </a:r>
              <a:endParaRPr lang="zh-CN" altLang="en-US" sz="2400" b="1">
                <a:solidFill>
                  <a:srgbClr val="020001"/>
                </a:solidFill>
                <a:latin typeface="+mn-ea"/>
              </a:endParaRPr>
            </a:p>
          </p:txBody>
        </p:sp>
        <p:sp>
          <p:nvSpPr>
            <p:cNvPr id="11" name="Text Box 8"/>
            <p:cNvSpPr txBox="1">
              <a:spLocks noChangeArrowheads="1"/>
            </p:cNvSpPr>
            <p:nvPr/>
          </p:nvSpPr>
          <p:spPr bwMode="auto">
            <a:xfrm>
              <a:off x="302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输入符号</a:t>
              </a:r>
              <a:endParaRPr lang="zh-CN" altLang="en-US" sz="2400" b="1">
                <a:solidFill>
                  <a:srgbClr val="020001"/>
                </a:solidFill>
                <a:latin typeface="+mn-ea"/>
              </a:endParaRPr>
            </a:p>
          </p:txBody>
        </p:sp>
      </p:grpSp>
      <p:grpSp>
        <p:nvGrpSpPr>
          <p:cNvPr id="13" name="Group 9"/>
          <p:cNvGrpSpPr/>
          <p:nvPr/>
        </p:nvGrpSpPr>
        <p:grpSpPr bwMode="auto">
          <a:xfrm>
            <a:off x="3688667" y="2394903"/>
            <a:ext cx="8035178" cy="460375"/>
            <a:chOff x="720" y="1388"/>
            <a:chExt cx="4224" cy="290"/>
          </a:xfrm>
        </p:grpSpPr>
        <p:sp>
          <p:nvSpPr>
            <p:cNvPr id="14" name="Text Box 10"/>
            <p:cNvSpPr txBox="1">
              <a:spLocks noChangeArrowheads="1"/>
            </p:cNvSpPr>
            <p:nvPr/>
          </p:nvSpPr>
          <p:spPr bwMode="auto">
            <a:xfrm>
              <a:off x="720" y="138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1</a:t>
              </a:r>
              <a:endParaRPr lang="zh-CN" altLang="en-US" sz="2400" b="1">
                <a:solidFill>
                  <a:srgbClr val="020001"/>
                </a:solidFill>
                <a:latin typeface="+mn-ea"/>
              </a:endParaRPr>
            </a:p>
          </p:txBody>
        </p:sp>
        <p:sp>
          <p:nvSpPr>
            <p:cNvPr id="15" name="Text Box 11"/>
            <p:cNvSpPr txBox="1">
              <a:spLocks noChangeArrowheads="1"/>
            </p:cNvSpPr>
            <p:nvPr/>
          </p:nvSpPr>
          <p:spPr bwMode="auto">
            <a:xfrm>
              <a:off x="1200"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a:t>
              </a:r>
              <a:endParaRPr lang="en-US" altLang="zh-CN" sz="2400" b="1">
                <a:solidFill>
                  <a:srgbClr val="020001"/>
                </a:solidFill>
                <a:latin typeface="+mn-ea"/>
              </a:endParaRPr>
            </a:p>
          </p:txBody>
        </p:sp>
        <p:sp>
          <p:nvSpPr>
            <p:cNvPr id="16" name="Text Box 12"/>
            <p:cNvSpPr txBox="1">
              <a:spLocks noChangeArrowheads="1"/>
            </p:cNvSpPr>
            <p:nvPr/>
          </p:nvSpPr>
          <p:spPr bwMode="auto">
            <a:xfrm>
              <a:off x="2160" y="138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sp>
          <p:nvSpPr>
            <p:cNvPr id="17" name="Text Box 13"/>
            <p:cNvSpPr txBox="1">
              <a:spLocks noChangeArrowheads="1"/>
            </p:cNvSpPr>
            <p:nvPr/>
          </p:nvSpPr>
          <p:spPr bwMode="auto">
            <a:xfrm>
              <a:off x="398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2</a:t>
              </a:r>
              <a:endParaRPr lang="en-US" altLang="zh-CN" sz="2400" b="1" baseline="-25000">
                <a:solidFill>
                  <a:srgbClr val="020001"/>
                </a:solidFill>
                <a:latin typeface="+mn-ea"/>
              </a:endParaRPr>
            </a:p>
          </p:txBody>
        </p:sp>
        <p:sp>
          <p:nvSpPr>
            <p:cNvPr id="18" name="Text Box 14"/>
            <p:cNvSpPr txBox="1">
              <a:spLocks noChangeArrowheads="1"/>
            </p:cNvSpPr>
            <p:nvPr/>
          </p:nvSpPr>
          <p:spPr bwMode="auto">
            <a:xfrm>
              <a:off x="302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grpSp>
      <p:grpSp>
        <p:nvGrpSpPr>
          <p:cNvPr id="20" name="Group 16"/>
          <p:cNvGrpSpPr/>
          <p:nvPr/>
        </p:nvGrpSpPr>
        <p:grpSpPr bwMode="auto">
          <a:xfrm>
            <a:off x="3688667" y="2975929"/>
            <a:ext cx="8035178" cy="460375"/>
            <a:chOff x="720" y="1628"/>
            <a:chExt cx="4224" cy="290"/>
          </a:xfrm>
        </p:grpSpPr>
        <p:sp>
          <p:nvSpPr>
            <p:cNvPr id="21" name="Text Box 17"/>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2</a:t>
              </a:r>
              <a:endParaRPr lang="zh-CN" altLang="en-US" sz="2400" b="1">
                <a:solidFill>
                  <a:srgbClr val="020001"/>
                </a:solidFill>
                <a:latin typeface="+mn-ea"/>
              </a:endParaRPr>
            </a:p>
          </p:txBody>
        </p:sp>
        <p:sp>
          <p:nvSpPr>
            <p:cNvPr id="22" name="Text Box 18"/>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02</a:t>
              </a:r>
              <a:endParaRPr lang="en-US" altLang="zh-CN" sz="2400" b="1">
                <a:solidFill>
                  <a:srgbClr val="020001"/>
                </a:solidFill>
                <a:latin typeface="+mn-ea"/>
              </a:endParaRPr>
            </a:p>
          </p:txBody>
        </p:sp>
        <p:sp>
          <p:nvSpPr>
            <p:cNvPr id="23" name="Text Box 19"/>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sp>
          <p:nvSpPr>
            <p:cNvPr id="24" name="Text Box 20"/>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6</a:t>
              </a:r>
              <a:endParaRPr lang="en-US" altLang="zh-CN" sz="2400" b="1" baseline="-25000">
                <a:solidFill>
                  <a:srgbClr val="020001"/>
                </a:solidFill>
                <a:latin typeface="+mn-ea"/>
              </a:endParaRPr>
            </a:p>
          </p:txBody>
        </p:sp>
        <p:sp>
          <p:nvSpPr>
            <p:cNvPr id="25" name="Text Box 21"/>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grpSp>
      <p:grpSp>
        <p:nvGrpSpPr>
          <p:cNvPr id="27" name="Group 23"/>
          <p:cNvGrpSpPr/>
          <p:nvPr/>
        </p:nvGrpSpPr>
        <p:grpSpPr bwMode="auto">
          <a:xfrm>
            <a:off x="3688667" y="3574412"/>
            <a:ext cx="8035178" cy="460375"/>
            <a:chOff x="720" y="1628"/>
            <a:chExt cx="4224" cy="290"/>
          </a:xfrm>
        </p:grpSpPr>
        <p:sp>
          <p:nvSpPr>
            <p:cNvPr id="28" name="Text Box 24"/>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3</a:t>
              </a:r>
              <a:endParaRPr lang="zh-CN" altLang="en-US" sz="2400" b="1">
                <a:solidFill>
                  <a:srgbClr val="020001"/>
                </a:solidFill>
                <a:latin typeface="+mn-ea"/>
              </a:endParaRPr>
            </a:p>
          </p:txBody>
        </p:sp>
        <p:sp>
          <p:nvSpPr>
            <p:cNvPr id="29" name="Text Box 25"/>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026</a:t>
              </a:r>
              <a:endParaRPr lang="en-US" altLang="zh-CN" sz="2400" b="1">
                <a:solidFill>
                  <a:srgbClr val="020001"/>
                </a:solidFill>
                <a:latin typeface="+mn-ea"/>
              </a:endParaRPr>
            </a:p>
          </p:txBody>
        </p:sp>
        <p:sp>
          <p:nvSpPr>
            <p:cNvPr id="30" name="Text Box 26"/>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en-US" altLang="zh-CN" sz="2400" b="1">
                <a:solidFill>
                  <a:srgbClr val="020001"/>
                </a:solidFill>
                <a:latin typeface="+mn-ea"/>
              </a:endParaRPr>
            </a:p>
          </p:txBody>
        </p:sp>
        <p:sp>
          <p:nvSpPr>
            <p:cNvPr id="31" name="Text Box 27"/>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r</a:t>
              </a:r>
              <a:r>
                <a:rPr lang="en-US" altLang="zh-CN" sz="2400" b="1" baseline="-25000" dirty="0">
                  <a:solidFill>
                    <a:srgbClr val="020001"/>
                  </a:solidFill>
                  <a:latin typeface="+mn-ea"/>
                </a:rPr>
                <a:t>2</a:t>
              </a:r>
              <a:r>
                <a:rPr lang="en-US" altLang="zh-CN" sz="2400" b="1" dirty="0">
                  <a:solidFill>
                    <a:srgbClr val="020001"/>
                  </a:solidFill>
                  <a:latin typeface="+mn-ea"/>
                </a:rPr>
                <a:t>(</a:t>
              </a:r>
              <a:r>
                <a:rPr lang="en-US" altLang="zh-CN" sz="2400" b="1" dirty="0" err="1">
                  <a:solidFill>
                    <a:srgbClr val="0070C0"/>
                  </a:solidFill>
                  <a:latin typeface="+mn-ea"/>
                </a:rPr>
                <a:t>A</a:t>
              </a:r>
              <a:r>
                <a:rPr lang="en-US" altLang="zh-CN" sz="2400" b="1" dirty="0" err="1">
                  <a:solidFill>
                    <a:srgbClr val="0070C0"/>
                  </a:solidFill>
                  <a:latin typeface="+mn-ea"/>
                  <a:sym typeface="Symbol" panose="05050102010706020507" pitchFamily="18" charset="2"/>
                </a:rPr>
                <a:t>a</a:t>
              </a:r>
              <a:r>
                <a:rPr lang="en-US" altLang="zh-CN" sz="2400" b="1" dirty="0">
                  <a:solidFill>
                    <a:srgbClr val="020001"/>
                  </a:solidFill>
                  <a:latin typeface="+mn-ea"/>
                </a:rPr>
                <a:t>)</a:t>
              </a:r>
              <a:endParaRPr lang="en-US" altLang="zh-CN" sz="2400" b="1" dirty="0">
                <a:solidFill>
                  <a:srgbClr val="020001"/>
                </a:solidFill>
                <a:latin typeface="+mn-ea"/>
              </a:endParaRPr>
            </a:p>
          </p:txBody>
        </p:sp>
        <p:sp>
          <p:nvSpPr>
            <p:cNvPr id="32" name="Text Box 28"/>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34" name="Group 30"/>
          <p:cNvGrpSpPr/>
          <p:nvPr/>
        </p:nvGrpSpPr>
        <p:grpSpPr bwMode="auto">
          <a:xfrm>
            <a:off x="3688667" y="4164962"/>
            <a:ext cx="8035178" cy="460375"/>
            <a:chOff x="720" y="1628"/>
            <a:chExt cx="4224" cy="290"/>
          </a:xfrm>
        </p:grpSpPr>
        <p:sp>
          <p:nvSpPr>
            <p:cNvPr id="35" name="Text Box 31"/>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4</a:t>
              </a:r>
              <a:endParaRPr lang="zh-CN" altLang="en-US" sz="2400" b="1">
                <a:solidFill>
                  <a:srgbClr val="020001"/>
                </a:solidFill>
                <a:latin typeface="+mn-ea"/>
              </a:endParaRPr>
            </a:p>
          </p:txBody>
        </p:sp>
        <p:sp>
          <p:nvSpPr>
            <p:cNvPr id="36" name="Text Box 32"/>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024</a:t>
              </a:r>
              <a:endParaRPr lang="en-US" altLang="zh-CN" sz="2400" b="1">
                <a:solidFill>
                  <a:srgbClr val="020001"/>
                </a:solidFill>
                <a:latin typeface="+mn-ea"/>
              </a:endParaRPr>
            </a:p>
          </p:txBody>
        </p:sp>
        <p:sp>
          <p:nvSpPr>
            <p:cNvPr id="37" name="Text Box 33"/>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38" name="Text Box 34"/>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S</a:t>
              </a:r>
              <a:r>
                <a:rPr lang="en-US" altLang="zh-CN" sz="2400" b="1" baseline="-25000">
                  <a:solidFill>
                    <a:srgbClr val="020001"/>
                  </a:solidFill>
                  <a:latin typeface="+mn-ea"/>
                </a:rPr>
                <a:t>7</a:t>
              </a:r>
              <a:endParaRPr lang="en-US" altLang="zh-CN" sz="2400" b="1" baseline="-25000">
                <a:solidFill>
                  <a:srgbClr val="020001"/>
                </a:solidFill>
                <a:latin typeface="+mn-ea"/>
              </a:endParaRPr>
            </a:p>
          </p:txBody>
        </p:sp>
        <p:sp>
          <p:nvSpPr>
            <p:cNvPr id="39" name="Text Box 35"/>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41" name="Group 37"/>
          <p:cNvGrpSpPr/>
          <p:nvPr/>
        </p:nvGrpSpPr>
        <p:grpSpPr bwMode="auto">
          <a:xfrm>
            <a:off x="3693429" y="4750754"/>
            <a:ext cx="8035177" cy="460375"/>
            <a:chOff x="720" y="1628"/>
            <a:chExt cx="4224" cy="290"/>
          </a:xfrm>
        </p:grpSpPr>
        <p:sp>
          <p:nvSpPr>
            <p:cNvPr id="42" name="Text Box 38"/>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5</a:t>
              </a:r>
              <a:endParaRPr lang="zh-CN" altLang="en-US" sz="2400" b="1">
                <a:solidFill>
                  <a:srgbClr val="020001"/>
                </a:solidFill>
                <a:latin typeface="+mn-ea"/>
              </a:endParaRPr>
            </a:p>
          </p:txBody>
        </p:sp>
        <p:sp>
          <p:nvSpPr>
            <p:cNvPr id="43" name="Text Box 39"/>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0247</a:t>
              </a:r>
              <a:endParaRPr lang="en-US" altLang="zh-CN" sz="2400" b="1">
                <a:solidFill>
                  <a:srgbClr val="020001"/>
                </a:solidFill>
                <a:latin typeface="+mn-ea"/>
              </a:endParaRPr>
            </a:p>
          </p:txBody>
        </p:sp>
        <p:sp>
          <p:nvSpPr>
            <p:cNvPr id="44" name="Text Box 40"/>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45" name="Text Box 41"/>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dirty="0">
                  <a:solidFill>
                    <a:srgbClr val="020001"/>
                  </a:solidFill>
                  <a:latin typeface="+mn-ea"/>
                </a:rPr>
                <a:t>r</a:t>
              </a:r>
              <a:r>
                <a:rPr lang="en-US" altLang="zh-CN" sz="2400" b="1" baseline="-25000" dirty="0">
                  <a:solidFill>
                    <a:srgbClr val="020001"/>
                  </a:solidFill>
                  <a:latin typeface="+mn-ea"/>
                </a:rPr>
                <a:t>1</a:t>
              </a:r>
              <a:r>
                <a:rPr lang="en-US" altLang="zh-CN" sz="2400" b="1" dirty="0">
                  <a:solidFill>
                    <a:srgbClr val="020001"/>
                  </a:solidFill>
                  <a:latin typeface="+mn-ea"/>
                </a:rPr>
                <a:t>(</a:t>
              </a:r>
              <a:r>
                <a:rPr lang="en-US" altLang="zh-CN" sz="2400" b="1" dirty="0">
                  <a:solidFill>
                    <a:srgbClr val="0070C0"/>
                  </a:solidFill>
                  <a:latin typeface="+mn-ea"/>
                </a:rPr>
                <a:t>A→(A)</a:t>
              </a:r>
              <a:r>
                <a:rPr lang="en-US" altLang="zh-CN" sz="2400" b="1" dirty="0">
                  <a:solidFill>
                    <a:srgbClr val="020001"/>
                  </a:solidFill>
                  <a:latin typeface="+mn-ea"/>
                </a:rPr>
                <a:t>)</a:t>
              </a:r>
              <a:endParaRPr lang="en-US" altLang="zh-CN" sz="2400" b="1" dirty="0">
                <a:solidFill>
                  <a:srgbClr val="020001"/>
                </a:solidFill>
                <a:latin typeface="+mn-ea"/>
              </a:endParaRPr>
            </a:p>
          </p:txBody>
        </p:sp>
        <p:sp>
          <p:nvSpPr>
            <p:cNvPr id="46" name="Text Box 42"/>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grpSp>
        <p:nvGrpSpPr>
          <p:cNvPr id="48" name="Group 44"/>
          <p:cNvGrpSpPr/>
          <p:nvPr/>
        </p:nvGrpSpPr>
        <p:grpSpPr bwMode="auto">
          <a:xfrm>
            <a:off x="3693429" y="5341304"/>
            <a:ext cx="8035177" cy="460375"/>
            <a:chOff x="720" y="1628"/>
            <a:chExt cx="4224" cy="290"/>
          </a:xfrm>
        </p:grpSpPr>
        <p:sp>
          <p:nvSpPr>
            <p:cNvPr id="49" name="Text Box 45"/>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zh-CN" altLang="en-US" sz="2400" b="1">
                  <a:solidFill>
                    <a:srgbClr val="020001"/>
                  </a:solidFill>
                  <a:latin typeface="+mn-ea"/>
                </a:rPr>
                <a:t>6</a:t>
              </a:r>
              <a:endParaRPr lang="zh-CN" altLang="en-US" sz="2400" b="1">
                <a:solidFill>
                  <a:srgbClr val="020001"/>
                </a:solidFill>
                <a:latin typeface="+mn-ea"/>
              </a:endParaRPr>
            </a:p>
          </p:txBody>
        </p:sp>
        <p:sp>
          <p:nvSpPr>
            <p:cNvPr id="50" name="Text Box 46"/>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01</a:t>
              </a:r>
              <a:endParaRPr lang="en-US" altLang="zh-CN" sz="2400" b="1">
                <a:solidFill>
                  <a:srgbClr val="020001"/>
                </a:solidFill>
                <a:latin typeface="+mn-ea"/>
              </a:endParaRPr>
            </a:p>
          </p:txBody>
        </p:sp>
        <p:sp>
          <p:nvSpPr>
            <p:cNvPr id="51" name="Text Box 47"/>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a:t>
              </a:r>
              <a:endParaRPr lang="zh-CN" altLang="en-US" sz="2400" b="1">
                <a:solidFill>
                  <a:srgbClr val="020001"/>
                </a:solidFill>
                <a:latin typeface="+mn-ea"/>
              </a:endParaRPr>
            </a:p>
          </p:txBody>
        </p:sp>
        <p:sp>
          <p:nvSpPr>
            <p:cNvPr id="52" name="Text Box 48"/>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acc</a:t>
              </a:r>
              <a:endParaRPr lang="en-US" altLang="zh-CN" sz="2400" b="1" baseline="-25000">
                <a:solidFill>
                  <a:srgbClr val="020001"/>
                </a:solidFill>
                <a:latin typeface="+mn-ea"/>
              </a:endParaRPr>
            </a:p>
          </p:txBody>
        </p:sp>
        <p:sp>
          <p:nvSpPr>
            <p:cNvPr id="53" name="Text Box 49"/>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pPr>
              <a:r>
                <a:rPr lang="en-US" altLang="zh-CN" sz="2400" b="1">
                  <a:solidFill>
                    <a:srgbClr val="020001"/>
                  </a:solidFill>
                  <a:latin typeface="+mn-ea"/>
                </a:rPr>
                <a:t>$</a:t>
              </a:r>
              <a:endParaRPr lang="en-US" altLang="zh-CN" sz="2400" b="1">
                <a:solidFill>
                  <a:srgbClr val="020001"/>
                </a:solidFill>
                <a:latin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aphicFrame>
        <p:nvGraphicFramePr>
          <p:cNvPr id="62" name="Group 80"/>
          <p:cNvGraphicFramePr>
            <a:graphicFrameLocks noGrp="1"/>
          </p:cNvGraphicFramePr>
          <p:nvPr>
            <p:custDataLst>
              <p:tags r:id="rId1"/>
            </p:custDataLst>
          </p:nvPr>
        </p:nvGraphicFramePr>
        <p:xfrm>
          <a:off x="372596" y="1678007"/>
          <a:ext cx="3200400" cy="4493895"/>
        </p:xfrm>
        <a:graphic>
          <a:graphicData uri="http://schemas.openxmlformats.org/drawingml/2006/table">
            <a:tbl>
              <a:tblPr/>
              <a:tblGrid>
                <a:gridCol w="520700"/>
                <a:gridCol w="520700"/>
                <a:gridCol w="482600"/>
                <a:gridCol w="463550"/>
                <a:gridCol w="495300"/>
                <a:gridCol w="717550"/>
              </a:tblGrid>
              <a:tr h="427355">
                <a:tc row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状态</a:t>
                      </a:r>
                      <a:endPar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Action</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Goto</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v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endPar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21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7</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12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22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5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文本占位符 3"/>
          <p:cNvSpPr>
            <a:spLocks noGrp="1"/>
          </p:cNvSpPr>
          <p:nvPr>
            <p:ph type="body" sz="quarter" idx="14"/>
            <p:custDataLst>
              <p:tags r:id="rId2"/>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out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arn(outHorizontal)">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arn(outHorizontal)">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barn(outHorizontal)">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arn(outHorizontal)">
                                      <p:cBhvr>
                                        <p:cTn id="3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2"/>
          <p:cNvSpPr txBox="1">
            <a:spLocks noChangeArrowheads="1"/>
          </p:cNvSpPr>
          <p:nvPr/>
        </p:nvSpPr>
        <p:spPr bwMode="auto">
          <a:xfrm>
            <a:off x="1978474" y="2074333"/>
            <a:ext cx="3238906"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20001"/>
                </a:solidFill>
                <a:latin typeface="+mn-ea"/>
                <a:ea typeface="+mn-ea"/>
              </a:rPr>
              <a:t>(0)</a:t>
            </a:r>
            <a:r>
              <a:rPr lang="en-US" altLang="zh-CN" sz="2400" b="1" dirty="0">
                <a:solidFill>
                  <a:srgbClr val="020001"/>
                </a:solidFill>
                <a:latin typeface="+mn-ea"/>
                <a:ea typeface="+mn-ea"/>
              </a:rPr>
              <a:t>E'</a:t>
            </a:r>
            <a:r>
              <a:rPr lang="en-US" altLang="zh-CN" sz="2400" b="1" dirty="0">
                <a:solidFill>
                  <a:srgbClr val="020001"/>
                </a:solidFill>
                <a:latin typeface="+mn-ea"/>
                <a:ea typeface="+mn-ea"/>
                <a:sym typeface="Symbol" panose="05050102010706020507" pitchFamily="18" charset="2"/>
              </a:rPr>
              <a:t></a:t>
            </a:r>
            <a:r>
              <a:rPr lang="en-US" altLang="zh-CN" sz="2400" b="1" dirty="0">
                <a:solidFill>
                  <a:srgbClr val="020001"/>
                </a:solidFill>
                <a:latin typeface="+mn-ea"/>
                <a:ea typeface="+mn-ea"/>
              </a:rPr>
              <a:t>E   </a:t>
            </a:r>
            <a:endParaRPr lang="en-US" altLang="zh-CN" sz="2400" b="1" dirty="0">
              <a:solidFill>
                <a:srgbClr val="020001"/>
              </a:solidFill>
              <a:latin typeface="+mn-ea"/>
              <a:ea typeface="+mn-ea"/>
            </a:endParaRPr>
          </a:p>
          <a:p>
            <a:pPr eaLnBrk="1" hangingPunct="1"/>
            <a:r>
              <a:rPr lang="en-US" altLang="zh-CN" sz="2400" b="1" dirty="0">
                <a:solidFill>
                  <a:srgbClr val="020001"/>
                </a:solidFill>
                <a:latin typeface="+mn-ea"/>
                <a:ea typeface="+mn-ea"/>
              </a:rPr>
              <a:t>(1)E</a:t>
            </a:r>
            <a:r>
              <a:rPr lang="en-US" altLang="zh-CN" sz="2400" b="1" dirty="0">
                <a:solidFill>
                  <a:srgbClr val="020001"/>
                </a:solidFill>
                <a:latin typeface="+mn-ea"/>
                <a:ea typeface="+mn-ea"/>
                <a:sym typeface="Symbol" panose="05050102010706020507" pitchFamily="18" charset="2"/>
              </a:rPr>
              <a:t>(L)   </a:t>
            </a:r>
            <a:endParaRPr lang="en-US" altLang="zh-CN" sz="2400" b="1" dirty="0">
              <a:solidFill>
                <a:srgbClr val="020001"/>
              </a:solidFill>
              <a:latin typeface="+mn-ea"/>
              <a:ea typeface="+mn-ea"/>
              <a:sym typeface="Symbol" panose="05050102010706020507" pitchFamily="18" charset="2"/>
            </a:endParaRPr>
          </a:p>
          <a:p>
            <a:pPr eaLnBrk="1" hangingPunct="1"/>
            <a:r>
              <a:rPr lang="en-US" altLang="zh-CN" sz="2400" b="1" dirty="0">
                <a:solidFill>
                  <a:srgbClr val="020001"/>
                </a:solidFill>
                <a:latin typeface="+mn-ea"/>
                <a:ea typeface="+mn-ea"/>
              </a:rPr>
              <a:t>(2)E</a:t>
            </a:r>
            <a:r>
              <a:rPr lang="en-US" altLang="zh-CN" sz="2400" b="1" dirty="0">
                <a:solidFill>
                  <a:srgbClr val="020001"/>
                </a:solidFill>
                <a:latin typeface="+mn-ea"/>
                <a:ea typeface="+mn-ea"/>
                <a:sym typeface="Symbol" panose="05050102010706020507" pitchFamily="18" charset="2"/>
              </a:rPr>
              <a:t> a   </a:t>
            </a:r>
            <a:endParaRPr lang="en-US" altLang="zh-CN" sz="2400" b="1" dirty="0">
              <a:solidFill>
                <a:srgbClr val="020001"/>
              </a:solidFill>
              <a:latin typeface="+mn-ea"/>
              <a:ea typeface="+mn-ea"/>
              <a:sym typeface="Symbol" panose="05050102010706020507" pitchFamily="18" charset="2"/>
            </a:endParaRPr>
          </a:p>
          <a:p>
            <a:pPr eaLnBrk="1" hangingPunct="1"/>
            <a:r>
              <a:rPr lang="en-US" altLang="zh-CN" sz="2400" b="1" dirty="0">
                <a:solidFill>
                  <a:srgbClr val="020001"/>
                </a:solidFill>
                <a:latin typeface="+mn-ea"/>
                <a:ea typeface="+mn-ea"/>
              </a:rPr>
              <a:t>(3)L</a:t>
            </a:r>
            <a:r>
              <a:rPr lang="en-US" altLang="zh-CN" sz="2400" b="1" dirty="0">
                <a:solidFill>
                  <a:srgbClr val="020001"/>
                </a:solidFill>
                <a:latin typeface="+mn-ea"/>
                <a:ea typeface="+mn-ea"/>
                <a:sym typeface="Symbol" panose="05050102010706020507" pitchFamily="18" charset="2"/>
              </a:rPr>
              <a:t>L,E </a:t>
            </a:r>
            <a:endParaRPr lang="en-US" altLang="zh-CN" sz="2400" b="1" dirty="0">
              <a:solidFill>
                <a:srgbClr val="020001"/>
              </a:solidFill>
              <a:latin typeface="+mn-ea"/>
              <a:ea typeface="+mn-ea"/>
              <a:sym typeface="Symbol" panose="05050102010706020507" pitchFamily="18" charset="2"/>
            </a:endParaRPr>
          </a:p>
          <a:p>
            <a:pPr eaLnBrk="1" hangingPunct="1"/>
            <a:r>
              <a:rPr lang="en-US" altLang="zh-CN" sz="2400" b="1" dirty="0">
                <a:solidFill>
                  <a:srgbClr val="020001"/>
                </a:solidFill>
                <a:latin typeface="+mn-ea"/>
                <a:ea typeface="+mn-ea"/>
              </a:rPr>
              <a:t>(4)L</a:t>
            </a:r>
            <a:r>
              <a:rPr lang="en-US" altLang="zh-CN" sz="2400" b="1" dirty="0">
                <a:solidFill>
                  <a:srgbClr val="020001"/>
                </a:solidFill>
                <a:latin typeface="+mn-ea"/>
                <a:ea typeface="+mn-ea"/>
                <a:sym typeface="Symbol" panose="05050102010706020507" pitchFamily="18" charset="2"/>
              </a:rPr>
              <a:t>E</a:t>
            </a:r>
            <a:endParaRPr lang="en-US" altLang="zh-CN" sz="2400" b="1" dirty="0">
              <a:solidFill>
                <a:srgbClr val="020001"/>
              </a:solidFill>
              <a:latin typeface="+mn-ea"/>
              <a:ea typeface="+mn-ea"/>
              <a:sym typeface="Symbol" panose="05050102010706020507" pitchFamily="18" charset="2"/>
            </a:endParaRPr>
          </a:p>
        </p:txBody>
      </p:sp>
      <p:sp>
        <p:nvSpPr>
          <p:cNvPr id="57" name="Rectangle 4"/>
          <p:cNvSpPr>
            <a:spLocks noChangeArrowheads="1"/>
          </p:cNvSpPr>
          <p:nvPr/>
        </p:nvSpPr>
        <p:spPr bwMode="auto">
          <a:xfrm>
            <a:off x="954405" y="4258310"/>
            <a:ext cx="673925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20001"/>
                </a:solidFill>
                <a:latin typeface="+mn-ea"/>
                <a:ea typeface="+mn-ea"/>
              </a:rPr>
              <a:t>首先构造其</a:t>
            </a:r>
            <a:r>
              <a:rPr lang="en-US" altLang="zh-CN" sz="2800" b="1" dirty="0">
                <a:solidFill>
                  <a:srgbClr val="020001"/>
                </a:solidFill>
                <a:latin typeface="+mn-ea"/>
                <a:ea typeface="+mn-ea"/>
              </a:rPr>
              <a:t>LR(1)</a:t>
            </a:r>
            <a:r>
              <a:rPr lang="zh-CN" altLang="en-US" sz="2800" b="1" dirty="0">
                <a:solidFill>
                  <a:srgbClr val="020001"/>
                </a:solidFill>
                <a:latin typeface="+mn-ea"/>
                <a:ea typeface="+mn-ea"/>
              </a:rPr>
              <a:t>项目的</a:t>
            </a:r>
            <a:r>
              <a:rPr lang="en-US" altLang="zh-CN" sz="2800" b="1" dirty="0">
                <a:solidFill>
                  <a:srgbClr val="020001"/>
                </a:solidFill>
                <a:latin typeface="+mn-ea"/>
                <a:ea typeface="+mn-ea"/>
              </a:rPr>
              <a:t>DFA</a:t>
            </a:r>
            <a:endParaRPr lang="en-US" altLang="zh-CN" sz="2800" b="1" dirty="0">
              <a:solidFill>
                <a:srgbClr val="020001"/>
              </a:solidFill>
              <a:latin typeface="+mn-ea"/>
              <a:ea typeface="+mn-ea"/>
            </a:endParaRPr>
          </a:p>
        </p:txBody>
      </p:sp>
      <p:sp>
        <p:nvSpPr>
          <p:cNvPr id="58" name="Text Box 3"/>
          <p:cNvSpPr txBox="1">
            <a:spLocks noChangeArrowheads="1"/>
          </p:cNvSpPr>
          <p:nvPr/>
        </p:nvSpPr>
        <p:spPr bwMode="auto">
          <a:xfrm>
            <a:off x="564515" y="1390650"/>
            <a:ext cx="880554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020001"/>
                </a:solidFill>
                <a:latin typeface="+mn-ea"/>
                <a:ea typeface="+mn-ea"/>
              </a:rPr>
              <a:t>构造下面文法的</a:t>
            </a:r>
            <a:r>
              <a:rPr lang="en-US" altLang="zh-CN" sz="2800" b="1" dirty="0">
                <a:solidFill>
                  <a:srgbClr val="020001"/>
                </a:solidFill>
                <a:latin typeface="+mn-ea"/>
                <a:ea typeface="+mn-ea"/>
              </a:rPr>
              <a:t>LR(1)</a:t>
            </a:r>
            <a:r>
              <a:rPr lang="zh-CN" altLang="en-US" sz="2800" b="1" dirty="0">
                <a:solidFill>
                  <a:srgbClr val="020001"/>
                </a:solidFill>
                <a:latin typeface="+mn-ea"/>
                <a:ea typeface="+mn-ea"/>
              </a:rPr>
              <a:t>分析表：</a:t>
            </a:r>
            <a:endParaRPr lang="zh-CN" altLang="en-US" sz="2800" b="1" dirty="0">
              <a:solidFill>
                <a:srgbClr val="020001"/>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3"/>
          <p:cNvSpPr>
            <a:spLocks noGrp="1"/>
          </p:cNvSpPr>
          <p:nvPr>
            <p:ph type="body" sz="quarter" idx="14"/>
            <p:custDataLst>
              <p:tags r:id="rId1"/>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Box 2"/>
          <p:cNvSpPr txBox="1">
            <a:spLocks noChangeArrowheads="1"/>
          </p:cNvSpPr>
          <p:nvPr/>
        </p:nvSpPr>
        <p:spPr bwMode="auto">
          <a:xfrm>
            <a:off x="6690927" y="3614355"/>
            <a:ext cx="1936377"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020001"/>
                </a:solidFill>
                <a:latin typeface="+mn-ea"/>
              </a:rPr>
              <a:t>(0)</a:t>
            </a:r>
            <a:r>
              <a:rPr lang="en-US" altLang="zh-CN" sz="2400" b="1">
                <a:solidFill>
                  <a:srgbClr val="020001"/>
                </a:solidFill>
                <a:latin typeface="+mn-ea"/>
              </a:rPr>
              <a:t>E'</a:t>
            </a:r>
            <a:r>
              <a:rPr lang="en-US" altLang="zh-CN" sz="2400" b="1">
                <a:solidFill>
                  <a:srgbClr val="020001"/>
                </a:solidFill>
                <a:latin typeface="+mn-ea"/>
                <a:sym typeface="Symbol" panose="05050102010706020507" pitchFamily="18" charset="2"/>
              </a:rPr>
              <a:t></a:t>
            </a:r>
            <a:r>
              <a:rPr lang="en-US" altLang="zh-CN" sz="2400" b="1">
                <a:solidFill>
                  <a:srgbClr val="020001"/>
                </a:solidFill>
                <a:latin typeface="+mn-ea"/>
              </a:rPr>
              <a:t>E   (1)E</a:t>
            </a:r>
            <a:r>
              <a:rPr lang="en-US" altLang="zh-CN" sz="2400" b="1">
                <a:solidFill>
                  <a:srgbClr val="020001"/>
                </a:solidFill>
                <a:latin typeface="+mn-ea"/>
                <a:sym typeface="Symbol" panose="05050102010706020507" pitchFamily="18" charset="2"/>
              </a:rPr>
              <a:t>(L)   </a:t>
            </a:r>
            <a:r>
              <a:rPr lang="en-US" altLang="zh-CN" sz="2400" b="1">
                <a:solidFill>
                  <a:srgbClr val="020001"/>
                </a:solidFill>
                <a:latin typeface="+mn-ea"/>
              </a:rPr>
              <a:t>(2)E</a:t>
            </a:r>
            <a:r>
              <a:rPr lang="en-US" altLang="zh-CN" sz="2400" b="1">
                <a:solidFill>
                  <a:srgbClr val="020001"/>
                </a:solidFill>
                <a:latin typeface="+mn-ea"/>
                <a:sym typeface="Symbol" panose="05050102010706020507" pitchFamily="18" charset="2"/>
              </a:rPr>
              <a:t> a    </a:t>
            </a:r>
            <a:r>
              <a:rPr lang="en-US" altLang="zh-CN" sz="2400" b="1">
                <a:solidFill>
                  <a:srgbClr val="020001"/>
                </a:solidFill>
                <a:latin typeface="+mn-ea"/>
              </a:rPr>
              <a:t>(3)L</a:t>
            </a:r>
            <a:r>
              <a:rPr lang="en-US" altLang="zh-CN" sz="2400" b="1">
                <a:solidFill>
                  <a:srgbClr val="020001"/>
                </a:solidFill>
                <a:latin typeface="+mn-ea"/>
                <a:sym typeface="Symbol" panose="05050102010706020507" pitchFamily="18" charset="2"/>
              </a:rPr>
              <a:t>L,E  </a:t>
            </a:r>
            <a:r>
              <a:rPr lang="en-US" altLang="zh-CN" sz="2400" b="1">
                <a:solidFill>
                  <a:srgbClr val="020001"/>
                </a:solidFill>
                <a:latin typeface="+mn-ea"/>
              </a:rPr>
              <a:t>(4)L</a:t>
            </a:r>
            <a:r>
              <a:rPr lang="en-US" altLang="zh-CN" sz="2400" b="1">
                <a:solidFill>
                  <a:srgbClr val="020001"/>
                </a:solidFill>
                <a:latin typeface="+mn-ea"/>
                <a:sym typeface="Symbol" panose="05050102010706020507" pitchFamily="18" charset="2"/>
              </a:rPr>
              <a:t>E</a:t>
            </a:r>
            <a:endParaRPr lang="en-US" altLang="zh-CN" sz="2400" b="1">
              <a:solidFill>
                <a:srgbClr val="020001"/>
              </a:solidFill>
              <a:latin typeface="+mn-ea"/>
              <a:sym typeface="Symbol" panose="05050102010706020507" pitchFamily="18" charset="2"/>
            </a:endParaRPr>
          </a:p>
          <a:p>
            <a:endParaRPr lang="en-US" altLang="zh-CN" sz="2400" b="1">
              <a:solidFill>
                <a:srgbClr val="020001"/>
              </a:solidFill>
              <a:latin typeface="+mn-ea"/>
              <a:sym typeface="Symbol" panose="05050102010706020507" pitchFamily="18" charset="2"/>
            </a:endParaRPr>
          </a:p>
        </p:txBody>
      </p:sp>
      <p:grpSp>
        <p:nvGrpSpPr>
          <p:cNvPr id="54" name="Group 3"/>
          <p:cNvGrpSpPr/>
          <p:nvPr/>
        </p:nvGrpSpPr>
        <p:grpSpPr bwMode="auto">
          <a:xfrm>
            <a:off x="2565937" y="1252685"/>
            <a:ext cx="2238936" cy="1909747"/>
            <a:chOff x="96" y="213"/>
            <a:chExt cx="1776" cy="1067"/>
          </a:xfrm>
        </p:grpSpPr>
        <p:sp useBgFill="1">
          <p:nvSpPr>
            <p:cNvPr id="56" name="AutoShape 4"/>
            <p:cNvSpPr>
              <a:spLocks noChangeArrowheads="1"/>
            </p:cNvSpPr>
            <p:nvPr/>
          </p:nvSpPr>
          <p:spPr bwMode="auto">
            <a:xfrm>
              <a:off x="96" y="213"/>
              <a:ext cx="1776" cy="1032"/>
            </a:xfrm>
            <a:prstGeom prst="roundRect">
              <a:avLst>
                <a:gd name="adj" fmla="val 16667"/>
              </a:avLst>
            </a:prstGeom>
            <a:ln w="9525">
              <a:solidFill>
                <a:schemeClr val="tx1"/>
              </a:solidFill>
              <a:miter lim="800000"/>
            </a:ln>
          </p:spPr>
          <p:txBody>
            <a:bodyPr wrap="none" anchor="ctr"/>
            <a:lstStyle/>
            <a:p>
              <a:r>
                <a:rPr lang="en-US" altLang="zh-CN" sz="2400" b="1" dirty="0">
                  <a:solidFill>
                    <a:srgbClr val="020001"/>
                  </a:solidFill>
                  <a:latin typeface="+mn-ea"/>
                </a:rPr>
                <a:t>[E’</a:t>
              </a:r>
              <a:r>
                <a:rPr lang="en-US" altLang="zh-CN" sz="2400" b="1" dirty="0">
                  <a:solidFill>
                    <a:srgbClr val="020001"/>
                  </a:solidFill>
                  <a:latin typeface="+mn-ea"/>
                  <a:sym typeface="Symbol" panose="05050102010706020507" pitchFamily="18" charset="2"/>
                </a:rPr>
                <a:t> .E </a:t>
              </a:r>
              <a:r>
                <a:rPr lang="en-US" altLang="zh-CN" sz="2400" b="1" dirty="0">
                  <a:solidFill>
                    <a:srgbClr val="F4007A"/>
                  </a:solidFill>
                  <a:latin typeface="+mn-ea"/>
                  <a:sym typeface="Symbol" panose="05050102010706020507" pitchFamily="18" charset="2"/>
                </a:rPr>
                <a:t> </a:t>
              </a:r>
              <a:r>
                <a:rPr lang="en-US" altLang="zh-CN" sz="2400" b="1" dirty="0">
                  <a:solidFill>
                    <a:srgbClr val="020001"/>
                  </a:solidFill>
                  <a:latin typeface="+mn-ea"/>
                  <a:sym typeface="Symbol" panose="05050102010706020507" pitchFamily="18" charset="2"/>
                </a:rPr>
                <a:t>, </a:t>
              </a:r>
              <a:r>
                <a:rPr lang="en-US" altLang="zh-CN" sz="2400" b="1" dirty="0">
                  <a:solidFill>
                    <a:srgbClr val="F4007A"/>
                  </a:solidFill>
                  <a:latin typeface="+mn-ea"/>
                  <a:sym typeface="Symbol" panose="05050102010706020507" pitchFamily="18" charset="2"/>
                </a:rPr>
                <a:t>$</a:t>
              </a:r>
              <a:r>
                <a:rPr lang="en-US" altLang="zh-CN" sz="2400" b="1" dirty="0">
                  <a:solidFill>
                    <a:srgbClr val="020001"/>
                  </a:solidFill>
                  <a:latin typeface="+mn-ea"/>
                  <a:sym typeface="Symbol" panose="05050102010706020507" pitchFamily="18" charset="2"/>
                </a:rPr>
                <a:t>]</a:t>
              </a:r>
              <a:endParaRPr lang="en-US" altLang="zh-CN" sz="2400" b="1" dirty="0">
                <a:solidFill>
                  <a:srgbClr val="020001"/>
                </a:solidFill>
                <a:latin typeface="+mn-ea"/>
                <a:sym typeface="Symbol" panose="05050102010706020507" pitchFamily="18" charset="2"/>
              </a:endParaRPr>
            </a:p>
            <a:p>
              <a:r>
                <a:rPr lang="en-US" altLang="zh-CN" sz="2400" b="1" dirty="0">
                  <a:solidFill>
                    <a:srgbClr val="020001"/>
                  </a:solidFill>
                  <a:latin typeface="+mn-ea"/>
                </a:rPr>
                <a:t>[E</a:t>
              </a:r>
              <a:r>
                <a:rPr lang="en-US" altLang="zh-CN" sz="2400" b="1" dirty="0">
                  <a:solidFill>
                    <a:srgbClr val="020001"/>
                  </a:solidFill>
                  <a:latin typeface="+mn-ea"/>
                  <a:sym typeface="Symbol" panose="05050102010706020507" pitchFamily="18" charset="2"/>
                </a:rPr>
                <a:t> .(L) , </a:t>
              </a:r>
              <a:r>
                <a:rPr lang="en-US" altLang="zh-CN" sz="2400" b="1" dirty="0">
                  <a:solidFill>
                    <a:srgbClr val="F4007A"/>
                  </a:solidFill>
                  <a:latin typeface="+mn-ea"/>
                  <a:sym typeface="Symbol" panose="05050102010706020507" pitchFamily="18" charset="2"/>
                </a:rPr>
                <a:t>$</a:t>
              </a:r>
              <a:r>
                <a:rPr lang="en-US" altLang="zh-CN" sz="2400" b="1" dirty="0">
                  <a:solidFill>
                    <a:srgbClr val="020001"/>
                  </a:solidFill>
                  <a:latin typeface="+mn-ea"/>
                  <a:sym typeface="Symbol" panose="05050102010706020507" pitchFamily="18" charset="2"/>
                </a:rPr>
                <a:t>]</a:t>
              </a:r>
              <a:endParaRPr lang="en-US" altLang="zh-CN" sz="2400" b="1" dirty="0">
                <a:solidFill>
                  <a:srgbClr val="020001"/>
                </a:solidFill>
                <a:latin typeface="+mn-ea"/>
                <a:sym typeface="Symbol" panose="05050102010706020507" pitchFamily="18" charset="2"/>
              </a:endParaRPr>
            </a:p>
            <a:p>
              <a:r>
                <a:rPr lang="en-US" altLang="zh-CN" sz="2400" b="1" dirty="0">
                  <a:solidFill>
                    <a:srgbClr val="020001"/>
                  </a:solidFill>
                  <a:latin typeface="+mn-ea"/>
                  <a:sym typeface="Symbol" panose="05050102010706020507" pitchFamily="18" charset="2"/>
                </a:rPr>
                <a:t>[</a:t>
              </a:r>
              <a:r>
                <a:rPr lang="en-US" altLang="zh-CN" sz="2400" b="1" dirty="0" err="1">
                  <a:solidFill>
                    <a:srgbClr val="020001"/>
                  </a:solidFill>
                  <a:latin typeface="+mn-ea"/>
                  <a:sym typeface="Symbol" panose="05050102010706020507" pitchFamily="18" charset="2"/>
                </a:rPr>
                <a:t>E.a</a:t>
              </a:r>
              <a:r>
                <a:rPr lang="en-US" altLang="zh-CN" sz="2400" b="1" dirty="0">
                  <a:solidFill>
                    <a:srgbClr val="020001"/>
                  </a:solidFill>
                  <a:latin typeface="+mn-ea"/>
                  <a:sym typeface="Symbol" panose="05050102010706020507" pitchFamily="18" charset="2"/>
                </a:rPr>
                <a:t>   , </a:t>
              </a:r>
              <a:r>
                <a:rPr lang="en-US" altLang="zh-CN" sz="2400" b="1" dirty="0">
                  <a:solidFill>
                    <a:srgbClr val="F4007A"/>
                  </a:solidFill>
                  <a:latin typeface="+mn-ea"/>
                  <a:sym typeface="Symbol" panose="05050102010706020507" pitchFamily="18" charset="2"/>
                </a:rPr>
                <a:t>$</a:t>
              </a:r>
              <a:r>
                <a:rPr lang="en-US" altLang="zh-CN" sz="2400" b="1" dirty="0">
                  <a:solidFill>
                    <a:srgbClr val="020001"/>
                  </a:solidFill>
                  <a:latin typeface="+mn-ea"/>
                  <a:sym typeface="Symbol" panose="05050102010706020507" pitchFamily="18" charset="2"/>
                </a:rPr>
                <a:t>]</a:t>
              </a:r>
              <a:r>
                <a:rPr lang="zh-CN" altLang="en-US" sz="2400" b="1" dirty="0">
                  <a:solidFill>
                    <a:srgbClr val="020001"/>
                  </a:solidFill>
                  <a:latin typeface="+mn-ea"/>
                </a:rPr>
                <a:t>  </a:t>
              </a:r>
              <a:endParaRPr lang="zh-CN" altLang="en-US" sz="2400" b="1" dirty="0">
                <a:solidFill>
                  <a:srgbClr val="020001"/>
                </a:solidFill>
                <a:latin typeface="+mn-ea"/>
              </a:endParaRPr>
            </a:p>
          </p:txBody>
        </p:sp>
        <p:sp useBgFill="1">
          <p:nvSpPr>
            <p:cNvPr id="57" name="Oval 5"/>
            <p:cNvSpPr>
              <a:spLocks noChangeArrowheads="1"/>
            </p:cNvSpPr>
            <p:nvPr/>
          </p:nvSpPr>
          <p:spPr bwMode="auto">
            <a:xfrm>
              <a:off x="1518" y="1008"/>
              <a:ext cx="354" cy="272"/>
            </a:xfrm>
            <a:prstGeom prst="ellipse">
              <a:avLst/>
            </a:prstGeom>
            <a:ln w="9525">
              <a:solidFill>
                <a:srgbClr val="020001"/>
              </a:solidFill>
              <a:miter lim="800000"/>
            </a:ln>
          </p:spPr>
          <p:txBody>
            <a:bodyPr wrap="none" anchor="ctr"/>
            <a:lstStyle/>
            <a:p>
              <a:pPr algn="ctr"/>
              <a:r>
                <a:rPr lang="zh-CN" altLang="en-US" sz="2400" b="1" dirty="0">
                  <a:solidFill>
                    <a:srgbClr val="020001"/>
                  </a:solidFill>
                  <a:latin typeface="+mn-ea"/>
                </a:rPr>
                <a:t>0</a:t>
              </a:r>
              <a:endParaRPr lang="zh-CN" altLang="en-US" sz="2400" b="1" dirty="0">
                <a:solidFill>
                  <a:srgbClr val="020001"/>
                </a:solidFill>
                <a:latin typeface="+mn-ea"/>
              </a:endParaRPr>
            </a:p>
          </p:txBody>
        </p:sp>
      </p:grpSp>
      <p:grpSp>
        <p:nvGrpSpPr>
          <p:cNvPr id="58" name="Group 6"/>
          <p:cNvGrpSpPr/>
          <p:nvPr/>
        </p:nvGrpSpPr>
        <p:grpSpPr bwMode="auto">
          <a:xfrm>
            <a:off x="4858870" y="1312854"/>
            <a:ext cx="726141" cy="502942"/>
            <a:chOff x="1920" y="199"/>
            <a:chExt cx="576" cy="281"/>
          </a:xfrm>
        </p:grpSpPr>
        <p:sp>
          <p:nvSpPr>
            <p:cNvPr id="59" name="Line 7"/>
            <p:cNvSpPr>
              <a:spLocks noChangeShapeType="1"/>
            </p:cNvSpPr>
            <p:nvPr/>
          </p:nvSpPr>
          <p:spPr bwMode="auto">
            <a:xfrm>
              <a:off x="1920" y="480"/>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60" name="Rectangle 8"/>
            <p:cNvSpPr>
              <a:spLocks noChangeArrowheads="1"/>
            </p:cNvSpPr>
            <p:nvPr/>
          </p:nvSpPr>
          <p:spPr bwMode="auto">
            <a:xfrm>
              <a:off x="2064" y="199"/>
              <a:ext cx="27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solidFill>
                    <a:srgbClr val="020001"/>
                  </a:solidFill>
                  <a:latin typeface="+mn-ea"/>
                  <a:sym typeface="Symbol" panose="05050102010706020507" pitchFamily="18" charset="2"/>
                </a:rPr>
                <a:t>E</a:t>
              </a:r>
              <a:endParaRPr lang="zh-CN" altLang="en-US" sz="2400" b="1" dirty="0">
                <a:solidFill>
                  <a:srgbClr val="020001"/>
                </a:solidFill>
                <a:latin typeface="+mn-ea"/>
                <a:sym typeface="Symbol" panose="05050102010706020507" pitchFamily="18" charset="2"/>
              </a:endParaRPr>
            </a:p>
          </p:txBody>
        </p:sp>
      </p:grpSp>
      <p:sp useBgFill="1">
        <p:nvSpPr>
          <p:cNvPr id="61" name="AutoShape 9"/>
          <p:cNvSpPr>
            <a:spLocks noChangeArrowheads="1"/>
          </p:cNvSpPr>
          <p:nvPr/>
        </p:nvSpPr>
        <p:spPr bwMode="auto">
          <a:xfrm>
            <a:off x="5620662" y="1308667"/>
            <a:ext cx="1936377" cy="773206"/>
          </a:xfrm>
          <a:prstGeom prst="roundRect">
            <a:avLst>
              <a:gd name="adj" fmla="val 16667"/>
            </a:avLst>
          </a:prstGeom>
          <a:ln w="9525">
            <a:solidFill>
              <a:schemeClr val="tx1"/>
            </a:solidFill>
            <a:miter lim="800000"/>
          </a:ln>
        </p:spPr>
        <p:txBody>
          <a:bodyPr wrap="none" anchor="ctr"/>
          <a:lstStyle/>
          <a:p>
            <a:r>
              <a:rPr lang="en-US" altLang="zh-CN" sz="2400" b="1">
                <a:solidFill>
                  <a:srgbClr val="020001"/>
                </a:solidFill>
                <a:latin typeface="+mn-ea"/>
              </a:rPr>
              <a:t>[E’</a:t>
            </a:r>
            <a:r>
              <a:rPr lang="en-US" altLang="zh-CN" sz="2400" b="1">
                <a:solidFill>
                  <a:srgbClr val="020001"/>
                </a:solidFill>
                <a:latin typeface="+mn-ea"/>
                <a:sym typeface="Symbol" panose="05050102010706020507" pitchFamily="18" charset="2"/>
              </a:rPr>
              <a:t> E.,</a:t>
            </a:r>
            <a:r>
              <a:rPr lang="en-US" altLang="zh-CN" sz="2400" b="1">
                <a:solidFill>
                  <a:srgbClr val="F4007A"/>
                </a:solidFill>
                <a:latin typeface="+mn-ea"/>
                <a:sym typeface="Symbol" panose="05050102010706020507" pitchFamily="18" charset="2"/>
              </a:rPr>
              <a:t>$</a:t>
            </a:r>
            <a:r>
              <a:rPr lang="en-US" altLang="zh-CN" sz="2400" b="1">
                <a:solidFill>
                  <a:srgbClr val="020001"/>
                </a:solidFill>
                <a:latin typeface="+mn-ea"/>
                <a:sym typeface="Symbol" panose="05050102010706020507" pitchFamily="18" charset="2"/>
              </a:rPr>
              <a:t>]</a:t>
            </a:r>
            <a:endParaRPr lang="zh-CN" altLang="en-US" sz="2400" b="1">
              <a:solidFill>
                <a:srgbClr val="020001"/>
              </a:solidFill>
              <a:latin typeface="+mn-ea"/>
            </a:endParaRPr>
          </a:p>
        </p:txBody>
      </p:sp>
      <p:sp useBgFill="1">
        <p:nvSpPr>
          <p:cNvPr id="62" name="Oval 10"/>
          <p:cNvSpPr>
            <a:spLocks noChangeArrowheads="1"/>
          </p:cNvSpPr>
          <p:nvPr/>
        </p:nvSpPr>
        <p:spPr bwMode="auto">
          <a:xfrm>
            <a:off x="7437342" y="1884549"/>
            <a:ext cx="363071" cy="343647"/>
          </a:xfrm>
          <a:prstGeom prst="ellipse">
            <a:avLst/>
          </a:prstGeom>
          <a:ln w="9525">
            <a:solidFill>
              <a:srgbClr val="020001"/>
            </a:solidFill>
            <a:miter lim="800000"/>
          </a:ln>
        </p:spPr>
        <p:txBody>
          <a:bodyPr wrap="none" anchor="ctr"/>
          <a:lstStyle/>
          <a:p>
            <a:pPr algn="ctr"/>
            <a:r>
              <a:rPr lang="zh-CN" altLang="en-US" sz="2400" b="1" dirty="0">
                <a:solidFill>
                  <a:srgbClr val="020001"/>
                </a:solidFill>
                <a:latin typeface="+mn-ea"/>
              </a:rPr>
              <a:t>1</a:t>
            </a:r>
            <a:endParaRPr lang="zh-CN" altLang="en-US" sz="2400" b="1" dirty="0">
              <a:solidFill>
                <a:srgbClr val="020001"/>
              </a:solidFill>
              <a:latin typeface="+mn-ea"/>
            </a:endParaRPr>
          </a:p>
        </p:txBody>
      </p:sp>
      <p:grpSp>
        <p:nvGrpSpPr>
          <p:cNvPr id="63" name="Group 11"/>
          <p:cNvGrpSpPr/>
          <p:nvPr/>
        </p:nvGrpSpPr>
        <p:grpSpPr bwMode="auto">
          <a:xfrm>
            <a:off x="2767645" y="3035264"/>
            <a:ext cx="2359959" cy="2138813"/>
            <a:chOff x="288" y="1188"/>
            <a:chExt cx="1872" cy="1452"/>
          </a:xfrm>
        </p:grpSpPr>
        <p:grpSp>
          <p:nvGrpSpPr>
            <p:cNvPr id="64" name="Group 12"/>
            <p:cNvGrpSpPr/>
            <p:nvPr/>
          </p:nvGrpSpPr>
          <p:grpSpPr bwMode="auto">
            <a:xfrm>
              <a:off x="816" y="1188"/>
              <a:ext cx="273" cy="405"/>
              <a:chOff x="816" y="1188"/>
              <a:chExt cx="273" cy="405"/>
            </a:xfrm>
          </p:grpSpPr>
          <p:sp>
            <p:nvSpPr>
              <p:cNvPr id="67" name="Line 13"/>
              <p:cNvSpPr>
                <a:spLocks noChangeShapeType="1"/>
              </p:cNvSpPr>
              <p:nvPr/>
            </p:nvSpPr>
            <p:spPr bwMode="auto">
              <a:xfrm>
                <a:off x="816" y="1248"/>
                <a:ext cx="0" cy="34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68" name="Rectangle 14"/>
              <p:cNvSpPr>
                <a:spLocks noChangeArrowheads="1"/>
              </p:cNvSpPr>
              <p:nvPr/>
            </p:nvSpPr>
            <p:spPr bwMode="auto">
              <a:xfrm>
                <a:off x="864" y="1188"/>
                <a:ext cx="22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001"/>
                    </a:solidFill>
                    <a:latin typeface="+mn-ea"/>
                    <a:sym typeface="Symbol" panose="05050102010706020507" pitchFamily="18" charset="2"/>
                  </a:rPr>
                  <a:t>(</a:t>
                </a:r>
                <a:endParaRPr lang="en-US" altLang="zh-CN" sz="2400" b="1">
                  <a:solidFill>
                    <a:srgbClr val="020001"/>
                  </a:solidFill>
                  <a:latin typeface="+mn-ea"/>
                  <a:sym typeface="Symbol" panose="05050102010706020507" pitchFamily="18" charset="2"/>
                </a:endParaRPr>
              </a:p>
            </p:txBody>
          </p:sp>
        </p:grpSp>
        <p:sp useBgFill="1">
          <p:nvSpPr>
            <p:cNvPr id="65" name="AutoShape 15"/>
            <p:cNvSpPr>
              <a:spLocks noChangeArrowheads="1"/>
            </p:cNvSpPr>
            <p:nvPr/>
          </p:nvSpPr>
          <p:spPr bwMode="auto">
            <a:xfrm>
              <a:off x="288" y="1584"/>
              <a:ext cx="1872" cy="953"/>
            </a:xfrm>
            <a:prstGeom prst="roundRect">
              <a:avLst>
                <a:gd name="adj" fmla="val 16667"/>
              </a:avLst>
            </a:prstGeom>
            <a:ln w="9525">
              <a:solidFill>
                <a:schemeClr val="tx1"/>
              </a:solidFill>
              <a:miter lim="800000"/>
            </a:ln>
          </p:spPr>
          <p:txBody>
            <a:bodyPr wrap="none" anchor="ctr"/>
            <a:lstStyle/>
            <a:p>
              <a:endParaRPr lang="zh-CN" altLang="en-US" sz="2400" b="1">
                <a:solidFill>
                  <a:srgbClr val="020001"/>
                </a:solidFill>
                <a:latin typeface="+mn-ea"/>
              </a:endParaRPr>
            </a:p>
          </p:txBody>
        </p:sp>
        <p:sp useBgFill="1">
          <p:nvSpPr>
            <p:cNvPr id="66" name="Oval 16"/>
            <p:cNvSpPr>
              <a:spLocks noChangeArrowheads="1"/>
            </p:cNvSpPr>
            <p:nvPr/>
          </p:nvSpPr>
          <p:spPr bwMode="auto">
            <a:xfrm>
              <a:off x="1808" y="2340"/>
              <a:ext cx="334" cy="300"/>
            </a:xfrm>
            <a:prstGeom prst="ellipse">
              <a:avLst/>
            </a:prstGeom>
            <a:ln w="9525">
              <a:solidFill>
                <a:srgbClr val="020001"/>
              </a:solidFill>
              <a:miter lim="800000"/>
            </a:ln>
          </p:spPr>
          <p:txBody>
            <a:bodyPr wrap="none" anchor="ctr"/>
            <a:lstStyle/>
            <a:p>
              <a:pPr algn="ctr"/>
              <a:r>
                <a:rPr lang="zh-CN" altLang="en-US" sz="2400" b="1" dirty="0">
                  <a:solidFill>
                    <a:srgbClr val="020001"/>
                  </a:solidFill>
                  <a:latin typeface="+mn-ea"/>
                </a:rPr>
                <a:t>2</a:t>
              </a:r>
              <a:endParaRPr lang="zh-CN" altLang="en-US" sz="2400" b="1" dirty="0">
                <a:solidFill>
                  <a:srgbClr val="020001"/>
                </a:solidFill>
                <a:latin typeface="+mn-ea"/>
              </a:endParaRPr>
            </a:p>
          </p:txBody>
        </p:sp>
      </p:grpSp>
      <p:grpSp>
        <p:nvGrpSpPr>
          <p:cNvPr id="69" name="Group 18"/>
          <p:cNvGrpSpPr/>
          <p:nvPr/>
        </p:nvGrpSpPr>
        <p:grpSpPr bwMode="auto">
          <a:xfrm>
            <a:off x="5662227" y="2323039"/>
            <a:ext cx="2063704" cy="909233"/>
            <a:chOff x="2448" y="696"/>
            <a:chExt cx="1637" cy="508"/>
          </a:xfrm>
        </p:grpSpPr>
        <p:sp useBgFill="1">
          <p:nvSpPr>
            <p:cNvPr id="70" name="AutoShape 19"/>
            <p:cNvSpPr>
              <a:spLocks noChangeArrowheads="1"/>
            </p:cNvSpPr>
            <p:nvPr/>
          </p:nvSpPr>
          <p:spPr bwMode="auto">
            <a:xfrm>
              <a:off x="2448" y="696"/>
              <a:ext cx="1584" cy="456"/>
            </a:xfrm>
            <a:prstGeom prst="roundRect">
              <a:avLst>
                <a:gd name="adj" fmla="val 16667"/>
              </a:avLst>
            </a:prstGeom>
            <a:ln w="9525">
              <a:solidFill>
                <a:schemeClr val="tx1"/>
              </a:solidFill>
              <a:miter lim="800000"/>
            </a:ln>
          </p:spPr>
          <p:txBody>
            <a:bodyPr wrap="none" anchor="ctr"/>
            <a:lstStyle/>
            <a:p>
              <a:r>
                <a:rPr lang="en-US" altLang="zh-CN" sz="2400" b="1">
                  <a:solidFill>
                    <a:srgbClr val="020001"/>
                  </a:solidFill>
                  <a:latin typeface="+mn-ea"/>
                </a:rPr>
                <a:t>[E </a:t>
              </a:r>
              <a:r>
                <a:rPr lang="en-US" altLang="zh-CN" sz="2400" b="1">
                  <a:solidFill>
                    <a:srgbClr val="020001"/>
                  </a:solidFill>
                  <a:latin typeface="+mn-ea"/>
                  <a:sym typeface="Symbol" panose="05050102010706020507" pitchFamily="18" charset="2"/>
                </a:rPr>
                <a:t> a. , </a:t>
              </a:r>
              <a:r>
                <a:rPr lang="en-US" altLang="zh-CN" sz="2400" b="1">
                  <a:solidFill>
                    <a:srgbClr val="F4007A"/>
                  </a:solidFill>
                  <a:latin typeface="+mn-ea"/>
                  <a:sym typeface="Symbol" panose="05050102010706020507" pitchFamily="18" charset="2"/>
                </a:rPr>
                <a:t>$</a:t>
              </a:r>
              <a:r>
                <a:rPr lang="en-US" altLang="zh-CN" sz="2400" b="1">
                  <a:solidFill>
                    <a:srgbClr val="020001"/>
                  </a:solidFill>
                  <a:latin typeface="+mn-ea"/>
                  <a:sym typeface="Symbol" panose="05050102010706020507" pitchFamily="18" charset="2"/>
                </a:rPr>
                <a:t> ]</a:t>
              </a:r>
              <a:endParaRPr lang="zh-CN" altLang="en-US" sz="2400" b="1">
                <a:solidFill>
                  <a:srgbClr val="020001"/>
                </a:solidFill>
                <a:latin typeface="+mn-ea"/>
              </a:endParaRPr>
            </a:p>
          </p:txBody>
        </p:sp>
        <p:sp useBgFill="1">
          <p:nvSpPr>
            <p:cNvPr id="71" name="Oval 20"/>
            <p:cNvSpPr>
              <a:spLocks noChangeArrowheads="1"/>
            </p:cNvSpPr>
            <p:nvPr/>
          </p:nvSpPr>
          <p:spPr bwMode="auto">
            <a:xfrm>
              <a:off x="3797" y="1012"/>
              <a:ext cx="288" cy="192"/>
            </a:xfrm>
            <a:prstGeom prst="ellipse">
              <a:avLst/>
            </a:prstGeom>
            <a:ln w="9525">
              <a:solidFill>
                <a:srgbClr val="020001"/>
              </a:solidFill>
              <a:miter lim="800000"/>
            </a:ln>
          </p:spPr>
          <p:txBody>
            <a:bodyPr wrap="none" anchor="ctr"/>
            <a:lstStyle/>
            <a:p>
              <a:pPr algn="ctr"/>
              <a:r>
                <a:rPr lang="zh-CN" altLang="en-US" sz="2400" b="1" dirty="0">
                  <a:solidFill>
                    <a:srgbClr val="020001"/>
                  </a:solidFill>
                  <a:latin typeface="+mn-ea"/>
                </a:rPr>
                <a:t>3</a:t>
              </a:r>
              <a:endParaRPr lang="zh-CN" altLang="en-US" sz="2400" b="1" dirty="0">
                <a:solidFill>
                  <a:srgbClr val="020001"/>
                </a:solidFill>
                <a:latin typeface="+mn-ea"/>
              </a:endParaRPr>
            </a:p>
          </p:txBody>
        </p:sp>
      </p:grpSp>
      <p:grpSp>
        <p:nvGrpSpPr>
          <p:cNvPr id="72" name="Group 21"/>
          <p:cNvGrpSpPr/>
          <p:nvPr/>
        </p:nvGrpSpPr>
        <p:grpSpPr bwMode="auto">
          <a:xfrm>
            <a:off x="4816286" y="2214242"/>
            <a:ext cx="845942" cy="515472"/>
            <a:chOff x="1920" y="576"/>
            <a:chExt cx="528" cy="288"/>
          </a:xfrm>
        </p:grpSpPr>
        <p:sp>
          <p:nvSpPr>
            <p:cNvPr id="73" name="Line 22"/>
            <p:cNvSpPr>
              <a:spLocks noChangeShapeType="1"/>
            </p:cNvSpPr>
            <p:nvPr/>
          </p:nvSpPr>
          <p:spPr bwMode="auto">
            <a:xfrm>
              <a:off x="1920" y="864"/>
              <a:ext cx="52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74" name="Rectangle 23"/>
            <p:cNvSpPr>
              <a:spLocks noChangeArrowheads="1"/>
            </p:cNvSpPr>
            <p:nvPr/>
          </p:nvSpPr>
          <p:spPr bwMode="auto">
            <a:xfrm>
              <a:off x="2064" y="576"/>
              <a:ext cx="19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20001"/>
                  </a:solidFill>
                  <a:latin typeface="+mn-ea"/>
                  <a:sym typeface="Symbol" panose="05050102010706020507" pitchFamily="18" charset="2"/>
                </a:rPr>
                <a:t>a</a:t>
              </a:r>
              <a:endParaRPr lang="zh-CN" altLang="en-US" sz="2400" b="1">
                <a:solidFill>
                  <a:srgbClr val="020001"/>
                </a:solidFill>
                <a:latin typeface="+mn-ea"/>
                <a:sym typeface="Symbol" panose="05050102010706020507" pitchFamily="18" charset="2"/>
              </a:endParaRPr>
            </a:p>
          </p:txBody>
        </p:sp>
      </p:grpSp>
      <p:grpSp>
        <p:nvGrpSpPr>
          <p:cNvPr id="75" name="Group 24"/>
          <p:cNvGrpSpPr/>
          <p:nvPr/>
        </p:nvGrpSpPr>
        <p:grpSpPr bwMode="auto">
          <a:xfrm>
            <a:off x="3654369" y="5097998"/>
            <a:ext cx="295412" cy="875180"/>
            <a:chOff x="624" y="2592"/>
            <a:chExt cx="240" cy="768"/>
          </a:xfrm>
        </p:grpSpPr>
        <p:sp>
          <p:nvSpPr>
            <p:cNvPr id="76" name="Line 25"/>
            <p:cNvSpPr>
              <a:spLocks noChangeShapeType="1"/>
            </p:cNvSpPr>
            <p:nvPr/>
          </p:nvSpPr>
          <p:spPr bwMode="auto">
            <a:xfrm flipH="1">
              <a:off x="864" y="2592"/>
              <a:ext cx="0" cy="76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77" name="Rectangle 26"/>
            <p:cNvSpPr>
              <a:spLocks noChangeArrowheads="1"/>
            </p:cNvSpPr>
            <p:nvPr/>
          </p:nvSpPr>
          <p:spPr bwMode="auto">
            <a:xfrm>
              <a:off x="624" y="2784"/>
              <a:ext cx="2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20001"/>
                  </a:solidFill>
                  <a:latin typeface="+mn-ea"/>
                  <a:sym typeface="Symbol" panose="05050102010706020507" pitchFamily="18" charset="2"/>
                </a:rPr>
                <a:t>L</a:t>
              </a:r>
              <a:endParaRPr lang="en-US" altLang="zh-CN" sz="2400" b="1">
                <a:solidFill>
                  <a:srgbClr val="020001"/>
                </a:solidFill>
                <a:latin typeface="+mn-ea"/>
                <a:sym typeface="Symbol" panose="05050102010706020507" pitchFamily="18" charset="2"/>
              </a:endParaRPr>
            </a:p>
          </p:txBody>
        </p:sp>
      </p:grpSp>
      <p:grpSp>
        <p:nvGrpSpPr>
          <p:cNvPr id="78" name="Group 27"/>
          <p:cNvGrpSpPr/>
          <p:nvPr/>
        </p:nvGrpSpPr>
        <p:grpSpPr bwMode="auto">
          <a:xfrm>
            <a:off x="5146514" y="3848898"/>
            <a:ext cx="1270747" cy="459987"/>
            <a:chOff x="2160" y="1776"/>
            <a:chExt cx="1008" cy="257"/>
          </a:xfrm>
        </p:grpSpPr>
        <p:sp>
          <p:nvSpPr>
            <p:cNvPr id="79" name="Line 28"/>
            <p:cNvSpPr>
              <a:spLocks noChangeShapeType="1"/>
            </p:cNvSpPr>
            <p:nvPr/>
          </p:nvSpPr>
          <p:spPr bwMode="auto">
            <a:xfrm>
              <a:off x="2160" y="1872"/>
              <a:ext cx="100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80" name="Rectangle 29"/>
            <p:cNvSpPr>
              <a:spLocks noChangeArrowheads="1"/>
            </p:cNvSpPr>
            <p:nvPr/>
          </p:nvSpPr>
          <p:spPr bwMode="auto">
            <a:xfrm>
              <a:off x="2448" y="1776"/>
              <a:ext cx="27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001"/>
                  </a:solidFill>
                  <a:latin typeface="+mn-ea"/>
                  <a:sym typeface="Symbol" panose="05050102010706020507" pitchFamily="18" charset="2"/>
                </a:rPr>
                <a:t>E</a:t>
              </a:r>
              <a:endParaRPr lang="zh-CN" altLang="en-US" sz="2400" b="1">
                <a:solidFill>
                  <a:srgbClr val="020001"/>
                </a:solidFill>
                <a:latin typeface="+mn-ea"/>
                <a:sym typeface="Symbol" panose="05050102010706020507" pitchFamily="18" charset="2"/>
              </a:endParaRPr>
            </a:p>
          </p:txBody>
        </p:sp>
      </p:grpSp>
      <p:grpSp>
        <p:nvGrpSpPr>
          <p:cNvPr id="81" name="Group 30"/>
          <p:cNvGrpSpPr/>
          <p:nvPr/>
        </p:nvGrpSpPr>
        <p:grpSpPr bwMode="auto">
          <a:xfrm>
            <a:off x="5127604" y="4577157"/>
            <a:ext cx="1270747" cy="459987"/>
            <a:chOff x="2064" y="2292"/>
            <a:chExt cx="1200" cy="257"/>
          </a:xfrm>
        </p:grpSpPr>
        <p:sp>
          <p:nvSpPr>
            <p:cNvPr id="82" name="Rectangle 31"/>
            <p:cNvSpPr>
              <a:spLocks noChangeArrowheads="1"/>
            </p:cNvSpPr>
            <p:nvPr/>
          </p:nvSpPr>
          <p:spPr bwMode="auto">
            <a:xfrm>
              <a:off x="2427" y="2292"/>
              <a:ext cx="26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001"/>
                  </a:solidFill>
                  <a:latin typeface="+mn-ea"/>
                  <a:sym typeface="Symbol" panose="05050102010706020507" pitchFamily="18" charset="2"/>
                </a:rPr>
                <a:t>(</a:t>
              </a:r>
              <a:endParaRPr lang="en-US" altLang="zh-CN" sz="2400" b="1">
                <a:solidFill>
                  <a:srgbClr val="020001"/>
                </a:solidFill>
                <a:latin typeface="+mn-ea"/>
                <a:sym typeface="Symbol" panose="05050102010706020507" pitchFamily="18" charset="2"/>
              </a:endParaRPr>
            </a:p>
          </p:txBody>
        </p:sp>
        <p:sp>
          <p:nvSpPr>
            <p:cNvPr id="83" name="Line 32"/>
            <p:cNvSpPr>
              <a:spLocks noChangeShapeType="1"/>
            </p:cNvSpPr>
            <p:nvPr/>
          </p:nvSpPr>
          <p:spPr bwMode="auto">
            <a:xfrm>
              <a:off x="2064" y="2352"/>
              <a:ext cx="1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grpSp>
      <p:grpSp>
        <p:nvGrpSpPr>
          <p:cNvPr id="84" name="Group 33"/>
          <p:cNvGrpSpPr/>
          <p:nvPr/>
        </p:nvGrpSpPr>
        <p:grpSpPr bwMode="auto">
          <a:xfrm>
            <a:off x="5105121" y="5137633"/>
            <a:ext cx="909487" cy="1026108"/>
            <a:chOff x="1750" y="2719"/>
            <a:chExt cx="680" cy="1013"/>
          </a:xfrm>
        </p:grpSpPr>
        <p:sp>
          <p:nvSpPr>
            <p:cNvPr id="85" name="Line 34"/>
            <p:cNvSpPr>
              <a:spLocks noChangeShapeType="1"/>
            </p:cNvSpPr>
            <p:nvPr/>
          </p:nvSpPr>
          <p:spPr bwMode="auto">
            <a:xfrm>
              <a:off x="1750" y="2719"/>
              <a:ext cx="680" cy="1013"/>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86" name="Rectangle 35"/>
            <p:cNvSpPr>
              <a:spLocks noChangeArrowheads="1"/>
            </p:cNvSpPr>
            <p:nvPr/>
          </p:nvSpPr>
          <p:spPr bwMode="auto">
            <a:xfrm>
              <a:off x="2010" y="2758"/>
              <a:ext cx="256"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solidFill>
                    <a:srgbClr val="020001"/>
                  </a:solidFill>
                  <a:latin typeface="+mn-ea"/>
                  <a:sym typeface="Symbol" panose="05050102010706020507" pitchFamily="18" charset="2"/>
                </a:rPr>
                <a:t>a</a:t>
              </a:r>
              <a:endParaRPr lang="zh-CN" altLang="en-US" sz="2400" b="1" dirty="0">
                <a:solidFill>
                  <a:srgbClr val="020001"/>
                </a:solidFill>
                <a:latin typeface="+mn-ea"/>
                <a:sym typeface="Symbol" panose="05050102010706020507" pitchFamily="18" charset="2"/>
              </a:endParaRPr>
            </a:p>
          </p:txBody>
        </p:sp>
      </p:grpSp>
      <p:sp>
        <p:nvSpPr>
          <p:cNvPr id="87" name="Rectangle 36"/>
          <p:cNvSpPr>
            <a:spLocks noChangeArrowheads="1"/>
          </p:cNvSpPr>
          <p:nvPr/>
        </p:nvSpPr>
        <p:spPr bwMode="auto">
          <a:xfrm>
            <a:off x="2767645" y="3752854"/>
            <a:ext cx="2359959"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a:solidFill>
                  <a:srgbClr val="FF3399"/>
                </a:solidFill>
                <a:latin typeface="+mn-ea"/>
              </a:rPr>
              <a:t>[E</a:t>
            </a:r>
            <a:r>
              <a:rPr lang="en-US" altLang="zh-CN" sz="2400" b="1">
                <a:solidFill>
                  <a:srgbClr val="FF3399"/>
                </a:solidFill>
                <a:latin typeface="+mn-ea"/>
                <a:sym typeface="Symbol" panose="05050102010706020507" pitchFamily="18" charset="2"/>
              </a:rPr>
              <a:t> (.L)  ,  $]</a:t>
            </a:r>
            <a:endParaRPr lang="en-US" altLang="zh-CN" sz="2400" b="1">
              <a:solidFill>
                <a:srgbClr val="FF3399"/>
              </a:solidFill>
              <a:latin typeface="+mn-ea"/>
              <a:sym typeface="Symbol" panose="05050102010706020507" pitchFamily="18" charset="2"/>
            </a:endParaRPr>
          </a:p>
          <a:p>
            <a:pPr>
              <a:spcBef>
                <a:spcPct val="50000"/>
              </a:spcBef>
            </a:pPr>
            <a:r>
              <a:rPr lang="zh-CN" altLang="en-US" sz="2400" b="1">
                <a:solidFill>
                  <a:srgbClr val="020001"/>
                </a:solidFill>
                <a:latin typeface="+mn-ea"/>
                <a:sym typeface="Symbol" panose="05050102010706020507" pitchFamily="18" charset="2"/>
              </a:rPr>
              <a:t>……</a:t>
            </a:r>
            <a:endParaRPr lang="zh-CN" altLang="en-US" sz="2400" b="1">
              <a:solidFill>
                <a:srgbClr val="020001"/>
              </a:solidFill>
              <a:latin typeface="+mn-ea"/>
              <a:sym typeface="Symbol" panose="05050102010706020507" pitchFamily="18" charset="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3"/>
          <p:cNvSpPr>
            <a:spLocks noGrp="1"/>
          </p:cNvSpPr>
          <p:nvPr>
            <p:ph type="body" sz="quarter" idx="14"/>
            <p:custDataLst>
              <p:tags r:id="rId1"/>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7" name="AutoShape 2"/>
          <p:cNvSpPr>
            <a:spLocks noChangeArrowheads="1"/>
          </p:cNvSpPr>
          <p:nvPr/>
        </p:nvSpPr>
        <p:spPr bwMode="auto">
          <a:xfrm>
            <a:off x="2357578" y="1579457"/>
            <a:ext cx="2178423" cy="4025153"/>
          </a:xfrm>
          <a:prstGeom prst="roundRect">
            <a:avLst>
              <a:gd name="adj" fmla="val 16667"/>
            </a:avLst>
          </a:prstGeom>
          <a:ln w="9525">
            <a:solidFill>
              <a:schemeClr val="tx1"/>
            </a:solidFill>
            <a:miter lim="800000"/>
          </a:ln>
        </p:spPr>
        <p:txBody>
          <a:bodyPr wrap="none" anchor="ctr"/>
          <a:lstStyle/>
          <a:p>
            <a:r>
              <a:rPr lang="en-US" altLang="zh-CN" sz="2400">
                <a:solidFill>
                  <a:srgbClr val="F4007A"/>
                </a:solidFill>
              </a:rPr>
              <a:t>[E</a:t>
            </a:r>
            <a:r>
              <a:rPr lang="en-US" altLang="zh-CN" sz="2400">
                <a:solidFill>
                  <a:srgbClr val="F4007A"/>
                </a:solidFill>
                <a:sym typeface="Symbol" panose="05050102010706020507" pitchFamily="18" charset="2"/>
              </a:rPr>
              <a:t> (.L)  </a:t>
            </a:r>
            <a:r>
              <a:rPr lang="en-US" altLang="zh-CN"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  $]</a:t>
            </a:r>
            <a:endParaRPr lang="en-US" altLang="zh-CN" sz="2400">
              <a:solidFill>
                <a:srgbClr val="F4007A"/>
              </a:solidFill>
              <a:sym typeface="Symbol" panose="05050102010706020507" pitchFamily="18" charset="2"/>
            </a:endParaRPr>
          </a:p>
          <a:p>
            <a:r>
              <a:rPr lang="en-US" altLang="zh-CN" sz="2400">
                <a:solidFill>
                  <a:srgbClr val="020001"/>
                </a:solidFill>
                <a:sym typeface="Symbol" panose="05050102010706020507" pitchFamily="18" charset="2"/>
              </a:rPr>
              <a:t>[L .E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sym typeface="Symbol" panose="05050102010706020507" pitchFamily="18" charset="2"/>
              </a:rPr>
              <a:t>[L .L,E  ,</a:t>
            </a:r>
            <a:r>
              <a:rPr lang="en-US" altLang="zh-CN" sz="2400">
                <a:solidFill>
                  <a:srgbClr val="F4007A"/>
                </a:solidFill>
                <a:sym typeface="Symbol" panose="05050102010706020507" pitchFamily="18" charset="2"/>
              </a:rPr>
              <a:t>  )</a:t>
            </a:r>
            <a:r>
              <a:rPr lang="en-US" altLang="zh-CN" sz="2400">
                <a:solidFill>
                  <a:srgbClr val="020001"/>
                </a:solidFill>
                <a:sym typeface="Symbol" panose="05050102010706020507" pitchFamily="18" charset="2"/>
              </a:rPr>
              <a:t>]</a:t>
            </a:r>
            <a:endParaRPr lang="en-US" altLang="zh-CN" sz="2400">
              <a:solidFill>
                <a:srgbClr val="F4007A"/>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.(L) ,</a:t>
            </a:r>
            <a:r>
              <a:rPr lang="en-US" altLang="zh-CN" sz="2400">
                <a:solidFill>
                  <a:srgbClr val="F4007A"/>
                </a:solidFill>
                <a:sym typeface="Symbol" panose="05050102010706020507" pitchFamily="18" charset="2"/>
              </a:rPr>
              <a:t> )</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a  ,</a:t>
            </a:r>
            <a:r>
              <a:rPr lang="en-US" altLang="zh-CN" sz="2400">
                <a:solidFill>
                  <a:srgbClr val="F4007A"/>
                </a:solidFill>
                <a:sym typeface="Symbol" panose="05050102010706020507" pitchFamily="18" charset="2"/>
              </a:rPr>
              <a:t>  )</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endParaRPr lang="en-US" altLang="zh-CN" sz="2400">
              <a:solidFill>
                <a:srgbClr val="020001"/>
              </a:solidFill>
              <a:sym typeface="Symbol" panose="05050102010706020507" pitchFamily="18" charset="2"/>
            </a:endParaRPr>
          </a:p>
          <a:p>
            <a:r>
              <a:rPr lang="en-US" altLang="zh-CN" sz="2400">
                <a:solidFill>
                  <a:srgbClr val="020001"/>
                </a:solidFill>
                <a:sym typeface="Symbol" panose="05050102010706020507" pitchFamily="18" charset="2"/>
              </a:rPr>
              <a:t>[L .L,E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 </a:t>
            </a:r>
            <a:r>
              <a:rPr lang="en-US" altLang="zh-CN" sz="2400">
                <a:solidFill>
                  <a:srgbClr val="020001"/>
                </a:solidFill>
                <a:sym typeface="Symbol" panose="05050102010706020507" pitchFamily="18" charset="2"/>
              </a:rPr>
              <a:t>]</a:t>
            </a:r>
            <a:endParaRPr lang="en-US" altLang="zh-CN" sz="2400">
              <a:solidFill>
                <a:srgbClr val="F4007A"/>
              </a:solidFill>
              <a:sym typeface="Symbol" panose="05050102010706020507" pitchFamily="18" charset="2"/>
            </a:endParaRPr>
          </a:p>
          <a:p>
            <a:r>
              <a:rPr lang="en-US" altLang="zh-CN" sz="2400">
                <a:solidFill>
                  <a:srgbClr val="020001"/>
                </a:solidFill>
                <a:sym typeface="Symbol" panose="05050102010706020507" pitchFamily="18" charset="2"/>
              </a:rPr>
              <a:t>[L .E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.(L) </a:t>
            </a:r>
            <a:r>
              <a:rPr lang="zh-CN" altLang="en-US" sz="2400">
                <a:solidFill>
                  <a:srgbClr val="020001"/>
                </a:solidFill>
                <a:sym typeface="Symbol" panose="05050102010706020507" pitchFamily="18" charset="2"/>
              </a:rPr>
              <a:t>，</a:t>
            </a:r>
            <a:r>
              <a:rPr lang="zh-CN" altLang="en-US" sz="2400">
                <a:solidFill>
                  <a:srgbClr val="F4007A"/>
                </a:solidFill>
                <a:sym typeface="Symbol" panose="05050102010706020507" pitchFamily="18" charset="2"/>
              </a:rPr>
              <a:t> </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a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r>
              <a:rPr lang="zh-CN" altLang="en-US" sz="2400">
                <a:solidFill>
                  <a:srgbClr val="020001"/>
                </a:solidFill>
              </a:rPr>
              <a:t>  </a:t>
            </a:r>
            <a:endParaRPr lang="zh-CN" altLang="en-US" sz="2400">
              <a:solidFill>
                <a:srgbClr val="020001"/>
              </a:solidFill>
            </a:endParaRPr>
          </a:p>
        </p:txBody>
      </p:sp>
      <p:sp useBgFill="1">
        <p:nvSpPr>
          <p:cNvPr id="38" name="Oval 3"/>
          <p:cNvSpPr>
            <a:spLocks noChangeArrowheads="1"/>
          </p:cNvSpPr>
          <p:nvPr/>
        </p:nvSpPr>
        <p:spPr bwMode="auto">
          <a:xfrm>
            <a:off x="4246724" y="4962525"/>
            <a:ext cx="407895" cy="461122"/>
          </a:xfrm>
          <a:prstGeom prst="ellipse">
            <a:avLst/>
          </a:prstGeom>
          <a:ln w="9525">
            <a:solidFill>
              <a:srgbClr val="020001"/>
            </a:solidFill>
            <a:miter lim="800000"/>
          </a:ln>
        </p:spPr>
        <p:txBody>
          <a:bodyPr wrap="none" anchor="ctr"/>
          <a:lstStyle/>
          <a:p>
            <a:r>
              <a:rPr lang="zh-CN" altLang="en-US" sz="2400">
                <a:solidFill>
                  <a:srgbClr val="020001"/>
                </a:solidFill>
                <a:latin typeface="宋体" panose="02010600030101010101" pitchFamily="2" charset="-122"/>
              </a:rPr>
              <a:t>2</a:t>
            </a:r>
            <a:endParaRPr lang="zh-CN" altLang="en-US" sz="2400">
              <a:solidFill>
                <a:srgbClr val="020001"/>
              </a:solidFill>
              <a:latin typeface="宋体" panose="02010600030101010101" pitchFamily="2" charset="-122"/>
            </a:endParaRPr>
          </a:p>
        </p:txBody>
      </p:sp>
      <p:sp>
        <p:nvSpPr>
          <p:cNvPr id="39" name="Text Box 4"/>
          <p:cNvSpPr txBox="1">
            <a:spLocks noChangeArrowheads="1"/>
          </p:cNvSpPr>
          <p:nvPr/>
        </p:nvSpPr>
        <p:spPr bwMode="auto">
          <a:xfrm>
            <a:off x="8417432" y="1547765"/>
            <a:ext cx="155715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solidFill>
                  <a:srgbClr val="020001"/>
                </a:solidFill>
              </a:rPr>
              <a:t>(0)</a:t>
            </a:r>
            <a:r>
              <a:rPr lang="en-US" altLang="zh-CN" sz="2400" dirty="0">
                <a:solidFill>
                  <a:srgbClr val="020001"/>
                </a:solidFill>
              </a:rPr>
              <a:t>E'</a:t>
            </a:r>
            <a:r>
              <a:rPr lang="en-US" altLang="zh-CN" sz="2400" dirty="0">
                <a:solidFill>
                  <a:srgbClr val="020001"/>
                </a:solidFill>
                <a:sym typeface="Symbol" panose="05050102010706020507" pitchFamily="18" charset="2"/>
              </a:rPr>
              <a:t></a:t>
            </a:r>
            <a:r>
              <a:rPr lang="en-US" altLang="zh-CN" sz="2400" dirty="0">
                <a:solidFill>
                  <a:srgbClr val="020001"/>
                </a:solidFill>
              </a:rPr>
              <a:t>E   (1)E</a:t>
            </a:r>
            <a:r>
              <a:rPr lang="en-US" altLang="zh-CN" sz="2400" dirty="0">
                <a:solidFill>
                  <a:srgbClr val="020001"/>
                </a:solidFill>
                <a:sym typeface="Symbol" panose="05050102010706020507" pitchFamily="18" charset="2"/>
              </a:rPr>
              <a:t>(L)   </a:t>
            </a:r>
            <a:r>
              <a:rPr lang="en-US" altLang="zh-CN" sz="2400" dirty="0">
                <a:solidFill>
                  <a:srgbClr val="020001"/>
                </a:solidFill>
              </a:rPr>
              <a:t>(2)E</a:t>
            </a:r>
            <a:r>
              <a:rPr lang="en-US" altLang="zh-CN" sz="2400" dirty="0">
                <a:solidFill>
                  <a:srgbClr val="020001"/>
                </a:solidFill>
                <a:sym typeface="Symbol" panose="05050102010706020507" pitchFamily="18" charset="2"/>
              </a:rPr>
              <a:t> a    </a:t>
            </a:r>
            <a:r>
              <a:rPr lang="en-US" altLang="zh-CN" sz="2400" dirty="0">
                <a:solidFill>
                  <a:srgbClr val="020001"/>
                </a:solidFill>
              </a:rPr>
              <a:t>(3)L</a:t>
            </a:r>
            <a:r>
              <a:rPr lang="en-US" altLang="zh-CN" sz="2400" dirty="0">
                <a:solidFill>
                  <a:srgbClr val="020001"/>
                </a:solidFill>
                <a:sym typeface="Symbol" panose="05050102010706020507" pitchFamily="18" charset="2"/>
              </a:rPr>
              <a:t>L,E  </a:t>
            </a:r>
            <a:r>
              <a:rPr lang="en-US" altLang="zh-CN" sz="2400" dirty="0">
                <a:solidFill>
                  <a:srgbClr val="020001"/>
                </a:solidFill>
              </a:rPr>
              <a:t>(4)L</a:t>
            </a:r>
            <a:r>
              <a:rPr lang="en-US" altLang="zh-CN" sz="2400" dirty="0">
                <a:solidFill>
                  <a:srgbClr val="020001"/>
                </a:solidFill>
                <a:sym typeface="Symbol" panose="05050102010706020507" pitchFamily="18" charset="2"/>
              </a:rPr>
              <a:t>E</a:t>
            </a:r>
            <a:endParaRPr lang="en-US" altLang="zh-CN" sz="2400" dirty="0">
              <a:solidFill>
                <a:srgbClr val="020001"/>
              </a:solidFill>
              <a:sym typeface="Symbol" panose="05050102010706020507" pitchFamily="18" charset="2"/>
            </a:endParaRPr>
          </a:p>
        </p:txBody>
      </p:sp>
      <p:sp useBgFill="1">
        <p:nvSpPr>
          <p:cNvPr id="40" name="AutoShape 6"/>
          <p:cNvSpPr>
            <a:spLocks noChangeArrowheads="1"/>
          </p:cNvSpPr>
          <p:nvPr/>
        </p:nvSpPr>
        <p:spPr bwMode="auto">
          <a:xfrm>
            <a:off x="5130376" y="3493714"/>
            <a:ext cx="2826777" cy="2367710"/>
          </a:xfrm>
          <a:prstGeom prst="roundRect">
            <a:avLst>
              <a:gd name="adj" fmla="val 16667"/>
            </a:avLst>
          </a:prstGeom>
          <a:ln w="9525">
            <a:solidFill>
              <a:schemeClr val="tx1"/>
            </a:solidFill>
            <a:miter lim="800000"/>
          </a:ln>
        </p:spPr>
        <p:txBody>
          <a:bodyPr wrap="none" anchor="ctr"/>
          <a:lstStyle/>
          <a:p>
            <a:r>
              <a:rPr lang="en-US" altLang="zh-CN" sz="2400">
                <a:solidFill>
                  <a:srgbClr val="020001"/>
                </a:solidFill>
              </a:rPr>
              <a:t>[E</a:t>
            </a:r>
            <a:r>
              <a:rPr lang="en-US" altLang="zh-CN" sz="2400">
                <a:solidFill>
                  <a:srgbClr val="020001"/>
                </a:solidFill>
                <a:sym typeface="Symbol" panose="05050102010706020507" pitchFamily="18" charset="2"/>
              </a:rPr>
              <a:t> (.L)  </a:t>
            </a:r>
            <a:r>
              <a:rPr lang="zh-CN" altLang="en-US" sz="2400">
                <a:solidFill>
                  <a:srgbClr val="020001"/>
                </a:solidFill>
                <a:sym typeface="Symbol" panose="05050102010706020507" pitchFamily="18" charset="2"/>
              </a:rPr>
              <a:t>，</a:t>
            </a:r>
            <a:r>
              <a:rPr lang="zh-CN" altLang="en-US" sz="2400">
                <a:solidFill>
                  <a:srgbClr val="F4007A"/>
                </a:solidFill>
                <a:sym typeface="Symbol" panose="05050102010706020507" pitchFamily="18" charset="2"/>
              </a:rPr>
              <a:t>  </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F4007A"/>
              </a:solidFill>
              <a:sym typeface="Symbol" panose="05050102010706020507" pitchFamily="18" charset="2"/>
            </a:endParaRPr>
          </a:p>
          <a:p>
            <a:r>
              <a:rPr lang="en-US" altLang="zh-CN" sz="2400">
                <a:solidFill>
                  <a:srgbClr val="020001"/>
                </a:solidFill>
                <a:sym typeface="Symbol" panose="05050102010706020507" pitchFamily="18" charset="2"/>
              </a:rPr>
              <a:t>[L .L,E  </a:t>
            </a:r>
            <a:r>
              <a:rPr lang="zh-CN" altLang="en-US" sz="2400">
                <a:solidFill>
                  <a:srgbClr val="020001"/>
                </a:solidFill>
                <a:sym typeface="Symbol" panose="05050102010706020507" pitchFamily="18" charset="2"/>
              </a:rPr>
              <a:t>，</a:t>
            </a:r>
            <a:r>
              <a:rPr lang="zh-CN" altLang="en-US" sz="2400">
                <a:solidFill>
                  <a:srgbClr val="F4007A"/>
                </a:solidFill>
                <a:sym typeface="Symbol" panose="05050102010706020507" pitchFamily="18" charset="2"/>
              </a:rPr>
              <a:t> </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F4007A"/>
              </a:solidFill>
              <a:sym typeface="Symbol" panose="05050102010706020507" pitchFamily="18" charset="2"/>
            </a:endParaRPr>
          </a:p>
          <a:p>
            <a:r>
              <a:rPr lang="en-US" altLang="zh-CN" sz="2400">
                <a:solidFill>
                  <a:srgbClr val="020001"/>
                </a:solidFill>
                <a:sym typeface="Symbol" panose="05050102010706020507" pitchFamily="18" charset="2"/>
              </a:rPr>
              <a:t>[L .E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.(L)</a:t>
            </a:r>
            <a:r>
              <a:rPr lang="zh-CN" altLang="en-US" sz="2400">
                <a:solidFill>
                  <a:srgbClr val="020001"/>
                </a:solidFill>
                <a:sym typeface="Symbol" panose="05050102010706020507" pitchFamily="18" charset="2"/>
              </a:rPr>
              <a:t>，</a:t>
            </a:r>
            <a:r>
              <a:rPr lang="zh-CN" altLang="en-US" sz="2400">
                <a:solidFill>
                  <a:srgbClr val="F4007A"/>
                </a:solidFill>
                <a:sym typeface="Symbol" panose="05050102010706020507" pitchFamily="18" charset="2"/>
              </a:rPr>
              <a:t> </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en-US" altLang="zh-CN" sz="2400">
              <a:solidFill>
                <a:srgbClr val="020001"/>
              </a:solidFill>
              <a:sym typeface="Symbol" panose="05050102010706020507" pitchFamily="18" charset="2"/>
            </a:endParaRPr>
          </a:p>
          <a:p>
            <a:r>
              <a:rPr lang="en-US" altLang="zh-CN" sz="2400">
                <a:solidFill>
                  <a:srgbClr val="020001"/>
                </a:solidFill>
              </a:rPr>
              <a:t>[E</a:t>
            </a:r>
            <a:r>
              <a:rPr lang="en-US" altLang="zh-CN" sz="2400">
                <a:solidFill>
                  <a:srgbClr val="020001"/>
                </a:solidFill>
                <a:sym typeface="Symbol" panose="05050102010706020507" pitchFamily="18" charset="2"/>
              </a:rPr>
              <a:t>. a  </a:t>
            </a:r>
            <a:r>
              <a:rPr lang="zh-CN" altLang="en-US"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r>
              <a:rPr lang="en-US" altLang="zh-CN" sz="2400">
                <a:solidFill>
                  <a:srgbClr val="F4007A"/>
                </a:solidFill>
                <a:sym typeface="Symbol" panose="05050102010706020507" pitchFamily="18" charset="2"/>
              </a:rPr>
              <a:t>,</a:t>
            </a:r>
            <a:r>
              <a:rPr lang="en-US" altLang="zh-CN" sz="2400">
                <a:solidFill>
                  <a:srgbClr val="020001"/>
                </a:solidFill>
                <a:sym typeface="Symbol" panose="05050102010706020507" pitchFamily="18" charset="2"/>
              </a:rPr>
              <a:t>]</a:t>
            </a:r>
            <a:endParaRPr lang="zh-CN" altLang="en-US" sz="2400">
              <a:solidFill>
                <a:srgbClr val="020001"/>
              </a:solidFill>
            </a:endParaRPr>
          </a:p>
        </p:txBody>
      </p:sp>
      <p:sp useBgFill="1">
        <p:nvSpPr>
          <p:cNvPr id="41" name="Oval 7"/>
          <p:cNvSpPr>
            <a:spLocks noChangeArrowheads="1"/>
          </p:cNvSpPr>
          <p:nvPr/>
        </p:nvSpPr>
        <p:spPr bwMode="auto">
          <a:xfrm>
            <a:off x="7728833" y="4677569"/>
            <a:ext cx="456640" cy="476250"/>
          </a:xfrm>
          <a:prstGeom prst="ellipse">
            <a:avLst/>
          </a:prstGeom>
          <a:ln w="9525">
            <a:solidFill>
              <a:srgbClr val="020001"/>
            </a:solidFill>
            <a:miter lim="800000"/>
          </a:ln>
        </p:spPr>
        <p:txBody>
          <a:bodyPr wrap="none" anchor="ctr"/>
          <a:lstStyle/>
          <a:p>
            <a:pPr algn="ctr"/>
            <a:r>
              <a:rPr lang="zh-CN" altLang="en-US" sz="2400" dirty="0">
                <a:solidFill>
                  <a:srgbClr val="020001"/>
                </a:solidFill>
                <a:latin typeface="宋体" panose="02010600030101010101" pitchFamily="2" charset="-122"/>
              </a:rPr>
              <a:t>2</a:t>
            </a:r>
            <a:endParaRPr lang="zh-CN" altLang="en-US" sz="2400" dirty="0">
              <a:solidFill>
                <a:srgbClr val="020001"/>
              </a:solidFill>
              <a:latin typeface="宋体" panose="02010600030101010101" pitchFamily="2" charset="-122"/>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3"/>
          <p:cNvSpPr>
            <a:spLocks noGrp="1"/>
          </p:cNvSpPr>
          <p:nvPr>
            <p:ph type="body" sz="quarter" idx="14"/>
            <p:custDataLst>
              <p:tags r:id="rId1"/>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strips(downLeft)">
                                      <p:cBhvr>
                                        <p:cTn id="7" dur="500"/>
                                        <p:tgtEl>
                                          <p:spTgt spid="37">
                                            <p:txEl>
                                              <p:pRg st="1" end="1"/>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37">
                                            <p:txEl>
                                              <p:pRg st="2" end="2"/>
                                            </p:txEl>
                                          </p:spTgt>
                                        </p:tgtEl>
                                        <p:attrNameLst>
                                          <p:attrName>style.visibility</p:attrName>
                                        </p:attrNameLst>
                                      </p:cBhvr>
                                      <p:to>
                                        <p:strVal val="visible"/>
                                      </p:to>
                                    </p:set>
                                    <p:animEffect transition="in" filter="strips(downLeft)">
                                      <p:cBhvr>
                                        <p:cTn id="10" dur="500"/>
                                        <p:tgtEl>
                                          <p:spTgt spid="3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nodeType="clickEffect">
                                  <p:stCondLst>
                                    <p:cond delay="0"/>
                                  </p:stCondLst>
                                  <p:childTnLst>
                                    <p:set>
                                      <p:cBhvr>
                                        <p:cTn id="14" dur="1" fill="hold">
                                          <p:stCondLst>
                                            <p:cond delay="0"/>
                                          </p:stCondLst>
                                        </p:cTn>
                                        <p:tgtEl>
                                          <p:spTgt spid="37">
                                            <p:txEl>
                                              <p:pRg st="3" end="3"/>
                                            </p:txEl>
                                          </p:spTgt>
                                        </p:tgtEl>
                                        <p:attrNameLst>
                                          <p:attrName>style.visibility</p:attrName>
                                        </p:attrNameLst>
                                      </p:cBhvr>
                                      <p:to>
                                        <p:strVal val="visible"/>
                                      </p:to>
                                    </p:set>
                                    <p:animEffect transition="in" filter="strips(downLeft)">
                                      <p:cBhvr>
                                        <p:cTn id="15" dur="500"/>
                                        <p:tgtEl>
                                          <p:spTgt spid="37">
                                            <p:txEl>
                                              <p:pRg st="3" end="3"/>
                                            </p:txEl>
                                          </p:spTgt>
                                        </p:tgtEl>
                                      </p:cBhvr>
                                    </p:animEffect>
                                  </p:childTnLst>
                                </p:cTn>
                              </p:par>
                              <p:par>
                                <p:cTn id="16" presetID="18" presetClass="entr" presetSubtype="12" fill="hold" nodeType="withEffect">
                                  <p:stCondLst>
                                    <p:cond delay="0"/>
                                  </p:stCondLst>
                                  <p:childTnLst>
                                    <p:set>
                                      <p:cBhvr>
                                        <p:cTn id="17" dur="1" fill="hold">
                                          <p:stCondLst>
                                            <p:cond delay="0"/>
                                          </p:stCondLst>
                                        </p:cTn>
                                        <p:tgtEl>
                                          <p:spTgt spid="37">
                                            <p:txEl>
                                              <p:pRg st="4" end="4"/>
                                            </p:txEl>
                                          </p:spTgt>
                                        </p:tgtEl>
                                        <p:attrNameLst>
                                          <p:attrName>style.visibility</p:attrName>
                                        </p:attrNameLst>
                                      </p:cBhvr>
                                      <p:to>
                                        <p:strVal val="visible"/>
                                      </p:to>
                                    </p:set>
                                    <p:animEffect transition="in" filter="strips(downLeft)">
                                      <p:cBhvr>
                                        <p:cTn id="18" dur="500"/>
                                        <p:tgtEl>
                                          <p:spTgt spid="3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37">
                                            <p:txEl>
                                              <p:pRg st="6" end="6"/>
                                            </p:txEl>
                                          </p:spTgt>
                                        </p:tgtEl>
                                        <p:attrNameLst>
                                          <p:attrName>style.visibility</p:attrName>
                                        </p:attrNameLst>
                                      </p:cBhvr>
                                      <p:to>
                                        <p:strVal val="visible"/>
                                      </p:to>
                                    </p:set>
                                    <p:animEffect transition="in" filter="strips(downLeft)">
                                      <p:cBhvr>
                                        <p:cTn id="23" dur="500"/>
                                        <p:tgtEl>
                                          <p:spTgt spid="37">
                                            <p:txEl>
                                              <p:pRg st="6" end="6"/>
                                            </p:txEl>
                                          </p:spTgt>
                                        </p:tgtEl>
                                      </p:cBhvr>
                                    </p:animEffect>
                                  </p:childTnLst>
                                </p:cTn>
                              </p:par>
                              <p:par>
                                <p:cTn id="24" presetID="18" presetClass="entr" presetSubtype="12" fill="hold" nodeType="withEffect">
                                  <p:stCondLst>
                                    <p:cond delay="0"/>
                                  </p:stCondLst>
                                  <p:childTnLst>
                                    <p:set>
                                      <p:cBhvr>
                                        <p:cTn id="25" dur="1" fill="hold">
                                          <p:stCondLst>
                                            <p:cond delay="0"/>
                                          </p:stCondLst>
                                        </p:cTn>
                                        <p:tgtEl>
                                          <p:spTgt spid="37">
                                            <p:txEl>
                                              <p:pRg st="7" end="7"/>
                                            </p:txEl>
                                          </p:spTgt>
                                        </p:tgtEl>
                                        <p:attrNameLst>
                                          <p:attrName>style.visibility</p:attrName>
                                        </p:attrNameLst>
                                      </p:cBhvr>
                                      <p:to>
                                        <p:strVal val="visible"/>
                                      </p:to>
                                    </p:set>
                                    <p:animEffect transition="in" filter="strips(downLeft)">
                                      <p:cBhvr>
                                        <p:cTn id="26" dur="500"/>
                                        <p:tgtEl>
                                          <p:spTgt spid="37">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nodeType="clickEffect">
                                  <p:stCondLst>
                                    <p:cond delay="0"/>
                                  </p:stCondLst>
                                  <p:childTnLst>
                                    <p:set>
                                      <p:cBhvr>
                                        <p:cTn id="30" dur="1" fill="hold">
                                          <p:stCondLst>
                                            <p:cond delay="0"/>
                                          </p:stCondLst>
                                        </p:cTn>
                                        <p:tgtEl>
                                          <p:spTgt spid="37">
                                            <p:txEl>
                                              <p:pRg st="8" end="8"/>
                                            </p:txEl>
                                          </p:spTgt>
                                        </p:tgtEl>
                                        <p:attrNameLst>
                                          <p:attrName>style.visibility</p:attrName>
                                        </p:attrNameLst>
                                      </p:cBhvr>
                                      <p:to>
                                        <p:strVal val="visible"/>
                                      </p:to>
                                    </p:set>
                                    <p:animEffect transition="in" filter="strips(downLeft)">
                                      <p:cBhvr>
                                        <p:cTn id="31" dur="500"/>
                                        <p:tgtEl>
                                          <p:spTgt spid="37">
                                            <p:txEl>
                                              <p:pRg st="8" end="8"/>
                                            </p:txEl>
                                          </p:spTgt>
                                        </p:tgtEl>
                                      </p:cBhvr>
                                    </p:animEffect>
                                  </p:childTnLst>
                                </p:cTn>
                              </p:par>
                              <p:par>
                                <p:cTn id="32" presetID="18" presetClass="entr" presetSubtype="12" fill="hold" nodeType="withEffect">
                                  <p:stCondLst>
                                    <p:cond delay="0"/>
                                  </p:stCondLst>
                                  <p:childTnLst>
                                    <p:set>
                                      <p:cBhvr>
                                        <p:cTn id="33" dur="1" fill="hold">
                                          <p:stCondLst>
                                            <p:cond delay="0"/>
                                          </p:stCondLst>
                                        </p:cTn>
                                        <p:tgtEl>
                                          <p:spTgt spid="37">
                                            <p:txEl>
                                              <p:pRg st="9" end="9"/>
                                            </p:txEl>
                                          </p:spTgt>
                                        </p:tgtEl>
                                        <p:attrNameLst>
                                          <p:attrName>style.visibility</p:attrName>
                                        </p:attrNameLst>
                                      </p:cBhvr>
                                      <p:to>
                                        <p:strVal val="visible"/>
                                      </p:to>
                                    </p:set>
                                    <p:animEffect transition="in" filter="strips(downLeft)">
                                      <p:cBhvr>
                                        <p:cTn id="34" dur="500"/>
                                        <p:tgtEl>
                                          <p:spTgt spid="37">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6"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barn(inHorizontal)">
                                      <p:cBhvr>
                                        <p:cTn id="3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7368988" y="1331912"/>
            <a:ext cx="28194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020001"/>
                </a:solidFill>
                <a:latin typeface="+mn-ea"/>
              </a:rPr>
              <a:t>(0)</a:t>
            </a:r>
            <a:r>
              <a:rPr lang="en-US" altLang="zh-CN" sz="2000" b="1" dirty="0">
                <a:solidFill>
                  <a:srgbClr val="020001"/>
                </a:solidFill>
                <a:latin typeface="+mn-ea"/>
              </a:rPr>
              <a:t>E'</a:t>
            </a:r>
            <a:r>
              <a:rPr lang="en-US" altLang="zh-CN" sz="2000" b="1" dirty="0">
                <a:solidFill>
                  <a:srgbClr val="020001"/>
                </a:solidFill>
                <a:latin typeface="+mn-ea"/>
                <a:sym typeface="Symbol" panose="05050102010706020507" pitchFamily="18" charset="2"/>
              </a:rPr>
              <a:t></a:t>
            </a:r>
            <a:r>
              <a:rPr lang="en-US" altLang="zh-CN" sz="2000" b="1" dirty="0">
                <a:solidFill>
                  <a:srgbClr val="020001"/>
                </a:solidFill>
                <a:latin typeface="+mn-ea"/>
              </a:rPr>
              <a:t>E   (1)E</a:t>
            </a:r>
            <a:r>
              <a:rPr lang="en-US" altLang="zh-CN" sz="2000" b="1" dirty="0">
                <a:solidFill>
                  <a:srgbClr val="020001"/>
                </a:solidFill>
                <a:latin typeface="+mn-ea"/>
                <a:sym typeface="Symbol" panose="05050102010706020507" pitchFamily="18" charset="2"/>
              </a:rPr>
              <a:t>(L)   </a:t>
            </a:r>
            <a:r>
              <a:rPr lang="en-US" altLang="zh-CN" sz="2000" b="1" dirty="0">
                <a:solidFill>
                  <a:srgbClr val="020001"/>
                </a:solidFill>
                <a:latin typeface="+mn-ea"/>
              </a:rPr>
              <a:t>(2)E</a:t>
            </a:r>
            <a:r>
              <a:rPr lang="en-US" altLang="zh-CN" sz="2000" b="1" dirty="0">
                <a:solidFill>
                  <a:srgbClr val="020001"/>
                </a:solidFill>
                <a:latin typeface="+mn-ea"/>
                <a:sym typeface="Symbol" panose="05050102010706020507" pitchFamily="18" charset="2"/>
              </a:rPr>
              <a:t> a    </a:t>
            </a:r>
            <a:r>
              <a:rPr lang="en-US" altLang="zh-CN" sz="2000" b="1" dirty="0">
                <a:solidFill>
                  <a:srgbClr val="020001"/>
                </a:solidFill>
                <a:latin typeface="+mn-ea"/>
              </a:rPr>
              <a:t>(3)L</a:t>
            </a:r>
            <a:r>
              <a:rPr lang="en-US" altLang="zh-CN" sz="2000" b="1" dirty="0">
                <a:solidFill>
                  <a:srgbClr val="020001"/>
                </a:solidFill>
                <a:latin typeface="+mn-ea"/>
                <a:sym typeface="Symbol" panose="05050102010706020507" pitchFamily="18" charset="2"/>
              </a:rPr>
              <a:t>L,E  </a:t>
            </a:r>
            <a:r>
              <a:rPr lang="en-US" altLang="zh-CN" sz="2000" b="1" dirty="0">
                <a:solidFill>
                  <a:srgbClr val="020001"/>
                </a:solidFill>
                <a:latin typeface="+mn-ea"/>
              </a:rPr>
              <a:t>(4)L</a:t>
            </a:r>
            <a:r>
              <a:rPr lang="en-US" altLang="zh-CN" sz="2000" b="1" dirty="0">
                <a:solidFill>
                  <a:srgbClr val="020001"/>
                </a:solidFill>
                <a:latin typeface="+mn-ea"/>
                <a:sym typeface="Symbol" panose="05050102010706020507" pitchFamily="18" charset="2"/>
              </a:rPr>
              <a:t>E</a:t>
            </a:r>
            <a:endParaRPr lang="en-US" altLang="zh-CN" sz="2000" b="1" dirty="0">
              <a:solidFill>
                <a:srgbClr val="020001"/>
              </a:solidFill>
              <a:latin typeface="+mn-ea"/>
              <a:sym typeface="Symbol" panose="05050102010706020507" pitchFamily="18" charset="2"/>
            </a:endParaRPr>
          </a:p>
        </p:txBody>
      </p:sp>
      <p:grpSp>
        <p:nvGrpSpPr>
          <p:cNvPr id="10" name="Group 3"/>
          <p:cNvGrpSpPr/>
          <p:nvPr/>
        </p:nvGrpSpPr>
        <p:grpSpPr bwMode="auto">
          <a:xfrm>
            <a:off x="2111188" y="1122830"/>
            <a:ext cx="1906588" cy="1081088"/>
            <a:chOff x="1392" y="960"/>
            <a:chExt cx="1201" cy="768"/>
          </a:xfrm>
        </p:grpSpPr>
        <p:sp useBgFill="1">
          <p:nvSpPr>
            <p:cNvPr id="11" name="AutoShape 4"/>
            <p:cNvSpPr>
              <a:spLocks noChangeArrowheads="1"/>
            </p:cNvSpPr>
            <p:nvPr/>
          </p:nvSpPr>
          <p:spPr bwMode="auto">
            <a:xfrm>
              <a:off x="1392" y="960"/>
              <a:ext cx="1201" cy="768"/>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 $]</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 $]</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[E.a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 $]</a:t>
              </a:r>
              <a:endParaRPr lang="en-US" altLang="zh-CN" b="1">
                <a:solidFill>
                  <a:srgbClr val="020001"/>
                </a:solidFill>
                <a:latin typeface="+mn-ea"/>
                <a:sym typeface="Symbol" panose="05050102010706020507" pitchFamily="18" charset="2"/>
              </a:endParaRPr>
            </a:p>
            <a:p>
              <a:pPr algn="ctr"/>
              <a:r>
                <a:rPr lang="zh-CN" altLang="en-US" b="1">
                  <a:solidFill>
                    <a:srgbClr val="020001"/>
                  </a:solidFill>
                  <a:latin typeface="+mn-ea"/>
                </a:rPr>
                <a:t>              </a:t>
              </a:r>
              <a:endParaRPr lang="zh-CN" altLang="en-US" b="1">
                <a:solidFill>
                  <a:srgbClr val="020001"/>
                </a:solidFill>
                <a:latin typeface="+mn-ea"/>
              </a:endParaRPr>
            </a:p>
          </p:txBody>
        </p:sp>
        <p:sp useBgFill="1">
          <p:nvSpPr>
            <p:cNvPr id="13" name="Oval 5"/>
            <p:cNvSpPr>
              <a:spLocks noChangeArrowheads="1"/>
            </p:cNvSpPr>
            <p:nvPr/>
          </p:nvSpPr>
          <p:spPr bwMode="auto">
            <a:xfrm>
              <a:off x="2400" y="1488"/>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0</a:t>
              </a:r>
              <a:endParaRPr lang="zh-CN" altLang="en-US" b="1">
                <a:solidFill>
                  <a:srgbClr val="020001"/>
                </a:solidFill>
                <a:latin typeface="+mn-ea"/>
              </a:endParaRPr>
            </a:p>
          </p:txBody>
        </p:sp>
      </p:grpSp>
      <p:grpSp>
        <p:nvGrpSpPr>
          <p:cNvPr id="14" name="Group 6"/>
          <p:cNvGrpSpPr/>
          <p:nvPr/>
        </p:nvGrpSpPr>
        <p:grpSpPr bwMode="auto">
          <a:xfrm>
            <a:off x="4016188" y="1046630"/>
            <a:ext cx="914400" cy="381000"/>
            <a:chOff x="2592" y="1104"/>
            <a:chExt cx="576" cy="240"/>
          </a:xfrm>
        </p:grpSpPr>
        <p:sp>
          <p:nvSpPr>
            <p:cNvPr id="15" name="Line 7"/>
            <p:cNvSpPr>
              <a:spLocks noChangeShapeType="1"/>
            </p:cNvSpPr>
            <p:nvPr/>
          </p:nvSpPr>
          <p:spPr bwMode="auto">
            <a:xfrm>
              <a:off x="2592" y="1344"/>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6" name="Rectangle 8"/>
            <p:cNvSpPr>
              <a:spLocks noChangeArrowheads="1"/>
            </p:cNvSpPr>
            <p:nvPr/>
          </p:nvSpPr>
          <p:spPr bwMode="auto">
            <a:xfrm>
              <a:off x="2784" y="1104"/>
              <a:ext cx="19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E</a:t>
              </a:r>
              <a:endParaRPr lang="zh-CN" altLang="en-US" b="1">
                <a:solidFill>
                  <a:srgbClr val="020001"/>
                </a:solidFill>
                <a:latin typeface="+mn-ea"/>
                <a:sym typeface="Symbol" panose="05050102010706020507" pitchFamily="18" charset="2"/>
              </a:endParaRPr>
            </a:p>
          </p:txBody>
        </p:sp>
      </p:grpSp>
      <p:grpSp>
        <p:nvGrpSpPr>
          <p:cNvPr id="17" name="Group 9"/>
          <p:cNvGrpSpPr/>
          <p:nvPr/>
        </p:nvGrpSpPr>
        <p:grpSpPr bwMode="auto">
          <a:xfrm>
            <a:off x="4930588" y="1046630"/>
            <a:ext cx="1809750" cy="685800"/>
            <a:chOff x="2316" y="384"/>
            <a:chExt cx="1140" cy="432"/>
          </a:xfrm>
        </p:grpSpPr>
        <p:sp useBgFill="1">
          <p:nvSpPr>
            <p:cNvPr id="18" name="AutoShape 10"/>
            <p:cNvSpPr>
              <a:spLocks noChangeArrowheads="1"/>
            </p:cNvSpPr>
            <p:nvPr/>
          </p:nvSpPr>
          <p:spPr bwMode="auto">
            <a:xfrm>
              <a:off x="2316" y="384"/>
              <a:ext cx="1140" cy="432"/>
            </a:xfrm>
            <a:prstGeom prst="roundRect">
              <a:avLst>
                <a:gd name="adj" fmla="val 16667"/>
              </a:avLst>
            </a:prstGeom>
            <a:ln w="9525">
              <a:solidFill>
                <a:schemeClr val="tx1"/>
              </a:solidFill>
              <a:miter lim="800000"/>
            </a:ln>
          </p:spPr>
          <p:txBody>
            <a:bodyPr wrap="none" anchor="ctr"/>
            <a:lstStyle/>
            <a:p>
              <a:pPr algn="ctr"/>
              <a:endParaRPr lang="en-US" altLang="zh-CN" b="1" dirty="0">
                <a:solidFill>
                  <a:srgbClr val="020001"/>
                </a:solidFill>
                <a:latin typeface="+mn-ea"/>
              </a:endParaRPr>
            </a:p>
            <a:p>
              <a:pPr algn="ctr"/>
              <a:r>
                <a:rPr lang="en-US" altLang="zh-CN" b="1" dirty="0">
                  <a:solidFill>
                    <a:srgbClr val="020001"/>
                  </a:solidFill>
                  <a:latin typeface="+mn-ea"/>
                </a:rPr>
                <a:t>[E’</a:t>
              </a:r>
              <a:r>
                <a:rPr lang="en-US" altLang="zh-CN" b="1" dirty="0">
                  <a:solidFill>
                    <a:srgbClr val="020001"/>
                  </a:solidFill>
                  <a:latin typeface="+mn-ea"/>
                  <a:sym typeface="Symbol" panose="05050102010706020507" pitchFamily="18" charset="2"/>
                </a:rPr>
                <a:t> E. </a:t>
              </a:r>
              <a:r>
                <a:rPr lang="en-US" altLang="zh-CN" b="1" dirty="0">
                  <a:solidFill>
                    <a:srgbClr val="F4007A"/>
                  </a:solidFill>
                  <a:latin typeface="+mn-ea"/>
                  <a:sym typeface="Symbol" panose="05050102010706020507" pitchFamily="18" charset="2"/>
                </a:rPr>
                <a:t>,</a:t>
              </a:r>
              <a:r>
                <a:rPr lang="en-US" altLang="zh-CN" b="1" dirty="0">
                  <a:solidFill>
                    <a:srgbClr val="020001"/>
                  </a:solidFill>
                  <a:latin typeface="+mn-ea"/>
                  <a:sym typeface="Symbol" panose="05050102010706020507" pitchFamily="18" charset="2"/>
                </a:rPr>
                <a:t> $]</a:t>
              </a:r>
              <a:endParaRPr lang="en-US" altLang="zh-CN" b="1" dirty="0">
                <a:solidFill>
                  <a:srgbClr val="020001"/>
                </a:solidFill>
                <a:latin typeface="+mn-ea"/>
                <a:sym typeface="Symbol" panose="05050102010706020507" pitchFamily="18" charset="2"/>
              </a:endParaRPr>
            </a:p>
            <a:p>
              <a:pPr algn="ctr"/>
              <a:endParaRPr lang="en-US" altLang="zh-CN" b="1" dirty="0">
                <a:solidFill>
                  <a:srgbClr val="020001"/>
                </a:solidFill>
                <a:latin typeface="+mn-ea"/>
                <a:sym typeface="Symbol" panose="05050102010706020507" pitchFamily="18" charset="2"/>
              </a:endParaRPr>
            </a:p>
            <a:p>
              <a:pPr algn="ctr"/>
              <a:endParaRPr lang="zh-CN" altLang="en-US" b="1" dirty="0">
                <a:solidFill>
                  <a:srgbClr val="020001"/>
                </a:solidFill>
                <a:latin typeface="+mn-ea"/>
              </a:endParaRPr>
            </a:p>
          </p:txBody>
        </p:sp>
        <p:sp useBgFill="1">
          <p:nvSpPr>
            <p:cNvPr id="19" name="Oval 11"/>
            <p:cNvSpPr>
              <a:spLocks noChangeArrowheads="1"/>
            </p:cNvSpPr>
            <p:nvPr/>
          </p:nvSpPr>
          <p:spPr bwMode="auto">
            <a:xfrm>
              <a:off x="3168" y="624"/>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1</a:t>
              </a:r>
              <a:endParaRPr lang="zh-CN" altLang="en-US" b="1">
                <a:solidFill>
                  <a:srgbClr val="020001"/>
                </a:solidFill>
                <a:latin typeface="+mn-ea"/>
              </a:endParaRPr>
            </a:p>
          </p:txBody>
        </p:sp>
      </p:grpSp>
      <p:grpSp>
        <p:nvGrpSpPr>
          <p:cNvPr id="20" name="Group 12"/>
          <p:cNvGrpSpPr/>
          <p:nvPr/>
        </p:nvGrpSpPr>
        <p:grpSpPr bwMode="auto">
          <a:xfrm>
            <a:off x="3177988" y="2213443"/>
            <a:ext cx="334963" cy="471487"/>
            <a:chOff x="1968" y="1728"/>
            <a:chExt cx="211" cy="384"/>
          </a:xfrm>
        </p:grpSpPr>
        <p:sp>
          <p:nvSpPr>
            <p:cNvPr id="21" name="Line 13"/>
            <p:cNvSpPr>
              <a:spLocks noChangeShapeType="1"/>
            </p:cNvSpPr>
            <p:nvPr/>
          </p:nvSpPr>
          <p:spPr bwMode="auto">
            <a:xfrm>
              <a:off x="1968" y="1728"/>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2" name="Rectangle 14"/>
            <p:cNvSpPr>
              <a:spLocks noChangeArrowheads="1"/>
            </p:cNvSpPr>
            <p:nvPr/>
          </p:nvSpPr>
          <p:spPr bwMode="auto">
            <a:xfrm>
              <a:off x="2016" y="1776"/>
              <a:ext cx="1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p:txBody>
        </p:sp>
      </p:grpSp>
      <p:grpSp>
        <p:nvGrpSpPr>
          <p:cNvPr id="23" name="Group 15"/>
          <p:cNvGrpSpPr/>
          <p:nvPr/>
        </p:nvGrpSpPr>
        <p:grpSpPr bwMode="auto">
          <a:xfrm>
            <a:off x="2111188" y="2684930"/>
            <a:ext cx="2133600" cy="1524000"/>
            <a:chOff x="1344" y="2112"/>
            <a:chExt cx="1201" cy="768"/>
          </a:xfrm>
        </p:grpSpPr>
        <p:sp useBgFill="1">
          <p:nvSpPr>
            <p:cNvPr id="24" name="AutoShape 16"/>
            <p:cNvSpPr>
              <a:spLocks noChangeArrowheads="1"/>
            </p:cNvSpPr>
            <p:nvPr/>
          </p:nvSpPr>
          <p:spPr bwMode="auto">
            <a:xfrm>
              <a:off x="1344" y="2112"/>
              <a:ext cx="1201" cy="768"/>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F4007A"/>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.L,E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F4007A"/>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.E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a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25" name="Oval 17"/>
            <p:cNvSpPr>
              <a:spLocks noChangeArrowheads="1"/>
            </p:cNvSpPr>
            <p:nvPr/>
          </p:nvSpPr>
          <p:spPr bwMode="auto">
            <a:xfrm>
              <a:off x="2304" y="2640"/>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2</a:t>
              </a:r>
              <a:endParaRPr lang="zh-CN" altLang="en-US" b="1">
                <a:solidFill>
                  <a:srgbClr val="020001"/>
                </a:solidFill>
                <a:latin typeface="+mn-ea"/>
              </a:endParaRPr>
            </a:p>
          </p:txBody>
        </p:sp>
      </p:grpSp>
      <p:grpSp>
        <p:nvGrpSpPr>
          <p:cNvPr id="26" name="Group 18"/>
          <p:cNvGrpSpPr/>
          <p:nvPr/>
        </p:nvGrpSpPr>
        <p:grpSpPr bwMode="auto">
          <a:xfrm>
            <a:off x="4854388" y="1846730"/>
            <a:ext cx="1906588" cy="533400"/>
            <a:chOff x="2208" y="1056"/>
            <a:chExt cx="1201" cy="336"/>
          </a:xfrm>
        </p:grpSpPr>
        <p:sp useBgFill="1">
          <p:nvSpPr>
            <p:cNvPr id="27" name="AutoShape 19"/>
            <p:cNvSpPr>
              <a:spLocks noChangeArrowheads="1"/>
            </p:cNvSpPr>
            <p:nvPr/>
          </p:nvSpPr>
          <p:spPr bwMode="auto">
            <a:xfrm>
              <a:off x="2208" y="1056"/>
              <a:ext cx="1201" cy="33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 </a:t>
              </a:r>
              <a:r>
                <a:rPr lang="en-US" altLang="zh-CN" b="1">
                  <a:solidFill>
                    <a:srgbClr val="020001"/>
                  </a:solidFill>
                  <a:latin typeface="+mn-ea"/>
                  <a:sym typeface="Symbol" panose="05050102010706020507" pitchFamily="18" charset="2"/>
                </a:rPr>
                <a:t> a</a:t>
              </a:r>
              <a:r>
                <a:rPr lang="en-US" altLang="zh-CN" b="1">
                  <a:solidFill>
                    <a:srgbClr val="020001"/>
                  </a:solidFill>
                  <a:latin typeface="+mn-ea"/>
                </a:rPr>
                <a:t> </a:t>
              </a:r>
              <a:r>
                <a:rPr lang="en-US" altLang="zh-CN" b="1">
                  <a:solidFill>
                    <a:srgbClr val="020001"/>
                  </a:solidFill>
                  <a:latin typeface="+mn-ea"/>
                  <a:sym typeface="Symbol" panose="05050102010706020507" pitchFamily="18" charset="2"/>
                </a:rPr>
                <a:t>.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 $ ]</a:t>
              </a:r>
              <a:endParaRPr lang="en-US" altLang="zh-CN" b="1">
                <a:solidFill>
                  <a:srgbClr val="020001"/>
                </a:solidFill>
                <a:latin typeface="+mn-ea"/>
                <a:sym typeface="Symbol" panose="05050102010706020507" pitchFamily="18" charset="2"/>
              </a:endParaRPr>
            </a:p>
            <a:p>
              <a:pPr algn="ctr"/>
              <a:r>
                <a:rPr lang="zh-CN" altLang="en-US" b="1">
                  <a:solidFill>
                    <a:srgbClr val="020001"/>
                  </a:solidFill>
                  <a:latin typeface="+mn-ea"/>
                </a:rPr>
                <a:t>  </a:t>
              </a:r>
              <a:endParaRPr lang="zh-CN" altLang="en-US" b="1">
                <a:solidFill>
                  <a:srgbClr val="020001"/>
                </a:solidFill>
                <a:latin typeface="+mn-ea"/>
              </a:endParaRPr>
            </a:p>
          </p:txBody>
        </p:sp>
        <p:sp useBgFill="1">
          <p:nvSpPr>
            <p:cNvPr id="28" name="Oval 20"/>
            <p:cNvSpPr>
              <a:spLocks noChangeArrowheads="1"/>
            </p:cNvSpPr>
            <p:nvPr/>
          </p:nvSpPr>
          <p:spPr bwMode="auto">
            <a:xfrm>
              <a:off x="3216" y="1248"/>
              <a:ext cx="144" cy="133"/>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3</a:t>
              </a:r>
              <a:endParaRPr lang="zh-CN" altLang="en-US" b="1">
                <a:solidFill>
                  <a:srgbClr val="020001"/>
                </a:solidFill>
                <a:latin typeface="+mn-ea"/>
              </a:endParaRPr>
            </a:p>
          </p:txBody>
        </p:sp>
      </p:grpSp>
      <p:grpSp>
        <p:nvGrpSpPr>
          <p:cNvPr id="29" name="Group 21"/>
          <p:cNvGrpSpPr/>
          <p:nvPr/>
        </p:nvGrpSpPr>
        <p:grpSpPr bwMode="auto">
          <a:xfrm>
            <a:off x="4016188" y="1686393"/>
            <a:ext cx="838200" cy="388937"/>
            <a:chOff x="1632" y="667"/>
            <a:chExt cx="528" cy="245"/>
          </a:xfrm>
        </p:grpSpPr>
        <p:sp>
          <p:nvSpPr>
            <p:cNvPr id="30" name="Line 22"/>
            <p:cNvSpPr>
              <a:spLocks noChangeShapeType="1"/>
            </p:cNvSpPr>
            <p:nvPr/>
          </p:nvSpPr>
          <p:spPr bwMode="auto">
            <a:xfrm>
              <a:off x="1632" y="912"/>
              <a:ext cx="52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31" name="Rectangle 23"/>
            <p:cNvSpPr>
              <a:spLocks noChangeArrowheads="1"/>
            </p:cNvSpPr>
            <p:nvPr/>
          </p:nvSpPr>
          <p:spPr bwMode="auto">
            <a:xfrm>
              <a:off x="1872" y="667"/>
              <a:ext cx="19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rgbClr val="020001"/>
                  </a:solidFill>
                  <a:latin typeface="+mn-ea"/>
                  <a:sym typeface="Symbol" panose="05050102010706020507" pitchFamily="18" charset="2"/>
                </a:rPr>
                <a:t>a</a:t>
              </a:r>
              <a:endParaRPr lang="zh-CN" altLang="en-US" b="1">
                <a:solidFill>
                  <a:srgbClr val="020001"/>
                </a:solidFill>
                <a:latin typeface="+mn-ea"/>
                <a:sym typeface="Symbol" panose="05050102010706020507" pitchFamily="18" charset="2"/>
              </a:endParaRPr>
            </a:p>
          </p:txBody>
        </p:sp>
      </p:grpSp>
      <p:grpSp>
        <p:nvGrpSpPr>
          <p:cNvPr id="32" name="Group 24"/>
          <p:cNvGrpSpPr/>
          <p:nvPr/>
        </p:nvGrpSpPr>
        <p:grpSpPr bwMode="auto">
          <a:xfrm>
            <a:off x="2339788" y="4208930"/>
            <a:ext cx="336550" cy="457200"/>
            <a:chOff x="948" y="2256"/>
            <a:chExt cx="212" cy="336"/>
          </a:xfrm>
        </p:grpSpPr>
        <p:sp>
          <p:nvSpPr>
            <p:cNvPr id="33" name="Line 25"/>
            <p:cNvSpPr>
              <a:spLocks noChangeShapeType="1"/>
            </p:cNvSpPr>
            <p:nvPr/>
          </p:nvSpPr>
          <p:spPr bwMode="auto">
            <a:xfrm flipH="1">
              <a:off x="1104" y="2256"/>
              <a:ext cx="0"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34" name="Rectangle 26"/>
            <p:cNvSpPr>
              <a:spLocks noChangeArrowheads="1"/>
            </p:cNvSpPr>
            <p:nvPr/>
          </p:nvSpPr>
          <p:spPr bwMode="auto">
            <a:xfrm>
              <a:off x="948" y="2304"/>
              <a:ext cx="21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rgbClr val="020001"/>
                  </a:solidFill>
                  <a:latin typeface="+mn-ea"/>
                  <a:sym typeface="Symbol" panose="05050102010706020507" pitchFamily="18" charset="2"/>
                </a:rPr>
                <a:t>L</a:t>
              </a:r>
              <a:endParaRPr lang="en-US" altLang="zh-CN" b="1">
                <a:solidFill>
                  <a:srgbClr val="020001"/>
                </a:solidFill>
                <a:latin typeface="+mn-ea"/>
                <a:sym typeface="Symbol" panose="05050102010706020507" pitchFamily="18" charset="2"/>
              </a:endParaRPr>
            </a:p>
          </p:txBody>
        </p:sp>
      </p:grpSp>
      <p:grpSp>
        <p:nvGrpSpPr>
          <p:cNvPr id="35" name="Group 27"/>
          <p:cNvGrpSpPr/>
          <p:nvPr/>
        </p:nvGrpSpPr>
        <p:grpSpPr bwMode="auto">
          <a:xfrm>
            <a:off x="1653988" y="4666130"/>
            <a:ext cx="1809750" cy="762000"/>
            <a:chOff x="576" y="2592"/>
            <a:chExt cx="1140" cy="576"/>
          </a:xfrm>
        </p:grpSpPr>
        <p:sp useBgFill="1">
          <p:nvSpPr>
            <p:cNvPr id="36" name="AutoShape 28"/>
            <p:cNvSpPr>
              <a:spLocks noChangeArrowheads="1"/>
            </p:cNvSpPr>
            <p:nvPr/>
          </p:nvSpPr>
          <p:spPr bwMode="auto">
            <a:xfrm>
              <a:off x="576" y="2592"/>
              <a:ext cx="1104" cy="57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L.,E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43" name="Oval 29"/>
            <p:cNvSpPr>
              <a:spLocks noChangeArrowheads="1"/>
            </p:cNvSpPr>
            <p:nvPr/>
          </p:nvSpPr>
          <p:spPr bwMode="auto">
            <a:xfrm>
              <a:off x="1572" y="2976"/>
              <a:ext cx="144" cy="177"/>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4</a:t>
              </a:r>
              <a:endParaRPr lang="zh-CN" altLang="en-US" b="1">
                <a:solidFill>
                  <a:srgbClr val="020001"/>
                </a:solidFill>
                <a:latin typeface="+mn-ea"/>
              </a:endParaRPr>
            </a:p>
          </p:txBody>
        </p:sp>
      </p:grpSp>
      <p:grpSp>
        <p:nvGrpSpPr>
          <p:cNvPr id="44" name="Group 30"/>
          <p:cNvGrpSpPr/>
          <p:nvPr/>
        </p:nvGrpSpPr>
        <p:grpSpPr bwMode="auto">
          <a:xfrm>
            <a:off x="4244788" y="2761130"/>
            <a:ext cx="609600" cy="374686"/>
            <a:chOff x="1680" y="1824"/>
            <a:chExt cx="384" cy="2539"/>
          </a:xfrm>
        </p:grpSpPr>
        <p:sp>
          <p:nvSpPr>
            <p:cNvPr id="45" name="Line 31"/>
            <p:cNvSpPr>
              <a:spLocks noChangeShapeType="1"/>
            </p:cNvSpPr>
            <p:nvPr/>
          </p:nvSpPr>
          <p:spPr bwMode="auto">
            <a:xfrm>
              <a:off x="1680" y="1824"/>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46" name="Rectangle 32"/>
            <p:cNvSpPr>
              <a:spLocks noChangeArrowheads="1"/>
            </p:cNvSpPr>
            <p:nvPr/>
          </p:nvSpPr>
          <p:spPr bwMode="auto">
            <a:xfrm>
              <a:off x="1728" y="1867"/>
              <a:ext cx="190"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E</a:t>
              </a:r>
              <a:endParaRPr lang="zh-CN" altLang="en-US" b="1">
                <a:solidFill>
                  <a:srgbClr val="020001"/>
                </a:solidFill>
                <a:latin typeface="+mn-ea"/>
                <a:sym typeface="Symbol" panose="05050102010706020507" pitchFamily="18" charset="2"/>
              </a:endParaRPr>
            </a:p>
          </p:txBody>
        </p:sp>
      </p:grpSp>
      <p:grpSp>
        <p:nvGrpSpPr>
          <p:cNvPr id="47" name="Group 33"/>
          <p:cNvGrpSpPr/>
          <p:nvPr/>
        </p:nvGrpSpPr>
        <p:grpSpPr bwMode="auto">
          <a:xfrm>
            <a:off x="4854388" y="2532530"/>
            <a:ext cx="1677988" cy="533400"/>
            <a:chOff x="2064" y="1632"/>
            <a:chExt cx="1057" cy="336"/>
          </a:xfrm>
        </p:grpSpPr>
        <p:sp useBgFill="1">
          <p:nvSpPr>
            <p:cNvPr id="48" name="AutoShape 34"/>
            <p:cNvSpPr>
              <a:spLocks noChangeArrowheads="1"/>
            </p:cNvSpPr>
            <p:nvPr/>
          </p:nvSpPr>
          <p:spPr bwMode="auto">
            <a:xfrm>
              <a:off x="2064" y="1632"/>
              <a:ext cx="1057" cy="33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sym typeface="Symbol" panose="05050102010706020507" pitchFamily="18" charset="2"/>
                </a:rPr>
                <a:t>[L E.</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a:t>
              </a:r>
              <a:br>
                <a:rPr lang="en-US" altLang="zh-CN" b="1">
                  <a:solidFill>
                    <a:srgbClr val="020001"/>
                  </a:solidFill>
                  <a:latin typeface="+mn-ea"/>
                  <a:sym typeface="Symbol" panose="05050102010706020507" pitchFamily="18" charset="2"/>
                </a:rPr>
              </a:br>
              <a:r>
                <a:rPr lang="zh-CN" altLang="en-US" b="1">
                  <a:solidFill>
                    <a:srgbClr val="020001"/>
                  </a:solidFill>
                  <a:latin typeface="+mn-ea"/>
                </a:rPr>
                <a:t>              </a:t>
              </a:r>
              <a:endParaRPr lang="zh-CN" altLang="en-US" b="1">
                <a:solidFill>
                  <a:srgbClr val="020001"/>
                </a:solidFill>
                <a:latin typeface="+mn-ea"/>
              </a:endParaRPr>
            </a:p>
          </p:txBody>
        </p:sp>
        <p:sp useBgFill="1">
          <p:nvSpPr>
            <p:cNvPr id="49" name="Oval 35"/>
            <p:cNvSpPr>
              <a:spLocks noChangeArrowheads="1"/>
            </p:cNvSpPr>
            <p:nvPr/>
          </p:nvSpPr>
          <p:spPr bwMode="auto">
            <a:xfrm>
              <a:off x="2832" y="1824"/>
              <a:ext cx="144" cy="144"/>
            </a:xfrm>
            <a:prstGeom prst="ellipse">
              <a:avLst/>
            </a:prstGeom>
            <a:ln w="9525">
              <a:solidFill>
                <a:srgbClr val="020001"/>
              </a:solidFill>
              <a:miter lim="800000"/>
            </a:ln>
          </p:spPr>
          <p:txBody>
            <a:bodyPr wrap="none" anchor="ctr"/>
            <a:lstStyle/>
            <a:p>
              <a:pPr algn="ctr"/>
              <a:r>
                <a:rPr lang="en-US" altLang="zh-CN" b="1">
                  <a:solidFill>
                    <a:srgbClr val="020001"/>
                  </a:solidFill>
                  <a:latin typeface="+mn-ea"/>
                </a:rPr>
                <a:t>4</a:t>
              </a:r>
              <a:endParaRPr lang="zh-CN" altLang="en-US" b="1">
                <a:solidFill>
                  <a:srgbClr val="020001"/>
                </a:solidFill>
                <a:latin typeface="+mn-ea"/>
              </a:endParaRPr>
            </a:p>
          </p:txBody>
        </p:sp>
      </p:grpSp>
      <p:grpSp>
        <p:nvGrpSpPr>
          <p:cNvPr id="50" name="Group 36"/>
          <p:cNvGrpSpPr/>
          <p:nvPr/>
        </p:nvGrpSpPr>
        <p:grpSpPr bwMode="auto">
          <a:xfrm>
            <a:off x="4244788" y="3599330"/>
            <a:ext cx="1905000" cy="381000"/>
            <a:chOff x="1776" y="1680"/>
            <a:chExt cx="432" cy="240"/>
          </a:xfrm>
        </p:grpSpPr>
        <p:sp>
          <p:nvSpPr>
            <p:cNvPr id="51" name="Rectangle 37"/>
            <p:cNvSpPr>
              <a:spLocks noChangeArrowheads="1"/>
            </p:cNvSpPr>
            <p:nvPr/>
          </p:nvSpPr>
          <p:spPr bwMode="auto">
            <a:xfrm>
              <a:off x="1872" y="1680"/>
              <a:ext cx="59"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p:txBody>
        </p:sp>
        <p:sp>
          <p:nvSpPr>
            <p:cNvPr id="52" name="Line 38"/>
            <p:cNvSpPr>
              <a:spLocks noChangeShapeType="1"/>
            </p:cNvSpPr>
            <p:nvPr/>
          </p:nvSpPr>
          <p:spPr bwMode="auto">
            <a:xfrm>
              <a:off x="1776" y="1920"/>
              <a:ext cx="43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grpSp>
        <p:nvGrpSpPr>
          <p:cNvPr id="53" name="Group 39"/>
          <p:cNvGrpSpPr/>
          <p:nvPr/>
        </p:nvGrpSpPr>
        <p:grpSpPr bwMode="auto">
          <a:xfrm>
            <a:off x="6149788" y="3599330"/>
            <a:ext cx="2133600" cy="1828800"/>
            <a:chOff x="1344" y="2112"/>
            <a:chExt cx="1201" cy="768"/>
          </a:xfrm>
        </p:grpSpPr>
        <p:sp useBgFill="1">
          <p:nvSpPr>
            <p:cNvPr id="54" name="AutoShape 40"/>
            <p:cNvSpPr>
              <a:spLocks noChangeArrowheads="1"/>
            </p:cNvSpPr>
            <p:nvPr/>
          </p:nvSpPr>
          <p:spPr bwMode="auto">
            <a:xfrm>
              <a:off x="1344" y="2112"/>
              <a:ext cx="1201" cy="768"/>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F4007A"/>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.L,E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F4007A"/>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.E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a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55" name="Oval 41"/>
            <p:cNvSpPr>
              <a:spLocks noChangeArrowheads="1"/>
            </p:cNvSpPr>
            <p:nvPr/>
          </p:nvSpPr>
          <p:spPr bwMode="auto">
            <a:xfrm>
              <a:off x="2304" y="2640"/>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6</a:t>
              </a:r>
              <a:endParaRPr lang="zh-CN" altLang="en-US" b="1">
                <a:solidFill>
                  <a:srgbClr val="020001"/>
                </a:solidFill>
                <a:latin typeface="+mn-ea"/>
              </a:endParaRPr>
            </a:p>
          </p:txBody>
        </p:sp>
      </p:grpSp>
      <p:grpSp>
        <p:nvGrpSpPr>
          <p:cNvPr id="56" name="Group 42"/>
          <p:cNvGrpSpPr/>
          <p:nvPr/>
        </p:nvGrpSpPr>
        <p:grpSpPr bwMode="auto">
          <a:xfrm>
            <a:off x="3863787" y="4132729"/>
            <a:ext cx="462124" cy="368528"/>
            <a:chOff x="2892" y="2832"/>
            <a:chExt cx="554" cy="406"/>
          </a:xfrm>
        </p:grpSpPr>
        <p:sp>
          <p:nvSpPr>
            <p:cNvPr id="57" name="Line 43"/>
            <p:cNvSpPr>
              <a:spLocks noChangeShapeType="1"/>
            </p:cNvSpPr>
            <p:nvPr/>
          </p:nvSpPr>
          <p:spPr bwMode="auto">
            <a:xfrm>
              <a:off x="2892" y="2976"/>
              <a:ext cx="240" cy="192"/>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58" name="Rectangle 44"/>
            <p:cNvSpPr>
              <a:spLocks noChangeArrowheads="1"/>
            </p:cNvSpPr>
            <p:nvPr/>
          </p:nvSpPr>
          <p:spPr bwMode="auto">
            <a:xfrm>
              <a:off x="3084" y="2832"/>
              <a:ext cx="362"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a</a:t>
              </a:r>
              <a:endParaRPr lang="zh-CN" altLang="en-US" b="1">
                <a:solidFill>
                  <a:srgbClr val="020001"/>
                </a:solidFill>
                <a:latin typeface="+mn-ea"/>
                <a:sym typeface="Symbol" panose="05050102010706020507" pitchFamily="18" charset="2"/>
              </a:endParaRPr>
            </a:p>
          </p:txBody>
        </p:sp>
      </p:grpSp>
      <p:grpSp>
        <p:nvGrpSpPr>
          <p:cNvPr id="59" name="Group 45"/>
          <p:cNvGrpSpPr/>
          <p:nvPr/>
        </p:nvGrpSpPr>
        <p:grpSpPr bwMode="auto">
          <a:xfrm>
            <a:off x="3787588" y="4437530"/>
            <a:ext cx="1600200" cy="533400"/>
            <a:chOff x="3084" y="3168"/>
            <a:chExt cx="1201" cy="336"/>
          </a:xfrm>
        </p:grpSpPr>
        <p:sp useBgFill="1">
          <p:nvSpPr>
            <p:cNvPr id="60" name="AutoShape 46"/>
            <p:cNvSpPr>
              <a:spLocks noChangeArrowheads="1"/>
            </p:cNvSpPr>
            <p:nvPr/>
          </p:nvSpPr>
          <p:spPr bwMode="auto">
            <a:xfrm>
              <a:off x="3084" y="3168"/>
              <a:ext cx="1201" cy="33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 </a:t>
              </a:r>
              <a:r>
                <a:rPr lang="en-US" altLang="zh-CN" b="1">
                  <a:solidFill>
                    <a:srgbClr val="020001"/>
                  </a:solidFill>
                  <a:latin typeface="+mn-ea"/>
                  <a:sym typeface="Symbol" panose="05050102010706020507" pitchFamily="18" charset="2"/>
                </a:rPr>
                <a:t> a</a:t>
              </a:r>
              <a:r>
                <a:rPr lang="en-US" altLang="zh-CN" b="1">
                  <a:solidFill>
                    <a:srgbClr val="020001"/>
                  </a:solidFill>
                  <a:latin typeface="+mn-ea"/>
                </a:rPr>
                <a:t> </a:t>
              </a:r>
              <a:r>
                <a:rPr lang="en-US" altLang="zh-CN" b="1">
                  <a:solidFill>
                    <a:srgbClr val="020001"/>
                  </a:solidFill>
                  <a:latin typeface="+mn-ea"/>
                  <a:sym typeface="Symbol" panose="05050102010706020507" pitchFamily="18" charset="2"/>
                </a:rPr>
                <a:t>. </a:t>
              </a:r>
              <a:r>
                <a:rPr lang="en-US" altLang="zh-CN" b="1">
                  <a:solidFill>
                    <a:srgbClr val="F4007A"/>
                  </a:solidFill>
                  <a:latin typeface="+mn-ea"/>
                  <a:sym typeface="Symbol" panose="05050102010706020507" pitchFamily="18" charset="2"/>
                </a:rPr>
                <a:t>,</a:t>
              </a:r>
              <a:r>
                <a:rPr lang="en-US" altLang="zh-CN" b="1">
                  <a:solidFill>
                    <a:srgbClr val="020001"/>
                  </a:solidFill>
                  <a:latin typeface="+mn-ea"/>
                  <a:sym typeface="Symbol" panose="05050102010706020507" pitchFamily="18" charset="2"/>
                </a:rPr>
                <a:t> )/, ]</a:t>
              </a:r>
              <a:endParaRPr lang="en-US" altLang="zh-CN" b="1">
                <a:solidFill>
                  <a:srgbClr val="020001"/>
                </a:solidFill>
                <a:latin typeface="+mn-ea"/>
                <a:sym typeface="Symbol" panose="05050102010706020507" pitchFamily="18" charset="2"/>
              </a:endParaRPr>
            </a:p>
            <a:p>
              <a:pPr algn="ctr"/>
              <a:r>
                <a:rPr lang="zh-CN" altLang="en-US" b="1">
                  <a:solidFill>
                    <a:srgbClr val="020001"/>
                  </a:solidFill>
                  <a:latin typeface="+mn-ea"/>
                </a:rPr>
                <a:t>  </a:t>
              </a:r>
              <a:endParaRPr lang="zh-CN" altLang="en-US" b="1">
                <a:solidFill>
                  <a:srgbClr val="020001"/>
                </a:solidFill>
                <a:latin typeface="+mn-ea"/>
              </a:endParaRPr>
            </a:p>
          </p:txBody>
        </p:sp>
        <p:sp useBgFill="1">
          <p:nvSpPr>
            <p:cNvPr id="61" name="Oval 47"/>
            <p:cNvSpPr>
              <a:spLocks noChangeArrowheads="1"/>
            </p:cNvSpPr>
            <p:nvPr/>
          </p:nvSpPr>
          <p:spPr bwMode="auto">
            <a:xfrm>
              <a:off x="4092" y="3312"/>
              <a:ext cx="192" cy="192"/>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7</a:t>
              </a:r>
              <a:endParaRPr lang="zh-CN" altLang="en-US" b="1">
                <a:solidFill>
                  <a:srgbClr val="020001"/>
                </a:solidFill>
                <a:latin typeface="+mn-ea"/>
              </a:endParaRPr>
            </a:p>
          </p:txBody>
        </p:sp>
      </p:grpSp>
      <p:grpSp>
        <p:nvGrpSpPr>
          <p:cNvPr id="62" name="Group 48"/>
          <p:cNvGrpSpPr/>
          <p:nvPr/>
        </p:nvGrpSpPr>
        <p:grpSpPr bwMode="auto">
          <a:xfrm>
            <a:off x="2225488" y="5442418"/>
            <a:ext cx="381000" cy="533400"/>
            <a:chOff x="801" y="3168"/>
            <a:chExt cx="240" cy="336"/>
          </a:xfrm>
        </p:grpSpPr>
        <p:sp>
          <p:nvSpPr>
            <p:cNvPr id="63" name="Line 49"/>
            <p:cNvSpPr>
              <a:spLocks noChangeShapeType="1"/>
            </p:cNvSpPr>
            <p:nvPr/>
          </p:nvSpPr>
          <p:spPr bwMode="auto">
            <a:xfrm flipH="1">
              <a:off x="1041" y="3168"/>
              <a:ext cx="0"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64" name="Rectangle 50"/>
            <p:cNvSpPr>
              <a:spLocks noChangeArrowheads="1"/>
            </p:cNvSpPr>
            <p:nvPr/>
          </p:nvSpPr>
          <p:spPr bwMode="auto">
            <a:xfrm>
              <a:off x="801" y="3216"/>
              <a:ext cx="16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20001"/>
                  </a:solidFill>
                  <a:latin typeface="+mn-ea"/>
                  <a:sym typeface="Symbol" panose="05050102010706020507" pitchFamily="18" charset="2"/>
                </a:rPr>
                <a:t>)</a:t>
              </a:r>
              <a:endParaRPr lang="zh-CN" altLang="en-US" b="1">
                <a:solidFill>
                  <a:srgbClr val="020001"/>
                </a:solidFill>
                <a:latin typeface="+mn-ea"/>
                <a:sym typeface="Symbol" panose="05050102010706020507" pitchFamily="18" charset="2"/>
              </a:endParaRPr>
            </a:p>
          </p:txBody>
        </p:sp>
      </p:grpSp>
      <p:grpSp>
        <p:nvGrpSpPr>
          <p:cNvPr id="65" name="Group 51"/>
          <p:cNvGrpSpPr/>
          <p:nvPr/>
        </p:nvGrpSpPr>
        <p:grpSpPr bwMode="auto">
          <a:xfrm>
            <a:off x="1844488" y="5975818"/>
            <a:ext cx="1600200" cy="609600"/>
            <a:chOff x="561" y="3504"/>
            <a:chExt cx="1008" cy="384"/>
          </a:xfrm>
        </p:grpSpPr>
        <p:sp useBgFill="1">
          <p:nvSpPr>
            <p:cNvPr id="66" name="AutoShape 52"/>
            <p:cNvSpPr>
              <a:spLocks noChangeArrowheads="1"/>
            </p:cNvSpPr>
            <p:nvPr/>
          </p:nvSpPr>
          <p:spPr bwMode="auto">
            <a:xfrm>
              <a:off x="561" y="3504"/>
              <a:ext cx="996" cy="384"/>
            </a:xfrm>
            <a:prstGeom prst="roundRect">
              <a:avLst>
                <a:gd name="adj" fmla="val 16667"/>
              </a:avLst>
            </a:prstGeom>
            <a:ln w="9525">
              <a:solidFill>
                <a:schemeClr val="tx1"/>
              </a:solidFill>
              <a:miter lim="800000"/>
            </a:ln>
          </p:spPr>
          <p:txBody>
            <a:bodyPr wrap="none" anchor="ctr"/>
            <a:lstStyle/>
            <a:p>
              <a:pPr algn="ctr" eaLnBrk="0" hangingPunct="0"/>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67" name="Oval 53"/>
            <p:cNvSpPr>
              <a:spLocks noChangeArrowheads="1"/>
            </p:cNvSpPr>
            <p:nvPr/>
          </p:nvSpPr>
          <p:spPr bwMode="auto">
            <a:xfrm>
              <a:off x="1425" y="3744"/>
              <a:ext cx="144" cy="133"/>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8</a:t>
              </a:r>
              <a:endParaRPr lang="zh-CN" altLang="en-US" b="1">
                <a:solidFill>
                  <a:srgbClr val="020001"/>
                </a:solidFill>
                <a:latin typeface="+mn-ea"/>
              </a:endParaRPr>
            </a:p>
          </p:txBody>
        </p:sp>
      </p:grpSp>
      <p:sp>
        <p:nvSpPr>
          <p:cNvPr id="68" name="Line 54"/>
          <p:cNvSpPr>
            <a:spLocks noChangeShapeType="1"/>
          </p:cNvSpPr>
          <p:nvPr/>
        </p:nvSpPr>
        <p:spPr bwMode="auto">
          <a:xfrm>
            <a:off x="3406588" y="5351930"/>
            <a:ext cx="60960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69" name="Rectangle 55"/>
          <p:cNvSpPr>
            <a:spLocks noChangeArrowheads="1"/>
          </p:cNvSpPr>
          <p:nvPr/>
        </p:nvSpPr>
        <p:spPr bwMode="auto">
          <a:xfrm>
            <a:off x="3635188" y="5123330"/>
            <a:ext cx="3048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b="1">
                <a:solidFill>
                  <a:srgbClr val="020001"/>
                </a:solidFill>
                <a:latin typeface="+mn-ea"/>
              </a:rPr>
              <a:t>,</a:t>
            </a:r>
            <a:endParaRPr lang="zh-CN" altLang="en-US" b="1">
              <a:solidFill>
                <a:srgbClr val="020001"/>
              </a:solidFill>
              <a:latin typeface="+mn-ea"/>
            </a:endParaRPr>
          </a:p>
        </p:txBody>
      </p:sp>
      <p:grpSp>
        <p:nvGrpSpPr>
          <p:cNvPr id="70" name="Group 56"/>
          <p:cNvGrpSpPr/>
          <p:nvPr/>
        </p:nvGrpSpPr>
        <p:grpSpPr bwMode="auto">
          <a:xfrm>
            <a:off x="4016188" y="5428130"/>
            <a:ext cx="1677988" cy="1143000"/>
            <a:chOff x="1932" y="2256"/>
            <a:chExt cx="1057" cy="720"/>
          </a:xfrm>
        </p:grpSpPr>
        <p:sp useBgFill="1">
          <p:nvSpPr>
            <p:cNvPr id="71" name="AutoShape 57"/>
            <p:cNvSpPr>
              <a:spLocks noChangeArrowheads="1"/>
            </p:cNvSpPr>
            <p:nvPr/>
          </p:nvSpPr>
          <p:spPr bwMode="auto">
            <a:xfrm>
              <a:off x="1932" y="2256"/>
              <a:ext cx="1057" cy="720"/>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sym typeface="Symbol" panose="05050102010706020507" pitchFamily="18" charset="2"/>
                </a:rPr>
                <a:t>[L L, .E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a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a:p>
              <a:pPr algn="ctr"/>
              <a:endParaRPr lang="zh-CN" altLang="en-US" b="1">
                <a:solidFill>
                  <a:srgbClr val="020001"/>
                </a:solidFill>
                <a:latin typeface="+mn-ea"/>
              </a:endParaRPr>
            </a:p>
          </p:txBody>
        </p:sp>
        <p:sp useBgFill="1">
          <p:nvSpPr>
            <p:cNvPr id="72" name="Oval 58"/>
            <p:cNvSpPr>
              <a:spLocks noChangeArrowheads="1"/>
            </p:cNvSpPr>
            <p:nvPr/>
          </p:nvSpPr>
          <p:spPr bwMode="auto">
            <a:xfrm>
              <a:off x="2796" y="2784"/>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9</a:t>
              </a:r>
              <a:endParaRPr lang="zh-CN" altLang="en-US" b="1">
                <a:solidFill>
                  <a:srgbClr val="020001"/>
                </a:solidFill>
                <a:latin typeface="+mn-ea"/>
              </a:endParaRPr>
            </a:p>
          </p:txBody>
        </p:sp>
      </p:grpSp>
      <p:sp>
        <p:nvSpPr>
          <p:cNvPr id="73" name="Line 59"/>
          <p:cNvSpPr>
            <a:spLocks noChangeShapeType="1"/>
          </p:cNvSpPr>
          <p:nvPr/>
        </p:nvSpPr>
        <p:spPr bwMode="auto">
          <a:xfrm>
            <a:off x="8054788" y="5428130"/>
            <a:ext cx="6096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74" name="Rectangle 60"/>
          <p:cNvSpPr>
            <a:spLocks noChangeArrowheads="1"/>
          </p:cNvSpPr>
          <p:nvPr/>
        </p:nvSpPr>
        <p:spPr bwMode="auto">
          <a:xfrm>
            <a:off x="8283388" y="5275730"/>
            <a:ext cx="306388" cy="30638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b="1">
                <a:solidFill>
                  <a:srgbClr val="020001"/>
                </a:solidFill>
                <a:latin typeface="+mn-ea"/>
              </a:rPr>
              <a:t>L</a:t>
            </a:r>
            <a:endParaRPr lang="en-US" altLang="zh-CN" b="1">
              <a:solidFill>
                <a:srgbClr val="020001"/>
              </a:solidFill>
              <a:latin typeface="+mn-ea"/>
            </a:endParaRPr>
          </a:p>
        </p:txBody>
      </p:sp>
      <p:grpSp>
        <p:nvGrpSpPr>
          <p:cNvPr id="75" name="Group 61"/>
          <p:cNvGrpSpPr/>
          <p:nvPr/>
        </p:nvGrpSpPr>
        <p:grpSpPr bwMode="auto">
          <a:xfrm>
            <a:off x="8359588" y="5885330"/>
            <a:ext cx="1809750" cy="762000"/>
            <a:chOff x="576" y="2592"/>
            <a:chExt cx="1140" cy="576"/>
          </a:xfrm>
        </p:grpSpPr>
        <p:sp useBgFill="1">
          <p:nvSpPr>
            <p:cNvPr id="76" name="AutoShape 62"/>
            <p:cNvSpPr>
              <a:spLocks noChangeArrowheads="1"/>
            </p:cNvSpPr>
            <p:nvPr/>
          </p:nvSpPr>
          <p:spPr bwMode="auto">
            <a:xfrm>
              <a:off x="576" y="2592"/>
              <a:ext cx="1104" cy="57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en-US" altLang="zh-CN" b="1">
                  <a:solidFill>
                    <a:srgbClr val="020001"/>
                  </a:solidFill>
                  <a:latin typeface="+mn-ea"/>
                  <a:sym typeface="Symbol" panose="05050102010706020507" pitchFamily="18" charset="2"/>
                </a:rPr>
                <a:t>[L L.,E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77" name="Oval 63"/>
            <p:cNvSpPr>
              <a:spLocks noChangeArrowheads="1"/>
            </p:cNvSpPr>
            <p:nvPr/>
          </p:nvSpPr>
          <p:spPr bwMode="auto">
            <a:xfrm>
              <a:off x="1572" y="2976"/>
              <a:ext cx="144" cy="177"/>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10</a:t>
              </a:r>
              <a:endParaRPr lang="zh-CN" altLang="en-US" b="1">
                <a:solidFill>
                  <a:srgbClr val="020001"/>
                </a:solidFill>
                <a:latin typeface="+mn-ea"/>
              </a:endParaRPr>
            </a:p>
          </p:txBody>
        </p:sp>
      </p:grpSp>
      <p:sp>
        <p:nvSpPr>
          <p:cNvPr id="78" name="Line 64"/>
          <p:cNvSpPr>
            <a:spLocks noChangeShapeType="1"/>
          </p:cNvSpPr>
          <p:nvPr/>
        </p:nvSpPr>
        <p:spPr bwMode="auto">
          <a:xfrm>
            <a:off x="5692588" y="5809130"/>
            <a:ext cx="685800" cy="0"/>
          </a:xfrm>
          <a:prstGeom prst="line">
            <a:avLst/>
          </a:prstGeom>
          <a:noFill/>
          <a:ln w="9525">
            <a:solidFill>
              <a:srgbClr val="050507"/>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79" name="Rectangle 65"/>
          <p:cNvSpPr>
            <a:spLocks noChangeArrowheads="1"/>
          </p:cNvSpPr>
          <p:nvPr/>
        </p:nvSpPr>
        <p:spPr bwMode="auto">
          <a:xfrm>
            <a:off x="5864038" y="5504330"/>
            <a:ext cx="28575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b="1">
                <a:solidFill>
                  <a:srgbClr val="020001"/>
                </a:solidFill>
                <a:latin typeface="+mn-ea"/>
              </a:rPr>
              <a:t>E</a:t>
            </a:r>
            <a:endParaRPr lang="en-US" altLang="zh-CN" b="1">
              <a:solidFill>
                <a:srgbClr val="020001"/>
              </a:solidFill>
              <a:latin typeface="+mn-ea"/>
            </a:endParaRPr>
          </a:p>
        </p:txBody>
      </p:sp>
      <p:grpSp>
        <p:nvGrpSpPr>
          <p:cNvPr id="80" name="Group 66"/>
          <p:cNvGrpSpPr/>
          <p:nvPr/>
        </p:nvGrpSpPr>
        <p:grpSpPr bwMode="auto">
          <a:xfrm>
            <a:off x="6378388" y="5580530"/>
            <a:ext cx="1677988" cy="533400"/>
            <a:chOff x="1884" y="3216"/>
            <a:chExt cx="1057" cy="336"/>
          </a:xfrm>
        </p:grpSpPr>
        <p:sp useBgFill="1">
          <p:nvSpPr>
            <p:cNvPr id="81" name="AutoShape 67"/>
            <p:cNvSpPr>
              <a:spLocks noChangeArrowheads="1"/>
            </p:cNvSpPr>
            <p:nvPr/>
          </p:nvSpPr>
          <p:spPr bwMode="auto">
            <a:xfrm>
              <a:off x="1884" y="3216"/>
              <a:ext cx="1057" cy="336"/>
            </a:xfrm>
            <a:prstGeom prst="roundRect">
              <a:avLst>
                <a:gd name="adj" fmla="val 16667"/>
              </a:avLst>
            </a:prstGeom>
            <a:ln w="9525">
              <a:solidFill>
                <a:schemeClr val="tx1"/>
              </a:solidFill>
              <a:miter lim="800000"/>
            </a:ln>
          </p:spPr>
          <p:txBody>
            <a:bodyPr wrap="none" anchor="ctr"/>
            <a:lstStyle/>
            <a:p>
              <a:pPr algn="ctr"/>
              <a:r>
                <a:rPr lang="en-US" altLang="zh-CN" b="1">
                  <a:solidFill>
                    <a:srgbClr val="020001"/>
                  </a:solidFill>
                  <a:latin typeface="+mn-ea"/>
                  <a:sym typeface="Symbol" panose="05050102010706020507" pitchFamily="18" charset="2"/>
                </a:rPr>
                <a:t>[L L, E . </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endParaRPr lang="en-US" altLang="zh-CN" b="1">
                <a:solidFill>
                  <a:srgbClr val="020001"/>
                </a:solidFill>
                <a:latin typeface="+mn-ea"/>
                <a:sym typeface="Symbol" panose="05050102010706020507" pitchFamily="18" charset="2"/>
              </a:endParaRPr>
            </a:p>
            <a:p>
              <a:pPr algn="ctr"/>
              <a:r>
                <a:rPr lang="zh-CN" altLang="en-US" b="1">
                  <a:solidFill>
                    <a:srgbClr val="020001"/>
                  </a:solidFill>
                  <a:latin typeface="+mn-ea"/>
                </a:rPr>
                <a:t>              </a:t>
              </a:r>
              <a:endParaRPr lang="zh-CN" altLang="en-US" b="1">
                <a:solidFill>
                  <a:srgbClr val="020001"/>
                </a:solidFill>
                <a:latin typeface="+mn-ea"/>
              </a:endParaRPr>
            </a:p>
          </p:txBody>
        </p:sp>
        <p:sp useBgFill="1">
          <p:nvSpPr>
            <p:cNvPr id="82" name="Oval 68"/>
            <p:cNvSpPr>
              <a:spLocks noChangeArrowheads="1"/>
            </p:cNvSpPr>
            <p:nvPr/>
          </p:nvSpPr>
          <p:spPr bwMode="auto">
            <a:xfrm>
              <a:off x="2748" y="3408"/>
              <a:ext cx="144" cy="144"/>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11</a:t>
              </a:r>
              <a:endParaRPr lang="zh-CN" altLang="en-US" b="1">
                <a:solidFill>
                  <a:srgbClr val="020001"/>
                </a:solidFill>
                <a:latin typeface="+mn-ea"/>
              </a:endParaRPr>
            </a:p>
          </p:txBody>
        </p:sp>
      </p:grpSp>
      <p:grpSp>
        <p:nvGrpSpPr>
          <p:cNvPr id="83" name="Group 69"/>
          <p:cNvGrpSpPr/>
          <p:nvPr/>
        </p:nvGrpSpPr>
        <p:grpSpPr bwMode="auto">
          <a:xfrm>
            <a:off x="8511988" y="4742330"/>
            <a:ext cx="1676400" cy="685800"/>
            <a:chOff x="4608" y="3216"/>
            <a:chExt cx="1056" cy="432"/>
          </a:xfrm>
        </p:grpSpPr>
        <p:sp useBgFill="1">
          <p:nvSpPr>
            <p:cNvPr id="84" name="AutoShape 70"/>
            <p:cNvSpPr>
              <a:spLocks noChangeArrowheads="1"/>
            </p:cNvSpPr>
            <p:nvPr/>
          </p:nvSpPr>
          <p:spPr bwMode="auto">
            <a:xfrm>
              <a:off x="4608" y="3216"/>
              <a:ext cx="996" cy="384"/>
            </a:xfrm>
            <a:prstGeom prst="roundRect">
              <a:avLst>
                <a:gd name="adj" fmla="val 16667"/>
              </a:avLst>
            </a:prstGeom>
            <a:ln w="9525">
              <a:solidFill>
                <a:schemeClr val="tx1"/>
              </a:solidFill>
              <a:miter lim="800000"/>
            </a:ln>
          </p:spPr>
          <p:txBody>
            <a:bodyPr wrap="none" anchor="ctr"/>
            <a:lstStyle/>
            <a:p>
              <a:pPr algn="ctr" eaLnBrk="0" hangingPunct="0"/>
              <a:r>
                <a:rPr lang="en-US" altLang="zh-CN" b="1">
                  <a:solidFill>
                    <a:srgbClr val="020001"/>
                  </a:solidFill>
                  <a:latin typeface="+mn-ea"/>
                </a:rPr>
                <a:t>[E</a:t>
              </a:r>
              <a:r>
                <a:rPr lang="en-US" altLang="zh-CN" b="1">
                  <a:solidFill>
                    <a:srgbClr val="020001"/>
                  </a:solidFill>
                  <a:latin typeface="+mn-ea"/>
                  <a:sym typeface="Symbol" panose="05050102010706020507" pitchFamily="18" charset="2"/>
                </a:rPr>
                <a:t> (L).</a:t>
              </a:r>
              <a:r>
                <a:rPr lang="en-US" altLang="zh-CN" b="1">
                  <a:solidFill>
                    <a:srgbClr val="F4007A"/>
                  </a:solidFill>
                  <a:latin typeface="+mn-ea"/>
                  <a:sym typeface="Symbol" panose="05050102010706020507" pitchFamily="18" charset="2"/>
                </a:rPr>
                <a:t>, </a:t>
              </a:r>
              <a:r>
                <a:rPr lang="en-US" altLang="zh-CN" b="1">
                  <a:solidFill>
                    <a:srgbClr val="020001"/>
                  </a:solidFill>
                  <a:latin typeface="+mn-ea"/>
                  <a:sym typeface="Symbol" panose="05050102010706020507" pitchFamily="18" charset="2"/>
                </a:rPr>
                <a:t>)/,]</a:t>
              </a:r>
              <a:r>
                <a:rPr lang="zh-CN" altLang="en-US" b="1">
                  <a:solidFill>
                    <a:srgbClr val="020001"/>
                  </a:solidFill>
                  <a:latin typeface="+mn-ea"/>
                </a:rPr>
                <a:t> </a:t>
              </a:r>
              <a:endParaRPr lang="zh-CN" altLang="en-US" b="1">
                <a:solidFill>
                  <a:srgbClr val="020001"/>
                </a:solidFill>
                <a:latin typeface="+mn-ea"/>
              </a:endParaRPr>
            </a:p>
          </p:txBody>
        </p:sp>
        <p:sp useBgFill="1">
          <p:nvSpPr>
            <p:cNvPr id="85" name="Oval 71"/>
            <p:cNvSpPr>
              <a:spLocks noChangeArrowheads="1"/>
            </p:cNvSpPr>
            <p:nvPr/>
          </p:nvSpPr>
          <p:spPr bwMode="auto">
            <a:xfrm>
              <a:off x="5472" y="3456"/>
              <a:ext cx="192" cy="192"/>
            </a:xfrm>
            <a:prstGeom prst="ellipse">
              <a:avLst/>
            </a:prstGeom>
            <a:ln w="9525">
              <a:solidFill>
                <a:srgbClr val="020001"/>
              </a:solidFill>
              <a:miter lim="800000"/>
            </a:ln>
          </p:spPr>
          <p:txBody>
            <a:bodyPr wrap="none" anchor="ctr"/>
            <a:lstStyle/>
            <a:p>
              <a:pPr algn="ctr"/>
              <a:r>
                <a:rPr lang="zh-CN" altLang="en-US" b="1">
                  <a:solidFill>
                    <a:srgbClr val="020001"/>
                  </a:solidFill>
                  <a:latin typeface="+mn-ea"/>
                </a:rPr>
                <a:t>12</a:t>
              </a:r>
              <a:endParaRPr lang="zh-CN" altLang="en-US" b="1">
                <a:solidFill>
                  <a:srgbClr val="020001"/>
                </a:solidFill>
                <a:latin typeface="+mn-ea"/>
              </a:endParaRPr>
            </a:p>
          </p:txBody>
        </p:sp>
      </p:grpSp>
      <p:sp>
        <p:nvSpPr>
          <p:cNvPr id="86" name="Line 72"/>
          <p:cNvSpPr>
            <a:spLocks noChangeShapeType="1"/>
          </p:cNvSpPr>
          <p:nvPr/>
        </p:nvSpPr>
        <p:spPr bwMode="auto">
          <a:xfrm flipH="1" flipV="1">
            <a:off x="9045388" y="5351930"/>
            <a:ext cx="0" cy="533400"/>
          </a:xfrm>
          <a:prstGeom prst="line">
            <a:avLst/>
          </a:prstGeom>
          <a:noFill/>
          <a:ln w="9525">
            <a:solidFill>
              <a:srgbClr val="02000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87" name="Rectangle 73"/>
          <p:cNvSpPr>
            <a:spLocks noChangeArrowheads="1"/>
          </p:cNvSpPr>
          <p:nvPr/>
        </p:nvSpPr>
        <p:spPr bwMode="auto">
          <a:xfrm>
            <a:off x="9121588" y="5504330"/>
            <a:ext cx="2286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b="1">
                <a:solidFill>
                  <a:srgbClr val="020001"/>
                </a:solidFill>
                <a:latin typeface="+mn-ea"/>
              </a:rPr>
              <a:t>)</a:t>
            </a:r>
            <a:endParaRPr lang="zh-CN" altLang="en-US" b="1">
              <a:solidFill>
                <a:srgbClr val="020001"/>
              </a:solidFill>
              <a:latin typeface="+mn-ea"/>
            </a:endParaRPr>
          </a:p>
        </p:txBody>
      </p:sp>
      <p:sp>
        <p:nvSpPr>
          <p:cNvPr id="88" name="Line 74"/>
          <p:cNvSpPr>
            <a:spLocks noChangeShapeType="1"/>
          </p:cNvSpPr>
          <p:nvPr/>
        </p:nvSpPr>
        <p:spPr bwMode="auto">
          <a:xfrm flipH="1" flipV="1">
            <a:off x="6302188" y="3065930"/>
            <a:ext cx="381000" cy="533400"/>
          </a:xfrm>
          <a:prstGeom prst="line">
            <a:avLst/>
          </a:prstGeom>
          <a:noFill/>
          <a:ln w="9525">
            <a:solidFill>
              <a:srgbClr val="02000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89" name="Rectangle 75"/>
          <p:cNvSpPr>
            <a:spLocks noChangeArrowheads="1"/>
          </p:cNvSpPr>
          <p:nvPr/>
        </p:nvSpPr>
        <p:spPr bwMode="auto">
          <a:xfrm>
            <a:off x="6530788" y="3142130"/>
            <a:ext cx="2286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b="1">
                <a:solidFill>
                  <a:srgbClr val="020001"/>
                </a:solidFill>
                <a:latin typeface="+mn-ea"/>
              </a:rPr>
              <a:t>E</a:t>
            </a:r>
            <a:endParaRPr lang="en-US" altLang="zh-CN" b="1">
              <a:solidFill>
                <a:srgbClr val="020001"/>
              </a:solidFill>
              <a:latin typeface="+mn-ea"/>
            </a:endParaRPr>
          </a:p>
        </p:txBody>
      </p:sp>
      <p:cxnSp>
        <p:nvCxnSpPr>
          <p:cNvPr id="90" name="AutoShape 76"/>
          <p:cNvCxnSpPr>
            <a:cxnSpLocks noChangeShapeType="1"/>
          </p:cNvCxnSpPr>
          <p:nvPr/>
        </p:nvCxnSpPr>
        <p:spPr bwMode="auto">
          <a:xfrm flipH="1" flipV="1">
            <a:off x="7216588" y="3548530"/>
            <a:ext cx="1130300" cy="965200"/>
          </a:xfrm>
          <a:prstGeom prst="curvedConnector4">
            <a:avLst>
              <a:gd name="adj1" fmla="val -21431"/>
              <a:gd name="adj2" fmla="val 125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91" name="Rectangle 77"/>
          <p:cNvSpPr>
            <a:spLocks noChangeArrowheads="1"/>
          </p:cNvSpPr>
          <p:nvPr/>
        </p:nvSpPr>
        <p:spPr bwMode="auto">
          <a:xfrm>
            <a:off x="8265926" y="3065930"/>
            <a:ext cx="3222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b="1">
                <a:solidFill>
                  <a:srgbClr val="020001"/>
                </a:solidFill>
                <a:latin typeface="+mn-ea"/>
              </a:rPr>
              <a:t>(</a:t>
            </a:r>
            <a:endParaRPr lang="zh-CN" altLang="en-US" b="1">
              <a:solidFill>
                <a:srgbClr val="020001"/>
              </a:solidFill>
              <a:latin typeface="+mn-ea"/>
            </a:endParaRPr>
          </a:p>
        </p:txBody>
      </p:sp>
      <p:sp>
        <p:nvSpPr>
          <p:cNvPr id="92" name="Line 78"/>
          <p:cNvSpPr>
            <a:spLocks noChangeShapeType="1"/>
          </p:cNvSpPr>
          <p:nvPr/>
        </p:nvSpPr>
        <p:spPr bwMode="auto">
          <a:xfrm flipH="1" flipV="1">
            <a:off x="5387788" y="4666130"/>
            <a:ext cx="762000" cy="0"/>
          </a:xfrm>
          <a:prstGeom prst="line">
            <a:avLst/>
          </a:prstGeom>
          <a:noFill/>
          <a:ln w="9525">
            <a:solidFill>
              <a:srgbClr val="02000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93" name="Rectangle 79"/>
          <p:cNvSpPr>
            <a:spLocks noChangeArrowheads="1"/>
          </p:cNvSpPr>
          <p:nvPr/>
        </p:nvSpPr>
        <p:spPr bwMode="auto">
          <a:xfrm>
            <a:off x="5540188" y="4361330"/>
            <a:ext cx="3810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b="1">
                <a:solidFill>
                  <a:srgbClr val="020001"/>
                </a:solidFill>
                <a:latin typeface="+mn-ea"/>
              </a:rPr>
              <a:t>a</a:t>
            </a:r>
            <a:endParaRPr lang="en-US" altLang="zh-CN" b="1">
              <a:solidFill>
                <a:srgbClr val="020001"/>
              </a:solidFill>
              <a:latin typeface="+mn-ea"/>
            </a:endParaRPr>
          </a:p>
        </p:txBody>
      </p:sp>
      <p:sp>
        <p:nvSpPr>
          <p:cNvPr id="94" name="Line 80"/>
          <p:cNvSpPr>
            <a:spLocks noChangeShapeType="1"/>
          </p:cNvSpPr>
          <p:nvPr/>
        </p:nvSpPr>
        <p:spPr bwMode="auto">
          <a:xfrm flipV="1">
            <a:off x="5692588" y="4970930"/>
            <a:ext cx="457200" cy="533400"/>
          </a:xfrm>
          <a:prstGeom prst="line">
            <a:avLst/>
          </a:prstGeom>
          <a:noFill/>
          <a:ln w="9525">
            <a:solidFill>
              <a:srgbClr val="02000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95" name="Rectangle 81"/>
          <p:cNvSpPr>
            <a:spLocks noChangeArrowheads="1"/>
          </p:cNvSpPr>
          <p:nvPr/>
        </p:nvSpPr>
        <p:spPr bwMode="auto">
          <a:xfrm>
            <a:off x="5540188" y="5047130"/>
            <a:ext cx="3048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b="1">
                <a:solidFill>
                  <a:srgbClr val="020001"/>
                </a:solidFill>
                <a:latin typeface="+mn-ea"/>
              </a:rPr>
              <a:t>(</a:t>
            </a:r>
            <a:endParaRPr lang="zh-CN" altLang="en-US" b="1">
              <a:solidFill>
                <a:srgbClr val="020001"/>
              </a:solidFill>
              <a:latin typeface="+mn-ea"/>
            </a:endParaRPr>
          </a:p>
        </p:txBody>
      </p:sp>
      <p:sp>
        <p:nvSpPr>
          <p:cNvPr id="96" name="Line 82"/>
          <p:cNvSpPr>
            <a:spLocks noChangeShapeType="1"/>
          </p:cNvSpPr>
          <p:nvPr/>
        </p:nvSpPr>
        <p:spPr bwMode="auto">
          <a:xfrm flipV="1">
            <a:off x="4625788" y="4970930"/>
            <a:ext cx="0" cy="457200"/>
          </a:xfrm>
          <a:prstGeom prst="line">
            <a:avLst/>
          </a:prstGeom>
          <a:noFill/>
          <a:ln w="9525">
            <a:solidFill>
              <a:srgbClr val="02000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useBgFill="1">
        <p:nvSpPr>
          <p:cNvPr id="97" name="Rectangle 83"/>
          <p:cNvSpPr>
            <a:spLocks noChangeArrowheads="1"/>
          </p:cNvSpPr>
          <p:nvPr/>
        </p:nvSpPr>
        <p:spPr bwMode="auto">
          <a:xfrm>
            <a:off x="4244788" y="5123330"/>
            <a:ext cx="3048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b="1">
                <a:solidFill>
                  <a:srgbClr val="020001"/>
                </a:solidFill>
                <a:latin typeface="+mn-ea"/>
              </a:rPr>
              <a:t>a</a:t>
            </a:r>
            <a:endParaRPr lang="en-US" altLang="zh-CN" b="1">
              <a:solidFill>
                <a:srgbClr val="020001"/>
              </a:solidFill>
              <a:latin typeface="+mn-ea"/>
            </a:endParaRPr>
          </a:p>
        </p:txBody>
      </p:sp>
      <p:sp useBgFill="1">
        <p:nvSpPr>
          <p:cNvPr id="98" name="Rectangle 84"/>
          <p:cNvSpPr>
            <a:spLocks noChangeArrowheads="1"/>
          </p:cNvSpPr>
          <p:nvPr/>
        </p:nvSpPr>
        <p:spPr bwMode="auto">
          <a:xfrm>
            <a:off x="6759388" y="6266330"/>
            <a:ext cx="3810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b="1">
                <a:solidFill>
                  <a:srgbClr val="020001"/>
                </a:solidFill>
                <a:latin typeface="+mn-ea"/>
              </a:rPr>
              <a:t>,</a:t>
            </a:r>
            <a:endParaRPr lang="zh-CN" altLang="en-US" b="1">
              <a:solidFill>
                <a:srgbClr val="020001"/>
              </a:solidFill>
              <a:latin typeface="+mn-ea"/>
            </a:endParaRPr>
          </a:p>
        </p:txBody>
      </p:sp>
      <p:sp>
        <p:nvSpPr>
          <p:cNvPr id="99" name="Line 85"/>
          <p:cNvSpPr>
            <a:spLocks noChangeShapeType="1"/>
          </p:cNvSpPr>
          <p:nvPr/>
        </p:nvSpPr>
        <p:spPr bwMode="auto">
          <a:xfrm flipH="1">
            <a:off x="5692588" y="6342530"/>
            <a:ext cx="2667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3"/>
          <p:cNvSpPr>
            <a:spLocks noGrp="1"/>
          </p:cNvSpPr>
          <p:nvPr>
            <p:ph type="body" sz="quarter" idx="14"/>
            <p:custDataLst>
              <p:tags r:id="rId1"/>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Group 147"/>
          <p:cNvGraphicFramePr>
            <a:graphicFrameLocks noGrp="1"/>
          </p:cNvGraphicFramePr>
          <p:nvPr>
            <p:custDataLst>
              <p:tags r:id="rId1"/>
            </p:custDataLst>
          </p:nvPr>
        </p:nvGraphicFramePr>
        <p:xfrm>
          <a:off x="5305612" y="1259813"/>
          <a:ext cx="6172200" cy="4864735"/>
        </p:xfrm>
        <a:graphic>
          <a:graphicData uri="http://schemas.openxmlformats.org/drawingml/2006/table">
            <a:tbl>
              <a:tblPr/>
              <a:tblGrid>
                <a:gridCol w="771525"/>
                <a:gridCol w="768350"/>
                <a:gridCol w="771525"/>
                <a:gridCol w="771525"/>
                <a:gridCol w="768350"/>
                <a:gridCol w="796925"/>
                <a:gridCol w="838200"/>
                <a:gridCol w="685800"/>
              </a:tblGrid>
              <a:tr h="320040">
                <a:tc row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状态</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Action</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grid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Goto</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20040">
                <a:tc v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E</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L</a:t>
                      </a:r>
                      <a:endPar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0</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3</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acc</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7</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6</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8</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9</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4</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6</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7</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6</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4</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10</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7</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2</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8</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9</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7</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6</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 11</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10</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12</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S</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9</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11</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3</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0040">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12</a:t>
                      </a: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rPr>
                        <a:t>r</a:t>
                      </a:r>
                      <a:r>
                        <a:rPr kumimoji="0" lang="en-US" altLang="zh-CN"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rPr>
                        <a:t>1</a:t>
                      </a: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2500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500" b="1" i="0" u="none" strike="noStrike" cap="none" normalizeH="0" baseline="0">
                        <a:ln>
                          <a:noFill/>
                        </a:ln>
                        <a:solidFill>
                          <a:srgbClr val="020001"/>
                        </a:solidFill>
                        <a:effectLst/>
                        <a:latin typeface="Times New Roman" panose="02020603050405020304" pitchFamily="18"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1" name="Text Box 142"/>
          <p:cNvSpPr txBox="1">
            <a:spLocks noChangeArrowheads="1"/>
          </p:cNvSpPr>
          <p:nvPr/>
        </p:nvSpPr>
        <p:spPr bwMode="auto">
          <a:xfrm>
            <a:off x="400798" y="1955465"/>
            <a:ext cx="1479176"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rgbClr val="020001"/>
                </a:solidFill>
                <a:latin typeface="+mn-ea"/>
              </a:rPr>
              <a:t>(0)</a:t>
            </a:r>
            <a:r>
              <a:rPr lang="en-US" altLang="zh-CN" sz="2000" b="1" dirty="0">
                <a:solidFill>
                  <a:srgbClr val="020001"/>
                </a:solidFill>
                <a:latin typeface="+mn-ea"/>
              </a:rPr>
              <a:t>E'</a:t>
            </a:r>
            <a:r>
              <a:rPr lang="en-US" altLang="zh-CN" sz="2000" b="1" dirty="0">
                <a:solidFill>
                  <a:srgbClr val="020001"/>
                </a:solidFill>
                <a:latin typeface="+mn-ea"/>
                <a:sym typeface="Symbol" panose="05050102010706020507" pitchFamily="18" charset="2"/>
              </a:rPr>
              <a:t></a:t>
            </a:r>
            <a:r>
              <a:rPr lang="en-US" altLang="zh-CN" sz="2000" b="1" dirty="0">
                <a:solidFill>
                  <a:srgbClr val="020001"/>
                </a:solidFill>
                <a:latin typeface="+mn-ea"/>
              </a:rPr>
              <a:t>E   (1)E</a:t>
            </a:r>
            <a:r>
              <a:rPr lang="en-US" altLang="zh-CN" sz="2000" b="1" dirty="0">
                <a:solidFill>
                  <a:srgbClr val="020001"/>
                </a:solidFill>
                <a:latin typeface="+mn-ea"/>
                <a:sym typeface="Symbol" panose="05050102010706020507" pitchFamily="18" charset="2"/>
              </a:rPr>
              <a:t>(L)   </a:t>
            </a:r>
            <a:r>
              <a:rPr lang="en-US" altLang="zh-CN" sz="2000" b="1" dirty="0">
                <a:solidFill>
                  <a:srgbClr val="020001"/>
                </a:solidFill>
                <a:latin typeface="+mn-ea"/>
              </a:rPr>
              <a:t>(2)E</a:t>
            </a:r>
            <a:r>
              <a:rPr lang="en-US" altLang="zh-CN" sz="2000" b="1" dirty="0">
                <a:solidFill>
                  <a:srgbClr val="020001"/>
                </a:solidFill>
                <a:latin typeface="+mn-ea"/>
                <a:sym typeface="Symbol" panose="05050102010706020507" pitchFamily="18" charset="2"/>
              </a:rPr>
              <a:t> a    </a:t>
            </a:r>
            <a:r>
              <a:rPr lang="en-US" altLang="zh-CN" sz="2000" b="1" dirty="0">
                <a:solidFill>
                  <a:srgbClr val="020001"/>
                </a:solidFill>
                <a:latin typeface="+mn-ea"/>
              </a:rPr>
              <a:t>(3)L</a:t>
            </a:r>
            <a:r>
              <a:rPr lang="en-US" altLang="zh-CN" sz="2000" b="1" dirty="0">
                <a:solidFill>
                  <a:srgbClr val="020001"/>
                </a:solidFill>
                <a:latin typeface="+mn-ea"/>
                <a:sym typeface="Symbol" panose="05050102010706020507" pitchFamily="18" charset="2"/>
              </a:rPr>
              <a:t>L,E  </a:t>
            </a:r>
            <a:r>
              <a:rPr lang="en-US" altLang="zh-CN" sz="2000" b="1" dirty="0">
                <a:solidFill>
                  <a:srgbClr val="020001"/>
                </a:solidFill>
                <a:latin typeface="+mn-ea"/>
              </a:rPr>
              <a:t>(4)L</a:t>
            </a:r>
            <a:r>
              <a:rPr lang="en-US" altLang="zh-CN" sz="2000" b="1" dirty="0">
                <a:solidFill>
                  <a:srgbClr val="020001"/>
                </a:solidFill>
                <a:latin typeface="+mn-ea"/>
                <a:sym typeface="Symbol" panose="05050102010706020507" pitchFamily="18" charset="2"/>
              </a:rPr>
              <a:t>E</a:t>
            </a:r>
            <a:endParaRPr lang="en-US" altLang="zh-CN" sz="2000" b="1" dirty="0">
              <a:solidFill>
                <a:srgbClr val="020001"/>
              </a:solidFill>
              <a:latin typeface="+mn-ea"/>
              <a:sym typeface="Symbol" panose="05050102010706020507" pitchFamily="18" charset="2"/>
            </a:endParaRPr>
          </a:p>
        </p:txBody>
      </p:sp>
      <p:sp>
        <p:nvSpPr>
          <p:cNvPr id="102" name="Rectangle 145"/>
          <p:cNvSpPr>
            <a:spLocks noChangeArrowheads="1"/>
          </p:cNvSpPr>
          <p:nvPr/>
        </p:nvSpPr>
        <p:spPr bwMode="auto">
          <a:xfrm>
            <a:off x="397062" y="1182650"/>
            <a:ext cx="39071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20001"/>
                </a:solidFill>
                <a:latin typeface="+mn-ea"/>
              </a:rPr>
              <a:t>基于</a:t>
            </a:r>
            <a:r>
              <a:rPr lang="en-US" altLang="zh-CN" sz="2400" b="1" dirty="0">
                <a:solidFill>
                  <a:srgbClr val="020001"/>
                </a:solidFill>
                <a:latin typeface="+mn-ea"/>
              </a:rPr>
              <a:t>DFA</a:t>
            </a:r>
            <a:r>
              <a:rPr lang="zh-CN" altLang="en-US" sz="2400" b="1" dirty="0">
                <a:solidFill>
                  <a:srgbClr val="020001"/>
                </a:solidFill>
                <a:latin typeface="+mn-ea"/>
              </a:rPr>
              <a:t>构造的</a:t>
            </a:r>
            <a:r>
              <a:rPr lang="en-US" altLang="zh-CN" sz="2400" b="1" dirty="0">
                <a:solidFill>
                  <a:srgbClr val="020001"/>
                </a:solidFill>
                <a:latin typeface="+mn-ea"/>
              </a:rPr>
              <a:t>LR(1)</a:t>
            </a:r>
            <a:r>
              <a:rPr lang="zh-CN" altLang="en-US" sz="2400" b="1" dirty="0">
                <a:solidFill>
                  <a:srgbClr val="020001"/>
                </a:solidFill>
                <a:latin typeface="+mn-ea"/>
              </a:rPr>
              <a:t>分析表</a:t>
            </a:r>
            <a:endParaRPr lang="zh-CN" altLang="en-US" sz="24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文本占位符 3"/>
          <p:cNvSpPr>
            <a:spLocks noGrp="1"/>
          </p:cNvSpPr>
          <p:nvPr>
            <p:ph type="body" sz="quarter" idx="14"/>
            <p:custDataLst>
              <p:tags r:id="rId2"/>
            </p:custDataLst>
          </p:nvPr>
        </p:nvSpPr>
        <p:spPr>
          <a:xfrm>
            <a:off x="537210" y="276860"/>
            <a:ext cx="7315835" cy="593090"/>
          </a:xfrm>
        </p:spPr>
        <p:txBody>
          <a:bodyPr/>
          <a:lstStyle/>
          <a:p>
            <a:r>
              <a:rPr lang="en-US" altLang="zh-CN" sz="3200" dirty="0"/>
              <a:t>4.5 LR</a:t>
            </a:r>
            <a:r>
              <a:rPr lang="zh-CN" altLang="en-US" sz="3200" dirty="0"/>
              <a:t>（</a:t>
            </a:r>
            <a:r>
              <a:rPr lang="en-US" altLang="zh-CN" sz="3200" dirty="0"/>
              <a:t>1</a:t>
            </a:r>
            <a:r>
              <a:rPr lang="zh-CN" altLang="en-US" sz="3200" dirty="0"/>
              <a:t>）分析算法</a:t>
            </a:r>
            <a:r>
              <a:rPr lang="en-US" altLang="zh-CN" sz="3200" dirty="0"/>
              <a:t>(</a:t>
            </a:r>
            <a:r>
              <a:rPr lang="zh-CN" altLang="en-US" sz="3200" dirty="0"/>
              <a:t>续</a:t>
            </a:r>
            <a:r>
              <a:rPr lang="en-US" altLang="zh-CN" sz="3200" dirty="0"/>
              <a:t>)</a:t>
            </a:r>
            <a:endParaRPr lang="en-US" altLang="zh-CN" sz="3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4</a:t>
            </a:r>
            <a:r>
              <a:rPr lang="zh-CN" altLang="en-US" dirty="0"/>
              <a:t>单元</a:t>
            </a:r>
            <a:endParaRPr lang="zh-CN" altLang="en-US" dirty="0"/>
          </a:p>
        </p:txBody>
      </p:sp>
      <p:sp>
        <p:nvSpPr>
          <p:cNvPr id="24" name="文本占位符 23"/>
          <p:cNvSpPr>
            <a:spLocks noGrp="1"/>
          </p:cNvSpPr>
          <p:nvPr>
            <p:ph type="body" sz="quarter" idx="14"/>
          </p:nvPr>
        </p:nvSpPr>
        <p:spPr>
          <a:xfrm>
            <a:off x="1073150" y="1815465"/>
            <a:ext cx="8985250" cy="4563745"/>
          </a:xfrm>
        </p:spPr>
        <p:txBody>
          <a:bodyPr>
            <a:normAutofit fontScale="90000"/>
          </a:bodyPr>
          <a:lstStyle/>
          <a:p>
            <a:r>
              <a:rPr lang="zh-CN" altLang="en-US" b="1" dirty="0">
                <a:solidFill>
                  <a:schemeClr val="tx1"/>
                </a:solidFill>
              </a:rPr>
              <a:t> </a:t>
            </a:r>
            <a:r>
              <a:rPr lang="en-US" altLang="zh-CN" b="1" dirty="0">
                <a:solidFill>
                  <a:schemeClr val="tx1"/>
                </a:solidFill>
              </a:rPr>
              <a:t>4.1 </a:t>
            </a:r>
            <a:r>
              <a:rPr lang="zh-CN" altLang="en-US" b="1" dirty="0">
                <a:solidFill>
                  <a:schemeClr val="tx1"/>
                </a:solidFill>
              </a:rPr>
              <a:t>自下而上的语法分析概览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4.2 LR</a:t>
            </a:r>
            <a:r>
              <a:rPr lang="zh-CN" altLang="en-US" b="1" dirty="0">
                <a:solidFill>
                  <a:schemeClr val="tx1"/>
                </a:solidFill>
              </a:rPr>
              <a:t>分析概览</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4.3 LR(0)</a:t>
            </a:r>
            <a:r>
              <a:rPr lang="zh-CN" altLang="en-US" b="1" dirty="0">
                <a:solidFill>
                  <a:schemeClr val="tx1"/>
                </a:solidFill>
              </a:rPr>
              <a:t>项目的有穷自动机与</a:t>
            </a:r>
            <a:r>
              <a:rPr lang="en-US" altLang="zh-CN" b="1" dirty="0">
                <a:solidFill>
                  <a:schemeClr val="tx1"/>
                </a:solidFill>
              </a:rPr>
              <a:t>LR(0)</a:t>
            </a:r>
            <a:r>
              <a:rPr lang="zh-CN" altLang="en-US" b="1" dirty="0">
                <a:solidFill>
                  <a:schemeClr val="tx1"/>
                </a:solidFill>
              </a:rPr>
              <a:t>分析</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4.4 SLR(1) </a:t>
            </a:r>
            <a:r>
              <a:rPr lang="zh-CN" altLang="en-US" b="1" dirty="0">
                <a:solidFill>
                  <a:schemeClr val="tx1"/>
                </a:solidFill>
              </a:rPr>
              <a:t>分析</a:t>
            </a:r>
            <a:endParaRPr lang="zh-CN" altLang="en-US" b="1" dirty="0">
              <a:solidFill>
                <a:schemeClr val="tx1"/>
              </a:solidFill>
            </a:endParaRPr>
          </a:p>
          <a:p>
            <a:r>
              <a:rPr lang="zh-CN" altLang="en-US" b="1" dirty="0">
                <a:solidFill>
                  <a:schemeClr val="tx1"/>
                </a:solidFill>
              </a:rPr>
              <a:t> </a:t>
            </a:r>
            <a:r>
              <a:rPr lang="en-US" altLang="zh-CN" b="1" dirty="0">
                <a:solidFill>
                  <a:schemeClr val="tx1"/>
                </a:solidFill>
              </a:rPr>
              <a:t>4.5  </a:t>
            </a:r>
            <a:r>
              <a:rPr lang="zh-CN" altLang="en-US" b="1" dirty="0">
                <a:solidFill>
                  <a:schemeClr val="tx1"/>
                </a:solidFill>
              </a:rPr>
              <a:t>一般的</a:t>
            </a:r>
            <a:r>
              <a:rPr lang="en-US" altLang="zh-CN" b="1" dirty="0">
                <a:solidFill>
                  <a:schemeClr val="tx1"/>
                </a:solidFill>
              </a:rPr>
              <a:t>LR(1)</a:t>
            </a:r>
            <a:endParaRPr lang="en-US" altLang="zh-CN" b="1" dirty="0">
              <a:solidFill>
                <a:schemeClr val="tx1"/>
              </a:solidFill>
            </a:endParaRPr>
          </a:p>
          <a:p>
            <a:r>
              <a:rPr lang="en-US" altLang="zh-CN" b="1" dirty="0">
                <a:solidFill>
                  <a:srgbClr val="0070C0"/>
                </a:solidFill>
              </a:rPr>
              <a:t> 4.6  LALR(1)</a:t>
            </a:r>
            <a:r>
              <a:rPr lang="zh-CN" altLang="en-US" b="1" dirty="0">
                <a:solidFill>
                  <a:srgbClr val="0070C0"/>
                </a:solidFill>
              </a:rPr>
              <a:t>分析</a:t>
            </a:r>
            <a:endParaRPr lang="en-US" altLang="zh-CN" b="1" dirty="0">
              <a:solidFill>
                <a:schemeClr val="tx1"/>
              </a:solidFill>
            </a:endParaRPr>
          </a:p>
        </p:txBody>
      </p:sp>
      <p:sp>
        <p:nvSpPr>
          <p:cNvPr id="25" name="文本占位符 24"/>
          <p:cNvSpPr>
            <a:spLocks noGrp="1"/>
          </p:cNvSpPr>
          <p:nvPr>
            <p:ph type="body" sz="quarter" idx="15"/>
          </p:nvPr>
        </p:nvSpPr>
        <p:spPr>
          <a:xfrm>
            <a:off x="228531" y="371927"/>
            <a:ext cx="2653249" cy="589645"/>
          </a:xfrm>
        </p:spPr>
        <p:txBody>
          <a:bodyPr>
            <a:normAutofit lnSpcReduction="20000"/>
          </a:bodyPr>
          <a:lstStyle/>
          <a:p>
            <a:endParaRPr lang="zh-CN" altLang="en-US"/>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01015" y="359410"/>
            <a:ext cx="7352030" cy="593090"/>
          </a:xfrm>
        </p:spPr>
        <p:txBody>
          <a:bodyPr/>
          <a:lstStyle/>
          <a:p>
            <a:r>
              <a:rPr lang="en-US" altLang="zh-CN" sz="3200" dirty="0"/>
              <a:t>4.6 LALR</a:t>
            </a:r>
            <a:r>
              <a:rPr lang="zh-CN" altLang="en-US" sz="3200" dirty="0"/>
              <a:t>（</a:t>
            </a:r>
            <a:r>
              <a:rPr lang="en-US" altLang="zh-CN" sz="3200" dirty="0"/>
              <a:t>1</a:t>
            </a:r>
            <a:r>
              <a:rPr lang="zh-CN" altLang="en-US" sz="3200" dirty="0"/>
              <a:t>）分析算法</a:t>
            </a:r>
            <a:endParaRPr lang="zh-CN" altLang="en-US" sz="3200" dirty="0"/>
          </a:p>
        </p:txBody>
      </p:sp>
      <p:sp>
        <p:nvSpPr>
          <p:cNvPr id="5" name="Rectangle 5"/>
          <p:cNvSpPr txBox="1">
            <a:spLocks noChangeArrowheads="1"/>
          </p:cNvSpPr>
          <p:nvPr/>
        </p:nvSpPr>
        <p:spPr>
          <a:xfrm>
            <a:off x="373380" y="1196975"/>
            <a:ext cx="4036060" cy="50971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ea"/>
              <a:buAutoNum type="circleNumDbPlain"/>
              <a:defRPr/>
            </a:pPr>
            <a:r>
              <a:rPr kumimoji="1" lang="en-US" altLang="zh-CN" sz="2400" b="1" dirty="0">
                <a:solidFill>
                  <a:srgbClr val="0070C0"/>
                </a:solidFill>
                <a:latin typeface="+mn-ea"/>
              </a:rPr>
              <a:t>LR(1)</a:t>
            </a:r>
            <a:r>
              <a:rPr kumimoji="1" lang="zh-CN" altLang="en-US" sz="2400" b="1" dirty="0">
                <a:solidFill>
                  <a:srgbClr val="020001"/>
                </a:solidFill>
                <a:latin typeface="+mn-ea"/>
              </a:rPr>
              <a:t>分析比</a:t>
            </a:r>
            <a:r>
              <a:rPr kumimoji="1" lang="en-US" altLang="zh-CN" sz="2400" b="1" dirty="0">
                <a:solidFill>
                  <a:srgbClr val="0070C0"/>
                </a:solidFill>
                <a:latin typeface="+mn-ea"/>
              </a:rPr>
              <a:t>SLR(1)</a:t>
            </a:r>
            <a:r>
              <a:rPr kumimoji="1" lang="zh-CN" altLang="en-US" sz="2400" b="1" dirty="0">
                <a:solidFill>
                  <a:srgbClr val="020001"/>
                </a:solidFill>
                <a:latin typeface="+mn-ea"/>
              </a:rPr>
              <a:t>分析的能力有明显的提高，但是</a:t>
            </a:r>
            <a:r>
              <a:rPr kumimoji="1" lang="en-US" altLang="zh-CN" sz="2400" b="1" dirty="0">
                <a:solidFill>
                  <a:srgbClr val="0070C0"/>
                </a:solidFill>
                <a:latin typeface="+mn-ea"/>
              </a:rPr>
              <a:t>LR(1)</a:t>
            </a:r>
            <a:r>
              <a:rPr kumimoji="1" lang="zh-CN" altLang="en-US" sz="2400" b="1" dirty="0">
                <a:solidFill>
                  <a:srgbClr val="020001"/>
                </a:solidFill>
                <a:latin typeface="+mn-ea"/>
              </a:rPr>
              <a:t>也有缺点：分析表状态数过大，使分析的效率降低。</a:t>
            </a:r>
            <a:endParaRPr kumimoji="1" lang="zh-CN" altLang="en-US" sz="2400" b="1" dirty="0">
              <a:solidFill>
                <a:srgbClr val="020001"/>
              </a:solidFill>
              <a:latin typeface="+mn-ea"/>
            </a:endParaRPr>
          </a:p>
          <a:p>
            <a:pPr marL="457200" indent="-457200">
              <a:lnSpc>
                <a:spcPct val="150000"/>
              </a:lnSpc>
              <a:buFont typeface="+mj-ea"/>
              <a:buAutoNum type="circleNumDbPlain"/>
              <a:defRPr/>
            </a:pPr>
            <a:r>
              <a:rPr kumimoji="1" lang="zh-CN" altLang="en-US" sz="2400" b="1" dirty="0">
                <a:solidFill>
                  <a:srgbClr val="020001"/>
                </a:solidFill>
                <a:latin typeface="+mn-ea"/>
              </a:rPr>
              <a:t>为解决二者之间的能力与效率之间的矛盾，目前最流行的</a:t>
            </a:r>
            <a:r>
              <a:rPr kumimoji="1" lang="zh-CN" altLang="en-US" sz="2400" b="1" dirty="0">
                <a:solidFill>
                  <a:srgbClr val="020001"/>
                </a:solidFill>
                <a:latin typeface="+mn-ea"/>
              </a:rPr>
              <a:t>LALR(1)分析是最佳方案。</a:t>
            </a:r>
            <a:endParaRPr kumimoji="1" lang="zh-CN" altLang="en-US" sz="2400" b="1" dirty="0">
              <a:solidFill>
                <a:srgbClr val="020001"/>
              </a:solidFill>
              <a:latin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4" name="Rectangle 6"/>
          <p:cNvSpPr txBox="1">
            <a:spLocks noChangeArrowheads="1"/>
          </p:cNvSpPr>
          <p:nvPr>
            <p:custDataLst>
              <p:tags r:id="rId1"/>
            </p:custDataLst>
          </p:nvPr>
        </p:nvSpPr>
        <p:spPr>
          <a:xfrm>
            <a:off x="4766310" y="1196975"/>
            <a:ext cx="7029450" cy="49669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pPr>
            <a:r>
              <a:rPr lang="en-US" altLang="zh-CN" sz="2400" b="1" dirty="0">
                <a:solidFill>
                  <a:srgbClr val="020001"/>
                </a:solidFill>
                <a:latin typeface="+mn-ea"/>
              </a:rPr>
              <a:t>LALR(1)</a:t>
            </a:r>
            <a:r>
              <a:rPr kumimoji="1" lang="zh-CN" altLang="en-US" sz="2400" b="1" dirty="0">
                <a:solidFill>
                  <a:srgbClr val="020001"/>
                </a:solidFill>
                <a:latin typeface="+mn-ea"/>
                <a:sym typeface="+mn-ea"/>
              </a:rPr>
              <a:t>基本思想是将LR(1)项目集中的同心集合并，将其压缩为较小的DFA</a:t>
            </a:r>
            <a:r>
              <a:rPr lang="zh-CN" altLang="en-US" sz="2400" b="1" dirty="0">
                <a:solidFill>
                  <a:srgbClr val="020001"/>
                </a:solidFill>
                <a:latin typeface="+mn-ea"/>
              </a:rPr>
              <a:t>: </a:t>
            </a:r>
            <a:endParaRPr lang="zh-CN" altLang="en-US" sz="2400" b="1" dirty="0">
              <a:solidFill>
                <a:srgbClr val="020001"/>
              </a:solidFill>
              <a:latin typeface="+mn-ea"/>
            </a:endParaRPr>
          </a:p>
          <a:p>
            <a:pPr lvl="1" fontAlgn="auto">
              <a:lnSpc>
                <a:spcPct val="125000"/>
              </a:lnSpc>
            </a:pPr>
            <a:r>
              <a:rPr lang="zh-CN" altLang="en-US" b="1" dirty="0">
                <a:solidFill>
                  <a:srgbClr val="020001"/>
                </a:solidFill>
                <a:latin typeface="+mn-ea"/>
              </a:rPr>
              <a:t>同心集合并：</a:t>
            </a:r>
            <a:endParaRPr lang="zh-CN" altLang="en-US" b="1" dirty="0">
              <a:solidFill>
                <a:srgbClr val="020001"/>
              </a:solidFill>
              <a:latin typeface="+mn-ea"/>
            </a:endParaRPr>
          </a:p>
          <a:p>
            <a:pPr lvl="2" fontAlgn="auto">
              <a:lnSpc>
                <a:spcPct val="125000"/>
              </a:lnSpc>
            </a:pPr>
            <a:r>
              <a:rPr lang="zh-CN" altLang="en-US" sz="2400" b="1" dirty="0">
                <a:solidFill>
                  <a:srgbClr val="020001"/>
                </a:solidFill>
                <a:latin typeface="+mn-ea"/>
              </a:rPr>
              <a:t>相同的心(</a:t>
            </a:r>
            <a:r>
              <a:rPr lang="en-US" altLang="zh-CN" sz="2400" b="1" dirty="0">
                <a:solidFill>
                  <a:srgbClr val="020001"/>
                </a:solidFill>
                <a:latin typeface="+mn-ea"/>
              </a:rPr>
              <a:t>LR(0)</a:t>
            </a:r>
            <a:r>
              <a:rPr lang="zh-CN" altLang="en-US" sz="2400" b="1" dirty="0">
                <a:solidFill>
                  <a:srgbClr val="020001"/>
                </a:solidFill>
                <a:latin typeface="+mn-ea"/>
              </a:rPr>
              <a:t>项目)不变；</a:t>
            </a:r>
            <a:endParaRPr lang="zh-CN" altLang="en-US" sz="2400" b="1" dirty="0">
              <a:solidFill>
                <a:srgbClr val="020001"/>
              </a:solidFill>
              <a:latin typeface="+mn-ea"/>
            </a:endParaRPr>
          </a:p>
          <a:p>
            <a:pPr lvl="2" fontAlgn="auto">
              <a:lnSpc>
                <a:spcPct val="125000"/>
              </a:lnSpc>
            </a:pPr>
            <a:r>
              <a:rPr lang="zh-CN" altLang="en-US" sz="2400" b="1" dirty="0">
                <a:solidFill>
                  <a:srgbClr val="020001"/>
                </a:solidFill>
                <a:latin typeface="+mn-ea"/>
              </a:rPr>
              <a:t>合并后项目集的搜索符等于合并前</a:t>
            </a:r>
            <a:r>
              <a:rPr lang="en-US" altLang="zh-CN" sz="2400" b="1" dirty="0">
                <a:solidFill>
                  <a:srgbClr val="020001"/>
                </a:solidFill>
                <a:latin typeface="+mn-ea"/>
              </a:rPr>
              <a:t>LR(1)</a:t>
            </a:r>
            <a:r>
              <a:rPr lang="zh-CN" altLang="en-US" sz="2400" b="1" dirty="0">
                <a:solidFill>
                  <a:srgbClr val="020001"/>
                </a:solidFill>
                <a:latin typeface="+mn-ea"/>
              </a:rPr>
              <a:t>项目搜索符的并集。</a:t>
            </a:r>
            <a:endParaRPr lang="zh-CN" altLang="en-US" sz="2400" b="1" dirty="0">
              <a:solidFill>
                <a:srgbClr val="020001"/>
              </a:solidFill>
              <a:latin typeface="+mn-ea"/>
            </a:endParaRPr>
          </a:p>
          <a:p>
            <a:pPr lvl="1" fontAlgn="auto">
              <a:lnSpc>
                <a:spcPct val="125000"/>
              </a:lnSpc>
            </a:pPr>
            <a:r>
              <a:rPr lang="zh-CN" altLang="en-US" sz="2400" b="1" dirty="0">
                <a:solidFill>
                  <a:srgbClr val="020001"/>
                </a:solidFill>
                <a:latin typeface="+mn-ea"/>
                <a:sym typeface="+mn-ea"/>
              </a:rPr>
              <a:t>转换仅与项目集的LR(0)项目及文法符号X有关，与搜索符无关。所以，由同心集导出的弧，改由合并后的项目集导出，弧上标记不变。</a:t>
            </a:r>
            <a:endParaRPr lang="en-US" altLang="zh-CN" sz="2880" b="1" dirty="0">
              <a:solidFill>
                <a:srgbClr val="02000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par>
                                <p:cTn id="23" presetID="16" presetClass="entr" presetSubtype="26"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arn(inHorizontal)">
                                      <p:cBhvr>
                                        <p:cTn id="2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89255" y="359410"/>
            <a:ext cx="7446645" cy="593090"/>
          </a:xfrm>
        </p:spPr>
        <p:txBody>
          <a:bodyPr/>
          <a:lstStyle/>
          <a:p>
            <a:r>
              <a:rPr lang="en-US" altLang="zh-CN" sz="3200" dirty="0"/>
              <a:t>4.6 LALR</a:t>
            </a:r>
            <a:r>
              <a:rPr lang="zh-CN" altLang="en-US" sz="3200" dirty="0"/>
              <a:t>（</a:t>
            </a:r>
            <a:r>
              <a:rPr lang="en-US" altLang="zh-CN" sz="3200" dirty="0"/>
              <a:t>1</a:t>
            </a:r>
            <a:r>
              <a:rPr lang="zh-CN" altLang="en-US" sz="3200" dirty="0"/>
              <a:t>）分析算法（续）</a:t>
            </a:r>
            <a:endParaRPr lang="zh-CN" altLang="en-US" sz="3200" dirty="0"/>
          </a:p>
        </p:txBody>
      </p:sp>
      <p:grpSp>
        <p:nvGrpSpPr>
          <p:cNvPr id="5" name="Group 2"/>
          <p:cNvGrpSpPr/>
          <p:nvPr/>
        </p:nvGrpSpPr>
        <p:grpSpPr bwMode="auto">
          <a:xfrm>
            <a:off x="2433693" y="1379931"/>
            <a:ext cx="2270126" cy="1524000"/>
            <a:chOff x="472" y="384"/>
            <a:chExt cx="1430" cy="960"/>
          </a:xfrm>
        </p:grpSpPr>
        <p:sp useBgFill="1">
          <p:nvSpPr>
            <p:cNvPr id="6" name="AutoShape 3"/>
            <p:cNvSpPr>
              <a:spLocks noChangeArrowheads="1"/>
            </p:cNvSpPr>
            <p:nvPr/>
          </p:nvSpPr>
          <p:spPr bwMode="auto">
            <a:xfrm>
              <a:off x="472" y="384"/>
              <a:ext cx="1382" cy="816"/>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t>
              </a:r>
              <a:r>
                <a:rPr lang="en-US" altLang="zh-CN" sz="2400" b="1" dirty="0">
                  <a:solidFill>
                    <a:srgbClr val="010000"/>
                  </a:solidFill>
                  <a:latin typeface="+mn-ea"/>
                  <a:ea typeface="+mn-ea"/>
                </a:rPr>
                <a:t>A ,  $]</a:t>
              </a:r>
              <a:endParaRPr lang="en-US" altLang="zh-CN"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a:solidFill>
                    <a:srgbClr val="020001"/>
                  </a:solidFill>
                  <a:latin typeface="+mn-ea"/>
                  <a:ea typeface="+mn-ea"/>
                </a:rPr>
                <a:t>A→.(A),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err="1">
                  <a:solidFill>
                    <a:srgbClr val="020001"/>
                  </a:solidFill>
                  <a:latin typeface="+mn-ea"/>
                  <a:ea typeface="+mn-ea"/>
                </a:rPr>
                <a:t>A→.a</a:t>
              </a:r>
              <a:r>
                <a:rPr lang="en-US" altLang="zh-CN" sz="2400" b="1" dirty="0">
                  <a:solidFill>
                    <a:srgbClr val="020001"/>
                  </a:solidFill>
                  <a:latin typeface="+mn-ea"/>
                  <a:ea typeface="+mn-ea"/>
                </a:rPr>
                <a:t>,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p:txBody>
        </p:sp>
        <p:sp useBgFill="1">
          <p:nvSpPr>
            <p:cNvPr id="7" name="Oval 4"/>
            <p:cNvSpPr>
              <a:spLocks noChangeArrowheads="1"/>
            </p:cNvSpPr>
            <p:nvPr/>
          </p:nvSpPr>
          <p:spPr bwMode="auto">
            <a:xfrm>
              <a:off x="1614" y="1056"/>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0</a:t>
              </a:r>
              <a:endParaRPr lang="zh-CN" altLang="en-US" sz="2400" b="1">
                <a:solidFill>
                  <a:srgbClr val="010000"/>
                </a:solidFill>
                <a:latin typeface="+mn-ea"/>
                <a:ea typeface="+mn-ea"/>
              </a:endParaRPr>
            </a:p>
          </p:txBody>
        </p:sp>
      </p:grpSp>
      <p:grpSp>
        <p:nvGrpSpPr>
          <p:cNvPr id="8" name="Group 5"/>
          <p:cNvGrpSpPr/>
          <p:nvPr/>
        </p:nvGrpSpPr>
        <p:grpSpPr bwMode="auto">
          <a:xfrm>
            <a:off x="4627617" y="1303731"/>
            <a:ext cx="2924175" cy="663576"/>
            <a:chOff x="1854" y="336"/>
            <a:chExt cx="1842" cy="418"/>
          </a:xfrm>
        </p:grpSpPr>
        <p:sp>
          <p:nvSpPr>
            <p:cNvPr id="9" name="Line 6"/>
            <p:cNvSpPr>
              <a:spLocks noChangeShapeType="1"/>
            </p:cNvSpPr>
            <p:nvPr/>
          </p:nvSpPr>
          <p:spPr bwMode="auto">
            <a:xfrm>
              <a:off x="1854" y="5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0" name="AutoShape 7"/>
            <p:cNvSpPr>
              <a:spLocks noChangeArrowheads="1"/>
            </p:cNvSpPr>
            <p:nvPr/>
          </p:nvSpPr>
          <p:spPr bwMode="auto">
            <a:xfrm>
              <a:off x="2238" y="336"/>
              <a:ext cx="1314"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t>
              </a:r>
              <a:r>
                <a:rPr lang="en-US" altLang="zh-CN" sz="2400" b="1" dirty="0">
                  <a:solidFill>
                    <a:srgbClr val="010000"/>
                  </a:solidFill>
                  <a:latin typeface="+mn-ea"/>
                  <a:ea typeface="+mn-ea"/>
                </a:rPr>
                <a:t>A. ,  $]</a:t>
              </a:r>
              <a:endParaRPr lang="en-US" altLang="zh-CN" sz="2400" b="1" dirty="0">
                <a:solidFill>
                  <a:srgbClr val="010000"/>
                </a:solidFill>
                <a:latin typeface="+mn-ea"/>
                <a:ea typeface="+mn-ea"/>
              </a:endParaRPr>
            </a:p>
          </p:txBody>
        </p:sp>
        <p:sp useBgFill="1">
          <p:nvSpPr>
            <p:cNvPr id="11" name="Oval 8"/>
            <p:cNvSpPr>
              <a:spLocks noChangeArrowheads="1"/>
            </p:cNvSpPr>
            <p:nvPr/>
          </p:nvSpPr>
          <p:spPr bwMode="auto">
            <a:xfrm>
              <a:off x="3408" y="466"/>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1</a:t>
              </a:r>
              <a:endParaRPr lang="zh-CN" altLang="en-US" sz="2400" b="1">
                <a:solidFill>
                  <a:srgbClr val="010000"/>
                </a:solidFill>
                <a:latin typeface="+mn-ea"/>
                <a:ea typeface="+mn-ea"/>
              </a:endParaRPr>
            </a:p>
          </p:txBody>
        </p:sp>
        <p:sp>
          <p:nvSpPr>
            <p:cNvPr id="13" name="Rectangle 9"/>
            <p:cNvSpPr>
              <a:spLocks noChangeArrowheads="1"/>
            </p:cNvSpPr>
            <p:nvPr/>
          </p:nvSpPr>
          <p:spPr bwMode="auto">
            <a:xfrm>
              <a:off x="1884" y="432"/>
              <a:ext cx="24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grpSp>
      <p:grpSp>
        <p:nvGrpSpPr>
          <p:cNvPr id="14" name="Group 10"/>
          <p:cNvGrpSpPr/>
          <p:nvPr/>
        </p:nvGrpSpPr>
        <p:grpSpPr bwMode="auto">
          <a:xfrm>
            <a:off x="4627617" y="2065731"/>
            <a:ext cx="2924175" cy="695325"/>
            <a:chOff x="1854" y="816"/>
            <a:chExt cx="1842" cy="438"/>
          </a:xfrm>
        </p:grpSpPr>
        <p:sp>
          <p:nvSpPr>
            <p:cNvPr id="15" name="Line 11"/>
            <p:cNvSpPr>
              <a:spLocks noChangeShapeType="1"/>
            </p:cNvSpPr>
            <p:nvPr/>
          </p:nvSpPr>
          <p:spPr bwMode="auto">
            <a:xfrm>
              <a:off x="1854" y="960"/>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6" name="AutoShape 12"/>
            <p:cNvSpPr>
              <a:spLocks noChangeArrowheads="1"/>
            </p:cNvSpPr>
            <p:nvPr/>
          </p:nvSpPr>
          <p:spPr bwMode="auto">
            <a:xfrm>
              <a:off x="2238" y="816"/>
              <a:ext cx="1314"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20001"/>
                  </a:solidFill>
                  <a:latin typeface="+mn-ea"/>
                  <a:ea typeface="+mn-ea"/>
                </a:rPr>
                <a:t>A→a. ,  $</a:t>
              </a:r>
              <a:r>
                <a:rPr lang="zh-CN" altLang="en-US" sz="2400" b="1">
                  <a:solidFill>
                    <a:srgbClr val="010000"/>
                  </a:solidFill>
                  <a:latin typeface="+mn-ea"/>
                  <a:ea typeface="+mn-ea"/>
                </a:rPr>
                <a:t>]</a:t>
              </a:r>
              <a:endParaRPr lang="en-US" altLang="zh-CN" sz="2400" b="1">
                <a:solidFill>
                  <a:srgbClr val="010000"/>
                </a:solidFill>
                <a:latin typeface="+mn-ea"/>
                <a:ea typeface="+mn-ea"/>
              </a:endParaRPr>
            </a:p>
          </p:txBody>
        </p:sp>
        <p:sp useBgFill="1">
          <p:nvSpPr>
            <p:cNvPr id="17" name="Oval 13"/>
            <p:cNvSpPr>
              <a:spLocks noChangeArrowheads="1"/>
            </p:cNvSpPr>
            <p:nvPr/>
          </p:nvSpPr>
          <p:spPr bwMode="auto">
            <a:xfrm>
              <a:off x="3408" y="966"/>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chemeClr val="accent1"/>
                  </a:solidFill>
                  <a:latin typeface="+mn-ea"/>
                  <a:ea typeface="+mn-ea"/>
                </a:rPr>
                <a:t>3</a:t>
              </a:r>
              <a:endParaRPr lang="zh-CN" altLang="en-US" sz="2400" b="1">
                <a:solidFill>
                  <a:schemeClr val="accent1"/>
                </a:solidFill>
                <a:latin typeface="+mn-ea"/>
                <a:ea typeface="+mn-ea"/>
              </a:endParaRPr>
            </a:p>
          </p:txBody>
        </p:sp>
        <p:sp>
          <p:nvSpPr>
            <p:cNvPr id="18" name="Rectangle 14"/>
            <p:cNvSpPr>
              <a:spLocks noChangeArrowheads="1"/>
            </p:cNvSpPr>
            <p:nvPr/>
          </p:nvSpPr>
          <p:spPr bwMode="auto">
            <a:xfrm>
              <a:off x="1916" y="864"/>
              <a:ext cx="21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grpSp>
      <p:grpSp>
        <p:nvGrpSpPr>
          <p:cNvPr id="19" name="Group 15"/>
          <p:cNvGrpSpPr/>
          <p:nvPr/>
        </p:nvGrpSpPr>
        <p:grpSpPr bwMode="auto">
          <a:xfrm>
            <a:off x="2438455" y="2641994"/>
            <a:ext cx="2265363" cy="2109788"/>
            <a:chOff x="475" y="1179"/>
            <a:chExt cx="1427" cy="1329"/>
          </a:xfrm>
        </p:grpSpPr>
        <p:sp useBgFill="1">
          <p:nvSpPr>
            <p:cNvPr id="20" name="AutoShape 16"/>
            <p:cNvSpPr>
              <a:spLocks noChangeArrowheads="1"/>
            </p:cNvSpPr>
            <p:nvPr/>
          </p:nvSpPr>
          <p:spPr bwMode="auto">
            <a:xfrm>
              <a:off x="475" y="1500"/>
              <a:ext cx="1379" cy="86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20001"/>
                  </a:solidFill>
                  <a:latin typeface="+mn-ea"/>
                  <a:ea typeface="+mn-ea"/>
                </a:rPr>
                <a:t>A→(.A)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a:t>
              </a:r>
              <a:r>
                <a:rPr lang="en-US" altLang="zh-CN" sz="2400" b="1" dirty="0">
                  <a:solidFill>
                    <a:srgbClr val="010000"/>
                  </a:solidFill>
                  <a:latin typeface="+mn-ea"/>
                  <a:ea typeface="+mn-ea"/>
                </a:rPr>
                <a:t>,  )]</a:t>
              </a:r>
              <a:endParaRPr lang="en-US" altLang="zh-CN"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err="1">
                  <a:solidFill>
                    <a:srgbClr val="020001"/>
                  </a:solidFill>
                  <a:latin typeface="+mn-ea"/>
                  <a:ea typeface="+mn-ea"/>
                </a:rPr>
                <a:t>A→.a</a:t>
              </a:r>
              <a:r>
                <a:rPr lang="en-US" altLang="zh-CN" sz="2400" b="1" dirty="0">
                  <a:solidFill>
                    <a:srgbClr val="020001"/>
                  </a:solidFill>
                  <a:latin typeface="+mn-ea"/>
                  <a:ea typeface="+mn-ea"/>
                </a:rPr>
                <a:t>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p:txBody>
        </p:sp>
        <p:sp>
          <p:nvSpPr>
            <p:cNvPr id="21" name="Line 17"/>
            <p:cNvSpPr>
              <a:spLocks noChangeShapeType="1"/>
            </p:cNvSpPr>
            <p:nvPr/>
          </p:nvSpPr>
          <p:spPr bwMode="auto">
            <a:xfrm>
              <a:off x="1028" y="1212"/>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22" name="Oval 18"/>
            <p:cNvSpPr>
              <a:spLocks noChangeArrowheads="1"/>
            </p:cNvSpPr>
            <p:nvPr/>
          </p:nvSpPr>
          <p:spPr bwMode="auto">
            <a:xfrm>
              <a:off x="1614" y="2220"/>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C00000"/>
                  </a:solidFill>
                  <a:latin typeface="+mn-ea"/>
                  <a:ea typeface="+mn-ea"/>
                </a:rPr>
                <a:t>2</a:t>
              </a:r>
              <a:endParaRPr lang="zh-CN" altLang="en-US" sz="2400" b="1">
                <a:solidFill>
                  <a:srgbClr val="C00000"/>
                </a:solidFill>
                <a:latin typeface="+mn-ea"/>
                <a:ea typeface="+mn-ea"/>
              </a:endParaRPr>
            </a:p>
          </p:txBody>
        </p:sp>
        <p:sp>
          <p:nvSpPr>
            <p:cNvPr id="23" name="Rectangle 19"/>
            <p:cNvSpPr>
              <a:spLocks noChangeArrowheads="1"/>
            </p:cNvSpPr>
            <p:nvPr/>
          </p:nvSpPr>
          <p:spPr bwMode="auto">
            <a:xfrm>
              <a:off x="1038" y="1179"/>
              <a:ext cx="1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dirty="0">
                  <a:solidFill>
                    <a:srgbClr val="010000"/>
                  </a:solidFill>
                  <a:latin typeface="+mn-ea"/>
                  <a:ea typeface="+mn-ea"/>
                </a:rPr>
                <a:t>(</a:t>
              </a:r>
              <a:endParaRPr lang="zh-CN" altLang="en-US" sz="2400" b="1" dirty="0">
                <a:solidFill>
                  <a:srgbClr val="010000"/>
                </a:solidFill>
                <a:latin typeface="+mn-ea"/>
                <a:ea typeface="+mn-ea"/>
              </a:endParaRPr>
            </a:p>
          </p:txBody>
        </p:sp>
      </p:grpSp>
      <p:grpSp>
        <p:nvGrpSpPr>
          <p:cNvPr id="24" name="Group 20"/>
          <p:cNvGrpSpPr/>
          <p:nvPr/>
        </p:nvGrpSpPr>
        <p:grpSpPr bwMode="auto">
          <a:xfrm>
            <a:off x="4703817" y="2846782"/>
            <a:ext cx="2847975" cy="849313"/>
            <a:chOff x="1902" y="1308"/>
            <a:chExt cx="1794" cy="535"/>
          </a:xfrm>
        </p:grpSpPr>
        <p:sp>
          <p:nvSpPr>
            <p:cNvPr id="25" name="Line 21"/>
            <p:cNvSpPr>
              <a:spLocks noChangeShapeType="1"/>
            </p:cNvSpPr>
            <p:nvPr/>
          </p:nvSpPr>
          <p:spPr bwMode="auto">
            <a:xfrm>
              <a:off x="1902" y="1596"/>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26" name="AutoShape 22"/>
            <p:cNvSpPr>
              <a:spLocks noChangeArrowheads="1"/>
            </p:cNvSpPr>
            <p:nvPr/>
          </p:nvSpPr>
          <p:spPr bwMode="auto">
            <a:xfrm>
              <a:off x="2286" y="1356"/>
              <a:ext cx="1266"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a:t>
              </a:r>
              <a:r>
                <a:rPr lang="en-US" altLang="zh-CN" sz="2400" b="1">
                  <a:solidFill>
                    <a:srgbClr val="010000"/>
                  </a:solidFill>
                  <a:latin typeface="+mn-ea"/>
                  <a:ea typeface="+mn-ea"/>
                </a:rPr>
                <a:t>, $]</a:t>
              </a:r>
              <a:endParaRPr lang="en-US" altLang="zh-CN" sz="2400" b="1">
                <a:solidFill>
                  <a:srgbClr val="010000"/>
                </a:solidFill>
                <a:latin typeface="+mn-ea"/>
                <a:ea typeface="+mn-ea"/>
              </a:endParaRPr>
            </a:p>
          </p:txBody>
        </p:sp>
        <p:sp useBgFill="1">
          <p:nvSpPr>
            <p:cNvPr id="27" name="Oval 23"/>
            <p:cNvSpPr>
              <a:spLocks noChangeArrowheads="1"/>
            </p:cNvSpPr>
            <p:nvPr/>
          </p:nvSpPr>
          <p:spPr bwMode="auto">
            <a:xfrm>
              <a:off x="3408" y="1555"/>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rgbClr val="7030A0"/>
                  </a:solidFill>
                  <a:latin typeface="+mn-ea"/>
                  <a:ea typeface="+mn-ea"/>
                </a:rPr>
                <a:t>4</a:t>
              </a:r>
              <a:endParaRPr lang="zh-CN" altLang="en-US" sz="2400" b="1" dirty="0">
                <a:solidFill>
                  <a:srgbClr val="7030A0"/>
                </a:solidFill>
                <a:latin typeface="+mn-ea"/>
                <a:ea typeface="+mn-ea"/>
              </a:endParaRPr>
            </a:p>
          </p:txBody>
        </p:sp>
        <p:sp>
          <p:nvSpPr>
            <p:cNvPr id="28" name="Rectangle 24"/>
            <p:cNvSpPr>
              <a:spLocks noChangeArrowheads="1"/>
            </p:cNvSpPr>
            <p:nvPr/>
          </p:nvSpPr>
          <p:spPr bwMode="auto">
            <a:xfrm>
              <a:off x="1932" y="1308"/>
              <a:ext cx="24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grpSp>
      <p:grpSp>
        <p:nvGrpSpPr>
          <p:cNvPr id="29" name="Group 25"/>
          <p:cNvGrpSpPr/>
          <p:nvPr/>
        </p:nvGrpSpPr>
        <p:grpSpPr bwMode="auto">
          <a:xfrm>
            <a:off x="2433693" y="4480167"/>
            <a:ext cx="2222500" cy="1979847"/>
            <a:chOff x="472" y="2330"/>
            <a:chExt cx="1400" cy="1078"/>
          </a:xfrm>
        </p:grpSpPr>
        <p:sp>
          <p:nvSpPr>
            <p:cNvPr id="30" name="Line 26"/>
            <p:cNvSpPr>
              <a:spLocks noChangeShapeType="1"/>
            </p:cNvSpPr>
            <p:nvPr/>
          </p:nvSpPr>
          <p:spPr bwMode="auto">
            <a:xfrm>
              <a:off x="1028" y="2347"/>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1" name="Rectangle 27"/>
            <p:cNvSpPr>
              <a:spLocks noChangeArrowheads="1"/>
            </p:cNvSpPr>
            <p:nvPr/>
          </p:nvSpPr>
          <p:spPr bwMode="auto">
            <a:xfrm>
              <a:off x="1107" y="2330"/>
              <a:ext cx="17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dirty="0">
                  <a:solidFill>
                    <a:srgbClr val="010000"/>
                  </a:solidFill>
                  <a:latin typeface="+mn-ea"/>
                  <a:ea typeface="+mn-ea"/>
                </a:rPr>
                <a:t>(</a:t>
              </a:r>
              <a:endParaRPr lang="zh-CN" altLang="en-US" sz="2400" b="1" dirty="0">
                <a:solidFill>
                  <a:srgbClr val="010000"/>
                </a:solidFill>
                <a:latin typeface="+mn-ea"/>
                <a:ea typeface="+mn-ea"/>
              </a:endParaRPr>
            </a:p>
          </p:txBody>
        </p:sp>
        <p:sp useBgFill="1">
          <p:nvSpPr>
            <p:cNvPr id="32" name="AutoShape 28"/>
            <p:cNvSpPr>
              <a:spLocks noChangeArrowheads="1"/>
            </p:cNvSpPr>
            <p:nvPr/>
          </p:nvSpPr>
          <p:spPr bwMode="auto">
            <a:xfrm>
              <a:off x="472" y="2607"/>
              <a:ext cx="1334" cy="768"/>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20001"/>
                  </a:solidFill>
                  <a:latin typeface="+mn-ea"/>
                  <a:ea typeface="+mn-ea"/>
                </a:rPr>
                <a:t>A→(.A)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a:t>
              </a:r>
              <a:r>
                <a:rPr lang="en-US" altLang="zh-CN" sz="2400" b="1" dirty="0">
                  <a:solidFill>
                    <a:srgbClr val="010000"/>
                  </a:solidFill>
                  <a:latin typeface="+mn-ea"/>
                  <a:ea typeface="+mn-ea"/>
                </a:rPr>
                <a:t>,  )]</a:t>
              </a:r>
              <a:endParaRPr lang="en-US" altLang="zh-CN"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err="1">
                  <a:solidFill>
                    <a:srgbClr val="020001"/>
                  </a:solidFill>
                  <a:latin typeface="+mn-ea"/>
                  <a:ea typeface="+mn-ea"/>
                </a:rPr>
                <a:t>A→.a</a:t>
              </a:r>
              <a:r>
                <a:rPr lang="en-US" altLang="zh-CN" sz="2400" b="1" dirty="0">
                  <a:solidFill>
                    <a:srgbClr val="020001"/>
                  </a:solidFill>
                  <a:latin typeface="+mn-ea"/>
                  <a:ea typeface="+mn-ea"/>
                </a:rPr>
                <a:t>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p:txBody>
        </p:sp>
        <p:sp useBgFill="1">
          <p:nvSpPr>
            <p:cNvPr id="33" name="Oval 29"/>
            <p:cNvSpPr>
              <a:spLocks noChangeArrowheads="1"/>
            </p:cNvSpPr>
            <p:nvPr/>
          </p:nvSpPr>
          <p:spPr bwMode="auto">
            <a:xfrm>
              <a:off x="1571" y="3156"/>
              <a:ext cx="301" cy="252"/>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dirty="0">
                  <a:solidFill>
                    <a:srgbClr val="C00000"/>
                  </a:solidFill>
                  <a:latin typeface="+mn-ea"/>
                  <a:ea typeface="+mn-ea"/>
                </a:rPr>
                <a:t>5</a:t>
              </a:r>
              <a:endParaRPr lang="en-US" altLang="zh-CN" sz="2400" b="1" dirty="0">
                <a:solidFill>
                  <a:srgbClr val="C00000"/>
                </a:solidFill>
                <a:latin typeface="+mn-ea"/>
                <a:ea typeface="+mn-ea"/>
              </a:endParaRPr>
            </a:p>
          </p:txBody>
        </p:sp>
      </p:grpSp>
      <p:grpSp>
        <p:nvGrpSpPr>
          <p:cNvPr id="34" name="Group 30"/>
          <p:cNvGrpSpPr/>
          <p:nvPr/>
        </p:nvGrpSpPr>
        <p:grpSpPr bwMode="auto">
          <a:xfrm>
            <a:off x="4656192" y="3837381"/>
            <a:ext cx="2895600" cy="736600"/>
            <a:chOff x="1872" y="1932"/>
            <a:chExt cx="1824" cy="464"/>
          </a:xfrm>
        </p:grpSpPr>
        <p:sp>
          <p:nvSpPr>
            <p:cNvPr id="35" name="Line 31"/>
            <p:cNvSpPr>
              <a:spLocks noChangeShapeType="1"/>
            </p:cNvSpPr>
            <p:nvPr/>
          </p:nvSpPr>
          <p:spPr bwMode="auto">
            <a:xfrm>
              <a:off x="1872" y="2028"/>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6" name="Rectangle 32"/>
            <p:cNvSpPr>
              <a:spLocks noChangeArrowheads="1"/>
            </p:cNvSpPr>
            <p:nvPr/>
          </p:nvSpPr>
          <p:spPr bwMode="auto">
            <a:xfrm>
              <a:off x="1916" y="1932"/>
              <a:ext cx="21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sp useBgFill="1">
          <p:nvSpPr>
            <p:cNvPr id="37" name="AutoShape 33"/>
            <p:cNvSpPr>
              <a:spLocks noChangeArrowheads="1"/>
            </p:cNvSpPr>
            <p:nvPr/>
          </p:nvSpPr>
          <p:spPr bwMode="auto">
            <a:xfrm>
              <a:off x="2256" y="1932"/>
              <a:ext cx="1296"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20001"/>
                  </a:solidFill>
                  <a:latin typeface="+mn-ea"/>
                  <a:ea typeface="+mn-ea"/>
                </a:rPr>
                <a:t>A→a. ,  )</a:t>
              </a:r>
              <a:r>
                <a:rPr lang="zh-CN" altLang="en-US" sz="2400" b="1">
                  <a:solidFill>
                    <a:srgbClr val="010000"/>
                  </a:solidFill>
                  <a:latin typeface="+mn-ea"/>
                  <a:ea typeface="+mn-ea"/>
                </a:rPr>
                <a:t>]</a:t>
              </a:r>
              <a:endParaRPr lang="en-US" altLang="zh-CN" sz="2400" b="1">
                <a:solidFill>
                  <a:srgbClr val="010000"/>
                </a:solidFill>
                <a:latin typeface="+mn-ea"/>
                <a:ea typeface="+mn-ea"/>
              </a:endParaRPr>
            </a:p>
          </p:txBody>
        </p:sp>
        <p:sp useBgFill="1">
          <p:nvSpPr>
            <p:cNvPr id="38" name="Oval 34"/>
            <p:cNvSpPr>
              <a:spLocks noChangeArrowheads="1"/>
            </p:cNvSpPr>
            <p:nvPr/>
          </p:nvSpPr>
          <p:spPr bwMode="auto">
            <a:xfrm>
              <a:off x="3408" y="2108"/>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chemeClr val="accent1"/>
                  </a:solidFill>
                  <a:latin typeface="+mn-ea"/>
                  <a:ea typeface="+mn-ea"/>
                </a:rPr>
                <a:t>6</a:t>
              </a:r>
              <a:endParaRPr lang="zh-CN" altLang="en-US" sz="2400" b="1" dirty="0">
                <a:solidFill>
                  <a:srgbClr val="010000"/>
                </a:solidFill>
                <a:latin typeface="+mn-ea"/>
                <a:ea typeface="+mn-ea"/>
              </a:endParaRPr>
            </a:p>
          </p:txBody>
        </p:sp>
      </p:grpSp>
      <p:grpSp>
        <p:nvGrpSpPr>
          <p:cNvPr id="39" name="Group 35"/>
          <p:cNvGrpSpPr/>
          <p:nvPr/>
        </p:nvGrpSpPr>
        <p:grpSpPr bwMode="auto">
          <a:xfrm>
            <a:off x="4551417" y="4294581"/>
            <a:ext cx="762000" cy="838200"/>
            <a:chOff x="1806" y="2220"/>
            <a:chExt cx="480" cy="528"/>
          </a:xfrm>
        </p:grpSpPr>
        <p:sp>
          <p:nvSpPr>
            <p:cNvPr id="40" name="Line 36"/>
            <p:cNvSpPr>
              <a:spLocks noChangeShapeType="1"/>
            </p:cNvSpPr>
            <p:nvPr/>
          </p:nvSpPr>
          <p:spPr bwMode="auto">
            <a:xfrm flipV="1">
              <a:off x="1806" y="2220"/>
              <a:ext cx="480"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1" name="Rectangle 37"/>
            <p:cNvSpPr>
              <a:spLocks noChangeArrowheads="1"/>
            </p:cNvSpPr>
            <p:nvPr/>
          </p:nvSpPr>
          <p:spPr bwMode="auto">
            <a:xfrm>
              <a:off x="1964" y="2367"/>
              <a:ext cx="21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grpSp>
      <p:grpSp>
        <p:nvGrpSpPr>
          <p:cNvPr id="42" name="Group 38"/>
          <p:cNvGrpSpPr/>
          <p:nvPr/>
        </p:nvGrpSpPr>
        <p:grpSpPr bwMode="auto">
          <a:xfrm>
            <a:off x="7393305" y="2694305"/>
            <a:ext cx="2415540" cy="958850"/>
            <a:chOff x="3792" y="1212"/>
            <a:chExt cx="1702" cy="604"/>
          </a:xfrm>
        </p:grpSpPr>
        <p:sp>
          <p:nvSpPr>
            <p:cNvPr id="43" name="Line 39"/>
            <p:cNvSpPr>
              <a:spLocks noChangeShapeType="1"/>
            </p:cNvSpPr>
            <p:nvPr/>
          </p:nvSpPr>
          <p:spPr bwMode="auto">
            <a:xfrm>
              <a:off x="3792" y="1500"/>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4" name="Rectangle 40"/>
            <p:cNvSpPr>
              <a:spLocks noChangeArrowheads="1"/>
            </p:cNvSpPr>
            <p:nvPr/>
          </p:nvSpPr>
          <p:spPr bwMode="auto">
            <a:xfrm>
              <a:off x="3853" y="1212"/>
              <a:ext cx="1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t>
              </a:r>
              <a:endParaRPr lang="zh-CN" altLang="en-US" sz="2400" b="1">
                <a:solidFill>
                  <a:srgbClr val="010000"/>
                </a:solidFill>
                <a:latin typeface="+mn-ea"/>
                <a:ea typeface="+mn-ea"/>
              </a:endParaRPr>
            </a:p>
          </p:txBody>
        </p:sp>
        <p:sp useBgFill="1">
          <p:nvSpPr>
            <p:cNvPr id="45" name="AutoShape 41"/>
            <p:cNvSpPr>
              <a:spLocks noChangeArrowheads="1"/>
            </p:cNvSpPr>
            <p:nvPr/>
          </p:nvSpPr>
          <p:spPr bwMode="auto">
            <a:xfrm>
              <a:off x="4176" y="1308"/>
              <a:ext cx="1152"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a:t>
              </a:r>
              <a:r>
                <a:rPr lang="en-US" altLang="zh-CN" sz="2400" b="1">
                  <a:solidFill>
                    <a:srgbClr val="010000"/>
                  </a:solidFill>
                  <a:latin typeface="+mn-ea"/>
                  <a:ea typeface="+mn-ea"/>
                </a:rPr>
                <a:t>, $]</a:t>
              </a:r>
              <a:endParaRPr lang="en-US" altLang="zh-CN" sz="2400" b="1">
                <a:solidFill>
                  <a:srgbClr val="010000"/>
                </a:solidFill>
                <a:latin typeface="+mn-ea"/>
                <a:ea typeface="+mn-ea"/>
              </a:endParaRPr>
            </a:p>
          </p:txBody>
        </p:sp>
        <p:sp useBgFill="1">
          <p:nvSpPr>
            <p:cNvPr id="46" name="Oval 42"/>
            <p:cNvSpPr>
              <a:spLocks noChangeArrowheads="1"/>
            </p:cNvSpPr>
            <p:nvPr/>
          </p:nvSpPr>
          <p:spPr bwMode="auto">
            <a:xfrm>
              <a:off x="5206" y="1528"/>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chemeClr val="accent2"/>
                  </a:solidFill>
                  <a:latin typeface="+mn-ea"/>
                  <a:ea typeface="+mn-ea"/>
                </a:rPr>
                <a:t>7</a:t>
              </a:r>
              <a:endParaRPr lang="zh-CN" altLang="en-US" sz="2400" b="1" dirty="0">
                <a:solidFill>
                  <a:schemeClr val="accent2"/>
                </a:solidFill>
                <a:latin typeface="+mn-ea"/>
                <a:ea typeface="+mn-ea"/>
              </a:endParaRPr>
            </a:p>
          </p:txBody>
        </p:sp>
      </p:grpSp>
      <p:grpSp>
        <p:nvGrpSpPr>
          <p:cNvPr id="47" name="Group 46"/>
          <p:cNvGrpSpPr/>
          <p:nvPr/>
        </p:nvGrpSpPr>
        <p:grpSpPr bwMode="auto">
          <a:xfrm>
            <a:off x="4551417" y="5061344"/>
            <a:ext cx="3000375" cy="914400"/>
            <a:chOff x="1806" y="2703"/>
            <a:chExt cx="1890" cy="576"/>
          </a:xfrm>
        </p:grpSpPr>
        <p:sp>
          <p:nvSpPr>
            <p:cNvPr id="48" name="Line 47"/>
            <p:cNvSpPr>
              <a:spLocks noChangeShapeType="1"/>
            </p:cNvSpPr>
            <p:nvPr/>
          </p:nvSpPr>
          <p:spPr bwMode="auto">
            <a:xfrm>
              <a:off x="1806" y="2991"/>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49" name="AutoShape 48"/>
            <p:cNvSpPr>
              <a:spLocks noChangeArrowheads="1"/>
            </p:cNvSpPr>
            <p:nvPr/>
          </p:nvSpPr>
          <p:spPr bwMode="auto">
            <a:xfrm>
              <a:off x="2190" y="2751"/>
              <a:ext cx="1361"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a:t>
              </a:r>
              <a:r>
                <a:rPr lang="en-US" altLang="zh-CN" sz="2400" b="1">
                  <a:solidFill>
                    <a:srgbClr val="010000"/>
                  </a:solidFill>
                  <a:latin typeface="+mn-ea"/>
                  <a:ea typeface="+mn-ea"/>
                </a:rPr>
                <a:t>, )]</a:t>
              </a:r>
              <a:endParaRPr lang="en-US" altLang="zh-CN" sz="2400" b="1">
                <a:solidFill>
                  <a:srgbClr val="010000"/>
                </a:solidFill>
                <a:latin typeface="+mn-ea"/>
                <a:ea typeface="+mn-ea"/>
              </a:endParaRPr>
            </a:p>
          </p:txBody>
        </p:sp>
        <p:sp useBgFill="1">
          <p:nvSpPr>
            <p:cNvPr id="50" name="Oval 49"/>
            <p:cNvSpPr>
              <a:spLocks noChangeArrowheads="1"/>
            </p:cNvSpPr>
            <p:nvPr/>
          </p:nvSpPr>
          <p:spPr bwMode="auto">
            <a:xfrm>
              <a:off x="3408" y="2991"/>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rgbClr val="7030A0"/>
                  </a:solidFill>
                  <a:latin typeface="+mn-ea"/>
                  <a:ea typeface="+mn-ea"/>
                </a:rPr>
                <a:t>8</a:t>
              </a:r>
              <a:endParaRPr lang="zh-CN" altLang="en-US" sz="2400" b="1" dirty="0">
                <a:solidFill>
                  <a:srgbClr val="010000"/>
                </a:solidFill>
                <a:latin typeface="+mn-ea"/>
                <a:ea typeface="+mn-ea"/>
              </a:endParaRPr>
            </a:p>
          </p:txBody>
        </p:sp>
        <p:sp>
          <p:nvSpPr>
            <p:cNvPr id="51" name="Rectangle 50"/>
            <p:cNvSpPr>
              <a:spLocks noChangeArrowheads="1"/>
            </p:cNvSpPr>
            <p:nvPr/>
          </p:nvSpPr>
          <p:spPr bwMode="auto">
            <a:xfrm>
              <a:off x="1836" y="2703"/>
              <a:ext cx="24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grpSp>
      <p:grpSp>
        <p:nvGrpSpPr>
          <p:cNvPr id="52" name="Group 51"/>
          <p:cNvGrpSpPr/>
          <p:nvPr/>
        </p:nvGrpSpPr>
        <p:grpSpPr bwMode="auto">
          <a:xfrm>
            <a:off x="7321550" y="4909185"/>
            <a:ext cx="2559685" cy="990600"/>
            <a:chOff x="3551" y="2607"/>
            <a:chExt cx="1920" cy="624"/>
          </a:xfrm>
        </p:grpSpPr>
        <p:sp>
          <p:nvSpPr>
            <p:cNvPr id="53" name="Line 52"/>
            <p:cNvSpPr>
              <a:spLocks noChangeShapeType="1"/>
            </p:cNvSpPr>
            <p:nvPr/>
          </p:nvSpPr>
          <p:spPr bwMode="auto">
            <a:xfrm>
              <a:off x="3551" y="2895"/>
              <a:ext cx="529"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54" name="Rectangle 53"/>
            <p:cNvSpPr>
              <a:spLocks noChangeArrowheads="1"/>
            </p:cNvSpPr>
            <p:nvPr/>
          </p:nvSpPr>
          <p:spPr bwMode="auto">
            <a:xfrm>
              <a:off x="3551" y="2607"/>
              <a:ext cx="38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t>
              </a:r>
              <a:endParaRPr lang="zh-CN" altLang="en-US" sz="2400" b="1">
                <a:solidFill>
                  <a:srgbClr val="010000"/>
                </a:solidFill>
                <a:latin typeface="+mn-ea"/>
                <a:ea typeface="+mn-ea"/>
              </a:endParaRPr>
            </a:p>
          </p:txBody>
        </p:sp>
        <p:sp useBgFill="1">
          <p:nvSpPr>
            <p:cNvPr id="55" name="AutoShape 54"/>
            <p:cNvSpPr>
              <a:spLocks noChangeArrowheads="1"/>
            </p:cNvSpPr>
            <p:nvPr/>
          </p:nvSpPr>
          <p:spPr bwMode="auto">
            <a:xfrm>
              <a:off x="4080" y="2703"/>
              <a:ext cx="1248" cy="384"/>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a:t>
              </a:r>
              <a:r>
                <a:rPr lang="en-US" altLang="zh-CN" sz="2400" b="1" dirty="0">
                  <a:solidFill>
                    <a:srgbClr val="010000"/>
                  </a:solidFill>
                  <a:latin typeface="+mn-ea"/>
                  <a:ea typeface="+mn-ea"/>
                </a:rPr>
                <a:t>, )]</a:t>
              </a:r>
              <a:endParaRPr lang="en-US" altLang="zh-CN" sz="2400" b="1" dirty="0">
                <a:solidFill>
                  <a:srgbClr val="010000"/>
                </a:solidFill>
                <a:latin typeface="+mn-ea"/>
                <a:ea typeface="+mn-ea"/>
              </a:endParaRPr>
            </a:p>
          </p:txBody>
        </p:sp>
        <p:sp useBgFill="1">
          <p:nvSpPr>
            <p:cNvPr id="56" name="Oval 55"/>
            <p:cNvSpPr>
              <a:spLocks noChangeArrowheads="1"/>
            </p:cNvSpPr>
            <p:nvPr/>
          </p:nvSpPr>
          <p:spPr bwMode="auto">
            <a:xfrm>
              <a:off x="5183" y="2943"/>
              <a:ext cx="288" cy="288"/>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chemeClr val="accent2"/>
                  </a:solidFill>
                  <a:latin typeface="+mn-ea"/>
                  <a:ea typeface="+mn-ea"/>
                </a:rPr>
                <a:t>9</a:t>
              </a:r>
              <a:endParaRPr lang="zh-CN" altLang="en-US" sz="2400" b="1" dirty="0">
                <a:solidFill>
                  <a:srgbClr val="010000"/>
                </a:solidFill>
                <a:latin typeface="+mn-ea"/>
                <a:ea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AutoShape 2"/>
          <p:cNvSpPr>
            <a:spLocks noChangeArrowheads="1"/>
          </p:cNvSpPr>
          <p:nvPr/>
        </p:nvSpPr>
        <p:spPr bwMode="auto">
          <a:xfrm>
            <a:off x="1472006" y="2202889"/>
            <a:ext cx="2212936" cy="12954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t>
            </a:r>
            <a:r>
              <a:rPr lang="en-US" altLang="zh-CN" sz="2400" b="1">
                <a:solidFill>
                  <a:srgbClr val="010000"/>
                </a:solidFill>
                <a:latin typeface="+mn-ea"/>
                <a:ea typeface="+mn-ea"/>
              </a:rPr>
              <a:t>A ,  $]</a:t>
            </a:r>
            <a:endParaRPr lang="en-US" altLang="zh-CN" sz="2400" b="1">
              <a:solidFill>
                <a:srgbClr val="010000"/>
              </a:solidFill>
              <a:latin typeface="+mn-ea"/>
              <a:ea typeface="+mn-ea"/>
            </a:endParaRPr>
          </a:p>
          <a:p>
            <a:pPr eaLnBrk="1" hangingPunct="1"/>
            <a:r>
              <a:rPr lang="zh-CN" altLang="en-US" sz="2400" b="1">
                <a:solidFill>
                  <a:srgbClr val="010000"/>
                </a:solidFill>
                <a:latin typeface="+mn-ea"/>
                <a:ea typeface="+mn-ea"/>
              </a:rPr>
              <a:t>[</a:t>
            </a:r>
            <a:r>
              <a:rPr lang="en-US" altLang="zh-CN" sz="2400" b="1">
                <a:solidFill>
                  <a:srgbClr val="020001"/>
                </a:solidFill>
                <a:latin typeface="+mn-ea"/>
                <a:ea typeface="+mn-ea"/>
              </a:rPr>
              <a:t>A→.(A),  $</a:t>
            </a:r>
            <a:r>
              <a:rPr lang="zh-CN" altLang="en-US" sz="2400" b="1">
                <a:solidFill>
                  <a:srgbClr val="010000"/>
                </a:solidFill>
                <a:latin typeface="+mn-ea"/>
                <a:ea typeface="+mn-ea"/>
              </a:rPr>
              <a:t>]</a:t>
            </a:r>
            <a:endParaRPr lang="zh-CN" altLang="en-US" sz="2400" b="1">
              <a:solidFill>
                <a:srgbClr val="010000"/>
              </a:solidFill>
              <a:latin typeface="+mn-ea"/>
              <a:ea typeface="+mn-ea"/>
            </a:endParaRPr>
          </a:p>
          <a:p>
            <a:pPr eaLnBrk="1" hangingPunct="1"/>
            <a:r>
              <a:rPr lang="zh-CN" altLang="en-US" sz="2400" b="1">
                <a:solidFill>
                  <a:srgbClr val="010000"/>
                </a:solidFill>
                <a:latin typeface="+mn-ea"/>
                <a:ea typeface="+mn-ea"/>
              </a:rPr>
              <a:t>[</a:t>
            </a:r>
            <a:r>
              <a:rPr lang="en-US" altLang="zh-CN" sz="2400" b="1">
                <a:solidFill>
                  <a:srgbClr val="020001"/>
                </a:solidFill>
                <a:latin typeface="+mn-ea"/>
                <a:ea typeface="+mn-ea"/>
              </a:rPr>
              <a:t>A→.a,  $</a:t>
            </a:r>
            <a:r>
              <a:rPr lang="zh-CN" altLang="en-US" sz="2400" b="1">
                <a:solidFill>
                  <a:srgbClr val="010000"/>
                </a:solidFill>
                <a:latin typeface="+mn-ea"/>
                <a:ea typeface="+mn-ea"/>
              </a:rPr>
              <a:t>]</a:t>
            </a:r>
            <a:endParaRPr lang="zh-CN" altLang="en-US" sz="2400" b="1">
              <a:solidFill>
                <a:srgbClr val="010000"/>
              </a:solidFill>
              <a:latin typeface="+mn-ea"/>
              <a:ea typeface="+mn-ea"/>
            </a:endParaRPr>
          </a:p>
        </p:txBody>
      </p:sp>
      <p:sp useBgFill="1">
        <p:nvSpPr>
          <p:cNvPr id="13" name="Oval 3"/>
          <p:cNvSpPr>
            <a:spLocks noChangeArrowheads="1"/>
          </p:cNvSpPr>
          <p:nvPr/>
        </p:nvSpPr>
        <p:spPr bwMode="auto">
          <a:xfrm>
            <a:off x="3303942" y="3269689"/>
            <a:ext cx="457200" cy="457200"/>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0</a:t>
            </a:r>
            <a:endParaRPr lang="zh-CN" altLang="en-US" sz="2400" b="1">
              <a:solidFill>
                <a:srgbClr val="010000"/>
              </a:solidFill>
              <a:latin typeface="+mn-ea"/>
              <a:ea typeface="+mn-ea"/>
            </a:endParaRPr>
          </a:p>
        </p:txBody>
      </p:sp>
      <p:sp>
        <p:nvSpPr>
          <p:cNvPr id="14" name="Line 4"/>
          <p:cNvSpPr>
            <a:spLocks noChangeShapeType="1"/>
          </p:cNvSpPr>
          <p:nvPr/>
        </p:nvSpPr>
        <p:spPr bwMode="auto">
          <a:xfrm>
            <a:off x="3684942" y="2431489"/>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5" name="AutoShape 5"/>
          <p:cNvSpPr>
            <a:spLocks noChangeArrowheads="1"/>
          </p:cNvSpPr>
          <p:nvPr/>
        </p:nvSpPr>
        <p:spPr bwMode="auto">
          <a:xfrm>
            <a:off x="4294542" y="2126689"/>
            <a:ext cx="2187245" cy="6096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t>
            </a:r>
            <a:r>
              <a:rPr lang="en-US" altLang="zh-CN" sz="2400" b="1">
                <a:solidFill>
                  <a:srgbClr val="010000"/>
                </a:solidFill>
                <a:latin typeface="+mn-ea"/>
                <a:ea typeface="+mn-ea"/>
              </a:rPr>
              <a:t>A. ,  $]</a:t>
            </a:r>
            <a:endParaRPr lang="en-US" altLang="zh-CN" sz="2400" b="1">
              <a:solidFill>
                <a:srgbClr val="010000"/>
              </a:solidFill>
              <a:latin typeface="+mn-ea"/>
              <a:ea typeface="+mn-ea"/>
            </a:endParaRPr>
          </a:p>
        </p:txBody>
      </p:sp>
      <p:sp useBgFill="1">
        <p:nvSpPr>
          <p:cNvPr id="16" name="Oval 6"/>
          <p:cNvSpPr>
            <a:spLocks noChangeArrowheads="1"/>
          </p:cNvSpPr>
          <p:nvPr/>
        </p:nvSpPr>
        <p:spPr bwMode="auto">
          <a:xfrm>
            <a:off x="6253187" y="2307753"/>
            <a:ext cx="457200" cy="457200"/>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rgbClr val="010000"/>
                </a:solidFill>
                <a:latin typeface="+mn-ea"/>
                <a:ea typeface="+mn-ea"/>
              </a:rPr>
              <a:t>1</a:t>
            </a:r>
            <a:endParaRPr lang="zh-CN" altLang="en-US" sz="2400" b="1" dirty="0">
              <a:solidFill>
                <a:srgbClr val="010000"/>
              </a:solidFill>
              <a:latin typeface="+mn-ea"/>
              <a:ea typeface="+mn-ea"/>
            </a:endParaRPr>
          </a:p>
        </p:txBody>
      </p:sp>
      <p:sp>
        <p:nvSpPr>
          <p:cNvPr id="17" name="Rectangle 7"/>
          <p:cNvSpPr>
            <a:spLocks noChangeArrowheads="1"/>
          </p:cNvSpPr>
          <p:nvPr/>
        </p:nvSpPr>
        <p:spPr bwMode="auto">
          <a:xfrm>
            <a:off x="3730185" y="2279089"/>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sp>
        <p:nvSpPr>
          <p:cNvPr id="18" name="Line 8"/>
          <p:cNvSpPr>
            <a:spLocks noChangeShapeType="1"/>
          </p:cNvSpPr>
          <p:nvPr/>
        </p:nvSpPr>
        <p:spPr bwMode="auto">
          <a:xfrm>
            <a:off x="3684942" y="3117289"/>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9" name="Rectangle 9"/>
          <p:cNvSpPr>
            <a:spLocks noChangeArrowheads="1"/>
          </p:cNvSpPr>
          <p:nvPr/>
        </p:nvSpPr>
        <p:spPr bwMode="auto">
          <a:xfrm>
            <a:off x="3783684" y="2964889"/>
            <a:ext cx="3422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sp>
        <p:nvSpPr>
          <p:cNvPr id="20" name="Line 10"/>
          <p:cNvSpPr>
            <a:spLocks noChangeShapeType="1"/>
          </p:cNvSpPr>
          <p:nvPr/>
        </p:nvSpPr>
        <p:spPr bwMode="auto">
          <a:xfrm>
            <a:off x="2160942" y="3593539"/>
            <a:ext cx="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1" name="Rectangle 11"/>
          <p:cNvSpPr>
            <a:spLocks noChangeArrowheads="1"/>
          </p:cNvSpPr>
          <p:nvPr/>
        </p:nvSpPr>
        <p:spPr bwMode="auto">
          <a:xfrm>
            <a:off x="2211901" y="3431614"/>
            <a:ext cx="2838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t>
            </a:r>
            <a:endParaRPr lang="zh-CN" altLang="en-US" sz="2400" b="1">
              <a:solidFill>
                <a:srgbClr val="010000"/>
              </a:solidFill>
              <a:latin typeface="+mn-ea"/>
              <a:ea typeface="+mn-ea"/>
            </a:endParaRPr>
          </a:p>
        </p:txBody>
      </p:sp>
      <p:sp>
        <p:nvSpPr>
          <p:cNvPr id="22" name="Rectangle 12"/>
          <p:cNvSpPr>
            <a:spLocks noChangeArrowheads="1"/>
          </p:cNvSpPr>
          <p:nvPr/>
        </p:nvSpPr>
        <p:spPr bwMode="auto">
          <a:xfrm>
            <a:off x="1311789" y="5619189"/>
            <a:ext cx="2838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t>
            </a:r>
            <a:endParaRPr lang="zh-CN" altLang="en-US" sz="2400" b="1">
              <a:solidFill>
                <a:srgbClr val="010000"/>
              </a:solidFill>
              <a:latin typeface="+mn-ea"/>
              <a:ea typeface="+mn-ea"/>
            </a:endParaRPr>
          </a:p>
        </p:txBody>
      </p:sp>
      <p:cxnSp>
        <p:nvCxnSpPr>
          <p:cNvPr id="23" name="AutoShape 13"/>
          <p:cNvCxnSpPr>
            <a:cxnSpLocks noChangeShapeType="1"/>
          </p:cNvCxnSpPr>
          <p:nvPr/>
        </p:nvCxnSpPr>
        <p:spPr bwMode="auto">
          <a:xfrm>
            <a:off x="970317" y="4755589"/>
            <a:ext cx="1414463" cy="695325"/>
          </a:xfrm>
          <a:prstGeom prst="curvedConnector4">
            <a:avLst>
              <a:gd name="adj1" fmla="val -15824"/>
              <a:gd name="adj2" fmla="val 188356"/>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24" name="Line 14"/>
          <p:cNvSpPr>
            <a:spLocks noChangeShapeType="1"/>
          </p:cNvSpPr>
          <p:nvPr/>
        </p:nvSpPr>
        <p:spPr bwMode="auto">
          <a:xfrm>
            <a:off x="3865917" y="4755589"/>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5" name="Rectangle 15"/>
          <p:cNvSpPr>
            <a:spLocks noChangeArrowheads="1"/>
          </p:cNvSpPr>
          <p:nvPr/>
        </p:nvSpPr>
        <p:spPr bwMode="auto">
          <a:xfrm>
            <a:off x="3911160" y="4298389"/>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sp>
        <p:nvSpPr>
          <p:cNvPr id="34" name="Line 16"/>
          <p:cNvSpPr>
            <a:spLocks noChangeShapeType="1"/>
          </p:cNvSpPr>
          <p:nvPr/>
        </p:nvSpPr>
        <p:spPr bwMode="auto">
          <a:xfrm flipH="1">
            <a:off x="5770917" y="5060389"/>
            <a:ext cx="0" cy="533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5" name="Rectangle 17"/>
          <p:cNvSpPr>
            <a:spLocks noChangeArrowheads="1"/>
          </p:cNvSpPr>
          <p:nvPr/>
        </p:nvSpPr>
        <p:spPr bwMode="auto">
          <a:xfrm>
            <a:off x="5940939" y="5060389"/>
            <a:ext cx="2838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t>
            </a:r>
            <a:endParaRPr lang="zh-CN" altLang="en-US" sz="2400" b="1">
              <a:solidFill>
                <a:srgbClr val="010000"/>
              </a:solidFill>
              <a:latin typeface="+mn-ea"/>
              <a:ea typeface="+mn-ea"/>
            </a:endParaRPr>
          </a:p>
        </p:txBody>
      </p:sp>
      <p:sp useBgFill="1">
        <p:nvSpPr>
          <p:cNvPr id="36" name="AutoShape 18"/>
          <p:cNvSpPr>
            <a:spLocks noChangeArrowheads="1"/>
          </p:cNvSpPr>
          <p:nvPr/>
        </p:nvSpPr>
        <p:spPr bwMode="auto">
          <a:xfrm>
            <a:off x="1225811" y="4069789"/>
            <a:ext cx="2563905" cy="13716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10000"/>
                </a:solidFill>
                <a:latin typeface="+mn-ea"/>
                <a:ea typeface="+mn-ea"/>
              </a:rPr>
              <a:t>[</a:t>
            </a:r>
            <a:r>
              <a:rPr lang="en-US" altLang="zh-CN" sz="2400" b="1" dirty="0">
                <a:solidFill>
                  <a:srgbClr val="020001"/>
                </a:solidFill>
                <a:latin typeface="+mn-ea"/>
                <a:ea typeface="+mn-ea"/>
              </a:rPr>
              <a:t>A→(.A)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a:solidFill>
                  <a:srgbClr val="010000"/>
                </a:solidFill>
                <a:latin typeface="+mn-ea"/>
                <a:ea typeface="+mn-ea"/>
              </a:rPr>
              <a:t>A</a:t>
            </a:r>
            <a:r>
              <a:rPr lang="en-US" altLang="zh-CN" sz="2400" b="1" dirty="0">
                <a:solidFill>
                  <a:srgbClr val="020001"/>
                </a:solidFill>
                <a:latin typeface="+mn-ea"/>
                <a:ea typeface="+mn-ea"/>
              </a:rPr>
              <a:t>→.(A)</a:t>
            </a:r>
            <a:r>
              <a:rPr lang="en-US" altLang="zh-CN" sz="2400" b="1" dirty="0">
                <a:solidFill>
                  <a:srgbClr val="010000"/>
                </a:solidFill>
                <a:latin typeface="+mn-ea"/>
                <a:ea typeface="+mn-ea"/>
              </a:rPr>
              <a:t>,  )]</a:t>
            </a:r>
            <a:endParaRPr lang="en-US" altLang="zh-CN" sz="2400" b="1" dirty="0">
              <a:solidFill>
                <a:srgbClr val="010000"/>
              </a:solidFill>
              <a:latin typeface="+mn-ea"/>
              <a:ea typeface="+mn-ea"/>
            </a:endParaRPr>
          </a:p>
          <a:p>
            <a:pPr eaLnBrk="1" hangingPunct="1"/>
            <a:r>
              <a:rPr lang="zh-CN" altLang="en-US" sz="2400" b="1" dirty="0">
                <a:solidFill>
                  <a:srgbClr val="010000"/>
                </a:solidFill>
                <a:latin typeface="+mn-ea"/>
                <a:ea typeface="+mn-ea"/>
              </a:rPr>
              <a:t>[</a:t>
            </a:r>
            <a:r>
              <a:rPr lang="en-US" altLang="zh-CN" sz="2400" b="1" dirty="0" err="1">
                <a:solidFill>
                  <a:srgbClr val="020001"/>
                </a:solidFill>
                <a:latin typeface="+mn-ea"/>
                <a:ea typeface="+mn-ea"/>
              </a:rPr>
              <a:t>A→.a</a:t>
            </a:r>
            <a:r>
              <a:rPr lang="en-US" altLang="zh-CN" sz="2400" b="1" dirty="0">
                <a:solidFill>
                  <a:srgbClr val="020001"/>
                </a:solidFill>
                <a:latin typeface="+mn-ea"/>
                <a:ea typeface="+mn-ea"/>
              </a:rPr>
              <a:t> ,  )</a:t>
            </a:r>
            <a:r>
              <a:rPr lang="zh-CN" altLang="en-US" sz="2400" b="1" dirty="0">
                <a:solidFill>
                  <a:srgbClr val="010000"/>
                </a:solidFill>
                <a:latin typeface="+mn-ea"/>
                <a:ea typeface="+mn-ea"/>
              </a:rPr>
              <a:t>]</a:t>
            </a:r>
            <a:endParaRPr lang="zh-CN" altLang="en-US" sz="2400" b="1" dirty="0">
              <a:solidFill>
                <a:srgbClr val="010000"/>
              </a:solidFill>
              <a:latin typeface="+mn-ea"/>
              <a:ea typeface="+mn-ea"/>
            </a:endParaRPr>
          </a:p>
        </p:txBody>
      </p:sp>
      <p:sp useBgFill="1">
        <p:nvSpPr>
          <p:cNvPr id="37" name="Oval 19"/>
          <p:cNvSpPr>
            <a:spLocks noChangeArrowheads="1"/>
          </p:cNvSpPr>
          <p:nvPr/>
        </p:nvSpPr>
        <p:spPr bwMode="auto">
          <a:xfrm>
            <a:off x="2875317" y="4984189"/>
            <a:ext cx="1066800" cy="676275"/>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2/</a:t>
            </a:r>
            <a:r>
              <a:rPr lang="en-US" altLang="zh-CN" sz="2400" b="1">
                <a:solidFill>
                  <a:srgbClr val="010000"/>
                </a:solidFill>
                <a:latin typeface="+mn-ea"/>
                <a:ea typeface="+mn-ea"/>
              </a:rPr>
              <a:t>5</a:t>
            </a:r>
            <a:endParaRPr lang="zh-CN" altLang="en-US" sz="2400" b="1">
              <a:solidFill>
                <a:srgbClr val="010000"/>
              </a:solidFill>
              <a:latin typeface="+mn-ea"/>
              <a:ea typeface="+mn-ea"/>
            </a:endParaRPr>
          </a:p>
        </p:txBody>
      </p:sp>
      <p:sp useBgFill="1">
        <p:nvSpPr>
          <p:cNvPr id="38" name="AutoShape 20"/>
          <p:cNvSpPr>
            <a:spLocks noChangeArrowheads="1"/>
          </p:cNvSpPr>
          <p:nvPr/>
        </p:nvSpPr>
        <p:spPr bwMode="auto">
          <a:xfrm>
            <a:off x="4323117" y="2850589"/>
            <a:ext cx="2158670" cy="6096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20001"/>
                </a:solidFill>
                <a:latin typeface="+mn-ea"/>
                <a:ea typeface="+mn-ea"/>
              </a:rPr>
              <a:t>A→a. ,  $/)</a:t>
            </a:r>
            <a:r>
              <a:rPr lang="zh-CN" altLang="en-US" sz="2400" b="1">
                <a:solidFill>
                  <a:srgbClr val="010000"/>
                </a:solidFill>
                <a:latin typeface="+mn-ea"/>
                <a:ea typeface="+mn-ea"/>
              </a:rPr>
              <a:t>]</a:t>
            </a:r>
            <a:endParaRPr lang="en-US" altLang="zh-CN" sz="2400" b="1">
              <a:solidFill>
                <a:srgbClr val="010000"/>
              </a:solidFill>
              <a:latin typeface="+mn-ea"/>
              <a:ea typeface="+mn-ea"/>
            </a:endParaRPr>
          </a:p>
        </p:txBody>
      </p:sp>
      <p:sp useBgFill="1">
        <p:nvSpPr>
          <p:cNvPr id="39" name="Oval 21"/>
          <p:cNvSpPr>
            <a:spLocks noChangeArrowheads="1"/>
          </p:cNvSpPr>
          <p:nvPr/>
        </p:nvSpPr>
        <p:spPr bwMode="auto">
          <a:xfrm>
            <a:off x="6266217" y="3155389"/>
            <a:ext cx="990600" cy="533400"/>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dirty="0">
                <a:solidFill>
                  <a:srgbClr val="010000"/>
                </a:solidFill>
                <a:latin typeface="+mn-ea"/>
                <a:ea typeface="+mn-ea"/>
              </a:rPr>
              <a:t>3/6</a:t>
            </a:r>
            <a:endParaRPr lang="zh-CN" altLang="en-US" sz="2400" b="1" dirty="0">
              <a:solidFill>
                <a:srgbClr val="010000"/>
              </a:solidFill>
              <a:latin typeface="+mn-ea"/>
              <a:ea typeface="+mn-ea"/>
            </a:endParaRPr>
          </a:p>
        </p:txBody>
      </p:sp>
      <p:sp>
        <p:nvSpPr>
          <p:cNvPr id="40" name="Line 22"/>
          <p:cNvSpPr>
            <a:spLocks noChangeShapeType="1"/>
          </p:cNvSpPr>
          <p:nvPr/>
        </p:nvSpPr>
        <p:spPr bwMode="auto">
          <a:xfrm flipV="1">
            <a:off x="3789717" y="3460189"/>
            <a:ext cx="762000" cy="838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41" name="Rectangle 23"/>
          <p:cNvSpPr>
            <a:spLocks noChangeArrowheads="1"/>
          </p:cNvSpPr>
          <p:nvPr/>
        </p:nvSpPr>
        <p:spPr bwMode="auto">
          <a:xfrm>
            <a:off x="4193259" y="3612589"/>
            <a:ext cx="3422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b="1">
                <a:solidFill>
                  <a:srgbClr val="010000"/>
                </a:solidFill>
                <a:latin typeface="+mn-ea"/>
                <a:ea typeface="+mn-ea"/>
              </a:rPr>
              <a:t>a</a:t>
            </a:r>
            <a:endParaRPr lang="zh-CN" altLang="en-US" sz="2400" b="1">
              <a:solidFill>
                <a:srgbClr val="010000"/>
              </a:solidFill>
              <a:latin typeface="+mn-ea"/>
              <a:ea typeface="+mn-ea"/>
            </a:endParaRPr>
          </a:p>
        </p:txBody>
      </p:sp>
      <p:sp useBgFill="1">
        <p:nvSpPr>
          <p:cNvPr id="42" name="AutoShape 24"/>
          <p:cNvSpPr>
            <a:spLocks noChangeArrowheads="1"/>
          </p:cNvSpPr>
          <p:nvPr/>
        </p:nvSpPr>
        <p:spPr bwMode="auto">
          <a:xfrm>
            <a:off x="4475517" y="4374589"/>
            <a:ext cx="2362194" cy="6096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a:t>
            </a:r>
            <a:r>
              <a:rPr lang="en-US" altLang="zh-CN" sz="2400" b="1">
                <a:solidFill>
                  <a:srgbClr val="010000"/>
                </a:solidFill>
                <a:latin typeface="+mn-ea"/>
                <a:ea typeface="+mn-ea"/>
              </a:rPr>
              <a:t>, $/)]</a:t>
            </a:r>
            <a:endParaRPr lang="en-US" altLang="zh-CN" sz="2400" b="1">
              <a:solidFill>
                <a:srgbClr val="010000"/>
              </a:solidFill>
              <a:latin typeface="+mn-ea"/>
              <a:ea typeface="+mn-ea"/>
            </a:endParaRPr>
          </a:p>
        </p:txBody>
      </p:sp>
      <p:sp useBgFill="1">
        <p:nvSpPr>
          <p:cNvPr id="43" name="Oval 25"/>
          <p:cNvSpPr>
            <a:spLocks noChangeArrowheads="1"/>
          </p:cNvSpPr>
          <p:nvPr/>
        </p:nvSpPr>
        <p:spPr bwMode="auto">
          <a:xfrm>
            <a:off x="6501536" y="4679389"/>
            <a:ext cx="990600" cy="533400"/>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4/8</a:t>
            </a:r>
            <a:endParaRPr lang="zh-CN" altLang="en-US" sz="2400" b="1">
              <a:solidFill>
                <a:srgbClr val="010000"/>
              </a:solidFill>
              <a:latin typeface="+mn-ea"/>
              <a:ea typeface="+mn-ea"/>
            </a:endParaRPr>
          </a:p>
        </p:txBody>
      </p:sp>
      <p:sp useBgFill="1">
        <p:nvSpPr>
          <p:cNvPr id="44" name="AutoShape 26"/>
          <p:cNvSpPr>
            <a:spLocks noChangeArrowheads="1"/>
          </p:cNvSpPr>
          <p:nvPr/>
        </p:nvSpPr>
        <p:spPr bwMode="auto">
          <a:xfrm>
            <a:off x="4551717" y="5593789"/>
            <a:ext cx="2285987" cy="609600"/>
          </a:xfrm>
          <a:prstGeom prst="flowChartAlternateProcess">
            <a:avLst/>
          </a:prstGeom>
          <a:ln w="19050">
            <a:solidFill>
              <a:schemeClr val="tx1"/>
            </a:solidFill>
            <a:miter lim="800000"/>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10000"/>
                </a:solidFill>
                <a:latin typeface="+mn-ea"/>
                <a:ea typeface="+mn-ea"/>
              </a:rPr>
              <a:t>[</a:t>
            </a:r>
            <a:r>
              <a:rPr lang="en-US" altLang="zh-CN" sz="2400" b="1">
                <a:solidFill>
                  <a:srgbClr val="010000"/>
                </a:solidFill>
                <a:latin typeface="+mn-ea"/>
                <a:ea typeface="+mn-ea"/>
              </a:rPr>
              <a:t>A</a:t>
            </a:r>
            <a:r>
              <a:rPr lang="en-US" altLang="zh-CN" sz="2400" b="1">
                <a:solidFill>
                  <a:srgbClr val="020001"/>
                </a:solidFill>
                <a:latin typeface="+mn-ea"/>
                <a:ea typeface="+mn-ea"/>
              </a:rPr>
              <a:t>→(A).</a:t>
            </a:r>
            <a:r>
              <a:rPr lang="en-US" altLang="zh-CN" sz="2400" b="1">
                <a:solidFill>
                  <a:srgbClr val="010000"/>
                </a:solidFill>
                <a:latin typeface="+mn-ea"/>
                <a:ea typeface="+mn-ea"/>
              </a:rPr>
              <a:t>, $/)]</a:t>
            </a:r>
            <a:endParaRPr lang="en-US" altLang="zh-CN" sz="2400" b="1">
              <a:solidFill>
                <a:srgbClr val="010000"/>
              </a:solidFill>
              <a:latin typeface="+mn-ea"/>
              <a:ea typeface="+mn-ea"/>
            </a:endParaRPr>
          </a:p>
        </p:txBody>
      </p:sp>
      <p:sp useBgFill="1">
        <p:nvSpPr>
          <p:cNvPr id="45" name="Oval 27"/>
          <p:cNvSpPr>
            <a:spLocks noChangeArrowheads="1"/>
          </p:cNvSpPr>
          <p:nvPr/>
        </p:nvSpPr>
        <p:spPr bwMode="auto">
          <a:xfrm>
            <a:off x="6627029" y="5850964"/>
            <a:ext cx="838200" cy="533400"/>
          </a:xfrm>
          <a:prstGeom prst="ellipse">
            <a:avLst/>
          </a:prstGeom>
          <a:ln w="9525">
            <a:solidFill>
              <a:schemeClr val="tx1"/>
            </a:solidFill>
            <a:round/>
          </a:ln>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10000"/>
                </a:solidFill>
                <a:latin typeface="+mn-ea"/>
                <a:ea typeface="+mn-ea"/>
              </a:rPr>
              <a:t>7/9</a:t>
            </a:r>
            <a:endParaRPr lang="zh-CN" altLang="en-US" sz="2400" b="1">
              <a:solidFill>
                <a:srgbClr val="010000"/>
              </a:solidFill>
              <a:latin typeface="+mn-ea"/>
              <a:ea typeface="+mn-ea"/>
            </a:endParaRPr>
          </a:p>
        </p:txBody>
      </p:sp>
      <p:sp>
        <p:nvSpPr>
          <p:cNvPr id="47" name="Rectangle 29"/>
          <p:cNvSpPr>
            <a:spLocks noChangeArrowheads="1"/>
          </p:cNvSpPr>
          <p:nvPr/>
        </p:nvSpPr>
        <p:spPr bwMode="auto">
          <a:xfrm>
            <a:off x="347345" y="1134110"/>
            <a:ext cx="725868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rgbClr val="020001"/>
                </a:solidFill>
                <a:latin typeface="+mn-ea"/>
                <a:ea typeface="+mn-ea"/>
              </a:rPr>
              <a:t>LALR(1)</a:t>
            </a:r>
            <a:r>
              <a:rPr lang="zh-CN" altLang="en-US" sz="2800" b="1">
                <a:solidFill>
                  <a:srgbClr val="020001"/>
                </a:solidFill>
                <a:latin typeface="+mn-ea"/>
                <a:ea typeface="+mn-ea"/>
              </a:rPr>
              <a:t>构造分析表的方法与</a:t>
            </a:r>
            <a:r>
              <a:rPr lang="en-US" altLang="zh-CN" sz="2800" b="1">
                <a:solidFill>
                  <a:srgbClr val="020001"/>
                </a:solidFill>
                <a:latin typeface="+mn-ea"/>
                <a:ea typeface="+mn-ea"/>
              </a:rPr>
              <a:t>LR(1)</a:t>
            </a:r>
            <a:r>
              <a:rPr lang="zh-CN" altLang="en-US" sz="2800" b="1">
                <a:solidFill>
                  <a:srgbClr val="020001"/>
                </a:solidFill>
                <a:latin typeface="+mn-ea"/>
                <a:ea typeface="+mn-ea"/>
              </a:rPr>
              <a:t>相同，</a:t>
            </a:r>
            <a:r>
              <a:rPr lang="zh-CN" altLang="en-US" sz="2800" b="1" dirty="0">
                <a:solidFill>
                  <a:srgbClr val="020001"/>
                </a:solidFill>
                <a:latin typeface="+mn-ea"/>
                <a:sym typeface="+mn-ea"/>
              </a:rPr>
              <a:t>若分析表无冲突，则称为</a:t>
            </a:r>
            <a:r>
              <a:rPr lang="en-US" altLang="zh-CN" sz="2800" b="1" dirty="0">
                <a:solidFill>
                  <a:srgbClr val="0070C0"/>
                </a:solidFill>
                <a:latin typeface="+mn-ea"/>
                <a:sym typeface="+mn-ea"/>
              </a:rPr>
              <a:t>LALR(1)</a:t>
            </a:r>
            <a:r>
              <a:rPr lang="zh-CN" altLang="en-US" sz="2800" b="1" dirty="0">
                <a:solidFill>
                  <a:srgbClr val="0070C0"/>
                </a:solidFill>
                <a:latin typeface="+mn-ea"/>
                <a:sym typeface="+mn-ea"/>
              </a:rPr>
              <a:t>分析表</a:t>
            </a:r>
            <a:r>
              <a:rPr lang="zh-CN" altLang="en-US" sz="2800" b="1" dirty="0">
                <a:solidFill>
                  <a:srgbClr val="020001"/>
                </a:solidFill>
                <a:latin typeface="+mn-ea"/>
                <a:sym typeface="+mn-ea"/>
              </a:rPr>
              <a:t>。</a:t>
            </a:r>
            <a:endParaRPr lang="zh-CN" altLang="en-US" sz="2800" b="1">
              <a:solidFill>
                <a:srgbClr val="020001"/>
              </a:solidFill>
              <a:latin typeface="+mn-ea"/>
              <a:ea typeface="+mn-ea"/>
            </a:endParaRPr>
          </a:p>
        </p:txBody>
      </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aphicFrame>
        <p:nvGraphicFramePr>
          <p:cNvPr id="29" name="Group 69"/>
          <p:cNvGraphicFramePr>
            <a:graphicFrameLocks noGrp="1"/>
          </p:cNvGraphicFramePr>
          <p:nvPr>
            <p:custDataLst>
              <p:tags r:id="rId1"/>
            </p:custDataLst>
          </p:nvPr>
        </p:nvGraphicFramePr>
        <p:xfrm>
          <a:off x="7523779" y="1394666"/>
          <a:ext cx="4248150" cy="4850765"/>
        </p:xfrm>
        <a:graphic>
          <a:graphicData uri="http://schemas.openxmlformats.org/drawingml/2006/table">
            <a:tbl>
              <a:tblPr/>
              <a:tblGrid>
                <a:gridCol w="863600"/>
                <a:gridCol w="615950"/>
                <a:gridCol w="692150"/>
                <a:gridCol w="628650"/>
                <a:gridCol w="558800"/>
                <a:gridCol w="889000"/>
              </a:tblGrid>
              <a:tr h="549275">
                <a:tc row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Action</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Goto</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v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2/5</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3/6</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2/5</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3/6</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7/9</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7/9</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4"/>
          <p:cNvSpPr>
            <a:spLocks noGrp="1"/>
          </p:cNvSpPr>
          <p:nvPr>
            <p:ph type="body" sz="quarter" idx="14"/>
            <p:custDataLst>
              <p:tags r:id="rId2"/>
            </p:custDataLst>
          </p:nvPr>
        </p:nvSpPr>
        <p:spPr>
          <a:xfrm>
            <a:off x="406400" y="349250"/>
            <a:ext cx="7446645" cy="593090"/>
          </a:xfrm>
        </p:spPr>
        <p:txBody>
          <a:bodyPr/>
          <a:lstStyle/>
          <a:p>
            <a:r>
              <a:rPr lang="en-US" altLang="zh-CN" sz="3200" dirty="0"/>
              <a:t>4.6 LALR</a:t>
            </a:r>
            <a:r>
              <a:rPr lang="zh-CN" altLang="en-US" sz="3200" dirty="0"/>
              <a:t>（</a:t>
            </a:r>
            <a:r>
              <a:rPr lang="en-US" altLang="zh-CN" sz="3200" dirty="0"/>
              <a:t>1</a:t>
            </a:r>
            <a:r>
              <a:rPr lang="zh-CN" altLang="en-US" sz="3200" dirty="0"/>
              <a:t>）分析算法（续）</a:t>
            </a:r>
            <a:endParaRPr lang="zh-CN" altLang="en-US" sz="3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4677410" y="1391920"/>
            <a:ext cx="66763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020001"/>
                </a:solidFill>
                <a:latin typeface="+mn-ea"/>
                <a:ea typeface="+mn-ea"/>
              </a:rPr>
              <a:t>LALR(1)</a:t>
            </a:r>
            <a:r>
              <a:rPr lang="zh-CN" altLang="en-US" sz="2400" b="1">
                <a:solidFill>
                  <a:srgbClr val="020001"/>
                </a:solidFill>
                <a:latin typeface="+mn-ea"/>
                <a:ea typeface="+mn-ea"/>
              </a:rPr>
              <a:t>分析算法与</a:t>
            </a:r>
            <a:r>
              <a:rPr lang="en-US" altLang="zh-CN" sz="2400" b="1">
                <a:solidFill>
                  <a:srgbClr val="020001"/>
                </a:solidFill>
                <a:latin typeface="+mn-ea"/>
                <a:ea typeface="+mn-ea"/>
              </a:rPr>
              <a:t>LR(1)</a:t>
            </a:r>
            <a:r>
              <a:rPr lang="zh-CN" altLang="en-US" sz="2400" b="1">
                <a:solidFill>
                  <a:srgbClr val="020001"/>
                </a:solidFill>
                <a:latin typeface="+mn-ea"/>
                <a:ea typeface="+mn-ea"/>
              </a:rPr>
              <a:t>一致，</a:t>
            </a:r>
            <a:r>
              <a:rPr lang="zh-CN" altLang="en-US" sz="2400" b="1">
                <a:solidFill>
                  <a:srgbClr val="020001"/>
                </a:solidFill>
                <a:latin typeface="+mn-ea"/>
                <a:ea typeface="+mn-ea"/>
              </a:rPr>
              <a:t>对</a:t>
            </a:r>
            <a:r>
              <a:rPr lang="en-US" altLang="zh-CN" sz="2400" b="1">
                <a:solidFill>
                  <a:srgbClr val="020001"/>
                </a:solidFill>
                <a:latin typeface="+mn-ea"/>
                <a:ea typeface="+mn-ea"/>
              </a:rPr>
              <a:t>(a)</a:t>
            </a:r>
            <a:r>
              <a:rPr lang="zh-CN" altLang="en-US" sz="2400" b="1">
                <a:solidFill>
                  <a:srgbClr val="020001"/>
                </a:solidFill>
                <a:latin typeface="+mn-ea"/>
                <a:ea typeface="+mn-ea"/>
              </a:rPr>
              <a:t>分析步骤：</a:t>
            </a:r>
            <a:endParaRPr lang="zh-CN" altLang="en-US" sz="2400" b="1">
              <a:solidFill>
                <a:srgbClr val="020001"/>
              </a:solidFill>
              <a:latin typeface="+mn-ea"/>
              <a:ea typeface="+mn-ea"/>
            </a:endParaRPr>
          </a:p>
        </p:txBody>
      </p:sp>
      <p:grpSp>
        <p:nvGrpSpPr>
          <p:cNvPr id="11" name="Group 3"/>
          <p:cNvGrpSpPr/>
          <p:nvPr/>
        </p:nvGrpSpPr>
        <p:grpSpPr bwMode="auto">
          <a:xfrm>
            <a:off x="4828540" y="1953260"/>
            <a:ext cx="7069455" cy="460375"/>
            <a:chOff x="720" y="1152"/>
            <a:chExt cx="4224" cy="290"/>
          </a:xfrm>
        </p:grpSpPr>
        <p:sp>
          <p:nvSpPr>
            <p:cNvPr id="13" name="Text Box 4"/>
            <p:cNvSpPr txBox="1">
              <a:spLocks noChangeArrowheads="1"/>
            </p:cNvSpPr>
            <p:nvPr/>
          </p:nvSpPr>
          <p:spPr bwMode="auto">
            <a:xfrm>
              <a:off x="720" y="1152"/>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步骤</a:t>
              </a:r>
              <a:endParaRPr lang="zh-CN" altLang="en-US" sz="2400" b="1">
                <a:solidFill>
                  <a:srgbClr val="020001"/>
                </a:solidFill>
                <a:latin typeface="+mn-ea"/>
                <a:ea typeface="+mn-ea"/>
              </a:endParaRPr>
            </a:p>
          </p:txBody>
        </p:sp>
        <p:sp>
          <p:nvSpPr>
            <p:cNvPr id="14" name="Text Box 5"/>
            <p:cNvSpPr txBox="1">
              <a:spLocks noChangeArrowheads="1"/>
            </p:cNvSpPr>
            <p:nvPr/>
          </p:nvSpPr>
          <p:spPr bwMode="auto">
            <a:xfrm>
              <a:off x="1200"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solidFill>
                    <a:srgbClr val="020001"/>
                  </a:solidFill>
                  <a:latin typeface="+mn-ea"/>
                  <a:ea typeface="+mn-ea"/>
                </a:rPr>
                <a:t>状态栈</a:t>
              </a:r>
              <a:r>
                <a:rPr lang="en-US" altLang="zh-CN" sz="2400" b="1">
                  <a:solidFill>
                    <a:srgbClr val="020001"/>
                  </a:solidFill>
                  <a:latin typeface="+mn-ea"/>
                  <a:ea typeface="+mn-ea"/>
                </a:rPr>
                <a:t>S</a:t>
              </a:r>
              <a:endParaRPr lang="en-US" altLang="zh-CN" sz="2400" b="1">
                <a:solidFill>
                  <a:srgbClr val="020001"/>
                </a:solidFill>
                <a:latin typeface="+mn-ea"/>
                <a:ea typeface="+mn-ea"/>
              </a:endParaRPr>
            </a:p>
          </p:txBody>
        </p:sp>
        <p:sp>
          <p:nvSpPr>
            <p:cNvPr id="15" name="Text Box 6"/>
            <p:cNvSpPr txBox="1">
              <a:spLocks noChangeArrowheads="1"/>
            </p:cNvSpPr>
            <p:nvPr/>
          </p:nvSpPr>
          <p:spPr bwMode="auto">
            <a:xfrm>
              <a:off x="2160" y="1152"/>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符号栈</a:t>
              </a:r>
              <a:r>
                <a:rPr lang="en-US" altLang="zh-CN" sz="2400" b="1">
                  <a:solidFill>
                    <a:srgbClr val="020001"/>
                  </a:solidFill>
                  <a:latin typeface="+mn-ea"/>
                  <a:ea typeface="+mn-ea"/>
                </a:rPr>
                <a:t>X</a:t>
              </a:r>
              <a:endParaRPr lang="en-US" altLang="zh-CN" sz="2400" b="1">
                <a:solidFill>
                  <a:srgbClr val="020001"/>
                </a:solidFill>
                <a:latin typeface="+mn-ea"/>
                <a:ea typeface="+mn-ea"/>
              </a:endParaRPr>
            </a:p>
          </p:txBody>
        </p:sp>
        <p:sp>
          <p:nvSpPr>
            <p:cNvPr id="16" name="Text Box 7"/>
            <p:cNvSpPr txBox="1">
              <a:spLocks noChangeArrowheads="1"/>
            </p:cNvSpPr>
            <p:nvPr/>
          </p:nvSpPr>
          <p:spPr bwMode="auto">
            <a:xfrm>
              <a:off x="398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动作</a:t>
              </a:r>
              <a:endParaRPr lang="zh-CN" altLang="en-US" sz="2400" b="1">
                <a:solidFill>
                  <a:srgbClr val="020001"/>
                </a:solidFill>
                <a:latin typeface="+mn-ea"/>
                <a:ea typeface="+mn-ea"/>
              </a:endParaRPr>
            </a:p>
          </p:txBody>
        </p:sp>
        <p:sp>
          <p:nvSpPr>
            <p:cNvPr id="17" name="Text Box 8"/>
            <p:cNvSpPr txBox="1">
              <a:spLocks noChangeArrowheads="1"/>
            </p:cNvSpPr>
            <p:nvPr/>
          </p:nvSpPr>
          <p:spPr bwMode="auto">
            <a:xfrm>
              <a:off x="3024" y="1152"/>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输入符号</a:t>
              </a:r>
              <a:endParaRPr lang="zh-CN" altLang="en-US" sz="2400" b="1">
                <a:solidFill>
                  <a:srgbClr val="020001"/>
                </a:solidFill>
                <a:latin typeface="+mn-ea"/>
                <a:ea typeface="+mn-ea"/>
              </a:endParaRPr>
            </a:p>
          </p:txBody>
        </p:sp>
      </p:grpSp>
      <p:grpSp>
        <p:nvGrpSpPr>
          <p:cNvPr id="18" name="Group 9"/>
          <p:cNvGrpSpPr/>
          <p:nvPr/>
        </p:nvGrpSpPr>
        <p:grpSpPr bwMode="auto">
          <a:xfrm>
            <a:off x="4824095" y="2421255"/>
            <a:ext cx="7073900" cy="460375"/>
            <a:chOff x="720" y="1388"/>
            <a:chExt cx="4224" cy="290"/>
          </a:xfrm>
        </p:grpSpPr>
        <p:sp>
          <p:nvSpPr>
            <p:cNvPr id="19" name="Text Box 10"/>
            <p:cNvSpPr txBox="1">
              <a:spLocks noChangeArrowheads="1"/>
            </p:cNvSpPr>
            <p:nvPr/>
          </p:nvSpPr>
          <p:spPr bwMode="auto">
            <a:xfrm>
              <a:off x="720" y="138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1</a:t>
              </a:r>
              <a:endParaRPr lang="zh-CN" altLang="en-US" sz="2400" b="1">
                <a:solidFill>
                  <a:srgbClr val="020001"/>
                </a:solidFill>
                <a:latin typeface="+mn-ea"/>
                <a:ea typeface="+mn-ea"/>
              </a:endParaRPr>
            </a:p>
          </p:txBody>
        </p:sp>
        <p:sp>
          <p:nvSpPr>
            <p:cNvPr id="20" name="Text Box 11"/>
            <p:cNvSpPr txBox="1">
              <a:spLocks noChangeArrowheads="1"/>
            </p:cNvSpPr>
            <p:nvPr/>
          </p:nvSpPr>
          <p:spPr bwMode="auto">
            <a:xfrm>
              <a:off x="1200"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a:t>
              </a:r>
              <a:endParaRPr lang="en-US" altLang="zh-CN" sz="2400" b="1">
                <a:solidFill>
                  <a:srgbClr val="020001"/>
                </a:solidFill>
                <a:latin typeface="+mn-ea"/>
                <a:ea typeface="+mn-ea"/>
              </a:endParaRPr>
            </a:p>
          </p:txBody>
        </p:sp>
        <p:sp>
          <p:nvSpPr>
            <p:cNvPr id="21" name="Text Box 12"/>
            <p:cNvSpPr txBox="1">
              <a:spLocks noChangeArrowheads="1"/>
            </p:cNvSpPr>
            <p:nvPr/>
          </p:nvSpPr>
          <p:spPr bwMode="auto">
            <a:xfrm>
              <a:off x="2160" y="138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sp>
          <p:nvSpPr>
            <p:cNvPr id="22" name="Text Box 13"/>
            <p:cNvSpPr txBox="1">
              <a:spLocks noChangeArrowheads="1"/>
            </p:cNvSpPr>
            <p:nvPr/>
          </p:nvSpPr>
          <p:spPr bwMode="auto">
            <a:xfrm>
              <a:off x="398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S</a:t>
              </a:r>
              <a:r>
                <a:rPr lang="en-US" altLang="zh-CN" sz="2400" b="1" baseline="-25000">
                  <a:solidFill>
                    <a:srgbClr val="020001"/>
                  </a:solidFill>
                  <a:latin typeface="+mn-ea"/>
                  <a:ea typeface="+mn-ea"/>
                </a:rPr>
                <a:t>2</a:t>
              </a:r>
              <a:endParaRPr lang="en-US" altLang="zh-CN" sz="2400" b="1" baseline="-25000">
                <a:solidFill>
                  <a:srgbClr val="020001"/>
                </a:solidFill>
                <a:latin typeface="+mn-ea"/>
                <a:ea typeface="+mn-ea"/>
              </a:endParaRPr>
            </a:p>
          </p:txBody>
        </p:sp>
        <p:sp>
          <p:nvSpPr>
            <p:cNvPr id="23" name="Text Box 14"/>
            <p:cNvSpPr txBox="1">
              <a:spLocks noChangeArrowheads="1"/>
            </p:cNvSpPr>
            <p:nvPr/>
          </p:nvSpPr>
          <p:spPr bwMode="auto">
            <a:xfrm>
              <a:off x="3024" y="138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en-US" altLang="zh-CN" sz="2400" b="1">
                <a:solidFill>
                  <a:srgbClr val="020001"/>
                </a:solidFill>
                <a:latin typeface="+mn-ea"/>
                <a:ea typeface="+mn-ea"/>
              </a:endParaRPr>
            </a:p>
          </p:txBody>
        </p:sp>
      </p:grpSp>
      <p:grpSp>
        <p:nvGrpSpPr>
          <p:cNvPr id="25" name="Group 16"/>
          <p:cNvGrpSpPr/>
          <p:nvPr/>
        </p:nvGrpSpPr>
        <p:grpSpPr bwMode="auto">
          <a:xfrm>
            <a:off x="4824095" y="2894330"/>
            <a:ext cx="7073265" cy="460375"/>
            <a:chOff x="720" y="1628"/>
            <a:chExt cx="4224" cy="290"/>
          </a:xfrm>
        </p:grpSpPr>
        <p:sp>
          <p:nvSpPr>
            <p:cNvPr id="26" name="Text Box 17"/>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2</a:t>
              </a:r>
              <a:endParaRPr lang="zh-CN" altLang="en-US" sz="2400" b="1">
                <a:solidFill>
                  <a:srgbClr val="020001"/>
                </a:solidFill>
                <a:latin typeface="+mn-ea"/>
                <a:ea typeface="+mn-ea"/>
              </a:endParaRPr>
            </a:p>
          </p:txBody>
        </p:sp>
        <p:sp>
          <p:nvSpPr>
            <p:cNvPr id="27" name="Text Box 18"/>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02</a:t>
              </a:r>
              <a:endParaRPr lang="en-US" altLang="zh-CN" sz="2400" b="1">
                <a:solidFill>
                  <a:srgbClr val="020001"/>
                </a:solidFill>
                <a:latin typeface="+mn-ea"/>
                <a:ea typeface="+mn-ea"/>
              </a:endParaRPr>
            </a:p>
          </p:txBody>
        </p:sp>
        <p:sp>
          <p:nvSpPr>
            <p:cNvPr id="28" name="Text Box 19"/>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sp>
          <p:nvSpPr>
            <p:cNvPr id="32" name="Text Box 20"/>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S</a:t>
              </a:r>
              <a:r>
                <a:rPr lang="en-US" altLang="zh-CN" sz="2400" b="1" baseline="-25000">
                  <a:solidFill>
                    <a:srgbClr val="020001"/>
                  </a:solidFill>
                  <a:latin typeface="+mn-ea"/>
                  <a:ea typeface="+mn-ea"/>
                </a:rPr>
                <a:t>3</a:t>
              </a:r>
              <a:endParaRPr lang="en-US" altLang="zh-CN" sz="2400" b="1" baseline="-25000">
                <a:solidFill>
                  <a:srgbClr val="020001"/>
                </a:solidFill>
                <a:latin typeface="+mn-ea"/>
                <a:ea typeface="+mn-ea"/>
              </a:endParaRPr>
            </a:p>
          </p:txBody>
        </p:sp>
        <p:sp>
          <p:nvSpPr>
            <p:cNvPr id="33" name="Text Box 21"/>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en-US" altLang="zh-CN" sz="2400" b="1">
                <a:solidFill>
                  <a:srgbClr val="020001"/>
                </a:solidFill>
                <a:latin typeface="+mn-ea"/>
                <a:ea typeface="+mn-ea"/>
              </a:endParaRPr>
            </a:p>
          </p:txBody>
        </p:sp>
      </p:grpSp>
      <p:grpSp>
        <p:nvGrpSpPr>
          <p:cNvPr id="39" name="Group 23"/>
          <p:cNvGrpSpPr/>
          <p:nvPr/>
        </p:nvGrpSpPr>
        <p:grpSpPr bwMode="auto">
          <a:xfrm>
            <a:off x="4824095" y="3385185"/>
            <a:ext cx="7073265" cy="460375"/>
            <a:chOff x="720" y="1628"/>
            <a:chExt cx="4224" cy="290"/>
          </a:xfrm>
        </p:grpSpPr>
        <p:sp>
          <p:nvSpPr>
            <p:cNvPr id="40" name="Text Box 24"/>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3</a:t>
              </a:r>
              <a:endParaRPr lang="zh-CN" altLang="en-US" sz="2400" b="1">
                <a:solidFill>
                  <a:srgbClr val="020001"/>
                </a:solidFill>
                <a:latin typeface="+mn-ea"/>
                <a:ea typeface="+mn-ea"/>
              </a:endParaRPr>
            </a:p>
          </p:txBody>
        </p:sp>
        <p:sp>
          <p:nvSpPr>
            <p:cNvPr id="41" name="Text Box 25"/>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023</a:t>
              </a:r>
              <a:endParaRPr lang="en-US" altLang="zh-CN" sz="2400" b="1">
                <a:solidFill>
                  <a:srgbClr val="020001"/>
                </a:solidFill>
                <a:latin typeface="+mn-ea"/>
                <a:ea typeface="+mn-ea"/>
              </a:endParaRPr>
            </a:p>
          </p:txBody>
        </p:sp>
        <p:sp>
          <p:nvSpPr>
            <p:cNvPr id="42" name="Text Box 26"/>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en-US" altLang="zh-CN" sz="2400" b="1">
                <a:solidFill>
                  <a:srgbClr val="020001"/>
                </a:solidFill>
                <a:latin typeface="+mn-ea"/>
                <a:ea typeface="+mn-ea"/>
              </a:endParaRPr>
            </a:p>
          </p:txBody>
        </p:sp>
        <p:sp>
          <p:nvSpPr>
            <p:cNvPr id="43" name="Text Box 27"/>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dirty="0">
                  <a:solidFill>
                    <a:srgbClr val="020001"/>
                  </a:solidFill>
                  <a:latin typeface="+mn-ea"/>
                  <a:ea typeface="+mn-ea"/>
                </a:rPr>
                <a:t>r</a:t>
              </a:r>
              <a:r>
                <a:rPr lang="en-US" altLang="zh-CN" sz="2400" b="1" baseline="-25000" dirty="0">
                  <a:solidFill>
                    <a:srgbClr val="020001"/>
                  </a:solidFill>
                  <a:latin typeface="+mn-ea"/>
                  <a:ea typeface="+mn-ea"/>
                </a:rPr>
                <a:t>2</a:t>
              </a:r>
              <a:r>
                <a:rPr lang="en-US" altLang="zh-CN" sz="2400" b="1" dirty="0">
                  <a:solidFill>
                    <a:srgbClr val="020001"/>
                  </a:solidFill>
                  <a:latin typeface="+mn-ea"/>
                  <a:ea typeface="+mn-ea"/>
                </a:rPr>
                <a:t>(</a:t>
              </a:r>
              <a:r>
                <a:rPr lang="en-US" altLang="zh-CN" sz="2400" b="1" dirty="0" err="1">
                  <a:solidFill>
                    <a:srgbClr val="0070C0"/>
                  </a:solidFill>
                  <a:latin typeface="+mn-ea"/>
                  <a:ea typeface="+mn-ea"/>
                </a:rPr>
                <a:t>A</a:t>
              </a:r>
              <a:r>
                <a:rPr lang="en-US" altLang="zh-CN" sz="2400" b="1" dirty="0" err="1">
                  <a:solidFill>
                    <a:srgbClr val="0070C0"/>
                  </a:solidFill>
                  <a:latin typeface="+mn-ea"/>
                  <a:ea typeface="+mn-ea"/>
                  <a:sym typeface="Symbol" panose="05050102010706020507" pitchFamily="18" charset="2"/>
                </a:rPr>
                <a:t>a</a:t>
              </a:r>
              <a:r>
                <a:rPr lang="en-US" altLang="zh-CN" sz="2400" b="1" dirty="0">
                  <a:solidFill>
                    <a:srgbClr val="020001"/>
                  </a:solidFill>
                  <a:latin typeface="+mn-ea"/>
                  <a:ea typeface="+mn-ea"/>
                </a:rPr>
                <a:t>)</a:t>
              </a:r>
              <a:endParaRPr lang="en-US" altLang="zh-CN" sz="2400" b="1" dirty="0">
                <a:solidFill>
                  <a:srgbClr val="020001"/>
                </a:solidFill>
                <a:latin typeface="+mn-ea"/>
                <a:ea typeface="+mn-ea"/>
              </a:endParaRPr>
            </a:p>
          </p:txBody>
        </p:sp>
        <p:sp>
          <p:nvSpPr>
            <p:cNvPr id="44" name="Text Box 28"/>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grpSp>
      <p:grpSp>
        <p:nvGrpSpPr>
          <p:cNvPr id="46" name="Group 30"/>
          <p:cNvGrpSpPr/>
          <p:nvPr/>
        </p:nvGrpSpPr>
        <p:grpSpPr bwMode="auto">
          <a:xfrm>
            <a:off x="4824095" y="3874135"/>
            <a:ext cx="7073265" cy="460375"/>
            <a:chOff x="720" y="1628"/>
            <a:chExt cx="4224" cy="290"/>
          </a:xfrm>
        </p:grpSpPr>
        <p:sp>
          <p:nvSpPr>
            <p:cNvPr id="47" name="Text Box 31"/>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4</a:t>
              </a:r>
              <a:endParaRPr lang="zh-CN" altLang="en-US" sz="2400" b="1">
                <a:solidFill>
                  <a:srgbClr val="020001"/>
                </a:solidFill>
                <a:latin typeface="+mn-ea"/>
                <a:ea typeface="+mn-ea"/>
              </a:endParaRPr>
            </a:p>
          </p:txBody>
        </p:sp>
        <p:sp>
          <p:nvSpPr>
            <p:cNvPr id="48" name="Text Box 32"/>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024</a:t>
              </a:r>
              <a:endParaRPr lang="en-US" altLang="zh-CN" sz="2400" b="1">
                <a:solidFill>
                  <a:srgbClr val="020001"/>
                </a:solidFill>
                <a:latin typeface="+mn-ea"/>
                <a:ea typeface="+mn-ea"/>
              </a:endParaRPr>
            </a:p>
          </p:txBody>
        </p:sp>
        <p:sp>
          <p:nvSpPr>
            <p:cNvPr id="49" name="Text Box 33"/>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zh-CN" altLang="en-US" sz="2400" b="1">
                <a:solidFill>
                  <a:srgbClr val="020001"/>
                </a:solidFill>
                <a:latin typeface="+mn-ea"/>
                <a:ea typeface="+mn-ea"/>
              </a:endParaRPr>
            </a:p>
          </p:txBody>
        </p:sp>
        <p:sp>
          <p:nvSpPr>
            <p:cNvPr id="50" name="Text Box 34"/>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S</a:t>
              </a:r>
              <a:r>
                <a:rPr lang="en-US" altLang="zh-CN" sz="2400" b="1" baseline="-25000">
                  <a:solidFill>
                    <a:srgbClr val="020001"/>
                  </a:solidFill>
                  <a:latin typeface="+mn-ea"/>
                  <a:ea typeface="+mn-ea"/>
                </a:rPr>
                <a:t>7</a:t>
              </a:r>
              <a:endParaRPr lang="en-US" altLang="zh-CN" sz="2400" b="1" baseline="-25000">
                <a:solidFill>
                  <a:srgbClr val="020001"/>
                </a:solidFill>
                <a:latin typeface="+mn-ea"/>
                <a:ea typeface="+mn-ea"/>
              </a:endParaRPr>
            </a:p>
          </p:txBody>
        </p:sp>
        <p:sp>
          <p:nvSpPr>
            <p:cNvPr id="51" name="Text Box 35"/>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grpSp>
      <p:grpSp>
        <p:nvGrpSpPr>
          <p:cNvPr id="53" name="Group 37"/>
          <p:cNvGrpSpPr/>
          <p:nvPr/>
        </p:nvGrpSpPr>
        <p:grpSpPr bwMode="auto">
          <a:xfrm>
            <a:off x="4828540" y="4358005"/>
            <a:ext cx="7079031" cy="460375"/>
            <a:chOff x="720" y="1628"/>
            <a:chExt cx="4165" cy="290"/>
          </a:xfrm>
        </p:grpSpPr>
        <p:sp>
          <p:nvSpPr>
            <p:cNvPr id="54" name="Text Box 38"/>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5</a:t>
              </a:r>
              <a:endParaRPr lang="zh-CN" altLang="en-US" sz="2400" b="1">
                <a:solidFill>
                  <a:srgbClr val="020001"/>
                </a:solidFill>
                <a:latin typeface="+mn-ea"/>
                <a:ea typeface="+mn-ea"/>
              </a:endParaRPr>
            </a:p>
          </p:txBody>
        </p:sp>
        <p:sp>
          <p:nvSpPr>
            <p:cNvPr id="55" name="Text Box 39"/>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0247</a:t>
              </a:r>
              <a:endParaRPr lang="en-US" altLang="zh-CN" sz="2400" b="1">
                <a:solidFill>
                  <a:srgbClr val="020001"/>
                </a:solidFill>
                <a:latin typeface="+mn-ea"/>
                <a:ea typeface="+mn-ea"/>
              </a:endParaRPr>
            </a:p>
          </p:txBody>
        </p:sp>
        <p:sp>
          <p:nvSpPr>
            <p:cNvPr id="56" name="Text Box 40"/>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zh-CN" altLang="en-US" sz="2400" b="1">
                <a:solidFill>
                  <a:srgbClr val="020001"/>
                </a:solidFill>
                <a:latin typeface="+mn-ea"/>
                <a:ea typeface="+mn-ea"/>
              </a:endParaRPr>
            </a:p>
          </p:txBody>
        </p:sp>
        <p:sp>
          <p:nvSpPr>
            <p:cNvPr id="57" name="Text Box 41"/>
            <p:cNvSpPr txBox="1">
              <a:spLocks noChangeArrowheads="1"/>
            </p:cNvSpPr>
            <p:nvPr/>
          </p:nvSpPr>
          <p:spPr bwMode="auto">
            <a:xfrm>
              <a:off x="3984" y="1628"/>
              <a:ext cx="901"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dirty="0">
                  <a:solidFill>
                    <a:srgbClr val="020001"/>
                  </a:solidFill>
                  <a:latin typeface="+mn-ea"/>
                  <a:ea typeface="+mn-ea"/>
                </a:rPr>
                <a:t>r</a:t>
              </a:r>
              <a:r>
                <a:rPr lang="en-US" altLang="zh-CN" sz="2400" b="1" baseline="-25000" dirty="0">
                  <a:solidFill>
                    <a:srgbClr val="020001"/>
                  </a:solidFill>
                  <a:latin typeface="+mn-ea"/>
                  <a:ea typeface="+mn-ea"/>
                </a:rPr>
                <a:t>1</a:t>
              </a:r>
              <a:r>
                <a:rPr lang="en-US" altLang="zh-CN" sz="2400" b="1" dirty="0">
                  <a:solidFill>
                    <a:srgbClr val="020001"/>
                  </a:solidFill>
                  <a:latin typeface="+mn-ea"/>
                  <a:ea typeface="+mn-ea"/>
                </a:rPr>
                <a:t>(</a:t>
              </a:r>
              <a:r>
                <a:rPr lang="en-US" altLang="zh-CN" sz="2400" b="1" dirty="0">
                  <a:solidFill>
                    <a:srgbClr val="0070C0"/>
                  </a:solidFill>
                  <a:latin typeface="+mn-ea"/>
                  <a:ea typeface="+mn-ea"/>
                </a:rPr>
                <a:t>A→(A)</a:t>
              </a:r>
              <a:r>
                <a:rPr lang="en-US" altLang="zh-CN" sz="2400" b="1" dirty="0">
                  <a:solidFill>
                    <a:srgbClr val="020001"/>
                  </a:solidFill>
                  <a:latin typeface="+mn-ea"/>
                  <a:ea typeface="+mn-ea"/>
                </a:rPr>
                <a:t>)</a:t>
              </a:r>
              <a:endParaRPr lang="en-US" altLang="zh-CN" sz="2400" b="1" dirty="0">
                <a:solidFill>
                  <a:srgbClr val="020001"/>
                </a:solidFill>
                <a:latin typeface="+mn-ea"/>
                <a:ea typeface="+mn-ea"/>
              </a:endParaRPr>
            </a:p>
          </p:txBody>
        </p:sp>
        <p:sp>
          <p:nvSpPr>
            <p:cNvPr id="58" name="Text Box 42"/>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grpSp>
      <p:grpSp>
        <p:nvGrpSpPr>
          <p:cNvPr id="60" name="Group 44"/>
          <p:cNvGrpSpPr/>
          <p:nvPr/>
        </p:nvGrpSpPr>
        <p:grpSpPr bwMode="auto">
          <a:xfrm>
            <a:off x="4828540" y="4846955"/>
            <a:ext cx="7068820" cy="460375"/>
            <a:chOff x="720" y="1628"/>
            <a:chExt cx="4224" cy="290"/>
          </a:xfrm>
        </p:grpSpPr>
        <p:sp>
          <p:nvSpPr>
            <p:cNvPr id="61" name="Text Box 45"/>
            <p:cNvSpPr txBox="1">
              <a:spLocks noChangeArrowheads="1"/>
            </p:cNvSpPr>
            <p:nvPr/>
          </p:nvSpPr>
          <p:spPr bwMode="auto">
            <a:xfrm>
              <a:off x="720" y="1628"/>
              <a:ext cx="48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solidFill>
                    <a:srgbClr val="020001"/>
                  </a:solidFill>
                  <a:latin typeface="+mn-ea"/>
                  <a:ea typeface="+mn-ea"/>
                </a:rPr>
                <a:t>6</a:t>
              </a:r>
              <a:endParaRPr lang="zh-CN" altLang="en-US" sz="2400" b="1">
                <a:solidFill>
                  <a:srgbClr val="020001"/>
                </a:solidFill>
                <a:latin typeface="+mn-ea"/>
                <a:ea typeface="+mn-ea"/>
              </a:endParaRPr>
            </a:p>
          </p:txBody>
        </p:sp>
        <p:sp>
          <p:nvSpPr>
            <p:cNvPr id="62" name="Text Box 46"/>
            <p:cNvSpPr txBox="1">
              <a:spLocks noChangeArrowheads="1"/>
            </p:cNvSpPr>
            <p:nvPr/>
          </p:nvSpPr>
          <p:spPr bwMode="auto">
            <a:xfrm>
              <a:off x="1200"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01</a:t>
              </a:r>
              <a:endParaRPr lang="en-US" altLang="zh-CN" sz="2400" b="1">
                <a:solidFill>
                  <a:srgbClr val="020001"/>
                </a:solidFill>
                <a:latin typeface="+mn-ea"/>
                <a:ea typeface="+mn-ea"/>
              </a:endParaRPr>
            </a:p>
          </p:txBody>
        </p:sp>
        <p:sp>
          <p:nvSpPr>
            <p:cNvPr id="63" name="Text Box 47"/>
            <p:cNvSpPr txBox="1">
              <a:spLocks noChangeArrowheads="1"/>
            </p:cNvSpPr>
            <p:nvPr/>
          </p:nvSpPr>
          <p:spPr bwMode="auto">
            <a:xfrm>
              <a:off x="2160" y="1628"/>
              <a:ext cx="864"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a:t>
              </a:r>
              <a:endParaRPr lang="zh-CN" altLang="en-US" sz="2400" b="1">
                <a:solidFill>
                  <a:srgbClr val="020001"/>
                </a:solidFill>
                <a:latin typeface="+mn-ea"/>
                <a:ea typeface="+mn-ea"/>
              </a:endParaRPr>
            </a:p>
          </p:txBody>
        </p:sp>
        <p:sp>
          <p:nvSpPr>
            <p:cNvPr id="64" name="Text Box 48"/>
            <p:cNvSpPr txBox="1">
              <a:spLocks noChangeArrowheads="1"/>
            </p:cNvSpPr>
            <p:nvPr/>
          </p:nvSpPr>
          <p:spPr bwMode="auto">
            <a:xfrm>
              <a:off x="398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acc</a:t>
              </a:r>
              <a:endParaRPr lang="en-US" altLang="zh-CN" sz="2400" b="1" baseline="-25000">
                <a:solidFill>
                  <a:srgbClr val="020001"/>
                </a:solidFill>
                <a:latin typeface="+mn-ea"/>
                <a:ea typeface="+mn-ea"/>
              </a:endParaRPr>
            </a:p>
          </p:txBody>
        </p:sp>
        <p:sp>
          <p:nvSpPr>
            <p:cNvPr id="65" name="Text Box 49"/>
            <p:cNvSpPr txBox="1">
              <a:spLocks noChangeArrowheads="1"/>
            </p:cNvSpPr>
            <p:nvPr/>
          </p:nvSpPr>
          <p:spPr bwMode="auto">
            <a:xfrm>
              <a:off x="3024" y="1628"/>
              <a:ext cx="960" cy="290"/>
            </a:xfrm>
            <a:prstGeom prst="rect">
              <a:avLst/>
            </a:prstGeom>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grpSp>
      <p:sp>
        <p:nvSpPr>
          <p:cNvPr id="2" name="灯片编号占位符 1"/>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graphicFrame>
        <p:nvGraphicFramePr>
          <p:cNvPr id="29" name="Group 69"/>
          <p:cNvGraphicFramePr>
            <a:graphicFrameLocks noGrp="1"/>
          </p:cNvGraphicFramePr>
          <p:nvPr>
            <p:custDataLst>
              <p:tags r:id="rId1"/>
            </p:custDataLst>
          </p:nvPr>
        </p:nvGraphicFramePr>
        <p:xfrm>
          <a:off x="429559" y="1318466"/>
          <a:ext cx="4248150" cy="4850765"/>
        </p:xfrm>
        <a:graphic>
          <a:graphicData uri="http://schemas.openxmlformats.org/drawingml/2006/table">
            <a:tbl>
              <a:tblPr/>
              <a:tblGrid>
                <a:gridCol w="704850"/>
                <a:gridCol w="774700"/>
                <a:gridCol w="692150"/>
                <a:gridCol w="628650"/>
                <a:gridCol w="558800"/>
                <a:gridCol w="889000"/>
              </a:tblGrid>
              <a:tr h="549275">
                <a:tc rowSpan="2">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Action</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Goto</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vMerge="1">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endPar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5</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600">
                          <a:solidFill>
                            <a:schemeClr val="tx1"/>
                          </a:solidFill>
                          <a:latin typeface="Verdana" panose="020B0604030504040204" pitchFamily="34" charset="0"/>
                          <a:ea typeface="宋体" panose="02010600030101010101" pitchFamily="2" charset="-122"/>
                        </a:defRPr>
                      </a:lvl2pPr>
                      <a:lvl3pPr marL="1143000" indent="-228600" eaLnBrk="0" hangingPunct="0">
                        <a:defRPr sz="26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5000"/>
                        </a:spcBef>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3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8100" marR="3810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文本占位符 3"/>
          <p:cNvSpPr>
            <a:spLocks noGrp="1"/>
          </p:cNvSpPr>
          <p:nvPr>
            <p:ph type="body" sz="quarter" idx="14"/>
            <p:custDataLst>
              <p:tags r:id="rId2"/>
            </p:custDataLst>
          </p:nvPr>
        </p:nvSpPr>
        <p:spPr>
          <a:xfrm>
            <a:off x="406400" y="276860"/>
            <a:ext cx="7446645" cy="593090"/>
          </a:xfrm>
        </p:spPr>
        <p:txBody>
          <a:bodyPr/>
          <a:lstStyle/>
          <a:p>
            <a:r>
              <a:rPr lang="en-US" altLang="zh-CN" sz="3200" dirty="0"/>
              <a:t>4.6 LALR</a:t>
            </a:r>
            <a:r>
              <a:rPr lang="zh-CN" altLang="en-US" sz="3200" dirty="0"/>
              <a:t>（</a:t>
            </a:r>
            <a:r>
              <a:rPr lang="en-US" altLang="zh-CN" sz="3200" dirty="0"/>
              <a:t>1</a:t>
            </a:r>
            <a:r>
              <a:rPr lang="zh-CN" altLang="en-US" sz="3200" dirty="0"/>
              <a:t>）分析算法（续）</a:t>
            </a:r>
            <a:endParaRPr lang="zh-CN" altLang="en-US" sz="3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1"/>
          <p:cNvSpPr txBox="1"/>
          <p:nvPr/>
        </p:nvSpPr>
        <p:spPr>
          <a:xfrm>
            <a:off x="384810" y="285750"/>
            <a:ext cx="7979410" cy="59309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lang="zh-CN" altLang="en-US" sz="3600" b="1" kern="1200" dirty="0" smtClean="0">
                <a:solidFill>
                  <a:schemeClr val="bg1"/>
                </a:solidFill>
                <a:latin typeface="+mn-ea"/>
                <a:ea typeface="+mn-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t>本章小结</a:t>
            </a:r>
            <a:endParaRPr lang="zh-CN" altLang="en-US" sz="3200" dirty="0"/>
          </a:p>
        </p:txBody>
      </p:sp>
      <p:sp>
        <p:nvSpPr>
          <p:cNvPr id="4" name="Text Box 4"/>
          <p:cNvSpPr txBox="1">
            <a:spLocks noChangeArrowheads="1"/>
          </p:cNvSpPr>
          <p:nvPr/>
        </p:nvSpPr>
        <p:spPr bwMode="auto">
          <a:xfrm>
            <a:off x="446405" y="1206500"/>
            <a:ext cx="713676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0070C0"/>
                </a:solidFill>
                <a:latin typeface="+mn-ea"/>
                <a:ea typeface="+mn-ea"/>
              </a:rPr>
              <a:t>LR</a:t>
            </a:r>
            <a:r>
              <a:rPr lang="zh-CN" altLang="en-US" sz="3200" b="1" dirty="0">
                <a:solidFill>
                  <a:srgbClr val="0070C0"/>
                </a:solidFill>
                <a:latin typeface="+mn-ea"/>
                <a:ea typeface="+mn-ea"/>
              </a:rPr>
              <a:t>分析算法的逻辑结构：</a:t>
            </a:r>
            <a:endParaRPr lang="zh-CN" altLang="en-US" sz="3200" b="1" dirty="0">
              <a:solidFill>
                <a:srgbClr val="0070C0"/>
              </a:solidFill>
              <a:latin typeface="+mn-ea"/>
              <a:ea typeface="+mn-ea"/>
            </a:endParaRPr>
          </a:p>
        </p:txBody>
      </p:sp>
      <p:sp>
        <p:nvSpPr>
          <p:cNvPr id="6" name="Text Box 5"/>
          <p:cNvSpPr txBox="1">
            <a:spLocks noChangeArrowheads="1"/>
          </p:cNvSpPr>
          <p:nvPr/>
        </p:nvSpPr>
        <p:spPr bwMode="auto">
          <a:xfrm>
            <a:off x="4290694" y="3070954"/>
            <a:ext cx="1905000" cy="5835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solidFill>
                  <a:srgbClr val="020001"/>
                </a:solidFill>
                <a:latin typeface="+mn-ea"/>
                <a:ea typeface="+mn-ea"/>
              </a:rPr>
              <a:t>总控程序</a:t>
            </a:r>
            <a:endParaRPr lang="en-US" altLang="zh-CN" sz="3200" b="1">
              <a:solidFill>
                <a:srgbClr val="020001"/>
              </a:solidFill>
              <a:latin typeface="+mn-ea"/>
              <a:ea typeface="+mn-ea"/>
            </a:endParaRPr>
          </a:p>
        </p:txBody>
      </p:sp>
      <p:sp>
        <p:nvSpPr>
          <p:cNvPr id="8" name="Text Box 6"/>
          <p:cNvSpPr txBox="1">
            <a:spLocks noChangeArrowheads="1"/>
          </p:cNvSpPr>
          <p:nvPr/>
        </p:nvSpPr>
        <p:spPr bwMode="auto">
          <a:xfrm>
            <a:off x="3757294" y="1861279"/>
            <a:ext cx="3200400" cy="5835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dirty="0">
                <a:solidFill>
                  <a:srgbClr val="020001"/>
                </a:solidFill>
                <a:latin typeface="+mn-ea"/>
                <a:ea typeface="+mn-ea"/>
              </a:rPr>
              <a:t>a</a:t>
            </a:r>
            <a:r>
              <a:rPr lang="en-US" altLang="zh-CN" sz="3200" b="1" baseline="-25000" dirty="0">
                <a:solidFill>
                  <a:srgbClr val="020001"/>
                </a:solidFill>
                <a:latin typeface="+mn-ea"/>
                <a:ea typeface="+mn-ea"/>
              </a:rPr>
              <a:t>1</a:t>
            </a:r>
            <a:r>
              <a:rPr lang="en-US" altLang="zh-CN" sz="3200" b="1" dirty="0">
                <a:solidFill>
                  <a:srgbClr val="020001"/>
                </a:solidFill>
                <a:latin typeface="+mn-ea"/>
                <a:ea typeface="+mn-ea"/>
              </a:rPr>
              <a:t>a</a:t>
            </a:r>
            <a:r>
              <a:rPr lang="en-US" altLang="zh-CN" sz="3200" b="1" baseline="-25000" dirty="0">
                <a:solidFill>
                  <a:srgbClr val="020001"/>
                </a:solidFill>
                <a:latin typeface="+mn-ea"/>
                <a:ea typeface="+mn-ea"/>
              </a:rPr>
              <a:t>2</a:t>
            </a:r>
            <a:r>
              <a:rPr lang="en-US" altLang="zh-CN" sz="3200" b="1" dirty="0">
                <a:solidFill>
                  <a:srgbClr val="020001"/>
                </a:solidFill>
                <a:latin typeface="+mn-ea"/>
                <a:ea typeface="+mn-ea"/>
              </a:rPr>
              <a:t>…a</a:t>
            </a:r>
            <a:r>
              <a:rPr lang="en-US" altLang="zh-CN" sz="3200" b="1" baseline="-25000" dirty="0">
                <a:solidFill>
                  <a:srgbClr val="020001"/>
                </a:solidFill>
                <a:latin typeface="+mn-ea"/>
                <a:ea typeface="+mn-ea"/>
              </a:rPr>
              <a:t>i</a:t>
            </a:r>
            <a:r>
              <a:rPr lang="en-US" altLang="zh-CN" sz="3200" b="1" dirty="0">
                <a:solidFill>
                  <a:srgbClr val="020001"/>
                </a:solidFill>
                <a:latin typeface="+mn-ea"/>
                <a:ea typeface="+mn-ea"/>
              </a:rPr>
              <a:t>a</a:t>
            </a:r>
            <a:r>
              <a:rPr lang="en-US" altLang="zh-CN" sz="3200" b="1" baseline="-25000" dirty="0">
                <a:solidFill>
                  <a:srgbClr val="020001"/>
                </a:solidFill>
                <a:latin typeface="+mn-ea"/>
                <a:ea typeface="+mn-ea"/>
              </a:rPr>
              <a:t>i+1</a:t>
            </a:r>
            <a:r>
              <a:rPr lang="en-US" altLang="zh-CN" sz="3200" b="1" dirty="0">
                <a:solidFill>
                  <a:srgbClr val="020001"/>
                </a:solidFill>
                <a:latin typeface="+mn-ea"/>
                <a:ea typeface="+mn-ea"/>
              </a:rPr>
              <a:t>…a</a:t>
            </a:r>
            <a:r>
              <a:rPr lang="en-US" altLang="zh-CN" sz="3200" b="1" baseline="-25000" dirty="0">
                <a:solidFill>
                  <a:srgbClr val="020001"/>
                </a:solidFill>
                <a:latin typeface="+mn-ea"/>
                <a:ea typeface="+mn-ea"/>
              </a:rPr>
              <a:t>n</a:t>
            </a:r>
            <a:r>
              <a:rPr lang="en-US" altLang="zh-CN" sz="3200" b="1" dirty="0">
                <a:solidFill>
                  <a:srgbClr val="020001"/>
                </a:solidFill>
                <a:latin typeface="+mn-ea"/>
                <a:ea typeface="+mn-ea"/>
              </a:rPr>
              <a:t>$</a:t>
            </a:r>
            <a:endParaRPr lang="en-US" altLang="zh-CN" sz="3200" b="1" dirty="0">
              <a:solidFill>
                <a:srgbClr val="020001"/>
              </a:solidFill>
              <a:latin typeface="+mn-ea"/>
              <a:ea typeface="+mn-ea"/>
            </a:endParaRPr>
          </a:p>
        </p:txBody>
      </p:sp>
      <p:grpSp>
        <p:nvGrpSpPr>
          <p:cNvPr id="9" name="Group 7"/>
          <p:cNvGrpSpPr/>
          <p:nvPr/>
        </p:nvGrpSpPr>
        <p:grpSpPr bwMode="auto">
          <a:xfrm>
            <a:off x="3528695" y="3689985"/>
            <a:ext cx="4404368" cy="1828800"/>
            <a:chOff x="2112" y="1728"/>
            <a:chExt cx="2950" cy="1152"/>
          </a:xfrm>
        </p:grpSpPr>
        <p:sp>
          <p:nvSpPr>
            <p:cNvPr id="10" name="Text Box 8"/>
            <p:cNvSpPr txBox="1">
              <a:spLocks noChangeArrowheads="1"/>
            </p:cNvSpPr>
            <p:nvPr/>
          </p:nvSpPr>
          <p:spPr bwMode="auto">
            <a:xfrm>
              <a:off x="2256" y="2058"/>
              <a:ext cx="1050" cy="32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rgbClr val="020001"/>
                  </a:solidFill>
                  <a:latin typeface="+mn-ea"/>
                  <a:ea typeface="+mn-ea"/>
                </a:rPr>
                <a:t>动作表</a:t>
              </a:r>
              <a:endParaRPr lang="zh-CN" altLang="en-US" sz="2800" b="1">
                <a:solidFill>
                  <a:srgbClr val="020001"/>
                </a:solidFill>
                <a:latin typeface="+mn-ea"/>
                <a:ea typeface="+mn-ea"/>
              </a:endParaRPr>
            </a:p>
          </p:txBody>
        </p:sp>
        <p:sp>
          <p:nvSpPr>
            <p:cNvPr id="11" name="Text Box 9"/>
            <p:cNvSpPr txBox="1">
              <a:spLocks noChangeArrowheads="1"/>
            </p:cNvSpPr>
            <p:nvPr/>
          </p:nvSpPr>
          <p:spPr bwMode="auto">
            <a:xfrm>
              <a:off x="3456" y="2064"/>
              <a:ext cx="1524" cy="32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rgbClr val="020001"/>
                  </a:solidFill>
                  <a:latin typeface="+mn-ea"/>
                  <a:ea typeface="+mn-ea"/>
                </a:rPr>
                <a:t>状态转换表</a:t>
              </a:r>
              <a:endParaRPr lang="zh-CN" altLang="en-US" sz="2800" b="1">
                <a:solidFill>
                  <a:srgbClr val="020001"/>
                </a:solidFill>
                <a:latin typeface="+mn-ea"/>
                <a:ea typeface="+mn-ea"/>
              </a:endParaRPr>
            </a:p>
          </p:txBody>
        </p:sp>
        <p:sp>
          <p:nvSpPr>
            <p:cNvPr id="12" name="Line 10"/>
            <p:cNvSpPr>
              <a:spLocks noChangeShapeType="1"/>
            </p:cNvSpPr>
            <p:nvPr/>
          </p:nvSpPr>
          <p:spPr bwMode="auto">
            <a:xfrm>
              <a:off x="2112" y="1872"/>
              <a:ext cx="0" cy="1008"/>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3" name="Line 11"/>
            <p:cNvSpPr>
              <a:spLocks noChangeShapeType="1"/>
            </p:cNvSpPr>
            <p:nvPr/>
          </p:nvSpPr>
          <p:spPr bwMode="auto">
            <a:xfrm>
              <a:off x="5044" y="1872"/>
              <a:ext cx="15" cy="1008"/>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4" name="Line 12"/>
            <p:cNvSpPr>
              <a:spLocks noChangeShapeType="1"/>
            </p:cNvSpPr>
            <p:nvPr/>
          </p:nvSpPr>
          <p:spPr bwMode="auto">
            <a:xfrm>
              <a:off x="2112" y="1884"/>
              <a:ext cx="2950" cy="6"/>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5" name="Line 13"/>
            <p:cNvSpPr>
              <a:spLocks noChangeShapeType="1"/>
            </p:cNvSpPr>
            <p:nvPr/>
          </p:nvSpPr>
          <p:spPr bwMode="auto">
            <a:xfrm>
              <a:off x="2112" y="2880"/>
              <a:ext cx="295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6" name="Text Box 14"/>
            <p:cNvSpPr txBox="1">
              <a:spLocks noChangeArrowheads="1"/>
            </p:cNvSpPr>
            <p:nvPr/>
          </p:nvSpPr>
          <p:spPr bwMode="auto">
            <a:xfrm>
              <a:off x="2880" y="2448"/>
              <a:ext cx="148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i="1">
                  <a:solidFill>
                    <a:srgbClr val="020001"/>
                  </a:solidFill>
                  <a:latin typeface="+mn-ea"/>
                  <a:ea typeface="+mn-ea"/>
                </a:rPr>
                <a:t>分析表</a:t>
              </a:r>
              <a:endParaRPr lang="zh-CN" altLang="en-US" sz="2800" b="1" i="1">
                <a:solidFill>
                  <a:srgbClr val="020001"/>
                </a:solidFill>
                <a:latin typeface="+mn-ea"/>
                <a:ea typeface="+mn-ea"/>
              </a:endParaRPr>
            </a:p>
          </p:txBody>
        </p:sp>
        <p:sp>
          <p:nvSpPr>
            <p:cNvPr id="17" name="Line 15"/>
            <p:cNvSpPr>
              <a:spLocks noChangeShapeType="1"/>
            </p:cNvSpPr>
            <p:nvPr/>
          </p:nvSpPr>
          <p:spPr bwMode="auto">
            <a:xfrm>
              <a:off x="2736" y="1728"/>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18" name="Line 16"/>
            <p:cNvSpPr>
              <a:spLocks noChangeShapeType="1"/>
            </p:cNvSpPr>
            <p:nvPr/>
          </p:nvSpPr>
          <p:spPr bwMode="auto">
            <a:xfrm>
              <a:off x="3696" y="1728"/>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sp>
        <p:nvSpPr>
          <p:cNvPr id="19" name="Line 17"/>
          <p:cNvSpPr>
            <a:spLocks noChangeShapeType="1"/>
          </p:cNvSpPr>
          <p:nvPr/>
        </p:nvSpPr>
        <p:spPr bwMode="auto">
          <a:xfrm flipH="1">
            <a:off x="3300094" y="3309079"/>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0" name="Line 18"/>
          <p:cNvSpPr>
            <a:spLocks noChangeShapeType="1"/>
          </p:cNvSpPr>
          <p:nvPr/>
        </p:nvSpPr>
        <p:spPr bwMode="auto">
          <a:xfrm flipV="1">
            <a:off x="5128894" y="2470879"/>
            <a:ext cx="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1" name="Line 19"/>
          <p:cNvSpPr>
            <a:spLocks noChangeShapeType="1"/>
          </p:cNvSpPr>
          <p:nvPr/>
        </p:nvSpPr>
        <p:spPr bwMode="auto">
          <a:xfrm>
            <a:off x="6195694" y="3302635"/>
            <a:ext cx="609600" cy="64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2" name="Text Box 20"/>
          <p:cNvSpPr txBox="1">
            <a:spLocks noChangeArrowheads="1"/>
          </p:cNvSpPr>
          <p:nvPr/>
        </p:nvSpPr>
        <p:spPr bwMode="auto">
          <a:xfrm>
            <a:off x="6729095" y="3066415"/>
            <a:ext cx="10414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20001"/>
                </a:solidFill>
                <a:latin typeface="+mn-ea"/>
                <a:ea typeface="+mn-ea"/>
              </a:rPr>
              <a:t>输出</a:t>
            </a:r>
            <a:endParaRPr lang="zh-CN" altLang="en-US" sz="3200" b="1">
              <a:solidFill>
                <a:srgbClr val="020001"/>
              </a:solidFill>
              <a:latin typeface="+mn-ea"/>
              <a:ea typeface="+mn-ea"/>
            </a:endParaRPr>
          </a:p>
        </p:txBody>
      </p:sp>
      <p:sp useBgFill="1">
        <p:nvSpPr>
          <p:cNvPr id="23" name="Rectangle 21"/>
          <p:cNvSpPr>
            <a:spLocks noChangeArrowheads="1"/>
          </p:cNvSpPr>
          <p:nvPr/>
        </p:nvSpPr>
        <p:spPr bwMode="auto">
          <a:xfrm>
            <a:off x="2004694" y="2623279"/>
            <a:ext cx="1371600" cy="2286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spcBef>
                <a:spcPct val="20000"/>
              </a:spcBef>
              <a:buClr>
                <a:schemeClr val="accent2"/>
              </a:buClr>
              <a:buFont typeface="Wingdings" panose="05000000000000000000" pitchFamily="2" charset="2"/>
              <a:buNone/>
            </a:pPr>
            <a:endParaRPr lang="zh-CN" altLang="en-US" b="1">
              <a:latin typeface="+mn-ea"/>
              <a:ea typeface="+mn-ea"/>
            </a:endParaRPr>
          </a:p>
        </p:txBody>
      </p:sp>
      <p:grpSp>
        <p:nvGrpSpPr>
          <p:cNvPr id="24" name="Group 22"/>
          <p:cNvGrpSpPr/>
          <p:nvPr/>
        </p:nvGrpSpPr>
        <p:grpSpPr bwMode="auto">
          <a:xfrm>
            <a:off x="479107" y="2699479"/>
            <a:ext cx="3225800" cy="3398838"/>
            <a:chOff x="191" y="1104"/>
            <a:chExt cx="2032" cy="2141"/>
          </a:xfrm>
        </p:grpSpPr>
        <p:sp>
          <p:nvSpPr>
            <p:cNvPr id="25" name="Text Box 23"/>
            <p:cNvSpPr txBox="1">
              <a:spLocks noChangeArrowheads="1"/>
            </p:cNvSpPr>
            <p:nvPr/>
          </p:nvSpPr>
          <p:spPr bwMode="auto">
            <a:xfrm>
              <a:off x="1584" y="1152"/>
              <a:ext cx="384" cy="145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X</a:t>
              </a:r>
              <a:r>
                <a:rPr lang="en-US" altLang="zh-CN" sz="2400" b="1" baseline="-25000">
                  <a:solidFill>
                    <a:srgbClr val="020001"/>
                  </a:solidFill>
                  <a:latin typeface="+mn-ea"/>
                  <a:ea typeface="+mn-ea"/>
                </a:rPr>
                <a:t>m</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X</a:t>
              </a:r>
              <a:r>
                <a:rPr lang="en-US" altLang="zh-CN" sz="2400" b="1" baseline="-25000">
                  <a:solidFill>
                    <a:srgbClr val="020001"/>
                  </a:solidFill>
                  <a:latin typeface="+mn-ea"/>
                  <a:ea typeface="+mn-ea"/>
                </a:rPr>
                <a:t>1</a:t>
              </a:r>
              <a:br>
                <a:rPr lang="en-US" altLang="zh-CN" sz="2400" b="1">
                  <a:solidFill>
                    <a:srgbClr val="020001"/>
                  </a:solidFill>
                  <a:latin typeface="+mn-ea"/>
                  <a:ea typeface="+mn-ea"/>
                </a:rPr>
              </a:br>
              <a:r>
                <a:rPr lang="en-US" altLang="zh-CN" sz="2400" b="1">
                  <a:solidFill>
                    <a:srgbClr val="020001"/>
                  </a:solidFill>
                  <a:latin typeface="+mn-ea"/>
                  <a:ea typeface="+mn-ea"/>
                </a:rPr>
                <a:t>$</a:t>
              </a:r>
              <a:endParaRPr lang="en-US" altLang="zh-CN" sz="2400" b="1">
                <a:solidFill>
                  <a:srgbClr val="020001"/>
                </a:solidFill>
                <a:latin typeface="+mn-ea"/>
                <a:ea typeface="+mn-ea"/>
              </a:endParaRPr>
            </a:p>
          </p:txBody>
        </p:sp>
        <p:sp>
          <p:nvSpPr>
            <p:cNvPr id="26" name="Line 24"/>
            <p:cNvSpPr>
              <a:spLocks noChangeShapeType="1"/>
            </p:cNvSpPr>
            <p:nvPr/>
          </p:nvSpPr>
          <p:spPr bwMode="auto">
            <a:xfrm>
              <a:off x="864" y="1296"/>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7" name="Text Box 25"/>
            <p:cNvSpPr txBox="1">
              <a:spLocks noChangeArrowheads="1"/>
            </p:cNvSpPr>
            <p:nvPr/>
          </p:nvSpPr>
          <p:spPr bwMode="auto">
            <a:xfrm>
              <a:off x="191" y="1104"/>
              <a:ext cx="76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solidFill>
                    <a:srgbClr val="020001"/>
                  </a:solidFill>
                  <a:latin typeface="+mn-ea"/>
                  <a:ea typeface="+mn-ea"/>
                </a:rPr>
                <a:t>状态栈</a:t>
              </a:r>
              <a:endParaRPr lang="zh-CN" altLang="en-US" sz="2400" b="1">
                <a:solidFill>
                  <a:srgbClr val="020001"/>
                </a:solidFill>
                <a:latin typeface="+mn-ea"/>
                <a:ea typeface="+mn-ea"/>
              </a:endParaRPr>
            </a:p>
          </p:txBody>
        </p:sp>
        <p:sp>
          <p:nvSpPr>
            <p:cNvPr id="28" name="Line 26"/>
            <p:cNvSpPr>
              <a:spLocks noChangeShapeType="1"/>
            </p:cNvSpPr>
            <p:nvPr/>
          </p:nvSpPr>
          <p:spPr bwMode="auto">
            <a:xfrm flipV="1">
              <a:off x="1872" y="2592"/>
              <a:ext cx="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sp>
          <p:nvSpPr>
            <p:cNvPr id="29" name="Rectangle 27"/>
            <p:cNvSpPr>
              <a:spLocks noChangeArrowheads="1"/>
            </p:cNvSpPr>
            <p:nvPr/>
          </p:nvSpPr>
          <p:spPr bwMode="auto">
            <a:xfrm>
              <a:off x="1181" y="2994"/>
              <a:ext cx="104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solidFill>
                    <a:srgbClr val="010000"/>
                  </a:solidFill>
                  <a:latin typeface="+mn-ea"/>
                  <a:ea typeface="+mn-ea"/>
                </a:rPr>
                <a:t>文法符号栈</a:t>
              </a:r>
              <a:endParaRPr lang="zh-CN" altLang="en-US" sz="2000" b="1">
                <a:solidFill>
                  <a:srgbClr val="010000"/>
                </a:solidFill>
                <a:latin typeface="+mn-ea"/>
                <a:ea typeface="+mn-ea"/>
              </a:endParaRPr>
            </a:p>
          </p:txBody>
        </p:sp>
      </p:grpSp>
      <p:grpSp>
        <p:nvGrpSpPr>
          <p:cNvPr id="30" name="Group 28"/>
          <p:cNvGrpSpPr/>
          <p:nvPr/>
        </p:nvGrpSpPr>
        <p:grpSpPr bwMode="auto">
          <a:xfrm>
            <a:off x="404494" y="2775679"/>
            <a:ext cx="2286000" cy="3179763"/>
            <a:chOff x="144" y="1152"/>
            <a:chExt cx="1440" cy="2003"/>
          </a:xfrm>
        </p:grpSpPr>
        <p:sp>
          <p:nvSpPr>
            <p:cNvPr id="31" name="Text Box 29"/>
            <p:cNvSpPr txBox="1">
              <a:spLocks noChangeArrowheads="1"/>
            </p:cNvSpPr>
            <p:nvPr/>
          </p:nvSpPr>
          <p:spPr bwMode="auto">
            <a:xfrm>
              <a:off x="1200" y="1152"/>
              <a:ext cx="384" cy="145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1">
                  <a:solidFill>
                    <a:srgbClr val="020001"/>
                  </a:solidFill>
                  <a:latin typeface="+mn-ea"/>
                  <a:ea typeface="+mn-ea"/>
                </a:rPr>
                <a:t>m</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a:t>
              </a:r>
              <a:br>
                <a:rPr lang="en-US" altLang="zh-CN" sz="2400" b="1">
                  <a:solidFill>
                    <a:srgbClr val="020001"/>
                  </a:solidFill>
                  <a:latin typeface="+mn-ea"/>
                  <a:ea typeface="+mn-ea"/>
                </a:rPr>
              </a:br>
              <a:r>
                <a:rPr lang="en-US" altLang="zh-CN" sz="2400" b="1">
                  <a:solidFill>
                    <a:srgbClr val="020001"/>
                  </a:solidFill>
                  <a:latin typeface="+mn-ea"/>
                  <a:ea typeface="+mn-ea"/>
                </a:rPr>
                <a:t>1</a:t>
              </a:r>
              <a:br>
                <a:rPr lang="en-US" altLang="zh-CN" sz="2400" b="1">
                  <a:solidFill>
                    <a:srgbClr val="020001"/>
                  </a:solidFill>
                  <a:latin typeface="+mn-ea"/>
                  <a:ea typeface="+mn-ea"/>
                </a:rPr>
              </a:br>
              <a:r>
                <a:rPr lang="en-US" altLang="zh-CN" sz="2400" b="1">
                  <a:solidFill>
                    <a:srgbClr val="020001"/>
                  </a:solidFill>
                  <a:latin typeface="+mn-ea"/>
                  <a:ea typeface="+mn-ea"/>
                </a:rPr>
                <a:t>0</a:t>
              </a:r>
              <a:endParaRPr lang="en-US" altLang="zh-CN" sz="2400" b="1">
                <a:solidFill>
                  <a:srgbClr val="020001"/>
                </a:solidFill>
                <a:latin typeface="+mn-ea"/>
                <a:ea typeface="+mn-ea"/>
              </a:endParaRPr>
            </a:p>
          </p:txBody>
        </p:sp>
        <p:sp>
          <p:nvSpPr>
            <p:cNvPr id="32" name="Rectangle 30"/>
            <p:cNvSpPr>
              <a:spLocks noChangeArrowheads="1"/>
            </p:cNvSpPr>
            <p:nvPr/>
          </p:nvSpPr>
          <p:spPr bwMode="auto">
            <a:xfrm>
              <a:off x="144" y="2400"/>
              <a:ext cx="1008"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Times New Roman" panose="02020603050405020304" pitchFamily="18" charset="0"/>
                  <a:ea typeface="宋体" panose="02010600030101010101" pitchFamily="2" charset="-122"/>
                </a:defRPr>
              </a:lvl1pPr>
              <a:lvl2pPr marL="742950" indent="-285750">
                <a:defRPr sz="2100">
                  <a:solidFill>
                    <a:schemeClr val="tx1"/>
                  </a:solidFill>
                  <a:latin typeface="Times New Roman" panose="02020603050405020304" pitchFamily="18" charset="0"/>
                  <a:ea typeface="宋体" panose="02010600030101010101" pitchFamily="2" charset="-122"/>
                </a:defRPr>
              </a:lvl2pPr>
              <a:lvl3pPr marL="1143000" indent="-228600">
                <a:defRPr sz="2100">
                  <a:solidFill>
                    <a:schemeClr val="tx1"/>
                  </a:solidFill>
                  <a:latin typeface="Times New Roman" panose="02020603050405020304" pitchFamily="18" charset="0"/>
                  <a:ea typeface="宋体" panose="02010600030101010101" pitchFamily="2" charset="-122"/>
                </a:defRPr>
              </a:lvl3pPr>
              <a:lvl4pPr marL="1600200" indent="-228600">
                <a:defRPr sz="2100">
                  <a:solidFill>
                    <a:schemeClr val="tx1"/>
                  </a:solidFill>
                  <a:latin typeface="Times New Roman" panose="02020603050405020304" pitchFamily="18" charset="0"/>
                  <a:ea typeface="宋体" panose="02010600030101010101" pitchFamily="2" charset="-122"/>
                </a:defRPr>
              </a:lvl4pPr>
              <a:lvl5pPr marL="2057400" indent="-228600">
                <a:defRPr sz="21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20001"/>
                  </a:solidFill>
                  <a:latin typeface="+mn-ea"/>
                  <a:ea typeface="+mn-ea"/>
                </a:rPr>
                <a:t>识别活前缀的自动机状态</a:t>
              </a:r>
              <a:endParaRPr lang="zh-CN" altLang="en-US" sz="2400" b="1">
                <a:solidFill>
                  <a:srgbClr val="020001"/>
                </a:solidFill>
                <a:latin typeface="+mn-ea"/>
                <a:ea typeface="+mn-ea"/>
              </a:endParaRPr>
            </a:p>
          </p:txBody>
        </p:sp>
        <p:sp>
          <p:nvSpPr>
            <p:cNvPr id="33" name="Line 31"/>
            <p:cNvSpPr>
              <a:spLocks noChangeShapeType="1"/>
            </p:cNvSpPr>
            <p:nvPr/>
          </p:nvSpPr>
          <p:spPr bwMode="auto">
            <a:xfrm flipV="1">
              <a:off x="821" y="2208"/>
              <a:ext cx="475" cy="22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ndParaRPr>
            </a:p>
          </p:txBody>
        </p:sp>
      </p:grpSp>
      <p:sp>
        <p:nvSpPr>
          <p:cNvPr id="2" name="文本框 1"/>
          <p:cNvSpPr txBox="1"/>
          <p:nvPr/>
        </p:nvSpPr>
        <p:spPr>
          <a:xfrm>
            <a:off x="3684637" y="350098"/>
            <a:ext cx="4014470" cy="460375"/>
          </a:xfrm>
          <a:prstGeom prst="rect">
            <a:avLst/>
          </a:prstGeom>
          <a:noFill/>
        </p:spPr>
        <p:txBody>
          <a:bodyPr wrap="none" rtlCol="0">
            <a:spAutoFit/>
          </a:bodyPr>
          <a:lstStyle/>
          <a:p>
            <a:r>
              <a:rPr lang="en-US" altLang="zh-CN" sz="2400" b="1" dirty="0">
                <a:solidFill>
                  <a:srgbClr val="FFFF00"/>
                </a:solidFill>
                <a:latin typeface="+mn-ea"/>
              </a:rPr>
              <a:t>LR(0), SLR(1), LR(1), LALR(1)</a:t>
            </a:r>
            <a:endParaRPr lang="zh-CN" altLang="en-US" sz="2400" b="1" dirty="0">
              <a:solidFill>
                <a:srgbClr val="FFFF00"/>
              </a:solidFill>
              <a:latin typeface="+mn-ea"/>
            </a:endParaRPr>
          </a:p>
        </p:txBody>
      </p:sp>
      <p:sp>
        <p:nvSpPr>
          <p:cNvPr id="3" name="灯片编号占位符 2"/>
          <p:cNvSpPr>
            <a:spLocks noGrp="1"/>
          </p:cNvSpPr>
          <p:nvPr>
            <p:ph type="sldNum" sz="quarter" idx="12"/>
          </p:nvPr>
        </p:nvSpPr>
        <p:spPr/>
        <p:txBody>
          <a:bodyPr/>
          <a:p>
            <a:fld id="{5A1A6423-77BD-D842-A714-25250E903C41}" type="slidenum">
              <a:rPr kumimoji="1" lang="zh-CN" altLang="en-US" sz="900" smtClean="0"/>
            </a:fld>
            <a:endParaRPr kumimoji="1" lang="zh-CN" altLang="en-US" sz="900"/>
          </a:p>
        </p:txBody>
      </p:sp>
      <p:sp>
        <p:nvSpPr>
          <p:cNvPr id="5" name="文本框 4"/>
          <p:cNvSpPr txBox="1"/>
          <p:nvPr/>
        </p:nvSpPr>
        <p:spPr>
          <a:xfrm>
            <a:off x="8228330" y="1609725"/>
            <a:ext cx="3502025" cy="4153535"/>
          </a:xfrm>
          <a:prstGeom prst="rect">
            <a:avLst/>
          </a:prstGeom>
          <a:noFill/>
        </p:spPr>
        <p:txBody>
          <a:bodyPr wrap="square" rtlCol="0" anchor="t">
            <a:noAutofit/>
          </a:bodyPr>
          <a:p>
            <a:pPr marL="342900" indent="-342900" algn="just">
              <a:buFont typeface="Wingdings" panose="05000000000000000000" charset="0"/>
              <a:buChar char="p"/>
            </a:pPr>
            <a:r>
              <a:rPr sz="2400" b="1" dirty="0">
                <a:sym typeface="+mn-ea"/>
              </a:rPr>
              <a:t>最常用的 LALR(1) 分析器自动生成器有 GNU Bison</a:t>
            </a:r>
            <a:r>
              <a:rPr lang="en-US" sz="2400" b="1" dirty="0">
                <a:sym typeface="+mn-ea"/>
              </a:rPr>
              <a:t>(</a:t>
            </a:r>
            <a:r>
              <a:rPr sz="2400" b="1" dirty="0">
                <a:sym typeface="+mn-ea"/>
              </a:rPr>
              <a:t> C/C++</a:t>
            </a:r>
            <a:r>
              <a:rPr lang="en-US" sz="2400" b="1" dirty="0">
                <a:sym typeface="+mn-ea"/>
              </a:rPr>
              <a:t>)</a:t>
            </a:r>
            <a:r>
              <a:rPr sz="2400" b="1" dirty="0">
                <a:sym typeface="+mn-ea"/>
              </a:rPr>
              <a:t>、ANTLR（ Java、Python</a:t>
            </a:r>
            <a:r>
              <a:rPr lang="zh-CN" sz="2400" b="1" dirty="0">
                <a:sym typeface="+mn-ea"/>
              </a:rPr>
              <a:t>等</a:t>
            </a:r>
            <a:r>
              <a:rPr sz="2400" b="1" dirty="0">
                <a:sym typeface="+mn-ea"/>
              </a:rPr>
              <a:t>）、以及</a:t>
            </a:r>
            <a:r>
              <a:rPr lang="en-US" sz="2400" b="1" dirty="0">
                <a:sym typeface="+mn-ea"/>
              </a:rPr>
              <a:t>Ply</a:t>
            </a:r>
            <a:r>
              <a:rPr sz="2400" b="1" dirty="0">
                <a:sym typeface="+mn-ea"/>
              </a:rPr>
              <a:t>（适用于 Python）。</a:t>
            </a:r>
            <a:endParaRPr sz="2400" b="1" dirty="0">
              <a:sym typeface="+mn-ea"/>
            </a:endParaRPr>
          </a:p>
          <a:p>
            <a:pPr marL="342900" indent="-342900" algn="just">
              <a:buFont typeface="Wingdings" panose="05000000000000000000" charset="0"/>
              <a:buChar char="p"/>
            </a:pPr>
            <a:r>
              <a:rPr sz="2400" b="1" dirty="0">
                <a:sym typeface="+mn-ea"/>
              </a:rPr>
              <a:t>这些工具广泛应用于编译器和解释器开发，文档丰富、社区活跃，适合大多数主流项目需求。</a:t>
            </a:r>
            <a:endParaRPr sz="24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arn(out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out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PLACING_PICTURE_USER_VIEWPORT" val="{&quot;height&quot;:2884,&quot;width&quot;:288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UNIT_TABLE_BEAUTIFY" val="smartTable{88a0455c-0786-4df4-b26b-631c71a274d9}"/>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 name="KSO_WM_UNIT_PLACING_PICTURE_USER_VIEWPORT" val="{&quot;height&quot;:7625,&quot;width&quot;:13560}"/>
</p:tagLst>
</file>

<file path=ppt/tags/tag345.xml><?xml version="1.0" encoding="utf-8"?>
<p:tagLst xmlns:p="http://schemas.openxmlformats.org/presentationml/2006/main">
  <p:tag name="KSO_WM_UNIT_TABLE_BEAUTIFY" val="smartTable{1fd6e69d-d71e-4f59-9100-a33d7068d9e9}"/>
  <p:tag name="TABLE_ENDDRAG_ORIGIN_RECT" val="306*307"/>
  <p:tag name="TABLE_ENDDRAG_RECT" val="161*157*306*307"/>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UNIT_TABLE_BEAUTIFY" val="smartTable{1fd6e69d-d71e-4f59-9100-a33d7068d9e9}"/>
  <p:tag name="TABLE_ENDDRAG_ORIGIN_RECT" val="306*140"/>
  <p:tag name="TABLE_ENDDRAG_RECT" val="579*193*306*140"/>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UNIT_TABLE_BEAUTIFY" val="smartTable{e4928603-7074-4b97-834f-7a8a6f43faa8}"/>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UNIT_TABLE_BEAUTIFY" val="smartTable{06581a80-105b-47f7-a798-43e57de2fa65}"/>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UNIT_TABLE_BEAUTIFY" val="smartTable{06581a80-105b-47f7-a798-43e57de2fa65}"/>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UNIT_TABLE_BEAUTIFY" val="smartTable{684ff3dc-65a7-446e-b98e-efaeb0637259}"/>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UNIT_TABLE_BEAUTIFY" val="smartTable{869ed3c3-0d42-4c92-a994-ddb230e09374}"/>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UNIT_TABLE_BEAUTIFY" val="smartTable{869ed3c3-0d42-4c92-a994-ddb230e09374}"/>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PP_MARK_KEY" val="cd1e1097-51d7-4c93-8a99-89c49157ce95"/>
  <p:tag name="COMMONDATA" val="eyJoZGlkIjoiMzJjODM0ODFlMzJmZDYxYTU5ZjM3ODk5NzI1YjE1OD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13138</Words>
  <Application>WPS 演示</Application>
  <PresentationFormat>全屏显示(4:3)</PresentationFormat>
  <Paragraphs>3169</Paragraphs>
  <Slides>59</Slides>
  <Notes>106</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59</vt:i4>
      </vt:variant>
    </vt:vector>
  </HeadingPairs>
  <TitlesOfParts>
    <vt:vector size="81" baseType="lpstr">
      <vt:lpstr>Arial</vt:lpstr>
      <vt:lpstr>宋体</vt:lpstr>
      <vt:lpstr>Wingdings</vt:lpstr>
      <vt:lpstr>微软雅黑</vt:lpstr>
      <vt:lpstr>Times New Roman</vt:lpstr>
      <vt:lpstr>等线</vt:lpstr>
      <vt:lpstr>等线 Light</vt:lpstr>
      <vt:lpstr>Symbol</vt:lpstr>
      <vt:lpstr>Monotype Sorts</vt:lpstr>
      <vt:lpstr>Wingdings</vt:lpstr>
      <vt:lpstr>Calibri</vt:lpstr>
      <vt:lpstr>Arial Unicode MS</vt:lpstr>
      <vt:lpstr>Calibri Light</vt:lpstr>
      <vt:lpstr>Calibri</vt:lpstr>
      <vt:lpstr>Times New Roman</vt:lpstr>
      <vt:lpstr>楷体_GB2312</vt:lpstr>
      <vt:lpstr>新宋体</vt:lpstr>
      <vt:lpstr>Verdana</vt:lpstr>
      <vt:lpstr>楷体_GB2312</vt:lpstr>
      <vt:lpstr>Tahoma</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378</cp:revision>
  <dcterms:created xsi:type="dcterms:W3CDTF">2024-03-16T07:28:00Z</dcterms:created>
  <dcterms:modified xsi:type="dcterms:W3CDTF">2026-03-30T09:31:58Z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0B0008E8F0AA464FA7E5E2795D037136_13</vt:lpwstr>
  </property>
  <property fmtid="{D5CDD505-2E9C-101B-9397-08002B2CF9AE}" pid="3" name="KSOProductBuildVer">
    <vt:lpwstr>2052-11.1.0.13703</vt:lpwstr>
  </property>
</Properties>
</file>