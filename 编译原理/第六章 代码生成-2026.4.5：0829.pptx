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handoutMasterIdLst>
    <p:handoutMasterId r:id="rId48"/>
  </p:handoutMasterIdLst>
  <p:sldIdLst>
    <p:sldId id="772" r:id="rId3"/>
    <p:sldId id="539" r:id="rId4"/>
    <p:sldId id="258" r:id="rId5"/>
    <p:sldId id="538" r:id="rId6"/>
    <p:sldId id="541" r:id="rId7"/>
    <p:sldId id="543" r:id="rId8"/>
    <p:sldId id="549" r:id="rId9"/>
    <p:sldId id="555" r:id="rId10"/>
    <p:sldId id="557" r:id="rId11"/>
    <p:sldId id="559" r:id="rId12"/>
    <p:sldId id="563" r:id="rId13"/>
    <p:sldId id="565" r:id="rId14"/>
    <p:sldId id="567" r:id="rId15"/>
    <p:sldId id="570" r:id="rId16"/>
    <p:sldId id="572" r:id="rId17"/>
    <p:sldId id="576" r:id="rId18"/>
    <p:sldId id="577" r:id="rId19"/>
    <p:sldId id="580" r:id="rId20"/>
    <p:sldId id="583" r:id="rId21"/>
    <p:sldId id="594" r:id="rId22"/>
    <p:sldId id="598" r:id="rId23"/>
    <p:sldId id="599" r:id="rId24"/>
    <p:sldId id="602" r:id="rId25"/>
    <p:sldId id="605" r:id="rId26"/>
    <p:sldId id="610" r:id="rId27"/>
    <p:sldId id="617" r:id="rId28"/>
    <p:sldId id="619" r:id="rId29"/>
    <p:sldId id="621" r:id="rId30"/>
    <p:sldId id="622" r:id="rId31"/>
    <p:sldId id="626" r:id="rId32"/>
    <p:sldId id="634" r:id="rId33"/>
    <p:sldId id="638" r:id="rId34"/>
    <p:sldId id="639" r:id="rId35"/>
    <p:sldId id="640" r:id="rId36"/>
    <p:sldId id="642" r:id="rId37"/>
    <p:sldId id="643" r:id="rId38"/>
    <p:sldId id="645" r:id="rId39"/>
    <p:sldId id="649" r:id="rId40"/>
    <p:sldId id="651" r:id="rId41"/>
    <p:sldId id="653" r:id="rId42"/>
    <p:sldId id="657" r:id="rId43"/>
    <p:sldId id="660" r:id="rId44"/>
    <p:sldId id="663" r:id="rId45"/>
    <p:sldId id="665" r:id="rId46"/>
  </p:sldIdLst>
  <p:sldSz cx="12192000" cy="6858000"/>
  <p:notesSz cx="6858000" cy="91440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ren"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95" autoAdjust="0"/>
  </p:normalViewPr>
  <p:slideViewPr>
    <p:cSldViewPr snapToGrid="0">
      <p:cViewPr varScale="1">
        <p:scale>
          <a:sx n="94" d="100"/>
          <a:sy n="94" d="100"/>
        </p:scale>
        <p:origin x="1560" y="60"/>
      </p:cViewPr>
      <p:guideLst/>
    </p:cSldViewPr>
  </p:slideViewPr>
  <p:notesTextViewPr>
    <p:cViewPr>
      <p:scale>
        <a:sx n="1" d="1"/>
        <a:sy n="1" d="1"/>
      </p:scale>
      <p:origin x="0" y="0"/>
    </p:cViewPr>
  </p:notesTextViewPr>
  <p:notesViewPr>
    <p:cSldViewPr snapToGrid="0">
      <p:cViewPr varScale="1">
        <p:scale>
          <a:sx n="75" d="100"/>
          <a:sy n="75" d="100"/>
        </p:scale>
        <p:origin x="3448" y="4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gs" Target="tags/tag303.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EA3E2-C87F-4A69-AA9B-977CB6B7875A}"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A2114A-053A-4019-867C-6DA91B73B33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67B0C-C5AB-457F-8F1A-FBF93A90A4B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0A2A6-A786-4185-BFBE-5D2240968AB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6.xml"/><Relationship Id="rId7" Type="http://schemas.openxmlformats.org/officeDocument/2006/relationships/image" Target="../media/image2.png"/><Relationship Id="rId6" Type="http://schemas.openxmlformats.org/officeDocument/2006/relationships/tags" Target="../tags/tag5.xml"/><Relationship Id="rId5" Type="http://schemas.openxmlformats.org/officeDocument/2006/relationships/image" Target="../media/image1.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tags" Target="../tags/tag9.xml"/><Relationship Id="rId4" Type="http://schemas.openxmlformats.org/officeDocument/2006/relationships/image" Target="../media/image1.pn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矩形 7"/>
          <p:cNvSpPr/>
          <p:nvPr userDrawn="1"/>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0" name="西北工业大学"/>
          <p:cNvPicPr>
            <a:picLocks noChangeAspect="1"/>
          </p:cNvPicPr>
          <p:nvPr userDrawn="1"/>
        </p:nvPicPr>
        <p:blipFill>
          <a:blip r:embed="rId2" cstate="screen"/>
          <a:stretch>
            <a:fillRect/>
          </a:stretch>
        </p:blipFill>
        <p:spPr>
          <a:xfrm>
            <a:off x="9968653" y="417830"/>
            <a:ext cx="1817793" cy="342900"/>
          </a:xfrm>
          <a:prstGeom prst="rect">
            <a:avLst/>
          </a:prstGeom>
        </p:spPr>
      </p:pic>
      <p:pic>
        <p:nvPicPr>
          <p:cNvPr id="11" name="校徽"/>
          <p:cNvPicPr>
            <a:picLocks noChangeAspect="1"/>
          </p:cNvPicPr>
          <p:nvPr userDrawn="1"/>
        </p:nvPicPr>
        <p:blipFill>
          <a:blip r:embed="rId3" cstate="screen"/>
          <a:stretch>
            <a:fillRect/>
          </a:stretch>
        </p:blipFill>
        <p:spPr>
          <a:xfrm>
            <a:off x="9157547" y="342900"/>
            <a:ext cx="575733" cy="431800"/>
          </a:xfrm>
          <a:prstGeom prst="rect">
            <a:avLst/>
          </a:prstGeom>
        </p:spPr>
      </p:pic>
      <p:cxnSp>
        <p:nvCxnSpPr>
          <p:cNvPr id="13" name="直线连接符 12"/>
          <p:cNvCxnSpPr/>
          <p:nvPr userDrawn="1"/>
        </p:nvCxnSpPr>
        <p:spPr>
          <a:xfrm>
            <a:off x="1134464" y="1936216"/>
            <a:ext cx="9730740" cy="5080"/>
          </a:xfrm>
          <a:prstGeom prst="line">
            <a:avLst/>
          </a:prstGeom>
          <a:ln w="19050">
            <a:solidFill>
              <a:srgbClr val="034DA0"/>
            </a:solidFill>
          </a:ln>
        </p:spPr>
        <p:style>
          <a:lnRef idx="1">
            <a:schemeClr val="accent1"/>
          </a:lnRef>
          <a:fillRef idx="0">
            <a:schemeClr val="accent1"/>
          </a:fillRef>
          <a:effectRef idx="0">
            <a:schemeClr val="accent1"/>
          </a:effectRef>
          <a:fontRef idx="minor">
            <a:schemeClr val="tx1"/>
          </a:fontRef>
        </p:style>
      </p:cxnSp>
      <p:cxnSp>
        <p:nvCxnSpPr>
          <p:cNvPr id="17" name="直线连接符 9"/>
          <p:cNvCxnSpPr/>
          <p:nvPr userDrawn="1">
            <p:custDataLst>
              <p:tags r:id="rId4"/>
            </p:custDataLst>
          </p:nvPr>
        </p:nvCxnSpPr>
        <p:spPr>
          <a:xfrm>
            <a:off x="0" y="633397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文本占位符 20"/>
          <p:cNvSpPr>
            <a:spLocks noGrp="1"/>
          </p:cNvSpPr>
          <p:nvPr>
            <p:ph type="body" sz="quarter" idx="13" hasCustomPrompt="1"/>
          </p:nvPr>
        </p:nvSpPr>
        <p:spPr>
          <a:xfrm>
            <a:off x="1134464" y="1209311"/>
            <a:ext cx="6129867" cy="511118"/>
          </a:xfrm>
        </p:spPr>
        <p:txBody>
          <a:bodyPr>
            <a:normAutofit/>
          </a:bodyPr>
          <a:lstStyle>
            <a:lvl1pPr marL="0" indent="0">
              <a:buNone/>
              <a:defRPr kumimoji="1" lang="zh-CN" altLang="en-US" sz="3200" b="1" kern="1200" dirty="0">
                <a:solidFill>
                  <a:srgbClr val="034EA2"/>
                </a:solidFill>
                <a:latin typeface="微软雅黑" panose="020B0503020204020204" charset="-122"/>
                <a:ea typeface="微软雅黑" panose="020B0503020204020204" charset="-122"/>
                <a:cs typeface="微软雅黑" panose="020B0503020204020204" charset="-122"/>
              </a:defRPr>
            </a:lvl1pPr>
          </a:lstStyle>
          <a:p>
            <a:pPr lvl="0"/>
            <a:r>
              <a:rPr lang="zh-CN" altLang="en-US" dirty="0"/>
              <a:t>第</a:t>
            </a:r>
            <a:r>
              <a:rPr lang="en-US" altLang="zh-CN" dirty="0"/>
              <a:t> </a:t>
            </a:r>
            <a:r>
              <a:rPr lang="zh-CN" altLang="en-US" dirty="0"/>
              <a:t>单元 </a:t>
            </a:r>
            <a:endParaRPr lang="zh-CN" altLang="en-US" dirty="0"/>
          </a:p>
        </p:txBody>
      </p:sp>
      <p:sp>
        <p:nvSpPr>
          <p:cNvPr id="23" name="文本占位符 22"/>
          <p:cNvSpPr>
            <a:spLocks noGrp="1"/>
          </p:cNvSpPr>
          <p:nvPr>
            <p:ph type="body" sz="quarter" idx="14" hasCustomPrompt="1"/>
          </p:nvPr>
        </p:nvSpPr>
        <p:spPr>
          <a:xfrm>
            <a:off x="1134464" y="2106539"/>
            <a:ext cx="8255000" cy="2838450"/>
          </a:xfrm>
        </p:spPr>
        <p:txBody>
          <a:bodyPr>
            <a:normAutofit/>
          </a:bodyPr>
          <a:lstStyle>
            <a:lvl1pPr marL="0" indent="0" algn="l" defTabSz="914400" rtl="0" eaLnBrk="1" latinLnBrk="0" hangingPunct="1">
              <a:lnSpc>
                <a:spcPct val="150000"/>
              </a:lnSpc>
              <a:spcBef>
                <a:spcPts val="1000"/>
              </a:spcBef>
              <a:buFont typeface="Arial" panose="020B0604020202020204" pitchFamily="34" charset="0"/>
              <a:buNone/>
              <a:defRPr kumimoji="1" lang="zh-CN" altLang="en-US" sz="2800" kern="1200" dirty="0">
                <a:solidFill>
                  <a:srgbClr val="034EA2"/>
                </a:solidFill>
                <a:latin typeface="+mn-ea"/>
                <a:ea typeface="+mn-ea"/>
                <a:cs typeface="+mn-ea"/>
              </a:defRPr>
            </a:lvl1pPr>
          </a:lstStyle>
          <a:p>
            <a:pPr lvl="0"/>
            <a:r>
              <a:rPr lang="en-US" altLang="zh-CN" dirty="0"/>
              <a:t>1.1 </a:t>
            </a:r>
            <a:endParaRPr lang="en-US" altLang="zh-CN" dirty="0"/>
          </a:p>
          <a:p>
            <a:pPr lvl="0"/>
            <a:r>
              <a:rPr lang="en-US" altLang="zh-CN" dirty="0"/>
              <a:t>1.2 </a:t>
            </a:r>
            <a:endParaRPr lang="en-US" altLang="zh-CN" dirty="0"/>
          </a:p>
          <a:p>
            <a:pPr lvl="0"/>
            <a:r>
              <a:rPr lang="en-US" altLang="zh-CN" dirty="0"/>
              <a:t>1.3</a:t>
            </a:r>
            <a:endParaRPr lang="zh-CN" altLang="en-US" dirty="0"/>
          </a:p>
        </p:txBody>
      </p:sp>
      <p:sp>
        <p:nvSpPr>
          <p:cNvPr id="27" name="文本占位符 26"/>
          <p:cNvSpPr>
            <a:spLocks noGrp="1"/>
          </p:cNvSpPr>
          <p:nvPr>
            <p:ph type="body" sz="quarter" idx="15" hasCustomPrompt="1"/>
          </p:nvPr>
        </p:nvSpPr>
        <p:spPr>
          <a:xfrm>
            <a:off x="228531" y="263977"/>
            <a:ext cx="2653249" cy="589645"/>
          </a:xfrm>
        </p:spPr>
        <p:txBody>
          <a:bodyPr/>
          <a:lstStyle>
            <a:lvl1pPr marL="0" indent="0">
              <a:buNone/>
              <a:defRPr kumimoji="1" lang="zh-CN" altLang="en-US" sz="3600" b="1" kern="1200" dirty="0" smtClean="0">
                <a:solidFill>
                  <a:schemeClr val="bg1"/>
                </a:solidFill>
                <a:latin typeface="+mn-ea"/>
                <a:ea typeface="+mn-ea"/>
                <a:cs typeface="+mj-cs"/>
              </a:defRPr>
            </a:lvl1pPr>
          </a:lstStyle>
          <a:p>
            <a:pPr lvl="0"/>
            <a:r>
              <a:rPr lang="zh-CN" altLang="en-US" dirty="0"/>
              <a:t>目录</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培养目标">
    <p:spTree>
      <p:nvGrpSpPr>
        <p:cNvPr id="1" name=""/>
        <p:cNvGrpSpPr/>
        <p:nvPr/>
      </p:nvGrpSpPr>
      <p:grpSpPr>
        <a:xfrm>
          <a:off x="0" y="0"/>
          <a:ext cx="0" cy="0"/>
          <a:chOff x="0" y="0"/>
          <a:chExt cx="0" cy="0"/>
        </a:xfrm>
      </p:grpSpPr>
      <p:sp>
        <p:nvSpPr>
          <p:cNvPr id="7" name="内容占位符 2"/>
          <p:cNvSpPr>
            <a:spLocks noGrp="1"/>
          </p:cNvSpPr>
          <p:nvPr userDrawn="1">
            <p:custDataLst>
              <p:tags r:id="rId2"/>
            </p:custDataLst>
          </p:nvPr>
        </p:nvSpPr>
        <p:spPr>
          <a:xfrm>
            <a:off x="630767" y="1339215"/>
            <a:ext cx="10670540" cy="639445"/>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b="1"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kumimoji="1" lang="zh-CN" altLang="en-US" sz="2800" b="1" dirty="0"/>
              <a:t>本节培养目标</a:t>
            </a:r>
            <a:endParaRPr kumimoji="1" lang="zh-CN" altLang="en-US" sz="2800" b="1" dirty="0"/>
          </a:p>
        </p:txBody>
      </p:sp>
      <p:sp>
        <p:nvSpPr>
          <p:cNvPr id="8" name="矩形 7"/>
          <p:cNvSpPr/>
          <p:nvPr userDrawn="1">
            <p:custDataLst>
              <p:tags r:id="rId3"/>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3" name="西北工业大学"/>
          <p:cNvPicPr>
            <a:picLocks noChangeAspect="1"/>
          </p:cNvPicPr>
          <p:nvPr userDrawn="1">
            <p:custDataLst>
              <p:tags r:id="rId4"/>
            </p:custDataLst>
          </p:nvPr>
        </p:nvPicPr>
        <p:blipFill>
          <a:blip r:embed="rId5" cstate="screen"/>
          <a:stretch>
            <a:fillRect/>
          </a:stretch>
        </p:blipFill>
        <p:spPr>
          <a:xfrm>
            <a:off x="9968653" y="417830"/>
            <a:ext cx="1817793" cy="342900"/>
          </a:xfrm>
          <a:prstGeom prst="rect">
            <a:avLst/>
          </a:prstGeom>
        </p:spPr>
      </p:pic>
      <p:pic>
        <p:nvPicPr>
          <p:cNvPr id="14" name="校徽"/>
          <p:cNvPicPr>
            <a:picLocks noChangeAspect="1"/>
          </p:cNvPicPr>
          <p:nvPr userDrawn="1">
            <p:custDataLst>
              <p:tags r:id="rId6"/>
            </p:custDataLst>
          </p:nvPr>
        </p:nvPicPr>
        <p:blipFill>
          <a:blip r:embed="rId7" cstate="screen"/>
          <a:stretch>
            <a:fillRect/>
          </a:stretch>
        </p:blipFill>
        <p:spPr>
          <a:xfrm>
            <a:off x="9157547" y="342900"/>
            <a:ext cx="575733" cy="431800"/>
          </a:xfrm>
          <a:prstGeom prst="rect">
            <a:avLst/>
          </a:prstGeom>
        </p:spPr>
      </p:pic>
      <p:sp>
        <p:nvSpPr>
          <p:cNvPr id="15" name="矩形 14"/>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卷形: 水平 1"/>
          <p:cNvSpPr/>
          <p:nvPr userDrawn="1">
            <p:custDataLst>
              <p:tags r:id="rId8"/>
            </p:custDataLst>
          </p:nvPr>
        </p:nvSpPr>
        <p:spPr>
          <a:xfrm>
            <a:off x="838200" y="1729105"/>
            <a:ext cx="10325100" cy="3736340"/>
          </a:xfrm>
          <a:prstGeom prst="horizontalScroll">
            <a:avLst>
              <a:gd name="adj" fmla="val 12500"/>
            </a:avLst>
          </a:prstGeom>
          <a:noFill/>
          <a:ln w="25400" cap="flat" cmpd="sng">
            <a:solidFill>
              <a:schemeClr val="hlink"/>
            </a:solidFill>
            <a:prstDash val="sysDot"/>
            <a:round/>
            <a:headEnd type="none" w="med" len="med"/>
            <a:tailEnd type="none" w="med" len="med"/>
          </a:ln>
        </p:spPr>
        <p:txBody>
          <a:bodyPr anchor="t" anchorCtr="0"/>
          <a:lstStyle/>
          <a:p>
            <a:pPr marL="469900" indent="-469900">
              <a:lnSpc>
                <a:spcPct val="75000"/>
              </a:lnSpc>
              <a:spcBef>
                <a:spcPct val="20000"/>
              </a:spcBef>
              <a:buClr>
                <a:schemeClr val="accent2"/>
              </a:buClr>
              <a:buFont typeface="Wingdings" panose="05000000000000000000" pitchFamily="2" charset="2"/>
            </a:pPr>
            <a:endParaRPr lang="zh-CN" altLang="en-US" b="1" dirty="0">
              <a:latin typeface="Times New Roman" panose="02020603050405020304" pitchFamily="18" charset="0"/>
              <a:ea typeface="宋体" panose="02010600030101010101" pitchFamily="2" charset="-122"/>
            </a:endParaRPr>
          </a:p>
        </p:txBody>
      </p:sp>
      <p:sp>
        <p:nvSpPr>
          <p:cNvPr id="19" name="文本占位符 18"/>
          <p:cNvSpPr>
            <a:spLocks noGrp="1"/>
          </p:cNvSpPr>
          <p:nvPr>
            <p:ph type="body" sz="quarter" idx="13" hasCustomPrompt="1"/>
          </p:nvPr>
        </p:nvSpPr>
        <p:spPr>
          <a:xfrm>
            <a:off x="1911351" y="2498725"/>
            <a:ext cx="9076267" cy="2197100"/>
          </a:xfrm>
        </p:spPr>
        <p:txBody>
          <a:bodyPr/>
          <a:lstStyle>
            <a:lvl1pPr marL="457200" indent="-457200">
              <a:buFont typeface="+mj-lt"/>
              <a:buAutoNum type="arabicPeriod"/>
              <a:defRPr lang="zh-CN" altLang="en-US" sz="2400" b="1" kern="100" dirty="0" smtClean="0">
                <a:ln>
                  <a:noFill/>
                </a:ln>
                <a:solidFill>
                  <a:schemeClr val="tx1"/>
                </a:solidFill>
                <a:effectLst/>
                <a:uLnTx/>
                <a:uFillTx/>
                <a:latin typeface="等线" panose="02010600030101010101" charset="-122"/>
                <a:ea typeface="等线" panose="02010600030101010101" charset="-122"/>
                <a:cs typeface="等线" panose="02010600030101010101" charset="-122"/>
              </a:defRPr>
            </a:lvl1pPr>
          </a:lstStyle>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第一级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第二级</a:t>
            </a:r>
            <a:endParaRPr lang="zh-CN" altLang="en-US" dirty="0"/>
          </a:p>
          <a:p>
            <a:pPr marR="0" lvl="0" algn="just" defTabSz="914400" rtl="0" eaLnBrk="0" fontAlgn="base" latinLnBrk="0" hangingPunct="0">
              <a:lnSpc>
                <a:spcPct val="150000"/>
              </a:lnSpc>
              <a:spcBef>
                <a:spcPct val="0"/>
              </a:spcBef>
              <a:spcAft>
                <a:spcPts val="0"/>
              </a:spcAft>
              <a:buClrTx/>
              <a:buSzTx/>
              <a:buFont typeface="+mj-lt"/>
              <a:tabLst>
                <a:tab pos="457200" algn="l"/>
              </a:tabLst>
              <a:defRPr/>
            </a:pPr>
            <a:r>
              <a:rPr lang="zh-CN" altLang="en-US" dirty="0"/>
              <a:t>第三级</a:t>
            </a:r>
            <a:endParaRPr lang="zh-CN" altLang="en-US" dirty="0"/>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 </a:t>
            </a:r>
            <a:r>
              <a:rPr lang="zh-CN" altLang="en-US" dirty="0"/>
              <a:t>章节名</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201930"/>
            <a:ext cx="12192000" cy="723265"/>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pic>
        <p:nvPicPr>
          <p:cNvPr id="11" name="西北工业大学"/>
          <p:cNvPicPr>
            <a:picLocks noChangeAspect="1"/>
          </p:cNvPicPr>
          <p:nvPr userDrawn="1">
            <p:custDataLst>
              <p:tags r:id="rId3"/>
            </p:custDataLst>
          </p:nvPr>
        </p:nvPicPr>
        <p:blipFill>
          <a:blip r:embed="rId4" cstate="screen"/>
          <a:stretch>
            <a:fillRect/>
          </a:stretch>
        </p:blipFill>
        <p:spPr>
          <a:xfrm>
            <a:off x="9968653" y="417830"/>
            <a:ext cx="1817793" cy="342900"/>
          </a:xfrm>
          <a:prstGeom prst="rect">
            <a:avLst/>
          </a:prstGeom>
        </p:spPr>
      </p:pic>
      <p:pic>
        <p:nvPicPr>
          <p:cNvPr id="12" name="校徽"/>
          <p:cNvPicPr>
            <a:picLocks noChangeAspect="1"/>
          </p:cNvPicPr>
          <p:nvPr userDrawn="1">
            <p:custDataLst>
              <p:tags r:id="rId5"/>
            </p:custDataLst>
          </p:nvPr>
        </p:nvPicPr>
        <p:blipFill>
          <a:blip r:embed="rId6" cstate="screen"/>
          <a:stretch>
            <a:fillRect/>
          </a:stretch>
        </p:blipFill>
        <p:spPr>
          <a:xfrm>
            <a:off x="9157547" y="342900"/>
            <a:ext cx="575733" cy="431800"/>
          </a:xfrm>
          <a:prstGeom prst="rect">
            <a:avLst/>
          </a:prstGeom>
        </p:spPr>
      </p:pic>
      <p:sp>
        <p:nvSpPr>
          <p:cNvPr id="13" name="矩形 12"/>
          <p:cNvSpPr/>
          <p:nvPr userDrawn="1"/>
        </p:nvSpPr>
        <p:spPr>
          <a:xfrm>
            <a:off x="352213" y="1188720"/>
            <a:ext cx="11530753" cy="5181600"/>
          </a:xfrm>
          <a:prstGeom prst="rect">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占位符 20"/>
          <p:cNvSpPr>
            <a:spLocks noGrp="1"/>
          </p:cNvSpPr>
          <p:nvPr>
            <p:ph type="body" sz="quarter" idx="14" hasCustomPrompt="1"/>
          </p:nvPr>
        </p:nvSpPr>
        <p:spPr>
          <a:xfrm>
            <a:off x="309033" y="276860"/>
            <a:ext cx="4445000" cy="593090"/>
          </a:xfrm>
        </p:spPr>
        <p:txBody>
          <a:bodyPr>
            <a:noAutofit/>
          </a:bodyPr>
          <a:lstStyle>
            <a:lvl1pPr marL="0" indent="0">
              <a:buNone/>
              <a:defRPr kumimoji="1" lang="zh-CN" altLang="en-US" sz="3600" b="1" kern="1200" dirty="0" smtClean="0">
                <a:solidFill>
                  <a:schemeClr val="bg1"/>
                </a:solidFill>
                <a:latin typeface="+mn-ea"/>
                <a:ea typeface="+mn-ea"/>
                <a:cs typeface="+mj-cs"/>
              </a:defRPr>
            </a:lvl1pPr>
          </a:lstStyle>
          <a:p>
            <a:pPr lvl="0"/>
            <a:r>
              <a:rPr lang="en-US" altLang="zh-CN" dirty="0"/>
              <a:t>1.1.1 </a:t>
            </a:r>
            <a:r>
              <a:rPr lang="zh-CN" altLang="en-US" dirty="0"/>
              <a:t>小节名</a:t>
            </a:r>
            <a:endParaRPr lang="zh-CN" altLang="en-US" dirty="0"/>
          </a:p>
        </p:txBody>
      </p:sp>
      <p:sp>
        <p:nvSpPr>
          <p:cNvPr id="23" name="文本占位符 22"/>
          <p:cNvSpPr>
            <a:spLocks noGrp="1"/>
          </p:cNvSpPr>
          <p:nvPr>
            <p:ph type="body" sz="quarter" idx="15" hasCustomPrompt="1"/>
          </p:nvPr>
        </p:nvSpPr>
        <p:spPr>
          <a:xfrm>
            <a:off x="524087" y="1248410"/>
            <a:ext cx="4229947" cy="515619"/>
          </a:xfrm>
        </p:spPr>
        <p:txBody>
          <a:bodyPr/>
          <a:lstStyle>
            <a:lvl1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mn-ea"/>
                <a:ea typeface="+mn-ea"/>
                <a:cs typeface="Times New Roman" panose="02020603050405020304" pitchFamily="18" charset="0"/>
              </a:defRPr>
            </a:lvl1pPr>
            <a:lvl2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0" indent="0" algn="l" defTabSz="914400" rtl="0" eaLnBrk="1" fontAlgn="auto" latinLnBrk="0" hangingPunct="1">
              <a:lnSpc>
                <a:spcPct val="100000"/>
              </a:lnSpc>
              <a:spcBef>
                <a:spcPts val="0"/>
              </a:spcBef>
              <a:buFont typeface="Arial" panose="020B0604020202020204" pitchFamily="34" charset="0"/>
              <a:buNone/>
              <a:defRPr lang="zh-CN" altLang="en-US" sz="28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stStyle>
          <a:p>
            <a:pPr marL="0" indent="0" fontAlgn="auto">
              <a:lnSpc>
                <a:spcPct val="100000"/>
              </a:lnSpc>
              <a:spcBef>
                <a:spcPts val="0"/>
              </a:spcBef>
              <a:buNone/>
            </a:pPr>
            <a:r>
              <a:rPr lang="en-US" altLang="zh-CN" sz="2800" dirty="0">
                <a:latin typeface="Times New Roman" panose="02020603050405020304" pitchFamily="18" charset="0"/>
                <a:ea typeface="等线" panose="02010600030101010101" charset="-122"/>
                <a:cs typeface="Times New Roman" panose="02020603050405020304" pitchFamily="18" charset="0"/>
                <a:sym typeface="+mn-ea"/>
              </a:rPr>
              <a:t>1</a:t>
            </a:r>
            <a:r>
              <a:rPr lang="zh-CN" altLang="en-US" sz="2800" dirty="0">
                <a:latin typeface="Times New Roman" panose="02020603050405020304" pitchFamily="18" charset="0"/>
                <a:ea typeface="等线" panose="02010600030101010101" charset="-122"/>
                <a:cs typeface="Times New Roman" panose="02020603050405020304" pitchFamily="18" charset="0"/>
                <a:sym typeface="+mn-ea"/>
              </a:rPr>
              <a:t>级标题</a:t>
            </a:r>
            <a:endParaRPr lang="zh-CN" altLang="en-US" sz="2800" dirty="0">
              <a:latin typeface="Times New Roman" panose="02020603050405020304" pitchFamily="18" charset="0"/>
              <a:ea typeface="等线" panose="02010600030101010101" charset="-122"/>
              <a:cs typeface="Times New Roman" panose="02020603050405020304" pitchFamily="18" charset="0"/>
              <a:sym typeface="+mn-ea"/>
            </a:endParaRPr>
          </a:p>
        </p:txBody>
      </p:sp>
      <p:sp>
        <p:nvSpPr>
          <p:cNvPr id="25" name="文本占位符 24"/>
          <p:cNvSpPr>
            <a:spLocks noGrp="1"/>
          </p:cNvSpPr>
          <p:nvPr>
            <p:ph type="body" sz="quarter" idx="16" hasCustomPrompt="1"/>
          </p:nvPr>
        </p:nvSpPr>
        <p:spPr>
          <a:xfrm>
            <a:off x="529167" y="1910398"/>
            <a:ext cx="11163300" cy="4293551"/>
          </a:xfrm>
        </p:spPr>
        <p:txBody>
          <a:bodyPr>
            <a:normAutofit/>
          </a:bodyPr>
          <a:lstStyle>
            <a:lvl1pPr marL="2286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1pPr>
            <a:lvl2pPr marL="6858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2pPr>
            <a:lvl3pPr marL="11430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3pPr>
            <a:lvl4pPr marL="1600200" indent="-228600" algn="l" rtl="0" eaLnBrk="1" latinLnBrk="0" hangingPunct="1">
              <a:buClr>
                <a:srgbClr val="000000"/>
              </a:buClr>
              <a:buFont typeface="Arial" panose="020B0604020202020204" pitchFamily="34" charset="0"/>
              <a:buChar char="•"/>
              <a:defRPr lang="zh-CN" altLang="en-US" sz="2400" b="1" kern="1200" dirty="0" smtClean="0">
                <a:solidFill>
                  <a:schemeClr val="tx1"/>
                </a:solidFill>
                <a:latin typeface="Times New Roman" panose="02020603050405020304" pitchFamily="18" charset="0"/>
                <a:ea typeface="等线" panose="02010600030101010101" charset="-122"/>
                <a:cs typeface="Times New Roman" panose="02020603050405020304" pitchFamily="18" charset="0"/>
              </a:defRPr>
            </a:lvl4pPr>
            <a:lvl5pPr marL="2057400" indent="-228600" algn="l" rtl="0" eaLnBrk="1" latinLnBrk="0" hangingPunct="1">
              <a:buClr>
                <a:srgbClr val="000000"/>
              </a:buClr>
              <a:buFont typeface="Arial" panose="020B0604020202020204" pitchFamily="34" charset="0"/>
              <a:buChar char="•"/>
              <a:defRPr lang="zh-CN" altLang="en-US" sz="2400" b="1" kern="1200" dirty="0">
                <a:solidFill>
                  <a:schemeClr val="tx1"/>
                </a:solidFill>
                <a:latin typeface="Times New Roman" panose="02020603050405020304" pitchFamily="18" charset="0"/>
                <a:ea typeface="等线" panose="02010600030101010101" charset="-122"/>
                <a:cs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9" name="文本框 8"/>
          <p:cNvSpPr txBox="1"/>
          <p:nvPr userDrawn="1"/>
        </p:nvSpPr>
        <p:spPr>
          <a:xfrm>
            <a:off x="11416227" y="6407149"/>
            <a:ext cx="485140" cy="275590"/>
          </a:xfrm>
          <a:prstGeom prst="rect">
            <a:avLst/>
          </a:prstGeom>
          <a:noFill/>
        </p:spPr>
        <p:txBody>
          <a:bodyPr wrap="none" rtlCol="0">
            <a:spAutoFit/>
          </a:bodyPr>
          <a:lstStyle/>
          <a:p>
            <a:fld id="{6CCE0E74-C6F2-4DC5-83E7-295C76677F6B}" type="slidenum">
              <a:rPr lang="en-US" altLang="zh-CN" sz="1200" b="1" smtClean="0">
                <a:solidFill>
                  <a:schemeClr val="tx1"/>
                </a:solidFill>
                <a:latin typeface="+mn-ea"/>
                <a:ea typeface="+mn-ea"/>
              </a:rPr>
            </a:fld>
            <a:endParaRPr lang="zh-CN" altLang="en-US" sz="1200" b="1" dirty="0">
              <a:solidFill>
                <a:schemeClr val="tx1"/>
              </a:solidFill>
              <a:latin typeface="+mn-ea"/>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4" Type="http://schemas.openxmlformats.org/officeDocument/2006/relationships/slideLayout" Target="../slideLayouts/slideLayout3.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7.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5" Type="http://schemas.openxmlformats.org/officeDocument/2006/relationships/slideLayout" Target="../slideLayouts/slideLayout3.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14.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5" Type="http://schemas.openxmlformats.org/officeDocument/2006/relationships/slideLayout" Target="../slideLayouts/slideLayout3.xml"/><Relationship Id="rId24" Type="http://schemas.openxmlformats.org/officeDocument/2006/relationships/tags" Target="../tags/tag65.xml"/><Relationship Id="rId23" Type="http://schemas.openxmlformats.org/officeDocument/2006/relationships/tags" Target="../tags/tag64.xml"/><Relationship Id="rId22" Type="http://schemas.openxmlformats.org/officeDocument/2006/relationships/tags" Target="../tags/tag63.xml"/><Relationship Id="rId21" Type="http://schemas.openxmlformats.org/officeDocument/2006/relationships/tags" Target="../tags/tag62.xml"/><Relationship Id="rId20" Type="http://schemas.openxmlformats.org/officeDocument/2006/relationships/tags" Target="../tags/tag61.xml"/><Relationship Id="rId2" Type="http://schemas.openxmlformats.org/officeDocument/2006/relationships/tags" Target="../tags/tag43.xml"/><Relationship Id="rId19" Type="http://schemas.openxmlformats.org/officeDocument/2006/relationships/tags" Target="../tags/tag60.xml"/><Relationship Id="rId18" Type="http://schemas.openxmlformats.org/officeDocument/2006/relationships/tags" Target="../tags/tag59.xml"/><Relationship Id="rId17" Type="http://schemas.openxmlformats.org/officeDocument/2006/relationships/tags" Target="../tags/tag58.xml"/><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4" Type="http://schemas.openxmlformats.org/officeDocument/2006/relationships/slideLayout" Target="../slideLayouts/slideLayout3.xml"/><Relationship Id="rId13" Type="http://schemas.openxmlformats.org/officeDocument/2006/relationships/tags" Target="../tags/tag84.xml"/><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tags" Target="../tags/tag72.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7" Type="http://schemas.openxmlformats.org/officeDocument/2006/relationships/slideLayout" Target="../slideLayouts/slideLayout3.xml"/><Relationship Id="rId26" Type="http://schemas.openxmlformats.org/officeDocument/2006/relationships/tags" Target="../tags/tag122.xml"/><Relationship Id="rId25" Type="http://schemas.openxmlformats.org/officeDocument/2006/relationships/tags" Target="../tags/tag121.xml"/><Relationship Id="rId24" Type="http://schemas.openxmlformats.org/officeDocument/2006/relationships/tags" Target="../tags/tag120.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98.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tags" Target="../tags/tag97.xml"/></Relationships>
</file>

<file path=ppt/slides/_rels/slide22.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0" Type="http://schemas.openxmlformats.org/officeDocument/2006/relationships/slideLayout" Target="../slideLayouts/slideLayout3.xml"/><Relationship Id="rId2" Type="http://schemas.openxmlformats.org/officeDocument/2006/relationships/tags" Target="../tags/tag124.xml"/><Relationship Id="rId19" Type="http://schemas.openxmlformats.org/officeDocument/2006/relationships/tags" Target="../tags/tag141.xml"/><Relationship Id="rId18" Type="http://schemas.openxmlformats.org/officeDocument/2006/relationships/tags" Target="../tags/tag140.xml"/><Relationship Id="rId17" Type="http://schemas.openxmlformats.org/officeDocument/2006/relationships/tags" Target="../tags/tag139.xml"/><Relationship Id="rId16" Type="http://schemas.openxmlformats.org/officeDocument/2006/relationships/tags" Target="../tags/tag138.xml"/><Relationship Id="rId15" Type="http://schemas.openxmlformats.org/officeDocument/2006/relationships/tags" Target="../tags/tag137.xml"/><Relationship Id="rId14" Type="http://schemas.openxmlformats.org/officeDocument/2006/relationships/tags" Target="../tags/tag136.xml"/><Relationship Id="rId13" Type="http://schemas.openxmlformats.org/officeDocument/2006/relationships/tags" Target="../tags/tag135.xml"/><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tags" Target="../tags/tag123.xml"/></Relationships>
</file>

<file path=ppt/slides/_rels/slide23.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2" Type="http://schemas.openxmlformats.org/officeDocument/2006/relationships/slideLayout" Target="../slideLayouts/slideLayout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tags" Target="../tags/tag14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7" Type="http://schemas.openxmlformats.org/officeDocument/2006/relationships/slideLayout" Target="../slideLayouts/slideLayout3.xml"/><Relationship Id="rId26" Type="http://schemas.openxmlformats.org/officeDocument/2006/relationships/tags" Target="../tags/tag179.xml"/><Relationship Id="rId25" Type="http://schemas.openxmlformats.org/officeDocument/2006/relationships/tags" Target="../tags/tag178.xml"/><Relationship Id="rId24" Type="http://schemas.openxmlformats.org/officeDocument/2006/relationships/tags" Target="../tags/tag177.xml"/><Relationship Id="rId23" Type="http://schemas.openxmlformats.org/officeDocument/2006/relationships/tags" Target="../tags/tag176.xml"/><Relationship Id="rId22" Type="http://schemas.openxmlformats.org/officeDocument/2006/relationships/tags" Target="../tags/tag175.xml"/><Relationship Id="rId21" Type="http://schemas.openxmlformats.org/officeDocument/2006/relationships/tags" Target="../tags/tag174.xml"/><Relationship Id="rId20" Type="http://schemas.openxmlformats.org/officeDocument/2006/relationships/tags" Target="../tags/tag173.xml"/><Relationship Id="rId2" Type="http://schemas.openxmlformats.org/officeDocument/2006/relationships/tags" Target="../tags/tag155.xml"/><Relationship Id="rId19" Type="http://schemas.openxmlformats.org/officeDocument/2006/relationships/tags" Target="../tags/tag172.xml"/><Relationship Id="rId18" Type="http://schemas.openxmlformats.org/officeDocument/2006/relationships/tags" Target="../tags/tag171.xml"/><Relationship Id="rId17" Type="http://schemas.openxmlformats.org/officeDocument/2006/relationships/tags" Target="../tags/tag170.xml"/><Relationship Id="rId16" Type="http://schemas.openxmlformats.org/officeDocument/2006/relationships/tags" Target="../tags/tag169.xml"/><Relationship Id="rId15" Type="http://schemas.openxmlformats.org/officeDocument/2006/relationships/tags" Target="../tags/tag168.xml"/><Relationship Id="rId14" Type="http://schemas.openxmlformats.org/officeDocument/2006/relationships/tags" Target="../tags/tag167.xml"/><Relationship Id="rId13" Type="http://schemas.openxmlformats.org/officeDocument/2006/relationships/tags" Target="../tags/tag166.xml"/><Relationship Id="rId12" Type="http://schemas.openxmlformats.org/officeDocument/2006/relationships/tags" Target="../tags/tag16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tags" Target="../tags/tag15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81.xml"/><Relationship Id="rId1" Type="http://schemas.openxmlformats.org/officeDocument/2006/relationships/tags" Target="../tags/tag18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8" Type="http://schemas.openxmlformats.org/officeDocument/2006/relationships/slideLayout" Target="../slideLayouts/slideLayout3.xml"/><Relationship Id="rId17" Type="http://schemas.openxmlformats.org/officeDocument/2006/relationships/tags" Target="../tags/tag198.xml"/><Relationship Id="rId16" Type="http://schemas.openxmlformats.org/officeDocument/2006/relationships/tags" Target="../tags/tag197.xml"/><Relationship Id="rId15" Type="http://schemas.openxmlformats.org/officeDocument/2006/relationships/tags" Target="../tags/tag196.xml"/><Relationship Id="rId14" Type="http://schemas.openxmlformats.org/officeDocument/2006/relationships/tags" Target="../tags/tag195.xml"/><Relationship Id="rId13" Type="http://schemas.openxmlformats.org/officeDocument/2006/relationships/tags" Target="../tags/tag194.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2.xml"/></Relationships>
</file>

<file path=ppt/slides/_rels/slide32.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7" Type="http://schemas.openxmlformats.org/officeDocument/2006/relationships/slideLayout" Target="../slideLayouts/slideLayout3.xml"/><Relationship Id="rId16" Type="http://schemas.openxmlformats.org/officeDocument/2006/relationships/tags" Target="../tags/tag214.xml"/><Relationship Id="rId15" Type="http://schemas.openxmlformats.org/officeDocument/2006/relationships/tags" Target="../tags/tag213.xml"/><Relationship Id="rId14" Type="http://schemas.openxmlformats.org/officeDocument/2006/relationships/tags" Target="../tags/tag212.xml"/><Relationship Id="rId13" Type="http://schemas.openxmlformats.org/officeDocument/2006/relationships/tags" Target="../tags/tag211.xml"/><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199.xml"/></Relationships>
</file>

<file path=ppt/slides/_rels/slide33.xml.rels><?xml version="1.0" encoding="UTF-8" standalone="yes"?>
<Relationships xmlns="http://schemas.openxmlformats.org/package/2006/relationships"><Relationship Id="rId9" Type="http://schemas.openxmlformats.org/officeDocument/2006/relationships/tags" Target="../tags/tag223.xml"/><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6" Type="http://schemas.openxmlformats.org/officeDocument/2006/relationships/slideLayout" Target="../slideLayouts/slideLayout3.xml"/><Relationship Id="rId15" Type="http://schemas.openxmlformats.org/officeDocument/2006/relationships/tags" Target="../tags/tag229.xml"/><Relationship Id="rId14" Type="http://schemas.openxmlformats.org/officeDocument/2006/relationships/tags" Target="../tags/tag228.xml"/><Relationship Id="rId13" Type="http://schemas.openxmlformats.org/officeDocument/2006/relationships/tags" Target="../tags/tag227.xml"/><Relationship Id="rId12" Type="http://schemas.openxmlformats.org/officeDocument/2006/relationships/tags" Target="../tags/tag226.xml"/><Relationship Id="rId11" Type="http://schemas.openxmlformats.org/officeDocument/2006/relationships/tags" Target="../tags/tag225.xml"/><Relationship Id="rId10" Type="http://schemas.openxmlformats.org/officeDocument/2006/relationships/tags" Target="../tags/tag224.xml"/><Relationship Id="rId1" Type="http://schemas.openxmlformats.org/officeDocument/2006/relationships/tags" Target="../tags/tag215.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9" Type="http://schemas.openxmlformats.org/officeDocument/2006/relationships/tags" Target="../tags/tag242.xml"/><Relationship Id="rId8" Type="http://schemas.openxmlformats.org/officeDocument/2006/relationships/tags" Target="../tags/tag241.xml"/><Relationship Id="rId7" Type="http://schemas.openxmlformats.org/officeDocument/2006/relationships/tags" Target="../tags/tag240.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6" Type="http://schemas.openxmlformats.org/officeDocument/2006/relationships/slideLayout" Target="../slideLayouts/slideLayout3.xml"/><Relationship Id="rId35" Type="http://schemas.openxmlformats.org/officeDocument/2006/relationships/tags" Target="../tags/tag268.xml"/><Relationship Id="rId34" Type="http://schemas.openxmlformats.org/officeDocument/2006/relationships/tags" Target="../tags/tag267.xml"/><Relationship Id="rId33" Type="http://schemas.openxmlformats.org/officeDocument/2006/relationships/tags" Target="../tags/tag266.xml"/><Relationship Id="rId32" Type="http://schemas.openxmlformats.org/officeDocument/2006/relationships/tags" Target="../tags/tag265.xml"/><Relationship Id="rId31" Type="http://schemas.openxmlformats.org/officeDocument/2006/relationships/tags" Target="../tags/tag264.xml"/><Relationship Id="rId30" Type="http://schemas.openxmlformats.org/officeDocument/2006/relationships/tags" Target="../tags/tag263.xml"/><Relationship Id="rId3" Type="http://schemas.openxmlformats.org/officeDocument/2006/relationships/tags" Target="../tags/tag236.xml"/><Relationship Id="rId29" Type="http://schemas.openxmlformats.org/officeDocument/2006/relationships/tags" Target="../tags/tag262.xml"/><Relationship Id="rId28" Type="http://schemas.openxmlformats.org/officeDocument/2006/relationships/tags" Target="../tags/tag261.xml"/><Relationship Id="rId27" Type="http://schemas.openxmlformats.org/officeDocument/2006/relationships/tags" Target="../tags/tag260.xml"/><Relationship Id="rId26" Type="http://schemas.openxmlformats.org/officeDocument/2006/relationships/tags" Target="../tags/tag259.xml"/><Relationship Id="rId25" Type="http://schemas.openxmlformats.org/officeDocument/2006/relationships/tags" Target="../tags/tag258.xml"/><Relationship Id="rId24" Type="http://schemas.openxmlformats.org/officeDocument/2006/relationships/tags" Target="../tags/tag257.xml"/><Relationship Id="rId23" Type="http://schemas.openxmlformats.org/officeDocument/2006/relationships/tags" Target="../tags/tag256.xml"/><Relationship Id="rId22" Type="http://schemas.openxmlformats.org/officeDocument/2006/relationships/tags" Target="../tags/tag255.xml"/><Relationship Id="rId21" Type="http://schemas.openxmlformats.org/officeDocument/2006/relationships/tags" Target="../tags/tag254.xml"/><Relationship Id="rId20" Type="http://schemas.openxmlformats.org/officeDocument/2006/relationships/tags" Target="../tags/tag253.xml"/><Relationship Id="rId2" Type="http://schemas.openxmlformats.org/officeDocument/2006/relationships/tags" Target="../tags/tag235.xml"/><Relationship Id="rId19" Type="http://schemas.openxmlformats.org/officeDocument/2006/relationships/tags" Target="../tags/tag252.xml"/><Relationship Id="rId18" Type="http://schemas.openxmlformats.org/officeDocument/2006/relationships/tags" Target="../tags/tag251.xml"/><Relationship Id="rId17" Type="http://schemas.openxmlformats.org/officeDocument/2006/relationships/tags" Target="../tags/tag250.xml"/><Relationship Id="rId16" Type="http://schemas.openxmlformats.org/officeDocument/2006/relationships/tags" Target="../tags/tag249.xml"/><Relationship Id="rId15" Type="http://schemas.openxmlformats.org/officeDocument/2006/relationships/tags" Target="../tags/tag248.xml"/><Relationship Id="rId14" Type="http://schemas.openxmlformats.org/officeDocument/2006/relationships/tags" Target="../tags/tag247.xml"/><Relationship Id="rId13" Type="http://schemas.openxmlformats.org/officeDocument/2006/relationships/tags" Target="../tags/tag246.xml"/><Relationship Id="rId12" Type="http://schemas.openxmlformats.org/officeDocument/2006/relationships/tags" Target="../tags/tag245.xml"/><Relationship Id="rId11" Type="http://schemas.openxmlformats.org/officeDocument/2006/relationships/tags" Target="../tags/tag244.xml"/><Relationship Id="rId10" Type="http://schemas.openxmlformats.org/officeDocument/2006/relationships/tags" Target="../tags/tag243.xml"/><Relationship Id="rId1" Type="http://schemas.openxmlformats.org/officeDocument/2006/relationships/tags" Target="../tags/tag234.xml"/></Relationships>
</file>

<file path=ppt/slides/_rels/slide41.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tags" Target="../tags/tag274.xml"/><Relationship Id="rId5" Type="http://schemas.openxmlformats.org/officeDocument/2006/relationships/tags" Target="../tags/tag273.xml"/><Relationship Id="rId4" Type="http://schemas.openxmlformats.org/officeDocument/2006/relationships/tags" Target="../tags/tag272.xml"/><Relationship Id="rId32" Type="http://schemas.openxmlformats.org/officeDocument/2006/relationships/slideLayout" Target="../slideLayouts/slideLayout3.xml"/><Relationship Id="rId31" Type="http://schemas.openxmlformats.org/officeDocument/2006/relationships/tags" Target="../tags/tag299.xml"/><Relationship Id="rId30" Type="http://schemas.openxmlformats.org/officeDocument/2006/relationships/tags" Target="../tags/tag298.xml"/><Relationship Id="rId3" Type="http://schemas.openxmlformats.org/officeDocument/2006/relationships/tags" Target="../tags/tag271.xml"/><Relationship Id="rId29" Type="http://schemas.openxmlformats.org/officeDocument/2006/relationships/tags" Target="../tags/tag297.xml"/><Relationship Id="rId28" Type="http://schemas.openxmlformats.org/officeDocument/2006/relationships/tags" Target="../tags/tag296.xml"/><Relationship Id="rId27" Type="http://schemas.openxmlformats.org/officeDocument/2006/relationships/tags" Target="../tags/tag295.xml"/><Relationship Id="rId26" Type="http://schemas.openxmlformats.org/officeDocument/2006/relationships/tags" Target="../tags/tag294.xml"/><Relationship Id="rId25" Type="http://schemas.openxmlformats.org/officeDocument/2006/relationships/tags" Target="../tags/tag293.xml"/><Relationship Id="rId24" Type="http://schemas.openxmlformats.org/officeDocument/2006/relationships/tags" Target="../tags/tag292.xml"/><Relationship Id="rId23" Type="http://schemas.openxmlformats.org/officeDocument/2006/relationships/tags" Target="../tags/tag291.xml"/><Relationship Id="rId22" Type="http://schemas.openxmlformats.org/officeDocument/2006/relationships/tags" Target="../tags/tag290.xml"/><Relationship Id="rId21" Type="http://schemas.openxmlformats.org/officeDocument/2006/relationships/tags" Target="../tags/tag289.xml"/><Relationship Id="rId20" Type="http://schemas.openxmlformats.org/officeDocument/2006/relationships/tags" Target="../tags/tag288.xml"/><Relationship Id="rId2" Type="http://schemas.openxmlformats.org/officeDocument/2006/relationships/tags" Target="../tags/tag270.xml"/><Relationship Id="rId19" Type="http://schemas.openxmlformats.org/officeDocument/2006/relationships/tags" Target="../tags/tag287.xml"/><Relationship Id="rId18" Type="http://schemas.openxmlformats.org/officeDocument/2006/relationships/tags" Target="../tags/tag286.xml"/><Relationship Id="rId17" Type="http://schemas.openxmlformats.org/officeDocument/2006/relationships/tags" Target="../tags/tag285.xml"/><Relationship Id="rId16" Type="http://schemas.openxmlformats.org/officeDocument/2006/relationships/tags" Target="../tags/tag284.xml"/><Relationship Id="rId15" Type="http://schemas.openxmlformats.org/officeDocument/2006/relationships/tags" Target="../tags/tag283.xml"/><Relationship Id="rId14" Type="http://schemas.openxmlformats.org/officeDocument/2006/relationships/tags" Target="../tags/tag282.xml"/><Relationship Id="rId13" Type="http://schemas.openxmlformats.org/officeDocument/2006/relationships/tags" Target="../tags/tag281.xml"/><Relationship Id="rId12" Type="http://schemas.openxmlformats.org/officeDocument/2006/relationships/tags" Target="../tags/tag280.xml"/><Relationship Id="rId11" Type="http://schemas.openxmlformats.org/officeDocument/2006/relationships/tags" Target="../tags/tag279.xml"/><Relationship Id="rId10" Type="http://schemas.openxmlformats.org/officeDocument/2006/relationships/tags" Target="../tags/tag278.xml"/><Relationship Id="rId1" Type="http://schemas.openxmlformats.org/officeDocument/2006/relationships/tags" Target="../tags/tag269.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02.xml"/><Relationship Id="rId1" Type="http://schemas.openxmlformats.org/officeDocument/2006/relationships/tags" Target="../tags/tag30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21970" y="299720"/>
            <a:ext cx="11230610" cy="6337935"/>
          </a:xfrm>
          <a:prstGeom prst="rect">
            <a:avLst/>
          </a:prstGeom>
          <a:solidFill>
            <a:srgbClr val="034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sp>
        <p:nvSpPr>
          <p:cNvPr id="5" name="矩形 4"/>
          <p:cNvSpPr/>
          <p:nvPr/>
        </p:nvSpPr>
        <p:spPr>
          <a:xfrm>
            <a:off x="872490" y="789940"/>
            <a:ext cx="10549890" cy="5358130"/>
          </a:xfrm>
          <a:prstGeom prst="rect">
            <a:avLst/>
          </a:prstGeom>
          <a:solidFill>
            <a:schemeClr val="bg1"/>
          </a:solidFill>
          <a:ln>
            <a:noFill/>
          </a:ln>
          <a:effectLst>
            <a:outerShdw blurRad="188232" sx="104000" sy="104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cs typeface="等线 Light" panose="02010600030101010101" charset="-122"/>
            </a:endParaRPr>
          </a:p>
        </p:txBody>
      </p:sp>
      <p:pic>
        <p:nvPicPr>
          <p:cNvPr id="1026" name="Picture 2" descr="西北工业大学- 维基百科，自由的百科全书"/>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5342890" y="725805"/>
            <a:ext cx="1831340" cy="183134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767330" y="2722245"/>
            <a:ext cx="7194550" cy="706755"/>
          </a:xfrm>
          <a:prstGeom prst="rect">
            <a:avLst/>
          </a:prstGeom>
          <a:noFill/>
        </p:spPr>
        <p:txBody>
          <a:bodyPr wrap="square" rtlCol="0">
            <a:spAutoFit/>
          </a:bodyPr>
          <a:lstStyle/>
          <a:p>
            <a:pPr algn="dist"/>
            <a:r>
              <a:rPr kumimoji="1" lang="zh-CN" altLang="en-US" sz="4000" b="1" dirty="0">
                <a:solidFill>
                  <a:srgbClr val="034DA0"/>
                </a:solidFill>
                <a:latin typeface="+mn-ea"/>
                <a:cs typeface="等线 Light" panose="02010600030101010101" charset="-122"/>
                <a:sym typeface="+mn-ea"/>
              </a:rPr>
              <a:t>编译原理</a:t>
            </a:r>
            <a:endParaRPr kumimoji="1" lang="zh-CN" altLang="en-US" sz="4000" b="1" dirty="0">
              <a:solidFill>
                <a:srgbClr val="034DA0"/>
              </a:solidFill>
              <a:latin typeface="+mn-ea"/>
              <a:cs typeface="等线 Light" panose="02010600030101010101" charset="-122"/>
              <a:sym typeface="+mn-ea"/>
            </a:endParaRPr>
          </a:p>
        </p:txBody>
      </p:sp>
      <p:cxnSp>
        <p:nvCxnSpPr>
          <p:cNvPr id="8" name="直线连接符 7"/>
          <p:cNvCxnSpPr/>
          <p:nvPr/>
        </p:nvCxnSpPr>
        <p:spPr>
          <a:xfrm flipV="1">
            <a:off x="2367330" y="3429151"/>
            <a:ext cx="8088630" cy="1397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367280" y="3538220"/>
            <a:ext cx="8289925" cy="2306955"/>
          </a:xfrm>
          <a:prstGeom prst="rect">
            <a:avLst/>
          </a:prstGeom>
          <a:noFill/>
        </p:spPr>
        <p:txBody>
          <a:bodyPr wrap="square" rtlCol="0">
            <a:spAutoFit/>
          </a:bodyPr>
          <a:lstStyle/>
          <a:p>
            <a:pPr algn="l">
              <a:lnSpc>
                <a:spcPct val="150000"/>
              </a:lnSpc>
            </a:pPr>
            <a:r>
              <a:rPr kumimoji="1" lang="zh-CN" altLang="en-US" sz="3200" b="1" dirty="0">
                <a:solidFill>
                  <a:schemeClr val="tx1">
                    <a:lumMod val="65000"/>
                    <a:lumOff val="35000"/>
                  </a:schemeClr>
                </a:solidFill>
                <a:latin typeface="+mn-ea"/>
                <a:cs typeface="+mn-ea"/>
              </a:rPr>
              <a:t>授课教师：马春燕    </a:t>
            </a:r>
            <a:r>
              <a:rPr kumimoji="1" lang="en-US" altLang="zh-CN" sz="3200" b="1" dirty="0">
                <a:solidFill>
                  <a:schemeClr val="tx1">
                    <a:lumMod val="65000"/>
                    <a:lumOff val="35000"/>
                  </a:schemeClr>
                </a:solidFill>
                <a:latin typeface="+mn-ea"/>
                <a:cs typeface="+mn-ea"/>
              </a:rPr>
              <a:t> </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邮箱：</a:t>
            </a:r>
            <a:r>
              <a:rPr kumimoji="1" lang="en-US" altLang="zh-CN" sz="3200" b="1" dirty="0">
                <a:solidFill>
                  <a:schemeClr val="tx1">
                    <a:lumMod val="65000"/>
                    <a:lumOff val="35000"/>
                  </a:schemeClr>
                </a:solidFill>
                <a:latin typeface="+mn-ea"/>
                <a:cs typeface="+mn-ea"/>
              </a:rPr>
              <a:t>machunyan @nwpu.edu.cn</a:t>
            </a:r>
            <a:endParaRPr kumimoji="1" lang="zh-CN" altLang="en-US" sz="3200" b="1" dirty="0">
              <a:solidFill>
                <a:schemeClr val="tx1">
                  <a:lumMod val="65000"/>
                  <a:lumOff val="35000"/>
                </a:schemeClr>
              </a:solidFill>
              <a:latin typeface="+mn-ea"/>
              <a:cs typeface="+mn-ea"/>
            </a:endParaRPr>
          </a:p>
          <a:p>
            <a:pPr>
              <a:lnSpc>
                <a:spcPct val="150000"/>
              </a:lnSpc>
            </a:pPr>
            <a:r>
              <a:rPr kumimoji="1" lang="zh-CN" altLang="en-US" sz="3200" b="1" dirty="0">
                <a:solidFill>
                  <a:schemeClr val="tx1">
                    <a:lumMod val="65000"/>
                    <a:lumOff val="35000"/>
                  </a:schemeClr>
                </a:solidFill>
                <a:latin typeface="+mn-ea"/>
                <a:cs typeface="+mn-ea"/>
              </a:rPr>
              <a:t>手机：</a:t>
            </a:r>
            <a:r>
              <a:rPr kumimoji="1" lang="en-US" altLang="zh-CN" sz="3200" b="1" dirty="0">
                <a:solidFill>
                  <a:schemeClr val="tx1">
                    <a:lumMod val="65000"/>
                    <a:lumOff val="35000"/>
                  </a:schemeClr>
                </a:solidFill>
                <a:latin typeface="+mn-ea"/>
                <a:cs typeface="+mn-ea"/>
              </a:rPr>
              <a:t>13991282722      </a:t>
            </a:r>
            <a:r>
              <a:rPr kumimoji="1" lang="en-US" altLang="zh-CN" sz="2000" b="1" dirty="0">
                <a:solidFill>
                  <a:schemeClr val="tx1">
                    <a:lumMod val="65000"/>
                    <a:lumOff val="35000"/>
                  </a:schemeClr>
                </a:solidFill>
                <a:latin typeface="+mn-ea"/>
                <a:cs typeface="+mn-ea"/>
              </a:rPr>
              <a:t>   </a:t>
            </a:r>
            <a:endParaRPr kumimoji="1" lang="en-US" altLang="zh-CN" sz="2000" b="1" dirty="0">
              <a:solidFill>
                <a:schemeClr val="tx1">
                  <a:lumMod val="65000"/>
                  <a:lumOff val="35000"/>
                </a:schemeClr>
              </a:solidFill>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8625" y="276860"/>
            <a:ext cx="6178550" cy="593090"/>
          </a:xfrm>
        </p:spPr>
        <p:txBody>
          <a:bodyPr/>
          <a:lstStyle/>
          <a:p>
            <a:r>
              <a:rPr lang="zh-CN" altLang="en-US" dirty="0"/>
              <a:t>编译器逻辑结构的组成</a:t>
            </a:r>
            <a:endParaRPr lang="zh-CN" altLang="en-US" dirty="0"/>
          </a:p>
        </p:txBody>
      </p:sp>
      <p:sp useBgFill="1">
        <p:nvSpPr>
          <p:cNvPr id="30722" name="Rectangle 33"/>
          <p:cNvSpPr/>
          <p:nvPr/>
        </p:nvSpPr>
        <p:spPr>
          <a:xfrm>
            <a:off x="2084705" y="1642110"/>
            <a:ext cx="8075930" cy="4227195"/>
          </a:xfrm>
          <a:prstGeom prst="rect">
            <a:avLst/>
          </a:prstGeom>
          <a:ln w="38100" cap="rnd" cmpd="sng">
            <a:solidFill>
              <a:schemeClr val="tx1"/>
            </a:solidFill>
            <a:prstDash val="sysDot"/>
            <a:miter/>
            <a:headEnd type="none" w="med" len="med"/>
            <a:tailEnd type="none" w="med" len="med"/>
          </a:ln>
        </p:spPr>
        <p:txBody>
          <a:bodyPr wrap="none" anchor="ctr" anchorCtr="0"/>
          <a:p>
            <a:pPr>
              <a:lnSpc>
                <a:spcPct val="75000"/>
              </a:lnSpc>
              <a:spcBef>
                <a:spcPct val="20000"/>
              </a:spcBef>
              <a:buClr>
                <a:schemeClr val="accent2"/>
              </a:buClr>
            </a:pPr>
            <a:endParaRPr lang="zh-CN" altLang="en-US" sz="2800" b="1" dirty="0">
              <a:latin typeface="Times New Roman" panose="02020603050405020304" pitchFamily="18" charset="0"/>
              <a:ea typeface="宋体" panose="02010600030101010101" pitchFamily="2" charset="-122"/>
              <a:cs typeface="等线 Light" panose="02010600030101010101" charset="-122"/>
            </a:endParaRPr>
          </a:p>
        </p:txBody>
      </p:sp>
      <p:sp useBgFill="1">
        <p:nvSpPr>
          <p:cNvPr id="30724" name="Text Box 3">
            <a:hlinkClick r:id="rId1" action="ppaction://hlinksldjump"/>
          </p:cNvPr>
          <p:cNvSpPr txBox="1"/>
          <p:nvPr/>
        </p:nvSpPr>
        <p:spPr>
          <a:xfrm>
            <a:off x="2457450" y="3256280"/>
            <a:ext cx="609600" cy="2030095"/>
          </a:xfrm>
          <a:prstGeom prst="rect">
            <a:avLst/>
          </a:prstGeom>
          <a:ln w="28575" cap="flat" cmpd="sng">
            <a:solidFill>
              <a:schemeClr val="tx1"/>
            </a:solidFill>
            <a:prstDash val="solid"/>
            <a:miter/>
            <a:headEnd type="none" w="med" len="med"/>
            <a:tailEnd type="none" w="med" len="med"/>
          </a:ln>
        </p:spPr>
        <p:txBody>
          <a:bodyPr anchor="t" anchorCtr="0">
            <a:spAutoFit/>
          </a:bodyPr>
          <a:p>
            <a:pPr>
              <a:lnSpc>
                <a:spcPct val="75000"/>
              </a:lnSpc>
              <a:spcBef>
                <a:spcPct val="5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词法分析程序</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25" name="Text Box 4"/>
          <p:cNvSpPr txBox="1"/>
          <p:nvPr/>
        </p:nvSpPr>
        <p:spPr>
          <a:xfrm>
            <a:off x="3768090" y="3307715"/>
            <a:ext cx="533400" cy="2030095"/>
          </a:xfrm>
          <a:prstGeom prst="rect">
            <a:avLst/>
          </a:prstGeom>
          <a:ln w="28575" cap="flat" cmpd="sng">
            <a:solidFill>
              <a:schemeClr val="tx1"/>
            </a:solidFill>
            <a:prstDash val="solid"/>
            <a:miter/>
            <a:headEnd type="none" w="med" len="med"/>
            <a:tailEnd type="none" w="med" len="med"/>
          </a:ln>
        </p:spPr>
        <p:txBody>
          <a:bodyPr anchor="t" anchorCtr="0">
            <a:spAutoFit/>
          </a:bodyPr>
          <a:p>
            <a:pPr>
              <a:lnSpc>
                <a:spcPct val="75000"/>
              </a:lnSpc>
              <a:spcBef>
                <a:spcPct val="5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语法分析程序</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26" name="Text Box 5"/>
          <p:cNvSpPr txBox="1"/>
          <p:nvPr/>
        </p:nvSpPr>
        <p:spPr>
          <a:xfrm>
            <a:off x="5038090" y="3256280"/>
            <a:ext cx="533400" cy="2030095"/>
          </a:xfrm>
          <a:prstGeom prst="rect">
            <a:avLst/>
          </a:prstGeom>
          <a:ln w="28575" cap="flat" cmpd="sng">
            <a:solidFill>
              <a:schemeClr val="tx1"/>
            </a:solidFill>
            <a:prstDash val="solid"/>
            <a:miter/>
            <a:headEnd type="none" w="med" len="med"/>
            <a:tailEnd type="none" w="med" len="med"/>
          </a:ln>
        </p:spPr>
        <p:txBody>
          <a:bodyPr anchor="t" anchorCtr="0">
            <a:spAutoFit/>
          </a:bodyPr>
          <a:p>
            <a:pPr>
              <a:lnSpc>
                <a:spcPct val="75000"/>
              </a:lnSpc>
              <a:spcBef>
                <a:spcPct val="5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语义分析程序</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27" name="Text Box 6">
            <a:hlinkClick r:id="rId1" action="ppaction://hlinksldjump"/>
          </p:cNvPr>
          <p:cNvSpPr txBox="1"/>
          <p:nvPr/>
        </p:nvSpPr>
        <p:spPr>
          <a:xfrm>
            <a:off x="6353810" y="3256280"/>
            <a:ext cx="533400" cy="2030095"/>
          </a:xfrm>
          <a:prstGeom prst="rect">
            <a:avLst/>
          </a:prstGeom>
          <a:ln w="28575" cap="flat" cmpd="sng">
            <a:solidFill>
              <a:schemeClr val="tx1"/>
            </a:solidFill>
            <a:prstDash val="solid"/>
            <a:miter/>
            <a:headEnd type="none" w="med" len="med"/>
            <a:tailEnd type="none" w="med" len="med"/>
          </a:ln>
        </p:spPr>
        <p:txBody>
          <a:bodyPr anchor="t" anchorCtr="0">
            <a:spAutoFit/>
          </a:bodyPr>
          <a:p>
            <a:pPr>
              <a:lnSpc>
                <a:spcPct val="75000"/>
              </a:lnSpc>
              <a:spcBef>
                <a:spcPct val="50000"/>
              </a:spcBef>
              <a:buClr>
                <a:schemeClr val="accent2"/>
              </a:buClr>
            </a:pPr>
            <a:r>
              <a:rPr lang="zh-CN" altLang="en-US" sz="2800" b="1" dirty="0">
                <a:solidFill>
                  <a:srgbClr val="0070C0"/>
                </a:solidFill>
                <a:latin typeface="Times New Roman" panose="02020603050405020304" pitchFamily="18" charset="0"/>
                <a:ea typeface="宋体" panose="02010600030101010101" pitchFamily="2" charset="-122"/>
                <a:cs typeface="等线 Light" panose="02010600030101010101" charset="-122"/>
              </a:rPr>
              <a:t>中间代码生成</a:t>
            </a:r>
            <a:endParaRPr lang="zh-CN" altLang="en-US" sz="2800" b="1" dirty="0">
              <a:solidFill>
                <a:srgbClr val="0070C0"/>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28" name="Text Box 7"/>
          <p:cNvSpPr txBox="1"/>
          <p:nvPr/>
        </p:nvSpPr>
        <p:spPr>
          <a:xfrm>
            <a:off x="7771130" y="3256280"/>
            <a:ext cx="533400" cy="2030095"/>
          </a:xfrm>
          <a:prstGeom prst="rect">
            <a:avLst/>
          </a:prstGeom>
          <a:ln w="28575" cap="flat" cmpd="sng">
            <a:solidFill>
              <a:schemeClr val="tx1"/>
            </a:solidFill>
            <a:prstDash val="solid"/>
            <a:miter/>
            <a:headEnd type="none" w="med" len="med"/>
            <a:tailEnd type="none" w="med" len="med"/>
          </a:ln>
        </p:spPr>
        <p:txBody>
          <a:bodyPr anchor="t" anchorCtr="0">
            <a:spAutoFit/>
          </a:bodyPr>
          <a:p>
            <a:pPr>
              <a:lnSpc>
                <a:spcPct val="75000"/>
              </a:lnSpc>
              <a:spcBef>
                <a:spcPct val="5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代码优化程序</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29" name="Text Box 8"/>
          <p:cNvSpPr txBox="1"/>
          <p:nvPr/>
        </p:nvSpPr>
        <p:spPr>
          <a:xfrm>
            <a:off x="9140190" y="3256280"/>
            <a:ext cx="533400" cy="2030095"/>
          </a:xfrm>
          <a:prstGeom prst="rect">
            <a:avLst/>
          </a:prstGeom>
          <a:ln w="28575" cap="flat" cmpd="sng">
            <a:solidFill>
              <a:schemeClr val="tx1"/>
            </a:solidFill>
            <a:prstDash val="solid"/>
            <a:miter/>
            <a:headEnd type="none" w="med" len="med"/>
            <a:tailEnd type="none" w="med" len="med"/>
          </a:ln>
        </p:spPr>
        <p:txBody>
          <a:bodyPr anchor="t" anchorCtr="0">
            <a:spAutoFit/>
          </a:bodyPr>
          <a:p>
            <a:pPr>
              <a:lnSpc>
                <a:spcPct val="75000"/>
              </a:lnSpc>
              <a:spcBef>
                <a:spcPct val="5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目标代码生成</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30" name="AutoShape 9"/>
          <p:cNvSpPr/>
          <p:nvPr/>
        </p:nvSpPr>
        <p:spPr>
          <a:xfrm>
            <a:off x="680085" y="3446463"/>
            <a:ext cx="838200" cy="1524000"/>
          </a:xfrm>
          <a:prstGeom prst="parallelogram">
            <a:avLst>
              <a:gd name="adj" fmla="val 25000"/>
            </a:avLst>
          </a:prstGeom>
          <a:ln w="28575" cap="flat" cmpd="sng">
            <a:solidFill>
              <a:schemeClr val="tx1"/>
            </a:solidFill>
            <a:prstDash val="solid"/>
            <a:miter/>
            <a:headEnd type="none" w="med" len="med"/>
            <a:tailEnd type="none" w="med" len="med"/>
          </a:ln>
        </p:spPr>
        <p:txBody>
          <a:bodyPr wrap="none" anchor="ctr" anchorCtr="0"/>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源</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代</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码</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31" name="AutoShape 10"/>
          <p:cNvSpPr/>
          <p:nvPr/>
        </p:nvSpPr>
        <p:spPr>
          <a:xfrm>
            <a:off x="10702290" y="3194050"/>
            <a:ext cx="609600" cy="1905000"/>
          </a:xfrm>
          <a:prstGeom prst="parallelogram">
            <a:avLst>
              <a:gd name="adj" fmla="val 25000"/>
            </a:avLst>
          </a:prstGeom>
          <a:ln w="28575" cap="flat" cmpd="sng">
            <a:solidFill>
              <a:schemeClr val="tx1"/>
            </a:solidFill>
            <a:prstDash val="solid"/>
            <a:miter/>
            <a:headEnd type="none" w="med" len="med"/>
            <a:tailEnd type="none" w="med" len="med"/>
          </a:ln>
        </p:spPr>
        <p:txBody>
          <a:bodyPr wrap="none" anchor="ctr" anchorCtr="0"/>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目</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标</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代</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a:p>
            <a:pPr algn="ctr">
              <a:lnSpc>
                <a:spcPct val="75000"/>
              </a:lnSpc>
              <a:spcBef>
                <a:spcPct val="20000"/>
              </a:spcBef>
              <a:buClr>
                <a:schemeClr val="accent2"/>
              </a:buClr>
            </a:pPr>
            <a:r>
              <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rPr>
              <a:t>码</a:t>
            </a:r>
            <a:endParaRPr lang="zh-CN" altLang="en-US" sz="2800" b="1" dirty="0">
              <a:solidFill>
                <a:srgbClr val="21212D"/>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32" name="AutoShape 11"/>
          <p:cNvSpPr/>
          <p:nvPr/>
        </p:nvSpPr>
        <p:spPr>
          <a:xfrm>
            <a:off x="3082290" y="1732280"/>
            <a:ext cx="1524000" cy="533400"/>
          </a:xfrm>
          <a:prstGeom prst="roundRect">
            <a:avLst>
              <a:gd name="adj" fmla="val 16667"/>
            </a:avLst>
          </a:prstGeom>
          <a:ln w="25400" cap="flat" cmpd="sng">
            <a:solidFill>
              <a:schemeClr val="tx1"/>
            </a:solidFill>
            <a:prstDash val="solid"/>
            <a:miter/>
            <a:headEnd type="none" w="med" len="med"/>
            <a:tailEnd type="none" w="med" len="med"/>
          </a:ln>
        </p:spPr>
        <p:txBody>
          <a:bodyPr wrap="none" anchor="ctr" anchorCtr="0"/>
          <a:p>
            <a:pPr algn="ctr">
              <a:lnSpc>
                <a:spcPct val="75000"/>
              </a:lnSpc>
              <a:spcBef>
                <a:spcPct val="2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常数表</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33" name="AutoShape 12"/>
          <p:cNvSpPr/>
          <p:nvPr/>
        </p:nvSpPr>
        <p:spPr>
          <a:xfrm>
            <a:off x="4758690" y="1732280"/>
            <a:ext cx="1371600" cy="533400"/>
          </a:xfrm>
          <a:prstGeom prst="roundRect">
            <a:avLst>
              <a:gd name="adj" fmla="val 16667"/>
            </a:avLst>
          </a:prstGeom>
          <a:ln w="25400" cap="flat" cmpd="sng">
            <a:solidFill>
              <a:schemeClr val="tx1"/>
            </a:solidFill>
            <a:prstDash val="solid"/>
            <a:miter/>
            <a:headEnd type="none" w="med" len="med"/>
            <a:tailEnd type="none" w="med" len="med"/>
          </a:ln>
        </p:spPr>
        <p:txBody>
          <a:bodyPr wrap="none" anchor="ctr" anchorCtr="0"/>
          <a:p>
            <a:pPr algn="ctr">
              <a:lnSpc>
                <a:spcPct val="75000"/>
              </a:lnSpc>
              <a:spcBef>
                <a:spcPct val="2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符号表</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useBgFill="1">
        <p:nvSpPr>
          <p:cNvPr id="30734" name="AutoShape 13"/>
          <p:cNvSpPr/>
          <p:nvPr/>
        </p:nvSpPr>
        <p:spPr>
          <a:xfrm>
            <a:off x="6206490" y="1732280"/>
            <a:ext cx="2016125" cy="533400"/>
          </a:xfrm>
          <a:prstGeom prst="roundRect">
            <a:avLst>
              <a:gd name="adj" fmla="val 16667"/>
            </a:avLst>
          </a:prstGeom>
          <a:ln w="25400" cap="flat" cmpd="sng">
            <a:solidFill>
              <a:schemeClr val="tx1"/>
            </a:solidFill>
            <a:prstDash val="solid"/>
            <a:miter/>
            <a:headEnd type="none" w="med" len="med"/>
            <a:tailEnd type="none" w="med" len="med"/>
          </a:ln>
        </p:spPr>
        <p:txBody>
          <a:bodyPr wrap="none" anchor="ctr" anchorCtr="0"/>
          <a:p>
            <a:pPr algn="ctr">
              <a:lnSpc>
                <a:spcPct val="75000"/>
              </a:lnSpc>
              <a:spcBef>
                <a:spcPct val="20000"/>
              </a:spcBef>
              <a:buClr>
                <a:schemeClr val="accent2"/>
              </a:buClr>
            </a:pPr>
            <a:r>
              <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rPr>
              <a:t>错误处理器</a:t>
            </a:r>
            <a:endParaRPr lang="zh-CN" altLang="en-US" sz="2800" b="1" dirty="0">
              <a:solidFill>
                <a:srgbClr val="FF0066"/>
              </a:solidFill>
              <a:latin typeface="Times New Roman" panose="02020603050405020304" pitchFamily="18" charset="0"/>
              <a:ea typeface="宋体" panose="02010600030101010101" pitchFamily="2" charset="-122"/>
              <a:cs typeface="等线 Light" panose="02010600030101010101" charset="-122"/>
            </a:endParaRPr>
          </a:p>
        </p:txBody>
      </p:sp>
      <p:sp>
        <p:nvSpPr>
          <p:cNvPr id="30735" name="Line 14"/>
          <p:cNvSpPr/>
          <p:nvPr/>
        </p:nvSpPr>
        <p:spPr>
          <a:xfrm>
            <a:off x="1423035" y="4327525"/>
            <a:ext cx="609600" cy="0"/>
          </a:xfrm>
          <a:prstGeom prst="line">
            <a:avLst/>
          </a:prstGeom>
          <a:ln w="28575" cap="flat" cmpd="sng">
            <a:solidFill>
              <a:schemeClr val="tx1"/>
            </a:solidFill>
            <a:prstDash val="solid"/>
            <a:miter/>
            <a:headEnd type="none" w="med" len="med"/>
            <a:tailEnd type="triangle" w="med" len="med"/>
          </a:ln>
        </p:spPr>
      </p:sp>
      <p:sp>
        <p:nvSpPr>
          <p:cNvPr id="30736" name="Line 15"/>
          <p:cNvSpPr/>
          <p:nvPr/>
        </p:nvSpPr>
        <p:spPr>
          <a:xfrm>
            <a:off x="3067050" y="4323080"/>
            <a:ext cx="596265" cy="635"/>
          </a:xfrm>
          <a:prstGeom prst="line">
            <a:avLst/>
          </a:prstGeom>
          <a:ln w="28575" cap="flat" cmpd="sng">
            <a:solidFill>
              <a:schemeClr val="tx1"/>
            </a:solidFill>
            <a:prstDash val="solid"/>
            <a:miter/>
            <a:headEnd type="none" w="med" len="med"/>
            <a:tailEnd type="triangle" w="med" len="med"/>
          </a:ln>
        </p:spPr>
      </p:sp>
      <p:sp>
        <p:nvSpPr>
          <p:cNvPr id="30737" name="Line 16"/>
          <p:cNvSpPr/>
          <p:nvPr/>
        </p:nvSpPr>
        <p:spPr>
          <a:xfrm flipV="1">
            <a:off x="4342765" y="4323715"/>
            <a:ext cx="673100" cy="635"/>
          </a:xfrm>
          <a:prstGeom prst="line">
            <a:avLst/>
          </a:prstGeom>
          <a:ln w="28575" cap="flat" cmpd="sng">
            <a:solidFill>
              <a:schemeClr val="tx1"/>
            </a:solidFill>
            <a:prstDash val="solid"/>
            <a:miter/>
            <a:headEnd type="none" w="med" len="med"/>
            <a:tailEnd type="triangle" w="med" len="med"/>
          </a:ln>
        </p:spPr>
      </p:sp>
      <p:sp>
        <p:nvSpPr>
          <p:cNvPr id="30738" name="Line 17"/>
          <p:cNvSpPr/>
          <p:nvPr/>
        </p:nvSpPr>
        <p:spPr>
          <a:xfrm>
            <a:off x="5615305" y="4323080"/>
            <a:ext cx="641350" cy="635"/>
          </a:xfrm>
          <a:prstGeom prst="line">
            <a:avLst/>
          </a:prstGeom>
          <a:ln w="28575" cap="flat" cmpd="sng">
            <a:solidFill>
              <a:schemeClr val="tx1"/>
            </a:solidFill>
            <a:prstDash val="solid"/>
            <a:miter/>
            <a:headEnd type="none" w="med" len="med"/>
            <a:tailEnd type="triangle" w="med" len="med"/>
          </a:ln>
        </p:spPr>
      </p:sp>
      <p:sp>
        <p:nvSpPr>
          <p:cNvPr id="30739" name="Line 18"/>
          <p:cNvSpPr/>
          <p:nvPr/>
        </p:nvSpPr>
        <p:spPr>
          <a:xfrm flipV="1">
            <a:off x="6946265" y="4362450"/>
            <a:ext cx="713740" cy="635"/>
          </a:xfrm>
          <a:prstGeom prst="line">
            <a:avLst/>
          </a:prstGeom>
          <a:ln w="28575" cap="flat" cmpd="sng">
            <a:solidFill>
              <a:schemeClr val="tx1"/>
            </a:solidFill>
            <a:prstDash val="solid"/>
            <a:miter/>
            <a:headEnd type="none" w="med" len="med"/>
            <a:tailEnd type="triangle" w="med" len="med"/>
          </a:ln>
        </p:spPr>
      </p:sp>
      <p:sp>
        <p:nvSpPr>
          <p:cNvPr id="30740" name="Line 19"/>
          <p:cNvSpPr/>
          <p:nvPr/>
        </p:nvSpPr>
        <p:spPr>
          <a:xfrm flipV="1">
            <a:off x="8375650" y="4323715"/>
            <a:ext cx="707390" cy="3810"/>
          </a:xfrm>
          <a:prstGeom prst="line">
            <a:avLst/>
          </a:prstGeom>
          <a:ln w="28575" cap="flat" cmpd="sng">
            <a:solidFill>
              <a:schemeClr val="tx1"/>
            </a:solidFill>
            <a:prstDash val="solid"/>
            <a:miter/>
            <a:headEnd type="none" w="med" len="med"/>
            <a:tailEnd type="triangle" w="med" len="med"/>
          </a:ln>
        </p:spPr>
      </p:sp>
      <p:sp>
        <p:nvSpPr>
          <p:cNvPr id="30741" name="Line 20"/>
          <p:cNvSpPr/>
          <p:nvPr/>
        </p:nvSpPr>
        <p:spPr>
          <a:xfrm>
            <a:off x="10245090" y="4260850"/>
            <a:ext cx="533400" cy="0"/>
          </a:xfrm>
          <a:prstGeom prst="line">
            <a:avLst/>
          </a:prstGeom>
          <a:ln w="28575" cap="flat" cmpd="sng">
            <a:solidFill>
              <a:schemeClr val="tx1"/>
            </a:solidFill>
            <a:prstDash val="solid"/>
            <a:miter/>
            <a:headEnd type="none" w="med" len="med"/>
            <a:tailEnd type="triangle" w="med" len="med"/>
          </a:ln>
        </p:spPr>
      </p:sp>
      <p:sp>
        <p:nvSpPr>
          <p:cNvPr id="30742" name="Line 21"/>
          <p:cNvSpPr/>
          <p:nvPr/>
        </p:nvSpPr>
        <p:spPr>
          <a:xfrm>
            <a:off x="4072890" y="2265680"/>
            <a:ext cx="1371600" cy="457200"/>
          </a:xfrm>
          <a:prstGeom prst="line">
            <a:avLst/>
          </a:prstGeom>
          <a:ln w="12700" cap="flat" cmpd="sng">
            <a:solidFill>
              <a:schemeClr val="tx1"/>
            </a:solidFill>
            <a:prstDash val="solid"/>
            <a:miter/>
            <a:headEnd type="none" w="med" len="med"/>
            <a:tailEnd type="none" w="med" len="med"/>
          </a:ln>
        </p:spPr>
      </p:sp>
      <p:sp>
        <p:nvSpPr>
          <p:cNvPr id="30743" name="Line 22"/>
          <p:cNvSpPr/>
          <p:nvPr/>
        </p:nvSpPr>
        <p:spPr>
          <a:xfrm>
            <a:off x="5444490" y="2265680"/>
            <a:ext cx="0" cy="457200"/>
          </a:xfrm>
          <a:prstGeom prst="line">
            <a:avLst/>
          </a:prstGeom>
          <a:ln w="12700" cap="flat" cmpd="sng">
            <a:solidFill>
              <a:schemeClr val="tx1"/>
            </a:solidFill>
            <a:prstDash val="solid"/>
            <a:miter/>
            <a:headEnd type="none" w="med" len="med"/>
            <a:tailEnd type="none" w="med" len="med"/>
          </a:ln>
        </p:spPr>
      </p:sp>
      <p:sp>
        <p:nvSpPr>
          <p:cNvPr id="30744" name="Line 23"/>
          <p:cNvSpPr/>
          <p:nvPr/>
        </p:nvSpPr>
        <p:spPr>
          <a:xfrm flipV="1">
            <a:off x="5444490" y="2265680"/>
            <a:ext cx="1600200" cy="457200"/>
          </a:xfrm>
          <a:prstGeom prst="line">
            <a:avLst/>
          </a:prstGeom>
          <a:ln w="12700" cap="flat" cmpd="sng">
            <a:solidFill>
              <a:schemeClr val="tx1"/>
            </a:solidFill>
            <a:prstDash val="solid"/>
            <a:miter/>
            <a:headEnd type="none" w="med" len="med"/>
            <a:tailEnd type="none" w="med" len="med"/>
          </a:ln>
        </p:spPr>
      </p:sp>
      <p:sp>
        <p:nvSpPr>
          <p:cNvPr id="30745" name="Line 24"/>
          <p:cNvSpPr/>
          <p:nvPr/>
        </p:nvSpPr>
        <p:spPr>
          <a:xfrm flipV="1">
            <a:off x="2818130" y="2722880"/>
            <a:ext cx="2626360" cy="533400"/>
          </a:xfrm>
          <a:prstGeom prst="line">
            <a:avLst/>
          </a:prstGeom>
          <a:ln w="12700" cap="flat" cmpd="sng">
            <a:solidFill>
              <a:schemeClr val="tx1"/>
            </a:solidFill>
            <a:prstDash val="solid"/>
            <a:miter/>
            <a:headEnd type="none" w="med" len="med"/>
            <a:tailEnd type="none" w="med" len="med"/>
          </a:ln>
        </p:spPr>
      </p:sp>
      <p:sp>
        <p:nvSpPr>
          <p:cNvPr id="30746" name="Line 25"/>
          <p:cNvSpPr/>
          <p:nvPr/>
        </p:nvSpPr>
        <p:spPr>
          <a:xfrm flipV="1">
            <a:off x="3968750" y="2722245"/>
            <a:ext cx="1475105" cy="514985"/>
          </a:xfrm>
          <a:prstGeom prst="line">
            <a:avLst/>
          </a:prstGeom>
          <a:ln w="12700" cap="flat" cmpd="sng">
            <a:solidFill>
              <a:schemeClr val="tx1"/>
            </a:solidFill>
            <a:prstDash val="solid"/>
            <a:miter/>
            <a:headEnd type="none" w="med" len="med"/>
            <a:tailEnd type="none" w="med" len="med"/>
          </a:ln>
        </p:spPr>
      </p:sp>
      <p:sp>
        <p:nvSpPr>
          <p:cNvPr id="30747" name="Line 26"/>
          <p:cNvSpPr/>
          <p:nvPr/>
        </p:nvSpPr>
        <p:spPr>
          <a:xfrm flipH="1" flipV="1">
            <a:off x="5444490" y="2722880"/>
            <a:ext cx="0" cy="533400"/>
          </a:xfrm>
          <a:prstGeom prst="line">
            <a:avLst/>
          </a:prstGeom>
          <a:ln w="12700" cap="flat" cmpd="sng">
            <a:solidFill>
              <a:schemeClr val="tx1"/>
            </a:solidFill>
            <a:prstDash val="solid"/>
            <a:miter/>
            <a:headEnd type="none" w="med" len="med"/>
            <a:tailEnd type="none" w="med" len="med"/>
          </a:ln>
        </p:spPr>
      </p:sp>
      <p:sp>
        <p:nvSpPr>
          <p:cNvPr id="30748" name="Line 27"/>
          <p:cNvSpPr/>
          <p:nvPr/>
        </p:nvSpPr>
        <p:spPr>
          <a:xfrm flipH="1" flipV="1">
            <a:off x="5444490" y="2722880"/>
            <a:ext cx="1209675" cy="529590"/>
          </a:xfrm>
          <a:prstGeom prst="line">
            <a:avLst/>
          </a:prstGeom>
          <a:ln w="12700" cap="flat" cmpd="sng">
            <a:solidFill>
              <a:schemeClr val="tx1"/>
            </a:solidFill>
            <a:prstDash val="solid"/>
            <a:miter/>
            <a:headEnd type="none" w="med" len="med"/>
            <a:tailEnd type="none" w="med" len="med"/>
          </a:ln>
        </p:spPr>
      </p:sp>
      <p:sp>
        <p:nvSpPr>
          <p:cNvPr id="30749" name="Line 28"/>
          <p:cNvSpPr/>
          <p:nvPr/>
        </p:nvSpPr>
        <p:spPr>
          <a:xfrm flipH="1" flipV="1">
            <a:off x="5444490" y="2722880"/>
            <a:ext cx="2588895" cy="515620"/>
          </a:xfrm>
          <a:prstGeom prst="line">
            <a:avLst/>
          </a:prstGeom>
          <a:ln w="12700" cap="flat" cmpd="sng">
            <a:solidFill>
              <a:schemeClr val="tx1"/>
            </a:solidFill>
            <a:prstDash val="solid"/>
            <a:miter/>
            <a:headEnd type="none" w="med" len="med"/>
            <a:tailEnd type="none" w="med" len="med"/>
          </a:ln>
        </p:spPr>
      </p:sp>
      <p:sp>
        <p:nvSpPr>
          <p:cNvPr id="30750" name="Line 29"/>
          <p:cNvSpPr/>
          <p:nvPr/>
        </p:nvSpPr>
        <p:spPr>
          <a:xfrm flipH="1" flipV="1">
            <a:off x="5444490" y="2722880"/>
            <a:ext cx="3980815" cy="470535"/>
          </a:xfrm>
          <a:prstGeom prst="line">
            <a:avLst/>
          </a:prstGeom>
          <a:ln w="12700" cap="flat" cmpd="sng">
            <a:solidFill>
              <a:schemeClr val="tx1"/>
            </a:solidFill>
            <a:prstDash val="solid"/>
            <a:miter/>
            <a:headEnd type="none" w="med" len="med"/>
            <a:tailEnd type="none" w="med" len="me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1184910" y="1388745"/>
            <a:ext cx="5787390" cy="511175"/>
          </a:xfrm>
        </p:spPr>
        <p:txBody>
          <a:bodyPr>
            <a:normAutofit fontScale="80000"/>
          </a:bodyPr>
          <a:lstStyle/>
          <a:p>
            <a:r>
              <a:rPr lang="zh-CN" altLang="en-US" dirty="0"/>
              <a:t>第</a:t>
            </a:r>
            <a:r>
              <a:rPr lang="en-US" altLang="zh-CN" dirty="0"/>
              <a:t>6</a:t>
            </a:r>
            <a:r>
              <a:rPr lang="zh-CN" altLang="en-US" dirty="0"/>
              <a:t>单元 代码生成</a:t>
            </a:r>
            <a:endParaRPr lang="zh-CN" altLang="en-US" dirty="0"/>
          </a:p>
        </p:txBody>
      </p:sp>
      <p:sp>
        <p:nvSpPr>
          <p:cNvPr id="24" name="文本占位符 23"/>
          <p:cNvSpPr>
            <a:spLocks noGrp="1"/>
          </p:cNvSpPr>
          <p:nvPr>
            <p:ph type="body" sz="quarter" idx="14"/>
          </p:nvPr>
        </p:nvSpPr>
        <p:spPr/>
        <p:txBody>
          <a:bodyPr>
            <a:noAutofit/>
          </a:bodyPr>
          <a:lstStyle/>
          <a:p>
            <a:pPr marL="342900" indent="-342900">
              <a:buFont typeface="Wingdings" panose="05000000000000000000" charset="0"/>
              <a:buChar char="ü"/>
            </a:pPr>
            <a:r>
              <a:rPr lang="en-US" altLang="zh-CN" sz="2400" dirty="0">
                <a:solidFill>
                  <a:srgbClr val="0070C0"/>
                </a:solidFill>
              </a:rPr>
              <a:t>6.1 </a:t>
            </a:r>
            <a:r>
              <a:rPr lang="zh-CN" altLang="en-US" sz="2400" dirty="0">
                <a:solidFill>
                  <a:srgbClr val="0070C0"/>
                </a:solidFill>
              </a:rPr>
              <a:t>中间代码概览</a:t>
            </a:r>
            <a:endParaRPr lang="en-US" altLang="zh-CN" sz="2400" dirty="0">
              <a:solidFill>
                <a:srgbClr val="0070C0"/>
              </a:solidFill>
            </a:endParaRPr>
          </a:p>
          <a:p>
            <a:pPr marL="342900" indent="-342900">
              <a:buFont typeface="Wingdings" panose="05000000000000000000" charset="0"/>
              <a:buChar char="p"/>
            </a:pPr>
            <a:r>
              <a:rPr lang="en-US" altLang="zh-CN" sz="2400" dirty="0">
                <a:solidFill>
                  <a:schemeClr val="tx1"/>
                </a:solidFill>
              </a:rPr>
              <a:t>6.2 </a:t>
            </a:r>
            <a:r>
              <a:rPr lang="zh-CN" altLang="en-US" sz="2400" dirty="0">
                <a:solidFill>
                  <a:schemeClr val="tx1"/>
                </a:solidFill>
              </a:rPr>
              <a:t>基本的代码生成技术</a:t>
            </a:r>
            <a:endParaRPr lang="en-US" altLang="zh-CN" sz="2400" dirty="0">
              <a:solidFill>
                <a:schemeClr val="tx1"/>
              </a:solidFill>
            </a:endParaRPr>
          </a:p>
          <a:p>
            <a:pPr marL="342900" indent="-342900">
              <a:buFont typeface="Wingdings" panose="05000000000000000000" charset="0"/>
              <a:buChar char="p"/>
            </a:pPr>
            <a:r>
              <a:rPr lang="en-US" altLang="zh-CN" sz="2400" dirty="0">
                <a:solidFill>
                  <a:schemeClr val="tx1"/>
                </a:solidFill>
              </a:rPr>
              <a:t>6.3 </a:t>
            </a:r>
            <a:r>
              <a:rPr lang="zh-CN" altLang="en-US" sz="2400" dirty="0">
                <a:solidFill>
                  <a:schemeClr val="tx1"/>
                </a:solidFill>
              </a:rPr>
              <a:t>数据结构引用的代码生成</a:t>
            </a:r>
            <a:endParaRPr lang="en-US" altLang="zh-CN" sz="2400" dirty="0">
              <a:solidFill>
                <a:schemeClr val="tx1"/>
              </a:solidFill>
            </a:endParaRPr>
          </a:p>
          <a:p>
            <a:pPr marL="342900" indent="-342900">
              <a:buFont typeface="Wingdings" panose="05000000000000000000" charset="0"/>
              <a:buChar char="p"/>
            </a:pPr>
            <a:r>
              <a:rPr lang="en-US" altLang="zh-CN" sz="2400" dirty="0">
                <a:solidFill>
                  <a:schemeClr val="tx1"/>
                </a:solidFill>
              </a:rPr>
              <a:t>6.4 </a:t>
            </a:r>
            <a:r>
              <a:rPr lang="zh-CN" altLang="en-US" sz="2400" dirty="0">
                <a:solidFill>
                  <a:schemeClr val="tx1"/>
                </a:solidFill>
              </a:rPr>
              <a:t>控制语句和逻辑表达式的代码生成</a:t>
            </a:r>
            <a:endParaRPr lang="en-US" altLang="zh-CN" sz="2400" dirty="0">
              <a:solidFill>
                <a:schemeClr val="tx1"/>
              </a:solidFill>
            </a:endParaRPr>
          </a:p>
          <a:p>
            <a:pPr marL="342900" indent="-342900">
              <a:buFont typeface="Wingdings" panose="05000000000000000000" charset="0"/>
              <a:buChar char="p"/>
            </a:pPr>
            <a:r>
              <a:rPr lang="en-US" altLang="zh-CN" sz="2400" dirty="0">
                <a:solidFill>
                  <a:schemeClr val="tx1"/>
                </a:solidFill>
              </a:rPr>
              <a:t>6.5 </a:t>
            </a:r>
            <a:r>
              <a:rPr lang="zh-CN" altLang="en-US" sz="2400" dirty="0">
                <a:solidFill>
                  <a:schemeClr val="tx1"/>
                </a:solidFill>
              </a:rPr>
              <a:t>过程和函数调用的代码生成</a:t>
            </a:r>
            <a:endParaRPr lang="zh-CN" altLang="en-US" sz="2400"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7990" y="276860"/>
            <a:ext cx="5318125" cy="593090"/>
          </a:xfrm>
        </p:spPr>
        <p:txBody>
          <a:bodyPr/>
          <a:lstStyle/>
          <a:p>
            <a:r>
              <a:rPr lang="en-US" altLang="zh-CN" dirty="0"/>
              <a:t>6.1 </a:t>
            </a:r>
            <a:r>
              <a:rPr lang="zh-CN" altLang="en-US" dirty="0"/>
              <a:t>中间代码概览</a:t>
            </a:r>
            <a:endParaRPr lang="zh-CN" altLang="en-US" dirty="0"/>
          </a:p>
          <a:p>
            <a:endParaRPr lang="zh-CN" altLang="en-US" dirty="0"/>
          </a:p>
        </p:txBody>
      </p:sp>
      <p:sp>
        <p:nvSpPr>
          <p:cNvPr id="5" name="Rectangle 7"/>
          <p:cNvSpPr txBox="1">
            <a:spLocks noChangeArrowheads="1"/>
          </p:cNvSpPr>
          <p:nvPr/>
        </p:nvSpPr>
        <p:spPr>
          <a:xfrm>
            <a:off x="459740" y="1211580"/>
            <a:ext cx="11335385" cy="4670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lang="zh-CN" altLang="en-US" b="1" dirty="0">
                <a:solidFill>
                  <a:srgbClr val="03010F"/>
                </a:solidFill>
                <a:latin typeface="宋体" panose="02010600030101010101" pitchFamily="2" charset="-122"/>
              </a:rPr>
              <a:t>编译程序的任务是把源程序翻译成等价的目标程序。两者之间的语法结构不同，但它们表述的功能和结果是完全相同的，即语义相同。</a:t>
            </a:r>
            <a:endParaRPr lang="zh-CN" altLang="en-US" b="1" dirty="0">
              <a:solidFill>
                <a:srgbClr val="03010F"/>
              </a:solidFill>
              <a:latin typeface="宋体" panose="02010600030101010101" pitchFamily="2" charset="-122"/>
            </a:endParaRPr>
          </a:p>
          <a:p>
            <a:pPr>
              <a:lnSpc>
                <a:spcPct val="125000"/>
              </a:lnSpc>
              <a:spcBef>
                <a:spcPts val="0"/>
              </a:spcBef>
              <a:spcAft>
                <a:spcPts val="0"/>
              </a:spcAft>
              <a:buFont typeface="Wingdings" panose="05000000000000000000" charset="0"/>
              <a:buChar char="p"/>
            </a:pPr>
            <a:r>
              <a:rPr lang="zh-CN" altLang="en-US" b="1" dirty="0">
                <a:solidFill>
                  <a:srgbClr val="03010F"/>
                </a:solidFill>
                <a:latin typeface="宋体" panose="02010600030101010101" pitchFamily="2" charset="-122"/>
              </a:rPr>
              <a:t>中间代码，是复杂性介于源程序和目标程序之间的一种机内表达形式。</a:t>
            </a:r>
            <a:endParaRPr lang="zh-CN" altLang="en-US" b="1" dirty="0"/>
          </a:p>
          <a:p>
            <a:pPr marL="514350" indent="-514350">
              <a:lnSpc>
                <a:spcPct val="130000"/>
              </a:lnSpc>
              <a:buFont typeface="+mj-ea"/>
              <a:buAutoNum type="circleNumDbPlain"/>
            </a:pPr>
            <a:r>
              <a:rPr lang="zh-CN" altLang="en-US" sz="2400" b="1" dirty="0">
                <a:solidFill>
                  <a:srgbClr val="03010F"/>
                </a:solidFill>
                <a:latin typeface="+mn-ea"/>
                <a:sym typeface="+mn-ea"/>
              </a:rPr>
              <a:t>使编译程序的算法清晰，便于分工、修改、维护和移植等；</a:t>
            </a:r>
            <a:endParaRPr lang="zh-CN" altLang="en-US" sz="2400" b="1" dirty="0">
              <a:solidFill>
                <a:srgbClr val="03010F"/>
              </a:solidFill>
              <a:latin typeface="+mn-ea"/>
              <a:ea typeface="+mn-ea"/>
            </a:endParaRPr>
          </a:p>
          <a:p>
            <a:pPr marL="514350" indent="-514350">
              <a:lnSpc>
                <a:spcPct val="130000"/>
              </a:lnSpc>
              <a:buFont typeface="+mj-ea"/>
              <a:buAutoNum type="circleNumDbPlain"/>
            </a:pPr>
            <a:r>
              <a:rPr lang="zh-CN" altLang="en-US" sz="2400" b="1" dirty="0">
                <a:solidFill>
                  <a:srgbClr val="03010F"/>
                </a:solidFill>
                <a:latin typeface="+mn-ea"/>
                <a:sym typeface="+mn-ea"/>
              </a:rPr>
              <a:t>中间代码使编译器更容易重定向：不同机器上的编译器可以在已有前端的基础上附加一个适合这这台新机器的后端来生成；</a:t>
            </a:r>
            <a:endParaRPr lang="zh-CN" altLang="en-US" sz="2400" b="1" dirty="0">
              <a:solidFill>
                <a:srgbClr val="03010F"/>
              </a:solidFill>
              <a:latin typeface="+mn-ea"/>
              <a:ea typeface="+mn-ea"/>
            </a:endParaRPr>
          </a:p>
          <a:p>
            <a:pPr marL="514350" indent="-514350">
              <a:lnSpc>
                <a:spcPct val="130000"/>
              </a:lnSpc>
              <a:buFont typeface="+mj-ea"/>
              <a:buAutoNum type="circleNumDbPlain"/>
            </a:pPr>
            <a:r>
              <a:rPr lang="zh-CN" altLang="en-US" sz="2400" b="1" dirty="0">
                <a:solidFill>
                  <a:srgbClr val="03010F"/>
                </a:solidFill>
                <a:latin typeface="+mn-ea"/>
                <a:sym typeface="+mn-ea"/>
              </a:rPr>
              <a:t>可以在中间代码上进行与机器无关的代码优化，中间代码正是为此设计的一种程序的数据结构表示。</a:t>
            </a:r>
            <a:endParaRPr lang="zh-CN" altLang="en-US" sz="2400" b="1" dirty="0">
              <a:solidFill>
                <a:srgbClr val="03010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in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arn(inHorizontal)">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84810" y="276860"/>
            <a:ext cx="5361305" cy="593090"/>
          </a:xfrm>
        </p:spPr>
        <p:txBody>
          <a:bodyPr/>
          <a:lstStyle/>
          <a:p>
            <a:r>
              <a:rPr lang="en-US" altLang="zh-CN" dirty="0"/>
              <a:t>6.1.1 </a:t>
            </a:r>
            <a:r>
              <a:rPr lang="zh-CN" altLang="en-US" dirty="0"/>
              <a:t>三地址码</a:t>
            </a:r>
            <a:endParaRPr lang="zh-CN" altLang="en-US" dirty="0"/>
          </a:p>
        </p:txBody>
      </p:sp>
      <p:grpSp>
        <p:nvGrpSpPr>
          <p:cNvPr id="5" name="Group 4"/>
          <p:cNvGrpSpPr/>
          <p:nvPr/>
        </p:nvGrpSpPr>
        <p:grpSpPr bwMode="auto">
          <a:xfrm>
            <a:off x="285273" y="4161099"/>
            <a:ext cx="2590800" cy="1562101"/>
            <a:chOff x="336" y="1994"/>
            <a:chExt cx="1632" cy="984"/>
          </a:xfrm>
        </p:grpSpPr>
        <p:sp useBgFill="1">
          <p:nvSpPr>
            <p:cNvPr id="7" name="Rectangle 5"/>
            <p:cNvSpPr>
              <a:spLocks noChangeArrowheads="1"/>
            </p:cNvSpPr>
            <p:nvPr/>
          </p:nvSpPr>
          <p:spPr bwMode="auto">
            <a:xfrm>
              <a:off x="960" y="1994"/>
              <a:ext cx="192"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8" name="Rectangle 6"/>
            <p:cNvSpPr>
              <a:spLocks noChangeArrowheads="1"/>
            </p:cNvSpPr>
            <p:nvPr/>
          </p:nvSpPr>
          <p:spPr bwMode="auto">
            <a:xfrm>
              <a:off x="576" y="2210"/>
              <a:ext cx="240"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9" name="Rectangle 7"/>
            <p:cNvSpPr>
              <a:spLocks noChangeArrowheads="1"/>
            </p:cNvSpPr>
            <p:nvPr/>
          </p:nvSpPr>
          <p:spPr bwMode="auto">
            <a:xfrm>
              <a:off x="1392" y="2210"/>
              <a:ext cx="336"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p:nvSpPr>
            <p:cNvPr id="10" name="Line 8"/>
            <p:cNvSpPr>
              <a:spLocks noChangeShapeType="1"/>
            </p:cNvSpPr>
            <p:nvPr/>
          </p:nvSpPr>
          <p:spPr bwMode="auto">
            <a:xfrm flipH="1">
              <a:off x="720" y="2184"/>
              <a:ext cx="240" cy="144"/>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p:nvSpPr>
            <p:cNvPr id="11" name="Line 9"/>
            <p:cNvSpPr>
              <a:spLocks noChangeShapeType="1"/>
            </p:cNvSpPr>
            <p:nvPr/>
          </p:nvSpPr>
          <p:spPr bwMode="auto">
            <a:xfrm>
              <a:off x="1152" y="2184"/>
              <a:ext cx="336" cy="96"/>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p:nvSpPr>
            <p:cNvPr id="13" name="Line 10"/>
            <p:cNvSpPr>
              <a:spLocks noChangeShapeType="1"/>
            </p:cNvSpPr>
            <p:nvPr/>
          </p:nvSpPr>
          <p:spPr bwMode="auto">
            <a:xfrm flipH="1">
              <a:off x="528"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p:nvSpPr>
            <p:cNvPr id="14" name="Line 11"/>
            <p:cNvSpPr>
              <a:spLocks noChangeShapeType="1"/>
            </p:cNvSpPr>
            <p:nvPr/>
          </p:nvSpPr>
          <p:spPr bwMode="auto">
            <a:xfrm>
              <a:off x="768"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useBgFill="1">
          <p:nvSpPr>
            <p:cNvPr id="15" name="Rectangle 12"/>
            <p:cNvSpPr>
              <a:spLocks noChangeArrowheads="1"/>
            </p:cNvSpPr>
            <p:nvPr/>
          </p:nvSpPr>
          <p:spPr bwMode="auto">
            <a:xfrm>
              <a:off x="336" y="2642"/>
              <a:ext cx="336"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2</a:t>
              </a:r>
              <a:endParaRPr lang="en-US" altLang="zh-CN" sz="2400" b="1">
                <a:solidFill>
                  <a:srgbClr val="070709"/>
                </a:solidFill>
                <a:latin typeface="+mn-ea"/>
              </a:endParaRPr>
            </a:p>
          </p:txBody>
        </p:sp>
        <p:sp useBgFill="1">
          <p:nvSpPr>
            <p:cNvPr id="16" name="Rectangle 13"/>
            <p:cNvSpPr>
              <a:spLocks noChangeArrowheads="1"/>
            </p:cNvSpPr>
            <p:nvPr/>
          </p:nvSpPr>
          <p:spPr bwMode="auto">
            <a:xfrm>
              <a:off x="720" y="2642"/>
              <a:ext cx="336"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a</a:t>
              </a:r>
              <a:endParaRPr lang="en-US" altLang="zh-CN" sz="2400" b="1">
                <a:solidFill>
                  <a:srgbClr val="070709"/>
                </a:solidFill>
                <a:latin typeface="+mn-ea"/>
              </a:endParaRPr>
            </a:p>
          </p:txBody>
        </p:sp>
        <p:sp>
          <p:nvSpPr>
            <p:cNvPr id="17" name="Line 14"/>
            <p:cNvSpPr>
              <a:spLocks noChangeShapeType="1"/>
            </p:cNvSpPr>
            <p:nvPr/>
          </p:nvSpPr>
          <p:spPr bwMode="auto">
            <a:xfrm flipH="1">
              <a:off x="1440"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p:nvSpPr>
            <p:cNvPr id="18" name="Line 15"/>
            <p:cNvSpPr>
              <a:spLocks noChangeShapeType="1"/>
            </p:cNvSpPr>
            <p:nvPr/>
          </p:nvSpPr>
          <p:spPr bwMode="auto">
            <a:xfrm>
              <a:off x="1680"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pPr>
                <a:lnSpc>
                  <a:spcPct val="120000"/>
                </a:lnSpc>
              </a:pPr>
              <a:endParaRPr lang="zh-CN" altLang="en-US" sz="2400" b="1">
                <a:latin typeface="+mn-ea"/>
              </a:endParaRPr>
            </a:p>
          </p:txBody>
        </p:sp>
        <p:sp useBgFill="1">
          <p:nvSpPr>
            <p:cNvPr id="19" name="Rectangle 16"/>
            <p:cNvSpPr>
              <a:spLocks noChangeArrowheads="1"/>
            </p:cNvSpPr>
            <p:nvPr/>
          </p:nvSpPr>
          <p:spPr bwMode="auto">
            <a:xfrm>
              <a:off x="1248" y="2642"/>
              <a:ext cx="336"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b</a:t>
              </a:r>
              <a:endParaRPr lang="en-US" altLang="zh-CN" sz="2400" b="1">
                <a:solidFill>
                  <a:srgbClr val="070709"/>
                </a:solidFill>
                <a:latin typeface="+mn-ea"/>
              </a:endParaRPr>
            </a:p>
          </p:txBody>
        </p:sp>
        <p:sp useBgFill="1">
          <p:nvSpPr>
            <p:cNvPr id="20" name="Rectangle 17"/>
            <p:cNvSpPr>
              <a:spLocks noChangeArrowheads="1"/>
            </p:cNvSpPr>
            <p:nvPr/>
          </p:nvSpPr>
          <p:spPr bwMode="auto">
            <a:xfrm>
              <a:off x="1632" y="2642"/>
              <a:ext cx="336" cy="336"/>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lnSpc>
                  <a:spcPct val="120000"/>
                </a:lnSpc>
                <a:spcBef>
                  <a:spcPct val="50000"/>
                </a:spcBef>
              </a:pPr>
              <a:r>
                <a:rPr lang="en-US" altLang="zh-CN" sz="2400" b="1">
                  <a:solidFill>
                    <a:srgbClr val="070709"/>
                  </a:solidFill>
                  <a:latin typeface="+mn-ea"/>
                </a:rPr>
                <a:t>3</a:t>
              </a:r>
              <a:endParaRPr lang="en-US" altLang="zh-CN" sz="2400" b="1">
                <a:solidFill>
                  <a:srgbClr val="070709"/>
                </a:solidFill>
                <a:latin typeface="+mn-ea"/>
              </a:endParaRPr>
            </a:p>
          </p:txBody>
        </p:sp>
      </p:grpSp>
      <p:sp>
        <p:nvSpPr>
          <p:cNvPr id="22" name="Rectangle 19"/>
          <p:cNvSpPr>
            <a:spLocks noChangeArrowheads="1"/>
          </p:cNvSpPr>
          <p:nvPr/>
        </p:nvSpPr>
        <p:spPr bwMode="auto">
          <a:xfrm>
            <a:off x="3462813" y="4392556"/>
            <a:ext cx="1442085" cy="142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pPr>
            <a:r>
              <a:rPr lang="en-US" altLang="zh-CN" sz="2400" b="1" dirty="0">
                <a:solidFill>
                  <a:srgbClr val="03010F"/>
                </a:solidFill>
                <a:latin typeface="+mn-ea"/>
              </a:rPr>
              <a:t>t1=2*a</a:t>
            </a:r>
            <a:endParaRPr lang="en-US" altLang="zh-CN" sz="2400" b="1" dirty="0">
              <a:solidFill>
                <a:srgbClr val="03010F"/>
              </a:solidFill>
              <a:latin typeface="+mn-ea"/>
            </a:endParaRPr>
          </a:p>
          <a:p>
            <a:pPr>
              <a:lnSpc>
                <a:spcPct val="120000"/>
              </a:lnSpc>
            </a:pPr>
            <a:r>
              <a:rPr lang="en-US" altLang="zh-CN" sz="2400" b="1" dirty="0">
                <a:solidFill>
                  <a:srgbClr val="03010F"/>
                </a:solidFill>
                <a:latin typeface="+mn-ea"/>
              </a:rPr>
              <a:t>t2=b-3</a:t>
            </a:r>
            <a:endParaRPr lang="en-US" altLang="zh-CN" sz="2400" b="1" dirty="0">
              <a:solidFill>
                <a:srgbClr val="03010F"/>
              </a:solidFill>
              <a:latin typeface="+mn-ea"/>
            </a:endParaRPr>
          </a:p>
          <a:p>
            <a:pPr>
              <a:lnSpc>
                <a:spcPct val="120000"/>
              </a:lnSpc>
            </a:pPr>
            <a:r>
              <a:rPr lang="en-US" altLang="zh-CN" sz="2400" b="1" dirty="0">
                <a:solidFill>
                  <a:srgbClr val="03010F"/>
                </a:solidFill>
                <a:latin typeface="+mn-ea"/>
              </a:rPr>
              <a:t>t3=t1+t2</a:t>
            </a:r>
            <a:endParaRPr lang="en-US" altLang="zh-CN" sz="2400" b="1" dirty="0">
              <a:solidFill>
                <a:srgbClr val="03010F"/>
              </a:solidFill>
              <a:latin typeface="+mn-ea"/>
            </a:endParaRPr>
          </a:p>
        </p:txBody>
      </p:sp>
      <p:sp>
        <p:nvSpPr>
          <p:cNvPr id="23" name="Rectangle 27"/>
          <p:cNvSpPr txBox="1">
            <a:spLocks noChangeArrowheads="1"/>
          </p:cNvSpPr>
          <p:nvPr/>
        </p:nvSpPr>
        <p:spPr>
          <a:xfrm>
            <a:off x="384810" y="1112520"/>
            <a:ext cx="5668010" cy="2974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pPr>
            <a:r>
              <a:rPr lang="zh-CN" altLang="en-US" sz="2400" b="1" dirty="0">
                <a:solidFill>
                  <a:srgbClr val="03010F"/>
                </a:solidFill>
                <a:latin typeface="+mn-ea"/>
              </a:rPr>
              <a:t>三地址码是下列一般形式的语句序列：</a:t>
            </a:r>
            <a:endParaRPr lang="zh-CN" altLang="en-US" sz="2400" b="1" dirty="0">
              <a:solidFill>
                <a:srgbClr val="03010F"/>
              </a:solidFill>
              <a:latin typeface="+mn-ea"/>
            </a:endParaRPr>
          </a:p>
          <a:p>
            <a:pPr lvl="1">
              <a:lnSpc>
                <a:spcPct val="125000"/>
              </a:lnSpc>
              <a:spcBef>
                <a:spcPct val="0"/>
              </a:spcBef>
              <a:spcAft>
                <a:spcPts val="0"/>
              </a:spcAft>
            </a:pPr>
            <a:r>
              <a:rPr lang="en-US" altLang="zh-CN" b="1" dirty="0">
                <a:solidFill>
                  <a:srgbClr val="0070C0"/>
                </a:solidFill>
                <a:latin typeface="+mn-ea"/>
              </a:rPr>
              <a:t>x:=y op z   </a:t>
            </a:r>
            <a:r>
              <a:rPr lang="zh-CN" altLang="en-US" b="1" dirty="0">
                <a:solidFill>
                  <a:srgbClr val="03010F"/>
                </a:solidFill>
                <a:latin typeface="+mn-ea"/>
              </a:rPr>
              <a:t>其中，</a:t>
            </a:r>
            <a:r>
              <a:rPr lang="en-US" altLang="zh-CN" b="1" dirty="0">
                <a:solidFill>
                  <a:srgbClr val="0070C0"/>
                </a:solidFill>
                <a:latin typeface="+mn-ea"/>
              </a:rPr>
              <a:t>x</a:t>
            </a:r>
            <a:r>
              <a:rPr lang="zh-CN" altLang="en-US" b="1" dirty="0">
                <a:solidFill>
                  <a:srgbClr val="0070C0"/>
                </a:solidFill>
                <a:latin typeface="+mn-ea"/>
              </a:rPr>
              <a:t>，</a:t>
            </a:r>
            <a:r>
              <a:rPr lang="en-US" altLang="zh-CN" b="1" dirty="0">
                <a:solidFill>
                  <a:srgbClr val="0070C0"/>
                </a:solidFill>
                <a:latin typeface="+mn-ea"/>
              </a:rPr>
              <a:t>y</a:t>
            </a:r>
            <a:r>
              <a:rPr lang="zh-CN" altLang="en-US" b="1" dirty="0">
                <a:solidFill>
                  <a:srgbClr val="03010F"/>
                </a:solidFill>
                <a:latin typeface="+mn-ea"/>
              </a:rPr>
              <a:t>及</a:t>
            </a:r>
            <a:r>
              <a:rPr lang="en-US" altLang="zh-CN" b="1" dirty="0">
                <a:solidFill>
                  <a:srgbClr val="0070C0"/>
                </a:solidFill>
                <a:latin typeface="+mn-ea"/>
              </a:rPr>
              <a:t>z</a:t>
            </a:r>
            <a:r>
              <a:rPr lang="zh-CN" altLang="en-US" b="1" dirty="0">
                <a:solidFill>
                  <a:srgbClr val="03010F"/>
                </a:solidFill>
                <a:latin typeface="+mn-ea"/>
              </a:rPr>
              <a:t>是名字、常量或编译器生成的临时变量，</a:t>
            </a:r>
            <a:r>
              <a:rPr lang="en-US" altLang="zh-CN" b="1" dirty="0">
                <a:solidFill>
                  <a:srgbClr val="03010F"/>
                </a:solidFill>
                <a:latin typeface="+mn-ea"/>
              </a:rPr>
              <a:t> </a:t>
            </a:r>
            <a:r>
              <a:rPr lang="en-US" altLang="zh-CN" b="1" dirty="0">
                <a:solidFill>
                  <a:srgbClr val="0070C0"/>
                </a:solidFill>
                <a:latin typeface="+mn-ea"/>
              </a:rPr>
              <a:t>op</a:t>
            </a:r>
            <a:r>
              <a:rPr lang="zh-CN" altLang="en-US" b="1" dirty="0">
                <a:solidFill>
                  <a:srgbClr val="03010F"/>
                </a:solidFill>
                <a:latin typeface="+mn-ea"/>
              </a:rPr>
              <a:t>代表任何操作符。</a:t>
            </a:r>
            <a:endParaRPr lang="en-US" altLang="zh-CN" b="1" dirty="0">
              <a:solidFill>
                <a:srgbClr val="03010F"/>
              </a:solidFill>
              <a:latin typeface="+mn-ea"/>
            </a:endParaRPr>
          </a:p>
          <a:p>
            <a:pPr>
              <a:lnSpc>
                <a:spcPct val="120000"/>
              </a:lnSpc>
            </a:pPr>
            <a:r>
              <a:rPr lang="zh-CN" altLang="en-US" sz="2400" b="1" dirty="0">
                <a:solidFill>
                  <a:srgbClr val="03010F"/>
                </a:solidFill>
                <a:latin typeface="+mn-ea"/>
              </a:rPr>
              <a:t>例</a:t>
            </a:r>
            <a:r>
              <a:rPr lang="en-US" altLang="zh-CN" sz="2400" b="1" dirty="0">
                <a:solidFill>
                  <a:srgbClr val="03010F"/>
                </a:solidFill>
                <a:latin typeface="+mn-ea"/>
              </a:rPr>
              <a:t>6</a:t>
            </a:r>
            <a:r>
              <a:rPr lang="zh-CN" altLang="en-US" sz="2400" b="1" dirty="0">
                <a:solidFill>
                  <a:srgbClr val="03010F"/>
                </a:solidFill>
                <a:latin typeface="+mn-ea"/>
              </a:rPr>
              <a:t>.1：算术表达式的</a:t>
            </a:r>
            <a:r>
              <a:rPr lang="en-US" altLang="zh-CN" sz="2400" b="1" dirty="0">
                <a:solidFill>
                  <a:srgbClr val="03010F"/>
                </a:solidFill>
                <a:latin typeface="+mn-ea"/>
              </a:rPr>
              <a:t>2*a+(b-3)</a:t>
            </a:r>
            <a:r>
              <a:rPr lang="zh-CN" altLang="en-US" sz="2400" b="1" dirty="0">
                <a:solidFill>
                  <a:srgbClr val="03010F"/>
                </a:solidFill>
                <a:latin typeface="+mn-ea"/>
              </a:rPr>
              <a:t> 语法树和</a:t>
            </a:r>
            <a:r>
              <a:rPr lang="zh-CN" altLang="en-US" sz="2400" b="1">
                <a:solidFill>
                  <a:srgbClr val="03010F"/>
                </a:solidFill>
                <a:latin typeface="+mn-ea"/>
                <a:sym typeface="+mn-ea"/>
              </a:rPr>
              <a:t>相应的三地址码</a:t>
            </a:r>
            <a:r>
              <a:rPr lang="zh-CN" altLang="en-US" sz="2400" b="1" dirty="0">
                <a:solidFill>
                  <a:srgbClr val="03010F"/>
                </a:solidFill>
                <a:latin typeface="+mn-ea"/>
              </a:rPr>
              <a:t>如下：</a:t>
            </a:r>
            <a:endParaRPr lang="zh-CN" altLang="en-US" sz="2400" b="1" dirty="0">
              <a:latin typeface="+mn-ea"/>
            </a:endParaRPr>
          </a:p>
        </p:txBody>
      </p:sp>
      <p:sp>
        <p:nvSpPr>
          <p:cNvPr id="2" name="文本框 1"/>
          <p:cNvSpPr txBox="1"/>
          <p:nvPr/>
        </p:nvSpPr>
        <p:spPr>
          <a:xfrm>
            <a:off x="6176645" y="1304290"/>
            <a:ext cx="5686425" cy="4078605"/>
          </a:xfrm>
          <a:prstGeom prst="rect">
            <a:avLst/>
          </a:prstGeom>
          <a:noFill/>
        </p:spPr>
        <p:txBody>
          <a:bodyPr wrap="square" rtlCol="0" anchor="t">
            <a:spAutoFit/>
          </a:bodyPr>
          <a:p>
            <a:pPr marL="457200" indent="-457200">
              <a:lnSpc>
                <a:spcPct val="120000"/>
              </a:lnSpc>
              <a:buFont typeface="+mj-ea"/>
              <a:buAutoNum type="circleNumDbPlain"/>
            </a:pPr>
            <a:r>
              <a:rPr lang="zh-CN" altLang="en-US" sz="2400" b="1" dirty="0">
                <a:solidFill>
                  <a:srgbClr val="03010F"/>
                </a:solidFill>
                <a:latin typeface="+mn-ea"/>
                <a:sym typeface="+mn-ea"/>
              </a:rPr>
              <a:t>三地址码是语法树的从左到右的线性化表示，其</a:t>
            </a:r>
            <a:r>
              <a:rPr lang="zh-CN" altLang="en-US" sz="2400" b="1" dirty="0">
                <a:solidFill>
                  <a:srgbClr val="030305"/>
                </a:solidFill>
                <a:latin typeface="+mn-ea"/>
                <a:sym typeface="+mn-ea"/>
              </a:rPr>
              <a:t>生成所依据的是语言的语义规则。</a:t>
            </a:r>
            <a:endParaRPr lang="zh-CN" altLang="en-US" sz="2400" b="1" dirty="0">
              <a:solidFill>
                <a:srgbClr val="030305"/>
              </a:solidFill>
              <a:latin typeface="+mn-ea"/>
            </a:endParaRPr>
          </a:p>
          <a:p>
            <a:pPr marL="457200" indent="-457200">
              <a:lnSpc>
                <a:spcPct val="120000"/>
              </a:lnSpc>
              <a:buFont typeface="+mj-ea"/>
              <a:buAutoNum type="circleNumDbPlain"/>
            </a:pPr>
            <a:r>
              <a:rPr lang="zh-CN" altLang="en-US" sz="2400" b="1" dirty="0">
                <a:solidFill>
                  <a:srgbClr val="03010F"/>
                </a:solidFill>
                <a:latin typeface="+mn-ea"/>
                <a:sym typeface="+mn-ea"/>
              </a:rPr>
              <a:t>为适应编程语言的语法结构，可以为每类结构改变三地址码的形式。例如：为了生成数组引用的三地址码可以引入两个新的三地址指令：</a:t>
            </a:r>
            <a:endParaRPr lang="zh-CN" altLang="en-US" sz="2400" b="1" dirty="0">
              <a:solidFill>
                <a:srgbClr val="03010F"/>
              </a:solidFill>
              <a:latin typeface="+mn-ea"/>
            </a:endParaRPr>
          </a:p>
          <a:p>
            <a:pPr marL="914400" lvl="1" indent="-457200">
              <a:lnSpc>
                <a:spcPct val="120000"/>
              </a:lnSpc>
              <a:spcBef>
                <a:spcPct val="0"/>
              </a:spcBef>
              <a:buFont typeface="+mj-lt"/>
              <a:buAutoNum type="alphaLcParenR"/>
            </a:pPr>
            <a:r>
              <a:rPr lang="zh-CN" altLang="en-US" sz="2400" b="1" dirty="0">
                <a:solidFill>
                  <a:srgbClr val="03010F"/>
                </a:solidFill>
                <a:latin typeface="+mn-ea"/>
                <a:sym typeface="+mn-ea"/>
              </a:rPr>
              <a:t>获取数组元素值：</a:t>
            </a:r>
            <a:r>
              <a:rPr lang="en-US" altLang="zh-CN" sz="2400" b="1" dirty="0">
                <a:solidFill>
                  <a:srgbClr val="03010F"/>
                </a:solidFill>
                <a:latin typeface="+mn-ea"/>
                <a:sym typeface="+mn-ea"/>
              </a:rPr>
              <a:t>t2=a[t1]</a:t>
            </a:r>
            <a:endParaRPr lang="en-US" altLang="zh-CN" sz="2400" b="1" dirty="0">
              <a:solidFill>
                <a:srgbClr val="03010F"/>
              </a:solidFill>
              <a:latin typeface="+mn-ea"/>
            </a:endParaRPr>
          </a:p>
          <a:p>
            <a:pPr marL="914400" lvl="1" indent="-457200">
              <a:lnSpc>
                <a:spcPct val="120000"/>
              </a:lnSpc>
              <a:spcBef>
                <a:spcPct val="0"/>
              </a:spcBef>
              <a:buFont typeface="+mj-lt"/>
              <a:buAutoNum type="alphaLcParenR"/>
            </a:pPr>
            <a:r>
              <a:rPr lang="zh-CN" altLang="en-US" sz="2400" b="1" dirty="0">
                <a:solidFill>
                  <a:srgbClr val="03010F"/>
                </a:solidFill>
                <a:latin typeface="+mn-ea"/>
                <a:sym typeface="+mn-ea"/>
              </a:rPr>
              <a:t>给数组元素赋值：</a:t>
            </a:r>
            <a:r>
              <a:rPr lang="en-US" altLang="zh-CN" sz="2400" b="1" dirty="0">
                <a:solidFill>
                  <a:srgbClr val="03010F"/>
                </a:solidFill>
                <a:latin typeface="+mn-ea"/>
                <a:sym typeface="+mn-ea"/>
              </a:rPr>
              <a:t>a[t2]=t1</a:t>
            </a:r>
            <a:endParaRPr lang="en-US" altLang="zh-CN" sz="2400" b="1" dirty="0">
              <a:solidFill>
                <a:srgbClr val="03010F"/>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07035" y="276860"/>
            <a:ext cx="5339080" cy="593090"/>
          </a:xfrm>
        </p:spPr>
        <p:txBody>
          <a:bodyPr/>
          <a:lstStyle/>
          <a:p>
            <a:r>
              <a:rPr lang="en-US" altLang="zh-CN" dirty="0"/>
              <a:t>6.1.1 </a:t>
            </a:r>
            <a:r>
              <a:rPr lang="zh-CN" altLang="en-US" dirty="0"/>
              <a:t>三地址码</a:t>
            </a:r>
            <a:endParaRPr lang="zh-CN" altLang="en-US" dirty="0"/>
          </a:p>
        </p:txBody>
      </p:sp>
      <p:pic>
        <p:nvPicPr>
          <p:cNvPr id="5" name="图片 5" descr="IMG_256"/>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b="7968"/>
          <a:stretch>
            <a:fillRect/>
          </a:stretch>
        </p:blipFill>
        <p:spPr bwMode="auto">
          <a:xfrm>
            <a:off x="2759075" y="1257575"/>
            <a:ext cx="6673850"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1"/>
          <p:cNvSpPr txBox="1">
            <a:spLocks noChangeArrowheads="1"/>
          </p:cNvSpPr>
          <p:nvPr/>
        </p:nvSpPr>
        <p:spPr bwMode="auto">
          <a:xfrm>
            <a:off x="2108133" y="1257575"/>
            <a:ext cx="445413"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03010F"/>
                </a:solidFill>
                <a:latin typeface="微软雅黑" panose="020B0503020204020204" charset="-122"/>
                <a:ea typeface="微软雅黑" panose="020B0503020204020204" charset="-122"/>
              </a:rPr>
              <a:t>常见的三地址码指令</a:t>
            </a:r>
            <a:endParaRPr lang="zh-CN" altLang="en-US" b="1" dirty="0">
              <a:solidFill>
                <a:srgbClr val="03010F"/>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427355" y="276860"/>
            <a:ext cx="5318760" cy="593090"/>
          </a:xfrm>
        </p:spPr>
        <p:txBody>
          <a:bodyPr/>
          <a:lstStyle/>
          <a:p>
            <a:r>
              <a:rPr lang="en-US" altLang="zh-CN" dirty="0"/>
              <a:t>6.1.2 Java</a:t>
            </a:r>
            <a:r>
              <a:rPr dirty="0"/>
              <a:t>字节码</a:t>
            </a:r>
            <a:endParaRPr dirty="0"/>
          </a:p>
        </p:txBody>
      </p:sp>
      <p:sp>
        <p:nvSpPr>
          <p:cNvPr id="5" name="Rectangle 5"/>
          <p:cNvSpPr txBox="1">
            <a:spLocks noChangeArrowheads="1"/>
          </p:cNvSpPr>
          <p:nvPr/>
        </p:nvSpPr>
        <p:spPr>
          <a:xfrm>
            <a:off x="427355" y="1162050"/>
            <a:ext cx="6614160" cy="4549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spcAft>
                <a:spcPts val="0"/>
              </a:spcAft>
              <a:buFont typeface="Wingdings" panose="05000000000000000000" charset="0"/>
              <a:buChar char="p"/>
            </a:pPr>
            <a:r>
              <a:rPr sz="2400" b="1" dirty="0">
                <a:latin typeface="+mn-ea"/>
              </a:rPr>
              <a:t>Java字节码是Java虚拟机（JVM）中间代码。</a:t>
            </a:r>
            <a:endParaRPr sz="2400" b="1" dirty="0">
              <a:latin typeface="+mn-ea"/>
            </a:endParaRPr>
          </a:p>
          <a:p>
            <a:pPr>
              <a:lnSpc>
                <a:spcPct val="125000"/>
              </a:lnSpc>
              <a:spcBef>
                <a:spcPts val="0"/>
              </a:spcBef>
              <a:spcAft>
                <a:spcPts val="0"/>
              </a:spcAft>
              <a:buFont typeface="Wingdings" panose="05000000000000000000" charset="0"/>
              <a:buChar char="p"/>
            </a:pPr>
            <a:r>
              <a:rPr sz="2400" b="1" dirty="0">
                <a:latin typeface="+mn-ea"/>
              </a:rPr>
              <a:t>JVM在不同的平台上由不同的实现提供。</a:t>
            </a:r>
            <a:endParaRPr sz="2400" b="1" dirty="0">
              <a:latin typeface="+mn-ea"/>
            </a:endParaRPr>
          </a:p>
          <a:p>
            <a:pPr>
              <a:lnSpc>
                <a:spcPct val="125000"/>
              </a:lnSpc>
              <a:spcBef>
                <a:spcPts val="0"/>
              </a:spcBef>
              <a:spcAft>
                <a:spcPts val="0"/>
              </a:spcAft>
              <a:buFont typeface="Wingdings" panose="05000000000000000000" charset="0"/>
              <a:buChar char="p"/>
            </a:pPr>
            <a:r>
              <a:rPr sz="2400" b="1" dirty="0">
                <a:latin typeface="+mn-ea"/>
              </a:rPr>
              <a:t>该思想使Java程序容易移植，只需为新平台实现相应的JVM，便可运行相同的Java字节码。</a:t>
            </a:r>
            <a:endParaRPr sz="2400" b="1" dirty="0">
              <a:latin typeface="+mn-ea"/>
            </a:endParaRPr>
          </a:p>
        </p:txBody>
      </p:sp>
      <p:sp>
        <p:nvSpPr>
          <p:cNvPr id="2" name="文本框 1"/>
          <p:cNvSpPr txBox="1"/>
          <p:nvPr/>
        </p:nvSpPr>
        <p:spPr>
          <a:xfrm>
            <a:off x="7779385" y="1162050"/>
            <a:ext cx="4030980" cy="4078605"/>
          </a:xfrm>
          <a:prstGeom prst="rect">
            <a:avLst/>
          </a:prstGeom>
          <a:noFill/>
        </p:spPr>
        <p:txBody>
          <a:bodyPr wrap="square" rtlCol="0" anchor="t">
            <a:spAutoFit/>
          </a:bodyPr>
          <a:p>
            <a:pPr>
              <a:lnSpc>
                <a:spcPct val="120000"/>
              </a:lnSpc>
            </a:pPr>
            <a:r>
              <a:rPr lang="zh-CN" altLang="en-US" sz="2400" b="1" dirty="0">
                <a:solidFill>
                  <a:srgbClr val="03010F"/>
                </a:solidFill>
                <a:latin typeface="+mn-ea"/>
                <a:sym typeface="+mn-ea"/>
              </a:rPr>
              <a:t>算术表达式：2*</a:t>
            </a:r>
            <a:r>
              <a:rPr lang="en-US" altLang="zh-CN" sz="2400" b="1" dirty="0">
                <a:solidFill>
                  <a:srgbClr val="03010F"/>
                </a:solidFill>
                <a:latin typeface="+mn-ea"/>
                <a:sym typeface="+mn-ea"/>
              </a:rPr>
              <a:t>a+(b-3)</a:t>
            </a:r>
            <a:r>
              <a:rPr lang="zh-CN" altLang="en-US" sz="2400" b="1" dirty="0">
                <a:solidFill>
                  <a:srgbClr val="03010F"/>
                </a:solidFill>
                <a:latin typeface="+mn-ea"/>
                <a:sym typeface="+mn-ea"/>
              </a:rPr>
              <a:t>的</a:t>
            </a:r>
            <a:r>
              <a:rPr lang="en-US" altLang="zh-CN" sz="2400" b="1" dirty="0">
                <a:solidFill>
                  <a:srgbClr val="03010F"/>
                </a:solidFill>
                <a:latin typeface="+mn-ea"/>
                <a:sym typeface="+mn-ea"/>
              </a:rPr>
              <a:t>Java</a:t>
            </a:r>
            <a:r>
              <a:rPr lang="zh-CN" altLang="en-US" sz="2400" b="1" dirty="0">
                <a:solidFill>
                  <a:srgbClr val="03010F"/>
                </a:solidFill>
                <a:latin typeface="+mn-ea"/>
                <a:sym typeface="+mn-ea"/>
              </a:rPr>
              <a:t>中间字节码如下：</a:t>
            </a:r>
            <a:endParaRPr lang="en-US" altLang="zh-CN" sz="2400" b="1" dirty="0" err="1">
              <a:solidFill>
                <a:srgbClr val="030305"/>
              </a:solidFill>
              <a:latin typeface="+mn-ea"/>
            </a:endParaRPr>
          </a:p>
          <a:p>
            <a:pPr marL="1853565" lvl="8" indent="19685">
              <a:lnSpc>
                <a:spcPct val="120000"/>
              </a:lnSpc>
            </a:pPr>
            <a:r>
              <a:rPr lang="en-US" altLang="zh-CN" sz="2400" b="1">
                <a:solidFill>
                  <a:srgbClr val="030305"/>
                </a:solidFill>
                <a:latin typeface="+mn-ea"/>
                <a:sym typeface="+mn-ea"/>
              </a:rPr>
              <a:t>iconst_2</a:t>
            </a:r>
            <a:endParaRPr lang="en-US" altLang="zh-CN" sz="2400" b="1">
              <a:solidFill>
                <a:srgbClr val="030305"/>
              </a:solidFill>
              <a:latin typeface="+mn-ea"/>
            </a:endParaRPr>
          </a:p>
          <a:p>
            <a:pPr marL="1853565" lvl="8" indent="19685">
              <a:lnSpc>
                <a:spcPct val="120000"/>
              </a:lnSpc>
            </a:pPr>
            <a:r>
              <a:rPr lang="en-US" altLang="zh-CN" sz="2400" b="1">
                <a:solidFill>
                  <a:srgbClr val="030305"/>
                </a:solidFill>
                <a:latin typeface="+mn-ea"/>
                <a:sym typeface="+mn-ea"/>
              </a:rPr>
              <a:t>iload a</a:t>
            </a:r>
            <a:endParaRPr lang="en-US" altLang="zh-CN" sz="2400" b="1">
              <a:solidFill>
                <a:srgbClr val="030305"/>
              </a:solidFill>
              <a:latin typeface="+mn-ea"/>
            </a:endParaRPr>
          </a:p>
          <a:p>
            <a:pPr marL="1853565" lvl="8" indent="19685">
              <a:lnSpc>
                <a:spcPct val="120000"/>
              </a:lnSpc>
            </a:pPr>
            <a:r>
              <a:rPr lang="en-US" altLang="zh-CN" sz="2400" b="1">
                <a:solidFill>
                  <a:srgbClr val="030305"/>
                </a:solidFill>
                <a:latin typeface="+mn-ea"/>
                <a:sym typeface="+mn-ea"/>
              </a:rPr>
              <a:t>imul</a:t>
            </a:r>
            <a:endParaRPr lang="en-US" altLang="zh-CN" sz="2400" b="1">
              <a:solidFill>
                <a:srgbClr val="030305"/>
              </a:solidFill>
              <a:latin typeface="+mn-ea"/>
            </a:endParaRPr>
          </a:p>
          <a:p>
            <a:pPr marL="1853565" lvl="8" indent="19685">
              <a:lnSpc>
                <a:spcPct val="120000"/>
              </a:lnSpc>
            </a:pPr>
            <a:r>
              <a:rPr lang="en-US" altLang="zh-CN" sz="2400" b="1">
                <a:solidFill>
                  <a:srgbClr val="030305"/>
                </a:solidFill>
                <a:latin typeface="+mn-ea"/>
                <a:sym typeface="+mn-ea"/>
              </a:rPr>
              <a:t>iload b</a:t>
            </a:r>
            <a:endParaRPr lang="en-US" altLang="zh-CN" sz="2400" b="1">
              <a:solidFill>
                <a:srgbClr val="030305"/>
              </a:solidFill>
              <a:latin typeface="+mn-ea"/>
            </a:endParaRPr>
          </a:p>
          <a:p>
            <a:pPr marL="1853565" lvl="8" indent="19685">
              <a:lnSpc>
                <a:spcPct val="120000"/>
              </a:lnSpc>
            </a:pPr>
            <a:r>
              <a:rPr lang="en-US" altLang="zh-CN" sz="2400" b="1">
                <a:solidFill>
                  <a:srgbClr val="030305"/>
                </a:solidFill>
                <a:latin typeface="+mn-ea"/>
                <a:sym typeface="+mn-ea"/>
              </a:rPr>
              <a:t>iconst_3</a:t>
            </a:r>
            <a:endParaRPr lang="en-US" altLang="zh-CN" sz="2400" b="1">
              <a:solidFill>
                <a:srgbClr val="030305"/>
              </a:solidFill>
              <a:latin typeface="+mn-ea"/>
            </a:endParaRPr>
          </a:p>
          <a:p>
            <a:pPr marL="1853565" lvl="8" indent="19685">
              <a:lnSpc>
                <a:spcPct val="120000"/>
              </a:lnSpc>
            </a:pPr>
            <a:r>
              <a:rPr lang="en-US" altLang="zh-CN" sz="2400" b="1">
                <a:solidFill>
                  <a:srgbClr val="030305"/>
                </a:solidFill>
                <a:latin typeface="+mn-ea"/>
                <a:sym typeface="+mn-ea"/>
              </a:rPr>
              <a:t>isub</a:t>
            </a:r>
            <a:endParaRPr lang="en-US" altLang="zh-CN" sz="2400" b="1">
              <a:solidFill>
                <a:srgbClr val="030305"/>
              </a:solidFill>
              <a:latin typeface="+mn-ea"/>
            </a:endParaRPr>
          </a:p>
          <a:p>
            <a:pPr marL="1853565" lvl="8" indent="19685">
              <a:lnSpc>
                <a:spcPct val="120000"/>
              </a:lnSpc>
            </a:pPr>
            <a:r>
              <a:rPr lang="en-US" altLang="zh-CN" sz="2400" b="1">
                <a:solidFill>
                  <a:srgbClr val="030305"/>
                </a:solidFill>
                <a:latin typeface="+mn-ea"/>
                <a:sym typeface="+mn-ea"/>
              </a:rPr>
              <a:t>iadd</a:t>
            </a:r>
            <a:endParaRPr lang="en-US" altLang="zh-CN" sz="2400" b="1">
              <a:solidFill>
                <a:srgbClr val="030305"/>
              </a:solidFill>
              <a:latin typeface="+mn-ea"/>
              <a:sym typeface="+mn-ea"/>
            </a:endParaRPr>
          </a:p>
        </p:txBody>
      </p:sp>
      <p:sp>
        <p:nvSpPr>
          <p:cNvPr id="3" name="文本框 2"/>
          <p:cNvSpPr txBox="1"/>
          <p:nvPr/>
        </p:nvSpPr>
        <p:spPr>
          <a:xfrm>
            <a:off x="516255" y="3133725"/>
            <a:ext cx="7153275" cy="3396615"/>
          </a:xfrm>
          <a:prstGeom prst="rect">
            <a:avLst/>
          </a:prstGeom>
          <a:noFill/>
        </p:spPr>
        <p:txBody>
          <a:bodyPr wrap="square" rtlCol="0" anchor="t">
            <a:noAutofit/>
          </a:bodyPr>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加载与存储：iload、istore、aload</a:t>
            </a:r>
            <a:endParaRPr lang="zh-CN" altLang="en-US" sz="2400" b="1">
              <a:latin typeface="仿宋" panose="02010609060101010101" charset="-122"/>
              <a:ea typeface="仿宋" panose="02010609060101010101" charset="-122"/>
              <a:cs typeface="仿宋" panose="02010609060101010101" charset="-122"/>
            </a:endParaRPr>
          </a:p>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常量压栈：iconst_0、bipush、ldc</a:t>
            </a:r>
            <a:endParaRPr lang="zh-CN" altLang="en-US" sz="2400" b="1">
              <a:latin typeface="仿宋" panose="02010609060101010101" charset="-122"/>
              <a:ea typeface="仿宋" panose="02010609060101010101" charset="-122"/>
              <a:cs typeface="仿宋" panose="02010609060101010101" charset="-122"/>
            </a:endParaRPr>
          </a:p>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算术运算：iadd、isub、imul、idiv</a:t>
            </a:r>
            <a:endParaRPr lang="zh-CN" altLang="en-US" sz="2400" b="1">
              <a:latin typeface="仿宋" panose="02010609060101010101" charset="-122"/>
              <a:ea typeface="仿宋" panose="02010609060101010101" charset="-122"/>
              <a:cs typeface="仿宋" panose="02010609060101010101" charset="-122"/>
            </a:endParaRPr>
          </a:p>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对象操作：new、getfield、putfield</a:t>
            </a:r>
            <a:endParaRPr lang="zh-CN" altLang="en-US" sz="2400" b="1">
              <a:latin typeface="仿宋" panose="02010609060101010101" charset="-122"/>
              <a:ea typeface="仿宋" panose="02010609060101010101" charset="-122"/>
              <a:cs typeface="仿宋" panose="02010609060101010101" charset="-122"/>
            </a:endParaRPr>
          </a:p>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方法调用：invokestatic、invokevirtual、invokespecial</a:t>
            </a:r>
            <a:endParaRPr lang="zh-CN" altLang="en-US" sz="2400" b="1">
              <a:latin typeface="仿宋" panose="02010609060101010101" charset="-122"/>
              <a:ea typeface="仿宋" panose="02010609060101010101" charset="-122"/>
              <a:cs typeface="仿宋" panose="02010609060101010101" charset="-122"/>
            </a:endParaRPr>
          </a:p>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控制转移：goto、ifeq、if_icmplt</a:t>
            </a:r>
            <a:endParaRPr lang="zh-CN" altLang="en-US" sz="2400" b="1">
              <a:latin typeface="仿宋" panose="02010609060101010101" charset="-122"/>
              <a:ea typeface="仿宋" panose="02010609060101010101" charset="-122"/>
              <a:cs typeface="仿宋" panose="02010609060101010101" charset="-122"/>
            </a:endParaRPr>
          </a:p>
          <a:p>
            <a:pPr marL="457200" indent="-457200">
              <a:buFont typeface="+mj-ea"/>
              <a:buAutoNum type="circleNumDbPlain"/>
            </a:pPr>
            <a:r>
              <a:rPr lang="zh-CN" altLang="en-US" sz="2400" b="1">
                <a:latin typeface="仿宋" panose="02010609060101010101" charset="-122"/>
                <a:ea typeface="仿宋" panose="02010609060101010101" charset="-122"/>
                <a:cs typeface="仿宋" panose="02010609060101010101" charset="-122"/>
              </a:rPr>
              <a:t>返回：ireturn、return</a:t>
            </a:r>
            <a:endParaRPr lang="zh-CN" altLang="en-US" sz="2400" b="1">
              <a:latin typeface="仿宋" panose="02010609060101010101" charset="-122"/>
              <a:ea typeface="仿宋" panose="02010609060101010101" charset="-122"/>
              <a:cs typeface="仿宋"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84810" y="276860"/>
            <a:ext cx="5361305" cy="593090"/>
          </a:xfrm>
        </p:spPr>
        <p:txBody>
          <a:bodyPr/>
          <a:lstStyle/>
          <a:p>
            <a:r>
              <a:rPr lang="en-US" altLang="zh-CN" dirty="0"/>
              <a:t>6.1.3 LLVM </a:t>
            </a:r>
            <a:r>
              <a:rPr lang="en-US" altLang="zh-CN" dirty="0"/>
              <a:t>IR</a:t>
            </a:r>
            <a:endParaRPr lang="en-US" altLang="zh-CN" dirty="0"/>
          </a:p>
        </p:txBody>
      </p:sp>
      <p:sp>
        <p:nvSpPr>
          <p:cNvPr id="7" name="Rectangle 3"/>
          <p:cNvSpPr>
            <a:spLocks noChangeArrowheads="1"/>
          </p:cNvSpPr>
          <p:nvPr>
            <p:custDataLst>
              <p:tags r:id="rId1"/>
            </p:custDataLst>
          </p:nvPr>
        </p:nvSpPr>
        <p:spPr bwMode="auto">
          <a:xfrm>
            <a:off x="384810" y="1175385"/>
            <a:ext cx="11437620" cy="40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0" indent="0">
              <a:lnSpc>
                <a:spcPct val="130000"/>
              </a:lnSpc>
              <a:buFontTx/>
              <a:buNone/>
            </a:pPr>
            <a:r>
              <a:rPr lang="en-US" altLang="zh-CN" sz="2800" b="1" dirty="0">
                <a:solidFill>
                  <a:srgbClr val="03010F"/>
                </a:solidFill>
                <a:latin typeface="+mn-ea"/>
                <a:ea typeface="+mn-ea"/>
                <a:sym typeface="+mn-ea"/>
              </a:rPr>
              <a:t>LLVM 已成为现代编译器体系中的重要基础框架</a:t>
            </a:r>
            <a:r>
              <a:rPr lang="zh-CN" altLang="en-US" sz="2800" b="1" dirty="0">
                <a:solidFill>
                  <a:srgbClr val="03010F"/>
                </a:solidFill>
                <a:latin typeface="+mn-ea"/>
                <a:ea typeface="+mn-ea"/>
                <a:sym typeface="+mn-ea"/>
              </a:rPr>
              <a:t>：</a:t>
            </a:r>
            <a:endParaRPr lang="zh-CN" altLang="en-US" sz="2800" b="1" dirty="0">
              <a:solidFill>
                <a:srgbClr val="03010F"/>
              </a:solidFill>
              <a:latin typeface="+mn-ea"/>
              <a:ea typeface="+mn-ea"/>
              <a:sym typeface="+mn-ea"/>
            </a:endParaRPr>
          </a:p>
          <a:p>
            <a:pPr marL="514350" indent="-514350">
              <a:lnSpc>
                <a:spcPct val="130000"/>
              </a:lnSpc>
              <a:buFont typeface="+mj-ea"/>
              <a:buAutoNum type="circleNumDbPlain"/>
            </a:pPr>
            <a:r>
              <a:rPr lang="en-US" altLang="zh-CN" sz="2800" b="1" dirty="0">
                <a:solidFill>
                  <a:srgbClr val="03010F"/>
                </a:solidFill>
                <a:latin typeface="+mn-ea"/>
                <a:ea typeface="+mn-ea"/>
              </a:rPr>
              <a:t>LLVM 是一个模块化、可重用的编译器基础设施，用于构建编译器、优化器、代码生成器等工具。</a:t>
            </a:r>
            <a:endParaRPr lang="en-US" altLang="zh-CN" sz="2800" b="1" dirty="0">
              <a:solidFill>
                <a:srgbClr val="03010F"/>
              </a:solidFill>
              <a:latin typeface="+mn-ea"/>
              <a:ea typeface="+mn-ea"/>
            </a:endParaRPr>
          </a:p>
          <a:p>
            <a:pPr marL="514350" indent="-514350">
              <a:lnSpc>
                <a:spcPct val="130000"/>
              </a:lnSpc>
              <a:buFont typeface="+mj-ea"/>
              <a:buAutoNum type="circleNumDbPlain"/>
            </a:pPr>
            <a:r>
              <a:rPr lang="en-US" altLang="zh-CN" sz="2800" b="1" dirty="0">
                <a:solidFill>
                  <a:srgbClr val="03010F"/>
                </a:solidFill>
                <a:latin typeface="+mn-ea"/>
                <a:ea typeface="+mn-ea"/>
              </a:rPr>
              <a:t>它以统一的中间表示 LLVM IR 为核心，将编译过程划分为前端、优化和后端，从而支持多种编程语言和目标平台。</a:t>
            </a:r>
            <a:endParaRPr lang="en-US" altLang="zh-CN" sz="2800" b="1" dirty="0">
              <a:solidFill>
                <a:srgbClr val="03010F"/>
              </a:solidFill>
              <a:latin typeface="+mn-ea"/>
              <a:ea typeface="+mn-ea"/>
            </a:endParaRPr>
          </a:p>
          <a:p>
            <a:pPr marL="514350" indent="-514350">
              <a:lnSpc>
                <a:spcPct val="130000"/>
              </a:lnSpc>
              <a:buFont typeface="+mj-ea"/>
              <a:buAutoNum type="circleNumDbPlain"/>
            </a:pPr>
            <a:r>
              <a:rPr lang="en-US" altLang="zh-CN" sz="2800" b="1" dirty="0">
                <a:solidFill>
                  <a:srgbClr val="03010F"/>
                </a:solidFill>
                <a:latin typeface="+mn-ea"/>
                <a:ea typeface="+mn-ea"/>
              </a:rPr>
              <a:t>以 Clang 为例，它先把 C/C++ 等源代码转换为 LLVM IR，再经过优化生成 x86、ARM 等平台的机器代码。</a:t>
            </a:r>
            <a:endParaRPr lang="zh-CN" altLang="en-US" sz="2800" b="1" dirty="0">
              <a:solidFill>
                <a:srgbClr val="03010F"/>
              </a:solidFill>
              <a:latin typeface="+mn-ea"/>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19405" y="276860"/>
            <a:ext cx="6314440" cy="593090"/>
          </a:xfrm>
        </p:spPr>
        <p:txBody>
          <a:bodyPr/>
          <a:lstStyle/>
          <a:p>
            <a:r>
              <a:rPr lang="en-US" altLang="zh-CN" dirty="0"/>
              <a:t>6.1.3 LLVM IR</a:t>
            </a:r>
            <a:r>
              <a:rPr lang="zh-CN" altLang="en-US" dirty="0"/>
              <a:t>（续）</a:t>
            </a:r>
            <a:endParaRPr lang="zh-CN" altLang="en-US" dirty="0"/>
          </a:p>
        </p:txBody>
      </p:sp>
      <p:sp>
        <p:nvSpPr>
          <p:cNvPr id="8" name="Rectangle 27"/>
          <p:cNvSpPr>
            <a:spLocks noGrp="1" noChangeArrowheads="1"/>
          </p:cNvSpPr>
          <p:nvPr/>
        </p:nvSpPr>
        <p:spPr bwMode="auto">
          <a:xfrm>
            <a:off x="377190" y="1181735"/>
            <a:ext cx="11598275" cy="564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457200" indent="-457200">
              <a:lnSpc>
                <a:spcPct val="120000"/>
              </a:lnSpc>
              <a:spcBef>
                <a:spcPct val="20000"/>
              </a:spcBef>
              <a:buFont typeface="Arial" panose="020B0604020202020204" pitchFamily="34" charset="0"/>
              <a:buChar char="•"/>
            </a:pPr>
            <a:r>
              <a:rPr lang="en-US" altLang="zh-CN" sz="2400" b="1" dirty="0">
                <a:latin typeface="+mn-ea"/>
                <a:ea typeface="+mn-ea"/>
              </a:rPr>
              <a:t>IR</a:t>
            </a:r>
            <a:r>
              <a:rPr lang="zh-CN" altLang="en-US" sz="2400" b="1" dirty="0">
                <a:latin typeface="+mn-ea"/>
                <a:ea typeface="+mn-ea"/>
              </a:rPr>
              <a:t>文件以</a:t>
            </a:r>
            <a:r>
              <a:rPr lang="en-US" altLang="zh-CN" sz="2400" b="1" dirty="0">
                <a:latin typeface="+mn-ea"/>
                <a:ea typeface="+mn-ea"/>
              </a:rPr>
              <a:t>Module</a:t>
            </a:r>
            <a:r>
              <a:rPr lang="zh-CN" altLang="en-US" sz="2400" b="1" dirty="0">
                <a:latin typeface="+mn-ea"/>
                <a:ea typeface="+mn-ea"/>
              </a:rPr>
              <a:t>、</a:t>
            </a:r>
            <a:r>
              <a:rPr lang="en-US" altLang="zh-CN" sz="2400" b="1" dirty="0">
                <a:latin typeface="+mn-ea"/>
                <a:ea typeface="+mn-ea"/>
              </a:rPr>
              <a:t>Function</a:t>
            </a:r>
            <a:r>
              <a:rPr lang="zh-CN" altLang="en-US" sz="2400" b="1" dirty="0">
                <a:latin typeface="+mn-ea"/>
                <a:ea typeface="+mn-ea"/>
              </a:rPr>
              <a:t>、</a:t>
            </a:r>
            <a:r>
              <a:rPr lang="en-US" altLang="zh-CN" sz="2400" b="1" dirty="0">
                <a:latin typeface="+mn-ea"/>
                <a:ea typeface="+mn-ea"/>
              </a:rPr>
              <a:t>Basic Block</a:t>
            </a:r>
            <a:r>
              <a:rPr lang="zh-CN" altLang="en-US" sz="2400" b="1" dirty="0">
                <a:latin typeface="+mn-ea"/>
                <a:ea typeface="+mn-ea"/>
              </a:rPr>
              <a:t>按层次结构组织的。</a:t>
            </a:r>
            <a:endParaRPr lang="zh-CN" altLang="en-US" sz="2400" b="1" dirty="0">
              <a:latin typeface="+mn-ea"/>
              <a:ea typeface="+mn-ea"/>
            </a:endParaRPr>
          </a:p>
          <a:p>
            <a:pPr marL="914400" lvl="1" indent="-457200">
              <a:lnSpc>
                <a:spcPct val="120000"/>
              </a:lnSpc>
              <a:spcBef>
                <a:spcPct val="20000"/>
              </a:spcBef>
              <a:buFont typeface="Wingdings" panose="05000000000000000000" charset="0"/>
              <a:buChar char="ü"/>
            </a:pPr>
            <a:r>
              <a:rPr lang="zh-CN" altLang="en-US" sz="2400" b="1" dirty="0">
                <a:latin typeface="+mn-ea"/>
                <a:ea typeface="+mn-ea"/>
              </a:rPr>
              <a:t>LLVM IR 文件按层次结构组织为 Module、Function 和 Basic Block：Module 表示整个编译单元，Function 表示函数，Basic Block 表示函数中的基本块，是顺序执行且只有单一入口和出口的指令序列。</a:t>
            </a:r>
            <a:endParaRPr lang="zh-CN" altLang="en-US" sz="2400" b="1" dirty="0">
              <a:latin typeface="+mn-ea"/>
              <a:ea typeface="+mn-ea"/>
            </a:endParaRPr>
          </a:p>
          <a:p>
            <a:pPr marL="914400" lvl="1" indent="-457200">
              <a:lnSpc>
                <a:spcPct val="120000"/>
              </a:lnSpc>
              <a:spcBef>
                <a:spcPct val="20000"/>
              </a:spcBef>
              <a:buFont typeface="Wingdings" panose="05000000000000000000" charset="0"/>
              <a:buChar char="ü"/>
            </a:pPr>
            <a:r>
              <a:rPr lang="zh-CN" altLang="en-US" sz="2400" b="1" dirty="0">
                <a:latin typeface="+mn-ea"/>
                <a:ea typeface="+mn-ea"/>
              </a:rPr>
              <a:t>LLVM IR 使用虚拟寄存器表示局部变量或临时变量，如 %1、%2，也可使用具名形式如 %a、%b，常见指令形式为 %1 = ins type %2, %3。</a:t>
            </a:r>
            <a:endParaRPr lang="zh-CN" altLang="en-US" sz="2400" b="1" dirty="0">
              <a:latin typeface="+mn-ea"/>
              <a:ea typeface="+mn-ea"/>
            </a:endParaRPr>
          </a:p>
          <a:p>
            <a:pPr marL="914400" lvl="1" indent="-457200">
              <a:lnSpc>
                <a:spcPct val="120000"/>
              </a:lnSpc>
              <a:spcBef>
                <a:spcPct val="20000"/>
              </a:spcBef>
              <a:buFont typeface="Wingdings" panose="05000000000000000000" charset="0"/>
              <a:buChar char="ü"/>
            </a:pPr>
            <a:r>
              <a:rPr lang="zh-CN" altLang="en-US" sz="2400" b="1" dirty="0">
                <a:latin typeface="+mn-ea"/>
                <a:ea typeface="+mn-ea"/>
              </a:rPr>
              <a:t>LLVM IR 是强类型中间表示，操作数必须带有明确类型；高级语言中的基本类型可映射为 i8、i16、i32、i64、float、double 等类型及其指针类型，例如 C 语言中的 char、short、int、long long、float、double 可分别映射为对应的 LLVM IR 类型。</a:t>
            </a:r>
            <a:endParaRPr lang="zh-CN" altLang="en-US" sz="2400" b="1"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4"/>
          </p:nvPr>
        </p:nvSpPr>
        <p:spPr>
          <a:xfrm>
            <a:off x="362585" y="276860"/>
            <a:ext cx="6271260" cy="593090"/>
          </a:xfrm>
        </p:spPr>
        <p:txBody>
          <a:bodyPr/>
          <a:lstStyle/>
          <a:p>
            <a:r>
              <a:rPr lang="en-US" altLang="zh-CN" dirty="0"/>
              <a:t>6.1.3 LLVM IR</a:t>
            </a:r>
            <a:r>
              <a:rPr lang="zh-CN" altLang="en-US" dirty="0"/>
              <a:t>（续）</a:t>
            </a:r>
            <a:endParaRPr lang="zh-CN" altLang="en-US" dirty="0"/>
          </a:p>
        </p:txBody>
      </p:sp>
      <p:sp>
        <p:nvSpPr>
          <p:cNvPr id="4" name="Rectangle 27"/>
          <p:cNvSpPr txBox="1"/>
          <p:nvPr/>
        </p:nvSpPr>
        <p:spPr>
          <a:xfrm>
            <a:off x="362585" y="1189990"/>
            <a:ext cx="4664075" cy="44081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5000"/>
              </a:lnSpc>
              <a:buFont typeface="Wingdings" panose="05000000000000000000" charset="0"/>
              <a:buChar char="p"/>
            </a:pPr>
            <a:r>
              <a:rPr lang="zh-CN" altLang="en-US" sz="2400" b="1" noProof="1">
                <a:solidFill>
                  <a:srgbClr val="03010F"/>
                </a:solidFill>
                <a:latin typeface="+mn-ea"/>
              </a:rPr>
              <a:t>LLVM IR变量定义</a:t>
            </a:r>
            <a:endParaRPr lang="zh-CN" altLang="en-US" sz="2400" b="1" noProof="1">
              <a:solidFill>
                <a:srgbClr val="03010F"/>
              </a:solidFill>
              <a:latin typeface="+mn-ea"/>
            </a:endParaRPr>
          </a:p>
          <a:p>
            <a:pPr marL="457200" lvl="2" indent="-342900" fontAlgn="auto">
              <a:lnSpc>
                <a:spcPct val="125000"/>
              </a:lnSpc>
              <a:buFont typeface="Wingdings" panose="05000000000000000000" charset="0"/>
              <a:buChar char="p"/>
            </a:pPr>
            <a:r>
              <a:rPr lang="zh-CN" altLang="en-US" b="1" noProof="1">
                <a:solidFill>
                  <a:srgbClr val="03010F"/>
                </a:solidFill>
                <a:latin typeface="+mn-ea"/>
              </a:rPr>
              <a:t>局部变量定义使用</a:t>
            </a:r>
            <a:r>
              <a:rPr lang="en-US" altLang="zh-CN" b="1" noProof="1">
                <a:solidFill>
                  <a:srgbClr val="03010F"/>
                </a:solidFill>
                <a:latin typeface="+mn-ea"/>
              </a:rPr>
              <a:t>alloca</a:t>
            </a:r>
            <a:r>
              <a:rPr lang="zh-CN" altLang="en-US" b="1" noProof="1">
                <a:solidFill>
                  <a:srgbClr val="03010F"/>
                </a:solidFill>
                <a:latin typeface="+mn-ea"/>
              </a:rPr>
              <a:t>指令</a:t>
            </a:r>
            <a:r>
              <a:rPr lang="en-US" altLang="zh-CN" b="1" noProof="1">
                <a:solidFill>
                  <a:srgbClr val="03010F"/>
                </a:solidFill>
                <a:latin typeface="+mn-ea"/>
              </a:rPr>
              <a:t>(</a:t>
            </a:r>
            <a:r>
              <a:rPr lang="zh-CN" altLang="en-US" b="1">
                <a:solidFill>
                  <a:srgbClr val="03010F"/>
                </a:solidFill>
                <a:latin typeface="+mn-ea"/>
                <a:sym typeface="+mn-ea"/>
              </a:rPr>
              <a:t>在函数范围内局部变量的内存分配</a:t>
            </a:r>
            <a:r>
              <a:rPr lang="en-US" altLang="zh-CN" b="1">
                <a:solidFill>
                  <a:srgbClr val="03010F"/>
                </a:solidFill>
                <a:latin typeface="+mn-ea"/>
                <a:sym typeface="+mn-ea"/>
              </a:rPr>
              <a:t>),</a:t>
            </a:r>
            <a:r>
              <a:rPr lang="zh-CN" altLang="en-US" b="1" noProof="1">
                <a:solidFill>
                  <a:srgbClr val="03010F"/>
                </a:solidFill>
                <a:latin typeface="+mn-ea"/>
              </a:rPr>
              <a:t>例如</a:t>
            </a:r>
            <a:r>
              <a:rPr lang="en-US" altLang="zh-CN" b="1" noProof="1">
                <a:solidFill>
                  <a:srgbClr val="03010F"/>
                </a:solidFill>
                <a:latin typeface="+mn-ea"/>
              </a:rPr>
              <a:t>int a </a:t>
            </a:r>
            <a:r>
              <a:rPr lang="zh-CN" altLang="en-US" b="1" noProof="1">
                <a:solidFill>
                  <a:srgbClr val="03010F"/>
                </a:solidFill>
                <a:latin typeface="+mn-ea"/>
              </a:rPr>
              <a:t>的</a:t>
            </a:r>
            <a:r>
              <a:rPr lang="en-US" altLang="zh-CN" b="1" noProof="1">
                <a:solidFill>
                  <a:srgbClr val="03010F"/>
                </a:solidFill>
                <a:latin typeface="+mn-ea"/>
              </a:rPr>
              <a:t>IR</a:t>
            </a:r>
            <a:r>
              <a:rPr lang="zh-CN" altLang="en-US" b="1" noProof="1">
                <a:solidFill>
                  <a:srgbClr val="03010F"/>
                </a:solidFill>
                <a:latin typeface="+mn-ea"/>
              </a:rPr>
              <a:t>为：</a:t>
            </a:r>
            <a:r>
              <a:rPr lang="en-US" altLang="zh-CN" sz="2000" b="1" noProof="1">
                <a:solidFill>
                  <a:srgbClr val="03010F"/>
                </a:solidFill>
                <a:latin typeface="+mn-ea"/>
              </a:rPr>
              <a:t>%a = alloca i32</a:t>
            </a:r>
            <a:endParaRPr lang="en-US" altLang="zh-CN" sz="2000" b="1" noProof="1">
              <a:solidFill>
                <a:srgbClr val="03010F"/>
              </a:solidFill>
              <a:latin typeface="+mn-ea"/>
            </a:endParaRPr>
          </a:p>
          <a:p>
            <a:pPr marL="457200" lvl="1" indent="-342900" fontAlgn="auto">
              <a:lnSpc>
                <a:spcPct val="125000"/>
              </a:lnSpc>
              <a:buFont typeface="Wingdings" panose="05000000000000000000" charset="0"/>
              <a:buChar char="p"/>
            </a:pPr>
            <a:r>
              <a:rPr lang="zh-CN" altLang="en-US" sz="2000" b="1" noProof="1">
                <a:solidFill>
                  <a:srgbClr val="03010F"/>
                </a:solidFill>
                <a:latin typeface="+mn-ea"/>
              </a:rPr>
              <a:t>全局变量定义使用global指令</a:t>
            </a:r>
            <a:r>
              <a:rPr lang="zh-CN" altLang="en-US" sz="2000" b="1">
                <a:solidFill>
                  <a:srgbClr val="03010F"/>
                </a:solidFill>
                <a:latin typeface="+mn-ea"/>
                <a:sym typeface="+mn-ea"/>
              </a:rPr>
              <a:t>(</a:t>
            </a:r>
            <a:r>
              <a:rPr lang="zh-CN" altLang="en-US" sz="2000" b="1">
                <a:solidFill>
                  <a:srgbClr val="03010F"/>
                </a:solidFill>
                <a:latin typeface="+mn-ea"/>
                <a:sym typeface="+mn-ea"/>
              </a:rPr>
              <a:t>在模块范围内静态方式的内存分配</a:t>
            </a:r>
            <a:r>
              <a:rPr lang="zh-CN" altLang="en-US" sz="2000" b="1">
                <a:solidFill>
                  <a:srgbClr val="03010F"/>
                </a:solidFill>
                <a:latin typeface="+mn-ea"/>
                <a:sym typeface="+mn-ea"/>
              </a:rPr>
              <a:t>)</a:t>
            </a:r>
            <a:r>
              <a:rPr lang="zh-CN" altLang="en-US" sz="2000" b="1" noProof="1">
                <a:solidFill>
                  <a:srgbClr val="03010F"/>
                </a:solidFill>
                <a:latin typeface="+mn-ea"/>
              </a:rPr>
              <a:t>，例如int a;的IR为：@a = global i32 0</a:t>
            </a:r>
            <a:endParaRPr lang="zh-CN" altLang="en-US" sz="2000" b="1" noProof="1">
              <a:solidFill>
                <a:srgbClr val="03010F"/>
              </a:solidFill>
              <a:latin typeface="+mn-ea"/>
            </a:endParaRPr>
          </a:p>
          <a:p>
            <a:pPr marL="134620" lvl="0" indent="-342900" fontAlgn="auto">
              <a:lnSpc>
                <a:spcPct val="125000"/>
              </a:lnSpc>
              <a:buFont typeface="Wingdings" panose="05000000000000000000" charset="0"/>
              <a:buChar char="p"/>
            </a:pPr>
            <a:r>
              <a:rPr lang="zh-CN" altLang="en-US" sz="2400" b="1" noProof="1">
                <a:solidFill>
                  <a:srgbClr val="03010F"/>
                </a:solidFill>
                <a:latin typeface="+mn-ea"/>
              </a:rPr>
              <a:t>alloca指令</a:t>
            </a:r>
            <a:r>
              <a:rPr lang="zh-CN" altLang="en-US" sz="2400" b="1" noProof="1">
                <a:solidFill>
                  <a:srgbClr val="03010F"/>
                </a:solidFill>
                <a:latin typeface="+mn-ea"/>
              </a:rPr>
              <a:t>和global指令返回的变量都是指针，%a或@a的类型都是i32*</a:t>
            </a:r>
            <a:endParaRPr lang="zh-CN" altLang="en-US" sz="2400" b="1" noProof="1">
              <a:solidFill>
                <a:srgbClr val="03010F"/>
              </a:solidFill>
              <a:latin typeface="+mn-ea"/>
            </a:endParaRPr>
          </a:p>
        </p:txBody>
      </p:sp>
      <p:grpSp>
        <p:nvGrpSpPr>
          <p:cNvPr id="5" name="Group 4"/>
          <p:cNvGrpSpPr/>
          <p:nvPr/>
        </p:nvGrpSpPr>
        <p:grpSpPr bwMode="auto">
          <a:xfrm>
            <a:off x="5404335" y="3999585"/>
            <a:ext cx="2590800" cy="1489075"/>
            <a:chOff x="336" y="2018"/>
            <a:chExt cx="1632" cy="938"/>
          </a:xfrm>
        </p:grpSpPr>
        <p:sp useBgFill="1">
          <p:nvSpPr>
            <p:cNvPr id="6" name="Rectangle 5"/>
            <p:cNvSpPr>
              <a:spLocks noChangeArrowheads="1"/>
            </p:cNvSpPr>
            <p:nvPr>
              <p:custDataLst>
                <p:tags r:id="rId1"/>
              </p:custDataLst>
            </p:nvPr>
          </p:nvSpPr>
          <p:spPr bwMode="auto">
            <a:xfrm>
              <a:off x="960" y="2018"/>
              <a:ext cx="192"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7" name="Rectangle 6"/>
            <p:cNvSpPr>
              <a:spLocks noChangeArrowheads="1"/>
            </p:cNvSpPr>
            <p:nvPr>
              <p:custDataLst>
                <p:tags r:id="rId2"/>
              </p:custDataLst>
            </p:nvPr>
          </p:nvSpPr>
          <p:spPr bwMode="auto">
            <a:xfrm>
              <a:off x="576" y="2234"/>
              <a:ext cx="240"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8" name="Rectangle 7"/>
            <p:cNvSpPr>
              <a:spLocks noChangeArrowheads="1"/>
            </p:cNvSpPr>
            <p:nvPr>
              <p:custDataLst>
                <p:tags r:id="rId3"/>
              </p:custDataLst>
            </p:nvPr>
          </p:nvSpPr>
          <p:spPr bwMode="auto">
            <a:xfrm>
              <a:off x="1392" y="2234"/>
              <a:ext cx="33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p:nvSpPr>
            <p:cNvPr id="9" name="Line 8"/>
            <p:cNvSpPr>
              <a:spLocks noChangeShapeType="1"/>
            </p:cNvSpPr>
            <p:nvPr>
              <p:custDataLst>
                <p:tags r:id="rId4"/>
              </p:custDataLst>
            </p:nvPr>
          </p:nvSpPr>
          <p:spPr bwMode="auto">
            <a:xfrm flipH="1">
              <a:off x="720" y="2184"/>
              <a:ext cx="240" cy="144"/>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0" name="Line 9"/>
            <p:cNvSpPr>
              <a:spLocks noChangeShapeType="1"/>
            </p:cNvSpPr>
            <p:nvPr>
              <p:custDataLst>
                <p:tags r:id="rId5"/>
              </p:custDataLst>
            </p:nvPr>
          </p:nvSpPr>
          <p:spPr bwMode="auto">
            <a:xfrm>
              <a:off x="1152" y="2184"/>
              <a:ext cx="336" cy="96"/>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1" name="Line 10"/>
            <p:cNvSpPr>
              <a:spLocks noChangeShapeType="1"/>
            </p:cNvSpPr>
            <p:nvPr>
              <p:custDataLst>
                <p:tags r:id="rId6"/>
              </p:custDataLst>
            </p:nvPr>
          </p:nvSpPr>
          <p:spPr bwMode="auto">
            <a:xfrm flipH="1">
              <a:off x="528"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3" name="Line 11"/>
            <p:cNvSpPr>
              <a:spLocks noChangeShapeType="1"/>
            </p:cNvSpPr>
            <p:nvPr>
              <p:custDataLst>
                <p:tags r:id="rId7"/>
              </p:custDataLst>
            </p:nvPr>
          </p:nvSpPr>
          <p:spPr bwMode="auto">
            <a:xfrm>
              <a:off x="768"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4" name="Rectangle 12"/>
            <p:cNvSpPr>
              <a:spLocks noChangeArrowheads="1"/>
            </p:cNvSpPr>
            <p:nvPr>
              <p:custDataLst>
                <p:tags r:id="rId8"/>
              </p:custDataLst>
            </p:nvPr>
          </p:nvSpPr>
          <p:spPr bwMode="auto">
            <a:xfrm>
              <a:off x="336" y="2666"/>
              <a:ext cx="33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2</a:t>
              </a:r>
              <a:endParaRPr lang="en-US" altLang="zh-CN" sz="2400" b="1">
                <a:solidFill>
                  <a:srgbClr val="070709"/>
                </a:solidFill>
                <a:latin typeface="+mn-ea"/>
              </a:endParaRPr>
            </a:p>
          </p:txBody>
        </p:sp>
        <p:sp useBgFill="1">
          <p:nvSpPr>
            <p:cNvPr id="15" name="Rectangle 13"/>
            <p:cNvSpPr>
              <a:spLocks noChangeArrowheads="1"/>
            </p:cNvSpPr>
            <p:nvPr>
              <p:custDataLst>
                <p:tags r:id="rId9"/>
              </p:custDataLst>
            </p:nvPr>
          </p:nvSpPr>
          <p:spPr bwMode="auto">
            <a:xfrm>
              <a:off x="720" y="2666"/>
              <a:ext cx="33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a</a:t>
              </a:r>
              <a:endParaRPr lang="en-US" altLang="zh-CN" sz="2400" b="1">
                <a:solidFill>
                  <a:srgbClr val="070709"/>
                </a:solidFill>
                <a:latin typeface="+mn-ea"/>
              </a:endParaRPr>
            </a:p>
          </p:txBody>
        </p:sp>
        <p:sp>
          <p:nvSpPr>
            <p:cNvPr id="16" name="Line 14"/>
            <p:cNvSpPr>
              <a:spLocks noChangeShapeType="1"/>
            </p:cNvSpPr>
            <p:nvPr>
              <p:custDataLst>
                <p:tags r:id="rId10"/>
              </p:custDataLst>
            </p:nvPr>
          </p:nvSpPr>
          <p:spPr bwMode="auto">
            <a:xfrm flipH="1">
              <a:off x="1440"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p:nvSpPr>
            <p:cNvPr id="17" name="Line 15"/>
            <p:cNvSpPr>
              <a:spLocks noChangeShapeType="1"/>
            </p:cNvSpPr>
            <p:nvPr>
              <p:custDataLst>
                <p:tags r:id="rId11"/>
              </p:custDataLst>
            </p:nvPr>
          </p:nvSpPr>
          <p:spPr bwMode="auto">
            <a:xfrm>
              <a:off x="1680" y="2472"/>
              <a:ext cx="96" cy="192"/>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lstStyle/>
            <a:p>
              <a:endParaRPr lang="zh-CN" altLang="en-US" sz="2400" b="1">
                <a:latin typeface="+mn-ea"/>
              </a:endParaRPr>
            </a:p>
          </p:txBody>
        </p:sp>
        <p:sp useBgFill="1">
          <p:nvSpPr>
            <p:cNvPr id="18" name="Rectangle 16"/>
            <p:cNvSpPr>
              <a:spLocks noChangeArrowheads="1"/>
            </p:cNvSpPr>
            <p:nvPr>
              <p:custDataLst>
                <p:tags r:id="rId12"/>
              </p:custDataLst>
            </p:nvPr>
          </p:nvSpPr>
          <p:spPr bwMode="auto">
            <a:xfrm>
              <a:off x="1248" y="2666"/>
              <a:ext cx="33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b</a:t>
              </a:r>
              <a:endParaRPr lang="en-US" altLang="zh-CN" sz="2400" b="1">
                <a:solidFill>
                  <a:srgbClr val="070709"/>
                </a:solidFill>
                <a:latin typeface="+mn-ea"/>
              </a:endParaRPr>
            </a:p>
          </p:txBody>
        </p:sp>
        <p:sp useBgFill="1">
          <p:nvSpPr>
            <p:cNvPr id="19" name="Rectangle 17"/>
            <p:cNvSpPr>
              <a:spLocks noChangeArrowheads="1"/>
            </p:cNvSpPr>
            <p:nvPr>
              <p:custDataLst>
                <p:tags r:id="rId13"/>
              </p:custDataLst>
            </p:nvPr>
          </p:nvSpPr>
          <p:spPr bwMode="auto">
            <a:xfrm>
              <a:off x="1632" y="2666"/>
              <a:ext cx="33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3</a:t>
              </a:r>
              <a:endParaRPr lang="en-US" altLang="zh-CN" sz="2400" b="1">
                <a:solidFill>
                  <a:srgbClr val="070709"/>
                </a:solidFill>
                <a:latin typeface="+mn-ea"/>
              </a:endParaRPr>
            </a:p>
          </p:txBody>
        </p:sp>
      </p:grpSp>
      <p:sp>
        <p:nvSpPr>
          <p:cNvPr id="22" name="Rectangle 27"/>
          <p:cNvSpPr txBox="1">
            <a:spLocks noChangeArrowheads="1"/>
          </p:cNvSpPr>
          <p:nvPr/>
        </p:nvSpPr>
        <p:spPr>
          <a:xfrm>
            <a:off x="5354320" y="1494155"/>
            <a:ext cx="2950845" cy="1557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5000"/>
              </a:lnSpc>
              <a:spcBef>
                <a:spcPts val="0"/>
              </a:spcBef>
              <a:spcAft>
                <a:spcPts val="0"/>
              </a:spcAft>
              <a:buNone/>
            </a:pPr>
            <a:r>
              <a:rPr lang="zh-CN" altLang="en-US" sz="2400" b="1" dirty="0">
                <a:latin typeface="Times New Roman" panose="02020603050405020304" pitchFamily="18" charset="0"/>
                <a:cs typeface="Times New Roman" panose="02020603050405020304" pitchFamily="18" charset="0"/>
                <a:sym typeface="+mn-ea"/>
              </a:rPr>
              <a:t>int a = 4;</a:t>
            </a:r>
            <a:endParaRPr lang="zh-CN" altLang="en-US" sz="2400" b="1" dirty="0">
              <a:latin typeface="Times New Roman" panose="02020603050405020304" pitchFamily="18" charset="0"/>
              <a:cs typeface="Times New Roman" panose="02020603050405020304" pitchFamily="18" charset="0"/>
            </a:endParaRPr>
          </a:p>
          <a:p>
            <a:pPr marL="0" indent="0" fontAlgn="auto">
              <a:lnSpc>
                <a:spcPct val="125000"/>
              </a:lnSpc>
              <a:spcBef>
                <a:spcPts val="0"/>
              </a:spcBef>
              <a:spcAft>
                <a:spcPts val="0"/>
              </a:spcAft>
              <a:buNone/>
            </a:pPr>
            <a:r>
              <a:rPr lang="zh-CN" altLang="en-US" sz="2400" b="1" dirty="0">
                <a:latin typeface="Times New Roman" panose="02020603050405020304" pitchFamily="18" charset="0"/>
                <a:cs typeface="Times New Roman" panose="02020603050405020304" pitchFamily="18" charset="0"/>
                <a:sym typeface="+mn-ea"/>
              </a:rPr>
              <a:t>int b = 4;</a:t>
            </a:r>
            <a:endParaRPr lang="zh-CN" altLang="en-US" sz="2400" b="1" dirty="0">
              <a:latin typeface="Times New Roman" panose="02020603050405020304" pitchFamily="18" charset="0"/>
              <a:cs typeface="Times New Roman" panose="02020603050405020304" pitchFamily="18" charset="0"/>
            </a:endParaRPr>
          </a:p>
          <a:p>
            <a:pPr marL="0" indent="0" fontAlgn="auto">
              <a:lnSpc>
                <a:spcPct val="125000"/>
              </a:lnSpc>
              <a:spcBef>
                <a:spcPts val="0"/>
              </a:spcBef>
              <a:spcAft>
                <a:spcPts val="0"/>
              </a:spcAft>
              <a:buNone/>
            </a:pPr>
            <a:r>
              <a:rPr lang="en-US" altLang="zh-CN" sz="2400" b="1" dirty="0">
                <a:latin typeface="Times New Roman" panose="02020603050405020304" pitchFamily="18" charset="0"/>
                <a:cs typeface="Times New Roman" panose="02020603050405020304" pitchFamily="18" charset="0"/>
                <a:sym typeface="+mn-ea"/>
              </a:rPr>
              <a:t>a = </a:t>
            </a:r>
            <a:r>
              <a:rPr lang="zh-CN" altLang="en-US" sz="2400" b="1" dirty="0">
                <a:latin typeface="Times New Roman" panose="02020603050405020304" pitchFamily="18" charset="0"/>
                <a:cs typeface="Times New Roman" panose="02020603050405020304" pitchFamily="18" charset="0"/>
                <a:sym typeface="+mn-ea"/>
              </a:rPr>
              <a:t>2 * a + ( b - 3 );</a:t>
            </a:r>
            <a:endParaRPr lang="zh-CN" altLang="en-US" sz="2400" b="1" dirty="0">
              <a:solidFill>
                <a:srgbClr val="03010F"/>
              </a:solidFill>
              <a:latin typeface="+mn-ea"/>
            </a:endParaRPr>
          </a:p>
        </p:txBody>
      </p:sp>
      <p:sp>
        <p:nvSpPr>
          <p:cNvPr id="25" name="文本框 3"/>
          <p:cNvSpPr txBox="1">
            <a:spLocks noChangeArrowheads="1"/>
          </p:cNvSpPr>
          <p:nvPr/>
        </p:nvSpPr>
        <p:spPr bwMode="auto">
          <a:xfrm>
            <a:off x="8300085" y="1405255"/>
            <a:ext cx="3484880" cy="3784600"/>
          </a:xfrm>
          <a:prstGeom prst="rect">
            <a:avLst/>
          </a:prstGeom>
          <a:solidFill>
            <a:schemeClr val="bg2"/>
          </a:solidFill>
          <a:ln>
            <a:noFill/>
          </a:ln>
        </p:spPr>
        <p:txBody>
          <a:bodyPr wrap="square">
            <a:spAutoFit/>
          </a:bodyPr>
          <a:p>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 = </a:t>
            </a:r>
            <a:r>
              <a:rPr lang="zh-CN" altLang="en-US" sz="2400" b="1" dirty="0">
                <a:solidFill>
                  <a:srgbClr val="FF0000"/>
                </a:solidFill>
                <a:latin typeface="Times New Roman" panose="02020603050405020304" pitchFamily="18" charset="0"/>
                <a:cs typeface="Times New Roman" panose="02020603050405020304" pitchFamily="18" charset="0"/>
              </a:rPr>
              <a:t>alloca </a:t>
            </a:r>
            <a:r>
              <a:rPr lang="zh-CN" altLang="en-US" sz="2400" b="1" dirty="0">
                <a:solidFill>
                  <a:srgbClr val="00B0F0"/>
                </a:solidFill>
                <a:latin typeface="Times New Roman" panose="02020603050405020304" pitchFamily="18" charset="0"/>
                <a:cs typeface="Times New Roman" panose="02020603050405020304" pitchFamily="18" charset="0"/>
              </a:rPr>
              <a:t>i32</a:t>
            </a:r>
            <a:endParaRPr lang="zh-CN" altLang="en-US" sz="2400" b="1" dirty="0">
              <a:latin typeface="Times New Roman" panose="02020603050405020304" pitchFamily="18" charset="0"/>
              <a:cs typeface="Times New Roman" panose="02020603050405020304" pitchFamily="18" charset="0"/>
            </a:endParaRPr>
          </a:p>
          <a:p>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b</a:t>
            </a:r>
            <a:r>
              <a:rPr lang="zh-CN" altLang="en-US" sz="2400" b="1" dirty="0">
                <a:latin typeface="Times New Roman" panose="02020603050405020304" pitchFamily="18" charset="0"/>
                <a:cs typeface="Times New Roman" panose="02020603050405020304" pitchFamily="18" charset="0"/>
              </a:rPr>
              <a:t> = </a:t>
            </a:r>
            <a:r>
              <a:rPr lang="zh-CN" altLang="en-US" sz="2400" b="1" dirty="0">
                <a:solidFill>
                  <a:srgbClr val="FF0000"/>
                </a:solidFill>
                <a:latin typeface="Times New Roman" panose="02020603050405020304" pitchFamily="18" charset="0"/>
                <a:cs typeface="Times New Roman" panose="02020603050405020304" pitchFamily="18" charset="0"/>
              </a:rPr>
              <a:t>alloca </a:t>
            </a:r>
            <a:r>
              <a:rPr lang="zh-CN" altLang="en-US" sz="2400" b="1" dirty="0">
                <a:solidFill>
                  <a:srgbClr val="00B0F0"/>
                </a:solidFill>
                <a:latin typeface="Times New Roman" panose="02020603050405020304" pitchFamily="18" charset="0"/>
                <a:cs typeface="Times New Roman" panose="02020603050405020304" pitchFamily="18" charset="0"/>
              </a:rPr>
              <a:t>i32</a:t>
            </a:r>
            <a:endParaRPr lang="zh-CN" altLang="en-US" sz="2400" b="1" dirty="0">
              <a:latin typeface="Times New Roman" panose="02020603050405020304" pitchFamily="18" charset="0"/>
              <a:cs typeface="Times New Roman" panose="02020603050405020304" pitchFamily="18" charset="0"/>
            </a:endParaRPr>
          </a:p>
          <a:p>
            <a:r>
              <a:rPr lang="zh-CN" altLang="en-US" sz="2400" b="1" dirty="0">
                <a:solidFill>
                  <a:srgbClr val="FF0000"/>
                </a:solidFill>
                <a:latin typeface="Times New Roman" panose="02020603050405020304" pitchFamily="18" charset="0"/>
                <a:cs typeface="Times New Roman" panose="02020603050405020304" pitchFamily="18" charset="0"/>
              </a:rPr>
              <a:t>store </a:t>
            </a:r>
            <a:r>
              <a:rPr lang="zh-CN" altLang="en-US" sz="2400" b="1" dirty="0">
                <a:solidFill>
                  <a:srgbClr val="00B0F0"/>
                </a:solidFill>
                <a:latin typeface="Times New Roman" panose="02020603050405020304" pitchFamily="18" charset="0"/>
                <a:cs typeface="Times New Roman" panose="02020603050405020304" pitchFamily="18" charset="0"/>
              </a:rPr>
              <a:t>i32 </a:t>
            </a:r>
            <a:r>
              <a:rPr lang="zh-CN" altLang="en-US" sz="2400" b="1" dirty="0">
                <a:latin typeface="Times New Roman" panose="02020603050405020304" pitchFamily="18" charset="0"/>
                <a:cs typeface="Times New Roman" panose="02020603050405020304" pitchFamily="18" charset="0"/>
              </a:rPr>
              <a:t>4, </a:t>
            </a:r>
            <a:r>
              <a:rPr lang="zh-CN" altLang="en-US" sz="2400" b="1" dirty="0">
                <a:solidFill>
                  <a:srgbClr val="00B0F0"/>
                </a:solidFill>
                <a:latin typeface="Times New Roman" panose="02020603050405020304" pitchFamily="18" charset="0"/>
                <a:cs typeface="Times New Roman" panose="02020603050405020304" pitchFamily="18" charset="0"/>
              </a:rPr>
              <a:t>i32*</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a</a:t>
            </a:r>
            <a:endParaRPr lang="zh-CN" altLang="en-US" sz="2400" b="1" dirty="0">
              <a:latin typeface="Times New Roman" panose="02020603050405020304" pitchFamily="18" charset="0"/>
              <a:cs typeface="Times New Roman" panose="02020603050405020304" pitchFamily="18" charset="0"/>
            </a:endParaRPr>
          </a:p>
          <a:p>
            <a:r>
              <a:rPr lang="zh-CN" altLang="en-US" sz="2400" b="1" dirty="0">
                <a:solidFill>
                  <a:srgbClr val="FF0000"/>
                </a:solidFill>
                <a:latin typeface="Times New Roman" panose="02020603050405020304" pitchFamily="18" charset="0"/>
                <a:cs typeface="Times New Roman" panose="02020603050405020304" pitchFamily="18" charset="0"/>
              </a:rPr>
              <a:t>store </a:t>
            </a:r>
            <a:r>
              <a:rPr lang="zh-CN" altLang="en-US" sz="2400" b="1" dirty="0">
                <a:solidFill>
                  <a:srgbClr val="00B0F0"/>
                </a:solidFill>
                <a:latin typeface="Times New Roman" panose="02020603050405020304" pitchFamily="18" charset="0"/>
                <a:cs typeface="Times New Roman" panose="02020603050405020304" pitchFamily="18" charset="0"/>
              </a:rPr>
              <a:t>i32 </a:t>
            </a:r>
            <a:r>
              <a:rPr lang="zh-CN" altLang="en-US" sz="2400" b="1" dirty="0">
                <a:latin typeface="Times New Roman" panose="02020603050405020304" pitchFamily="18" charset="0"/>
                <a:cs typeface="Times New Roman" panose="02020603050405020304" pitchFamily="18" charset="0"/>
              </a:rPr>
              <a:t>4, </a:t>
            </a:r>
            <a:r>
              <a:rPr lang="zh-CN" altLang="en-US" sz="2400" b="1" dirty="0">
                <a:solidFill>
                  <a:srgbClr val="00B0F0"/>
                </a:solidFill>
                <a:latin typeface="Times New Roman" panose="02020603050405020304" pitchFamily="18" charset="0"/>
                <a:cs typeface="Times New Roman" panose="02020603050405020304" pitchFamily="18" charset="0"/>
              </a:rPr>
              <a:t>i32*</a:t>
            </a:r>
            <a:r>
              <a:rPr lang="zh-CN" altLang="en-US"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rPr>
              <a:t>b</a:t>
            </a:r>
            <a:endParaRPr lang="zh-CN" altLang="en-US" sz="2400" b="1" dirty="0">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%3 = </a:t>
            </a:r>
            <a:r>
              <a:rPr lang="en-US" altLang="zh-CN" sz="2400" b="1" dirty="0">
                <a:solidFill>
                  <a:srgbClr val="FF0000"/>
                </a:solidFill>
                <a:latin typeface="Times New Roman" panose="02020603050405020304" pitchFamily="18" charset="0"/>
                <a:cs typeface="Times New Roman" panose="02020603050405020304" pitchFamily="18" charset="0"/>
                <a:sym typeface="宋体" panose="02010600030101010101" pitchFamily="2" charset="-122"/>
              </a:rPr>
              <a:t>load</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%4 = </a:t>
            </a:r>
            <a:r>
              <a:rPr lang="en-US" altLang="zh-CN" sz="2400" b="1" dirty="0" err="1">
                <a:solidFill>
                  <a:srgbClr val="FF0000"/>
                </a:solidFill>
                <a:latin typeface="Times New Roman" panose="02020603050405020304" pitchFamily="18" charset="0"/>
                <a:cs typeface="Times New Roman" panose="02020603050405020304" pitchFamily="18" charset="0"/>
                <a:sym typeface="宋体" panose="02010600030101010101" pitchFamily="2" charset="-122"/>
              </a:rPr>
              <a:t>mul</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2, %3</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%5 = </a:t>
            </a:r>
            <a:r>
              <a:rPr lang="en-US" altLang="zh-CN" sz="2400" b="1" dirty="0">
                <a:solidFill>
                  <a:srgbClr val="FF0000"/>
                </a:solidFill>
                <a:latin typeface="Times New Roman" panose="02020603050405020304" pitchFamily="18" charset="0"/>
                <a:cs typeface="Times New Roman" panose="02020603050405020304" pitchFamily="18" charset="0"/>
                <a:sym typeface="宋体" panose="02010600030101010101" pitchFamily="2" charset="-122"/>
              </a:rPr>
              <a:t>load</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%b</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%6 = </a:t>
            </a:r>
            <a:r>
              <a:rPr lang="en-US" altLang="zh-CN" sz="2400" b="1" dirty="0">
                <a:solidFill>
                  <a:srgbClr val="FF0000"/>
                </a:solidFill>
                <a:latin typeface="Times New Roman" panose="02020603050405020304" pitchFamily="18" charset="0"/>
                <a:cs typeface="Times New Roman" panose="02020603050405020304" pitchFamily="18" charset="0"/>
                <a:sym typeface="宋体" panose="02010600030101010101" pitchFamily="2" charset="-122"/>
              </a:rPr>
              <a:t>sub</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%5, 3</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%7 = </a:t>
            </a:r>
            <a:r>
              <a:rPr lang="en-US" altLang="zh-CN" sz="2400" b="1" dirty="0">
                <a:solidFill>
                  <a:srgbClr val="FF0000"/>
                </a:solidFill>
                <a:latin typeface="Times New Roman" panose="02020603050405020304" pitchFamily="18" charset="0"/>
                <a:cs typeface="Times New Roman" panose="02020603050405020304" pitchFamily="18" charset="0"/>
                <a:sym typeface="宋体" panose="02010600030101010101" pitchFamily="2" charset="-122"/>
              </a:rPr>
              <a:t>add</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%4, %6</a:t>
            </a:r>
            <a:endPar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endParaRPr>
          </a:p>
          <a:p>
            <a:r>
              <a:rPr lang="en-US" altLang="zh-CN" sz="2400" b="1" dirty="0">
                <a:solidFill>
                  <a:srgbClr val="FF0000"/>
                </a:solidFill>
                <a:latin typeface="Times New Roman" panose="02020603050405020304" pitchFamily="18" charset="0"/>
                <a:cs typeface="Times New Roman" panose="02020603050405020304" pitchFamily="18" charset="0"/>
              </a:rPr>
              <a:t>store </a:t>
            </a:r>
            <a:r>
              <a:rPr lang="en-US" altLang="zh-CN" sz="2400" b="1" dirty="0">
                <a:solidFill>
                  <a:srgbClr val="00B0F0"/>
                </a:solidFill>
                <a:latin typeface="Times New Roman" panose="02020603050405020304" pitchFamily="18" charset="0"/>
                <a:cs typeface="Times New Roman" panose="02020603050405020304" pitchFamily="18" charset="0"/>
              </a:rPr>
              <a:t>i32 </a:t>
            </a:r>
            <a:r>
              <a:rPr lang="en-US" altLang="zh-CN" sz="2400" b="1" dirty="0">
                <a:latin typeface="Times New Roman" panose="02020603050405020304" pitchFamily="18" charset="0"/>
                <a:cs typeface="Times New Roman" panose="02020603050405020304" pitchFamily="18" charset="0"/>
              </a:rPr>
              <a:t>%7</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t>
            </a:r>
            <a:r>
              <a:rPr lang="en-US" altLang="zh-CN" sz="2400" b="1" dirty="0">
                <a:solidFill>
                  <a:srgbClr val="00B0F0"/>
                </a:solidFill>
                <a:latin typeface="Times New Roman" panose="02020603050405020304" pitchFamily="18" charset="0"/>
                <a:cs typeface="Times New Roman" panose="02020603050405020304" pitchFamily="18" charset="0"/>
                <a:sym typeface="宋体" panose="02010600030101010101" pitchFamily="2" charset="-122"/>
              </a:rPr>
              <a:t>i32*</a:t>
            </a:r>
            <a:r>
              <a:rPr lang="en-US" altLang="zh-CN" sz="2400" b="1" dirty="0">
                <a:solidFill>
                  <a:srgbClr val="03010F"/>
                </a:solidFill>
                <a:latin typeface="Times New Roman" panose="02020603050405020304" pitchFamily="18" charset="0"/>
                <a:cs typeface="Times New Roman" panose="02020603050405020304" pitchFamily="18" charset="0"/>
                <a:sym typeface="宋体" panose="02010600030101010101" pitchFamily="2" charset="-122"/>
              </a:rPr>
              <a:t> %a</a:t>
            </a:r>
            <a:endParaRPr lang="en-US" altLang="zh-CN" sz="2400" b="1"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1171575" y="5817870"/>
            <a:ext cx="10217785" cy="534035"/>
          </a:xfrm>
          <a:prstGeom prst="rect">
            <a:avLst/>
          </a:prstGeom>
          <a:noFill/>
        </p:spPr>
        <p:txBody>
          <a:bodyPr wrap="square" rtlCol="0" anchor="t">
            <a:spAutoFit/>
          </a:bodyPr>
          <a:p>
            <a:pPr indent="0">
              <a:lnSpc>
                <a:spcPct val="120000"/>
              </a:lnSpc>
              <a:buFont typeface="Wingdings" panose="05000000000000000000" charset="0"/>
              <a:buNone/>
            </a:pPr>
            <a:r>
              <a:rPr lang="en-US" altLang="zh-CN" sz="2400" b="1">
                <a:latin typeface="+mn-ea"/>
                <a:sym typeface="+mn-ea"/>
              </a:rPr>
              <a:t>LLVM IR</a:t>
            </a:r>
            <a:r>
              <a:rPr lang="zh-CN" altLang="en-US" sz="2400" b="1">
                <a:solidFill>
                  <a:srgbClr val="03010F"/>
                </a:solidFill>
                <a:latin typeface="+mn-ea"/>
                <a:sym typeface="+mn-ea"/>
              </a:rPr>
              <a:t>是语法树的从左到右的线性化表示，</a:t>
            </a:r>
            <a:r>
              <a:rPr lang="zh-CN" altLang="en-US" sz="2400" b="1">
                <a:solidFill>
                  <a:srgbClr val="030305"/>
                </a:solidFill>
                <a:latin typeface="+mn-ea"/>
                <a:sym typeface="+mn-ea"/>
              </a:rPr>
              <a:t>生成依据是语言的语义规则。</a:t>
            </a:r>
            <a:endParaRPr lang="zh-CN" altLang="en-US" sz="2400" b="1">
              <a:solidFill>
                <a:srgbClr val="030305"/>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bldLvl="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1206500" y="1388745"/>
            <a:ext cx="5765800" cy="511175"/>
          </a:xfrm>
        </p:spPr>
        <p:txBody>
          <a:bodyPr>
            <a:normAutofit fontScale="80000"/>
          </a:bodyPr>
          <a:lstStyle/>
          <a:p>
            <a:r>
              <a:rPr lang="zh-CN" altLang="en-US" dirty="0"/>
              <a:t>第</a:t>
            </a:r>
            <a:r>
              <a:rPr lang="en-US" altLang="zh-CN" dirty="0"/>
              <a:t>6</a:t>
            </a:r>
            <a:r>
              <a:rPr lang="zh-CN" altLang="en-US" dirty="0"/>
              <a:t>单元 代码生成</a:t>
            </a:r>
            <a:endParaRPr lang="zh-CN" altLang="en-US" dirty="0"/>
          </a:p>
        </p:txBody>
      </p:sp>
      <p:sp>
        <p:nvSpPr>
          <p:cNvPr id="24" name="文本占位符 23"/>
          <p:cNvSpPr>
            <a:spLocks noGrp="1"/>
          </p:cNvSpPr>
          <p:nvPr>
            <p:ph type="body" sz="quarter" idx="14"/>
          </p:nvPr>
        </p:nvSpPr>
        <p:spPr/>
        <p:txBody>
          <a:bodyPr>
            <a:normAutofit fontScale="77500" lnSpcReduction="20000"/>
          </a:bodyPr>
          <a:lstStyle/>
          <a:p>
            <a:r>
              <a:rPr lang="en-US" altLang="zh-CN" dirty="0">
                <a:solidFill>
                  <a:schemeClr val="tx1"/>
                </a:solidFill>
              </a:rPr>
              <a:t>6.1 </a:t>
            </a:r>
            <a:r>
              <a:rPr lang="zh-CN" altLang="en-US" dirty="0">
                <a:solidFill>
                  <a:schemeClr val="tx1"/>
                </a:solidFill>
              </a:rPr>
              <a:t>中间代码概览</a:t>
            </a:r>
            <a:endParaRPr lang="en-US" altLang="zh-CN" dirty="0">
              <a:solidFill>
                <a:schemeClr val="tx1"/>
              </a:solidFill>
            </a:endParaRPr>
          </a:p>
          <a:p>
            <a:r>
              <a:rPr lang="en-US" altLang="zh-CN" dirty="0">
                <a:solidFill>
                  <a:srgbClr val="0070C0"/>
                </a:solidFill>
              </a:rPr>
              <a:t>6.2 </a:t>
            </a:r>
            <a:r>
              <a:rPr lang="zh-CN" altLang="en-US" dirty="0">
                <a:solidFill>
                  <a:srgbClr val="0070C0"/>
                </a:solidFill>
              </a:rPr>
              <a:t>基本的代码生成技术</a:t>
            </a:r>
            <a:endParaRPr lang="en-US" altLang="zh-CN" dirty="0">
              <a:solidFill>
                <a:srgbClr val="0070C0"/>
              </a:solidFill>
            </a:endParaRPr>
          </a:p>
          <a:p>
            <a:r>
              <a:rPr lang="en-US" altLang="zh-CN" dirty="0">
                <a:solidFill>
                  <a:schemeClr val="tx1"/>
                </a:solidFill>
              </a:rPr>
              <a:t>6.3 </a:t>
            </a:r>
            <a:r>
              <a:rPr lang="zh-CN" altLang="en-US" dirty="0">
                <a:solidFill>
                  <a:schemeClr val="tx1"/>
                </a:solidFill>
              </a:rPr>
              <a:t>数据结构引用的代码生成</a:t>
            </a:r>
            <a:endParaRPr lang="en-US" altLang="zh-CN" dirty="0">
              <a:solidFill>
                <a:schemeClr val="tx1"/>
              </a:solidFill>
            </a:endParaRPr>
          </a:p>
          <a:p>
            <a:r>
              <a:rPr lang="en-US" altLang="zh-CN" dirty="0">
                <a:solidFill>
                  <a:schemeClr val="tx1"/>
                </a:solidFill>
              </a:rPr>
              <a:t>6.4 </a:t>
            </a:r>
            <a:r>
              <a:rPr lang="zh-CN" altLang="en-US" dirty="0">
                <a:solidFill>
                  <a:schemeClr val="tx1"/>
                </a:solidFill>
              </a:rPr>
              <a:t>控制语句和逻辑表达式的代码生成</a:t>
            </a:r>
            <a:endParaRPr lang="en-US" altLang="zh-CN" dirty="0">
              <a:solidFill>
                <a:schemeClr val="tx1"/>
              </a:solidFill>
            </a:endParaRPr>
          </a:p>
          <a:p>
            <a:r>
              <a:rPr lang="en-US" altLang="zh-CN" dirty="0">
                <a:solidFill>
                  <a:schemeClr val="tx1"/>
                </a:solidFill>
              </a:rPr>
              <a:t>6.5 </a:t>
            </a:r>
            <a:r>
              <a:rPr lang="zh-CN" altLang="en-US" dirty="0">
                <a:solidFill>
                  <a:schemeClr val="tx1"/>
                </a:solidFill>
              </a:rPr>
              <a:t>过程和函数调用的代码生成</a:t>
            </a:r>
            <a:endParaRPr lang="zh-CN" altLang="en-US"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33705" y="357505"/>
            <a:ext cx="8202295" cy="593090"/>
          </a:xfrm>
        </p:spPr>
        <p:txBody>
          <a:bodyPr/>
          <a:lstStyle/>
          <a:p>
            <a:r>
              <a:rPr lang="en-US" altLang="zh-CN" sz="2400" dirty="0"/>
              <a:t>6.2.1 </a:t>
            </a:r>
            <a:r>
              <a:rPr lang="zh-CN" altLang="en-US" sz="2400" dirty="0"/>
              <a:t>作为合成属性的中间代码或目标代码生成方法</a:t>
            </a:r>
            <a:endParaRPr lang="zh-CN" altLang="en-US" sz="2400" dirty="0"/>
          </a:p>
        </p:txBody>
      </p:sp>
      <p:sp>
        <p:nvSpPr>
          <p:cNvPr id="8" name="Rectangle 6"/>
          <p:cNvSpPr txBox="1">
            <a:spLocks noChangeArrowheads="1"/>
          </p:cNvSpPr>
          <p:nvPr/>
        </p:nvSpPr>
        <p:spPr>
          <a:xfrm>
            <a:off x="491490" y="1205865"/>
            <a:ext cx="5157470" cy="51142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pPr>
            <a:r>
              <a:rPr lang="zh-CN" altLang="en-US" dirty="0">
                <a:solidFill>
                  <a:srgbClr val="030305"/>
                </a:solidFill>
                <a:latin typeface="+mn-ea"/>
              </a:rPr>
              <a:t>中间代码生成(或目标代码生成)可被看作属性计算，这类似于第</a:t>
            </a:r>
            <a:r>
              <a:rPr lang="en-US" altLang="zh-CN" dirty="0">
                <a:solidFill>
                  <a:srgbClr val="030305"/>
                </a:solidFill>
                <a:latin typeface="+mn-ea"/>
              </a:rPr>
              <a:t>5</a:t>
            </a:r>
            <a:r>
              <a:rPr lang="zh-CN" altLang="en-US" dirty="0">
                <a:solidFill>
                  <a:srgbClr val="030305"/>
                </a:solidFill>
                <a:latin typeface="+mn-ea"/>
              </a:rPr>
              <a:t>章中研究的属性计算问题。</a:t>
            </a:r>
            <a:endParaRPr lang="zh-CN" altLang="en-US" dirty="0">
              <a:solidFill>
                <a:srgbClr val="030305"/>
              </a:solidFill>
              <a:latin typeface="+mn-ea"/>
            </a:endParaRPr>
          </a:p>
          <a:p>
            <a:pPr lvl="1">
              <a:lnSpc>
                <a:spcPct val="125000"/>
              </a:lnSpc>
              <a:spcBef>
                <a:spcPct val="0"/>
              </a:spcBef>
              <a:spcAft>
                <a:spcPts val="0"/>
              </a:spcAft>
            </a:pPr>
            <a:r>
              <a:rPr lang="zh-CN" altLang="en-US" b="1" dirty="0">
                <a:solidFill>
                  <a:srgbClr val="030305"/>
                </a:solidFill>
                <a:latin typeface="+mn-ea"/>
              </a:rPr>
              <a:t>可以将</a:t>
            </a:r>
            <a:r>
              <a:rPr lang="zh-CN" altLang="en-US" b="1" dirty="0">
                <a:solidFill>
                  <a:srgbClr val="0070C0"/>
                </a:solidFill>
                <a:latin typeface="+mn-ea"/>
              </a:rPr>
              <a:t>生成的代码</a:t>
            </a:r>
            <a:r>
              <a:rPr lang="zh-CN" altLang="en-US" b="1" dirty="0">
                <a:solidFill>
                  <a:srgbClr val="030305"/>
                </a:solidFill>
                <a:latin typeface="+mn-ea"/>
              </a:rPr>
              <a:t>看作一个</a:t>
            </a:r>
            <a:r>
              <a:rPr lang="zh-CN" altLang="en-US" b="1" dirty="0">
                <a:solidFill>
                  <a:srgbClr val="0070C0"/>
                </a:solidFill>
                <a:latin typeface="+mn-ea"/>
              </a:rPr>
              <a:t>字符串属性</a:t>
            </a:r>
            <a:r>
              <a:rPr lang="zh-CN" altLang="en-US" b="1" dirty="0">
                <a:solidFill>
                  <a:srgbClr val="030305"/>
                </a:solidFill>
                <a:latin typeface="+mn-ea"/>
              </a:rPr>
              <a:t>（每条指令用换行符分隔），用</a:t>
            </a:r>
            <a:r>
              <a:rPr lang="zh-CN" altLang="en-US" b="1" dirty="0">
                <a:solidFill>
                  <a:srgbClr val="0070C0"/>
                </a:solidFill>
                <a:latin typeface="+mn-ea"/>
                <a:sym typeface="+mn-ea"/>
              </a:rPr>
              <a:t>合成</a:t>
            </a:r>
            <a:r>
              <a:rPr lang="zh-CN" altLang="en-US" b="1" dirty="0">
                <a:solidFill>
                  <a:srgbClr val="030305"/>
                </a:solidFill>
                <a:latin typeface="+mn-ea"/>
              </a:rPr>
              <a:t>属性文法定义代码生成的语义规则。</a:t>
            </a:r>
            <a:r>
              <a:rPr lang="zh-CN" altLang="en-US" b="1" dirty="0">
                <a:solidFill>
                  <a:srgbClr val="E9137E"/>
                </a:solidFill>
                <a:latin typeface="+mn-ea"/>
              </a:rPr>
              <a:t> </a:t>
            </a:r>
            <a:r>
              <a:rPr lang="zh-CN" altLang="en-US" b="1" dirty="0">
                <a:solidFill>
                  <a:srgbClr val="0070C0"/>
                </a:solidFill>
                <a:latin typeface="+mn-ea"/>
              </a:rPr>
              <a:t>在语法分析期间直接生成</a:t>
            </a:r>
            <a:r>
              <a:rPr lang="zh-CN" altLang="en-US" b="1" dirty="0">
                <a:solidFill>
                  <a:srgbClr val="030305"/>
                </a:solidFill>
                <a:latin typeface="+mn-ea"/>
              </a:rPr>
              <a:t>或者通过语法树的</a:t>
            </a:r>
            <a:r>
              <a:rPr lang="zh-CN" altLang="en-US" b="1" dirty="0">
                <a:solidFill>
                  <a:srgbClr val="0070C0"/>
                </a:solidFill>
                <a:latin typeface="+mn-ea"/>
              </a:rPr>
              <a:t>后序遍历</a:t>
            </a:r>
            <a:r>
              <a:rPr lang="zh-CN" altLang="en-US" b="1" dirty="0">
                <a:solidFill>
                  <a:srgbClr val="030305"/>
                </a:solidFill>
                <a:latin typeface="+mn-ea"/>
              </a:rPr>
              <a:t>生成。</a:t>
            </a:r>
            <a:endParaRPr lang="zh-CN" altLang="en-US" b="1" dirty="0">
              <a:solidFill>
                <a:srgbClr val="030305"/>
              </a:solidFill>
              <a:latin typeface="+mn-ea"/>
            </a:endParaRPr>
          </a:p>
        </p:txBody>
      </p:sp>
      <p:sp>
        <p:nvSpPr>
          <p:cNvPr id="4" name="Rectangle 2"/>
          <p:cNvSpPr>
            <a:spLocks noChangeArrowheads="1"/>
          </p:cNvSpPr>
          <p:nvPr>
            <p:custDataLst>
              <p:tags r:id="rId1"/>
            </p:custDataLst>
          </p:nvPr>
        </p:nvSpPr>
        <p:spPr bwMode="auto">
          <a:xfrm>
            <a:off x="6491605" y="1205865"/>
            <a:ext cx="7715885" cy="230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sz="2400" b="1" dirty="0">
                <a:solidFill>
                  <a:srgbClr val="030305"/>
                </a:solidFill>
                <a:latin typeface="+mn-ea"/>
              </a:rPr>
              <a:t>例</a:t>
            </a:r>
            <a:r>
              <a:rPr lang="en-US" altLang="zh-CN" sz="2400" b="1" dirty="0">
                <a:solidFill>
                  <a:srgbClr val="030305"/>
                </a:solidFill>
                <a:latin typeface="+mn-ea"/>
              </a:rPr>
              <a:t>6</a:t>
            </a:r>
            <a:r>
              <a:rPr lang="zh-CN" altLang="en-US" sz="2400" b="1" dirty="0">
                <a:solidFill>
                  <a:srgbClr val="030305"/>
                </a:solidFill>
                <a:latin typeface="+mn-ea"/>
              </a:rPr>
              <a:t>.4：为表达式文法</a:t>
            </a:r>
            <a:endParaRPr lang="zh-CN" altLang="en-US" sz="2400" b="1" dirty="0">
              <a:solidFill>
                <a:srgbClr val="030305"/>
              </a:solidFill>
              <a:latin typeface="+mn-ea"/>
            </a:endParaRPr>
          </a:p>
          <a:p>
            <a:pPr>
              <a:lnSpc>
                <a:spcPct val="120000"/>
              </a:lnSpc>
            </a:pPr>
            <a:r>
              <a:rPr lang="en-US" altLang="zh-CN" sz="2400" b="1" i="1" dirty="0" err="1">
                <a:solidFill>
                  <a:srgbClr val="030305"/>
                </a:solidFill>
                <a:latin typeface="+mn-ea"/>
              </a:rPr>
              <a:t>exp→</a:t>
            </a:r>
            <a:r>
              <a:rPr lang="en-US" altLang="zh-CN" sz="2400" b="1" dirty="0" err="1">
                <a:solidFill>
                  <a:srgbClr val="0070C0"/>
                </a:solidFill>
                <a:latin typeface="+mn-ea"/>
              </a:rPr>
              <a:t>id</a:t>
            </a:r>
            <a:r>
              <a:rPr lang="en-US" altLang="zh-CN" sz="2400" b="1" dirty="0">
                <a:solidFill>
                  <a:srgbClr val="030305"/>
                </a:solidFill>
                <a:latin typeface="+mn-ea"/>
              </a:rPr>
              <a:t> = </a:t>
            </a:r>
            <a:r>
              <a:rPr lang="en-US" altLang="zh-CN" sz="2400" b="1" i="1" dirty="0" err="1">
                <a:solidFill>
                  <a:srgbClr val="030305"/>
                </a:solidFill>
                <a:latin typeface="+mn-ea"/>
              </a:rPr>
              <a:t>exp|aexp</a:t>
            </a:r>
            <a:endParaRPr lang="en-US" altLang="zh-CN" sz="2400" b="1" i="1" dirty="0">
              <a:solidFill>
                <a:srgbClr val="030305"/>
              </a:solidFill>
              <a:latin typeface="+mn-ea"/>
            </a:endParaRPr>
          </a:p>
          <a:p>
            <a:pPr>
              <a:lnSpc>
                <a:spcPct val="120000"/>
              </a:lnSpc>
            </a:pPr>
            <a:r>
              <a:rPr lang="en-US" altLang="zh-CN" sz="2400" b="1" i="1" dirty="0" err="1">
                <a:solidFill>
                  <a:srgbClr val="030305"/>
                </a:solidFill>
                <a:latin typeface="+mn-ea"/>
              </a:rPr>
              <a:t>aexp→aexp</a:t>
            </a:r>
            <a:r>
              <a:rPr lang="en-US" altLang="zh-CN" sz="2400" b="1" i="1" dirty="0">
                <a:solidFill>
                  <a:srgbClr val="030305"/>
                </a:solidFill>
                <a:latin typeface="+mn-ea"/>
              </a:rPr>
              <a:t> </a:t>
            </a:r>
            <a:r>
              <a:rPr lang="en-US" altLang="zh-CN" sz="2400" b="1" dirty="0">
                <a:solidFill>
                  <a:srgbClr val="030305"/>
                </a:solidFill>
                <a:latin typeface="+mn-ea"/>
              </a:rPr>
              <a:t>+ </a:t>
            </a:r>
            <a:r>
              <a:rPr lang="en-US" altLang="zh-CN" sz="2400" b="1" i="1" dirty="0" err="1">
                <a:solidFill>
                  <a:srgbClr val="030305"/>
                </a:solidFill>
                <a:latin typeface="+mn-ea"/>
              </a:rPr>
              <a:t>factor|factor</a:t>
            </a:r>
            <a:endParaRPr lang="en-US" altLang="zh-CN" sz="2400" b="1" i="1" dirty="0">
              <a:solidFill>
                <a:srgbClr val="030305"/>
              </a:solidFill>
              <a:latin typeface="+mn-ea"/>
            </a:endParaRPr>
          </a:p>
          <a:p>
            <a:pPr>
              <a:lnSpc>
                <a:spcPct val="120000"/>
              </a:lnSpc>
            </a:pPr>
            <a:r>
              <a:rPr lang="en-US" altLang="zh-CN" sz="2400" b="1" i="1" dirty="0">
                <a:solidFill>
                  <a:srgbClr val="030305"/>
                </a:solidFill>
                <a:latin typeface="+mn-ea"/>
              </a:rPr>
              <a:t>factor→</a:t>
            </a:r>
            <a:r>
              <a:rPr lang="en-US" altLang="zh-CN" sz="2400" b="1" dirty="0">
                <a:solidFill>
                  <a:srgbClr val="030305"/>
                </a:solidFill>
                <a:latin typeface="+mn-ea"/>
              </a:rPr>
              <a:t>(</a:t>
            </a:r>
            <a:r>
              <a:rPr lang="en-US" altLang="zh-CN" sz="2400" b="1" i="1" dirty="0">
                <a:solidFill>
                  <a:srgbClr val="030305"/>
                </a:solidFill>
                <a:latin typeface="+mn-ea"/>
              </a:rPr>
              <a:t>exp</a:t>
            </a:r>
            <a:r>
              <a:rPr lang="en-US" altLang="zh-CN" sz="2400" b="1" dirty="0">
                <a:solidFill>
                  <a:srgbClr val="030305"/>
                </a:solidFill>
                <a:latin typeface="+mn-ea"/>
              </a:rPr>
              <a:t>) </a:t>
            </a:r>
            <a:r>
              <a:rPr lang="en-US" altLang="zh-CN" sz="2400" b="1" i="1" dirty="0">
                <a:solidFill>
                  <a:srgbClr val="030305"/>
                </a:solidFill>
                <a:latin typeface="+mn-ea"/>
              </a:rPr>
              <a:t>| </a:t>
            </a:r>
            <a:r>
              <a:rPr lang="en-US" altLang="zh-CN" sz="2400" b="1" dirty="0">
                <a:solidFill>
                  <a:srgbClr val="0070C0"/>
                </a:solidFill>
                <a:latin typeface="+mn-ea"/>
              </a:rPr>
              <a:t>num</a:t>
            </a:r>
            <a:r>
              <a:rPr lang="en-US" altLang="zh-CN" sz="2400" b="1" dirty="0">
                <a:solidFill>
                  <a:srgbClr val="030305"/>
                </a:solidFill>
                <a:latin typeface="+mn-ea"/>
              </a:rPr>
              <a:t> </a:t>
            </a:r>
            <a:r>
              <a:rPr lang="en-US" altLang="zh-CN" sz="2400" b="1" i="1" dirty="0">
                <a:solidFill>
                  <a:srgbClr val="030305"/>
                </a:solidFill>
                <a:latin typeface="+mn-ea"/>
              </a:rPr>
              <a:t>| </a:t>
            </a:r>
            <a:r>
              <a:rPr lang="en-US" altLang="zh-CN" sz="2400" b="1" dirty="0">
                <a:solidFill>
                  <a:srgbClr val="0070C0"/>
                </a:solidFill>
                <a:latin typeface="+mn-ea"/>
              </a:rPr>
              <a:t>id</a:t>
            </a:r>
            <a:endParaRPr lang="en-US" altLang="zh-CN" sz="2400" b="1" dirty="0">
              <a:solidFill>
                <a:srgbClr val="0070C0"/>
              </a:solidFill>
              <a:latin typeface="+mn-ea"/>
            </a:endParaRPr>
          </a:p>
          <a:p>
            <a:pPr>
              <a:lnSpc>
                <a:spcPct val="120000"/>
              </a:lnSpc>
            </a:pPr>
            <a:r>
              <a:rPr lang="zh-CN" altLang="en-US" sz="2400" b="1" dirty="0">
                <a:solidFill>
                  <a:srgbClr val="030305"/>
                </a:solidFill>
                <a:latin typeface="+mn-ea"/>
              </a:rPr>
              <a:t>写出计算三地址码的属性文法。</a:t>
            </a:r>
            <a:endParaRPr lang="zh-CN" altLang="en-US" sz="2400" b="1" dirty="0">
              <a:solidFill>
                <a:srgbClr val="030305"/>
              </a:solidFill>
              <a:latin typeface="+mn-ea"/>
            </a:endParaRPr>
          </a:p>
        </p:txBody>
      </p:sp>
      <p:sp>
        <p:nvSpPr>
          <p:cNvPr id="5" name="Rectangle 3"/>
          <p:cNvSpPr>
            <a:spLocks noChangeArrowheads="1"/>
          </p:cNvSpPr>
          <p:nvPr>
            <p:custDataLst>
              <p:tags r:id="rId2"/>
            </p:custDataLst>
          </p:nvPr>
        </p:nvSpPr>
        <p:spPr bwMode="auto">
          <a:xfrm>
            <a:off x="6521450" y="3476625"/>
            <a:ext cx="5348605"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100">
                <a:solidFill>
                  <a:schemeClr val="tx1"/>
                </a:solidFill>
                <a:latin typeface="Times New Roman" panose="02020603050405020304" pitchFamily="18" charset="0"/>
                <a:ea typeface="宋体" panose="02010600030101010101" pitchFamily="2" charset="-122"/>
              </a:defRPr>
            </a:lvl1pPr>
            <a:lvl2pPr marL="914400" indent="-457200">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30000"/>
              </a:lnSpc>
              <a:buFont typeface="Wingdings" panose="05000000000000000000" pitchFamily="2" charset="2"/>
              <a:buChar char="§"/>
            </a:pPr>
            <a:r>
              <a:rPr lang="en-US" altLang="zh-CN" sz="2400" b="1" dirty="0" err="1">
                <a:solidFill>
                  <a:srgbClr val="0070C0"/>
                </a:solidFill>
                <a:latin typeface="+mn-ea"/>
                <a:ea typeface="+mn-ea"/>
              </a:rPr>
              <a:t>tacode</a:t>
            </a:r>
            <a:r>
              <a:rPr lang="zh-CN" altLang="en-US" sz="2400" b="1" dirty="0">
                <a:solidFill>
                  <a:srgbClr val="030305"/>
                </a:solidFill>
                <a:latin typeface="+mn-ea"/>
                <a:ea typeface="+mn-ea"/>
              </a:rPr>
              <a:t>属性：表示三地址码；</a:t>
            </a:r>
            <a:endParaRPr lang="zh-CN" altLang="en-US" sz="2400" b="1" dirty="0">
              <a:solidFill>
                <a:srgbClr val="030305"/>
              </a:solidFill>
              <a:latin typeface="+mn-ea"/>
              <a:ea typeface="+mn-ea"/>
            </a:endParaRPr>
          </a:p>
          <a:p>
            <a:pPr lvl="0">
              <a:lnSpc>
                <a:spcPct val="130000"/>
              </a:lnSpc>
              <a:buFont typeface="Wingdings" panose="05000000000000000000" pitchFamily="2" charset="2"/>
              <a:buChar char="§"/>
            </a:pPr>
            <a:r>
              <a:rPr lang="en-US" altLang="zh-CN" sz="2400" b="1" dirty="0">
                <a:solidFill>
                  <a:srgbClr val="0070C0"/>
                </a:solidFill>
                <a:latin typeface="+mn-ea"/>
                <a:ea typeface="+mn-ea"/>
              </a:rPr>
              <a:t>name</a:t>
            </a:r>
            <a:r>
              <a:rPr lang="zh-CN" altLang="en-US" sz="2400" b="1" dirty="0">
                <a:solidFill>
                  <a:srgbClr val="030305"/>
                </a:solidFill>
                <a:latin typeface="+mn-ea"/>
                <a:ea typeface="+mn-ea"/>
              </a:rPr>
              <a:t>属性: 表示参与三地址码运算的标示符</a:t>
            </a:r>
            <a:r>
              <a:rPr lang="zh-CN" altLang="en-US" sz="2400" b="1" dirty="0">
                <a:solidFill>
                  <a:srgbClr val="03010F"/>
                </a:solidFill>
                <a:latin typeface="+mn-ea"/>
                <a:ea typeface="+mn-ea"/>
              </a:rPr>
              <a:t>、常量或临时变量；</a:t>
            </a:r>
            <a:endParaRPr lang="en-US" altLang="zh-CN" sz="2400" b="1" dirty="0">
              <a:solidFill>
                <a:srgbClr val="030305"/>
              </a:solidFill>
              <a:latin typeface="+mn-ea"/>
              <a:ea typeface="+mn-ea"/>
            </a:endParaRPr>
          </a:p>
          <a:p>
            <a:pPr lvl="0">
              <a:lnSpc>
                <a:spcPct val="130000"/>
              </a:lnSpc>
              <a:buFont typeface="Wingdings" panose="05000000000000000000" pitchFamily="2" charset="2"/>
              <a:buChar char="§"/>
            </a:pPr>
            <a:r>
              <a:rPr lang="zh-CN" altLang="en-US" sz="2400" b="1" dirty="0">
                <a:solidFill>
                  <a:srgbClr val="030305"/>
                </a:solidFill>
                <a:latin typeface="+mn-ea"/>
                <a:ea typeface="+mn-ea"/>
              </a:rPr>
              <a:t>用</a:t>
            </a:r>
            <a:r>
              <a:rPr lang="zh-CN" altLang="en-US" sz="2400" b="1" dirty="0">
                <a:solidFill>
                  <a:srgbClr val="0070C0"/>
                </a:solidFill>
                <a:latin typeface="+mn-ea"/>
                <a:ea typeface="+mn-ea"/>
              </a:rPr>
              <a:t>++</a:t>
            </a:r>
            <a:r>
              <a:rPr lang="zh-CN" altLang="en-US" sz="2400" b="1" dirty="0">
                <a:solidFill>
                  <a:srgbClr val="030305"/>
                </a:solidFill>
                <a:latin typeface="+mn-ea"/>
                <a:ea typeface="+mn-ea"/>
              </a:rPr>
              <a:t>表示符号串之间换行展示；</a:t>
            </a:r>
            <a:r>
              <a:rPr lang="zh-CN" altLang="en-US" sz="2400" b="1" dirty="0">
                <a:solidFill>
                  <a:srgbClr val="0070C0"/>
                </a:solidFill>
                <a:latin typeface="+mn-ea"/>
                <a:ea typeface="+mn-ea"/>
              </a:rPr>
              <a:t>||</a:t>
            </a:r>
            <a:r>
              <a:rPr lang="zh-CN" altLang="en-US" sz="2400" b="1" dirty="0">
                <a:solidFill>
                  <a:srgbClr val="030305"/>
                </a:solidFill>
                <a:latin typeface="+mn-ea"/>
                <a:ea typeface="+mn-ea"/>
              </a:rPr>
              <a:t>表示符号串之间用空格相隔。</a:t>
            </a:r>
            <a:endParaRPr lang="en-US" altLang="zh-CN" sz="2400" b="1" dirty="0">
              <a:solidFill>
                <a:srgbClr val="030305"/>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arn(in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strips(down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strips(downLeft)">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strips(downLeft)">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83540" y="357505"/>
            <a:ext cx="7630795" cy="593090"/>
          </a:xfrm>
        </p:spPr>
        <p:txBody>
          <a:bodyPr/>
          <a:lstStyle/>
          <a:p>
            <a:r>
              <a:rPr lang="en-US" altLang="zh-CN" sz="2400" dirty="0"/>
              <a:t>6.2.1 </a:t>
            </a:r>
            <a:r>
              <a:rPr lang="zh-CN" altLang="en-US" sz="2400" dirty="0"/>
              <a:t>作为合成属性的中间代码或目标代码生成方法</a:t>
            </a:r>
            <a:endParaRPr lang="zh-CN" altLang="en-US" sz="2400" dirty="0"/>
          </a:p>
        </p:txBody>
      </p:sp>
      <p:sp useBgFill="1">
        <p:nvSpPr>
          <p:cNvPr id="6" name="AutoShape 23"/>
          <p:cNvSpPr>
            <a:spLocks noChangeArrowheads="1"/>
          </p:cNvSpPr>
          <p:nvPr/>
        </p:nvSpPr>
        <p:spPr bwMode="auto">
          <a:xfrm>
            <a:off x="383540" y="4859020"/>
            <a:ext cx="2644140" cy="1343660"/>
          </a:xfrm>
          <a:prstGeom prst="cloudCallout">
            <a:avLst>
              <a:gd name="adj1" fmla="val 90414"/>
              <a:gd name="adj2" fmla="val -171172"/>
            </a:avLst>
          </a:prstGeom>
          <a:solidFill>
            <a:schemeClr val="bg1"/>
          </a:solidFill>
          <a:ln w="28575">
            <a:solidFill>
              <a:schemeClr val="bg1">
                <a:lumMod val="65000"/>
              </a:schemeClr>
            </a:solidFill>
            <a:miter lim="800000"/>
          </a:ln>
        </p:spPr>
        <p:txBody>
          <a:bodyPr/>
          <a:lstStyle/>
          <a:p>
            <a:pPr algn="l"/>
            <a:r>
              <a:rPr lang="en-US" altLang="zh-CN" sz="2400" b="1" dirty="0" err="1">
                <a:solidFill>
                  <a:srgbClr val="030305"/>
                </a:solidFill>
                <a:latin typeface="+mn-ea"/>
              </a:rPr>
              <a:t>exp.tacode</a:t>
            </a:r>
            <a:r>
              <a:rPr lang="en-US" altLang="zh-CN" sz="2400" b="1" dirty="0">
                <a:solidFill>
                  <a:srgbClr val="030305"/>
                </a:solidFill>
                <a:latin typeface="+mn-ea"/>
              </a:rPr>
              <a:t>=</a:t>
            </a:r>
            <a:endParaRPr lang="en-US" altLang="zh-CN" sz="2400" b="1" dirty="0">
              <a:solidFill>
                <a:srgbClr val="030305"/>
              </a:solidFill>
              <a:latin typeface="+mn-ea"/>
            </a:endParaRPr>
          </a:p>
          <a:p>
            <a:pPr algn="ctr"/>
            <a:r>
              <a:rPr lang="en-US" altLang="zh-CN" sz="2400" b="1" dirty="0">
                <a:solidFill>
                  <a:srgbClr val="0070C0"/>
                </a:solidFill>
                <a:latin typeface="+mn-ea"/>
              </a:rPr>
              <a:t>t1 = x + 3</a:t>
            </a:r>
            <a:endParaRPr lang="en-US" altLang="zh-CN" sz="2400" b="1" dirty="0">
              <a:solidFill>
                <a:srgbClr val="0070C0"/>
              </a:solidFill>
              <a:latin typeface="+mn-ea"/>
            </a:endParaRPr>
          </a:p>
        </p:txBody>
      </p:sp>
      <p:grpSp>
        <p:nvGrpSpPr>
          <p:cNvPr id="10" name="Group 33"/>
          <p:cNvGrpSpPr/>
          <p:nvPr/>
        </p:nvGrpSpPr>
        <p:grpSpPr bwMode="auto">
          <a:xfrm>
            <a:off x="1874419" y="2834836"/>
            <a:ext cx="4144963" cy="3641725"/>
            <a:chOff x="1292" y="909"/>
            <a:chExt cx="2611" cy="2294"/>
          </a:xfrm>
        </p:grpSpPr>
        <p:sp>
          <p:nvSpPr>
            <p:cNvPr id="11" name="Rectangle 16"/>
            <p:cNvSpPr>
              <a:spLocks noChangeArrowheads="1"/>
            </p:cNvSpPr>
            <p:nvPr/>
          </p:nvSpPr>
          <p:spPr bwMode="auto">
            <a:xfrm>
              <a:off x="2943" y="1959"/>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70709"/>
                  </a:solidFill>
                  <a:latin typeface="+mn-ea"/>
                </a:rPr>
                <a:t>factor</a:t>
              </a:r>
              <a:endParaRPr lang="zh-CN" altLang="en-US" sz="2400" b="1">
                <a:solidFill>
                  <a:srgbClr val="070709"/>
                </a:solidFill>
                <a:latin typeface="+mn-ea"/>
              </a:endParaRPr>
            </a:p>
          </p:txBody>
        </p:sp>
        <p:sp useBgFill="1">
          <p:nvSpPr>
            <p:cNvPr id="12" name="Rectangle 3"/>
            <p:cNvSpPr>
              <a:spLocks noChangeArrowheads="1"/>
            </p:cNvSpPr>
            <p:nvPr/>
          </p:nvSpPr>
          <p:spPr bwMode="auto">
            <a:xfrm>
              <a:off x="1854" y="2300"/>
              <a:ext cx="1104"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a:solidFill>
                    <a:srgbClr val="070709"/>
                  </a:solidFill>
                  <a:latin typeface="+mn-ea"/>
                </a:rPr>
                <a:t>factor</a:t>
              </a:r>
              <a:endParaRPr lang="en-US" altLang="zh-CN" sz="2400" b="1">
                <a:solidFill>
                  <a:srgbClr val="070709"/>
                </a:solidFill>
                <a:latin typeface="+mn-ea"/>
              </a:endParaRPr>
            </a:p>
          </p:txBody>
        </p:sp>
        <p:sp>
          <p:nvSpPr>
            <p:cNvPr id="13" name="Line 4"/>
            <p:cNvSpPr>
              <a:spLocks noChangeShapeType="1"/>
            </p:cNvSpPr>
            <p:nvPr/>
          </p:nvSpPr>
          <p:spPr bwMode="auto">
            <a:xfrm flipH="1">
              <a:off x="1676" y="1240"/>
              <a:ext cx="288"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4" name="Line 5"/>
            <p:cNvSpPr>
              <a:spLocks noChangeShapeType="1"/>
            </p:cNvSpPr>
            <p:nvPr/>
          </p:nvSpPr>
          <p:spPr bwMode="auto">
            <a:xfrm>
              <a:off x="2348" y="1192"/>
              <a:ext cx="256" cy="8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6" name="Line 6"/>
            <p:cNvSpPr>
              <a:spLocks noChangeShapeType="1"/>
            </p:cNvSpPr>
            <p:nvPr/>
          </p:nvSpPr>
          <p:spPr bwMode="auto">
            <a:xfrm>
              <a:off x="2204" y="124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7" name="Rectangle 7"/>
            <p:cNvSpPr>
              <a:spLocks noChangeArrowheads="1"/>
            </p:cNvSpPr>
            <p:nvPr/>
          </p:nvSpPr>
          <p:spPr bwMode="auto">
            <a:xfrm>
              <a:off x="2108" y="1351"/>
              <a:ext cx="43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70709"/>
                  </a:solidFill>
                  <a:latin typeface="+mn-ea"/>
                </a:rPr>
                <a:t>=</a:t>
              </a:r>
              <a:endParaRPr lang="zh-CN" altLang="en-US" sz="2400" b="1">
                <a:solidFill>
                  <a:srgbClr val="070709"/>
                </a:solidFill>
                <a:latin typeface="+mn-ea"/>
              </a:endParaRPr>
            </a:p>
          </p:txBody>
        </p:sp>
        <p:sp>
          <p:nvSpPr>
            <p:cNvPr id="18" name="Line 8"/>
            <p:cNvSpPr>
              <a:spLocks noChangeShapeType="1"/>
            </p:cNvSpPr>
            <p:nvPr/>
          </p:nvSpPr>
          <p:spPr bwMode="auto">
            <a:xfrm flipH="1">
              <a:off x="2382" y="1945"/>
              <a:ext cx="432"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9" name="Line 9"/>
            <p:cNvSpPr>
              <a:spLocks noChangeShapeType="1"/>
            </p:cNvSpPr>
            <p:nvPr/>
          </p:nvSpPr>
          <p:spPr bwMode="auto">
            <a:xfrm>
              <a:off x="2793" y="1993"/>
              <a:ext cx="0"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0" name="Line 10"/>
            <p:cNvSpPr>
              <a:spLocks noChangeShapeType="1"/>
            </p:cNvSpPr>
            <p:nvPr/>
          </p:nvSpPr>
          <p:spPr bwMode="auto">
            <a:xfrm>
              <a:off x="2751" y="1945"/>
              <a:ext cx="432"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1" name="Line 11"/>
            <p:cNvSpPr>
              <a:spLocks noChangeShapeType="1"/>
            </p:cNvSpPr>
            <p:nvPr/>
          </p:nvSpPr>
          <p:spPr bwMode="auto">
            <a:xfrm>
              <a:off x="2238" y="2233"/>
              <a:ext cx="0" cy="14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2" name="Line 12"/>
            <p:cNvSpPr>
              <a:spLocks noChangeShapeType="1"/>
            </p:cNvSpPr>
            <p:nvPr/>
          </p:nvSpPr>
          <p:spPr bwMode="auto">
            <a:xfrm>
              <a:off x="2238" y="2569"/>
              <a:ext cx="0" cy="14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3" name="Line 13"/>
            <p:cNvSpPr>
              <a:spLocks noChangeShapeType="1"/>
            </p:cNvSpPr>
            <p:nvPr/>
          </p:nvSpPr>
          <p:spPr bwMode="auto">
            <a:xfrm>
              <a:off x="3327" y="2233"/>
              <a:ext cx="0" cy="14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24" name="Rectangle 14"/>
            <p:cNvSpPr>
              <a:spLocks noChangeArrowheads="1"/>
            </p:cNvSpPr>
            <p:nvPr/>
          </p:nvSpPr>
          <p:spPr bwMode="auto">
            <a:xfrm>
              <a:off x="3020" y="2344"/>
              <a:ext cx="54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b="1">
                  <a:solidFill>
                    <a:srgbClr val="070709"/>
                  </a:solidFill>
                  <a:latin typeface="+mn-ea"/>
                </a:rPr>
                <a:t>num</a:t>
              </a:r>
              <a:endParaRPr lang="en-US" altLang="zh-CN" sz="2400" b="1">
                <a:solidFill>
                  <a:srgbClr val="070709"/>
                </a:solidFill>
                <a:latin typeface="+mn-ea"/>
              </a:endParaRPr>
            </a:p>
            <a:p>
              <a:r>
                <a:rPr lang="zh-CN" altLang="en-US" sz="2400" b="1">
                  <a:solidFill>
                    <a:srgbClr val="070709"/>
                  </a:solidFill>
                  <a:latin typeface="+mn-ea"/>
                </a:rPr>
                <a:t>(3)</a:t>
              </a:r>
              <a:endParaRPr lang="zh-CN" altLang="en-US" sz="2400" b="1">
                <a:solidFill>
                  <a:srgbClr val="070709"/>
                </a:solidFill>
                <a:latin typeface="+mn-ea"/>
              </a:endParaRPr>
            </a:p>
          </p:txBody>
        </p:sp>
        <p:sp>
          <p:nvSpPr>
            <p:cNvPr id="25" name="Rectangle 15"/>
            <p:cNvSpPr>
              <a:spLocks noChangeArrowheads="1"/>
            </p:cNvSpPr>
            <p:nvPr/>
          </p:nvSpPr>
          <p:spPr bwMode="auto">
            <a:xfrm>
              <a:off x="1998" y="1912"/>
              <a:ext cx="72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70709"/>
                  </a:solidFill>
                  <a:latin typeface="+mn-ea"/>
                </a:rPr>
                <a:t>aexp</a:t>
              </a:r>
              <a:endParaRPr lang="zh-CN" altLang="en-US" sz="2400" b="1">
                <a:solidFill>
                  <a:srgbClr val="070709"/>
                </a:solidFill>
                <a:latin typeface="+mn-ea"/>
              </a:endParaRPr>
            </a:p>
          </p:txBody>
        </p:sp>
        <p:sp>
          <p:nvSpPr>
            <p:cNvPr id="26" name="Rectangle 17"/>
            <p:cNvSpPr>
              <a:spLocks noChangeArrowheads="1"/>
            </p:cNvSpPr>
            <p:nvPr/>
          </p:nvSpPr>
          <p:spPr bwMode="auto">
            <a:xfrm>
              <a:off x="2562" y="1135"/>
              <a:ext cx="62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solidFill>
                    <a:srgbClr val="070709"/>
                  </a:solidFill>
                  <a:latin typeface="+mn-ea"/>
                </a:rPr>
                <a:t>exp</a:t>
              </a:r>
              <a:endParaRPr lang="zh-CN" altLang="en-US" sz="2400" b="1" dirty="0">
                <a:solidFill>
                  <a:srgbClr val="070709"/>
                </a:solidFill>
                <a:latin typeface="+mn-ea"/>
              </a:endParaRPr>
            </a:p>
          </p:txBody>
        </p:sp>
        <p:sp>
          <p:nvSpPr>
            <p:cNvPr id="27" name="Rectangle 18"/>
            <p:cNvSpPr>
              <a:spLocks noChangeArrowheads="1"/>
            </p:cNvSpPr>
            <p:nvPr/>
          </p:nvSpPr>
          <p:spPr bwMode="auto">
            <a:xfrm>
              <a:off x="2684" y="2051"/>
              <a:ext cx="22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70709"/>
                  </a:solidFill>
                  <a:latin typeface="+mn-ea"/>
                </a:rPr>
                <a:t>+</a:t>
              </a:r>
              <a:endParaRPr lang="zh-CN" altLang="en-US" sz="2400" b="1">
                <a:solidFill>
                  <a:srgbClr val="070709"/>
                </a:solidFill>
                <a:latin typeface="+mn-ea"/>
              </a:endParaRPr>
            </a:p>
          </p:txBody>
        </p:sp>
        <p:sp>
          <p:nvSpPr>
            <p:cNvPr id="28" name="Rectangle 19"/>
            <p:cNvSpPr>
              <a:spLocks noChangeArrowheads="1"/>
            </p:cNvSpPr>
            <p:nvPr/>
          </p:nvSpPr>
          <p:spPr bwMode="auto">
            <a:xfrm>
              <a:off x="1292" y="1303"/>
              <a:ext cx="82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70709"/>
                  </a:solidFill>
                  <a:latin typeface="+mn-ea"/>
                </a:rPr>
                <a:t> id</a:t>
              </a:r>
              <a:endParaRPr lang="en-US" altLang="zh-CN" sz="2400" b="1">
                <a:solidFill>
                  <a:srgbClr val="070709"/>
                </a:solidFill>
                <a:latin typeface="+mn-ea"/>
              </a:endParaRPr>
            </a:p>
            <a:p>
              <a:r>
                <a:rPr lang="zh-CN" altLang="en-US" sz="2400" b="1">
                  <a:solidFill>
                    <a:srgbClr val="070709"/>
                  </a:solidFill>
                  <a:latin typeface="+mn-ea"/>
                </a:rPr>
                <a:t>（</a:t>
              </a:r>
              <a:r>
                <a:rPr lang="en-US" altLang="zh-CN" sz="2400" b="1">
                  <a:solidFill>
                    <a:srgbClr val="070709"/>
                  </a:solidFill>
                  <a:latin typeface="+mn-ea"/>
                </a:rPr>
                <a:t>x）</a:t>
              </a:r>
              <a:endParaRPr lang="en-US" altLang="zh-CN" sz="2400" b="1">
                <a:solidFill>
                  <a:srgbClr val="070709"/>
                </a:solidFill>
                <a:latin typeface="+mn-ea"/>
              </a:endParaRPr>
            </a:p>
          </p:txBody>
        </p:sp>
        <p:sp>
          <p:nvSpPr>
            <p:cNvPr id="29" name="Rectangle 20"/>
            <p:cNvSpPr>
              <a:spLocks noChangeArrowheads="1"/>
            </p:cNvSpPr>
            <p:nvPr/>
          </p:nvSpPr>
          <p:spPr bwMode="auto">
            <a:xfrm>
              <a:off x="2094" y="2680"/>
              <a:ext cx="33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70709"/>
                  </a:solidFill>
                  <a:latin typeface="+mn-ea"/>
                </a:rPr>
                <a:t>id</a:t>
              </a:r>
              <a:endParaRPr lang="en-US" altLang="zh-CN" sz="2400" b="1">
                <a:solidFill>
                  <a:srgbClr val="070709"/>
                </a:solidFill>
                <a:latin typeface="+mn-ea"/>
              </a:endParaRPr>
            </a:p>
            <a:p>
              <a:r>
                <a:rPr lang="zh-CN" altLang="en-US" sz="2400" b="1">
                  <a:solidFill>
                    <a:srgbClr val="070709"/>
                  </a:solidFill>
                  <a:latin typeface="+mn-ea"/>
                </a:rPr>
                <a:t>(</a:t>
              </a:r>
              <a:r>
                <a:rPr lang="en-US" altLang="zh-CN" sz="2400" b="1">
                  <a:solidFill>
                    <a:srgbClr val="070709"/>
                  </a:solidFill>
                  <a:latin typeface="+mn-ea"/>
                </a:rPr>
                <a:t>x)</a:t>
              </a:r>
              <a:endParaRPr lang="en-US" altLang="zh-CN" sz="2400" b="1">
                <a:solidFill>
                  <a:srgbClr val="070709"/>
                </a:solidFill>
                <a:latin typeface="+mn-ea"/>
              </a:endParaRPr>
            </a:p>
          </p:txBody>
        </p:sp>
        <p:sp useBgFill="1">
          <p:nvSpPr>
            <p:cNvPr id="30" name="Rectangle 21"/>
            <p:cNvSpPr>
              <a:spLocks noChangeArrowheads="1"/>
            </p:cNvSpPr>
            <p:nvPr/>
          </p:nvSpPr>
          <p:spPr bwMode="auto">
            <a:xfrm>
              <a:off x="1883" y="909"/>
              <a:ext cx="57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r>
                <a:rPr lang="en-US" altLang="zh-CN" sz="2400" b="1" dirty="0">
                  <a:solidFill>
                    <a:srgbClr val="070709"/>
                  </a:solidFill>
                  <a:latin typeface="+mn-ea"/>
                </a:rPr>
                <a:t>exp</a:t>
              </a:r>
              <a:endParaRPr lang="en-US" altLang="zh-CN" sz="2400" b="1" dirty="0">
                <a:solidFill>
                  <a:srgbClr val="070709"/>
                </a:solidFill>
                <a:latin typeface="+mn-ea"/>
              </a:endParaRPr>
            </a:p>
          </p:txBody>
        </p:sp>
        <p:sp>
          <p:nvSpPr>
            <p:cNvPr id="31" name="Line 28"/>
            <p:cNvSpPr>
              <a:spLocks noChangeShapeType="1"/>
            </p:cNvSpPr>
            <p:nvPr/>
          </p:nvSpPr>
          <p:spPr bwMode="auto">
            <a:xfrm>
              <a:off x="2774" y="1458"/>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32" name="Rectangle 29"/>
            <p:cNvSpPr>
              <a:spLocks noChangeArrowheads="1"/>
            </p:cNvSpPr>
            <p:nvPr/>
          </p:nvSpPr>
          <p:spPr bwMode="auto">
            <a:xfrm>
              <a:off x="2492" y="1595"/>
              <a:ext cx="72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solidFill>
                    <a:srgbClr val="070709"/>
                  </a:solidFill>
                  <a:latin typeface="+mn-ea"/>
                </a:rPr>
                <a:t>aexp</a:t>
              </a:r>
              <a:endParaRPr lang="zh-CN" altLang="en-US" sz="2400" b="1">
                <a:solidFill>
                  <a:srgbClr val="070709"/>
                </a:solidFill>
                <a:latin typeface="+mn-ea"/>
              </a:endParaRPr>
            </a:p>
          </p:txBody>
        </p:sp>
      </p:grpSp>
      <p:sp>
        <p:nvSpPr>
          <p:cNvPr id="33" name="Rectangle 2"/>
          <p:cNvSpPr>
            <a:spLocks noChangeArrowheads="1"/>
          </p:cNvSpPr>
          <p:nvPr/>
        </p:nvSpPr>
        <p:spPr bwMode="auto">
          <a:xfrm>
            <a:off x="518160" y="1199824"/>
            <a:ext cx="5257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3010F"/>
                </a:solidFill>
                <a:latin typeface="+mn-ea"/>
              </a:rPr>
              <a:t>表达式</a:t>
            </a:r>
            <a:r>
              <a:rPr lang="en-US" altLang="zh-CN" sz="2400" b="1" dirty="0">
                <a:solidFill>
                  <a:srgbClr val="03010F"/>
                </a:solidFill>
                <a:latin typeface="+mn-ea"/>
              </a:rPr>
              <a:t>x=x+3</a:t>
            </a:r>
            <a:r>
              <a:rPr lang="zh-CN" altLang="en-US" sz="2400" b="1" dirty="0">
                <a:solidFill>
                  <a:srgbClr val="03010F"/>
                </a:solidFill>
                <a:latin typeface="+mn-ea"/>
              </a:rPr>
              <a:t>的</a:t>
            </a:r>
            <a:r>
              <a:rPr lang="en-US" altLang="zh-CN" sz="2400" b="1" dirty="0" err="1">
                <a:solidFill>
                  <a:srgbClr val="03010F"/>
                </a:solidFill>
                <a:latin typeface="+mn-ea"/>
              </a:rPr>
              <a:t>tacode</a:t>
            </a:r>
            <a:r>
              <a:rPr lang="zh-CN" altLang="en-US" sz="2400" b="1" dirty="0">
                <a:solidFill>
                  <a:srgbClr val="03010F"/>
                </a:solidFill>
                <a:latin typeface="+mn-ea"/>
              </a:rPr>
              <a:t>属性计算:</a:t>
            </a:r>
            <a:endParaRPr lang="zh-CN" altLang="en-US" sz="2400" b="1" dirty="0">
              <a:solidFill>
                <a:srgbClr val="03010F"/>
              </a:solidFill>
              <a:latin typeface="+mn-ea"/>
            </a:endParaRPr>
          </a:p>
        </p:txBody>
      </p:sp>
      <p:sp useBgFill="1">
        <p:nvSpPr>
          <p:cNvPr id="34" name="AutoShape 22"/>
          <p:cNvSpPr>
            <a:spLocks noChangeArrowheads="1"/>
          </p:cNvSpPr>
          <p:nvPr/>
        </p:nvSpPr>
        <p:spPr bwMode="auto">
          <a:xfrm>
            <a:off x="382905" y="1570355"/>
            <a:ext cx="2797175" cy="1737995"/>
          </a:xfrm>
          <a:prstGeom prst="cloudCallout">
            <a:avLst>
              <a:gd name="adj1" fmla="val 41486"/>
              <a:gd name="adj2" fmla="val 18797"/>
            </a:avLst>
          </a:prstGeom>
          <a:ln w="28575">
            <a:solidFill>
              <a:schemeClr val="bg1">
                <a:lumMod val="65000"/>
              </a:schemeClr>
            </a:solidFill>
            <a:miter lim="800000"/>
          </a:ln>
        </p:spPr>
        <p:txBody>
          <a:bodyPr/>
          <a:lstStyle/>
          <a:p>
            <a:pPr algn="l">
              <a:lnSpc>
                <a:spcPct val="100000"/>
              </a:lnSpc>
              <a:spcBef>
                <a:spcPts val="0"/>
              </a:spcBef>
              <a:spcAft>
                <a:spcPts val="0"/>
              </a:spcAft>
            </a:pPr>
            <a:r>
              <a:rPr lang="en-US" altLang="zh-CN" sz="2400" b="1" dirty="0" err="1">
                <a:solidFill>
                  <a:srgbClr val="030305"/>
                </a:solidFill>
                <a:latin typeface="+mn-ea"/>
              </a:rPr>
              <a:t>exp.tacode</a:t>
            </a:r>
            <a:r>
              <a:rPr lang="en-US" altLang="zh-CN" sz="2400" b="1" dirty="0">
                <a:solidFill>
                  <a:srgbClr val="030305"/>
                </a:solidFill>
                <a:latin typeface="+mn-ea"/>
              </a:rPr>
              <a:t>=</a:t>
            </a:r>
            <a:endParaRPr lang="en-US" altLang="zh-CN" sz="2400" b="1" dirty="0">
              <a:solidFill>
                <a:srgbClr val="030305"/>
              </a:solidFill>
              <a:latin typeface="+mn-ea"/>
            </a:endParaRPr>
          </a:p>
          <a:p>
            <a:pPr algn="l">
              <a:lnSpc>
                <a:spcPct val="100000"/>
              </a:lnSpc>
              <a:spcBef>
                <a:spcPts val="0"/>
              </a:spcBef>
              <a:spcAft>
                <a:spcPts val="0"/>
              </a:spcAft>
            </a:pPr>
            <a:r>
              <a:rPr lang="en-US" altLang="zh-CN" sz="2400" b="1" dirty="0">
                <a:solidFill>
                  <a:srgbClr val="0070C0"/>
                </a:solidFill>
                <a:latin typeface="+mn-ea"/>
              </a:rPr>
              <a:t>t1 = x + 3</a:t>
            </a:r>
            <a:endParaRPr lang="en-US" altLang="zh-CN" sz="2400" b="1" dirty="0">
              <a:solidFill>
                <a:srgbClr val="0070C0"/>
              </a:solidFill>
              <a:latin typeface="+mn-ea"/>
            </a:endParaRPr>
          </a:p>
          <a:p>
            <a:pPr algn="ctr"/>
            <a:r>
              <a:rPr lang="en-US" altLang="zh-CN" sz="2400" b="1" dirty="0">
                <a:solidFill>
                  <a:srgbClr val="0070C0"/>
                </a:solidFill>
                <a:latin typeface="+mn-ea"/>
              </a:rPr>
              <a:t> x = t1</a:t>
            </a:r>
            <a:endParaRPr lang="en-US" altLang="zh-CN" sz="2400" b="1" dirty="0">
              <a:solidFill>
                <a:srgbClr val="0070C0"/>
              </a:solidFill>
              <a:latin typeface="+mn-ea"/>
            </a:endParaRPr>
          </a:p>
          <a:p>
            <a:pPr algn="ctr"/>
            <a:endParaRPr lang="zh-CN" altLang="en-US" sz="2400" b="1" dirty="0">
              <a:latin typeface="+mn-ea"/>
            </a:endParaRPr>
          </a:p>
        </p:txBody>
      </p:sp>
      <p:sp>
        <p:nvSpPr>
          <p:cNvPr id="35" name="Rectangle 2"/>
          <p:cNvSpPr>
            <a:spLocks noChangeArrowheads="1"/>
          </p:cNvSpPr>
          <p:nvPr>
            <p:custDataLst>
              <p:tags r:id="rId1"/>
            </p:custDataLst>
          </p:nvPr>
        </p:nvSpPr>
        <p:spPr bwMode="auto">
          <a:xfrm>
            <a:off x="5135413" y="1625918"/>
            <a:ext cx="289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i="1">
                <a:solidFill>
                  <a:schemeClr val="tx1"/>
                </a:solidFill>
                <a:latin typeface="+mn-ea"/>
              </a:rPr>
              <a:t>exp</a:t>
            </a:r>
            <a:r>
              <a:rPr lang="en-US" altLang="zh-CN" sz="2400" b="1" i="1" baseline="-25000">
                <a:solidFill>
                  <a:schemeClr val="tx1"/>
                </a:solidFill>
                <a:latin typeface="+mn-ea"/>
              </a:rPr>
              <a:t>1</a:t>
            </a:r>
            <a:r>
              <a:rPr lang="en-US" altLang="zh-CN" sz="2400" b="1" i="1">
                <a:solidFill>
                  <a:schemeClr val="tx1"/>
                </a:solidFill>
                <a:latin typeface="+mn-ea"/>
              </a:rPr>
              <a:t>→</a:t>
            </a:r>
            <a:r>
              <a:rPr lang="en-US" altLang="zh-CN" sz="2400" b="1">
                <a:solidFill>
                  <a:schemeClr val="tx1"/>
                </a:solidFill>
                <a:latin typeface="+mn-ea"/>
              </a:rPr>
              <a:t>id=</a:t>
            </a:r>
            <a:r>
              <a:rPr lang="en-US" altLang="zh-CN" sz="2400" b="1" i="1">
                <a:solidFill>
                  <a:schemeClr val="tx1"/>
                </a:solidFill>
                <a:latin typeface="+mn-ea"/>
              </a:rPr>
              <a:t>exp</a:t>
            </a:r>
            <a:r>
              <a:rPr lang="en-US" altLang="zh-CN" sz="2400" b="1" i="1" baseline="-25000">
                <a:solidFill>
                  <a:schemeClr val="tx1"/>
                </a:solidFill>
                <a:latin typeface="+mn-ea"/>
              </a:rPr>
              <a:t>2</a:t>
            </a:r>
            <a:endParaRPr lang="en-US" altLang="zh-CN" sz="2400" b="1" i="1" baseline="-25000">
              <a:solidFill>
                <a:schemeClr val="tx1"/>
              </a:solidFill>
              <a:latin typeface="+mn-ea"/>
            </a:endParaRPr>
          </a:p>
        </p:txBody>
      </p:sp>
      <p:sp>
        <p:nvSpPr>
          <p:cNvPr id="36" name="Rectangle 3"/>
          <p:cNvSpPr>
            <a:spLocks noChangeArrowheads="1"/>
          </p:cNvSpPr>
          <p:nvPr>
            <p:custDataLst>
              <p:tags r:id="rId2"/>
            </p:custDataLst>
          </p:nvPr>
        </p:nvSpPr>
        <p:spPr bwMode="auto">
          <a:xfrm>
            <a:off x="5135413" y="2826385"/>
            <a:ext cx="2286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i="1">
                <a:solidFill>
                  <a:schemeClr val="tx1"/>
                </a:solidFill>
                <a:latin typeface="+mn-ea"/>
              </a:rPr>
              <a:t>exp→aexp</a:t>
            </a:r>
            <a:endParaRPr lang="en-US" altLang="zh-CN" sz="2400" b="1" i="1">
              <a:solidFill>
                <a:schemeClr val="tx1"/>
              </a:solidFill>
              <a:latin typeface="+mn-ea"/>
            </a:endParaRPr>
          </a:p>
        </p:txBody>
      </p:sp>
      <p:sp>
        <p:nvSpPr>
          <p:cNvPr id="37" name="Rectangle 5"/>
          <p:cNvSpPr>
            <a:spLocks noChangeArrowheads="1"/>
          </p:cNvSpPr>
          <p:nvPr>
            <p:custDataLst>
              <p:tags r:id="rId3"/>
            </p:custDataLst>
          </p:nvPr>
        </p:nvSpPr>
        <p:spPr bwMode="auto">
          <a:xfrm>
            <a:off x="5431248" y="1152248"/>
            <a:ext cx="1605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800" b="1" dirty="0">
                <a:solidFill>
                  <a:srgbClr val="0070C0"/>
                </a:solidFill>
                <a:latin typeface="+mn-ea"/>
              </a:rPr>
              <a:t>文法规则</a:t>
            </a:r>
            <a:endParaRPr lang="zh-CN" altLang="en-US" sz="2800" b="1" dirty="0">
              <a:solidFill>
                <a:srgbClr val="0070C0"/>
              </a:solidFill>
              <a:latin typeface="+mn-ea"/>
            </a:endParaRPr>
          </a:p>
        </p:txBody>
      </p:sp>
      <p:sp>
        <p:nvSpPr>
          <p:cNvPr id="38" name="Rectangle 6"/>
          <p:cNvSpPr>
            <a:spLocks noChangeArrowheads="1"/>
          </p:cNvSpPr>
          <p:nvPr>
            <p:custDataLst>
              <p:tags r:id="rId4"/>
            </p:custDataLst>
          </p:nvPr>
        </p:nvSpPr>
        <p:spPr bwMode="auto">
          <a:xfrm>
            <a:off x="8784048" y="1152248"/>
            <a:ext cx="1605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zh-CN" altLang="en-US" sz="2800" b="1">
                <a:solidFill>
                  <a:srgbClr val="0070C0"/>
                </a:solidFill>
                <a:latin typeface="+mn-ea"/>
              </a:rPr>
              <a:t>语义规则</a:t>
            </a:r>
            <a:endParaRPr lang="zh-CN" altLang="en-US" sz="2800" b="1">
              <a:solidFill>
                <a:srgbClr val="0070C0"/>
              </a:solidFill>
              <a:latin typeface="+mn-ea"/>
            </a:endParaRPr>
          </a:p>
        </p:txBody>
      </p:sp>
      <p:sp>
        <p:nvSpPr>
          <p:cNvPr id="39" name="Rectangle 7"/>
          <p:cNvSpPr>
            <a:spLocks noChangeArrowheads="1"/>
          </p:cNvSpPr>
          <p:nvPr>
            <p:custDataLst>
              <p:tags r:id="rId5"/>
            </p:custDataLst>
          </p:nvPr>
        </p:nvSpPr>
        <p:spPr bwMode="auto">
          <a:xfrm>
            <a:off x="7798435" y="1626235"/>
            <a:ext cx="50888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dirty="0">
                <a:solidFill>
                  <a:schemeClr val="accent1"/>
                </a:solidFill>
                <a:latin typeface="+mn-ea"/>
              </a:rPr>
              <a:t>exp</a:t>
            </a:r>
            <a:r>
              <a:rPr lang="en-US" altLang="zh-CN" sz="2400" b="1" i="1" baseline="-25000" dirty="0">
                <a:solidFill>
                  <a:schemeClr val="accent1"/>
                </a:solidFill>
                <a:latin typeface="+mn-ea"/>
              </a:rPr>
              <a:t>1</a:t>
            </a:r>
            <a:r>
              <a:rPr lang="en-US" altLang="zh-CN" sz="2400" b="1" i="1" dirty="0">
                <a:solidFill>
                  <a:schemeClr val="accent1"/>
                </a:solidFill>
                <a:latin typeface="+mn-ea"/>
              </a:rPr>
              <a:t>.name= exp</a:t>
            </a:r>
            <a:r>
              <a:rPr lang="en-US" altLang="zh-CN" sz="2400" b="1" i="1" baseline="-25000" dirty="0">
                <a:solidFill>
                  <a:schemeClr val="accent1"/>
                </a:solidFill>
                <a:latin typeface="+mn-ea"/>
              </a:rPr>
              <a:t>2</a:t>
            </a:r>
            <a:r>
              <a:rPr lang="en-US" altLang="zh-CN" sz="2400" b="1" i="1" dirty="0">
                <a:solidFill>
                  <a:schemeClr val="accent1"/>
                </a:solidFill>
                <a:latin typeface="+mn-ea"/>
              </a:rPr>
              <a:t>.name</a:t>
            </a:r>
            <a:endParaRPr lang="en-US" altLang="zh-CN" sz="2400" b="1" i="1" dirty="0">
              <a:solidFill>
                <a:schemeClr val="accent1"/>
              </a:solidFill>
              <a:latin typeface="+mn-ea"/>
            </a:endParaRPr>
          </a:p>
        </p:txBody>
      </p:sp>
      <p:sp>
        <p:nvSpPr>
          <p:cNvPr id="40" name="Rectangle 8"/>
          <p:cNvSpPr>
            <a:spLocks noChangeArrowheads="1"/>
          </p:cNvSpPr>
          <p:nvPr>
            <p:custDataLst>
              <p:tags r:id="rId6"/>
            </p:custDataLst>
          </p:nvPr>
        </p:nvSpPr>
        <p:spPr bwMode="auto">
          <a:xfrm>
            <a:off x="7832725" y="2058035"/>
            <a:ext cx="47186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dirty="0">
                <a:solidFill>
                  <a:schemeClr val="accent1"/>
                </a:solidFill>
                <a:latin typeface="+mn-ea"/>
              </a:rPr>
              <a:t>exp</a:t>
            </a:r>
            <a:r>
              <a:rPr lang="en-US" altLang="zh-CN" sz="2400" b="1" i="1" baseline="-25000" dirty="0">
                <a:solidFill>
                  <a:schemeClr val="accent1"/>
                </a:solidFill>
                <a:latin typeface="+mn-ea"/>
              </a:rPr>
              <a:t>1</a:t>
            </a:r>
            <a:r>
              <a:rPr lang="en-US" altLang="zh-CN" sz="2400" b="1" i="1" dirty="0">
                <a:solidFill>
                  <a:schemeClr val="accent1"/>
                </a:solidFill>
                <a:latin typeface="+mn-ea"/>
              </a:rPr>
              <a:t>.tacode= exp</a:t>
            </a:r>
            <a:r>
              <a:rPr lang="en-US" altLang="zh-CN" sz="2400" b="1" i="1" baseline="-25000" dirty="0">
                <a:solidFill>
                  <a:schemeClr val="accent1"/>
                </a:solidFill>
                <a:latin typeface="+mn-ea"/>
              </a:rPr>
              <a:t>2</a:t>
            </a:r>
            <a:r>
              <a:rPr lang="en-US" altLang="zh-CN" sz="2400" b="1" i="1" dirty="0">
                <a:solidFill>
                  <a:schemeClr val="accent1"/>
                </a:solidFill>
                <a:latin typeface="+mn-ea"/>
              </a:rPr>
              <a:t>.tacode++</a:t>
            </a:r>
            <a:endParaRPr lang="en-US" altLang="zh-CN" sz="2400" b="1" i="1" dirty="0">
              <a:solidFill>
                <a:schemeClr val="accent1"/>
              </a:solidFill>
              <a:latin typeface="+mn-ea"/>
            </a:endParaRPr>
          </a:p>
        </p:txBody>
      </p:sp>
      <p:sp>
        <p:nvSpPr>
          <p:cNvPr id="41" name="Rectangle 9"/>
          <p:cNvSpPr>
            <a:spLocks noChangeArrowheads="1"/>
          </p:cNvSpPr>
          <p:nvPr>
            <p:custDataLst>
              <p:tags r:id="rId7"/>
            </p:custDataLst>
          </p:nvPr>
        </p:nvSpPr>
        <p:spPr bwMode="auto">
          <a:xfrm>
            <a:off x="7798435" y="2469515"/>
            <a:ext cx="4829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chemeClr val="accent1"/>
                </a:solidFill>
                <a:latin typeface="+mn-ea"/>
              </a:rPr>
              <a:t>id</a:t>
            </a:r>
            <a:r>
              <a:rPr lang="en-US" altLang="zh-CN" sz="2400" b="1" i="1">
                <a:solidFill>
                  <a:schemeClr val="accent1"/>
                </a:solidFill>
                <a:latin typeface="+mn-ea"/>
              </a:rPr>
              <a:t>.strval ||”=” || exp</a:t>
            </a:r>
            <a:r>
              <a:rPr lang="en-US" altLang="zh-CN" sz="2400" b="1" i="1" baseline="-25000">
                <a:solidFill>
                  <a:schemeClr val="accent1"/>
                </a:solidFill>
                <a:latin typeface="+mn-ea"/>
              </a:rPr>
              <a:t>2</a:t>
            </a:r>
            <a:r>
              <a:rPr lang="en-US" altLang="zh-CN" sz="2400" b="1" i="1">
                <a:solidFill>
                  <a:schemeClr val="accent1"/>
                </a:solidFill>
                <a:latin typeface="+mn-ea"/>
              </a:rPr>
              <a:t>.name</a:t>
            </a:r>
            <a:endParaRPr lang="en-US" altLang="zh-CN" sz="2400" b="1" i="1">
              <a:solidFill>
                <a:schemeClr val="accent1"/>
              </a:solidFill>
              <a:latin typeface="+mn-ea"/>
            </a:endParaRPr>
          </a:p>
        </p:txBody>
      </p:sp>
      <p:sp>
        <p:nvSpPr>
          <p:cNvPr id="42" name="Rectangle 10"/>
          <p:cNvSpPr>
            <a:spLocks noChangeArrowheads="1"/>
          </p:cNvSpPr>
          <p:nvPr>
            <p:custDataLst>
              <p:tags r:id="rId8"/>
            </p:custDataLst>
          </p:nvPr>
        </p:nvSpPr>
        <p:spPr bwMode="auto">
          <a:xfrm>
            <a:off x="7832725" y="2899410"/>
            <a:ext cx="3965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accent1"/>
                </a:solidFill>
                <a:latin typeface="+mn-ea"/>
              </a:rPr>
              <a:t>exp.name= aexp.name</a:t>
            </a:r>
            <a:endParaRPr lang="en-US" altLang="zh-CN" sz="2400" b="1" i="1">
              <a:solidFill>
                <a:schemeClr val="accent1"/>
              </a:solidFill>
              <a:latin typeface="+mn-ea"/>
            </a:endParaRPr>
          </a:p>
        </p:txBody>
      </p:sp>
      <p:sp>
        <p:nvSpPr>
          <p:cNvPr id="43" name="Rectangle 11"/>
          <p:cNvSpPr>
            <a:spLocks noChangeArrowheads="1"/>
          </p:cNvSpPr>
          <p:nvPr>
            <p:custDataLst>
              <p:tags r:id="rId9"/>
            </p:custDataLst>
          </p:nvPr>
        </p:nvSpPr>
        <p:spPr bwMode="auto">
          <a:xfrm>
            <a:off x="7832725" y="3331210"/>
            <a:ext cx="404558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accent1"/>
                </a:solidFill>
                <a:latin typeface="+mn-ea"/>
              </a:rPr>
              <a:t>exp.tacode=aexp.tacode</a:t>
            </a:r>
            <a:endParaRPr lang="en-US" altLang="zh-CN" sz="2400" b="1" i="1">
              <a:solidFill>
                <a:schemeClr val="accent1"/>
              </a:solidFill>
              <a:latin typeface="+mn-ea"/>
            </a:endParaRPr>
          </a:p>
        </p:txBody>
      </p:sp>
      <p:sp>
        <p:nvSpPr>
          <p:cNvPr id="2" name="Rectangle 4"/>
          <p:cNvSpPr>
            <a:spLocks noChangeArrowheads="1"/>
          </p:cNvSpPr>
          <p:nvPr>
            <p:custDataLst>
              <p:tags r:id="rId10"/>
            </p:custDataLst>
          </p:nvPr>
        </p:nvSpPr>
        <p:spPr bwMode="auto">
          <a:xfrm>
            <a:off x="5207057" y="3791566"/>
            <a:ext cx="41449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tx1"/>
                </a:solidFill>
                <a:latin typeface="+mn-ea"/>
              </a:rPr>
              <a:t>aexp</a:t>
            </a:r>
            <a:r>
              <a:rPr lang="en-US" altLang="zh-CN" sz="2400" b="1" i="1" baseline="-25000">
                <a:solidFill>
                  <a:schemeClr val="tx1"/>
                </a:solidFill>
                <a:latin typeface="+mn-ea"/>
              </a:rPr>
              <a:t>1</a:t>
            </a:r>
            <a:r>
              <a:rPr lang="en-US" altLang="zh-CN" sz="2400" b="1" i="1">
                <a:solidFill>
                  <a:schemeClr val="tx1"/>
                </a:solidFill>
                <a:latin typeface="+mn-ea"/>
              </a:rPr>
              <a:t>→aexp</a:t>
            </a:r>
            <a:r>
              <a:rPr lang="en-US" altLang="zh-CN" sz="2400" b="1" i="1" baseline="-25000">
                <a:solidFill>
                  <a:schemeClr val="tx1"/>
                </a:solidFill>
                <a:latin typeface="+mn-ea"/>
              </a:rPr>
              <a:t>2</a:t>
            </a:r>
            <a:r>
              <a:rPr lang="en-US" altLang="zh-CN" sz="2400" b="1">
                <a:solidFill>
                  <a:schemeClr val="tx1"/>
                </a:solidFill>
                <a:latin typeface="+mn-ea"/>
              </a:rPr>
              <a:t>+</a:t>
            </a:r>
            <a:r>
              <a:rPr lang="en-US" altLang="zh-CN" sz="2400" b="1" i="1">
                <a:solidFill>
                  <a:schemeClr val="tx1"/>
                </a:solidFill>
                <a:latin typeface="+mn-ea"/>
              </a:rPr>
              <a:t>factor</a:t>
            </a:r>
            <a:endParaRPr lang="en-US" altLang="zh-CN" sz="2400" b="1" i="1">
              <a:solidFill>
                <a:schemeClr val="tx1"/>
              </a:solidFill>
              <a:latin typeface="+mn-ea"/>
            </a:endParaRPr>
          </a:p>
        </p:txBody>
      </p:sp>
      <p:sp>
        <p:nvSpPr>
          <p:cNvPr id="3" name="Rectangle 5"/>
          <p:cNvSpPr>
            <a:spLocks noChangeArrowheads="1"/>
          </p:cNvSpPr>
          <p:nvPr>
            <p:custDataLst>
              <p:tags r:id="rId11"/>
            </p:custDataLst>
          </p:nvPr>
        </p:nvSpPr>
        <p:spPr bwMode="auto">
          <a:xfrm>
            <a:off x="6955155" y="4222750"/>
            <a:ext cx="57797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accent1"/>
                </a:solidFill>
                <a:latin typeface="+mn-ea"/>
              </a:rPr>
              <a:t>aexp</a:t>
            </a:r>
            <a:r>
              <a:rPr lang="en-US" altLang="zh-CN" sz="2400" b="1" i="1" baseline="-25000">
                <a:solidFill>
                  <a:schemeClr val="accent1"/>
                </a:solidFill>
                <a:latin typeface="+mn-ea"/>
              </a:rPr>
              <a:t>1</a:t>
            </a:r>
            <a:r>
              <a:rPr lang="en-US" altLang="zh-CN" sz="2400" b="1" i="1">
                <a:solidFill>
                  <a:schemeClr val="accent1"/>
                </a:solidFill>
                <a:latin typeface="+mn-ea"/>
              </a:rPr>
              <a:t>.name=newtemp()</a:t>
            </a:r>
            <a:endParaRPr lang="en-US" altLang="zh-CN" sz="2400" b="1" i="1">
              <a:solidFill>
                <a:schemeClr val="accent1"/>
              </a:solidFill>
              <a:latin typeface="+mn-ea"/>
            </a:endParaRPr>
          </a:p>
        </p:txBody>
      </p:sp>
      <p:sp>
        <p:nvSpPr>
          <p:cNvPr id="4" name="Rectangle 6"/>
          <p:cNvSpPr>
            <a:spLocks noChangeArrowheads="1"/>
          </p:cNvSpPr>
          <p:nvPr>
            <p:custDataLst>
              <p:tags r:id="rId12"/>
            </p:custDataLst>
          </p:nvPr>
        </p:nvSpPr>
        <p:spPr bwMode="auto">
          <a:xfrm>
            <a:off x="6903720" y="4645660"/>
            <a:ext cx="50787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accent1"/>
                </a:solidFill>
                <a:latin typeface="+mn-ea"/>
              </a:rPr>
              <a:t>aexp</a:t>
            </a:r>
            <a:r>
              <a:rPr lang="en-US" altLang="zh-CN" sz="2400" b="1" i="1" baseline="-25000">
                <a:solidFill>
                  <a:schemeClr val="accent1"/>
                </a:solidFill>
                <a:latin typeface="+mn-ea"/>
              </a:rPr>
              <a:t>1</a:t>
            </a:r>
            <a:r>
              <a:rPr lang="en-US" altLang="zh-CN" sz="2400" b="1" i="1">
                <a:solidFill>
                  <a:schemeClr val="accent1"/>
                </a:solidFill>
                <a:latin typeface="+mn-ea"/>
              </a:rPr>
              <a:t>.tacode= aexp</a:t>
            </a:r>
            <a:r>
              <a:rPr lang="en-US" altLang="zh-CN" sz="2400" b="1" i="1" baseline="-25000">
                <a:solidFill>
                  <a:schemeClr val="accent1"/>
                </a:solidFill>
                <a:latin typeface="+mn-ea"/>
              </a:rPr>
              <a:t>2</a:t>
            </a:r>
            <a:r>
              <a:rPr lang="en-US" altLang="zh-CN" sz="2400" b="1" i="1">
                <a:solidFill>
                  <a:schemeClr val="accent1"/>
                </a:solidFill>
                <a:latin typeface="+mn-ea"/>
              </a:rPr>
              <a:t>.tacode++</a:t>
            </a:r>
            <a:endParaRPr lang="en-US" altLang="zh-CN" sz="2400" b="1" i="1">
              <a:solidFill>
                <a:schemeClr val="accent1"/>
              </a:solidFill>
              <a:latin typeface="+mn-ea"/>
            </a:endParaRPr>
          </a:p>
        </p:txBody>
      </p:sp>
      <p:sp>
        <p:nvSpPr>
          <p:cNvPr id="5" name="Rectangle 7"/>
          <p:cNvSpPr>
            <a:spLocks noChangeArrowheads="1"/>
          </p:cNvSpPr>
          <p:nvPr>
            <p:custDataLst>
              <p:tags r:id="rId13"/>
            </p:custDataLst>
          </p:nvPr>
        </p:nvSpPr>
        <p:spPr bwMode="auto">
          <a:xfrm>
            <a:off x="6903720" y="5012055"/>
            <a:ext cx="378841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accent1"/>
                </a:solidFill>
                <a:latin typeface="+mn-ea"/>
              </a:rPr>
              <a:t>factor.tacode ++</a:t>
            </a:r>
            <a:endParaRPr lang="en-US" altLang="zh-CN" sz="2400" b="1" i="1">
              <a:solidFill>
                <a:schemeClr val="accent1"/>
              </a:solidFill>
              <a:latin typeface="+mn-ea"/>
            </a:endParaRPr>
          </a:p>
        </p:txBody>
      </p:sp>
      <p:sp>
        <p:nvSpPr>
          <p:cNvPr id="44" name="Rectangle 8"/>
          <p:cNvSpPr>
            <a:spLocks noChangeArrowheads="1"/>
          </p:cNvSpPr>
          <p:nvPr>
            <p:custDataLst>
              <p:tags r:id="rId14"/>
            </p:custDataLst>
          </p:nvPr>
        </p:nvSpPr>
        <p:spPr bwMode="auto">
          <a:xfrm>
            <a:off x="6797040" y="5424170"/>
            <a:ext cx="500126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i="1">
                <a:solidFill>
                  <a:schemeClr val="accent1"/>
                </a:solidFill>
                <a:latin typeface="+mn-ea"/>
              </a:rPr>
              <a:t>aexp</a:t>
            </a:r>
            <a:r>
              <a:rPr lang="en-US" altLang="zh-CN" sz="2400" b="1" i="1" baseline="-25000">
                <a:solidFill>
                  <a:schemeClr val="accent1"/>
                </a:solidFill>
                <a:latin typeface="+mn-ea"/>
              </a:rPr>
              <a:t>1</a:t>
            </a:r>
            <a:r>
              <a:rPr lang="en-US" altLang="zh-CN" sz="2400" b="1" i="1">
                <a:solidFill>
                  <a:schemeClr val="accent1"/>
                </a:solidFill>
                <a:latin typeface="+mn-ea"/>
              </a:rPr>
              <a:t>.name||”=”||aexp</a:t>
            </a:r>
            <a:r>
              <a:rPr lang="en-US" altLang="zh-CN" sz="2400" b="1" i="1" baseline="-25000">
                <a:solidFill>
                  <a:schemeClr val="accent1"/>
                </a:solidFill>
                <a:latin typeface="+mn-ea"/>
              </a:rPr>
              <a:t>2</a:t>
            </a:r>
            <a:r>
              <a:rPr lang="en-US" altLang="zh-CN" sz="2400" b="1" i="1">
                <a:solidFill>
                  <a:schemeClr val="accent1"/>
                </a:solidFill>
                <a:latin typeface="+mn-ea"/>
              </a:rPr>
              <a:t>.name</a:t>
            </a:r>
            <a:endParaRPr lang="en-US" altLang="zh-CN" sz="2400" b="1" i="1">
              <a:solidFill>
                <a:schemeClr val="accent1"/>
              </a:solidFill>
              <a:latin typeface="+mn-ea"/>
            </a:endParaRPr>
          </a:p>
          <a:p>
            <a:r>
              <a:rPr lang="en-US" altLang="zh-CN" sz="2400" b="1" i="1">
                <a:solidFill>
                  <a:schemeClr val="accent1"/>
                </a:solidFill>
                <a:latin typeface="+mn-ea"/>
              </a:rPr>
              <a:t>          ||”+”||factor.name</a:t>
            </a:r>
            <a:endParaRPr lang="en-US" altLang="zh-CN" sz="2400" b="1" i="1">
              <a:solidFill>
                <a:schemeClr val="accent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strips(down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strips(downLeft)">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strips(downLeft)">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strips(downLeft)">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strips(downLeft)">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strips(downLeft)">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strips(downLeft)">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strips(downLeft)">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strips(down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strips(downLeft)">
                                      <p:cBhvr>
                                        <p:cTn id="6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34" grpId="0" bldLvl="0" animBg="1"/>
      <p:bldP spid="39" grpId="0"/>
      <p:bldP spid="40" grpId="0"/>
      <p:bldP spid="41" grpId="0"/>
      <p:bldP spid="42" grpId="0"/>
      <p:bldP spid="43" grpId="0"/>
      <p:bldP spid="3" grpId="0"/>
      <p:bldP spid="4" grpId="0"/>
      <p:bldP spid="5" grpId="0"/>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563880" y="357505"/>
            <a:ext cx="9166225" cy="386715"/>
          </a:xfrm>
        </p:spPr>
        <p:txBody>
          <a:bodyPr/>
          <a:lstStyle/>
          <a:p>
            <a:r>
              <a:rPr lang="en-US" altLang="zh-CN" sz="2400" dirty="0"/>
              <a:t>6.2.1 </a:t>
            </a:r>
            <a:r>
              <a:rPr lang="zh-CN" altLang="en-US" sz="2400" dirty="0"/>
              <a:t>作为合成属性的中间代码或目标代码生成方法</a:t>
            </a:r>
            <a:endParaRPr lang="zh-CN" altLang="en-US" sz="2400" dirty="0"/>
          </a:p>
        </p:txBody>
      </p:sp>
      <p:sp>
        <p:nvSpPr>
          <p:cNvPr id="10" name="Rectangle 2"/>
          <p:cNvSpPr>
            <a:spLocks noChangeArrowheads="1"/>
          </p:cNvSpPr>
          <p:nvPr/>
        </p:nvSpPr>
        <p:spPr bwMode="auto">
          <a:xfrm>
            <a:off x="5939772" y="2144900"/>
            <a:ext cx="2351274"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aexp→factor</a:t>
            </a:r>
            <a:endParaRPr lang="zh-CN" altLang="en-US" sz="2400" i="1">
              <a:solidFill>
                <a:srgbClr val="030305"/>
              </a:solidFill>
              <a:latin typeface="+mn-ea"/>
            </a:endParaRPr>
          </a:p>
        </p:txBody>
      </p:sp>
      <p:sp>
        <p:nvSpPr>
          <p:cNvPr id="11" name="Rectangle 3"/>
          <p:cNvSpPr>
            <a:spLocks noChangeArrowheads="1"/>
          </p:cNvSpPr>
          <p:nvPr/>
        </p:nvSpPr>
        <p:spPr bwMode="auto">
          <a:xfrm>
            <a:off x="5939772" y="2981512"/>
            <a:ext cx="209038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factor→(exp)</a:t>
            </a:r>
            <a:endParaRPr lang="en-US" altLang="zh-CN" sz="2400" i="1">
              <a:solidFill>
                <a:srgbClr val="030305"/>
              </a:solidFill>
              <a:latin typeface="+mn-ea"/>
            </a:endParaRPr>
          </a:p>
        </p:txBody>
      </p:sp>
      <p:sp>
        <p:nvSpPr>
          <p:cNvPr id="12" name="Rectangle 4"/>
          <p:cNvSpPr>
            <a:spLocks noChangeArrowheads="1"/>
          </p:cNvSpPr>
          <p:nvPr/>
        </p:nvSpPr>
        <p:spPr bwMode="auto">
          <a:xfrm>
            <a:off x="5939772" y="3989575"/>
            <a:ext cx="209038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a:t>
            </a:r>
            <a:r>
              <a:rPr lang="en-US" altLang="zh-CN" sz="2400" b="1">
                <a:solidFill>
                  <a:srgbClr val="030305"/>
                </a:solidFill>
                <a:latin typeface="+mn-ea"/>
              </a:rPr>
              <a:t>num</a:t>
            </a:r>
            <a:endParaRPr lang="en-US" altLang="zh-CN" sz="2400" b="1">
              <a:solidFill>
                <a:srgbClr val="030305"/>
              </a:solidFill>
              <a:latin typeface="+mn-ea"/>
            </a:endParaRPr>
          </a:p>
        </p:txBody>
      </p:sp>
      <p:sp>
        <p:nvSpPr>
          <p:cNvPr id="21" name="Rectangle 5"/>
          <p:cNvSpPr>
            <a:spLocks noChangeArrowheads="1"/>
          </p:cNvSpPr>
          <p:nvPr/>
        </p:nvSpPr>
        <p:spPr bwMode="auto">
          <a:xfrm>
            <a:off x="5863572" y="5138925"/>
            <a:ext cx="193433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a:t>
            </a:r>
            <a:r>
              <a:rPr lang="en-US" altLang="zh-CN" sz="2400" b="1">
                <a:solidFill>
                  <a:srgbClr val="030305"/>
                </a:solidFill>
                <a:latin typeface="+mn-ea"/>
              </a:rPr>
              <a:t>id</a:t>
            </a:r>
            <a:endParaRPr lang="en-US" altLang="zh-CN" sz="2400" b="1">
              <a:solidFill>
                <a:srgbClr val="030305"/>
              </a:solidFill>
              <a:latin typeface="+mn-ea"/>
            </a:endParaRPr>
          </a:p>
        </p:txBody>
      </p:sp>
      <p:sp>
        <p:nvSpPr>
          <p:cNvPr id="22" name="Rectangle 6"/>
          <p:cNvSpPr>
            <a:spLocks noChangeArrowheads="1"/>
          </p:cNvSpPr>
          <p:nvPr/>
        </p:nvSpPr>
        <p:spPr bwMode="auto">
          <a:xfrm>
            <a:off x="5833727" y="1673184"/>
            <a:ext cx="216945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070C0"/>
                </a:solidFill>
                <a:latin typeface="宋体" panose="02010600030101010101" pitchFamily="2" charset="-122"/>
              </a:rPr>
              <a:t>文法规则</a:t>
            </a:r>
            <a:endParaRPr lang="zh-CN" altLang="en-US" sz="2800" b="1">
              <a:solidFill>
                <a:srgbClr val="0070C0"/>
              </a:solidFill>
              <a:latin typeface="宋体" panose="02010600030101010101" pitchFamily="2" charset="-122"/>
            </a:endParaRPr>
          </a:p>
        </p:txBody>
      </p:sp>
      <p:sp>
        <p:nvSpPr>
          <p:cNvPr id="23" name="Rectangle 7"/>
          <p:cNvSpPr>
            <a:spLocks noChangeArrowheads="1"/>
          </p:cNvSpPr>
          <p:nvPr/>
        </p:nvSpPr>
        <p:spPr bwMode="auto">
          <a:xfrm>
            <a:off x="8842048" y="1673184"/>
            <a:ext cx="2169459"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a:solidFill>
                  <a:srgbClr val="0070C0"/>
                </a:solidFill>
                <a:latin typeface="宋体" panose="02010600030101010101" pitchFamily="2" charset="-122"/>
              </a:rPr>
              <a:t>语义规则</a:t>
            </a:r>
            <a:endParaRPr lang="zh-CN" altLang="en-US" sz="2800" b="1">
              <a:solidFill>
                <a:srgbClr val="0070C0"/>
              </a:solidFill>
              <a:latin typeface="宋体" panose="02010600030101010101" pitchFamily="2" charset="-122"/>
            </a:endParaRPr>
          </a:p>
        </p:txBody>
      </p:sp>
      <p:sp>
        <p:nvSpPr>
          <p:cNvPr id="24" name="Rectangle 8"/>
          <p:cNvSpPr>
            <a:spLocks noChangeArrowheads="1"/>
          </p:cNvSpPr>
          <p:nvPr/>
        </p:nvSpPr>
        <p:spPr bwMode="auto">
          <a:xfrm>
            <a:off x="8144492" y="2068700"/>
            <a:ext cx="37766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aexp.name= factor.name</a:t>
            </a:r>
            <a:endParaRPr lang="zh-CN" altLang="en-US" sz="2400" i="1">
              <a:solidFill>
                <a:srgbClr val="030305"/>
              </a:solidFill>
              <a:latin typeface="+mn-ea"/>
            </a:endParaRPr>
          </a:p>
        </p:txBody>
      </p:sp>
      <p:sp>
        <p:nvSpPr>
          <p:cNvPr id="25" name="Rectangle 9"/>
          <p:cNvSpPr>
            <a:spLocks noChangeArrowheads="1"/>
          </p:cNvSpPr>
          <p:nvPr/>
        </p:nvSpPr>
        <p:spPr bwMode="auto">
          <a:xfrm>
            <a:off x="8144492" y="2525900"/>
            <a:ext cx="417377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aexp.tacode=factor.tacode</a:t>
            </a:r>
            <a:endParaRPr lang="zh-CN" altLang="en-US" sz="2400" i="1">
              <a:solidFill>
                <a:srgbClr val="030305"/>
              </a:solidFill>
              <a:latin typeface="+mn-ea"/>
            </a:endParaRPr>
          </a:p>
        </p:txBody>
      </p:sp>
      <p:sp>
        <p:nvSpPr>
          <p:cNvPr id="26" name="Rectangle 10"/>
          <p:cNvSpPr>
            <a:spLocks noChangeArrowheads="1"/>
          </p:cNvSpPr>
          <p:nvPr/>
        </p:nvSpPr>
        <p:spPr bwMode="auto">
          <a:xfrm>
            <a:off x="8144493" y="2981512"/>
            <a:ext cx="406780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factor.name=exp.name</a:t>
            </a:r>
            <a:endParaRPr lang="zh-CN" altLang="en-US" sz="2400" i="1">
              <a:solidFill>
                <a:srgbClr val="030305"/>
              </a:solidFill>
              <a:latin typeface="+mn-ea"/>
            </a:endParaRPr>
          </a:p>
        </p:txBody>
      </p:sp>
      <p:sp>
        <p:nvSpPr>
          <p:cNvPr id="27" name="Rectangle 11"/>
          <p:cNvSpPr>
            <a:spLocks noChangeArrowheads="1"/>
          </p:cNvSpPr>
          <p:nvPr/>
        </p:nvSpPr>
        <p:spPr bwMode="auto">
          <a:xfrm>
            <a:off x="8144492" y="3438712"/>
            <a:ext cx="401423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factor.tacode=exp.tacode</a:t>
            </a:r>
            <a:endParaRPr lang="zh-CN" altLang="en-US" sz="2400" i="1">
              <a:solidFill>
                <a:srgbClr val="030305"/>
              </a:solidFill>
              <a:latin typeface="+mn-ea"/>
            </a:endParaRPr>
          </a:p>
        </p:txBody>
      </p:sp>
      <p:sp>
        <p:nvSpPr>
          <p:cNvPr id="28" name="Rectangle 12"/>
          <p:cNvSpPr>
            <a:spLocks noChangeArrowheads="1"/>
          </p:cNvSpPr>
          <p:nvPr/>
        </p:nvSpPr>
        <p:spPr bwMode="auto">
          <a:xfrm>
            <a:off x="8144492" y="3989575"/>
            <a:ext cx="37766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factor.name=</a:t>
            </a:r>
            <a:r>
              <a:rPr lang="en-US" altLang="zh-CN" sz="2400">
                <a:solidFill>
                  <a:srgbClr val="030305"/>
                </a:solidFill>
                <a:latin typeface="+mn-ea"/>
              </a:rPr>
              <a:t>num</a:t>
            </a:r>
            <a:r>
              <a:rPr lang="en-US" altLang="zh-CN" sz="2400" i="1">
                <a:solidFill>
                  <a:srgbClr val="030305"/>
                </a:solidFill>
                <a:latin typeface="+mn-ea"/>
              </a:rPr>
              <a:t>.strval</a:t>
            </a:r>
            <a:endParaRPr lang="zh-CN" altLang="en-US" sz="2400" i="1">
              <a:solidFill>
                <a:srgbClr val="030305"/>
              </a:solidFill>
              <a:latin typeface="+mn-ea"/>
            </a:endParaRPr>
          </a:p>
        </p:txBody>
      </p:sp>
      <p:sp>
        <p:nvSpPr>
          <p:cNvPr id="29" name="Rectangle 13"/>
          <p:cNvSpPr>
            <a:spLocks noChangeArrowheads="1"/>
          </p:cNvSpPr>
          <p:nvPr/>
        </p:nvSpPr>
        <p:spPr bwMode="auto">
          <a:xfrm>
            <a:off x="8144492" y="4467412"/>
            <a:ext cx="332830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factor.tacode=“”</a:t>
            </a:r>
            <a:endParaRPr lang="zh-CN" altLang="en-US" sz="2400" i="1">
              <a:solidFill>
                <a:srgbClr val="030305"/>
              </a:solidFill>
              <a:latin typeface="+mn-ea"/>
            </a:endParaRPr>
          </a:p>
        </p:txBody>
      </p:sp>
      <p:sp>
        <p:nvSpPr>
          <p:cNvPr id="30" name="Rectangle 14"/>
          <p:cNvSpPr>
            <a:spLocks noChangeArrowheads="1"/>
          </p:cNvSpPr>
          <p:nvPr/>
        </p:nvSpPr>
        <p:spPr bwMode="auto">
          <a:xfrm>
            <a:off x="8144492" y="4997637"/>
            <a:ext cx="37766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factor.name=</a:t>
            </a:r>
            <a:r>
              <a:rPr lang="en-US" altLang="zh-CN" sz="2400" b="1">
                <a:solidFill>
                  <a:srgbClr val="030305"/>
                </a:solidFill>
                <a:latin typeface="+mn-ea"/>
              </a:rPr>
              <a:t>id</a:t>
            </a:r>
            <a:r>
              <a:rPr lang="en-US" altLang="zh-CN" sz="2400" i="1">
                <a:solidFill>
                  <a:srgbClr val="030305"/>
                </a:solidFill>
                <a:latin typeface="+mn-ea"/>
              </a:rPr>
              <a:t>.strval</a:t>
            </a:r>
            <a:endParaRPr lang="zh-CN" altLang="en-US" sz="2400" i="1">
              <a:solidFill>
                <a:srgbClr val="030305"/>
              </a:solidFill>
              <a:latin typeface="+mn-ea"/>
            </a:endParaRPr>
          </a:p>
        </p:txBody>
      </p:sp>
      <p:sp>
        <p:nvSpPr>
          <p:cNvPr id="31" name="Rectangle 15"/>
          <p:cNvSpPr>
            <a:spLocks noChangeArrowheads="1"/>
          </p:cNvSpPr>
          <p:nvPr/>
        </p:nvSpPr>
        <p:spPr bwMode="auto">
          <a:xfrm>
            <a:off x="8144492" y="5377050"/>
            <a:ext cx="322233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400" i="1">
                <a:solidFill>
                  <a:srgbClr val="030305"/>
                </a:solidFill>
                <a:latin typeface="+mn-ea"/>
              </a:rPr>
              <a:t>factor.tacode=“”</a:t>
            </a:r>
            <a:endParaRPr lang="zh-CN" altLang="en-US" sz="2400" i="1">
              <a:solidFill>
                <a:srgbClr val="030305"/>
              </a:solidFill>
              <a:latin typeface="+mn-ea"/>
            </a:endParaRPr>
          </a:p>
        </p:txBody>
      </p:sp>
      <p:sp useBgFill="1">
        <p:nvSpPr>
          <p:cNvPr id="6" name="AutoShape 23"/>
          <p:cNvSpPr>
            <a:spLocks noChangeArrowheads="1"/>
          </p:cNvSpPr>
          <p:nvPr>
            <p:custDataLst>
              <p:tags r:id="rId1"/>
            </p:custDataLst>
          </p:nvPr>
        </p:nvSpPr>
        <p:spPr bwMode="auto">
          <a:xfrm>
            <a:off x="383540" y="4859020"/>
            <a:ext cx="2644140" cy="1343660"/>
          </a:xfrm>
          <a:prstGeom prst="cloudCallout">
            <a:avLst>
              <a:gd name="adj1" fmla="val 90414"/>
              <a:gd name="adj2" fmla="val -171172"/>
            </a:avLst>
          </a:prstGeom>
          <a:solidFill>
            <a:schemeClr val="bg1"/>
          </a:solidFill>
          <a:ln w="28575">
            <a:solidFill>
              <a:schemeClr val="bg1">
                <a:lumMod val="65000"/>
              </a:schemeClr>
            </a:solidFill>
            <a:miter lim="800000"/>
          </a:ln>
        </p:spPr>
        <p:txBody>
          <a:bodyPr/>
          <a:p>
            <a:pPr algn="l"/>
            <a:r>
              <a:rPr lang="en-US" altLang="zh-CN" sz="2400" b="1" dirty="0" err="1">
                <a:solidFill>
                  <a:srgbClr val="030305"/>
                </a:solidFill>
                <a:latin typeface="+mn-ea"/>
              </a:rPr>
              <a:t>exp.tacode</a:t>
            </a:r>
            <a:r>
              <a:rPr lang="en-US" altLang="zh-CN" sz="2400" b="1" dirty="0">
                <a:solidFill>
                  <a:srgbClr val="030305"/>
                </a:solidFill>
                <a:latin typeface="+mn-ea"/>
              </a:rPr>
              <a:t>=</a:t>
            </a:r>
            <a:endParaRPr lang="en-US" altLang="zh-CN" sz="2400" b="1" dirty="0">
              <a:solidFill>
                <a:srgbClr val="030305"/>
              </a:solidFill>
              <a:latin typeface="+mn-ea"/>
            </a:endParaRPr>
          </a:p>
          <a:p>
            <a:pPr algn="ctr"/>
            <a:r>
              <a:rPr lang="en-US" altLang="zh-CN" sz="2400" b="1" dirty="0">
                <a:solidFill>
                  <a:srgbClr val="0070C0"/>
                </a:solidFill>
                <a:latin typeface="+mn-ea"/>
              </a:rPr>
              <a:t>t1 = x + 3</a:t>
            </a:r>
            <a:endParaRPr lang="en-US" altLang="zh-CN" sz="2400" b="1" dirty="0">
              <a:solidFill>
                <a:srgbClr val="0070C0"/>
              </a:solidFill>
              <a:latin typeface="+mn-ea"/>
            </a:endParaRPr>
          </a:p>
        </p:txBody>
      </p:sp>
      <p:grpSp>
        <p:nvGrpSpPr>
          <p:cNvPr id="3" name="Group 33"/>
          <p:cNvGrpSpPr/>
          <p:nvPr/>
        </p:nvGrpSpPr>
        <p:grpSpPr bwMode="auto">
          <a:xfrm>
            <a:off x="1874419" y="2834836"/>
            <a:ext cx="4144963" cy="3641725"/>
            <a:chOff x="1292" y="909"/>
            <a:chExt cx="2611" cy="2294"/>
          </a:xfrm>
        </p:grpSpPr>
        <p:sp>
          <p:nvSpPr>
            <p:cNvPr id="4" name="Rectangle 16"/>
            <p:cNvSpPr>
              <a:spLocks noChangeArrowheads="1"/>
            </p:cNvSpPr>
            <p:nvPr>
              <p:custDataLst>
                <p:tags r:id="rId2"/>
              </p:custDataLst>
            </p:nvPr>
          </p:nvSpPr>
          <p:spPr bwMode="auto">
            <a:xfrm>
              <a:off x="2943" y="1959"/>
              <a:ext cx="96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70709"/>
                  </a:solidFill>
                  <a:latin typeface="+mn-ea"/>
                </a:rPr>
                <a:t>factor</a:t>
              </a:r>
              <a:endParaRPr lang="zh-CN" altLang="en-US" sz="2400" b="1">
                <a:solidFill>
                  <a:srgbClr val="070709"/>
                </a:solidFill>
                <a:latin typeface="+mn-ea"/>
              </a:endParaRPr>
            </a:p>
          </p:txBody>
        </p:sp>
        <p:sp useBgFill="1">
          <p:nvSpPr>
            <p:cNvPr id="5" name="Rectangle 3"/>
            <p:cNvSpPr>
              <a:spLocks noChangeArrowheads="1"/>
            </p:cNvSpPr>
            <p:nvPr>
              <p:custDataLst>
                <p:tags r:id="rId3"/>
              </p:custDataLst>
            </p:nvPr>
          </p:nvSpPr>
          <p:spPr bwMode="auto">
            <a:xfrm>
              <a:off x="1854" y="2300"/>
              <a:ext cx="1104"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mn-ea"/>
                </a:rPr>
                <a:t>factor</a:t>
              </a:r>
              <a:endParaRPr lang="en-US" altLang="zh-CN" sz="2400" b="1">
                <a:solidFill>
                  <a:srgbClr val="070709"/>
                </a:solidFill>
                <a:latin typeface="+mn-ea"/>
              </a:endParaRPr>
            </a:p>
          </p:txBody>
        </p:sp>
        <p:sp>
          <p:nvSpPr>
            <p:cNvPr id="13" name="Line 4"/>
            <p:cNvSpPr>
              <a:spLocks noChangeShapeType="1"/>
            </p:cNvSpPr>
            <p:nvPr>
              <p:custDataLst>
                <p:tags r:id="rId4"/>
              </p:custDataLst>
            </p:nvPr>
          </p:nvSpPr>
          <p:spPr bwMode="auto">
            <a:xfrm flipH="1">
              <a:off x="1676" y="1240"/>
              <a:ext cx="288"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4" name="Line 5"/>
            <p:cNvSpPr>
              <a:spLocks noChangeShapeType="1"/>
            </p:cNvSpPr>
            <p:nvPr>
              <p:custDataLst>
                <p:tags r:id="rId5"/>
              </p:custDataLst>
            </p:nvPr>
          </p:nvSpPr>
          <p:spPr bwMode="auto">
            <a:xfrm>
              <a:off x="2348" y="1192"/>
              <a:ext cx="256" cy="8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6" name="Line 6"/>
            <p:cNvSpPr>
              <a:spLocks noChangeShapeType="1"/>
            </p:cNvSpPr>
            <p:nvPr>
              <p:custDataLst>
                <p:tags r:id="rId6"/>
              </p:custDataLst>
            </p:nvPr>
          </p:nvSpPr>
          <p:spPr bwMode="auto">
            <a:xfrm>
              <a:off x="2204" y="1240"/>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7" name="Rectangle 7"/>
            <p:cNvSpPr>
              <a:spLocks noChangeArrowheads="1"/>
            </p:cNvSpPr>
            <p:nvPr>
              <p:custDataLst>
                <p:tags r:id="rId7"/>
              </p:custDataLst>
            </p:nvPr>
          </p:nvSpPr>
          <p:spPr bwMode="auto">
            <a:xfrm>
              <a:off x="2108" y="1351"/>
              <a:ext cx="43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70709"/>
                  </a:solidFill>
                  <a:latin typeface="+mn-ea"/>
                </a:rPr>
                <a:t>=</a:t>
              </a:r>
              <a:endParaRPr lang="zh-CN" altLang="en-US" sz="2400" b="1">
                <a:solidFill>
                  <a:srgbClr val="070709"/>
                </a:solidFill>
                <a:latin typeface="+mn-ea"/>
              </a:endParaRPr>
            </a:p>
          </p:txBody>
        </p:sp>
        <p:sp>
          <p:nvSpPr>
            <p:cNvPr id="7" name="Line 8"/>
            <p:cNvSpPr>
              <a:spLocks noChangeShapeType="1"/>
            </p:cNvSpPr>
            <p:nvPr>
              <p:custDataLst>
                <p:tags r:id="rId8"/>
              </p:custDataLst>
            </p:nvPr>
          </p:nvSpPr>
          <p:spPr bwMode="auto">
            <a:xfrm flipH="1">
              <a:off x="2382" y="1945"/>
              <a:ext cx="432"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8" name="Line 9"/>
            <p:cNvSpPr>
              <a:spLocks noChangeShapeType="1"/>
            </p:cNvSpPr>
            <p:nvPr>
              <p:custDataLst>
                <p:tags r:id="rId9"/>
              </p:custDataLst>
            </p:nvPr>
          </p:nvSpPr>
          <p:spPr bwMode="auto">
            <a:xfrm>
              <a:off x="2793" y="1993"/>
              <a:ext cx="0"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9" name="Line 10"/>
            <p:cNvSpPr>
              <a:spLocks noChangeShapeType="1"/>
            </p:cNvSpPr>
            <p:nvPr>
              <p:custDataLst>
                <p:tags r:id="rId10"/>
              </p:custDataLst>
            </p:nvPr>
          </p:nvSpPr>
          <p:spPr bwMode="auto">
            <a:xfrm>
              <a:off x="2751" y="1945"/>
              <a:ext cx="432" cy="96"/>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73" name="Line 11"/>
            <p:cNvSpPr>
              <a:spLocks noChangeShapeType="1"/>
            </p:cNvSpPr>
            <p:nvPr>
              <p:custDataLst>
                <p:tags r:id="rId11"/>
              </p:custDataLst>
            </p:nvPr>
          </p:nvSpPr>
          <p:spPr bwMode="auto">
            <a:xfrm>
              <a:off x="2238" y="2233"/>
              <a:ext cx="0" cy="14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74" name="Line 12"/>
            <p:cNvSpPr>
              <a:spLocks noChangeShapeType="1"/>
            </p:cNvSpPr>
            <p:nvPr>
              <p:custDataLst>
                <p:tags r:id="rId12"/>
              </p:custDataLst>
            </p:nvPr>
          </p:nvSpPr>
          <p:spPr bwMode="auto">
            <a:xfrm>
              <a:off x="2238" y="2569"/>
              <a:ext cx="0" cy="14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75" name="Line 13"/>
            <p:cNvSpPr>
              <a:spLocks noChangeShapeType="1"/>
            </p:cNvSpPr>
            <p:nvPr>
              <p:custDataLst>
                <p:tags r:id="rId13"/>
              </p:custDataLst>
            </p:nvPr>
          </p:nvSpPr>
          <p:spPr bwMode="auto">
            <a:xfrm>
              <a:off x="3327" y="2233"/>
              <a:ext cx="0" cy="144"/>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76" name="Rectangle 14"/>
            <p:cNvSpPr>
              <a:spLocks noChangeArrowheads="1"/>
            </p:cNvSpPr>
            <p:nvPr>
              <p:custDataLst>
                <p:tags r:id="rId14"/>
              </p:custDataLst>
            </p:nvPr>
          </p:nvSpPr>
          <p:spPr bwMode="auto">
            <a:xfrm>
              <a:off x="3020" y="2344"/>
              <a:ext cx="54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70709"/>
                  </a:solidFill>
                  <a:latin typeface="+mn-ea"/>
                </a:rPr>
                <a:t>num</a:t>
              </a:r>
              <a:endParaRPr lang="en-US" altLang="zh-CN" sz="2400" b="1">
                <a:solidFill>
                  <a:srgbClr val="070709"/>
                </a:solidFill>
                <a:latin typeface="+mn-ea"/>
              </a:endParaRPr>
            </a:p>
            <a:p>
              <a:r>
                <a:rPr lang="zh-CN" altLang="en-US" sz="2400" b="1">
                  <a:solidFill>
                    <a:srgbClr val="070709"/>
                  </a:solidFill>
                  <a:latin typeface="+mn-ea"/>
                </a:rPr>
                <a:t>(3)</a:t>
              </a:r>
              <a:endParaRPr lang="zh-CN" altLang="en-US" sz="2400" b="1">
                <a:solidFill>
                  <a:srgbClr val="070709"/>
                </a:solidFill>
                <a:latin typeface="+mn-ea"/>
              </a:endParaRPr>
            </a:p>
          </p:txBody>
        </p:sp>
        <p:sp>
          <p:nvSpPr>
            <p:cNvPr id="77" name="Rectangle 15"/>
            <p:cNvSpPr>
              <a:spLocks noChangeArrowheads="1"/>
            </p:cNvSpPr>
            <p:nvPr>
              <p:custDataLst>
                <p:tags r:id="rId15"/>
              </p:custDataLst>
            </p:nvPr>
          </p:nvSpPr>
          <p:spPr bwMode="auto">
            <a:xfrm>
              <a:off x="1998" y="1912"/>
              <a:ext cx="72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70709"/>
                  </a:solidFill>
                  <a:latin typeface="+mn-ea"/>
                </a:rPr>
                <a:t>aexp</a:t>
              </a:r>
              <a:endParaRPr lang="zh-CN" altLang="en-US" sz="2400" b="1">
                <a:solidFill>
                  <a:srgbClr val="070709"/>
                </a:solidFill>
                <a:latin typeface="+mn-ea"/>
              </a:endParaRPr>
            </a:p>
          </p:txBody>
        </p:sp>
        <p:sp>
          <p:nvSpPr>
            <p:cNvPr id="78" name="Rectangle 17"/>
            <p:cNvSpPr>
              <a:spLocks noChangeArrowheads="1"/>
            </p:cNvSpPr>
            <p:nvPr>
              <p:custDataLst>
                <p:tags r:id="rId16"/>
              </p:custDataLst>
            </p:nvPr>
          </p:nvSpPr>
          <p:spPr bwMode="auto">
            <a:xfrm>
              <a:off x="2562" y="1135"/>
              <a:ext cx="62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dirty="0">
                  <a:solidFill>
                    <a:srgbClr val="070709"/>
                  </a:solidFill>
                  <a:latin typeface="+mn-ea"/>
                </a:rPr>
                <a:t>exp</a:t>
              </a:r>
              <a:endParaRPr lang="zh-CN" altLang="en-US" sz="2400" b="1" dirty="0">
                <a:solidFill>
                  <a:srgbClr val="070709"/>
                </a:solidFill>
                <a:latin typeface="+mn-ea"/>
              </a:endParaRPr>
            </a:p>
          </p:txBody>
        </p:sp>
        <p:sp>
          <p:nvSpPr>
            <p:cNvPr id="79" name="Rectangle 18"/>
            <p:cNvSpPr>
              <a:spLocks noChangeArrowheads="1"/>
            </p:cNvSpPr>
            <p:nvPr>
              <p:custDataLst>
                <p:tags r:id="rId17"/>
              </p:custDataLst>
            </p:nvPr>
          </p:nvSpPr>
          <p:spPr bwMode="auto">
            <a:xfrm>
              <a:off x="2684" y="2051"/>
              <a:ext cx="22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70709"/>
                  </a:solidFill>
                  <a:latin typeface="+mn-ea"/>
                </a:rPr>
                <a:t>+</a:t>
              </a:r>
              <a:endParaRPr lang="zh-CN" altLang="en-US" sz="2400" b="1">
                <a:solidFill>
                  <a:srgbClr val="070709"/>
                </a:solidFill>
                <a:latin typeface="+mn-ea"/>
              </a:endParaRPr>
            </a:p>
          </p:txBody>
        </p:sp>
        <p:sp>
          <p:nvSpPr>
            <p:cNvPr id="80" name="Rectangle 19"/>
            <p:cNvSpPr>
              <a:spLocks noChangeArrowheads="1"/>
            </p:cNvSpPr>
            <p:nvPr>
              <p:custDataLst>
                <p:tags r:id="rId18"/>
              </p:custDataLst>
            </p:nvPr>
          </p:nvSpPr>
          <p:spPr bwMode="auto">
            <a:xfrm>
              <a:off x="1292" y="1303"/>
              <a:ext cx="82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70709"/>
                  </a:solidFill>
                  <a:latin typeface="+mn-ea"/>
                </a:rPr>
                <a:t> id</a:t>
              </a:r>
              <a:endParaRPr lang="en-US" altLang="zh-CN" sz="2400" b="1">
                <a:solidFill>
                  <a:srgbClr val="070709"/>
                </a:solidFill>
                <a:latin typeface="+mn-ea"/>
              </a:endParaRPr>
            </a:p>
            <a:p>
              <a:r>
                <a:rPr lang="zh-CN" altLang="en-US" sz="2400" b="1">
                  <a:solidFill>
                    <a:srgbClr val="070709"/>
                  </a:solidFill>
                  <a:latin typeface="+mn-ea"/>
                </a:rPr>
                <a:t>（</a:t>
              </a:r>
              <a:r>
                <a:rPr lang="en-US" altLang="zh-CN" sz="2400" b="1">
                  <a:solidFill>
                    <a:srgbClr val="070709"/>
                  </a:solidFill>
                  <a:latin typeface="+mn-ea"/>
                </a:rPr>
                <a:t>x）</a:t>
              </a:r>
              <a:endParaRPr lang="en-US" altLang="zh-CN" sz="2400" b="1">
                <a:solidFill>
                  <a:srgbClr val="070709"/>
                </a:solidFill>
                <a:latin typeface="+mn-ea"/>
              </a:endParaRPr>
            </a:p>
          </p:txBody>
        </p:sp>
        <p:sp>
          <p:nvSpPr>
            <p:cNvPr id="81" name="Rectangle 20"/>
            <p:cNvSpPr>
              <a:spLocks noChangeArrowheads="1"/>
            </p:cNvSpPr>
            <p:nvPr>
              <p:custDataLst>
                <p:tags r:id="rId19"/>
              </p:custDataLst>
            </p:nvPr>
          </p:nvSpPr>
          <p:spPr bwMode="auto">
            <a:xfrm>
              <a:off x="2094" y="2680"/>
              <a:ext cx="33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US" altLang="zh-CN" sz="2400" b="1">
                  <a:solidFill>
                    <a:srgbClr val="070709"/>
                  </a:solidFill>
                  <a:latin typeface="+mn-ea"/>
                </a:rPr>
                <a:t>id</a:t>
              </a:r>
              <a:endParaRPr lang="en-US" altLang="zh-CN" sz="2400" b="1">
                <a:solidFill>
                  <a:srgbClr val="070709"/>
                </a:solidFill>
                <a:latin typeface="+mn-ea"/>
              </a:endParaRPr>
            </a:p>
            <a:p>
              <a:r>
                <a:rPr lang="zh-CN" altLang="en-US" sz="2400" b="1">
                  <a:solidFill>
                    <a:srgbClr val="070709"/>
                  </a:solidFill>
                  <a:latin typeface="+mn-ea"/>
                </a:rPr>
                <a:t>(</a:t>
              </a:r>
              <a:r>
                <a:rPr lang="en-US" altLang="zh-CN" sz="2400" b="1">
                  <a:solidFill>
                    <a:srgbClr val="070709"/>
                  </a:solidFill>
                  <a:latin typeface="+mn-ea"/>
                </a:rPr>
                <a:t>x)</a:t>
              </a:r>
              <a:endParaRPr lang="en-US" altLang="zh-CN" sz="2400" b="1">
                <a:solidFill>
                  <a:srgbClr val="070709"/>
                </a:solidFill>
                <a:latin typeface="+mn-ea"/>
              </a:endParaRPr>
            </a:p>
          </p:txBody>
        </p:sp>
        <p:sp useBgFill="1">
          <p:nvSpPr>
            <p:cNvPr id="82" name="Rectangle 21"/>
            <p:cNvSpPr>
              <a:spLocks noChangeArrowheads="1"/>
            </p:cNvSpPr>
            <p:nvPr>
              <p:custDataLst>
                <p:tags r:id="rId20"/>
              </p:custDataLst>
            </p:nvPr>
          </p:nvSpPr>
          <p:spPr bwMode="auto">
            <a:xfrm>
              <a:off x="1883" y="909"/>
              <a:ext cx="576" cy="29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dirty="0">
                  <a:solidFill>
                    <a:srgbClr val="070709"/>
                  </a:solidFill>
                  <a:latin typeface="+mn-ea"/>
                </a:rPr>
                <a:t>exp</a:t>
              </a:r>
              <a:endParaRPr lang="en-US" altLang="zh-CN" sz="2400" b="1" dirty="0">
                <a:solidFill>
                  <a:srgbClr val="070709"/>
                </a:solidFill>
                <a:latin typeface="+mn-ea"/>
              </a:endParaRPr>
            </a:p>
          </p:txBody>
        </p:sp>
        <p:sp>
          <p:nvSpPr>
            <p:cNvPr id="83" name="Line 28"/>
            <p:cNvSpPr>
              <a:spLocks noChangeShapeType="1"/>
            </p:cNvSpPr>
            <p:nvPr>
              <p:custDataLst>
                <p:tags r:id="rId21"/>
              </p:custDataLst>
            </p:nvPr>
          </p:nvSpPr>
          <p:spPr bwMode="auto">
            <a:xfrm>
              <a:off x="2774" y="1458"/>
              <a:ext cx="0" cy="19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84" name="Rectangle 29"/>
            <p:cNvSpPr>
              <a:spLocks noChangeArrowheads="1"/>
            </p:cNvSpPr>
            <p:nvPr>
              <p:custDataLst>
                <p:tags r:id="rId22"/>
              </p:custDataLst>
            </p:nvPr>
          </p:nvSpPr>
          <p:spPr bwMode="auto">
            <a:xfrm>
              <a:off x="2492" y="1595"/>
              <a:ext cx="72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400" b="1">
                  <a:solidFill>
                    <a:srgbClr val="070709"/>
                  </a:solidFill>
                  <a:latin typeface="+mn-ea"/>
                </a:rPr>
                <a:t>aexp</a:t>
              </a:r>
              <a:endParaRPr lang="zh-CN" altLang="en-US" sz="2400" b="1">
                <a:solidFill>
                  <a:srgbClr val="070709"/>
                </a:solidFill>
                <a:latin typeface="+mn-ea"/>
              </a:endParaRPr>
            </a:p>
          </p:txBody>
        </p:sp>
      </p:grpSp>
      <p:sp>
        <p:nvSpPr>
          <p:cNvPr id="85" name="Rectangle 2"/>
          <p:cNvSpPr>
            <a:spLocks noChangeArrowheads="1"/>
          </p:cNvSpPr>
          <p:nvPr>
            <p:custDataLst>
              <p:tags r:id="rId23"/>
            </p:custDataLst>
          </p:nvPr>
        </p:nvSpPr>
        <p:spPr bwMode="auto">
          <a:xfrm>
            <a:off x="518160" y="1199824"/>
            <a:ext cx="5257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zh-CN" altLang="en-US" sz="2400" b="1" dirty="0">
                <a:solidFill>
                  <a:srgbClr val="03010F"/>
                </a:solidFill>
                <a:latin typeface="+mn-ea"/>
              </a:rPr>
              <a:t>表达式</a:t>
            </a:r>
            <a:r>
              <a:rPr lang="en-US" altLang="zh-CN" sz="2400" b="1" dirty="0">
                <a:solidFill>
                  <a:srgbClr val="03010F"/>
                </a:solidFill>
                <a:latin typeface="+mn-ea"/>
              </a:rPr>
              <a:t>x=x+3</a:t>
            </a:r>
            <a:r>
              <a:rPr lang="zh-CN" altLang="en-US" sz="2400" b="1" dirty="0">
                <a:solidFill>
                  <a:srgbClr val="03010F"/>
                </a:solidFill>
                <a:latin typeface="+mn-ea"/>
              </a:rPr>
              <a:t>的</a:t>
            </a:r>
            <a:r>
              <a:rPr lang="en-US" altLang="zh-CN" sz="2400" b="1" dirty="0" err="1">
                <a:solidFill>
                  <a:srgbClr val="03010F"/>
                </a:solidFill>
                <a:latin typeface="+mn-ea"/>
              </a:rPr>
              <a:t>tacode</a:t>
            </a:r>
            <a:r>
              <a:rPr lang="zh-CN" altLang="en-US" sz="2400" b="1" dirty="0">
                <a:solidFill>
                  <a:srgbClr val="03010F"/>
                </a:solidFill>
                <a:latin typeface="+mn-ea"/>
              </a:rPr>
              <a:t>属性计算:</a:t>
            </a:r>
            <a:endParaRPr lang="zh-CN" altLang="en-US" sz="2400" b="1" dirty="0">
              <a:solidFill>
                <a:srgbClr val="03010F"/>
              </a:solidFill>
              <a:latin typeface="+mn-ea"/>
            </a:endParaRPr>
          </a:p>
        </p:txBody>
      </p:sp>
      <p:sp useBgFill="1">
        <p:nvSpPr>
          <p:cNvPr id="86" name="AutoShape 22"/>
          <p:cNvSpPr>
            <a:spLocks noChangeArrowheads="1"/>
          </p:cNvSpPr>
          <p:nvPr>
            <p:custDataLst>
              <p:tags r:id="rId24"/>
            </p:custDataLst>
          </p:nvPr>
        </p:nvSpPr>
        <p:spPr bwMode="auto">
          <a:xfrm>
            <a:off x="382905" y="1570355"/>
            <a:ext cx="2797175" cy="1737995"/>
          </a:xfrm>
          <a:prstGeom prst="cloudCallout">
            <a:avLst>
              <a:gd name="adj1" fmla="val 41486"/>
              <a:gd name="adj2" fmla="val 18797"/>
            </a:avLst>
          </a:prstGeom>
          <a:ln w="28575">
            <a:solidFill>
              <a:schemeClr val="bg1">
                <a:lumMod val="65000"/>
              </a:schemeClr>
            </a:solidFill>
            <a:miter lim="800000"/>
          </a:ln>
        </p:spPr>
        <p:txBody>
          <a:bodyPr/>
          <a:p>
            <a:pPr algn="l">
              <a:lnSpc>
                <a:spcPct val="100000"/>
              </a:lnSpc>
              <a:spcBef>
                <a:spcPts val="0"/>
              </a:spcBef>
              <a:spcAft>
                <a:spcPts val="0"/>
              </a:spcAft>
            </a:pPr>
            <a:r>
              <a:rPr lang="en-US" altLang="zh-CN" sz="2400" b="1" dirty="0" err="1">
                <a:solidFill>
                  <a:srgbClr val="030305"/>
                </a:solidFill>
                <a:latin typeface="+mn-ea"/>
              </a:rPr>
              <a:t>exp.tacode</a:t>
            </a:r>
            <a:r>
              <a:rPr lang="en-US" altLang="zh-CN" sz="2400" b="1" dirty="0">
                <a:solidFill>
                  <a:srgbClr val="030305"/>
                </a:solidFill>
                <a:latin typeface="+mn-ea"/>
              </a:rPr>
              <a:t>=</a:t>
            </a:r>
            <a:endParaRPr lang="en-US" altLang="zh-CN" sz="2400" b="1" dirty="0">
              <a:solidFill>
                <a:srgbClr val="030305"/>
              </a:solidFill>
              <a:latin typeface="+mn-ea"/>
            </a:endParaRPr>
          </a:p>
          <a:p>
            <a:pPr algn="l">
              <a:lnSpc>
                <a:spcPct val="100000"/>
              </a:lnSpc>
              <a:spcBef>
                <a:spcPts val="0"/>
              </a:spcBef>
              <a:spcAft>
                <a:spcPts val="0"/>
              </a:spcAft>
            </a:pPr>
            <a:r>
              <a:rPr lang="en-US" altLang="zh-CN" sz="2400" b="1" dirty="0">
                <a:solidFill>
                  <a:srgbClr val="0070C0"/>
                </a:solidFill>
                <a:latin typeface="+mn-ea"/>
              </a:rPr>
              <a:t>t1 = x + 3</a:t>
            </a:r>
            <a:endParaRPr lang="en-US" altLang="zh-CN" sz="2400" b="1" dirty="0">
              <a:solidFill>
                <a:srgbClr val="0070C0"/>
              </a:solidFill>
              <a:latin typeface="+mn-ea"/>
            </a:endParaRPr>
          </a:p>
          <a:p>
            <a:pPr algn="ctr"/>
            <a:r>
              <a:rPr lang="en-US" altLang="zh-CN" sz="2400" b="1" dirty="0">
                <a:solidFill>
                  <a:srgbClr val="0070C0"/>
                </a:solidFill>
                <a:latin typeface="+mn-ea"/>
              </a:rPr>
              <a:t> x = t1</a:t>
            </a:r>
            <a:endParaRPr lang="en-US" altLang="zh-CN" sz="2400" b="1" dirty="0">
              <a:solidFill>
                <a:srgbClr val="0070C0"/>
              </a:solidFill>
              <a:latin typeface="+mn-ea"/>
            </a:endParaRPr>
          </a:p>
          <a:p>
            <a:pPr algn="ctr"/>
            <a:endParaRPr lang="zh-CN" altLang="en-US"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trips(downLeft)">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strips(down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strips(down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strips(down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strips(down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strips(down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strips(down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strips(downLeft)">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Horizontal)">
                                      <p:cBhvr>
                                        <p:cTn id="47" dur="5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strips(downLeft)">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strips(downLeft)">
                                      <p:cBhvr>
                                        <p:cTn id="5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P spid="30" grpId="0"/>
      <p:bldP spid="31" grpId="0"/>
      <p:bldP spid="6" grpId="0" bldLvl="0" animBg="1"/>
      <p:bldP spid="8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39725" y="357505"/>
            <a:ext cx="7674610" cy="386715"/>
          </a:xfrm>
        </p:spPr>
        <p:txBody>
          <a:bodyPr/>
          <a:lstStyle/>
          <a:p>
            <a:r>
              <a:rPr lang="en-US" altLang="zh-CN" sz="2400" dirty="0"/>
              <a:t>6.2.1 </a:t>
            </a:r>
            <a:r>
              <a:rPr lang="zh-CN" altLang="en-US" sz="2400" dirty="0"/>
              <a:t>作为合成属性的中间代码或目标代码生成方法</a:t>
            </a:r>
            <a:endParaRPr lang="zh-CN" altLang="en-US" sz="2400" dirty="0"/>
          </a:p>
        </p:txBody>
      </p:sp>
      <p:sp>
        <p:nvSpPr>
          <p:cNvPr id="75" name="Rectangle 4"/>
          <p:cNvSpPr>
            <a:spLocks noChangeArrowheads="1"/>
          </p:cNvSpPr>
          <p:nvPr/>
        </p:nvSpPr>
        <p:spPr bwMode="auto">
          <a:xfrm>
            <a:off x="549910" y="3719830"/>
            <a:ext cx="3871595" cy="184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zh-CN" altLang="en-US" sz="2400" b="1" dirty="0">
                <a:solidFill>
                  <a:srgbClr val="030305"/>
                </a:solidFill>
                <a:latin typeface="+mn-ea"/>
              </a:rPr>
              <a:t>对于表达式文法</a:t>
            </a:r>
            <a:endParaRPr lang="zh-CN" altLang="en-US" sz="2400" b="1" dirty="0">
              <a:solidFill>
                <a:srgbClr val="030305"/>
              </a:solidFill>
              <a:latin typeface="+mn-ea"/>
            </a:endParaRPr>
          </a:p>
          <a:p>
            <a:pPr>
              <a:lnSpc>
                <a:spcPct val="75000"/>
              </a:lnSpc>
              <a:spcBef>
                <a:spcPct val="50000"/>
              </a:spcBef>
            </a:pPr>
            <a:r>
              <a:rPr lang="en-US" altLang="zh-CN" sz="2400" b="1" i="1" dirty="0" err="1">
                <a:solidFill>
                  <a:srgbClr val="030305"/>
                </a:solidFill>
                <a:latin typeface="+mn-ea"/>
              </a:rPr>
              <a:t>exp</a:t>
            </a:r>
            <a:r>
              <a:rPr lang="en-US" altLang="zh-CN" sz="2400" b="1" dirty="0" err="1">
                <a:solidFill>
                  <a:srgbClr val="030305"/>
                </a:solidFill>
                <a:latin typeface="+mn-ea"/>
              </a:rPr>
              <a:t>→id</a:t>
            </a:r>
            <a:r>
              <a:rPr lang="en-US" altLang="zh-CN" sz="2400" b="1" dirty="0">
                <a:solidFill>
                  <a:srgbClr val="030305"/>
                </a:solidFill>
                <a:latin typeface="+mn-ea"/>
              </a:rPr>
              <a:t>=</a:t>
            </a:r>
            <a:r>
              <a:rPr lang="en-US" altLang="zh-CN" sz="2400" b="1" i="1" dirty="0" err="1">
                <a:solidFill>
                  <a:srgbClr val="030305"/>
                </a:solidFill>
                <a:latin typeface="+mn-ea"/>
              </a:rPr>
              <a:t>exp</a:t>
            </a:r>
            <a:r>
              <a:rPr lang="en-US" altLang="zh-CN" sz="2400" b="1" dirty="0" err="1">
                <a:solidFill>
                  <a:srgbClr val="030305"/>
                </a:solidFill>
                <a:latin typeface="+mn-ea"/>
              </a:rPr>
              <a:t>|</a:t>
            </a:r>
            <a:r>
              <a:rPr lang="en-US" altLang="zh-CN" sz="2400" b="1" i="1" dirty="0" err="1">
                <a:solidFill>
                  <a:srgbClr val="030305"/>
                </a:solidFill>
                <a:latin typeface="+mn-ea"/>
              </a:rPr>
              <a:t>aexp</a:t>
            </a:r>
            <a:endParaRPr lang="en-US" altLang="zh-CN" sz="2400" b="1" i="1" dirty="0">
              <a:solidFill>
                <a:srgbClr val="030305"/>
              </a:solidFill>
              <a:latin typeface="+mn-ea"/>
            </a:endParaRPr>
          </a:p>
          <a:p>
            <a:pPr>
              <a:lnSpc>
                <a:spcPct val="75000"/>
              </a:lnSpc>
              <a:spcBef>
                <a:spcPct val="50000"/>
              </a:spcBef>
            </a:pPr>
            <a:r>
              <a:rPr lang="en-US" altLang="zh-CN" sz="2400" b="1" i="1" dirty="0" err="1">
                <a:solidFill>
                  <a:srgbClr val="030305"/>
                </a:solidFill>
                <a:latin typeface="+mn-ea"/>
              </a:rPr>
              <a:t>aexp</a:t>
            </a:r>
            <a:r>
              <a:rPr lang="en-US" altLang="zh-CN" sz="2400" b="1" dirty="0" err="1">
                <a:solidFill>
                  <a:srgbClr val="030305"/>
                </a:solidFill>
                <a:latin typeface="+mn-ea"/>
              </a:rPr>
              <a:t>→</a:t>
            </a:r>
            <a:r>
              <a:rPr lang="en-US" altLang="zh-CN" sz="2400" b="1" i="1" dirty="0" err="1">
                <a:solidFill>
                  <a:srgbClr val="030305"/>
                </a:solidFill>
                <a:latin typeface="+mn-ea"/>
              </a:rPr>
              <a:t>aexp</a:t>
            </a:r>
            <a:r>
              <a:rPr lang="en-US" altLang="zh-CN" sz="2400" b="1" dirty="0" err="1">
                <a:solidFill>
                  <a:srgbClr val="030305"/>
                </a:solidFill>
                <a:latin typeface="+mn-ea"/>
              </a:rPr>
              <a:t>+</a:t>
            </a:r>
            <a:r>
              <a:rPr lang="en-US" altLang="zh-CN" sz="2400" b="1" i="1" dirty="0" err="1">
                <a:solidFill>
                  <a:srgbClr val="030305"/>
                </a:solidFill>
                <a:latin typeface="+mn-ea"/>
              </a:rPr>
              <a:t>factor</a:t>
            </a:r>
            <a:r>
              <a:rPr lang="en-US" altLang="zh-CN" sz="2400" b="1" dirty="0" err="1">
                <a:solidFill>
                  <a:srgbClr val="030305"/>
                </a:solidFill>
                <a:latin typeface="+mn-ea"/>
              </a:rPr>
              <a:t>|</a:t>
            </a:r>
            <a:r>
              <a:rPr lang="en-US" altLang="zh-CN" sz="2400" b="1" i="1" dirty="0" err="1">
                <a:solidFill>
                  <a:srgbClr val="030305"/>
                </a:solidFill>
                <a:latin typeface="+mn-ea"/>
              </a:rPr>
              <a:t>factor</a:t>
            </a:r>
            <a:endParaRPr lang="en-US" altLang="zh-CN" sz="2400" b="1" i="1" dirty="0">
              <a:solidFill>
                <a:srgbClr val="030305"/>
              </a:solidFill>
              <a:latin typeface="+mn-ea"/>
            </a:endParaRPr>
          </a:p>
          <a:p>
            <a:pPr>
              <a:lnSpc>
                <a:spcPct val="75000"/>
              </a:lnSpc>
              <a:spcBef>
                <a:spcPct val="50000"/>
              </a:spcBef>
            </a:pPr>
            <a:r>
              <a:rPr lang="en-US" altLang="zh-CN" sz="2400" b="1" i="1" dirty="0">
                <a:solidFill>
                  <a:srgbClr val="030305"/>
                </a:solidFill>
                <a:latin typeface="+mn-ea"/>
              </a:rPr>
              <a:t>factor</a:t>
            </a:r>
            <a:r>
              <a:rPr lang="en-US" altLang="zh-CN" sz="2400" b="1" dirty="0">
                <a:solidFill>
                  <a:srgbClr val="030305"/>
                </a:solidFill>
                <a:latin typeface="+mn-ea"/>
              </a:rPr>
              <a:t>→(</a:t>
            </a:r>
            <a:r>
              <a:rPr lang="en-US" altLang="zh-CN" sz="2400" b="1" i="1" dirty="0">
                <a:solidFill>
                  <a:srgbClr val="030305"/>
                </a:solidFill>
                <a:latin typeface="+mn-ea"/>
              </a:rPr>
              <a:t>exp</a:t>
            </a:r>
            <a:r>
              <a:rPr lang="en-US" altLang="zh-CN" sz="2400" b="1" dirty="0">
                <a:solidFill>
                  <a:srgbClr val="030305"/>
                </a:solidFill>
                <a:latin typeface="+mn-ea"/>
              </a:rPr>
              <a:t>)|</a:t>
            </a:r>
            <a:r>
              <a:rPr lang="en-US" altLang="zh-CN" sz="2400" b="1" dirty="0" err="1">
                <a:solidFill>
                  <a:srgbClr val="030305"/>
                </a:solidFill>
                <a:latin typeface="+mn-ea"/>
              </a:rPr>
              <a:t>num|id</a:t>
            </a:r>
            <a:endParaRPr lang="en-US" altLang="zh-CN" sz="2400" b="1" dirty="0">
              <a:solidFill>
                <a:srgbClr val="030305"/>
              </a:solidFill>
              <a:latin typeface="+mn-ea"/>
            </a:endParaRPr>
          </a:p>
        </p:txBody>
      </p:sp>
      <p:sp>
        <p:nvSpPr>
          <p:cNvPr id="76" name="Rectangle 5"/>
          <p:cNvSpPr>
            <a:spLocks noChangeArrowheads="1"/>
          </p:cNvSpPr>
          <p:nvPr/>
        </p:nvSpPr>
        <p:spPr bwMode="auto">
          <a:xfrm>
            <a:off x="549910" y="1321435"/>
            <a:ext cx="4279265"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30305"/>
                </a:solidFill>
                <a:latin typeface="+mn-ea"/>
              </a:rPr>
              <a:t>对于将文法符号同属性相关联的上下文无关文法，也可以将</a:t>
            </a:r>
            <a:r>
              <a:rPr lang="zh-CN" altLang="en-US" sz="2400" b="1" dirty="0">
                <a:solidFill>
                  <a:srgbClr val="0070C0"/>
                </a:solidFill>
                <a:latin typeface="+mn-ea"/>
              </a:rPr>
              <a:t>语义动作</a:t>
            </a:r>
            <a:r>
              <a:rPr lang="en-US" altLang="zh-CN" sz="2400" b="1" dirty="0">
                <a:solidFill>
                  <a:srgbClr val="0070C0"/>
                </a:solidFill>
                <a:latin typeface="+mn-ea"/>
              </a:rPr>
              <a:t>(</a:t>
            </a:r>
            <a:r>
              <a:rPr lang="zh-CN" altLang="en-US" sz="2400" b="1" dirty="0">
                <a:solidFill>
                  <a:srgbClr val="030305"/>
                </a:solidFill>
                <a:latin typeface="+mn-ea"/>
              </a:rPr>
              <a:t>包含在</a:t>
            </a:r>
            <a:r>
              <a:rPr lang="zh-CN" altLang="en-US" sz="2400" b="1" dirty="0">
                <a:solidFill>
                  <a:srgbClr val="0070C0"/>
                </a:solidFill>
                <a:latin typeface="+mn-ea"/>
              </a:rPr>
              <a:t>{ }中</a:t>
            </a:r>
            <a:r>
              <a:rPr lang="en-US" altLang="zh-CN" sz="2400" b="1" dirty="0">
                <a:solidFill>
                  <a:srgbClr val="0070C0"/>
                </a:solidFill>
                <a:latin typeface="+mn-ea"/>
              </a:rPr>
              <a:t>)</a:t>
            </a:r>
            <a:r>
              <a:rPr lang="zh-CN" altLang="en-US" sz="2400" b="1" dirty="0">
                <a:solidFill>
                  <a:srgbClr val="0070C0"/>
                </a:solidFill>
                <a:latin typeface="+mn-ea"/>
              </a:rPr>
              <a:t>插入产生式右部的某个位置，</a:t>
            </a:r>
            <a:r>
              <a:rPr lang="zh-CN" altLang="en-US" sz="2400" b="1" dirty="0">
                <a:solidFill>
                  <a:srgbClr val="030305"/>
                </a:solidFill>
                <a:latin typeface="+mn-ea"/>
                <a:sym typeface="+mn-ea"/>
              </a:rPr>
              <a:t>使用函数</a:t>
            </a:r>
            <a:r>
              <a:rPr lang="en-US" altLang="zh-CN" sz="2400" b="1" dirty="0">
                <a:solidFill>
                  <a:srgbClr val="0070C0"/>
                </a:solidFill>
                <a:latin typeface="+mn-ea"/>
                <a:sym typeface="+mn-ea"/>
              </a:rPr>
              <a:t>emit()</a:t>
            </a:r>
            <a:r>
              <a:rPr lang="zh-CN" altLang="en-US" sz="2400" b="1" dirty="0">
                <a:solidFill>
                  <a:srgbClr val="0070C0"/>
                </a:solidFill>
                <a:latin typeface="+mn-ea"/>
                <a:sym typeface="+mn-ea"/>
              </a:rPr>
              <a:t> </a:t>
            </a:r>
            <a:r>
              <a:rPr lang="zh-CN" altLang="en-US" sz="2400" b="1" dirty="0">
                <a:solidFill>
                  <a:srgbClr val="030305"/>
                </a:solidFill>
                <a:latin typeface="+mn-ea"/>
                <a:sym typeface="+mn-ea"/>
              </a:rPr>
              <a:t>将三地址语句输出到文件中</a:t>
            </a:r>
            <a:r>
              <a:rPr lang="zh-CN" altLang="en-US" sz="2400" b="1" dirty="0">
                <a:solidFill>
                  <a:srgbClr val="0070C0"/>
                </a:solidFill>
                <a:latin typeface="+mn-ea"/>
              </a:rPr>
              <a:t>。</a:t>
            </a:r>
            <a:endParaRPr lang="zh-CN" altLang="en-US" sz="2400" b="1" dirty="0">
              <a:solidFill>
                <a:srgbClr val="0070C0"/>
              </a:solidFill>
              <a:latin typeface="+mn-ea"/>
            </a:endParaRPr>
          </a:p>
        </p:txBody>
      </p:sp>
      <p:sp>
        <p:nvSpPr>
          <p:cNvPr id="7" name="Rectangle 2"/>
          <p:cNvSpPr>
            <a:spLocks noChangeArrowheads="1"/>
          </p:cNvSpPr>
          <p:nvPr>
            <p:custDataLst>
              <p:tags r:id="rId1"/>
            </p:custDataLst>
          </p:nvPr>
        </p:nvSpPr>
        <p:spPr bwMode="auto">
          <a:xfrm>
            <a:off x="5062295" y="1427051"/>
            <a:ext cx="218780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30305"/>
                </a:solidFill>
                <a:latin typeface="+mn-ea"/>
              </a:rPr>
              <a:t>exp</a:t>
            </a:r>
            <a:r>
              <a:rPr lang="en-US" altLang="zh-CN" sz="2400" b="1" baseline="-25000">
                <a:solidFill>
                  <a:srgbClr val="030305"/>
                </a:solidFill>
                <a:latin typeface="+mn-ea"/>
              </a:rPr>
              <a:t>1</a:t>
            </a:r>
            <a:r>
              <a:rPr lang="en-US" altLang="zh-CN" sz="2400" b="1">
                <a:solidFill>
                  <a:srgbClr val="030305"/>
                </a:solidFill>
                <a:latin typeface="+mn-ea"/>
              </a:rPr>
              <a:t>→id=exp</a:t>
            </a:r>
            <a:r>
              <a:rPr lang="en-US" altLang="zh-CN" sz="2400" b="1" baseline="-25000">
                <a:solidFill>
                  <a:srgbClr val="030305"/>
                </a:solidFill>
                <a:latin typeface="+mn-ea"/>
              </a:rPr>
              <a:t>2</a:t>
            </a:r>
            <a:endParaRPr lang="zh-CN" altLang="en-US" sz="2400" b="1" baseline="-25000">
              <a:solidFill>
                <a:srgbClr val="030305"/>
              </a:solidFill>
              <a:latin typeface="+mn-ea"/>
            </a:endParaRPr>
          </a:p>
        </p:txBody>
      </p:sp>
      <p:sp>
        <p:nvSpPr>
          <p:cNvPr id="8" name="Rectangle 3"/>
          <p:cNvSpPr>
            <a:spLocks noChangeArrowheads="1"/>
          </p:cNvSpPr>
          <p:nvPr>
            <p:custDataLst>
              <p:tags r:id="rId2"/>
            </p:custDataLst>
          </p:nvPr>
        </p:nvSpPr>
        <p:spPr bwMode="auto">
          <a:xfrm>
            <a:off x="5062295" y="2522426"/>
            <a:ext cx="176239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30305"/>
                </a:solidFill>
                <a:latin typeface="+mn-ea"/>
              </a:rPr>
              <a:t>exp→aexp</a:t>
            </a:r>
            <a:endParaRPr lang="zh-CN" altLang="en-US" sz="2400" b="1">
              <a:solidFill>
                <a:srgbClr val="030305"/>
              </a:solidFill>
              <a:latin typeface="+mn-ea"/>
            </a:endParaRPr>
          </a:p>
        </p:txBody>
      </p:sp>
      <p:sp>
        <p:nvSpPr>
          <p:cNvPr id="9" name="Rectangle 4"/>
          <p:cNvSpPr>
            <a:spLocks noChangeArrowheads="1"/>
          </p:cNvSpPr>
          <p:nvPr>
            <p:custDataLst>
              <p:tags r:id="rId3"/>
            </p:custDataLst>
          </p:nvPr>
        </p:nvSpPr>
        <p:spPr bwMode="auto">
          <a:xfrm>
            <a:off x="5062220" y="3438525"/>
            <a:ext cx="32461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rgbClr val="030305"/>
                </a:solidFill>
                <a:latin typeface="+mn-ea"/>
              </a:rPr>
              <a:t>aexp</a:t>
            </a:r>
            <a:r>
              <a:rPr lang="en-US" altLang="zh-CN" sz="2400" b="1" baseline="-25000">
                <a:solidFill>
                  <a:srgbClr val="030305"/>
                </a:solidFill>
                <a:latin typeface="+mn-ea"/>
              </a:rPr>
              <a:t>1</a:t>
            </a:r>
            <a:r>
              <a:rPr lang="en-US" altLang="zh-CN" sz="2400" b="1">
                <a:solidFill>
                  <a:srgbClr val="030305"/>
                </a:solidFill>
                <a:latin typeface="+mn-ea"/>
              </a:rPr>
              <a:t>→aexp</a:t>
            </a:r>
            <a:r>
              <a:rPr lang="en-US" altLang="zh-CN" sz="2400" b="1" baseline="-25000">
                <a:solidFill>
                  <a:srgbClr val="030305"/>
                </a:solidFill>
                <a:latin typeface="+mn-ea"/>
              </a:rPr>
              <a:t>2</a:t>
            </a:r>
            <a:r>
              <a:rPr lang="en-US" altLang="zh-CN" sz="2400" b="1">
                <a:solidFill>
                  <a:srgbClr val="030305"/>
                </a:solidFill>
                <a:latin typeface="+mn-ea"/>
              </a:rPr>
              <a:t>+factor</a:t>
            </a:r>
            <a:endParaRPr lang="zh-CN" altLang="en-US" sz="2400" b="1">
              <a:solidFill>
                <a:srgbClr val="030305"/>
              </a:solidFill>
              <a:latin typeface="+mn-ea"/>
            </a:endParaRPr>
          </a:p>
        </p:txBody>
      </p:sp>
      <p:sp>
        <p:nvSpPr>
          <p:cNvPr id="10" name="Rectangle 5"/>
          <p:cNvSpPr>
            <a:spLocks noChangeArrowheads="1"/>
          </p:cNvSpPr>
          <p:nvPr>
            <p:custDataLst>
              <p:tags r:id="rId4"/>
            </p:custDataLst>
          </p:nvPr>
        </p:nvSpPr>
        <p:spPr bwMode="auto">
          <a:xfrm>
            <a:off x="6684645" y="1861820"/>
            <a:ext cx="508444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chemeClr val="accent1"/>
                </a:solidFill>
                <a:latin typeface="+mn-ea"/>
              </a:rPr>
              <a:t>{exp</a:t>
            </a:r>
            <a:r>
              <a:rPr lang="en-US" altLang="zh-CN" sz="2400" b="1" baseline="-25000">
                <a:solidFill>
                  <a:schemeClr val="accent1"/>
                </a:solidFill>
                <a:latin typeface="+mn-ea"/>
              </a:rPr>
              <a:t>1</a:t>
            </a:r>
            <a:r>
              <a:rPr lang="en-US" altLang="zh-CN" sz="2400" b="1">
                <a:solidFill>
                  <a:schemeClr val="accent1"/>
                </a:solidFill>
                <a:latin typeface="+mn-ea"/>
              </a:rPr>
              <a:t>.name= exp</a:t>
            </a:r>
            <a:r>
              <a:rPr lang="en-US" altLang="zh-CN" sz="2400" b="1" baseline="-25000">
                <a:solidFill>
                  <a:schemeClr val="accent1"/>
                </a:solidFill>
                <a:latin typeface="+mn-ea"/>
              </a:rPr>
              <a:t>2</a:t>
            </a:r>
            <a:r>
              <a:rPr lang="en-US" altLang="zh-CN" sz="2400" b="1">
                <a:solidFill>
                  <a:schemeClr val="accent1"/>
                </a:solidFill>
                <a:latin typeface="+mn-ea"/>
              </a:rPr>
              <a:t>.name</a:t>
            </a:r>
            <a:endParaRPr lang="en-US" altLang="zh-CN" sz="2400" b="1">
              <a:solidFill>
                <a:schemeClr val="accent1"/>
              </a:solidFill>
              <a:latin typeface="+mn-ea"/>
            </a:endParaRPr>
          </a:p>
          <a:p>
            <a:r>
              <a:rPr lang="en-US" altLang="zh-CN" sz="2400" b="1">
                <a:solidFill>
                  <a:schemeClr val="accent1"/>
                </a:solidFill>
                <a:latin typeface="+mn-ea"/>
              </a:rPr>
              <a:t> emit(id.strval ‘=’exp</a:t>
            </a:r>
            <a:r>
              <a:rPr lang="en-US" altLang="zh-CN" sz="2400" b="1" baseline="-25000">
                <a:solidFill>
                  <a:schemeClr val="accent1"/>
                </a:solidFill>
                <a:latin typeface="+mn-ea"/>
              </a:rPr>
              <a:t>2</a:t>
            </a:r>
            <a:r>
              <a:rPr lang="en-US" altLang="zh-CN" sz="2400" b="1">
                <a:solidFill>
                  <a:schemeClr val="accent1"/>
                </a:solidFill>
                <a:latin typeface="+mn-ea"/>
              </a:rPr>
              <a:t>.name)}</a:t>
            </a:r>
            <a:endParaRPr lang="en-US" altLang="zh-CN" sz="2400" b="1">
              <a:solidFill>
                <a:schemeClr val="accent1"/>
              </a:solidFill>
              <a:latin typeface="+mn-ea"/>
            </a:endParaRPr>
          </a:p>
        </p:txBody>
      </p:sp>
      <p:sp>
        <p:nvSpPr>
          <p:cNvPr id="11" name="Rectangle 6"/>
          <p:cNvSpPr>
            <a:spLocks noChangeArrowheads="1"/>
          </p:cNvSpPr>
          <p:nvPr>
            <p:custDataLst>
              <p:tags r:id="rId5"/>
            </p:custDataLst>
          </p:nvPr>
        </p:nvSpPr>
        <p:spPr bwMode="auto">
          <a:xfrm>
            <a:off x="6684645" y="2982595"/>
            <a:ext cx="417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chemeClr val="accent1"/>
                </a:solidFill>
                <a:latin typeface="+mn-ea"/>
              </a:rPr>
              <a:t>{exp.name= aexp.name}</a:t>
            </a:r>
            <a:endParaRPr lang="en-US" altLang="zh-CN" sz="2400" b="1">
              <a:solidFill>
                <a:schemeClr val="accent1"/>
              </a:solidFill>
              <a:latin typeface="+mn-ea"/>
            </a:endParaRPr>
          </a:p>
        </p:txBody>
      </p:sp>
      <p:sp>
        <p:nvSpPr>
          <p:cNvPr id="12" name="Rectangle 7"/>
          <p:cNvSpPr>
            <a:spLocks noChangeArrowheads="1"/>
          </p:cNvSpPr>
          <p:nvPr>
            <p:custDataLst>
              <p:tags r:id="rId6"/>
            </p:custDataLst>
          </p:nvPr>
        </p:nvSpPr>
        <p:spPr bwMode="auto">
          <a:xfrm>
            <a:off x="6684645" y="3996690"/>
            <a:ext cx="514921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400" b="1">
                <a:solidFill>
                  <a:schemeClr val="accent1"/>
                </a:solidFill>
                <a:latin typeface="+mn-ea"/>
              </a:rPr>
              <a:t>{ aexp</a:t>
            </a:r>
            <a:r>
              <a:rPr lang="en-US" altLang="zh-CN" sz="2400" b="1" baseline="-25000">
                <a:solidFill>
                  <a:schemeClr val="accent1"/>
                </a:solidFill>
                <a:latin typeface="+mn-ea"/>
              </a:rPr>
              <a:t>1</a:t>
            </a:r>
            <a:r>
              <a:rPr lang="en-US" altLang="zh-CN" sz="2400" b="1">
                <a:solidFill>
                  <a:schemeClr val="accent1"/>
                </a:solidFill>
                <a:latin typeface="+mn-ea"/>
              </a:rPr>
              <a:t>.name=newtemp()</a:t>
            </a:r>
            <a:endParaRPr lang="en-US" altLang="zh-CN" sz="2400" b="1">
              <a:solidFill>
                <a:schemeClr val="accent1"/>
              </a:solidFill>
              <a:latin typeface="+mn-ea"/>
            </a:endParaRPr>
          </a:p>
          <a:p>
            <a:r>
              <a:rPr lang="en-US" altLang="zh-CN" sz="2400" b="1">
                <a:solidFill>
                  <a:schemeClr val="accent1"/>
                </a:solidFill>
                <a:latin typeface="+mn-ea"/>
              </a:rPr>
              <a:t>   emit(aexp</a:t>
            </a:r>
            <a:r>
              <a:rPr lang="en-US" altLang="zh-CN" sz="2400" b="1" baseline="-25000">
                <a:solidFill>
                  <a:schemeClr val="accent1"/>
                </a:solidFill>
                <a:latin typeface="+mn-ea"/>
              </a:rPr>
              <a:t>1</a:t>
            </a:r>
            <a:r>
              <a:rPr lang="en-US" altLang="zh-CN" sz="2400" b="1">
                <a:solidFill>
                  <a:schemeClr val="accent1"/>
                </a:solidFill>
                <a:latin typeface="+mn-ea"/>
              </a:rPr>
              <a:t>.name’=’</a:t>
            </a:r>
            <a:endParaRPr lang="en-US" altLang="zh-CN" sz="2400" b="1">
              <a:solidFill>
                <a:schemeClr val="accent1"/>
              </a:solidFill>
              <a:latin typeface="+mn-ea"/>
            </a:endParaRPr>
          </a:p>
          <a:p>
            <a:r>
              <a:rPr lang="en-US" altLang="zh-CN" sz="2400" b="1">
                <a:solidFill>
                  <a:schemeClr val="accent1"/>
                </a:solidFill>
                <a:latin typeface="+mn-ea"/>
              </a:rPr>
              <a:t>   aexp</a:t>
            </a:r>
            <a:r>
              <a:rPr lang="en-US" altLang="zh-CN" sz="2400" b="1" baseline="-25000">
                <a:solidFill>
                  <a:schemeClr val="accent1"/>
                </a:solidFill>
                <a:latin typeface="+mn-ea"/>
              </a:rPr>
              <a:t>2 </a:t>
            </a:r>
            <a:r>
              <a:rPr lang="en-US" altLang="zh-CN" sz="2400" b="1">
                <a:solidFill>
                  <a:schemeClr val="accent1"/>
                </a:solidFill>
                <a:latin typeface="+mn-ea"/>
              </a:rPr>
              <a:t>.name ’+’factor.name )</a:t>
            </a:r>
            <a:endParaRPr lang="en-US" altLang="zh-CN" sz="2400" b="1">
              <a:solidFill>
                <a:schemeClr val="accent1"/>
              </a:solidFill>
              <a:latin typeface="+mn-ea"/>
            </a:endParaRPr>
          </a:p>
          <a:p>
            <a:r>
              <a:rPr lang="en-US" altLang="zh-CN" sz="2400" b="1">
                <a:solidFill>
                  <a:schemeClr val="accent1"/>
                </a:solidFill>
                <a:latin typeface="+mn-ea"/>
              </a:rPr>
              <a:t>}</a:t>
            </a:r>
            <a:endParaRPr lang="en-US" altLang="zh-CN" sz="2400" b="1">
              <a:solidFill>
                <a:schemeClr val="accent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71525" y="2063115"/>
            <a:ext cx="10320020" cy="41084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14"/>
          <p:cNvSpPr>
            <a:spLocks noGrp="1"/>
          </p:cNvSpPr>
          <p:nvPr>
            <p:ph type="body" sz="quarter" idx="14"/>
          </p:nvPr>
        </p:nvSpPr>
        <p:spPr>
          <a:xfrm>
            <a:off x="344170" y="278130"/>
            <a:ext cx="7652385" cy="564515"/>
          </a:xfrm>
        </p:spPr>
        <p:txBody>
          <a:bodyPr/>
          <a:lstStyle/>
          <a:p>
            <a:r>
              <a:rPr lang="en-US" altLang="zh-CN" sz="3200" dirty="0"/>
              <a:t>6.2.2 </a:t>
            </a:r>
            <a:r>
              <a:rPr lang="zh-CN" altLang="en-US" sz="3200" dirty="0"/>
              <a:t>实际的代码生成方法</a:t>
            </a:r>
            <a:endParaRPr lang="zh-CN" altLang="en-US" sz="3200" dirty="0"/>
          </a:p>
        </p:txBody>
      </p:sp>
      <p:sp>
        <p:nvSpPr>
          <p:cNvPr id="4" name="Rectangle 3"/>
          <p:cNvSpPr>
            <a:spLocks noChangeArrowheads="1"/>
          </p:cNvSpPr>
          <p:nvPr/>
        </p:nvSpPr>
        <p:spPr bwMode="auto">
          <a:xfrm>
            <a:off x="568325" y="1128395"/>
            <a:ext cx="11158220" cy="408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400" b="1" dirty="0">
                <a:solidFill>
                  <a:srgbClr val="030305"/>
                </a:solidFill>
                <a:latin typeface="+mn-ea"/>
                <a:ea typeface="+mn-ea"/>
              </a:rPr>
              <a:t>实际代码生成的基本算法由下面的递归过程描述(用于二叉树，但容易将其推广到节点子树多于2的情况)：</a:t>
            </a:r>
            <a:endParaRPr lang="zh-CN" altLang="en-US" sz="2400" b="1" dirty="0">
              <a:solidFill>
                <a:srgbClr val="030305"/>
              </a:solidFill>
              <a:latin typeface="+mn-ea"/>
              <a:ea typeface="+mn-ea"/>
            </a:endParaRPr>
          </a:p>
          <a:p>
            <a:pPr lvl="1">
              <a:lnSpc>
                <a:spcPct val="120000"/>
              </a:lnSpc>
            </a:pPr>
            <a:r>
              <a:rPr lang="en-US" altLang="zh-CN" sz="2400" b="1" dirty="0">
                <a:solidFill>
                  <a:srgbClr val="030305"/>
                </a:solidFill>
                <a:ea typeface="+mn-ea"/>
                <a:cs typeface="Times New Roman" panose="02020603050405020304" pitchFamily="18" charset="0"/>
              </a:rPr>
              <a:t>void </a:t>
            </a:r>
            <a:r>
              <a:rPr lang="en-US" altLang="zh-CN" sz="2400" b="1" dirty="0" err="1">
                <a:solidFill>
                  <a:srgbClr val="E9137E"/>
                </a:solidFill>
                <a:ea typeface="+mn-ea"/>
                <a:cs typeface="Times New Roman" panose="02020603050405020304" pitchFamily="18" charset="0"/>
              </a:rPr>
              <a:t>genCode</a:t>
            </a:r>
            <a:r>
              <a:rPr lang="en-US" altLang="zh-CN" sz="2400" b="1" dirty="0">
                <a:solidFill>
                  <a:srgbClr val="030305"/>
                </a:solidFill>
                <a:ea typeface="+mn-ea"/>
                <a:cs typeface="Times New Roman" panose="02020603050405020304" pitchFamily="18" charset="0"/>
              </a:rPr>
              <a:t> ( T: </a:t>
            </a:r>
            <a:r>
              <a:rPr lang="en-US" altLang="zh-CN" sz="2400" b="1" dirty="0" err="1">
                <a:solidFill>
                  <a:srgbClr val="030305"/>
                </a:solidFill>
                <a:ea typeface="+mn-ea"/>
                <a:cs typeface="Times New Roman" panose="02020603050405020304" pitchFamily="18" charset="0"/>
              </a:rPr>
              <a:t>treenode</a:t>
            </a:r>
            <a:r>
              <a:rPr lang="en-US" altLang="zh-CN" sz="2400" b="1" dirty="0">
                <a:solidFill>
                  <a:srgbClr val="030305"/>
                </a:solidFill>
                <a:ea typeface="+mn-ea"/>
                <a:cs typeface="Times New Roman" panose="02020603050405020304" pitchFamily="18" charset="0"/>
              </a:rPr>
              <a:t> ) ;</a:t>
            </a:r>
            <a:endParaRPr lang="en-US" altLang="zh-CN" sz="2400" b="1" dirty="0">
              <a:solidFill>
                <a:srgbClr val="030305"/>
              </a:solidFill>
              <a:ea typeface="+mn-ea"/>
              <a:cs typeface="Times New Roman" panose="02020603050405020304" pitchFamily="18" charset="0"/>
            </a:endParaRPr>
          </a:p>
          <a:p>
            <a:pPr lvl="1">
              <a:lnSpc>
                <a:spcPct val="120000"/>
              </a:lnSpc>
            </a:pPr>
            <a:r>
              <a:rPr lang="en-US" altLang="zh-CN" sz="2400" b="1" dirty="0">
                <a:solidFill>
                  <a:srgbClr val="030305"/>
                </a:solidFill>
                <a:ea typeface="+mn-ea"/>
                <a:cs typeface="Times New Roman" panose="02020603050405020304" pitchFamily="18" charset="0"/>
              </a:rPr>
              <a:t>{ if T is not nil</a:t>
            </a:r>
            <a:r>
              <a:rPr lang="zh-CN" altLang="en-US" sz="2400" b="1" dirty="0">
                <a:solidFill>
                  <a:srgbClr val="030305"/>
                </a:solidFill>
                <a:ea typeface="+mn-ea"/>
                <a:cs typeface="Times New Roman" panose="02020603050405020304" pitchFamily="18" charset="0"/>
              </a:rPr>
              <a:t>：</a:t>
            </a:r>
            <a:endParaRPr lang="en-US" altLang="zh-CN" sz="2400" b="1" dirty="0">
              <a:solidFill>
                <a:srgbClr val="030305"/>
              </a:solidFill>
              <a:ea typeface="+mn-ea"/>
              <a:cs typeface="Times New Roman" panose="02020603050405020304" pitchFamily="18" charset="0"/>
            </a:endParaRPr>
          </a:p>
          <a:p>
            <a:pPr lvl="1">
              <a:lnSpc>
                <a:spcPct val="120000"/>
              </a:lnSpc>
            </a:pPr>
            <a:r>
              <a:rPr lang="en-US" altLang="zh-CN" sz="2400" b="1" dirty="0">
                <a:solidFill>
                  <a:srgbClr val="030305"/>
                </a:solidFill>
                <a:ea typeface="+mn-ea"/>
                <a:cs typeface="Times New Roman" panose="02020603050405020304" pitchFamily="18" charset="0"/>
              </a:rPr>
              <a:t>	//generate code to prepare for code of left child of T;</a:t>
            </a:r>
            <a:endParaRPr lang="en-US" altLang="zh-CN" sz="2400" b="1" dirty="0">
              <a:solidFill>
                <a:srgbClr val="030305"/>
              </a:solidFill>
              <a:ea typeface="+mn-ea"/>
              <a:cs typeface="Times New Roman" panose="02020603050405020304" pitchFamily="18" charset="0"/>
            </a:endParaRPr>
          </a:p>
          <a:p>
            <a:pPr lvl="1">
              <a:lnSpc>
                <a:spcPct val="120000"/>
              </a:lnSpc>
            </a:pPr>
            <a:r>
              <a:rPr lang="en-US" altLang="zh-CN" sz="2400" b="1" dirty="0">
                <a:solidFill>
                  <a:srgbClr val="E9137E"/>
                </a:solidFill>
                <a:ea typeface="+mn-ea"/>
                <a:cs typeface="Times New Roman" panose="02020603050405020304" pitchFamily="18" charset="0"/>
              </a:rPr>
              <a:t>	</a:t>
            </a:r>
            <a:r>
              <a:rPr lang="en-US" altLang="zh-CN" sz="2400" b="1" dirty="0" err="1">
                <a:solidFill>
                  <a:srgbClr val="E9137E"/>
                </a:solidFill>
                <a:ea typeface="+mn-ea"/>
                <a:cs typeface="Times New Roman" panose="02020603050405020304" pitchFamily="18" charset="0"/>
              </a:rPr>
              <a:t>genCode</a:t>
            </a:r>
            <a:r>
              <a:rPr lang="en-US" altLang="zh-CN" sz="2400" b="1" dirty="0">
                <a:solidFill>
                  <a:srgbClr val="030305"/>
                </a:solidFill>
                <a:ea typeface="+mn-ea"/>
                <a:cs typeface="Times New Roman" panose="02020603050405020304" pitchFamily="18" charset="0"/>
              </a:rPr>
              <a:t> (left child of T ) ;</a:t>
            </a:r>
            <a:endParaRPr lang="en-US" altLang="zh-CN" sz="2400" b="1" dirty="0">
              <a:solidFill>
                <a:srgbClr val="030305"/>
              </a:solidFill>
              <a:ea typeface="+mn-ea"/>
              <a:cs typeface="Times New Roman" panose="02020603050405020304" pitchFamily="18" charset="0"/>
            </a:endParaRPr>
          </a:p>
          <a:p>
            <a:pPr lvl="1">
              <a:lnSpc>
                <a:spcPct val="120000"/>
              </a:lnSpc>
            </a:pPr>
            <a:r>
              <a:rPr lang="en-US" altLang="zh-CN" sz="2400" b="1" dirty="0">
                <a:solidFill>
                  <a:srgbClr val="030305"/>
                </a:solidFill>
                <a:ea typeface="+mn-ea"/>
                <a:cs typeface="Times New Roman" panose="02020603050405020304" pitchFamily="18" charset="0"/>
              </a:rPr>
              <a:t>	//generate code to prepare for code of right child of T;</a:t>
            </a:r>
            <a:endParaRPr lang="en-US" altLang="zh-CN" sz="2400" b="1" dirty="0">
              <a:solidFill>
                <a:srgbClr val="030305"/>
              </a:solidFill>
              <a:ea typeface="+mn-ea"/>
              <a:cs typeface="Times New Roman" panose="02020603050405020304" pitchFamily="18" charset="0"/>
            </a:endParaRPr>
          </a:p>
          <a:p>
            <a:pPr lvl="1">
              <a:lnSpc>
                <a:spcPct val="120000"/>
              </a:lnSpc>
            </a:pPr>
            <a:r>
              <a:rPr lang="en-US" altLang="zh-CN" sz="2400" b="1" dirty="0">
                <a:solidFill>
                  <a:srgbClr val="E9137E"/>
                </a:solidFill>
                <a:ea typeface="+mn-ea"/>
                <a:cs typeface="Times New Roman" panose="02020603050405020304" pitchFamily="18" charset="0"/>
              </a:rPr>
              <a:t>	</a:t>
            </a:r>
            <a:r>
              <a:rPr lang="en-US" altLang="zh-CN" sz="2400" b="1" dirty="0" err="1">
                <a:solidFill>
                  <a:srgbClr val="E9137E"/>
                </a:solidFill>
                <a:ea typeface="+mn-ea"/>
                <a:cs typeface="Times New Roman" panose="02020603050405020304" pitchFamily="18" charset="0"/>
              </a:rPr>
              <a:t>genCode</a:t>
            </a:r>
            <a:r>
              <a:rPr lang="en-US" altLang="zh-CN" sz="2400" b="1" dirty="0">
                <a:solidFill>
                  <a:srgbClr val="030305"/>
                </a:solidFill>
                <a:ea typeface="+mn-ea"/>
                <a:cs typeface="Times New Roman" panose="02020603050405020304" pitchFamily="18" charset="0"/>
              </a:rPr>
              <a:t> (right child of T ) ;</a:t>
            </a:r>
            <a:endParaRPr lang="en-US" altLang="zh-CN" sz="2400" b="1" dirty="0">
              <a:solidFill>
                <a:srgbClr val="030305"/>
              </a:solidFill>
              <a:ea typeface="+mn-ea"/>
              <a:cs typeface="Times New Roman" panose="02020603050405020304" pitchFamily="18" charset="0"/>
            </a:endParaRPr>
          </a:p>
          <a:p>
            <a:pPr lvl="1">
              <a:lnSpc>
                <a:spcPct val="120000"/>
              </a:lnSpc>
            </a:pPr>
            <a:r>
              <a:rPr lang="en-US" altLang="zh-CN" sz="2400" b="1" dirty="0">
                <a:solidFill>
                  <a:srgbClr val="030305"/>
                </a:solidFill>
                <a:ea typeface="+mn-ea"/>
                <a:cs typeface="Times New Roman" panose="02020603050405020304" pitchFamily="18" charset="0"/>
              </a:rPr>
              <a:t>	</a:t>
            </a:r>
            <a:r>
              <a:rPr lang="en-US" altLang="zh-CN" sz="2400" b="1" dirty="0" err="1">
                <a:solidFill>
                  <a:srgbClr val="E9137E"/>
                </a:solidFill>
                <a:ea typeface="+mn-ea"/>
                <a:cs typeface="Times New Roman" panose="02020603050405020304" pitchFamily="18" charset="0"/>
              </a:rPr>
              <a:t>generate code to implement T's action;</a:t>
            </a:r>
            <a:endParaRPr lang="en-US" altLang="zh-CN" sz="2400" b="1" dirty="0" err="1">
              <a:solidFill>
                <a:srgbClr val="E9137E"/>
              </a:solidFill>
              <a:ea typeface="+mn-ea"/>
              <a:cs typeface="Times New Roman" panose="02020603050405020304" pitchFamily="18" charset="0"/>
            </a:endParaRPr>
          </a:p>
          <a:p>
            <a:pPr lvl="1">
              <a:lnSpc>
                <a:spcPct val="120000"/>
              </a:lnSpc>
            </a:pPr>
            <a:r>
              <a:rPr lang="en-US" altLang="zh-CN" sz="2400" b="1" dirty="0">
                <a:solidFill>
                  <a:srgbClr val="030305"/>
                </a:solidFill>
                <a:ea typeface="+mn-ea"/>
                <a:cs typeface="Times New Roman" panose="02020603050405020304" pitchFamily="18" charset="0"/>
              </a:rPr>
              <a:t>}</a:t>
            </a:r>
            <a:endParaRPr lang="en-US" altLang="zh-CN" sz="2400" b="1" dirty="0">
              <a:solidFill>
                <a:srgbClr val="030305"/>
              </a:solidFill>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barn(inHorizontal)">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barn(inHorizontal)">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barn(inHorizontal)">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arn(inHorizontal)">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Horizontal)">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barn(inHorizontal)">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barn(inHorizontal)">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581660" y="278130"/>
            <a:ext cx="7414895" cy="564515"/>
          </a:xfrm>
        </p:spPr>
        <p:txBody>
          <a:bodyPr/>
          <a:lstStyle/>
          <a:p>
            <a:r>
              <a:rPr lang="en-US" altLang="zh-CN" sz="3200" dirty="0"/>
              <a:t>6.2.2 </a:t>
            </a:r>
            <a:r>
              <a:rPr lang="zh-CN" altLang="en-US" sz="3200" dirty="0"/>
              <a:t>实际的代码生成方法</a:t>
            </a:r>
            <a:endParaRPr lang="zh-CN" altLang="en-US" sz="3200" dirty="0"/>
          </a:p>
        </p:txBody>
      </p:sp>
      <p:sp>
        <p:nvSpPr>
          <p:cNvPr id="6" name="Rectangle 2"/>
          <p:cNvSpPr>
            <a:spLocks noChangeArrowheads="1"/>
          </p:cNvSpPr>
          <p:nvPr/>
        </p:nvSpPr>
        <p:spPr bwMode="auto">
          <a:xfrm>
            <a:off x="433070" y="1216025"/>
            <a:ext cx="11467465"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fontAlgn="auto">
              <a:lnSpc>
                <a:spcPct val="125000"/>
              </a:lnSpc>
              <a:spcBef>
                <a:spcPts val="0"/>
              </a:spcBef>
            </a:pPr>
            <a:r>
              <a:rPr lang="zh-CN" altLang="en-US" sz="2400" b="1" dirty="0">
                <a:solidFill>
                  <a:srgbClr val="030305"/>
                </a:solidFill>
                <a:latin typeface="+mn-ea"/>
              </a:rPr>
              <a:t>生成表达式文法的三地址</a:t>
            </a:r>
            <a:r>
              <a:rPr lang="zh-CN" altLang="en-US" sz="2400" b="1" dirty="0">
                <a:solidFill>
                  <a:srgbClr val="030305"/>
                </a:solidFill>
                <a:latin typeface="+mn-ea"/>
              </a:rPr>
              <a:t>码</a:t>
            </a:r>
            <a:endParaRPr lang="zh-CN" altLang="en-US" sz="2400" b="1" dirty="0">
              <a:solidFill>
                <a:srgbClr val="030305"/>
              </a:solidFill>
              <a:latin typeface="+mn-ea"/>
            </a:endParaRPr>
          </a:p>
          <a:p>
            <a:pPr indent="0" fontAlgn="auto">
              <a:lnSpc>
                <a:spcPct val="125000"/>
              </a:lnSpc>
              <a:spcBef>
                <a:spcPts val="0"/>
              </a:spcBef>
            </a:pPr>
            <a:r>
              <a:rPr lang="en-US" altLang="zh-CN" sz="2400" i="1" dirty="0" err="1">
                <a:solidFill>
                  <a:srgbClr val="030305"/>
                </a:solidFill>
                <a:latin typeface="+mn-ea"/>
              </a:rPr>
              <a:t>exp→</a:t>
            </a:r>
            <a:r>
              <a:rPr lang="en-US" altLang="zh-CN" sz="2400" b="1" dirty="0" err="1">
                <a:solidFill>
                  <a:srgbClr val="030305"/>
                </a:solidFill>
                <a:latin typeface="+mn-ea"/>
              </a:rPr>
              <a:t>id</a:t>
            </a:r>
            <a:r>
              <a:rPr lang="en-US" altLang="zh-CN" sz="2400" b="1" dirty="0">
                <a:solidFill>
                  <a:srgbClr val="030305"/>
                </a:solidFill>
                <a:latin typeface="+mn-ea"/>
              </a:rPr>
              <a:t>=</a:t>
            </a:r>
            <a:r>
              <a:rPr lang="en-US" altLang="zh-CN" sz="2400" i="1" dirty="0" err="1">
                <a:solidFill>
                  <a:srgbClr val="030305"/>
                </a:solidFill>
                <a:latin typeface="+mn-ea"/>
              </a:rPr>
              <a:t>exp|aexp</a:t>
            </a:r>
            <a:endParaRPr lang="en-US" altLang="zh-CN" sz="2400" i="1" dirty="0">
              <a:solidFill>
                <a:srgbClr val="030305"/>
              </a:solidFill>
              <a:latin typeface="+mn-ea"/>
            </a:endParaRPr>
          </a:p>
          <a:p>
            <a:pPr indent="0" fontAlgn="auto">
              <a:lnSpc>
                <a:spcPct val="125000"/>
              </a:lnSpc>
              <a:spcBef>
                <a:spcPts val="0"/>
              </a:spcBef>
            </a:pPr>
            <a:r>
              <a:rPr lang="en-US" altLang="zh-CN" sz="2400" i="1" dirty="0" err="1">
                <a:solidFill>
                  <a:srgbClr val="030305"/>
                </a:solidFill>
                <a:latin typeface="+mn-ea"/>
              </a:rPr>
              <a:t>aexp→aexp</a:t>
            </a:r>
            <a:r>
              <a:rPr lang="en-US" altLang="zh-CN" sz="2400" b="1" dirty="0" err="1">
                <a:solidFill>
                  <a:srgbClr val="030305"/>
                </a:solidFill>
                <a:latin typeface="+mn-ea"/>
              </a:rPr>
              <a:t>+</a:t>
            </a:r>
            <a:r>
              <a:rPr lang="en-US" altLang="zh-CN" sz="2400" i="1" dirty="0" err="1">
                <a:solidFill>
                  <a:srgbClr val="030305"/>
                </a:solidFill>
                <a:latin typeface="+mn-ea"/>
              </a:rPr>
              <a:t>factor|factor</a:t>
            </a:r>
            <a:endParaRPr lang="en-US" altLang="zh-CN" sz="2400" i="1" dirty="0">
              <a:solidFill>
                <a:srgbClr val="030305"/>
              </a:solidFill>
              <a:latin typeface="+mn-ea"/>
            </a:endParaRPr>
          </a:p>
          <a:p>
            <a:pPr indent="0" fontAlgn="auto">
              <a:lnSpc>
                <a:spcPct val="125000"/>
              </a:lnSpc>
              <a:spcBef>
                <a:spcPts val="0"/>
              </a:spcBef>
            </a:pPr>
            <a:r>
              <a:rPr lang="en-US" altLang="zh-CN" sz="2400" i="1" dirty="0">
                <a:solidFill>
                  <a:srgbClr val="030305"/>
                </a:solidFill>
                <a:latin typeface="+mn-ea"/>
              </a:rPr>
              <a:t>factor→</a:t>
            </a:r>
            <a:r>
              <a:rPr lang="en-US" altLang="zh-CN" sz="2400" b="1" dirty="0">
                <a:solidFill>
                  <a:srgbClr val="030305"/>
                </a:solidFill>
                <a:latin typeface="+mn-ea"/>
              </a:rPr>
              <a:t>(</a:t>
            </a:r>
            <a:r>
              <a:rPr lang="en-US" altLang="zh-CN" sz="2400" i="1" dirty="0">
                <a:solidFill>
                  <a:srgbClr val="030305"/>
                </a:solidFill>
                <a:latin typeface="+mn-ea"/>
              </a:rPr>
              <a:t>exp</a:t>
            </a:r>
            <a:r>
              <a:rPr lang="en-US" altLang="zh-CN" sz="2400" b="1" dirty="0">
                <a:solidFill>
                  <a:srgbClr val="030305"/>
                </a:solidFill>
                <a:latin typeface="+mn-ea"/>
              </a:rPr>
              <a:t>)</a:t>
            </a:r>
            <a:r>
              <a:rPr lang="en-US" altLang="zh-CN" sz="2400" i="1" dirty="0">
                <a:solidFill>
                  <a:srgbClr val="030305"/>
                </a:solidFill>
                <a:latin typeface="+mn-ea"/>
              </a:rPr>
              <a:t>|</a:t>
            </a:r>
            <a:r>
              <a:rPr lang="en-US" altLang="zh-CN" sz="2400" b="1" dirty="0" err="1">
                <a:solidFill>
                  <a:srgbClr val="030305"/>
                </a:solidFill>
                <a:latin typeface="+mn-ea"/>
              </a:rPr>
              <a:t>num</a:t>
            </a:r>
            <a:r>
              <a:rPr lang="en-US" altLang="zh-CN" sz="2400" i="1" dirty="0" err="1">
                <a:solidFill>
                  <a:srgbClr val="030305"/>
                </a:solidFill>
                <a:latin typeface="+mn-ea"/>
              </a:rPr>
              <a:t>|</a:t>
            </a:r>
            <a:r>
              <a:rPr lang="en-US" altLang="zh-CN" sz="2400" b="1" dirty="0" err="1">
                <a:solidFill>
                  <a:srgbClr val="030305"/>
                </a:solidFill>
                <a:latin typeface="+mn-ea"/>
              </a:rPr>
              <a:t>id</a:t>
            </a:r>
            <a:endParaRPr lang="zh-CN" altLang="en-US" sz="2400" b="1" dirty="0">
              <a:solidFill>
                <a:srgbClr val="030305"/>
              </a:solidFill>
              <a:latin typeface="+mn-ea"/>
            </a:endParaRPr>
          </a:p>
        </p:txBody>
      </p:sp>
      <p:grpSp>
        <p:nvGrpSpPr>
          <p:cNvPr id="2" name="组合 1"/>
          <p:cNvGrpSpPr/>
          <p:nvPr/>
        </p:nvGrpSpPr>
        <p:grpSpPr>
          <a:xfrm>
            <a:off x="558278" y="3447416"/>
            <a:ext cx="2278528" cy="2365375"/>
            <a:chOff x="1397000" y="1652588"/>
            <a:chExt cx="2278528" cy="2365375"/>
          </a:xfrm>
        </p:grpSpPr>
        <p:sp useBgFill="1">
          <p:nvSpPr>
            <p:cNvPr id="5" name="Rectangle 3"/>
            <p:cNvSpPr>
              <a:spLocks noChangeArrowheads="1"/>
            </p:cNvSpPr>
            <p:nvPr>
              <p:custDataLst>
                <p:tags r:id="rId1"/>
              </p:custDataLst>
            </p:nvPr>
          </p:nvSpPr>
          <p:spPr bwMode="auto">
            <a:xfrm>
              <a:off x="2387600" y="1652588"/>
              <a:ext cx="3048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sp useBgFill="1">
          <p:nvSpPr>
            <p:cNvPr id="7" name="Rectangle 4"/>
            <p:cNvSpPr>
              <a:spLocks noChangeArrowheads="1"/>
            </p:cNvSpPr>
            <p:nvPr>
              <p:custDataLst>
                <p:tags r:id="rId2"/>
              </p:custDataLst>
            </p:nvPr>
          </p:nvSpPr>
          <p:spPr bwMode="auto">
            <a:xfrm>
              <a:off x="1701800" y="2033588"/>
              <a:ext cx="6096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mn-ea"/>
                </a:rPr>
                <a:t>x=</a:t>
              </a:r>
              <a:endParaRPr lang="en-US" altLang="zh-CN" sz="2400" b="1">
                <a:solidFill>
                  <a:srgbClr val="070709"/>
                </a:solidFill>
                <a:latin typeface="+mn-ea"/>
              </a:endParaRPr>
            </a:p>
          </p:txBody>
        </p:sp>
        <p:sp useBgFill="1">
          <p:nvSpPr>
            <p:cNvPr id="8" name="Rectangle 5"/>
            <p:cNvSpPr>
              <a:spLocks noChangeArrowheads="1"/>
            </p:cNvSpPr>
            <p:nvPr>
              <p:custDataLst>
                <p:tags r:id="rId3"/>
              </p:custDataLst>
            </p:nvPr>
          </p:nvSpPr>
          <p:spPr bwMode="auto">
            <a:xfrm>
              <a:off x="3073399" y="1974103"/>
              <a:ext cx="602129"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p>
              <a:pPr algn="ctr">
                <a:spcBef>
                  <a:spcPct val="50000"/>
                </a:spcBef>
              </a:pPr>
              <a:r>
                <a:rPr lang="en-US" altLang="zh-CN" sz="2400" b="1" dirty="0">
                  <a:solidFill>
                    <a:srgbClr val="070709"/>
                  </a:solidFill>
                  <a:latin typeface="+mn-ea"/>
                </a:rPr>
                <a:t>4</a:t>
              </a:r>
              <a:endParaRPr lang="en-US" altLang="zh-CN" sz="2400" b="1" dirty="0">
                <a:solidFill>
                  <a:srgbClr val="070709"/>
                </a:solidFill>
                <a:latin typeface="+mn-ea"/>
              </a:endParaRPr>
            </a:p>
          </p:txBody>
        </p:sp>
        <p:sp>
          <p:nvSpPr>
            <p:cNvPr id="9" name="Line 6"/>
            <p:cNvSpPr>
              <a:spLocks noChangeShapeType="1"/>
            </p:cNvSpPr>
            <p:nvPr>
              <p:custDataLst>
                <p:tags r:id="rId4"/>
              </p:custDataLst>
            </p:nvPr>
          </p:nvSpPr>
          <p:spPr bwMode="auto">
            <a:xfrm flipH="1">
              <a:off x="2082800" y="1954213"/>
              <a:ext cx="381000" cy="2286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0" name="Line 7"/>
            <p:cNvSpPr>
              <a:spLocks noChangeShapeType="1"/>
            </p:cNvSpPr>
            <p:nvPr>
              <p:custDataLst>
                <p:tags r:id="rId5"/>
              </p:custDataLst>
            </p:nvPr>
          </p:nvSpPr>
          <p:spPr bwMode="auto">
            <a:xfrm>
              <a:off x="2692400" y="1916113"/>
              <a:ext cx="533400" cy="1524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1" name="Line 8"/>
            <p:cNvSpPr>
              <a:spLocks noChangeShapeType="1"/>
            </p:cNvSpPr>
            <p:nvPr>
              <p:custDataLst>
                <p:tags r:id="rId6"/>
              </p:custDataLst>
            </p:nvPr>
          </p:nvSpPr>
          <p:spPr bwMode="auto">
            <a:xfrm flipH="1">
              <a:off x="1701800" y="3249613"/>
              <a:ext cx="2286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2" name="Line 9"/>
            <p:cNvSpPr>
              <a:spLocks noChangeShapeType="1"/>
            </p:cNvSpPr>
            <p:nvPr>
              <p:custDataLst>
                <p:tags r:id="rId7"/>
              </p:custDataLst>
            </p:nvPr>
          </p:nvSpPr>
          <p:spPr bwMode="auto">
            <a:xfrm>
              <a:off x="2159000" y="3249613"/>
              <a:ext cx="1524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useBgFill="1">
          <p:nvSpPr>
            <p:cNvPr id="13" name="Rectangle 10"/>
            <p:cNvSpPr>
              <a:spLocks noChangeArrowheads="1"/>
            </p:cNvSpPr>
            <p:nvPr>
              <p:custDataLst>
                <p:tags r:id="rId8"/>
              </p:custDataLst>
            </p:nvPr>
          </p:nvSpPr>
          <p:spPr bwMode="auto">
            <a:xfrm>
              <a:off x="1397000" y="3557588"/>
              <a:ext cx="5334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mn-ea"/>
                </a:rPr>
                <a:t>x</a:t>
              </a:r>
              <a:endParaRPr lang="en-US" altLang="zh-CN" sz="2400" b="1">
                <a:solidFill>
                  <a:srgbClr val="070709"/>
                </a:solidFill>
                <a:latin typeface="+mn-ea"/>
              </a:endParaRPr>
            </a:p>
          </p:txBody>
        </p:sp>
        <p:sp>
          <p:nvSpPr>
            <p:cNvPr id="14" name="Line 11"/>
            <p:cNvSpPr>
              <a:spLocks noChangeShapeType="1"/>
            </p:cNvSpPr>
            <p:nvPr>
              <p:custDataLst>
                <p:tags r:id="rId9"/>
              </p:custDataLst>
            </p:nvPr>
          </p:nvSpPr>
          <p:spPr bwMode="auto">
            <a:xfrm flipH="1">
              <a:off x="2006600" y="2411413"/>
              <a:ext cx="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useBgFill="1">
          <p:nvSpPr>
            <p:cNvPr id="16" name="Rectangle 12"/>
            <p:cNvSpPr>
              <a:spLocks noChangeArrowheads="1"/>
            </p:cNvSpPr>
            <p:nvPr>
              <p:custDataLst>
                <p:tags r:id="rId10"/>
              </p:custDataLst>
            </p:nvPr>
          </p:nvSpPr>
          <p:spPr bwMode="auto">
            <a:xfrm>
              <a:off x="2159000" y="3557588"/>
              <a:ext cx="5334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mn-ea"/>
                </a:rPr>
                <a:t>3</a:t>
              </a:r>
              <a:endParaRPr lang="en-US" altLang="zh-CN" sz="2400" b="1">
                <a:solidFill>
                  <a:srgbClr val="070709"/>
                </a:solidFill>
                <a:latin typeface="+mn-ea"/>
              </a:endParaRPr>
            </a:p>
          </p:txBody>
        </p:sp>
        <p:sp useBgFill="1">
          <p:nvSpPr>
            <p:cNvPr id="17" name="Rectangle 13"/>
            <p:cNvSpPr>
              <a:spLocks noChangeArrowheads="1"/>
            </p:cNvSpPr>
            <p:nvPr>
              <p:custDataLst>
                <p:tags r:id="rId11"/>
              </p:custDataLst>
            </p:nvPr>
          </p:nvSpPr>
          <p:spPr bwMode="auto">
            <a:xfrm>
              <a:off x="1854200" y="2771776"/>
              <a:ext cx="304800" cy="460375"/>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p>
              <a:pPr algn="ctr">
                <a:spcBef>
                  <a:spcPct val="50000"/>
                </a:spcBef>
              </a:pPr>
              <a:r>
                <a:rPr lang="en-US" altLang="zh-CN" sz="2400" b="1">
                  <a:solidFill>
                    <a:srgbClr val="070709"/>
                  </a:solidFill>
                  <a:latin typeface="+mn-ea"/>
                </a:rPr>
                <a:t>+</a:t>
              </a:r>
              <a:endParaRPr lang="en-US" altLang="zh-CN" sz="2400" b="1">
                <a:solidFill>
                  <a:srgbClr val="070709"/>
                </a:solidFill>
                <a:latin typeface="+mn-ea"/>
              </a:endParaRPr>
            </a:p>
          </p:txBody>
        </p:sp>
      </p:grpSp>
      <p:sp>
        <p:nvSpPr>
          <p:cNvPr id="18" name="Rectangle 14"/>
          <p:cNvSpPr>
            <a:spLocks noChangeArrowheads="1"/>
          </p:cNvSpPr>
          <p:nvPr>
            <p:custDataLst>
              <p:tags r:id="rId12"/>
            </p:custDataLst>
          </p:nvPr>
        </p:nvSpPr>
        <p:spPr bwMode="auto">
          <a:xfrm>
            <a:off x="2234565" y="4382135"/>
            <a:ext cx="201358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dirty="0">
                <a:solidFill>
                  <a:srgbClr val="0070C0"/>
                </a:solidFill>
                <a:latin typeface="+mn-ea"/>
              </a:rPr>
              <a:t>t1 = x + 3</a:t>
            </a:r>
            <a:endParaRPr lang="en-US" altLang="zh-CN" sz="2400" b="1" dirty="0">
              <a:solidFill>
                <a:srgbClr val="0070C0"/>
              </a:solidFill>
              <a:latin typeface="+mn-ea"/>
            </a:endParaRPr>
          </a:p>
          <a:p>
            <a:r>
              <a:rPr lang="en-US" altLang="zh-CN" sz="2400" b="1" dirty="0">
                <a:solidFill>
                  <a:srgbClr val="0070C0"/>
                </a:solidFill>
                <a:latin typeface="+mn-ea"/>
              </a:rPr>
              <a:t>x = t1</a:t>
            </a:r>
            <a:endParaRPr lang="en-US" altLang="zh-CN" sz="2400" b="1" dirty="0">
              <a:solidFill>
                <a:srgbClr val="0070C0"/>
              </a:solidFill>
              <a:latin typeface="+mn-ea"/>
            </a:endParaRPr>
          </a:p>
          <a:p>
            <a:r>
              <a:rPr lang="en-US" altLang="zh-CN" sz="2400" b="1" dirty="0">
                <a:solidFill>
                  <a:srgbClr val="0070C0"/>
                </a:solidFill>
                <a:latin typeface="+mn-ea"/>
              </a:rPr>
              <a:t>t2 = t1 + 4</a:t>
            </a:r>
            <a:endParaRPr lang="zh-CN" altLang="en-US" sz="2400" b="1" dirty="0">
              <a:solidFill>
                <a:srgbClr val="0070C0"/>
              </a:solidFill>
              <a:latin typeface="+mn-ea"/>
            </a:endParaRPr>
          </a:p>
        </p:txBody>
      </p:sp>
      <p:sp>
        <p:nvSpPr>
          <p:cNvPr id="19" name="Rectangle 2"/>
          <p:cNvSpPr>
            <a:spLocks noChangeArrowheads="1"/>
          </p:cNvSpPr>
          <p:nvPr>
            <p:custDataLst>
              <p:tags r:id="rId13"/>
            </p:custDataLst>
          </p:nvPr>
        </p:nvSpPr>
        <p:spPr bwMode="auto">
          <a:xfrm>
            <a:off x="4713605" y="1216025"/>
            <a:ext cx="7132955"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typedef </a:t>
            </a:r>
            <a:r>
              <a:rPr lang="en-US" altLang="zh-CN" sz="2000" b="1" dirty="0" err="1">
                <a:solidFill>
                  <a:srgbClr val="000000"/>
                </a:solidFill>
                <a:latin typeface="Times New Roman" panose="02020603050405020304" pitchFamily="18" charset="0"/>
                <a:cs typeface="Times New Roman" panose="02020603050405020304" pitchFamily="18" charset="0"/>
              </a:rPr>
              <a:t>enum</a:t>
            </a:r>
            <a:r>
              <a:rPr lang="en-US" altLang="zh-CN" sz="2000" b="1" dirty="0">
                <a:solidFill>
                  <a:srgbClr val="000000"/>
                </a:solidFill>
                <a:latin typeface="Times New Roman" panose="02020603050405020304" pitchFamily="18" charset="0"/>
                <a:cs typeface="Times New Roman" panose="02020603050405020304" pitchFamily="18" charset="0"/>
              </a:rPr>
              <a:t> { Plus, Assign } </a:t>
            </a:r>
            <a:r>
              <a:rPr lang="en-US" altLang="zh-CN" sz="2000" b="1" dirty="0" err="1">
                <a:solidFill>
                  <a:srgbClr val="000000"/>
                </a:solidFill>
                <a:latin typeface="Times New Roman" panose="02020603050405020304" pitchFamily="18" charset="0"/>
                <a:cs typeface="Times New Roman" panose="02020603050405020304" pitchFamily="18" charset="0"/>
              </a:rPr>
              <a:t>Optype</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typedef </a:t>
            </a:r>
            <a:r>
              <a:rPr lang="en-US" altLang="zh-CN" sz="2000" b="1" dirty="0" err="1">
                <a:solidFill>
                  <a:srgbClr val="000000"/>
                </a:solidFill>
                <a:latin typeface="Times New Roman" panose="02020603050405020304" pitchFamily="18" charset="0"/>
                <a:cs typeface="Times New Roman" panose="02020603050405020304" pitchFamily="18" charset="0"/>
              </a:rPr>
              <a:t>enum</a:t>
            </a:r>
            <a:r>
              <a:rPr lang="en-US" altLang="zh-CN" sz="2000" b="1" dirty="0">
                <a:solidFill>
                  <a:srgbClr val="000000"/>
                </a:solidFill>
                <a:latin typeface="Times New Roman" panose="02020603050405020304" pitchFamily="18" charset="0"/>
                <a:cs typeface="Times New Roman" panose="02020603050405020304" pitchFamily="18" charset="0"/>
              </a:rPr>
              <a:t> { </a:t>
            </a:r>
            <a:r>
              <a:rPr lang="en-US" altLang="zh-CN" sz="2000" b="1" dirty="0" err="1">
                <a:solidFill>
                  <a:srgbClr val="000000"/>
                </a:solidFill>
                <a:latin typeface="Times New Roman" panose="02020603050405020304" pitchFamily="18" charset="0"/>
                <a:cs typeface="Times New Roman" panose="02020603050405020304" pitchFamily="18" charset="0"/>
              </a:rPr>
              <a:t>OpKind</a:t>
            </a: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err="1">
                <a:solidFill>
                  <a:srgbClr val="000000"/>
                </a:solidFill>
                <a:latin typeface="Times New Roman" panose="02020603050405020304" pitchFamily="18" charset="0"/>
                <a:cs typeface="Times New Roman" panose="02020603050405020304" pitchFamily="18" charset="0"/>
              </a:rPr>
              <a:t>ConstKind</a:t>
            </a: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err="1">
                <a:solidFill>
                  <a:srgbClr val="000000"/>
                </a:solidFill>
                <a:latin typeface="Times New Roman" panose="02020603050405020304" pitchFamily="18" charset="0"/>
                <a:cs typeface="Times New Roman" panose="02020603050405020304" pitchFamily="18" charset="0"/>
              </a:rPr>
              <a:t>IdKind</a:t>
            </a:r>
            <a:r>
              <a:rPr lang="en-US" altLang="zh-CN" sz="2000" b="1" dirty="0">
                <a:solidFill>
                  <a:srgbClr val="000000"/>
                </a:solidFill>
                <a:latin typeface="Times New Roman" panose="02020603050405020304" pitchFamily="18" charset="0"/>
                <a:cs typeface="Times New Roman" panose="02020603050405020304" pitchFamily="18" charset="0"/>
              </a:rPr>
              <a:t> } </a:t>
            </a:r>
            <a:r>
              <a:rPr lang="en-US" altLang="zh-CN" sz="2000" b="1" dirty="0" err="1">
                <a:solidFill>
                  <a:srgbClr val="000000"/>
                </a:solidFill>
                <a:latin typeface="Times New Roman" panose="02020603050405020304" pitchFamily="18" charset="0"/>
                <a:cs typeface="Times New Roman" panose="02020603050405020304" pitchFamily="18" charset="0"/>
              </a:rPr>
              <a:t>NodeKind</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typedef struct </a:t>
            </a:r>
            <a:r>
              <a:rPr lang="en-US" altLang="zh-CN" sz="2000" b="1" dirty="0" err="1">
                <a:solidFill>
                  <a:srgbClr val="000000"/>
                </a:solidFill>
                <a:latin typeface="Times New Roman" panose="02020603050405020304" pitchFamily="18" charset="0"/>
                <a:cs typeface="Times New Roman" panose="02020603050405020304" pitchFamily="18" charset="0"/>
              </a:rPr>
              <a:t>streenode</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err="1">
                <a:solidFill>
                  <a:srgbClr val="000000"/>
                </a:solidFill>
                <a:latin typeface="Times New Roman" panose="02020603050405020304" pitchFamily="18" charset="0"/>
                <a:cs typeface="Times New Roman" panose="02020603050405020304" pitchFamily="18" charset="0"/>
              </a:rPr>
              <a:t>NodeKind</a:t>
            </a:r>
            <a:r>
              <a:rPr lang="en-US" altLang="zh-CN" sz="2000" b="1" dirty="0">
                <a:solidFill>
                  <a:srgbClr val="000000"/>
                </a:solidFill>
                <a:latin typeface="Times New Roman" panose="02020603050405020304" pitchFamily="18" charset="0"/>
                <a:cs typeface="Times New Roman" panose="02020603050405020304" pitchFamily="18" charset="0"/>
              </a:rPr>
              <a:t> kind;</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err="1">
                <a:solidFill>
                  <a:srgbClr val="000000"/>
                </a:solidFill>
                <a:latin typeface="Times New Roman" panose="02020603050405020304" pitchFamily="18" charset="0"/>
                <a:cs typeface="Times New Roman" panose="02020603050405020304" pitchFamily="18" charset="0"/>
              </a:rPr>
              <a:t>Optype</a:t>
            </a:r>
            <a:r>
              <a:rPr lang="en-US" altLang="zh-CN" sz="2000" b="1" dirty="0">
                <a:solidFill>
                  <a:srgbClr val="000000"/>
                </a:solidFill>
                <a:latin typeface="Times New Roman" panose="02020603050405020304" pitchFamily="18" charset="0"/>
                <a:cs typeface="Times New Roman" panose="02020603050405020304" pitchFamily="18" charset="0"/>
              </a:rPr>
              <a:t> op; </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    struct </a:t>
            </a:r>
            <a:r>
              <a:rPr lang="en-US" altLang="zh-CN" sz="2000" b="1" dirty="0" err="1">
                <a:solidFill>
                  <a:srgbClr val="000000"/>
                </a:solidFill>
                <a:latin typeface="Times New Roman" panose="02020603050405020304" pitchFamily="18" charset="0"/>
                <a:cs typeface="Times New Roman" panose="02020603050405020304" pitchFamily="18" charset="0"/>
              </a:rPr>
              <a:t>streenode</a:t>
            </a: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err="1">
                <a:solidFill>
                  <a:srgbClr val="000000"/>
                </a:solidFill>
                <a:latin typeface="Times New Roman" panose="02020603050405020304" pitchFamily="18" charset="0"/>
                <a:cs typeface="Times New Roman" panose="02020603050405020304" pitchFamily="18" charset="0"/>
              </a:rPr>
              <a:t>lchild</a:t>
            </a: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err="1">
                <a:solidFill>
                  <a:srgbClr val="000000"/>
                </a:solidFill>
                <a:latin typeface="Times New Roman" panose="02020603050405020304" pitchFamily="18" charset="0"/>
                <a:cs typeface="Times New Roman" panose="02020603050405020304" pitchFamily="18" charset="0"/>
              </a:rPr>
              <a:t>rchild</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    char </a:t>
            </a:r>
            <a:r>
              <a:rPr lang="en-US" altLang="zh-CN" sz="20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000" b="1" dirty="0" err="1">
                <a:solidFill>
                  <a:srgbClr val="000000"/>
                </a:solidFill>
                <a:latin typeface="Times New Roman" panose="02020603050405020304" pitchFamily="18" charset="0"/>
                <a:cs typeface="Times New Roman" panose="02020603050405020304" pitchFamily="18" charset="0"/>
              </a:rPr>
              <a:t>strval</a:t>
            </a:r>
            <a:r>
              <a:rPr lang="en-US" altLang="zh-CN" sz="2000" b="1" dirty="0">
                <a:solidFill>
                  <a:srgbClr val="000000"/>
                </a:solidFill>
                <a:latin typeface="Times New Roman" panose="02020603050405020304" pitchFamily="18" charset="0"/>
                <a:cs typeface="Times New Roman" panose="02020603050405020304" pitchFamily="18" charset="0"/>
              </a:rPr>
              <a:t>;//</a:t>
            </a:r>
            <a:r>
              <a:rPr lang="zh-CN" altLang="en-US" sz="2000" b="1" dirty="0">
                <a:solidFill>
                  <a:srgbClr val="0070C0"/>
                </a:solidFill>
                <a:latin typeface="+mn-ea"/>
              </a:rPr>
              <a:t>存储</a:t>
            </a:r>
            <a:r>
              <a:rPr lang="zh-CN" altLang="en-US" sz="2000" b="1" dirty="0">
                <a:solidFill>
                  <a:srgbClr val="0070C0"/>
                </a:solidFill>
                <a:latin typeface="+mn-ea"/>
                <a:sym typeface="+mn-ea"/>
              </a:rPr>
              <a:t>名字属性，数字也当作字符串保存</a:t>
            </a: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err="1">
                <a:solidFill>
                  <a:srgbClr val="000000"/>
                </a:solidFill>
                <a:latin typeface="Times New Roman" panose="02020603050405020304" pitchFamily="18" charset="0"/>
                <a:cs typeface="Times New Roman" panose="02020603050405020304" pitchFamily="18" charset="0"/>
              </a:rPr>
              <a:t>STreeNode</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en-US" altLang="zh-CN" sz="2000" b="1"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altLang="zh-CN" sz="2000" b="1" dirty="0">
                <a:solidFill>
                  <a:srgbClr val="000000"/>
                </a:solidFill>
                <a:latin typeface="Times New Roman" panose="02020603050405020304" pitchFamily="18" charset="0"/>
                <a:cs typeface="Times New Roman" panose="02020603050405020304" pitchFamily="18" charset="0"/>
              </a:rPr>
              <a:t>typedef </a:t>
            </a:r>
            <a:r>
              <a:rPr lang="en-US" altLang="zh-CN" sz="2000" b="1" dirty="0" err="1">
                <a:solidFill>
                  <a:srgbClr val="000000"/>
                </a:solidFill>
                <a:latin typeface="Times New Roman" panose="02020603050405020304" pitchFamily="18" charset="0"/>
                <a:cs typeface="Times New Roman" panose="02020603050405020304" pitchFamily="18" charset="0"/>
              </a:rPr>
              <a:t>STreeNode</a:t>
            </a:r>
            <a:r>
              <a:rPr lang="en-US" altLang="zh-CN" sz="2000" b="1" dirty="0">
                <a:solidFill>
                  <a:srgbClr val="000000"/>
                </a:solidFill>
                <a:latin typeface="Times New Roman" panose="02020603050405020304" pitchFamily="18" charset="0"/>
                <a:cs typeface="Times New Roman" panose="02020603050405020304" pitchFamily="18" charset="0"/>
              </a:rPr>
              <a:t> *</a:t>
            </a:r>
            <a:r>
              <a:rPr lang="en-US" altLang="zh-CN" sz="2000" b="1" dirty="0" err="1">
                <a:solidFill>
                  <a:srgbClr val="000000"/>
                </a:solidFill>
                <a:latin typeface="Times New Roman" panose="02020603050405020304" pitchFamily="18" charset="0"/>
                <a:cs typeface="Times New Roman" panose="02020603050405020304" pitchFamily="18" charset="0"/>
              </a:rPr>
              <a:t>SyntaxTree</a:t>
            </a:r>
            <a:r>
              <a:rPr lang="en-US" altLang="zh-CN" sz="2000" b="1" dirty="0">
                <a:solidFill>
                  <a:srgbClr val="000000"/>
                </a:solidFill>
                <a:latin typeface="Times New Roman" panose="02020603050405020304" pitchFamily="18" charset="0"/>
                <a:cs typeface="Times New Roman" panose="02020603050405020304" pitchFamily="18" charset="0"/>
              </a:rPr>
              <a:t>;</a:t>
            </a:r>
            <a:endParaRPr lang="en-US" altLang="zh-CN" sz="2000" b="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strips(down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strips(down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strips(downLeft)">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86715" y="278130"/>
            <a:ext cx="7609840" cy="564515"/>
          </a:xfrm>
        </p:spPr>
        <p:txBody>
          <a:bodyPr/>
          <a:lstStyle/>
          <a:p>
            <a:r>
              <a:rPr lang="en-US" altLang="zh-CN" sz="3200" dirty="0"/>
              <a:t>6.2.2 </a:t>
            </a:r>
            <a:r>
              <a:rPr lang="zh-CN" altLang="en-US" sz="3200" dirty="0"/>
              <a:t>实际的代码生成方法</a:t>
            </a:r>
            <a:endParaRPr lang="zh-CN" altLang="en-US" sz="3200" dirty="0"/>
          </a:p>
        </p:txBody>
      </p:sp>
      <p:grpSp>
        <p:nvGrpSpPr>
          <p:cNvPr id="2" name="组合 1"/>
          <p:cNvGrpSpPr/>
          <p:nvPr/>
        </p:nvGrpSpPr>
        <p:grpSpPr>
          <a:xfrm>
            <a:off x="1276218" y="1976459"/>
            <a:ext cx="4267200" cy="1680845"/>
            <a:chOff x="498475" y="1704975"/>
            <a:chExt cx="4267200" cy="1680845"/>
          </a:xfrm>
        </p:grpSpPr>
        <p:grpSp>
          <p:nvGrpSpPr>
            <p:cNvPr id="7" name="Group 2"/>
            <p:cNvGrpSpPr/>
            <p:nvPr/>
          </p:nvGrpSpPr>
          <p:grpSpPr bwMode="auto">
            <a:xfrm>
              <a:off x="2251075" y="1704975"/>
              <a:ext cx="539750" cy="463550"/>
              <a:chOff x="768" y="1775"/>
              <a:chExt cx="481" cy="292"/>
            </a:xfrm>
          </p:grpSpPr>
          <p:sp useBgFill="1">
            <p:nvSpPr>
              <p:cNvPr id="8" name="Oval 3"/>
              <p:cNvSpPr>
                <a:spLocks noChangeArrowheads="1"/>
              </p:cNvSpPr>
              <p:nvPr/>
            </p:nvSpPr>
            <p:spPr bwMode="auto">
              <a:xfrm>
                <a:off x="768" y="1775"/>
                <a:ext cx="481" cy="288"/>
              </a:xfrm>
              <a:prstGeom prst="ellipse">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p:nvSpPr>
              <p:cNvPr id="9" name="Rectangle 4"/>
              <p:cNvSpPr>
                <a:spLocks noChangeArrowheads="1"/>
              </p:cNvSpPr>
              <p:nvPr/>
            </p:nvSpPr>
            <p:spPr bwMode="auto">
              <a:xfrm>
                <a:off x="864" y="1776"/>
                <a:ext cx="3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a:t>
                </a:r>
                <a:endParaRPr lang="zh-CN" altLang="en-US" sz="2400" b="1">
                  <a:solidFill>
                    <a:srgbClr val="030305"/>
                  </a:solidFill>
                  <a:latin typeface="+mn-ea"/>
                </a:endParaRPr>
              </a:p>
            </p:txBody>
          </p:sp>
        </p:grpSp>
        <p:sp>
          <p:nvSpPr>
            <p:cNvPr id="10" name="Line 5"/>
            <p:cNvSpPr>
              <a:spLocks noChangeShapeType="1"/>
            </p:cNvSpPr>
            <p:nvPr/>
          </p:nvSpPr>
          <p:spPr bwMode="auto">
            <a:xfrm flipH="1">
              <a:off x="1793875" y="2162175"/>
              <a:ext cx="533400"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p:nvSpPr>
            <p:cNvPr id="11" name="Line 6"/>
            <p:cNvSpPr>
              <a:spLocks noChangeShapeType="1"/>
            </p:cNvSpPr>
            <p:nvPr/>
          </p:nvSpPr>
          <p:spPr bwMode="auto">
            <a:xfrm>
              <a:off x="2708275" y="2162175"/>
              <a:ext cx="533400"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400">
                <a:latin typeface="+mn-ea"/>
              </a:endParaRPr>
            </a:p>
          </p:txBody>
        </p:sp>
        <p:sp useBgFill="1">
          <p:nvSpPr>
            <p:cNvPr id="12" name="AutoShape 7"/>
            <p:cNvSpPr>
              <a:spLocks noChangeArrowheads="1"/>
            </p:cNvSpPr>
            <p:nvPr/>
          </p:nvSpPr>
          <p:spPr bwMode="auto">
            <a:xfrm>
              <a:off x="1412875" y="2466975"/>
              <a:ext cx="762000" cy="457200"/>
            </a:xfrm>
            <a:prstGeom prst="triangle">
              <a:avLst>
                <a:gd name="adj" fmla="val 50000"/>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useBgFill="1">
          <p:nvSpPr>
            <p:cNvPr id="13" name="AutoShape 8"/>
            <p:cNvSpPr>
              <a:spLocks noChangeArrowheads="1"/>
            </p:cNvSpPr>
            <p:nvPr/>
          </p:nvSpPr>
          <p:spPr bwMode="auto">
            <a:xfrm>
              <a:off x="2860675" y="2466975"/>
              <a:ext cx="762000" cy="457200"/>
            </a:xfrm>
            <a:prstGeom prst="triangle">
              <a:avLst>
                <a:gd name="adj" fmla="val 50000"/>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p:nvSpPr>
            <p:cNvPr id="14" name="Rectangle 9"/>
            <p:cNvSpPr>
              <a:spLocks noChangeArrowheads="1"/>
            </p:cNvSpPr>
            <p:nvPr/>
          </p:nvSpPr>
          <p:spPr bwMode="auto">
            <a:xfrm>
              <a:off x="498475" y="2924175"/>
              <a:ext cx="1992313"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30305"/>
                  </a:solidFill>
                  <a:latin typeface="+mn-ea"/>
                </a:rPr>
                <a:t>left operand</a:t>
              </a:r>
              <a:endParaRPr lang="zh-CN" altLang="en-US" sz="2400" b="1">
                <a:solidFill>
                  <a:srgbClr val="030305"/>
                </a:solidFill>
                <a:latin typeface="+mn-ea"/>
              </a:endParaRPr>
            </a:p>
          </p:txBody>
        </p:sp>
        <p:sp>
          <p:nvSpPr>
            <p:cNvPr id="16" name="Rectangle 10"/>
            <p:cNvSpPr>
              <a:spLocks noChangeArrowheads="1"/>
            </p:cNvSpPr>
            <p:nvPr/>
          </p:nvSpPr>
          <p:spPr bwMode="auto">
            <a:xfrm>
              <a:off x="2555875" y="2924175"/>
              <a:ext cx="22098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30305"/>
                  </a:solidFill>
                  <a:latin typeface="+mn-ea"/>
                </a:rPr>
                <a:t>right operand</a:t>
              </a:r>
              <a:endParaRPr lang="zh-CN" altLang="en-US" sz="2400" b="1">
                <a:solidFill>
                  <a:srgbClr val="030305"/>
                </a:solidFill>
                <a:latin typeface="+mn-ea"/>
              </a:endParaRPr>
            </a:p>
          </p:txBody>
        </p:sp>
      </p:grpSp>
      <p:sp>
        <p:nvSpPr>
          <p:cNvPr id="17" name="Rectangle 17"/>
          <p:cNvSpPr>
            <a:spLocks noChangeArrowheads="1"/>
          </p:cNvSpPr>
          <p:nvPr/>
        </p:nvSpPr>
        <p:spPr bwMode="auto">
          <a:xfrm>
            <a:off x="512445" y="1282065"/>
            <a:ext cx="10792460" cy="523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en-US" altLang="zh-CN" sz="2400" b="1" dirty="0">
                <a:solidFill>
                  <a:srgbClr val="03010F"/>
                </a:solidFill>
                <a:latin typeface="+mn-ea"/>
              </a:rPr>
              <a:t>“+”</a:t>
            </a:r>
            <a:r>
              <a:rPr lang="zh-CN" altLang="en-US" sz="2400" b="1" dirty="0">
                <a:solidFill>
                  <a:srgbClr val="03010F"/>
                </a:solidFill>
                <a:latin typeface="+mn-ea"/>
              </a:rPr>
              <a:t>和</a:t>
            </a:r>
            <a:r>
              <a:rPr lang="en-US" altLang="zh-CN" sz="2400" b="1" dirty="0">
                <a:solidFill>
                  <a:srgbClr val="03010F"/>
                </a:solidFill>
                <a:latin typeface="+mn-ea"/>
                <a:sym typeface="+mn-ea"/>
              </a:rPr>
              <a:t>“</a:t>
            </a:r>
            <a:r>
              <a:rPr lang="en-US" altLang="zh-CN" sz="2400" b="1">
                <a:solidFill>
                  <a:srgbClr val="030305"/>
                </a:solidFill>
                <a:latin typeface="+mn-ea"/>
                <a:sym typeface="+mn-ea"/>
              </a:rPr>
              <a:t>left oper =</a:t>
            </a:r>
            <a:r>
              <a:rPr lang="en-US" altLang="zh-CN" sz="2400" b="1" dirty="0">
                <a:solidFill>
                  <a:srgbClr val="03010F"/>
                </a:solidFill>
                <a:latin typeface="+mn-ea"/>
                <a:sym typeface="+mn-ea"/>
              </a:rPr>
              <a:t>”</a:t>
            </a:r>
            <a:r>
              <a:rPr lang="zh-CN" altLang="en-US" sz="2800" b="1" dirty="0">
                <a:solidFill>
                  <a:srgbClr val="FF0000"/>
                </a:solidFill>
                <a:latin typeface="+mn-ea"/>
              </a:rPr>
              <a:t>语法树节点中间代码的生成规则</a:t>
            </a:r>
            <a:r>
              <a:rPr lang="zh-CN" altLang="en-US" sz="2400" b="1" dirty="0">
                <a:solidFill>
                  <a:srgbClr val="03010F"/>
                </a:solidFill>
                <a:latin typeface="+mn-ea"/>
              </a:rPr>
              <a:t>如下：</a:t>
            </a:r>
            <a:endParaRPr lang="zh-CN" altLang="en-US" sz="2400" b="1" dirty="0">
              <a:solidFill>
                <a:srgbClr val="03010F"/>
              </a:solidFill>
              <a:latin typeface="+mn-ea"/>
            </a:endParaRPr>
          </a:p>
        </p:txBody>
      </p:sp>
      <p:sp>
        <p:nvSpPr>
          <p:cNvPr id="18" name="Rectangle 18"/>
          <p:cNvSpPr>
            <a:spLocks noChangeArrowheads="1"/>
          </p:cNvSpPr>
          <p:nvPr/>
        </p:nvSpPr>
        <p:spPr bwMode="auto">
          <a:xfrm>
            <a:off x="641350" y="3817620"/>
            <a:ext cx="1097978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800" b="1" dirty="0">
                <a:solidFill>
                  <a:srgbClr val="000000"/>
                </a:solidFill>
                <a:latin typeface="+mn-ea"/>
              </a:rPr>
              <a:t>t1 ‘=’ t.leftchild.</a:t>
            </a:r>
            <a:r>
              <a:rPr lang="en-US" altLang="zh-CN" sz="2800" b="1" dirty="0" err="1">
                <a:solidFill>
                  <a:srgbClr val="000000"/>
                </a:solidFill>
                <a:latin typeface="+mn-ea"/>
              </a:rPr>
              <a:t>strval</a:t>
            </a:r>
            <a:r>
              <a:rPr lang="en-US" altLang="zh-CN" sz="2800" b="1" dirty="0">
                <a:solidFill>
                  <a:srgbClr val="000000"/>
                </a:solidFill>
                <a:latin typeface="+mn-ea"/>
              </a:rPr>
              <a:t>‘+’</a:t>
            </a:r>
            <a:r>
              <a:rPr lang="en-US" altLang="zh-CN" sz="2800" b="1" dirty="0" err="1">
                <a:solidFill>
                  <a:srgbClr val="000000"/>
                </a:solidFill>
                <a:latin typeface="+mn-ea"/>
              </a:rPr>
              <a:t>t.rightchild.strval  //</a:t>
            </a:r>
            <a:r>
              <a:rPr lang="zh-CN" altLang="en-US" sz="2800" b="1" dirty="0">
                <a:latin typeface="+mn-ea"/>
                <a:sym typeface="+mn-ea"/>
              </a:rPr>
              <a:t>生成的三地址码</a:t>
            </a:r>
            <a:endParaRPr lang="en-US" altLang="zh-CN" sz="2800" b="1" dirty="0">
              <a:latin typeface="+mn-ea"/>
            </a:endParaRPr>
          </a:p>
          <a:p>
            <a:endParaRPr lang="en-US" altLang="zh-CN" sz="2800" b="1" dirty="0" err="1">
              <a:solidFill>
                <a:srgbClr val="000000"/>
              </a:solidFill>
              <a:latin typeface="+mn-ea"/>
            </a:endParaRPr>
          </a:p>
        </p:txBody>
      </p:sp>
      <p:sp>
        <p:nvSpPr>
          <p:cNvPr id="24" name="Rectangle 20"/>
          <p:cNvSpPr>
            <a:spLocks noChangeArrowheads="1"/>
          </p:cNvSpPr>
          <p:nvPr/>
        </p:nvSpPr>
        <p:spPr bwMode="auto">
          <a:xfrm>
            <a:off x="641350" y="4330065"/>
            <a:ext cx="98672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800" b="1">
                <a:solidFill>
                  <a:srgbClr val="000000"/>
                </a:solidFill>
                <a:latin typeface="+mn-ea"/>
              </a:rPr>
              <a:t>t.strval = t1  //</a:t>
            </a:r>
            <a:r>
              <a:rPr lang="zh-CN" altLang="en-US" sz="2800" b="1">
                <a:solidFill>
                  <a:srgbClr val="000000"/>
                </a:solidFill>
                <a:latin typeface="+mn-ea"/>
              </a:rPr>
              <a:t>抽象语法树</a:t>
            </a:r>
            <a:r>
              <a:rPr lang="en-US" altLang="zh-CN" sz="2800" b="1">
                <a:solidFill>
                  <a:srgbClr val="000000"/>
                </a:solidFill>
                <a:latin typeface="+mn-ea"/>
              </a:rPr>
              <a:t>name</a:t>
            </a:r>
            <a:r>
              <a:rPr lang="zh-CN" altLang="en-US" sz="2800" b="1">
                <a:solidFill>
                  <a:srgbClr val="000000"/>
                </a:solidFill>
                <a:latin typeface="+mn-ea"/>
              </a:rPr>
              <a:t>节点值</a:t>
            </a:r>
            <a:r>
              <a:rPr lang="zh-CN" altLang="en-US" sz="2800" b="1">
                <a:solidFill>
                  <a:srgbClr val="000000"/>
                </a:solidFill>
                <a:latin typeface="+mn-ea"/>
              </a:rPr>
              <a:t>更新</a:t>
            </a:r>
            <a:endParaRPr lang="zh-CN" altLang="en-US" sz="2800" b="1">
              <a:solidFill>
                <a:srgbClr val="000000"/>
              </a:solidFill>
              <a:latin typeface="+mn-ea"/>
            </a:endParaRPr>
          </a:p>
        </p:txBody>
      </p:sp>
      <p:sp>
        <p:nvSpPr>
          <p:cNvPr id="3" name="矩形 2"/>
          <p:cNvSpPr/>
          <p:nvPr/>
        </p:nvSpPr>
        <p:spPr>
          <a:xfrm>
            <a:off x="535940" y="3732530"/>
            <a:ext cx="11178540" cy="107696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 name="组合 3"/>
          <p:cNvGrpSpPr/>
          <p:nvPr/>
        </p:nvGrpSpPr>
        <p:grpSpPr>
          <a:xfrm>
            <a:off x="7677318" y="1975331"/>
            <a:ext cx="2895600" cy="1757045"/>
            <a:chOff x="1954773" y="1682377"/>
            <a:chExt cx="2895600" cy="1757045"/>
          </a:xfrm>
        </p:grpSpPr>
        <p:grpSp>
          <p:nvGrpSpPr>
            <p:cNvPr id="19" name="Group 4"/>
            <p:cNvGrpSpPr/>
            <p:nvPr/>
          </p:nvGrpSpPr>
          <p:grpSpPr bwMode="auto">
            <a:xfrm>
              <a:off x="1954773" y="1682377"/>
              <a:ext cx="2083064" cy="463551"/>
              <a:chOff x="768" y="1775"/>
              <a:chExt cx="487" cy="292"/>
            </a:xfrm>
          </p:grpSpPr>
          <p:sp useBgFill="1">
            <p:nvSpPr>
              <p:cNvPr id="20" name="Oval 5"/>
              <p:cNvSpPr>
                <a:spLocks noChangeArrowheads="1"/>
              </p:cNvSpPr>
              <p:nvPr>
                <p:custDataLst>
                  <p:tags r:id="rId1"/>
                </p:custDataLst>
              </p:nvPr>
            </p:nvSpPr>
            <p:spPr bwMode="auto">
              <a:xfrm>
                <a:off x="768" y="1775"/>
                <a:ext cx="481" cy="288"/>
              </a:xfrm>
              <a:prstGeom prst="ellipse">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p:nvSpPr>
              <p:cNvPr id="21" name="Rectangle 6"/>
              <p:cNvSpPr>
                <a:spLocks noChangeArrowheads="1"/>
              </p:cNvSpPr>
              <p:nvPr>
                <p:custDataLst>
                  <p:tags r:id="rId2"/>
                </p:custDataLst>
              </p:nvPr>
            </p:nvSpPr>
            <p:spPr bwMode="auto">
              <a:xfrm>
                <a:off x="813" y="1776"/>
                <a:ext cx="4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a:solidFill>
                      <a:srgbClr val="030305"/>
                    </a:solidFill>
                    <a:latin typeface="+mn-ea"/>
                  </a:rPr>
                  <a:t>left oper =</a:t>
                </a:r>
                <a:endParaRPr lang="zh-CN" altLang="en-US" sz="2400" b="1">
                  <a:solidFill>
                    <a:srgbClr val="030305"/>
                  </a:solidFill>
                  <a:latin typeface="+mn-ea"/>
                </a:endParaRPr>
              </a:p>
            </p:txBody>
          </p:sp>
        </p:grpSp>
        <p:sp>
          <p:nvSpPr>
            <p:cNvPr id="22" name="Line 7"/>
            <p:cNvSpPr>
              <a:spLocks noChangeShapeType="1"/>
            </p:cNvSpPr>
            <p:nvPr>
              <p:custDataLst>
                <p:tags r:id="rId3"/>
              </p:custDataLst>
            </p:nvPr>
          </p:nvSpPr>
          <p:spPr bwMode="auto">
            <a:xfrm>
              <a:off x="2869173" y="2139577"/>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useBgFill="1">
          <p:nvSpPr>
            <p:cNvPr id="25" name="AutoShape 8"/>
            <p:cNvSpPr>
              <a:spLocks noChangeArrowheads="1"/>
            </p:cNvSpPr>
            <p:nvPr>
              <p:custDataLst>
                <p:tags r:id="rId4"/>
              </p:custDataLst>
            </p:nvPr>
          </p:nvSpPr>
          <p:spPr bwMode="auto">
            <a:xfrm>
              <a:off x="2488173" y="2520577"/>
              <a:ext cx="7620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p:nvSpPr>
            <p:cNvPr id="26" name="Rectangle 9"/>
            <p:cNvSpPr>
              <a:spLocks noChangeArrowheads="1"/>
            </p:cNvSpPr>
            <p:nvPr>
              <p:custDataLst>
                <p:tags r:id="rId5"/>
              </p:custDataLst>
            </p:nvPr>
          </p:nvSpPr>
          <p:spPr bwMode="auto">
            <a:xfrm>
              <a:off x="2107173" y="2977777"/>
              <a:ext cx="2743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left operand</a:t>
              </a:r>
              <a:endParaRPr lang="zh-CN" altLang="en-US" sz="2400" b="1">
                <a:solidFill>
                  <a:srgbClr val="030305"/>
                </a:solidFill>
                <a:latin typeface="+mn-ea"/>
              </a:endParaRPr>
            </a:p>
          </p:txBody>
        </p:sp>
      </p:grpSp>
      <p:sp>
        <p:nvSpPr>
          <p:cNvPr id="27" name="Rectangle 10"/>
          <p:cNvSpPr>
            <a:spLocks noChangeArrowheads="1"/>
          </p:cNvSpPr>
          <p:nvPr>
            <p:custDataLst>
              <p:tags r:id="rId6"/>
            </p:custDataLst>
          </p:nvPr>
        </p:nvSpPr>
        <p:spPr bwMode="auto">
          <a:xfrm>
            <a:off x="670560" y="4994275"/>
            <a:ext cx="1063434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800" b="1">
                <a:solidFill>
                  <a:srgbClr val="000000"/>
                </a:solidFill>
                <a:latin typeface="+mn-ea"/>
              </a:rPr>
              <a:t>t.strval ‘=’ t.leftchild.strval  //</a:t>
            </a:r>
            <a:r>
              <a:rPr lang="zh-CN" altLang="en-US" sz="2800" b="1" dirty="0">
                <a:latin typeface="+mn-ea"/>
                <a:sym typeface="+mn-ea"/>
              </a:rPr>
              <a:t>生成的三地址码</a:t>
            </a:r>
            <a:endParaRPr lang="en-US" altLang="zh-CN" sz="2800" b="1" dirty="0">
              <a:latin typeface="+mn-ea"/>
            </a:endParaRPr>
          </a:p>
          <a:p>
            <a:endParaRPr lang="en-US" altLang="zh-CN" sz="2800" b="1">
              <a:solidFill>
                <a:srgbClr val="000000"/>
              </a:solidFill>
              <a:latin typeface="+mn-ea"/>
            </a:endParaRPr>
          </a:p>
        </p:txBody>
      </p:sp>
      <p:sp>
        <p:nvSpPr>
          <p:cNvPr id="29" name="Rectangle 14"/>
          <p:cNvSpPr>
            <a:spLocks noChangeArrowheads="1"/>
          </p:cNvSpPr>
          <p:nvPr>
            <p:custDataLst>
              <p:tags r:id="rId7"/>
            </p:custDataLst>
          </p:nvPr>
        </p:nvSpPr>
        <p:spPr bwMode="auto">
          <a:xfrm>
            <a:off x="671195" y="5425440"/>
            <a:ext cx="1026096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800" b="1">
                <a:solidFill>
                  <a:srgbClr val="000000"/>
                </a:solidFill>
                <a:latin typeface="+mn-ea"/>
              </a:rPr>
              <a:t>t.strval = t.leftchild.strval </a:t>
            </a:r>
            <a:r>
              <a:rPr lang="en-US" altLang="zh-CN" sz="2800" b="1">
                <a:solidFill>
                  <a:srgbClr val="000000"/>
                </a:solidFill>
                <a:latin typeface="+mn-ea"/>
                <a:sym typeface="+mn-ea"/>
              </a:rPr>
              <a:t>//</a:t>
            </a:r>
            <a:r>
              <a:rPr lang="zh-CN" altLang="en-US" sz="2800" b="1">
                <a:solidFill>
                  <a:srgbClr val="000000"/>
                </a:solidFill>
                <a:latin typeface="+mn-ea"/>
                <a:sym typeface="+mn-ea"/>
              </a:rPr>
              <a:t>抽象语法树</a:t>
            </a:r>
            <a:r>
              <a:rPr lang="en-US" altLang="zh-CN" sz="2800" b="1">
                <a:solidFill>
                  <a:srgbClr val="000000"/>
                </a:solidFill>
                <a:latin typeface="+mn-ea"/>
                <a:sym typeface="+mn-ea"/>
              </a:rPr>
              <a:t>name</a:t>
            </a:r>
            <a:r>
              <a:rPr lang="zh-CN" altLang="en-US" sz="2800" b="1">
                <a:solidFill>
                  <a:srgbClr val="000000"/>
                </a:solidFill>
                <a:latin typeface="+mn-ea"/>
                <a:sym typeface="+mn-ea"/>
              </a:rPr>
              <a:t>节点值更新</a:t>
            </a:r>
            <a:endParaRPr lang="zh-CN" altLang="en-US" sz="2800" b="1">
              <a:solidFill>
                <a:srgbClr val="000000"/>
              </a:solidFill>
              <a:latin typeface="+mn-ea"/>
            </a:endParaRPr>
          </a:p>
          <a:p>
            <a:endParaRPr lang="en-US" altLang="zh-CN" sz="2800" b="1">
              <a:solidFill>
                <a:srgbClr val="000000"/>
              </a:solidFill>
              <a:latin typeface="+mn-ea"/>
            </a:endParaRPr>
          </a:p>
        </p:txBody>
      </p:sp>
      <p:sp>
        <p:nvSpPr>
          <p:cNvPr id="6" name="矩形 5"/>
          <p:cNvSpPr/>
          <p:nvPr>
            <p:custDataLst>
              <p:tags r:id="rId8"/>
            </p:custDataLst>
          </p:nvPr>
        </p:nvSpPr>
        <p:spPr>
          <a:xfrm>
            <a:off x="520700" y="4937125"/>
            <a:ext cx="11193780" cy="112903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strips(down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strips(downLeft)">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strips(down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P spid="27"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7700" y="2299970"/>
            <a:ext cx="5062220" cy="39858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14"/>
          <p:cNvSpPr>
            <a:spLocks noGrp="1"/>
          </p:cNvSpPr>
          <p:nvPr>
            <p:ph type="body" sz="quarter" idx="14"/>
          </p:nvPr>
        </p:nvSpPr>
        <p:spPr>
          <a:xfrm>
            <a:off x="862965" y="278130"/>
            <a:ext cx="7133590" cy="564515"/>
          </a:xfrm>
        </p:spPr>
        <p:txBody>
          <a:bodyPr/>
          <a:lstStyle/>
          <a:p>
            <a:r>
              <a:rPr lang="en-US" altLang="zh-CN" sz="3200" dirty="0"/>
              <a:t>6.2.2 </a:t>
            </a:r>
            <a:r>
              <a:rPr lang="zh-CN" altLang="en-US" sz="3200" dirty="0"/>
              <a:t>实际的代码生成方法</a:t>
            </a:r>
            <a:endParaRPr lang="zh-CN" altLang="en-US" sz="3200" dirty="0"/>
          </a:p>
        </p:txBody>
      </p:sp>
      <p:sp>
        <p:nvSpPr>
          <p:cNvPr id="4" name="Rectangle 2"/>
          <p:cNvSpPr>
            <a:spLocks noChangeArrowheads="1"/>
          </p:cNvSpPr>
          <p:nvPr/>
        </p:nvSpPr>
        <p:spPr bwMode="auto">
          <a:xfrm>
            <a:off x="647700" y="2299970"/>
            <a:ext cx="573659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00000"/>
              </a:lnSpc>
            </a:pPr>
            <a:r>
              <a:rPr lang="en-US" altLang="zh-CN" sz="2000" b="1" dirty="0">
                <a:solidFill>
                  <a:srgbClr val="03010F"/>
                </a:solidFill>
                <a:ea typeface="+mn-ea"/>
                <a:cs typeface="Times New Roman" panose="02020603050405020304" pitchFamily="18" charset="0"/>
              </a:rPr>
              <a:t>Void </a:t>
            </a:r>
            <a:r>
              <a:rPr lang="en-US" altLang="zh-CN" sz="2000" b="1" dirty="0" err="1">
                <a:solidFill>
                  <a:srgbClr val="03010F"/>
                </a:solidFill>
                <a:ea typeface="+mn-ea"/>
                <a:cs typeface="Times New Roman" panose="02020603050405020304" pitchFamily="18" charset="0"/>
              </a:rPr>
              <a:t>genCode</a:t>
            </a:r>
            <a:r>
              <a:rPr lang="en-US" altLang="zh-CN" sz="2000" b="1" dirty="0">
                <a:solidFill>
                  <a:srgbClr val="03010F"/>
                </a:solidFill>
                <a:ea typeface="+mn-ea"/>
                <a:cs typeface="Times New Roman" panose="02020603050405020304" pitchFamily="18" charset="0"/>
              </a:rPr>
              <a:t>(</a:t>
            </a:r>
            <a:r>
              <a:rPr lang="en-US" altLang="zh-CN" sz="2000" b="1" dirty="0" err="1">
                <a:solidFill>
                  <a:srgbClr val="03010F"/>
                </a:solidFill>
                <a:ea typeface="+mn-ea"/>
                <a:cs typeface="Times New Roman" panose="02020603050405020304" pitchFamily="18" charset="0"/>
              </a:rPr>
              <a:t>SyntaxTree</a:t>
            </a:r>
            <a:r>
              <a:rPr lang="en-US" altLang="zh-CN" sz="2000" b="1" dirty="0">
                <a:solidFill>
                  <a:srgbClr val="03010F"/>
                </a:solidFill>
                <a:ea typeface="+mn-ea"/>
                <a:cs typeface="Times New Roman" panose="02020603050405020304" pitchFamily="18" charset="0"/>
              </a:rPr>
              <a:t> t)</a:t>
            </a:r>
            <a:endParaRPr lang="en-US" altLang="zh-CN" sz="2000" b="1" dirty="0">
              <a:solidFill>
                <a:srgbClr val="03010F"/>
              </a:solidFill>
              <a:ea typeface="+mn-ea"/>
              <a:cs typeface="Times New Roman" panose="02020603050405020304" pitchFamily="18" charset="0"/>
            </a:endParaRPr>
          </a:p>
          <a:p>
            <a:pPr>
              <a:lnSpc>
                <a:spcPct val="100000"/>
              </a:lnSpc>
            </a:pPr>
            <a:r>
              <a:rPr lang="en-US" altLang="zh-CN" sz="2000" b="1" dirty="0">
                <a:solidFill>
                  <a:srgbClr val="03010F"/>
                </a:solidFill>
                <a:ea typeface="+mn-ea"/>
                <a:cs typeface="Times New Roman" panose="02020603050405020304" pitchFamily="18" charset="0"/>
              </a:rPr>
              <a:t>{if(t!=NULL</a:t>
            </a:r>
            <a:r>
              <a:rPr lang="zh-CN" altLang="en-US" sz="2000" b="1" dirty="0">
                <a:solidFill>
                  <a:srgbClr val="03010F"/>
                </a:solidFill>
                <a:ea typeface="+mn-ea"/>
                <a:cs typeface="Times New Roman" panose="02020603050405020304" pitchFamily="18" charset="0"/>
              </a:rPr>
              <a:t>)</a:t>
            </a:r>
            <a:endParaRPr lang="zh-CN" altLang="en-US" sz="2000" b="1" dirty="0">
              <a:solidFill>
                <a:srgbClr val="03010F"/>
              </a:solidFill>
              <a:ea typeface="+mn-ea"/>
              <a:cs typeface="Times New Roman" panose="02020603050405020304" pitchFamily="18" charset="0"/>
            </a:endParaRPr>
          </a:p>
          <a:p>
            <a:pPr>
              <a:lnSpc>
                <a:spcPct val="100000"/>
              </a:lnSpc>
            </a:pPr>
            <a:r>
              <a:rPr lang="zh-CN" altLang="en-US" sz="2000" b="1" dirty="0">
                <a:solidFill>
                  <a:srgbClr val="03010F"/>
                </a:solidFill>
                <a:ea typeface="+mn-ea"/>
                <a:cs typeface="Times New Roman" panose="02020603050405020304" pitchFamily="18" charset="0"/>
              </a:rPr>
              <a:t> {</a:t>
            </a:r>
            <a:r>
              <a:rPr lang="en-US" altLang="zh-CN" sz="2000" b="1" dirty="0">
                <a:solidFill>
                  <a:srgbClr val="03010F"/>
                </a:solidFill>
                <a:ea typeface="+mn-ea"/>
                <a:cs typeface="Times New Roman" panose="02020603050405020304" pitchFamily="18" charset="0"/>
              </a:rPr>
              <a:t>switch(t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kind)</a:t>
            </a:r>
            <a:endParaRPr lang="en-US" altLang="zh-CN" sz="2000" b="1" dirty="0">
              <a:solidFill>
                <a:srgbClr val="03010F"/>
              </a:solidFill>
              <a:ea typeface="+mn-ea"/>
              <a:cs typeface="Times New Roman" panose="02020603050405020304" pitchFamily="18" charset="0"/>
            </a:endParaRPr>
          </a:p>
          <a:p>
            <a:pPr>
              <a:lnSpc>
                <a:spcPct val="100000"/>
              </a:lnSpc>
            </a:pPr>
            <a:r>
              <a:rPr lang="en-US" altLang="zh-CN" sz="2000" b="1" dirty="0">
                <a:solidFill>
                  <a:srgbClr val="03010F"/>
                </a:solidFill>
                <a:ea typeface="+mn-ea"/>
                <a:cs typeface="Times New Roman" panose="02020603050405020304" pitchFamily="18" charset="0"/>
              </a:rPr>
              <a:t>   {case </a:t>
            </a:r>
            <a:r>
              <a:rPr lang="en-US" altLang="zh-CN" sz="2000" b="1" dirty="0" err="1">
                <a:solidFill>
                  <a:srgbClr val="03010F"/>
                </a:solidFill>
                <a:ea typeface="+mn-ea"/>
                <a:cs typeface="Times New Roman" panose="02020603050405020304" pitchFamily="18" charset="0"/>
              </a:rPr>
              <a:t>OpKind</a:t>
            </a:r>
            <a:r>
              <a:rPr lang="en-US" altLang="zh-CN" sz="2000" b="1" dirty="0">
                <a:solidFill>
                  <a:srgbClr val="03010F"/>
                </a:solidFill>
                <a:ea typeface="+mn-ea"/>
                <a:cs typeface="Times New Roman" panose="02020603050405020304" pitchFamily="18" charset="0"/>
              </a:rPr>
              <a:t>:</a:t>
            </a:r>
            <a:endParaRPr lang="en-US" altLang="zh-CN" sz="2000" b="1" dirty="0">
              <a:solidFill>
                <a:srgbClr val="03010F"/>
              </a:solidFill>
              <a:ea typeface="+mn-ea"/>
              <a:cs typeface="Times New Roman" panose="02020603050405020304" pitchFamily="18" charset="0"/>
            </a:endParaRPr>
          </a:p>
          <a:p>
            <a:pPr>
              <a:lnSpc>
                <a:spcPct val="100000"/>
              </a:lnSpc>
            </a:pPr>
            <a:r>
              <a:rPr lang="en-US" altLang="zh-CN" sz="2000" b="1" dirty="0">
                <a:solidFill>
                  <a:srgbClr val="03010F"/>
                </a:solidFill>
                <a:ea typeface="+mn-ea"/>
                <a:cs typeface="Times New Roman" panose="02020603050405020304" pitchFamily="18" charset="0"/>
              </a:rPr>
              <a:t>      switch(t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op)</a:t>
            </a:r>
            <a:endParaRPr lang="en-US" altLang="zh-CN" sz="2000" b="1" dirty="0">
              <a:solidFill>
                <a:srgbClr val="03010F"/>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{case Plus:</a:t>
            </a:r>
            <a:endParaRPr lang="en-US" altLang="zh-CN" sz="2000" b="1" dirty="0">
              <a:solidFill>
                <a:srgbClr val="03010F"/>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a:t>
            </a:r>
            <a:r>
              <a:rPr lang="en-US" altLang="zh-CN" sz="2000" b="1" dirty="0" err="1">
                <a:solidFill>
                  <a:srgbClr val="FF3399"/>
                </a:solidFill>
                <a:ea typeface="+mn-ea"/>
                <a:cs typeface="Times New Roman" panose="02020603050405020304" pitchFamily="18" charset="0"/>
              </a:rPr>
              <a:t>genCode</a:t>
            </a:r>
            <a:r>
              <a:rPr lang="en-US" altLang="zh-CN" sz="2000" b="1" dirty="0">
                <a:solidFill>
                  <a:srgbClr val="FF3399"/>
                </a:solidFill>
                <a:ea typeface="+mn-ea"/>
                <a:cs typeface="Times New Roman" panose="02020603050405020304" pitchFamily="18" charset="0"/>
              </a:rPr>
              <a:t>(t </a:t>
            </a:r>
            <a:r>
              <a:rPr lang="en-US" altLang="zh-CN" sz="2000" b="1" dirty="0">
                <a:solidFill>
                  <a:srgbClr val="FF3399"/>
                </a:solidFill>
                <a:ea typeface="+mn-ea"/>
                <a:cs typeface="Times New Roman" panose="02020603050405020304" pitchFamily="18" charset="0"/>
                <a:sym typeface="Symbol" panose="05050102010706020507" pitchFamily="18" charset="2"/>
              </a:rPr>
              <a:t></a:t>
            </a:r>
            <a:r>
              <a:rPr lang="en-US" altLang="zh-CN" sz="2000" b="1" dirty="0">
                <a:solidFill>
                  <a:srgbClr val="FF3399"/>
                </a:solidFill>
                <a:ea typeface="+mn-ea"/>
                <a:cs typeface="Times New Roman" panose="02020603050405020304" pitchFamily="18" charset="0"/>
              </a:rPr>
              <a:t> </a:t>
            </a:r>
            <a:r>
              <a:rPr lang="en-US" altLang="zh-CN" sz="2000" b="1" dirty="0" err="1">
                <a:solidFill>
                  <a:srgbClr val="FF3399"/>
                </a:solidFill>
                <a:ea typeface="+mn-ea"/>
                <a:cs typeface="Times New Roman" panose="02020603050405020304" pitchFamily="18" charset="0"/>
              </a:rPr>
              <a:t>lchild</a:t>
            </a:r>
            <a:r>
              <a:rPr lang="en-US" altLang="zh-CN" sz="2000" b="1" dirty="0">
                <a:solidFill>
                  <a:srgbClr val="FF3399"/>
                </a:solidFill>
                <a:ea typeface="+mn-ea"/>
                <a:cs typeface="Times New Roman" panose="02020603050405020304" pitchFamily="18" charset="0"/>
              </a:rPr>
              <a:t>);</a:t>
            </a:r>
            <a:endParaRPr lang="en-US" altLang="zh-CN" sz="2000" b="1" dirty="0">
              <a:solidFill>
                <a:srgbClr val="FF3399"/>
              </a:solidFill>
              <a:ea typeface="+mn-ea"/>
              <a:cs typeface="Times New Roman" panose="02020603050405020304" pitchFamily="18" charset="0"/>
            </a:endParaRPr>
          </a:p>
          <a:p>
            <a:pPr lvl="1">
              <a:lnSpc>
                <a:spcPct val="100000"/>
              </a:lnSpc>
            </a:pPr>
            <a:r>
              <a:rPr lang="en-US" altLang="zh-CN" sz="2000" b="1" dirty="0">
                <a:solidFill>
                  <a:srgbClr val="FF3399"/>
                </a:solidFill>
                <a:ea typeface="+mn-ea"/>
                <a:cs typeface="Times New Roman" panose="02020603050405020304" pitchFamily="18" charset="0"/>
              </a:rPr>
              <a:t>     </a:t>
            </a:r>
            <a:r>
              <a:rPr lang="en-US" altLang="zh-CN" sz="2000" b="1" dirty="0" err="1">
                <a:solidFill>
                  <a:srgbClr val="FF3399"/>
                </a:solidFill>
                <a:ea typeface="+mn-ea"/>
                <a:cs typeface="Times New Roman" panose="02020603050405020304" pitchFamily="18" charset="0"/>
              </a:rPr>
              <a:t>genCode</a:t>
            </a:r>
            <a:r>
              <a:rPr lang="en-US" altLang="zh-CN" sz="2000" b="1" dirty="0">
                <a:solidFill>
                  <a:srgbClr val="FF3399"/>
                </a:solidFill>
                <a:ea typeface="+mn-ea"/>
                <a:cs typeface="Times New Roman" panose="02020603050405020304" pitchFamily="18" charset="0"/>
              </a:rPr>
              <a:t>(t </a:t>
            </a:r>
            <a:r>
              <a:rPr lang="en-US" altLang="zh-CN" sz="2000" b="1" dirty="0">
                <a:solidFill>
                  <a:srgbClr val="FF3399"/>
                </a:solidFill>
                <a:ea typeface="+mn-ea"/>
                <a:cs typeface="Times New Roman" panose="02020603050405020304" pitchFamily="18" charset="0"/>
                <a:sym typeface="Symbol" panose="05050102010706020507" pitchFamily="18" charset="2"/>
              </a:rPr>
              <a:t></a:t>
            </a:r>
            <a:r>
              <a:rPr lang="en-US" altLang="zh-CN" sz="2000" b="1" dirty="0">
                <a:solidFill>
                  <a:srgbClr val="FF3399"/>
                </a:solidFill>
                <a:ea typeface="+mn-ea"/>
                <a:cs typeface="Times New Roman" panose="02020603050405020304" pitchFamily="18" charset="0"/>
              </a:rPr>
              <a:t> </a:t>
            </a:r>
            <a:r>
              <a:rPr lang="en-US" altLang="zh-CN" sz="2000" b="1" dirty="0" err="1">
                <a:solidFill>
                  <a:srgbClr val="FF3399"/>
                </a:solidFill>
                <a:ea typeface="+mn-ea"/>
                <a:cs typeface="Times New Roman" panose="02020603050405020304" pitchFamily="18" charset="0"/>
              </a:rPr>
              <a:t>rchild</a:t>
            </a:r>
            <a:r>
              <a:rPr lang="en-US" altLang="zh-CN" sz="2000" b="1" dirty="0">
                <a:solidFill>
                  <a:srgbClr val="FF3399"/>
                </a:solidFill>
                <a:ea typeface="+mn-ea"/>
                <a:cs typeface="Times New Roman" panose="02020603050405020304" pitchFamily="18" charset="0"/>
              </a:rPr>
              <a:t>);</a:t>
            </a:r>
            <a:endParaRPr lang="en-US" altLang="zh-CN" sz="2000" b="1" dirty="0">
              <a:solidFill>
                <a:srgbClr val="FF3399"/>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temp=</a:t>
            </a:r>
            <a:r>
              <a:rPr lang="en-US" altLang="zh-CN" sz="2000" b="1" dirty="0" err="1">
                <a:solidFill>
                  <a:srgbClr val="03010F"/>
                </a:solidFill>
                <a:ea typeface="+mn-ea"/>
                <a:cs typeface="Times New Roman" panose="02020603050405020304" pitchFamily="18" charset="0"/>
              </a:rPr>
              <a:t>newtemp</a:t>
            </a:r>
            <a:r>
              <a:rPr lang="en-US" altLang="zh-CN" sz="2000" b="1" dirty="0">
                <a:solidFill>
                  <a:srgbClr val="03010F"/>
                </a:solidFill>
                <a:ea typeface="+mn-ea"/>
                <a:cs typeface="Times New Roman" panose="02020603050405020304" pitchFamily="18" charset="0"/>
              </a:rPr>
              <a:t>();</a:t>
            </a:r>
            <a:endParaRPr lang="en-US" altLang="zh-CN" sz="2000" b="1" dirty="0">
              <a:solidFill>
                <a:srgbClr val="03010F"/>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a:t>
            </a:r>
            <a:r>
              <a:rPr lang="en-US" altLang="zh-CN" sz="2000" b="1" dirty="0">
                <a:solidFill>
                  <a:schemeClr val="hlink"/>
                </a:solidFill>
                <a:ea typeface="+mn-ea"/>
                <a:cs typeface="Times New Roman" panose="02020603050405020304" pitchFamily="18" charset="0"/>
              </a:rPr>
              <a:t>emit</a:t>
            </a:r>
            <a:r>
              <a:rPr lang="en-US" altLang="zh-CN" sz="2000" b="1" dirty="0">
                <a:solidFill>
                  <a:srgbClr val="03010F"/>
                </a:solidFill>
                <a:ea typeface="+mn-ea"/>
                <a:cs typeface="Times New Roman" panose="02020603050405020304" pitchFamily="18" charset="0"/>
              </a:rPr>
              <a:t>(temp’=’ 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a:t>
            </a:r>
            <a:r>
              <a:rPr lang="en-US" altLang="zh-CN" sz="2000" b="1" dirty="0" err="1">
                <a:solidFill>
                  <a:srgbClr val="03010F"/>
                </a:solidFill>
                <a:ea typeface="+mn-ea"/>
                <a:cs typeface="Times New Roman" panose="02020603050405020304" pitchFamily="18" charset="0"/>
              </a:rPr>
              <a:t>lchild</a:t>
            </a:r>
            <a:r>
              <a:rPr lang="en-US" altLang="zh-CN" sz="2000" b="1" dirty="0">
                <a:solidFill>
                  <a:srgbClr val="03010F"/>
                </a:solidFill>
                <a:ea typeface="+mn-ea"/>
                <a:cs typeface="Times New Roman" panose="02020603050405020304" pitchFamily="18" charset="0"/>
              </a:rPr>
              <a: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a:t>
            </a:r>
            <a:r>
              <a:rPr lang="en-US" altLang="zh-CN" sz="2000" b="1" dirty="0" err="1">
                <a:solidFill>
                  <a:srgbClr val="03010F"/>
                </a:solidFill>
                <a:ea typeface="+mn-ea"/>
                <a:cs typeface="Times New Roman" panose="02020603050405020304" pitchFamily="18" charset="0"/>
              </a:rPr>
              <a:t>strval</a:t>
            </a:r>
            <a:endParaRPr lang="en-US" altLang="zh-CN" sz="2000" b="1" dirty="0">
              <a:solidFill>
                <a:srgbClr val="03010F"/>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a:t>
            </a:r>
            <a:r>
              <a:rPr lang="en-US" altLang="zh-CN" sz="2000" b="1" dirty="0" err="1">
                <a:solidFill>
                  <a:srgbClr val="03010F"/>
                </a:solidFill>
                <a:ea typeface="+mn-ea"/>
                <a:cs typeface="Times New Roman" panose="02020603050405020304" pitchFamily="18" charset="0"/>
              </a:rPr>
              <a:t>rchild</a:t>
            </a:r>
            <a:r>
              <a:rPr lang="en-US" altLang="zh-CN" sz="2000" b="1" dirty="0">
                <a:solidFill>
                  <a:srgbClr val="03010F"/>
                </a:solidFill>
                <a:ea typeface="+mn-ea"/>
                <a:cs typeface="Times New Roman" panose="02020603050405020304" pitchFamily="18" charset="0"/>
              </a:rPr>
              <a: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a:t>
            </a:r>
            <a:r>
              <a:rPr lang="en-US" altLang="zh-CN" sz="2000" b="1" dirty="0" err="1">
                <a:solidFill>
                  <a:srgbClr val="03010F"/>
                </a:solidFill>
                <a:ea typeface="+mn-ea"/>
                <a:cs typeface="Times New Roman" panose="02020603050405020304" pitchFamily="18" charset="0"/>
              </a:rPr>
              <a:t>strval</a:t>
            </a:r>
            <a:r>
              <a:rPr lang="en-US" altLang="zh-CN" sz="2000" b="1" dirty="0">
                <a:solidFill>
                  <a:srgbClr val="03010F"/>
                </a:solidFill>
                <a:ea typeface="+mn-ea"/>
                <a:cs typeface="Times New Roman" panose="02020603050405020304" pitchFamily="18" charset="0"/>
              </a:rPr>
              <a:t>)</a:t>
            </a:r>
            <a:endParaRPr lang="en-US" altLang="zh-CN" sz="2000" b="1" dirty="0">
              <a:solidFill>
                <a:srgbClr val="03010F"/>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t </a:t>
            </a:r>
            <a:r>
              <a:rPr lang="en-US" altLang="zh-CN" sz="2000" b="1" dirty="0">
                <a:solidFill>
                  <a:srgbClr val="03010F"/>
                </a:solidFill>
                <a:ea typeface="+mn-ea"/>
                <a:cs typeface="Times New Roman" panose="02020603050405020304" pitchFamily="18" charset="0"/>
                <a:sym typeface="Symbol" panose="05050102010706020507" pitchFamily="18" charset="2"/>
              </a:rPr>
              <a:t></a:t>
            </a:r>
            <a:r>
              <a:rPr lang="en-US" altLang="zh-CN" sz="2000" b="1" dirty="0">
                <a:solidFill>
                  <a:srgbClr val="03010F"/>
                </a:solidFill>
                <a:ea typeface="+mn-ea"/>
                <a:cs typeface="Times New Roman" panose="02020603050405020304" pitchFamily="18" charset="0"/>
              </a:rPr>
              <a:t> </a:t>
            </a:r>
            <a:r>
              <a:rPr lang="en-US" altLang="zh-CN" sz="2000" b="1" dirty="0" err="1">
                <a:solidFill>
                  <a:srgbClr val="03010F"/>
                </a:solidFill>
                <a:ea typeface="+mn-ea"/>
                <a:cs typeface="Times New Roman" panose="02020603050405020304" pitchFamily="18" charset="0"/>
              </a:rPr>
              <a:t>strval</a:t>
            </a:r>
            <a:r>
              <a:rPr lang="en-US" altLang="zh-CN" sz="2000" b="1" dirty="0">
                <a:solidFill>
                  <a:srgbClr val="03010F"/>
                </a:solidFill>
                <a:ea typeface="+mn-ea"/>
                <a:cs typeface="Times New Roman" panose="02020603050405020304" pitchFamily="18" charset="0"/>
              </a:rPr>
              <a:t>=temp;</a:t>
            </a:r>
            <a:endParaRPr lang="en-US" altLang="zh-CN" sz="2000" b="1" dirty="0">
              <a:solidFill>
                <a:srgbClr val="03010F"/>
              </a:solidFill>
              <a:ea typeface="+mn-ea"/>
              <a:cs typeface="Times New Roman" panose="02020603050405020304" pitchFamily="18" charset="0"/>
            </a:endParaRPr>
          </a:p>
          <a:p>
            <a:pPr lvl="1">
              <a:lnSpc>
                <a:spcPct val="100000"/>
              </a:lnSpc>
            </a:pPr>
            <a:r>
              <a:rPr lang="en-US" altLang="zh-CN" sz="2000" b="1" dirty="0">
                <a:solidFill>
                  <a:srgbClr val="03010F"/>
                </a:solidFill>
                <a:ea typeface="+mn-ea"/>
                <a:cs typeface="Times New Roman" panose="02020603050405020304" pitchFamily="18" charset="0"/>
              </a:rPr>
              <a:t>      break;   </a:t>
            </a:r>
            <a:endParaRPr lang="en-US" altLang="zh-CN" sz="2000" b="1" dirty="0">
              <a:solidFill>
                <a:srgbClr val="03010F"/>
              </a:solidFill>
              <a:ea typeface="+mn-ea"/>
              <a:cs typeface="Times New Roman" panose="02020603050405020304" pitchFamily="18" charset="0"/>
            </a:endParaRPr>
          </a:p>
        </p:txBody>
      </p:sp>
      <p:sp>
        <p:nvSpPr>
          <p:cNvPr id="5" name="Rectangle 3"/>
          <p:cNvSpPr>
            <a:spLocks noChangeArrowheads="1"/>
          </p:cNvSpPr>
          <p:nvPr/>
        </p:nvSpPr>
        <p:spPr bwMode="auto">
          <a:xfrm>
            <a:off x="359410" y="1070610"/>
            <a:ext cx="5685155" cy="100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a:lnSpc>
                <a:spcPct val="125000"/>
              </a:lnSpc>
              <a:spcBef>
                <a:spcPts val="0"/>
              </a:spcBef>
              <a:spcAft>
                <a:spcPts val="0"/>
              </a:spcAft>
            </a:pPr>
            <a:r>
              <a:rPr lang="zh-CN" altLang="en-US" sz="2000" b="1" dirty="0">
                <a:solidFill>
                  <a:srgbClr val="0070C0"/>
                </a:solidFill>
                <a:latin typeface="+mn-ea"/>
              </a:rPr>
              <a:t>算术表达式的三地址码生成，其中</a:t>
            </a:r>
            <a:r>
              <a:rPr lang="zh-CN" altLang="en-US" sz="2000" b="1" dirty="0">
                <a:latin typeface="+mn-ea"/>
                <a:sym typeface="+mn-ea"/>
              </a:rPr>
              <a:t>函数</a:t>
            </a:r>
            <a:r>
              <a:rPr lang="en-US" altLang="zh-CN" sz="2000" b="1" dirty="0">
                <a:latin typeface="+mn-ea"/>
                <a:sym typeface="+mn-ea"/>
              </a:rPr>
              <a:t>emit()</a:t>
            </a:r>
            <a:r>
              <a:rPr lang="zh-CN" altLang="en-US" sz="2000" b="1" dirty="0">
                <a:latin typeface="+mn-ea"/>
                <a:sym typeface="+mn-ea"/>
              </a:rPr>
              <a:t> 将三地址语句输出到文件中；函数</a:t>
            </a:r>
            <a:r>
              <a:rPr lang="en-US" altLang="zh-CN" sz="2000" b="1" dirty="0" err="1">
                <a:latin typeface="+mn-ea"/>
                <a:sym typeface="+mn-ea"/>
              </a:rPr>
              <a:t>Newtemp</a:t>
            </a:r>
            <a:r>
              <a:rPr lang="en-US" altLang="zh-CN" sz="2000" b="1" dirty="0">
                <a:latin typeface="+mn-ea"/>
                <a:sym typeface="+mn-ea"/>
              </a:rPr>
              <a:t>()</a:t>
            </a:r>
            <a:r>
              <a:rPr lang="zh-CN" altLang="en-US" sz="2000" b="1" dirty="0">
                <a:latin typeface="+mn-ea"/>
                <a:sym typeface="+mn-ea"/>
              </a:rPr>
              <a:t>产生临时名字</a:t>
            </a:r>
            <a:r>
              <a:rPr lang="en-US" altLang="zh-CN" sz="2000" b="1" dirty="0">
                <a:latin typeface="+mn-ea"/>
                <a:sym typeface="+mn-ea"/>
              </a:rPr>
              <a:t>t1</a:t>
            </a:r>
            <a:r>
              <a:rPr lang="zh-CN" altLang="en-US" sz="2000" b="1" dirty="0">
                <a:latin typeface="+mn-ea"/>
                <a:sym typeface="+mn-ea"/>
              </a:rPr>
              <a:t>，</a:t>
            </a:r>
            <a:r>
              <a:rPr lang="en-US" altLang="zh-CN" sz="2000" b="1" dirty="0">
                <a:latin typeface="+mn-ea"/>
                <a:sym typeface="+mn-ea"/>
              </a:rPr>
              <a:t>t2</a:t>
            </a:r>
            <a:r>
              <a:rPr lang="zh-CN" altLang="en-US" sz="2000" b="1" dirty="0">
                <a:latin typeface="+mn-ea"/>
                <a:sym typeface="+mn-ea"/>
              </a:rPr>
              <a:t>，</a:t>
            </a:r>
            <a:r>
              <a:rPr lang="en-US" altLang="zh-CN" sz="2000" b="1" dirty="0">
                <a:latin typeface="+mn-ea"/>
                <a:sym typeface="+mn-ea"/>
              </a:rPr>
              <a:t>t3，…</a:t>
            </a:r>
            <a:endParaRPr lang="en-US" altLang="zh-CN" sz="2000" b="1" dirty="0">
              <a:solidFill>
                <a:srgbClr val="0070C0"/>
              </a:solidFill>
              <a:latin typeface="+mn-ea"/>
              <a:sym typeface="+mn-ea"/>
            </a:endParaRPr>
          </a:p>
        </p:txBody>
      </p:sp>
      <p:sp>
        <p:nvSpPr>
          <p:cNvPr id="3" name="矩形 2"/>
          <p:cNvSpPr/>
          <p:nvPr>
            <p:custDataLst>
              <p:tags r:id="rId1"/>
            </p:custDataLst>
          </p:nvPr>
        </p:nvSpPr>
        <p:spPr>
          <a:xfrm>
            <a:off x="648335" y="4144010"/>
            <a:ext cx="4884420" cy="189484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2"/>
            </p:custDataLst>
          </p:nvPr>
        </p:nvSpPr>
        <p:spPr>
          <a:xfrm>
            <a:off x="5869940" y="1140460"/>
            <a:ext cx="5743575" cy="50679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2"/>
          <p:cNvSpPr>
            <a:spLocks noChangeArrowheads="1"/>
          </p:cNvSpPr>
          <p:nvPr>
            <p:custDataLst>
              <p:tags r:id="rId3"/>
            </p:custDataLst>
          </p:nvPr>
        </p:nvSpPr>
        <p:spPr bwMode="auto">
          <a:xfrm>
            <a:off x="5822950" y="1070610"/>
            <a:ext cx="5732145" cy="520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lvl="1" indent="0" fontAlgn="auto">
              <a:lnSpc>
                <a:spcPct val="100000"/>
              </a:lnSpc>
            </a:pPr>
            <a:r>
              <a:rPr lang="en-US" altLang="zh-CN" sz="2000" b="1" dirty="0">
                <a:solidFill>
                  <a:srgbClr val="03010F"/>
                </a:solidFill>
                <a:cs typeface="Times New Roman" panose="02020603050405020304" pitchFamily="18" charset="0"/>
              </a:rPr>
              <a:t>case Assign:</a:t>
            </a:r>
            <a:endParaRPr lang="en-US" altLang="zh-CN" sz="2000" b="1" dirty="0">
              <a:solidFill>
                <a:srgbClr val="03010F"/>
              </a:solidFill>
              <a:cs typeface="Times New Roman" panose="02020603050405020304" pitchFamily="18" charset="0"/>
            </a:endParaRPr>
          </a:p>
          <a:p>
            <a:pPr lvl="1" indent="0" fontAlgn="auto">
              <a:lnSpc>
                <a:spcPct val="100000"/>
              </a:lnSpc>
            </a:pPr>
            <a:r>
              <a:rPr lang="en-US" altLang="zh-CN" sz="2000" b="1" dirty="0">
                <a:solidFill>
                  <a:srgbClr val="03010F"/>
                </a:solidFill>
                <a:cs typeface="Times New Roman" panose="02020603050405020304" pitchFamily="18" charset="0"/>
              </a:rPr>
              <a:t>      </a:t>
            </a:r>
            <a:r>
              <a:rPr lang="en-US" altLang="zh-CN" sz="2000" b="1" dirty="0" err="1">
                <a:solidFill>
                  <a:srgbClr val="FF3399"/>
                </a:solidFill>
                <a:cs typeface="Times New Roman" panose="02020603050405020304" pitchFamily="18" charset="0"/>
              </a:rPr>
              <a:t>genCode</a:t>
            </a:r>
            <a:r>
              <a:rPr lang="en-US" altLang="zh-CN" sz="2000" b="1" dirty="0">
                <a:solidFill>
                  <a:srgbClr val="FF3399"/>
                </a:solidFill>
                <a:cs typeface="Times New Roman" panose="02020603050405020304" pitchFamily="18" charset="0"/>
              </a:rPr>
              <a:t>(t </a:t>
            </a:r>
            <a:r>
              <a:rPr lang="en-US" altLang="zh-CN" sz="2000" b="1" dirty="0">
                <a:solidFill>
                  <a:srgbClr val="FF3399"/>
                </a:solidFill>
                <a:cs typeface="Times New Roman" panose="02020603050405020304" pitchFamily="18" charset="0"/>
                <a:sym typeface="Symbol" panose="05050102010706020507" pitchFamily="18" charset="2"/>
              </a:rPr>
              <a:t></a:t>
            </a:r>
            <a:r>
              <a:rPr lang="en-US" altLang="zh-CN" sz="2000" b="1" dirty="0">
                <a:solidFill>
                  <a:srgbClr val="FF3399"/>
                </a:solidFill>
                <a:cs typeface="Times New Roman" panose="02020603050405020304" pitchFamily="18" charset="0"/>
              </a:rPr>
              <a:t> </a:t>
            </a:r>
            <a:r>
              <a:rPr lang="en-US" altLang="zh-CN" sz="2000" b="1" dirty="0" err="1">
                <a:solidFill>
                  <a:srgbClr val="FF3399"/>
                </a:solidFill>
                <a:cs typeface="Times New Roman" panose="02020603050405020304" pitchFamily="18" charset="0"/>
              </a:rPr>
              <a:t>lchild</a:t>
            </a:r>
            <a:r>
              <a:rPr lang="en-US" altLang="zh-CN" sz="2000" b="1" dirty="0">
                <a:solidFill>
                  <a:srgbClr val="FF3399"/>
                </a:solidFill>
                <a:cs typeface="Times New Roman" panose="02020603050405020304" pitchFamily="18" charset="0"/>
              </a:rPr>
              <a:t>);</a:t>
            </a:r>
            <a:endParaRPr lang="en-US" altLang="zh-CN" sz="2000" b="1" dirty="0">
              <a:solidFill>
                <a:srgbClr val="FF3399"/>
              </a:solidFill>
              <a:cs typeface="Times New Roman" panose="02020603050405020304" pitchFamily="18" charset="0"/>
            </a:endParaRPr>
          </a:p>
          <a:p>
            <a:pPr lvl="1" indent="0" fontAlgn="auto">
              <a:lnSpc>
                <a:spcPct val="100000"/>
              </a:lnSpc>
            </a:pPr>
            <a:r>
              <a:rPr lang="en-US" altLang="zh-CN" sz="2000" b="1" dirty="0">
                <a:solidFill>
                  <a:srgbClr val="03010F"/>
                </a:solidFill>
                <a:cs typeface="Times New Roman" panose="02020603050405020304" pitchFamily="18" charset="0"/>
              </a:rPr>
              <a:t>      </a:t>
            </a: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lchild</a:t>
            </a:r>
            <a:r>
              <a:rPr lang="en-US" altLang="zh-CN"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indent="0" fontAlgn="auto">
              <a:lnSpc>
                <a:spcPct val="100000"/>
              </a:lnSpc>
            </a:pPr>
            <a:r>
              <a:rPr lang="en-US" altLang="zh-CN" sz="2000" b="1" dirty="0">
                <a:solidFill>
                  <a:srgbClr val="03010F"/>
                </a:solidFill>
                <a:cs typeface="Times New Roman" panose="02020603050405020304" pitchFamily="18" charset="0"/>
              </a:rPr>
              <a:t>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lchild</a:t>
            </a:r>
            <a:r>
              <a:rPr lang="en-US" altLang="zh-CN"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a:t>
            </a:r>
            <a:endParaRPr lang="en-US" altLang="zh-CN" sz="2000" b="1" dirty="0">
              <a:solidFill>
                <a:srgbClr val="03010F"/>
              </a:solidFill>
              <a:cs typeface="Times New Roman" panose="02020603050405020304" pitchFamily="18" charset="0"/>
            </a:endParaRPr>
          </a:p>
          <a:p>
            <a:pPr lvl="1" indent="0" fontAlgn="auto">
              <a:lnSpc>
                <a:spcPct val="100000"/>
              </a:lnSpc>
            </a:pPr>
            <a:r>
              <a:rPr lang="en-US" altLang="zh-CN" sz="2000" b="1" dirty="0">
                <a:solidFill>
                  <a:srgbClr val="03010F"/>
                </a:solidFill>
                <a:cs typeface="Times New Roman" panose="02020603050405020304" pitchFamily="18" charset="0"/>
              </a:rPr>
              <a:t>      break;</a:t>
            </a:r>
            <a:endParaRPr lang="en-US" altLang="zh-CN" sz="2000" b="1" dirty="0">
              <a:solidFill>
                <a:srgbClr val="03010F"/>
              </a:solidFill>
              <a:cs typeface="Times New Roman" panose="02020603050405020304" pitchFamily="18" charset="0"/>
            </a:endParaRPr>
          </a:p>
          <a:p>
            <a:pPr lvl="1" indent="0" fontAlgn="auto">
              <a:lnSpc>
                <a:spcPct val="100000"/>
              </a:lnSpc>
            </a:pPr>
            <a:r>
              <a:rPr lang="en-US" altLang="zh-CN" sz="2000" b="1" dirty="0">
                <a:solidFill>
                  <a:srgbClr val="03010F"/>
                </a:solidFill>
                <a:cs typeface="Times New Roman" panose="02020603050405020304" pitchFamily="18" charset="0"/>
              </a:rPr>
              <a:t> default:</a:t>
            </a:r>
            <a:endParaRPr lang="en-US" altLang="zh-CN" sz="2000" b="1" dirty="0">
              <a:solidFill>
                <a:srgbClr val="03010F"/>
              </a:solidFill>
              <a:cs typeface="Times New Roman" panose="02020603050405020304" pitchFamily="18" charset="0"/>
            </a:endParaRPr>
          </a:p>
          <a:p>
            <a:pPr indent="0" fontAlgn="auto">
              <a:lnSpc>
                <a:spcPct val="100000"/>
              </a:lnSpc>
            </a:pPr>
            <a:r>
              <a:rPr lang="en-US" altLang="zh-CN" sz="2000" b="1" dirty="0">
                <a:solidFill>
                  <a:srgbClr val="03010F"/>
                </a:solidFill>
                <a:cs typeface="Times New Roman" panose="02020603050405020304" pitchFamily="18" charset="0"/>
              </a:rPr>
              <a:t>          emit(“error”);</a:t>
            </a:r>
            <a:endParaRPr lang="en-US" altLang="zh-CN" sz="2000" b="1" dirty="0">
              <a:solidFill>
                <a:srgbClr val="03010F"/>
              </a:solidFill>
              <a:cs typeface="Times New Roman" panose="02020603050405020304" pitchFamily="18" charset="0"/>
            </a:endParaRPr>
          </a:p>
          <a:p>
            <a:pPr indent="0" fontAlgn="auto">
              <a:lnSpc>
                <a:spcPct val="100000"/>
              </a:lnSpc>
            </a:pPr>
            <a:r>
              <a:rPr lang="en-US" altLang="zh-CN" sz="2000" b="1" dirty="0">
                <a:solidFill>
                  <a:srgbClr val="03010F"/>
                </a:solidFill>
                <a:cs typeface="Times New Roman" panose="02020603050405020304" pitchFamily="18" charset="0"/>
              </a:rPr>
              <a:t>          break;</a:t>
            </a:r>
            <a:endParaRPr lang="en-US" altLang="zh-CN" sz="2000" b="1" dirty="0">
              <a:solidFill>
                <a:srgbClr val="03010F"/>
              </a:solidFill>
              <a:cs typeface="Times New Roman" panose="02020603050405020304" pitchFamily="18" charset="0"/>
            </a:endParaRPr>
          </a:p>
          <a:p>
            <a:pPr indent="0" fontAlgn="auto">
              <a:lnSpc>
                <a:spcPct val="100000"/>
              </a:lnSpc>
            </a:pPr>
            <a:r>
              <a:rPr lang="en-US" altLang="zh-CN" sz="1800" b="1" dirty="0">
                <a:solidFill>
                  <a:srgbClr val="03010F"/>
                </a:solidFill>
                <a:cs typeface="Times New Roman" panose="02020603050405020304" pitchFamily="18" charset="0"/>
              </a:rPr>
              <a:t>    } </a:t>
            </a:r>
            <a:endParaRPr lang="en-US" altLang="zh-CN" sz="18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break;</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case </a:t>
            </a:r>
            <a:r>
              <a:rPr lang="en-US" altLang="zh-CN" sz="1400" b="1" dirty="0" err="1">
                <a:solidFill>
                  <a:srgbClr val="03010F"/>
                </a:solidFill>
                <a:cs typeface="Times New Roman" panose="02020603050405020304" pitchFamily="18" charset="0"/>
                <a:sym typeface="+mn-ea"/>
              </a:rPr>
              <a:t>ConstKind</a:t>
            </a:r>
            <a:r>
              <a:rPr lang="en-US" altLang="zh-CN" sz="1400" b="1" dirty="0">
                <a:solidFill>
                  <a:srgbClr val="03010F"/>
                </a:solidFill>
                <a:cs typeface="Times New Roman" panose="02020603050405020304" pitchFamily="18" charset="0"/>
                <a:sym typeface="+mn-ea"/>
              </a:rPr>
              <a:t>:</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break;</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case </a:t>
            </a:r>
            <a:r>
              <a:rPr lang="en-US" altLang="zh-CN" sz="1400" b="1" dirty="0" err="1">
                <a:solidFill>
                  <a:srgbClr val="03010F"/>
                </a:solidFill>
                <a:cs typeface="Times New Roman" panose="02020603050405020304" pitchFamily="18" charset="0"/>
                <a:sym typeface="+mn-ea"/>
              </a:rPr>
              <a:t>IdKind</a:t>
            </a:r>
            <a:r>
              <a:rPr lang="en-US" altLang="zh-CN" sz="1400" b="1" dirty="0">
                <a:solidFill>
                  <a:srgbClr val="03010F"/>
                </a:solidFill>
                <a:cs typeface="Times New Roman" panose="02020603050405020304" pitchFamily="18" charset="0"/>
                <a:sym typeface="+mn-ea"/>
              </a:rPr>
              <a:t>:</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break;</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default:</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emit(“error”);</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break;</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a:t>
            </a:r>
            <a:endParaRPr lang="en-US" altLang="zh-CN" sz="1400" b="1" dirty="0">
              <a:solidFill>
                <a:srgbClr val="03010F"/>
              </a:solidFill>
              <a:cs typeface="Times New Roman" panose="02020603050405020304" pitchFamily="18" charset="0"/>
            </a:endParaRPr>
          </a:p>
          <a:p>
            <a:pPr indent="0" fontAlgn="auto">
              <a:lnSpc>
                <a:spcPct val="100000"/>
              </a:lnSpc>
            </a:pPr>
            <a:r>
              <a:rPr lang="en-US" altLang="zh-CN" sz="1400" b="1" dirty="0">
                <a:solidFill>
                  <a:srgbClr val="03010F"/>
                </a:solidFill>
                <a:cs typeface="Times New Roman" panose="02020603050405020304" pitchFamily="18" charset="0"/>
                <a:sym typeface="+mn-ea"/>
              </a:rPr>
              <a:t>} </a:t>
            </a:r>
            <a:endParaRPr lang="en-US" altLang="zh-CN" sz="1400" b="1" dirty="0">
              <a:solidFill>
                <a:srgbClr val="03010F"/>
              </a:solidFill>
              <a:cs typeface="Times New Roman" panose="02020603050405020304" pitchFamily="18" charset="0"/>
              <a:sym typeface="+mn-ea"/>
            </a:endParaRPr>
          </a:p>
        </p:txBody>
      </p:sp>
      <p:sp>
        <p:nvSpPr>
          <p:cNvPr id="11" name="矩形 10"/>
          <p:cNvSpPr/>
          <p:nvPr>
            <p:custDataLst>
              <p:tags r:id="rId4"/>
            </p:custDataLst>
          </p:nvPr>
        </p:nvSpPr>
        <p:spPr>
          <a:xfrm>
            <a:off x="6044565" y="1481455"/>
            <a:ext cx="5568950" cy="150495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Horizontal)">
                                      <p:cBhvr>
                                        <p:cTn id="10" dur="500"/>
                                        <p:tgtEl>
                                          <p:spTgt spid="4">
                                            <p:txEl>
                                              <p:pRg st="1" end="1"/>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Horizontal)">
                                      <p:cBhvr>
                                        <p:cTn id="13" dur="500"/>
                                        <p:tgtEl>
                                          <p:spTgt spid="4">
                                            <p:txEl>
                                              <p:pRg st="2" end="2"/>
                                            </p:txEl>
                                          </p:spTgt>
                                        </p:tgtEl>
                                      </p:cBhvr>
                                    </p:animEffect>
                                  </p:childTnLst>
                                </p:cTn>
                              </p:par>
                              <p:par>
                                <p:cTn id="14" presetID="16" presetClass="entr" presetSubtype="26"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Horizontal)">
                                      <p:cBhvr>
                                        <p:cTn id="16" dur="500"/>
                                        <p:tgtEl>
                                          <p:spTgt spid="4">
                                            <p:txEl>
                                              <p:pRg st="3" end="3"/>
                                            </p:txEl>
                                          </p:spTgt>
                                        </p:tgtEl>
                                      </p:cBhvr>
                                    </p:animEffect>
                                  </p:childTnLst>
                                </p:cTn>
                              </p:par>
                              <p:par>
                                <p:cTn id="17" presetID="16" presetClass="entr" presetSubtype="26"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barn(inHorizontal)">
                                      <p:cBhvr>
                                        <p:cTn id="19" dur="500"/>
                                        <p:tgtEl>
                                          <p:spTgt spid="4">
                                            <p:txEl>
                                              <p:pRg st="4" end="4"/>
                                            </p:txEl>
                                          </p:spTgt>
                                        </p:tgtEl>
                                      </p:cBhvr>
                                    </p:animEffect>
                                  </p:childTnLst>
                                </p:cTn>
                              </p:par>
                              <p:par>
                                <p:cTn id="20" presetID="16" presetClass="entr" presetSubtype="26" fill="hold"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arn(inHorizontal)">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strips(downLeft)">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strips(downLeft)">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strips(downLeft)">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strips(downLeft)">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strips(downLeft)">
                                      <p:cBhvr>
                                        <p:cTn id="47" dur="500"/>
                                        <p:tgtEl>
                                          <p:spTgt spid="4">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4">
                                            <p:txEl>
                                              <p:pRg st="11" end="11"/>
                                            </p:txEl>
                                          </p:spTgt>
                                        </p:tgtEl>
                                        <p:attrNameLst>
                                          <p:attrName>style.visibility</p:attrName>
                                        </p:attrNameLst>
                                      </p:cBhvr>
                                      <p:to>
                                        <p:strVal val="visible"/>
                                      </p:to>
                                    </p:set>
                                    <p:animEffect transition="in" filter="strips(downLeft)">
                                      <p:cBhvr>
                                        <p:cTn id="52" dur="500"/>
                                        <p:tgtEl>
                                          <p:spTgt spid="4">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nodeType="clickEffect">
                                  <p:stCondLst>
                                    <p:cond delay="0"/>
                                  </p:stCondLst>
                                  <p:childTnLst>
                                    <p:set>
                                      <p:cBhvr>
                                        <p:cTn id="56" dur="1" fill="hold">
                                          <p:stCondLst>
                                            <p:cond delay="0"/>
                                          </p:stCondLst>
                                        </p:cTn>
                                        <p:tgtEl>
                                          <p:spTgt spid="4">
                                            <p:txEl>
                                              <p:pRg st="12" end="12"/>
                                            </p:txEl>
                                          </p:spTgt>
                                        </p:tgtEl>
                                        <p:attrNameLst>
                                          <p:attrName>style.visibility</p:attrName>
                                        </p:attrNameLst>
                                      </p:cBhvr>
                                      <p:to>
                                        <p:strVal val="visible"/>
                                      </p:to>
                                    </p:set>
                                    <p:animEffect transition="in" filter="strips(downLeft)">
                                      <p:cBhvr>
                                        <p:cTn id="57" dur="500"/>
                                        <p:tgtEl>
                                          <p:spTgt spid="4">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nodeType="clickEffect">
                                  <p:stCondLst>
                                    <p:cond delay="0"/>
                                  </p:stCondLst>
                                  <p:childTnLst>
                                    <p:set>
                                      <p:cBhvr>
                                        <p:cTn id="61" dur="1" fill="hold">
                                          <p:stCondLst>
                                            <p:cond delay="0"/>
                                          </p:stCondLst>
                                        </p:cTn>
                                        <p:tgtEl>
                                          <p:spTgt spid="10">
                                            <p:txEl>
                                              <p:pRg st="1" end="1"/>
                                            </p:txEl>
                                          </p:spTgt>
                                        </p:tgtEl>
                                        <p:attrNameLst>
                                          <p:attrName>style.visibility</p:attrName>
                                        </p:attrNameLst>
                                      </p:cBhvr>
                                      <p:to>
                                        <p:strVal val="visible"/>
                                      </p:to>
                                    </p:set>
                                    <p:animEffect transition="in" filter="strips(downLeft)">
                                      <p:cBhvr>
                                        <p:cTn id="62" dur="500"/>
                                        <p:tgtEl>
                                          <p:spTgt spid="10">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0">
                                            <p:txEl>
                                              <p:pRg st="2" end="2"/>
                                            </p:txEl>
                                          </p:spTgt>
                                        </p:tgtEl>
                                        <p:attrNameLst>
                                          <p:attrName>style.visibility</p:attrName>
                                        </p:attrNameLst>
                                      </p:cBhvr>
                                      <p:to>
                                        <p:strVal val="visible"/>
                                      </p:to>
                                    </p:set>
                                    <p:animEffect transition="in" filter="strips(downLeft)">
                                      <p:cBhvr>
                                        <p:cTn id="67" dur="500"/>
                                        <p:tgtEl>
                                          <p:spTgt spid="10">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10">
                                            <p:txEl>
                                              <p:pRg st="3" end="3"/>
                                            </p:txEl>
                                          </p:spTgt>
                                        </p:tgtEl>
                                        <p:attrNameLst>
                                          <p:attrName>style.visibility</p:attrName>
                                        </p:attrNameLst>
                                      </p:cBhvr>
                                      <p:to>
                                        <p:strVal val="visible"/>
                                      </p:to>
                                    </p:set>
                                    <p:animEffect transition="in" filter="strips(downLeft)">
                                      <p:cBhvr>
                                        <p:cTn id="72" dur="500"/>
                                        <p:tgtEl>
                                          <p:spTgt spid="10">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nodeType="clickEffect">
                                  <p:stCondLst>
                                    <p:cond delay="0"/>
                                  </p:stCondLst>
                                  <p:childTnLst>
                                    <p:set>
                                      <p:cBhvr>
                                        <p:cTn id="76" dur="1" fill="hold">
                                          <p:stCondLst>
                                            <p:cond delay="0"/>
                                          </p:stCondLst>
                                        </p:cTn>
                                        <p:tgtEl>
                                          <p:spTgt spid="10">
                                            <p:txEl>
                                              <p:pRg st="4" end="4"/>
                                            </p:txEl>
                                          </p:spTgt>
                                        </p:tgtEl>
                                        <p:attrNameLst>
                                          <p:attrName>style.visibility</p:attrName>
                                        </p:attrNameLst>
                                      </p:cBhvr>
                                      <p:to>
                                        <p:strVal val="visible"/>
                                      </p:to>
                                    </p:set>
                                    <p:animEffect transition="in" filter="strips(downLeft)">
                                      <p:cBhvr>
                                        <p:cTn id="7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1228725" y="1388745"/>
            <a:ext cx="5743575" cy="511175"/>
          </a:xfrm>
        </p:spPr>
        <p:txBody>
          <a:bodyPr>
            <a:normAutofit fontScale="80000"/>
          </a:bodyPr>
          <a:lstStyle/>
          <a:p>
            <a:r>
              <a:rPr lang="zh-CN" altLang="en-US" dirty="0"/>
              <a:t>第</a:t>
            </a:r>
            <a:r>
              <a:rPr lang="en-US" altLang="zh-CN" dirty="0"/>
              <a:t>6</a:t>
            </a:r>
            <a:r>
              <a:rPr lang="zh-CN" altLang="en-US" dirty="0"/>
              <a:t>单元 代码生成</a:t>
            </a:r>
            <a:endParaRPr lang="zh-CN" altLang="en-US" dirty="0"/>
          </a:p>
        </p:txBody>
      </p:sp>
      <p:sp>
        <p:nvSpPr>
          <p:cNvPr id="24" name="文本占位符 23"/>
          <p:cNvSpPr>
            <a:spLocks noGrp="1"/>
          </p:cNvSpPr>
          <p:nvPr>
            <p:ph type="body" sz="quarter" idx="14"/>
          </p:nvPr>
        </p:nvSpPr>
        <p:spPr/>
        <p:txBody>
          <a:bodyPr>
            <a:normAutofit fontScale="77500" lnSpcReduction="20000"/>
          </a:bodyPr>
          <a:lstStyle/>
          <a:p>
            <a:r>
              <a:rPr lang="en-US" altLang="zh-CN" dirty="0">
                <a:solidFill>
                  <a:schemeClr val="tx1"/>
                </a:solidFill>
              </a:rPr>
              <a:t>6.1 </a:t>
            </a:r>
            <a:r>
              <a:rPr lang="zh-CN" altLang="en-US" dirty="0">
                <a:solidFill>
                  <a:schemeClr val="tx1"/>
                </a:solidFill>
              </a:rPr>
              <a:t>中间代码概览</a:t>
            </a:r>
            <a:endParaRPr lang="en-US" altLang="zh-CN" dirty="0">
              <a:solidFill>
                <a:schemeClr val="tx1"/>
              </a:solidFill>
            </a:endParaRPr>
          </a:p>
          <a:p>
            <a:r>
              <a:rPr lang="en-US" altLang="zh-CN" dirty="0">
                <a:solidFill>
                  <a:schemeClr val="tx1"/>
                </a:solidFill>
              </a:rPr>
              <a:t>6.2 </a:t>
            </a:r>
            <a:r>
              <a:rPr lang="zh-CN" altLang="en-US" dirty="0">
                <a:solidFill>
                  <a:schemeClr val="tx1"/>
                </a:solidFill>
              </a:rPr>
              <a:t>基本的代码生成技术</a:t>
            </a:r>
            <a:endParaRPr lang="en-US" altLang="zh-CN" dirty="0">
              <a:solidFill>
                <a:schemeClr val="tx1"/>
              </a:solidFill>
            </a:endParaRPr>
          </a:p>
          <a:p>
            <a:r>
              <a:rPr lang="en-US" altLang="zh-CN" dirty="0">
                <a:solidFill>
                  <a:srgbClr val="0070C0"/>
                </a:solidFill>
              </a:rPr>
              <a:t>6.3 </a:t>
            </a:r>
            <a:r>
              <a:rPr lang="zh-CN" altLang="en-US" dirty="0">
                <a:solidFill>
                  <a:srgbClr val="0070C0"/>
                </a:solidFill>
              </a:rPr>
              <a:t>数据结构引用的代码生成</a:t>
            </a:r>
            <a:endParaRPr lang="en-US" altLang="zh-CN" dirty="0">
              <a:solidFill>
                <a:srgbClr val="0070C0"/>
              </a:solidFill>
            </a:endParaRPr>
          </a:p>
          <a:p>
            <a:r>
              <a:rPr lang="en-US" altLang="zh-CN" dirty="0">
                <a:solidFill>
                  <a:schemeClr val="tx1"/>
                </a:solidFill>
              </a:rPr>
              <a:t>6.4 </a:t>
            </a:r>
            <a:r>
              <a:rPr lang="zh-CN" altLang="en-US" dirty="0">
                <a:solidFill>
                  <a:schemeClr val="tx1"/>
                </a:solidFill>
              </a:rPr>
              <a:t>控制语句和逻辑表达式的代码生成</a:t>
            </a:r>
            <a:endParaRPr lang="en-US" altLang="zh-CN" dirty="0">
              <a:solidFill>
                <a:schemeClr val="tx1"/>
              </a:solidFill>
            </a:endParaRPr>
          </a:p>
          <a:p>
            <a:r>
              <a:rPr lang="en-US" altLang="zh-CN" dirty="0">
                <a:solidFill>
                  <a:schemeClr val="tx1"/>
                </a:solidFill>
              </a:rPr>
              <a:t>6.5 </a:t>
            </a:r>
            <a:r>
              <a:rPr lang="zh-CN" altLang="en-US" dirty="0">
                <a:solidFill>
                  <a:schemeClr val="tx1"/>
                </a:solidFill>
              </a:rPr>
              <a:t>过程和函数调用的代码生成</a:t>
            </a:r>
            <a:endParaRPr lang="zh-CN" altLang="en-US"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07035" y="276860"/>
            <a:ext cx="7768590" cy="593090"/>
          </a:xfrm>
        </p:spPr>
        <p:txBody>
          <a:bodyPr/>
          <a:lstStyle/>
          <a:p>
            <a:r>
              <a:rPr lang="en-US" altLang="zh-CN" dirty="0"/>
              <a:t>6.3.2 </a:t>
            </a:r>
            <a:r>
              <a:rPr lang="zh-CN" altLang="en-US" dirty="0"/>
              <a:t>数组引用的三地址码生成</a:t>
            </a:r>
            <a:endParaRPr lang="zh-CN" altLang="en-US" dirty="0"/>
          </a:p>
        </p:txBody>
      </p:sp>
      <p:sp>
        <p:nvSpPr>
          <p:cNvPr id="5" name="Rectangle 3"/>
          <p:cNvSpPr>
            <a:spLocks noChangeArrowheads="1"/>
          </p:cNvSpPr>
          <p:nvPr/>
        </p:nvSpPr>
        <p:spPr bwMode="auto">
          <a:xfrm>
            <a:off x="407670" y="1235710"/>
            <a:ext cx="5160010" cy="978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nSpc>
                <a:spcPct val="120000"/>
              </a:lnSpc>
            </a:pPr>
            <a:r>
              <a:rPr lang="en-US" altLang="zh-CN" sz="2400" b="1" dirty="0">
                <a:solidFill>
                  <a:srgbClr val="030305"/>
                </a:solidFill>
                <a:latin typeface="+mn-ea"/>
              </a:rPr>
              <a:t>C</a:t>
            </a:r>
            <a:r>
              <a:rPr lang="zh-CN" altLang="en-US" sz="2400" b="1" dirty="0">
                <a:solidFill>
                  <a:srgbClr val="030305"/>
                </a:solidFill>
                <a:latin typeface="+mn-ea"/>
              </a:rPr>
              <a:t>数组引用</a:t>
            </a:r>
            <a:r>
              <a:rPr lang="en-US" altLang="zh-CN" sz="2400" b="1" dirty="0">
                <a:solidFill>
                  <a:srgbClr val="030305"/>
                </a:solidFill>
                <a:latin typeface="+mn-ea"/>
              </a:rPr>
              <a:t>a[</a:t>
            </a:r>
            <a:r>
              <a:rPr lang="en-US" altLang="zh-CN" sz="2400" b="1" dirty="0" err="1">
                <a:solidFill>
                  <a:srgbClr val="030305"/>
                </a:solidFill>
                <a:latin typeface="+mn-ea"/>
              </a:rPr>
              <a:t>i</a:t>
            </a:r>
            <a:r>
              <a:rPr lang="en-US" altLang="zh-CN" sz="2400" b="1" dirty="0">
                <a:solidFill>
                  <a:srgbClr val="030305"/>
                </a:solidFill>
                <a:latin typeface="+mn-ea"/>
              </a:rPr>
              <a:t>]</a:t>
            </a:r>
            <a:r>
              <a:rPr lang="zh-CN" altLang="en-US" sz="2400" b="1" dirty="0">
                <a:solidFill>
                  <a:srgbClr val="030305"/>
                </a:solidFill>
                <a:latin typeface="+mn-ea"/>
              </a:rPr>
              <a:t>的地址是：</a:t>
            </a:r>
            <a:endParaRPr lang="zh-CN" altLang="en-US" sz="2400" b="1" dirty="0">
              <a:solidFill>
                <a:srgbClr val="030305"/>
              </a:solidFill>
              <a:latin typeface="+mn-ea"/>
            </a:endParaRPr>
          </a:p>
          <a:p>
            <a:pPr>
              <a:lnSpc>
                <a:spcPct val="120000"/>
              </a:lnSpc>
            </a:pPr>
            <a:r>
              <a:rPr lang="en-US" altLang="zh-CN" sz="2400" b="1" dirty="0" err="1">
                <a:solidFill>
                  <a:srgbClr val="030305"/>
                </a:solidFill>
                <a:latin typeface="+mn-ea"/>
              </a:rPr>
              <a:t>base_address</a:t>
            </a:r>
            <a:r>
              <a:rPr lang="en-US" altLang="zh-CN" sz="2400" b="1" dirty="0">
                <a:solidFill>
                  <a:srgbClr val="030305"/>
                </a:solidFill>
                <a:latin typeface="+mn-ea"/>
              </a:rPr>
              <a:t>(a) + </a:t>
            </a:r>
            <a:r>
              <a:rPr lang="en-US" altLang="zh-CN" sz="2400" b="1" dirty="0" err="1">
                <a:solidFill>
                  <a:srgbClr val="030305"/>
                </a:solidFill>
                <a:latin typeface="+mn-ea"/>
              </a:rPr>
              <a:t>i</a:t>
            </a:r>
            <a:r>
              <a:rPr lang="en-US" altLang="zh-CN" sz="2400" b="1" dirty="0">
                <a:solidFill>
                  <a:srgbClr val="030305"/>
                </a:solidFill>
                <a:latin typeface="+mn-ea"/>
              </a:rPr>
              <a:t> * </a:t>
            </a:r>
            <a:r>
              <a:rPr lang="en-US" altLang="zh-CN" sz="2400" b="1" dirty="0" err="1">
                <a:solidFill>
                  <a:srgbClr val="030305"/>
                </a:solidFill>
                <a:latin typeface="+mn-ea"/>
              </a:rPr>
              <a:t>sizeof</a:t>
            </a:r>
            <a:r>
              <a:rPr lang="en-US" altLang="zh-CN" sz="2400" b="1" dirty="0">
                <a:solidFill>
                  <a:srgbClr val="030305"/>
                </a:solidFill>
                <a:latin typeface="+mn-ea"/>
              </a:rPr>
              <a:t>(int)</a:t>
            </a:r>
            <a:endParaRPr lang="en-US" altLang="zh-CN" sz="2400" b="1" dirty="0">
              <a:solidFill>
                <a:srgbClr val="030305"/>
              </a:solidFill>
              <a:latin typeface="+mn-ea"/>
            </a:endParaRPr>
          </a:p>
        </p:txBody>
      </p:sp>
      <p:sp>
        <p:nvSpPr>
          <p:cNvPr id="6" name="Rectangle 9"/>
          <p:cNvSpPr>
            <a:spLocks noChangeArrowheads="1"/>
          </p:cNvSpPr>
          <p:nvPr/>
        </p:nvSpPr>
        <p:spPr bwMode="auto">
          <a:xfrm>
            <a:off x="720090" y="2165985"/>
            <a:ext cx="4847590" cy="186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nSpc>
                <a:spcPct val="120000"/>
              </a:lnSpc>
            </a:pPr>
            <a:r>
              <a:rPr lang="zh-CN" altLang="en-US" sz="2400" b="1" dirty="0">
                <a:solidFill>
                  <a:srgbClr val="030305"/>
                </a:solidFill>
                <a:latin typeface="+mn-ea"/>
              </a:rPr>
              <a:t>赋值语句</a:t>
            </a:r>
            <a:r>
              <a:rPr lang="en-US" altLang="zh-CN" sz="2400" b="1" dirty="0">
                <a:solidFill>
                  <a:srgbClr val="030305"/>
                </a:solidFill>
                <a:latin typeface="+mn-ea"/>
              </a:rPr>
              <a:t>t2 = a [t1] </a:t>
            </a:r>
            <a:r>
              <a:rPr lang="zh-CN" altLang="en-US" sz="2400" b="1" dirty="0">
                <a:solidFill>
                  <a:srgbClr val="030305"/>
                </a:solidFill>
                <a:latin typeface="+mn-ea"/>
              </a:rPr>
              <a:t>三地址码：</a:t>
            </a:r>
            <a:endParaRPr lang="en-US" altLang="zh-CN" sz="2400" b="1" dirty="0">
              <a:solidFill>
                <a:srgbClr val="030305"/>
              </a:solidFill>
              <a:latin typeface="+mn-ea"/>
            </a:endParaRPr>
          </a:p>
          <a:p>
            <a:pPr>
              <a:lnSpc>
                <a:spcPct val="120000"/>
              </a:lnSpc>
            </a:pPr>
            <a:r>
              <a:rPr lang="en-US" altLang="zh-CN" sz="2400" b="1" dirty="0">
                <a:solidFill>
                  <a:srgbClr val="030305"/>
                </a:solidFill>
                <a:latin typeface="+mn-ea"/>
              </a:rPr>
              <a:t>t3 = t1 </a:t>
            </a:r>
            <a:r>
              <a:rPr lang="en-US" altLang="zh-CN" sz="2400" b="1" dirty="0">
                <a:solidFill>
                  <a:srgbClr val="030305"/>
                </a:solidFill>
                <a:latin typeface="+mn-ea"/>
                <a:sym typeface="Symbol" panose="05050102010706020507" pitchFamily="18" charset="2"/>
              </a:rPr>
              <a:t></a:t>
            </a:r>
            <a:r>
              <a:rPr lang="en-US" altLang="zh-CN" sz="2400" b="1" dirty="0">
                <a:solidFill>
                  <a:srgbClr val="030305"/>
                </a:solidFill>
                <a:latin typeface="+mn-ea"/>
              </a:rPr>
              <a:t> </a:t>
            </a:r>
            <a:r>
              <a:rPr lang="en-US" altLang="zh-CN" sz="2400" b="1" dirty="0" err="1">
                <a:solidFill>
                  <a:srgbClr val="030305"/>
                </a:solidFill>
                <a:latin typeface="+mn-ea"/>
              </a:rPr>
              <a:t>elem_size</a:t>
            </a:r>
            <a:r>
              <a:rPr lang="en-US" altLang="zh-CN" sz="2400" b="1" dirty="0">
                <a:solidFill>
                  <a:srgbClr val="030305"/>
                </a:solidFill>
                <a:latin typeface="+mn-ea"/>
              </a:rPr>
              <a:t> (a)</a:t>
            </a:r>
            <a:endParaRPr lang="en-US" altLang="zh-CN" sz="2400" b="1" dirty="0">
              <a:solidFill>
                <a:srgbClr val="030305"/>
              </a:solidFill>
              <a:latin typeface="+mn-ea"/>
            </a:endParaRPr>
          </a:p>
          <a:p>
            <a:pPr>
              <a:lnSpc>
                <a:spcPct val="120000"/>
              </a:lnSpc>
            </a:pPr>
            <a:r>
              <a:rPr lang="en-US" altLang="zh-CN" sz="2400" b="1" dirty="0">
                <a:solidFill>
                  <a:srgbClr val="030305"/>
                </a:solidFill>
                <a:latin typeface="+mn-ea"/>
              </a:rPr>
              <a:t>t4 = &amp;a + t3</a:t>
            </a:r>
            <a:endParaRPr lang="en-US" altLang="zh-CN" sz="2400" b="1" dirty="0">
              <a:solidFill>
                <a:srgbClr val="030305"/>
              </a:solidFill>
              <a:latin typeface="+mn-ea"/>
            </a:endParaRPr>
          </a:p>
          <a:p>
            <a:pPr>
              <a:lnSpc>
                <a:spcPct val="120000"/>
              </a:lnSpc>
            </a:pPr>
            <a:r>
              <a:rPr lang="en-US" altLang="zh-CN" sz="2400" b="1" dirty="0">
                <a:solidFill>
                  <a:srgbClr val="030305"/>
                </a:solidFill>
                <a:latin typeface="+mn-ea"/>
              </a:rPr>
              <a:t>t2 = </a:t>
            </a:r>
            <a:r>
              <a:rPr lang="en-US" altLang="zh-CN" sz="2400" b="1" dirty="0">
                <a:solidFill>
                  <a:srgbClr val="030305"/>
                </a:solidFill>
                <a:latin typeface="+mn-ea"/>
                <a:sym typeface="Symbol" panose="05050102010706020507" pitchFamily="18" charset="2"/>
              </a:rPr>
              <a:t></a:t>
            </a:r>
            <a:r>
              <a:rPr lang="en-US" altLang="zh-CN" sz="2400" b="1" dirty="0">
                <a:solidFill>
                  <a:srgbClr val="030305"/>
                </a:solidFill>
                <a:latin typeface="+mn-ea"/>
              </a:rPr>
              <a:t>t4</a:t>
            </a:r>
            <a:endParaRPr lang="en-US" altLang="zh-CN" sz="2400" b="1" dirty="0">
              <a:solidFill>
                <a:srgbClr val="030305"/>
              </a:solidFill>
              <a:latin typeface="+mn-ea"/>
            </a:endParaRPr>
          </a:p>
        </p:txBody>
      </p:sp>
      <p:sp>
        <p:nvSpPr>
          <p:cNvPr id="7" name="Rectangle 10"/>
          <p:cNvSpPr>
            <a:spLocks noChangeArrowheads="1"/>
          </p:cNvSpPr>
          <p:nvPr/>
        </p:nvSpPr>
        <p:spPr bwMode="auto">
          <a:xfrm>
            <a:off x="719773" y="4030792"/>
            <a:ext cx="4643437" cy="186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eaLnBrk="0" hangingPunct="0">
              <a:lnSpc>
                <a:spcPct val="120000"/>
              </a:lnSpc>
            </a:pPr>
            <a:r>
              <a:rPr lang="zh-CN" altLang="en-US" sz="2400" b="1">
                <a:solidFill>
                  <a:srgbClr val="030305"/>
                </a:solidFill>
                <a:latin typeface="+mn-ea"/>
              </a:rPr>
              <a:t>赋值语句</a:t>
            </a:r>
            <a:r>
              <a:rPr lang="en-US" altLang="zh-CN" sz="2400" b="1">
                <a:solidFill>
                  <a:srgbClr val="030305"/>
                </a:solidFill>
                <a:latin typeface="+mn-ea"/>
              </a:rPr>
              <a:t>a[t2] = t1</a:t>
            </a:r>
            <a:r>
              <a:rPr lang="zh-CN" altLang="en-US" sz="2400" b="1">
                <a:solidFill>
                  <a:srgbClr val="030305"/>
                </a:solidFill>
                <a:latin typeface="+mn-ea"/>
              </a:rPr>
              <a:t>的三地址码：</a:t>
            </a:r>
            <a:endParaRPr lang="en-US" altLang="zh-CN" sz="2400" b="1">
              <a:solidFill>
                <a:srgbClr val="030305"/>
              </a:solidFill>
              <a:latin typeface="+mn-ea"/>
            </a:endParaRPr>
          </a:p>
          <a:p>
            <a:pPr>
              <a:lnSpc>
                <a:spcPct val="120000"/>
              </a:lnSpc>
            </a:pPr>
            <a:r>
              <a:rPr lang="en-US" altLang="zh-CN" sz="2400" b="1">
                <a:solidFill>
                  <a:srgbClr val="030305"/>
                </a:solidFill>
                <a:latin typeface="+mn-ea"/>
              </a:rPr>
              <a:t>t3 = t2 </a:t>
            </a:r>
            <a:r>
              <a:rPr lang="en-US" altLang="zh-CN" sz="2400" b="1">
                <a:solidFill>
                  <a:srgbClr val="030305"/>
                </a:solidFill>
                <a:latin typeface="+mn-ea"/>
                <a:sym typeface="Symbol" panose="05050102010706020507" pitchFamily="18" charset="2"/>
              </a:rPr>
              <a:t></a:t>
            </a:r>
            <a:r>
              <a:rPr lang="en-US" altLang="zh-CN" sz="2400" b="1">
                <a:solidFill>
                  <a:srgbClr val="030305"/>
                </a:solidFill>
                <a:latin typeface="+mn-ea"/>
              </a:rPr>
              <a:t> elem_size(a)</a:t>
            </a:r>
            <a:endParaRPr lang="en-US" altLang="zh-CN" sz="2400" b="1">
              <a:solidFill>
                <a:srgbClr val="030305"/>
              </a:solidFill>
              <a:latin typeface="+mn-ea"/>
            </a:endParaRPr>
          </a:p>
          <a:p>
            <a:pPr>
              <a:lnSpc>
                <a:spcPct val="120000"/>
              </a:lnSpc>
            </a:pPr>
            <a:r>
              <a:rPr lang="en-US" altLang="zh-CN" sz="2400" b="1">
                <a:solidFill>
                  <a:srgbClr val="030305"/>
                </a:solidFill>
                <a:latin typeface="+mn-ea"/>
              </a:rPr>
              <a:t>t4 = &amp;a + t3</a:t>
            </a:r>
            <a:endParaRPr lang="en-US" altLang="zh-CN" sz="2400" b="1">
              <a:solidFill>
                <a:srgbClr val="030305"/>
              </a:solidFill>
              <a:latin typeface="+mn-ea"/>
            </a:endParaRPr>
          </a:p>
          <a:p>
            <a:pPr>
              <a:lnSpc>
                <a:spcPct val="120000"/>
              </a:lnSpc>
            </a:pPr>
            <a:r>
              <a:rPr lang="en-US" altLang="zh-CN" sz="2400" b="1">
                <a:solidFill>
                  <a:srgbClr val="030305"/>
                </a:solidFill>
                <a:latin typeface="+mn-ea"/>
                <a:sym typeface="Symbol" panose="05050102010706020507" pitchFamily="18" charset="2"/>
              </a:rPr>
              <a:t></a:t>
            </a:r>
            <a:r>
              <a:rPr lang="en-US" altLang="zh-CN" sz="2400" b="1">
                <a:solidFill>
                  <a:srgbClr val="030305"/>
                </a:solidFill>
                <a:latin typeface="+mn-ea"/>
              </a:rPr>
              <a:t>t4 = t1</a:t>
            </a:r>
            <a:endParaRPr lang="en-US" altLang="zh-CN" sz="2400" b="1">
              <a:solidFill>
                <a:srgbClr val="030305"/>
              </a:solidFill>
              <a:latin typeface="+mn-ea"/>
            </a:endParaRPr>
          </a:p>
        </p:txBody>
      </p:sp>
      <p:sp>
        <p:nvSpPr>
          <p:cNvPr id="2" name="Rectangle 2"/>
          <p:cNvSpPr>
            <a:spLocks noChangeArrowheads="1"/>
          </p:cNvSpPr>
          <p:nvPr>
            <p:custDataLst>
              <p:tags r:id="rId1"/>
            </p:custDataLst>
          </p:nvPr>
        </p:nvSpPr>
        <p:spPr bwMode="auto">
          <a:xfrm>
            <a:off x="5562600" y="1248410"/>
            <a:ext cx="6238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zh-CN" altLang="en-US" sz="2400" b="1" dirty="0">
                <a:solidFill>
                  <a:srgbClr val="03010F"/>
                </a:solidFill>
                <a:latin typeface="+mn-ea"/>
              </a:rPr>
              <a:t>表达式（</a:t>
            </a:r>
            <a:r>
              <a:rPr lang="en-US" altLang="zh-CN" sz="2400" b="1" dirty="0">
                <a:solidFill>
                  <a:srgbClr val="03010F"/>
                </a:solidFill>
                <a:latin typeface="+mn-ea"/>
              </a:rPr>
              <a:t>a[i+1]=2)+a[j]</a:t>
            </a:r>
            <a:r>
              <a:rPr lang="zh-CN" altLang="en-US" sz="2400" b="1" dirty="0">
                <a:solidFill>
                  <a:srgbClr val="03010F"/>
                </a:solidFill>
                <a:latin typeface="+mn-ea"/>
              </a:rPr>
              <a:t>的语法树结构如下：</a:t>
            </a:r>
            <a:endParaRPr lang="zh-CN" altLang="en-US" sz="2400" b="1" dirty="0">
              <a:solidFill>
                <a:srgbClr val="03010F"/>
              </a:solidFill>
              <a:latin typeface="+mn-ea"/>
            </a:endParaRPr>
          </a:p>
        </p:txBody>
      </p:sp>
      <p:grpSp>
        <p:nvGrpSpPr>
          <p:cNvPr id="3" name="组合 2"/>
          <p:cNvGrpSpPr/>
          <p:nvPr/>
        </p:nvGrpSpPr>
        <p:grpSpPr>
          <a:xfrm>
            <a:off x="5462588" y="2054506"/>
            <a:ext cx="2521585" cy="3204845"/>
            <a:chOff x="1160463" y="2076731"/>
            <a:chExt cx="2521585" cy="3204845"/>
          </a:xfrm>
        </p:grpSpPr>
        <p:sp>
          <p:nvSpPr>
            <p:cNvPr id="4" name="Line 3"/>
            <p:cNvSpPr>
              <a:spLocks noChangeShapeType="1"/>
            </p:cNvSpPr>
            <p:nvPr>
              <p:custDataLst>
                <p:tags r:id="rId2"/>
              </p:custDataLst>
            </p:nvPr>
          </p:nvSpPr>
          <p:spPr bwMode="auto">
            <a:xfrm flipH="1">
              <a:off x="1693863" y="3046694"/>
              <a:ext cx="22860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3" name="Line 4"/>
            <p:cNvSpPr>
              <a:spLocks noChangeShapeType="1"/>
            </p:cNvSpPr>
            <p:nvPr>
              <p:custDataLst>
                <p:tags r:id="rId3"/>
              </p:custDataLst>
            </p:nvPr>
          </p:nvSpPr>
          <p:spPr bwMode="auto">
            <a:xfrm>
              <a:off x="2303463" y="3046694"/>
              <a:ext cx="30480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4" name="Line 5"/>
            <p:cNvSpPr>
              <a:spLocks noChangeShapeType="1"/>
            </p:cNvSpPr>
            <p:nvPr>
              <p:custDataLst>
                <p:tags r:id="rId4"/>
              </p:custDataLst>
            </p:nvPr>
          </p:nvSpPr>
          <p:spPr bwMode="auto">
            <a:xfrm flipH="1">
              <a:off x="1312863" y="4494494"/>
              <a:ext cx="2286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6" name="Line 6"/>
            <p:cNvSpPr>
              <a:spLocks noChangeShapeType="1"/>
            </p:cNvSpPr>
            <p:nvPr>
              <p:custDataLst>
                <p:tags r:id="rId5"/>
              </p:custDataLst>
            </p:nvPr>
          </p:nvSpPr>
          <p:spPr bwMode="auto">
            <a:xfrm>
              <a:off x="1770063" y="4494494"/>
              <a:ext cx="1524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7" name="Rectangle 7"/>
            <p:cNvSpPr>
              <a:spLocks noChangeArrowheads="1"/>
            </p:cNvSpPr>
            <p:nvPr>
              <p:custDataLst>
                <p:tags r:id="rId6"/>
              </p:custDataLst>
            </p:nvPr>
          </p:nvSpPr>
          <p:spPr bwMode="auto">
            <a:xfrm>
              <a:off x="1160463" y="4819931"/>
              <a:ext cx="25844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i</a:t>
              </a:r>
              <a:endParaRPr lang="zh-CN" altLang="en-US" sz="2400" b="1">
                <a:solidFill>
                  <a:srgbClr val="070709"/>
                </a:solidFill>
                <a:latin typeface="+mn-ea"/>
              </a:endParaRPr>
            </a:p>
          </p:txBody>
        </p:sp>
        <p:sp>
          <p:nvSpPr>
            <p:cNvPr id="18" name="Rectangle 8"/>
            <p:cNvSpPr>
              <a:spLocks noChangeArrowheads="1"/>
            </p:cNvSpPr>
            <p:nvPr>
              <p:custDataLst>
                <p:tags r:id="rId7"/>
              </p:custDataLst>
            </p:nvPr>
          </p:nvSpPr>
          <p:spPr bwMode="auto">
            <a:xfrm>
              <a:off x="1465263" y="4210331"/>
              <a:ext cx="3905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a:t>
              </a:r>
              <a:endParaRPr lang="zh-CN" altLang="en-US" sz="2400" b="1">
                <a:solidFill>
                  <a:srgbClr val="070709"/>
                </a:solidFill>
                <a:latin typeface="+mn-ea"/>
              </a:endParaRPr>
            </a:p>
          </p:txBody>
        </p:sp>
        <p:sp>
          <p:nvSpPr>
            <p:cNvPr id="19" name="Rectangle 9"/>
            <p:cNvSpPr>
              <a:spLocks noChangeArrowheads="1"/>
            </p:cNvSpPr>
            <p:nvPr>
              <p:custDataLst>
                <p:tags r:id="rId8"/>
              </p:custDataLst>
            </p:nvPr>
          </p:nvSpPr>
          <p:spPr bwMode="auto">
            <a:xfrm>
              <a:off x="1770063" y="4819931"/>
              <a:ext cx="34798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1</a:t>
              </a:r>
              <a:endParaRPr lang="zh-CN" altLang="en-US" sz="2400" b="1">
                <a:solidFill>
                  <a:srgbClr val="070709"/>
                </a:solidFill>
                <a:latin typeface="+mn-ea"/>
              </a:endParaRPr>
            </a:p>
          </p:txBody>
        </p:sp>
        <p:sp>
          <p:nvSpPr>
            <p:cNvPr id="20" name="Rectangle 10"/>
            <p:cNvSpPr>
              <a:spLocks noChangeArrowheads="1"/>
            </p:cNvSpPr>
            <p:nvPr>
              <p:custDataLst>
                <p:tags r:id="rId9"/>
              </p:custDataLst>
            </p:nvPr>
          </p:nvSpPr>
          <p:spPr bwMode="auto">
            <a:xfrm>
              <a:off x="1389063" y="3448331"/>
              <a:ext cx="5403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a[]</a:t>
              </a:r>
              <a:endParaRPr lang="zh-CN" altLang="en-US" sz="2400" b="1">
                <a:solidFill>
                  <a:srgbClr val="070709"/>
                </a:solidFill>
                <a:latin typeface="+mn-ea"/>
              </a:endParaRPr>
            </a:p>
          </p:txBody>
        </p:sp>
        <p:sp>
          <p:nvSpPr>
            <p:cNvPr id="21" name="Line 11"/>
            <p:cNvSpPr>
              <a:spLocks noChangeShapeType="1"/>
            </p:cNvSpPr>
            <p:nvPr>
              <p:custDataLst>
                <p:tags r:id="rId10"/>
              </p:custDataLst>
            </p:nvPr>
          </p:nvSpPr>
          <p:spPr bwMode="auto">
            <a:xfrm>
              <a:off x="1636713" y="3808694"/>
              <a:ext cx="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2" name="Rectangle 12"/>
            <p:cNvSpPr>
              <a:spLocks noChangeArrowheads="1"/>
            </p:cNvSpPr>
            <p:nvPr>
              <p:custDataLst>
                <p:tags r:id="rId11"/>
              </p:custDataLst>
            </p:nvPr>
          </p:nvSpPr>
          <p:spPr bwMode="auto">
            <a:xfrm>
              <a:off x="2455863" y="3524531"/>
              <a:ext cx="34798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2</a:t>
              </a:r>
              <a:endParaRPr lang="zh-CN" altLang="en-US" sz="2400" b="1">
                <a:solidFill>
                  <a:srgbClr val="070709"/>
                </a:solidFill>
                <a:latin typeface="+mn-ea"/>
              </a:endParaRPr>
            </a:p>
          </p:txBody>
        </p:sp>
        <p:sp>
          <p:nvSpPr>
            <p:cNvPr id="23" name="Rectangle 13"/>
            <p:cNvSpPr>
              <a:spLocks noChangeArrowheads="1"/>
            </p:cNvSpPr>
            <p:nvPr>
              <p:custDataLst>
                <p:tags r:id="rId12"/>
              </p:custDataLst>
            </p:nvPr>
          </p:nvSpPr>
          <p:spPr bwMode="auto">
            <a:xfrm>
              <a:off x="1922463" y="2686331"/>
              <a:ext cx="3905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a:t>
              </a:r>
              <a:endParaRPr lang="zh-CN" altLang="en-US" sz="2400" b="1">
                <a:solidFill>
                  <a:srgbClr val="070709"/>
                </a:solidFill>
                <a:latin typeface="+mn-ea"/>
              </a:endParaRPr>
            </a:p>
          </p:txBody>
        </p:sp>
        <p:sp>
          <p:nvSpPr>
            <p:cNvPr id="24" name="Rectangle 14"/>
            <p:cNvSpPr>
              <a:spLocks noChangeArrowheads="1"/>
            </p:cNvSpPr>
            <p:nvPr>
              <p:custDataLst>
                <p:tags r:id="rId13"/>
              </p:custDataLst>
            </p:nvPr>
          </p:nvSpPr>
          <p:spPr bwMode="auto">
            <a:xfrm>
              <a:off x="2684463" y="2076731"/>
              <a:ext cx="3905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a:t>
              </a:r>
              <a:endParaRPr lang="zh-CN" altLang="en-US" sz="2400" b="1">
                <a:solidFill>
                  <a:srgbClr val="070709"/>
                </a:solidFill>
                <a:latin typeface="+mn-ea"/>
              </a:endParaRPr>
            </a:p>
          </p:txBody>
        </p:sp>
        <p:sp>
          <p:nvSpPr>
            <p:cNvPr id="25" name="Line 15"/>
            <p:cNvSpPr>
              <a:spLocks noChangeShapeType="1"/>
            </p:cNvSpPr>
            <p:nvPr>
              <p:custDataLst>
                <p:tags r:id="rId14"/>
              </p:custDataLst>
            </p:nvPr>
          </p:nvSpPr>
          <p:spPr bwMode="auto">
            <a:xfrm flipH="1">
              <a:off x="2151063" y="2437094"/>
              <a:ext cx="53340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6" name="Line 16"/>
            <p:cNvSpPr>
              <a:spLocks noChangeShapeType="1"/>
            </p:cNvSpPr>
            <p:nvPr>
              <p:custDataLst>
                <p:tags r:id="rId15"/>
              </p:custDataLst>
            </p:nvPr>
          </p:nvSpPr>
          <p:spPr bwMode="auto">
            <a:xfrm>
              <a:off x="2916238" y="2448206"/>
              <a:ext cx="457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7" name="Rectangle 17"/>
            <p:cNvSpPr>
              <a:spLocks noChangeArrowheads="1"/>
            </p:cNvSpPr>
            <p:nvPr>
              <p:custDataLst>
                <p:tags r:id="rId16"/>
              </p:custDataLst>
            </p:nvPr>
          </p:nvSpPr>
          <p:spPr bwMode="auto">
            <a:xfrm>
              <a:off x="3141663" y="2838731"/>
              <a:ext cx="5403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a[]</a:t>
              </a:r>
              <a:endParaRPr lang="zh-CN" altLang="en-US" sz="2400" b="1">
                <a:solidFill>
                  <a:srgbClr val="070709"/>
                </a:solidFill>
                <a:latin typeface="+mn-ea"/>
              </a:endParaRPr>
            </a:p>
          </p:txBody>
        </p:sp>
        <p:sp>
          <p:nvSpPr>
            <p:cNvPr id="28" name="Line 18"/>
            <p:cNvSpPr>
              <a:spLocks noChangeShapeType="1"/>
            </p:cNvSpPr>
            <p:nvPr>
              <p:custDataLst>
                <p:tags r:id="rId17"/>
              </p:custDataLst>
            </p:nvPr>
          </p:nvSpPr>
          <p:spPr bwMode="auto">
            <a:xfrm>
              <a:off x="3522663" y="3199094"/>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9" name="Rectangle 19"/>
            <p:cNvSpPr>
              <a:spLocks noChangeArrowheads="1"/>
            </p:cNvSpPr>
            <p:nvPr>
              <p:custDataLst>
                <p:tags r:id="rId18"/>
              </p:custDataLst>
            </p:nvPr>
          </p:nvSpPr>
          <p:spPr bwMode="auto">
            <a:xfrm>
              <a:off x="3370263" y="3524531"/>
              <a:ext cx="25844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j</a:t>
              </a:r>
              <a:endParaRPr lang="zh-CN" altLang="en-US" sz="2400" b="1">
                <a:solidFill>
                  <a:srgbClr val="070709"/>
                </a:solidFill>
                <a:latin typeface="+mn-ea"/>
              </a:endParaRPr>
            </a:p>
          </p:txBody>
        </p:sp>
      </p:grpSp>
      <p:sp>
        <p:nvSpPr>
          <p:cNvPr id="30" name="Rectangle 31"/>
          <p:cNvSpPr>
            <a:spLocks noChangeArrowheads="1"/>
          </p:cNvSpPr>
          <p:nvPr>
            <p:custDataLst>
              <p:tags r:id="rId19"/>
            </p:custDataLst>
          </p:nvPr>
        </p:nvSpPr>
        <p:spPr bwMode="auto">
          <a:xfrm>
            <a:off x="8164195" y="1944651"/>
            <a:ext cx="2362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t1 = i+1</a:t>
            </a:r>
            <a:endParaRPr lang="zh-CN" altLang="en-US" sz="2400" b="1">
              <a:solidFill>
                <a:srgbClr val="03010F"/>
              </a:solidFill>
              <a:latin typeface="+mn-ea"/>
            </a:endParaRPr>
          </a:p>
        </p:txBody>
      </p:sp>
      <p:sp>
        <p:nvSpPr>
          <p:cNvPr id="31" name="Rectangle 32"/>
          <p:cNvSpPr>
            <a:spLocks noChangeArrowheads="1"/>
          </p:cNvSpPr>
          <p:nvPr>
            <p:custDataLst>
              <p:tags r:id="rId20"/>
            </p:custDataLst>
          </p:nvPr>
        </p:nvSpPr>
        <p:spPr bwMode="auto">
          <a:xfrm>
            <a:off x="8164195" y="2368514"/>
            <a:ext cx="3657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t2 = t1*elem_size(a)</a:t>
            </a:r>
            <a:endParaRPr lang="zh-CN" altLang="en-US" sz="2400" b="1">
              <a:solidFill>
                <a:srgbClr val="03010F"/>
              </a:solidFill>
              <a:latin typeface="+mn-ea"/>
            </a:endParaRPr>
          </a:p>
        </p:txBody>
      </p:sp>
      <p:sp>
        <p:nvSpPr>
          <p:cNvPr id="32" name="Rectangle 33"/>
          <p:cNvSpPr>
            <a:spLocks noChangeArrowheads="1"/>
          </p:cNvSpPr>
          <p:nvPr>
            <p:custDataLst>
              <p:tags r:id="rId21"/>
            </p:custDataLst>
          </p:nvPr>
        </p:nvSpPr>
        <p:spPr bwMode="auto">
          <a:xfrm>
            <a:off x="8164195" y="2818094"/>
            <a:ext cx="26670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t3 = &amp;a+t2</a:t>
            </a:r>
            <a:endParaRPr lang="zh-CN" altLang="en-US" sz="2400" b="1">
              <a:solidFill>
                <a:srgbClr val="03010F"/>
              </a:solidFill>
              <a:latin typeface="+mn-ea"/>
            </a:endParaRPr>
          </a:p>
        </p:txBody>
      </p:sp>
      <p:sp>
        <p:nvSpPr>
          <p:cNvPr id="33" name="Rectangle 34"/>
          <p:cNvSpPr>
            <a:spLocks noChangeArrowheads="1"/>
          </p:cNvSpPr>
          <p:nvPr>
            <p:custDataLst>
              <p:tags r:id="rId22"/>
            </p:custDataLst>
          </p:nvPr>
        </p:nvSpPr>
        <p:spPr bwMode="auto">
          <a:xfrm>
            <a:off x="8251825" y="3692171"/>
            <a:ext cx="35814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t4 = j*elem_size(a)</a:t>
            </a:r>
            <a:endParaRPr lang="en-US" altLang="zh-CN" sz="2400" b="1">
              <a:solidFill>
                <a:srgbClr val="03010F"/>
              </a:solidFill>
              <a:latin typeface="+mn-ea"/>
            </a:endParaRPr>
          </a:p>
        </p:txBody>
      </p:sp>
      <p:sp>
        <p:nvSpPr>
          <p:cNvPr id="34" name="Rectangle 35"/>
          <p:cNvSpPr>
            <a:spLocks noChangeArrowheads="1"/>
          </p:cNvSpPr>
          <p:nvPr>
            <p:custDataLst>
              <p:tags r:id="rId23"/>
            </p:custDataLst>
          </p:nvPr>
        </p:nvSpPr>
        <p:spPr bwMode="auto">
          <a:xfrm>
            <a:off x="8773478" y="4328124"/>
            <a:ext cx="14478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endParaRPr lang="zh-CN" altLang="en-US" sz="2400" b="1">
              <a:solidFill>
                <a:srgbClr val="03010F"/>
              </a:solidFill>
              <a:latin typeface="+mn-ea"/>
            </a:endParaRPr>
          </a:p>
        </p:txBody>
      </p:sp>
      <p:sp>
        <p:nvSpPr>
          <p:cNvPr id="35" name="Rectangle 36"/>
          <p:cNvSpPr>
            <a:spLocks noChangeArrowheads="1"/>
          </p:cNvSpPr>
          <p:nvPr>
            <p:custDataLst>
              <p:tags r:id="rId24"/>
            </p:custDataLst>
          </p:nvPr>
        </p:nvSpPr>
        <p:spPr bwMode="auto">
          <a:xfrm>
            <a:off x="8301990" y="4170961"/>
            <a:ext cx="24384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t5 = &amp;a+t4</a:t>
            </a:r>
            <a:endParaRPr lang="zh-CN" altLang="en-US" sz="2400" b="1">
              <a:solidFill>
                <a:srgbClr val="03010F"/>
              </a:solidFill>
              <a:latin typeface="+mn-ea"/>
            </a:endParaRPr>
          </a:p>
        </p:txBody>
      </p:sp>
      <p:sp>
        <p:nvSpPr>
          <p:cNvPr id="36" name="Rectangle 37"/>
          <p:cNvSpPr>
            <a:spLocks noChangeArrowheads="1"/>
          </p:cNvSpPr>
          <p:nvPr>
            <p:custDataLst>
              <p:tags r:id="rId25"/>
            </p:custDataLst>
          </p:nvPr>
        </p:nvSpPr>
        <p:spPr bwMode="auto">
          <a:xfrm>
            <a:off x="8301990" y="4649751"/>
            <a:ext cx="25908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t6 = *t5 +2</a:t>
            </a:r>
            <a:endParaRPr lang="zh-CN" altLang="en-US" sz="2400" b="1">
              <a:solidFill>
                <a:srgbClr val="03010F"/>
              </a:solidFill>
              <a:latin typeface="+mn-ea"/>
            </a:endParaRPr>
          </a:p>
        </p:txBody>
      </p:sp>
      <p:sp>
        <p:nvSpPr>
          <p:cNvPr id="37" name="Rectangle 38"/>
          <p:cNvSpPr>
            <a:spLocks noChangeArrowheads="1"/>
          </p:cNvSpPr>
          <p:nvPr>
            <p:custDataLst>
              <p:tags r:id="rId26"/>
            </p:custDataLst>
          </p:nvPr>
        </p:nvSpPr>
        <p:spPr bwMode="auto">
          <a:xfrm>
            <a:off x="8260080" y="3230526"/>
            <a:ext cx="2133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10F"/>
                </a:solidFill>
                <a:latin typeface="+mn-ea"/>
              </a:rPr>
              <a:t>*t3 = 2</a:t>
            </a:r>
            <a:endParaRPr lang="zh-CN" altLang="en-US" sz="2400" b="1">
              <a:solidFill>
                <a:srgbClr val="03010F"/>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strips(downLeft)">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strips(downLeft)">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strips(downLeft)">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strips(downLeft)">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strips(downLeft)">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strips(downLeft)">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arn(inHorizontal)">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arn(inHorizontal)">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inHorizontal)">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barn(inHorizontal)">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barn(inHorizontal)">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6" fill="hold" grpId="0" nodeType="clickEffect" nodePh="1">
                                  <p:stCondLst>
                                    <p:cond delay="0"/>
                                  </p:stCondLst>
                                  <p:endCondLst>
                                    <p:cond evt="begin" delay="0"/>
                                  </p:endCondLst>
                                  <p:childTnLst>
                                    <p:set>
                                      <p:cBhvr>
                                        <p:cTn id="61" dur="1" fill="hold">
                                          <p:stCondLst>
                                            <p:cond delay="0"/>
                                          </p:stCondLst>
                                        </p:cTn>
                                        <p:tgtEl>
                                          <p:spTgt spid="34"/>
                                        </p:tgtEl>
                                        <p:attrNameLst>
                                          <p:attrName>style.visibility</p:attrName>
                                        </p:attrNameLst>
                                      </p:cBhvr>
                                      <p:to>
                                        <p:strVal val="visible"/>
                                      </p:to>
                                    </p:set>
                                    <p:animEffect transition="in" filter="barn(inHorizontal)">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6" fill="hold" grpId="0" nodeType="click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barn(inHorizontal)">
                                      <p:cBhvr>
                                        <p:cTn id="67" dur="500"/>
                                        <p:tgtEl>
                                          <p:spTgt spid="35"/>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6"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barn(inHorizontal)">
                                      <p:cBhvr>
                                        <p:cTn id="7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5" grpId="0"/>
      <p:bldP spid="36" grpId="0"/>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79425" y="276860"/>
            <a:ext cx="7696200" cy="593090"/>
          </a:xfrm>
        </p:spPr>
        <p:txBody>
          <a:bodyPr/>
          <a:lstStyle/>
          <a:p>
            <a:r>
              <a:rPr lang="en-US" altLang="zh-CN" dirty="0"/>
              <a:t>6.3.2 </a:t>
            </a:r>
            <a:r>
              <a:rPr lang="zh-CN" altLang="en-US" dirty="0"/>
              <a:t>数组引用的三地址码生成</a:t>
            </a:r>
            <a:endParaRPr lang="zh-CN" altLang="en-US" dirty="0"/>
          </a:p>
        </p:txBody>
      </p:sp>
      <p:sp>
        <p:nvSpPr>
          <p:cNvPr id="13" name="Rectangle 2"/>
          <p:cNvSpPr>
            <a:spLocks noChangeArrowheads="1"/>
          </p:cNvSpPr>
          <p:nvPr/>
        </p:nvSpPr>
        <p:spPr bwMode="auto">
          <a:xfrm>
            <a:off x="421005" y="1285240"/>
            <a:ext cx="487426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nSpc>
                <a:spcPct val="120000"/>
              </a:lnSpc>
            </a:pPr>
            <a:r>
              <a:rPr lang="zh-CN" altLang="en-US" sz="2800" b="1" dirty="0">
                <a:solidFill>
                  <a:srgbClr val="030305"/>
                </a:solidFill>
                <a:latin typeface="+mn-ea"/>
              </a:rPr>
              <a:t>一维数组引用算术表达式文法：</a:t>
            </a:r>
            <a:endParaRPr lang="zh-CN" altLang="en-US" sz="2800" b="1" dirty="0">
              <a:solidFill>
                <a:srgbClr val="030305"/>
              </a:solidFill>
              <a:latin typeface="+mn-ea"/>
            </a:endParaRPr>
          </a:p>
          <a:p>
            <a:pPr>
              <a:lnSpc>
                <a:spcPct val="120000"/>
              </a:lnSpc>
            </a:pPr>
            <a:r>
              <a:rPr lang="en-US" altLang="zh-CN" sz="2800" b="1" i="1" dirty="0">
                <a:solidFill>
                  <a:srgbClr val="030305"/>
                </a:solidFill>
              </a:rPr>
              <a:t> </a:t>
            </a:r>
            <a:r>
              <a:rPr lang="en-US" altLang="zh-CN" sz="2800" i="1" dirty="0" err="1">
                <a:solidFill>
                  <a:srgbClr val="030305"/>
                </a:solidFill>
              </a:rPr>
              <a:t>exp→subs</a:t>
            </a:r>
            <a:r>
              <a:rPr lang="en-US" altLang="zh-CN" sz="2800" i="1" dirty="0">
                <a:solidFill>
                  <a:srgbClr val="030305"/>
                </a:solidFill>
              </a:rPr>
              <a:t> </a:t>
            </a:r>
            <a:r>
              <a:rPr lang="en-US" altLang="zh-CN" sz="2800" b="1" dirty="0">
                <a:solidFill>
                  <a:srgbClr val="030305"/>
                </a:solidFill>
              </a:rPr>
              <a:t>= </a:t>
            </a:r>
            <a:r>
              <a:rPr lang="en-US" altLang="zh-CN" sz="2800" i="1" dirty="0" err="1">
                <a:solidFill>
                  <a:srgbClr val="030305"/>
                </a:solidFill>
              </a:rPr>
              <a:t>exp|aexp</a:t>
            </a:r>
            <a:endParaRPr lang="en-US" altLang="zh-CN" sz="2800" i="1" dirty="0">
              <a:solidFill>
                <a:srgbClr val="030305"/>
              </a:solidFill>
            </a:endParaRPr>
          </a:p>
          <a:p>
            <a:pPr>
              <a:lnSpc>
                <a:spcPct val="120000"/>
              </a:lnSpc>
            </a:pPr>
            <a:r>
              <a:rPr lang="en-US" altLang="zh-CN" sz="2800" i="1" dirty="0">
                <a:solidFill>
                  <a:srgbClr val="030305"/>
                </a:solidFill>
              </a:rPr>
              <a:t> </a:t>
            </a:r>
            <a:r>
              <a:rPr lang="en-US" altLang="zh-CN" sz="2800" i="1" dirty="0" err="1">
                <a:solidFill>
                  <a:srgbClr val="030305"/>
                </a:solidFill>
              </a:rPr>
              <a:t>aexp→aexp</a:t>
            </a:r>
            <a:r>
              <a:rPr lang="en-US" altLang="zh-CN" sz="2800" i="1" dirty="0">
                <a:solidFill>
                  <a:srgbClr val="030305"/>
                </a:solidFill>
              </a:rPr>
              <a:t> </a:t>
            </a:r>
            <a:r>
              <a:rPr lang="en-US" altLang="zh-CN" sz="2800" b="1" dirty="0">
                <a:solidFill>
                  <a:srgbClr val="030305"/>
                </a:solidFill>
              </a:rPr>
              <a:t>+ </a:t>
            </a:r>
            <a:r>
              <a:rPr lang="en-US" altLang="zh-CN" sz="2800" i="1" dirty="0" err="1">
                <a:solidFill>
                  <a:srgbClr val="030305"/>
                </a:solidFill>
              </a:rPr>
              <a:t>factor|factor</a:t>
            </a:r>
            <a:endParaRPr lang="en-US" altLang="zh-CN" sz="2800" i="1" dirty="0">
              <a:solidFill>
                <a:srgbClr val="030305"/>
              </a:solidFill>
            </a:endParaRPr>
          </a:p>
          <a:p>
            <a:pPr>
              <a:lnSpc>
                <a:spcPct val="120000"/>
              </a:lnSpc>
            </a:pPr>
            <a:r>
              <a:rPr lang="en-US" altLang="zh-CN" sz="2800" i="1" dirty="0">
                <a:solidFill>
                  <a:srgbClr val="030305"/>
                </a:solidFill>
              </a:rPr>
              <a:t> factor→</a:t>
            </a:r>
            <a:r>
              <a:rPr lang="en-US" altLang="zh-CN" sz="2800" b="1" dirty="0">
                <a:solidFill>
                  <a:srgbClr val="030305"/>
                </a:solidFill>
              </a:rPr>
              <a:t>(</a:t>
            </a:r>
            <a:r>
              <a:rPr lang="en-US" altLang="zh-CN" sz="2800" i="1" dirty="0">
                <a:solidFill>
                  <a:srgbClr val="030305"/>
                </a:solidFill>
              </a:rPr>
              <a:t>exp</a:t>
            </a:r>
            <a:r>
              <a:rPr lang="en-US" altLang="zh-CN" sz="2800" b="1" dirty="0">
                <a:solidFill>
                  <a:srgbClr val="030305"/>
                </a:solidFill>
              </a:rPr>
              <a:t>)</a:t>
            </a:r>
            <a:r>
              <a:rPr lang="en-US" altLang="zh-CN" sz="2800" i="1" dirty="0">
                <a:solidFill>
                  <a:srgbClr val="030305"/>
                </a:solidFill>
              </a:rPr>
              <a:t>|</a:t>
            </a:r>
            <a:r>
              <a:rPr lang="en-US" altLang="zh-CN" sz="2800" b="1" dirty="0" err="1">
                <a:solidFill>
                  <a:srgbClr val="030305"/>
                </a:solidFill>
              </a:rPr>
              <a:t>num</a:t>
            </a:r>
            <a:r>
              <a:rPr lang="en-US" altLang="zh-CN" sz="2800" i="1" dirty="0" err="1">
                <a:solidFill>
                  <a:srgbClr val="030305"/>
                </a:solidFill>
              </a:rPr>
              <a:t>|subs</a:t>
            </a:r>
            <a:endParaRPr lang="en-US" altLang="zh-CN" sz="2800" i="1" dirty="0">
              <a:solidFill>
                <a:srgbClr val="030305"/>
              </a:solidFill>
            </a:endParaRPr>
          </a:p>
          <a:p>
            <a:pPr>
              <a:lnSpc>
                <a:spcPct val="120000"/>
              </a:lnSpc>
            </a:pPr>
            <a:r>
              <a:rPr lang="en-US" altLang="zh-CN" sz="2800" i="1" dirty="0">
                <a:solidFill>
                  <a:srgbClr val="030305"/>
                </a:solidFill>
              </a:rPr>
              <a:t> </a:t>
            </a:r>
            <a:r>
              <a:rPr lang="en-US" altLang="zh-CN" sz="2800" i="1" dirty="0" err="1">
                <a:solidFill>
                  <a:srgbClr val="030305"/>
                </a:solidFill>
              </a:rPr>
              <a:t>subs→</a:t>
            </a:r>
            <a:r>
              <a:rPr lang="en-US" altLang="zh-CN" sz="2800" b="1" dirty="0" err="1">
                <a:solidFill>
                  <a:srgbClr val="030305"/>
                </a:solidFill>
              </a:rPr>
              <a:t>id</a:t>
            </a:r>
            <a:r>
              <a:rPr lang="en-US" altLang="zh-CN" sz="2800" i="1" dirty="0" err="1">
                <a:solidFill>
                  <a:srgbClr val="030305"/>
                </a:solidFill>
              </a:rPr>
              <a:t>|</a:t>
            </a:r>
            <a:r>
              <a:rPr lang="en-US" altLang="zh-CN" sz="2800" b="1" dirty="0" err="1">
                <a:solidFill>
                  <a:srgbClr val="030305"/>
                </a:solidFill>
              </a:rPr>
              <a:t>id</a:t>
            </a:r>
            <a:r>
              <a:rPr lang="en-US" altLang="zh-CN" sz="2800" b="1" dirty="0">
                <a:solidFill>
                  <a:srgbClr val="030305"/>
                </a:solidFill>
              </a:rPr>
              <a:t>[</a:t>
            </a:r>
            <a:r>
              <a:rPr lang="en-US" altLang="zh-CN" sz="2800" i="1" dirty="0">
                <a:solidFill>
                  <a:srgbClr val="030305"/>
                </a:solidFill>
              </a:rPr>
              <a:t>exp</a:t>
            </a:r>
            <a:r>
              <a:rPr lang="en-US" altLang="zh-CN" sz="2800" b="1" dirty="0">
                <a:solidFill>
                  <a:srgbClr val="030305"/>
                </a:solidFill>
              </a:rPr>
              <a:t>]</a:t>
            </a:r>
            <a:endParaRPr lang="en-US" altLang="zh-CN" sz="2800" b="1" dirty="0">
              <a:solidFill>
                <a:srgbClr val="030305"/>
              </a:solidFill>
              <a:latin typeface="+mn-ea"/>
            </a:endParaRPr>
          </a:p>
        </p:txBody>
      </p:sp>
      <p:sp>
        <p:nvSpPr>
          <p:cNvPr id="34" name="Rectangle 2"/>
          <p:cNvSpPr>
            <a:spLocks noChangeArrowheads="1"/>
          </p:cNvSpPr>
          <p:nvPr>
            <p:custDataLst>
              <p:tags r:id="rId1"/>
            </p:custDataLst>
          </p:nvPr>
        </p:nvSpPr>
        <p:spPr bwMode="auto">
          <a:xfrm>
            <a:off x="5540375" y="1939290"/>
            <a:ext cx="6240780" cy="4186555"/>
          </a:xfrm>
          <a:prstGeom prst="rect">
            <a:avLst/>
          </a:prstGeom>
          <a:solidFill>
            <a:schemeClr val="bg2"/>
          </a:solidFill>
          <a:ln>
            <a:noFill/>
          </a:ln>
        </p:spPr>
        <p:txBody>
          <a:bodyPr wrap="square">
            <a:noAutofit/>
          </a:bodyPr>
          <a:p>
            <a:r>
              <a:rPr lang="en-US" altLang="zh-CN" sz="2400" b="1" dirty="0">
                <a:solidFill>
                  <a:srgbClr val="000000"/>
                </a:solidFill>
                <a:latin typeface="Times New Roman" panose="02020603050405020304" pitchFamily="18" charset="0"/>
                <a:cs typeface="Times New Roman" panose="02020603050405020304" pitchFamily="18" charset="0"/>
              </a:rPr>
              <a:t>typedef </a:t>
            </a:r>
            <a:r>
              <a:rPr lang="en-US" altLang="zh-CN" sz="2400" b="1" dirty="0" err="1">
                <a:solidFill>
                  <a:srgbClr val="000000"/>
                </a:solidFill>
                <a:latin typeface="Times New Roman" panose="02020603050405020304" pitchFamily="18" charset="0"/>
                <a:cs typeface="Times New Roman" panose="02020603050405020304" pitchFamily="18" charset="0"/>
              </a:rPr>
              <a:t>enum</a:t>
            </a:r>
            <a:r>
              <a:rPr lang="en-US" altLang="zh-CN" sz="2400" b="1" dirty="0">
                <a:solidFill>
                  <a:srgbClr val="000000"/>
                </a:solidFill>
                <a:latin typeface="Times New Roman" panose="02020603050405020304" pitchFamily="18" charset="0"/>
                <a:cs typeface="Times New Roman" panose="02020603050405020304" pitchFamily="18" charset="0"/>
              </a:rPr>
              <a:t> { </a:t>
            </a:r>
            <a:r>
              <a:rPr lang="en-US" altLang="zh-CN" sz="2400" b="1" dirty="0" err="1">
                <a:solidFill>
                  <a:srgbClr val="000000"/>
                </a:solidFill>
                <a:latin typeface="Times New Roman" panose="02020603050405020304" pitchFamily="18" charset="0"/>
                <a:cs typeface="Times New Roman" panose="02020603050405020304" pitchFamily="18" charset="0"/>
              </a:rPr>
              <a:t>OpKind</a:t>
            </a: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ConstKind</a:t>
            </a: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IdKind</a:t>
            </a:r>
            <a:r>
              <a:rPr lang="en-US" altLang="zh-CN" sz="2400" b="1" dirty="0">
                <a:solidFill>
                  <a:srgbClr val="000000"/>
                </a:solidFill>
                <a:latin typeface="Times New Roman" panose="02020603050405020304" pitchFamily="18" charset="0"/>
                <a:cs typeface="Times New Roman" panose="02020603050405020304" pitchFamily="18" charset="0"/>
              </a:rPr>
              <a:t> } </a:t>
            </a:r>
            <a:r>
              <a:rPr lang="en-US" altLang="zh-CN" sz="2400" b="1" dirty="0" err="1">
                <a:solidFill>
                  <a:srgbClr val="000000"/>
                </a:solidFill>
                <a:latin typeface="Times New Roman" panose="02020603050405020304" pitchFamily="18" charset="0"/>
                <a:cs typeface="Times New Roman" panose="02020603050405020304" pitchFamily="18" charset="0"/>
              </a:rPr>
              <a:t>NodeKind</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typedef </a:t>
            </a:r>
            <a:r>
              <a:rPr lang="en-US" altLang="zh-CN" sz="2400" b="1" dirty="0" err="1">
                <a:solidFill>
                  <a:srgbClr val="000000"/>
                </a:solidFill>
                <a:latin typeface="Times New Roman" panose="02020603050405020304" pitchFamily="18" charset="0"/>
                <a:cs typeface="Times New Roman" panose="02020603050405020304" pitchFamily="18" charset="0"/>
              </a:rPr>
              <a:t>enum</a:t>
            </a:r>
            <a:r>
              <a:rPr lang="en-US" altLang="zh-CN" sz="2400" b="1" dirty="0">
                <a:solidFill>
                  <a:srgbClr val="000000"/>
                </a:solidFill>
                <a:latin typeface="Times New Roman" panose="02020603050405020304" pitchFamily="18" charset="0"/>
                <a:cs typeface="Times New Roman" panose="02020603050405020304" pitchFamily="18" charset="0"/>
              </a:rPr>
              <a:t> { Plus, </a:t>
            </a:r>
            <a:r>
              <a:rPr lang="en-US" altLang="zh-CN" sz="2400" b="1" dirty="0" err="1">
                <a:solidFill>
                  <a:srgbClr val="000000"/>
                </a:solidFill>
                <a:latin typeface="Times New Roman" panose="02020603050405020304" pitchFamily="18" charset="0"/>
                <a:cs typeface="Times New Roman" panose="02020603050405020304" pitchFamily="18" charset="0"/>
              </a:rPr>
              <a:t>Assign，Subs</a:t>
            </a:r>
            <a:r>
              <a:rPr lang="en-US" altLang="zh-CN" sz="2400" b="1" dirty="0">
                <a:solidFill>
                  <a:srgbClr val="000000"/>
                </a:solidFill>
                <a:latin typeface="Times New Roman" panose="02020603050405020304" pitchFamily="18" charset="0"/>
                <a:cs typeface="Times New Roman" panose="02020603050405020304" pitchFamily="18" charset="0"/>
              </a:rPr>
              <a:t> } </a:t>
            </a:r>
            <a:r>
              <a:rPr lang="en-US" altLang="zh-CN" sz="2400" b="1" dirty="0" err="1">
                <a:solidFill>
                  <a:srgbClr val="000000"/>
                </a:solidFill>
                <a:latin typeface="Times New Roman" panose="02020603050405020304" pitchFamily="18" charset="0"/>
                <a:cs typeface="Times New Roman" panose="02020603050405020304" pitchFamily="18" charset="0"/>
              </a:rPr>
              <a:t>Optype</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typedef struct </a:t>
            </a:r>
            <a:r>
              <a:rPr lang="en-US" altLang="zh-CN" sz="2400" b="1" dirty="0" err="1">
                <a:solidFill>
                  <a:srgbClr val="000000"/>
                </a:solidFill>
                <a:latin typeface="Times New Roman" panose="02020603050405020304" pitchFamily="18" charset="0"/>
                <a:cs typeface="Times New Roman" panose="02020603050405020304" pitchFamily="18" charset="0"/>
              </a:rPr>
              <a:t>streenode</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NodeKind</a:t>
            </a:r>
            <a:r>
              <a:rPr lang="en-US" altLang="zh-CN" sz="2400" b="1" dirty="0">
                <a:solidFill>
                  <a:srgbClr val="000000"/>
                </a:solidFill>
                <a:latin typeface="Times New Roman" panose="02020603050405020304" pitchFamily="18" charset="0"/>
                <a:cs typeface="Times New Roman" panose="02020603050405020304" pitchFamily="18" charset="0"/>
              </a:rPr>
              <a:t> kind;</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Optype</a:t>
            </a:r>
            <a:r>
              <a:rPr lang="en-US" altLang="zh-CN" sz="2400" b="1" dirty="0">
                <a:solidFill>
                  <a:srgbClr val="000000"/>
                </a:solidFill>
                <a:latin typeface="Times New Roman" panose="02020603050405020304" pitchFamily="18" charset="0"/>
                <a:cs typeface="Times New Roman" panose="02020603050405020304" pitchFamily="18" charset="0"/>
              </a:rPr>
              <a:t> op; </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    struct </a:t>
            </a:r>
            <a:r>
              <a:rPr lang="en-US" altLang="zh-CN" sz="2400" b="1" dirty="0" err="1">
                <a:solidFill>
                  <a:srgbClr val="000000"/>
                </a:solidFill>
                <a:latin typeface="Times New Roman" panose="02020603050405020304" pitchFamily="18" charset="0"/>
                <a:cs typeface="Times New Roman" panose="02020603050405020304" pitchFamily="18" charset="0"/>
              </a:rPr>
              <a:t>streenode</a:t>
            </a: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err="1">
                <a:solidFill>
                  <a:srgbClr val="000000"/>
                </a:solidFill>
                <a:latin typeface="Times New Roman" panose="02020603050405020304" pitchFamily="18" charset="0"/>
                <a:cs typeface="Times New Roman" panose="02020603050405020304" pitchFamily="18" charset="0"/>
              </a:rPr>
              <a:t>lchild</a:t>
            </a: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rchild</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    char </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err="1">
                <a:solidFill>
                  <a:srgbClr val="000000"/>
                </a:solidFill>
                <a:latin typeface="Times New Roman" panose="02020603050405020304" pitchFamily="18" charset="0"/>
                <a:cs typeface="Times New Roman" panose="02020603050405020304" pitchFamily="18" charset="0"/>
              </a:rPr>
              <a:t>strval</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err="1">
                <a:solidFill>
                  <a:srgbClr val="000000"/>
                </a:solidFill>
                <a:latin typeface="Times New Roman" panose="02020603050405020304" pitchFamily="18" charset="0"/>
                <a:cs typeface="Times New Roman" panose="02020603050405020304" pitchFamily="18" charset="0"/>
              </a:rPr>
              <a:t>STreeNode</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en-US" altLang="zh-CN" sz="2400" b="1" dirty="0">
              <a:solidFill>
                <a:srgbClr val="000000"/>
              </a:solidFill>
              <a:latin typeface="Times New Roman" panose="02020603050405020304" pitchFamily="18" charset="0"/>
              <a:cs typeface="Times New Roman" panose="02020603050405020304" pitchFamily="18" charset="0"/>
            </a:endParaRPr>
          </a:p>
          <a:p>
            <a:r>
              <a:rPr lang="en-US" altLang="zh-CN" sz="2400" b="1" dirty="0">
                <a:solidFill>
                  <a:srgbClr val="000000"/>
                </a:solidFill>
                <a:latin typeface="Times New Roman" panose="02020603050405020304" pitchFamily="18" charset="0"/>
                <a:cs typeface="Times New Roman" panose="02020603050405020304" pitchFamily="18" charset="0"/>
              </a:rPr>
              <a:t>typedef </a:t>
            </a:r>
            <a:r>
              <a:rPr lang="en-US" altLang="zh-CN" sz="2400" b="1" dirty="0" err="1">
                <a:solidFill>
                  <a:srgbClr val="000000"/>
                </a:solidFill>
                <a:latin typeface="Times New Roman" panose="02020603050405020304" pitchFamily="18" charset="0"/>
                <a:cs typeface="Times New Roman" panose="02020603050405020304" pitchFamily="18" charset="0"/>
              </a:rPr>
              <a:t>STreeNode</a:t>
            </a:r>
            <a:r>
              <a:rPr lang="en-US" altLang="zh-CN" sz="2400" b="1" dirty="0">
                <a:solidFill>
                  <a:srgbClr val="000000"/>
                </a:solidFill>
                <a:latin typeface="Times New Roman" panose="02020603050405020304" pitchFamily="18" charset="0"/>
                <a:cs typeface="Times New Roman" panose="02020603050405020304" pitchFamily="18" charset="0"/>
              </a:rPr>
              <a:t> </a:t>
            </a:r>
            <a:r>
              <a:rPr lang="en-US" altLang="zh-CN" sz="2400" b="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err="1">
                <a:solidFill>
                  <a:srgbClr val="000000"/>
                </a:solidFill>
                <a:latin typeface="Times New Roman" panose="02020603050405020304" pitchFamily="18" charset="0"/>
                <a:cs typeface="Times New Roman" panose="02020603050405020304" pitchFamily="18" charset="0"/>
              </a:rPr>
              <a:t>SyntaxTree</a:t>
            </a:r>
            <a:r>
              <a:rPr lang="en-US" altLang="zh-CN" sz="2400" b="1" dirty="0">
                <a:solidFill>
                  <a:srgbClr val="000000"/>
                </a:solidFill>
                <a:latin typeface="Times New Roman" panose="02020603050405020304" pitchFamily="18" charset="0"/>
                <a:cs typeface="Times New Roman" panose="02020603050405020304" pitchFamily="18" charset="0"/>
              </a:rPr>
              <a:t>;</a:t>
            </a:r>
            <a:endParaRPr lang="zh-CN" altLang="en-US" sz="2400" b="1" dirty="0">
              <a:solidFill>
                <a:srgbClr val="000000"/>
              </a:solidFill>
              <a:latin typeface="Times New Roman" panose="02020603050405020304" pitchFamily="18" charset="0"/>
              <a:cs typeface="Times New Roman" panose="02020603050405020304" pitchFamily="18" charset="0"/>
            </a:endParaRPr>
          </a:p>
        </p:txBody>
      </p:sp>
      <p:sp>
        <p:nvSpPr>
          <p:cNvPr id="35" name="Rectangle 3"/>
          <p:cNvSpPr>
            <a:spLocks noChangeArrowheads="1"/>
          </p:cNvSpPr>
          <p:nvPr>
            <p:custDataLst>
              <p:tags r:id="rId2"/>
            </p:custDataLst>
          </p:nvPr>
        </p:nvSpPr>
        <p:spPr bwMode="auto">
          <a:xfrm>
            <a:off x="5695950" y="1229360"/>
            <a:ext cx="535241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oAutofit/>
          </a:bodyPr>
          <a:p>
            <a:r>
              <a:rPr lang="zh-CN" altLang="en-US" sz="2800" b="1" dirty="0">
                <a:solidFill>
                  <a:srgbClr val="000000"/>
                </a:solidFill>
                <a:latin typeface="+mn-ea"/>
              </a:rPr>
              <a:t>其语法树定义如下：</a:t>
            </a:r>
            <a:endParaRPr lang="zh-CN" altLang="en-US" sz="2800" b="1" dirty="0">
              <a:solidFill>
                <a:srgbClr val="000000"/>
              </a:solidFill>
              <a:latin typeface="+mn-ea"/>
            </a:endParaRPr>
          </a:p>
        </p:txBody>
      </p:sp>
      <p:sp>
        <p:nvSpPr>
          <p:cNvPr id="2" name="文本框 1"/>
          <p:cNvSpPr txBox="1"/>
          <p:nvPr/>
        </p:nvSpPr>
        <p:spPr>
          <a:xfrm>
            <a:off x="104140" y="5727700"/>
            <a:ext cx="3622040" cy="460375"/>
          </a:xfrm>
          <a:prstGeom prst="rect">
            <a:avLst/>
          </a:prstGeom>
          <a:noFill/>
        </p:spPr>
        <p:txBody>
          <a:bodyPr wrap="square" rtlCol="0" anchor="t">
            <a:spAutoFit/>
          </a:bodyPr>
          <a:p>
            <a:r>
              <a:rPr lang="zh-CN" altLang="en-US" sz="2400" b="1" dirty="0">
                <a:solidFill>
                  <a:schemeClr val="accent1"/>
                </a:solidFill>
                <a:latin typeface="+mn-ea"/>
                <a:sym typeface="+mn-ea"/>
              </a:rPr>
              <a:t>（</a:t>
            </a:r>
            <a:r>
              <a:rPr lang="en-US" altLang="zh-CN" sz="2400" b="1" dirty="0">
                <a:solidFill>
                  <a:schemeClr val="accent1"/>
                </a:solidFill>
                <a:latin typeface="+mn-ea"/>
                <a:sym typeface="+mn-ea"/>
              </a:rPr>
              <a:t>a[i+1]=2)+a[j]</a:t>
            </a:r>
            <a:endParaRPr lang="en-US" altLang="zh-CN" sz="2400" b="1" dirty="0">
              <a:solidFill>
                <a:schemeClr val="accent1"/>
              </a:solidFill>
              <a:latin typeface="+mn-ea"/>
              <a:sym typeface="+mn-ea"/>
            </a:endParaRPr>
          </a:p>
        </p:txBody>
      </p:sp>
      <p:grpSp>
        <p:nvGrpSpPr>
          <p:cNvPr id="3" name="组合 2"/>
          <p:cNvGrpSpPr/>
          <p:nvPr/>
        </p:nvGrpSpPr>
        <p:grpSpPr>
          <a:xfrm>
            <a:off x="2836863" y="3000656"/>
            <a:ext cx="2521585" cy="3204845"/>
            <a:chOff x="1160463" y="2076731"/>
            <a:chExt cx="2521585" cy="3204845"/>
          </a:xfrm>
        </p:grpSpPr>
        <p:sp>
          <p:nvSpPr>
            <p:cNvPr id="4" name="Line 3"/>
            <p:cNvSpPr>
              <a:spLocks noChangeShapeType="1"/>
            </p:cNvSpPr>
            <p:nvPr>
              <p:custDataLst>
                <p:tags r:id="rId3"/>
              </p:custDataLst>
            </p:nvPr>
          </p:nvSpPr>
          <p:spPr bwMode="auto">
            <a:xfrm flipH="1">
              <a:off x="1693863" y="3046694"/>
              <a:ext cx="22860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5" name="Line 4"/>
            <p:cNvSpPr>
              <a:spLocks noChangeShapeType="1"/>
            </p:cNvSpPr>
            <p:nvPr>
              <p:custDataLst>
                <p:tags r:id="rId4"/>
              </p:custDataLst>
            </p:nvPr>
          </p:nvSpPr>
          <p:spPr bwMode="auto">
            <a:xfrm>
              <a:off x="2303463" y="3046694"/>
              <a:ext cx="30480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6" name="Line 5"/>
            <p:cNvSpPr>
              <a:spLocks noChangeShapeType="1"/>
            </p:cNvSpPr>
            <p:nvPr>
              <p:custDataLst>
                <p:tags r:id="rId5"/>
              </p:custDataLst>
            </p:nvPr>
          </p:nvSpPr>
          <p:spPr bwMode="auto">
            <a:xfrm flipH="1">
              <a:off x="1312863" y="4494494"/>
              <a:ext cx="2286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6" name="Line 6"/>
            <p:cNvSpPr>
              <a:spLocks noChangeShapeType="1"/>
            </p:cNvSpPr>
            <p:nvPr>
              <p:custDataLst>
                <p:tags r:id="rId6"/>
              </p:custDataLst>
            </p:nvPr>
          </p:nvSpPr>
          <p:spPr bwMode="auto">
            <a:xfrm>
              <a:off x="1770063" y="4494494"/>
              <a:ext cx="1524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7" name="Rectangle 7"/>
            <p:cNvSpPr>
              <a:spLocks noChangeArrowheads="1"/>
            </p:cNvSpPr>
            <p:nvPr>
              <p:custDataLst>
                <p:tags r:id="rId7"/>
              </p:custDataLst>
            </p:nvPr>
          </p:nvSpPr>
          <p:spPr bwMode="auto">
            <a:xfrm>
              <a:off x="1160463" y="4819931"/>
              <a:ext cx="25844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i</a:t>
              </a:r>
              <a:endParaRPr lang="en-US" altLang="zh-CN" sz="2400" b="1">
                <a:solidFill>
                  <a:schemeClr val="accent1"/>
                </a:solidFill>
                <a:latin typeface="+mn-ea"/>
              </a:endParaRPr>
            </a:p>
          </p:txBody>
        </p:sp>
        <p:sp>
          <p:nvSpPr>
            <p:cNvPr id="18" name="Rectangle 8"/>
            <p:cNvSpPr>
              <a:spLocks noChangeArrowheads="1"/>
            </p:cNvSpPr>
            <p:nvPr>
              <p:custDataLst>
                <p:tags r:id="rId8"/>
              </p:custDataLst>
            </p:nvPr>
          </p:nvSpPr>
          <p:spPr bwMode="auto">
            <a:xfrm>
              <a:off x="1465263" y="4210331"/>
              <a:ext cx="3905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a:t>
              </a:r>
              <a:endParaRPr lang="en-US" altLang="zh-CN" sz="2400" b="1">
                <a:solidFill>
                  <a:schemeClr val="accent1"/>
                </a:solidFill>
                <a:latin typeface="+mn-ea"/>
              </a:endParaRPr>
            </a:p>
          </p:txBody>
        </p:sp>
        <p:sp>
          <p:nvSpPr>
            <p:cNvPr id="19" name="Rectangle 9"/>
            <p:cNvSpPr>
              <a:spLocks noChangeArrowheads="1"/>
            </p:cNvSpPr>
            <p:nvPr>
              <p:custDataLst>
                <p:tags r:id="rId9"/>
              </p:custDataLst>
            </p:nvPr>
          </p:nvSpPr>
          <p:spPr bwMode="auto">
            <a:xfrm>
              <a:off x="1770063" y="4819931"/>
              <a:ext cx="34798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1</a:t>
              </a:r>
              <a:endParaRPr lang="en-US" altLang="zh-CN" sz="2400" b="1">
                <a:solidFill>
                  <a:schemeClr val="accent1"/>
                </a:solidFill>
                <a:latin typeface="+mn-ea"/>
              </a:endParaRPr>
            </a:p>
          </p:txBody>
        </p:sp>
        <p:sp>
          <p:nvSpPr>
            <p:cNvPr id="20" name="Rectangle 10"/>
            <p:cNvSpPr>
              <a:spLocks noChangeArrowheads="1"/>
            </p:cNvSpPr>
            <p:nvPr>
              <p:custDataLst>
                <p:tags r:id="rId10"/>
              </p:custDataLst>
            </p:nvPr>
          </p:nvSpPr>
          <p:spPr bwMode="auto">
            <a:xfrm>
              <a:off x="1389063" y="3448331"/>
              <a:ext cx="5403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a[]</a:t>
              </a:r>
              <a:endParaRPr lang="en-US" altLang="zh-CN" sz="2400" b="1">
                <a:solidFill>
                  <a:schemeClr val="accent1"/>
                </a:solidFill>
                <a:latin typeface="+mn-ea"/>
              </a:endParaRPr>
            </a:p>
          </p:txBody>
        </p:sp>
        <p:sp>
          <p:nvSpPr>
            <p:cNvPr id="21" name="Line 11"/>
            <p:cNvSpPr>
              <a:spLocks noChangeShapeType="1"/>
            </p:cNvSpPr>
            <p:nvPr>
              <p:custDataLst>
                <p:tags r:id="rId11"/>
              </p:custDataLst>
            </p:nvPr>
          </p:nvSpPr>
          <p:spPr bwMode="auto">
            <a:xfrm>
              <a:off x="1636713" y="3808694"/>
              <a:ext cx="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2" name="Rectangle 12"/>
            <p:cNvSpPr>
              <a:spLocks noChangeArrowheads="1"/>
            </p:cNvSpPr>
            <p:nvPr>
              <p:custDataLst>
                <p:tags r:id="rId12"/>
              </p:custDataLst>
            </p:nvPr>
          </p:nvSpPr>
          <p:spPr bwMode="auto">
            <a:xfrm>
              <a:off x="2455863" y="3524531"/>
              <a:ext cx="34798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2</a:t>
              </a:r>
              <a:endParaRPr lang="en-US" altLang="zh-CN" sz="2400" b="1">
                <a:solidFill>
                  <a:schemeClr val="accent1"/>
                </a:solidFill>
                <a:latin typeface="+mn-ea"/>
              </a:endParaRPr>
            </a:p>
          </p:txBody>
        </p:sp>
        <p:sp>
          <p:nvSpPr>
            <p:cNvPr id="23" name="Rectangle 13"/>
            <p:cNvSpPr>
              <a:spLocks noChangeArrowheads="1"/>
            </p:cNvSpPr>
            <p:nvPr>
              <p:custDataLst>
                <p:tags r:id="rId13"/>
              </p:custDataLst>
            </p:nvPr>
          </p:nvSpPr>
          <p:spPr bwMode="auto">
            <a:xfrm>
              <a:off x="1922463" y="2686331"/>
              <a:ext cx="3905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a:t>
              </a:r>
              <a:endParaRPr lang="en-US" altLang="zh-CN" sz="2400" b="1">
                <a:solidFill>
                  <a:schemeClr val="accent1"/>
                </a:solidFill>
                <a:latin typeface="+mn-ea"/>
              </a:endParaRPr>
            </a:p>
          </p:txBody>
        </p:sp>
        <p:sp>
          <p:nvSpPr>
            <p:cNvPr id="24" name="Rectangle 14"/>
            <p:cNvSpPr>
              <a:spLocks noChangeArrowheads="1"/>
            </p:cNvSpPr>
            <p:nvPr>
              <p:custDataLst>
                <p:tags r:id="rId14"/>
              </p:custDataLst>
            </p:nvPr>
          </p:nvSpPr>
          <p:spPr bwMode="auto">
            <a:xfrm>
              <a:off x="2684463" y="2076731"/>
              <a:ext cx="3905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a:t>
              </a:r>
              <a:endParaRPr lang="en-US" altLang="zh-CN" sz="2400" b="1">
                <a:solidFill>
                  <a:schemeClr val="accent1"/>
                </a:solidFill>
                <a:latin typeface="+mn-ea"/>
              </a:endParaRPr>
            </a:p>
          </p:txBody>
        </p:sp>
        <p:sp>
          <p:nvSpPr>
            <p:cNvPr id="25" name="Line 15"/>
            <p:cNvSpPr>
              <a:spLocks noChangeShapeType="1"/>
            </p:cNvSpPr>
            <p:nvPr>
              <p:custDataLst>
                <p:tags r:id="rId15"/>
              </p:custDataLst>
            </p:nvPr>
          </p:nvSpPr>
          <p:spPr bwMode="auto">
            <a:xfrm flipH="1">
              <a:off x="2151063" y="2437094"/>
              <a:ext cx="53340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6" name="Line 16"/>
            <p:cNvSpPr>
              <a:spLocks noChangeShapeType="1"/>
            </p:cNvSpPr>
            <p:nvPr>
              <p:custDataLst>
                <p:tags r:id="rId16"/>
              </p:custDataLst>
            </p:nvPr>
          </p:nvSpPr>
          <p:spPr bwMode="auto">
            <a:xfrm>
              <a:off x="2916238" y="2448206"/>
              <a:ext cx="457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7" name="Rectangle 17"/>
            <p:cNvSpPr>
              <a:spLocks noChangeArrowheads="1"/>
            </p:cNvSpPr>
            <p:nvPr>
              <p:custDataLst>
                <p:tags r:id="rId17"/>
              </p:custDataLst>
            </p:nvPr>
          </p:nvSpPr>
          <p:spPr bwMode="auto">
            <a:xfrm>
              <a:off x="3141663" y="2838731"/>
              <a:ext cx="5403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a[]</a:t>
              </a:r>
              <a:endParaRPr lang="en-US" altLang="zh-CN" sz="2400" b="1">
                <a:solidFill>
                  <a:schemeClr val="accent1"/>
                </a:solidFill>
                <a:latin typeface="+mn-ea"/>
              </a:endParaRPr>
            </a:p>
          </p:txBody>
        </p:sp>
        <p:sp>
          <p:nvSpPr>
            <p:cNvPr id="28" name="Line 18"/>
            <p:cNvSpPr>
              <a:spLocks noChangeShapeType="1"/>
            </p:cNvSpPr>
            <p:nvPr>
              <p:custDataLst>
                <p:tags r:id="rId18"/>
              </p:custDataLst>
            </p:nvPr>
          </p:nvSpPr>
          <p:spPr bwMode="auto">
            <a:xfrm>
              <a:off x="3522663" y="3199094"/>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9" name="Rectangle 19"/>
            <p:cNvSpPr>
              <a:spLocks noChangeArrowheads="1"/>
            </p:cNvSpPr>
            <p:nvPr>
              <p:custDataLst>
                <p:tags r:id="rId19"/>
              </p:custDataLst>
            </p:nvPr>
          </p:nvSpPr>
          <p:spPr bwMode="auto">
            <a:xfrm>
              <a:off x="3370263" y="3524531"/>
              <a:ext cx="25844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chemeClr val="accent1"/>
                  </a:solidFill>
                  <a:latin typeface="+mn-ea"/>
                </a:rPr>
                <a:t>j</a:t>
              </a:r>
              <a:endParaRPr lang="en-US" altLang="zh-CN" sz="2400" b="1">
                <a:solidFill>
                  <a:schemeClr val="accent1"/>
                </a:solidFill>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34">
                                            <p:txEl>
                                              <p:pRg st="0" end="0"/>
                                            </p:txEl>
                                          </p:spTgt>
                                        </p:tgtEl>
                                        <p:attrNameLst>
                                          <p:attrName>style.visibility</p:attrName>
                                        </p:attrNameLst>
                                      </p:cBhvr>
                                      <p:to>
                                        <p:strVal val="visible"/>
                                      </p:to>
                                    </p:set>
                                    <p:animEffect transition="in" filter="barn(inHorizontal)">
                                      <p:cBhvr>
                                        <p:cTn id="13" dur="500"/>
                                        <p:tgtEl>
                                          <p:spTgt spid="3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34">
                                            <p:txEl>
                                              <p:pRg st="1" end="1"/>
                                            </p:txEl>
                                          </p:spTgt>
                                        </p:tgtEl>
                                        <p:attrNameLst>
                                          <p:attrName>style.visibility</p:attrName>
                                        </p:attrNameLst>
                                      </p:cBhvr>
                                      <p:to>
                                        <p:strVal val="visible"/>
                                      </p:to>
                                    </p:set>
                                    <p:animEffect transition="in" filter="barn(inHorizontal)">
                                      <p:cBhvr>
                                        <p:cTn id="18" dur="500"/>
                                        <p:tgtEl>
                                          <p:spTgt spid="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92430" y="276860"/>
            <a:ext cx="7783195" cy="593090"/>
          </a:xfrm>
        </p:spPr>
        <p:txBody>
          <a:bodyPr/>
          <a:lstStyle/>
          <a:p>
            <a:r>
              <a:rPr lang="en-US" altLang="zh-CN" dirty="0"/>
              <a:t>6.3.2 </a:t>
            </a:r>
            <a:r>
              <a:rPr lang="zh-CN" altLang="en-US" dirty="0"/>
              <a:t>数组引用的三地址码生成</a:t>
            </a:r>
            <a:endParaRPr lang="zh-CN" altLang="en-US" dirty="0"/>
          </a:p>
        </p:txBody>
      </p:sp>
      <p:grpSp>
        <p:nvGrpSpPr>
          <p:cNvPr id="2" name="组合 1"/>
          <p:cNvGrpSpPr/>
          <p:nvPr/>
        </p:nvGrpSpPr>
        <p:grpSpPr>
          <a:xfrm>
            <a:off x="552917" y="1314057"/>
            <a:ext cx="4561840" cy="1680845"/>
            <a:chOff x="416205" y="1474152"/>
            <a:chExt cx="4561840" cy="1680845"/>
          </a:xfrm>
        </p:grpSpPr>
        <p:grpSp>
          <p:nvGrpSpPr>
            <p:cNvPr id="6" name="Group 4"/>
            <p:cNvGrpSpPr/>
            <p:nvPr/>
          </p:nvGrpSpPr>
          <p:grpSpPr bwMode="auto">
            <a:xfrm>
              <a:off x="2225955" y="1474152"/>
              <a:ext cx="763587" cy="463551"/>
              <a:chOff x="768" y="1775"/>
              <a:chExt cx="481" cy="292"/>
            </a:xfrm>
          </p:grpSpPr>
          <p:sp useBgFill="1">
            <p:nvSpPr>
              <p:cNvPr id="7" name="Oval 5"/>
              <p:cNvSpPr>
                <a:spLocks noChangeArrowheads="1"/>
              </p:cNvSpPr>
              <p:nvPr/>
            </p:nvSpPr>
            <p:spPr bwMode="auto">
              <a:xfrm>
                <a:off x="768" y="1775"/>
                <a:ext cx="481" cy="288"/>
              </a:xfrm>
              <a:prstGeom prst="ellipse">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8" name="Rectangle 6"/>
              <p:cNvSpPr>
                <a:spLocks noChangeArrowheads="1"/>
              </p:cNvSpPr>
              <p:nvPr/>
            </p:nvSpPr>
            <p:spPr bwMode="auto">
              <a:xfrm>
                <a:off x="864" y="1776"/>
                <a:ext cx="34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Courier-Bold"/>
                  </a:rPr>
                  <a:t>op</a:t>
                </a:r>
                <a:endParaRPr lang="zh-CN" altLang="en-US" sz="2400" b="1">
                  <a:solidFill>
                    <a:srgbClr val="030305"/>
                  </a:solidFill>
                  <a:latin typeface="Courier-Bold"/>
                </a:endParaRPr>
              </a:p>
            </p:txBody>
          </p:sp>
        </p:grpSp>
        <p:sp>
          <p:nvSpPr>
            <p:cNvPr id="9" name="Line 7"/>
            <p:cNvSpPr>
              <a:spLocks noChangeShapeType="1"/>
            </p:cNvSpPr>
            <p:nvPr/>
          </p:nvSpPr>
          <p:spPr bwMode="auto">
            <a:xfrm flipH="1">
              <a:off x="1538568" y="1931352"/>
              <a:ext cx="763587"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0" name="Line 8"/>
            <p:cNvSpPr>
              <a:spLocks noChangeShapeType="1"/>
            </p:cNvSpPr>
            <p:nvPr/>
          </p:nvSpPr>
          <p:spPr bwMode="auto">
            <a:xfrm>
              <a:off x="2987955" y="1931352"/>
              <a:ext cx="533400"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a:p>
          </p:txBody>
        </p:sp>
        <p:sp useBgFill="1">
          <p:nvSpPr>
            <p:cNvPr id="11" name="AutoShape 9"/>
            <p:cNvSpPr>
              <a:spLocks noChangeArrowheads="1"/>
            </p:cNvSpPr>
            <p:nvPr/>
          </p:nvSpPr>
          <p:spPr bwMode="auto">
            <a:xfrm>
              <a:off x="1197255" y="2236152"/>
              <a:ext cx="762000" cy="457200"/>
            </a:xfrm>
            <a:prstGeom prst="triangle">
              <a:avLst>
                <a:gd name="adj" fmla="val 50000"/>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a:p>
          </p:txBody>
        </p:sp>
        <p:sp useBgFill="1">
          <p:nvSpPr>
            <p:cNvPr id="12" name="AutoShape 10"/>
            <p:cNvSpPr>
              <a:spLocks noChangeArrowheads="1"/>
            </p:cNvSpPr>
            <p:nvPr/>
          </p:nvSpPr>
          <p:spPr bwMode="auto">
            <a:xfrm>
              <a:off x="3140355" y="2236152"/>
              <a:ext cx="762000" cy="457200"/>
            </a:xfrm>
            <a:prstGeom prst="triangle">
              <a:avLst>
                <a:gd name="adj" fmla="val 50000"/>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a:p>
          </p:txBody>
        </p:sp>
        <p:sp>
          <p:nvSpPr>
            <p:cNvPr id="13" name="Rectangle 11"/>
            <p:cNvSpPr>
              <a:spLocks noChangeArrowheads="1"/>
            </p:cNvSpPr>
            <p:nvPr/>
          </p:nvSpPr>
          <p:spPr bwMode="auto">
            <a:xfrm>
              <a:off x="416205" y="2693352"/>
              <a:ext cx="192278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dirty="0">
                  <a:solidFill>
                    <a:srgbClr val="030305"/>
                  </a:solidFill>
                  <a:latin typeface="Courier-Bold"/>
                </a:rPr>
                <a:t>left operand</a:t>
              </a:r>
              <a:endParaRPr lang="zh-CN" altLang="en-US" sz="2400" b="1" dirty="0">
                <a:solidFill>
                  <a:srgbClr val="030305"/>
                </a:solidFill>
                <a:latin typeface="Courier-Bold"/>
              </a:endParaRPr>
            </a:p>
          </p:txBody>
        </p:sp>
        <p:sp>
          <p:nvSpPr>
            <p:cNvPr id="14" name="Rectangle 12"/>
            <p:cNvSpPr>
              <a:spLocks noChangeArrowheads="1"/>
            </p:cNvSpPr>
            <p:nvPr/>
          </p:nvSpPr>
          <p:spPr bwMode="auto">
            <a:xfrm>
              <a:off x="2835555" y="2693352"/>
              <a:ext cx="214249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dirty="0">
                  <a:solidFill>
                    <a:srgbClr val="030305"/>
                  </a:solidFill>
                  <a:latin typeface="Courier-Bold"/>
                </a:rPr>
                <a:t>right operand</a:t>
              </a:r>
              <a:endParaRPr lang="zh-CN" altLang="en-US" sz="2400" b="1" dirty="0">
                <a:solidFill>
                  <a:srgbClr val="030305"/>
                </a:solidFill>
                <a:latin typeface="Courier-Bold"/>
              </a:endParaRPr>
            </a:p>
          </p:txBody>
        </p:sp>
      </p:grpSp>
      <p:sp>
        <p:nvSpPr>
          <p:cNvPr id="16" name="Rectangle 13"/>
          <p:cNvSpPr>
            <a:spLocks noChangeArrowheads="1"/>
          </p:cNvSpPr>
          <p:nvPr/>
        </p:nvSpPr>
        <p:spPr bwMode="auto">
          <a:xfrm>
            <a:off x="552450" y="3190240"/>
            <a:ext cx="1125347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a:lnSpc>
                <a:spcPct val="125000"/>
              </a:lnSpc>
              <a:spcBef>
                <a:spcPts val="0"/>
              </a:spcBef>
              <a:spcAft>
                <a:spcPts val="0"/>
              </a:spcAft>
              <a:buFont typeface="Arial" panose="020B0604020202020204" pitchFamily="34" charset="0"/>
              <a:buNone/>
            </a:pPr>
            <a:r>
              <a:rPr lang="en-US" altLang="zh-CN" sz="2800" b="1" dirty="0">
                <a:solidFill>
                  <a:srgbClr val="000000"/>
                </a:solidFill>
                <a:latin typeface="+mn-ea"/>
              </a:rPr>
              <a:t>t1 ‘=’ t.leftchild.</a:t>
            </a:r>
            <a:r>
              <a:rPr lang="en-US" altLang="zh-CN" sz="2800" b="1" dirty="0" err="1">
                <a:solidFill>
                  <a:srgbClr val="000000"/>
                </a:solidFill>
                <a:latin typeface="+mn-ea"/>
              </a:rPr>
              <a:t>strval</a:t>
            </a:r>
            <a:r>
              <a:rPr lang="en-US" altLang="zh-CN" sz="2800" b="1" dirty="0">
                <a:solidFill>
                  <a:srgbClr val="000000"/>
                </a:solidFill>
                <a:latin typeface="+mn-ea"/>
              </a:rPr>
              <a:t>‘+’</a:t>
            </a:r>
            <a:r>
              <a:rPr lang="en-US" altLang="zh-CN" sz="2800" b="1" dirty="0" err="1">
                <a:solidFill>
                  <a:srgbClr val="000000"/>
                </a:solidFill>
                <a:latin typeface="+mn-ea"/>
              </a:rPr>
              <a:t>t.rightchild.strval            </a:t>
            </a:r>
            <a:r>
              <a:rPr lang="en-US" altLang="zh-CN" sz="2800" b="1" dirty="0" err="1">
                <a:solidFill>
                  <a:schemeClr val="accent1"/>
                </a:solidFill>
                <a:latin typeface="+mn-ea"/>
              </a:rPr>
              <a:t>t.strval</a:t>
            </a:r>
            <a:r>
              <a:rPr lang="en-US" altLang="zh-CN" sz="2800" b="1" dirty="0">
                <a:solidFill>
                  <a:schemeClr val="accent1"/>
                </a:solidFill>
                <a:latin typeface="+mn-ea"/>
              </a:rPr>
              <a:t>  = t1</a:t>
            </a:r>
            <a:endParaRPr lang="zh-CN" altLang="en-US" sz="2800" b="1" dirty="0">
              <a:solidFill>
                <a:schemeClr val="accent1"/>
              </a:solidFill>
              <a:latin typeface="+mn-ea"/>
            </a:endParaRPr>
          </a:p>
          <a:p>
            <a:pPr indent="0">
              <a:lnSpc>
                <a:spcPct val="125000"/>
              </a:lnSpc>
              <a:spcBef>
                <a:spcPts val="0"/>
              </a:spcBef>
              <a:spcAft>
                <a:spcPts val="0"/>
              </a:spcAft>
              <a:buFont typeface="Arial" panose="020B0604020202020204" pitchFamily="34" charset="0"/>
              <a:buNone/>
            </a:pPr>
            <a:r>
              <a:rPr lang="en-US" altLang="zh-CN" sz="2800" b="1" dirty="0" err="1">
                <a:solidFill>
                  <a:srgbClr val="000000"/>
                </a:solidFill>
                <a:latin typeface="+mn-ea"/>
              </a:rPr>
              <a:t>t.leftchild.strval</a:t>
            </a:r>
            <a:r>
              <a:rPr lang="en-US" altLang="zh-CN" sz="2800" b="1" dirty="0">
                <a:solidFill>
                  <a:srgbClr val="000000"/>
                </a:solidFill>
                <a:latin typeface="+mn-ea"/>
              </a:rPr>
              <a:t> ‘=’</a:t>
            </a:r>
            <a:r>
              <a:rPr lang="en-US" altLang="zh-CN" sz="2800" b="1" dirty="0">
                <a:latin typeface="+mn-ea"/>
              </a:rPr>
              <a:t> </a:t>
            </a:r>
            <a:r>
              <a:rPr lang="en-US" altLang="zh-CN" sz="2800" b="1" dirty="0" err="1">
                <a:solidFill>
                  <a:srgbClr val="000000"/>
                </a:solidFill>
                <a:latin typeface="+mn-ea"/>
              </a:rPr>
              <a:t>t.rightchild.strval    </a:t>
            </a:r>
            <a:r>
              <a:rPr lang="en-US" altLang="zh-CN" sz="2800" b="1" dirty="0" err="1">
                <a:solidFill>
                  <a:schemeClr val="accent1"/>
                </a:solidFill>
                <a:latin typeface="+mn-ea"/>
              </a:rPr>
              <a:t> t.strval</a:t>
            </a:r>
            <a:r>
              <a:rPr lang="en-US" altLang="zh-CN" sz="2800" b="1" dirty="0">
                <a:solidFill>
                  <a:schemeClr val="accent1"/>
                </a:solidFill>
                <a:latin typeface="+mn-ea"/>
              </a:rPr>
              <a:t>  =  </a:t>
            </a:r>
            <a:r>
              <a:rPr lang="en-US" altLang="zh-CN" sz="2800" b="1" dirty="0" err="1">
                <a:solidFill>
                  <a:schemeClr val="accent1"/>
                </a:solidFill>
                <a:latin typeface="+mn-ea"/>
              </a:rPr>
              <a:t>t.rightchild.strval</a:t>
            </a:r>
            <a:endParaRPr lang="en-US" altLang="zh-CN" sz="2800" b="1" dirty="0" err="1">
              <a:solidFill>
                <a:schemeClr val="accent1"/>
              </a:solidFill>
              <a:latin typeface="+mn-ea"/>
            </a:endParaRPr>
          </a:p>
        </p:txBody>
      </p:sp>
      <p:sp>
        <p:nvSpPr>
          <p:cNvPr id="3" name="矩形 2"/>
          <p:cNvSpPr/>
          <p:nvPr>
            <p:custDataLst>
              <p:tags r:id="rId1"/>
            </p:custDataLst>
          </p:nvPr>
        </p:nvSpPr>
        <p:spPr>
          <a:xfrm>
            <a:off x="375920" y="3190240"/>
            <a:ext cx="11429365" cy="114554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9" name="Group 16"/>
          <p:cNvGrpSpPr/>
          <p:nvPr/>
        </p:nvGrpSpPr>
        <p:grpSpPr bwMode="auto">
          <a:xfrm>
            <a:off x="5912299" y="1204203"/>
            <a:ext cx="2014538" cy="1985963"/>
            <a:chOff x="1746" y="837"/>
            <a:chExt cx="1269" cy="1251"/>
          </a:xfrm>
        </p:grpSpPr>
        <p:grpSp>
          <p:nvGrpSpPr>
            <p:cNvPr id="20" name="Group 4"/>
            <p:cNvGrpSpPr/>
            <p:nvPr/>
          </p:nvGrpSpPr>
          <p:grpSpPr bwMode="auto">
            <a:xfrm>
              <a:off x="1842" y="837"/>
              <a:ext cx="816" cy="336"/>
              <a:chOff x="768" y="1775"/>
              <a:chExt cx="481" cy="288"/>
            </a:xfrm>
          </p:grpSpPr>
          <p:sp useBgFill="1">
            <p:nvSpPr>
              <p:cNvPr id="24" name="Oval 5"/>
              <p:cNvSpPr>
                <a:spLocks noChangeArrowheads="1"/>
              </p:cNvSpPr>
              <p:nvPr>
                <p:custDataLst>
                  <p:tags r:id="rId2"/>
                </p:custDataLst>
              </p:nvPr>
            </p:nvSpPr>
            <p:spPr bwMode="auto">
              <a:xfrm>
                <a:off x="768" y="1775"/>
                <a:ext cx="481" cy="288"/>
              </a:xfrm>
              <a:prstGeom prst="ellipse">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p:nvSpPr>
              <p:cNvPr id="25" name="Rectangle 6"/>
              <p:cNvSpPr>
                <a:spLocks noChangeArrowheads="1"/>
              </p:cNvSpPr>
              <p:nvPr>
                <p:custDataLst>
                  <p:tags r:id="rId3"/>
                </p:custDataLst>
              </p:nvPr>
            </p:nvSpPr>
            <p:spPr bwMode="auto">
              <a:xfrm>
                <a:off x="864" y="1776"/>
                <a:ext cx="27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30305"/>
                    </a:solidFill>
                    <a:latin typeface="+mn-ea"/>
                  </a:rPr>
                  <a:t>id[ ]</a:t>
                </a:r>
                <a:endParaRPr lang="en-US" altLang="zh-CN" sz="2400" b="1">
                  <a:solidFill>
                    <a:srgbClr val="030305"/>
                  </a:solidFill>
                  <a:latin typeface="+mn-ea"/>
                </a:endParaRPr>
              </a:p>
            </p:txBody>
          </p:sp>
        </p:grpSp>
        <p:sp>
          <p:nvSpPr>
            <p:cNvPr id="21" name="Line 7"/>
            <p:cNvSpPr>
              <a:spLocks noChangeShapeType="1"/>
            </p:cNvSpPr>
            <p:nvPr>
              <p:custDataLst>
                <p:tags r:id="rId4"/>
              </p:custDataLst>
            </p:nvPr>
          </p:nvSpPr>
          <p:spPr bwMode="auto">
            <a:xfrm>
              <a:off x="2274" y="1173"/>
              <a:ext cx="0" cy="336"/>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useBgFill="1">
          <p:nvSpPr>
            <p:cNvPr id="22" name="AutoShape 8"/>
            <p:cNvSpPr>
              <a:spLocks noChangeArrowheads="1"/>
            </p:cNvSpPr>
            <p:nvPr>
              <p:custDataLst>
                <p:tags r:id="rId5"/>
              </p:custDataLst>
            </p:nvPr>
          </p:nvSpPr>
          <p:spPr bwMode="auto">
            <a:xfrm>
              <a:off x="2034" y="1509"/>
              <a:ext cx="480" cy="288"/>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a:latin typeface="+mn-ea"/>
              </a:endParaRPr>
            </a:p>
          </p:txBody>
        </p:sp>
        <p:sp>
          <p:nvSpPr>
            <p:cNvPr id="23" name="Rectangle 9"/>
            <p:cNvSpPr>
              <a:spLocks noChangeArrowheads="1"/>
            </p:cNvSpPr>
            <p:nvPr>
              <p:custDataLst>
                <p:tags r:id="rId6"/>
              </p:custDataLst>
            </p:nvPr>
          </p:nvSpPr>
          <p:spPr bwMode="auto">
            <a:xfrm>
              <a:off x="1746" y="1797"/>
              <a:ext cx="12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30305"/>
                  </a:solidFill>
                  <a:latin typeface="+mn-ea"/>
                </a:rPr>
                <a:t>subscript exp</a:t>
              </a:r>
              <a:endParaRPr lang="zh-CN" altLang="en-US" sz="2400" b="1">
                <a:solidFill>
                  <a:srgbClr val="030305"/>
                </a:solidFill>
                <a:latin typeface="+mn-ea"/>
              </a:endParaRPr>
            </a:p>
          </p:txBody>
        </p:sp>
      </p:grpSp>
      <p:sp>
        <p:nvSpPr>
          <p:cNvPr id="26" name="Rectangle 10"/>
          <p:cNvSpPr>
            <a:spLocks noChangeArrowheads="1"/>
          </p:cNvSpPr>
          <p:nvPr>
            <p:custDataLst>
              <p:tags r:id="rId7"/>
            </p:custDataLst>
          </p:nvPr>
        </p:nvSpPr>
        <p:spPr bwMode="auto">
          <a:xfrm>
            <a:off x="689610" y="4558665"/>
            <a:ext cx="792734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r>
              <a:rPr lang="en-US" altLang="zh-CN" sz="2800" b="1" dirty="0">
                <a:solidFill>
                  <a:srgbClr val="030305"/>
                </a:solidFill>
                <a:latin typeface="+mn-ea"/>
              </a:rPr>
              <a:t>t1 ‘=’ </a:t>
            </a:r>
            <a:r>
              <a:rPr lang="en-US" altLang="zh-CN" sz="2800" b="1" dirty="0" err="1">
                <a:solidFill>
                  <a:srgbClr val="030305"/>
                </a:solidFill>
                <a:latin typeface="+mn-ea"/>
              </a:rPr>
              <a:t>t</a:t>
            </a:r>
            <a:r>
              <a:rPr lang="en-US" altLang="zh-CN" sz="2800" b="1" dirty="0" err="1">
                <a:solidFill>
                  <a:srgbClr val="03010F"/>
                </a:solidFill>
                <a:latin typeface="+mn-ea"/>
                <a:sym typeface="Symbol" panose="05050102010706020507" pitchFamily="18" charset="2"/>
              </a:rPr>
              <a:t>.</a:t>
            </a:r>
            <a:r>
              <a:rPr lang="en-US" altLang="zh-CN" sz="2800" b="1" dirty="0" err="1">
                <a:solidFill>
                  <a:srgbClr val="03010F"/>
                </a:solidFill>
                <a:latin typeface="+mn-ea"/>
              </a:rPr>
              <a:t>lchild</a:t>
            </a:r>
            <a:r>
              <a:rPr lang="en-US" altLang="zh-CN" sz="2800" b="1" dirty="0" err="1">
                <a:solidFill>
                  <a:srgbClr val="03010F"/>
                </a:solidFill>
                <a:latin typeface="+mn-ea"/>
                <a:sym typeface="Symbol" panose="05050102010706020507" pitchFamily="18" charset="2"/>
              </a:rPr>
              <a:t>.</a:t>
            </a:r>
            <a:r>
              <a:rPr lang="en-US" altLang="zh-CN" sz="2800" b="1" dirty="0" err="1">
                <a:solidFill>
                  <a:srgbClr val="03010F"/>
                </a:solidFill>
                <a:latin typeface="+mn-ea"/>
              </a:rPr>
              <a:t>strval</a:t>
            </a:r>
            <a:r>
              <a:rPr lang="en-US" altLang="zh-CN" sz="2800" dirty="0">
                <a:latin typeface="+mn-ea"/>
              </a:rPr>
              <a:t> </a:t>
            </a:r>
            <a:r>
              <a:rPr lang="en-US" altLang="zh-CN" sz="2800" b="1" dirty="0">
                <a:solidFill>
                  <a:srgbClr val="030305"/>
                </a:solidFill>
                <a:latin typeface="+mn-ea"/>
              </a:rPr>
              <a:t>‘*’ </a:t>
            </a:r>
            <a:r>
              <a:rPr lang="en-US" altLang="zh-CN" sz="2800" b="1" dirty="0" err="1">
                <a:solidFill>
                  <a:srgbClr val="030305"/>
                </a:solidFill>
                <a:latin typeface="+mn-ea"/>
              </a:rPr>
              <a:t>elem_size</a:t>
            </a:r>
            <a:r>
              <a:rPr lang="en-US" altLang="zh-CN" sz="2800" b="1" dirty="0">
                <a:solidFill>
                  <a:srgbClr val="030305"/>
                </a:solidFill>
                <a:latin typeface="+mn-ea"/>
              </a:rPr>
              <a:t> (</a:t>
            </a:r>
            <a:r>
              <a:rPr lang="en-US" altLang="zh-CN" sz="2800" b="1" dirty="0" err="1">
                <a:solidFill>
                  <a:srgbClr val="030305"/>
                </a:solidFill>
                <a:latin typeface="+mn-ea"/>
              </a:rPr>
              <a:t>t.strval</a:t>
            </a:r>
            <a:r>
              <a:rPr lang="en-US" altLang="zh-CN" sz="2800" b="1" dirty="0">
                <a:solidFill>
                  <a:srgbClr val="030305"/>
                </a:solidFill>
                <a:latin typeface="+mn-ea"/>
              </a:rPr>
              <a:t>)</a:t>
            </a:r>
            <a:endParaRPr lang="en-US" altLang="zh-CN" sz="2800" b="1" dirty="0">
              <a:solidFill>
                <a:srgbClr val="030305"/>
              </a:solidFill>
              <a:latin typeface="+mn-ea"/>
            </a:endParaRPr>
          </a:p>
          <a:p>
            <a:r>
              <a:rPr lang="en-US" altLang="zh-CN" sz="2800" b="1" dirty="0">
                <a:solidFill>
                  <a:srgbClr val="030305"/>
                </a:solidFill>
                <a:latin typeface="+mn-ea"/>
              </a:rPr>
              <a:t>t2 ‘= ’ &amp;</a:t>
            </a:r>
            <a:r>
              <a:rPr lang="en-US" altLang="zh-CN" sz="2800" b="1" dirty="0" err="1">
                <a:solidFill>
                  <a:srgbClr val="030305"/>
                </a:solidFill>
                <a:latin typeface="+mn-ea"/>
              </a:rPr>
              <a:t>t.strval</a:t>
            </a:r>
            <a:r>
              <a:rPr lang="en-US" altLang="zh-CN" sz="2800" b="1" dirty="0">
                <a:solidFill>
                  <a:srgbClr val="030305"/>
                </a:solidFill>
                <a:latin typeface="+mn-ea"/>
              </a:rPr>
              <a:t> ‘+’ t1</a:t>
            </a:r>
            <a:endParaRPr lang="en-US" altLang="zh-CN" sz="2800" b="1" dirty="0">
              <a:solidFill>
                <a:srgbClr val="030305"/>
              </a:solidFill>
              <a:latin typeface="+mn-ea"/>
            </a:endParaRPr>
          </a:p>
          <a:p>
            <a:r>
              <a:rPr lang="en-US" altLang="zh-CN" sz="2800" b="1" dirty="0" err="1">
                <a:solidFill>
                  <a:schemeClr val="accent1"/>
                </a:solidFill>
                <a:latin typeface="+mn-ea"/>
              </a:rPr>
              <a:t>t.strval</a:t>
            </a:r>
            <a:r>
              <a:rPr lang="en-US" altLang="zh-CN" sz="2800" b="1" dirty="0">
                <a:solidFill>
                  <a:schemeClr val="accent1"/>
                </a:solidFill>
                <a:latin typeface="+mn-ea"/>
              </a:rPr>
              <a:t> =   *t2</a:t>
            </a:r>
            <a:endParaRPr lang="en-US" altLang="zh-CN" sz="2800" b="1" dirty="0">
              <a:solidFill>
                <a:schemeClr val="accent1"/>
              </a:solidFill>
              <a:latin typeface="+mn-ea"/>
            </a:endParaRPr>
          </a:p>
        </p:txBody>
      </p:sp>
      <p:sp>
        <p:nvSpPr>
          <p:cNvPr id="28" name="Rectangle 14"/>
          <p:cNvSpPr>
            <a:spLocks noChangeArrowheads="1"/>
          </p:cNvSpPr>
          <p:nvPr>
            <p:custDataLst>
              <p:tags r:id="rId8"/>
            </p:custDataLst>
          </p:nvPr>
        </p:nvSpPr>
        <p:spPr bwMode="auto">
          <a:xfrm>
            <a:off x="7999861" y="1396608"/>
            <a:ext cx="32416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r>
              <a:rPr lang="en-US" altLang="zh-CN" sz="2800" i="1">
                <a:solidFill>
                  <a:srgbClr val="030305"/>
                </a:solidFill>
                <a:latin typeface="+mn-ea"/>
              </a:rPr>
              <a:t>subs→</a:t>
            </a:r>
            <a:r>
              <a:rPr lang="en-US" altLang="zh-CN" sz="2800" b="1">
                <a:solidFill>
                  <a:srgbClr val="030305"/>
                </a:solidFill>
                <a:latin typeface="+mn-ea"/>
              </a:rPr>
              <a:t>id[</a:t>
            </a:r>
            <a:r>
              <a:rPr lang="en-US" altLang="zh-CN" sz="2800" i="1">
                <a:solidFill>
                  <a:srgbClr val="030305"/>
                </a:solidFill>
                <a:latin typeface="+mn-ea"/>
              </a:rPr>
              <a:t>exp</a:t>
            </a:r>
            <a:r>
              <a:rPr lang="en-US" altLang="zh-CN" sz="2800" b="1">
                <a:solidFill>
                  <a:srgbClr val="030305"/>
                </a:solidFill>
                <a:latin typeface="+mn-ea"/>
              </a:rPr>
              <a:t>]</a:t>
            </a:r>
            <a:endParaRPr lang="en-US" altLang="zh-CN" sz="2800" b="1">
              <a:solidFill>
                <a:srgbClr val="030305"/>
              </a:solidFill>
              <a:latin typeface="+mn-ea"/>
            </a:endParaRPr>
          </a:p>
        </p:txBody>
      </p:sp>
      <p:sp>
        <p:nvSpPr>
          <p:cNvPr id="31" name="AutoShape 18"/>
          <p:cNvSpPr>
            <a:spLocks noChangeArrowheads="1"/>
          </p:cNvSpPr>
          <p:nvPr>
            <p:custDataLst>
              <p:tags r:id="rId9"/>
            </p:custDataLst>
          </p:nvPr>
        </p:nvSpPr>
        <p:spPr bwMode="auto">
          <a:xfrm>
            <a:off x="7073471" y="8649240"/>
            <a:ext cx="1740180" cy="647700"/>
          </a:xfrm>
          <a:prstGeom prst="cloudCallout">
            <a:avLst>
              <a:gd name="adj1" fmla="val -119260"/>
              <a:gd name="adj2" fmla="val -81228"/>
            </a:avLst>
          </a:prstGeom>
          <a:noFill/>
          <a:ln w="28575">
            <a:solidFill>
              <a:schemeClr val="bg1">
                <a:lumMod val="65000"/>
              </a:schemeClr>
            </a:solidFill>
            <a:miter lim="800000"/>
          </a:ln>
          <a:extLst>
            <a:ext uri="{909E8E84-426E-40DD-AFC4-6F175D3DCCD1}">
              <a14:hiddenFill xmlns:a14="http://schemas.microsoft.com/office/drawing/2010/main">
                <a:solidFill>
                  <a:srgbClr val="FFFFFF"/>
                </a:solidFill>
              </a14:hiddenFill>
            </a:ext>
          </a:extLst>
        </p:spPr>
        <p:txBody>
          <a:bodyPr/>
          <a:p>
            <a:pPr algn="ctr">
              <a:spcBef>
                <a:spcPct val="20000"/>
              </a:spcBef>
              <a:buClr>
                <a:schemeClr val="accent2"/>
              </a:buClr>
            </a:pPr>
            <a:r>
              <a:rPr lang="en-US" altLang="zh-CN" sz="2400" b="1">
                <a:solidFill>
                  <a:srgbClr val="FF0000"/>
                </a:solidFill>
                <a:latin typeface="+mn-ea"/>
              </a:rPr>
              <a:t>id</a:t>
            </a:r>
            <a:endParaRPr lang="en-US" altLang="zh-CN" sz="2400" b="1">
              <a:solidFill>
                <a:srgbClr val="FF0000"/>
              </a:solidFill>
              <a:latin typeface="+mn-ea"/>
            </a:endParaRPr>
          </a:p>
        </p:txBody>
      </p:sp>
      <p:sp>
        <p:nvSpPr>
          <p:cNvPr id="32" name="AutoShape 19"/>
          <p:cNvSpPr>
            <a:spLocks noChangeArrowheads="1"/>
          </p:cNvSpPr>
          <p:nvPr>
            <p:custDataLst>
              <p:tags r:id="rId10"/>
            </p:custDataLst>
          </p:nvPr>
        </p:nvSpPr>
        <p:spPr bwMode="auto">
          <a:xfrm>
            <a:off x="3257682" y="9356968"/>
            <a:ext cx="4139546" cy="1223962"/>
          </a:xfrm>
          <a:prstGeom prst="cloudCallout">
            <a:avLst>
              <a:gd name="adj1" fmla="val -32187"/>
              <a:gd name="adj2" fmla="val -82649"/>
            </a:avLst>
          </a:prstGeom>
          <a:noFill/>
          <a:ln w="28575">
            <a:solidFill>
              <a:schemeClr val="bg1">
                <a:lumMod val="65000"/>
              </a:schemeClr>
            </a:solidFill>
            <a:miter lim="800000"/>
          </a:ln>
          <a:extLst>
            <a:ext uri="{909E8E84-426E-40DD-AFC4-6F175D3DCCD1}">
              <a14:hiddenFill xmlns:a14="http://schemas.microsoft.com/office/drawing/2010/main">
                <a:solidFill>
                  <a:srgbClr val="FFFFFF"/>
                </a:solidFill>
              </a14:hiddenFill>
            </a:ext>
          </a:extLst>
        </p:spPr>
        <p:txBody>
          <a:bodyPr/>
          <a:p>
            <a:pPr algn="ctr">
              <a:spcBef>
                <a:spcPct val="20000"/>
              </a:spcBef>
              <a:buClr>
                <a:schemeClr val="accent2"/>
              </a:buClr>
              <a:buFont typeface="Wingdings" panose="05000000000000000000" pitchFamily="2" charset="2"/>
              <a:buNone/>
            </a:pPr>
            <a:r>
              <a:rPr lang="zh-CN" altLang="en-US" sz="2400" b="1" dirty="0">
                <a:solidFill>
                  <a:srgbClr val="FF0000"/>
                </a:solidFill>
                <a:latin typeface="+mn-ea"/>
              </a:rPr>
              <a:t>根节点进一步参与运算的名字属性</a:t>
            </a:r>
            <a:endParaRPr lang="zh-CN" altLang="en-US" sz="2400" b="1" dirty="0">
              <a:solidFill>
                <a:srgbClr val="FF0000"/>
              </a:solidFill>
              <a:latin typeface="+mn-ea"/>
            </a:endParaRPr>
          </a:p>
        </p:txBody>
      </p:sp>
      <p:sp>
        <p:nvSpPr>
          <p:cNvPr id="4" name="矩形 3"/>
          <p:cNvSpPr/>
          <p:nvPr>
            <p:custDataLst>
              <p:tags r:id="rId11"/>
            </p:custDataLst>
          </p:nvPr>
        </p:nvSpPr>
        <p:spPr>
          <a:xfrm>
            <a:off x="392430" y="4531360"/>
            <a:ext cx="11414125" cy="1314450"/>
          </a:xfrm>
          <a:prstGeom prst="rect">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strips(down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strips(down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6">
                                            <p:txEl>
                                              <p:pRg st="0" end="0"/>
                                            </p:txEl>
                                          </p:spTgt>
                                        </p:tgtEl>
                                        <p:attrNameLst>
                                          <p:attrName>style.visibility</p:attrName>
                                        </p:attrNameLst>
                                      </p:cBhvr>
                                      <p:to>
                                        <p:strVal val="visible"/>
                                      </p:to>
                                    </p:set>
                                    <p:animEffect transition="in" filter="strips(downLeft)">
                                      <p:cBhvr>
                                        <p:cTn id="22" dur="500"/>
                                        <p:tgtEl>
                                          <p:spTgt spid="2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26">
                                            <p:txEl>
                                              <p:pRg st="1" end="1"/>
                                            </p:txEl>
                                          </p:spTgt>
                                        </p:tgtEl>
                                        <p:attrNameLst>
                                          <p:attrName>style.visibility</p:attrName>
                                        </p:attrNameLst>
                                      </p:cBhvr>
                                      <p:to>
                                        <p:strVal val="visible"/>
                                      </p:to>
                                    </p:set>
                                    <p:animEffect transition="in" filter="strips(downLeft)">
                                      <p:cBhvr>
                                        <p:cTn id="27" dur="500"/>
                                        <p:tgtEl>
                                          <p:spTgt spid="2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arn(inHorizontal)">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26">
                                            <p:txEl>
                                              <p:pRg st="2" end="2"/>
                                            </p:txEl>
                                          </p:spTgt>
                                        </p:tgtEl>
                                        <p:attrNameLst>
                                          <p:attrName>style.visibility</p:attrName>
                                        </p:attrNameLst>
                                      </p:cBhvr>
                                      <p:to>
                                        <p:strVal val="visible"/>
                                      </p:to>
                                    </p:set>
                                    <p:animEffect transition="in" filter="strips(downLeft)">
                                      <p:cBhvr>
                                        <p:cTn id="37" dur="500"/>
                                        <p:tgtEl>
                                          <p:spTgt spid="2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barn(inHorizontal)">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uiExpand="1" build="allAtOnce"/>
      <p:bldP spid="31" grpId="0" bldLvl="0" animBg="1"/>
      <p:bldP spid="32"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35610" y="276860"/>
            <a:ext cx="7740015" cy="593090"/>
          </a:xfrm>
        </p:spPr>
        <p:txBody>
          <a:bodyPr/>
          <a:lstStyle/>
          <a:p>
            <a:r>
              <a:rPr lang="en-US" altLang="zh-CN" dirty="0"/>
              <a:t>6.3.2 </a:t>
            </a:r>
            <a:r>
              <a:rPr lang="zh-CN" altLang="en-US" dirty="0"/>
              <a:t>数组引用的三地址码生成</a:t>
            </a:r>
            <a:endParaRPr lang="zh-CN" altLang="en-US" dirty="0"/>
          </a:p>
        </p:txBody>
      </p:sp>
      <p:sp>
        <p:nvSpPr>
          <p:cNvPr id="31" name="Rectangle 3"/>
          <p:cNvSpPr>
            <a:spLocks noChangeArrowheads="1"/>
          </p:cNvSpPr>
          <p:nvPr/>
        </p:nvSpPr>
        <p:spPr bwMode="auto">
          <a:xfrm>
            <a:off x="385445" y="1193800"/>
            <a:ext cx="7107555" cy="5177790"/>
          </a:xfrm>
          <a:prstGeom prst="rect">
            <a:avLst/>
          </a:prstGeom>
          <a:solidFill>
            <a:schemeClr val="bg2"/>
          </a:solidFill>
          <a:ln>
            <a:noFill/>
          </a:ln>
        </p:spPr>
        <p:txBody>
          <a:bodyPr wrap="square">
            <a:no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r>
              <a:rPr lang="en-US" altLang="zh-CN" sz="2000" b="1" dirty="0">
                <a:solidFill>
                  <a:srgbClr val="03010F"/>
                </a:solidFill>
                <a:cs typeface="Times New Roman" panose="02020603050405020304" pitchFamily="18" charset="0"/>
              </a:rPr>
              <a:t>Void </a:t>
            </a:r>
            <a:r>
              <a:rPr lang="en-US" altLang="zh-CN" sz="2000" b="1" dirty="0" err="1">
                <a:solidFill>
                  <a:srgbClr val="03010F"/>
                </a:solidFill>
                <a:cs typeface="Times New Roman" panose="02020603050405020304" pitchFamily="18" charset="0"/>
              </a:rPr>
              <a:t>genCode</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SyntaxTree</a:t>
            </a:r>
            <a:r>
              <a:rPr lang="en-US" altLang="zh-CN" sz="2000" b="1" dirty="0">
                <a:solidFill>
                  <a:srgbClr val="03010F"/>
                </a:solidFill>
                <a:cs typeface="Times New Roman" panose="02020603050405020304" pitchFamily="18" charset="0"/>
              </a:rPr>
              <a:t> t)</a:t>
            </a:r>
            <a:endParaRPr lang="en-US" altLang="zh-CN" sz="2000" b="1" dirty="0">
              <a:solidFill>
                <a:srgbClr val="03010F"/>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{if(t!=NULL</a:t>
            </a:r>
            <a:r>
              <a:rPr lang="zh-CN" altLang="en-US" sz="2000" b="1" dirty="0">
                <a:solidFill>
                  <a:srgbClr val="03010F"/>
                </a:solidFill>
                <a:cs typeface="Times New Roman" panose="02020603050405020304" pitchFamily="18" charset="0"/>
              </a:rPr>
              <a:t>)</a:t>
            </a:r>
            <a:endParaRPr lang="zh-CN" altLang="en-US" sz="2000" b="1" dirty="0">
              <a:solidFill>
                <a:srgbClr val="03010F"/>
              </a:solidFill>
              <a:cs typeface="Times New Roman" panose="02020603050405020304" pitchFamily="18" charset="0"/>
            </a:endParaRPr>
          </a:p>
          <a:p>
            <a:pPr>
              <a:lnSpc>
                <a:spcPct val="100000"/>
              </a:lnSpc>
            </a:pPr>
            <a:r>
              <a:rPr lang="zh-CN" altLang="en-US"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rPr>
              <a:t>switch(t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kind)</a:t>
            </a:r>
            <a:endParaRPr lang="en-US" altLang="zh-CN" sz="2000" b="1" dirty="0">
              <a:solidFill>
                <a:srgbClr val="03010F"/>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  {case </a:t>
            </a:r>
            <a:r>
              <a:rPr lang="en-US" altLang="zh-CN" sz="2000" b="1" dirty="0" err="1">
                <a:solidFill>
                  <a:srgbClr val="FF3399"/>
                </a:solidFill>
                <a:cs typeface="Times New Roman" panose="02020603050405020304" pitchFamily="18" charset="0"/>
              </a:rPr>
              <a:t>OpKind</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   switch(t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op)</a:t>
            </a:r>
            <a:endParaRPr lang="en-US" altLang="zh-CN" sz="2000" b="1" dirty="0">
              <a:solidFill>
                <a:srgbClr val="03010F"/>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    {case Plus: </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err="1">
                <a:solidFill>
                  <a:srgbClr val="FF3399"/>
                </a:solidFill>
                <a:cs typeface="Times New Roman" panose="02020603050405020304" pitchFamily="18" charset="0"/>
              </a:rPr>
              <a:t>genCode</a:t>
            </a:r>
            <a:r>
              <a:rPr lang="en-US" altLang="zh-CN" sz="2000" b="1" dirty="0">
                <a:solidFill>
                  <a:srgbClr val="FF3399"/>
                </a:solidFill>
                <a:cs typeface="Times New Roman" panose="02020603050405020304" pitchFamily="18" charset="0"/>
              </a:rPr>
              <a:t>(t </a:t>
            </a:r>
            <a:r>
              <a:rPr lang="en-US" altLang="zh-CN" sz="2000" b="1" dirty="0">
                <a:solidFill>
                  <a:srgbClr val="FF3399"/>
                </a:solidFill>
                <a:cs typeface="Times New Roman" panose="02020603050405020304" pitchFamily="18" charset="0"/>
                <a:sym typeface="Symbol" panose="05050102010706020507" pitchFamily="18" charset="2"/>
              </a:rPr>
              <a:t></a:t>
            </a:r>
            <a:r>
              <a:rPr lang="en-US" altLang="zh-CN" sz="2000" b="1" dirty="0">
                <a:solidFill>
                  <a:srgbClr val="FF3399"/>
                </a:solidFill>
                <a:cs typeface="Times New Roman" panose="02020603050405020304" pitchFamily="18" charset="0"/>
              </a:rPr>
              <a:t> </a:t>
            </a:r>
            <a:r>
              <a:rPr lang="en-US" altLang="zh-CN" sz="2000" b="1" dirty="0" err="1">
                <a:solidFill>
                  <a:srgbClr val="FF3399"/>
                </a:solidFill>
                <a:cs typeface="Times New Roman" panose="02020603050405020304" pitchFamily="18" charset="0"/>
              </a:rPr>
              <a:t>lchild</a:t>
            </a:r>
            <a:r>
              <a:rPr lang="en-US" altLang="zh-CN" sz="2000" b="1" dirty="0">
                <a:solidFill>
                  <a:srgbClr val="FF3399"/>
                </a:solidFill>
                <a:cs typeface="Times New Roman" panose="02020603050405020304" pitchFamily="18" charset="0"/>
              </a:rPr>
              <a:t>);</a:t>
            </a:r>
            <a:endParaRPr lang="en-US" altLang="zh-CN" sz="2000" b="1" dirty="0">
              <a:solidFill>
                <a:srgbClr val="FF3399"/>
              </a:solidFill>
              <a:cs typeface="Times New Roman" panose="02020603050405020304" pitchFamily="18" charset="0"/>
            </a:endParaRPr>
          </a:p>
          <a:p>
            <a:pPr lvl="1">
              <a:lnSpc>
                <a:spcPct val="100000"/>
              </a:lnSpc>
            </a:pPr>
            <a:r>
              <a:rPr lang="en-US" altLang="zh-CN" sz="2000" b="1" dirty="0" err="1">
                <a:solidFill>
                  <a:srgbClr val="FF3399"/>
                </a:solidFill>
                <a:cs typeface="Times New Roman" panose="02020603050405020304" pitchFamily="18" charset="0"/>
              </a:rPr>
              <a:t>genCode</a:t>
            </a:r>
            <a:r>
              <a:rPr lang="en-US" altLang="zh-CN" sz="2000" b="1" dirty="0">
                <a:solidFill>
                  <a:srgbClr val="FF3399"/>
                </a:solidFill>
                <a:cs typeface="Times New Roman" panose="02020603050405020304" pitchFamily="18" charset="0"/>
              </a:rPr>
              <a:t>(t </a:t>
            </a:r>
            <a:r>
              <a:rPr lang="en-US" altLang="zh-CN" sz="2000" b="1" dirty="0">
                <a:solidFill>
                  <a:srgbClr val="FF3399"/>
                </a:solidFill>
                <a:cs typeface="Times New Roman" panose="02020603050405020304" pitchFamily="18" charset="0"/>
                <a:sym typeface="Symbol" panose="05050102010706020507" pitchFamily="18" charset="2"/>
              </a:rPr>
              <a:t></a:t>
            </a:r>
            <a:r>
              <a:rPr lang="en-US" altLang="zh-CN" sz="2000" b="1" dirty="0">
                <a:solidFill>
                  <a:srgbClr val="FF3399"/>
                </a:solidFill>
                <a:cs typeface="Times New Roman" panose="02020603050405020304" pitchFamily="18" charset="0"/>
              </a:rPr>
              <a:t> </a:t>
            </a:r>
            <a:r>
              <a:rPr lang="en-US" altLang="zh-CN" sz="2000" b="1" dirty="0" err="1">
                <a:solidFill>
                  <a:srgbClr val="FF3399"/>
                </a:solidFill>
                <a:cs typeface="Times New Roman" panose="02020603050405020304" pitchFamily="18" charset="0"/>
              </a:rPr>
              <a:t>rchild</a:t>
            </a:r>
            <a:r>
              <a:rPr lang="en-US" altLang="zh-CN" sz="2000" b="1" dirty="0">
                <a:solidFill>
                  <a:srgbClr val="FF3399"/>
                </a:solidFill>
                <a:cs typeface="Times New Roman" panose="02020603050405020304" pitchFamily="18" charset="0"/>
              </a:rPr>
              <a:t>);</a:t>
            </a:r>
            <a:endParaRPr lang="en-US" altLang="zh-CN" sz="2000" b="1" dirty="0">
              <a:solidFill>
                <a:srgbClr val="FF3399"/>
              </a:solidFill>
              <a:cs typeface="Times New Roman" panose="02020603050405020304" pitchFamily="18" charset="0"/>
            </a:endParaRPr>
          </a:p>
          <a:p>
            <a:pPr lvl="1">
              <a:lnSpc>
                <a:spcPct val="100000"/>
              </a:lnSpc>
            </a:pPr>
            <a:r>
              <a:rPr lang="en-US" altLang="zh-CN" sz="2000" b="1" dirty="0" err="1">
                <a:solidFill>
                  <a:srgbClr val="03010F"/>
                </a:solidFill>
                <a:cs typeface="Times New Roman" panose="02020603050405020304" pitchFamily="18" charset="0"/>
              </a:rPr>
              <a:t>t.strval</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newtemp</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lchild</a:t>
            </a:r>
            <a:r>
              <a:rPr lang="en-US" altLang="zh-CN"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err="1">
                <a:solidFill>
                  <a:srgbClr val="03010F"/>
                </a:solidFill>
                <a:cs typeface="Times New Roman" panose="02020603050405020304" pitchFamily="18" charset="0"/>
              </a:rPr>
              <a:t>rchild.strval</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break; </a:t>
            </a:r>
            <a:endParaRPr lang="en-US" altLang="zh-CN" sz="2000" b="1" dirty="0">
              <a:solidFill>
                <a:srgbClr val="03010F"/>
              </a:solidFill>
              <a:cs typeface="Times New Roman" panose="02020603050405020304" pitchFamily="18" charset="0"/>
            </a:endParaRPr>
          </a:p>
          <a:p>
            <a:pPr lvl="1" indent="-163195">
              <a:lnSpc>
                <a:spcPct val="100000"/>
              </a:lnSpc>
            </a:pPr>
            <a:r>
              <a:rPr lang="en-US" altLang="zh-CN" sz="2000" b="1" dirty="0">
                <a:solidFill>
                  <a:srgbClr val="03010F"/>
                </a:solidFill>
                <a:cs typeface="Times New Roman" panose="02020603050405020304" pitchFamily="18" charset="0"/>
                <a:sym typeface="+mn-ea"/>
              </a:rPr>
              <a:t>case Assign:</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sym typeface="+mn-ea"/>
              </a:rPr>
              <a:t>   </a:t>
            </a:r>
            <a:r>
              <a:rPr lang="en-US" altLang="zh-CN" sz="2000" b="1" dirty="0" err="1">
                <a:solidFill>
                  <a:srgbClr val="FF3399"/>
                </a:solidFill>
                <a:cs typeface="Times New Roman" panose="02020603050405020304" pitchFamily="18" charset="0"/>
                <a:sym typeface="+mn-ea"/>
              </a:rPr>
              <a:t>genCode</a:t>
            </a:r>
            <a:r>
              <a:rPr lang="en-US" altLang="zh-CN" sz="2000" b="1" dirty="0">
                <a:solidFill>
                  <a:srgbClr val="FF3399"/>
                </a:solidFill>
                <a:cs typeface="Times New Roman" panose="02020603050405020304" pitchFamily="18" charset="0"/>
                <a:sym typeface="+mn-ea"/>
              </a:rPr>
              <a:t>(t </a:t>
            </a:r>
            <a:r>
              <a:rPr lang="en-US" altLang="zh-CN" sz="2000" b="1" dirty="0">
                <a:solidFill>
                  <a:srgbClr val="FF3399"/>
                </a:solidFill>
                <a:cs typeface="Times New Roman" panose="02020603050405020304" pitchFamily="18" charset="0"/>
                <a:sym typeface="Symbol" panose="05050102010706020507" pitchFamily="18" charset="2"/>
              </a:rPr>
              <a:t></a:t>
            </a:r>
            <a:r>
              <a:rPr lang="en-US" altLang="zh-CN" sz="2000" b="1" dirty="0">
                <a:solidFill>
                  <a:srgbClr val="FF3399"/>
                </a:solidFill>
                <a:cs typeface="Times New Roman" panose="02020603050405020304" pitchFamily="18" charset="0"/>
                <a:sym typeface="+mn-ea"/>
              </a:rPr>
              <a:t> </a:t>
            </a:r>
            <a:r>
              <a:rPr lang="en-US" altLang="zh-CN" sz="2000" b="1" dirty="0" err="1">
                <a:solidFill>
                  <a:srgbClr val="FF3399"/>
                </a:solidFill>
                <a:cs typeface="Times New Roman" panose="02020603050405020304" pitchFamily="18" charset="0"/>
                <a:sym typeface="+mn-ea"/>
              </a:rPr>
              <a:t>lchild</a:t>
            </a:r>
            <a:r>
              <a:rPr lang="en-US" altLang="zh-CN" sz="2000" b="1" dirty="0">
                <a:solidFill>
                  <a:srgbClr val="FF3399"/>
                </a:solidFill>
                <a:cs typeface="Times New Roman" panose="02020603050405020304" pitchFamily="18" charset="0"/>
                <a:sym typeface="+mn-ea"/>
              </a:rPr>
              <a:t>);</a:t>
            </a:r>
            <a:endParaRPr lang="en-US" altLang="zh-CN" sz="2000" b="1" dirty="0">
              <a:solidFill>
                <a:srgbClr val="FF3399"/>
              </a:solidFill>
              <a:cs typeface="Times New Roman" panose="02020603050405020304" pitchFamily="18" charset="0"/>
            </a:endParaRPr>
          </a:p>
          <a:p>
            <a:pPr lvl="1">
              <a:lnSpc>
                <a:spcPct val="100000"/>
              </a:lnSpc>
            </a:pPr>
            <a:r>
              <a:rPr lang="en-US" altLang="zh-CN" sz="2000" b="1" dirty="0">
                <a:solidFill>
                  <a:srgbClr val="FF3399"/>
                </a:solidFill>
                <a:cs typeface="Times New Roman" panose="02020603050405020304" pitchFamily="18" charset="0"/>
                <a:sym typeface="+mn-ea"/>
              </a:rPr>
              <a:t>   </a:t>
            </a:r>
            <a:r>
              <a:rPr lang="en-US" altLang="zh-CN" sz="2000" b="1" dirty="0" err="1">
                <a:solidFill>
                  <a:srgbClr val="FF3399"/>
                </a:solidFill>
                <a:cs typeface="Times New Roman" panose="02020603050405020304" pitchFamily="18" charset="0"/>
                <a:sym typeface="+mn-ea"/>
              </a:rPr>
              <a:t>genCode</a:t>
            </a:r>
            <a:r>
              <a:rPr lang="en-US" altLang="zh-CN" sz="2000" b="1" dirty="0">
                <a:solidFill>
                  <a:srgbClr val="FF3399"/>
                </a:solidFill>
                <a:cs typeface="Times New Roman" panose="02020603050405020304" pitchFamily="18" charset="0"/>
                <a:sym typeface="+mn-ea"/>
              </a:rPr>
              <a:t>(t </a:t>
            </a:r>
            <a:r>
              <a:rPr lang="en-US" altLang="zh-CN" sz="2000" b="1" dirty="0">
                <a:solidFill>
                  <a:srgbClr val="FF3399"/>
                </a:solidFill>
                <a:cs typeface="Times New Roman" panose="02020603050405020304" pitchFamily="18" charset="0"/>
                <a:sym typeface="Symbol" panose="05050102010706020507" pitchFamily="18" charset="2"/>
              </a:rPr>
              <a:t></a:t>
            </a:r>
            <a:r>
              <a:rPr lang="en-US" altLang="zh-CN" sz="2000" b="1" dirty="0">
                <a:solidFill>
                  <a:srgbClr val="FF3399"/>
                </a:solidFill>
                <a:cs typeface="Times New Roman" panose="02020603050405020304" pitchFamily="18" charset="0"/>
                <a:sym typeface="+mn-ea"/>
              </a:rPr>
              <a:t> </a:t>
            </a:r>
            <a:r>
              <a:rPr lang="en-US" altLang="zh-CN" sz="2000" b="1" dirty="0" err="1">
                <a:solidFill>
                  <a:srgbClr val="FF3399"/>
                </a:solidFill>
                <a:cs typeface="Times New Roman" panose="02020603050405020304" pitchFamily="18" charset="0"/>
                <a:sym typeface="+mn-ea"/>
              </a:rPr>
              <a:t>rchild</a:t>
            </a:r>
            <a:r>
              <a:rPr lang="en-US" altLang="zh-CN" sz="2000" b="1" dirty="0">
                <a:solidFill>
                  <a:srgbClr val="FF3399"/>
                </a:solidFill>
                <a:cs typeface="Times New Roman" panose="02020603050405020304" pitchFamily="18" charset="0"/>
                <a:sym typeface="+mn-ea"/>
              </a:rPr>
              <a:t>);</a:t>
            </a:r>
            <a:endParaRPr lang="en-US" altLang="zh-CN" sz="2000" b="1" dirty="0">
              <a:solidFill>
                <a:srgbClr val="FF3399"/>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sym typeface="+mn-ea"/>
              </a:rPr>
              <a:t>   </a:t>
            </a:r>
            <a:r>
              <a:rPr lang="en-US" altLang="zh-CN" sz="2000" b="1" dirty="0">
                <a:solidFill>
                  <a:schemeClr val="hlink"/>
                </a:solidFill>
                <a:cs typeface="Times New Roman" panose="02020603050405020304" pitchFamily="18" charset="0"/>
                <a:sym typeface="+mn-ea"/>
              </a:rPr>
              <a:t>emit</a:t>
            </a:r>
            <a:r>
              <a:rPr lang="en-US" altLang="zh-CN" sz="2000" b="1" dirty="0">
                <a:solidFill>
                  <a:srgbClr val="03010F"/>
                </a:solidFill>
                <a:cs typeface="Times New Roman" panose="02020603050405020304" pitchFamily="18" charset="0"/>
                <a:sym typeface="+mn-ea"/>
              </a:rPr>
              <a:t>(t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sym typeface="+mn-ea"/>
              </a:rPr>
              <a:t> </a:t>
            </a:r>
            <a:r>
              <a:rPr lang="en-US" altLang="zh-CN" sz="2000" b="1" dirty="0" err="1">
                <a:solidFill>
                  <a:srgbClr val="03010F"/>
                </a:solidFill>
                <a:cs typeface="Times New Roman" panose="02020603050405020304" pitchFamily="18" charset="0"/>
                <a:sym typeface="+mn-ea"/>
              </a:rPr>
              <a:t>lchild.strval</a:t>
            </a:r>
            <a:r>
              <a:rPr lang="en-US" altLang="zh-CN" sz="2000" b="1" dirty="0">
                <a:solidFill>
                  <a:srgbClr val="03010F"/>
                </a:solidFill>
                <a:cs typeface="Times New Roman" panose="02020603050405020304" pitchFamily="18" charset="0"/>
                <a:sym typeface="+mn-ea"/>
              </a:rPr>
              <a:t> ‘=’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sym typeface="+mn-ea"/>
              </a:rPr>
              <a:t> </a:t>
            </a:r>
            <a:r>
              <a:rPr lang="en-US" altLang="zh-CN" sz="2000" b="1" dirty="0" err="1">
                <a:solidFill>
                  <a:srgbClr val="03010F"/>
                </a:solidFill>
                <a:cs typeface="Times New Roman" panose="02020603050405020304" pitchFamily="18" charset="0"/>
                <a:sym typeface="+mn-ea"/>
              </a:rPr>
              <a:t>rchild</a:t>
            </a:r>
            <a:r>
              <a:rPr lang="en-US" altLang="zh-CN" sz="2000" b="1" dirty="0">
                <a:solidFill>
                  <a:srgbClr val="03010F"/>
                </a:solidFill>
                <a:cs typeface="Times New Roman" panose="02020603050405020304" pitchFamily="18" charset="0"/>
                <a:sym typeface="+mn-ea"/>
              </a:rPr>
              <a: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sym typeface="+mn-ea"/>
              </a:rPr>
              <a:t> </a:t>
            </a:r>
            <a:r>
              <a:rPr lang="en-US" altLang="zh-CN" sz="2000" b="1" dirty="0" err="1">
                <a:solidFill>
                  <a:srgbClr val="03010F"/>
                </a:solidFill>
                <a:cs typeface="Times New Roman" panose="02020603050405020304" pitchFamily="18" charset="0"/>
                <a:sym typeface="+mn-ea"/>
              </a:rPr>
              <a:t>strval</a:t>
            </a:r>
            <a:r>
              <a:rPr lang="en-US" altLang="zh-CN" sz="2000" b="1" dirty="0">
                <a:solidFill>
                  <a:srgbClr val="03010F"/>
                </a:solidFill>
                <a:cs typeface="Times New Roman" panose="02020603050405020304" pitchFamily="18" charset="0"/>
                <a:sym typeface="+mn-ea"/>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sym typeface="+mn-ea"/>
              </a:rPr>
              <a:t>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sym typeface="+mn-ea"/>
              </a:rPr>
              <a:t> </a:t>
            </a:r>
            <a:r>
              <a:rPr lang="en-US" altLang="zh-CN" sz="2000" b="1" dirty="0" err="1">
                <a:solidFill>
                  <a:srgbClr val="03010F"/>
                </a:solidFill>
                <a:cs typeface="Times New Roman" panose="02020603050405020304" pitchFamily="18" charset="0"/>
                <a:sym typeface="+mn-ea"/>
              </a:rPr>
              <a:t>strval</a:t>
            </a:r>
            <a:r>
              <a:rPr lang="en-US" altLang="zh-CN" sz="2000" b="1" dirty="0">
                <a:solidFill>
                  <a:srgbClr val="03010F"/>
                </a:solidFill>
                <a:cs typeface="Times New Roman" panose="02020603050405020304" pitchFamily="18" charset="0"/>
                <a:sym typeface="+mn-ea"/>
              </a:rPr>
              <a:t>= 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sym typeface="+mn-ea"/>
              </a:rPr>
              <a:t> </a:t>
            </a:r>
            <a:r>
              <a:rPr lang="en-US" altLang="zh-CN" sz="2000" b="1" dirty="0" err="1">
                <a:solidFill>
                  <a:srgbClr val="03010F"/>
                </a:solidFill>
                <a:cs typeface="Times New Roman" panose="02020603050405020304" pitchFamily="18" charset="0"/>
                <a:sym typeface="+mn-ea"/>
              </a:rPr>
              <a:t>rchild</a:t>
            </a:r>
            <a:r>
              <a:rPr lang="en-US" altLang="zh-CN" sz="2000" b="1" dirty="0">
                <a:solidFill>
                  <a:srgbClr val="03010F"/>
                </a:solidFill>
                <a:cs typeface="Times New Roman" panose="02020603050405020304" pitchFamily="18" charset="0"/>
                <a:sym typeface="+mn-ea"/>
              </a:rPr>
              <a: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sym typeface="+mn-ea"/>
              </a:rPr>
              <a:t> </a:t>
            </a:r>
            <a:r>
              <a:rPr lang="en-US" altLang="zh-CN" sz="2000" b="1" dirty="0" err="1">
                <a:solidFill>
                  <a:srgbClr val="03010F"/>
                </a:solidFill>
                <a:cs typeface="Times New Roman" panose="02020603050405020304" pitchFamily="18" charset="0"/>
                <a:sym typeface="+mn-ea"/>
              </a:rPr>
              <a:t>strval</a:t>
            </a:r>
            <a:r>
              <a:rPr lang="en-US" altLang="zh-CN" sz="2000" b="1" dirty="0">
                <a:solidFill>
                  <a:srgbClr val="03010F"/>
                </a:solidFill>
                <a:cs typeface="Times New Roman" panose="02020603050405020304" pitchFamily="18" charset="0"/>
                <a:sym typeface="+mn-ea"/>
              </a:rPr>
              <a:t>; </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sym typeface="+mn-ea"/>
              </a:rPr>
              <a:t>   break; </a:t>
            </a:r>
            <a:endParaRPr lang="en-US" altLang="zh-CN" sz="2000" b="1" dirty="0">
              <a:solidFill>
                <a:srgbClr val="03010F"/>
              </a:solidFill>
              <a:latin typeface="Courier New" panose="02070309020205020404" pitchFamily="49" charset="0"/>
              <a:cs typeface="Courier New" panose="02070309020205020404" pitchFamily="49" charset="0"/>
            </a:endParaRPr>
          </a:p>
        </p:txBody>
      </p:sp>
      <p:sp>
        <p:nvSpPr>
          <p:cNvPr id="5" name="Rectangle 6"/>
          <p:cNvSpPr>
            <a:spLocks noChangeArrowheads="1"/>
          </p:cNvSpPr>
          <p:nvPr>
            <p:custDataLst>
              <p:tags r:id="rId1"/>
            </p:custDataLst>
          </p:nvPr>
        </p:nvSpPr>
        <p:spPr bwMode="auto">
          <a:xfrm>
            <a:off x="7612380" y="1193800"/>
            <a:ext cx="4241800" cy="5177155"/>
          </a:xfrm>
          <a:prstGeom prst="rect">
            <a:avLst/>
          </a:prstGeom>
          <a:solidFill>
            <a:schemeClr val="bg2"/>
          </a:solidFill>
          <a:ln>
            <a:noFill/>
          </a:ln>
        </p:spPr>
        <p:txBody>
          <a:bodyPr wrap="square" lIns="90000" tIns="46800" rIns="90000" bIns="46800">
            <a:no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r>
              <a:rPr lang="en-US" altLang="zh-CN" sz="2000" b="1" dirty="0">
                <a:solidFill>
                  <a:srgbClr val="03010F"/>
                </a:solidFill>
                <a:cs typeface="Times New Roman" panose="02020603050405020304" pitchFamily="18" charset="0"/>
              </a:rPr>
              <a:t>case Subs:</a:t>
            </a:r>
            <a:endParaRPr lang="en-US" altLang="zh-CN" sz="2000" b="1" dirty="0">
              <a:solidFill>
                <a:srgbClr val="03010F"/>
              </a:solidFill>
              <a:cs typeface="Times New Roman" panose="02020603050405020304" pitchFamily="18" charset="0"/>
            </a:endParaRPr>
          </a:p>
          <a:p>
            <a:pPr lvl="1"/>
            <a:r>
              <a:rPr lang="en-US" altLang="zh-CN" sz="2000" b="1" dirty="0" err="1">
                <a:solidFill>
                  <a:srgbClr val="FF3399"/>
                </a:solidFill>
                <a:cs typeface="Times New Roman" panose="02020603050405020304" pitchFamily="18" charset="0"/>
              </a:rPr>
              <a:t>genCode</a:t>
            </a:r>
            <a:r>
              <a:rPr lang="en-US" altLang="zh-CN" sz="2000" b="1" dirty="0">
                <a:solidFill>
                  <a:srgbClr val="FF3399"/>
                </a:solidFill>
                <a:cs typeface="Times New Roman" panose="02020603050405020304" pitchFamily="18" charset="0"/>
              </a:rPr>
              <a:t>(</a:t>
            </a:r>
            <a:r>
              <a:rPr lang="en-US" altLang="zh-CN" sz="2000" b="1" dirty="0" err="1">
                <a:solidFill>
                  <a:srgbClr val="FF3399"/>
                </a:solidFill>
                <a:cs typeface="Times New Roman" panose="02020603050405020304" pitchFamily="18" charset="0"/>
              </a:rPr>
              <a:t>t</a:t>
            </a:r>
            <a:r>
              <a:rPr lang="en-US" altLang="zh-CN" sz="2000" b="1" dirty="0" err="1">
                <a:solidFill>
                  <a:srgbClr val="FF3399"/>
                </a:solidFill>
                <a:cs typeface="Times New Roman" panose="02020603050405020304" pitchFamily="18" charset="0"/>
                <a:sym typeface="Symbol" panose="05050102010706020507" pitchFamily="18" charset="2"/>
              </a:rPr>
              <a:t></a:t>
            </a:r>
            <a:r>
              <a:rPr lang="en-US" altLang="zh-CN" sz="2000" b="1" dirty="0" err="1">
                <a:solidFill>
                  <a:srgbClr val="FF3399"/>
                </a:solidFill>
                <a:cs typeface="Times New Roman" panose="02020603050405020304" pitchFamily="18" charset="0"/>
              </a:rPr>
              <a:t>lchild</a:t>
            </a:r>
            <a:r>
              <a:rPr lang="en-US" altLang="zh-CN" sz="2000" b="1" dirty="0">
                <a:solidFill>
                  <a:srgbClr val="FF3399"/>
                </a:solidFill>
                <a:cs typeface="Times New Roman" panose="02020603050405020304" pitchFamily="18" charset="0"/>
              </a:rPr>
              <a:t>);</a:t>
            </a:r>
            <a:endParaRPr lang="en-US" altLang="zh-CN" sz="2000" b="1" dirty="0">
              <a:solidFill>
                <a:srgbClr val="FF3399"/>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temp1=</a:t>
            </a:r>
            <a:r>
              <a:rPr lang="en-US" altLang="zh-CN" sz="2000" b="1" dirty="0" err="1">
                <a:solidFill>
                  <a:srgbClr val="03010F"/>
                </a:solidFill>
                <a:cs typeface="Times New Roman" panose="02020603050405020304" pitchFamily="18" charset="0"/>
              </a:rPr>
              <a:t>newtemp</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(temp1 ‘=’</a:t>
            </a:r>
            <a:r>
              <a:rPr lang="en-US" altLang="zh-CN" sz="2000" b="1" dirty="0" err="1">
                <a:solidFill>
                  <a:srgbClr val="03010F"/>
                </a:solidFill>
                <a:cs typeface="Times New Roman" panose="02020603050405020304" pitchFamily="18" charset="0"/>
              </a:rPr>
              <a:t>t</a:t>
            </a:r>
            <a:r>
              <a:rPr lang="en-US" altLang="zh-CN" sz="2000" b="1" dirty="0" err="1">
                <a:solidFill>
                  <a:srgbClr val="03010F"/>
                </a:solidFill>
                <a:cs typeface="Times New Roman" panose="02020603050405020304" pitchFamily="18" charset="0"/>
                <a:sym typeface="Symbol" panose="05050102010706020507" pitchFamily="18" charset="2"/>
              </a:rPr>
              <a:t></a:t>
            </a:r>
            <a:r>
              <a:rPr lang="en-US" altLang="zh-CN" sz="2000" b="1" dirty="0" err="1">
                <a:solidFill>
                  <a:srgbClr val="03010F"/>
                </a:solidFill>
                <a:cs typeface="Times New Roman" panose="02020603050405020304" pitchFamily="18" charset="0"/>
              </a:rPr>
              <a:t>lchild</a:t>
            </a:r>
            <a:r>
              <a:rPr lang="en-US" altLang="zh-CN" sz="2000" b="1" dirty="0" err="1">
                <a:solidFill>
                  <a:srgbClr val="03010F"/>
                </a:solidFill>
                <a:cs typeface="Times New Roman" panose="02020603050405020304" pitchFamily="18" charset="0"/>
                <a:sym typeface="Symbol" panose="05050102010706020507" pitchFamily="18" charset="2"/>
              </a:rPr>
              <a: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elem_size</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t</a:t>
            </a:r>
            <a:r>
              <a:rPr lang="en-US" altLang="zh-CN" sz="2000" b="1" dirty="0" err="1">
                <a:solidFill>
                  <a:srgbClr val="03010F"/>
                </a:solidFill>
                <a:cs typeface="Times New Roman" panose="02020603050405020304" pitchFamily="18" charset="0"/>
                <a:sym typeface="Symbol" panose="05050102010706020507" pitchFamily="18" charset="2"/>
              </a:rPr>
              <a: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temp2=</a:t>
            </a:r>
            <a:r>
              <a:rPr lang="en-US" altLang="zh-CN" sz="2000" b="1" dirty="0" err="1">
                <a:solidFill>
                  <a:srgbClr val="03010F"/>
                </a:solidFill>
                <a:cs typeface="Times New Roman" panose="02020603050405020304" pitchFamily="18" charset="0"/>
              </a:rPr>
              <a:t>newtemp</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(temp2 ‘=’ &amp;t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        ‘+’temp1);</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t</a:t>
            </a:r>
            <a:r>
              <a:rPr lang="zh-CN" altLang="en-US"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sym typeface="Symbol" panose="05050102010706020507" pitchFamily="18" charset="2"/>
              </a:rPr>
              <a:t></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 *temp2;</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break;</a:t>
            </a:r>
            <a:endParaRPr lang="en-US" altLang="zh-CN" sz="2000" b="1" dirty="0">
              <a:solidFill>
                <a:srgbClr val="03010F"/>
              </a:solidFill>
              <a:cs typeface="Times New Roman" panose="02020603050405020304" pitchFamily="18" charset="0"/>
            </a:endParaRPr>
          </a:p>
          <a:p>
            <a:r>
              <a:rPr lang="en-US" altLang="zh-CN" sz="1000" b="1" dirty="0">
                <a:solidFill>
                  <a:srgbClr val="03010F"/>
                </a:solidFill>
                <a:cs typeface="Times New Roman" panose="02020603050405020304" pitchFamily="18" charset="0"/>
              </a:rPr>
              <a:t>default:</a:t>
            </a:r>
            <a:endParaRPr lang="en-US" altLang="zh-CN" sz="1000" b="1" dirty="0">
              <a:solidFill>
                <a:srgbClr val="03010F"/>
              </a:solidFill>
              <a:cs typeface="Times New Roman" panose="02020603050405020304" pitchFamily="18" charset="0"/>
            </a:endParaRPr>
          </a:p>
          <a:p>
            <a:r>
              <a:rPr lang="en-US" altLang="zh-CN" sz="1000" b="1" dirty="0">
                <a:solidFill>
                  <a:srgbClr val="03010F"/>
                </a:solidFill>
                <a:cs typeface="Times New Roman" panose="02020603050405020304" pitchFamily="18" charset="0"/>
              </a:rPr>
              <a:t>emit(“Error”);</a:t>
            </a:r>
            <a:endParaRPr lang="en-US" altLang="zh-CN" sz="1000" b="1" dirty="0">
              <a:solidFill>
                <a:srgbClr val="03010F"/>
              </a:solidFill>
              <a:cs typeface="Times New Roman" panose="02020603050405020304" pitchFamily="18" charset="0"/>
            </a:endParaRPr>
          </a:p>
          <a:p>
            <a:r>
              <a:rPr lang="en-US" altLang="zh-CN" sz="1000" b="1" dirty="0">
                <a:solidFill>
                  <a:srgbClr val="03010F"/>
                </a:solidFill>
                <a:cs typeface="Times New Roman" panose="02020603050405020304" pitchFamily="18" charset="0"/>
              </a:rPr>
              <a:t>break; </a:t>
            </a:r>
            <a:endParaRPr lang="en-US" altLang="zh-CN" sz="1000" b="1" dirty="0">
              <a:solidFill>
                <a:srgbClr val="03010F"/>
              </a:solidFill>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break;</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case </a:t>
            </a:r>
            <a:r>
              <a:rPr lang="en-US" altLang="zh-CN" sz="1000" b="1" dirty="0" err="1">
                <a:solidFill>
                  <a:srgbClr val="03010F"/>
                </a:solidFill>
                <a:cs typeface="Times New Roman" panose="02020603050405020304" pitchFamily="18" charset="0"/>
                <a:sym typeface="+mn-ea"/>
              </a:rPr>
              <a:t>ConstKind</a:t>
            </a:r>
            <a:r>
              <a:rPr lang="en-US" altLang="zh-CN" sz="1000" b="1" dirty="0">
                <a:solidFill>
                  <a:srgbClr val="03010F"/>
                </a:solidFill>
                <a:cs typeface="Times New Roman" panose="02020603050405020304" pitchFamily="18" charset="0"/>
                <a:sym typeface="+mn-ea"/>
              </a:rPr>
              <a:t>:</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break;</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case </a:t>
            </a:r>
            <a:r>
              <a:rPr lang="en-US" altLang="zh-CN" sz="1000" b="1" dirty="0" err="1">
                <a:solidFill>
                  <a:srgbClr val="03010F"/>
                </a:solidFill>
                <a:cs typeface="Times New Roman" panose="02020603050405020304" pitchFamily="18" charset="0"/>
                <a:sym typeface="+mn-ea"/>
              </a:rPr>
              <a:t>IdKind</a:t>
            </a:r>
            <a:r>
              <a:rPr lang="en-US" altLang="zh-CN" sz="1000" b="1" dirty="0">
                <a:solidFill>
                  <a:srgbClr val="03010F"/>
                </a:solidFill>
                <a:cs typeface="Times New Roman" panose="02020603050405020304" pitchFamily="18" charset="0"/>
                <a:sym typeface="+mn-ea"/>
              </a:rPr>
              <a:t>:</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break;</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default:</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emit(“error”);</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break;</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 }</a:t>
            </a:r>
            <a:endParaRPr lang="en-US" altLang="zh-CN" sz="1000" b="1" dirty="0">
              <a:solidFill>
                <a:srgbClr val="03010F"/>
              </a:solidFill>
              <a:latin typeface="Times New Roman" panose="02020603050405020304" pitchFamily="18" charset="0"/>
              <a:cs typeface="Times New Roman" panose="02020603050405020304" pitchFamily="18" charset="0"/>
            </a:endParaRPr>
          </a:p>
          <a:p>
            <a:r>
              <a:rPr lang="en-US" altLang="zh-CN" sz="1000" b="1" dirty="0">
                <a:solidFill>
                  <a:srgbClr val="03010F"/>
                </a:solidFill>
                <a:cs typeface="Times New Roman" panose="02020603050405020304" pitchFamily="18" charset="0"/>
                <a:sym typeface="+mn-ea"/>
              </a:rPr>
              <a:t>}</a:t>
            </a:r>
            <a:endParaRPr lang="en-US" altLang="zh-CN" sz="1000" b="1" dirty="0">
              <a:solidFill>
                <a:srgbClr val="03010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1">
                                            <p:txEl>
                                              <p:pRg st="6" end="6"/>
                                            </p:txEl>
                                          </p:spTgt>
                                        </p:tgtEl>
                                        <p:attrNameLst>
                                          <p:attrName>style.visibility</p:attrName>
                                        </p:attrNameLst>
                                      </p:cBhvr>
                                      <p:to>
                                        <p:strVal val="visible"/>
                                      </p:to>
                                    </p:set>
                                    <p:animEffect transition="in" filter="strips(downLeft)">
                                      <p:cBhvr>
                                        <p:cTn id="7" dur="500"/>
                                        <p:tgtEl>
                                          <p:spTgt spid="31">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1">
                                            <p:txEl>
                                              <p:pRg st="7" end="7"/>
                                            </p:txEl>
                                          </p:spTgt>
                                        </p:tgtEl>
                                        <p:attrNameLst>
                                          <p:attrName>style.visibility</p:attrName>
                                        </p:attrNameLst>
                                      </p:cBhvr>
                                      <p:to>
                                        <p:strVal val="visible"/>
                                      </p:to>
                                    </p:set>
                                    <p:animEffect transition="in" filter="strips(downLeft)">
                                      <p:cBhvr>
                                        <p:cTn id="12" dur="500"/>
                                        <p:tgtEl>
                                          <p:spTgt spid="31">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1">
                                            <p:txEl>
                                              <p:pRg st="8" end="8"/>
                                            </p:txEl>
                                          </p:spTgt>
                                        </p:tgtEl>
                                        <p:attrNameLst>
                                          <p:attrName>style.visibility</p:attrName>
                                        </p:attrNameLst>
                                      </p:cBhvr>
                                      <p:to>
                                        <p:strVal val="visible"/>
                                      </p:to>
                                    </p:set>
                                    <p:animEffect transition="in" filter="strips(downLeft)">
                                      <p:cBhvr>
                                        <p:cTn id="17" dur="500"/>
                                        <p:tgtEl>
                                          <p:spTgt spid="31">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31">
                                            <p:txEl>
                                              <p:pRg st="9" end="9"/>
                                            </p:txEl>
                                          </p:spTgt>
                                        </p:tgtEl>
                                        <p:attrNameLst>
                                          <p:attrName>style.visibility</p:attrName>
                                        </p:attrNameLst>
                                      </p:cBhvr>
                                      <p:to>
                                        <p:strVal val="visible"/>
                                      </p:to>
                                    </p:set>
                                    <p:animEffect transition="in" filter="strips(downLeft)">
                                      <p:cBhvr>
                                        <p:cTn id="22" dur="500"/>
                                        <p:tgtEl>
                                          <p:spTgt spid="31">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31">
                                            <p:txEl>
                                              <p:pRg st="10" end="10"/>
                                            </p:txEl>
                                          </p:spTgt>
                                        </p:tgtEl>
                                        <p:attrNameLst>
                                          <p:attrName>style.visibility</p:attrName>
                                        </p:attrNameLst>
                                      </p:cBhvr>
                                      <p:to>
                                        <p:strVal val="visible"/>
                                      </p:to>
                                    </p:set>
                                    <p:animEffect transition="in" filter="strips(downLeft)">
                                      <p:cBhvr>
                                        <p:cTn id="27" dur="500"/>
                                        <p:tgtEl>
                                          <p:spTgt spid="31">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31">
                                            <p:txEl>
                                              <p:pRg st="11" end="11"/>
                                            </p:txEl>
                                          </p:spTgt>
                                        </p:tgtEl>
                                        <p:attrNameLst>
                                          <p:attrName>style.visibility</p:attrName>
                                        </p:attrNameLst>
                                      </p:cBhvr>
                                      <p:to>
                                        <p:strVal val="visible"/>
                                      </p:to>
                                    </p:set>
                                    <p:animEffect transition="in" filter="strips(downLeft)">
                                      <p:cBhvr>
                                        <p:cTn id="32" dur="500"/>
                                        <p:tgtEl>
                                          <p:spTgt spid="31">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31">
                                            <p:txEl>
                                              <p:pRg st="12" end="12"/>
                                            </p:txEl>
                                          </p:spTgt>
                                        </p:tgtEl>
                                        <p:attrNameLst>
                                          <p:attrName>style.visibility</p:attrName>
                                        </p:attrNameLst>
                                      </p:cBhvr>
                                      <p:to>
                                        <p:strVal val="visible"/>
                                      </p:to>
                                    </p:set>
                                    <p:animEffect transition="in" filter="strips(downLeft)">
                                      <p:cBhvr>
                                        <p:cTn id="37" dur="500"/>
                                        <p:tgtEl>
                                          <p:spTgt spid="31">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31">
                                            <p:txEl>
                                              <p:pRg st="13" end="13"/>
                                            </p:txEl>
                                          </p:spTgt>
                                        </p:tgtEl>
                                        <p:attrNameLst>
                                          <p:attrName>style.visibility</p:attrName>
                                        </p:attrNameLst>
                                      </p:cBhvr>
                                      <p:to>
                                        <p:strVal val="visible"/>
                                      </p:to>
                                    </p:set>
                                    <p:animEffect transition="in" filter="strips(downLeft)">
                                      <p:cBhvr>
                                        <p:cTn id="42" dur="500"/>
                                        <p:tgtEl>
                                          <p:spTgt spid="31">
                                            <p:txEl>
                                              <p:pRg st="13" end="1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31">
                                            <p:txEl>
                                              <p:pRg st="14" end="14"/>
                                            </p:txEl>
                                          </p:spTgt>
                                        </p:tgtEl>
                                        <p:attrNameLst>
                                          <p:attrName>style.visibility</p:attrName>
                                        </p:attrNameLst>
                                      </p:cBhvr>
                                      <p:to>
                                        <p:strVal val="visible"/>
                                      </p:to>
                                    </p:set>
                                    <p:animEffect transition="in" filter="strips(downLeft)">
                                      <p:cBhvr>
                                        <p:cTn id="47" dur="500"/>
                                        <p:tgtEl>
                                          <p:spTgt spid="31">
                                            <p:txEl>
                                              <p:pRg st="14" end="1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31">
                                            <p:txEl>
                                              <p:pRg st="15" end="15"/>
                                            </p:txEl>
                                          </p:spTgt>
                                        </p:tgtEl>
                                        <p:attrNameLst>
                                          <p:attrName>style.visibility</p:attrName>
                                        </p:attrNameLst>
                                      </p:cBhvr>
                                      <p:to>
                                        <p:strVal val="visible"/>
                                      </p:to>
                                    </p:set>
                                    <p:animEffect transition="in" filter="strips(downLeft)">
                                      <p:cBhvr>
                                        <p:cTn id="52" dur="500"/>
                                        <p:tgtEl>
                                          <p:spTgt spid="31">
                                            <p:txEl>
                                              <p:pRg st="15" end="1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nodeType="clickEffect">
                                  <p:stCondLst>
                                    <p:cond delay="0"/>
                                  </p:stCondLst>
                                  <p:childTnLst>
                                    <p:set>
                                      <p:cBhvr>
                                        <p:cTn id="56" dur="1" fill="hold">
                                          <p:stCondLst>
                                            <p:cond delay="0"/>
                                          </p:stCondLst>
                                        </p:cTn>
                                        <p:tgtEl>
                                          <p:spTgt spid="31">
                                            <p:txEl>
                                              <p:pRg st="16" end="16"/>
                                            </p:txEl>
                                          </p:spTgt>
                                        </p:tgtEl>
                                        <p:attrNameLst>
                                          <p:attrName>style.visibility</p:attrName>
                                        </p:attrNameLst>
                                      </p:cBhvr>
                                      <p:to>
                                        <p:strVal val="visible"/>
                                      </p:to>
                                    </p:set>
                                    <p:animEffect transition="in" filter="strips(downLeft)">
                                      <p:cBhvr>
                                        <p:cTn id="57" dur="500"/>
                                        <p:tgtEl>
                                          <p:spTgt spid="31">
                                            <p:txEl>
                                              <p:pRg st="16" end="1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nodeType="clickEffect">
                                  <p:stCondLst>
                                    <p:cond delay="0"/>
                                  </p:stCondLst>
                                  <p:childTnLst>
                                    <p:set>
                                      <p:cBhvr>
                                        <p:cTn id="61" dur="1" fill="hold">
                                          <p:stCondLst>
                                            <p:cond delay="0"/>
                                          </p:stCondLst>
                                        </p:cTn>
                                        <p:tgtEl>
                                          <p:spTgt spid="5">
                                            <p:txEl>
                                              <p:pRg st="1" end="1"/>
                                            </p:txEl>
                                          </p:spTgt>
                                        </p:tgtEl>
                                        <p:attrNameLst>
                                          <p:attrName>style.visibility</p:attrName>
                                        </p:attrNameLst>
                                      </p:cBhvr>
                                      <p:to>
                                        <p:strVal val="visible"/>
                                      </p:to>
                                    </p:set>
                                    <p:animEffect transition="in" filter="strips(downLeft)">
                                      <p:cBhvr>
                                        <p:cTn id="62" dur="500"/>
                                        <p:tgtEl>
                                          <p:spTgt spid="5">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5">
                                            <p:txEl>
                                              <p:pRg st="2" end="2"/>
                                            </p:txEl>
                                          </p:spTgt>
                                        </p:tgtEl>
                                        <p:attrNameLst>
                                          <p:attrName>style.visibility</p:attrName>
                                        </p:attrNameLst>
                                      </p:cBhvr>
                                      <p:to>
                                        <p:strVal val="visible"/>
                                      </p:to>
                                    </p:set>
                                    <p:animEffect transition="in" filter="strips(downLeft)">
                                      <p:cBhvr>
                                        <p:cTn id="67" dur="500"/>
                                        <p:tgtEl>
                                          <p:spTgt spid="5">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5">
                                            <p:txEl>
                                              <p:pRg st="3" end="3"/>
                                            </p:txEl>
                                          </p:spTgt>
                                        </p:tgtEl>
                                        <p:attrNameLst>
                                          <p:attrName>style.visibility</p:attrName>
                                        </p:attrNameLst>
                                      </p:cBhvr>
                                      <p:to>
                                        <p:strVal val="visible"/>
                                      </p:to>
                                    </p:set>
                                    <p:animEffect transition="in" filter="strips(downLeft)">
                                      <p:cBhvr>
                                        <p:cTn id="72" dur="500"/>
                                        <p:tgtEl>
                                          <p:spTgt spid="5">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nodeType="clickEffect">
                                  <p:stCondLst>
                                    <p:cond delay="0"/>
                                  </p:stCondLst>
                                  <p:childTnLst>
                                    <p:set>
                                      <p:cBhvr>
                                        <p:cTn id="76" dur="1" fill="hold">
                                          <p:stCondLst>
                                            <p:cond delay="0"/>
                                          </p:stCondLst>
                                        </p:cTn>
                                        <p:tgtEl>
                                          <p:spTgt spid="5">
                                            <p:txEl>
                                              <p:pRg st="4" end="4"/>
                                            </p:txEl>
                                          </p:spTgt>
                                        </p:tgtEl>
                                        <p:attrNameLst>
                                          <p:attrName>style.visibility</p:attrName>
                                        </p:attrNameLst>
                                      </p:cBhvr>
                                      <p:to>
                                        <p:strVal val="visible"/>
                                      </p:to>
                                    </p:set>
                                    <p:animEffect transition="in" filter="strips(downLeft)">
                                      <p:cBhvr>
                                        <p:cTn id="77" dur="500"/>
                                        <p:tgtEl>
                                          <p:spTgt spid="5">
                                            <p:txEl>
                                              <p:pRg st="4" end="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nodeType="clickEffect">
                                  <p:stCondLst>
                                    <p:cond delay="0"/>
                                  </p:stCondLst>
                                  <p:childTnLst>
                                    <p:set>
                                      <p:cBhvr>
                                        <p:cTn id="81" dur="1" fill="hold">
                                          <p:stCondLst>
                                            <p:cond delay="0"/>
                                          </p:stCondLst>
                                        </p:cTn>
                                        <p:tgtEl>
                                          <p:spTgt spid="5">
                                            <p:txEl>
                                              <p:pRg st="5" end="5"/>
                                            </p:txEl>
                                          </p:spTgt>
                                        </p:tgtEl>
                                        <p:attrNameLst>
                                          <p:attrName>style.visibility</p:attrName>
                                        </p:attrNameLst>
                                      </p:cBhvr>
                                      <p:to>
                                        <p:strVal val="visible"/>
                                      </p:to>
                                    </p:set>
                                    <p:animEffect transition="in" filter="strips(downLeft)">
                                      <p:cBhvr>
                                        <p:cTn id="82" dur="500"/>
                                        <p:tgtEl>
                                          <p:spTgt spid="5">
                                            <p:txEl>
                                              <p:pRg st="5" end="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12" fill="hold" nodeType="clickEffect">
                                  <p:stCondLst>
                                    <p:cond delay="0"/>
                                  </p:stCondLst>
                                  <p:childTnLst>
                                    <p:set>
                                      <p:cBhvr>
                                        <p:cTn id="86" dur="1" fill="hold">
                                          <p:stCondLst>
                                            <p:cond delay="0"/>
                                          </p:stCondLst>
                                        </p:cTn>
                                        <p:tgtEl>
                                          <p:spTgt spid="5">
                                            <p:txEl>
                                              <p:pRg st="6" end="6"/>
                                            </p:txEl>
                                          </p:spTgt>
                                        </p:tgtEl>
                                        <p:attrNameLst>
                                          <p:attrName>style.visibility</p:attrName>
                                        </p:attrNameLst>
                                      </p:cBhvr>
                                      <p:to>
                                        <p:strVal val="visible"/>
                                      </p:to>
                                    </p:set>
                                    <p:animEffect transition="in" filter="strips(downLeft)">
                                      <p:cBhvr>
                                        <p:cTn id="87" dur="500"/>
                                        <p:tgtEl>
                                          <p:spTgt spid="5">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8" presetClass="entr" presetSubtype="12" fill="hold" nodeType="clickEffect">
                                  <p:stCondLst>
                                    <p:cond delay="0"/>
                                  </p:stCondLst>
                                  <p:childTnLst>
                                    <p:set>
                                      <p:cBhvr>
                                        <p:cTn id="91" dur="1" fill="hold">
                                          <p:stCondLst>
                                            <p:cond delay="0"/>
                                          </p:stCondLst>
                                        </p:cTn>
                                        <p:tgtEl>
                                          <p:spTgt spid="5">
                                            <p:txEl>
                                              <p:pRg st="7" end="7"/>
                                            </p:txEl>
                                          </p:spTgt>
                                        </p:tgtEl>
                                        <p:attrNameLst>
                                          <p:attrName>style.visibility</p:attrName>
                                        </p:attrNameLst>
                                      </p:cBhvr>
                                      <p:to>
                                        <p:strVal val="visible"/>
                                      </p:to>
                                    </p:set>
                                    <p:animEffect transition="in" filter="strips(downLeft)">
                                      <p:cBhvr>
                                        <p:cTn id="92" dur="500"/>
                                        <p:tgtEl>
                                          <p:spTgt spid="5">
                                            <p:txEl>
                                              <p:pRg st="7" end="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8" presetClass="entr" presetSubtype="12" fill="hold" nodeType="clickEffect">
                                  <p:stCondLst>
                                    <p:cond delay="0"/>
                                  </p:stCondLst>
                                  <p:childTnLst>
                                    <p:set>
                                      <p:cBhvr>
                                        <p:cTn id="96" dur="1" fill="hold">
                                          <p:stCondLst>
                                            <p:cond delay="0"/>
                                          </p:stCondLst>
                                        </p:cTn>
                                        <p:tgtEl>
                                          <p:spTgt spid="5">
                                            <p:txEl>
                                              <p:pRg st="8" end="8"/>
                                            </p:txEl>
                                          </p:spTgt>
                                        </p:tgtEl>
                                        <p:attrNameLst>
                                          <p:attrName>style.visibility</p:attrName>
                                        </p:attrNameLst>
                                      </p:cBhvr>
                                      <p:to>
                                        <p:strVal val="visible"/>
                                      </p:to>
                                    </p:set>
                                    <p:animEffect transition="in" filter="strips(downLeft)">
                                      <p:cBhvr>
                                        <p:cTn id="97" dur="500"/>
                                        <p:tgtEl>
                                          <p:spTgt spid="5">
                                            <p:txEl>
                                              <p:pRg st="8" end="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8" presetClass="entr" presetSubtype="12" fill="hold" nodeType="clickEffect">
                                  <p:stCondLst>
                                    <p:cond delay="0"/>
                                  </p:stCondLst>
                                  <p:childTnLst>
                                    <p:set>
                                      <p:cBhvr>
                                        <p:cTn id="101" dur="1" fill="hold">
                                          <p:stCondLst>
                                            <p:cond delay="0"/>
                                          </p:stCondLst>
                                        </p:cTn>
                                        <p:tgtEl>
                                          <p:spTgt spid="5">
                                            <p:txEl>
                                              <p:pRg st="9" end="9"/>
                                            </p:txEl>
                                          </p:spTgt>
                                        </p:tgtEl>
                                        <p:attrNameLst>
                                          <p:attrName>style.visibility</p:attrName>
                                        </p:attrNameLst>
                                      </p:cBhvr>
                                      <p:to>
                                        <p:strVal val="visible"/>
                                      </p:to>
                                    </p:set>
                                    <p:animEffect transition="in" filter="strips(downLeft)">
                                      <p:cBhvr>
                                        <p:cTn id="10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42265" y="276860"/>
            <a:ext cx="7833360" cy="593090"/>
          </a:xfrm>
        </p:spPr>
        <p:txBody>
          <a:bodyPr/>
          <a:lstStyle/>
          <a:p>
            <a:r>
              <a:rPr lang="en-US" altLang="zh-CN" dirty="0"/>
              <a:t>6.3.2 </a:t>
            </a:r>
            <a:r>
              <a:rPr lang="zh-CN" altLang="en-US" dirty="0"/>
              <a:t>数组引用的三地址码生成</a:t>
            </a:r>
            <a:endParaRPr lang="zh-CN" altLang="en-US" dirty="0"/>
          </a:p>
        </p:txBody>
      </p:sp>
      <p:grpSp>
        <p:nvGrpSpPr>
          <p:cNvPr id="35" name="组合 3"/>
          <p:cNvGrpSpPr/>
          <p:nvPr/>
        </p:nvGrpSpPr>
        <p:grpSpPr bwMode="auto">
          <a:xfrm>
            <a:off x="2397179" y="4160165"/>
            <a:ext cx="5119687" cy="1905000"/>
            <a:chOff x="1036638" y="3875088"/>
            <a:chExt cx="5119687" cy="1905000"/>
          </a:xfrm>
        </p:grpSpPr>
        <p:sp useBgFill="1">
          <p:nvSpPr>
            <p:cNvPr id="36" name="Rectangle 2"/>
            <p:cNvSpPr>
              <a:spLocks noChangeArrowheads="1"/>
            </p:cNvSpPr>
            <p:nvPr/>
          </p:nvSpPr>
          <p:spPr bwMode="auto">
            <a:xfrm>
              <a:off x="1036638" y="4941888"/>
              <a:ext cx="2311400" cy="457200"/>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p>
          </p:txBody>
        </p:sp>
        <p:grpSp>
          <p:nvGrpSpPr>
            <p:cNvPr id="37" name="Group 5"/>
            <p:cNvGrpSpPr/>
            <p:nvPr/>
          </p:nvGrpSpPr>
          <p:grpSpPr bwMode="auto">
            <a:xfrm>
              <a:off x="1341438" y="3875088"/>
              <a:ext cx="1295400" cy="533400"/>
              <a:chOff x="768" y="1775"/>
              <a:chExt cx="481" cy="288"/>
            </a:xfrm>
          </p:grpSpPr>
          <p:sp useBgFill="1">
            <p:nvSpPr>
              <p:cNvPr id="45" name="Oval 6"/>
              <p:cNvSpPr>
                <a:spLocks noChangeArrowheads="1"/>
              </p:cNvSpPr>
              <p:nvPr/>
            </p:nvSpPr>
            <p:spPr bwMode="auto">
              <a:xfrm>
                <a:off x="768" y="1775"/>
                <a:ext cx="481" cy="288"/>
              </a:xfrm>
              <a:prstGeom prst="ellipse">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p>
            </p:txBody>
          </p:sp>
          <p:sp>
            <p:nvSpPr>
              <p:cNvPr id="46" name="Rectangle 7"/>
              <p:cNvSpPr>
                <a:spLocks noChangeArrowheads="1"/>
              </p:cNvSpPr>
              <p:nvPr/>
            </p:nvSpPr>
            <p:spPr bwMode="auto">
              <a:xfrm>
                <a:off x="864" y="1776"/>
                <a:ext cx="239"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000" b="1">
                    <a:solidFill>
                      <a:srgbClr val="030305"/>
                    </a:solidFill>
                    <a:latin typeface="Courier-Bold"/>
                  </a:rPr>
                  <a:t>id[ ]</a:t>
                </a:r>
                <a:endParaRPr lang="en-US" altLang="zh-CN" sz="2000" b="1">
                  <a:solidFill>
                    <a:srgbClr val="030305"/>
                  </a:solidFill>
                  <a:latin typeface="Courier-Bold"/>
                </a:endParaRPr>
              </a:p>
            </p:txBody>
          </p:sp>
        </p:grpSp>
        <p:sp>
          <p:nvSpPr>
            <p:cNvPr id="38" name="Line 8"/>
            <p:cNvSpPr>
              <a:spLocks noChangeShapeType="1"/>
            </p:cNvSpPr>
            <p:nvPr/>
          </p:nvSpPr>
          <p:spPr bwMode="auto">
            <a:xfrm>
              <a:off x="2027238" y="4408488"/>
              <a:ext cx="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p>
          </p:txBody>
        </p:sp>
        <p:sp>
          <p:nvSpPr>
            <p:cNvPr id="39" name="Rectangle 9"/>
            <p:cNvSpPr>
              <a:spLocks noChangeArrowheads="1"/>
            </p:cNvSpPr>
            <p:nvPr/>
          </p:nvSpPr>
          <p:spPr bwMode="auto">
            <a:xfrm>
              <a:off x="1036638" y="4941888"/>
              <a:ext cx="196913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000" b="1">
                  <a:solidFill>
                    <a:srgbClr val="030305"/>
                  </a:solidFill>
                  <a:latin typeface="Courier-Bold"/>
                </a:rPr>
                <a:t>subscript exp1</a:t>
              </a:r>
              <a:endParaRPr lang="zh-CN" altLang="en-US" sz="2000" b="1">
                <a:solidFill>
                  <a:srgbClr val="030305"/>
                </a:solidFill>
                <a:latin typeface="Courier-Bold"/>
              </a:endParaRPr>
            </a:p>
          </p:txBody>
        </p:sp>
        <p:sp>
          <p:nvSpPr>
            <p:cNvPr id="40" name="Line 10"/>
            <p:cNvSpPr>
              <a:spLocks noChangeShapeType="1"/>
            </p:cNvSpPr>
            <p:nvPr/>
          </p:nvSpPr>
          <p:spPr bwMode="auto">
            <a:xfrm>
              <a:off x="2027238" y="5399088"/>
              <a:ext cx="0" cy="381000"/>
            </a:xfrm>
            <a:prstGeom prst="line">
              <a:avLst/>
            </a:prstGeom>
            <a:noFill/>
            <a:ln w="9525">
              <a:solidFill>
                <a:srgbClr val="030305"/>
              </a:solidFill>
              <a:prstDash val="sysDot"/>
              <a:miter lim="800000"/>
            </a:ln>
            <a:extLst>
              <a:ext uri="{909E8E84-426E-40DD-AFC4-6F175D3DCCD1}">
                <a14:hiddenFill xmlns:a14="http://schemas.microsoft.com/office/drawing/2010/main">
                  <a:noFill/>
                </a14:hiddenFill>
              </a:ext>
            </a:extLst>
          </p:spPr>
          <p:txBody>
            <a:bodyPr/>
            <a:lstStyle/>
            <a:p>
              <a:endParaRPr lang="zh-CN" altLang="en-US" sz="2000"/>
            </a:p>
          </p:txBody>
        </p:sp>
        <p:sp>
          <p:nvSpPr>
            <p:cNvPr id="41" name="Line 11"/>
            <p:cNvSpPr>
              <a:spLocks noChangeShapeType="1"/>
            </p:cNvSpPr>
            <p:nvPr/>
          </p:nvSpPr>
          <p:spPr bwMode="auto">
            <a:xfrm>
              <a:off x="3348038" y="5157788"/>
              <a:ext cx="838200"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p>
          </p:txBody>
        </p:sp>
        <p:sp useBgFill="1">
          <p:nvSpPr>
            <p:cNvPr id="42" name="Rectangle 12"/>
            <p:cNvSpPr>
              <a:spLocks noChangeArrowheads="1"/>
            </p:cNvSpPr>
            <p:nvPr/>
          </p:nvSpPr>
          <p:spPr bwMode="auto">
            <a:xfrm>
              <a:off x="3779838" y="4941888"/>
              <a:ext cx="2376487" cy="457200"/>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p>
          </p:txBody>
        </p:sp>
        <p:sp>
          <p:nvSpPr>
            <p:cNvPr id="43" name="Rectangle 13"/>
            <p:cNvSpPr>
              <a:spLocks noChangeArrowheads="1"/>
            </p:cNvSpPr>
            <p:nvPr/>
          </p:nvSpPr>
          <p:spPr bwMode="auto">
            <a:xfrm>
              <a:off x="3779838" y="4941888"/>
              <a:ext cx="196913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000" b="1" dirty="0">
                  <a:solidFill>
                    <a:srgbClr val="030305"/>
                  </a:solidFill>
                  <a:latin typeface="Courier-Bold"/>
                </a:rPr>
                <a:t>subscript exp2</a:t>
              </a:r>
              <a:endParaRPr lang="zh-CN" altLang="en-US" sz="2000" b="1" dirty="0">
                <a:solidFill>
                  <a:srgbClr val="030305"/>
                </a:solidFill>
                <a:latin typeface="Courier-Bold"/>
              </a:endParaRPr>
            </a:p>
          </p:txBody>
        </p:sp>
        <p:sp>
          <p:nvSpPr>
            <p:cNvPr id="44" name="Line 14"/>
            <p:cNvSpPr>
              <a:spLocks noChangeShapeType="1"/>
            </p:cNvSpPr>
            <p:nvPr/>
          </p:nvSpPr>
          <p:spPr bwMode="auto">
            <a:xfrm>
              <a:off x="4770438" y="5399088"/>
              <a:ext cx="0" cy="381000"/>
            </a:xfrm>
            <a:prstGeom prst="line">
              <a:avLst/>
            </a:prstGeom>
            <a:noFill/>
            <a:ln w="9525">
              <a:solidFill>
                <a:srgbClr val="030305"/>
              </a:solidFill>
              <a:prstDash val="sysDot"/>
              <a:miter lim="800000"/>
            </a:ln>
            <a:extLst>
              <a:ext uri="{909E8E84-426E-40DD-AFC4-6F175D3DCCD1}">
                <a14:hiddenFill xmlns:a14="http://schemas.microsoft.com/office/drawing/2010/main">
                  <a:noFill/>
                </a14:hiddenFill>
              </a:ext>
            </a:extLst>
          </p:spPr>
          <p:txBody>
            <a:bodyPr/>
            <a:lstStyle/>
            <a:p>
              <a:endParaRPr lang="zh-CN" altLang="en-US" sz="2000"/>
            </a:p>
          </p:txBody>
        </p:sp>
      </p:grpSp>
      <p:sp>
        <p:nvSpPr>
          <p:cNvPr id="48" name="Rectangle 18"/>
          <p:cNvSpPr txBox="1">
            <a:spLocks noChangeArrowheads="1"/>
          </p:cNvSpPr>
          <p:nvPr/>
        </p:nvSpPr>
        <p:spPr>
          <a:xfrm>
            <a:off x="554355" y="1278255"/>
            <a:ext cx="9704705" cy="2736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030305"/>
                </a:solidFill>
                <a:latin typeface="+mn-ea"/>
              </a:rPr>
              <a:t>思考题：撰写下述简单算术表达式文法对应的三地址码生成的递归程序</a:t>
            </a:r>
            <a:r>
              <a:rPr lang="en-US" altLang="zh-CN" sz="2400" b="1" dirty="0">
                <a:solidFill>
                  <a:srgbClr val="030305"/>
                </a:solidFill>
                <a:latin typeface="+mn-ea"/>
              </a:rPr>
              <a:t>.</a:t>
            </a:r>
            <a:endParaRPr lang="en-US" altLang="zh-CN" sz="2400" b="1" dirty="0">
              <a:solidFill>
                <a:srgbClr val="030305"/>
              </a:solidFill>
              <a:latin typeface="+mn-ea"/>
            </a:endParaRPr>
          </a:p>
          <a:p>
            <a:pPr lvl="1"/>
            <a:r>
              <a:rPr lang="en-US" altLang="zh-CN" b="1" i="1" dirty="0" err="1">
                <a:solidFill>
                  <a:srgbClr val="030305"/>
                </a:solidFill>
                <a:latin typeface="+mn-ea"/>
              </a:rPr>
              <a:t>exp→subs</a:t>
            </a:r>
            <a:r>
              <a:rPr lang="en-US" altLang="zh-CN" b="1" dirty="0">
                <a:solidFill>
                  <a:srgbClr val="030305"/>
                </a:solidFill>
                <a:latin typeface="+mn-ea"/>
              </a:rPr>
              <a:t>=</a:t>
            </a:r>
            <a:r>
              <a:rPr lang="en-US" altLang="zh-CN" b="1" i="1" dirty="0" err="1">
                <a:solidFill>
                  <a:srgbClr val="030305"/>
                </a:solidFill>
                <a:latin typeface="+mn-ea"/>
              </a:rPr>
              <a:t>exp|aexp</a:t>
            </a:r>
            <a:endParaRPr lang="en-US" altLang="zh-CN" b="1" i="1" dirty="0">
              <a:solidFill>
                <a:srgbClr val="030305"/>
              </a:solidFill>
              <a:latin typeface="+mn-ea"/>
            </a:endParaRPr>
          </a:p>
          <a:p>
            <a:pPr lvl="1"/>
            <a:r>
              <a:rPr lang="en-US" altLang="zh-CN" b="1" i="1" dirty="0" err="1">
                <a:solidFill>
                  <a:srgbClr val="030305"/>
                </a:solidFill>
                <a:latin typeface="+mn-ea"/>
              </a:rPr>
              <a:t>aexp→aexp</a:t>
            </a:r>
            <a:r>
              <a:rPr lang="en-US" altLang="zh-CN" b="1" dirty="0" err="1">
                <a:solidFill>
                  <a:srgbClr val="030305"/>
                </a:solidFill>
                <a:latin typeface="+mn-ea"/>
              </a:rPr>
              <a:t>+</a:t>
            </a:r>
            <a:r>
              <a:rPr lang="en-US" altLang="zh-CN" b="1" i="1" dirty="0" err="1">
                <a:solidFill>
                  <a:srgbClr val="030305"/>
                </a:solidFill>
                <a:latin typeface="+mn-ea"/>
              </a:rPr>
              <a:t>factor|factor</a:t>
            </a:r>
            <a:endParaRPr lang="en-US" altLang="zh-CN" b="1" i="1" dirty="0">
              <a:solidFill>
                <a:srgbClr val="030305"/>
              </a:solidFill>
              <a:latin typeface="+mn-ea"/>
            </a:endParaRPr>
          </a:p>
          <a:p>
            <a:pPr lvl="1"/>
            <a:r>
              <a:rPr lang="en-US" altLang="zh-CN" b="1" i="1" dirty="0">
                <a:solidFill>
                  <a:srgbClr val="030305"/>
                </a:solidFill>
                <a:latin typeface="+mn-ea"/>
              </a:rPr>
              <a:t>factor→</a:t>
            </a:r>
            <a:r>
              <a:rPr lang="en-US" altLang="zh-CN" b="1" dirty="0">
                <a:solidFill>
                  <a:srgbClr val="030305"/>
                </a:solidFill>
                <a:latin typeface="+mn-ea"/>
              </a:rPr>
              <a:t>(</a:t>
            </a:r>
            <a:r>
              <a:rPr lang="en-US" altLang="zh-CN" b="1" i="1" dirty="0">
                <a:solidFill>
                  <a:srgbClr val="030305"/>
                </a:solidFill>
                <a:latin typeface="+mn-ea"/>
              </a:rPr>
              <a:t>exp</a:t>
            </a:r>
            <a:r>
              <a:rPr lang="en-US" altLang="zh-CN" b="1" dirty="0">
                <a:solidFill>
                  <a:srgbClr val="030305"/>
                </a:solidFill>
                <a:latin typeface="+mn-ea"/>
              </a:rPr>
              <a:t>)</a:t>
            </a:r>
            <a:r>
              <a:rPr lang="en-US" altLang="zh-CN" b="1" i="1" dirty="0">
                <a:solidFill>
                  <a:srgbClr val="030305"/>
                </a:solidFill>
                <a:latin typeface="+mn-ea"/>
              </a:rPr>
              <a:t>|</a:t>
            </a:r>
            <a:r>
              <a:rPr lang="en-US" altLang="zh-CN" b="1" dirty="0" err="1">
                <a:solidFill>
                  <a:srgbClr val="030305"/>
                </a:solidFill>
                <a:latin typeface="+mn-ea"/>
              </a:rPr>
              <a:t>num</a:t>
            </a:r>
            <a:r>
              <a:rPr lang="en-US" altLang="zh-CN" b="1" i="1" dirty="0" err="1">
                <a:solidFill>
                  <a:srgbClr val="030305"/>
                </a:solidFill>
                <a:latin typeface="+mn-ea"/>
              </a:rPr>
              <a:t>|subs</a:t>
            </a:r>
            <a:endParaRPr lang="en-US" altLang="zh-CN" b="1" i="1" dirty="0">
              <a:solidFill>
                <a:srgbClr val="030305"/>
              </a:solidFill>
              <a:latin typeface="+mn-ea"/>
            </a:endParaRPr>
          </a:p>
          <a:p>
            <a:pPr lvl="1"/>
            <a:r>
              <a:rPr lang="en-US" altLang="zh-CN" b="1" i="1" dirty="0" err="1">
                <a:solidFill>
                  <a:srgbClr val="030305"/>
                </a:solidFill>
                <a:latin typeface="+mn-ea"/>
              </a:rPr>
              <a:t>subs→</a:t>
            </a:r>
            <a:r>
              <a:rPr lang="en-US" altLang="zh-CN" b="1" dirty="0" err="1">
                <a:solidFill>
                  <a:srgbClr val="030305"/>
                </a:solidFill>
                <a:latin typeface="+mn-ea"/>
              </a:rPr>
              <a:t>id</a:t>
            </a:r>
            <a:r>
              <a:rPr lang="en-US" altLang="zh-CN" b="1" i="1" dirty="0" err="1">
                <a:solidFill>
                  <a:srgbClr val="030305"/>
                </a:solidFill>
                <a:latin typeface="+mn-ea"/>
              </a:rPr>
              <a:t>|</a:t>
            </a:r>
            <a:r>
              <a:rPr lang="en-US" altLang="zh-CN" b="1" dirty="0" err="1">
                <a:solidFill>
                  <a:srgbClr val="030305"/>
                </a:solidFill>
                <a:latin typeface="+mn-ea"/>
              </a:rPr>
              <a:t>id</a:t>
            </a:r>
            <a:r>
              <a:rPr lang="en-US" altLang="zh-CN" b="1" dirty="0">
                <a:solidFill>
                  <a:srgbClr val="030305"/>
                </a:solidFill>
                <a:latin typeface="+mn-ea"/>
              </a:rPr>
              <a:t>[</a:t>
            </a:r>
            <a:r>
              <a:rPr lang="en-US" altLang="zh-CN" b="1" i="1" dirty="0" err="1">
                <a:solidFill>
                  <a:srgbClr val="030305"/>
                </a:solidFill>
                <a:latin typeface="+mn-ea"/>
              </a:rPr>
              <a:t>exp，exp</a:t>
            </a:r>
            <a:r>
              <a:rPr lang="en-US" altLang="zh-CN" b="1" dirty="0">
                <a:solidFill>
                  <a:srgbClr val="030305"/>
                </a:solidFill>
                <a:latin typeface="+mn-ea"/>
              </a:rPr>
              <a:t>]</a:t>
            </a:r>
            <a:endParaRPr lang="en-US" altLang="zh-CN" b="1" dirty="0">
              <a:solidFill>
                <a:srgbClr val="030305"/>
              </a:solidFill>
              <a:latin typeface="+mn-ea"/>
            </a:endParaRPr>
          </a:p>
          <a:p>
            <a:r>
              <a:rPr lang="zh-CN" altLang="en-US" sz="2400" b="1" dirty="0">
                <a:solidFill>
                  <a:srgbClr val="030305"/>
                </a:solidFill>
                <a:latin typeface="+mn-ea"/>
              </a:rPr>
              <a:t>二维下标运算的语法树：</a:t>
            </a:r>
            <a:endParaRPr lang="zh-CN" altLang="en-US" sz="2400" b="1" dirty="0">
              <a:solidFill>
                <a:srgbClr val="030305"/>
              </a:solidFill>
              <a:latin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1134110" y="1388745"/>
            <a:ext cx="5838190" cy="511175"/>
          </a:xfrm>
        </p:spPr>
        <p:txBody>
          <a:bodyPr>
            <a:normAutofit fontScale="80000"/>
          </a:bodyPr>
          <a:lstStyle/>
          <a:p>
            <a:r>
              <a:rPr lang="zh-CN" altLang="en-US" dirty="0"/>
              <a:t>第</a:t>
            </a:r>
            <a:r>
              <a:rPr lang="en-US" altLang="zh-CN" dirty="0"/>
              <a:t>6</a:t>
            </a:r>
            <a:r>
              <a:rPr lang="zh-CN" altLang="en-US" dirty="0"/>
              <a:t>单元 代码生成</a:t>
            </a:r>
            <a:endParaRPr lang="zh-CN" altLang="en-US" dirty="0"/>
          </a:p>
        </p:txBody>
      </p:sp>
      <p:sp>
        <p:nvSpPr>
          <p:cNvPr id="24" name="文本占位符 23"/>
          <p:cNvSpPr>
            <a:spLocks noGrp="1"/>
          </p:cNvSpPr>
          <p:nvPr>
            <p:ph type="body" sz="quarter" idx="14"/>
          </p:nvPr>
        </p:nvSpPr>
        <p:spPr/>
        <p:txBody>
          <a:bodyPr>
            <a:normAutofit fontScale="77500" lnSpcReduction="20000"/>
          </a:bodyPr>
          <a:lstStyle/>
          <a:p>
            <a:r>
              <a:rPr lang="en-US" altLang="zh-CN" dirty="0">
                <a:solidFill>
                  <a:schemeClr val="tx1"/>
                </a:solidFill>
              </a:rPr>
              <a:t>6.1 </a:t>
            </a:r>
            <a:r>
              <a:rPr lang="zh-CN" altLang="en-US" dirty="0">
                <a:solidFill>
                  <a:schemeClr val="tx1"/>
                </a:solidFill>
              </a:rPr>
              <a:t>中间代码概览</a:t>
            </a:r>
            <a:endParaRPr lang="en-US" altLang="zh-CN" dirty="0">
              <a:solidFill>
                <a:schemeClr val="tx1"/>
              </a:solidFill>
            </a:endParaRPr>
          </a:p>
          <a:p>
            <a:r>
              <a:rPr lang="en-US" altLang="zh-CN" dirty="0">
                <a:solidFill>
                  <a:schemeClr val="tx1"/>
                </a:solidFill>
              </a:rPr>
              <a:t>6.2 </a:t>
            </a:r>
            <a:r>
              <a:rPr lang="zh-CN" altLang="en-US" dirty="0">
                <a:solidFill>
                  <a:schemeClr val="tx1"/>
                </a:solidFill>
              </a:rPr>
              <a:t>基本的代码生成技术</a:t>
            </a:r>
            <a:endParaRPr lang="en-US" altLang="zh-CN" dirty="0">
              <a:solidFill>
                <a:schemeClr val="tx1"/>
              </a:solidFill>
            </a:endParaRPr>
          </a:p>
          <a:p>
            <a:r>
              <a:rPr lang="en-US" altLang="zh-CN" dirty="0">
                <a:solidFill>
                  <a:schemeClr val="tx1"/>
                </a:solidFill>
              </a:rPr>
              <a:t>6.3 </a:t>
            </a:r>
            <a:r>
              <a:rPr lang="zh-CN" altLang="en-US" dirty="0">
                <a:solidFill>
                  <a:schemeClr val="tx1"/>
                </a:solidFill>
              </a:rPr>
              <a:t>数据结构引用的代码生成</a:t>
            </a:r>
            <a:endParaRPr lang="en-US" altLang="zh-CN" dirty="0">
              <a:solidFill>
                <a:schemeClr val="tx1"/>
              </a:solidFill>
            </a:endParaRPr>
          </a:p>
          <a:p>
            <a:r>
              <a:rPr lang="en-US" altLang="zh-CN" dirty="0">
                <a:solidFill>
                  <a:schemeClr val="accent1"/>
                </a:solidFill>
              </a:rPr>
              <a:t>6.4 </a:t>
            </a:r>
            <a:r>
              <a:rPr lang="zh-CN" altLang="en-US" dirty="0">
                <a:solidFill>
                  <a:schemeClr val="accent1"/>
                </a:solidFill>
              </a:rPr>
              <a:t>控制语句和逻辑表达式的代码生成</a:t>
            </a:r>
            <a:endParaRPr lang="en-US" altLang="zh-CN" dirty="0">
              <a:solidFill>
                <a:schemeClr val="accent1"/>
              </a:solidFill>
            </a:endParaRPr>
          </a:p>
          <a:p>
            <a:r>
              <a:rPr lang="en-US" altLang="zh-CN" dirty="0">
                <a:solidFill>
                  <a:schemeClr val="tx1"/>
                </a:solidFill>
              </a:rPr>
              <a:t>6.5 </a:t>
            </a:r>
            <a:r>
              <a:rPr lang="zh-CN" altLang="en-US" dirty="0">
                <a:solidFill>
                  <a:schemeClr val="tx1"/>
                </a:solidFill>
              </a:rPr>
              <a:t>过程和函数调用的代码生成</a:t>
            </a:r>
            <a:endParaRPr lang="zh-CN" altLang="en-US" dirty="0">
              <a:solidFill>
                <a:schemeClr val="tx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70205" y="276860"/>
            <a:ext cx="7805420" cy="593090"/>
          </a:xfrm>
        </p:spPr>
        <p:txBody>
          <a:bodyPr/>
          <a:lstStyle/>
          <a:p>
            <a:r>
              <a:rPr lang="en-US" altLang="zh-CN" dirty="0"/>
              <a:t>6.4.1 if</a:t>
            </a:r>
            <a:r>
              <a:rPr lang="zh-CN" altLang="en-US" dirty="0"/>
              <a:t>和</a:t>
            </a:r>
            <a:r>
              <a:rPr lang="en-US" altLang="zh-CN" dirty="0"/>
              <a:t>while</a:t>
            </a:r>
            <a:r>
              <a:rPr lang="zh-CN" altLang="en-US" dirty="0"/>
              <a:t>语句的代码生成</a:t>
            </a:r>
            <a:endParaRPr lang="zh-CN" altLang="en-US" dirty="0"/>
          </a:p>
        </p:txBody>
      </p:sp>
      <p:sp>
        <p:nvSpPr>
          <p:cNvPr id="4" name="Rectangle 11"/>
          <p:cNvSpPr txBox="1">
            <a:spLocks noChangeArrowheads="1"/>
          </p:cNvSpPr>
          <p:nvPr/>
        </p:nvSpPr>
        <p:spPr>
          <a:xfrm>
            <a:off x="496570" y="1196975"/>
            <a:ext cx="11283950" cy="35179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charset="0"/>
              <a:buChar char="p"/>
              <a:defRPr/>
            </a:pPr>
            <a:r>
              <a:rPr kumimoji="1" lang="zh-CN" altLang="en-US" sz="2400" b="1" dirty="0">
                <a:solidFill>
                  <a:srgbClr val="030305"/>
                </a:solidFill>
                <a:latin typeface="+mn-ea"/>
              </a:rPr>
              <a:t>考虑下面两种</a:t>
            </a:r>
            <a:r>
              <a:rPr kumimoji="1" lang="en-US" altLang="zh-CN" sz="2400" b="1" dirty="0">
                <a:solidFill>
                  <a:srgbClr val="030305"/>
                </a:solidFill>
                <a:latin typeface="+mn-ea"/>
              </a:rPr>
              <a:t>if</a:t>
            </a:r>
            <a:r>
              <a:rPr kumimoji="1" lang="zh-CN" altLang="en-US" sz="2400" b="1" dirty="0">
                <a:solidFill>
                  <a:srgbClr val="030305"/>
                </a:solidFill>
                <a:latin typeface="+mn-ea"/>
              </a:rPr>
              <a:t>和</a:t>
            </a:r>
            <a:r>
              <a:rPr kumimoji="1" lang="en-US" altLang="zh-CN" sz="2400" b="1" dirty="0">
                <a:solidFill>
                  <a:srgbClr val="030305"/>
                </a:solidFill>
                <a:latin typeface="+mn-ea"/>
              </a:rPr>
              <a:t>while</a:t>
            </a:r>
            <a:r>
              <a:rPr kumimoji="1" lang="zh-CN" altLang="en-US" sz="2400" b="1" dirty="0">
                <a:solidFill>
                  <a:srgbClr val="030305"/>
                </a:solidFill>
                <a:latin typeface="+mn-ea"/>
              </a:rPr>
              <a:t>语句，他们的语法结构在很多不同的语言中都是相似的(现在给出的是类</a:t>
            </a:r>
            <a:r>
              <a:rPr kumimoji="1" lang="en-US" altLang="zh-CN" sz="2400" b="1" dirty="0">
                <a:solidFill>
                  <a:srgbClr val="030305"/>
                </a:solidFill>
                <a:latin typeface="+mn-ea"/>
              </a:rPr>
              <a:t>C</a:t>
            </a:r>
            <a:r>
              <a:rPr kumimoji="1" lang="zh-CN" altLang="en-US" sz="2400" b="1" dirty="0">
                <a:solidFill>
                  <a:srgbClr val="030305"/>
                </a:solidFill>
                <a:latin typeface="+mn-ea"/>
              </a:rPr>
              <a:t>语法)：</a:t>
            </a:r>
            <a:endParaRPr kumimoji="1" lang="zh-CN" altLang="en-US" sz="2400" b="1" dirty="0">
              <a:solidFill>
                <a:srgbClr val="030305"/>
              </a:solidFill>
              <a:latin typeface="+mn-ea"/>
            </a:endParaRPr>
          </a:p>
          <a:p>
            <a:pPr marL="732790" lvl="1" indent="-454025">
              <a:lnSpc>
                <a:spcPct val="100000"/>
              </a:lnSpc>
              <a:buFont typeface="Wingdings" panose="05000000000000000000" charset="0"/>
              <a:buChar char="p"/>
              <a:defRPr/>
            </a:pPr>
            <a:r>
              <a:rPr kumimoji="1" lang="en-US" altLang="zh-CN" sz="2400" b="1" i="1" dirty="0" err="1">
                <a:solidFill>
                  <a:srgbClr val="030305"/>
                </a:solidFill>
                <a:latin typeface="+mn-ea"/>
                <a:cs typeface="+mn-ea"/>
              </a:rPr>
              <a:t>if-stmt→if(exp)stmt |if(exp)stmt else stmt</a:t>
            </a:r>
            <a:endParaRPr kumimoji="1" lang="en-US" altLang="zh-CN" sz="2400" b="1" i="1" dirty="0" err="1">
              <a:solidFill>
                <a:srgbClr val="030305"/>
              </a:solidFill>
              <a:latin typeface="+mn-ea"/>
              <a:cs typeface="+mn-ea"/>
            </a:endParaRPr>
          </a:p>
          <a:p>
            <a:pPr lvl="1" indent="-436880">
              <a:lnSpc>
                <a:spcPct val="100000"/>
              </a:lnSpc>
              <a:spcBef>
                <a:spcPct val="50000"/>
              </a:spcBef>
              <a:buFont typeface="Wingdings" panose="05000000000000000000" charset="0"/>
              <a:buChar char="p"/>
              <a:defRPr/>
            </a:pPr>
            <a:r>
              <a:rPr kumimoji="1" lang="en-US" altLang="zh-CN" b="1" i="1" dirty="0" err="1">
                <a:solidFill>
                  <a:srgbClr val="030305"/>
                </a:solidFill>
                <a:latin typeface="+mn-ea"/>
                <a:cs typeface="+mn-ea"/>
              </a:rPr>
              <a:t>while-stmt→</a:t>
            </a:r>
            <a:r>
              <a:rPr kumimoji="1" lang="en-US" altLang="zh-CN" b="1" dirty="0" err="1">
                <a:solidFill>
                  <a:srgbClr val="030305"/>
                </a:solidFill>
                <a:latin typeface="+mn-ea"/>
                <a:cs typeface="+mn-ea"/>
              </a:rPr>
              <a:t>while</a:t>
            </a:r>
            <a:r>
              <a:rPr kumimoji="1" lang="en-US" altLang="zh-CN" b="1" i="1" dirty="0">
                <a:solidFill>
                  <a:srgbClr val="030305"/>
                </a:solidFill>
                <a:latin typeface="+mn-ea"/>
                <a:cs typeface="+mn-ea"/>
              </a:rPr>
              <a:t> </a:t>
            </a:r>
            <a:r>
              <a:rPr kumimoji="1" lang="en-US" altLang="zh-CN" b="1" dirty="0">
                <a:solidFill>
                  <a:srgbClr val="030305"/>
                </a:solidFill>
                <a:latin typeface="+mn-ea"/>
                <a:cs typeface="+mn-ea"/>
              </a:rPr>
              <a:t>(</a:t>
            </a:r>
            <a:r>
              <a:rPr kumimoji="1" lang="en-US" altLang="zh-CN" b="1" i="1" dirty="0">
                <a:solidFill>
                  <a:srgbClr val="030305"/>
                </a:solidFill>
                <a:latin typeface="+mn-ea"/>
                <a:cs typeface="+mn-ea"/>
              </a:rPr>
              <a:t>exp</a:t>
            </a:r>
            <a:r>
              <a:rPr kumimoji="1" lang="en-US" altLang="zh-CN" b="1" dirty="0">
                <a:solidFill>
                  <a:srgbClr val="030305"/>
                </a:solidFill>
                <a:latin typeface="+mn-ea"/>
                <a:cs typeface="+mn-ea"/>
              </a:rPr>
              <a:t>)</a:t>
            </a:r>
            <a:r>
              <a:rPr kumimoji="1" lang="en-US" altLang="zh-CN" b="1" i="1" dirty="0">
                <a:solidFill>
                  <a:srgbClr val="030305"/>
                </a:solidFill>
                <a:latin typeface="+mn-ea"/>
                <a:cs typeface="+mn-ea"/>
              </a:rPr>
              <a:t> </a:t>
            </a:r>
            <a:r>
              <a:rPr kumimoji="1" lang="en-US" altLang="zh-CN" b="1" i="1" dirty="0" err="1">
                <a:solidFill>
                  <a:srgbClr val="030305"/>
                </a:solidFill>
                <a:latin typeface="+mn-ea"/>
                <a:cs typeface="+mn-ea"/>
              </a:rPr>
              <a:t>stmt</a:t>
            </a:r>
            <a:endParaRPr kumimoji="1" lang="zh-CN" altLang="en-US" b="1" dirty="0">
              <a:solidFill>
                <a:srgbClr val="030305"/>
              </a:solidFill>
              <a:latin typeface="+mn-ea"/>
              <a:cs typeface="+mn-ea"/>
            </a:endParaRPr>
          </a:p>
          <a:p>
            <a:pPr>
              <a:lnSpc>
                <a:spcPct val="100000"/>
              </a:lnSpc>
              <a:buFont typeface="Wingdings" panose="05000000000000000000" charset="0"/>
              <a:buChar char="p"/>
              <a:defRPr/>
            </a:pPr>
            <a:r>
              <a:rPr kumimoji="1" lang="en-US" altLang="zh-CN" sz="2400" b="1" dirty="0">
                <a:solidFill>
                  <a:srgbClr val="030305"/>
                </a:solidFill>
                <a:latin typeface="+mn-ea"/>
              </a:rPr>
              <a:t>If</a:t>
            </a:r>
            <a:r>
              <a:rPr kumimoji="1" lang="zh-CN" altLang="en-US" sz="2400" b="1" dirty="0">
                <a:solidFill>
                  <a:srgbClr val="030305"/>
                </a:solidFill>
                <a:latin typeface="+mn-ea"/>
              </a:rPr>
              <a:t>和</a:t>
            </a:r>
            <a:r>
              <a:rPr kumimoji="1" lang="en-US" altLang="zh-CN" sz="2400" b="1" dirty="0">
                <a:solidFill>
                  <a:srgbClr val="030305"/>
                </a:solidFill>
                <a:latin typeface="+mn-ea"/>
              </a:rPr>
              <a:t>while</a:t>
            </a:r>
            <a:r>
              <a:rPr kumimoji="1" lang="zh-CN" altLang="en-US" sz="2400" b="1" dirty="0">
                <a:solidFill>
                  <a:srgbClr val="030305"/>
                </a:solidFill>
                <a:latin typeface="+mn-ea"/>
              </a:rPr>
              <a:t>语句代码生成的主要问题：</a:t>
            </a:r>
            <a:endParaRPr kumimoji="1" lang="zh-CN" altLang="en-US" sz="2400" b="1" dirty="0">
              <a:solidFill>
                <a:srgbClr val="030305"/>
              </a:solidFill>
              <a:latin typeface="+mn-ea"/>
            </a:endParaRPr>
          </a:p>
          <a:p>
            <a:pPr lvl="1" indent="-436880">
              <a:lnSpc>
                <a:spcPct val="100000"/>
              </a:lnSpc>
              <a:buFont typeface="Wingdings" panose="05000000000000000000" charset="0"/>
              <a:buChar char="p"/>
              <a:defRPr/>
            </a:pPr>
            <a:r>
              <a:rPr kumimoji="1" lang="zh-CN" altLang="en-US" b="1" dirty="0">
                <a:solidFill>
                  <a:srgbClr val="030305"/>
                </a:solidFill>
                <a:latin typeface="+mn-ea"/>
                <a:cs typeface="+mn-ea"/>
              </a:rPr>
              <a:t>将结构化控制特性翻译成涉及转移的非结构化等价物，以被目标代码直接实现。</a:t>
            </a:r>
            <a:endParaRPr kumimoji="1" lang="zh-CN" altLang="en-US" b="1" dirty="0">
              <a:solidFill>
                <a:srgbClr val="030305"/>
              </a:solidFill>
              <a:latin typeface="+mn-ea"/>
              <a:cs typeface="+mn-ea"/>
            </a:endParaRPr>
          </a:p>
          <a:p>
            <a:pPr lvl="1" indent="-436880">
              <a:lnSpc>
                <a:spcPct val="100000"/>
              </a:lnSpc>
              <a:buFont typeface="Wingdings" panose="05000000000000000000" charset="0"/>
              <a:buChar char="p"/>
              <a:defRPr/>
            </a:pPr>
            <a:r>
              <a:rPr kumimoji="1" lang="zh-CN" altLang="en-US" b="1" dirty="0">
                <a:solidFill>
                  <a:srgbClr val="030305"/>
                </a:solidFill>
                <a:latin typeface="+mn-ea"/>
                <a:sym typeface="+mn-ea"/>
              </a:rPr>
              <a:t>编译器通常以一种标准次序安排</a:t>
            </a:r>
            <a:r>
              <a:rPr kumimoji="1" lang="en-US" altLang="zh-CN" b="1" dirty="0">
                <a:solidFill>
                  <a:srgbClr val="030305"/>
                </a:solidFill>
                <a:latin typeface="+mn-ea"/>
                <a:sym typeface="+mn-ea"/>
              </a:rPr>
              <a:t>if</a:t>
            </a:r>
            <a:r>
              <a:rPr kumimoji="1" lang="zh-CN" altLang="en-US" b="1" dirty="0">
                <a:solidFill>
                  <a:srgbClr val="030305"/>
                </a:solidFill>
                <a:latin typeface="+mn-ea"/>
                <a:sym typeface="+mn-ea"/>
              </a:rPr>
              <a:t>和</a:t>
            </a:r>
            <a:r>
              <a:rPr kumimoji="1" lang="en-US" altLang="zh-CN" b="1" dirty="0">
                <a:solidFill>
                  <a:srgbClr val="030305"/>
                </a:solidFill>
                <a:latin typeface="+mn-ea"/>
                <a:sym typeface="+mn-ea"/>
              </a:rPr>
              <a:t>while</a:t>
            </a:r>
            <a:r>
              <a:rPr kumimoji="1" lang="zh-CN" altLang="en-US" b="1" dirty="0">
                <a:solidFill>
                  <a:srgbClr val="030305"/>
                </a:solidFill>
                <a:latin typeface="+mn-ea"/>
                <a:sym typeface="+mn-ea"/>
              </a:rPr>
              <a:t>语句的中间代码生成，这种次序可以高效地使用转移子集，而且这种转移子集是目标系统所允许的。</a:t>
            </a:r>
            <a:endParaRPr kumimoji="1" lang="en-US" altLang="zh-CN" b="1" dirty="0">
              <a:solidFill>
                <a:srgbClr val="030305"/>
              </a:solidFill>
              <a:latin typeface="+mn-ea"/>
            </a:endParaRPr>
          </a:p>
          <a:p>
            <a:pPr marL="248920" lvl="1" indent="0">
              <a:lnSpc>
                <a:spcPct val="100000"/>
              </a:lnSpc>
              <a:buFont typeface="Wingdings" panose="05000000000000000000" charset="0"/>
              <a:buNone/>
              <a:defRPr/>
            </a:pPr>
            <a:endParaRPr kumimoji="1" lang="zh-CN" altLang="en-US" b="1" dirty="0">
              <a:solidFill>
                <a:srgbClr val="030305"/>
              </a:solidFill>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arn(inHorizontal)">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64820" y="276860"/>
            <a:ext cx="7710805" cy="593090"/>
          </a:xfrm>
        </p:spPr>
        <p:txBody>
          <a:bodyPr/>
          <a:lstStyle/>
          <a:p>
            <a:r>
              <a:rPr lang="en-US" altLang="zh-CN" sz="3200" dirty="0"/>
              <a:t>if </a:t>
            </a:r>
            <a:r>
              <a:rPr lang="zh-CN" altLang="en-US" sz="3200" dirty="0"/>
              <a:t>语句生成的中间代码的典型排列</a:t>
            </a:r>
            <a:r>
              <a:rPr lang="en-US" altLang="zh-CN" sz="3200" dirty="0"/>
              <a:t>:</a:t>
            </a:r>
            <a:endParaRPr lang="en-US" altLang="zh-CN" sz="3200" dirty="0"/>
          </a:p>
        </p:txBody>
      </p:sp>
      <p:grpSp>
        <p:nvGrpSpPr>
          <p:cNvPr id="6" name="Group 41"/>
          <p:cNvGrpSpPr/>
          <p:nvPr/>
        </p:nvGrpSpPr>
        <p:grpSpPr bwMode="auto">
          <a:xfrm>
            <a:off x="3285751" y="1242377"/>
            <a:ext cx="2979710" cy="396875"/>
            <a:chOff x="816" y="566"/>
            <a:chExt cx="1530" cy="250"/>
          </a:xfrm>
        </p:grpSpPr>
        <p:sp useBgFill="1">
          <p:nvSpPr>
            <p:cNvPr id="7" name="Rectangle 4"/>
            <p:cNvSpPr>
              <a:spLocks noChangeArrowheads="1"/>
            </p:cNvSpPr>
            <p:nvPr/>
          </p:nvSpPr>
          <p:spPr bwMode="auto">
            <a:xfrm>
              <a:off x="816" y="566"/>
              <a:ext cx="1530" cy="250"/>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8" name="Rectangle 5"/>
            <p:cNvSpPr>
              <a:spLocks noChangeArrowheads="1"/>
            </p:cNvSpPr>
            <p:nvPr/>
          </p:nvSpPr>
          <p:spPr bwMode="auto">
            <a:xfrm>
              <a:off x="835" y="566"/>
              <a:ext cx="147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oAutofit/>
            </a:bodyPr>
            <a:lstStyle/>
            <a:p>
              <a:r>
                <a:rPr lang="en-US" altLang="zh-CN" sz="2000" b="1">
                  <a:solidFill>
                    <a:srgbClr val="030305"/>
                  </a:solidFill>
                  <a:latin typeface="+mn-ea"/>
                </a:rPr>
                <a:t>if</a:t>
              </a:r>
              <a:r>
                <a:rPr lang="zh-CN" altLang="en-US" sz="2000" b="1">
                  <a:solidFill>
                    <a:srgbClr val="030305"/>
                  </a:solidFill>
                  <a:latin typeface="+mn-ea"/>
                </a:rPr>
                <a:t>语句之前中间代码</a:t>
              </a:r>
              <a:endParaRPr lang="en-US" altLang="zh-CN" sz="2000" b="1">
                <a:solidFill>
                  <a:srgbClr val="030305"/>
                </a:solidFill>
                <a:latin typeface="+mn-ea"/>
              </a:endParaRPr>
            </a:p>
          </p:txBody>
        </p:sp>
      </p:grpSp>
      <p:grpSp>
        <p:nvGrpSpPr>
          <p:cNvPr id="9" name="Group 33"/>
          <p:cNvGrpSpPr/>
          <p:nvPr/>
        </p:nvGrpSpPr>
        <p:grpSpPr bwMode="auto">
          <a:xfrm>
            <a:off x="3285490" y="1638935"/>
            <a:ext cx="2901950" cy="762000"/>
            <a:chOff x="816" y="816"/>
            <a:chExt cx="1680" cy="480"/>
          </a:xfrm>
        </p:grpSpPr>
        <p:sp>
          <p:nvSpPr>
            <p:cNvPr id="10" name="Line 6"/>
            <p:cNvSpPr>
              <a:spLocks noChangeShapeType="1"/>
            </p:cNvSpPr>
            <p:nvPr/>
          </p:nvSpPr>
          <p:spPr bwMode="auto">
            <a:xfrm>
              <a:off x="1632" y="816"/>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useBgFill="1">
          <p:nvSpPr>
            <p:cNvPr id="11" name="Rectangle 7"/>
            <p:cNvSpPr>
              <a:spLocks noChangeArrowheads="1"/>
            </p:cNvSpPr>
            <p:nvPr/>
          </p:nvSpPr>
          <p:spPr bwMode="auto">
            <a:xfrm>
              <a:off x="816" y="990"/>
              <a:ext cx="1680" cy="306"/>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12" name="Rectangle 8"/>
            <p:cNvSpPr>
              <a:spLocks noChangeArrowheads="1"/>
            </p:cNvSpPr>
            <p:nvPr/>
          </p:nvSpPr>
          <p:spPr bwMode="auto">
            <a:xfrm>
              <a:off x="824" y="990"/>
              <a:ext cx="16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en-US" altLang="zh-CN" sz="2000" b="1">
                  <a:solidFill>
                    <a:srgbClr val="030305"/>
                  </a:solidFill>
                  <a:latin typeface="+mn-ea"/>
                </a:rPr>
                <a:t>if</a:t>
              </a:r>
              <a:r>
                <a:rPr lang="zh-CN" altLang="en-US" sz="2000" b="1">
                  <a:solidFill>
                    <a:srgbClr val="030305"/>
                  </a:solidFill>
                  <a:latin typeface="+mn-ea"/>
                </a:rPr>
                <a:t>测试表达式中间代码</a:t>
              </a:r>
              <a:endParaRPr lang="en-US" altLang="zh-CN" sz="2000" b="1">
                <a:solidFill>
                  <a:srgbClr val="030305"/>
                </a:solidFill>
                <a:latin typeface="+mn-ea"/>
              </a:endParaRPr>
            </a:p>
          </p:txBody>
        </p:sp>
      </p:grpSp>
      <p:grpSp>
        <p:nvGrpSpPr>
          <p:cNvPr id="13" name="Group 36"/>
          <p:cNvGrpSpPr/>
          <p:nvPr/>
        </p:nvGrpSpPr>
        <p:grpSpPr bwMode="auto">
          <a:xfrm>
            <a:off x="3252414" y="3534727"/>
            <a:ext cx="3038645" cy="771525"/>
            <a:chOff x="795" y="2010"/>
            <a:chExt cx="1620" cy="486"/>
          </a:xfrm>
        </p:grpSpPr>
        <p:sp useBgFill="1">
          <p:nvSpPr>
            <p:cNvPr id="14" name="Rectangle 14"/>
            <p:cNvSpPr>
              <a:spLocks noChangeArrowheads="1"/>
            </p:cNvSpPr>
            <p:nvPr/>
          </p:nvSpPr>
          <p:spPr bwMode="auto">
            <a:xfrm>
              <a:off x="795" y="2010"/>
              <a:ext cx="1564" cy="336"/>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16" name="Rectangle 15"/>
            <p:cNvSpPr>
              <a:spLocks noChangeArrowheads="1"/>
            </p:cNvSpPr>
            <p:nvPr/>
          </p:nvSpPr>
          <p:spPr bwMode="auto">
            <a:xfrm>
              <a:off x="813" y="2064"/>
              <a:ext cx="16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en-US" altLang="zh-CN" sz="2000" b="1">
                  <a:solidFill>
                    <a:srgbClr val="030305"/>
                  </a:solidFill>
                  <a:latin typeface="+mn-ea"/>
                </a:rPr>
                <a:t>TRUE</a:t>
              </a:r>
              <a:r>
                <a:rPr lang="zh-CN" altLang="en-US" sz="2000" b="1">
                  <a:solidFill>
                    <a:srgbClr val="030305"/>
                  </a:solidFill>
                  <a:latin typeface="+mn-ea"/>
                </a:rPr>
                <a:t>情况下的中间代码</a:t>
              </a:r>
              <a:endParaRPr lang="en-US" altLang="zh-CN" sz="2000" b="1">
                <a:solidFill>
                  <a:srgbClr val="030305"/>
                </a:solidFill>
                <a:latin typeface="+mn-ea"/>
              </a:endParaRPr>
            </a:p>
          </p:txBody>
        </p:sp>
        <p:sp>
          <p:nvSpPr>
            <p:cNvPr id="17" name="Line 16"/>
            <p:cNvSpPr>
              <a:spLocks noChangeShapeType="1"/>
            </p:cNvSpPr>
            <p:nvPr/>
          </p:nvSpPr>
          <p:spPr bwMode="auto">
            <a:xfrm>
              <a:off x="1632" y="2352"/>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grpSp>
      <p:grpSp>
        <p:nvGrpSpPr>
          <p:cNvPr id="18" name="Group 38"/>
          <p:cNvGrpSpPr/>
          <p:nvPr/>
        </p:nvGrpSpPr>
        <p:grpSpPr bwMode="auto">
          <a:xfrm>
            <a:off x="3300039" y="5157152"/>
            <a:ext cx="3075891" cy="762000"/>
            <a:chOff x="825" y="3054"/>
            <a:chExt cx="1717" cy="480"/>
          </a:xfrm>
        </p:grpSpPr>
        <p:sp useBgFill="1">
          <p:nvSpPr>
            <p:cNvPr id="19" name="Rectangle 19"/>
            <p:cNvSpPr>
              <a:spLocks noChangeArrowheads="1"/>
            </p:cNvSpPr>
            <p:nvPr/>
          </p:nvSpPr>
          <p:spPr bwMode="auto">
            <a:xfrm>
              <a:off x="825" y="3054"/>
              <a:ext cx="1680" cy="336"/>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20" name="Rectangle 20"/>
            <p:cNvSpPr>
              <a:spLocks noChangeArrowheads="1"/>
            </p:cNvSpPr>
            <p:nvPr/>
          </p:nvSpPr>
          <p:spPr bwMode="auto">
            <a:xfrm>
              <a:off x="921" y="3102"/>
              <a:ext cx="16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000" b="1">
                  <a:solidFill>
                    <a:srgbClr val="030305"/>
                  </a:solidFill>
                  <a:latin typeface="+mn-ea"/>
                </a:rPr>
                <a:t>FALSE</a:t>
              </a:r>
              <a:r>
                <a:rPr lang="zh-CN" altLang="en-US" sz="2000" b="1">
                  <a:solidFill>
                    <a:srgbClr val="030305"/>
                  </a:solidFill>
                  <a:latin typeface="+mn-ea"/>
                </a:rPr>
                <a:t>情况下的中间代码</a:t>
              </a:r>
              <a:endParaRPr lang="en-US" altLang="zh-CN" sz="2000" b="1">
                <a:solidFill>
                  <a:srgbClr val="030305"/>
                </a:solidFill>
                <a:latin typeface="+mn-ea"/>
              </a:endParaRPr>
            </a:p>
          </p:txBody>
        </p:sp>
        <p:sp>
          <p:nvSpPr>
            <p:cNvPr id="21" name="Line 21"/>
            <p:cNvSpPr>
              <a:spLocks noChangeShapeType="1"/>
            </p:cNvSpPr>
            <p:nvPr/>
          </p:nvSpPr>
          <p:spPr bwMode="auto">
            <a:xfrm>
              <a:off x="1641" y="3390"/>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grpSp>
      <p:grpSp>
        <p:nvGrpSpPr>
          <p:cNvPr id="22" name="Group 40"/>
          <p:cNvGrpSpPr/>
          <p:nvPr/>
        </p:nvGrpSpPr>
        <p:grpSpPr bwMode="auto">
          <a:xfrm>
            <a:off x="3322264" y="5898515"/>
            <a:ext cx="3170237" cy="476250"/>
            <a:chOff x="825" y="3534"/>
            <a:chExt cx="1708" cy="300"/>
          </a:xfrm>
        </p:grpSpPr>
        <p:sp useBgFill="1">
          <p:nvSpPr>
            <p:cNvPr id="23" name="Rectangle 22"/>
            <p:cNvSpPr>
              <a:spLocks noChangeArrowheads="1"/>
            </p:cNvSpPr>
            <p:nvPr/>
          </p:nvSpPr>
          <p:spPr bwMode="auto">
            <a:xfrm>
              <a:off x="825" y="3534"/>
              <a:ext cx="1680" cy="300"/>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24" name="Rectangle 23"/>
            <p:cNvSpPr>
              <a:spLocks noChangeArrowheads="1"/>
            </p:cNvSpPr>
            <p:nvPr/>
          </p:nvSpPr>
          <p:spPr bwMode="auto">
            <a:xfrm>
              <a:off x="969" y="3582"/>
              <a:ext cx="156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000" b="1">
                  <a:solidFill>
                    <a:srgbClr val="030305"/>
                  </a:solidFill>
                  <a:latin typeface="+mn-ea"/>
                </a:rPr>
                <a:t>if</a:t>
              </a:r>
              <a:r>
                <a:rPr lang="zh-CN" altLang="en-US" sz="2000" b="1">
                  <a:solidFill>
                    <a:srgbClr val="030305"/>
                  </a:solidFill>
                  <a:latin typeface="+mn-ea"/>
                </a:rPr>
                <a:t>语句后的中间代码</a:t>
              </a:r>
              <a:endParaRPr lang="en-US" altLang="zh-CN" sz="2000" b="1">
                <a:solidFill>
                  <a:srgbClr val="030305"/>
                </a:solidFill>
                <a:latin typeface="+mn-ea"/>
              </a:endParaRPr>
            </a:p>
          </p:txBody>
        </p:sp>
      </p:grpSp>
      <p:sp>
        <p:nvSpPr>
          <p:cNvPr id="25" name="Rectangle 13"/>
          <p:cNvSpPr>
            <a:spLocks noChangeArrowheads="1"/>
          </p:cNvSpPr>
          <p:nvPr/>
        </p:nvSpPr>
        <p:spPr bwMode="auto">
          <a:xfrm>
            <a:off x="4762126" y="3196590"/>
            <a:ext cx="4330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zh-CN" altLang="en-US" sz="2000" b="1">
                <a:solidFill>
                  <a:srgbClr val="030305"/>
                </a:solidFill>
                <a:latin typeface="+mn-ea"/>
              </a:rPr>
              <a:t>真</a:t>
            </a:r>
            <a:endParaRPr lang="zh-CN" altLang="en-US" sz="2000" b="1">
              <a:solidFill>
                <a:srgbClr val="030305"/>
              </a:solidFill>
              <a:latin typeface="+mn-ea"/>
            </a:endParaRPr>
          </a:p>
        </p:txBody>
      </p:sp>
      <p:grpSp>
        <p:nvGrpSpPr>
          <p:cNvPr id="26" name="Group 47"/>
          <p:cNvGrpSpPr/>
          <p:nvPr/>
        </p:nvGrpSpPr>
        <p:grpSpPr bwMode="auto">
          <a:xfrm>
            <a:off x="3612515" y="2381885"/>
            <a:ext cx="3520440" cy="2802255"/>
            <a:chOff x="884" y="1298"/>
            <a:chExt cx="2413" cy="1765"/>
          </a:xfrm>
        </p:grpSpPr>
        <p:grpSp>
          <p:nvGrpSpPr>
            <p:cNvPr id="27" name="Group 46"/>
            <p:cNvGrpSpPr/>
            <p:nvPr/>
          </p:nvGrpSpPr>
          <p:grpSpPr bwMode="auto">
            <a:xfrm>
              <a:off x="884" y="1298"/>
              <a:ext cx="1584" cy="720"/>
              <a:chOff x="864" y="1296"/>
              <a:chExt cx="1584" cy="720"/>
            </a:xfrm>
          </p:grpSpPr>
          <p:sp>
            <p:nvSpPr>
              <p:cNvPr id="34" name="Line 9"/>
              <p:cNvSpPr>
                <a:spLocks noChangeShapeType="1"/>
              </p:cNvSpPr>
              <p:nvPr/>
            </p:nvSpPr>
            <p:spPr bwMode="auto">
              <a:xfrm>
                <a:off x="1632" y="1296"/>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useBgFill="1">
            <p:nvSpPr>
              <p:cNvPr id="35" name="AutoShape 10"/>
              <p:cNvSpPr>
                <a:spLocks noChangeArrowheads="1"/>
              </p:cNvSpPr>
              <p:nvPr/>
            </p:nvSpPr>
            <p:spPr bwMode="auto">
              <a:xfrm>
                <a:off x="864" y="1440"/>
                <a:ext cx="1584" cy="432"/>
              </a:xfrm>
              <a:prstGeom prst="diamond">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36" name="Rectangle 11"/>
              <p:cNvSpPr>
                <a:spLocks noChangeArrowheads="1"/>
              </p:cNvSpPr>
              <p:nvPr/>
            </p:nvSpPr>
            <p:spPr bwMode="auto">
              <a:xfrm>
                <a:off x="1182" y="1536"/>
                <a:ext cx="9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zh-CN" altLang="en-US" sz="2000" b="1">
                    <a:solidFill>
                      <a:srgbClr val="030305"/>
                    </a:solidFill>
                    <a:latin typeface="+mn-ea"/>
                  </a:rPr>
                  <a:t>测试条件</a:t>
                </a:r>
                <a:endParaRPr lang="en-US" altLang="zh-CN" sz="2000" b="1">
                  <a:solidFill>
                    <a:srgbClr val="030305"/>
                  </a:solidFill>
                  <a:latin typeface="+mn-ea"/>
                </a:endParaRPr>
              </a:p>
            </p:txBody>
          </p:sp>
          <p:sp>
            <p:nvSpPr>
              <p:cNvPr id="37" name="Line 12"/>
              <p:cNvSpPr>
                <a:spLocks noChangeShapeType="1"/>
              </p:cNvSpPr>
              <p:nvPr/>
            </p:nvSpPr>
            <p:spPr bwMode="auto">
              <a:xfrm>
                <a:off x="1632" y="1872"/>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grpSp>
        <p:grpSp>
          <p:nvGrpSpPr>
            <p:cNvPr id="28" name="Group 44"/>
            <p:cNvGrpSpPr/>
            <p:nvPr/>
          </p:nvGrpSpPr>
          <p:grpSpPr bwMode="auto">
            <a:xfrm>
              <a:off x="1680" y="1659"/>
              <a:ext cx="1617" cy="1404"/>
              <a:chOff x="1680" y="1659"/>
              <a:chExt cx="1617" cy="1404"/>
            </a:xfrm>
          </p:grpSpPr>
          <p:sp>
            <p:nvSpPr>
              <p:cNvPr id="29" name="Line 24"/>
              <p:cNvSpPr>
                <a:spLocks noChangeShapeType="1"/>
              </p:cNvSpPr>
              <p:nvPr/>
            </p:nvSpPr>
            <p:spPr bwMode="auto">
              <a:xfrm>
                <a:off x="2448" y="1659"/>
                <a:ext cx="576"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30" name="Line 25"/>
              <p:cNvSpPr>
                <a:spLocks noChangeShapeType="1"/>
              </p:cNvSpPr>
              <p:nvPr/>
            </p:nvSpPr>
            <p:spPr bwMode="auto">
              <a:xfrm>
                <a:off x="3024" y="1662"/>
                <a:ext cx="0" cy="1248"/>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31" name="Line 26"/>
              <p:cNvSpPr>
                <a:spLocks noChangeShapeType="1"/>
              </p:cNvSpPr>
              <p:nvPr/>
            </p:nvSpPr>
            <p:spPr bwMode="auto">
              <a:xfrm>
                <a:off x="1680" y="2907"/>
                <a:ext cx="1344"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32" name="Line 27"/>
              <p:cNvSpPr>
                <a:spLocks noChangeShapeType="1"/>
              </p:cNvSpPr>
              <p:nvPr/>
            </p:nvSpPr>
            <p:spPr bwMode="auto">
              <a:xfrm>
                <a:off x="1680" y="2919"/>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33" name="Rectangle 28"/>
              <p:cNvSpPr>
                <a:spLocks noChangeArrowheads="1"/>
              </p:cNvSpPr>
              <p:nvPr/>
            </p:nvSpPr>
            <p:spPr bwMode="auto">
              <a:xfrm>
                <a:off x="3024" y="1776"/>
                <a:ext cx="2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zh-CN" altLang="en-US" sz="2000" b="1">
                    <a:solidFill>
                      <a:srgbClr val="030305"/>
                    </a:solidFill>
                    <a:latin typeface="+mn-ea"/>
                  </a:rPr>
                  <a:t>假</a:t>
                </a:r>
                <a:endParaRPr lang="zh-CN" altLang="en-US" sz="2000" b="1">
                  <a:solidFill>
                    <a:srgbClr val="030305"/>
                  </a:solidFill>
                  <a:latin typeface="+mn-ea"/>
                </a:endParaRPr>
              </a:p>
            </p:txBody>
          </p:sp>
        </p:grpSp>
      </p:grpSp>
      <p:grpSp>
        <p:nvGrpSpPr>
          <p:cNvPr id="38" name="Group 39"/>
          <p:cNvGrpSpPr/>
          <p:nvPr/>
        </p:nvGrpSpPr>
        <p:grpSpPr bwMode="auto">
          <a:xfrm>
            <a:off x="2853951" y="4306252"/>
            <a:ext cx="3098800" cy="1524000"/>
            <a:chOff x="480" y="2496"/>
            <a:chExt cx="2016" cy="960"/>
          </a:xfrm>
        </p:grpSpPr>
        <p:sp useBgFill="1">
          <p:nvSpPr>
            <p:cNvPr id="39" name="Rectangle 17"/>
            <p:cNvSpPr>
              <a:spLocks noChangeArrowheads="1"/>
            </p:cNvSpPr>
            <p:nvPr/>
          </p:nvSpPr>
          <p:spPr bwMode="auto">
            <a:xfrm>
              <a:off x="816" y="2496"/>
              <a:ext cx="1680" cy="252"/>
            </a:xfrm>
            <a:prstGeom prst="rect">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40" name="Rectangle 18"/>
            <p:cNvSpPr>
              <a:spLocks noChangeArrowheads="1"/>
            </p:cNvSpPr>
            <p:nvPr/>
          </p:nvSpPr>
          <p:spPr bwMode="auto">
            <a:xfrm>
              <a:off x="1152" y="2496"/>
              <a:ext cx="9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zh-CN" altLang="en-US" sz="2000" b="1">
                  <a:solidFill>
                    <a:srgbClr val="030305"/>
                  </a:solidFill>
                  <a:latin typeface="+mn-ea"/>
                </a:rPr>
                <a:t>无条件转移</a:t>
              </a:r>
              <a:endParaRPr lang="zh-CN" altLang="en-US" sz="2000" b="1">
                <a:solidFill>
                  <a:srgbClr val="030305"/>
                </a:solidFill>
                <a:latin typeface="+mn-ea"/>
              </a:endParaRPr>
            </a:p>
          </p:txBody>
        </p:sp>
        <p:sp>
          <p:nvSpPr>
            <p:cNvPr id="41" name="Line 29"/>
            <p:cNvSpPr>
              <a:spLocks noChangeShapeType="1"/>
            </p:cNvSpPr>
            <p:nvPr/>
          </p:nvSpPr>
          <p:spPr bwMode="auto">
            <a:xfrm flipH="1">
              <a:off x="480" y="2640"/>
              <a:ext cx="336"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42" name="Line 30"/>
            <p:cNvSpPr>
              <a:spLocks noChangeShapeType="1"/>
            </p:cNvSpPr>
            <p:nvPr/>
          </p:nvSpPr>
          <p:spPr bwMode="auto">
            <a:xfrm>
              <a:off x="480" y="2640"/>
              <a:ext cx="0" cy="816"/>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000">
                <a:latin typeface="+mn-ea"/>
              </a:endParaRPr>
            </a:p>
          </p:txBody>
        </p:sp>
        <p:sp>
          <p:nvSpPr>
            <p:cNvPr id="43" name="Line 31"/>
            <p:cNvSpPr>
              <a:spLocks noChangeShapeType="1"/>
            </p:cNvSpPr>
            <p:nvPr/>
          </p:nvSpPr>
          <p:spPr bwMode="auto">
            <a:xfrm>
              <a:off x="480" y="3456"/>
              <a:ext cx="1250" cy="0"/>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sz="2000">
                <a:latin typeface="+mn-ea"/>
              </a:endParaRPr>
            </a:p>
          </p:txBody>
        </p:sp>
      </p:grpSp>
      <p:sp>
        <p:nvSpPr>
          <p:cNvPr id="45" name="Rectangle 2"/>
          <p:cNvSpPr>
            <a:spLocks noChangeArrowheads="1"/>
          </p:cNvSpPr>
          <p:nvPr/>
        </p:nvSpPr>
        <p:spPr bwMode="auto">
          <a:xfrm>
            <a:off x="339725" y="1318260"/>
            <a:ext cx="313499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spcBef>
                <a:spcPct val="50000"/>
              </a:spcBef>
            </a:pP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if-stmt</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→if</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exp</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pPr>
              <a:spcBef>
                <a:spcPct val="50000"/>
              </a:spcBef>
            </a:pP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|if(</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exp</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else </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p:txBody>
      </p:sp>
      <p:sp>
        <p:nvSpPr>
          <p:cNvPr id="5" name="Rectangle 2"/>
          <p:cNvSpPr>
            <a:spLocks noChangeArrowheads="1"/>
          </p:cNvSpPr>
          <p:nvPr>
            <p:custDataLst>
              <p:tags r:id="rId1"/>
            </p:custDataLst>
          </p:nvPr>
        </p:nvSpPr>
        <p:spPr bwMode="auto">
          <a:xfrm>
            <a:off x="7267669" y="1120121"/>
            <a:ext cx="4319587"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pPr>
              <a:spcBef>
                <a:spcPct val="50000"/>
              </a:spcBef>
            </a:pPr>
            <a:r>
              <a:rPr lang="en-US" altLang="zh-CN" sz="2400" b="1" i="1" dirty="0" err="1">
                <a:solidFill>
                  <a:srgbClr val="030305"/>
                </a:solidFill>
                <a:latin typeface="+mn-ea"/>
              </a:rPr>
              <a:t>while-stmt</a:t>
            </a:r>
            <a:r>
              <a:rPr lang="en-US" altLang="zh-CN" sz="2400" b="1" dirty="0" err="1">
                <a:solidFill>
                  <a:srgbClr val="030305"/>
                </a:solidFill>
                <a:latin typeface="+mn-ea"/>
              </a:rPr>
              <a:t>→while</a:t>
            </a:r>
            <a:r>
              <a:rPr lang="en-US" altLang="zh-CN" sz="2400" b="1" dirty="0">
                <a:solidFill>
                  <a:srgbClr val="030305"/>
                </a:solidFill>
                <a:latin typeface="+mn-ea"/>
              </a:rPr>
              <a:t> (</a:t>
            </a:r>
            <a:r>
              <a:rPr lang="en-US" altLang="zh-CN" sz="2400" b="1" i="1" dirty="0">
                <a:solidFill>
                  <a:srgbClr val="030305"/>
                </a:solidFill>
                <a:latin typeface="+mn-ea"/>
              </a:rPr>
              <a:t>exp</a:t>
            </a:r>
            <a:r>
              <a:rPr lang="en-US" altLang="zh-CN" sz="2400" b="1" dirty="0">
                <a:solidFill>
                  <a:srgbClr val="030305"/>
                </a:solidFill>
                <a:latin typeface="+mn-ea"/>
              </a:rPr>
              <a:t>) </a:t>
            </a:r>
            <a:r>
              <a:rPr lang="en-US" altLang="zh-CN" sz="2400" b="1" i="1" dirty="0" err="1">
                <a:solidFill>
                  <a:srgbClr val="030305"/>
                </a:solidFill>
                <a:latin typeface="+mn-ea"/>
              </a:rPr>
              <a:t>stmt</a:t>
            </a:r>
            <a:r>
              <a:rPr lang="en-US" altLang="zh-CN" sz="2400" b="1" i="1" dirty="0">
                <a:solidFill>
                  <a:srgbClr val="030305"/>
                </a:solidFill>
                <a:latin typeface="+mn-ea"/>
              </a:rPr>
              <a:t> </a:t>
            </a:r>
            <a:endParaRPr lang="en-US" altLang="zh-CN" sz="2400" b="1" i="1" dirty="0">
              <a:solidFill>
                <a:srgbClr val="030305"/>
              </a:solidFill>
              <a:latin typeface="+mn-ea"/>
            </a:endParaRPr>
          </a:p>
        </p:txBody>
      </p:sp>
      <p:grpSp>
        <p:nvGrpSpPr>
          <p:cNvPr id="2" name="Group 30"/>
          <p:cNvGrpSpPr/>
          <p:nvPr/>
        </p:nvGrpSpPr>
        <p:grpSpPr bwMode="auto">
          <a:xfrm>
            <a:off x="7976964" y="1664633"/>
            <a:ext cx="2667000" cy="533400"/>
            <a:chOff x="1104" y="624"/>
            <a:chExt cx="1680" cy="336"/>
          </a:xfrm>
        </p:grpSpPr>
        <p:sp useBgFill="1">
          <p:nvSpPr>
            <p:cNvPr id="3" name="Rectangle 4"/>
            <p:cNvSpPr>
              <a:spLocks noChangeArrowheads="1"/>
            </p:cNvSpPr>
            <p:nvPr>
              <p:custDataLst>
                <p:tags r:id="rId2"/>
              </p:custDataLst>
            </p:nvPr>
          </p:nvSpPr>
          <p:spPr bwMode="auto">
            <a:xfrm>
              <a:off x="1104" y="624"/>
              <a:ext cx="1680" cy="336"/>
            </a:xfrm>
            <a:prstGeom prst="rect">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4" name="Rectangle 5"/>
            <p:cNvSpPr>
              <a:spLocks noChangeArrowheads="1"/>
            </p:cNvSpPr>
            <p:nvPr>
              <p:custDataLst>
                <p:tags r:id="rId3"/>
              </p:custDataLst>
            </p:nvPr>
          </p:nvSpPr>
          <p:spPr bwMode="auto">
            <a:xfrm>
              <a:off x="1248" y="672"/>
              <a:ext cx="145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b="1">
                  <a:solidFill>
                    <a:srgbClr val="030305"/>
                  </a:solidFill>
                  <a:latin typeface="+mn-ea"/>
                </a:rPr>
                <a:t>while</a:t>
              </a:r>
              <a:r>
                <a:rPr lang="zh-CN" altLang="en-US" sz="2000" b="1">
                  <a:solidFill>
                    <a:srgbClr val="030305"/>
                  </a:solidFill>
                  <a:latin typeface="+mn-ea"/>
                </a:rPr>
                <a:t>语句前的代码</a:t>
              </a:r>
              <a:endParaRPr lang="en-US" altLang="zh-CN" sz="2000" b="1">
                <a:solidFill>
                  <a:srgbClr val="030305"/>
                </a:solidFill>
                <a:latin typeface="+mn-ea"/>
              </a:endParaRPr>
            </a:p>
          </p:txBody>
        </p:sp>
      </p:grpSp>
      <p:grpSp>
        <p:nvGrpSpPr>
          <p:cNvPr id="46" name="Group 31"/>
          <p:cNvGrpSpPr/>
          <p:nvPr/>
        </p:nvGrpSpPr>
        <p:grpSpPr bwMode="auto">
          <a:xfrm>
            <a:off x="7976964" y="2198033"/>
            <a:ext cx="2667000" cy="762000"/>
            <a:chOff x="1104" y="960"/>
            <a:chExt cx="1680" cy="480"/>
          </a:xfrm>
        </p:grpSpPr>
        <p:sp>
          <p:nvSpPr>
            <p:cNvPr id="47" name="Line 6"/>
            <p:cNvSpPr>
              <a:spLocks noChangeShapeType="1"/>
            </p:cNvSpPr>
            <p:nvPr>
              <p:custDataLst>
                <p:tags r:id="rId4"/>
              </p:custDataLst>
            </p:nvPr>
          </p:nvSpPr>
          <p:spPr bwMode="auto">
            <a:xfrm>
              <a:off x="1920" y="960"/>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p>
              <a:endParaRPr lang="zh-CN" altLang="en-US" sz="2000">
                <a:latin typeface="+mn-ea"/>
              </a:endParaRPr>
            </a:p>
          </p:txBody>
        </p:sp>
        <p:sp useBgFill="1">
          <p:nvSpPr>
            <p:cNvPr id="48" name="Rectangle 7"/>
            <p:cNvSpPr>
              <a:spLocks noChangeArrowheads="1"/>
            </p:cNvSpPr>
            <p:nvPr>
              <p:custDataLst>
                <p:tags r:id="rId5"/>
              </p:custDataLst>
            </p:nvPr>
          </p:nvSpPr>
          <p:spPr bwMode="auto">
            <a:xfrm>
              <a:off x="1104" y="1104"/>
              <a:ext cx="1680" cy="336"/>
            </a:xfrm>
            <a:prstGeom prst="rect">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49" name="Rectangle 8"/>
            <p:cNvSpPr>
              <a:spLocks noChangeArrowheads="1"/>
            </p:cNvSpPr>
            <p:nvPr>
              <p:custDataLst>
                <p:tags r:id="rId6"/>
              </p:custDataLst>
            </p:nvPr>
          </p:nvSpPr>
          <p:spPr bwMode="auto">
            <a:xfrm>
              <a:off x="1200" y="1152"/>
              <a:ext cx="1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b="1">
                  <a:solidFill>
                    <a:srgbClr val="030305"/>
                  </a:solidFill>
                  <a:latin typeface="+mn-ea"/>
                </a:rPr>
                <a:t>while</a:t>
              </a:r>
              <a:r>
                <a:rPr lang="zh-CN" altLang="en-US" sz="2000" b="1">
                  <a:solidFill>
                    <a:srgbClr val="030305"/>
                  </a:solidFill>
                  <a:latin typeface="+mn-ea"/>
                </a:rPr>
                <a:t>测试的代码</a:t>
              </a:r>
              <a:endParaRPr lang="en-US" altLang="zh-CN" sz="2000" b="1">
                <a:solidFill>
                  <a:srgbClr val="030305"/>
                </a:solidFill>
                <a:latin typeface="+mn-ea"/>
              </a:endParaRPr>
            </a:p>
          </p:txBody>
        </p:sp>
      </p:grpSp>
      <p:grpSp>
        <p:nvGrpSpPr>
          <p:cNvPr id="50" name="Group 33"/>
          <p:cNvGrpSpPr/>
          <p:nvPr/>
        </p:nvGrpSpPr>
        <p:grpSpPr bwMode="auto">
          <a:xfrm>
            <a:off x="7943626" y="4093508"/>
            <a:ext cx="2667000" cy="533400"/>
            <a:chOff x="1083" y="2154"/>
            <a:chExt cx="1680" cy="336"/>
          </a:xfrm>
        </p:grpSpPr>
        <p:sp useBgFill="1">
          <p:nvSpPr>
            <p:cNvPr id="51" name="Rectangle 14"/>
            <p:cNvSpPr>
              <a:spLocks noChangeArrowheads="1"/>
            </p:cNvSpPr>
            <p:nvPr>
              <p:custDataLst>
                <p:tags r:id="rId7"/>
              </p:custDataLst>
            </p:nvPr>
          </p:nvSpPr>
          <p:spPr bwMode="auto">
            <a:xfrm>
              <a:off x="1083" y="2154"/>
              <a:ext cx="1680" cy="336"/>
            </a:xfrm>
            <a:prstGeom prst="rect">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52" name="Rectangle 15"/>
            <p:cNvSpPr>
              <a:spLocks noChangeArrowheads="1"/>
            </p:cNvSpPr>
            <p:nvPr>
              <p:custDataLst>
                <p:tags r:id="rId8"/>
              </p:custDataLst>
            </p:nvPr>
          </p:nvSpPr>
          <p:spPr bwMode="auto">
            <a:xfrm>
              <a:off x="1200" y="2208"/>
              <a:ext cx="11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b="1">
                  <a:solidFill>
                    <a:srgbClr val="030305"/>
                  </a:solidFill>
                  <a:latin typeface="+mn-ea"/>
                </a:rPr>
                <a:t>while</a:t>
              </a:r>
              <a:r>
                <a:rPr lang="zh-CN" altLang="en-US" sz="2000" b="1">
                  <a:solidFill>
                    <a:srgbClr val="030305"/>
                  </a:solidFill>
                  <a:latin typeface="+mn-ea"/>
                </a:rPr>
                <a:t>体的代码</a:t>
              </a:r>
              <a:endParaRPr lang="en-US" altLang="zh-CN" sz="2000" b="1">
                <a:solidFill>
                  <a:srgbClr val="030305"/>
                </a:solidFill>
                <a:latin typeface="+mn-ea"/>
              </a:endParaRPr>
            </a:p>
          </p:txBody>
        </p:sp>
      </p:grpSp>
      <p:grpSp>
        <p:nvGrpSpPr>
          <p:cNvPr id="53" name="Group 34"/>
          <p:cNvGrpSpPr/>
          <p:nvPr/>
        </p:nvGrpSpPr>
        <p:grpSpPr bwMode="auto">
          <a:xfrm>
            <a:off x="7976964" y="4636433"/>
            <a:ext cx="2667000" cy="762000"/>
            <a:chOff x="1104" y="2496"/>
            <a:chExt cx="1680" cy="480"/>
          </a:xfrm>
        </p:grpSpPr>
        <p:sp>
          <p:nvSpPr>
            <p:cNvPr id="54" name="Line 16"/>
            <p:cNvSpPr>
              <a:spLocks noChangeShapeType="1"/>
            </p:cNvSpPr>
            <p:nvPr>
              <p:custDataLst>
                <p:tags r:id="rId9"/>
              </p:custDataLst>
            </p:nvPr>
          </p:nvSpPr>
          <p:spPr bwMode="auto">
            <a:xfrm>
              <a:off x="1920" y="2496"/>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p>
              <a:endParaRPr lang="zh-CN" altLang="en-US" sz="2000">
                <a:latin typeface="+mn-ea"/>
              </a:endParaRPr>
            </a:p>
          </p:txBody>
        </p:sp>
        <p:sp useBgFill="1">
          <p:nvSpPr>
            <p:cNvPr id="55" name="Rectangle 17"/>
            <p:cNvSpPr>
              <a:spLocks noChangeArrowheads="1"/>
            </p:cNvSpPr>
            <p:nvPr>
              <p:custDataLst>
                <p:tags r:id="rId10"/>
              </p:custDataLst>
            </p:nvPr>
          </p:nvSpPr>
          <p:spPr bwMode="auto">
            <a:xfrm>
              <a:off x="1104" y="2640"/>
              <a:ext cx="1680" cy="336"/>
            </a:xfrm>
            <a:prstGeom prst="rect">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56" name="Rectangle 18"/>
            <p:cNvSpPr>
              <a:spLocks noChangeArrowheads="1"/>
            </p:cNvSpPr>
            <p:nvPr>
              <p:custDataLst>
                <p:tags r:id="rId11"/>
              </p:custDataLst>
            </p:nvPr>
          </p:nvSpPr>
          <p:spPr bwMode="auto">
            <a:xfrm>
              <a:off x="1440" y="2640"/>
              <a:ext cx="91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zh-CN" altLang="en-US" sz="2000" b="1">
                  <a:solidFill>
                    <a:srgbClr val="030305"/>
                  </a:solidFill>
                  <a:latin typeface="+mn-ea"/>
                </a:rPr>
                <a:t>无条件转移</a:t>
              </a:r>
              <a:endParaRPr lang="zh-CN" altLang="en-US" sz="2000" b="1">
                <a:solidFill>
                  <a:srgbClr val="030305"/>
                </a:solidFill>
                <a:latin typeface="+mn-ea"/>
              </a:endParaRPr>
            </a:p>
          </p:txBody>
        </p:sp>
      </p:grpSp>
      <p:grpSp>
        <p:nvGrpSpPr>
          <p:cNvPr id="57" name="Group 35"/>
          <p:cNvGrpSpPr/>
          <p:nvPr/>
        </p:nvGrpSpPr>
        <p:grpSpPr bwMode="auto">
          <a:xfrm>
            <a:off x="7976964" y="5779433"/>
            <a:ext cx="2667000" cy="533400"/>
            <a:chOff x="1104" y="3216"/>
            <a:chExt cx="1680" cy="336"/>
          </a:xfrm>
        </p:grpSpPr>
        <p:sp useBgFill="1">
          <p:nvSpPr>
            <p:cNvPr id="58" name="Rectangle 19"/>
            <p:cNvSpPr>
              <a:spLocks noChangeArrowheads="1"/>
            </p:cNvSpPr>
            <p:nvPr>
              <p:custDataLst>
                <p:tags r:id="rId12"/>
              </p:custDataLst>
            </p:nvPr>
          </p:nvSpPr>
          <p:spPr bwMode="auto">
            <a:xfrm>
              <a:off x="1104" y="3216"/>
              <a:ext cx="1680" cy="336"/>
            </a:xfrm>
            <a:prstGeom prst="rect">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59" name="Rectangle 20"/>
            <p:cNvSpPr>
              <a:spLocks noChangeArrowheads="1"/>
            </p:cNvSpPr>
            <p:nvPr>
              <p:custDataLst>
                <p:tags r:id="rId13"/>
              </p:custDataLst>
            </p:nvPr>
          </p:nvSpPr>
          <p:spPr bwMode="auto">
            <a:xfrm>
              <a:off x="1152" y="3264"/>
              <a:ext cx="15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000" b="1">
                  <a:solidFill>
                    <a:srgbClr val="030305"/>
                  </a:solidFill>
                  <a:latin typeface="+mn-ea"/>
                </a:rPr>
                <a:t>While</a:t>
              </a:r>
              <a:r>
                <a:rPr lang="zh-CN" altLang="en-US" sz="2000" b="1">
                  <a:solidFill>
                    <a:srgbClr val="030305"/>
                  </a:solidFill>
                  <a:latin typeface="+mn-ea"/>
                </a:rPr>
                <a:t>语句后的代码</a:t>
              </a:r>
              <a:endParaRPr lang="en-US" altLang="zh-CN" sz="2000" b="1">
                <a:solidFill>
                  <a:srgbClr val="030305"/>
                </a:solidFill>
                <a:latin typeface="+mn-ea"/>
              </a:endParaRPr>
            </a:p>
          </p:txBody>
        </p:sp>
      </p:grpSp>
      <p:sp>
        <p:nvSpPr>
          <p:cNvPr id="60" name="Rectangle 13"/>
          <p:cNvSpPr>
            <a:spLocks noChangeArrowheads="1"/>
          </p:cNvSpPr>
          <p:nvPr>
            <p:custDataLst>
              <p:tags r:id="rId14"/>
            </p:custDataLst>
          </p:nvPr>
        </p:nvSpPr>
        <p:spPr bwMode="auto">
          <a:xfrm>
            <a:off x="9500964" y="3742671"/>
            <a:ext cx="4330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zh-CN" altLang="en-US" sz="2000" b="1">
                <a:solidFill>
                  <a:srgbClr val="030305"/>
                </a:solidFill>
                <a:latin typeface="+mn-ea"/>
              </a:rPr>
              <a:t>真</a:t>
            </a:r>
            <a:endParaRPr lang="zh-CN" altLang="en-US" sz="2000" b="1">
              <a:solidFill>
                <a:srgbClr val="030305"/>
              </a:solidFill>
              <a:latin typeface="+mn-ea"/>
            </a:endParaRPr>
          </a:p>
        </p:txBody>
      </p:sp>
      <p:grpSp>
        <p:nvGrpSpPr>
          <p:cNvPr id="61" name="Group 40"/>
          <p:cNvGrpSpPr/>
          <p:nvPr/>
        </p:nvGrpSpPr>
        <p:grpSpPr bwMode="auto">
          <a:xfrm>
            <a:off x="8053164" y="2960033"/>
            <a:ext cx="3862387" cy="2805113"/>
            <a:chOff x="1152" y="1440"/>
            <a:chExt cx="2433" cy="1767"/>
          </a:xfrm>
        </p:grpSpPr>
        <p:grpSp>
          <p:nvGrpSpPr>
            <p:cNvPr id="62" name="Group 39"/>
            <p:cNvGrpSpPr/>
            <p:nvPr/>
          </p:nvGrpSpPr>
          <p:grpSpPr bwMode="auto">
            <a:xfrm>
              <a:off x="1152" y="1440"/>
              <a:ext cx="1584" cy="720"/>
              <a:chOff x="1152" y="1440"/>
              <a:chExt cx="1584" cy="720"/>
            </a:xfrm>
          </p:grpSpPr>
          <p:sp>
            <p:nvSpPr>
              <p:cNvPr id="63" name="Line 9"/>
              <p:cNvSpPr>
                <a:spLocks noChangeShapeType="1"/>
              </p:cNvSpPr>
              <p:nvPr>
                <p:custDataLst>
                  <p:tags r:id="rId15"/>
                </p:custDataLst>
              </p:nvPr>
            </p:nvSpPr>
            <p:spPr bwMode="auto">
              <a:xfrm>
                <a:off x="1920" y="1440"/>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p>
                <a:endParaRPr lang="zh-CN" altLang="en-US" sz="2000">
                  <a:latin typeface="+mn-ea"/>
                </a:endParaRPr>
              </a:p>
            </p:txBody>
          </p:sp>
          <p:sp useBgFill="1">
            <p:nvSpPr>
              <p:cNvPr id="64" name="AutoShape 10"/>
              <p:cNvSpPr>
                <a:spLocks noChangeArrowheads="1"/>
              </p:cNvSpPr>
              <p:nvPr>
                <p:custDataLst>
                  <p:tags r:id="rId16"/>
                </p:custDataLst>
              </p:nvPr>
            </p:nvSpPr>
            <p:spPr bwMode="auto">
              <a:xfrm>
                <a:off x="1152" y="1584"/>
                <a:ext cx="1584" cy="432"/>
              </a:xfrm>
              <a:prstGeom prst="diamond">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mn-ea"/>
                </a:endParaRPr>
              </a:p>
            </p:txBody>
          </p:sp>
          <p:sp>
            <p:nvSpPr>
              <p:cNvPr id="65" name="Rectangle 11"/>
              <p:cNvSpPr>
                <a:spLocks noChangeArrowheads="1"/>
              </p:cNvSpPr>
              <p:nvPr>
                <p:custDataLst>
                  <p:tags r:id="rId17"/>
                </p:custDataLst>
              </p:nvPr>
            </p:nvSpPr>
            <p:spPr bwMode="auto">
              <a:xfrm>
                <a:off x="1584" y="1680"/>
                <a:ext cx="7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zh-CN" altLang="en-US" sz="2000" b="1">
                    <a:solidFill>
                      <a:srgbClr val="030305"/>
                    </a:solidFill>
                    <a:latin typeface="+mn-ea"/>
                  </a:rPr>
                  <a:t>测试条件</a:t>
                </a:r>
                <a:endParaRPr lang="en-US" altLang="zh-CN" sz="2000" b="1">
                  <a:solidFill>
                    <a:srgbClr val="030305"/>
                  </a:solidFill>
                  <a:latin typeface="+mn-ea"/>
                </a:endParaRPr>
              </a:p>
            </p:txBody>
          </p:sp>
          <p:sp>
            <p:nvSpPr>
              <p:cNvPr id="66" name="Line 12"/>
              <p:cNvSpPr>
                <a:spLocks noChangeShapeType="1"/>
              </p:cNvSpPr>
              <p:nvPr>
                <p:custDataLst>
                  <p:tags r:id="rId18"/>
                </p:custDataLst>
              </p:nvPr>
            </p:nvSpPr>
            <p:spPr bwMode="auto">
              <a:xfrm>
                <a:off x="1920" y="2016"/>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p>
                <a:endParaRPr lang="zh-CN" altLang="en-US" sz="2000">
                  <a:latin typeface="+mn-ea"/>
                </a:endParaRPr>
              </a:p>
            </p:txBody>
          </p:sp>
        </p:grpSp>
        <p:grpSp>
          <p:nvGrpSpPr>
            <p:cNvPr id="67" name="Group 38"/>
            <p:cNvGrpSpPr/>
            <p:nvPr/>
          </p:nvGrpSpPr>
          <p:grpSpPr bwMode="auto">
            <a:xfrm>
              <a:off x="1968" y="1803"/>
              <a:ext cx="1617" cy="1404"/>
              <a:chOff x="1968" y="1803"/>
              <a:chExt cx="1617" cy="1404"/>
            </a:xfrm>
          </p:grpSpPr>
          <p:sp>
            <p:nvSpPr>
              <p:cNvPr id="68" name="Line 23"/>
              <p:cNvSpPr>
                <a:spLocks noChangeShapeType="1"/>
              </p:cNvSpPr>
              <p:nvPr>
                <p:custDataLst>
                  <p:tags r:id="rId19"/>
                </p:custDataLst>
              </p:nvPr>
            </p:nvSpPr>
            <p:spPr bwMode="auto">
              <a:xfrm>
                <a:off x="1968" y="3051"/>
                <a:ext cx="1344"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mn-ea"/>
                </a:endParaRPr>
              </a:p>
            </p:txBody>
          </p:sp>
          <p:sp>
            <p:nvSpPr>
              <p:cNvPr id="69" name="Line 21"/>
              <p:cNvSpPr>
                <a:spLocks noChangeShapeType="1"/>
              </p:cNvSpPr>
              <p:nvPr>
                <p:custDataLst>
                  <p:tags r:id="rId20"/>
                </p:custDataLst>
              </p:nvPr>
            </p:nvSpPr>
            <p:spPr bwMode="auto">
              <a:xfrm>
                <a:off x="2736" y="1803"/>
                <a:ext cx="576"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mn-ea"/>
                </a:endParaRPr>
              </a:p>
            </p:txBody>
          </p:sp>
          <p:sp>
            <p:nvSpPr>
              <p:cNvPr id="70" name="Line 22"/>
              <p:cNvSpPr>
                <a:spLocks noChangeShapeType="1"/>
              </p:cNvSpPr>
              <p:nvPr>
                <p:custDataLst>
                  <p:tags r:id="rId21"/>
                </p:custDataLst>
              </p:nvPr>
            </p:nvSpPr>
            <p:spPr bwMode="auto">
              <a:xfrm>
                <a:off x="3312" y="1806"/>
                <a:ext cx="0" cy="1248"/>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mn-ea"/>
                </a:endParaRPr>
              </a:p>
            </p:txBody>
          </p:sp>
          <p:sp>
            <p:nvSpPr>
              <p:cNvPr id="71" name="Line 24"/>
              <p:cNvSpPr>
                <a:spLocks noChangeShapeType="1"/>
              </p:cNvSpPr>
              <p:nvPr>
                <p:custDataLst>
                  <p:tags r:id="rId22"/>
                </p:custDataLst>
              </p:nvPr>
            </p:nvSpPr>
            <p:spPr bwMode="auto">
              <a:xfrm>
                <a:off x="1968" y="3063"/>
                <a:ext cx="0" cy="144"/>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p>
                <a:endParaRPr lang="zh-CN" altLang="en-US" sz="2000">
                  <a:latin typeface="+mn-ea"/>
                </a:endParaRPr>
              </a:p>
            </p:txBody>
          </p:sp>
          <p:sp>
            <p:nvSpPr>
              <p:cNvPr id="72" name="Rectangle 25"/>
              <p:cNvSpPr>
                <a:spLocks noChangeArrowheads="1"/>
              </p:cNvSpPr>
              <p:nvPr>
                <p:custDataLst>
                  <p:tags r:id="rId23"/>
                </p:custDataLst>
              </p:nvPr>
            </p:nvSpPr>
            <p:spPr bwMode="auto">
              <a:xfrm>
                <a:off x="3312" y="1920"/>
                <a:ext cx="2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zh-CN" altLang="en-US" sz="2000" b="1">
                    <a:solidFill>
                      <a:srgbClr val="030305"/>
                    </a:solidFill>
                    <a:latin typeface="+mn-ea"/>
                  </a:rPr>
                  <a:t>假</a:t>
                </a:r>
                <a:endParaRPr lang="zh-CN" altLang="en-US" sz="2000" b="1">
                  <a:solidFill>
                    <a:srgbClr val="030305"/>
                  </a:solidFill>
                  <a:latin typeface="+mn-ea"/>
                </a:endParaRPr>
              </a:p>
            </p:txBody>
          </p:sp>
        </p:grpSp>
      </p:grpSp>
      <p:grpSp>
        <p:nvGrpSpPr>
          <p:cNvPr id="73" name="Group 26"/>
          <p:cNvGrpSpPr/>
          <p:nvPr/>
        </p:nvGrpSpPr>
        <p:grpSpPr bwMode="auto">
          <a:xfrm>
            <a:off x="7367364" y="2655233"/>
            <a:ext cx="609600" cy="2514600"/>
            <a:chOff x="480" y="1680"/>
            <a:chExt cx="384" cy="1011"/>
          </a:xfrm>
        </p:grpSpPr>
        <p:sp>
          <p:nvSpPr>
            <p:cNvPr id="74" name="Line 27"/>
            <p:cNvSpPr>
              <a:spLocks noChangeShapeType="1"/>
            </p:cNvSpPr>
            <p:nvPr>
              <p:custDataLst>
                <p:tags r:id="rId24"/>
              </p:custDataLst>
            </p:nvPr>
          </p:nvSpPr>
          <p:spPr bwMode="auto">
            <a:xfrm flipH="1">
              <a:off x="480" y="2688"/>
              <a:ext cx="336"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mn-ea"/>
              </a:endParaRPr>
            </a:p>
          </p:txBody>
        </p:sp>
        <p:sp>
          <p:nvSpPr>
            <p:cNvPr id="75" name="Line 28"/>
            <p:cNvSpPr>
              <a:spLocks noChangeShapeType="1"/>
            </p:cNvSpPr>
            <p:nvPr>
              <p:custDataLst>
                <p:tags r:id="rId25"/>
              </p:custDataLst>
            </p:nvPr>
          </p:nvSpPr>
          <p:spPr bwMode="auto">
            <a:xfrm>
              <a:off x="480" y="1680"/>
              <a:ext cx="0" cy="1011"/>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mn-ea"/>
              </a:endParaRPr>
            </a:p>
          </p:txBody>
        </p:sp>
        <p:sp>
          <p:nvSpPr>
            <p:cNvPr id="76" name="Line 29"/>
            <p:cNvSpPr>
              <a:spLocks noChangeShapeType="1"/>
            </p:cNvSpPr>
            <p:nvPr>
              <p:custDataLst>
                <p:tags r:id="rId26"/>
              </p:custDataLst>
            </p:nvPr>
          </p:nvSpPr>
          <p:spPr bwMode="auto">
            <a:xfrm>
              <a:off x="480" y="1680"/>
              <a:ext cx="384" cy="0"/>
            </a:xfrm>
            <a:prstGeom prst="line">
              <a:avLst/>
            </a:prstGeom>
            <a:noFill/>
            <a:ln w="9525">
              <a:solidFill>
                <a:srgbClr val="030305"/>
              </a:solidFill>
              <a:miter lim="800000"/>
              <a:tailEnd type="triangle" w="med" len="med"/>
            </a:ln>
            <a:extLst>
              <a:ext uri="{909E8E84-426E-40DD-AFC4-6F175D3DCCD1}">
                <a14:hiddenFill xmlns:a14="http://schemas.microsoft.com/office/drawing/2010/main">
                  <a:noFill/>
                </a14:hiddenFill>
              </a:ext>
            </a:extLst>
          </p:spPr>
          <p:txBody>
            <a:bodyPr/>
            <a:p>
              <a:endParaRPr lang="zh-CN" altLang="en-US" sz="2000">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out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out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out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arn(out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strips(downLeft)">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strips(down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barn(outHorizontal)">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arn(out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barn(outHorizontal)">
                                      <p:cBhvr>
                                        <p:cTn id="52" dur="500"/>
                                        <p:tgtEl>
                                          <p:spTgt spid="46"/>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barn(outHorizontal)">
                                      <p:cBhvr>
                                        <p:cTn id="57" dur="500"/>
                                        <p:tgtEl>
                                          <p:spTgt spid="50"/>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barn(outHorizontal)">
                                      <p:cBhvr>
                                        <p:cTn id="62" dur="500"/>
                                        <p:tgtEl>
                                          <p:spTgt spid="57"/>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strips(downLeft)">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grpId="0" nodeType="click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strips(downLeft)">
                                      <p:cBhvr>
                                        <p:cTn id="72" dur="500"/>
                                        <p:tgtEl>
                                          <p:spTgt spid="60"/>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nodeType="click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barn(outHorizontal)">
                                      <p:cBhvr>
                                        <p:cTn id="77" dur="500"/>
                                        <p:tgtEl>
                                          <p:spTgt spid="53"/>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nodeType="clickEffect">
                                  <p:stCondLst>
                                    <p:cond delay="0"/>
                                  </p:stCondLst>
                                  <p:childTnLst>
                                    <p:set>
                                      <p:cBhvr>
                                        <p:cTn id="81" dur="1" fill="hold">
                                          <p:stCondLst>
                                            <p:cond delay="0"/>
                                          </p:stCondLst>
                                        </p:cTn>
                                        <p:tgtEl>
                                          <p:spTgt spid="73"/>
                                        </p:tgtEl>
                                        <p:attrNameLst>
                                          <p:attrName>style.visibility</p:attrName>
                                        </p:attrNameLst>
                                      </p:cBhvr>
                                      <p:to>
                                        <p:strVal val="visible"/>
                                      </p:to>
                                    </p:set>
                                    <p:animEffect transition="in" filter="barn(outHorizontal)">
                                      <p:cBhvr>
                                        <p:cTn id="82"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07035" y="276860"/>
            <a:ext cx="7768590" cy="593090"/>
          </a:xfrm>
        </p:spPr>
        <p:txBody>
          <a:bodyPr/>
          <a:lstStyle/>
          <a:p>
            <a:r>
              <a:rPr lang="en-US" altLang="zh-CN" sz="3200" dirty="0"/>
              <a:t>6.4.1 if</a:t>
            </a:r>
            <a:r>
              <a:rPr lang="zh-CN" altLang="en-US" sz="3200" dirty="0"/>
              <a:t>和</a:t>
            </a:r>
            <a:r>
              <a:rPr lang="en-US" altLang="zh-CN" sz="3200" dirty="0"/>
              <a:t>while</a:t>
            </a:r>
            <a:r>
              <a:rPr lang="zh-CN" altLang="en-US" sz="3200" dirty="0"/>
              <a:t>语句的代码生成</a:t>
            </a:r>
            <a:endParaRPr lang="en-US" altLang="zh-CN" sz="3200" dirty="0"/>
          </a:p>
        </p:txBody>
      </p:sp>
      <p:sp>
        <p:nvSpPr>
          <p:cNvPr id="46" name="Rectangle 3"/>
          <p:cNvSpPr txBox="1">
            <a:spLocks noChangeArrowheads="1"/>
          </p:cNvSpPr>
          <p:nvPr/>
        </p:nvSpPr>
        <p:spPr>
          <a:xfrm>
            <a:off x="335915" y="1229995"/>
            <a:ext cx="4189095" cy="4947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Wingdings" panose="05000000000000000000" charset="0"/>
              <a:buNone/>
            </a:pPr>
            <a:r>
              <a:rPr lang="zh-CN" altLang="en-US" sz="2400" dirty="0">
                <a:latin typeface="+mn-ea"/>
              </a:rPr>
              <a:t>为了生成控制语句的三地址码，引入如下三地址码：</a:t>
            </a:r>
            <a:endParaRPr lang="zh-CN" altLang="en-US" sz="2400" dirty="0">
              <a:latin typeface="+mn-ea"/>
            </a:endParaRPr>
          </a:p>
          <a:p>
            <a:pPr>
              <a:lnSpc>
                <a:spcPct val="120000"/>
              </a:lnSpc>
              <a:buFont typeface="Wingdings" panose="05000000000000000000" charset="0"/>
              <a:buChar char="p"/>
            </a:pPr>
            <a:r>
              <a:rPr lang="zh-CN" altLang="en-US" sz="2400" b="1" dirty="0">
                <a:latin typeface="+mn-ea"/>
              </a:rPr>
              <a:t>产生标号三地址语句:</a:t>
            </a:r>
            <a:endParaRPr lang="zh-CN" altLang="en-US" sz="2400" b="1" dirty="0">
              <a:latin typeface="+mn-ea"/>
            </a:endParaRPr>
          </a:p>
          <a:p>
            <a:pPr lvl="1">
              <a:lnSpc>
                <a:spcPct val="120000"/>
              </a:lnSpc>
              <a:buFont typeface="Wingdings" panose="05000000000000000000" charset="0"/>
              <a:buChar char="p"/>
            </a:pPr>
            <a:r>
              <a:rPr lang="en-US" altLang="zh-CN" sz="2400" b="1" dirty="0">
                <a:solidFill>
                  <a:schemeClr val="accent1"/>
                </a:solidFill>
                <a:latin typeface="+mn-ea"/>
              </a:rPr>
              <a:t>label  ….</a:t>
            </a:r>
            <a:endParaRPr lang="en-US" altLang="zh-CN" sz="2400" b="1" dirty="0">
              <a:solidFill>
                <a:schemeClr val="accent1"/>
              </a:solidFill>
              <a:latin typeface="+mn-ea"/>
            </a:endParaRPr>
          </a:p>
          <a:p>
            <a:pPr lvl="0">
              <a:lnSpc>
                <a:spcPct val="120000"/>
              </a:lnSpc>
              <a:buFont typeface="Wingdings" panose="05000000000000000000" charset="0"/>
              <a:buChar char="p"/>
            </a:pPr>
            <a:r>
              <a:rPr lang="zh-CN" altLang="en-US" sz="2400" b="1" dirty="0">
                <a:latin typeface="+mn-ea"/>
              </a:rPr>
              <a:t>当测试条件为假时转移的三地址语句：</a:t>
            </a:r>
            <a:endParaRPr lang="zh-CN" altLang="en-US" sz="2400" b="1" dirty="0">
              <a:latin typeface="+mn-ea"/>
            </a:endParaRPr>
          </a:p>
          <a:p>
            <a:pPr lvl="1">
              <a:lnSpc>
                <a:spcPct val="120000"/>
              </a:lnSpc>
              <a:buFont typeface="Wingdings" panose="05000000000000000000" charset="0"/>
              <a:buChar char="p"/>
            </a:pPr>
            <a:r>
              <a:rPr lang="en-US" altLang="zh-CN" sz="2400" b="1" dirty="0">
                <a:solidFill>
                  <a:schemeClr val="accent1"/>
                </a:solidFill>
                <a:latin typeface="+mn-ea"/>
              </a:rPr>
              <a:t>if-false……</a:t>
            </a:r>
            <a:r>
              <a:rPr lang="en-US" altLang="zh-CN" sz="2400" b="1" dirty="0" err="1">
                <a:solidFill>
                  <a:schemeClr val="accent1"/>
                </a:solidFill>
                <a:latin typeface="+mn-ea"/>
              </a:rPr>
              <a:t>goto</a:t>
            </a:r>
            <a:endParaRPr lang="en-US" altLang="zh-CN" sz="2400" b="1" dirty="0">
              <a:solidFill>
                <a:schemeClr val="accent1"/>
              </a:solidFill>
              <a:latin typeface="+mn-ea"/>
            </a:endParaRPr>
          </a:p>
          <a:p>
            <a:pPr lvl="0">
              <a:lnSpc>
                <a:spcPct val="120000"/>
              </a:lnSpc>
              <a:buFont typeface="Wingdings" panose="05000000000000000000" charset="0"/>
              <a:buChar char="p"/>
            </a:pPr>
            <a:r>
              <a:rPr lang="zh-CN" altLang="en-US" sz="2400" b="1" dirty="0">
                <a:latin typeface="+mn-ea"/>
              </a:rPr>
              <a:t>无条件转移三地址语句:</a:t>
            </a:r>
            <a:endParaRPr lang="zh-CN" altLang="en-US" sz="2400" b="1" dirty="0">
              <a:latin typeface="+mn-ea"/>
            </a:endParaRPr>
          </a:p>
          <a:p>
            <a:pPr lvl="1">
              <a:lnSpc>
                <a:spcPct val="120000"/>
              </a:lnSpc>
              <a:buFont typeface="Wingdings" panose="05000000000000000000" charset="0"/>
              <a:buChar char="p"/>
            </a:pPr>
            <a:r>
              <a:rPr lang="en-US" altLang="zh-CN" sz="2400" b="1" dirty="0">
                <a:solidFill>
                  <a:schemeClr val="accent1"/>
                </a:solidFill>
                <a:latin typeface="+mn-ea"/>
              </a:rPr>
              <a:t> </a:t>
            </a:r>
            <a:r>
              <a:rPr lang="en-US" altLang="zh-CN" sz="2400" b="1" dirty="0" err="1">
                <a:solidFill>
                  <a:schemeClr val="accent1"/>
                </a:solidFill>
                <a:latin typeface="+mn-ea"/>
              </a:rPr>
              <a:t>goto</a:t>
            </a:r>
            <a:r>
              <a:rPr lang="en-US" altLang="zh-CN" sz="2400" b="1" dirty="0">
                <a:solidFill>
                  <a:schemeClr val="accent1"/>
                </a:solidFill>
                <a:latin typeface="+mn-ea"/>
              </a:rPr>
              <a:t>……</a:t>
            </a:r>
            <a:endParaRPr lang="en-US" altLang="zh-CN" sz="2400" b="1" dirty="0">
              <a:solidFill>
                <a:schemeClr val="accent1"/>
              </a:solidFill>
              <a:latin typeface="+mn-ea"/>
            </a:endParaRPr>
          </a:p>
        </p:txBody>
      </p:sp>
      <p:sp>
        <p:nvSpPr>
          <p:cNvPr id="5" name="Rectangle 3"/>
          <p:cNvSpPr>
            <a:spLocks noChangeArrowheads="1"/>
          </p:cNvSpPr>
          <p:nvPr>
            <p:custDataLst>
              <p:tags r:id="rId1"/>
            </p:custDataLst>
          </p:nvPr>
        </p:nvSpPr>
        <p:spPr bwMode="auto">
          <a:xfrm>
            <a:off x="4866005" y="2143125"/>
            <a:ext cx="7040245" cy="3489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pPr>
              <a:lnSpc>
                <a:spcPct val="120000"/>
              </a:lnSpc>
            </a:pPr>
            <a:r>
              <a:rPr lang="en-US" altLang="zh-CN" sz="2400" b="1" dirty="0">
                <a:solidFill>
                  <a:srgbClr val="030305"/>
                </a:solidFill>
                <a:latin typeface="Times New Roman" panose="02020603050405020304" pitchFamily="18" charset="0"/>
                <a:ea typeface="+mn-ea"/>
                <a:cs typeface="Times New Roman" panose="02020603050405020304" pitchFamily="18" charset="0"/>
              </a:rPr>
              <a:t>if</a:t>
            </a:r>
            <a:r>
              <a:rPr lang="zh-CN" altLang="en-US" sz="2400" b="1" dirty="0">
                <a:solidFill>
                  <a:srgbClr val="030305"/>
                </a:solidFill>
                <a:latin typeface="Times New Roman" panose="02020603050405020304" pitchFamily="18" charset="0"/>
                <a:ea typeface="+mn-ea"/>
                <a:cs typeface="Times New Roman" panose="02020603050405020304" pitchFamily="18" charset="0"/>
              </a:rPr>
              <a:t>语句生成下面的代码模式：</a:t>
            </a:r>
            <a:endParaRPr lang="zh-CN" altLang="en-US" sz="2400" b="1" dirty="0">
              <a:solidFill>
                <a:srgbClr val="030305"/>
              </a:solidFill>
              <a:latin typeface="Times New Roman" panose="02020603050405020304" pitchFamily="18" charset="0"/>
              <a:ea typeface="+mn-ea"/>
              <a:cs typeface="Times New Roman" panose="02020603050405020304" pitchFamily="18" charset="0"/>
            </a:endParaRPr>
          </a:p>
          <a:p>
            <a:pPr lvl="1">
              <a:lnSpc>
                <a:spcPct val="120000"/>
              </a:lnSpc>
            </a:pPr>
            <a:r>
              <a:rPr lang="zh-CN" altLang="en-US"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&lt;</a:t>
            </a:r>
            <a:r>
              <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code to evaluate </a:t>
            </a:r>
            <a:r>
              <a:rPr lang="en-US" altLang="zh-CN" sz="2000" b="1" i="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E </a:t>
            </a:r>
            <a:r>
              <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to t1&gt;// </a:t>
            </a:r>
            <a:r>
              <a:rPr lang="zh-CN" altLang="en-US" sz="2000" b="1" dirty="0">
                <a:solidFill>
                  <a:srgbClr val="030305"/>
                </a:solidFill>
                <a:latin typeface="Times New Roman" panose="02020603050405020304" pitchFamily="18" charset="0"/>
                <a:ea typeface="+mn-ea"/>
                <a:cs typeface="Times New Roman" panose="02020603050405020304" pitchFamily="18" charset="0"/>
              </a:rPr>
              <a:t>求逻辑表达式</a:t>
            </a:r>
            <a:r>
              <a:rPr lang="en-US" altLang="zh-CN" sz="2000" b="1" dirty="0">
                <a:solidFill>
                  <a:srgbClr val="030305"/>
                </a:solidFill>
                <a:latin typeface="Times New Roman" panose="02020603050405020304" pitchFamily="18" charset="0"/>
                <a:ea typeface="+mn-ea"/>
                <a:cs typeface="Times New Roman" panose="02020603050405020304" pitchFamily="18" charset="0"/>
              </a:rPr>
              <a:t>E</a:t>
            </a:r>
            <a:r>
              <a:rPr lang="zh-CN" altLang="en-US" sz="2000" b="1" dirty="0">
                <a:solidFill>
                  <a:srgbClr val="030305"/>
                </a:solidFill>
                <a:latin typeface="Times New Roman" panose="02020603050405020304" pitchFamily="18" charset="0"/>
                <a:ea typeface="+mn-ea"/>
                <a:cs typeface="Times New Roman" panose="02020603050405020304" pitchFamily="18" charset="0"/>
              </a:rPr>
              <a:t>的值的三地</a:t>
            </a:r>
            <a:r>
              <a:rPr lang="en-US" altLang="zh-CN" sz="2000" b="1" dirty="0">
                <a:solidFill>
                  <a:srgbClr val="030305"/>
                </a:solidFill>
                <a:latin typeface="Times New Roman" panose="02020603050405020304" pitchFamily="18" charset="0"/>
                <a:ea typeface="+mn-ea"/>
                <a:cs typeface="Times New Roman" panose="02020603050405020304" pitchFamily="18" charset="0"/>
              </a:rPr>
              <a:t> </a:t>
            </a:r>
            <a:endParaRPr lang="en-US" altLang="zh-CN" sz="2000" b="1" dirty="0">
              <a:solidFill>
                <a:srgbClr val="030305"/>
              </a:solidFill>
              <a:latin typeface="Times New Roman" panose="02020603050405020304" pitchFamily="18" charset="0"/>
              <a:ea typeface="+mn-ea"/>
              <a:cs typeface="Times New Roman" panose="02020603050405020304" pitchFamily="18" charset="0"/>
            </a:endParaRPr>
          </a:p>
          <a:p>
            <a:pPr lvl="1">
              <a:lnSpc>
                <a:spcPct val="120000"/>
              </a:lnSpc>
            </a:pPr>
            <a:r>
              <a:rPr lang="en-US" altLang="zh-CN" sz="2000" b="1" dirty="0">
                <a:solidFill>
                  <a:srgbClr val="030305"/>
                </a:solidFill>
                <a:latin typeface="Times New Roman" panose="02020603050405020304" pitchFamily="18" charset="0"/>
                <a:ea typeface="+mn-ea"/>
                <a:cs typeface="Times New Roman" panose="02020603050405020304" pitchFamily="18" charset="0"/>
              </a:rPr>
              <a:t>                                              </a:t>
            </a:r>
            <a:r>
              <a:rPr lang="zh-CN" altLang="en-US" sz="2000" b="1" dirty="0">
                <a:solidFill>
                  <a:srgbClr val="030305"/>
                </a:solidFill>
                <a:latin typeface="Times New Roman" panose="02020603050405020304" pitchFamily="18" charset="0"/>
                <a:ea typeface="+mn-ea"/>
                <a:cs typeface="Times New Roman" panose="02020603050405020304" pitchFamily="18" charset="0"/>
              </a:rPr>
              <a:t>址码序列</a:t>
            </a:r>
            <a:endParaRPr lang="zh-CN" altLang="en-US" sz="2000" b="1" dirty="0">
              <a:solidFill>
                <a:srgbClr val="030305"/>
              </a:solidFill>
              <a:latin typeface="Times New Roman" panose="02020603050405020304" pitchFamily="18" charset="0"/>
              <a:ea typeface="+mn-ea"/>
              <a:cs typeface="Times New Roman" panose="02020603050405020304" pitchFamily="18" charset="0"/>
            </a:endParaRPr>
          </a:p>
          <a:p>
            <a:pPr lvl="1">
              <a:lnSpc>
                <a:spcPct val="120000"/>
              </a:lnSpc>
            </a:pPr>
            <a:r>
              <a:rPr lang="en-US" altLang="zh-CN" sz="20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if_false</a:t>
            </a:r>
            <a:r>
              <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  t1  </a:t>
            </a:r>
            <a:r>
              <a:rPr lang="en-US" altLang="zh-CN" sz="20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goto</a:t>
            </a:r>
            <a:r>
              <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 L1</a:t>
            </a:r>
            <a:endPar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endParaRPr>
          </a:p>
          <a:p>
            <a:pPr lvl="1">
              <a:lnSpc>
                <a:spcPct val="120000"/>
              </a:lnSpc>
            </a:pPr>
            <a:r>
              <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  &lt;code for </a:t>
            </a:r>
            <a:r>
              <a:rPr lang="en-US" altLang="zh-CN" sz="2000" b="1" i="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S1</a:t>
            </a:r>
            <a:r>
              <a:rPr lang="en-US" altLang="zh-CN" sz="20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&gt; </a:t>
            </a:r>
            <a:r>
              <a:rPr lang="en-US" altLang="zh-CN" sz="2000" b="1" dirty="0">
                <a:solidFill>
                  <a:srgbClr val="030305"/>
                </a:solidFill>
                <a:latin typeface="Times New Roman" panose="02020603050405020304" pitchFamily="18" charset="0"/>
                <a:cs typeface="Times New Roman" panose="02020603050405020304" pitchFamily="18" charset="0"/>
              </a:rPr>
              <a:t>// </a:t>
            </a:r>
            <a:r>
              <a:rPr lang="en-US" altLang="zh-CN" sz="2000" b="1" dirty="0">
                <a:solidFill>
                  <a:srgbClr val="030305"/>
                </a:solidFill>
                <a:latin typeface="Times New Roman" panose="02020603050405020304" pitchFamily="18" charset="0"/>
                <a:ea typeface="+mn-ea"/>
                <a:cs typeface="Times New Roman" panose="02020603050405020304" pitchFamily="18" charset="0"/>
              </a:rPr>
              <a:t>true</a:t>
            </a:r>
            <a:r>
              <a:rPr lang="zh-CN" altLang="en-US" sz="2000" b="1" dirty="0">
                <a:solidFill>
                  <a:srgbClr val="030305"/>
                </a:solidFill>
                <a:latin typeface="Times New Roman" panose="02020603050405020304" pitchFamily="18" charset="0"/>
                <a:ea typeface="+mn-ea"/>
                <a:cs typeface="Times New Roman" panose="02020603050405020304" pitchFamily="18" charset="0"/>
              </a:rPr>
              <a:t>情况下执行的三地址码序列</a:t>
            </a:r>
            <a:endParaRPr lang="en-US" altLang="zh-CN" sz="2000" b="1" dirty="0">
              <a:solidFill>
                <a:srgbClr val="E9137E"/>
              </a:solidFill>
              <a:latin typeface="Times New Roman" panose="02020603050405020304" pitchFamily="18" charset="0"/>
              <a:ea typeface="+mn-ea"/>
              <a:cs typeface="Times New Roman" panose="02020603050405020304" pitchFamily="18" charset="0"/>
            </a:endParaRPr>
          </a:p>
          <a:p>
            <a:pPr lvl="1">
              <a:lnSpc>
                <a:spcPct val="120000"/>
              </a:lnSpc>
            </a:pPr>
            <a:r>
              <a:rPr lang="en-US" altLang="zh-CN" sz="2000" b="1" dirty="0">
                <a:solidFill>
                  <a:srgbClr val="030305"/>
                </a:solidFill>
                <a:latin typeface="Times New Roman" panose="02020603050405020304" pitchFamily="18" charset="0"/>
                <a:cs typeface="Times New Roman" panose="02020603050405020304" pitchFamily="18" charset="0"/>
              </a:rPr>
              <a:t>  </a:t>
            </a:r>
            <a:r>
              <a:rPr lang="en-US" altLang="zh-CN" sz="2000" b="1" dirty="0" err="1">
                <a:solidFill>
                  <a:srgbClr val="030305"/>
                </a:solidFill>
                <a:latin typeface="Times New Roman" panose="02020603050405020304" pitchFamily="18" charset="0"/>
                <a:cs typeface="Times New Roman" panose="02020603050405020304" pitchFamily="18" charset="0"/>
              </a:rPr>
              <a:t>goto</a:t>
            </a:r>
            <a:r>
              <a:rPr lang="en-US" altLang="zh-CN" sz="2000" b="1" dirty="0">
                <a:solidFill>
                  <a:srgbClr val="030305"/>
                </a:solidFill>
                <a:latin typeface="Times New Roman" panose="02020603050405020304" pitchFamily="18" charset="0"/>
                <a:cs typeface="Times New Roman" panose="02020603050405020304" pitchFamily="18" charset="0"/>
              </a:rPr>
              <a:t> L2</a:t>
            </a:r>
            <a:endParaRPr lang="en-US" altLang="zh-CN" sz="2000" b="1" dirty="0">
              <a:solidFill>
                <a:srgbClr val="030305"/>
              </a:solidFill>
              <a:latin typeface="Times New Roman" panose="02020603050405020304" pitchFamily="18" charset="0"/>
              <a:cs typeface="Times New Roman" panose="02020603050405020304" pitchFamily="18" charset="0"/>
            </a:endParaRPr>
          </a:p>
          <a:p>
            <a:pPr lvl="1">
              <a:lnSpc>
                <a:spcPct val="120000"/>
              </a:lnSpc>
            </a:pPr>
            <a:r>
              <a:rPr lang="en-US" altLang="zh-CN" sz="2000" b="1" dirty="0">
                <a:solidFill>
                  <a:srgbClr val="E9137E"/>
                </a:solidFill>
                <a:latin typeface="Times New Roman" panose="02020603050405020304" pitchFamily="18" charset="0"/>
                <a:cs typeface="Times New Roman" panose="02020603050405020304" pitchFamily="18" charset="0"/>
              </a:rPr>
              <a:t>label L1</a:t>
            </a:r>
            <a:endParaRPr lang="en-US" altLang="zh-CN" sz="2000" b="1" dirty="0">
              <a:solidFill>
                <a:srgbClr val="E9137E"/>
              </a:solidFill>
              <a:latin typeface="Times New Roman" panose="02020603050405020304" pitchFamily="18" charset="0"/>
              <a:cs typeface="Times New Roman" panose="02020603050405020304" pitchFamily="18" charset="0"/>
            </a:endParaRPr>
          </a:p>
          <a:p>
            <a:pPr lvl="1">
              <a:lnSpc>
                <a:spcPct val="120000"/>
              </a:lnSpc>
            </a:pPr>
            <a:r>
              <a:rPr lang="en-US" altLang="zh-CN" sz="2000" b="1" dirty="0">
                <a:solidFill>
                  <a:srgbClr val="030305"/>
                </a:solidFill>
                <a:latin typeface="Times New Roman" panose="02020603050405020304" pitchFamily="18" charset="0"/>
                <a:cs typeface="Times New Roman" panose="02020603050405020304" pitchFamily="18" charset="0"/>
              </a:rPr>
              <a:t>  &lt;code for </a:t>
            </a:r>
            <a:r>
              <a:rPr lang="en-US" altLang="zh-CN" sz="2000" b="1" i="1" dirty="0">
                <a:solidFill>
                  <a:srgbClr val="030305"/>
                </a:solidFill>
                <a:latin typeface="Times New Roman" panose="02020603050405020304" pitchFamily="18" charset="0"/>
                <a:cs typeface="Times New Roman" panose="02020603050405020304" pitchFamily="18" charset="0"/>
              </a:rPr>
              <a:t>S2</a:t>
            </a:r>
            <a:r>
              <a:rPr lang="en-US" altLang="zh-CN" sz="2000" b="1" dirty="0">
                <a:solidFill>
                  <a:srgbClr val="030305"/>
                </a:solidFill>
                <a:latin typeface="Times New Roman" panose="02020603050405020304" pitchFamily="18" charset="0"/>
                <a:cs typeface="Times New Roman" panose="02020603050405020304" pitchFamily="18" charset="0"/>
              </a:rPr>
              <a:t>&gt;   // </a:t>
            </a:r>
            <a:r>
              <a:rPr lang="en-US" altLang="zh-CN" sz="2000" b="1" dirty="0">
                <a:solidFill>
                  <a:srgbClr val="030305"/>
                </a:solidFill>
                <a:latin typeface="Times New Roman" panose="02020603050405020304" pitchFamily="18" charset="0"/>
                <a:ea typeface="+mn-ea"/>
                <a:cs typeface="Times New Roman" panose="02020603050405020304" pitchFamily="18" charset="0"/>
              </a:rPr>
              <a:t>false</a:t>
            </a:r>
            <a:r>
              <a:rPr lang="zh-CN" altLang="en-US" sz="2000" b="1" dirty="0">
                <a:solidFill>
                  <a:srgbClr val="030305"/>
                </a:solidFill>
                <a:latin typeface="Times New Roman" panose="02020603050405020304" pitchFamily="18" charset="0"/>
                <a:ea typeface="+mn-ea"/>
                <a:cs typeface="Times New Roman" panose="02020603050405020304" pitchFamily="18" charset="0"/>
              </a:rPr>
              <a:t>情况下执行的三地址码序列</a:t>
            </a:r>
            <a:endParaRPr lang="zh-CN" altLang="en-US" sz="2000" b="1" dirty="0">
              <a:solidFill>
                <a:srgbClr val="030305"/>
              </a:solidFill>
              <a:latin typeface="Times New Roman" panose="02020603050405020304" pitchFamily="18" charset="0"/>
              <a:ea typeface="+mn-ea"/>
              <a:cs typeface="Times New Roman" panose="02020603050405020304" pitchFamily="18" charset="0"/>
            </a:endParaRPr>
          </a:p>
          <a:p>
            <a:pPr lvl="1">
              <a:lnSpc>
                <a:spcPct val="120000"/>
              </a:lnSpc>
            </a:pPr>
            <a:r>
              <a:rPr lang="en-US" altLang="zh-CN" sz="2000" b="1" dirty="0">
                <a:solidFill>
                  <a:srgbClr val="030305"/>
                </a:solidFill>
                <a:latin typeface="Times New Roman" panose="02020603050405020304" pitchFamily="18" charset="0"/>
                <a:cs typeface="Times New Roman" panose="02020603050405020304" pitchFamily="18" charset="0"/>
              </a:rPr>
              <a:t>label L2   // </a:t>
            </a:r>
            <a:r>
              <a:rPr lang="en-US" altLang="zh-CN" sz="2000" b="1" dirty="0">
                <a:solidFill>
                  <a:srgbClr val="030305"/>
                </a:solidFill>
                <a:latin typeface="Times New Roman" panose="02020603050405020304" pitchFamily="18" charset="0"/>
                <a:ea typeface="+mn-ea"/>
                <a:cs typeface="Times New Roman" panose="02020603050405020304" pitchFamily="18" charset="0"/>
              </a:rPr>
              <a:t>if</a:t>
            </a:r>
            <a:r>
              <a:rPr lang="zh-CN" altLang="en-US" sz="2000" b="1" dirty="0">
                <a:solidFill>
                  <a:srgbClr val="030305"/>
                </a:solidFill>
                <a:latin typeface="Times New Roman" panose="02020603050405020304" pitchFamily="18" charset="0"/>
                <a:ea typeface="+mn-ea"/>
                <a:cs typeface="Times New Roman" panose="02020603050405020304" pitchFamily="18" charset="0"/>
              </a:rPr>
              <a:t>语句后的代码</a:t>
            </a:r>
            <a:endParaRPr lang="en-US" altLang="zh-CN" sz="2000" b="1" dirty="0">
              <a:solidFill>
                <a:srgbClr val="030305"/>
              </a:solidFill>
              <a:latin typeface="Times New Roman" panose="02020603050405020304" pitchFamily="18" charset="0"/>
              <a:ea typeface="+mn-ea"/>
              <a:cs typeface="Times New Roman" panose="02020603050405020304" pitchFamily="18" charset="0"/>
            </a:endParaRPr>
          </a:p>
        </p:txBody>
      </p:sp>
      <p:sp>
        <p:nvSpPr>
          <p:cNvPr id="6" name="Rectangle 4"/>
          <p:cNvSpPr>
            <a:spLocks noChangeArrowheads="1"/>
          </p:cNvSpPr>
          <p:nvPr>
            <p:custDataLst>
              <p:tags r:id="rId2"/>
            </p:custDataLst>
          </p:nvPr>
        </p:nvSpPr>
        <p:spPr bwMode="auto">
          <a:xfrm>
            <a:off x="5052060" y="1196975"/>
            <a:ext cx="6278245" cy="83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if-stmt</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if</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i="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E</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S1</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|if(</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S1 </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else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S2</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out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out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out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out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arn(out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arn(out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arn(out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arn(outHorizontal)">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arn(outHorizontal)">
                                      <p:cBhvr>
                                        <p:cTn id="4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2"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56565" y="276860"/>
            <a:ext cx="7719060" cy="593090"/>
          </a:xfrm>
        </p:spPr>
        <p:txBody>
          <a:bodyPr/>
          <a:lstStyle/>
          <a:p>
            <a:r>
              <a:rPr lang="en-US" altLang="zh-CN" sz="3200" dirty="0"/>
              <a:t>6.4.1 if</a:t>
            </a:r>
            <a:r>
              <a:rPr lang="zh-CN" altLang="en-US" sz="3200" dirty="0"/>
              <a:t>和</a:t>
            </a:r>
            <a:r>
              <a:rPr lang="en-US" altLang="zh-CN" sz="3200" dirty="0"/>
              <a:t>while</a:t>
            </a:r>
            <a:r>
              <a:rPr lang="zh-CN" altLang="en-US" sz="3200" dirty="0"/>
              <a:t>语句的代码生成</a:t>
            </a:r>
            <a:endParaRPr lang="en-US" altLang="zh-CN" sz="3200" dirty="0"/>
          </a:p>
        </p:txBody>
      </p:sp>
      <p:sp>
        <p:nvSpPr>
          <p:cNvPr id="44" name="Rectangle 2"/>
          <p:cNvSpPr>
            <a:spLocks noChangeArrowheads="1"/>
          </p:cNvSpPr>
          <p:nvPr/>
        </p:nvSpPr>
        <p:spPr bwMode="auto">
          <a:xfrm>
            <a:off x="1867049" y="2221379"/>
            <a:ext cx="8507506" cy="304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en-US" altLang="zh-CN" sz="2400" b="1" dirty="0">
                <a:solidFill>
                  <a:srgbClr val="030305"/>
                </a:solidFill>
                <a:latin typeface="Times New Roman" panose="02020603050405020304" pitchFamily="18" charset="0"/>
                <a:cs typeface="Times New Roman" panose="02020603050405020304" pitchFamily="18" charset="0"/>
              </a:rPr>
              <a:t>while</a:t>
            </a:r>
            <a:r>
              <a:rPr lang="zh-CN" altLang="en-US" sz="2400" b="1" dirty="0">
                <a:solidFill>
                  <a:srgbClr val="030305"/>
                </a:solidFill>
                <a:latin typeface="Times New Roman" panose="02020603050405020304" pitchFamily="18" charset="0"/>
                <a:cs typeface="Times New Roman" panose="02020603050405020304" pitchFamily="18" charset="0"/>
              </a:rPr>
              <a:t>语句生成下面的代码模式：</a:t>
            </a:r>
            <a:endParaRPr lang="zh-CN" altLang="en-US" sz="2400" b="1" dirty="0">
              <a:solidFill>
                <a:srgbClr val="030305"/>
              </a:solidFill>
              <a:latin typeface="Times New Roman" panose="02020603050405020304" pitchFamily="18" charset="0"/>
              <a:cs typeface="Times New Roman" panose="02020603050405020304" pitchFamily="18" charset="0"/>
            </a:endParaRPr>
          </a:p>
          <a:p>
            <a:r>
              <a:rPr lang="en-US" altLang="zh-CN" sz="2400" b="1" dirty="0">
                <a:solidFill>
                  <a:srgbClr val="030305"/>
                </a:solidFill>
                <a:latin typeface="Times New Roman" panose="02020603050405020304" pitchFamily="18" charset="0"/>
                <a:cs typeface="Times New Roman" panose="02020603050405020304" pitchFamily="18" charset="0"/>
              </a:rPr>
              <a:t> label L1</a:t>
            </a:r>
            <a:endPar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r>
              <a:rPr lang="zh-CN" altLang="en-US"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&lt;</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code to evaluate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 </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to t1&gt; </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a:t>
            </a:r>
            <a:r>
              <a:rPr lang="zh-CN" altLang="en-US" sz="2400" b="1" dirty="0">
                <a:solidFill>
                  <a:srgbClr val="030305"/>
                </a:solidFill>
                <a:latin typeface="Times New Roman" panose="02020603050405020304" pitchFamily="18" charset="0"/>
                <a:cs typeface="Times New Roman" panose="02020603050405020304" pitchFamily="18" charset="0"/>
              </a:rPr>
              <a:t>求逻辑表达式</a:t>
            </a:r>
            <a:r>
              <a:rPr lang="en-US" altLang="zh-CN" sz="2400" b="1" dirty="0">
                <a:solidFill>
                  <a:srgbClr val="030305"/>
                </a:solidFill>
                <a:latin typeface="Times New Roman" panose="02020603050405020304" pitchFamily="18" charset="0"/>
                <a:cs typeface="Times New Roman" panose="02020603050405020304" pitchFamily="18" charset="0"/>
              </a:rPr>
              <a:t>E</a:t>
            </a:r>
            <a:r>
              <a:rPr lang="zh-CN" altLang="en-US" sz="2400" b="1" dirty="0">
                <a:solidFill>
                  <a:srgbClr val="030305"/>
                </a:solidFill>
                <a:latin typeface="Times New Roman" panose="02020603050405020304" pitchFamily="18" charset="0"/>
                <a:cs typeface="Times New Roman" panose="02020603050405020304" pitchFamily="18" charset="0"/>
              </a:rPr>
              <a:t>的值的三地址码序列</a:t>
            </a:r>
            <a:endParaRPr lang="zh-CN" altLang="en-US" sz="2400" b="1" dirty="0">
              <a:solidFill>
                <a:srgbClr val="030305"/>
              </a:solidFill>
              <a:latin typeface="Times New Roman" panose="02020603050405020304" pitchFamily="18" charset="0"/>
              <a:cs typeface="Times New Roman" panose="02020603050405020304" pitchFamily="18" charset="0"/>
            </a:endParaRPr>
          </a:p>
          <a:p>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if_false</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t1  </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goto</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L2</a:t>
            </a:r>
            <a:endPar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&lt;code for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&gt;  // </a:t>
            </a:r>
            <a:r>
              <a:rPr lang="en-US" altLang="zh-CN" sz="2400" b="1" dirty="0">
                <a:solidFill>
                  <a:srgbClr val="030305"/>
                </a:solidFill>
                <a:latin typeface="Times New Roman" panose="02020603050405020304" pitchFamily="18" charset="0"/>
                <a:cs typeface="Times New Roman" panose="02020603050405020304" pitchFamily="18" charset="0"/>
              </a:rPr>
              <a:t>while</a:t>
            </a:r>
            <a:r>
              <a:rPr lang="zh-CN" altLang="en-US" sz="2400" b="1" dirty="0">
                <a:solidFill>
                  <a:srgbClr val="030305"/>
                </a:solidFill>
                <a:latin typeface="Times New Roman" panose="02020603050405020304" pitchFamily="18" charset="0"/>
                <a:cs typeface="Times New Roman" panose="02020603050405020304" pitchFamily="18" charset="0"/>
              </a:rPr>
              <a:t>循环体的代码执行序列</a:t>
            </a:r>
            <a:endParaRPr lang="zh-CN" altLang="en-US" sz="2400" b="1" dirty="0">
              <a:solidFill>
                <a:srgbClr val="030305"/>
              </a:solidFill>
              <a:latin typeface="Times New Roman" panose="02020603050405020304" pitchFamily="18" charset="0"/>
              <a:cs typeface="Times New Roman" panose="02020603050405020304" pitchFamily="18" charset="0"/>
            </a:endParaRPr>
          </a:p>
          <a:p>
            <a:r>
              <a:rPr lang="en-US" altLang="zh-CN" sz="2400" b="1" dirty="0">
                <a:solidFill>
                  <a:srgbClr val="030305"/>
                </a:solidFill>
                <a:latin typeface="Times New Roman" panose="02020603050405020304" pitchFamily="18" charset="0"/>
                <a:cs typeface="Times New Roman" panose="02020603050405020304" pitchFamily="18" charset="0"/>
              </a:rPr>
              <a:t>      </a:t>
            </a:r>
            <a:r>
              <a:rPr lang="en-US" altLang="zh-CN" sz="2400" b="1" dirty="0" err="1">
                <a:solidFill>
                  <a:srgbClr val="030305"/>
                </a:solidFill>
                <a:latin typeface="Times New Roman" panose="02020603050405020304" pitchFamily="18" charset="0"/>
                <a:cs typeface="Times New Roman" panose="02020603050405020304" pitchFamily="18" charset="0"/>
              </a:rPr>
              <a:t>goto</a:t>
            </a:r>
            <a:r>
              <a:rPr lang="en-US" altLang="zh-CN" sz="2400" b="1" dirty="0">
                <a:solidFill>
                  <a:srgbClr val="030305"/>
                </a:solidFill>
                <a:latin typeface="Times New Roman" panose="02020603050405020304" pitchFamily="18" charset="0"/>
                <a:cs typeface="Times New Roman" panose="02020603050405020304" pitchFamily="18" charset="0"/>
              </a:rPr>
              <a:t> L1</a:t>
            </a:r>
            <a:endParaRPr lang="en-US" altLang="zh-CN" sz="2400" b="1" dirty="0">
              <a:solidFill>
                <a:srgbClr val="030305"/>
              </a:solidFill>
              <a:latin typeface="Times New Roman" panose="02020603050405020304" pitchFamily="18" charset="0"/>
              <a:cs typeface="Times New Roman" panose="02020603050405020304" pitchFamily="18" charset="0"/>
            </a:endParaRPr>
          </a:p>
          <a:p>
            <a:r>
              <a:rPr lang="en-US" altLang="zh-CN" sz="2400" b="1" dirty="0">
                <a:solidFill>
                  <a:srgbClr val="030305"/>
                </a:solidFill>
                <a:latin typeface="Times New Roman" panose="02020603050405020304" pitchFamily="18" charset="0"/>
                <a:cs typeface="Times New Roman" panose="02020603050405020304" pitchFamily="18" charset="0"/>
              </a:rPr>
              <a:t>  label L2// While</a:t>
            </a:r>
            <a:r>
              <a:rPr lang="zh-CN" altLang="en-US" sz="2400" b="1" dirty="0">
                <a:solidFill>
                  <a:srgbClr val="030305"/>
                </a:solidFill>
                <a:latin typeface="Times New Roman" panose="02020603050405020304" pitchFamily="18" charset="0"/>
                <a:cs typeface="Times New Roman" panose="02020603050405020304" pitchFamily="18" charset="0"/>
              </a:rPr>
              <a:t>语句后的代码</a:t>
            </a:r>
            <a:endParaRPr lang="zh-CN" altLang="en-US" sz="2400" b="1" dirty="0">
              <a:solidFill>
                <a:srgbClr val="030305"/>
              </a:solidFill>
              <a:latin typeface="Times New Roman" panose="02020603050405020304" pitchFamily="18" charset="0"/>
              <a:cs typeface="Times New Roman" panose="02020603050405020304" pitchFamily="18" charset="0"/>
            </a:endParaRPr>
          </a:p>
        </p:txBody>
      </p:sp>
      <p:sp>
        <p:nvSpPr>
          <p:cNvPr id="45" name="Rectangle 3"/>
          <p:cNvSpPr>
            <a:spLocks noChangeArrowheads="1"/>
          </p:cNvSpPr>
          <p:nvPr/>
        </p:nvSpPr>
        <p:spPr bwMode="auto">
          <a:xfrm>
            <a:off x="1621790" y="1423670"/>
            <a:ext cx="40354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spcBef>
                <a:spcPct val="50000"/>
              </a:spcBef>
            </a:pP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while-stmt</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→while</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 </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barn(outHorizontal)">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44">
                                            <p:txEl>
                                              <p:pRg st="2" end="2"/>
                                            </p:txEl>
                                          </p:spTgt>
                                        </p:tgtEl>
                                        <p:attrNameLst>
                                          <p:attrName>style.visibility</p:attrName>
                                        </p:attrNameLst>
                                      </p:cBhvr>
                                      <p:to>
                                        <p:strVal val="visible"/>
                                      </p:to>
                                    </p:set>
                                    <p:animEffect transition="in" filter="barn(outHorizontal)">
                                      <p:cBhvr>
                                        <p:cTn id="12" dur="500"/>
                                        <p:tgtEl>
                                          <p:spTgt spid="4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44">
                                            <p:txEl>
                                              <p:pRg st="4" end="4"/>
                                            </p:txEl>
                                          </p:spTgt>
                                        </p:tgtEl>
                                        <p:attrNameLst>
                                          <p:attrName>style.visibility</p:attrName>
                                        </p:attrNameLst>
                                      </p:cBhvr>
                                      <p:to>
                                        <p:strVal val="visible"/>
                                      </p:to>
                                    </p:set>
                                    <p:animEffect transition="in" filter="barn(outHorizontal)">
                                      <p:cBhvr>
                                        <p:cTn id="17" dur="500"/>
                                        <p:tgtEl>
                                          <p:spTgt spid="4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44">
                                            <p:txEl>
                                              <p:pRg st="3" end="3"/>
                                            </p:txEl>
                                          </p:spTgt>
                                        </p:tgtEl>
                                        <p:attrNameLst>
                                          <p:attrName>style.visibility</p:attrName>
                                        </p:attrNameLst>
                                      </p:cBhvr>
                                      <p:to>
                                        <p:strVal val="visible"/>
                                      </p:to>
                                    </p:set>
                                    <p:animEffect transition="in" filter="barn(outHorizontal)">
                                      <p:cBhvr>
                                        <p:cTn id="22" dur="500"/>
                                        <p:tgtEl>
                                          <p:spTgt spid="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44">
                                            <p:txEl>
                                              <p:pRg st="6" end="6"/>
                                            </p:txEl>
                                          </p:spTgt>
                                        </p:tgtEl>
                                        <p:attrNameLst>
                                          <p:attrName>style.visibility</p:attrName>
                                        </p:attrNameLst>
                                      </p:cBhvr>
                                      <p:to>
                                        <p:strVal val="visible"/>
                                      </p:to>
                                    </p:set>
                                    <p:animEffect transition="in" filter="barn(outHorizontal)">
                                      <p:cBhvr>
                                        <p:cTn id="27" dur="500"/>
                                        <p:tgtEl>
                                          <p:spTgt spid="4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44">
                                            <p:txEl>
                                              <p:pRg st="5" end="5"/>
                                            </p:txEl>
                                          </p:spTgt>
                                        </p:tgtEl>
                                        <p:attrNameLst>
                                          <p:attrName>style.visibility</p:attrName>
                                        </p:attrNameLst>
                                      </p:cBhvr>
                                      <p:to>
                                        <p:strVal val="visible"/>
                                      </p:to>
                                    </p:set>
                                    <p:animEffect transition="in" filter="barn(outHorizontal)">
                                      <p:cBhvr>
                                        <p:cTn id="32" dur="500"/>
                                        <p:tgtEl>
                                          <p:spTgt spid="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44">
                                            <p:txEl>
                                              <p:pRg st="1" end="1"/>
                                            </p:txEl>
                                          </p:spTgt>
                                        </p:tgtEl>
                                        <p:attrNameLst>
                                          <p:attrName>style.visibility</p:attrName>
                                        </p:attrNameLst>
                                      </p:cBhvr>
                                      <p:to>
                                        <p:strVal val="visible"/>
                                      </p:to>
                                    </p:set>
                                    <p:animEffect transition="in" filter="barn(outHorizontal)">
                                      <p:cBhvr>
                                        <p:cTn id="37" dur="500"/>
                                        <p:tgtEl>
                                          <p:spTgt spid="4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2"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13385" y="276860"/>
            <a:ext cx="7762240" cy="593090"/>
          </a:xfrm>
        </p:spPr>
        <p:txBody>
          <a:bodyPr/>
          <a:lstStyle/>
          <a:p>
            <a:r>
              <a:rPr lang="en-US" altLang="zh-CN" sz="2800" dirty="0"/>
              <a:t>6.4.3 if</a:t>
            </a:r>
            <a:r>
              <a:rPr lang="zh-CN" altLang="en-US" sz="2800" dirty="0"/>
              <a:t>和</a:t>
            </a:r>
            <a:r>
              <a:rPr lang="en-US" altLang="zh-CN" sz="2800" dirty="0"/>
              <a:t>while</a:t>
            </a:r>
            <a:r>
              <a:rPr lang="zh-CN" altLang="en-US" sz="2800" dirty="0"/>
              <a:t>语句的代码生成过程样例</a:t>
            </a:r>
            <a:endParaRPr lang="zh-CN" altLang="en-US" sz="2800" dirty="0"/>
          </a:p>
        </p:txBody>
      </p:sp>
      <p:sp>
        <p:nvSpPr>
          <p:cNvPr id="7" name="Rectangle 3"/>
          <p:cNvSpPr>
            <a:spLocks noChangeArrowheads="1"/>
          </p:cNvSpPr>
          <p:nvPr/>
        </p:nvSpPr>
        <p:spPr bwMode="auto">
          <a:xfrm>
            <a:off x="388620" y="1120775"/>
            <a:ext cx="73247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pPr>
              <a:lnSpc>
                <a:spcPct val="100000"/>
              </a:lnSpc>
              <a:spcBef>
                <a:spcPts val="0"/>
              </a:spcBef>
              <a:spcAft>
                <a:spcPts val="0"/>
              </a:spcAft>
            </a:pPr>
            <a:r>
              <a:rPr lang="zh-CN" altLang="en-US" sz="2400" b="1" dirty="0">
                <a:solidFill>
                  <a:srgbClr val="030305"/>
                </a:solidFill>
                <a:latin typeface="Times New Roman" panose="02020603050405020304" pitchFamily="18" charset="0"/>
                <a:cs typeface="Times New Roman" panose="02020603050405020304" pitchFamily="18" charset="0"/>
              </a:rPr>
              <a:t>用如下简化的文法展示一个控制语句的代码生成过程。</a:t>
            </a:r>
            <a:endParaRPr lang="zh-CN" altLang="en-US" sz="2400" b="1" dirty="0">
              <a:solidFill>
                <a:srgbClr val="030305"/>
              </a:solidFill>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stmt→if-stmt|while-stmt</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break</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other</a:t>
            </a:r>
            <a:endPar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endParaRPr>
          </a:p>
          <a:p>
            <a:pPr>
              <a:lnSpc>
                <a:spcPct val="100000"/>
              </a:lnSpc>
              <a:spcBef>
                <a:spcPts val="0"/>
              </a:spcBef>
              <a:spcAft>
                <a:spcPts val="0"/>
              </a:spcAft>
            </a:pP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if-stmt</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if</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exp</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pPr>
              <a:lnSpc>
                <a:spcPct val="100000"/>
              </a:lnSpc>
              <a:spcBef>
                <a:spcPts val="0"/>
              </a:spcBef>
              <a:spcAft>
                <a:spcPts val="0"/>
              </a:spcAft>
            </a:pP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if</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exp</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else</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pPr>
              <a:lnSpc>
                <a:spcPct val="100000"/>
              </a:lnSpc>
              <a:spcBef>
                <a:spcPts val="0"/>
              </a:spcBef>
              <a:spcAft>
                <a:spcPts val="0"/>
              </a:spcAft>
            </a:pP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while-stmt</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while</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exp</a:t>
            </a:r>
            <a:r>
              <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 </a:t>
            </a: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stmt</a:t>
            </a:r>
            <a:endParaRPr lang="en-US" altLang="zh-CN" sz="2400" b="1" i="1" dirty="0">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endParaRPr>
          </a:p>
          <a:p>
            <a:pPr>
              <a:lnSpc>
                <a:spcPct val="100000"/>
              </a:lnSpc>
              <a:spcBef>
                <a:spcPts val="0"/>
              </a:spcBef>
              <a:spcAft>
                <a:spcPts val="0"/>
              </a:spcAft>
            </a:pPr>
            <a:r>
              <a:rPr lang="en-US" altLang="zh-CN" sz="2400" b="1" i="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exp</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true</a:t>
            </a:r>
            <a:r>
              <a:rPr lang="en-US" altLang="zh-CN" sz="2400" b="1" dirty="0" err="1">
                <a:solidFill>
                  <a:srgbClr val="030305"/>
                </a:solidFill>
                <a:latin typeface="Times New Roman" panose="02020603050405020304" pitchFamily="18" charset="0"/>
                <a:ea typeface="仿宋_GB2312" panose="02010609030101010101" pitchFamily="49" charset="-122"/>
                <a:cs typeface="Times New Roman" panose="02020603050405020304" pitchFamily="18" charset="0"/>
              </a:rPr>
              <a:t>|</a:t>
            </a:r>
            <a:r>
              <a:rPr lang="en-US" altLang="zh-CN" sz="2400" b="1" dirty="0" err="1">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rPr>
              <a:t>false</a:t>
            </a:r>
            <a:endParaRPr lang="en-US" altLang="zh-CN" sz="2400" b="1" dirty="0">
              <a:solidFill>
                <a:srgbClr val="E9137E"/>
              </a:solidFill>
              <a:latin typeface="Times New Roman" panose="02020603050405020304" pitchFamily="18" charset="0"/>
              <a:ea typeface="仿宋_GB2312" panose="02010609030101010101" pitchFamily="49" charset="-122"/>
              <a:cs typeface="Times New Roman" panose="02020603050405020304" pitchFamily="18" charset="0"/>
            </a:endParaRPr>
          </a:p>
        </p:txBody>
      </p:sp>
      <p:grpSp>
        <p:nvGrpSpPr>
          <p:cNvPr id="4" name="Group 4"/>
          <p:cNvGrpSpPr/>
          <p:nvPr/>
        </p:nvGrpSpPr>
        <p:grpSpPr bwMode="auto">
          <a:xfrm>
            <a:off x="5453380" y="1599566"/>
            <a:ext cx="3589337" cy="1787525"/>
            <a:chOff x="491" y="2064"/>
            <a:chExt cx="2261" cy="1126"/>
          </a:xfrm>
        </p:grpSpPr>
        <p:sp useBgFill="1">
          <p:nvSpPr>
            <p:cNvPr id="5" name="Rectangle 5"/>
            <p:cNvSpPr>
              <a:spLocks noChangeArrowheads="1"/>
            </p:cNvSpPr>
            <p:nvPr>
              <p:custDataLst>
                <p:tags r:id="rId1"/>
              </p:custDataLst>
            </p:nvPr>
          </p:nvSpPr>
          <p:spPr bwMode="auto">
            <a:xfrm>
              <a:off x="1200" y="2064"/>
              <a:ext cx="480" cy="240"/>
            </a:xfrm>
            <a:prstGeom prst="rect">
              <a:avLst/>
            </a:prstGeom>
            <a:ln w="9525">
              <a:solidFill>
                <a:srgbClr val="030305"/>
              </a:solidFill>
              <a:miter lim="800000"/>
            </a:ln>
          </p:spPr>
          <p:txBody>
            <a:bodyPr wrap="none" lIns="90000" tIns="46800" rIns="90000" bIns="46800" anchor="ctr"/>
            <a:p>
              <a:pPr algn="ctr"/>
              <a:r>
                <a:rPr lang="en-US" altLang="zh-CN" sz="2400" b="1">
                  <a:solidFill>
                    <a:srgbClr val="030305"/>
                  </a:solidFill>
                  <a:latin typeface="+mn-ea"/>
                </a:rPr>
                <a:t>if</a:t>
              </a:r>
              <a:endParaRPr lang="en-US" altLang="zh-CN" sz="2400" b="1">
                <a:solidFill>
                  <a:srgbClr val="030305"/>
                </a:solidFill>
                <a:latin typeface="+mn-ea"/>
              </a:endParaRPr>
            </a:p>
          </p:txBody>
        </p:sp>
        <p:sp>
          <p:nvSpPr>
            <p:cNvPr id="6" name="Line 6"/>
            <p:cNvSpPr>
              <a:spLocks noChangeShapeType="1"/>
            </p:cNvSpPr>
            <p:nvPr>
              <p:custDataLst>
                <p:tags r:id="rId2"/>
              </p:custDataLst>
            </p:nvPr>
          </p:nvSpPr>
          <p:spPr bwMode="auto">
            <a:xfrm flipH="1">
              <a:off x="768" y="2304"/>
              <a:ext cx="480" cy="336"/>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8" name="Line 7"/>
            <p:cNvSpPr>
              <a:spLocks noChangeShapeType="1"/>
            </p:cNvSpPr>
            <p:nvPr>
              <p:custDataLst>
                <p:tags r:id="rId3"/>
              </p:custDataLst>
            </p:nvPr>
          </p:nvSpPr>
          <p:spPr bwMode="auto">
            <a:xfrm>
              <a:off x="1449" y="2343"/>
              <a:ext cx="0" cy="288"/>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9" name="Line 8"/>
            <p:cNvSpPr>
              <a:spLocks noChangeShapeType="1"/>
            </p:cNvSpPr>
            <p:nvPr>
              <p:custDataLst>
                <p:tags r:id="rId4"/>
              </p:custDataLst>
            </p:nvPr>
          </p:nvSpPr>
          <p:spPr bwMode="auto">
            <a:xfrm>
              <a:off x="1712" y="2304"/>
              <a:ext cx="432" cy="298"/>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useBgFill="1">
          <p:nvSpPr>
            <p:cNvPr id="10" name="AutoShape 9"/>
            <p:cNvSpPr>
              <a:spLocks noChangeArrowheads="1"/>
            </p:cNvSpPr>
            <p:nvPr>
              <p:custDataLst>
                <p:tags r:id="rId5"/>
              </p:custDataLst>
            </p:nvPr>
          </p:nvSpPr>
          <p:spPr bwMode="auto">
            <a:xfrm>
              <a:off x="528" y="2640"/>
              <a:ext cx="432" cy="288"/>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b="1">
                <a:latin typeface="+mn-ea"/>
              </a:endParaRPr>
            </a:p>
          </p:txBody>
        </p:sp>
        <p:sp useBgFill="1">
          <p:nvSpPr>
            <p:cNvPr id="11" name="AutoShape 10"/>
            <p:cNvSpPr>
              <a:spLocks noChangeArrowheads="1"/>
            </p:cNvSpPr>
            <p:nvPr>
              <p:custDataLst>
                <p:tags r:id="rId6"/>
              </p:custDataLst>
            </p:nvPr>
          </p:nvSpPr>
          <p:spPr bwMode="auto">
            <a:xfrm>
              <a:off x="1248" y="2640"/>
              <a:ext cx="432" cy="288"/>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b="1">
                <a:latin typeface="+mn-ea"/>
              </a:endParaRPr>
            </a:p>
          </p:txBody>
        </p:sp>
        <p:sp useBgFill="1">
          <p:nvSpPr>
            <p:cNvPr id="12" name="AutoShape 11"/>
            <p:cNvSpPr>
              <a:spLocks noChangeArrowheads="1"/>
            </p:cNvSpPr>
            <p:nvPr>
              <p:custDataLst>
                <p:tags r:id="rId7"/>
              </p:custDataLst>
            </p:nvPr>
          </p:nvSpPr>
          <p:spPr bwMode="auto">
            <a:xfrm>
              <a:off x="1947" y="2631"/>
              <a:ext cx="432" cy="288"/>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b="1">
                <a:latin typeface="+mn-ea"/>
              </a:endParaRPr>
            </a:p>
          </p:txBody>
        </p:sp>
        <p:sp>
          <p:nvSpPr>
            <p:cNvPr id="13" name="Rectangle 12"/>
            <p:cNvSpPr>
              <a:spLocks noChangeArrowheads="1"/>
            </p:cNvSpPr>
            <p:nvPr>
              <p:custDataLst>
                <p:tags r:id="rId8"/>
              </p:custDataLst>
            </p:nvPr>
          </p:nvSpPr>
          <p:spPr bwMode="auto">
            <a:xfrm>
              <a:off x="491" y="2899"/>
              <a:ext cx="4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dirty="0">
                  <a:solidFill>
                    <a:srgbClr val="030305"/>
                  </a:solidFill>
                  <a:latin typeface="+mn-ea"/>
                </a:rPr>
                <a:t>test</a:t>
              </a:r>
              <a:endParaRPr lang="zh-CN" altLang="en-US" sz="2400" b="1" dirty="0">
                <a:solidFill>
                  <a:srgbClr val="030305"/>
                </a:solidFill>
                <a:latin typeface="+mn-ea"/>
              </a:endParaRPr>
            </a:p>
          </p:txBody>
        </p:sp>
        <p:sp>
          <p:nvSpPr>
            <p:cNvPr id="14" name="Rectangle 13"/>
            <p:cNvSpPr>
              <a:spLocks noChangeArrowheads="1"/>
            </p:cNvSpPr>
            <p:nvPr>
              <p:custDataLst>
                <p:tags r:id="rId9"/>
              </p:custDataLst>
            </p:nvPr>
          </p:nvSpPr>
          <p:spPr bwMode="auto">
            <a:xfrm>
              <a:off x="932" y="2899"/>
              <a:ext cx="9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dirty="0">
                  <a:solidFill>
                    <a:srgbClr val="030305"/>
                  </a:solidFill>
                  <a:latin typeface="+mn-ea"/>
                </a:rPr>
                <a:t>then-part</a:t>
              </a:r>
              <a:endParaRPr lang="zh-CN" altLang="en-US" sz="2400" b="1" dirty="0">
                <a:solidFill>
                  <a:srgbClr val="030305"/>
                </a:solidFill>
                <a:latin typeface="+mn-ea"/>
              </a:endParaRPr>
            </a:p>
          </p:txBody>
        </p:sp>
        <p:sp>
          <p:nvSpPr>
            <p:cNvPr id="16" name="Rectangle 14"/>
            <p:cNvSpPr>
              <a:spLocks noChangeArrowheads="1"/>
            </p:cNvSpPr>
            <p:nvPr>
              <p:custDataLst>
                <p:tags r:id="rId10"/>
              </p:custDataLst>
            </p:nvPr>
          </p:nvSpPr>
          <p:spPr bwMode="auto">
            <a:xfrm>
              <a:off x="1850" y="2899"/>
              <a:ext cx="9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dirty="0">
                  <a:solidFill>
                    <a:srgbClr val="030305"/>
                  </a:solidFill>
                  <a:latin typeface="+mn-ea"/>
                </a:rPr>
                <a:t>else-part</a:t>
              </a:r>
              <a:endParaRPr lang="zh-CN" altLang="en-US" sz="2400" b="1" dirty="0">
                <a:solidFill>
                  <a:srgbClr val="030305"/>
                </a:solidFill>
                <a:latin typeface="+mn-ea"/>
              </a:endParaRPr>
            </a:p>
          </p:txBody>
        </p:sp>
      </p:grpSp>
      <p:grpSp>
        <p:nvGrpSpPr>
          <p:cNvPr id="17" name="Group 15"/>
          <p:cNvGrpSpPr/>
          <p:nvPr/>
        </p:nvGrpSpPr>
        <p:grpSpPr bwMode="auto">
          <a:xfrm>
            <a:off x="9179655" y="1515745"/>
            <a:ext cx="2420938" cy="1757363"/>
            <a:chOff x="3120" y="2016"/>
            <a:chExt cx="1525" cy="1107"/>
          </a:xfrm>
        </p:grpSpPr>
        <p:sp useBgFill="1">
          <p:nvSpPr>
            <p:cNvPr id="18" name="Rectangle 16"/>
            <p:cNvSpPr>
              <a:spLocks noChangeArrowheads="1"/>
            </p:cNvSpPr>
            <p:nvPr>
              <p:custDataLst>
                <p:tags r:id="rId11"/>
              </p:custDataLst>
            </p:nvPr>
          </p:nvSpPr>
          <p:spPr bwMode="auto">
            <a:xfrm>
              <a:off x="3648" y="2016"/>
              <a:ext cx="480" cy="240"/>
            </a:xfrm>
            <a:prstGeom prst="rect">
              <a:avLst/>
            </a:prstGeom>
            <a:ln w="9525">
              <a:solidFill>
                <a:srgbClr val="030305"/>
              </a:solidFill>
              <a:miter lim="800000"/>
            </a:ln>
          </p:spPr>
          <p:txBody>
            <a:bodyPr wrap="none" lIns="90000" tIns="46800" rIns="90000" bIns="46800" anchor="ctr"/>
            <a:p>
              <a:pPr algn="ctr"/>
              <a:r>
                <a:rPr lang="en-US" altLang="zh-CN" sz="2400" b="1">
                  <a:solidFill>
                    <a:srgbClr val="030305"/>
                  </a:solidFill>
                  <a:latin typeface="+mn-ea"/>
                </a:rPr>
                <a:t>while</a:t>
              </a:r>
              <a:endParaRPr lang="en-US" altLang="zh-CN" sz="2400" b="1">
                <a:solidFill>
                  <a:srgbClr val="030305"/>
                </a:solidFill>
                <a:latin typeface="+mn-ea"/>
              </a:endParaRPr>
            </a:p>
          </p:txBody>
        </p:sp>
        <p:sp>
          <p:nvSpPr>
            <p:cNvPr id="19" name="Line 17"/>
            <p:cNvSpPr>
              <a:spLocks noChangeShapeType="1"/>
            </p:cNvSpPr>
            <p:nvPr>
              <p:custDataLst>
                <p:tags r:id="rId12"/>
              </p:custDataLst>
            </p:nvPr>
          </p:nvSpPr>
          <p:spPr bwMode="auto">
            <a:xfrm flipH="1">
              <a:off x="3360" y="2256"/>
              <a:ext cx="480" cy="336"/>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0" name="Line 18"/>
            <p:cNvSpPr>
              <a:spLocks noChangeShapeType="1"/>
            </p:cNvSpPr>
            <p:nvPr>
              <p:custDataLst>
                <p:tags r:id="rId13"/>
              </p:custDataLst>
            </p:nvPr>
          </p:nvSpPr>
          <p:spPr bwMode="auto">
            <a:xfrm>
              <a:off x="3936" y="2256"/>
              <a:ext cx="384" cy="336"/>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useBgFill="1">
          <p:nvSpPr>
            <p:cNvPr id="21" name="AutoShape 19"/>
            <p:cNvSpPr>
              <a:spLocks noChangeArrowheads="1"/>
            </p:cNvSpPr>
            <p:nvPr>
              <p:custDataLst>
                <p:tags r:id="rId14"/>
              </p:custDataLst>
            </p:nvPr>
          </p:nvSpPr>
          <p:spPr bwMode="auto">
            <a:xfrm>
              <a:off x="3120" y="2592"/>
              <a:ext cx="432" cy="288"/>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b="1">
                <a:latin typeface="+mn-ea"/>
              </a:endParaRPr>
            </a:p>
          </p:txBody>
        </p:sp>
        <p:sp useBgFill="1">
          <p:nvSpPr>
            <p:cNvPr id="22" name="AutoShape 20"/>
            <p:cNvSpPr>
              <a:spLocks noChangeArrowheads="1"/>
            </p:cNvSpPr>
            <p:nvPr>
              <p:custDataLst>
                <p:tags r:id="rId15"/>
              </p:custDataLst>
            </p:nvPr>
          </p:nvSpPr>
          <p:spPr bwMode="auto">
            <a:xfrm>
              <a:off x="4128" y="2592"/>
              <a:ext cx="432" cy="288"/>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400" b="1">
                <a:latin typeface="+mn-ea"/>
              </a:endParaRPr>
            </a:p>
          </p:txBody>
        </p:sp>
        <p:sp>
          <p:nvSpPr>
            <p:cNvPr id="23" name="Rectangle 21"/>
            <p:cNvSpPr>
              <a:spLocks noChangeArrowheads="1"/>
            </p:cNvSpPr>
            <p:nvPr>
              <p:custDataLst>
                <p:tags r:id="rId16"/>
              </p:custDataLst>
            </p:nvPr>
          </p:nvSpPr>
          <p:spPr bwMode="auto">
            <a:xfrm>
              <a:off x="3128" y="2832"/>
              <a:ext cx="43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dirty="0">
                  <a:solidFill>
                    <a:srgbClr val="030305"/>
                  </a:solidFill>
                  <a:latin typeface="+mn-ea"/>
                </a:rPr>
                <a:t>test</a:t>
              </a:r>
              <a:endParaRPr lang="zh-CN" altLang="en-US" sz="2400" b="1" dirty="0">
                <a:solidFill>
                  <a:srgbClr val="030305"/>
                </a:solidFill>
                <a:latin typeface="+mn-ea"/>
              </a:endParaRPr>
            </a:p>
          </p:txBody>
        </p:sp>
        <p:sp>
          <p:nvSpPr>
            <p:cNvPr id="24" name="Rectangle 22"/>
            <p:cNvSpPr>
              <a:spLocks noChangeArrowheads="1"/>
            </p:cNvSpPr>
            <p:nvPr>
              <p:custDataLst>
                <p:tags r:id="rId17"/>
              </p:custDataLst>
            </p:nvPr>
          </p:nvSpPr>
          <p:spPr bwMode="auto">
            <a:xfrm>
              <a:off x="4089" y="2832"/>
              <a:ext cx="55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dirty="0">
                  <a:solidFill>
                    <a:srgbClr val="030305"/>
                  </a:solidFill>
                  <a:latin typeface="+mn-ea"/>
                </a:rPr>
                <a:t>body</a:t>
              </a:r>
              <a:endParaRPr lang="zh-CN" altLang="en-US" sz="2400" b="1" dirty="0">
                <a:solidFill>
                  <a:srgbClr val="030305"/>
                </a:solidFill>
                <a:latin typeface="+mn-ea"/>
              </a:endParaRPr>
            </a:p>
          </p:txBody>
        </p:sp>
      </p:grpSp>
      <p:sp>
        <p:nvSpPr>
          <p:cNvPr id="2" name="文本框 1"/>
          <p:cNvSpPr txBox="1"/>
          <p:nvPr/>
        </p:nvSpPr>
        <p:spPr>
          <a:xfrm>
            <a:off x="558800" y="3429000"/>
            <a:ext cx="11225530" cy="3046095"/>
          </a:xfrm>
          <a:prstGeom prst="rect">
            <a:avLst/>
          </a:prstGeom>
          <a:noFill/>
        </p:spPr>
        <p:txBody>
          <a:bodyPr wrap="square" rtlCol="0" anchor="t">
            <a:spAutoFit/>
          </a:bodyPr>
          <a:p>
            <a:pPr>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typedef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enum</a:t>
            </a:r>
            <a:r>
              <a:rPr lang="en-US" altLang="zh-CN" sz="2400" b="1" dirty="0">
                <a:solidFill>
                  <a:srgbClr val="030305"/>
                </a:solidFill>
                <a:latin typeface="Times New Roman" panose="02020603050405020304" pitchFamily="18" charset="0"/>
                <a:cs typeface="Times New Roman" panose="02020603050405020304" pitchFamily="18" charset="0"/>
                <a:sym typeface="+mn-ea"/>
              </a:rPr>
              <a:t> {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ExpKind,IfKind,WhileKind</a:t>
            </a:r>
            <a:r>
              <a:rPr lang="en-US" altLang="zh-CN" sz="2400" b="1" dirty="0">
                <a:solidFill>
                  <a:srgbClr val="030305"/>
                </a:solidFill>
                <a:latin typeface="Times New Roman" panose="02020603050405020304" pitchFamily="18" charset="0"/>
                <a:cs typeface="Times New Roman" panose="02020603050405020304" pitchFamily="18" charset="0"/>
                <a:sym typeface="+mn-ea"/>
              </a:rPr>
              <a: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BreakKind</a:t>
            </a:r>
            <a:r>
              <a:rPr lang="en-US" altLang="zh-CN" sz="2400" b="1" dirty="0">
                <a:solidFill>
                  <a:srgbClr val="030305"/>
                </a:solidFill>
                <a:latin typeface="Times New Roman" panose="02020603050405020304" pitchFamily="18" charset="0"/>
                <a:cs typeface="Times New Roman" panose="02020603050405020304" pitchFamily="18" charset="0"/>
                <a:sym typeface="+mn-ea"/>
              </a:rPr>
              <a: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OtherKind</a:t>
            </a:r>
            <a:r>
              <a:rPr lang="en-US" altLang="zh-CN" sz="2400" b="1" dirty="0">
                <a:solidFill>
                  <a:srgbClr val="030305"/>
                </a:solidFill>
                <a:latin typeface="Times New Roman" panose="02020603050405020304" pitchFamily="18" charset="0"/>
                <a:cs typeface="Times New Roman" panose="02020603050405020304" pitchFamily="18" charset="0"/>
                <a:sym typeface="+mn-ea"/>
              </a:rPr>
              <a:t> }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NodeKind</a:t>
            </a:r>
            <a:r>
              <a:rPr lang="en-US" altLang="zh-CN" sz="2400" b="1" dirty="0">
                <a:solidFill>
                  <a:srgbClr val="030305"/>
                </a:solidFill>
                <a:latin typeface="Times New Roman" panose="02020603050405020304" pitchFamily="18" charset="0"/>
                <a:cs typeface="Times New Roman" panose="02020603050405020304" pitchFamily="18" charset="0"/>
                <a:sym typeface="+mn-ea"/>
              </a:rPr>
              <a:t>;</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typedef struct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streenode</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lvl="1">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NodeKind</a:t>
            </a:r>
            <a:r>
              <a:rPr lang="en-US" altLang="zh-CN" sz="2400" b="1" dirty="0">
                <a:solidFill>
                  <a:srgbClr val="030305"/>
                </a:solidFill>
                <a:latin typeface="Times New Roman" panose="02020603050405020304" pitchFamily="18" charset="0"/>
                <a:cs typeface="Times New Roman" panose="02020603050405020304" pitchFamily="18" charset="0"/>
                <a:sym typeface="+mn-ea"/>
              </a:rPr>
              <a:t> kind;</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lvl="1">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  struct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streenode</a:t>
            </a:r>
            <a:r>
              <a:rPr lang="en-US" altLang="zh-CN" sz="2400" b="1" dirty="0">
                <a:solidFill>
                  <a:srgbClr val="030305"/>
                </a:solidFill>
                <a:latin typeface="Times New Roman" panose="02020603050405020304" pitchFamily="18" charset="0"/>
                <a:cs typeface="Times New Roman" panose="02020603050405020304" pitchFamily="18" charset="0"/>
                <a:sym typeface="+mn-ea"/>
              </a:rPr>
              <a:t> * child[3] ;</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lvl="1">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  int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val</a:t>
            </a:r>
            <a:r>
              <a:rPr lang="en-US" altLang="zh-CN" sz="2400" b="1" dirty="0">
                <a:solidFill>
                  <a:srgbClr val="030305"/>
                </a:solidFill>
                <a:latin typeface="Times New Roman" panose="02020603050405020304" pitchFamily="18" charset="0"/>
                <a:cs typeface="Times New Roman" panose="02020603050405020304" pitchFamily="18" charset="0"/>
                <a:sym typeface="+mn-ea"/>
              </a:rPr>
              <a:t>; /* used with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ExpKind</a:t>
            </a:r>
            <a:r>
              <a:rPr lang="en-US" altLang="zh-CN" sz="2400" b="1" dirty="0">
                <a:solidFill>
                  <a:srgbClr val="030305"/>
                </a:solidFill>
                <a:latin typeface="Times New Roman" panose="02020603050405020304" pitchFamily="18" charset="0"/>
                <a:cs typeface="Times New Roman" panose="02020603050405020304" pitchFamily="18" charset="0"/>
                <a:sym typeface="+mn-ea"/>
              </a:rPr>
              <a:t> */</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lvl="1">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  char *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strval</a:t>
            </a:r>
            <a:r>
              <a:rPr lang="en-US" altLang="zh-CN" sz="2400" b="1" dirty="0">
                <a:solidFill>
                  <a:srgbClr val="030305"/>
                </a:solidFill>
                <a:latin typeface="Times New Roman" panose="02020603050405020304" pitchFamily="18" charset="0"/>
                <a:cs typeface="Times New Roman" panose="02020603050405020304" pitchFamily="18" charset="0"/>
                <a:sym typeface="+mn-ea"/>
              </a:rPr>
              <a:t>;</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lvl="1">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STreeNode</a:t>
            </a:r>
            <a:r>
              <a:rPr lang="en-US" altLang="zh-CN" sz="2400" b="1" dirty="0">
                <a:solidFill>
                  <a:srgbClr val="030305"/>
                </a:solidFill>
                <a:latin typeface="Times New Roman" panose="02020603050405020304" pitchFamily="18" charset="0"/>
                <a:cs typeface="Times New Roman" panose="02020603050405020304" pitchFamily="18" charset="0"/>
                <a:sym typeface="+mn-ea"/>
              </a:rPr>
              <a:t>;</a:t>
            </a:r>
            <a:endParaRPr lang="en-US" altLang="zh-CN" sz="2400" b="1" dirty="0">
              <a:solidFill>
                <a:srgbClr val="030305"/>
              </a:solidFill>
              <a:latin typeface="Times New Roman" panose="02020603050405020304" pitchFamily="18" charset="0"/>
              <a:ea typeface="+mn-ea"/>
              <a:cs typeface="Times New Roman" panose="02020603050405020304" pitchFamily="18" charset="0"/>
            </a:endParaRPr>
          </a:p>
          <a:p>
            <a:pPr>
              <a:lnSpc>
                <a:spcPct val="100000"/>
              </a:lnSpc>
              <a:spcBef>
                <a:spcPct val="0"/>
              </a:spcBef>
              <a:spcAft>
                <a:spcPts val="0"/>
              </a:spcAft>
            </a:pPr>
            <a:r>
              <a:rPr lang="en-US" altLang="zh-CN" sz="2400" b="1" dirty="0">
                <a:solidFill>
                  <a:srgbClr val="030305"/>
                </a:solidFill>
                <a:latin typeface="Times New Roman" panose="02020603050405020304" pitchFamily="18" charset="0"/>
                <a:cs typeface="Times New Roman" panose="02020603050405020304" pitchFamily="18" charset="0"/>
                <a:sym typeface="+mn-ea"/>
              </a:rPr>
              <a:t>typedef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STreeNode</a:t>
            </a:r>
            <a:r>
              <a:rPr lang="en-US" altLang="zh-CN" sz="2400" b="1" dirty="0">
                <a:solidFill>
                  <a:srgbClr val="030305"/>
                </a:solidFill>
                <a:latin typeface="Times New Roman" panose="02020603050405020304" pitchFamily="18" charset="0"/>
                <a:cs typeface="Times New Roman" panose="02020603050405020304" pitchFamily="18" charset="0"/>
                <a:sym typeface="+mn-ea"/>
              </a:rPr>
              <a:t> * </a:t>
            </a:r>
            <a:r>
              <a:rPr lang="en-US" altLang="zh-CN" sz="2400" b="1" dirty="0" err="1">
                <a:solidFill>
                  <a:srgbClr val="030305"/>
                </a:solidFill>
                <a:latin typeface="Times New Roman" panose="02020603050405020304" pitchFamily="18" charset="0"/>
                <a:cs typeface="Times New Roman" panose="02020603050405020304" pitchFamily="18" charset="0"/>
                <a:sym typeface="+mn-ea"/>
              </a:rPr>
              <a:t>SyntaxTree</a:t>
            </a:r>
            <a:r>
              <a:rPr lang="en-US" altLang="zh-CN" sz="2400" b="1" dirty="0">
                <a:solidFill>
                  <a:srgbClr val="030305"/>
                </a:solidFill>
                <a:latin typeface="Times New Roman" panose="02020603050405020304" pitchFamily="18" charset="0"/>
                <a:cs typeface="Times New Roman" panose="02020603050405020304" pitchFamily="18" charset="0"/>
                <a:sym typeface="+mn-ea"/>
              </a:rPr>
              <a:t>;</a:t>
            </a:r>
            <a:endParaRPr lang="en-US" altLang="zh-CN" sz="2400" b="1" dirty="0">
              <a:solidFill>
                <a:srgbClr val="030305"/>
              </a:solidFill>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Horizont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arn(inHorizontal)">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arn(inHorizontal)">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barn(inHorizontal)">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barn(inHorizontal)">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strips(down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strips(down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370205" y="276860"/>
            <a:ext cx="7805420" cy="593090"/>
          </a:xfrm>
        </p:spPr>
        <p:txBody>
          <a:bodyPr/>
          <a:lstStyle/>
          <a:p>
            <a:r>
              <a:rPr lang="en-US" altLang="zh-CN" sz="2800" dirty="0"/>
              <a:t>6.4.3 if</a:t>
            </a:r>
            <a:r>
              <a:rPr lang="zh-CN" altLang="en-US" sz="2800" dirty="0"/>
              <a:t>和</a:t>
            </a:r>
            <a:r>
              <a:rPr lang="en-US" altLang="zh-CN" sz="2800" dirty="0"/>
              <a:t>while</a:t>
            </a:r>
            <a:r>
              <a:rPr lang="zh-CN" altLang="en-US" sz="2800" dirty="0"/>
              <a:t>语句的代码生成过程样例</a:t>
            </a:r>
            <a:endParaRPr lang="zh-CN" altLang="en-US" sz="2800" dirty="0"/>
          </a:p>
        </p:txBody>
      </p:sp>
      <p:sp>
        <p:nvSpPr>
          <p:cNvPr id="25" name="Rectangle 1026"/>
          <p:cNvSpPr>
            <a:spLocks noChangeArrowheads="1"/>
          </p:cNvSpPr>
          <p:nvPr/>
        </p:nvSpPr>
        <p:spPr bwMode="auto">
          <a:xfrm>
            <a:off x="4282497" y="2117164"/>
            <a:ext cx="71628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305"/>
                </a:solidFill>
              </a:rPr>
              <a:t>上述简单控制语句的三地址码生成过程实现：</a:t>
            </a:r>
            <a:endParaRPr lang="zh-CN" altLang="en-US" sz="2400" b="1">
              <a:solidFill>
                <a:srgbClr val="030305"/>
              </a:solidFill>
            </a:endParaRPr>
          </a:p>
        </p:txBody>
      </p:sp>
      <p:sp>
        <p:nvSpPr>
          <p:cNvPr id="26" name="Rectangle 1027"/>
          <p:cNvSpPr>
            <a:spLocks noChangeArrowheads="1"/>
          </p:cNvSpPr>
          <p:nvPr/>
        </p:nvSpPr>
        <p:spPr bwMode="auto">
          <a:xfrm>
            <a:off x="4236085" y="2661920"/>
            <a:ext cx="5280660"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00000"/>
              </a:lnSpc>
            </a:pPr>
            <a:r>
              <a:rPr lang="en-US" altLang="zh-CN" sz="2000" b="1" dirty="0">
                <a:solidFill>
                  <a:srgbClr val="03010F"/>
                </a:solidFill>
                <a:cs typeface="Times New Roman" panose="02020603050405020304" pitchFamily="18" charset="0"/>
              </a:rPr>
              <a:t>void </a:t>
            </a:r>
            <a:r>
              <a:rPr lang="en-US" altLang="zh-CN" sz="2000" b="1" dirty="0" err="1">
                <a:solidFill>
                  <a:srgbClr val="03010F"/>
                </a:solidFill>
                <a:cs typeface="Times New Roman" panose="02020603050405020304" pitchFamily="18" charset="0"/>
              </a:rPr>
              <a:t>genCode</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SyntaxTree</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t，char</a:t>
            </a:r>
            <a:r>
              <a:rPr lang="en-US" altLang="zh-CN" sz="2000" b="1" dirty="0">
                <a:solidFill>
                  <a:srgbClr val="03010F"/>
                </a:solidFill>
                <a:cs typeface="Times New Roman" panose="02020603050405020304" pitchFamily="18" charset="0"/>
              </a:rPr>
              <a:t> *label</a:t>
            </a:r>
            <a:r>
              <a:rPr lang="zh-CN" altLang="en-US" sz="2000" b="1" dirty="0">
                <a:solidFill>
                  <a:srgbClr val="03010F"/>
                </a:solidFill>
                <a:cs typeface="Times New Roman" panose="02020603050405020304" pitchFamily="18" charset="0"/>
              </a:rPr>
              <a:t>)</a:t>
            </a:r>
            <a:endParaRPr lang="zh-CN" altLang="en-US" sz="2000" b="1" dirty="0">
              <a:solidFill>
                <a:srgbClr val="03010F"/>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 char * lab1,*lab2;</a:t>
            </a:r>
            <a:endParaRPr lang="en-US" altLang="zh-CN" sz="2000" b="1" dirty="0">
              <a:solidFill>
                <a:srgbClr val="03010F"/>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  if(t!=NULL</a:t>
            </a:r>
            <a:r>
              <a:rPr lang="zh-CN" altLang="en-US"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rPr>
              <a:t>switch(t-&gt;kind)</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{case </a:t>
            </a:r>
            <a:r>
              <a:rPr lang="en-US" altLang="zh-CN" sz="2000" b="1" dirty="0" err="1">
                <a:solidFill>
                  <a:srgbClr val="03010F"/>
                </a:solidFill>
                <a:cs typeface="Times New Roman" panose="02020603050405020304" pitchFamily="18" charset="0"/>
              </a:rPr>
              <a:t>ExpKind</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t-&gt;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newtemp</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if(t-&gt;</a:t>
            </a:r>
            <a:r>
              <a:rPr lang="en-US" altLang="zh-CN" sz="2000" b="1" dirty="0" err="1">
                <a:solidFill>
                  <a:srgbClr val="03010F"/>
                </a:solidFill>
                <a:cs typeface="Times New Roman" panose="02020603050405020304" pitchFamily="18" charset="0"/>
              </a:rPr>
              <a:t>val</a:t>
            </a:r>
            <a:r>
              <a:rPr lang="en-US" altLang="zh-CN" sz="2000" b="1" dirty="0">
                <a:solidFill>
                  <a:srgbClr val="03010F"/>
                </a:solidFill>
                <a:cs typeface="Times New Roman" panose="02020603050405020304" pitchFamily="18" charset="0"/>
              </a:rPr>
              <a:t>==0) </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a:t>
            </a: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(t-&gt;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“=false” ); </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else </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chemeClr val="hlink"/>
                </a:solidFill>
                <a:cs typeface="Times New Roman" panose="02020603050405020304" pitchFamily="18" charset="0"/>
              </a:rPr>
              <a:t>	   emit</a:t>
            </a:r>
            <a:r>
              <a:rPr lang="en-US" altLang="zh-CN" sz="2000" b="1" dirty="0">
                <a:solidFill>
                  <a:srgbClr val="03010F"/>
                </a:solidFill>
                <a:cs typeface="Times New Roman" panose="02020603050405020304" pitchFamily="18" charset="0"/>
              </a:rPr>
              <a:t>(t-&gt;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“=true”);  </a:t>
            </a:r>
            <a:endParaRPr lang="en-US" altLang="zh-CN" sz="2000" b="1" dirty="0">
              <a:solidFill>
                <a:srgbClr val="03010F"/>
              </a:solidFill>
              <a:cs typeface="Times New Roman" panose="02020603050405020304" pitchFamily="18" charset="0"/>
            </a:endParaRPr>
          </a:p>
        </p:txBody>
      </p:sp>
      <p:sp>
        <p:nvSpPr>
          <p:cNvPr id="27" name="AutoShape 1028"/>
          <p:cNvSpPr>
            <a:spLocks noChangeArrowheads="1"/>
          </p:cNvSpPr>
          <p:nvPr/>
        </p:nvSpPr>
        <p:spPr bwMode="auto">
          <a:xfrm>
            <a:off x="10450252" y="1639009"/>
            <a:ext cx="1352082" cy="939800"/>
          </a:xfrm>
          <a:prstGeom prst="cloudCallout">
            <a:avLst>
              <a:gd name="adj1" fmla="val -123333"/>
              <a:gd name="adj2" fmla="val 1787"/>
            </a:avLst>
          </a:prstGeom>
          <a:solidFill>
            <a:schemeClr val="bg1"/>
          </a:solidFill>
          <a:ln w="28575">
            <a:solidFill>
              <a:schemeClr val="bg1">
                <a:lumMod val="65000"/>
              </a:schemeClr>
            </a:solidFill>
            <a:miter lim="800000"/>
          </a:ln>
        </p:spPr>
        <p:txBody>
          <a:bodyPr/>
          <a:lstStyle/>
          <a:p>
            <a:pPr algn="ctr"/>
            <a:r>
              <a:rPr lang="zh-CN" altLang="en-US" sz="2000" b="1">
                <a:latin typeface="Arial" panose="020B0604020202020204" pitchFamily="34" charset="0"/>
              </a:rPr>
              <a:t>初值为空</a:t>
            </a:r>
            <a:endParaRPr lang="zh-CN" altLang="en-US" sz="2000" b="1">
              <a:latin typeface="Arial" panose="020B0604020202020204" pitchFamily="34" charset="0"/>
            </a:endParaRPr>
          </a:p>
        </p:txBody>
      </p:sp>
      <p:sp>
        <p:nvSpPr>
          <p:cNvPr id="5" name="Rectangle 2"/>
          <p:cNvSpPr>
            <a:spLocks noChangeArrowheads="1"/>
          </p:cNvSpPr>
          <p:nvPr>
            <p:custDataLst>
              <p:tags r:id="rId1"/>
            </p:custDataLst>
          </p:nvPr>
        </p:nvSpPr>
        <p:spPr bwMode="auto">
          <a:xfrm>
            <a:off x="369935" y="1177238"/>
            <a:ext cx="8077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zh-CN" altLang="en-US" sz="2400" b="1" dirty="0">
                <a:solidFill>
                  <a:srgbClr val="030305"/>
                </a:solidFill>
                <a:latin typeface="+mn-ea"/>
              </a:rPr>
              <a:t>例如语句</a:t>
            </a:r>
            <a:r>
              <a:rPr lang="en-US" altLang="zh-CN" sz="2400" b="1" dirty="0">
                <a:solidFill>
                  <a:srgbClr val="030305"/>
                </a:solidFill>
                <a:latin typeface="+mn-ea"/>
              </a:rPr>
              <a:t> if (true) while (true) if (false) break else other</a:t>
            </a:r>
            <a:endParaRPr lang="zh-CN" altLang="en-US" sz="2400" b="1" dirty="0">
              <a:solidFill>
                <a:srgbClr val="030305"/>
              </a:solidFill>
              <a:latin typeface="+mn-ea"/>
            </a:endParaRPr>
          </a:p>
        </p:txBody>
      </p:sp>
      <p:grpSp>
        <p:nvGrpSpPr>
          <p:cNvPr id="2" name="组合 1"/>
          <p:cNvGrpSpPr/>
          <p:nvPr/>
        </p:nvGrpSpPr>
        <p:grpSpPr>
          <a:xfrm>
            <a:off x="552697" y="1792861"/>
            <a:ext cx="3437352" cy="2900083"/>
            <a:chOff x="2484157" y="2302903"/>
            <a:chExt cx="3437352" cy="2900083"/>
          </a:xfrm>
        </p:grpSpPr>
        <p:grpSp>
          <p:nvGrpSpPr>
            <p:cNvPr id="6" name="组合 23"/>
            <p:cNvGrpSpPr/>
            <p:nvPr/>
          </p:nvGrpSpPr>
          <p:grpSpPr bwMode="auto">
            <a:xfrm>
              <a:off x="2712757" y="2302903"/>
              <a:ext cx="1430215" cy="1223681"/>
              <a:chOff x="2784475" y="1989138"/>
              <a:chExt cx="1429954" cy="1223623"/>
            </a:xfrm>
          </p:grpSpPr>
          <p:sp>
            <p:nvSpPr>
              <p:cNvPr id="7" name="Rectangle 9"/>
              <p:cNvSpPr>
                <a:spLocks noChangeArrowheads="1"/>
              </p:cNvSpPr>
              <p:nvPr>
                <p:custDataLst>
                  <p:tags r:id="rId2"/>
                </p:custDataLst>
              </p:nvPr>
            </p:nvSpPr>
            <p:spPr bwMode="auto">
              <a:xfrm>
                <a:off x="3851275" y="1989138"/>
                <a:ext cx="363154"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if</a:t>
                </a:r>
                <a:endParaRPr lang="en-US" altLang="zh-CN" sz="2400" b="1">
                  <a:solidFill>
                    <a:srgbClr val="070709"/>
                  </a:solidFill>
                  <a:latin typeface="+mn-ea"/>
                </a:endParaRPr>
              </a:p>
            </p:txBody>
          </p:sp>
          <p:sp>
            <p:nvSpPr>
              <p:cNvPr id="3" name="Line 10"/>
              <p:cNvSpPr>
                <a:spLocks noChangeShapeType="1"/>
              </p:cNvSpPr>
              <p:nvPr>
                <p:custDataLst>
                  <p:tags r:id="rId3"/>
                </p:custDataLst>
              </p:nvPr>
            </p:nvSpPr>
            <p:spPr bwMode="auto">
              <a:xfrm flipH="1">
                <a:off x="3165475" y="2349500"/>
                <a:ext cx="838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9" name="Line 11"/>
              <p:cNvSpPr>
                <a:spLocks noChangeShapeType="1"/>
              </p:cNvSpPr>
              <p:nvPr>
                <p:custDataLst>
                  <p:tags r:id="rId4"/>
                </p:custDataLst>
              </p:nvPr>
            </p:nvSpPr>
            <p:spPr bwMode="auto">
              <a:xfrm>
                <a:off x="4079875" y="2349500"/>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0" name="Rectangle 12"/>
              <p:cNvSpPr>
                <a:spLocks noChangeArrowheads="1"/>
              </p:cNvSpPr>
              <p:nvPr>
                <p:custDataLst>
                  <p:tags r:id="rId5"/>
                </p:custDataLst>
              </p:nvPr>
            </p:nvSpPr>
            <p:spPr bwMode="auto">
              <a:xfrm>
                <a:off x="2784475" y="2751138"/>
                <a:ext cx="739226"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true</a:t>
                </a:r>
                <a:endParaRPr lang="zh-CN" altLang="en-US" sz="2400" b="1">
                  <a:solidFill>
                    <a:srgbClr val="070709"/>
                  </a:solidFill>
                  <a:latin typeface="+mn-ea"/>
                </a:endParaRPr>
              </a:p>
            </p:txBody>
          </p:sp>
        </p:grpSp>
        <p:grpSp>
          <p:nvGrpSpPr>
            <p:cNvPr id="11" name="组合 22"/>
            <p:cNvGrpSpPr/>
            <p:nvPr/>
          </p:nvGrpSpPr>
          <p:grpSpPr bwMode="auto">
            <a:xfrm>
              <a:off x="2788959" y="3064903"/>
              <a:ext cx="1745273" cy="1147480"/>
              <a:chOff x="2860675" y="2751138"/>
              <a:chExt cx="1745986" cy="1147422"/>
            </a:xfrm>
          </p:grpSpPr>
          <p:sp>
            <p:nvSpPr>
              <p:cNvPr id="12" name="Line 4"/>
              <p:cNvSpPr>
                <a:spLocks noChangeShapeType="1"/>
              </p:cNvSpPr>
              <p:nvPr>
                <p:custDataLst>
                  <p:tags r:id="rId6"/>
                </p:custDataLst>
              </p:nvPr>
            </p:nvSpPr>
            <p:spPr bwMode="auto">
              <a:xfrm flipH="1">
                <a:off x="3394075" y="3187700"/>
                <a:ext cx="4572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3" name="Line 13"/>
              <p:cNvSpPr>
                <a:spLocks noChangeShapeType="1"/>
              </p:cNvSpPr>
              <p:nvPr>
                <p:custDataLst>
                  <p:tags r:id="rId7"/>
                </p:custDataLst>
              </p:nvPr>
            </p:nvSpPr>
            <p:spPr bwMode="auto">
              <a:xfrm>
                <a:off x="4079875" y="3111500"/>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4" name="Rectangle 14"/>
              <p:cNvSpPr>
                <a:spLocks noChangeArrowheads="1"/>
              </p:cNvSpPr>
              <p:nvPr>
                <p:custDataLst>
                  <p:tags r:id="rId8"/>
                </p:custDataLst>
              </p:nvPr>
            </p:nvSpPr>
            <p:spPr bwMode="auto">
              <a:xfrm>
                <a:off x="3698875" y="2751138"/>
                <a:ext cx="907786" cy="46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while</a:t>
                </a:r>
                <a:endParaRPr lang="zh-CN" altLang="en-US" sz="2400" b="1">
                  <a:solidFill>
                    <a:srgbClr val="070709"/>
                  </a:solidFill>
                  <a:latin typeface="+mn-ea"/>
                </a:endParaRPr>
              </a:p>
            </p:txBody>
          </p:sp>
          <p:sp>
            <p:nvSpPr>
              <p:cNvPr id="16" name="Rectangle 16"/>
              <p:cNvSpPr>
                <a:spLocks noChangeArrowheads="1"/>
              </p:cNvSpPr>
              <p:nvPr>
                <p:custDataLst>
                  <p:tags r:id="rId9"/>
                </p:custDataLst>
              </p:nvPr>
            </p:nvSpPr>
            <p:spPr bwMode="auto">
              <a:xfrm>
                <a:off x="2860675" y="3436938"/>
                <a:ext cx="737705" cy="46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true</a:t>
                </a:r>
                <a:endParaRPr lang="zh-CN" altLang="en-US" sz="2400" b="1">
                  <a:solidFill>
                    <a:srgbClr val="070709"/>
                  </a:solidFill>
                  <a:latin typeface="+mn-ea"/>
                </a:endParaRPr>
              </a:p>
            </p:txBody>
          </p:sp>
        </p:grpSp>
        <p:grpSp>
          <p:nvGrpSpPr>
            <p:cNvPr id="17" name="组合 21"/>
            <p:cNvGrpSpPr/>
            <p:nvPr/>
          </p:nvGrpSpPr>
          <p:grpSpPr bwMode="auto">
            <a:xfrm>
              <a:off x="2484157" y="3826902"/>
              <a:ext cx="3437352" cy="1376084"/>
              <a:chOff x="2555875" y="3513138"/>
              <a:chExt cx="3438087" cy="1376026"/>
            </a:xfrm>
          </p:grpSpPr>
          <p:sp>
            <p:nvSpPr>
              <p:cNvPr id="18" name="Line 3"/>
              <p:cNvSpPr>
                <a:spLocks noChangeShapeType="1"/>
              </p:cNvSpPr>
              <p:nvPr>
                <p:custDataLst>
                  <p:tags r:id="rId10"/>
                </p:custDataLst>
              </p:nvPr>
            </p:nvSpPr>
            <p:spPr bwMode="auto">
              <a:xfrm flipH="1">
                <a:off x="4079875" y="3949700"/>
                <a:ext cx="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9" name="Line 5"/>
              <p:cNvSpPr>
                <a:spLocks noChangeShapeType="1"/>
              </p:cNvSpPr>
              <p:nvPr>
                <p:custDataLst>
                  <p:tags r:id="rId11"/>
                </p:custDataLst>
              </p:nvPr>
            </p:nvSpPr>
            <p:spPr bwMode="auto">
              <a:xfrm>
                <a:off x="4308475" y="3949700"/>
                <a:ext cx="106680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0" name="Rectangle 6"/>
              <p:cNvSpPr>
                <a:spLocks noChangeArrowheads="1"/>
              </p:cNvSpPr>
              <p:nvPr>
                <p:custDataLst>
                  <p:tags r:id="rId12"/>
                </p:custDataLst>
              </p:nvPr>
            </p:nvSpPr>
            <p:spPr bwMode="auto">
              <a:xfrm>
                <a:off x="5070475" y="4427538"/>
                <a:ext cx="923487"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other</a:t>
                </a:r>
                <a:endParaRPr lang="zh-CN" altLang="en-US" sz="2400" b="1">
                  <a:solidFill>
                    <a:srgbClr val="070709"/>
                  </a:solidFill>
                  <a:latin typeface="+mn-ea"/>
                </a:endParaRPr>
              </a:p>
            </p:txBody>
          </p:sp>
          <p:sp>
            <p:nvSpPr>
              <p:cNvPr id="21" name="Rectangle 7"/>
              <p:cNvSpPr>
                <a:spLocks noChangeArrowheads="1"/>
              </p:cNvSpPr>
              <p:nvPr>
                <p:custDataLst>
                  <p:tags r:id="rId13"/>
                </p:custDataLst>
              </p:nvPr>
            </p:nvSpPr>
            <p:spPr bwMode="auto">
              <a:xfrm>
                <a:off x="3775075" y="4427538"/>
                <a:ext cx="957150"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break</a:t>
                </a:r>
                <a:endParaRPr lang="zh-CN" altLang="en-US" sz="2400" b="1">
                  <a:solidFill>
                    <a:srgbClr val="070709"/>
                  </a:solidFill>
                  <a:latin typeface="+mn-ea"/>
                </a:endParaRPr>
              </a:p>
            </p:txBody>
          </p:sp>
          <p:sp>
            <p:nvSpPr>
              <p:cNvPr id="22" name="Line 8"/>
              <p:cNvSpPr>
                <a:spLocks noChangeShapeType="1"/>
              </p:cNvSpPr>
              <p:nvPr>
                <p:custDataLst>
                  <p:tags r:id="rId14"/>
                </p:custDataLst>
              </p:nvPr>
            </p:nvSpPr>
            <p:spPr bwMode="auto">
              <a:xfrm flipH="1">
                <a:off x="3013075" y="3873500"/>
                <a:ext cx="9144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3" name="Rectangle 15"/>
              <p:cNvSpPr>
                <a:spLocks noChangeArrowheads="1"/>
              </p:cNvSpPr>
              <p:nvPr>
                <p:custDataLst>
                  <p:tags r:id="rId15"/>
                </p:custDataLst>
              </p:nvPr>
            </p:nvSpPr>
            <p:spPr bwMode="auto">
              <a:xfrm>
                <a:off x="3851275" y="3513138"/>
                <a:ext cx="363298"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if</a:t>
                </a:r>
                <a:endParaRPr lang="en-US" altLang="zh-CN" sz="2400" b="1">
                  <a:solidFill>
                    <a:srgbClr val="070709"/>
                  </a:solidFill>
                  <a:latin typeface="+mn-ea"/>
                </a:endParaRPr>
              </a:p>
            </p:txBody>
          </p:sp>
          <p:sp>
            <p:nvSpPr>
              <p:cNvPr id="24" name="Rectangle 17"/>
              <p:cNvSpPr>
                <a:spLocks noChangeArrowheads="1"/>
              </p:cNvSpPr>
              <p:nvPr>
                <p:custDataLst>
                  <p:tags r:id="rId16"/>
                </p:custDataLst>
              </p:nvPr>
            </p:nvSpPr>
            <p:spPr bwMode="auto">
              <a:xfrm>
                <a:off x="2555875" y="4427538"/>
                <a:ext cx="816149"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false</a:t>
                </a:r>
                <a:endParaRPr lang="zh-CN" altLang="en-US" sz="2400" b="1">
                  <a:solidFill>
                    <a:srgbClr val="070709"/>
                  </a:solidFill>
                  <a:latin typeface="+mn-ea"/>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6">
                                            <p:txEl>
                                              <p:pRg st="4" end="4"/>
                                            </p:txEl>
                                          </p:spTgt>
                                        </p:tgtEl>
                                        <p:attrNameLst>
                                          <p:attrName>style.visibility</p:attrName>
                                        </p:attrNameLst>
                                      </p:cBhvr>
                                      <p:to>
                                        <p:strVal val="visible"/>
                                      </p:to>
                                    </p:set>
                                    <p:animEffect transition="in" filter="strips(downLeft)">
                                      <p:cBhvr>
                                        <p:cTn id="7" dur="500"/>
                                        <p:tgtEl>
                                          <p:spTgt spid="26">
                                            <p:txEl>
                                              <p:pRg st="4" end="4"/>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26">
                                            <p:txEl>
                                              <p:pRg st="5" end="5"/>
                                            </p:txEl>
                                          </p:spTgt>
                                        </p:tgtEl>
                                        <p:attrNameLst>
                                          <p:attrName>style.visibility</p:attrName>
                                        </p:attrNameLst>
                                      </p:cBhvr>
                                      <p:to>
                                        <p:strVal val="visible"/>
                                      </p:to>
                                    </p:set>
                                    <p:animEffect transition="in" filter="strips(downLeft)">
                                      <p:cBhvr>
                                        <p:cTn id="10" dur="500"/>
                                        <p:tgtEl>
                                          <p:spTgt spid="26">
                                            <p:txEl>
                                              <p:pRg st="5" end="5"/>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26">
                                            <p:txEl>
                                              <p:pRg st="6" end="6"/>
                                            </p:txEl>
                                          </p:spTgt>
                                        </p:tgtEl>
                                        <p:attrNameLst>
                                          <p:attrName>style.visibility</p:attrName>
                                        </p:attrNameLst>
                                      </p:cBhvr>
                                      <p:to>
                                        <p:strVal val="visible"/>
                                      </p:to>
                                    </p:set>
                                    <p:animEffect transition="in" filter="strips(downLeft)">
                                      <p:cBhvr>
                                        <p:cTn id="13" dur="500"/>
                                        <p:tgtEl>
                                          <p:spTgt spid="26">
                                            <p:txEl>
                                              <p:pRg st="6" end="6"/>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26">
                                            <p:txEl>
                                              <p:pRg st="7" end="7"/>
                                            </p:txEl>
                                          </p:spTgt>
                                        </p:tgtEl>
                                        <p:attrNameLst>
                                          <p:attrName>style.visibility</p:attrName>
                                        </p:attrNameLst>
                                      </p:cBhvr>
                                      <p:to>
                                        <p:strVal val="visible"/>
                                      </p:to>
                                    </p:set>
                                    <p:animEffect transition="in" filter="strips(downLeft)">
                                      <p:cBhvr>
                                        <p:cTn id="16" dur="500"/>
                                        <p:tgtEl>
                                          <p:spTgt spid="26">
                                            <p:txEl>
                                              <p:pRg st="7" end="7"/>
                                            </p:txEl>
                                          </p:spTgt>
                                        </p:tgtEl>
                                      </p:cBhvr>
                                    </p:animEffect>
                                  </p:childTnLst>
                                </p:cTn>
                              </p:par>
                              <p:par>
                                <p:cTn id="17" presetID="18" presetClass="entr" presetSubtype="12" fill="hold" nodeType="withEffect">
                                  <p:stCondLst>
                                    <p:cond delay="0"/>
                                  </p:stCondLst>
                                  <p:childTnLst>
                                    <p:set>
                                      <p:cBhvr>
                                        <p:cTn id="18" dur="1" fill="hold">
                                          <p:stCondLst>
                                            <p:cond delay="0"/>
                                          </p:stCondLst>
                                        </p:cTn>
                                        <p:tgtEl>
                                          <p:spTgt spid="26">
                                            <p:txEl>
                                              <p:pRg st="8" end="8"/>
                                            </p:txEl>
                                          </p:spTgt>
                                        </p:tgtEl>
                                        <p:attrNameLst>
                                          <p:attrName>style.visibility</p:attrName>
                                        </p:attrNameLst>
                                      </p:cBhvr>
                                      <p:to>
                                        <p:strVal val="visible"/>
                                      </p:to>
                                    </p:set>
                                    <p:animEffect transition="in" filter="strips(downLeft)">
                                      <p:cBhvr>
                                        <p:cTn id="19" dur="500"/>
                                        <p:tgtEl>
                                          <p:spTgt spid="2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522605" y="276860"/>
            <a:ext cx="7653020" cy="593090"/>
          </a:xfrm>
        </p:spPr>
        <p:txBody>
          <a:bodyPr/>
          <a:lstStyle/>
          <a:p>
            <a:r>
              <a:rPr lang="en-US" altLang="zh-CN" sz="2800" dirty="0"/>
              <a:t>6.4.3 if</a:t>
            </a:r>
            <a:r>
              <a:rPr lang="zh-CN" altLang="en-US" sz="2800" dirty="0"/>
              <a:t>和</a:t>
            </a:r>
            <a:r>
              <a:rPr lang="en-US" altLang="zh-CN" sz="2800" dirty="0"/>
              <a:t>while</a:t>
            </a:r>
            <a:r>
              <a:rPr lang="zh-CN" altLang="en-US" sz="2800" dirty="0"/>
              <a:t>语句的代码生成过程样例</a:t>
            </a:r>
            <a:endParaRPr lang="zh-CN" altLang="en-US" sz="2800" dirty="0"/>
          </a:p>
        </p:txBody>
      </p:sp>
      <p:sp>
        <p:nvSpPr>
          <p:cNvPr id="8" name="Rectangle 2"/>
          <p:cNvSpPr>
            <a:spLocks noChangeArrowheads="1"/>
          </p:cNvSpPr>
          <p:nvPr/>
        </p:nvSpPr>
        <p:spPr bwMode="auto">
          <a:xfrm>
            <a:off x="4069715" y="1344295"/>
            <a:ext cx="8147685" cy="4709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527050" lvl="1" indent="-440055">
              <a:lnSpc>
                <a:spcPct val="100000"/>
              </a:lnSpc>
            </a:pPr>
            <a:r>
              <a:rPr lang="en-US" altLang="zh-CN" sz="2000" b="1" dirty="0">
                <a:solidFill>
                  <a:srgbClr val="03010F"/>
                </a:solidFill>
                <a:cs typeface="Times New Roman" panose="02020603050405020304" pitchFamily="18" charset="0"/>
              </a:rPr>
              <a:t>case </a:t>
            </a:r>
            <a:r>
              <a:rPr lang="en-US" altLang="zh-CN" sz="2000" b="1" dirty="0" err="1">
                <a:solidFill>
                  <a:srgbClr val="03010F"/>
                </a:solidFill>
                <a:cs typeface="Times New Roman" panose="02020603050405020304" pitchFamily="18" charset="0"/>
              </a:rPr>
              <a:t>IfKind</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marL="527050" lvl="2" indent="-440055">
              <a:lnSpc>
                <a:spcPct val="100000"/>
              </a:lnSpc>
            </a:pPr>
            <a:r>
              <a:rPr lang="en-US" altLang="zh-CN" sz="2000" b="1" dirty="0" err="1">
                <a:solidFill>
                  <a:srgbClr val="E9137E"/>
                </a:solidFill>
                <a:cs typeface="Times New Roman" panose="02020603050405020304" pitchFamily="18" charset="0"/>
              </a:rPr>
              <a:t>genCode</a:t>
            </a:r>
            <a:r>
              <a:rPr lang="en-US" altLang="zh-CN" sz="2000" b="1" dirty="0">
                <a:solidFill>
                  <a:srgbClr val="E9137E"/>
                </a:solidFill>
                <a:cs typeface="Times New Roman" panose="02020603050405020304" pitchFamily="18" charset="0"/>
              </a:rPr>
              <a:t>(t-&gt;child[0],label);</a:t>
            </a:r>
            <a:endParaRPr lang="en-US" altLang="zh-CN" sz="2000" b="1" dirty="0">
              <a:solidFill>
                <a:srgbClr val="E9137E"/>
              </a:solidFill>
              <a:cs typeface="Times New Roman" panose="02020603050405020304" pitchFamily="18" charset="0"/>
            </a:endParaRPr>
          </a:p>
          <a:p>
            <a:pPr marL="527050" lvl="2" indent="-440055">
              <a:lnSpc>
                <a:spcPct val="100000"/>
              </a:lnSpc>
            </a:pPr>
            <a:r>
              <a:rPr lang="en-US" altLang="zh-CN" sz="2000" b="1" dirty="0">
                <a:solidFill>
                  <a:srgbClr val="03010F"/>
                </a:solidFill>
                <a:cs typeface="Times New Roman" panose="02020603050405020304" pitchFamily="18" charset="0"/>
              </a:rPr>
              <a:t>lab1=</a:t>
            </a:r>
            <a:r>
              <a:rPr lang="en-US" altLang="zh-CN" sz="2000" b="1" dirty="0" err="1">
                <a:solidFill>
                  <a:srgbClr val="03010F"/>
                </a:solidFill>
                <a:cs typeface="Times New Roman" panose="02020603050405020304" pitchFamily="18" charset="0"/>
              </a:rPr>
              <a:t>genLabel</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marL="527050" lvl="2" indent="-440055">
              <a:lnSpc>
                <a:spcPct val="100000"/>
              </a:lnSpc>
            </a:pP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if_false</a:t>
            </a:r>
            <a:r>
              <a:rPr lang="en-US" altLang="zh-CN" sz="2000" b="1" dirty="0">
                <a:solidFill>
                  <a:srgbClr val="03010F"/>
                </a:solidFill>
                <a:cs typeface="Times New Roman" panose="02020603050405020304" pitchFamily="18" charset="0"/>
              </a:rPr>
              <a:t>” t-&gt;child[0]-&gt;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 “</a:t>
            </a:r>
            <a:r>
              <a:rPr lang="en-US" altLang="zh-CN" sz="2000" b="1" dirty="0" err="1">
                <a:solidFill>
                  <a:srgbClr val="03010F"/>
                </a:solidFill>
                <a:cs typeface="Times New Roman" panose="02020603050405020304" pitchFamily="18" charset="0"/>
              </a:rPr>
              <a:t>goto</a:t>
            </a:r>
            <a:r>
              <a:rPr lang="en-US" altLang="zh-CN" sz="2000" b="1" dirty="0">
                <a:solidFill>
                  <a:srgbClr val="03010F"/>
                </a:solidFill>
                <a:cs typeface="Times New Roman" panose="02020603050405020304" pitchFamily="18" charset="0"/>
              </a:rPr>
              <a:t>” lab1)</a:t>
            </a:r>
            <a:endParaRPr lang="en-US" altLang="zh-CN" sz="2000" b="1" dirty="0">
              <a:solidFill>
                <a:srgbClr val="03010F"/>
              </a:solidFill>
              <a:cs typeface="Times New Roman" panose="02020603050405020304" pitchFamily="18" charset="0"/>
            </a:endParaRPr>
          </a:p>
          <a:p>
            <a:pPr marL="527050" lvl="2" indent="-440055">
              <a:lnSpc>
                <a:spcPct val="100000"/>
              </a:lnSpc>
            </a:pPr>
            <a:r>
              <a:rPr lang="en-US" altLang="zh-CN" sz="2000" b="1" dirty="0" err="1">
                <a:solidFill>
                  <a:srgbClr val="E9137E"/>
                </a:solidFill>
                <a:cs typeface="Times New Roman" panose="02020603050405020304" pitchFamily="18" charset="0"/>
              </a:rPr>
              <a:t>genCode</a:t>
            </a:r>
            <a:r>
              <a:rPr lang="en-US" altLang="zh-CN" sz="2000" b="1" dirty="0">
                <a:solidFill>
                  <a:srgbClr val="E9137E"/>
                </a:solidFill>
                <a:cs typeface="Times New Roman" panose="02020603050405020304" pitchFamily="18" charset="0"/>
              </a:rPr>
              <a:t>(t-&gt;child[1],label);</a:t>
            </a:r>
            <a:endParaRPr lang="en-US" altLang="zh-CN" sz="2000" b="1" dirty="0">
              <a:solidFill>
                <a:srgbClr val="E9137E"/>
              </a:solidFill>
              <a:cs typeface="Times New Roman" panose="02020603050405020304" pitchFamily="18" charset="0"/>
            </a:endParaRPr>
          </a:p>
          <a:p>
            <a:pPr marL="527050" lvl="2" indent="-440055">
              <a:lnSpc>
                <a:spcPct val="100000"/>
              </a:lnSpc>
            </a:pPr>
            <a:r>
              <a:rPr lang="en-US" altLang="zh-CN" sz="2000" b="1" dirty="0">
                <a:solidFill>
                  <a:srgbClr val="03010F"/>
                </a:solidFill>
                <a:cs typeface="Times New Roman" panose="02020603050405020304" pitchFamily="18" charset="0"/>
              </a:rPr>
              <a:t>if(t-&gt;child[2]!=NULL)</a:t>
            </a:r>
            <a:endParaRPr lang="en-US" altLang="zh-CN" sz="2000" b="1" dirty="0">
              <a:solidFill>
                <a:srgbClr val="03010F"/>
              </a:solidFill>
              <a:cs typeface="Times New Roman" panose="02020603050405020304" pitchFamily="18" charset="0"/>
            </a:endParaRPr>
          </a:p>
          <a:p>
            <a:pPr marL="527050" lvl="3" indent="-440055">
              <a:lnSpc>
                <a:spcPct val="100000"/>
              </a:lnSpc>
            </a:pPr>
            <a:r>
              <a:rPr lang="en-US" altLang="zh-CN" sz="2000" b="1" dirty="0">
                <a:solidFill>
                  <a:srgbClr val="03010F"/>
                </a:solidFill>
                <a:cs typeface="Times New Roman" panose="02020603050405020304" pitchFamily="18" charset="0"/>
              </a:rPr>
              <a:t>{ lab2=</a:t>
            </a:r>
            <a:r>
              <a:rPr lang="en-US" altLang="zh-CN" sz="2000" b="1" dirty="0" err="1">
                <a:solidFill>
                  <a:srgbClr val="03010F"/>
                </a:solidFill>
                <a:cs typeface="Times New Roman" panose="02020603050405020304" pitchFamily="18" charset="0"/>
              </a:rPr>
              <a:t>genLabel</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marL="527050" lvl="3" indent="-440055">
              <a:lnSpc>
                <a:spcPct val="100000"/>
              </a:lnSpc>
            </a:pPr>
            <a:r>
              <a:rPr lang="en-US" altLang="zh-CN" sz="2000" b="1" dirty="0">
                <a:solidFill>
                  <a:srgbClr val="03010F"/>
                </a:solidFill>
                <a:cs typeface="Times New Roman" panose="02020603050405020304" pitchFamily="18" charset="0"/>
              </a:rPr>
              <a:t>  </a:t>
            </a: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goto</a:t>
            </a:r>
            <a:r>
              <a:rPr lang="en-US" altLang="zh-CN" sz="2000" b="1" dirty="0">
                <a:solidFill>
                  <a:srgbClr val="03010F"/>
                </a:solidFill>
                <a:cs typeface="Times New Roman" panose="02020603050405020304" pitchFamily="18" charset="0"/>
              </a:rPr>
              <a:t>” lab2);</a:t>
            </a:r>
            <a:endParaRPr lang="en-US" altLang="zh-CN" sz="2000" b="1" dirty="0">
              <a:solidFill>
                <a:srgbClr val="03010F"/>
              </a:solidFill>
              <a:cs typeface="Times New Roman" panose="02020603050405020304" pitchFamily="18" charset="0"/>
            </a:endParaRPr>
          </a:p>
          <a:p>
            <a:pPr marL="527050" lvl="3" indent="-440055">
              <a:lnSpc>
                <a:spcPct val="100000"/>
              </a:lnSpc>
            </a:pPr>
            <a:r>
              <a:rPr lang="en-US" altLang="zh-CN" sz="2000" b="1" dirty="0">
                <a:solidFill>
                  <a:srgbClr val="03010F"/>
                </a:solidFill>
                <a:cs typeface="Times New Roman" panose="02020603050405020304" pitchFamily="18" charset="0"/>
              </a:rPr>
              <a:t>} </a:t>
            </a:r>
            <a:endParaRPr lang="en-US" altLang="zh-CN" sz="2000" b="1" dirty="0">
              <a:solidFill>
                <a:srgbClr val="03010F"/>
              </a:solidFill>
              <a:cs typeface="Times New Roman" panose="02020603050405020304" pitchFamily="18" charset="0"/>
            </a:endParaRPr>
          </a:p>
          <a:p>
            <a:pPr marL="527050" lvl="2" indent="-440055">
              <a:lnSpc>
                <a:spcPct val="100000"/>
              </a:lnSpc>
            </a:pP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(“label” lab1); </a:t>
            </a:r>
            <a:endParaRPr lang="en-US" altLang="zh-CN" sz="2000" b="1" dirty="0">
              <a:solidFill>
                <a:srgbClr val="03010F"/>
              </a:solidFill>
              <a:cs typeface="Times New Roman" panose="02020603050405020304" pitchFamily="18" charset="0"/>
            </a:endParaRPr>
          </a:p>
          <a:p>
            <a:pPr marL="527050" lvl="2" indent="-440055">
              <a:lnSpc>
                <a:spcPct val="100000"/>
              </a:lnSpc>
            </a:pPr>
            <a:r>
              <a:rPr lang="en-US" altLang="zh-CN" sz="2000" b="1" dirty="0">
                <a:solidFill>
                  <a:srgbClr val="03010F"/>
                </a:solidFill>
                <a:cs typeface="Times New Roman" panose="02020603050405020304" pitchFamily="18" charset="0"/>
              </a:rPr>
              <a:t>if(t-&gt;child[2]!=NULL)</a:t>
            </a:r>
            <a:endParaRPr lang="en-US" altLang="zh-CN" sz="2000" b="1" dirty="0">
              <a:solidFill>
                <a:srgbClr val="03010F"/>
              </a:solidFill>
              <a:cs typeface="Times New Roman" panose="02020603050405020304" pitchFamily="18" charset="0"/>
            </a:endParaRPr>
          </a:p>
          <a:p>
            <a:pPr marL="527050" lvl="3" indent="-440055">
              <a:lnSpc>
                <a:spcPct val="100000"/>
              </a:lnSpc>
            </a:pPr>
            <a:r>
              <a:rPr lang="en-US" altLang="zh-CN" sz="2000" b="1" dirty="0">
                <a:solidFill>
                  <a:srgbClr val="03010F"/>
                </a:solidFill>
                <a:cs typeface="Times New Roman" panose="02020603050405020304" pitchFamily="18" charset="0"/>
              </a:rPr>
              <a:t>{ </a:t>
            </a:r>
            <a:r>
              <a:rPr lang="en-US" altLang="zh-CN" sz="2000" b="1" dirty="0" err="1">
                <a:solidFill>
                  <a:srgbClr val="E9137E"/>
                </a:solidFill>
                <a:cs typeface="Times New Roman" panose="02020603050405020304" pitchFamily="18" charset="0"/>
              </a:rPr>
              <a:t>genCode</a:t>
            </a:r>
            <a:r>
              <a:rPr lang="en-US" altLang="zh-CN" sz="2000" b="1" dirty="0">
                <a:solidFill>
                  <a:srgbClr val="E9137E"/>
                </a:solidFill>
                <a:cs typeface="Times New Roman" panose="02020603050405020304" pitchFamily="18" charset="0"/>
              </a:rPr>
              <a:t>(t-&gt;child[2],label);</a:t>
            </a:r>
            <a:endParaRPr lang="en-US" altLang="zh-CN" sz="2000" b="1" dirty="0">
              <a:solidFill>
                <a:srgbClr val="E9137E"/>
              </a:solidFill>
              <a:cs typeface="Times New Roman" panose="02020603050405020304" pitchFamily="18" charset="0"/>
            </a:endParaRPr>
          </a:p>
          <a:p>
            <a:pPr marL="527050" lvl="3" indent="-440055">
              <a:lnSpc>
                <a:spcPct val="100000"/>
              </a:lnSpc>
            </a:pPr>
            <a:r>
              <a:rPr lang="en-US" altLang="zh-CN" sz="2000" b="1" dirty="0">
                <a:solidFill>
                  <a:srgbClr val="03010F"/>
                </a:solidFill>
                <a:cs typeface="Times New Roman" panose="02020603050405020304" pitchFamily="18" charset="0"/>
              </a:rPr>
              <a:t>  </a:t>
            </a: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(“label” lab2);</a:t>
            </a:r>
            <a:endParaRPr lang="en-US" altLang="zh-CN" sz="2000" b="1" dirty="0">
              <a:solidFill>
                <a:srgbClr val="03010F"/>
              </a:solidFill>
              <a:cs typeface="Times New Roman" panose="02020603050405020304" pitchFamily="18" charset="0"/>
            </a:endParaRPr>
          </a:p>
          <a:p>
            <a:pPr marL="527050" lvl="3" indent="-440055">
              <a:lnSpc>
                <a:spcPct val="100000"/>
              </a:lnSpc>
            </a:pPr>
            <a:r>
              <a:rPr lang="en-US" altLang="zh-CN" sz="2000" b="1" dirty="0">
                <a:solidFill>
                  <a:srgbClr val="03010F"/>
                </a:solidFill>
                <a:cs typeface="Times New Roman" panose="02020603050405020304" pitchFamily="18" charset="0"/>
              </a:rPr>
              <a:t>} </a:t>
            </a:r>
            <a:endParaRPr lang="en-US" altLang="zh-CN" sz="2000" b="1" dirty="0">
              <a:solidFill>
                <a:srgbClr val="03010F"/>
              </a:solidFill>
              <a:cs typeface="Times New Roman" panose="02020603050405020304" pitchFamily="18" charset="0"/>
            </a:endParaRPr>
          </a:p>
          <a:p>
            <a:pPr marL="527050" lvl="2" indent="-440055">
              <a:lnSpc>
                <a:spcPct val="100000"/>
              </a:lnSpc>
            </a:pPr>
            <a:r>
              <a:rPr lang="en-US" altLang="zh-CN" sz="2000" b="1" dirty="0">
                <a:solidFill>
                  <a:srgbClr val="03010F"/>
                </a:solidFill>
                <a:cs typeface="Times New Roman" panose="02020603050405020304" pitchFamily="18" charset="0"/>
              </a:rPr>
              <a:t>break; </a:t>
            </a:r>
            <a:r>
              <a:rPr lang="en-US" altLang="zh-CN" sz="2000" b="1" dirty="0">
                <a:solidFill>
                  <a:srgbClr val="03010F"/>
                </a:solidFill>
                <a:latin typeface="Courier New" panose="02070309020205020404" pitchFamily="49" charset="0"/>
                <a:cs typeface="Courier New" panose="02070309020205020404" pitchFamily="49" charset="0"/>
              </a:rPr>
              <a:t>  </a:t>
            </a:r>
            <a:endParaRPr lang="en-US" altLang="zh-CN" sz="2000" b="1" dirty="0">
              <a:solidFill>
                <a:srgbClr val="03010F"/>
              </a:solidFill>
              <a:latin typeface="Courier New" panose="02070309020205020404" pitchFamily="49" charset="0"/>
              <a:cs typeface="Courier New" panose="02070309020205020404" pitchFamily="49" charset="0"/>
            </a:endParaRPr>
          </a:p>
        </p:txBody>
      </p:sp>
      <p:sp useBgFill="1">
        <p:nvSpPr>
          <p:cNvPr id="9" name="AutoShape 4"/>
          <p:cNvSpPr>
            <a:spLocks noChangeArrowheads="1"/>
          </p:cNvSpPr>
          <p:nvPr/>
        </p:nvSpPr>
        <p:spPr bwMode="auto">
          <a:xfrm>
            <a:off x="9309735" y="3137853"/>
            <a:ext cx="3034029" cy="1148820"/>
          </a:xfrm>
          <a:prstGeom prst="cloudCallout">
            <a:avLst>
              <a:gd name="adj1" fmla="val -136762"/>
              <a:gd name="adj2" fmla="val -109105"/>
            </a:avLst>
          </a:prstGeom>
          <a:ln w="28575">
            <a:solidFill>
              <a:schemeClr val="bg1">
                <a:lumMod val="65000"/>
              </a:schemeClr>
            </a:solidFill>
            <a:miter lim="800000"/>
          </a:ln>
        </p:spPr>
        <p:txBody>
          <a:bodyPr lIns="90000" tIns="46800" rIns="90000" bIns="46800"/>
          <a:lstStyle/>
          <a:p>
            <a:pPr algn="ctr"/>
            <a:r>
              <a:rPr lang="zh-CN" altLang="en-US" sz="2000" b="1" dirty="0">
                <a:solidFill>
                  <a:schemeClr val="accent1"/>
                </a:solidFill>
                <a:latin typeface="+mn-ea"/>
              </a:rPr>
              <a:t>无参过程返回标号名（</a:t>
            </a:r>
            <a:r>
              <a:rPr lang="en-US" altLang="zh-CN" sz="2000" b="1" dirty="0">
                <a:solidFill>
                  <a:schemeClr val="accent1"/>
                </a:solidFill>
                <a:latin typeface="+mn-ea"/>
              </a:rPr>
              <a:t>L1,L2,…）</a:t>
            </a:r>
            <a:endParaRPr lang="en-US" altLang="zh-CN" sz="2000" b="1" dirty="0">
              <a:solidFill>
                <a:schemeClr val="accent1"/>
              </a:solidFill>
              <a:latin typeface="+mn-ea"/>
            </a:endParaRPr>
          </a:p>
        </p:txBody>
      </p:sp>
      <p:grpSp>
        <p:nvGrpSpPr>
          <p:cNvPr id="2" name="组合 1"/>
          <p:cNvGrpSpPr/>
          <p:nvPr/>
        </p:nvGrpSpPr>
        <p:grpSpPr>
          <a:xfrm>
            <a:off x="552697" y="1792861"/>
            <a:ext cx="3437352" cy="2900083"/>
            <a:chOff x="2484157" y="2302903"/>
            <a:chExt cx="3437352" cy="2900083"/>
          </a:xfrm>
        </p:grpSpPr>
        <p:grpSp>
          <p:nvGrpSpPr>
            <p:cNvPr id="6" name="组合 23"/>
            <p:cNvGrpSpPr/>
            <p:nvPr/>
          </p:nvGrpSpPr>
          <p:grpSpPr bwMode="auto">
            <a:xfrm>
              <a:off x="2712757" y="2302903"/>
              <a:ext cx="1430215" cy="1223681"/>
              <a:chOff x="2784475" y="1989138"/>
              <a:chExt cx="1429954" cy="1223623"/>
            </a:xfrm>
          </p:grpSpPr>
          <p:sp>
            <p:nvSpPr>
              <p:cNvPr id="3" name="Rectangle 9"/>
              <p:cNvSpPr>
                <a:spLocks noChangeArrowheads="1"/>
              </p:cNvSpPr>
              <p:nvPr>
                <p:custDataLst>
                  <p:tags r:id="rId1"/>
                </p:custDataLst>
              </p:nvPr>
            </p:nvSpPr>
            <p:spPr bwMode="auto">
              <a:xfrm>
                <a:off x="3851275" y="1989138"/>
                <a:ext cx="363154"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if</a:t>
                </a:r>
                <a:endParaRPr lang="en-US" altLang="zh-CN" sz="2400" b="1">
                  <a:solidFill>
                    <a:srgbClr val="070709"/>
                  </a:solidFill>
                  <a:latin typeface="+mn-ea"/>
                </a:endParaRPr>
              </a:p>
            </p:txBody>
          </p:sp>
          <p:sp>
            <p:nvSpPr>
              <p:cNvPr id="4" name="Line 10"/>
              <p:cNvSpPr>
                <a:spLocks noChangeShapeType="1"/>
              </p:cNvSpPr>
              <p:nvPr>
                <p:custDataLst>
                  <p:tags r:id="rId2"/>
                </p:custDataLst>
              </p:nvPr>
            </p:nvSpPr>
            <p:spPr bwMode="auto">
              <a:xfrm flipH="1">
                <a:off x="3165475" y="2349500"/>
                <a:ext cx="838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5" name="Line 11"/>
              <p:cNvSpPr>
                <a:spLocks noChangeShapeType="1"/>
              </p:cNvSpPr>
              <p:nvPr>
                <p:custDataLst>
                  <p:tags r:id="rId3"/>
                </p:custDataLst>
              </p:nvPr>
            </p:nvSpPr>
            <p:spPr bwMode="auto">
              <a:xfrm>
                <a:off x="4079875" y="2349500"/>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2" name="Rectangle 12"/>
              <p:cNvSpPr>
                <a:spLocks noChangeArrowheads="1"/>
              </p:cNvSpPr>
              <p:nvPr>
                <p:custDataLst>
                  <p:tags r:id="rId4"/>
                </p:custDataLst>
              </p:nvPr>
            </p:nvSpPr>
            <p:spPr bwMode="auto">
              <a:xfrm>
                <a:off x="2784475" y="2751138"/>
                <a:ext cx="739226"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true</a:t>
                </a:r>
                <a:endParaRPr lang="zh-CN" altLang="en-US" sz="2400" b="1">
                  <a:solidFill>
                    <a:srgbClr val="070709"/>
                  </a:solidFill>
                  <a:latin typeface="+mn-ea"/>
                </a:endParaRPr>
              </a:p>
            </p:txBody>
          </p:sp>
        </p:grpSp>
        <p:grpSp>
          <p:nvGrpSpPr>
            <p:cNvPr id="13" name="组合 22"/>
            <p:cNvGrpSpPr/>
            <p:nvPr/>
          </p:nvGrpSpPr>
          <p:grpSpPr bwMode="auto">
            <a:xfrm>
              <a:off x="2788959" y="3064903"/>
              <a:ext cx="1745273" cy="1147480"/>
              <a:chOff x="2860675" y="2751138"/>
              <a:chExt cx="1745986" cy="1147422"/>
            </a:xfrm>
          </p:grpSpPr>
          <p:sp>
            <p:nvSpPr>
              <p:cNvPr id="14" name="Line 4"/>
              <p:cNvSpPr>
                <a:spLocks noChangeShapeType="1"/>
              </p:cNvSpPr>
              <p:nvPr>
                <p:custDataLst>
                  <p:tags r:id="rId5"/>
                </p:custDataLst>
              </p:nvPr>
            </p:nvSpPr>
            <p:spPr bwMode="auto">
              <a:xfrm flipH="1">
                <a:off x="3394075" y="3187700"/>
                <a:ext cx="457200" cy="3048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6" name="Line 13"/>
              <p:cNvSpPr>
                <a:spLocks noChangeShapeType="1"/>
              </p:cNvSpPr>
              <p:nvPr>
                <p:custDataLst>
                  <p:tags r:id="rId6"/>
                </p:custDataLst>
              </p:nvPr>
            </p:nvSpPr>
            <p:spPr bwMode="auto">
              <a:xfrm>
                <a:off x="4079875" y="3111500"/>
                <a:ext cx="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7" name="Rectangle 14"/>
              <p:cNvSpPr>
                <a:spLocks noChangeArrowheads="1"/>
              </p:cNvSpPr>
              <p:nvPr>
                <p:custDataLst>
                  <p:tags r:id="rId7"/>
                </p:custDataLst>
              </p:nvPr>
            </p:nvSpPr>
            <p:spPr bwMode="auto">
              <a:xfrm>
                <a:off x="3698875" y="2751138"/>
                <a:ext cx="907786" cy="46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while</a:t>
                </a:r>
                <a:endParaRPr lang="zh-CN" altLang="en-US" sz="2400" b="1">
                  <a:solidFill>
                    <a:srgbClr val="070709"/>
                  </a:solidFill>
                  <a:latin typeface="+mn-ea"/>
                </a:endParaRPr>
              </a:p>
            </p:txBody>
          </p:sp>
          <p:sp>
            <p:nvSpPr>
              <p:cNvPr id="18" name="Rectangle 16"/>
              <p:cNvSpPr>
                <a:spLocks noChangeArrowheads="1"/>
              </p:cNvSpPr>
              <p:nvPr>
                <p:custDataLst>
                  <p:tags r:id="rId8"/>
                </p:custDataLst>
              </p:nvPr>
            </p:nvSpPr>
            <p:spPr bwMode="auto">
              <a:xfrm>
                <a:off x="2860675" y="3436938"/>
                <a:ext cx="737705" cy="46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true</a:t>
                </a:r>
                <a:endParaRPr lang="zh-CN" altLang="en-US" sz="2400" b="1">
                  <a:solidFill>
                    <a:srgbClr val="070709"/>
                  </a:solidFill>
                  <a:latin typeface="+mn-ea"/>
                </a:endParaRPr>
              </a:p>
            </p:txBody>
          </p:sp>
        </p:grpSp>
        <p:grpSp>
          <p:nvGrpSpPr>
            <p:cNvPr id="19" name="组合 21"/>
            <p:cNvGrpSpPr/>
            <p:nvPr/>
          </p:nvGrpSpPr>
          <p:grpSpPr bwMode="auto">
            <a:xfrm>
              <a:off x="2484157" y="3826902"/>
              <a:ext cx="3437352" cy="1376084"/>
              <a:chOff x="2555875" y="3513138"/>
              <a:chExt cx="3438087" cy="1376026"/>
            </a:xfrm>
          </p:grpSpPr>
          <p:sp>
            <p:nvSpPr>
              <p:cNvPr id="20" name="Line 3"/>
              <p:cNvSpPr>
                <a:spLocks noChangeShapeType="1"/>
              </p:cNvSpPr>
              <p:nvPr>
                <p:custDataLst>
                  <p:tags r:id="rId9"/>
                </p:custDataLst>
              </p:nvPr>
            </p:nvSpPr>
            <p:spPr bwMode="auto">
              <a:xfrm flipH="1">
                <a:off x="4079875" y="3949700"/>
                <a:ext cx="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1" name="Line 5"/>
              <p:cNvSpPr>
                <a:spLocks noChangeShapeType="1"/>
              </p:cNvSpPr>
              <p:nvPr>
                <p:custDataLst>
                  <p:tags r:id="rId10"/>
                </p:custDataLst>
              </p:nvPr>
            </p:nvSpPr>
            <p:spPr bwMode="auto">
              <a:xfrm>
                <a:off x="4308475" y="3949700"/>
                <a:ext cx="1066800" cy="457200"/>
              </a:xfrm>
              <a:prstGeom prst="line">
                <a:avLst/>
              </a:prstGeom>
              <a:noFill/>
              <a:ln w="9525">
                <a:solidFill>
                  <a:srgbClr val="070709"/>
                </a:solidFill>
                <a:round/>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2" name="Rectangle 6"/>
              <p:cNvSpPr>
                <a:spLocks noChangeArrowheads="1"/>
              </p:cNvSpPr>
              <p:nvPr>
                <p:custDataLst>
                  <p:tags r:id="rId11"/>
                </p:custDataLst>
              </p:nvPr>
            </p:nvSpPr>
            <p:spPr bwMode="auto">
              <a:xfrm>
                <a:off x="5070475" y="4427538"/>
                <a:ext cx="923487"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other</a:t>
                </a:r>
                <a:endParaRPr lang="zh-CN" altLang="en-US" sz="2400" b="1">
                  <a:solidFill>
                    <a:srgbClr val="070709"/>
                  </a:solidFill>
                  <a:latin typeface="+mn-ea"/>
                </a:endParaRPr>
              </a:p>
            </p:txBody>
          </p:sp>
          <p:sp>
            <p:nvSpPr>
              <p:cNvPr id="23" name="Rectangle 7"/>
              <p:cNvSpPr>
                <a:spLocks noChangeArrowheads="1"/>
              </p:cNvSpPr>
              <p:nvPr>
                <p:custDataLst>
                  <p:tags r:id="rId12"/>
                </p:custDataLst>
              </p:nvPr>
            </p:nvSpPr>
            <p:spPr bwMode="auto">
              <a:xfrm>
                <a:off x="3775075" y="4427538"/>
                <a:ext cx="957150"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break</a:t>
                </a:r>
                <a:endParaRPr lang="zh-CN" altLang="en-US" sz="2400" b="1">
                  <a:solidFill>
                    <a:srgbClr val="070709"/>
                  </a:solidFill>
                  <a:latin typeface="+mn-ea"/>
                </a:endParaRPr>
              </a:p>
            </p:txBody>
          </p:sp>
          <p:sp>
            <p:nvSpPr>
              <p:cNvPr id="24" name="Line 8"/>
              <p:cNvSpPr>
                <a:spLocks noChangeShapeType="1"/>
              </p:cNvSpPr>
              <p:nvPr>
                <p:custDataLst>
                  <p:tags r:id="rId13"/>
                </p:custDataLst>
              </p:nvPr>
            </p:nvSpPr>
            <p:spPr bwMode="auto">
              <a:xfrm flipH="1">
                <a:off x="3013075" y="3873500"/>
                <a:ext cx="9144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5" name="Rectangle 15"/>
              <p:cNvSpPr>
                <a:spLocks noChangeArrowheads="1"/>
              </p:cNvSpPr>
              <p:nvPr>
                <p:custDataLst>
                  <p:tags r:id="rId14"/>
                </p:custDataLst>
              </p:nvPr>
            </p:nvSpPr>
            <p:spPr bwMode="auto">
              <a:xfrm>
                <a:off x="3851275" y="3513138"/>
                <a:ext cx="363298"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if</a:t>
                </a:r>
                <a:endParaRPr lang="en-US" altLang="zh-CN" sz="2400" b="1">
                  <a:solidFill>
                    <a:srgbClr val="070709"/>
                  </a:solidFill>
                  <a:latin typeface="+mn-ea"/>
                </a:endParaRPr>
              </a:p>
            </p:txBody>
          </p:sp>
          <p:sp>
            <p:nvSpPr>
              <p:cNvPr id="26" name="Rectangle 17"/>
              <p:cNvSpPr>
                <a:spLocks noChangeArrowheads="1"/>
              </p:cNvSpPr>
              <p:nvPr>
                <p:custDataLst>
                  <p:tags r:id="rId15"/>
                </p:custDataLst>
              </p:nvPr>
            </p:nvSpPr>
            <p:spPr bwMode="auto">
              <a:xfrm>
                <a:off x="2555875" y="4427538"/>
                <a:ext cx="816149" cy="46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70709"/>
                    </a:solidFill>
                    <a:latin typeface="+mn-ea"/>
                  </a:rPr>
                  <a:t>false</a:t>
                </a:r>
                <a:endParaRPr lang="zh-CN" altLang="en-US" sz="2400" b="1">
                  <a:solidFill>
                    <a:srgbClr val="070709"/>
                  </a:solidFill>
                  <a:latin typeface="+mn-ea"/>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strips(downLeft)">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strips(downLeft)">
                                      <p:cBhvr>
                                        <p:cTn id="12" dur="500"/>
                                        <p:tgtEl>
                                          <p:spTgt spid="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8">
                                            <p:txEl>
                                              <p:pRg st="10" end="10"/>
                                            </p:txEl>
                                          </p:spTgt>
                                        </p:tgtEl>
                                        <p:attrNameLst>
                                          <p:attrName>style.visibility</p:attrName>
                                        </p:attrNameLst>
                                      </p:cBhvr>
                                      <p:to>
                                        <p:strVal val="visible"/>
                                      </p:to>
                                    </p:set>
                                    <p:animEffect transition="in" filter="strips(downLeft)">
                                      <p:cBhvr>
                                        <p:cTn id="17" dur="500"/>
                                        <p:tgtEl>
                                          <p:spTgt spid="8">
                                            <p:txEl>
                                              <p:pRg st="10" end="10"/>
                                            </p:txEl>
                                          </p:spTgt>
                                        </p:tgtEl>
                                      </p:cBhvr>
                                    </p:animEffect>
                                  </p:childTnLst>
                                </p:cTn>
                              </p:par>
                              <p:par>
                                <p:cTn id="18" presetID="18" presetClass="entr" presetSubtype="12" fill="hold" nodeType="withEffect">
                                  <p:stCondLst>
                                    <p:cond delay="0"/>
                                  </p:stCondLst>
                                  <p:childTnLst>
                                    <p:set>
                                      <p:cBhvr>
                                        <p:cTn id="19" dur="1" fill="hold">
                                          <p:stCondLst>
                                            <p:cond delay="0"/>
                                          </p:stCondLst>
                                        </p:cTn>
                                        <p:tgtEl>
                                          <p:spTgt spid="8">
                                            <p:txEl>
                                              <p:pRg st="11" end="11"/>
                                            </p:txEl>
                                          </p:spTgt>
                                        </p:tgtEl>
                                        <p:attrNameLst>
                                          <p:attrName>style.visibility</p:attrName>
                                        </p:attrNameLst>
                                      </p:cBhvr>
                                      <p:to>
                                        <p:strVal val="visible"/>
                                      </p:to>
                                    </p:set>
                                    <p:animEffect transition="in" filter="strips(downLeft)">
                                      <p:cBhvr>
                                        <p:cTn id="20" dur="500"/>
                                        <p:tgtEl>
                                          <p:spTgt spid="8">
                                            <p:txEl>
                                              <p:pRg st="11" end="11"/>
                                            </p:txEl>
                                          </p:spTgt>
                                        </p:tgtEl>
                                      </p:cBhvr>
                                    </p:animEffect>
                                  </p:childTnLst>
                                </p:cTn>
                              </p:par>
                              <p:par>
                                <p:cTn id="21" presetID="18" presetClass="entr" presetSubtype="12" fill="hold" nodeType="withEffect">
                                  <p:stCondLst>
                                    <p:cond delay="0"/>
                                  </p:stCondLst>
                                  <p:childTnLst>
                                    <p:set>
                                      <p:cBhvr>
                                        <p:cTn id="22" dur="1" fill="hold">
                                          <p:stCondLst>
                                            <p:cond delay="0"/>
                                          </p:stCondLst>
                                        </p:cTn>
                                        <p:tgtEl>
                                          <p:spTgt spid="8">
                                            <p:txEl>
                                              <p:pRg st="13" end="13"/>
                                            </p:txEl>
                                          </p:spTgt>
                                        </p:tgtEl>
                                        <p:attrNameLst>
                                          <p:attrName>style.visibility</p:attrName>
                                        </p:attrNameLst>
                                      </p:cBhvr>
                                      <p:to>
                                        <p:strVal val="visible"/>
                                      </p:to>
                                    </p:set>
                                    <p:animEffect transition="in" filter="strips(downLeft)">
                                      <p:cBhvr>
                                        <p:cTn id="23" dur="500"/>
                                        <p:tgtEl>
                                          <p:spTgt spid="8">
                                            <p:txEl>
                                              <p:pRg st="13" end="1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strips(downLeft)">
                                      <p:cBhvr>
                                        <p:cTn id="28" dur="500"/>
                                        <p:tgtEl>
                                          <p:spTgt spid="8">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nodeType="click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strips(downLeft)">
                                      <p:cBhvr>
                                        <p:cTn id="33" dur="500"/>
                                        <p:tgtEl>
                                          <p:spTgt spid="8">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42"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arn(outHorizontal)">
                                      <p:cBhvr>
                                        <p:cTn id="38"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animEffect transition="in" filter="strips(downLeft)">
                                      <p:cBhvr>
                                        <p:cTn id="43" dur="500"/>
                                        <p:tgtEl>
                                          <p:spTgt spid="8">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12" fill="hold" nodeType="clickEffect">
                                  <p:stCondLst>
                                    <p:cond delay="0"/>
                                  </p:stCondLst>
                                  <p:childTnLst>
                                    <p:set>
                                      <p:cBhvr>
                                        <p:cTn id="47" dur="1" fill="hold">
                                          <p:stCondLst>
                                            <p:cond delay="0"/>
                                          </p:stCondLst>
                                        </p:cTn>
                                        <p:tgtEl>
                                          <p:spTgt spid="8">
                                            <p:txEl>
                                              <p:pRg st="5" end="5"/>
                                            </p:txEl>
                                          </p:spTgt>
                                        </p:tgtEl>
                                        <p:attrNameLst>
                                          <p:attrName>style.visibility</p:attrName>
                                        </p:attrNameLst>
                                      </p:cBhvr>
                                      <p:to>
                                        <p:strVal val="visible"/>
                                      </p:to>
                                    </p:set>
                                    <p:animEffect transition="in" filter="strips(downLeft)">
                                      <p:cBhvr>
                                        <p:cTn id="48" dur="500"/>
                                        <p:tgtEl>
                                          <p:spTgt spid="8">
                                            <p:txEl>
                                              <p:pRg st="5" end="5"/>
                                            </p:txEl>
                                          </p:spTgt>
                                        </p:tgtEl>
                                      </p:cBhvr>
                                    </p:animEffect>
                                  </p:childTnLst>
                                </p:cTn>
                              </p:par>
                              <p:par>
                                <p:cTn id="49" presetID="18" presetClass="entr" presetSubtype="12" fill="hold" nodeType="withEffect">
                                  <p:stCondLst>
                                    <p:cond delay="0"/>
                                  </p:stCondLst>
                                  <p:childTnLst>
                                    <p:set>
                                      <p:cBhvr>
                                        <p:cTn id="50" dur="1" fill="hold">
                                          <p:stCondLst>
                                            <p:cond delay="0"/>
                                          </p:stCondLst>
                                        </p:cTn>
                                        <p:tgtEl>
                                          <p:spTgt spid="8">
                                            <p:txEl>
                                              <p:pRg st="6" end="6"/>
                                            </p:txEl>
                                          </p:spTgt>
                                        </p:tgtEl>
                                        <p:attrNameLst>
                                          <p:attrName>style.visibility</p:attrName>
                                        </p:attrNameLst>
                                      </p:cBhvr>
                                      <p:to>
                                        <p:strVal val="visible"/>
                                      </p:to>
                                    </p:set>
                                    <p:animEffect transition="in" filter="strips(downLeft)">
                                      <p:cBhvr>
                                        <p:cTn id="51" dur="500"/>
                                        <p:tgtEl>
                                          <p:spTgt spid="8">
                                            <p:txEl>
                                              <p:pRg st="6" end="6"/>
                                            </p:txEl>
                                          </p:spTgt>
                                        </p:tgtEl>
                                      </p:cBhvr>
                                    </p:animEffect>
                                  </p:childTnLst>
                                </p:cTn>
                              </p:par>
                              <p:par>
                                <p:cTn id="52" presetID="18" presetClass="entr" presetSubtype="12" fill="hold" nodeType="withEffect">
                                  <p:stCondLst>
                                    <p:cond delay="0"/>
                                  </p:stCondLst>
                                  <p:childTnLst>
                                    <p:set>
                                      <p:cBhvr>
                                        <p:cTn id="53" dur="1" fill="hold">
                                          <p:stCondLst>
                                            <p:cond delay="0"/>
                                          </p:stCondLst>
                                        </p:cTn>
                                        <p:tgtEl>
                                          <p:spTgt spid="8">
                                            <p:txEl>
                                              <p:pRg st="7" end="7"/>
                                            </p:txEl>
                                          </p:spTgt>
                                        </p:tgtEl>
                                        <p:attrNameLst>
                                          <p:attrName>style.visibility</p:attrName>
                                        </p:attrNameLst>
                                      </p:cBhvr>
                                      <p:to>
                                        <p:strVal val="visible"/>
                                      </p:to>
                                    </p:set>
                                    <p:animEffect transition="in" filter="strips(downLeft)">
                                      <p:cBhvr>
                                        <p:cTn id="54" dur="500"/>
                                        <p:tgtEl>
                                          <p:spTgt spid="8">
                                            <p:txEl>
                                              <p:pRg st="7" end="7"/>
                                            </p:txEl>
                                          </p:spTgt>
                                        </p:tgtEl>
                                      </p:cBhvr>
                                    </p:animEffect>
                                  </p:childTnLst>
                                </p:cTn>
                              </p:par>
                              <p:par>
                                <p:cTn id="55" presetID="18" presetClass="entr" presetSubtype="12" fill="hold" nodeType="withEffect">
                                  <p:stCondLst>
                                    <p:cond delay="0"/>
                                  </p:stCondLst>
                                  <p:childTnLst>
                                    <p:set>
                                      <p:cBhvr>
                                        <p:cTn id="56" dur="1" fill="hold">
                                          <p:stCondLst>
                                            <p:cond delay="0"/>
                                          </p:stCondLst>
                                        </p:cTn>
                                        <p:tgtEl>
                                          <p:spTgt spid="8">
                                            <p:txEl>
                                              <p:pRg st="8" end="8"/>
                                            </p:txEl>
                                          </p:spTgt>
                                        </p:tgtEl>
                                        <p:attrNameLst>
                                          <p:attrName>style.visibility</p:attrName>
                                        </p:attrNameLst>
                                      </p:cBhvr>
                                      <p:to>
                                        <p:strVal val="visible"/>
                                      </p:to>
                                    </p:set>
                                    <p:animEffect transition="in" filter="strips(downLeft)">
                                      <p:cBhvr>
                                        <p:cTn id="57" dur="500"/>
                                        <p:tgtEl>
                                          <p:spTgt spid="8">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nodeType="clickEffect">
                                  <p:stCondLst>
                                    <p:cond delay="0"/>
                                  </p:stCondLst>
                                  <p:childTnLst>
                                    <p:set>
                                      <p:cBhvr>
                                        <p:cTn id="61" dur="1" fill="hold">
                                          <p:stCondLst>
                                            <p:cond delay="0"/>
                                          </p:stCondLst>
                                        </p:cTn>
                                        <p:tgtEl>
                                          <p:spTgt spid="8">
                                            <p:txEl>
                                              <p:pRg st="12" end="12"/>
                                            </p:txEl>
                                          </p:spTgt>
                                        </p:tgtEl>
                                        <p:attrNameLst>
                                          <p:attrName>style.visibility</p:attrName>
                                        </p:attrNameLst>
                                      </p:cBhvr>
                                      <p:to>
                                        <p:strVal val="visible"/>
                                      </p:to>
                                    </p:set>
                                    <p:animEffect transition="in" filter="strips(downLeft)">
                                      <p:cBhvr>
                                        <p:cTn id="62"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508000" y="276860"/>
            <a:ext cx="7667625" cy="593090"/>
          </a:xfrm>
        </p:spPr>
        <p:txBody>
          <a:bodyPr/>
          <a:lstStyle/>
          <a:p>
            <a:r>
              <a:rPr lang="en-US" altLang="zh-CN" sz="2800" dirty="0"/>
              <a:t>6.4.3 if</a:t>
            </a:r>
            <a:r>
              <a:rPr lang="zh-CN" altLang="en-US" sz="2800" dirty="0"/>
              <a:t>和</a:t>
            </a:r>
            <a:r>
              <a:rPr lang="en-US" altLang="zh-CN" sz="2800" dirty="0"/>
              <a:t>while</a:t>
            </a:r>
            <a:r>
              <a:rPr lang="zh-CN" altLang="en-US" sz="2800" dirty="0"/>
              <a:t>语句的代码生成过程样例</a:t>
            </a:r>
            <a:endParaRPr lang="zh-CN" altLang="en-US" sz="2800" dirty="0"/>
          </a:p>
        </p:txBody>
      </p:sp>
      <p:sp>
        <p:nvSpPr>
          <p:cNvPr id="7" name="Rectangle 2"/>
          <p:cNvSpPr>
            <a:spLocks noChangeArrowheads="1"/>
          </p:cNvSpPr>
          <p:nvPr/>
        </p:nvSpPr>
        <p:spPr bwMode="auto">
          <a:xfrm>
            <a:off x="508000" y="1501775"/>
            <a:ext cx="6115050" cy="415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marL="381000" lvl="1" indent="635"/>
            <a:r>
              <a:rPr lang="en-US" altLang="zh-CN" sz="2400" b="1" dirty="0">
                <a:solidFill>
                  <a:srgbClr val="03010F"/>
                </a:solidFill>
                <a:cs typeface="Times New Roman" panose="02020603050405020304" pitchFamily="18" charset="0"/>
              </a:rPr>
              <a:t>case </a:t>
            </a:r>
            <a:r>
              <a:rPr lang="en-US" altLang="zh-CN" sz="2400" b="1" dirty="0" err="1">
                <a:solidFill>
                  <a:srgbClr val="03010F"/>
                </a:solidFill>
                <a:cs typeface="Times New Roman" panose="02020603050405020304" pitchFamily="18" charset="0"/>
              </a:rPr>
              <a:t>WhileKind</a:t>
            </a:r>
            <a:r>
              <a:rPr lang="en-US" altLang="zh-CN" sz="2400" b="1" dirty="0">
                <a:solidFill>
                  <a:srgbClr val="03010F"/>
                </a:solidFill>
                <a:cs typeface="Times New Roman" panose="02020603050405020304" pitchFamily="18" charset="0"/>
              </a:rPr>
              <a:t>:</a:t>
            </a:r>
            <a:endParaRPr lang="en-US" altLang="zh-CN" sz="2400" b="1" dirty="0">
              <a:solidFill>
                <a:srgbClr val="03010F"/>
              </a:solidFill>
              <a:cs typeface="Times New Roman" panose="02020603050405020304" pitchFamily="18" charset="0"/>
            </a:endParaRPr>
          </a:p>
          <a:p>
            <a:pPr marL="381000" lvl="2" indent="635"/>
            <a:r>
              <a:rPr lang="en-US" altLang="zh-CN" sz="2400" b="1" dirty="0">
                <a:solidFill>
                  <a:srgbClr val="03010F"/>
                </a:solidFill>
                <a:cs typeface="Times New Roman" panose="02020603050405020304" pitchFamily="18" charset="0"/>
              </a:rPr>
              <a:t>lab1=</a:t>
            </a:r>
            <a:r>
              <a:rPr lang="en-US" altLang="zh-CN" sz="2400" b="1" dirty="0" err="1">
                <a:solidFill>
                  <a:srgbClr val="03010F"/>
                </a:solidFill>
                <a:cs typeface="Times New Roman" panose="02020603050405020304" pitchFamily="18" charset="0"/>
              </a:rPr>
              <a:t>genLabel</a:t>
            </a:r>
            <a:r>
              <a:rPr lang="en-US" altLang="zh-CN" sz="2400" b="1" dirty="0">
                <a:solidFill>
                  <a:srgbClr val="03010F"/>
                </a:solidFill>
                <a:cs typeface="Times New Roman" panose="02020603050405020304" pitchFamily="18" charset="0"/>
              </a:rPr>
              <a:t>();</a:t>
            </a:r>
            <a:endParaRPr lang="en-US" altLang="zh-CN" sz="2400" b="1" dirty="0">
              <a:solidFill>
                <a:srgbClr val="03010F"/>
              </a:solidFill>
              <a:cs typeface="Times New Roman" panose="02020603050405020304" pitchFamily="18" charset="0"/>
            </a:endParaRPr>
          </a:p>
          <a:p>
            <a:pPr marL="381000" lvl="2" indent="635"/>
            <a:r>
              <a:rPr lang="en-US" altLang="zh-CN" sz="2400" b="1" dirty="0">
                <a:solidFill>
                  <a:schemeClr val="hlink"/>
                </a:solidFill>
                <a:cs typeface="Times New Roman" panose="02020603050405020304" pitchFamily="18" charset="0"/>
              </a:rPr>
              <a:t>emit </a:t>
            </a:r>
            <a:r>
              <a:rPr lang="en-US" altLang="zh-CN" sz="2400" b="1" dirty="0">
                <a:solidFill>
                  <a:srgbClr val="21212D"/>
                </a:solidFill>
                <a:cs typeface="Times New Roman" panose="02020603050405020304" pitchFamily="18" charset="0"/>
              </a:rPr>
              <a:t>(“label” lab1);</a:t>
            </a:r>
            <a:endParaRPr lang="en-US" altLang="zh-CN" sz="2400" b="1" dirty="0">
              <a:solidFill>
                <a:srgbClr val="21212D"/>
              </a:solidFill>
              <a:cs typeface="Times New Roman" panose="02020603050405020304" pitchFamily="18" charset="0"/>
            </a:endParaRPr>
          </a:p>
          <a:p>
            <a:pPr marL="381000" lvl="2" indent="635"/>
            <a:r>
              <a:rPr lang="en-US" altLang="zh-CN" sz="2400" b="1" dirty="0" err="1">
                <a:solidFill>
                  <a:srgbClr val="E9137E"/>
                </a:solidFill>
                <a:cs typeface="Times New Roman" panose="02020603050405020304" pitchFamily="18" charset="0"/>
              </a:rPr>
              <a:t>genCode</a:t>
            </a:r>
            <a:r>
              <a:rPr lang="en-US" altLang="zh-CN" sz="2400" b="1" dirty="0">
                <a:solidFill>
                  <a:srgbClr val="E9137E"/>
                </a:solidFill>
                <a:cs typeface="Times New Roman" panose="02020603050405020304" pitchFamily="18" charset="0"/>
              </a:rPr>
              <a:t>(t-&gt;child[0],label);</a:t>
            </a:r>
            <a:endParaRPr lang="en-US" altLang="zh-CN" sz="2400" b="1" dirty="0">
              <a:solidFill>
                <a:srgbClr val="E9137E"/>
              </a:solidFill>
              <a:cs typeface="Times New Roman" panose="02020603050405020304" pitchFamily="18" charset="0"/>
            </a:endParaRPr>
          </a:p>
          <a:p>
            <a:pPr marL="381000" lvl="2" indent="635"/>
            <a:r>
              <a:rPr lang="en-US" altLang="zh-CN" sz="2400" b="1" dirty="0">
                <a:solidFill>
                  <a:srgbClr val="03010F"/>
                </a:solidFill>
                <a:cs typeface="Times New Roman" panose="02020603050405020304" pitchFamily="18" charset="0"/>
              </a:rPr>
              <a:t>Lab2=</a:t>
            </a:r>
            <a:r>
              <a:rPr lang="en-US" altLang="zh-CN" sz="2400" b="1" dirty="0" err="1">
                <a:solidFill>
                  <a:srgbClr val="03010F"/>
                </a:solidFill>
                <a:cs typeface="Times New Roman" panose="02020603050405020304" pitchFamily="18" charset="0"/>
              </a:rPr>
              <a:t>genLabel</a:t>
            </a:r>
            <a:r>
              <a:rPr lang="en-US" altLang="zh-CN" sz="2400" b="1" dirty="0">
                <a:solidFill>
                  <a:srgbClr val="03010F"/>
                </a:solidFill>
                <a:cs typeface="Times New Roman" panose="02020603050405020304" pitchFamily="18" charset="0"/>
              </a:rPr>
              <a:t>();</a:t>
            </a:r>
            <a:endParaRPr lang="en-US" altLang="zh-CN" sz="2400" b="1" dirty="0">
              <a:solidFill>
                <a:srgbClr val="03010F"/>
              </a:solidFill>
              <a:cs typeface="Times New Roman" panose="02020603050405020304" pitchFamily="18" charset="0"/>
            </a:endParaRPr>
          </a:p>
          <a:p>
            <a:pPr marL="381000" lvl="2" indent="635"/>
            <a:r>
              <a:rPr lang="en-US" altLang="zh-CN" sz="2400" b="1" dirty="0">
                <a:solidFill>
                  <a:schemeClr val="hlink"/>
                </a:solidFill>
                <a:cs typeface="Times New Roman" panose="02020603050405020304" pitchFamily="18" charset="0"/>
              </a:rPr>
              <a:t>emit</a:t>
            </a:r>
            <a:r>
              <a:rPr lang="en-US" altLang="zh-CN" sz="2400" b="1" dirty="0">
                <a:solidFill>
                  <a:srgbClr val="03010F"/>
                </a:solidFill>
                <a:cs typeface="Times New Roman" panose="02020603050405020304" pitchFamily="18" charset="0"/>
              </a:rPr>
              <a:t>(“</a:t>
            </a:r>
            <a:r>
              <a:rPr lang="en-US" altLang="zh-CN" sz="2400" b="1" dirty="0" err="1">
                <a:solidFill>
                  <a:srgbClr val="03010F"/>
                </a:solidFill>
                <a:cs typeface="Times New Roman" panose="02020603050405020304" pitchFamily="18" charset="0"/>
              </a:rPr>
              <a:t>if_false</a:t>
            </a:r>
            <a:r>
              <a:rPr lang="en-US" altLang="zh-CN" sz="2400" b="1" dirty="0">
                <a:solidFill>
                  <a:srgbClr val="03010F"/>
                </a:solidFill>
                <a:cs typeface="Times New Roman" panose="02020603050405020304" pitchFamily="18" charset="0"/>
              </a:rPr>
              <a:t>” t-&gt;child[0]-&gt;</a:t>
            </a:r>
            <a:r>
              <a:rPr lang="en-US" altLang="zh-CN" sz="2400" b="1" dirty="0" err="1">
                <a:solidFill>
                  <a:srgbClr val="03010F"/>
                </a:solidFill>
                <a:cs typeface="Times New Roman" panose="02020603050405020304" pitchFamily="18" charset="0"/>
              </a:rPr>
              <a:t>strval</a:t>
            </a:r>
            <a:r>
              <a:rPr lang="en-US" altLang="zh-CN" sz="2400" b="1" dirty="0">
                <a:solidFill>
                  <a:srgbClr val="03010F"/>
                </a:solidFill>
                <a:cs typeface="Times New Roman" panose="02020603050405020304" pitchFamily="18" charset="0"/>
              </a:rPr>
              <a:t> “</a:t>
            </a:r>
            <a:r>
              <a:rPr lang="en-US" altLang="zh-CN" sz="2400" b="1" dirty="0" err="1">
                <a:solidFill>
                  <a:srgbClr val="03010F"/>
                </a:solidFill>
                <a:cs typeface="Times New Roman" panose="02020603050405020304" pitchFamily="18" charset="0"/>
              </a:rPr>
              <a:t>goto</a:t>
            </a:r>
            <a:r>
              <a:rPr lang="en-US" altLang="zh-CN" sz="2400" b="1" dirty="0">
                <a:solidFill>
                  <a:srgbClr val="03010F"/>
                </a:solidFill>
                <a:cs typeface="Times New Roman" panose="02020603050405020304" pitchFamily="18" charset="0"/>
              </a:rPr>
              <a:t>” lab2)</a:t>
            </a:r>
            <a:endParaRPr lang="en-US" altLang="zh-CN" sz="2400" b="1" dirty="0">
              <a:solidFill>
                <a:srgbClr val="03010F"/>
              </a:solidFill>
              <a:cs typeface="Times New Roman" panose="02020603050405020304" pitchFamily="18" charset="0"/>
            </a:endParaRPr>
          </a:p>
          <a:p>
            <a:pPr marL="381000" lvl="2" indent="635"/>
            <a:r>
              <a:rPr lang="en-US" altLang="zh-CN" sz="2400" b="1" dirty="0" err="1">
                <a:solidFill>
                  <a:srgbClr val="E9137E"/>
                </a:solidFill>
                <a:cs typeface="Times New Roman" panose="02020603050405020304" pitchFamily="18" charset="0"/>
              </a:rPr>
              <a:t>genCode</a:t>
            </a:r>
            <a:r>
              <a:rPr lang="en-US" altLang="zh-CN" sz="2400" b="1" dirty="0">
                <a:solidFill>
                  <a:srgbClr val="E9137E"/>
                </a:solidFill>
                <a:cs typeface="Times New Roman" panose="02020603050405020304" pitchFamily="18" charset="0"/>
              </a:rPr>
              <a:t>(t-&gt;child[1],lab2);</a:t>
            </a:r>
            <a:endParaRPr lang="en-US" altLang="zh-CN" sz="2400" b="1" dirty="0">
              <a:solidFill>
                <a:srgbClr val="E9137E"/>
              </a:solidFill>
              <a:cs typeface="Times New Roman" panose="02020603050405020304" pitchFamily="18" charset="0"/>
            </a:endParaRPr>
          </a:p>
          <a:p>
            <a:pPr marL="381000" lvl="2" indent="635"/>
            <a:r>
              <a:rPr lang="en-US" altLang="zh-CN" sz="2400" b="1" dirty="0">
                <a:solidFill>
                  <a:schemeClr val="hlink"/>
                </a:solidFill>
                <a:cs typeface="Times New Roman" panose="02020603050405020304" pitchFamily="18" charset="0"/>
              </a:rPr>
              <a:t>emit</a:t>
            </a:r>
            <a:r>
              <a:rPr lang="en-US" altLang="zh-CN" sz="2400" b="1" dirty="0">
                <a:solidFill>
                  <a:srgbClr val="03010F"/>
                </a:solidFill>
                <a:cs typeface="Times New Roman" panose="02020603050405020304" pitchFamily="18" charset="0"/>
              </a:rPr>
              <a:t>(“</a:t>
            </a:r>
            <a:r>
              <a:rPr lang="en-US" altLang="zh-CN" sz="2400" b="1" dirty="0" err="1">
                <a:solidFill>
                  <a:srgbClr val="03010F"/>
                </a:solidFill>
                <a:cs typeface="Times New Roman" panose="02020603050405020304" pitchFamily="18" charset="0"/>
              </a:rPr>
              <a:t>goto</a:t>
            </a:r>
            <a:r>
              <a:rPr lang="en-US" altLang="zh-CN" sz="2400" b="1" dirty="0">
                <a:solidFill>
                  <a:srgbClr val="03010F"/>
                </a:solidFill>
                <a:cs typeface="Times New Roman" panose="02020603050405020304" pitchFamily="18" charset="0"/>
              </a:rPr>
              <a:t>” lab1);</a:t>
            </a:r>
            <a:endParaRPr lang="en-US" altLang="zh-CN" sz="2400" b="1" dirty="0">
              <a:solidFill>
                <a:srgbClr val="03010F"/>
              </a:solidFill>
              <a:cs typeface="Times New Roman" panose="02020603050405020304" pitchFamily="18" charset="0"/>
            </a:endParaRPr>
          </a:p>
          <a:p>
            <a:pPr marL="381000" lvl="2" indent="635"/>
            <a:r>
              <a:rPr lang="en-US" altLang="zh-CN" sz="2400" b="1" dirty="0">
                <a:solidFill>
                  <a:schemeClr val="hlink"/>
                </a:solidFill>
                <a:cs typeface="Times New Roman" panose="02020603050405020304" pitchFamily="18" charset="0"/>
              </a:rPr>
              <a:t>emit</a:t>
            </a:r>
            <a:r>
              <a:rPr lang="en-US" altLang="zh-CN" sz="2400" b="1" dirty="0">
                <a:solidFill>
                  <a:srgbClr val="03010F"/>
                </a:solidFill>
                <a:cs typeface="Times New Roman" panose="02020603050405020304" pitchFamily="18" charset="0"/>
              </a:rPr>
              <a:t>(“label” lab2);</a:t>
            </a:r>
            <a:endParaRPr lang="en-US" altLang="zh-CN" sz="2400" b="1" dirty="0">
              <a:solidFill>
                <a:srgbClr val="03010F"/>
              </a:solidFill>
              <a:cs typeface="Times New Roman" panose="02020603050405020304" pitchFamily="18" charset="0"/>
            </a:endParaRPr>
          </a:p>
          <a:p>
            <a:pPr marL="381000" lvl="2" indent="635"/>
            <a:r>
              <a:rPr lang="en-US" altLang="zh-CN" sz="2400" b="1" dirty="0">
                <a:solidFill>
                  <a:srgbClr val="03010F"/>
                </a:solidFill>
                <a:cs typeface="Times New Roman" panose="02020603050405020304" pitchFamily="18" charset="0"/>
              </a:rPr>
              <a:t>break;</a:t>
            </a:r>
            <a:endParaRPr lang="en-US" altLang="zh-CN" sz="2400" b="1" dirty="0">
              <a:solidFill>
                <a:srgbClr val="03010F"/>
              </a:solidFill>
              <a:cs typeface="Times New Roman" panose="02020603050405020304" pitchFamily="18" charset="0"/>
            </a:endParaRPr>
          </a:p>
        </p:txBody>
      </p:sp>
      <p:sp>
        <p:nvSpPr>
          <p:cNvPr id="13" name="AutoShape 6"/>
          <p:cNvSpPr>
            <a:spLocks noChangeArrowheads="1"/>
          </p:cNvSpPr>
          <p:nvPr/>
        </p:nvSpPr>
        <p:spPr bwMode="auto">
          <a:xfrm>
            <a:off x="3362220" y="5211603"/>
            <a:ext cx="2447084" cy="863600"/>
          </a:xfrm>
          <a:prstGeom prst="cloudCallout">
            <a:avLst>
              <a:gd name="adj1" fmla="val 45912"/>
              <a:gd name="adj2" fmla="val -209283"/>
            </a:avLst>
          </a:prstGeom>
          <a:noFill/>
          <a:ln w="28575">
            <a:solidFill>
              <a:schemeClr val="bg1">
                <a:lumMod val="65000"/>
              </a:schemeClr>
            </a:solidFill>
            <a:miter lim="800000"/>
          </a:ln>
          <a:extLst>
            <a:ext uri="{909E8E84-426E-40DD-AFC4-6F175D3DCCD1}">
              <a14:hiddenFill xmlns:a14="http://schemas.microsoft.com/office/drawing/2010/main">
                <a:solidFill>
                  <a:srgbClr val="FFFFFF"/>
                </a:solidFill>
              </a14:hiddenFill>
            </a:ext>
          </a:extLst>
        </p:spPr>
        <p:txBody>
          <a:bodyPr/>
          <a:lstStyle/>
          <a:p>
            <a:pPr algn="ctr">
              <a:lnSpc>
                <a:spcPct val="75000"/>
              </a:lnSpc>
              <a:spcBef>
                <a:spcPct val="20000"/>
              </a:spcBef>
              <a:buClr>
                <a:schemeClr val="accent2"/>
              </a:buClr>
              <a:buFont typeface="Wingdings" panose="05000000000000000000" pitchFamily="2" charset="2"/>
              <a:buNone/>
            </a:pPr>
            <a:r>
              <a:rPr lang="en-US" altLang="zh-CN" sz="2000" b="1" dirty="0">
                <a:latin typeface="+mn-ea"/>
              </a:rPr>
              <a:t>Lab2 </a:t>
            </a:r>
            <a:r>
              <a:rPr lang="zh-CN" altLang="en-US" sz="2000" b="1" dirty="0">
                <a:latin typeface="+mn-ea"/>
              </a:rPr>
              <a:t>传递给</a:t>
            </a:r>
            <a:r>
              <a:rPr lang="en-US" altLang="zh-CN" sz="2000" b="1" dirty="0">
                <a:latin typeface="+mn-ea"/>
              </a:rPr>
              <a:t>break</a:t>
            </a:r>
            <a:r>
              <a:rPr lang="zh-CN" altLang="en-US" sz="2000" b="1" dirty="0">
                <a:latin typeface="+mn-ea"/>
              </a:rPr>
              <a:t>语句</a:t>
            </a:r>
            <a:endParaRPr lang="zh-CN" altLang="en-US" sz="2000" b="1" dirty="0">
              <a:latin typeface="+mn-ea"/>
            </a:endParaRPr>
          </a:p>
        </p:txBody>
      </p:sp>
      <p:sp>
        <p:nvSpPr>
          <p:cNvPr id="2" name="Rectangle 2"/>
          <p:cNvSpPr>
            <a:spLocks noChangeArrowheads="1"/>
          </p:cNvSpPr>
          <p:nvPr>
            <p:custDataLst>
              <p:tags r:id="rId1"/>
            </p:custDataLst>
          </p:nvPr>
        </p:nvSpPr>
        <p:spPr bwMode="auto">
          <a:xfrm>
            <a:off x="7609205" y="1372870"/>
            <a:ext cx="409067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a:solidFill>
                  <a:srgbClr val="03010F"/>
                </a:solidFill>
                <a:latin typeface="Times New Roman" panose="02020603050405020304" pitchFamily="18" charset="0"/>
                <a:cs typeface="Times New Roman" panose="02020603050405020304" pitchFamily="18" charset="0"/>
              </a:rPr>
              <a:t>  case BreakKind: </a:t>
            </a:r>
            <a:endParaRPr lang="en-US" altLang="zh-CN" sz="2400" b="1">
              <a:solidFill>
                <a:srgbClr val="03010F"/>
              </a:solidFill>
              <a:latin typeface="Times New Roman" panose="02020603050405020304" pitchFamily="18" charset="0"/>
              <a:cs typeface="Times New Roman" panose="02020603050405020304" pitchFamily="18" charset="0"/>
            </a:endParaRPr>
          </a:p>
          <a:p>
            <a:r>
              <a:rPr lang="zh-CN" altLang="en-US" sz="2400" b="1">
                <a:solidFill>
                  <a:srgbClr val="03010F"/>
                </a:solidFill>
                <a:latin typeface="Times New Roman" panose="02020603050405020304" pitchFamily="18" charset="0"/>
                <a:cs typeface="Times New Roman" panose="02020603050405020304" pitchFamily="18" charset="0"/>
              </a:rPr>
              <a:t>     </a:t>
            </a:r>
            <a:r>
              <a:rPr lang="en-US" altLang="zh-CN" sz="2400" b="1">
                <a:solidFill>
                  <a:schemeClr val="hlink"/>
                </a:solidFill>
                <a:latin typeface="Times New Roman" panose="02020603050405020304" pitchFamily="18" charset="0"/>
                <a:cs typeface="Times New Roman" panose="02020603050405020304" pitchFamily="18" charset="0"/>
              </a:rPr>
              <a:t>emit</a:t>
            </a:r>
            <a:r>
              <a:rPr lang="en-US" altLang="zh-CN" sz="2400" b="1">
                <a:solidFill>
                  <a:srgbClr val="03010F"/>
                </a:solidFill>
                <a:latin typeface="Times New Roman" panose="02020603050405020304" pitchFamily="18" charset="0"/>
                <a:cs typeface="Times New Roman" panose="02020603050405020304" pitchFamily="18" charset="0"/>
              </a:rPr>
              <a:t>(“goto” label);</a:t>
            </a:r>
            <a:endParaRPr lang="en-US" altLang="zh-CN" sz="2400" b="1">
              <a:solidFill>
                <a:srgbClr val="03010F"/>
              </a:solidFill>
              <a:latin typeface="Times New Roman" panose="02020603050405020304" pitchFamily="18" charset="0"/>
              <a:cs typeface="Times New Roman" panose="02020603050405020304" pitchFamily="18" charset="0"/>
            </a:endParaRPr>
          </a:p>
          <a:p>
            <a:r>
              <a:rPr lang="zh-CN" altLang="en-US" sz="2400" b="1">
                <a:solidFill>
                  <a:srgbClr val="03010F"/>
                </a:solidFill>
                <a:latin typeface="Times New Roman" panose="02020603050405020304" pitchFamily="18" charset="0"/>
                <a:cs typeface="Times New Roman" panose="02020603050405020304" pitchFamily="18" charset="0"/>
              </a:rPr>
              <a:t>     </a:t>
            </a:r>
            <a:r>
              <a:rPr lang="en-US" altLang="zh-CN" sz="2400" b="1">
                <a:solidFill>
                  <a:srgbClr val="03010F"/>
                </a:solidFill>
                <a:latin typeface="Times New Roman" panose="02020603050405020304" pitchFamily="18" charset="0"/>
                <a:cs typeface="Times New Roman" panose="02020603050405020304" pitchFamily="18" charset="0"/>
              </a:rPr>
              <a:t>break;</a:t>
            </a:r>
            <a:endParaRPr lang="en-US" altLang="zh-CN" sz="2400" b="1">
              <a:solidFill>
                <a:srgbClr val="03010F"/>
              </a:solidFill>
              <a:latin typeface="Times New Roman" panose="02020603050405020304" pitchFamily="18" charset="0"/>
              <a:cs typeface="Times New Roman" panose="02020603050405020304" pitchFamily="18" charset="0"/>
            </a:endParaRPr>
          </a:p>
        </p:txBody>
      </p:sp>
      <p:sp>
        <p:nvSpPr>
          <p:cNvPr id="9" name="Rectangle 3"/>
          <p:cNvSpPr>
            <a:spLocks noChangeArrowheads="1"/>
          </p:cNvSpPr>
          <p:nvPr>
            <p:custDataLst>
              <p:tags r:id="rId2"/>
            </p:custDataLst>
          </p:nvPr>
        </p:nvSpPr>
        <p:spPr bwMode="auto">
          <a:xfrm>
            <a:off x="7609205" y="2515870"/>
            <a:ext cx="352361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a:solidFill>
                  <a:srgbClr val="03010F"/>
                </a:solidFill>
                <a:latin typeface="Times New Roman" panose="02020603050405020304" pitchFamily="18" charset="0"/>
                <a:cs typeface="Times New Roman" panose="02020603050405020304" pitchFamily="18" charset="0"/>
              </a:rPr>
              <a:t>  case OtherKind: </a:t>
            </a:r>
            <a:endParaRPr lang="en-US" altLang="zh-CN" sz="2400" b="1">
              <a:solidFill>
                <a:srgbClr val="03010F"/>
              </a:solidFill>
              <a:latin typeface="Times New Roman" panose="02020603050405020304" pitchFamily="18" charset="0"/>
              <a:cs typeface="Times New Roman" panose="02020603050405020304" pitchFamily="18" charset="0"/>
            </a:endParaRPr>
          </a:p>
          <a:p>
            <a:r>
              <a:rPr lang="zh-CN" altLang="en-US" sz="2400" b="1">
                <a:solidFill>
                  <a:srgbClr val="03010F"/>
                </a:solidFill>
                <a:latin typeface="Times New Roman" panose="02020603050405020304" pitchFamily="18" charset="0"/>
                <a:cs typeface="Times New Roman" panose="02020603050405020304" pitchFamily="18" charset="0"/>
              </a:rPr>
              <a:t>     </a:t>
            </a:r>
            <a:r>
              <a:rPr lang="en-US" altLang="zh-CN" sz="2400" b="1">
                <a:solidFill>
                  <a:schemeClr val="hlink"/>
                </a:solidFill>
                <a:latin typeface="Times New Roman" panose="02020603050405020304" pitchFamily="18" charset="0"/>
                <a:cs typeface="Times New Roman" panose="02020603050405020304" pitchFamily="18" charset="0"/>
              </a:rPr>
              <a:t>emit</a:t>
            </a:r>
            <a:r>
              <a:rPr lang="en-US" altLang="zh-CN" sz="2400" b="1">
                <a:solidFill>
                  <a:srgbClr val="03010F"/>
                </a:solidFill>
                <a:latin typeface="Times New Roman" panose="02020603050405020304" pitchFamily="18" charset="0"/>
                <a:cs typeface="Times New Roman" panose="02020603050405020304" pitchFamily="18" charset="0"/>
              </a:rPr>
              <a:t>(“Other”);</a:t>
            </a:r>
            <a:endParaRPr lang="en-US" altLang="zh-CN" sz="2400" b="1">
              <a:solidFill>
                <a:srgbClr val="03010F"/>
              </a:solidFill>
              <a:latin typeface="Times New Roman" panose="02020603050405020304" pitchFamily="18" charset="0"/>
              <a:cs typeface="Times New Roman" panose="02020603050405020304" pitchFamily="18" charset="0"/>
            </a:endParaRPr>
          </a:p>
          <a:p>
            <a:r>
              <a:rPr lang="zh-CN" altLang="en-US" sz="2400" b="1">
                <a:solidFill>
                  <a:srgbClr val="03010F"/>
                </a:solidFill>
                <a:latin typeface="Times New Roman" panose="02020603050405020304" pitchFamily="18" charset="0"/>
                <a:cs typeface="Times New Roman" panose="02020603050405020304" pitchFamily="18" charset="0"/>
              </a:rPr>
              <a:t>     </a:t>
            </a:r>
            <a:r>
              <a:rPr lang="en-US" altLang="zh-CN" sz="2400" b="1">
                <a:solidFill>
                  <a:srgbClr val="03010F"/>
                </a:solidFill>
                <a:latin typeface="Times New Roman" panose="02020603050405020304" pitchFamily="18" charset="0"/>
                <a:cs typeface="Times New Roman" panose="02020603050405020304" pitchFamily="18" charset="0"/>
              </a:rPr>
              <a:t>break;</a:t>
            </a:r>
            <a:endParaRPr lang="en-US" altLang="zh-CN" sz="2400" b="1">
              <a:solidFill>
                <a:srgbClr val="03010F"/>
              </a:solidFill>
              <a:latin typeface="Times New Roman" panose="02020603050405020304" pitchFamily="18" charset="0"/>
              <a:cs typeface="Times New Roman" panose="02020603050405020304" pitchFamily="18" charset="0"/>
            </a:endParaRPr>
          </a:p>
        </p:txBody>
      </p:sp>
      <p:sp>
        <p:nvSpPr>
          <p:cNvPr id="10" name="Rectangle 4"/>
          <p:cNvSpPr>
            <a:spLocks noChangeArrowheads="1"/>
          </p:cNvSpPr>
          <p:nvPr>
            <p:custDataLst>
              <p:tags r:id="rId3"/>
            </p:custDataLst>
          </p:nvPr>
        </p:nvSpPr>
        <p:spPr bwMode="auto">
          <a:xfrm>
            <a:off x="7533005" y="3658870"/>
            <a:ext cx="3278505" cy="193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dirty="0">
                <a:solidFill>
                  <a:srgbClr val="03010F"/>
                </a:solidFill>
                <a:latin typeface="Times New Roman" panose="02020603050405020304" pitchFamily="18" charset="0"/>
                <a:cs typeface="Times New Roman" panose="02020603050405020304" pitchFamily="18" charset="0"/>
              </a:rPr>
              <a:t>  default: </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zh-CN" altLang="en-US" sz="2400" b="1" dirty="0">
                <a:solidFill>
                  <a:srgbClr val="03010F"/>
                </a:solidFill>
                <a:latin typeface="Times New Roman" panose="02020603050405020304" pitchFamily="18" charset="0"/>
                <a:cs typeface="Times New Roman" panose="02020603050405020304" pitchFamily="18" charset="0"/>
              </a:rPr>
              <a:t>     </a:t>
            </a:r>
            <a:r>
              <a:rPr lang="en-US" altLang="zh-CN" sz="2400" b="1" dirty="0">
                <a:solidFill>
                  <a:schemeClr val="hlink"/>
                </a:solidFill>
                <a:latin typeface="Times New Roman" panose="02020603050405020304" pitchFamily="18" charset="0"/>
                <a:cs typeface="Times New Roman" panose="02020603050405020304" pitchFamily="18" charset="0"/>
              </a:rPr>
              <a:t>emit</a:t>
            </a:r>
            <a:r>
              <a:rPr lang="en-US" altLang="zh-CN" sz="2400" b="1" dirty="0">
                <a:solidFill>
                  <a:srgbClr val="03010F"/>
                </a:solidFill>
                <a:latin typeface="Times New Roman" panose="02020603050405020304" pitchFamily="18" charset="0"/>
                <a:cs typeface="Times New Roman" panose="02020603050405020304" pitchFamily="18" charset="0"/>
              </a:rPr>
              <a:t>(“Error”);</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zh-CN" altLang="en-US" sz="2400" b="1" dirty="0">
                <a:solidFill>
                  <a:srgbClr val="03010F"/>
                </a:solidFill>
                <a:latin typeface="Times New Roman" panose="02020603050405020304" pitchFamily="18" charset="0"/>
                <a:cs typeface="Times New Roman" panose="02020603050405020304" pitchFamily="18" charset="0"/>
              </a:rPr>
              <a:t>     </a:t>
            </a:r>
            <a:r>
              <a:rPr lang="en-US" altLang="zh-CN" sz="2400" b="1" dirty="0">
                <a:solidFill>
                  <a:srgbClr val="03010F"/>
                </a:solidFill>
                <a:latin typeface="Times New Roman" panose="02020603050405020304" pitchFamily="18" charset="0"/>
                <a:cs typeface="Times New Roman" panose="02020603050405020304" pitchFamily="18" charset="0"/>
              </a:rPr>
              <a:t>break;</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rPr>
              <a:t> }</a:t>
            </a:r>
            <a:endParaRPr lang="en-US" altLang="zh-CN" sz="2400" b="1" dirty="0">
              <a:solidFill>
                <a:srgbClr val="03010F"/>
              </a:solidFill>
              <a:latin typeface="Times New Roman" panose="02020603050405020304" pitchFamily="18" charset="0"/>
              <a:cs typeface="Times New Roman" panose="02020603050405020304" pitchFamily="18" charset="0"/>
            </a:endParaRPr>
          </a:p>
          <a:p>
            <a:r>
              <a:rPr lang="en-US" altLang="zh-CN" sz="2400" b="1" dirty="0">
                <a:solidFill>
                  <a:srgbClr val="03010F"/>
                </a:solidFill>
                <a:latin typeface="Times New Roman" panose="02020603050405020304" pitchFamily="18" charset="0"/>
                <a:cs typeface="Times New Roman" panose="02020603050405020304" pitchFamily="18" charset="0"/>
              </a:rPr>
              <a:t>}</a:t>
            </a:r>
            <a:endParaRPr lang="en-US" altLang="zh-CN" sz="2400" b="1" dirty="0">
              <a:solidFill>
                <a:srgbClr val="03010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strips(down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strips(downLeft)">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strips(downLeft)">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strips(downLeft)">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strips(downLeft)">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strips(downLeft)">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Horizont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strips(downLeft)">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strips(downLeft)">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nodeType="clickEffect">
                                  <p:stCondLst>
                                    <p:cond delay="0"/>
                                  </p:stCondLst>
                                  <p:childTnLst>
                                    <p:set>
                                      <p:cBhvr>
                                        <p:cTn id="51" dur="1" fill="hold">
                                          <p:stCondLst>
                                            <p:cond delay="0"/>
                                          </p:stCondLst>
                                        </p:cTn>
                                        <p:tgtEl>
                                          <p:spTgt spid="2">
                                            <p:txEl>
                                              <p:pRg st="1" end="1"/>
                                            </p:txEl>
                                          </p:spTgt>
                                        </p:tgtEl>
                                        <p:attrNameLst>
                                          <p:attrName>style.visibility</p:attrName>
                                        </p:attrNameLst>
                                      </p:cBhvr>
                                      <p:to>
                                        <p:strVal val="visible"/>
                                      </p:to>
                                    </p:set>
                                    <p:animEffect transition="in" filter="strips(downLeft)">
                                      <p:cBhvr>
                                        <p:cTn id="52" dur="500"/>
                                        <p:tgtEl>
                                          <p:spTgt spid="2">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nodeType="clickEffect">
                                  <p:stCondLst>
                                    <p:cond delay="0"/>
                                  </p:stCondLst>
                                  <p:childTnLst>
                                    <p:set>
                                      <p:cBhvr>
                                        <p:cTn id="56" dur="1" fill="hold">
                                          <p:stCondLst>
                                            <p:cond delay="0"/>
                                          </p:stCondLst>
                                        </p:cTn>
                                        <p:tgtEl>
                                          <p:spTgt spid="9">
                                            <p:txEl>
                                              <p:pRg st="1" end="1"/>
                                            </p:txEl>
                                          </p:spTgt>
                                        </p:tgtEl>
                                        <p:attrNameLst>
                                          <p:attrName>style.visibility</p:attrName>
                                        </p:attrNameLst>
                                      </p:cBhvr>
                                      <p:to>
                                        <p:strVal val="visible"/>
                                      </p:to>
                                    </p:set>
                                    <p:animEffect transition="in" filter="barn(inHorizontal)">
                                      <p:cBhvr>
                                        <p:cTn id="57" dur="500"/>
                                        <p:tgtEl>
                                          <p:spTgt spid="9">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6" fill="hold" nodeType="clickEffect">
                                  <p:stCondLst>
                                    <p:cond delay="0"/>
                                  </p:stCondLst>
                                  <p:childTnLst>
                                    <p:set>
                                      <p:cBhvr>
                                        <p:cTn id="61" dur="1" fill="hold">
                                          <p:stCondLst>
                                            <p:cond delay="0"/>
                                          </p:stCondLst>
                                        </p:cTn>
                                        <p:tgtEl>
                                          <p:spTgt spid="10">
                                            <p:txEl>
                                              <p:pRg st="1" end="1"/>
                                            </p:txEl>
                                          </p:spTgt>
                                        </p:tgtEl>
                                        <p:attrNameLst>
                                          <p:attrName>style.visibility</p:attrName>
                                        </p:attrNameLst>
                                      </p:cBhvr>
                                      <p:to>
                                        <p:strVal val="visible"/>
                                      </p:to>
                                    </p:set>
                                    <p:animEffect transition="in" filter="barn(inHorizontal)">
                                      <p:cBhvr>
                                        <p:cTn id="62"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522605" y="276860"/>
            <a:ext cx="7653020" cy="593090"/>
          </a:xfrm>
        </p:spPr>
        <p:txBody>
          <a:bodyPr/>
          <a:lstStyle/>
          <a:p>
            <a:r>
              <a:rPr lang="en-US" altLang="zh-CN" sz="2800" dirty="0"/>
              <a:t>6.4.3 if</a:t>
            </a:r>
            <a:r>
              <a:rPr lang="zh-CN" altLang="en-US" sz="2800" dirty="0"/>
              <a:t>和</a:t>
            </a:r>
            <a:r>
              <a:rPr lang="en-US" altLang="zh-CN" sz="2800" dirty="0"/>
              <a:t>while</a:t>
            </a:r>
            <a:r>
              <a:rPr lang="zh-CN" altLang="en-US" sz="2800" dirty="0"/>
              <a:t>语句的代码生成过程样例</a:t>
            </a:r>
            <a:endParaRPr lang="zh-CN" altLang="en-US" sz="2800" dirty="0"/>
          </a:p>
        </p:txBody>
      </p:sp>
      <p:sp>
        <p:nvSpPr>
          <p:cNvPr id="7" name="Rectangle 2"/>
          <p:cNvSpPr>
            <a:spLocks noChangeArrowheads="1"/>
          </p:cNvSpPr>
          <p:nvPr/>
        </p:nvSpPr>
        <p:spPr bwMode="auto">
          <a:xfrm>
            <a:off x="704850" y="1217295"/>
            <a:ext cx="10316210" cy="83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zh-CN" altLang="en-US" sz="2400" b="1">
                <a:solidFill>
                  <a:srgbClr val="030305"/>
                </a:solidFill>
                <a:latin typeface="+mn-ea"/>
              </a:rPr>
              <a:t>根据代码生成的递归过程描述，语句</a:t>
            </a:r>
            <a:endParaRPr lang="zh-CN" altLang="en-US" sz="2400" b="1">
              <a:solidFill>
                <a:srgbClr val="030305"/>
              </a:solidFill>
              <a:latin typeface="+mn-ea"/>
            </a:endParaRPr>
          </a:p>
          <a:p>
            <a:r>
              <a:rPr lang="en-US" altLang="zh-CN" sz="2400" b="1">
                <a:solidFill>
                  <a:srgbClr val="030305"/>
                </a:solidFill>
                <a:latin typeface="+mn-ea"/>
              </a:rPr>
              <a:t>if (true) while (true) if (false) break else other </a:t>
            </a:r>
            <a:r>
              <a:rPr lang="zh-CN" altLang="en-US" sz="2400" b="1">
                <a:solidFill>
                  <a:srgbClr val="030305"/>
                </a:solidFill>
                <a:latin typeface="+mn-ea"/>
              </a:rPr>
              <a:t>生成的三地址码：</a:t>
            </a:r>
            <a:endParaRPr lang="zh-CN" altLang="en-US" sz="2400" b="1">
              <a:solidFill>
                <a:srgbClr val="030305"/>
              </a:solidFill>
              <a:latin typeface="+mn-ea"/>
            </a:endParaRPr>
          </a:p>
        </p:txBody>
      </p:sp>
      <p:sp>
        <p:nvSpPr>
          <p:cNvPr id="12" name="Rectangle 4"/>
          <p:cNvSpPr>
            <a:spLocks noChangeArrowheads="1"/>
          </p:cNvSpPr>
          <p:nvPr/>
        </p:nvSpPr>
        <p:spPr bwMode="auto">
          <a:xfrm>
            <a:off x="2755526" y="4434540"/>
            <a:ext cx="130619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t3=false</a:t>
            </a:r>
            <a:endParaRPr lang="zh-CN" altLang="en-US" sz="2400" b="1">
              <a:solidFill>
                <a:srgbClr val="030305"/>
              </a:solidFill>
              <a:latin typeface="+mn-ea"/>
            </a:endParaRPr>
          </a:p>
        </p:txBody>
      </p:sp>
      <p:sp>
        <p:nvSpPr>
          <p:cNvPr id="13" name="Rectangle 5"/>
          <p:cNvSpPr>
            <a:spLocks noChangeArrowheads="1"/>
          </p:cNvSpPr>
          <p:nvPr/>
        </p:nvSpPr>
        <p:spPr bwMode="auto">
          <a:xfrm>
            <a:off x="2755526" y="4871103"/>
            <a:ext cx="41148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30305"/>
                </a:solidFill>
                <a:latin typeface="+mn-ea"/>
              </a:rPr>
              <a:t>if_false t3 goto  L4</a:t>
            </a:r>
            <a:endParaRPr lang="zh-CN" altLang="en-US" sz="2400" b="1">
              <a:solidFill>
                <a:srgbClr val="030305"/>
              </a:solidFill>
              <a:latin typeface="+mn-ea"/>
            </a:endParaRPr>
          </a:p>
        </p:txBody>
      </p:sp>
      <p:sp>
        <p:nvSpPr>
          <p:cNvPr id="14" name="Rectangle 6"/>
          <p:cNvSpPr>
            <a:spLocks noChangeArrowheads="1"/>
          </p:cNvSpPr>
          <p:nvPr/>
        </p:nvSpPr>
        <p:spPr bwMode="auto">
          <a:xfrm>
            <a:off x="2731714" y="5348940"/>
            <a:ext cx="12388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goto L3</a:t>
            </a:r>
            <a:endParaRPr lang="zh-CN" altLang="en-US" sz="2400" b="1">
              <a:solidFill>
                <a:srgbClr val="030305"/>
              </a:solidFill>
              <a:latin typeface="+mn-ea"/>
            </a:endParaRPr>
          </a:p>
        </p:txBody>
      </p:sp>
      <p:sp>
        <p:nvSpPr>
          <p:cNvPr id="16" name="Rectangle 7"/>
          <p:cNvSpPr>
            <a:spLocks noChangeArrowheads="1"/>
          </p:cNvSpPr>
          <p:nvPr/>
        </p:nvSpPr>
        <p:spPr bwMode="auto">
          <a:xfrm>
            <a:off x="7213226" y="2158065"/>
            <a:ext cx="12388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goto L5</a:t>
            </a:r>
            <a:endParaRPr lang="zh-CN" altLang="en-US" sz="2400" b="1">
              <a:solidFill>
                <a:srgbClr val="030305"/>
              </a:solidFill>
              <a:latin typeface="+mn-ea"/>
            </a:endParaRPr>
          </a:p>
        </p:txBody>
      </p:sp>
      <p:sp>
        <p:nvSpPr>
          <p:cNvPr id="17" name="Rectangle 8"/>
          <p:cNvSpPr>
            <a:spLocks noChangeArrowheads="1"/>
          </p:cNvSpPr>
          <p:nvPr/>
        </p:nvSpPr>
        <p:spPr bwMode="auto">
          <a:xfrm>
            <a:off x="7213226" y="2615265"/>
            <a:ext cx="1244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label L4</a:t>
            </a:r>
            <a:endParaRPr lang="zh-CN" altLang="en-US" sz="2400" b="1">
              <a:solidFill>
                <a:srgbClr val="030305"/>
              </a:solidFill>
              <a:latin typeface="+mn-ea"/>
            </a:endParaRPr>
          </a:p>
        </p:txBody>
      </p:sp>
      <p:sp>
        <p:nvSpPr>
          <p:cNvPr id="18" name="Rectangle 9"/>
          <p:cNvSpPr>
            <a:spLocks noChangeArrowheads="1"/>
          </p:cNvSpPr>
          <p:nvPr/>
        </p:nvSpPr>
        <p:spPr bwMode="auto">
          <a:xfrm>
            <a:off x="7213226" y="3072465"/>
            <a:ext cx="92329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other</a:t>
            </a:r>
            <a:endParaRPr lang="zh-CN" altLang="en-US" sz="2400" b="1">
              <a:solidFill>
                <a:srgbClr val="030305"/>
              </a:solidFill>
              <a:latin typeface="+mn-ea"/>
            </a:endParaRPr>
          </a:p>
        </p:txBody>
      </p:sp>
      <p:sp>
        <p:nvSpPr>
          <p:cNvPr id="19" name="Rectangle 10"/>
          <p:cNvSpPr>
            <a:spLocks noChangeArrowheads="1"/>
          </p:cNvSpPr>
          <p:nvPr/>
        </p:nvSpPr>
        <p:spPr bwMode="auto">
          <a:xfrm>
            <a:off x="7194176" y="3529665"/>
            <a:ext cx="1244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305"/>
                </a:solidFill>
                <a:latin typeface="+mn-ea"/>
              </a:rPr>
              <a:t>label L5</a:t>
            </a:r>
            <a:endParaRPr lang="zh-CN" altLang="en-US" sz="2400" b="1">
              <a:solidFill>
                <a:srgbClr val="030305"/>
              </a:solidFill>
              <a:latin typeface="+mn-ea"/>
            </a:endParaRPr>
          </a:p>
        </p:txBody>
      </p:sp>
      <p:sp>
        <p:nvSpPr>
          <p:cNvPr id="23" name="Rectangle 14"/>
          <p:cNvSpPr>
            <a:spLocks noChangeArrowheads="1"/>
          </p:cNvSpPr>
          <p:nvPr/>
        </p:nvSpPr>
        <p:spPr bwMode="auto">
          <a:xfrm>
            <a:off x="6527426" y="2213628"/>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030305"/>
              </a:solidFill>
              <a:latin typeface="+mn-ea"/>
            </a:endParaRPr>
          </a:p>
        </p:txBody>
      </p:sp>
      <p:sp>
        <p:nvSpPr>
          <p:cNvPr id="24" name="Rectangle 15"/>
          <p:cNvSpPr>
            <a:spLocks noChangeArrowheads="1"/>
          </p:cNvSpPr>
          <p:nvPr/>
        </p:nvSpPr>
        <p:spPr bwMode="auto">
          <a:xfrm>
            <a:off x="6451226" y="2627965"/>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030305"/>
              </a:solidFill>
              <a:latin typeface="+mn-ea"/>
            </a:endParaRPr>
          </a:p>
        </p:txBody>
      </p:sp>
      <p:sp>
        <p:nvSpPr>
          <p:cNvPr id="25" name="Rectangle 16"/>
          <p:cNvSpPr>
            <a:spLocks noChangeArrowheads="1"/>
          </p:cNvSpPr>
          <p:nvPr/>
        </p:nvSpPr>
        <p:spPr bwMode="auto">
          <a:xfrm>
            <a:off x="6484564" y="3051828"/>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030305"/>
              </a:solidFill>
              <a:latin typeface="+mn-ea"/>
            </a:endParaRPr>
          </a:p>
        </p:txBody>
      </p:sp>
      <p:sp>
        <p:nvSpPr>
          <p:cNvPr id="26" name="Rectangle 17"/>
          <p:cNvSpPr>
            <a:spLocks noChangeArrowheads="1"/>
          </p:cNvSpPr>
          <p:nvPr/>
        </p:nvSpPr>
        <p:spPr bwMode="auto">
          <a:xfrm>
            <a:off x="6503614" y="3509028"/>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030305"/>
              </a:solidFill>
              <a:latin typeface="+mn-ea"/>
            </a:endParaRPr>
          </a:p>
        </p:txBody>
      </p:sp>
      <p:sp>
        <p:nvSpPr>
          <p:cNvPr id="27" name="Rectangle 19"/>
          <p:cNvSpPr>
            <a:spLocks noChangeArrowheads="1"/>
          </p:cNvSpPr>
          <p:nvPr/>
        </p:nvSpPr>
        <p:spPr bwMode="auto">
          <a:xfrm>
            <a:off x="2717426" y="3072465"/>
            <a:ext cx="1244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000FF"/>
                </a:solidFill>
                <a:latin typeface="+mn-ea"/>
              </a:rPr>
              <a:t>label L2</a:t>
            </a:r>
            <a:endParaRPr lang="zh-CN" altLang="en-US" sz="2400" b="1">
              <a:solidFill>
                <a:srgbClr val="0000FF"/>
              </a:solidFill>
              <a:latin typeface="+mn-ea"/>
            </a:endParaRPr>
          </a:p>
        </p:txBody>
      </p:sp>
      <p:sp>
        <p:nvSpPr>
          <p:cNvPr id="28" name="Rectangle 20"/>
          <p:cNvSpPr>
            <a:spLocks noChangeArrowheads="1"/>
          </p:cNvSpPr>
          <p:nvPr/>
        </p:nvSpPr>
        <p:spPr bwMode="auto">
          <a:xfrm>
            <a:off x="2731714" y="3520140"/>
            <a:ext cx="12319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000FF"/>
                </a:solidFill>
                <a:latin typeface="+mn-ea"/>
              </a:rPr>
              <a:t>t2=true</a:t>
            </a:r>
            <a:endParaRPr lang="zh-CN" altLang="en-US" sz="2400" b="1">
              <a:solidFill>
                <a:srgbClr val="0000FF"/>
              </a:solidFill>
              <a:latin typeface="+mn-ea"/>
            </a:endParaRPr>
          </a:p>
        </p:txBody>
      </p:sp>
      <p:sp>
        <p:nvSpPr>
          <p:cNvPr id="29" name="Rectangle 21"/>
          <p:cNvSpPr>
            <a:spLocks noChangeArrowheads="1"/>
          </p:cNvSpPr>
          <p:nvPr/>
        </p:nvSpPr>
        <p:spPr bwMode="auto">
          <a:xfrm>
            <a:off x="2731714" y="3956703"/>
            <a:ext cx="41148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000FF"/>
                </a:solidFill>
                <a:latin typeface="+mn-ea"/>
              </a:rPr>
              <a:t>if_false t2 goto  L3</a:t>
            </a:r>
            <a:endParaRPr lang="zh-CN" altLang="en-US" sz="2400" b="1">
              <a:solidFill>
                <a:srgbClr val="0000FF"/>
              </a:solidFill>
              <a:latin typeface="+mn-ea"/>
            </a:endParaRPr>
          </a:p>
        </p:txBody>
      </p:sp>
      <p:sp>
        <p:nvSpPr>
          <p:cNvPr id="30" name="Rectangle 22"/>
          <p:cNvSpPr>
            <a:spLocks noChangeArrowheads="1"/>
          </p:cNvSpPr>
          <p:nvPr/>
        </p:nvSpPr>
        <p:spPr bwMode="auto">
          <a:xfrm>
            <a:off x="7232276" y="3986865"/>
            <a:ext cx="123888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000FF"/>
                </a:solidFill>
                <a:latin typeface="+mn-ea"/>
              </a:rPr>
              <a:t>goto L2</a:t>
            </a:r>
            <a:endParaRPr lang="zh-CN" altLang="en-US" sz="2400" b="1">
              <a:solidFill>
                <a:srgbClr val="0000FF"/>
              </a:solidFill>
              <a:latin typeface="+mn-ea"/>
            </a:endParaRPr>
          </a:p>
        </p:txBody>
      </p:sp>
      <p:sp>
        <p:nvSpPr>
          <p:cNvPr id="31" name="Rectangle 23"/>
          <p:cNvSpPr>
            <a:spLocks noChangeArrowheads="1"/>
          </p:cNvSpPr>
          <p:nvPr/>
        </p:nvSpPr>
        <p:spPr bwMode="auto">
          <a:xfrm>
            <a:off x="7232276" y="4444065"/>
            <a:ext cx="1244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000FF"/>
                </a:solidFill>
                <a:latin typeface="+mn-ea"/>
              </a:rPr>
              <a:t>label L3</a:t>
            </a:r>
            <a:endParaRPr lang="zh-CN" altLang="en-US" sz="2400" b="1">
              <a:solidFill>
                <a:srgbClr val="0000FF"/>
              </a:solidFill>
              <a:latin typeface="+mn-ea"/>
            </a:endParaRPr>
          </a:p>
        </p:txBody>
      </p:sp>
      <p:sp>
        <p:nvSpPr>
          <p:cNvPr id="35" name="Rectangle 27"/>
          <p:cNvSpPr>
            <a:spLocks noChangeArrowheads="1"/>
          </p:cNvSpPr>
          <p:nvPr/>
        </p:nvSpPr>
        <p:spPr bwMode="auto">
          <a:xfrm>
            <a:off x="6546476" y="3966228"/>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0000FF"/>
              </a:solidFill>
              <a:latin typeface="+mn-ea"/>
            </a:endParaRPr>
          </a:p>
        </p:txBody>
      </p:sp>
      <p:sp>
        <p:nvSpPr>
          <p:cNvPr id="36" name="Rectangle 28"/>
          <p:cNvSpPr>
            <a:spLocks noChangeArrowheads="1"/>
          </p:cNvSpPr>
          <p:nvPr/>
        </p:nvSpPr>
        <p:spPr bwMode="auto">
          <a:xfrm>
            <a:off x="6546476" y="4423428"/>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0000FF"/>
              </a:solidFill>
              <a:latin typeface="+mn-ea"/>
            </a:endParaRPr>
          </a:p>
        </p:txBody>
      </p:sp>
      <p:sp>
        <p:nvSpPr>
          <p:cNvPr id="37" name="Rectangle 30"/>
          <p:cNvSpPr>
            <a:spLocks noChangeArrowheads="1"/>
          </p:cNvSpPr>
          <p:nvPr/>
        </p:nvSpPr>
        <p:spPr bwMode="auto">
          <a:xfrm>
            <a:off x="2717426" y="2158065"/>
            <a:ext cx="12319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E9137E"/>
                </a:solidFill>
                <a:latin typeface="+mn-ea"/>
              </a:rPr>
              <a:t>t1=true</a:t>
            </a:r>
            <a:endParaRPr lang="zh-CN" altLang="en-US" sz="2400" b="1">
              <a:solidFill>
                <a:srgbClr val="E9137E"/>
              </a:solidFill>
              <a:latin typeface="+mn-ea"/>
            </a:endParaRPr>
          </a:p>
        </p:txBody>
      </p:sp>
      <p:sp>
        <p:nvSpPr>
          <p:cNvPr id="38" name="Rectangle 31"/>
          <p:cNvSpPr>
            <a:spLocks noChangeArrowheads="1"/>
          </p:cNvSpPr>
          <p:nvPr/>
        </p:nvSpPr>
        <p:spPr bwMode="auto">
          <a:xfrm>
            <a:off x="2717426" y="2594628"/>
            <a:ext cx="3124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E9137E"/>
                </a:solidFill>
                <a:latin typeface="+mn-ea"/>
              </a:rPr>
              <a:t>if_false t1 goto L1</a:t>
            </a:r>
            <a:endParaRPr lang="zh-CN" altLang="en-US" sz="2400" b="1">
              <a:solidFill>
                <a:srgbClr val="E9137E"/>
              </a:solidFill>
              <a:latin typeface="+mn-ea"/>
            </a:endParaRPr>
          </a:p>
        </p:txBody>
      </p:sp>
      <p:sp>
        <p:nvSpPr>
          <p:cNvPr id="39" name="Rectangle 32"/>
          <p:cNvSpPr>
            <a:spLocks noChangeArrowheads="1"/>
          </p:cNvSpPr>
          <p:nvPr/>
        </p:nvSpPr>
        <p:spPr bwMode="auto">
          <a:xfrm>
            <a:off x="7213226" y="4934603"/>
            <a:ext cx="1244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E9137E"/>
                </a:solidFill>
                <a:latin typeface="+mn-ea"/>
              </a:rPr>
              <a:t>label L1</a:t>
            </a:r>
            <a:endParaRPr lang="zh-CN" altLang="en-US" sz="2400" b="1">
              <a:solidFill>
                <a:srgbClr val="E9137E"/>
              </a:solidFill>
              <a:latin typeface="+mn-ea"/>
            </a:endParaRPr>
          </a:p>
        </p:txBody>
      </p:sp>
      <p:sp>
        <p:nvSpPr>
          <p:cNvPr id="41" name="Rectangle 35"/>
          <p:cNvSpPr>
            <a:spLocks noChangeArrowheads="1"/>
          </p:cNvSpPr>
          <p:nvPr/>
        </p:nvSpPr>
        <p:spPr bwMode="auto">
          <a:xfrm>
            <a:off x="6546476" y="4913965"/>
            <a:ext cx="30607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endParaRPr lang="zh-CN" altLang="en-US" sz="2400" b="1">
              <a:solidFill>
                <a:srgbClr val="E9137E"/>
              </a:solidFill>
              <a:latin typeface="+mn-ea"/>
            </a:endParaRPr>
          </a:p>
        </p:txBody>
      </p:sp>
      <p:sp useBgFill="1">
        <p:nvSpPr>
          <p:cNvPr id="42" name="AutoShape 36"/>
          <p:cNvSpPr>
            <a:spLocks noChangeArrowheads="1"/>
          </p:cNvSpPr>
          <p:nvPr/>
        </p:nvSpPr>
        <p:spPr bwMode="auto">
          <a:xfrm>
            <a:off x="4536140" y="5272740"/>
            <a:ext cx="2658036" cy="1045789"/>
          </a:xfrm>
          <a:prstGeom prst="cloudCallout">
            <a:avLst>
              <a:gd name="adj1" fmla="val -69253"/>
              <a:gd name="adj2" fmla="val -19684"/>
            </a:avLst>
          </a:prstGeom>
          <a:ln w="28575">
            <a:solidFill>
              <a:schemeClr val="bg1">
                <a:lumMod val="65000"/>
              </a:schemeClr>
            </a:solidFill>
            <a:miter lim="800000"/>
          </a:ln>
        </p:spPr>
        <p:txBody>
          <a:bodyPr lIns="90000" tIns="46800" rIns="90000" bIns="46800"/>
          <a:lstStyle/>
          <a:p>
            <a:pPr algn="ctr"/>
            <a:r>
              <a:rPr lang="en-US" altLang="zh-CN" sz="2000" b="1" dirty="0">
                <a:solidFill>
                  <a:schemeClr val="accent1"/>
                </a:solidFill>
                <a:latin typeface="+mn-ea"/>
              </a:rPr>
              <a:t>Break</a:t>
            </a:r>
            <a:r>
              <a:rPr lang="zh-CN" altLang="en-US" sz="2000" b="1" dirty="0">
                <a:solidFill>
                  <a:schemeClr val="accent1"/>
                </a:solidFill>
                <a:latin typeface="+mn-ea"/>
              </a:rPr>
              <a:t>语句对应的三地址码</a:t>
            </a:r>
            <a:endParaRPr lang="zh-CN" altLang="en-US" sz="2000" b="1" dirty="0">
              <a:solidFill>
                <a:schemeClr val="accent1"/>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trips(down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strips(downLeft)">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strips(downLeft)">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strips(downLef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strips(down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strips(down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strips(downLeft)">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strips(downLeft)">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strips(down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12"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strips(down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12"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strips(downLeft)">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strips(downLeft)">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strips(downLeft)">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strips(downLeft)">
                                      <p:cBhvr>
                                        <p:cTn id="72" dur="500"/>
                                        <p:tgtEl>
                                          <p:spTgt spid="42"/>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strips(downLef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strips(downLeft)">
                                      <p:cBhvr>
                                        <p:cTn id="8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P spid="17" grpId="0"/>
      <p:bldP spid="18" grpId="0"/>
      <p:bldP spid="19" grpId="0"/>
      <p:bldP spid="27" grpId="0"/>
      <p:bldP spid="28" grpId="0"/>
      <p:bldP spid="29" grpId="0"/>
      <p:bldP spid="30" grpId="0"/>
      <p:bldP spid="31" grpId="0"/>
      <p:bldP spid="37" grpId="0"/>
      <p:bldP spid="38" grpId="0"/>
      <p:bldP spid="39" grpId="0"/>
      <p:bldP spid="4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3"/>
          </p:nvPr>
        </p:nvSpPr>
        <p:spPr>
          <a:xfrm>
            <a:off x="1134110" y="1388745"/>
            <a:ext cx="5838190" cy="511175"/>
          </a:xfrm>
        </p:spPr>
        <p:txBody>
          <a:bodyPr>
            <a:normAutofit fontScale="80000"/>
          </a:bodyPr>
          <a:lstStyle/>
          <a:p>
            <a:r>
              <a:rPr lang="zh-CN" altLang="en-US" dirty="0"/>
              <a:t>第</a:t>
            </a:r>
            <a:r>
              <a:rPr lang="en-US" altLang="zh-CN" dirty="0"/>
              <a:t>6</a:t>
            </a:r>
            <a:r>
              <a:rPr lang="zh-CN" altLang="en-US" dirty="0"/>
              <a:t>单元 代码生成</a:t>
            </a:r>
            <a:endParaRPr lang="zh-CN" altLang="en-US" dirty="0"/>
          </a:p>
        </p:txBody>
      </p:sp>
      <p:sp>
        <p:nvSpPr>
          <p:cNvPr id="24" name="文本占位符 23"/>
          <p:cNvSpPr>
            <a:spLocks noGrp="1"/>
          </p:cNvSpPr>
          <p:nvPr>
            <p:ph type="body" sz="quarter" idx="14"/>
          </p:nvPr>
        </p:nvSpPr>
        <p:spPr/>
        <p:txBody>
          <a:bodyPr>
            <a:normAutofit fontScale="77500" lnSpcReduction="20000"/>
          </a:bodyPr>
          <a:lstStyle/>
          <a:p>
            <a:r>
              <a:rPr lang="en-US" altLang="zh-CN" dirty="0">
                <a:solidFill>
                  <a:schemeClr val="tx1"/>
                </a:solidFill>
              </a:rPr>
              <a:t>6.1 </a:t>
            </a:r>
            <a:r>
              <a:rPr lang="zh-CN" altLang="en-US" dirty="0">
                <a:solidFill>
                  <a:schemeClr val="tx1"/>
                </a:solidFill>
              </a:rPr>
              <a:t>中间代码概览</a:t>
            </a:r>
            <a:endParaRPr lang="en-US" altLang="zh-CN" dirty="0">
              <a:solidFill>
                <a:schemeClr val="tx1"/>
              </a:solidFill>
            </a:endParaRPr>
          </a:p>
          <a:p>
            <a:r>
              <a:rPr lang="en-US" altLang="zh-CN" dirty="0">
                <a:solidFill>
                  <a:schemeClr val="tx1"/>
                </a:solidFill>
              </a:rPr>
              <a:t>6.2 </a:t>
            </a:r>
            <a:r>
              <a:rPr lang="zh-CN" altLang="en-US" dirty="0">
                <a:solidFill>
                  <a:schemeClr val="tx1"/>
                </a:solidFill>
              </a:rPr>
              <a:t>基本的代码生成技术</a:t>
            </a:r>
            <a:endParaRPr lang="en-US" altLang="zh-CN" dirty="0">
              <a:solidFill>
                <a:schemeClr val="tx1"/>
              </a:solidFill>
            </a:endParaRPr>
          </a:p>
          <a:p>
            <a:r>
              <a:rPr lang="en-US" altLang="zh-CN" dirty="0">
                <a:solidFill>
                  <a:schemeClr val="tx1"/>
                </a:solidFill>
              </a:rPr>
              <a:t>6.3 </a:t>
            </a:r>
            <a:r>
              <a:rPr lang="zh-CN" altLang="en-US" dirty="0">
                <a:solidFill>
                  <a:schemeClr val="tx1"/>
                </a:solidFill>
              </a:rPr>
              <a:t>数据结构引用的代码生成</a:t>
            </a:r>
            <a:endParaRPr lang="en-US" altLang="zh-CN" dirty="0">
              <a:solidFill>
                <a:schemeClr val="tx1"/>
              </a:solidFill>
            </a:endParaRPr>
          </a:p>
          <a:p>
            <a:r>
              <a:rPr lang="en-US" altLang="zh-CN" dirty="0">
                <a:solidFill>
                  <a:schemeClr val="tx1"/>
                </a:solidFill>
              </a:rPr>
              <a:t>6.4 </a:t>
            </a:r>
            <a:r>
              <a:rPr lang="zh-CN" altLang="en-US" dirty="0">
                <a:solidFill>
                  <a:schemeClr val="tx1"/>
                </a:solidFill>
              </a:rPr>
              <a:t>控制语句和逻辑表达式的代码生成</a:t>
            </a:r>
            <a:endParaRPr lang="en-US" altLang="zh-CN" dirty="0">
              <a:solidFill>
                <a:schemeClr val="tx1"/>
              </a:solidFill>
            </a:endParaRPr>
          </a:p>
          <a:p>
            <a:r>
              <a:rPr lang="en-US" altLang="zh-CN" dirty="0">
                <a:solidFill>
                  <a:schemeClr val="accent1"/>
                </a:solidFill>
              </a:rPr>
              <a:t>6.5 </a:t>
            </a:r>
            <a:r>
              <a:rPr lang="zh-CN" altLang="en-US" dirty="0">
                <a:solidFill>
                  <a:schemeClr val="accent1"/>
                </a:solidFill>
              </a:rPr>
              <a:t>过程和函数调用的代码生成</a:t>
            </a:r>
            <a:endParaRPr lang="zh-CN" altLang="en-US" dirty="0">
              <a:solidFill>
                <a:schemeClr val="accent1"/>
              </a:solidFill>
            </a:endParaRPr>
          </a:p>
        </p:txBody>
      </p:sp>
      <p:sp>
        <p:nvSpPr>
          <p:cNvPr id="25" name="文本占位符 24"/>
          <p:cNvSpPr>
            <a:spLocks noGrp="1"/>
          </p:cNvSpPr>
          <p:nvPr>
            <p:ph type="body" sz="quarter" idx="15"/>
          </p:nvPr>
        </p:nvSpPr>
        <p:spPr/>
        <p:txBody>
          <a:bodyPr>
            <a:normAutofit lnSpcReduction="20000"/>
          </a:bodyPr>
          <a:lstStyle/>
          <a:p>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702945" y="197485"/>
            <a:ext cx="7335520" cy="593090"/>
          </a:xfrm>
        </p:spPr>
        <p:txBody>
          <a:bodyPr/>
          <a:lstStyle/>
          <a:p>
            <a:r>
              <a:rPr lang="en-US" altLang="zh-CN" sz="3200" dirty="0"/>
              <a:t>6.5.1 </a:t>
            </a:r>
            <a:r>
              <a:rPr lang="zh-CN" altLang="en-US" sz="3200" dirty="0"/>
              <a:t>过程和函数的中间代码</a:t>
            </a:r>
            <a:endParaRPr lang="zh-CN" altLang="en-US" sz="3200" dirty="0"/>
          </a:p>
        </p:txBody>
      </p:sp>
      <p:sp>
        <p:nvSpPr>
          <p:cNvPr id="4" name="内容占位符 7"/>
          <p:cNvSpPr txBox="1">
            <a:spLocks noChangeArrowheads="1"/>
          </p:cNvSpPr>
          <p:nvPr/>
        </p:nvSpPr>
        <p:spPr>
          <a:xfrm>
            <a:off x="508000" y="1316355"/>
            <a:ext cx="5252085" cy="39071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ct val="0"/>
              </a:spcBef>
              <a:spcAft>
                <a:spcPts val="0"/>
              </a:spcAft>
              <a:buFont typeface="Wingdings" panose="05000000000000000000" charset="0"/>
              <a:buChar char="p"/>
            </a:pPr>
            <a:r>
              <a:rPr lang="zh-CN" altLang="en-US" sz="2400" b="1" dirty="0">
                <a:solidFill>
                  <a:schemeClr val="accent1"/>
                </a:solidFill>
                <a:latin typeface="+mn-ea"/>
              </a:rPr>
              <a:t>函数定义的中间代码</a:t>
            </a:r>
            <a:r>
              <a:rPr lang="zh-CN" altLang="en-US" sz="2400" b="1" dirty="0">
                <a:solidFill>
                  <a:srgbClr val="030305"/>
                </a:solidFill>
                <a:latin typeface="+mn-ea"/>
              </a:rPr>
              <a:t>必须包括一条标志开始的指令，称函数代码的入口点(</a:t>
            </a:r>
            <a:r>
              <a:rPr lang="en-US" altLang="zh-CN" sz="2400" b="1" dirty="0">
                <a:solidFill>
                  <a:srgbClr val="030305"/>
                </a:solidFill>
                <a:latin typeface="+mn-ea"/>
              </a:rPr>
              <a:t>entry point)，</a:t>
            </a:r>
            <a:r>
              <a:rPr lang="zh-CN" altLang="en-US" sz="2400" b="1" dirty="0">
                <a:solidFill>
                  <a:srgbClr val="030305"/>
                </a:solidFill>
                <a:latin typeface="+mn-ea"/>
              </a:rPr>
              <a:t>一条标志结束的指令，称为函数返回点(</a:t>
            </a:r>
            <a:r>
              <a:rPr lang="en-US" altLang="zh-CN" sz="2400" b="1" dirty="0">
                <a:solidFill>
                  <a:srgbClr val="030305"/>
                </a:solidFill>
                <a:latin typeface="+mn-ea"/>
              </a:rPr>
              <a:t>return point)</a:t>
            </a:r>
            <a:r>
              <a:rPr lang="zh-CN" altLang="en-US" sz="2400" b="1" dirty="0">
                <a:solidFill>
                  <a:srgbClr val="030305"/>
                </a:solidFill>
                <a:latin typeface="+mn-ea"/>
              </a:rPr>
              <a:t>，翻译模式如下：</a:t>
            </a:r>
            <a:endParaRPr lang="zh-CN" altLang="en-US" sz="2400" b="1" dirty="0">
              <a:solidFill>
                <a:srgbClr val="030305"/>
              </a:solidFill>
              <a:latin typeface="+mn-ea"/>
            </a:endParaRPr>
          </a:p>
          <a:p>
            <a:pPr marL="914400" lvl="2" indent="0">
              <a:lnSpc>
                <a:spcPct val="125000"/>
              </a:lnSpc>
              <a:spcBef>
                <a:spcPct val="0"/>
              </a:spcBef>
              <a:spcAft>
                <a:spcPts val="0"/>
              </a:spcAft>
              <a:buNone/>
            </a:pPr>
            <a:r>
              <a:rPr lang="en-US" altLang="zh-CN" sz="2400" b="1" dirty="0">
                <a:solidFill>
                  <a:schemeClr val="accent1"/>
                </a:solidFill>
                <a:latin typeface="+mn-ea"/>
              </a:rPr>
              <a:t>Entry instruction</a:t>
            </a:r>
            <a:endParaRPr lang="en-US" altLang="zh-CN" sz="2400" b="1" dirty="0">
              <a:solidFill>
                <a:schemeClr val="accent1"/>
              </a:solidFill>
              <a:latin typeface="+mn-ea"/>
            </a:endParaRPr>
          </a:p>
          <a:p>
            <a:pPr marL="914400" lvl="2" indent="0">
              <a:lnSpc>
                <a:spcPct val="125000"/>
              </a:lnSpc>
              <a:spcBef>
                <a:spcPct val="0"/>
              </a:spcBef>
              <a:spcAft>
                <a:spcPts val="0"/>
              </a:spcAft>
              <a:buNone/>
            </a:pPr>
            <a:r>
              <a:rPr lang="en-US" altLang="zh-CN" sz="2400" b="1" dirty="0">
                <a:solidFill>
                  <a:srgbClr val="030305"/>
                </a:solidFill>
                <a:latin typeface="+mn-ea"/>
              </a:rPr>
              <a:t>&lt;code for the function body&gt;</a:t>
            </a:r>
            <a:endParaRPr lang="en-US" altLang="zh-CN" sz="2400" b="1" dirty="0">
              <a:solidFill>
                <a:srgbClr val="030305"/>
              </a:solidFill>
              <a:latin typeface="+mn-ea"/>
            </a:endParaRPr>
          </a:p>
          <a:p>
            <a:pPr marL="914400" lvl="2" indent="0">
              <a:lnSpc>
                <a:spcPct val="125000"/>
              </a:lnSpc>
              <a:spcBef>
                <a:spcPct val="0"/>
              </a:spcBef>
              <a:spcAft>
                <a:spcPts val="0"/>
              </a:spcAft>
              <a:buNone/>
            </a:pPr>
            <a:r>
              <a:rPr lang="en-US" altLang="zh-CN" sz="2400" b="1" dirty="0">
                <a:solidFill>
                  <a:schemeClr val="accent1"/>
                </a:solidFill>
                <a:latin typeface="+mn-ea"/>
              </a:rPr>
              <a:t>Return instruction</a:t>
            </a:r>
            <a:endParaRPr lang="en-US" altLang="zh-CN" sz="2400" b="1" dirty="0">
              <a:solidFill>
                <a:schemeClr val="accent1"/>
              </a:solidFill>
              <a:latin typeface="+mn-ea"/>
            </a:endParaRPr>
          </a:p>
        </p:txBody>
      </p:sp>
      <p:sp>
        <p:nvSpPr>
          <p:cNvPr id="2" name="文本框 1"/>
          <p:cNvSpPr txBox="1"/>
          <p:nvPr/>
        </p:nvSpPr>
        <p:spPr>
          <a:xfrm>
            <a:off x="7132320" y="1377950"/>
            <a:ext cx="4010660" cy="3784600"/>
          </a:xfrm>
          <a:prstGeom prst="rect">
            <a:avLst/>
          </a:prstGeom>
          <a:noFill/>
        </p:spPr>
        <p:txBody>
          <a:bodyPr wrap="square" rtlCol="0" anchor="t">
            <a:spAutoFit/>
          </a:bodyPr>
          <a:p>
            <a:pPr>
              <a:lnSpc>
                <a:spcPct val="125000"/>
              </a:lnSpc>
              <a:spcBef>
                <a:spcPts val="0"/>
              </a:spcBef>
              <a:spcAft>
                <a:spcPts val="0"/>
              </a:spcAft>
            </a:pPr>
            <a:r>
              <a:rPr lang="zh-CN" altLang="en-US" sz="2400" b="1" dirty="0">
                <a:solidFill>
                  <a:srgbClr val="030305"/>
                </a:solidFill>
                <a:latin typeface="+mn-ea"/>
                <a:sym typeface="+mn-ea"/>
              </a:rPr>
              <a:t>例如，考虑</a:t>
            </a:r>
            <a:r>
              <a:rPr lang="en-US" altLang="zh-CN" sz="2400" b="1" dirty="0">
                <a:solidFill>
                  <a:srgbClr val="030305"/>
                </a:solidFill>
                <a:latin typeface="+mn-ea"/>
                <a:sym typeface="+mn-ea"/>
              </a:rPr>
              <a:t>C</a:t>
            </a:r>
            <a:r>
              <a:rPr lang="zh-CN" altLang="en-US" sz="2400" b="1" dirty="0">
                <a:solidFill>
                  <a:srgbClr val="030305"/>
                </a:solidFill>
                <a:latin typeface="+mn-ea"/>
                <a:sym typeface="+mn-ea"/>
              </a:rPr>
              <a:t>函数定义</a:t>
            </a:r>
            <a:endParaRPr lang="zh-CN" altLang="en-US" sz="2400" b="1" dirty="0">
              <a:solidFill>
                <a:srgbClr val="030305"/>
              </a:solidFill>
              <a:latin typeface="+mn-ea"/>
            </a:endParaRPr>
          </a:p>
          <a:p>
            <a:pPr>
              <a:lnSpc>
                <a:spcPct val="125000"/>
              </a:lnSpc>
              <a:spcBef>
                <a:spcPts val="0"/>
              </a:spcBef>
              <a:spcAft>
                <a:spcPts val="0"/>
              </a:spcAft>
            </a:pPr>
            <a:r>
              <a:rPr lang="en-US" altLang="zh-CN" sz="2400" b="1" dirty="0">
                <a:solidFill>
                  <a:srgbClr val="030305"/>
                </a:solidFill>
                <a:latin typeface="+mn-ea"/>
                <a:sym typeface="+mn-ea"/>
              </a:rPr>
              <a:t>int f(int x, int y)</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a:solidFill>
                  <a:srgbClr val="030305"/>
                </a:solidFill>
                <a:latin typeface="+mn-ea"/>
                <a:sym typeface="+mn-ea"/>
              </a:rPr>
              <a:t>{return x + y + 1;}</a:t>
            </a:r>
            <a:endParaRPr lang="en-US" altLang="zh-CN" sz="2400" b="1" dirty="0">
              <a:solidFill>
                <a:srgbClr val="030305"/>
              </a:solidFill>
              <a:latin typeface="+mn-ea"/>
            </a:endParaRPr>
          </a:p>
          <a:p>
            <a:pPr>
              <a:lnSpc>
                <a:spcPct val="125000"/>
              </a:lnSpc>
              <a:spcBef>
                <a:spcPts val="0"/>
              </a:spcBef>
              <a:spcAft>
                <a:spcPts val="0"/>
              </a:spcAft>
            </a:pPr>
            <a:r>
              <a:rPr lang="zh-CN" altLang="en-US" sz="2400" b="1" dirty="0">
                <a:solidFill>
                  <a:srgbClr val="030305"/>
                </a:solidFill>
                <a:latin typeface="+mn-ea"/>
                <a:sym typeface="+mn-ea"/>
              </a:rPr>
              <a:t>翻译成如下的三地址码：</a:t>
            </a:r>
            <a:endParaRPr lang="zh-CN" altLang="en-US" sz="2400" b="1" dirty="0">
              <a:solidFill>
                <a:srgbClr val="030305"/>
              </a:solidFill>
              <a:latin typeface="+mn-ea"/>
            </a:endParaRPr>
          </a:p>
          <a:p>
            <a:pPr>
              <a:lnSpc>
                <a:spcPct val="125000"/>
              </a:lnSpc>
              <a:spcBef>
                <a:spcPts val="0"/>
              </a:spcBef>
              <a:spcAft>
                <a:spcPts val="0"/>
              </a:spcAft>
            </a:pPr>
            <a:r>
              <a:rPr lang="en-US" altLang="zh-CN" sz="2400" b="1" dirty="0">
                <a:solidFill>
                  <a:schemeClr val="accent1"/>
                </a:solidFill>
                <a:latin typeface="+mn-ea"/>
                <a:sym typeface="+mn-ea"/>
              </a:rPr>
              <a:t>entry f</a:t>
            </a:r>
            <a:endParaRPr lang="en-US" altLang="zh-CN" sz="2400" b="1" dirty="0">
              <a:solidFill>
                <a:schemeClr val="accent1"/>
              </a:solidFill>
              <a:latin typeface="+mn-ea"/>
            </a:endParaRPr>
          </a:p>
          <a:p>
            <a:pPr>
              <a:lnSpc>
                <a:spcPct val="125000"/>
              </a:lnSpc>
              <a:spcBef>
                <a:spcPts val="0"/>
              </a:spcBef>
              <a:spcAft>
                <a:spcPts val="0"/>
              </a:spcAft>
            </a:pPr>
            <a:r>
              <a:rPr lang="en-US" altLang="zh-CN" sz="2400" b="1" dirty="0">
                <a:solidFill>
                  <a:srgbClr val="030305"/>
                </a:solidFill>
                <a:latin typeface="+mn-ea"/>
                <a:sym typeface="+mn-ea"/>
              </a:rPr>
              <a:t>t1=</a:t>
            </a:r>
            <a:r>
              <a:rPr lang="en-US" altLang="zh-CN" sz="2400" b="1" dirty="0" err="1">
                <a:solidFill>
                  <a:srgbClr val="030305"/>
                </a:solidFill>
                <a:latin typeface="+mn-ea"/>
                <a:sym typeface="+mn-ea"/>
              </a:rPr>
              <a:t>x+y</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a:solidFill>
                  <a:srgbClr val="030305"/>
                </a:solidFill>
                <a:latin typeface="+mn-ea"/>
                <a:sym typeface="+mn-ea"/>
              </a:rPr>
              <a:t>t2=t1+1</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a:solidFill>
                  <a:schemeClr val="accent1"/>
                </a:solidFill>
                <a:latin typeface="+mn-ea"/>
                <a:sym typeface="+mn-ea"/>
              </a:rPr>
              <a:t>return t2</a:t>
            </a:r>
            <a:endParaRPr lang="en-US" altLang="zh-CN" sz="2400" b="1" dirty="0">
              <a:solidFill>
                <a:schemeClr val="accent1"/>
              </a:solidFill>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Horizont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14020" y="276860"/>
            <a:ext cx="7761605" cy="593090"/>
          </a:xfrm>
        </p:spPr>
        <p:txBody>
          <a:bodyPr/>
          <a:lstStyle/>
          <a:p>
            <a:r>
              <a:rPr lang="en-US" altLang="zh-CN" sz="3200" dirty="0"/>
              <a:t>6.5.1 </a:t>
            </a:r>
            <a:r>
              <a:rPr lang="zh-CN" altLang="en-US" sz="3200" dirty="0"/>
              <a:t>过程和函数的中间代码</a:t>
            </a:r>
            <a:endParaRPr lang="zh-CN" altLang="en-US" sz="3200" dirty="0"/>
          </a:p>
        </p:txBody>
      </p:sp>
      <p:sp>
        <p:nvSpPr>
          <p:cNvPr id="6" name="内容占位符 7"/>
          <p:cNvSpPr txBox="1">
            <a:spLocks noChangeArrowheads="1"/>
          </p:cNvSpPr>
          <p:nvPr/>
        </p:nvSpPr>
        <p:spPr>
          <a:xfrm>
            <a:off x="525780" y="1196975"/>
            <a:ext cx="5151755" cy="418338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charset="0"/>
              <a:buChar char="p"/>
            </a:pPr>
            <a:r>
              <a:rPr lang="zh-CN" altLang="en-US" b="1" dirty="0">
                <a:solidFill>
                  <a:srgbClr val="030305"/>
                </a:solidFill>
                <a:latin typeface="+mn-ea"/>
              </a:rPr>
              <a:t>函数调用引入</a:t>
            </a:r>
            <a:r>
              <a:rPr lang="en-US" altLang="zh-CN" b="1" dirty="0">
                <a:solidFill>
                  <a:srgbClr val="030305"/>
                </a:solidFill>
                <a:latin typeface="+mn-ea"/>
              </a:rPr>
              <a:t>3</a:t>
            </a:r>
            <a:r>
              <a:rPr lang="zh-CN" altLang="en-US" b="1" dirty="0">
                <a:solidFill>
                  <a:srgbClr val="030305"/>
                </a:solidFill>
                <a:latin typeface="+mn-ea"/>
              </a:rPr>
              <a:t>个不同的三地址指令：</a:t>
            </a:r>
            <a:endParaRPr lang="en-US" altLang="zh-CN" b="1" dirty="0">
              <a:solidFill>
                <a:srgbClr val="030305"/>
              </a:solidFill>
              <a:latin typeface="+mn-ea"/>
            </a:endParaRPr>
          </a:p>
          <a:p>
            <a:pPr lvl="1">
              <a:lnSpc>
                <a:spcPct val="100000"/>
              </a:lnSpc>
              <a:buFont typeface="Wingdings" panose="05000000000000000000" charset="0"/>
              <a:buChar char="p"/>
            </a:pPr>
            <a:r>
              <a:rPr lang="zh-CN" altLang="en-US" sz="2800" b="1" dirty="0">
                <a:solidFill>
                  <a:srgbClr val="030305"/>
                </a:solidFill>
                <a:latin typeface="+mn-ea"/>
              </a:rPr>
              <a:t>一个标志参数计算的起点，引入</a:t>
            </a:r>
            <a:r>
              <a:rPr lang="en-US" altLang="zh-CN" sz="2800" b="1" dirty="0" err="1">
                <a:solidFill>
                  <a:srgbClr val="030305"/>
                </a:solidFill>
                <a:latin typeface="+mn-ea"/>
              </a:rPr>
              <a:t>begin_args</a:t>
            </a:r>
            <a:endParaRPr lang="en-US" altLang="zh-CN" sz="2800" b="1" dirty="0">
              <a:solidFill>
                <a:srgbClr val="030305"/>
              </a:solidFill>
              <a:latin typeface="+mn-ea"/>
            </a:endParaRPr>
          </a:p>
          <a:p>
            <a:pPr lvl="1">
              <a:lnSpc>
                <a:spcPct val="100000"/>
              </a:lnSpc>
              <a:buFont typeface="Wingdings" panose="05000000000000000000" charset="0"/>
              <a:buChar char="p"/>
            </a:pPr>
            <a:r>
              <a:rPr lang="zh-CN" altLang="en-US" sz="2800" b="1" dirty="0">
                <a:solidFill>
                  <a:srgbClr val="030305"/>
                </a:solidFill>
                <a:latin typeface="+mn-ea"/>
              </a:rPr>
              <a:t>一个被用于重复说明参数值名字的指令</a:t>
            </a:r>
            <a:r>
              <a:rPr lang="en-US" altLang="zh-CN" sz="2800" b="1" dirty="0" err="1">
                <a:solidFill>
                  <a:srgbClr val="030305"/>
                </a:solidFill>
                <a:latin typeface="+mn-ea"/>
              </a:rPr>
              <a:t>arg</a:t>
            </a:r>
            <a:endParaRPr lang="en-US" altLang="zh-CN" sz="2800" b="1" dirty="0">
              <a:solidFill>
                <a:srgbClr val="030305"/>
              </a:solidFill>
              <a:latin typeface="+mn-ea"/>
            </a:endParaRPr>
          </a:p>
          <a:p>
            <a:pPr lvl="1">
              <a:lnSpc>
                <a:spcPct val="100000"/>
              </a:lnSpc>
              <a:buFont typeface="Wingdings" panose="05000000000000000000" charset="0"/>
              <a:buChar char="p"/>
            </a:pPr>
            <a:r>
              <a:rPr lang="zh-CN" altLang="en-US" sz="2800" b="1" dirty="0">
                <a:solidFill>
                  <a:srgbClr val="030305"/>
                </a:solidFill>
                <a:latin typeface="+mn-ea"/>
              </a:rPr>
              <a:t>调用指令，简单写成</a:t>
            </a:r>
            <a:r>
              <a:rPr lang="en-US" altLang="zh-CN" sz="2800" b="1" dirty="0">
                <a:solidFill>
                  <a:srgbClr val="030305"/>
                </a:solidFill>
                <a:latin typeface="+mn-ea"/>
              </a:rPr>
              <a:t>call</a:t>
            </a:r>
            <a:endParaRPr lang="zh-CN" altLang="en-US" sz="2800" b="1" dirty="0">
              <a:latin typeface="+mn-ea"/>
            </a:endParaRPr>
          </a:p>
        </p:txBody>
      </p:sp>
      <p:sp>
        <p:nvSpPr>
          <p:cNvPr id="4" name="Rectangle 2"/>
          <p:cNvSpPr>
            <a:spLocks noChangeArrowheads="1"/>
          </p:cNvSpPr>
          <p:nvPr>
            <p:custDataLst>
              <p:tags r:id="rId1"/>
            </p:custDataLst>
          </p:nvPr>
        </p:nvSpPr>
        <p:spPr bwMode="auto">
          <a:xfrm>
            <a:off x="6096000" y="1196975"/>
            <a:ext cx="5710555" cy="3322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nSpc>
                <a:spcPct val="125000"/>
              </a:lnSpc>
              <a:spcBef>
                <a:spcPts val="0"/>
              </a:spcBef>
              <a:spcAft>
                <a:spcPts val="0"/>
              </a:spcAft>
            </a:pPr>
            <a:r>
              <a:rPr lang="zh-CN" altLang="en-US" sz="2400" b="1" dirty="0">
                <a:solidFill>
                  <a:srgbClr val="030305"/>
                </a:solidFill>
                <a:latin typeface="+mn-ea"/>
              </a:rPr>
              <a:t>例如，假如上例中的函数</a:t>
            </a:r>
            <a:r>
              <a:rPr lang="en-US" altLang="zh-CN" sz="2400" b="1" dirty="0">
                <a:solidFill>
                  <a:srgbClr val="030305"/>
                </a:solidFill>
                <a:latin typeface="+mn-ea"/>
              </a:rPr>
              <a:t>f</a:t>
            </a:r>
            <a:r>
              <a:rPr lang="zh-CN" altLang="en-US" sz="2400" b="1" dirty="0">
                <a:solidFill>
                  <a:srgbClr val="030305"/>
                </a:solidFill>
                <a:latin typeface="+mn-ea"/>
              </a:rPr>
              <a:t>已经在</a:t>
            </a:r>
            <a:r>
              <a:rPr lang="en-US" altLang="zh-CN" sz="2400" b="1" dirty="0">
                <a:solidFill>
                  <a:srgbClr val="030305"/>
                </a:solidFill>
                <a:latin typeface="+mn-ea"/>
              </a:rPr>
              <a:t>C</a:t>
            </a:r>
            <a:r>
              <a:rPr lang="zh-CN" altLang="en-US" sz="2400" b="1" dirty="0">
                <a:solidFill>
                  <a:srgbClr val="030305"/>
                </a:solidFill>
                <a:latin typeface="+mn-ea"/>
              </a:rPr>
              <a:t>中定义，调用</a:t>
            </a:r>
            <a:r>
              <a:rPr lang="en-US" altLang="zh-CN" sz="2400" b="1" dirty="0">
                <a:solidFill>
                  <a:srgbClr val="030305"/>
                </a:solidFill>
                <a:latin typeface="+mn-ea"/>
              </a:rPr>
              <a:t>f( 2+3, 4)</a:t>
            </a:r>
            <a:r>
              <a:rPr lang="zh-CN" altLang="en-US" sz="2400" b="1" dirty="0">
                <a:solidFill>
                  <a:srgbClr val="030305"/>
                </a:solidFill>
                <a:latin typeface="+mn-ea"/>
              </a:rPr>
              <a:t>翻译成三地址码如下：</a:t>
            </a:r>
            <a:endParaRPr lang="zh-CN" altLang="en-US" sz="2400" b="1" dirty="0">
              <a:solidFill>
                <a:srgbClr val="030305"/>
              </a:solidFill>
              <a:latin typeface="+mn-ea"/>
            </a:endParaRPr>
          </a:p>
          <a:p>
            <a:pPr>
              <a:lnSpc>
                <a:spcPct val="125000"/>
              </a:lnSpc>
              <a:spcBef>
                <a:spcPts val="0"/>
              </a:spcBef>
              <a:spcAft>
                <a:spcPts val="0"/>
              </a:spcAft>
            </a:pPr>
            <a:r>
              <a:rPr lang="en-US" altLang="zh-CN" sz="2400" b="1" dirty="0" err="1">
                <a:solidFill>
                  <a:srgbClr val="030305"/>
                </a:solidFill>
                <a:latin typeface="+mn-ea"/>
              </a:rPr>
              <a:t>begin_args</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a:solidFill>
                  <a:srgbClr val="030305"/>
                </a:solidFill>
                <a:latin typeface="+mn-ea"/>
              </a:rPr>
              <a:t>t1=2+3</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err="1">
                <a:solidFill>
                  <a:srgbClr val="030305"/>
                </a:solidFill>
                <a:latin typeface="+mn-ea"/>
              </a:rPr>
              <a:t>arg</a:t>
            </a:r>
            <a:r>
              <a:rPr lang="en-US" altLang="zh-CN" sz="2400" b="1" dirty="0">
                <a:solidFill>
                  <a:srgbClr val="030305"/>
                </a:solidFill>
                <a:latin typeface="+mn-ea"/>
              </a:rPr>
              <a:t> t1</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err="1">
                <a:solidFill>
                  <a:srgbClr val="030305"/>
                </a:solidFill>
                <a:latin typeface="+mn-ea"/>
              </a:rPr>
              <a:t>arg</a:t>
            </a:r>
            <a:r>
              <a:rPr lang="en-US" altLang="zh-CN" sz="2400" b="1" dirty="0">
                <a:solidFill>
                  <a:srgbClr val="030305"/>
                </a:solidFill>
                <a:latin typeface="+mn-ea"/>
              </a:rPr>
              <a:t> 4</a:t>
            </a:r>
            <a:endParaRPr lang="en-US" altLang="zh-CN" sz="2400" b="1" dirty="0">
              <a:solidFill>
                <a:srgbClr val="030305"/>
              </a:solidFill>
              <a:latin typeface="+mn-ea"/>
            </a:endParaRPr>
          </a:p>
          <a:p>
            <a:pPr>
              <a:lnSpc>
                <a:spcPct val="125000"/>
              </a:lnSpc>
              <a:spcBef>
                <a:spcPts val="0"/>
              </a:spcBef>
              <a:spcAft>
                <a:spcPts val="0"/>
              </a:spcAft>
            </a:pPr>
            <a:r>
              <a:rPr lang="en-US" altLang="zh-CN" sz="2400" b="1" dirty="0">
                <a:solidFill>
                  <a:srgbClr val="030305"/>
                </a:solidFill>
                <a:latin typeface="+mn-ea"/>
              </a:rPr>
              <a:t>call f</a:t>
            </a:r>
            <a:endParaRPr lang="zh-CN" altLang="en-US" sz="2400" b="1" dirty="0">
              <a:solidFill>
                <a:srgbClr val="030305"/>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arn(in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arn(in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arn(in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arn(inHorizontal)">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barn(inHorizontal)">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barn(inHorizontal)">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barn(inHorizontal)">
                                      <p:cBhvr>
                                        <p:cTn id="37" dur="5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barn(inHorizontal)">
                                      <p:cBhvr>
                                        <p:cTn id="42" dur="500"/>
                                        <p:tgtEl>
                                          <p:spTgt spid="4">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barn(inHorizontal)">
                                      <p:cBhvr>
                                        <p:cTn id="4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57200" y="276860"/>
            <a:ext cx="7718425" cy="593090"/>
          </a:xfrm>
        </p:spPr>
        <p:txBody>
          <a:bodyPr/>
          <a:lstStyle/>
          <a:p>
            <a:r>
              <a:rPr lang="en-US" altLang="zh-CN" sz="2800" dirty="0"/>
              <a:t>6.5.2  </a:t>
            </a:r>
            <a:r>
              <a:rPr lang="zh-CN" altLang="en-US" sz="2800" dirty="0"/>
              <a:t>函数定义和调用的代码生成过程</a:t>
            </a:r>
            <a:endParaRPr lang="zh-CN" altLang="en-US" sz="2800" dirty="0"/>
          </a:p>
        </p:txBody>
      </p:sp>
      <p:sp>
        <p:nvSpPr>
          <p:cNvPr id="7" name="Rectangle 9"/>
          <p:cNvSpPr txBox="1">
            <a:spLocks noChangeArrowheads="1"/>
          </p:cNvSpPr>
          <p:nvPr/>
        </p:nvSpPr>
        <p:spPr>
          <a:xfrm>
            <a:off x="508000" y="1305560"/>
            <a:ext cx="5071745" cy="44469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b="1" dirty="0">
                <a:solidFill>
                  <a:srgbClr val="030305"/>
                </a:solidFill>
                <a:latin typeface="+mn-ea"/>
              </a:rPr>
              <a:t>函数定义和调用的文法如下：</a:t>
            </a:r>
            <a:endParaRPr lang="zh-CN" altLang="en-US" sz="2400" b="1" dirty="0">
              <a:solidFill>
                <a:srgbClr val="030305"/>
              </a:solidFill>
              <a:latin typeface="+mn-ea"/>
            </a:endParaRPr>
          </a:p>
          <a:p>
            <a:pPr lvl="1">
              <a:lnSpc>
                <a:spcPct val="120000"/>
              </a:lnSpc>
            </a:pPr>
            <a:r>
              <a:rPr lang="en-US" altLang="zh-CN" b="1" i="1" dirty="0" err="1">
                <a:solidFill>
                  <a:srgbClr val="030305"/>
                </a:solidFill>
                <a:latin typeface="+mn-ea"/>
              </a:rPr>
              <a:t>program→decl-list</a:t>
            </a:r>
            <a:r>
              <a:rPr lang="en-US" altLang="zh-CN" b="1" i="1" dirty="0">
                <a:solidFill>
                  <a:srgbClr val="030305"/>
                </a:solidFill>
                <a:latin typeface="+mn-ea"/>
              </a:rPr>
              <a:t> exp</a:t>
            </a:r>
            <a:endParaRPr lang="en-US" altLang="zh-CN" b="1" i="1" dirty="0">
              <a:solidFill>
                <a:srgbClr val="030305"/>
              </a:solidFill>
              <a:latin typeface="+mn-ea"/>
            </a:endParaRPr>
          </a:p>
          <a:p>
            <a:pPr lvl="1">
              <a:lnSpc>
                <a:spcPct val="120000"/>
              </a:lnSpc>
            </a:pPr>
            <a:r>
              <a:rPr lang="en-US" altLang="zh-CN" b="1" i="1" dirty="0" err="1">
                <a:solidFill>
                  <a:srgbClr val="030305"/>
                </a:solidFill>
                <a:latin typeface="+mn-ea"/>
              </a:rPr>
              <a:t>decl-list→decl-list</a:t>
            </a:r>
            <a:r>
              <a:rPr lang="en-US" altLang="zh-CN" b="1" i="1" dirty="0">
                <a:solidFill>
                  <a:srgbClr val="030305"/>
                </a:solidFill>
                <a:latin typeface="+mn-ea"/>
              </a:rPr>
              <a:t> </a:t>
            </a:r>
            <a:r>
              <a:rPr lang="en-US" altLang="zh-CN" b="1" i="1" dirty="0" err="1">
                <a:solidFill>
                  <a:srgbClr val="030305"/>
                </a:solidFill>
                <a:latin typeface="+mn-ea"/>
              </a:rPr>
              <a:t>decl</a:t>
            </a:r>
            <a:r>
              <a:rPr lang="en-US" altLang="zh-CN" b="1" i="1" dirty="0">
                <a:solidFill>
                  <a:srgbClr val="030305"/>
                </a:solidFill>
                <a:latin typeface="+mn-ea"/>
              </a:rPr>
              <a:t>|</a:t>
            </a:r>
            <a:r>
              <a:rPr lang="en-US" altLang="zh-CN" b="1" dirty="0">
                <a:solidFill>
                  <a:srgbClr val="E9137E"/>
                </a:solidFill>
                <a:latin typeface="+mn-ea"/>
                <a:sym typeface="Symbol" panose="05050102010706020507" pitchFamily="18" charset="2"/>
              </a:rPr>
              <a:t></a:t>
            </a:r>
            <a:endParaRPr lang="en-US" altLang="zh-CN" b="1" dirty="0">
              <a:solidFill>
                <a:srgbClr val="E9137E"/>
              </a:solidFill>
              <a:latin typeface="+mn-ea"/>
            </a:endParaRPr>
          </a:p>
          <a:p>
            <a:pPr lvl="1">
              <a:lnSpc>
                <a:spcPct val="120000"/>
              </a:lnSpc>
            </a:pPr>
            <a:r>
              <a:rPr lang="en-US" altLang="zh-CN" b="1" i="1" dirty="0" err="1">
                <a:solidFill>
                  <a:srgbClr val="030305"/>
                </a:solidFill>
                <a:latin typeface="+mn-ea"/>
              </a:rPr>
              <a:t>decl→</a:t>
            </a:r>
            <a:r>
              <a:rPr lang="en-US" altLang="zh-CN" b="1" dirty="0" err="1">
                <a:solidFill>
                  <a:srgbClr val="E9137E"/>
                </a:solidFill>
                <a:latin typeface="+mn-ea"/>
              </a:rPr>
              <a:t>fn</a:t>
            </a:r>
            <a:r>
              <a:rPr lang="en-US" altLang="zh-CN" b="1" dirty="0">
                <a:solidFill>
                  <a:srgbClr val="030305"/>
                </a:solidFill>
                <a:latin typeface="+mn-ea"/>
              </a:rPr>
              <a:t> </a:t>
            </a:r>
            <a:r>
              <a:rPr lang="en-US" altLang="zh-CN" b="1" dirty="0">
                <a:solidFill>
                  <a:srgbClr val="E9137E"/>
                </a:solidFill>
                <a:latin typeface="+mn-ea"/>
              </a:rPr>
              <a:t>id</a:t>
            </a:r>
            <a:r>
              <a:rPr lang="en-US" altLang="zh-CN" b="1" i="1" dirty="0">
                <a:solidFill>
                  <a:srgbClr val="030305"/>
                </a:solidFill>
                <a:latin typeface="+mn-ea"/>
              </a:rPr>
              <a:t>(param-list)=exp</a:t>
            </a:r>
            <a:endParaRPr lang="en-US" altLang="zh-CN" b="1" i="1" dirty="0">
              <a:solidFill>
                <a:srgbClr val="030305"/>
              </a:solidFill>
              <a:latin typeface="+mn-ea"/>
            </a:endParaRPr>
          </a:p>
          <a:p>
            <a:pPr lvl="1">
              <a:lnSpc>
                <a:spcPct val="120000"/>
              </a:lnSpc>
            </a:pPr>
            <a:r>
              <a:rPr lang="en-US" altLang="zh-CN" b="1" i="1" dirty="0" err="1">
                <a:solidFill>
                  <a:srgbClr val="030305"/>
                </a:solidFill>
                <a:latin typeface="+mn-ea"/>
              </a:rPr>
              <a:t>param-list→param-list</a:t>
            </a:r>
            <a:r>
              <a:rPr lang="en-US" altLang="zh-CN" b="1" dirty="0" err="1">
                <a:solidFill>
                  <a:srgbClr val="E9137E"/>
                </a:solidFill>
                <a:latin typeface="+mn-ea"/>
              </a:rPr>
              <a:t>,id</a:t>
            </a:r>
            <a:r>
              <a:rPr lang="en-US" altLang="zh-CN" b="1" i="1" dirty="0" err="1">
                <a:solidFill>
                  <a:srgbClr val="030305"/>
                </a:solidFill>
                <a:latin typeface="+mn-ea"/>
              </a:rPr>
              <a:t>|</a:t>
            </a:r>
            <a:r>
              <a:rPr lang="en-US" altLang="zh-CN" b="1" dirty="0" err="1">
                <a:solidFill>
                  <a:srgbClr val="E9137E"/>
                </a:solidFill>
                <a:latin typeface="+mn-ea"/>
              </a:rPr>
              <a:t>id</a:t>
            </a:r>
            <a:endParaRPr lang="en-US" altLang="zh-CN" b="1" dirty="0">
              <a:solidFill>
                <a:srgbClr val="E9137E"/>
              </a:solidFill>
              <a:latin typeface="+mn-ea"/>
            </a:endParaRPr>
          </a:p>
          <a:p>
            <a:pPr lvl="1">
              <a:lnSpc>
                <a:spcPct val="120000"/>
              </a:lnSpc>
            </a:pPr>
            <a:r>
              <a:rPr lang="en-US" altLang="zh-CN" b="1" i="1" dirty="0" err="1">
                <a:solidFill>
                  <a:srgbClr val="030305"/>
                </a:solidFill>
                <a:latin typeface="+mn-ea"/>
              </a:rPr>
              <a:t>exp→exp+exp|call|</a:t>
            </a:r>
            <a:r>
              <a:rPr lang="en-US" altLang="zh-CN" b="1" dirty="0" err="1">
                <a:solidFill>
                  <a:srgbClr val="E9137E"/>
                </a:solidFill>
                <a:latin typeface="+mn-ea"/>
              </a:rPr>
              <a:t>num</a:t>
            </a:r>
            <a:r>
              <a:rPr lang="en-US" altLang="zh-CN" b="1" i="1" dirty="0" err="1">
                <a:solidFill>
                  <a:srgbClr val="030305"/>
                </a:solidFill>
                <a:latin typeface="+mn-ea"/>
              </a:rPr>
              <a:t>|</a:t>
            </a:r>
            <a:r>
              <a:rPr lang="en-US" altLang="zh-CN" b="1" dirty="0" err="1">
                <a:solidFill>
                  <a:srgbClr val="E9137E"/>
                </a:solidFill>
                <a:latin typeface="+mn-ea"/>
              </a:rPr>
              <a:t>id</a:t>
            </a:r>
            <a:endParaRPr lang="en-US" altLang="zh-CN" b="1" dirty="0">
              <a:solidFill>
                <a:srgbClr val="E9137E"/>
              </a:solidFill>
              <a:latin typeface="+mn-ea"/>
            </a:endParaRPr>
          </a:p>
          <a:p>
            <a:pPr lvl="1">
              <a:lnSpc>
                <a:spcPct val="120000"/>
              </a:lnSpc>
            </a:pPr>
            <a:r>
              <a:rPr lang="en-US" altLang="zh-CN" b="1" i="1" dirty="0" err="1">
                <a:solidFill>
                  <a:srgbClr val="030305"/>
                </a:solidFill>
                <a:latin typeface="+mn-ea"/>
              </a:rPr>
              <a:t>call→</a:t>
            </a:r>
            <a:r>
              <a:rPr lang="en-US" altLang="zh-CN" b="1" dirty="0" err="1">
                <a:solidFill>
                  <a:srgbClr val="E9137E"/>
                </a:solidFill>
                <a:latin typeface="+mn-ea"/>
              </a:rPr>
              <a:t>id</a:t>
            </a:r>
            <a:r>
              <a:rPr lang="en-US" altLang="zh-CN" b="1" i="1" dirty="0">
                <a:solidFill>
                  <a:srgbClr val="030305"/>
                </a:solidFill>
                <a:latin typeface="+mn-ea"/>
              </a:rPr>
              <a:t>(</a:t>
            </a:r>
            <a:r>
              <a:rPr lang="en-US" altLang="zh-CN" b="1" i="1" dirty="0" err="1">
                <a:solidFill>
                  <a:srgbClr val="030305"/>
                </a:solidFill>
                <a:latin typeface="+mn-ea"/>
              </a:rPr>
              <a:t>arg</a:t>
            </a:r>
            <a:r>
              <a:rPr lang="en-US" altLang="zh-CN" b="1" i="1" dirty="0">
                <a:solidFill>
                  <a:srgbClr val="030305"/>
                </a:solidFill>
                <a:latin typeface="+mn-ea"/>
              </a:rPr>
              <a:t>-list)</a:t>
            </a:r>
            <a:endParaRPr lang="en-US" altLang="zh-CN" b="1" i="1" dirty="0">
              <a:solidFill>
                <a:srgbClr val="030305"/>
              </a:solidFill>
              <a:latin typeface="+mn-ea"/>
            </a:endParaRPr>
          </a:p>
          <a:p>
            <a:pPr lvl="1">
              <a:lnSpc>
                <a:spcPct val="120000"/>
              </a:lnSpc>
            </a:pPr>
            <a:r>
              <a:rPr lang="en-US" altLang="zh-CN" b="1" i="1" dirty="0" err="1">
                <a:solidFill>
                  <a:srgbClr val="030305"/>
                </a:solidFill>
                <a:latin typeface="+mn-ea"/>
              </a:rPr>
              <a:t>arg-list→arg-list</a:t>
            </a:r>
            <a:r>
              <a:rPr lang="en-US" altLang="zh-CN" b="1" dirty="0" err="1">
                <a:solidFill>
                  <a:srgbClr val="E9137E"/>
                </a:solidFill>
                <a:latin typeface="+mn-ea"/>
              </a:rPr>
              <a:t>,</a:t>
            </a:r>
            <a:r>
              <a:rPr lang="en-US" altLang="zh-CN" b="1" i="1" dirty="0" err="1">
                <a:solidFill>
                  <a:srgbClr val="030305"/>
                </a:solidFill>
                <a:latin typeface="+mn-ea"/>
              </a:rPr>
              <a:t>exp|exp</a:t>
            </a:r>
            <a:endParaRPr lang="zh-CN" altLang="en-US" b="1" dirty="0">
              <a:latin typeface="+mn-ea"/>
            </a:endParaRPr>
          </a:p>
        </p:txBody>
      </p:sp>
      <p:sp>
        <p:nvSpPr>
          <p:cNvPr id="2" name="文本框 1"/>
          <p:cNvSpPr txBox="1"/>
          <p:nvPr/>
        </p:nvSpPr>
        <p:spPr>
          <a:xfrm>
            <a:off x="5270500" y="1430020"/>
            <a:ext cx="6414770" cy="3582670"/>
          </a:xfrm>
          <a:prstGeom prst="rect">
            <a:avLst/>
          </a:prstGeom>
          <a:noFill/>
        </p:spPr>
        <p:txBody>
          <a:bodyPr wrap="square" rtlCol="0" anchor="t">
            <a:noAutofit/>
          </a:bodyPr>
          <a:p>
            <a:pPr>
              <a:lnSpc>
                <a:spcPct val="125000"/>
              </a:lnSpc>
              <a:spcBef>
                <a:spcPts val="0"/>
              </a:spcBef>
              <a:spcAft>
                <a:spcPts val="0"/>
              </a:spcAft>
              <a:buFont typeface="Wingdings" panose="05000000000000000000" charset="0"/>
              <a:buChar char="p"/>
            </a:pPr>
            <a:r>
              <a:rPr lang="zh-CN" altLang="en-US" sz="2400" b="1" dirty="0">
                <a:solidFill>
                  <a:srgbClr val="030305"/>
                </a:solidFill>
                <a:latin typeface="宋体" panose="02010600030101010101" pitchFamily="2" charset="-122"/>
                <a:sym typeface="+mn-ea"/>
              </a:rPr>
              <a:t>该文法定义了一个程序，该程序是函数定义序列，这个序列后跟随着单个表达式。</a:t>
            </a:r>
            <a:endParaRPr lang="zh-CN" altLang="en-US" sz="2400" b="1" dirty="0">
              <a:solidFill>
                <a:srgbClr val="030305"/>
              </a:solidFill>
              <a:latin typeface="宋体" panose="02010600030101010101" pitchFamily="2" charset="-122"/>
            </a:endParaRPr>
          </a:p>
          <a:p>
            <a:pPr>
              <a:lnSpc>
                <a:spcPct val="125000"/>
              </a:lnSpc>
              <a:spcBef>
                <a:spcPts val="0"/>
              </a:spcBef>
              <a:spcAft>
                <a:spcPts val="0"/>
              </a:spcAft>
              <a:buFont typeface="Wingdings" panose="05000000000000000000" charset="0"/>
              <a:buChar char="p"/>
            </a:pPr>
            <a:r>
              <a:rPr lang="zh-CN" altLang="en-US" sz="2400" b="1" dirty="0">
                <a:solidFill>
                  <a:srgbClr val="030305"/>
                </a:solidFill>
                <a:latin typeface="宋体" panose="02010600030101010101" pitchFamily="2" charset="-122"/>
                <a:sym typeface="+mn-ea"/>
              </a:rPr>
              <a:t>在这个文法中没有变量或赋值，只有参数、函数和可以包括函数调用的表达式。</a:t>
            </a:r>
            <a:endParaRPr lang="zh-CN" altLang="en-US" sz="2400" b="1" dirty="0">
              <a:solidFill>
                <a:srgbClr val="030305"/>
              </a:solidFill>
              <a:latin typeface="宋体" panose="02010600030101010101" pitchFamily="2" charset="-122"/>
            </a:endParaRPr>
          </a:p>
          <a:p>
            <a:pPr>
              <a:lnSpc>
                <a:spcPct val="125000"/>
              </a:lnSpc>
              <a:spcBef>
                <a:spcPts val="0"/>
              </a:spcBef>
              <a:spcAft>
                <a:spcPts val="0"/>
              </a:spcAft>
              <a:buFont typeface="Wingdings" panose="05000000000000000000" charset="0"/>
              <a:buChar char="p"/>
            </a:pPr>
            <a:r>
              <a:rPr lang="zh-CN" altLang="en-US" sz="2400" b="1" dirty="0">
                <a:solidFill>
                  <a:srgbClr val="030305"/>
                </a:solidFill>
                <a:latin typeface="宋体" panose="02010600030101010101" pitchFamily="2" charset="-122"/>
                <a:sym typeface="+mn-ea"/>
              </a:rPr>
              <a:t>所有值都是整型的，所有函数返回整型，所有函数至少有1个参数。</a:t>
            </a:r>
            <a:endParaRPr lang="zh-CN" altLang="en-US" sz="2400" b="1" dirty="0">
              <a:solidFill>
                <a:srgbClr val="030305"/>
              </a:solidFill>
              <a:latin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Horizont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arn(inHorizontal)">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barn(inHorizontal)">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barn(inHorizontal)">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barn(inHorizontal)">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barn(inHorizontal)">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barn(inHorizontal)">
                                      <p:cBhvr>
                                        <p:cTn id="3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588010" y="276860"/>
            <a:ext cx="7587615" cy="593090"/>
          </a:xfrm>
        </p:spPr>
        <p:txBody>
          <a:bodyPr/>
          <a:lstStyle/>
          <a:p>
            <a:r>
              <a:rPr lang="en-US" altLang="zh-CN" sz="2800" dirty="0"/>
              <a:t>6.5.2  </a:t>
            </a:r>
            <a:r>
              <a:rPr lang="zh-CN" altLang="en-US" sz="2800" dirty="0"/>
              <a:t>函数定义和调用的代码生成过程</a:t>
            </a:r>
            <a:endParaRPr lang="zh-CN" altLang="en-US" sz="2800" dirty="0"/>
          </a:p>
        </p:txBody>
      </p:sp>
      <p:sp useBgFill="1">
        <p:nvSpPr>
          <p:cNvPr id="5" name="Rectangle 3"/>
          <p:cNvSpPr>
            <a:spLocks noChangeArrowheads="1"/>
          </p:cNvSpPr>
          <p:nvPr/>
        </p:nvSpPr>
        <p:spPr bwMode="auto">
          <a:xfrm>
            <a:off x="6833870" y="2163445"/>
            <a:ext cx="1143000" cy="457200"/>
          </a:xfrm>
          <a:prstGeom prst="rect">
            <a:avLst/>
          </a:prstGeom>
          <a:ln w="9525">
            <a:solidFill>
              <a:srgbClr val="030305"/>
            </a:solidFill>
            <a:miter lim="800000"/>
          </a:ln>
        </p:spPr>
        <p:txBody>
          <a:bodyPr wrap="none" lIns="90000" tIns="46800" rIns="90000" bIns="46800" anchor="ctr"/>
          <a:lstStyle/>
          <a:p>
            <a:pPr algn="ctr"/>
            <a:r>
              <a:rPr lang="en-US" altLang="zh-CN" sz="2400" b="1">
                <a:solidFill>
                  <a:srgbClr val="030305"/>
                </a:solidFill>
                <a:latin typeface="Courier New" panose="02070309020205020404" pitchFamily="49" charset="0"/>
                <a:cs typeface="Courier New" panose="02070309020205020404" pitchFamily="49" charset="0"/>
              </a:rPr>
              <a:t>PrgK</a:t>
            </a:r>
            <a:endParaRPr lang="en-US" altLang="zh-CN" sz="2400" b="1">
              <a:solidFill>
                <a:srgbClr val="030305"/>
              </a:solidFill>
              <a:latin typeface="Courier New" panose="02070309020205020404" pitchFamily="49" charset="0"/>
              <a:cs typeface="Courier New" panose="02070309020205020404" pitchFamily="49" charset="0"/>
            </a:endParaRPr>
          </a:p>
        </p:txBody>
      </p:sp>
      <p:sp>
        <p:nvSpPr>
          <p:cNvPr id="6" name="Line 4"/>
          <p:cNvSpPr>
            <a:spLocks noChangeShapeType="1"/>
          </p:cNvSpPr>
          <p:nvPr/>
        </p:nvSpPr>
        <p:spPr bwMode="auto">
          <a:xfrm flipH="1">
            <a:off x="6605270" y="2620645"/>
            <a:ext cx="6858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p:nvSpPr>
          <p:cNvPr id="7" name="Line 5"/>
          <p:cNvSpPr>
            <a:spLocks noChangeShapeType="1"/>
          </p:cNvSpPr>
          <p:nvPr/>
        </p:nvSpPr>
        <p:spPr bwMode="auto">
          <a:xfrm>
            <a:off x="7595870" y="2696845"/>
            <a:ext cx="5334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lstStyle/>
          <a:p>
            <a:endParaRPr lang="zh-CN" altLang="en-US" sz="2400">
              <a:latin typeface="Courier New" panose="02070309020205020404" pitchFamily="49" charset="0"/>
              <a:cs typeface="Courier New" panose="02070309020205020404" pitchFamily="49" charset="0"/>
            </a:endParaRPr>
          </a:p>
        </p:txBody>
      </p:sp>
      <p:sp useBgFill="1">
        <p:nvSpPr>
          <p:cNvPr id="8" name="AutoShape 6"/>
          <p:cNvSpPr>
            <a:spLocks noChangeArrowheads="1"/>
          </p:cNvSpPr>
          <p:nvPr/>
        </p:nvSpPr>
        <p:spPr bwMode="auto">
          <a:xfrm>
            <a:off x="6224270" y="3154045"/>
            <a:ext cx="685800" cy="457200"/>
          </a:xfrm>
          <a:prstGeom prst="triangle">
            <a:avLst>
              <a:gd name="adj" fmla="val 50000"/>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400">
              <a:latin typeface="Courier New" panose="02070309020205020404" pitchFamily="49" charset="0"/>
              <a:cs typeface="Courier New" panose="02070309020205020404" pitchFamily="49" charset="0"/>
            </a:endParaRPr>
          </a:p>
        </p:txBody>
      </p:sp>
      <p:sp useBgFill="1">
        <p:nvSpPr>
          <p:cNvPr id="9" name="AutoShape 7"/>
          <p:cNvSpPr>
            <a:spLocks noChangeArrowheads="1"/>
          </p:cNvSpPr>
          <p:nvPr/>
        </p:nvSpPr>
        <p:spPr bwMode="auto">
          <a:xfrm>
            <a:off x="7853045" y="3154045"/>
            <a:ext cx="685800" cy="457200"/>
          </a:xfrm>
          <a:prstGeom prst="triangle">
            <a:avLst>
              <a:gd name="adj" fmla="val 50000"/>
            </a:avLst>
          </a:prstGeom>
          <a:ln w="9525">
            <a:solidFill>
              <a:srgbClr val="030305"/>
            </a:solidFill>
            <a:miter lim="800000"/>
          </a:ln>
        </p:spPr>
        <p:txBody>
          <a:bodyPr wrap="none" lIns="90000" tIns="46800" rIns="90000" bIns="46800" anchor="ctr"/>
          <a:lstStyle/>
          <a:p>
            <a:pPr>
              <a:lnSpc>
                <a:spcPct val="75000"/>
              </a:lnSpc>
              <a:spcBef>
                <a:spcPct val="20000"/>
              </a:spcBef>
              <a:buClr>
                <a:schemeClr val="accent2"/>
              </a:buClr>
              <a:buFont typeface="Wingdings" panose="05000000000000000000" pitchFamily="2" charset="2"/>
              <a:buNone/>
            </a:pPr>
            <a:endParaRPr lang="zh-CN" altLang="en-US" sz="2400">
              <a:latin typeface="Courier New" panose="02070309020205020404" pitchFamily="49" charset="0"/>
              <a:cs typeface="Courier New" panose="02070309020205020404" pitchFamily="49" charset="0"/>
            </a:endParaRPr>
          </a:p>
        </p:txBody>
      </p:sp>
      <p:sp>
        <p:nvSpPr>
          <p:cNvPr id="10" name="Rectangle 8"/>
          <p:cNvSpPr>
            <a:spLocks noChangeArrowheads="1"/>
          </p:cNvSpPr>
          <p:nvPr/>
        </p:nvSpPr>
        <p:spPr bwMode="auto">
          <a:xfrm>
            <a:off x="6224270" y="3611245"/>
            <a:ext cx="220281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en-US" altLang="zh-CN" sz="2400" dirty="0">
                <a:solidFill>
                  <a:srgbClr val="030305"/>
                </a:solidFill>
                <a:latin typeface="Courier New" panose="02070309020205020404" pitchFamily="49" charset="0"/>
                <a:cs typeface="Courier New" panose="02070309020205020404" pitchFamily="49" charset="0"/>
              </a:rPr>
              <a:t>list</a:t>
            </a:r>
            <a:endParaRPr lang="zh-CN" altLang="en-US" sz="2400" dirty="0">
              <a:solidFill>
                <a:srgbClr val="030305"/>
              </a:solidFill>
              <a:latin typeface="Courier New" panose="02070309020205020404" pitchFamily="49" charset="0"/>
              <a:cs typeface="Courier New" panose="02070309020205020404" pitchFamily="49" charset="0"/>
            </a:endParaRPr>
          </a:p>
        </p:txBody>
      </p:sp>
      <p:sp>
        <p:nvSpPr>
          <p:cNvPr id="11" name="Rectangle 9"/>
          <p:cNvSpPr>
            <a:spLocks noChangeArrowheads="1"/>
          </p:cNvSpPr>
          <p:nvPr/>
        </p:nvSpPr>
        <p:spPr bwMode="auto">
          <a:xfrm>
            <a:off x="7900670" y="3690620"/>
            <a:ext cx="72771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dirty="0">
                <a:solidFill>
                  <a:srgbClr val="030305"/>
                </a:solidFill>
                <a:latin typeface="Courier New" panose="02070309020205020404" pitchFamily="49" charset="0"/>
                <a:cs typeface="Courier New" panose="02070309020205020404" pitchFamily="49" charset="0"/>
              </a:rPr>
              <a:t>exp</a:t>
            </a:r>
            <a:endParaRPr lang="zh-CN" altLang="en-US" sz="2400" dirty="0">
              <a:solidFill>
                <a:srgbClr val="030305"/>
              </a:solidFill>
              <a:latin typeface="Courier New" panose="02070309020205020404" pitchFamily="49" charset="0"/>
              <a:cs typeface="Courier New" panose="02070309020205020404" pitchFamily="49" charset="0"/>
            </a:endParaRPr>
          </a:p>
        </p:txBody>
      </p:sp>
      <p:grpSp>
        <p:nvGrpSpPr>
          <p:cNvPr id="3" name="组合 2"/>
          <p:cNvGrpSpPr/>
          <p:nvPr/>
        </p:nvGrpSpPr>
        <p:grpSpPr>
          <a:xfrm>
            <a:off x="1849381" y="4660415"/>
            <a:ext cx="5160645" cy="1771650"/>
            <a:chOff x="1533525" y="2924175"/>
            <a:chExt cx="5160645" cy="1771650"/>
          </a:xfrm>
        </p:grpSpPr>
        <p:grpSp>
          <p:nvGrpSpPr>
            <p:cNvPr id="18" name="组合 27"/>
            <p:cNvGrpSpPr/>
            <p:nvPr/>
          </p:nvGrpSpPr>
          <p:grpSpPr bwMode="auto">
            <a:xfrm>
              <a:off x="1533525" y="3000375"/>
              <a:ext cx="2209800" cy="1695450"/>
              <a:chOff x="1533524" y="3000372"/>
              <a:chExt cx="2209800" cy="1695450"/>
            </a:xfrm>
          </p:grpSpPr>
          <p:sp useBgFill="1">
            <p:nvSpPr>
              <p:cNvPr id="19" name="Rectangle 2"/>
              <p:cNvSpPr>
                <a:spLocks noChangeArrowheads="1"/>
              </p:cNvSpPr>
              <p:nvPr>
                <p:custDataLst>
                  <p:tags r:id="rId1"/>
                </p:custDataLst>
              </p:nvPr>
            </p:nvSpPr>
            <p:spPr bwMode="auto">
              <a:xfrm>
                <a:off x="2143124" y="3000372"/>
                <a:ext cx="1295400" cy="381000"/>
              </a:xfrm>
              <a:prstGeom prst="rect">
                <a:avLst/>
              </a:prstGeom>
              <a:ln w="9525">
                <a:solidFill>
                  <a:srgbClr val="030305"/>
                </a:solidFill>
                <a:miter lim="800000"/>
              </a:ln>
            </p:spPr>
            <p:txBody>
              <a:bodyPr wrap="none" lIns="90000" tIns="46800" rIns="90000" bIns="46800" anchor="ctr"/>
              <a:p>
                <a:pPr algn="ctr"/>
                <a:r>
                  <a:rPr lang="en-US" altLang="zh-CN" sz="2000" b="1">
                    <a:solidFill>
                      <a:srgbClr val="030305"/>
                    </a:solidFill>
                    <a:latin typeface="Courier New" panose="02070309020205020404" pitchFamily="49" charset="0"/>
                    <a:cs typeface="Courier New" panose="02070309020205020404" pitchFamily="49" charset="0"/>
                  </a:rPr>
                  <a:t>FnK(id1)</a:t>
                </a:r>
                <a:endParaRPr lang="en-US" altLang="zh-CN" sz="2000" b="1">
                  <a:solidFill>
                    <a:srgbClr val="030305"/>
                  </a:solidFill>
                  <a:latin typeface="Courier New" panose="02070309020205020404" pitchFamily="49" charset="0"/>
                  <a:cs typeface="Courier New" panose="02070309020205020404" pitchFamily="49" charset="0"/>
                </a:endParaRPr>
              </a:p>
            </p:txBody>
          </p:sp>
          <p:sp>
            <p:nvSpPr>
              <p:cNvPr id="20" name="Line 3"/>
              <p:cNvSpPr>
                <a:spLocks noChangeShapeType="1"/>
              </p:cNvSpPr>
              <p:nvPr>
                <p:custDataLst>
                  <p:tags r:id="rId2"/>
                </p:custDataLst>
              </p:nvPr>
            </p:nvSpPr>
            <p:spPr bwMode="auto">
              <a:xfrm flipH="1">
                <a:off x="2143124" y="3381372"/>
                <a:ext cx="3810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Courier New" panose="02070309020205020404" pitchFamily="49" charset="0"/>
                  <a:cs typeface="Courier New" panose="02070309020205020404" pitchFamily="49" charset="0"/>
                </a:endParaRPr>
              </a:p>
            </p:txBody>
          </p:sp>
          <p:sp>
            <p:nvSpPr>
              <p:cNvPr id="21" name="Line 4"/>
              <p:cNvSpPr>
                <a:spLocks noChangeShapeType="1"/>
              </p:cNvSpPr>
              <p:nvPr>
                <p:custDataLst>
                  <p:tags r:id="rId3"/>
                </p:custDataLst>
              </p:nvPr>
            </p:nvSpPr>
            <p:spPr bwMode="auto">
              <a:xfrm>
                <a:off x="3057524" y="3381372"/>
                <a:ext cx="3048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Courier New" panose="02070309020205020404" pitchFamily="49" charset="0"/>
                  <a:cs typeface="Courier New" panose="02070309020205020404" pitchFamily="49" charset="0"/>
                </a:endParaRPr>
              </a:p>
            </p:txBody>
          </p:sp>
          <p:sp useBgFill="1">
            <p:nvSpPr>
              <p:cNvPr id="22" name="AutoShape 5"/>
              <p:cNvSpPr>
                <a:spLocks noChangeArrowheads="1"/>
              </p:cNvSpPr>
              <p:nvPr>
                <p:custDataLst>
                  <p:tags r:id="rId4"/>
                </p:custDataLst>
              </p:nvPr>
            </p:nvSpPr>
            <p:spPr bwMode="auto">
              <a:xfrm>
                <a:off x="1762124" y="3914772"/>
                <a:ext cx="6858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Courier New" panose="02070309020205020404" pitchFamily="49" charset="0"/>
                  <a:cs typeface="Courier New" panose="02070309020205020404" pitchFamily="49" charset="0"/>
                </a:endParaRPr>
              </a:p>
            </p:txBody>
          </p:sp>
          <p:sp useBgFill="1">
            <p:nvSpPr>
              <p:cNvPr id="23" name="AutoShape 6"/>
              <p:cNvSpPr>
                <a:spLocks noChangeArrowheads="1"/>
              </p:cNvSpPr>
              <p:nvPr>
                <p:custDataLst>
                  <p:tags r:id="rId5"/>
                </p:custDataLst>
              </p:nvPr>
            </p:nvSpPr>
            <p:spPr bwMode="auto">
              <a:xfrm>
                <a:off x="3057524" y="3914772"/>
                <a:ext cx="6858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Courier New" panose="02070309020205020404" pitchFamily="49" charset="0"/>
                  <a:cs typeface="Courier New" panose="02070309020205020404" pitchFamily="49" charset="0"/>
                </a:endParaRPr>
              </a:p>
            </p:txBody>
          </p:sp>
          <p:sp>
            <p:nvSpPr>
              <p:cNvPr id="24" name="Rectangle 7"/>
              <p:cNvSpPr>
                <a:spLocks noChangeArrowheads="1"/>
              </p:cNvSpPr>
              <p:nvPr>
                <p:custDataLst>
                  <p:tags r:id="rId6"/>
                </p:custDataLst>
              </p:nvPr>
            </p:nvSpPr>
            <p:spPr bwMode="auto">
              <a:xfrm>
                <a:off x="1533524" y="4295772"/>
                <a:ext cx="15506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a:solidFill>
                      <a:srgbClr val="030305"/>
                    </a:solidFill>
                    <a:latin typeface="Courier New" panose="02070309020205020404" pitchFamily="49" charset="0"/>
                    <a:cs typeface="Courier New" panose="02070309020205020404" pitchFamily="49" charset="0"/>
                  </a:rPr>
                  <a:t>para-list</a:t>
                </a:r>
                <a:endParaRPr lang="zh-CN" altLang="en-US" sz="2000">
                  <a:solidFill>
                    <a:srgbClr val="030305"/>
                  </a:solidFill>
                  <a:latin typeface="Courier New" panose="02070309020205020404" pitchFamily="49" charset="0"/>
                  <a:cs typeface="Courier New" panose="02070309020205020404" pitchFamily="49" charset="0"/>
                </a:endParaRPr>
              </a:p>
            </p:txBody>
          </p:sp>
          <p:sp>
            <p:nvSpPr>
              <p:cNvPr id="25" name="Rectangle 8"/>
              <p:cNvSpPr>
                <a:spLocks noChangeArrowheads="1"/>
              </p:cNvSpPr>
              <p:nvPr>
                <p:custDataLst>
                  <p:tags r:id="rId7"/>
                </p:custDataLst>
              </p:nvPr>
            </p:nvSpPr>
            <p:spPr bwMode="auto">
              <a:xfrm>
                <a:off x="3057524" y="4295772"/>
                <a:ext cx="6362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a:solidFill>
                      <a:srgbClr val="030305"/>
                    </a:solidFill>
                    <a:latin typeface="Courier New" panose="02070309020205020404" pitchFamily="49" charset="0"/>
                    <a:cs typeface="Courier New" panose="02070309020205020404" pitchFamily="49" charset="0"/>
                  </a:rPr>
                  <a:t>exp</a:t>
                </a:r>
                <a:endParaRPr lang="en-US" altLang="zh-CN" sz="2000">
                  <a:solidFill>
                    <a:srgbClr val="030305"/>
                  </a:solidFill>
                  <a:latin typeface="Courier New" panose="02070309020205020404" pitchFamily="49" charset="0"/>
                  <a:cs typeface="Courier New" panose="02070309020205020404" pitchFamily="49" charset="0"/>
                </a:endParaRPr>
              </a:p>
            </p:txBody>
          </p:sp>
        </p:grpSp>
        <p:grpSp>
          <p:nvGrpSpPr>
            <p:cNvPr id="27" name="组合 29"/>
            <p:cNvGrpSpPr/>
            <p:nvPr/>
          </p:nvGrpSpPr>
          <p:grpSpPr bwMode="auto">
            <a:xfrm>
              <a:off x="3438525" y="3000375"/>
              <a:ext cx="2590800" cy="1695450"/>
              <a:chOff x="3438524" y="3000372"/>
              <a:chExt cx="2590800" cy="1695450"/>
            </a:xfrm>
          </p:grpSpPr>
          <p:sp>
            <p:nvSpPr>
              <p:cNvPr id="28" name="Line 10"/>
              <p:cNvSpPr>
                <a:spLocks noChangeShapeType="1"/>
              </p:cNvSpPr>
              <p:nvPr>
                <p:custDataLst>
                  <p:tags r:id="rId8"/>
                </p:custDataLst>
              </p:nvPr>
            </p:nvSpPr>
            <p:spPr bwMode="auto">
              <a:xfrm>
                <a:off x="3438524" y="3152772"/>
                <a:ext cx="914400"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Courier New" panose="02070309020205020404" pitchFamily="49" charset="0"/>
                  <a:cs typeface="Courier New" panose="02070309020205020404" pitchFamily="49" charset="0"/>
                </a:endParaRPr>
              </a:p>
            </p:txBody>
          </p:sp>
          <p:grpSp>
            <p:nvGrpSpPr>
              <p:cNvPr id="29" name="组合 28"/>
              <p:cNvGrpSpPr/>
              <p:nvPr/>
            </p:nvGrpSpPr>
            <p:grpSpPr bwMode="auto">
              <a:xfrm>
                <a:off x="3819524" y="3000372"/>
                <a:ext cx="2209800" cy="1695450"/>
                <a:chOff x="3819524" y="3000372"/>
                <a:chExt cx="2209800" cy="1695450"/>
              </a:xfrm>
            </p:grpSpPr>
            <p:sp useBgFill="1">
              <p:nvSpPr>
                <p:cNvPr id="30" name="Rectangle 11"/>
                <p:cNvSpPr>
                  <a:spLocks noChangeArrowheads="1"/>
                </p:cNvSpPr>
                <p:nvPr>
                  <p:custDataLst>
                    <p:tags r:id="rId9"/>
                  </p:custDataLst>
                </p:nvPr>
              </p:nvSpPr>
              <p:spPr bwMode="auto">
                <a:xfrm>
                  <a:off x="4429124" y="3000372"/>
                  <a:ext cx="1295400" cy="381000"/>
                </a:xfrm>
                <a:prstGeom prst="rect">
                  <a:avLst/>
                </a:prstGeom>
                <a:ln w="9525">
                  <a:solidFill>
                    <a:srgbClr val="030305"/>
                  </a:solidFill>
                  <a:miter lim="800000"/>
                </a:ln>
              </p:spPr>
              <p:txBody>
                <a:bodyPr wrap="none" lIns="90000" tIns="46800" rIns="90000" bIns="46800" anchor="ctr"/>
                <a:p>
                  <a:pPr algn="ctr"/>
                  <a:r>
                    <a:rPr lang="en-US" altLang="zh-CN" sz="2000" b="1">
                      <a:solidFill>
                        <a:srgbClr val="030305"/>
                      </a:solidFill>
                      <a:latin typeface="Courier New" panose="02070309020205020404" pitchFamily="49" charset="0"/>
                      <a:cs typeface="Courier New" panose="02070309020205020404" pitchFamily="49" charset="0"/>
                    </a:rPr>
                    <a:t>FnK(id2)</a:t>
                  </a:r>
                  <a:endParaRPr lang="en-US" altLang="zh-CN" sz="2000" b="1">
                    <a:solidFill>
                      <a:srgbClr val="030305"/>
                    </a:solidFill>
                    <a:latin typeface="Courier New" panose="02070309020205020404" pitchFamily="49" charset="0"/>
                    <a:cs typeface="Courier New" panose="02070309020205020404" pitchFamily="49" charset="0"/>
                  </a:endParaRPr>
                </a:p>
              </p:txBody>
            </p:sp>
            <p:sp>
              <p:nvSpPr>
                <p:cNvPr id="31" name="Line 12"/>
                <p:cNvSpPr>
                  <a:spLocks noChangeShapeType="1"/>
                </p:cNvSpPr>
                <p:nvPr>
                  <p:custDataLst>
                    <p:tags r:id="rId10"/>
                  </p:custDataLst>
                </p:nvPr>
              </p:nvSpPr>
              <p:spPr bwMode="auto">
                <a:xfrm flipH="1">
                  <a:off x="4429124" y="3381372"/>
                  <a:ext cx="3810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Courier New" panose="02070309020205020404" pitchFamily="49" charset="0"/>
                    <a:cs typeface="Courier New" panose="02070309020205020404" pitchFamily="49" charset="0"/>
                  </a:endParaRPr>
                </a:p>
              </p:txBody>
            </p:sp>
            <p:sp>
              <p:nvSpPr>
                <p:cNvPr id="32" name="Line 13"/>
                <p:cNvSpPr>
                  <a:spLocks noChangeShapeType="1"/>
                </p:cNvSpPr>
                <p:nvPr>
                  <p:custDataLst>
                    <p:tags r:id="rId11"/>
                  </p:custDataLst>
                </p:nvPr>
              </p:nvSpPr>
              <p:spPr bwMode="auto">
                <a:xfrm>
                  <a:off x="5343524" y="3381372"/>
                  <a:ext cx="3048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Courier New" panose="02070309020205020404" pitchFamily="49" charset="0"/>
                    <a:cs typeface="Courier New" panose="02070309020205020404" pitchFamily="49" charset="0"/>
                  </a:endParaRPr>
                </a:p>
              </p:txBody>
            </p:sp>
            <p:sp useBgFill="1">
              <p:nvSpPr>
                <p:cNvPr id="33" name="AutoShape 14"/>
                <p:cNvSpPr>
                  <a:spLocks noChangeArrowheads="1"/>
                </p:cNvSpPr>
                <p:nvPr>
                  <p:custDataLst>
                    <p:tags r:id="rId12"/>
                  </p:custDataLst>
                </p:nvPr>
              </p:nvSpPr>
              <p:spPr bwMode="auto">
                <a:xfrm>
                  <a:off x="4048124" y="3914772"/>
                  <a:ext cx="6858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Courier New" panose="02070309020205020404" pitchFamily="49" charset="0"/>
                    <a:cs typeface="Courier New" panose="02070309020205020404" pitchFamily="49" charset="0"/>
                  </a:endParaRPr>
                </a:p>
              </p:txBody>
            </p:sp>
            <p:sp useBgFill="1">
              <p:nvSpPr>
                <p:cNvPr id="34" name="AutoShape 15"/>
                <p:cNvSpPr>
                  <a:spLocks noChangeArrowheads="1"/>
                </p:cNvSpPr>
                <p:nvPr>
                  <p:custDataLst>
                    <p:tags r:id="rId13"/>
                  </p:custDataLst>
                </p:nvPr>
              </p:nvSpPr>
              <p:spPr bwMode="auto">
                <a:xfrm>
                  <a:off x="5343524" y="3914772"/>
                  <a:ext cx="6858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sz="2000">
                    <a:latin typeface="Courier New" panose="02070309020205020404" pitchFamily="49" charset="0"/>
                    <a:cs typeface="Courier New" panose="02070309020205020404" pitchFamily="49" charset="0"/>
                  </a:endParaRPr>
                </a:p>
              </p:txBody>
            </p:sp>
            <p:sp>
              <p:nvSpPr>
                <p:cNvPr id="35" name="Rectangle 16"/>
                <p:cNvSpPr>
                  <a:spLocks noChangeArrowheads="1"/>
                </p:cNvSpPr>
                <p:nvPr>
                  <p:custDataLst>
                    <p:tags r:id="rId14"/>
                  </p:custDataLst>
                </p:nvPr>
              </p:nvSpPr>
              <p:spPr bwMode="auto">
                <a:xfrm>
                  <a:off x="3819524" y="4295772"/>
                  <a:ext cx="15506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a:solidFill>
                        <a:srgbClr val="030305"/>
                      </a:solidFill>
                      <a:latin typeface="Courier New" panose="02070309020205020404" pitchFamily="49" charset="0"/>
                      <a:cs typeface="Courier New" panose="02070309020205020404" pitchFamily="49" charset="0"/>
                    </a:rPr>
                    <a:t>para-list</a:t>
                  </a:r>
                  <a:endParaRPr lang="zh-CN" altLang="en-US" sz="2000">
                    <a:solidFill>
                      <a:srgbClr val="030305"/>
                    </a:solidFill>
                    <a:latin typeface="Courier New" panose="02070309020205020404" pitchFamily="49" charset="0"/>
                    <a:cs typeface="Courier New" panose="02070309020205020404" pitchFamily="49" charset="0"/>
                  </a:endParaRPr>
                </a:p>
              </p:txBody>
            </p:sp>
            <p:sp>
              <p:nvSpPr>
                <p:cNvPr id="36" name="Rectangle 17"/>
                <p:cNvSpPr>
                  <a:spLocks noChangeArrowheads="1"/>
                </p:cNvSpPr>
                <p:nvPr>
                  <p:custDataLst>
                    <p:tags r:id="rId15"/>
                  </p:custDataLst>
                </p:nvPr>
              </p:nvSpPr>
              <p:spPr bwMode="auto">
                <a:xfrm>
                  <a:off x="5343524" y="4295772"/>
                  <a:ext cx="6362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a:solidFill>
                        <a:srgbClr val="030305"/>
                      </a:solidFill>
                      <a:latin typeface="Courier New" panose="02070309020205020404" pitchFamily="49" charset="0"/>
                      <a:cs typeface="Courier New" panose="02070309020205020404" pitchFamily="49" charset="0"/>
                    </a:rPr>
                    <a:t>exp</a:t>
                  </a:r>
                  <a:endParaRPr lang="zh-CN" altLang="en-US" sz="2000">
                    <a:solidFill>
                      <a:srgbClr val="030305"/>
                    </a:solidFill>
                    <a:latin typeface="Courier New" panose="02070309020205020404" pitchFamily="49" charset="0"/>
                    <a:cs typeface="Courier New" panose="02070309020205020404" pitchFamily="49" charset="0"/>
                  </a:endParaRPr>
                </a:p>
              </p:txBody>
            </p:sp>
          </p:grpSp>
        </p:grpSp>
        <p:grpSp>
          <p:nvGrpSpPr>
            <p:cNvPr id="37" name="组合 30"/>
            <p:cNvGrpSpPr/>
            <p:nvPr/>
          </p:nvGrpSpPr>
          <p:grpSpPr bwMode="auto">
            <a:xfrm>
              <a:off x="5724525" y="2924175"/>
              <a:ext cx="969645" cy="400050"/>
              <a:chOff x="5724524" y="2924172"/>
              <a:chExt cx="969645" cy="400050"/>
            </a:xfrm>
          </p:grpSpPr>
          <p:sp>
            <p:nvSpPr>
              <p:cNvPr id="38" name="Line 18"/>
              <p:cNvSpPr>
                <a:spLocks noChangeShapeType="1"/>
              </p:cNvSpPr>
              <p:nvPr>
                <p:custDataLst>
                  <p:tags r:id="rId16"/>
                </p:custDataLst>
              </p:nvPr>
            </p:nvSpPr>
            <p:spPr bwMode="auto">
              <a:xfrm>
                <a:off x="5724524" y="3152772"/>
                <a:ext cx="638175"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000">
                  <a:latin typeface="Courier New" panose="02070309020205020404" pitchFamily="49" charset="0"/>
                  <a:cs typeface="Courier New" panose="02070309020205020404" pitchFamily="49" charset="0"/>
                </a:endParaRPr>
              </a:p>
            </p:txBody>
          </p:sp>
          <p:sp>
            <p:nvSpPr>
              <p:cNvPr id="39" name="Rectangle 19"/>
              <p:cNvSpPr>
                <a:spLocks noChangeArrowheads="1"/>
              </p:cNvSpPr>
              <p:nvPr>
                <p:custDataLst>
                  <p:tags r:id="rId17"/>
                </p:custDataLst>
              </p:nvPr>
            </p:nvSpPr>
            <p:spPr bwMode="auto">
              <a:xfrm>
                <a:off x="6362699" y="2924172"/>
                <a:ext cx="33147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000">
                    <a:solidFill>
                      <a:srgbClr val="030305"/>
                    </a:solidFill>
                    <a:latin typeface="Courier New" panose="02070309020205020404" pitchFamily="49" charset="0"/>
                    <a:cs typeface="Courier New" panose="02070309020205020404" pitchFamily="49" charset="0"/>
                  </a:rPr>
                  <a:t>…</a:t>
                </a:r>
                <a:endParaRPr lang="zh-CN" altLang="en-US" sz="2000">
                  <a:solidFill>
                    <a:srgbClr val="030305"/>
                  </a:solidFill>
                  <a:latin typeface="Courier New" panose="02070309020205020404" pitchFamily="49" charset="0"/>
                  <a:cs typeface="Courier New" panose="02070309020205020404" pitchFamily="49" charset="0"/>
                </a:endParaRPr>
              </a:p>
            </p:txBody>
          </p:sp>
        </p:grpSp>
      </p:grpSp>
      <p:sp useBgFill="1">
        <p:nvSpPr>
          <p:cNvPr id="44" name="AutoShape 2"/>
          <p:cNvSpPr>
            <a:spLocks noChangeArrowheads="1"/>
          </p:cNvSpPr>
          <p:nvPr>
            <p:custDataLst>
              <p:tags r:id="rId18"/>
            </p:custDataLst>
          </p:nvPr>
        </p:nvSpPr>
        <p:spPr bwMode="auto">
          <a:xfrm>
            <a:off x="9992995" y="2971800"/>
            <a:ext cx="6858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a:p>
        </p:txBody>
      </p:sp>
      <p:sp>
        <p:nvSpPr>
          <p:cNvPr id="45" name="Rectangle 3"/>
          <p:cNvSpPr>
            <a:spLocks noChangeArrowheads="1"/>
          </p:cNvSpPr>
          <p:nvPr>
            <p:custDataLst>
              <p:tags r:id="rId19"/>
            </p:custDataLst>
          </p:nvPr>
        </p:nvSpPr>
        <p:spPr bwMode="auto">
          <a:xfrm>
            <a:off x="9764395" y="3429000"/>
            <a:ext cx="102108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a:solidFill>
                  <a:srgbClr val="030305"/>
                </a:solidFill>
              </a:rPr>
              <a:t>arg-list</a:t>
            </a:r>
            <a:endParaRPr lang="zh-CN" altLang="en-US" sz="2400">
              <a:solidFill>
                <a:srgbClr val="030305"/>
              </a:solidFill>
            </a:endParaRPr>
          </a:p>
        </p:txBody>
      </p:sp>
      <p:sp useBgFill="1">
        <p:nvSpPr>
          <p:cNvPr id="46" name="Rectangle 4"/>
          <p:cNvSpPr>
            <a:spLocks noChangeArrowheads="1"/>
          </p:cNvSpPr>
          <p:nvPr>
            <p:custDataLst>
              <p:tags r:id="rId20"/>
            </p:custDataLst>
          </p:nvPr>
        </p:nvSpPr>
        <p:spPr bwMode="auto">
          <a:xfrm>
            <a:off x="9840595" y="2133600"/>
            <a:ext cx="1295400" cy="381000"/>
          </a:xfrm>
          <a:prstGeom prst="rect">
            <a:avLst/>
          </a:prstGeom>
          <a:ln w="9525">
            <a:solidFill>
              <a:srgbClr val="030305"/>
            </a:solidFill>
            <a:miter lim="800000"/>
          </a:ln>
        </p:spPr>
        <p:txBody>
          <a:bodyPr wrap="none" lIns="90000" tIns="46800" rIns="90000" bIns="46800" anchor="ctr"/>
          <a:p>
            <a:pPr algn="ctr"/>
            <a:r>
              <a:rPr lang="en-US" altLang="zh-CN" sz="2400" b="1">
                <a:solidFill>
                  <a:srgbClr val="030305"/>
                </a:solidFill>
                <a:latin typeface="Courier-Bold"/>
              </a:rPr>
              <a:t>CallK</a:t>
            </a:r>
            <a:r>
              <a:rPr lang="en-US" altLang="zh-CN" sz="2400">
                <a:solidFill>
                  <a:srgbClr val="030305"/>
                </a:solidFill>
              </a:rPr>
              <a:t>(f)</a:t>
            </a:r>
            <a:endParaRPr lang="en-US" altLang="zh-CN" sz="2400">
              <a:solidFill>
                <a:srgbClr val="030305"/>
              </a:solidFill>
            </a:endParaRPr>
          </a:p>
        </p:txBody>
      </p:sp>
      <p:sp>
        <p:nvSpPr>
          <p:cNvPr id="47" name="Line 5"/>
          <p:cNvSpPr>
            <a:spLocks noChangeShapeType="1"/>
          </p:cNvSpPr>
          <p:nvPr>
            <p:custDataLst>
              <p:tags r:id="rId21"/>
            </p:custDataLst>
          </p:nvPr>
        </p:nvSpPr>
        <p:spPr bwMode="auto">
          <a:xfrm flipH="1">
            <a:off x="10373995" y="2514600"/>
            <a:ext cx="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a:p>
        </p:txBody>
      </p:sp>
      <p:sp useBgFill="1">
        <p:nvSpPr>
          <p:cNvPr id="53" name="Rectangle 19"/>
          <p:cNvSpPr>
            <a:spLocks noChangeArrowheads="1"/>
          </p:cNvSpPr>
          <p:nvPr>
            <p:custDataLst>
              <p:tags r:id="rId22"/>
            </p:custDataLst>
          </p:nvPr>
        </p:nvSpPr>
        <p:spPr bwMode="auto">
          <a:xfrm>
            <a:off x="5725160" y="1305560"/>
            <a:ext cx="1752600" cy="381000"/>
          </a:xfrm>
          <a:prstGeom prst="rect">
            <a:avLst/>
          </a:prstGeom>
          <a:ln w="9525">
            <a:solidFill>
              <a:srgbClr val="030305"/>
            </a:solidFill>
            <a:miter lim="800000"/>
          </a:ln>
        </p:spPr>
        <p:txBody>
          <a:bodyPr wrap="none" lIns="90000" tIns="46800" rIns="90000" bIns="46800" anchor="ctr"/>
          <a:p>
            <a:pPr algn="ctr"/>
            <a:r>
              <a:rPr lang="en-US" altLang="zh-CN" sz="2000" b="1">
                <a:solidFill>
                  <a:srgbClr val="030305"/>
                </a:solidFill>
                <a:latin typeface="Courier-Bold"/>
              </a:rPr>
              <a:t>ParamK(id</a:t>
            </a:r>
            <a:r>
              <a:rPr lang="en-US" altLang="zh-CN" sz="2000">
                <a:solidFill>
                  <a:srgbClr val="030305"/>
                </a:solidFill>
              </a:rPr>
              <a:t>1)</a:t>
            </a:r>
            <a:endParaRPr lang="en-US" altLang="zh-CN" sz="2000">
              <a:solidFill>
                <a:srgbClr val="030305"/>
              </a:solidFill>
            </a:endParaRPr>
          </a:p>
        </p:txBody>
      </p:sp>
      <p:sp>
        <p:nvSpPr>
          <p:cNvPr id="54" name="Line 20"/>
          <p:cNvSpPr>
            <a:spLocks noChangeShapeType="1"/>
          </p:cNvSpPr>
          <p:nvPr>
            <p:custDataLst>
              <p:tags r:id="rId23"/>
            </p:custDataLst>
          </p:nvPr>
        </p:nvSpPr>
        <p:spPr bwMode="auto">
          <a:xfrm>
            <a:off x="7477760" y="1457960"/>
            <a:ext cx="609600"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1600"/>
          </a:p>
        </p:txBody>
      </p:sp>
      <p:sp useBgFill="1">
        <p:nvSpPr>
          <p:cNvPr id="55" name="Rectangle 21"/>
          <p:cNvSpPr>
            <a:spLocks noChangeArrowheads="1"/>
          </p:cNvSpPr>
          <p:nvPr>
            <p:custDataLst>
              <p:tags r:id="rId24"/>
            </p:custDataLst>
          </p:nvPr>
        </p:nvSpPr>
        <p:spPr bwMode="auto">
          <a:xfrm>
            <a:off x="8087360" y="1305560"/>
            <a:ext cx="1905000" cy="381000"/>
          </a:xfrm>
          <a:prstGeom prst="rect">
            <a:avLst/>
          </a:prstGeom>
          <a:ln w="9525">
            <a:solidFill>
              <a:srgbClr val="030305"/>
            </a:solidFill>
            <a:miter lim="800000"/>
          </a:ln>
        </p:spPr>
        <p:txBody>
          <a:bodyPr wrap="none" lIns="90000" tIns="46800" rIns="90000" bIns="46800" anchor="ctr"/>
          <a:p>
            <a:pPr algn="ctr"/>
            <a:r>
              <a:rPr lang="en-US" altLang="zh-CN" sz="2000" b="1">
                <a:solidFill>
                  <a:srgbClr val="030305"/>
                </a:solidFill>
                <a:latin typeface="Courier-Bold"/>
              </a:rPr>
              <a:t>ParamK(id2)</a:t>
            </a:r>
            <a:endParaRPr lang="en-US" altLang="zh-CN" sz="2000">
              <a:solidFill>
                <a:srgbClr val="030305"/>
              </a:solidFill>
            </a:endParaRPr>
          </a:p>
        </p:txBody>
      </p:sp>
      <p:sp>
        <p:nvSpPr>
          <p:cNvPr id="56" name="Line 22"/>
          <p:cNvSpPr>
            <a:spLocks noChangeShapeType="1"/>
          </p:cNvSpPr>
          <p:nvPr>
            <p:custDataLst>
              <p:tags r:id="rId25"/>
            </p:custDataLst>
          </p:nvPr>
        </p:nvSpPr>
        <p:spPr bwMode="auto">
          <a:xfrm>
            <a:off x="10068560" y="1457960"/>
            <a:ext cx="409575" cy="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1600"/>
          </a:p>
        </p:txBody>
      </p:sp>
      <p:sp>
        <p:nvSpPr>
          <p:cNvPr id="57" name="Rectangle 23"/>
          <p:cNvSpPr>
            <a:spLocks noChangeArrowheads="1"/>
          </p:cNvSpPr>
          <p:nvPr>
            <p:custDataLst>
              <p:tags r:id="rId26"/>
            </p:custDataLst>
          </p:nvPr>
        </p:nvSpPr>
        <p:spPr bwMode="auto">
          <a:xfrm>
            <a:off x="10511155" y="1305560"/>
            <a:ext cx="485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000">
                <a:solidFill>
                  <a:srgbClr val="030305"/>
                </a:solidFill>
              </a:rPr>
              <a:t>…</a:t>
            </a:r>
            <a:endParaRPr lang="zh-CN" altLang="en-US" sz="2000">
              <a:solidFill>
                <a:srgbClr val="030305"/>
              </a:solidFill>
            </a:endParaRPr>
          </a:p>
        </p:txBody>
      </p:sp>
      <p:grpSp>
        <p:nvGrpSpPr>
          <p:cNvPr id="4" name="组合 16"/>
          <p:cNvGrpSpPr/>
          <p:nvPr/>
        </p:nvGrpSpPr>
        <p:grpSpPr bwMode="auto">
          <a:xfrm>
            <a:off x="7780114" y="4543350"/>
            <a:ext cx="3604894" cy="1680845"/>
            <a:chOff x="2052630" y="2143116"/>
            <a:chExt cx="3604895" cy="1680845"/>
          </a:xfrm>
        </p:grpSpPr>
        <p:grpSp>
          <p:nvGrpSpPr>
            <p:cNvPr id="12" name="Group 2"/>
            <p:cNvGrpSpPr/>
            <p:nvPr/>
          </p:nvGrpSpPr>
          <p:grpSpPr bwMode="auto">
            <a:xfrm>
              <a:off x="3500430" y="2143116"/>
              <a:ext cx="763588" cy="463551"/>
              <a:chOff x="768" y="1775"/>
              <a:chExt cx="481" cy="292"/>
            </a:xfrm>
          </p:grpSpPr>
          <p:sp useBgFill="1">
            <p:nvSpPr>
              <p:cNvPr id="26" name="Oval 3"/>
              <p:cNvSpPr>
                <a:spLocks noChangeArrowheads="1"/>
              </p:cNvSpPr>
              <p:nvPr>
                <p:custDataLst>
                  <p:tags r:id="rId27"/>
                </p:custDataLst>
              </p:nvPr>
            </p:nvSpPr>
            <p:spPr bwMode="auto">
              <a:xfrm>
                <a:off x="768" y="1775"/>
                <a:ext cx="481" cy="288"/>
              </a:xfrm>
              <a:prstGeom prst="ellipse">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a:p>
            </p:txBody>
          </p:sp>
          <p:sp>
            <p:nvSpPr>
              <p:cNvPr id="40" name="Rectangle 4"/>
              <p:cNvSpPr>
                <a:spLocks noChangeArrowheads="1"/>
              </p:cNvSpPr>
              <p:nvPr>
                <p:custDataLst>
                  <p:tags r:id="rId28"/>
                </p:custDataLst>
              </p:nvPr>
            </p:nvSpPr>
            <p:spPr bwMode="auto">
              <a:xfrm>
                <a:off x="864" y="1776"/>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30305"/>
                    </a:solidFill>
                    <a:latin typeface="Courier-Bold"/>
                  </a:rPr>
                  <a:t>+</a:t>
                </a:r>
                <a:endParaRPr lang="zh-CN" altLang="en-US" sz="2400" b="1">
                  <a:solidFill>
                    <a:srgbClr val="030305"/>
                  </a:solidFill>
                  <a:latin typeface="Courier-Bold"/>
                </a:endParaRPr>
              </a:p>
            </p:txBody>
          </p:sp>
        </p:grpSp>
        <p:sp>
          <p:nvSpPr>
            <p:cNvPr id="41" name="Line 5"/>
            <p:cNvSpPr>
              <a:spLocks noChangeShapeType="1"/>
            </p:cNvSpPr>
            <p:nvPr>
              <p:custDataLst>
                <p:tags r:id="rId29"/>
              </p:custDataLst>
            </p:nvPr>
          </p:nvSpPr>
          <p:spPr bwMode="auto">
            <a:xfrm flipH="1">
              <a:off x="3043230" y="2524116"/>
              <a:ext cx="53340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a:p>
          </p:txBody>
        </p:sp>
        <p:sp>
          <p:nvSpPr>
            <p:cNvPr id="42" name="Line 6"/>
            <p:cNvSpPr>
              <a:spLocks noChangeShapeType="1"/>
            </p:cNvSpPr>
            <p:nvPr>
              <p:custDataLst>
                <p:tags r:id="rId30"/>
              </p:custDataLst>
            </p:nvPr>
          </p:nvSpPr>
          <p:spPr bwMode="auto">
            <a:xfrm>
              <a:off x="4110030" y="2600316"/>
              <a:ext cx="533400"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a:p>
          </p:txBody>
        </p:sp>
        <p:sp useBgFill="1">
          <p:nvSpPr>
            <p:cNvPr id="43" name="AutoShape 7"/>
            <p:cNvSpPr>
              <a:spLocks noChangeArrowheads="1"/>
            </p:cNvSpPr>
            <p:nvPr>
              <p:custDataLst>
                <p:tags r:id="rId31"/>
              </p:custDataLst>
            </p:nvPr>
          </p:nvSpPr>
          <p:spPr bwMode="auto">
            <a:xfrm>
              <a:off x="2662230" y="2905116"/>
              <a:ext cx="7620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a:p>
          </p:txBody>
        </p:sp>
        <p:sp useBgFill="1">
          <p:nvSpPr>
            <p:cNvPr id="48" name="AutoShape 8"/>
            <p:cNvSpPr>
              <a:spLocks noChangeArrowheads="1"/>
            </p:cNvSpPr>
            <p:nvPr>
              <p:custDataLst>
                <p:tags r:id="rId32"/>
              </p:custDataLst>
            </p:nvPr>
          </p:nvSpPr>
          <p:spPr bwMode="auto">
            <a:xfrm>
              <a:off x="4262430" y="2905116"/>
              <a:ext cx="762000" cy="457200"/>
            </a:xfrm>
            <a:prstGeom prst="triangle">
              <a:avLst>
                <a:gd name="adj" fmla="val 50000"/>
              </a:avLst>
            </a:prstGeom>
            <a:ln w="9525">
              <a:solidFill>
                <a:srgbClr val="030305"/>
              </a:solidFill>
              <a:miter lim="800000"/>
            </a:ln>
          </p:spPr>
          <p:txBody>
            <a:bodyPr wrap="none" lIns="90000" tIns="46800" rIns="90000" bIns="46800" anchor="ctr"/>
            <a:p>
              <a:pPr>
                <a:lnSpc>
                  <a:spcPct val="75000"/>
                </a:lnSpc>
                <a:spcBef>
                  <a:spcPct val="20000"/>
                </a:spcBef>
                <a:buClr>
                  <a:schemeClr val="accent2"/>
                </a:buClr>
                <a:buFont typeface="Wingdings" panose="05000000000000000000" pitchFamily="2" charset="2"/>
                <a:buNone/>
              </a:pPr>
              <a:endParaRPr lang="zh-CN" altLang="en-US"/>
            </a:p>
          </p:txBody>
        </p:sp>
        <p:sp>
          <p:nvSpPr>
            <p:cNvPr id="49" name="Rectangle 9"/>
            <p:cNvSpPr>
              <a:spLocks noChangeArrowheads="1"/>
            </p:cNvSpPr>
            <p:nvPr>
              <p:custDataLst>
                <p:tags r:id="rId33"/>
              </p:custDataLst>
            </p:nvPr>
          </p:nvSpPr>
          <p:spPr bwMode="auto">
            <a:xfrm>
              <a:off x="2052630" y="3362316"/>
              <a:ext cx="169989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a:solidFill>
                    <a:srgbClr val="030305"/>
                  </a:solidFill>
                </a:rPr>
                <a:t>left operand</a:t>
              </a:r>
              <a:endParaRPr lang="zh-CN" altLang="en-US" sz="2400">
                <a:solidFill>
                  <a:srgbClr val="030305"/>
                </a:solidFill>
              </a:endParaRPr>
            </a:p>
          </p:txBody>
        </p:sp>
        <p:sp>
          <p:nvSpPr>
            <p:cNvPr id="50" name="Rectangle 10"/>
            <p:cNvSpPr>
              <a:spLocks noChangeArrowheads="1"/>
            </p:cNvSpPr>
            <p:nvPr>
              <p:custDataLst>
                <p:tags r:id="rId34"/>
              </p:custDataLst>
            </p:nvPr>
          </p:nvSpPr>
          <p:spPr bwMode="auto">
            <a:xfrm>
              <a:off x="3957630" y="3362316"/>
              <a:ext cx="169989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a:solidFill>
                    <a:srgbClr val="030305"/>
                  </a:solidFill>
                </a:rPr>
                <a:t>left operand</a:t>
              </a:r>
              <a:endParaRPr lang="zh-CN" altLang="en-US" sz="2400">
                <a:solidFill>
                  <a:srgbClr val="030305"/>
                </a:solidFill>
              </a:endParaRPr>
            </a:p>
          </p:txBody>
        </p:sp>
      </p:grpSp>
      <p:sp>
        <p:nvSpPr>
          <p:cNvPr id="51" name="Rectangle 9"/>
          <p:cNvSpPr txBox="1">
            <a:spLocks noChangeArrowheads="1"/>
          </p:cNvSpPr>
          <p:nvPr>
            <p:custDataLst>
              <p:tags r:id="rId35"/>
            </p:custDataLst>
          </p:nvPr>
        </p:nvSpPr>
        <p:spPr>
          <a:xfrm>
            <a:off x="508000" y="1305560"/>
            <a:ext cx="5062220" cy="44469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program→decl-list</a:t>
            </a:r>
            <a:r>
              <a:rPr lang="en-US" altLang="zh-CN" sz="2400" b="1" i="1" dirty="0">
                <a:solidFill>
                  <a:srgbClr val="030305"/>
                </a:solidFill>
                <a:latin typeface="Times New Roman" panose="02020603050405020304" pitchFamily="18" charset="0"/>
                <a:cs typeface="Times New Roman" panose="02020603050405020304" pitchFamily="18" charset="0"/>
              </a:rPr>
              <a:t> exp</a:t>
            </a:r>
            <a:endParaRPr lang="en-US" altLang="zh-CN" sz="2400" b="1" i="1" dirty="0">
              <a:solidFill>
                <a:srgbClr val="030305"/>
              </a:solidFill>
              <a:latin typeface="Times New Roman" panose="02020603050405020304" pitchFamily="18" charset="0"/>
              <a:cs typeface="Times New Roman" panose="02020603050405020304" pitchFamily="18" charset="0"/>
            </a:endParaRPr>
          </a:p>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decl-list→decl-list</a:t>
            </a:r>
            <a:r>
              <a:rPr lang="en-US" altLang="zh-CN" sz="2400" b="1" i="1" dirty="0">
                <a:solidFill>
                  <a:srgbClr val="030305"/>
                </a:solidFill>
                <a:latin typeface="Times New Roman" panose="02020603050405020304" pitchFamily="18" charset="0"/>
                <a:cs typeface="Times New Roman" panose="02020603050405020304" pitchFamily="18" charset="0"/>
              </a:rPr>
              <a:t> </a:t>
            </a:r>
            <a:r>
              <a:rPr lang="en-US" altLang="zh-CN" sz="2400" b="1" i="1" dirty="0" err="1">
                <a:solidFill>
                  <a:srgbClr val="030305"/>
                </a:solidFill>
                <a:latin typeface="Times New Roman" panose="02020603050405020304" pitchFamily="18" charset="0"/>
                <a:cs typeface="Times New Roman" panose="02020603050405020304" pitchFamily="18" charset="0"/>
              </a:rPr>
              <a:t>decl</a:t>
            </a:r>
            <a:r>
              <a:rPr lang="en-US" altLang="zh-CN" sz="2400" b="1" i="1" dirty="0">
                <a:solidFill>
                  <a:srgbClr val="030305"/>
                </a:solidFill>
                <a:latin typeface="Times New Roman" panose="02020603050405020304" pitchFamily="18" charset="0"/>
                <a:cs typeface="Times New Roman" panose="02020603050405020304" pitchFamily="18" charset="0"/>
              </a:rPr>
              <a:t>|</a:t>
            </a:r>
            <a:r>
              <a:rPr lang="en-US" altLang="zh-CN" sz="2400" b="1" dirty="0">
                <a:solidFill>
                  <a:srgbClr val="E9137E"/>
                </a:solidFill>
                <a:latin typeface="Times New Roman" panose="02020603050405020304" pitchFamily="18" charset="0"/>
                <a:cs typeface="Times New Roman" panose="02020603050405020304" pitchFamily="18" charset="0"/>
                <a:sym typeface="Symbol" panose="05050102010706020507" pitchFamily="18" charset="2"/>
              </a:rPr>
              <a:t></a:t>
            </a:r>
            <a:endParaRPr lang="en-US" altLang="zh-CN" sz="2400" b="1" dirty="0">
              <a:solidFill>
                <a:srgbClr val="E9137E"/>
              </a:solidFill>
              <a:latin typeface="Times New Roman" panose="02020603050405020304" pitchFamily="18" charset="0"/>
              <a:cs typeface="Times New Roman" panose="02020603050405020304" pitchFamily="18" charset="0"/>
              <a:sym typeface="Symbol" panose="05050102010706020507" pitchFamily="18" charset="2"/>
            </a:endParaRPr>
          </a:p>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decl→</a:t>
            </a:r>
            <a:r>
              <a:rPr lang="en-US" altLang="zh-CN" sz="2400" b="1" dirty="0" err="1">
                <a:solidFill>
                  <a:srgbClr val="E9137E"/>
                </a:solidFill>
                <a:latin typeface="Times New Roman" panose="02020603050405020304" pitchFamily="18" charset="0"/>
                <a:cs typeface="Times New Roman" panose="02020603050405020304" pitchFamily="18" charset="0"/>
              </a:rPr>
              <a:t>fn</a:t>
            </a:r>
            <a:r>
              <a:rPr lang="en-US" altLang="zh-CN" sz="2400" b="1" dirty="0">
                <a:solidFill>
                  <a:srgbClr val="030305"/>
                </a:solidFill>
                <a:latin typeface="Times New Roman" panose="02020603050405020304" pitchFamily="18" charset="0"/>
                <a:cs typeface="Times New Roman" panose="02020603050405020304" pitchFamily="18" charset="0"/>
              </a:rPr>
              <a:t> </a:t>
            </a:r>
            <a:r>
              <a:rPr lang="en-US" altLang="zh-CN" sz="2400" b="1" dirty="0">
                <a:solidFill>
                  <a:srgbClr val="E9137E"/>
                </a:solidFill>
                <a:latin typeface="Times New Roman" panose="02020603050405020304" pitchFamily="18" charset="0"/>
                <a:cs typeface="Times New Roman" panose="02020603050405020304" pitchFamily="18" charset="0"/>
              </a:rPr>
              <a:t>id</a:t>
            </a:r>
            <a:r>
              <a:rPr lang="en-US" altLang="zh-CN" sz="2400" b="1" i="1" dirty="0">
                <a:solidFill>
                  <a:srgbClr val="030305"/>
                </a:solidFill>
                <a:latin typeface="Times New Roman" panose="02020603050405020304" pitchFamily="18" charset="0"/>
                <a:cs typeface="Times New Roman" panose="02020603050405020304" pitchFamily="18" charset="0"/>
              </a:rPr>
              <a:t>(param-list)=exp</a:t>
            </a:r>
            <a:endParaRPr lang="en-US" altLang="zh-CN" sz="2400" b="1" i="1" dirty="0">
              <a:solidFill>
                <a:srgbClr val="030305"/>
              </a:solidFill>
              <a:latin typeface="Times New Roman" panose="02020603050405020304" pitchFamily="18" charset="0"/>
              <a:cs typeface="Times New Roman" panose="02020603050405020304" pitchFamily="18" charset="0"/>
            </a:endParaRPr>
          </a:p>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param-list→param-list</a:t>
            </a:r>
            <a:r>
              <a:rPr lang="en-US" altLang="zh-CN" sz="2400" b="1" dirty="0" err="1">
                <a:solidFill>
                  <a:srgbClr val="E9137E"/>
                </a:solidFill>
                <a:latin typeface="Times New Roman" panose="02020603050405020304" pitchFamily="18" charset="0"/>
                <a:cs typeface="Times New Roman" panose="02020603050405020304" pitchFamily="18" charset="0"/>
              </a:rPr>
              <a:t>,id</a:t>
            </a:r>
            <a:r>
              <a:rPr lang="en-US" altLang="zh-CN" sz="2400" b="1" i="1" dirty="0" err="1">
                <a:solidFill>
                  <a:srgbClr val="030305"/>
                </a:solidFill>
                <a:latin typeface="Times New Roman" panose="02020603050405020304" pitchFamily="18" charset="0"/>
                <a:cs typeface="Times New Roman" panose="02020603050405020304" pitchFamily="18" charset="0"/>
              </a:rPr>
              <a:t>|</a:t>
            </a:r>
            <a:r>
              <a:rPr lang="en-US" altLang="zh-CN" sz="2400" b="1" dirty="0" err="1">
                <a:solidFill>
                  <a:srgbClr val="E9137E"/>
                </a:solidFill>
                <a:latin typeface="Times New Roman" panose="02020603050405020304" pitchFamily="18" charset="0"/>
                <a:cs typeface="Times New Roman" panose="02020603050405020304" pitchFamily="18" charset="0"/>
              </a:rPr>
              <a:t>id</a:t>
            </a:r>
            <a:endParaRPr lang="en-US" altLang="zh-CN" sz="2400" b="1" dirty="0" err="1">
              <a:solidFill>
                <a:srgbClr val="E9137E"/>
              </a:solidFill>
              <a:latin typeface="Times New Roman" panose="02020603050405020304" pitchFamily="18" charset="0"/>
              <a:cs typeface="Times New Roman" panose="02020603050405020304" pitchFamily="18" charset="0"/>
            </a:endParaRPr>
          </a:p>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exp→exp+exp|call|</a:t>
            </a:r>
            <a:r>
              <a:rPr lang="en-US" altLang="zh-CN" sz="2400" b="1" dirty="0" err="1">
                <a:solidFill>
                  <a:srgbClr val="E9137E"/>
                </a:solidFill>
                <a:latin typeface="Times New Roman" panose="02020603050405020304" pitchFamily="18" charset="0"/>
                <a:cs typeface="Times New Roman" panose="02020603050405020304" pitchFamily="18" charset="0"/>
              </a:rPr>
              <a:t>num</a:t>
            </a:r>
            <a:r>
              <a:rPr lang="en-US" altLang="zh-CN" sz="2400" b="1" i="1" dirty="0" err="1">
                <a:solidFill>
                  <a:srgbClr val="030305"/>
                </a:solidFill>
                <a:latin typeface="Times New Roman" panose="02020603050405020304" pitchFamily="18" charset="0"/>
                <a:cs typeface="Times New Roman" panose="02020603050405020304" pitchFamily="18" charset="0"/>
              </a:rPr>
              <a:t>|</a:t>
            </a:r>
            <a:r>
              <a:rPr lang="en-US" altLang="zh-CN" sz="2400" b="1" dirty="0" err="1">
                <a:solidFill>
                  <a:srgbClr val="E9137E"/>
                </a:solidFill>
                <a:latin typeface="Times New Roman" panose="02020603050405020304" pitchFamily="18" charset="0"/>
                <a:cs typeface="Times New Roman" panose="02020603050405020304" pitchFamily="18" charset="0"/>
              </a:rPr>
              <a:t>id</a:t>
            </a:r>
            <a:endParaRPr lang="en-US" altLang="zh-CN" sz="2400" b="1" dirty="0" err="1">
              <a:solidFill>
                <a:srgbClr val="E9137E"/>
              </a:solidFill>
              <a:latin typeface="Times New Roman" panose="02020603050405020304" pitchFamily="18" charset="0"/>
              <a:cs typeface="Times New Roman" panose="02020603050405020304" pitchFamily="18" charset="0"/>
            </a:endParaRPr>
          </a:p>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call→</a:t>
            </a:r>
            <a:r>
              <a:rPr lang="en-US" altLang="zh-CN" sz="2400" b="1" dirty="0" err="1">
                <a:solidFill>
                  <a:srgbClr val="E9137E"/>
                </a:solidFill>
                <a:latin typeface="Times New Roman" panose="02020603050405020304" pitchFamily="18" charset="0"/>
                <a:cs typeface="Times New Roman" panose="02020603050405020304" pitchFamily="18" charset="0"/>
              </a:rPr>
              <a:t>id</a:t>
            </a:r>
            <a:r>
              <a:rPr lang="en-US" altLang="zh-CN" sz="2400" b="1" i="1" dirty="0">
                <a:solidFill>
                  <a:srgbClr val="030305"/>
                </a:solidFill>
                <a:latin typeface="Times New Roman" panose="02020603050405020304" pitchFamily="18" charset="0"/>
                <a:cs typeface="Times New Roman" panose="02020603050405020304" pitchFamily="18" charset="0"/>
              </a:rPr>
              <a:t>(</a:t>
            </a:r>
            <a:r>
              <a:rPr lang="en-US" altLang="zh-CN" sz="2400" b="1" i="1" dirty="0" err="1">
                <a:solidFill>
                  <a:srgbClr val="030305"/>
                </a:solidFill>
                <a:latin typeface="Times New Roman" panose="02020603050405020304" pitchFamily="18" charset="0"/>
                <a:cs typeface="Times New Roman" panose="02020603050405020304" pitchFamily="18" charset="0"/>
              </a:rPr>
              <a:t>arg</a:t>
            </a:r>
            <a:r>
              <a:rPr lang="en-US" altLang="zh-CN" sz="2400" b="1" i="1" dirty="0">
                <a:solidFill>
                  <a:srgbClr val="030305"/>
                </a:solidFill>
                <a:latin typeface="Times New Roman" panose="02020603050405020304" pitchFamily="18" charset="0"/>
                <a:cs typeface="Times New Roman" panose="02020603050405020304" pitchFamily="18" charset="0"/>
              </a:rPr>
              <a:t>-list)</a:t>
            </a:r>
            <a:endParaRPr lang="en-US" altLang="zh-CN" sz="2400" b="1" i="1" dirty="0">
              <a:solidFill>
                <a:srgbClr val="030305"/>
              </a:solidFill>
              <a:latin typeface="Times New Roman" panose="02020603050405020304" pitchFamily="18" charset="0"/>
              <a:cs typeface="Times New Roman" panose="02020603050405020304" pitchFamily="18" charset="0"/>
            </a:endParaRPr>
          </a:p>
          <a:p>
            <a:pPr marL="0" indent="0" fontAlgn="auto">
              <a:lnSpc>
                <a:spcPct val="100000"/>
              </a:lnSpc>
              <a:spcBef>
                <a:spcPts val="0"/>
              </a:spcBef>
              <a:buNone/>
            </a:pPr>
            <a:r>
              <a:rPr lang="en-US" altLang="zh-CN" sz="2400" b="1" i="1" dirty="0" err="1">
                <a:solidFill>
                  <a:srgbClr val="030305"/>
                </a:solidFill>
                <a:latin typeface="Times New Roman" panose="02020603050405020304" pitchFamily="18" charset="0"/>
                <a:cs typeface="Times New Roman" panose="02020603050405020304" pitchFamily="18" charset="0"/>
              </a:rPr>
              <a:t>arg-list→arg-list</a:t>
            </a:r>
            <a:r>
              <a:rPr lang="en-US" altLang="zh-CN" sz="2400" b="1" dirty="0" err="1">
                <a:solidFill>
                  <a:srgbClr val="E9137E"/>
                </a:solidFill>
                <a:latin typeface="Times New Roman" panose="02020603050405020304" pitchFamily="18" charset="0"/>
                <a:cs typeface="Times New Roman" panose="02020603050405020304" pitchFamily="18" charset="0"/>
              </a:rPr>
              <a:t>,</a:t>
            </a:r>
            <a:r>
              <a:rPr lang="en-US" altLang="zh-CN" sz="2400" b="1" i="1" dirty="0" err="1">
                <a:solidFill>
                  <a:srgbClr val="030305"/>
                </a:solidFill>
                <a:latin typeface="Times New Roman" panose="02020603050405020304" pitchFamily="18" charset="0"/>
                <a:cs typeface="Times New Roman" panose="02020603050405020304" pitchFamily="18" charset="0"/>
              </a:rPr>
              <a:t>exp|exp</a:t>
            </a:r>
            <a:endParaRPr lang="en-US" altLang="zh-CN" sz="2400" b="1" i="1" dirty="0" err="1">
              <a:solidFill>
                <a:srgbClr val="030305"/>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51">
                                            <p:txEl>
                                              <p:pRg st="0" end="0"/>
                                            </p:txEl>
                                          </p:spTgt>
                                        </p:tgtEl>
                                        <p:attrNameLst>
                                          <p:attrName>style.visibility</p:attrName>
                                        </p:attrNameLst>
                                      </p:cBhvr>
                                      <p:to>
                                        <p:strVal val="visible"/>
                                      </p:to>
                                    </p:set>
                                    <p:animEffect transition="in" filter="barn(inHorizontal)">
                                      <p:cBhvr>
                                        <p:cTn id="12" dur="500"/>
                                        <p:tgtEl>
                                          <p:spTgt spid="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51">
                                            <p:txEl>
                                              <p:pRg st="1" end="1"/>
                                            </p:txEl>
                                          </p:spTgt>
                                        </p:tgtEl>
                                        <p:attrNameLst>
                                          <p:attrName>style.visibility</p:attrName>
                                        </p:attrNameLst>
                                      </p:cBhvr>
                                      <p:to>
                                        <p:strVal val="visible"/>
                                      </p:to>
                                    </p:set>
                                    <p:animEffect transition="in" filter="barn(inHorizontal)">
                                      <p:cBhvr>
                                        <p:cTn id="17" dur="500"/>
                                        <p:tgtEl>
                                          <p:spTgt spid="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51">
                                            <p:txEl>
                                              <p:pRg st="2" end="2"/>
                                            </p:txEl>
                                          </p:spTgt>
                                        </p:tgtEl>
                                        <p:attrNameLst>
                                          <p:attrName>style.visibility</p:attrName>
                                        </p:attrNameLst>
                                      </p:cBhvr>
                                      <p:to>
                                        <p:strVal val="visible"/>
                                      </p:to>
                                    </p:set>
                                    <p:animEffect transition="in" filter="barn(inHorizontal)">
                                      <p:cBhvr>
                                        <p:cTn id="22" dur="500"/>
                                        <p:tgtEl>
                                          <p:spTgt spid="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51">
                                            <p:txEl>
                                              <p:pRg st="3" end="3"/>
                                            </p:txEl>
                                          </p:spTgt>
                                        </p:tgtEl>
                                        <p:attrNameLst>
                                          <p:attrName>style.visibility</p:attrName>
                                        </p:attrNameLst>
                                      </p:cBhvr>
                                      <p:to>
                                        <p:strVal val="visible"/>
                                      </p:to>
                                    </p:set>
                                    <p:animEffect transition="in" filter="barn(inHorizontal)">
                                      <p:cBhvr>
                                        <p:cTn id="27" dur="500"/>
                                        <p:tgtEl>
                                          <p:spTgt spid="5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51">
                                            <p:txEl>
                                              <p:pRg st="4" end="4"/>
                                            </p:txEl>
                                          </p:spTgt>
                                        </p:tgtEl>
                                        <p:attrNameLst>
                                          <p:attrName>style.visibility</p:attrName>
                                        </p:attrNameLst>
                                      </p:cBhvr>
                                      <p:to>
                                        <p:strVal val="visible"/>
                                      </p:to>
                                    </p:set>
                                    <p:animEffect transition="in" filter="barn(inHorizontal)">
                                      <p:cBhvr>
                                        <p:cTn id="32" dur="500"/>
                                        <p:tgtEl>
                                          <p:spTgt spid="5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51">
                                            <p:txEl>
                                              <p:pRg st="5" end="5"/>
                                            </p:txEl>
                                          </p:spTgt>
                                        </p:tgtEl>
                                        <p:attrNameLst>
                                          <p:attrName>style.visibility</p:attrName>
                                        </p:attrNameLst>
                                      </p:cBhvr>
                                      <p:to>
                                        <p:strVal val="visible"/>
                                      </p:to>
                                    </p:set>
                                    <p:animEffect transition="in" filter="barn(inHorizontal)">
                                      <p:cBhvr>
                                        <p:cTn id="37" dur="500"/>
                                        <p:tgtEl>
                                          <p:spTgt spid="5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51">
                                            <p:txEl>
                                              <p:pRg st="6" end="6"/>
                                            </p:txEl>
                                          </p:spTgt>
                                        </p:tgtEl>
                                        <p:attrNameLst>
                                          <p:attrName>style.visibility</p:attrName>
                                        </p:attrNameLst>
                                      </p:cBhvr>
                                      <p:to>
                                        <p:strVal val="visible"/>
                                      </p:to>
                                    </p:set>
                                    <p:animEffect transition="in" filter="barn(inHorizontal)">
                                      <p:cBhvr>
                                        <p:cTn id="42" dur="500"/>
                                        <p:tgtEl>
                                          <p:spTgt spid="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71170" y="276860"/>
            <a:ext cx="7704455" cy="593090"/>
          </a:xfrm>
        </p:spPr>
        <p:txBody>
          <a:bodyPr/>
          <a:lstStyle/>
          <a:p>
            <a:r>
              <a:rPr lang="en-US" altLang="zh-CN" sz="2800" dirty="0"/>
              <a:t>6.5.2  </a:t>
            </a:r>
            <a:r>
              <a:rPr lang="zh-CN" altLang="en-US" sz="2800" dirty="0"/>
              <a:t>函数定义和调用的代码生成过程</a:t>
            </a:r>
            <a:endParaRPr lang="zh-CN" altLang="en-US" sz="2800" dirty="0"/>
          </a:p>
        </p:txBody>
      </p:sp>
      <p:sp>
        <p:nvSpPr>
          <p:cNvPr id="16" name="Rectangle 2"/>
          <p:cNvSpPr>
            <a:spLocks noChangeArrowheads="1"/>
          </p:cNvSpPr>
          <p:nvPr/>
        </p:nvSpPr>
        <p:spPr bwMode="auto">
          <a:xfrm>
            <a:off x="362585" y="1165225"/>
            <a:ext cx="11303000" cy="2800985"/>
          </a:xfrm>
          <a:prstGeom prst="rect">
            <a:avLst/>
          </a:prstGeom>
          <a:solidFill>
            <a:schemeClr val="bg1"/>
          </a:solidFill>
          <a:ln>
            <a:noFill/>
          </a:ln>
        </p:spPr>
        <p:txBody>
          <a:bodyPr wrap="square" lIns="90000" tIns="46800" rIns="90000" bIns="46800">
            <a:spAutoFit/>
          </a:bodyPr>
          <a:lstStyle/>
          <a:p>
            <a:r>
              <a:rPr lang="en-US" altLang="zh-CN" sz="2200" b="1" dirty="0">
                <a:solidFill>
                  <a:srgbClr val="030305"/>
                </a:solidFill>
                <a:latin typeface="Times New Roman" panose="02020603050405020304" pitchFamily="18" charset="0"/>
                <a:cs typeface="Times New Roman" panose="02020603050405020304" pitchFamily="18" charset="0"/>
              </a:rPr>
              <a:t>typedef </a:t>
            </a:r>
            <a:r>
              <a:rPr lang="en-US" altLang="zh-CN" sz="2200" b="1" dirty="0" err="1">
                <a:solidFill>
                  <a:srgbClr val="030305"/>
                </a:solidFill>
                <a:latin typeface="Times New Roman" panose="02020603050405020304" pitchFamily="18" charset="0"/>
                <a:cs typeface="Times New Roman" panose="02020603050405020304" pitchFamily="18" charset="0"/>
              </a:rPr>
              <a:t>enum</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PrgK</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FnK</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ParamK</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PlusK</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CallK</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ConstK</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IdK</a:t>
            </a:r>
            <a:r>
              <a:rPr lang="en-US" altLang="zh-CN" sz="2200" b="1" dirty="0">
                <a:solidFill>
                  <a:srgbClr val="030305"/>
                </a:solidFill>
                <a:latin typeface="Times New Roman" panose="02020603050405020304" pitchFamily="18" charset="0"/>
                <a:cs typeface="Times New Roman" panose="02020603050405020304" pitchFamily="18" charset="0"/>
              </a:rPr>
              <a:t> }   </a:t>
            </a:r>
            <a:r>
              <a:rPr lang="en-US" altLang="zh-CN" sz="2200" b="1" dirty="0" err="1">
                <a:solidFill>
                  <a:srgbClr val="030305"/>
                </a:solidFill>
                <a:latin typeface="Times New Roman" panose="02020603050405020304" pitchFamily="18" charset="0"/>
                <a:cs typeface="Times New Roman" panose="02020603050405020304" pitchFamily="18" charset="0"/>
              </a:rPr>
              <a:t>NodeKind</a:t>
            </a:r>
            <a:r>
              <a:rPr lang="en-US" altLang="zh-CN" sz="2200" b="1" dirty="0">
                <a:solidFill>
                  <a:srgbClr val="030305"/>
                </a:solidFill>
                <a:latin typeface="Times New Roman" panose="02020603050405020304" pitchFamily="18" charset="0"/>
                <a:cs typeface="Times New Roman" panose="02020603050405020304" pitchFamily="18" charset="0"/>
              </a:rPr>
              <a:t> ;</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typedef struct </a:t>
            </a:r>
            <a:r>
              <a:rPr lang="en-US" altLang="zh-CN" sz="2200" b="1" dirty="0" err="1">
                <a:solidFill>
                  <a:srgbClr val="030305"/>
                </a:solidFill>
                <a:latin typeface="Times New Roman" panose="02020603050405020304" pitchFamily="18" charset="0"/>
                <a:cs typeface="Times New Roman" panose="02020603050405020304" pitchFamily="18" charset="0"/>
              </a:rPr>
              <a:t>streenode</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NodeKind</a:t>
            </a:r>
            <a:r>
              <a:rPr lang="en-US" altLang="zh-CN" sz="2200" b="1" dirty="0">
                <a:solidFill>
                  <a:srgbClr val="030305"/>
                </a:solidFill>
                <a:latin typeface="Times New Roman" panose="02020603050405020304" pitchFamily="18" charset="0"/>
                <a:cs typeface="Times New Roman" panose="02020603050405020304" pitchFamily="18" charset="0"/>
              </a:rPr>
              <a:t> kind;</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struct </a:t>
            </a:r>
            <a:r>
              <a:rPr lang="en-US" altLang="zh-CN" sz="2200" b="1" dirty="0" err="1">
                <a:solidFill>
                  <a:srgbClr val="030305"/>
                </a:solidFill>
                <a:latin typeface="Times New Roman" panose="02020603050405020304" pitchFamily="18" charset="0"/>
                <a:cs typeface="Times New Roman" panose="02020603050405020304" pitchFamily="18" charset="0"/>
              </a:rPr>
              <a:t>streenode</a:t>
            </a:r>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lchild</a:t>
            </a:r>
            <a:r>
              <a:rPr lang="en-US" altLang="zh-CN" sz="2200" b="1" dirty="0">
                <a:solidFill>
                  <a:srgbClr val="030305"/>
                </a:solidFill>
                <a:latin typeface="Times New Roman" panose="02020603050405020304" pitchFamily="18" charset="0"/>
                <a:cs typeface="Times New Roman" panose="02020603050405020304" pitchFamily="18" charset="0"/>
              </a:rPr>
              <a:t>,*</a:t>
            </a:r>
            <a:r>
              <a:rPr lang="en-US" altLang="zh-CN" sz="2200" b="1" dirty="0" err="1">
                <a:solidFill>
                  <a:srgbClr val="030305"/>
                </a:solidFill>
                <a:latin typeface="Times New Roman" panose="02020603050405020304" pitchFamily="18" charset="0"/>
                <a:cs typeface="Times New Roman" panose="02020603050405020304" pitchFamily="18" charset="0"/>
              </a:rPr>
              <a:t>rchild</a:t>
            </a:r>
            <a:r>
              <a:rPr lang="en-US" altLang="zh-CN" sz="2200" b="1" dirty="0">
                <a:solidFill>
                  <a:srgbClr val="030305"/>
                </a:solidFill>
                <a:latin typeface="Times New Roman" panose="02020603050405020304" pitchFamily="18" charset="0"/>
                <a:cs typeface="Times New Roman" panose="02020603050405020304" pitchFamily="18" charset="0"/>
              </a:rPr>
              <a:t>,*sibling ;</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   char *</a:t>
            </a:r>
            <a:r>
              <a:rPr lang="en-US" altLang="zh-CN" sz="2200" b="1" dirty="0" err="1">
                <a:solidFill>
                  <a:srgbClr val="030305"/>
                </a:solidFill>
                <a:latin typeface="Times New Roman" panose="02020603050405020304" pitchFamily="18" charset="0"/>
                <a:cs typeface="Times New Roman" panose="02020603050405020304" pitchFamily="18" charset="0"/>
              </a:rPr>
              <a:t>strval</a:t>
            </a:r>
            <a:r>
              <a:rPr lang="en-US" altLang="zh-CN" sz="2200" b="1" dirty="0">
                <a:solidFill>
                  <a:srgbClr val="030305"/>
                </a:solidFill>
                <a:latin typeface="Times New Roman" panose="02020603050405020304" pitchFamily="18" charset="0"/>
                <a:cs typeface="Times New Roman" panose="02020603050405020304" pitchFamily="18" charset="0"/>
              </a:rPr>
              <a:t>; </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   int </a:t>
            </a:r>
            <a:r>
              <a:rPr lang="en-US" altLang="zh-CN" sz="2200" b="1" dirty="0" err="1">
                <a:solidFill>
                  <a:srgbClr val="030305"/>
                </a:solidFill>
                <a:latin typeface="Times New Roman" panose="02020603050405020304" pitchFamily="18" charset="0"/>
                <a:cs typeface="Times New Roman" panose="02020603050405020304" pitchFamily="18" charset="0"/>
              </a:rPr>
              <a:t>val</a:t>
            </a:r>
            <a:r>
              <a:rPr lang="en-US" altLang="zh-CN" sz="2200" b="1" dirty="0">
                <a:solidFill>
                  <a:srgbClr val="030305"/>
                </a:solidFill>
                <a:latin typeface="Times New Roman" panose="02020603050405020304" pitchFamily="18" charset="0"/>
                <a:cs typeface="Times New Roman" panose="02020603050405020304" pitchFamily="18" charset="0"/>
              </a:rPr>
              <a:t>; </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 </a:t>
            </a:r>
            <a:r>
              <a:rPr lang="en-US" altLang="zh-CN" sz="2200" b="1" dirty="0" err="1">
                <a:solidFill>
                  <a:srgbClr val="030305"/>
                </a:solidFill>
                <a:latin typeface="Times New Roman" panose="02020603050405020304" pitchFamily="18" charset="0"/>
                <a:cs typeface="Times New Roman" panose="02020603050405020304" pitchFamily="18" charset="0"/>
              </a:rPr>
              <a:t>StreeNode</a:t>
            </a:r>
            <a:r>
              <a:rPr lang="en-US" altLang="zh-CN" sz="2200" b="1" dirty="0">
                <a:solidFill>
                  <a:srgbClr val="030305"/>
                </a:solidFill>
                <a:latin typeface="Times New Roman" panose="02020603050405020304" pitchFamily="18" charset="0"/>
                <a:cs typeface="Times New Roman" panose="02020603050405020304" pitchFamily="18" charset="0"/>
              </a:rPr>
              <a:t>;</a:t>
            </a:r>
            <a:endParaRPr lang="en-US" altLang="zh-CN" sz="2200" b="1" dirty="0">
              <a:solidFill>
                <a:srgbClr val="030305"/>
              </a:solidFill>
              <a:latin typeface="Times New Roman" panose="02020603050405020304" pitchFamily="18" charset="0"/>
              <a:cs typeface="Times New Roman" panose="02020603050405020304" pitchFamily="18" charset="0"/>
            </a:endParaRPr>
          </a:p>
          <a:p>
            <a:r>
              <a:rPr lang="en-US" altLang="zh-CN" sz="2200" b="1" dirty="0">
                <a:solidFill>
                  <a:srgbClr val="030305"/>
                </a:solidFill>
                <a:latin typeface="Times New Roman" panose="02020603050405020304" pitchFamily="18" charset="0"/>
                <a:cs typeface="Times New Roman" panose="02020603050405020304" pitchFamily="18" charset="0"/>
              </a:rPr>
              <a:t>typedef </a:t>
            </a:r>
            <a:r>
              <a:rPr lang="en-US" altLang="zh-CN" sz="2200" b="1" dirty="0" err="1">
                <a:solidFill>
                  <a:srgbClr val="030305"/>
                </a:solidFill>
                <a:latin typeface="Times New Roman" panose="02020603050405020304" pitchFamily="18" charset="0"/>
                <a:cs typeface="Times New Roman" panose="02020603050405020304" pitchFamily="18" charset="0"/>
              </a:rPr>
              <a:t>StreeNode</a:t>
            </a:r>
            <a:r>
              <a:rPr lang="en-US" altLang="zh-CN" sz="2200" b="1" dirty="0">
                <a:solidFill>
                  <a:srgbClr val="030305"/>
                </a:solidFill>
                <a:latin typeface="Times New Roman" panose="02020603050405020304" pitchFamily="18" charset="0"/>
                <a:cs typeface="Times New Roman" panose="02020603050405020304" pitchFamily="18" charset="0"/>
              </a:rPr>
              <a:t> * </a:t>
            </a:r>
            <a:r>
              <a:rPr lang="en-US" altLang="zh-CN" sz="2200" b="1" dirty="0" err="1">
                <a:solidFill>
                  <a:srgbClr val="030305"/>
                </a:solidFill>
                <a:latin typeface="Times New Roman" panose="02020603050405020304" pitchFamily="18" charset="0"/>
                <a:cs typeface="Times New Roman" panose="02020603050405020304" pitchFamily="18" charset="0"/>
              </a:rPr>
              <a:t>SyntaxTree</a:t>
            </a:r>
            <a:r>
              <a:rPr lang="en-US" altLang="zh-CN" sz="2200" b="1" dirty="0">
                <a:solidFill>
                  <a:srgbClr val="030305"/>
                </a:solidFill>
                <a:latin typeface="Times New Roman" panose="02020603050405020304" pitchFamily="18" charset="0"/>
                <a:cs typeface="Times New Roman" panose="02020603050405020304" pitchFamily="18" charset="0"/>
              </a:rPr>
              <a:t>;</a:t>
            </a:r>
            <a:endParaRPr lang="en-US" altLang="zh-CN" sz="2200" b="1" dirty="0">
              <a:solidFill>
                <a:srgbClr val="030305"/>
              </a:solidFill>
              <a:latin typeface="Times New Roman" panose="02020603050405020304" pitchFamily="18" charset="0"/>
              <a:cs typeface="Times New Roman" panose="02020603050405020304" pitchFamily="18" charset="0"/>
            </a:endParaRPr>
          </a:p>
        </p:txBody>
      </p:sp>
      <p:sp>
        <p:nvSpPr>
          <p:cNvPr id="2" name="文本框 1"/>
          <p:cNvSpPr txBox="1"/>
          <p:nvPr/>
        </p:nvSpPr>
        <p:spPr>
          <a:xfrm>
            <a:off x="521970" y="4472940"/>
            <a:ext cx="2697480" cy="1198880"/>
          </a:xfrm>
          <a:prstGeom prst="rect">
            <a:avLst/>
          </a:prstGeom>
          <a:noFill/>
        </p:spPr>
        <p:txBody>
          <a:bodyPr wrap="square" rtlCol="0" anchor="t">
            <a:spAutoFit/>
          </a:bodyPr>
          <a:p>
            <a:pPr>
              <a:lnSpc>
                <a:spcPct val="100000"/>
              </a:lnSpc>
            </a:pPr>
            <a:r>
              <a:rPr lang="en-US" altLang="zh-CN" sz="2400" b="1" dirty="0" err="1">
                <a:solidFill>
                  <a:srgbClr val="030305"/>
                </a:solidFill>
                <a:latin typeface="+mn-ea"/>
                <a:sym typeface="+mn-ea"/>
              </a:rPr>
              <a:t>fn</a:t>
            </a:r>
            <a:r>
              <a:rPr lang="en-US" altLang="zh-CN" sz="2400" b="1" dirty="0">
                <a:solidFill>
                  <a:srgbClr val="030305"/>
                </a:solidFill>
                <a:latin typeface="+mn-ea"/>
                <a:sym typeface="+mn-ea"/>
              </a:rPr>
              <a:t> f(x)=2+x</a:t>
            </a:r>
            <a:endParaRPr lang="en-US" altLang="zh-CN" sz="2400" b="1" dirty="0">
              <a:solidFill>
                <a:srgbClr val="030305"/>
              </a:solidFill>
              <a:latin typeface="+mn-ea"/>
            </a:endParaRPr>
          </a:p>
          <a:p>
            <a:pPr>
              <a:lnSpc>
                <a:spcPct val="100000"/>
              </a:lnSpc>
            </a:pPr>
            <a:r>
              <a:rPr lang="en-US" altLang="zh-CN" sz="2400" b="1" dirty="0" err="1">
                <a:solidFill>
                  <a:srgbClr val="030305"/>
                </a:solidFill>
                <a:latin typeface="+mn-ea"/>
                <a:sym typeface="+mn-ea"/>
              </a:rPr>
              <a:t>fn</a:t>
            </a:r>
            <a:r>
              <a:rPr lang="en-US" altLang="zh-CN" sz="2400" b="1" dirty="0">
                <a:solidFill>
                  <a:srgbClr val="030305"/>
                </a:solidFill>
                <a:latin typeface="+mn-ea"/>
                <a:sym typeface="+mn-ea"/>
              </a:rPr>
              <a:t> g(</a:t>
            </a:r>
            <a:r>
              <a:rPr lang="en-US" altLang="zh-CN" sz="2400" b="1" dirty="0" err="1">
                <a:solidFill>
                  <a:srgbClr val="030305"/>
                </a:solidFill>
                <a:latin typeface="+mn-ea"/>
                <a:sym typeface="+mn-ea"/>
              </a:rPr>
              <a:t>x,y</a:t>
            </a:r>
            <a:r>
              <a:rPr lang="en-US" altLang="zh-CN" sz="2400" b="1" dirty="0">
                <a:solidFill>
                  <a:srgbClr val="030305"/>
                </a:solidFill>
                <a:latin typeface="+mn-ea"/>
                <a:sym typeface="+mn-ea"/>
              </a:rPr>
              <a:t>)=f(x)+y</a:t>
            </a:r>
            <a:endParaRPr lang="en-US" altLang="zh-CN" sz="2400" b="1" dirty="0">
              <a:solidFill>
                <a:srgbClr val="030305"/>
              </a:solidFill>
              <a:latin typeface="+mn-ea"/>
            </a:endParaRPr>
          </a:p>
          <a:p>
            <a:pPr>
              <a:lnSpc>
                <a:spcPct val="100000"/>
              </a:lnSpc>
            </a:pPr>
            <a:r>
              <a:rPr lang="en-US" altLang="zh-CN" sz="2400" b="1" dirty="0">
                <a:solidFill>
                  <a:srgbClr val="030305"/>
                </a:solidFill>
                <a:latin typeface="+mn-ea"/>
                <a:sym typeface="+mn-ea"/>
              </a:rPr>
              <a:t>g(3,4)</a:t>
            </a:r>
            <a:endParaRPr lang="zh-CN" altLang="en-US" sz="2400" b="1" dirty="0">
              <a:solidFill>
                <a:srgbClr val="030305"/>
              </a:solidFill>
              <a:latin typeface="+mn-ea"/>
              <a:sym typeface="+mn-ea"/>
            </a:endParaRPr>
          </a:p>
        </p:txBody>
      </p:sp>
      <p:grpSp>
        <p:nvGrpSpPr>
          <p:cNvPr id="3" name="组合 2"/>
          <p:cNvGrpSpPr/>
          <p:nvPr/>
        </p:nvGrpSpPr>
        <p:grpSpPr>
          <a:xfrm>
            <a:off x="3618229" y="2450652"/>
            <a:ext cx="8335962" cy="3915410"/>
            <a:chOff x="341313" y="1000125"/>
            <a:chExt cx="8335962" cy="3915410"/>
          </a:xfrm>
        </p:grpSpPr>
        <p:grpSp>
          <p:nvGrpSpPr>
            <p:cNvPr id="5" name="组合 37"/>
            <p:cNvGrpSpPr/>
            <p:nvPr/>
          </p:nvGrpSpPr>
          <p:grpSpPr bwMode="auto">
            <a:xfrm>
              <a:off x="1752600" y="1000125"/>
              <a:ext cx="5267325" cy="1172845"/>
              <a:chOff x="1752600" y="1000125"/>
              <a:chExt cx="5267325" cy="1172845"/>
            </a:xfrm>
          </p:grpSpPr>
          <p:sp>
            <p:nvSpPr>
              <p:cNvPr id="6" name="Rectangle 1026"/>
              <p:cNvSpPr>
                <a:spLocks noChangeArrowheads="1"/>
              </p:cNvSpPr>
              <p:nvPr>
                <p:custDataLst>
                  <p:tags r:id="rId1"/>
                </p:custDataLst>
              </p:nvPr>
            </p:nvSpPr>
            <p:spPr bwMode="auto">
              <a:xfrm>
                <a:off x="3200400" y="1000125"/>
                <a:ext cx="84010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p>
                <a:r>
                  <a:rPr lang="en-US" altLang="zh-CN" sz="2400" b="1">
                    <a:solidFill>
                      <a:srgbClr val="030305"/>
                    </a:solidFill>
                    <a:latin typeface="+mn-ea"/>
                  </a:rPr>
                  <a:t>PrgK</a:t>
                </a:r>
                <a:endParaRPr lang="en-US" altLang="zh-CN" sz="2400" b="1">
                  <a:solidFill>
                    <a:srgbClr val="030305"/>
                  </a:solidFill>
                  <a:latin typeface="+mn-ea"/>
                </a:endParaRPr>
              </a:p>
            </p:txBody>
          </p:sp>
          <p:sp>
            <p:nvSpPr>
              <p:cNvPr id="7" name="Line 1027"/>
              <p:cNvSpPr>
                <a:spLocks noChangeShapeType="1"/>
              </p:cNvSpPr>
              <p:nvPr>
                <p:custDataLst>
                  <p:tags r:id="rId2"/>
                </p:custDataLst>
              </p:nvPr>
            </p:nvSpPr>
            <p:spPr bwMode="auto">
              <a:xfrm flipH="1">
                <a:off x="2286000" y="1412875"/>
                <a:ext cx="990600" cy="3810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8" name="Rectangle 1028"/>
              <p:cNvSpPr>
                <a:spLocks noChangeArrowheads="1"/>
              </p:cNvSpPr>
              <p:nvPr>
                <p:custDataLst>
                  <p:tags r:id="rId3"/>
                </p:custDataLst>
              </p:nvPr>
            </p:nvSpPr>
            <p:spPr bwMode="auto">
              <a:xfrm>
                <a:off x="1752600" y="1711325"/>
                <a:ext cx="145097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FnK f</a:t>
                </a:r>
                <a:endParaRPr lang="en-US" altLang="zh-CN" sz="2400" b="1">
                  <a:solidFill>
                    <a:srgbClr val="030305"/>
                  </a:solidFill>
                  <a:latin typeface="+mn-ea"/>
                </a:endParaRPr>
              </a:p>
            </p:txBody>
          </p:sp>
          <p:sp>
            <p:nvSpPr>
              <p:cNvPr id="9" name="Line 1029"/>
              <p:cNvSpPr>
                <a:spLocks noChangeShapeType="1"/>
              </p:cNvSpPr>
              <p:nvPr>
                <p:custDataLst>
                  <p:tags r:id="rId4"/>
                </p:custDataLst>
              </p:nvPr>
            </p:nvSpPr>
            <p:spPr bwMode="auto">
              <a:xfrm>
                <a:off x="3962400" y="1336675"/>
                <a:ext cx="18288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0" name="Rectangle 1030"/>
              <p:cNvSpPr>
                <a:spLocks noChangeArrowheads="1"/>
              </p:cNvSpPr>
              <p:nvPr>
                <p:custDataLst>
                  <p:tags r:id="rId5"/>
                </p:custDataLst>
              </p:nvPr>
            </p:nvSpPr>
            <p:spPr bwMode="auto">
              <a:xfrm>
                <a:off x="5715000" y="1685925"/>
                <a:ext cx="1304925" cy="460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CallK g</a:t>
                </a:r>
                <a:endParaRPr lang="en-US" altLang="zh-CN" sz="2400" b="1">
                  <a:solidFill>
                    <a:srgbClr val="030305"/>
                  </a:solidFill>
                  <a:latin typeface="+mn-ea"/>
                </a:endParaRPr>
              </a:p>
            </p:txBody>
          </p:sp>
        </p:grpSp>
        <p:grpSp>
          <p:nvGrpSpPr>
            <p:cNvPr id="11" name="组合 39"/>
            <p:cNvGrpSpPr/>
            <p:nvPr/>
          </p:nvGrpSpPr>
          <p:grpSpPr bwMode="auto">
            <a:xfrm>
              <a:off x="341313" y="2174875"/>
              <a:ext cx="3392170" cy="2070814"/>
              <a:chOff x="341313" y="2174875"/>
              <a:chExt cx="3392170" cy="2070814"/>
            </a:xfrm>
          </p:grpSpPr>
          <p:sp>
            <p:nvSpPr>
              <p:cNvPr id="12" name="Line 1031"/>
              <p:cNvSpPr>
                <a:spLocks noChangeShapeType="1"/>
              </p:cNvSpPr>
              <p:nvPr>
                <p:custDataLst>
                  <p:tags r:id="rId6"/>
                </p:custDataLst>
              </p:nvPr>
            </p:nvSpPr>
            <p:spPr bwMode="auto">
              <a:xfrm flipH="1">
                <a:off x="1050290" y="2174875"/>
                <a:ext cx="990600" cy="6096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3" name="Line 1032"/>
              <p:cNvSpPr>
                <a:spLocks noChangeShapeType="1"/>
              </p:cNvSpPr>
              <p:nvPr>
                <p:custDataLst>
                  <p:tags r:id="rId7"/>
                </p:custDataLst>
              </p:nvPr>
            </p:nvSpPr>
            <p:spPr bwMode="auto">
              <a:xfrm>
                <a:off x="2209800" y="2208530"/>
                <a:ext cx="152400" cy="685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4" name="Rectangle 1033"/>
              <p:cNvSpPr>
                <a:spLocks noChangeArrowheads="1"/>
              </p:cNvSpPr>
              <p:nvPr>
                <p:custDataLst>
                  <p:tags r:id="rId8"/>
                </p:custDataLst>
              </p:nvPr>
            </p:nvSpPr>
            <p:spPr bwMode="auto">
              <a:xfrm>
                <a:off x="341313" y="2913380"/>
                <a:ext cx="154114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a:solidFill>
                      <a:srgbClr val="030305"/>
                    </a:solidFill>
                    <a:latin typeface="+mn-ea"/>
                  </a:rPr>
                  <a:t>ParamK x</a:t>
                </a:r>
                <a:endParaRPr lang="en-US" altLang="zh-CN" sz="2400" b="1">
                  <a:solidFill>
                    <a:srgbClr val="030305"/>
                  </a:solidFill>
                  <a:latin typeface="+mn-ea"/>
                </a:endParaRPr>
              </a:p>
            </p:txBody>
          </p:sp>
          <p:sp>
            <p:nvSpPr>
              <p:cNvPr id="4" name="Rectangle 1034"/>
              <p:cNvSpPr>
                <a:spLocks noChangeArrowheads="1"/>
              </p:cNvSpPr>
              <p:nvPr>
                <p:custDataLst>
                  <p:tags r:id="rId9"/>
                </p:custDataLst>
              </p:nvPr>
            </p:nvSpPr>
            <p:spPr bwMode="auto">
              <a:xfrm>
                <a:off x="1807845" y="2931160"/>
                <a:ext cx="1246188"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Plus K</a:t>
                </a:r>
                <a:endParaRPr lang="en-US" altLang="zh-CN" sz="2400" b="1">
                  <a:solidFill>
                    <a:srgbClr val="030305"/>
                  </a:solidFill>
                  <a:latin typeface="+mn-ea"/>
                </a:endParaRPr>
              </a:p>
            </p:txBody>
          </p:sp>
          <p:sp>
            <p:nvSpPr>
              <p:cNvPr id="17" name="Line 1035"/>
              <p:cNvSpPr>
                <a:spLocks noChangeShapeType="1"/>
              </p:cNvSpPr>
              <p:nvPr>
                <p:custDataLst>
                  <p:tags r:id="rId10"/>
                </p:custDataLst>
              </p:nvPr>
            </p:nvSpPr>
            <p:spPr bwMode="auto">
              <a:xfrm flipH="1">
                <a:off x="1752600" y="3394075"/>
                <a:ext cx="457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8" name="Line 1036"/>
              <p:cNvSpPr>
                <a:spLocks noChangeShapeType="1"/>
              </p:cNvSpPr>
              <p:nvPr>
                <p:custDataLst>
                  <p:tags r:id="rId11"/>
                </p:custDataLst>
              </p:nvPr>
            </p:nvSpPr>
            <p:spPr bwMode="auto">
              <a:xfrm>
                <a:off x="2362200" y="3394075"/>
                <a:ext cx="457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19" name="Rectangle 1037"/>
              <p:cNvSpPr>
                <a:spLocks noChangeArrowheads="1"/>
              </p:cNvSpPr>
              <p:nvPr>
                <p:custDataLst>
                  <p:tags r:id="rId12"/>
                </p:custDataLst>
              </p:nvPr>
            </p:nvSpPr>
            <p:spPr bwMode="auto">
              <a:xfrm>
                <a:off x="971550" y="3768725"/>
                <a:ext cx="1671638"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ConstK 2</a:t>
                </a:r>
                <a:endParaRPr lang="en-US" altLang="zh-CN" sz="2400" b="1">
                  <a:solidFill>
                    <a:srgbClr val="030305"/>
                  </a:solidFill>
                  <a:latin typeface="+mn-ea"/>
                </a:endParaRPr>
              </a:p>
            </p:txBody>
          </p:sp>
          <p:sp>
            <p:nvSpPr>
              <p:cNvPr id="20" name="Rectangle 1038"/>
              <p:cNvSpPr>
                <a:spLocks noChangeArrowheads="1"/>
              </p:cNvSpPr>
              <p:nvPr>
                <p:custDataLst>
                  <p:tags r:id="rId13"/>
                </p:custDataLst>
              </p:nvPr>
            </p:nvSpPr>
            <p:spPr bwMode="auto">
              <a:xfrm>
                <a:off x="2468245" y="3784600"/>
                <a:ext cx="1265238" cy="461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IdK  x</a:t>
                </a:r>
                <a:endParaRPr lang="en-US" altLang="zh-CN" sz="2400" b="1">
                  <a:solidFill>
                    <a:srgbClr val="030305"/>
                  </a:solidFill>
                  <a:latin typeface="+mn-ea"/>
                </a:endParaRPr>
              </a:p>
            </p:txBody>
          </p:sp>
        </p:grpSp>
        <p:grpSp>
          <p:nvGrpSpPr>
            <p:cNvPr id="21" name="组合 45"/>
            <p:cNvGrpSpPr/>
            <p:nvPr/>
          </p:nvGrpSpPr>
          <p:grpSpPr bwMode="auto">
            <a:xfrm>
              <a:off x="2209800" y="2098675"/>
              <a:ext cx="3082925" cy="533400"/>
              <a:chOff x="2209800" y="2098675"/>
              <a:chExt cx="3082925" cy="533400"/>
            </a:xfrm>
          </p:grpSpPr>
          <p:sp>
            <p:nvSpPr>
              <p:cNvPr id="22" name="Line 1039"/>
              <p:cNvSpPr>
                <a:spLocks noChangeShapeType="1"/>
              </p:cNvSpPr>
              <p:nvPr>
                <p:custDataLst>
                  <p:tags r:id="rId14"/>
                </p:custDataLst>
              </p:nvPr>
            </p:nvSpPr>
            <p:spPr bwMode="auto">
              <a:xfrm>
                <a:off x="2209800" y="2098675"/>
                <a:ext cx="15240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3" name="Rectangle 1040"/>
              <p:cNvSpPr>
                <a:spLocks noChangeArrowheads="1"/>
              </p:cNvSpPr>
              <p:nvPr>
                <p:custDataLst>
                  <p:tags r:id="rId15"/>
                </p:custDataLst>
              </p:nvPr>
            </p:nvSpPr>
            <p:spPr bwMode="auto">
              <a:xfrm>
                <a:off x="3733800" y="2168525"/>
                <a:ext cx="155892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FnK g</a:t>
                </a:r>
                <a:endParaRPr lang="en-US" altLang="zh-CN" sz="2400" b="1">
                  <a:solidFill>
                    <a:srgbClr val="030305"/>
                  </a:solidFill>
                  <a:latin typeface="+mn-ea"/>
                </a:endParaRPr>
              </a:p>
            </p:txBody>
          </p:sp>
        </p:grpSp>
        <p:grpSp>
          <p:nvGrpSpPr>
            <p:cNvPr id="24" name="组合 43"/>
            <p:cNvGrpSpPr/>
            <p:nvPr/>
          </p:nvGrpSpPr>
          <p:grpSpPr bwMode="auto">
            <a:xfrm>
              <a:off x="6248400" y="2403475"/>
              <a:ext cx="1995488" cy="760095"/>
              <a:chOff x="6248400" y="2403475"/>
              <a:chExt cx="1995488" cy="760095"/>
            </a:xfrm>
          </p:grpSpPr>
          <p:sp>
            <p:nvSpPr>
              <p:cNvPr id="25" name="Line 1043"/>
              <p:cNvSpPr>
                <a:spLocks noChangeShapeType="1"/>
              </p:cNvSpPr>
              <p:nvPr>
                <p:custDataLst>
                  <p:tags r:id="rId16"/>
                </p:custDataLst>
              </p:nvPr>
            </p:nvSpPr>
            <p:spPr bwMode="auto">
              <a:xfrm>
                <a:off x="6248400" y="2403475"/>
                <a:ext cx="4572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6" name="Rectangle 1044"/>
              <p:cNvSpPr>
                <a:spLocks noChangeArrowheads="1"/>
              </p:cNvSpPr>
              <p:nvPr>
                <p:custDataLst>
                  <p:tags r:id="rId17"/>
                </p:custDataLst>
              </p:nvPr>
            </p:nvSpPr>
            <p:spPr bwMode="auto">
              <a:xfrm>
                <a:off x="6248400" y="2701925"/>
                <a:ext cx="1995488"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ConstK  3</a:t>
                </a:r>
                <a:endParaRPr lang="en-US" altLang="zh-CN" sz="2400" b="1">
                  <a:solidFill>
                    <a:srgbClr val="030305"/>
                  </a:solidFill>
                  <a:latin typeface="+mn-ea"/>
                </a:endParaRPr>
              </a:p>
            </p:txBody>
          </p:sp>
        </p:grpSp>
        <p:grpSp>
          <p:nvGrpSpPr>
            <p:cNvPr id="27" name="组合 44"/>
            <p:cNvGrpSpPr/>
            <p:nvPr/>
          </p:nvGrpSpPr>
          <p:grpSpPr bwMode="auto">
            <a:xfrm>
              <a:off x="7018655" y="3160713"/>
              <a:ext cx="1658620" cy="648970"/>
              <a:chOff x="7018655" y="3160713"/>
              <a:chExt cx="1658620" cy="648970"/>
            </a:xfrm>
          </p:grpSpPr>
          <p:sp>
            <p:nvSpPr>
              <p:cNvPr id="28" name="Line 1045"/>
              <p:cNvSpPr>
                <a:spLocks noChangeShapeType="1"/>
              </p:cNvSpPr>
              <p:nvPr>
                <p:custDataLst>
                  <p:tags r:id="rId18"/>
                </p:custDataLst>
              </p:nvPr>
            </p:nvSpPr>
            <p:spPr bwMode="auto">
              <a:xfrm>
                <a:off x="7164388" y="3160713"/>
                <a:ext cx="455295" cy="23241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29" name="Rectangle 1046"/>
              <p:cNvSpPr>
                <a:spLocks noChangeArrowheads="1"/>
              </p:cNvSpPr>
              <p:nvPr>
                <p:custDataLst>
                  <p:tags r:id="rId19"/>
                </p:custDataLst>
              </p:nvPr>
            </p:nvSpPr>
            <p:spPr bwMode="auto">
              <a:xfrm>
                <a:off x="7018655" y="3348038"/>
                <a:ext cx="165862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p>
                <a:r>
                  <a:rPr lang="en-US" altLang="zh-CN" sz="2400" b="1">
                    <a:solidFill>
                      <a:srgbClr val="030305"/>
                    </a:solidFill>
                    <a:latin typeface="+mn-ea"/>
                  </a:rPr>
                  <a:t>ConstK 4</a:t>
                </a:r>
                <a:endParaRPr lang="en-US" altLang="zh-CN" sz="2400" b="1">
                  <a:solidFill>
                    <a:srgbClr val="030305"/>
                  </a:solidFill>
                  <a:latin typeface="+mn-ea"/>
                </a:endParaRPr>
              </a:p>
            </p:txBody>
          </p:sp>
        </p:grpSp>
        <p:grpSp>
          <p:nvGrpSpPr>
            <p:cNvPr id="30" name="组合 40"/>
            <p:cNvGrpSpPr/>
            <p:nvPr/>
          </p:nvGrpSpPr>
          <p:grpSpPr bwMode="auto">
            <a:xfrm>
              <a:off x="2913380" y="2784475"/>
              <a:ext cx="2616200" cy="1393508"/>
              <a:chOff x="2913380" y="2784475"/>
              <a:chExt cx="2616200" cy="1393508"/>
            </a:xfrm>
          </p:grpSpPr>
          <p:sp>
            <p:nvSpPr>
              <p:cNvPr id="31" name="Line 1041"/>
              <p:cNvSpPr>
                <a:spLocks noChangeShapeType="1"/>
              </p:cNvSpPr>
              <p:nvPr>
                <p:custDataLst>
                  <p:tags r:id="rId20"/>
                </p:custDataLst>
              </p:nvPr>
            </p:nvSpPr>
            <p:spPr bwMode="auto">
              <a:xfrm flipH="1">
                <a:off x="3276600" y="2784475"/>
                <a:ext cx="609600"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32" name="Rectangle 1042"/>
              <p:cNvSpPr>
                <a:spLocks noChangeArrowheads="1"/>
              </p:cNvSpPr>
              <p:nvPr>
                <p:custDataLst>
                  <p:tags r:id="rId21"/>
                </p:custDataLst>
              </p:nvPr>
            </p:nvSpPr>
            <p:spPr bwMode="auto">
              <a:xfrm>
                <a:off x="2913380" y="2914015"/>
                <a:ext cx="26162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ParamK  x</a:t>
                </a:r>
                <a:endParaRPr lang="en-US" altLang="zh-CN" sz="2400" b="1">
                  <a:solidFill>
                    <a:srgbClr val="030305"/>
                  </a:solidFill>
                  <a:latin typeface="+mn-ea"/>
                </a:endParaRPr>
              </a:p>
            </p:txBody>
          </p:sp>
          <p:sp>
            <p:nvSpPr>
              <p:cNvPr id="33" name="Line 1047"/>
              <p:cNvSpPr>
                <a:spLocks noChangeShapeType="1"/>
              </p:cNvSpPr>
              <p:nvPr>
                <p:custDataLst>
                  <p:tags r:id="rId22"/>
                </p:custDataLst>
              </p:nvPr>
            </p:nvSpPr>
            <p:spPr bwMode="auto">
              <a:xfrm>
                <a:off x="3733800" y="3446463"/>
                <a:ext cx="333375" cy="363537"/>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34" name="Rectangle 1048"/>
              <p:cNvSpPr>
                <a:spLocks noChangeArrowheads="1"/>
              </p:cNvSpPr>
              <p:nvPr>
                <p:custDataLst>
                  <p:tags r:id="rId23"/>
                </p:custDataLst>
              </p:nvPr>
            </p:nvSpPr>
            <p:spPr bwMode="auto">
              <a:xfrm>
                <a:off x="3492500" y="3716338"/>
                <a:ext cx="1655763"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ParamK  y</a:t>
                </a:r>
                <a:endParaRPr lang="en-US" altLang="zh-CN" sz="2400" b="1">
                  <a:solidFill>
                    <a:srgbClr val="030305"/>
                  </a:solidFill>
                  <a:latin typeface="+mn-ea"/>
                </a:endParaRPr>
              </a:p>
            </p:txBody>
          </p:sp>
        </p:grpSp>
        <p:grpSp>
          <p:nvGrpSpPr>
            <p:cNvPr id="35" name="组合 41"/>
            <p:cNvGrpSpPr/>
            <p:nvPr/>
          </p:nvGrpSpPr>
          <p:grpSpPr bwMode="auto">
            <a:xfrm>
              <a:off x="4191000" y="2784475"/>
              <a:ext cx="2679700" cy="601345"/>
              <a:chOff x="4191000" y="2784475"/>
              <a:chExt cx="2679700" cy="601345"/>
            </a:xfrm>
          </p:grpSpPr>
          <p:sp>
            <p:nvSpPr>
              <p:cNvPr id="36" name="Line 1049"/>
              <p:cNvSpPr>
                <a:spLocks noChangeShapeType="1"/>
              </p:cNvSpPr>
              <p:nvPr>
                <p:custDataLst>
                  <p:tags r:id="rId24"/>
                </p:custDataLst>
              </p:nvPr>
            </p:nvSpPr>
            <p:spPr bwMode="auto">
              <a:xfrm>
                <a:off x="4191000" y="2784475"/>
                <a:ext cx="1295400" cy="3048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37" name="Rectangle 1050"/>
              <p:cNvSpPr>
                <a:spLocks noChangeArrowheads="1"/>
              </p:cNvSpPr>
              <p:nvPr>
                <p:custDataLst>
                  <p:tags r:id="rId25"/>
                </p:custDataLst>
              </p:nvPr>
            </p:nvSpPr>
            <p:spPr bwMode="auto">
              <a:xfrm>
                <a:off x="5435600" y="2924175"/>
                <a:ext cx="14351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PlusK</a:t>
                </a:r>
                <a:endParaRPr lang="en-US" altLang="zh-CN" sz="2400" b="1">
                  <a:solidFill>
                    <a:srgbClr val="030305"/>
                  </a:solidFill>
                  <a:latin typeface="+mn-ea"/>
                </a:endParaRPr>
              </a:p>
            </p:txBody>
          </p:sp>
        </p:grpSp>
        <p:grpSp>
          <p:nvGrpSpPr>
            <p:cNvPr id="38" name="组合 42"/>
            <p:cNvGrpSpPr/>
            <p:nvPr/>
          </p:nvGrpSpPr>
          <p:grpSpPr bwMode="auto">
            <a:xfrm>
              <a:off x="5003800" y="3284538"/>
              <a:ext cx="2847975" cy="966470"/>
              <a:chOff x="5003800" y="3284538"/>
              <a:chExt cx="2847975" cy="966470"/>
            </a:xfrm>
          </p:grpSpPr>
          <p:sp>
            <p:nvSpPr>
              <p:cNvPr id="39" name="Line 1051"/>
              <p:cNvSpPr>
                <a:spLocks noChangeShapeType="1"/>
              </p:cNvSpPr>
              <p:nvPr>
                <p:custDataLst>
                  <p:tags r:id="rId26"/>
                </p:custDataLst>
              </p:nvPr>
            </p:nvSpPr>
            <p:spPr bwMode="auto">
              <a:xfrm flipH="1">
                <a:off x="5364163" y="3357563"/>
                <a:ext cx="533400" cy="5334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0" name="Line 1052"/>
              <p:cNvSpPr>
                <a:spLocks noChangeShapeType="1"/>
              </p:cNvSpPr>
              <p:nvPr>
                <p:custDataLst>
                  <p:tags r:id="rId27"/>
                </p:custDataLst>
              </p:nvPr>
            </p:nvSpPr>
            <p:spPr bwMode="auto">
              <a:xfrm>
                <a:off x="6084888" y="3284538"/>
                <a:ext cx="762000" cy="45720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1" name="Rectangle 1053"/>
              <p:cNvSpPr>
                <a:spLocks noChangeArrowheads="1"/>
              </p:cNvSpPr>
              <p:nvPr>
                <p:custDataLst>
                  <p:tags r:id="rId28"/>
                </p:custDataLst>
              </p:nvPr>
            </p:nvSpPr>
            <p:spPr bwMode="auto">
              <a:xfrm>
                <a:off x="5003800" y="3789363"/>
                <a:ext cx="1576388"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CallK  f  </a:t>
                </a:r>
                <a:endParaRPr lang="en-US" altLang="zh-CN" sz="2400" b="1">
                  <a:solidFill>
                    <a:srgbClr val="030305"/>
                  </a:solidFill>
                  <a:latin typeface="+mn-ea"/>
                </a:endParaRPr>
              </a:p>
            </p:txBody>
          </p:sp>
          <p:sp>
            <p:nvSpPr>
              <p:cNvPr id="42" name="Rectangle 1054"/>
              <p:cNvSpPr>
                <a:spLocks noChangeArrowheads="1"/>
              </p:cNvSpPr>
              <p:nvPr>
                <p:custDataLst>
                  <p:tags r:id="rId29"/>
                </p:custDataLst>
              </p:nvPr>
            </p:nvSpPr>
            <p:spPr bwMode="auto">
              <a:xfrm>
                <a:off x="6443663" y="3789363"/>
                <a:ext cx="1408112"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IdK  y</a:t>
                </a:r>
                <a:endParaRPr lang="en-US" altLang="zh-CN" sz="2400" b="1">
                  <a:solidFill>
                    <a:srgbClr val="030305"/>
                  </a:solidFill>
                  <a:latin typeface="+mn-ea"/>
                </a:endParaRPr>
              </a:p>
            </p:txBody>
          </p:sp>
        </p:grpSp>
        <p:sp>
          <p:nvSpPr>
            <p:cNvPr id="43" name="Line 1055"/>
            <p:cNvSpPr>
              <a:spLocks noChangeShapeType="1"/>
            </p:cNvSpPr>
            <p:nvPr>
              <p:custDataLst>
                <p:tags r:id="rId30"/>
              </p:custDataLst>
            </p:nvPr>
          </p:nvSpPr>
          <p:spPr bwMode="auto">
            <a:xfrm>
              <a:off x="5364163" y="4221480"/>
              <a:ext cx="294640" cy="320040"/>
            </a:xfrm>
            <a:prstGeom prst="line">
              <a:avLst/>
            </a:prstGeom>
            <a:noFill/>
            <a:ln w="9525">
              <a:solidFill>
                <a:srgbClr val="030305"/>
              </a:solidFill>
              <a:miter lim="800000"/>
            </a:ln>
            <a:extLst>
              <a:ext uri="{909E8E84-426E-40DD-AFC4-6F175D3DCCD1}">
                <a14:hiddenFill xmlns:a14="http://schemas.microsoft.com/office/drawing/2010/main">
                  <a:noFill/>
                </a14:hiddenFill>
              </a:ext>
            </a:extLst>
          </p:spPr>
          <p:txBody>
            <a:bodyPr/>
            <a:p>
              <a:endParaRPr lang="zh-CN" altLang="en-US" sz="2400">
                <a:latin typeface="+mn-ea"/>
              </a:endParaRPr>
            </a:p>
          </p:txBody>
        </p:sp>
        <p:sp>
          <p:nvSpPr>
            <p:cNvPr id="44" name="Rectangle 1056"/>
            <p:cNvSpPr>
              <a:spLocks noChangeArrowheads="1"/>
            </p:cNvSpPr>
            <p:nvPr>
              <p:custDataLst>
                <p:tags r:id="rId31"/>
              </p:custDataLst>
            </p:nvPr>
          </p:nvSpPr>
          <p:spPr bwMode="auto">
            <a:xfrm>
              <a:off x="5219700" y="4453890"/>
              <a:ext cx="1512888"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p>
              <a:r>
                <a:rPr lang="en-US" altLang="zh-CN" sz="2400" b="1">
                  <a:solidFill>
                    <a:srgbClr val="030305"/>
                  </a:solidFill>
                  <a:latin typeface="+mn-ea"/>
                </a:rPr>
                <a:t>IdK x</a:t>
              </a:r>
              <a:endParaRPr lang="en-US" altLang="zh-CN" sz="2400" b="1">
                <a:solidFill>
                  <a:srgbClr val="030305"/>
                </a:solidFill>
                <a:latin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arn(inHorizontal)">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barn(inHorizontal)">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barn(inHorizontal)">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barn(inHorizontal)">
                                      <p:cBhvr>
                                        <p:cTn id="22" dur="5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16">
                                            <p:txEl>
                                              <p:pRg st="4" end="4"/>
                                            </p:txEl>
                                          </p:spTgt>
                                        </p:tgtEl>
                                        <p:attrNameLst>
                                          <p:attrName>style.visibility</p:attrName>
                                        </p:attrNameLst>
                                      </p:cBhvr>
                                      <p:to>
                                        <p:strVal val="visible"/>
                                      </p:to>
                                    </p:set>
                                    <p:animEffect transition="in" filter="barn(inHorizontal)">
                                      <p:cBhvr>
                                        <p:cTn id="27" dur="500"/>
                                        <p:tgtEl>
                                          <p:spTgt spid="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nodeType="clickEffect">
                                  <p:stCondLst>
                                    <p:cond delay="0"/>
                                  </p:stCondLst>
                                  <p:childTnLst>
                                    <p:set>
                                      <p:cBhvr>
                                        <p:cTn id="31" dur="1" fill="hold">
                                          <p:stCondLst>
                                            <p:cond delay="0"/>
                                          </p:stCondLst>
                                        </p:cTn>
                                        <p:tgtEl>
                                          <p:spTgt spid="16">
                                            <p:txEl>
                                              <p:pRg st="5" end="5"/>
                                            </p:txEl>
                                          </p:spTgt>
                                        </p:tgtEl>
                                        <p:attrNameLst>
                                          <p:attrName>style.visibility</p:attrName>
                                        </p:attrNameLst>
                                      </p:cBhvr>
                                      <p:to>
                                        <p:strVal val="visible"/>
                                      </p:to>
                                    </p:set>
                                    <p:animEffect transition="in" filter="barn(inHorizontal)">
                                      <p:cBhvr>
                                        <p:cTn id="32" dur="500"/>
                                        <p:tgtEl>
                                          <p:spTgt spid="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16">
                                            <p:txEl>
                                              <p:pRg st="6" end="6"/>
                                            </p:txEl>
                                          </p:spTgt>
                                        </p:tgtEl>
                                        <p:attrNameLst>
                                          <p:attrName>style.visibility</p:attrName>
                                        </p:attrNameLst>
                                      </p:cBhvr>
                                      <p:to>
                                        <p:strVal val="visible"/>
                                      </p:to>
                                    </p:set>
                                    <p:animEffect transition="in" filter="barn(inHorizontal)">
                                      <p:cBhvr>
                                        <p:cTn id="37" dur="500"/>
                                        <p:tgtEl>
                                          <p:spTgt spid="1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nodeType="clickEffect">
                                  <p:stCondLst>
                                    <p:cond delay="0"/>
                                  </p:stCondLst>
                                  <p:childTnLst>
                                    <p:set>
                                      <p:cBhvr>
                                        <p:cTn id="41" dur="1" fill="hold">
                                          <p:stCondLst>
                                            <p:cond delay="0"/>
                                          </p:stCondLst>
                                        </p:cTn>
                                        <p:tgtEl>
                                          <p:spTgt spid="16">
                                            <p:txEl>
                                              <p:pRg st="7" end="7"/>
                                            </p:txEl>
                                          </p:spTgt>
                                        </p:tgtEl>
                                        <p:attrNameLst>
                                          <p:attrName>style.visibility</p:attrName>
                                        </p:attrNameLst>
                                      </p:cBhvr>
                                      <p:to>
                                        <p:strVal val="visible"/>
                                      </p:to>
                                    </p:set>
                                    <p:animEffect transition="in" filter="barn(inHorizontal)">
                                      <p:cBhvr>
                                        <p:cTn id="42" dur="500"/>
                                        <p:tgtEl>
                                          <p:spTgt spid="1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71170" y="276860"/>
            <a:ext cx="7704455" cy="593090"/>
          </a:xfrm>
        </p:spPr>
        <p:txBody>
          <a:bodyPr/>
          <a:lstStyle/>
          <a:p>
            <a:r>
              <a:rPr lang="en-US" altLang="zh-CN" sz="2800" dirty="0"/>
              <a:t>6.5.2  </a:t>
            </a:r>
            <a:r>
              <a:rPr lang="zh-CN" altLang="en-US" sz="2800" dirty="0"/>
              <a:t>函数定义和调用的代码生成过程</a:t>
            </a:r>
            <a:endParaRPr lang="zh-CN" altLang="en-US" sz="2800" dirty="0"/>
          </a:p>
        </p:txBody>
      </p:sp>
      <p:grpSp>
        <p:nvGrpSpPr>
          <p:cNvPr id="46" name="组合 23"/>
          <p:cNvGrpSpPr/>
          <p:nvPr/>
        </p:nvGrpSpPr>
        <p:grpSpPr bwMode="auto">
          <a:xfrm>
            <a:off x="701675" y="3155016"/>
            <a:ext cx="1395095" cy="1171258"/>
            <a:chOff x="1844675" y="2581275"/>
            <a:chExt cx="1395095" cy="1171258"/>
          </a:xfrm>
        </p:grpSpPr>
        <p:sp>
          <p:nvSpPr>
            <p:cNvPr id="47" name="Rectangle 3"/>
            <p:cNvSpPr>
              <a:spLocks noChangeArrowheads="1"/>
            </p:cNvSpPr>
            <p:nvPr/>
          </p:nvSpPr>
          <p:spPr bwMode="auto">
            <a:xfrm>
              <a:off x="1844675" y="2581275"/>
              <a:ext cx="108521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10F"/>
                  </a:solidFill>
                  <a:latin typeface="+mn-ea"/>
                </a:rPr>
                <a:t>entry f</a:t>
              </a:r>
              <a:endParaRPr lang="zh-CN" altLang="en-US" sz="2400" b="1">
                <a:solidFill>
                  <a:srgbClr val="03010F"/>
                </a:solidFill>
                <a:latin typeface="+mn-ea"/>
              </a:endParaRPr>
            </a:p>
          </p:txBody>
        </p:sp>
        <p:sp>
          <p:nvSpPr>
            <p:cNvPr id="48" name="Rectangle 4"/>
            <p:cNvSpPr>
              <a:spLocks noChangeArrowheads="1"/>
            </p:cNvSpPr>
            <p:nvPr/>
          </p:nvSpPr>
          <p:spPr bwMode="auto">
            <a:xfrm>
              <a:off x="1844675" y="2962275"/>
              <a:ext cx="120205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10F"/>
                  </a:solidFill>
                  <a:latin typeface="+mn-ea"/>
                </a:rPr>
                <a:t>t1=2+x</a:t>
              </a:r>
              <a:endParaRPr lang="zh-CN" altLang="en-US" sz="2400" b="1">
                <a:solidFill>
                  <a:srgbClr val="03010F"/>
                </a:solidFill>
                <a:latin typeface="+mn-ea"/>
              </a:endParaRPr>
            </a:p>
          </p:txBody>
        </p:sp>
        <p:sp>
          <p:nvSpPr>
            <p:cNvPr id="49" name="Rectangle 5"/>
            <p:cNvSpPr>
              <a:spLocks noChangeArrowheads="1"/>
            </p:cNvSpPr>
            <p:nvPr/>
          </p:nvSpPr>
          <p:spPr bwMode="auto">
            <a:xfrm>
              <a:off x="1844675" y="3290888"/>
              <a:ext cx="1395095"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p>
              <a:r>
                <a:rPr lang="en-US" altLang="zh-CN" sz="2400" b="1">
                  <a:solidFill>
                    <a:srgbClr val="03010F"/>
                  </a:solidFill>
                  <a:latin typeface="+mn-ea"/>
                </a:rPr>
                <a:t>return t1</a:t>
              </a:r>
              <a:endParaRPr lang="zh-CN" altLang="en-US" sz="2400" b="1">
                <a:solidFill>
                  <a:srgbClr val="03010F"/>
                </a:solidFill>
                <a:latin typeface="+mn-ea"/>
              </a:endParaRPr>
            </a:p>
          </p:txBody>
        </p:sp>
      </p:grpSp>
      <p:grpSp>
        <p:nvGrpSpPr>
          <p:cNvPr id="50" name="组合 22"/>
          <p:cNvGrpSpPr/>
          <p:nvPr/>
        </p:nvGrpSpPr>
        <p:grpSpPr bwMode="auto">
          <a:xfrm>
            <a:off x="549275" y="3402666"/>
            <a:ext cx="4267200" cy="2747963"/>
            <a:chOff x="1692275" y="2636838"/>
            <a:chExt cx="4267200" cy="2747963"/>
          </a:xfrm>
        </p:grpSpPr>
        <p:sp>
          <p:nvSpPr>
            <p:cNvPr id="51" name="Rectangle 6"/>
            <p:cNvSpPr>
              <a:spLocks noChangeArrowheads="1"/>
            </p:cNvSpPr>
            <p:nvPr/>
          </p:nvSpPr>
          <p:spPr bwMode="auto">
            <a:xfrm>
              <a:off x="1692275" y="3627438"/>
              <a:ext cx="1752600" cy="461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entry g</a:t>
              </a:r>
              <a:endParaRPr lang="en-US" altLang="zh-CN" sz="2400" b="1">
                <a:solidFill>
                  <a:srgbClr val="03010F"/>
                </a:solidFill>
                <a:latin typeface="+mn-ea"/>
              </a:endParaRPr>
            </a:p>
          </p:txBody>
        </p:sp>
        <p:grpSp>
          <p:nvGrpSpPr>
            <p:cNvPr id="52" name="Group 7"/>
            <p:cNvGrpSpPr/>
            <p:nvPr/>
          </p:nvGrpSpPr>
          <p:grpSpPr bwMode="auto">
            <a:xfrm>
              <a:off x="1692275" y="2636838"/>
              <a:ext cx="4267200" cy="2747963"/>
              <a:chOff x="1104" y="1392"/>
              <a:chExt cx="2688" cy="1731"/>
            </a:xfrm>
          </p:grpSpPr>
          <p:sp>
            <p:nvSpPr>
              <p:cNvPr id="53" name="Rectangle 8"/>
              <p:cNvSpPr>
                <a:spLocks noChangeArrowheads="1"/>
              </p:cNvSpPr>
              <p:nvPr/>
            </p:nvSpPr>
            <p:spPr bwMode="auto">
              <a:xfrm>
                <a:off x="1104" y="2304"/>
                <a:ext cx="12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begin_args</a:t>
                </a:r>
                <a:endParaRPr lang="en-US" altLang="zh-CN" sz="2400" b="1">
                  <a:solidFill>
                    <a:srgbClr val="03010F"/>
                  </a:solidFill>
                  <a:latin typeface="+mn-ea"/>
                </a:endParaRPr>
              </a:p>
            </p:txBody>
          </p:sp>
          <p:sp>
            <p:nvSpPr>
              <p:cNvPr id="54" name="Rectangle 9"/>
              <p:cNvSpPr>
                <a:spLocks noChangeArrowheads="1"/>
              </p:cNvSpPr>
              <p:nvPr/>
            </p:nvSpPr>
            <p:spPr bwMode="auto">
              <a:xfrm>
                <a:off x="1104" y="2544"/>
                <a:ext cx="12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arg x</a:t>
                </a:r>
                <a:endParaRPr lang="en-US" altLang="zh-CN" sz="2400" b="1">
                  <a:solidFill>
                    <a:srgbClr val="03010F"/>
                  </a:solidFill>
                  <a:latin typeface="+mn-ea"/>
                </a:endParaRPr>
              </a:p>
            </p:txBody>
          </p:sp>
          <p:sp>
            <p:nvSpPr>
              <p:cNvPr id="55" name="Rectangle 10"/>
              <p:cNvSpPr>
                <a:spLocks noChangeArrowheads="1"/>
              </p:cNvSpPr>
              <p:nvPr/>
            </p:nvSpPr>
            <p:spPr bwMode="auto">
              <a:xfrm>
                <a:off x="1104" y="2832"/>
                <a:ext cx="12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t2=call f</a:t>
                </a:r>
                <a:endParaRPr lang="en-US" altLang="zh-CN" sz="2400" b="1">
                  <a:solidFill>
                    <a:srgbClr val="03010F"/>
                  </a:solidFill>
                  <a:latin typeface="+mn-ea"/>
                </a:endParaRPr>
              </a:p>
            </p:txBody>
          </p:sp>
          <p:sp>
            <p:nvSpPr>
              <p:cNvPr id="56" name="Rectangle 11"/>
              <p:cNvSpPr>
                <a:spLocks noChangeArrowheads="1"/>
              </p:cNvSpPr>
              <p:nvPr/>
            </p:nvSpPr>
            <p:spPr bwMode="auto">
              <a:xfrm>
                <a:off x="2592" y="1392"/>
                <a:ext cx="120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3010F"/>
                    </a:solidFill>
                    <a:latin typeface="+mn-ea"/>
                  </a:rPr>
                  <a:t>t3=t2+y</a:t>
                </a:r>
                <a:endParaRPr lang="zh-CN" altLang="en-US" sz="2400" b="1">
                  <a:solidFill>
                    <a:srgbClr val="03010F"/>
                  </a:solidFill>
                  <a:latin typeface="+mn-ea"/>
                </a:endParaRPr>
              </a:p>
            </p:txBody>
          </p:sp>
          <p:sp>
            <p:nvSpPr>
              <p:cNvPr id="57" name="Rectangle 12"/>
              <p:cNvSpPr>
                <a:spLocks noChangeArrowheads="1"/>
              </p:cNvSpPr>
              <p:nvPr/>
            </p:nvSpPr>
            <p:spPr bwMode="auto">
              <a:xfrm>
                <a:off x="2544" y="1680"/>
                <a:ext cx="11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3010F"/>
                    </a:solidFill>
                    <a:latin typeface="+mn-ea"/>
                  </a:rPr>
                  <a:t> return t3</a:t>
                </a:r>
                <a:endParaRPr lang="zh-CN" altLang="en-US" sz="2400" b="1">
                  <a:solidFill>
                    <a:srgbClr val="03010F"/>
                  </a:solidFill>
                  <a:latin typeface="+mn-ea"/>
                </a:endParaRPr>
              </a:p>
            </p:txBody>
          </p:sp>
        </p:grpSp>
      </p:grpSp>
      <p:grpSp>
        <p:nvGrpSpPr>
          <p:cNvPr id="58" name="Group 13"/>
          <p:cNvGrpSpPr/>
          <p:nvPr/>
        </p:nvGrpSpPr>
        <p:grpSpPr bwMode="auto">
          <a:xfrm>
            <a:off x="2835275" y="4321829"/>
            <a:ext cx="1905000" cy="1757363"/>
            <a:chOff x="2544" y="1968"/>
            <a:chExt cx="1200" cy="1107"/>
          </a:xfrm>
        </p:grpSpPr>
        <p:sp>
          <p:nvSpPr>
            <p:cNvPr id="59" name="Rectangle 14"/>
            <p:cNvSpPr>
              <a:spLocks noChangeArrowheads="1"/>
            </p:cNvSpPr>
            <p:nvPr/>
          </p:nvSpPr>
          <p:spPr bwMode="auto">
            <a:xfrm>
              <a:off x="2592" y="1968"/>
              <a:ext cx="115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en-US" altLang="zh-CN" sz="2400" b="1">
                  <a:solidFill>
                    <a:srgbClr val="03010F"/>
                  </a:solidFill>
                  <a:latin typeface="+mn-ea"/>
                </a:rPr>
                <a:t>begin_args</a:t>
              </a:r>
              <a:endParaRPr lang="en-US" altLang="zh-CN" sz="2400" b="1">
                <a:solidFill>
                  <a:srgbClr val="03010F"/>
                </a:solidFill>
                <a:latin typeface="+mn-ea"/>
              </a:endParaRPr>
            </a:p>
          </p:txBody>
        </p:sp>
        <p:sp>
          <p:nvSpPr>
            <p:cNvPr id="60" name="Rectangle 15"/>
            <p:cNvSpPr>
              <a:spLocks noChangeArrowheads="1"/>
            </p:cNvSpPr>
            <p:nvPr/>
          </p:nvSpPr>
          <p:spPr bwMode="auto">
            <a:xfrm>
              <a:off x="2544" y="2256"/>
              <a:ext cx="11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arg 3</a:t>
              </a:r>
              <a:endParaRPr lang="en-US" altLang="zh-CN" sz="2400" b="1">
                <a:solidFill>
                  <a:srgbClr val="03010F"/>
                </a:solidFill>
                <a:latin typeface="+mn-ea"/>
              </a:endParaRPr>
            </a:p>
          </p:txBody>
        </p:sp>
        <p:sp>
          <p:nvSpPr>
            <p:cNvPr id="61" name="Rectangle 16"/>
            <p:cNvSpPr>
              <a:spLocks noChangeArrowheads="1"/>
            </p:cNvSpPr>
            <p:nvPr/>
          </p:nvSpPr>
          <p:spPr bwMode="auto">
            <a:xfrm>
              <a:off x="2544" y="2496"/>
              <a:ext cx="11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arg 4</a:t>
              </a:r>
              <a:endParaRPr lang="en-US" altLang="zh-CN" sz="2400" b="1">
                <a:solidFill>
                  <a:srgbClr val="03010F"/>
                </a:solidFill>
                <a:latin typeface="+mn-ea"/>
              </a:endParaRPr>
            </a:p>
          </p:txBody>
        </p:sp>
        <p:sp>
          <p:nvSpPr>
            <p:cNvPr id="62" name="Rectangle 17"/>
            <p:cNvSpPr>
              <a:spLocks noChangeArrowheads="1"/>
            </p:cNvSpPr>
            <p:nvPr/>
          </p:nvSpPr>
          <p:spPr bwMode="auto">
            <a:xfrm>
              <a:off x="2544" y="2784"/>
              <a:ext cx="11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r>
                <a:rPr lang="zh-CN" altLang="en-US" sz="2400" b="1">
                  <a:solidFill>
                    <a:srgbClr val="03010F"/>
                  </a:solidFill>
                  <a:latin typeface="+mn-ea"/>
                </a:rPr>
                <a:t> </a:t>
              </a:r>
              <a:r>
                <a:rPr lang="en-US" altLang="zh-CN" sz="2400" b="1">
                  <a:solidFill>
                    <a:srgbClr val="03010F"/>
                  </a:solidFill>
                  <a:latin typeface="+mn-ea"/>
                </a:rPr>
                <a:t>t4=call g</a:t>
              </a:r>
              <a:endParaRPr lang="en-US" altLang="zh-CN" sz="2400" b="1">
                <a:solidFill>
                  <a:srgbClr val="03010F"/>
                </a:solidFill>
                <a:latin typeface="+mn-ea"/>
              </a:endParaRPr>
            </a:p>
          </p:txBody>
        </p:sp>
      </p:grpSp>
      <p:sp>
        <p:nvSpPr>
          <p:cNvPr id="63" name="Rectangle 18"/>
          <p:cNvSpPr>
            <a:spLocks noChangeArrowheads="1"/>
          </p:cNvSpPr>
          <p:nvPr/>
        </p:nvSpPr>
        <p:spPr bwMode="auto">
          <a:xfrm>
            <a:off x="931545" y="1286510"/>
            <a:ext cx="4815840" cy="1569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zh-CN" altLang="en-US" sz="2400" b="1">
                <a:solidFill>
                  <a:srgbClr val="030305"/>
                </a:solidFill>
                <a:latin typeface="+mn-ea"/>
              </a:rPr>
              <a:t>根据上述三地址码生成过程实现，</a:t>
            </a:r>
            <a:endParaRPr lang="zh-CN" altLang="en-US" sz="2400" b="1">
              <a:solidFill>
                <a:srgbClr val="030305"/>
              </a:solidFill>
              <a:latin typeface="+mn-ea"/>
            </a:endParaRPr>
          </a:p>
          <a:p>
            <a:r>
              <a:rPr lang="en-US" altLang="zh-CN" sz="2400" b="1">
                <a:solidFill>
                  <a:srgbClr val="030305"/>
                </a:solidFill>
                <a:latin typeface="+mn-ea"/>
              </a:rPr>
              <a:t>fn f(x)=2+x</a:t>
            </a:r>
            <a:endParaRPr lang="en-US" altLang="zh-CN" sz="2400" b="1">
              <a:solidFill>
                <a:srgbClr val="030305"/>
              </a:solidFill>
              <a:latin typeface="+mn-ea"/>
            </a:endParaRPr>
          </a:p>
          <a:p>
            <a:r>
              <a:rPr lang="en-US" altLang="zh-CN" sz="2400" b="1">
                <a:solidFill>
                  <a:srgbClr val="030305"/>
                </a:solidFill>
                <a:latin typeface="+mn-ea"/>
              </a:rPr>
              <a:t>fn g(x,y)=f(x)+y</a:t>
            </a:r>
            <a:endParaRPr lang="en-US" altLang="zh-CN" sz="2400" b="1">
              <a:solidFill>
                <a:srgbClr val="030305"/>
              </a:solidFill>
              <a:latin typeface="+mn-ea"/>
            </a:endParaRPr>
          </a:p>
          <a:p>
            <a:r>
              <a:rPr lang="en-US" altLang="zh-CN" sz="2400" b="1">
                <a:solidFill>
                  <a:srgbClr val="030305"/>
                </a:solidFill>
                <a:latin typeface="+mn-ea"/>
              </a:rPr>
              <a:t>g(3,4)                    </a:t>
            </a:r>
            <a:endParaRPr lang="zh-CN" altLang="en-US" sz="2400" b="1">
              <a:solidFill>
                <a:srgbClr val="030305"/>
              </a:solidFill>
              <a:latin typeface="+mn-ea"/>
            </a:endParaRPr>
          </a:p>
        </p:txBody>
      </p:sp>
      <p:sp>
        <p:nvSpPr>
          <p:cNvPr id="22" name="Rectangle 1027"/>
          <p:cNvSpPr>
            <a:spLocks noChangeArrowheads="1"/>
          </p:cNvSpPr>
          <p:nvPr>
            <p:custDataLst>
              <p:tags r:id="rId1"/>
            </p:custDataLst>
          </p:nvPr>
        </p:nvSpPr>
        <p:spPr bwMode="auto">
          <a:xfrm>
            <a:off x="5747385" y="1990725"/>
            <a:ext cx="5699760" cy="3169285"/>
          </a:xfrm>
          <a:prstGeom prst="rect">
            <a:avLst/>
          </a:prstGeom>
          <a:solidFill>
            <a:schemeClr val="bg2"/>
          </a:solidFill>
          <a:ln>
            <a:noFill/>
          </a:ln>
        </p:spPr>
        <p:txBody>
          <a:bodyPr wrap="square">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a:lnSpc>
                <a:spcPct val="100000"/>
              </a:lnSpc>
            </a:pPr>
            <a:r>
              <a:rPr lang="en-US" altLang="zh-CN" sz="2000" b="1" dirty="0">
                <a:solidFill>
                  <a:srgbClr val="03010F"/>
                </a:solidFill>
                <a:cs typeface="Times New Roman" panose="02020603050405020304" pitchFamily="18" charset="0"/>
              </a:rPr>
              <a:t>void </a:t>
            </a:r>
            <a:r>
              <a:rPr lang="en-US" altLang="zh-CN" sz="2000" b="1" dirty="0" err="1">
                <a:solidFill>
                  <a:srgbClr val="0070C0"/>
                </a:solidFill>
                <a:cs typeface="Times New Roman" panose="02020603050405020304" pitchFamily="18" charset="0"/>
              </a:rPr>
              <a:t>genCode</a:t>
            </a:r>
            <a:r>
              <a:rPr lang="en-US" altLang="zh-CN" sz="2000" b="1" dirty="0">
                <a:solidFill>
                  <a:srgbClr val="0070C0"/>
                </a:solidFill>
                <a:cs typeface="Times New Roman" panose="02020603050405020304" pitchFamily="18" charset="0"/>
              </a:rPr>
              <a:t>(</a:t>
            </a:r>
            <a:r>
              <a:rPr lang="en-US" altLang="zh-CN" sz="2000" b="1" dirty="0" err="1">
                <a:solidFill>
                  <a:srgbClr val="0070C0"/>
                </a:solidFill>
                <a:cs typeface="Times New Roman" panose="02020603050405020304" pitchFamily="18" charset="0"/>
              </a:rPr>
              <a:t>SyntaxTree</a:t>
            </a:r>
            <a:r>
              <a:rPr lang="en-US" altLang="zh-CN" sz="2000" b="1" dirty="0">
                <a:solidFill>
                  <a:srgbClr val="0070C0"/>
                </a:solidFill>
                <a:cs typeface="Times New Roman" panose="02020603050405020304" pitchFamily="18" charset="0"/>
              </a:rPr>
              <a:t> t</a:t>
            </a:r>
            <a:r>
              <a:rPr lang="zh-CN" altLang="en-US" sz="2000" b="1" dirty="0">
                <a:solidFill>
                  <a:srgbClr val="0070C0"/>
                </a:solidFill>
                <a:cs typeface="Times New Roman" panose="02020603050405020304" pitchFamily="18" charset="0"/>
              </a:rPr>
              <a:t>)</a:t>
            </a:r>
            <a:endParaRPr lang="zh-CN" altLang="en-US" sz="2000" b="1" dirty="0">
              <a:solidFill>
                <a:srgbClr val="0070C0"/>
              </a:solidFill>
              <a:cs typeface="Times New Roman" panose="02020603050405020304" pitchFamily="18" charset="0"/>
            </a:endParaRPr>
          </a:p>
          <a:p>
            <a:pPr>
              <a:lnSpc>
                <a:spcPct val="100000"/>
              </a:lnSpc>
            </a:pPr>
            <a:r>
              <a:rPr lang="en-US" altLang="zh-CN" sz="2000" b="1" dirty="0">
                <a:solidFill>
                  <a:srgbClr val="03010F"/>
                </a:solidFill>
                <a:cs typeface="Times New Roman" panose="02020603050405020304" pitchFamily="18" charset="0"/>
              </a:rPr>
              <a:t>{  if(t!=NULL</a:t>
            </a:r>
            <a:r>
              <a:rPr lang="zh-CN" altLang="en-US" sz="2000" b="1" dirty="0">
                <a:solidFill>
                  <a:srgbClr val="03010F"/>
                </a:solidFill>
                <a:cs typeface="Times New Roman" panose="02020603050405020304" pitchFamily="18" charset="0"/>
              </a:rPr>
              <a:t>)</a:t>
            </a:r>
            <a:endParaRPr lang="zh-CN" altLang="en-US" sz="2000" b="1" dirty="0">
              <a:solidFill>
                <a:srgbClr val="03010F"/>
              </a:solidFill>
              <a:cs typeface="Times New Roman" panose="02020603050405020304" pitchFamily="18" charset="0"/>
            </a:endParaRPr>
          </a:p>
          <a:p>
            <a:pPr>
              <a:lnSpc>
                <a:spcPct val="100000"/>
              </a:lnSpc>
            </a:pPr>
            <a:r>
              <a:rPr lang="zh-CN" altLang="en-US" sz="2000" b="1" dirty="0">
                <a:solidFill>
                  <a:srgbClr val="03010F"/>
                </a:solidFill>
                <a:cs typeface="Times New Roman" panose="02020603050405020304" pitchFamily="18" charset="0"/>
              </a:rPr>
              <a:t>   </a:t>
            </a:r>
            <a:r>
              <a:rPr lang="en-US" altLang="zh-CN" sz="2000" b="1" dirty="0">
                <a:solidFill>
                  <a:srgbClr val="03010F"/>
                </a:solidFill>
                <a:cs typeface="Times New Roman" panose="02020603050405020304" pitchFamily="18" charset="0"/>
              </a:rPr>
              <a:t>switch(t-&gt;kind)</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{case </a:t>
            </a:r>
            <a:r>
              <a:rPr lang="en-US" altLang="zh-CN" sz="2000" b="1" dirty="0" err="1">
                <a:solidFill>
                  <a:srgbClr val="03010F"/>
                </a:solidFill>
                <a:cs typeface="Times New Roman" panose="02020603050405020304" pitchFamily="18" charset="0"/>
              </a:rPr>
              <a:t>PrgK</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p=t-&gt;</a:t>
            </a:r>
            <a:r>
              <a:rPr lang="en-US" altLang="zh-CN" sz="2000" b="1" dirty="0" err="1">
                <a:solidFill>
                  <a:srgbClr val="03010F"/>
                </a:solidFill>
                <a:cs typeface="Times New Roman" panose="02020603050405020304" pitchFamily="18" charset="0"/>
              </a:rPr>
              <a:t>lchild</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while(p!=NULL)</a:t>
            </a:r>
            <a:endParaRPr lang="en-US" altLang="zh-CN" sz="2000" b="1" dirty="0">
              <a:solidFill>
                <a:srgbClr val="03010F"/>
              </a:solidFill>
              <a:cs typeface="Times New Roman" panose="02020603050405020304" pitchFamily="18" charset="0"/>
            </a:endParaRPr>
          </a:p>
          <a:p>
            <a:pPr lvl="2">
              <a:lnSpc>
                <a:spcPct val="100000"/>
              </a:lnSpc>
            </a:pPr>
            <a:r>
              <a:rPr lang="en-US" altLang="zh-CN" sz="2000" b="1" dirty="0">
                <a:solidFill>
                  <a:srgbClr val="03010F"/>
                </a:solidFill>
                <a:cs typeface="Times New Roman" panose="02020603050405020304" pitchFamily="18" charset="0"/>
              </a:rPr>
              <a:t>    { </a:t>
            </a:r>
            <a:r>
              <a:rPr lang="en-US" altLang="zh-CN" sz="2000" b="1" dirty="0" err="1">
                <a:solidFill>
                  <a:srgbClr val="0070C0"/>
                </a:solidFill>
                <a:cs typeface="Times New Roman" panose="02020603050405020304" pitchFamily="18" charset="0"/>
              </a:rPr>
              <a:t>genCode</a:t>
            </a:r>
            <a:r>
              <a:rPr lang="en-US" altLang="zh-CN" sz="2000" b="1" dirty="0">
                <a:solidFill>
                  <a:srgbClr val="0070C0"/>
                </a:solidFill>
                <a:cs typeface="Times New Roman" panose="02020603050405020304" pitchFamily="18" charset="0"/>
              </a:rPr>
              <a:t>(p);</a:t>
            </a:r>
            <a:endParaRPr lang="en-US" altLang="zh-CN" sz="2000" b="1" dirty="0">
              <a:solidFill>
                <a:srgbClr val="0070C0"/>
              </a:solidFill>
              <a:cs typeface="Times New Roman" panose="02020603050405020304" pitchFamily="18" charset="0"/>
            </a:endParaRPr>
          </a:p>
          <a:p>
            <a:pPr lvl="2">
              <a:lnSpc>
                <a:spcPct val="100000"/>
              </a:lnSpc>
            </a:pPr>
            <a:r>
              <a:rPr lang="en-US" altLang="zh-CN" sz="2000" b="1" dirty="0">
                <a:solidFill>
                  <a:srgbClr val="03010F"/>
                </a:solidFill>
                <a:cs typeface="Times New Roman" panose="02020603050405020304" pitchFamily="18" charset="0"/>
              </a:rPr>
              <a:t>     p=p-&gt;sibling; }</a:t>
            </a:r>
            <a:endParaRPr lang="en-US" altLang="zh-CN" sz="2000" b="1" dirty="0">
              <a:solidFill>
                <a:srgbClr val="03010F"/>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a:t>
            </a:r>
            <a:r>
              <a:rPr lang="en-US" altLang="zh-CN" sz="2000" b="1" dirty="0" err="1">
                <a:solidFill>
                  <a:srgbClr val="0070C0"/>
                </a:solidFill>
                <a:cs typeface="Times New Roman" panose="02020603050405020304" pitchFamily="18" charset="0"/>
              </a:rPr>
              <a:t>genCode</a:t>
            </a:r>
            <a:r>
              <a:rPr lang="en-US" altLang="zh-CN" sz="2000" b="1" dirty="0">
                <a:solidFill>
                  <a:srgbClr val="0070C0"/>
                </a:solidFill>
                <a:cs typeface="Times New Roman" panose="02020603050405020304" pitchFamily="18" charset="0"/>
              </a:rPr>
              <a:t>(t-&gt;</a:t>
            </a:r>
            <a:r>
              <a:rPr lang="en-US" altLang="zh-CN" sz="2000" b="1" dirty="0" err="1">
                <a:solidFill>
                  <a:srgbClr val="0070C0"/>
                </a:solidFill>
                <a:cs typeface="Times New Roman" panose="02020603050405020304" pitchFamily="18" charset="0"/>
              </a:rPr>
              <a:t>rchild</a:t>
            </a:r>
            <a:r>
              <a:rPr lang="en-US" altLang="zh-CN" sz="2000" b="1" dirty="0">
                <a:solidFill>
                  <a:srgbClr val="0070C0"/>
                </a:solidFill>
                <a:cs typeface="Times New Roman" panose="02020603050405020304" pitchFamily="18" charset="0"/>
              </a:rPr>
              <a:t>);</a:t>
            </a:r>
            <a:endParaRPr lang="en-US" altLang="zh-CN" sz="2000" b="1" dirty="0">
              <a:solidFill>
                <a:srgbClr val="0070C0"/>
              </a:solidFill>
              <a:cs typeface="Times New Roman" panose="02020603050405020304" pitchFamily="18" charset="0"/>
            </a:endParaRPr>
          </a:p>
          <a:p>
            <a:pPr lvl="1">
              <a:lnSpc>
                <a:spcPct val="100000"/>
              </a:lnSpc>
            </a:pPr>
            <a:r>
              <a:rPr lang="en-US" altLang="zh-CN" sz="2000" b="1" dirty="0">
                <a:solidFill>
                  <a:srgbClr val="03010F"/>
                </a:solidFill>
                <a:cs typeface="Times New Roman" panose="02020603050405020304" pitchFamily="18" charset="0"/>
              </a:rPr>
              <a:t>    break;  </a:t>
            </a:r>
            <a:r>
              <a:rPr lang="en-US" altLang="zh-CN" sz="2000" b="1" dirty="0">
                <a:solidFill>
                  <a:srgbClr val="03010F"/>
                </a:solidFill>
                <a:latin typeface="Courier New" panose="02070309020205020404" pitchFamily="49" charset="0"/>
                <a:cs typeface="Courier New" panose="02070309020205020404" pitchFamily="49" charset="0"/>
              </a:rPr>
              <a:t> </a:t>
            </a:r>
            <a:endParaRPr lang="en-US" altLang="zh-CN" sz="2400" b="1" dirty="0">
              <a:solidFill>
                <a:srgbClr val="03010F"/>
              </a:solidFill>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inHorizont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arn(inHorizontal)">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strips(downLeft)">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22">
                                            <p:txEl>
                                              <p:pRg st="4" end="4"/>
                                            </p:txEl>
                                          </p:spTgt>
                                        </p:tgtEl>
                                        <p:attrNameLst>
                                          <p:attrName>style.visibility</p:attrName>
                                        </p:attrNameLst>
                                      </p:cBhvr>
                                      <p:to>
                                        <p:strVal val="visible"/>
                                      </p:to>
                                    </p:set>
                                    <p:animEffect transition="in" filter="strips(downLeft)">
                                      <p:cBhvr>
                                        <p:cTn id="22" dur="500"/>
                                        <p:tgtEl>
                                          <p:spTgt spid="22">
                                            <p:txEl>
                                              <p:pRg st="4" end="4"/>
                                            </p:txEl>
                                          </p:spTgt>
                                        </p:tgtEl>
                                      </p:cBhvr>
                                    </p:animEffect>
                                  </p:childTnLst>
                                </p:cTn>
                              </p:par>
                              <p:par>
                                <p:cTn id="23" presetID="18" presetClass="entr" presetSubtype="12" fill="hold" nodeType="withEffect">
                                  <p:stCondLst>
                                    <p:cond delay="0"/>
                                  </p:stCondLst>
                                  <p:childTnLst>
                                    <p:set>
                                      <p:cBhvr>
                                        <p:cTn id="24" dur="1" fill="hold">
                                          <p:stCondLst>
                                            <p:cond delay="0"/>
                                          </p:stCondLst>
                                        </p:cTn>
                                        <p:tgtEl>
                                          <p:spTgt spid="22">
                                            <p:txEl>
                                              <p:pRg st="5" end="5"/>
                                            </p:txEl>
                                          </p:spTgt>
                                        </p:tgtEl>
                                        <p:attrNameLst>
                                          <p:attrName>style.visibility</p:attrName>
                                        </p:attrNameLst>
                                      </p:cBhvr>
                                      <p:to>
                                        <p:strVal val="visible"/>
                                      </p:to>
                                    </p:set>
                                    <p:animEffect transition="in" filter="strips(downLeft)">
                                      <p:cBhvr>
                                        <p:cTn id="25" dur="500"/>
                                        <p:tgtEl>
                                          <p:spTgt spid="22">
                                            <p:txEl>
                                              <p:pRg st="5" end="5"/>
                                            </p:txEl>
                                          </p:spTgt>
                                        </p:tgtEl>
                                      </p:cBhvr>
                                    </p:animEffect>
                                  </p:childTnLst>
                                </p:cTn>
                              </p:par>
                              <p:par>
                                <p:cTn id="26" presetID="18" presetClass="entr" presetSubtype="12" fill="hold" nodeType="withEffect">
                                  <p:stCondLst>
                                    <p:cond delay="0"/>
                                  </p:stCondLst>
                                  <p:childTnLst>
                                    <p:set>
                                      <p:cBhvr>
                                        <p:cTn id="27" dur="1" fill="hold">
                                          <p:stCondLst>
                                            <p:cond delay="0"/>
                                          </p:stCondLst>
                                        </p:cTn>
                                        <p:tgtEl>
                                          <p:spTgt spid="22">
                                            <p:txEl>
                                              <p:pRg st="6" end="6"/>
                                            </p:txEl>
                                          </p:spTgt>
                                        </p:tgtEl>
                                        <p:attrNameLst>
                                          <p:attrName>style.visibility</p:attrName>
                                        </p:attrNameLst>
                                      </p:cBhvr>
                                      <p:to>
                                        <p:strVal val="visible"/>
                                      </p:to>
                                    </p:set>
                                    <p:animEffect transition="in" filter="strips(downLeft)">
                                      <p:cBhvr>
                                        <p:cTn id="28" dur="500"/>
                                        <p:tgtEl>
                                          <p:spTgt spid="22">
                                            <p:txEl>
                                              <p:pRg st="6" end="6"/>
                                            </p:txEl>
                                          </p:spTgt>
                                        </p:tgtEl>
                                      </p:cBhvr>
                                    </p:animEffect>
                                  </p:childTnLst>
                                </p:cTn>
                              </p:par>
                              <p:par>
                                <p:cTn id="29" presetID="18" presetClass="entr" presetSubtype="12" fill="hold" nodeType="withEffect">
                                  <p:stCondLst>
                                    <p:cond delay="0"/>
                                  </p:stCondLst>
                                  <p:childTnLst>
                                    <p:set>
                                      <p:cBhvr>
                                        <p:cTn id="30" dur="1" fill="hold">
                                          <p:stCondLst>
                                            <p:cond delay="0"/>
                                          </p:stCondLst>
                                        </p:cTn>
                                        <p:tgtEl>
                                          <p:spTgt spid="22">
                                            <p:txEl>
                                              <p:pRg st="7" end="7"/>
                                            </p:txEl>
                                          </p:spTgt>
                                        </p:tgtEl>
                                        <p:attrNameLst>
                                          <p:attrName>style.visibility</p:attrName>
                                        </p:attrNameLst>
                                      </p:cBhvr>
                                      <p:to>
                                        <p:strVal val="visible"/>
                                      </p:to>
                                    </p:set>
                                    <p:animEffect transition="in" filter="strips(downLeft)">
                                      <p:cBhvr>
                                        <p:cTn id="31" dur="500"/>
                                        <p:tgtEl>
                                          <p:spTgt spid="2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nodeType="clickEffect">
                                  <p:stCondLst>
                                    <p:cond delay="0"/>
                                  </p:stCondLst>
                                  <p:childTnLst>
                                    <p:set>
                                      <p:cBhvr>
                                        <p:cTn id="35" dur="1" fill="hold">
                                          <p:stCondLst>
                                            <p:cond delay="0"/>
                                          </p:stCondLst>
                                        </p:cTn>
                                        <p:tgtEl>
                                          <p:spTgt spid="22">
                                            <p:txEl>
                                              <p:pRg st="8" end="8"/>
                                            </p:txEl>
                                          </p:spTgt>
                                        </p:tgtEl>
                                        <p:attrNameLst>
                                          <p:attrName>style.visibility</p:attrName>
                                        </p:attrNameLst>
                                      </p:cBhvr>
                                      <p:to>
                                        <p:strVal val="visible"/>
                                      </p:to>
                                    </p:set>
                                    <p:animEffect transition="in" filter="strips(downLeft)">
                                      <p:cBhvr>
                                        <p:cTn id="36" dur="500"/>
                                        <p:tgtEl>
                                          <p:spTgt spid="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57200" y="276860"/>
            <a:ext cx="7718425" cy="593090"/>
          </a:xfrm>
        </p:spPr>
        <p:txBody>
          <a:bodyPr/>
          <a:lstStyle/>
          <a:p>
            <a:r>
              <a:rPr lang="en-US" altLang="zh-CN" sz="2800" dirty="0"/>
              <a:t>6.5.2  </a:t>
            </a:r>
            <a:r>
              <a:rPr lang="zh-CN" altLang="en-US" sz="2800" dirty="0"/>
              <a:t>函数定义和调用的代码生成过程</a:t>
            </a:r>
            <a:endParaRPr lang="zh-CN" altLang="en-US" sz="2800" dirty="0"/>
          </a:p>
        </p:txBody>
      </p:sp>
      <p:sp>
        <p:nvSpPr>
          <p:cNvPr id="2" name="文本框 1"/>
          <p:cNvSpPr txBox="1"/>
          <p:nvPr/>
        </p:nvSpPr>
        <p:spPr>
          <a:xfrm>
            <a:off x="335915" y="1193165"/>
            <a:ext cx="5974080" cy="5015865"/>
          </a:xfrm>
          <a:prstGeom prst="rect">
            <a:avLst/>
          </a:prstGeom>
          <a:noFill/>
        </p:spPr>
        <p:txBody>
          <a:bodyPr wrap="square" rtlCol="0" anchor="t">
            <a:spAutoFit/>
          </a:bodyPr>
          <a:p>
            <a:pPr lvl="1">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case </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FnK</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1">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   </a:t>
            </a:r>
            <a:r>
              <a:rPr lang="en-US" altLang="zh-CN" sz="2000" b="1" dirty="0">
                <a:solidFill>
                  <a:srgbClr val="321AAC"/>
                </a:solidFill>
                <a:latin typeface="Times New Roman" panose="02020603050405020304" pitchFamily="18" charset="0"/>
                <a:cs typeface="Times New Roman" panose="02020603050405020304" pitchFamily="18" charset="0"/>
                <a:sym typeface="+mn-ea"/>
              </a:rPr>
              <a:t>emit</a:t>
            </a:r>
            <a:r>
              <a:rPr lang="en-US" altLang="zh-CN" sz="2000" b="1" dirty="0">
                <a:solidFill>
                  <a:srgbClr val="03010F"/>
                </a:solidFill>
                <a:latin typeface="Times New Roman" panose="02020603050405020304" pitchFamily="18" charset="0"/>
                <a:cs typeface="Times New Roman" panose="02020603050405020304" pitchFamily="18" charset="0"/>
                <a:sym typeface="+mn-ea"/>
              </a:rPr>
              <a:t>(“entry” 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strval</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1">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   </a:t>
            </a:r>
            <a:r>
              <a:rPr lang="en-US" altLang="zh-CN" sz="2000" b="1" dirty="0" err="1">
                <a:solidFill>
                  <a:srgbClr val="E9137E"/>
                </a:solidFill>
                <a:latin typeface="Times New Roman" panose="02020603050405020304" pitchFamily="18" charset="0"/>
                <a:cs typeface="Times New Roman" panose="02020603050405020304" pitchFamily="18" charset="0"/>
                <a:sym typeface="+mn-ea"/>
              </a:rPr>
              <a:t>genCode</a:t>
            </a:r>
            <a:r>
              <a:rPr lang="en-US" altLang="zh-CN" sz="2000" b="1" dirty="0">
                <a:solidFill>
                  <a:srgbClr val="E9137E"/>
                </a:solidFill>
                <a:latin typeface="Times New Roman" panose="02020603050405020304" pitchFamily="18" charset="0"/>
                <a:cs typeface="Times New Roman" panose="02020603050405020304" pitchFamily="18" charset="0"/>
                <a:sym typeface="+mn-ea"/>
              </a:rPr>
              <a:t>(t-&gt;</a:t>
            </a:r>
            <a:r>
              <a:rPr lang="en-US" altLang="zh-CN" sz="2000" b="1" dirty="0" err="1">
                <a:solidFill>
                  <a:srgbClr val="E9137E"/>
                </a:solidFill>
                <a:latin typeface="Times New Roman" panose="02020603050405020304" pitchFamily="18" charset="0"/>
                <a:cs typeface="Times New Roman" panose="02020603050405020304" pitchFamily="18" charset="0"/>
                <a:sym typeface="+mn-ea"/>
              </a:rPr>
              <a:t>rchild</a:t>
            </a:r>
            <a:r>
              <a:rPr lang="en-US" altLang="zh-CN" sz="2000" b="1" dirty="0">
                <a:solidFill>
                  <a:srgbClr val="E9137E"/>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1">
              <a:lnSpc>
                <a:spcPct val="100000"/>
              </a:lnSpc>
            </a:pPr>
            <a:r>
              <a:rPr lang="en-US" altLang="zh-CN" sz="2000" b="1" dirty="0">
                <a:solidFill>
                  <a:srgbClr val="321AAC"/>
                </a:solidFill>
                <a:latin typeface="Times New Roman" panose="02020603050405020304" pitchFamily="18" charset="0"/>
                <a:cs typeface="Times New Roman" panose="02020603050405020304" pitchFamily="18" charset="0"/>
                <a:sym typeface="+mn-ea"/>
              </a:rPr>
              <a:t>   emit</a:t>
            </a:r>
            <a:r>
              <a:rPr lang="en-US" altLang="zh-CN" sz="2000" b="1" dirty="0">
                <a:solidFill>
                  <a:srgbClr val="03010F"/>
                </a:solidFill>
                <a:latin typeface="Times New Roman" panose="02020603050405020304" pitchFamily="18" charset="0"/>
                <a:cs typeface="Times New Roman" panose="02020603050405020304" pitchFamily="18" charset="0"/>
                <a:sym typeface="+mn-ea"/>
              </a:rPr>
              <a:t>(“return” 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rchild</a:t>
            </a:r>
            <a:r>
              <a:rPr lang="en-US" altLang="zh-CN" sz="2000" b="1" dirty="0">
                <a:solidFill>
                  <a:srgbClr val="03010F"/>
                </a:solidFill>
                <a:latin typeface="Times New Roman" panose="02020603050405020304" pitchFamily="18" charset="0"/>
                <a:cs typeface="Times New Roman" panose="02020603050405020304" pitchFamily="18" charset="0"/>
                <a:sym typeface="+mn-ea"/>
              </a:rPr>
              <a: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strval</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break</a:t>
            </a:r>
            <a:endParaRPr lang="en-US" altLang="zh-CN" sz="2000" b="1" dirty="0">
              <a:solidFill>
                <a:srgbClr val="03010F"/>
              </a:solidFill>
              <a:latin typeface="Times New Roman" panose="02020603050405020304" pitchFamily="18" charset="0"/>
              <a:cs typeface="Times New Roman" panose="02020603050405020304" pitchFamily="18" charset="0"/>
            </a:endParaRPr>
          </a:p>
          <a:p>
            <a:pPr marL="882650" lvl="2" indent="-425450">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case </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ParamK</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lnSpc>
                <a:spcPct val="100000"/>
              </a:lnSpc>
            </a:pPr>
            <a:r>
              <a:rPr lang="zh-CN" altLang="en-US" sz="2000" b="1" dirty="0">
                <a:solidFill>
                  <a:srgbClr val="03010F"/>
                </a:solidFill>
                <a:latin typeface="Times New Roman" panose="02020603050405020304" pitchFamily="18" charset="0"/>
                <a:cs typeface="Times New Roman" panose="02020603050405020304" pitchFamily="18" charset="0"/>
                <a:sym typeface="+mn-ea"/>
              </a:rPr>
              <a:t>    </a:t>
            </a:r>
            <a:r>
              <a:rPr lang="en-US" altLang="zh-CN" sz="2000" b="1" dirty="0">
                <a:solidFill>
                  <a:srgbClr val="03010F"/>
                </a:solidFill>
                <a:latin typeface="Times New Roman" panose="02020603050405020304" pitchFamily="18" charset="0"/>
                <a:cs typeface="Times New Roman" panose="02020603050405020304" pitchFamily="18" charset="0"/>
                <a:sym typeface="+mn-ea"/>
              </a:rPr>
              <a:t>break;</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indent="-522605">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case </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ConstK</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lnSpc>
                <a:spcPct val="100000"/>
              </a:lnSpc>
            </a:pPr>
            <a:r>
              <a:rPr lang="zh-CN" altLang="en-US" sz="2000" b="1" dirty="0">
                <a:solidFill>
                  <a:srgbClr val="03010F"/>
                </a:solidFill>
                <a:latin typeface="Times New Roman" panose="02020603050405020304" pitchFamily="18" charset="0"/>
                <a:cs typeface="Times New Roman" panose="02020603050405020304" pitchFamily="18" charset="0"/>
                <a:sym typeface="+mn-ea"/>
              </a:rPr>
              <a:t>    </a:t>
            </a:r>
            <a:r>
              <a:rPr lang="en-US" altLang="zh-CN" sz="2000" b="1" dirty="0">
                <a:solidFill>
                  <a:srgbClr val="03010F"/>
                </a:solidFill>
                <a:latin typeface="Times New Roman" panose="02020603050405020304" pitchFamily="18" charset="0"/>
                <a:cs typeface="Times New Roman" panose="02020603050405020304" pitchFamily="18" charset="0"/>
                <a:sym typeface="+mn-ea"/>
              </a:rPr>
              <a:t>break;</a:t>
            </a:r>
            <a:endParaRPr lang="en-US" altLang="zh-CN" sz="2000" b="1" dirty="0">
              <a:solidFill>
                <a:srgbClr val="03010F"/>
              </a:solidFill>
              <a:latin typeface="Times New Roman" panose="02020603050405020304" pitchFamily="18" charset="0"/>
              <a:cs typeface="Times New Roman" panose="02020603050405020304" pitchFamily="18" charset="0"/>
              <a:sym typeface="+mn-ea"/>
            </a:endParaRPr>
          </a:p>
          <a:p>
            <a:pPr lvl="2" indent="-512445">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case </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PlusK</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   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strval</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newtemp</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   </a:t>
            </a:r>
            <a:r>
              <a:rPr lang="en-US" altLang="zh-CN" sz="2000" b="1" dirty="0" err="1">
                <a:solidFill>
                  <a:srgbClr val="E9137E"/>
                </a:solidFill>
                <a:latin typeface="Times New Roman" panose="02020603050405020304" pitchFamily="18" charset="0"/>
                <a:cs typeface="Times New Roman" panose="02020603050405020304" pitchFamily="18" charset="0"/>
                <a:sym typeface="+mn-ea"/>
              </a:rPr>
              <a:t>genCode</a:t>
            </a:r>
            <a:r>
              <a:rPr lang="en-US" altLang="zh-CN" sz="2000" b="1" dirty="0">
                <a:solidFill>
                  <a:srgbClr val="E9137E"/>
                </a:solidFill>
                <a:latin typeface="Times New Roman" panose="02020603050405020304" pitchFamily="18" charset="0"/>
                <a:cs typeface="Times New Roman" panose="02020603050405020304" pitchFamily="18" charset="0"/>
                <a:sym typeface="+mn-ea"/>
              </a:rPr>
              <a:t>(t-&gt;</a:t>
            </a:r>
            <a:r>
              <a:rPr lang="en-US" altLang="zh-CN" sz="2000" b="1" dirty="0" err="1">
                <a:solidFill>
                  <a:srgbClr val="E9137E"/>
                </a:solidFill>
                <a:latin typeface="Times New Roman" panose="02020603050405020304" pitchFamily="18" charset="0"/>
                <a:cs typeface="Times New Roman" panose="02020603050405020304" pitchFamily="18" charset="0"/>
                <a:sym typeface="+mn-ea"/>
              </a:rPr>
              <a:t>lchild</a:t>
            </a:r>
            <a:r>
              <a:rPr lang="en-US" altLang="zh-CN" sz="2000" b="1" dirty="0">
                <a:solidFill>
                  <a:srgbClr val="E9137E"/>
                </a:solidFill>
                <a:latin typeface="Times New Roman" panose="02020603050405020304" pitchFamily="18" charset="0"/>
                <a:cs typeface="Times New Roman" panose="02020603050405020304" pitchFamily="18" charset="0"/>
                <a:sym typeface="+mn-ea"/>
              </a:rPr>
              <a:t>);</a:t>
            </a:r>
            <a:endParaRPr lang="en-US" altLang="zh-CN" sz="2000" b="1" dirty="0">
              <a:solidFill>
                <a:srgbClr val="E9137E"/>
              </a:solidFill>
              <a:latin typeface="Times New Roman" panose="02020603050405020304" pitchFamily="18" charset="0"/>
              <a:cs typeface="Times New Roman" panose="02020603050405020304" pitchFamily="18" charset="0"/>
            </a:endParaRPr>
          </a:p>
          <a:p>
            <a:pPr lvl="2">
              <a:lnSpc>
                <a:spcPct val="100000"/>
              </a:lnSpc>
            </a:pPr>
            <a:r>
              <a:rPr lang="en-US" altLang="zh-CN" sz="2000" b="1" dirty="0">
                <a:solidFill>
                  <a:srgbClr val="E9137E"/>
                </a:solidFill>
                <a:latin typeface="Times New Roman" panose="02020603050405020304" pitchFamily="18" charset="0"/>
                <a:cs typeface="Times New Roman" panose="02020603050405020304" pitchFamily="18" charset="0"/>
                <a:sym typeface="+mn-ea"/>
              </a:rPr>
              <a:t>   </a:t>
            </a:r>
            <a:r>
              <a:rPr lang="en-US" altLang="zh-CN" sz="2000" b="1" dirty="0" err="1">
                <a:solidFill>
                  <a:srgbClr val="E9137E"/>
                </a:solidFill>
                <a:latin typeface="Times New Roman" panose="02020603050405020304" pitchFamily="18" charset="0"/>
                <a:cs typeface="Times New Roman" panose="02020603050405020304" pitchFamily="18" charset="0"/>
                <a:sym typeface="+mn-ea"/>
              </a:rPr>
              <a:t>genCode</a:t>
            </a:r>
            <a:r>
              <a:rPr lang="en-US" altLang="zh-CN" sz="2000" b="1" dirty="0">
                <a:solidFill>
                  <a:srgbClr val="E9137E"/>
                </a:solidFill>
                <a:latin typeface="Times New Roman" panose="02020603050405020304" pitchFamily="18" charset="0"/>
                <a:cs typeface="Times New Roman" panose="02020603050405020304" pitchFamily="18" charset="0"/>
                <a:sym typeface="+mn-ea"/>
              </a:rPr>
              <a:t>(t-&gt;</a:t>
            </a:r>
            <a:r>
              <a:rPr lang="en-US" altLang="zh-CN" sz="2000" b="1" dirty="0" err="1">
                <a:solidFill>
                  <a:srgbClr val="E9137E"/>
                </a:solidFill>
                <a:latin typeface="Times New Roman" panose="02020603050405020304" pitchFamily="18" charset="0"/>
                <a:cs typeface="Times New Roman" panose="02020603050405020304" pitchFamily="18" charset="0"/>
                <a:sym typeface="+mn-ea"/>
              </a:rPr>
              <a:t>rchild</a:t>
            </a:r>
            <a:r>
              <a:rPr lang="en-US" altLang="zh-CN" sz="2000" b="1" dirty="0">
                <a:solidFill>
                  <a:srgbClr val="E9137E"/>
                </a:solidFill>
                <a:latin typeface="Times New Roman" panose="02020603050405020304" pitchFamily="18" charset="0"/>
                <a:cs typeface="Times New Roman" panose="02020603050405020304" pitchFamily="18" charset="0"/>
                <a:sym typeface="+mn-ea"/>
              </a:rPr>
              <a:t>);</a:t>
            </a:r>
            <a:endParaRPr lang="en-US" altLang="zh-CN" sz="2000" b="1" dirty="0">
              <a:solidFill>
                <a:srgbClr val="E9137E"/>
              </a:solidFill>
              <a:latin typeface="Times New Roman" panose="02020603050405020304" pitchFamily="18" charset="0"/>
              <a:cs typeface="Times New Roman" panose="02020603050405020304" pitchFamily="18" charset="0"/>
            </a:endParaRPr>
          </a:p>
          <a:p>
            <a:pPr lvl="2">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   </a:t>
            </a:r>
            <a:r>
              <a:rPr lang="en-US" altLang="zh-CN" sz="2000" b="1" dirty="0">
                <a:solidFill>
                  <a:srgbClr val="321AAC"/>
                </a:solidFill>
                <a:latin typeface="Times New Roman" panose="02020603050405020304" pitchFamily="18" charset="0"/>
                <a:cs typeface="Times New Roman" panose="02020603050405020304" pitchFamily="18" charset="0"/>
                <a:sym typeface="+mn-ea"/>
              </a:rPr>
              <a:t>emit</a:t>
            </a:r>
            <a:r>
              <a:rPr lang="en-US" altLang="zh-CN" sz="2000" b="1" dirty="0">
                <a:solidFill>
                  <a:srgbClr val="03010F"/>
                </a:solidFill>
                <a:latin typeface="Times New Roman" panose="02020603050405020304" pitchFamily="18" charset="0"/>
                <a:cs typeface="Times New Roman" panose="02020603050405020304" pitchFamily="18" charset="0"/>
                <a:sym typeface="+mn-ea"/>
              </a:rPr>
              <a:t>(t-&gt;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strval</a:t>
            </a:r>
            <a:r>
              <a:rPr lang="en-US" altLang="zh-CN" sz="2000" b="1" dirty="0">
                <a:solidFill>
                  <a:srgbClr val="03010F"/>
                </a:solidFill>
                <a:latin typeface="Times New Roman" panose="02020603050405020304" pitchFamily="18" charset="0"/>
                <a:cs typeface="Times New Roman" panose="02020603050405020304" pitchFamily="18" charset="0"/>
                <a:sym typeface="+mn-ea"/>
              </a:rPr>
              <a:t>’=‘ 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lchild</a:t>
            </a:r>
            <a:r>
              <a:rPr lang="en-US" altLang="zh-CN" sz="2000" b="1" dirty="0">
                <a:solidFill>
                  <a:srgbClr val="03010F"/>
                </a:solidFill>
                <a:latin typeface="Times New Roman" panose="02020603050405020304" pitchFamily="18" charset="0"/>
                <a:cs typeface="Times New Roman" panose="02020603050405020304" pitchFamily="18" charset="0"/>
                <a:sym typeface="+mn-ea"/>
              </a:rPr>
              <a: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strval</a:t>
            </a:r>
            <a:r>
              <a:rPr lang="en-US" altLang="zh-CN" sz="2000" b="1" dirty="0">
                <a:solidFill>
                  <a:srgbClr val="03010F"/>
                </a:solidFill>
                <a:latin typeface="Times New Roman" panose="02020603050405020304" pitchFamily="18" charset="0"/>
                <a:cs typeface="Times New Roman" panose="02020603050405020304" pitchFamily="18" charset="0"/>
                <a:sym typeface="+mn-ea"/>
              </a:rPr>
              <a:t>’+’t-&gt;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rchild</a:t>
            </a:r>
            <a:r>
              <a:rPr lang="en-US" altLang="zh-CN" sz="2000" b="1" dirty="0">
                <a:solidFill>
                  <a:srgbClr val="03010F"/>
                </a:solidFill>
                <a:latin typeface="Times New Roman" panose="02020603050405020304" pitchFamily="18" charset="0"/>
                <a:cs typeface="Times New Roman" panose="02020603050405020304" pitchFamily="18" charset="0"/>
                <a:sym typeface="+mn-ea"/>
              </a:rPr>
              <a:t>-&gt;</a:t>
            </a:r>
            <a:r>
              <a:rPr lang="en-US" altLang="zh-CN" sz="2000" b="1" dirty="0" err="1">
                <a:solidFill>
                  <a:srgbClr val="03010F"/>
                </a:solidFill>
                <a:latin typeface="Times New Roman" panose="02020603050405020304" pitchFamily="18" charset="0"/>
                <a:cs typeface="Times New Roman" panose="02020603050405020304" pitchFamily="18" charset="0"/>
                <a:sym typeface="+mn-ea"/>
              </a:rPr>
              <a:t>strval</a:t>
            </a:r>
            <a:r>
              <a:rPr lang="en-US" altLang="zh-CN" sz="2000" b="1" dirty="0">
                <a:solidFill>
                  <a:srgbClr val="03010F"/>
                </a:solidFill>
                <a:latin typeface="Times New Roman" panose="02020603050405020304" pitchFamily="18" charset="0"/>
                <a:cs typeface="Times New Roman" panose="02020603050405020304" pitchFamily="18" charset="0"/>
                <a:sym typeface="+mn-ea"/>
              </a:rPr>
              <a:t>);</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lnSpc>
                <a:spcPct val="100000"/>
              </a:lnSpc>
            </a:pPr>
            <a:r>
              <a:rPr lang="en-US" altLang="zh-CN" sz="2000" b="1" dirty="0">
                <a:solidFill>
                  <a:srgbClr val="03010F"/>
                </a:solidFill>
                <a:latin typeface="Times New Roman" panose="02020603050405020304" pitchFamily="18" charset="0"/>
                <a:cs typeface="Times New Roman" panose="02020603050405020304" pitchFamily="18" charset="0"/>
                <a:sym typeface="+mn-ea"/>
              </a:rPr>
              <a:t>   break;</a:t>
            </a:r>
            <a:endParaRPr lang="en-US" altLang="zh-CN" sz="2000" b="1" dirty="0">
              <a:solidFill>
                <a:srgbClr val="03010F"/>
              </a:solidFill>
              <a:latin typeface="Times New Roman" panose="02020603050405020304" pitchFamily="18" charset="0"/>
              <a:cs typeface="Times New Roman" panose="02020603050405020304" pitchFamily="18" charset="0"/>
              <a:sym typeface="+mn-ea"/>
            </a:endParaRPr>
          </a:p>
        </p:txBody>
      </p:sp>
      <p:sp>
        <p:nvSpPr>
          <p:cNvPr id="3" name="Rectangle 2"/>
          <p:cNvSpPr>
            <a:spLocks noChangeArrowheads="1"/>
          </p:cNvSpPr>
          <p:nvPr>
            <p:custDataLst>
              <p:tags r:id="rId1"/>
            </p:custDataLst>
          </p:nvPr>
        </p:nvSpPr>
        <p:spPr bwMode="auto">
          <a:xfrm>
            <a:off x="5744714" y="4942523"/>
            <a:ext cx="453306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p>
            <a:r>
              <a:rPr lang="en-US" altLang="zh-CN" sz="2000" b="1" dirty="0">
                <a:solidFill>
                  <a:srgbClr val="03010F"/>
                </a:solidFill>
                <a:latin typeface="Courier New" panose="02070309020205020404" pitchFamily="49" charset="0"/>
                <a:cs typeface="Courier New" panose="02070309020205020404" pitchFamily="49" charset="0"/>
              </a:rPr>
              <a:t>  </a:t>
            </a:r>
            <a:endParaRPr lang="en-US" altLang="zh-CN" sz="2000" b="1" dirty="0">
              <a:solidFill>
                <a:srgbClr val="03010F"/>
              </a:solidFill>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custDataLst>
              <p:tags r:id="rId2"/>
            </p:custDataLst>
          </p:nvPr>
        </p:nvSpPr>
        <p:spPr bwMode="auto">
          <a:xfrm>
            <a:off x="5820410" y="1191895"/>
            <a:ext cx="5021580" cy="5017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defRPr sz="2100">
                <a:solidFill>
                  <a:schemeClr val="tx1"/>
                </a:solidFill>
                <a:latin typeface="Times New Roman" panose="02020603050405020304" pitchFamily="18" charset="0"/>
                <a:ea typeface="宋体" panose="02010600030101010101" pitchFamily="2" charset="-122"/>
              </a:defRPr>
            </a:lvl1pPr>
            <a:lvl2pPr>
              <a:defRPr sz="2100">
                <a:solidFill>
                  <a:schemeClr val="tx1"/>
                </a:solidFill>
                <a:latin typeface="Times New Roman" panose="02020603050405020304" pitchFamily="18" charset="0"/>
                <a:ea typeface="宋体" panose="02010600030101010101" pitchFamily="2" charset="-122"/>
              </a:defRPr>
            </a:lvl2pPr>
            <a:lvl3pPr>
              <a:defRPr sz="2100">
                <a:solidFill>
                  <a:schemeClr val="tx1"/>
                </a:solidFill>
                <a:latin typeface="Times New Roman" panose="02020603050405020304" pitchFamily="18" charset="0"/>
                <a:ea typeface="宋体" panose="02010600030101010101" pitchFamily="2" charset="-122"/>
              </a:defRPr>
            </a:lvl3pPr>
            <a:lvl4pPr>
              <a:defRPr sz="2100">
                <a:solidFill>
                  <a:schemeClr val="tx1"/>
                </a:solidFill>
                <a:latin typeface="Times New Roman" panose="02020603050405020304" pitchFamily="18" charset="0"/>
                <a:ea typeface="宋体" panose="02010600030101010101" pitchFamily="2" charset="-122"/>
              </a:defRPr>
            </a:lvl4pPr>
            <a:lvl5pPr>
              <a:defRPr sz="21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100">
                <a:solidFill>
                  <a:schemeClr val="tx1"/>
                </a:solidFill>
                <a:latin typeface="Times New Roman" panose="02020603050405020304" pitchFamily="18" charset="0"/>
                <a:ea typeface="宋体" panose="02010600030101010101" pitchFamily="2" charset="-122"/>
              </a:defRPr>
            </a:lvl9pPr>
          </a:lstStyle>
          <a:p>
            <a:pPr lvl="1">
              <a:lnSpc>
                <a:spcPct val="100000"/>
              </a:lnSpc>
            </a:pPr>
            <a:r>
              <a:rPr lang="en-US" altLang="zh-CN" sz="2000" b="1">
                <a:solidFill>
                  <a:srgbClr val="03010F"/>
                </a:solidFill>
                <a:cs typeface="Times New Roman" panose="02020603050405020304" pitchFamily="18" charset="0"/>
                <a:sym typeface="+mn-ea"/>
              </a:rPr>
              <a:t>case IdK:</a:t>
            </a:r>
            <a:endParaRPr lang="en-US" altLang="zh-CN" sz="2000" b="1">
              <a:solidFill>
                <a:srgbClr val="03010F"/>
              </a:solidFill>
              <a:latin typeface="Times New Roman" panose="02020603050405020304" pitchFamily="18" charset="0"/>
              <a:cs typeface="Times New Roman" panose="02020603050405020304" pitchFamily="18" charset="0"/>
            </a:endParaRPr>
          </a:p>
          <a:p>
            <a:pPr lvl="1">
              <a:lnSpc>
                <a:spcPct val="100000"/>
              </a:lnSpc>
            </a:pPr>
            <a:r>
              <a:rPr lang="en-US" altLang="zh-CN" sz="2000" b="1">
                <a:solidFill>
                  <a:srgbClr val="03010F"/>
                </a:solidFill>
                <a:cs typeface="Times New Roman" panose="02020603050405020304" pitchFamily="18" charset="0"/>
                <a:sym typeface="+mn-ea"/>
              </a:rPr>
              <a:t>    break;</a:t>
            </a:r>
            <a:r>
              <a:rPr lang="en-US" altLang="zh-CN" sz="2000" b="1" dirty="0">
                <a:solidFill>
                  <a:srgbClr val="03010F"/>
                </a:solidFill>
                <a:cs typeface="Times New Roman" panose="02020603050405020304" pitchFamily="18" charset="0"/>
                <a:sym typeface="+mn-ea"/>
              </a:rPr>
              <a:t> </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case </a:t>
            </a:r>
            <a:r>
              <a:rPr lang="en-US" altLang="zh-CN" sz="2000" b="1" dirty="0" err="1">
                <a:solidFill>
                  <a:srgbClr val="03010F"/>
                </a:solidFill>
                <a:cs typeface="Times New Roman" panose="02020603050405020304" pitchFamily="18" charset="0"/>
              </a:rPr>
              <a:t>CallK</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    </a:t>
            </a:r>
            <a:r>
              <a:rPr lang="en-US" altLang="zh-CN" sz="2000" b="1" dirty="0">
                <a:solidFill>
                  <a:schemeClr val="hlink"/>
                </a:solidFill>
                <a:cs typeface="Times New Roman" panose="02020603050405020304" pitchFamily="18" charset="0"/>
              </a:rPr>
              <a:t>emit</a:t>
            </a:r>
            <a:r>
              <a:rPr lang="en-US" altLang="zh-CN" sz="2000" b="1" dirty="0">
                <a:solidFill>
                  <a:srgbClr val="030305"/>
                </a:solidFill>
                <a:cs typeface="Times New Roman" panose="02020603050405020304" pitchFamily="18" charset="0"/>
              </a:rPr>
              <a:t>(“</a:t>
            </a:r>
            <a:r>
              <a:rPr lang="en-US" altLang="zh-CN" sz="2000" b="1" dirty="0" err="1">
                <a:solidFill>
                  <a:srgbClr val="030305"/>
                </a:solidFill>
                <a:cs typeface="Times New Roman" panose="02020603050405020304" pitchFamily="18" charset="0"/>
              </a:rPr>
              <a:t>begin_args</a:t>
            </a:r>
            <a:r>
              <a:rPr lang="en-US" altLang="zh-CN" sz="2000" b="1" dirty="0">
                <a:solidFill>
                  <a:srgbClr val="030305"/>
                </a:solidFill>
                <a:cs typeface="Times New Roman" panose="02020603050405020304" pitchFamily="18" charset="0"/>
              </a:rPr>
              <a:t>”);</a:t>
            </a:r>
            <a:endParaRPr lang="en-US" altLang="zh-CN" sz="2000" b="1" dirty="0">
              <a:solidFill>
                <a:srgbClr val="030305"/>
              </a:solidFill>
              <a:cs typeface="Times New Roman" panose="02020603050405020304" pitchFamily="18" charset="0"/>
            </a:endParaRPr>
          </a:p>
          <a:p>
            <a:pPr lvl="1"/>
            <a:r>
              <a:rPr lang="en-US" altLang="zh-CN" sz="2000" b="1" dirty="0">
                <a:solidFill>
                  <a:srgbClr val="03010F"/>
                </a:solidFill>
                <a:cs typeface="Times New Roman" panose="02020603050405020304" pitchFamily="18" charset="0"/>
              </a:rPr>
              <a:t>    p=t-&gt;</a:t>
            </a:r>
            <a:r>
              <a:rPr lang="en-US" altLang="zh-CN" sz="2000" b="1" dirty="0" err="1">
                <a:solidFill>
                  <a:srgbClr val="03010F"/>
                </a:solidFill>
                <a:cs typeface="Times New Roman" panose="02020603050405020304" pitchFamily="18" charset="0"/>
              </a:rPr>
              <a:t>lchild</a:t>
            </a:r>
            <a:endParaRPr lang="en-US" altLang="zh-CN" sz="2000" b="1" dirty="0">
              <a:solidFill>
                <a:srgbClr val="03010F"/>
              </a:solidFill>
              <a:cs typeface="Times New Roman" panose="02020603050405020304" pitchFamily="18" charset="0"/>
            </a:endParaRPr>
          </a:p>
          <a:p>
            <a:pPr lvl="2"/>
            <a:r>
              <a:rPr lang="en-US" altLang="zh-CN" sz="2000" b="1" dirty="0">
                <a:solidFill>
                  <a:srgbClr val="03010F"/>
                </a:solidFill>
                <a:cs typeface="Times New Roman" panose="02020603050405020304" pitchFamily="18" charset="0"/>
              </a:rPr>
              <a:t>while(p!=NULL)</a:t>
            </a:r>
            <a:endParaRPr lang="en-US" altLang="zh-CN" sz="2000" b="1" dirty="0">
              <a:solidFill>
                <a:srgbClr val="03010F"/>
              </a:solidFill>
              <a:cs typeface="Times New Roman" panose="02020603050405020304" pitchFamily="18" charset="0"/>
            </a:endParaRPr>
          </a:p>
          <a:p>
            <a:pPr lvl="3"/>
            <a:r>
              <a:rPr lang="en-US" altLang="zh-CN" sz="2000" b="1" dirty="0">
                <a:solidFill>
                  <a:srgbClr val="03010F"/>
                </a:solidFill>
                <a:cs typeface="Times New Roman" panose="02020603050405020304" pitchFamily="18" charset="0"/>
              </a:rPr>
              <a:t>{ </a:t>
            </a:r>
            <a:r>
              <a:rPr lang="en-US" altLang="zh-CN" sz="2000" b="1" dirty="0" err="1">
                <a:solidFill>
                  <a:srgbClr val="FF3399"/>
                </a:solidFill>
                <a:cs typeface="Times New Roman" panose="02020603050405020304" pitchFamily="18" charset="0"/>
              </a:rPr>
              <a:t>genCode</a:t>
            </a:r>
            <a:r>
              <a:rPr lang="en-US" altLang="zh-CN" sz="2000" b="1" dirty="0">
                <a:solidFill>
                  <a:srgbClr val="FF3399"/>
                </a:solidFill>
                <a:cs typeface="Times New Roman" panose="02020603050405020304" pitchFamily="18" charset="0"/>
              </a:rPr>
              <a:t>(p);</a:t>
            </a:r>
            <a:endParaRPr lang="en-US" altLang="zh-CN" sz="2000" b="1" dirty="0">
              <a:solidFill>
                <a:srgbClr val="FF3399"/>
              </a:solidFill>
              <a:cs typeface="Times New Roman" panose="02020603050405020304" pitchFamily="18" charset="0"/>
            </a:endParaRPr>
          </a:p>
          <a:p>
            <a:pPr lvl="3"/>
            <a:r>
              <a:rPr lang="en-US" altLang="zh-CN" sz="2000" b="1" dirty="0">
                <a:solidFill>
                  <a:srgbClr val="03010F"/>
                </a:solidFill>
                <a:cs typeface="Times New Roman" panose="02020603050405020304" pitchFamily="18" charset="0"/>
              </a:rPr>
              <a:t> </a:t>
            </a:r>
            <a:r>
              <a:rPr lang="en-US" altLang="zh-CN" sz="2000" b="1" dirty="0">
                <a:solidFill>
                  <a:schemeClr val="hlink"/>
                </a:solidFill>
                <a:cs typeface="Times New Roman" panose="02020603050405020304" pitchFamily="18" charset="0"/>
              </a:rPr>
              <a:t>emit</a:t>
            </a:r>
            <a:r>
              <a:rPr lang="en-US" altLang="zh-CN" sz="2000" b="1" dirty="0">
                <a:solidFill>
                  <a:srgbClr val="03010F"/>
                </a:solidFill>
                <a:cs typeface="Times New Roman" panose="02020603050405020304" pitchFamily="18" charset="0"/>
              </a:rPr>
              <a:t>(“</a:t>
            </a:r>
            <a:r>
              <a:rPr lang="en-US" altLang="zh-CN" sz="2000" b="1" dirty="0" err="1">
                <a:solidFill>
                  <a:srgbClr val="03010F"/>
                </a:solidFill>
                <a:cs typeface="Times New Roman" panose="02020603050405020304" pitchFamily="18" charset="0"/>
              </a:rPr>
              <a:t>arg</a:t>
            </a:r>
            <a:r>
              <a:rPr lang="en-US" altLang="zh-CN" sz="2000" b="1" dirty="0">
                <a:solidFill>
                  <a:srgbClr val="03010F"/>
                </a:solidFill>
                <a:cs typeface="Times New Roman" panose="02020603050405020304" pitchFamily="18" charset="0"/>
              </a:rPr>
              <a:t>” p-&gt;</a:t>
            </a:r>
            <a:r>
              <a:rPr lang="en-US" altLang="zh-CN" sz="2000" b="1" dirty="0" err="1">
                <a:solidFill>
                  <a:srgbClr val="03010F"/>
                </a:solidFill>
                <a:cs typeface="Times New Roman" panose="02020603050405020304" pitchFamily="18" charset="0"/>
              </a:rPr>
              <a:t>strval</a:t>
            </a:r>
            <a:r>
              <a:rPr lang="en-US" altLang="zh-CN" sz="2000" b="1" dirty="0">
                <a:solidFill>
                  <a:srgbClr val="03010F"/>
                </a:solidFill>
                <a:cs typeface="Times New Roman" panose="02020603050405020304" pitchFamily="18" charset="0"/>
              </a:rPr>
              <a:t>);</a:t>
            </a:r>
            <a:endParaRPr lang="en-US" altLang="zh-CN" sz="2000" b="1" dirty="0">
              <a:solidFill>
                <a:srgbClr val="03010F"/>
              </a:solidFill>
              <a:cs typeface="Times New Roman" panose="02020603050405020304" pitchFamily="18" charset="0"/>
            </a:endParaRPr>
          </a:p>
          <a:p>
            <a:pPr lvl="3"/>
            <a:r>
              <a:rPr lang="en-US" altLang="zh-CN" sz="2000" b="1" dirty="0">
                <a:solidFill>
                  <a:srgbClr val="03010F"/>
                </a:solidFill>
                <a:cs typeface="Times New Roman" panose="02020603050405020304" pitchFamily="18" charset="0"/>
              </a:rPr>
              <a:t> p=p-&gt;sibling; }</a:t>
            </a:r>
            <a:endParaRPr lang="en-US" altLang="zh-CN" sz="2000" b="1" dirty="0">
              <a:solidFill>
                <a:srgbClr val="03010F"/>
              </a:solidFill>
              <a:cs typeface="Times New Roman" panose="02020603050405020304" pitchFamily="18" charset="0"/>
            </a:endParaRPr>
          </a:p>
          <a:p>
            <a:pPr lvl="2"/>
            <a:r>
              <a:rPr lang="en-US" altLang="zh-CN" sz="2000" b="1" dirty="0">
                <a:solidFill>
                  <a:srgbClr val="030305"/>
                </a:solidFill>
                <a:cs typeface="Times New Roman" panose="02020603050405020304" pitchFamily="18" charset="0"/>
              </a:rPr>
              <a:t>temp=</a:t>
            </a:r>
            <a:r>
              <a:rPr lang="en-US" altLang="zh-CN" sz="2000" b="1" dirty="0" err="1">
                <a:solidFill>
                  <a:srgbClr val="030305"/>
                </a:solidFill>
                <a:cs typeface="Times New Roman" panose="02020603050405020304" pitchFamily="18" charset="0"/>
              </a:rPr>
              <a:t>newtemp</a:t>
            </a:r>
            <a:r>
              <a:rPr lang="en-US" altLang="zh-CN" sz="2000" b="1" dirty="0">
                <a:solidFill>
                  <a:srgbClr val="030305"/>
                </a:solidFill>
                <a:cs typeface="Times New Roman" panose="02020603050405020304" pitchFamily="18" charset="0"/>
              </a:rPr>
              <a:t>();</a:t>
            </a:r>
            <a:endParaRPr lang="en-US" altLang="zh-CN" sz="2000" b="1" dirty="0">
              <a:solidFill>
                <a:srgbClr val="030305"/>
              </a:solidFill>
              <a:cs typeface="Times New Roman" panose="02020603050405020304" pitchFamily="18" charset="0"/>
            </a:endParaRPr>
          </a:p>
          <a:p>
            <a:pPr lvl="2"/>
            <a:r>
              <a:rPr lang="en-US" altLang="zh-CN" sz="2000" b="1" dirty="0">
                <a:solidFill>
                  <a:schemeClr val="hlink"/>
                </a:solidFill>
                <a:cs typeface="Times New Roman" panose="02020603050405020304" pitchFamily="18" charset="0"/>
              </a:rPr>
              <a:t>emit</a:t>
            </a:r>
            <a:r>
              <a:rPr lang="en-US" altLang="zh-CN" sz="2000" b="1" dirty="0">
                <a:solidFill>
                  <a:srgbClr val="030305"/>
                </a:solidFill>
                <a:cs typeface="Times New Roman" panose="02020603050405020304" pitchFamily="18" charset="0"/>
              </a:rPr>
              <a:t>( temp=“call” t-&gt;</a:t>
            </a:r>
            <a:r>
              <a:rPr lang="en-US" altLang="zh-CN" sz="2000" b="1" dirty="0" err="1">
                <a:solidFill>
                  <a:srgbClr val="030305"/>
                </a:solidFill>
                <a:cs typeface="Times New Roman" panose="02020603050405020304" pitchFamily="18" charset="0"/>
              </a:rPr>
              <a:t>strval</a:t>
            </a:r>
            <a:r>
              <a:rPr lang="en-US" altLang="zh-CN" sz="2000" b="1" dirty="0">
                <a:solidFill>
                  <a:srgbClr val="030305"/>
                </a:solidFill>
                <a:cs typeface="Times New Roman" panose="02020603050405020304" pitchFamily="18" charset="0"/>
              </a:rPr>
              <a:t>)</a:t>
            </a:r>
            <a:endParaRPr lang="en-US" altLang="zh-CN" sz="2000" b="1" dirty="0">
              <a:solidFill>
                <a:srgbClr val="030305"/>
              </a:solidFill>
              <a:cs typeface="Times New Roman" panose="02020603050405020304" pitchFamily="18" charset="0"/>
            </a:endParaRPr>
          </a:p>
          <a:p>
            <a:pPr lvl="2"/>
            <a:r>
              <a:rPr lang="en-US" altLang="zh-CN" sz="2000" b="1" dirty="0">
                <a:solidFill>
                  <a:srgbClr val="030305"/>
                </a:solidFill>
                <a:cs typeface="Times New Roman" panose="02020603050405020304" pitchFamily="18" charset="0"/>
              </a:rPr>
              <a:t>t-&gt;</a:t>
            </a:r>
            <a:r>
              <a:rPr lang="en-US" altLang="zh-CN" sz="2000" b="1" dirty="0" err="1">
                <a:solidFill>
                  <a:srgbClr val="030305"/>
                </a:solidFill>
                <a:cs typeface="Times New Roman" panose="02020603050405020304" pitchFamily="18" charset="0"/>
              </a:rPr>
              <a:t>strval</a:t>
            </a:r>
            <a:r>
              <a:rPr lang="en-US" altLang="zh-CN" sz="2000" b="1" dirty="0">
                <a:solidFill>
                  <a:srgbClr val="030305"/>
                </a:solidFill>
                <a:cs typeface="Times New Roman" panose="02020603050405020304" pitchFamily="18" charset="0"/>
              </a:rPr>
              <a:t>=temp;</a:t>
            </a:r>
            <a:endParaRPr lang="en-US" altLang="zh-CN" sz="2000" b="1" dirty="0">
              <a:solidFill>
                <a:srgbClr val="030305"/>
              </a:solidFill>
              <a:cs typeface="Times New Roman" panose="02020603050405020304" pitchFamily="18" charset="0"/>
            </a:endParaRPr>
          </a:p>
          <a:p>
            <a:pPr lvl="2"/>
            <a:r>
              <a:rPr lang="en-US" altLang="zh-CN" sz="2000" b="1" dirty="0">
                <a:solidFill>
                  <a:srgbClr val="03010F"/>
                </a:solidFill>
                <a:cs typeface="Times New Roman" panose="02020603050405020304" pitchFamily="18" charset="0"/>
              </a:rPr>
              <a:t>break;</a:t>
            </a:r>
            <a:endParaRPr lang="en-US" altLang="zh-CN" sz="2000" b="1" dirty="0">
              <a:solidFill>
                <a:srgbClr val="03010F"/>
              </a:solidFill>
              <a:cs typeface="Times New Roman" panose="02020603050405020304" pitchFamily="18" charset="0"/>
            </a:endParaRPr>
          </a:p>
          <a:p>
            <a:pPr lvl="2"/>
            <a:r>
              <a:rPr lang="en-US" altLang="zh-CN" sz="2000" b="1" dirty="0">
                <a:solidFill>
                  <a:srgbClr val="03010F"/>
                </a:solidFill>
                <a:cs typeface="Times New Roman" panose="02020603050405020304" pitchFamily="18" charset="0"/>
                <a:sym typeface="+mn-ea"/>
              </a:rPr>
              <a:t>default: </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r>
              <a:rPr lang="zh-CN" altLang="en-US" sz="2000" b="1" dirty="0">
                <a:solidFill>
                  <a:srgbClr val="03010F"/>
                </a:solidFill>
                <a:cs typeface="Times New Roman" panose="02020603050405020304" pitchFamily="18" charset="0"/>
                <a:sym typeface="+mn-ea"/>
              </a:rPr>
              <a:t>     </a:t>
            </a:r>
            <a:r>
              <a:rPr lang="en-US" altLang="zh-CN" sz="2000" b="1" dirty="0">
                <a:solidFill>
                  <a:srgbClr val="03010F"/>
                </a:solidFill>
                <a:cs typeface="Times New Roman" panose="02020603050405020304" pitchFamily="18" charset="0"/>
                <a:sym typeface="+mn-ea"/>
              </a:rPr>
              <a:t>emit(“Error”);</a:t>
            </a:r>
            <a:endParaRPr lang="en-US" altLang="zh-CN" sz="2000" b="1" dirty="0">
              <a:solidFill>
                <a:srgbClr val="03010F"/>
              </a:solidFill>
              <a:latin typeface="Times New Roman" panose="02020603050405020304" pitchFamily="18" charset="0"/>
              <a:cs typeface="Times New Roman" panose="02020603050405020304" pitchFamily="18" charset="0"/>
            </a:endParaRPr>
          </a:p>
          <a:p>
            <a:pPr lvl="2"/>
            <a:r>
              <a:rPr lang="zh-CN" altLang="en-US" sz="2000" b="1" dirty="0">
                <a:solidFill>
                  <a:srgbClr val="03010F"/>
                </a:solidFill>
                <a:cs typeface="Times New Roman" panose="02020603050405020304" pitchFamily="18" charset="0"/>
                <a:sym typeface="+mn-ea"/>
              </a:rPr>
              <a:t>     </a:t>
            </a:r>
            <a:r>
              <a:rPr lang="en-US" altLang="zh-CN" sz="2000" b="1" dirty="0">
                <a:solidFill>
                  <a:srgbClr val="03010F"/>
                </a:solidFill>
                <a:cs typeface="Times New Roman" panose="02020603050405020304" pitchFamily="18" charset="0"/>
                <a:sym typeface="+mn-ea"/>
              </a:rPr>
              <a:t>break; }}</a:t>
            </a:r>
            <a:endParaRPr lang="en-US" altLang="zh-CN" sz="2000" b="1" dirty="0">
              <a:solidFill>
                <a:srgbClr val="03010F"/>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strips(downLeft)">
                                      <p:cBhvr>
                                        <p:cTn id="7" dur="500"/>
                                        <p:tgtEl>
                                          <p:spTgt spid="6">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strips(downLeft)">
                                      <p:cBhvr>
                                        <p:cTn id="12" dur="500"/>
                                        <p:tgtEl>
                                          <p:spTgt spid="6">
                                            <p:txEl>
                                              <p:pRg st="4" end="4"/>
                                            </p:txEl>
                                          </p:spTgt>
                                        </p:tgtEl>
                                      </p:cBhvr>
                                    </p:animEffect>
                                  </p:childTnLst>
                                </p:cTn>
                              </p:par>
                              <p:par>
                                <p:cTn id="13" presetID="18" presetClass="entr" presetSubtype="12"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animEffect transition="in" filter="strips(downLeft)">
                                      <p:cBhvr>
                                        <p:cTn id="15" dur="500"/>
                                        <p:tgtEl>
                                          <p:spTgt spid="6">
                                            <p:txEl>
                                              <p:pRg st="5" end="5"/>
                                            </p:txEl>
                                          </p:spTgt>
                                        </p:tgtEl>
                                      </p:cBhvr>
                                    </p:animEffect>
                                  </p:childTnLst>
                                </p:cTn>
                              </p:par>
                              <p:par>
                                <p:cTn id="16" presetID="18" presetClass="entr" presetSubtype="12" fill="hold" nodeType="with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Effect transition="in" filter="strips(downLeft)">
                                      <p:cBhvr>
                                        <p:cTn id="18" dur="500"/>
                                        <p:tgtEl>
                                          <p:spTgt spid="6">
                                            <p:txEl>
                                              <p:pRg st="6" end="6"/>
                                            </p:txEl>
                                          </p:spTgt>
                                        </p:tgtEl>
                                      </p:cBhvr>
                                    </p:animEffect>
                                  </p:childTnLst>
                                </p:cTn>
                              </p:par>
                              <p:par>
                                <p:cTn id="19" presetID="18" presetClass="entr" presetSubtype="12"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animEffect transition="in" filter="strips(downLeft)">
                                      <p:cBhvr>
                                        <p:cTn id="21" dur="500"/>
                                        <p:tgtEl>
                                          <p:spTgt spid="6">
                                            <p:txEl>
                                              <p:pRg st="7" end="7"/>
                                            </p:txEl>
                                          </p:spTgt>
                                        </p:tgtEl>
                                      </p:cBhvr>
                                    </p:animEffect>
                                  </p:childTnLst>
                                </p:cTn>
                              </p:par>
                              <p:par>
                                <p:cTn id="22" presetID="18" presetClass="entr" presetSubtype="12"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strips(downLeft)">
                                      <p:cBhvr>
                                        <p:cTn id="24" dur="500"/>
                                        <p:tgtEl>
                                          <p:spTgt spid="6">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nodeType="click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animEffect transition="in" filter="strips(downLeft)">
                                      <p:cBhvr>
                                        <p:cTn id="29" dur="500"/>
                                        <p:tgtEl>
                                          <p:spTgt spid="6">
                                            <p:txEl>
                                              <p:pRg st="9" end="9"/>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12" fill="hold" nodeType="clickEffect">
                                  <p:stCondLst>
                                    <p:cond delay="0"/>
                                  </p:stCondLst>
                                  <p:childTnLst>
                                    <p:set>
                                      <p:cBhvr>
                                        <p:cTn id="33" dur="1" fill="hold">
                                          <p:stCondLst>
                                            <p:cond delay="0"/>
                                          </p:stCondLst>
                                        </p:cTn>
                                        <p:tgtEl>
                                          <p:spTgt spid="6">
                                            <p:txEl>
                                              <p:pRg st="10" end="10"/>
                                            </p:txEl>
                                          </p:spTgt>
                                        </p:tgtEl>
                                        <p:attrNameLst>
                                          <p:attrName>style.visibility</p:attrName>
                                        </p:attrNameLst>
                                      </p:cBhvr>
                                      <p:to>
                                        <p:strVal val="visible"/>
                                      </p:to>
                                    </p:set>
                                    <p:animEffect transition="in" filter="strips(downLeft)">
                                      <p:cBhvr>
                                        <p:cTn id="34" dur="500"/>
                                        <p:tgtEl>
                                          <p:spTgt spid="6">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8" presetClass="entr" presetSubtype="12"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animEffect transition="in" filter="strips(downLeft)">
                                      <p:cBhvr>
                                        <p:cTn id="39"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sz="quarter" idx="14"/>
          </p:nvPr>
        </p:nvSpPr>
        <p:spPr>
          <a:xfrm>
            <a:off x="421005" y="276860"/>
            <a:ext cx="7754620" cy="593090"/>
          </a:xfrm>
        </p:spPr>
        <p:txBody>
          <a:bodyPr/>
          <a:lstStyle/>
          <a:p>
            <a:r>
              <a:rPr lang="zh-CN" altLang="en-US" sz="3200" dirty="0"/>
              <a:t>本章小结</a:t>
            </a:r>
            <a:endParaRPr lang="zh-CN" altLang="en-US" sz="3200" dirty="0"/>
          </a:p>
        </p:txBody>
      </p:sp>
      <p:sp>
        <p:nvSpPr>
          <p:cNvPr id="7" name="内容占位符 5"/>
          <p:cNvSpPr txBox="1">
            <a:spLocks noChangeArrowheads="1"/>
          </p:cNvSpPr>
          <p:nvPr/>
        </p:nvSpPr>
        <p:spPr>
          <a:xfrm>
            <a:off x="421005" y="1196975"/>
            <a:ext cx="10795635" cy="293560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p"/>
            </a:pPr>
            <a:r>
              <a:rPr lang="zh-CN" altLang="en-US" b="1" dirty="0"/>
              <a:t>中间代码的生成方法：</a:t>
            </a:r>
            <a:endParaRPr lang="en-US" altLang="zh-CN" b="1" dirty="0"/>
          </a:p>
          <a:p>
            <a:pPr marL="914400" lvl="1" indent="-457200">
              <a:lnSpc>
                <a:spcPct val="150000"/>
              </a:lnSpc>
              <a:buFont typeface="Wingdings" panose="05000000000000000000" charset="0"/>
              <a:buAutoNum type="arabicPeriod"/>
            </a:pPr>
            <a:r>
              <a:rPr lang="zh-CN" altLang="en-US" b="1" dirty="0"/>
              <a:t>根据语义规则，给出抽象语法树各节点对应的中间代码生成方法；</a:t>
            </a:r>
            <a:endParaRPr lang="en-US" altLang="zh-CN" b="1" dirty="0"/>
          </a:p>
          <a:p>
            <a:pPr marL="914400" lvl="1" indent="-457200">
              <a:lnSpc>
                <a:spcPct val="150000"/>
              </a:lnSpc>
              <a:buFont typeface="Wingdings" panose="05000000000000000000" charset="0"/>
              <a:buAutoNum type="arabicPeriod"/>
            </a:pPr>
            <a:r>
              <a:rPr lang="zh-CN" altLang="en-US" b="1" dirty="0"/>
              <a:t>后序遍历抽象语法树，生成相应的中间代码。</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Horizont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arn(inHorizontal)">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PLACING_PICTURE_USER_VIEWPORT" val="{&quot;height&quot;:2884,&quot;width&quot;:2884}"/>
</p:tagLst>
</file>

<file path=ppt/tags/tag11.xml><?xml version="1.0" encoding="utf-8"?>
<p:tagLst xmlns:p="http://schemas.openxmlformats.org/presentationml/2006/main">
  <p:tag name="KSO_WM_UNIT_PLACING_PICTURE_USER_VIEWPORT" val="{&quot;height&quot;:7665,&quot;width&quot;:8400}"/>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PP_MARK_KEY" val="6bff497f-051e-4247-bb96-2b09054235a7"/>
  <p:tag name="COMMONDATA" val="eyJoZGlkIjoiZTM4ZDYxNzU3YTBlMDhhMzgwMzEwNzJlMjNkNWZkNm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12828</Words>
  <Application>WPS 演示</Application>
  <PresentationFormat>全屏显示(4:3)</PresentationFormat>
  <Paragraphs>1124</Paragraphs>
  <Slides>44</Slides>
  <Notes>0</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44</vt:i4>
      </vt:variant>
    </vt:vector>
  </HeadingPairs>
  <TitlesOfParts>
    <vt:vector size="81" baseType="lpstr">
      <vt:lpstr>Arial</vt:lpstr>
      <vt:lpstr>宋体</vt:lpstr>
      <vt:lpstr>Wingdings</vt:lpstr>
      <vt:lpstr>微软雅黑</vt:lpstr>
      <vt:lpstr>Times New Roman</vt:lpstr>
      <vt:lpstr>等线</vt:lpstr>
      <vt:lpstr>等线 Light</vt:lpstr>
      <vt:lpstr>Wingdings</vt:lpstr>
      <vt:lpstr>Calibri</vt:lpstr>
      <vt:lpstr>Arial Unicode MS</vt:lpstr>
      <vt:lpstr>Calibri Light</vt:lpstr>
      <vt:lpstr>Courier New</vt:lpstr>
      <vt:lpstr>Cambria Math</vt:lpstr>
      <vt:lpstr>Symbol</vt:lpstr>
      <vt:lpstr>Courier-Bold</vt:lpstr>
      <vt:lpstr>Segoe Print</vt:lpstr>
      <vt:lpstr>仿宋_GB2312</vt:lpstr>
      <vt:lpstr>华文琥珀</vt:lpstr>
      <vt:lpstr>仿宋</vt:lpstr>
      <vt:lpstr>Cascadia Code Light</vt:lpstr>
      <vt:lpstr>Cascadia Mono SemiLight</vt:lpstr>
      <vt:lpstr>Cascadia Mono SemiBold</vt:lpstr>
      <vt:lpstr>Cascadia Mono ExtraLight</vt:lpstr>
      <vt:lpstr>Cambria</vt:lpstr>
      <vt:lpstr>Bahnschrift SemiLight SemiCondensed</vt:lpstr>
      <vt:lpstr>Century</vt:lpstr>
      <vt:lpstr>Cascadia Code SemiLight</vt:lpstr>
      <vt:lpstr>Constantia</vt:lpstr>
      <vt:lpstr>Cascadia Mono</vt:lpstr>
      <vt:lpstr>Century Gothic</vt:lpstr>
      <vt:lpstr>Candara Light</vt:lpstr>
      <vt:lpstr>Bradley Hand ITC</vt:lpstr>
      <vt:lpstr>Bahnschrift SemiLight</vt:lpstr>
      <vt:lpstr>华文楷体</vt:lpstr>
      <vt:lpstr>华文彩云</vt:lpstr>
      <vt:lpstr>Corbel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Wren</dc:creator>
  <cp:lastModifiedBy>马春燕</cp:lastModifiedBy>
  <cp:revision>246</cp:revision>
  <dcterms:created xsi:type="dcterms:W3CDTF">2024-03-16T07:28:00Z</dcterms:created>
  <dcterms:modified xsi:type="dcterms:W3CDTF">2026-04-05T04:51:20Z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3A7A27AF0D624BF7AD96DEF001E2E88C_13</vt:lpwstr>
  </property>
  <property fmtid="{D5CDD505-2E9C-101B-9397-08002B2CF9AE}" pid="3" name="KSOProductBuildVer">
    <vt:lpwstr>2052-11.1.0.13703</vt:lpwstr>
  </property>
</Properties>
</file>