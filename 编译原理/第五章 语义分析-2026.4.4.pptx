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50"/>
  </p:handoutMasterIdLst>
  <p:sldIdLst>
    <p:sldId id="786" r:id="rId3"/>
    <p:sldId id="540" r:id="rId4"/>
    <p:sldId id="539" r:id="rId5"/>
    <p:sldId id="542" r:id="rId6"/>
    <p:sldId id="258" r:id="rId7"/>
    <p:sldId id="538" r:id="rId8"/>
    <p:sldId id="546" r:id="rId9"/>
    <p:sldId id="548" r:id="rId10"/>
    <p:sldId id="550" r:id="rId11"/>
    <p:sldId id="554" r:id="rId12"/>
    <p:sldId id="558" r:id="rId13"/>
    <p:sldId id="561" r:id="rId14"/>
    <p:sldId id="564" r:id="rId15"/>
    <p:sldId id="566" r:id="rId16"/>
    <p:sldId id="568" r:id="rId17"/>
    <p:sldId id="574" r:id="rId18"/>
    <p:sldId id="576" r:id="rId19"/>
    <p:sldId id="581" r:id="rId20"/>
    <p:sldId id="585" r:id="rId21"/>
    <p:sldId id="583" r:id="rId22"/>
    <p:sldId id="587" r:id="rId23"/>
    <p:sldId id="589" r:id="rId24"/>
    <p:sldId id="591" r:id="rId25"/>
    <p:sldId id="594" r:id="rId26"/>
    <p:sldId id="598" r:id="rId27"/>
    <p:sldId id="603" r:id="rId28"/>
    <p:sldId id="606" r:id="rId29"/>
    <p:sldId id="608" r:id="rId30"/>
    <p:sldId id="609" r:id="rId31"/>
    <p:sldId id="610" r:id="rId32"/>
    <p:sldId id="612" r:id="rId33"/>
    <p:sldId id="614" r:id="rId34"/>
    <p:sldId id="615" r:id="rId35"/>
    <p:sldId id="625" r:id="rId36"/>
    <p:sldId id="627" r:id="rId37"/>
    <p:sldId id="629" r:id="rId38"/>
    <p:sldId id="632" r:id="rId39"/>
    <p:sldId id="634" r:id="rId40"/>
    <p:sldId id="638" r:id="rId41"/>
    <p:sldId id="643" r:id="rId42"/>
    <p:sldId id="644" r:id="rId43"/>
    <p:sldId id="647" r:id="rId44"/>
    <p:sldId id="649" r:id="rId45"/>
    <p:sldId id="651" r:id="rId47"/>
    <p:sldId id="654" r:id="rId48"/>
    <p:sldId id="787" r:id="rId49"/>
  </p:sldIdLst>
  <p:sldSz cx="12192000" cy="6858000"/>
  <p:notesSz cx="6858000" cy="91440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ren" initials="W" lastIdx="1" clrIdx="0"/>
  <p:cmAuthor id="2" name="ASUS"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384B"/>
    <a:srgbClr val="FF11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64" autoAdjust="0"/>
    <p:restoredTop sz="94904" autoAdjust="0"/>
  </p:normalViewPr>
  <p:slideViewPr>
    <p:cSldViewPr snapToGrid="0">
      <p:cViewPr varScale="1">
        <p:scale>
          <a:sx n="94" d="100"/>
          <a:sy n="94" d="100"/>
        </p:scale>
        <p:origin x="1788" y="60"/>
      </p:cViewPr>
      <p:guideLst/>
    </p:cSldViewPr>
  </p:slideViewPr>
  <p:notesTextViewPr>
    <p:cViewPr>
      <p:scale>
        <a:sx n="1" d="1"/>
        <a:sy n="1" d="1"/>
      </p:scale>
      <p:origin x="0" y="0"/>
    </p:cViewPr>
  </p:notesText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gs" Target="tags/tag116.xml"/><Relationship Id="rId54" Type="http://schemas.openxmlformats.org/officeDocument/2006/relationships/commentAuthors" Target="commentAuthors.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notesMaster" Target="notesMasters/notes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EA3E2-C87F-4A69-AA9B-977CB6B7875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A2114A-053A-4019-867C-6DA91B73B33C}"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7B0C-C5AB-457F-8F1A-FBF93A90A4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0A2A6-A786-4185-BFBE-5D2240968AB8}"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4E0A2A6-A786-4185-BFBE-5D2240968AB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6.xml"/><Relationship Id="rId7" Type="http://schemas.openxmlformats.org/officeDocument/2006/relationships/image" Target="../media/image2.png"/><Relationship Id="rId6" Type="http://schemas.openxmlformats.org/officeDocument/2006/relationships/tags" Target="../tags/tag5.xml"/><Relationship Id="rId5" Type="http://schemas.openxmlformats.org/officeDocument/2006/relationships/image" Target="../media/image1.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9.xml"/><Relationship Id="rId4" Type="http://schemas.openxmlformats.org/officeDocument/2006/relationships/image" Target="../media/image1.pn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矩形 7"/>
          <p:cNvSpPr/>
          <p:nvPr userDrawn="1"/>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0" name="西北工业大学"/>
          <p:cNvPicPr>
            <a:picLocks noChangeAspect="1"/>
          </p:cNvPicPr>
          <p:nvPr userDrawn="1"/>
        </p:nvPicPr>
        <p:blipFill>
          <a:blip r:embed="rId2" cstate="screen"/>
          <a:stretch>
            <a:fillRect/>
          </a:stretch>
        </p:blipFill>
        <p:spPr>
          <a:xfrm>
            <a:off x="9968653" y="417830"/>
            <a:ext cx="1817793" cy="342900"/>
          </a:xfrm>
          <a:prstGeom prst="rect">
            <a:avLst/>
          </a:prstGeom>
        </p:spPr>
      </p:pic>
      <p:pic>
        <p:nvPicPr>
          <p:cNvPr id="11" name="校徽"/>
          <p:cNvPicPr>
            <a:picLocks noChangeAspect="1"/>
          </p:cNvPicPr>
          <p:nvPr userDrawn="1"/>
        </p:nvPicPr>
        <p:blipFill>
          <a:blip r:embed="rId3" cstate="screen"/>
          <a:stretch>
            <a:fillRect/>
          </a:stretch>
        </p:blipFill>
        <p:spPr>
          <a:xfrm>
            <a:off x="9157547" y="342900"/>
            <a:ext cx="575733" cy="431800"/>
          </a:xfrm>
          <a:prstGeom prst="rect">
            <a:avLst/>
          </a:prstGeom>
        </p:spPr>
      </p:pic>
      <p:cxnSp>
        <p:nvCxnSpPr>
          <p:cNvPr id="13" name="直线连接符 12"/>
          <p:cNvCxnSpPr/>
          <p:nvPr userDrawn="1"/>
        </p:nvCxnSpPr>
        <p:spPr>
          <a:xfrm>
            <a:off x="1134464" y="1936216"/>
            <a:ext cx="9730740"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cxnSp>
        <p:nvCxnSpPr>
          <p:cNvPr id="17" name="直线连接符 9"/>
          <p:cNvCxnSpPr/>
          <p:nvPr userDrawn="1">
            <p:custDataLst>
              <p:tags r:id="rId4"/>
            </p:custDataLst>
          </p:nvPr>
        </p:nvCxnSpPr>
        <p:spPr>
          <a:xfrm>
            <a:off x="0" y="633397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3" hasCustomPrompt="1"/>
          </p:nvPr>
        </p:nvSpPr>
        <p:spPr>
          <a:xfrm>
            <a:off x="1134464" y="1209311"/>
            <a:ext cx="6129867" cy="511118"/>
          </a:xfrm>
        </p:spPr>
        <p:txBody>
          <a:bodyPr>
            <a:normAutofit/>
          </a:bodyPr>
          <a:lstStyle>
            <a:lvl1pPr marL="0" indent="0">
              <a:buNone/>
              <a:defRPr kumimoji="1" lang="zh-CN" altLang="en-US" sz="3200" b="1" kern="1200" dirty="0">
                <a:solidFill>
                  <a:srgbClr val="034EA2"/>
                </a:solidFill>
                <a:latin typeface="微软雅黑" panose="020B0503020204020204" charset="-122"/>
                <a:ea typeface="微软雅黑" panose="020B0503020204020204" charset="-122"/>
                <a:cs typeface="微软雅黑" panose="020B0503020204020204" charset="-122"/>
              </a:defRPr>
            </a:lvl1pPr>
          </a:lstStyle>
          <a:p>
            <a:pPr lvl="0"/>
            <a:r>
              <a:rPr lang="zh-CN" altLang="en-US" dirty="0"/>
              <a:t>第</a:t>
            </a:r>
            <a:r>
              <a:rPr lang="en-US" altLang="zh-CN" dirty="0"/>
              <a:t> </a:t>
            </a:r>
            <a:r>
              <a:rPr lang="zh-CN" altLang="en-US" dirty="0"/>
              <a:t>单元 </a:t>
            </a:r>
            <a:endParaRPr lang="zh-CN" altLang="en-US" dirty="0"/>
          </a:p>
        </p:txBody>
      </p:sp>
      <p:sp>
        <p:nvSpPr>
          <p:cNvPr id="23" name="文本占位符 22"/>
          <p:cNvSpPr>
            <a:spLocks noGrp="1"/>
          </p:cNvSpPr>
          <p:nvPr>
            <p:ph type="body" sz="quarter" idx="14" hasCustomPrompt="1"/>
          </p:nvPr>
        </p:nvSpPr>
        <p:spPr>
          <a:xfrm>
            <a:off x="1134464" y="2106539"/>
            <a:ext cx="8255000" cy="2838450"/>
          </a:xfrm>
        </p:spPr>
        <p:txBody>
          <a:bodyPr>
            <a:normAutofit/>
          </a:bodyPr>
          <a:lstStyle>
            <a:lvl1pPr marL="0" indent="0" algn="l" defTabSz="914400" rtl="0" eaLnBrk="1" latinLnBrk="0" hangingPunct="1">
              <a:lnSpc>
                <a:spcPct val="150000"/>
              </a:lnSpc>
              <a:spcBef>
                <a:spcPts val="1000"/>
              </a:spcBef>
              <a:buFont typeface="Arial" panose="020B0604020202020204" pitchFamily="34" charset="0"/>
              <a:buNone/>
              <a:defRPr kumimoji="1" lang="zh-CN" altLang="en-US" sz="2800" kern="1200" dirty="0">
                <a:solidFill>
                  <a:srgbClr val="034EA2"/>
                </a:solidFill>
                <a:latin typeface="+mn-ea"/>
                <a:ea typeface="+mn-ea"/>
                <a:cs typeface="+mn-ea"/>
              </a:defRPr>
            </a:lvl1pPr>
          </a:lstStyle>
          <a:p>
            <a:pPr lvl="0"/>
            <a:r>
              <a:rPr lang="en-US" altLang="zh-CN" dirty="0"/>
              <a:t>1.1 </a:t>
            </a:r>
            <a:endParaRPr lang="en-US" altLang="zh-CN" dirty="0"/>
          </a:p>
          <a:p>
            <a:pPr lvl="0"/>
            <a:r>
              <a:rPr lang="en-US" altLang="zh-CN" dirty="0"/>
              <a:t>1.2 </a:t>
            </a:r>
            <a:endParaRPr lang="en-US" altLang="zh-CN" dirty="0"/>
          </a:p>
          <a:p>
            <a:pPr lvl="0"/>
            <a:r>
              <a:rPr lang="en-US" altLang="zh-CN" dirty="0"/>
              <a:t>1.3</a:t>
            </a:r>
            <a:endParaRPr lang="zh-CN" altLang="en-US" dirty="0"/>
          </a:p>
        </p:txBody>
      </p:sp>
      <p:sp>
        <p:nvSpPr>
          <p:cNvPr id="27" name="文本占位符 26"/>
          <p:cNvSpPr>
            <a:spLocks noGrp="1"/>
          </p:cNvSpPr>
          <p:nvPr>
            <p:ph type="body" sz="quarter" idx="15" hasCustomPrompt="1"/>
          </p:nvPr>
        </p:nvSpPr>
        <p:spPr>
          <a:xfrm>
            <a:off x="228531" y="263977"/>
            <a:ext cx="2653249" cy="589645"/>
          </a:xfrm>
        </p:spPr>
        <p:txBody>
          <a:bodyPr/>
          <a:lstStyle>
            <a:lvl1pPr marL="0" indent="0">
              <a:buNone/>
              <a:defRPr kumimoji="1" lang="zh-CN" altLang="en-US" sz="3600" b="1" kern="1200" dirty="0" smtClean="0">
                <a:solidFill>
                  <a:schemeClr val="bg1"/>
                </a:solidFill>
                <a:latin typeface="+mn-ea"/>
                <a:ea typeface="+mn-ea"/>
                <a:cs typeface="+mj-cs"/>
              </a:defRPr>
            </a:lvl1pPr>
          </a:lstStyle>
          <a:p>
            <a:pPr lvl="0"/>
            <a:r>
              <a:rPr lang="zh-CN" altLang="en-US" dirty="0"/>
              <a:t>目录</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培养目标">
    <p:spTree>
      <p:nvGrpSpPr>
        <p:cNvPr id="1" name=""/>
        <p:cNvGrpSpPr/>
        <p:nvPr/>
      </p:nvGrpSpPr>
      <p:grpSpPr>
        <a:xfrm>
          <a:off x="0" y="0"/>
          <a:ext cx="0" cy="0"/>
          <a:chOff x="0" y="0"/>
          <a:chExt cx="0" cy="0"/>
        </a:xfrm>
      </p:grpSpPr>
      <p:sp>
        <p:nvSpPr>
          <p:cNvPr id="7" name="内容占位符 2"/>
          <p:cNvSpPr>
            <a:spLocks noGrp="1"/>
          </p:cNvSpPr>
          <p:nvPr userDrawn="1">
            <p:custDataLst>
              <p:tags r:id="rId2"/>
            </p:custDataLst>
          </p:nvPr>
        </p:nvSpPr>
        <p:spPr>
          <a:xfrm>
            <a:off x="630767" y="1339215"/>
            <a:ext cx="10670540"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本节培养目标</a:t>
            </a:r>
            <a:endParaRPr kumimoji="1" lang="zh-CN" altLang="en-US" sz="2800" b="1" dirty="0"/>
          </a:p>
        </p:txBody>
      </p:sp>
      <p:sp>
        <p:nvSpPr>
          <p:cNvPr id="8" name="矩形 7"/>
          <p:cNvSpPr/>
          <p:nvPr userDrawn="1">
            <p:custDataLst>
              <p:tags r:id="rId3"/>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3" name="西北工业大学"/>
          <p:cNvPicPr>
            <a:picLocks noChangeAspect="1"/>
          </p:cNvPicPr>
          <p:nvPr userDrawn="1">
            <p:custDataLst>
              <p:tags r:id="rId4"/>
            </p:custDataLst>
          </p:nvPr>
        </p:nvPicPr>
        <p:blipFill>
          <a:blip r:embed="rId5" cstate="screen"/>
          <a:stretch>
            <a:fillRect/>
          </a:stretch>
        </p:blipFill>
        <p:spPr>
          <a:xfrm>
            <a:off x="9968653" y="417830"/>
            <a:ext cx="1817793" cy="342900"/>
          </a:xfrm>
          <a:prstGeom prst="rect">
            <a:avLst/>
          </a:prstGeom>
        </p:spPr>
      </p:pic>
      <p:pic>
        <p:nvPicPr>
          <p:cNvPr id="14" name="校徽"/>
          <p:cNvPicPr>
            <a:picLocks noChangeAspect="1"/>
          </p:cNvPicPr>
          <p:nvPr userDrawn="1">
            <p:custDataLst>
              <p:tags r:id="rId6"/>
            </p:custDataLst>
          </p:nvPr>
        </p:nvPicPr>
        <p:blipFill>
          <a:blip r:embed="rId7" cstate="screen"/>
          <a:stretch>
            <a:fillRect/>
          </a:stretch>
        </p:blipFill>
        <p:spPr>
          <a:xfrm>
            <a:off x="9157547" y="342900"/>
            <a:ext cx="575733" cy="431800"/>
          </a:xfrm>
          <a:prstGeom prst="rect">
            <a:avLst/>
          </a:prstGeom>
        </p:spPr>
      </p:pic>
      <p:sp>
        <p:nvSpPr>
          <p:cNvPr id="15" name="矩形 14"/>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卷形: 水平 1"/>
          <p:cNvSpPr/>
          <p:nvPr userDrawn="1">
            <p:custDataLst>
              <p:tags r:id="rId8"/>
            </p:custDataLst>
          </p:nvPr>
        </p:nvSpPr>
        <p:spPr>
          <a:xfrm>
            <a:off x="838200" y="1729105"/>
            <a:ext cx="10325100"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lstStyle/>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9" name="文本占位符 18"/>
          <p:cNvSpPr>
            <a:spLocks noGrp="1"/>
          </p:cNvSpPr>
          <p:nvPr>
            <p:ph type="body" sz="quarter" idx="13" hasCustomPrompt="1"/>
          </p:nvPr>
        </p:nvSpPr>
        <p:spPr>
          <a:xfrm>
            <a:off x="1911351" y="2498725"/>
            <a:ext cx="9076267" cy="2197100"/>
          </a:xfrm>
        </p:spPr>
        <p:txBody>
          <a:bodyPr/>
          <a:lstStyle>
            <a:lvl1pPr marL="457200" indent="-457200">
              <a:buFont typeface="+mj-lt"/>
              <a:buAutoNum type="arabicPeriod"/>
              <a:defRPr lang="zh-CN" altLang="en-US" sz="2400" b="1" kern="100" dirty="0" smtClean="0">
                <a:ln>
                  <a:noFill/>
                </a:ln>
                <a:solidFill>
                  <a:schemeClr val="tx1"/>
                </a:solidFill>
                <a:effectLst/>
                <a:uLnTx/>
                <a:uFillTx/>
                <a:latin typeface="等线" panose="02010600030101010101" charset="-122"/>
                <a:ea typeface="等线" panose="02010600030101010101" charset="-122"/>
                <a:cs typeface="等线" panose="02010600030101010101" charset="-122"/>
              </a:defRPr>
            </a:lvl1pPr>
          </a:lstStyle>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第一级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第二级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第三级</a:t>
            </a:r>
            <a:endParaRPr lang="zh-CN" altLang="en-US" dirty="0"/>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 </a:t>
            </a:r>
            <a:r>
              <a:rPr lang="zh-CN" altLang="en-US" dirty="0"/>
              <a:t>章节名</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1" name="西北工业大学"/>
          <p:cNvPicPr>
            <a:picLocks noChangeAspect="1"/>
          </p:cNvPicPr>
          <p:nvPr userDrawn="1">
            <p:custDataLst>
              <p:tags r:id="rId3"/>
            </p:custDataLst>
          </p:nvPr>
        </p:nvPicPr>
        <p:blipFill>
          <a:blip r:embed="rId4" cstate="screen"/>
          <a:stretch>
            <a:fillRect/>
          </a:stretch>
        </p:blipFill>
        <p:spPr>
          <a:xfrm>
            <a:off x="9968653" y="417830"/>
            <a:ext cx="1817793" cy="342900"/>
          </a:xfrm>
          <a:prstGeom prst="rect">
            <a:avLst/>
          </a:prstGeom>
        </p:spPr>
      </p:pic>
      <p:pic>
        <p:nvPicPr>
          <p:cNvPr id="12" name="校徽"/>
          <p:cNvPicPr>
            <a:picLocks noChangeAspect="1"/>
          </p:cNvPicPr>
          <p:nvPr userDrawn="1">
            <p:custDataLst>
              <p:tags r:id="rId5"/>
            </p:custDataLst>
          </p:nvPr>
        </p:nvPicPr>
        <p:blipFill>
          <a:blip r:embed="rId6" cstate="screen"/>
          <a:stretch>
            <a:fillRect/>
          </a:stretch>
        </p:blipFill>
        <p:spPr>
          <a:xfrm>
            <a:off x="9157547" y="342900"/>
            <a:ext cx="575733" cy="431800"/>
          </a:xfrm>
          <a:prstGeom prst="rect">
            <a:avLst/>
          </a:prstGeom>
        </p:spPr>
      </p:pic>
      <p:sp>
        <p:nvSpPr>
          <p:cNvPr id="13" name="矩形 12"/>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1.1.1 </a:t>
            </a:r>
            <a:r>
              <a:rPr lang="zh-CN" altLang="en-US" dirty="0"/>
              <a:t>小节名</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文本框 4"/>
          <p:cNvSpPr txBox="1"/>
          <p:nvPr userDrawn="1"/>
        </p:nvSpPr>
        <p:spPr>
          <a:xfrm>
            <a:off x="296333" y="6407150"/>
            <a:ext cx="981710" cy="275590"/>
          </a:xfrm>
          <a:prstGeom prst="rect">
            <a:avLst/>
          </a:prstGeom>
          <a:noFill/>
        </p:spPr>
        <p:txBody>
          <a:bodyPr wrap="none" rtlCol="0">
            <a:spAutoFit/>
          </a:bodyPr>
          <a:lstStyle/>
          <a:p>
            <a:r>
              <a:rPr lang="en-US" altLang="zh-CN" sz="1200" b="1" dirty="0" err="1">
                <a:solidFill>
                  <a:schemeClr val="tx1"/>
                </a:solidFill>
                <a:latin typeface="+mn-ea"/>
                <a:ea typeface="+mn-ea"/>
              </a:rPr>
              <a:t>machunyan</a:t>
            </a:r>
            <a:endParaRPr lang="zh-CN" altLang="en-US" sz="1200" b="1" dirty="0">
              <a:solidFill>
                <a:schemeClr val="tx1"/>
              </a:solidFill>
              <a:latin typeface="+mn-ea"/>
              <a:ea typeface="+mn-ea"/>
            </a:endParaRPr>
          </a:p>
        </p:txBody>
      </p:sp>
      <p:sp>
        <p:nvSpPr>
          <p:cNvPr id="14" name="文本框 13"/>
          <p:cNvSpPr txBox="1"/>
          <p:nvPr userDrawn="1"/>
        </p:nvSpPr>
        <p:spPr>
          <a:xfrm>
            <a:off x="4946967" y="6407149"/>
            <a:ext cx="1706880" cy="275590"/>
          </a:xfrm>
          <a:prstGeom prst="rect">
            <a:avLst/>
          </a:prstGeom>
          <a:noFill/>
        </p:spPr>
        <p:txBody>
          <a:bodyPr wrap="none" rtlCol="0">
            <a:spAutoFit/>
          </a:bodyPr>
          <a:lstStyle/>
          <a:p>
            <a:r>
              <a:rPr lang="zh-CN" altLang="en-US" sz="1200" b="1" dirty="0">
                <a:solidFill>
                  <a:schemeClr val="tx1"/>
                </a:solidFill>
                <a:latin typeface="+mn-ea"/>
                <a:ea typeface="+mn-ea"/>
              </a:rPr>
              <a:t>西北工业大学软件学院</a:t>
            </a:r>
            <a:endParaRPr lang="zh-CN" altLang="en-US" sz="1200" b="1" dirty="0">
              <a:solidFill>
                <a:schemeClr val="tx1"/>
              </a:solidFill>
              <a:latin typeface="+mn-ea"/>
              <a:ea typeface="+mn-ea"/>
            </a:endParaRPr>
          </a:p>
        </p:txBody>
      </p:sp>
      <p:sp>
        <p:nvSpPr>
          <p:cNvPr id="15" name="文本框 14"/>
          <p:cNvSpPr txBox="1"/>
          <p:nvPr userDrawn="1"/>
        </p:nvSpPr>
        <p:spPr>
          <a:xfrm>
            <a:off x="11416227" y="6407149"/>
            <a:ext cx="267335" cy="275590"/>
          </a:xfrm>
          <a:prstGeom prst="rect">
            <a:avLst/>
          </a:prstGeom>
          <a:noFill/>
        </p:spPr>
        <p:txBody>
          <a:bodyPr wrap="none" rtlCol="0">
            <a:spAutoFit/>
          </a:bodyPr>
          <a:lstStyle/>
          <a:p>
            <a:fld id="{6CCE0E74-C6F2-4DC5-83E7-295C76677F6B}" type="slidenum">
              <a:rPr lang="en-US" altLang="zh-CN" sz="1200" b="1" smtClean="0">
                <a:solidFill>
                  <a:schemeClr val="tx1"/>
                </a:solidFill>
                <a:latin typeface="+mn-ea"/>
                <a:ea typeface="+mn-ea"/>
              </a:rPr>
            </a:fld>
            <a:endParaRPr lang="zh-CN" altLang="en-US" sz="1200" b="1" dirty="0">
              <a:solidFill>
                <a:schemeClr val="tx1"/>
              </a:solidFill>
              <a:latin typeface="+mn-ea"/>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31526;&#21495;&#34920;&#31034;&#20363;.doc"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35821;&#20041;&#38169;&#35823;&#31034;&#20363;.doc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20013;&#38388;&#20195;&#30721;&#25110;&#30446;&#26631;&#20195;&#30721;&#29983;&#25104;&#21487;&#20197;&#24403;&#25104;&#23646;&#24615;&#25991;&#27861;&#26469;&#35745;&#31639;.doc" TargetMode="Externa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0" Type="http://schemas.openxmlformats.org/officeDocument/2006/relationships/slideLayout" Target="../slideLayouts/slideLayout3.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21518;&#24207;&#36941;&#21382;&#35821;&#27861;&#26641;.doc" TargetMode="External"/></Relationships>
</file>

<file path=ppt/slides/_rels/slide14.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2" Type="http://schemas.openxmlformats.org/officeDocument/2006/relationships/slideLayout" Target="../slideLayouts/slideLayout3.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7.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8.xml"/><Relationship Id="rId1" Type="http://schemas.openxmlformats.org/officeDocument/2006/relationships/tags" Target="../tags/tag47.xml"/></Relationships>
</file>

<file path=ppt/slides/_rels/slide16.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image" Target="../media/image6.png"/><Relationship Id="rId18" Type="http://schemas.openxmlformats.org/officeDocument/2006/relationships/slideLayout" Target="../slideLayouts/slideLayout3.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tags" Target="../tags/tag49.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9.png"/><Relationship Id="rId2" Type="http://schemas.openxmlformats.org/officeDocument/2006/relationships/tags" Target="../tags/tag70.xml"/><Relationship Id="rId1" Type="http://schemas.openxmlformats.org/officeDocument/2006/relationships/tags" Target="../tags/tag69.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png"/><Relationship Id="rId2" Type="http://schemas.openxmlformats.org/officeDocument/2006/relationships/tags" Target="../tags/tag72.xml"/><Relationship Id="rId1" Type="http://schemas.openxmlformats.org/officeDocument/2006/relationships/tags" Target="../tags/tag7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73.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4.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hyperlink" Target="../&#31532;&#19971;&#31456;%20&#36816;&#34892;&#26102;&#29615;&#22659;/&#20989;&#25968;&#35843;&#29992;&#20998;&#26512;.txt" TargetMode="External"/><Relationship Id="rId2" Type="http://schemas.openxmlformats.org/officeDocument/2006/relationships/hyperlink" Target="&#31867;&#22411;&#31561;&#20215;.docx" TargetMode="External"/><Relationship Id="rId1" Type="http://schemas.openxmlformats.org/officeDocument/2006/relationships/slide" Target="slide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tags" Target="../tags/tag80.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image" Target="../media/image14.png"/><Relationship Id="rId2" Type="http://schemas.openxmlformats.org/officeDocument/2006/relationships/tags" Target="../tags/tag82.xml"/><Relationship Id="rId1" Type="http://schemas.openxmlformats.org/officeDocument/2006/relationships/tags" Target="../tags/tag81.xml"/></Relationships>
</file>

<file path=ppt/slides/_rels/slide36.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2" Type="http://schemas.openxmlformats.org/officeDocument/2006/relationships/slideLayout" Target="../slideLayouts/slideLayout3.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tags" Target="../tags/tag87.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3.xml"/><Relationship Id="rId4" Type="http://schemas.openxmlformats.org/officeDocument/2006/relationships/tags" Target="../tags/tag98.xml"/><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slide" Target="slide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3.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3.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970" y="299720"/>
            <a:ext cx="1123061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sp>
        <p:nvSpPr>
          <p:cNvPr id="5" name="矩形 4"/>
          <p:cNvSpPr/>
          <p:nvPr/>
        </p:nvSpPr>
        <p:spPr>
          <a:xfrm>
            <a:off x="872490" y="789940"/>
            <a:ext cx="1054989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pic>
        <p:nvPicPr>
          <p:cNvPr id="1026" name="Picture 2" descr="西北工业大学- 维基百科，自由的百科全书"/>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42890" y="72580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67330" y="2722245"/>
            <a:ext cx="7194550" cy="706755"/>
          </a:xfrm>
          <a:prstGeom prst="rect">
            <a:avLst/>
          </a:prstGeom>
          <a:noFill/>
        </p:spPr>
        <p:txBody>
          <a:bodyPr wrap="square" rtlCol="0">
            <a:spAutoFit/>
          </a:bodyPr>
          <a:lstStyle/>
          <a:p>
            <a:pPr algn="dist"/>
            <a:r>
              <a:rPr kumimoji="1" lang="zh-CN" altLang="en-US" sz="4000" b="1" dirty="0">
                <a:solidFill>
                  <a:srgbClr val="034DA0"/>
                </a:solidFill>
                <a:latin typeface="+mn-ea"/>
                <a:cs typeface="等线 Light" panose="02010600030101010101" charset="-122"/>
                <a:sym typeface="+mn-ea"/>
              </a:rPr>
              <a:t>编译原理</a:t>
            </a:r>
            <a:endParaRPr kumimoji="1" lang="zh-CN" altLang="en-US" sz="4000" b="1" dirty="0">
              <a:solidFill>
                <a:srgbClr val="034DA0"/>
              </a:solidFill>
              <a:latin typeface="+mn-ea"/>
              <a:cs typeface="等线 Light" panose="02010600030101010101" charset="-122"/>
              <a:sym typeface="+mn-ea"/>
            </a:endParaRPr>
          </a:p>
        </p:txBody>
      </p:sp>
      <p:cxnSp>
        <p:nvCxnSpPr>
          <p:cNvPr id="8" name="直线连接符 7"/>
          <p:cNvCxnSpPr/>
          <p:nvPr/>
        </p:nvCxnSpPr>
        <p:spPr>
          <a:xfrm flipV="1">
            <a:off x="2367330" y="3429151"/>
            <a:ext cx="8088630" cy="1397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367280" y="3538220"/>
            <a:ext cx="8289925" cy="2306955"/>
          </a:xfrm>
          <a:prstGeom prst="rect">
            <a:avLst/>
          </a:prstGeom>
          <a:noFill/>
        </p:spPr>
        <p:txBody>
          <a:bodyPr wrap="square" rtlCol="0">
            <a:spAutoFit/>
          </a:bodyPr>
          <a:lstStyle/>
          <a:p>
            <a:pPr algn="l">
              <a:lnSpc>
                <a:spcPct val="150000"/>
              </a:lnSpc>
            </a:pPr>
            <a:r>
              <a:rPr kumimoji="1" lang="zh-CN" altLang="en-US" sz="3200" b="1" dirty="0">
                <a:solidFill>
                  <a:schemeClr val="tx1">
                    <a:lumMod val="65000"/>
                    <a:lumOff val="35000"/>
                  </a:schemeClr>
                </a:solidFill>
                <a:latin typeface="+mn-ea"/>
                <a:cs typeface="+mn-ea"/>
              </a:rPr>
              <a:t>授课教师：马春燕    </a:t>
            </a:r>
            <a:r>
              <a:rPr kumimoji="1" lang="en-US" altLang="zh-CN" sz="3200" b="1" dirty="0">
                <a:solidFill>
                  <a:schemeClr val="tx1">
                    <a:lumMod val="65000"/>
                    <a:lumOff val="35000"/>
                  </a:schemeClr>
                </a:solidFill>
                <a:latin typeface="+mn-ea"/>
                <a:cs typeface="+mn-ea"/>
              </a:rPr>
              <a:t> </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邮箱：</a:t>
            </a:r>
            <a:r>
              <a:rPr kumimoji="1" lang="en-US" altLang="zh-CN" sz="3200" b="1" dirty="0">
                <a:solidFill>
                  <a:schemeClr val="tx1">
                    <a:lumMod val="65000"/>
                    <a:lumOff val="35000"/>
                  </a:schemeClr>
                </a:solidFill>
                <a:latin typeface="+mn-ea"/>
                <a:cs typeface="+mn-ea"/>
              </a:rPr>
              <a:t>machunyan @nwpu.edu.cn</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手机：</a:t>
            </a:r>
            <a:r>
              <a:rPr kumimoji="1" lang="en-US" altLang="zh-CN" sz="3200" b="1" dirty="0">
                <a:solidFill>
                  <a:schemeClr val="tx1">
                    <a:lumMod val="65000"/>
                    <a:lumOff val="35000"/>
                  </a:schemeClr>
                </a:solidFill>
                <a:latin typeface="+mn-ea"/>
                <a:cs typeface="+mn-ea"/>
              </a:rPr>
              <a:t>13991282722      </a:t>
            </a:r>
            <a:r>
              <a:rPr kumimoji="1" lang="en-US" altLang="zh-CN" sz="2000" b="1" dirty="0">
                <a:solidFill>
                  <a:schemeClr val="tx1">
                    <a:lumMod val="65000"/>
                    <a:lumOff val="35000"/>
                  </a:schemeClr>
                </a:solidFill>
                <a:latin typeface="+mn-ea"/>
                <a:cs typeface="+mn-ea"/>
              </a:rPr>
              <a:t>   </a:t>
            </a:r>
            <a:endParaRPr kumimoji="1" lang="en-US" altLang="zh-CN" sz="2000" b="1" dirty="0">
              <a:solidFill>
                <a:schemeClr val="tx1">
                  <a:lumMod val="65000"/>
                  <a:lumOff val="35000"/>
                </a:schemeClr>
              </a:solidFill>
              <a:latin typeface="+mn-ea"/>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1755775" y="276860"/>
            <a:ext cx="4907490" cy="593090"/>
          </a:xfrm>
        </p:spPr>
        <p:txBody>
          <a:bodyPr/>
          <a:lstStyle/>
          <a:p>
            <a:r>
              <a:rPr lang="zh-CN" altLang="en-US" dirty="0"/>
              <a:t>编译器逻辑结构的组成</a:t>
            </a:r>
            <a:endParaRPr lang="zh-CN" altLang="en-US" dirty="0"/>
          </a:p>
        </p:txBody>
      </p:sp>
      <p:sp useBgFill="1">
        <p:nvSpPr>
          <p:cNvPr id="4" name="Rectangle 4"/>
          <p:cNvSpPr>
            <a:spLocks noChangeArrowheads="1"/>
          </p:cNvSpPr>
          <p:nvPr/>
        </p:nvSpPr>
        <p:spPr bwMode="auto">
          <a:xfrm>
            <a:off x="3081865" y="1467274"/>
            <a:ext cx="6019800" cy="4544053"/>
          </a:xfrm>
          <a:prstGeom prst="rect">
            <a:avLst/>
          </a:prstGeom>
          <a:ln w="38100" cap="rnd">
            <a:solidFill>
              <a:schemeClr val="tx1"/>
            </a:solidFill>
            <a:prstDash val="sysDot"/>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400" b="1">
              <a:latin typeface="+mn-ea"/>
            </a:endParaRPr>
          </a:p>
        </p:txBody>
      </p:sp>
      <p:sp useBgFill="1">
        <p:nvSpPr>
          <p:cNvPr id="6" name="Text Box 5"/>
          <p:cNvSpPr txBox="1">
            <a:spLocks noChangeArrowheads="1"/>
          </p:cNvSpPr>
          <p:nvPr/>
        </p:nvSpPr>
        <p:spPr bwMode="auto">
          <a:xfrm>
            <a:off x="3615265" y="3143674"/>
            <a:ext cx="609600" cy="2306955"/>
          </a:xfrm>
          <a:prstGeom prst="rect">
            <a:avLst/>
          </a:prstGeom>
          <a:ln w="28575">
            <a:solidFill>
              <a:schemeClr val="tx1"/>
            </a:solidFill>
            <a:miter lim="800000"/>
          </a:ln>
        </p:spPr>
        <p:txBody>
          <a:bodyPr>
            <a:spAutoFit/>
          </a:bodyPr>
          <a:lstStyle/>
          <a:p>
            <a:pPr>
              <a:spcBef>
                <a:spcPct val="50000"/>
              </a:spcBef>
            </a:pPr>
            <a:r>
              <a:rPr lang="zh-CN" altLang="en-US" sz="2400" b="1">
                <a:solidFill>
                  <a:srgbClr val="FF0066"/>
                </a:solidFill>
                <a:latin typeface="+mn-ea"/>
              </a:rPr>
              <a:t>词法分析程序</a:t>
            </a:r>
            <a:endParaRPr lang="zh-CN" altLang="en-US" sz="2400" b="1">
              <a:solidFill>
                <a:srgbClr val="FF0066"/>
              </a:solidFill>
              <a:latin typeface="+mn-ea"/>
            </a:endParaRPr>
          </a:p>
        </p:txBody>
      </p:sp>
      <p:sp useBgFill="1">
        <p:nvSpPr>
          <p:cNvPr id="7" name="Text Box 6"/>
          <p:cNvSpPr txBox="1">
            <a:spLocks noChangeArrowheads="1"/>
          </p:cNvSpPr>
          <p:nvPr/>
        </p:nvSpPr>
        <p:spPr bwMode="auto">
          <a:xfrm>
            <a:off x="4605865" y="3143674"/>
            <a:ext cx="533400" cy="2306955"/>
          </a:xfrm>
          <a:prstGeom prst="rect">
            <a:avLst/>
          </a:prstGeom>
          <a:ln w="28575">
            <a:solidFill>
              <a:schemeClr val="tx1"/>
            </a:solidFill>
            <a:miter lim="800000"/>
          </a:ln>
        </p:spPr>
        <p:txBody>
          <a:bodyPr>
            <a:spAutoFit/>
          </a:bodyPr>
          <a:lstStyle/>
          <a:p>
            <a:pPr>
              <a:spcBef>
                <a:spcPct val="50000"/>
              </a:spcBef>
            </a:pPr>
            <a:r>
              <a:rPr lang="zh-CN" altLang="en-US" sz="2400" b="1">
                <a:solidFill>
                  <a:srgbClr val="FF0066"/>
                </a:solidFill>
                <a:latin typeface="+mn-ea"/>
              </a:rPr>
              <a:t>语法分析程序</a:t>
            </a:r>
            <a:endParaRPr lang="zh-CN" altLang="en-US" sz="2400" b="1">
              <a:solidFill>
                <a:srgbClr val="FF0066"/>
              </a:solidFill>
              <a:latin typeface="+mn-ea"/>
            </a:endParaRPr>
          </a:p>
        </p:txBody>
      </p:sp>
      <p:sp useBgFill="1">
        <p:nvSpPr>
          <p:cNvPr id="8" name="Text Box 7"/>
          <p:cNvSpPr txBox="1">
            <a:spLocks noChangeArrowheads="1"/>
          </p:cNvSpPr>
          <p:nvPr/>
        </p:nvSpPr>
        <p:spPr bwMode="auto">
          <a:xfrm>
            <a:off x="5520265" y="3143674"/>
            <a:ext cx="533400" cy="2306955"/>
          </a:xfrm>
          <a:prstGeom prst="rect">
            <a:avLst/>
          </a:prstGeom>
          <a:ln w="28575">
            <a:solidFill>
              <a:schemeClr val="tx1"/>
            </a:solidFill>
            <a:miter lim="800000"/>
          </a:ln>
        </p:spPr>
        <p:txBody>
          <a:bodyPr>
            <a:spAutoFit/>
          </a:bodyPr>
          <a:lstStyle/>
          <a:p>
            <a:pPr>
              <a:spcBef>
                <a:spcPct val="50000"/>
              </a:spcBef>
            </a:pPr>
            <a:r>
              <a:rPr lang="zh-CN" altLang="en-US" sz="2400" b="1">
                <a:solidFill>
                  <a:srgbClr val="FF0066"/>
                </a:solidFill>
                <a:latin typeface="+mn-ea"/>
              </a:rPr>
              <a:t>语义分析程序</a:t>
            </a:r>
            <a:endParaRPr lang="zh-CN" altLang="en-US" sz="2400" b="1">
              <a:solidFill>
                <a:schemeClr val="hlink"/>
              </a:solidFill>
              <a:latin typeface="+mn-ea"/>
            </a:endParaRPr>
          </a:p>
        </p:txBody>
      </p:sp>
      <p:sp useBgFill="1">
        <p:nvSpPr>
          <p:cNvPr id="9" name="Text Box 8"/>
          <p:cNvSpPr txBox="1">
            <a:spLocks noChangeArrowheads="1"/>
          </p:cNvSpPr>
          <p:nvPr/>
        </p:nvSpPr>
        <p:spPr bwMode="auto">
          <a:xfrm>
            <a:off x="6434665" y="3143674"/>
            <a:ext cx="533400" cy="2306955"/>
          </a:xfrm>
          <a:prstGeom prst="rect">
            <a:avLst/>
          </a:prstGeom>
          <a:ln w="28575">
            <a:solidFill>
              <a:schemeClr val="tx1"/>
            </a:solidFill>
            <a:miter lim="800000"/>
          </a:ln>
        </p:spPr>
        <p:txBody>
          <a:bodyPr>
            <a:spAutoFit/>
          </a:bodyPr>
          <a:lstStyle/>
          <a:p>
            <a:pPr>
              <a:spcBef>
                <a:spcPct val="50000"/>
              </a:spcBef>
            </a:pPr>
            <a:r>
              <a:rPr lang="zh-CN" altLang="en-US" sz="2400" b="1">
                <a:solidFill>
                  <a:srgbClr val="FF0066"/>
                </a:solidFill>
                <a:latin typeface="+mn-ea"/>
              </a:rPr>
              <a:t>中间代码生成</a:t>
            </a:r>
            <a:endParaRPr lang="zh-CN" altLang="en-US" sz="2400" b="1">
              <a:solidFill>
                <a:schemeClr val="accent1"/>
              </a:solidFill>
              <a:latin typeface="+mn-ea"/>
            </a:endParaRPr>
          </a:p>
        </p:txBody>
      </p:sp>
      <p:sp useBgFill="1">
        <p:nvSpPr>
          <p:cNvPr id="10" name="Text Box 9"/>
          <p:cNvSpPr txBox="1">
            <a:spLocks noChangeArrowheads="1"/>
          </p:cNvSpPr>
          <p:nvPr/>
        </p:nvSpPr>
        <p:spPr bwMode="auto">
          <a:xfrm>
            <a:off x="7349065" y="3143674"/>
            <a:ext cx="533400" cy="2306955"/>
          </a:xfrm>
          <a:prstGeom prst="rect">
            <a:avLst/>
          </a:prstGeom>
          <a:ln w="28575">
            <a:solidFill>
              <a:schemeClr val="tx1"/>
            </a:solidFill>
            <a:miter lim="800000"/>
          </a:ln>
        </p:spPr>
        <p:txBody>
          <a:bodyPr>
            <a:spAutoFit/>
          </a:bodyPr>
          <a:lstStyle/>
          <a:p>
            <a:pPr>
              <a:spcBef>
                <a:spcPct val="50000"/>
              </a:spcBef>
            </a:pPr>
            <a:r>
              <a:rPr lang="zh-CN" altLang="en-US" sz="2400" b="1">
                <a:solidFill>
                  <a:srgbClr val="FF0066"/>
                </a:solidFill>
                <a:latin typeface="+mn-ea"/>
              </a:rPr>
              <a:t>代码优化程序</a:t>
            </a:r>
            <a:endParaRPr lang="zh-CN" altLang="en-US" sz="2400" b="1">
              <a:solidFill>
                <a:srgbClr val="FF0066"/>
              </a:solidFill>
              <a:latin typeface="+mn-ea"/>
            </a:endParaRPr>
          </a:p>
        </p:txBody>
      </p:sp>
      <p:sp useBgFill="1">
        <p:nvSpPr>
          <p:cNvPr id="11" name="Text Box 10"/>
          <p:cNvSpPr txBox="1">
            <a:spLocks noChangeArrowheads="1"/>
          </p:cNvSpPr>
          <p:nvPr/>
        </p:nvSpPr>
        <p:spPr bwMode="auto">
          <a:xfrm>
            <a:off x="8263465" y="3143674"/>
            <a:ext cx="533400" cy="2306955"/>
          </a:xfrm>
          <a:prstGeom prst="rect">
            <a:avLst/>
          </a:prstGeom>
          <a:ln w="28575">
            <a:solidFill>
              <a:schemeClr val="tx1"/>
            </a:solidFill>
            <a:miter lim="800000"/>
          </a:ln>
        </p:spPr>
        <p:txBody>
          <a:bodyPr>
            <a:spAutoFit/>
          </a:bodyPr>
          <a:lstStyle/>
          <a:p>
            <a:pPr>
              <a:spcBef>
                <a:spcPct val="50000"/>
              </a:spcBef>
            </a:pPr>
            <a:r>
              <a:rPr lang="zh-CN" altLang="en-US" sz="2400" b="1">
                <a:solidFill>
                  <a:srgbClr val="FF0066"/>
                </a:solidFill>
                <a:latin typeface="+mn-ea"/>
              </a:rPr>
              <a:t>目标代码生成</a:t>
            </a:r>
            <a:endParaRPr lang="zh-CN" altLang="en-US" sz="2400" b="1">
              <a:solidFill>
                <a:srgbClr val="FF0066"/>
              </a:solidFill>
              <a:latin typeface="+mn-ea"/>
            </a:endParaRPr>
          </a:p>
        </p:txBody>
      </p:sp>
      <p:sp useBgFill="1">
        <p:nvSpPr>
          <p:cNvPr id="13" name="AutoShape 11"/>
          <p:cNvSpPr>
            <a:spLocks noChangeArrowheads="1"/>
          </p:cNvSpPr>
          <p:nvPr/>
        </p:nvSpPr>
        <p:spPr bwMode="auto">
          <a:xfrm>
            <a:off x="2053165" y="3219874"/>
            <a:ext cx="838200" cy="1524000"/>
          </a:xfrm>
          <a:prstGeom prst="parallelogram">
            <a:avLst>
              <a:gd name="adj" fmla="val 25000"/>
            </a:avLst>
          </a:prstGeom>
          <a:ln w="28575">
            <a:solidFill>
              <a:schemeClr val="tx1"/>
            </a:solidFill>
            <a:miter lim="800000"/>
          </a:ln>
        </p:spPr>
        <p:txBody>
          <a:bodyPr wrap="none" anchor="ctr"/>
          <a:lstStyle/>
          <a:p>
            <a:pPr algn="ctr"/>
            <a:r>
              <a:rPr lang="zh-CN" altLang="en-US" sz="2400" b="1" dirty="0">
                <a:solidFill>
                  <a:srgbClr val="21212D"/>
                </a:solidFill>
                <a:latin typeface="+mn-ea"/>
              </a:rPr>
              <a:t>源</a:t>
            </a:r>
            <a:endParaRPr lang="zh-CN" altLang="en-US" sz="2400" b="1" dirty="0">
              <a:solidFill>
                <a:srgbClr val="21212D"/>
              </a:solidFill>
              <a:latin typeface="+mn-ea"/>
            </a:endParaRPr>
          </a:p>
          <a:p>
            <a:pPr algn="ctr"/>
            <a:r>
              <a:rPr lang="zh-CN" altLang="en-US" sz="2400" b="1" dirty="0">
                <a:solidFill>
                  <a:srgbClr val="21212D"/>
                </a:solidFill>
                <a:latin typeface="+mn-ea"/>
              </a:rPr>
              <a:t>代</a:t>
            </a:r>
            <a:endParaRPr lang="zh-CN" altLang="en-US" sz="2400" b="1" dirty="0">
              <a:solidFill>
                <a:srgbClr val="21212D"/>
              </a:solidFill>
              <a:latin typeface="+mn-ea"/>
            </a:endParaRPr>
          </a:p>
          <a:p>
            <a:pPr algn="ctr"/>
            <a:r>
              <a:rPr lang="zh-CN" altLang="en-US" sz="2400" b="1" dirty="0">
                <a:solidFill>
                  <a:srgbClr val="21212D"/>
                </a:solidFill>
                <a:latin typeface="+mn-ea"/>
              </a:rPr>
              <a:t>码</a:t>
            </a:r>
            <a:endParaRPr lang="zh-CN" altLang="en-US" sz="2400" b="1" dirty="0">
              <a:solidFill>
                <a:srgbClr val="21212D"/>
              </a:solidFill>
              <a:latin typeface="+mn-ea"/>
            </a:endParaRPr>
          </a:p>
        </p:txBody>
      </p:sp>
      <p:sp useBgFill="1">
        <p:nvSpPr>
          <p:cNvPr id="14" name="AutoShape 12"/>
          <p:cNvSpPr>
            <a:spLocks noChangeArrowheads="1"/>
          </p:cNvSpPr>
          <p:nvPr/>
        </p:nvSpPr>
        <p:spPr bwMode="auto">
          <a:xfrm>
            <a:off x="9482665" y="3143674"/>
            <a:ext cx="609600" cy="1905000"/>
          </a:xfrm>
          <a:prstGeom prst="parallelogram">
            <a:avLst>
              <a:gd name="adj" fmla="val 25000"/>
            </a:avLst>
          </a:prstGeom>
          <a:ln w="28575">
            <a:solidFill>
              <a:schemeClr val="tx1"/>
            </a:solidFill>
            <a:miter lim="800000"/>
          </a:ln>
        </p:spPr>
        <p:txBody>
          <a:bodyPr wrap="none" anchor="ctr"/>
          <a:lstStyle/>
          <a:p>
            <a:pPr algn="ctr"/>
            <a:r>
              <a:rPr lang="zh-CN" altLang="en-US" sz="2400" b="1">
                <a:solidFill>
                  <a:srgbClr val="21212D"/>
                </a:solidFill>
                <a:latin typeface="+mn-ea"/>
              </a:rPr>
              <a:t>目</a:t>
            </a:r>
            <a:endParaRPr lang="zh-CN" altLang="en-US" sz="2400" b="1">
              <a:solidFill>
                <a:srgbClr val="21212D"/>
              </a:solidFill>
              <a:latin typeface="+mn-ea"/>
            </a:endParaRPr>
          </a:p>
          <a:p>
            <a:pPr algn="ctr"/>
            <a:r>
              <a:rPr lang="zh-CN" altLang="en-US" sz="2400" b="1">
                <a:solidFill>
                  <a:srgbClr val="21212D"/>
                </a:solidFill>
                <a:latin typeface="+mn-ea"/>
              </a:rPr>
              <a:t>标</a:t>
            </a:r>
            <a:endParaRPr lang="zh-CN" altLang="en-US" sz="2400" b="1">
              <a:solidFill>
                <a:srgbClr val="21212D"/>
              </a:solidFill>
              <a:latin typeface="+mn-ea"/>
            </a:endParaRPr>
          </a:p>
          <a:p>
            <a:pPr algn="ctr"/>
            <a:r>
              <a:rPr lang="zh-CN" altLang="en-US" sz="2400" b="1">
                <a:solidFill>
                  <a:srgbClr val="21212D"/>
                </a:solidFill>
                <a:latin typeface="+mn-ea"/>
              </a:rPr>
              <a:t>代</a:t>
            </a:r>
            <a:endParaRPr lang="zh-CN" altLang="en-US" sz="2400" b="1">
              <a:solidFill>
                <a:srgbClr val="21212D"/>
              </a:solidFill>
              <a:latin typeface="+mn-ea"/>
            </a:endParaRPr>
          </a:p>
          <a:p>
            <a:pPr algn="ctr"/>
            <a:r>
              <a:rPr lang="zh-CN" altLang="en-US" sz="2400" b="1">
                <a:solidFill>
                  <a:srgbClr val="21212D"/>
                </a:solidFill>
                <a:latin typeface="+mn-ea"/>
              </a:rPr>
              <a:t>码</a:t>
            </a:r>
            <a:endParaRPr lang="zh-CN" altLang="en-US" sz="2400" b="1">
              <a:solidFill>
                <a:srgbClr val="21212D"/>
              </a:solidFill>
              <a:latin typeface="+mn-ea"/>
            </a:endParaRPr>
          </a:p>
        </p:txBody>
      </p:sp>
      <p:sp useBgFill="1">
        <p:nvSpPr>
          <p:cNvPr id="15" name="AutoShape 13"/>
          <p:cNvSpPr>
            <a:spLocks noChangeArrowheads="1"/>
          </p:cNvSpPr>
          <p:nvPr/>
        </p:nvSpPr>
        <p:spPr bwMode="auto">
          <a:xfrm>
            <a:off x="3386665" y="1619674"/>
            <a:ext cx="1524000" cy="533400"/>
          </a:xfrm>
          <a:prstGeom prst="roundRect">
            <a:avLst>
              <a:gd name="adj" fmla="val 16667"/>
            </a:avLst>
          </a:prstGeom>
          <a:ln w="25400">
            <a:solidFill>
              <a:schemeClr val="tx1"/>
            </a:solidFill>
            <a:miter lim="800000"/>
          </a:ln>
        </p:spPr>
        <p:txBody>
          <a:bodyPr wrap="none" anchor="ctr"/>
          <a:lstStyle/>
          <a:p>
            <a:pPr algn="ctr"/>
            <a:r>
              <a:rPr lang="zh-CN" altLang="en-US" sz="2400" b="1">
                <a:solidFill>
                  <a:srgbClr val="FF0066"/>
                </a:solidFill>
                <a:latin typeface="+mn-ea"/>
              </a:rPr>
              <a:t>常数表</a:t>
            </a:r>
            <a:endParaRPr lang="zh-CN" altLang="en-US" sz="2400" b="1">
              <a:solidFill>
                <a:srgbClr val="FF0066"/>
              </a:solidFill>
              <a:latin typeface="+mn-ea"/>
            </a:endParaRPr>
          </a:p>
        </p:txBody>
      </p:sp>
      <p:sp useBgFill="1">
        <p:nvSpPr>
          <p:cNvPr id="16" name="AutoShape 14"/>
          <p:cNvSpPr>
            <a:spLocks noChangeArrowheads="1"/>
          </p:cNvSpPr>
          <p:nvPr/>
        </p:nvSpPr>
        <p:spPr bwMode="auto">
          <a:xfrm>
            <a:off x="5063065" y="1619674"/>
            <a:ext cx="1371600" cy="533400"/>
          </a:xfrm>
          <a:prstGeom prst="roundRect">
            <a:avLst>
              <a:gd name="adj" fmla="val 16667"/>
            </a:avLst>
          </a:prstGeom>
          <a:ln w="25400">
            <a:solidFill>
              <a:schemeClr val="tx1"/>
            </a:solidFill>
            <a:miter lim="800000"/>
          </a:ln>
        </p:spPr>
        <p:txBody>
          <a:bodyPr wrap="none" anchor="ctr"/>
          <a:lstStyle/>
          <a:p>
            <a:pPr algn="ctr"/>
            <a:r>
              <a:rPr lang="zh-CN" altLang="en-US" sz="2400" b="1">
                <a:solidFill>
                  <a:srgbClr val="FF0066"/>
                </a:solidFill>
                <a:latin typeface="+mn-ea"/>
              </a:rPr>
              <a:t>符号表</a:t>
            </a:r>
            <a:endParaRPr lang="zh-CN" altLang="en-US" sz="2400" b="1">
              <a:solidFill>
                <a:srgbClr val="FF0000"/>
              </a:solidFill>
              <a:latin typeface="+mn-ea"/>
            </a:endParaRPr>
          </a:p>
        </p:txBody>
      </p:sp>
      <p:sp useBgFill="1">
        <p:nvSpPr>
          <p:cNvPr id="17" name="AutoShape 15"/>
          <p:cNvSpPr>
            <a:spLocks noChangeArrowheads="1"/>
          </p:cNvSpPr>
          <p:nvPr/>
        </p:nvSpPr>
        <p:spPr bwMode="auto">
          <a:xfrm>
            <a:off x="6663265" y="1619674"/>
            <a:ext cx="1905000" cy="533400"/>
          </a:xfrm>
          <a:prstGeom prst="roundRect">
            <a:avLst>
              <a:gd name="adj" fmla="val 16667"/>
            </a:avLst>
          </a:prstGeom>
          <a:ln w="25400">
            <a:solidFill>
              <a:schemeClr val="tx1"/>
            </a:solidFill>
            <a:miter lim="800000"/>
          </a:ln>
        </p:spPr>
        <p:txBody>
          <a:bodyPr wrap="none" anchor="ctr"/>
          <a:lstStyle/>
          <a:p>
            <a:pPr algn="ctr"/>
            <a:r>
              <a:rPr lang="zh-CN" altLang="en-US" sz="2400" b="1">
                <a:solidFill>
                  <a:srgbClr val="FF0066"/>
                </a:solidFill>
                <a:latin typeface="+mn-ea"/>
              </a:rPr>
              <a:t>错误处理器</a:t>
            </a:r>
            <a:endParaRPr lang="zh-CN" altLang="en-US" sz="2400" b="1">
              <a:solidFill>
                <a:srgbClr val="FF0066"/>
              </a:solidFill>
              <a:latin typeface="+mn-ea"/>
            </a:endParaRPr>
          </a:p>
        </p:txBody>
      </p:sp>
      <p:sp>
        <p:nvSpPr>
          <p:cNvPr id="18" name="Line 16"/>
          <p:cNvSpPr>
            <a:spLocks noChangeShapeType="1"/>
          </p:cNvSpPr>
          <p:nvPr/>
        </p:nvSpPr>
        <p:spPr bwMode="auto">
          <a:xfrm>
            <a:off x="2751666" y="4210474"/>
            <a:ext cx="863599"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19" name="Line 17"/>
          <p:cNvSpPr>
            <a:spLocks noChangeShapeType="1"/>
          </p:cNvSpPr>
          <p:nvPr/>
        </p:nvSpPr>
        <p:spPr bwMode="auto">
          <a:xfrm>
            <a:off x="4224865" y="4210474"/>
            <a:ext cx="3810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0" name="Line 18"/>
          <p:cNvSpPr>
            <a:spLocks noChangeShapeType="1"/>
          </p:cNvSpPr>
          <p:nvPr/>
        </p:nvSpPr>
        <p:spPr bwMode="auto">
          <a:xfrm>
            <a:off x="5139265" y="4210474"/>
            <a:ext cx="3810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1" name="Line 19"/>
          <p:cNvSpPr>
            <a:spLocks noChangeShapeType="1"/>
          </p:cNvSpPr>
          <p:nvPr/>
        </p:nvSpPr>
        <p:spPr bwMode="auto">
          <a:xfrm>
            <a:off x="6053665" y="4210474"/>
            <a:ext cx="3810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2" name="Line 20"/>
          <p:cNvSpPr>
            <a:spLocks noChangeShapeType="1"/>
          </p:cNvSpPr>
          <p:nvPr/>
        </p:nvSpPr>
        <p:spPr bwMode="auto">
          <a:xfrm>
            <a:off x="6968065" y="4210474"/>
            <a:ext cx="3810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3" name="Line 21"/>
          <p:cNvSpPr>
            <a:spLocks noChangeShapeType="1"/>
          </p:cNvSpPr>
          <p:nvPr/>
        </p:nvSpPr>
        <p:spPr bwMode="auto">
          <a:xfrm>
            <a:off x="7882465" y="4210474"/>
            <a:ext cx="3810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4" name="Line 22"/>
          <p:cNvSpPr>
            <a:spLocks noChangeShapeType="1"/>
          </p:cNvSpPr>
          <p:nvPr/>
        </p:nvSpPr>
        <p:spPr bwMode="auto">
          <a:xfrm>
            <a:off x="8796864" y="4210474"/>
            <a:ext cx="711201"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5" name="Line 23"/>
          <p:cNvSpPr>
            <a:spLocks noChangeShapeType="1"/>
          </p:cNvSpPr>
          <p:nvPr/>
        </p:nvSpPr>
        <p:spPr bwMode="auto">
          <a:xfrm>
            <a:off x="4377265" y="2153074"/>
            <a:ext cx="1371600" cy="4572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6" name="Line 24"/>
          <p:cNvSpPr>
            <a:spLocks noChangeShapeType="1"/>
          </p:cNvSpPr>
          <p:nvPr/>
        </p:nvSpPr>
        <p:spPr bwMode="auto">
          <a:xfrm>
            <a:off x="5748865" y="2153074"/>
            <a:ext cx="0" cy="4572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7" name="Line 25"/>
          <p:cNvSpPr>
            <a:spLocks noChangeShapeType="1"/>
          </p:cNvSpPr>
          <p:nvPr/>
        </p:nvSpPr>
        <p:spPr bwMode="auto">
          <a:xfrm flipV="1">
            <a:off x="5748865" y="2153074"/>
            <a:ext cx="1600200" cy="4572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8" name="Line 26"/>
          <p:cNvSpPr>
            <a:spLocks noChangeShapeType="1"/>
          </p:cNvSpPr>
          <p:nvPr/>
        </p:nvSpPr>
        <p:spPr bwMode="auto">
          <a:xfrm flipV="1">
            <a:off x="3920065" y="2610274"/>
            <a:ext cx="1828800" cy="5334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29" name="Line 27"/>
          <p:cNvSpPr>
            <a:spLocks noChangeShapeType="1"/>
          </p:cNvSpPr>
          <p:nvPr/>
        </p:nvSpPr>
        <p:spPr bwMode="auto">
          <a:xfrm flipV="1">
            <a:off x="4834465" y="2610274"/>
            <a:ext cx="914400" cy="5334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0" name="Line 28"/>
          <p:cNvSpPr>
            <a:spLocks noChangeShapeType="1"/>
          </p:cNvSpPr>
          <p:nvPr/>
        </p:nvSpPr>
        <p:spPr bwMode="auto">
          <a:xfrm flipH="1" flipV="1">
            <a:off x="5748865" y="2610274"/>
            <a:ext cx="0" cy="5334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1" name="Line 29"/>
          <p:cNvSpPr>
            <a:spLocks noChangeShapeType="1"/>
          </p:cNvSpPr>
          <p:nvPr/>
        </p:nvSpPr>
        <p:spPr bwMode="auto">
          <a:xfrm flipH="1" flipV="1">
            <a:off x="5748865" y="2610274"/>
            <a:ext cx="838200" cy="5334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2" name="Line 30"/>
          <p:cNvSpPr>
            <a:spLocks noChangeShapeType="1"/>
          </p:cNvSpPr>
          <p:nvPr/>
        </p:nvSpPr>
        <p:spPr bwMode="auto">
          <a:xfrm flipH="1" flipV="1">
            <a:off x="5748865" y="2610274"/>
            <a:ext cx="1752600" cy="5334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3" name="Line 31"/>
          <p:cNvSpPr>
            <a:spLocks noChangeShapeType="1"/>
          </p:cNvSpPr>
          <p:nvPr/>
        </p:nvSpPr>
        <p:spPr bwMode="auto">
          <a:xfrm flipH="1" flipV="1">
            <a:off x="5748865" y="2610274"/>
            <a:ext cx="2667000" cy="533400"/>
          </a:xfrm>
          <a:prstGeom prst="line">
            <a:avLst/>
          </a:prstGeom>
          <a:noFill/>
          <a:ln w="12700">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3" name="矩形 2"/>
          <p:cNvSpPr/>
          <p:nvPr/>
        </p:nvSpPr>
        <p:spPr>
          <a:xfrm>
            <a:off x="5394960" y="3049905"/>
            <a:ext cx="3526155" cy="2496185"/>
          </a:xfrm>
          <a:prstGeom prst="rect">
            <a:avLst/>
          </a:prstGeom>
          <a:solidFill>
            <a:schemeClr val="bg1">
              <a:alpha val="0"/>
            </a:schemeClr>
          </a:solidFill>
          <a:ln w="66675" cmpd="sng">
            <a:solidFill>
              <a:srgbClr val="D8384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zh-CN" altLang="en-US"/>
              <a:t>第</a:t>
            </a:r>
            <a:r>
              <a:rPr lang="en-US" altLang="zh-CN"/>
              <a:t>5</a:t>
            </a:r>
            <a:r>
              <a:rPr lang="zh-CN" altLang="en-US"/>
              <a:t>章 语义分析</a:t>
            </a:r>
            <a:endParaRPr lang="zh-CN" altLang="en-US" dirty="0"/>
          </a:p>
        </p:txBody>
      </p:sp>
      <p:sp>
        <p:nvSpPr>
          <p:cNvPr id="5" name="Rectangle 5"/>
          <p:cNvSpPr txBox="1">
            <a:spLocks noChangeArrowheads="1"/>
          </p:cNvSpPr>
          <p:nvPr/>
        </p:nvSpPr>
        <p:spPr>
          <a:xfrm>
            <a:off x="365125" y="1230630"/>
            <a:ext cx="11505565" cy="43008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b="1" dirty="0"/>
              <a:t>程序设计语言</a:t>
            </a:r>
            <a:r>
              <a:rPr lang="zh-CN" altLang="en-US" b="1" dirty="0"/>
              <a:t>的语义分为静态语义和动态语义两种。</a:t>
            </a:r>
            <a:r>
              <a:rPr lang="zh-CN" altLang="en-US" b="1" dirty="0">
                <a:sym typeface="+mn-ea"/>
              </a:rPr>
              <a:t>静态语义检查能在编译阶段发现问题，而动态语义检查则弥补了运行时的不可预测性。</a:t>
            </a:r>
            <a:endParaRPr lang="zh-CN" altLang="en-US" b="1" dirty="0"/>
          </a:p>
          <a:p>
            <a:pPr lvl="1">
              <a:lnSpc>
                <a:spcPct val="120000"/>
              </a:lnSpc>
              <a:buFont typeface="Wingdings" panose="05000000000000000000" charset="0"/>
              <a:buChar char="p"/>
            </a:pPr>
            <a:r>
              <a:rPr lang="zh-CN" altLang="en-US" sz="2000" b="1" dirty="0"/>
              <a:t>静态语义是指在编译阶段能够检查的语义；</a:t>
            </a:r>
            <a:endParaRPr lang="zh-CN" altLang="en-US" sz="2000" b="1" dirty="0"/>
          </a:p>
          <a:p>
            <a:pPr lvl="2">
              <a:lnSpc>
                <a:spcPct val="120000"/>
              </a:lnSpc>
              <a:buFont typeface="Wingdings" panose="05000000000000000000" charset="0"/>
              <a:buChar char="p"/>
            </a:pPr>
            <a:r>
              <a:rPr lang="zh-CN" altLang="en-US" sz="1800" b="1" dirty="0"/>
              <a:t>例如：？</a:t>
            </a:r>
            <a:endParaRPr lang="zh-CN" altLang="en-US" sz="1800" b="1" dirty="0"/>
          </a:p>
          <a:p>
            <a:pPr lvl="1">
              <a:lnSpc>
                <a:spcPct val="120000"/>
              </a:lnSpc>
              <a:buFont typeface="Wingdings" panose="05000000000000000000" charset="0"/>
              <a:buChar char="p"/>
            </a:pPr>
            <a:r>
              <a:rPr lang="zh-CN" altLang="en-US" sz="2000" b="1" dirty="0"/>
              <a:t>动态语义是指在目标程序运行阶段能够检查的语义。</a:t>
            </a:r>
            <a:endParaRPr lang="zh-CN" altLang="en-US" sz="2000" b="1" dirty="0"/>
          </a:p>
          <a:p>
            <a:pPr lvl="2">
              <a:lnSpc>
                <a:spcPct val="120000"/>
              </a:lnSpc>
              <a:buFont typeface="Wingdings" panose="05000000000000000000" charset="0"/>
              <a:buChar char="p"/>
            </a:pPr>
            <a:r>
              <a:rPr lang="zh-CN" altLang="en-US" sz="1800" b="1" dirty="0"/>
              <a:t>例如：？</a:t>
            </a:r>
            <a:endParaRPr lang="zh-CN" altLang="en-US" sz="1800" b="1" dirty="0"/>
          </a:p>
          <a:p>
            <a:pPr algn="just">
              <a:lnSpc>
                <a:spcPct val="125000"/>
              </a:lnSpc>
              <a:spcBef>
                <a:spcPct val="0"/>
              </a:spcBef>
              <a:spcAft>
                <a:spcPts val="0"/>
              </a:spcAft>
              <a:buFont typeface="Wingdings" panose="05000000000000000000" charset="0"/>
              <a:buChar char="p"/>
            </a:pPr>
            <a:r>
              <a:rPr lang="zh-CN" altLang="en-US" sz="2800" b="1" dirty="0">
                <a:latin typeface="+mn-ea"/>
                <a:sym typeface="+mn-ea"/>
              </a:rPr>
              <a:t>语义分析的任务：</a:t>
            </a:r>
            <a:endParaRPr lang="zh-CN" altLang="en-US" sz="2800" b="1" dirty="0">
              <a:latin typeface="+mn-ea"/>
            </a:endParaRPr>
          </a:p>
          <a:p>
            <a:pPr marL="967105" lvl="1" indent="-495300" algn="just">
              <a:lnSpc>
                <a:spcPct val="125000"/>
              </a:lnSpc>
              <a:spcBef>
                <a:spcPct val="0"/>
              </a:spcBef>
              <a:spcAft>
                <a:spcPts val="0"/>
              </a:spcAft>
              <a:buFont typeface="Wingdings" panose="05000000000000000000" charset="0"/>
              <a:buChar char="p"/>
            </a:pPr>
            <a:r>
              <a:rPr lang="zh-CN" altLang="en-US" b="1" dirty="0">
                <a:solidFill>
                  <a:srgbClr val="0070C0"/>
                </a:solidFill>
                <a:latin typeface="+mn-ea"/>
                <a:sym typeface="+mn-ea"/>
              </a:rPr>
              <a:t>计算各类语法成分的语义信息(属性信息</a:t>
            </a:r>
            <a:r>
              <a:rPr lang="en-US" altLang="zh-CN" b="1" dirty="0">
                <a:solidFill>
                  <a:srgbClr val="0070C0"/>
                </a:solidFill>
                <a:latin typeface="+mn-ea"/>
                <a:sym typeface="+mn-ea"/>
              </a:rPr>
              <a:t>)，</a:t>
            </a:r>
            <a:r>
              <a:rPr lang="zh-CN" altLang="en-US" b="1" dirty="0">
                <a:latin typeface="+mn-ea"/>
                <a:sym typeface="+mn-ea"/>
              </a:rPr>
              <a:t>一般将收集的语义信息存放到相应的信息表中，在编译程序中</a:t>
            </a:r>
            <a:r>
              <a:rPr lang="zh-CN" altLang="en-US" b="1" dirty="0">
                <a:solidFill>
                  <a:srgbClr val="0070C0"/>
                </a:solidFill>
                <a:latin typeface="+mn-ea"/>
                <a:sym typeface="+mn-ea"/>
              </a:rPr>
              <a:t>符号表</a:t>
            </a:r>
            <a:r>
              <a:rPr lang="zh-CN" altLang="en-US" b="1" dirty="0">
                <a:latin typeface="+mn-ea"/>
                <a:sym typeface="+mn-ea"/>
              </a:rPr>
              <a:t>是用来存放源程序中标示符相关属性(语义</a:t>
            </a:r>
            <a:r>
              <a:rPr lang="en-US" altLang="zh-CN" b="1" dirty="0">
                <a:latin typeface="+mn-ea"/>
                <a:sym typeface="+mn-ea"/>
              </a:rPr>
              <a:t>)</a:t>
            </a:r>
            <a:r>
              <a:rPr lang="zh-CN" altLang="en-US" b="1" dirty="0">
                <a:latin typeface="+mn-ea"/>
                <a:sym typeface="+mn-ea"/>
              </a:rPr>
              <a:t>信息的一种信息表。</a:t>
            </a:r>
            <a:endParaRPr lang="zh-CN" altLang="en-US" b="1" dirty="0">
              <a:latin typeface="+mn-ea"/>
            </a:endParaRPr>
          </a:p>
          <a:p>
            <a:pPr marL="1386205" lvl="2" indent="-457200" algn="just">
              <a:lnSpc>
                <a:spcPct val="125000"/>
              </a:lnSpc>
              <a:spcBef>
                <a:spcPct val="0"/>
              </a:spcBef>
              <a:spcAft>
                <a:spcPts val="0"/>
              </a:spcAft>
              <a:buFont typeface="Wingdings" panose="05000000000000000000" charset="0"/>
              <a:buChar char="p"/>
            </a:pPr>
            <a:r>
              <a:rPr lang="zh-CN" altLang="en-US" sz="2400" b="1" dirty="0">
                <a:latin typeface="+mn-ea"/>
                <a:sym typeface="+mn-ea"/>
              </a:rPr>
              <a:t>举例：</a:t>
            </a:r>
            <a:r>
              <a:rPr lang="zh-CN" altLang="en-US" sz="2400" b="1" dirty="0">
                <a:latin typeface="+mn-ea"/>
                <a:sym typeface="+mn-ea"/>
                <a:hlinkClick r:id="rId1" action="ppaction://hlinkfile"/>
              </a:rPr>
              <a:t>符号表存储语义信息示例</a:t>
            </a:r>
            <a:endParaRPr lang="zh-CN" altLang="en-US" sz="2400" b="1" dirty="0">
              <a:latin typeface="+mn-ea"/>
              <a:hlinkClick r:id="rId1" action="ppaction://hlinkfile"/>
            </a:endParaRPr>
          </a:p>
          <a:p>
            <a:pPr lvl="0">
              <a:lnSpc>
                <a:spcPct val="120000"/>
              </a:lnSpc>
              <a:buFont typeface="Wingdings" panose="05000000000000000000" charset="0"/>
              <a:buChar char="p"/>
            </a:pPr>
            <a:endParaRPr lang="zh-CN" altLang="en-US" sz="2400" b="1" dirty="0">
              <a:latin typeface="+mn-ea"/>
              <a:hlinkClick r:id="rId1" action="ppaction://hlinkfil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zh-CN" altLang="en-US"/>
              <a:t>第</a:t>
            </a:r>
            <a:r>
              <a:rPr lang="en-US" altLang="zh-CN"/>
              <a:t>5</a:t>
            </a:r>
            <a:r>
              <a:rPr lang="zh-CN" altLang="en-US"/>
              <a:t>章 语义分析</a:t>
            </a:r>
            <a:endParaRPr lang="en-US" altLang="zh-CN" dirty="0"/>
          </a:p>
        </p:txBody>
      </p:sp>
      <p:sp>
        <p:nvSpPr>
          <p:cNvPr id="5" name="内容占位符 8"/>
          <p:cNvSpPr txBox="1">
            <a:spLocks noChangeArrowheads="1"/>
          </p:cNvSpPr>
          <p:nvPr/>
        </p:nvSpPr>
        <p:spPr>
          <a:xfrm>
            <a:off x="308610" y="1221105"/>
            <a:ext cx="11546840" cy="50241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sz="3200" b="1" dirty="0">
                <a:latin typeface="+mn-ea"/>
              </a:rPr>
              <a:t>语义分析的任务：</a:t>
            </a:r>
            <a:endParaRPr lang="en-US" altLang="zh-CN" sz="3200" b="1" dirty="0">
              <a:latin typeface="+mn-ea"/>
            </a:endParaRPr>
          </a:p>
          <a:p>
            <a:pPr marL="967105" lvl="1" indent="-495300">
              <a:lnSpc>
                <a:spcPct val="120000"/>
              </a:lnSpc>
              <a:buFont typeface="Wingdings" panose="05000000000000000000" charset="0"/>
              <a:buChar char="p"/>
            </a:pPr>
            <a:r>
              <a:rPr lang="zh-CN" altLang="en-US" sz="2800" b="1" dirty="0">
                <a:latin typeface="+mn-ea"/>
                <a:hlinkClick r:id="rId1" action="ppaction://hlinkfile"/>
              </a:rPr>
              <a:t>静态语义检查举例</a:t>
            </a:r>
            <a:r>
              <a:rPr lang="zh-CN" altLang="en-US" sz="2800" b="1" dirty="0">
                <a:latin typeface="+mn-ea"/>
              </a:rPr>
              <a:t>：</a:t>
            </a:r>
            <a:endParaRPr lang="zh-CN" altLang="en-US" sz="2800" b="1" dirty="0">
              <a:latin typeface="+mn-ea"/>
            </a:endParaRPr>
          </a:p>
          <a:p>
            <a:pPr marL="1348105" lvl="2" indent="-438150" algn="just">
              <a:lnSpc>
                <a:spcPct val="120000"/>
              </a:lnSpc>
              <a:buFont typeface="Wingdings" panose="05000000000000000000" charset="0"/>
              <a:buChar char="p"/>
            </a:pPr>
            <a:r>
              <a:rPr lang="zh-CN" altLang="en-US" sz="2400" b="1" dirty="0">
                <a:solidFill>
                  <a:srgbClr val="0070C0"/>
                </a:solidFill>
                <a:latin typeface="+mn-ea"/>
              </a:rPr>
              <a:t>类型检查：指类型相容问题的检查，如果操作符作用于不相容的操作数，则编译器应该报错。</a:t>
            </a:r>
            <a:endParaRPr lang="zh-CN" altLang="en-US" sz="2400" b="1" dirty="0">
              <a:solidFill>
                <a:srgbClr val="0070C0"/>
              </a:solidFill>
              <a:latin typeface="+mn-ea"/>
            </a:endParaRPr>
          </a:p>
          <a:p>
            <a:pPr marL="1348105" lvl="2" indent="-438150" algn="just">
              <a:lnSpc>
                <a:spcPct val="120000"/>
              </a:lnSpc>
              <a:buFont typeface="Wingdings" panose="05000000000000000000" charset="0"/>
              <a:buChar char="p"/>
            </a:pPr>
            <a:r>
              <a:rPr lang="zh-CN" altLang="en-US" sz="2400" b="1" dirty="0">
                <a:solidFill>
                  <a:srgbClr val="0070C0"/>
                </a:solidFill>
                <a:latin typeface="+mn-ea"/>
              </a:rPr>
              <a:t>上下文有关问题的检查</a:t>
            </a:r>
            <a:r>
              <a:rPr lang="zh-CN" altLang="en-US" sz="2400" b="1" dirty="0">
                <a:latin typeface="+mn-ea"/>
              </a:rPr>
              <a:t>：当某个对象出现时，要求它必须在前面的某个适当位置已经出现过。</a:t>
            </a:r>
            <a:endParaRPr lang="zh-CN" altLang="en-US" sz="2400" b="1" dirty="0">
              <a:latin typeface="+mn-ea"/>
            </a:endParaRPr>
          </a:p>
          <a:p>
            <a:pPr marL="1348105" lvl="2" indent="-438150" algn="just">
              <a:lnSpc>
                <a:spcPct val="120000"/>
              </a:lnSpc>
              <a:buFont typeface="Wingdings" panose="05000000000000000000" charset="0"/>
              <a:buChar char="p"/>
            </a:pPr>
            <a:r>
              <a:rPr lang="zh-CN" altLang="en-US" sz="2400" b="1" dirty="0">
                <a:latin typeface="+mn-ea"/>
                <a:sym typeface="+mn-ea"/>
              </a:rPr>
              <a:t>数组下标是否是整数？</a:t>
            </a:r>
            <a:endParaRPr lang="zh-CN" altLang="en-US" sz="2400" b="1" dirty="0">
              <a:latin typeface="+mn-ea"/>
            </a:endParaRPr>
          </a:p>
          <a:p>
            <a:pPr marL="1348105" lvl="2" indent="-438150" algn="just">
              <a:lnSpc>
                <a:spcPct val="120000"/>
              </a:lnSpc>
              <a:buFont typeface="Wingdings" panose="05000000000000000000" charset="0"/>
              <a:buChar char="p"/>
            </a:pPr>
            <a:r>
              <a:rPr lang="zh-CN" altLang="en-US" sz="2400" b="1" dirty="0">
                <a:latin typeface="+mn-ea"/>
              </a:rPr>
              <a:t>控制流检查：引起控制流从某个结构中跳转出来的语句，必须能够决定控制流转向的目标地址。</a:t>
            </a:r>
            <a:endParaRPr lang="zh-CN" altLang="en-US" sz="2400" b="1" dirty="0">
              <a:latin typeface="+mn-ea"/>
            </a:endParaRPr>
          </a:p>
          <a:p>
            <a:pPr marL="1348105" lvl="2" indent="-438150" algn="just">
              <a:lnSpc>
                <a:spcPct val="120000"/>
              </a:lnSpc>
              <a:buFont typeface="Wingdings" panose="05000000000000000000" charset="0"/>
              <a:buChar char="p"/>
            </a:pPr>
            <a:r>
              <a:rPr lang="zh-CN" altLang="en-US" sz="2400" b="1" dirty="0">
                <a:latin typeface="+mn-ea"/>
              </a:rPr>
              <a:t>？</a:t>
            </a:r>
            <a:r>
              <a:rPr lang="zh-CN" altLang="en-US" sz="2400" b="1" dirty="0">
                <a:latin typeface="+mn-ea"/>
              </a:rPr>
              <a:t>举例</a:t>
            </a:r>
            <a:endParaRPr lang="zh-CN" altLang="en-US" sz="2400" b="1" dirty="0">
              <a:latin typeface="+mn-ea"/>
            </a:endParaRPr>
          </a:p>
          <a:p>
            <a:pPr marL="1348105" lvl="2" indent="-438150" algn="just">
              <a:lnSpc>
                <a:spcPct val="120000"/>
              </a:lnSpc>
            </a:pPr>
            <a:endParaRPr lang="zh-CN" altLang="en-US"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arn(inHorizontal)">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barn(inHorizontal)">
                                      <p:cBhvr>
                                        <p:cTn id="12" dur="500"/>
                                        <p:tgtEl>
                                          <p:spTgt spid="5">
                                            <p:txEl>
                                              <p:pRg st="3" end="3"/>
                                            </p:txEl>
                                          </p:spTgt>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barn(inHorizontal)">
                                      <p:cBhvr>
                                        <p:cTn id="15" dur="500"/>
                                        <p:tgtEl>
                                          <p:spTgt spid="5">
                                            <p:txEl>
                                              <p:pRg st="4" end="4"/>
                                            </p:txEl>
                                          </p:spTgt>
                                        </p:tgtEl>
                                      </p:cBhvr>
                                    </p:animEffect>
                                  </p:childTnLst>
                                </p:cTn>
                              </p:par>
                              <p:par>
                                <p:cTn id="16" presetID="16" presetClass="entr" presetSubtype="26" fill="hold" grpId="0" nodeType="with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barn(inHorizontal)">
                                      <p:cBhvr>
                                        <p:cTn id="18" dur="500"/>
                                        <p:tgtEl>
                                          <p:spTgt spid="5">
                                            <p:txEl>
                                              <p:pRg st="5" end="5"/>
                                            </p:txEl>
                                          </p:spTgt>
                                        </p:tgtEl>
                                      </p:cBhvr>
                                    </p:animEffect>
                                  </p:childTnLst>
                                </p:cTn>
                              </p:par>
                              <p:par>
                                <p:cTn id="19" presetID="16" presetClass="entr" presetSubtype="26"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barn(inHorizontal)">
                                      <p:cBhvr>
                                        <p:cTn id="21"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a:t>第</a:t>
            </a:r>
            <a:r>
              <a:rPr lang="en-US" altLang="zh-CN"/>
              <a:t>5</a:t>
            </a:r>
            <a:r>
              <a:rPr lang="zh-CN" altLang="en-US"/>
              <a:t>单元 语义分析</a:t>
            </a:r>
            <a:endParaRPr lang="zh-CN" altLang="en-US" dirty="0"/>
          </a:p>
        </p:txBody>
      </p:sp>
      <p:sp>
        <p:nvSpPr>
          <p:cNvPr id="24" name="文本占位符 23"/>
          <p:cNvSpPr>
            <a:spLocks noGrp="1"/>
          </p:cNvSpPr>
          <p:nvPr>
            <p:ph type="body" sz="quarter" idx="14"/>
          </p:nvPr>
        </p:nvSpPr>
        <p:spPr/>
        <p:txBody>
          <a:bodyPr/>
          <a:lstStyle/>
          <a:p>
            <a:r>
              <a:rPr lang="en-US" altLang="zh-CN"/>
              <a:t>5.1 </a:t>
            </a:r>
            <a:r>
              <a:rPr lang="zh-CN" altLang="en-US"/>
              <a:t>属性和属性文法</a:t>
            </a:r>
            <a:endParaRPr lang="zh-CN" altLang="en-US"/>
          </a:p>
          <a:p>
            <a:r>
              <a:rPr lang="en-US" altLang="zh-CN"/>
              <a:t>5.2 </a:t>
            </a:r>
            <a:r>
              <a:rPr lang="zh-CN" altLang="en-US"/>
              <a:t>符号表</a:t>
            </a:r>
            <a:endParaRPr lang="zh-CN" altLang="en-US"/>
          </a:p>
          <a:p>
            <a:r>
              <a:rPr lang="en-US" altLang="zh-CN"/>
              <a:t>5.3 </a:t>
            </a:r>
            <a:r>
              <a:rPr lang="zh-CN" altLang="en-US"/>
              <a:t>数据类型和类型检查</a:t>
            </a:r>
            <a:endParaRPr lang="zh-CN" altLang="en-US" dirty="0"/>
          </a:p>
        </p:txBody>
      </p:sp>
      <p:sp>
        <p:nvSpPr>
          <p:cNvPr id="18" name="文本占位符 17"/>
          <p:cNvSpPr>
            <a:spLocks noGrp="1"/>
          </p:cNvSpPr>
          <p:nvPr>
            <p:ph type="body" sz="quarter" idx="15"/>
          </p:nvPr>
        </p:nvSpPr>
        <p:spPr/>
        <p:txBody>
          <a:bodyPr>
            <a:normAutofit lnSpcReduction="20000"/>
          </a:bodyPr>
          <a:lstStyle/>
          <a:p>
            <a:endParaRPr lang="zh-CN" altLang="en-US"/>
          </a:p>
        </p:txBody>
      </p:sp>
      <p:sp useBgFill="1">
        <p:nvSpPr>
          <p:cNvPr id="5" name="AutoShape 5"/>
          <p:cNvSpPr>
            <a:spLocks noChangeArrowheads="1"/>
          </p:cNvSpPr>
          <p:nvPr/>
        </p:nvSpPr>
        <p:spPr bwMode="auto">
          <a:xfrm>
            <a:off x="6127750" y="1953895"/>
            <a:ext cx="3964305" cy="743585"/>
          </a:xfrm>
          <a:prstGeom prst="cloudCallout">
            <a:avLst>
              <a:gd name="adj1" fmla="val -62147"/>
              <a:gd name="adj2" fmla="val 34660"/>
            </a:avLst>
          </a:prstGeom>
          <a:ln w="9525">
            <a:solidFill>
              <a:schemeClr val="tx1"/>
            </a:solidFill>
            <a:miter lim="800000"/>
          </a:ln>
        </p:spPr>
        <p:txBody>
          <a:bodyPr/>
          <a:lstStyle/>
          <a:p>
            <a:pPr algn="ctr"/>
            <a:r>
              <a:rPr lang="zh-CN" altLang="en-US" sz="2400" b="1" dirty="0">
                <a:solidFill>
                  <a:srgbClr val="0070C0"/>
                </a:solidFill>
                <a:latin typeface="+mn-ea"/>
              </a:rPr>
              <a:t>语义</a:t>
            </a:r>
            <a:r>
              <a:rPr lang="zh-CN" altLang="en-US" sz="2400" b="1" dirty="0">
                <a:solidFill>
                  <a:srgbClr val="0070C0"/>
                </a:solidFill>
                <a:latin typeface="+mn-ea"/>
              </a:rPr>
              <a:t>分析技术</a:t>
            </a:r>
            <a:endParaRPr lang="zh-CN" altLang="en-US" sz="2400" b="1" dirty="0">
              <a:solidFill>
                <a:srgbClr val="0070C0"/>
              </a:solidFill>
              <a:latin typeface="+mn-ea"/>
            </a:endParaRPr>
          </a:p>
        </p:txBody>
      </p:sp>
      <p:sp useBgFill="1">
        <p:nvSpPr>
          <p:cNvPr id="6" name="AutoShape 6"/>
          <p:cNvSpPr>
            <a:spLocks noChangeArrowheads="1"/>
          </p:cNvSpPr>
          <p:nvPr/>
        </p:nvSpPr>
        <p:spPr bwMode="auto">
          <a:xfrm>
            <a:off x="6410009" y="3935836"/>
            <a:ext cx="3265487" cy="1264708"/>
          </a:xfrm>
          <a:prstGeom prst="cloudCallout">
            <a:avLst>
              <a:gd name="adj1" fmla="val -95512"/>
              <a:gd name="adj2" fmla="val -73205"/>
            </a:avLst>
          </a:prstGeom>
          <a:ln w="9525">
            <a:solidFill>
              <a:schemeClr val="tx1"/>
            </a:solidFill>
            <a:miter lim="800000"/>
          </a:ln>
        </p:spPr>
        <p:txBody>
          <a:bodyPr/>
          <a:lstStyle/>
          <a:p>
            <a:pPr algn="ctr"/>
            <a:r>
              <a:rPr lang="zh-CN" altLang="en-US" sz="2400" b="1" dirty="0">
                <a:solidFill>
                  <a:srgbClr val="0070C0"/>
                </a:solidFill>
                <a:latin typeface="+mn-ea"/>
              </a:rPr>
              <a:t>语义分析的两个主要方面</a:t>
            </a:r>
            <a:endParaRPr lang="zh-CN" altLang="en-US" sz="2400" b="1" dirty="0">
              <a:solidFill>
                <a:srgbClr val="0070C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64490" y="276860"/>
            <a:ext cx="5927725" cy="593090"/>
          </a:xfrm>
        </p:spPr>
        <p:txBody>
          <a:bodyPr/>
          <a:lstStyle/>
          <a:p>
            <a:r>
              <a:rPr lang="en-US" altLang="zh-CN"/>
              <a:t>5.1.1 </a:t>
            </a:r>
            <a:r>
              <a:rPr lang="zh-CN" altLang="en-US"/>
              <a:t>属性和属性文法</a:t>
            </a:r>
            <a:endParaRPr lang="zh-CN" altLang="en-US" dirty="0"/>
          </a:p>
        </p:txBody>
      </p:sp>
      <p:sp>
        <p:nvSpPr>
          <p:cNvPr id="5" name="Rectangle 3"/>
          <p:cNvSpPr txBox="1">
            <a:spLocks noChangeArrowheads="1"/>
          </p:cNvSpPr>
          <p:nvPr/>
        </p:nvSpPr>
        <p:spPr>
          <a:xfrm>
            <a:off x="365125" y="1196975"/>
            <a:ext cx="6743700" cy="49237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5000"/>
              </a:lnSpc>
              <a:buFont typeface="Wingdings" panose="05000000000000000000" charset="0"/>
              <a:buChar char="p"/>
            </a:pPr>
            <a:r>
              <a:rPr lang="zh-CN" altLang="en-US" b="1" dirty="0">
                <a:solidFill>
                  <a:srgbClr val="03010F"/>
                </a:solidFill>
                <a:latin typeface="+mn-ea"/>
              </a:rPr>
              <a:t>没有形式化系统描述程序设计语言完整语义，但存在</a:t>
            </a:r>
            <a:r>
              <a:rPr lang="zh-CN" altLang="en-US" sz="3200" b="1" dirty="0">
                <a:solidFill>
                  <a:srgbClr val="0070C0"/>
                </a:solidFill>
                <a:latin typeface="+mn-ea"/>
              </a:rPr>
              <a:t>属性文法</a:t>
            </a:r>
            <a:r>
              <a:rPr lang="en-US" altLang="zh-CN" b="1" dirty="0">
                <a:solidFill>
                  <a:srgbClr val="03010F"/>
                </a:solidFill>
                <a:latin typeface="+mn-ea"/>
              </a:rPr>
              <a:t>，</a:t>
            </a:r>
            <a:r>
              <a:rPr lang="zh-CN" altLang="en-US" b="1" dirty="0">
                <a:solidFill>
                  <a:srgbClr val="03010F"/>
                </a:solidFill>
                <a:latin typeface="+mn-ea"/>
                <a:sym typeface="+mn-ea"/>
              </a:rPr>
              <a:t>扩展</a:t>
            </a:r>
            <a:r>
              <a:rPr lang="zh-CN" altLang="en-US" b="1" dirty="0">
                <a:solidFill>
                  <a:srgbClr val="0070C0"/>
                </a:solidFill>
                <a:latin typeface="+mn-ea"/>
              </a:rPr>
              <a:t>语法结构的</a:t>
            </a:r>
            <a:r>
              <a:rPr lang="zh-CN" altLang="en-US" b="1" dirty="0">
                <a:solidFill>
                  <a:srgbClr val="0070C0"/>
                </a:solidFill>
                <a:latin typeface="+mn-ea"/>
                <a:sym typeface="+mn-ea"/>
              </a:rPr>
              <a:t>语义信息</a:t>
            </a:r>
            <a:r>
              <a:rPr lang="zh-CN" altLang="en-US" b="1" dirty="0">
                <a:solidFill>
                  <a:srgbClr val="0070C0"/>
                </a:solidFill>
                <a:latin typeface="+mn-ea"/>
              </a:rPr>
              <a:t>（</a:t>
            </a:r>
            <a:r>
              <a:rPr lang="zh-CN" altLang="en-US" b="1" dirty="0">
                <a:solidFill>
                  <a:srgbClr val="03010F"/>
                </a:solidFill>
                <a:latin typeface="+mn-ea"/>
                <a:sym typeface="+mn-ea"/>
              </a:rPr>
              <a:t>属性和规则</a:t>
            </a:r>
            <a:r>
              <a:rPr lang="zh-CN" altLang="en-US" b="1" dirty="0">
                <a:solidFill>
                  <a:srgbClr val="0070C0"/>
                </a:solidFill>
                <a:latin typeface="+mn-ea"/>
              </a:rPr>
              <a:t>）</a:t>
            </a:r>
            <a:r>
              <a:rPr lang="zh-CN" altLang="en-US" b="1" dirty="0">
                <a:solidFill>
                  <a:srgbClr val="03010F"/>
                </a:solidFill>
                <a:latin typeface="+mn-ea"/>
              </a:rPr>
              <a:t>联系起来，</a:t>
            </a:r>
            <a:r>
              <a:rPr lang="zh-CN" altLang="en-US" sz="2400" b="1" dirty="0">
                <a:solidFill>
                  <a:srgbClr val="03010F"/>
                </a:solidFill>
                <a:latin typeface="+mn-ea"/>
                <a:sym typeface="+mn-ea"/>
              </a:rPr>
              <a:t>能够描述程序的语义信息（如类型检查、作用域规则、表达式的值等）</a:t>
            </a:r>
            <a:r>
              <a:rPr lang="zh-CN" altLang="en-US" b="1" dirty="0">
                <a:solidFill>
                  <a:srgbClr val="03010F"/>
                </a:solidFill>
                <a:latin typeface="+mn-ea"/>
              </a:rPr>
              <a:t>。</a:t>
            </a:r>
            <a:endParaRPr lang="zh-CN" altLang="en-US" b="1" dirty="0">
              <a:solidFill>
                <a:srgbClr val="03010F"/>
              </a:solidFill>
              <a:latin typeface="+mn-ea"/>
            </a:endParaRPr>
          </a:p>
          <a:p>
            <a:pPr fontAlgn="auto">
              <a:lnSpc>
                <a:spcPct val="125000"/>
              </a:lnSpc>
              <a:buFont typeface="Wingdings" panose="05000000000000000000" charset="0"/>
              <a:buChar char="p"/>
            </a:pPr>
            <a:r>
              <a:rPr lang="zh-CN" altLang="en-US" sz="2400" b="1" dirty="0">
                <a:latin typeface="+mn-ea"/>
                <a:sym typeface="+mn-ea"/>
              </a:rPr>
              <a:t>属性文法是三元式： </a:t>
            </a:r>
            <a:r>
              <a:rPr lang="en-US" altLang="zh-CN" sz="2400" b="1" dirty="0">
                <a:latin typeface="+mn-ea"/>
                <a:sym typeface="+mn-ea"/>
              </a:rPr>
              <a:t>A=(G, V, F)</a:t>
            </a:r>
            <a:endParaRPr lang="en-US" altLang="zh-CN" sz="2400" b="1" dirty="0">
              <a:latin typeface="+mn-ea"/>
            </a:endParaRPr>
          </a:p>
          <a:p>
            <a:pPr lvl="1" fontAlgn="auto">
              <a:lnSpc>
                <a:spcPct val="125000"/>
              </a:lnSpc>
              <a:buFont typeface="Wingdings" panose="05000000000000000000" charset="0"/>
              <a:buChar char="p"/>
            </a:pPr>
            <a:r>
              <a:rPr lang="en-US" altLang="zh-CN" sz="2400" b="1" dirty="0">
                <a:latin typeface="+mn-ea"/>
                <a:sym typeface="+mn-ea"/>
              </a:rPr>
              <a:t>G</a:t>
            </a:r>
            <a:r>
              <a:rPr lang="zh-CN" altLang="en-US" sz="2400" b="1" dirty="0">
                <a:latin typeface="+mn-ea"/>
                <a:sym typeface="+mn-ea"/>
              </a:rPr>
              <a:t>是一个上下文无关文法；</a:t>
            </a:r>
            <a:endParaRPr lang="zh-CN" altLang="en-US" sz="2400" b="1" dirty="0">
              <a:latin typeface="+mn-ea"/>
            </a:endParaRPr>
          </a:p>
          <a:p>
            <a:pPr lvl="1" fontAlgn="auto">
              <a:lnSpc>
                <a:spcPct val="125000"/>
              </a:lnSpc>
              <a:buFont typeface="Wingdings" panose="05000000000000000000" charset="0"/>
              <a:buChar char="p"/>
            </a:pPr>
            <a:r>
              <a:rPr lang="en-US" altLang="zh-CN" sz="2400" b="1" dirty="0">
                <a:latin typeface="+mn-ea"/>
                <a:sym typeface="+mn-ea"/>
              </a:rPr>
              <a:t>V</a:t>
            </a:r>
            <a:r>
              <a:rPr lang="zh-CN" altLang="en-US" sz="2400" b="1" dirty="0">
                <a:latin typeface="+mn-ea"/>
                <a:sym typeface="+mn-ea"/>
              </a:rPr>
              <a:t>是一个属性的有限集合；</a:t>
            </a:r>
            <a:endParaRPr lang="zh-CN" altLang="en-US" sz="2400" b="1" dirty="0">
              <a:latin typeface="+mn-ea"/>
            </a:endParaRPr>
          </a:p>
          <a:p>
            <a:pPr lvl="1" fontAlgn="auto">
              <a:lnSpc>
                <a:spcPct val="125000"/>
              </a:lnSpc>
              <a:buFont typeface="Wingdings" panose="05000000000000000000" charset="0"/>
              <a:buChar char="p"/>
            </a:pPr>
            <a:r>
              <a:rPr lang="en-US" altLang="zh-CN" sz="2400" b="1" dirty="0">
                <a:latin typeface="+mn-ea"/>
                <a:sym typeface="+mn-ea"/>
              </a:rPr>
              <a:t>F</a:t>
            </a:r>
            <a:r>
              <a:rPr lang="zh-CN" altLang="en-US" sz="2400" b="1" dirty="0">
                <a:latin typeface="+mn-ea"/>
                <a:sym typeface="+mn-ea"/>
              </a:rPr>
              <a:t>是一个与属性有关的语义规则的有限集合。</a:t>
            </a:r>
            <a:endParaRPr lang="zh-CN" altLang="en-US" sz="2400" b="1" dirty="0">
              <a:solidFill>
                <a:srgbClr val="03010F"/>
              </a:solidFill>
              <a:latin typeface="+mn-ea"/>
            </a:endParaRPr>
          </a:p>
        </p:txBody>
      </p:sp>
      <p:sp>
        <p:nvSpPr>
          <p:cNvPr id="4" name="内容占位符 7"/>
          <p:cNvSpPr txBox="1">
            <a:spLocks noChangeArrowheads="1"/>
          </p:cNvSpPr>
          <p:nvPr/>
        </p:nvSpPr>
        <p:spPr>
          <a:xfrm>
            <a:off x="7072630" y="1132840"/>
            <a:ext cx="4785360" cy="5260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2400" b="1" dirty="0">
                <a:solidFill>
                  <a:srgbClr val="000000"/>
                </a:solidFill>
                <a:latin typeface="+mn-ea"/>
              </a:rPr>
              <a:t>V</a:t>
            </a:r>
            <a:r>
              <a:rPr lang="zh-CN" altLang="en-US" sz="2400" b="1" dirty="0">
                <a:solidFill>
                  <a:srgbClr val="000000"/>
                </a:solidFill>
                <a:latin typeface="+mn-ea"/>
              </a:rPr>
              <a:t>： 每个</a:t>
            </a:r>
            <a:r>
              <a:rPr lang="zh-CN" altLang="en-US" sz="2400" b="1" dirty="0">
                <a:solidFill>
                  <a:srgbClr val="000000"/>
                </a:solidFill>
                <a:latin typeface="+mn-ea"/>
                <a:sym typeface="Symbol" panose="05050102010706020507" pitchFamily="18" charset="2"/>
              </a:rPr>
              <a:t>终结符号或非终结符号</a:t>
            </a:r>
            <a:r>
              <a:rPr lang="zh-CN" altLang="en-US" sz="2400" b="1" dirty="0">
                <a:solidFill>
                  <a:srgbClr val="000000"/>
                </a:solidFill>
                <a:latin typeface="+mn-ea"/>
              </a:rPr>
              <a:t>都有</a:t>
            </a:r>
            <a:r>
              <a:rPr lang="zh-CN" altLang="en-US" sz="2400" b="1" dirty="0">
                <a:solidFill>
                  <a:srgbClr val="0070C0"/>
                </a:solidFill>
                <a:latin typeface="+mn-ea"/>
                <a:sym typeface="Symbol" panose="05050102010706020507" pitchFamily="18" charset="2"/>
              </a:rPr>
              <a:t>属性集(语义信息)</a:t>
            </a:r>
            <a:r>
              <a:rPr lang="zh-CN" altLang="en-US" sz="2400" b="1" dirty="0">
                <a:solidFill>
                  <a:srgbClr val="000000"/>
                </a:solidFill>
                <a:latin typeface="+mn-ea"/>
                <a:sym typeface="Symbol" panose="05050102010706020507" pitchFamily="18" charset="2"/>
              </a:rPr>
              <a:t>。</a:t>
            </a:r>
            <a:endParaRPr lang="zh-CN" altLang="en-US" sz="2400" b="1" dirty="0">
              <a:solidFill>
                <a:srgbClr val="000000"/>
              </a:solidFill>
              <a:latin typeface="+mn-ea"/>
              <a:sym typeface="Symbol" panose="05050102010706020507" pitchFamily="18" charset="2"/>
            </a:endParaRPr>
          </a:p>
          <a:p>
            <a:pPr lvl="1">
              <a:lnSpc>
                <a:spcPct val="120000"/>
              </a:lnSpc>
              <a:buFont typeface="Wingdings" panose="05000000000000000000" charset="0"/>
              <a:buChar char="p"/>
            </a:pPr>
            <a:r>
              <a:rPr lang="zh-CN" altLang="en-US" b="1" dirty="0">
                <a:solidFill>
                  <a:srgbClr val="000000"/>
                </a:solidFill>
                <a:latin typeface="+mn-ea"/>
                <a:sym typeface="Symbol" panose="05050102010706020507" pitchFamily="18" charset="2"/>
              </a:rPr>
              <a:t>与</a:t>
            </a:r>
            <a:r>
              <a:rPr lang="zh-CN" altLang="en-US" b="1" dirty="0">
                <a:solidFill>
                  <a:srgbClr val="000000"/>
                </a:solidFill>
                <a:latin typeface="+mn-ea"/>
                <a:sym typeface="Symbol" panose="05050102010706020507" pitchFamily="18" charset="2"/>
              </a:rPr>
              <a:t>文法符号</a:t>
            </a:r>
            <a:r>
              <a:rPr lang="en-US" altLang="zh-CN" b="1" dirty="0">
                <a:solidFill>
                  <a:srgbClr val="000000"/>
                </a:solidFill>
                <a:latin typeface="+mn-ea"/>
                <a:sym typeface="Symbol" panose="05050102010706020507" pitchFamily="18" charset="2"/>
              </a:rPr>
              <a:t>X</a:t>
            </a:r>
            <a:r>
              <a:rPr lang="zh-CN" altLang="en-US" b="1" dirty="0">
                <a:solidFill>
                  <a:srgbClr val="000000"/>
                </a:solidFill>
                <a:latin typeface="+mn-ea"/>
                <a:sym typeface="Symbol" panose="05050102010706020507" pitchFamily="18" charset="2"/>
              </a:rPr>
              <a:t>关联的属性</a:t>
            </a:r>
            <a:r>
              <a:rPr lang="en-US" altLang="zh-CN" b="1" dirty="0">
                <a:solidFill>
                  <a:srgbClr val="000000"/>
                </a:solidFill>
                <a:latin typeface="+mn-ea"/>
                <a:sym typeface="Symbol" panose="05050102010706020507" pitchFamily="18" charset="2"/>
              </a:rPr>
              <a:t>a</a:t>
            </a:r>
            <a:r>
              <a:rPr lang="zh-CN" altLang="en-US" b="1" dirty="0">
                <a:solidFill>
                  <a:srgbClr val="000000"/>
                </a:solidFill>
                <a:latin typeface="+mn-ea"/>
                <a:sym typeface="Symbol" panose="05050102010706020507" pitchFamily="18" charset="2"/>
              </a:rPr>
              <a:t>记作</a:t>
            </a:r>
            <a:r>
              <a:rPr lang="en-US" altLang="zh-CN" b="1" dirty="0" err="1">
                <a:solidFill>
                  <a:srgbClr val="000000"/>
                </a:solidFill>
                <a:latin typeface="+mn-ea"/>
                <a:sym typeface="Symbol" panose="05050102010706020507" pitchFamily="18" charset="2"/>
              </a:rPr>
              <a:t>X.a</a:t>
            </a:r>
            <a:r>
              <a:rPr lang="zh-CN" altLang="en-US" b="1" dirty="0" err="1">
                <a:solidFill>
                  <a:srgbClr val="000000"/>
                </a:solidFill>
                <a:latin typeface="+mn-ea"/>
                <a:sym typeface="Symbol" panose="05050102010706020507" pitchFamily="18" charset="2"/>
              </a:rPr>
              <a:t>，举例：</a:t>
            </a:r>
            <a:endParaRPr lang="en-US" altLang="zh-CN" b="1" dirty="0">
              <a:solidFill>
                <a:srgbClr val="000000"/>
              </a:solidFill>
              <a:latin typeface="+mn-ea"/>
              <a:sym typeface="Symbol" panose="05050102010706020507" pitchFamily="18" charset="2"/>
            </a:endParaRPr>
          </a:p>
          <a:p>
            <a:pPr lvl="2">
              <a:lnSpc>
                <a:spcPct val="120000"/>
              </a:lnSpc>
              <a:buFont typeface="Wingdings" panose="05000000000000000000" charset="0"/>
              <a:buChar char="p"/>
            </a:pPr>
            <a:r>
              <a:rPr lang="zh-CN" altLang="en-US" sz="2400" b="1" dirty="0">
                <a:solidFill>
                  <a:srgbClr val="0070C0"/>
                </a:solidFill>
                <a:latin typeface="+mn-ea"/>
                <a:sym typeface="Symbol" panose="05050102010706020507" pitchFamily="18" charset="2"/>
              </a:rPr>
              <a:t>变量的数据类型</a:t>
            </a:r>
            <a:endParaRPr lang="en-US" altLang="zh-CN" sz="2400" b="1" dirty="0">
              <a:solidFill>
                <a:srgbClr val="0070C0"/>
              </a:solidFill>
              <a:latin typeface="+mn-ea"/>
              <a:sym typeface="Symbol" panose="05050102010706020507" pitchFamily="18" charset="2"/>
            </a:endParaRPr>
          </a:p>
          <a:p>
            <a:pPr lvl="2">
              <a:lnSpc>
                <a:spcPct val="120000"/>
              </a:lnSpc>
              <a:buFont typeface="Wingdings" panose="05000000000000000000" charset="0"/>
              <a:buChar char="p"/>
            </a:pPr>
            <a:r>
              <a:rPr lang="zh-CN" altLang="en-US" sz="2400" b="1" dirty="0">
                <a:solidFill>
                  <a:srgbClr val="0070C0"/>
                </a:solidFill>
                <a:latin typeface="+mn-ea"/>
                <a:sym typeface="Symbol" panose="05050102010706020507" pitchFamily="18" charset="2"/>
              </a:rPr>
              <a:t>表达式的值</a:t>
            </a:r>
            <a:endParaRPr lang="en-US" altLang="zh-CN" sz="2400" b="1" dirty="0">
              <a:solidFill>
                <a:srgbClr val="0070C0"/>
              </a:solidFill>
              <a:latin typeface="+mn-ea"/>
              <a:sym typeface="Symbol" panose="05050102010706020507" pitchFamily="18" charset="2"/>
            </a:endParaRPr>
          </a:p>
          <a:p>
            <a:pPr lvl="2">
              <a:lnSpc>
                <a:spcPct val="120000"/>
              </a:lnSpc>
              <a:buFont typeface="Wingdings" panose="05000000000000000000" charset="0"/>
              <a:buChar char="p"/>
            </a:pPr>
            <a:r>
              <a:rPr lang="zh-CN" altLang="en-US" sz="2400" b="1" dirty="0">
                <a:solidFill>
                  <a:srgbClr val="0070C0"/>
                </a:solidFill>
                <a:latin typeface="+mn-ea"/>
                <a:sym typeface="Symbol" panose="05050102010706020507" pitchFamily="18" charset="2"/>
              </a:rPr>
              <a:t>存储器中变量的位置</a:t>
            </a:r>
            <a:endParaRPr lang="en-US" altLang="zh-CN" sz="2400" b="1" dirty="0">
              <a:solidFill>
                <a:srgbClr val="0070C0"/>
              </a:solidFill>
              <a:latin typeface="+mn-ea"/>
              <a:sym typeface="Symbol" panose="05050102010706020507" pitchFamily="18" charset="2"/>
            </a:endParaRPr>
          </a:p>
          <a:p>
            <a:pPr lvl="2">
              <a:lnSpc>
                <a:spcPct val="120000"/>
              </a:lnSpc>
              <a:buFont typeface="Wingdings" panose="05000000000000000000" charset="0"/>
              <a:buChar char="p"/>
            </a:pPr>
            <a:r>
              <a:rPr lang="zh-CN" altLang="en-US" sz="2400" b="1" dirty="0">
                <a:solidFill>
                  <a:srgbClr val="0070C0"/>
                </a:solidFill>
                <a:latin typeface="+mn-ea"/>
                <a:sym typeface="Symbol" panose="05050102010706020507" pitchFamily="18" charset="2"/>
                <a:hlinkClick r:id="rId1" action="ppaction://hlinkfile"/>
              </a:rPr>
              <a:t>程序中间或目标代码片段</a:t>
            </a:r>
            <a:endParaRPr lang="en-US" altLang="zh-CN" sz="2400" b="1" dirty="0">
              <a:solidFill>
                <a:srgbClr val="0070C0"/>
              </a:solidFill>
              <a:latin typeface="+mn-ea"/>
              <a:sym typeface="Symbol" panose="05050102010706020507" pitchFamily="18" charset="2"/>
            </a:endParaRPr>
          </a:p>
          <a:p>
            <a:pPr lvl="2">
              <a:lnSpc>
                <a:spcPct val="120000"/>
              </a:lnSpc>
              <a:buFont typeface="Wingdings" panose="05000000000000000000" charset="0"/>
              <a:buChar char="p"/>
            </a:pPr>
            <a:r>
              <a:rPr lang="zh-CN" altLang="en-US" sz="2400" b="1" dirty="0">
                <a:solidFill>
                  <a:srgbClr val="0070C0"/>
                </a:solidFill>
                <a:latin typeface="+mn-ea"/>
                <a:sym typeface="Symbol" panose="05050102010706020507" pitchFamily="18" charset="2"/>
              </a:rPr>
              <a:t>数的有效位数</a:t>
            </a:r>
            <a:endParaRPr lang="en-US" altLang="zh-CN" sz="2400" b="1" dirty="0">
              <a:solidFill>
                <a:srgbClr val="0070C0"/>
              </a:solidFill>
              <a:latin typeface="+mn-ea"/>
              <a:sym typeface="Symbol" panose="05050102010706020507" pitchFamily="18" charset="2"/>
            </a:endParaRPr>
          </a:p>
          <a:p>
            <a:pPr lvl="2">
              <a:lnSpc>
                <a:spcPct val="120000"/>
              </a:lnSpc>
              <a:buFont typeface="Wingdings" panose="05000000000000000000" charset="0"/>
              <a:buChar char="p"/>
            </a:pPr>
            <a:r>
              <a:rPr lang="en-US" altLang="zh-CN" sz="2400" b="1" dirty="0">
                <a:solidFill>
                  <a:srgbClr val="0070C0"/>
                </a:solidFill>
                <a:latin typeface="+mn-ea"/>
                <a:sym typeface="Symbol" panose="05050102010706020507" pitchFamily="18" charset="2"/>
              </a:rPr>
              <a:t>……</a:t>
            </a:r>
            <a:r>
              <a:rPr lang="zh-CN" altLang="en-US" sz="2400" b="1" dirty="0">
                <a:solidFill>
                  <a:srgbClr val="0070C0"/>
                </a:solidFill>
                <a:latin typeface="+mn-ea"/>
                <a:sym typeface="Symbol" panose="05050102010706020507" pitchFamily="18" charset="2"/>
              </a:rPr>
              <a:t>等</a:t>
            </a:r>
            <a:endParaRPr lang="zh-CN" altLang="en-US" sz="2400" b="1" dirty="0">
              <a:solidFill>
                <a:srgbClr val="0070C0"/>
              </a:solidFill>
              <a:latin typeface="+mn-ea"/>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56235" y="276860"/>
            <a:ext cx="5970270" cy="593090"/>
          </a:xfrm>
        </p:spPr>
        <p:txBody>
          <a:bodyPr/>
          <a:lstStyle/>
          <a:p>
            <a:r>
              <a:rPr lang="en-US" altLang="zh-CN" dirty="0"/>
              <a:t>5.1.1 </a:t>
            </a:r>
            <a:r>
              <a:rPr lang="zh-CN" altLang="en-US" dirty="0"/>
              <a:t>属性和属性文法</a:t>
            </a:r>
            <a:endParaRPr lang="zh-CN" altLang="en-US" dirty="0"/>
          </a:p>
        </p:txBody>
      </p:sp>
      <p:sp>
        <p:nvSpPr>
          <p:cNvPr id="5" name="Rectangle 7"/>
          <p:cNvSpPr txBox="1">
            <a:spLocks noChangeArrowheads="1"/>
          </p:cNvSpPr>
          <p:nvPr/>
        </p:nvSpPr>
        <p:spPr>
          <a:xfrm>
            <a:off x="399415" y="1250315"/>
            <a:ext cx="11382375" cy="28790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457200">
              <a:lnSpc>
                <a:spcPct val="130000"/>
              </a:lnSpc>
              <a:buFont typeface="Wingdings" panose="05000000000000000000" charset="0"/>
              <a:buChar char="p"/>
              <a:defRPr/>
            </a:pPr>
            <a:r>
              <a:rPr kumimoji="1" lang="en-US" altLang="zh-CN" sz="2800" b="1" dirty="0">
                <a:solidFill>
                  <a:srgbClr val="000000"/>
                </a:solidFill>
                <a:latin typeface="+mn-ea"/>
                <a:cs typeface="+mn-ea"/>
                <a:sym typeface="Symbol" panose="05050102010706020507" pitchFamily="18" charset="2"/>
              </a:rPr>
              <a:t>F: </a:t>
            </a:r>
            <a:r>
              <a:rPr kumimoji="1" lang="zh-CN" altLang="en-US" b="1" dirty="0">
                <a:solidFill>
                  <a:srgbClr val="000000"/>
                </a:solidFill>
                <a:latin typeface="+mn-ea"/>
                <a:cs typeface="+mn-ea"/>
                <a:sym typeface="Symbol" panose="05050102010706020507" pitchFamily="18" charset="2"/>
              </a:rPr>
              <a:t>每个产生式都有一个与文法符号属性相关的</a:t>
            </a:r>
            <a:r>
              <a:rPr kumimoji="1" lang="zh-CN" altLang="en-US" b="1" dirty="0">
                <a:solidFill>
                  <a:srgbClr val="0070C0"/>
                </a:solidFill>
                <a:latin typeface="+mn-ea"/>
                <a:cs typeface="+mn-ea"/>
                <a:sym typeface="Symbol" panose="05050102010706020507" pitchFamily="18" charset="2"/>
              </a:rPr>
              <a:t>语义规则</a:t>
            </a:r>
            <a:r>
              <a:rPr kumimoji="1" lang="zh-CN" altLang="en-US" b="1" dirty="0">
                <a:solidFill>
                  <a:srgbClr val="000000"/>
                </a:solidFill>
                <a:latin typeface="+mn-ea"/>
                <a:cs typeface="+mn-ea"/>
                <a:sym typeface="Symbol" panose="05050102010706020507" pitchFamily="18" charset="2"/>
              </a:rPr>
              <a:t>集合。</a:t>
            </a:r>
            <a:r>
              <a:rPr kumimoji="1" lang="zh-CN" altLang="en-US" b="1" dirty="0">
                <a:solidFill>
                  <a:srgbClr val="000000"/>
                </a:solidFill>
                <a:latin typeface="+mn-ea"/>
                <a:cs typeface="+mn-ea"/>
              </a:rPr>
              <a:t>对于任一产生式</a:t>
            </a:r>
            <a:r>
              <a:rPr kumimoji="1" lang="en-US" altLang="zh-CN" b="1" dirty="0">
                <a:solidFill>
                  <a:srgbClr val="C00000"/>
                </a:solidFill>
                <a:latin typeface="+mn-ea"/>
                <a:cs typeface="+mn-ea"/>
              </a:rPr>
              <a:t>X</a:t>
            </a:r>
            <a:r>
              <a:rPr kumimoji="1" lang="en-US" altLang="zh-CN" b="1" baseline="-25000" dirty="0">
                <a:solidFill>
                  <a:srgbClr val="C00000"/>
                </a:solidFill>
                <a:latin typeface="+mn-ea"/>
                <a:cs typeface="+mn-ea"/>
              </a:rPr>
              <a:t>0</a:t>
            </a:r>
            <a:r>
              <a:rPr kumimoji="1" lang="en-US" altLang="zh-CN" b="1" dirty="0">
                <a:solidFill>
                  <a:srgbClr val="C00000"/>
                </a:solidFill>
                <a:latin typeface="+mn-ea"/>
                <a:cs typeface="+mn-ea"/>
              </a:rPr>
              <a:t>→X</a:t>
            </a:r>
            <a:r>
              <a:rPr kumimoji="1" lang="en-US" altLang="zh-CN" b="1" baseline="-25000" dirty="0">
                <a:solidFill>
                  <a:srgbClr val="C00000"/>
                </a:solidFill>
                <a:latin typeface="+mn-ea"/>
                <a:cs typeface="+mn-ea"/>
              </a:rPr>
              <a:t>1</a:t>
            </a:r>
            <a:r>
              <a:rPr kumimoji="1" lang="en-US" altLang="zh-CN" b="1" dirty="0">
                <a:solidFill>
                  <a:srgbClr val="C00000"/>
                </a:solidFill>
                <a:latin typeface="+mn-ea"/>
                <a:cs typeface="+mn-ea"/>
              </a:rPr>
              <a:t>X</a:t>
            </a:r>
            <a:r>
              <a:rPr kumimoji="1" lang="en-US" altLang="zh-CN" b="1" baseline="-25000" dirty="0">
                <a:solidFill>
                  <a:srgbClr val="C00000"/>
                </a:solidFill>
                <a:latin typeface="+mn-ea"/>
                <a:cs typeface="+mn-ea"/>
              </a:rPr>
              <a:t>2</a:t>
            </a:r>
            <a:r>
              <a:rPr kumimoji="1" lang="en-US" altLang="zh-CN" b="1" dirty="0">
                <a:solidFill>
                  <a:srgbClr val="C00000"/>
                </a:solidFill>
                <a:latin typeface="+mn-ea"/>
                <a:cs typeface="+mn-ea"/>
              </a:rPr>
              <a:t>...</a:t>
            </a:r>
            <a:r>
              <a:rPr kumimoji="1" lang="en-US" altLang="zh-CN" b="1" dirty="0" err="1">
                <a:solidFill>
                  <a:srgbClr val="C00000"/>
                </a:solidFill>
                <a:latin typeface="+mn-ea"/>
                <a:cs typeface="+mn-ea"/>
              </a:rPr>
              <a:t>X</a:t>
            </a:r>
            <a:r>
              <a:rPr kumimoji="1" lang="en-US" altLang="zh-CN" b="1" baseline="-25000" dirty="0" err="1">
                <a:solidFill>
                  <a:srgbClr val="C00000"/>
                </a:solidFill>
                <a:latin typeface="+mn-ea"/>
                <a:cs typeface="+mn-ea"/>
              </a:rPr>
              <a:t>n</a:t>
            </a:r>
            <a:r>
              <a:rPr kumimoji="1" lang="en-US" altLang="zh-CN" b="1" dirty="0">
                <a:solidFill>
                  <a:srgbClr val="000000"/>
                </a:solidFill>
                <a:latin typeface="+mn-ea"/>
                <a:cs typeface="+mn-ea"/>
              </a:rPr>
              <a:t>，</a:t>
            </a:r>
            <a:r>
              <a:rPr kumimoji="1" lang="zh-CN" altLang="en-US" b="1" dirty="0">
                <a:solidFill>
                  <a:srgbClr val="0070C0"/>
                </a:solidFill>
                <a:latin typeface="+mn-ea"/>
                <a:sym typeface="+mn-ea"/>
              </a:rPr>
              <a:t>其语义规则是相关文法符号属性值的等式，定义</a:t>
            </a:r>
            <a:r>
              <a:rPr kumimoji="1" lang="zh-CN" altLang="en-US" b="1" dirty="0">
                <a:solidFill>
                  <a:srgbClr val="000000"/>
                </a:solidFill>
                <a:latin typeface="+mn-ea"/>
                <a:cs typeface="+mn-ea"/>
              </a:rPr>
              <a:t>如下：</a:t>
            </a:r>
            <a:endParaRPr kumimoji="1" lang="zh-CN" altLang="en-US" b="1" dirty="0">
              <a:solidFill>
                <a:srgbClr val="000000"/>
              </a:solidFill>
              <a:latin typeface="+mn-ea"/>
              <a:cs typeface="+mn-ea"/>
            </a:endParaRPr>
          </a:p>
          <a:p>
            <a:pPr marL="342900" lvl="1" indent="-342900">
              <a:lnSpc>
                <a:spcPct val="130000"/>
              </a:lnSpc>
              <a:buFont typeface="Wingdings" panose="05000000000000000000" charset="0"/>
              <a:buChar char="p"/>
              <a:defRPr/>
            </a:pPr>
            <a:endParaRPr kumimoji="1" lang="en-US" altLang="zh-CN" sz="2400" b="1" dirty="0">
              <a:latin typeface="+mn-ea"/>
              <a:cs typeface="+mn-ea"/>
            </a:endParaRPr>
          </a:p>
          <a:p>
            <a:pPr lvl="2" indent="-436880">
              <a:lnSpc>
                <a:spcPct val="130000"/>
              </a:lnSpc>
              <a:buFont typeface="Wingdings" panose="05000000000000000000" charset="0"/>
              <a:buChar char="p"/>
              <a:defRPr/>
            </a:pPr>
            <a:r>
              <a:rPr kumimoji="1" lang="en-US" altLang="zh-CN" sz="2400" b="1" dirty="0">
                <a:latin typeface="+mn-ea"/>
                <a:cs typeface="+mn-ea"/>
              </a:rPr>
              <a:t>a</a:t>
            </a:r>
            <a:r>
              <a:rPr kumimoji="1" lang="en-US" altLang="zh-CN" sz="2400" b="1" baseline="-25000" dirty="0">
                <a:latin typeface="+mn-ea"/>
                <a:cs typeface="+mn-ea"/>
              </a:rPr>
              <a:t>1</a:t>
            </a:r>
            <a:r>
              <a:rPr kumimoji="1" lang="en-US" altLang="zh-CN" sz="2400" b="1" dirty="0">
                <a:latin typeface="+mn-ea"/>
                <a:cs typeface="+mn-ea"/>
              </a:rPr>
              <a:t>,...,</a:t>
            </a:r>
            <a:r>
              <a:rPr kumimoji="1" lang="en-US" altLang="zh-CN" sz="2400" b="1" dirty="0" err="1">
                <a:latin typeface="+mn-ea"/>
                <a:cs typeface="+mn-ea"/>
              </a:rPr>
              <a:t>a</a:t>
            </a:r>
            <a:r>
              <a:rPr kumimoji="1" lang="en-US" altLang="zh-CN" sz="2400" b="1" baseline="-25000" dirty="0" err="1">
                <a:latin typeface="+mn-ea"/>
                <a:cs typeface="+mn-ea"/>
              </a:rPr>
              <a:t>k</a:t>
            </a:r>
            <a:r>
              <a:rPr kumimoji="1" lang="zh-CN" altLang="en-US" sz="2400" b="1" dirty="0">
                <a:latin typeface="+mn-ea"/>
                <a:cs typeface="+mn-ea"/>
              </a:rPr>
              <a:t>是与各文法关联的属性集合；</a:t>
            </a:r>
            <a:endParaRPr kumimoji="1" lang="zh-CN" altLang="en-US" sz="2400" b="1" dirty="0">
              <a:latin typeface="+mn-ea"/>
              <a:cs typeface="+mn-ea"/>
            </a:endParaRPr>
          </a:p>
          <a:p>
            <a:pPr lvl="2" indent="-436880">
              <a:lnSpc>
                <a:spcPct val="130000"/>
              </a:lnSpc>
              <a:buFont typeface="Wingdings" panose="05000000000000000000" charset="0"/>
              <a:buChar char="p"/>
              <a:defRPr/>
            </a:pPr>
            <a:r>
              <a:rPr kumimoji="1" lang="en-US" altLang="zh-CN" sz="2400" b="1" dirty="0" err="1">
                <a:solidFill>
                  <a:srgbClr val="000000"/>
                </a:solidFill>
                <a:latin typeface="+mn-ea"/>
                <a:cs typeface="+mn-ea"/>
              </a:rPr>
              <a:t>f</a:t>
            </a:r>
            <a:r>
              <a:rPr kumimoji="1" lang="en-US" altLang="zh-CN" sz="2400" b="1" baseline="-25000" dirty="0" err="1">
                <a:solidFill>
                  <a:srgbClr val="000000"/>
                </a:solidFill>
                <a:latin typeface="+mn-ea"/>
                <a:cs typeface="+mn-ea"/>
              </a:rPr>
              <a:t>ij</a:t>
            </a:r>
            <a:r>
              <a:rPr kumimoji="1" lang="zh-CN" altLang="en-US" sz="2400" b="1" dirty="0">
                <a:solidFill>
                  <a:srgbClr val="000000"/>
                </a:solidFill>
                <a:latin typeface="+mn-ea"/>
                <a:cs typeface="+mn-ea"/>
              </a:rPr>
              <a:t>是一个数学函数，表示文法符合</a:t>
            </a:r>
            <a:r>
              <a:rPr kumimoji="1" lang="en-US" altLang="zh-CN" sz="2400" b="1" dirty="0">
                <a:solidFill>
                  <a:srgbClr val="000000"/>
                </a:solidFill>
                <a:latin typeface="+mn-ea"/>
                <a:cs typeface="+mn-ea"/>
              </a:rPr>
              <a:t>X</a:t>
            </a:r>
            <a:r>
              <a:rPr kumimoji="1" lang="en-US" altLang="zh-CN" sz="2400" b="1" baseline="-25000" dirty="0">
                <a:solidFill>
                  <a:srgbClr val="000000"/>
                </a:solidFill>
                <a:latin typeface="+mn-ea"/>
                <a:cs typeface="+mn-ea"/>
              </a:rPr>
              <a:t>i</a:t>
            </a:r>
            <a:r>
              <a:rPr kumimoji="1" lang="zh-CN" altLang="en-US" sz="2400" b="1" dirty="0">
                <a:solidFill>
                  <a:srgbClr val="000000"/>
                </a:solidFill>
                <a:latin typeface="+mn-ea"/>
                <a:cs typeface="+mn-ea"/>
              </a:rPr>
              <a:t>的第</a:t>
            </a:r>
            <a:r>
              <a:rPr kumimoji="1" lang="en-US" altLang="zh-CN" sz="2400" b="1" dirty="0">
                <a:solidFill>
                  <a:srgbClr val="000000"/>
                </a:solidFill>
                <a:latin typeface="+mn-ea"/>
                <a:cs typeface="+mn-ea"/>
              </a:rPr>
              <a:t>j</a:t>
            </a:r>
            <a:r>
              <a:rPr kumimoji="1" lang="zh-CN" altLang="en-US" sz="2400" b="1" dirty="0">
                <a:solidFill>
                  <a:srgbClr val="000000"/>
                </a:solidFill>
                <a:latin typeface="+mn-ea"/>
                <a:cs typeface="+mn-ea"/>
              </a:rPr>
              <a:t>个属性</a:t>
            </a:r>
            <a:r>
              <a:rPr kumimoji="1" lang="en-US" altLang="zh-CN" sz="2400" b="1" dirty="0" err="1">
                <a:latin typeface="+mn-ea"/>
                <a:cs typeface="+mn-ea"/>
              </a:rPr>
              <a:t>a</a:t>
            </a:r>
            <a:r>
              <a:rPr kumimoji="1" lang="en-US" altLang="zh-CN" sz="2400" b="1" baseline="-25000" dirty="0" err="1">
                <a:latin typeface="+mn-ea"/>
                <a:cs typeface="+mn-ea"/>
              </a:rPr>
              <a:t>j</a:t>
            </a:r>
            <a:r>
              <a:rPr kumimoji="1" lang="zh-CN" altLang="en-US" sz="2400" b="1" dirty="0">
                <a:solidFill>
                  <a:srgbClr val="000000"/>
                </a:solidFill>
                <a:latin typeface="+mn-ea"/>
                <a:cs typeface="+mn-ea"/>
              </a:rPr>
              <a:t>是如何计算得到的。</a:t>
            </a:r>
            <a:endParaRPr kumimoji="1" lang="en-US" altLang="zh-CN" sz="2400" b="1" dirty="0">
              <a:solidFill>
                <a:srgbClr val="000000"/>
              </a:solidFill>
              <a:latin typeface="+mn-ea"/>
              <a:cs typeface="+mn-ea"/>
            </a:endParaRPr>
          </a:p>
          <a:p>
            <a:pPr>
              <a:lnSpc>
                <a:spcPct val="120000"/>
              </a:lnSpc>
              <a:buFont typeface="Wingdings" panose="05000000000000000000" charset="0"/>
              <a:buChar char="p"/>
              <a:defRPr/>
            </a:pPr>
            <a:endParaRPr kumimoji="1" lang="en-US" altLang="zh-CN" sz="2400" b="1" dirty="0">
              <a:solidFill>
                <a:srgbClr val="0070C0"/>
              </a:solidFill>
              <a:latin typeface="+mn-ea"/>
            </a:endParaRPr>
          </a:p>
        </p:txBody>
      </p:sp>
      <p:sp>
        <p:nvSpPr>
          <p:cNvPr id="552964" name="Rectangle 4"/>
          <p:cNvSpPr/>
          <p:nvPr>
            <p:custDataLst>
              <p:tags r:id="rId1"/>
            </p:custDataLst>
          </p:nvPr>
        </p:nvSpPr>
        <p:spPr>
          <a:xfrm>
            <a:off x="2260600" y="2343150"/>
            <a:ext cx="8675688" cy="521970"/>
          </a:xfrm>
          <a:prstGeom prst="rect">
            <a:avLst/>
          </a:prstGeom>
          <a:noFill/>
          <a:ln w="9525">
            <a:noFill/>
          </a:ln>
        </p:spPr>
        <p:txBody>
          <a:bodyPr anchor="t" anchorCtr="0">
            <a:spAutoFit/>
          </a:bodyPr>
          <a:p>
            <a:r>
              <a:rPr lang="en-US" altLang="zh-CN" sz="2800" dirty="0">
                <a:solidFill>
                  <a:srgbClr val="000000"/>
                </a:solidFill>
                <a:latin typeface="Times New Roman" panose="02020603050405020304" pitchFamily="18" charset="0"/>
              </a:rPr>
              <a:t>X</a:t>
            </a:r>
            <a:r>
              <a:rPr lang="en-US" altLang="zh-CN" sz="2800" baseline="-25000" dirty="0">
                <a:solidFill>
                  <a:srgbClr val="000000"/>
                </a:solidFill>
                <a:latin typeface="Times New Roman" panose="02020603050405020304" pitchFamily="18" charset="0"/>
              </a:rPr>
              <a:t>i</a:t>
            </a:r>
            <a:r>
              <a:rPr lang="en-US" altLang="zh-CN" sz="2800" dirty="0">
                <a:solidFill>
                  <a:srgbClr val="000000"/>
                </a:solidFill>
                <a:latin typeface="Times New Roman" panose="02020603050405020304" pitchFamily="18" charset="0"/>
              </a:rPr>
              <a:t>.a</a:t>
            </a:r>
            <a:r>
              <a:rPr lang="en-US" altLang="zh-CN" sz="2800" baseline="-25000" dirty="0">
                <a:solidFill>
                  <a:srgbClr val="000000"/>
                </a:solidFill>
                <a:latin typeface="Times New Roman" panose="02020603050405020304" pitchFamily="18" charset="0"/>
              </a:rPr>
              <a:t>j</a:t>
            </a:r>
            <a:r>
              <a:rPr lang="en-US" altLang="zh-CN" sz="2800" dirty="0">
                <a:solidFill>
                  <a:srgbClr val="000000"/>
                </a:solidFill>
                <a:latin typeface="Times New Roman" panose="02020603050405020304" pitchFamily="18" charset="0"/>
              </a:rPr>
              <a:t>=f</a:t>
            </a:r>
            <a:r>
              <a:rPr lang="en-US" altLang="zh-CN" sz="2800" baseline="-25000" dirty="0">
                <a:solidFill>
                  <a:srgbClr val="000000"/>
                </a:solidFill>
                <a:latin typeface="Times New Roman" panose="02020603050405020304" pitchFamily="18" charset="0"/>
              </a:rPr>
              <a:t>ij</a:t>
            </a:r>
            <a:r>
              <a:rPr lang="en-US" altLang="zh-CN" sz="2800" dirty="0">
                <a:solidFill>
                  <a:srgbClr val="000000"/>
                </a:solidFill>
                <a:latin typeface="Times New Roman" panose="02020603050405020304" pitchFamily="18" charset="0"/>
              </a:rPr>
              <a:t>(X</a:t>
            </a:r>
            <a:r>
              <a:rPr lang="en-US" altLang="zh-CN" sz="2800" baseline="-25000" dirty="0">
                <a:solidFill>
                  <a:srgbClr val="000000"/>
                </a:solidFill>
                <a:latin typeface="Times New Roman" panose="02020603050405020304" pitchFamily="18" charset="0"/>
              </a:rPr>
              <a:t>0</a:t>
            </a:r>
            <a:r>
              <a:rPr lang="en-US" altLang="zh-CN" sz="2800" dirty="0">
                <a:solidFill>
                  <a:srgbClr val="000000"/>
                </a:solidFill>
                <a:latin typeface="Times New Roman" panose="02020603050405020304" pitchFamily="18" charset="0"/>
              </a:rPr>
              <a:t>.a</a:t>
            </a:r>
            <a:r>
              <a:rPr lang="en-US" altLang="zh-CN" sz="2800" baseline="-25000" dirty="0">
                <a:solidFill>
                  <a:srgbClr val="000000"/>
                </a:solidFill>
                <a:latin typeface="Times New Roman" panose="02020603050405020304" pitchFamily="18" charset="0"/>
              </a:rPr>
              <a:t>1</a:t>
            </a:r>
            <a:r>
              <a:rPr lang="en-US" altLang="zh-CN" sz="2800" dirty="0">
                <a:solidFill>
                  <a:srgbClr val="000000"/>
                </a:solidFill>
                <a:latin typeface="Times New Roman" panose="02020603050405020304" pitchFamily="18" charset="0"/>
              </a:rPr>
              <a:t>,</a:t>
            </a:r>
            <a:r>
              <a:rPr lang="en-US" altLang="zh-CN" sz="2800" baseline="160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,X</a:t>
            </a:r>
            <a:r>
              <a:rPr lang="en-US" altLang="zh-CN" sz="2800" baseline="-25000" dirty="0">
                <a:solidFill>
                  <a:srgbClr val="000000"/>
                </a:solidFill>
                <a:latin typeface="Times New Roman" panose="02020603050405020304" pitchFamily="18" charset="0"/>
              </a:rPr>
              <a:t>0</a:t>
            </a:r>
            <a:r>
              <a:rPr lang="en-US" altLang="zh-CN" sz="2800" dirty="0">
                <a:solidFill>
                  <a:srgbClr val="000000"/>
                </a:solidFill>
                <a:latin typeface="Times New Roman" panose="02020603050405020304" pitchFamily="18" charset="0"/>
              </a:rPr>
              <a:t>.a</a:t>
            </a:r>
            <a:r>
              <a:rPr lang="en-US" altLang="zh-CN" sz="2800" baseline="-25000" dirty="0">
                <a:solidFill>
                  <a:srgbClr val="000000"/>
                </a:solidFill>
                <a:latin typeface="Times New Roman" panose="02020603050405020304" pitchFamily="18" charset="0"/>
              </a:rPr>
              <a:t>k</a:t>
            </a:r>
            <a:r>
              <a:rPr lang="en-US" altLang="zh-CN" sz="2800" dirty="0">
                <a:solidFill>
                  <a:srgbClr val="000000"/>
                </a:solidFill>
                <a:latin typeface="Times New Roman" panose="02020603050405020304" pitchFamily="18" charset="0"/>
              </a:rPr>
              <a:t>，X</a:t>
            </a:r>
            <a:r>
              <a:rPr lang="en-US" altLang="zh-CN" sz="2800" baseline="-25000" dirty="0">
                <a:solidFill>
                  <a:srgbClr val="000000"/>
                </a:solidFill>
                <a:latin typeface="Times New Roman" panose="02020603050405020304" pitchFamily="18" charset="0"/>
              </a:rPr>
              <a:t>1</a:t>
            </a:r>
            <a:r>
              <a:rPr lang="en-US" altLang="zh-CN" sz="2800" dirty="0">
                <a:solidFill>
                  <a:srgbClr val="000000"/>
                </a:solidFill>
                <a:latin typeface="Times New Roman" panose="02020603050405020304" pitchFamily="18" charset="0"/>
              </a:rPr>
              <a:t>.a</a:t>
            </a:r>
            <a:r>
              <a:rPr lang="en-US" altLang="zh-CN" sz="2800" baseline="-25000" dirty="0">
                <a:solidFill>
                  <a:srgbClr val="000000"/>
                </a:solidFill>
                <a:latin typeface="Times New Roman" panose="02020603050405020304" pitchFamily="18" charset="0"/>
              </a:rPr>
              <a:t>1</a:t>
            </a:r>
            <a:r>
              <a:rPr lang="en-US" altLang="zh-CN" sz="2800" dirty="0">
                <a:solidFill>
                  <a:srgbClr val="000000"/>
                </a:solidFill>
                <a:latin typeface="Times New Roman" panose="02020603050405020304" pitchFamily="18" charset="0"/>
              </a:rPr>
              <a:t>,</a:t>
            </a:r>
            <a:r>
              <a:rPr lang="en-US" altLang="zh-CN" sz="2800" baseline="160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 X</a:t>
            </a:r>
            <a:r>
              <a:rPr lang="en-US" altLang="zh-CN" sz="2800" baseline="-25000" dirty="0">
                <a:solidFill>
                  <a:srgbClr val="000000"/>
                </a:solidFill>
                <a:latin typeface="Times New Roman" panose="02020603050405020304" pitchFamily="18" charset="0"/>
              </a:rPr>
              <a:t>1</a:t>
            </a:r>
            <a:r>
              <a:rPr lang="en-US" altLang="zh-CN" sz="2800" dirty="0">
                <a:solidFill>
                  <a:srgbClr val="000000"/>
                </a:solidFill>
                <a:latin typeface="Times New Roman" panose="02020603050405020304" pitchFamily="18" charset="0"/>
              </a:rPr>
              <a:t>.a</a:t>
            </a:r>
            <a:r>
              <a:rPr lang="en-US" altLang="zh-CN" sz="2800" baseline="-25000" dirty="0">
                <a:solidFill>
                  <a:srgbClr val="000000"/>
                </a:solidFill>
                <a:latin typeface="Times New Roman" panose="02020603050405020304" pitchFamily="18" charset="0"/>
              </a:rPr>
              <a:t>k</a:t>
            </a:r>
            <a:r>
              <a:rPr lang="en-US" altLang="zh-CN" sz="2800" dirty="0">
                <a:solidFill>
                  <a:srgbClr val="000000"/>
                </a:solidFill>
                <a:latin typeface="Times New Roman" panose="02020603050405020304" pitchFamily="18" charset="0"/>
              </a:rPr>
              <a:t>,</a:t>
            </a:r>
            <a:r>
              <a:rPr lang="en-US" altLang="zh-CN" sz="2800" baseline="160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,X</a:t>
            </a:r>
            <a:r>
              <a:rPr lang="en-US" altLang="zh-CN" sz="2800" baseline="-25000" dirty="0">
                <a:solidFill>
                  <a:srgbClr val="000000"/>
                </a:solidFill>
                <a:latin typeface="Times New Roman" panose="02020603050405020304" pitchFamily="18" charset="0"/>
              </a:rPr>
              <a:t>n</a:t>
            </a:r>
            <a:r>
              <a:rPr lang="en-US" altLang="zh-CN" sz="2800" dirty="0">
                <a:solidFill>
                  <a:srgbClr val="000000"/>
                </a:solidFill>
                <a:latin typeface="Times New Roman" panose="02020603050405020304" pitchFamily="18" charset="0"/>
              </a:rPr>
              <a:t>.a</a:t>
            </a:r>
            <a:r>
              <a:rPr lang="en-US" altLang="zh-CN" sz="2800" baseline="-25000" dirty="0">
                <a:solidFill>
                  <a:srgbClr val="000000"/>
                </a:solidFill>
                <a:latin typeface="Times New Roman" panose="02020603050405020304" pitchFamily="18" charset="0"/>
              </a:rPr>
              <a:t>1</a:t>
            </a:r>
            <a:r>
              <a:rPr lang="en-US" altLang="zh-CN" sz="2800" dirty="0">
                <a:solidFill>
                  <a:srgbClr val="000000"/>
                </a:solidFill>
                <a:latin typeface="Times New Roman" panose="02020603050405020304" pitchFamily="18" charset="0"/>
              </a:rPr>
              <a:t>,</a:t>
            </a:r>
            <a:r>
              <a:rPr lang="en-US" altLang="zh-CN" sz="2800" baseline="160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,X</a:t>
            </a:r>
            <a:r>
              <a:rPr lang="en-US" altLang="zh-CN" sz="2800" baseline="-25000" dirty="0">
                <a:solidFill>
                  <a:srgbClr val="000000"/>
                </a:solidFill>
                <a:latin typeface="Times New Roman" panose="02020603050405020304" pitchFamily="18" charset="0"/>
              </a:rPr>
              <a:t>n</a:t>
            </a:r>
            <a:r>
              <a:rPr lang="en-US" altLang="zh-CN" sz="2800" dirty="0">
                <a:solidFill>
                  <a:srgbClr val="000000"/>
                </a:solidFill>
                <a:latin typeface="Times New Roman" panose="02020603050405020304" pitchFamily="18" charset="0"/>
              </a:rPr>
              <a:t>.a</a:t>
            </a:r>
            <a:r>
              <a:rPr lang="en-US" altLang="zh-CN" sz="2800" baseline="-25000" dirty="0">
                <a:solidFill>
                  <a:srgbClr val="000000"/>
                </a:solidFill>
                <a:latin typeface="Times New Roman" panose="02020603050405020304" pitchFamily="18" charset="0"/>
              </a:rPr>
              <a:t>k</a:t>
            </a:r>
            <a:r>
              <a:rPr lang="en-US" altLang="zh-CN" sz="2800" dirty="0">
                <a:solidFill>
                  <a:srgbClr val="000000"/>
                </a:solidFill>
                <a:latin typeface="Times New Roman" panose="02020603050405020304" pitchFamily="18" charset="0"/>
              </a:rPr>
              <a:t>)</a:t>
            </a:r>
            <a:endParaRPr lang="en-US" altLang="zh-CN" sz="2800" dirty="0">
              <a:solidFill>
                <a:srgbClr val="000000"/>
              </a:solidFill>
              <a:latin typeface="Times New Roman" panose="02020603050405020304" pitchFamily="18" charset="0"/>
            </a:endParaRPr>
          </a:p>
        </p:txBody>
      </p:sp>
      <p:sp>
        <p:nvSpPr>
          <p:cNvPr id="4" name="文本框 3"/>
          <p:cNvSpPr txBox="1"/>
          <p:nvPr/>
        </p:nvSpPr>
        <p:spPr>
          <a:xfrm>
            <a:off x="2331720" y="4189095"/>
            <a:ext cx="9598660" cy="1863725"/>
          </a:xfrm>
          <a:prstGeom prst="rect">
            <a:avLst/>
          </a:prstGeom>
          <a:noFill/>
        </p:spPr>
        <p:txBody>
          <a:bodyPr wrap="square" rtlCol="0" anchor="t">
            <a:spAutoFit/>
          </a:bodyPr>
          <a:p>
            <a:pPr lvl="4" indent="0" fontAlgn="auto">
              <a:lnSpc>
                <a:spcPct val="120000"/>
              </a:lnSpc>
              <a:spcBef>
                <a:spcPts val="0"/>
              </a:spcBef>
            </a:pPr>
            <a:r>
              <a:rPr lang="zh-CN" altLang="en-US" sz="2400" b="1" dirty="0">
                <a:solidFill>
                  <a:srgbClr val="C00000"/>
                </a:solidFill>
                <a:latin typeface="+mn-ea"/>
                <a:sym typeface="+mn-ea"/>
              </a:rPr>
              <a:t>文法规则     </a:t>
            </a:r>
            <a:r>
              <a:rPr lang="en-US" altLang="zh-CN" sz="2400" b="1" dirty="0">
                <a:solidFill>
                  <a:srgbClr val="C00000"/>
                </a:solidFill>
                <a:latin typeface="+mn-ea"/>
                <a:sym typeface="+mn-ea"/>
              </a:rPr>
              <a:t> </a:t>
            </a:r>
            <a:r>
              <a:rPr lang="zh-CN" altLang="en-US" sz="2400" b="1" dirty="0">
                <a:solidFill>
                  <a:srgbClr val="C00000"/>
                </a:solidFill>
                <a:latin typeface="+mn-ea"/>
                <a:sym typeface="+mn-ea"/>
              </a:rPr>
              <a:t>语义规则</a:t>
            </a:r>
            <a:endParaRPr lang="zh-CN" altLang="en-US" sz="2400" b="1" dirty="0">
              <a:solidFill>
                <a:srgbClr val="000000"/>
              </a:solidFill>
              <a:latin typeface="+mn-ea"/>
            </a:endParaRPr>
          </a:p>
          <a:p>
            <a:pPr lvl="4" indent="0" fontAlgn="auto">
              <a:lnSpc>
                <a:spcPct val="120000"/>
              </a:lnSpc>
              <a:spcBef>
                <a:spcPts val="0"/>
              </a:spcBef>
            </a:pPr>
            <a:r>
              <a:rPr lang="zh-CN" altLang="en-US" sz="2400" b="1" dirty="0">
                <a:solidFill>
                  <a:srgbClr val="000000"/>
                </a:solidFill>
                <a:latin typeface="+mn-ea"/>
                <a:sym typeface="+mn-ea"/>
              </a:rPr>
              <a:t>产生式1    </a:t>
            </a:r>
            <a:r>
              <a:rPr lang="en-US" altLang="zh-CN" sz="2400" b="1" dirty="0">
                <a:solidFill>
                  <a:srgbClr val="000000"/>
                </a:solidFill>
                <a:latin typeface="+mn-ea"/>
                <a:sym typeface="+mn-ea"/>
              </a:rPr>
              <a:t>    </a:t>
            </a:r>
            <a:r>
              <a:rPr lang="zh-CN" altLang="en-US" sz="2400" b="1" dirty="0">
                <a:solidFill>
                  <a:srgbClr val="000000"/>
                </a:solidFill>
                <a:latin typeface="+mn-ea"/>
                <a:sym typeface="+mn-ea"/>
              </a:rPr>
              <a:t>属性等式</a:t>
            </a:r>
            <a:endParaRPr lang="zh-CN" altLang="en-US" sz="2400" b="1" dirty="0">
              <a:solidFill>
                <a:srgbClr val="000000"/>
              </a:solidFill>
              <a:latin typeface="+mn-ea"/>
            </a:endParaRPr>
          </a:p>
          <a:p>
            <a:pPr lvl="4" indent="0" fontAlgn="auto">
              <a:lnSpc>
                <a:spcPct val="120000"/>
              </a:lnSpc>
              <a:spcBef>
                <a:spcPts val="0"/>
              </a:spcBef>
            </a:pPr>
            <a:r>
              <a:rPr lang="zh-CN" altLang="en-US" sz="2400" b="1" dirty="0">
                <a:solidFill>
                  <a:srgbClr val="000000"/>
                </a:solidFill>
                <a:latin typeface="+mn-ea"/>
                <a:sym typeface="+mn-ea"/>
              </a:rPr>
              <a:t> </a:t>
            </a:r>
            <a:r>
              <a:rPr lang="en-US" altLang="zh-CN" sz="2400" b="1" dirty="0">
                <a:solidFill>
                  <a:srgbClr val="000000"/>
                </a:solidFill>
                <a:latin typeface="+mn-ea"/>
                <a:sym typeface="+mn-ea"/>
              </a:rPr>
              <a:t>         </a:t>
            </a:r>
            <a:r>
              <a:rPr lang="zh-CN" altLang="en-US" sz="2400" b="1" dirty="0">
                <a:solidFill>
                  <a:srgbClr val="000000"/>
                </a:solidFill>
                <a:latin typeface="+mn-ea"/>
                <a:sym typeface="+mn-ea"/>
              </a:rPr>
              <a:t>...    </a:t>
            </a:r>
            <a:r>
              <a:rPr lang="en-US" altLang="zh-CN" sz="2400" b="1" dirty="0">
                <a:solidFill>
                  <a:srgbClr val="000000"/>
                </a:solidFill>
                <a:latin typeface="+mn-ea"/>
                <a:sym typeface="+mn-ea"/>
              </a:rPr>
              <a:t>         </a:t>
            </a:r>
            <a:r>
              <a:rPr lang="zh-CN" altLang="en-US" sz="2400" b="1" dirty="0">
                <a:solidFill>
                  <a:srgbClr val="000000"/>
                </a:solidFill>
                <a:latin typeface="+mn-ea"/>
                <a:sym typeface="+mn-ea"/>
              </a:rPr>
              <a:t>  ...</a:t>
            </a:r>
            <a:endParaRPr lang="zh-CN" altLang="en-US" sz="2400" b="1" dirty="0">
              <a:solidFill>
                <a:srgbClr val="000000"/>
              </a:solidFill>
              <a:latin typeface="+mn-ea"/>
            </a:endParaRPr>
          </a:p>
          <a:p>
            <a:pPr lvl="4" indent="0" fontAlgn="auto">
              <a:lnSpc>
                <a:spcPct val="120000"/>
              </a:lnSpc>
              <a:spcBef>
                <a:spcPts val="0"/>
              </a:spcBef>
            </a:pPr>
            <a:r>
              <a:rPr lang="zh-CN" altLang="en-US" sz="2400" b="1" dirty="0">
                <a:solidFill>
                  <a:srgbClr val="000000"/>
                </a:solidFill>
                <a:latin typeface="+mn-ea"/>
                <a:sym typeface="+mn-ea"/>
              </a:rPr>
              <a:t>产生式</a:t>
            </a:r>
            <a:r>
              <a:rPr lang="en-US" altLang="zh-CN" sz="2400" b="1" dirty="0">
                <a:solidFill>
                  <a:srgbClr val="000000"/>
                </a:solidFill>
                <a:latin typeface="+mn-ea"/>
                <a:sym typeface="+mn-ea"/>
              </a:rPr>
              <a:t>n</a:t>
            </a:r>
            <a:r>
              <a:rPr lang="en-US" altLang="zh-CN" sz="2400" b="1" i="1" dirty="0">
                <a:solidFill>
                  <a:srgbClr val="000000"/>
                </a:solidFill>
                <a:latin typeface="+mn-ea"/>
                <a:sym typeface="+mn-ea"/>
              </a:rPr>
              <a:t>       </a:t>
            </a:r>
            <a:r>
              <a:rPr lang="zh-CN" altLang="en-US" sz="2400" b="1" dirty="0">
                <a:solidFill>
                  <a:srgbClr val="000000"/>
                </a:solidFill>
                <a:latin typeface="+mn-ea"/>
                <a:sym typeface="+mn-ea"/>
              </a:rPr>
              <a:t>属性等式</a:t>
            </a:r>
            <a:endParaRPr lang="zh-CN" altLang="en-US" sz="2400" b="1" dirty="0">
              <a:solidFill>
                <a:srgbClr val="00000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52964"/>
                                        </p:tgtEl>
                                        <p:attrNameLst>
                                          <p:attrName>style.visibility</p:attrName>
                                        </p:attrNameLst>
                                      </p:cBhvr>
                                      <p:to>
                                        <p:strVal val="visible"/>
                                      </p:to>
                                    </p:set>
                                    <p:animEffect transition="in" filter="barn(inHorizontal)">
                                      <p:cBhvr>
                                        <p:cTn id="7" dur="500"/>
                                        <p:tgtEl>
                                          <p:spTgt spid="55296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arn(in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arn(inHorizontal)">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7190" y="276860"/>
            <a:ext cx="6043930" cy="593090"/>
          </a:xfrm>
        </p:spPr>
        <p:txBody>
          <a:bodyPr/>
          <a:lstStyle/>
          <a:p>
            <a:r>
              <a:rPr lang="en-US" altLang="zh-CN" dirty="0"/>
              <a:t>5.1.1 </a:t>
            </a:r>
            <a:r>
              <a:rPr lang="zh-CN" altLang="en-US" dirty="0"/>
              <a:t>属性和属性文法</a:t>
            </a:r>
            <a:endParaRPr lang="zh-CN" altLang="en-US" dirty="0"/>
          </a:p>
        </p:txBody>
      </p:sp>
      <p:sp>
        <p:nvSpPr>
          <p:cNvPr id="5" name="内容占位符 5"/>
          <p:cNvSpPr txBox="1">
            <a:spLocks noChangeArrowheads="1"/>
          </p:cNvSpPr>
          <p:nvPr/>
        </p:nvSpPr>
        <p:spPr>
          <a:xfrm>
            <a:off x="376555" y="1163320"/>
            <a:ext cx="11482070" cy="46964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Font typeface="Wingdings" panose="05000000000000000000" charset="0"/>
              <a:buChar char="p"/>
            </a:pPr>
            <a:r>
              <a:rPr lang="zh-CN" altLang="en-US" b="1" dirty="0">
                <a:latin typeface="+mn-ea"/>
              </a:rPr>
              <a:t>属性文法的作用？</a:t>
            </a:r>
            <a:endParaRPr lang="en-US" altLang="zh-CN" b="1" dirty="0">
              <a:latin typeface="+mn-ea"/>
            </a:endParaRPr>
          </a:p>
          <a:p>
            <a:pPr lvl="1" fontAlgn="auto">
              <a:lnSpc>
                <a:spcPct val="125000"/>
              </a:lnSpc>
              <a:buFont typeface="Wingdings" panose="05000000000000000000" charset="0"/>
              <a:buChar char="p"/>
            </a:pPr>
            <a:r>
              <a:rPr lang="zh-CN" altLang="en-US" b="1" dirty="0">
                <a:latin typeface="+mn-ea"/>
              </a:rPr>
              <a:t>根据语义规则，遍历语法分析的结果</a:t>
            </a:r>
            <a:r>
              <a:rPr lang="en-US" altLang="zh-CN" b="1" dirty="0">
                <a:latin typeface="+mn-ea"/>
              </a:rPr>
              <a:t>---</a:t>
            </a:r>
            <a:r>
              <a:rPr lang="zh-CN" altLang="en-US" b="1" dirty="0">
                <a:latin typeface="+mn-ea"/>
              </a:rPr>
              <a:t>语法树或分析树，计算</a:t>
            </a:r>
            <a:r>
              <a:rPr lang="zh-CN" altLang="en-US" b="1" dirty="0">
                <a:latin typeface="+mn-ea"/>
              </a:rPr>
              <a:t>句子推导过程中各文法符号对应的属性值（例如：</a:t>
            </a:r>
            <a:r>
              <a:rPr lang="zh-CN" altLang="en-US" b="1" dirty="0">
                <a:solidFill>
                  <a:srgbClr val="0070C0"/>
                </a:solidFill>
                <a:latin typeface="+mn-ea"/>
                <a:sym typeface="Symbol" panose="05050102010706020507" pitchFamily="18" charset="2"/>
              </a:rPr>
              <a:t>变量的数据类型</a:t>
            </a:r>
            <a:r>
              <a:rPr lang="en-US" altLang="zh-CN" b="1" dirty="0">
                <a:solidFill>
                  <a:srgbClr val="000000"/>
                </a:solidFill>
                <a:latin typeface="+mn-ea"/>
                <a:sym typeface="Symbol" panose="05050102010706020507" pitchFamily="18" charset="2"/>
              </a:rPr>
              <a:t>、</a:t>
            </a:r>
            <a:r>
              <a:rPr lang="zh-CN" altLang="en-US" b="1" dirty="0">
                <a:solidFill>
                  <a:srgbClr val="0070C0"/>
                </a:solidFill>
                <a:latin typeface="+mn-ea"/>
                <a:sym typeface="Symbol" panose="05050102010706020507" pitchFamily="18" charset="2"/>
              </a:rPr>
              <a:t>表达式的值</a:t>
            </a:r>
            <a:r>
              <a:rPr lang="zh-CN" altLang="en-US" b="1" dirty="0">
                <a:solidFill>
                  <a:srgbClr val="000000"/>
                </a:solidFill>
                <a:latin typeface="+mn-ea"/>
                <a:sym typeface="Symbol" panose="05050102010706020507" pitchFamily="18" charset="2"/>
              </a:rPr>
              <a:t>、</a:t>
            </a:r>
            <a:r>
              <a:rPr lang="zh-CN" altLang="en-US" b="1" dirty="0">
                <a:solidFill>
                  <a:srgbClr val="0070C0"/>
                </a:solidFill>
                <a:latin typeface="+mn-ea"/>
                <a:sym typeface="Symbol" panose="05050102010706020507" pitchFamily="18" charset="2"/>
              </a:rPr>
              <a:t>存储器中变量的位置</a:t>
            </a:r>
            <a:r>
              <a:rPr lang="zh-CN" altLang="en-US" b="1" dirty="0">
                <a:solidFill>
                  <a:srgbClr val="000000"/>
                </a:solidFill>
                <a:latin typeface="+mn-ea"/>
                <a:sym typeface="Symbol" panose="05050102010706020507" pitchFamily="18" charset="2"/>
              </a:rPr>
              <a:t>、</a:t>
            </a:r>
            <a:r>
              <a:rPr lang="zh-CN" altLang="en-US" b="1" dirty="0">
                <a:solidFill>
                  <a:srgbClr val="0070C0"/>
                </a:solidFill>
                <a:latin typeface="+mn-ea"/>
                <a:sym typeface="Symbol" panose="05050102010706020507" pitchFamily="18" charset="2"/>
              </a:rPr>
              <a:t>程序的目标代码</a:t>
            </a:r>
            <a:r>
              <a:rPr lang="zh-CN" altLang="en-US" b="1" dirty="0">
                <a:solidFill>
                  <a:srgbClr val="000000"/>
                </a:solidFill>
                <a:latin typeface="+mn-ea"/>
                <a:sym typeface="Symbol" panose="05050102010706020507" pitchFamily="18" charset="2"/>
              </a:rPr>
              <a:t>、或</a:t>
            </a:r>
            <a:r>
              <a:rPr lang="zh-CN" altLang="en-US" b="1" dirty="0">
                <a:solidFill>
                  <a:srgbClr val="0070C0"/>
                </a:solidFill>
                <a:latin typeface="+mn-ea"/>
                <a:sym typeface="Symbol" panose="05050102010706020507" pitchFamily="18" charset="2"/>
              </a:rPr>
              <a:t>数的有效位数等</a:t>
            </a:r>
            <a:r>
              <a:rPr lang="zh-CN" altLang="en-US" b="1" dirty="0">
                <a:latin typeface="+mn-ea"/>
              </a:rPr>
              <a:t>），</a:t>
            </a:r>
            <a:endParaRPr lang="en-US" altLang="zh-CN" b="1" dirty="0">
              <a:latin typeface="+mn-ea"/>
            </a:endParaRPr>
          </a:p>
          <a:p>
            <a:pPr lvl="1" fontAlgn="auto">
              <a:lnSpc>
                <a:spcPct val="125000"/>
              </a:lnSpc>
              <a:buFont typeface="Wingdings" panose="05000000000000000000" charset="0"/>
              <a:buChar char="p"/>
            </a:pPr>
            <a:r>
              <a:rPr lang="zh-CN" altLang="en-US" b="1" dirty="0">
                <a:latin typeface="+mn-ea"/>
              </a:rPr>
              <a:t>根据属性值分析相关语义，或者将属性值存储在符号表中，以供编译的后续阶段使用。</a:t>
            </a:r>
            <a:endParaRPr lang="zh-CN" altLang="en-US" b="1" dirty="0">
              <a:latin typeface="+mn-ea"/>
            </a:endParaRPr>
          </a:p>
          <a:p>
            <a:pPr fontAlgn="auto">
              <a:lnSpc>
                <a:spcPct val="125000"/>
              </a:lnSpc>
              <a:buFont typeface="Wingdings" panose="05000000000000000000" charset="0"/>
              <a:buChar char="p"/>
              <a:defRPr/>
            </a:pPr>
            <a:r>
              <a:rPr kumimoji="1" lang="zh-CN" altLang="en-US" sz="2400" b="1" dirty="0">
                <a:solidFill>
                  <a:srgbClr val="000000"/>
                </a:solidFill>
                <a:latin typeface="+mn-ea"/>
                <a:sym typeface="+mn-ea"/>
              </a:rPr>
              <a:t>例</a:t>
            </a:r>
            <a:r>
              <a:rPr kumimoji="1" lang="en-US" altLang="zh-CN" sz="2400" b="1" dirty="0">
                <a:solidFill>
                  <a:srgbClr val="000000"/>
                </a:solidFill>
                <a:latin typeface="+mn-ea"/>
                <a:sym typeface="+mn-ea"/>
              </a:rPr>
              <a:t>5</a:t>
            </a:r>
            <a:r>
              <a:rPr kumimoji="1" lang="zh-CN" altLang="en-US" sz="2400" b="1" dirty="0">
                <a:solidFill>
                  <a:srgbClr val="000000"/>
                </a:solidFill>
                <a:latin typeface="+mn-ea"/>
                <a:sym typeface="+mn-ea"/>
              </a:rPr>
              <a:t>.1：求解下述无符号数文法的</a:t>
            </a:r>
            <a:r>
              <a:rPr kumimoji="1" lang="en-US" altLang="zh-CN" sz="2400" b="1" dirty="0" err="1">
                <a:solidFill>
                  <a:srgbClr val="0070C0"/>
                </a:solidFill>
                <a:latin typeface="+mn-ea"/>
                <a:sym typeface="+mn-ea"/>
              </a:rPr>
              <a:t>val</a:t>
            </a:r>
            <a:r>
              <a:rPr kumimoji="1" lang="en-US" altLang="zh-CN" sz="2400" b="1" dirty="0">
                <a:solidFill>
                  <a:srgbClr val="0070C0"/>
                </a:solidFill>
                <a:latin typeface="+mn-ea"/>
                <a:sym typeface="+mn-ea"/>
              </a:rPr>
              <a:t>(</a:t>
            </a:r>
            <a:r>
              <a:rPr kumimoji="1" lang="zh-CN" altLang="en-US" sz="2400" b="1" dirty="0">
                <a:solidFill>
                  <a:srgbClr val="0070C0"/>
                </a:solidFill>
                <a:latin typeface="+mn-ea"/>
                <a:sym typeface="+mn-ea"/>
              </a:rPr>
              <a:t>十进制值)</a:t>
            </a:r>
            <a:r>
              <a:rPr kumimoji="1" lang="zh-CN" altLang="en-US" sz="2400" b="1" dirty="0">
                <a:solidFill>
                  <a:srgbClr val="000000"/>
                </a:solidFill>
                <a:latin typeface="+mn-ea"/>
                <a:sym typeface="+mn-ea"/>
              </a:rPr>
              <a:t>属性的</a:t>
            </a:r>
            <a:r>
              <a:rPr kumimoji="1" lang="zh-CN" altLang="en-US" sz="2400" b="1" dirty="0">
                <a:solidFill>
                  <a:schemeClr val="hlink"/>
                </a:solidFill>
                <a:latin typeface="+mn-ea"/>
                <a:sym typeface="+mn-ea"/>
              </a:rPr>
              <a:t>属性文法。</a:t>
            </a:r>
            <a:endParaRPr kumimoji="1" lang="zh-CN" altLang="en-US" sz="2400" b="1" dirty="0">
              <a:solidFill>
                <a:srgbClr val="000000"/>
              </a:solidFill>
              <a:latin typeface="+mn-ea"/>
            </a:endParaRPr>
          </a:p>
          <a:p>
            <a:pPr lvl="1" indent="-436880" fontAlgn="auto">
              <a:lnSpc>
                <a:spcPct val="125000"/>
              </a:lnSpc>
              <a:buFont typeface="Wingdings" panose="05000000000000000000" charset="0"/>
              <a:buChar char="p"/>
              <a:defRPr/>
            </a:pPr>
            <a:r>
              <a:rPr kumimoji="1" lang="en-US" altLang="zh-CN" sz="2400" b="1" i="1" dirty="0" err="1">
                <a:solidFill>
                  <a:srgbClr val="000000"/>
                </a:solidFill>
                <a:latin typeface="+mn-ea"/>
                <a:cs typeface="+mn-ea"/>
                <a:sym typeface="+mn-ea"/>
              </a:rPr>
              <a:t>number</a:t>
            </a:r>
            <a:r>
              <a:rPr kumimoji="1" lang="en-US" altLang="zh-CN" sz="2400" b="1" dirty="0" err="1">
                <a:solidFill>
                  <a:srgbClr val="000000"/>
                </a:solidFill>
                <a:latin typeface="+mn-ea"/>
                <a:cs typeface="+mn-ea"/>
                <a:sym typeface="+mn-ea"/>
              </a:rPr>
              <a:t>→</a:t>
            </a:r>
            <a:r>
              <a:rPr kumimoji="1" lang="en-US" altLang="zh-CN" sz="2400" b="1" i="1" dirty="0" err="1">
                <a:solidFill>
                  <a:srgbClr val="000000"/>
                </a:solidFill>
                <a:latin typeface="+mn-ea"/>
                <a:cs typeface="+mn-ea"/>
                <a:sym typeface="+mn-ea"/>
              </a:rPr>
              <a:t>number</a:t>
            </a:r>
            <a:r>
              <a:rPr kumimoji="1" lang="en-US" altLang="zh-CN" sz="2400" b="1" dirty="0">
                <a:solidFill>
                  <a:srgbClr val="000000"/>
                </a:solidFill>
                <a:latin typeface="+mn-ea"/>
                <a:cs typeface="+mn-ea"/>
                <a:sym typeface="+mn-ea"/>
              </a:rPr>
              <a:t> </a:t>
            </a:r>
            <a:r>
              <a:rPr kumimoji="1" lang="en-US" altLang="zh-CN" sz="2400" b="1" i="1" dirty="0">
                <a:solidFill>
                  <a:srgbClr val="000000"/>
                </a:solidFill>
                <a:latin typeface="+mn-ea"/>
                <a:cs typeface="+mn-ea"/>
                <a:sym typeface="+mn-ea"/>
              </a:rPr>
              <a:t>digit</a:t>
            </a:r>
            <a:r>
              <a:rPr kumimoji="1" lang="en-US" altLang="zh-CN" sz="2400" b="1" dirty="0">
                <a:solidFill>
                  <a:srgbClr val="000000"/>
                </a:solidFill>
                <a:latin typeface="+mn-ea"/>
                <a:cs typeface="+mn-ea"/>
                <a:sym typeface="+mn-ea"/>
              </a:rPr>
              <a:t> |</a:t>
            </a:r>
            <a:r>
              <a:rPr kumimoji="1" lang="en-US" altLang="zh-CN" sz="2400" b="1" i="1" dirty="0">
                <a:solidFill>
                  <a:srgbClr val="000000"/>
                </a:solidFill>
                <a:latin typeface="+mn-ea"/>
                <a:cs typeface="+mn-ea"/>
                <a:sym typeface="+mn-ea"/>
              </a:rPr>
              <a:t>digit</a:t>
            </a:r>
            <a:endParaRPr kumimoji="1" lang="en-US" altLang="zh-CN" sz="2400" b="1" i="1" dirty="0">
              <a:solidFill>
                <a:srgbClr val="000000"/>
              </a:solidFill>
              <a:latin typeface="+mn-ea"/>
              <a:cs typeface="+mn-ea"/>
            </a:endParaRPr>
          </a:p>
          <a:p>
            <a:pPr lvl="1" indent="-436880" fontAlgn="auto">
              <a:lnSpc>
                <a:spcPct val="125000"/>
              </a:lnSpc>
              <a:buFont typeface="Wingdings" panose="05000000000000000000" charset="0"/>
              <a:buChar char="p"/>
              <a:defRPr/>
            </a:pPr>
            <a:r>
              <a:rPr kumimoji="1" lang="en-US" altLang="zh-CN" sz="2400" b="1" i="1" dirty="0">
                <a:solidFill>
                  <a:srgbClr val="000000"/>
                </a:solidFill>
                <a:latin typeface="+mn-ea"/>
                <a:cs typeface="+mn-ea"/>
                <a:sym typeface="+mn-ea"/>
              </a:rPr>
              <a:t>digit</a:t>
            </a:r>
            <a:r>
              <a:rPr kumimoji="1" lang="en-US" altLang="zh-CN" sz="2400" b="1" dirty="0">
                <a:solidFill>
                  <a:srgbClr val="000000"/>
                </a:solidFill>
                <a:latin typeface="+mn-ea"/>
                <a:cs typeface="+mn-ea"/>
                <a:sym typeface="+mn-ea"/>
              </a:rPr>
              <a:t>→0|1|2|3|4| 5 |6|7|8|9</a:t>
            </a:r>
            <a:endParaRPr kumimoji="1" lang="en-US" altLang="zh-CN" sz="2400" b="1" dirty="0">
              <a:solidFill>
                <a:srgbClr val="000000"/>
              </a:solidFill>
              <a:latin typeface="+mn-ea"/>
              <a:cs typeface="+mn-ea"/>
            </a:endParaRPr>
          </a:p>
          <a:p>
            <a:pPr lvl="1">
              <a:lnSpc>
                <a:spcPct val="130000"/>
              </a:lnSpc>
              <a:buFont typeface="Wingdings" panose="05000000000000000000" charset="0"/>
              <a:buChar char="p"/>
            </a:pP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Horizontal)">
                                      <p:cBhvr>
                                        <p:cTn id="7" dur="500"/>
                                        <p:tgtEl>
                                          <p:spTgt spid="5">
                                            <p:txEl>
                                              <p:pRg st="0" end="0"/>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arn(inHorizontal)">
                                      <p:cBhvr>
                                        <p:cTn id="10" dur="500"/>
                                        <p:tgtEl>
                                          <p:spTgt spid="5">
                                            <p:txEl>
                                              <p:pRg st="1" end="1"/>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arn(inHorizontal)">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arn(inHorizontal)">
                                      <p:cBhvr>
                                        <p:cTn id="18" dur="500"/>
                                        <p:tgtEl>
                                          <p:spTgt spid="5">
                                            <p:txEl>
                                              <p:pRg st="3" end="3"/>
                                            </p:txEl>
                                          </p:spTgt>
                                        </p:tgtEl>
                                      </p:cBhvr>
                                    </p:animEffect>
                                  </p:childTnLst>
                                </p:cTn>
                              </p:par>
                              <p:par>
                                <p:cTn id="19" presetID="16" presetClass="entr" presetSubtype="26"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arn(inHorizontal)">
                                      <p:cBhvr>
                                        <p:cTn id="21" dur="500"/>
                                        <p:tgtEl>
                                          <p:spTgt spid="5">
                                            <p:txEl>
                                              <p:pRg st="4" end="4"/>
                                            </p:txEl>
                                          </p:spTgt>
                                        </p:tgtEl>
                                      </p:cBhvr>
                                    </p:animEffect>
                                  </p:childTnLst>
                                </p:cTn>
                              </p:par>
                              <p:par>
                                <p:cTn id="22" presetID="16" presetClass="entr" presetSubtype="26"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barn(inHorizontal)">
                                      <p:cBhvr>
                                        <p:cTn id="24"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56565" y="276860"/>
            <a:ext cx="5920105" cy="593090"/>
          </a:xfrm>
        </p:spPr>
        <p:txBody>
          <a:bodyPr/>
          <a:lstStyle/>
          <a:p>
            <a:r>
              <a:rPr lang="en-US" altLang="zh-CN" dirty="0"/>
              <a:t>5.1.1 </a:t>
            </a:r>
            <a:r>
              <a:rPr lang="zh-CN" altLang="en-US" dirty="0"/>
              <a:t>属性和属性文法</a:t>
            </a:r>
            <a:endParaRPr lang="zh-CN" altLang="en-US"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24437" y="1571055"/>
            <a:ext cx="5027613" cy="4774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p:cNvSpPr>
            <a:spLocks noChangeArrowheads="1"/>
          </p:cNvSpPr>
          <p:nvPr/>
        </p:nvSpPr>
        <p:spPr bwMode="auto">
          <a:xfrm>
            <a:off x="7989570" y="1133475"/>
            <a:ext cx="37947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070C0"/>
                </a:solidFill>
                <a:latin typeface="+mn-ea"/>
              </a:rPr>
              <a:t>数345对应的分析树</a:t>
            </a:r>
            <a:endParaRPr lang="zh-CN" altLang="en-US" sz="2800" b="1" dirty="0">
              <a:solidFill>
                <a:srgbClr val="0070C0"/>
              </a:solidFill>
              <a:latin typeface="+mn-ea"/>
            </a:endParaRPr>
          </a:p>
        </p:txBody>
      </p:sp>
      <p:sp>
        <p:nvSpPr>
          <p:cNvPr id="13" name="Rectangle 8"/>
          <p:cNvSpPr>
            <a:spLocks noChangeArrowheads="1"/>
          </p:cNvSpPr>
          <p:nvPr/>
        </p:nvSpPr>
        <p:spPr bwMode="auto">
          <a:xfrm>
            <a:off x="8243677" y="1810238"/>
            <a:ext cx="3384550"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14" name="Rectangle 9"/>
          <p:cNvSpPr>
            <a:spLocks noChangeArrowheads="1"/>
          </p:cNvSpPr>
          <p:nvPr/>
        </p:nvSpPr>
        <p:spPr bwMode="auto">
          <a:xfrm>
            <a:off x="7015482" y="2884723"/>
            <a:ext cx="3095625"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15" name="Rectangle 10"/>
          <p:cNvSpPr>
            <a:spLocks noChangeArrowheads="1"/>
          </p:cNvSpPr>
          <p:nvPr/>
        </p:nvSpPr>
        <p:spPr bwMode="auto">
          <a:xfrm>
            <a:off x="10697422" y="2936605"/>
            <a:ext cx="1117600" cy="287338"/>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16" name="Rectangle 11"/>
          <p:cNvSpPr>
            <a:spLocks noChangeArrowheads="1"/>
          </p:cNvSpPr>
          <p:nvPr/>
        </p:nvSpPr>
        <p:spPr bwMode="auto">
          <a:xfrm>
            <a:off x="6661465" y="4010743"/>
            <a:ext cx="1368425"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17" name="Rectangle 12"/>
          <p:cNvSpPr>
            <a:spLocks noChangeArrowheads="1"/>
          </p:cNvSpPr>
          <p:nvPr/>
        </p:nvSpPr>
        <p:spPr bwMode="auto">
          <a:xfrm>
            <a:off x="9179508" y="4033773"/>
            <a:ext cx="1512887"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18" name="Rectangle 13"/>
          <p:cNvSpPr>
            <a:spLocks noChangeArrowheads="1"/>
          </p:cNvSpPr>
          <p:nvPr/>
        </p:nvSpPr>
        <p:spPr bwMode="auto">
          <a:xfrm>
            <a:off x="6308514" y="5324410"/>
            <a:ext cx="1800225"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10" name="Rectangle 3"/>
          <p:cNvSpPr>
            <a:spLocks noChangeArrowheads="1"/>
          </p:cNvSpPr>
          <p:nvPr>
            <p:custDataLst>
              <p:tags r:id="rId2"/>
            </p:custDataLst>
          </p:nvPr>
        </p:nvSpPr>
        <p:spPr bwMode="auto">
          <a:xfrm>
            <a:off x="370205" y="1232852"/>
            <a:ext cx="41529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indent="0" fontAlgn="auto">
              <a:lnSpc>
                <a:spcPct val="125000"/>
              </a:lnSpc>
            </a:pPr>
            <a:r>
              <a:rPr lang="en-US" altLang="zh-CN" sz="2400" b="1" i="1" dirty="0">
                <a:solidFill>
                  <a:srgbClr val="000000"/>
                </a:solidFill>
                <a:latin typeface="+mn-ea"/>
              </a:rPr>
              <a:t>number1</a:t>
            </a:r>
            <a:r>
              <a:rPr lang="en-US" altLang="zh-CN" sz="2400" b="1" dirty="0">
                <a:solidFill>
                  <a:srgbClr val="000000"/>
                </a:solidFill>
                <a:latin typeface="+mn-ea"/>
              </a:rPr>
              <a:t>→</a:t>
            </a:r>
            <a:r>
              <a:rPr lang="en-US" altLang="zh-CN" sz="2400" b="1" i="1" dirty="0">
                <a:solidFill>
                  <a:srgbClr val="000000"/>
                </a:solidFill>
                <a:latin typeface="+mn-ea"/>
              </a:rPr>
              <a:t>number2</a:t>
            </a:r>
            <a:r>
              <a:rPr lang="en-US" altLang="zh-CN" sz="2400" b="1" dirty="0">
                <a:solidFill>
                  <a:srgbClr val="000000"/>
                </a:solidFill>
                <a:latin typeface="+mn-ea"/>
              </a:rPr>
              <a:t> </a:t>
            </a:r>
            <a:r>
              <a:rPr lang="en-US" altLang="zh-CN" sz="2400" b="1" i="1" dirty="0">
                <a:solidFill>
                  <a:srgbClr val="000000"/>
                </a:solidFill>
                <a:latin typeface="+mn-ea"/>
              </a:rPr>
              <a:t>digit</a:t>
            </a:r>
            <a:endParaRPr lang="zh-CN" altLang="en-US" sz="2400" b="1" i="1" dirty="0">
              <a:solidFill>
                <a:srgbClr val="000000"/>
              </a:solidFill>
              <a:latin typeface="+mn-ea"/>
            </a:endParaRPr>
          </a:p>
        </p:txBody>
      </p:sp>
      <p:sp>
        <p:nvSpPr>
          <p:cNvPr id="2" name="Rectangle 4"/>
          <p:cNvSpPr>
            <a:spLocks noChangeArrowheads="1"/>
          </p:cNvSpPr>
          <p:nvPr>
            <p:custDataLst>
              <p:tags r:id="rId3"/>
            </p:custDataLst>
          </p:nvPr>
        </p:nvSpPr>
        <p:spPr bwMode="auto">
          <a:xfrm>
            <a:off x="2326640" y="1743710"/>
            <a:ext cx="43345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indent="0" fontAlgn="auto">
              <a:lnSpc>
                <a:spcPct val="125000"/>
              </a:lnSpc>
              <a:spcBef>
                <a:spcPts val="0"/>
              </a:spcBef>
            </a:pPr>
            <a:r>
              <a:rPr lang="en-US" altLang="zh-CN" sz="2400" b="1" i="1" dirty="0">
                <a:solidFill>
                  <a:srgbClr val="FF0000"/>
                </a:solidFill>
                <a:latin typeface="+mn-ea"/>
              </a:rPr>
              <a:t>number1</a:t>
            </a:r>
            <a:r>
              <a:rPr lang="en-US" altLang="zh-CN" sz="2400" b="1" dirty="0">
                <a:solidFill>
                  <a:srgbClr val="FF0000"/>
                </a:solidFill>
                <a:latin typeface="+mn-ea"/>
              </a:rPr>
              <a:t>.val = </a:t>
            </a:r>
            <a:r>
              <a:rPr lang="en-US" altLang="zh-CN" sz="2400" b="1" i="1" dirty="0">
                <a:solidFill>
                  <a:srgbClr val="FF0000"/>
                </a:solidFill>
                <a:latin typeface="+mn-ea"/>
              </a:rPr>
              <a:t>number2</a:t>
            </a:r>
            <a:r>
              <a:rPr lang="en-US" altLang="zh-CN" sz="2400" b="1" dirty="0">
                <a:solidFill>
                  <a:srgbClr val="FF0000"/>
                </a:solidFill>
                <a:latin typeface="+mn-ea"/>
              </a:rPr>
              <a:t>.val*10  + </a:t>
            </a:r>
            <a:r>
              <a:rPr lang="en-US" altLang="zh-CN" sz="2400" b="1" i="1" dirty="0" err="1">
                <a:solidFill>
                  <a:srgbClr val="FF0000"/>
                </a:solidFill>
                <a:latin typeface="+mn-ea"/>
              </a:rPr>
              <a:t>digit</a:t>
            </a:r>
            <a:r>
              <a:rPr lang="en-US" altLang="zh-CN" sz="2400" b="1" dirty="0" err="1">
                <a:solidFill>
                  <a:srgbClr val="FF0000"/>
                </a:solidFill>
                <a:latin typeface="+mn-ea"/>
              </a:rPr>
              <a:t>.val</a:t>
            </a:r>
            <a:endParaRPr lang="en-US" altLang="zh-CN" sz="2400" b="1" dirty="0" err="1">
              <a:solidFill>
                <a:srgbClr val="FF0000"/>
              </a:solidFill>
              <a:latin typeface="+mn-ea"/>
            </a:endParaRPr>
          </a:p>
        </p:txBody>
      </p:sp>
      <p:sp>
        <p:nvSpPr>
          <p:cNvPr id="3" name="Rectangle 5"/>
          <p:cNvSpPr>
            <a:spLocks noChangeArrowheads="1"/>
          </p:cNvSpPr>
          <p:nvPr>
            <p:custDataLst>
              <p:tags r:id="rId4"/>
            </p:custDataLst>
          </p:nvPr>
        </p:nvSpPr>
        <p:spPr bwMode="auto">
          <a:xfrm>
            <a:off x="413385" y="2758757"/>
            <a:ext cx="350520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indent="0" fontAlgn="auto">
              <a:lnSpc>
                <a:spcPct val="125000"/>
              </a:lnSpc>
            </a:pPr>
            <a:r>
              <a:rPr lang="en-US" altLang="zh-CN" sz="2400" b="1" i="1">
                <a:solidFill>
                  <a:srgbClr val="000000"/>
                </a:solidFill>
                <a:latin typeface="+mn-ea"/>
              </a:rPr>
              <a:t>number→digit</a:t>
            </a:r>
            <a:endParaRPr lang="zh-CN" altLang="en-US" sz="2400" b="1" i="1">
              <a:solidFill>
                <a:srgbClr val="000000"/>
              </a:solidFill>
              <a:latin typeface="+mn-ea"/>
            </a:endParaRPr>
          </a:p>
        </p:txBody>
      </p:sp>
      <p:sp>
        <p:nvSpPr>
          <p:cNvPr id="4" name="Rectangle 6"/>
          <p:cNvSpPr>
            <a:spLocks noChangeArrowheads="1"/>
          </p:cNvSpPr>
          <p:nvPr>
            <p:custDataLst>
              <p:tags r:id="rId5"/>
            </p:custDataLst>
          </p:nvPr>
        </p:nvSpPr>
        <p:spPr bwMode="auto">
          <a:xfrm>
            <a:off x="2948940" y="2852420"/>
            <a:ext cx="3775710"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indent="0" fontAlgn="auto">
              <a:lnSpc>
                <a:spcPct val="125000"/>
              </a:lnSpc>
            </a:pPr>
            <a:r>
              <a:rPr lang="en-US" altLang="zh-CN" sz="2400" b="1" dirty="0">
                <a:solidFill>
                  <a:srgbClr val="000000"/>
                </a:solidFill>
                <a:latin typeface="+mn-ea"/>
              </a:rPr>
              <a:t>    </a:t>
            </a:r>
            <a:r>
              <a:rPr lang="en-US" altLang="zh-CN" sz="2400" b="1" i="1" dirty="0" err="1">
                <a:solidFill>
                  <a:srgbClr val="FF0000"/>
                </a:solidFill>
                <a:latin typeface="+mn-ea"/>
              </a:rPr>
              <a:t>number</a:t>
            </a:r>
            <a:r>
              <a:rPr lang="en-US" altLang="zh-CN" sz="2400" b="1" dirty="0" err="1">
                <a:solidFill>
                  <a:srgbClr val="FF0000"/>
                </a:solidFill>
                <a:latin typeface="+mn-ea"/>
              </a:rPr>
              <a:t>.val</a:t>
            </a:r>
            <a:r>
              <a:rPr lang="en-US" altLang="zh-CN" sz="2400" b="1" dirty="0">
                <a:solidFill>
                  <a:srgbClr val="FF0000"/>
                </a:solidFill>
                <a:latin typeface="+mn-ea"/>
              </a:rPr>
              <a:t> =</a:t>
            </a:r>
            <a:r>
              <a:rPr lang="en-US" altLang="zh-CN" sz="2400" b="1" i="1" dirty="0" err="1">
                <a:solidFill>
                  <a:srgbClr val="FF0000"/>
                </a:solidFill>
                <a:latin typeface="+mn-ea"/>
              </a:rPr>
              <a:t>digit</a:t>
            </a:r>
            <a:r>
              <a:rPr lang="en-US" altLang="zh-CN" sz="2400" b="1" dirty="0" err="1">
                <a:solidFill>
                  <a:srgbClr val="FF0000"/>
                </a:solidFill>
                <a:latin typeface="+mn-ea"/>
              </a:rPr>
              <a:t>.val</a:t>
            </a:r>
            <a:endParaRPr lang="en-US" altLang="zh-CN" sz="2400" b="1" dirty="0" err="1">
              <a:solidFill>
                <a:srgbClr val="FF0000"/>
              </a:solidFill>
              <a:latin typeface="+mn-ea"/>
            </a:endParaRPr>
          </a:p>
        </p:txBody>
      </p:sp>
      <p:sp>
        <p:nvSpPr>
          <p:cNvPr id="6" name="Rectangle 2"/>
          <p:cNvSpPr>
            <a:spLocks noChangeArrowheads="1"/>
          </p:cNvSpPr>
          <p:nvPr>
            <p:custDataLst>
              <p:tags r:id="rId6"/>
            </p:custDataLst>
          </p:nvPr>
        </p:nvSpPr>
        <p:spPr bwMode="auto">
          <a:xfrm>
            <a:off x="456565" y="3407410"/>
            <a:ext cx="7580630" cy="2399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indent="0" fontAlgn="auto">
              <a:lnSpc>
                <a:spcPct val="125000"/>
              </a:lnSpc>
              <a:spcBef>
                <a:spcPts val="0"/>
              </a:spcBef>
            </a:pPr>
            <a:r>
              <a:rPr lang="en-US" altLang="zh-CN" sz="2400" b="1" i="1" dirty="0">
                <a:solidFill>
                  <a:srgbClr val="000000"/>
                </a:solidFill>
                <a:latin typeface="+mn-ea"/>
              </a:rPr>
              <a:t>digit</a:t>
            </a:r>
            <a:r>
              <a:rPr lang="en-US" altLang="zh-CN" sz="2400" b="1" dirty="0">
                <a:solidFill>
                  <a:srgbClr val="000000"/>
                </a:solidFill>
                <a:latin typeface="+mn-ea"/>
              </a:rPr>
              <a:t> → 0                     	      </a:t>
            </a:r>
            <a:r>
              <a:rPr lang="en-US" altLang="zh-CN" sz="2400" b="1" i="1" dirty="0" err="1">
                <a:solidFill>
                  <a:srgbClr val="FF0000"/>
                </a:solidFill>
                <a:latin typeface="+mn-ea"/>
              </a:rPr>
              <a:t>digit</a:t>
            </a:r>
            <a:r>
              <a:rPr lang="en-US" altLang="zh-CN" sz="2400" b="1" dirty="0" err="1">
                <a:solidFill>
                  <a:srgbClr val="FF0000"/>
                </a:solidFill>
                <a:latin typeface="+mn-ea"/>
              </a:rPr>
              <a:t>.val</a:t>
            </a:r>
            <a:r>
              <a:rPr lang="en-US" altLang="zh-CN" sz="2400" b="1" dirty="0">
                <a:solidFill>
                  <a:srgbClr val="FF0000"/>
                </a:solidFill>
                <a:latin typeface="+mn-ea"/>
              </a:rPr>
              <a:t> = 0</a:t>
            </a:r>
            <a:endParaRPr lang="en-US" altLang="zh-CN" sz="2400" b="1" dirty="0">
              <a:solidFill>
                <a:srgbClr val="000000"/>
              </a:solidFill>
              <a:latin typeface="+mn-ea"/>
            </a:endParaRPr>
          </a:p>
          <a:p>
            <a:pPr indent="0" fontAlgn="auto">
              <a:lnSpc>
                <a:spcPct val="125000"/>
              </a:lnSpc>
              <a:spcBef>
                <a:spcPts val="0"/>
              </a:spcBef>
            </a:pPr>
            <a:r>
              <a:rPr lang="en-US" altLang="zh-CN" sz="2400" b="1" i="1" dirty="0">
                <a:solidFill>
                  <a:srgbClr val="000000"/>
                </a:solidFill>
                <a:latin typeface="+mn-ea"/>
              </a:rPr>
              <a:t>digit</a:t>
            </a:r>
            <a:r>
              <a:rPr lang="en-US" altLang="zh-CN" sz="2400" b="1" dirty="0">
                <a:solidFill>
                  <a:srgbClr val="000000"/>
                </a:solidFill>
                <a:latin typeface="+mn-ea"/>
              </a:rPr>
              <a:t> → 1           			      </a:t>
            </a:r>
            <a:r>
              <a:rPr lang="en-US" altLang="zh-CN" sz="2400" b="1" i="1" dirty="0" err="1">
                <a:solidFill>
                  <a:srgbClr val="FF0000"/>
                </a:solidFill>
                <a:latin typeface="+mn-ea"/>
              </a:rPr>
              <a:t>digit</a:t>
            </a:r>
            <a:r>
              <a:rPr lang="en-US" altLang="zh-CN" sz="2400" b="1" dirty="0" err="1">
                <a:solidFill>
                  <a:srgbClr val="FF0000"/>
                </a:solidFill>
                <a:latin typeface="+mn-ea"/>
              </a:rPr>
              <a:t>.val</a:t>
            </a:r>
            <a:r>
              <a:rPr lang="en-US" altLang="zh-CN" sz="2400" b="1" dirty="0">
                <a:solidFill>
                  <a:srgbClr val="FF0000"/>
                </a:solidFill>
                <a:latin typeface="+mn-ea"/>
              </a:rPr>
              <a:t> = 1</a:t>
            </a:r>
            <a:endParaRPr lang="en-US" altLang="zh-CN" sz="2400" b="1" dirty="0">
              <a:solidFill>
                <a:srgbClr val="000000"/>
              </a:solidFill>
              <a:latin typeface="+mn-ea"/>
            </a:endParaRPr>
          </a:p>
          <a:p>
            <a:pPr indent="0" fontAlgn="auto">
              <a:lnSpc>
                <a:spcPct val="125000"/>
              </a:lnSpc>
              <a:spcBef>
                <a:spcPts val="0"/>
              </a:spcBef>
            </a:pPr>
            <a:r>
              <a:rPr lang="en-US" altLang="zh-CN" sz="2400" b="1" i="1" dirty="0">
                <a:solidFill>
                  <a:srgbClr val="000000"/>
                </a:solidFill>
                <a:latin typeface="+mn-ea"/>
              </a:rPr>
              <a:t>digit</a:t>
            </a:r>
            <a:r>
              <a:rPr lang="en-US" altLang="zh-CN" sz="2400" b="1" dirty="0">
                <a:solidFill>
                  <a:srgbClr val="000000"/>
                </a:solidFill>
                <a:latin typeface="+mn-ea"/>
              </a:rPr>
              <a:t> → 2           			      </a:t>
            </a:r>
            <a:r>
              <a:rPr lang="en-US" altLang="zh-CN" sz="2400" b="1" i="1" dirty="0" err="1">
                <a:solidFill>
                  <a:srgbClr val="FF0000"/>
                </a:solidFill>
                <a:latin typeface="+mn-ea"/>
              </a:rPr>
              <a:t>digit.val = 2</a:t>
            </a:r>
            <a:endParaRPr lang="en-US" altLang="zh-CN" sz="2400" b="1" i="1" dirty="0" err="1">
              <a:solidFill>
                <a:srgbClr val="FF0000"/>
              </a:solidFill>
              <a:latin typeface="+mn-ea"/>
            </a:endParaRPr>
          </a:p>
          <a:p>
            <a:pPr algn="l" fontAlgn="auto">
              <a:lnSpc>
                <a:spcPct val="125000"/>
              </a:lnSpc>
              <a:spcBef>
                <a:spcPts val="0"/>
              </a:spcBef>
              <a:buClrTx/>
              <a:buSzTx/>
              <a:buFontTx/>
            </a:pPr>
            <a:r>
              <a:rPr lang="en-US" altLang="zh-CN" sz="2400" b="1" i="1" dirty="0">
                <a:solidFill>
                  <a:srgbClr val="000000"/>
                </a:solidFill>
                <a:latin typeface="+mn-ea"/>
              </a:rPr>
              <a:t>digit</a:t>
            </a:r>
            <a:r>
              <a:rPr lang="en-US" altLang="zh-CN" sz="2400" b="1" dirty="0">
                <a:solidFill>
                  <a:srgbClr val="000000"/>
                </a:solidFill>
                <a:latin typeface="+mn-ea"/>
              </a:rPr>
              <a:t> → 3           			      </a:t>
            </a:r>
            <a:r>
              <a:rPr lang="en-US" altLang="zh-CN" sz="2400" b="1" i="1" dirty="0" err="1">
                <a:solidFill>
                  <a:srgbClr val="FF0000"/>
                </a:solidFill>
                <a:latin typeface="+mn-ea"/>
              </a:rPr>
              <a:t>digit.val = 3</a:t>
            </a:r>
            <a:endParaRPr lang="en-US" altLang="zh-CN" sz="2400" b="1" i="1" dirty="0" err="1">
              <a:solidFill>
                <a:srgbClr val="FF0000"/>
              </a:solidFill>
              <a:latin typeface="+mn-ea"/>
            </a:endParaRPr>
          </a:p>
          <a:p>
            <a:pPr indent="0" fontAlgn="auto">
              <a:lnSpc>
                <a:spcPct val="125000"/>
              </a:lnSpc>
              <a:spcBef>
                <a:spcPts val="0"/>
              </a:spcBef>
            </a:pPr>
            <a:r>
              <a:rPr lang="en-US" altLang="zh-CN" sz="2400" b="1" dirty="0">
                <a:solidFill>
                  <a:srgbClr val="000000"/>
                </a:solidFill>
                <a:latin typeface="+mn-ea"/>
              </a:rPr>
              <a:t> ......</a:t>
            </a:r>
            <a:endParaRPr lang="en-US" altLang="zh-CN" sz="2400" b="1" dirty="0">
              <a:solidFill>
                <a:srgbClr val="0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8"/>
                                        </p:tgtEl>
                                        <p:attrNameLst>
                                          <p:attrName>ppt_x</p:attrName>
                                        </p:attrNameLst>
                                      </p:cBhvr>
                                      <p:tavLst>
                                        <p:tav tm="0">
                                          <p:val>
                                            <p:strVal val="ppt_x"/>
                                          </p:val>
                                        </p:tav>
                                        <p:tav tm="100000">
                                          <p:val>
                                            <p:strVal val="ppt_x"/>
                                          </p:val>
                                        </p:tav>
                                      </p:tavLst>
                                    </p:anim>
                                    <p:anim calcmode="lin" valueType="num">
                                      <p:cBhvr additive="base">
                                        <p:cTn id="7" dur="500"/>
                                        <p:tgtEl>
                                          <p:spTgt spid="18"/>
                                        </p:tgtEl>
                                        <p:attrNameLst>
                                          <p:attrName>ppt_y</p:attrName>
                                        </p:attrNameLst>
                                      </p:cBhvr>
                                      <p:tavLst>
                                        <p:tav tm="0">
                                          <p:val>
                                            <p:strVal val="ppt_y"/>
                                          </p:val>
                                        </p:tav>
                                        <p:tav tm="100000">
                                          <p:val>
                                            <p:strVal val="1+ppt_h/2"/>
                                          </p:val>
                                        </p:tav>
                                      </p:tavLst>
                                    </p:anim>
                                    <p:set>
                                      <p:cBhvr>
                                        <p:cTn id="8" dur="1" fill="hold">
                                          <p:stCondLst>
                                            <p:cond delay="499"/>
                                          </p:stCondLst>
                                        </p:cTn>
                                        <p:tgtEl>
                                          <p:spTgt spid="1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17"/>
                                        </p:tgtEl>
                                        <p:attrNameLst>
                                          <p:attrName>ppt_x</p:attrName>
                                        </p:attrNameLst>
                                      </p:cBhvr>
                                      <p:tavLst>
                                        <p:tav tm="0">
                                          <p:val>
                                            <p:strVal val="ppt_x"/>
                                          </p:val>
                                        </p:tav>
                                        <p:tav tm="100000">
                                          <p:val>
                                            <p:strVal val="ppt_x"/>
                                          </p:val>
                                        </p:tav>
                                      </p:tavLst>
                                    </p:anim>
                                    <p:anim calcmode="lin" valueType="num">
                                      <p:cBhvr additive="base">
                                        <p:cTn id="13" dur="500"/>
                                        <p:tgtEl>
                                          <p:spTgt spid="17"/>
                                        </p:tgtEl>
                                        <p:attrNameLst>
                                          <p:attrName>ppt_y</p:attrName>
                                        </p:attrNameLst>
                                      </p:cBhvr>
                                      <p:tavLst>
                                        <p:tav tm="0">
                                          <p:val>
                                            <p:strVal val="ppt_y"/>
                                          </p:val>
                                        </p:tav>
                                        <p:tav tm="100000">
                                          <p:val>
                                            <p:strVal val="1+ppt_h/2"/>
                                          </p:val>
                                        </p:tav>
                                      </p:tavLst>
                                    </p:anim>
                                    <p:set>
                                      <p:cBhvr>
                                        <p:cTn id="14" dur="1" fill="hold">
                                          <p:stCondLst>
                                            <p:cond delay="499"/>
                                          </p:stCondLst>
                                        </p:cTn>
                                        <p:tgtEl>
                                          <p:spTgt spid="1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15"/>
                                        </p:tgtEl>
                                        <p:attrNameLst>
                                          <p:attrName>ppt_x</p:attrName>
                                        </p:attrNameLst>
                                      </p:cBhvr>
                                      <p:tavLst>
                                        <p:tav tm="0">
                                          <p:val>
                                            <p:strVal val="ppt_x"/>
                                          </p:val>
                                        </p:tav>
                                        <p:tav tm="100000">
                                          <p:val>
                                            <p:strVal val="ppt_x"/>
                                          </p:val>
                                        </p:tav>
                                      </p:tavLst>
                                    </p:anim>
                                    <p:anim calcmode="lin" valueType="num">
                                      <p:cBhvr additive="base">
                                        <p:cTn id="19" dur="500"/>
                                        <p:tgtEl>
                                          <p:spTgt spid="15"/>
                                        </p:tgtEl>
                                        <p:attrNameLst>
                                          <p:attrName>ppt_y</p:attrName>
                                        </p:attrNameLst>
                                      </p:cBhvr>
                                      <p:tavLst>
                                        <p:tav tm="0">
                                          <p:val>
                                            <p:strVal val="ppt_y"/>
                                          </p:val>
                                        </p:tav>
                                        <p:tav tm="100000">
                                          <p:val>
                                            <p:strVal val="1+ppt_h/2"/>
                                          </p:val>
                                        </p:tav>
                                      </p:tavLst>
                                    </p:anim>
                                    <p:set>
                                      <p:cBhvr>
                                        <p:cTn id="20" dur="1" fill="hold">
                                          <p:stCondLst>
                                            <p:cond delay="499"/>
                                          </p:stCondLst>
                                        </p:cTn>
                                        <p:tgtEl>
                                          <p:spTgt spid="1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26"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barn(inHorizontal)">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6" fill="hold"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barn(inHorizontal)">
                                      <p:cBhvr>
                                        <p:cTn id="30" dur="500"/>
                                        <p:tgtEl>
                                          <p:spTgt spid="6">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6"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barn(inHorizontal)">
                                      <p:cBhvr>
                                        <p:cTn id="35" dur="500"/>
                                        <p:tgtEl>
                                          <p:spTgt spid="6">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6" fill="hold" nodeType="click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barn(inHorizontal)">
                                      <p:cBhvr>
                                        <p:cTn id="40" dur="500"/>
                                        <p:tgtEl>
                                          <p:spTgt spid="6">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0" nodeType="clickEffect">
                                  <p:stCondLst>
                                    <p:cond delay="0"/>
                                  </p:stCondLst>
                                  <p:childTnLst>
                                    <p:anim calcmode="lin" valueType="num">
                                      <p:cBhvr additive="base">
                                        <p:cTn id="44" dur="500"/>
                                        <p:tgtEl>
                                          <p:spTgt spid="16"/>
                                        </p:tgtEl>
                                        <p:attrNameLst>
                                          <p:attrName>ppt_x</p:attrName>
                                        </p:attrNameLst>
                                      </p:cBhvr>
                                      <p:tavLst>
                                        <p:tav tm="0">
                                          <p:val>
                                            <p:strVal val="ppt_x"/>
                                          </p:val>
                                        </p:tav>
                                        <p:tav tm="100000">
                                          <p:val>
                                            <p:strVal val="ppt_x"/>
                                          </p:val>
                                        </p:tav>
                                      </p:tavLst>
                                    </p:anim>
                                    <p:anim calcmode="lin" valueType="num">
                                      <p:cBhvr additive="base">
                                        <p:cTn id="45" dur="500"/>
                                        <p:tgtEl>
                                          <p:spTgt spid="16"/>
                                        </p:tgtEl>
                                        <p:attrNameLst>
                                          <p:attrName>ppt_y</p:attrName>
                                        </p:attrNameLst>
                                      </p:cBhvr>
                                      <p:tavLst>
                                        <p:tav tm="0">
                                          <p:val>
                                            <p:strVal val="ppt_y"/>
                                          </p:val>
                                        </p:tav>
                                        <p:tav tm="100000">
                                          <p:val>
                                            <p:strVal val="1+ppt_h/2"/>
                                          </p:val>
                                        </p:tav>
                                      </p:tavLst>
                                    </p:anim>
                                    <p:set>
                                      <p:cBhvr>
                                        <p:cTn id="46" dur="1" fill="hold">
                                          <p:stCondLst>
                                            <p:cond delay="499"/>
                                          </p:stCondLst>
                                        </p:cTn>
                                        <p:tgtEl>
                                          <p:spTgt spid="1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additive="base">
                                        <p:cTn id="51" dur="500" fill="hold"/>
                                        <p:tgtEl>
                                          <p:spTgt spid="4"/>
                                        </p:tgtEl>
                                        <p:attrNameLst>
                                          <p:attrName>ppt_x</p:attrName>
                                        </p:attrNameLst>
                                      </p:cBhvr>
                                      <p:tavLst>
                                        <p:tav tm="0">
                                          <p:val>
                                            <p:strVal val="0-#ppt_w/2"/>
                                          </p:val>
                                        </p:tav>
                                        <p:tav tm="100000">
                                          <p:val>
                                            <p:strVal val="#ppt_x"/>
                                          </p:val>
                                        </p:tav>
                                      </p:tavLst>
                                    </p:anim>
                                    <p:anim calcmode="lin" valueType="num">
                                      <p:cBhvr additive="base">
                                        <p:cTn id="5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xit" presetSubtype="4" fill="hold" grpId="0" nodeType="clickEffect">
                                  <p:stCondLst>
                                    <p:cond delay="0"/>
                                  </p:stCondLst>
                                  <p:childTnLst>
                                    <p:anim calcmode="lin" valueType="num">
                                      <p:cBhvr additive="base">
                                        <p:cTn id="56" dur="500"/>
                                        <p:tgtEl>
                                          <p:spTgt spid="14"/>
                                        </p:tgtEl>
                                        <p:attrNameLst>
                                          <p:attrName>ppt_x</p:attrName>
                                        </p:attrNameLst>
                                      </p:cBhvr>
                                      <p:tavLst>
                                        <p:tav tm="0">
                                          <p:val>
                                            <p:strVal val="ppt_x"/>
                                          </p:val>
                                        </p:tav>
                                        <p:tav tm="100000">
                                          <p:val>
                                            <p:strVal val="ppt_x"/>
                                          </p:val>
                                        </p:tav>
                                      </p:tavLst>
                                    </p:anim>
                                    <p:anim calcmode="lin" valueType="num">
                                      <p:cBhvr additive="base">
                                        <p:cTn id="57" dur="500"/>
                                        <p:tgtEl>
                                          <p:spTgt spid="14"/>
                                        </p:tgtEl>
                                        <p:attrNameLst>
                                          <p:attrName>ppt_y</p:attrName>
                                        </p:attrNameLst>
                                      </p:cBhvr>
                                      <p:tavLst>
                                        <p:tav tm="0">
                                          <p:val>
                                            <p:strVal val="ppt_y"/>
                                          </p:val>
                                        </p:tav>
                                        <p:tav tm="100000">
                                          <p:val>
                                            <p:strVal val="1+ppt_h/2"/>
                                          </p:val>
                                        </p:tav>
                                      </p:tavLst>
                                    </p:anim>
                                    <p:set>
                                      <p:cBhvr>
                                        <p:cTn id="58" dur="1" fill="hold">
                                          <p:stCondLst>
                                            <p:cond delay="499"/>
                                          </p:stCondLst>
                                        </p:cTn>
                                        <p:tgtEl>
                                          <p:spTgt spid="1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 calcmode="lin" valueType="num">
                                      <p:cBhvr additive="base">
                                        <p:cTn id="63" dur="500" fill="hold"/>
                                        <p:tgtEl>
                                          <p:spTgt spid="2"/>
                                        </p:tgtEl>
                                        <p:attrNameLst>
                                          <p:attrName>ppt_x</p:attrName>
                                        </p:attrNameLst>
                                      </p:cBhvr>
                                      <p:tavLst>
                                        <p:tav tm="0">
                                          <p:val>
                                            <p:strVal val="0-#ppt_w/2"/>
                                          </p:val>
                                        </p:tav>
                                        <p:tav tm="100000">
                                          <p:val>
                                            <p:strVal val="#ppt_x"/>
                                          </p:val>
                                        </p:tav>
                                      </p:tavLst>
                                    </p:anim>
                                    <p:anim calcmode="lin" valueType="num">
                                      <p:cBhvr additive="base">
                                        <p:cTn id="6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xit" presetSubtype="4" fill="hold" grpId="0" nodeType="clickEffect">
                                  <p:stCondLst>
                                    <p:cond delay="0"/>
                                  </p:stCondLst>
                                  <p:childTnLst>
                                    <p:anim calcmode="lin" valueType="num">
                                      <p:cBhvr additive="base">
                                        <p:cTn id="68" dur="500"/>
                                        <p:tgtEl>
                                          <p:spTgt spid="13"/>
                                        </p:tgtEl>
                                        <p:attrNameLst>
                                          <p:attrName>ppt_x</p:attrName>
                                        </p:attrNameLst>
                                      </p:cBhvr>
                                      <p:tavLst>
                                        <p:tav tm="0">
                                          <p:val>
                                            <p:strVal val="ppt_x"/>
                                          </p:val>
                                        </p:tav>
                                        <p:tav tm="100000">
                                          <p:val>
                                            <p:strVal val="ppt_x"/>
                                          </p:val>
                                        </p:tav>
                                      </p:tavLst>
                                    </p:anim>
                                    <p:anim calcmode="lin" valueType="num">
                                      <p:cBhvr additive="base">
                                        <p:cTn id="69" dur="500"/>
                                        <p:tgtEl>
                                          <p:spTgt spid="13"/>
                                        </p:tgtEl>
                                        <p:attrNameLst>
                                          <p:attrName>ppt_y</p:attrName>
                                        </p:attrNameLst>
                                      </p:cBhvr>
                                      <p:tavLst>
                                        <p:tav tm="0">
                                          <p:val>
                                            <p:strVal val="ppt_y"/>
                                          </p:val>
                                        </p:tav>
                                        <p:tav tm="100000">
                                          <p:val>
                                            <p:strVal val="1+ppt_h/2"/>
                                          </p:val>
                                        </p:tav>
                                      </p:tavLst>
                                    </p:anim>
                                    <p:set>
                                      <p:cBhvr>
                                        <p:cTn id="70"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6" grpId="0" bldLvl="0" animBg="1"/>
      <p:bldP spid="17" grpId="0" bldLvl="0" animBg="1"/>
      <p:bldP spid="18" grpId="0" bldLvl="0" animBg="1"/>
      <p:bldP spid="2"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5.1.2 </a:t>
            </a:r>
            <a:r>
              <a:rPr lang="zh-CN" altLang="en-US"/>
              <a:t>合成属性</a:t>
            </a:r>
            <a:endParaRPr lang="zh-CN" altLang="en-US" dirty="0"/>
          </a:p>
        </p:txBody>
      </p:sp>
      <p:sp>
        <p:nvSpPr>
          <p:cNvPr id="4" name="Rectangle 5"/>
          <p:cNvSpPr txBox="1">
            <a:spLocks noChangeArrowheads="1"/>
          </p:cNvSpPr>
          <p:nvPr/>
        </p:nvSpPr>
        <p:spPr>
          <a:xfrm>
            <a:off x="347980" y="4023995"/>
            <a:ext cx="5817235" cy="22555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gn="just" fontAlgn="auto">
              <a:lnSpc>
                <a:spcPct val="125000"/>
              </a:lnSpc>
              <a:buFont typeface="Wingdings" panose="05000000000000000000" charset="0"/>
              <a:buChar char="p"/>
              <a:defRPr/>
            </a:pPr>
            <a:r>
              <a:rPr lang="zh-CN" altLang="en-US" b="1" dirty="0">
                <a:solidFill>
                  <a:srgbClr val="0070C0"/>
                </a:solidFill>
              </a:rPr>
              <a:t>合成属性：</a:t>
            </a:r>
            <a:r>
              <a:rPr kumimoji="1" lang="zh-CN" altLang="en-US" b="1" dirty="0">
                <a:solidFill>
                  <a:srgbClr val="0070C0"/>
                </a:solidFill>
                <a:latin typeface="+mn-ea"/>
                <a:cs typeface="+mn-ea"/>
              </a:rPr>
              <a:t>给定产生式</a:t>
            </a:r>
            <a:r>
              <a:rPr kumimoji="1" lang="en-US" altLang="zh-CN" b="1" dirty="0">
                <a:solidFill>
                  <a:srgbClr val="0070C0"/>
                </a:solidFill>
                <a:latin typeface="+mn-ea"/>
                <a:cs typeface="+mn-ea"/>
              </a:rPr>
              <a:t>A→X</a:t>
            </a:r>
            <a:r>
              <a:rPr kumimoji="1" lang="en-US" altLang="zh-CN" b="1" baseline="-25000" dirty="0">
                <a:solidFill>
                  <a:srgbClr val="0070C0"/>
                </a:solidFill>
                <a:latin typeface="+mn-ea"/>
                <a:cs typeface="+mn-ea"/>
              </a:rPr>
              <a:t>1</a:t>
            </a:r>
            <a:r>
              <a:rPr kumimoji="1" lang="en-US" altLang="zh-CN" b="1" dirty="0">
                <a:solidFill>
                  <a:srgbClr val="0070C0"/>
                </a:solidFill>
                <a:latin typeface="+mn-ea"/>
                <a:cs typeface="+mn-ea"/>
              </a:rPr>
              <a:t>X</a:t>
            </a:r>
            <a:r>
              <a:rPr kumimoji="1" lang="en-US" altLang="zh-CN" b="1" baseline="-25000" dirty="0">
                <a:solidFill>
                  <a:srgbClr val="0070C0"/>
                </a:solidFill>
                <a:latin typeface="+mn-ea"/>
                <a:cs typeface="+mn-ea"/>
              </a:rPr>
              <a:t>2</a:t>
            </a:r>
            <a:r>
              <a:rPr kumimoji="1" lang="en-US" altLang="zh-CN" b="1" dirty="0">
                <a:solidFill>
                  <a:srgbClr val="0070C0"/>
                </a:solidFill>
                <a:latin typeface="+mn-ea"/>
                <a:cs typeface="+mn-ea"/>
              </a:rPr>
              <a:t>...</a:t>
            </a:r>
            <a:r>
              <a:rPr kumimoji="1" lang="en-US" altLang="zh-CN" b="1" dirty="0" err="1">
                <a:solidFill>
                  <a:srgbClr val="0070C0"/>
                </a:solidFill>
                <a:latin typeface="+mn-ea"/>
                <a:cs typeface="+mn-ea"/>
              </a:rPr>
              <a:t>X</a:t>
            </a:r>
            <a:r>
              <a:rPr kumimoji="1" lang="en-US" altLang="zh-CN" b="1" baseline="-25000" dirty="0" err="1">
                <a:solidFill>
                  <a:srgbClr val="0070C0"/>
                </a:solidFill>
                <a:latin typeface="+mn-ea"/>
                <a:cs typeface="+mn-ea"/>
              </a:rPr>
              <a:t>n</a:t>
            </a:r>
            <a:r>
              <a:rPr kumimoji="1" lang="en-US" altLang="zh-CN" b="1" dirty="0">
                <a:solidFill>
                  <a:srgbClr val="0070C0"/>
                </a:solidFill>
                <a:latin typeface="+mn-ea"/>
                <a:cs typeface="+mn-ea"/>
              </a:rPr>
              <a:t>，</a:t>
            </a:r>
            <a:r>
              <a:rPr kumimoji="1" lang="zh-CN" altLang="en-US" b="1" dirty="0">
                <a:solidFill>
                  <a:srgbClr val="000000"/>
                </a:solidFill>
                <a:latin typeface="+mn-ea"/>
                <a:cs typeface="+mn-ea"/>
              </a:rPr>
              <a:t>满足：</a:t>
            </a:r>
            <a:r>
              <a:rPr kumimoji="1" lang="en-US" altLang="zh-CN" b="1" dirty="0" err="1">
                <a:solidFill>
                  <a:srgbClr val="000000"/>
                </a:solidFill>
                <a:latin typeface="+mn-ea"/>
                <a:cs typeface="+mn-ea"/>
              </a:rPr>
              <a:t>A.a</a:t>
            </a:r>
            <a:r>
              <a:rPr kumimoji="1" lang="en-US" altLang="zh-CN" b="1" dirty="0">
                <a:solidFill>
                  <a:srgbClr val="000000"/>
                </a:solidFill>
                <a:latin typeface="+mn-ea"/>
                <a:cs typeface="+mn-ea"/>
              </a:rPr>
              <a:t>=f(X</a:t>
            </a:r>
            <a:r>
              <a:rPr kumimoji="1" lang="en-US" altLang="zh-CN" b="1" baseline="-25000" dirty="0">
                <a:solidFill>
                  <a:srgbClr val="000000"/>
                </a:solidFill>
                <a:latin typeface="+mn-ea"/>
                <a:cs typeface="+mn-ea"/>
              </a:rPr>
              <a:t>1</a:t>
            </a:r>
            <a:r>
              <a:rPr kumimoji="1" lang="en-US" altLang="zh-CN" b="1" dirty="0">
                <a:solidFill>
                  <a:srgbClr val="000000"/>
                </a:solidFill>
                <a:latin typeface="+mn-ea"/>
                <a:cs typeface="+mn-ea"/>
              </a:rPr>
              <a:t>.a</a:t>
            </a:r>
            <a:r>
              <a:rPr kumimoji="1" lang="en-US" altLang="zh-CN" b="1" baseline="-25000" dirty="0">
                <a:solidFill>
                  <a:srgbClr val="000000"/>
                </a:solidFill>
                <a:latin typeface="+mn-ea"/>
                <a:cs typeface="+mn-ea"/>
              </a:rPr>
              <a:t>1</a:t>
            </a:r>
            <a:r>
              <a:rPr kumimoji="1" lang="en-US" altLang="zh-CN" b="1" dirty="0">
                <a:solidFill>
                  <a:srgbClr val="000000"/>
                </a:solidFill>
                <a:latin typeface="+mn-ea"/>
                <a:cs typeface="+mn-ea"/>
              </a:rPr>
              <a:t>,…,X</a:t>
            </a:r>
            <a:r>
              <a:rPr kumimoji="1" lang="en-US" altLang="zh-CN" b="1" baseline="-25000" dirty="0">
                <a:solidFill>
                  <a:srgbClr val="000000"/>
                </a:solidFill>
                <a:latin typeface="+mn-ea"/>
                <a:cs typeface="+mn-ea"/>
              </a:rPr>
              <a:t>1</a:t>
            </a:r>
            <a:r>
              <a:rPr kumimoji="1" lang="en-US" altLang="zh-CN" b="1" dirty="0">
                <a:solidFill>
                  <a:srgbClr val="000000"/>
                </a:solidFill>
                <a:latin typeface="+mn-ea"/>
                <a:cs typeface="+mn-ea"/>
              </a:rPr>
              <a:t>.a</a:t>
            </a:r>
            <a:r>
              <a:rPr kumimoji="1" lang="en-US" altLang="zh-CN" b="1" baseline="-25000" dirty="0">
                <a:solidFill>
                  <a:srgbClr val="000000"/>
                </a:solidFill>
                <a:latin typeface="+mn-ea"/>
                <a:cs typeface="+mn-ea"/>
              </a:rPr>
              <a:t>k</a:t>
            </a:r>
            <a:r>
              <a:rPr kumimoji="1" lang="en-US" altLang="zh-CN" b="1" dirty="0">
                <a:solidFill>
                  <a:srgbClr val="000000"/>
                </a:solidFill>
                <a:latin typeface="+mn-ea"/>
                <a:cs typeface="+mn-ea"/>
              </a:rPr>
              <a:t>,...，</a:t>
            </a:r>
            <a:r>
              <a:rPr kumimoji="1" lang="en-US" altLang="zh-CN" b="1" dirty="0" err="1">
                <a:solidFill>
                  <a:srgbClr val="000000"/>
                </a:solidFill>
                <a:latin typeface="+mn-ea"/>
                <a:cs typeface="+mn-ea"/>
              </a:rPr>
              <a:t>X</a:t>
            </a:r>
            <a:r>
              <a:rPr kumimoji="1" lang="en-US" altLang="zh-CN" b="1" baseline="-25000" dirty="0" err="1">
                <a:solidFill>
                  <a:srgbClr val="000000"/>
                </a:solidFill>
                <a:latin typeface="+mn-ea"/>
                <a:cs typeface="+mn-ea"/>
              </a:rPr>
              <a:t>n</a:t>
            </a:r>
            <a:r>
              <a:rPr kumimoji="1" lang="en-US" altLang="zh-CN" b="1" dirty="0">
                <a:solidFill>
                  <a:srgbClr val="000000"/>
                </a:solidFill>
                <a:latin typeface="+mn-ea"/>
                <a:cs typeface="+mn-ea"/>
              </a:rPr>
              <a:t> .a</a:t>
            </a:r>
            <a:r>
              <a:rPr kumimoji="1" lang="en-US" altLang="zh-CN" b="1" baseline="-25000" dirty="0">
                <a:solidFill>
                  <a:srgbClr val="000000"/>
                </a:solidFill>
                <a:latin typeface="+mn-ea"/>
                <a:cs typeface="+mn-ea"/>
              </a:rPr>
              <a:t>1</a:t>
            </a:r>
            <a:r>
              <a:rPr kumimoji="1" lang="en-US" altLang="zh-CN" b="1" dirty="0">
                <a:solidFill>
                  <a:srgbClr val="000000"/>
                </a:solidFill>
                <a:latin typeface="+mn-ea"/>
                <a:cs typeface="+mn-ea"/>
              </a:rPr>
              <a:t>,…,</a:t>
            </a:r>
            <a:r>
              <a:rPr kumimoji="1" lang="en-US" altLang="zh-CN" b="1" dirty="0" err="1">
                <a:solidFill>
                  <a:srgbClr val="000000"/>
                </a:solidFill>
                <a:latin typeface="+mn-ea"/>
                <a:cs typeface="+mn-ea"/>
              </a:rPr>
              <a:t>X</a:t>
            </a:r>
            <a:r>
              <a:rPr kumimoji="1" lang="en-US" altLang="zh-CN" b="1" baseline="-25000" dirty="0" err="1">
                <a:solidFill>
                  <a:srgbClr val="000000"/>
                </a:solidFill>
                <a:latin typeface="+mn-ea"/>
                <a:cs typeface="+mn-ea"/>
              </a:rPr>
              <a:t>n</a:t>
            </a:r>
            <a:r>
              <a:rPr kumimoji="1" lang="en-US" altLang="zh-CN" b="1" dirty="0" err="1">
                <a:solidFill>
                  <a:srgbClr val="000000"/>
                </a:solidFill>
                <a:latin typeface="+mn-ea"/>
                <a:cs typeface="+mn-ea"/>
              </a:rPr>
              <a:t>.a</a:t>
            </a:r>
            <a:r>
              <a:rPr kumimoji="1" lang="en-US" altLang="zh-CN" b="1" baseline="-25000" dirty="0" err="1">
                <a:solidFill>
                  <a:srgbClr val="000000"/>
                </a:solidFill>
                <a:latin typeface="+mn-ea"/>
                <a:cs typeface="+mn-ea"/>
              </a:rPr>
              <a:t>k</a:t>
            </a:r>
            <a:r>
              <a:rPr kumimoji="1" lang="en-US" altLang="zh-CN" b="1" dirty="0">
                <a:solidFill>
                  <a:srgbClr val="000000"/>
                </a:solidFill>
                <a:latin typeface="+mn-ea"/>
                <a:cs typeface="+mn-ea"/>
              </a:rPr>
              <a:t>)</a:t>
            </a:r>
            <a:r>
              <a:rPr kumimoji="1" lang="zh-CN" altLang="en-US" b="1" dirty="0">
                <a:solidFill>
                  <a:srgbClr val="000000"/>
                </a:solidFill>
                <a:latin typeface="+mn-ea"/>
                <a:cs typeface="+mn-ea"/>
              </a:rPr>
              <a:t>，则属性</a:t>
            </a:r>
            <a:r>
              <a:rPr kumimoji="1" lang="en-US" altLang="zh-CN" b="1" dirty="0">
                <a:solidFill>
                  <a:srgbClr val="000000"/>
                </a:solidFill>
                <a:latin typeface="+mn-ea"/>
                <a:cs typeface="+mn-ea"/>
              </a:rPr>
              <a:t>a</a:t>
            </a:r>
            <a:r>
              <a:rPr kumimoji="1" lang="zh-CN" altLang="en-US" b="1" dirty="0">
                <a:solidFill>
                  <a:srgbClr val="000000"/>
                </a:solidFill>
                <a:latin typeface="+mn-ea"/>
                <a:cs typeface="+mn-ea"/>
              </a:rPr>
              <a:t>是合成(综合</a:t>
            </a:r>
            <a:r>
              <a:rPr kumimoji="1" lang="en-US" altLang="zh-CN" b="1" dirty="0">
                <a:solidFill>
                  <a:srgbClr val="000000"/>
                </a:solidFill>
                <a:latin typeface="+mn-ea"/>
                <a:cs typeface="+mn-ea"/>
              </a:rPr>
              <a:t>)</a:t>
            </a:r>
            <a:r>
              <a:rPr kumimoji="1" lang="zh-CN" altLang="en-US" b="1" dirty="0">
                <a:solidFill>
                  <a:srgbClr val="000000"/>
                </a:solidFill>
                <a:latin typeface="+mn-ea"/>
                <a:cs typeface="+mn-ea"/>
              </a:rPr>
              <a:t>的；</a:t>
            </a:r>
            <a:endParaRPr kumimoji="1" lang="zh-CN" altLang="en-US" sz="2400" b="1" dirty="0">
              <a:solidFill>
                <a:srgbClr val="000000"/>
              </a:solidFill>
              <a:latin typeface="+mn-ea"/>
              <a:cs typeface="+mn-ea"/>
            </a:endParaRPr>
          </a:p>
          <a:p>
            <a:pPr marL="800100" lvl="2" indent="-342900" algn="just" fontAlgn="auto">
              <a:lnSpc>
                <a:spcPct val="125000"/>
              </a:lnSpc>
              <a:buFont typeface="Wingdings" panose="05000000000000000000" charset="0"/>
              <a:buChar char="p"/>
              <a:defRPr/>
            </a:pPr>
            <a:r>
              <a:rPr lang="zh-CN" altLang="en-US" b="1" dirty="0">
                <a:solidFill>
                  <a:srgbClr val="000000"/>
                </a:solidFill>
                <a:sym typeface="+mn-ea"/>
              </a:rPr>
              <a:t>一个属性文法中所有的属性都是合成的，就称作</a:t>
            </a:r>
            <a:r>
              <a:rPr lang="en-US" altLang="zh-CN" b="1" dirty="0">
                <a:solidFill>
                  <a:srgbClr val="0070C0"/>
                </a:solidFill>
                <a:sym typeface="+mn-ea"/>
              </a:rPr>
              <a:t>S-</a:t>
            </a:r>
            <a:r>
              <a:rPr lang="zh-CN" altLang="en-US" b="1" dirty="0">
                <a:solidFill>
                  <a:srgbClr val="0070C0"/>
                </a:solidFill>
                <a:sym typeface="+mn-ea"/>
              </a:rPr>
              <a:t>属性文法</a:t>
            </a:r>
            <a:r>
              <a:rPr lang="zh-CN" altLang="en-US" b="1" dirty="0">
                <a:solidFill>
                  <a:srgbClr val="000000"/>
                </a:solidFill>
                <a:sym typeface="+mn-ea"/>
              </a:rPr>
              <a:t>(</a:t>
            </a:r>
            <a:r>
              <a:rPr lang="en-US" altLang="zh-CN" b="1" dirty="0">
                <a:solidFill>
                  <a:srgbClr val="000000"/>
                </a:solidFill>
                <a:sym typeface="+mn-ea"/>
              </a:rPr>
              <a:t>S-attributed grammar)。</a:t>
            </a:r>
            <a:endParaRPr kumimoji="1" lang="zh-CN" altLang="en-US" sz="2000" b="1" dirty="0">
              <a:solidFill>
                <a:srgbClr val="000000"/>
              </a:solidFill>
              <a:latin typeface="+mn-ea"/>
              <a:cs typeface="+mn-ea"/>
            </a:endParaRPr>
          </a:p>
        </p:txBody>
      </p:sp>
      <p:sp>
        <p:nvSpPr>
          <p:cNvPr id="2" name="文本框 1"/>
          <p:cNvSpPr txBox="1"/>
          <p:nvPr>
            <p:custDataLst>
              <p:tags r:id="rId1"/>
            </p:custDataLst>
          </p:nvPr>
        </p:nvSpPr>
        <p:spPr>
          <a:xfrm>
            <a:off x="404495" y="1229360"/>
            <a:ext cx="5862320" cy="2377440"/>
          </a:xfrm>
          <a:prstGeom prst="rect">
            <a:avLst/>
          </a:prstGeom>
          <a:noFill/>
        </p:spPr>
        <p:txBody>
          <a:bodyPr wrap="square" rtlCol="0" anchor="t">
            <a:noAutofit/>
          </a:bodyPr>
          <a:p>
            <a:pPr indent="0" fontAlgn="auto">
              <a:lnSpc>
                <a:spcPct val="125000"/>
              </a:lnSpc>
              <a:buFont typeface="Wingdings" panose="05000000000000000000" charset="0"/>
              <a:buChar char="p"/>
            </a:pPr>
            <a:r>
              <a:rPr lang="zh-CN" altLang="en-US" sz="2400" b="1" dirty="0">
                <a:solidFill>
                  <a:srgbClr val="0070C0"/>
                </a:solidFill>
                <a:sym typeface="+mn-ea"/>
              </a:rPr>
              <a:t>属性文法的求解方法：</a:t>
            </a:r>
            <a:r>
              <a:rPr lang="zh-CN" altLang="en-US" sz="2400" b="1" dirty="0">
                <a:sym typeface="+mn-ea"/>
              </a:rPr>
              <a:t>给出某句子最左推导分析树，推导过程要</a:t>
            </a:r>
            <a:r>
              <a:rPr lang="zh-CN" altLang="en-US" sz="2400" b="1" dirty="0">
                <a:sym typeface="+mn-ea"/>
              </a:rPr>
              <a:t>基本涵盖各种产生式规则的运用；根据分析树和已知文法符号属性值，总结各节点属性值的计算规则，将其作为产生式的语义规则，最后得到属性文法。</a:t>
            </a:r>
            <a:endParaRPr lang="zh-CN" altLang="en-US" sz="2400" b="1" dirty="0">
              <a:sym typeface="+mn-ea"/>
            </a:endParaRPr>
          </a:p>
        </p:txBody>
      </p:sp>
      <p:sp>
        <p:nvSpPr>
          <p:cNvPr id="6" name="文本框 5"/>
          <p:cNvSpPr txBox="1"/>
          <p:nvPr/>
        </p:nvSpPr>
        <p:spPr>
          <a:xfrm>
            <a:off x="6675120" y="1450340"/>
            <a:ext cx="4980940" cy="553085"/>
          </a:xfrm>
          <a:prstGeom prst="rect">
            <a:avLst/>
          </a:prstGeom>
          <a:noFill/>
        </p:spPr>
        <p:txBody>
          <a:bodyPr wrap="square" rtlCol="0" anchor="t">
            <a:spAutoFit/>
          </a:bodyPr>
          <a:p>
            <a:pPr>
              <a:lnSpc>
                <a:spcPct val="125000"/>
              </a:lnSpc>
              <a:spcBef>
                <a:spcPts val="0"/>
              </a:spcBef>
              <a:spcAft>
                <a:spcPts val="0"/>
              </a:spcAft>
            </a:pPr>
            <a:r>
              <a:rPr kumimoji="1" lang="zh-CN" altLang="en-US" sz="2400" b="1" dirty="0">
                <a:solidFill>
                  <a:srgbClr val="000000"/>
                </a:solidFill>
                <a:latin typeface="+mn-ea"/>
                <a:cs typeface="+mn-ea"/>
                <a:sym typeface="+mn-ea"/>
              </a:rPr>
              <a:t>树遍历的合成属性的</a:t>
            </a:r>
            <a:r>
              <a:rPr kumimoji="1" lang="zh-CN" altLang="en-US" sz="2400" b="1" dirty="0">
                <a:solidFill>
                  <a:srgbClr val="000000"/>
                </a:solidFill>
                <a:latin typeface="+mn-ea"/>
                <a:cs typeface="+mn-ea"/>
                <a:sym typeface="+mn-ea"/>
              </a:rPr>
              <a:t>计算</a:t>
            </a:r>
            <a:endParaRPr kumimoji="1" lang="zh-CN" altLang="en-US" sz="2400" b="1" dirty="0">
              <a:solidFill>
                <a:srgbClr val="000000"/>
              </a:solidFill>
              <a:latin typeface="+mn-ea"/>
              <a:cs typeface="+mn-ea"/>
              <a:sym typeface="+mn-ea"/>
            </a:endParaRPr>
          </a:p>
        </p:txBody>
      </p:sp>
      <p:sp>
        <p:nvSpPr>
          <p:cNvPr id="7" name="Rectangle 2"/>
          <p:cNvSpPr>
            <a:spLocks noChangeArrowheads="1"/>
          </p:cNvSpPr>
          <p:nvPr/>
        </p:nvSpPr>
        <p:spPr bwMode="auto">
          <a:xfrm>
            <a:off x="6391910" y="2372360"/>
            <a:ext cx="5443220" cy="3361055"/>
          </a:xfrm>
          <a:prstGeom prst="rect">
            <a:avLst/>
          </a:prstGeom>
          <a:solidFill>
            <a:schemeClr val="bg2"/>
          </a:solidFill>
          <a:ln>
            <a:noFill/>
          </a:ln>
        </p:spPr>
        <p:txBody>
          <a:bodyPr wrap="square">
            <a:spAutoFit/>
          </a:bodyPr>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void  </a:t>
            </a:r>
            <a:r>
              <a:rPr lang="en-US" altLang="zh-CN" sz="2400" b="1" dirty="0" err="1">
                <a:solidFill>
                  <a:srgbClr val="000000"/>
                </a:solidFill>
                <a:latin typeface="Times New Roman" panose="02020603050405020304" pitchFamily="18" charset="0"/>
                <a:cs typeface="Times New Roman" panose="02020603050405020304" pitchFamily="18" charset="0"/>
              </a:rPr>
              <a:t>PostEval</a:t>
            </a:r>
            <a:r>
              <a:rPr lang="en-US" altLang="zh-CN" sz="2400" b="1" dirty="0">
                <a:solidFill>
                  <a:srgbClr val="000000"/>
                </a:solidFill>
                <a:latin typeface="Times New Roman" panose="02020603050405020304" pitchFamily="18" charset="0"/>
                <a:cs typeface="Times New Roman" panose="02020603050405020304" pitchFamily="18" charset="0"/>
              </a:rPr>
              <a:t> (T: </a:t>
            </a:r>
            <a:r>
              <a:rPr lang="en-US" altLang="zh-CN" sz="2400" b="1" dirty="0" err="1">
                <a:solidFill>
                  <a:srgbClr val="000000"/>
                </a:solidFill>
                <a:latin typeface="Times New Roman" panose="02020603050405020304" pitchFamily="18" charset="0"/>
                <a:cs typeface="Times New Roman" panose="02020603050405020304" pitchFamily="18" charset="0"/>
              </a:rPr>
              <a:t>treenode</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 for each child C of T do </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     {</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PostEval</a:t>
            </a:r>
            <a:r>
              <a:rPr lang="en-US" altLang="zh-CN" sz="2400" b="1" dirty="0">
                <a:solidFill>
                  <a:srgbClr val="000000"/>
                </a:solidFill>
                <a:latin typeface="Times New Roman" panose="02020603050405020304" pitchFamily="18" charset="0"/>
                <a:cs typeface="Times New Roman" panose="02020603050405020304" pitchFamily="18" charset="0"/>
              </a:rPr>
              <a:t> (C);</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      }</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 compute all synthesized attributes of T;</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5.1.2 </a:t>
            </a:r>
            <a:r>
              <a:rPr lang="zh-CN" altLang="en-US"/>
              <a:t>合成属性</a:t>
            </a:r>
            <a:endParaRPr lang="zh-CN" altLang="en-US" dirty="0"/>
          </a:p>
        </p:txBody>
      </p:sp>
      <p:pic>
        <p:nvPicPr>
          <p:cNvPr id="7"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87505" y="1312333"/>
            <a:ext cx="3819355" cy="49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a:spLocks noChangeArrowheads="1"/>
          </p:cNvSpPr>
          <p:nvPr>
            <p:custDataLst>
              <p:tags r:id="rId2"/>
            </p:custDataLst>
          </p:nvPr>
        </p:nvSpPr>
        <p:spPr bwMode="auto">
          <a:xfrm>
            <a:off x="508635" y="1249045"/>
            <a:ext cx="7842250" cy="107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25000"/>
              </a:lnSpc>
              <a:spcBef>
                <a:spcPts val="20"/>
              </a:spcBef>
              <a:spcAft>
                <a:spcPts val="0"/>
              </a:spcAft>
              <a:buSzPct val="90000"/>
            </a:pPr>
            <a:r>
              <a:rPr lang="zh-CN" altLang="en-US" sz="2800" b="1" dirty="0">
                <a:solidFill>
                  <a:srgbClr val="050507"/>
                </a:solidFill>
                <a:latin typeface="+mn-ea"/>
                <a:ea typeface="+mn-ea"/>
              </a:rPr>
              <a:t>例</a:t>
            </a:r>
            <a:r>
              <a:rPr lang="en-US" altLang="zh-CN" sz="2800" b="1" dirty="0">
                <a:solidFill>
                  <a:srgbClr val="000000"/>
                </a:solidFill>
                <a:latin typeface="+mn-ea"/>
                <a:ea typeface="+mn-ea"/>
              </a:rPr>
              <a:t>5</a:t>
            </a:r>
            <a:r>
              <a:rPr lang="zh-CN" altLang="en-US" sz="2800" b="1" dirty="0">
                <a:solidFill>
                  <a:srgbClr val="000000"/>
                </a:solidFill>
                <a:latin typeface="+mn-ea"/>
                <a:ea typeface="+mn-ea"/>
              </a:rPr>
              <a:t>.</a:t>
            </a:r>
            <a:r>
              <a:rPr lang="zh-CN" altLang="en-US" sz="2800" b="1" dirty="0">
                <a:solidFill>
                  <a:srgbClr val="050507"/>
                </a:solidFill>
                <a:latin typeface="+mn-ea"/>
                <a:ea typeface="+mn-ea"/>
              </a:rPr>
              <a:t>2：撰写下述简单整型算术表达式文法</a:t>
            </a:r>
            <a:r>
              <a:rPr lang="zh-CN" altLang="en-US" sz="2800" b="1" dirty="0">
                <a:solidFill>
                  <a:srgbClr val="070709"/>
                </a:solidFill>
                <a:latin typeface="+mn-ea"/>
                <a:ea typeface="+mn-ea"/>
              </a:rPr>
              <a:t>的</a:t>
            </a:r>
            <a:r>
              <a:rPr lang="en-US" altLang="zh-CN" sz="2800" b="1" dirty="0" err="1">
                <a:solidFill>
                  <a:srgbClr val="070709"/>
                </a:solidFill>
                <a:latin typeface="+mn-ea"/>
                <a:ea typeface="+mn-ea"/>
              </a:rPr>
              <a:t>val</a:t>
            </a:r>
            <a:r>
              <a:rPr lang="en-US" altLang="zh-CN" sz="2800" b="1" dirty="0">
                <a:solidFill>
                  <a:srgbClr val="070709"/>
                </a:solidFill>
                <a:latin typeface="+mn-ea"/>
                <a:ea typeface="+mn-ea"/>
              </a:rPr>
              <a:t>(</a:t>
            </a:r>
            <a:r>
              <a:rPr lang="zh-CN" altLang="en-US" sz="2800" b="1" dirty="0">
                <a:solidFill>
                  <a:srgbClr val="070709"/>
                </a:solidFill>
                <a:latin typeface="+mn-ea"/>
                <a:ea typeface="+mn-ea"/>
              </a:rPr>
              <a:t>十进制值)属性的属性文法。</a:t>
            </a:r>
            <a:endParaRPr lang="zh-CN" altLang="en-US" sz="2800" b="1" dirty="0">
              <a:solidFill>
                <a:srgbClr val="050507"/>
              </a:solidFill>
              <a:latin typeface="+mn-ea"/>
              <a:ea typeface="+mn-ea"/>
            </a:endParaRPr>
          </a:p>
          <a:p>
            <a:pPr>
              <a:lnSpc>
                <a:spcPct val="150000"/>
              </a:lnSpc>
              <a:spcBef>
                <a:spcPct val="20000"/>
              </a:spcBef>
              <a:buSzPct val="90000"/>
            </a:pPr>
            <a:endParaRPr lang="en-US" altLang="zh-CN" sz="2400" b="1" dirty="0">
              <a:solidFill>
                <a:srgbClr val="FF3399"/>
              </a:solidFill>
              <a:latin typeface="+mn-ea"/>
              <a:ea typeface="+mn-ea"/>
            </a:endParaRPr>
          </a:p>
        </p:txBody>
      </p:sp>
      <p:sp>
        <p:nvSpPr>
          <p:cNvPr id="2" name="Rectangle 2"/>
          <p:cNvSpPr>
            <a:spLocks noChangeArrowheads="1"/>
          </p:cNvSpPr>
          <p:nvPr>
            <p:custDataLst>
              <p:tags r:id="rId3"/>
            </p:custDataLst>
          </p:nvPr>
        </p:nvSpPr>
        <p:spPr bwMode="auto">
          <a:xfrm>
            <a:off x="387985" y="2447925"/>
            <a:ext cx="8161655" cy="1217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286250" indent="-428625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b="1" dirty="0">
                <a:solidFill>
                  <a:srgbClr val="0070C0"/>
                </a:solidFill>
                <a:latin typeface="+mn-ea"/>
                <a:ea typeface="+mn-ea"/>
              </a:rPr>
              <a:t>文法规则                       语义规则</a:t>
            </a:r>
            <a:endParaRPr lang="zh-CN" altLang="en-US" sz="2800" b="1" dirty="0">
              <a:solidFill>
                <a:srgbClr val="0070C0"/>
              </a:solidFill>
              <a:latin typeface="+mn-ea"/>
              <a:ea typeface="+mn-ea"/>
            </a:endParaRPr>
          </a:p>
          <a:p>
            <a:pPr>
              <a:lnSpc>
                <a:spcPct val="80000"/>
              </a:lnSpc>
              <a:spcBef>
                <a:spcPct val="50000"/>
              </a:spcBef>
            </a:pPr>
            <a:r>
              <a:rPr lang="en-US" altLang="zh-CN" sz="2400" b="1" i="1" dirty="0">
                <a:solidFill>
                  <a:srgbClr val="000000"/>
                </a:solidFill>
                <a:latin typeface="+mn-ea"/>
                <a:ea typeface="+mn-ea"/>
              </a:rPr>
              <a:t>exp1</a:t>
            </a:r>
            <a:r>
              <a:rPr lang="en-US" altLang="zh-CN" sz="2400" b="1" dirty="0">
                <a:solidFill>
                  <a:srgbClr val="000000"/>
                </a:solidFill>
                <a:latin typeface="+mn-ea"/>
                <a:ea typeface="+mn-ea"/>
              </a:rPr>
              <a:t>→</a:t>
            </a:r>
            <a:r>
              <a:rPr lang="en-US" altLang="zh-CN" sz="2400" b="1" i="1" dirty="0">
                <a:solidFill>
                  <a:srgbClr val="000000"/>
                </a:solidFill>
                <a:latin typeface="+mn-ea"/>
                <a:ea typeface="+mn-ea"/>
              </a:rPr>
              <a:t>exp2</a:t>
            </a:r>
            <a:r>
              <a:rPr lang="en-US" altLang="zh-CN" sz="2400" b="1" dirty="0">
                <a:solidFill>
                  <a:srgbClr val="000000"/>
                </a:solidFill>
                <a:latin typeface="+mn-ea"/>
                <a:ea typeface="+mn-ea"/>
              </a:rPr>
              <a:t>+</a:t>
            </a:r>
            <a:r>
              <a:rPr lang="en-US" altLang="zh-CN" sz="2400" b="1" i="1" dirty="0">
                <a:solidFill>
                  <a:srgbClr val="000000"/>
                </a:solidFill>
                <a:latin typeface="+mn-ea"/>
                <a:ea typeface="+mn-ea"/>
              </a:rPr>
              <a:t>term</a:t>
            </a:r>
            <a:r>
              <a:rPr lang="en-US" altLang="zh-CN" sz="2400" b="1" dirty="0">
                <a:solidFill>
                  <a:srgbClr val="000000"/>
                </a:solidFill>
                <a:latin typeface="+mn-ea"/>
                <a:ea typeface="+mn-ea"/>
              </a:rPr>
              <a:t>       </a:t>
            </a:r>
            <a:r>
              <a:rPr lang="en-US" altLang="zh-CN" sz="2400" b="1" dirty="0">
                <a:solidFill>
                  <a:srgbClr val="FF0000"/>
                </a:solidFill>
                <a:latin typeface="+mn-ea"/>
                <a:ea typeface="+mn-ea"/>
              </a:rPr>
              <a:t>exp1.val=exp2.val+ term.val</a:t>
            </a:r>
            <a:endParaRPr lang="en-US" altLang="zh-CN" sz="2400" b="1" dirty="0">
              <a:solidFill>
                <a:srgbClr val="FF0000"/>
              </a:solidFill>
              <a:latin typeface="+mn-ea"/>
              <a:ea typeface="+mn-ea"/>
            </a:endParaRPr>
          </a:p>
        </p:txBody>
      </p:sp>
      <p:sp>
        <p:nvSpPr>
          <p:cNvPr id="6" name="Rectangle 3"/>
          <p:cNvSpPr>
            <a:spLocks noChangeArrowheads="1"/>
          </p:cNvSpPr>
          <p:nvPr>
            <p:custDataLst>
              <p:tags r:id="rId4"/>
            </p:custDataLst>
          </p:nvPr>
        </p:nvSpPr>
        <p:spPr bwMode="auto">
          <a:xfrm>
            <a:off x="397510" y="3717290"/>
            <a:ext cx="8423910"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spcBef>
                <a:spcPct val="50000"/>
              </a:spcBef>
            </a:pPr>
            <a:r>
              <a:rPr lang="en-US" altLang="zh-CN" sz="2400" b="1" i="1" dirty="0">
                <a:solidFill>
                  <a:srgbClr val="000000"/>
                </a:solidFill>
                <a:latin typeface="+mn-ea"/>
              </a:rPr>
              <a:t>exp1</a:t>
            </a:r>
            <a:r>
              <a:rPr lang="en-US" altLang="zh-CN" sz="2400" b="1" dirty="0">
                <a:solidFill>
                  <a:srgbClr val="000000"/>
                </a:solidFill>
                <a:latin typeface="+mn-ea"/>
              </a:rPr>
              <a:t>→</a:t>
            </a:r>
            <a:r>
              <a:rPr lang="en-US" altLang="zh-CN" sz="2400" b="1" i="1" dirty="0">
                <a:solidFill>
                  <a:srgbClr val="000000"/>
                </a:solidFill>
                <a:latin typeface="+mn-ea"/>
              </a:rPr>
              <a:t>exp2</a:t>
            </a:r>
            <a:r>
              <a:rPr lang="en-US" altLang="zh-CN" sz="2400" b="1" dirty="0">
                <a:solidFill>
                  <a:srgbClr val="000000"/>
                </a:solidFill>
                <a:latin typeface="+mn-ea"/>
              </a:rPr>
              <a:t>-</a:t>
            </a:r>
            <a:r>
              <a:rPr lang="en-US" altLang="zh-CN" sz="2400" b="1" i="1" dirty="0">
                <a:solidFill>
                  <a:srgbClr val="000000"/>
                </a:solidFill>
                <a:latin typeface="+mn-ea"/>
              </a:rPr>
              <a:t>term</a:t>
            </a:r>
            <a:r>
              <a:rPr lang="en-US" altLang="zh-CN" sz="2400" b="1" dirty="0">
                <a:solidFill>
                  <a:srgbClr val="000000"/>
                </a:solidFill>
                <a:latin typeface="+mn-ea"/>
              </a:rPr>
              <a:t>        </a:t>
            </a:r>
            <a:r>
              <a:rPr lang="en-US" altLang="zh-CN" sz="2400" b="1" dirty="0">
                <a:solidFill>
                  <a:srgbClr val="FF0000"/>
                </a:solidFill>
                <a:latin typeface="+mn-ea"/>
              </a:rPr>
              <a:t>exp1.val= exp2.val-term.val</a:t>
            </a:r>
            <a:endParaRPr lang="en-US" altLang="zh-CN" sz="2400" b="1" dirty="0">
              <a:solidFill>
                <a:srgbClr val="000000"/>
              </a:solidFill>
              <a:latin typeface="+mn-ea"/>
            </a:endParaRPr>
          </a:p>
        </p:txBody>
      </p:sp>
      <p:sp>
        <p:nvSpPr>
          <p:cNvPr id="9" name="Rectangle 4"/>
          <p:cNvSpPr>
            <a:spLocks noChangeArrowheads="1"/>
          </p:cNvSpPr>
          <p:nvPr>
            <p:custDataLst>
              <p:tags r:id="rId5"/>
            </p:custDataLst>
          </p:nvPr>
        </p:nvSpPr>
        <p:spPr bwMode="auto">
          <a:xfrm>
            <a:off x="387985" y="4103370"/>
            <a:ext cx="7862570"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spcBef>
                <a:spcPct val="50000"/>
              </a:spcBef>
            </a:pPr>
            <a:r>
              <a:rPr lang="en-US" altLang="zh-CN" sz="2400" b="1" i="1" dirty="0" err="1">
                <a:solidFill>
                  <a:srgbClr val="000000"/>
                </a:solidFill>
                <a:latin typeface="+mn-ea"/>
              </a:rPr>
              <a:t>exp</a:t>
            </a:r>
            <a:r>
              <a:rPr lang="en-US" altLang="zh-CN" sz="2400" b="1" dirty="0" err="1">
                <a:solidFill>
                  <a:srgbClr val="000000"/>
                </a:solidFill>
                <a:latin typeface="+mn-ea"/>
              </a:rPr>
              <a:t>→</a:t>
            </a:r>
            <a:r>
              <a:rPr lang="en-US" altLang="zh-CN" sz="2400" b="1" i="1" dirty="0" err="1">
                <a:solidFill>
                  <a:srgbClr val="000000"/>
                </a:solidFill>
                <a:latin typeface="+mn-ea"/>
              </a:rPr>
              <a:t>term</a:t>
            </a:r>
            <a:r>
              <a:rPr lang="en-US" altLang="zh-CN" sz="2400" b="1" dirty="0">
                <a:solidFill>
                  <a:srgbClr val="000000"/>
                </a:solidFill>
                <a:latin typeface="+mn-ea"/>
              </a:rPr>
              <a:t>                    </a:t>
            </a:r>
            <a:r>
              <a:rPr lang="en-US" altLang="zh-CN" sz="2400" b="1" dirty="0">
                <a:solidFill>
                  <a:srgbClr val="FF0000"/>
                </a:solidFill>
                <a:latin typeface="+mn-ea"/>
              </a:rPr>
              <a:t>exp.val=term.val</a:t>
            </a:r>
            <a:endParaRPr lang="en-US" altLang="zh-CN" sz="2400" b="1" dirty="0">
              <a:solidFill>
                <a:srgbClr val="000000"/>
              </a:solidFill>
              <a:latin typeface="+mn-ea"/>
            </a:endParaRPr>
          </a:p>
        </p:txBody>
      </p:sp>
      <p:sp>
        <p:nvSpPr>
          <p:cNvPr id="3" name="Rectangle 2"/>
          <p:cNvSpPr>
            <a:spLocks noChangeArrowheads="1"/>
          </p:cNvSpPr>
          <p:nvPr>
            <p:custDataLst>
              <p:tags r:id="rId6"/>
            </p:custDataLst>
          </p:nvPr>
        </p:nvSpPr>
        <p:spPr bwMode="auto">
          <a:xfrm>
            <a:off x="387773" y="4572000"/>
            <a:ext cx="8334375"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lnSpc>
                <a:spcPct val="80000"/>
              </a:lnSpc>
              <a:spcBef>
                <a:spcPct val="50000"/>
              </a:spcBef>
              <a:buClrTx/>
              <a:buSzTx/>
              <a:buFontTx/>
            </a:pPr>
            <a:r>
              <a:rPr lang="en-US" altLang="zh-CN" sz="2400" b="1" i="1" dirty="0">
                <a:solidFill>
                  <a:srgbClr val="000000"/>
                </a:solidFill>
                <a:latin typeface="+mn-ea"/>
              </a:rPr>
              <a:t>term1</a:t>
            </a:r>
            <a:r>
              <a:rPr lang="en-US" altLang="zh-CN" sz="2400" b="1" dirty="0">
                <a:solidFill>
                  <a:srgbClr val="000000"/>
                </a:solidFill>
                <a:latin typeface="+mn-ea"/>
              </a:rPr>
              <a:t>→</a:t>
            </a:r>
            <a:r>
              <a:rPr lang="en-US" altLang="zh-CN" sz="2400" b="1" i="1" dirty="0">
                <a:solidFill>
                  <a:srgbClr val="000000"/>
                </a:solidFill>
                <a:latin typeface="+mn-ea"/>
              </a:rPr>
              <a:t>term2</a:t>
            </a:r>
            <a:r>
              <a:rPr lang="en-US" altLang="zh-CN" sz="2400" b="1" dirty="0">
                <a:solidFill>
                  <a:srgbClr val="000000"/>
                </a:solidFill>
                <a:latin typeface="+mn-ea"/>
              </a:rPr>
              <a:t>*</a:t>
            </a:r>
            <a:r>
              <a:rPr lang="en-US" altLang="zh-CN" sz="2400" b="1" i="1" dirty="0">
                <a:solidFill>
                  <a:srgbClr val="000000"/>
                </a:solidFill>
                <a:latin typeface="+mn-ea"/>
              </a:rPr>
              <a:t>factor</a:t>
            </a:r>
            <a:r>
              <a:rPr lang="en-US" altLang="zh-CN" sz="2400" b="1" dirty="0">
                <a:solidFill>
                  <a:srgbClr val="000000"/>
                </a:solidFill>
                <a:latin typeface="+mn-ea"/>
              </a:rPr>
              <a:t>   </a:t>
            </a:r>
            <a:r>
              <a:rPr lang="en-US" altLang="zh-CN" sz="2400" b="1" dirty="0">
                <a:solidFill>
                  <a:srgbClr val="FF0000"/>
                </a:solidFill>
                <a:latin typeface="+mn-ea"/>
              </a:rPr>
              <a:t>term1.val=term2.val*factor.val</a:t>
            </a:r>
            <a:endParaRPr lang="en-US" altLang="zh-CN" sz="2400" b="1" dirty="0">
              <a:solidFill>
                <a:srgbClr val="FF0000"/>
              </a:solidFill>
              <a:latin typeface="+mn-ea"/>
            </a:endParaRPr>
          </a:p>
        </p:txBody>
      </p:sp>
      <p:sp>
        <p:nvSpPr>
          <p:cNvPr id="4" name="Rectangle 3"/>
          <p:cNvSpPr>
            <a:spLocks noChangeArrowheads="1"/>
          </p:cNvSpPr>
          <p:nvPr>
            <p:custDataLst>
              <p:tags r:id="rId7"/>
            </p:custDataLst>
          </p:nvPr>
        </p:nvSpPr>
        <p:spPr bwMode="auto">
          <a:xfrm>
            <a:off x="341737" y="4927600"/>
            <a:ext cx="7141150"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lnSpc>
                <a:spcPct val="80000"/>
              </a:lnSpc>
              <a:spcBef>
                <a:spcPct val="50000"/>
              </a:spcBef>
              <a:buClrTx/>
              <a:buSzTx/>
              <a:buFontTx/>
            </a:pPr>
            <a:r>
              <a:rPr lang="en-US" altLang="zh-CN" sz="2400" b="1" i="1" dirty="0" err="1">
                <a:solidFill>
                  <a:srgbClr val="000000"/>
                </a:solidFill>
                <a:latin typeface="+mn-ea"/>
              </a:rPr>
              <a:t>term</a:t>
            </a:r>
            <a:r>
              <a:rPr lang="en-US" altLang="zh-CN" sz="2400" b="1" dirty="0" err="1">
                <a:solidFill>
                  <a:srgbClr val="000000"/>
                </a:solidFill>
                <a:latin typeface="+mn-ea"/>
              </a:rPr>
              <a:t>→</a:t>
            </a:r>
            <a:r>
              <a:rPr lang="en-US" altLang="zh-CN" sz="2400" b="1" i="1" dirty="0" err="1">
                <a:solidFill>
                  <a:srgbClr val="000000"/>
                </a:solidFill>
                <a:latin typeface="+mn-ea"/>
              </a:rPr>
              <a:t>factor</a:t>
            </a:r>
            <a:r>
              <a:rPr lang="en-US" altLang="zh-CN" sz="2400" b="1" dirty="0">
                <a:solidFill>
                  <a:srgbClr val="000000"/>
                </a:solidFill>
                <a:latin typeface="+mn-ea"/>
              </a:rPr>
              <a:t>                 </a:t>
            </a:r>
            <a:r>
              <a:rPr lang="en-US" altLang="zh-CN" sz="2400" b="1" dirty="0">
                <a:solidFill>
                  <a:srgbClr val="FF0000"/>
                </a:solidFill>
                <a:latin typeface="+mn-ea"/>
              </a:rPr>
              <a:t>term.val=factor.val</a:t>
            </a:r>
            <a:endParaRPr lang="en-US" altLang="zh-CN" sz="2400" b="1" dirty="0">
              <a:solidFill>
                <a:srgbClr val="FF0000"/>
              </a:solidFill>
              <a:latin typeface="+mn-ea"/>
            </a:endParaRPr>
          </a:p>
        </p:txBody>
      </p:sp>
      <p:sp>
        <p:nvSpPr>
          <p:cNvPr id="10" name="Rectangle 4"/>
          <p:cNvSpPr>
            <a:spLocks noChangeArrowheads="1"/>
          </p:cNvSpPr>
          <p:nvPr>
            <p:custDataLst>
              <p:tags r:id="rId8"/>
            </p:custDataLst>
          </p:nvPr>
        </p:nvSpPr>
        <p:spPr bwMode="auto">
          <a:xfrm>
            <a:off x="318242" y="5345113"/>
            <a:ext cx="7141150"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lnSpc>
                <a:spcPct val="80000"/>
              </a:lnSpc>
              <a:spcBef>
                <a:spcPct val="50000"/>
              </a:spcBef>
              <a:buClrTx/>
              <a:buSzTx/>
              <a:buFontTx/>
            </a:pPr>
            <a:r>
              <a:rPr lang="en-US" altLang="zh-CN" sz="2400" b="1" i="1" dirty="0">
                <a:solidFill>
                  <a:srgbClr val="000000"/>
                </a:solidFill>
                <a:latin typeface="+mn-ea"/>
              </a:rPr>
              <a:t>factor</a:t>
            </a:r>
            <a:r>
              <a:rPr lang="en-US" altLang="zh-CN" sz="2400" b="1" dirty="0">
                <a:solidFill>
                  <a:srgbClr val="000000"/>
                </a:solidFill>
                <a:latin typeface="+mn-ea"/>
              </a:rPr>
              <a:t>→(</a:t>
            </a:r>
            <a:r>
              <a:rPr lang="en-US" altLang="zh-CN" sz="2400" b="1" i="1" dirty="0">
                <a:solidFill>
                  <a:srgbClr val="000000"/>
                </a:solidFill>
                <a:latin typeface="+mn-ea"/>
              </a:rPr>
              <a:t>exp</a:t>
            </a:r>
            <a:r>
              <a:rPr lang="en-US" altLang="zh-CN" sz="2400" b="1" dirty="0">
                <a:solidFill>
                  <a:srgbClr val="000000"/>
                </a:solidFill>
                <a:latin typeface="+mn-ea"/>
              </a:rPr>
              <a:t>)                 </a:t>
            </a:r>
            <a:r>
              <a:rPr lang="en-US" altLang="zh-CN" sz="2400" b="1" dirty="0">
                <a:solidFill>
                  <a:srgbClr val="FF0000"/>
                </a:solidFill>
                <a:latin typeface="+mn-ea"/>
              </a:rPr>
              <a:t>factor.val=exp.val</a:t>
            </a:r>
            <a:endParaRPr lang="en-US" altLang="zh-CN" sz="2400" b="1" dirty="0">
              <a:solidFill>
                <a:srgbClr val="FF0000"/>
              </a:solidFill>
              <a:latin typeface="+mn-ea"/>
            </a:endParaRPr>
          </a:p>
        </p:txBody>
      </p:sp>
      <p:sp>
        <p:nvSpPr>
          <p:cNvPr id="11" name="Rectangle 5"/>
          <p:cNvSpPr>
            <a:spLocks noChangeArrowheads="1"/>
          </p:cNvSpPr>
          <p:nvPr>
            <p:custDataLst>
              <p:tags r:id="rId9"/>
            </p:custDataLst>
          </p:nvPr>
        </p:nvSpPr>
        <p:spPr bwMode="auto">
          <a:xfrm>
            <a:off x="341419" y="5813425"/>
            <a:ext cx="7474849"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80000"/>
              </a:lnSpc>
              <a:spcBef>
                <a:spcPct val="50000"/>
              </a:spcBef>
            </a:pPr>
            <a:r>
              <a:rPr lang="en-US" altLang="zh-CN" sz="2400" b="1" i="1" dirty="0" err="1">
                <a:solidFill>
                  <a:srgbClr val="000000"/>
                </a:solidFill>
                <a:latin typeface="+mn-ea"/>
              </a:rPr>
              <a:t>factor</a:t>
            </a:r>
            <a:r>
              <a:rPr lang="en-US" altLang="zh-CN" sz="2400" b="1" dirty="0" err="1">
                <a:solidFill>
                  <a:srgbClr val="000000"/>
                </a:solidFill>
                <a:latin typeface="+mn-ea"/>
              </a:rPr>
              <a:t>→number</a:t>
            </a:r>
            <a:r>
              <a:rPr lang="en-US" altLang="zh-CN" sz="2400" b="1" dirty="0">
                <a:solidFill>
                  <a:srgbClr val="000000"/>
                </a:solidFill>
                <a:latin typeface="+mn-ea"/>
              </a:rPr>
              <a:t>          </a:t>
            </a:r>
            <a:r>
              <a:rPr lang="en-US" altLang="zh-CN" sz="2400" b="1" dirty="0">
                <a:solidFill>
                  <a:srgbClr val="FF0000"/>
                </a:solidFill>
                <a:latin typeface="+mn-ea"/>
              </a:rPr>
              <a:t>  </a:t>
            </a:r>
            <a:r>
              <a:rPr lang="en-US" altLang="zh-CN" sz="2400" b="1" dirty="0" err="1">
                <a:solidFill>
                  <a:srgbClr val="FF0000"/>
                </a:solidFill>
                <a:latin typeface="+mn-ea"/>
              </a:rPr>
              <a:t>factor.val</a:t>
            </a:r>
            <a:r>
              <a:rPr lang="en-US" altLang="zh-CN" sz="2400" b="1" dirty="0">
                <a:solidFill>
                  <a:srgbClr val="FF0000"/>
                </a:solidFill>
                <a:latin typeface="+mn-ea"/>
              </a:rPr>
              <a:t>=</a:t>
            </a:r>
            <a:r>
              <a:rPr lang="en-US" altLang="zh-CN" sz="2400" b="1" dirty="0" err="1">
                <a:solidFill>
                  <a:srgbClr val="FF0000"/>
                </a:solidFill>
                <a:latin typeface="+mn-ea"/>
              </a:rPr>
              <a:t>number.val</a:t>
            </a:r>
            <a:endParaRPr lang="en-US" altLang="zh-CN" sz="2400" b="1" dirty="0" err="1">
              <a:solidFill>
                <a:srgbClr val="FF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6"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barn(inHorizontal)">
                                      <p:cBhvr>
                                        <p:cTn id="11" dur="500"/>
                                        <p:tgtEl>
                                          <p:spTgt spid="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6"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barn(inHorizontal)">
                                      <p:cBhvr>
                                        <p:cTn id="16" dur="5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Horizont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6"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arn(inHorizont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6"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arn(inHorizontal)">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6"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arn(inHorizontal)">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6"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arn(inHorizontal)">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6"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arn(inHorizontal)">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3" grpId="0"/>
      <p:bldP spid="4"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5.1.2 </a:t>
            </a:r>
            <a:r>
              <a:rPr lang="zh-CN" altLang="en-US"/>
              <a:t>合成属性</a:t>
            </a:r>
            <a:endParaRPr lang="zh-CN" altLang="en-US" dirty="0"/>
          </a:p>
        </p:txBody>
      </p:sp>
      <p:sp useBgFill="1">
        <p:nvSpPr>
          <p:cNvPr id="9" name="Rectangle 2"/>
          <p:cNvSpPr>
            <a:spLocks noChangeArrowheads="1"/>
          </p:cNvSpPr>
          <p:nvPr/>
        </p:nvSpPr>
        <p:spPr bwMode="auto">
          <a:xfrm>
            <a:off x="2769870" y="3012600"/>
            <a:ext cx="304800" cy="53403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useBgFill="1">
        <p:nvSpPr>
          <p:cNvPr id="14" name="Rectangle 3"/>
          <p:cNvSpPr>
            <a:spLocks noChangeArrowheads="1"/>
          </p:cNvSpPr>
          <p:nvPr/>
        </p:nvSpPr>
        <p:spPr bwMode="auto">
          <a:xfrm>
            <a:off x="2160270" y="3511075"/>
            <a:ext cx="381000" cy="53403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useBgFill="1">
        <p:nvSpPr>
          <p:cNvPr id="15" name="Rectangle 4"/>
          <p:cNvSpPr>
            <a:spLocks noChangeArrowheads="1"/>
          </p:cNvSpPr>
          <p:nvPr/>
        </p:nvSpPr>
        <p:spPr bwMode="auto">
          <a:xfrm>
            <a:off x="3379470" y="3622200"/>
            <a:ext cx="762000" cy="53403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20000"/>
              </a:lnSpc>
              <a:spcBef>
                <a:spcPct val="50000"/>
              </a:spcBef>
            </a:pPr>
            <a:r>
              <a:rPr lang="en-US" altLang="zh-CN" sz="2400" b="1">
                <a:solidFill>
                  <a:srgbClr val="070709"/>
                </a:solidFill>
                <a:latin typeface="+mn-ea"/>
              </a:rPr>
              <a:t>42</a:t>
            </a:r>
            <a:endParaRPr lang="en-US" altLang="zh-CN" sz="2400" b="1">
              <a:solidFill>
                <a:srgbClr val="070709"/>
              </a:solidFill>
              <a:latin typeface="+mn-ea"/>
            </a:endParaRPr>
          </a:p>
        </p:txBody>
      </p:sp>
      <p:sp>
        <p:nvSpPr>
          <p:cNvPr id="16" name="Line 5"/>
          <p:cNvSpPr>
            <a:spLocks noChangeShapeType="1"/>
          </p:cNvSpPr>
          <p:nvPr/>
        </p:nvSpPr>
        <p:spPr bwMode="auto">
          <a:xfrm flipH="1">
            <a:off x="2388870" y="3370898"/>
            <a:ext cx="381000" cy="2286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p:nvSpPr>
          <p:cNvPr id="17" name="Line 6"/>
          <p:cNvSpPr>
            <a:spLocks noChangeShapeType="1"/>
          </p:cNvSpPr>
          <p:nvPr/>
        </p:nvSpPr>
        <p:spPr bwMode="auto">
          <a:xfrm>
            <a:off x="3150870" y="3370898"/>
            <a:ext cx="533400" cy="1651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useBgFill="1">
        <p:nvSpPr>
          <p:cNvPr id="18" name="Rectangle 7"/>
          <p:cNvSpPr>
            <a:spLocks noChangeArrowheads="1"/>
          </p:cNvSpPr>
          <p:nvPr/>
        </p:nvSpPr>
        <p:spPr bwMode="auto">
          <a:xfrm>
            <a:off x="958850" y="5172075"/>
            <a:ext cx="4225290" cy="53403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20000"/>
              </a:lnSpc>
              <a:spcBef>
                <a:spcPct val="50000"/>
              </a:spcBef>
            </a:pPr>
            <a:r>
              <a:rPr lang="zh-CN" altLang="en-US" sz="2400" b="1">
                <a:solidFill>
                  <a:srgbClr val="070709"/>
                </a:solidFill>
                <a:latin typeface="+mn-ea"/>
              </a:rPr>
              <a:t>（34-3）*42 的抽象语法树</a:t>
            </a:r>
            <a:endParaRPr lang="zh-CN" altLang="en-US" sz="2400" b="1">
              <a:solidFill>
                <a:srgbClr val="070709"/>
              </a:solidFill>
              <a:latin typeface="+mn-ea"/>
            </a:endParaRPr>
          </a:p>
        </p:txBody>
      </p:sp>
      <p:sp>
        <p:nvSpPr>
          <p:cNvPr id="19" name="Line 8"/>
          <p:cNvSpPr>
            <a:spLocks noChangeShapeType="1"/>
          </p:cNvSpPr>
          <p:nvPr/>
        </p:nvSpPr>
        <p:spPr bwMode="auto">
          <a:xfrm flipH="1">
            <a:off x="2084070" y="3937635"/>
            <a:ext cx="152400" cy="331788"/>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p:nvSpPr>
          <p:cNvPr id="20" name="Line 9"/>
          <p:cNvSpPr>
            <a:spLocks noChangeShapeType="1"/>
          </p:cNvSpPr>
          <p:nvPr/>
        </p:nvSpPr>
        <p:spPr bwMode="auto">
          <a:xfrm>
            <a:off x="2465070" y="3937635"/>
            <a:ext cx="152400" cy="331788"/>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useBgFill="1">
        <p:nvSpPr>
          <p:cNvPr id="21" name="Rectangle 10"/>
          <p:cNvSpPr>
            <a:spLocks noChangeArrowheads="1"/>
          </p:cNvSpPr>
          <p:nvPr/>
        </p:nvSpPr>
        <p:spPr bwMode="auto">
          <a:xfrm>
            <a:off x="1626870" y="4322287"/>
            <a:ext cx="914400" cy="53403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34</a:t>
            </a:r>
            <a:endParaRPr lang="en-US" altLang="zh-CN" sz="2400" b="1">
              <a:solidFill>
                <a:srgbClr val="070709"/>
              </a:solidFill>
              <a:latin typeface="+mn-ea"/>
            </a:endParaRPr>
          </a:p>
        </p:txBody>
      </p:sp>
      <p:sp useBgFill="1">
        <p:nvSpPr>
          <p:cNvPr id="22" name="Rectangle 11"/>
          <p:cNvSpPr>
            <a:spLocks noChangeArrowheads="1"/>
          </p:cNvSpPr>
          <p:nvPr/>
        </p:nvSpPr>
        <p:spPr bwMode="auto">
          <a:xfrm>
            <a:off x="2465070" y="4308000"/>
            <a:ext cx="533400" cy="53403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3</a:t>
            </a:r>
            <a:endParaRPr lang="en-US" altLang="zh-CN" sz="2400" b="1">
              <a:solidFill>
                <a:srgbClr val="070709"/>
              </a:solidFill>
              <a:latin typeface="+mn-ea"/>
            </a:endParaRPr>
          </a:p>
        </p:txBody>
      </p:sp>
      <p:sp>
        <p:nvSpPr>
          <p:cNvPr id="23" name="Rectangle 12"/>
          <p:cNvSpPr>
            <a:spLocks noChangeArrowheads="1"/>
          </p:cNvSpPr>
          <p:nvPr/>
        </p:nvSpPr>
        <p:spPr bwMode="auto">
          <a:xfrm>
            <a:off x="430530" y="1313815"/>
            <a:ext cx="4652010"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buSzPct val="90000"/>
            </a:pPr>
            <a:r>
              <a:rPr lang="zh-CN" altLang="en-US" sz="2400" b="1" dirty="0">
                <a:solidFill>
                  <a:srgbClr val="050507"/>
                </a:solidFill>
                <a:latin typeface="+mn-ea"/>
              </a:rPr>
              <a:t>对于上述简单整型算术表达式文法，</a:t>
            </a:r>
            <a:r>
              <a:rPr lang="zh-CN" altLang="en-US" sz="2400" b="1" dirty="0">
                <a:solidFill>
                  <a:srgbClr val="070709"/>
                </a:solidFill>
                <a:latin typeface="+mn-ea"/>
              </a:rPr>
              <a:t>假设表达式(34-3)*42语法分析的结果如下：</a:t>
            </a:r>
            <a:endParaRPr lang="zh-CN" altLang="en-US" sz="2400" b="1" dirty="0">
              <a:solidFill>
                <a:srgbClr val="070709"/>
              </a:solidFill>
              <a:latin typeface="+mn-ea"/>
            </a:endParaRPr>
          </a:p>
        </p:txBody>
      </p:sp>
      <p:sp>
        <p:nvSpPr>
          <p:cNvPr id="25" name="Rectangle 6"/>
          <p:cNvSpPr txBox="1">
            <a:spLocks noChangeArrowheads="1"/>
          </p:cNvSpPr>
          <p:nvPr/>
        </p:nvSpPr>
        <p:spPr>
          <a:xfrm>
            <a:off x="6137275" y="1195705"/>
            <a:ext cx="5429250" cy="13754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2400" b="1" dirty="0">
                <a:solidFill>
                  <a:srgbClr val="000000"/>
                </a:solidFill>
                <a:latin typeface="+mn-ea"/>
                <a:sym typeface="Symbol" panose="05050102010706020507" pitchFamily="18" charset="2"/>
              </a:rPr>
              <a:t>如果把分析树中对应该文法符号的节点看成是一条记录，</a:t>
            </a:r>
            <a:r>
              <a:rPr lang="zh-CN" altLang="en-US" sz="2400" b="1" dirty="0">
                <a:solidFill>
                  <a:srgbClr val="0070C0"/>
                </a:solidFill>
                <a:latin typeface="+mn-ea"/>
                <a:sym typeface="Symbol" panose="05050102010706020507" pitchFamily="18" charset="2"/>
              </a:rPr>
              <a:t>属性</a:t>
            </a:r>
            <a:r>
              <a:rPr lang="zh-CN" altLang="en-US" sz="2400" b="1" dirty="0">
                <a:solidFill>
                  <a:srgbClr val="000000"/>
                </a:solidFill>
                <a:latin typeface="+mn-ea"/>
                <a:sym typeface="Symbol" panose="05050102010706020507" pitchFamily="18" charset="2"/>
              </a:rPr>
              <a:t>就相当于一个</a:t>
            </a:r>
            <a:r>
              <a:rPr lang="zh-CN" altLang="en-US" sz="2400" b="1" dirty="0">
                <a:solidFill>
                  <a:srgbClr val="0070C0"/>
                </a:solidFill>
                <a:latin typeface="+mn-ea"/>
                <a:sym typeface="Symbol" panose="05050102010706020507" pitchFamily="18" charset="2"/>
              </a:rPr>
              <a:t>域的名字。</a:t>
            </a:r>
            <a:endParaRPr lang="zh-CN" altLang="en-US" sz="2400" b="1" dirty="0">
              <a:solidFill>
                <a:srgbClr val="0070C0"/>
              </a:solidFill>
              <a:latin typeface="+mn-ea"/>
              <a:sym typeface="Symbol" panose="05050102010706020507" pitchFamily="18" charset="2"/>
            </a:endParaRPr>
          </a:p>
        </p:txBody>
      </p:sp>
      <p:sp>
        <p:nvSpPr>
          <p:cNvPr id="26" name="Rectangle 2"/>
          <p:cNvSpPr>
            <a:spLocks noChangeArrowheads="1"/>
          </p:cNvSpPr>
          <p:nvPr/>
        </p:nvSpPr>
        <p:spPr bwMode="auto">
          <a:xfrm>
            <a:off x="6247130" y="2671445"/>
            <a:ext cx="5487670" cy="3604895"/>
          </a:xfrm>
          <a:prstGeom prst="rect">
            <a:avLst/>
          </a:prstGeom>
          <a:solidFill>
            <a:schemeClr val="bg2"/>
          </a:solidFill>
          <a:ln>
            <a:noFill/>
          </a:ln>
        </p:spPr>
        <p:txBody>
          <a:bodyPr wrap="square">
            <a:spAutoFit/>
          </a:bodyPr>
          <a:lstStyle/>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typedef </a:t>
            </a:r>
            <a:r>
              <a:rPr lang="en-US" altLang="zh-CN" sz="2000" b="1" dirty="0" err="1">
                <a:latin typeface="Times New Roman" panose="02020603050405020304" pitchFamily="18" charset="0"/>
                <a:cs typeface="Times New Roman" panose="02020603050405020304" pitchFamily="18" charset="0"/>
              </a:rPr>
              <a:t>enum</a:t>
            </a:r>
            <a:r>
              <a:rPr lang="en-US" altLang="zh-CN" sz="2000" b="1" dirty="0">
                <a:latin typeface="Times New Roman" panose="02020603050405020304" pitchFamily="18" charset="0"/>
                <a:cs typeface="Times New Roman" panose="02020603050405020304" pitchFamily="18" charset="0"/>
              </a:rPr>
              <a:t> { Plus, Minus, Times } </a:t>
            </a:r>
            <a:r>
              <a:rPr lang="en-US" altLang="zh-CN" sz="2000" b="1" dirty="0" err="1">
                <a:latin typeface="Times New Roman" panose="02020603050405020304" pitchFamily="18" charset="0"/>
                <a:cs typeface="Times New Roman" panose="02020603050405020304" pitchFamily="18" charset="0"/>
              </a:rPr>
              <a:t>OpKind</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typedef </a:t>
            </a:r>
            <a:r>
              <a:rPr lang="en-US" altLang="zh-CN" sz="2000" b="1" dirty="0" err="1">
                <a:latin typeface="Times New Roman" panose="02020603050405020304" pitchFamily="18" charset="0"/>
                <a:cs typeface="Times New Roman" panose="02020603050405020304" pitchFamily="18" charset="0"/>
              </a:rPr>
              <a:t>enum</a:t>
            </a:r>
            <a:r>
              <a:rPr lang="en-US" altLang="zh-CN" sz="2000" b="1" dirty="0">
                <a:latin typeface="Times New Roman" panose="02020603050405020304" pitchFamily="18" charset="0"/>
                <a:cs typeface="Times New Roman" panose="02020603050405020304" pitchFamily="18" charset="0"/>
              </a:rPr>
              <a:t> { </a:t>
            </a:r>
            <a:r>
              <a:rPr lang="en-US" altLang="zh-CN" sz="2000" b="1" dirty="0" err="1">
                <a:latin typeface="Times New Roman" panose="02020603050405020304" pitchFamily="18" charset="0"/>
                <a:cs typeface="Times New Roman" panose="02020603050405020304" pitchFamily="18" charset="0"/>
              </a:rPr>
              <a:t>OpKind</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ConstKind</a:t>
            </a:r>
            <a:r>
              <a:rPr lang="en-US" altLang="zh-CN" sz="2000" b="1" dirty="0">
                <a:latin typeface="Times New Roman" panose="02020603050405020304" pitchFamily="18" charset="0"/>
                <a:cs typeface="Times New Roman" panose="02020603050405020304" pitchFamily="18" charset="0"/>
              </a:rPr>
              <a:t> } </a:t>
            </a:r>
            <a:r>
              <a:rPr lang="en-US" altLang="zh-CN" sz="2000" b="1" dirty="0" err="1">
                <a:latin typeface="Times New Roman" panose="02020603050405020304" pitchFamily="18" charset="0"/>
                <a:cs typeface="Times New Roman" panose="02020603050405020304" pitchFamily="18" charset="0"/>
              </a:rPr>
              <a:t>ExpKind</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typedef struct </a:t>
            </a:r>
            <a:r>
              <a:rPr lang="en-US" altLang="zh-CN" sz="2000" b="1" dirty="0" err="1">
                <a:latin typeface="Times New Roman" panose="02020603050405020304" pitchFamily="18" charset="0"/>
                <a:cs typeface="Times New Roman" panose="02020603050405020304" pitchFamily="18" charset="0"/>
              </a:rPr>
              <a:t>streenode</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ExpKind</a:t>
            </a:r>
            <a:r>
              <a:rPr lang="en-US" altLang="zh-CN" sz="2000" b="1" dirty="0">
                <a:latin typeface="Times New Roman" panose="02020603050405020304" pitchFamily="18" charset="0"/>
                <a:cs typeface="Times New Roman" panose="02020603050405020304" pitchFamily="18" charset="0"/>
              </a:rPr>
              <a:t> kind;</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OpKind</a:t>
            </a:r>
            <a:r>
              <a:rPr lang="en-US" altLang="zh-CN" sz="2000" b="1" dirty="0">
                <a:latin typeface="Times New Roman" panose="02020603050405020304" pitchFamily="18" charset="0"/>
                <a:cs typeface="Times New Roman" panose="02020603050405020304" pitchFamily="18" charset="0"/>
              </a:rPr>
              <a:t> op;</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  struct </a:t>
            </a:r>
            <a:r>
              <a:rPr lang="en-US" altLang="zh-CN" sz="2000" b="1" dirty="0" err="1">
                <a:latin typeface="Times New Roman" panose="02020603050405020304" pitchFamily="18" charset="0"/>
                <a:cs typeface="Times New Roman" panose="02020603050405020304" pitchFamily="18" charset="0"/>
              </a:rPr>
              <a:t>streenode</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lchild</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rchild</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  int </a:t>
            </a:r>
            <a:r>
              <a:rPr lang="en-US" altLang="zh-CN" sz="2000" b="1" dirty="0" err="1">
                <a:latin typeface="Times New Roman" panose="02020603050405020304" pitchFamily="18" charset="0"/>
                <a:cs typeface="Times New Roman" panose="02020603050405020304" pitchFamily="18" charset="0"/>
              </a:rPr>
              <a:t>val</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STreeNode</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000" b="1" dirty="0">
                <a:latin typeface="Times New Roman" panose="02020603050405020304" pitchFamily="18" charset="0"/>
                <a:cs typeface="Times New Roman" panose="02020603050405020304" pitchFamily="18" charset="0"/>
              </a:rPr>
              <a:t>typedef </a:t>
            </a:r>
            <a:r>
              <a:rPr lang="en-US" altLang="zh-CN" sz="2000" b="1" dirty="0" err="1">
                <a:latin typeface="Times New Roman" panose="02020603050405020304" pitchFamily="18" charset="0"/>
                <a:cs typeface="Times New Roman" panose="02020603050405020304" pitchFamily="18" charset="0"/>
              </a:rPr>
              <a:t>STreeNode</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SyntaxTree</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55600" y="276860"/>
            <a:ext cx="9250680" cy="593090"/>
          </a:xfrm>
        </p:spPr>
        <p:txBody>
          <a:bodyPr/>
          <a:lstStyle/>
          <a:p>
            <a:r>
              <a:rPr lang="en-US" altLang="zh-CN"/>
              <a:t>5.1.2 </a:t>
            </a:r>
            <a:r>
              <a:rPr lang="zh-CN" altLang="en-US"/>
              <a:t>合成属性</a:t>
            </a:r>
            <a:endParaRPr lang="zh-CN" altLang="en-US" dirty="0"/>
          </a:p>
        </p:txBody>
      </p:sp>
      <p:sp>
        <p:nvSpPr>
          <p:cNvPr id="4" name="Line 2"/>
          <p:cNvSpPr>
            <a:spLocks noChangeShapeType="1"/>
          </p:cNvSpPr>
          <p:nvPr/>
        </p:nvSpPr>
        <p:spPr bwMode="auto">
          <a:xfrm>
            <a:off x="9475047" y="4209310"/>
            <a:ext cx="609600" cy="5207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800" b="1">
              <a:latin typeface="+mn-ea"/>
            </a:endParaRPr>
          </a:p>
        </p:txBody>
      </p:sp>
      <p:sp>
        <p:nvSpPr>
          <p:cNvPr id="6" name="Line 3"/>
          <p:cNvSpPr>
            <a:spLocks noChangeShapeType="1"/>
          </p:cNvSpPr>
          <p:nvPr/>
        </p:nvSpPr>
        <p:spPr bwMode="auto">
          <a:xfrm flipH="1">
            <a:off x="8217747" y="4180735"/>
            <a:ext cx="685800" cy="5207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800" b="1">
              <a:latin typeface="+mn-ea"/>
            </a:endParaRPr>
          </a:p>
        </p:txBody>
      </p:sp>
      <p:sp useBgFill="1">
        <p:nvSpPr>
          <p:cNvPr id="7" name="Rectangle 4"/>
          <p:cNvSpPr>
            <a:spLocks noChangeArrowheads="1"/>
          </p:cNvSpPr>
          <p:nvPr/>
        </p:nvSpPr>
        <p:spPr bwMode="auto">
          <a:xfrm>
            <a:off x="9589347" y="2048881"/>
            <a:ext cx="7620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800" b="1">
                <a:solidFill>
                  <a:srgbClr val="070709"/>
                </a:solidFill>
                <a:latin typeface="+mn-ea"/>
              </a:rPr>
              <a:t>*</a:t>
            </a:r>
            <a:endParaRPr lang="en-US" altLang="zh-CN" sz="2800" b="1">
              <a:solidFill>
                <a:srgbClr val="070709"/>
              </a:solidFill>
              <a:latin typeface="+mn-ea"/>
            </a:endParaRPr>
          </a:p>
        </p:txBody>
      </p:sp>
      <p:sp useBgFill="1">
        <p:nvSpPr>
          <p:cNvPr id="8" name="Rectangle 5"/>
          <p:cNvSpPr>
            <a:spLocks noChangeArrowheads="1"/>
          </p:cNvSpPr>
          <p:nvPr/>
        </p:nvSpPr>
        <p:spPr bwMode="auto">
          <a:xfrm>
            <a:off x="8498735" y="3288718"/>
            <a:ext cx="5334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800" b="1">
                <a:solidFill>
                  <a:srgbClr val="070709"/>
                </a:solidFill>
                <a:latin typeface="+mn-ea"/>
              </a:rPr>
              <a:t>-</a:t>
            </a:r>
            <a:endParaRPr lang="en-US" altLang="zh-CN" sz="2800" b="1">
              <a:solidFill>
                <a:srgbClr val="070709"/>
              </a:solidFill>
              <a:latin typeface="+mn-ea"/>
            </a:endParaRPr>
          </a:p>
        </p:txBody>
      </p:sp>
      <p:sp useBgFill="1">
        <p:nvSpPr>
          <p:cNvPr id="9" name="Rectangle 6"/>
          <p:cNvSpPr>
            <a:spLocks noChangeArrowheads="1"/>
          </p:cNvSpPr>
          <p:nvPr/>
        </p:nvSpPr>
        <p:spPr bwMode="auto">
          <a:xfrm>
            <a:off x="10441835" y="3163306"/>
            <a:ext cx="9144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50000"/>
              </a:spcBef>
            </a:pPr>
            <a:r>
              <a:rPr lang="en-US" altLang="zh-CN" sz="2800" b="1">
                <a:solidFill>
                  <a:srgbClr val="070709"/>
                </a:solidFill>
                <a:latin typeface="+mn-ea"/>
              </a:rPr>
              <a:t>42</a:t>
            </a:r>
            <a:endParaRPr lang="en-US" altLang="zh-CN" sz="2800" b="1">
              <a:solidFill>
                <a:srgbClr val="070709"/>
              </a:solidFill>
              <a:latin typeface="+mn-ea"/>
            </a:endParaRPr>
          </a:p>
        </p:txBody>
      </p:sp>
      <p:sp>
        <p:nvSpPr>
          <p:cNvPr id="10" name="Line 7"/>
          <p:cNvSpPr>
            <a:spLocks noChangeShapeType="1"/>
          </p:cNvSpPr>
          <p:nvPr/>
        </p:nvSpPr>
        <p:spPr bwMode="auto">
          <a:xfrm flipH="1">
            <a:off x="8751147" y="3048847"/>
            <a:ext cx="762000" cy="3810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800" b="1">
              <a:latin typeface="+mn-ea"/>
            </a:endParaRPr>
          </a:p>
        </p:txBody>
      </p:sp>
      <p:sp>
        <p:nvSpPr>
          <p:cNvPr id="11" name="Line 8"/>
          <p:cNvSpPr>
            <a:spLocks noChangeShapeType="1"/>
          </p:cNvSpPr>
          <p:nvPr/>
        </p:nvSpPr>
        <p:spPr bwMode="auto">
          <a:xfrm>
            <a:off x="10046547" y="2972647"/>
            <a:ext cx="533400" cy="3175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800" b="1">
              <a:latin typeface="+mn-ea"/>
            </a:endParaRPr>
          </a:p>
        </p:txBody>
      </p:sp>
      <p:sp useBgFill="1">
        <p:nvSpPr>
          <p:cNvPr id="13" name="Rectangle 9"/>
          <p:cNvSpPr>
            <a:spLocks noChangeArrowheads="1"/>
          </p:cNvSpPr>
          <p:nvPr/>
        </p:nvSpPr>
        <p:spPr bwMode="auto">
          <a:xfrm>
            <a:off x="7760547" y="4601581"/>
            <a:ext cx="9906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800" b="1">
                <a:solidFill>
                  <a:srgbClr val="070709"/>
                </a:solidFill>
                <a:latin typeface="+mn-ea"/>
              </a:rPr>
              <a:t>34</a:t>
            </a:r>
            <a:endParaRPr lang="en-US" altLang="zh-CN" sz="2800" b="1">
              <a:solidFill>
                <a:srgbClr val="070709"/>
              </a:solidFill>
              <a:latin typeface="+mn-ea"/>
            </a:endParaRPr>
          </a:p>
        </p:txBody>
      </p:sp>
      <p:sp useBgFill="1">
        <p:nvSpPr>
          <p:cNvPr id="14" name="Rectangle 10"/>
          <p:cNvSpPr>
            <a:spLocks noChangeArrowheads="1"/>
          </p:cNvSpPr>
          <p:nvPr/>
        </p:nvSpPr>
        <p:spPr bwMode="auto">
          <a:xfrm>
            <a:off x="9970347" y="4525381"/>
            <a:ext cx="9906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50000"/>
              </a:spcBef>
            </a:pPr>
            <a:r>
              <a:rPr lang="en-US" altLang="zh-CN" sz="2800" b="1">
                <a:solidFill>
                  <a:srgbClr val="070709"/>
                </a:solidFill>
                <a:latin typeface="+mn-ea"/>
              </a:rPr>
              <a:t>3</a:t>
            </a:r>
            <a:endParaRPr lang="en-US" altLang="zh-CN" sz="2800" b="1">
              <a:solidFill>
                <a:srgbClr val="070709"/>
              </a:solidFill>
              <a:latin typeface="+mn-ea"/>
            </a:endParaRPr>
          </a:p>
        </p:txBody>
      </p:sp>
      <p:sp useBgFill="1">
        <p:nvSpPr>
          <p:cNvPr id="15" name="Rectangle 11"/>
          <p:cNvSpPr>
            <a:spLocks noChangeArrowheads="1"/>
          </p:cNvSpPr>
          <p:nvPr/>
        </p:nvSpPr>
        <p:spPr bwMode="auto">
          <a:xfrm>
            <a:off x="7150947" y="5134981"/>
            <a:ext cx="22098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800" b="1">
                <a:solidFill>
                  <a:srgbClr val="FF3399"/>
                </a:solidFill>
                <a:latin typeface="+mn-ea"/>
              </a:rPr>
              <a:t>val=34</a:t>
            </a:r>
            <a:endParaRPr lang="en-US" altLang="zh-CN" sz="2800" b="1">
              <a:solidFill>
                <a:srgbClr val="FF3399"/>
              </a:solidFill>
              <a:latin typeface="+mn-ea"/>
            </a:endParaRPr>
          </a:p>
        </p:txBody>
      </p:sp>
      <p:sp useBgFill="1">
        <p:nvSpPr>
          <p:cNvPr id="16" name="Rectangle 12"/>
          <p:cNvSpPr>
            <a:spLocks noChangeArrowheads="1"/>
          </p:cNvSpPr>
          <p:nvPr/>
        </p:nvSpPr>
        <p:spPr bwMode="auto">
          <a:xfrm>
            <a:off x="9436947" y="5058781"/>
            <a:ext cx="18288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800" b="1">
                <a:solidFill>
                  <a:srgbClr val="FF3399"/>
                </a:solidFill>
                <a:latin typeface="+mn-ea"/>
              </a:rPr>
              <a:t>val=3</a:t>
            </a:r>
            <a:endParaRPr lang="en-US" altLang="zh-CN" sz="2800" b="1">
              <a:solidFill>
                <a:srgbClr val="FF3399"/>
              </a:solidFill>
              <a:latin typeface="+mn-ea"/>
            </a:endParaRPr>
          </a:p>
        </p:txBody>
      </p:sp>
      <p:sp useBgFill="1">
        <p:nvSpPr>
          <p:cNvPr id="17" name="Rectangle 13"/>
          <p:cNvSpPr>
            <a:spLocks noChangeArrowheads="1"/>
          </p:cNvSpPr>
          <p:nvPr/>
        </p:nvSpPr>
        <p:spPr bwMode="auto">
          <a:xfrm>
            <a:off x="10198947" y="3610981"/>
            <a:ext cx="23622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50000"/>
              </a:spcBef>
            </a:pPr>
            <a:r>
              <a:rPr lang="en-US" altLang="zh-CN" sz="2800" b="1">
                <a:solidFill>
                  <a:srgbClr val="FF3399"/>
                </a:solidFill>
                <a:latin typeface="+mn-ea"/>
              </a:rPr>
              <a:t>val=42</a:t>
            </a:r>
            <a:endParaRPr lang="en-US" altLang="zh-CN" sz="2800" b="1">
              <a:solidFill>
                <a:srgbClr val="FF3399"/>
              </a:solidFill>
              <a:latin typeface="+mn-ea"/>
            </a:endParaRPr>
          </a:p>
        </p:txBody>
      </p:sp>
      <p:sp useBgFill="1">
        <p:nvSpPr>
          <p:cNvPr id="18" name="Rectangle 14"/>
          <p:cNvSpPr>
            <a:spLocks noChangeArrowheads="1"/>
          </p:cNvSpPr>
          <p:nvPr/>
        </p:nvSpPr>
        <p:spPr bwMode="auto">
          <a:xfrm>
            <a:off x="7303347" y="3687181"/>
            <a:ext cx="28956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800" b="1">
                <a:solidFill>
                  <a:srgbClr val="FF3399"/>
                </a:solidFill>
                <a:latin typeface="+mn-ea"/>
              </a:rPr>
              <a:t>val=34-3=31</a:t>
            </a:r>
            <a:endParaRPr lang="en-US" altLang="zh-CN" sz="2800" b="1">
              <a:solidFill>
                <a:srgbClr val="FF3399"/>
              </a:solidFill>
              <a:latin typeface="+mn-ea"/>
            </a:endParaRPr>
          </a:p>
        </p:txBody>
      </p:sp>
      <p:sp useBgFill="1">
        <p:nvSpPr>
          <p:cNvPr id="19" name="Rectangle 15"/>
          <p:cNvSpPr>
            <a:spLocks noChangeArrowheads="1"/>
          </p:cNvSpPr>
          <p:nvPr/>
        </p:nvSpPr>
        <p:spPr bwMode="auto">
          <a:xfrm>
            <a:off x="8446347" y="2467981"/>
            <a:ext cx="3352800" cy="52197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800" b="1">
                <a:solidFill>
                  <a:srgbClr val="FF3399"/>
                </a:solidFill>
                <a:latin typeface="+mn-ea"/>
              </a:rPr>
              <a:t>val=31*42=1302</a:t>
            </a:r>
            <a:endParaRPr lang="en-US" altLang="zh-CN" sz="2800" b="1">
              <a:solidFill>
                <a:srgbClr val="FF3399"/>
              </a:solidFill>
              <a:latin typeface="+mn-ea"/>
            </a:endParaRPr>
          </a:p>
        </p:txBody>
      </p:sp>
      <p:sp>
        <p:nvSpPr>
          <p:cNvPr id="20" name="Rectangle 16"/>
          <p:cNvSpPr>
            <a:spLocks noChangeArrowheads="1"/>
          </p:cNvSpPr>
          <p:nvPr/>
        </p:nvSpPr>
        <p:spPr bwMode="auto">
          <a:xfrm>
            <a:off x="7044055" y="1134110"/>
            <a:ext cx="479361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70709"/>
                </a:solidFill>
                <a:latin typeface="+mn-ea"/>
              </a:rPr>
              <a:t>表达式(34-3)*42加了注释的抽象语法树：</a:t>
            </a:r>
            <a:endParaRPr lang="zh-CN" altLang="en-US" sz="2400" b="1" dirty="0">
              <a:solidFill>
                <a:srgbClr val="070709"/>
              </a:solidFill>
              <a:latin typeface="+mn-ea"/>
            </a:endParaRPr>
          </a:p>
        </p:txBody>
      </p:sp>
      <p:sp>
        <p:nvSpPr>
          <p:cNvPr id="21" name="Rectangle 17"/>
          <p:cNvSpPr>
            <a:spLocks noChangeArrowheads="1"/>
          </p:cNvSpPr>
          <p:nvPr/>
        </p:nvSpPr>
        <p:spPr bwMode="auto">
          <a:xfrm>
            <a:off x="8498735" y="2570449"/>
            <a:ext cx="3095625"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800" b="1">
              <a:latin typeface="+mn-ea"/>
            </a:endParaRPr>
          </a:p>
        </p:txBody>
      </p:sp>
      <p:sp>
        <p:nvSpPr>
          <p:cNvPr id="22" name="Rectangle 18"/>
          <p:cNvSpPr>
            <a:spLocks noChangeArrowheads="1"/>
          </p:cNvSpPr>
          <p:nvPr/>
        </p:nvSpPr>
        <p:spPr bwMode="auto">
          <a:xfrm>
            <a:off x="7597827" y="3751083"/>
            <a:ext cx="2519363"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800" b="1">
              <a:latin typeface="+mn-ea"/>
            </a:endParaRPr>
          </a:p>
        </p:txBody>
      </p:sp>
      <p:sp>
        <p:nvSpPr>
          <p:cNvPr id="23" name="Rectangle 19"/>
          <p:cNvSpPr>
            <a:spLocks noChangeArrowheads="1"/>
          </p:cNvSpPr>
          <p:nvPr/>
        </p:nvSpPr>
        <p:spPr bwMode="auto">
          <a:xfrm>
            <a:off x="10235990" y="3741791"/>
            <a:ext cx="1223962"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800" b="1">
              <a:latin typeface="+mn-ea"/>
            </a:endParaRPr>
          </a:p>
        </p:txBody>
      </p:sp>
      <p:sp>
        <p:nvSpPr>
          <p:cNvPr id="24" name="Rectangle 20"/>
          <p:cNvSpPr>
            <a:spLocks noChangeArrowheads="1"/>
          </p:cNvSpPr>
          <p:nvPr/>
        </p:nvSpPr>
        <p:spPr bwMode="auto">
          <a:xfrm>
            <a:off x="7663179" y="5164191"/>
            <a:ext cx="1223963"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800" b="1">
              <a:latin typeface="+mn-ea"/>
            </a:endParaRPr>
          </a:p>
        </p:txBody>
      </p:sp>
      <p:sp>
        <p:nvSpPr>
          <p:cNvPr id="25" name="Rectangle 21"/>
          <p:cNvSpPr>
            <a:spLocks noChangeArrowheads="1"/>
          </p:cNvSpPr>
          <p:nvPr/>
        </p:nvSpPr>
        <p:spPr bwMode="auto">
          <a:xfrm>
            <a:off x="9592522" y="5164456"/>
            <a:ext cx="1368425" cy="358775"/>
          </a:xfrm>
          <a:prstGeom prst="rect">
            <a:avLst/>
          </a:prstGeom>
          <a:solidFill>
            <a:schemeClr val="accent1"/>
          </a:solidFill>
          <a:ln w="9525">
            <a:solidFill>
              <a:schemeClr val="tx1"/>
            </a:solidFill>
            <a:miter lim="800000"/>
          </a:ln>
        </p:spPr>
        <p:txBody>
          <a:bodyPr wrap="none" anchor="ctr"/>
          <a:lstStyle/>
          <a:p>
            <a:pPr>
              <a:lnSpc>
                <a:spcPct val="75000"/>
              </a:lnSpc>
              <a:spcBef>
                <a:spcPct val="20000"/>
              </a:spcBef>
              <a:buClr>
                <a:schemeClr val="accent2"/>
              </a:buClr>
              <a:buFont typeface="Wingdings" panose="05000000000000000000" pitchFamily="2" charset="2"/>
              <a:buNone/>
            </a:pPr>
            <a:endParaRPr lang="zh-CN" altLang="en-US" sz="2800" b="1">
              <a:latin typeface="+mn-ea"/>
            </a:endParaRPr>
          </a:p>
        </p:txBody>
      </p:sp>
      <p:sp>
        <p:nvSpPr>
          <p:cNvPr id="2" name="文本框 1"/>
          <p:cNvSpPr txBox="1"/>
          <p:nvPr/>
        </p:nvSpPr>
        <p:spPr>
          <a:xfrm>
            <a:off x="384175" y="2103120"/>
            <a:ext cx="1522730" cy="1938020"/>
          </a:xfrm>
          <a:prstGeom prst="rect">
            <a:avLst/>
          </a:prstGeom>
          <a:noFill/>
        </p:spPr>
        <p:txBody>
          <a:bodyPr wrap="square" rtlCol="0" anchor="t">
            <a:spAutoFit/>
          </a:bodyPr>
          <a:p>
            <a:pPr>
              <a:lnSpc>
                <a:spcPct val="125000"/>
              </a:lnSpc>
              <a:spcBef>
                <a:spcPts val="0"/>
              </a:spcBef>
              <a:spcAft>
                <a:spcPts val="0"/>
              </a:spcAft>
            </a:pPr>
            <a:r>
              <a:rPr lang="zh-CN" altLang="en-US" sz="2400" b="1" dirty="0">
                <a:solidFill>
                  <a:srgbClr val="000000"/>
                </a:solidFill>
                <a:latin typeface="+mn-ea"/>
                <a:sym typeface="+mn-ea"/>
              </a:rPr>
              <a:t>后序遍历语法树计算</a:t>
            </a:r>
            <a:r>
              <a:rPr lang="en-US" altLang="zh-CN" sz="2400" b="1" dirty="0" err="1">
                <a:solidFill>
                  <a:srgbClr val="000000"/>
                </a:solidFill>
                <a:latin typeface="+mn-ea"/>
                <a:sym typeface="+mn-ea"/>
              </a:rPr>
              <a:t>val</a:t>
            </a:r>
            <a:r>
              <a:rPr lang="zh-CN" altLang="en-US" sz="2400" b="1" dirty="0">
                <a:solidFill>
                  <a:srgbClr val="000000"/>
                </a:solidFill>
                <a:latin typeface="+mn-ea"/>
                <a:sym typeface="+mn-ea"/>
              </a:rPr>
              <a:t>属性的伪代码</a:t>
            </a:r>
            <a:r>
              <a:rPr lang="en-US" altLang="zh-CN" sz="2400" b="1" dirty="0">
                <a:solidFill>
                  <a:srgbClr val="000000"/>
                </a:solidFill>
                <a:latin typeface="+mn-ea"/>
                <a:sym typeface="+mn-ea"/>
              </a:rPr>
              <a:t>：</a:t>
            </a:r>
            <a:endParaRPr lang="en-US" altLang="zh-CN" sz="2400" b="1" dirty="0">
              <a:latin typeface="+mn-ea"/>
              <a:sym typeface="+mn-ea"/>
              <a:hlinkClick r:id="rId1" action="ppaction://hlinkfile"/>
            </a:endParaRPr>
          </a:p>
        </p:txBody>
      </p:sp>
      <p:sp>
        <p:nvSpPr>
          <p:cNvPr id="100" name="文本框 99"/>
          <p:cNvSpPr txBox="1"/>
          <p:nvPr/>
        </p:nvSpPr>
        <p:spPr>
          <a:xfrm>
            <a:off x="1574165" y="1203960"/>
            <a:ext cx="6813550" cy="5077460"/>
          </a:xfrm>
          <a:prstGeom prst="rect">
            <a:avLst/>
          </a:prstGeom>
          <a:noFill/>
          <a:ln w="9525">
            <a:noFill/>
          </a:ln>
        </p:spPr>
        <p:txBody>
          <a:bodyPr wrap="square">
            <a:spAutoFit/>
          </a:bodyPr>
          <a:p>
            <a:pPr indent="0">
              <a:lnSpc>
                <a:spcPct val="100000"/>
              </a:lnSpc>
            </a:pPr>
            <a:r>
              <a:rPr lang="en-US" b="1">
                <a:solidFill>
                  <a:srgbClr val="000000"/>
                </a:solidFill>
                <a:latin typeface="Times New Roman" panose="02020603050405020304" pitchFamily="18" charset="0"/>
                <a:ea typeface="宋体" panose="02010600030101010101" pitchFamily="2" charset="-122"/>
              </a:rPr>
              <a:t>void  postEval(SyntaxTree  t){	</a:t>
            </a:r>
            <a:endParaRPr lang="en-US" b="1">
              <a:solidFill>
                <a:srgbClr val="000000"/>
              </a:solidFill>
              <a:latin typeface="Times New Roman" panose="02020603050405020304" pitchFamily="18" charset="0"/>
              <a:ea typeface="宋体" panose="02010600030101010101" pitchFamily="2" charset="-122"/>
            </a:endParaRPr>
          </a:p>
          <a:p>
            <a:pPr indent="457200">
              <a:lnSpc>
                <a:spcPct val="100000"/>
              </a:lnSpc>
            </a:pPr>
            <a:r>
              <a:rPr lang="en-US" b="1">
                <a:solidFill>
                  <a:srgbClr val="000000"/>
                </a:solidFill>
                <a:latin typeface="Times New Roman" panose="02020603050405020304" pitchFamily="18" charset="0"/>
                <a:ea typeface="宋体" panose="02010600030101010101" pitchFamily="2" charset="-122"/>
              </a:rPr>
              <a:t>int temp;	if (t-&gt;kind = OpKind){</a:t>
            </a:r>
            <a:endParaRPr lang="en-US" b="1">
              <a:solidFill>
                <a:srgbClr val="000000"/>
              </a:solidFill>
              <a:latin typeface="Times New Roman" panose="02020603050405020304" pitchFamily="18" charset="0"/>
              <a:ea typeface="宋体" panose="02010600030101010101" pitchFamily="2" charset="-122"/>
            </a:endParaRPr>
          </a:p>
          <a:p>
            <a:pPr marL="457200" lvl="1" indent="457200">
              <a:lnSpc>
                <a:spcPct val="100000"/>
              </a:lnSpc>
            </a:pPr>
            <a:r>
              <a:rPr lang="en-US" b="1">
                <a:solidFill>
                  <a:srgbClr val="000000"/>
                </a:solidFill>
                <a:latin typeface="Times New Roman" panose="02020603050405020304" pitchFamily="18" charset="0"/>
                <a:ea typeface="宋体" panose="02010600030101010101" pitchFamily="2" charset="-122"/>
              </a:rPr>
              <a:t>postEval(t-&gt;lchild);	postEval(t-&gt;rchild ) ;	switch (t-&gt;op){ </a:t>
            </a:r>
            <a:endParaRPr lang="en-US" b="1">
              <a:solidFill>
                <a:srgbClr val="000000"/>
              </a:solidFill>
              <a:latin typeface="Times New Roman" panose="02020603050405020304" pitchFamily="18" charset="0"/>
              <a:ea typeface="宋体" panose="02010600030101010101" pitchFamily="2" charset="-122"/>
            </a:endParaRPr>
          </a:p>
          <a:p>
            <a:pPr marL="914400" lvl="2" indent="457200">
              <a:lnSpc>
                <a:spcPct val="100000"/>
              </a:lnSpc>
            </a:pPr>
            <a:r>
              <a:rPr lang="en-US" b="1">
                <a:solidFill>
                  <a:srgbClr val="000000"/>
                </a:solidFill>
                <a:latin typeface="Times New Roman" panose="02020603050405020304" pitchFamily="18" charset="0"/>
                <a:ea typeface="宋体" panose="02010600030101010101" pitchFamily="2" charset="-122"/>
              </a:rPr>
              <a:t>case Plus:		t-&gt;val=t-&gt;lchild-&gt;val + t-&gt;rchild-&gt;val;break ;case Minus:		t-&gt;val=t-&gt;lchild-&gt;val - t-&gt;rchild-&gt;val;break ;	case Mulop:		t-&gt;val=t-&gt;lchild-&gt;val * t-&gt;rchild-&gt;val;break ;}</a:t>
            </a:r>
            <a:endParaRPr lang="en-US" b="1">
              <a:solidFill>
                <a:srgbClr val="000000"/>
              </a:solidFill>
              <a:latin typeface="Times New Roman" panose="02020603050405020304" pitchFamily="18" charset="0"/>
              <a:ea typeface="宋体" panose="02010600030101010101" pitchFamily="2" charset="-122"/>
            </a:endParaRPr>
          </a:p>
          <a:p>
            <a:pPr marL="57150" lvl="2" indent="-33655">
              <a:lnSpc>
                <a:spcPct val="100000"/>
              </a:lnSpc>
            </a:pPr>
            <a:r>
              <a:rPr lang="en-US" b="1">
                <a:solidFill>
                  <a:srgbClr val="000000"/>
                </a:solidFill>
                <a:latin typeface="Times New Roman" panose="02020603050405020304" pitchFamily="18" charset="0"/>
                <a:ea typeface="宋体" panose="02010600030101010101" pitchFamily="2" charset="-122"/>
              </a:rPr>
              <a:t>         }</a:t>
            </a:r>
            <a:endParaRPr lang="en-US" b="1">
              <a:solidFill>
                <a:srgbClr val="000000"/>
              </a:solidFill>
              <a:latin typeface="Times New Roman" panose="02020603050405020304" pitchFamily="18" charset="0"/>
              <a:ea typeface="宋体" panose="02010600030101010101" pitchFamily="2" charset="-122"/>
            </a:endParaRPr>
          </a:p>
          <a:p>
            <a:pPr marL="57150" lvl="2" indent="-33655">
              <a:lnSpc>
                <a:spcPct val="100000"/>
              </a:lnSpc>
            </a:pPr>
            <a:r>
              <a:rPr lang="en-US" b="1">
                <a:solidFill>
                  <a:srgbClr val="000000"/>
                </a:solidFill>
                <a:latin typeface="Times New Roman" panose="02020603050405020304" pitchFamily="18" charset="0"/>
                <a:ea typeface="宋体" panose="02010600030101010101" pitchFamily="2" charset="-122"/>
              </a:rPr>
              <a:t>}</a:t>
            </a:r>
            <a:endParaRPr lang="en-US" altLang="en-US" b="1">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grpId="0" nodeType="clickEffect">
                                  <p:stCondLst>
                                    <p:cond delay="0"/>
                                  </p:stCondLst>
                                  <p:childTnLst>
                                    <p:anim calcmode="lin" valueType="num">
                                      <p:cBhvr additive="base">
                                        <p:cTn id="10" dur="500"/>
                                        <p:tgtEl>
                                          <p:spTgt spid="25"/>
                                        </p:tgtEl>
                                        <p:attrNameLst>
                                          <p:attrName>ppt_x</p:attrName>
                                        </p:attrNameLst>
                                      </p:cBhvr>
                                      <p:tavLst>
                                        <p:tav tm="0">
                                          <p:val>
                                            <p:strVal val="ppt_x"/>
                                          </p:val>
                                        </p:tav>
                                        <p:tav tm="100000">
                                          <p:val>
                                            <p:strVal val="ppt_x"/>
                                          </p:val>
                                        </p:tav>
                                      </p:tavLst>
                                    </p:anim>
                                    <p:anim calcmode="lin" valueType="num">
                                      <p:cBhvr additive="base">
                                        <p:cTn id="11" dur="500"/>
                                        <p:tgtEl>
                                          <p:spTgt spid="25"/>
                                        </p:tgtEl>
                                        <p:attrNameLst>
                                          <p:attrName>ppt_y</p:attrName>
                                        </p:attrNameLst>
                                      </p:cBhvr>
                                      <p:tavLst>
                                        <p:tav tm="0">
                                          <p:val>
                                            <p:strVal val="ppt_y"/>
                                          </p:val>
                                        </p:tav>
                                        <p:tav tm="100000">
                                          <p:val>
                                            <p:strVal val="1+ppt_h/2"/>
                                          </p:val>
                                        </p:tav>
                                      </p:tavLst>
                                    </p:anim>
                                    <p:set>
                                      <p:cBhvr>
                                        <p:cTn id="12" dur="1" fill="hold">
                                          <p:stCondLst>
                                            <p:cond delay="499"/>
                                          </p:stCondLst>
                                        </p:cTn>
                                        <p:tgtEl>
                                          <p:spTgt spid="2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0" nodeType="clickEffect">
                                  <p:stCondLst>
                                    <p:cond delay="0"/>
                                  </p:stCondLst>
                                  <p:childTnLst>
                                    <p:anim calcmode="lin" valueType="num">
                                      <p:cBhvr additive="base">
                                        <p:cTn id="16" dur="500"/>
                                        <p:tgtEl>
                                          <p:spTgt spid="24"/>
                                        </p:tgtEl>
                                        <p:attrNameLst>
                                          <p:attrName>ppt_x</p:attrName>
                                        </p:attrNameLst>
                                      </p:cBhvr>
                                      <p:tavLst>
                                        <p:tav tm="0">
                                          <p:val>
                                            <p:strVal val="ppt_x"/>
                                          </p:val>
                                        </p:tav>
                                        <p:tav tm="100000">
                                          <p:val>
                                            <p:strVal val="ppt_x"/>
                                          </p:val>
                                        </p:tav>
                                      </p:tavLst>
                                    </p:anim>
                                    <p:anim calcmode="lin" valueType="num">
                                      <p:cBhvr additive="base">
                                        <p:cTn id="17" dur="500"/>
                                        <p:tgtEl>
                                          <p:spTgt spid="24"/>
                                        </p:tgtEl>
                                        <p:attrNameLst>
                                          <p:attrName>ppt_y</p:attrName>
                                        </p:attrNameLst>
                                      </p:cBhvr>
                                      <p:tavLst>
                                        <p:tav tm="0">
                                          <p:val>
                                            <p:strVal val="ppt_y"/>
                                          </p:val>
                                        </p:tav>
                                        <p:tav tm="100000">
                                          <p:val>
                                            <p:strVal val="1+ppt_h/2"/>
                                          </p:val>
                                        </p:tav>
                                      </p:tavLst>
                                    </p:anim>
                                    <p:set>
                                      <p:cBhvr>
                                        <p:cTn id="18" dur="1" fill="hold">
                                          <p:stCondLst>
                                            <p:cond delay="499"/>
                                          </p:stCondLst>
                                        </p:cTn>
                                        <p:tgtEl>
                                          <p:spTgt spid="2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grpId="0" nodeType="clickEffect">
                                  <p:stCondLst>
                                    <p:cond delay="0"/>
                                  </p:stCondLst>
                                  <p:childTnLst>
                                    <p:anim calcmode="lin" valueType="num">
                                      <p:cBhvr additive="base">
                                        <p:cTn id="22" dur="500"/>
                                        <p:tgtEl>
                                          <p:spTgt spid="22"/>
                                        </p:tgtEl>
                                        <p:attrNameLst>
                                          <p:attrName>ppt_x</p:attrName>
                                        </p:attrNameLst>
                                      </p:cBhvr>
                                      <p:tavLst>
                                        <p:tav tm="0">
                                          <p:val>
                                            <p:strVal val="ppt_x"/>
                                          </p:val>
                                        </p:tav>
                                        <p:tav tm="100000">
                                          <p:val>
                                            <p:strVal val="ppt_x"/>
                                          </p:val>
                                        </p:tav>
                                      </p:tavLst>
                                    </p:anim>
                                    <p:anim calcmode="lin" valueType="num">
                                      <p:cBhvr additive="base">
                                        <p:cTn id="23" dur="500"/>
                                        <p:tgtEl>
                                          <p:spTgt spid="22"/>
                                        </p:tgtEl>
                                        <p:attrNameLst>
                                          <p:attrName>ppt_y</p:attrName>
                                        </p:attrNameLst>
                                      </p:cBhvr>
                                      <p:tavLst>
                                        <p:tav tm="0">
                                          <p:val>
                                            <p:strVal val="ppt_y"/>
                                          </p:val>
                                        </p:tav>
                                        <p:tav tm="100000">
                                          <p:val>
                                            <p:strVal val="1+ppt_h/2"/>
                                          </p:val>
                                        </p:tav>
                                      </p:tavLst>
                                    </p:anim>
                                    <p:set>
                                      <p:cBhvr>
                                        <p:cTn id="24" dur="1" fill="hold">
                                          <p:stCondLst>
                                            <p:cond delay="499"/>
                                          </p:stCondLst>
                                        </p:cTn>
                                        <p:tgtEl>
                                          <p:spTgt spid="2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xit" presetSubtype="4" fill="hold" grpId="0" nodeType="clickEffect">
                                  <p:stCondLst>
                                    <p:cond delay="0"/>
                                  </p:stCondLst>
                                  <p:childTnLst>
                                    <p:anim calcmode="lin" valueType="num">
                                      <p:cBhvr additive="base">
                                        <p:cTn id="28" dur="500"/>
                                        <p:tgtEl>
                                          <p:spTgt spid="23"/>
                                        </p:tgtEl>
                                        <p:attrNameLst>
                                          <p:attrName>ppt_x</p:attrName>
                                        </p:attrNameLst>
                                      </p:cBhvr>
                                      <p:tavLst>
                                        <p:tav tm="0">
                                          <p:val>
                                            <p:strVal val="ppt_x"/>
                                          </p:val>
                                        </p:tav>
                                        <p:tav tm="100000">
                                          <p:val>
                                            <p:strVal val="ppt_x"/>
                                          </p:val>
                                        </p:tav>
                                      </p:tavLst>
                                    </p:anim>
                                    <p:anim calcmode="lin" valueType="num">
                                      <p:cBhvr additive="base">
                                        <p:cTn id="29" dur="500"/>
                                        <p:tgtEl>
                                          <p:spTgt spid="23"/>
                                        </p:tgtEl>
                                        <p:attrNameLst>
                                          <p:attrName>ppt_y</p:attrName>
                                        </p:attrNameLst>
                                      </p:cBhvr>
                                      <p:tavLst>
                                        <p:tav tm="0">
                                          <p:val>
                                            <p:strVal val="ppt_y"/>
                                          </p:val>
                                        </p:tav>
                                        <p:tav tm="100000">
                                          <p:val>
                                            <p:strVal val="1+ppt_h/2"/>
                                          </p:val>
                                        </p:tav>
                                      </p:tavLst>
                                    </p:anim>
                                    <p:set>
                                      <p:cBhvr>
                                        <p:cTn id="30" dur="1" fill="hold">
                                          <p:stCondLst>
                                            <p:cond delay="499"/>
                                          </p:stCondLst>
                                        </p:cTn>
                                        <p:tgtEl>
                                          <p:spTgt spid="2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xit" presetSubtype="4" fill="hold" grpId="0" nodeType="clickEffect">
                                  <p:stCondLst>
                                    <p:cond delay="0"/>
                                  </p:stCondLst>
                                  <p:childTnLst>
                                    <p:anim calcmode="lin" valueType="num">
                                      <p:cBhvr additive="base">
                                        <p:cTn id="34" dur="500"/>
                                        <p:tgtEl>
                                          <p:spTgt spid="21"/>
                                        </p:tgtEl>
                                        <p:attrNameLst>
                                          <p:attrName>ppt_x</p:attrName>
                                        </p:attrNameLst>
                                      </p:cBhvr>
                                      <p:tavLst>
                                        <p:tav tm="0">
                                          <p:val>
                                            <p:strVal val="ppt_x"/>
                                          </p:val>
                                        </p:tav>
                                        <p:tav tm="100000">
                                          <p:val>
                                            <p:strVal val="ppt_x"/>
                                          </p:val>
                                        </p:tav>
                                      </p:tavLst>
                                    </p:anim>
                                    <p:anim calcmode="lin" valueType="num">
                                      <p:cBhvr additive="base">
                                        <p:cTn id="35" dur="500"/>
                                        <p:tgtEl>
                                          <p:spTgt spid="21"/>
                                        </p:tgtEl>
                                        <p:attrNameLst>
                                          <p:attrName>ppt_y</p:attrName>
                                        </p:attrNameLst>
                                      </p:cBhvr>
                                      <p:tavLst>
                                        <p:tav tm="0">
                                          <p:val>
                                            <p:strVal val="ppt_y"/>
                                          </p:val>
                                        </p:tav>
                                        <p:tav tm="100000">
                                          <p:val>
                                            <p:strVal val="1+ppt_h/2"/>
                                          </p:val>
                                        </p:tav>
                                      </p:tavLst>
                                    </p:anim>
                                    <p:set>
                                      <p:cBhvr>
                                        <p:cTn id="36"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bldLvl="0" animBg="1"/>
      <p:bldP spid="23" grpId="0" bldLvl="0" animBg="1"/>
      <p:bldP spid="24" grpId="0" bldLvl="0" animBg="1"/>
      <p:bldP spid="25" grpId="0" bldLvl="0" animBg="1"/>
      <p:bldP spid="100" grpId="0"/>
      <p:bldP spid="10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40995" y="276860"/>
            <a:ext cx="9714865" cy="593090"/>
          </a:xfrm>
        </p:spPr>
        <p:txBody>
          <a:bodyPr/>
          <a:lstStyle/>
          <a:p>
            <a:r>
              <a:rPr lang="en-US" altLang="zh-CN"/>
              <a:t>5.1.3 </a:t>
            </a:r>
            <a:r>
              <a:rPr lang="zh-CN" altLang="en-US"/>
              <a:t>继承属性</a:t>
            </a:r>
            <a:endParaRPr lang="zh-CN" altLang="en-US" dirty="0"/>
          </a:p>
        </p:txBody>
      </p:sp>
      <p:sp>
        <p:nvSpPr>
          <p:cNvPr id="4" name="Rectangle 2"/>
          <p:cNvSpPr>
            <a:spLocks noChangeArrowheads="1"/>
          </p:cNvSpPr>
          <p:nvPr/>
        </p:nvSpPr>
        <p:spPr bwMode="auto">
          <a:xfrm>
            <a:off x="472440" y="3857625"/>
            <a:ext cx="5623560" cy="2425065"/>
          </a:xfrm>
          <a:prstGeom prst="rect">
            <a:avLst/>
          </a:prstGeom>
          <a:solidFill>
            <a:schemeClr val="bg2"/>
          </a:solidFill>
          <a:ln>
            <a:noFill/>
          </a:ln>
        </p:spPr>
        <p:txBody>
          <a:bodyPr wrap="square">
            <a:spAutoFit/>
          </a:bodyPr>
          <a:lstStyle/>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void  </a:t>
            </a:r>
            <a:r>
              <a:rPr lang="en-US" altLang="zh-CN" sz="2400" b="1" dirty="0" err="1">
                <a:solidFill>
                  <a:srgbClr val="000000"/>
                </a:solidFill>
                <a:latin typeface="Times New Roman" panose="02020603050405020304" pitchFamily="18" charset="0"/>
                <a:cs typeface="Times New Roman" panose="02020603050405020304" pitchFamily="18" charset="0"/>
              </a:rPr>
              <a:t>PreEval</a:t>
            </a:r>
            <a:r>
              <a:rPr lang="en-US" altLang="zh-CN" sz="2400" b="1" dirty="0">
                <a:solidFill>
                  <a:srgbClr val="000000"/>
                </a:solidFill>
                <a:latin typeface="Times New Roman" panose="02020603050405020304" pitchFamily="18" charset="0"/>
                <a:cs typeface="Times New Roman" panose="02020603050405020304" pitchFamily="18" charset="0"/>
              </a:rPr>
              <a:t>(T: </a:t>
            </a:r>
            <a:r>
              <a:rPr lang="en-US" altLang="zh-CN" sz="2400" b="1" dirty="0" err="1">
                <a:solidFill>
                  <a:srgbClr val="000000"/>
                </a:solidFill>
                <a:latin typeface="Times New Roman" panose="02020603050405020304" pitchFamily="18" charset="0"/>
                <a:cs typeface="Times New Roman" panose="02020603050405020304" pitchFamily="18" charset="0"/>
              </a:rPr>
              <a:t>treenode</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{for each child C of T do</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 	 compute all inherited attributes of C;</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PreEval</a:t>
            </a:r>
            <a:r>
              <a:rPr lang="en-US" altLang="zh-CN" sz="2400" b="1" dirty="0">
                <a:solidFill>
                  <a:srgbClr val="000000"/>
                </a:solidFill>
                <a:latin typeface="Times New Roman" panose="02020603050405020304" pitchFamily="18" charset="0"/>
                <a:cs typeface="Times New Roman" panose="02020603050405020304" pitchFamily="18" charset="0"/>
              </a:rPr>
              <a:t> ( C );</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50"/>
              </a:spcBef>
              <a:spcAft>
                <a:spcPts val="0"/>
              </a:spcAft>
            </a:pP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377825" y="1101090"/>
            <a:ext cx="5038090" cy="2861310"/>
          </a:xfrm>
          <a:prstGeom prst="rect">
            <a:avLst/>
          </a:prstGeom>
          <a:noFill/>
        </p:spPr>
        <p:txBody>
          <a:bodyPr wrap="square" rtlCol="0" anchor="t">
            <a:spAutoFit/>
          </a:bodyPr>
          <a:p>
            <a:pPr algn="just">
              <a:lnSpc>
                <a:spcPct val="150000"/>
              </a:lnSpc>
              <a:buFont typeface="Wingdings" panose="05000000000000000000" charset="0"/>
              <a:buChar char="p"/>
            </a:pPr>
            <a:r>
              <a:rPr lang="zh-CN" altLang="en-US" sz="2400" b="1" dirty="0">
                <a:solidFill>
                  <a:srgbClr val="000000"/>
                </a:solidFill>
                <a:latin typeface="+mn-ea"/>
                <a:sym typeface="+mn-ea"/>
              </a:rPr>
              <a:t>语法分析树一个节点的某一属性值是由父结点和</a:t>
            </a:r>
            <a:r>
              <a:rPr lang="en-US" altLang="zh-CN" sz="2400" b="1" dirty="0">
                <a:solidFill>
                  <a:srgbClr val="000000"/>
                </a:solidFill>
                <a:latin typeface="+mn-ea"/>
                <a:sym typeface="+mn-ea"/>
              </a:rPr>
              <a:t>/</a:t>
            </a:r>
            <a:r>
              <a:rPr lang="zh-CN" altLang="en-US" sz="2400" b="1" dirty="0">
                <a:solidFill>
                  <a:srgbClr val="000000"/>
                </a:solidFill>
                <a:latin typeface="+mn-ea"/>
                <a:sym typeface="+mn-ea"/>
              </a:rPr>
              <a:t>或兄弟结点的属性值来计算，则该属性称为</a:t>
            </a:r>
            <a:r>
              <a:rPr lang="zh-CN" altLang="en-US" sz="2400" b="1" dirty="0">
                <a:solidFill>
                  <a:srgbClr val="0070C0"/>
                </a:solidFill>
                <a:latin typeface="+mn-ea"/>
                <a:sym typeface="+mn-ea"/>
              </a:rPr>
              <a:t>继承属性。</a:t>
            </a:r>
            <a:r>
              <a:rPr lang="zh-CN" altLang="en-US" sz="2400" b="1" dirty="0">
                <a:solidFill>
                  <a:srgbClr val="000000"/>
                </a:solidFill>
                <a:latin typeface="+mn-ea"/>
                <a:sym typeface="+mn-ea"/>
              </a:rPr>
              <a:t>通过前序遍历或前序和中序遍历的组合进行计算：</a:t>
            </a:r>
            <a:endParaRPr lang="zh-CN" altLang="en-US" sz="2400" b="1" dirty="0">
              <a:solidFill>
                <a:srgbClr val="000000"/>
              </a:solidFill>
              <a:latin typeface="+mn-ea"/>
              <a:sym typeface="+mn-ea"/>
            </a:endParaRPr>
          </a:p>
        </p:txBody>
      </p:sp>
      <p:sp useBgFill="1">
        <p:nvSpPr>
          <p:cNvPr id="6" name="Rectangle 27"/>
          <p:cNvSpPr>
            <a:spLocks noChangeArrowheads="1"/>
          </p:cNvSpPr>
          <p:nvPr>
            <p:custDataLst>
              <p:tags r:id="rId1"/>
            </p:custDataLst>
          </p:nvPr>
        </p:nvSpPr>
        <p:spPr bwMode="auto">
          <a:xfrm>
            <a:off x="10389764" y="5708756"/>
            <a:ext cx="6096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a:solidFill>
                  <a:srgbClr val="000000"/>
                </a:solidFill>
              </a:rPr>
              <a:t>id</a:t>
            </a:r>
            <a:endParaRPr lang="en-US" altLang="zh-CN" sz="2400" b="1">
              <a:solidFill>
                <a:srgbClr val="000000"/>
              </a:solidFill>
            </a:endParaRPr>
          </a:p>
        </p:txBody>
      </p:sp>
      <p:sp useBgFill="1">
        <p:nvSpPr>
          <p:cNvPr id="7" name="Rectangle 28"/>
          <p:cNvSpPr>
            <a:spLocks noChangeArrowheads="1"/>
          </p:cNvSpPr>
          <p:nvPr>
            <p:custDataLst>
              <p:tags r:id="rId2"/>
            </p:custDataLst>
          </p:nvPr>
        </p:nvSpPr>
        <p:spPr bwMode="auto">
          <a:xfrm>
            <a:off x="7885007" y="4990888"/>
            <a:ext cx="6858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a:solidFill>
                  <a:srgbClr val="000000"/>
                </a:solidFill>
              </a:rPr>
              <a:t>id</a:t>
            </a:r>
            <a:endParaRPr lang="en-US" altLang="zh-CN" sz="2400" b="1">
              <a:solidFill>
                <a:srgbClr val="000000"/>
              </a:solidFill>
            </a:endParaRPr>
          </a:p>
        </p:txBody>
      </p:sp>
      <p:sp useBgFill="1">
        <p:nvSpPr>
          <p:cNvPr id="8" name="Rectangle 29"/>
          <p:cNvSpPr>
            <a:spLocks noChangeArrowheads="1"/>
          </p:cNvSpPr>
          <p:nvPr>
            <p:custDataLst>
              <p:tags r:id="rId3"/>
            </p:custDataLst>
          </p:nvPr>
        </p:nvSpPr>
        <p:spPr bwMode="auto">
          <a:xfrm>
            <a:off x="7589097" y="3549438"/>
            <a:ext cx="7620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decl</a:t>
            </a:r>
            <a:endParaRPr lang="zh-CN" altLang="en-US" sz="2400" b="1" i="1">
              <a:solidFill>
                <a:srgbClr val="000000"/>
              </a:solidFill>
            </a:endParaRPr>
          </a:p>
        </p:txBody>
      </p:sp>
      <p:sp useBgFill="1">
        <p:nvSpPr>
          <p:cNvPr id="9" name="Rectangle 30"/>
          <p:cNvSpPr>
            <a:spLocks noChangeArrowheads="1"/>
          </p:cNvSpPr>
          <p:nvPr>
            <p:custDataLst>
              <p:tags r:id="rId4"/>
            </p:custDataLst>
          </p:nvPr>
        </p:nvSpPr>
        <p:spPr bwMode="auto">
          <a:xfrm>
            <a:off x="6708987" y="4265401"/>
            <a:ext cx="10668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type</a:t>
            </a:r>
            <a:endParaRPr lang="en-US" altLang="zh-CN" sz="2400" b="1" i="1">
              <a:solidFill>
                <a:srgbClr val="000000"/>
              </a:solidFill>
            </a:endParaRPr>
          </a:p>
        </p:txBody>
      </p:sp>
      <p:sp useBgFill="1">
        <p:nvSpPr>
          <p:cNvPr id="10" name="Rectangle 31"/>
          <p:cNvSpPr>
            <a:spLocks noChangeArrowheads="1"/>
          </p:cNvSpPr>
          <p:nvPr>
            <p:custDataLst>
              <p:tags r:id="rId5"/>
            </p:custDataLst>
          </p:nvPr>
        </p:nvSpPr>
        <p:spPr bwMode="auto">
          <a:xfrm>
            <a:off x="8535882" y="3982508"/>
            <a:ext cx="1600200"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var-list</a:t>
            </a:r>
            <a:endParaRPr lang="en-US" altLang="zh-CN" sz="2400" b="1" i="1">
              <a:solidFill>
                <a:srgbClr val="000000"/>
              </a:solidFill>
            </a:endParaRPr>
          </a:p>
        </p:txBody>
      </p:sp>
      <p:sp useBgFill="1">
        <p:nvSpPr>
          <p:cNvPr id="11" name="Rectangle 32"/>
          <p:cNvSpPr>
            <a:spLocks noChangeArrowheads="1"/>
          </p:cNvSpPr>
          <p:nvPr>
            <p:custDataLst>
              <p:tags r:id="rId6"/>
            </p:custDataLst>
          </p:nvPr>
        </p:nvSpPr>
        <p:spPr bwMode="auto">
          <a:xfrm>
            <a:off x="9599189" y="4726411"/>
            <a:ext cx="1676400" cy="4572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var-list</a:t>
            </a:r>
            <a:endParaRPr lang="en-US" altLang="zh-CN" sz="2400" b="1" i="1">
              <a:solidFill>
                <a:srgbClr val="000000"/>
              </a:solidFill>
            </a:endParaRPr>
          </a:p>
        </p:txBody>
      </p:sp>
      <p:sp>
        <p:nvSpPr>
          <p:cNvPr id="13" name="Line 33"/>
          <p:cNvSpPr>
            <a:spLocks noChangeShapeType="1"/>
          </p:cNvSpPr>
          <p:nvPr>
            <p:custDataLst>
              <p:tags r:id="rId7"/>
            </p:custDataLst>
          </p:nvPr>
        </p:nvSpPr>
        <p:spPr bwMode="auto">
          <a:xfrm flipH="1">
            <a:off x="7428124" y="3966951"/>
            <a:ext cx="504825" cy="28892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p:nvSpPr>
          <p:cNvPr id="14" name="Line 34"/>
          <p:cNvSpPr>
            <a:spLocks noChangeShapeType="1"/>
          </p:cNvSpPr>
          <p:nvPr>
            <p:custDataLst>
              <p:tags r:id="rId8"/>
            </p:custDataLst>
          </p:nvPr>
        </p:nvSpPr>
        <p:spPr bwMode="auto">
          <a:xfrm>
            <a:off x="7956444" y="3971713"/>
            <a:ext cx="1008063" cy="144463"/>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useBgFill="1">
        <p:nvSpPr>
          <p:cNvPr id="15" name="Rectangle 35"/>
          <p:cNvSpPr>
            <a:spLocks noChangeArrowheads="1"/>
          </p:cNvSpPr>
          <p:nvPr>
            <p:custDataLst>
              <p:tags r:id="rId9"/>
            </p:custDataLst>
          </p:nvPr>
        </p:nvSpPr>
        <p:spPr bwMode="auto">
          <a:xfrm>
            <a:off x="6348624" y="5489363"/>
            <a:ext cx="10668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a:solidFill>
                  <a:srgbClr val="000000"/>
                </a:solidFill>
              </a:rPr>
              <a:t>float</a:t>
            </a:r>
            <a:endParaRPr lang="en-US" altLang="zh-CN" sz="2400" b="1">
              <a:solidFill>
                <a:srgbClr val="000000"/>
              </a:solidFill>
            </a:endParaRPr>
          </a:p>
        </p:txBody>
      </p:sp>
      <p:sp>
        <p:nvSpPr>
          <p:cNvPr id="36" name="Line 36"/>
          <p:cNvSpPr>
            <a:spLocks noChangeShapeType="1"/>
          </p:cNvSpPr>
          <p:nvPr>
            <p:custDataLst>
              <p:tags r:id="rId10"/>
            </p:custDataLst>
          </p:nvPr>
        </p:nvSpPr>
        <p:spPr bwMode="auto">
          <a:xfrm flipH="1">
            <a:off x="6780424" y="5129001"/>
            <a:ext cx="288925" cy="360362"/>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p:nvSpPr>
          <p:cNvPr id="37" name="Line 37"/>
          <p:cNvSpPr>
            <a:spLocks noChangeShapeType="1"/>
          </p:cNvSpPr>
          <p:nvPr>
            <p:custDataLst>
              <p:tags r:id="rId11"/>
            </p:custDataLst>
          </p:nvPr>
        </p:nvSpPr>
        <p:spPr bwMode="auto">
          <a:xfrm flipH="1">
            <a:off x="8243782" y="4557501"/>
            <a:ext cx="647700" cy="360362"/>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useBgFill="1">
        <p:nvSpPr>
          <p:cNvPr id="38" name="Rectangle 38"/>
          <p:cNvSpPr>
            <a:spLocks noChangeArrowheads="1"/>
          </p:cNvSpPr>
          <p:nvPr>
            <p:custDataLst>
              <p:tags r:id="rId12"/>
            </p:custDataLst>
          </p:nvPr>
        </p:nvSpPr>
        <p:spPr bwMode="auto">
          <a:xfrm>
            <a:off x="9031499" y="4990888"/>
            <a:ext cx="457200" cy="3175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a:solidFill>
                  <a:srgbClr val="000000"/>
                </a:solidFill>
              </a:rPr>
              <a:t>,</a:t>
            </a:r>
            <a:endParaRPr lang="en-US" altLang="zh-CN" sz="2400" b="1">
              <a:solidFill>
                <a:srgbClr val="000000"/>
              </a:solidFill>
            </a:endParaRPr>
          </a:p>
        </p:txBody>
      </p:sp>
      <p:sp>
        <p:nvSpPr>
          <p:cNvPr id="39" name="Line 39"/>
          <p:cNvSpPr>
            <a:spLocks noChangeShapeType="1"/>
          </p:cNvSpPr>
          <p:nvPr>
            <p:custDataLst>
              <p:tags r:id="rId13"/>
            </p:custDataLst>
          </p:nvPr>
        </p:nvSpPr>
        <p:spPr bwMode="auto">
          <a:xfrm>
            <a:off x="9247399" y="4557501"/>
            <a:ext cx="0" cy="3810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p:nvSpPr>
          <p:cNvPr id="40" name="Line 40"/>
          <p:cNvSpPr>
            <a:spLocks noChangeShapeType="1"/>
          </p:cNvSpPr>
          <p:nvPr>
            <p:custDataLst>
              <p:tags r:id="rId14"/>
            </p:custDataLst>
          </p:nvPr>
        </p:nvSpPr>
        <p:spPr bwMode="auto">
          <a:xfrm>
            <a:off x="9310370" y="4484370"/>
            <a:ext cx="825500" cy="24574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p:nvSpPr>
          <p:cNvPr id="41" name="Line 41"/>
          <p:cNvSpPr>
            <a:spLocks noChangeShapeType="1"/>
          </p:cNvSpPr>
          <p:nvPr>
            <p:custDataLst>
              <p:tags r:id="rId15"/>
            </p:custDataLst>
          </p:nvPr>
        </p:nvSpPr>
        <p:spPr bwMode="auto">
          <a:xfrm>
            <a:off x="10678689" y="5445548"/>
            <a:ext cx="0" cy="304800"/>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useBgFill="1">
        <p:nvSpPr>
          <p:cNvPr id="42" name="Rectangle 42"/>
          <p:cNvSpPr>
            <a:spLocks noChangeArrowheads="1"/>
          </p:cNvSpPr>
          <p:nvPr>
            <p:custDataLst>
              <p:tags r:id="rId16"/>
            </p:custDataLst>
          </p:nvPr>
        </p:nvSpPr>
        <p:spPr bwMode="auto">
          <a:xfrm>
            <a:off x="6084782" y="4696883"/>
            <a:ext cx="215900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(dtype=real)</a:t>
            </a:r>
            <a:endParaRPr lang="en-US" altLang="zh-CN" sz="2400" b="1" i="1">
              <a:solidFill>
                <a:srgbClr val="000000"/>
              </a:solidFill>
            </a:endParaRPr>
          </a:p>
        </p:txBody>
      </p:sp>
      <p:sp useBgFill="1">
        <p:nvSpPr>
          <p:cNvPr id="43" name="Rectangle 43"/>
          <p:cNvSpPr>
            <a:spLocks noChangeArrowheads="1"/>
          </p:cNvSpPr>
          <p:nvPr>
            <p:custDataLst>
              <p:tags r:id="rId17"/>
            </p:custDataLst>
          </p:nvPr>
        </p:nvSpPr>
        <p:spPr bwMode="auto">
          <a:xfrm>
            <a:off x="7380182" y="5422688"/>
            <a:ext cx="1873250"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(dtype=real)</a:t>
            </a:r>
            <a:endParaRPr lang="en-US" altLang="zh-CN" sz="2400" b="1" i="1">
              <a:solidFill>
                <a:srgbClr val="000000"/>
              </a:solidFill>
            </a:endParaRPr>
          </a:p>
        </p:txBody>
      </p:sp>
      <p:sp useBgFill="1">
        <p:nvSpPr>
          <p:cNvPr id="44" name="Rectangle 44"/>
          <p:cNvSpPr>
            <a:spLocks noChangeArrowheads="1"/>
          </p:cNvSpPr>
          <p:nvPr>
            <p:custDataLst>
              <p:tags r:id="rId18"/>
            </p:custDataLst>
          </p:nvPr>
        </p:nvSpPr>
        <p:spPr bwMode="auto">
          <a:xfrm>
            <a:off x="9958070" y="6042025"/>
            <a:ext cx="1873250" cy="27114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(dtype=real)</a:t>
            </a:r>
            <a:endParaRPr lang="en-US" altLang="zh-CN" sz="2400" b="1" i="1">
              <a:solidFill>
                <a:srgbClr val="000000"/>
              </a:solidFill>
            </a:endParaRPr>
          </a:p>
        </p:txBody>
      </p:sp>
      <p:sp useBgFill="1">
        <p:nvSpPr>
          <p:cNvPr id="45" name="Rectangle 45"/>
          <p:cNvSpPr>
            <a:spLocks noChangeArrowheads="1"/>
          </p:cNvSpPr>
          <p:nvPr>
            <p:custDataLst>
              <p:tags r:id="rId19"/>
            </p:custDataLst>
          </p:nvPr>
        </p:nvSpPr>
        <p:spPr bwMode="auto">
          <a:xfrm>
            <a:off x="9599189" y="5086773"/>
            <a:ext cx="1871663"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(dtype=real)</a:t>
            </a:r>
            <a:endParaRPr lang="en-US" altLang="zh-CN" sz="2400" b="1" i="1">
              <a:solidFill>
                <a:srgbClr val="000000"/>
              </a:solidFill>
            </a:endParaRPr>
          </a:p>
        </p:txBody>
      </p:sp>
      <p:sp useBgFill="1">
        <p:nvSpPr>
          <p:cNvPr id="46" name="Rectangle 46"/>
          <p:cNvSpPr>
            <a:spLocks noChangeArrowheads="1"/>
          </p:cNvSpPr>
          <p:nvPr>
            <p:custDataLst>
              <p:tags r:id="rId20"/>
            </p:custDataLst>
          </p:nvPr>
        </p:nvSpPr>
        <p:spPr bwMode="auto">
          <a:xfrm>
            <a:off x="8461269" y="4352078"/>
            <a:ext cx="2016125" cy="38100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p>
            <a:pPr algn="ctr"/>
            <a:r>
              <a:rPr lang="en-US" altLang="zh-CN" sz="2400" b="1" i="1">
                <a:solidFill>
                  <a:srgbClr val="000000"/>
                </a:solidFill>
              </a:rPr>
              <a:t>(dtype=real)</a:t>
            </a:r>
            <a:endParaRPr lang="en-US" altLang="zh-CN" sz="2400" b="1" i="1">
              <a:solidFill>
                <a:srgbClr val="000000"/>
              </a:solidFill>
            </a:endParaRPr>
          </a:p>
        </p:txBody>
      </p:sp>
      <p:sp>
        <p:nvSpPr>
          <p:cNvPr id="47" name="Line 39"/>
          <p:cNvSpPr>
            <a:spLocks noChangeShapeType="1"/>
          </p:cNvSpPr>
          <p:nvPr>
            <p:custDataLst>
              <p:tags r:id="rId21"/>
            </p:custDataLst>
          </p:nvPr>
        </p:nvSpPr>
        <p:spPr bwMode="auto">
          <a:xfrm flipH="1" flipV="1">
            <a:off x="9826625" y="4646295"/>
            <a:ext cx="467995" cy="263525"/>
          </a:xfrm>
          <a:prstGeom prst="line">
            <a:avLst/>
          </a:prstGeom>
          <a:noFill/>
          <a:ln w="9525">
            <a:solidFill>
              <a:srgbClr val="000000"/>
            </a:solidFill>
            <a:miter lim="800000"/>
          </a:ln>
          <a:extLst>
            <a:ext uri="{909E8E84-426E-40DD-AFC4-6F175D3DCCD1}">
              <a14:hiddenFill xmlns:a14="http://schemas.microsoft.com/office/drawing/2010/main">
                <a:noFill/>
              </a14:hiddenFill>
            </a:ext>
          </a:extLst>
        </p:spPr>
        <p:txBody>
          <a:bodyPr/>
          <a:p>
            <a:endParaRPr lang="zh-CN" altLang="en-US" sz="2400" b="1"/>
          </a:p>
        </p:txBody>
      </p:sp>
      <p:sp>
        <p:nvSpPr>
          <p:cNvPr id="49" name="文本框 48"/>
          <p:cNvSpPr txBox="1"/>
          <p:nvPr/>
        </p:nvSpPr>
        <p:spPr>
          <a:xfrm>
            <a:off x="6212205" y="1180465"/>
            <a:ext cx="6096000" cy="1957070"/>
          </a:xfrm>
          <a:prstGeom prst="rect">
            <a:avLst/>
          </a:prstGeom>
          <a:noFill/>
        </p:spPr>
        <p:txBody>
          <a:bodyPr wrap="square" rtlCol="0" anchor="t">
            <a:spAutoFit/>
          </a:bodyPr>
          <a:p>
            <a:pPr>
              <a:lnSpc>
                <a:spcPct val="125000"/>
              </a:lnSpc>
              <a:spcBef>
                <a:spcPts val="50"/>
              </a:spcBef>
              <a:spcAft>
                <a:spcPts val="0"/>
              </a:spcAft>
            </a:pPr>
            <a:r>
              <a:rPr lang="zh-CN" altLang="en-US" sz="2400" b="1" dirty="0">
                <a:solidFill>
                  <a:srgbClr val="000000"/>
                </a:solidFill>
                <a:latin typeface="+mn-ea"/>
                <a:sym typeface="+mn-ea"/>
              </a:rPr>
              <a:t>求解有关属性</a:t>
            </a:r>
            <a:r>
              <a:rPr lang="en-US" altLang="zh-CN" sz="2400" b="1" dirty="0" err="1">
                <a:solidFill>
                  <a:srgbClr val="000000"/>
                </a:solidFill>
                <a:latin typeface="+mn-ea"/>
                <a:sym typeface="+mn-ea"/>
              </a:rPr>
              <a:t>dtype</a:t>
            </a:r>
            <a:r>
              <a:rPr lang="en-US" altLang="zh-CN" sz="2400" b="1" dirty="0">
                <a:solidFill>
                  <a:srgbClr val="000000"/>
                </a:solidFill>
                <a:latin typeface="+mn-ea"/>
                <a:sym typeface="+mn-ea"/>
              </a:rPr>
              <a:t>(</a:t>
            </a:r>
            <a:r>
              <a:rPr lang="zh-CN" altLang="en-US" sz="2400" b="1" dirty="0">
                <a:solidFill>
                  <a:srgbClr val="000000"/>
                </a:solidFill>
                <a:latin typeface="+mn-ea"/>
                <a:sym typeface="+mn-ea"/>
              </a:rPr>
              <a:t>数据类型)的属性文法:</a:t>
            </a:r>
            <a:endParaRPr lang="zh-CN" altLang="en-US" sz="2400" b="1" dirty="0">
              <a:solidFill>
                <a:srgbClr val="000000"/>
              </a:solidFill>
              <a:latin typeface="+mn-ea"/>
            </a:endParaRPr>
          </a:p>
          <a:p>
            <a:pPr>
              <a:lnSpc>
                <a:spcPct val="125000"/>
              </a:lnSpc>
              <a:spcBef>
                <a:spcPts val="50"/>
              </a:spcBef>
              <a:spcAft>
                <a:spcPts val="0"/>
              </a:spcAft>
            </a:pPr>
            <a:r>
              <a:rPr lang="en-US" altLang="zh-CN" sz="2400" b="1" i="1" dirty="0" err="1">
                <a:solidFill>
                  <a:srgbClr val="000000"/>
                </a:solidFill>
                <a:latin typeface="+mn-ea"/>
                <a:sym typeface="+mn-ea"/>
              </a:rPr>
              <a:t>decl</a:t>
            </a:r>
            <a:r>
              <a:rPr lang="en-US" altLang="zh-CN" sz="2400" b="1" dirty="0" err="1">
                <a:solidFill>
                  <a:srgbClr val="000000"/>
                </a:solidFill>
                <a:latin typeface="+mn-ea"/>
                <a:sym typeface="+mn-ea"/>
              </a:rPr>
              <a:t>→</a:t>
            </a:r>
            <a:r>
              <a:rPr lang="en-US" altLang="zh-CN" sz="2400" b="1" i="1" dirty="0" err="1">
                <a:solidFill>
                  <a:srgbClr val="000000"/>
                </a:solidFill>
                <a:latin typeface="+mn-ea"/>
                <a:sym typeface="+mn-ea"/>
              </a:rPr>
              <a:t>type</a:t>
            </a:r>
            <a:r>
              <a:rPr lang="en-US" altLang="zh-CN" sz="2400" b="1" i="1" dirty="0">
                <a:solidFill>
                  <a:srgbClr val="000000"/>
                </a:solidFill>
                <a:latin typeface="+mn-ea"/>
                <a:sym typeface="+mn-ea"/>
              </a:rPr>
              <a:t> var-list</a:t>
            </a:r>
            <a:endParaRPr lang="en-US" altLang="zh-CN" sz="2400" b="1" i="1" dirty="0">
              <a:solidFill>
                <a:srgbClr val="000000"/>
              </a:solidFill>
              <a:latin typeface="+mn-ea"/>
            </a:endParaRPr>
          </a:p>
          <a:p>
            <a:pPr>
              <a:lnSpc>
                <a:spcPct val="125000"/>
              </a:lnSpc>
              <a:spcBef>
                <a:spcPts val="50"/>
              </a:spcBef>
              <a:spcAft>
                <a:spcPts val="0"/>
              </a:spcAft>
            </a:pPr>
            <a:r>
              <a:rPr lang="en-US" altLang="zh-CN" sz="2400" b="1" i="1" dirty="0" err="1">
                <a:solidFill>
                  <a:srgbClr val="000000"/>
                </a:solidFill>
                <a:latin typeface="+mn-ea"/>
                <a:sym typeface="+mn-ea"/>
              </a:rPr>
              <a:t>type</a:t>
            </a:r>
            <a:r>
              <a:rPr lang="en-US" altLang="zh-CN" sz="2400" b="1" dirty="0" err="1">
                <a:solidFill>
                  <a:srgbClr val="000000"/>
                </a:solidFill>
                <a:latin typeface="+mn-ea"/>
                <a:sym typeface="+mn-ea"/>
              </a:rPr>
              <a:t>→</a:t>
            </a:r>
            <a:r>
              <a:rPr lang="en-US" altLang="zh-CN" sz="2400" b="1" dirty="0" err="1">
                <a:solidFill>
                  <a:srgbClr val="FF3399"/>
                </a:solidFill>
                <a:latin typeface="+mn-ea"/>
                <a:sym typeface="+mn-ea"/>
              </a:rPr>
              <a:t>int</a:t>
            </a:r>
            <a:r>
              <a:rPr lang="en-US" altLang="zh-CN" sz="2400" b="1" dirty="0" err="1">
                <a:solidFill>
                  <a:srgbClr val="000000"/>
                </a:solidFill>
                <a:latin typeface="+mn-ea"/>
                <a:sym typeface="+mn-ea"/>
              </a:rPr>
              <a:t>|</a:t>
            </a:r>
            <a:r>
              <a:rPr lang="en-US" altLang="zh-CN" sz="2400" b="1" dirty="0" err="1">
                <a:solidFill>
                  <a:srgbClr val="FF3399"/>
                </a:solidFill>
                <a:latin typeface="+mn-ea"/>
                <a:sym typeface="+mn-ea"/>
              </a:rPr>
              <a:t>float</a:t>
            </a:r>
            <a:endParaRPr lang="en-US" altLang="zh-CN" sz="2400" b="1" dirty="0">
              <a:solidFill>
                <a:srgbClr val="FF3399"/>
              </a:solidFill>
              <a:latin typeface="+mn-ea"/>
            </a:endParaRPr>
          </a:p>
          <a:p>
            <a:pPr>
              <a:lnSpc>
                <a:spcPct val="125000"/>
              </a:lnSpc>
              <a:spcBef>
                <a:spcPts val="50"/>
              </a:spcBef>
              <a:spcAft>
                <a:spcPts val="0"/>
              </a:spcAft>
            </a:pPr>
            <a:r>
              <a:rPr lang="en-US" altLang="zh-CN" sz="2400" b="1" i="1" dirty="0" err="1">
                <a:solidFill>
                  <a:srgbClr val="000000"/>
                </a:solidFill>
                <a:latin typeface="+mn-ea"/>
                <a:sym typeface="+mn-ea"/>
              </a:rPr>
              <a:t>var-list</a:t>
            </a:r>
            <a:r>
              <a:rPr lang="en-US" altLang="zh-CN" sz="2400" b="1" dirty="0" err="1">
                <a:solidFill>
                  <a:srgbClr val="000000"/>
                </a:solidFill>
                <a:latin typeface="+mn-ea"/>
                <a:sym typeface="+mn-ea"/>
              </a:rPr>
              <a:t>→</a:t>
            </a:r>
            <a:r>
              <a:rPr lang="en-US" altLang="zh-CN" sz="2400" b="1" dirty="0" err="1">
                <a:solidFill>
                  <a:srgbClr val="FF3399"/>
                </a:solidFill>
                <a:latin typeface="+mn-ea"/>
                <a:sym typeface="+mn-ea"/>
              </a:rPr>
              <a:t>id,</a:t>
            </a:r>
            <a:r>
              <a:rPr lang="en-US" altLang="zh-CN" sz="2400" b="1" i="1" dirty="0" err="1">
                <a:solidFill>
                  <a:srgbClr val="000000"/>
                </a:solidFill>
                <a:latin typeface="+mn-ea"/>
                <a:sym typeface="+mn-ea"/>
              </a:rPr>
              <a:t>var-list</a:t>
            </a:r>
            <a:r>
              <a:rPr lang="en-US" altLang="zh-CN" sz="2400" b="1" dirty="0" err="1">
                <a:solidFill>
                  <a:srgbClr val="000000"/>
                </a:solidFill>
                <a:latin typeface="+mn-ea"/>
                <a:sym typeface="+mn-ea"/>
              </a:rPr>
              <a:t>|</a:t>
            </a:r>
            <a:r>
              <a:rPr lang="en-US" altLang="zh-CN" sz="2400" b="1" dirty="0" err="1">
                <a:solidFill>
                  <a:srgbClr val="FF3399"/>
                </a:solidFill>
                <a:latin typeface="+mn-ea"/>
                <a:sym typeface="+mn-ea"/>
              </a:rPr>
              <a:t>id</a:t>
            </a:r>
            <a:endParaRPr lang="zh-CN" altLang="en-US" sz="2400" b="1" dirty="0">
              <a:solidFill>
                <a:srgbClr val="000000"/>
              </a:solidFill>
              <a:latin typeface="+mn-ea"/>
              <a:sym typeface="+mn-ea"/>
            </a:endParaRPr>
          </a:p>
        </p:txBody>
      </p:sp>
      <p:sp>
        <p:nvSpPr>
          <p:cNvPr id="50" name="文本框 49"/>
          <p:cNvSpPr txBox="1"/>
          <p:nvPr/>
        </p:nvSpPr>
        <p:spPr>
          <a:xfrm>
            <a:off x="6287135" y="3202305"/>
            <a:ext cx="4559935" cy="386080"/>
          </a:xfrm>
          <a:prstGeom prst="rect">
            <a:avLst/>
          </a:prstGeom>
          <a:noFill/>
        </p:spPr>
        <p:txBody>
          <a:bodyPr wrap="square" rtlCol="0" anchor="t">
            <a:spAutoFit/>
          </a:bodyPr>
          <a:p>
            <a:pPr>
              <a:lnSpc>
                <a:spcPct val="80000"/>
              </a:lnSpc>
              <a:spcBef>
                <a:spcPct val="50000"/>
              </a:spcBef>
            </a:pPr>
            <a:r>
              <a:rPr lang="zh-CN" altLang="en-US" sz="2400" b="1" dirty="0">
                <a:solidFill>
                  <a:srgbClr val="0070C0"/>
                </a:solidFill>
                <a:latin typeface="+mn-ea"/>
                <a:sym typeface="+mn-ea"/>
              </a:rPr>
              <a:t>符号串</a:t>
            </a:r>
            <a:r>
              <a:rPr lang="en-US" altLang="zh-CN" sz="2400" b="1" dirty="0">
                <a:solidFill>
                  <a:srgbClr val="0070C0"/>
                </a:solidFill>
                <a:latin typeface="+mn-ea"/>
                <a:sym typeface="+mn-ea"/>
              </a:rPr>
              <a:t>float x, y</a:t>
            </a:r>
            <a:r>
              <a:rPr lang="zh-CN" altLang="en-US" sz="2400" b="1" dirty="0">
                <a:solidFill>
                  <a:srgbClr val="0070C0"/>
                </a:solidFill>
                <a:latin typeface="+mn-ea"/>
                <a:sym typeface="+mn-ea"/>
              </a:rPr>
              <a:t>的分析树</a:t>
            </a:r>
            <a:endParaRPr lang="zh-CN" altLang="en-US" sz="2400" b="1" dirty="0">
              <a:solidFill>
                <a:srgbClr val="0070C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strips(downLeft)">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strips(downLeft)">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12"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strips(downLeft)">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12" fill="hold" grpId="0" nodeType="click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strips(downLeft)">
                                      <p:cBhvr>
                                        <p:cTn id="30" dur="500"/>
                                        <p:tgtEl>
                                          <p:spTgt spid="45"/>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strips(downLeft)">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9" grpId="0"/>
      <p:bldP spid="50" grpId="0"/>
      <p:bldP spid="50"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49250" y="276860"/>
            <a:ext cx="9027795" cy="593090"/>
          </a:xfrm>
        </p:spPr>
        <p:txBody>
          <a:bodyPr/>
          <a:lstStyle/>
          <a:p>
            <a:r>
              <a:rPr lang="en-US" altLang="zh-CN"/>
              <a:t>5.1.3 </a:t>
            </a:r>
            <a:r>
              <a:rPr lang="zh-CN" altLang="en-US"/>
              <a:t>继承属性</a:t>
            </a:r>
            <a:endParaRPr lang="zh-CN" altLang="en-US" dirty="0"/>
          </a:p>
        </p:txBody>
      </p:sp>
      <p:sp>
        <p:nvSpPr>
          <p:cNvPr id="5" name="Rectangle 2"/>
          <p:cNvSpPr>
            <a:spLocks noChangeArrowheads="1"/>
          </p:cNvSpPr>
          <p:nvPr/>
        </p:nvSpPr>
        <p:spPr bwMode="auto">
          <a:xfrm>
            <a:off x="471488" y="1342708"/>
            <a:ext cx="7212012"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spcBef>
                <a:spcPct val="50000"/>
              </a:spcBef>
            </a:pPr>
            <a:r>
              <a:rPr lang="zh-CN" altLang="en-US" sz="2800" b="1" dirty="0">
                <a:solidFill>
                  <a:srgbClr val="0070C0"/>
                </a:solidFill>
                <a:latin typeface="+mn-ea"/>
              </a:rPr>
              <a:t>文法规则              语义规则</a:t>
            </a:r>
            <a:endParaRPr lang="en-US" altLang="zh-CN" sz="2800" b="1" dirty="0">
              <a:solidFill>
                <a:srgbClr val="0070C0"/>
              </a:solidFill>
              <a:latin typeface="+mn-ea"/>
            </a:endParaRPr>
          </a:p>
        </p:txBody>
      </p:sp>
      <p:sp>
        <p:nvSpPr>
          <p:cNvPr id="8" name="Rectangle 4"/>
          <p:cNvSpPr txBox="1">
            <a:spLocks noChangeArrowheads="1"/>
          </p:cNvSpPr>
          <p:nvPr/>
        </p:nvSpPr>
        <p:spPr>
          <a:xfrm>
            <a:off x="349250" y="1875155"/>
            <a:ext cx="3257550" cy="1714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pitchFamily="2" charset="2"/>
              <a:buNone/>
            </a:pPr>
            <a:r>
              <a:rPr lang="en-US" altLang="zh-CN" sz="2400" b="1" i="1" dirty="0" err="1">
                <a:solidFill>
                  <a:srgbClr val="000000"/>
                </a:solidFill>
                <a:latin typeface="Times New Roman" panose="02020603050405020304" pitchFamily="18" charset="0"/>
                <a:cs typeface="Times New Roman" panose="02020603050405020304" pitchFamily="18" charset="0"/>
              </a:rPr>
              <a:t>decl</a:t>
            </a:r>
            <a:r>
              <a:rPr lang="en-US" altLang="zh-CN" sz="2400" b="1" dirty="0" err="1">
                <a:solidFill>
                  <a:srgbClr val="000000"/>
                </a:solidFill>
                <a:latin typeface="Times New Roman" panose="02020603050405020304" pitchFamily="18" charset="0"/>
                <a:cs typeface="Times New Roman" panose="02020603050405020304" pitchFamily="18" charset="0"/>
              </a:rPr>
              <a:t>→</a:t>
            </a:r>
            <a:r>
              <a:rPr lang="en-US" altLang="zh-CN" sz="2400" b="1" i="1" dirty="0" err="1">
                <a:solidFill>
                  <a:srgbClr val="000000"/>
                </a:solidFill>
                <a:latin typeface="Times New Roman" panose="02020603050405020304" pitchFamily="18" charset="0"/>
                <a:cs typeface="Times New Roman" panose="02020603050405020304" pitchFamily="18" charset="0"/>
              </a:rPr>
              <a:t>type</a:t>
            </a:r>
            <a:r>
              <a:rPr lang="en-US" altLang="zh-CN" sz="2400" b="1" i="1" dirty="0">
                <a:solidFill>
                  <a:srgbClr val="000000"/>
                </a:solidFill>
                <a:latin typeface="Times New Roman" panose="02020603050405020304" pitchFamily="18" charset="0"/>
                <a:cs typeface="Times New Roman" panose="02020603050405020304" pitchFamily="18" charset="0"/>
              </a:rPr>
              <a:t> var-list</a:t>
            </a:r>
            <a:endParaRPr lang="en-US" altLang="zh-CN" sz="2400" b="1" i="1"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spcAft>
                <a:spcPts val="0"/>
              </a:spcAft>
              <a:buFont typeface="Wingdings" panose="05000000000000000000" pitchFamily="2" charset="2"/>
              <a:buNone/>
            </a:pPr>
            <a:r>
              <a:rPr lang="en-US" altLang="zh-CN" sz="2400" b="1" i="1" dirty="0" err="1">
                <a:solidFill>
                  <a:srgbClr val="000000"/>
                </a:solidFill>
                <a:latin typeface="Times New Roman" panose="02020603050405020304" pitchFamily="18" charset="0"/>
                <a:cs typeface="Times New Roman" panose="02020603050405020304" pitchFamily="18" charset="0"/>
              </a:rPr>
              <a:t>type</a:t>
            </a:r>
            <a:r>
              <a:rPr lang="en-US" altLang="zh-CN" sz="2400" dirty="0" err="1">
                <a:solidFill>
                  <a:srgbClr val="000000"/>
                </a:solidFill>
                <a:latin typeface="Times New Roman" panose="02020603050405020304" pitchFamily="18" charset="0"/>
                <a:cs typeface="Times New Roman" panose="02020603050405020304" pitchFamily="18" charset="0"/>
              </a:rPr>
              <a:t>→</a:t>
            </a:r>
            <a:r>
              <a:rPr lang="en-US" altLang="zh-CN" sz="2400" b="1" dirty="0" err="1">
                <a:solidFill>
                  <a:srgbClr val="000000"/>
                </a:solidFill>
                <a:latin typeface="Times New Roman" panose="02020603050405020304" pitchFamily="18" charset="0"/>
                <a:cs typeface="Times New Roman" panose="02020603050405020304" pitchFamily="18" charset="0"/>
              </a:rPr>
              <a:t>int</a:t>
            </a:r>
            <a:endParaRPr lang="en-US" altLang="zh-CN" sz="2400" dirty="0">
              <a:solidFill>
                <a:srgbClr val="000000"/>
              </a:solidFill>
              <a:latin typeface="Times New Roman" panose="02020603050405020304" pitchFamily="18" charset="0"/>
              <a:cs typeface="Times New Roman" panose="02020603050405020304" pitchFamily="18" charset="0"/>
            </a:endParaRPr>
          </a:p>
          <a:p>
            <a:pPr>
              <a:lnSpc>
                <a:spcPct val="125000"/>
              </a:lnSpc>
              <a:spcBef>
                <a:spcPts val="0"/>
              </a:spcBef>
              <a:spcAft>
                <a:spcPts val="0"/>
              </a:spcAft>
              <a:buFont typeface="Wingdings" panose="05000000000000000000" pitchFamily="2" charset="2"/>
              <a:buNone/>
            </a:pPr>
            <a:r>
              <a:rPr lang="en-US" altLang="zh-CN" sz="2400" b="1" i="1" dirty="0" err="1">
                <a:solidFill>
                  <a:srgbClr val="000000"/>
                </a:solidFill>
                <a:latin typeface="Times New Roman" panose="02020603050405020304" pitchFamily="18" charset="0"/>
                <a:cs typeface="Times New Roman" panose="02020603050405020304" pitchFamily="18" charset="0"/>
              </a:rPr>
              <a:t>type</a:t>
            </a:r>
            <a:r>
              <a:rPr lang="en-US" altLang="zh-CN" sz="2400" dirty="0" err="1">
                <a:solidFill>
                  <a:srgbClr val="000000"/>
                </a:solidFill>
                <a:latin typeface="Times New Roman" panose="02020603050405020304" pitchFamily="18" charset="0"/>
                <a:cs typeface="Times New Roman" panose="02020603050405020304" pitchFamily="18" charset="0"/>
              </a:rPr>
              <a:t>→</a:t>
            </a:r>
            <a:r>
              <a:rPr lang="en-US" altLang="zh-CN" sz="2400" b="1" dirty="0" err="1">
                <a:solidFill>
                  <a:srgbClr val="000000"/>
                </a:solidFill>
                <a:latin typeface="Times New Roman" panose="02020603050405020304" pitchFamily="18" charset="0"/>
                <a:cs typeface="Times New Roman" panose="02020603050405020304" pitchFamily="18" charset="0"/>
              </a:rPr>
              <a:t>float</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sp>
        <p:nvSpPr>
          <p:cNvPr id="9" name="Rectangle 5"/>
          <p:cNvSpPr txBox="1">
            <a:spLocks noChangeArrowheads="1"/>
          </p:cNvSpPr>
          <p:nvPr/>
        </p:nvSpPr>
        <p:spPr>
          <a:xfrm>
            <a:off x="2811145" y="1875155"/>
            <a:ext cx="4257040" cy="17862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pitchFamily="2" charset="2"/>
              <a:buNone/>
            </a:pPr>
            <a:r>
              <a:rPr lang="en-US" altLang="zh-CN" sz="2400" b="1" i="1" dirty="0">
                <a:solidFill>
                  <a:schemeClr val="accent1"/>
                </a:solidFill>
                <a:latin typeface="+mn-ea"/>
              </a:rPr>
              <a:t>var-</a:t>
            </a:r>
            <a:r>
              <a:rPr lang="en-US" altLang="zh-CN" sz="2400" b="1" i="1" dirty="0" err="1">
                <a:solidFill>
                  <a:schemeClr val="accent1"/>
                </a:solidFill>
                <a:latin typeface="+mn-ea"/>
              </a:rPr>
              <a:t>list.</a:t>
            </a:r>
            <a:r>
              <a:rPr lang="en-US" altLang="zh-CN" sz="2400" b="1" dirty="0" err="1">
                <a:solidFill>
                  <a:schemeClr val="accent1"/>
                </a:solidFill>
                <a:latin typeface="+mn-ea"/>
              </a:rPr>
              <a:t>dtype</a:t>
            </a:r>
            <a:r>
              <a:rPr lang="en-US" altLang="zh-CN" sz="2400" b="1" dirty="0">
                <a:solidFill>
                  <a:schemeClr val="accent1"/>
                </a:solidFill>
                <a:latin typeface="+mn-ea"/>
              </a:rPr>
              <a:t>  =   </a:t>
            </a:r>
            <a:r>
              <a:rPr lang="en-US" altLang="zh-CN" sz="2400" b="1" i="1" dirty="0" err="1">
                <a:solidFill>
                  <a:schemeClr val="accent1"/>
                </a:solidFill>
                <a:latin typeface="+mn-ea"/>
              </a:rPr>
              <a:t>type.</a:t>
            </a:r>
            <a:r>
              <a:rPr lang="en-US" altLang="zh-CN" sz="2400" b="1" dirty="0" err="1">
                <a:solidFill>
                  <a:schemeClr val="accent1"/>
                </a:solidFill>
                <a:latin typeface="+mn-ea"/>
              </a:rPr>
              <a:t>dtype</a:t>
            </a:r>
            <a:endParaRPr lang="en-US" altLang="zh-CN" sz="2400" b="1" dirty="0">
              <a:solidFill>
                <a:schemeClr val="accent1"/>
              </a:solidFill>
              <a:latin typeface="+mn-ea"/>
            </a:endParaRPr>
          </a:p>
          <a:p>
            <a:pPr>
              <a:lnSpc>
                <a:spcPct val="125000"/>
              </a:lnSpc>
              <a:spcBef>
                <a:spcPct val="0"/>
              </a:spcBef>
              <a:spcAft>
                <a:spcPts val="0"/>
              </a:spcAft>
              <a:buFont typeface="Wingdings" panose="05000000000000000000" pitchFamily="2" charset="2"/>
              <a:buNone/>
            </a:pPr>
            <a:r>
              <a:rPr lang="en-US" altLang="zh-CN" sz="2400" b="1" i="1" dirty="0" err="1">
                <a:solidFill>
                  <a:schemeClr val="accent1"/>
                </a:solidFill>
                <a:latin typeface="+mn-ea"/>
              </a:rPr>
              <a:t>type</a:t>
            </a:r>
            <a:r>
              <a:rPr lang="en-US" altLang="zh-CN" sz="2400" b="1" dirty="0" err="1">
                <a:solidFill>
                  <a:schemeClr val="accent1"/>
                </a:solidFill>
                <a:latin typeface="+mn-ea"/>
              </a:rPr>
              <a:t>.dtype</a:t>
            </a:r>
            <a:r>
              <a:rPr lang="en-US" altLang="zh-CN" sz="2400" b="1" dirty="0">
                <a:solidFill>
                  <a:schemeClr val="accent1"/>
                </a:solidFill>
                <a:latin typeface="+mn-ea"/>
              </a:rPr>
              <a:t> = integer</a:t>
            </a:r>
            <a:endParaRPr lang="en-US" altLang="zh-CN" sz="2400" b="1" dirty="0">
              <a:solidFill>
                <a:schemeClr val="accent1"/>
              </a:solidFill>
              <a:latin typeface="+mn-ea"/>
            </a:endParaRPr>
          </a:p>
          <a:p>
            <a:pPr>
              <a:lnSpc>
                <a:spcPct val="125000"/>
              </a:lnSpc>
              <a:spcBef>
                <a:spcPct val="0"/>
              </a:spcBef>
              <a:spcAft>
                <a:spcPts val="0"/>
              </a:spcAft>
              <a:buFontTx/>
              <a:buNone/>
            </a:pPr>
            <a:r>
              <a:rPr lang="en-US" altLang="zh-CN" sz="2400" b="1" i="1" dirty="0" err="1">
                <a:solidFill>
                  <a:schemeClr val="accent1"/>
                </a:solidFill>
                <a:latin typeface="+mn-ea"/>
              </a:rPr>
              <a:t>type</a:t>
            </a:r>
            <a:r>
              <a:rPr lang="en-US" altLang="zh-CN" sz="2400" b="1" dirty="0" err="1">
                <a:solidFill>
                  <a:schemeClr val="accent1"/>
                </a:solidFill>
                <a:latin typeface="+mn-ea"/>
              </a:rPr>
              <a:t>.dtype</a:t>
            </a:r>
            <a:r>
              <a:rPr lang="en-US" altLang="zh-CN" sz="2400" b="1" dirty="0">
                <a:solidFill>
                  <a:schemeClr val="accent1"/>
                </a:solidFill>
                <a:latin typeface="+mn-ea"/>
              </a:rPr>
              <a:t> = real</a:t>
            </a:r>
            <a:endParaRPr lang="en-US" altLang="zh-CN" sz="2400" b="1" dirty="0">
              <a:solidFill>
                <a:schemeClr val="accent1"/>
              </a:solidFill>
              <a:latin typeface="+mn-ea"/>
            </a:endParaRPr>
          </a:p>
        </p:txBody>
      </p:sp>
      <p:sp>
        <p:nvSpPr>
          <p:cNvPr id="7" name="Rectangle 4"/>
          <p:cNvSpPr txBox="1">
            <a:spLocks noChangeArrowheads="1"/>
          </p:cNvSpPr>
          <p:nvPr>
            <p:custDataLst>
              <p:tags r:id="rId1"/>
            </p:custDataLst>
          </p:nvPr>
        </p:nvSpPr>
        <p:spPr>
          <a:xfrm>
            <a:off x="349250" y="3429000"/>
            <a:ext cx="5943600" cy="1938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spcBef>
                <a:spcPts val="0"/>
              </a:spcBef>
              <a:spcAft>
                <a:spcPts val="0"/>
              </a:spcAft>
              <a:buNone/>
            </a:pPr>
            <a:r>
              <a:rPr lang="en-US" altLang="zh-CN" sz="2400" b="1" dirty="0">
                <a:solidFill>
                  <a:srgbClr val="000000"/>
                </a:solidFill>
                <a:latin typeface="+mn-ea"/>
              </a:rPr>
              <a:t>var-list1</a:t>
            </a:r>
            <a:r>
              <a:rPr lang="en-US" altLang="zh-CN" sz="2400" dirty="0">
                <a:solidFill>
                  <a:srgbClr val="000000"/>
                </a:solidFill>
                <a:latin typeface="+mn-ea"/>
              </a:rPr>
              <a:t>→</a:t>
            </a:r>
            <a:r>
              <a:rPr lang="en-US" altLang="zh-CN" sz="2400" b="1" dirty="0">
                <a:solidFill>
                  <a:srgbClr val="000000"/>
                </a:solidFill>
                <a:latin typeface="+mn-ea"/>
              </a:rPr>
              <a:t>id,var-list2</a:t>
            </a:r>
            <a:endParaRPr lang="en-US" altLang="zh-CN" sz="2400" b="1" i="1" dirty="0">
              <a:solidFill>
                <a:srgbClr val="000000"/>
              </a:solidFill>
              <a:latin typeface="+mn-ea"/>
            </a:endParaRPr>
          </a:p>
          <a:p>
            <a:pPr>
              <a:lnSpc>
                <a:spcPct val="125000"/>
              </a:lnSpc>
              <a:spcBef>
                <a:spcPts val="0"/>
              </a:spcBef>
              <a:spcAft>
                <a:spcPts val="0"/>
              </a:spcAft>
            </a:pPr>
            <a:endParaRPr lang="en-US" altLang="zh-CN" sz="2400" b="1" i="1" dirty="0">
              <a:solidFill>
                <a:srgbClr val="000000"/>
              </a:solidFill>
              <a:latin typeface="+mn-ea"/>
            </a:endParaRPr>
          </a:p>
          <a:p>
            <a:pPr marL="0" indent="0">
              <a:lnSpc>
                <a:spcPct val="125000"/>
              </a:lnSpc>
              <a:spcBef>
                <a:spcPts val="0"/>
              </a:spcBef>
              <a:spcAft>
                <a:spcPts val="0"/>
              </a:spcAft>
              <a:buNone/>
            </a:pPr>
            <a:endParaRPr lang="zh-CN" altLang="en-US" sz="2400" b="1" dirty="0">
              <a:solidFill>
                <a:srgbClr val="000000"/>
              </a:solidFill>
              <a:latin typeface="+mn-ea"/>
            </a:endParaRPr>
          </a:p>
        </p:txBody>
      </p:sp>
      <p:sp>
        <p:nvSpPr>
          <p:cNvPr id="11" name="Rectangle 5"/>
          <p:cNvSpPr txBox="1">
            <a:spLocks noChangeArrowheads="1"/>
          </p:cNvSpPr>
          <p:nvPr>
            <p:custDataLst>
              <p:tags r:id="rId2"/>
            </p:custDataLst>
          </p:nvPr>
        </p:nvSpPr>
        <p:spPr>
          <a:xfrm>
            <a:off x="349250" y="5324475"/>
            <a:ext cx="6285865" cy="5257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spcBef>
                <a:spcPts val="0"/>
              </a:spcBef>
              <a:spcAft>
                <a:spcPts val="0"/>
              </a:spcAft>
              <a:buNone/>
            </a:pPr>
            <a:r>
              <a:rPr lang="en-US" altLang="zh-CN" sz="2400" b="1" i="1" dirty="0" err="1">
                <a:solidFill>
                  <a:srgbClr val="000000"/>
                </a:solidFill>
                <a:latin typeface="+mn-ea"/>
                <a:sym typeface="+mn-ea"/>
              </a:rPr>
              <a:t>var-list</a:t>
            </a:r>
            <a:r>
              <a:rPr lang="en-US" altLang="zh-CN" sz="2400" dirty="0" err="1">
                <a:solidFill>
                  <a:srgbClr val="000000"/>
                </a:solidFill>
                <a:latin typeface="+mn-ea"/>
                <a:sym typeface="+mn-ea"/>
              </a:rPr>
              <a:t>→</a:t>
            </a:r>
            <a:r>
              <a:rPr lang="en-US" altLang="zh-CN" sz="2400" b="1" dirty="0" err="1">
                <a:solidFill>
                  <a:srgbClr val="000000"/>
                </a:solidFill>
                <a:latin typeface="+mn-ea"/>
                <a:sym typeface="+mn-ea"/>
              </a:rPr>
              <a:t>id    </a:t>
            </a:r>
            <a:r>
              <a:rPr lang="en-US" altLang="zh-CN" sz="2400" b="1" dirty="0" err="1">
                <a:solidFill>
                  <a:srgbClr val="0070C0"/>
                </a:solidFill>
                <a:latin typeface="+mn-ea"/>
              </a:rPr>
              <a:t>id.dtype</a:t>
            </a:r>
            <a:r>
              <a:rPr lang="en-US" altLang="zh-CN" sz="2400" b="1" dirty="0">
                <a:solidFill>
                  <a:srgbClr val="0070C0"/>
                </a:solidFill>
                <a:latin typeface="+mn-ea"/>
              </a:rPr>
              <a:t>=var-</a:t>
            </a:r>
            <a:r>
              <a:rPr lang="en-US" altLang="zh-CN" sz="2400" b="1" dirty="0" err="1">
                <a:solidFill>
                  <a:srgbClr val="0070C0"/>
                </a:solidFill>
                <a:latin typeface="+mn-ea"/>
              </a:rPr>
              <a:t>list.dtype</a:t>
            </a:r>
            <a:endParaRPr lang="zh-CN" altLang="en-US" sz="2400" b="1" dirty="0">
              <a:solidFill>
                <a:srgbClr val="0070C0"/>
              </a:solidFill>
              <a:latin typeface="+mn-ea"/>
            </a:endParaRPr>
          </a:p>
        </p:txBody>
      </p:sp>
      <p:sp>
        <p:nvSpPr>
          <p:cNvPr id="38" name="Rectangle 4"/>
          <p:cNvSpPr>
            <a:spLocks noChangeArrowheads="1"/>
          </p:cNvSpPr>
          <p:nvPr/>
        </p:nvSpPr>
        <p:spPr bwMode="auto">
          <a:xfrm>
            <a:off x="6996430" y="1146810"/>
            <a:ext cx="4864735" cy="5267325"/>
          </a:xfrm>
          <a:prstGeom prst="rect">
            <a:avLst/>
          </a:prstGeom>
          <a:solidFill>
            <a:schemeClr val="bg2"/>
          </a:solidFill>
          <a:ln w="9525">
            <a:noFill/>
            <a:miter lim="800000"/>
          </a:ln>
        </p:spPr>
        <p:txBody>
          <a:bodyPr wrap="none" anchor="ctr"/>
          <a:p>
            <a:pPr algn="l"/>
            <a:r>
              <a:rPr lang="en-US" altLang="zh-CN" sz="2000" b="1" dirty="0">
                <a:latin typeface="Times New Roman" panose="02020603050405020304" pitchFamily="18" charset="0"/>
                <a:cs typeface="Times New Roman" panose="02020603050405020304" pitchFamily="18" charset="0"/>
              </a:rPr>
              <a:t>void </a:t>
            </a:r>
            <a:r>
              <a:rPr lang="en-US" altLang="zh-CN" sz="2000" b="1" dirty="0" err="1">
                <a:latin typeface="Times New Roman" panose="02020603050405020304" pitchFamily="18" charset="0"/>
                <a:cs typeface="Times New Roman" panose="02020603050405020304" pitchFamily="18" charset="0"/>
              </a:rPr>
              <a:t>EvalType</a:t>
            </a:r>
            <a:r>
              <a:rPr lang="en-US" altLang="zh-CN" sz="2000" b="1" dirty="0">
                <a:latin typeface="Times New Roman" panose="02020603050405020304" pitchFamily="18" charset="0"/>
                <a:cs typeface="Times New Roman" panose="02020603050405020304" pitchFamily="18" charset="0"/>
              </a:rPr>
              <a:t>(T: </a:t>
            </a:r>
            <a:r>
              <a:rPr lang="en-US" altLang="zh-CN" sz="2000" b="1" dirty="0" err="1">
                <a:latin typeface="Times New Roman" panose="02020603050405020304" pitchFamily="18" charset="0"/>
                <a:cs typeface="Times New Roman" panose="02020603050405020304" pitchFamily="18" charset="0"/>
              </a:rPr>
              <a:t>treenode</a:t>
            </a: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case </a:t>
            </a:r>
            <a:r>
              <a:rPr lang="en-US" altLang="zh-CN" sz="2000" b="1" i="1" dirty="0" err="1">
                <a:latin typeface="Times New Roman" panose="02020603050405020304" pitchFamily="18" charset="0"/>
                <a:cs typeface="Times New Roman" panose="02020603050405020304" pitchFamily="18" charset="0"/>
              </a:rPr>
              <a:t>nodekind</a:t>
            </a:r>
            <a:r>
              <a:rPr lang="en-US" altLang="zh-CN" sz="2000" b="1" i="1" dirty="0">
                <a:latin typeface="Times New Roman" panose="02020603050405020304" pitchFamily="18" charset="0"/>
                <a:cs typeface="Times New Roman" panose="02020603050405020304" pitchFamily="18" charset="0"/>
              </a:rPr>
              <a:t> of  T </a:t>
            </a:r>
            <a:r>
              <a:rPr lang="en-US" altLang="zh-CN" sz="2000" b="1" dirty="0">
                <a:latin typeface="Times New Roman" panose="02020603050405020304" pitchFamily="18" charset="0"/>
                <a:cs typeface="Times New Roman" panose="02020603050405020304" pitchFamily="18" charset="0"/>
              </a:rPr>
              <a:t>of</a:t>
            </a:r>
            <a:endParaRPr lang="en-US" altLang="zh-CN" sz="2000" b="1" dirty="0">
              <a:latin typeface="Times New Roman" panose="02020603050405020304" pitchFamily="18" charset="0"/>
              <a:cs typeface="Times New Roman" panose="02020603050405020304" pitchFamily="18" charset="0"/>
            </a:endParaRPr>
          </a:p>
          <a:p>
            <a:pPr algn="l"/>
            <a:r>
              <a:rPr lang="en-US" altLang="zh-CN" sz="2000" b="1" i="1" dirty="0" err="1">
                <a:latin typeface="Times New Roman" panose="02020603050405020304" pitchFamily="18" charset="0"/>
                <a:cs typeface="Times New Roman" panose="02020603050405020304" pitchFamily="18" charset="0"/>
              </a:rPr>
              <a:t>decl</a:t>
            </a:r>
            <a:r>
              <a:rPr lang="en-US" altLang="zh-CN" sz="2000" b="1" i="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rPr>
              <a:t>	</a:t>
            </a:r>
            <a:r>
              <a:rPr lang="en-US" altLang="zh-CN" sz="2000" b="1" i="1" dirty="0" err="1">
                <a:latin typeface="Times New Roman" panose="02020603050405020304" pitchFamily="18" charset="0"/>
                <a:cs typeface="Times New Roman" panose="02020603050405020304" pitchFamily="18" charset="0"/>
              </a:rPr>
              <a:t>EvalType</a:t>
            </a:r>
            <a:r>
              <a:rPr lang="en-US" altLang="zh-CN" sz="2000" b="1" dirty="0">
                <a:latin typeface="Times New Roman" panose="02020603050405020304" pitchFamily="18" charset="0"/>
                <a:cs typeface="Times New Roman" panose="02020603050405020304" pitchFamily="18" charset="0"/>
              </a:rPr>
              <a:t>(</a:t>
            </a:r>
            <a:r>
              <a:rPr lang="en-US" altLang="zh-CN" sz="2000" b="1" i="1" dirty="0" err="1">
                <a:latin typeface="Times New Roman" panose="02020603050405020304" pitchFamily="18" charset="0"/>
                <a:cs typeface="Times New Roman" panose="02020603050405020304" pitchFamily="18" charset="0"/>
              </a:rPr>
              <a:t>firstchild</a:t>
            </a:r>
            <a:r>
              <a:rPr lang="en-US" altLang="zh-CN" sz="2000" b="1" i="1" dirty="0">
                <a:latin typeface="Times New Roman" panose="02020603050405020304" pitchFamily="18" charset="0"/>
                <a:cs typeface="Times New Roman" panose="02020603050405020304" pitchFamily="18" charset="0"/>
              </a:rPr>
              <a:t> of T </a:t>
            </a:r>
            <a:r>
              <a:rPr lang="en-US" altLang="zh-CN" sz="2000" b="1" dirty="0">
                <a:latin typeface="Times New Roman" panose="02020603050405020304" pitchFamily="18" charset="0"/>
                <a:cs typeface="Times New Roman" panose="02020603050405020304" pitchFamily="18" charset="0"/>
              </a:rPr>
              <a:t>);</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rPr>
              <a:t>	</a:t>
            </a:r>
            <a:r>
              <a:rPr lang="en-US" altLang="zh-CN" sz="2000" b="1" i="1" dirty="0" err="1">
                <a:latin typeface="Times New Roman" panose="02020603050405020304" pitchFamily="18" charset="0"/>
                <a:cs typeface="Times New Roman" panose="02020603050405020304" pitchFamily="18" charset="0"/>
              </a:rPr>
              <a:t>T.secondchild.dtype</a:t>
            </a:r>
            <a:r>
              <a:rPr lang="en-US" altLang="zh-CN" sz="2000" b="1" i="1" dirty="0">
                <a:latin typeface="Times New Roman" panose="02020603050405020304" pitchFamily="18" charset="0"/>
                <a:cs typeface="Times New Roman" panose="02020603050405020304" pitchFamily="18" charset="0"/>
              </a:rPr>
              <a:t>=</a:t>
            </a:r>
            <a:r>
              <a:rPr lang="en-US" altLang="zh-CN" sz="2000" b="1" i="1" dirty="0" err="1">
                <a:latin typeface="Times New Roman" panose="02020603050405020304" pitchFamily="18" charset="0"/>
                <a:cs typeface="Times New Roman" panose="02020603050405020304" pitchFamily="18" charset="0"/>
              </a:rPr>
              <a:t>T.firstchild</a:t>
            </a:r>
            <a:r>
              <a:rPr lang="en-US" altLang="zh-CN" sz="2000" b="1" i="1" dirty="0">
                <a:latin typeface="Times New Roman" panose="02020603050405020304" pitchFamily="18" charset="0"/>
                <a:cs typeface="Times New Roman" panose="02020603050405020304" pitchFamily="18" charset="0"/>
              </a:rPr>
              <a:t> .</a:t>
            </a:r>
            <a:r>
              <a:rPr lang="en-US" altLang="zh-CN" sz="2000" b="1" i="1" dirty="0" err="1">
                <a:latin typeface="Times New Roman" panose="02020603050405020304" pitchFamily="18" charset="0"/>
                <a:cs typeface="Times New Roman" panose="02020603050405020304" pitchFamily="18" charset="0"/>
              </a:rPr>
              <a:t>dtype</a:t>
            </a:r>
            <a:r>
              <a:rPr lang="en-US" altLang="zh-CN" sz="2000" b="1" dirty="0">
                <a:latin typeface="Times New Roman" panose="02020603050405020304" pitchFamily="18" charset="0"/>
                <a:cs typeface="Times New Roman" panose="02020603050405020304" pitchFamily="18" charset="0"/>
              </a:rPr>
              <a:t>;</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rPr>
              <a:t>	</a:t>
            </a:r>
            <a:r>
              <a:rPr lang="en-US" altLang="zh-CN" sz="2000" b="1" i="1" dirty="0" err="1">
                <a:latin typeface="Times New Roman" panose="02020603050405020304" pitchFamily="18" charset="0"/>
                <a:cs typeface="Times New Roman" panose="02020603050405020304" pitchFamily="18" charset="0"/>
              </a:rPr>
              <a:t>EvalType</a:t>
            </a:r>
            <a:r>
              <a:rPr lang="en-US" altLang="zh-CN" sz="2000" b="1" i="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a:t>
            </a:r>
            <a:r>
              <a:rPr lang="en-US" altLang="zh-CN" sz="2000" b="1" i="1" dirty="0" err="1">
                <a:latin typeface="Times New Roman" panose="02020603050405020304" pitchFamily="18" charset="0"/>
                <a:cs typeface="Times New Roman" panose="02020603050405020304" pitchFamily="18" charset="0"/>
              </a:rPr>
              <a:t>secondchild</a:t>
            </a:r>
            <a:r>
              <a:rPr lang="en-US" altLang="zh-CN" sz="2000" b="1" i="1" dirty="0">
                <a:latin typeface="Times New Roman" panose="02020603050405020304" pitchFamily="18" charset="0"/>
                <a:cs typeface="Times New Roman" panose="02020603050405020304" pitchFamily="18" charset="0"/>
              </a:rPr>
              <a:t> of T </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rPr>
              <a:t>type </a:t>
            </a: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	if </a:t>
            </a:r>
            <a:r>
              <a:rPr lang="en-US" altLang="zh-CN" sz="2000" b="1" i="1" dirty="0">
                <a:latin typeface="Times New Roman" panose="02020603050405020304" pitchFamily="18" charset="0"/>
                <a:cs typeface="Times New Roman" panose="02020603050405020304" pitchFamily="18" charset="0"/>
              </a:rPr>
              <a:t>child of T </a:t>
            </a:r>
            <a:r>
              <a:rPr lang="en-US" altLang="zh-CN" sz="2000" b="1" dirty="0">
                <a:latin typeface="Times New Roman" panose="02020603050405020304" pitchFamily="18" charset="0"/>
                <a:cs typeface="Times New Roman" panose="02020603050405020304" pitchFamily="18" charset="0"/>
              </a:rPr>
              <a:t>= int</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rPr>
              <a:t>		</a:t>
            </a:r>
            <a:r>
              <a:rPr lang="en-US" altLang="zh-CN" sz="2000" b="1" i="1" dirty="0" err="1">
                <a:latin typeface="Times New Roman" panose="02020603050405020304" pitchFamily="18" charset="0"/>
                <a:cs typeface="Times New Roman" panose="02020603050405020304" pitchFamily="18" charset="0"/>
              </a:rPr>
              <a:t>T</a:t>
            </a:r>
            <a:r>
              <a:rPr lang="en-US" altLang="zh-CN" sz="2000" b="1" dirty="0" err="1">
                <a:latin typeface="Times New Roman" panose="02020603050405020304" pitchFamily="18" charset="0"/>
                <a:cs typeface="Times New Roman" panose="02020603050405020304" pitchFamily="18" charset="0"/>
              </a:rPr>
              <a:t>.</a:t>
            </a:r>
            <a:r>
              <a:rPr lang="en-US" altLang="zh-CN" sz="2000" b="1" i="1" dirty="0" err="1">
                <a:latin typeface="Times New Roman" panose="02020603050405020304" pitchFamily="18" charset="0"/>
                <a:cs typeface="Times New Roman" panose="02020603050405020304" pitchFamily="18" charset="0"/>
              </a:rPr>
              <a:t>dtype</a:t>
            </a:r>
            <a:r>
              <a:rPr lang="en-US" altLang="zh-CN" sz="2000" b="1" i="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integer </a:t>
            </a:r>
            <a:endParaRPr lang="en-US" altLang="zh-CN" sz="2000" b="1" dirty="0">
              <a:latin typeface="Times New Roman" panose="02020603050405020304" pitchFamily="18" charset="0"/>
              <a:cs typeface="Times New Roman" panose="02020603050405020304" pitchFamily="18" charset="0"/>
            </a:endParaRPr>
          </a:p>
          <a:p>
            <a:pPr algn="l"/>
            <a:r>
              <a:rPr lang="en-US" altLang="zh-CN" sz="2000" b="1" dirty="0">
                <a:latin typeface="Times New Roman" panose="02020603050405020304" pitchFamily="18" charset="0"/>
                <a:cs typeface="Times New Roman" panose="02020603050405020304" pitchFamily="18" charset="0"/>
              </a:rPr>
              <a:t>	else </a:t>
            </a:r>
            <a:r>
              <a:rPr lang="en-US" altLang="zh-CN" sz="2000" b="1" i="1" dirty="0" err="1">
                <a:latin typeface="Times New Roman" panose="02020603050405020304" pitchFamily="18" charset="0"/>
                <a:cs typeface="Times New Roman" panose="02020603050405020304" pitchFamily="18" charset="0"/>
              </a:rPr>
              <a:t>T.dtype</a:t>
            </a:r>
            <a:r>
              <a:rPr lang="en-US" altLang="zh-CN" sz="2000" b="1" i="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 </a:t>
            </a:r>
            <a:r>
              <a:rPr lang="en-US" altLang="zh-CN" sz="2000" b="1" i="1" dirty="0">
                <a:latin typeface="Times New Roman" panose="02020603050405020304" pitchFamily="18" charset="0"/>
                <a:cs typeface="Times New Roman" panose="02020603050405020304" pitchFamily="18" charset="0"/>
              </a:rPr>
              <a:t>real</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sym typeface="+mn-ea"/>
              </a:rPr>
              <a:t>var-list: </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sym typeface="+mn-ea"/>
              </a:rPr>
              <a:t>	</a:t>
            </a:r>
            <a:r>
              <a:rPr lang="en-US" altLang="zh-CN" sz="2000" b="1" i="1" dirty="0" err="1">
                <a:latin typeface="Times New Roman" panose="02020603050405020304" pitchFamily="18" charset="0"/>
                <a:cs typeface="Times New Roman" panose="02020603050405020304" pitchFamily="18" charset="0"/>
                <a:sym typeface="+mn-ea"/>
              </a:rPr>
              <a:t>T</a:t>
            </a:r>
            <a:r>
              <a:rPr lang="en-US" altLang="zh-CN" sz="2000" b="1" dirty="0" err="1">
                <a:latin typeface="Times New Roman" panose="02020603050405020304" pitchFamily="18" charset="0"/>
                <a:cs typeface="Times New Roman" panose="02020603050405020304" pitchFamily="18" charset="0"/>
                <a:sym typeface="+mn-ea"/>
              </a:rPr>
              <a:t>.</a:t>
            </a:r>
            <a:r>
              <a:rPr lang="en-US" altLang="zh-CN" sz="2000" b="1" i="1" dirty="0" err="1">
                <a:latin typeface="Times New Roman" panose="02020603050405020304" pitchFamily="18" charset="0"/>
                <a:cs typeface="Times New Roman" panose="02020603050405020304" pitchFamily="18" charset="0"/>
                <a:sym typeface="+mn-ea"/>
              </a:rPr>
              <a:t>firstchild.dtype</a:t>
            </a:r>
            <a:r>
              <a:rPr lang="en-US" altLang="zh-CN" sz="2000" b="1" i="1" dirty="0">
                <a:latin typeface="Times New Roman" panose="02020603050405020304" pitchFamily="18" charset="0"/>
                <a:cs typeface="Times New Roman" panose="02020603050405020304" pitchFamily="18" charset="0"/>
                <a:sym typeface="+mn-ea"/>
              </a:rPr>
              <a:t> =</a:t>
            </a:r>
            <a:r>
              <a:rPr lang="en-US" altLang="zh-CN" sz="2000" b="1" i="1" dirty="0" err="1">
                <a:latin typeface="Times New Roman" panose="02020603050405020304" pitchFamily="18" charset="0"/>
                <a:cs typeface="Times New Roman" panose="02020603050405020304" pitchFamily="18" charset="0"/>
                <a:sym typeface="+mn-ea"/>
              </a:rPr>
              <a:t>T.dtype</a:t>
            </a:r>
            <a:r>
              <a:rPr lang="en-US" altLang="zh-CN" sz="2000" b="1" i="1" dirty="0">
                <a:latin typeface="Times New Roman" panose="02020603050405020304" pitchFamily="18" charset="0"/>
                <a:cs typeface="Times New Roman" panose="02020603050405020304" pitchFamily="18" charset="0"/>
                <a:sym typeface="+mn-ea"/>
              </a:rPr>
              <a:t>;</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sym typeface="+mn-ea"/>
              </a:rPr>
              <a:t>	if third child of T is not nil </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sym typeface="+mn-ea"/>
              </a:rPr>
              <a:t>		</a:t>
            </a:r>
            <a:r>
              <a:rPr lang="en-US" altLang="zh-CN" sz="2000" b="1" i="1" dirty="0" err="1">
                <a:latin typeface="Times New Roman" panose="02020603050405020304" pitchFamily="18" charset="0"/>
                <a:cs typeface="Times New Roman" panose="02020603050405020304" pitchFamily="18" charset="0"/>
                <a:sym typeface="+mn-ea"/>
              </a:rPr>
              <a:t>T.thirdchild.dtype</a:t>
            </a:r>
            <a:r>
              <a:rPr lang="en-US" altLang="zh-CN" sz="2000" b="1" i="1" dirty="0">
                <a:latin typeface="Times New Roman" panose="02020603050405020304" pitchFamily="18" charset="0"/>
                <a:cs typeface="Times New Roman" panose="02020603050405020304" pitchFamily="18" charset="0"/>
                <a:sym typeface="+mn-ea"/>
              </a:rPr>
              <a:t> =</a:t>
            </a:r>
            <a:r>
              <a:rPr lang="en-US" altLang="zh-CN" sz="2000" b="1" i="1" dirty="0" err="1">
                <a:latin typeface="Times New Roman" panose="02020603050405020304" pitchFamily="18" charset="0"/>
                <a:cs typeface="Times New Roman" panose="02020603050405020304" pitchFamily="18" charset="0"/>
                <a:sym typeface="+mn-ea"/>
              </a:rPr>
              <a:t>T.dtype</a:t>
            </a:r>
            <a:r>
              <a:rPr lang="en-US" altLang="zh-CN" sz="2000" b="1" i="1" dirty="0">
                <a:latin typeface="Times New Roman" panose="02020603050405020304" pitchFamily="18" charset="0"/>
                <a:cs typeface="Times New Roman" panose="02020603050405020304" pitchFamily="18" charset="0"/>
                <a:sym typeface="+mn-ea"/>
              </a:rPr>
              <a:t>;</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sym typeface="+mn-ea"/>
              </a:rPr>
              <a:t>		</a:t>
            </a:r>
            <a:r>
              <a:rPr lang="en-US" altLang="zh-CN" sz="2000" b="1" i="1" dirty="0" err="1">
                <a:latin typeface="Times New Roman" panose="02020603050405020304" pitchFamily="18" charset="0"/>
                <a:cs typeface="Times New Roman" panose="02020603050405020304" pitchFamily="18" charset="0"/>
                <a:sym typeface="+mn-ea"/>
              </a:rPr>
              <a:t>EvalType</a:t>
            </a:r>
            <a:r>
              <a:rPr lang="en-US" altLang="zh-CN" sz="2000" b="1" i="1" dirty="0">
                <a:latin typeface="Times New Roman" panose="02020603050405020304" pitchFamily="18" charset="0"/>
                <a:cs typeface="Times New Roman" panose="02020603050405020304" pitchFamily="18" charset="0"/>
                <a:sym typeface="+mn-ea"/>
              </a:rPr>
              <a:t>(third child of T );</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sym typeface="+mn-ea"/>
              </a:rPr>
              <a:t>end case;</a:t>
            </a:r>
            <a:endParaRPr lang="en-US" altLang="zh-CN" sz="2000" b="1" i="1" dirty="0">
              <a:latin typeface="Times New Roman" panose="02020603050405020304" pitchFamily="18" charset="0"/>
              <a:cs typeface="Times New Roman" panose="02020603050405020304" pitchFamily="18" charset="0"/>
            </a:endParaRPr>
          </a:p>
          <a:p>
            <a:pPr algn="l"/>
            <a:r>
              <a:rPr lang="en-US" altLang="zh-CN" sz="2000" b="1" i="1" dirty="0">
                <a:latin typeface="Times New Roman" panose="02020603050405020304" pitchFamily="18" charset="0"/>
                <a:cs typeface="Times New Roman" panose="02020603050405020304" pitchFamily="18" charset="0"/>
                <a:sym typeface="+mn-ea"/>
              </a:rPr>
              <a:t>}</a:t>
            </a:r>
            <a:endParaRPr lang="en-US" altLang="zh-CN" sz="2000" b="1" i="1"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2529205" y="3848100"/>
            <a:ext cx="3848100" cy="1476375"/>
          </a:xfrm>
          <a:prstGeom prst="rect">
            <a:avLst/>
          </a:prstGeom>
          <a:noFill/>
        </p:spPr>
        <p:txBody>
          <a:bodyPr wrap="square" rtlCol="0" anchor="t">
            <a:spAutoFit/>
          </a:bodyPr>
          <a:p>
            <a:pPr marL="0" indent="0">
              <a:lnSpc>
                <a:spcPct val="125000"/>
              </a:lnSpc>
              <a:spcBef>
                <a:spcPts val="0"/>
              </a:spcBef>
              <a:spcAft>
                <a:spcPts val="0"/>
              </a:spcAft>
              <a:buNone/>
            </a:pPr>
            <a:r>
              <a:rPr lang="en-US" altLang="zh-CN" sz="2400" b="1" dirty="0" err="1">
                <a:solidFill>
                  <a:srgbClr val="0070C0"/>
                </a:solidFill>
                <a:latin typeface="+mn-ea"/>
                <a:sym typeface="+mn-ea"/>
              </a:rPr>
              <a:t>id.dtype</a:t>
            </a:r>
            <a:r>
              <a:rPr lang="en-US" altLang="zh-CN" sz="2400" b="1" dirty="0">
                <a:solidFill>
                  <a:srgbClr val="0070C0"/>
                </a:solidFill>
                <a:latin typeface="+mn-ea"/>
                <a:sym typeface="+mn-ea"/>
              </a:rPr>
              <a:t> = var-list1.dtype</a:t>
            </a:r>
            <a:endParaRPr lang="en-US" altLang="zh-CN" sz="2400" b="1" dirty="0">
              <a:solidFill>
                <a:srgbClr val="0070C0"/>
              </a:solidFill>
              <a:latin typeface="+mn-ea"/>
            </a:endParaRPr>
          </a:p>
          <a:p>
            <a:pPr marL="0" indent="0">
              <a:lnSpc>
                <a:spcPct val="125000"/>
              </a:lnSpc>
              <a:spcBef>
                <a:spcPts val="0"/>
              </a:spcBef>
              <a:spcAft>
                <a:spcPts val="0"/>
              </a:spcAft>
              <a:buNone/>
            </a:pPr>
            <a:r>
              <a:rPr lang="en-US" altLang="zh-CN" sz="2400" b="1" dirty="0">
                <a:solidFill>
                  <a:srgbClr val="0070C0"/>
                </a:solidFill>
                <a:latin typeface="+mn-ea"/>
                <a:sym typeface="+mn-ea"/>
              </a:rPr>
              <a:t>var-list2.dtype = </a:t>
            </a:r>
            <a:endParaRPr lang="en-US" altLang="zh-CN" sz="2400" b="1" dirty="0">
              <a:solidFill>
                <a:srgbClr val="0070C0"/>
              </a:solidFill>
              <a:latin typeface="+mn-ea"/>
            </a:endParaRPr>
          </a:p>
          <a:p>
            <a:pPr marL="0" indent="0">
              <a:lnSpc>
                <a:spcPct val="125000"/>
              </a:lnSpc>
              <a:spcBef>
                <a:spcPts val="0"/>
              </a:spcBef>
              <a:spcAft>
                <a:spcPts val="0"/>
              </a:spcAft>
              <a:buNone/>
            </a:pPr>
            <a:r>
              <a:rPr lang="en-US" altLang="zh-CN" sz="2400" b="1" dirty="0">
                <a:solidFill>
                  <a:srgbClr val="0070C0"/>
                </a:solidFill>
                <a:latin typeface="+mn-ea"/>
                <a:sym typeface="+mn-ea"/>
              </a:rPr>
              <a:t>		var-list1.dtype</a:t>
            </a:r>
            <a:endParaRPr lang="en-US" altLang="zh-CN" sz="2400" b="1" dirty="0">
              <a:solidFill>
                <a:srgbClr val="0070C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barn(outHorizontal)">
                                      <p:cBhvr>
                                        <p:cTn id="7" dur="500"/>
                                        <p:tgtEl>
                                          <p:spTgt spid="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arn(outHorizontal)">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arn(outHorizontal)">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 calcmode="lin" valueType="num">
                                      <p:cBhvr additive="base">
                                        <p:cTn id="22"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38">
                                            <p:txEl>
                                              <p:pRg st="4" end="4"/>
                                            </p:txEl>
                                          </p:spTgt>
                                        </p:tgtEl>
                                        <p:attrNameLst>
                                          <p:attrName>style.visibility</p:attrName>
                                        </p:attrNameLst>
                                      </p:cBhvr>
                                      <p:to>
                                        <p:strVal val="visible"/>
                                      </p:to>
                                    </p:set>
                                    <p:animEffect transition="in" filter="barn(inHorizontal)">
                                      <p:cBhvr>
                                        <p:cTn id="32" dur="500"/>
                                        <p:tgtEl>
                                          <p:spTgt spid="3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8">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8">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8">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xEl>
                                              <p:pRg st="10" end="1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8">
                                            <p:txEl>
                                              <p:pRg st="11" end="1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8">
                                            <p:txEl>
                                              <p:pRg st="12" end="12"/>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8">
                                            <p:txEl>
                                              <p:pRg st="13" end="13"/>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8">
                                            <p:txEl>
                                              <p:pRg st="14" end="14"/>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1" grpId="0" uiExpand="1" build="p"/>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sp>
        <p:nvSpPr>
          <p:cNvPr id="4" name="Rectangle 4"/>
          <p:cNvSpPr txBox="1">
            <a:spLocks noChangeArrowheads="1"/>
          </p:cNvSpPr>
          <p:nvPr/>
        </p:nvSpPr>
        <p:spPr>
          <a:xfrm>
            <a:off x="449580" y="1196975"/>
            <a:ext cx="5046345" cy="40119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pPr>
            <a:r>
              <a:rPr lang="zh-CN" altLang="en-US" sz="2400" b="1" dirty="0">
                <a:solidFill>
                  <a:srgbClr val="000000"/>
                </a:solidFill>
                <a:latin typeface="+mn-ea"/>
              </a:rPr>
              <a:t>例</a:t>
            </a:r>
            <a:r>
              <a:rPr lang="en-US" altLang="zh-CN" sz="2400" b="1" dirty="0">
                <a:solidFill>
                  <a:srgbClr val="000000"/>
                </a:solidFill>
                <a:latin typeface="+mn-ea"/>
              </a:rPr>
              <a:t>5</a:t>
            </a:r>
            <a:r>
              <a:rPr lang="zh-CN" altLang="en-US" sz="2400" b="1" dirty="0">
                <a:solidFill>
                  <a:srgbClr val="000000"/>
                </a:solidFill>
                <a:latin typeface="+mn-ea"/>
              </a:rPr>
              <a:t>.4 文法：</a:t>
            </a:r>
            <a:endParaRPr lang="zh-CN" altLang="en-US" sz="2400" b="1" dirty="0">
              <a:solidFill>
                <a:srgbClr val="000000"/>
              </a:solidFill>
              <a:latin typeface="+mn-ea"/>
            </a:endParaRPr>
          </a:p>
          <a:p>
            <a:pPr lvl="1">
              <a:lnSpc>
                <a:spcPct val="125000"/>
              </a:lnSpc>
              <a:spcBef>
                <a:spcPct val="0"/>
              </a:spcBef>
              <a:spcAft>
                <a:spcPts val="0"/>
              </a:spcAft>
            </a:pPr>
            <a:r>
              <a:rPr lang="en-US" altLang="zh-CN" b="1" i="1" dirty="0" err="1">
                <a:solidFill>
                  <a:srgbClr val="000000"/>
                </a:solidFill>
                <a:latin typeface="+mn-ea"/>
              </a:rPr>
              <a:t>based-num</a:t>
            </a:r>
            <a:r>
              <a:rPr lang="en-US" altLang="zh-CN" b="1" dirty="0" err="1">
                <a:solidFill>
                  <a:srgbClr val="000000"/>
                </a:solidFill>
                <a:latin typeface="+mn-ea"/>
              </a:rPr>
              <a:t>→</a:t>
            </a:r>
            <a:r>
              <a:rPr lang="en-US" altLang="zh-CN" b="1" i="1" dirty="0" err="1">
                <a:solidFill>
                  <a:srgbClr val="000000"/>
                </a:solidFill>
                <a:latin typeface="+mn-ea"/>
              </a:rPr>
              <a:t>num</a:t>
            </a:r>
            <a:r>
              <a:rPr lang="en-US" altLang="zh-CN" b="1" i="1" dirty="0">
                <a:solidFill>
                  <a:srgbClr val="000000"/>
                </a:solidFill>
                <a:latin typeface="+mn-ea"/>
              </a:rPr>
              <a:t> </a:t>
            </a:r>
            <a:r>
              <a:rPr lang="en-US" altLang="zh-CN" b="1" i="1" dirty="0" err="1">
                <a:solidFill>
                  <a:srgbClr val="000000"/>
                </a:solidFill>
                <a:latin typeface="+mn-ea"/>
              </a:rPr>
              <a:t>basechar</a:t>
            </a:r>
            <a:endParaRPr lang="en-US" altLang="zh-CN" b="1" i="1" dirty="0">
              <a:solidFill>
                <a:srgbClr val="000000"/>
              </a:solidFill>
              <a:latin typeface="+mn-ea"/>
            </a:endParaRPr>
          </a:p>
          <a:p>
            <a:pPr lvl="1">
              <a:lnSpc>
                <a:spcPct val="125000"/>
              </a:lnSpc>
              <a:spcBef>
                <a:spcPct val="0"/>
              </a:spcBef>
              <a:spcAft>
                <a:spcPts val="0"/>
              </a:spcAft>
            </a:pPr>
            <a:r>
              <a:rPr lang="en-US" altLang="zh-CN" b="1" i="1" dirty="0" err="1">
                <a:solidFill>
                  <a:srgbClr val="000000"/>
                </a:solidFill>
                <a:latin typeface="+mn-ea"/>
              </a:rPr>
              <a:t>basechar</a:t>
            </a:r>
            <a:r>
              <a:rPr lang="en-US" altLang="zh-CN" b="1" dirty="0">
                <a:solidFill>
                  <a:srgbClr val="000000"/>
                </a:solidFill>
                <a:latin typeface="+mn-ea"/>
              </a:rPr>
              <a:t> →</a:t>
            </a:r>
            <a:r>
              <a:rPr lang="en-US" altLang="zh-CN" b="1" dirty="0">
                <a:solidFill>
                  <a:srgbClr val="FF3399"/>
                </a:solidFill>
                <a:latin typeface="+mn-ea"/>
              </a:rPr>
              <a:t>o </a:t>
            </a:r>
            <a:r>
              <a:rPr lang="en-US" altLang="zh-CN" b="1" dirty="0">
                <a:solidFill>
                  <a:srgbClr val="000000"/>
                </a:solidFill>
                <a:latin typeface="+mn-ea"/>
              </a:rPr>
              <a:t>| </a:t>
            </a:r>
            <a:r>
              <a:rPr lang="en-US" altLang="zh-CN" b="1" dirty="0">
                <a:solidFill>
                  <a:srgbClr val="FF3399"/>
                </a:solidFill>
                <a:latin typeface="+mn-ea"/>
              </a:rPr>
              <a:t>d</a:t>
            </a:r>
            <a:endParaRPr lang="en-US" altLang="zh-CN" b="1" dirty="0">
              <a:solidFill>
                <a:srgbClr val="FF3399"/>
              </a:solidFill>
              <a:latin typeface="+mn-ea"/>
            </a:endParaRPr>
          </a:p>
          <a:p>
            <a:pPr lvl="1">
              <a:lnSpc>
                <a:spcPct val="125000"/>
              </a:lnSpc>
              <a:spcBef>
                <a:spcPct val="0"/>
              </a:spcBef>
              <a:spcAft>
                <a:spcPts val="0"/>
              </a:spcAft>
            </a:pPr>
            <a:r>
              <a:rPr lang="en-US" altLang="zh-CN" b="1" i="1" dirty="0" err="1">
                <a:solidFill>
                  <a:srgbClr val="000000"/>
                </a:solidFill>
                <a:latin typeface="+mn-ea"/>
              </a:rPr>
              <a:t>num</a:t>
            </a:r>
            <a:r>
              <a:rPr lang="en-US" altLang="zh-CN" b="1" dirty="0" err="1">
                <a:solidFill>
                  <a:srgbClr val="000000"/>
                </a:solidFill>
                <a:latin typeface="+mn-ea"/>
              </a:rPr>
              <a:t>→</a:t>
            </a:r>
            <a:r>
              <a:rPr lang="en-US" altLang="zh-CN" b="1" i="1" dirty="0" err="1">
                <a:solidFill>
                  <a:srgbClr val="000000"/>
                </a:solidFill>
                <a:latin typeface="+mn-ea"/>
              </a:rPr>
              <a:t>num</a:t>
            </a:r>
            <a:r>
              <a:rPr lang="en-US" altLang="zh-CN" b="1" i="1" dirty="0">
                <a:solidFill>
                  <a:srgbClr val="000000"/>
                </a:solidFill>
                <a:latin typeface="+mn-ea"/>
              </a:rPr>
              <a:t> digit</a:t>
            </a:r>
            <a:r>
              <a:rPr lang="en-US" altLang="zh-CN" b="1" dirty="0">
                <a:solidFill>
                  <a:srgbClr val="000000"/>
                </a:solidFill>
                <a:latin typeface="+mn-ea"/>
              </a:rPr>
              <a:t> | </a:t>
            </a:r>
            <a:r>
              <a:rPr lang="en-US" altLang="zh-CN" b="1" i="1" dirty="0">
                <a:solidFill>
                  <a:srgbClr val="000000"/>
                </a:solidFill>
                <a:latin typeface="+mn-ea"/>
              </a:rPr>
              <a:t>digit</a:t>
            </a:r>
            <a:endParaRPr lang="en-US" altLang="zh-CN" b="1" i="1" dirty="0">
              <a:solidFill>
                <a:srgbClr val="000000"/>
              </a:solidFill>
              <a:latin typeface="+mn-ea"/>
            </a:endParaRPr>
          </a:p>
          <a:p>
            <a:pPr lvl="1">
              <a:lnSpc>
                <a:spcPct val="125000"/>
              </a:lnSpc>
              <a:spcBef>
                <a:spcPct val="0"/>
              </a:spcBef>
              <a:spcAft>
                <a:spcPts val="0"/>
              </a:spcAft>
            </a:pPr>
            <a:r>
              <a:rPr lang="en-US" altLang="zh-CN" b="1" i="1" dirty="0">
                <a:solidFill>
                  <a:srgbClr val="000000"/>
                </a:solidFill>
                <a:latin typeface="+mn-ea"/>
              </a:rPr>
              <a:t>digit</a:t>
            </a:r>
            <a:r>
              <a:rPr lang="en-US" altLang="zh-CN" b="1" dirty="0">
                <a:solidFill>
                  <a:srgbClr val="000000"/>
                </a:solidFill>
                <a:latin typeface="+mn-ea"/>
              </a:rPr>
              <a:t>→</a:t>
            </a:r>
            <a:r>
              <a:rPr lang="en-US" altLang="zh-CN" b="1" dirty="0">
                <a:solidFill>
                  <a:srgbClr val="FF3399"/>
                </a:solidFill>
                <a:latin typeface="+mn-ea"/>
              </a:rPr>
              <a:t>0</a:t>
            </a:r>
            <a:r>
              <a:rPr lang="en-US" altLang="zh-CN" b="1" dirty="0">
                <a:solidFill>
                  <a:srgbClr val="000000"/>
                </a:solidFill>
                <a:latin typeface="+mn-ea"/>
              </a:rPr>
              <a:t>|</a:t>
            </a:r>
            <a:r>
              <a:rPr lang="en-US" altLang="zh-CN" b="1" dirty="0">
                <a:solidFill>
                  <a:srgbClr val="FF3399"/>
                </a:solidFill>
                <a:latin typeface="+mn-ea"/>
              </a:rPr>
              <a:t>1</a:t>
            </a:r>
            <a:r>
              <a:rPr lang="en-US" altLang="zh-CN" b="1" dirty="0">
                <a:solidFill>
                  <a:srgbClr val="000000"/>
                </a:solidFill>
                <a:latin typeface="+mn-ea"/>
              </a:rPr>
              <a:t>|</a:t>
            </a:r>
            <a:r>
              <a:rPr lang="en-US" altLang="zh-CN" b="1" dirty="0">
                <a:solidFill>
                  <a:srgbClr val="FF3399"/>
                </a:solidFill>
                <a:latin typeface="+mn-ea"/>
              </a:rPr>
              <a:t>2</a:t>
            </a:r>
            <a:r>
              <a:rPr lang="en-US" altLang="zh-CN" b="1" dirty="0">
                <a:solidFill>
                  <a:srgbClr val="000000"/>
                </a:solidFill>
                <a:latin typeface="+mn-ea"/>
              </a:rPr>
              <a:t>|</a:t>
            </a:r>
            <a:r>
              <a:rPr lang="en-US" altLang="zh-CN" b="1" dirty="0">
                <a:solidFill>
                  <a:srgbClr val="FF3399"/>
                </a:solidFill>
                <a:latin typeface="+mn-ea"/>
              </a:rPr>
              <a:t>3</a:t>
            </a:r>
            <a:r>
              <a:rPr lang="en-US" altLang="zh-CN" b="1" dirty="0">
                <a:solidFill>
                  <a:srgbClr val="000000"/>
                </a:solidFill>
                <a:latin typeface="+mn-ea"/>
              </a:rPr>
              <a:t>|</a:t>
            </a:r>
            <a:r>
              <a:rPr lang="en-US" altLang="zh-CN" b="1" dirty="0">
                <a:solidFill>
                  <a:srgbClr val="FF3399"/>
                </a:solidFill>
                <a:latin typeface="+mn-ea"/>
              </a:rPr>
              <a:t>4</a:t>
            </a:r>
            <a:r>
              <a:rPr lang="en-US" altLang="zh-CN" b="1" dirty="0">
                <a:solidFill>
                  <a:srgbClr val="000000"/>
                </a:solidFill>
                <a:latin typeface="+mn-ea"/>
              </a:rPr>
              <a:t>|</a:t>
            </a:r>
            <a:r>
              <a:rPr lang="en-US" altLang="zh-CN" b="1" dirty="0">
                <a:solidFill>
                  <a:srgbClr val="FF3399"/>
                </a:solidFill>
                <a:latin typeface="+mn-ea"/>
              </a:rPr>
              <a:t>5</a:t>
            </a:r>
            <a:r>
              <a:rPr lang="en-US" altLang="zh-CN" b="1" dirty="0">
                <a:solidFill>
                  <a:srgbClr val="000000"/>
                </a:solidFill>
                <a:latin typeface="+mn-ea"/>
              </a:rPr>
              <a:t>|</a:t>
            </a:r>
            <a:r>
              <a:rPr lang="en-US" altLang="zh-CN" b="1" dirty="0">
                <a:solidFill>
                  <a:srgbClr val="FF3399"/>
                </a:solidFill>
                <a:latin typeface="+mn-ea"/>
              </a:rPr>
              <a:t>6</a:t>
            </a:r>
            <a:r>
              <a:rPr lang="en-US" altLang="zh-CN" b="1" dirty="0">
                <a:solidFill>
                  <a:srgbClr val="000000"/>
                </a:solidFill>
                <a:latin typeface="+mn-ea"/>
              </a:rPr>
              <a:t>|</a:t>
            </a:r>
            <a:r>
              <a:rPr lang="en-US" altLang="zh-CN" b="1" dirty="0">
                <a:solidFill>
                  <a:srgbClr val="FF3399"/>
                </a:solidFill>
                <a:latin typeface="+mn-ea"/>
              </a:rPr>
              <a:t>7</a:t>
            </a:r>
            <a:r>
              <a:rPr lang="en-US" altLang="zh-CN" b="1" dirty="0">
                <a:solidFill>
                  <a:srgbClr val="000000"/>
                </a:solidFill>
                <a:latin typeface="+mn-ea"/>
              </a:rPr>
              <a:t>|</a:t>
            </a:r>
            <a:r>
              <a:rPr lang="en-US" altLang="zh-CN" b="1" dirty="0">
                <a:solidFill>
                  <a:srgbClr val="FF3399"/>
                </a:solidFill>
                <a:latin typeface="+mn-ea"/>
              </a:rPr>
              <a:t>8</a:t>
            </a:r>
            <a:r>
              <a:rPr lang="en-US" altLang="zh-CN" b="1" dirty="0">
                <a:solidFill>
                  <a:srgbClr val="000000"/>
                </a:solidFill>
                <a:latin typeface="+mn-ea"/>
              </a:rPr>
              <a:t>|</a:t>
            </a:r>
            <a:r>
              <a:rPr lang="en-US" altLang="zh-CN" b="1" dirty="0">
                <a:solidFill>
                  <a:srgbClr val="FF3399"/>
                </a:solidFill>
                <a:latin typeface="+mn-ea"/>
              </a:rPr>
              <a:t>9</a:t>
            </a:r>
            <a:endParaRPr lang="en-US" altLang="zh-CN" b="1" dirty="0">
              <a:solidFill>
                <a:srgbClr val="FF3399"/>
              </a:solidFill>
              <a:latin typeface="+mn-ea"/>
            </a:endParaRPr>
          </a:p>
          <a:p>
            <a:pPr>
              <a:lnSpc>
                <a:spcPct val="125000"/>
              </a:lnSpc>
              <a:spcBef>
                <a:spcPct val="0"/>
              </a:spcBef>
              <a:spcAft>
                <a:spcPts val="0"/>
              </a:spcAft>
            </a:pPr>
            <a:r>
              <a:rPr lang="zh-CN" altLang="en-US" sz="2400" b="1" dirty="0">
                <a:solidFill>
                  <a:srgbClr val="000000"/>
                </a:solidFill>
                <a:latin typeface="+mn-ea"/>
              </a:rPr>
              <a:t>撰写属性</a:t>
            </a:r>
            <a:r>
              <a:rPr lang="en-US" altLang="zh-CN" sz="2400" b="1" dirty="0" err="1">
                <a:solidFill>
                  <a:srgbClr val="000000"/>
                </a:solidFill>
                <a:latin typeface="+mn-ea"/>
              </a:rPr>
              <a:t>val</a:t>
            </a:r>
            <a:r>
              <a:rPr lang="en-US" altLang="zh-CN" sz="2400" b="1" dirty="0">
                <a:solidFill>
                  <a:srgbClr val="000000"/>
                </a:solidFill>
                <a:latin typeface="+mn-ea"/>
              </a:rPr>
              <a:t>(</a:t>
            </a:r>
            <a:r>
              <a:rPr lang="zh-CN" altLang="en-US" sz="2400" b="1" dirty="0">
                <a:solidFill>
                  <a:srgbClr val="000000"/>
                </a:solidFill>
                <a:latin typeface="+mn-ea"/>
              </a:rPr>
              <a:t>十进制值)的属性文法。</a:t>
            </a:r>
            <a:endParaRPr lang="zh-CN" altLang="en-US" sz="2400" b="1" dirty="0">
              <a:solidFill>
                <a:srgbClr val="000000"/>
              </a:solidFill>
              <a:latin typeface="+mn-ea"/>
            </a:endParaRPr>
          </a:p>
        </p:txBody>
      </p:sp>
      <p:pic>
        <p:nvPicPr>
          <p:cNvPr id="6"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581650" y="1365250"/>
            <a:ext cx="6113145" cy="4857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a:spLocks noChangeArrowheads="1"/>
          </p:cNvSpPr>
          <p:nvPr>
            <p:custDataLst>
              <p:tags r:id="rId3"/>
            </p:custDataLst>
          </p:nvPr>
        </p:nvSpPr>
        <p:spPr bwMode="auto">
          <a:xfrm>
            <a:off x="5059998" y="1197292"/>
            <a:ext cx="407246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800" b="1" dirty="0">
                <a:solidFill>
                  <a:srgbClr val="000000"/>
                </a:solidFill>
                <a:latin typeface="+mn-ea"/>
              </a:rPr>
              <a:t>计算</a:t>
            </a:r>
            <a:r>
              <a:rPr lang="en-US" altLang="zh-CN" sz="2800" b="1" dirty="0">
                <a:solidFill>
                  <a:srgbClr val="000000"/>
                </a:solidFill>
                <a:latin typeface="+mn-ea"/>
              </a:rPr>
              <a:t>345o</a:t>
            </a:r>
            <a:r>
              <a:rPr lang="zh-CN" altLang="en-US" sz="2800" b="1" dirty="0">
                <a:solidFill>
                  <a:srgbClr val="000000"/>
                </a:solidFill>
                <a:latin typeface="+mn-ea"/>
              </a:rPr>
              <a:t>的十进制的值：</a:t>
            </a:r>
            <a:endParaRPr lang="zh-CN" altLang="en-US" sz="2800" b="1" dirty="0">
              <a:solidFill>
                <a:srgbClr val="000000"/>
              </a:solidFill>
              <a:latin typeface="+mn-ea"/>
            </a:endParaRPr>
          </a:p>
        </p:txBody>
      </p:sp>
      <p:sp>
        <p:nvSpPr>
          <p:cNvPr id="8" name="Rectangle 6"/>
          <p:cNvSpPr>
            <a:spLocks noChangeArrowheads="1"/>
          </p:cNvSpPr>
          <p:nvPr>
            <p:custDataLst>
              <p:tags r:id="rId4"/>
            </p:custDataLst>
          </p:nvPr>
        </p:nvSpPr>
        <p:spPr bwMode="auto">
          <a:xfrm>
            <a:off x="5633403" y="5265102"/>
            <a:ext cx="1223962"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9" name="Rectangle 13"/>
          <p:cNvSpPr>
            <a:spLocks noChangeArrowheads="1"/>
          </p:cNvSpPr>
          <p:nvPr>
            <p:custDataLst>
              <p:tags r:id="rId5"/>
            </p:custDataLst>
          </p:nvPr>
        </p:nvSpPr>
        <p:spPr bwMode="auto">
          <a:xfrm>
            <a:off x="7936865" y="4296727"/>
            <a:ext cx="1223963"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0" name="Rectangle 14"/>
          <p:cNvSpPr>
            <a:spLocks noChangeArrowheads="1"/>
          </p:cNvSpPr>
          <p:nvPr>
            <p:custDataLst>
              <p:tags r:id="rId6"/>
            </p:custDataLst>
          </p:nvPr>
        </p:nvSpPr>
        <p:spPr bwMode="auto">
          <a:xfrm>
            <a:off x="9305290" y="3321050"/>
            <a:ext cx="1223963"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1" name="Rectangle 15"/>
          <p:cNvSpPr>
            <a:spLocks noChangeArrowheads="1"/>
          </p:cNvSpPr>
          <p:nvPr>
            <p:custDataLst>
              <p:tags r:id="rId7"/>
            </p:custDataLst>
          </p:nvPr>
        </p:nvSpPr>
        <p:spPr bwMode="auto">
          <a:xfrm>
            <a:off x="10600373" y="2294890"/>
            <a:ext cx="1223962"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3" name="Rectangle 16"/>
          <p:cNvSpPr>
            <a:spLocks noChangeArrowheads="1"/>
          </p:cNvSpPr>
          <p:nvPr>
            <p:custDataLst>
              <p:tags r:id="rId8"/>
            </p:custDataLst>
          </p:nvPr>
        </p:nvSpPr>
        <p:spPr bwMode="auto">
          <a:xfrm>
            <a:off x="5581650" y="4296727"/>
            <a:ext cx="1223963"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4" name="Rectangle 17"/>
          <p:cNvSpPr>
            <a:spLocks noChangeArrowheads="1"/>
          </p:cNvSpPr>
          <p:nvPr>
            <p:custDataLst>
              <p:tags r:id="rId9"/>
            </p:custDataLst>
          </p:nvPr>
        </p:nvSpPr>
        <p:spPr bwMode="auto">
          <a:xfrm>
            <a:off x="6096000" y="3277870"/>
            <a:ext cx="2663825"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5" name="Rectangle 18"/>
          <p:cNvSpPr>
            <a:spLocks noChangeArrowheads="1"/>
          </p:cNvSpPr>
          <p:nvPr>
            <p:custDataLst>
              <p:tags r:id="rId10"/>
            </p:custDataLst>
          </p:nvPr>
        </p:nvSpPr>
        <p:spPr bwMode="auto">
          <a:xfrm>
            <a:off x="7072948" y="2294890"/>
            <a:ext cx="2951162"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6" name="Rectangle 19"/>
          <p:cNvSpPr>
            <a:spLocks noChangeArrowheads="1"/>
          </p:cNvSpPr>
          <p:nvPr>
            <p:custDataLst>
              <p:tags r:id="rId11"/>
            </p:custDataLst>
          </p:nvPr>
        </p:nvSpPr>
        <p:spPr bwMode="auto">
          <a:xfrm>
            <a:off x="8081328" y="2511107"/>
            <a:ext cx="1223962"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7" name="Rectangle 20"/>
          <p:cNvSpPr>
            <a:spLocks noChangeArrowheads="1"/>
          </p:cNvSpPr>
          <p:nvPr>
            <p:custDataLst>
              <p:tags r:id="rId12"/>
            </p:custDataLst>
          </p:nvPr>
        </p:nvSpPr>
        <p:spPr bwMode="auto">
          <a:xfrm>
            <a:off x="6857365" y="3466147"/>
            <a:ext cx="1223963"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8" name="Rectangle 21"/>
          <p:cNvSpPr>
            <a:spLocks noChangeArrowheads="1"/>
          </p:cNvSpPr>
          <p:nvPr>
            <p:custDataLst>
              <p:tags r:id="rId13"/>
            </p:custDataLst>
          </p:nvPr>
        </p:nvSpPr>
        <p:spPr bwMode="auto">
          <a:xfrm>
            <a:off x="9304655" y="3537267"/>
            <a:ext cx="1223963"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19" name="Rectangle 22"/>
          <p:cNvSpPr>
            <a:spLocks noChangeArrowheads="1"/>
          </p:cNvSpPr>
          <p:nvPr>
            <p:custDataLst>
              <p:tags r:id="rId14"/>
            </p:custDataLst>
          </p:nvPr>
        </p:nvSpPr>
        <p:spPr bwMode="auto">
          <a:xfrm>
            <a:off x="5581650" y="4478655"/>
            <a:ext cx="1223963"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20" name="Rectangle 23"/>
          <p:cNvSpPr>
            <a:spLocks noChangeArrowheads="1"/>
          </p:cNvSpPr>
          <p:nvPr>
            <p:custDataLst>
              <p:tags r:id="rId15"/>
            </p:custDataLst>
          </p:nvPr>
        </p:nvSpPr>
        <p:spPr bwMode="auto">
          <a:xfrm>
            <a:off x="7936548" y="4512310"/>
            <a:ext cx="1223962"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21" name="Rectangle 24"/>
          <p:cNvSpPr>
            <a:spLocks noChangeArrowheads="1"/>
          </p:cNvSpPr>
          <p:nvPr>
            <p:custDataLst>
              <p:tags r:id="rId16"/>
            </p:custDataLst>
          </p:nvPr>
        </p:nvSpPr>
        <p:spPr bwMode="auto">
          <a:xfrm>
            <a:off x="5631498" y="5480685"/>
            <a:ext cx="1225550"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
        <p:nvSpPr>
          <p:cNvPr id="22" name="Rectangle 25"/>
          <p:cNvSpPr>
            <a:spLocks noChangeArrowheads="1"/>
          </p:cNvSpPr>
          <p:nvPr>
            <p:custDataLst>
              <p:tags r:id="rId17"/>
            </p:custDataLst>
          </p:nvPr>
        </p:nvSpPr>
        <p:spPr bwMode="auto">
          <a:xfrm>
            <a:off x="9304973" y="1631632"/>
            <a:ext cx="1223962" cy="215900"/>
          </a:xfrm>
          <a:prstGeom prst="rect">
            <a:avLst/>
          </a:prstGeom>
          <a:solidFill>
            <a:schemeClr val="accent1"/>
          </a:solidFill>
          <a:ln w="9525">
            <a:solidFill>
              <a:schemeClr val="tx1"/>
            </a:solidFill>
            <a:miter lim="800000"/>
          </a:ln>
        </p:spPr>
        <p:txBody>
          <a:bodyPr wrap="none" anchor="ctr"/>
          <a:p>
            <a:pPr>
              <a:lnSpc>
                <a:spcPct val="75000"/>
              </a:lnSpc>
              <a:spcBef>
                <a:spcPct val="20000"/>
              </a:spcBef>
              <a:buClr>
                <a:schemeClr val="accent2"/>
              </a:buClr>
              <a:buFont typeface="Wingdings" panose="05000000000000000000" pitchFamily="2" charset="2"/>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p:cTn id="6" dur="500"/>
                                        <p:tgtEl>
                                          <p:spTgt spid="11"/>
                                        </p:tgtEl>
                                        <p:attrNameLst>
                                          <p:attrName>ppt_x</p:attrName>
                                        </p:attrNameLst>
                                      </p:cBhvr>
                                      <p:tavLst>
                                        <p:tav tm="0">
                                          <p:val>
                                            <p:strVal val="ppt_x"/>
                                          </p:val>
                                        </p:tav>
                                        <p:tav tm="100000">
                                          <p:val>
                                            <p:strVal val="ppt_x"/>
                                          </p:val>
                                        </p:tav>
                                      </p:tavLst>
                                    </p:anim>
                                    <p:anim calcmode="lin" valueType="num">
                                      <p:cBhvr>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p:cTn id="12" dur="500"/>
                                        <p:tgtEl>
                                          <p:spTgt spid="16"/>
                                        </p:tgtEl>
                                        <p:attrNameLst>
                                          <p:attrName>ppt_x</p:attrName>
                                        </p:attrNameLst>
                                      </p:cBhvr>
                                      <p:tavLst>
                                        <p:tav tm="0">
                                          <p:val>
                                            <p:strVal val="ppt_x"/>
                                          </p:val>
                                        </p:tav>
                                        <p:tav tm="100000">
                                          <p:val>
                                            <p:strVal val="ppt_x"/>
                                          </p:val>
                                        </p:tav>
                                      </p:tavLst>
                                    </p:anim>
                                    <p:anim calcmode="lin" valueType="num">
                                      <p:cBhvr>
                                        <p:cTn id="13" dur="500"/>
                                        <p:tgtEl>
                                          <p:spTgt spid="16"/>
                                        </p:tgtEl>
                                        <p:attrNameLst>
                                          <p:attrName>ppt_y</p:attrName>
                                        </p:attrNameLst>
                                      </p:cBhvr>
                                      <p:tavLst>
                                        <p:tav tm="0">
                                          <p:val>
                                            <p:strVal val="ppt_y"/>
                                          </p:val>
                                        </p:tav>
                                        <p:tav tm="100000">
                                          <p:val>
                                            <p:strVal val="1+ppt_h/2"/>
                                          </p:val>
                                        </p:tav>
                                      </p:tavLst>
                                    </p:anim>
                                    <p:set>
                                      <p:cBhvr>
                                        <p:cTn id="14" dur="1" fill="hold">
                                          <p:stCondLst>
                                            <p:cond delay="499"/>
                                          </p:stCondLst>
                                        </p:cTn>
                                        <p:tgtEl>
                                          <p:spTgt spid="1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p:cTn id="18" dur="500"/>
                                        <p:tgtEl>
                                          <p:spTgt spid="17"/>
                                        </p:tgtEl>
                                        <p:attrNameLst>
                                          <p:attrName>ppt_x</p:attrName>
                                        </p:attrNameLst>
                                      </p:cBhvr>
                                      <p:tavLst>
                                        <p:tav tm="0">
                                          <p:val>
                                            <p:strVal val="ppt_x"/>
                                          </p:val>
                                        </p:tav>
                                        <p:tav tm="100000">
                                          <p:val>
                                            <p:strVal val="ppt_x"/>
                                          </p:val>
                                        </p:tav>
                                      </p:tavLst>
                                    </p:anim>
                                    <p:anim calcmode="lin" valueType="num">
                                      <p:cBhvr>
                                        <p:cTn id="19" dur="500"/>
                                        <p:tgtEl>
                                          <p:spTgt spid="17"/>
                                        </p:tgtEl>
                                        <p:attrNameLst>
                                          <p:attrName>ppt_y</p:attrName>
                                        </p:attrNameLst>
                                      </p:cBhvr>
                                      <p:tavLst>
                                        <p:tav tm="0">
                                          <p:val>
                                            <p:strVal val="ppt_y"/>
                                          </p:val>
                                        </p:tav>
                                        <p:tav tm="100000">
                                          <p:val>
                                            <p:strVal val="1+ppt_h/2"/>
                                          </p:val>
                                        </p:tav>
                                      </p:tavLst>
                                    </p:anim>
                                    <p:set>
                                      <p:cBhvr>
                                        <p:cTn id="20" dur="1" fill="hold">
                                          <p:stCondLst>
                                            <p:cond delay="499"/>
                                          </p:stCondLst>
                                        </p:cTn>
                                        <p:tgtEl>
                                          <p:spTgt spid="1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p:cTn id="24" dur="500"/>
                                        <p:tgtEl>
                                          <p:spTgt spid="18"/>
                                        </p:tgtEl>
                                        <p:attrNameLst>
                                          <p:attrName>ppt_x</p:attrName>
                                        </p:attrNameLst>
                                      </p:cBhvr>
                                      <p:tavLst>
                                        <p:tav tm="0">
                                          <p:val>
                                            <p:strVal val="ppt_x"/>
                                          </p:val>
                                        </p:tav>
                                        <p:tav tm="100000">
                                          <p:val>
                                            <p:strVal val="ppt_x"/>
                                          </p:val>
                                        </p:tav>
                                      </p:tavLst>
                                    </p:anim>
                                    <p:anim calcmode="lin" valueType="num">
                                      <p:cBhvr>
                                        <p:cTn id="25" dur="500"/>
                                        <p:tgtEl>
                                          <p:spTgt spid="18"/>
                                        </p:tgtEl>
                                        <p:attrNameLst>
                                          <p:attrName>ppt_y</p:attrName>
                                        </p:attrNameLst>
                                      </p:cBhvr>
                                      <p:tavLst>
                                        <p:tav tm="0">
                                          <p:val>
                                            <p:strVal val="ppt_y"/>
                                          </p:val>
                                        </p:tav>
                                        <p:tav tm="100000">
                                          <p:val>
                                            <p:strVal val="1+ppt_h/2"/>
                                          </p:val>
                                        </p:tav>
                                      </p:tavLst>
                                    </p:anim>
                                    <p:set>
                                      <p:cBhvr>
                                        <p:cTn id="26" dur="1" fill="hold">
                                          <p:stCondLst>
                                            <p:cond delay="499"/>
                                          </p:stCondLst>
                                        </p:cTn>
                                        <p:tgtEl>
                                          <p:spTgt spid="1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p:cTn id="30" dur="500"/>
                                        <p:tgtEl>
                                          <p:spTgt spid="19"/>
                                        </p:tgtEl>
                                        <p:attrNameLst>
                                          <p:attrName>ppt_x</p:attrName>
                                        </p:attrNameLst>
                                      </p:cBhvr>
                                      <p:tavLst>
                                        <p:tav tm="0">
                                          <p:val>
                                            <p:strVal val="ppt_x"/>
                                          </p:val>
                                        </p:tav>
                                        <p:tav tm="100000">
                                          <p:val>
                                            <p:strVal val="ppt_x"/>
                                          </p:val>
                                        </p:tav>
                                      </p:tavLst>
                                    </p:anim>
                                    <p:anim calcmode="lin" valueType="num">
                                      <p:cBhvr>
                                        <p:cTn id="31" dur="500"/>
                                        <p:tgtEl>
                                          <p:spTgt spid="19"/>
                                        </p:tgtEl>
                                        <p:attrNameLst>
                                          <p:attrName>ppt_y</p:attrName>
                                        </p:attrNameLst>
                                      </p:cBhvr>
                                      <p:tavLst>
                                        <p:tav tm="0">
                                          <p:val>
                                            <p:strVal val="ppt_y"/>
                                          </p:val>
                                        </p:tav>
                                        <p:tav tm="100000">
                                          <p:val>
                                            <p:strVal val="1+ppt_h/2"/>
                                          </p:val>
                                        </p:tav>
                                      </p:tavLst>
                                    </p:anim>
                                    <p:set>
                                      <p:cBhvr>
                                        <p:cTn id="32" dur="1" fill="hold">
                                          <p:stCondLst>
                                            <p:cond delay="499"/>
                                          </p:stCondLst>
                                        </p:cTn>
                                        <p:tgtEl>
                                          <p:spTgt spid="1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p:cTn id="36" dur="500"/>
                                        <p:tgtEl>
                                          <p:spTgt spid="20"/>
                                        </p:tgtEl>
                                        <p:attrNameLst>
                                          <p:attrName>ppt_x</p:attrName>
                                        </p:attrNameLst>
                                      </p:cBhvr>
                                      <p:tavLst>
                                        <p:tav tm="0">
                                          <p:val>
                                            <p:strVal val="ppt_x"/>
                                          </p:val>
                                        </p:tav>
                                        <p:tav tm="100000">
                                          <p:val>
                                            <p:strVal val="ppt_x"/>
                                          </p:val>
                                        </p:tav>
                                      </p:tavLst>
                                    </p:anim>
                                    <p:anim calcmode="lin" valueType="num">
                                      <p:cBhvr>
                                        <p:cTn id="37" dur="500"/>
                                        <p:tgtEl>
                                          <p:spTgt spid="20"/>
                                        </p:tgtEl>
                                        <p:attrNameLst>
                                          <p:attrName>ppt_y</p:attrName>
                                        </p:attrNameLst>
                                      </p:cBhvr>
                                      <p:tavLst>
                                        <p:tav tm="0">
                                          <p:val>
                                            <p:strVal val="ppt_y"/>
                                          </p:val>
                                        </p:tav>
                                        <p:tav tm="100000">
                                          <p:val>
                                            <p:strVal val="1+ppt_h/2"/>
                                          </p:val>
                                        </p:tav>
                                      </p:tavLst>
                                    </p:anim>
                                    <p:set>
                                      <p:cBhvr>
                                        <p:cTn id="38" dur="1" fill="hold">
                                          <p:stCondLst>
                                            <p:cond delay="499"/>
                                          </p:stCondLst>
                                        </p:cTn>
                                        <p:tgtEl>
                                          <p:spTgt spid="2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p:cTn id="42" dur="500"/>
                                        <p:tgtEl>
                                          <p:spTgt spid="21"/>
                                        </p:tgtEl>
                                        <p:attrNameLst>
                                          <p:attrName>ppt_x</p:attrName>
                                        </p:attrNameLst>
                                      </p:cBhvr>
                                      <p:tavLst>
                                        <p:tav tm="0">
                                          <p:val>
                                            <p:strVal val="ppt_x"/>
                                          </p:val>
                                        </p:tav>
                                        <p:tav tm="100000">
                                          <p:val>
                                            <p:strVal val="ppt_x"/>
                                          </p:val>
                                        </p:tav>
                                      </p:tavLst>
                                    </p:anim>
                                    <p:anim calcmode="lin" valueType="num">
                                      <p:cBhvr>
                                        <p:cTn id="43" dur="500"/>
                                        <p:tgtEl>
                                          <p:spTgt spid="21"/>
                                        </p:tgtEl>
                                        <p:attrNameLst>
                                          <p:attrName>ppt_y</p:attrName>
                                        </p:attrNameLst>
                                      </p:cBhvr>
                                      <p:tavLst>
                                        <p:tav tm="0">
                                          <p:val>
                                            <p:strVal val="ppt_y"/>
                                          </p:val>
                                        </p:tav>
                                        <p:tav tm="100000">
                                          <p:val>
                                            <p:strVal val="1+ppt_h/2"/>
                                          </p:val>
                                        </p:tav>
                                      </p:tavLst>
                                    </p:anim>
                                    <p:set>
                                      <p:cBhvr>
                                        <p:cTn id="44" dur="1" fill="hold">
                                          <p:stCondLst>
                                            <p:cond delay="499"/>
                                          </p:stCondLst>
                                        </p:cTn>
                                        <p:tgtEl>
                                          <p:spTgt spid="2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0" nodeType="clickEffect">
                                  <p:stCondLst>
                                    <p:cond delay="0"/>
                                  </p:stCondLst>
                                  <p:childTnLst>
                                    <p:anim calcmode="lin" valueType="num">
                                      <p:cBhvr>
                                        <p:cTn id="48" dur="500"/>
                                        <p:tgtEl>
                                          <p:spTgt spid="8"/>
                                        </p:tgtEl>
                                        <p:attrNameLst>
                                          <p:attrName>ppt_x</p:attrName>
                                        </p:attrNameLst>
                                      </p:cBhvr>
                                      <p:tavLst>
                                        <p:tav tm="0">
                                          <p:val>
                                            <p:strVal val="ppt_x"/>
                                          </p:val>
                                        </p:tav>
                                        <p:tav tm="100000">
                                          <p:val>
                                            <p:strVal val="ppt_x"/>
                                          </p:val>
                                        </p:tav>
                                      </p:tavLst>
                                    </p:anim>
                                    <p:anim calcmode="lin" valueType="num">
                                      <p:cBhvr>
                                        <p:cTn id="49" dur="500"/>
                                        <p:tgtEl>
                                          <p:spTgt spid="8"/>
                                        </p:tgtEl>
                                        <p:attrNameLst>
                                          <p:attrName>ppt_y</p:attrName>
                                        </p:attrNameLst>
                                      </p:cBhvr>
                                      <p:tavLst>
                                        <p:tav tm="0">
                                          <p:val>
                                            <p:strVal val="ppt_y"/>
                                          </p:val>
                                        </p:tav>
                                        <p:tav tm="100000">
                                          <p:val>
                                            <p:strVal val="1+ppt_h/2"/>
                                          </p:val>
                                        </p:tav>
                                      </p:tavLst>
                                    </p:anim>
                                    <p:set>
                                      <p:cBhvr>
                                        <p:cTn id="50" dur="1" fill="hold">
                                          <p:stCondLst>
                                            <p:cond delay="499"/>
                                          </p:stCondLst>
                                        </p:cTn>
                                        <p:tgtEl>
                                          <p:spTgt spid="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grpId="0" nodeType="clickEffect">
                                  <p:stCondLst>
                                    <p:cond delay="0"/>
                                  </p:stCondLst>
                                  <p:childTnLst>
                                    <p:anim calcmode="lin" valueType="num">
                                      <p:cBhvr>
                                        <p:cTn id="54" dur="500"/>
                                        <p:tgtEl>
                                          <p:spTgt spid="9"/>
                                        </p:tgtEl>
                                        <p:attrNameLst>
                                          <p:attrName>ppt_x</p:attrName>
                                        </p:attrNameLst>
                                      </p:cBhvr>
                                      <p:tavLst>
                                        <p:tav tm="0">
                                          <p:val>
                                            <p:strVal val="ppt_x"/>
                                          </p:val>
                                        </p:tav>
                                        <p:tav tm="100000">
                                          <p:val>
                                            <p:strVal val="ppt_x"/>
                                          </p:val>
                                        </p:tav>
                                      </p:tavLst>
                                    </p:anim>
                                    <p:anim calcmode="lin" valueType="num">
                                      <p:cBhvr>
                                        <p:cTn id="55" dur="500"/>
                                        <p:tgtEl>
                                          <p:spTgt spid="9"/>
                                        </p:tgtEl>
                                        <p:attrNameLst>
                                          <p:attrName>ppt_y</p:attrName>
                                        </p:attrNameLst>
                                      </p:cBhvr>
                                      <p:tavLst>
                                        <p:tav tm="0">
                                          <p:val>
                                            <p:strVal val="ppt_y"/>
                                          </p:val>
                                        </p:tav>
                                        <p:tav tm="100000">
                                          <p:val>
                                            <p:strVal val="1+ppt_h/2"/>
                                          </p:val>
                                        </p:tav>
                                      </p:tavLst>
                                    </p:anim>
                                    <p:set>
                                      <p:cBhvr>
                                        <p:cTn id="56" dur="1" fill="hold">
                                          <p:stCondLst>
                                            <p:cond delay="499"/>
                                          </p:stCondLst>
                                        </p:cTn>
                                        <p:tgtEl>
                                          <p:spTgt spid="9"/>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p:cTn id="60" dur="500"/>
                                        <p:tgtEl>
                                          <p:spTgt spid="10"/>
                                        </p:tgtEl>
                                        <p:attrNameLst>
                                          <p:attrName>ppt_x</p:attrName>
                                        </p:attrNameLst>
                                      </p:cBhvr>
                                      <p:tavLst>
                                        <p:tav tm="0">
                                          <p:val>
                                            <p:strVal val="ppt_x"/>
                                          </p:val>
                                        </p:tav>
                                        <p:tav tm="100000">
                                          <p:val>
                                            <p:strVal val="ppt_x"/>
                                          </p:val>
                                        </p:tav>
                                      </p:tavLst>
                                    </p:anim>
                                    <p:anim calcmode="lin" valueType="num">
                                      <p:cBhvr>
                                        <p:cTn id="61" dur="500"/>
                                        <p:tgtEl>
                                          <p:spTgt spid="10"/>
                                        </p:tgtEl>
                                        <p:attrNameLst>
                                          <p:attrName>ppt_y</p:attrName>
                                        </p:attrNameLst>
                                      </p:cBhvr>
                                      <p:tavLst>
                                        <p:tav tm="0">
                                          <p:val>
                                            <p:strVal val="ppt_y"/>
                                          </p:val>
                                        </p:tav>
                                        <p:tav tm="100000">
                                          <p:val>
                                            <p:strVal val="1+ppt_h/2"/>
                                          </p:val>
                                        </p:tav>
                                      </p:tavLst>
                                    </p:anim>
                                    <p:set>
                                      <p:cBhvr>
                                        <p:cTn id="62" dur="1" fill="hold">
                                          <p:stCondLst>
                                            <p:cond delay="499"/>
                                          </p:stCondLst>
                                        </p:cTn>
                                        <p:tgtEl>
                                          <p:spTgt spid="1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0" nodeType="clickEffect">
                                  <p:stCondLst>
                                    <p:cond delay="0"/>
                                  </p:stCondLst>
                                  <p:childTnLst>
                                    <p:anim calcmode="lin" valueType="num">
                                      <p:cBhvr>
                                        <p:cTn id="66" dur="500"/>
                                        <p:tgtEl>
                                          <p:spTgt spid="13"/>
                                        </p:tgtEl>
                                        <p:attrNameLst>
                                          <p:attrName>ppt_x</p:attrName>
                                        </p:attrNameLst>
                                      </p:cBhvr>
                                      <p:tavLst>
                                        <p:tav tm="0">
                                          <p:val>
                                            <p:strVal val="ppt_x"/>
                                          </p:val>
                                        </p:tav>
                                        <p:tav tm="100000">
                                          <p:val>
                                            <p:strVal val="ppt_x"/>
                                          </p:val>
                                        </p:tav>
                                      </p:tavLst>
                                    </p:anim>
                                    <p:anim calcmode="lin" valueType="num">
                                      <p:cBhvr>
                                        <p:cTn id="67" dur="500"/>
                                        <p:tgtEl>
                                          <p:spTgt spid="13"/>
                                        </p:tgtEl>
                                        <p:attrNameLst>
                                          <p:attrName>ppt_y</p:attrName>
                                        </p:attrNameLst>
                                      </p:cBhvr>
                                      <p:tavLst>
                                        <p:tav tm="0">
                                          <p:val>
                                            <p:strVal val="ppt_y"/>
                                          </p:val>
                                        </p:tav>
                                        <p:tav tm="100000">
                                          <p:val>
                                            <p:strVal val="1+ppt_h/2"/>
                                          </p:val>
                                        </p:tav>
                                      </p:tavLst>
                                    </p:anim>
                                    <p:set>
                                      <p:cBhvr>
                                        <p:cTn id="68" dur="1" fill="hold">
                                          <p:stCondLst>
                                            <p:cond delay="499"/>
                                          </p:stCondLst>
                                        </p:cTn>
                                        <p:tgtEl>
                                          <p:spTgt spid="13"/>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0" nodeType="clickEffect">
                                  <p:stCondLst>
                                    <p:cond delay="0"/>
                                  </p:stCondLst>
                                  <p:childTnLst>
                                    <p:anim calcmode="lin" valueType="num">
                                      <p:cBhvr>
                                        <p:cTn id="72" dur="500"/>
                                        <p:tgtEl>
                                          <p:spTgt spid="14"/>
                                        </p:tgtEl>
                                        <p:attrNameLst>
                                          <p:attrName>ppt_x</p:attrName>
                                        </p:attrNameLst>
                                      </p:cBhvr>
                                      <p:tavLst>
                                        <p:tav tm="0">
                                          <p:val>
                                            <p:strVal val="ppt_x"/>
                                          </p:val>
                                        </p:tav>
                                        <p:tav tm="100000">
                                          <p:val>
                                            <p:strVal val="ppt_x"/>
                                          </p:val>
                                        </p:tav>
                                      </p:tavLst>
                                    </p:anim>
                                    <p:anim calcmode="lin" valueType="num">
                                      <p:cBhvr>
                                        <p:cTn id="73" dur="500"/>
                                        <p:tgtEl>
                                          <p:spTgt spid="14"/>
                                        </p:tgtEl>
                                        <p:attrNameLst>
                                          <p:attrName>ppt_y</p:attrName>
                                        </p:attrNameLst>
                                      </p:cBhvr>
                                      <p:tavLst>
                                        <p:tav tm="0">
                                          <p:val>
                                            <p:strVal val="ppt_y"/>
                                          </p:val>
                                        </p:tav>
                                        <p:tav tm="100000">
                                          <p:val>
                                            <p:strVal val="1+ppt_h/2"/>
                                          </p:val>
                                        </p:tav>
                                      </p:tavLst>
                                    </p:anim>
                                    <p:set>
                                      <p:cBhvr>
                                        <p:cTn id="74" dur="1" fill="hold">
                                          <p:stCondLst>
                                            <p:cond delay="499"/>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xit" presetSubtype="4" fill="hold" grpId="0" nodeType="clickEffect">
                                  <p:stCondLst>
                                    <p:cond delay="0"/>
                                  </p:stCondLst>
                                  <p:childTnLst>
                                    <p:anim calcmode="lin" valueType="num">
                                      <p:cBhvr>
                                        <p:cTn id="78" dur="500"/>
                                        <p:tgtEl>
                                          <p:spTgt spid="15"/>
                                        </p:tgtEl>
                                        <p:attrNameLst>
                                          <p:attrName>ppt_x</p:attrName>
                                        </p:attrNameLst>
                                      </p:cBhvr>
                                      <p:tavLst>
                                        <p:tav tm="0">
                                          <p:val>
                                            <p:strVal val="ppt_x"/>
                                          </p:val>
                                        </p:tav>
                                        <p:tav tm="100000">
                                          <p:val>
                                            <p:strVal val="ppt_x"/>
                                          </p:val>
                                        </p:tav>
                                      </p:tavLst>
                                    </p:anim>
                                    <p:anim calcmode="lin" valueType="num">
                                      <p:cBhvr>
                                        <p:cTn id="79" dur="500"/>
                                        <p:tgtEl>
                                          <p:spTgt spid="15"/>
                                        </p:tgtEl>
                                        <p:attrNameLst>
                                          <p:attrName>ppt_y</p:attrName>
                                        </p:attrNameLst>
                                      </p:cBhvr>
                                      <p:tavLst>
                                        <p:tav tm="0">
                                          <p:val>
                                            <p:strVal val="ppt_y"/>
                                          </p:val>
                                        </p:tav>
                                        <p:tav tm="100000">
                                          <p:val>
                                            <p:strVal val="1+ppt_h/2"/>
                                          </p:val>
                                        </p:tav>
                                      </p:tavLst>
                                    </p:anim>
                                    <p:set>
                                      <p:cBhvr>
                                        <p:cTn id="80" dur="1" fill="hold">
                                          <p:stCondLst>
                                            <p:cond delay="499"/>
                                          </p:stCondLst>
                                        </p:cTn>
                                        <p:tgtEl>
                                          <p:spTgt spid="15"/>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0" nodeType="clickEffect">
                                  <p:stCondLst>
                                    <p:cond delay="0"/>
                                  </p:stCondLst>
                                  <p:childTnLst>
                                    <p:anim calcmode="lin" valueType="num">
                                      <p:cBhvr>
                                        <p:cTn id="84" dur="500"/>
                                        <p:tgtEl>
                                          <p:spTgt spid="22"/>
                                        </p:tgtEl>
                                        <p:attrNameLst>
                                          <p:attrName>ppt_x</p:attrName>
                                        </p:attrNameLst>
                                      </p:cBhvr>
                                      <p:tavLst>
                                        <p:tav tm="0">
                                          <p:val>
                                            <p:strVal val="ppt_x"/>
                                          </p:val>
                                        </p:tav>
                                        <p:tav tm="100000">
                                          <p:val>
                                            <p:strVal val="ppt_x"/>
                                          </p:val>
                                        </p:tav>
                                      </p:tavLst>
                                    </p:anim>
                                    <p:anim calcmode="lin" valueType="num">
                                      <p:cBhvr>
                                        <p:cTn id="85" dur="500"/>
                                        <p:tgtEl>
                                          <p:spTgt spid="22"/>
                                        </p:tgtEl>
                                        <p:attrNameLst>
                                          <p:attrName>ppt_y</p:attrName>
                                        </p:attrNameLst>
                                      </p:cBhvr>
                                      <p:tavLst>
                                        <p:tav tm="0">
                                          <p:val>
                                            <p:strVal val="ppt_y"/>
                                          </p:val>
                                        </p:tav>
                                        <p:tav tm="100000">
                                          <p:val>
                                            <p:strVal val="1+ppt_h/2"/>
                                          </p:val>
                                        </p:tav>
                                      </p:tavLst>
                                    </p:anim>
                                    <p:set>
                                      <p:cBhvr>
                                        <p:cTn id="8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11"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sp>
        <p:nvSpPr>
          <p:cNvPr id="7" name="Rectangle 6"/>
          <p:cNvSpPr txBox="1">
            <a:spLocks noChangeArrowheads="1"/>
          </p:cNvSpPr>
          <p:nvPr/>
        </p:nvSpPr>
        <p:spPr>
          <a:xfrm>
            <a:off x="392430" y="1053465"/>
            <a:ext cx="4088765" cy="30746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ct val="0"/>
              </a:spcBef>
              <a:spcAft>
                <a:spcPts val="0"/>
              </a:spcAft>
              <a:buNone/>
            </a:pPr>
            <a:r>
              <a:rPr lang="zh-CN" altLang="en-US" b="1" dirty="0">
                <a:solidFill>
                  <a:schemeClr val="tx1"/>
                </a:solidFill>
                <a:latin typeface="+mn-ea"/>
              </a:rPr>
              <a:t>文法规则</a:t>
            </a:r>
            <a:endParaRPr lang="en-US" altLang="zh-CN" b="1" i="1" dirty="0">
              <a:solidFill>
                <a:schemeClr val="tx1"/>
              </a:solidFill>
              <a:latin typeface="+mn-ea"/>
            </a:endParaRPr>
          </a:p>
          <a:p>
            <a:pPr>
              <a:lnSpc>
                <a:spcPct val="120000"/>
              </a:lnSpc>
              <a:spcBef>
                <a:spcPct val="0"/>
              </a:spcBef>
              <a:spcAft>
                <a:spcPts val="0"/>
              </a:spcAft>
              <a:buFont typeface="Wingdings" panose="05000000000000000000" pitchFamily="2" charset="2"/>
              <a:buNone/>
            </a:pPr>
            <a:r>
              <a:rPr lang="en-US" altLang="zh-CN" sz="2400" b="1" i="1" dirty="0">
                <a:solidFill>
                  <a:srgbClr val="000000"/>
                </a:solidFill>
                <a:latin typeface="+mn-ea"/>
              </a:rPr>
              <a:t>based-num</a:t>
            </a:r>
            <a:r>
              <a:rPr lang="en-US" altLang="zh-CN" sz="2400" b="1" dirty="0">
                <a:solidFill>
                  <a:srgbClr val="000000"/>
                </a:solidFill>
                <a:latin typeface="+mn-ea"/>
              </a:rPr>
              <a:t>→</a:t>
            </a:r>
            <a:r>
              <a:rPr lang="en-US" altLang="zh-CN" sz="2400" b="1" i="1" dirty="0">
                <a:solidFill>
                  <a:srgbClr val="000000"/>
                </a:solidFill>
                <a:latin typeface="+mn-ea"/>
              </a:rPr>
              <a:t>num </a:t>
            </a:r>
            <a:r>
              <a:rPr lang="en-US" altLang="zh-CN" sz="2400" b="1" i="1" dirty="0" err="1">
                <a:solidFill>
                  <a:srgbClr val="000000"/>
                </a:solidFill>
                <a:latin typeface="+mn-ea"/>
              </a:rPr>
              <a:t>basechar</a:t>
            </a:r>
            <a:r>
              <a:rPr lang="en-US" altLang="zh-CN" sz="2400" b="1" dirty="0">
                <a:latin typeface="+mn-ea"/>
              </a:rPr>
              <a:t> </a:t>
            </a:r>
            <a:endParaRPr lang="en-US" altLang="zh-CN" sz="2400" b="1" dirty="0">
              <a:latin typeface="+mn-ea"/>
            </a:endParaRPr>
          </a:p>
          <a:p>
            <a:pPr>
              <a:lnSpc>
                <a:spcPct val="120000"/>
              </a:lnSpc>
              <a:spcBef>
                <a:spcPct val="0"/>
              </a:spcBef>
              <a:spcAft>
                <a:spcPts val="0"/>
              </a:spcAft>
              <a:buFont typeface="Wingdings" panose="05000000000000000000" pitchFamily="2" charset="2"/>
              <a:buNone/>
            </a:pPr>
            <a:endParaRPr lang="en-US" altLang="zh-CN" sz="2400" b="1" i="1" dirty="0" err="1">
              <a:solidFill>
                <a:srgbClr val="000000"/>
              </a:solidFill>
              <a:latin typeface="+mn-ea"/>
            </a:endParaRPr>
          </a:p>
          <a:p>
            <a:pPr>
              <a:lnSpc>
                <a:spcPct val="120000"/>
              </a:lnSpc>
              <a:spcBef>
                <a:spcPct val="0"/>
              </a:spcBef>
              <a:spcAft>
                <a:spcPts val="0"/>
              </a:spcAft>
              <a:buFont typeface="Wingdings" panose="05000000000000000000" pitchFamily="2" charset="2"/>
              <a:buNone/>
            </a:pPr>
            <a:endParaRPr lang="en-US" altLang="zh-CN" sz="2400" b="1" i="1" dirty="0" err="1">
              <a:solidFill>
                <a:srgbClr val="000000"/>
              </a:solidFill>
              <a:latin typeface="+mn-ea"/>
            </a:endParaRPr>
          </a:p>
          <a:p>
            <a:pPr>
              <a:lnSpc>
                <a:spcPct val="120000"/>
              </a:lnSpc>
              <a:spcBef>
                <a:spcPct val="0"/>
              </a:spcBef>
              <a:spcAft>
                <a:spcPts val="0"/>
              </a:spcAft>
              <a:buFont typeface="Wingdings" panose="05000000000000000000" pitchFamily="2" charset="2"/>
              <a:buNone/>
            </a:pPr>
            <a:r>
              <a:rPr lang="en-US" altLang="zh-CN" sz="2400" b="1" i="1" dirty="0" err="1">
                <a:solidFill>
                  <a:srgbClr val="000000"/>
                </a:solidFill>
                <a:latin typeface="+mn-ea"/>
              </a:rPr>
              <a:t>Basechar</a:t>
            </a:r>
            <a:r>
              <a:rPr lang="en-US" altLang="zh-CN" sz="2400" b="1" i="1" dirty="0">
                <a:solidFill>
                  <a:srgbClr val="000000"/>
                </a:solidFill>
                <a:latin typeface="+mn-ea"/>
              </a:rPr>
              <a:t> </a:t>
            </a:r>
            <a:r>
              <a:rPr lang="en-US" altLang="zh-CN" sz="2400" b="1" dirty="0">
                <a:solidFill>
                  <a:srgbClr val="000000"/>
                </a:solidFill>
                <a:latin typeface="+mn-ea"/>
              </a:rPr>
              <a:t>→o</a:t>
            </a:r>
            <a:endParaRPr lang="en-US" altLang="zh-CN" sz="2400" b="1" dirty="0">
              <a:solidFill>
                <a:srgbClr val="000000"/>
              </a:solidFill>
              <a:latin typeface="+mn-ea"/>
            </a:endParaRPr>
          </a:p>
          <a:p>
            <a:pPr>
              <a:lnSpc>
                <a:spcPct val="120000"/>
              </a:lnSpc>
              <a:spcBef>
                <a:spcPct val="0"/>
              </a:spcBef>
              <a:spcAft>
                <a:spcPts val="0"/>
              </a:spcAft>
              <a:buFont typeface="Wingdings" panose="05000000000000000000" pitchFamily="2" charset="2"/>
              <a:buNone/>
            </a:pPr>
            <a:r>
              <a:rPr lang="en-US" altLang="zh-CN" sz="2400" b="1" i="1" dirty="0" err="1">
                <a:solidFill>
                  <a:srgbClr val="000000"/>
                </a:solidFill>
                <a:latin typeface="+mn-ea"/>
              </a:rPr>
              <a:t>basechar</a:t>
            </a:r>
            <a:r>
              <a:rPr lang="en-US" altLang="zh-CN" sz="2400" b="1" dirty="0" err="1">
                <a:solidFill>
                  <a:srgbClr val="000000"/>
                </a:solidFill>
                <a:latin typeface="+mn-ea"/>
              </a:rPr>
              <a:t>→d</a:t>
            </a:r>
            <a:endParaRPr lang="zh-CN" altLang="en-US" sz="2400" b="1" dirty="0">
              <a:solidFill>
                <a:srgbClr val="000000"/>
              </a:solidFill>
              <a:latin typeface="+mn-ea"/>
            </a:endParaRPr>
          </a:p>
        </p:txBody>
      </p:sp>
      <p:sp>
        <p:nvSpPr>
          <p:cNvPr id="8" name="Rectangle 7"/>
          <p:cNvSpPr txBox="1">
            <a:spLocks noChangeArrowheads="1"/>
          </p:cNvSpPr>
          <p:nvPr/>
        </p:nvSpPr>
        <p:spPr>
          <a:xfrm>
            <a:off x="2359660" y="1053465"/>
            <a:ext cx="3834130" cy="27158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spcAft>
                <a:spcPts val="0"/>
              </a:spcAft>
              <a:buNone/>
            </a:pPr>
            <a:r>
              <a:rPr lang="zh-CN" altLang="en-US" b="1" dirty="0">
                <a:solidFill>
                  <a:srgbClr val="0070C0"/>
                </a:solidFill>
                <a:latin typeface="+mn-ea"/>
              </a:rPr>
              <a:t>语义规则</a:t>
            </a:r>
            <a:endParaRPr lang="zh-CN" altLang="en-US" b="1" dirty="0">
              <a:solidFill>
                <a:srgbClr val="0070C0"/>
              </a:solidFill>
              <a:latin typeface="+mn-ea"/>
            </a:endParaRPr>
          </a:p>
          <a:p>
            <a:pPr marL="0" indent="0">
              <a:lnSpc>
                <a:spcPct val="120000"/>
              </a:lnSpc>
              <a:spcBef>
                <a:spcPts val="0"/>
              </a:spcBef>
              <a:spcAft>
                <a:spcPts val="0"/>
              </a:spcAft>
              <a:buNone/>
            </a:pPr>
            <a:endParaRPr lang="en-US" altLang="zh-CN" sz="2400" b="1" i="1" dirty="0">
              <a:solidFill>
                <a:srgbClr val="000000"/>
              </a:solidFill>
              <a:latin typeface="+mn-ea"/>
            </a:endParaRPr>
          </a:p>
          <a:p>
            <a:pPr>
              <a:lnSpc>
                <a:spcPct val="120000"/>
              </a:lnSpc>
              <a:spcBef>
                <a:spcPts val="0"/>
              </a:spcBef>
              <a:spcAft>
                <a:spcPts val="0"/>
              </a:spcAft>
              <a:buFont typeface="Wingdings" panose="05000000000000000000" pitchFamily="2" charset="2"/>
              <a:buNone/>
            </a:pPr>
            <a:r>
              <a:rPr lang="en-US" altLang="zh-CN" sz="2400" b="1" i="1" dirty="0">
                <a:solidFill>
                  <a:schemeClr val="accent1"/>
                </a:solidFill>
                <a:latin typeface="+mn-ea"/>
              </a:rPr>
              <a:t>based-</a:t>
            </a:r>
            <a:r>
              <a:rPr lang="en-US" altLang="zh-CN" sz="2400" b="1" i="1" dirty="0" err="1">
                <a:solidFill>
                  <a:schemeClr val="accent1"/>
                </a:solidFill>
                <a:latin typeface="+mn-ea"/>
              </a:rPr>
              <a:t>num</a:t>
            </a:r>
            <a:r>
              <a:rPr lang="en-US" altLang="zh-CN" sz="2400" b="1" dirty="0" err="1">
                <a:solidFill>
                  <a:schemeClr val="accent1"/>
                </a:solidFill>
                <a:latin typeface="+mn-ea"/>
              </a:rPr>
              <a:t>.val</a:t>
            </a:r>
            <a:r>
              <a:rPr lang="en-US" altLang="zh-CN" sz="2400" b="1" dirty="0">
                <a:solidFill>
                  <a:schemeClr val="accent1"/>
                </a:solidFill>
                <a:latin typeface="+mn-ea"/>
              </a:rPr>
              <a:t>=</a:t>
            </a:r>
            <a:r>
              <a:rPr lang="en-US" altLang="zh-CN" sz="2400" b="1" i="1" dirty="0" err="1">
                <a:solidFill>
                  <a:schemeClr val="accent1"/>
                </a:solidFill>
                <a:latin typeface="+mn-ea"/>
              </a:rPr>
              <a:t>num</a:t>
            </a:r>
            <a:r>
              <a:rPr lang="en-US" altLang="zh-CN" sz="2400" b="1" dirty="0" err="1">
                <a:solidFill>
                  <a:schemeClr val="accent1"/>
                </a:solidFill>
                <a:latin typeface="+mn-ea"/>
              </a:rPr>
              <a:t>.val</a:t>
            </a:r>
            <a:endParaRPr lang="en-US" altLang="zh-CN" sz="2400" b="1" dirty="0">
              <a:solidFill>
                <a:schemeClr val="accent1"/>
              </a:solidFill>
              <a:latin typeface="+mn-ea"/>
            </a:endParaRPr>
          </a:p>
          <a:p>
            <a:pPr>
              <a:lnSpc>
                <a:spcPct val="120000"/>
              </a:lnSpc>
              <a:spcBef>
                <a:spcPts val="0"/>
              </a:spcBef>
              <a:spcAft>
                <a:spcPts val="0"/>
              </a:spcAft>
              <a:buFont typeface="Wingdings" panose="05000000000000000000" pitchFamily="2" charset="2"/>
              <a:buNone/>
            </a:pPr>
            <a:r>
              <a:rPr lang="en-US" altLang="zh-CN" sz="2400" b="1" i="1" dirty="0" err="1">
                <a:solidFill>
                  <a:srgbClr val="0070C0"/>
                </a:solidFill>
                <a:latin typeface="+mn-ea"/>
              </a:rPr>
              <a:t>num</a:t>
            </a:r>
            <a:r>
              <a:rPr lang="en-US" altLang="zh-CN" sz="2400" b="1" dirty="0" err="1">
                <a:solidFill>
                  <a:srgbClr val="0070C0"/>
                </a:solidFill>
                <a:latin typeface="+mn-ea"/>
              </a:rPr>
              <a:t>.base</a:t>
            </a:r>
            <a:r>
              <a:rPr lang="en-US" altLang="zh-CN" sz="2400" b="1" dirty="0">
                <a:solidFill>
                  <a:srgbClr val="0070C0"/>
                </a:solidFill>
                <a:latin typeface="+mn-ea"/>
              </a:rPr>
              <a:t>=</a:t>
            </a:r>
            <a:r>
              <a:rPr lang="en-US" altLang="zh-CN" sz="2400" b="1" i="1" dirty="0" err="1">
                <a:solidFill>
                  <a:srgbClr val="0070C0"/>
                </a:solidFill>
                <a:latin typeface="+mn-ea"/>
              </a:rPr>
              <a:t>basechar</a:t>
            </a:r>
            <a:r>
              <a:rPr lang="en-US" altLang="zh-CN" sz="2400" b="1" dirty="0" err="1">
                <a:solidFill>
                  <a:srgbClr val="0070C0"/>
                </a:solidFill>
                <a:latin typeface="+mn-ea"/>
              </a:rPr>
              <a:t>.base</a:t>
            </a:r>
            <a:endParaRPr lang="en-US" altLang="zh-CN" sz="2400" b="1" dirty="0">
              <a:solidFill>
                <a:srgbClr val="0070C0"/>
              </a:solidFill>
              <a:latin typeface="+mn-ea"/>
            </a:endParaRPr>
          </a:p>
          <a:p>
            <a:pPr>
              <a:lnSpc>
                <a:spcPct val="120000"/>
              </a:lnSpc>
              <a:spcBef>
                <a:spcPts val="0"/>
              </a:spcBef>
              <a:spcAft>
                <a:spcPts val="0"/>
              </a:spcAft>
              <a:buFont typeface="Wingdings" panose="05000000000000000000" pitchFamily="2" charset="2"/>
              <a:buNone/>
            </a:pPr>
            <a:r>
              <a:rPr lang="en-US" altLang="zh-CN" sz="2400" b="1" i="1" dirty="0" err="1">
                <a:solidFill>
                  <a:srgbClr val="0070C0"/>
                </a:solidFill>
                <a:latin typeface="+mn-ea"/>
              </a:rPr>
              <a:t>basechar</a:t>
            </a:r>
            <a:r>
              <a:rPr lang="en-US" altLang="zh-CN" sz="2400" b="1" dirty="0" err="1">
                <a:solidFill>
                  <a:srgbClr val="0070C0"/>
                </a:solidFill>
                <a:latin typeface="+mn-ea"/>
              </a:rPr>
              <a:t>.base</a:t>
            </a:r>
            <a:r>
              <a:rPr lang="en-US" altLang="zh-CN" sz="2400" b="1" dirty="0">
                <a:solidFill>
                  <a:srgbClr val="0070C0"/>
                </a:solidFill>
                <a:latin typeface="+mn-ea"/>
              </a:rPr>
              <a:t>=8</a:t>
            </a:r>
            <a:endParaRPr lang="en-US" altLang="zh-CN" sz="2400" b="1" dirty="0">
              <a:solidFill>
                <a:srgbClr val="0070C0"/>
              </a:solidFill>
              <a:latin typeface="+mn-ea"/>
            </a:endParaRPr>
          </a:p>
          <a:p>
            <a:pPr>
              <a:lnSpc>
                <a:spcPct val="120000"/>
              </a:lnSpc>
              <a:spcBef>
                <a:spcPts val="0"/>
              </a:spcBef>
              <a:spcAft>
                <a:spcPts val="0"/>
              </a:spcAft>
              <a:buFont typeface="Wingdings" panose="05000000000000000000" pitchFamily="2" charset="2"/>
              <a:buNone/>
            </a:pPr>
            <a:r>
              <a:rPr lang="en-US" altLang="zh-CN" sz="2400" b="1" i="1" dirty="0" err="1">
                <a:solidFill>
                  <a:srgbClr val="0070C0"/>
                </a:solidFill>
                <a:latin typeface="+mn-ea"/>
              </a:rPr>
              <a:t>basechar</a:t>
            </a:r>
            <a:r>
              <a:rPr lang="en-US" altLang="zh-CN" sz="2400" b="1" dirty="0" err="1">
                <a:solidFill>
                  <a:srgbClr val="0070C0"/>
                </a:solidFill>
                <a:latin typeface="+mn-ea"/>
              </a:rPr>
              <a:t>.base</a:t>
            </a:r>
            <a:r>
              <a:rPr lang="en-US" altLang="zh-CN" sz="2400" b="1" dirty="0">
                <a:solidFill>
                  <a:srgbClr val="0070C0"/>
                </a:solidFill>
                <a:latin typeface="+mn-ea"/>
              </a:rPr>
              <a:t>=10</a:t>
            </a:r>
            <a:endParaRPr lang="zh-CN" altLang="en-US" sz="2400" b="1" dirty="0">
              <a:solidFill>
                <a:srgbClr val="0070C0"/>
              </a:solidFill>
              <a:latin typeface="+mn-ea"/>
            </a:endParaRPr>
          </a:p>
        </p:txBody>
      </p:sp>
      <p:sp>
        <p:nvSpPr>
          <p:cNvPr id="2" name="Rectangle 2"/>
          <p:cNvSpPr>
            <a:spLocks noChangeArrowheads="1"/>
          </p:cNvSpPr>
          <p:nvPr/>
        </p:nvSpPr>
        <p:spPr bwMode="auto">
          <a:xfrm>
            <a:off x="6193790" y="1536065"/>
            <a:ext cx="5634990" cy="3680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50"/>
              </a:spcBef>
              <a:spcAft>
                <a:spcPts val="0"/>
              </a:spcAft>
            </a:pPr>
            <a:r>
              <a:rPr lang="en-US" altLang="zh-CN" sz="2400" b="1" i="1" dirty="0">
                <a:solidFill>
                  <a:srgbClr val="000000"/>
                </a:solidFill>
                <a:latin typeface="+mn-ea"/>
                <a:ea typeface="+mn-ea"/>
              </a:rPr>
              <a:t>num1</a:t>
            </a:r>
            <a:r>
              <a:rPr lang="en-US" altLang="zh-CN" sz="2400" b="1" dirty="0">
                <a:solidFill>
                  <a:srgbClr val="000000"/>
                </a:solidFill>
                <a:latin typeface="+mn-ea"/>
                <a:ea typeface="+mn-ea"/>
              </a:rPr>
              <a:t>→</a:t>
            </a:r>
            <a:r>
              <a:rPr lang="en-US" altLang="zh-CN" sz="2400" b="1" i="1" dirty="0">
                <a:solidFill>
                  <a:srgbClr val="000000"/>
                </a:solidFill>
                <a:latin typeface="+mn-ea"/>
                <a:ea typeface="+mn-ea"/>
              </a:rPr>
              <a:t>num2 digit</a:t>
            </a:r>
            <a:r>
              <a:rPr lang="en-US" altLang="zh-CN" sz="2400" b="1" dirty="0">
                <a:solidFill>
                  <a:srgbClr val="000000"/>
                </a:solidFill>
                <a:latin typeface="+mn-ea"/>
                <a:ea typeface="+mn-ea"/>
              </a:rPr>
              <a:t> </a:t>
            </a:r>
            <a:endParaRPr lang="en-US" altLang="zh-CN" sz="2400" b="1" dirty="0">
              <a:solidFill>
                <a:srgbClr val="000000"/>
              </a:solidFill>
              <a:latin typeface="+mn-ea"/>
              <a:ea typeface="+mn-ea"/>
            </a:endParaRPr>
          </a:p>
          <a:p>
            <a:pPr>
              <a:lnSpc>
                <a:spcPct val="120000"/>
              </a:lnSpc>
              <a:spcBef>
                <a:spcPts val="50"/>
              </a:spcBef>
              <a:spcAft>
                <a:spcPts val="0"/>
              </a:spcAft>
            </a:pPr>
            <a:r>
              <a:rPr lang="en-US" altLang="zh-CN" sz="2400" b="1" dirty="0">
                <a:solidFill>
                  <a:srgbClr val="000000"/>
                </a:solidFill>
                <a:latin typeface="+mn-ea"/>
                <a:ea typeface="+mn-ea"/>
              </a:rPr>
              <a:t> </a:t>
            </a:r>
            <a:r>
              <a:rPr lang="en-US" altLang="zh-CN" sz="2400" b="1" dirty="0">
                <a:solidFill>
                  <a:schemeClr val="accent1"/>
                </a:solidFill>
                <a:latin typeface="+mn-ea"/>
                <a:ea typeface="+mn-ea"/>
              </a:rPr>
              <a:t> if </a:t>
            </a:r>
            <a:r>
              <a:rPr lang="en-US" altLang="zh-CN" sz="2400" b="1" i="1" dirty="0" err="1">
                <a:solidFill>
                  <a:schemeClr val="accent1"/>
                </a:solidFill>
                <a:latin typeface="+mn-ea"/>
                <a:ea typeface="+mn-ea"/>
              </a:rPr>
              <a:t>digit</a:t>
            </a:r>
            <a:r>
              <a:rPr lang="en-US" altLang="zh-CN" sz="2400" b="1" dirty="0" err="1">
                <a:solidFill>
                  <a:schemeClr val="accent1"/>
                </a:solidFill>
                <a:latin typeface="+mn-ea"/>
                <a:ea typeface="+mn-ea"/>
              </a:rPr>
              <a:t>.val</a:t>
            </a:r>
            <a:r>
              <a:rPr lang="en-US" altLang="zh-CN" sz="2400" b="1" dirty="0">
                <a:solidFill>
                  <a:schemeClr val="accent1"/>
                </a:solidFill>
                <a:latin typeface="+mn-ea"/>
                <a:ea typeface="+mn-ea"/>
              </a:rPr>
              <a:t>=error or </a:t>
            </a:r>
            <a:r>
              <a:rPr lang="en-US" altLang="zh-CN" sz="2400" b="1" i="1" dirty="0">
                <a:solidFill>
                  <a:schemeClr val="accent1"/>
                </a:solidFill>
                <a:latin typeface="+mn-ea"/>
                <a:ea typeface="+mn-ea"/>
              </a:rPr>
              <a:t>num2</a:t>
            </a:r>
            <a:r>
              <a:rPr lang="en-US" altLang="zh-CN" sz="2400" b="1" dirty="0">
                <a:solidFill>
                  <a:schemeClr val="accent1"/>
                </a:solidFill>
                <a:latin typeface="+mn-ea"/>
                <a:ea typeface="+mn-ea"/>
              </a:rPr>
              <a:t>.val=error</a:t>
            </a:r>
            <a:endParaRPr lang="en-US" altLang="zh-CN" sz="2400" b="1" dirty="0">
              <a:solidFill>
                <a:schemeClr val="accent1"/>
              </a:solidFill>
              <a:latin typeface="+mn-ea"/>
              <a:ea typeface="+mn-ea"/>
            </a:endParaRPr>
          </a:p>
          <a:p>
            <a:pPr>
              <a:lnSpc>
                <a:spcPct val="120000"/>
              </a:lnSpc>
              <a:spcBef>
                <a:spcPts val="50"/>
              </a:spcBef>
              <a:spcAft>
                <a:spcPts val="0"/>
              </a:spcAft>
            </a:pPr>
            <a:r>
              <a:rPr lang="en-US" altLang="zh-CN" sz="2400" b="1" dirty="0">
                <a:solidFill>
                  <a:schemeClr val="accent1"/>
                </a:solidFill>
                <a:latin typeface="+mn-ea"/>
                <a:ea typeface="+mn-ea"/>
              </a:rPr>
              <a:t>      then  </a:t>
            </a:r>
            <a:r>
              <a:rPr lang="en-US" altLang="zh-CN" sz="2400" b="1" i="1" dirty="0">
                <a:solidFill>
                  <a:schemeClr val="accent1"/>
                </a:solidFill>
                <a:latin typeface="+mn-ea"/>
                <a:ea typeface="+mn-ea"/>
              </a:rPr>
              <a:t>num1</a:t>
            </a:r>
            <a:r>
              <a:rPr lang="en-US" altLang="zh-CN" sz="2400" b="1" dirty="0">
                <a:solidFill>
                  <a:schemeClr val="accent1"/>
                </a:solidFill>
                <a:latin typeface="+mn-ea"/>
                <a:ea typeface="+mn-ea"/>
              </a:rPr>
              <a:t>.val  = error</a:t>
            </a:r>
            <a:endParaRPr lang="en-US" altLang="zh-CN" sz="2400" b="1" dirty="0">
              <a:solidFill>
                <a:schemeClr val="accent1"/>
              </a:solidFill>
              <a:latin typeface="+mn-ea"/>
              <a:ea typeface="+mn-ea"/>
            </a:endParaRPr>
          </a:p>
          <a:p>
            <a:pPr>
              <a:lnSpc>
                <a:spcPct val="120000"/>
              </a:lnSpc>
              <a:spcBef>
                <a:spcPts val="50"/>
              </a:spcBef>
              <a:spcAft>
                <a:spcPts val="0"/>
              </a:spcAft>
            </a:pPr>
            <a:r>
              <a:rPr lang="en-US" altLang="zh-CN" sz="2400" b="1" dirty="0">
                <a:solidFill>
                  <a:schemeClr val="accent1"/>
                </a:solidFill>
                <a:latin typeface="+mn-ea"/>
                <a:ea typeface="+mn-ea"/>
              </a:rPr>
              <a:t>      else </a:t>
            </a:r>
            <a:endParaRPr lang="en-US" altLang="zh-CN" sz="2400" b="1" dirty="0">
              <a:solidFill>
                <a:schemeClr val="accent1"/>
              </a:solidFill>
              <a:latin typeface="+mn-ea"/>
              <a:ea typeface="+mn-ea"/>
            </a:endParaRPr>
          </a:p>
          <a:p>
            <a:pPr>
              <a:lnSpc>
                <a:spcPct val="120000"/>
              </a:lnSpc>
              <a:spcBef>
                <a:spcPts val="50"/>
              </a:spcBef>
              <a:spcAft>
                <a:spcPts val="0"/>
              </a:spcAft>
            </a:pPr>
            <a:r>
              <a:rPr lang="en-US" altLang="zh-CN" sz="2400" b="1" dirty="0">
                <a:solidFill>
                  <a:schemeClr val="accent1"/>
                </a:solidFill>
                <a:latin typeface="+mn-ea"/>
                <a:ea typeface="+mn-ea"/>
              </a:rPr>
              <a:t>    </a:t>
            </a:r>
            <a:r>
              <a:rPr lang="en-US" altLang="zh-CN" sz="2400" b="1" i="1" dirty="0">
                <a:solidFill>
                  <a:schemeClr val="accent1"/>
                </a:solidFill>
                <a:latin typeface="+mn-ea"/>
                <a:ea typeface="+mn-ea"/>
              </a:rPr>
              <a:t>num1</a:t>
            </a:r>
            <a:r>
              <a:rPr lang="en-US" altLang="zh-CN" sz="2400" b="1" dirty="0">
                <a:solidFill>
                  <a:schemeClr val="accent1"/>
                </a:solidFill>
                <a:latin typeface="+mn-ea"/>
                <a:ea typeface="+mn-ea"/>
              </a:rPr>
              <a:t>.val=</a:t>
            </a:r>
            <a:endParaRPr lang="en-US" altLang="zh-CN" sz="2400" b="1" dirty="0">
              <a:solidFill>
                <a:schemeClr val="accent1"/>
              </a:solidFill>
              <a:latin typeface="+mn-ea"/>
              <a:ea typeface="+mn-ea"/>
            </a:endParaRPr>
          </a:p>
          <a:p>
            <a:pPr>
              <a:lnSpc>
                <a:spcPct val="120000"/>
              </a:lnSpc>
              <a:spcBef>
                <a:spcPts val="50"/>
              </a:spcBef>
              <a:spcAft>
                <a:spcPts val="0"/>
              </a:spcAft>
            </a:pPr>
            <a:r>
              <a:rPr lang="en-US" altLang="zh-CN" sz="2400" b="1" dirty="0">
                <a:solidFill>
                  <a:schemeClr val="accent1"/>
                </a:solidFill>
                <a:latin typeface="+mn-ea"/>
                <a:ea typeface="+mn-ea"/>
              </a:rPr>
              <a:t>        </a:t>
            </a:r>
            <a:r>
              <a:rPr lang="en-US" altLang="zh-CN" sz="2400" b="1" i="1" dirty="0">
                <a:solidFill>
                  <a:schemeClr val="accent1"/>
                </a:solidFill>
                <a:latin typeface="+mn-ea"/>
                <a:ea typeface="+mn-ea"/>
              </a:rPr>
              <a:t>num2</a:t>
            </a:r>
            <a:r>
              <a:rPr lang="en-US" altLang="zh-CN" sz="2400" b="1" dirty="0">
                <a:solidFill>
                  <a:schemeClr val="accent1"/>
                </a:solidFill>
                <a:latin typeface="+mn-ea"/>
                <a:ea typeface="+mn-ea"/>
              </a:rPr>
              <a:t>.val*</a:t>
            </a:r>
            <a:r>
              <a:rPr lang="en-US" altLang="zh-CN" sz="2400" b="1" i="1" dirty="0">
                <a:solidFill>
                  <a:schemeClr val="accent1"/>
                </a:solidFill>
                <a:latin typeface="+mn-ea"/>
                <a:ea typeface="+mn-ea"/>
              </a:rPr>
              <a:t>num1</a:t>
            </a:r>
            <a:r>
              <a:rPr lang="en-US" altLang="zh-CN" sz="2400" b="1" dirty="0">
                <a:solidFill>
                  <a:schemeClr val="accent1"/>
                </a:solidFill>
                <a:latin typeface="+mn-ea"/>
                <a:ea typeface="+mn-ea"/>
              </a:rPr>
              <a:t>.base+</a:t>
            </a:r>
            <a:r>
              <a:rPr lang="en-US" altLang="zh-CN" sz="2400" b="1" i="1" dirty="0">
                <a:solidFill>
                  <a:schemeClr val="accent1"/>
                </a:solidFill>
                <a:latin typeface="+mn-ea"/>
                <a:ea typeface="+mn-ea"/>
              </a:rPr>
              <a:t>digit</a:t>
            </a:r>
            <a:r>
              <a:rPr lang="en-US" altLang="zh-CN" sz="2400" b="1" dirty="0">
                <a:solidFill>
                  <a:schemeClr val="accent1"/>
                </a:solidFill>
                <a:latin typeface="+mn-ea"/>
                <a:ea typeface="+mn-ea"/>
              </a:rPr>
              <a:t>.val</a:t>
            </a:r>
            <a:endParaRPr lang="en-US" altLang="zh-CN" sz="2400" b="1" dirty="0">
              <a:solidFill>
                <a:schemeClr val="accent1"/>
              </a:solidFill>
              <a:latin typeface="+mn-ea"/>
              <a:ea typeface="+mn-ea"/>
            </a:endParaRPr>
          </a:p>
          <a:p>
            <a:pPr lvl="1">
              <a:lnSpc>
                <a:spcPct val="120000"/>
              </a:lnSpc>
              <a:spcBef>
                <a:spcPts val="50"/>
              </a:spcBef>
              <a:spcAft>
                <a:spcPts val="0"/>
              </a:spcAft>
            </a:pPr>
            <a:r>
              <a:rPr lang="en-US" altLang="zh-CN" sz="2400" b="1" dirty="0">
                <a:solidFill>
                  <a:srgbClr val="0070C0"/>
                </a:solidFill>
                <a:latin typeface="+mn-ea"/>
                <a:ea typeface="+mn-ea"/>
              </a:rPr>
              <a:t>      </a:t>
            </a:r>
            <a:r>
              <a:rPr lang="en-US" altLang="zh-CN" sz="2400" b="1" i="1" dirty="0">
                <a:solidFill>
                  <a:srgbClr val="0070C0"/>
                </a:solidFill>
                <a:latin typeface="+mn-ea"/>
                <a:ea typeface="+mn-ea"/>
              </a:rPr>
              <a:t>num2</a:t>
            </a:r>
            <a:r>
              <a:rPr lang="en-US" altLang="zh-CN" sz="2400" b="1" dirty="0">
                <a:solidFill>
                  <a:srgbClr val="0070C0"/>
                </a:solidFill>
                <a:latin typeface="+mn-ea"/>
                <a:ea typeface="+mn-ea"/>
              </a:rPr>
              <a:t>.base=</a:t>
            </a:r>
            <a:r>
              <a:rPr lang="en-US" altLang="zh-CN" sz="2400" b="1" i="1" dirty="0">
                <a:solidFill>
                  <a:srgbClr val="0070C0"/>
                </a:solidFill>
                <a:latin typeface="+mn-ea"/>
                <a:ea typeface="+mn-ea"/>
              </a:rPr>
              <a:t>num1</a:t>
            </a:r>
            <a:r>
              <a:rPr lang="en-US" altLang="zh-CN" sz="2400" b="1" dirty="0">
                <a:solidFill>
                  <a:srgbClr val="0070C0"/>
                </a:solidFill>
                <a:latin typeface="+mn-ea"/>
                <a:ea typeface="+mn-ea"/>
              </a:rPr>
              <a:t>.base</a:t>
            </a:r>
            <a:endParaRPr lang="en-US" altLang="zh-CN" sz="2400" b="1" dirty="0">
              <a:solidFill>
                <a:srgbClr val="0070C0"/>
              </a:solidFill>
              <a:latin typeface="+mn-ea"/>
              <a:ea typeface="+mn-ea"/>
            </a:endParaRPr>
          </a:p>
          <a:p>
            <a:pPr lvl="1">
              <a:lnSpc>
                <a:spcPct val="120000"/>
              </a:lnSpc>
              <a:spcBef>
                <a:spcPts val="50"/>
              </a:spcBef>
              <a:spcAft>
                <a:spcPts val="0"/>
              </a:spcAft>
            </a:pPr>
            <a:r>
              <a:rPr lang="en-US" altLang="zh-CN" sz="2400" b="1" dirty="0">
                <a:solidFill>
                  <a:srgbClr val="0070C0"/>
                </a:solidFill>
                <a:latin typeface="+mn-ea"/>
                <a:ea typeface="+mn-ea"/>
              </a:rPr>
              <a:t>      </a:t>
            </a:r>
            <a:r>
              <a:rPr lang="en-US" altLang="zh-CN" sz="2400" b="1" i="1" dirty="0" err="1">
                <a:solidFill>
                  <a:srgbClr val="0070C0"/>
                </a:solidFill>
                <a:latin typeface="+mn-ea"/>
                <a:ea typeface="+mn-ea"/>
              </a:rPr>
              <a:t>digit</a:t>
            </a:r>
            <a:r>
              <a:rPr lang="en-US" altLang="zh-CN" sz="2400" b="1" dirty="0" err="1">
                <a:solidFill>
                  <a:srgbClr val="0070C0"/>
                </a:solidFill>
                <a:latin typeface="+mn-ea"/>
                <a:ea typeface="+mn-ea"/>
              </a:rPr>
              <a:t>.base</a:t>
            </a:r>
            <a:r>
              <a:rPr lang="en-US" altLang="zh-CN" sz="2400" b="1" dirty="0">
                <a:solidFill>
                  <a:srgbClr val="0070C0"/>
                </a:solidFill>
                <a:latin typeface="+mn-ea"/>
                <a:ea typeface="+mn-ea"/>
              </a:rPr>
              <a:t>=</a:t>
            </a:r>
            <a:r>
              <a:rPr lang="en-US" altLang="zh-CN" sz="2400" b="1" i="1" dirty="0">
                <a:solidFill>
                  <a:srgbClr val="0070C0"/>
                </a:solidFill>
                <a:latin typeface="+mn-ea"/>
                <a:ea typeface="+mn-ea"/>
              </a:rPr>
              <a:t>num1</a:t>
            </a:r>
            <a:r>
              <a:rPr lang="en-US" altLang="zh-CN" sz="2400" b="1" dirty="0">
                <a:solidFill>
                  <a:srgbClr val="0070C0"/>
                </a:solidFill>
                <a:latin typeface="+mn-ea"/>
                <a:ea typeface="+mn-ea"/>
              </a:rPr>
              <a:t>.base </a:t>
            </a:r>
            <a:endParaRPr lang="en-US" altLang="zh-CN" sz="2400" b="1" dirty="0">
              <a:solidFill>
                <a:srgbClr val="0070C0"/>
              </a:solidFill>
              <a:latin typeface="+mn-ea"/>
              <a:ea typeface="+mn-ea"/>
            </a:endParaRPr>
          </a:p>
        </p:txBody>
      </p:sp>
      <p:sp>
        <p:nvSpPr>
          <p:cNvPr id="3" name="Rectangle 5"/>
          <p:cNvSpPr>
            <a:spLocks noChangeArrowheads="1"/>
          </p:cNvSpPr>
          <p:nvPr>
            <p:custDataLst>
              <p:tags r:id="rId1"/>
            </p:custDataLst>
          </p:nvPr>
        </p:nvSpPr>
        <p:spPr bwMode="auto">
          <a:xfrm>
            <a:off x="6233479" y="1120458"/>
            <a:ext cx="5383212"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p>
            <a:pPr>
              <a:spcBef>
                <a:spcPct val="50000"/>
              </a:spcBef>
            </a:pPr>
            <a:r>
              <a:rPr lang="zh-CN" altLang="en-US" sz="2800" b="1" dirty="0">
                <a:solidFill>
                  <a:schemeClr val="tx1"/>
                </a:solidFill>
                <a:latin typeface="+mn-ea"/>
              </a:rPr>
              <a:t>文法规则 </a:t>
            </a:r>
            <a:r>
              <a:rPr lang="zh-CN" altLang="en-US" sz="2800" b="1" dirty="0">
                <a:solidFill>
                  <a:srgbClr val="0070C0"/>
                </a:solidFill>
                <a:latin typeface="+mn-ea"/>
              </a:rPr>
              <a:t>            语义规则</a:t>
            </a:r>
            <a:endParaRPr lang="zh-CN" altLang="en-US" sz="2800" b="1" dirty="0">
              <a:solidFill>
                <a:srgbClr val="0070C0"/>
              </a:solidFill>
              <a:latin typeface="+mn-ea"/>
            </a:endParaRPr>
          </a:p>
        </p:txBody>
      </p:sp>
      <p:sp>
        <p:nvSpPr>
          <p:cNvPr id="9" name="Rectangle 2"/>
          <p:cNvSpPr>
            <a:spLocks noChangeArrowheads="1"/>
          </p:cNvSpPr>
          <p:nvPr>
            <p:custDataLst>
              <p:tags r:id="rId2"/>
            </p:custDataLst>
          </p:nvPr>
        </p:nvSpPr>
        <p:spPr bwMode="auto">
          <a:xfrm>
            <a:off x="392430" y="3697605"/>
            <a:ext cx="22098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ts val="0"/>
              </a:spcBef>
              <a:spcAft>
                <a:spcPts val="0"/>
              </a:spcAft>
            </a:pPr>
            <a:r>
              <a:rPr lang="en-US" altLang="zh-CN" sz="2400" b="1" i="1">
                <a:solidFill>
                  <a:srgbClr val="000000"/>
                </a:solidFill>
                <a:latin typeface="+mn-ea"/>
              </a:rPr>
              <a:t>num</a:t>
            </a:r>
            <a:r>
              <a:rPr lang="en-US" altLang="zh-CN" sz="2400" b="1">
                <a:solidFill>
                  <a:srgbClr val="000000"/>
                </a:solidFill>
                <a:latin typeface="+mn-ea"/>
              </a:rPr>
              <a:t>→</a:t>
            </a:r>
            <a:r>
              <a:rPr lang="en-US" altLang="zh-CN" sz="2400" b="1" i="1">
                <a:solidFill>
                  <a:srgbClr val="000000"/>
                </a:solidFill>
                <a:latin typeface="+mn-ea"/>
              </a:rPr>
              <a:t>digit</a:t>
            </a:r>
            <a:endParaRPr lang="en-US" altLang="zh-CN" sz="2400" b="1">
              <a:solidFill>
                <a:srgbClr val="000000"/>
              </a:solidFill>
              <a:latin typeface="+mn-ea"/>
            </a:endParaRPr>
          </a:p>
          <a:p>
            <a:pPr>
              <a:lnSpc>
                <a:spcPct val="120000"/>
              </a:lnSpc>
              <a:spcBef>
                <a:spcPts val="0"/>
              </a:spcBef>
              <a:spcAft>
                <a:spcPts val="0"/>
              </a:spcAft>
            </a:pPr>
            <a:r>
              <a:rPr lang="en-US" altLang="zh-CN" sz="2400" b="1">
                <a:solidFill>
                  <a:srgbClr val="000000"/>
                </a:solidFill>
                <a:latin typeface="+mn-ea"/>
              </a:rPr>
              <a:t>                </a:t>
            </a:r>
            <a:endParaRPr lang="en-US" altLang="zh-CN" sz="2400" b="1">
              <a:solidFill>
                <a:srgbClr val="000000"/>
              </a:solidFill>
              <a:latin typeface="+mn-ea"/>
            </a:endParaRPr>
          </a:p>
          <a:p>
            <a:pPr>
              <a:lnSpc>
                <a:spcPct val="120000"/>
              </a:lnSpc>
              <a:spcBef>
                <a:spcPts val="0"/>
              </a:spcBef>
              <a:spcAft>
                <a:spcPts val="0"/>
              </a:spcAft>
            </a:pPr>
            <a:r>
              <a:rPr lang="en-US" altLang="zh-CN" sz="2400" b="1">
                <a:solidFill>
                  <a:srgbClr val="000000"/>
                </a:solidFill>
                <a:latin typeface="+mn-ea"/>
              </a:rPr>
              <a:t>......</a:t>
            </a:r>
            <a:endParaRPr lang="en-US" altLang="zh-CN" sz="2400" b="1">
              <a:solidFill>
                <a:srgbClr val="000000"/>
              </a:solidFill>
              <a:latin typeface="+mn-ea"/>
            </a:endParaRPr>
          </a:p>
          <a:p>
            <a:pPr>
              <a:lnSpc>
                <a:spcPct val="120000"/>
              </a:lnSpc>
              <a:spcBef>
                <a:spcPts val="0"/>
              </a:spcBef>
              <a:spcAft>
                <a:spcPts val="0"/>
              </a:spcAft>
            </a:pPr>
            <a:r>
              <a:rPr lang="en-US" altLang="zh-CN" sz="2400" b="1" i="1">
                <a:solidFill>
                  <a:srgbClr val="000000"/>
                </a:solidFill>
                <a:latin typeface="+mn-ea"/>
              </a:rPr>
              <a:t>digit</a:t>
            </a:r>
            <a:r>
              <a:rPr lang="en-US" altLang="zh-CN" sz="2400" b="1">
                <a:solidFill>
                  <a:srgbClr val="000000"/>
                </a:solidFill>
                <a:latin typeface="+mn-ea"/>
              </a:rPr>
              <a:t>→7                </a:t>
            </a:r>
            <a:endParaRPr lang="en-US" altLang="zh-CN" sz="2400" b="1" i="1">
              <a:solidFill>
                <a:srgbClr val="000000"/>
              </a:solidFill>
              <a:latin typeface="+mn-ea"/>
            </a:endParaRPr>
          </a:p>
        </p:txBody>
      </p:sp>
      <p:sp>
        <p:nvSpPr>
          <p:cNvPr id="13" name="Rectangle 5"/>
          <p:cNvSpPr>
            <a:spLocks noChangeArrowheads="1"/>
          </p:cNvSpPr>
          <p:nvPr>
            <p:custDataLst>
              <p:tags r:id="rId3"/>
            </p:custDataLst>
          </p:nvPr>
        </p:nvSpPr>
        <p:spPr bwMode="auto">
          <a:xfrm>
            <a:off x="2320925" y="3697605"/>
            <a:ext cx="3423285"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ts val="0"/>
              </a:spcBef>
              <a:spcAft>
                <a:spcPts val="0"/>
              </a:spcAft>
            </a:pPr>
            <a:r>
              <a:rPr lang="en-US" altLang="zh-CN" sz="2400" b="1" i="1" dirty="0" err="1">
                <a:solidFill>
                  <a:schemeClr val="accent1"/>
                </a:solidFill>
                <a:latin typeface="+mn-ea"/>
              </a:rPr>
              <a:t>num</a:t>
            </a:r>
            <a:r>
              <a:rPr lang="en-US" altLang="zh-CN" sz="2400" b="1" dirty="0" err="1">
                <a:solidFill>
                  <a:schemeClr val="accent1"/>
                </a:solidFill>
                <a:latin typeface="+mn-ea"/>
              </a:rPr>
              <a:t>.val</a:t>
            </a:r>
            <a:r>
              <a:rPr lang="en-US" altLang="zh-CN" sz="2400" b="1" dirty="0">
                <a:solidFill>
                  <a:schemeClr val="accent1"/>
                </a:solidFill>
                <a:latin typeface="+mn-ea"/>
              </a:rPr>
              <a:t>=</a:t>
            </a:r>
            <a:r>
              <a:rPr lang="en-US" altLang="zh-CN" sz="2400" b="1" i="1" dirty="0" err="1">
                <a:solidFill>
                  <a:schemeClr val="accent1"/>
                </a:solidFill>
                <a:latin typeface="+mn-ea"/>
              </a:rPr>
              <a:t>digit</a:t>
            </a:r>
            <a:r>
              <a:rPr lang="en-US" altLang="zh-CN" sz="2400" b="1" dirty="0" err="1">
                <a:solidFill>
                  <a:schemeClr val="accent1"/>
                </a:solidFill>
                <a:latin typeface="+mn-ea"/>
              </a:rPr>
              <a:t>.val</a:t>
            </a:r>
            <a:endParaRPr lang="en-US" altLang="zh-CN" sz="2400" b="1" dirty="0">
              <a:solidFill>
                <a:schemeClr val="accent1"/>
              </a:solidFill>
              <a:latin typeface="+mn-ea"/>
            </a:endParaRPr>
          </a:p>
          <a:p>
            <a:pPr>
              <a:lnSpc>
                <a:spcPct val="120000"/>
              </a:lnSpc>
              <a:spcBef>
                <a:spcPts val="0"/>
              </a:spcBef>
              <a:spcAft>
                <a:spcPts val="0"/>
              </a:spcAft>
            </a:pPr>
            <a:r>
              <a:rPr lang="en-US" altLang="zh-CN" sz="2400" b="1" i="1" dirty="0" err="1">
                <a:solidFill>
                  <a:schemeClr val="accent1"/>
                </a:solidFill>
                <a:latin typeface="+mn-ea"/>
              </a:rPr>
              <a:t>digit</a:t>
            </a:r>
            <a:r>
              <a:rPr lang="en-US" altLang="zh-CN" sz="2400" b="1" dirty="0" err="1">
                <a:solidFill>
                  <a:schemeClr val="accent1"/>
                </a:solidFill>
                <a:latin typeface="+mn-ea"/>
              </a:rPr>
              <a:t>.base</a:t>
            </a:r>
            <a:r>
              <a:rPr lang="en-US" altLang="zh-CN" sz="2400" b="1" dirty="0">
                <a:solidFill>
                  <a:schemeClr val="accent1"/>
                </a:solidFill>
                <a:latin typeface="+mn-ea"/>
              </a:rPr>
              <a:t> = </a:t>
            </a:r>
            <a:r>
              <a:rPr lang="en-US" altLang="zh-CN" sz="2400" b="1" i="1" dirty="0" err="1">
                <a:solidFill>
                  <a:schemeClr val="accent1"/>
                </a:solidFill>
                <a:latin typeface="+mn-ea"/>
              </a:rPr>
              <a:t>num</a:t>
            </a:r>
            <a:r>
              <a:rPr lang="en-US" altLang="zh-CN" sz="2400" b="1" dirty="0" err="1">
                <a:solidFill>
                  <a:schemeClr val="accent1"/>
                </a:solidFill>
                <a:latin typeface="+mn-ea"/>
              </a:rPr>
              <a:t>.base</a:t>
            </a:r>
            <a:endParaRPr lang="en-US" altLang="zh-CN" sz="2400" b="1" dirty="0">
              <a:solidFill>
                <a:schemeClr val="accent1"/>
              </a:solidFill>
              <a:latin typeface="+mn-ea"/>
            </a:endParaRPr>
          </a:p>
          <a:p>
            <a:pPr>
              <a:lnSpc>
                <a:spcPct val="120000"/>
              </a:lnSpc>
              <a:spcBef>
                <a:spcPts val="0"/>
              </a:spcBef>
              <a:spcAft>
                <a:spcPts val="0"/>
              </a:spcAft>
            </a:pPr>
            <a:r>
              <a:rPr lang="en-US" altLang="zh-CN" sz="2400" b="1" dirty="0">
                <a:solidFill>
                  <a:schemeClr val="accent1"/>
                </a:solidFill>
                <a:latin typeface="+mn-ea"/>
              </a:rPr>
              <a:t>......</a:t>
            </a:r>
            <a:endParaRPr lang="en-US" altLang="zh-CN" sz="2400" b="1" dirty="0">
              <a:solidFill>
                <a:schemeClr val="accent1"/>
              </a:solidFill>
              <a:latin typeface="+mn-ea"/>
            </a:endParaRPr>
          </a:p>
          <a:p>
            <a:pPr>
              <a:lnSpc>
                <a:spcPct val="120000"/>
              </a:lnSpc>
              <a:spcBef>
                <a:spcPts val="0"/>
              </a:spcBef>
              <a:spcAft>
                <a:spcPts val="0"/>
              </a:spcAft>
            </a:pPr>
            <a:r>
              <a:rPr lang="en-US" altLang="zh-CN" sz="2400" b="1" i="1" dirty="0" err="1">
                <a:solidFill>
                  <a:schemeClr val="accent1"/>
                </a:solidFill>
                <a:latin typeface="+mn-ea"/>
              </a:rPr>
              <a:t>digit</a:t>
            </a:r>
            <a:r>
              <a:rPr lang="en-US" altLang="zh-CN" sz="2400" b="1" dirty="0" err="1">
                <a:solidFill>
                  <a:schemeClr val="accent1"/>
                </a:solidFill>
                <a:latin typeface="+mn-ea"/>
              </a:rPr>
              <a:t>.val</a:t>
            </a:r>
            <a:r>
              <a:rPr lang="en-US" altLang="zh-CN" sz="2400" b="1" dirty="0">
                <a:solidFill>
                  <a:schemeClr val="accent1"/>
                </a:solidFill>
                <a:latin typeface="+mn-ea"/>
              </a:rPr>
              <a:t>=7</a:t>
            </a:r>
            <a:endParaRPr lang="en-US" altLang="zh-CN" sz="2400" b="1" dirty="0">
              <a:solidFill>
                <a:schemeClr val="accent1"/>
              </a:solidFill>
              <a:latin typeface="+mn-ea"/>
            </a:endParaRPr>
          </a:p>
        </p:txBody>
      </p:sp>
      <p:sp>
        <p:nvSpPr>
          <p:cNvPr id="4" name="Rectangle 2"/>
          <p:cNvSpPr>
            <a:spLocks noChangeArrowheads="1"/>
          </p:cNvSpPr>
          <p:nvPr>
            <p:custDataLst>
              <p:tags r:id="rId4"/>
            </p:custDataLst>
          </p:nvPr>
        </p:nvSpPr>
        <p:spPr bwMode="auto">
          <a:xfrm>
            <a:off x="392430" y="5428615"/>
            <a:ext cx="11224260"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ts val="0"/>
              </a:spcBef>
              <a:spcAft>
                <a:spcPts val="0"/>
              </a:spcAft>
            </a:pPr>
            <a:r>
              <a:rPr lang="en-US" altLang="zh-CN" sz="2400" b="1" i="1" dirty="0">
                <a:solidFill>
                  <a:srgbClr val="000000"/>
                </a:solidFill>
                <a:latin typeface="+mn-ea"/>
              </a:rPr>
              <a:t>digit</a:t>
            </a:r>
            <a:r>
              <a:rPr lang="en-US" altLang="zh-CN" sz="2400" b="1" dirty="0">
                <a:solidFill>
                  <a:srgbClr val="000000"/>
                </a:solidFill>
                <a:latin typeface="+mn-ea"/>
              </a:rPr>
              <a:t>→8   </a:t>
            </a:r>
            <a:r>
              <a:rPr lang="en-US" altLang="zh-CN" sz="2400" b="1" dirty="0">
                <a:solidFill>
                  <a:schemeClr val="accent1"/>
                </a:solidFill>
                <a:latin typeface="+mn-ea"/>
                <a:sym typeface="+mn-ea"/>
              </a:rPr>
              <a:t> </a:t>
            </a:r>
            <a:r>
              <a:rPr lang="en-US" altLang="zh-CN" sz="2400" b="1" dirty="0">
                <a:solidFill>
                  <a:schemeClr val="accent1"/>
                </a:solidFill>
                <a:latin typeface="+mn-ea"/>
              </a:rPr>
              <a:t>if </a:t>
            </a:r>
            <a:r>
              <a:rPr lang="en-US" altLang="zh-CN" sz="2400" b="1" i="1" dirty="0" err="1">
                <a:solidFill>
                  <a:schemeClr val="accent1"/>
                </a:solidFill>
                <a:latin typeface="+mn-ea"/>
              </a:rPr>
              <a:t>digit</a:t>
            </a:r>
            <a:r>
              <a:rPr lang="en-US" altLang="zh-CN" sz="2400" b="1" dirty="0" err="1">
                <a:solidFill>
                  <a:schemeClr val="accent1"/>
                </a:solidFill>
                <a:latin typeface="+mn-ea"/>
              </a:rPr>
              <a:t>.base</a:t>
            </a:r>
            <a:r>
              <a:rPr lang="en-US" altLang="zh-CN" sz="2400" b="1" dirty="0">
                <a:solidFill>
                  <a:schemeClr val="accent1"/>
                </a:solidFill>
                <a:latin typeface="+mn-ea"/>
              </a:rPr>
              <a:t>=8 </a:t>
            </a:r>
            <a:r>
              <a:rPr lang="en-US" altLang="zh-CN" sz="2400" b="1" dirty="0">
                <a:solidFill>
                  <a:schemeClr val="accent1"/>
                </a:solidFill>
                <a:latin typeface="+mn-ea"/>
                <a:sym typeface="+mn-ea"/>
              </a:rPr>
              <a:t>then  </a:t>
            </a:r>
            <a:r>
              <a:rPr lang="en-US" altLang="zh-CN" sz="2400" b="1" i="1" dirty="0" err="1">
                <a:solidFill>
                  <a:schemeClr val="accent1"/>
                </a:solidFill>
                <a:latin typeface="+mn-ea"/>
                <a:sym typeface="+mn-ea"/>
              </a:rPr>
              <a:t>digit</a:t>
            </a:r>
            <a:r>
              <a:rPr lang="en-US" altLang="zh-CN" sz="2400" b="1" dirty="0" err="1">
                <a:solidFill>
                  <a:schemeClr val="accent1"/>
                </a:solidFill>
                <a:latin typeface="+mn-ea"/>
                <a:sym typeface="+mn-ea"/>
              </a:rPr>
              <a:t>.val</a:t>
            </a:r>
            <a:r>
              <a:rPr lang="en-US" altLang="zh-CN" sz="2400" b="1" dirty="0">
                <a:solidFill>
                  <a:schemeClr val="accent1"/>
                </a:solidFill>
                <a:latin typeface="+mn-ea"/>
                <a:sym typeface="+mn-ea"/>
              </a:rPr>
              <a:t>=error  else    </a:t>
            </a:r>
            <a:r>
              <a:rPr lang="en-US" altLang="zh-CN" sz="2400" b="1" i="1" dirty="0" err="1">
                <a:solidFill>
                  <a:schemeClr val="accent1"/>
                </a:solidFill>
                <a:latin typeface="+mn-ea"/>
                <a:sym typeface="+mn-ea"/>
              </a:rPr>
              <a:t>digit</a:t>
            </a:r>
            <a:r>
              <a:rPr lang="en-US" altLang="zh-CN" sz="2400" b="1" dirty="0" err="1">
                <a:solidFill>
                  <a:schemeClr val="accent1"/>
                </a:solidFill>
                <a:latin typeface="+mn-ea"/>
                <a:sym typeface="+mn-ea"/>
              </a:rPr>
              <a:t>.val</a:t>
            </a:r>
            <a:r>
              <a:rPr lang="en-US" altLang="zh-CN" sz="2400" b="1" dirty="0">
                <a:solidFill>
                  <a:schemeClr val="accent1"/>
                </a:solidFill>
                <a:latin typeface="+mn-ea"/>
                <a:sym typeface="+mn-ea"/>
              </a:rPr>
              <a:t>= 8 </a:t>
            </a:r>
            <a:r>
              <a:rPr lang="en-US" altLang="zh-CN" sz="2400" b="1" dirty="0">
                <a:solidFill>
                  <a:schemeClr val="accent1"/>
                </a:solidFill>
                <a:latin typeface="+mn-ea"/>
                <a:sym typeface="+mn-ea"/>
              </a:rPr>
              <a:t>  </a:t>
            </a:r>
            <a:endParaRPr lang="en-US" altLang="zh-CN" sz="2400" b="1" dirty="0">
              <a:solidFill>
                <a:schemeClr val="accent1"/>
              </a:solidFill>
              <a:latin typeface="+mn-ea"/>
            </a:endParaRPr>
          </a:p>
          <a:p>
            <a:pPr>
              <a:lnSpc>
                <a:spcPct val="120000"/>
              </a:lnSpc>
              <a:spcBef>
                <a:spcPts val="0"/>
              </a:spcBef>
              <a:spcAft>
                <a:spcPts val="0"/>
              </a:spcAft>
            </a:pPr>
            <a:r>
              <a:rPr lang="en-US" altLang="zh-CN" sz="2400" b="1" i="1" dirty="0">
                <a:solidFill>
                  <a:srgbClr val="000000"/>
                </a:solidFill>
                <a:latin typeface="+mn-ea"/>
              </a:rPr>
              <a:t>digit</a:t>
            </a:r>
            <a:r>
              <a:rPr lang="en-US" altLang="zh-CN" sz="2400" b="1" dirty="0">
                <a:solidFill>
                  <a:srgbClr val="000000"/>
                </a:solidFill>
                <a:latin typeface="+mn-ea"/>
              </a:rPr>
              <a:t>→9    </a:t>
            </a:r>
            <a:r>
              <a:rPr lang="en-US" altLang="zh-CN" sz="2400" b="1" dirty="0">
                <a:solidFill>
                  <a:schemeClr val="accent1"/>
                </a:solidFill>
                <a:latin typeface="+mn-ea"/>
              </a:rPr>
              <a:t>if </a:t>
            </a:r>
            <a:r>
              <a:rPr lang="en-US" altLang="zh-CN" sz="2400" b="1" i="1" dirty="0" err="1">
                <a:solidFill>
                  <a:schemeClr val="accent1"/>
                </a:solidFill>
                <a:latin typeface="+mn-ea"/>
              </a:rPr>
              <a:t>digit</a:t>
            </a:r>
            <a:r>
              <a:rPr lang="en-US" altLang="zh-CN" sz="2400" b="1" dirty="0" err="1">
                <a:solidFill>
                  <a:schemeClr val="accent1"/>
                </a:solidFill>
                <a:latin typeface="+mn-ea"/>
              </a:rPr>
              <a:t>.base</a:t>
            </a:r>
            <a:r>
              <a:rPr lang="en-US" altLang="zh-CN" sz="2400" b="1" dirty="0">
                <a:solidFill>
                  <a:schemeClr val="accent1"/>
                </a:solidFill>
                <a:latin typeface="+mn-ea"/>
              </a:rPr>
              <a:t>=8 then </a:t>
            </a:r>
            <a:r>
              <a:rPr lang="en-US" altLang="zh-CN" sz="2400" b="1" i="1" dirty="0" err="1">
                <a:solidFill>
                  <a:schemeClr val="accent1"/>
                </a:solidFill>
                <a:latin typeface="+mn-ea"/>
              </a:rPr>
              <a:t>digit</a:t>
            </a:r>
            <a:r>
              <a:rPr lang="en-US" altLang="zh-CN" sz="2400" b="1" dirty="0" err="1">
                <a:solidFill>
                  <a:schemeClr val="accent1"/>
                </a:solidFill>
                <a:latin typeface="+mn-ea"/>
              </a:rPr>
              <a:t>.val</a:t>
            </a:r>
            <a:r>
              <a:rPr lang="en-US" altLang="zh-CN" sz="2400" b="1" dirty="0">
                <a:solidFill>
                  <a:schemeClr val="accent1"/>
                </a:solidFill>
                <a:latin typeface="+mn-ea"/>
              </a:rPr>
              <a:t>= error </a:t>
            </a:r>
            <a:r>
              <a:rPr lang="en-US" altLang="zh-CN" sz="2400" b="1" dirty="0">
                <a:solidFill>
                  <a:schemeClr val="accent1"/>
                </a:solidFill>
                <a:latin typeface="+mn-ea"/>
                <a:sym typeface="+mn-ea"/>
              </a:rPr>
              <a:t>else </a:t>
            </a:r>
            <a:r>
              <a:rPr lang="en-US" altLang="zh-CN" sz="2400" b="1" i="1" dirty="0" err="1">
                <a:solidFill>
                  <a:schemeClr val="accent1"/>
                </a:solidFill>
                <a:latin typeface="+mn-ea"/>
                <a:sym typeface="+mn-ea"/>
              </a:rPr>
              <a:t>digit</a:t>
            </a:r>
            <a:r>
              <a:rPr lang="en-US" altLang="zh-CN" sz="2400" b="1" dirty="0" err="1">
                <a:solidFill>
                  <a:schemeClr val="accent1"/>
                </a:solidFill>
                <a:latin typeface="+mn-ea"/>
                <a:sym typeface="+mn-ea"/>
              </a:rPr>
              <a:t>.val</a:t>
            </a:r>
            <a:r>
              <a:rPr lang="en-US" altLang="zh-CN" sz="2400" b="1" dirty="0">
                <a:solidFill>
                  <a:schemeClr val="accent1"/>
                </a:solidFill>
                <a:latin typeface="+mn-ea"/>
                <a:sym typeface="+mn-ea"/>
              </a:rPr>
              <a:t>=9</a:t>
            </a:r>
            <a:endParaRPr lang="en-US" altLang="zh-CN" sz="2400" b="1" dirty="0">
              <a:solidFill>
                <a:schemeClr val="accent1"/>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arn(inHorizontal)">
                                      <p:cBhvr>
                                        <p:cTn id="7" dur="500"/>
                                        <p:tgtEl>
                                          <p:spTgt spid="7">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barn(inHorizontal)">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barn(inHorizontal)">
                                      <p:cBhvr>
                                        <p:cTn id="17" dur="500"/>
                                        <p:tgtEl>
                                          <p:spTgt spid="7">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barn(inHorizontal)">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barn(inHorizontal)">
                                      <p:cBhvr>
                                        <p:cTn id="27" dur="500"/>
                                        <p:tgtEl>
                                          <p:spTgt spid="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8">
                                            <p:txEl>
                                              <p:pRg st="3" end="3"/>
                                            </p:txEl>
                                          </p:spTgt>
                                        </p:tgtEl>
                                        <p:attrNameLst>
                                          <p:attrName>style.visibility</p:attrName>
                                        </p:attrNameLst>
                                      </p:cBhvr>
                                      <p:to>
                                        <p:strVal val="visible"/>
                                      </p:to>
                                    </p:set>
                                    <p:animEffect transition="in" filter="barn(inHorizontal)">
                                      <p:cBhvr>
                                        <p:cTn id="32" dur="500"/>
                                        <p:tgtEl>
                                          <p:spTgt spid="8">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barn(inHorizontal)">
                                      <p:cBhvr>
                                        <p:cTn id="37" dur="5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
                                            <p:txEl>
                                              <p:pRg st="0" end="0"/>
                                            </p:txEl>
                                          </p:spTgt>
                                        </p:tgtEl>
                                        <p:attrNameLst>
                                          <p:attrName>style.visibility</p:attrName>
                                        </p:attrNameLst>
                                      </p:cBhvr>
                                      <p:to>
                                        <p:strVal val="visible"/>
                                      </p:to>
                                    </p:set>
                                  </p:childTnLst>
                                </p:cTn>
                              </p:par>
                              <p:par>
                                <p:cTn id="42" presetID="16" presetClass="entr" presetSubtype="26" fill="hold" nodeType="with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Effect transition="in" filter="barn(inHorizontal)">
                                      <p:cBhvr>
                                        <p:cTn id="44" dur="500"/>
                                        <p:tgtEl>
                                          <p:spTgt spid="2">
                                            <p:txEl>
                                              <p:pRg st="6" end="6"/>
                                            </p:txEl>
                                          </p:spTgt>
                                        </p:tgtEl>
                                      </p:cBhvr>
                                    </p:animEffect>
                                  </p:childTnLst>
                                </p:cTn>
                              </p:par>
                              <p:par>
                                <p:cTn id="45" presetID="16" presetClass="entr" presetSubtype="26" fill="hold" nodeType="with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barn(inHorizontal)">
                                      <p:cBhvr>
                                        <p:cTn id="47" dur="500"/>
                                        <p:tgtEl>
                                          <p:spTgt spid="2">
                                            <p:txEl>
                                              <p:pRg st="7" end="7"/>
                                            </p:txEl>
                                          </p:spTgt>
                                        </p:tgtEl>
                                      </p:cBhvr>
                                    </p:animEffect>
                                  </p:childTnLst>
                                </p:cTn>
                              </p:par>
                              <p:par>
                                <p:cTn id="48" presetID="16" presetClass="entr" presetSubtype="26" fill="hold" nodeType="withEffect">
                                  <p:stCondLst>
                                    <p:cond delay="0"/>
                                  </p:stCondLst>
                                  <p:childTnLst>
                                    <p:set>
                                      <p:cBhvr>
                                        <p:cTn id="49" dur="1" fill="hold">
                                          <p:stCondLst>
                                            <p:cond delay="0"/>
                                          </p:stCondLst>
                                        </p:cTn>
                                        <p:tgtEl>
                                          <p:spTgt spid="2">
                                            <p:txEl>
                                              <p:pRg st="2" end="2"/>
                                            </p:txEl>
                                          </p:spTgt>
                                        </p:tgtEl>
                                        <p:attrNameLst>
                                          <p:attrName>style.visibility</p:attrName>
                                        </p:attrNameLst>
                                      </p:cBhvr>
                                      <p:to>
                                        <p:strVal val="visible"/>
                                      </p:to>
                                    </p:set>
                                    <p:animEffect transition="in" filter="barn(inHorizontal)">
                                      <p:cBhvr>
                                        <p:cTn id="50" dur="500"/>
                                        <p:tgtEl>
                                          <p:spTgt spid="2">
                                            <p:txEl>
                                              <p:pRg st="2" end="2"/>
                                            </p:txEl>
                                          </p:spTgt>
                                        </p:tgtEl>
                                      </p:cBhvr>
                                    </p:animEffect>
                                  </p:childTnLst>
                                </p:cTn>
                              </p:par>
                              <p:par>
                                <p:cTn id="51" presetID="16" presetClass="entr" presetSubtype="26" fill="hold" nodeType="withEffect">
                                  <p:stCondLst>
                                    <p:cond delay="0"/>
                                  </p:stCondLst>
                                  <p:childTnLst>
                                    <p:set>
                                      <p:cBhvr>
                                        <p:cTn id="52" dur="1" fill="hold">
                                          <p:stCondLst>
                                            <p:cond delay="0"/>
                                          </p:stCondLst>
                                        </p:cTn>
                                        <p:tgtEl>
                                          <p:spTgt spid="2">
                                            <p:txEl>
                                              <p:pRg st="3" end="3"/>
                                            </p:txEl>
                                          </p:spTgt>
                                        </p:tgtEl>
                                        <p:attrNameLst>
                                          <p:attrName>style.visibility</p:attrName>
                                        </p:attrNameLst>
                                      </p:cBhvr>
                                      <p:to>
                                        <p:strVal val="visible"/>
                                      </p:to>
                                    </p:set>
                                    <p:animEffect transition="in" filter="barn(inHorizontal)">
                                      <p:cBhvr>
                                        <p:cTn id="53" dur="500"/>
                                        <p:tgtEl>
                                          <p:spTgt spid="2">
                                            <p:txEl>
                                              <p:pRg st="3" end="3"/>
                                            </p:txEl>
                                          </p:spTgt>
                                        </p:tgtEl>
                                      </p:cBhvr>
                                    </p:animEffect>
                                  </p:childTnLst>
                                </p:cTn>
                              </p:par>
                              <p:par>
                                <p:cTn id="54" presetID="16" presetClass="entr" presetSubtype="26" fill="hold" nodeType="withEffect">
                                  <p:stCondLst>
                                    <p:cond delay="0"/>
                                  </p:stCondLst>
                                  <p:childTnLst>
                                    <p:set>
                                      <p:cBhvr>
                                        <p:cTn id="55" dur="1" fill="hold">
                                          <p:stCondLst>
                                            <p:cond delay="0"/>
                                          </p:stCondLst>
                                        </p:cTn>
                                        <p:tgtEl>
                                          <p:spTgt spid="2">
                                            <p:txEl>
                                              <p:pRg st="4" end="4"/>
                                            </p:txEl>
                                          </p:spTgt>
                                        </p:tgtEl>
                                        <p:attrNameLst>
                                          <p:attrName>style.visibility</p:attrName>
                                        </p:attrNameLst>
                                      </p:cBhvr>
                                      <p:to>
                                        <p:strVal val="visible"/>
                                      </p:to>
                                    </p:set>
                                    <p:animEffect transition="in" filter="barn(inHorizontal)">
                                      <p:cBhvr>
                                        <p:cTn id="56" dur="500"/>
                                        <p:tgtEl>
                                          <p:spTgt spid="2">
                                            <p:txEl>
                                              <p:pRg st="4" end="4"/>
                                            </p:txEl>
                                          </p:spTgt>
                                        </p:tgtEl>
                                      </p:cBhvr>
                                    </p:animEffect>
                                  </p:childTnLst>
                                </p:cTn>
                              </p:par>
                              <p:par>
                                <p:cTn id="57" presetID="16" presetClass="entr" presetSubtype="26" fill="hold" nodeType="withEffect">
                                  <p:stCondLst>
                                    <p:cond delay="0"/>
                                  </p:stCondLst>
                                  <p:childTnLst>
                                    <p:set>
                                      <p:cBhvr>
                                        <p:cTn id="58" dur="1" fill="hold">
                                          <p:stCondLst>
                                            <p:cond delay="0"/>
                                          </p:stCondLst>
                                        </p:cTn>
                                        <p:tgtEl>
                                          <p:spTgt spid="2">
                                            <p:txEl>
                                              <p:pRg st="5" end="5"/>
                                            </p:txEl>
                                          </p:spTgt>
                                        </p:tgtEl>
                                        <p:attrNameLst>
                                          <p:attrName>style.visibility</p:attrName>
                                        </p:attrNameLst>
                                      </p:cBhvr>
                                      <p:to>
                                        <p:strVal val="visible"/>
                                      </p:to>
                                    </p:set>
                                    <p:animEffect transition="in" filter="barn(inHorizontal)">
                                      <p:cBhvr>
                                        <p:cTn id="59" dur="500"/>
                                        <p:tgtEl>
                                          <p:spTgt spid="2">
                                            <p:txEl>
                                              <p:pRg st="5" end="5"/>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6" fill="hold" nodeType="clickEffect">
                                  <p:stCondLst>
                                    <p:cond delay="0"/>
                                  </p:stCondLst>
                                  <p:childTnLst>
                                    <p:set>
                                      <p:cBhvr>
                                        <p:cTn id="63" dur="1" fill="hold">
                                          <p:stCondLst>
                                            <p:cond delay="0"/>
                                          </p:stCondLst>
                                        </p:cTn>
                                        <p:tgtEl>
                                          <p:spTgt spid="9">
                                            <p:txEl>
                                              <p:pRg st="0" end="0"/>
                                            </p:txEl>
                                          </p:spTgt>
                                        </p:tgtEl>
                                        <p:attrNameLst>
                                          <p:attrName>style.visibility</p:attrName>
                                        </p:attrNameLst>
                                      </p:cBhvr>
                                      <p:to>
                                        <p:strVal val="visible"/>
                                      </p:to>
                                    </p:set>
                                    <p:animEffect transition="in" filter="barn(inHorizontal)">
                                      <p:cBhvr>
                                        <p:cTn id="64" dur="500"/>
                                        <p:tgtEl>
                                          <p:spTgt spid="9">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6" fill="hold" nodeType="clickEffect">
                                  <p:stCondLst>
                                    <p:cond delay="0"/>
                                  </p:stCondLst>
                                  <p:childTnLst>
                                    <p:set>
                                      <p:cBhvr>
                                        <p:cTn id="68" dur="1" fill="hold">
                                          <p:stCondLst>
                                            <p:cond delay="0"/>
                                          </p:stCondLst>
                                        </p:cTn>
                                        <p:tgtEl>
                                          <p:spTgt spid="13">
                                            <p:txEl>
                                              <p:pRg st="1" end="1"/>
                                            </p:txEl>
                                          </p:spTgt>
                                        </p:tgtEl>
                                        <p:attrNameLst>
                                          <p:attrName>style.visibility</p:attrName>
                                        </p:attrNameLst>
                                      </p:cBhvr>
                                      <p:to>
                                        <p:strVal val="visible"/>
                                      </p:to>
                                    </p:set>
                                    <p:animEffect transition="in" filter="barn(inHorizontal)">
                                      <p:cBhvr>
                                        <p:cTn id="69" dur="500"/>
                                        <p:tgtEl>
                                          <p:spTgt spid="13">
                                            <p:txEl>
                                              <p:pRg st="1" end="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6" fill="hold" nodeType="clickEffect">
                                  <p:stCondLst>
                                    <p:cond delay="0"/>
                                  </p:stCondLst>
                                  <p:childTnLst>
                                    <p:set>
                                      <p:cBhvr>
                                        <p:cTn id="73" dur="1" fill="hold">
                                          <p:stCondLst>
                                            <p:cond delay="0"/>
                                          </p:stCondLst>
                                        </p:cTn>
                                        <p:tgtEl>
                                          <p:spTgt spid="9">
                                            <p:txEl>
                                              <p:pRg st="1" end="1"/>
                                            </p:txEl>
                                          </p:spTgt>
                                        </p:tgtEl>
                                        <p:attrNameLst>
                                          <p:attrName>style.visibility</p:attrName>
                                        </p:attrNameLst>
                                      </p:cBhvr>
                                      <p:to>
                                        <p:strVal val="visible"/>
                                      </p:to>
                                    </p:set>
                                    <p:animEffect transition="in" filter="barn(inHorizontal)">
                                      <p:cBhvr>
                                        <p:cTn id="74" dur="500"/>
                                        <p:tgtEl>
                                          <p:spTgt spid="9">
                                            <p:txEl>
                                              <p:pRg st="1" end="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26" fill="hold" nodeType="clickEffect">
                                  <p:stCondLst>
                                    <p:cond delay="0"/>
                                  </p:stCondLst>
                                  <p:childTnLst>
                                    <p:set>
                                      <p:cBhvr>
                                        <p:cTn id="78" dur="1" fill="hold">
                                          <p:stCondLst>
                                            <p:cond delay="0"/>
                                          </p:stCondLst>
                                        </p:cTn>
                                        <p:tgtEl>
                                          <p:spTgt spid="13">
                                            <p:txEl>
                                              <p:pRg st="2" end="2"/>
                                            </p:txEl>
                                          </p:spTgt>
                                        </p:tgtEl>
                                        <p:attrNameLst>
                                          <p:attrName>style.visibility</p:attrName>
                                        </p:attrNameLst>
                                      </p:cBhvr>
                                      <p:to>
                                        <p:strVal val="visible"/>
                                      </p:to>
                                    </p:set>
                                    <p:animEffect transition="in" filter="barn(inHorizontal)">
                                      <p:cBhvr>
                                        <p:cTn id="79" dur="500"/>
                                        <p:tgtEl>
                                          <p:spTgt spid="13">
                                            <p:txEl>
                                              <p:pRg st="2" end="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6" presetClass="entr" presetSubtype="26" fill="hold" nodeType="clickEffect">
                                  <p:stCondLst>
                                    <p:cond delay="0"/>
                                  </p:stCondLst>
                                  <p:childTnLst>
                                    <p:set>
                                      <p:cBhvr>
                                        <p:cTn id="83" dur="1" fill="hold">
                                          <p:stCondLst>
                                            <p:cond delay="0"/>
                                          </p:stCondLst>
                                        </p:cTn>
                                        <p:tgtEl>
                                          <p:spTgt spid="9">
                                            <p:txEl>
                                              <p:pRg st="2" end="2"/>
                                            </p:txEl>
                                          </p:spTgt>
                                        </p:tgtEl>
                                        <p:attrNameLst>
                                          <p:attrName>style.visibility</p:attrName>
                                        </p:attrNameLst>
                                      </p:cBhvr>
                                      <p:to>
                                        <p:strVal val="visible"/>
                                      </p:to>
                                    </p:set>
                                    <p:animEffect transition="in" filter="barn(inHorizontal)">
                                      <p:cBhvr>
                                        <p:cTn id="84" dur="500"/>
                                        <p:tgtEl>
                                          <p:spTgt spid="9">
                                            <p:txEl>
                                              <p:pRg st="2" end="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6" presetClass="entr" presetSubtype="26" fill="hold" nodeType="clickEffect">
                                  <p:stCondLst>
                                    <p:cond delay="0"/>
                                  </p:stCondLst>
                                  <p:childTnLst>
                                    <p:set>
                                      <p:cBhvr>
                                        <p:cTn id="88" dur="1" fill="hold">
                                          <p:stCondLst>
                                            <p:cond delay="0"/>
                                          </p:stCondLst>
                                        </p:cTn>
                                        <p:tgtEl>
                                          <p:spTgt spid="9">
                                            <p:txEl>
                                              <p:pRg st="3" end="3"/>
                                            </p:txEl>
                                          </p:spTgt>
                                        </p:tgtEl>
                                        <p:attrNameLst>
                                          <p:attrName>style.visibility</p:attrName>
                                        </p:attrNameLst>
                                      </p:cBhvr>
                                      <p:to>
                                        <p:strVal val="visible"/>
                                      </p:to>
                                    </p:set>
                                    <p:animEffect transition="in" filter="barn(inHorizontal)">
                                      <p:cBhvr>
                                        <p:cTn id="89" dur="500"/>
                                        <p:tgtEl>
                                          <p:spTgt spid="9">
                                            <p:txEl>
                                              <p:pRg st="3" end="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6" presetClass="entr" presetSubtype="26" fill="hold" nodeType="clickEffect">
                                  <p:stCondLst>
                                    <p:cond delay="0"/>
                                  </p:stCondLst>
                                  <p:childTnLst>
                                    <p:set>
                                      <p:cBhvr>
                                        <p:cTn id="93" dur="1" fill="hold">
                                          <p:stCondLst>
                                            <p:cond delay="0"/>
                                          </p:stCondLst>
                                        </p:cTn>
                                        <p:tgtEl>
                                          <p:spTgt spid="13">
                                            <p:txEl>
                                              <p:pRg st="3" end="3"/>
                                            </p:txEl>
                                          </p:spTgt>
                                        </p:tgtEl>
                                        <p:attrNameLst>
                                          <p:attrName>style.visibility</p:attrName>
                                        </p:attrNameLst>
                                      </p:cBhvr>
                                      <p:to>
                                        <p:strVal val="visible"/>
                                      </p:to>
                                    </p:set>
                                    <p:animEffect transition="in" filter="barn(inHorizontal)">
                                      <p:cBhvr>
                                        <p:cTn id="94" dur="500"/>
                                        <p:tgtEl>
                                          <p:spTgt spid="13">
                                            <p:txEl>
                                              <p:pRg st="3" end="3"/>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6" presetClass="entr" presetSubtype="26" fill="hold" nodeType="clickEffect">
                                  <p:stCondLst>
                                    <p:cond delay="0"/>
                                  </p:stCondLst>
                                  <p:childTnLst>
                                    <p:set>
                                      <p:cBhvr>
                                        <p:cTn id="98" dur="1" fill="hold">
                                          <p:stCondLst>
                                            <p:cond delay="0"/>
                                          </p:stCondLst>
                                        </p:cTn>
                                        <p:tgtEl>
                                          <p:spTgt spid="13">
                                            <p:txEl>
                                              <p:pRg st="0" end="0"/>
                                            </p:txEl>
                                          </p:spTgt>
                                        </p:tgtEl>
                                        <p:attrNameLst>
                                          <p:attrName>style.visibility</p:attrName>
                                        </p:attrNameLst>
                                      </p:cBhvr>
                                      <p:to>
                                        <p:strVal val="visible"/>
                                      </p:to>
                                    </p:set>
                                    <p:animEffect transition="in" filter="barn(inHorizontal)">
                                      <p:cBhvr>
                                        <p:cTn id="99" dur="500"/>
                                        <p:tgtEl>
                                          <p:spTgt spid="13">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26" fill="hold" nodeType="clickEffect">
                                  <p:stCondLst>
                                    <p:cond delay="0"/>
                                  </p:stCondLst>
                                  <p:childTnLst>
                                    <p:set>
                                      <p:cBhvr>
                                        <p:cTn id="103" dur="1" fill="hold">
                                          <p:stCondLst>
                                            <p:cond delay="0"/>
                                          </p:stCondLst>
                                        </p:cTn>
                                        <p:tgtEl>
                                          <p:spTgt spid="4">
                                            <p:txEl>
                                              <p:pRg st="1" end="1"/>
                                            </p:txEl>
                                          </p:spTgt>
                                        </p:tgtEl>
                                        <p:attrNameLst>
                                          <p:attrName>style.visibility</p:attrName>
                                        </p:attrNameLst>
                                      </p:cBhvr>
                                      <p:to>
                                        <p:strVal val="visible"/>
                                      </p:to>
                                    </p:set>
                                    <p:animEffect transition="in" filter="barn(inHorizontal)">
                                      <p:cBhvr>
                                        <p:cTn id="104"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sp>
        <p:nvSpPr>
          <p:cNvPr id="6" name="内容占位符 7"/>
          <p:cNvSpPr txBox="1">
            <a:spLocks noChangeArrowheads="1"/>
          </p:cNvSpPr>
          <p:nvPr/>
        </p:nvSpPr>
        <p:spPr>
          <a:xfrm>
            <a:off x="371475" y="1196975"/>
            <a:ext cx="5216525" cy="2466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b="1" dirty="0">
                <a:latin typeface="+mn-ea"/>
              </a:rPr>
              <a:t>综合案例</a:t>
            </a:r>
            <a:r>
              <a:rPr lang="en-US" altLang="zh-CN" b="1" dirty="0">
                <a:latin typeface="+mn-ea"/>
              </a:rPr>
              <a:t>5.5</a:t>
            </a:r>
            <a:r>
              <a:rPr lang="zh-CN" altLang="en-US" b="1" dirty="0">
                <a:latin typeface="+mn-ea"/>
              </a:rPr>
              <a:t>  </a:t>
            </a:r>
            <a:r>
              <a:rPr lang="zh-CN" altLang="en-US" sz="2400" b="1" dirty="0">
                <a:latin typeface="+mn-ea"/>
              </a:rPr>
              <a:t>  文法</a:t>
            </a:r>
            <a:r>
              <a:rPr lang="en-US" altLang="zh-CN" sz="2400" b="1" dirty="0">
                <a:latin typeface="+mn-ea"/>
              </a:rPr>
              <a:t>G[S]</a:t>
            </a:r>
            <a:r>
              <a:rPr lang="zh-CN" altLang="en-US" sz="2400" b="1" dirty="0">
                <a:latin typeface="+mn-ea"/>
              </a:rPr>
              <a:t>：撰写计算十进制值</a:t>
            </a:r>
            <a:r>
              <a:rPr lang="en-US" altLang="zh-CN" sz="2400" b="1" dirty="0" err="1">
                <a:latin typeface="+mn-ea"/>
              </a:rPr>
              <a:t>val</a:t>
            </a:r>
            <a:r>
              <a:rPr lang="zh-CN" altLang="en-US" sz="2400" b="1" dirty="0">
                <a:latin typeface="+mn-ea"/>
              </a:rPr>
              <a:t>属性的属性文法，其中：如果除运算中的任一个操作数是浮点数，则整个表达式就是浮点数，函数</a:t>
            </a:r>
            <a:r>
              <a:rPr lang="en-US" altLang="zh-CN" sz="2400" b="1" dirty="0">
                <a:latin typeface="+mn-ea"/>
              </a:rPr>
              <a:t>Float</a:t>
            </a:r>
            <a:r>
              <a:rPr lang="zh-CN" altLang="en-US" sz="2400" b="1" dirty="0">
                <a:latin typeface="+mn-ea"/>
              </a:rPr>
              <a:t>可以将整数转换为浮点数。</a:t>
            </a:r>
            <a:r>
              <a:rPr lang="en-US" altLang="zh-CN" sz="2400" b="1" dirty="0" err="1">
                <a:latin typeface="+mn-ea"/>
              </a:rPr>
              <a:t>Div</a:t>
            </a:r>
            <a:r>
              <a:rPr lang="zh-CN" altLang="en-US" sz="2400" b="1" dirty="0">
                <a:latin typeface="+mn-ea"/>
              </a:rPr>
              <a:t>表示整数相除，</a:t>
            </a:r>
            <a:r>
              <a:rPr lang="en-US" altLang="zh-CN" sz="2400" b="1" dirty="0">
                <a:latin typeface="+mn-ea"/>
              </a:rPr>
              <a:t>/</a:t>
            </a:r>
            <a:r>
              <a:rPr lang="zh-CN" altLang="en-US" sz="2400" b="1" dirty="0">
                <a:latin typeface="+mn-ea"/>
              </a:rPr>
              <a:t>表示浮点数相除。</a:t>
            </a:r>
            <a:endParaRPr lang="zh-CN" altLang="en-US" sz="2400" b="1" dirty="0">
              <a:latin typeface="+mn-ea"/>
            </a:endParaRPr>
          </a:p>
        </p:txBody>
      </p:sp>
      <p:pic>
        <p:nvPicPr>
          <p:cNvPr id="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099" y="4605373"/>
            <a:ext cx="4173802" cy="157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 name="内容占位符 7"/>
          <p:cNvSpPr txBox="1">
            <a:spLocks noChangeArrowheads="1"/>
          </p:cNvSpPr>
          <p:nvPr/>
        </p:nvSpPr>
        <p:spPr>
          <a:xfrm>
            <a:off x="6000115" y="1290955"/>
            <a:ext cx="5763895" cy="10636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spcBef>
                <a:spcPts val="0"/>
              </a:spcBef>
              <a:spcAft>
                <a:spcPts val="0"/>
              </a:spcAft>
              <a:buNone/>
            </a:pPr>
            <a:r>
              <a:rPr lang="en-US" altLang="zh-CN" sz="2400" b="1">
                <a:latin typeface="+mn-ea"/>
              </a:rPr>
              <a:t>5/2/2.0</a:t>
            </a:r>
            <a:r>
              <a:rPr lang="zh-CN" altLang="en-US" sz="2400" b="1">
                <a:latin typeface="+mn-ea"/>
              </a:rPr>
              <a:t>的分析树（该表达式的值计算结果应</a:t>
            </a:r>
            <a:r>
              <a:rPr lang="en-US" altLang="zh-CN" sz="2400" b="1">
                <a:latin typeface="+mn-ea"/>
              </a:rPr>
              <a:t>1.25</a:t>
            </a:r>
            <a:r>
              <a:rPr lang="zh-CN" altLang="en-US" sz="2400" b="1">
                <a:latin typeface="+mn-ea"/>
              </a:rPr>
              <a:t>而不是</a:t>
            </a:r>
            <a:r>
              <a:rPr lang="en-US" altLang="zh-CN" sz="2400" b="1">
                <a:latin typeface="+mn-ea"/>
              </a:rPr>
              <a:t>1.0</a:t>
            </a:r>
            <a:r>
              <a:rPr lang="zh-CN" altLang="en-US" sz="2400" b="1">
                <a:latin typeface="+mn-ea"/>
              </a:rPr>
              <a:t>）</a:t>
            </a:r>
            <a:endParaRPr lang="zh-CN" altLang="en-US" sz="2400" b="1">
              <a:latin typeface="+mn-ea"/>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4223" y="2320936"/>
            <a:ext cx="5408614" cy="3668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sp>
        <p:nvSpPr>
          <p:cNvPr id="6" name="矩形 7"/>
          <p:cNvSpPr>
            <a:spLocks noChangeArrowheads="1"/>
          </p:cNvSpPr>
          <p:nvPr/>
        </p:nvSpPr>
        <p:spPr bwMode="auto">
          <a:xfrm>
            <a:off x="1881187" y="1311805"/>
            <a:ext cx="8715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75000"/>
              </a:lnSpc>
              <a:spcBef>
                <a:spcPct val="20000"/>
              </a:spcBef>
              <a:buClr>
                <a:schemeClr val="accent2"/>
              </a:buClr>
              <a:buFont typeface="Wingdings" panose="05000000000000000000" pitchFamily="2" charset="2"/>
              <a:buNone/>
            </a:pPr>
            <a:r>
              <a:rPr lang="zh-CN" altLang="en-US" sz="2400" b="1">
                <a:latin typeface="+mn-ea"/>
              </a:rPr>
              <a:t>辅助属性</a:t>
            </a:r>
            <a:r>
              <a:rPr lang="en-US" altLang="zh-CN" sz="2400" b="1">
                <a:latin typeface="+mn-ea"/>
              </a:rPr>
              <a:t>type</a:t>
            </a:r>
            <a:r>
              <a:rPr lang="zh-CN" altLang="en-US" sz="2400" b="1">
                <a:latin typeface="+mn-ea"/>
              </a:rPr>
              <a:t>，</a:t>
            </a:r>
            <a:r>
              <a:rPr lang="en-US" altLang="zh-CN" sz="2400" b="1">
                <a:latin typeface="+mn-ea"/>
              </a:rPr>
              <a:t> </a:t>
            </a:r>
            <a:r>
              <a:rPr lang="zh-CN" altLang="en-US" sz="2400" b="1">
                <a:latin typeface="+mn-ea"/>
              </a:rPr>
              <a:t>其次调整除运算中每个操作数的数据类型</a:t>
            </a:r>
            <a:endParaRPr lang="zh-CN" altLang="en-US" sz="2400" b="1">
              <a:latin typeface="+mn-ea"/>
            </a:endParaRPr>
          </a:p>
        </p:txBody>
      </p:sp>
      <p:graphicFrame>
        <p:nvGraphicFramePr>
          <p:cNvPr id="5" name="表格 4"/>
          <p:cNvGraphicFramePr/>
          <p:nvPr>
            <p:custDataLst>
              <p:tags r:id="rId1"/>
            </p:custDataLst>
          </p:nvPr>
        </p:nvGraphicFramePr>
        <p:xfrm>
          <a:off x="7430770" y="1855470"/>
          <a:ext cx="4396740" cy="2562225"/>
        </p:xfrm>
        <a:graphic>
          <a:graphicData uri="http://schemas.openxmlformats.org/drawingml/2006/table">
            <a:tbl>
              <a:tblPr firstRow="1" bandRow="1">
                <a:tableStyleId>{5C22544A-7EE6-4342-B048-85BDC9FD1C3A}</a:tableStyleId>
              </a:tblPr>
              <a:tblGrid>
                <a:gridCol w="2353945"/>
                <a:gridCol w="2042795"/>
              </a:tblGrid>
              <a:tr h="389255">
                <a:tc>
                  <a:txBody>
                    <a:bodyPr/>
                    <a:p>
                      <a:pPr>
                        <a:buNone/>
                      </a:pPr>
                      <a:r>
                        <a:rPr lang="zh-CN" altLang="en-US"/>
                        <a:t>文法</a:t>
                      </a:r>
                      <a:r>
                        <a:rPr lang="zh-CN" altLang="en-US"/>
                        <a:t>规则</a:t>
                      </a:r>
                      <a:endParaRPr lang="zh-CN" altLang="en-US"/>
                    </a:p>
                  </a:txBody>
                  <a:tcPr/>
                </a:tc>
                <a:tc>
                  <a:txBody>
                    <a:bodyPr/>
                    <a:p>
                      <a:pPr>
                        <a:buNone/>
                      </a:pPr>
                      <a:r>
                        <a:rPr lang="zh-CN" altLang="en-US"/>
                        <a:t>语义</a:t>
                      </a:r>
                      <a:r>
                        <a:rPr lang="zh-CN" altLang="en-US"/>
                        <a:t>规则</a:t>
                      </a:r>
                      <a:endParaRPr lang="zh-CN" altLang="en-US"/>
                    </a:p>
                  </a:txBody>
                  <a:tcPr/>
                </a:tc>
              </a:tr>
              <a:tr h="412750">
                <a:tc>
                  <a:txBody>
                    <a:bodyPr/>
                    <a:p>
                      <a:pPr>
                        <a:buNone/>
                      </a:pPr>
                      <a:r>
                        <a:rPr lang="en-US" altLang="zh-CN"/>
                        <a:t>S</a:t>
                      </a:r>
                      <a:r>
                        <a:rPr lang="en-US" altLang="zh-CN" sz="1800" b="1" dirty="0" err="1">
                          <a:solidFill>
                            <a:srgbClr val="000000"/>
                          </a:solidFill>
                          <a:latin typeface="+mn-ea"/>
                          <a:sym typeface="+mn-ea"/>
                        </a:rPr>
                        <a:t>→</a:t>
                      </a:r>
                      <a:r>
                        <a:rPr lang="en-US" altLang="zh-CN" sz="1800" b="1" dirty="0" err="1">
                          <a:solidFill>
                            <a:srgbClr val="000000"/>
                          </a:solidFill>
                          <a:latin typeface="+mn-ea"/>
                          <a:sym typeface="+mn-ea"/>
                        </a:rPr>
                        <a:t>expr</a:t>
                      </a:r>
                      <a:endParaRPr lang="en-US" altLang="zh-CN" sz="1800" b="1" dirty="0" err="1">
                        <a:solidFill>
                          <a:srgbClr val="000000"/>
                        </a:solidFill>
                        <a:latin typeface="+mn-ea"/>
                        <a:sym typeface="+mn-ea"/>
                      </a:endParaRPr>
                    </a:p>
                  </a:txBody>
                  <a:tcPr/>
                </a:tc>
                <a:tc>
                  <a:txBody>
                    <a:bodyPr/>
                    <a:p>
                      <a:pPr>
                        <a:buNone/>
                      </a:pPr>
                      <a:endParaRPr lang="en-US" altLang="zh-CN"/>
                    </a:p>
                  </a:txBody>
                  <a:tcPr/>
                </a:tc>
              </a:tr>
              <a:tr h="914400">
                <a:tc>
                  <a:txBody>
                    <a:bodyPr/>
                    <a:p>
                      <a:pPr>
                        <a:buNone/>
                      </a:pPr>
                      <a:r>
                        <a:rPr lang="en-US" altLang="zh-CN" sz="1800" b="1" dirty="0" err="1">
                          <a:solidFill>
                            <a:srgbClr val="000000"/>
                          </a:solidFill>
                          <a:latin typeface="+mn-ea"/>
                          <a:sym typeface="+mn-ea"/>
                        </a:rPr>
                        <a:t>expr1→expr2/expr3</a:t>
                      </a:r>
                      <a:endParaRPr lang="en-US" altLang="zh-CN" sz="1800" b="1" dirty="0" err="1">
                        <a:solidFill>
                          <a:srgbClr val="000000"/>
                        </a:solidFill>
                        <a:latin typeface="+mn-ea"/>
                        <a:sym typeface="+mn-ea"/>
                      </a:endParaRPr>
                    </a:p>
                    <a:p>
                      <a:pPr>
                        <a:buNone/>
                      </a:pPr>
                      <a:endParaRPr lang="zh-CN" altLang="en-US"/>
                    </a:p>
                  </a:txBody>
                  <a:tcPr/>
                </a:tc>
                <a:tc>
                  <a:txBody>
                    <a:bodyPr/>
                    <a:p>
                      <a:pPr>
                        <a:buNone/>
                      </a:pPr>
                      <a:r>
                        <a:rPr lang="en-US" altLang="zh-CN" sz="1800" b="1" dirty="0" err="1">
                          <a:solidFill>
                            <a:srgbClr val="FF0000"/>
                          </a:solidFill>
                          <a:latin typeface="+mn-ea"/>
                          <a:sym typeface="+mn-ea"/>
                        </a:rPr>
                        <a:t>expr1.isFloat=</a:t>
                      </a:r>
                      <a:endParaRPr lang="en-US" altLang="zh-CN" sz="1800" b="1" dirty="0" err="1">
                        <a:solidFill>
                          <a:srgbClr val="FF0000"/>
                        </a:solidFill>
                        <a:latin typeface="+mn-ea"/>
                        <a:sym typeface="+mn-ea"/>
                      </a:endParaRPr>
                    </a:p>
                    <a:p>
                      <a:pPr>
                        <a:buNone/>
                      </a:pPr>
                      <a:r>
                        <a:rPr lang="en-US" altLang="zh-CN" sz="1800" b="1" dirty="0" err="1">
                          <a:solidFill>
                            <a:srgbClr val="FF0000"/>
                          </a:solidFill>
                          <a:latin typeface="+mn-ea"/>
                          <a:sym typeface="+mn-ea"/>
                        </a:rPr>
                        <a:t>expr2.isFloat or expr3.isFloat</a:t>
                      </a:r>
                      <a:endParaRPr lang="en-US" altLang="zh-CN" sz="1800" b="1" dirty="0" err="1">
                        <a:solidFill>
                          <a:srgbClr val="FF0000"/>
                        </a:solidFill>
                        <a:latin typeface="+mn-ea"/>
                        <a:sym typeface="+mn-ea"/>
                      </a:endParaRPr>
                    </a:p>
                  </a:txBody>
                  <a:tcPr/>
                </a:tc>
              </a:tr>
              <a:tr h="454025">
                <a:tc>
                  <a:txBody>
                    <a:bodyPr/>
                    <a:p>
                      <a:pPr>
                        <a:buNone/>
                      </a:pPr>
                      <a:r>
                        <a:rPr lang="en-US" altLang="zh-CN" sz="1800" b="1" dirty="0" err="1">
                          <a:solidFill>
                            <a:srgbClr val="000000"/>
                          </a:solidFill>
                          <a:latin typeface="+mn-ea"/>
                          <a:sym typeface="+mn-ea"/>
                        </a:rPr>
                        <a:t>expr→num</a:t>
                      </a:r>
                      <a:endParaRPr lang="zh-CN" altLang="en-US"/>
                    </a:p>
                  </a:txBody>
                  <a:tcPr/>
                </a:tc>
                <a:tc>
                  <a:txBody>
                    <a:bodyPr/>
                    <a:p>
                      <a:pPr>
                        <a:buNone/>
                      </a:pPr>
                      <a:r>
                        <a:rPr lang="en-US" altLang="zh-CN" sz="1800" b="1" dirty="0" err="1">
                          <a:solidFill>
                            <a:srgbClr val="FF0000"/>
                          </a:solidFill>
                          <a:latin typeface="+mn-ea"/>
                          <a:sym typeface="+mn-ea"/>
                        </a:rPr>
                        <a:t>expr.isFloat=false</a:t>
                      </a:r>
                      <a:endParaRPr lang="en-US" altLang="zh-CN" sz="1800" b="1" dirty="0" err="1">
                        <a:solidFill>
                          <a:srgbClr val="FF0000"/>
                        </a:solidFill>
                        <a:latin typeface="+mn-ea"/>
                        <a:sym typeface="+mn-ea"/>
                      </a:endParaRPr>
                    </a:p>
                  </a:txBody>
                  <a:tcPr/>
                </a:tc>
              </a:tr>
              <a:tr h="391795">
                <a:tc>
                  <a:txBody>
                    <a:bodyPr/>
                    <a:p>
                      <a:pPr>
                        <a:buNone/>
                      </a:pPr>
                      <a:r>
                        <a:rPr lang="en-US" altLang="zh-CN" sz="1800" b="1" dirty="0" err="1">
                          <a:solidFill>
                            <a:srgbClr val="000000"/>
                          </a:solidFill>
                          <a:latin typeface="+mn-ea"/>
                          <a:sym typeface="+mn-ea"/>
                        </a:rPr>
                        <a:t>expr→num.num</a:t>
                      </a:r>
                      <a:endParaRPr lang="zh-CN" altLang="en-US"/>
                    </a:p>
                  </a:txBody>
                  <a:tcPr/>
                </a:tc>
                <a:tc>
                  <a:txBody>
                    <a:bodyPr/>
                    <a:p>
                      <a:pPr>
                        <a:buNone/>
                      </a:pPr>
                      <a:r>
                        <a:rPr lang="en-US" altLang="zh-CN" sz="1800" b="1" dirty="0" err="1">
                          <a:solidFill>
                            <a:srgbClr val="FF0000"/>
                          </a:solidFill>
                          <a:latin typeface="+mn-ea"/>
                          <a:sym typeface="+mn-ea"/>
                        </a:rPr>
                        <a:t>expr.isFloat=true</a:t>
                      </a:r>
                      <a:endParaRPr lang="en-US" altLang="zh-CN" sz="1800" b="1" dirty="0" err="1">
                        <a:solidFill>
                          <a:srgbClr val="FF0000"/>
                        </a:solidFill>
                        <a:latin typeface="+mn-ea"/>
                        <a:sym typeface="+mn-ea"/>
                      </a:endParaRPr>
                    </a:p>
                  </a:txBody>
                  <a:tcPr/>
                </a:tc>
              </a:tr>
            </a:tbl>
          </a:graphicData>
        </a:graphic>
      </p:graphicFrame>
      <p:pic>
        <p:nvPicPr>
          <p:cNvPr id="7" name="Picture 3"/>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407670" y="2192655"/>
            <a:ext cx="695579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sp>
        <p:nvSpPr>
          <p:cNvPr id="6" name="矩形 6"/>
          <p:cNvSpPr>
            <a:spLocks noChangeArrowheads="1"/>
          </p:cNvSpPr>
          <p:nvPr/>
        </p:nvSpPr>
        <p:spPr bwMode="auto">
          <a:xfrm>
            <a:off x="1881188" y="1362605"/>
            <a:ext cx="8715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75000"/>
              </a:lnSpc>
              <a:spcBef>
                <a:spcPct val="20000"/>
              </a:spcBef>
              <a:buClr>
                <a:schemeClr val="accent2"/>
              </a:buClr>
              <a:buFont typeface="Wingdings" panose="05000000000000000000" pitchFamily="2" charset="2"/>
              <a:buNone/>
            </a:pPr>
            <a:r>
              <a:rPr lang="zh-CN" altLang="en-US" sz="2400" b="1" dirty="0">
                <a:latin typeface="+mn-ea"/>
              </a:rPr>
              <a:t>辅助属性</a:t>
            </a:r>
            <a:r>
              <a:rPr lang="en-US" altLang="zh-CN" sz="2400" b="1" dirty="0" err="1">
                <a:latin typeface="+mn-ea"/>
              </a:rPr>
              <a:t>isFloat</a:t>
            </a:r>
            <a:r>
              <a:rPr lang="zh-CN" altLang="en-US" sz="2400" b="1" dirty="0">
                <a:latin typeface="+mn-ea"/>
              </a:rPr>
              <a:t>，首先判断整个表达式是</a:t>
            </a:r>
            <a:r>
              <a:rPr lang="en-US" altLang="zh-CN" sz="2400" b="1" dirty="0">
                <a:latin typeface="+mn-ea"/>
              </a:rPr>
              <a:t>float</a:t>
            </a:r>
            <a:r>
              <a:rPr lang="zh-CN" altLang="en-US" sz="2400" b="1" dirty="0">
                <a:latin typeface="+mn-ea"/>
              </a:rPr>
              <a:t>类型还是</a:t>
            </a:r>
            <a:r>
              <a:rPr lang="en-US" altLang="zh-CN" sz="2400" b="1" dirty="0">
                <a:latin typeface="+mn-ea"/>
              </a:rPr>
              <a:t>int</a:t>
            </a:r>
            <a:r>
              <a:rPr lang="zh-CN" altLang="en-US" sz="2400" b="1" dirty="0">
                <a:latin typeface="+mn-ea"/>
              </a:rPr>
              <a:t>类型</a:t>
            </a:r>
            <a:endParaRPr lang="zh-CN" altLang="en-US" sz="2400" b="1" dirty="0">
              <a:latin typeface="+mn-ea"/>
            </a:endParaRPr>
          </a:p>
        </p:txBody>
      </p:sp>
      <p:graphicFrame>
        <p:nvGraphicFramePr>
          <p:cNvPr id="2" name="表格 1"/>
          <p:cNvGraphicFramePr/>
          <p:nvPr>
            <p:custDataLst>
              <p:tags r:id="rId1"/>
            </p:custDataLst>
          </p:nvPr>
        </p:nvGraphicFramePr>
        <p:xfrm>
          <a:off x="7430770" y="1855470"/>
          <a:ext cx="4396740" cy="3582035"/>
        </p:xfrm>
        <a:graphic>
          <a:graphicData uri="http://schemas.openxmlformats.org/drawingml/2006/table">
            <a:tbl>
              <a:tblPr firstRow="1" bandRow="1">
                <a:tableStyleId>{5C22544A-7EE6-4342-B048-85BDC9FD1C3A}</a:tableStyleId>
              </a:tblPr>
              <a:tblGrid>
                <a:gridCol w="2353945"/>
                <a:gridCol w="2042795"/>
              </a:tblGrid>
              <a:tr h="389255">
                <a:tc>
                  <a:txBody>
                    <a:bodyPr/>
                    <a:p>
                      <a:pPr>
                        <a:buNone/>
                      </a:pPr>
                      <a:r>
                        <a:rPr lang="zh-CN" altLang="en-US"/>
                        <a:t>文法</a:t>
                      </a:r>
                      <a:r>
                        <a:rPr lang="zh-CN" altLang="en-US"/>
                        <a:t>规则</a:t>
                      </a:r>
                      <a:endParaRPr lang="zh-CN" altLang="en-US"/>
                    </a:p>
                  </a:txBody>
                  <a:tcPr/>
                </a:tc>
                <a:tc>
                  <a:txBody>
                    <a:bodyPr/>
                    <a:p>
                      <a:pPr>
                        <a:buNone/>
                      </a:pPr>
                      <a:r>
                        <a:rPr lang="zh-CN" altLang="en-US"/>
                        <a:t>语义</a:t>
                      </a:r>
                      <a:r>
                        <a:rPr lang="zh-CN" altLang="en-US"/>
                        <a:t>规则</a:t>
                      </a:r>
                      <a:endParaRPr lang="zh-CN" altLang="en-US"/>
                    </a:p>
                  </a:txBody>
                  <a:tcPr/>
                </a:tc>
              </a:tr>
              <a:tr h="412750">
                <a:tc>
                  <a:txBody>
                    <a:bodyPr/>
                    <a:p>
                      <a:pPr>
                        <a:buNone/>
                      </a:pPr>
                      <a:r>
                        <a:rPr lang="en-US" altLang="zh-CN"/>
                        <a:t>S</a:t>
                      </a:r>
                      <a:r>
                        <a:rPr lang="en-US" altLang="zh-CN" sz="1800" b="1" dirty="0" err="1">
                          <a:solidFill>
                            <a:srgbClr val="000000"/>
                          </a:solidFill>
                          <a:latin typeface="+mn-ea"/>
                          <a:sym typeface="+mn-ea"/>
                        </a:rPr>
                        <a:t>→</a:t>
                      </a:r>
                      <a:r>
                        <a:rPr lang="en-US" altLang="zh-CN" sz="1800" b="1" dirty="0" err="1">
                          <a:solidFill>
                            <a:srgbClr val="000000"/>
                          </a:solidFill>
                          <a:latin typeface="+mn-ea"/>
                          <a:sym typeface="+mn-ea"/>
                        </a:rPr>
                        <a:t>expr</a:t>
                      </a:r>
                      <a:endParaRPr lang="en-US" altLang="zh-CN" sz="1800" b="1" dirty="0" err="1">
                        <a:solidFill>
                          <a:srgbClr val="000000"/>
                        </a:solidFill>
                        <a:latin typeface="+mn-ea"/>
                        <a:sym typeface="+mn-ea"/>
                      </a:endParaRPr>
                    </a:p>
                  </a:txBody>
                  <a:tcPr/>
                </a:tc>
                <a:tc>
                  <a:txBody>
                    <a:bodyPr/>
                    <a:p>
                      <a:pPr>
                        <a:buNone/>
                      </a:pPr>
                      <a:r>
                        <a:rPr lang="en-US" altLang="zh-CN">
                          <a:solidFill>
                            <a:schemeClr val="accent1"/>
                          </a:solidFill>
                        </a:rPr>
                        <a:t>expr.type=if expr.isFloat  then float  else int</a:t>
                      </a:r>
                      <a:endParaRPr lang="en-US" altLang="zh-CN">
                        <a:solidFill>
                          <a:schemeClr val="accent1"/>
                        </a:solidFill>
                      </a:endParaRPr>
                    </a:p>
                  </a:txBody>
                  <a:tcPr/>
                </a:tc>
              </a:tr>
              <a:tr h="1934210">
                <a:tc>
                  <a:txBody>
                    <a:bodyPr/>
                    <a:p>
                      <a:pPr>
                        <a:buNone/>
                      </a:pPr>
                      <a:r>
                        <a:rPr lang="en-US" altLang="zh-CN" sz="1800" b="1" dirty="0" err="1">
                          <a:solidFill>
                            <a:srgbClr val="000000"/>
                          </a:solidFill>
                          <a:latin typeface="+mn-ea"/>
                          <a:sym typeface="+mn-ea"/>
                        </a:rPr>
                        <a:t>expr1→expr2/expr3</a:t>
                      </a:r>
                      <a:endParaRPr lang="en-US" altLang="zh-CN" sz="1800" b="1" dirty="0" err="1">
                        <a:solidFill>
                          <a:srgbClr val="000000"/>
                        </a:solidFill>
                        <a:latin typeface="+mn-ea"/>
                        <a:sym typeface="+mn-ea"/>
                      </a:endParaRPr>
                    </a:p>
                    <a:p>
                      <a:pPr>
                        <a:buNone/>
                      </a:pPr>
                      <a:endParaRPr lang="zh-CN" altLang="en-US"/>
                    </a:p>
                  </a:txBody>
                  <a:tcPr/>
                </a:tc>
                <a:tc>
                  <a:txBody>
                    <a:bodyPr/>
                    <a:p>
                      <a:pPr>
                        <a:buNone/>
                      </a:pPr>
                      <a:r>
                        <a:rPr lang="en-US" altLang="zh-CN" sz="1800" b="1" dirty="0" err="1">
                          <a:solidFill>
                            <a:srgbClr val="FF0000"/>
                          </a:solidFill>
                          <a:latin typeface="+mn-ea"/>
                          <a:sym typeface="+mn-ea"/>
                        </a:rPr>
                        <a:t>expr1.isFloat=</a:t>
                      </a:r>
                      <a:endParaRPr lang="en-US" altLang="zh-CN" sz="1800" b="1" dirty="0" err="1">
                        <a:solidFill>
                          <a:srgbClr val="FF0000"/>
                        </a:solidFill>
                        <a:latin typeface="+mn-ea"/>
                        <a:sym typeface="+mn-ea"/>
                      </a:endParaRPr>
                    </a:p>
                    <a:p>
                      <a:pPr>
                        <a:buNone/>
                      </a:pPr>
                      <a:r>
                        <a:rPr lang="en-US" altLang="zh-CN" sz="1800" b="1" dirty="0" err="1">
                          <a:solidFill>
                            <a:srgbClr val="FF0000"/>
                          </a:solidFill>
                          <a:latin typeface="+mn-ea"/>
                          <a:sym typeface="+mn-ea"/>
                        </a:rPr>
                        <a:t>  expr2.isFloat or    </a:t>
                      </a:r>
                      <a:endParaRPr lang="en-US" altLang="zh-CN" sz="1800" b="1" dirty="0" err="1">
                        <a:solidFill>
                          <a:srgbClr val="FF0000"/>
                        </a:solidFill>
                        <a:latin typeface="+mn-ea"/>
                        <a:sym typeface="+mn-ea"/>
                      </a:endParaRPr>
                    </a:p>
                    <a:p>
                      <a:pPr>
                        <a:buNone/>
                      </a:pPr>
                      <a:r>
                        <a:rPr lang="en-US" altLang="zh-CN" sz="1800" b="1" dirty="0" err="1">
                          <a:solidFill>
                            <a:srgbClr val="FF0000"/>
                          </a:solidFill>
                          <a:latin typeface="+mn-ea"/>
                          <a:sym typeface="+mn-ea"/>
                        </a:rPr>
                        <a:t>  expr3.isFloat</a:t>
                      </a:r>
                      <a:endParaRPr lang="en-US" altLang="zh-CN" sz="1800" b="1" dirty="0" err="1">
                        <a:solidFill>
                          <a:srgbClr val="FF0000"/>
                        </a:solidFill>
                        <a:latin typeface="+mn-ea"/>
                        <a:sym typeface="+mn-ea"/>
                      </a:endParaRPr>
                    </a:p>
                    <a:p>
                      <a:pPr>
                        <a:buNone/>
                      </a:pPr>
                      <a:r>
                        <a:rPr lang="en-US" altLang="zh-CN" sz="1800" b="1" dirty="0" err="1">
                          <a:solidFill>
                            <a:schemeClr val="accent1"/>
                          </a:solidFill>
                          <a:latin typeface="+mn-ea"/>
                          <a:sym typeface="+mn-ea"/>
                        </a:rPr>
                        <a:t>expr2.type=</a:t>
                      </a:r>
                      <a:endParaRPr lang="en-US" altLang="zh-CN" sz="1800" b="1" dirty="0" err="1">
                        <a:solidFill>
                          <a:schemeClr val="accent1"/>
                        </a:solidFill>
                        <a:latin typeface="+mn-ea"/>
                        <a:sym typeface="+mn-ea"/>
                      </a:endParaRPr>
                    </a:p>
                    <a:p>
                      <a:pPr>
                        <a:buNone/>
                      </a:pPr>
                      <a:r>
                        <a:rPr lang="en-US" altLang="zh-CN" sz="1800" b="1" dirty="0" err="1">
                          <a:solidFill>
                            <a:schemeClr val="accent1"/>
                          </a:solidFill>
                          <a:latin typeface="+mn-ea"/>
                          <a:sym typeface="+mn-ea"/>
                        </a:rPr>
                        <a:t>   expr1.type</a:t>
                      </a:r>
                      <a:endParaRPr lang="zh-CN" altLang="en-US">
                        <a:solidFill>
                          <a:schemeClr val="accent1"/>
                        </a:solidFill>
                      </a:endParaRPr>
                    </a:p>
                    <a:p>
                      <a:pPr>
                        <a:buNone/>
                      </a:pPr>
                      <a:r>
                        <a:rPr lang="en-US" altLang="zh-CN" sz="1800" b="1" dirty="0" err="1">
                          <a:solidFill>
                            <a:schemeClr val="accent1"/>
                          </a:solidFill>
                          <a:latin typeface="+mn-ea"/>
                          <a:sym typeface="+mn-ea"/>
                        </a:rPr>
                        <a:t>expr3.type=</a:t>
                      </a:r>
                      <a:endParaRPr lang="en-US" altLang="zh-CN" sz="1800" b="1" dirty="0" err="1">
                        <a:solidFill>
                          <a:schemeClr val="accent1"/>
                        </a:solidFill>
                        <a:latin typeface="+mn-ea"/>
                        <a:sym typeface="+mn-ea"/>
                      </a:endParaRPr>
                    </a:p>
                    <a:p>
                      <a:pPr>
                        <a:buNone/>
                      </a:pPr>
                      <a:r>
                        <a:rPr lang="en-US" altLang="zh-CN" sz="1800" b="1" dirty="0" err="1">
                          <a:solidFill>
                            <a:schemeClr val="accent1"/>
                          </a:solidFill>
                          <a:latin typeface="+mn-ea"/>
                          <a:sym typeface="+mn-ea"/>
                        </a:rPr>
                        <a:t>   expr1.type</a:t>
                      </a:r>
                      <a:endParaRPr lang="en-US" altLang="zh-CN" sz="1800" b="1" dirty="0" err="1">
                        <a:solidFill>
                          <a:schemeClr val="accent1"/>
                        </a:solidFill>
                        <a:latin typeface="+mn-ea"/>
                        <a:sym typeface="+mn-ea"/>
                      </a:endParaRPr>
                    </a:p>
                  </a:txBody>
                  <a:tcPr/>
                </a:tc>
              </a:tr>
              <a:tr h="454025">
                <a:tc>
                  <a:txBody>
                    <a:bodyPr/>
                    <a:p>
                      <a:pPr>
                        <a:buNone/>
                      </a:pPr>
                      <a:r>
                        <a:rPr lang="en-US" altLang="zh-CN" sz="1800" b="1" dirty="0" err="1">
                          <a:solidFill>
                            <a:srgbClr val="000000"/>
                          </a:solidFill>
                          <a:latin typeface="+mn-ea"/>
                          <a:sym typeface="+mn-ea"/>
                        </a:rPr>
                        <a:t>expr→num</a:t>
                      </a:r>
                      <a:endParaRPr lang="zh-CN" altLang="en-US"/>
                    </a:p>
                  </a:txBody>
                  <a:tcPr/>
                </a:tc>
                <a:tc>
                  <a:txBody>
                    <a:bodyPr/>
                    <a:p>
                      <a:pPr>
                        <a:buNone/>
                      </a:pPr>
                      <a:r>
                        <a:rPr lang="en-US" altLang="zh-CN" sz="1800" b="1" dirty="0" err="1">
                          <a:solidFill>
                            <a:srgbClr val="FF0000"/>
                          </a:solidFill>
                          <a:latin typeface="+mn-ea"/>
                          <a:sym typeface="+mn-ea"/>
                        </a:rPr>
                        <a:t>expr.isFloat=false</a:t>
                      </a:r>
                      <a:endParaRPr lang="en-US" altLang="zh-CN" sz="1800" b="1" dirty="0" err="1">
                        <a:solidFill>
                          <a:srgbClr val="FF0000"/>
                        </a:solidFill>
                        <a:latin typeface="+mn-ea"/>
                        <a:sym typeface="+mn-ea"/>
                      </a:endParaRPr>
                    </a:p>
                  </a:txBody>
                  <a:tcPr/>
                </a:tc>
              </a:tr>
              <a:tr h="391795">
                <a:tc>
                  <a:txBody>
                    <a:bodyPr/>
                    <a:p>
                      <a:pPr>
                        <a:buNone/>
                      </a:pPr>
                      <a:r>
                        <a:rPr lang="en-US" altLang="zh-CN" sz="1800" b="1" dirty="0" err="1">
                          <a:solidFill>
                            <a:srgbClr val="000000"/>
                          </a:solidFill>
                          <a:latin typeface="+mn-ea"/>
                          <a:sym typeface="+mn-ea"/>
                        </a:rPr>
                        <a:t>expr→num.num</a:t>
                      </a:r>
                      <a:endParaRPr lang="zh-CN" altLang="en-US"/>
                    </a:p>
                  </a:txBody>
                  <a:tcPr/>
                </a:tc>
                <a:tc>
                  <a:txBody>
                    <a:bodyPr/>
                    <a:p>
                      <a:pPr>
                        <a:buNone/>
                      </a:pPr>
                      <a:r>
                        <a:rPr lang="en-US" altLang="zh-CN" sz="1800" b="1" dirty="0" err="1">
                          <a:solidFill>
                            <a:srgbClr val="FF0000"/>
                          </a:solidFill>
                          <a:latin typeface="+mn-ea"/>
                          <a:sym typeface="+mn-ea"/>
                        </a:rPr>
                        <a:t>expr.isFloat=true</a:t>
                      </a:r>
                      <a:endParaRPr lang="en-US" altLang="zh-CN" sz="1800" b="1" dirty="0" err="1">
                        <a:solidFill>
                          <a:srgbClr val="FF0000"/>
                        </a:solidFill>
                        <a:latin typeface="+mn-ea"/>
                        <a:sym typeface="+mn-ea"/>
                      </a:endParaRPr>
                    </a:p>
                  </a:txBody>
                  <a:tcPr/>
                </a:tc>
              </a:tr>
            </a:tbl>
          </a:graphicData>
        </a:graphic>
      </p:graphicFrame>
      <p:pic>
        <p:nvPicPr>
          <p:cNvPr id="3" name="Picture 3"/>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345440" y="1855470"/>
            <a:ext cx="7084695" cy="376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pic>
        <p:nvPicPr>
          <p:cNvPr id="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187" y="1650895"/>
            <a:ext cx="701992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 name="矩形 8"/>
          <p:cNvSpPr>
            <a:spLocks noChangeArrowheads="1"/>
          </p:cNvSpPr>
          <p:nvPr/>
        </p:nvSpPr>
        <p:spPr bwMode="auto">
          <a:xfrm>
            <a:off x="1803188" y="1282700"/>
            <a:ext cx="3982509"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75000"/>
              </a:lnSpc>
              <a:spcBef>
                <a:spcPct val="20000"/>
              </a:spcBef>
              <a:buClr>
                <a:schemeClr val="accent2"/>
              </a:buClr>
              <a:buFont typeface="Wingdings" panose="05000000000000000000" pitchFamily="2" charset="2"/>
              <a:buNone/>
            </a:pPr>
            <a:r>
              <a:rPr lang="zh-CN" altLang="en-US" sz="2400" b="1" dirty="0">
                <a:latin typeface="+mn-ea"/>
              </a:rPr>
              <a:t>计算属性</a:t>
            </a:r>
            <a:r>
              <a:rPr lang="en-US" altLang="zh-CN" sz="2400" b="1" dirty="0" err="1">
                <a:latin typeface="+mn-ea"/>
              </a:rPr>
              <a:t>val</a:t>
            </a:r>
            <a:endParaRPr lang="zh-CN" altLang="en-US" sz="2400" b="1" dirty="0">
              <a:latin typeface="+mn-ea"/>
            </a:endParaRPr>
          </a:p>
        </p:txBody>
      </p:sp>
      <p:graphicFrame>
        <p:nvGraphicFramePr>
          <p:cNvPr id="2" name="表格 1"/>
          <p:cNvGraphicFramePr/>
          <p:nvPr>
            <p:custDataLst>
              <p:tags r:id="rId2"/>
            </p:custDataLst>
          </p:nvPr>
        </p:nvGraphicFramePr>
        <p:xfrm>
          <a:off x="7376795" y="1389380"/>
          <a:ext cx="4396740" cy="3397250"/>
        </p:xfrm>
        <a:graphic>
          <a:graphicData uri="http://schemas.openxmlformats.org/drawingml/2006/table">
            <a:tbl>
              <a:tblPr firstRow="1" bandRow="1">
                <a:tableStyleId>{5C22544A-7EE6-4342-B048-85BDC9FD1C3A}</a:tableStyleId>
              </a:tblPr>
              <a:tblGrid>
                <a:gridCol w="1805305"/>
                <a:gridCol w="2591435"/>
              </a:tblGrid>
              <a:tr h="389255">
                <a:tc>
                  <a:txBody>
                    <a:bodyPr/>
                    <a:p>
                      <a:pPr>
                        <a:buNone/>
                      </a:pPr>
                      <a:r>
                        <a:rPr lang="zh-CN" altLang="en-US"/>
                        <a:t>文法</a:t>
                      </a:r>
                      <a:r>
                        <a:rPr lang="zh-CN" altLang="en-US"/>
                        <a:t>规则</a:t>
                      </a:r>
                      <a:endParaRPr lang="zh-CN" altLang="en-US"/>
                    </a:p>
                  </a:txBody>
                  <a:tcPr/>
                </a:tc>
                <a:tc>
                  <a:txBody>
                    <a:bodyPr/>
                    <a:p>
                      <a:pPr>
                        <a:buNone/>
                      </a:pPr>
                      <a:r>
                        <a:rPr lang="zh-CN" altLang="en-US"/>
                        <a:t>语义</a:t>
                      </a:r>
                      <a:r>
                        <a:rPr lang="zh-CN" altLang="en-US"/>
                        <a:t>规则</a:t>
                      </a:r>
                      <a:endParaRPr lang="zh-CN" altLang="en-US"/>
                    </a:p>
                  </a:txBody>
                  <a:tcPr/>
                </a:tc>
              </a:tr>
              <a:tr h="412750">
                <a:tc>
                  <a:txBody>
                    <a:bodyPr/>
                    <a:p>
                      <a:pPr>
                        <a:buNone/>
                      </a:pPr>
                      <a:r>
                        <a:rPr lang="en-US" altLang="zh-CN"/>
                        <a:t>S</a:t>
                      </a:r>
                      <a:r>
                        <a:rPr lang="en-US" altLang="zh-CN" sz="1800" b="1" dirty="0" err="1">
                          <a:solidFill>
                            <a:srgbClr val="000000"/>
                          </a:solidFill>
                          <a:latin typeface="+mn-ea"/>
                          <a:sym typeface="+mn-ea"/>
                        </a:rPr>
                        <a:t>→</a:t>
                      </a:r>
                      <a:r>
                        <a:rPr lang="en-US" altLang="zh-CN" sz="1800" b="1" dirty="0" err="1">
                          <a:solidFill>
                            <a:srgbClr val="000000"/>
                          </a:solidFill>
                          <a:latin typeface="+mn-ea"/>
                          <a:sym typeface="+mn-ea"/>
                        </a:rPr>
                        <a:t>expr</a:t>
                      </a:r>
                      <a:endParaRPr lang="en-US" altLang="zh-CN" sz="1800" b="1" dirty="0" err="1">
                        <a:solidFill>
                          <a:srgbClr val="000000"/>
                        </a:solidFill>
                        <a:latin typeface="+mn-ea"/>
                        <a:sym typeface="+mn-ea"/>
                      </a:endParaRPr>
                    </a:p>
                  </a:txBody>
                  <a:tcPr/>
                </a:tc>
                <a:tc>
                  <a:txBody>
                    <a:bodyPr/>
                    <a:p>
                      <a:pPr algn="l">
                        <a:buClrTx/>
                        <a:buSzTx/>
                        <a:buFontTx/>
                        <a:buNone/>
                      </a:pPr>
                      <a:r>
                        <a:rPr lang="en-US" altLang="zh-CN" b="1" dirty="0" err="1">
                          <a:solidFill>
                            <a:schemeClr val="accent1"/>
                          </a:solidFill>
                          <a:latin typeface="+mn-ea"/>
                        </a:rPr>
                        <a:t>S.val=expr.val</a:t>
                      </a:r>
                      <a:endParaRPr lang="en-US" altLang="zh-CN" b="1" dirty="0" err="1">
                        <a:solidFill>
                          <a:schemeClr val="accent1"/>
                        </a:solidFill>
                        <a:latin typeface="+mn-ea"/>
                      </a:endParaRPr>
                    </a:p>
                  </a:txBody>
                  <a:tcPr/>
                </a:tc>
              </a:tr>
              <a:tr h="1501140">
                <a:tc>
                  <a:txBody>
                    <a:bodyPr/>
                    <a:p>
                      <a:pPr>
                        <a:buNone/>
                      </a:pPr>
                      <a:r>
                        <a:rPr lang="en-US" altLang="zh-CN" sz="1800" b="1" dirty="0" err="1">
                          <a:solidFill>
                            <a:srgbClr val="000000"/>
                          </a:solidFill>
                          <a:latin typeface="+mn-ea"/>
                          <a:sym typeface="+mn-ea"/>
                        </a:rPr>
                        <a:t>expr1→</a:t>
                      </a:r>
                      <a:endParaRPr lang="en-US" altLang="zh-CN" sz="1800" b="1" dirty="0" err="1">
                        <a:solidFill>
                          <a:srgbClr val="000000"/>
                        </a:solidFill>
                        <a:latin typeface="+mn-ea"/>
                        <a:sym typeface="+mn-ea"/>
                      </a:endParaRPr>
                    </a:p>
                    <a:p>
                      <a:pPr>
                        <a:buNone/>
                      </a:pPr>
                      <a:r>
                        <a:rPr lang="en-US" altLang="zh-CN" sz="1800" b="1" dirty="0" err="1">
                          <a:solidFill>
                            <a:srgbClr val="000000"/>
                          </a:solidFill>
                          <a:latin typeface="+mn-ea"/>
                          <a:sym typeface="+mn-ea"/>
                        </a:rPr>
                        <a:t>     expr2/expr3</a:t>
                      </a:r>
                      <a:endParaRPr lang="en-US" altLang="zh-CN" sz="1800" b="1" dirty="0" err="1">
                        <a:solidFill>
                          <a:srgbClr val="000000"/>
                        </a:solidFill>
                        <a:latin typeface="+mn-ea"/>
                        <a:sym typeface="+mn-ea"/>
                      </a:endParaRPr>
                    </a:p>
                    <a:p>
                      <a:pPr>
                        <a:buNone/>
                      </a:pPr>
                      <a:endParaRPr lang="zh-CN" altLang="en-US"/>
                    </a:p>
                  </a:txBody>
                  <a:tcPr/>
                </a:tc>
                <a:tc>
                  <a:txBody>
                    <a:bodyPr/>
                    <a:p>
                      <a:pPr algn="l">
                        <a:buClrTx/>
                        <a:buSzTx/>
                        <a:buFontTx/>
                        <a:buNone/>
                      </a:pPr>
                      <a:r>
                        <a:rPr lang="en-US" altLang="zh-CN" sz="1800" b="1" dirty="0" err="1">
                          <a:solidFill>
                            <a:schemeClr val="accent1"/>
                          </a:solidFill>
                          <a:latin typeface="+mn-ea"/>
                          <a:sym typeface="+mn-ea"/>
                        </a:rPr>
                        <a:t>expr1.val=</a:t>
                      </a:r>
                      <a:endParaRPr lang="en-US" altLang="zh-CN" sz="1800" b="1" dirty="0" err="1">
                        <a:solidFill>
                          <a:schemeClr val="accent1"/>
                        </a:solidFill>
                        <a:latin typeface="+mn-ea"/>
                        <a:sym typeface="+mn-ea"/>
                      </a:endParaRPr>
                    </a:p>
                    <a:p>
                      <a:pPr algn="l">
                        <a:buClrTx/>
                        <a:buSzTx/>
                        <a:buFontTx/>
                        <a:buNone/>
                      </a:pPr>
                      <a:r>
                        <a:rPr lang="en-US" altLang="zh-CN" sz="1800" b="1" dirty="0" err="1">
                          <a:solidFill>
                            <a:schemeClr val="accent1"/>
                          </a:solidFill>
                          <a:latin typeface="+mn-ea"/>
                          <a:sym typeface="+mn-ea"/>
                        </a:rPr>
                        <a:t>   if(expr1.type==int) then expr2.val div  </a:t>
                      </a:r>
                      <a:endParaRPr lang="en-US" altLang="zh-CN" sz="1800" b="1" dirty="0" err="1">
                        <a:solidFill>
                          <a:schemeClr val="accent1"/>
                        </a:solidFill>
                        <a:latin typeface="+mn-ea"/>
                        <a:sym typeface="+mn-ea"/>
                      </a:endParaRPr>
                    </a:p>
                    <a:p>
                      <a:pPr algn="l">
                        <a:buClrTx/>
                        <a:buSzTx/>
                        <a:buFontTx/>
                        <a:buNone/>
                      </a:pPr>
                      <a:r>
                        <a:rPr lang="en-US" altLang="zh-CN" sz="1800" b="1" dirty="0" err="1">
                          <a:solidFill>
                            <a:schemeClr val="accent1"/>
                          </a:solidFill>
                          <a:latin typeface="+mn-ea"/>
                          <a:sym typeface="+mn-ea"/>
                        </a:rPr>
                        <a:t>    expr3.val else   </a:t>
                      </a:r>
                      <a:endParaRPr lang="en-US" altLang="zh-CN" sz="1800" b="1" dirty="0" err="1">
                        <a:solidFill>
                          <a:schemeClr val="accent1"/>
                        </a:solidFill>
                        <a:latin typeface="+mn-ea"/>
                        <a:sym typeface="+mn-ea"/>
                      </a:endParaRPr>
                    </a:p>
                    <a:p>
                      <a:pPr algn="l">
                        <a:buClrTx/>
                        <a:buSzTx/>
                        <a:buFontTx/>
                        <a:buNone/>
                      </a:pPr>
                      <a:r>
                        <a:rPr lang="en-US" altLang="zh-CN" sz="1800" b="1" dirty="0" err="1">
                          <a:solidFill>
                            <a:schemeClr val="accent1"/>
                          </a:solidFill>
                          <a:latin typeface="+mn-ea"/>
                          <a:sym typeface="+mn-ea"/>
                        </a:rPr>
                        <a:t>    expr2.val/expr3.val</a:t>
                      </a:r>
                      <a:endParaRPr lang="en-US" altLang="zh-CN" sz="1800" b="1" dirty="0" err="1">
                        <a:solidFill>
                          <a:schemeClr val="accent1"/>
                        </a:solidFill>
                        <a:latin typeface="+mn-ea"/>
                        <a:sym typeface="+mn-ea"/>
                      </a:endParaRPr>
                    </a:p>
                  </a:txBody>
                  <a:tcPr/>
                </a:tc>
              </a:tr>
              <a:tr h="454025">
                <a:tc>
                  <a:txBody>
                    <a:bodyPr/>
                    <a:p>
                      <a:pPr>
                        <a:buNone/>
                      </a:pPr>
                      <a:r>
                        <a:rPr lang="en-US" altLang="zh-CN" sz="1800" b="1" dirty="0" err="1">
                          <a:solidFill>
                            <a:srgbClr val="000000"/>
                          </a:solidFill>
                          <a:latin typeface="+mn-ea"/>
                          <a:sym typeface="+mn-ea"/>
                        </a:rPr>
                        <a:t>expr→num</a:t>
                      </a:r>
                      <a:endParaRPr lang="zh-CN" altLang="en-US"/>
                    </a:p>
                  </a:txBody>
                  <a:tcPr/>
                </a:tc>
                <a:tc>
                  <a:txBody>
                    <a:bodyPr/>
                    <a:p>
                      <a:pPr algn="l">
                        <a:buClrTx/>
                        <a:buSzTx/>
                        <a:buFontTx/>
                        <a:buNone/>
                      </a:pPr>
                      <a:r>
                        <a:rPr lang="en-US" altLang="zh-CN" sz="1800" b="1" dirty="0" err="1">
                          <a:solidFill>
                            <a:schemeClr val="accent1"/>
                          </a:solidFill>
                          <a:latin typeface="+mn-ea"/>
                          <a:sym typeface="+mn-ea"/>
                        </a:rPr>
                        <a:t>expr.val=</a:t>
                      </a:r>
                      <a:endParaRPr lang="en-US" altLang="zh-CN" sz="1800" b="1" dirty="0" err="1">
                        <a:solidFill>
                          <a:schemeClr val="accent1"/>
                        </a:solidFill>
                        <a:latin typeface="+mn-ea"/>
                        <a:sym typeface="+mn-ea"/>
                      </a:endParaRPr>
                    </a:p>
                    <a:p>
                      <a:pPr algn="l">
                        <a:buClrTx/>
                        <a:buSzTx/>
                        <a:buFontTx/>
                        <a:buNone/>
                      </a:pPr>
                      <a:r>
                        <a:rPr lang="en-US" altLang="zh-CN" sz="1800" b="1" dirty="0" err="1">
                          <a:solidFill>
                            <a:schemeClr val="accent1"/>
                          </a:solidFill>
                          <a:latin typeface="+mn-ea"/>
                          <a:sym typeface="+mn-ea"/>
                        </a:rPr>
                        <a:t>   if(expr.type==int) then  num.val</a:t>
                      </a:r>
                      <a:endParaRPr lang="en-US" altLang="zh-CN" sz="1800" b="1" dirty="0" err="1">
                        <a:solidFill>
                          <a:schemeClr val="accent1"/>
                        </a:solidFill>
                        <a:latin typeface="+mn-ea"/>
                        <a:sym typeface="+mn-ea"/>
                      </a:endParaRPr>
                    </a:p>
                    <a:p>
                      <a:pPr algn="l">
                        <a:buClrTx/>
                        <a:buSzTx/>
                        <a:buFontTx/>
                        <a:buNone/>
                      </a:pPr>
                      <a:r>
                        <a:rPr lang="en-US" altLang="zh-CN" sz="1800" b="1" dirty="0" err="1">
                          <a:solidFill>
                            <a:schemeClr val="accent1"/>
                          </a:solidFill>
                          <a:latin typeface="+mn-ea"/>
                          <a:sym typeface="+mn-ea"/>
                        </a:rPr>
                        <a:t>else   </a:t>
                      </a:r>
                      <a:endParaRPr lang="en-US" altLang="zh-CN" sz="1800" b="1" dirty="0" err="1">
                        <a:solidFill>
                          <a:schemeClr val="accent1"/>
                        </a:solidFill>
                        <a:latin typeface="+mn-ea"/>
                        <a:sym typeface="+mn-ea"/>
                      </a:endParaRPr>
                    </a:p>
                    <a:p>
                      <a:pPr algn="l">
                        <a:buClrTx/>
                        <a:buSzTx/>
                        <a:buFontTx/>
                        <a:buNone/>
                      </a:pPr>
                      <a:r>
                        <a:rPr lang="en-US" altLang="zh-CN" sz="1800" b="1" dirty="0" err="1">
                          <a:solidFill>
                            <a:schemeClr val="accent1"/>
                          </a:solidFill>
                          <a:latin typeface="+mn-ea"/>
                          <a:sym typeface="+mn-ea"/>
                        </a:rPr>
                        <a:t>   Float(num.val)</a:t>
                      </a:r>
                      <a:endParaRPr lang="en-US" altLang="zh-CN" sz="1800" b="1" dirty="0" err="1">
                        <a:solidFill>
                          <a:srgbClr val="FF0000"/>
                        </a:solidFill>
                        <a:latin typeface="+mn-ea"/>
                        <a:sym typeface="+mn-ea"/>
                      </a:endParaRPr>
                    </a:p>
                  </a:txBody>
                  <a:tcPr/>
                </a:tc>
              </a:tr>
              <a:tr h="391795">
                <a:tc>
                  <a:txBody>
                    <a:bodyPr/>
                    <a:p>
                      <a:pPr>
                        <a:buNone/>
                      </a:pPr>
                      <a:r>
                        <a:rPr lang="en-US" altLang="zh-CN" sz="1800" b="1" dirty="0" err="1">
                          <a:solidFill>
                            <a:srgbClr val="000000"/>
                          </a:solidFill>
                          <a:latin typeface="+mn-ea"/>
                          <a:sym typeface="+mn-ea"/>
                        </a:rPr>
                        <a:t>expr→</a:t>
                      </a:r>
                      <a:endParaRPr lang="en-US" altLang="zh-CN" sz="1800" b="1" dirty="0" err="1">
                        <a:solidFill>
                          <a:srgbClr val="000000"/>
                        </a:solidFill>
                        <a:latin typeface="+mn-ea"/>
                        <a:sym typeface="+mn-ea"/>
                      </a:endParaRPr>
                    </a:p>
                    <a:p>
                      <a:pPr>
                        <a:buNone/>
                      </a:pPr>
                      <a:r>
                        <a:rPr lang="en-US" altLang="zh-CN" sz="1800" b="1" dirty="0" err="1">
                          <a:solidFill>
                            <a:srgbClr val="000000"/>
                          </a:solidFill>
                          <a:latin typeface="+mn-ea"/>
                          <a:sym typeface="+mn-ea"/>
                        </a:rPr>
                        <a:t>num.num</a:t>
                      </a:r>
                      <a:endParaRPr lang="zh-CN" altLang="en-US"/>
                    </a:p>
                  </a:txBody>
                  <a:tcPr/>
                </a:tc>
                <a:tc>
                  <a:txBody>
                    <a:bodyPr/>
                    <a:p>
                      <a:pPr>
                        <a:buNone/>
                      </a:pPr>
                      <a:r>
                        <a:rPr lang="en-US" altLang="zh-CN" sz="1800" b="1" dirty="0" err="1">
                          <a:solidFill>
                            <a:schemeClr val="accent1"/>
                          </a:solidFill>
                          <a:latin typeface="+mn-ea"/>
                          <a:sym typeface="+mn-ea"/>
                        </a:rPr>
                        <a:t>expr.val=num.num.val</a:t>
                      </a:r>
                      <a:endParaRPr lang="en-US" altLang="zh-CN" sz="1800" b="1" dirty="0" err="1">
                        <a:solidFill>
                          <a:schemeClr val="accent1"/>
                        </a:solidFill>
                        <a:latin typeface="+mn-ea"/>
                        <a:sym typeface="+mn-ea"/>
                      </a:endParaRPr>
                    </a:p>
                    <a:p>
                      <a:pPr>
                        <a:buNone/>
                      </a:pPr>
                      <a:endParaRPr lang="en-US" altLang="zh-CN" sz="1800" b="1" dirty="0" err="1">
                        <a:solidFill>
                          <a:srgbClr val="FF0000"/>
                        </a:solidFill>
                        <a:latin typeface="+mn-ea"/>
                        <a:sym typeface="+mn-ea"/>
                      </a:endParaRPr>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6412" y="1656715"/>
            <a:ext cx="8639175"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 name="矩形 7"/>
          <p:cNvSpPr>
            <a:spLocks noChangeArrowheads="1"/>
          </p:cNvSpPr>
          <p:nvPr/>
        </p:nvSpPr>
        <p:spPr bwMode="auto">
          <a:xfrm>
            <a:off x="1776412" y="1274623"/>
            <a:ext cx="54533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75000"/>
              </a:lnSpc>
              <a:spcBef>
                <a:spcPct val="20000"/>
              </a:spcBef>
              <a:buClr>
                <a:schemeClr val="accent2"/>
              </a:buClr>
              <a:buFont typeface="Wingdings" panose="05000000000000000000" pitchFamily="2" charset="2"/>
              <a:buNone/>
            </a:pPr>
            <a:r>
              <a:rPr lang="zh-CN" altLang="en-US" sz="2400" b="1" dirty="0">
                <a:latin typeface="+mn-ea"/>
              </a:rPr>
              <a:t>计算十进制值</a:t>
            </a:r>
            <a:r>
              <a:rPr lang="en-US" altLang="zh-CN" sz="2400" b="1" dirty="0" err="1">
                <a:latin typeface="+mn-ea"/>
              </a:rPr>
              <a:t>val</a:t>
            </a:r>
            <a:r>
              <a:rPr lang="zh-CN" altLang="en-US" sz="2400" b="1" dirty="0">
                <a:latin typeface="+mn-ea"/>
              </a:rPr>
              <a:t>属性的完整的属性文法</a:t>
            </a:r>
            <a:endParaRPr lang="zh-CN" altLang="en-US" b="1" dirty="0">
              <a:latin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p:txBody>
          <a:bodyPr/>
          <a:lstStyle/>
          <a:p>
            <a:r>
              <a:rPr lang="en-US" altLang="zh-CN"/>
              <a:t>5.1.3 </a:t>
            </a:r>
            <a:r>
              <a:rPr lang="zh-CN" altLang="en-US"/>
              <a:t>继承属性</a:t>
            </a:r>
            <a:endParaRPr lang="zh-CN" altLang="en-US" dirty="0"/>
          </a:p>
        </p:txBody>
      </p:sp>
      <p:sp>
        <p:nvSpPr>
          <p:cNvPr id="5" name="Rectangle 5"/>
          <p:cNvSpPr txBox="1">
            <a:spLocks noChangeArrowheads="1"/>
          </p:cNvSpPr>
          <p:nvPr/>
        </p:nvSpPr>
        <p:spPr>
          <a:xfrm>
            <a:off x="427355" y="1196975"/>
            <a:ext cx="11506200" cy="21113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b="1" dirty="0">
                <a:solidFill>
                  <a:srgbClr val="000000"/>
                </a:solidFill>
                <a:latin typeface="+mn-ea"/>
              </a:rPr>
              <a:t>在包含</a:t>
            </a:r>
            <a:r>
              <a:rPr lang="zh-CN" altLang="en-US" b="1" dirty="0">
                <a:solidFill>
                  <a:srgbClr val="0070C0"/>
                </a:solidFill>
                <a:latin typeface="+mn-ea"/>
              </a:rPr>
              <a:t>合成</a:t>
            </a:r>
            <a:r>
              <a:rPr lang="zh-CN" altLang="en-US" b="1" dirty="0">
                <a:solidFill>
                  <a:srgbClr val="000000"/>
                </a:solidFill>
                <a:latin typeface="+mn-ea"/>
              </a:rPr>
              <a:t>和</a:t>
            </a:r>
            <a:r>
              <a:rPr lang="zh-CN" altLang="en-US" b="1" dirty="0">
                <a:solidFill>
                  <a:srgbClr val="0070C0"/>
                </a:solidFill>
                <a:latin typeface="+mn-ea"/>
              </a:rPr>
              <a:t>继承</a:t>
            </a:r>
            <a:r>
              <a:rPr lang="zh-CN" altLang="en-US" b="1" dirty="0">
                <a:solidFill>
                  <a:srgbClr val="000000"/>
                </a:solidFill>
                <a:latin typeface="+mn-ea"/>
              </a:rPr>
              <a:t>属性的属性文法中，如果合成属性依赖于继承属性以及其它合成属性，但继承属性不依赖于任何合成属性，那么就可能在分析树或语法树的一遍遍历中计算所有的属性。</a:t>
            </a:r>
            <a:endParaRPr lang="zh-CN" altLang="en-US" sz="2800" b="1" dirty="0">
              <a:solidFill>
                <a:srgbClr val="000000"/>
              </a:solidFill>
              <a:latin typeface="+mn-ea"/>
            </a:endParaRPr>
          </a:p>
        </p:txBody>
      </p:sp>
      <p:sp>
        <p:nvSpPr>
          <p:cNvPr id="4" name="Rectangle 2"/>
          <p:cNvSpPr>
            <a:spLocks noChangeArrowheads="1"/>
          </p:cNvSpPr>
          <p:nvPr/>
        </p:nvSpPr>
        <p:spPr bwMode="auto">
          <a:xfrm>
            <a:off x="2861945" y="2983230"/>
            <a:ext cx="6468745" cy="3282315"/>
          </a:xfrm>
          <a:prstGeom prst="rect">
            <a:avLst/>
          </a:prstGeom>
          <a:solidFill>
            <a:schemeClr val="bg2"/>
          </a:solidFill>
          <a:ln>
            <a:noFill/>
          </a:ln>
        </p:spPr>
        <p:txBody>
          <a:bodyPr>
            <a:noAutofit/>
          </a:bodyPr>
          <a:lstStyle/>
          <a:p>
            <a:pPr>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void  </a:t>
            </a:r>
            <a:r>
              <a:rPr lang="en-US" altLang="zh-CN" sz="2400" b="1" dirty="0" err="1">
                <a:solidFill>
                  <a:srgbClr val="FF3399"/>
                </a:solidFill>
                <a:latin typeface="Times New Roman" panose="02020603050405020304" pitchFamily="18" charset="0"/>
                <a:cs typeface="Times New Roman" panose="02020603050405020304" pitchFamily="18" charset="0"/>
              </a:rPr>
              <a:t>CombinedEval</a:t>
            </a:r>
            <a:r>
              <a:rPr lang="en-US" altLang="zh-CN" sz="2400" b="1" dirty="0">
                <a:solidFill>
                  <a:srgbClr val="000000"/>
                </a:solidFill>
                <a:latin typeface="Times New Roman" panose="02020603050405020304" pitchFamily="18" charset="0"/>
                <a:cs typeface="Times New Roman" panose="02020603050405020304" pitchFamily="18" charset="0"/>
              </a:rPr>
              <a:t> (T: </a:t>
            </a:r>
            <a:r>
              <a:rPr lang="en-US" altLang="zh-CN" sz="2400" b="1" dirty="0" err="1">
                <a:solidFill>
                  <a:srgbClr val="000000"/>
                </a:solidFill>
                <a:latin typeface="Times New Roman" panose="02020603050405020304" pitchFamily="18" charset="0"/>
                <a:cs typeface="Times New Roman" panose="02020603050405020304" pitchFamily="18" charset="0"/>
              </a:rPr>
              <a:t>treenode</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 for each child C of T do</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      { compute all inherited attributes of C;</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FF3399"/>
                </a:solidFill>
                <a:latin typeface="Times New Roman" panose="02020603050405020304" pitchFamily="18" charset="0"/>
                <a:cs typeface="Times New Roman" panose="02020603050405020304" pitchFamily="18" charset="0"/>
              </a:rPr>
              <a:t>CombinedEval</a:t>
            </a:r>
            <a:r>
              <a:rPr lang="en-US" altLang="zh-CN" sz="2400" b="1" dirty="0">
                <a:solidFill>
                  <a:srgbClr val="000000"/>
                </a:solidFill>
                <a:latin typeface="Times New Roman" panose="02020603050405020304" pitchFamily="18" charset="0"/>
                <a:cs typeface="Times New Roman" panose="02020603050405020304" pitchFamily="18" charset="0"/>
              </a:rPr>
              <a:t> ( C );}</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  compute all synthesized attributes of T;</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spcBef>
                <a:spcPct val="50000"/>
              </a:spcBef>
            </a:pP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06400" y="276860"/>
            <a:ext cx="5946775" cy="593090"/>
          </a:xfrm>
        </p:spPr>
        <p:txBody>
          <a:bodyPr/>
          <a:lstStyle/>
          <a:p>
            <a:r>
              <a:rPr lang="en-US" altLang="zh-CN" dirty="0"/>
              <a:t>5.1.4 </a:t>
            </a:r>
            <a:r>
              <a:rPr lang="zh-CN" altLang="en-US" dirty="0"/>
              <a:t>属性计算方法</a:t>
            </a:r>
            <a:endParaRPr lang="zh-CN" altLang="en-US" dirty="0"/>
          </a:p>
        </p:txBody>
      </p:sp>
      <p:sp>
        <p:nvSpPr>
          <p:cNvPr id="5" name="内容占位符 9"/>
          <p:cNvSpPr txBox="1">
            <a:spLocks noChangeArrowheads="1"/>
          </p:cNvSpPr>
          <p:nvPr/>
        </p:nvSpPr>
        <p:spPr>
          <a:xfrm>
            <a:off x="478155" y="1095375"/>
            <a:ext cx="11461750" cy="46018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50000"/>
              </a:lnSpc>
              <a:buFont typeface="Wingdings" panose="05000000000000000000" charset="0"/>
              <a:buChar char="p"/>
            </a:pPr>
            <a:r>
              <a:rPr lang="zh-CN" altLang="en-US" sz="2800" b="1" dirty="0">
                <a:solidFill>
                  <a:srgbClr val="0070C0"/>
                </a:solidFill>
                <a:latin typeface="+mn-ea"/>
              </a:rPr>
              <a:t>属性的两种计算方法：</a:t>
            </a:r>
            <a:r>
              <a:rPr lang="zh-CN" altLang="en-US" sz="2800" b="1" dirty="0">
                <a:latin typeface="+mn-ea"/>
              </a:rPr>
              <a:t>抽象语法树遍历的属性计算方法；以及</a:t>
            </a:r>
            <a:r>
              <a:rPr lang="zh-CN" altLang="en-US" sz="2800" b="1" dirty="0">
                <a:latin typeface="+mn-ea"/>
                <a:sym typeface="+mn-ea"/>
              </a:rPr>
              <a:t>一遍语法分析的处理方法（即语法分析时属性的计算）。</a:t>
            </a:r>
            <a:endParaRPr lang="zh-CN" altLang="en-US" sz="2800" b="1" dirty="0">
              <a:latin typeface="+mn-ea"/>
            </a:endParaRPr>
          </a:p>
          <a:p>
            <a:pPr lvl="1">
              <a:lnSpc>
                <a:spcPct val="150000"/>
              </a:lnSpc>
              <a:buFont typeface="Wingdings" panose="05000000000000000000" charset="0"/>
              <a:buChar char="p"/>
            </a:pPr>
            <a:r>
              <a:rPr lang="zh-CN" altLang="en-US" sz="2400" b="1" dirty="0">
                <a:solidFill>
                  <a:srgbClr val="000000"/>
                </a:solidFill>
                <a:latin typeface="+mn-ea"/>
                <a:sym typeface="+mn-ea"/>
              </a:rPr>
              <a:t>假设语法分析的结果</a:t>
            </a:r>
            <a:r>
              <a:rPr lang="en-US" altLang="zh-CN" sz="2400" b="1" dirty="0">
                <a:solidFill>
                  <a:srgbClr val="000000"/>
                </a:solidFill>
                <a:latin typeface="+mn-ea"/>
                <a:sym typeface="+mn-ea"/>
              </a:rPr>
              <a:t>—</a:t>
            </a:r>
            <a:r>
              <a:rPr lang="zh-CN" altLang="en-US" sz="2400" b="1" dirty="0">
                <a:solidFill>
                  <a:srgbClr val="000000"/>
                </a:solidFill>
                <a:latin typeface="+mn-ea"/>
                <a:sym typeface="+mn-ea"/>
              </a:rPr>
              <a:t>分析树或语法树</a:t>
            </a:r>
            <a:r>
              <a:rPr lang="en-US" altLang="zh-CN" sz="2400" b="1" dirty="0">
                <a:solidFill>
                  <a:srgbClr val="000000"/>
                </a:solidFill>
                <a:latin typeface="+mn-ea"/>
                <a:sym typeface="+mn-ea"/>
              </a:rPr>
              <a:t>—</a:t>
            </a:r>
            <a:r>
              <a:rPr lang="zh-CN" altLang="en-US" sz="2400" b="1" dirty="0">
                <a:solidFill>
                  <a:srgbClr val="000000"/>
                </a:solidFill>
                <a:latin typeface="+mn-ea"/>
                <a:sym typeface="+mn-ea"/>
              </a:rPr>
              <a:t>已经建立了，并且树中已带有终结符的相应属性，可以以某种次序遍历语法树，直至计算出所有属性，如果需要的话，可使用多次遍历。</a:t>
            </a:r>
            <a:r>
              <a:rPr lang="en-US" altLang="zh-CN" sz="2400" b="1" dirty="0">
                <a:latin typeface="+mn-ea"/>
                <a:sym typeface="+mn-ea"/>
              </a:rPr>
              <a:t>GJC</a:t>
            </a:r>
            <a:r>
              <a:rPr lang="zh-CN" altLang="en-US" sz="2400" b="1" dirty="0">
                <a:latin typeface="+mn-ea"/>
                <a:sym typeface="+mn-ea"/>
              </a:rPr>
              <a:t>语法遍历</a:t>
            </a:r>
            <a:r>
              <a:rPr lang="zh-CN" altLang="en-US" sz="2400" b="1" dirty="0">
                <a:latin typeface="+mn-ea"/>
                <a:sym typeface="+mn-ea"/>
              </a:rPr>
              <a:t>的源码包括</a:t>
            </a:r>
            <a:r>
              <a:rPr lang="en-US" altLang="zh-CN" sz="2400" b="1" dirty="0">
                <a:latin typeface="+mn-ea"/>
                <a:sym typeface="+mn-ea"/>
              </a:rPr>
              <a:t>Attr.java</a:t>
            </a:r>
            <a:r>
              <a:rPr lang="zh-CN" altLang="en-US" sz="2400" b="1" dirty="0">
                <a:latin typeface="+mn-ea"/>
                <a:sym typeface="+mn-ea"/>
              </a:rPr>
              <a:t>，</a:t>
            </a:r>
            <a:r>
              <a:rPr lang="en-US" altLang="zh-CN" sz="2400" b="1" dirty="0">
                <a:latin typeface="+mn-ea"/>
                <a:sym typeface="+mn-ea"/>
              </a:rPr>
              <a:t>Check.java</a:t>
            </a:r>
            <a:r>
              <a:rPr lang="zh-CN" altLang="en-US" sz="2400" b="1" dirty="0">
                <a:latin typeface="+mn-ea"/>
                <a:sym typeface="+mn-ea"/>
              </a:rPr>
              <a:t>。</a:t>
            </a:r>
            <a:endParaRPr lang="zh-CN" altLang="en-US" sz="2400" b="1" dirty="0">
              <a:latin typeface="+mn-ea"/>
              <a:sym typeface="+mn-ea"/>
            </a:endParaRPr>
          </a:p>
          <a:p>
            <a:pPr lvl="1">
              <a:lnSpc>
                <a:spcPct val="150000"/>
              </a:lnSpc>
              <a:buFont typeface="Wingdings" panose="05000000000000000000" charset="0"/>
              <a:buChar char="p"/>
            </a:pPr>
            <a:r>
              <a:rPr lang="zh-CN" altLang="en-US" b="1" dirty="0">
                <a:solidFill>
                  <a:srgbClr val="000000"/>
                </a:solidFill>
                <a:latin typeface="+mn-ea"/>
                <a:sym typeface="+mn-ea"/>
              </a:rPr>
              <a:t>与树遍历的属性计算文法不同，一遍语法分析的处理方法是在语法分析的同时计算属性值，而不是语法分析构造语法树之后进行属性的计算。</a:t>
            </a:r>
            <a:r>
              <a:rPr lang="zh-CN" altLang="en-US" sz="2400" b="1" dirty="0">
                <a:latin typeface="+mn-ea"/>
                <a:sym typeface="+mn-ea"/>
              </a:rPr>
              <a:t> </a:t>
            </a:r>
            <a:r>
              <a:rPr lang="zh-CN" altLang="en-US" sz="2400" b="1" dirty="0">
                <a:solidFill>
                  <a:srgbClr val="000000"/>
                </a:solidFill>
                <a:latin typeface="+mn-ea"/>
                <a:sym typeface="+mn-ea"/>
              </a:rPr>
              <a:t> </a:t>
            </a:r>
            <a:endParaRPr lang="zh-CN" altLang="en-US" b="1" dirty="0">
              <a:latin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7"/>
          <p:cNvSpPr txBox="1">
            <a:spLocks noChangeArrowheads="1"/>
          </p:cNvSpPr>
          <p:nvPr/>
        </p:nvSpPr>
        <p:spPr>
          <a:xfrm>
            <a:off x="475615" y="1074420"/>
            <a:ext cx="11312525" cy="48145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b="1" dirty="0">
                <a:solidFill>
                  <a:srgbClr val="000000"/>
                </a:solidFill>
                <a:latin typeface="+mn-ea"/>
              </a:rPr>
              <a:t>属性</a:t>
            </a:r>
            <a:r>
              <a:rPr lang="en-US" altLang="zh-CN" b="1" dirty="0">
                <a:solidFill>
                  <a:srgbClr val="000000"/>
                </a:solidFill>
                <a:latin typeface="+mn-ea"/>
              </a:rPr>
              <a:t>a</a:t>
            </a:r>
            <a:r>
              <a:rPr lang="en-US" altLang="zh-CN" b="1" baseline="-25000" dirty="0">
                <a:solidFill>
                  <a:srgbClr val="000000"/>
                </a:solidFill>
                <a:latin typeface="+mn-ea"/>
              </a:rPr>
              <a:t>1</a:t>
            </a:r>
            <a:r>
              <a:rPr lang="en-US" altLang="zh-CN" b="1" dirty="0">
                <a:solidFill>
                  <a:srgbClr val="000000"/>
                </a:solidFill>
                <a:latin typeface="+mn-ea"/>
              </a:rPr>
              <a:t>,...,</a:t>
            </a:r>
            <a:r>
              <a:rPr lang="en-US" altLang="zh-CN" b="1" dirty="0" err="1">
                <a:solidFill>
                  <a:srgbClr val="000000"/>
                </a:solidFill>
                <a:latin typeface="+mn-ea"/>
              </a:rPr>
              <a:t>a</a:t>
            </a:r>
            <a:r>
              <a:rPr lang="en-US" altLang="zh-CN" b="1" baseline="-25000" dirty="0" err="1">
                <a:solidFill>
                  <a:srgbClr val="000000"/>
                </a:solidFill>
                <a:latin typeface="+mn-ea"/>
              </a:rPr>
              <a:t>k</a:t>
            </a:r>
            <a:r>
              <a:rPr lang="en-US" altLang="zh-CN" b="1" dirty="0">
                <a:solidFill>
                  <a:srgbClr val="000000"/>
                </a:solidFill>
                <a:latin typeface="+mn-ea"/>
              </a:rPr>
              <a:t> </a:t>
            </a:r>
            <a:r>
              <a:rPr lang="zh-CN" altLang="en-US" b="1" dirty="0">
                <a:solidFill>
                  <a:srgbClr val="000000"/>
                </a:solidFill>
                <a:latin typeface="+mn-ea"/>
              </a:rPr>
              <a:t>的一个属性文法是</a:t>
            </a:r>
            <a:r>
              <a:rPr lang="en-US" altLang="zh-CN" b="1" dirty="0">
                <a:solidFill>
                  <a:srgbClr val="0070C0"/>
                </a:solidFill>
                <a:latin typeface="+mn-ea"/>
              </a:rPr>
              <a:t>L-</a:t>
            </a:r>
            <a:r>
              <a:rPr lang="zh-CN" altLang="en-US" b="1" dirty="0">
                <a:solidFill>
                  <a:srgbClr val="0070C0"/>
                </a:solidFill>
                <a:latin typeface="+mn-ea"/>
              </a:rPr>
              <a:t>属性</a:t>
            </a:r>
            <a:r>
              <a:rPr lang="zh-CN" altLang="en-US" b="1" dirty="0">
                <a:solidFill>
                  <a:srgbClr val="000000"/>
                </a:solidFill>
                <a:latin typeface="+mn-ea"/>
              </a:rPr>
              <a:t>文法</a:t>
            </a:r>
            <a:r>
              <a:rPr lang="en-US" altLang="zh-CN" b="1" dirty="0">
                <a:solidFill>
                  <a:srgbClr val="000000"/>
                </a:solidFill>
                <a:latin typeface="+mn-ea"/>
              </a:rPr>
              <a:t>，</a:t>
            </a:r>
            <a:r>
              <a:rPr lang="zh-CN" altLang="en-US" b="1" dirty="0">
                <a:solidFill>
                  <a:srgbClr val="000000"/>
                </a:solidFill>
                <a:latin typeface="+mn-ea"/>
              </a:rPr>
              <a:t>如果满足：</a:t>
            </a:r>
            <a:endParaRPr lang="en-US" altLang="zh-CN" b="1" dirty="0">
              <a:solidFill>
                <a:srgbClr val="000000"/>
              </a:solidFill>
              <a:latin typeface="+mn-ea"/>
            </a:endParaRPr>
          </a:p>
          <a:p>
            <a:pPr lvl="1">
              <a:lnSpc>
                <a:spcPct val="150000"/>
              </a:lnSpc>
              <a:buFont typeface="Wingdings" panose="05000000000000000000" charset="0"/>
              <a:buChar char="p"/>
            </a:pPr>
            <a:r>
              <a:rPr lang="zh-CN" altLang="en-US" sz="2800" b="1" dirty="0">
                <a:solidFill>
                  <a:srgbClr val="000000"/>
                </a:solidFill>
                <a:latin typeface="+mn-ea"/>
              </a:rPr>
              <a:t>对每个继承属性</a:t>
            </a:r>
            <a:r>
              <a:rPr lang="en-US" altLang="zh-CN" sz="2800" b="1" dirty="0" err="1">
                <a:solidFill>
                  <a:srgbClr val="000000"/>
                </a:solidFill>
                <a:latin typeface="+mn-ea"/>
              </a:rPr>
              <a:t>a</a:t>
            </a:r>
            <a:r>
              <a:rPr lang="en-US" altLang="zh-CN" sz="2800" b="1" baseline="-25000" dirty="0" err="1">
                <a:solidFill>
                  <a:srgbClr val="000000"/>
                </a:solidFill>
                <a:latin typeface="+mn-ea"/>
              </a:rPr>
              <a:t>j</a:t>
            </a:r>
            <a:r>
              <a:rPr lang="zh-CN" altLang="en-US" sz="2800" b="1" dirty="0">
                <a:solidFill>
                  <a:srgbClr val="000000"/>
                </a:solidFill>
                <a:latin typeface="+mn-ea"/>
              </a:rPr>
              <a:t>和每个文法规则 </a:t>
            </a:r>
            <a:r>
              <a:rPr lang="en-US" altLang="zh-CN" sz="2800" b="1" dirty="0">
                <a:solidFill>
                  <a:srgbClr val="000000"/>
                </a:solidFill>
                <a:latin typeface="+mn-ea"/>
              </a:rPr>
              <a:t>X</a:t>
            </a:r>
            <a:r>
              <a:rPr lang="en-US" altLang="zh-CN" sz="2800" b="1" baseline="-25000" dirty="0">
                <a:solidFill>
                  <a:srgbClr val="000000"/>
                </a:solidFill>
                <a:latin typeface="+mn-ea"/>
              </a:rPr>
              <a:t>0</a:t>
            </a:r>
            <a:r>
              <a:rPr lang="en-US" altLang="zh-CN" sz="2800" b="1" dirty="0">
                <a:solidFill>
                  <a:srgbClr val="000000"/>
                </a:solidFill>
                <a:latin typeface="+mn-ea"/>
              </a:rPr>
              <a:t>→X</a:t>
            </a:r>
            <a:r>
              <a:rPr lang="en-US" altLang="zh-CN" sz="2800" b="1" baseline="-25000" dirty="0">
                <a:solidFill>
                  <a:srgbClr val="000000"/>
                </a:solidFill>
                <a:latin typeface="+mn-ea"/>
              </a:rPr>
              <a:t>1</a:t>
            </a:r>
            <a:r>
              <a:rPr lang="en-US" altLang="zh-CN" sz="2800" b="1" dirty="0">
                <a:solidFill>
                  <a:srgbClr val="000000"/>
                </a:solidFill>
                <a:latin typeface="+mn-ea"/>
              </a:rPr>
              <a:t>X</a:t>
            </a:r>
            <a:r>
              <a:rPr lang="en-US" altLang="zh-CN" sz="2800" b="1" baseline="-25000" dirty="0">
                <a:solidFill>
                  <a:srgbClr val="000000"/>
                </a:solidFill>
                <a:latin typeface="+mn-ea"/>
              </a:rPr>
              <a:t>2</a:t>
            </a:r>
            <a:r>
              <a:rPr lang="en-US" altLang="zh-CN" sz="2800" b="1" dirty="0">
                <a:solidFill>
                  <a:srgbClr val="000000"/>
                </a:solidFill>
                <a:latin typeface="+mn-ea"/>
              </a:rPr>
              <a:t>…</a:t>
            </a:r>
            <a:r>
              <a:rPr lang="en-US" altLang="zh-CN" sz="2800" b="1" dirty="0" err="1">
                <a:solidFill>
                  <a:srgbClr val="000000"/>
                </a:solidFill>
                <a:latin typeface="+mn-ea"/>
              </a:rPr>
              <a:t>X</a:t>
            </a:r>
            <a:r>
              <a:rPr lang="en-US" altLang="zh-CN" sz="2800" b="1" baseline="-25000" dirty="0" err="1">
                <a:solidFill>
                  <a:srgbClr val="000000"/>
                </a:solidFill>
                <a:latin typeface="+mn-ea"/>
              </a:rPr>
              <a:t>n</a:t>
            </a:r>
            <a:r>
              <a:rPr lang="en-US" altLang="zh-CN" sz="2800" b="1" dirty="0">
                <a:solidFill>
                  <a:srgbClr val="000000"/>
                </a:solidFill>
                <a:latin typeface="+mn-ea"/>
              </a:rPr>
              <a:t>，  </a:t>
            </a:r>
            <a:r>
              <a:rPr lang="en-US" altLang="zh-CN" sz="2800" b="1" dirty="0" err="1">
                <a:solidFill>
                  <a:srgbClr val="000000"/>
                </a:solidFill>
                <a:latin typeface="+mn-ea"/>
              </a:rPr>
              <a:t>a</a:t>
            </a:r>
            <a:r>
              <a:rPr lang="en-US" altLang="zh-CN" sz="2800" b="1" baseline="-25000" dirty="0" err="1">
                <a:solidFill>
                  <a:srgbClr val="000000"/>
                </a:solidFill>
                <a:latin typeface="+mn-ea"/>
              </a:rPr>
              <a:t>j</a:t>
            </a:r>
            <a:r>
              <a:rPr lang="zh-CN" altLang="en-US" sz="2800" b="1" dirty="0">
                <a:solidFill>
                  <a:srgbClr val="000000"/>
                </a:solidFill>
                <a:latin typeface="+mn-ea"/>
              </a:rPr>
              <a:t>的相关等式都有以下形式：</a:t>
            </a:r>
            <a:r>
              <a:rPr lang="en-US" altLang="zh-CN" sz="2800" b="1" dirty="0" err="1">
                <a:solidFill>
                  <a:srgbClr val="000000"/>
                </a:solidFill>
                <a:latin typeface="+mn-ea"/>
              </a:rPr>
              <a:t>X</a:t>
            </a:r>
            <a:r>
              <a:rPr lang="en-US" altLang="zh-CN" sz="2800" b="1" baseline="-25000" dirty="0" err="1">
                <a:solidFill>
                  <a:srgbClr val="000000"/>
                </a:solidFill>
                <a:latin typeface="+mn-ea"/>
              </a:rPr>
              <a:t>i</a:t>
            </a:r>
            <a:r>
              <a:rPr lang="en-US" altLang="zh-CN" sz="2800" b="1" dirty="0" err="1">
                <a:solidFill>
                  <a:srgbClr val="000000"/>
                </a:solidFill>
                <a:latin typeface="+mn-ea"/>
              </a:rPr>
              <a:t>.a</a:t>
            </a:r>
            <a:r>
              <a:rPr lang="en-US" altLang="zh-CN" sz="2800" b="1" baseline="-25000" dirty="0" err="1">
                <a:solidFill>
                  <a:srgbClr val="000000"/>
                </a:solidFill>
                <a:latin typeface="+mn-ea"/>
              </a:rPr>
              <a:t>j</a:t>
            </a:r>
            <a:r>
              <a:rPr lang="en-US" altLang="zh-CN" sz="2800" b="1" dirty="0">
                <a:solidFill>
                  <a:srgbClr val="000000"/>
                </a:solidFill>
                <a:latin typeface="+mn-ea"/>
              </a:rPr>
              <a:t>=</a:t>
            </a:r>
            <a:r>
              <a:rPr lang="en-US" altLang="zh-CN" sz="2800" b="1" dirty="0" err="1">
                <a:solidFill>
                  <a:srgbClr val="000000"/>
                </a:solidFill>
                <a:latin typeface="+mn-ea"/>
              </a:rPr>
              <a:t>f</a:t>
            </a:r>
            <a:r>
              <a:rPr lang="en-US" altLang="zh-CN" sz="2800" b="1" baseline="-25000" dirty="0" err="1">
                <a:solidFill>
                  <a:srgbClr val="000000"/>
                </a:solidFill>
                <a:latin typeface="+mn-ea"/>
              </a:rPr>
              <a:t>ij</a:t>
            </a:r>
            <a:r>
              <a:rPr lang="en-US" altLang="zh-CN" sz="2800" b="1" dirty="0">
                <a:solidFill>
                  <a:srgbClr val="000000"/>
                </a:solidFill>
                <a:latin typeface="+mn-ea"/>
              </a:rPr>
              <a:t>(X</a:t>
            </a:r>
            <a:r>
              <a:rPr lang="en-US" altLang="zh-CN" sz="2800" b="1" baseline="-25000" dirty="0">
                <a:solidFill>
                  <a:srgbClr val="000000"/>
                </a:solidFill>
                <a:latin typeface="+mn-ea"/>
              </a:rPr>
              <a:t>0</a:t>
            </a:r>
            <a:r>
              <a:rPr lang="en-US" altLang="zh-CN" sz="2800" b="1" dirty="0">
                <a:solidFill>
                  <a:srgbClr val="000000"/>
                </a:solidFill>
                <a:latin typeface="+mn-ea"/>
              </a:rPr>
              <a:t>.a</a:t>
            </a:r>
            <a:r>
              <a:rPr lang="en-US" altLang="zh-CN" sz="2800" b="1" baseline="-25000" dirty="0">
                <a:solidFill>
                  <a:srgbClr val="000000"/>
                </a:solidFill>
                <a:latin typeface="+mn-ea"/>
              </a:rPr>
              <a:t>1</a:t>
            </a:r>
            <a:r>
              <a:rPr lang="en-US" altLang="zh-CN" sz="2800" b="1" dirty="0">
                <a:solidFill>
                  <a:srgbClr val="000000"/>
                </a:solidFill>
                <a:latin typeface="+mn-ea"/>
              </a:rPr>
              <a:t>,...,X</a:t>
            </a:r>
            <a:r>
              <a:rPr lang="en-US" altLang="zh-CN" sz="2800" b="1" baseline="-25000" dirty="0">
                <a:solidFill>
                  <a:srgbClr val="000000"/>
                </a:solidFill>
                <a:latin typeface="+mn-ea"/>
              </a:rPr>
              <a:t>0</a:t>
            </a:r>
            <a:r>
              <a:rPr lang="en-US" altLang="zh-CN" sz="2800" b="1" dirty="0">
                <a:solidFill>
                  <a:srgbClr val="000000"/>
                </a:solidFill>
                <a:latin typeface="+mn-ea"/>
              </a:rPr>
              <a:t>.a</a:t>
            </a:r>
            <a:r>
              <a:rPr lang="en-US" altLang="zh-CN" sz="2800" b="1" baseline="-25000" dirty="0">
                <a:solidFill>
                  <a:srgbClr val="000000"/>
                </a:solidFill>
                <a:latin typeface="+mn-ea"/>
              </a:rPr>
              <a:t>k</a:t>
            </a:r>
            <a:r>
              <a:rPr lang="en-US" altLang="zh-CN" sz="2800" b="1" dirty="0">
                <a:solidFill>
                  <a:srgbClr val="000000"/>
                </a:solidFill>
                <a:latin typeface="+mn-ea"/>
              </a:rPr>
              <a:t>，X</a:t>
            </a:r>
            <a:r>
              <a:rPr lang="en-US" altLang="zh-CN" sz="2800" b="1" baseline="-25000" dirty="0">
                <a:solidFill>
                  <a:srgbClr val="000000"/>
                </a:solidFill>
                <a:latin typeface="+mn-ea"/>
              </a:rPr>
              <a:t>i-1</a:t>
            </a:r>
            <a:r>
              <a:rPr lang="en-US" altLang="zh-CN" sz="2800" b="1" dirty="0">
                <a:solidFill>
                  <a:srgbClr val="000000"/>
                </a:solidFill>
                <a:latin typeface="+mn-ea"/>
              </a:rPr>
              <a:t>.a</a:t>
            </a:r>
            <a:r>
              <a:rPr lang="en-US" altLang="zh-CN" sz="2800" b="1" baseline="-25000" dirty="0">
                <a:solidFill>
                  <a:srgbClr val="000000"/>
                </a:solidFill>
                <a:latin typeface="+mn-ea"/>
              </a:rPr>
              <a:t>1</a:t>
            </a:r>
            <a:r>
              <a:rPr lang="en-US" altLang="zh-CN" sz="2800" b="1" dirty="0">
                <a:solidFill>
                  <a:srgbClr val="000000"/>
                </a:solidFill>
                <a:latin typeface="+mn-ea"/>
              </a:rPr>
              <a:t>,...,X</a:t>
            </a:r>
            <a:r>
              <a:rPr lang="en-US" altLang="zh-CN" sz="2800" b="1" baseline="-25000" dirty="0">
                <a:solidFill>
                  <a:srgbClr val="000000"/>
                </a:solidFill>
                <a:latin typeface="+mn-ea"/>
              </a:rPr>
              <a:t>i-1</a:t>
            </a:r>
            <a:r>
              <a:rPr lang="en-US" altLang="zh-CN" sz="2800" b="1" dirty="0">
                <a:solidFill>
                  <a:srgbClr val="000000"/>
                </a:solidFill>
                <a:latin typeface="+mn-ea"/>
              </a:rPr>
              <a:t>.a</a:t>
            </a:r>
            <a:r>
              <a:rPr lang="en-US" altLang="zh-CN" sz="2800" b="1" baseline="-25000" dirty="0">
                <a:solidFill>
                  <a:srgbClr val="000000"/>
                </a:solidFill>
                <a:latin typeface="+mn-ea"/>
              </a:rPr>
              <a:t>k</a:t>
            </a:r>
            <a:r>
              <a:rPr lang="en-US" altLang="zh-CN" sz="2800" b="1" dirty="0">
                <a:solidFill>
                  <a:srgbClr val="000000"/>
                </a:solidFill>
                <a:latin typeface="+mn-ea"/>
              </a:rPr>
              <a:t>)</a:t>
            </a:r>
            <a:endParaRPr lang="en-US" altLang="zh-CN" sz="2800" b="1" dirty="0">
              <a:solidFill>
                <a:srgbClr val="000000"/>
              </a:solidFill>
              <a:latin typeface="+mn-ea"/>
            </a:endParaRPr>
          </a:p>
          <a:p>
            <a:pPr>
              <a:lnSpc>
                <a:spcPct val="150000"/>
              </a:lnSpc>
              <a:buFont typeface="Wingdings" panose="05000000000000000000" charset="0"/>
              <a:buChar char="p"/>
            </a:pPr>
            <a:r>
              <a:rPr lang="zh-CN" altLang="en-US" sz="2800" b="1" dirty="0">
                <a:solidFill>
                  <a:srgbClr val="000000"/>
                </a:solidFill>
                <a:latin typeface="+mn-ea"/>
                <a:sym typeface="+mn-ea"/>
              </a:rPr>
              <a:t>给定一个</a:t>
            </a:r>
            <a:r>
              <a:rPr lang="en-US" altLang="zh-CN" sz="2800" b="1" dirty="0">
                <a:solidFill>
                  <a:srgbClr val="0070C0"/>
                </a:solidFill>
                <a:latin typeface="+mn-ea"/>
                <a:sym typeface="+mn-ea"/>
              </a:rPr>
              <a:t>L-</a:t>
            </a:r>
            <a:r>
              <a:rPr lang="zh-CN" altLang="en-US" sz="2800" b="1" dirty="0">
                <a:solidFill>
                  <a:srgbClr val="0070C0"/>
                </a:solidFill>
                <a:latin typeface="+mn-ea"/>
                <a:sym typeface="+mn-ea"/>
              </a:rPr>
              <a:t>属性文法</a:t>
            </a:r>
            <a:r>
              <a:rPr lang="zh-CN" altLang="en-US" sz="2800" b="1" dirty="0">
                <a:solidFill>
                  <a:srgbClr val="000000"/>
                </a:solidFill>
                <a:latin typeface="+mn-ea"/>
                <a:sym typeface="+mn-ea"/>
              </a:rPr>
              <a:t>，如果其继承属性不依赖于合成属性，</a:t>
            </a:r>
            <a:r>
              <a:rPr lang="zh-CN" altLang="en-US" sz="2800" b="1" dirty="0">
                <a:solidFill>
                  <a:srgbClr val="0070C0"/>
                </a:solidFill>
                <a:latin typeface="+mn-ea"/>
                <a:sym typeface="+mn-ea"/>
              </a:rPr>
              <a:t>递归下降的分析程序</a:t>
            </a:r>
            <a:r>
              <a:rPr lang="zh-CN" altLang="en-US" sz="2800" b="1" dirty="0">
                <a:solidFill>
                  <a:srgbClr val="000000"/>
                </a:solidFill>
                <a:latin typeface="+mn-ea"/>
                <a:sym typeface="+mn-ea"/>
              </a:rPr>
              <a:t>可以对所有的属性赋值；</a:t>
            </a:r>
            <a:endParaRPr lang="en-US" altLang="zh-CN" sz="2800" b="1" dirty="0">
              <a:solidFill>
                <a:srgbClr val="000000"/>
              </a:solidFill>
              <a:latin typeface="+mn-ea"/>
            </a:endParaRPr>
          </a:p>
          <a:p>
            <a:pPr>
              <a:lnSpc>
                <a:spcPct val="150000"/>
              </a:lnSpc>
              <a:buFont typeface="Wingdings" panose="05000000000000000000" charset="0"/>
              <a:buChar char="p"/>
            </a:pPr>
            <a:r>
              <a:rPr lang="zh-CN" altLang="en-US" sz="2800" b="1" dirty="0">
                <a:solidFill>
                  <a:srgbClr val="000000"/>
                </a:solidFill>
                <a:latin typeface="+mn-ea"/>
                <a:sym typeface="+mn-ea"/>
              </a:rPr>
              <a:t>对于</a:t>
            </a:r>
            <a:r>
              <a:rPr lang="en-US" altLang="zh-CN" sz="2800" b="1" dirty="0">
                <a:solidFill>
                  <a:srgbClr val="0070C0"/>
                </a:solidFill>
                <a:latin typeface="+mn-ea"/>
                <a:sym typeface="+mn-ea"/>
              </a:rPr>
              <a:t>S-</a:t>
            </a:r>
            <a:r>
              <a:rPr lang="zh-CN" altLang="en-US" sz="2800" b="1" dirty="0">
                <a:solidFill>
                  <a:srgbClr val="0070C0"/>
                </a:solidFill>
                <a:latin typeface="+mn-ea"/>
                <a:sym typeface="+mn-ea"/>
              </a:rPr>
              <a:t>属性</a:t>
            </a:r>
            <a:r>
              <a:rPr lang="en-US" altLang="zh-CN" sz="2800" b="1" dirty="0">
                <a:solidFill>
                  <a:srgbClr val="0070C0"/>
                </a:solidFill>
                <a:latin typeface="+mn-ea"/>
                <a:sym typeface="+mn-ea"/>
              </a:rPr>
              <a:t>(</a:t>
            </a:r>
            <a:r>
              <a:rPr lang="zh-CN" altLang="en-US" sz="2800" b="1" dirty="0">
                <a:solidFill>
                  <a:srgbClr val="0070C0"/>
                </a:solidFill>
                <a:latin typeface="+mn-ea"/>
                <a:sym typeface="+mn-ea"/>
              </a:rPr>
              <a:t>合成属性</a:t>
            </a:r>
            <a:r>
              <a:rPr lang="en-US" altLang="zh-CN" sz="2800" b="1" dirty="0">
                <a:solidFill>
                  <a:srgbClr val="0070C0"/>
                </a:solidFill>
                <a:latin typeface="+mn-ea"/>
                <a:sym typeface="+mn-ea"/>
              </a:rPr>
              <a:t>)</a:t>
            </a:r>
            <a:r>
              <a:rPr lang="zh-CN" altLang="en-US" sz="2800" b="1" dirty="0">
                <a:solidFill>
                  <a:srgbClr val="000000"/>
                </a:solidFill>
                <a:latin typeface="+mn-ea"/>
                <a:sym typeface="+mn-ea"/>
              </a:rPr>
              <a:t>，通常使用自底向上的分析方法，在建立每一个结点处使用语义规则来计算合成(综合)属性值。</a:t>
            </a:r>
            <a:endParaRPr lang="en-US" sz="2800" b="1" dirty="0">
              <a:solidFill>
                <a:srgbClr val="000000"/>
              </a:solidFill>
              <a:latin typeface="+mn-ea"/>
            </a:endParaRPr>
          </a:p>
        </p:txBody>
      </p:sp>
      <p:sp>
        <p:nvSpPr>
          <p:cNvPr id="4" name="文本占位符 3"/>
          <p:cNvSpPr>
            <a:spLocks noGrp="1"/>
          </p:cNvSpPr>
          <p:nvPr>
            <p:ph type="body" sz="quarter" idx="14"/>
            <p:custDataLst>
              <p:tags r:id="rId1"/>
            </p:custDataLst>
          </p:nvPr>
        </p:nvSpPr>
        <p:spPr>
          <a:xfrm>
            <a:off x="406400" y="276860"/>
            <a:ext cx="5946775" cy="593090"/>
          </a:xfrm>
        </p:spPr>
        <p:txBody>
          <a:bodyPr/>
          <a:lstStyle/>
          <a:p>
            <a:r>
              <a:rPr lang="en-US" altLang="zh-CN" dirty="0"/>
              <a:t>5.1.4 </a:t>
            </a:r>
            <a:r>
              <a:rPr lang="zh-CN" altLang="en-US" dirty="0"/>
              <a:t>属性计算方法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Horizontal)">
                                      <p:cBhvr>
                                        <p:cTn id="7" dur="500"/>
                                        <p:tgtEl>
                                          <p:spTgt spid="5">
                                            <p:txEl>
                                              <p:pRg st="0" end="0"/>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arn(inHorizontal)">
                                      <p:cBhvr>
                                        <p:cTn id="10" dur="500"/>
                                        <p:tgtEl>
                                          <p:spTgt spid="5">
                                            <p:txEl>
                                              <p:pRg st="1" end="1"/>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arn(inHorizontal)">
                                      <p:cBhvr>
                                        <p:cTn id="13" dur="500"/>
                                        <p:tgtEl>
                                          <p:spTgt spid="5">
                                            <p:txEl>
                                              <p:pRg st="2" end="2"/>
                                            </p:txEl>
                                          </p:spTgt>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barn(inHorizontal)">
                                      <p:cBhvr>
                                        <p:cTn id="16"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txBox="1">
            <a:spLocks noChangeArrowheads="1"/>
          </p:cNvSpPr>
          <p:nvPr/>
        </p:nvSpPr>
        <p:spPr>
          <a:xfrm>
            <a:off x="346710" y="1198245"/>
            <a:ext cx="6363335" cy="4822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sz="2400" b="1" dirty="0">
                <a:solidFill>
                  <a:srgbClr val="000000"/>
                </a:solidFill>
                <a:latin typeface="+mn-ea"/>
              </a:rPr>
              <a:t>例如：对于简单声明的文法</a:t>
            </a:r>
            <a:endParaRPr lang="zh-CN" altLang="en-US" sz="2400" b="1" dirty="0">
              <a:solidFill>
                <a:srgbClr val="000000"/>
              </a:solidFill>
              <a:latin typeface="+mn-ea"/>
            </a:endParaRPr>
          </a:p>
          <a:p>
            <a:pPr marL="457200" lvl="1" indent="0">
              <a:lnSpc>
                <a:spcPct val="150000"/>
              </a:lnSpc>
              <a:buFont typeface="Wingdings" panose="05000000000000000000" charset="0"/>
              <a:buNone/>
            </a:pPr>
            <a:r>
              <a:rPr lang="en-US" altLang="zh-CN" b="1" i="1" dirty="0" err="1">
                <a:solidFill>
                  <a:srgbClr val="000000"/>
                </a:solidFill>
                <a:latin typeface="+mn-ea"/>
              </a:rPr>
              <a:t>decl</a:t>
            </a:r>
            <a:r>
              <a:rPr lang="en-US" altLang="zh-CN" b="1" dirty="0" err="1">
                <a:solidFill>
                  <a:srgbClr val="000000"/>
                </a:solidFill>
                <a:latin typeface="+mn-ea"/>
              </a:rPr>
              <a:t>→</a:t>
            </a:r>
            <a:r>
              <a:rPr lang="en-US" altLang="zh-CN" b="1" i="1" dirty="0" err="1">
                <a:solidFill>
                  <a:srgbClr val="000000"/>
                </a:solidFill>
                <a:latin typeface="+mn-ea"/>
              </a:rPr>
              <a:t>type</a:t>
            </a:r>
            <a:r>
              <a:rPr lang="en-US" altLang="zh-CN" b="1" i="1" dirty="0">
                <a:solidFill>
                  <a:srgbClr val="000000"/>
                </a:solidFill>
                <a:latin typeface="+mn-ea"/>
              </a:rPr>
              <a:t> var-list</a:t>
            </a:r>
            <a:endParaRPr lang="en-US" altLang="zh-CN" b="1" i="1" dirty="0">
              <a:solidFill>
                <a:srgbClr val="000000"/>
              </a:solidFill>
              <a:latin typeface="+mn-ea"/>
            </a:endParaRPr>
          </a:p>
          <a:p>
            <a:pPr marL="457200" lvl="1" indent="0">
              <a:lnSpc>
                <a:spcPct val="150000"/>
              </a:lnSpc>
              <a:buFont typeface="Wingdings" panose="05000000000000000000" charset="0"/>
              <a:buNone/>
            </a:pPr>
            <a:r>
              <a:rPr lang="en-US" altLang="zh-CN" b="1" i="1" dirty="0" err="1">
                <a:solidFill>
                  <a:srgbClr val="000000"/>
                </a:solidFill>
                <a:latin typeface="+mn-ea"/>
              </a:rPr>
              <a:t>type</a:t>
            </a:r>
            <a:r>
              <a:rPr lang="en-US" altLang="zh-CN" b="1" dirty="0" err="1">
                <a:solidFill>
                  <a:srgbClr val="000000"/>
                </a:solidFill>
                <a:latin typeface="+mn-ea"/>
              </a:rPr>
              <a:t>→int|float</a:t>
            </a:r>
            <a:endParaRPr lang="en-US" altLang="zh-CN" b="1" dirty="0">
              <a:solidFill>
                <a:srgbClr val="000000"/>
              </a:solidFill>
              <a:latin typeface="+mn-ea"/>
            </a:endParaRPr>
          </a:p>
          <a:p>
            <a:pPr marL="457200" lvl="1" indent="0">
              <a:lnSpc>
                <a:spcPct val="150000"/>
              </a:lnSpc>
              <a:buFont typeface="Wingdings" panose="05000000000000000000" charset="0"/>
              <a:buNone/>
            </a:pPr>
            <a:r>
              <a:rPr lang="en-US" altLang="zh-CN" b="1" i="1" dirty="0" err="1">
                <a:solidFill>
                  <a:srgbClr val="000000"/>
                </a:solidFill>
                <a:latin typeface="+mn-ea"/>
              </a:rPr>
              <a:t>var-list</a:t>
            </a:r>
            <a:r>
              <a:rPr lang="en-US" altLang="zh-CN" b="1" dirty="0" err="1">
                <a:solidFill>
                  <a:srgbClr val="000000"/>
                </a:solidFill>
                <a:latin typeface="+mn-ea"/>
              </a:rPr>
              <a:t>→id,</a:t>
            </a:r>
            <a:r>
              <a:rPr lang="en-US" altLang="zh-CN" b="1" i="1" dirty="0" err="1">
                <a:solidFill>
                  <a:srgbClr val="000000"/>
                </a:solidFill>
                <a:latin typeface="+mn-ea"/>
              </a:rPr>
              <a:t>var-list</a:t>
            </a:r>
            <a:r>
              <a:rPr lang="en-US" altLang="zh-CN" b="1" dirty="0" err="1">
                <a:solidFill>
                  <a:srgbClr val="000000"/>
                </a:solidFill>
                <a:latin typeface="+mn-ea"/>
              </a:rPr>
              <a:t>|id</a:t>
            </a:r>
            <a:endParaRPr lang="en-US" altLang="zh-CN" b="1" dirty="0" err="1">
              <a:solidFill>
                <a:srgbClr val="000000"/>
              </a:solidFill>
              <a:latin typeface="+mn-ea"/>
            </a:endParaRPr>
          </a:p>
          <a:p>
            <a:pPr marL="82550" lvl="1" indent="-6350">
              <a:lnSpc>
                <a:spcPct val="150000"/>
              </a:lnSpc>
              <a:buFont typeface="Wingdings" panose="05000000000000000000" charset="0"/>
              <a:buNone/>
            </a:pPr>
            <a:r>
              <a:rPr lang="zh-CN" altLang="en-US" b="1" dirty="0">
                <a:solidFill>
                  <a:srgbClr val="000000"/>
                </a:solidFill>
                <a:latin typeface="+mn-ea"/>
              </a:rPr>
              <a:t>可以将标示符的声明信息以标示符作为关键字插入并存储到符号表中，以供程序的其他部分翻译使用。</a:t>
            </a:r>
            <a:endParaRPr lang="zh-CN" altLang="en-US" b="1" dirty="0">
              <a:solidFill>
                <a:srgbClr val="000000"/>
              </a:solidFill>
              <a:latin typeface="+mn-ea"/>
            </a:endParaRPr>
          </a:p>
          <a:p>
            <a:pPr marL="82550" lvl="1" indent="-6350">
              <a:lnSpc>
                <a:spcPct val="150000"/>
              </a:lnSpc>
              <a:buFont typeface="Wingdings" panose="05000000000000000000" charset="0"/>
              <a:buNone/>
            </a:pPr>
            <a:r>
              <a:rPr lang="en-US" altLang="zh-CN" b="1" dirty="0">
                <a:solidFill>
                  <a:srgbClr val="000000"/>
                </a:solidFill>
                <a:latin typeface="+mn-ea"/>
              </a:rPr>
              <a:t>void insert(</a:t>
            </a:r>
            <a:r>
              <a:rPr lang="en-US" altLang="zh-CN" b="1" dirty="0" err="1">
                <a:solidFill>
                  <a:srgbClr val="000000"/>
                </a:solidFill>
                <a:latin typeface="+mn-ea"/>
              </a:rPr>
              <a:t>name:string;dtype:typekind</a:t>
            </a:r>
            <a:r>
              <a:rPr lang="en-US" altLang="zh-CN" b="1" dirty="0">
                <a:solidFill>
                  <a:srgbClr val="000000"/>
                </a:solidFill>
                <a:latin typeface="+mn-ea"/>
              </a:rPr>
              <a:t>);</a:t>
            </a:r>
            <a:endParaRPr lang="en-US" altLang="zh-CN" b="1" dirty="0">
              <a:solidFill>
                <a:srgbClr val="000000"/>
              </a:solidFill>
              <a:latin typeface="+mn-ea"/>
            </a:endParaRPr>
          </a:p>
        </p:txBody>
      </p:sp>
      <p:sp>
        <p:nvSpPr>
          <p:cNvPr id="4" name="文本占位符 3"/>
          <p:cNvSpPr>
            <a:spLocks noGrp="1"/>
          </p:cNvSpPr>
          <p:nvPr>
            <p:ph type="body" sz="quarter" idx="14"/>
            <p:custDataLst>
              <p:tags r:id="rId1"/>
            </p:custDataLst>
          </p:nvPr>
        </p:nvSpPr>
        <p:spPr>
          <a:xfrm>
            <a:off x="406400" y="276860"/>
            <a:ext cx="5946775" cy="593090"/>
          </a:xfrm>
        </p:spPr>
        <p:txBody>
          <a:bodyPr/>
          <a:p>
            <a:r>
              <a:rPr lang="en-US" altLang="zh-CN" dirty="0"/>
              <a:t>5.1.4 </a:t>
            </a:r>
            <a:r>
              <a:rPr lang="zh-CN" altLang="en-US" dirty="0"/>
              <a:t>属性计算方法</a:t>
            </a:r>
            <a:endParaRPr lang="zh-CN" altLang="en-US" dirty="0"/>
          </a:p>
        </p:txBody>
      </p:sp>
      <p:sp>
        <p:nvSpPr>
          <p:cNvPr id="6" name="Rectangle 3"/>
          <p:cNvSpPr>
            <a:spLocks noChangeArrowheads="1"/>
          </p:cNvSpPr>
          <p:nvPr>
            <p:custDataLst>
              <p:tags r:id="rId2"/>
            </p:custDataLst>
          </p:nvPr>
        </p:nvSpPr>
        <p:spPr bwMode="auto">
          <a:xfrm>
            <a:off x="6794500" y="1811655"/>
            <a:ext cx="500253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zh-CN" altLang="en-US" sz="2400" b="1" dirty="0">
                <a:solidFill>
                  <a:srgbClr val="0070C0"/>
                </a:solidFill>
                <a:latin typeface="+mn-ea"/>
              </a:rPr>
              <a:t>文法规则                           语义规则</a:t>
            </a:r>
            <a:endParaRPr lang="zh-CN" altLang="en-US" sz="2400" b="1" dirty="0">
              <a:solidFill>
                <a:srgbClr val="0070C0"/>
              </a:solidFill>
              <a:latin typeface="+mn-ea"/>
            </a:endParaRPr>
          </a:p>
          <a:p>
            <a:pPr>
              <a:spcBef>
                <a:spcPct val="50000"/>
              </a:spcBef>
            </a:pPr>
            <a:r>
              <a:rPr lang="en-US" altLang="zh-CN" sz="2400" b="1" i="1" dirty="0" err="1">
                <a:solidFill>
                  <a:srgbClr val="000000"/>
                </a:solidFill>
                <a:latin typeface="+mn-ea"/>
              </a:rPr>
              <a:t>decl</a:t>
            </a:r>
            <a:r>
              <a:rPr lang="en-US" altLang="zh-CN" sz="2400" b="1" dirty="0" err="1">
                <a:solidFill>
                  <a:srgbClr val="000000"/>
                </a:solidFill>
                <a:latin typeface="+mn-ea"/>
              </a:rPr>
              <a:t>→</a:t>
            </a:r>
            <a:r>
              <a:rPr lang="en-US" altLang="zh-CN" sz="2400" b="1" i="1" dirty="0" err="1">
                <a:solidFill>
                  <a:srgbClr val="000000"/>
                </a:solidFill>
                <a:latin typeface="+mn-ea"/>
              </a:rPr>
              <a:t>type</a:t>
            </a:r>
            <a:r>
              <a:rPr lang="en-US" altLang="zh-CN" sz="2400" b="1" i="1" dirty="0">
                <a:solidFill>
                  <a:srgbClr val="000000"/>
                </a:solidFill>
                <a:latin typeface="+mn-ea"/>
              </a:rPr>
              <a:t> var-list</a:t>
            </a:r>
            <a:r>
              <a:rPr lang="en-US" altLang="zh-CN" sz="2400" b="1" dirty="0">
                <a:solidFill>
                  <a:srgbClr val="000000"/>
                </a:solidFill>
                <a:latin typeface="+mn-ea"/>
              </a:rPr>
              <a:t>     </a:t>
            </a:r>
            <a:endParaRPr lang="en-US" altLang="zh-CN" sz="2400" b="1" dirty="0">
              <a:solidFill>
                <a:srgbClr val="000000"/>
              </a:solidFill>
              <a:latin typeface="+mn-ea"/>
            </a:endParaRPr>
          </a:p>
          <a:p>
            <a:pPr algn="l">
              <a:spcBef>
                <a:spcPct val="50000"/>
              </a:spcBef>
              <a:buClrTx/>
              <a:buSzTx/>
              <a:buFontTx/>
            </a:pPr>
            <a:r>
              <a:rPr lang="en-US" altLang="zh-CN" sz="2400" b="1" i="1" dirty="0" err="1">
                <a:solidFill>
                  <a:srgbClr val="000000"/>
                </a:solidFill>
                <a:latin typeface="+mn-ea"/>
              </a:rPr>
              <a:t>type</a:t>
            </a:r>
            <a:r>
              <a:rPr lang="en-US" altLang="zh-CN" sz="2400" b="1" dirty="0" err="1">
                <a:solidFill>
                  <a:srgbClr val="000000"/>
                </a:solidFill>
                <a:latin typeface="+mn-ea"/>
              </a:rPr>
              <a:t>→int</a:t>
            </a:r>
            <a:r>
              <a:rPr lang="en-US" altLang="zh-CN" sz="2400" b="1" dirty="0">
                <a:solidFill>
                  <a:srgbClr val="000000"/>
                </a:solidFill>
                <a:latin typeface="+mn-ea"/>
              </a:rPr>
              <a:t>           </a:t>
            </a:r>
            <a:r>
              <a:rPr lang="en-US" altLang="zh-CN" sz="2400" b="1" i="1">
                <a:solidFill>
                  <a:schemeClr val="accent1"/>
                </a:solidFill>
                <a:latin typeface="+mn-ea"/>
              </a:rPr>
              <a:t>dtype=integer</a:t>
            </a:r>
            <a:endParaRPr lang="en-US" altLang="zh-CN" sz="2400" b="1" i="1">
              <a:solidFill>
                <a:schemeClr val="accent1"/>
              </a:solidFill>
              <a:latin typeface="+mn-ea"/>
            </a:endParaRPr>
          </a:p>
        </p:txBody>
      </p:sp>
      <p:sp>
        <p:nvSpPr>
          <p:cNvPr id="3" name="Rectangle 2"/>
          <p:cNvSpPr>
            <a:spLocks noChangeArrowheads="1"/>
          </p:cNvSpPr>
          <p:nvPr>
            <p:custDataLst>
              <p:tags r:id="rId3"/>
            </p:custDataLst>
          </p:nvPr>
        </p:nvSpPr>
        <p:spPr bwMode="auto">
          <a:xfrm>
            <a:off x="6746875" y="3380105"/>
            <a:ext cx="496506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spcBef>
                <a:spcPct val="50000"/>
              </a:spcBef>
            </a:pPr>
            <a:r>
              <a:rPr lang="en-US" altLang="zh-CN" sz="2400" b="1" i="1">
                <a:solidFill>
                  <a:srgbClr val="000000"/>
                </a:solidFill>
                <a:latin typeface="+mn-ea"/>
              </a:rPr>
              <a:t>type</a:t>
            </a:r>
            <a:r>
              <a:rPr lang="en-US" altLang="zh-CN" sz="2400" b="1">
                <a:solidFill>
                  <a:srgbClr val="000000"/>
                </a:solidFill>
                <a:latin typeface="+mn-ea"/>
              </a:rPr>
              <a:t>→float        </a:t>
            </a:r>
            <a:r>
              <a:rPr lang="en-US" altLang="zh-CN" sz="2400" b="1" i="1">
                <a:solidFill>
                  <a:schemeClr val="accent1"/>
                </a:solidFill>
                <a:latin typeface="+mn-ea"/>
              </a:rPr>
              <a:t>dtype</a:t>
            </a:r>
            <a:r>
              <a:rPr lang="en-US" altLang="zh-CN" sz="2400" b="1">
                <a:solidFill>
                  <a:schemeClr val="accent1"/>
                </a:solidFill>
                <a:latin typeface="+mn-ea"/>
              </a:rPr>
              <a:t>=real</a:t>
            </a:r>
            <a:endParaRPr lang="en-US" altLang="zh-CN" sz="2400" b="1">
              <a:solidFill>
                <a:schemeClr val="accent1"/>
              </a:solidFill>
              <a:latin typeface="+mn-ea"/>
            </a:endParaRPr>
          </a:p>
          <a:p>
            <a:pPr>
              <a:spcBef>
                <a:spcPct val="50000"/>
              </a:spcBef>
            </a:pPr>
            <a:r>
              <a:rPr lang="en-US" altLang="zh-CN" sz="2400" b="1" i="1">
                <a:solidFill>
                  <a:srgbClr val="000000"/>
                </a:solidFill>
                <a:latin typeface="+mn-ea"/>
              </a:rPr>
              <a:t>var-list1</a:t>
            </a:r>
            <a:r>
              <a:rPr lang="en-US" altLang="zh-CN" sz="2400" b="1">
                <a:solidFill>
                  <a:srgbClr val="000000"/>
                </a:solidFill>
                <a:latin typeface="+mn-ea"/>
              </a:rPr>
              <a:t>→id,</a:t>
            </a:r>
            <a:r>
              <a:rPr lang="en-US" altLang="zh-CN" sz="2400" b="1" i="1">
                <a:solidFill>
                  <a:srgbClr val="000000"/>
                </a:solidFill>
                <a:latin typeface="+mn-ea"/>
              </a:rPr>
              <a:t>var-list2</a:t>
            </a:r>
            <a:r>
              <a:rPr lang="en-US" altLang="zh-CN" sz="2400" b="1">
                <a:solidFill>
                  <a:srgbClr val="000000"/>
                </a:solidFill>
                <a:latin typeface="+mn-ea"/>
              </a:rPr>
              <a:t> </a:t>
            </a:r>
            <a:endParaRPr lang="en-US" altLang="zh-CN" sz="2400" b="1">
              <a:solidFill>
                <a:srgbClr val="000000"/>
              </a:solidFill>
              <a:latin typeface="+mn-ea"/>
            </a:endParaRPr>
          </a:p>
          <a:p>
            <a:pPr>
              <a:spcBef>
                <a:spcPct val="50000"/>
              </a:spcBef>
            </a:pPr>
            <a:r>
              <a:rPr lang="en-US" altLang="zh-CN" sz="2400" b="1">
                <a:solidFill>
                  <a:srgbClr val="000000"/>
                </a:solidFill>
                <a:latin typeface="+mn-ea"/>
              </a:rPr>
              <a:t>       </a:t>
            </a:r>
            <a:r>
              <a:rPr lang="en-US" altLang="zh-CN" sz="2400" b="1">
                <a:solidFill>
                  <a:schemeClr val="accent1"/>
                </a:solidFill>
                <a:latin typeface="+mn-ea"/>
              </a:rPr>
              <a:t>insert(id.name，dtype )</a:t>
            </a:r>
            <a:endParaRPr lang="en-US" altLang="zh-CN" sz="2400" b="1">
              <a:solidFill>
                <a:schemeClr val="accent1"/>
              </a:solidFill>
              <a:latin typeface="+mn-ea"/>
            </a:endParaRPr>
          </a:p>
          <a:p>
            <a:pPr>
              <a:spcBef>
                <a:spcPct val="50000"/>
              </a:spcBef>
            </a:pPr>
            <a:r>
              <a:rPr lang="en-US" altLang="zh-CN" sz="2400" b="1" i="1">
                <a:solidFill>
                  <a:srgbClr val="000000"/>
                </a:solidFill>
                <a:latin typeface="+mn-ea"/>
              </a:rPr>
              <a:t>var-list</a:t>
            </a:r>
            <a:r>
              <a:rPr lang="en-US" altLang="zh-CN" sz="2400" b="1">
                <a:solidFill>
                  <a:srgbClr val="000000"/>
                </a:solidFill>
                <a:latin typeface="+mn-ea"/>
              </a:rPr>
              <a:t>→id   </a:t>
            </a:r>
            <a:endParaRPr lang="en-US" altLang="zh-CN" sz="2400" b="1">
              <a:solidFill>
                <a:srgbClr val="000000"/>
              </a:solidFill>
              <a:latin typeface="+mn-ea"/>
            </a:endParaRPr>
          </a:p>
          <a:p>
            <a:pPr>
              <a:spcBef>
                <a:spcPct val="50000"/>
              </a:spcBef>
            </a:pPr>
            <a:r>
              <a:rPr lang="en-US" altLang="zh-CN" sz="2400" b="1">
                <a:solidFill>
                  <a:srgbClr val="000000"/>
                </a:solidFill>
                <a:latin typeface="+mn-ea"/>
              </a:rPr>
              <a:t>      </a:t>
            </a:r>
            <a:r>
              <a:rPr lang="en-US" altLang="zh-CN" sz="2400" b="1">
                <a:solidFill>
                  <a:schemeClr val="accent1"/>
                </a:solidFill>
                <a:latin typeface="+mn-ea"/>
              </a:rPr>
              <a:t> insert(id.name，dtype )</a:t>
            </a:r>
            <a:endParaRPr lang="en-US" altLang="zh-CN" sz="2400" b="1">
              <a:solidFill>
                <a:schemeClr val="accent1"/>
              </a:solidFill>
              <a:latin typeface="+mn-ea"/>
            </a:endParaRPr>
          </a:p>
        </p:txBody>
      </p:sp>
      <p:sp>
        <p:nvSpPr>
          <p:cNvPr id="7" name="文本框 6"/>
          <p:cNvSpPr txBox="1"/>
          <p:nvPr/>
        </p:nvSpPr>
        <p:spPr>
          <a:xfrm>
            <a:off x="6543040" y="1306195"/>
            <a:ext cx="5169535" cy="460375"/>
          </a:xfrm>
          <a:prstGeom prst="rect">
            <a:avLst/>
          </a:prstGeom>
          <a:noFill/>
        </p:spPr>
        <p:txBody>
          <a:bodyPr wrap="square" rtlCol="0" anchor="t">
            <a:spAutoFit/>
          </a:bodyPr>
          <a:p>
            <a:r>
              <a:rPr kumimoji="1" lang="zh-CN" altLang="en-US" sz="2400" b="1" dirty="0">
                <a:solidFill>
                  <a:srgbClr val="0070C0"/>
                </a:solidFill>
                <a:latin typeface="+mn-ea"/>
                <a:sym typeface="+mn-ea"/>
              </a:rPr>
              <a:t>全局变量</a:t>
            </a:r>
            <a:r>
              <a:rPr kumimoji="1" lang="en-US" altLang="zh-CN" sz="2400" b="1" dirty="0" err="1">
                <a:solidFill>
                  <a:srgbClr val="0070C0"/>
                </a:solidFill>
                <a:latin typeface="+mn-ea"/>
                <a:sym typeface="+mn-ea"/>
              </a:rPr>
              <a:t>dtype</a:t>
            </a:r>
            <a:r>
              <a:rPr kumimoji="1" lang="zh-CN" altLang="en-US" sz="2400" b="1" dirty="0">
                <a:solidFill>
                  <a:srgbClr val="0070C0"/>
                </a:solidFill>
                <a:latin typeface="+mn-ea"/>
                <a:sym typeface="+mn-ea"/>
              </a:rPr>
              <a:t>存储每个声明的常量</a:t>
            </a:r>
            <a:endParaRPr kumimoji="1" lang="en-US" altLang="zh-CN" sz="2400" b="1" dirty="0" err="1">
              <a:solidFill>
                <a:srgbClr val="0070C0"/>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Horizontal)">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9580" y="276860"/>
            <a:ext cx="7644765" cy="593090"/>
          </a:xfrm>
        </p:spPr>
        <p:txBody>
          <a:bodyPr/>
          <a:lstStyle/>
          <a:p>
            <a:r>
              <a:rPr lang="zh-CN" altLang="en-US" dirty="0"/>
              <a:t>使用扩展数据结构存储属性值</a:t>
            </a:r>
            <a:endParaRPr lang="zh-CN" altLang="en-US" dirty="0"/>
          </a:p>
        </p:txBody>
      </p:sp>
      <p:sp>
        <p:nvSpPr>
          <p:cNvPr id="6" name="Rectangle 4"/>
          <p:cNvSpPr>
            <a:spLocks noChangeArrowheads="1"/>
          </p:cNvSpPr>
          <p:nvPr/>
        </p:nvSpPr>
        <p:spPr bwMode="auto">
          <a:xfrm>
            <a:off x="657225" y="1394460"/>
            <a:ext cx="4726940" cy="3683000"/>
          </a:xfrm>
          <a:prstGeom prst="rect">
            <a:avLst/>
          </a:prstGeom>
          <a:solidFill>
            <a:schemeClr val="bg2"/>
          </a:solidFill>
          <a:ln w="9525">
            <a:noFill/>
            <a:miter lim="800000"/>
          </a:ln>
        </p:spPr>
        <p:txBody>
          <a:bodyPr wrap="none" anchor="ctr"/>
          <a:lstStyle/>
          <a:p>
            <a:r>
              <a:rPr lang="en-US" altLang="zh-CN" sz="2400" b="1" dirty="0">
                <a:latin typeface="Times New Roman" panose="02020603050405020304" pitchFamily="18" charset="0"/>
                <a:cs typeface="Times New Roman" panose="02020603050405020304" pitchFamily="18" charset="0"/>
              </a:rPr>
              <a:t>void </a:t>
            </a:r>
            <a:r>
              <a:rPr lang="en-US" altLang="zh-CN" sz="2400" b="1" dirty="0" err="1">
                <a:latin typeface="Times New Roman" panose="02020603050405020304" pitchFamily="18" charset="0"/>
                <a:cs typeface="Times New Roman" panose="02020603050405020304" pitchFamily="18" charset="0"/>
              </a:rPr>
              <a:t>EvalType</a:t>
            </a:r>
            <a:r>
              <a:rPr lang="en-US" altLang="zh-CN" sz="2400" b="1" dirty="0">
                <a:latin typeface="Times New Roman" panose="02020603050405020304" pitchFamily="18" charset="0"/>
                <a:cs typeface="Times New Roman" panose="02020603050405020304" pitchFamily="18" charset="0"/>
              </a:rPr>
              <a:t>(</a:t>
            </a:r>
            <a:r>
              <a:rPr lang="en-US" altLang="zh-CN" sz="2400" b="1" dirty="0" err="1">
                <a:latin typeface="Times New Roman" panose="02020603050405020304" pitchFamily="18" charset="0"/>
                <a:cs typeface="Times New Roman" panose="02020603050405020304" pitchFamily="18" charset="0"/>
              </a:rPr>
              <a:t>T:treenode</a:t>
            </a:r>
            <a:r>
              <a:rPr lang="en-US" altLang="zh-CN"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case </a:t>
            </a:r>
            <a:r>
              <a:rPr lang="en-US" altLang="zh-CN" sz="2400" b="1" dirty="0" err="1">
                <a:latin typeface="Times New Roman" panose="02020603050405020304" pitchFamily="18" charset="0"/>
                <a:cs typeface="Times New Roman" panose="02020603050405020304" pitchFamily="18" charset="0"/>
              </a:rPr>
              <a:t>nodekind</a:t>
            </a:r>
            <a:r>
              <a:rPr lang="en-US" altLang="zh-CN" sz="2400" b="1" dirty="0">
                <a:latin typeface="Times New Roman" panose="02020603050405020304" pitchFamily="18" charset="0"/>
                <a:cs typeface="Times New Roman" panose="02020603050405020304" pitchFamily="18" charset="0"/>
              </a:rPr>
              <a:t> of T of</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decl</a:t>
            </a:r>
            <a:r>
              <a:rPr lang="en-US" altLang="zh-CN"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EvalType</a:t>
            </a:r>
            <a:r>
              <a:rPr lang="en-US" altLang="zh-CN" sz="2400" b="1" dirty="0">
                <a:latin typeface="Times New Roman" panose="02020603050405020304" pitchFamily="18" charset="0"/>
                <a:cs typeface="Times New Roman" panose="02020603050405020304" pitchFamily="18" charset="0"/>
              </a:rPr>
              <a:t>(first child of T );</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EvalType</a:t>
            </a:r>
            <a:r>
              <a:rPr lang="en-US" altLang="zh-CN" sz="2400" b="1" dirty="0">
                <a:latin typeface="Times New Roman" panose="02020603050405020304" pitchFamily="18" charset="0"/>
                <a:cs typeface="Times New Roman" panose="02020603050405020304" pitchFamily="18" charset="0"/>
              </a:rPr>
              <a:t>(second child of T);</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type:</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if child of T= int</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dtype</a:t>
            </a:r>
            <a:r>
              <a:rPr lang="en-US" altLang="zh-CN" sz="2400" b="1" dirty="0">
                <a:latin typeface="Times New Roman" panose="02020603050405020304" pitchFamily="18" charset="0"/>
                <a:cs typeface="Times New Roman" panose="02020603050405020304" pitchFamily="18" charset="0"/>
              </a:rPr>
              <a:t>:=integer;</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else  </a:t>
            </a:r>
            <a:r>
              <a:rPr lang="en-US" altLang="zh-CN" sz="2400" b="1" dirty="0" err="1">
                <a:latin typeface="Times New Roman" panose="02020603050405020304" pitchFamily="18" charset="0"/>
                <a:cs typeface="Times New Roman" panose="02020603050405020304" pitchFamily="18" charset="0"/>
              </a:rPr>
              <a:t>dtype</a:t>
            </a:r>
            <a:r>
              <a:rPr lang="en-US" altLang="zh-CN" sz="2400" b="1" dirty="0">
                <a:latin typeface="Times New Roman" panose="02020603050405020304" pitchFamily="18" charset="0"/>
                <a:cs typeface="Times New Roman" panose="02020603050405020304" pitchFamily="18" charset="0"/>
              </a:rPr>
              <a:t>:=real;</a:t>
            </a:r>
            <a:endParaRPr lang="en-US" altLang="zh-CN" sz="2400" b="1" dirty="0">
              <a:latin typeface="Times New Roman" panose="02020603050405020304" pitchFamily="18" charset="0"/>
              <a:cs typeface="Times New Roman" panose="02020603050405020304" pitchFamily="18" charset="0"/>
            </a:endParaRPr>
          </a:p>
        </p:txBody>
      </p:sp>
      <p:sp>
        <p:nvSpPr>
          <p:cNvPr id="5" name="Rectangle 4"/>
          <p:cNvSpPr>
            <a:spLocks noChangeArrowheads="1"/>
          </p:cNvSpPr>
          <p:nvPr>
            <p:custDataLst>
              <p:tags r:id="rId1"/>
            </p:custDataLst>
          </p:nvPr>
        </p:nvSpPr>
        <p:spPr bwMode="auto">
          <a:xfrm>
            <a:off x="5657850" y="1394460"/>
            <a:ext cx="5908675" cy="2642870"/>
          </a:xfrm>
          <a:prstGeom prst="rect">
            <a:avLst/>
          </a:prstGeom>
          <a:solidFill>
            <a:schemeClr val="bg2"/>
          </a:solidFill>
          <a:ln w="9525">
            <a:noFill/>
            <a:miter lim="800000"/>
          </a:ln>
        </p:spPr>
        <p:txBody>
          <a:bodyPr wrap="none" anchor="ctr"/>
          <a:p>
            <a:r>
              <a:rPr lang="en-US" altLang="zh-CN" sz="2400" b="1" dirty="0">
                <a:latin typeface="Times New Roman" panose="02020603050405020304" pitchFamily="18" charset="0"/>
                <a:cs typeface="Times New Roman" panose="02020603050405020304" pitchFamily="18" charset="0"/>
              </a:rPr>
              <a:t>var-list:</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insert(name of first child of T</a:t>
            </a:r>
            <a:r>
              <a:rPr lang="zh-CN" altLang="en-US" sz="2400" b="1" dirty="0">
                <a:latin typeface="Times New Roman" panose="02020603050405020304" pitchFamily="18" charset="0"/>
                <a:cs typeface="Times New Roman" panose="02020603050405020304" pitchFamily="18" charset="0"/>
              </a:rPr>
              <a:t>，</a:t>
            </a:r>
            <a:r>
              <a:rPr lang="en-US" altLang="zh-CN" sz="2400" b="1" dirty="0" err="1">
                <a:latin typeface="Times New Roman" panose="02020603050405020304" pitchFamily="18" charset="0"/>
                <a:cs typeface="Times New Roman" panose="02020603050405020304" pitchFamily="18" charset="0"/>
              </a:rPr>
              <a:t>dtype</a:t>
            </a:r>
            <a:r>
              <a:rPr lang="en-US" altLang="zh-CN"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if third child of T is not nil;</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err="1">
                <a:latin typeface="Times New Roman" panose="02020603050405020304" pitchFamily="18" charset="0"/>
                <a:cs typeface="Times New Roman" panose="02020603050405020304" pitchFamily="18" charset="0"/>
              </a:rPr>
              <a:t>EvalType</a:t>
            </a:r>
            <a:r>
              <a:rPr lang="en-US" altLang="zh-CN" sz="2400" b="1" dirty="0">
                <a:latin typeface="Times New Roman" panose="02020603050405020304" pitchFamily="18" charset="0"/>
                <a:cs typeface="Times New Roman" panose="02020603050405020304" pitchFamily="18" charset="0"/>
              </a:rPr>
              <a:t>(third child of T );</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end case;</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arn(in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arn(in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arn(in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arn(inHorizontal)">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barn(inHorizontal)">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barn(inHorizontal)">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barn(inHorizontal)">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nodeType="clickEffect">
                                  <p:stCondLst>
                                    <p:cond delay="0"/>
                                  </p:stCondLst>
                                  <p:childTnLst>
                                    <p:set>
                                      <p:cBhvr>
                                        <p:cTn id="51" dur="1" fill="hold">
                                          <p:stCondLst>
                                            <p:cond delay="0"/>
                                          </p:stCondLst>
                                        </p:cTn>
                                        <p:tgtEl>
                                          <p:spTgt spid="5">
                                            <p:txEl>
                                              <p:pRg st="0" end="0"/>
                                            </p:txEl>
                                          </p:spTgt>
                                        </p:tgtEl>
                                        <p:attrNameLst>
                                          <p:attrName>style.visibility</p:attrName>
                                        </p:attrNameLst>
                                      </p:cBhvr>
                                      <p:to>
                                        <p:strVal val="visible"/>
                                      </p:to>
                                    </p:set>
                                    <p:animEffect transition="in" filter="barn(inHorizontal)">
                                      <p:cBhvr>
                                        <p:cTn id="52" dur="500"/>
                                        <p:tgtEl>
                                          <p:spTgt spid="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nodeType="clickEffect">
                                  <p:stCondLst>
                                    <p:cond delay="0"/>
                                  </p:stCondLst>
                                  <p:childTnLst>
                                    <p:set>
                                      <p:cBhvr>
                                        <p:cTn id="56" dur="1" fill="hold">
                                          <p:stCondLst>
                                            <p:cond delay="0"/>
                                          </p:stCondLst>
                                        </p:cTn>
                                        <p:tgtEl>
                                          <p:spTgt spid="5">
                                            <p:txEl>
                                              <p:pRg st="1" end="1"/>
                                            </p:txEl>
                                          </p:spTgt>
                                        </p:tgtEl>
                                        <p:attrNameLst>
                                          <p:attrName>style.visibility</p:attrName>
                                        </p:attrNameLst>
                                      </p:cBhvr>
                                      <p:to>
                                        <p:strVal val="visible"/>
                                      </p:to>
                                    </p:set>
                                    <p:animEffect transition="in" filter="barn(inHorizontal)">
                                      <p:cBhvr>
                                        <p:cTn id="57" dur="500"/>
                                        <p:tgtEl>
                                          <p:spTgt spid="5">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6" fill="hold" nodeType="clickEffect">
                                  <p:stCondLst>
                                    <p:cond delay="0"/>
                                  </p:stCondLst>
                                  <p:childTnLst>
                                    <p:set>
                                      <p:cBhvr>
                                        <p:cTn id="61" dur="1" fill="hold">
                                          <p:stCondLst>
                                            <p:cond delay="0"/>
                                          </p:stCondLst>
                                        </p:cTn>
                                        <p:tgtEl>
                                          <p:spTgt spid="5">
                                            <p:txEl>
                                              <p:pRg st="2" end="2"/>
                                            </p:txEl>
                                          </p:spTgt>
                                        </p:tgtEl>
                                        <p:attrNameLst>
                                          <p:attrName>style.visibility</p:attrName>
                                        </p:attrNameLst>
                                      </p:cBhvr>
                                      <p:to>
                                        <p:strVal val="visible"/>
                                      </p:to>
                                    </p:set>
                                    <p:animEffect transition="in" filter="barn(inHorizontal)">
                                      <p:cBhvr>
                                        <p:cTn id="62" dur="500"/>
                                        <p:tgtEl>
                                          <p:spTgt spid="5">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6" fill="hold" nodeType="click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animEffect transition="in" filter="barn(inHorizontal)">
                                      <p:cBhvr>
                                        <p:cTn id="67" dur="500"/>
                                        <p:tgtEl>
                                          <p:spTgt spid="5">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6" fill="hold" nodeType="clickEffect">
                                  <p:stCondLst>
                                    <p:cond delay="0"/>
                                  </p:stCondLst>
                                  <p:childTnLst>
                                    <p:set>
                                      <p:cBhvr>
                                        <p:cTn id="71" dur="1" fill="hold">
                                          <p:stCondLst>
                                            <p:cond delay="0"/>
                                          </p:stCondLst>
                                        </p:cTn>
                                        <p:tgtEl>
                                          <p:spTgt spid="5">
                                            <p:txEl>
                                              <p:pRg st="4" end="4"/>
                                            </p:txEl>
                                          </p:spTgt>
                                        </p:tgtEl>
                                        <p:attrNameLst>
                                          <p:attrName>style.visibility</p:attrName>
                                        </p:attrNameLst>
                                      </p:cBhvr>
                                      <p:to>
                                        <p:strVal val="visible"/>
                                      </p:to>
                                    </p:set>
                                    <p:animEffect transition="in" filter="barn(inHorizontal)">
                                      <p:cBhvr>
                                        <p:cTn id="72" dur="500"/>
                                        <p:tgtEl>
                                          <p:spTgt spid="5">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6" fill="hold" nodeType="clickEffect">
                                  <p:stCondLst>
                                    <p:cond delay="0"/>
                                  </p:stCondLst>
                                  <p:childTnLst>
                                    <p:set>
                                      <p:cBhvr>
                                        <p:cTn id="76" dur="1" fill="hold">
                                          <p:stCondLst>
                                            <p:cond delay="0"/>
                                          </p:stCondLst>
                                        </p:cTn>
                                        <p:tgtEl>
                                          <p:spTgt spid="5">
                                            <p:txEl>
                                              <p:pRg st="5" end="5"/>
                                            </p:txEl>
                                          </p:spTgt>
                                        </p:tgtEl>
                                        <p:attrNameLst>
                                          <p:attrName>style.visibility</p:attrName>
                                        </p:attrNameLst>
                                      </p:cBhvr>
                                      <p:to>
                                        <p:strVal val="visible"/>
                                      </p:to>
                                    </p:set>
                                    <p:animEffect transition="in" filter="barn(inHorizontal)">
                                      <p:cBhvr>
                                        <p:cTn id="7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a:t>第</a:t>
            </a:r>
            <a:r>
              <a:rPr lang="en-US" altLang="zh-CN"/>
              <a:t>5</a:t>
            </a:r>
            <a:r>
              <a:rPr lang="zh-CN" altLang="en-US"/>
              <a:t>单元 语义分析</a:t>
            </a:r>
            <a:endParaRPr lang="zh-CN" altLang="en-US" dirty="0"/>
          </a:p>
        </p:txBody>
      </p:sp>
      <p:sp>
        <p:nvSpPr>
          <p:cNvPr id="24" name="文本占位符 23"/>
          <p:cNvSpPr>
            <a:spLocks noGrp="1"/>
          </p:cNvSpPr>
          <p:nvPr>
            <p:ph type="body" sz="quarter" idx="14"/>
          </p:nvPr>
        </p:nvSpPr>
        <p:spPr/>
        <p:txBody>
          <a:bodyPr/>
          <a:lstStyle/>
          <a:p>
            <a:r>
              <a:rPr lang="en-US" altLang="zh-CN"/>
              <a:t>5.1 </a:t>
            </a:r>
            <a:r>
              <a:rPr lang="zh-CN" altLang="en-US"/>
              <a:t>属性和属性文法</a:t>
            </a:r>
            <a:endParaRPr lang="zh-CN" altLang="en-US"/>
          </a:p>
          <a:p>
            <a:r>
              <a:rPr lang="en-US" altLang="zh-CN"/>
              <a:t>5.2 </a:t>
            </a:r>
            <a:r>
              <a:rPr lang="zh-CN" altLang="en-US"/>
              <a:t>符号表</a:t>
            </a:r>
            <a:endParaRPr lang="zh-CN" altLang="en-US"/>
          </a:p>
          <a:p>
            <a:r>
              <a:rPr lang="en-US" altLang="zh-CN"/>
              <a:t>5.3 </a:t>
            </a:r>
            <a:r>
              <a:rPr lang="zh-CN" altLang="en-US"/>
              <a:t>数据类型和类型检查</a:t>
            </a:r>
            <a:endParaRPr lang="zh-CN" altLang="en-US" dirty="0"/>
          </a:p>
        </p:txBody>
      </p:sp>
      <p:sp>
        <p:nvSpPr>
          <p:cNvPr id="18" name="文本占位符 17"/>
          <p:cNvSpPr>
            <a:spLocks noGrp="1"/>
          </p:cNvSpPr>
          <p:nvPr>
            <p:ph type="body" sz="quarter" idx="15"/>
          </p:nvPr>
        </p:nvSpPr>
        <p:spPr/>
        <p:txBody>
          <a:bodyPr>
            <a:normAutofit lnSpcReduction="20000"/>
          </a:bodyPr>
          <a:lstStyle/>
          <a:p>
            <a:endParaRPr lang="zh-CN" altLang="en-US"/>
          </a:p>
        </p:txBody>
      </p:sp>
      <p:sp useBgFill="1">
        <p:nvSpPr>
          <p:cNvPr id="5" name="AutoShape 5"/>
          <p:cNvSpPr>
            <a:spLocks noChangeArrowheads="1"/>
          </p:cNvSpPr>
          <p:nvPr/>
        </p:nvSpPr>
        <p:spPr bwMode="auto">
          <a:xfrm>
            <a:off x="6250517" y="1397000"/>
            <a:ext cx="3393016" cy="1397529"/>
          </a:xfrm>
          <a:prstGeom prst="cloudCallout">
            <a:avLst>
              <a:gd name="adj1" fmla="val -62147"/>
              <a:gd name="adj2" fmla="val 34660"/>
            </a:avLst>
          </a:prstGeom>
          <a:ln w="28575">
            <a:solidFill>
              <a:schemeClr val="bg1">
                <a:lumMod val="65000"/>
              </a:schemeClr>
            </a:solidFill>
            <a:miter lim="800000"/>
          </a:ln>
        </p:spPr>
        <p:txBody>
          <a:bodyPr/>
          <a:lstStyle/>
          <a:p>
            <a:pPr algn="ctr"/>
            <a:r>
              <a:rPr lang="zh-CN" altLang="en-US" sz="2400" b="1" dirty="0">
                <a:solidFill>
                  <a:srgbClr val="0070C0"/>
                </a:solidFill>
                <a:latin typeface="+mn-ea"/>
              </a:rPr>
              <a:t>文法符号语义信息的计算技术</a:t>
            </a:r>
            <a:endParaRPr lang="zh-CN" altLang="en-US" sz="2400" b="1" dirty="0">
              <a:solidFill>
                <a:srgbClr val="0070C0"/>
              </a:solidFill>
              <a:latin typeface="+mn-ea"/>
            </a:endParaRPr>
          </a:p>
        </p:txBody>
      </p:sp>
      <p:sp useBgFill="1">
        <p:nvSpPr>
          <p:cNvPr id="6" name="AutoShape 6"/>
          <p:cNvSpPr>
            <a:spLocks noChangeArrowheads="1"/>
          </p:cNvSpPr>
          <p:nvPr/>
        </p:nvSpPr>
        <p:spPr bwMode="auto">
          <a:xfrm>
            <a:off x="6792914" y="4063471"/>
            <a:ext cx="3265487" cy="1264708"/>
          </a:xfrm>
          <a:prstGeom prst="cloudCallout">
            <a:avLst>
              <a:gd name="adj1" fmla="val -59846"/>
              <a:gd name="adj2" fmla="val -93450"/>
            </a:avLst>
          </a:prstGeom>
          <a:ln w="28575">
            <a:solidFill>
              <a:schemeClr val="bg1">
                <a:lumMod val="65000"/>
              </a:schemeClr>
            </a:solidFill>
            <a:miter lim="800000"/>
          </a:ln>
        </p:spPr>
        <p:txBody>
          <a:bodyPr/>
          <a:lstStyle/>
          <a:p>
            <a:pPr algn="ctr"/>
            <a:r>
              <a:rPr lang="zh-CN" altLang="en-US" sz="2400" b="1" dirty="0">
                <a:solidFill>
                  <a:srgbClr val="0070C0"/>
                </a:solidFill>
                <a:latin typeface="+mn-ea"/>
              </a:rPr>
              <a:t>语义分析的两个主要方面</a:t>
            </a:r>
            <a:endParaRPr lang="zh-CN" altLang="en-US" sz="2400" b="1" dirty="0">
              <a:solidFill>
                <a:srgbClr val="0070C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6245" y="276860"/>
            <a:ext cx="5659755" cy="593090"/>
          </a:xfrm>
        </p:spPr>
        <p:txBody>
          <a:bodyPr/>
          <a:lstStyle/>
          <a:p>
            <a:r>
              <a:rPr lang="en-US" altLang="zh-CN" dirty="0"/>
              <a:t>5.2.1 </a:t>
            </a:r>
            <a:r>
              <a:rPr lang="zh-CN" altLang="en-US" dirty="0"/>
              <a:t>符号表的概念</a:t>
            </a:r>
            <a:endParaRPr lang="zh-CN" altLang="en-US" dirty="0"/>
          </a:p>
        </p:txBody>
      </p:sp>
      <p:sp>
        <p:nvSpPr>
          <p:cNvPr id="6" name="Rectangle 6"/>
          <p:cNvSpPr txBox="1">
            <a:spLocks noChangeArrowheads="1"/>
          </p:cNvSpPr>
          <p:nvPr/>
        </p:nvSpPr>
        <p:spPr bwMode="auto">
          <a:xfrm>
            <a:off x="436880" y="1182370"/>
            <a:ext cx="11297285"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defRPr sz="2100">
                <a:solidFill>
                  <a:schemeClr val="tx1"/>
                </a:solidFill>
                <a:latin typeface="Times New Roman" panose="02020603050405020304" pitchFamily="18" charset="0"/>
                <a:ea typeface="宋体" panose="02010600030101010101" pitchFamily="2" charset="-122"/>
              </a:defRPr>
            </a:lvl1pPr>
            <a:lvl2pPr marL="967105" indent="-495300">
              <a:defRPr sz="2100">
                <a:solidFill>
                  <a:schemeClr val="tx1"/>
                </a:solidFill>
                <a:latin typeface="Times New Roman" panose="02020603050405020304" pitchFamily="18" charset="0"/>
                <a:ea typeface="宋体" panose="02010600030101010101" pitchFamily="2" charset="-122"/>
              </a:defRPr>
            </a:lvl2pPr>
            <a:lvl3pPr marL="1363980" indent="-495300">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457200" indent="-457200">
              <a:lnSpc>
                <a:spcPct val="130000"/>
              </a:lnSpc>
              <a:spcBef>
                <a:spcPct val="20000"/>
              </a:spcBef>
              <a:buFont typeface="Wingdings" panose="05000000000000000000" charset="0"/>
              <a:buChar char="p"/>
            </a:pPr>
            <a:r>
              <a:rPr lang="zh-CN" altLang="en-US" sz="2400" b="1" dirty="0">
                <a:latin typeface="+mn-ea"/>
                <a:ea typeface="+mn-ea"/>
              </a:rPr>
              <a:t>在编译程序工作过程中，需要收集、记录和使用源程序中一些语法符号的有关类型和特征等相关信息，会建立并保持一些表格，需要时进行查询或进一步扩展(添加)。</a:t>
            </a:r>
            <a:endParaRPr lang="zh-CN" altLang="en-US" sz="2400" b="1" dirty="0">
              <a:latin typeface="+mn-ea"/>
              <a:ea typeface="+mn-ea"/>
            </a:endParaRPr>
          </a:p>
          <a:p>
            <a:pPr marL="929005" lvl="1" indent="-457200">
              <a:lnSpc>
                <a:spcPct val="130000"/>
              </a:lnSpc>
              <a:spcBef>
                <a:spcPct val="20000"/>
              </a:spcBef>
              <a:buFont typeface="Wingdings" panose="05000000000000000000" charset="0"/>
              <a:buChar char="p"/>
            </a:pPr>
            <a:r>
              <a:rPr lang="zh-CN" altLang="en-US" sz="2400" b="1" dirty="0">
                <a:latin typeface="+mn-ea"/>
                <a:ea typeface="+mn-ea"/>
              </a:rPr>
              <a:t>常用表格有：变量名表、常数名表、数组名表、过程或子程序名表、保留字表等，统称为</a:t>
            </a:r>
            <a:r>
              <a:rPr lang="zh-CN" altLang="en-US" sz="2400" b="1" dirty="0">
                <a:solidFill>
                  <a:srgbClr val="0070C0"/>
                </a:solidFill>
                <a:latin typeface="+mn-ea"/>
                <a:ea typeface="+mn-ea"/>
              </a:rPr>
              <a:t>符号表或名字表或属性表。</a:t>
            </a:r>
            <a:endParaRPr lang="zh-CN" altLang="en-US" sz="2400" b="1" dirty="0">
              <a:solidFill>
                <a:srgbClr val="0070C0"/>
              </a:solidFill>
              <a:latin typeface="+mn-ea"/>
              <a:ea typeface="+mn-ea"/>
            </a:endParaRPr>
          </a:p>
          <a:p>
            <a:pPr marL="1325880" lvl="2" indent="-457200">
              <a:lnSpc>
                <a:spcPct val="130000"/>
              </a:lnSpc>
              <a:spcBef>
                <a:spcPct val="20000"/>
              </a:spcBef>
              <a:buFont typeface="Wingdings" panose="05000000000000000000" charset="0"/>
              <a:buChar char="p"/>
            </a:pPr>
            <a:r>
              <a:rPr lang="en-US" altLang="zh-CN" sz="2400" b="1" dirty="0">
                <a:latin typeface="+mn-ea"/>
                <a:ea typeface="+mn-ea"/>
              </a:rPr>
              <a:t>GCC</a:t>
            </a:r>
            <a:r>
              <a:rPr lang="zh-CN" altLang="en-US" sz="2400" b="1" dirty="0">
                <a:latin typeface="+mn-ea"/>
                <a:ea typeface="+mn-ea"/>
              </a:rPr>
              <a:t>、LLVM/Clang编译器中的</a:t>
            </a:r>
            <a:r>
              <a:rPr lang="en-US" altLang="zh-CN" sz="2400" b="1" dirty="0">
                <a:latin typeface="+mn-ea"/>
                <a:ea typeface="+mn-ea"/>
              </a:rPr>
              <a:t>nm</a:t>
            </a:r>
            <a:r>
              <a:rPr lang="zh-CN" altLang="en-US" sz="2400" b="1" dirty="0">
                <a:latin typeface="+mn-ea"/>
                <a:ea typeface="+mn-ea"/>
              </a:rPr>
              <a:t>命令可以列出</a:t>
            </a:r>
            <a:r>
              <a:rPr lang="en-US" altLang="zh-CN" sz="2400" b="1" dirty="0">
                <a:latin typeface="+mn-ea"/>
                <a:ea typeface="+mn-ea"/>
              </a:rPr>
              <a:t>C++/C</a:t>
            </a:r>
            <a:r>
              <a:rPr lang="zh-CN" altLang="en-US" sz="2400" b="1" dirty="0">
                <a:latin typeface="+mn-ea"/>
                <a:ea typeface="+mn-ea"/>
              </a:rPr>
              <a:t>目标文件的符号清单，对于每一个符号，</a:t>
            </a:r>
            <a:r>
              <a:rPr lang="en-US" altLang="zh-CN" sz="2400" b="1" dirty="0">
                <a:latin typeface="+mn-ea"/>
                <a:ea typeface="+mn-ea"/>
              </a:rPr>
              <a:t>nm</a:t>
            </a:r>
            <a:r>
              <a:rPr lang="zh-CN" altLang="en-US" sz="2400" b="1" dirty="0">
                <a:latin typeface="+mn-ea"/>
                <a:ea typeface="+mn-ea"/>
              </a:rPr>
              <a:t>列出其值</a:t>
            </a:r>
            <a:r>
              <a:rPr lang="en-US" altLang="zh-CN" sz="2400" b="1" dirty="0">
                <a:latin typeface="+mn-ea"/>
                <a:ea typeface="+mn-ea"/>
              </a:rPr>
              <a:t>(the symbol value)</a:t>
            </a:r>
            <a:r>
              <a:rPr lang="zh-CN" altLang="en-US" sz="2400" b="1" dirty="0">
                <a:latin typeface="+mn-ea"/>
                <a:ea typeface="+mn-ea"/>
              </a:rPr>
              <a:t>，类型（</a:t>
            </a:r>
            <a:r>
              <a:rPr lang="en-US" altLang="zh-CN" sz="2400" b="1" dirty="0">
                <a:latin typeface="+mn-ea"/>
                <a:ea typeface="+mn-ea"/>
              </a:rPr>
              <a:t>the symbol type</a:t>
            </a:r>
            <a:r>
              <a:rPr lang="zh-CN" altLang="en-US" sz="2400" b="1" dirty="0">
                <a:latin typeface="+mn-ea"/>
                <a:ea typeface="+mn-ea"/>
              </a:rPr>
              <a:t>）和其名字</a:t>
            </a:r>
            <a:r>
              <a:rPr lang="en-US" altLang="zh-CN" sz="2400" b="1" dirty="0">
                <a:latin typeface="+mn-ea"/>
                <a:ea typeface="+mn-ea"/>
              </a:rPr>
              <a:t>(the symbol name)</a:t>
            </a:r>
            <a:r>
              <a:rPr lang="zh-CN" altLang="en-US" sz="2400" b="1" dirty="0">
                <a:latin typeface="+mn-ea"/>
                <a:ea typeface="+mn-ea"/>
              </a:rPr>
              <a:t>。 </a:t>
            </a:r>
            <a:endParaRPr lang="zh-CN" altLang="en-US" sz="2400"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46405" y="276860"/>
            <a:ext cx="6150610" cy="593090"/>
          </a:xfrm>
        </p:spPr>
        <p:txBody>
          <a:bodyPr/>
          <a:lstStyle/>
          <a:p>
            <a:r>
              <a:rPr lang="en-US" altLang="zh-CN" dirty="0"/>
              <a:t>5.2.1 </a:t>
            </a:r>
            <a:r>
              <a:rPr lang="zh-CN" altLang="en-US" dirty="0"/>
              <a:t>符号表的概念</a:t>
            </a:r>
            <a:endParaRPr lang="zh-CN" altLang="en-US" dirty="0"/>
          </a:p>
        </p:txBody>
      </p:sp>
      <p:sp>
        <p:nvSpPr>
          <p:cNvPr id="4" name="Rectangle 3"/>
          <p:cNvSpPr txBox="1">
            <a:spLocks noChangeArrowheads="1"/>
          </p:cNvSpPr>
          <p:nvPr/>
        </p:nvSpPr>
        <p:spPr>
          <a:xfrm>
            <a:off x="446405" y="1196975"/>
            <a:ext cx="11347450" cy="4822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spcAft>
                <a:spcPts val="0"/>
              </a:spcAft>
              <a:buFont typeface="Wingdings" panose="05000000000000000000" charset="0"/>
              <a:buChar char="p"/>
            </a:pPr>
            <a:r>
              <a:rPr lang="zh-CN" altLang="en-US" sz="2400" b="1" dirty="0">
                <a:solidFill>
                  <a:srgbClr val="FF0000"/>
                </a:solidFill>
              </a:rPr>
              <a:t>符号表</a:t>
            </a:r>
            <a:r>
              <a:rPr lang="zh-CN" altLang="en-US" sz="2400" b="1" dirty="0">
                <a:solidFill>
                  <a:srgbClr val="21212D"/>
                </a:solidFill>
              </a:rPr>
              <a:t>存储函数、变量、常量以及数据类型等标识符相关的信息。符号表用于以下情况：</a:t>
            </a:r>
            <a:endParaRPr lang="zh-CN" altLang="en-US" sz="2400" b="1" dirty="0">
              <a:solidFill>
                <a:srgbClr val="21212D"/>
              </a:solidFill>
            </a:endParaRPr>
          </a:p>
          <a:p>
            <a:pPr marL="509905" lvl="0" indent="-495300">
              <a:lnSpc>
                <a:spcPct val="120000"/>
              </a:lnSpc>
              <a:spcBef>
                <a:spcPct val="0"/>
              </a:spcBef>
              <a:spcAft>
                <a:spcPts val="0"/>
              </a:spcAft>
              <a:buFont typeface="Wingdings" panose="05000000000000000000" pitchFamily="2" charset="2"/>
              <a:buAutoNum type="circleNumDbPlain"/>
            </a:pPr>
            <a:r>
              <a:rPr lang="zh-CN" altLang="en-US" sz="2400" b="1" dirty="0">
                <a:solidFill>
                  <a:srgbClr val="21212D"/>
                </a:solidFill>
              </a:rPr>
              <a:t>在词法分析、语法分析和语义分析的过程中</a:t>
            </a:r>
            <a:r>
              <a:rPr lang="zh-CN" altLang="en-US" sz="2400" b="1" dirty="0">
                <a:solidFill>
                  <a:srgbClr val="FF0000"/>
                </a:solidFill>
              </a:rPr>
              <a:t>收集</a:t>
            </a:r>
            <a:r>
              <a:rPr lang="zh-CN" altLang="en-US" sz="2400" b="1" dirty="0">
                <a:solidFill>
                  <a:srgbClr val="FF0000"/>
                </a:solidFill>
                <a:hlinkClick r:id="rId1" action="ppaction://hlinksldjump"/>
              </a:rPr>
              <a:t>有关标识符的属性</a:t>
            </a:r>
            <a:r>
              <a:rPr lang="zh-CN" altLang="en-US" sz="2400" b="1" dirty="0">
                <a:solidFill>
                  <a:srgbClr val="21212D"/>
                </a:solidFill>
              </a:rPr>
              <a:t>，并存于符号表中；</a:t>
            </a:r>
            <a:endParaRPr lang="zh-CN" altLang="en-US" sz="2400" b="1" dirty="0">
              <a:solidFill>
                <a:srgbClr val="21212D"/>
              </a:solidFill>
            </a:endParaRPr>
          </a:p>
          <a:p>
            <a:pPr marL="509905" lvl="0" indent="-495300">
              <a:lnSpc>
                <a:spcPct val="120000"/>
              </a:lnSpc>
              <a:spcBef>
                <a:spcPct val="0"/>
              </a:spcBef>
              <a:spcAft>
                <a:spcPts val="0"/>
              </a:spcAft>
              <a:buFont typeface="Wingdings" panose="05000000000000000000" pitchFamily="2" charset="2"/>
              <a:buAutoNum type="circleNumDbPlain"/>
            </a:pPr>
            <a:r>
              <a:rPr lang="zh-CN" altLang="en-US" sz="2400" b="1" dirty="0">
                <a:solidFill>
                  <a:srgbClr val="FF0000"/>
                </a:solidFill>
              </a:rPr>
              <a:t>作为进行语法和语义的</a:t>
            </a:r>
            <a:r>
              <a:rPr lang="zh-CN" altLang="en-US" sz="2400" b="1" dirty="0">
                <a:solidFill>
                  <a:srgbClr val="FF0000"/>
                </a:solidFill>
                <a:hlinkClick r:id="rId2" action="ppaction://hlinkfile"/>
              </a:rPr>
              <a:t>合法性检查的依据</a:t>
            </a:r>
            <a:r>
              <a:rPr lang="zh-CN" altLang="en-US" sz="2400" b="1" dirty="0">
                <a:solidFill>
                  <a:srgbClr val="21212D"/>
                </a:solidFill>
              </a:rPr>
              <a:t>：同一个标识符可能在程序的不同地方出现，需要检查标识符在上下文中的一致性和合法性，而符号表正是进行这种检查的依据；</a:t>
            </a:r>
            <a:endParaRPr lang="zh-CN" altLang="en-US" sz="2400" b="1" dirty="0">
              <a:solidFill>
                <a:srgbClr val="21212D"/>
              </a:solidFill>
            </a:endParaRPr>
          </a:p>
          <a:p>
            <a:pPr marL="0" lvl="1" indent="-495300">
              <a:lnSpc>
                <a:spcPct val="120000"/>
              </a:lnSpc>
              <a:spcBef>
                <a:spcPct val="0"/>
              </a:spcBef>
              <a:spcAft>
                <a:spcPts val="0"/>
              </a:spcAft>
              <a:buFont typeface="Wingdings" panose="05000000000000000000" pitchFamily="2" charset="2"/>
              <a:buAutoNum type="circleNumDbPlain" startAt="2"/>
            </a:pPr>
            <a:r>
              <a:rPr lang="zh-CN" altLang="en-US" sz="2400" b="1" dirty="0">
                <a:solidFill>
                  <a:srgbClr val="FF0000"/>
                </a:solidFill>
                <a:sym typeface="+mn-ea"/>
              </a:rPr>
              <a:t>作为目标代码生成阶段</a:t>
            </a:r>
            <a:r>
              <a:rPr lang="zh-CN" altLang="en-US" sz="2400" b="1" dirty="0">
                <a:solidFill>
                  <a:srgbClr val="FF0000"/>
                </a:solidFill>
                <a:sym typeface="+mn-ea"/>
                <a:hlinkClick r:id="rId3" action="ppaction://hlinkfile"/>
              </a:rPr>
              <a:t>地址分配</a:t>
            </a:r>
            <a:r>
              <a:rPr lang="zh-CN" altLang="en-US" sz="2400" b="1" dirty="0">
                <a:solidFill>
                  <a:srgbClr val="FF0000"/>
                </a:solidFill>
                <a:sym typeface="+mn-ea"/>
              </a:rPr>
              <a:t>的依据</a:t>
            </a:r>
            <a:r>
              <a:rPr lang="zh-CN" altLang="en-US" sz="2400" b="1" dirty="0">
                <a:solidFill>
                  <a:srgbClr val="21212D"/>
                </a:solidFill>
                <a:sym typeface="+mn-ea"/>
              </a:rPr>
              <a:t>：每个变量在目标代码生成时都需要确定其对应的存储地址，编译程序在完成了对变量的地址分配后，将其存于符号表中，可以通过符号表获取每个变量对应的存储地址。</a:t>
            </a:r>
            <a:endParaRPr lang="zh-CN" altLang="en-US" sz="2400" b="1" dirty="0">
              <a:solidFill>
                <a:srgbClr val="21212D"/>
              </a:solidFill>
            </a:endParaRPr>
          </a:p>
          <a:p>
            <a:pPr marL="967105" lvl="1" indent="-495300">
              <a:lnSpc>
                <a:spcPct val="120000"/>
              </a:lnSpc>
              <a:buFont typeface="Wingdings" panose="05000000000000000000" pitchFamily="2" charset="2"/>
              <a:buAutoNum type="circleNumDbPlain" startAt="2"/>
            </a:pPr>
            <a:endParaRPr lang="zh-CN" altLang="en-US" sz="2400" b="1" dirty="0">
              <a:solidFill>
                <a:srgbClr val="21212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par>
                                <p:cTn id="18" presetID="16" presetClass="entr" presetSubtype="26"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barn(inHorizontal)">
                                      <p:cBhvr>
                                        <p:cTn id="20"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82270" y="276860"/>
            <a:ext cx="6696075" cy="593090"/>
          </a:xfrm>
        </p:spPr>
        <p:txBody>
          <a:bodyPr/>
          <a:lstStyle/>
          <a:p>
            <a:r>
              <a:rPr lang="en-US" altLang="zh-CN" dirty="0"/>
              <a:t>5.2.1 </a:t>
            </a:r>
            <a:r>
              <a:rPr lang="zh-CN" altLang="en-US" dirty="0"/>
              <a:t>符号表的内容</a:t>
            </a:r>
            <a:r>
              <a:rPr lang="en-US" altLang="zh-CN" dirty="0"/>
              <a:t>(</a:t>
            </a:r>
            <a:r>
              <a:rPr lang="zh-CN" altLang="en-US" dirty="0"/>
              <a:t>续</a:t>
            </a:r>
            <a:r>
              <a:rPr lang="en-US" altLang="zh-CN" dirty="0"/>
              <a:t>)</a:t>
            </a:r>
            <a:endParaRPr lang="en-US" altLang="zh-CN" dirty="0"/>
          </a:p>
        </p:txBody>
      </p:sp>
      <p:sp>
        <p:nvSpPr>
          <p:cNvPr id="4" name="Rectangle 9"/>
          <p:cNvSpPr txBox="1">
            <a:spLocks noChangeArrowheads="1"/>
          </p:cNvSpPr>
          <p:nvPr/>
        </p:nvSpPr>
        <p:spPr>
          <a:xfrm>
            <a:off x="382270" y="1155700"/>
            <a:ext cx="11562080" cy="1746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b="1" dirty="0">
                <a:solidFill>
                  <a:srgbClr val="000000"/>
                </a:solidFill>
                <a:latin typeface="+mn-ea"/>
              </a:rPr>
              <a:t>一个符号表包括若干登记项，每一项除了包括符号的名字外，还要填入其它信息(属性域) ，即每一项的形式为：</a:t>
            </a:r>
            <a:endParaRPr lang="zh-CN" altLang="en-US" b="1" dirty="0">
              <a:solidFill>
                <a:srgbClr val="000000"/>
              </a:solidFill>
              <a:latin typeface="+mn-ea"/>
            </a:endParaRPr>
          </a:p>
          <a:p>
            <a:pPr>
              <a:lnSpc>
                <a:spcPct val="120000"/>
              </a:lnSpc>
              <a:buFont typeface="Wingdings" panose="05000000000000000000" charset="0"/>
              <a:buChar char="p"/>
            </a:pPr>
            <a:endParaRPr lang="zh-CN" altLang="en-US" sz="2800" b="1" dirty="0">
              <a:latin typeface="+mn-ea"/>
            </a:endParaRPr>
          </a:p>
        </p:txBody>
      </p:sp>
      <p:grpSp>
        <p:nvGrpSpPr>
          <p:cNvPr id="6" name="Group 10"/>
          <p:cNvGrpSpPr/>
          <p:nvPr/>
        </p:nvGrpSpPr>
        <p:grpSpPr bwMode="auto">
          <a:xfrm>
            <a:off x="382131" y="2315845"/>
            <a:ext cx="11178063" cy="460375"/>
            <a:chOff x="-113" y="1752"/>
            <a:chExt cx="5135" cy="290"/>
          </a:xfrm>
        </p:grpSpPr>
        <p:sp>
          <p:nvSpPr>
            <p:cNvPr id="7" name="Text Box 4"/>
            <p:cNvSpPr txBox="1">
              <a:spLocks noChangeArrowheads="1"/>
            </p:cNvSpPr>
            <p:nvPr/>
          </p:nvSpPr>
          <p:spPr bwMode="auto">
            <a:xfrm>
              <a:off x="-113" y="1752"/>
              <a:ext cx="617"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lgn="ctr">
                <a:spcBef>
                  <a:spcPct val="50000"/>
                </a:spcBef>
              </a:pPr>
              <a:r>
                <a:rPr lang="zh-CN" altLang="en-US" sz="2400" b="1">
                  <a:solidFill>
                    <a:srgbClr val="000000"/>
                  </a:solidFill>
                  <a:latin typeface="宋体" panose="02010600030101010101" pitchFamily="2" charset="-122"/>
                </a:rPr>
                <a:t>名字栏</a:t>
              </a:r>
              <a:endParaRPr lang="zh-CN" altLang="en-US" sz="2400" b="1">
                <a:solidFill>
                  <a:srgbClr val="000000"/>
                </a:solidFill>
                <a:latin typeface="宋体" panose="02010600030101010101" pitchFamily="2" charset="-122"/>
              </a:endParaRPr>
            </a:p>
          </p:txBody>
        </p:sp>
        <p:sp>
          <p:nvSpPr>
            <p:cNvPr id="8" name="Text Box 5"/>
            <p:cNvSpPr txBox="1">
              <a:spLocks noChangeArrowheads="1"/>
            </p:cNvSpPr>
            <p:nvPr/>
          </p:nvSpPr>
          <p:spPr bwMode="auto">
            <a:xfrm>
              <a:off x="504" y="1752"/>
              <a:ext cx="4518" cy="29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0" lvl="1" algn="ctr">
                <a:spcBef>
                  <a:spcPct val="50000"/>
                </a:spcBef>
              </a:pPr>
              <a:r>
                <a:rPr lang="zh-CN" altLang="en-US" sz="2400" b="1">
                  <a:solidFill>
                    <a:srgbClr val="000000"/>
                  </a:solidFill>
                  <a:latin typeface="宋体" panose="02010600030101010101" pitchFamily="2" charset="-122"/>
                </a:rPr>
                <a:t>属性栏（</a:t>
              </a:r>
              <a:r>
                <a:rPr lang="zh-CN" altLang="en-US" sz="2400" b="1" dirty="0">
                  <a:latin typeface="+mn-ea"/>
                  <a:sym typeface="+mn-ea"/>
                </a:rPr>
                <a:t>若干子栏组成，记录与该名字相</a:t>
              </a:r>
              <a:r>
                <a:rPr lang="zh-CN" altLang="en-US" sz="2400" b="1" dirty="0">
                  <a:latin typeface="+mn-ea"/>
                  <a:sym typeface="+mn-ea"/>
                </a:rPr>
                <a:t>关的各种属性值和特征</a:t>
              </a:r>
              <a:r>
                <a:rPr lang="zh-CN" altLang="en-US" sz="2400" b="1">
                  <a:solidFill>
                    <a:srgbClr val="000000"/>
                  </a:solidFill>
                  <a:latin typeface="宋体" panose="02010600030101010101" pitchFamily="2" charset="-122"/>
                </a:rPr>
                <a:t>）</a:t>
              </a:r>
              <a:endParaRPr lang="zh-CN" altLang="en-US" sz="2400" b="1">
                <a:solidFill>
                  <a:srgbClr val="000000"/>
                </a:solidFill>
                <a:latin typeface="宋体" panose="02010600030101010101" pitchFamily="2" charset="-122"/>
              </a:endParaRPr>
            </a:p>
          </p:txBody>
        </p:sp>
      </p:grpSp>
      <p:sp>
        <p:nvSpPr>
          <p:cNvPr id="19" name="Rectangle 10"/>
          <p:cNvSpPr txBox="1">
            <a:spLocks noChangeArrowheads="1"/>
          </p:cNvSpPr>
          <p:nvPr>
            <p:custDataLst>
              <p:tags r:id="rId1"/>
            </p:custDataLst>
          </p:nvPr>
        </p:nvSpPr>
        <p:spPr>
          <a:xfrm>
            <a:off x="382270" y="2776220"/>
            <a:ext cx="11265535" cy="43929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b="1" dirty="0">
                <a:solidFill>
                  <a:srgbClr val="000000"/>
                </a:solidFill>
                <a:latin typeface="宋体" panose="02010600030101010101" pitchFamily="2" charset="-122"/>
              </a:rPr>
              <a:t>每个名字的属性信息包括：</a:t>
            </a:r>
            <a:endParaRPr lang="zh-CN" altLang="en-US" b="1" dirty="0">
              <a:solidFill>
                <a:srgbClr val="000000"/>
              </a:solidFill>
              <a:latin typeface="宋体" panose="02010600030101010101" pitchFamily="2" charset="-122"/>
            </a:endParaRPr>
          </a:p>
          <a:p>
            <a:pPr lvl="1">
              <a:lnSpc>
                <a:spcPct val="125000"/>
              </a:lnSpc>
              <a:spcBef>
                <a:spcPct val="0"/>
              </a:spcBef>
              <a:spcAft>
                <a:spcPts val="0"/>
              </a:spcAft>
              <a:buFont typeface="Wingdings" panose="05000000000000000000" charset="0"/>
              <a:buChar char="p"/>
            </a:pPr>
            <a:r>
              <a:rPr lang="zh-CN" altLang="en-US" b="1" dirty="0">
                <a:solidFill>
                  <a:srgbClr val="000000"/>
                </a:solidFill>
                <a:latin typeface="宋体" panose="02010600030101010101" pitchFamily="2" charset="-122"/>
              </a:rPr>
              <a:t>名字的种类：常数、变量、数组、函数、</a:t>
            </a:r>
            <a:r>
              <a:rPr lang="zh-CN" altLang="en-US" b="1" dirty="0">
                <a:solidFill>
                  <a:srgbClr val="000000"/>
                </a:solidFill>
                <a:latin typeface="Times New Roman" panose="02020603050405020304" pitchFamily="18" charset="0"/>
              </a:rPr>
              <a:t>……</a:t>
            </a:r>
            <a:endParaRPr lang="zh-CN" altLang="en-US" b="1" dirty="0">
              <a:solidFill>
                <a:srgbClr val="000000"/>
              </a:solidFill>
              <a:latin typeface="宋体" panose="02010600030101010101" pitchFamily="2" charset="-122"/>
            </a:endParaRPr>
          </a:p>
          <a:p>
            <a:pPr lvl="1">
              <a:lnSpc>
                <a:spcPct val="125000"/>
              </a:lnSpc>
              <a:spcBef>
                <a:spcPct val="0"/>
              </a:spcBef>
              <a:spcAft>
                <a:spcPts val="0"/>
              </a:spcAft>
              <a:buFont typeface="Wingdings" panose="05000000000000000000" charset="0"/>
              <a:buChar char="p"/>
            </a:pPr>
            <a:r>
              <a:rPr lang="zh-CN" altLang="en-US" b="1" dirty="0">
                <a:solidFill>
                  <a:srgbClr val="000000"/>
                </a:solidFill>
                <a:latin typeface="宋体" panose="02010600030101010101" pitchFamily="2" charset="-122"/>
              </a:rPr>
              <a:t>名字的类型：整型、实型、字符型、布尔型</a:t>
            </a:r>
            <a:r>
              <a:rPr lang="zh-CN" altLang="en-US" b="1" dirty="0">
                <a:solidFill>
                  <a:srgbClr val="000000"/>
                </a:solidFill>
                <a:latin typeface="Times New Roman" panose="02020603050405020304" pitchFamily="18" charset="0"/>
              </a:rPr>
              <a:t>……</a:t>
            </a:r>
            <a:endParaRPr lang="zh-CN" altLang="en-US" b="1" dirty="0">
              <a:solidFill>
                <a:srgbClr val="000000"/>
              </a:solidFill>
              <a:latin typeface="宋体" panose="02010600030101010101" pitchFamily="2" charset="-122"/>
            </a:endParaRPr>
          </a:p>
          <a:p>
            <a:pPr lvl="1">
              <a:lnSpc>
                <a:spcPct val="125000"/>
              </a:lnSpc>
              <a:spcBef>
                <a:spcPct val="0"/>
              </a:spcBef>
              <a:spcAft>
                <a:spcPts val="0"/>
              </a:spcAft>
              <a:buFont typeface="Wingdings" panose="05000000000000000000" charset="0"/>
              <a:buChar char="p"/>
            </a:pPr>
            <a:r>
              <a:rPr lang="zh-CN" altLang="en-US" b="1" dirty="0">
                <a:solidFill>
                  <a:srgbClr val="000000"/>
                </a:solidFill>
                <a:latin typeface="宋体" panose="02010600030101010101" pitchFamily="2" charset="-122"/>
              </a:rPr>
              <a:t>名字的出现特征：定义性出现、使用性出现</a:t>
            </a:r>
            <a:endParaRPr lang="zh-CN" altLang="en-US" b="1" dirty="0">
              <a:solidFill>
                <a:srgbClr val="000000"/>
              </a:solidFill>
              <a:latin typeface="宋体" panose="02010600030101010101" pitchFamily="2" charset="-122"/>
            </a:endParaRPr>
          </a:p>
          <a:p>
            <a:pPr lvl="1">
              <a:lnSpc>
                <a:spcPct val="125000"/>
              </a:lnSpc>
              <a:spcBef>
                <a:spcPct val="0"/>
              </a:spcBef>
              <a:spcAft>
                <a:spcPts val="0"/>
              </a:spcAft>
              <a:buFont typeface="Wingdings" panose="05000000000000000000" charset="0"/>
              <a:buChar char="p"/>
            </a:pPr>
            <a:r>
              <a:rPr lang="zh-CN" altLang="en-US" b="1" dirty="0">
                <a:solidFill>
                  <a:srgbClr val="000000"/>
                </a:solidFill>
                <a:latin typeface="宋体" panose="02010600030101010101" pitchFamily="2" charset="-122"/>
              </a:rPr>
              <a:t>给名字分配的存储单元地址</a:t>
            </a:r>
            <a:endParaRPr lang="zh-CN" altLang="en-US" b="1" dirty="0">
              <a:solidFill>
                <a:srgbClr val="000000"/>
              </a:solidFill>
              <a:latin typeface="宋体" panose="02010600030101010101" pitchFamily="2" charset="-122"/>
            </a:endParaRPr>
          </a:p>
          <a:p>
            <a:pPr lvl="1">
              <a:lnSpc>
                <a:spcPct val="125000"/>
              </a:lnSpc>
              <a:spcBef>
                <a:spcPct val="0"/>
              </a:spcBef>
              <a:spcAft>
                <a:spcPts val="0"/>
              </a:spcAft>
              <a:buFont typeface="Wingdings" panose="05000000000000000000" charset="0"/>
              <a:buChar char="p"/>
            </a:pPr>
            <a:r>
              <a:rPr lang="zh-CN" altLang="en-US" b="1" dirty="0">
                <a:solidFill>
                  <a:srgbClr val="000000"/>
                </a:solidFill>
                <a:latin typeface="宋体" panose="02010600030101010101" pitchFamily="2" charset="-122"/>
              </a:rPr>
              <a:t>与该名字的语义有关的其它信息：数组的维数、下标的类型、函数的参数及参数类型等。</a:t>
            </a:r>
            <a:endParaRPr lang="zh-CN" altLang="en-US" b="1" dirty="0">
              <a:solidFill>
                <a:srgbClr val="00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animEffect transition="in" filter="strips(downLeft)">
                                      <p:cBhvr>
                                        <p:cTn id="7" dur="500"/>
                                        <p:tgtEl>
                                          <p:spTgt spid="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strips(downLeft)">
                                      <p:cBhvr>
                                        <p:cTn id="12" dur="500"/>
                                        <p:tgtEl>
                                          <p:spTgt spid="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9">
                                            <p:txEl>
                                              <p:pRg st="3" end="3"/>
                                            </p:txEl>
                                          </p:spTgt>
                                        </p:tgtEl>
                                        <p:attrNameLst>
                                          <p:attrName>style.visibility</p:attrName>
                                        </p:attrNameLst>
                                      </p:cBhvr>
                                      <p:to>
                                        <p:strVal val="visible"/>
                                      </p:to>
                                    </p:set>
                                    <p:animEffect transition="in" filter="strips(downLeft)">
                                      <p:cBhvr>
                                        <p:cTn id="17" dur="500"/>
                                        <p:tgtEl>
                                          <p:spTgt spid="1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9">
                                            <p:txEl>
                                              <p:pRg st="4" end="4"/>
                                            </p:txEl>
                                          </p:spTgt>
                                        </p:tgtEl>
                                        <p:attrNameLst>
                                          <p:attrName>style.visibility</p:attrName>
                                        </p:attrNameLst>
                                      </p:cBhvr>
                                      <p:to>
                                        <p:strVal val="visible"/>
                                      </p:to>
                                    </p:set>
                                    <p:animEffect transition="in" filter="strips(downLeft)">
                                      <p:cBhvr>
                                        <p:cTn id="22" dur="500"/>
                                        <p:tgtEl>
                                          <p:spTgt spid="1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9">
                                            <p:txEl>
                                              <p:pRg st="5" end="5"/>
                                            </p:txEl>
                                          </p:spTgt>
                                        </p:tgtEl>
                                        <p:attrNameLst>
                                          <p:attrName>style.visibility</p:attrName>
                                        </p:attrNameLst>
                                      </p:cBhvr>
                                      <p:to>
                                        <p:strVal val="visible"/>
                                      </p:to>
                                    </p:set>
                                    <p:animEffect transition="in" filter="strips(downLeft)">
                                      <p:cBhvr>
                                        <p:cTn id="27" dur="500"/>
                                        <p:tgtEl>
                                          <p:spTgt spid="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92430" y="276860"/>
            <a:ext cx="6475730" cy="593090"/>
          </a:xfrm>
        </p:spPr>
        <p:txBody>
          <a:bodyPr/>
          <a:lstStyle/>
          <a:p>
            <a:r>
              <a:rPr lang="en-US" altLang="zh-CN" dirty="0"/>
              <a:t>5.2.1 </a:t>
            </a:r>
            <a:r>
              <a:rPr lang="zh-CN" altLang="en-US" dirty="0"/>
              <a:t>符号表的内容</a:t>
            </a:r>
            <a:r>
              <a:rPr lang="en-US" altLang="zh-CN" dirty="0"/>
              <a:t>(</a:t>
            </a:r>
            <a:r>
              <a:rPr lang="zh-CN" altLang="en-US" dirty="0"/>
              <a:t>续</a:t>
            </a:r>
            <a:r>
              <a:rPr lang="en-US" altLang="zh-CN" dirty="0"/>
              <a:t>)</a:t>
            </a:r>
            <a:endParaRPr lang="en-US" altLang="zh-CN" dirty="0"/>
          </a:p>
        </p:txBody>
      </p:sp>
      <p:sp>
        <p:nvSpPr>
          <p:cNvPr id="4" name="Rectangle 3"/>
          <p:cNvSpPr txBox="1">
            <a:spLocks noChangeArrowheads="1"/>
          </p:cNvSpPr>
          <p:nvPr/>
        </p:nvSpPr>
        <p:spPr>
          <a:xfrm>
            <a:off x="509270" y="1214755"/>
            <a:ext cx="11404600" cy="35858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p"/>
            </a:pPr>
            <a:r>
              <a:rPr lang="zh-CN" altLang="en-US" b="1" dirty="0">
                <a:latin typeface="+mn-ea"/>
              </a:rPr>
              <a:t>编译程序在整个编译期间，符号表中所登记的信息可能在编译的不同阶段使用，对于符号表的操作可归纳为5类：</a:t>
            </a:r>
            <a:endParaRPr lang="zh-CN" altLang="en-US" b="1" dirty="0">
              <a:latin typeface="+mn-ea"/>
            </a:endParaRPr>
          </a:p>
          <a:p>
            <a:pPr marL="990600" lvl="1" indent="-519430">
              <a:lnSpc>
                <a:spcPct val="120000"/>
              </a:lnSpc>
              <a:buFont typeface="Wingdings" panose="05000000000000000000" pitchFamily="2" charset="2"/>
              <a:buAutoNum type="arabicParenR"/>
            </a:pPr>
            <a:r>
              <a:rPr lang="zh-CN" altLang="en-US" b="1" dirty="0">
                <a:latin typeface="+mn-ea"/>
              </a:rPr>
              <a:t>增：向表中填入一个新的名字；</a:t>
            </a:r>
            <a:endParaRPr lang="zh-CN" altLang="en-US" b="1" dirty="0">
              <a:latin typeface="+mn-ea"/>
            </a:endParaRPr>
          </a:p>
          <a:p>
            <a:pPr marL="990600" lvl="1" indent="-519430">
              <a:lnSpc>
                <a:spcPct val="120000"/>
              </a:lnSpc>
              <a:buFont typeface="Wingdings" panose="05000000000000000000" pitchFamily="2" charset="2"/>
              <a:buAutoNum type="arabicParenR"/>
            </a:pPr>
            <a:r>
              <a:rPr lang="zh-CN" altLang="en-US" b="1" dirty="0">
                <a:latin typeface="+mn-ea"/>
              </a:rPr>
              <a:t>删：从表中删除一个或一组无用的项；</a:t>
            </a:r>
            <a:endParaRPr lang="zh-CN" altLang="en-US" b="1" dirty="0">
              <a:latin typeface="+mn-ea"/>
            </a:endParaRPr>
          </a:p>
          <a:p>
            <a:pPr marL="990600" lvl="1" indent="-519430">
              <a:lnSpc>
                <a:spcPct val="120000"/>
              </a:lnSpc>
              <a:buFont typeface="Wingdings" panose="05000000000000000000" pitchFamily="2" charset="2"/>
              <a:buAutoNum type="arabicParenR"/>
            </a:pPr>
            <a:r>
              <a:rPr lang="zh-CN" altLang="en-US" b="1" dirty="0">
                <a:latin typeface="+mn-ea"/>
              </a:rPr>
              <a:t>改：对给定名字，在表中填写或更新它的某些信息；</a:t>
            </a:r>
            <a:endParaRPr lang="zh-CN" altLang="en-US" b="1" dirty="0">
              <a:latin typeface="+mn-ea"/>
            </a:endParaRPr>
          </a:p>
          <a:p>
            <a:pPr marL="990600" lvl="1" indent="-519430">
              <a:lnSpc>
                <a:spcPct val="120000"/>
              </a:lnSpc>
              <a:buFont typeface="Wingdings" panose="05000000000000000000" pitchFamily="2" charset="2"/>
              <a:buAutoNum type="arabicParenR"/>
            </a:pPr>
            <a:r>
              <a:rPr lang="zh-CN" altLang="en-US" b="1" dirty="0">
                <a:latin typeface="+mn-ea"/>
              </a:rPr>
              <a:t>查：对给定的名字，判定此名字是否已在表中；</a:t>
            </a:r>
            <a:endParaRPr lang="zh-CN" altLang="en-US" b="1" dirty="0">
              <a:latin typeface="+mn-ea"/>
            </a:endParaRPr>
          </a:p>
          <a:p>
            <a:pPr marL="990600" lvl="1" indent="-519430">
              <a:lnSpc>
                <a:spcPct val="120000"/>
              </a:lnSpc>
              <a:buFont typeface="Wingdings" panose="05000000000000000000" pitchFamily="2" charset="2"/>
              <a:buAutoNum type="arabicParenR"/>
            </a:pPr>
            <a:r>
              <a:rPr lang="zh-CN" altLang="en-US" b="1" dirty="0">
                <a:latin typeface="+mn-ea"/>
              </a:rPr>
              <a:t>查：对给定名字，访问它在表中的某些相关信息；</a:t>
            </a: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Horizontal)">
                                      <p:cBhvr>
                                        <p:cTn id="10" dur="500"/>
                                        <p:tgtEl>
                                          <p:spTgt spid="4">
                                            <p:txEl>
                                              <p:pRg st="1" end="1"/>
                                            </p:txEl>
                                          </p:spTgt>
                                        </p:tgtEl>
                                      </p:cBhvr>
                                    </p:animEffect>
                                  </p:childTnLst>
                                </p:cTn>
                              </p:par>
                              <p:par>
                                <p:cTn id="11" presetID="16" presetClass="entr" presetSubtype="26"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Horizontal)">
                                      <p:cBhvr>
                                        <p:cTn id="13" dur="500"/>
                                        <p:tgtEl>
                                          <p:spTgt spid="4">
                                            <p:txEl>
                                              <p:pRg st="2" end="2"/>
                                            </p:txEl>
                                          </p:spTgt>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Horizontal)">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Horizontal)">
                                      <p:cBhvr>
                                        <p:cTn id="21" dur="500"/>
                                        <p:tgtEl>
                                          <p:spTgt spid="4">
                                            <p:txEl>
                                              <p:pRg st="4" end="4"/>
                                            </p:txEl>
                                          </p:spTgt>
                                        </p:tgtEl>
                                      </p:cBhvr>
                                    </p:animEffect>
                                  </p:childTnLst>
                                </p:cTn>
                              </p:par>
                              <p:par>
                                <p:cTn id="22" presetID="16" presetClass="entr" presetSubtype="26"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arn(inHorizontal)">
                                      <p:cBhvr>
                                        <p:cTn id="24"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75920" y="276860"/>
            <a:ext cx="6641465" cy="593090"/>
          </a:xfrm>
        </p:spPr>
        <p:txBody>
          <a:bodyPr/>
          <a:lstStyle/>
          <a:p>
            <a:r>
              <a:rPr lang="en-US" altLang="zh-CN" dirty="0"/>
              <a:t>5.2.2 </a:t>
            </a:r>
            <a:r>
              <a:rPr lang="zh-CN" altLang="en-US" dirty="0"/>
              <a:t>符号表的数据结构</a:t>
            </a:r>
            <a:endParaRPr lang="zh-CN" altLang="en-US" dirty="0"/>
          </a:p>
        </p:txBody>
      </p:sp>
      <p:sp>
        <p:nvSpPr>
          <p:cNvPr id="5" name="Rectangle 7"/>
          <p:cNvSpPr txBox="1">
            <a:spLocks noChangeArrowheads="1"/>
          </p:cNvSpPr>
          <p:nvPr/>
        </p:nvSpPr>
        <p:spPr>
          <a:xfrm>
            <a:off x="375285" y="1189990"/>
            <a:ext cx="11447780" cy="47148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spcAft>
                <a:spcPts val="0"/>
              </a:spcAft>
              <a:buFont typeface="Wingdings" panose="05000000000000000000" charset="0"/>
              <a:buChar char="p"/>
            </a:pPr>
            <a:r>
              <a:rPr lang="zh-CN" altLang="en-US" b="1" dirty="0">
                <a:solidFill>
                  <a:srgbClr val="000000"/>
                </a:solidFill>
                <a:latin typeface="+mn-ea"/>
              </a:rPr>
              <a:t>在编译器中，</a:t>
            </a:r>
            <a:r>
              <a:rPr lang="zh-CN" altLang="en-US" b="1" dirty="0">
                <a:latin typeface="+mn-ea"/>
              </a:rPr>
              <a:t>符号表应该采用何种</a:t>
            </a:r>
            <a:r>
              <a:rPr lang="zh-CN" altLang="en-US" b="1" dirty="0">
                <a:solidFill>
                  <a:srgbClr val="000000"/>
                </a:solidFill>
                <a:latin typeface="+mn-ea"/>
              </a:rPr>
              <a:t>目录</a:t>
            </a:r>
            <a:r>
              <a:rPr lang="zh-CN" altLang="en-US" b="1" dirty="0">
                <a:latin typeface="+mn-ea"/>
              </a:rPr>
              <a:t>数据结构进行实现？</a:t>
            </a:r>
            <a:endParaRPr lang="zh-CN" altLang="en-US" b="1" dirty="0">
              <a:latin typeface="+mn-ea"/>
            </a:endParaRPr>
          </a:p>
          <a:p>
            <a:pPr>
              <a:lnSpc>
                <a:spcPct val="120000"/>
              </a:lnSpc>
              <a:spcBef>
                <a:spcPct val="0"/>
              </a:spcBef>
              <a:spcAft>
                <a:spcPts val="0"/>
              </a:spcAft>
              <a:buFont typeface="Wingdings" panose="05000000000000000000" charset="0"/>
              <a:buChar char="p"/>
            </a:pPr>
            <a:r>
              <a:rPr lang="zh-CN" altLang="en-US" b="1" dirty="0">
                <a:latin typeface="+mn-ea"/>
              </a:rPr>
              <a:t>不同的数据结构有不同的时间复杂度、空间复杂度以及编程复杂度，几种最常见的选择有：</a:t>
            </a:r>
            <a:endParaRPr lang="en-US" altLang="zh-CN" b="1" dirty="0">
              <a:latin typeface="+mn-ea"/>
            </a:endParaRPr>
          </a:p>
          <a:p>
            <a:pPr lvl="1">
              <a:lnSpc>
                <a:spcPct val="120000"/>
              </a:lnSpc>
              <a:spcBef>
                <a:spcPct val="0"/>
              </a:spcBef>
              <a:spcAft>
                <a:spcPts val="0"/>
              </a:spcAft>
              <a:buFont typeface="Wingdings" panose="05000000000000000000" charset="0"/>
              <a:buChar char="p"/>
            </a:pPr>
            <a:r>
              <a:rPr lang="zh-CN" altLang="en-US" b="1" dirty="0">
                <a:solidFill>
                  <a:srgbClr val="000000"/>
                </a:solidFill>
                <a:latin typeface="+mn-ea"/>
              </a:rPr>
              <a:t>线性链表、各种搜索树结构(二叉搜索树、</a:t>
            </a:r>
            <a:r>
              <a:rPr lang="en-US" altLang="zh-CN" b="1" dirty="0">
                <a:solidFill>
                  <a:srgbClr val="000000"/>
                </a:solidFill>
                <a:latin typeface="+mn-ea"/>
              </a:rPr>
              <a:t>AVL</a:t>
            </a:r>
            <a:r>
              <a:rPr lang="zh-CN" altLang="en-US" b="1" dirty="0">
                <a:solidFill>
                  <a:srgbClr val="000000"/>
                </a:solidFill>
                <a:latin typeface="+mn-ea"/>
              </a:rPr>
              <a:t>树、</a:t>
            </a:r>
            <a:r>
              <a:rPr lang="en-US" altLang="zh-CN" b="1" dirty="0">
                <a:solidFill>
                  <a:srgbClr val="000000"/>
                </a:solidFill>
                <a:latin typeface="+mn-ea"/>
              </a:rPr>
              <a:t>B</a:t>
            </a:r>
            <a:r>
              <a:rPr lang="zh-CN" altLang="en-US" b="1" dirty="0">
                <a:solidFill>
                  <a:srgbClr val="000000"/>
                </a:solidFill>
                <a:latin typeface="+mn-ea"/>
              </a:rPr>
              <a:t>树)以及哈希表( </a:t>
            </a:r>
            <a:r>
              <a:rPr lang="en-US" altLang="zh-CN" b="1" dirty="0">
                <a:solidFill>
                  <a:srgbClr val="000000"/>
                </a:solidFill>
                <a:latin typeface="+mn-ea"/>
              </a:rPr>
              <a:t>hash</a:t>
            </a:r>
            <a:r>
              <a:rPr lang="zh-CN" altLang="en-US" b="1" dirty="0">
                <a:solidFill>
                  <a:srgbClr val="000000"/>
                </a:solidFill>
                <a:latin typeface="+mn-ea"/>
              </a:rPr>
              <a:t>表)等。</a:t>
            </a:r>
            <a:endParaRPr lang="zh-CN" altLang="en-US" b="1" dirty="0">
              <a:solidFill>
                <a:srgbClr val="000000"/>
              </a:solidFill>
              <a:latin typeface="+mn-ea"/>
            </a:endParaRPr>
          </a:p>
          <a:p>
            <a:pPr>
              <a:lnSpc>
                <a:spcPct val="120000"/>
              </a:lnSpc>
              <a:spcBef>
                <a:spcPct val="0"/>
              </a:spcBef>
              <a:spcAft>
                <a:spcPts val="0"/>
              </a:spcAft>
              <a:buFont typeface="Wingdings" panose="05000000000000000000" charset="0"/>
              <a:buChar char="p"/>
            </a:pPr>
            <a:r>
              <a:rPr lang="zh-CN" altLang="en-US" sz="2400" b="1" dirty="0">
                <a:sym typeface="+mn-ea"/>
              </a:rPr>
              <a:t>哈希表代表了一个数据结构可以达到的搜索效率的极致，可以使插入、查找和删除的平均时间效率都达到</a:t>
            </a:r>
            <a:r>
              <a:rPr lang="en-US" altLang="zh-CN" sz="2400" b="1" dirty="0">
                <a:sym typeface="+mn-ea"/>
              </a:rPr>
              <a:t>O(1)</a:t>
            </a:r>
            <a:r>
              <a:rPr lang="zh-CN" altLang="en-US" sz="2400" b="1" dirty="0">
                <a:sym typeface="+mn-ea"/>
              </a:rPr>
              <a:t>，且代码实现简单：</a:t>
            </a:r>
            <a:endParaRPr lang="en-US" altLang="zh-CN" sz="2400" b="1" dirty="0"/>
          </a:p>
          <a:p>
            <a:pPr lvl="2">
              <a:lnSpc>
                <a:spcPct val="120000"/>
              </a:lnSpc>
              <a:spcBef>
                <a:spcPct val="0"/>
              </a:spcBef>
              <a:spcAft>
                <a:spcPts val="0"/>
              </a:spcAft>
              <a:buFont typeface="Wingdings" panose="05000000000000000000" charset="0"/>
              <a:buChar char="p"/>
            </a:pPr>
            <a:r>
              <a:rPr lang="zh-CN" altLang="en-US" sz="2400" b="1" dirty="0">
                <a:sym typeface="+mn-ea"/>
              </a:rPr>
              <a:t>申请一个大数组、计算一个哈希函数的值，然后根据这个值将该符号放到数组相应下标的位置即可。</a:t>
            </a:r>
            <a:endParaRPr lang="en-US" altLang="zh-CN" sz="2400" b="1" dirty="0"/>
          </a:p>
          <a:p>
            <a:pPr lvl="2">
              <a:lnSpc>
                <a:spcPct val="120000"/>
              </a:lnSpc>
              <a:spcBef>
                <a:spcPct val="0"/>
              </a:spcBef>
              <a:spcAft>
                <a:spcPts val="0"/>
              </a:spcAft>
              <a:buFont typeface="Wingdings" panose="05000000000000000000" charset="0"/>
              <a:buChar char="p"/>
            </a:pPr>
            <a:r>
              <a:rPr lang="zh-CN" altLang="en-US" sz="2400" b="1" dirty="0">
                <a:sym typeface="+mn-ea"/>
              </a:rPr>
              <a:t>一个最简单的</a:t>
            </a:r>
            <a:r>
              <a:rPr lang="en-US" altLang="zh-CN" sz="2400" b="1" dirty="0">
                <a:sym typeface="+mn-ea"/>
              </a:rPr>
              <a:t>hash</a:t>
            </a:r>
            <a:r>
              <a:rPr lang="zh-CN" altLang="en-US" sz="2400" b="1" dirty="0">
                <a:sym typeface="+mn-ea"/>
              </a:rPr>
              <a:t>函数只需要把符号名中的所有字符相加，然后对符号表的大小取模。</a:t>
            </a:r>
            <a:endParaRPr lang="zh-CN" altLang="en-US" b="1" dirty="0">
              <a:solidFill>
                <a:srgbClr val="0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3705" y="276860"/>
            <a:ext cx="6894830" cy="593090"/>
          </a:xfrm>
        </p:spPr>
        <p:txBody>
          <a:bodyPr/>
          <a:lstStyle/>
          <a:p>
            <a:r>
              <a:rPr lang="en-US" altLang="zh-CN" dirty="0"/>
              <a:t>5.2.2 </a:t>
            </a:r>
            <a:r>
              <a:rPr lang="zh-CN" altLang="en-US" dirty="0"/>
              <a:t>符号表的数据结构</a:t>
            </a:r>
            <a:endParaRPr lang="zh-CN" altLang="en-US" dirty="0"/>
          </a:p>
        </p:txBody>
      </p:sp>
      <p:sp>
        <p:nvSpPr>
          <p:cNvPr id="4" name="Rectangle 4"/>
          <p:cNvSpPr txBox="1">
            <a:spLocks noChangeArrowheads="1"/>
          </p:cNvSpPr>
          <p:nvPr/>
        </p:nvSpPr>
        <p:spPr>
          <a:xfrm>
            <a:off x="502285" y="1125855"/>
            <a:ext cx="11289030" cy="34836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0"/>
              </a:spcAft>
              <a:buFont typeface="Wingdings" panose="05000000000000000000" charset="0"/>
              <a:buChar char="p"/>
            </a:pPr>
            <a:r>
              <a:rPr lang="zh-CN" altLang="en-US" sz="2600" b="1" dirty="0">
                <a:solidFill>
                  <a:srgbClr val="000000"/>
                </a:solidFill>
              </a:rPr>
              <a:t>在符号表实现中使用哈希函数将标识符名转换成</a:t>
            </a:r>
            <a:r>
              <a:rPr lang="zh-CN" altLang="en-US" sz="2600" b="1" dirty="0">
                <a:solidFill>
                  <a:srgbClr val="0070C0"/>
                </a:solidFill>
              </a:rPr>
              <a:t>0...</a:t>
            </a:r>
            <a:r>
              <a:rPr lang="en-US" altLang="zh-CN" sz="2600" b="1" dirty="0">
                <a:solidFill>
                  <a:srgbClr val="0070C0"/>
                </a:solidFill>
              </a:rPr>
              <a:t>size-1</a:t>
            </a:r>
            <a:r>
              <a:rPr lang="zh-CN" altLang="en-US" sz="2600" b="1" dirty="0">
                <a:solidFill>
                  <a:srgbClr val="000000"/>
                </a:solidFill>
              </a:rPr>
              <a:t>范围内的一个整数，例如</a:t>
            </a:r>
            <a:r>
              <a:rPr lang="zh-CN" altLang="en-US" sz="2600" b="1" dirty="0">
                <a:solidFill>
                  <a:srgbClr val="000000"/>
                </a:solidFill>
                <a:latin typeface="+mn-ea"/>
                <a:sym typeface="+mn-ea"/>
              </a:rPr>
              <a:t>将</a:t>
            </a:r>
            <a:r>
              <a:rPr lang="en-US" altLang="zh-CN" sz="2600" b="1" dirty="0">
                <a:solidFill>
                  <a:srgbClr val="000000"/>
                </a:solidFill>
                <a:latin typeface="+mn-ea"/>
                <a:sym typeface="+mn-ea"/>
              </a:rPr>
              <a:t>x</a:t>
            </a:r>
            <a:r>
              <a:rPr lang="en-US" altLang="zh-CN" sz="2600" b="1" baseline="-25000" dirty="0">
                <a:solidFill>
                  <a:srgbClr val="000000"/>
                </a:solidFill>
                <a:latin typeface="+mn-ea"/>
                <a:sym typeface="+mn-ea"/>
              </a:rPr>
              <a:t>1</a:t>
            </a:r>
            <a:r>
              <a:rPr lang="en-US" altLang="zh-CN" sz="2600" b="1" dirty="0">
                <a:solidFill>
                  <a:srgbClr val="000000"/>
                </a:solidFill>
                <a:latin typeface="+mn-ea"/>
                <a:sym typeface="+mn-ea"/>
              </a:rPr>
              <a:t>x</a:t>
            </a:r>
            <a:r>
              <a:rPr lang="en-US" altLang="zh-CN" sz="2600" b="1" baseline="-25000" dirty="0">
                <a:solidFill>
                  <a:srgbClr val="000000"/>
                </a:solidFill>
                <a:latin typeface="+mn-ea"/>
                <a:sym typeface="+mn-ea"/>
              </a:rPr>
              <a:t>2</a:t>
            </a:r>
            <a:r>
              <a:rPr lang="en-US" altLang="zh-CN" sz="2600" b="1" dirty="0">
                <a:solidFill>
                  <a:srgbClr val="000000"/>
                </a:solidFill>
                <a:latin typeface="+mn-ea"/>
                <a:sym typeface="+mn-ea"/>
              </a:rPr>
              <a:t>x</a:t>
            </a:r>
            <a:r>
              <a:rPr lang="en-US" altLang="zh-CN" sz="2600" b="1" baseline="-25000" dirty="0">
                <a:solidFill>
                  <a:srgbClr val="000000"/>
                </a:solidFill>
                <a:latin typeface="+mn-ea"/>
                <a:sym typeface="+mn-ea"/>
              </a:rPr>
              <a:t>3</a:t>
            </a:r>
            <a:r>
              <a:rPr lang="en-US" altLang="zh-CN" sz="2600" b="1" dirty="0">
                <a:solidFill>
                  <a:srgbClr val="000000"/>
                </a:solidFill>
                <a:latin typeface="+mn-ea"/>
                <a:sym typeface="+mn-ea"/>
              </a:rPr>
              <a:t>x</a:t>
            </a:r>
            <a:r>
              <a:rPr lang="en-US" altLang="zh-CN" sz="2600" b="1" baseline="-25000" dirty="0">
                <a:solidFill>
                  <a:srgbClr val="000000"/>
                </a:solidFill>
                <a:latin typeface="+mn-ea"/>
                <a:sym typeface="+mn-ea"/>
              </a:rPr>
              <a:t>4</a:t>
            </a:r>
            <a:r>
              <a:rPr lang="en-US" altLang="zh-CN" sz="2600" b="1" dirty="0">
                <a:solidFill>
                  <a:srgbClr val="000000"/>
                </a:solidFill>
                <a:latin typeface="+mn-ea"/>
                <a:sym typeface="+mn-ea"/>
              </a:rPr>
              <a:t>x</a:t>
            </a:r>
            <a:r>
              <a:rPr lang="en-US" altLang="zh-CN" sz="2600" b="1" baseline="-25000" dirty="0">
                <a:solidFill>
                  <a:srgbClr val="000000"/>
                </a:solidFill>
                <a:latin typeface="+mn-ea"/>
                <a:sym typeface="+mn-ea"/>
              </a:rPr>
              <a:t>5</a:t>
            </a:r>
            <a:r>
              <a:rPr lang="en-US" altLang="zh-CN" sz="2600" b="1" dirty="0">
                <a:solidFill>
                  <a:srgbClr val="000000"/>
                </a:solidFill>
                <a:latin typeface="+mn-ea"/>
                <a:sym typeface="+mn-ea"/>
              </a:rPr>
              <a:t>……</a:t>
            </a:r>
            <a:r>
              <a:rPr lang="en-US" altLang="zh-CN" sz="2600" b="1" dirty="0" err="1">
                <a:solidFill>
                  <a:srgbClr val="000000"/>
                </a:solidFill>
                <a:latin typeface="+mn-ea"/>
                <a:sym typeface="+mn-ea"/>
              </a:rPr>
              <a:t>x</a:t>
            </a:r>
            <a:r>
              <a:rPr lang="en-US" altLang="zh-CN" sz="2600" b="1" baseline="-25000" dirty="0" err="1">
                <a:solidFill>
                  <a:srgbClr val="000000"/>
                </a:solidFill>
                <a:latin typeface="+mn-ea"/>
                <a:sym typeface="+mn-ea"/>
              </a:rPr>
              <a:t>n</a:t>
            </a:r>
            <a:r>
              <a:rPr lang="zh-CN" altLang="en-US" sz="2600" b="1" dirty="0">
                <a:solidFill>
                  <a:srgbClr val="000000"/>
                </a:solidFill>
                <a:latin typeface="+mn-ea"/>
                <a:sym typeface="+mn-ea"/>
              </a:rPr>
              <a:t>映射为存储地址</a:t>
            </a:r>
            <a:r>
              <a:rPr lang="en-US" altLang="zh-CN" sz="2600" b="1" dirty="0">
                <a:solidFill>
                  <a:srgbClr val="000000"/>
                </a:solidFill>
                <a:latin typeface="+mn-ea"/>
                <a:sym typeface="+mn-ea"/>
              </a:rPr>
              <a:t>h</a:t>
            </a:r>
            <a:r>
              <a:rPr lang="zh-CN" altLang="en-US" sz="2600" b="1" dirty="0">
                <a:solidFill>
                  <a:srgbClr val="000000"/>
                </a:solidFill>
                <a:latin typeface="+mn-ea"/>
                <a:sym typeface="+mn-ea"/>
              </a:rPr>
              <a:t>，</a:t>
            </a:r>
            <a:r>
              <a:rPr lang="zh-CN" altLang="en-US" sz="2600" b="1" dirty="0">
                <a:solidFill>
                  <a:srgbClr val="000000"/>
                </a:solidFill>
                <a:sym typeface="+mn-ea"/>
              </a:rPr>
              <a:t>一般通过3步。</a:t>
            </a:r>
            <a:endParaRPr lang="zh-CN" altLang="en-US" sz="2600" b="1" dirty="0">
              <a:solidFill>
                <a:srgbClr val="000000"/>
              </a:solidFill>
              <a:sym typeface="+mn-ea"/>
            </a:endParaRPr>
          </a:p>
          <a:p>
            <a:pPr marL="514350" indent="-514350">
              <a:lnSpc>
                <a:spcPct val="120000"/>
              </a:lnSpc>
              <a:spcBef>
                <a:spcPts val="0"/>
              </a:spcBef>
              <a:spcAft>
                <a:spcPts val="0"/>
              </a:spcAft>
              <a:buFont typeface="+mj-ea"/>
              <a:buAutoNum type="circleNumDbPlain"/>
            </a:pPr>
            <a:r>
              <a:rPr lang="zh-CN" altLang="en-US" sz="2600" b="1" dirty="0">
                <a:solidFill>
                  <a:srgbClr val="000000"/>
                </a:solidFill>
              </a:rPr>
              <a:t>将字符串中每个字符转换成一个非负整数，</a:t>
            </a:r>
            <a:r>
              <a:rPr lang="zh-CN" altLang="en-US" sz="2600" b="1" dirty="0">
                <a:solidFill>
                  <a:srgbClr val="000000"/>
                </a:solidFill>
                <a:latin typeface="+mn-ea"/>
                <a:sym typeface="+mn-ea"/>
              </a:rPr>
              <a:t>假设</a:t>
            </a:r>
            <a:r>
              <a:rPr lang="en-US" altLang="zh-CN" sz="2600" b="1" dirty="0">
                <a:solidFill>
                  <a:srgbClr val="000000"/>
                </a:solidFill>
                <a:latin typeface="+mn-ea"/>
                <a:sym typeface="+mn-ea"/>
              </a:rPr>
              <a:t>c</a:t>
            </a:r>
            <a:r>
              <a:rPr lang="en-US" altLang="zh-CN" sz="2600" b="1" baseline="-25000" dirty="0">
                <a:solidFill>
                  <a:srgbClr val="000000"/>
                </a:solidFill>
                <a:latin typeface="+mn-ea"/>
                <a:sym typeface="+mn-ea"/>
              </a:rPr>
              <a:t>i</a:t>
            </a:r>
            <a:r>
              <a:rPr lang="zh-CN" altLang="en-US" sz="2600" b="1" dirty="0">
                <a:solidFill>
                  <a:srgbClr val="000000"/>
                </a:solidFill>
                <a:latin typeface="+mn-ea"/>
                <a:sym typeface="+mn-ea"/>
              </a:rPr>
              <a:t>是第</a:t>
            </a:r>
            <a:r>
              <a:rPr lang="en-US" altLang="zh-CN" sz="2600" b="1" dirty="0" err="1">
                <a:solidFill>
                  <a:srgbClr val="000000"/>
                </a:solidFill>
                <a:latin typeface="+mn-ea"/>
                <a:sym typeface="+mn-ea"/>
              </a:rPr>
              <a:t>i</a:t>
            </a:r>
            <a:r>
              <a:rPr lang="zh-CN" altLang="en-US" sz="2600" b="1" dirty="0">
                <a:solidFill>
                  <a:srgbClr val="000000"/>
                </a:solidFill>
                <a:latin typeface="+mn-ea"/>
                <a:sym typeface="+mn-ea"/>
              </a:rPr>
              <a:t>个字符的数字值</a:t>
            </a:r>
            <a:r>
              <a:rPr lang="zh-CN" altLang="en-US" sz="2600" b="1" dirty="0">
                <a:solidFill>
                  <a:srgbClr val="000000"/>
                </a:solidFill>
              </a:rPr>
              <a:t>。</a:t>
            </a:r>
            <a:endParaRPr lang="zh-CN" altLang="en-US" sz="2600" b="1" dirty="0">
              <a:solidFill>
                <a:srgbClr val="000000"/>
              </a:solidFill>
            </a:endParaRPr>
          </a:p>
          <a:p>
            <a:pPr marL="514350" indent="-514350">
              <a:lnSpc>
                <a:spcPct val="120000"/>
              </a:lnSpc>
              <a:spcBef>
                <a:spcPts val="0"/>
              </a:spcBef>
              <a:spcAft>
                <a:spcPts val="0"/>
              </a:spcAft>
              <a:buFont typeface="+mj-ea"/>
              <a:buAutoNum type="circleNumDbPlain"/>
            </a:pPr>
            <a:r>
              <a:rPr lang="zh-CN" altLang="en-US" sz="2600" b="1" dirty="0">
                <a:solidFill>
                  <a:srgbClr val="000000"/>
                </a:solidFill>
              </a:rPr>
              <a:t>将这些整数组合形成一个整数，</a:t>
            </a:r>
            <a:r>
              <a:rPr lang="zh-CN" altLang="en-US" sz="2600" b="1" dirty="0">
                <a:solidFill>
                  <a:srgbClr val="000000"/>
                </a:solidFill>
                <a:latin typeface="+mn-ea"/>
                <a:sym typeface="+mn-ea"/>
              </a:rPr>
              <a:t>乘法因子</a:t>
            </a:r>
            <a:r>
              <a:rPr lang="en-US" altLang="zh-CN" sz="2600" b="1" dirty="0">
                <a:solidFill>
                  <a:srgbClr val="000000"/>
                </a:solidFill>
                <a:latin typeface="+mn-ea"/>
                <a:sym typeface="Symbol" panose="05050102010706020507" pitchFamily="18" charset="2"/>
              </a:rPr>
              <a:t></a:t>
            </a:r>
            <a:r>
              <a:rPr lang="zh-CN" altLang="en-US" sz="2600" b="1" dirty="0">
                <a:solidFill>
                  <a:srgbClr val="000000"/>
                </a:solidFill>
                <a:latin typeface="+mn-ea"/>
                <a:sym typeface="+mn-ea"/>
              </a:rPr>
              <a:t>的一种合理选择是2的幂，如16或128，乘法通过移位来完成。 </a:t>
            </a:r>
            <a:endParaRPr lang="zh-CN" altLang="en-US" sz="2600" b="1" dirty="0">
              <a:solidFill>
                <a:srgbClr val="000000"/>
              </a:solidFill>
              <a:latin typeface="+mn-ea"/>
              <a:sym typeface="+mn-ea"/>
            </a:endParaRPr>
          </a:p>
          <a:p>
            <a:pPr marL="514350" indent="-514350">
              <a:lnSpc>
                <a:spcPct val="120000"/>
              </a:lnSpc>
              <a:spcBef>
                <a:spcPts val="0"/>
              </a:spcBef>
              <a:spcAft>
                <a:spcPts val="0"/>
              </a:spcAft>
              <a:buFont typeface="+mj-ea"/>
              <a:buAutoNum type="circleNumDbPlain"/>
            </a:pPr>
            <a:r>
              <a:rPr lang="zh-CN" altLang="en-US" sz="2600" b="1" dirty="0">
                <a:solidFill>
                  <a:srgbClr val="000000"/>
                </a:solidFill>
                <a:sym typeface="+mn-ea"/>
              </a:rPr>
              <a:t>把整数调整到0...</a:t>
            </a:r>
            <a:r>
              <a:rPr lang="en-US" altLang="zh-CN" sz="2600" b="1" dirty="0">
                <a:solidFill>
                  <a:srgbClr val="000000"/>
                </a:solidFill>
                <a:sym typeface="+mn-ea"/>
              </a:rPr>
              <a:t>size-1</a:t>
            </a:r>
            <a:r>
              <a:rPr lang="zh-CN" altLang="en-US" sz="2600" b="1" dirty="0">
                <a:solidFill>
                  <a:srgbClr val="000000"/>
                </a:solidFill>
                <a:sym typeface="+mn-ea"/>
              </a:rPr>
              <a:t>范围内，</a:t>
            </a:r>
            <a:r>
              <a:rPr lang="en-US" altLang="zh-CN" sz="2600" b="1" dirty="0">
                <a:solidFill>
                  <a:srgbClr val="000000"/>
                </a:solidFill>
                <a:latin typeface="+mn-ea"/>
                <a:sym typeface="+mn-ea"/>
              </a:rPr>
              <a:t>h</a:t>
            </a:r>
            <a:r>
              <a:rPr lang="zh-CN" altLang="en-US" sz="2600" b="1" dirty="0">
                <a:solidFill>
                  <a:srgbClr val="000000"/>
                </a:solidFill>
                <a:latin typeface="+mn-ea"/>
                <a:sym typeface="+mn-ea"/>
              </a:rPr>
              <a:t>的计算公式如下</a:t>
            </a:r>
            <a:r>
              <a:rPr lang="zh-CN" altLang="en-US" sz="2600" b="1" dirty="0">
                <a:solidFill>
                  <a:srgbClr val="000000"/>
                </a:solidFill>
                <a:sym typeface="+mn-ea"/>
              </a:rPr>
              <a:t>。</a:t>
            </a:r>
            <a:endParaRPr lang="zh-CN" altLang="en-US" sz="2600" b="1" dirty="0">
              <a:solidFill>
                <a:srgbClr val="000000"/>
              </a:solidFill>
              <a:sym typeface="+mn-ea"/>
            </a:endParaRPr>
          </a:p>
          <a:p>
            <a:pPr marL="0" indent="0">
              <a:lnSpc>
                <a:spcPct val="120000"/>
              </a:lnSpc>
              <a:spcBef>
                <a:spcPts val="0"/>
              </a:spcBef>
              <a:spcAft>
                <a:spcPts val="0"/>
              </a:spcAft>
              <a:buFont typeface="+mj-ea"/>
              <a:buNone/>
            </a:pPr>
            <a:r>
              <a:rPr lang="en-US" altLang="zh-CN" sz="2600" b="1" dirty="0">
                <a:latin typeface="+mn-ea"/>
                <a:sym typeface="+mn-ea"/>
              </a:rPr>
              <a:t>   int hash ( char * key )</a:t>
            </a:r>
            <a:endParaRPr lang="zh-CN" altLang="en-US" sz="2600" b="1" dirty="0">
              <a:solidFill>
                <a:srgbClr val="000000"/>
              </a:solidFill>
            </a:endParaRPr>
          </a:p>
          <a:p>
            <a:pPr lvl="1">
              <a:lnSpc>
                <a:spcPct val="120000"/>
              </a:lnSpc>
              <a:spcBef>
                <a:spcPts val="0"/>
              </a:spcBef>
              <a:spcAft>
                <a:spcPts val="0"/>
              </a:spcAft>
              <a:buFont typeface="Wingdings" panose="05000000000000000000" charset="0"/>
              <a:buChar char="p"/>
            </a:pPr>
            <a:endParaRPr lang="en-US" altLang="zh-CN" sz="2600" b="1" dirty="0">
              <a:solidFill>
                <a:srgbClr val="000000"/>
              </a:solidFill>
            </a:endParaRPr>
          </a:p>
        </p:txBody>
      </p:sp>
      <p:pic>
        <p:nvPicPr>
          <p:cNvPr id="5" name="Picture 3"/>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018539" y="4609465"/>
            <a:ext cx="86868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Horizont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35610" y="276860"/>
            <a:ext cx="6080760" cy="593090"/>
          </a:xfrm>
        </p:spPr>
        <p:txBody>
          <a:bodyPr/>
          <a:lstStyle/>
          <a:p>
            <a:r>
              <a:rPr lang="en-US" altLang="zh-CN" dirty="0"/>
              <a:t>3. </a:t>
            </a:r>
            <a:r>
              <a:rPr lang="zh-CN" altLang="en-US" dirty="0"/>
              <a:t>符号表的数据结构</a:t>
            </a:r>
            <a:endParaRPr lang="zh-CN" altLang="en-US" dirty="0"/>
          </a:p>
        </p:txBody>
      </p:sp>
      <p:sp>
        <p:nvSpPr>
          <p:cNvPr id="7" name="Rectangle 3"/>
          <p:cNvSpPr>
            <a:spLocks noChangeArrowheads="1"/>
          </p:cNvSpPr>
          <p:nvPr/>
        </p:nvSpPr>
        <p:spPr bwMode="auto">
          <a:xfrm>
            <a:off x="584835" y="1346199"/>
            <a:ext cx="476038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070C0"/>
                </a:solidFill>
                <a:latin typeface="宋体" panose="02010600030101010101" pitchFamily="2" charset="-122"/>
              </a:rPr>
              <a:t>符号表哈希函数的实现：</a:t>
            </a:r>
            <a:endParaRPr lang="zh-CN" altLang="en-US" sz="2800" b="1" dirty="0">
              <a:solidFill>
                <a:srgbClr val="0070C0"/>
              </a:solidFill>
              <a:latin typeface="宋体" panose="02010600030101010101" pitchFamily="2" charset="-122"/>
            </a:endParaRPr>
          </a:p>
        </p:txBody>
      </p:sp>
      <p:sp>
        <p:nvSpPr>
          <p:cNvPr id="8" name="Rectangle 7"/>
          <p:cNvSpPr>
            <a:spLocks noChangeArrowheads="1"/>
          </p:cNvSpPr>
          <p:nvPr/>
        </p:nvSpPr>
        <p:spPr bwMode="auto">
          <a:xfrm>
            <a:off x="435610" y="1970405"/>
            <a:ext cx="5811520" cy="2916555"/>
          </a:xfrm>
          <a:prstGeom prst="rect">
            <a:avLst/>
          </a:prstGeom>
          <a:solidFill>
            <a:schemeClr val="bg2"/>
          </a:solidFill>
          <a:ln w="9525">
            <a:noFill/>
            <a:miter lim="800000"/>
          </a:ln>
        </p:spPr>
        <p:txBody>
          <a:bodyPr wrap="none" anchor="ctr"/>
          <a:lstStyle/>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static int hash ( char *key )</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int temp = 0;</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int </a:t>
            </a:r>
            <a:r>
              <a:rPr lang="en-US" altLang="zh-CN" sz="2000" b="1" dirty="0" err="1">
                <a:latin typeface="Times New Roman" panose="02020603050405020304" pitchFamily="18" charset="0"/>
                <a:cs typeface="Times New Roman" panose="02020603050405020304" pitchFamily="18" charset="0"/>
              </a:rPr>
              <a:t>i</a:t>
            </a:r>
            <a:r>
              <a:rPr lang="en-US" altLang="zh-CN" sz="2000" b="1" dirty="0">
                <a:latin typeface="Times New Roman" panose="02020603050405020304" pitchFamily="18" charset="0"/>
                <a:cs typeface="Times New Roman" panose="02020603050405020304" pitchFamily="18" charset="0"/>
              </a:rPr>
              <a:t> = 0;</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while (key[</a:t>
            </a:r>
            <a:r>
              <a:rPr lang="en-US" altLang="zh-CN" sz="2000" b="1" dirty="0" err="1">
                <a:latin typeface="Times New Roman" panose="02020603050405020304" pitchFamily="18" charset="0"/>
                <a:cs typeface="Times New Roman" panose="02020603050405020304" pitchFamily="18" charset="0"/>
              </a:rPr>
              <a:t>i</a:t>
            </a:r>
            <a:r>
              <a:rPr lang="en-US" altLang="zh-CN" sz="2000" b="1" dirty="0">
                <a:latin typeface="Times New Roman" panose="02020603050405020304" pitchFamily="18" charset="0"/>
                <a:cs typeface="Times New Roman" panose="02020603050405020304" pitchFamily="18" charset="0"/>
              </a:rPr>
              <a:t>] != '\0')</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   temp = ((temp &lt;&lt; SHIFT) + key[</a:t>
            </a:r>
            <a:r>
              <a:rPr lang="en-US" altLang="zh-CN" sz="2000" b="1" dirty="0" err="1">
                <a:latin typeface="Times New Roman" panose="02020603050405020304" pitchFamily="18" charset="0"/>
                <a:cs typeface="Times New Roman" panose="02020603050405020304" pitchFamily="18" charset="0"/>
              </a:rPr>
              <a:t>i</a:t>
            </a:r>
            <a:r>
              <a:rPr lang="en-US" altLang="zh-CN" sz="2000" b="1" dirty="0">
                <a:latin typeface="Times New Roman" panose="02020603050405020304" pitchFamily="18" charset="0"/>
                <a:cs typeface="Times New Roman" panose="02020603050405020304" pitchFamily="18" charset="0"/>
              </a:rPr>
              <a:t>]) % SIZE;</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i</a:t>
            </a:r>
            <a:r>
              <a:rPr lang="en-US"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   return temp;</a:t>
            </a:r>
            <a:endParaRPr lang="en-US" altLang="zh-CN" sz="2000" b="1" dirty="0">
              <a:latin typeface="Times New Roman" panose="02020603050405020304" pitchFamily="18" charset="0"/>
              <a:cs typeface="Times New Roman" panose="02020603050405020304" pitchFamily="18" charset="0"/>
            </a:endParaRPr>
          </a:p>
          <a:p>
            <a:pPr>
              <a:lnSpc>
                <a:spcPct val="75000"/>
              </a:lnSpc>
              <a:spcBef>
                <a:spcPct val="20000"/>
              </a:spcBef>
              <a:buClr>
                <a:schemeClr val="accent2"/>
              </a:buClr>
              <a:buFont typeface="Wingdings" panose="05000000000000000000" pitchFamily="2" charset="2"/>
              <a:buNone/>
            </a:pPr>
            <a:r>
              <a:rPr lang="en-US" altLang="zh-CN" sz="2000" b="1" dirty="0">
                <a:latin typeface="Times New Roman" panose="02020603050405020304" pitchFamily="18" charset="0"/>
                <a:cs typeface="Times New Roman" panose="02020603050405020304" pitchFamily="18" charset="0"/>
              </a:rPr>
              <a:t>}</a:t>
            </a:r>
            <a:endParaRPr lang="zh-CN" altLang="en-US" sz="2000" b="1" dirty="0">
              <a:latin typeface="Times New Roman" panose="02020603050405020304" pitchFamily="18" charset="0"/>
              <a:cs typeface="Times New Roman" panose="02020603050405020304" pitchFamily="18" charset="0"/>
            </a:endParaRPr>
          </a:p>
        </p:txBody>
      </p:sp>
      <p:sp>
        <p:nvSpPr>
          <p:cNvPr id="5" name="Rectangle 3"/>
          <p:cNvSpPr>
            <a:spLocks noChangeArrowheads="1"/>
          </p:cNvSpPr>
          <p:nvPr>
            <p:custDataLst>
              <p:tags r:id="rId1"/>
            </p:custDataLst>
          </p:nvPr>
        </p:nvSpPr>
        <p:spPr bwMode="auto">
          <a:xfrm>
            <a:off x="6078855" y="1261745"/>
            <a:ext cx="566674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070C0"/>
                </a:solidFill>
                <a:latin typeface="+mn-ea"/>
              </a:rPr>
              <a:t>编译器结构最好的方案对应于分离链表</a:t>
            </a:r>
            <a:r>
              <a:rPr lang="zh-CN" altLang="en-US" sz="2400" b="1" dirty="0">
                <a:solidFill>
                  <a:srgbClr val="000000"/>
                </a:solidFill>
                <a:latin typeface="+mn-ea"/>
              </a:rPr>
              <a:t>(</a:t>
            </a:r>
            <a:r>
              <a:rPr lang="en-US" altLang="zh-CN" sz="2400" b="1" dirty="0">
                <a:solidFill>
                  <a:srgbClr val="000000"/>
                </a:solidFill>
                <a:latin typeface="+mn-ea"/>
              </a:rPr>
              <a:t>separate chaining)</a:t>
            </a:r>
            <a:r>
              <a:rPr lang="zh-CN" altLang="en-US" sz="2400" b="1" dirty="0">
                <a:solidFill>
                  <a:srgbClr val="000000"/>
                </a:solidFill>
                <a:latin typeface="+mn-ea"/>
              </a:rPr>
              <a:t>，解决冲突</a:t>
            </a:r>
            <a:r>
              <a:rPr lang="en-US" altLang="zh-CN" sz="2400" b="1" dirty="0">
                <a:solidFill>
                  <a:srgbClr val="000000"/>
                </a:solidFill>
                <a:latin typeface="+mn-ea"/>
              </a:rPr>
              <a:t>。</a:t>
            </a:r>
            <a:endParaRPr lang="zh-CN" altLang="en-US" sz="2400" b="1" dirty="0">
              <a:solidFill>
                <a:srgbClr val="000000"/>
              </a:solidFill>
              <a:latin typeface="+mn-ea"/>
            </a:endParaRPr>
          </a:p>
        </p:txBody>
      </p:sp>
      <p:pic>
        <p:nvPicPr>
          <p:cNvPr id="6" name="Picture 4"/>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6153150" y="2091690"/>
            <a:ext cx="5641975" cy="2237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p:cNvSpPr txBox="1">
            <a:spLocks noChangeArrowheads="1"/>
          </p:cNvSpPr>
          <p:nvPr>
            <p:custDataLst>
              <p:tags r:id="rId4"/>
            </p:custDataLst>
          </p:nvPr>
        </p:nvSpPr>
        <p:spPr bwMode="auto">
          <a:xfrm>
            <a:off x="7207885" y="4320678"/>
            <a:ext cx="3800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a:solidFill>
                  <a:srgbClr val="0070C0"/>
                </a:solidFill>
                <a:latin typeface="+mn-ea"/>
              </a:rPr>
              <a:t>1</a:t>
            </a:r>
            <a:r>
              <a:rPr lang="zh-CN" altLang="en-US" b="1">
                <a:solidFill>
                  <a:srgbClr val="0070C0"/>
                </a:solidFill>
                <a:latin typeface="+mn-ea"/>
              </a:rPr>
              <a:t>、初始化一个链表数组（即哈希表）</a:t>
            </a:r>
            <a:endParaRPr lang="zh-CN" altLang="en-US" b="1">
              <a:solidFill>
                <a:srgbClr val="0070C0"/>
              </a:solidFill>
              <a:latin typeface="+mn-ea"/>
            </a:endParaRPr>
          </a:p>
        </p:txBody>
      </p:sp>
      <p:sp>
        <p:nvSpPr>
          <p:cNvPr id="15" name="文本框 14"/>
          <p:cNvSpPr txBox="1">
            <a:spLocks noChangeArrowheads="1"/>
          </p:cNvSpPr>
          <p:nvPr>
            <p:custDataLst>
              <p:tags r:id="rId5"/>
            </p:custDataLst>
          </p:nvPr>
        </p:nvSpPr>
        <p:spPr bwMode="auto">
          <a:xfrm>
            <a:off x="7207885" y="4688978"/>
            <a:ext cx="3657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dirty="0">
                <a:solidFill>
                  <a:srgbClr val="0070C0"/>
                </a:solidFill>
                <a:latin typeface="+mn-ea"/>
              </a:rPr>
              <a:t>2</a:t>
            </a:r>
            <a:r>
              <a:rPr lang="zh-CN" altLang="en-US" b="1" dirty="0">
                <a:solidFill>
                  <a:srgbClr val="0070C0"/>
                </a:solidFill>
                <a:latin typeface="+mn-ea"/>
              </a:rPr>
              <a:t>、将键转化为数组索引</a:t>
            </a:r>
            <a:endParaRPr lang="zh-CN" altLang="en-US" b="1" dirty="0">
              <a:solidFill>
                <a:srgbClr val="0070C0"/>
              </a:solidFill>
              <a:latin typeface="+mn-ea"/>
            </a:endParaRPr>
          </a:p>
        </p:txBody>
      </p:sp>
      <p:sp>
        <p:nvSpPr>
          <p:cNvPr id="16" name="文本框 15"/>
          <p:cNvSpPr txBox="1">
            <a:spLocks noChangeArrowheads="1"/>
          </p:cNvSpPr>
          <p:nvPr>
            <p:custDataLst>
              <p:tags r:id="rId6"/>
            </p:custDataLst>
          </p:nvPr>
        </p:nvSpPr>
        <p:spPr bwMode="auto">
          <a:xfrm>
            <a:off x="7207885" y="5057278"/>
            <a:ext cx="3762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b="1" dirty="0">
                <a:solidFill>
                  <a:srgbClr val="0070C0"/>
                </a:solidFill>
                <a:latin typeface="+mn-ea"/>
              </a:rPr>
              <a:t>3</a:t>
            </a:r>
            <a:r>
              <a:rPr lang="zh-CN" altLang="en-US" b="1" dirty="0">
                <a:solidFill>
                  <a:srgbClr val="0070C0"/>
                </a:solidFill>
                <a:latin typeface="+mn-ea"/>
              </a:rPr>
              <a:t>、处理冲突</a:t>
            </a:r>
            <a:endParaRPr lang="zh-CN" altLang="en-US" b="1" dirty="0">
              <a:solidFill>
                <a:srgbClr val="0070C0"/>
              </a:solidFill>
              <a:latin typeface="+mn-ea"/>
            </a:endParaRPr>
          </a:p>
        </p:txBody>
      </p:sp>
      <p:sp>
        <p:nvSpPr>
          <p:cNvPr id="13" name="文本框 1"/>
          <p:cNvSpPr txBox="1">
            <a:spLocks noChangeArrowheads="1"/>
          </p:cNvSpPr>
          <p:nvPr>
            <p:custDataLst>
              <p:tags r:id="rId7"/>
            </p:custDataLst>
          </p:nvPr>
        </p:nvSpPr>
        <p:spPr bwMode="auto">
          <a:xfrm>
            <a:off x="372745" y="5417185"/>
            <a:ext cx="11516360" cy="103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a:lnSpc>
                <a:spcPct val="120000"/>
              </a:lnSpc>
            </a:pPr>
            <a:r>
              <a:rPr lang="zh-CN" altLang="en-US" sz="2400" b="1" dirty="0">
                <a:latin typeface="+mn-ea"/>
              </a:rPr>
              <a:t>哈希函数大多数情况下使用的是标准的求模函数，因此桶数定义为质数有利于元素在各个桶之间的均匀分布，能有效提高哈希表的效率。</a:t>
            </a:r>
            <a:endParaRPr lang="zh-CN" altLang="en-US"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4" grpId="1"/>
      <p:bldP spid="15" grpId="0"/>
      <p:bldP spid="15" grpId="1"/>
      <p:bldP spid="16" grpId="0"/>
      <p:bldP spid="16" grpId="1"/>
      <p:bldP spid="13" grpId="0"/>
      <p:bldP spid="1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txBox="1">
            <a:spLocks noChangeArrowheads="1"/>
          </p:cNvSpPr>
          <p:nvPr/>
        </p:nvSpPr>
        <p:spPr>
          <a:xfrm>
            <a:off x="550545" y="1783080"/>
            <a:ext cx="5954395" cy="4553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6870" lvl="0" indent="-342900">
              <a:lnSpc>
                <a:spcPct val="125000"/>
              </a:lnSpc>
              <a:spcBef>
                <a:spcPct val="0"/>
              </a:spcBef>
              <a:spcAft>
                <a:spcPct val="0"/>
              </a:spcAft>
              <a:buFont typeface="Wingdings" panose="05000000000000000000" charset="0"/>
              <a:buChar char="p"/>
            </a:pPr>
            <a:r>
              <a:rPr lang="zh-CN" altLang="en-US" sz="2400" b="1" dirty="0">
                <a:solidFill>
                  <a:srgbClr val="000000"/>
                </a:solidFill>
                <a:latin typeface="+mn-ea"/>
              </a:rPr>
              <a:t>使用前声明</a:t>
            </a:r>
            <a:r>
              <a:rPr lang="en-US" altLang="zh-CN" sz="2400" b="1" dirty="0">
                <a:solidFill>
                  <a:srgbClr val="000000"/>
                </a:solidFill>
                <a:latin typeface="+mn-ea"/>
              </a:rPr>
              <a:t>：</a:t>
            </a:r>
            <a:r>
              <a:rPr lang="zh-CN" altLang="en-US" sz="2400" b="1" dirty="0">
                <a:solidFill>
                  <a:srgbClr val="000000"/>
                </a:solidFill>
                <a:latin typeface="+mn-ea"/>
              </a:rPr>
              <a:t>它允许</a:t>
            </a:r>
            <a:r>
              <a:rPr lang="zh-CN" altLang="en-US" sz="2400" b="1" dirty="0">
                <a:solidFill>
                  <a:srgbClr val="0070C0"/>
                </a:solidFill>
                <a:latin typeface="+mn-ea"/>
              </a:rPr>
              <a:t>符号表</a:t>
            </a:r>
            <a:r>
              <a:rPr lang="zh-CN" altLang="en-US" sz="2400" b="1" dirty="0">
                <a:solidFill>
                  <a:srgbClr val="000000"/>
                </a:solidFill>
                <a:latin typeface="+mn-ea"/>
              </a:rPr>
              <a:t>在语法分析期间建立，当在代码中遇到对名字的</a:t>
            </a:r>
            <a:r>
              <a:rPr lang="zh-CN" altLang="en-US" sz="2400" b="1" dirty="0">
                <a:solidFill>
                  <a:srgbClr val="0070C0"/>
                </a:solidFill>
                <a:latin typeface="+mn-ea"/>
              </a:rPr>
              <a:t>引用</a:t>
            </a:r>
            <a:r>
              <a:rPr lang="zh-CN" altLang="en-US" sz="2400" b="1" dirty="0">
                <a:solidFill>
                  <a:srgbClr val="000000"/>
                </a:solidFill>
                <a:latin typeface="+mn-ea"/>
              </a:rPr>
              <a:t>时进行查找；如果查找失败，就出现声明错误，编译器给出相应的出错消息。</a:t>
            </a:r>
            <a:endParaRPr lang="zh-CN" altLang="en-US" sz="2400" b="1" dirty="0">
              <a:solidFill>
                <a:srgbClr val="000000"/>
              </a:solidFill>
              <a:latin typeface="+mn-ea"/>
            </a:endParaRPr>
          </a:p>
          <a:p>
            <a:pPr marL="356870" lvl="0" indent="-342900">
              <a:lnSpc>
                <a:spcPct val="125000"/>
              </a:lnSpc>
              <a:spcBef>
                <a:spcPct val="0"/>
              </a:spcBef>
              <a:spcAft>
                <a:spcPct val="0"/>
              </a:spcAft>
              <a:buFont typeface="Wingdings" panose="05000000000000000000" charset="0"/>
              <a:buChar char="p"/>
            </a:pPr>
            <a:r>
              <a:rPr lang="zh-CN" altLang="en-US" sz="2400" b="1" dirty="0">
                <a:solidFill>
                  <a:srgbClr val="000000"/>
                </a:solidFill>
                <a:latin typeface="+mn-ea"/>
                <a:sym typeface="+mn-ea"/>
              </a:rPr>
              <a:t>块结构</a:t>
            </a:r>
            <a:r>
              <a:rPr lang="en-US" altLang="zh-CN" sz="2400" b="1" dirty="0">
                <a:solidFill>
                  <a:srgbClr val="000000"/>
                </a:solidFill>
                <a:latin typeface="+mn-ea"/>
                <a:sym typeface="+mn-ea"/>
              </a:rPr>
              <a:t>：</a:t>
            </a:r>
            <a:r>
              <a:rPr lang="zh-CN" altLang="en-US" sz="2400" b="1" dirty="0">
                <a:solidFill>
                  <a:srgbClr val="000000"/>
                </a:solidFill>
                <a:latin typeface="+mn-ea"/>
                <a:sym typeface="+mn-ea"/>
              </a:rPr>
              <a:t>如果一个块中声明的</a:t>
            </a:r>
            <a:r>
              <a:rPr lang="zh-CN" altLang="en-US" sz="2400" b="1" dirty="0">
                <a:solidFill>
                  <a:srgbClr val="0070C0"/>
                </a:solidFill>
                <a:latin typeface="+mn-ea"/>
                <a:sym typeface="+mn-ea"/>
              </a:rPr>
              <a:t>作用域</a:t>
            </a:r>
            <a:r>
              <a:rPr lang="zh-CN" altLang="en-US" sz="2400" b="1" dirty="0">
                <a:solidFill>
                  <a:srgbClr val="000000"/>
                </a:solidFill>
                <a:latin typeface="+mn-ea"/>
                <a:sym typeface="+mn-ea"/>
              </a:rPr>
              <a:t>限制在本块以及本块包含的其它块，一般服从</a:t>
            </a:r>
            <a:r>
              <a:rPr lang="zh-CN" altLang="en-US" sz="2400" b="1" dirty="0">
                <a:solidFill>
                  <a:srgbClr val="0070C0"/>
                </a:solidFill>
                <a:latin typeface="+mn-ea"/>
                <a:sym typeface="+mn-ea"/>
              </a:rPr>
              <a:t>最近嵌套规则</a:t>
            </a:r>
            <a:r>
              <a:rPr lang="zh-CN" altLang="en-US" sz="2400" b="1" dirty="0">
                <a:solidFill>
                  <a:srgbClr val="000000"/>
                </a:solidFill>
                <a:latin typeface="+mn-ea"/>
                <a:sym typeface="+mn-ea"/>
              </a:rPr>
              <a:t>(</a:t>
            </a:r>
            <a:r>
              <a:rPr lang="en-US" altLang="zh-CN" sz="2400" b="1" dirty="0">
                <a:solidFill>
                  <a:srgbClr val="000000"/>
                </a:solidFill>
                <a:latin typeface="+mn-ea"/>
                <a:sym typeface="+mn-ea"/>
              </a:rPr>
              <a:t>most closely nested rule)，</a:t>
            </a:r>
            <a:r>
              <a:rPr lang="zh-CN" altLang="en-US" sz="2400" b="1" dirty="0">
                <a:solidFill>
                  <a:srgbClr val="000000"/>
                </a:solidFill>
                <a:latin typeface="+mn-ea"/>
                <a:sym typeface="+mn-ea"/>
              </a:rPr>
              <a:t>即为同一个名字给定几个不同的说明，被引用的说明是最接近引用的那个嵌套块。</a:t>
            </a:r>
            <a:endParaRPr lang="zh-CN" altLang="en-US" sz="2400" b="1" dirty="0">
              <a:solidFill>
                <a:srgbClr val="000000"/>
              </a:solidFill>
              <a:latin typeface="+mn-ea"/>
            </a:endParaRPr>
          </a:p>
          <a:p>
            <a:pPr marL="814070" lvl="1" indent="-342900">
              <a:lnSpc>
                <a:spcPct val="125000"/>
              </a:lnSpc>
              <a:spcBef>
                <a:spcPct val="0"/>
              </a:spcBef>
              <a:spcAft>
                <a:spcPct val="0"/>
              </a:spcAft>
              <a:buFont typeface="Wingdings" panose="05000000000000000000" charset="0"/>
              <a:buChar char="p"/>
            </a:pPr>
            <a:endParaRPr lang="zh-CN" altLang="en-US" sz="2400" b="1" dirty="0">
              <a:solidFill>
                <a:srgbClr val="000000"/>
              </a:solidFill>
              <a:latin typeface="+mn-ea"/>
            </a:endParaRPr>
          </a:p>
        </p:txBody>
      </p:sp>
      <p:sp>
        <p:nvSpPr>
          <p:cNvPr id="2" name="文本框 1"/>
          <p:cNvSpPr txBox="1"/>
          <p:nvPr/>
        </p:nvSpPr>
        <p:spPr>
          <a:xfrm>
            <a:off x="350520" y="1213485"/>
            <a:ext cx="6155055" cy="521970"/>
          </a:xfrm>
          <a:prstGeom prst="rect">
            <a:avLst/>
          </a:prstGeom>
          <a:noFill/>
        </p:spPr>
        <p:txBody>
          <a:bodyPr wrap="square" rtlCol="0">
            <a:spAutoFit/>
          </a:bodyPr>
          <a:lstStyle/>
          <a:p>
            <a:r>
              <a:rPr lang="zh-CN" altLang="en-US" sz="2800" b="1" dirty="0">
                <a:solidFill>
                  <a:srgbClr val="0070C0"/>
                </a:solidFill>
              </a:rPr>
              <a:t>变量声明对符号表行为的影响</a:t>
            </a:r>
            <a:endParaRPr lang="zh-CN" altLang="en-US" sz="2800" b="1" dirty="0">
              <a:solidFill>
                <a:srgbClr val="0070C0"/>
              </a:solidFill>
            </a:endParaRPr>
          </a:p>
        </p:txBody>
      </p:sp>
      <p:sp>
        <p:nvSpPr>
          <p:cNvPr id="18" name="文本占位符 11"/>
          <p:cNvSpPr>
            <a:spLocks noGrp="1"/>
          </p:cNvSpPr>
          <p:nvPr>
            <p:ph type="body" sz="quarter" idx="14"/>
          </p:nvPr>
        </p:nvSpPr>
        <p:spPr>
          <a:xfrm>
            <a:off x="550545" y="276860"/>
            <a:ext cx="6337935" cy="593090"/>
          </a:xfrm>
        </p:spPr>
        <p:txBody>
          <a:bodyPr/>
          <a:lstStyle/>
          <a:p>
            <a:r>
              <a:rPr lang="en-US" altLang="zh-CN" dirty="0"/>
              <a:t>5.2.2 </a:t>
            </a:r>
            <a:r>
              <a:rPr lang="zh-CN" altLang="en-US" dirty="0"/>
              <a:t>符号表的数据结构</a:t>
            </a:r>
            <a:endParaRPr lang="zh-CN" altLang="en-US" dirty="0"/>
          </a:p>
        </p:txBody>
      </p:sp>
      <p:sp>
        <p:nvSpPr>
          <p:cNvPr id="32" name="矩形 31"/>
          <p:cNvSpPr/>
          <p:nvPr/>
        </p:nvSpPr>
        <p:spPr>
          <a:xfrm>
            <a:off x="7674610" y="1987323"/>
            <a:ext cx="3505200" cy="4294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latin typeface="Times New Roman" panose="02020603050405020304" pitchFamily="18" charset="0"/>
              <a:cs typeface="Times New Roman" panose="02020603050405020304" pitchFamily="18" charset="0"/>
            </a:endParaRPr>
          </a:p>
        </p:txBody>
      </p:sp>
      <p:grpSp>
        <p:nvGrpSpPr>
          <p:cNvPr id="31" name="组合 30"/>
          <p:cNvGrpSpPr/>
          <p:nvPr/>
        </p:nvGrpSpPr>
        <p:grpSpPr>
          <a:xfrm>
            <a:off x="7598410" y="1987323"/>
            <a:ext cx="3200400" cy="4191000"/>
            <a:chOff x="800101" y="1733746"/>
            <a:chExt cx="3200400" cy="4191000"/>
          </a:xfrm>
        </p:grpSpPr>
        <p:sp>
          <p:nvSpPr>
            <p:cNvPr id="5" name="Rectangle 2"/>
            <p:cNvSpPr>
              <a:spLocks noChangeArrowheads="1"/>
            </p:cNvSpPr>
            <p:nvPr>
              <p:custDataLst>
                <p:tags r:id="rId1"/>
              </p:custDataLst>
            </p:nvPr>
          </p:nvSpPr>
          <p:spPr bwMode="auto">
            <a:xfrm>
              <a:off x="876301" y="1733746"/>
              <a:ext cx="1511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00000"/>
                  </a:solidFill>
                  <a:latin typeface="Times New Roman" panose="02020603050405020304" pitchFamily="18" charset="0"/>
                  <a:cs typeface="Times New Roman" panose="02020603050405020304" pitchFamily="18" charset="0"/>
                </a:rPr>
                <a:t>int i,j;</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custDataLst>
                <p:tags r:id="rId2"/>
              </p:custDataLst>
            </p:nvPr>
          </p:nvSpPr>
          <p:spPr bwMode="auto">
            <a:xfrm>
              <a:off x="876301" y="2165546"/>
              <a:ext cx="2971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dirty="0">
                  <a:solidFill>
                    <a:srgbClr val="000000"/>
                  </a:solidFill>
                  <a:latin typeface="Times New Roman" panose="02020603050405020304" pitchFamily="18" charset="0"/>
                  <a:cs typeface="Times New Roman" panose="02020603050405020304" pitchFamily="18" charset="0"/>
                </a:rPr>
                <a:t>int f (int size)</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7" name="Rectangle 4"/>
            <p:cNvSpPr>
              <a:spLocks noChangeArrowheads="1"/>
            </p:cNvSpPr>
            <p:nvPr>
              <p:custDataLst>
                <p:tags r:id="rId3"/>
              </p:custDataLst>
            </p:nvPr>
          </p:nvSpPr>
          <p:spPr bwMode="auto">
            <a:xfrm>
              <a:off x="800101" y="2622746"/>
              <a:ext cx="3200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00000"/>
                  </a:solidFill>
                  <a:latin typeface="Times New Roman" panose="02020603050405020304" pitchFamily="18" charset="0"/>
                  <a:cs typeface="Times New Roman" panose="02020603050405020304" pitchFamily="18" charset="0"/>
                </a:rPr>
                <a:t>{ char i, temp;</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custDataLst>
                <p:tags r:id="rId4"/>
              </p:custDataLst>
            </p:nvPr>
          </p:nvSpPr>
          <p:spPr bwMode="auto">
            <a:xfrm>
              <a:off x="1104901" y="3051371"/>
              <a:ext cx="1295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00000"/>
                  </a:solidFill>
                  <a:latin typeface="Times New Roman" panose="02020603050405020304" pitchFamily="18" charset="0"/>
                  <a:cs typeface="Times New Roman" panose="02020603050405020304" pitchFamily="18" charset="0"/>
                </a:rPr>
                <a:t>. . .</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3" name="Rectangle 6"/>
            <p:cNvSpPr>
              <a:spLocks noChangeArrowheads="1"/>
            </p:cNvSpPr>
            <p:nvPr>
              <p:custDataLst>
                <p:tags r:id="rId5"/>
              </p:custDataLst>
            </p:nvPr>
          </p:nvSpPr>
          <p:spPr bwMode="auto">
            <a:xfrm>
              <a:off x="1054101" y="3397446"/>
              <a:ext cx="2398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00000"/>
                  </a:solidFill>
                  <a:latin typeface="Times New Roman" panose="02020603050405020304" pitchFamily="18" charset="0"/>
                  <a:cs typeface="Times New Roman" panose="02020603050405020304" pitchFamily="18" charset="0"/>
                </a:rPr>
                <a:t>{ double j;</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0" name="Rectangle 7"/>
            <p:cNvSpPr>
              <a:spLocks noChangeArrowheads="1"/>
            </p:cNvSpPr>
            <p:nvPr>
              <p:custDataLst>
                <p:tags r:id="rId6"/>
              </p:custDataLst>
            </p:nvPr>
          </p:nvSpPr>
          <p:spPr bwMode="auto">
            <a:xfrm>
              <a:off x="1435101" y="3702246"/>
              <a:ext cx="8524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00000"/>
                  </a:solidFill>
                  <a:latin typeface="Times New Roman" panose="02020603050405020304" pitchFamily="18" charset="0"/>
                  <a:cs typeface="Times New Roman" panose="02020603050405020304" pitchFamily="18" charset="0"/>
                </a:rPr>
                <a:t>. . .</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1" name="Rectangle 8"/>
            <p:cNvSpPr>
              <a:spLocks noChangeArrowheads="1"/>
            </p:cNvSpPr>
            <p:nvPr>
              <p:custDataLst>
                <p:tags r:id="rId7"/>
              </p:custDataLst>
            </p:nvPr>
          </p:nvSpPr>
          <p:spPr bwMode="auto">
            <a:xfrm>
              <a:off x="1104901" y="4118171"/>
              <a:ext cx="1092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pPr>
              <a:r>
                <a:rPr lang="en-US" altLang="zh-CN" sz="2400" b="1">
                  <a:solidFill>
                    <a:srgbClr val="000000"/>
                  </a:solidFill>
                  <a:latin typeface="Times New Roman" panose="02020603050405020304" pitchFamily="18" charset="0"/>
                  <a:cs typeface="Times New Roman" panose="02020603050405020304" pitchFamily="18" charset="0"/>
                </a:rPr>
                <a:t>}</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3" name="Rectangle 9"/>
            <p:cNvSpPr>
              <a:spLocks noChangeArrowheads="1"/>
            </p:cNvSpPr>
            <p:nvPr>
              <p:custDataLst>
                <p:tags r:id="rId8"/>
              </p:custDataLst>
            </p:nvPr>
          </p:nvSpPr>
          <p:spPr bwMode="auto">
            <a:xfrm>
              <a:off x="1028701" y="4769046"/>
              <a:ext cx="2301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a:solidFill>
                    <a:srgbClr val="000000"/>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a:solidFill>
                    <a:srgbClr val="000000"/>
                  </a:solidFill>
                  <a:latin typeface="Times New Roman" panose="02020603050405020304" pitchFamily="18" charset="0"/>
                  <a:ea typeface="仿宋_GB2312" panose="02010609030101010101" pitchFamily="49" charset="-122"/>
                  <a:cs typeface="Times New Roman" panose="02020603050405020304" pitchFamily="18" charset="0"/>
                </a:rPr>
                <a:t>char * j;</a:t>
              </a:r>
              <a:endParaRPr lang="zh-CN" altLang="en-US" sz="2400" b="1">
                <a:solidFill>
                  <a:srgbClr val="000000"/>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14" name="Rectangle 10"/>
            <p:cNvSpPr>
              <a:spLocks noChangeArrowheads="1"/>
            </p:cNvSpPr>
            <p:nvPr>
              <p:custDataLst>
                <p:tags r:id="rId9"/>
              </p:custDataLst>
            </p:nvPr>
          </p:nvSpPr>
          <p:spPr bwMode="auto">
            <a:xfrm>
              <a:off x="1333501" y="5197671"/>
              <a:ext cx="1600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00000"/>
                  </a:solidFill>
                  <a:latin typeface="Times New Roman" panose="02020603050405020304" pitchFamily="18" charset="0"/>
                  <a:cs typeface="Times New Roman" panose="02020603050405020304" pitchFamily="18" charset="0"/>
                </a:rPr>
                <a:t>. . .</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5" name="Rectangle 11"/>
            <p:cNvSpPr>
              <a:spLocks noChangeArrowheads="1"/>
            </p:cNvSpPr>
            <p:nvPr>
              <p:custDataLst>
                <p:tags r:id="rId10"/>
              </p:custDataLst>
            </p:nvPr>
          </p:nvSpPr>
          <p:spPr bwMode="auto">
            <a:xfrm>
              <a:off x="1257301" y="4422971"/>
              <a:ext cx="1600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00000"/>
                  </a:solidFill>
                  <a:latin typeface="Times New Roman" panose="02020603050405020304" pitchFamily="18" charset="0"/>
                  <a:cs typeface="Times New Roman" panose="02020603050405020304" pitchFamily="18" charset="0"/>
                </a:rPr>
                <a:t>. . .</a:t>
              </a:r>
              <a:endParaRPr lang="en-US" altLang="zh-CN" sz="2400" b="1">
                <a:solidFill>
                  <a:srgbClr val="000000"/>
                </a:solidFill>
                <a:latin typeface="Times New Roman" panose="02020603050405020304" pitchFamily="18" charset="0"/>
                <a:cs typeface="Times New Roman" panose="02020603050405020304" pitchFamily="18" charset="0"/>
              </a:endParaRPr>
            </a:p>
          </p:txBody>
        </p:sp>
        <p:sp>
          <p:nvSpPr>
            <p:cNvPr id="16" name="Rectangle 12"/>
            <p:cNvSpPr>
              <a:spLocks noChangeArrowheads="1"/>
            </p:cNvSpPr>
            <p:nvPr>
              <p:custDataLst>
                <p:tags r:id="rId11"/>
              </p:custDataLst>
            </p:nvPr>
          </p:nvSpPr>
          <p:spPr bwMode="auto">
            <a:xfrm>
              <a:off x="1028701" y="5464371"/>
              <a:ext cx="1219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00000"/>
                  </a:solidFill>
                  <a:latin typeface="Times New Roman" panose="02020603050405020304" pitchFamily="18" charset="0"/>
                  <a:cs typeface="Times New Roman" panose="02020603050405020304" pitchFamily="18" charset="0"/>
                </a:rPr>
                <a:t>}</a:t>
              </a:r>
              <a:endParaRPr lang="en-US" altLang="zh-CN" sz="2400" b="1">
                <a:solidFill>
                  <a:srgbClr val="000000"/>
                </a:solidFill>
                <a:latin typeface="Times New Roman" panose="02020603050405020304" pitchFamily="18" charset="0"/>
                <a:cs typeface="Times New Roman" panose="02020603050405020304" pitchFamily="18" charset="0"/>
              </a:endParaRPr>
            </a:p>
          </p:txBody>
        </p:sp>
      </p:grpSp>
      <p:sp>
        <p:nvSpPr>
          <p:cNvPr id="4" name="Rectangle 14"/>
          <p:cNvSpPr>
            <a:spLocks noChangeArrowheads="1"/>
          </p:cNvSpPr>
          <p:nvPr/>
        </p:nvSpPr>
        <p:spPr bwMode="auto">
          <a:xfrm>
            <a:off x="7584440" y="1371600"/>
            <a:ext cx="359600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00000"/>
                </a:solidFill>
                <a:latin typeface="+mn-ea"/>
              </a:rPr>
              <a:t>嵌套作用域的</a:t>
            </a:r>
            <a:r>
              <a:rPr lang="en-US" altLang="zh-CN" sz="2400" b="1" dirty="0">
                <a:solidFill>
                  <a:srgbClr val="000000"/>
                </a:solidFill>
                <a:latin typeface="+mn-ea"/>
              </a:rPr>
              <a:t>C</a:t>
            </a:r>
            <a:r>
              <a:rPr lang="zh-CN" altLang="en-US" sz="2400" b="1" dirty="0">
                <a:solidFill>
                  <a:srgbClr val="000000"/>
                </a:solidFill>
                <a:latin typeface="+mn-ea"/>
              </a:rPr>
              <a:t>代码片段</a:t>
            </a:r>
            <a:endParaRPr lang="zh-CN" altLang="en-US" sz="2400" b="1" dirty="0">
              <a:solidFill>
                <a:srgbClr val="0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arn(in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arn(inHorizontal)">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32" grpId="0" animBg="1"/>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4"/>
          <p:cNvSpPr txBox="1">
            <a:spLocks noChangeArrowheads="1"/>
          </p:cNvSpPr>
          <p:nvPr/>
        </p:nvSpPr>
        <p:spPr>
          <a:xfrm>
            <a:off x="370205" y="1196975"/>
            <a:ext cx="5045075" cy="24060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0"/>
              </a:spcBef>
              <a:spcAft>
                <a:spcPts val="0"/>
              </a:spcAft>
              <a:buFont typeface="Wingdings" panose="05000000000000000000" charset="0"/>
              <a:buChar char="p"/>
            </a:pPr>
            <a:r>
              <a:rPr lang="zh-CN" altLang="en-US" b="1" dirty="0">
                <a:solidFill>
                  <a:srgbClr val="0070C0"/>
                </a:solidFill>
              </a:rPr>
              <a:t>嵌套作用域方案一：</a:t>
            </a:r>
            <a:endParaRPr lang="en-US" altLang="zh-CN" b="1" dirty="0">
              <a:solidFill>
                <a:srgbClr val="0070C0"/>
              </a:solidFill>
            </a:endParaRPr>
          </a:p>
          <a:p>
            <a:pPr lvl="1">
              <a:lnSpc>
                <a:spcPct val="120000"/>
              </a:lnSpc>
              <a:spcBef>
                <a:spcPct val="0"/>
              </a:spcBef>
              <a:spcAft>
                <a:spcPts val="0"/>
              </a:spcAft>
              <a:buFont typeface="Wingdings" panose="05000000000000000000" charset="0"/>
              <a:buChar char="p"/>
            </a:pPr>
            <a:r>
              <a:rPr lang="zh-CN" altLang="en-US" b="1" dirty="0">
                <a:solidFill>
                  <a:srgbClr val="000000"/>
                </a:solidFill>
              </a:rPr>
              <a:t>符号表</a:t>
            </a:r>
            <a:r>
              <a:rPr lang="zh-CN" altLang="en-US" b="1" dirty="0">
                <a:solidFill>
                  <a:srgbClr val="0070C0"/>
                </a:solidFill>
              </a:rPr>
              <a:t>插入操作</a:t>
            </a:r>
            <a:r>
              <a:rPr lang="zh-CN" altLang="en-US" b="1" dirty="0">
                <a:solidFill>
                  <a:srgbClr val="000000"/>
                </a:solidFill>
              </a:rPr>
              <a:t>不必改写前面的声明，再插入新的声明即可；</a:t>
            </a:r>
            <a:r>
              <a:rPr lang="zh-CN" altLang="en-US" b="1" dirty="0">
                <a:solidFill>
                  <a:srgbClr val="0070C0"/>
                </a:solidFill>
              </a:rPr>
              <a:t>删除操作</a:t>
            </a:r>
            <a:r>
              <a:rPr lang="zh-CN" altLang="en-US" b="1" dirty="0">
                <a:solidFill>
                  <a:srgbClr val="000000"/>
                </a:solidFill>
              </a:rPr>
              <a:t>只需删除最近的一个，而显示前面任何的声明。</a:t>
            </a:r>
            <a:endParaRPr lang="en-US" altLang="zh-CN" b="1" dirty="0">
              <a:solidFill>
                <a:srgbClr val="000000"/>
              </a:solidFill>
            </a:endParaRPr>
          </a:p>
        </p:txBody>
      </p:sp>
      <p:sp>
        <p:nvSpPr>
          <p:cNvPr id="24" name="文本占位符 11"/>
          <p:cNvSpPr>
            <a:spLocks noGrp="1"/>
          </p:cNvSpPr>
          <p:nvPr>
            <p:ph type="body" sz="quarter" idx="14"/>
          </p:nvPr>
        </p:nvSpPr>
        <p:spPr>
          <a:xfrm>
            <a:off x="370840" y="276860"/>
            <a:ext cx="6680200" cy="593090"/>
          </a:xfrm>
        </p:spPr>
        <p:txBody>
          <a:bodyPr/>
          <a:lstStyle/>
          <a:p>
            <a:r>
              <a:rPr lang="en-US" altLang="zh-CN" dirty="0"/>
              <a:t>5.2.2 </a:t>
            </a:r>
            <a:r>
              <a:rPr lang="zh-CN" altLang="en-US" dirty="0"/>
              <a:t>符号表的数据结构</a:t>
            </a:r>
            <a:endParaRPr lang="zh-CN"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23865" y="1687830"/>
            <a:ext cx="6174105" cy="1915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5523865" y="1196975"/>
            <a:ext cx="3080385" cy="49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p>
            <a:r>
              <a:rPr lang="zh-CN" altLang="en-US" sz="2800" b="1" dirty="0">
                <a:solidFill>
                  <a:srgbClr val="000000"/>
                </a:solidFill>
                <a:latin typeface="+mn-ea"/>
              </a:rPr>
              <a:t>处理</a:t>
            </a:r>
            <a:r>
              <a:rPr lang="en-US" altLang="zh-CN" sz="2800" b="1" dirty="0">
                <a:solidFill>
                  <a:srgbClr val="000000"/>
                </a:solidFill>
                <a:latin typeface="+mn-ea"/>
              </a:rPr>
              <a:t>f</a:t>
            </a:r>
            <a:r>
              <a:rPr lang="zh-CN" altLang="en-US" sz="2800" b="1" dirty="0">
                <a:solidFill>
                  <a:srgbClr val="000000"/>
                </a:solidFill>
                <a:latin typeface="+mn-ea"/>
              </a:rPr>
              <a:t>的函数体说明之后</a:t>
            </a:r>
            <a:endParaRPr lang="zh-CN" altLang="en-US" sz="2800" b="1" dirty="0">
              <a:solidFill>
                <a:srgbClr val="000000"/>
              </a:solidFill>
              <a:latin typeface="+mn-ea"/>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9180" y="4204970"/>
            <a:ext cx="4059555" cy="1935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p:cNvSpPr>
            <a:spLocks noChangeArrowheads="1"/>
          </p:cNvSpPr>
          <p:nvPr/>
        </p:nvSpPr>
        <p:spPr bwMode="auto">
          <a:xfrm>
            <a:off x="6608128" y="3683000"/>
            <a:ext cx="480885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800" b="1" dirty="0">
                <a:solidFill>
                  <a:srgbClr val="000000"/>
                </a:solidFill>
                <a:latin typeface="+mn-ea"/>
              </a:rPr>
              <a:t>退出</a:t>
            </a:r>
            <a:r>
              <a:rPr lang="en-US" altLang="zh-CN" sz="2800" b="1" dirty="0">
                <a:solidFill>
                  <a:srgbClr val="000000"/>
                </a:solidFill>
                <a:latin typeface="+mn-ea"/>
              </a:rPr>
              <a:t>f</a:t>
            </a:r>
            <a:r>
              <a:rPr lang="zh-CN" altLang="en-US" sz="2800" b="1" dirty="0">
                <a:solidFill>
                  <a:srgbClr val="000000"/>
                </a:solidFill>
                <a:latin typeface="+mn-ea"/>
              </a:rPr>
              <a:t>函数体之后(删除其说明)</a:t>
            </a:r>
            <a:endParaRPr lang="zh-CN" altLang="en-US" sz="2800" b="1" dirty="0">
              <a:solidFill>
                <a:srgbClr val="000000"/>
              </a:solidFill>
              <a:latin typeface="+mn-ea"/>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730" y="4450080"/>
            <a:ext cx="6408420" cy="1690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p:cNvSpPr>
            <a:spLocks noChangeArrowheads="1"/>
          </p:cNvSpPr>
          <p:nvPr/>
        </p:nvSpPr>
        <p:spPr bwMode="auto">
          <a:xfrm>
            <a:off x="484716" y="3796499"/>
            <a:ext cx="58369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800" b="1" dirty="0">
                <a:solidFill>
                  <a:srgbClr val="000000"/>
                </a:solidFill>
                <a:latin typeface="+mn-ea"/>
              </a:rPr>
              <a:t>处理</a:t>
            </a:r>
            <a:r>
              <a:rPr lang="en-US" altLang="zh-CN" sz="2800" b="1" dirty="0">
                <a:solidFill>
                  <a:srgbClr val="000000"/>
                </a:solidFill>
                <a:latin typeface="+mn-ea"/>
              </a:rPr>
              <a:t>f</a:t>
            </a:r>
            <a:r>
              <a:rPr lang="zh-CN" altLang="en-US" sz="2800" b="1" dirty="0">
                <a:solidFill>
                  <a:srgbClr val="000000"/>
                </a:solidFill>
                <a:latin typeface="+mn-ea"/>
              </a:rPr>
              <a:t>内第2层嵌套复合语句说明之后</a:t>
            </a:r>
            <a:endParaRPr lang="zh-CN" altLang="en-US" sz="2800" b="1" dirty="0">
              <a:solidFill>
                <a:srgbClr val="0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barn(inHorizontal)">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barn(inHorizontal)">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5" grpId="0"/>
      <p:bldP spid="8" grpId="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4"/>
          <p:cNvSpPr txBox="1">
            <a:spLocks noChangeArrowheads="1"/>
          </p:cNvSpPr>
          <p:nvPr/>
        </p:nvSpPr>
        <p:spPr>
          <a:xfrm>
            <a:off x="492760" y="1315720"/>
            <a:ext cx="11355705" cy="258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b="1" dirty="0">
                <a:solidFill>
                  <a:srgbClr val="0070C0"/>
                </a:solidFill>
              </a:rPr>
              <a:t>实现嵌套的作用域的</a:t>
            </a:r>
            <a:r>
              <a:rPr lang="zh-CN" altLang="en-US" b="1" dirty="0"/>
              <a:t>方案二：</a:t>
            </a:r>
            <a:endParaRPr lang="zh-CN" altLang="en-US" b="1" dirty="0"/>
          </a:p>
          <a:p>
            <a:pPr lvl="1">
              <a:lnSpc>
                <a:spcPct val="150000"/>
              </a:lnSpc>
              <a:buFont typeface="Wingdings" panose="05000000000000000000" charset="0"/>
              <a:buChar char="p"/>
            </a:pPr>
            <a:r>
              <a:rPr lang="zh-CN" altLang="en-US" b="1" dirty="0"/>
              <a:t>为每个作用域建立一个新的符号表，再从内到外把它们链接在一起，这样如果查找操作在当前表中没有找到名字，就自动用附上的表继续搜索。</a:t>
            </a:r>
            <a:endParaRPr lang="zh-CN" altLang="en-US" b="1" dirty="0"/>
          </a:p>
        </p:txBody>
      </p:sp>
      <p:sp>
        <p:nvSpPr>
          <p:cNvPr id="25" name="文本占位符 11"/>
          <p:cNvSpPr>
            <a:spLocks noGrp="1"/>
          </p:cNvSpPr>
          <p:nvPr>
            <p:ph type="body" sz="quarter" idx="14"/>
          </p:nvPr>
        </p:nvSpPr>
        <p:spPr>
          <a:xfrm>
            <a:off x="393065" y="276860"/>
            <a:ext cx="6664960" cy="593090"/>
          </a:xfrm>
        </p:spPr>
        <p:txBody>
          <a:bodyPr/>
          <a:lstStyle/>
          <a:p>
            <a:r>
              <a:rPr lang="en-US" altLang="zh-CN" dirty="0"/>
              <a:t>5.2.2 </a:t>
            </a:r>
            <a:r>
              <a:rPr lang="zh-CN" altLang="en-US" dirty="0"/>
              <a:t>符号表的数据结构</a:t>
            </a:r>
            <a:endParaRPr lang="zh-CN"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5217" y="3545416"/>
            <a:ext cx="8201565" cy="239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18">
                                            <p:txEl>
                                              <p:pRg st="1" end="1"/>
                                            </p:txEl>
                                          </p:spTgt>
                                        </p:tgtEl>
                                        <p:attrNameLst>
                                          <p:attrName>style.visibility</p:attrName>
                                        </p:attrNameLst>
                                      </p:cBhvr>
                                      <p:to>
                                        <p:strVal val="visible"/>
                                      </p:to>
                                    </p:set>
                                    <p:animEffect transition="in" filter="barn(inHorizontal)">
                                      <p:cBhvr>
                                        <p:cTn id="7"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a:hlinkClick r:id="rId1" action="ppaction://hlinksldjump"/>
          </p:cNvPr>
          <p:cNvGraphicFramePr>
            <a:graphicFrameLocks noChangeAspect="1"/>
          </p:cNvGraphicFramePr>
          <p:nvPr/>
        </p:nvGraphicFramePr>
        <p:xfrm>
          <a:off x="4011295" y="1965960"/>
          <a:ext cx="7766050" cy="4269740"/>
        </p:xfrm>
        <a:graphic>
          <a:graphicData uri="http://schemas.openxmlformats.org/presentationml/2006/ole">
            <mc:AlternateContent xmlns:mc="http://schemas.openxmlformats.org/markup-compatibility/2006">
              <mc:Choice xmlns:v="urn:schemas-microsoft-com:vml" Requires="v">
                <p:oleObj spid="_x0000_s1120" name="" r:id="rId2" imgW="4310380" imgH="2686050" progId="Word.Picture.8">
                  <p:embed/>
                </p:oleObj>
              </mc:Choice>
              <mc:Fallback>
                <p:oleObj name="" r:id="rId2" imgW="4310380" imgH="2686050" progId="Word.Picture.8">
                  <p:embed/>
                  <p:pic>
                    <p:nvPicPr>
                      <p:cNvPr id="0" name="Object 2">
                        <a:hlinkClick r:id="" action="ppaction://noaction"/>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1295" y="1965960"/>
                        <a:ext cx="7766050" cy="426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文本框 1"/>
          <p:cNvSpPr txBox="1"/>
          <p:nvPr/>
        </p:nvSpPr>
        <p:spPr>
          <a:xfrm>
            <a:off x="399415" y="1220470"/>
            <a:ext cx="11377930" cy="977265"/>
          </a:xfrm>
          <a:prstGeom prst="rect">
            <a:avLst/>
          </a:prstGeom>
          <a:noFill/>
        </p:spPr>
        <p:txBody>
          <a:bodyPr wrap="square" rtlCol="0" anchor="t">
            <a:spAutoFit/>
          </a:bodyPr>
          <a:p>
            <a:pPr>
              <a:lnSpc>
                <a:spcPct val="120000"/>
              </a:lnSpc>
              <a:spcBef>
                <a:spcPts val="0"/>
              </a:spcBef>
              <a:spcAft>
                <a:spcPts val="0"/>
              </a:spcAft>
              <a:buFont typeface="Wingdings" panose="05000000000000000000" charset="0"/>
              <a:buChar char="p"/>
            </a:pPr>
            <a:r>
              <a:rPr lang="zh-CN" altLang="en-US" sz="2400" b="1" dirty="0">
                <a:sym typeface="+mn-ea"/>
              </a:rPr>
              <a:t>符号表举例：在代码产生期间，变量需要分配存储器</a:t>
            </a:r>
            <a:r>
              <a:rPr lang="zh-CN" altLang="en-US" sz="2400" b="1" dirty="0">
                <a:sym typeface="+mn-ea"/>
              </a:rPr>
              <a:t>偏移</a:t>
            </a:r>
            <a:r>
              <a:rPr lang="zh-CN" altLang="en-US" sz="2400" b="1" dirty="0">
                <a:sym typeface="+mn-ea"/>
              </a:rPr>
              <a:t>地址，并</a:t>
            </a:r>
            <a:r>
              <a:rPr lang="zh-CN" altLang="en-US" sz="2400" b="1" dirty="0">
                <a:sym typeface="+mn-ea"/>
              </a:rPr>
              <a:t>通过链表显示被访问变量的行号。</a:t>
            </a:r>
            <a:endParaRPr lang="zh-CN" altLang="en-US" sz="2400" b="1" dirty="0">
              <a:sym typeface="+mn-ea"/>
            </a:endParaRPr>
          </a:p>
        </p:txBody>
      </p:sp>
      <p:sp>
        <p:nvSpPr>
          <p:cNvPr id="3" name="文本框 2"/>
          <p:cNvSpPr txBox="1"/>
          <p:nvPr/>
        </p:nvSpPr>
        <p:spPr>
          <a:xfrm>
            <a:off x="480695" y="2262505"/>
            <a:ext cx="4010660" cy="3636010"/>
          </a:xfrm>
          <a:prstGeom prst="rect">
            <a:avLst/>
          </a:prstGeom>
          <a:noFill/>
        </p:spPr>
        <p:txBody>
          <a:bodyPr wrap="square" rtlCol="0" anchor="t">
            <a:spAutoFit/>
          </a:bodyPr>
          <a:p>
            <a:pPr>
              <a:lnSpc>
                <a:spcPct val="120000"/>
              </a:lnSpc>
              <a:spcBef>
                <a:spcPts val="0"/>
              </a:spcBef>
              <a:spcAft>
                <a:spcPts val="0"/>
              </a:spcAft>
              <a:buFont typeface="Wingdings" panose="05000000000000000000" charset="0"/>
              <a:buChar char="p"/>
            </a:pPr>
            <a:r>
              <a:rPr lang="zh-CN" altLang="en-US" sz="2400" b="1" dirty="0">
                <a:latin typeface="+mn-ea"/>
                <a:sym typeface="+mn-ea"/>
              </a:rPr>
              <a:t>在</a:t>
            </a:r>
            <a:r>
              <a:rPr lang="en-US" altLang="zh-CN" sz="2400" b="1" dirty="0">
                <a:latin typeface="+mn-ea"/>
                <a:sym typeface="+mn-ea"/>
              </a:rPr>
              <a:t>GJC</a:t>
            </a:r>
            <a:r>
              <a:rPr lang="zh-CN" altLang="en-US" sz="2400" b="1" dirty="0">
                <a:latin typeface="+mn-ea"/>
                <a:sym typeface="+mn-ea"/>
              </a:rPr>
              <a:t>中：</a:t>
            </a:r>
            <a:endParaRPr lang="zh-CN" altLang="en-US" sz="2400" b="1" dirty="0">
              <a:latin typeface="+mn-ea"/>
              <a:sym typeface="+mn-ea"/>
            </a:endParaRPr>
          </a:p>
          <a:p>
            <a:pPr lvl="1">
              <a:lnSpc>
                <a:spcPct val="120000"/>
              </a:lnSpc>
              <a:spcBef>
                <a:spcPts val="0"/>
              </a:spcBef>
              <a:spcAft>
                <a:spcPts val="0"/>
              </a:spcAft>
              <a:buFont typeface="Wingdings" panose="05000000000000000000" charset="0"/>
              <a:buChar char="p"/>
            </a:pPr>
            <a:r>
              <a:rPr lang="en-US" altLang="zh-CN" sz="2400" b="1" dirty="0">
                <a:latin typeface="+mn-ea"/>
                <a:sym typeface="+mn-ea"/>
              </a:rPr>
              <a:t>Symbol.java</a:t>
            </a:r>
            <a:r>
              <a:rPr lang="zh-CN" altLang="en-US" sz="2400" b="1" dirty="0">
                <a:latin typeface="+mn-ea"/>
                <a:sym typeface="+mn-ea"/>
              </a:rPr>
              <a:t>定义了</a:t>
            </a:r>
            <a:r>
              <a:rPr lang="en-US" altLang="zh-CN" sz="2400" b="1" dirty="0">
                <a:latin typeface="+mn-ea"/>
                <a:sym typeface="+mn-ea"/>
              </a:rPr>
              <a:t>GJC</a:t>
            </a:r>
            <a:r>
              <a:rPr lang="zh-CN" altLang="en-US" sz="2400" b="1" dirty="0">
                <a:latin typeface="+mn-ea"/>
                <a:sym typeface="+mn-ea"/>
              </a:rPr>
              <a:t>中使用的符号，包括符号的种类和类型等信息，它们分别在</a:t>
            </a:r>
            <a:r>
              <a:rPr lang="en-US" altLang="zh-CN" sz="2400" b="1" dirty="0">
                <a:latin typeface="+mn-ea"/>
                <a:sym typeface="+mn-ea"/>
              </a:rPr>
              <a:t>Kind.java</a:t>
            </a:r>
            <a:r>
              <a:rPr lang="zh-CN" altLang="en-US" sz="2400" b="1" dirty="0">
                <a:latin typeface="+mn-ea"/>
                <a:sym typeface="+mn-ea"/>
              </a:rPr>
              <a:t>和</a:t>
            </a:r>
            <a:r>
              <a:rPr lang="en-US" altLang="zh-CN" sz="2400" b="1" dirty="0">
                <a:latin typeface="+mn-ea"/>
                <a:sym typeface="+mn-ea"/>
              </a:rPr>
              <a:t>Type.java</a:t>
            </a:r>
            <a:r>
              <a:rPr lang="zh-CN" altLang="en-US" sz="2400" b="1" dirty="0">
                <a:latin typeface="+mn-ea"/>
                <a:sym typeface="+mn-ea"/>
              </a:rPr>
              <a:t>中定义。</a:t>
            </a:r>
            <a:endParaRPr lang="zh-CN" altLang="en-US" sz="2400" b="1" dirty="0">
              <a:latin typeface="+mn-ea"/>
            </a:endParaRPr>
          </a:p>
          <a:p>
            <a:pPr lvl="1">
              <a:lnSpc>
                <a:spcPct val="120000"/>
              </a:lnSpc>
              <a:spcBef>
                <a:spcPts val="0"/>
              </a:spcBef>
              <a:spcAft>
                <a:spcPts val="0"/>
              </a:spcAft>
              <a:buFont typeface="Wingdings" panose="05000000000000000000" charset="0"/>
              <a:buChar char="p"/>
            </a:pPr>
            <a:r>
              <a:rPr lang="en-US" altLang="zh-CN" sz="2400" b="1" dirty="0">
                <a:latin typeface="+mn-ea"/>
                <a:sym typeface="+mn-ea"/>
              </a:rPr>
              <a:t>Scope.java</a:t>
            </a:r>
            <a:r>
              <a:rPr lang="zh-CN" altLang="en-US" sz="2400" b="1" dirty="0">
                <a:latin typeface="+mn-ea"/>
                <a:sym typeface="+mn-ea"/>
              </a:rPr>
              <a:t>完成了上下文管理的功能</a:t>
            </a:r>
            <a:r>
              <a:rPr lang="en-US" altLang="zh-CN" sz="2400" b="1" dirty="0">
                <a:latin typeface="+mn-ea"/>
                <a:sym typeface="+mn-ea"/>
              </a:rPr>
              <a:t>(</a:t>
            </a:r>
            <a:r>
              <a:rPr lang="zh-CN" altLang="en-US" sz="2400" b="1" dirty="0">
                <a:latin typeface="+mn-ea"/>
                <a:sym typeface="+mn-ea"/>
              </a:rPr>
              <a:t>方案</a:t>
            </a:r>
            <a:r>
              <a:rPr lang="en-US" altLang="zh-CN" sz="2400" b="1" dirty="0">
                <a:latin typeface="+mn-ea"/>
                <a:sym typeface="+mn-ea"/>
              </a:rPr>
              <a:t>2)</a:t>
            </a:r>
            <a:r>
              <a:rPr lang="zh-CN" altLang="en-US" sz="2400" b="1" dirty="0">
                <a:latin typeface="+mn-ea"/>
                <a:sym typeface="+mn-ea"/>
              </a:rPr>
              <a:t>。 </a:t>
            </a:r>
            <a:endParaRPr lang="zh-CN" altLang="en-US" sz="2400" b="1" dirty="0">
              <a:latin typeface="+mn-ea"/>
              <a:sym typeface="+mn-ea"/>
            </a:endParaRPr>
          </a:p>
        </p:txBody>
      </p:sp>
      <p:sp>
        <p:nvSpPr>
          <p:cNvPr id="25" name="文本占位符 11"/>
          <p:cNvSpPr>
            <a:spLocks noGrp="1"/>
          </p:cNvSpPr>
          <p:nvPr>
            <p:ph type="body" sz="quarter" idx="14"/>
            <p:custDataLst>
              <p:tags r:id="rId4"/>
            </p:custDataLst>
          </p:nvPr>
        </p:nvSpPr>
        <p:spPr>
          <a:xfrm>
            <a:off x="393065" y="276860"/>
            <a:ext cx="6664960" cy="593090"/>
          </a:xfrm>
        </p:spPr>
        <p:txBody>
          <a:bodyPr/>
          <a:p>
            <a:r>
              <a:rPr lang="en-US" altLang="zh-CN" dirty="0"/>
              <a:t>5.2.2 </a:t>
            </a:r>
            <a:r>
              <a:rPr lang="zh-CN" altLang="en-US" dirty="0"/>
              <a:t>符号表的数据结构</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42"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out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p:txBody>
          <a:bodyPr>
            <a:normAutofit fontScale="80000"/>
          </a:bodyPr>
          <a:lstStyle/>
          <a:p>
            <a:r>
              <a:rPr lang="zh-CN" altLang="en-US"/>
              <a:t>第</a:t>
            </a:r>
            <a:r>
              <a:rPr lang="en-US" altLang="zh-CN"/>
              <a:t>5</a:t>
            </a:r>
            <a:r>
              <a:rPr lang="zh-CN" altLang="en-US"/>
              <a:t>单元 语义分析</a:t>
            </a:r>
            <a:endParaRPr lang="zh-CN" altLang="en-US" dirty="0"/>
          </a:p>
        </p:txBody>
      </p:sp>
      <p:sp>
        <p:nvSpPr>
          <p:cNvPr id="24" name="文本占位符 23"/>
          <p:cNvSpPr>
            <a:spLocks noGrp="1"/>
          </p:cNvSpPr>
          <p:nvPr>
            <p:ph type="body" sz="quarter" idx="14"/>
          </p:nvPr>
        </p:nvSpPr>
        <p:spPr/>
        <p:txBody>
          <a:bodyPr/>
          <a:lstStyle/>
          <a:p>
            <a:r>
              <a:rPr lang="en-US" altLang="zh-CN"/>
              <a:t>5.1 </a:t>
            </a:r>
            <a:r>
              <a:rPr lang="zh-CN" altLang="en-US"/>
              <a:t>属性和属性文法</a:t>
            </a:r>
            <a:endParaRPr lang="zh-CN" altLang="en-US"/>
          </a:p>
          <a:p>
            <a:r>
              <a:rPr lang="en-US" altLang="zh-CN"/>
              <a:t>5.2 </a:t>
            </a:r>
            <a:r>
              <a:rPr lang="zh-CN" altLang="en-US"/>
              <a:t>符号表</a:t>
            </a:r>
            <a:endParaRPr lang="zh-CN" altLang="en-US"/>
          </a:p>
          <a:p>
            <a:r>
              <a:rPr lang="en-US" altLang="zh-CN"/>
              <a:t>5.3 </a:t>
            </a:r>
            <a:r>
              <a:rPr lang="zh-CN" altLang="en-US"/>
              <a:t>数据类型和类型检查</a:t>
            </a:r>
            <a:endParaRPr lang="zh-CN" altLang="en-US" dirty="0"/>
          </a:p>
        </p:txBody>
      </p:sp>
      <p:sp>
        <p:nvSpPr>
          <p:cNvPr id="18" name="文本占位符 17"/>
          <p:cNvSpPr>
            <a:spLocks noGrp="1"/>
          </p:cNvSpPr>
          <p:nvPr>
            <p:ph type="body" sz="quarter" idx="15"/>
          </p:nvPr>
        </p:nvSpPr>
        <p:spPr/>
        <p:txBody>
          <a:bodyPr>
            <a:normAutofit lnSpcReduction="20000"/>
          </a:bodyPr>
          <a:lstStyle/>
          <a:p>
            <a:endParaRPr lang="zh-CN" altLang="en-US"/>
          </a:p>
        </p:txBody>
      </p:sp>
      <p:sp useBgFill="1">
        <p:nvSpPr>
          <p:cNvPr id="5" name="AutoShape 5"/>
          <p:cNvSpPr>
            <a:spLocks noChangeArrowheads="1"/>
          </p:cNvSpPr>
          <p:nvPr/>
        </p:nvSpPr>
        <p:spPr bwMode="auto">
          <a:xfrm>
            <a:off x="6250517" y="1397000"/>
            <a:ext cx="3393016" cy="1397529"/>
          </a:xfrm>
          <a:prstGeom prst="cloudCallout">
            <a:avLst>
              <a:gd name="adj1" fmla="val -62147"/>
              <a:gd name="adj2" fmla="val 34660"/>
            </a:avLst>
          </a:prstGeom>
          <a:ln w="9525">
            <a:solidFill>
              <a:schemeClr val="tx1"/>
            </a:solidFill>
            <a:miter lim="800000"/>
          </a:ln>
        </p:spPr>
        <p:txBody>
          <a:bodyPr/>
          <a:lstStyle/>
          <a:p>
            <a:pPr algn="ctr"/>
            <a:r>
              <a:rPr lang="zh-CN" altLang="en-US" sz="2400" b="1" dirty="0">
                <a:solidFill>
                  <a:srgbClr val="0070C0"/>
                </a:solidFill>
                <a:latin typeface="+mn-ea"/>
              </a:rPr>
              <a:t>文法符号语义信息的计算技术</a:t>
            </a:r>
            <a:endParaRPr lang="zh-CN" altLang="en-US" sz="2400" b="1" dirty="0">
              <a:solidFill>
                <a:srgbClr val="0070C0"/>
              </a:solidFill>
              <a:latin typeface="+mn-ea"/>
            </a:endParaRPr>
          </a:p>
        </p:txBody>
      </p:sp>
      <p:sp useBgFill="1">
        <p:nvSpPr>
          <p:cNvPr id="6" name="AutoShape 6"/>
          <p:cNvSpPr>
            <a:spLocks noChangeArrowheads="1"/>
          </p:cNvSpPr>
          <p:nvPr/>
        </p:nvSpPr>
        <p:spPr bwMode="auto">
          <a:xfrm>
            <a:off x="6792914" y="4063471"/>
            <a:ext cx="3265487" cy="1264708"/>
          </a:xfrm>
          <a:prstGeom prst="cloudCallout">
            <a:avLst>
              <a:gd name="adj1" fmla="val -59846"/>
              <a:gd name="adj2" fmla="val -93450"/>
            </a:avLst>
          </a:prstGeom>
          <a:ln w="9525">
            <a:solidFill>
              <a:schemeClr val="tx1"/>
            </a:solidFill>
            <a:miter lim="800000"/>
          </a:ln>
        </p:spPr>
        <p:txBody>
          <a:bodyPr/>
          <a:lstStyle/>
          <a:p>
            <a:pPr algn="ctr"/>
            <a:r>
              <a:rPr lang="zh-CN" altLang="en-US" sz="2400" b="1" dirty="0">
                <a:solidFill>
                  <a:srgbClr val="0070C0"/>
                </a:solidFill>
                <a:latin typeface="+mn-ea"/>
              </a:rPr>
              <a:t>语义分析的两个主要方面</a:t>
            </a:r>
            <a:endParaRPr lang="zh-CN" altLang="en-US" sz="2400" b="1" dirty="0">
              <a:solidFill>
                <a:srgbClr val="0070C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1"/>
          <p:cNvSpPr>
            <a:spLocks noGrp="1"/>
          </p:cNvSpPr>
          <p:nvPr>
            <p:ph type="body" sz="quarter" idx="14"/>
          </p:nvPr>
        </p:nvSpPr>
        <p:spPr>
          <a:xfrm>
            <a:off x="393065" y="320040"/>
            <a:ext cx="5322358" cy="593090"/>
          </a:xfrm>
        </p:spPr>
        <p:txBody>
          <a:bodyPr/>
          <a:lstStyle/>
          <a:p>
            <a:r>
              <a:rPr lang="en-US" altLang="zh-CN" dirty="0"/>
              <a:t>5.3 </a:t>
            </a:r>
            <a:r>
              <a:rPr lang="zh-CN" altLang="en-US" dirty="0"/>
              <a:t>数据类型和类型检查</a:t>
            </a:r>
            <a:endParaRPr lang="zh-CN" altLang="en-US" dirty="0"/>
          </a:p>
        </p:txBody>
      </p:sp>
      <p:sp>
        <p:nvSpPr>
          <p:cNvPr id="6" name="Rectangle 7"/>
          <p:cNvSpPr txBox="1">
            <a:spLocks noChangeArrowheads="1"/>
          </p:cNvSpPr>
          <p:nvPr/>
        </p:nvSpPr>
        <p:spPr>
          <a:xfrm>
            <a:off x="393065" y="1264920"/>
            <a:ext cx="11421110" cy="4822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sz="2400" b="1" dirty="0">
                <a:solidFill>
                  <a:srgbClr val="000000"/>
                </a:solidFill>
                <a:latin typeface="+mn-ea"/>
              </a:rPr>
              <a:t>编译器主要任务之一是数据类型信息的计算和维护(</a:t>
            </a:r>
            <a:r>
              <a:rPr lang="zh-CN" altLang="en-US" sz="2400" b="1" dirty="0">
                <a:solidFill>
                  <a:srgbClr val="0070C0"/>
                </a:solidFill>
                <a:latin typeface="+mn-ea"/>
              </a:rPr>
              <a:t>类型推论</a:t>
            </a:r>
            <a:r>
              <a:rPr lang="en-US" altLang="zh-CN" sz="2400" b="1" dirty="0">
                <a:solidFill>
                  <a:srgbClr val="000000"/>
                </a:solidFill>
                <a:latin typeface="+mn-ea"/>
              </a:rPr>
              <a:t>)</a:t>
            </a:r>
            <a:r>
              <a:rPr lang="zh-CN" altLang="en-US" sz="2400" b="1" dirty="0">
                <a:solidFill>
                  <a:srgbClr val="000000"/>
                </a:solidFill>
                <a:latin typeface="+mn-ea"/>
              </a:rPr>
              <a:t>以及使用这些信息确保程序的每一部分在语言的类型规则作用下有意义(</a:t>
            </a:r>
            <a:r>
              <a:rPr lang="zh-CN" altLang="en-US" sz="2400" b="1" dirty="0">
                <a:solidFill>
                  <a:srgbClr val="0070C0"/>
                </a:solidFill>
                <a:latin typeface="+mn-ea"/>
              </a:rPr>
              <a:t>类型检查</a:t>
            </a:r>
            <a:r>
              <a:rPr lang="en-US" altLang="zh-CN" sz="2400" b="1" dirty="0">
                <a:solidFill>
                  <a:srgbClr val="000000"/>
                </a:solidFill>
                <a:latin typeface="+mn-ea"/>
              </a:rPr>
              <a:t>)。</a:t>
            </a:r>
            <a:endParaRPr lang="en-US" altLang="zh-CN" sz="2400" b="1" dirty="0">
              <a:solidFill>
                <a:srgbClr val="000000"/>
              </a:solidFill>
              <a:latin typeface="+mn-ea"/>
            </a:endParaRPr>
          </a:p>
          <a:p>
            <a:pPr lvl="1">
              <a:lnSpc>
                <a:spcPct val="125000"/>
              </a:lnSpc>
              <a:spcBef>
                <a:spcPts val="0"/>
              </a:spcBef>
              <a:spcAft>
                <a:spcPts val="0"/>
              </a:spcAft>
              <a:buFont typeface="Wingdings" panose="05000000000000000000" charset="0"/>
              <a:buChar char="p"/>
            </a:pPr>
            <a:r>
              <a:rPr lang="zh-CN" altLang="en-US" b="1" dirty="0">
                <a:solidFill>
                  <a:srgbClr val="000000"/>
                </a:solidFill>
                <a:latin typeface="+mn-ea"/>
              </a:rPr>
              <a:t>由编译器完成的检查称为静态检查，如</a:t>
            </a:r>
            <a:r>
              <a:rPr lang="en-US" altLang="zh-CN" b="1" dirty="0">
                <a:solidFill>
                  <a:srgbClr val="000000"/>
                </a:solidFill>
                <a:latin typeface="+mn-ea"/>
              </a:rPr>
              <a:t>C</a:t>
            </a:r>
            <a:r>
              <a:rPr lang="zh-CN" altLang="en-US" b="1" dirty="0">
                <a:solidFill>
                  <a:srgbClr val="000000"/>
                </a:solidFill>
                <a:latin typeface="+mn-ea"/>
              </a:rPr>
              <a:t>，类型信息主要是静态的，在程序执行之前进行正确性检查。</a:t>
            </a:r>
            <a:endParaRPr lang="zh-CN" altLang="en-US" b="1" dirty="0">
              <a:solidFill>
                <a:srgbClr val="000000"/>
              </a:solidFill>
              <a:latin typeface="+mn-ea"/>
            </a:endParaRPr>
          </a:p>
          <a:p>
            <a:pPr lvl="1">
              <a:lnSpc>
                <a:spcPct val="125000"/>
              </a:lnSpc>
              <a:spcBef>
                <a:spcPts val="0"/>
              </a:spcBef>
              <a:spcAft>
                <a:spcPts val="0"/>
              </a:spcAft>
              <a:buFont typeface="Wingdings" panose="05000000000000000000" charset="0"/>
              <a:buChar char="p"/>
            </a:pPr>
            <a:r>
              <a:rPr lang="zh-CN" altLang="en-US" b="1" dirty="0">
                <a:solidFill>
                  <a:srgbClr val="000000"/>
                </a:solidFill>
                <a:latin typeface="+mn-ea"/>
              </a:rPr>
              <a:t>在目标程序运行时完成的检查则称为动态检查，如</a:t>
            </a:r>
            <a:r>
              <a:rPr lang="en-US" altLang="zh-CN" b="1" dirty="0">
                <a:solidFill>
                  <a:srgbClr val="000000"/>
                </a:solidFill>
                <a:latin typeface="+mn-ea"/>
              </a:rPr>
              <a:t>Java</a:t>
            </a:r>
            <a:r>
              <a:rPr lang="zh-CN" altLang="en-US" b="1" dirty="0">
                <a:solidFill>
                  <a:srgbClr val="000000"/>
                </a:solidFill>
                <a:latin typeface="+mn-ea"/>
              </a:rPr>
              <a:t>、</a:t>
            </a:r>
            <a:r>
              <a:rPr lang="en-US" altLang="zh-CN" b="1" dirty="0">
                <a:solidFill>
                  <a:srgbClr val="000000"/>
                </a:solidFill>
                <a:latin typeface="+mn-ea"/>
              </a:rPr>
              <a:t>Python</a:t>
            </a:r>
            <a:r>
              <a:rPr lang="zh-CN" altLang="en-US" b="1" dirty="0">
                <a:solidFill>
                  <a:srgbClr val="000000"/>
                </a:solidFill>
                <a:latin typeface="+mn-ea"/>
              </a:rPr>
              <a:t>。原则上，如果目标代码将每个元素的类型和其值保存在一起，则任何检查都可以动态完成。</a:t>
            </a:r>
            <a:endParaRPr lang="zh-CN" altLang="en-US" b="1" dirty="0">
              <a:solidFill>
                <a:srgbClr val="000000"/>
              </a:solidFill>
              <a:latin typeface="+mn-ea"/>
            </a:endParaRPr>
          </a:p>
          <a:p>
            <a:pPr marL="342900" indent="-342900">
              <a:lnSpc>
                <a:spcPct val="125000"/>
              </a:lnSpc>
              <a:spcBef>
                <a:spcPts val="0"/>
              </a:spcBef>
              <a:spcAft>
                <a:spcPts val="0"/>
              </a:spcAft>
              <a:buFont typeface="Wingdings" panose="05000000000000000000" charset="0"/>
              <a:buChar char="p"/>
            </a:pPr>
            <a:r>
              <a:rPr lang="zh-CN" altLang="en-US" sz="2400" b="1" dirty="0">
                <a:solidFill>
                  <a:srgbClr val="000000"/>
                </a:solidFill>
                <a:latin typeface="+mn-ea"/>
                <a:sym typeface="+mn-ea"/>
              </a:rPr>
              <a:t>编译器有一个语义分析程序：</a:t>
            </a:r>
            <a:r>
              <a:rPr lang="en-US" altLang="zh-CN" sz="2400" b="1" dirty="0">
                <a:solidFill>
                  <a:srgbClr val="000000"/>
                </a:solidFill>
                <a:latin typeface="+mn-ea"/>
                <a:sym typeface="+mn-ea"/>
              </a:rPr>
              <a:t> Boolean </a:t>
            </a:r>
            <a:r>
              <a:rPr lang="en-US" altLang="zh-CN" sz="2400" b="1" dirty="0" err="1">
                <a:solidFill>
                  <a:srgbClr val="000000"/>
                </a:solidFill>
                <a:latin typeface="+mn-ea"/>
                <a:sym typeface="+mn-ea"/>
              </a:rPr>
              <a:t>typeEqual</a:t>
            </a:r>
            <a:r>
              <a:rPr lang="en-US" altLang="zh-CN" sz="2400" b="1" dirty="0">
                <a:solidFill>
                  <a:srgbClr val="000000"/>
                </a:solidFill>
                <a:latin typeface="+mn-ea"/>
                <a:sym typeface="+mn-ea"/>
              </a:rPr>
              <a:t>(t1,t2:TypeExp); </a:t>
            </a:r>
            <a:r>
              <a:rPr lang="zh-CN" altLang="en-US" sz="2400" b="1" dirty="0">
                <a:solidFill>
                  <a:srgbClr val="000000"/>
                </a:solidFill>
                <a:latin typeface="+mn-ea"/>
                <a:sym typeface="+mn-ea"/>
              </a:rPr>
              <a:t>该语义分析程序接受两个类型表达式，如果根据</a:t>
            </a:r>
            <a:r>
              <a:rPr lang="zh-CN" altLang="en-US" sz="2400" b="1" dirty="0">
                <a:solidFill>
                  <a:srgbClr val="0070C0"/>
                </a:solidFill>
                <a:latin typeface="+mn-ea"/>
                <a:sym typeface="+mn-ea"/>
              </a:rPr>
              <a:t>语言的类型等价规则</a:t>
            </a:r>
            <a:r>
              <a:rPr lang="en-US" altLang="zh-CN" sz="2400" b="1" dirty="0">
                <a:solidFill>
                  <a:srgbClr val="0070C0"/>
                </a:solidFill>
                <a:latin typeface="+mn-ea"/>
                <a:sym typeface="+mn-ea"/>
              </a:rPr>
              <a:t>(C</a:t>
            </a:r>
            <a:r>
              <a:rPr lang="zh-CN" altLang="en-US" sz="2400" b="1" dirty="0">
                <a:solidFill>
                  <a:srgbClr val="0070C0"/>
                </a:solidFill>
                <a:latin typeface="+mn-ea"/>
                <a:sym typeface="+mn-ea"/>
              </a:rPr>
              <a:t>语言和</a:t>
            </a:r>
            <a:r>
              <a:rPr lang="en-US" altLang="zh-CN" sz="2400" b="1" dirty="0">
                <a:solidFill>
                  <a:srgbClr val="0070C0"/>
                </a:solidFill>
                <a:latin typeface="+mn-ea"/>
                <a:sym typeface="+mn-ea"/>
              </a:rPr>
              <a:t>Java</a:t>
            </a:r>
            <a:r>
              <a:rPr lang="zh-CN" altLang="en-US" sz="2400" b="1" dirty="0">
                <a:solidFill>
                  <a:srgbClr val="0070C0"/>
                </a:solidFill>
                <a:latin typeface="+mn-ea"/>
                <a:sym typeface="+mn-ea"/>
              </a:rPr>
              <a:t>举例</a:t>
            </a:r>
            <a:r>
              <a:rPr lang="en-US" altLang="zh-CN" sz="2400" b="1" dirty="0">
                <a:solidFill>
                  <a:srgbClr val="0070C0"/>
                </a:solidFill>
                <a:latin typeface="+mn-ea"/>
                <a:sym typeface="+mn-ea"/>
              </a:rPr>
              <a:t>)</a:t>
            </a:r>
            <a:r>
              <a:rPr lang="zh-CN" altLang="en-US" sz="2400" b="1" dirty="0">
                <a:solidFill>
                  <a:srgbClr val="000000"/>
                </a:solidFill>
                <a:latin typeface="+mn-ea"/>
                <a:sym typeface="+mn-ea"/>
              </a:rPr>
              <a:t>它们表示相同的类型就返回</a:t>
            </a:r>
            <a:r>
              <a:rPr lang="en-US" altLang="zh-CN" sz="2400" b="1" dirty="0">
                <a:solidFill>
                  <a:srgbClr val="000000"/>
                </a:solidFill>
                <a:latin typeface="+mn-ea"/>
                <a:sym typeface="+mn-ea"/>
              </a:rPr>
              <a:t>true，</a:t>
            </a:r>
            <a:r>
              <a:rPr lang="zh-CN" altLang="en-US" sz="2400" b="1" dirty="0">
                <a:solidFill>
                  <a:srgbClr val="000000"/>
                </a:solidFill>
                <a:latin typeface="+mn-ea"/>
                <a:sym typeface="+mn-ea"/>
              </a:rPr>
              <a:t>否则返回</a:t>
            </a:r>
            <a:r>
              <a:rPr lang="en-US" altLang="zh-CN" sz="2400" b="1" dirty="0">
                <a:solidFill>
                  <a:srgbClr val="000000"/>
                </a:solidFill>
                <a:latin typeface="+mn-ea"/>
                <a:sym typeface="+mn-ea"/>
              </a:rPr>
              <a:t>false。</a:t>
            </a:r>
            <a:endParaRPr lang="en-US" altLang="zh-CN" sz="2400" b="1" dirty="0">
              <a:solidFill>
                <a:srgbClr val="000000"/>
              </a:solidFill>
              <a:latin typeface="+mn-ea"/>
            </a:endParaRPr>
          </a:p>
          <a:p>
            <a:pPr lvl="1">
              <a:lnSpc>
                <a:spcPct val="130000"/>
              </a:lnSpc>
              <a:buFont typeface="Wingdings" panose="05000000000000000000" charset="0"/>
              <a:buChar char="p"/>
            </a:pPr>
            <a:endParaRPr lang="zh-CN" altLang="en-US" b="1" dirty="0">
              <a:solidFill>
                <a:srgbClr val="0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arn(inHorizontal)">
                                      <p:cBhvr>
                                        <p:cTn id="17" dur="500"/>
                                        <p:tgtEl>
                                          <p:spTgt spid="6">
                                            <p:txEl>
                                              <p:pRg st="2" end="2"/>
                                            </p:txEl>
                                          </p:spTgt>
                                        </p:tgtEl>
                                      </p:cBhvr>
                                    </p:animEffect>
                                  </p:childTnLst>
                                </p:cTn>
                              </p:par>
                              <p:par>
                                <p:cTn id="18" presetID="16" presetClass="entr" presetSubtype="26" fill="hold" grpId="0"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arn(inHorizontal)">
                                      <p:cBhvr>
                                        <p:cTn id="20"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1"/>
          <p:cNvSpPr>
            <a:spLocks noGrp="1"/>
          </p:cNvSpPr>
          <p:nvPr>
            <p:ph type="body" sz="quarter" idx="14"/>
          </p:nvPr>
        </p:nvSpPr>
        <p:spPr>
          <a:xfrm>
            <a:off x="370205" y="276860"/>
            <a:ext cx="6965315" cy="593090"/>
          </a:xfrm>
        </p:spPr>
        <p:txBody>
          <a:bodyPr/>
          <a:lstStyle/>
          <a:p>
            <a:r>
              <a:rPr lang="en-US" altLang="zh-CN" dirty="0"/>
              <a:t>5.3 </a:t>
            </a:r>
            <a:r>
              <a:rPr lang="zh-CN" altLang="en-US" dirty="0"/>
              <a:t>数据类型和类型检查</a:t>
            </a:r>
            <a:endParaRPr lang="zh-CN" altLang="en-US" dirty="0"/>
          </a:p>
        </p:txBody>
      </p:sp>
      <p:sp>
        <p:nvSpPr>
          <p:cNvPr id="7" name="Rectangle 2"/>
          <p:cNvSpPr>
            <a:spLocks noChangeArrowheads="1"/>
          </p:cNvSpPr>
          <p:nvPr/>
        </p:nvSpPr>
        <p:spPr bwMode="auto">
          <a:xfrm>
            <a:off x="419735" y="1289050"/>
            <a:ext cx="115747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a:solidFill>
                  <a:srgbClr val="000000"/>
                </a:solidFill>
                <a:latin typeface="宋体" panose="02010600030101010101" pitchFamily="2" charset="-122"/>
              </a:rPr>
              <a:t>下面对一个语言语义分析动作方面的类型检查器进行描述，</a:t>
            </a:r>
            <a:r>
              <a:rPr lang="zh-CN" altLang="en-US" sz="2400" b="1">
                <a:solidFill>
                  <a:srgbClr val="000000"/>
                </a:solidFill>
                <a:latin typeface="宋体" panose="02010600030101010101" pitchFamily="2" charset="-122"/>
              </a:rPr>
              <a:t>其语法描述如下：</a:t>
            </a:r>
            <a:endParaRPr lang="zh-CN" altLang="en-US" sz="2400" b="1">
              <a:solidFill>
                <a:srgbClr val="000000"/>
              </a:solidFill>
              <a:latin typeface="宋体" panose="02010600030101010101" pitchFamily="2" charset="-122"/>
            </a:endParaRPr>
          </a:p>
        </p:txBody>
      </p:sp>
      <p:sp>
        <p:nvSpPr>
          <p:cNvPr id="8" name="Rectangle 5"/>
          <p:cNvSpPr txBox="1">
            <a:spLocks noChangeArrowheads="1"/>
          </p:cNvSpPr>
          <p:nvPr/>
        </p:nvSpPr>
        <p:spPr>
          <a:xfrm>
            <a:off x="514350" y="1837055"/>
            <a:ext cx="6175375" cy="40424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en-US" altLang="zh-CN" sz="2400" b="1" i="1" dirty="0">
                <a:solidFill>
                  <a:srgbClr val="FF3399"/>
                </a:solidFill>
              </a:rPr>
              <a:t>var-</a:t>
            </a:r>
            <a:r>
              <a:rPr lang="en-US" altLang="zh-CN" sz="2400" b="1" i="1" dirty="0" err="1">
                <a:solidFill>
                  <a:srgbClr val="FF3399"/>
                </a:solidFill>
              </a:rPr>
              <a:t>decl</a:t>
            </a:r>
            <a:r>
              <a:rPr lang="en-US" altLang="zh-CN" sz="2400" b="1" dirty="0">
                <a:solidFill>
                  <a:srgbClr val="FF3399"/>
                </a:solidFill>
                <a:latin typeface="宋体" panose="02010600030101010101" pitchFamily="2" charset="-122"/>
              </a:rPr>
              <a:t>→ </a:t>
            </a:r>
            <a:r>
              <a:rPr lang="en-US" altLang="zh-CN" sz="2400" b="1" dirty="0" err="1">
                <a:solidFill>
                  <a:srgbClr val="FF3399"/>
                </a:solidFill>
              </a:rPr>
              <a:t>id:</a:t>
            </a:r>
            <a:r>
              <a:rPr lang="en-US" altLang="zh-CN" sz="2400" b="1" i="1" dirty="0" err="1">
                <a:solidFill>
                  <a:srgbClr val="FF3399"/>
                </a:solidFill>
              </a:rPr>
              <a:t>type-exp</a:t>
            </a:r>
            <a:r>
              <a:rPr lang="en-US" altLang="zh-CN" sz="2400" b="1" dirty="0">
                <a:solidFill>
                  <a:srgbClr val="000000"/>
                </a:solidFill>
                <a:latin typeface="宋体" panose="02010600030101010101" pitchFamily="2" charset="-122"/>
              </a:rPr>
              <a:t> </a:t>
            </a:r>
            <a:endParaRPr lang="en-US" altLang="zh-CN" sz="2400" b="1" dirty="0">
              <a:solidFill>
                <a:srgbClr val="000000"/>
              </a:solidFill>
              <a:latin typeface="宋体" panose="02010600030101010101" pitchFamily="2" charset="-122"/>
            </a:endParaRPr>
          </a:p>
          <a:p>
            <a:pPr>
              <a:lnSpc>
                <a:spcPct val="85000"/>
              </a:lnSpc>
              <a:buFont typeface="Wingdings" panose="05000000000000000000" pitchFamily="2" charset="2"/>
              <a:buNone/>
            </a:pPr>
            <a:r>
              <a:rPr lang="en-US" altLang="zh-CN" sz="2400" b="1" i="1" dirty="0" err="1">
                <a:solidFill>
                  <a:srgbClr val="FF3399"/>
                </a:solidFill>
              </a:rPr>
              <a:t>type-exp</a:t>
            </a:r>
            <a:r>
              <a:rPr lang="en-US" altLang="zh-CN" sz="2400" b="1" dirty="0" err="1">
                <a:solidFill>
                  <a:srgbClr val="FF3399"/>
                </a:solidFill>
                <a:latin typeface="宋体" panose="02010600030101010101" pitchFamily="2" charset="-122"/>
              </a:rPr>
              <a:t>→</a:t>
            </a:r>
            <a:r>
              <a:rPr lang="en-US" altLang="zh-CN" sz="2400" b="1" dirty="0" err="1">
                <a:solidFill>
                  <a:srgbClr val="FF3399"/>
                </a:solidFill>
              </a:rPr>
              <a:t>int</a:t>
            </a:r>
            <a:endParaRPr lang="en-US" altLang="zh-CN" sz="2400" b="1" dirty="0">
              <a:solidFill>
                <a:srgbClr val="FF3399"/>
              </a:solidFill>
            </a:endParaRPr>
          </a:p>
          <a:p>
            <a:pPr>
              <a:lnSpc>
                <a:spcPct val="85000"/>
              </a:lnSpc>
              <a:buFont typeface="Wingdings" panose="05000000000000000000" pitchFamily="2" charset="2"/>
              <a:buNone/>
            </a:pPr>
            <a:r>
              <a:rPr lang="en-US" altLang="zh-CN" sz="2400" b="1" i="1" dirty="0" err="1">
                <a:solidFill>
                  <a:srgbClr val="FF3399"/>
                </a:solidFill>
              </a:rPr>
              <a:t>type-exp</a:t>
            </a:r>
            <a:r>
              <a:rPr lang="en-US" altLang="zh-CN" sz="2400" b="1" dirty="0" err="1">
                <a:solidFill>
                  <a:srgbClr val="FF3399"/>
                </a:solidFill>
              </a:rPr>
              <a:t>→bool</a:t>
            </a:r>
            <a:endParaRPr lang="en-US" altLang="zh-CN" sz="2400" b="1" dirty="0">
              <a:solidFill>
                <a:srgbClr val="FF3399"/>
              </a:solidFill>
            </a:endParaRPr>
          </a:p>
          <a:p>
            <a:pPr>
              <a:lnSpc>
                <a:spcPct val="85000"/>
              </a:lnSpc>
              <a:buFont typeface="Wingdings" panose="05000000000000000000" pitchFamily="2" charset="2"/>
              <a:buNone/>
            </a:pPr>
            <a:r>
              <a:rPr lang="en-US" altLang="zh-CN" sz="2400" b="1" i="1" dirty="0">
                <a:solidFill>
                  <a:srgbClr val="FF3399"/>
                </a:solidFill>
              </a:rPr>
              <a:t>type-exp</a:t>
            </a:r>
            <a:r>
              <a:rPr lang="en-US" altLang="zh-CN" sz="2400" b="1" i="1" baseline="-25000" dirty="0">
                <a:solidFill>
                  <a:srgbClr val="FF3399"/>
                </a:solidFill>
              </a:rPr>
              <a:t>1</a:t>
            </a:r>
            <a:r>
              <a:rPr lang="en-US" altLang="zh-CN" sz="2400" b="1" dirty="0">
                <a:solidFill>
                  <a:srgbClr val="FF3399"/>
                </a:solidFill>
              </a:rPr>
              <a:t>→array[num] of </a:t>
            </a:r>
            <a:r>
              <a:rPr lang="en-US" altLang="zh-CN" sz="2400" b="1" i="1" dirty="0">
                <a:solidFill>
                  <a:srgbClr val="FF3399"/>
                </a:solidFill>
              </a:rPr>
              <a:t>type-exp</a:t>
            </a:r>
            <a:r>
              <a:rPr lang="en-US" altLang="zh-CN" sz="2400" b="1" i="1" baseline="-25000" dirty="0">
                <a:solidFill>
                  <a:srgbClr val="FF3399"/>
                </a:solidFill>
              </a:rPr>
              <a:t>2</a:t>
            </a:r>
            <a:endParaRPr lang="en-US" altLang="zh-CN" sz="2400" b="1" i="1" baseline="-25000" dirty="0">
              <a:solidFill>
                <a:srgbClr val="FF3399"/>
              </a:solidFill>
            </a:endParaRPr>
          </a:p>
          <a:p>
            <a:pPr>
              <a:lnSpc>
                <a:spcPct val="85000"/>
              </a:lnSpc>
              <a:buFont typeface="Wingdings" panose="05000000000000000000" pitchFamily="2" charset="2"/>
              <a:buNone/>
            </a:pPr>
            <a:r>
              <a:rPr lang="en-US" altLang="zh-CN" sz="2400" b="1" i="1" dirty="0">
                <a:solidFill>
                  <a:srgbClr val="FF3399"/>
                </a:solidFill>
              </a:rPr>
              <a:t>exp</a:t>
            </a:r>
            <a:r>
              <a:rPr lang="en-US" altLang="zh-CN" sz="2400" b="1" i="1" baseline="-25000" dirty="0">
                <a:solidFill>
                  <a:srgbClr val="FF3399"/>
                </a:solidFill>
              </a:rPr>
              <a:t>1</a:t>
            </a:r>
            <a:r>
              <a:rPr lang="en-US" altLang="zh-CN" sz="2400" b="1" i="1" dirty="0">
                <a:solidFill>
                  <a:srgbClr val="FF3399"/>
                </a:solidFill>
              </a:rPr>
              <a:t>→exp</a:t>
            </a:r>
            <a:r>
              <a:rPr lang="en-US" altLang="zh-CN" sz="2400" b="1" i="1" baseline="-25000" dirty="0">
                <a:solidFill>
                  <a:srgbClr val="FF3399"/>
                </a:solidFill>
              </a:rPr>
              <a:t>2</a:t>
            </a:r>
            <a:r>
              <a:rPr lang="en-US" altLang="zh-CN" sz="2400" b="1" i="1" dirty="0">
                <a:solidFill>
                  <a:srgbClr val="FF3399"/>
                </a:solidFill>
              </a:rPr>
              <a:t>+exp</a:t>
            </a:r>
            <a:r>
              <a:rPr lang="en-US" altLang="zh-CN" sz="2400" b="1" i="1" baseline="-25000" dirty="0">
                <a:solidFill>
                  <a:srgbClr val="FF3399"/>
                </a:solidFill>
              </a:rPr>
              <a:t>3</a:t>
            </a:r>
            <a:endParaRPr lang="en-US" altLang="zh-CN" sz="2400" b="1" i="1" baseline="-25000" dirty="0">
              <a:solidFill>
                <a:srgbClr val="FF3399"/>
              </a:solidFill>
            </a:endParaRPr>
          </a:p>
          <a:p>
            <a:pPr>
              <a:lnSpc>
                <a:spcPct val="85000"/>
              </a:lnSpc>
              <a:spcBef>
                <a:spcPct val="50000"/>
              </a:spcBef>
              <a:buFontTx/>
              <a:buNone/>
            </a:pPr>
            <a:r>
              <a:rPr lang="en-US" altLang="zh-CN" sz="2400" b="1" i="1" dirty="0">
                <a:solidFill>
                  <a:srgbClr val="FF3399"/>
                </a:solidFill>
              </a:rPr>
              <a:t>exp</a:t>
            </a:r>
            <a:r>
              <a:rPr lang="en-US" altLang="zh-CN" sz="2400" b="1" i="1" baseline="-25000" dirty="0">
                <a:solidFill>
                  <a:srgbClr val="FF3399"/>
                </a:solidFill>
              </a:rPr>
              <a:t>1</a:t>
            </a:r>
            <a:r>
              <a:rPr lang="en-US" altLang="zh-CN" sz="2400" b="1" i="1" dirty="0">
                <a:solidFill>
                  <a:srgbClr val="FF3399"/>
                </a:solidFill>
              </a:rPr>
              <a:t>→exp</a:t>
            </a:r>
            <a:r>
              <a:rPr lang="en-US" altLang="zh-CN" sz="2400" b="1" i="1" baseline="-25000" dirty="0">
                <a:solidFill>
                  <a:srgbClr val="FF3399"/>
                </a:solidFill>
              </a:rPr>
              <a:t>2</a:t>
            </a:r>
            <a:r>
              <a:rPr lang="en-US" altLang="zh-CN" sz="2400" b="1" i="1" dirty="0">
                <a:solidFill>
                  <a:srgbClr val="FF3399"/>
                </a:solidFill>
              </a:rPr>
              <a:t> or exp</a:t>
            </a:r>
            <a:r>
              <a:rPr lang="en-US" altLang="zh-CN" sz="2400" b="1" i="1" baseline="-25000" dirty="0">
                <a:solidFill>
                  <a:srgbClr val="FF3399"/>
                </a:solidFill>
              </a:rPr>
              <a:t>3</a:t>
            </a:r>
            <a:endParaRPr lang="en-US" altLang="zh-CN" sz="2400" b="1" i="1" baseline="-25000" dirty="0">
              <a:solidFill>
                <a:srgbClr val="FF3399"/>
              </a:solidFill>
            </a:endParaRPr>
          </a:p>
          <a:p>
            <a:pPr>
              <a:lnSpc>
                <a:spcPct val="85000"/>
              </a:lnSpc>
              <a:spcBef>
                <a:spcPct val="50000"/>
              </a:spcBef>
              <a:buFontTx/>
              <a:buNone/>
            </a:pPr>
            <a:r>
              <a:rPr lang="en-US" altLang="zh-CN" sz="2400" b="1" i="1" dirty="0">
                <a:solidFill>
                  <a:srgbClr val="FF3399"/>
                </a:solidFill>
              </a:rPr>
              <a:t>exp</a:t>
            </a:r>
            <a:r>
              <a:rPr lang="en-US" altLang="zh-CN" sz="2400" b="1" i="1" baseline="-25000" dirty="0">
                <a:solidFill>
                  <a:srgbClr val="FF3399"/>
                </a:solidFill>
              </a:rPr>
              <a:t>1</a:t>
            </a:r>
            <a:r>
              <a:rPr lang="en-US" altLang="zh-CN" sz="2400" b="1" i="1" dirty="0">
                <a:solidFill>
                  <a:srgbClr val="FF3399"/>
                </a:solidFill>
              </a:rPr>
              <a:t>→exp</a:t>
            </a:r>
            <a:r>
              <a:rPr lang="en-US" altLang="zh-CN" sz="2400" b="1" i="1" baseline="-25000" dirty="0">
                <a:solidFill>
                  <a:srgbClr val="FF3399"/>
                </a:solidFill>
              </a:rPr>
              <a:t>2</a:t>
            </a:r>
            <a:r>
              <a:rPr lang="en-US" altLang="zh-CN" sz="2400" b="1" i="1" dirty="0">
                <a:solidFill>
                  <a:srgbClr val="FF3399"/>
                </a:solidFill>
              </a:rPr>
              <a:t>[exp</a:t>
            </a:r>
            <a:r>
              <a:rPr lang="en-US" altLang="zh-CN" sz="2400" b="1" i="1" baseline="-25000" dirty="0">
                <a:solidFill>
                  <a:srgbClr val="FF3399"/>
                </a:solidFill>
              </a:rPr>
              <a:t>3</a:t>
            </a:r>
            <a:r>
              <a:rPr lang="en-US" altLang="zh-CN" sz="2400" b="1" i="1" dirty="0">
                <a:solidFill>
                  <a:srgbClr val="FF3399"/>
                </a:solidFill>
              </a:rPr>
              <a:t>]</a:t>
            </a:r>
            <a:endParaRPr lang="en-US" altLang="zh-CN" sz="2400" b="1" i="1" dirty="0">
              <a:solidFill>
                <a:srgbClr val="FF3399"/>
              </a:solidFill>
            </a:endParaRPr>
          </a:p>
          <a:p>
            <a:pPr>
              <a:lnSpc>
                <a:spcPct val="70000"/>
              </a:lnSpc>
              <a:spcBef>
                <a:spcPct val="50000"/>
              </a:spcBef>
              <a:buFontTx/>
              <a:buNone/>
            </a:pPr>
            <a:r>
              <a:rPr lang="en-US" altLang="zh-CN" sz="2400" b="1" i="1" dirty="0" err="1">
                <a:solidFill>
                  <a:srgbClr val="FF3399"/>
                </a:solidFill>
                <a:sym typeface="+mn-ea"/>
              </a:rPr>
              <a:t>exp</a:t>
            </a:r>
            <a:r>
              <a:rPr lang="en-US" altLang="zh-CN" sz="2400" b="1" dirty="0" err="1">
                <a:solidFill>
                  <a:srgbClr val="FF3399"/>
                </a:solidFill>
                <a:sym typeface="+mn-ea"/>
              </a:rPr>
              <a:t>→num</a:t>
            </a:r>
            <a:endParaRPr lang="en-US" altLang="zh-CN" sz="2400" b="1" dirty="0">
              <a:solidFill>
                <a:srgbClr val="FF3399"/>
              </a:solidFill>
            </a:endParaRPr>
          </a:p>
          <a:p>
            <a:pPr>
              <a:lnSpc>
                <a:spcPct val="70000"/>
              </a:lnSpc>
              <a:spcBef>
                <a:spcPct val="50000"/>
              </a:spcBef>
              <a:buFontTx/>
              <a:buNone/>
            </a:pPr>
            <a:r>
              <a:rPr lang="en-US" altLang="zh-CN" sz="2400" b="1" i="1" dirty="0" err="1">
                <a:solidFill>
                  <a:srgbClr val="FF3399"/>
                </a:solidFill>
                <a:sym typeface="+mn-ea"/>
              </a:rPr>
              <a:t>exp</a:t>
            </a:r>
            <a:r>
              <a:rPr lang="en-US" altLang="zh-CN" sz="2400" b="1" dirty="0" err="1">
                <a:solidFill>
                  <a:srgbClr val="FF3399"/>
                </a:solidFill>
                <a:sym typeface="+mn-ea"/>
              </a:rPr>
              <a:t>→true</a:t>
            </a:r>
            <a:endParaRPr lang="zh-CN" altLang="en-US" sz="2400" b="1" i="1" dirty="0">
              <a:solidFill>
                <a:srgbClr val="FF3399"/>
              </a:solidFill>
            </a:endParaRPr>
          </a:p>
        </p:txBody>
      </p:sp>
      <p:sp>
        <p:nvSpPr>
          <p:cNvPr id="9" name="Rectangle 13"/>
          <p:cNvSpPr txBox="1">
            <a:spLocks noChangeArrowheads="1"/>
          </p:cNvSpPr>
          <p:nvPr/>
        </p:nvSpPr>
        <p:spPr>
          <a:xfrm>
            <a:off x="5328285" y="1837055"/>
            <a:ext cx="3048000" cy="17722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70000"/>
              </a:lnSpc>
              <a:spcBef>
                <a:spcPct val="50000"/>
              </a:spcBef>
              <a:buFontTx/>
              <a:buNone/>
            </a:pPr>
            <a:r>
              <a:rPr lang="en-US" altLang="zh-CN" sz="2400" b="1" i="1" dirty="0" err="1">
                <a:solidFill>
                  <a:srgbClr val="FF3399"/>
                </a:solidFill>
              </a:rPr>
              <a:t>exp</a:t>
            </a:r>
            <a:r>
              <a:rPr lang="en-US" altLang="zh-CN" sz="2400" b="1" dirty="0" err="1">
                <a:solidFill>
                  <a:srgbClr val="FF3399"/>
                </a:solidFill>
              </a:rPr>
              <a:t>→false</a:t>
            </a:r>
            <a:endParaRPr lang="en-US" altLang="zh-CN" sz="2400" b="1" dirty="0">
              <a:solidFill>
                <a:srgbClr val="FF3399"/>
              </a:solidFill>
            </a:endParaRPr>
          </a:p>
          <a:p>
            <a:pPr>
              <a:lnSpc>
                <a:spcPct val="70000"/>
              </a:lnSpc>
              <a:spcBef>
                <a:spcPct val="50000"/>
              </a:spcBef>
              <a:buFontTx/>
              <a:buNone/>
            </a:pPr>
            <a:r>
              <a:rPr lang="en-US" altLang="zh-CN" sz="2400" b="1" i="1" dirty="0" err="1">
                <a:solidFill>
                  <a:srgbClr val="FF3399"/>
                </a:solidFill>
              </a:rPr>
              <a:t>exp</a:t>
            </a:r>
            <a:r>
              <a:rPr lang="en-US" altLang="zh-CN" sz="2400" b="1" dirty="0" err="1">
                <a:solidFill>
                  <a:srgbClr val="FF3399"/>
                </a:solidFill>
              </a:rPr>
              <a:t>→id</a:t>
            </a:r>
            <a:endParaRPr lang="en-US" altLang="zh-CN" sz="2400" b="1" dirty="0">
              <a:solidFill>
                <a:srgbClr val="FF3399"/>
              </a:solidFill>
            </a:endParaRPr>
          </a:p>
          <a:p>
            <a:pPr>
              <a:lnSpc>
                <a:spcPct val="70000"/>
              </a:lnSpc>
              <a:spcBef>
                <a:spcPct val="50000"/>
              </a:spcBef>
              <a:buFontTx/>
              <a:buNone/>
            </a:pPr>
            <a:r>
              <a:rPr lang="en-US" altLang="zh-CN" sz="2400" b="1" i="1" dirty="0" err="1">
                <a:solidFill>
                  <a:srgbClr val="FF3399"/>
                </a:solidFill>
              </a:rPr>
              <a:t>stmt</a:t>
            </a:r>
            <a:r>
              <a:rPr lang="en-US" altLang="zh-CN" sz="2400" b="1" dirty="0" err="1">
                <a:solidFill>
                  <a:srgbClr val="FF3399"/>
                </a:solidFill>
              </a:rPr>
              <a:t>→if</a:t>
            </a:r>
            <a:r>
              <a:rPr lang="en-US" altLang="zh-CN" sz="2400" b="1" dirty="0">
                <a:solidFill>
                  <a:srgbClr val="FF3399"/>
                </a:solidFill>
              </a:rPr>
              <a:t> </a:t>
            </a:r>
            <a:r>
              <a:rPr lang="en-US" altLang="zh-CN" sz="2400" b="1" i="1" dirty="0">
                <a:solidFill>
                  <a:srgbClr val="FF3399"/>
                </a:solidFill>
              </a:rPr>
              <a:t>exp</a:t>
            </a:r>
            <a:r>
              <a:rPr lang="en-US" altLang="zh-CN" sz="2400" b="1" dirty="0">
                <a:solidFill>
                  <a:srgbClr val="FF3399"/>
                </a:solidFill>
              </a:rPr>
              <a:t> then </a:t>
            </a:r>
            <a:r>
              <a:rPr lang="en-US" altLang="zh-CN" sz="2400" b="1" i="1" dirty="0" err="1">
                <a:solidFill>
                  <a:srgbClr val="FF3399"/>
                </a:solidFill>
              </a:rPr>
              <a:t>stmt</a:t>
            </a:r>
            <a:endParaRPr lang="en-US" altLang="zh-CN" sz="2400" b="1" i="1" dirty="0">
              <a:solidFill>
                <a:srgbClr val="FF3399"/>
              </a:solidFill>
            </a:endParaRPr>
          </a:p>
          <a:p>
            <a:pPr>
              <a:lnSpc>
                <a:spcPct val="70000"/>
              </a:lnSpc>
              <a:spcBef>
                <a:spcPct val="50000"/>
              </a:spcBef>
              <a:buFontTx/>
              <a:buNone/>
            </a:pPr>
            <a:r>
              <a:rPr lang="en-US" altLang="zh-CN" sz="2400" b="1" i="1" dirty="0" err="1">
                <a:solidFill>
                  <a:srgbClr val="FF3399"/>
                </a:solidFill>
              </a:rPr>
              <a:t>stmt</a:t>
            </a:r>
            <a:r>
              <a:rPr lang="en-US" altLang="zh-CN" sz="2400" b="1" dirty="0">
                <a:solidFill>
                  <a:srgbClr val="FF3399"/>
                </a:solidFill>
              </a:rPr>
              <a:t>→ id:=</a:t>
            </a:r>
            <a:r>
              <a:rPr lang="en-US" altLang="zh-CN" sz="2400" b="1" i="1" dirty="0">
                <a:solidFill>
                  <a:srgbClr val="FF3399"/>
                </a:solidFill>
              </a:rPr>
              <a:t>exp</a:t>
            </a:r>
            <a:endParaRPr lang="zh-CN" altLang="en-US" sz="2400" b="1" i="1" dirty="0">
              <a:solidFill>
                <a:srgbClr val="FF3399"/>
              </a:solidFill>
            </a:endParaRPr>
          </a:p>
        </p:txBody>
      </p:sp>
      <p:sp>
        <p:nvSpPr>
          <p:cNvPr id="2" name="文本框 1"/>
          <p:cNvSpPr txBox="1"/>
          <p:nvPr/>
        </p:nvSpPr>
        <p:spPr>
          <a:xfrm>
            <a:off x="3357880" y="3521075"/>
            <a:ext cx="8375015" cy="1014730"/>
          </a:xfrm>
          <a:prstGeom prst="rect">
            <a:avLst/>
          </a:prstGeom>
          <a:noFill/>
        </p:spPr>
        <p:txBody>
          <a:bodyPr wrap="square" rtlCol="0" anchor="t">
            <a:spAutoFit/>
          </a:bodyPr>
          <a:p>
            <a:pPr>
              <a:lnSpc>
                <a:spcPct val="125000"/>
              </a:lnSpc>
              <a:spcBef>
                <a:spcPts val="0"/>
              </a:spcBef>
              <a:spcAft>
                <a:spcPts val="0"/>
              </a:spcAft>
              <a:buFont typeface="Wingdings" panose="05000000000000000000" charset="0"/>
              <a:buChar char="p"/>
            </a:pPr>
            <a:r>
              <a:rPr lang="zh-CN" altLang="en-US" sz="2400" b="1" dirty="0">
                <a:latin typeface="+mn-ea"/>
                <a:sym typeface="+mn-ea"/>
              </a:rPr>
              <a:t>该语言从三个方面来撰写其类型检查方面的语义规则。</a:t>
            </a:r>
            <a:r>
              <a:rPr lang="en-US" altLang="zh-CN" sz="2400" b="1" dirty="0">
                <a:latin typeface="+mn-ea"/>
                <a:sym typeface="+mn-ea"/>
              </a:rPr>
              <a:t>1</a:t>
            </a:r>
            <a:r>
              <a:rPr lang="zh-CN" altLang="en-US" sz="2400" b="1" dirty="0">
                <a:latin typeface="+mn-ea"/>
                <a:sym typeface="+mn-ea"/>
              </a:rPr>
              <a:t>）类型声明；</a:t>
            </a:r>
            <a:r>
              <a:rPr lang="en-US" altLang="zh-CN" sz="2400" b="1" dirty="0">
                <a:latin typeface="+mn-ea"/>
                <a:sym typeface="+mn-ea"/>
              </a:rPr>
              <a:t>2</a:t>
            </a:r>
            <a:r>
              <a:rPr lang="zh-CN" altLang="en-US" sz="2400" b="1" dirty="0">
                <a:latin typeface="+mn-ea"/>
                <a:sym typeface="+mn-ea"/>
              </a:rPr>
              <a:t>）表达式类型检查；</a:t>
            </a:r>
            <a:r>
              <a:rPr lang="en-US" altLang="zh-CN" sz="2400" b="1" dirty="0">
                <a:latin typeface="+mn-ea"/>
                <a:sym typeface="+mn-ea"/>
              </a:rPr>
              <a:t>3</a:t>
            </a:r>
            <a:r>
              <a:rPr lang="zh-CN" altLang="en-US" sz="2400" b="1" dirty="0">
                <a:latin typeface="+mn-ea"/>
                <a:sym typeface="+mn-ea"/>
              </a:rPr>
              <a:t>）语句类型检查；</a:t>
            </a:r>
            <a:endParaRPr lang="zh-CN" altLang="en-US" sz="2400" b="1" dirty="0">
              <a:latin typeface="+mn-ea"/>
              <a:sym typeface="+mn-ea"/>
            </a:endParaRPr>
          </a:p>
        </p:txBody>
      </p:sp>
      <p:sp>
        <p:nvSpPr>
          <p:cNvPr id="3" name="文本框 2"/>
          <p:cNvSpPr txBox="1"/>
          <p:nvPr/>
        </p:nvSpPr>
        <p:spPr>
          <a:xfrm>
            <a:off x="3357880" y="4405630"/>
            <a:ext cx="6096000" cy="1938020"/>
          </a:xfrm>
          <a:prstGeom prst="rect">
            <a:avLst/>
          </a:prstGeom>
          <a:noFill/>
        </p:spPr>
        <p:txBody>
          <a:bodyPr wrap="square" rtlCol="0" anchor="t">
            <a:spAutoFit/>
          </a:bodyPr>
          <a:p>
            <a:pPr>
              <a:lnSpc>
                <a:spcPct val="125000"/>
              </a:lnSpc>
              <a:spcBef>
                <a:spcPts val="0"/>
              </a:spcBef>
              <a:spcAft>
                <a:spcPts val="0"/>
              </a:spcAft>
              <a:buFont typeface="Wingdings" panose="05000000000000000000" charset="0"/>
              <a:buChar char="p"/>
            </a:pPr>
            <a:r>
              <a:rPr lang="zh-CN" altLang="en-US" sz="2400" b="1" dirty="0">
                <a:latin typeface="+mn-ea"/>
                <a:sym typeface="+mn-ea"/>
              </a:rPr>
              <a:t>变量声明举例：</a:t>
            </a:r>
            <a:endParaRPr lang="en-US" altLang="zh-CN" sz="2400" b="1" dirty="0">
              <a:latin typeface="+mn-ea"/>
            </a:endParaRPr>
          </a:p>
          <a:p>
            <a:pPr lvl="1">
              <a:lnSpc>
                <a:spcPct val="125000"/>
              </a:lnSpc>
              <a:spcBef>
                <a:spcPts val="0"/>
              </a:spcBef>
              <a:spcAft>
                <a:spcPts val="0"/>
              </a:spcAft>
              <a:buFont typeface="Wingdings" panose="05000000000000000000" charset="0"/>
              <a:buChar char="p"/>
            </a:pPr>
            <a:r>
              <a:rPr lang="en-US" altLang="zh-CN" sz="2400" b="1" dirty="0">
                <a:latin typeface="+mn-ea"/>
                <a:sym typeface="+mn-ea"/>
              </a:rPr>
              <a:t>a: array[4] of int</a:t>
            </a:r>
            <a:endParaRPr lang="en-US" altLang="zh-CN" sz="2400" b="1" dirty="0">
              <a:latin typeface="+mn-ea"/>
            </a:endParaRPr>
          </a:p>
          <a:p>
            <a:pPr lvl="1">
              <a:lnSpc>
                <a:spcPct val="125000"/>
              </a:lnSpc>
              <a:spcBef>
                <a:spcPts val="0"/>
              </a:spcBef>
              <a:spcAft>
                <a:spcPts val="0"/>
              </a:spcAft>
              <a:buFont typeface="Wingdings" panose="05000000000000000000" charset="0"/>
              <a:buChar char="p"/>
            </a:pPr>
            <a:r>
              <a:rPr lang="en-US" altLang="zh-CN" sz="2400" b="1" dirty="0">
                <a:latin typeface="+mn-ea"/>
                <a:sym typeface="+mn-ea"/>
              </a:rPr>
              <a:t>y:bool</a:t>
            </a:r>
            <a:endParaRPr lang="en-US" altLang="zh-CN" sz="2400" b="1" dirty="0">
              <a:latin typeface="+mn-ea"/>
            </a:endParaRPr>
          </a:p>
          <a:p>
            <a:pPr lvl="1">
              <a:lnSpc>
                <a:spcPct val="125000"/>
              </a:lnSpc>
              <a:spcBef>
                <a:spcPts val="0"/>
              </a:spcBef>
              <a:spcAft>
                <a:spcPts val="0"/>
              </a:spcAft>
              <a:buFont typeface="Wingdings" panose="05000000000000000000" charset="0"/>
              <a:buChar char="p"/>
            </a:pPr>
            <a:r>
              <a:rPr lang="en-US" altLang="zh-CN" sz="2400" b="1" dirty="0">
                <a:latin typeface="+mn-ea"/>
                <a:sym typeface="+mn-ea"/>
              </a:rPr>
              <a:t>y:= a[3]</a:t>
            </a:r>
            <a:endParaRPr lang="en-US" altLang="zh-CN" sz="2400" b="1" dirty="0">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Horizont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barn(inHorizontal)">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barn(inHorizontal)">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barn(inHorizontal)">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barn(inHorizontal)">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barn(inHorizontal)">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barn(inHorizontal)">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barn(inHorizontal)">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grpId="0"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barn(inHorizontal)">
                                      <p:cBhvr>
                                        <p:cTn id="47" dur="500"/>
                                        <p:tgtEl>
                                          <p:spTgt spid="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grpId="0" nodeType="clickEffect">
                                  <p:stCondLst>
                                    <p:cond delay="0"/>
                                  </p:stCondLst>
                                  <p:childTnLst>
                                    <p:set>
                                      <p:cBhvr>
                                        <p:cTn id="51" dur="1" fill="hold">
                                          <p:stCondLst>
                                            <p:cond delay="0"/>
                                          </p:stCondLst>
                                        </p:cTn>
                                        <p:tgtEl>
                                          <p:spTgt spid="9">
                                            <p:txEl>
                                              <p:pRg st="0" end="0"/>
                                            </p:txEl>
                                          </p:spTgt>
                                        </p:tgtEl>
                                        <p:attrNameLst>
                                          <p:attrName>style.visibility</p:attrName>
                                        </p:attrNameLst>
                                      </p:cBhvr>
                                      <p:to>
                                        <p:strVal val="visible"/>
                                      </p:to>
                                    </p:set>
                                    <p:animEffect transition="in" filter="barn(inHorizontal)">
                                      <p:cBhvr>
                                        <p:cTn id="52" dur="500"/>
                                        <p:tgtEl>
                                          <p:spTgt spid="9">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grpId="0" nodeType="clickEffect">
                                  <p:stCondLst>
                                    <p:cond delay="0"/>
                                  </p:stCondLst>
                                  <p:childTnLst>
                                    <p:set>
                                      <p:cBhvr>
                                        <p:cTn id="56" dur="1" fill="hold">
                                          <p:stCondLst>
                                            <p:cond delay="0"/>
                                          </p:stCondLst>
                                        </p:cTn>
                                        <p:tgtEl>
                                          <p:spTgt spid="9">
                                            <p:txEl>
                                              <p:pRg st="1" end="1"/>
                                            </p:txEl>
                                          </p:spTgt>
                                        </p:tgtEl>
                                        <p:attrNameLst>
                                          <p:attrName>style.visibility</p:attrName>
                                        </p:attrNameLst>
                                      </p:cBhvr>
                                      <p:to>
                                        <p:strVal val="visible"/>
                                      </p:to>
                                    </p:set>
                                    <p:animEffect transition="in" filter="barn(inHorizontal)">
                                      <p:cBhvr>
                                        <p:cTn id="57" dur="500"/>
                                        <p:tgtEl>
                                          <p:spTgt spid="9">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6" fill="hold" grpId="0" nodeType="clickEffect">
                                  <p:stCondLst>
                                    <p:cond delay="0"/>
                                  </p:stCondLst>
                                  <p:childTnLst>
                                    <p:set>
                                      <p:cBhvr>
                                        <p:cTn id="61" dur="1" fill="hold">
                                          <p:stCondLst>
                                            <p:cond delay="0"/>
                                          </p:stCondLst>
                                        </p:cTn>
                                        <p:tgtEl>
                                          <p:spTgt spid="9">
                                            <p:txEl>
                                              <p:pRg st="2" end="2"/>
                                            </p:txEl>
                                          </p:spTgt>
                                        </p:tgtEl>
                                        <p:attrNameLst>
                                          <p:attrName>style.visibility</p:attrName>
                                        </p:attrNameLst>
                                      </p:cBhvr>
                                      <p:to>
                                        <p:strVal val="visible"/>
                                      </p:to>
                                    </p:set>
                                    <p:animEffect transition="in" filter="barn(inHorizontal)">
                                      <p:cBhvr>
                                        <p:cTn id="62" dur="500"/>
                                        <p:tgtEl>
                                          <p:spTgt spid="9">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6" fill="hold" grpId="0" nodeType="clickEffect">
                                  <p:stCondLst>
                                    <p:cond delay="0"/>
                                  </p:stCondLst>
                                  <p:childTnLst>
                                    <p:set>
                                      <p:cBhvr>
                                        <p:cTn id="66" dur="1" fill="hold">
                                          <p:stCondLst>
                                            <p:cond delay="0"/>
                                          </p:stCondLst>
                                        </p:cTn>
                                        <p:tgtEl>
                                          <p:spTgt spid="9">
                                            <p:txEl>
                                              <p:pRg st="3" end="3"/>
                                            </p:txEl>
                                          </p:spTgt>
                                        </p:tgtEl>
                                        <p:attrNameLst>
                                          <p:attrName>style.visibility</p:attrName>
                                        </p:attrNameLst>
                                      </p:cBhvr>
                                      <p:to>
                                        <p:strVal val="visible"/>
                                      </p:to>
                                    </p:set>
                                    <p:animEffect transition="in" filter="barn(inHorizontal)">
                                      <p:cBhvr>
                                        <p:cTn id="67" dur="500"/>
                                        <p:tgtEl>
                                          <p:spTgt spid="9">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2" grpId="0"/>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476568" y="1383983"/>
            <a:ext cx="7391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rgbClr val="0070C0"/>
                </a:solidFill>
                <a:latin typeface="+mn-ea"/>
              </a:rPr>
              <a:t>1</a:t>
            </a:r>
            <a:r>
              <a:rPr lang="zh-CN" altLang="en-US" sz="2400" b="1" dirty="0">
                <a:solidFill>
                  <a:srgbClr val="0070C0"/>
                </a:solidFill>
                <a:latin typeface="+mn-ea"/>
              </a:rPr>
              <a:t>）类型</a:t>
            </a:r>
            <a:r>
              <a:rPr lang="zh-CN" altLang="en-US" sz="2400" b="1" dirty="0">
                <a:solidFill>
                  <a:srgbClr val="0070C0"/>
                </a:solidFill>
                <a:latin typeface="+mn-ea"/>
              </a:rPr>
              <a:t>声明：声明引起标识符的类型插入符号表</a:t>
            </a:r>
            <a:r>
              <a:rPr lang="zh-CN" altLang="en-US" sz="2400" b="1" dirty="0">
                <a:solidFill>
                  <a:srgbClr val="000000"/>
                </a:solidFill>
                <a:latin typeface="+mn-ea"/>
              </a:rPr>
              <a:t>。</a:t>
            </a:r>
            <a:endParaRPr lang="zh-CN" altLang="en-US" sz="2400" b="1" dirty="0">
              <a:solidFill>
                <a:srgbClr val="000000"/>
              </a:solidFill>
              <a:latin typeface="+mn-ea"/>
            </a:endParaRPr>
          </a:p>
        </p:txBody>
      </p:sp>
      <p:sp>
        <p:nvSpPr>
          <p:cNvPr id="8" name="Rectangle 5"/>
          <p:cNvSpPr>
            <a:spLocks noChangeArrowheads="1"/>
          </p:cNvSpPr>
          <p:nvPr/>
        </p:nvSpPr>
        <p:spPr bwMode="auto">
          <a:xfrm>
            <a:off x="451485" y="1779270"/>
            <a:ext cx="6971665"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400" b="1" dirty="0">
                <a:solidFill>
                  <a:srgbClr val="000000"/>
                </a:solidFill>
                <a:latin typeface="+mn-ea"/>
              </a:rPr>
              <a:t>产生式                     语义规则</a:t>
            </a:r>
            <a:endParaRPr lang="zh-CN" altLang="en-US" sz="2400" b="1" dirty="0">
              <a:solidFill>
                <a:srgbClr val="000000"/>
              </a:solidFill>
              <a:latin typeface="+mn-ea"/>
            </a:endParaRPr>
          </a:p>
          <a:p>
            <a:pPr>
              <a:lnSpc>
                <a:spcPct val="150000"/>
              </a:lnSpc>
            </a:pPr>
            <a:r>
              <a:rPr lang="en-US" altLang="zh-CN" sz="2400" b="1" i="1" dirty="0">
                <a:solidFill>
                  <a:schemeClr val="tx1"/>
                </a:solidFill>
                <a:latin typeface="+mn-ea"/>
              </a:rPr>
              <a:t>var-</a:t>
            </a:r>
            <a:r>
              <a:rPr lang="en-US" altLang="zh-CN" sz="2400" b="1" i="1" dirty="0" err="1">
                <a:solidFill>
                  <a:schemeClr val="tx1"/>
                </a:solidFill>
                <a:latin typeface="+mn-ea"/>
              </a:rPr>
              <a:t>decl</a:t>
            </a:r>
            <a:r>
              <a:rPr lang="en-US" altLang="zh-CN" sz="2400" b="1" dirty="0">
                <a:solidFill>
                  <a:schemeClr val="tx1"/>
                </a:solidFill>
                <a:latin typeface="+mn-ea"/>
              </a:rPr>
              <a:t>→ </a:t>
            </a:r>
            <a:r>
              <a:rPr lang="en-US" altLang="zh-CN" sz="2400" b="1" dirty="0">
                <a:solidFill>
                  <a:srgbClr val="0070C0"/>
                </a:solidFill>
                <a:latin typeface="+mn-ea"/>
              </a:rPr>
              <a:t>          </a:t>
            </a:r>
            <a:r>
              <a:rPr lang="en-US" altLang="zh-CN" sz="2400" b="1" dirty="0">
                <a:solidFill>
                  <a:schemeClr val="accent1"/>
                </a:solidFill>
                <a:latin typeface="+mn-ea"/>
              </a:rPr>
              <a:t> insert(</a:t>
            </a:r>
            <a:r>
              <a:rPr lang="en-US" altLang="zh-CN" sz="2400" b="1" dirty="0" err="1">
                <a:solidFill>
                  <a:schemeClr val="accent1"/>
                </a:solidFill>
                <a:latin typeface="+mn-ea"/>
              </a:rPr>
              <a:t>id.name,</a:t>
            </a:r>
            <a:r>
              <a:rPr lang="en-US" altLang="zh-CN" sz="2400" b="1" i="1" dirty="0" err="1">
                <a:solidFill>
                  <a:schemeClr val="accent1"/>
                </a:solidFill>
                <a:latin typeface="+mn-ea"/>
              </a:rPr>
              <a:t>type-exp</a:t>
            </a:r>
            <a:r>
              <a:rPr lang="en-US" altLang="zh-CN" sz="2400" b="1" dirty="0" err="1">
                <a:solidFill>
                  <a:schemeClr val="accent1"/>
                </a:solidFill>
                <a:latin typeface="+mn-ea"/>
              </a:rPr>
              <a:t>.type</a:t>
            </a:r>
            <a:r>
              <a:rPr lang="en-US" altLang="zh-CN" sz="2400" b="1" dirty="0">
                <a:solidFill>
                  <a:schemeClr val="accent1"/>
                </a:solidFill>
                <a:latin typeface="+mn-ea"/>
              </a:rPr>
              <a:t>)</a:t>
            </a:r>
            <a:r>
              <a:rPr lang="en-US" altLang="zh-CN" sz="2400" b="1" dirty="0">
                <a:solidFill>
                  <a:srgbClr val="000000"/>
                </a:solidFill>
                <a:latin typeface="+mn-ea"/>
              </a:rPr>
              <a:t> </a:t>
            </a:r>
            <a:endParaRPr lang="en-US" altLang="zh-CN" sz="2400" b="1" dirty="0">
              <a:solidFill>
                <a:srgbClr val="000000"/>
              </a:solidFill>
              <a:latin typeface="+mn-ea"/>
            </a:endParaRPr>
          </a:p>
          <a:p>
            <a:pPr>
              <a:lnSpc>
                <a:spcPct val="150000"/>
              </a:lnSpc>
            </a:pPr>
            <a:r>
              <a:rPr lang="en-US" altLang="zh-CN" sz="2400" b="1" dirty="0">
                <a:solidFill>
                  <a:schemeClr val="tx1"/>
                </a:solidFill>
                <a:latin typeface="+mn-ea"/>
              </a:rPr>
              <a:t>    </a:t>
            </a:r>
            <a:r>
              <a:rPr lang="en-US" altLang="zh-CN" sz="2400" b="1" dirty="0" err="1">
                <a:solidFill>
                  <a:schemeClr val="tx1"/>
                </a:solidFill>
                <a:latin typeface="+mn-ea"/>
              </a:rPr>
              <a:t>id:</a:t>
            </a:r>
            <a:r>
              <a:rPr lang="en-US" altLang="zh-CN" sz="2400" b="1" i="1" dirty="0" err="1">
                <a:solidFill>
                  <a:schemeClr val="tx1"/>
                </a:solidFill>
                <a:latin typeface="+mn-ea"/>
              </a:rPr>
              <a:t>type-exp</a:t>
            </a:r>
            <a:r>
              <a:rPr lang="en-US" altLang="zh-CN" sz="2400" b="1" dirty="0">
                <a:solidFill>
                  <a:schemeClr val="tx1"/>
                </a:solidFill>
                <a:latin typeface="+mn-ea"/>
              </a:rPr>
              <a:t> </a:t>
            </a:r>
            <a:endParaRPr lang="en-US" altLang="zh-CN" sz="2400" b="1" dirty="0">
              <a:solidFill>
                <a:schemeClr val="tx1"/>
              </a:solidFill>
              <a:latin typeface="+mn-ea"/>
            </a:endParaRPr>
          </a:p>
          <a:p>
            <a:pPr>
              <a:lnSpc>
                <a:spcPct val="150000"/>
              </a:lnSpc>
            </a:pPr>
            <a:r>
              <a:rPr lang="en-US" altLang="zh-CN" sz="2400" b="1" i="1" dirty="0" err="1">
                <a:solidFill>
                  <a:schemeClr val="tx1"/>
                </a:solidFill>
                <a:latin typeface="+mn-ea"/>
              </a:rPr>
              <a:t>type-exp</a:t>
            </a:r>
            <a:r>
              <a:rPr lang="en-US" altLang="zh-CN" sz="2400" b="1" dirty="0" err="1">
                <a:solidFill>
                  <a:schemeClr val="tx1"/>
                </a:solidFill>
                <a:latin typeface="+mn-ea"/>
              </a:rPr>
              <a:t>→int</a:t>
            </a:r>
            <a:r>
              <a:rPr lang="en-US" altLang="zh-CN" sz="2400" b="1" dirty="0">
                <a:solidFill>
                  <a:schemeClr val="tx1"/>
                </a:solidFill>
                <a:latin typeface="+mn-ea"/>
              </a:rPr>
              <a:t>   </a:t>
            </a:r>
            <a:r>
              <a:rPr lang="en-US" altLang="zh-CN" sz="2400" b="1" dirty="0">
                <a:solidFill>
                  <a:srgbClr val="0070C0"/>
                </a:solidFill>
                <a:latin typeface="+mn-ea"/>
              </a:rPr>
              <a:t>  </a:t>
            </a:r>
            <a:r>
              <a:rPr lang="en-US" altLang="zh-CN" sz="2400" b="1" dirty="0">
                <a:solidFill>
                  <a:schemeClr val="accent1"/>
                </a:solidFill>
                <a:latin typeface="+mn-ea"/>
              </a:rPr>
              <a:t> </a:t>
            </a:r>
            <a:r>
              <a:rPr lang="en-US" altLang="zh-CN" sz="2400" b="1" i="1" dirty="0">
                <a:solidFill>
                  <a:schemeClr val="accent1"/>
                </a:solidFill>
                <a:latin typeface="+mn-ea"/>
              </a:rPr>
              <a:t>type-</a:t>
            </a:r>
            <a:r>
              <a:rPr lang="en-US" altLang="zh-CN" sz="2400" b="1" i="1" dirty="0" err="1">
                <a:solidFill>
                  <a:schemeClr val="accent1"/>
                </a:solidFill>
                <a:latin typeface="+mn-ea"/>
              </a:rPr>
              <a:t>exp</a:t>
            </a:r>
            <a:r>
              <a:rPr lang="en-US" altLang="zh-CN" sz="2400" b="1" dirty="0" err="1">
                <a:solidFill>
                  <a:schemeClr val="accent1"/>
                </a:solidFill>
                <a:latin typeface="+mn-ea"/>
              </a:rPr>
              <a:t>.type</a:t>
            </a:r>
            <a:r>
              <a:rPr lang="en-US" altLang="zh-CN" sz="2400" b="1" dirty="0">
                <a:solidFill>
                  <a:schemeClr val="accent1"/>
                </a:solidFill>
                <a:latin typeface="+mn-ea"/>
              </a:rPr>
              <a:t>:=integer</a:t>
            </a:r>
            <a:endParaRPr lang="en-US" altLang="zh-CN" sz="2400" b="1" dirty="0">
              <a:solidFill>
                <a:schemeClr val="accent1"/>
              </a:solidFill>
              <a:latin typeface="+mn-ea"/>
            </a:endParaRPr>
          </a:p>
          <a:p>
            <a:pPr>
              <a:lnSpc>
                <a:spcPct val="150000"/>
              </a:lnSpc>
            </a:pPr>
            <a:r>
              <a:rPr lang="en-US" altLang="zh-CN" sz="2400" b="1" i="1" dirty="0" err="1">
                <a:solidFill>
                  <a:schemeClr val="tx1"/>
                </a:solidFill>
                <a:latin typeface="+mn-ea"/>
              </a:rPr>
              <a:t>type-exp</a:t>
            </a:r>
            <a:r>
              <a:rPr lang="en-US" altLang="zh-CN" sz="2400" b="1" dirty="0" err="1">
                <a:solidFill>
                  <a:schemeClr val="tx1"/>
                </a:solidFill>
                <a:latin typeface="+mn-ea"/>
              </a:rPr>
              <a:t>→bool</a:t>
            </a:r>
            <a:r>
              <a:rPr lang="en-US" altLang="zh-CN" sz="2400" b="1" dirty="0">
                <a:solidFill>
                  <a:schemeClr val="tx1"/>
                </a:solidFill>
                <a:latin typeface="+mn-ea"/>
              </a:rPr>
              <a:t> </a:t>
            </a:r>
            <a:r>
              <a:rPr lang="en-US" altLang="zh-CN" sz="2400" b="1" dirty="0">
                <a:solidFill>
                  <a:srgbClr val="0070C0"/>
                </a:solidFill>
                <a:latin typeface="+mn-ea"/>
              </a:rPr>
              <a:t>  </a:t>
            </a:r>
            <a:r>
              <a:rPr lang="en-US" altLang="zh-CN" sz="2400" b="1" i="1" dirty="0">
                <a:solidFill>
                  <a:schemeClr val="accent1"/>
                </a:solidFill>
                <a:latin typeface="+mn-ea"/>
              </a:rPr>
              <a:t>type-</a:t>
            </a:r>
            <a:r>
              <a:rPr lang="en-US" altLang="zh-CN" sz="2400" b="1" i="1" dirty="0" err="1">
                <a:solidFill>
                  <a:schemeClr val="accent1"/>
                </a:solidFill>
                <a:latin typeface="+mn-ea"/>
              </a:rPr>
              <a:t>exp</a:t>
            </a:r>
            <a:r>
              <a:rPr lang="en-US" altLang="zh-CN" sz="2400" b="1" dirty="0" err="1">
                <a:solidFill>
                  <a:schemeClr val="accent1"/>
                </a:solidFill>
                <a:latin typeface="+mn-ea"/>
              </a:rPr>
              <a:t>.type</a:t>
            </a:r>
            <a:r>
              <a:rPr lang="en-US" altLang="zh-CN" sz="2400" b="1" dirty="0">
                <a:solidFill>
                  <a:schemeClr val="accent1"/>
                </a:solidFill>
                <a:latin typeface="+mn-ea"/>
              </a:rPr>
              <a:t>:=</a:t>
            </a:r>
            <a:r>
              <a:rPr lang="en-US" altLang="zh-CN" sz="2400" b="1" dirty="0" err="1">
                <a:solidFill>
                  <a:schemeClr val="accent1"/>
                </a:solidFill>
                <a:latin typeface="+mn-ea"/>
              </a:rPr>
              <a:t>boolean</a:t>
            </a:r>
            <a:endParaRPr lang="en-US" altLang="zh-CN" sz="2400" b="1" dirty="0" err="1">
              <a:solidFill>
                <a:schemeClr val="accent1"/>
              </a:solidFill>
              <a:latin typeface="+mn-ea"/>
            </a:endParaRPr>
          </a:p>
        </p:txBody>
      </p:sp>
      <p:sp>
        <p:nvSpPr>
          <p:cNvPr id="5" name="Rectangle 2"/>
          <p:cNvSpPr>
            <a:spLocks noChangeArrowheads="1"/>
          </p:cNvSpPr>
          <p:nvPr>
            <p:custDataLst>
              <p:tags r:id="rId1"/>
            </p:custDataLst>
          </p:nvPr>
        </p:nvSpPr>
        <p:spPr bwMode="auto">
          <a:xfrm>
            <a:off x="451168" y="4663016"/>
            <a:ext cx="838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i="1" dirty="0">
                <a:solidFill>
                  <a:schemeClr val="tx1"/>
                </a:solidFill>
                <a:latin typeface="+mn-ea"/>
              </a:rPr>
              <a:t>type-exp</a:t>
            </a:r>
            <a:r>
              <a:rPr lang="en-US" altLang="zh-CN" sz="2400" b="1" i="1" baseline="-25000" dirty="0">
                <a:solidFill>
                  <a:schemeClr val="tx1"/>
                </a:solidFill>
                <a:latin typeface="+mn-ea"/>
              </a:rPr>
              <a:t>1</a:t>
            </a:r>
            <a:r>
              <a:rPr lang="en-US" altLang="zh-CN" sz="2400" b="1" dirty="0">
                <a:solidFill>
                  <a:schemeClr val="tx1"/>
                </a:solidFill>
                <a:latin typeface="+mn-ea"/>
              </a:rPr>
              <a:t>→array[num] of  </a:t>
            </a:r>
            <a:r>
              <a:rPr lang="en-US" altLang="zh-CN" sz="2400" b="1" i="1" dirty="0">
                <a:solidFill>
                  <a:schemeClr val="tx1"/>
                </a:solidFill>
                <a:latin typeface="+mn-ea"/>
              </a:rPr>
              <a:t>type-exp</a:t>
            </a:r>
            <a:r>
              <a:rPr lang="en-US" altLang="zh-CN" sz="2400" b="1" i="1" baseline="-25000" dirty="0">
                <a:solidFill>
                  <a:schemeClr val="tx1"/>
                </a:solidFill>
                <a:latin typeface="+mn-ea"/>
              </a:rPr>
              <a:t>2</a:t>
            </a:r>
            <a:r>
              <a:rPr lang="en-US" altLang="zh-CN" sz="2400" b="1" baseline="-25000" dirty="0">
                <a:solidFill>
                  <a:schemeClr val="tx1"/>
                </a:solidFill>
                <a:latin typeface="+mn-ea"/>
              </a:rPr>
              <a:t> </a:t>
            </a:r>
            <a:endParaRPr lang="en-US" altLang="zh-CN" sz="2400" b="1" baseline="-25000" dirty="0">
              <a:solidFill>
                <a:schemeClr val="tx1"/>
              </a:solidFill>
              <a:latin typeface="+mn-ea"/>
            </a:endParaRPr>
          </a:p>
        </p:txBody>
      </p:sp>
      <p:sp>
        <p:nvSpPr>
          <p:cNvPr id="6" name="Rectangle 3"/>
          <p:cNvSpPr>
            <a:spLocks noChangeArrowheads="1"/>
          </p:cNvSpPr>
          <p:nvPr>
            <p:custDataLst>
              <p:tags r:id="rId2"/>
            </p:custDataLst>
          </p:nvPr>
        </p:nvSpPr>
        <p:spPr bwMode="auto">
          <a:xfrm>
            <a:off x="2909570" y="5253355"/>
            <a:ext cx="738251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dirty="0">
                <a:solidFill>
                  <a:schemeClr val="accent1"/>
                </a:solidFill>
                <a:latin typeface="+mn-ea"/>
              </a:rPr>
              <a:t>type-exp</a:t>
            </a:r>
            <a:r>
              <a:rPr lang="en-US" altLang="zh-CN" sz="2400" b="1" i="1" baseline="-25000" dirty="0">
                <a:solidFill>
                  <a:schemeClr val="accent1"/>
                </a:solidFill>
                <a:latin typeface="+mn-ea"/>
              </a:rPr>
              <a:t>1 </a:t>
            </a:r>
            <a:r>
              <a:rPr lang="en-US" altLang="zh-CN" sz="2400" b="1" dirty="0">
                <a:solidFill>
                  <a:schemeClr val="accent1"/>
                </a:solidFill>
                <a:latin typeface="+mn-ea"/>
              </a:rPr>
              <a:t>.type:= </a:t>
            </a:r>
            <a:r>
              <a:rPr lang="en-US" altLang="zh-CN" sz="2400" b="1" dirty="0" err="1">
                <a:solidFill>
                  <a:schemeClr val="accent1"/>
                </a:solidFill>
                <a:latin typeface="+mn-ea"/>
              </a:rPr>
              <a:t>makeTypeNode</a:t>
            </a:r>
            <a:r>
              <a:rPr lang="en-US" altLang="zh-CN" sz="2400" b="1" dirty="0">
                <a:solidFill>
                  <a:schemeClr val="accent1"/>
                </a:solidFill>
                <a:latin typeface="+mn-ea"/>
              </a:rPr>
              <a:t>(</a:t>
            </a:r>
            <a:r>
              <a:rPr lang="en-US" altLang="zh-CN" sz="2400" b="1" dirty="0" err="1">
                <a:solidFill>
                  <a:schemeClr val="accent1"/>
                </a:solidFill>
                <a:latin typeface="+mn-ea"/>
              </a:rPr>
              <a:t>array.num.val</a:t>
            </a:r>
            <a:r>
              <a:rPr lang="en-US" altLang="zh-CN" sz="2400" b="1" dirty="0">
                <a:solidFill>
                  <a:schemeClr val="accent1"/>
                </a:solidFill>
                <a:latin typeface="+mn-ea"/>
              </a:rPr>
              <a:t>, 			</a:t>
            </a:r>
            <a:r>
              <a:rPr lang="en-US" altLang="zh-CN" sz="2400" b="1" i="1" dirty="0">
                <a:solidFill>
                  <a:schemeClr val="accent1"/>
                </a:solidFill>
                <a:latin typeface="+mn-ea"/>
              </a:rPr>
              <a:t>type-exp</a:t>
            </a:r>
            <a:r>
              <a:rPr lang="en-US" altLang="zh-CN" sz="2400" b="1" i="1" baseline="-25000" dirty="0">
                <a:solidFill>
                  <a:schemeClr val="accent1"/>
                </a:solidFill>
                <a:latin typeface="+mn-ea"/>
              </a:rPr>
              <a:t>2 </a:t>
            </a:r>
            <a:r>
              <a:rPr lang="en-US" altLang="zh-CN" sz="2400" b="1" dirty="0">
                <a:solidFill>
                  <a:schemeClr val="accent1"/>
                </a:solidFill>
                <a:latin typeface="+mn-ea"/>
              </a:rPr>
              <a:t>. type)</a:t>
            </a:r>
            <a:endParaRPr lang="en-US" altLang="zh-CN" sz="2400" b="1" dirty="0">
              <a:solidFill>
                <a:schemeClr val="accent1"/>
              </a:solidFill>
              <a:latin typeface="+mn-ea"/>
            </a:endParaRPr>
          </a:p>
        </p:txBody>
      </p:sp>
      <p:sp>
        <p:nvSpPr>
          <p:cNvPr id="9" name="Oval 4"/>
          <p:cNvSpPr>
            <a:spLocks noChangeArrowheads="1"/>
          </p:cNvSpPr>
          <p:nvPr>
            <p:custDataLst>
              <p:tags r:id="rId3"/>
            </p:custDataLst>
          </p:nvPr>
        </p:nvSpPr>
        <p:spPr bwMode="auto">
          <a:xfrm>
            <a:off x="8319770" y="1445789"/>
            <a:ext cx="2362200" cy="838200"/>
          </a:xfrm>
          <a:prstGeom prst="ellips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400" b="1" dirty="0" err="1">
                <a:solidFill>
                  <a:srgbClr val="000000"/>
                </a:solidFill>
                <a:latin typeface="+mn-ea"/>
              </a:rPr>
              <a:t>array.num.val</a:t>
            </a:r>
            <a:endParaRPr lang="zh-CN" altLang="en-US" sz="2400" b="1" dirty="0">
              <a:solidFill>
                <a:srgbClr val="000000"/>
              </a:solidFill>
              <a:latin typeface="+mn-ea"/>
            </a:endParaRPr>
          </a:p>
        </p:txBody>
      </p:sp>
      <p:sp>
        <p:nvSpPr>
          <p:cNvPr id="10" name="Oval 5"/>
          <p:cNvSpPr>
            <a:spLocks noChangeArrowheads="1"/>
          </p:cNvSpPr>
          <p:nvPr>
            <p:custDataLst>
              <p:tags r:id="rId4"/>
            </p:custDataLst>
          </p:nvPr>
        </p:nvSpPr>
        <p:spPr bwMode="auto">
          <a:xfrm>
            <a:off x="8129270" y="2695152"/>
            <a:ext cx="2667000" cy="838200"/>
          </a:xfrm>
          <a:prstGeom prst="ellips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p>
            <a:pPr algn="ctr"/>
            <a:r>
              <a:rPr lang="en-US" altLang="zh-CN" sz="2400" b="1" i="1">
                <a:solidFill>
                  <a:srgbClr val="000000"/>
                </a:solidFill>
                <a:latin typeface="+mn-ea"/>
              </a:rPr>
              <a:t>type-exp</a:t>
            </a:r>
            <a:r>
              <a:rPr lang="en-US" altLang="zh-CN" sz="2400" b="1" i="1" baseline="-25000">
                <a:solidFill>
                  <a:srgbClr val="000000"/>
                </a:solidFill>
                <a:latin typeface="+mn-ea"/>
              </a:rPr>
              <a:t>2</a:t>
            </a:r>
            <a:r>
              <a:rPr lang="en-US" altLang="zh-CN" sz="2400" b="1">
                <a:solidFill>
                  <a:srgbClr val="000000"/>
                </a:solidFill>
                <a:latin typeface="+mn-ea"/>
              </a:rPr>
              <a:t>.type</a:t>
            </a:r>
            <a:endParaRPr lang="zh-CN" altLang="en-US" sz="2400" b="1">
              <a:solidFill>
                <a:srgbClr val="000000"/>
              </a:solidFill>
              <a:latin typeface="+mn-ea"/>
            </a:endParaRPr>
          </a:p>
        </p:txBody>
      </p:sp>
      <p:sp>
        <p:nvSpPr>
          <p:cNvPr id="12" name="Line 6"/>
          <p:cNvSpPr>
            <a:spLocks noChangeShapeType="1"/>
          </p:cNvSpPr>
          <p:nvPr>
            <p:custDataLst>
              <p:tags r:id="rId5"/>
            </p:custDataLst>
          </p:nvPr>
        </p:nvSpPr>
        <p:spPr bwMode="auto">
          <a:xfrm>
            <a:off x="9462770" y="2283989"/>
            <a:ext cx="0" cy="3810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b="1">
              <a:latin typeface="+mn-ea"/>
            </a:endParaRPr>
          </a:p>
        </p:txBody>
      </p:sp>
      <p:sp>
        <p:nvSpPr>
          <p:cNvPr id="15" name="Rectangle 14"/>
          <p:cNvSpPr>
            <a:spLocks noChangeArrowheads="1"/>
          </p:cNvSpPr>
          <p:nvPr>
            <p:custDataLst>
              <p:tags r:id="rId6"/>
            </p:custDataLst>
          </p:nvPr>
        </p:nvSpPr>
        <p:spPr bwMode="auto">
          <a:xfrm>
            <a:off x="451168" y="6397096"/>
            <a:ext cx="1275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p>
            <a:r>
              <a:rPr lang="en-US" altLang="zh-CN" sz="2400" b="1">
                <a:solidFill>
                  <a:srgbClr val="000000"/>
                </a:solidFill>
                <a:latin typeface="+mn-ea"/>
              </a:rPr>
              <a:t>n</a:t>
            </a:r>
            <a:r>
              <a:rPr lang="zh-CN" altLang="en-US" sz="2400" b="1">
                <a:solidFill>
                  <a:srgbClr val="000000"/>
                </a:solidFill>
                <a:latin typeface="+mn-ea"/>
              </a:rPr>
              <a:t>维数组</a:t>
            </a:r>
            <a:endParaRPr lang="en-US" altLang="zh-CN" sz="2400" b="1">
              <a:solidFill>
                <a:srgbClr val="000000"/>
              </a:solidFill>
              <a:latin typeface="+mn-ea"/>
            </a:endParaRPr>
          </a:p>
        </p:txBody>
      </p:sp>
      <p:sp>
        <p:nvSpPr>
          <p:cNvPr id="13" name="文本占位符 11"/>
          <p:cNvSpPr>
            <a:spLocks noGrp="1"/>
          </p:cNvSpPr>
          <p:nvPr>
            <p:ph type="body" sz="quarter" idx="14"/>
            <p:custDataLst>
              <p:tags r:id="rId7"/>
            </p:custDataLst>
          </p:nvPr>
        </p:nvSpPr>
        <p:spPr>
          <a:xfrm>
            <a:off x="370205" y="276860"/>
            <a:ext cx="6965315" cy="593090"/>
          </a:xfrm>
        </p:spPr>
        <p:txBody>
          <a:bodyPr/>
          <a:lstStyle/>
          <a:p>
            <a:r>
              <a:rPr lang="en-US" altLang="zh-CN" dirty="0"/>
              <a:t>5.3 </a:t>
            </a:r>
            <a:r>
              <a:rPr lang="zh-CN" altLang="en-US" dirty="0"/>
              <a:t>数据类型和类型检查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Horizont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bldLvl="0" animBg="1"/>
      <p:bldP spid="10"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1"/>
          <p:cNvSpPr>
            <a:spLocks noGrp="1"/>
          </p:cNvSpPr>
          <p:nvPr>
            <p:ph type="body" sz="quarter" idx="14"/>
          </p:nvPr>
        </p:nvSpPr>
        <p:spPr>
          <a:xfrm>
            <a:off x="476885" y="1257935"/>
            <a:ext cx="6165215" cy="593090"/>
          </a:xfrm>
        </p:spPr>
        <p:txBody>
          <a:bodyPr/>
          <a:lstStyle/>
          <a:p>
            <a:r>
              <a:rPr lang="en-US" altLang="zh-CN" sz="2400" dirty="0">
                <a:solidFill>
                  <a:schemeClr val="tx1"/>
                </a:solidFill>
              </a:rPr>
              <a:t>2) </a:t>
            </a:r>
            <a:r>
              <a:rPr lang="zh-CN" altLang="en-US" sz="2400" dirty="0">
                <a:solidFill>
                  <a:schemeClr val="tx1"/>
                </a:solidFill>
              </a:rPr>
              <a:t>表达式的类型检查</a:t>
            </a:r>
            <a:endParaRPr lang="zh-CN" altLang="en-US" sz="2400" dirty="0">
              <a:solidFill>
                <a:schemeClr val="tx1"/>
              </a:solidFill>
            </a:endParaRPr>
          </a:p>
        </p:txBody>
      </p:sp>
      <p:sp>
        <p:nvSpPr>
          <p:cNvPr id="14" name="Rectangle 3"/>
          <p:cNvSpPr>
            <a:spLocks noChangeArrowheads="1"/>
          </p:cNvSpPr>
          <p:nvPr/>
        </p:nvSpPr>
        <p:spPr bwMode="auto">
          <a:xfrm>
            <a:off x="472440" y="1800242"/>
            <a:ext cx="8001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0070C0"/>
                </a:solidFill>
                <a:latin typeface="+mn-ea"/>
              </a:rPr>
              <a:t>产生式                      语义规则</a:t>
            </a:r>
            <a:endParaRPr lang="zh-CN" altLang="en-US" sz="2400" b="1" dirty="0">
              <a:solidFill>
                <a:srgbClr val="0070C0"/>
              </a:solidFill>
              <a:latin typeface="+mn-ea"/>
            </a:endParaRPr>
          </a:p>
        </p:txBody>
      </p:sp>
      <p:sp>
        <p:nvSpPr>
          <p:cNvPr id="16" name="Rectangle 4"/>
          <p:cNvSpPr>
            <a:spLocks noChangeArrowheads="1"/>
          </p:cNvSpPr>
          <p:nvPr/>
        </p:nvSpPr>
        <p:spPr bwMode="auto">
          <a:xfrm>
            <a:off x="475615" y="2623185"/>
            <a:ext cx="1130554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spcBef>
                <a:spcPts val="0"/>
              </a:spcBef>
              <a:spcAft>
                <a:spcPts val="0"/>
              </a:spcAft>
            </a:pPr>
            <a:r>
              <a:rPr lang="en-US" altLang="zh-CN" sz="2400" b="1" dirty="0">
                <a:solidFill>
                  <a:schemeClr val="accent1"/>
                </a:solidFill>
                <a:latin typeface="+mn-ea"/>
              </a:rPr>
              <a:t>if not(</a:t>
            </a:r>
            <a:r>
              <a:rPr lang="en-US" altLang="zh-CN" sz="2400" b="1" dirty="0" err="1">
                <a:solidFill>
                  <a:schemeClr val="accent1"/>
                </a:solidFill>
                <a:latin typeface="+mn-ea"/>
              </a:rPr>
              <a:t>typeEqual</a:t>
            </a:r>
            <a:r>
              <a:rPr lang="en-US" altLang="zh-CN" sz="2400" b="1" dirty="0">
                <a:solidFill>
                  <a:schemeClr val="accent1"/>
                </a:solidFill>
                <a:latin typeface="+mn-ea"/>
              </a:rPr>
              <a:t>(</a:t>
            </a:r>
            <a:r>
              <a:rPr lang="en-US" altLang="zh-CN" sz="2400" b="1" i="1" dirty="0">
                <a:solidFill>
                  <a:schemeClr val="accent1"/>
                </a:solidFill>
                <a:latin typeface="+mn-ea"/>
              </a:rPr>
              <a:t>exp2</a:t>
            </a:r>
            <a:r>
              <a:rPr lang="en-US" altLang="zh-CN" sz="2400" b="1" dirty="0">
                <a:solidFill>
                  <a:schemeClr val="accent1"/>
                </a:solidFill>
                <a:latin typeface="+mn-ea"/>
              </a:rPr>
              <a:t>.type, integer) and </a:t>
            </a:r>
            <a:r>
              <a:rPr lang="en-US" altLang="zh-CN" sz="2400" b="1" dirty="0" err="1">
                <a:solidFill>
                  <a:schemeClr val="accent1"/>
                </a:solidFill>
                <a:latin typeface="+mn-ea"/>
              </a:rPr>
              <a:t>typeEqual</a:t>
            </a:r>
            <a:r>
              <a:rPr lang="en-US" altLang="zh-CN" sz="2400" b="1" dirty="0">
                <a:solidFill>
                  <a:schemeClr val="accent1"/>
                </a:solidFill>
                <a:latin typeface="+mn-ea"/>
              </a:rPr>
              <a:t>(</a:t>
            </a:r>
            <a:r>
              <a:rPr lang="en-US" altLang="zh-CN" sz="2400" b="1" i="1" dirty="0">
                <a:solidFill>
                  <a:schemeClr val="accent1"/>
                </a:solidFill>
                <a:latin typeface="+mn-ea"/>
              </a:rPr>
              <a:t>exp3</a:t>
            </a:r>
            <a:r>
              <a:rPr lang="en-US" altLang="zh-CN" sz="2400" b="1" dirty="0">
                <a:solidFill>
                  <a:schemeClr val="accent1"/>
                </a:solidFill>
                <a:latin typeface="+mn-ea"/>
              </a:rPr>
              <a:t>.type,integer))  </a:t>
            </a:r>
            <a:endParaRPr lang="en-US" altLang="zh-CN" sz="2400" b="1" dirty="0">
              <a:solidFill>
                <a:schemeClr val="accent1"/>
              </a:solidFill>
              <a:latin typeface="+mn-ea"/>
            </a:endParaRPr>
          </a:p>
          <a:p>
            <a:pPr>
              <a:lnSpc>
                <a:spcPct val="125000"/>
              </a:lnSpc>
              <a:spcBef>
                <a:spcPts val="0"/>
              </a:spcBef>
              <a:spcAft>
                <a:spcPts val="0"/>
              </a:spcAft>
            </a:pPr>
            <a:r>
              <a:rPr lang="en-US" altLang="zh-CN" sz="2400" b="1" dirty="0">
                <a:solidFill>
                  <a:schemeClr val="accent1"/>
                </a:solidFill>
                <a:latin typeface="+mn-ea"/>
              </a:rPr>
              <a:t>then type-error(</a:t>
            </a:r>
            <a:r>
              <a:rPr lang="en-US" altLang="zh-CN" sz="2400" b="1" i="1" dirty="0">
                <a:solidFill>
                  <a:schemeClr val="accent1"/>
                </a:solidFill>
                <a:latin typeface="+mn-ea"/>
              </a:rPr>
              <a:t>exp1</a:t>
            </a:r>
            <a:r>
              <a:rPr lang="en-US" altLang="zh-CN" sz="2400" b="1" dirty="0">
                <a:solidFill>
                  <a:schemeClr val="accent1"/>
                </a:solidFill>
                <a:latin typeface="+mn-ea"/>
              </a:rPr>
              <a:t>)  else </a:t>
            </a:r>
            <a:r>
              <a:rPr lang="en-US" altLang="zh-CN" sz="2400" b="1" i="1" dirty="0">
                <a:solidFill>
                  <a:schemeClr val="accent1"/>
                </a:solidFill>
                <a:latin typeface="+mn-ea"/>
                <a:sym typeface="+mn-ea"/>
              </a:rPr>
              <a:t>exp</a:t>
            </a:r>
            <a:r>
              <a:rPr lang="en-US" altLang="zh-CN" sz="2400" b="1" i="1" baseline="-25000" dirty="0">
                <a:solidFill>
                  <a:schemeClr val="accent1"/>
                </a:solidFill>
                <a:latin typeface="+mn-ea"/>
                <a:sym typeface="+mn-ea"/>
              </a:rPr>
              <a:t>1</a:t>
            </a:r>
            <a:r>
              <a:rPr lang="en-US" altLang="zh-CN" sz="2400" b="1" dirty="0">
                <a:solidFill>
                  <a:schemeClr val="accent1"/>
                </a:solidFill>
                <a:latin typeface="+mn-ea"/>
                <a:sym typeface="+mn-ea"/>
              </a:rPr>
              <a:t>.type:=integer;</a:t>
            </a:r>
            <a:endParaRPr lang="en-US" altLang="zh-CN" sz="2400" b="1" dirty="0">
              <a:solidFill>
                <a:schemeClr val="accent1"/>
              </a:solidFill>
              <a:latin typeface="+mn-ea"/>
            </a:endParaRPr>
          </a:p>
        </p:txBody>
      </p:sp>
      <p:sp>
        <p:nvSpPr>
          <p:cNvPr id="17" name="Rectangle 5"/>
          <p:cNvSpPr>
            <a:spLocks noChangeArrowheads="1"/>
          </p:cNvSpPr>
          <p:nvPr/>
        </p:nvSpPr>
        <p:spPr bwMode="auto">
          <a:xfrm>
            <a:off x="407458" y="2238693"/>
            <a:ext cx="332422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20000"/>
              </a:lnSpc>
            </a:pPr>
            <a:r>
              <a:rPr lang="en-US" altLang="zh-CN" sz="2400" b="1" i="1">
                <a:solidFill>
                  <a:schemeClr val="tx1"/>
                </a:solidFill>
                <a:latin typeface="+mn-ea"/>
              </a:rPr>
              <a:t>exp</a:t>
            </a:r>
            <a:r>
              <a:rPr lang="en-US" altLang="zh-CN" sz="2400" b="1" i="1" baseline="-25000">
                <a:solidFill>
                  <a:schemeClr val="tx1"/>
                </a:solidFill>
                <a:latin typeface="+mn-ea"/>
              </a:rPr>
              <a:t>1</a:t>
            </a:r>
            <a:r>
              <a:rPr lang="en-US" altLang="zh-CN" sz="2400" b="1" i="1">
                <a:solidFill>
                  <a:schemeClr val="tx1"/>
                </a:solidFill>
                <a:latin typeface="+mn-ea"/>
              </a:rPr>
              <a:t>→exp</a:t>
            </a:r>
            <a:r>
              <a:rPr lang="en-US" altLang="zh-CN" sz="2400" b="1" i="1" baseline="-25000">
                <a:solidFill>
                  <a:schemeClr val="tx1"/>
                </a:solidFill>
                <a:latin typeface="+mn-ea"/>
              </a:rPr>
              <a:t>2</a:t>
            </a:r>
            <a:r>
              <a:rPr lang="en-US" altLang="zh-CN" sz="2400" b="1" i="1">
                <a:solidFill>
                  <a:schemeClr val="tx1"/>
                </a:solidFill>
                <a:latin typeface="+mn-ea"/>
              </a:rPr>
              <a:t>+exp</a:t>
            </a:r>
            <a:r>
              <a:rPr lang="en-US" altLang="zh-CN" sz="2400" b="1" i="1" baseline="-25000">
                <a:solidFill>
                  <a:schemeClr val="tx1"/>
                </a:solidFill>
                <a:latin typeface="+mn-ea"/>
              </a:rPr>
              <a:t>3</a:t>
            </a:r>
            <a:endParaRPr lang="en-US" altLang="zh-CN" sz="2400" b="1" i="1" baseline="-25000">
              <a:solidFill>
                <a:schemeClr val="tx1"/>
              </a:solidFill>
              <a:latin typeface="+mn-ea"/>
            </a:endParaRPr>
          </a:p>
        </p:txBody>
      </p:sp>
      <p:sp>
        <p:nvSpPr>
          <p:cNvPr id="7" name="Rectangle 2"/>
          <p:cNvSpPr>
            <a:spLocks noChangeArrowheads="1"/>
          </p:cNvSpPr>
          <p:nvPr>
            <p:custDataLst>
              <p:tags r:id="rId1"/>
            </p:custDataLst>
          </p:nvPr>
        </p:nvSpPr>
        <p:spPr bwMode="auto">
          <a:xfrm>
            <a:off x="476885" y="3938905"/>
            <a:ext cx="1130427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5000"/>
              </a:lnSpc>
              <a:spcBef>
                <a:spcPts val="0"/>
              </a:spcBef>
              <a:spcAft>
                <a:spcPts val="0"/>
              </a:spcAft>
            </a:pPr>
            <a:r>
              <a:rPr lang="en-US" altLang="zh-CN" sz="2400" b="1">
                <a:solidFill>
                  <a:schemeClr val="accent1"/>
                </a:solidFill>
                <a:latin typeface="+mn-ea"/>
              </a:rPr>
              <a:t>if not(type Equal(</a:t>
            </a:r>
            <a:r>
              <a:rPr lang="en-US" altLang="zh-CN" sz="2400" b="1" i="1">
                <a:solidFill>
                  <a:schemeClr val="accent1"/>
                </a:solidFill>
                <a:latin typeface="+mn-ea"/>
              </a:rPr>
              <a:t>exp2</a:t>
            </a:r>
            <a:r>
              <a:rPr lang="en-US" altLang="zh-CN" sz="2400" b="1">
                <a:solidFill>
                  <a:schemeClr val="accent1"/>
                </a:solidFill>
                <a:latin typeface="+mn-ea"/>
              </a:rPr>
              <a:t>.type, boolean) and typeEqual(</a:t>
            </a:r>
            <a:r>
              <a:rPr lang="en-US" altLang="zh-CN" sz="2400" b="1" i="1">
                <a:solidFill>
                  <a:schemeClr val="accent1"/>
                </a:solidFill>
                <a:latin typeface="+mn-ea"/>
              </a:rPr>
              <a:t>exp3</a:t>
            </a:r>
            <a:r>
              <a:rPr lang="en-US" altLang="zh-CN" sz="2400" b="1">
                <a:solidFill>
                  <a:schemeClr val="accent1"/>
                </a:solidFill>
                <a:latin typeface="+mn-ea"/>
              </a:rPr>
              <a:t>.type, boolean)); </a:t>
            </a:r>
            <a:endParaRPr lang="en-US" altLang="zh-CN" sz="2400" b="1">
              <a:solidFill>
                <a:schemeClr val="accent1"/>
              </a:solidFill>
              <a:latin typeface="+mn-ea"/>
            </a:endParaRPr>
          </a:p>
          <a:p>
            <a:pPr>
              <a:lnSpc>
                <a:spcPct val="125000"/>
              </a:lnSpc>
              <a:spcBef>
                <a:spcPts val="0"/>
              </a:spcBef>
              <a:spcAft>
                <a:spcPts val="0"/>
              </a:spcAft>
            </a:pPr>
            <a:r>
              <a:rPr lang="en-US" altLang="zh-CN" sz="2400" b="1">
                <a:solidFill>
                  <a:schemeClr val="accent1"/>
                </a:solidFill>
                <a:latin typeface="+mn-ea"/>
              </a:rPr>
              <a:t> then type-error(</a:t>
            </a:r>
            <a:r>
              <a:rPr lang="en-US" altLang="zh-CN" sz="2400" b="1" i="1">
                <a:solidFill>
                  <a:schemeClr val="accent1"/>
                </a:solidFill>
                <a:latin typeface="+mn-ea"/>
              </a:rPr>
              <a:t>exp1</a:t>
            </a:r>
            <a:r>
              <a:rPr lang="en-US" altLang="zh-CN" sz="2400" b="1">
                <a:solidFill>
                  <a:schemeClr val="accent1"/>
                </a:solidFill>
                <a:latin typeface="+mn-ea"/>
              </a:rPr>
              <a:t>) else </a:t>
            </a:r>
            <a:r>
              <a:rPr lang="en-US" altLang="zh-CN" sz="2400" b="1" i="1">
                <a:solidFill>
                  <a:schemeClr val="accent1"/>
                </a:solidFill>
                <a:latin typeface="+mn-ea"/>
                <a:sym typeface="+mn-ea"/>
              </a:rPr>
              <a:t>exp1</a:t>
            </a:r>
            <a:r>
              <a:rPr lang="en-US" altLang="zh-CN" sz="2400" b="1">
                <a:solidFill>
                  <a:schemeClr val="accent1"/>
                </a:solidFill>
                <a:latin typeface="+mn-ea"/>
                <a:sym typeface="+mn-ea"/>
              </a:rPr>
              <a:t>.type:= boolean;</a:t>
            </a:r>
            <a:endParaRPr lang="en-US" altLang="zh-CN" sz="2400" b="1">
              <a:solidFill>
                <a:schemeClr val="accent1"/>
              </a:solidFill>
              <a:latin typeface="+mn-ea"/>
            </a:endParaRPr>
          </a:p>
        </p:txBody>
      </p:sp>
      <p:sp>
        <p:nvSpPr>
          <p:cNvPr id="9" name="Rectangle 4"/>
          <p:cNvSpPr>
            <a:spLocks noChangeArrowheads="1"/>
          </p:cNvSpPr>
          <p:nvPr>
            <p:custDataLst>
              <p:tags r:id="rId2"/>
            </p:custDataLst>
          </p:nvPr>
        </p:nvSpPr>
        <p:spPr bwMode="auto">
          <a:xfrm>
            <a:off x="407353" y="3536315"/>
            <a:ext cx="411480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lnSpc>
                <a:spcPct val="120000"/>
              </a:lnSpc>
              <a:spcBef>
                <a:spcPct val="50000"/>
              </a:spcBef>
            </a:pPr>
            <a:r>
              <a:rPr lang="en-US" altLang="zh-CN" sz="2400" b="1" i="1" dirty="0">
                <a:solidFill>
                  <a:schemeClr val="tx1"/>
                </a:solidFill>
                <a:latin typeface="+mn-ea"/>
              </a:rPr>
              <a:t>exp</a:t>
            </a:r>
            <a:r>
              <a:rPr lang="en-US" altLang="zh-CN" sz="2400" b="1" i="1" baseline="-25000" dirty="0">
                <a:solidFill>
                  <a:schemeClr val="tx1"/>
                </a:solidFill>
                <a:latin typeface="+mn-ea"/>
              </a:rPr>
              <a:t>1</a:t>
            </a:r>
            <a:r>
              <a:rPr lang="en-US" altLang="zh-CN" sz="2400" b="1" dirty="0">
                <a:solidFill>
                  <a:schemeClr val="tx1"/>
                </a:solidFill>
                <a:latin typeface="+mn-ea"/>
              </a:rPr>
              <a:t>→</a:t>
            </a:r>
            <a:r>
              <a:rPr lang="en-US" altLang="zh-CN" sz="2400" b="1" i="1" dirty="0">
                <a:solidFill>
                  <a:schemeClr val="tx1"/>
                </a:solidFill>
                <a:latin typeface="+mn-ea"/>
              </a:rPr>
              <a:t>exp</a:t>
            </a:r>
            <a:r>
              <a:rPr lang="en-US" altLang="zh-CN" sz="2400" b="1" i="1" baseline="-25000" dirty="0">
                <a:solidFill>
                  <a:schemeClr val="tx1"/>
                </a:solidFill>
                <a:latin typeface="+mn-ea"/>
              </a:rPr>
              <a:t>2</a:t>
            </a:r>
            <a:r>
              <a:rPr lang="en-US" altLang="zh-CN" sz="2400" b="1" dirty="0">
                <a:solidFill>
                  <a:schemeClr val="tx1"/>
                </a:solidFill>
                <a:latin typeface="+mn-ea"/>
              </a:rPr>
              <a:t> or </a:t>
            </a:r>
            <a:r>
              <a:rPr lang="en-US" altLang="zh-CN" sz="2400" b="1" i="1" dirty="0">
                <a:solidFill>
                  <a:schemeClr val="tx1"/>
                </a:solidFill>
                <a:latin typeface="+mn-ea"/>
              </a:rPr>
              <a:t>exp</a:t>
            </a:r>
            <a:r>
              <a:rPr lang="en-US" altLang="zh-CN" sz="2400" b="1" i="1" baseline="-25000" dirty="0">
                <a:solidFill>
                  <a:schemeClr val="tx1"/>
                </a:solidFill>
                <a:latin typeface="+mn-ea"/>
              </a:rPr>
              <a:t>3</a:t>
            </a:r>
            <a:endParaRPr lang="en-US" altLang="zh-CN" sz="2400" b="1" i="1" baseline="-25000" dirty="0">
              <a:solidFill>
                <a:schemeClr val="tx1"/>
              </a:solidFill>
              <a:latin typeface="+mn-ea"/>
            </a:endParaRPr>
          </a:p>
        </p:txBody>
      </p:sp>
      <p:sp>
        <p:nvSpPr>
          <p:cNvPr id="10" name="Rectangle 3"/>
          <p:cNvSpPr>
            <a:spLocks noChangeArrowheads="1"/>
          </p:cNvSpPr>
          <p:nvPr>
            <p:custDataLst>
              <p:tags r:id="rId3"/>
            </p:custDataLst>
          </p:nvPr>
        </p:nvSpPr>
        <p:spPr bwMode="auto">
          <a:xfrm>
            <a:off x="473710" y="4833303"/>
            <a:ext cx="2835453"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en-US" altLang="zh-CN" sz="2400" b="1" i="1">
                <a:solidFill>
                  <a:schemeClr val="tx1"/>
                </a:solidFill>
                <a:latin typeface="+mn-ea"/>
              </a:rPr>
              <a:t>exp</a:t>
            </a:r>
            <a:r>
              <a:rPr lang="en-US" altLang="zh-CN" sz="2400" b="1" i="1" baseline="-25000">
                <a:solidFill>
                  <a:schemeClr val="tx1"/>
                </a:solidFill>
                <a:latin typeface="+mn-ea"/>
              </a:rPr>
              <a:t>1</a:t>
            </a:r>
            <a:r>
              <a:rPr lang="en-US" altLang="zh-CN" sz="2400" b="1">
                <a:solidFill>
                  <a:schemeClr val="tx1"/>
                </a:solidFill>
                <a:latin typeface="+mn-ea"/>
              </a:rPr>
              <a:t>→</a:t>
            </a:r>
            <a:r>
              <a:rPr lang="en-US" altLang="zh-CN" sz="2400" b="1" i="1">
                <a:solidFill>
                  <a:schemeClr val="tx1"/>
                </a:solidFill>
                <a:latin typeface="+mn-ea"/>
              </a:rPr>
              <a:t>exp</a:t>
            </a:r>
            <a:r>
              <a:rPr lang="en-US" altLang="zh-CN" sz="2400" b="1" i="1" baseline="-25000">
                <a:solidFill>
                  <a:schemeClr val="tx1"/>
                </a:solidFill>
                <a:latin typeface="+mn-ea"/>
              </a:rPr>
              <a:t>2</a:t>
            </a:r>
            <a:r>
              <a:rPr lang="en-US" altLang="zh-CN" sz="2400" b="1">
                <a:solidFill>
                  <a:schemeClr val="tx1"/>
                </a:solidFill>
                <a:latin typeface="+mn-ea"/>
              </a:rPr>
              <a:t>[</a:t>
            </a:r>
            <a:r>
              <a:rPr lang="en-US" altLang="zh-CN" sz="2400" b="1" i="1">
                <a:solidFill>
                  <a:schemeClr val="tx1"/>
                </a:solidFill>
                <a:latin typeface="+mn-ea"/>
              </a:rPr>
              <a:t>exp</a:t>
            </a:r>
            <a:r>
              <a:rPr lang="en-US" altLang="zh-CN" sz="2400" b="1" i="1" baseline="-25000">
                <a:solidFill>
                  <a:schemeClr val="tx1"/>
                </a:solidFill>
                <a:latin typeface="+mn-ea"/>
              </a:rPr>
              <a:t>3</a:t>
            </a:r>
            <a:r>
              <a:rPr lang="en-US" altLang="zh-CN" sz="2400" b="1">
                <a:solidFill>
                  <a:schemeClr val="tx1"/>
                </a:solidFill>
                <a:latin typeface="+mn-ea"/>
              </a:rPr>
              <a:t>]</a:t>
            </a:r>
            <a:endParaRPr lang="en-US" altLang="zh-CN" sz="2400" b="1">
              <a:solidFill>
                <a:schemeClr val="tx1"/>
              </a:solidFill>
              <a:latin typeface="+mn-ea"/>
            </a:endParaRPr>
          </a:p>
        </p:txBody>
      </p:sp>
      <p:sp>
        <p:nvSpPr>
          <p:cNvPr id="12" name="Rectangle 4"/>
          <p:cNvSpPr>
            <a:spLocks noChangeArrowheads="1"/>
          </p:cNvSpPr>
          <p:nvPr>
            <p:custDataLst>
              <p:tags r:id="rId4"/>
            </p:custDataLst>
          </p:nvPr>
        </p:nvSpPr>
        <p:spPr bwMode="auto">
          <a:xfrm>
            <a:off x="580390" y="5253990"/>
            <a:ext cx="842073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indent="0" fontAlgn="auto">
              <a:lnSpc>
                <a:spcPct val="125000"/>
              </a:lnSpc>
              <a:spcBef>
                <a:spcPts val="0"/>
              </a:spcBef>
              <a:spcAft>
                <a:spcPts val="0"/>
              </a:spcAft>
            </a:pPr>
            <a:r>
              <a:rPr lang="en-US" altLang="zh-CN" sz="2400" b="1" dirty="0">
                <a:solidFill>
                  <a:schemeClr val="accent1"/>
                </a:solidFill>
                <a:latin typeface="+mn-ea"/>
              </a:rPr>
              <a:t>if </a:t>
            </a:r>
            <a:r>
              <a:rPr lang="en-US" altLang="zh-CN" sz="2400" b="1" dirty="0" err="1">
                <a:solidFill>
                  <a:schemeClr val="accent1"/>
                </a:solidFill>
                <a:latin typeface="+mn-ea"/>
              </a:rPr>
              <a:t>isArrayType</a:t>
            </a:r>
            <a:r>
              <a:rPr lang="en-US" altLang="zh-CN" sz="2400" b="1" dirty="0">
                <a:solidFill>
                  <a:schemeClr val="accent1"/>
                </a:solidFill>
                <a:latin typeface="+mn-ea"/>
              </a:rPr>
              <a:t>(</a:t>
            </a:r>
            <a:r>
              <a:rPr lang="en-US" altLang="zh-CN" sz="2400" b="1" i="1" dirty="0">
                <a:solidFill>
                  <a:schemeClr val="accent1"/>
                </a:solidFill>
                <a:latin typeface="+mn-ea"/>
              </a:rPr>
              <a:t>exp2</a:t>
            </a:r>
            <a:r>
              <a:rPr lang="en-US" altLang="zh-CN" sz="2400" b="1" dirty="0">
                <a:solidFill>
                  <a:schemeClr val="accent1"/>
                </a:solidFill>
                <a:latin typeface="+mn-ea"/>
              </a:rPr>
              <a:t>.type)  and </a:t>
            </a:r>
            <a:r>
              <a:rPr lang="en-US" altLang="zh-CN" sz="2400" b="1" dirty="0" err="1">
                <a:solidFill>
                  <a:schemeClr val="accent1"/>
                </a:solidFill>
                <a:latin typeface="+mn-ea"/>
              </a:rPr>
              <a:t>typeEqual</a:t>
            </a:r>
            <a:r>
              <a:rPr lang="en-US" altLang="zh-CN" sz="2400" b="1" dirty="0">
                <a:solidFill>
                  <a:schemeClr val="accent1"/>
                </a:solidFill>
                <a:latin typeface="+mn-ea"/>
              </a:rPr>
              <a:t>(</a:t>
            </a:r>
            <a:r>
              <a:rPr lang="en-US" altLang="zh-CN" sz="2400" b="1" i="1" dirty="0">
                <a:solidFill>
                  <a:schemeClr val="accent1"/>
                </a:solidFill>
                <a:latin typeface="+mn-ea"/>
              </a:rPr>
              <a:t>exp3</a:t>
            </a:r>
            <a:r>
              <a:rPr lang="en-US" altLang="zh-CN" sz="2400" b="1" dirty="0">
                <a:solidFill>
                  <a:schemeClr val="accent1"/>
                </a:solidFill>
                <a:latin typeface="+mn-ea"/>
              </a:rPr>
              <a:t>.type,integer) then  </a:t>
            </a:r>
            <a:r>
              <a:rPr lang="en-US" altLang="zh-CN" sz="2400" b="1" i="1" dirty="0">
                <a:solidFill>
                  <a:schemeClr val="accent1"/>
                </a:solidFill>
                <a:latin typeface="+mn-ea"/>
              </a:rPr>
              <a:t>exp1</a:t>
            </a:r>
            <a:r>
              <a:rPr lang="en-US" altLang="zh-CN" sz="2400" b="1" dirty="0">
                <a:solidFill>
                  <a:schemeClr val="accent1"/>
                </a:solidFill>
                <a:latin typeface="+mn-ea"/>
              </a:rPr>
              <a:t>.type:=</a:t>
            </a:r>
            <a:r>
              <a:rPr lang="en-US" altLang="zh-CN" sz="2400" b="1" i="1" dirty="0">
                <a:solidFill>
                  <a:schemeClr val="accent1"/>
                </a:solidFill>
                <a:latin typeface="+mn-ea"/>
              </a:rPr>
              <a:t>exp2</a:t>
            </a:r>
            <a:r>
              <a:rPr lang="en-US" altLang="zh-CN" sz="2400" b="1" dirty="0">
                <a:solidFill>
                  <a:schemeClr val="accent1"/>
                </a:solidFill>
                <a:latin typeface="+mn-ea"/>
              </a:rPr>
              <a:t>.type.child1   else   type-error(</a:t>
            </a:r>
            <a:r>
              <a:rPr lang="en-US" altLang="zh-CN" sz="2400" b="1" i="1" dirty="0">
                <a:solidFill>
                  <a:schemeClr val="accent1"/>
                </a:solidFill>
                <a:latin typeface="+mn-ea"/>
              </a:rPr>
              <a:t>exp1</a:t>
            </a:r>
            <a:r>
              <a:rPr lang="en-US" altLang="zh-CN" sz="2400" b="1" dirty="0">
                <a:solidFill>
                  <a:schemeClr val="accent1"/>
                </a:solidFill>
                <a:latin typeface="+mn-ea"/>
              </a:rPr>
              <a:t>)</a:t>
            </a:r>
            <a:endParaRPr lang="en-US" altLang="zh-CN" sz="2400" b="1" dirty="0">
              <a:solidFill>
                <a:schemeClr val="accent1"/>
              </a:solidFill>
              <a:latin typeface="+mn-ea"/>
            </a:endParaRPr>
          </a:p>
        </p:txBody>
      </p:sp>
      <p:sp>
        <p:nvSpPr>
          <p:cNvPr id="13" name="文本占位符 11"/>
          <p:cNvSpPr>
            <a:spLocks noGrp="1"/>
          </p:cNvSpPr>
          <p:nvPr>
            <p:custDataLst>
              <p:tags r:id="rId5"/>
            </p:custDataLst>
          </p:nvPr>
        </p:nvSpPr>
        <p:spPr>
          <a:xfrm>
            <a:off x="370205" y="276860"/>
            <a:ext cx="6965315" cy="59309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lang="zh-CN" altLang="en-US" sz="3600" b="1" kern="1200" dirty="0" smtClean="0">
                <a:solidFill>
                  <a:schemeClr val="bg1"/>
                </a:solidFill>
                <a:latin typeface="+mn-ea"/>
                <a:ea typeface="+mn-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5.3 </a:t>
            </a:r>
            <a:r>
              <a:rPr lang="zh-CN" altLang="en-US" dirty="0"/>
              <a:t>数据类型和类型检查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1"/>
          <p:cNvSpPr>
            <a:spLocks noGrp="1"/>
          </p:cNvSpPr>
          <p:nvPr>
            <p:ph type="body" sz="quarter" idx="14"/>
          </p:nvPr>
        </p:nvSpPr>
        <p:spPr>
          <a:xfrm>
            <a:off x="452120" y="1440815"/>
            <a:ext cx="5861050" cy="593090"/>
          </a:xfrm>
        </p:spPr>
        <p:txBody>
          <a:bodyPr/>
          <a:lstStyle/>
          <a:p>
            <a:r>
              <a:rPr lang="en-US" altLang="zh-CN" sz="2400" dirty="0">
                <a:solidFill>
                  <a:schemeClr val="tx1"/>
                </a:solidFill>
              </a:rPr>
              <a:t>3</a:t>
            </a:r>
            <a:r>
              <a:rPr sz="2400" dirty="0">
                <a:solidFill>
                  <a:schemeClr val="tx1"/>
                </a:solidFill>
              </a:rPr>
              <a:t>）语句</a:t>
            </a:r>
            <a:r>
              <a:rPr lang="zh-CN" altLang="en-US" sz="2400" dirty="0">
                <a:solidFill>
                  <a:schemeClr val="tx1"/>
                </a:solidFill>
              </a:rPr>
              <a:t>类型检查</a:t>
            </a:r>
            <a:endParaRPr lang="zh-CN" altLang="en-US" sz="2400" dirty="0">
              <a:solidFill>
                <a:schemeClr val="tx1"/>
              </a:solidFill>
            </a:endParaRPr>
          </a:p>
        </p:txBody>
      </p:sp>
      <p:sp>
        <p:nvSpPr>
          <p:cNvPr id="7" name="Rectangle 2"/>
          <p:cNvSpPr>
            <a:spLocks noChangeArrowheads="1"/>
          </p:cNvSpPr>
          <p:nvPr/>
        </p:nvSpPr>
        <p:spPr bwMode="auto">
          <a:xfrm>
            <a:off x="490961" y="2579350"/>
            <a:ext cx="221260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i="1">
                <a:solidFill>
                  <a:schemeClr val="tx1"/>
                </a:solidFill>
                <a:latin typeface="+mn-ea"/>
              </a:rPr>
              <a:t>exp</a:t>
            </a:r>
            <a:r>
              <a:rPr lang="en-US" altLang="zh-CN" sz="2400" b="1">
                <a:solidFill>
                  <a:schemeClr val="tx1"/>
                </a:solidFill>
                <a:latin typeface="+mn-ea"/>
              </a:rPr>
              <a:t>→</a:t>
            </a:r>
            <a:r>
              <a:rPr lang="en-US" altLang="zh-CN" sz="2400" b="1" i="1">
                <a:solidFill>
                  <a:schemeClr val="tx1"/>
                </a:solidFill>
                <a:latin typeface="+mn-ea"/>
              </a:rPr>
              <a:t>num</a:t>
            </a:r>
            <a:endParaRPr lang="en-US" altLang="zh-CN" sz="2400" b="1" i="1">
              <a:solidFill>
                <a:schemeClr val="tx1"/>
              </a:solidFill>
              <a:latin typeface="+mn-ea"/>
            </a:endParaRPr>
          </a:p>
        </p:txBody>
      </p:sp>
      <p:sp>
        <p:nvSpPr>
          <p:cNvPr id="8" name="Rectangle 3"/>
          <p:cNvSpPr>
            <a:spLocks noChangeArrowheads="1"/>
          </p:cNvSpPr>
          <p:nvPr/>
        </p:nvSpPr>
        <p:spPr bwMode="auto">
          <a:xfrm>
            <a:off x="502073" y="3003213"/>
            <a:ext cx="21217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i="1">
                <a:solidFill>
                  <a:schemeClr val="tx1"/>
                </a:solidFill>
                <a:latin typeface="+mn-ea"/>
              </a:rPr>
              <a:t>exp</a:t>
            </a:r>
            <a:r>
              <a:rPr lang="en-US" altLang="zh-CN" sz="2400" b="1">
                <a:solidFill>
                  <a:schemeClr val="tx1"/>
                </a:solidFill>
                <a:latin typeface="+mn-ea"/>
              </a:rPr>
              <a:t>→true</a:t>
            </a:r>
            <a:endParaRPr lang="en-US" altLang="zh-CN" sz="2400" b="1">
              <a:solidFill>
                <a:schemeClr val="tx1"/>
              </a:solidFill>
              <a:latin typeface="+mn-ea"/>
            </a:endParaRPr>
          </a:p>
        </p:txBody>
      </p:sp>
      <p:sp>
        <p:nvSpPr>
          <p:cNvPr id="9" name="Rectangle 4"/>
          <p:cNvSpPr>
            <a:spLocks noChangeArrowheads="1"/>
          </p:cNvSpPr>
          <p:nvPr/>
        </p:nvSpPr>
        <p:spPr bwMode="auto">
          <a:xfrm>
            <a:off x="502074" y="3473113"/>
            <a:ext cx="23359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i="1">
                <a:solidFill>
                  <a:schemeClr val="tx1"/>
                </a:solidFill>
                <a:latin typeface="+mn-ea"/>
              </a:rPr>
              <a:t>exp</a:t>
            </a:r>
            <a:r>
              <a:rPr lang="en-US" altLang="zh-CN" sz="2400" b="1">
                <a:solidFill>
                  <a:schemeClr val="tx1"/>
                </a:solidFill>
                <a:latin typeface="+mn-ea"/>
              </a:rPr>
              <a:t>→false</a:t>
            </a:r>
            <a:endParaRPr lang="en-US" altLang="zh-CN" sz="2400" b="1">
              <a:solidFill>
                <a:schemeClr val="tx1"/>
              </a:solidFill>
              <a:latin typeface="+mn-ea"/>
            </a:endParaRPr>
          </a:p>
        </p:txBody>
      </p:sp>
      <p:sp>
        <p:nvSpPr>
          <p:cNvPr id="14" name="Rectangle 5"/>
          <p:cNvSpPr>
            <a:spLocks noChangeArrowheads="1"/>
          </p:cNvSpPr>
          <p:nvPr/>
        </p:nvSpPr>
        <p:spPr bwMode="auto">
          <a:xfrm>
            <a:off x="502073" y="4006513"/>
            <a:ext cx="169334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i="1">
                <a:solidFill>
                  <a:schemeClr val="tx1"/>
                </a:solidFill>
                <a:latin typeface="+mn-ea"/>
              </a:rPr>
              <a:t>exp</a:t>
            </a:r>
            <a:r>
              <a:rPr lang="en-US" altLang="zh-CN" sz="2400" b="1">
                <a:solidFill>
                  <a:schemeClr val="tx1"/>
                </a:solidFill>
                <a:latin typeface="+mn-ea"/>
              </a:rPr>
              <a:t>→id</a:t>
            </a:r>
            <a:endParaRPr lang="en-US" altLang="zh-CN" sz="2400" b="1">
              <a:solidFill>
                <a:schemeClr val="tx1"/>
              </a:solidFill>
              <a:latin typeface="+mn-ea"/>
            </a:endParaRPr>
          </a:p>
        </p:txBody>
      </p:sp>
      <p:sp>
        <p:nvSpPr>
          <p:cNvPr id="15" name="Rectangle 6"/>
          <p:cNvSpPr>
            <a:spLocks noChangeArrowheads="1"/>
          </p:cNvSpPr>
          <p:nvPr/>
        </p:nvSpPr>
        <p:spPr bwMode="auto">
          <a:xfrm>
            <a:off x="4067281" y="2511088"/>
            <a:ext cx="3839521"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i="1" dirty="0" err="1">
                <a:solidFill>
                  <a:schemeClr val="accent1"/>
                </a:solidFill>
                <a:latin typeface="+mn-ea"/>
              </a:rPr>
              <a:t>exp</a:t>
            </a:r>
            <a:r>
              <a:rPr lang="en-US" altLang="zh-CN" sz="2400" b="1" dirty="0" err="1">
                <a:solidFill>
                  <a:schemeClr val="accent1"/>
                </a:solidFill>
                <a:latin typeface="+mn-ea"/>
              </a:rPr>
              <a:t>.type</a:t>
            </a:r>
            <a:r>
              <a:rPr lang="en-US" altLang="zh-CN" sz="2400" b="1" dirty="0">
                <a:solidFill>
                  <a:schemeClr val="accent1"/>
                </a:solidFill>
                <a:latin typeface="+mn-ea"/>
              </a:rPr>
              <a:t>:=integer</a:t>
            </a:r>
            <a:endParaRPr lang="en-US" altLang="zh-CN" sz="2400" b="1" dirty="0">
              <a:solidFill>
                <a:schemeClr val="accent1"/>
              </a:solidFill>
              <a:latin typeface="+mn-ea"/>
            </a:endParaRPr>
          </a:p>
        </p:txBody>
      </p:sp>
      <p:sp>
        <p:nvSpPr>
          <p:cNvPr id="16" name="Rectangle 7"/>
          <p:cNvSpPr>
            <a:spLocks noChangeArrowheads="1"/>
          </p:cNvSpPr>
          <p:nvPr/>
        </p:nvSpPr>
        <p:spPr bwMode="auto">
          <a:xfrm>
            <a:off x="4097443" y="2946063"/>
            <a:ext cx="3839521"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i="1">
                <a:solidFill>
                  <a:schemeClr val="accent1"/>
                </a:solidFill>
                <a:latin typeface="+mn-ea"/>
              </a:rPr>
              <a:t>exp</a:t>
            </a:r>
            <a:r>
              <a:rPr lang="en-US" altLang="zh-CN" sz="2400" b="1">
                <a:solidFill>
                  <a:schemeClr val="accent1"/>
                </a:solidFill>
                <a:latin typeface="+mn-ea"/>
              </a:rPr>
              <a:t>.type:=boolean</a:t>
            </a:r>
            <a:endParaRPr lang="en-US" altLang="zh-CN" sz="2400" b="1">
              <a:solidFill>
                <a:schemeClr val="accent1"/>
              </a:solidFill>
              <a:latin typeface="+mn-ea"/>
            </a:endParaRPr>
          </a:p>
        </p:txBody>
      </p:sp>
      <p:sp>
        <p:nvSpPr>
          <p:cNvPr id="17" name="Rectangle 8"/>
          <p:cNvSpPr>
            <a:spLocks noChangeArrowheads="1"/>
          </p:cNvSpPr>
          <p:nvPr/>
        </p:nvSpPr>
        <p:spPr bwMode="auto">
          <a:xfrm>
            <a:off x="4097443" y="3415963"/>
            <a:ext cx="3839521"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i="1">
                <a:solidFill>
                  <a:schemeClr val="accent1"/>
                </a:solidFill>
                <a:latin typeface="+mn-ea"/>
              </a:rPr>
              <a:t>exp</a:t>
            </a:r>
            <a:r>
              <a:rPr lang="en-US" altLang="zh-CN" sz="2400" b="1">
                <a:solidFill>
                  <a:schemeClr val="accent1"/>
                </a:solidFill>
                <a:latin typeface="+mn-ea"/>
              </a:rPr>
              <a:t>.type:=boolean</a:t>
            </a:r>
            <a:endParaRPr lang="en-US" altLang="zh-CN" sz="2400" b="1">
              <a:solidFill>
                <a:schemeClr val="accent1"/>
              </a:solidFill>
              <a:latin typeface="+mn-ea"/>
            </a:endParaRPr>
          </a:p>
        </p:txBody>
      </p:sp>
      <p:sp>
        <p:nvSpPr>
          <p:cNvPr id="18" name="Rectangle 9"/>
          <p:cNvSpPr>
            <a:spLocks noChangeArrowheads="1"/>
          </p:cNvSpPr>
          <p:nvPr/>
        </p:nvSpPr>
        <p:spPr bwMode="auto">
          <a:xfrm>
            <a:off x="4097443" y="3949363"/>
            <a:ext cx="455400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i="1">
                <a:solidFill>
                  <a:schemeClr val="accent1"/>
                </a:solidFill>
                <a:latin typeface="+mn-ea"/>
              </a:rPr>
              <a:t>exp</a:t>
            </a:r>
            <a:r>
              <a:rPr lang="en-US" altLang="zh-CN" sz="2400" b="1">
                <a:solidFill>
                  <a:schemeClr val="accent1"/>
                </a:solidFill>
                <a:latin typeface="+mn-ea"/>
              </a:rPr>
              <a:t>.type:=lookup(id.name)</a:t>
            </a:r>
            <a:endParaRPr lang="en-US" altLang="zh-CN" sz="2400" b="1">
              <a:solidFill>
                <a:schemeClr val="accent1"/>
              </a:solidFill>
              <a:latin typeface="+mn-ea"/>
            </a:endParaRPr>
          </a:p>
        </p:txBody>
      </p:sp>
      <p:sp>
        <p:nvSpPr>
          <p:cNvPr id="19" name="Rectangle 10"/>
          <p:cNvSpPr>
            <a:spLocks noChangeArrowheads="1"/>
          </p:cNvSpPr>
          <p:nvPr/>
        </p:nvSpPr>
        <p:spPr bwMode="auto">
          <a:xfrm>
            <a:off x="623888" y="2110423"/>
            <a:ext cx="723000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070C0"/>
                </a:solidFill>
                <a:latin typeface="+mn-ea"/>
              </a:rPr>
              <a:t>产生式                  </a:t>
            </a:r>
            <a:r>
              <a:rPr lang="en-US" altLang="zh-CN" sz="2800" b="1" dirty="0">
                <a:solidFill>
                  <a:srgbClr val="0070C0"/>
                </a:solidFill>
                <a:latin typeface="+mn-ea"/>
              </a:rPr>
              <a:t>   </a:t>
            </a:r>
            <a:r>
              <a:rPr lang="zh-CN" altLang="en-US" sz="2800" b="1" dirty="0">
                <a:solidFill>
                  <a:srgbClr val="0070C0"/>
                </a:solidFill>
                <a:latin typeface="+mn-ea"/>
              </a:rPr>
              <a:t>语义规则</a:t>
            </a:r>
            <a:endParaRPr lang="zh-CN" altLang="en-US" sz="2800" b="1" dirty="0">
              <a:solidFill>
                <a:srgbClr val="0070C0"/>
              </a:solidFill>
              <a:latin typeface="+mn-ea"/>
            </a:endParaRPr>
          </a:p>
        </p:txBody>
      </p:sp>
      <p:sp>
        <p:nvSpPr>
          <p:cNvPr id="12" name="Rectangle 3"/>
          <p:cNvSpPr>
            <a:spLocks noChangeArrowheads="1"/>
          </p:cNvSpPr>
          <p:nvPr>
            <p:custDataLst>
              <p:tags r:id="rId1"/>
            </p:custDataLst>
          </p:nvPr>
        </p:nvSpPr>
        <p:spPr bwMode="auto">
          <a:xfrm>
            <a:off x="452120" y="4514850"/>
            <a:ext cx="394271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en-US" altLang="zh-CN" sz="2400" b="1" i="1" dirty="0" err="1">
                <a:solidFill>
                  <a:schemeClr val="tx1"/>
                </a:solidFill>
                <a:latin typeface="+mn-ea"/>
              </a:rPr>
              <a:t>stmt</a:t>
            </a:r>
            <a:r>
              <a:rPr lang="en-US" altLang="zh-CN" sz="2400" b="1" dirty="0" err="1">
                <a:solidFill>
                  <a:schemeClr val="tx1"/>
                </a:solidFill>
                <a:latin typeface="+mn-ea"/>
              </a:rPr>
              <a:t>→if</a:t>
            </a:r>
            <a:r>
              <a:rPr lang="en-US" altLang="zh-CN" sz="2400" b="1" dirty="0">
                <a:solidFill>
                  <a:schemeClr val="tx1"/>
                </a:solidFill>
                <a:latin typeface="+mn-ea"/>
              </a:rPr>
              <a:t> </a:t>
            </a:r>
            <a:r>
              <a:rPr lang="en-US" altLang="zh-CN" sz="2400" b="1" i="1" dirty="0">
                <a:solidFill>
                  <a:schemeClr val="tx1"/>
                </a:solidFill>
                <a:latin typeface="+mn-ea"/>
              </a:rPr>
              <a:t>exp</a:t>
            </a:r>
            <a:r>
              <a:rPr lang="en-US" altLang="zh-CN" sz="2400" b="1" dirty="0">
                <a:solidFill>
                  <a:schemeClr val="tx1"/>
                </a:solidFill>
                <a:latin typeface="+mn-ea"/>
              </a:rPr>
              <a:t> then </a:t>
            </a:r>
            <a:r>
              <a:rPr lang="en-US" altLang="zh-CN" sz="2400" b="1" i="1" dirty="0" err="1">
                <a:solidFill>
                  <a:schemeClr val="tx1"/>
                </a:solidFill>
                <a:latin typeface="+mn-ea"/>
              </a:rPr>
              <a:t>stmt</a:t>
            </a:r>
            <a:endParaRPr lang="en-US" altLang="zh-CN" sz="2400" b="1" i="1" dirty="0" err="1">
              <a:solidFill>
                <a:schemeClr val="tx1"/>
              </a:solidFill>
              <a:latin typeface="+mn-ea"/>
            </a:endParaRPr>
          </a:p>
        </p:txBody>
      </p:sp>
      <p:sp>
        <p:nvSpPr>
          <p:cNvPr id="13" name="Rectangle 4"/>
          <p:cNvSpPr>
            <a:spLocks noChangeArrowheads="1"/>
          </p:cNvSpPr>
          <p:nvPr>
            <p:custDataLst>
              <p:tags r:id="rId2"/>
            </p:custDataLst>
          </p:nvPr>
        </p:nvSpPr>
        <p:spPr bwMode="auto">
          <a:xfrm>
            <a:off x="545148" y="5372207"/>
            <a:ext cx="312420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lnSpc>
                <a:spcPct val="120000"/>
              </a:lnSpc>
              <a:spcBef>
                <a:spcPct val="50000"/>
              </a:spcBef>
            </a:pPr>
            <a:r>
              <a:rPr lang="en-US" altLang="zh-CN" sz="2400" b="1" i="1" dirty="0" err="1">
                <a:solidFill>
                  <a:schemeClr val="tx1"/>
                </a:solidFill>
                <a:latin typeface="+mn-ea"/>
              </a:rPr>
              <a:t>stmt</a:t>
            </a:r>
            <a:r>
              <a:rPr lang="en-US" altLang="zh-CN" sz="2400" b="1" dirty="0">
                <a:solidFill>
                  <a:schemeClr val="tx1"/>
                </a:solidFill>
                <a:latin typeface="+mn-ea"/>
              </a:rPr>
              <a:t>→ id:=</a:t>
            </a:r>
            <a:r>
              <a:rPr lang="en-US" altLang="zh-CN" sz="2400" b="1" i="1" dirty="0">
                <a:solidFill>
                  <a:schemeClr val="tx1"/>
                </a:solidFill>
                <a:latin typeface="+mn-ea"/>
              </a:rPr>
              <a:t>exp</a:t>
            </a:r>
            <a:endParaRPr lang="en-US" altLang="zh-CN" sz="2400" b="1" i="1" dirty="0">
              <a:solidFill>
                <a:schemeClr val="tx1"/>
              </a:solidFill>
              <a:latin typeface="+mn-ea"/>
            </a:endParaRPr>
          </a:p>
        </p:txBody>
      </p:sp>
      <p:sp>
        <p:nvSpPr>
          <p:cNvPr id="21" name="Rectangle 6"/>
          <p:cNvSpPr>
            <a:spLocks noChangeArrowheads="1"/>
          </p:cNvSpPr>
          <p:nvPr>
            <p:custDataLst>
              <p:tags r:id="rId3"/>
            </p:custDataLst>
          </p:nvPr>
        </p:nvSpPr>
        <p:spPr bwMode="auto">
          <a:xfrm>
            <a:off x="1539875" y="4952365"/>
            <a:ext cx="960691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en-US" altLang="zh-CN" sz="2400" b="1" dirty="0">
                <a:solidFill>
                  <a:schemeClr val="accent1"/>
                </a:solidFill>
                <a:latin typeface="+mn-ea"/>
              </a:rPr>
              <a:t>if not </a:t>
            </a:r>
            <a:r>
              <a:rPr lang="en-US" altLang="zh-CN" sz="2400" b="1" dirty="0" err="1">
                <a:solidFill>
                  <a:schemeClr val="accent1"/>
                </a:solidFill>
                <a:latin typeface="+mn-ea"/>
              </a:rPr>
              <a:t>typeEqual</a:t>
            </a:r>
            <a:r>
              <a:rPr lang="en-US" altLang="zh-CN" sz="2400" b="1" dirty="0">
                <a:solidFill>
                  <a:schemeClr val="accent1"/>
                </a:solidFill>
                <a:latin typeface="+mn-ea"/>
              </a:rPr>
              <a:t>(</a:t>
            </a:r>
            <a:r>
              <a:rPr lang="en-US" altLang="zh-CN" sz="2400" b="1" i="1" dirty="0" err="1">
                <a:solidFill>
                  <a:schemeClr val="accent1"/>
                </a:solidFill>
                <a:latin typeface="+mn-ea"/>
              </a:rPr>
              <a:t>exp</a:t>
            </a:r>
            <a:r>
              <a:rPr lang="en-US" altLang="zh-CN" sz="2400" b="1" dirty="0" err="1">
                <a:solidFill>
                  <a:schemeClr val="accent1"/>
                </a:solidFill>
                <a:latin typeface="+mn-ea"/>
              </a:rPr>
              <a:t>.type</a:t>
            </a:r>
            <a:r>
              <a:rPr lang="en-US" altLang="zh-CN" sz="2400" b="1" dirty="0">
                <a:solidFill>
                  <a:schemeClr val="accent1"/>
                </a:solidFill>
                <a:latin typeface="+mn-ea"/>
              </a:rPr>
              <a:t>, </a:t>
            </a:r>
            <a:r>
              <a:rPr lang="en-US" altLang="zh-CN" sz="2400" b="1" dirty="0" err="1">
                <a:solidFill>
                  <a:schemeClr val="accent1"/>
                </a:solidFill>
                <a:latin typeface="+mn-ea"/>
              </a:rPr>
              <a:t>boolean</a:t>
            </a:r>
            <a:r>
              <a:rPr lang="en-US" altLang="zh-CN" sz="2400" b="1" dirty="0">
                <a:solidFill>
                  <a:schemeClr val="accent1"/>
                </a:solidFill>
                <a:latin typeface="+mn-ea"/>
              </a:rPr>
              <a:t>) then  type-error(</a:t>
            </a:r>
            <a:r>
              <a:rPr lang="en-US" altLang="zh-CN" sz="2400" b="1" i="1" dirty="0" err="1">
                <a:solidFill>
                  <a:schemeClr val="accent1"/>
                </a:solidFill>
                <a:latin typeface="+mn-ea"/>
              </a:rPr>
              <a:t>stmt</a:t>
            </a:r>
            <a:r>
              <a:rPr lang="en-US" altLang="zh-CN" sz="2400" b="1" dirty="0">
                <a:solidFill>
                  <a:schemeClr val="accent1"/>
                </a:solidFill>
                <a:latin typeface="+mn-ea"/>
              </a:rPr>
              <a:t>)</a:t>
            </a:r>
            <a:endParaRPr lang="en-US" altLang="zh-CN" sz="2400" b="1" dirty="0">
              <a:solidFill>
                <a:schemeClr val="accent1"/>
              </a:solidFill>
              <a:latin typeface="+mn-ea"/>
            </a:endParaRPr>
          </a:p>
        </p:txBody>
      </p:sp>
      <p:sp>
        <p:nvSpPr>
          <p:cNvPr id="22" name="Rectangle 7"/>
          <p:cNvSpPr>
            <a:spLocks noChangeArrowheads="1"/>
          </p:cNvSpPr>
          <p:nvPr>
            <p:custDataLst>
              <p:tags r:id="rId4"/>
            </p:custDataLst>
          </p:nvPr>
        </p:nvSpPr>
        <p:spPr bwMode="auto">
          <a:xfrm>
            <a:off x="1539875" y="5725795"/>
            <a:ext cx="1026223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0000"/>
              </a:lnSpc>
              <a:spcBef>
                <a:spcPct val="50000"/>
              </a:spcBef>
            </a:pPr>
            <a:r>
              <a:rPr lang="en-US" altLang="zh-CN" sz="2400" b="1" dirty="0">
                <a:solidFill>
                  <a:schemeClr val="accent1"/>
                </a:solidFill>
                <a:latin typeface="+mn-ea"/>
              </a:rPr>
              <a:t>if not </a:t>
            </a:r>
            <a:r>
              <a:rPr lang="en-US" altLang="zh-CN" sz="2400" b="1" dirty="0" err="1">
                <a:solidFill>
                  <a:schemeClr val="accent1"/>
                </a:solidFill>
                <a:latin typeface="+mn-ea"/>
              </a:rPr>
              <a:t>typeEqual</a:t>
            </a:r>
            <a:r>
              <a:rPr lang="en-US" altLang="zh-CN" sz="2400" b="1" dirty="0">
                <a:solidFill>
                  <a:schemeClr val="accent1"/>
                </a:solidFill>
                <a:latin typeface="+mn-ea"/>
              </a:rPr>
              <a:t>(lookup(id.name)</a:t>
            </a:r>
            <a:r>
              <a:rPr lang="zh-CN" altLang="en-US" sz="2400" b="1" dirty="0">
                <a:solidFill>
                  <a:schemeClr val="accent1"/>
                </a:solidFill>
                <a:latin typeface="+mn-ea"/>
              </a:rPr>
              <a:t>, </a:t>
            </a:r>
            <a:r>
              <a:rPr lang="en-US" altLang="zh-CN" sz="2400" b="1" i="1" dirty="0" err="1">
                <a:solidFill>
                  <a:schemeClr val="accent1"/>
                </a:solidFill>
                <a:latin typeface="+mn-ea"/>
              </a:rPr>
              <a:t>exp</a:t>
            </a:r>
            <a:r>
              <a:rPr lang="en-US" altLang="zh-CN" sz="2400" b="1" dirty="0" err="1">
                <a:solidFill>
                  <a:schemeClr val="accent1"/>
                </a:solidFill>
                <a:latin typeface="+mn-ea"/>
              </a:rPr>
              <a:t>.type</a:t>
            </a:r>
            <a:r>
              <a:rPr lang="en-US" altLang="zh-CN" sz="2400" b="1" dirty="0">
                <a:solidFill>
                  <a:schemeClr val="accent1"/>
                </a:solidFill>
                <a:latin typeface="+mn-ea"/>
              </a:rPr>
              <a:t>) then type-error(</a:t>
            </a:r>
            <a:r>
              <a:rPr lang="en-US" altLang="zh-CN" sz="2400" b="1" i="1" dirty="0" err="1">
                <a:solidFill>
                  <a:schemeClr val="accent1"/>
                </a:solidFill>
                <a:latin typeface="+mn-ea"/>
              </a:rPr>
              <a:t>stmt</a:t>
            </a:r>
            <a:r>
              <a:rPr lang="en-US" altLang="zh-CN" sz="2400" b="1" dirty="0">
                <a:solidFill>
                  <a:schemeClr val="accent1"/>
                </a:solidFill>
                <a:latin typeface="+mn-ea"/>
              </a:rPr>
              <a:t>)</a:t>
            </a:r>
            <a:endParaRPr lang="en-US" altLang="zh-CN" sz="2400" b="1" dirty="0">
              <a:solidFill>
                <a:schemeClr val="accent1"/>
              </a:solidFill>
              <a:latin typeface="+mn-ea"/>
            </a:endParaRPr>
          </a:p>
        </p:txBody>
      </p:sp>
      <p:sp>
        <p:nvSpPr>
          <p:cNvPr id="2" name="文本占位符 11"/>
          <p:cNvSpPr>
            <a:spLocks noGrp="1"/>
          </p:cNvSpPr>
          <p:nvPr>
            <p:custDataLst>
              <p:tags r:id="rId5"/>
            </p:custDataLst>
          </p:nvPr>
        </p:nvSpPr>
        <p:spPr>
          <a:xfrm>
            <a:off x="370205" y="276860"/>
            <a:ext cx="6965315" cy="59309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lang="zh-CN" altLang="en-US" sz="3600" b="1" kern="1200" dirty="0" smtClean="0">
                <a:solidFill>
                  <a:schemeClr val="bg1"/>
                </a:solidFill>
                <a:latin typeface="+mn-ea"/>
                <a:ea typeface="+mn-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5.3 </a:t>
            </a:r>
            <a:r>
              <a:rPr lang="zh-CN" altLang="en-US" dirty="0"/>
              <a:t>数据类型和类型检查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Horizontal)">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arn(inHorizontal)">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1" grpId="0"/>
      <p:bldP spid="2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8610600" y="6356351"/>
            <a:ext cx="2743200" cy="365125"/>
          </a:xfrm>
        </p:spPr>
        <p:txBody>
          <a:bodyPr/>
          <a:p>
            <a:fld id="{5A1A6423-77BD-D842-A714-25250E903C41}" type="slidenum">
              <a:rPr kumimoji="1" lang="zh-CN" altLang="en-US" sz="900" smtClean="0"/>
            </a:fld>
            <a:endParaRPr kumimoji="1" lang="zh-CN" altLang="en-US" sz="900"/>
          </a:p>
        </p:txBody>
      </p:sp>
      <p:sp>
        <p:nvSpPr>
          <p:cNvPr id="3" name="文本框 2"/>
          <p:cNvSpPr txBox="1"/>
          <p:nvPr/>
        </p:nvSpPr>
        <p:spPr>
          <a:xfrm>
            <a:off x="2141220" y="2505075"/>
            <a:ext cx="9100185" cy="1861185"/>
          </a:xfrm>
          <a:prstGeom prst="rect">
            <a:avLst/>
          </a:prstGeom>
          <a:noFill/>
        </p:spPr>
        <p:txBody>
          <a:bodyPr wrap="square" rtlCol="0">
            <a:spAutoFit/>
          </a:bodyPr>
          <a:p>
            <a:r>
              <a:rPr lang="zh-CN" altLang="en-US" sz="11500"/>
              <a:t>思考与讨论</a:t>
            </a:r>
            <a:endParaRPr lang="zh-CN" altLang="en-US" sz="11500"/>
          </a:p>
        </p:txBody>
      </p:sp>
      <p:sp>
        <p:nvSpPr>
          <p:cNvPr id="12" name="文本占位符 11"/>
          <p:cNvSpPr>
            <a:spLocks noGrp="1"/>
          </p:cNvSpPr>
          <p:nvPr>
            <p:ph type="body" sz="quarter" idx="14"/>
          </p:nvPr>
        </p:nvSpPr>
        <p:spPr>
          <a:xfrm>
            <a:off x="438150" y="276860"/>
            <a:ext cx="7567295" cy="593090"/>
          </a:xfrm>
        </p:spPr>
        <p:txBody>
          <a:bodyPr/>
          <a:lstStyle/>
          <a:p>
            <a:r>
              <a:rPr lang="zh-CN" altLang="en-US" dirty="0"/>
              <a:t>本章小结</a:t>
            </a: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UNIT_PLACING_PICTURE_USER_VIEWPORT" val="{&quot;height&quot;:2884,&quot;width&quot;:2884}"/>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UNIT_TABLE_BEAUTIFY" val="smartTable{39469854-7d7b-4ccd-8445-ae7ec084168f}"/>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UNIT_TABLE_BEAUTIFY" val="smartTable{defacd0e-40e8-41ca-afff-df4af610df7b}"/>
  <p:tag name="TABLE_ENDDRAG_ORIGIN_RECT" val="353*222"/>
  <p:tag name="TABLE_ENDDRAG_RECT" val="577*146*353*222"/>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UNIT_TABLE_BEAUTIFY" val="smartTable{77b936a1-f292-4446-bb98-a1f7ca9a644b}"/>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PP_MARK_KEY" val="766f0d6e-5089-42bf-ad3f-d3f0387edbca"/>
  <p:tag name="COMMONDATA" val="eyJoZGlkIjoiMzJjODM0ODFlMzJmZDYxYTU5ZjM3ODk5NzI1YjE1OD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11524</Words>
  <Application>WPS 演示</Application>
  <PresentationFormat>全屏显示(4:3)</PresentationFormat>
  <Paragraphs>802</Paragraphs>
  <Slides>46</Slides>
  <Notes>11</Notes>
  <HiddenSlides>0</HiddenSlides>
  <MMClips>0</MMClips>
  <ScaleCrop>false</ScaleCrop>
  <HeadingPairs>
    <vt:vector size="8" baseType="variant">
      <vt:variant>
        <vt:lpstr>已用的字体</vt:lpstr>
      </vt:variant>
      <vt:variant>
        <vt:i4>41</vt:i4>
      </vt:variant>
      <vt:variant>
        <vt:lpstr>主题</vt:lpstr>
      </vt:variant>
      <vt:variant>
        <vt:i4>1</vt:i4>
      </vt:variant>
      <vt:variant>
        <vt:lpstr>嵌入 OLE 服务器</vt:lpstr>
      </vt:variant>
      <vt:variant>
        <vt:i4>1</vt:i4>
      </vt:variant>
      <vt:variant>
        <vt:lpstr>幻灯片标题</vt:lpstr>
      </vt:variant>
      <vt:variant>
        <vt:i4>46</vt:i4>
      </vt:variant>
    </vt:vector>
  </HeadingPairs>
  <TitlesOfParts>
    <vt:vector size="89" baseType="lpstr">
      <vt:lpstr>Arial</vt:lpstr>
      <vt:lpstr>宋体</vt:lpstr>
      <vt:lpstr>Wingdings</vt:lpstr>
      <vt:lpstr>微软雅黑</vt:lpstr>
      <vt:lpstr>Times New Roman</vt:lpstr>
      <vt:lpstr>等线</vt:lpstr>
      <vt:lpstr>等线 Light</vt:lpstr>
      <vt:lpstr>Wingdings</vt:lpstr>
      <vt:lpstr>Symbol</vt:lpstr>
      <vt:lpstr>Calibri</vt:lpstr>
      <vt:lpstr>Arial Unicode MS</vt:lpstr>
      <vt:lpstr>Calibri Light</vt:lpstr>
      <vt:lpstr>Courier New</vt:lpstr>
      <vt:lpstr>Courier</vt:lpstr>
      <vt:lpstr>仿宋_GB2312</vt:lpstr>
      <vt:lpstr>楷体_GB2312</vt:lpstr>
      <vt:lpstr>新宋体</vt:lpstr>
      <vt:lpstr>Cascadia Mono ExtraLight</vt:lpstr>
      <vt:lpstr>Cascadia Mono Light</vt:lpstr>
      <vt:lpstr>DejaVu Math TeX Gyre</vt:lpstr>
      <vt:lpstr>Yu Gothic UI Semilight</vt:lpstr>
      <vt:lpstr>Yu Gothic UI</vt:lpstr>
      <vt:lpstr>Cascadia Mono SemiBold</vt:lpstr>
      <vt:lpstr>Century Gothic</vt:lpstr>
      <vt:lpstr>Cambria</vt:lpstr>
      <vt:lpstr>Bahnschrift SemiLight SemiCondensed</vt:lpstr>
      <vt:lpstr>Bahnschrift Light Condensed</vt:lpstr>
      <vt:lpstr>Consolas</vt:lpstr>
      <vt:lpstr>Yu Gothic UI Light</vt:lpstr>
      <vt:lpstr>SimSun-ExtB</vt:lpstr>
      <vt:lpstr>Noto Serif SC Black</vt:lpstr>
      <vt:lpstr>MS Gothic</vt:lpstr>
      <vt:lpstr>隶书</vt:lpstr>
      <vt:lpstr>微软雅黑 Light</vt:lpstr>
      <vt:lpstr>方正楷体_GB2312</vt:lpstr>
      <vt:lpstr>Cascadia Mono SemiLight</vt:lpstr>
      <vt:lpstr>Century</vt:lpstr>
      <vt:lpstr>Bahnschrift Light</vt:lpstr>
      <vt:lpstr>Bahnschrift</vt:lpstr>
      <vt:lpstr>Cascadia Code Light</vt:lpstr>
      <vt:lpstr>Corbel</vt:lpstr>
      <vt:lpstr>Office 主题​​</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Wren</dc:creator>
  <cp:lastModifiedBy>马春燕</cp:lastModifiedBy>
  <cp:revision>321</cp:revision>
  <dcterms:created xsi:type="dcterms:W3CDTF">2024-03-16T07:28:00Z</dcterms:created>
  <dcterms:modified xsi:type="dcterms:W3CDTF">2026-04-05T00:23:35Z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089B7D4C9AF14EC8B7646782ED0CFC41_13</vt:lpwstr>
  </property>
  <property fmtid="{D5CDD505-2E9C-101B-9397-08002B2CF9AE}" pid="3" name="KSOProductBuildVer">
    <vt:lpwstr>2052-11.1.0.13703</vt:lpwstr>
  </property>
</Properties>
</file>