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45"/>
  </p:handoutMasterIdLst>
  <p:sldIdLst>
    <p:sldId id="690" r:id="rId3"/>
    <p:sldId id="539" r:id="rId4"/>
    <p:sldId id="258" r:id="rId5"/>
    <p:sldId id="542" r:id="rId6"/>
    <p:sldId id="544" r:id="rId7"/>
    <p:sldId id="547" r:id="rId8"/>
    <p:sldId id="549" r:id="rId10"/>
    <p:sldId id="551" r:id="rId11"/>
    <p:sldId id="553" r:id="rId12"/>
    <p:sldId id="555" r:id="rId13"/>
    <p:sldId id="556" r:id="rId14"/>
    <p:sldId id="558" r:id="rId15"/>
    <p:sldId id="561" r:id="rId16"/>
    <p:sldId id="563" r:id="rId17"/>
    <p:sldId id="565" r:id="rId18"/>
    <p:sldId id="566" r:id="rId19"/>
    <p:sldId id="568" r:id="rId20"/>
    <p:sldId id="572" r:id="rId21"/>
    <p:sldId id="574" r:id="rId22"/>
    <p:sldId id="576" r:id="rId23"/>
    <p:sldId id="578" r:id="rId24"/>
    <p:sldId id="583" r:id="rId25"/>
    <p:sldId id="587" r:id="rId26"/>
    <p:sldId id="749" r:id="rId27"/>
    <p:sldId id="591" r:id="rId28"/>
    <p:sldId id="595" r:id="rId29"/>
    <p:sldId id="596" r:id="rId30"/>
    <p:sldId id="597" r:id="rId31"/>
    <p:sldId id="598" r:id="rId32"/>
    <p:sldId id="599" r:id="rId33"/>
    <p:sldId id="600" r:id="rId34"/>
    <p:sldId id="601" r:id="rId35"/>
    <p:sldId id="602" r:id="rId36"/>
    <p:sldId id="603" r:id="rId37"/>
    <p:sldId id="604" r:id="rId38"/>
    <p:sldId id="750" r:id="rId39"/>
    <p:sldId id="610" r:id="rId40"/>
    <p:sldId id="751" r:id="rId41"/>
    <p:sldId id="752" r:id="rId42"/>
    <p:sldId id="614" r:id="rId43"/>
    <p:sldId id="753" r:id="rId44"/>
  </p:sldIdLst>
  <p:sldSz cx="12192000" cy="6858000"/>
  <p:notesSz cx="6858000" cy="9144000"/>
  <p:custDataLst>
    <p:tags r:id="rId5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ren"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1560" y="56"/>
      </p:cViewPr>
      <p:guideLst/>
    </p:cSldViewPr>
  </p:slideViewPr>
  <p:notesTextViewPr>
    <p:cViewPr>
      <p:scale>
        <a:sx n="1" d="1"/>
        <a:sy n="1" d="1"/>
      </p:scale>
      <p:origin x="0" y="0"/>
    </p:cViewPr>
  </p:notesText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gs" Target="tags/tag290.xml"/><Relationship Id="rId5" Type="http://schemas.openxmlformats.org/officeDocument/2006/relationships/slide" Target="slides/slide3.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EA3E2-C87F-4A69-AA9B-977CB6B7875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A2114A-053A-4019-867C-6DA91B73B33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7B0C-C5AB-457F-8F1A-FBF93A90A4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0A2A6-A786-4185-BFBE-5D2240968AB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9.xml"/><Relationship Id="rId7" Type="http://schemas.openxmlformats.org/officeDocument/2006/relationships/image" Target="../media/image2.png"/><Relationship Id="rId6" Type="http://schemas.openxmlformats.org/officeDocument/2006/relationships/tags" Target="../tags/tag8.xml"/><Relationship Id="rId5" Type="http://schemas.openxmlformats.org/officeDocument/2006/relationships/image" Target="../media/image1.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12.xml"/><Relationship Id="rId4" Type="http://schemas.openxmlformats.org/officeDocument/2006/relationships/image" Target="../media/image1.png"/><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矩形 7"/>
          <p:cNvSpPr/>
          <p:nvPr userDrawn="1"/>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0" name="西北工业大学"/>
          <p:cNvPicPr>
            <a:picLocks noChangeAspect="1"/>
          </p:cNvPicPr>
          <p:nvPr userDrawn="1"/>
        </p:nvPicPr>
        <p:blipFill>
          <a:blip r:embed="rId2" cstate="screen"/>
          <a:stretch>
            <a:fillRect/>
          </a:stretch>
        </p:blipFill>
        <p:spPr>
          <a:xfrm>
            <a:off x="9968653" y="417830"/>
            <a:ext cx="1817793" cy="342900"/>
          </a:xfrm>
          <a:prstGeom prst="rect">
            <a:avLst/>
          </a:prstGeom>
        </p:spPr>
      </p:pic>
      <p:pic>
        <p:nvPicPr>
          <p:cNvPr id="11" name="校徽"/>
          <p:cNvPicPr>
            <a:picLocks noChangeAspect="1"/>
          </p:cNvPicPr>
          <p:nvPr userDrawn="1"/>
        </p:nvPicPr>
        <p:blipFill>
          <a:blip r:embed="rId3" cstate="screen"/>
          <a:stretch>
            <a:fillRect/>
          </a:stretch>
        </p:blipFill>
        <p:spPr>
          <a:xfrm>
            <a:off x="9157547" y="342900"/>
            <a:ext cx="575733" cy="431800"/>
          </a:xfrm>
          <a:prstGeom prst="rect">
            <a:avLst/>
          </a:prstGeom>
        </p:spPr>
      </p:pic>
      <p:sp>
        <p:nvSpPr>
          <p:cNvPr id="14" name="日期占位符 11"/>
          <p:cNvSpPr>
            <a:spLocks noGrp="1"/>
          </p:cNvSpPr>
          <p:nvPr>
            <p:ph type="dt" sz="half" idx="10"/>
            <p:custDataLst>
              <p:tags r:id="rId4"/>
            </p:custDataLst>
          </p:nvPr>
        </p:nvSpPr>
        <p:spPr>
          <a:xfrm>
            <a:off x="838200" y="6432550"/>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15" name="页脚占位符 13"/>
          <p:cNvSpPr>
            <a:spLocks noGrp="1"/>
          </p:cNvSpPr>
          <p:nvPr>
            <p:ph type="ftr" sz="quarter" idx="11"/>
            <p:custDataLst>
              <p:tags r:id="rId5"/>
            </p:custDataLst>
          </p:nvPr>
        </p:nvSpPr>
        <p:spPr>
          <a:xfrm>
            <a:off x="4038600" y="6432550"/>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6" name="灯片编号占位符 14"/>
          <p:cNvSpPr>
            <a:spLocks noGrp="1"/>
          </p:cNvSpPr>
          <p:nvPr>
            <p:ph type="sldNum" sz="quarter" idx="12"/>
            <p:custDataLst>
              <p:tags r:id="rId6"/>
            </p:custDataLst>
          </p:nvPr>
        </p:nvSpPr>
        <p:spPr>
          <a:xfrm>
            <a:off x="8610600" y="6432550"/>
            <a:ext cx="2743200" cy="365125"/>
          </a:xfrm>
          <a:prstGeom prst="rect">
            <a:avLst/>
          </a:prstGeom>
        </p:spPr>
        <p:txBody>
          <a:bodyPr/>
          <a:lstStyle/>
          <a:p>
            <a:fld id="{5A1A6423-77BD-D842-A714-25250E903C41}" type="slidenum">
              <a:rPr kumimoji="1" lang="zh-CN" altLang="en-US" sz="900" smtClean="0"/>
            </a:fld>
            <a:endParaRPr kumimoji="1" lang="zh-CN" altLang="en-US" sz="900"/>
          </a:p>
        </p:txBody>
      </p:sp>
      <p:cxnSp>
        <p:nvCxnSpPr>
          <p:cNvPr id="17" name="直线连接符 9"/>
          <p:cNvCxnSpPr/>
          <p:nvPr userDrawn="1">
            <p:custDataLst>
              <p:tags r:id="rId7"/>
            </p:custDataLst>
          </p:nvPr>
        </p:nvCxnSpPr>
        <p:spPr>
          <a:xfrm>
            <a:off x="0" y="633397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3" hasCustomPrompt="1"/>
          </p:nvPr>
        </p:nvSpPr>
        <p:spPr>
          <a:xfrm>
            <a:off x="228319" y="312056"/>
            <a:ext cx="6129867" cy="511118"/>
          </a:xfrm>
        </p:spPr>
        <p:txBody>
          <a:bodyPr>
            <a:normAutofit/>
          </a:bodyPr>
          <a:lstStyle>
            <a:lvl1pPr marL="0" indent="0">
              <a:buNone/>
              <a:defRPr kumimoji="1" lang="zh-CN" altLang="en-US" sz="3200" b="1" kern="1200" dirty="0">
                <a:solidFill>
                  <a:schemeClr val="bg1"/>
                </a:solidFill>
                <a:latin typeface="微软雅黑" panose="020B0503020204020204" charset="-122"/>
                <a:ea typeface="微软雅黑" panose="020B0503020204020204" charset="-122"/>
                <a:cs typeface="微软雅黑" panose="020B0503020204020204" charset="-122"/>
              </a:defRPr>
            </a:lvl1pPr>
          </a:lstStyle>
          <a:p>
            <a:pPr lvl="0"/>
            <a:r>
              <a:rPr lang="zh-CN" altLang="en-US" dirty="0"/>
              <a:t>第</a:t>
            </a:r>
            <a:r>
              <a:rPr lang="en-US" altLang="zh-CN" dirty="0"/>
              <a:t> </a:t>
            </a:r>
            <a:r>
              <a:rPr lang="zh-CN" altLang="en-US" dirty="0"/>
              <a:t>单元 </a:t>
            </a:r>
            <a:endParaRPr lang="zh-CN" altLang="en-US" dirty="0"/>
          </a:p>
        </p:txBody>
      </p:sp>
      <p:sp>
        <p:nvSpPr>
          <p:cNvPr id="23" name="文本占位符 22"/>
          <p:cNvSpPr>
            <a:spLocks noGrp="1"/>
          </p:cNvSpPr>
          <p:nvPr>
            <p:ph type="body" sz="quarter" idx="14" hasCustomPrompt="1"/>
          </p:nvPr>
        </p:nvSpPr>
        <p:spPr>
          <a:xfrm>
            <a:off x="578839" y="1096254"/>
            <a:ext cx="8255000" cy="2838450"/>
          </a:xfrm>
        </p:spPr>
        <p:txBody>
          <a:bodyPr>
            <a:normAutofit/>
          </a:bodyPr>
          <a:lstStyle>
            <a:lvl1pPr marL="0" indent="0" algn="l" defTabSz="914400" rtl="0" eaLnBrk="1" latinLnBrk="0" hangingPunct="1">
              <a:lnSpc>
                <a:spcPct val="150000"/>
              </a:lnSpc>
              <a:spcBef>
                <a:spcPts val="1000"/>
              </a:spcBef>
              <a:buFont typeface="Wingdings" panose="05000000000000000000" charset="0"/>
              <a:buChar char="p"/>
              <a:defRPr kumimoji="1" lang="zh-CN" altLang="en-US" sz="2800" kern="1200" dirty="0">
                <a:solidFill>
                  <a:srgbClr val="034EA2"/>
                </a:solidFill>
                <a:latin typeface="+mn-ea"/>
                <a:ea typeface="+mn-ea"/>
                <a:cs typeface="+mn-ea"/>
              </a:defRPr>
            </a:lvl1pPr>
          </a:lstStyle>
          <a:p>
            <a:pPr lvl="0"/>
            <a:r>
              <a:rPr lang="en-US" altLang="zh-CN" dirty="0"/>
              <a:t>1.1 </a:t>
            </a:r>
            <a:endParaRPr lang="en-US" altLang="zh-CN" dirty="0"/>
          </a:p>
          <a:p>
            <a:pPr lvl="0"/>
            <a:r>
              <a:rPr lang="en-US" altLang="zh-CN" dirty="0"/>
              <a:t>1.2 </a:t>
            </a:r>
            <a:endParaRPr lang="en-US" altLang="zh-CN" dirty="0"/>
          </a:p>
          <a:p>
            <a:pPr lvl="0"/>
            <a:r>
              <a:rPr lang="en-US" altLang="zh-CN" dirty="0"/>
              <a:t>1.3</a:t>
            </a:r>
            <a:endParaRPr lang="zh-CN" altLang="en-US" dirty="0"/>
          </a:p>
        </p:txBody>
      </p:sp>
      <p:sp>
        <p:nvSpPr>
          <p:cNvPr id="27" name="文本占位符 26"/>
          <p:cNvSpPr>
            <a:spLocks noGrp="1"/>
          </p:cNvSpPr>
          <p:nvPr>
            <p:ph type="body" sz="quarter" idx="15" hasCustomPrompt="1"/>
          </p:nvPr>
        </p:nvSpPr>
        <p:spPr>
          <a:xfrm>
            <a:off x="228531" y="263977"/>
            <a:ext cx="2653249" cy="589645"/>
          </a:xfrm>
        </p:spPr>
        <p:txBody>
          <a:bodyPr/>
          <a:lstStyle>
            <a:lvl1pPr marL="0" indent="0">
              <a:buNone/>
              <a:defRPr kumimoji="1" lang="zh-CN" altLang="en-US" sz="3600" b="1" kern="1200" dirty="0" smtClean="0">
                <a:solidFill>
                  <a:schemeClr val="bg1"/>
                </a:solidFill>
                <a:latin typeface="+mn-ea"/>
                <a:ea typeface="+mn-ea"/>
                <a:cs typeface="+mj-cs"/>
              </a:defRPr>
            </a:lvl1pPr>
          </a:lstStyle>
          <a:p>
            <a:pPr lvl="0"/>
            <a:r>
              <a:rPr lang="zh-CN" altLang="en-US" dirty="0"/>
              <a:t>目录</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培养目标">
    <p:spTree>
      <p:nvGrpSpPr>
        <p:cNvPr id="1" name=""/>
        <p:cNvGrpSpPr/>
        <p:nvPr/>
      </p:nvGrpSpPr>
      <p:grpSpPr>
        <a:xfrm>
          <a:off x="0" y="0"/>
          <a:ext cx="0" cy="0"/>
          <a:chOff x="0" y="0"/>
          <a:chExt cx="0" cy="0"/>
        </a:xfrm>
      </p:grpSpPr>
      <p:sp>
        <p:nvSpPr>
          <p:cNvPr id="7" name="内容占位符 2"/>
          <p:cNvSpPr>
            <a:spLocks noGrp="1"/>
          </p:cNvSpPr>
          <p:nvPr userDrawn="1">
            <p:custDataLst>
              <p:tags r:id="rId2"/>
            </p:custDataLst>
          </p:nvPr>
        </p:nvSpPr>
        <p:spPr>
          <a:xfrm>
            <a:off x="630767" y="1339215"/>
            <a:ext cx="10670540"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本节培养目标</a:t>
            </a:r>
            <a:endParaRPr kumimoji="1" lang="zh-CN" altLang="en-US" sz="2800" b="1" dirty="0"/>
          </a:p>
        </p:txBody>
      </p:sp>
      <p:sp>
        <p:nvSpPr>
          <p:cNvPr id="8" name="矩形 7"/>
          <p:cNvSpPr/>
          <p:nvPr userDrawn="1">
            <p:custDataLst>
              <p:tags r:id="rId3"/>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9" name="日期占位符 3"/>
          <p:cNvSpPr>
            <a:spLocks noGrp="1"/>
          </p:cNvSpPr>
          <p:nvPr>
            <p:ph type="dt" sz="half" idx="10"/>
          </p:nvPr>
        </p:nvSpPr>
        <p:spPr>
          <a:xfrm>
            <a:off x="838200" y="6432550"/>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10" name="页脚占位符 4"/>
          <p:cNvSpPr>
            <a:spLocks noGrp="1"/>
          </p:cNvSpPr>
          <p:nvPr>
            <p:ph type="ftr" sz="quarter" idx="11"/>
          </p:nvPr>
        </p:nvSpPr>
        <p:spPr>
          <a:xfrm>
            <a:off x="4038600" y="6432550"/>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1" name="灯片编号占位符 5"/>
          <p:cNvSpPr>
            <a:spLocks noGrp="1"/>
          </p:cNvSpPr>
          <p:nvPr>
            <p:ph type="sldNum" sz="quarter" idx="12"/>
          </p:nvPr>
        </p:nvSpPr>
        <p:spPr>
          <a:xfrm>
            <a:off x="8610600" y="6432550"/>
            <a:ext cx="2743200" cy="365125"/>
          </a:xfrm>
          <a:prstGeom prst="rect">
            <a:avLst/>
          </a:prstGeom>
        </p:spPr>
        <p:txBody>
          <a:bodyPr/>
          <a:lstStyle/>
          <a:p>
            <a:fld id="{5A1A6423-77BD-D842-A714-25250E903C41}" type="slidenum">
              <a:rPr kumimoji="1" lang="zh-CN" altLang="en-US" sz="900" smtClean="0"/>
            </a:fld>
            <a:endParaRPr kumimoji="1" lang="zh-CN" altLang="en-US" sz="900"/>
          </a:p>
        </p:txBody>
      </p:sp>
      <p:pic>
        <p:nvPicPr>
          <p:cNvPr id="13" name="西北工业大学"/>
          <p:cNvPicPr>
            <a:picLocks noChangeAspect="1"/>
          </p:cNvPicPr>
          <p:nvPr userDrawn="1">
            <p:custDataLst>
              <p:tags r:id="rId4"/>
            </p:custDataLst>
          </p:nvPr>
        </p:nvPicPr>
        <p:blipFill>
          <a:blip r:embed="rId5" cstate="screen"/>
          <a:stretch>
            <a:fillRect/>
          </a:stretch>
        </p:blipFill>
        <p:spPr>
          <a:xfrm>
            <a:off x="9968653" y="417830"/>
            <a:ext cx="1817793" cy="342900"/>
          </a:xfrm>
          <a:prstGeom prst="rect">
            <a:avLst/>
          </a:prstGeom>
        </p:spPr>
      </p:pic>
      <p:pic>
        <p:nvPicPr>
          <p:cNvPr id="14" name="校徽"/>
          <p:cNvPicPr>
            <a:picLocks noChangeAspect="1"/>
          </p:cNvPicPr>
          <p:nvPr userDrawn="1">
            <p:custDataLst>
              <p:tags r:id="rId6"/>
            </p:custDataLst>
          </p:nvPr>
        </p:nvPicPr>
        <p:blipFill>
          <a:blip r:embed="rId7" cstate="screen"/>
          <a:stretch>
            <a:fillRect/>
          </a:stretch>
        </p:blipFill>
        <p:spPr>
          <a:xfrm>
            <a:off x="9157547" y="342900"/>
            <a:ext cx="575733" cy="431800"/>
          </a:xfrm>
          <a:prstGeom prst="rect">
            <a:avLst/>
          </a:prstGeom>
        </p:spPr>
      </p:pic>
      <p:sp>
        <p:nvSpPr>
          <p:cNvPr id="15" name="矩形 14"/>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卷形: 水平 1"/>
          <p:cNvSpPr/>
          <p:nvPr userDrawn="1">
            <p:custDataLst>
              <p:tags r:id="rId8"/>
            </p:custDataLst>
          </p:nvPr>
        </p:nvSpPr>
        <p:spPr>
          <a:xfrm>
            <a:off x="838200" y="1729105"/>
            <a:ext cx="10325100"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lstStyle/>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9" name="文本占位符 18"/>
          <p:cNvSpPr>
            <a:spLocks noGrp="1"/>
          </p:cNvSpPr>
          <p:nvPr>
            <p:ph type="body" sz="quarter" idx="13" hasCustomPrompt="1"/>
          </p:nvPr>
        </p:nvSpPr>
        <p:spPr>
          <a:xfrm>
            <a:off x="1911351" y="2498725"/>
            <a:ext cx="9076267" cy="2197100"/>
          </a:xfrm>
        </p:spPr>
        <p:txBody>
          <a:bodyPr/>
          <a:lstStyle>
            <a:lvl1pPr marL="457200" indent="-457200">
              <a:buFont typeface="Wingdings" panose="05000000000000000000" charset="0"/>
              <a:buAutoNum type="arabicPeriod"/>
              <a:defRPr lang="zh-CN" altLang="en-US" sz="2400" b="1" kern="100" dirty="0" smtClean="0">
                <a:ln>
                  <a:noFill/>
                </a:ln>
                <a:solidFill>
                  <a:schemeClr val="tx1"/>
                </a:solidFill>
                <a:effectLst/>
                <a:uLnTx/>
                <a:uFillTx/>
                <a:latin typeface="等线" panose="02010600030101010101" charset="-122"/>
                <a:ea typeface="等线" panose="02010600030101010101" charset="-122"/>
                <a:cs typeface="等线" panose="02010600030101010101" charset="-122"/>
              </a:defRPr>
            </a:lvl1pPr>
          </a:lstStyle>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第一级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第二级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第三级</a:t>
            </a:r>
            <a:endParaRPr lang="zh-CN" altLang="en-US" dirty="0"/>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 </a:t>
            </a:r>
            <a:r>
              <a:rPr lang="zh-CN" altLang="en-US" dirty="0"/>
              <a:t>章节名</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日期占位符 3"/>
          <p:cNvSpPr>
            <a:spLocks noGrp="1"/>
          </p:cNvSpPr>
          <p:nvPr>
            <p:ph type="dt" sz="half" idx="10"/>
          </p:nvPr>
        </p:nvSpPr>
        <p:spPr>
          <a:xfrm>
            <a:off x="838200" y="6356351"/>
            <a:ext cx="2743200" cy="365125"/>
          </a:xfrm>
          <a:prstGeom prst="rect">
            <a:avLst/>
          </a:prstGeom>
        </p:spPr>
        <p:txBody>
          <a:bodyPr/>
          <a:lstStyle/>
          <a:p>
            <a:fld id="{8BEB6EB5-CC0D-C94C-91B9-9EA1B45E848E}" type="datetime1">
              <a:rPr kumimoji="1" lang="zh-CN" altLang="en-US" sz="900" smtClean="0"/>
            </a:fld>
            <a:endParaRPr kumimoji="1" lang="zh-CN" altLang="en-US" sz="900"/>
          </a:p>
        </p:txBody>
      </p:sp>
      <p:sp>
        <p:nvSpPr>
          <p:cNvPr id="9" name="页脚占位符 4"/>
          <p:cNvSpPr>
            <a:spLocks noGrp="1"/>
          </p:cNvSpPr>
          <p:nvPr>
            <p:ph type="ftr" sz="quarter" idx="11"/>
          </p:nvPr>
        </p:nvSpPr>
        <p:spPr>
          <a:xfrm>
            <a:off x="4038600" y="6356351"/>
            <a:ext cx="4114800" cy="365125"/>
          </a:xfrm>
          <a:prstGeom prst="rect">
            <a:avLst/>
          </a:prstGeom>
        </p:spPr>
        <p:txBody>
          <a:bodyPr/>
          <a:lstStyle/>
          <a:p>
            <a:r>
              <a:rPr kumimoji="1" lang="zh-CN" altLang="en-US" sz="900" dirty="0"/>
              <a:t>西北工业大学软件学院</a:t>
            </a:r>
            <a:endParaRPr kumimoji="1" lang="zh-CN" altLang="en-US" sz="900" dirty="0"/>
          </a:p>
        </p:txBody>
      </p:sp>
      <p:sp>
        <p:nvSpPr>
          <p:cNvPr id="10" name="灯片编号占位符 5"/>
          <p:cNvSpPr>
            <a:spLocks noGrp="1"/>
          </p:cNvSpPr>
          <p:nvPr>
            <p:ph type="sldNum" sz="quarter" idx="12"/>
          </p:nvPr>
        </p:nvSpPr>
        <p:spPr>
          <a:xfrm>
            <a:off x="8610600" y="6356351"/>
            <a:ext cx="2743200" cy="365125"/>
          </a:xfrm>
          <a:prstGeom prst="rect">
            <a:avLst/>
          </a:prstGeom>
        </p:spPr>
        <p:txBody>
          <a:bodyPr/>
          <a:lstStyle/>
          <a:p>
            <a:fld id="{5A1A6423-77BD-D842-A714-25250E903C41}" type="slidenum">
              <a:rPr kumimoji="1" lang="zh-CN" altLang="en-US" sz="900" smtClean="0"/>
            </a:fld>
            <a:endParaRPr kumimoji="1" lang="zh-CN" altLang="en-US" sz="900"/>
          </a:p>
        </p:txBody>
      </p:sp>
      <p:pic>
        <p:nvPicPr>
          <p:cNvPr id="11" name="西北工业大学"/>
          <p:cNvPicPr>
            <a:picLocks noChangeAspect="1"/>
          </p:cNvPicPr>
          <p:nvPr userDrawn="1">
            <p:custDataLst>
              <p:tags r:id="rId3"/>
            </p:custDataLst>
          </p:nvPr>
        </p:nvPicPr>
        <p:blipFill>
          <a:blip r:embed="rId4" cstate="screen"/>
          <a:stretch>
            <a:fillRect/>
          </a:stretch>
        </p:blipFill>
        <p:spPr>
          <a:xfrm>
            <a:off x="9968653" y="417830"/>
            <a:ext cx="1817793" cy="342900"/>
          </a:xfrm>
          <a:prstGeom prst="rect">
            <a:avLst/>
          </a:prstGeom>
        </p:spPr>
      </p:pic>
      <p:pic>
        <p:nvPicPr>
          <p:cNvPr id="12" name="校徽"/>
          <p:cNvPicPr>
            <a:picLocks noChangeAspect="1"/>
          </p:cNvPicPr>
          <p:nvPr userDrawn="1">
            <p:custDataLst>
              <p:tags r:id="rId5"/>
            </p:custDataLst>
          </p:nvPr>
        </p:nvPicPr>
        <p:blipFill>
          <a:blip r:embed="rId6" cstate="screen"/>
          <a:stretch>
            <a:fillRect/>
          </a:stretch>
        </p:blipFill>
        <p:spPr>
          <a:xfrm>
            <a:off x="9157547" y="342900"/>
            <a:ext cx="575733" cy="431800"/>
          </a:xfrm>
          <a:prstGeom prst="rect">
            <a:avLst/>
          </a:prstGeom>
        </p:spPr>
      </p:pic>
      <p:sp>
        <p:nvSpPr>
          <p:cNvPr id="13" name="矩形 12"/>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1.1.1 </a:t>
            </a:r>
            <a:r>
              <a:rPr lang="zh-CN" altLang="en-US" dirty="0"/>
              <a:t>小节名</a:t>
            </a:r>
            <a:endParaRPr lang="zh-CN" altLang="en-US" dirty="0"/>
          </a:p>
        </p:txBody>
      </p:sp>
      <p:sp>
        <p:nvSpPr>
          <p:cNvPr id="23" name="文本占位符 22"/>
          <p:cNvSpPr>
            <a:spLocks noGrp="1"/>
          </p:cNvSpPr>
          <p:nvPr>
            <p:ph type="body" sz="quarter" idx="15" hasCustomPrompt="1"/>
          </p:nvPr>
        </p:nvSpPr>
        <p:spPr>
          <a:xfrm>
            <a:off x="524087" y="1248410"/>
            <a:ext cx="4229947" cy="515619"/>
          </a:xfrm>
        </p:spPr>
        <p:txBody>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stStyle>
          <a:p>
            <a:pPr marL="0" indent="0" fontAlgn="auto">
              <a:lnSpc>
                <a:spcPct val="100000"/>
              </a:lnSpc>
              <a:spcBef>
                <a:spcPts val="0"/>
              </a:spcBef>
              <a:buNone/>
            </a:pPr>
            <a:r>
              <a:rPr lang="en-US" altLang="zh-CN" sz="2800" dirty="0">
                <a:latin typeface="Times New Roman" panose="02020603050405020304" pitchFamily="18" charset="0"/>
                <a:ea typeface="等线" panose="02010600030101010101" charset="-122"/>
                <a:cs typeface="Times New Roman" panose="02020603050405020304" pitchFamily="18" charset="0"/>
                <a:sym typeface="+mn-ea"/>
              </a:rPr>
              <a:t>1</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级标题</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25" name="文本占位符 24"/>
          <p:cNvSpPr>
            <a:spLocks noGrp="1"/>
          </p:cNvSpPr>
          <p:nvPr>
            <p:ph type="body" sz="quarter" idx="16" hasCustomPrompt="1"/>
          </p:nvPr>
        </p:nvSpPr>
        <p:spPr>
          <a:xfrm>
            <a:off x="529167" y="1910398"/>
            <a:ext cx="11163300" cy="4293551"/>
          </a:xfrm>
        </p:spPr>
        <p:txBody>
          <a:bodyPr>
            <a:normAutofit/>
          </a:bodyPr>
          <a:lstStyle>
            <a:lvl1pPr marL="2286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rtl="0" eaLnBrk="1" latinLnBrk="0" hangingPunct="1">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9"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3" name="Footer Placeholder 2"/>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C34801DB-D675-416A-BFF5-F346E24F3BDD}" type="datetimeFigureOut">
              <a:rPr lang="zh-CN" altLang="en-US" smtClean="0"/>
            </a:fld>
            <a:endParaRPr lang="zh-CN" altLang="en-US"/>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7C7206B7-967B-48F3-989E-8CF2542470F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9" name="文本框 8"/>
          <p:cNvSpPr txBox="1"/>
          <p:nvPr userDrawn="1"/>
        </p:nvSpPr>
        <p:spPr>
          <a:xfrm>
            <a:off x="11416227" y="6407149"/>
            <a:ext cx="485140" cy="275590"/>
          </a:xfrm>
          <a:prstGeom prst="rect">
            <a:avLst/>
          </a:prstGeom>
          <a:noFill/>
        </p:spPr>
        <p:txBody>
          <a:bodyPr wrap="none" rtlCol="0">
            <a:spAutoFit/>
          </a:bodyPr>
          <a:lstStyle/>
          <a:p>
            <a:fld id="{6CCE0E74-C6F2-4DC5-83E7-295C76677F6B}" type="slidenum">
              <a:rPr lang="en-US" altLang="zh-CN" sz="1200" b="1" smtClean="0">
                <a:solidFill>
                  <a:schemeClr val="tx1"/>
                </a:solidFill>
                <a:latin typeface="+mn-ea"/>
                <a:ea typeface="+mn-ea"/>
              </a:rPr>
            </a:fld>
            <a:endParaRPr lang="zh-CN" altLang="en-US" sz="1200" b="1" dirty="0">
              <a:solidFill>
                <a:schemeClr val="tx1"/>
              </a:solidFill>
              <a:latin typeface="+mn-ea"/>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xml"/><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1" Type="http://schemas.openxmlformats.org/officeDocument/2006/relationships/slideLayout" Target="../slideLayouts/slideLayout3.xml"/><Relationship Id="rId20" Type="http://schemas.openxmlformats.org/officeDocument/2006/relationships/tags" Target="../tags/tag35.xml"/><Relationship Id="rId2" Type="http://schemas.openxmlformats.org/officeDocument/2006/relationships/tags" Target="../tags/tag17.xml"/><Relationship Id="rId19" Type="http://schemas.openxmlformats.org/officeDocument/2006/relationships/tags" Target="../tags/tag34.xml"/><Relationship Id="rId18" Type="http://schemas.openxmlformats.org/officeDocument/2006/relationships/tags" Target="../tags/tag33.xml"/><Relationship Id="rId17" Type="http://schemas.openxmlformats.org/officeDocument/2006/relationships/tags" Target="../tags/tag32.xml"/><Relationship Id="rId16" Type="http://schemas.openxmlformats.org/officeDocument/2006/relationships/tags" Target="../tags/tag31.xml"/><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9.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2" Type="http://schemas.openxmlformats.org/officeDocument/2006/relationships/slideLayout" Target="../slideLayouts/slideLayout3.xml"/><Relationship Id="rId21" Type="http://schemas.openxmlformats.org/officeDocument/2006/relationships/tags" Target="../tags/tag59.xml"/><Relationship Id="rId20" Type="http://schemas.openxmlformats.org/officeDocument/2006/relationships/tags" Target="../tags/tag58.xml"/><Relationship Id="rId2" Type="http://schemas.openxmlformats.org/officeDocument/2006/relationships/tags" Target="../tags/tag40.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slide" Target="slide10.xml"/><Relationship Id="rId2" Type="http://schemas.openxmlformats.org/officeDocument/2006/relationships/slide" Target="slide1.xml"/><Relationship Id="rId1" Type="http://schemas.openxmlformats.org/officeDocument/2006/relationships/slide" Target="slide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1.xml"/><Relationship Id="rId1" Type="http://schemas.openxmlformats.org/officeDocument/2006/relationships/slide" Target="slide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0" Type="http://schemas.openxmlformats.org/officeDocument/2006/relationships/slideLayout" Target="../slideLayouts/slideLayout3.xml"/><Relationship Id="rId1" Type="http://schemas.openxmlformats.org/officeDocument/2006/relationships/tags" Target="../tags/tag6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9" Type="http://schemas.openxmlformats.org/officeDocument/2006/relationships/slideLayout" Target="../slideLayouts/slideLayout3.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7" Type="http://schemas.openxmlformats.org/officeDocument/2006/relationships/slideLayout" Target="../slideLayouts/slideLayout3.xml"/><Relationship Id="rId26" Type="http://schemas.openxmlformats.org/officeDocument/2006/relationships/tags" Target="../tags/tag113.xml"/><Relationship Id="rId25" Type="http://schemas.openxmlformats.org/officeDocument/2006/relationships/tags" Target="../tags/tag112.xml"/><Relationship Id="rId24" Type="http://schemas.openxmlformats.org/officeDocument/2006/relationships/tags" Target="../tags/tag111.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tags" Target="../tags/tag89.xml"/><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tags" Target="../tags/tag88.xml"/></Relationships>
</file>

<file path=ppt/slides/_rels/slide24.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8" Type="http://schemas.openxmlformats.org/officeDocument/2006/relationships/slideLayout" Target="../slideLayouts/slideLayout3.xml"/><Relationship Id="rId27" Type="http://schemas.openxmlformats.org/officeDocument/2006/relationships/tags" Target="../tags/tag140.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tags" Target="../tags/tag115.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slide" Target="slide2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4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143.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tags" Target="../tags/tag144.xml"/><Relationship Id="rId1" Type="http://schemas.openxmlformats.org/officeDocument/2006/relationships/slide" Target="slide29.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tags" Target="../tags/tag145.xml"/><Relationship Id="rId1" Type="http://schemas.openxmlformats.org/officeDocument/2006/relationships/slide" Target="slide29.xml"/></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3.xml"/><Relationship Id="rId5" Type="http://schemas.openxmlformats.org/officeDocument/2006/relationships/tags" Target="../tags/tag146.xml"/><Relationship Id="rId4" Type="http://schemas.openxmlformats.org/officeDocument/2006/relationships/slide" Target="slide32.xml"/><Relationship Id="rId3" Type="http://schemas.openxmlformats.org/officeDocument/2006/relationships/slide" Target="slide28.xml"/><Relationship Id="rId2" Type="http://schemas.openxmlformats.org/officeDocument/2006/relationships/slide" Target="slide27.xml"/><Relationship Id="rId1" Type="http://schemas.openxmlformats.org/officeDocument/2006/relationships/slide" Target="slide1.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xml"/><Relationship Id="rId4" Type="http://schemas.openxmlformats.org/officeDocument/2006/relationships/tags" Target="../tags/tag147.xml"/><Relationship Id="rId3" Type="http://schemas.openxmlformats.org/officeDocument/2006/relationships/slide" Target="slide34.xml"/><Relationship Id="rId2" Type="http://schemas.openxmlformats.org/officeDocument/2006/relationships/slide" Target="slide33.xml"/><Relationship Id="rId1" Type="http://schemas.openxmlformats.org/officeDocument/2006/relationships/slide" Target="slide31.xml"/></Relationships>
</file>

<file path=ppt/slides/_rels/slide33.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4" Type="http://schemas.openxmlformats.org/officeDocument/2006/relationships/notesSlide" Target="../notesSlides/notesSlide9.xml"/><Relationship Id="rId13" Type="http://schemas.openxmlformats.org/officeDocument/2006/relationships/slideLayout" Target="../slideLayouts/slideLayout3.xml"/><Relationship Id="rId12" Type="http://schemas.openxmlformats.org/officeDocument/2006/relationships/tags" Target="../tags/tag158.xml"/><Relationship Id="rId11" Type="http://schemas.openxmlformats.org/officeDocument/2006/relationships/slide" Target="slide32.xml"/><Relationship Id="rId10" Type="http://schemas.openxmlformats.org/officeDocument/2006/relationships/tags" Target="../tags/tag157.xml"/><Relationship Id="rId1" Type="http://schemas.openxmlformats.org/officeDocument/2006/relationships/tags" Target="../tags/tag148.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tags" Target="../tags/tag159.xml"/><Relationship Id="rId1" Type="http://schemas.openxmlformats.org/officeDocument/2006/relationships/slide" Target="slide3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60.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168.xml"/><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0" Type="http://schemas.openxmlformats.org/officeDocument/2006/relationships/notesSlide" Target="../notesSlides/notesSlide12.xml"/><Relationship Id="rId1" Type="http://schemas.openxmlformats.org/officeDocument/2006/relationships/tags" Target="../tags/tag161.xml"/></Relationships>
</file>

<file path=ppt/slides/_rels/slide37.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3" Type="http://schemas.openxmlformats.org/officeDocument/2006/relationships/notesSlide" Target="../notesSlides/notesSlide13.xml"/><Relationship Id="rId32" Type="http://schemas.openxmlformats.org/officeDocument/2006/relationships/slideLayout" Target="../slideLayouts/slideLayout3.xml"/><Relationship Id="rId31" Type="http://schemas.openxmlformats.org/officeDocument/2006/relationships/tags" Target="../tags/tag199.xml"/><Relationship Id="rId30" Type="http://schemas.openxmlformats.org/officeDocument/2006/relationships/tags" Target="../tags/tag198.xml"/><Relationship Id="rId3" Type="http://schemas.openxmlformats.org/officeDocument/2006/relationships/tags" Target="../tags/tag171.xml"/><Relationship Id="rId29" Type="http://schemas.openxmlformats.org/officeDocument/2006/relationships/tags" Target="../tags/tag197.xml"/><Relationship Id="rId28" Type="http://schemas.openxmlformats.org/officeDocument/2006/relationships/tags" Target="../tags/tag196.xml"/><Relationship Id="rId27" Type="http://schemas.openxmlformats.org/officeDocument/2006/relationships/tags" Target="../tags/tag195.xml"/><Relationship Id="rId26" Type="http://schemas.openxmlformats.org/officeDocument/2006/relationships/tags" Target="../tags/tag194.xml"/><Relationship Id="rId25" Type="http://schemas.openxmlformats.org/officeDocument/2006/relationships/tags" Target="../tags/tag193.xml"/><Relationship Id="rId24" Type="http://schemas.openxmlformats.org/officeDocument/2006/relationships/tags" Target="../tags/tag192.xml"/><Relationship Id="rId23" Type="http://schemas.openxmlformats.org/officeDocument/2006/relationships/tags" Target="../tags/tag191.xml"/><Relationship Id="rId22" Type="http://schemas.openxmlformats.org/officeDocument/2006/relationships/tags" Target="../tags/tag190.xml"/><Relationship Id="rId21" Type="http://schemas.openxmlformats.org/officeDocument/2006/relationships/tags" Target="../tags/tag189.xml"/><Relationship Id="rId20" Type="http://schemas.openxmlformats.org/officeDocument/2006/relationships/tags" Target="../tags/tag188.xml"/><Relationship Id="rId2" Type="http://schemas.openxmlformats.org/officeDocument/2006/relationships/tags" Target="../tags/tag170.xml"/><Relationship Id="rId19" Type="http://schemas.openxmlformats.org/officeDocument/2006/relationships/tags" Target="../tags/tag187.xml"/><Relationship Id="rId18" Type="http://schemas.openxmlformats.org/officeDocument/2006/relationships/tags" Target="../tags/tag186.xml"/><Relationship Id="rId17" Type="http://schemas.openxmlformats.org/officeDocument/2006/relationships/tags" Target="../tags/tag185.xml"/><Relationship Id="rId16" Type="http://schemas.openxmlformats.org/officeDocument/2006/relationships/tags" Target="../tags/tag184.xml"/><Relationship Id="rId15" Type="http://schemas.openxmlformats.org/officeDocument/2006/relationships/tags" Target="../tags/tag183.xml"/><Relationship Id="rId14" Type="http://schemas.openxmlformats.org/officeDocument/2006/relationships/tags" Target="../tags/tag182.xml"/><Relationship Id="rId13" Type="http://schemas.openxmlformats.org/officeDocument/2006/relationships/tags" Target="../tags/tag181.xml"/><Relationship Id="rId12" Type="http://schemas.openxmlformats.org/officeDocument/2006/relationships/tags" Target="../tags/tag180.xml"/><Relationship Id="rId11" Type="http://schemas.openxmlformats.org/officeDocument/2006/relationships/tags" Target="../tags/tag179.xml"/><Relationship Id="rId10" Type="http://schemas.openxmlformats.org/officeDocument/2006/relationships/tags" Target="../tags/tag178.xml"/><Relationship Id="rId1" Type="http://schemas.openxmlformats.org/officeDocument/2006/relationships/tags" Target="../tags/tag169.xml"/></Relationships>
</file>

<file path=ppt/slides/_rels/slide38.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7" Type="http://schemas.openxmlformats.org/officeDocument/2006/relationships/notesSlide" Target="../notesSlides/notesSlide14.xml"/><Relationship Id="rId36" Type="http://schemas.openxmlformats.org/officeDocument/2006/relationships/slideLayout" Target="../slideLayouts/slideLayout3.xml"/><Relationship Id="rId35" Type="http://schemas.openxmlformats.org/officeDocument/2006/relationships/tags" Target="../tags/tag234.xml"/><Relationship Id="rId34" Type="http://schemas.openxmlformats.org/officeDocument/2006/relationships/tags" Target="../tags/tag233.xml"/><Relationship Id="rId33" Type="http://schemas.openxmlformats.org/officeDocument/2006/relationships/tags" Target="../tags/tag232.xml"/><Relationship Id="rId32" Type="http://schemas.openxmlformats.org/officeDocument/2006/relationships/tags" Target="../tags/tag231.xml"/><Relationship Id="rId31" Type="http://schemas.openxmlformats.org/officeDocument/2006/relationships/tags" Target="../tags/tag230.xml"/><Relationship Id="rId30" Type="http://schemas.openxmlformats.org/officeDocument/2006/relationships/tags" Target="../tags/tag229.xml"/><Relationship Id="rId3" Type="http://schemas.openxmlformats.org/officeDocument/2006/relationships/tags" Target="../tags/tag202.xml"/><Relationship Id="rId29" Type="http://schemas.openxmlformats.org/officeDocument/2006/relationships/tags" Target="../tags/tag228.xml"/><Relationship Id="rId28" Type="http://schemas.openxmlformats.org/officeDocument/2006/relationships/tags" Target="../tags/tag227.xml"/><Relationship Id="rId27" Type="http://schemas.openxmlformats.org/officeDocument/2006/relationships/tags" Target="../tags/tag226.xml"/><Relationship Id="rId26" Type="http://schemas.openxmlformats.org/officeDocument/2006/relationships/tags" Target="../tags/tag225.xml"/><Relationship Id="rId25" Type="http://schemas.openxmlformats.org/officeDocument/2006/relationships/tags" Target="../tags/tag224.xml"/><Relationship Id="rId24" Type="http://schemas.openxmlformats.org/officeDocument/2006/relationships/tags" Target="../tags/tag223.xml"/><Relationship Id="rId23" Type="http://schemas.openxmlformats.org/officeDocument/2006/relationships/tags" Target="../tags/tag222.xml"/><Relationship Id="rId22" Type="http://schemas.openxmlformats.org/officeDocument/2006/relationships/tags" Target="../tags/tag221.xml"/><Relationship Id="rId21" Type="http://schemas.openxmlformats.org/officeDocument/2006/relationships/tags" Target="../tags/tag220.xml"/><Relationship Id="rId20" Type="http://schemas.openxmlformats.org/officeDocument/2006/relationships/tags" Target="../tags/tag219.xml"/><Relationship Id="rId2" Type="http://schemas.openxmlformats.org/officeDocument/2006/relationships/tags" Target="../tags/tag201.xml"/><Relationship Id="rId19" Type="http://schemas.openxmlformats.org/officeDocument/2006/relationships/tags" Target="../tags/tag218.xml"/><Relationship Id="rId18" Type="http://schemas.openxmlformats.org/officeDocument/2006/relationships/tags" Target="../tags/tag217.xml"/><Relationship Id="rId17" Type="http://schemas.openxmlformats.org/officeDocument/2006/relationships/tags" Target="../tags/tag216.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tags" Target="../tags/tag200.xml"/></Relationships>
</file>

<file path=ppt/slides/_rels/slide39.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9" Type="http://schemas.openxmlformats.org/officeDocument/2006/relationships/notesSlide" Target="../notesSlides/notesSlide15.xml"/><Relationship Id="rId28" Type="http://schemas.openxmlformats.org/officeDocument/2006/relationships/slideLayout" Target="../slideLayouts/slideLayout3.xml"/><Relationship Id="rId27" Type="http://schemas.openxmlformats.org/officeDocument/2006/relationships/tags" Target="../tags/tag261.xml"/><Relationship Id="rId26" Type="http://schemas.openxmlformats.org/officeDocument/2006/relationships/tags" Target="../tags/tag260.xml"/><Relationship Id="rId25" Type="http://schemas.openxmlformats.org/officeDocument/2006/relationships/tags" Target="../tags/tag259.xml"/><Relationship Id="rId24" Type="http://schemas.openxmlformats.org/officeDocument/2006/relationships/tags" Target="../tags/tag258.xml"/><Relationship Id="rId23" Type="http://schemas.openxmlformats.org/officeDocument/2006/relationships/tags" Target="../tags/tag257.xml"/><Relationship Id="rId22" Type="http://schemas.openxmlformats.org/officeDocument/2006/relationships/tags" Target="../tags/tag256.xml"/><Relationship Id="rId21" Type="http://schemas.openxmlformats.org/officeDocument/2006/relationships/tags" Target="../tags/tag255.xml"/><Relationship Id="rId20" Type="http://schemas.openxmlformats.org/officeDocument/2006/relationships/tags" Target="../tags/tag254.xml"/><Relationship Id="rId2" Type="http://schemas.openxmlformats.org/officeDocument/2006/relationships/tags" Target="../tags/tag236.xml"/><Relationship Id="rId19" Type="http://schemas.openxmlformats.org/officeDocument/2006/relationships/tags" Target="../tags/tag253.xml"/><Relationship Id="rId18" Type="http://schemas.openxmlformats.org/officeDocument/2006/relationships/tags" Target="../tags/tag252.xml"/><Relationship Id="rId17" Type="http://schemas.openxmlformats.org/officeDocument/2006/relationships/tags" Target="../tags/tag251.xml"/><Relationship Id="rId16" Type="http://schemas.openxmlformats.org/officeDocument/2006/relationships/tags" Target="../tags/tag250.xml"/><Relationship Id="rId15" Type="http://schemas.openxmlformats.org/officeDocument/2006/relationships/tags" Target="../tags/tag249.xml"/><Relationship Id="rId14" Type="http://schemas.openxmlformats.org/officeDocument/2006/relationships/tags" Target="../tags/tag248.xml"/><Relationship Id="rId13" Type="http://schemas.openxmlformats.org/officeDocument/2006/relationships/tags" Target="../tags/tag247.xml"/><Relationship Id="rId12" Type="http://schemas.openxmlformats.org/officeDocument/2006/relationships/tags" Target="../tags/tag246.xml"/><Relationship Id="rId11" Type="http://schemas.openxmlformats.org/officeDocument/2006/relationships/tags" Target="../tags/tag245.xml"/><Relationship Id="rId10" Type="http://schemas.openxmlformats.org/officeDocument/2006/relationships/tags" Target="../tags/tag244.xml"/><Relationship Id="rId1" Type="http://schemas.openxmlformats.org/officeDocument/2006/relationships/tags" Target="../tags/tag235.xml"/></Relationships>
</file>

<file path=ppt/slides/_rels/slide40.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7" Type="http://schemas.openxmlformats.org/officeDocument/2006/relationships/notesSlide" Target="../notesSlides/notesSlide16.xml"/><Relationship Id="rId26" Type="http://schemas.openxmlformats.org/officeDocument/2006/relationships/slideLayout" Target="../slideLayouts/slideLayout3.xml"/><Relationship Id="rId25" Type="http://schemas.openxmlformats.org/officeDocument/2006/relationships/tags" Target="../tags/tag286.xml"/><Relationship Id="rId24" Type="http://schemas.openxmlformats.org/officeDocument/2006/relationships/tags" Target="../tags/tag285.xml"/><Relationship Id="rId23" Type="http://schemas.openxmlformats.org/officeDocument/2006/relationships/tags" Target="../tags/tag284.xml"/><Relationship Id="rId22" Type="http://schemas.openxmlformats.org/officeDocument/2006/relationships/tags" Target="../tags/tag283.xml"/><Relationship Id="rId21" Type="http://schemas.openxmlformats.org/officeDocument/2006/relationships/tags" Target="../tags/tag282.xml"/><Relationship Id="rId20" Type="http://schemas.openxmlformats.org/officeDocument/2006/relationships/tags" Target="../tags/tag281.xml"/><Relationship Id="rId2" Type="http://schemas.openxmlformats.org/officeDocument/2006/relationships/tags" Target="../tags/tag263.xml"/><Relationship Id="rId19" Type="http://schemas.openxmlformats.org/officeDocument/2006/relationships/tags" Target="../tags/tag280.xml"/><Relationship Id="rId18" Type="http://schemas.openxmlformats.org/officeDocument/2006/relationships/tags" Target="../tags/tag279.xml"/><Relationship Id="rId17" Type="http://schemas.openxmlformats.org/officeDocument/2006/relationships/tags" Target="../tags/tag278.xml"/><Relationship Id="rId16" Type="http://schemas.openxmlformats.org/officeDocument/2006/relationships/tags" Target="../tags/tag277.xml"/><Relationship Id="rId15" Type="http://schemas.openxmlformats.org/officeDocument/2006/relationships/tags" Target="../tags/tag276.xml"/><Relationship Id="rId14" Type="http://schemas.openxmlformats.org/officeDocument/2006/relationships/tags" Target="../tags/tag275.xml"/><Relationship Id="rId13" Type="http://schemas.openxmlformats.org/officeDocument/2006/relationships/tags" Target="../tags/tag274.xml"/><Relationship Id="rId12" Type="http://schemas.openxmlformats.org/officeDocument/2006/relationships/tags" Target="../tags/tag273.xml"/><Relationship Id="rId11" Type="http://schemas.openxmlformats.org/officeDocument/2006/relationships/tags" Target="../tags/tag272.xml"/><Relationship Id="rId10" Type="http://schemas.openxmlformats.org/officeDocument/2006/relationships/tags" Target="../tags/tag271.xml"/><Relationship Id="rId1" Type="http://schemas.openxmlformats.org/officeDocument/2006/relationships/tags" Target="../tags/tag262.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3.xml"/><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970" y="299720"/>
            <a:ext cx="1123061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sp>
        <p:nvSpPr>
          <p:cNvPr id="5" name="矩形 4"/>
          <p:cNvSpPr/>
          <p:nvPr/>
        </p:nvSpPr>
        <p:spPr>
          <a:xfrm>
            <a:off x="872490" y="789940"/>
            <a:ext cx="1054989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pic>
        <p:nvPicPr>
          <p:cNvPr id="1026" name="Picture 2" descr="西北工业大学- 维基百科，自由的百科全书"/>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42890" y="72580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67330" y="2722245"/>
            <a:ext cx="7194550" cy="706755"/>
          </a:xfrm>
          <a:prstGeom prst="rect">
            <a:avLst/>
          </a:prstGeom>
          <a:noFill/>
        </p:spPr>
        <p:txBody>
          <a:bodyPr wrap="square" rtlCol="0">
            <a:spAutoFit/>
          </a:bodyPr>
          <a:lstStyle/>
          <a:p>
            <a:pPr algn="dist"/>
            <a:r>
              <a:rPr kumimoji="1" lang="zh-CN" altLang="en-US" sz="4000" b="1" dirty="0">
                <a:solidFill>
                  <a:srgbClr val="034DA0"/>
                </a:solidFill>
                <a:latin typeface="+mn-ea"/>
                <a:cs typeface="等线 Light" panose="02010600030101010101" charset="-122"/>
                <a:sym typeface="+mn-ea"/>
              </a:rPr>
              <a:t>编译原理</a:t>
            </a:r>
            <a:endParaRPr kumimoji="1" lang="zh-CN" altLang="en-US" sz="4000" b="1" dirty="0">
              <a:solidFill>
                <a:srgbClr val="034DA0"/>
              </a:solidFill>
              <a:latin typeface="+mn-ea"/>
              <a:cs typeface="等线 Light" panose="02010600030101010101" charset="-122"/>
              <a:sym typeface="+mn-ea"/>
            </a:endParaRPr>
          </a:p>
        </p:txBody>
      </p:sp>
      <p:cxnSp>
        <p:nvCxnSpPr>
          <p:cNvPr id="8" name="直线连接符 7"/>
          <p:cNvCxnSpPr/>
          <p:nvPr/>
        </p:nvCxnSpPr>
        <p:spPr>
          <a:xfrm flipV="1">
            <a:off x="2367330" y="3429151"/>
            <a:ext cx="8088630" cy="1397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367280" y="3538220"/>
            <a:ext cx="8289925" cy="2306955"/>
          </a:xfrm>
          <a:prstGeom prst="rect">
            <a:avLst/>
          </a:prstGeom>
          <a:noFill/>
        </p:spPr>
        <p:txBody>
          <a:bodyPr wrap="square" rtlCol="0">
            <a:spAutoFit/>
          </a:bodyPr>
          <a:lstStyle/>
          <a:p>
            <a:pPr algn="l">
              <a:lnSpc>
                <a:spcPct val="150000"/>
              </a:lnSpc>
            </a:pPr>
            <a:r>
              <a:rPr kumimoji="1" lang="zh-CN" altLang="en-US" sz="3200" b="1" dirty="0">
                <a:solidFill>
                  <a:schemeClr val="tx1">
                    <a:lumMod val="65000"/>
                    <a:lumOff val="35000"/>
                  </a:schemeClr>
                </a:solidFill>
                <a:latin typeface="+mn-ea"/>
                <a:cs typeface="+mn-ea"/>
              </a:rPr>
              <a:t>授课教师：马春燕    </a:t>
            </a:r>
            <a:r>
              <a:rPr kumimoji="1" lang="en-US" altLang="zh-CN" sz="3200" b="1" dirty="0">
                <a:solidFill>
                  <a:schemeClr val="tx1">
                    <a:lumMod val="65000"/>
                    <a:lumOff val="35000"/>
                  </a:schemeClr>
                </a:solidFill>
                <a:latin typeface="+mn-ea"/>
                <a:cs typeface="+mn-ea"/>
              </a:rPr>
              <a:t> </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邮箱：</a:t>
            </a:r>
            <a:r>
              <a:rPr kumimoji="1" lang="en-US" altLang="zh-CN" sz="3200" b="1" dirty="0">
                <a:solidFill>
                  <a:schemeClr val="tx1">
                    <a:lumMod val="65000"/>
                    <a:lumOff val="35000"/>
                  </a:schemeClr>
                </a:solidFill>
                <a:latin typeface="+mn-ea"/>
                <a:cs typeface="+mn-ea"/>
              </a:rPr>
              <a:t>machunyan @nwpu.edu.cn</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手机：</a:t>
            </a:r>
            <a:r>
              <a:rPr kumimoji="1" lang="en-US" altLang="zh-CN" sz="3200" b="1" dirty="0">
                <a:solidFill>
                  <a:schemeClr val="tx1">
                    <a:lumMod val="65000"/>
                    <a:lumOff val="35000"/>
                  </a:schemeClr>
                </a:solidFill>
                <a:latin typeface="+mn-ea"/>
                <a:cs typeface="+mn-ea"/>
              </a:rPr>
              <a:t>13991282722      </a:t>
            </a:r>
            <a:r>
              <a:rPr kumimoji="1" lang="en-US" altLang="zh-CN" sz="2000" b="1" dirty="0">
                <a:solidFill>
                  <a:schemeClr val="tx1">
                    <a:lumMod val="65000"/>
                    <a:lumOff val="35000"/>
                  </a:schemeClr>
                </a:solidFill>
                <a:latin typeface="+mn-ea"/>
                <a:cs typeface="+mn-ea"/>
              </a:rPr>
              <a:t>   </a:t>
            </a:r>
            <a:endParaRPr kumimoji="1" lang="en-US" altLang="zh-CN" sz="2000" b="1" dirty="0">
              <a:solidFill>
                <a:schemeClr val="tx1">
                  <a:lumMod val="65000"/>
                  <a:lumOff val="35000"/>
                </a:schemeClr>
              </a:solidFill>
              <a:latin typeface="+mn-ea"/>
              <a:cs typeface="+mn-ea"/>
            </a:endParaRPr>
          </a:p>
        </p:txBody>
      </p:sp>
      <p:sp>
        <p:nvSpPr>
          <p:cNvPr id="2" name="灯片编号占位符 1"/>
          <p:cNvSpPr>
            <a:spLocks noGrp="1"/>
          </p:cNvSpPr>
          <p:nvPr>
            <p:ph type="sldNum" sz="quarter" idx="12"/>
          </p:nvPr>
        </p:nvSpPr>
        <p:spPr/>
        <p:txBody>
          <a:bodyPr/>
          <a:p>
            <a:fld id="{7C7206B7-967B-48F3-989E-8CF2542470F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4974" y="276860"/>
            <a:ext cx="4600201" cy="593090"/>
          </a:xfrm>
        </p:spPr>
        <p:txBody>
          <a:bodyPr/>
          <a:lstStyle/>
          <a:p>
            <a:r>
              <a:rPr lang="zh-CN" altLang="en-US" dirty="0"/>
              <a:t>第八章 中间代码优化</a:t>
            </a:r>
            <a:endParaRPr lang="zh-CN" altLang="en-US" dirty="0"/>
          </a:p>
        </p:txBody>
      </p:sp>
      <p:sp>
        <p:nvSpPr>
          <p:cNvPr id="5" name="Rectangle 3"/>
          <p:cNvSpPr txBox="1"/>
          <p:nvPr>
            <p:custDataLst>
              <p:tags r:id="rId1"/>
            </p:custDataLst>
          </p:nvPr>
        </p:nvSpPr>
        <p:spPr>
          <a:xfrm>
            <a:off x="371475" y="1242695"/>
            <a:ext cx="11483340" cy="412496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spcAft>
                <a:spcPts val="0"/>
              </a:spcAft>
              <a:buFont typeface="Wingdings" panose="05000000000000000000" charset="0"/>
              <a:buChar char="p"/>
            </a:pPr>
            <a:r>
              <a:rPr lang="zh-CN" altLang="en-US" b="1" dirty="0">
                <a:latin typeface="+mn-ea"/>
              </a:rPr>
              <a:t>机器相关性：</a:t>
            </a:r>
            <a:endParaRPr lang="zh-CN" altLang="en-US" b="1" dirty="0">
              <a:latin typeface="+mn-ea"/>
            </a:endParaRPr>
          </a:p>
          <a:p>
            <a:pPr lvl="1">
              <a:lnSpc>
                <a:spcPct val="120000"/>
              </a:lnSpc>
              <a:spcBef>
                <a:spcPct val="0"/>
              </a:spcBef>
              <a:spcAft>
                <a:spcPts val="0"/>
              </a:spcAft>
            </a:pPr>
            <a:r>
              <a:rPr lang="zh-CN" altLang="en-US" b="1" dirty="0">
                <a:latin typeface="+mn-ea"/>
              </a:rPr>
              <a:t>机器相关优化：寄存器优化，多处理器优化，特殊指令优化，无用指令消除等。</a:t>
            </a:r>
            <a:r>
              <a:rPr lang="en-US" altLang="zh-CN" b="1" dirty="0">
                <a:latin typeface="+mn-ea"/>
              </a:rPr>
              <a:t>--</a:t>
            </a:r>
            <a:r>
              <a:rPr lang="zh-CN" altLang="en-US" b="1" dirty="0">
                <a:latin typeface="+mn-ea"/>
              </a:rPr>
              <a:t>针对汇编语言或机器语言</a:t>
            </a:r>
            <a:endParaRPr lang="zh-CN" altLang="en-US" b="1" dirty="0">
              <a:latin typeface="+mn-ea"/>
            </a:endParaRPr>
          </a:p>
          <a:p>
            <a:pPr lvl="1">
              <a:lnSpc>
                <a:spcPct val="120000"/>
              </a:lnSpc>
              <a:spcBef>
                <a:spcPct val="0"/>
              </a:spcBef>
              <a:spcAft>
                <a:spcPts val="0"/>
              </a:spcAft>
            </a:pPr>
            <a:r>
              <a:rPr lang="zh-CN" altLang="en-US" b="1" dirty="0">
                <a:latin typeface="+mn-ea"/>
              </a:rPr>
              <a:t>机器无关优化：</a:t>
            </a:r>
            <a:r>
              <a:rPr lang="en-US" altLang="zh-CN" b="1" dirty="0">
                <a:latin typeface="+mn-ea"/>
              </a:rPr>
              <a:t>--</a:t>
            </a:r>
            <a:r>
              <a:rPr lang="zh-CN" altLang="en-US" b="1" dirty="0">
                <a:latin typeface="+mn-ea"/>
              </a:rPr>
              <a:t>针对</a:t>
            </a:r>
            <a:r>
              <a:rPr lang="zh-CN" altLang="en-US" b="1" dirty="0">
                <a:solidFill>
                  <a:srgbClr val="0070C0"/>
                </a:solidFill>
                <a:latin typeface="+mn-ea"/>
              </a:rPr>
              <a:t>中间代码</a:t>
            </a:r>
            <a:endParaRPr lang="zh-CN" altLang="en-US" b="1" dirty="0">
              <a:solidFill>
                <a:srgbClr val="0070C0"/>
              </a:solidFill>
              <a:latin typeface="+mn-ea"/>
            </a:endParaRPr>
          </a:p>
          <a:p>
            <a:pPr>
              <a:lnSpc>
                <a:spcPct val="120000"/>
              </a:lnSpc>
              <a:spcBef>
                <a:spcPct val="0"/>
              </a:spcBef>
              <a:spcAft>
                <a:spcPts val="0"/>
              </a:spcAft>
              <a:buFont typeface="Wingdings" panose="05000000000000000000" charset="0"/>
              <a:buChar char="p"/>
            </a:pPr>
            <a:r>
              <a:rPr lang="zh-CN" altLang="en-US" b="1" dirty="0">
                <a:latin typeface="+mn-ea"/>
              </a:rPr>
              <a:t>优化范围：</a:t>
            </a:r>
            <a:endParaRPr lang="zh-CN" altLang="en-US" b="1" dirty="0">
              <a:latin typeface="+mn-ea"/>
            </a:endParaRPr>
          </a:p>
          <a:p>
            <a:pPr lvl="1">
              <a:lnSpc>
                <a:spcPct val="120000"/>
              </a:lnSpc>
              <a:spcBef>
                <a:spcPct val="0"/>
              </a:spcBef>
              <a:spcAft>
                <a:spcPts val="0"/>
              </a:spcAft>
            </a:pPr>
            <a:r>
              <a:rPr lang="zh-CN" altLang="en-US" b="1" dirty="0">
                <a:solidFill>
                  <a:srgbClr val="0070C0"/>
                </a:solidFill>
                <a:latin typeface="+mn-ea"/>
              </a:rPr>
              <a:t>局部优化：基本块范围内的优化，即合并常量计算，消除公共子表达式，删除无用代码和削减计算强度。</a:t>
            </a:r>
            <a:endParaRPr lang="zh-CN" altLang="en-US" b="1" dirty="0">
              <a:solidFill>
                <a:srgbClr val="0070C0"/>
              </a:solidFill>
              <a:latin typeface="+mn-ea"/>
            </a:endParaRPr>
          </a:p>
          <a:p>
            <a:pPr lvl="1">
              <a:lnSpc>
                <a:spcPct val="120000"/>
              </a:lnSpc>
              <a:spcBef>
                <a:spcPct val="0"/>
              </a:spcBef>
              <a:spcAft>
                <a:spcPts val="0"/>
              </a:spcAft>
            </a:pPr>
            <a:r>
              <a:rPr lang="zh-CN" altLang="en-US" b="1" dirty="0">
                <a:latin typeface="+mn-ea"/>
              </a:rPr>
              <a:t>全局优化：</a:t>
            </a:r>
            <a:r>
              <a:rPr lang="zh-CN" altLang="en-US" b="1" dirty="0">
                <a:solidFill>
                  <a:srgbClr val="0070C0"/>
                </a:solidFill>
                <a:latin typeface="+mn-ea"/>
              </a:rPr>
              <a:t>主要是基于循环的优化，即循环不变式优化</a:t>
            </a:r>
            <a:r>
              <a:rPr lang="zh-CN" altLang="en-US" b="1" dirty="0">
                <a:latin typeface="+mn-ea"/>
              </a:rPr>
              <a:t>，归纳变量删除，计算强度削减。</a:t>
            </a: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Horizontal)">
                                      <p:cBhvr>
                                        <p:cTn id="7" dur="500"/>
                                        <p:tgtEl>
                                          <p:spTgt spid="5">
                                            <p:txEl>
                                              <p:pRg st="1" end="1"/>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arn(inHorizontal)">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6"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barn(inHorizontal)">
                                      <p:cBhvr>
                                        <p:cTn id="15" dur="500"/>
                                        <p:tgtEl>
                                          <p:spTgt spid="5">
                                            <p:txEl>
                                              <p:pRg st="3" end="3"/>
                                            </p:txEl>
                                          </p:spTgt>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barn(inHorizontal)">
                                      <p:cBhvr>
                                        <p:cTn id="18" dur="500"/>
                                        <p:tgtEl>
                                          <p:spTgt spid="5">
                                            <p:txEl>
                                              <p:pRg st="4" end="4"/>
                                            </p:txEl>
                                          </p:spTgt>
                                        </p:tgtEl>
                                      </p:cBhvr>
                                    </p:animEffect>
                                  </p:childTnLst>
                                </p:cTn>
                              </p:par>
                              <p:par>
                                <p:cTn id="19" presetID="16" presetClass="entr" presetSubtype="26"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barn(inHorizontal)">
                                      <p:cBhvr>
                                        <p:cTn id="21"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a:xfrm>
            <a:off x="282929" y="312056"/>
            <a:ext cx="6129867" cy="511118"/>
          </a:xfrm>
        </p:spPr>
        <p:txBody>
          <a:bodyPr>
            <a:noAutofit/>
          </a:bodyPr>
          <a:lstStyle/>
          <a:p>
            <a:r>
              <a:rPr lang="zh-CN" altLang="en-US" sz="2800" dirty="0">
                <a:solidFill>
                  <a:schemeClr val="bg1"/>
                </a:solidFill>
              </a:rPr>
              <a:t>第</a:t>
            </a:r>
            <a:r>
              <a:rPr lang="en-US" altLang="zh-CN" sz="2800" dirty="0">
                <a:solidFill>
                  <a:schemeClr val="bg1"/>
                </a:solidFill>
              </a:rPr>
              <a:t>8</a:t>
            </a:r>
            <a:r>
              <a:rPr lang="zh-CN" altLang="en-US" sz="2800" dirty="0">
                <a:solidFill>
                  <a:schemeClr val="bg1"/>
                </a:solidFill>
              </a:rPr>
              <a:t>单元 代码优化</a:t>
            </a:r>
            <a:endParaRPr lang="zh-CN" altLang="en-US" sz="2800" dirty="0">
              <a:solidFill>
                <a:schemeClr val="bg1"/>
              </a:solidFill>
            </a:endParaRPr>
          </a:p>
        </p:txBody>
      </p:sp>
      <p:sp>
        <p:nvSpPr>
          <p:cNvPr id="24" name="文本占位符 23"/>
          <p:cNvSpPr>
            <a:spLocks noGrp="1"/>
          </p:cNvSpPr>
          <p:nvPr>
            <p:ph type="body" sz="quarter" idx="14"/>
          </p:nvPr>
        </p:nvSpPr>
        <p:spPr>
          <a:xfrm>
            <a:off x="643203" y="1161659"/>
            <a:ext cx="6191250" cy="2838450"/>
          </a:xfrm>
        </p:spPr>
        <p:txBody>
          <a:bodyPr/>
          <a:lstStyle/>
          <a:p>
            <a:pPr>
              <a:buFont typeface="Wingdings" panose="05000000000000000000" charset="0"/>
              <a:buChar char="ü"/>
            </a:pPr>
            <a:r>
              <a:rPr lang="en-US" altLang="zh-CN" b="1" dirty="0">
                <a:solidFill>
                  <a:srgbClr val="0070C0"/>
                </a:solidFill>
              </a:rPr>
              <a:t>8.1 </a:t>
            </a:r>
            <a:r>
              <a:rPr lang="zh-CN" altLang="en-US" b="1" dirty="0">
                <a:solidFill>
                  <a:srgbClr val="0070C0"/>
                </a:solidFill>
              </a:rPr>
              <a:t>基本块的优化</a:t>
            </a:r>
            <a:endParaRPr lang="zh-CN" altLang="en-US" b="1" dirty="0">
              <a:solidFill>
                <a:srgbClr val="0070C0"/>
              </a:solidFill>
            </a:endParaRPr>
          </a:p>
          <a:p>
            <a:r>
              <a:rPr lang="en-US" altLang="zh-CN" b="1" dirty="0">
                <a:solidFill>
                  <a:schemeClr val="tx1"/>
                </a:solidFill>
              </a:rPr>
              <a:t>8.2 </a:t>
            </a:r>
            <a:r>
              <a:rPr lang="zh-CN" altLang="en-US" b="1" dirty="0">
                <a:solidFill>
                  <a:schemeClr val="tx1"/>
                </a:solidFill>
              </a:rPr>
              <a:t>与循环有关的优化</a:t>
            </a:r>
            <a:endParaRPr lang="zh-CN" altLang="en-US" b="1" dirty="0">
              <a:solidFill>
                <a:schemeClr val="tx1"/>
              </a:solidFill>
            </a:endParaRPr>
          </a:p>
          <a:p>
            <a:endParaRPr lang="zh-CN" altLang="en-US" b="1"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500380" y="276860"/>
            <a:ext cx="5595620" cy="593090"/>
          </a:xfrm>
        </p:spPr>
        <p:txBody>
          <a:bodyPr/>
          <a:lstStyle/>
          <a:p>
            <a:r>
              <a:rPr lang="en-US" altLang="zh-CN" dirty="0"/>
              <a:t>8.1.1 </a:t>
            </a:r>
            <a:r>
              <a:rPr lang="zh-CN" altLang="en-US" dirty="0"/>
              <a:t>基本块的概念</a:t>
            </a:r>
            <a:endParaRPr lang="zh-CN" altLang="en-US" dirty="0"/>
          </a:p>
        </p:txBody>
      </p:sp>
      <p:sp>
        <p:nvSpPr>
          <p:cNvPr id="4" name="Rectangle 5"/>
          <p:cNvSpPr txBox="1"/>
          <p:nvPr/>
        </p:nvSpPr>
        <p:spPr>
          <a:xfrm>
            <a:off x="439420" y="1196975"/>
            <a:ext cx="5038725" cy="474281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000" b="1" dirty="0">
                <a:solidFill>
                  <a:srgbClr val="030305"/>
                </a:solidFill>
                <a:latin typeface="+mn-ea"/>
                <a:sym typeface="+mn-ea"/>
              </a:rPr>
              <a:t>基本块的优化是局部优化，输入是组成基本块的三地址码序列，输出是优化了的三地址</a:t>
            </a:r>
            <a:r>
              <a:rPr lang="zh-CN" altLang="en-US" sz="2000" b="1" dirty="0">
                <a:solidFill>
                  <a:srgbClr val="030305"/>
                </a:solidFill>
                <a:latin typeface="+mn-ea"/>
                <a:sym typeface="+mn-ea"/>
              </a:rPr>
              <a:t>码序列。</a:t>
            </a:r>
            <a:endParaRPr lang="zh-CN" altLang="en-US" sz="2000" b="1" dirty="0">
              <a:solidFill>
                <a:srgbClr val="0070C0"/>
              </a:solidFill>
              <a:latin typeface="+mn-ea"/>
            </a:endParaRPr>
          </a:p>
          <a:p>
            <a:pPr>
              <a:lnSpc>
                <a:spcPct val="125000"/>
              </a:lnSpc>
              <a:spcBef>
                <a:spcPct val="0"/>
              </a:spcBef>
              <a:spcAft>
                <a:spcPts val="0"/>
              </a:spcAft>
              <a:buFont typeface="Wingdings" panose="05000000000000000000" charset="0"/>
              <a:buChar char="p"/>
            </a:pPr>
            <a:r>
              <a:rPr lang="zh-CN" altLang="en-US" sz="2000" b="1" dirty="0">
                <a:solidFill>
                  <a:srgbClr val="0070C0"/>
                </a:solidFill>
                <a:latin typeface="+mn-ea"/>
              </a:rPr>
              <a:t>所谓基本块，</a:t>
            </a:r>
            <a:r>
              <a:rPr lang="zh-CN" altLang="en-US" sz="2000" b="1" dirty="0">
                <a:solidFill>
                  <a:srgbClr val="030305"/>
                </a:solidFill>
                <a:latin typeface="+mn-ea"/>
              </a:rPr>
              <a:t>是指程序中一顺序执行无分叉的代码序列，只有一个入口和一个出口，入口是第一个语句，出口是最后一个语句(</a:t>
            </a:r>
            <a:r>
              <a:rPr lang="zh-CN" altLang="en-US" sz="2000" b="1" dirty="0">
                <a:solidFill>
                  <a:srgbClr val="030305"/>
                </a:solidFill>
                <a:latin typeface="+mn-ea"/>
                <a:hlinkClick r:id="rId1" action="ppaction://hlinksldjump"/>
              </a:rPr>
              <a:t>…</a:t>
            </a:r>
            <a:r>
              <a:rPr lang="zh-CN" altLang="en-US" sz="2000" b="1" dirty="0">
                <a:solidFill>
                  <a:srgbClr val="030305"/>
                </a:solidFill>
                <a:latin typeface="+mn-ea"/>
              </a:rPr>
              <a:t>)。</a:t>
            </a:r>
            <a:endParaRPr lang="zh-CN" altLang="en-US" sz="2000" b="1" dirty="0">
              <a:solidFill>
                <a:srgbClr val="030305"/>
              </a:solidFill>
              <a:latin typeface="+mn-ea"/>
            </a:endParaRPr>
          </a:p>
          <a:p>
            <a:pPr>
              <a:lnSpc>
                <a:spcPct val="125000"/>
              </a:lnSpc>
              <a:spcBef>
                <a:spcPct val="0"/>
              </a:spcBef>
              <a:spcAft>
                <a:spcPts val="0"/>
              </a:spcAft>
              <a:buFont typeface="Wingdings" panose="05000000000000000000" charset="0"/>
              <a:buChar char="p"/>
            </a:pPr>
            <a:r>
              <a:rPr lang="zh-CN" altLang="en-US" sz="2000" b="1" dirty="0">
                <a:solidFill>
                  <a:srgbClr val="030305"/>
                </a:solidFill>
                <a:latin typeface="+mn-ea"/>
              </a:rPr>
              <a:t>对于一个给定的程序，可以把它划分为一系列的基本块，在各基本块范围内，分别进行局部优化。</a:t>
            </a:r>
            <a:endParaRPr lang="zh-CN" altLang="en-US" sz="2000" b="1" dirty="0">
              <a:solidFill>
                <a:srgbClr val="030305"/>
              </a:solidFill>
              <a:latin typeface="+mn-ea"/>
            </a:endParaRPr>
          </a:p>
          <a:p>
            <a:pPr lvl="1">
              <a:lnSpc>
                <a:spcPct val="125000"/>
              </a:lnSpc>
              <a:spcBef>
                <a:spcPct val="0"/>
              </a:spcBef>
              <a:spcAft>
                <a:spcPts val="0"/>
              </a:spcAft>
              <a:buFont typeface="Wingdings" panose="05000000000000000000" charset="0"/>
              <a:buChar char="p"/>
            </a:pPr>
            <a:r>
              <a:rPr lang="zh-CN" altLang="en-US" sz="2000" b="1" dirty="0">
                <a:solidFill>
                  <a:srgbClr val="030305"/>
                </a:solidFill>
                <a:latin typeface="+mn-ea"/>
              </a:rPr>
              <a:t>给定一个程序，划分基本块的步骤 ？</a:t>
            </a:r>
            <a:endParaRPr lang="zh-CN" altLang="en-US" sz="2000" b="1" dirty="0">
              <a:solidFill>
                <a:srgbClr val="030305"/>
              </a:solidFill>
              <a:latin typeface="+mn-ea"/>
            </a:endParaRPr>
          </a:p>
        </p:txBody>
      </p:sp>
      <p:sp>
        <p:nvSpPr>
          <p:cNvPr id="5" name="Rectangle 2"/>
          <p:cNvSpPr/>
          <p:nvPr>
            <p:custDataLst>
              <p:tags r:id="rId2"/>
            </p:custDataLst>
          </p:nvPr>
        </p:nvSpPr>
        <p:spPr>
          <a:xfrm>
            <a:off x="6826885" y="1343025"/>
            <a:ext cx="2139950" cy="4051935"/>
          </a:xfrm>
          <a:prstGeom prst="rect">
            <a:avLst/>
          </a:prstGeom>
          <a:noFill/>
          <a:ln w="9525">
            <a:noFill/>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T</a:t>
            </a:r>
            <a:r>
              <a:rPr lang="en-US" altLang="zh-CN" sz="2400" b="1" baseline="-25000" dirty="0">
                <a:solidFill>
                  <a:srgbClr val="030305"/>
                </a:solidFill>
                <a:latin typeface="+mn-ea"/>
              </a:rPr>
              <a:t>1</a:t>
            </a:r>
            <a:r>
              <a:rPr lang="en-US" altLang="zh-CN" sz="2400" b="1" dirty="0">
                <a:solidFill>
                  <a:srgbClr val="030305"/>
                </a:solidFill>
                <a:latin typeface="+mn-ea"/>
              </a:rPr>
              <a:t>=A*B</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T</a:t>
            </a:r>
            <a:r>
              <a:rPr lang="en-US" altLang="zh-CN" sz="2400" b="1" baseline="-25000" dirty="0">
                <a:solidFill>
                  <a:srgbClr val="030305"/>
                </a:solidFill>
                <a:latin typeface="+mn-ea"/>
              </a:rPr>
              <a:t>2</a:t>
            </a:r>
            <a:r>
              <a:rPr lang="en-US" altLang="zh-CN" sz="2400" b="1" dirty="0">
                <a:solidFill>
                  <a:srgbClr val="030305"/>
                </a:solidFill>
                <a:latin typeface="+mn-ea"/>
              </a:rPr>
              <a:t>=3/2</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T</a:t>
            </a:r>
            <a:r>
              <a:rPr lang="en-US" altLang="zh-CN" sz="2400" b="1" baseline="-25000" dirty="0">
                <a:solidFill>
                  <a:srgbClr val="030305"/>
                </a:solidFill>
                <a:latin typeface="+mn-ea"/>
              </a:rPr>
              <a:t>3</a:t>
            </a:r>
            <a:r>
              <a:rPr lang="en-US" altLang="zh-CN" sz="2400" b="1" dirty="0">
                <a:solidFill>
                  <a:srgbClr val="030305"/>
                </a:solidFill>
                <a:latin typeface="+mn-ea"/>
              </a:rPr>
              <a:t>=T</a:t>
            </a:r>
            <a:r>
              <a:rPr lang="en-US" altLang="zh-CN" sz="2400" b="1" baseline="-25000" dirty="0">
                <a:solidFill>
                  <a:srgbClr val="030305"/>
                </a:solidFill>
                <a:latin typeface="+mn-ea"/>
              </a:rPr>
              <a:t>1</a:t>
            </a:r>
            <a:r>
              <a:rPr lang="en-US" altLang="zh-CN" sz="2400" b="1" dirty="0">
                <a:solidFill>
                  <a:srgbClr val="030305"/>
                </a:solidFill>
                <a:latin typeface="+mn-ea"/>
              </a:rPr>
              <a:t>-T</a:t>
            </a:r>
            <a:r>
              <a:rPr lang="en-US" altLang="zh-CN" sz="2400" b="1" baseline="-25000" dirty="0">
                <a:solidFill>
                  <a:srgbClr val="030305"/>
                </a:solidFill>
                <a:latin typeface="+mn-ea"/>
              </a:rPr>
              <a:t>2</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X=T</a:t>
            </a:r>
            <a:r>
              <a:rPr lang="en-US" altLang="zh-CN" sz="2400" b="1" baseline="-25000" dirty="0">
                <a:solidFill>
                  <a:srgbClr val="030305"/>
                </a:solidFill>
                <a:latin typeface="+mn-ea"/>
              </a:rPr>
              <a:t>3</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C=2</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T</a:t>
            </a:r>
            <a:r>
              <a:rPr lang="en-US" altLang="zh-CN" sz="2400" b="1" baseline="-25000" dirty="0">
                <a:solidFill>
                  <a:srgbClr val="030305"/>
                </a:solidFill>
                <a:latin typeface="+mn-ea"/>
              </a:rPr>
              <a:t>4</a:t>
            </a:r>
            <a:r>
              <a:rPr lang="en-US" altLang="zh-CN" sz="2400" b="1" dirty="0">
                <a:solidFill>
                  <a:srgbClr val="030305"/>
                </a:solidFill>
                <a:latin typeface="+mn-ea"/>
              </a:rPr>
              <a:t>=A*B</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T</a:t>
            </a:r>
            <a:r>
              <a:rPr lang="en-US" altLang="zh-CN" sz="2400" b="1" baseline="-25000" dirty="0">
                <a:solidFill>
                  <a:srgbClr val="030305"/>
                </a:solidFill>
                <a:latin typeface="+mn-ea"/>
              </a:rPr>
              <a:t>5</a:t>
            </a:r>
            <a:r>
              <a:rPr lang="en-US" altLang="zh-CN" sz="2400" b="1" dirty="0">
                <a:solidFill>
                  <a:srgbClr val="030305"/>
                </a:solidFill>
                <a:latin typeface="+mn-ea"/>
              </a:rPr>
              <a:t>=18+C</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T</a:t>
            </a:r>
            <a:r>
              <a:rPr lang="en-US" altLang="zh-CN" sz="2400" b="1" baseline="-25000" dirty="0">
                <a:solidFill>
                  <a:srgbClr val="030305"/>
                </a:solidFill>
                <a:latin typeface="+mn-ea"/>
              </a:rPr>
              <a:t>6</a:t>
            </a:r>
            <a:r>
              <a:rPr lang="en-US" altLang="zh-CN" sz="2400" b="1" dirty="0">
                <a:solidFill>
                  <a:srgbClr val="030305"/>
                </a:solidFill>
                <a:latin typeface="+mn-ea"/>
              </a:rPr>
              <a:t>=T</a:t>
            </a:r>
            <a:r>
              <a:rPr lang="en-US" altLang="zh-CN" sz="2400" b="1" baseline="-25000" dirty="0">
                <a:solidFill>
                  <a:srgbClr val="030305"/>
                </a:solidFill>
                <a:latin typeface="+mn-ea"/>
              </a:rPr>
              <a:t>4</a:t>
            </a:r>
            <a:r>
              <a:rPr lang="en-US" altLang="zh-CN" sz="2400" b="1" dirty="0">
                <a:solidFill>
                  <a:srgbClr val="030305"/>
                </a:solidFill>
                <a:latin typeface="+mn-ea"/>
              </a:rPr>
              <a:t>*T</a:t>
            </a:r>
            <a:r>
              <a:rPr lang="en-US" altLang="zh-CN" sz="2400" b="1" baseline="-25000" dirty="0">
                <a:solidFill>
                  <a:srgbClr val="030305"/>
                </a:solidFill>
                <a:latin typeface="+mn-ea"/>
              </a:rPr>
              <a:t>5</a:t>
            </a:r>
            <a:endParaRPr lang="en-US" altLang="zh-CN" sz="2400" b="1" dirty="0">
              <a:solidFill>
                <a:srgbClr val="030305"/>
              </a:solidFill>
              <a:latin typeface="+mn-ea"/>
            </a:endParaRPr>
          </a:p>
          <a:p>
            <a:pPr marL="533400" lvl="0" indent="-533400" eaLnBrk="1" hangingPunct="1">
              <a:buClrTx/>
              <a:buSzPct val="90000"/>
              <a:buFont typeface="Wingdings" panose="05000000000000000000" pitchFamily="2" charset="2"/>
              <a:buAutoNum type="arabicParenBoth"/>
            </a:pPr>
            <a:r>
              <a:rPr lang="en-US" altLang="zh-CN" sz="2400" b="1" dirty="0">
                <a:solidFill>
                  <a:srgbClr val="030305"/>
                </a:solidFill>
                <a:latin typeface="+mn-ea"/>
              </a:rPr>
              <a:t>Y=T</a:t>
            </a:r>
            <a:r>
              <a:rPr lang="en-US" altLang="zh-CN" sz="2400" b="1" baseline="-25000" dirty="0">
                <a:solidFill>
                  <a:srgbClr val="030305"/>
                </a:solidFill>
                <a:latin typeface="+mn-ea"/>
              </a:rPr>
              <a:t>6</a:t>
            </a:r>
            <a:endParaRPr lang="en-US" altLang="zh-CN" sz="2400" b="1" baseline="-25000"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arn(in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arn(inHorizontal)">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5610" y="276860"/>
            <a:ext cx="6341745" cy="593090"/>
          </a:xfrm>
        </p:spPr>
        <p:txBody>
          <a:bodyPr/>
          <a:lstStyle/>
          <a:p>
            <a:r>
              <a:rPr lang="en-US" altLang="zh-CN" dirty="0"/>
              <a:t>8.1.2 </a:t>
            </a:r>
            <a:r>
              <a:rPr lang="zh-CN" altLang="en-US" dirty="0"/>
              <a:t>基本块的识别步骤</a:t>
            </a:r>
            <a:endParaRPr lang="zh-CN" altLang="en-US" dirty="0"/>
          </a:p>
        </p:txBody>
      </p:sp>
      <p:sp>
        <p:nvSpPr>
          <p:cNvPr id="8" name="Rectangle 2"/>
          <p:cNvSpPr/>
          <p:nvPr/>
        </p:nvSpPr>
        <p:spPr>
          <a:xfrm>
            <a:off x="435610" y="1117600"/>
            <a:ext cx="6122670" cy="3844925"/>
          </a:xfrm>
          <a:prstGeom prst="rect">
            <a:avLst/>
          </a:prstGeom>
          <a:noFill/>
          <a:ln w="9525">
            <a:noFill/>
          </a:ln>
        </p:spPr>
        <p:txBody>
          <a:bodyPr wrap="square" lIns="90000" tIns="46800" rIns="90000" bIns="46800">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457200" lvl="0" indent="-457200" eaLnBrk="1" hangingPunct="1">
              <a:lnSpc>
                <a:spcPct val="125000"/>
              </a:lnSpc>
              <a:spcBef>
                <a:spcPts val="0"/>
              </a:spcBef>
              <a:spcAft>
                <a:spcPts val="0"/>
              </a:spcAft>
              <a:buClr>
                <a:schemeClr val="folHlink"/>
              </a:buClr>
              <a:buSzPct val="75000"/>
              <a:buNone/>
            </a:pPr>
            <a:r>
              <a:rPr lang="en-US" altLang="zh-CN" sz="2400" b="1" dirty="0">
                <a:solidFill>
                  <a:srgbClr val="030305"/>
                </a:solidFill>
                <a:latin typeface="+mn-ea"/>
              </a:rPr>
              <a:t>1)</a:t>
            </a:r>
            <a:r>
              <a:rPr lang="zh-CN" altLang="en-US" sz="2400" b="1" dirty="0">
                <a:solidFill>
                  <a:srgbClr val="030305"/>
                </a:solidFill>
                <a:latin typeface="+mn-ea"/>
              </a:rPr>
              <a:t>确定基本块入口：</a:t>
            </a:r>
            <a:r>
              <a:rPr lang="en-US" altLang="zh-CN" sz="2400" b="1" dirty="0">
                <a:solidFill>
                  <a:srgbClr val="030305"/>
                </a:solidFill>
                <a:latin typeface="+mn-ea"/>
              </a:rPr>
              <a:t>(1)</a:t>
            </a:r>
            <a:r>
              <a:rPr lang="zh-CN" altLang="en-US" sz="2400" b="1" dirty="0">
                <a:solidFill>
                  <a:srgbClr val="030305"/>
                </a:solidFill>
                <a:latin typeface="+mn-ea"/>
              </a:rPr>
              <a:t>程序的</a:t>
            </a:r>
            <a:r>
              <a:rPr lang="zh-CN" altLang="en-US" sz="2400" b="1" dirty="0">
                <a:solidFill>
                  <a:srgbClr val="0070C0"/>
                </a:solidFill>
                <a:latin typeface="+mn-ea"/>
              </a:rPr>
              <a:t>第一条指令</a:t>
            </a:r>
            <a:r>
              <a:rPr lang="zh-CN" altLang="en-US" sz="2400" b="1" dirty="0">
                <a:solidFill>
                  <a:srgbClr val="030305"/>
                </a:solidFill>
                <a:latin typeface="+mn-ea"/>
              </a:rPr>
              <a:t>；</a:t>
            </a:r>
            <a:r>
              <a:rPr lang="en-US" altLang="zh-CN" sz="2400" b="1" dirty="0">
                <a:solidFill>
                  <a:srgbClr val="030305"/>
                </a:solidFill>
                <a:latin typeface="+mn-ea"/>
              </a:rPr>
              <a:t>(2)</a:t>
            </a:r>
            <a:r>
              <a:rPr lang="zh-CN" altLang="en-US" sz="2400" b="1" dirty="0">
                <a:solidFill>
                  <a:srgbClr val="030305"/>
                </a:solidFill>
                <a:latin typeface="+mn-ea"/>
              </a:rPr>
              <a:t>紧跟在</a:t>
            </a:r>
            <a:r>
              <a:rPr lang="zh-CN" altLang="en-US" sz="2400" b="1" dirty="0">
                <a:solidFill>
                  <a:srgbClr val="0070C0"/>
                </a:solidFill>
                <a:latin typeface="+mn-ea"/>
              </a:rPr>
              <a:t>条件转移指令后的指令</a:t>
            </a:r>
            <a:r>
              <a:rPr lang="zh-CN" altLang="en-US" sz="2400" b="1" dirty="0">
                <a:solidFill>
                  <a:srgbClr val="030305"/>
                </a:solidFill>
                <a:latin typeface="+mn-ea"/>
              </a:rPr>
              <a:t>；</a:t>
            </a:r>
            <a:r>
              <a:rPr lang="en-US" altLang="zh-CN" sz="2400" b="1" dirty="0">
                <a:solidFill>
                  <a:srgbClr val="030305"/>
                </a:solidFill>
                <a:latin typeface="+mn-ea"/>
              </a:rPr>
              <a:t>(3)</a:t>
            </a:r>
            <a:r>
              <a:rPr lang="zh-CN" altLang="en-US" sz="2400" b="1" dirty="0">
                <a:solidFill>
                  <a:srgbClr val="030305"/>
                </a:solidFill>
                <a:latin typeface="+mn-ea"/>
              </a:rPr>
              <a:t>条件转移语句或无条件转移语句转向的</a:t>
            </a:r>
            <a:r>
              <a:rPr lang="zh-CN" altLang="en-US" sz="2400" b="1" dirty="0">
                <a:solidFill>
                  <a:srgbClr val="0070C0"/>
                </a:solidFill>
                <a:latin typeface="+mn-ea"/>
              </a:rPr>
              <a:t>目标指令。</a:t>
            </a:r>
            <a:endParaRPr lang="zh-CN" altLang="en-US" sz="2400" b="1" dirty="0">
              <a:solidFill>
                <a:srgbClr val="0070C0"/>
              </a:solidFill>
              <a:latin typeface="+mn-ea"/>
            </a:endParaRPr>
          </a:p>
          <a:p>
            <a:pPr marL="609600" indent="-609600">
              <a:lnSpc>
                <a:spcPct val="125000"/>
              </a:lnSpc>
              <a:spcBef>
                <a:spcPts val="0"/>
              </a:spcBef>
              <a:spcAft>
                <a:spcPts val="0"/>
              </a:spcAft>
              <a:buFont typeface="Arial" panose="020B0604020202020204" pitchFamily="34" charset="0"/>
              <a:buNone/>
            </a:pPr>
            <a:r>
              <a:rPr lang="en-US" altLang="zh-CN" sz="2400" b="1" dirty="0">
                <a:solidFill>
                  <a:srgbClr val="030305"/>
                </a:solidFill>
                <a:latin typeface="+mn-ea"/>
                <a:sym typeface="+mn-ea"/>
              </a:rPr>
              <a:t>2)</a:t>
            </a:r>
            <a:r>
              <a:rPr lang="zh-CN" altLang="en-US" sz="2400" b="1" dirty="0">
                <a:solidFill>
                  <a:srgbClr val="030305"/>
                </a:solidFill>
                <a:latin typeface="+mn-ea"/>
                <a:sym typeface="+mn-ea"/>
              </a:rPr>
              <a:t>对每个入口指令，构造其所属的基本块:</a:t>
            </a:r>
            <a:endParaRPr lang="zh-CN" altLang="en-US" sz="2400" b="1" dirty="0">
              <a:solidFill>
                <a:srgbClr val="030305"/>
              </a:solidFill>
              <a:latin typeface="+mn-ea"/>
            </a:endParaRPr>
          </a:p>
          <a:p>
            <a:pPr marL="814070" lvl="1" indent="-342900">
              <a:lnSpc>
                <a:spcPct val="125000"/>
              </a:lnSpc>
              <a:spcBef>
                <a:spcPts val="0"/>
              </a:spcBef>
              <a:spcAft>
                <a:spcPts val="0"/>
              </a:spcAft>
              <a:buFont typeface="Wingdings" panose="05000000000000000000" charset="0"/>
              <a:buChar char="p"/>
            </a:pPr>
            <a:r>
              <a:rPr lang="zh-CN" altLang="en-US" sz="2400" dirty="0">
                <a:solidFill>
                  <a:srgbClr val="030305"/>
                </a:solidFill>
                <a:latin typeface="+mn-ea"/>
                <a:sym typeface="+mn-ea"/>
              </a:rPr>
              <a:t>基本块是由该入口到下一入口之间的指令序列构成</a:t>
            </a:r>
            <a:r>
              <a:rPr lang="en-US" altLang="zh-CN" sz="2400" dirty="0">
                <a:solidFill>
                  <a:srgbClr val="030305"/>
                </a:solidFill>
                <a:latin typeface="+mn-ea"/>
                <a:sym typeface="+mn-ea"/>
              </a:rPr>
              <a:t>(</a:t>
            </a:r>
            <a:r>
              <a:rPr lang="zh-CN" altLang="en-US" sz="2400" dirty="0">
                <a:solidFill>
                  <a:srgbClr val="030305"/>
                </a:solidFill>
                <a:latin typeface="+mn-ea"/>
                <a:sym typeface="+mn-ea"/>
              </a:rPr>
              <a:t>不含下一入口)；</a:t>
            </a:r>
            <a:endParaRPr lang="en-US" altLang="zh-CN" sz="2400" b="1" dirty="0">
              <a:solidFill>
                <a:srgbClr val="030305"/>
              </a:solidFill>
              <a:latin typeface="+mn-ea"/>
            </a:endParaRPr>
          </a:p>
          <a:p>
            <a:pPr marL="609600" indent="-609600">
              <a:lnSpc>
                <a:spcPct val="125000"/>
              </a:lnSpc>
              <a:spcBef>
                <a:spcPts val="0"/>
              </a:spcBef>
              <a:spcAft>
                <a:spcPts val="0"/>
              </a:spcAft>
              <a:buFont typeface="Arial" panose="020B0604020202020204" pitchFamily="34" charset="0"/>
              <a:buNone/>
            </a:pPr>
            <a:r>
              <a:rPr lang="en-US" altLang="zh-CN" sz="2400" b="1" dirty="0">
                <a:solidFill>
                  <a:srgbClr val="030305"/>
                </a:solidFill>
                <a:latin typeface="+mn-ea"/>
                <a:sym typeface="+mn-ea"/>
              </a:rPr>
              <a:t>3)</a:t>
            </a:r>
            <a:r>
              <a:rPr lang="zh-CN" altLang="en-US" sz="2400" b="1" dirty="0">
                <a:solidFill>
                  <a:srgbClr val="030305"/>
                </a:solidFill>
                <a:latin typeface="+mn-ea"/>
                <a:sym typeface="+mn-ea"/>
              </a:rPr>
              <a:t>执行上述两步操作后，凡未包含在任何基本块中的指令，都是控制不可能达到的指令，应删除。</a:t>
            </a:r>
            <a:endParaRPr lang="zh-CN" altLang="en-US" sz="2400" b="1" dirty="0">
              <a:solidFill>
                <a:srgbClr val="030305"/>
              </a:solidFill>
              <a:latin typeface="+mn-ea"/>
            </a:endParaRPr>
          </a:p>
          <a:p>
            <a:pPr marL="800100" lvl="1" indent="-342900" eaLnBrk="1" hangingPunct="1">
              <a:lnSpc>
                <a:spcPct val="125000"/>
              </a:lnSpc>
              <a:spcBef>
                <a:spcPts val="0"/>
              </a:spcBef>
              <a:spcAft>
                <a:spcPts val="0"/>
              </a:spcAft>
              <a:buClr>
                <a:srgbClr val="030305"/>
              </a:buClr>
              <a:buSzPct val="70000"/>
              <a:buFont typeface="Wingdings" panose="05000000000000000000" charset="0"/>
              <a:buChar char="p"/>
            </a:pPr>
            <a:endParaRPr lang="zh-CN" altLang="en-US" sz="2400" b="1" dirty="0">
              <a:solidFill>
                <a:srgbClr val="030305"/>
              </a:solidFill>
              <a:latin typeface="+mn-ea"/>
            </a:endParaRPr>
          </a:p>
        </p:txBody>
      </p:sp>
      <p:sp useBgFill="1">
        <p:nvSpPr>
          <p:cNvPr id="7" name="Rectangle 2"/>
          <p:cNvSpPr/>
          <p:nvPr>
            <p:custDataLst>
              <p:tags r:id="rId1"/>
            </p:custDataLst>
          </p:nvPr>
        </p:nvSpPr>
        <p:spPr>
          <a:xfrm>
            <a:off x="7789541" y="5598343"/>
            <a:ext cx="3505200" cy="609600"/>
          </a:xfrm>
          <a:prstGeom prst="rect">
            <a:avLst/>
          </a:prstGeom>
          <a:ln w="9525" cap="flat" cmpd="sng">
            <a:solidFill>
              <a:srgbClr val="030305"/>
            </a:solidFill>
            <a:prstDash val="solid"/>
            <a:miter/>
            <a:headEnd type="none" w="med" len="med"/>
            <a:tailEnd type="none" w="med" len="med"/>
          </a:ln>
        </p:spPr>
        <p:txBody>
          <a:bodyPr wrap="none" lIns="90000" tIns="46800" rIns="90000" bIns="46800"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 typeface="Wingdings" panose="05000000000000000000" pitchFamily="2" charset="2"/>
              <a:buChar char="•"/>
            </a:pPr>
            <a:endParaRPr lang="zh-CN" altLang="en-US" sz="1800" b="1" dirty="0">
              <a:latin typeface="Courier New" panose="02070309020205020404" pitchFamily="49" charset="0"/>
              <a:cs typeface="Courier New" panose="02070309020205020404" pitchFamily="49" charset="0"/>
            </a:endParaRPr>
          </a:p>
        </p:txBody>
      </p:sp>
      <p:sp useBgFill="1">
        <p:nvSpPr>
          <p:cNvPr id="2" name="Rectangle 3"/>
          <p:cNvSpPr/>
          <p:nvPr>
            <p:custDataLst>
              <p:tags r:id="rId2"/>
            </p:custDataLst>
          </p:nvPr>
        </p:nvSpPr>
        <p:spPr>
          <a:xfrm>
            <a:off x="7789541" y="5217343"/>
            <a:ext cx="3505200" cy="304800"/>
          </a:xfrm>
          <a:prstGeom prst="rect">
            <a:avLst/>
          </a:prstGeom>
          <a:ln w="9525" cap="flat" cmpd="sng">
            <a:solidFill>
              <a:srgbClr val="030305"/>
            </a:solidFill>
            <a:prstDash val="solid"/>
            <a:miter/>
            <a:headEnd type="none" w="med" len="med"/>
            <a:tailEnd type="none" w="med" len="med"/>
          </a:ln>
        </p:spPr>
        <p:txBody>
          <a:bodyPr wrap="none" lIns="90000" tIns="46800" rIns="90000" bIns="46800"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 typeface="Wingdings" panose="05000000000000000000" pitchFamily="2" charset="2"/>
              <a:buChar char="•"/>
            </a:pPr>
            <a:endParaRPr lang="zh-CN" altLang="en-US" sz="1800" b="1" dirty="0">
              <a:latin typeface="Courier New" panose="02070309020205020404" pitchFamily="49" charset="0"/>
              <a:cs typeface="Courier New" panose="02070309020205020404" pitchFamily="49" charset="0"/>
            </a:endParaRPr>
          </a:p>
        </p:txBody>
      </p:sp>
      <p:sp useBgFill="1">
        <p:nvSpPr>
          <p:cNvPr id="9" name="Rectangle 4"/>
          <p:cNvSpPr/>
          <p:nvPr>
            <p:custDataLst>
              <p:tags r:id="rId3"/>
            </p:custDataLst>
          </p:nvPr>
        </p:nvSpPr>
        <p:spPr>
          <a:xfrm>
            <a:off x="7789541" y="2869430"/>
            <a:ext cx="3505200" cy="2286000"/>
          </a:xfrm>
          <a:prstGeom prst="rect">
            <a:avLst/>
          </a:prstGeom>
          <a:ln w="9525" cap="flat" cmpd="sng">
            <a:solidFill>
              <a:srgbClr val="030305"/>
            </a:solidFill>
            <a:prstDash val="solid"/>
            <a:miter/>
            <a:headEnd type="none" w="med" len="med"/>
            <a:tailEnd type="none" w="med" len="med"/>
          </a:ln>
        </p:spPr>
        <p:txBody>
          <a:bodyPr wrap="none" lIns="90000" tIns="46800" rIns="90000" bIns="46800"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 typeface="Wingdings" panose="05000000000000000000" pitchFamily="2" charset="2"/>
              <a:buChar char="•"/>
            </a:pPr>
            <a:endParaRPr lang="zh-CN" altLang="en-US" sz="1800" b="1" dirty="0">
              <a:latin typeface="Courier New" panose="02070309020205020404" pitchFamily="49" charset="0"/>
              <a:cs typeface="Courier New" panose="02070309020205020404" pitchFamily="49" charset="0"/>
            </a:endParaRPr>
          </a:p>
        </p:txBody>
      </p:sp>
      <p:sp useBgFill="1">
        <p:nvSpPr>
          <p:cNvPr id="10" name="Rectangle 5"/>
          <p:cNvSpPr/>
          <p:nvPr>
            <p:custDataLst>
              <p:tags r:id="rId4"/>
            </p:custDataLst>
          </p:nvPr>
        </p:nvSpPr>
        <p:spPr>
          <a:xfrm>
            <a:off x="7789541" y="2491605"/>
            <a:ext cx="3505200" cy="304800"/>
          </a:xfrm>
          <a:prstGeom prst="rect">
            <a:avLst/>
          </a:prstGeom>
          <a:ln w="9525" cap="flat" cmpd="sng">
            <a:solidFill>
              <a:srgbClr val="030305"/>
            </a:solidFill>
            <a:prstDash val="solid"/>
            <a:miter/>
            <a:headEnd type="none" w="med" len="med"/>
            <a:tailEnd type="none" w="med" len="med"/>
          </a:ln>
        </p:spPr>
        <p:txBody>
          <a:bodyPr wrap="none" lIns="90000" tIns="46800" rIns="90000" bIns="46800"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 typeface="Wingdings" panose="05000000000000000000" pitchFamily="2" charset="2"/>
              <a:buChar char="•"/>
            </a:pPr>
            <a:endParaRPr lang="zh-CN" altLang="en-US" sz="1800" b="1" dirty="0">
              <a:latin typeface="Courier New" panose="02070309020205020404" pitchFamily="49" charset="0"/>
              <a:cs typeface="Courier New" panose="02070309020205020404" pitchFamily="49" charset="0"/>
            </a:endParaRPr>
          </a:p>
        </p:txBody>
      </p:sp>
      <p:sp useBgFill="1">
        <p:nvSpPr>
          <p:cNvPr id="11" name="Rectangle 6"/>
          <p:cNvSpPr/>
          <p:nvPr>
            <p:custDataLst>
              <p:tags r:id="rId5"/>
            </p:custDataLst>
          </p:nvPr>
        </p:nvSpPr>
        <p:spPr>
          <a:xfrm>
            <a:off x="7789541" y="1370830"/>
            <a:ext cx="3505200" cy="1041400"/>
          </a:xfrm>
          <a:prstGeom prst="rect">
            <a:avLst/>
          </a:prstGeom>
          <a:ln w="9525" cap="flat" cmpd="sng">
            <a:solidFill>
              <a:srgbClr val="030305"/>
            </a:solidFill>
            <a:prstDash val="solid"/>
            <a:miter/>
            <a:headEnd type="none" w="med" len="med"/>
            <a:tailEnd type="none" w="med" len="med"/>
          </a:ln>
        </p:spPr>
        <p:txBody>
          <a:bodyPr wrap="none" lIns="90000" tIns="46800" rIns="90000" bIns="46800"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 typeface="Wingdings" panose="05000000000000000000" pitchFamily="2" charset="2"/>
              <a:buChar char="•"/>
            </a:pPr>
            <a:endParaRPr lang="zh-CN" altLang="en-US" sz="1800" b="1" dirty="0">
              <a:latin typeface="Courier New" panose="02070309020205020404" pitchFamily="49" charset="0"/>
              <a:cs typeface="Courier New" panose="02070309020205020404" pitchFamily="49" charset="0"/>
            </a:endParaRPr>
          </a:p>
        </p:txBody>
      </p:sp>
      <p:sp>
        <p:nvSpPr>
          <p:cNvPr id="14" name="Rectangle 8"/>
          <p:cNvSpPr/>
          <p:nvPr>
            <p:custDataLst>
              <p:tags r:id="rId6"/>
            </p:custDataLst>
          </p:nvPr>
        </p:nvSpPr>
        <p:spPr>
          <a:xfrm>
            <a:off x="7941941" y="1383530"/>
            <a:ext cx="3886200" cy="1016000"/>
          </a:xfrm>
          <a:prstGeom prst="rect">
            <a:avLst/>
          </a:prstGeom>
          <a:noFill/>
          <a:ln w="9525">
            <a:noFill/>
          </a:ln>
        </p:spPr>
        <p:txBody>
          <a:bodyPr wrap="squar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read x</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t1=x&gt;0</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if_false t1 goto L1</a:t>
            </a:r>
            <a:endParaRPr lang="en-US" altLang="zh-CN" sz="2000" b="1" dirty="0">
              <a:solidFill>
                <a:srgbClr val="030305"/>
              </a:solidFill>
              <a:latin typeface="Courier New" panose="02070309020205020404" pitchFamily="49" charset="0"/>
              <a:cs typeface="Courier New" panose="02070309020205020404" pitchFamily="49" charset="0"/>
            </a:endParaRPr>
          </a:p>
        </p:txBody>
      </p:sp>
      <p:sp>
        <p:nvSpPr>
          <p:cNvPr id="15" name="Rectangle 9"/>
          <p:cNvSpPr/>
          <p:nvPr>
            <p:custDataLst>
              <p:tags r:id="rId7"/>
            </p:custDataLst>
          </p:nvPr>
        </p:nvSpPr>
        <p:spPr>
          <a:xfrm>
            <a:off x="7865741" y="2424930"/>
            <a:ext cx="2029474" cy="400050"/>
          </a:xfrm>
          <a:prstGeom prst="rect">
            <a:avLst/>
          </a:prstGeom>
          <a:noFill/>
          <a:ln w="9525">
            <a:noFill/>
          </a:ln>
        </p:spPr>
        <p:txBody>
          <a:bodyPr wrap="squar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zh-CN" altLang="en-US" sz="2000" b="1" dirty="0">
                <a:solidFill>
                  <a:srgbClr val="030305"/>
                </a:solidFill>
                <a:latin typeface="Courier New" panose="02070309020205020404" pitchFamily="49" charset="0"/>
                <a:cs typeface="Courier New" panose="02070309020205020404" pitchFamily="49" charset="0"/>
              </a:rPr>
              <a:t>  </a:t>
            </a:r>
            <a:r>
              <a:rPr lang="en-US" altLang="zh-CN" sz="2000" b="1" dirty="0">
                <a:solidFill>
                  <a:srgbClr val="030305"/>
                </a:solidFill>
                <a:latin typeface="Courier New" panose="02070309020205020404" pitchFamily="49" charset="0"/>
                <a:cs typeface="Courier New" panose="02070309020205020404" pitchFamily="49" charset="0"/>
              </a:rPr>
              <a:t>fact=1  </a:t>
            </a:r>
            <a:endParaRPr lang="en-US" altLang="zh-CN" sz="2000" b="1" dirty="0">
              <a:solidFill>
                <a:srgbClr val="030305"/>
              </a:solidFill>
              <a:latin typeface="Courier New" panose="02070309020205020404" pitchFamily="49" charset="0"/>
              <a:cs typeface="Courier New" panose="02070309020205020404" pitchFamily="49" charset="0"/>
            </a:endParaRPr>
          </a:p>
        </p:txBody>
      </p:sp>
      <p:sp>
        <p:nvSpPr>
          <p:cNvPr id="16" name="Rectangle 10"/>
          <p:cNvSpPr/>
          <p:nvPr>
            <p:custDataLst>
              <p:tags r:id="rId8"/>
            </p:custDataLst>
          </p:nvPr>
        </p:nvSpPr>
        <p:spPr>
          <a:xfrm>
            <a:off x="7941941" y="2869430"/>
            <a:ext cx="3352800" cy="2246630"/>
          </a:xfrm>
          <a:prstGeom prst="rect">
            <a:avLst/>
          </a:prstGeom>
          <a:noFill/>
          <a:ln w="9525">
            <a:noFill/>
          </a:ln>
        </p:spPr>
        <p:txBody>
          <a:bodyPr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label L2</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t2=fact*x</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fact=t2</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t3=x-1</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x=t3</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t4=x</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if_false t4 goto L2</a:t>
            </a:r>
            <a:endParaRPr lang="en-US" altLang="zh-CN" sz="2000" b="1" dirty="0">
              <a:solidFill>
                <a:srgbClr val="030305"/>
              </a:solidFill>
              <a:latin typeface="Courier New" panose="02070309020205020404" pitchFamily="49" charset="0"/>
              <a:cs typeface="Courier New" panose="02070309020205020404" pitchFamily="49" charset="0"/>
            </a:endParaRPr>
          </a:p>
        </p:txBody>
      </p:sp>
      <p:sp>
        <p:nvSpPr>
          <p:cNvPr id="17" name="Rectangle 11"/>
          <p:cNvSpPr/>
          <p:nvPr>
            <p:custDataLst>
              <p:tags r:id="rId9"/>
            </p:custDataLst>
          </p:nvPr>
        </p:nvSpPr>
        <p:spPr>
          <a:xfrm>
            <a:off x="8005441" y="5141143"/>
            <a:ext cx="2516554" cy="400050"/>
          </a:xfrm>
          <a:prstGeom prst="rect">
            <a:avLst/>
          </a:prstGeom>
          <a:noFill/>
          <a:ln w="9525">
            <a:noFill/>
          </a:ln>
        </p:spPr>
        <p:txBody>
          <a:bodyPr wrap="squar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write fact</a:t>
            </a:r>
            <a:endParaRPr lang="en-US" altLang="zh-CN" sz="2000" b="1" dirty="0">
              <a:solidFill>
                <a:srgbClr val="030305"/>
              </a:solidFill>
              <a:latin typeface="Courier New" panose="02070309020205020404" pitchFamily="49" charset="0"/>
              <a:cs typeface="Courier New" panose="02070309020205020404" pitchFamily="49" charset="0"/>
            </a:endParaRPr>
          </a:p>
        </p:txBody>
      </p:sp>
      <p:sp>
        <p:nvSpPr>
          <p:cNvPr id="18" name="Rectangle 12"/>
          <p:cNvSpPr/>
          <p:nvPr>
            <p:custDataLst>
              <p:tags r:id="rId10"/>
            </p:custDataLst>
          </p:nvPr>
        </p:nvSpPr>
        <p:spPr>
          <a:xfrm>
            <a:off x="8005441" y="5522143"/>
            <a:ext cx="2876062" cy="708025"/>
          </a:xfrm>
          <a:prstGeom prst="rect">
            <a:avLst/>
          </a:prstGeom>
          <a:noFill/>
          <a:ln w="9525">
            <a:noFill/>
          </a:ln>
        </p:spPr>
        <p:txBody>
          <a:bodyPr wrap="squar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label L1</a:t>
            </a:r>
            <a:endParaRPr lang="en-US" altLang="zh-CN" sz="2000" b="1" dirty="0">
              <a:solidFill>
                <a:srgbClr val="030305"/>
              </a:solidFill>
              <a:latin typeface="Courier New" panose="02070309020205020404" pitchFamily="49" charset="0"/>
              <a:cs typeface="Courier New" panose="02070309020205020404" pitchFamily="49" charset="0"/>
            </a:endParaRPr>
          </a:p>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 halt</a:t>
            </a:r>
            <a:endParaRPr lang="en-US" altLang="zh-CN" sz="2000" b="1" dirty="0">
              <a:solidFill>
                <a:srgbClr val="030305"/>
              </a:solidFill>
              <a:latin typeface="Courier New" panose="02070309020205020404" pitchFamily="49" charset="0"/>
              <a:cs typeface="Courier New" panose="02070309020205020404" pitchFamily="49" charset="0"/>
            </a:endParaRPr>
          </a:p>
        </p:txBody>
      </p:sp>
      <p:sp>
        <p:nvSpPr>
          <p:cNvPr id="19" name="Rectangle 13"/>
          <p:cNvSpPr/>
          <p:nvPr>
            <p:custDataLst>
              <p:tags r:id="rId11"/>
            </p:custDataLst>
          </p:nvPr>
        </p:nvSpPr>
        <p:spPr>
          <a:xfrm>
            <a:off x="11401663" y="1757972"/>
            <a:ext cx="483870" cy="400050"/>
          </a:xfrm>
          <a:prstGeom prst="rect">
            <a:avLst/>
          </a:prstGeom>
          <a:noFill/>
          <a:ln w="9525">
            <a:noFill/>
          </a:ln>
        </p:spPr>
        <p:txBody>
          <a:bodyPr wrap="non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B1</a:t>
            </a:r>
            <a:endParaRPr lang="zh-CN" altLang="en-US" sz="2000" b="1" dirty="0">
              <a:solidFill>
                <a:srgbClr val="030305"/>
              </a:solidFill>
              <a:latin typeface="Courier New" panose="02070309020205020404" pitchFamily="49" charset="0"/>
              <a:cs typeface="Courier New" panose="02070309020205020404" pitchFamily="49" charset="0"/>
            </a:endParaRPr>
          </a:p>
        </p:txBody>
      </p:sp>
      <p:sp>
        <p:nvSpPr>
          <p:cNvPr id="20" name="Rectangle 14"/>
          <p:cNvSpPr/>
          <p:nvPr>
            <p:custDataLst>
              <p:tags r:id="rId12"/>
            </p:custDataLst>
          </p:nvPr>
        </p:nvSpPr>
        <p:spPr>
          <a:xfrm>
            <a:off x="11401663" y="2507272"/>
            <a:ext cx="483870" cy="400050"/>
          </a:xfrm>
          <a:prstGeom prst="rect">
            <a:avLst/>
          </a:prstGeom>
          <a:noFill/>
          <a:ln w="9525">
            <a:noFill/>
          </a:ln>
        </p:spPr>
        <p:txBody>
          <a:bodyPr wrap="non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B2</a:t>
            </a:r>
            <a:endParaRPr lang="zh-CN" altLang="en-US" sz="2000" b="1" dirty="0">
              <a:solidFill>
                <a:srgbClr val="030305"/>
              </a:solidFill>
              <a:latin typeface="Courier New" panose="02070309020205020404" pitchFamily="49" charset="0"/>
              <a:cs typeface="Courier New" panose="02070309020205020404" pitchFamily="49" charset="0"/>
            </a:endParaRPr>
          </a:p>
        </p:txBody>
      </p:sp>
      <p:sp>
        <p:nvSpPr>
          <p:cNvPr id="21" name="Rectangle 15"/>
          <p:cNvSpPr/>
          <p:nvPr>
            <p:custDataLst>
              <p:tags r:id="rId13"/>
            </p:custDataLst>
          </p:nvPr>
        </p:nvSpPr>
        <p:spPr>
          <a:xfrm>
            <a:off x="11401663" y="3510572"/>
            <a:ext cx="483870" cy="400050"/>
          </a:xfrm>
          <a:prstGeom prst="rect">
            <a:avLst/>
          </a:prstGeom>
          <a:noFill/>
          <a:ln w="9525">
            <a:noFill/>
          </a:ln>
        </p:spPr>
        <p:txBody>
          <a:bodyPr wrap="non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B3</a:t>
            </a:r>
            <a:endParaRPr lang="zh-CN" altLang="en-US" sz="2000" b="1" dirty="0">
              <a:solidFill>
                <a:srgbClr val="030305"/>
              </a:solidFill>
              <a:latin typeface="Courier New" panose="02070309020205020404" pitchFamily="49" charset="0"/>
              <a:cs typeface="Courier New" panose="02070309020205020404" pitchFamily="49" charset="0"/>
            </a:endParaRPr>
          </a:p>
        </p:txBody>
      </p:sp>
      <p:sp>
        <p:nvSpPr>
          <p:cNvPr id="22" name="Rectangle 16"/>
          <p:cNvSpPr/>
          <p:nvPr>
            <p:custDataLst>
              <p:tags r:id="rId14"/>
            </p:custDataLst>
          </p:nvPr>
        </p:nvSpPr>
        <p:spPr>
          <a:xfrm>
            <a:off x="11401663" y="5172685"/>
            <a:ext cx="483870" cy="400050"/>
          </a:xfrm>
          <a:prstGeom prst="rect">
            <a:avLst/>
          </a:prstGeom>
          <a:noFill/>
          <a:ln w="9525">
            <a:noFill/>
          </a:ln>
        </p:spPr>
        <p:txBody>
          <a:bodyPr wrap="non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B4</a:t>
            </a:r>
            <a:endParaRPr lang="zh-CN" altLang="en-US" sz="2000" b="1" dirty="0">
              <a:solidFill>
                <a:srgbClr val="030305"/>
              </a:solidFill>
              <a:latin typeface="Courier New" panose="02070309020205020404" pitchFamily="49" charset="0"/>
              <a:cs typeface="Courier New" panose="02070309020205020404" pitchFamily="49" charset="0"/>
            </a:endParaRPr>
          </a:p>
        </p:txBody>
      </p:sp>
      <p:sp>
        <p:nvSpPr>
          <p:cNvPr id="23" name="Rectangle 17"/>
          <p:cNvSpPr/>
          <p:nvPr>
            <p:custDataLst>
              <p:tags r:id="rId15"/>
            </p:custDataLst>
          </p:nvPr>
        </p:nvSpPr>
        <p:spPr>
          <a:xfrm>
            <a:off x="11401663" y="5706085"/>
            <a:ext cx="483870" cy="400050"/>
          </a:xfrm>
          <a:prstGeom prst="rect">
            <a:avLst/>
          </a:prstGeom>
          <a:noFill/>
          <a:ln w="9525">
            <a:noFill/>
          </a:ln>
        </p:spPr>
        <p:txBody>
          <a:bodyPr wrap="non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000" b="1" dirty="0">
                <a:solidFill>
                  <a:srgbClr val="030305"/>
                </a:solidFill>
                <a:latin typeface="Courier New" panose="02070309020205020404" pitchFamily="49" charset="0"/>
                <a:cs typeface="Courier New" panose="02070309020205020404" pitchFamily="49" charset="0"/>
              </a:rPr>
              <a:t>B5</a:t>
            </a:r>
            <a:endParaRPr lang="zh-CN" altLang="en-US" sz="2000" b="1" dirty="0">
              <a:solidFill>
                <a:srgbClr val="030305"/>
              </a:solidFill>
              <a:latin typeface="Courier New" panose="02070309020205020404" pitchFamily="49" charset="0"/>
              <a:cs typeface="Courier New" panose="02070309020205020404" pitchFamily="49" charset="0"/>
            </a:endParaRPr>
          </a:p>
        </p:txBody>
      </p:sp>
      <p:sp>
        <p:nvSpPr>
          <p:cNvPr id="26" name="Line 20"/>
          <p:cNvSpPr/>
          <p:nvPr>
            <p:custDataLst>
              <p:tags r:id="rId16"/>
            </p:custDataLst>
          </p:nvPr>
        </p:nvSpPr>
        <p:spPr>
          <a:xfrm>
            <a:off x="6837041" y="1624830"/>
            <a:ext cx="990600" cy="0"/>
          </a:xfrm>
          <a:prstGeom prst="line">
            <a:avLst/>
          </a:prstGeom>
          <a:ln w="9525" cap="flat" cmpd="sng">
            <a:solidFill>
              <a:schemeClr val="tx1"/>
            </a:solidFill>
            <a:prstDash val="solid"/>
            <a:miter/>
            <a:headEnd type="none" w="med" len="med"/>
            <a:tailEnd type="triangle" w="med" len="med"/>
          </a:ln>
        </p:spPr>
      </p:sp>
      <p:sp>
        <p:nvSpPr>
          <p:cNvPr id="27" name="Line 21"/>
          <p:cNvSpPr/>
          <p:nvPr>
            <p:custDataLst>
              <p:tags r:id="rId17"/>
            </p:custDataLst>
          </p:nvPr>
        </p:nvSpPr>
        <p:spPr>
          <a:xfrm>
            <a:off x="6786241" y="2653530"/>
            <a:ext cx="990600" cy="0"/>
          </a:xfrm>
          <a:prstGeom prst="line">
            <a:avLst/>
          </a:prstGeom>
          <a:ln w="9525" cap="flat" cmpd="sng">
            <a:solidFill>
              <a:schemeClr val="tx1"/>
            </a:solidFill>
            <a:prstDash val="solid"/>
            <a:miter/>
            <a:headEnd type="none" w="med" len="med"/>
            <a:tailEnd type="triangle" w="med" len="med"/>
          </a:ln>
        </p:spPr>
      </p:sp>
      <p:sp>
        <p:nvSpPr>
          <p:cNvPr id="28" name="Line 22"/>
          <p:cNvSpPr/>
          <p:nvPr>
            <p:custDataLst>
              <p:tags r:id="rId18"/>
            </p:custDataLst>
          </p:nvPr>
        </p:nvSpPr>
        <p:spPr>
          <a:xfrm>
            <a:off x="6760841" y="3047230"/>
            <a:ext cx="990600" cy="0"/>
          </a:xfrm>
          <a:prstGeom prst="line">
            <a:avLst/>
          </a:prstGeom>
          <a:ln w="9525" cap="flat" cmpd="sng">
            <a:solidFill>
              <a:schemeClr val="tx1"/>
            </a:solidFill>
            <a:prstDash val="solid"/>
            <a:miter/>
            <a:headEnd type="none" w="med" len="med"/>
            <a:tailEnd type="triangle" w="med" len="med"/>
          </a:ln>
        </p:spPr>
      </p:sp>
      <p:sp>
        <p:nvSpPr>
          <p:cNvPr id="29" name="Line 23"/>
          <p:cNvSpPr/>
          <p:nvPr>
            <p:custDataLst>
              <p:tags r:id="rId19"/>
            </p:custDataLst>
          </p:nvPr>
        </p:nvSpPr>
        <p:spPr>
          <a:xfrm>
            <a:off x="6811641" y="5384030"/>
            <a:ext cx="990600" cy="0"/>
          </a:xfrm>
          <a:prstGeom prst="line">
            <a:avLst/>
          </a:prstGeom>
          <a:ln w="9525" cap="flat" cmpd="sng">
            <a:solidFill>
              <a:schemeClr val="tx1"/>
            </a:solidFill>
            <a:prstDash val="solid"/>
            <a:miter/>
            <a:headEnd type="none" w="med" len="med"/>
            <a:tailEnd type="triangle" w="med" len="med"/>
          </a:ln>
        </p:spPr>
      </p:sp>
      <p:sp>
        <p:nvSpPr>
          <p:cNvPr id="30" name="Line 24"/>
          <p:cNvSpPr/>
          <p:nvPr>
            <p:custDataLst>
              <p:tags r:id="rId20"/>
            </p:custDataLst>
          </p:nvPr>
        </p:nvSpPr>
        <p:spPr>
          <a:xfrm>
            <a:off x="6798941" y="5739630"/>
            <a:ext cx="990600" cy="0"/>
          </a:xfrm>
          <a:prstGeom prst="line">
            <a:avLst/>
          </a:prstGeom>
          <a:ln w="9525" cap="flat" cmpd="sng">
            <a:solidFill>
              <a:schemeClr val="tx1"/>
            </a:solidFill>
            <a:prstDash val="solid"/>
            <a:miter/>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arn(in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arn(inHorizontal)">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barn(inHorizontal)">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fill="hold"/>
                                        <p:tgtEl>
                                          <p:spTgt spid="26"/>
                                        </p:tgtEl>
                                        <p:attrNameLst>
                                          <p:attrName>ppt_x</p:attrName>
                                        </p:attrNameLst>
                                      </p:cBhvr>
                                      <p:tavLst>
                                        <p:tav tm="0">
                                          <p:val>
                                            <p:strVal val="#ppt_x"/>
                                          </p:val>
                                        </p:tav>
                                        <p:tav tm="100000">
                                          <p:val>
                                            <p:strVal val="#ppt_x"/>
                                          </p:val>
                                        </p:tav>
                                      </p:tavLst>
                                    </p:anim>
                                    <p:anim calcmode="lin" valueType="num">
                                      <p:cBhvr additive="base">
                                        <p:cTn id="2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barn(outHorizontal)">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barn(outHorizontal)">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42"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barn(outHorizontal)">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42"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barn(outHorizontal)">
                                      <p:cBhvr>
                                        <p:cTn id="43" dur="500"/>
                                        <p:tgtEl>
                                          <p:spTgt spid="30"/>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2"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slide(fromRight)">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1+#ppt_w/2"/>
                                          </p:val>
                                        </p:tav>
                                        <p:tav tm="100000">
                                          <p:val>
                                            <p:strVal val="#ppt_x"/>
                                          </p:val>
                                        </p:tav>
                                      </p:tavLst>
                                    </p:anim>
                                    <p:anim calcmode="lin" valueType="num">
                                      <p:cBhvr additive="base">
                                        <p:cTn id="5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2" presetClass="entr" presetSubtype="2"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slide(fromRight)">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00" fill="hold"/>
                                        <p:tgtEl>
                                          <p:spTgt spid="20"/>
                                        </p:tgtEl>
                                        <p:attrNameLst>
                                          <p:attrName>ppt_x</p:attrName>
                                        </p:attrNameLst>
                                      </p:cBhvr>
                                      <p:tavLst>
                                        <p:tav tm="0">
                                          <p:val>
                                            <p:strVal val="1+#ppt_w/2"/>
                                          </p:val>
                                        </p:tav>
                                        <p:tav tm="100000">
                                          <p:val>
                                            <p:strVal val="#ppt_x"/>
                                          </p:val>
                                        </p:tav>
                                      </p:tavLst>
                                    </p:anim>
                                    <p:anim calcmode="lin" valueType="num">
                                      <p:cBhvr additive="base">
                                        <p:cTn id="65"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2" presetClass="entr" presetSubtype="2"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slide(fromRight)">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1+#ppt_w/2"/>
                                          </p:val>
                                        </p:tav>
                                        <p:tav tm="100000">
                                          <p:val>
                                            <p:strVal val="#ppt_x"/>
                                          </p:val>
                                        </p:tav>
                                      </p:tavLst>
                                    </p:anim>
                                    <p:anim calcmode="lin" valueType="num">
                                      <p:cBhvr additive="base">
                                        <p:cTn id="76"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2" presetClass="entr" presetSubtype="2" fill="hold" grpId="0" nodeType="click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slide(fromRight)">
                                      <p:cBhvr>
                                        <p:cTn id="81" dur="500"/>
                                        <p:tgtEl>
                                          <p:spTgt spid="2"/>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2" fill="hold" grpId="0" nodeType="clickEffect">
                                  <p:stCondLst>
                                    <p:cond delay="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500" fill="hold"/>
                                        <p:tgtEl>
                                          <p:spTgt spid="22"/>
                                        </p:tgtEl>
                                        <p:attrNameLst>
                                          <p:attrName>ppt_x</p:attrName>
                                        </p:attrNameLst>
                                      </p:cBhvr>
                                      <p:tavLst>
                                        <p:tav tm="0">
                                          <p:val>
                                            <p:strVal val="1+#ppt_w/2"/>
                                          </p:val>
                                        </p:tav>
                                        <p:tav tm="100000">
                                          <p:val>
                                            <p:strVal val="#ppt_x"/>
                                          </p:val>
                                        </p:tav>
                                      </p:tavLst>
                                    </p:anim>
                                    <p:anim calcmode="lin" valueType="num">
                                      <p:cBhvr additive="base">
                                        <p:cTn id="87"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2" presetClass="entr" presetSubtype="2" fill="hold" grpId="0" nodeType="clickEffect">
                                  <p:stCondLst>
                                    <p:cond delay="0"/>
                                  </p:stCondLst>
                                  <p:childTnLst>
                                    <p:set>
                                      <p:cBhvr>
                                        <p:cTn id="91" dur="1" fill="hold">
                                          <p:stCondLst>
                                            <p:cond delay="0"/>
                                          </p:stCondLst>
                                        </p:cTn>
                                        <p:tgtEl>
                                          <p:spTgt spid="7"/>
                                        </p:tgtEl>
                                        <p:attrNameLst>
                                          <p:attrName>style.visibility</p:attrName>
                                        </p:attrNameLst>
                                      </p:cBhvr>
                                      <p:to>
                                        <p:strVal val="visible"/>
                                      </p:to>
                                    </p:set>
                                    <p:animEffect transition="in" filter="slide(fromRight)">
                                      <p:cBhvr>
                                        <p:cTn id="92" dur="500"/>
                                        <p:tgtEl>
                                          <p:spTgt spid="7"/>
                                        </p:tgtEl>
                                      </p:cBhvr>
                                    </p:animEffect>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additive="base">
                                        <p:cTn id="97" dur="500" fill="hold"/>
                                        <p:tgtEl>
                                          <p:spTgt spid="23"/>
                                        </p:tgtEl>
                                        <p:attrNameLst>
                                          <p:attrName>ppt_x</p:attrName>
                                        </p:attrNameLst>
                                      </p:cBhvr>
                                      <p:tavLst>
                                        <p:tav tm="0">
                                          <p:val>
                                            <p:strVal val="1+#ppt_w/2"/>
                                          </p:val>
                                        </p:tav>
                                        <p:tav tm="100000">
                                          <p:val>
                                            <p:strVal val="#ppt_x"/>
                                          </p:val>
                                        </p:tav>
                                      </p:tavLst>
                                    </p:anim>
                                    <p:anim calcmode="lin" valueType="num">
                                      <p:cBhvr additive="base">
                                        <p:cTn id="9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2" grpId="0" bldLvl="0" animBg="1"/>
      <p:bldP spid="9" grpId="0" bldLvl="0" animBg="1"/>
      <p:bldP spid="10" grpId="0" bldLvl="0" animBg="1"/>
      <p:bldP spid="11" grpId="0" bldLvl="0" animBg="1"/>
      <p:bldP spid="19" grpId="0"/>
      <p:bldP spid="20" grpId="0"/>
      <p:bldP spid="21"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71170" y="276860"/>
            <a:ext cx="6306185" cy="593090"/>
          </a:xfrm>
        </p:spPr>
        <p:txBody>
          <a:bodyPr/>
          <a:lstStyle/>
          <a:p>
            <a:r>
              <a:rPr lang="en-US" altLang="zh-CN" dirty="0"/>
              <a:t>8.1.3 </a:t>
            </a:r>
            <a:r>
              <a:rPr lang="zh-CN" altLang="en-US" dirty="0"/>
              <a:t>基本块的优化</a:t>
            </a:r>
            <a:endParaRPr lang="zh-CN" altLang="en-US" dirty="0"/>
          </a:p>
        </p:txBody>
      </p:sp>
      <p:sp>
        <p:nvSpPr>
          <p:cNvPr id="4" name="Rectangle 3"/>
          <p:cNvSpPr txBox="1"/>
          <p:nvPr/>
        </p:nvSpPr>
        <p:spPr>
          <a:xfrm>
            <a:off x="401320" y="1295400"/>
            <a:ext cx="6451600" cy="475297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b="1" dirty="0">
                <a:latin typeface="+mn-ea"/>
              </a:rPr>
              <a:t>合并常量计算</a:t>
            </a:r>
            <a:endParaRPr lang="zh-CN" altLang="en-US" b="1" dirty="0">
              <a:latin typeface="+mn-ea"/>
            </a:endParaRPr>
          </a:p>
          <a:p>
            <a:pPr marL="457200" lvl="1" indent="0">
              <a:lnSpc>
                <a:spcPct val="120000"/>
              </a:lnSpc>
              <a:buNone/>
            </a:pPr>
            <a:r>
              <a:rPr lang="zh-CN" altLang="en-US" sz="2800" b="1" dirty="0">
                <a:latin typeface="+mn-ea"/>
              </a:rPr>
              <a:t>例子：</a:t>
            </a:r>
            <a:r>
              <a:rPr lang="en-US" altLang="zh-CN" sz="2800" b="1" dirty="0">
                <a:latin typeface="+mn-ea"/>
              </a:rPr>
              <a:t>l = 2*3.14*r</a:t>
            </a:r>
            <a:endParaRPr lang="en-US" altLang="zh-CN" sz="2800" b="1" dirty="0">
              <a:latin typeface="+mn-ea"/>
            </a:endParaRPr>
          </a:p>
          <a:p>
            <a:pPr marL="914400" lvl="2" indent="0">
              <a:lnSpc>
                <a:spcPct val="120000"/>
              </a:lnSpc>
              <a:buNone/>
            </a:pPr>
            <a:r>
              <a:rPr lang="en-US" altLang="zh-CN" sz="2800" b="1" dirty="0">
                <a:solidFill>
                  <a:srgbClr val="FF0000"/>
                </a:solidFill>
                <a:latin typeface="+mn-ea"/>
              </a:rPr>
              <a:t>t1=	2*3.14	</a:t>
            </a:r>
            <a:endParaRPr lang="en-US" altLang="zh-CN" sz="2800" b="1" dirty="0">
              <a:solidFill>
                <a:srgbClr val="FF0000"/>
              </a:solidFill>
              <a:latin typeface="+mn-ea"/>
            </a:endParaRPr>
          </a:p>
          <a:p>
            <a:pPr marL="914400" lvl="2" indent="0">
              <a:lnSpc>
                <a:spcPct val="120000"/>
              </a:lnSpc>
              <a:buNone/>
            </a:pPr>
            <a:r>
              <a:rPr lang="en-US" altLang="zh-CN" sz="2800" b="1" dirty="0">
                <a:solidFill>
                  <a:srgbClr val="FF0000"/>
                </a:solidFill>
                <a:latin typeface="+mn-ea"/>
              </a:rPr>
              <a:t>t2=	t1*r	</a:t>
            </a:r>
            <a:endParaRPr lang="en-US" altLang="zh-CN" sz="2800" b="1" dirty="0">
              <a:solidFill>
                <a:srgbClr val="FF0000"/>
              </a:solidFill>
              <a:latin typeface="+mn-ea"/>
            </a:endParaRPr>
          </a:p>
          <a:p>
            <a:pPr marL="914400" lvl="2" indent="0">
              <a:lnSpc>
                <a:spcPct val="120000"/>
              </a:lnSpc>
              <a:buNone/>
            </a:pPr>
            <a:r>
              <a:rPr lang="en-US" altLang="zh-CN" sz="2800" b="1" dirty="0">
                <a:solidFill>
                  <a:srgbClr val="FF0000"/>
                </a:solidFill>
                <a:latin typeface="+mn-ea"/>
              </a:rPr>
              <a:t>l=t2	</a:t>
            </a:r>
            <a:r>
              <a:rPr lang="en-US" altLang="zh-CN" sz="2800" b="1" dirty="0">
                <a:latin typeface="+mn-ea"/>
              </a:rPr>
              <a:t>			</a:t>
            </a:r>
            <a:endParaRPr lang="en-US" altLang="zh-CN" sz="2800" b="1" dirty="0">
              <a:latin typeface="+mn-ea"/>
            </a:endParaRPr>
          </a:p>
          <a:p>
            <a:pPr marL="457200" lvl="1" indent="0">
              <a:lnSpc>
                <a:spcPct val="120000"/>
              </a:lnSpc>
              <a:buNone/>
            </a:pPr>
            <a:r>
              <a:rPr lang="en-US" altLang="zh-CN" sz="2800" b="1" dirty="0">
                <a:latin typeface="+mn-ea"/>
              </a:rPr>
              <a:t>2*3.14</a:t>
            </a:r>
            <a:r>
              <a:rPr lang="zh-CN" altLang="en-US" sz="2800" b="1" dirty="0">
                <a:latin typeface="+mn-ea"/>
              </a:rPr>
              <a:t>的值在编译时刻就可以确定。</a:t>
            </a:r>
            <a:endParaRPr lang="zh-CN" altLang="en-US" sz="2800" b="1" dirty="0">
              <a:latin typeface="+mn-ea"/>
            </a:endParaRPr>
          </a:p>
          <a:p>
            <a:pPr marL="914400" lvl="2" indent="0">
              <a:lnSpc>
                <a:spcPct val="120000"/>
              </a:lnSpc>
              <a:buNone/>
            </a:pPr>
            <a:r>
              <a:rPr lang="en-US" altLang="zh-CN" sz="2800" b="1" dirty="0">
                <a:solidFill>
                  <a:srgbClr val="FF0000"/>
                </a:solidFill>
                <a:latin typeface="+mn-ea"/>
              </a:rPr>
              <a:t>t2=6.28</a:t>
            </a:r>
            <a:r>
              <a:rPr lang="zh-CN" altLang="en-US" sz="2800" b="1" dirty="0">
                <a:solidFill>
                  <a:srgbClr val="FF0000"/>
                </a:solidFill>
                <a:latin typeface="+mn-ea"/>
              </a:rPr>
              <a:t>*</a:t>
            </a:r>
            <a:r>
              <a:rPr lang="en-US" altLang="zh-CN" sz="2800" b="1" dirty="0">
                <a:solidFill>
                  <a:srgbClr val="FF0000"/>
                </a:solidFill>
                <a:latin typeface="+mn-ea"/>
              </a:rPr>
              <a:t>r	</a:t>
            </a:r>
            <a:endParaRPr lang="en-US" altLang="zh-CN" sz="2800" b="1" dirty="0">
              <a:solidFill>
                <a:srgbClr val="FF0000"/>
              </a:solidFill>
              <a:latin typeface="+mn-ea"/>
            </a:endParaRPr>
          </a:p>
          <a:p>
            <a:pPr marL="914400" lvl="2" indent="0">
              <a:lnSpc>
                <a:spcPct val="120000"/>
              </a:lnSpc>
              <a:buNone/>
            </a:pPr>
            <a:r>
              <a:rPr lang="en-US" altLang="zh-CN" sz="2800" b="1" dirty="0">
                <a:solidFill>
                  <a:srgbClr val="FF0000"/>
                </a:solidFill>
                <a:latin typeface="+mn-ea"/>
              </a:rPr>
              <a:t>l=t2	</a:t>
            </a:r>
            <a:r>
              <a:rPr lang="en-US" altLang="zh-CN" sz="2800" b="1" dirty="0">
                <a:latin typeface="+mn-ea"/>
              </a:rPr>
              <a:t>	</a:t>
            </a:r>
            <a:endParaRPr lang="en-US" altLang="zh-CN" sz="2800" b="1" dirty="0">
              <a:latin typeface="+mn-ea"/>
            </a:endParaRPr>
          </a:p>
        </p:txBody>
      </p:sp>
      <p:sp>
        <p:nvSpPr>
          <p:cNvPr id="5" name="Rectangle 3"/>
          <p:cNvSpPr txBox="1"/>
          <p:nvPr>
            <p:custDataLst>
              <p:tags r:id="rId1"/>
            </p:custDataLst>
          </p:nvPr>
        </p:nvSpPr>
        <p:spPr>
          <a:xfrm>
            <a:off x="6193790" y="1229360"/>
            <a:ext cx="5639435" cy="488442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b="1" dirty="0">
                <a:solidFill>
                  <a:srgbClr val="0070C0"/>
                </a:solidFill>
                <a:latin typeface="+mn-ea"/>
              </a:rPr>
              <a:t>消除公共子表达式</a:t>
            </a:r>
            <a:endParaRPr lang="en-US" altLang="zh-CN" b="1" dirty="0">
              <a:solidFill>
                <a:srgbClr val="0070C0"/>
              </a:solidFill>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rPr>
              <a:t>例如：</a:t>
            </a:r>
            <a:r>
              <a:rPr lang="en-US" altLang="zh-CN" b="1" dirty="0">
                <a:latin typeface="+mn-ea"/>
              </a:rPr>
              <a:t>1) a=</a:t>
            </a:r>
            <a:r>
              <a:rPr lang="en-US" altLang="zh-CN" b="1" dirty="0" err="1">
                <a:latin typeface="+mn-ea"/>
              </a:rPr>
              <a:t>b+c</a:t>
            </a:r>
            <a:r>
              <a:rPr lang="en-US" altLang="zh-CN" b="1" dirty="0">
                <a:latin typeface="+mn-ea"/>
              </a:rPr>
              <a:t> , 2) </a:t>
            </a:r>
            <a:r>
              <a:rPr lang="en-US" altLang="zh-CN" b="1" i="1" dirty="0">
                <a:latin typeface="+mn-ea"/>
              </a:rPr>
              <a:t>b=a-d,  3)  </a:t>
            </a:r>
            <a:r>
              <a:rPr lang="en-US" altLang="zh-CN" b="1" dirty="0">
                <a:solidFill>
                  <a:srgbClr val="0070C0"/>
                </a:solidFill>
                <a:latin typeface="+mn-ea"/>
              </a:rPr>
              <a:t>c=</a:t>
            </a:r>
            <a:r>
              <a:rPr lang="en-US" altLang="zh-CN" b="1" dirty="0" err="1">
                <a:latin typeface="+mn-ea"/>
              </a:rPr>
              <a:t>b+c</a:t>
            </a:r>
            <a:r>
              <a:rPr lang="zh-CN" altLang="en-US" b="1" dirty="0">
                <a:latin typeface="+mn-ea"/>
              </a:rPr>
              <a:t>，</a:t>
            </a:r>
            <a:r>
              <a:rPr lang="en-US" altLang="zh-CN" b="1" dirty="0">
                <a:latin typeface="+mn-ea"/>
              </a:rPr>
              <a:t>4) </a:t>
            </a:r>
            <a:r>
              <a:rPr lang="en-US" altLang="zh-CN" b="1" i="1" dirty="0">
                <a:latin typeface="+mn-ea"/>
              </a:rPr>
              <a:t>d=a-d</a:t>
            </a:r>
            <a:endParaRPr lang="en-US" altLang="zh-CN" b="1" i="1" dirty="0">
              <a:latin typeface="+mn-ea"/>
            </a:endParaRPr>
          </a:p>
          <a:p>
            <a:pPr marL="914400" lvl="2" indent="0">
              <a:lnSpc>
                <a:spcPct val="125000"/>
              </a:lnSpc>
              <a:spcBef>
                <a:spcPct val="0"/>
              </a:spcBef>
              <a:spcAft>
                <a:spcPts val="0"/>
              </a:spcAft>
              <a:buNone/>
            </a:pPr>
            <a:r>
              <a:rPr lang="zh-CN" altLang="en-US" sz="2400" b="1" dirty="0">
                <a:latin typeface="+mn-ea"/>
              </a:rPr>
              <a:t>第</a:t>
            </a:r>
            <a:r>
              <a:rPr lang="en-US" altLang="zh-CN" sz="2400" b="1" dirty="0">
                <a:latin typeface="+mn-ea"/>
              </a:rPr>
              <a:t>2)</a:t>
            </a:r>
            <a:r>
              <a:rPr lang="zh-CN" altLang="en-US" sz="2400" b="1" dirty="0">
                <a:latin typeface="+mn-ea"/>
              </a:rPr>
              <a:t>和</a:t>
            </a:r>
            <a:r>
              <a:rPr lang="en-US" altLang="zh-CN" sz="2400" b="1" dirty="0">
                <a:latin typeface="+mn-ea"/>
              </a:rPr>
              <a:t>4)</a:t>
            </a:r>
            <a:r>
              <a:rPr lang="zh-CN" altLang="en-US" sz="2400" b="1" dirty="0">
                <a:latin typeface="+mn-ea"/>
              </a:rPr>
              <a:t>个三地址码计算的是同一个值，所以</a:t>
            </a:r>
            <a:r>
              <a:rPr lang="zh-CN" altLang="en-US" sz="2400" b="1" dirty="0">
                <a:solidFill>
                  <a:srgbClr val="FF0000"/>
                </a:solidFill>
                <a:latin typeface="+mn-ea"/>
              </a:rPr>
              <a:t>第四个三地址码可以修改成</a:t>
            </a:r>
            <a:r>
              <a:rPr lang="en-US" altLang="zh-CN" sz="2400" b="1" dirty="0">
                <a:solidFill>
                  <a:srgbClr val="FF0000"/>
                </a:solidFill>
                <a:latin typeface="+mn-ea"/>
              </a:rPr>
              <a:t>d=b</a:t>
            </a:r>
            <a:r>
              <a:rPr lang="zh-CN" altLang="en-US" sz="2400" b="1" dirty="0">
                <a:solidFill>
                  <a:srgbClr val="FF0000"/>
                </a:solidFill>
                <a:latin typeface="+mn-ea"/>
              </a:rPr>
              <a:t>，避免重复</a:t>
            </a:r>
            <a:r>
              <a:rPr lang="zh-CN" altLang="en-US" sz="2400" b="1" dirty="0">
                <a:solidFill>
                  <a:srgbClr val="FF0000"/>
                </a:solidFill>
                <a:latin typeface="+mn-ea"/>
              </a:rPr>
              <a:t>运算。</a:t>
            </a:r>
            <a:endParaRPr lang="zh-CN" altLang="en-US" sz="2400" b="1" dirty="0">
              <a:solidFill>
                <a:srgbClr val="FF0000"/>
              </a:solidFill>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sym typeface="+mn-ea"/>
              </a:rPr>
              <a:t>公共表达式：如果某个表达式</a:t>
            </a:r>
            <a:r>
              <a:rPr lang="en-US" altLang="zh-CN" b="1" dirty="0">
                <a:latin typeface="+mn-ea"/>
                <a:sym typeface="+mn-ea"/>
              </a:rPr>
              <a:t>E</a:t>
            </a:r>
            <a:r>
              <a:rPr lang="zh-CN" altLang="en-US" b="1" dirty="0">
                <a:latin typeface="+mn-ea"/>
                <a:sym typeface="+mn-ea"/>
              </a:rPr>
              <a:t>先前已经计算，且从上次计算到现在，</a:t>
            </a:r>
            <a:r>
              <a:rPr lang="en-US" altLang="zh-CN" b="1" dirty="0">
                <a:latin typeface="+mn-ea"/>
                <a:sym typeface="+mn-ea"/>
              </a:rPr>
              <a:t>E</a:t>
            </a:r>
            <a:r>
              <a:rPr lang="zh-CN" altLang="en-US" b="1" dirty="0">
                <a:latin typeface="+mn-ea"/>
                <a:sym typeface="+mn-ea"/>
              </a:rPr>
              <a:t>中的变量的值没有改变。那么</a:t>
            </a:r>
            <a:r>
              <a:rPr lang="en-US" altLang="zh-CN" b="1" dirty="0">
                <a:latin typeface="+mn-ea"/>
                <a:sym typeface="+mn-ea"/>
              </a:rPr>
              <a:t>E</a:t>
            </a:r>
            <a:r>
              <a:rPr lang="zh-CN" altLang="en-US" b="1" dirty="0">
                <a:latin typeface="+mn-ea"/>
                <a:sym typeface="+mn-ea"/>
              </a:rPr>
              <a:t>的这次出现称为公共子表达式。</a:t>
            </a:r>
            <a:endParaRPr lang="zh-CN" altLang="en-US" sz="2400" b="1" dirty="0">
              <a:latin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9580" y="276860"/>
            <a:ext cx="6327775" cy="593090"/>
          </a:xfrm>
        </p:spPr>
        <p:txBody>
          <a:bodyPr/>
          <a:lstStyle/>
          <a:p>
            <a:r>
              <a:rPr lang="en-US" altLang="zh-CN" dirty="0"/>
              <a:t>8.1.3 </a:t>
            </a:r>
            <a:r>
              <a:rPr lang="zh-CN" altLang="en-US" dirty="0"/>
              <a:t>基本块的优化</a:t>
            </a:r>
            <a:endParaRPr lang="zh-CN" altLang="en-US" dirty="0"/>
          </a:p>
        </p:txBody>
      </p:sp>
      <p:sp>
        <p:nvSpPr>
          <p:cNvPr id="4" name="Rectangle 3"/>
          <p:cNvSpPr txBox="1"/>
          <p:nvPr/>
        </p:nvSpPr>
        <p:spPr>
          <a:xfrm>
            <a:off x="378460" y="1268730"/>
            <a:ext cx="6470015" cy="463931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b="1" dirty="0">
                <a:latin typeface="+mn-ea"/>
              </a:rPr>
              <a:t>削减计算强度：</a:t>
            </a:r>
            <a:r>
              <a:rPr lang="zh-CN" altLang="en-US" b="1" dirty="0">
                <a:latin typeface="+mn-ea"/>
              </a:rPr>
              <a:t>实现同样的运算可以有多种方式，用计算较快的运算代替较慢的运算</a:t>
            </a:r>
            <a:endParaRPr lang="en-US" altLang="zh-CN" b="1" dirty="0">
              <a:latin typeface="+mn-ea"/>
            </a:endParaRPr>
          </a:p>
          <a:p>
            <a:pPr marL="914400" lvl="2" indent="0">
              <a:lnSpc>
                <a:spcPct val="125000"/>
              </a:lnSpc>
              <a:spcBef>
                <a:spcPct val="0"/>
              </a:spcBef>
              <a:spcAft>
                <a:spcPts val="0"/>
              </a:spcAft>
              <a:buNone/>
            </a:pPr>
            <a:r>
              <a:rPr lang="en-US" altLang="zh-CN" sz="2400" b="1" dirty="0">
                <a:latin typeface="+mn-ea"/>
              </a:rPr>
              <a:t>x</a:t>
            </a:r>
            <a:r>
              <a:rPr lang="en-US" altLang="zh-CN" sz="2400" b="1" baseline="30000" dirty="0">
                <a:latin typeface="+mn-ea"/>
              </a:rPr>
              <a:t>2		        </a:t>
            </a:r>
            <a:r>
              <a:rPr lang="zh-CN" altLang="en-US" sz="2400" b="1" dirty="0">
                <a:latin typeface="+mn-ea"/>
              </a:rPr>
              <a:t>变成		</a:t>
            </a:r>
            <a:r>
              <a:rPr lang="en-US" altLang="zh-CN" sz="2400" b="1" dirty="0">
                <a:latin typeface="+mn-ea"/>
              </a:rPr>
              <a:t>x*x</a:t>
            </a:r>
            <a:r>
              <a:rPr lang="zh-CN" altLang="en-US" sz="2400" b="1" dirty="0">
                <a:latin typeface="+mn-ea"/>
              </a:rPr>
              <a:t>。</a:t>
            </a:r>
            <a:endParaRPr lang="zh-CN" altLang="en-US" sz="2400" b="1" dirty="0">
              <a:latin typeface="+mn-ea"/>
            </a:endParaRPr>
          </a:p>
          <a:p>
            <a:pPr marL="914400" lvl="2" indent="0">
              <a:lnSpc>
                <a:spcPct val="125000"/>
              </a:lnSpc>
              <a:spcBef>
                <a:spcPct val="0"/>
              </a:spcBef>
              <a:spcAft>
                <a:spcPts val="0"/>
              </a:spcAft>
              <a:buNone/>
            </a:pPr>
            <a:r>
              <a:rPr lang="en-US" altLang="zh-CN" sz="2400" b="1" dirty="0">
                <a:latin typeface="+mn-ea"/>
              </a:rPr>
              <a:t>2*x</a:t>
            </a:r>
            <a:r>
              <a:rPr lang="zh-CN" altLang="en-US" sz="2400" b="1" dirty="0">
                <a:latin typeface="+mn-ea"/>
              </a:rPr>
              <a:t>或</a:t>
            </a:r>
            <a:r>
              <a:rPr lang="en-US" altLang="zh-CN" sz="2400" b="1" dirty="0">
                <a:latin typeface="+mn-ea"/>
              </a:rPr>
              <a:t>2.0*x          </a:t>
            </a:r>
            <a:r>
              <a:rPr lang="zh-CN" altLang="en-US" sz="2400" b="1" dirty="0">
                <a:latin typeface="+mn-ea"/>
              </a:rPr>
              <a:t>变成		</a:t>
            </a:r>
            <a:r>
              <a:rPr lang="en-US" altLang="zh-CN" sz="2400" b="1" dirty="0" err="1">
                <a:latin typeface="+mn-ea"/>
              </a:rPr>
              <a:t>x+x</a:t>
            </a:r>
            <a:endParaRPr lang="en-US" altLang="zh-CN" sz="2400" b="1" dirty="0">
              <a:latin typeface="+mn-ea"/>
            </a:endParaRPr>
          </a:p>
          <a:p>
            <a:pPr marL="914400" lvl="2" indent="0">
              <a:lnSpc>
                <a:spcPct val="125000"/>
              </a:lnSpc>
              <a:spcBef>
                <a:spcPct val="0"/>
              </a:spcBef>
              <a:spcAft>
                <a:spcPts val="0"/>
              </a:spcAft>
              <a:buNone/>
            </a:pPr>
            <a:r>
              <a:rPr lang="en-US" altLang="zh-CN" sz="2400" b="1" dirty="0">
                <a:latin typeface="+mn-ea"/>
              </a:rPr>
              <a:t>x/2		      </a:t>
            </a:r>
            <a:r>
              <a:rPr lang="zh-CN" altLang="en-US" sz="2400" b="1" dirty="0">
                <a:latin typeface="+mn-ea"/>
              </a:rPr>
              <a:t>变成	</a:t>
            </a:r>
            <a:r>
              <a:rPr lang="en-US" altLang="zh-CN" sz="2400" b="1" dirty="0">
                <a:latin typeface="+mn-ea"/>
              </a:rPr>
              <a:t>          x*0.5</a:t>
            </a:r>
            <a:endParaRPr lang="en-US" altLang="zh-CN" sz="2400" b="1" dirty="0">
              <a:latin typeface="+mn-ea"/>
            </a:endParaRPr>
          </a:p>
          <a:p>
            <a:pPr marL="914400" lvl="2" indent="0">
              <a:lnSpc>
                <a:spcPct val="125000"/>
              </a:lnSpc>
              <a:spcBef>
                <a:spcPct val="0"/>
              </a:spcBef>
              <a:spcAft>
                <a:spcPts val="0"/>
              </a:spcAft>
              <a:buNone/>
            </a:pPr>
            <a:r>
              <a:rPr lang="en-US" altLang="zh-CN" sz="2400" b="1" dirty="0">
                <a:latin typeface="+mn-ea"/>
              </a:rPr>
              <a:t>a</a:t>
            </a:r>
            <a:r>
              <a:rPr lang="en-US" altLang="zh-CN" sz="2400" b="1" baseline="-25000" dirty="0">
                <a:latin typeface="+mn-ea"/>
              </a:rPr>
              <a:t>n</a:t>
            </a:r>
            <a:r>
              <a:rPr lang="en-US" altLang="zh-CN" sz="2400" b="1" dirty="0">
                <a:latin typeface="+mn-ea"/>
              </a:rPr>
              <a:t>x</a:t>
            </a:r>
            <a:r>
              <a:rPr lang="en-US" altLang="zh-CN" sz="2400" b="1" baseline="30000" dirty="0">
                <a:latin typeface="+mn-ea"/>
              </a:rPr>
              <a:t>n</a:t>
            </a:r>
            <a:r>
              <a:rPr lang="en-US" altLang="zh-CN" sz="2400" b="1" dirty="0">
                <a:latin typeface="+mn-ea"/>
              </a:rPr>
              <a:t>+a</a:t>
            </a:r>
            <a:r>
              <a:rPr lang="en-US" altLang="zh-CN" sz="2400" b="1" baseline="-25000" dirty="0">
                <a:latin typeface="+mn-ea"/>
              </a:rPr>
              <a:t>n-1</a:t>
            </a:r>
            <a:r>
              <a:rPr lang="en-US" altLang="zh-CN" sz="2400" b="1" dirty="0">
                <a:latin typeface="+mn-ea"/>
              </a:rPr>
              <a:t>x</a:t>
            </a:r>
            <a:r>
              <a:rPr lang="en-US" altLang="zh-CN" sz="2400" b="1" baseline="30000" dirty="0">
                <a:latin typeface="+mn-ea"/>
              </a:rPr>
              <a:t>n-1</a:t>
            </a:r>
            <a:r>
              <a:rPr lang="en-US" altLang="zh-CN" sz="2400" b="1" dirty="0">
                <a:latin typeface="+mn-ea"/>
              </a:rPr>
              <a:t>+…+a</a:t>
            </a:r>
            <a:r>
              <a:rPr lang="en-US" altLang="zh-CN" sz="2400" b="1" baseline="-25000" dirty="0">
                <a:latin typeface="+mn-ea"/>
              </a:rPr>
              <a:t>1</a:t>
            </a:r>
            <a:r>
              <a:rPr lang="en-US" altLang="zh-CN" sz="2400" b="1" dirty="0">
                <a:latin typeface="+mn-ea"/>
              </a:rPr>
              <a:t>x+a</a:t>
            </a:r>
            <a:r>
              <a:rPr lang="en-US" altLang="zh-CN" sz="2400" b="1" baseline="-25000" dirty="0">
                <a:latin typeface="+mn-ea"/>
              </a:rPr>
              <a:t>0    </a:t>
            </a:r>
            <a:r>
              <a:rPr lang="zh-CN" altLang="en-US" sz="2400" b="1" dirty="0">
                <a:latin typeface="+mn-ea"/>
              </a:rPr>
              <a:t>变成</a:t>
            </a:r>
            <a:r>
              <a:rPr lang="en-US" altLang="zh-CN" sz="2400" b="1" dirty="0">
                <a:latin typeface="+mn-ea"/>
              </a:rPr>
              <a:t>     ((…(a</a:t>
            </a:r>
            <a:r>
              <a:rPr lang="en-US" altLang="zh-CN" sz="2400" b="1" baseline="-25000" dirty="0">
                <a:latin typeface="+mn-ea"/>
              </a:rPr>
              <a:t>n</a:t>
            </a:r>
            <a:r>
              <a:rPr lang="en-US" altLang="zh-CN" sz="2400" b="1" dirty="0">
                <a:latin typeface="+mn-ea"/>
              </a:rPr>
              <a:t>x+a</a:t>
            </a:r>
            <a:r>
              <a:rPr lang="en-US" altLang="zh-CN" sz="2400" b="1" baseline="-25000" dirty="0">
                <a:latin typeface="+mn-ea"/>
              </a:rPr>
              <a:t>n-1</a:t>
            </a:r>
            <a:r>
              <a:rPr lang="en-US" altLang="zh-CN" sz="2400" b="1" dirty="0">
                <a:latin typeface="+mn-ea"/>
              </a:rPr>
              <a:t>)x+ a</a:t>
            </a:r>
            <a:r>
              <a:rPr lang="en-US" altLang="zh-CN" sz="2400" b="1" baseline="-25000" dirty="0">
                <a:latin typeface="+mn-ea"/>
              </a:rPr>
              <a:t>n-2</a:t>
            </a:r>
            <a:r>
              <a:rPr lang="en-US" altLang="zh-CN" sz="2400" b="1" dirty="0">
                <a:latin typeface="+mn-ea"/>
              </a:rPr>
              <a:t>)…)x+a</a:t>
            </a:r>
            <a:r>
              <a:rPr lang="en-US" altLang="zh-CN" sz="2400" b="1" baseline="-25000" dirty="0">
                <a:latin typeface="+mn-ea"/>
              </a:rPr>
              <a:t>1</a:t>
            </a:r>
            <a:r>
              <a:rPr lang="en-US" altLang="zh-CN" sz="2400" b="1" dirty="0">
                <a:latin typeface="+mn-ea"/>
              </a:rPr>
              <a:t>)x+a</a:t>
            </a:r>
            <a:r>
              <a:rPr lang="en-US" altLang="zh-CN" sz="2400" b="1" baseline="-25000" dirty="0">
                <a:latin typeface="+mn-ea"/>
              </a:rPr>
              <a:t>0</a:t>
            </a:r>
            <a:endParaRPr lang="en-US" altLang="zh-CN" sz="2400" b="1" dirty="0">
              <a:latin typeface="+mn-ea"/>
            </a:endParaRPr>
          </a:p>
        </p:txBody>
      </p:sp>
      <p:sp>
        <p:nvSpPr>
          <p:cNvPr id="5" name="Rectangle 3"/>
          <p:cNvSpPr txBox="1"/>
          <p:nvPr>
            <p:custDataLst>
              <p:tags r:id="rId1"/>
            </p:custDataLst>
          </p:nvPr>
        </p:nvSpPr>
        <p:spPr>
          <a:xfrm>
            <a:off x="6894830" y="1129665"/>
            <a:ext cx="4958715" cy="421957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b="1" dirty="0">
                <a:latin typeface="+mn-ea"/>
              </a:rPr>
              <a:t>删除无用代码</a:t>
            </a:r>
            <a:endParaRPr lang="zh-CN" altLang="en-US" b="1" dirty="0">
              <a:latin typeface="+mn-ea"/>
            </a:endParaRPr>
          </a:p>
          <a:p>
            <a:pPr lvl="1">
              <a:lnSpc>
                <a:spcPct val="150000"/>
              </a:lnSpc>
              <a:buFont typeface="Wingdings" panose="05000000000000000000" charset="0"/>
              <a:buChar char="p"/>
            </a:pPr>
            <a:r>
              <a:rPr lang="zh-CN" altLang="en-US" b="1" dirty="0">
                <a:latin typeface="+mn-ea"/>
              </a:rPr>
              <a:t>如果三地址码</a:t>
            </a:r>
            <a:r>
              <a:rPr lang="en-US" altLang="zh-CN" b="1" dirty="0">
                <a:latin typeface="+mn-ea"/>
              </a:rPr>
              <a:t>z=x op y</a:t>
            </a:r>
            <a:r>
              <a:rPr lang="zh-CN" altLang="en-US" b="1" dirty="0">
                <a:latin typeface="+mn-ea"/>
              </a:rPr>
              <a:t>之后，对</a:t>
            </a:r>
            <a:r>
              <a:rPr lang="en-US" altLang="zh-CN" b="1" dirty="0">
                <a:latin typeface="+mn-ea"/>
              </a:rPr>
              <a:t>z</a:t>
            </a:r>
            <a:r>
              <a:rPr lang="zh-CN" altLang="en-US" b="1" dirty="0">
                <a:latin typeface="+mn-ea"/>
              </a:rPr>
              <a:t>赋予的该值没有被使用到，则这个三地址码是无用的。</a:t>
            </a:r>
            <a:endParaRPr lang="zh-CN" altLang="en-US" b="1" dirty="0">
              <a:latin typeface="+mn-ea"/>
            </a:endParaRPr>
          </a:p>
          <a:p>
            <a:pPr lvl="1">
              <a:lnSpc>
                <a:spcPct val="150000"/>
              </a:lnSpc>
              <a:buFont typeface="Wingdings" panose="05000000000000000000" charset="0"/>
              <a:buChar char="p"/>
            </a:pPr>
            <a:r>
              <a:rPr lang="zh-CN" altLang="en-US" b="1" dirty="0">
                <a:solidFill>
                  <a:srgbClr val="030305"/>
                </a:solidFill>
                <a:latin typeface="+mn-ea"/>
              </a:rPr>
              <a:t>例如: </a:t>
            </a:r>
            <a:r>
              <a:rPr lang="en-US" altLang="zh-CN" b="1" dirty="0">
                <a:solidFill>
                  <a:srgbClr val="030305"/>
                </a:solidFill>
                <a:latin typeface="+mn-ea"/>
              </a:rPr>
              <a:t>t0=a;t0+=5; x=t0; …; t0+=1; …t0=b; y=b; </a:t>
            </a:r>
            <a:endParaRPr lang="en-US" altLang="zh-CN" b="1" dirty="0">
              <a:latin typeface="+mn-ea"/>
            </a:endParaRPr>
          </a:p>
          <a:p>
            <a:pPr lvl="2">
              <a:lnSpc>
                <a:spcPct val="150000"/>
              </a:lnSpc>
              <a:buFont typeface="Wingdings" panose="05000000000000000000" charset="0"/>
              <a:buChar char="p"/>
            </a:pPr>
            <a:r>
              <a:rPr lang="zh-CN" altLang="en-US" sz="2400" b="1" dirty="0">
                <a:solidFill>
                  <a:srgbClr val="030305"/>
                </a:solidFill>
                <a:latin typeface="+mn-ea"/>
              </a:rPr>
              <a:t>赋值</a:t>
            </a:r>
            <a:r>
              <a:rPr lang="en-US" altLang="zh-CN" sz="2400" b="1" dirty="0">
                <a:solidFill>
                  <a:srgbClr val="030305"/>
                </a:solidFill>
                <a:latin typeface="+mn-ea"/>
              </a:rPr>
              <a:t>t0+=1</a:t>
            </a:r>
            <a:r>
              <a:rPr lang="zh-CN" altLang="en-US" sz="2400" b="1" dirty="0">
                <a:solidFill>
                  <a:srgbClr val="030305"/>
                </a:solidFill>
                <a:latin typeface="+mn-ea"/>
              </a:rPr>
              <a:t>可被删除。</a:t>
            </a:r>
            <a:endParaRPr lang="en-US" altLang="zh-CN" sz="2400"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arn(in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arn(inHorizont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arn(inHorizontal)">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4020" y="276860"/>
            <a:ext cx="6363335" cy="593090"/>
          </a:xfrm>
        </p:spPr>
        <p:txBody>
          <a:bodyPr/>
          <a:lstStyle/>
          <a:p>
            <a:r>
              <a:rPr lang="en-US" altLang="zh-CN" dirty="0"/>
              <a:t>8.1.4 </a:t>
            </a:r>
            <a:r>
              <a:rPr lang="zh-CN" altLang="en-US" dirty="0"/>
              <a:t>基本块优化的实现</a:t>
            </a:r>
            <a:endParaRPr lang="zh-CN" altLang="en-US" dirty="0"/>
          </a:p>
        </p:txBody>
      </p:sp>
      <p:sp>
        <p:nvSpPr>
          <p:cNvPr id="4" name="Rectangle 3"/>
          <p:cNvSpPr txBox="1"/>
          <p:nvPr/>
        </p:nvSpPr>
        <p:spPr>
          <a:xfrm>
            <a:off x="483235" y="1196975"/>
            <a:ext cx="6109970" cy="488124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0"/>
              </a:spcAft>
              <a:buFont typeface="Wingdings" panose="05000000000000000000" charset="0"/>
              <a:buChar char="p"/>
            </a:pPr>
            <a:r>
              <a:rPr lang="en-US" altLang="zh-CN" sz="2400" b="1" dirty="0">
                <a:latin typeface="+mn-ea"/>
              </a:rPr>
              <a:t>基本块内部优化实现的主要工具为DAG图，</a:t>
            </a:r>
            <a:r>
              <a:rPr lang="en-US" altLang="zh-CN" sz="2400" b="1" dirty="0">
                <a:latin typeface="+mn-ea"/>
                <a:sym typeface="+mn-ea"/>
              </a:rPr>
              <a:t>用DAG图表示各个值的计算/依赖关系。例如，</a:t>
            </a:r>
            <a:r>
              <a:rPr lang="en-US" altLang="zh-CN" sz="2400" b="1" dirty="0">
                <a:latin typeface="+mn-ea"/>
              </a:rPr>
              <a:t>深度学习模型TensorFlow、PyTorch</a:t>
            </a:r>
            <a:r>
              <a:rPr lang="zh-CN" altLang="en-US" sz="2400" b="1" dirty="0">
                <a:latin typeface="+mn-ea"/>
              </a:rPr>
              <a:t>等</a:t>
            </a:r>
            <a:r>
              <a:rPr lang="en-US" altLang="zh-CN" sz="2400" b="1" dirty="0">
                <a:latin typeface="+mn-ea"/>
              </a:rPr>
              <a:t>的计算图本质上就是DAG，节点表示算子，边表示数据依赖。</a:t>
            </a:r>
            <a:endParaRPr lang="en-US" altLang="zh-CN" sz="2400" b="1" dirty="0">
              <a:latin typeface="+mn-ea"/>
            </a:endParaRPr>
          </a:p>
          <a:p>
            <a:pPr>
              <a:lnSpc>
                <a:spcPct val="120000"/>
              </a:lnSpc>
              <a:spcBef>
                <a:spcPts val="0"/>
              </a:spcBef>
              <a:spcAft>
                <a:spcPts val="0"/>
              </a:spcAft>
              <a:buFont typeface="Wingdings" panose="05000000000000000000" charset="0"/>
              <a:buChar char="p"/>
            </a:pPr>
            <a:r>
              <a:rPr lang="zh-CN" altLang="en-US" sz="2400" b="1" dirty="0">
                <a:latin typeface="+mn-ea"/>
              </a:rPr>
              <a:t>基本块</a:t>
            </a:r>
            <a:r>
              <a:rPr lang="en-US" altLang="zh-CN" sz="2400" b="1" dirty="0">
                <a:latin typeface="+mn-ea"/>
              </a:rPr>
              <a:t>DAG</a:t>
            </a:r>
            <a:r>
              <a:rPr lang="zh-CN" altLang="en-US" sz="2400" b="1" dirty="0">
                <a:latin typeface="+mn-ea"/>
              </a:rPr>
              <a:t>图构造算法</a:t>
            </a:r>
            <a:endParaRPr lang="zh-CN" altLang="en-US" sz="2400" b="1" dirty="0">
              <a:latin typeface="+mn-ea"/>
            </a:endParaRPr>
          </a:p>
          <a:p>
            <a:pPr marL="457200" lvl="1" indent="0">
              <a:lnSpc>
                <a:spcPct val="120000"/>
              </a:lnSpc>
              <a:spcBef>
                <a:spcPts val="0"/>
              </a:spcBef>
              <a:spcAft>
                <a:spcPts val="0"/>
              </a:spcAft>
              <a:buNone/>
            </a:pPr>
            <a:r>
              <a:rPr lang="zh-CN" altLang="en-US" sz="2400" b="1" dirty="0">
                <a:latin typeface="+mn-ea"/>
              </a:rPr>
              <a:t>输入：一个基本块</a:t>
            </a:r>
            <a:endParaRPr lang="zh-CN" altLang="en-US" sz="2400" b="1" dirty="0">
              <a:latin typeface="+mn-ea"/>
            </a:endParaRPr>
          </a:p>
          <a:p>
            <a:pPr marL="457200" lvl="1" indent="0">
              <a:lnSpc>
                <a:spcPct val="120000"/>
              </a:lnSpc>
              <a:spcBef>
                <a:spcPts val="0"/>
              </a:spcBef>
              <a:spcAft>
                <a:spcPts val="0"/>
              </a:spcAft>
              <a:buNone/>
            </a:pPr>
            <a:r>
              <a:rPr lang="zh-CN" altLang="en-US" sz="2400" b="1" dirty="0">
                <a:latin typeface="+mn-ea"/>
              </a:rPr>
              <a:t>输出：相应</a:t>
            </a:r>
            <a:r>
              <a:rPr lang="en-US" altLang="zh-CN" sz="2400" b="1" dirty="0">
                <a:latin typeface="+mn-ea"/>
              </a:rPr>
              <a:t>DAG</a:t>
            </a:r>
            <a:r>
              <a:rPr lang="zh-CN" altLang="en-US" sz="2400" b="1" dirty="0">
                <a:latin typeface="+mn-ea"/>
              </a:rPr>
              <a:t>图</a:t>
            </a:r>
            <a:endParaRPr lang="zh-CN" altLang="en-US" sz="2400" b="1" dirty="0">
              <a:latin typeface="+mn-ea"/>
            </a:endParaRPr>
          </a:p>
          <a:p>
            <a:pPr marL="457200" lvl="1" indent="0">
              <a:lnSpc>
                <a:spcPct val="120000"/>
              </a:lnSpc>
              <a:spcBef>
                <a:spcPts val="0"/>
              </a:spcBef>
              <a:spcAft>
                <a:spcPts val="0"/>
              </a:spcAft>
              <a:buNone/>
            </a:pPr>
            <a:r>
              <a:rPr lang="zh-CN" altLang="en-US" sz="2400" b="1" dirty="0">
                <a:latin typeface="+mn-ea"/>
              </a:rPr>
              <a:t>算法说明：通过逐个扫描三地址码逐渐建立</a:t>
            </a:r>
            <a:r>
              <a:rPr lang="en-US" altLang="zh-CN" sz="2400" b="1" dirty="0">
                <a:latin typeface="+mn-ea"/>
              </a:rPr>
              <a:t>DAG</a:t>
            </a:r>
            <a:r>
              <a:rPr lang="zh-CN" altLang="en-US" sz="2400" b="1" dirty="0">
                <a:latin typeface="+mn-ea"/>
              </a:rPr>
              <a:t>图。</a:t>
            </a:r>
            <a:endParaRPr lang="zh-CN" altLang="en-US" sz="2400" b="1" dirty="0">
              <a:latin typeface="+mn-ea"/>
            </a:endParaRPr>
          </a:p>
        </p:txBody>
      </p:sp>
      <p:sp>
        <p:nvSpPr>
          <p:cNvPr id="5" name="Rectangle 3"/>
          <p:cNvSpPr txBox="1"/>
          <p:nvPr>
            <p:custDataLst>
              <p:tags r:id="rId1"/>
            </p:custDataLst>
          </p:nvPr>
        </p:nvSpPr>
        <p:spPr>
          <a:xfrm>
            <a:off x="6828790" y="1226185"/>
            <a:ext cx="4959985" cy="4204970"/>
          </a:xfrm>
          <a:prstGeom prst="rect">
            <a:avLst/>
          </a:prstGeom>
        </p:spPr>
        <p:txBody>
          <a:bodyPr vert="horz" wrap="square" lIns="91440" tIns="45720" rIns="91440" bIns="45720" anchor="t" anchorCtr="0"/>
          <a:p>
            <a:pPr>
              <a:lnSpc>
                <a:spcPct val="120000"/>
              </a:lnSpc>
            </a:pPr>
            <a:r>
              <a:rPr lang="zh-CN" altLang="en-US" sz="2400" b="1" dirty="0">
                <a:solidFill>
                  <a:srgbClr val="FF0000"/>
                </a:solidFill>
                <a:latin typeface="+mn-ea"/>
              </a:rPr>
              <a:t>三地址码分类构建</a:t>
            </a:r>
            <a:r>
              <a:rPr lang="en-US" altLang="zh-CN" sz="2400" b="1" dirty="0">
                <a:solidFill>
                  <a:srgbClr val="FF0000"/>
                </a:solidFill>
                <a:latin typeface="+mn-ea"/>
              </a:rPr>
              <a:t>DAG</a:t>
            </a:r>
            <a:r>
              <a:rPr lang="zh-CN" altLang="en-US" sz="2400" b="1" dirty="0">
                <a:solidFill>
                  <a:srgbClr val="FF0000"/>
                </a:solidFill>
                <a:latin typeface="+mn-ea"/>
              </a:rPr>
              <a:t>表示</a:t>
            </a:r>
            <a:endParaRPr lang="en-US" altLang="zh-CN" sz="2400" b="1" dirty="0">
              <a:solidFill>
                <a:srgbClr val="FF0000"/>
              </a:solidFill>
              <a:latin typeface="+mn-ea"/>
            </a:endParaRPr>
          </a:p>
          <a:p>
            <a:pPr>
              <a:lnSpc>
                <a:spcPct val="120000"/>
              </a:lnSpc>
            </a:pPr>
            <a:r>
              <a:rPr lang="en-US" altLang="zh-CN" sz="2400" b="1" dirty="0">
                <a:latin typeface="+mn-ea"/>
              </a:rPr>
              <a:t>0</a:t>
            </a:r>
            <a:r>
              <a:rPr lang="zh-CN" altLang="en-US" sz="2400" b="1" dirty="0">
                <a:latin typeface="+mn-ea"/>
              </a:rPr>
              <a:t>型：	</a:t>
            </a:r>
            <a:r>
              <a:rPr lang="en-US" altLang="zh-CN" sz="2400" b="1" dirty="0">
                <a:latin typeface="+mn-ea"/>
              </a:rPr>
              <a:t>A= B</a:t>
            </a:r>
            <a:endParaRPr lang="en-US" altLang="zh-CN" sz="2400" b="1" dirty="0">
              <a:latin typeface="+mn-ea"/>
            </a:endParaRPr>
          </a:p>
          <a:p>
            <a:pPr>
              <a:lnSpc>
                <a:spcPct val="120000"/>
              </a:lnSpc>
            </a:pPr>
            <a:r>
              <a:rPr lang="en-US" altLang="zh-CN" sz="2400" b="1" dirty="0">
                <a:latin typeface="+mn-ea"/>
              </a:rPr>
              <a:t>1</a:t>
            </a:r>
            <a:r>
              <a:rPr lang="zh-CN" altLang="en-US" sz="2400" b="1" dirty="0">
                <a:latin typeface="+mn-ea"/>
              </a:rPr>
              <a:t>型：	</a:t>
            </a:r>
            <a:r>
              <a:rPr lang="en-US" altLang="zh-CN" sz="2400" b="1" dirty="0">
                <a:latin typeface="+mn-ea"/>
              </a:rPr>
              <a:t>A</a:t>
            </a:r>
            <a:r>
              <a:rPr lang="zh-CN" altLang="en-US" sz="2400" b="1" dirty="0">
                <a:latin typeface="+mn-ea"/>
              </a:rPr>
              <a:t> </a:t>
            </a:r>
            <a:r>
              <a:rPr lang="en-US" altLang="zh-CN" sz="2400" b="1" dirty="0">
                <a:latin typeface="+mn-ea"/>
              </a:rPr>
              <a:t>=op B (</a:t>
            </a:r>
            <a:r>
              <a:rPr lang="zh-CN" altLang="en-US" sz="2400" b="1" dirty="0">
                <a:latin typeface="+mn-ea"/>
              </a:rPr>
              <a:t>单目运算）</a:t>
            </a:r>
            <a:endParaRPr lang="zh-CN" altLang="en-US" sz="2400" b="1" dirty="0">
              <a:latin typeface="+mn-ea"/>
            </a:endParaRPr>
          </a:p>
          <a:p>
            <a:pPr>
              <a:lnSpc>
                <a:spcPct val="120000"/>
              </a:lnSpc>
            </a:pPr>
            <a:r>
              <a:rPr lang="en-US" altLang="zh-CN" sz="2400" b="1" dirty="0">
                <a:latin typeface="+mn-ea"/>
              </a:rPr>
              <a:t>2</a:t>
            </a:r>
            <a:r>
              <a:rPr lang="zh-CN" altLang="en-US" sz="2400" b="1" dirty="0">
                <a:latin typeface="+mn-ea"/>
              </a:rPr>
              <a:t>型：	</a:t>
            </a:r>
            <a:r>
              <a:rPr lang="en-US" altLang="zh-CN" sz="2400" b="1" dirty="0">
                <a:latin typeface="+mn-ea"/>
              </a:rPr>
              <a:t>C=</a:t>
            </a:r>
            <a:r>
              <a:rPr lang="zh-CN" altLang="en-US" sz="2400" b="1" dirty="0">
                <a:latin typeface="+mn-ea"/>
              </a:rPr>
              <a:t> </a:t>
            </a:r>
            <a:r>
              <a:rPr lang="en-US" altLang="zh-CN" sz="2400" b="1" dirty="0">
                <a:latin typeface="+mn-ea"/>
              </a:rPr>
              <a:t>A</a:t>
            </a:r>
            <a:r>
              <a:rPr lang="zh-CN" altLang="en-US" sz="2400" b="1" dirty="0">
                <a:latin typeface="+mn-ea"/>
              </a:rPr>
              <a:t> </a:t>
            </a:r>
            <a:r>
              <a:rPr lang="en-US" altLang="zh-CN" sz="2400" b="1" dirty="0">
                <a:latin typeface="+mn-ea"/>
              </a:rPr>
              <a:t>op B	</a:t>
            </a:r>
            <a:endParaRPr lang="en-US" altLang="zh-CN" sz="2400" b="1" dirty="0">
              <a:latin typeface="+mn-ea"/>
            </a:endParaRPr>
          </a:p>
          <a:p>
            <a:pPr lvl="1">
              <a:lnSpc>
                <a:spcPct val="120000"/>
              </a:lnSpc>
            </a:pPr>
            <a:r>
              <a:rPr lang="zh-CN" altLang="en-US" sz="2000" b="1" dirty="0">
                <a:latin typeface="+mn-ea"/>
              </a:rPr>
              <a:t>将数组</a:t>
            </a:r>
            <a:r>
              <a:rPr lang="en-US" altLang="zh-CN" sz="2000" b="1" dirty="0">
                <a:latin typeface="+mn-ea"/>
              </a:rPr>
              <a:t>A</a:t>
            </a:r>
            <a:r>
              <a:rPr lang="zh-CN" altLang="en-US" sz="2000" b="1" dirty="0">
                <a:latin typeface="+mn-ea"/>
              </a:rPr>
              <a:t>的第</a:t>
            </a:r>
            <a:r>
              <a:rPr lang="en-US" altLang="zh-CN" sz="2000" b="1" dirty="0" err="1">
                <a:latin typeface="+mn-ea"/>
              </a:rPr>
              <a:t>i</a:t>
            </a:r>
            <a:r>
              <a:rPr lang="zh-CN" altLang="en-US" sz="2000" b="1" dirty="0">
                <a:latin typeface="+mn-ea"/>
              </a:rPr>
              <a:t>个元素的地址存放</a:t>
            </a:r>
            <a:r>
              <a:rPr lang="en-US" altLang="zh-CN" sz="2000" b="1" dirty="0">
                <a:latin typeface="+mn-ea"/>
              </a:rPr>
              <a:t>t:</a:t>
            </a:r>
            <a:endParaRPr lang="en-US" altLang="zh-CN" sz="2000" b="1" dirty="0">
              <a:latin typeface="+mn-ea"/>
            </a:endParaRPr>
          </a:p>
          <a:p>
            <a:pPr lvl="2">
              <a:lnSpc>
                <a:spcPct val="120000"/>
              </a:lnSpc>
            </a:pPr>
            <a:r>
              <a:rPr lang="en-US" altLang="zh-CN" b="1" dirty="0">
                <a:latin typeface="+mn-ea"/>
              </a:rPr>
              <a:t>A[</a:t>
            </a:r>
            <a:r>
              <a:rPr lang="en-US" altLang="zh-CN" b="1" dirty="0" err="1">
                <a:latin typeface="+mn-ea"/>
              </a:rPr>
              <a:t>i</a:t>
            </a:r>
            <a:r>
              <a:rPr lang="en-US" altLang="zh-CN" b="1" dirty="0">
                <a:latin typeface="+mn-ea"/>
              </a:rPr>
              <a:t>]=t</a:t>
            </a:r>
            <a:endParaRPr lang="en-US" altLang="zh-CN" b="1" dirty="0">
              <a:latin typeface="+mn-ea"/>
            </a:endParaRPr>
          </a:p>
          <a:p>
            <a:pPr lvl="2">
              <a:lnSpc>
                <a:spcPct val="120000"/>
              </a:lnSpc>
            </a:pPr>
            <a:r>
              <a:rPr lang="zh-CN" altLang="en-US" b="1" dirty="0">
                <a:latin typeface="+mn-ea"/>
              </a:rPr>
              <a:t>四元式 ：</a:t>
            </a:r>
            <a:r>
              <a:rPr lang="en-US" altLang="zh-CN" b="1" dirty="0">
                <a:latin typeface="+mn-ea"/>
              </a:rPr>
              <a:t>[]=	A	</a:t>
            </a:r>
            <a:r>
              <a:rPr lang="en-US" altLang="zh-CN" b="1" dirty="0" err="1">
                <a:latin typeface="+mn-ea"/>
              </a:rPr>
              <a:t>i</a:t>
            </a:r>
            <a:r>
              <a:rPr lang="en-US" altLang="zh-CN" b="1" dirty="0">
                <a:latin typeface="+mn-ea"/>
              </a:rPr>
              <a:t>	t</a:t>
            </a:r>
            <a:endParaRPr lang="en-US" altLang="zh-CN" b="1" dirty="0">
              <a:latin typeface="+mn-ea"/>
            </a:endParaRPr>
          </a:p>
          <a:p>
            <a:pPr lvl="1">
              <a:lnSpc>
                <a:spcPct val="120000"/>
              </a:lnSpc>
            </a:pPr>
            <a:r>
              <a:rPr lang="zh-CN" altLang="en-US" sz="2000" b="1" dirty="0">
                <a:latin typeface="+mn-ea"/>
              </a:rPr>
              <a:t>将数组</a:t>
            </a:r>
            <a:r>
              <a:rPr lang="en-US" altLang="zh-CN" sz="2000" b="1" dirty="0">
                <a:latin typeface="+mn-ea"/>
              </a:rPr>
              <a:t>A</a:t>
            </a:r>
            <a:r>
              <a:rPr lang="zh-CN" altLang="en-US" sz="2000" b="1" dirty="0">
                <a:latin typeface="+mn-ea"/>
              </a:rPr>
              <a:t>的第</a:t>
            </a:r>
            <a:r>
              <a:rPr lang="en-US" altLang="zh-CN" sz="2000" b="1" dirty="0" err="1">
                <a:latin typeface="+mn-ea"/>
              </a:rPr>
              <a:t>i</a:t>
            </a:r>
            <a:r>
              <a:rPr lang="zh-CN" altLang="en-US" sz="2000" b="1" dirty="0">
                <a:latin typeface="+mn-ea"/>
              </a:rPr>
              <a:t>个元素存放到</a:t>
            </a:r>
            <a:r>
              <a:rPr lang="en-US" altLang="zh-CN" sz="2000" b="1" dirty="0">
                <a:latin typeface="+mn-ea"/>
              </a:rPr>
              <a:t>t:</a:t>
            </a:r>
            <a:endParaRPr lang="en-US" altLang="zh-CN" sz="2000" b="1" dirty="0">
              <a:latin typeface="+mn-ea"/>
            </a:endParaRPr>
          </a:p>
          <a:p>
            <a:pPr lvl="2">
              <a:lnSpc>
                <a:spcPct val="120000"/>
              </a:lnSpc>
            </a:pPr>
            <a:r>
              <a:rPr lang="en-US" altLang="zh-CN" b="1" dirty="0">
                <a:latin typeface="+mn-ea"/>
              </a:rPr>
              <a:t>t=A[</a:t>
            </a:r>
            <a:r>
              <a:rPr lang="en-US" altLang="zh-CN" b="1" dirty="0" err="1">
                <a:latin typeface="+mn-ea"/>
              </a:rPr>
              <a:t>i</a:t>
            </a:r>
            <a:r>
              <a:rPr lang="en-US" altLang="zh-CN" b="1" dirty="0">
                <a:latin typeface="+mn-ea"/>
              </a:rPr>
              <a:t>]</a:t>
            </a:r>
            <a:endParaRPr lang="en-US" altLang="zh-CN" b="1" dirty="0">
              <a:latin typeface="+mn-ea"/>
            </a:endParaRPr>
          </a:p>
          <a:p>
            <a:pPr lvl="2">
              <a:lnSpc>
                <a:spcPct val="120000"/>
              </a:lnSpc>
            </a:pPr>
            <a:r>
              <a:rPr lang="zh-CN" altLang="en-US" b="1" dirty="0">
                <a:latin typeface="+mn-ea"/>
              </a:rPr>
              <a:t>四元式： </a:t>
            </a:r>
            <a:r>
              <a:rPr lang="en-US" altLang="zh-CN" b="1" dirty="0">
                <a:latin typeface="+mn-ea"/>
              </a:rPr>
              <a:t>=[]	A	</a:t>
            </a:r>
            <a:r>
              <a:rPr lang="en-US" altLang="zh-CN" b="1" dirty="0" err="1">
                <a:latin typeface="+mn-ea"/>
              </a:rPr>
              <a:t>i</a:t>
            </a:r>
            <a:r>
              <a:rPr lang="en-US" altLang="zh-CN" b="1" dirty="0">
                <a:latin typeface="+mn-ea"/>
              </a:rPr>
              <a:t>	t</a:t>
            </a:r>
            <a:endParaRPr lang="en-US" altLang="zh-CN" b="1" dirty="0">
              <a:latin typeface="+mn-ea"/>
            </a:endParaRPr>
          </a:p>
          <a:p>
            <a:pPr lvl="1">
              <a:lnSpc>
                <a:spcPct val="120000"/>
              </a:lnSpc>
            </a:pPr>
            <a:r>
              <a:rPr lang="en-US" altLang="zh-CN" sz="2000" b="1" dirty="0" err="1">
                <a:solidFill>
                  <a:srgbClr val="0070C0"/>
                </a:solidFill>
                <a:latin typeface="+mn-ea"/>
              </a:rPr>
              <a:t>if_false</a:t>
            </a:r>
            <a:r>
              <a:rPr lang="en-US" altLang="zh-CN" sz="2000" b="1" dirty="0">
                <a:solidFill>
                  <a:srgbClr val="0070C0"/>
                </a:solidFill>
                <a:latin typeface="+mn-ea"/>
              </a:rPr>
              <a:t>  t1  </a:t>
            </a:r>
            <a:r>
              <a:rPr lang="en-US" altLang="zh-CN" sz="2000" b="1" dirty="0" err="1">
                <a:solidFill>
                  <a:srgbClr val="0070C0"/>
                </a:solidFill>
                <a:latin typeface="+mn-ea"/>
              </a:rPr>
              <a:t>goto</a:t>
            </a:r>
            <a:r>
              <a:rPr lang="en-US" altLang="zh-CN" sz="2000" b="1" dirty="0">
                <a:solidFill>
                  <a:srgbClr val="0070C0"/>
                </a:solidFill>
                <a:latin typeface="+mn-ea"/>
              </a:rPr>
              <a:t> L1</a:t>
            </a:r>
            <a:endParaRPr lang="zh-CN" altLang="en-US" sz="2000" b="1" dirty="0">
              <a:solidFill>
                <a:srgbClr val="0070C0"/>
              </a:solidFill>
              <a:latin typeface="+mn-ea"/>
            </a:endParaRPr>
          </a:p>
          <a:p>
            <a:pPr lvl="2">
              <a:lnSpc>
                <a:spcPct val="120000"/>
              </a:lnSpc>
            </a:pPr>
            <a:r>
              <a:rPr lang="zh-CN" altLang="en-US" b="1" dirty="0">
                <a:latin typeface="+mn-ea"/>
              </a:rPr>
              <a:t>四元式 ：</a:t>
            </a:r>
            <a:r>
              <a:rPr lang="en-US" altLang="zh-CN" b="1" dirty="0" err="1">
                <a:latin typeface="+mn-ea"/>
              </a:rPr>
              <a:t>relop</a:t>
            </a:r>
            <a:r>
              <a:rPr lang="en-US" altLang="zh-CN" b="1" dirty="0">
                <a:latin typeface="+mn-ea"/>
              </a:rPr>
              <a:t>	 t1  false  L1</a:t>
            </a:r>
            <a:endParaRPr lang="en-US" altLang="zh-CN"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barn(inHorizontal)">
                                      <p:cBhvr>
                                        <p:cTn id="7" dur="500"/>
                                        <p:tgtEl>
                                          <p:spTgt spid="5">
                                            <p:txEl>
                                              <p:pRg st="4" end="4"/>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barn(inHorizontal)">
                                      <p:cBhvr>
                                        <p:cTn id="10" dur="500"/>
                                        <p:tgtEl>
                                          <p:spTgt spid="5">
                                            <p:txEl>
                                              <p:pRg st="5" end="5"/>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barn(inHorizontal)">
                                      <p:cBhvr>
                                        <p:cTn id="13" dur="500"/>
                                        <p:tgtEl>
                                          <p:spTgt spid="5">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5">
                                            <p:txEl>
                                              <p:pRg st="7" end="7"/>
                                            </p:txEl>
                                          </p:spTgt>
                                        </p:tgtEl>
                                        <p:attrNameLst>
                                          <p:attrName>style.visibility</p:attrName>
                                        </p:attrNameLst>
                                      </p:cBhvr>
                                      <p:to>
                                        <p:strVal val="visible"/>
                                      </p:to>
                                    </p:set>
                                    <p:animEffect transition="in" filter="barn(inHorizontal)">
                                      <p:cBhvr>
                                        <p:cTn id="18" dur="500"/>
                                        <p:tgtEl>
                                          <p:spTgt spid="5">
                                            <p:txEl>
                                              <p:pRg st="7" end="7"/>
                                            </p:txEl>
                                          </p:spTgt>
                                        </p:tgtEl>
                                      </p:cBhvr>
                                    </p:animEffect>
                                  </p:childTnLst>
                                </p:cTn>
                              </p:par>
                              <p:par>
                                <p:cTn id="19" presetID="16" presetClass="entr" presetSubtype="26"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animEffect transition="in" filter="barn(inHorizontal)">
                                      <p:cBhvr>
                                        <p:cTn id="21" dur="500"/>
                                        <p:tgtEl>
                                          <p:spTgt spid="5">
                                            <p:txEl>
                                              <p:pRg st="8" end="8"/>
                                            </p:txEl>
                                          </p:spTgt>
                                        </p:tgtEl>
                                      </p:cBhvr>
                                    </p:animEffect>
                                  </p:childTnLst>
                                </p:cTn>
                              </p:par>
                              <p:par>
                                <p:cTn id="22" presetID="16" presetClass="entr" presetSubtype="26" fill="hold" nodeType="withEffect">
                                  <p:stCondLst>
                                    <p:cond delay="0"/>
                                  </p:stCondLst>
                                  <p:childTnLst>
                                    <p:set>
                                      <p:cBhvr>
                                        <p:cTn id="23" dur="1" fill="hold">
                                          <p:stCondLst>
                                            <p:cond delay="0"/>
                                          </p:stCondLst>
                                        </p:cTn>
                                        <p:tgtEl>
                                          <p:spTgt spid="5">
                                            <p:txEl>
                                              <p:pRg st="9" end="9"/>
                                            </p:txEl>
                                          </p:spTgt>
                                        </p:tgtEl>
                                        <p:attrNameLst>
                                          <p:attrName>style.visibility</p:attrName>
                                        </p:attrNameLst>
                                      </p:cBhvr>
                                      <p:to>
                                        <p:strVal val="visible"/>
                                      </p:to>
                                    </p:set>
                                    <p:animEffect transition="in" filter="barn(inHorizontal)">
                                      <p:cBhvr>
                                        <p:cTn id="24" dur="500"/>
                                        <p:tgtEl>
                                          <p:spTgt spid="5">
                                            <p:txEl>
                                              <p:pRg st="9" end="9"/>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6" fill="hold" nodeType="click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animEffect transition="in" filter="barn(inHorizontal)">
                                      <p:cBhvr>
                                        <p:cTn id="29" dur="500"/>
                                        <p:tgtEl>
                                          <p:spTgt spid="5">
                                            <p:txEl>
                                              <p:pRg st="10" end="10"/>
                                            </p:txEl>
                                          </p:spTgt>
                                        </p:tgtEl>
                                      </p:cBhvr>
                                    </p:animEffect>
                                  </p:childTnLst>
                                </p:cTn>
                              </p:par>
                              <p:par>
                                <p:cTn id="30" presetID="16" presetClass="entr" presetSubtype="26" fill="hold" nodeType="withEffect">
                                  <p:stCondLst>
                                    <p:cond delay="0"/>
                                  </p:stCondLst>
                                  <p:childTnLst>
                                    <p:set>
                                      <p:cBhvr>
                                        <p:cTn id="31" dur="1" fill="hold">
                                          <p:stCondLst>
                                            <p:cond delay="0"/>
                                          </p:stCondLst>
                                        </p:cTn>
                                        <p:tgtEl>
                                          <p:spTgt spid="5">
                                            <p:txEl>
                                              <p:pRg st="11" end="11"/>
                                            </p:txEl>
                                          </p:spTgt>
                                        </p:tgtEl>
                                        <p:attrNameLst>
                                          <p:attrName>style.visibility</p:attrName>
                                        </p:attrNameLst>
                                      </p:cBhvr>
                                      <p:to>
                                        <p:strVal val="visible"/>
                                      </p:to>
                                    </p:set>
                                    <p:animEffect transition="in" filter="barn(inHorizontal)">
                                      <p:cBhvr>
                                        <p:cTn id="32"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99415" y="276860"/>
            <a:ext cx="6377940" cy="593090"/>
          </a:xfrm>
        </p:spPr>
        <p:txBody>
          <a:bodyPr/>
          <a:lstStyle/>
          <a:p>
            <a:r>
              <a:rPr lang="en-US" altLang="zh-CN" dirty="0"/>
              <a:t>8.1.4 </a:t>
            </a:r>
            <a:r>
              <a:rPr lang="zh-CN" altLang="en-US" dirty="0"/>
              <a:t>基本块优化的实现</a:t>
            </a:r>
            <a:endParaRPr lang="zh-CN" altLang="en-US" dirty="0"/>
          </a:p>
        </p:txBody>
      </p:sp>
      <p:sp>
        <p:nvSpPr>
          <p:cNvPr id="7" name="Rectangle 6"/>
          <p:cNvSpPr/>
          <p:nvPr/>
        </p:nvSpPr>
        <p:spPr>
          <a:xfrm>
            <a:off x="470535" y="1242060"/>
            <a:ext cx="11407140" cy="1938655"/>
          </a:xfrm>
          <a:prstGeom prst="rect">
            <a:avLst/>
          </a:prstGeom>
          <a:noFill/>
          <a:ln w="9525">
            <a:noFill/>
          </a:ln>
        </p:spPr>
        <p:txBody>
          <a:bodyPr wrap="squar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eaLnBrk="1" hangingPunct="1">
              <a:lnSpc>
                <a:spcPct val="120000"/>
              </a:lnSpc>
              <a:spcBef>
                <a:spcPct val="0"/>
              </a:spcBef>
              <a:buClr>
                <a:srgbClr val="030305"/>
              </a:buClr>
              <a:buSzPct val="75000"/>
              <a:buFont typeface="Wingdings" panose="05000000000000000000" charset="0"/>
              <a:buChar char="p"/>
            </a:pPr>
            <a:r>
              <a:rPr lang="zh-CN" altLang="en-US" sz="2800" b="1" dirty="0">
                <a:solidFill>
                  <a:srgbClr val="0070C0"/>
                </a:solidFill>
                <a:latin typeface="+mn-ea"/>
              </a:rPr>
              <a:t>基本块的</a:t>
            </a:r>
            <a:r>
              <a:rPr lang="en-US" altLang="zh-CN" sz="2800" b="1" dirty="0">
                <a:solidFill>
                  <a:srgbClr val="0070C0"/>
                </a:solidFill>
                <a:latin typeface="+mn-ea"/>
              </a:rPr>
              <a:t>DAG</a:t>
            </a:r>
            <a:r>
              <a:rPr lang="zh-CN" altLang="en-US" sz="2800" b="1" dirty="0">
                <a:solidFill>
                  <a:srgbClr val="0070C0"/>
                </a:solidFill>
                <a:latin typeface="+mn-ea"/>
              </a:rPr>
              <a:t>表示</a:t>
            </a:r>
            <a:endParaRPr lang="zh-CN" altLang="en-US" sz="2800" b="1" dirty="0">
              <a:solidFill>
                <a:srgbClr val="0070C0"/>
              </a:solidFill>
              <a:latin typeface="+mn-ea"/>
            </a:endParaRPr>
          </a:p>
          <a:p>
            <a:pPr marL="0" indent="0" eaLnBrk="1" hangingPunct="1">
              <a:lnSpc>
                <a:spcPct val="120000"/>
              </a:lnSpc>
              <a:spcBef>
                <a:spcPct val="0"/>
              </a:spcBef>
              <a:buClr>
                <a:srgbClr val="030305"/>
              </a:buClr>
              <a:buSzPct val="75000"/>
              <a:buFont typeface="Wingdings" panose="05000000000000000000" charset="0"/>
              <a:buNone/>
            </a:pPr>
            <a:r>
              <a:rPr lang="en-US" altLang="zh-CN" sz="2400" b="1" dirty="0">
                <a:solidFill>
                  <a:srgbClr val="030305"/>
                </a:solidFill>
                <a:latin typeface="+mn-ea"/>
              </a:rPr>
              <a:t> (0)</a:t>
            </a:r>
            <a:r>
              <a:rPr lang="en-US" altLang="zh-CN" sz="2400" b="1" dirty="0">
                <a:solidFill>
                  <a:srgbClr val="030305"/>
                </a:solidFill>
                <a:latin typeface="+mn-ea"/>
              </a:rPr>
              <a:t> A = B</a:t>
            </a:r>
            <a:endParaRPr lang="en-US" altLang="zh-CN" sz="2400" b="1" dirty="0">
              <a:solidFill>
                <a:srgbClr val="030305"/>
              </a:solidFill>
              <a:latin typeface="+mn-ea"/>
            </a:endParaRPr>
          </a:p>
          <a:p>
            <a:pPr marL="0" lvl="0" indent="0" eaLnBrk="1" hangingPunct="1">
              <a:lnSpc>
                <a:spcPct val="120000"/>
              </a:lnSpc>
              <a:spcBef>
                <a:spcPct val="0"/>
              </a:spcBef>
              <a:buClr>
                <a:srgbClr val="030305"/>
              </a:buClr>
              <a:buSzPct val="75000"/>
              <a:buNone/>
            </a:pPr>
            <a:r>
              <a:rPr lang="en-US" altLang="zh-CN" sz="2400" b="1" dirty="0">
                <a:solidFill>
                  <a:srgbClr val="030305"/>
                </a:solidFill>
                <a:latin typeface="+mn-ea"/>
              </a:rPr>
              <a:t>B</a:t>
            </a:r>
            <a:r>
              <a:rPr lang="zh-CN" altLang="en-US" sz="2400" b="1" dirty="0">
                <a:solidFill>
                  <a:srgbClr val="030305"/>
                </a:solidFill>
                <a:latin typeface="+mn-ea"/>
              </a:rPr>
              <a:t>是节点</a:t>
            </a:r>
            <a:r>
              <a:rPr lang="en-US" altLang="zh-CN" sz="2400" b="1" dirty="0">
                <a:solidFill>
                  <a:srgbClr val="030305"/>
                </a:solidFill>
                <a:latin typeface="+mn-ea"/>
              </a:rPr>
              <a:t>n</a:t>
            </a:r>
            <a:r>
              <a:rPr lang="en-US" altLang="zh-CN" sz="2400" b="1" baseline="-25000" dirty="0">
                <a:solidFill>
                  <a:srgbClr val="030305"/>
                </a:solidFill>
                <a:latin typeface="+mn-ea"/>
              </a:rPr>
              <a:t>1</a:t>
            </a:r>
            <a:r>
              <a:rPr lang="zh-CN" altLang="en-US" sz="2400" b="1" dirty="0">
                <a:solidFill>
                  <a:srgbClr val="030305"/>
                </a:solidFill>
                <a:latin typeface="+mn-ea"/>
              </a:rPr>
              <a:t>的标记</a:t>
            </a:r>
            <a:r>
              <a:rPr lang="en-US" altLang="zh-CN" sz="2400" b="1" dirty="0">
                <a:solidFill>
                  <a:srgbClr val="030305"/>
                </a:solidFill>
                <a:latin typeface="+mn-ea"/>
              </a:rPr>
              <a:t> </a:t>
            </a:r>
            <a:r>
              <a:rPr lang="zh-CN" altLang="en-US" sz="2400" b="1" dirty="0">
                <a:solidFill>
                  <a:srgbClr val="030305"/>
                </a:solidFill>
                <a:latin typeface="+mn-ea"/>
              </a:rPr>
              <a:t>，放在节点</a:t>
            </a:r>
            <a:r>
              <a:rPr lang="en-US" altLang="zh-CN" sz="2400" b="1" dirty="0">
                <a:solidFill>
                  <a:srgbClr val="030305"/>
                </a:solidFill>
                <a:latin typeface="+mn-ea"/>
              </a:rPr>
              <a:t>n</a:t>
            </a:r>
            <a:r>
              <a:rPr lang="en-US" altLang="zh-CN" sz="2400" b="1" baseline="-25000" dirty="0">
                <a:solidFill>
                  <a:srgbClr val="030305"/>
                </a:solidFill>
                <a:latin typeface="+mn-ea"/>
              </a:rPr>
              <a:t>1</a:t>
            </a:r>
            <a:r>
              <a:rPr lang="zh-CN" altLang="en-US" sz="2400" b="1" dirty="0">
                <a:solidFill>
                  <a:srgbClr val="030305"/>
                </a:solidFill>
                <a:latin typeface="+mn-ea"/>
              </a:rPr>
              <a:t>的下方，</a:t>
            </a:r>
            <a:endParaRPr lang="zh-CN" altLang="en-US" sz="2400" b="1" dirty="0">
              <a:solidFill>
                <a:srgbClr val="030305"/>
              </a:solidFill>
              <a:latin typeface="+mn-ea"/>
            </a:endParaRPr>
          </a:p>
          <a:p>
            <a:pPr marL="0" lvl="0" indent="0" eaLnBrk="1" hangingPunct="1">
              <a:lnSpc>
                <a:spcPct val="120000"/>
              </a:lnSpc>
              <a:spcBef>
                <a:spcPct val="0"/>
              </a:spcBef>
              <a:buClr>
                <a:srgbClr val="030305"/>
              </a:buClr>
              <a:buSzPct val="75000"/>
              <a:buNone/>
            </a:pPr>
            <a:r>
              <a:rPr lang="en-US" altLang="zh-CN" sz="2400" b="1" dirty="0">
                <a:solidFill>
                  <a:srgbClr val="030305"/>
                </a:solidFill>
                <a:latin typeface="+mn-ea"/>
              </a:rPr>
              <a:t>A</a:t>
            </a:r>
            <a:r>
              <a:rPr lang="zh-CN" altLang="en-US" sz="2400" b="1" dirty="0">
                <a:solidFill>
                  <a:srgbClr val="030305"/>
                </a:solidFill>
                <a:latin typeface="+mn-ea"/>
              </a:rPr>
              <a:t>是节点</a:t>
            </a:r>
            <a:r>
              <a:rPr lang="en-US" altLang="zh-CN" sz="2400" b="1" dirty="0">
                <a:solidFill>
                  <a:srgbClr val="030305"/>
                </a:solidFill>
                <a:latin typeface="+mn-ea"/>
              </a:rPr>
              <a:t>n</a:t>
            </a:r>
            <a:r>
              <a:rPr lang="en-US" altLang="zh-CN" sz="2400" b="1" baseline="-25000" dirty="0">
                <a:solidFill>
                  <a:srgbClr val="030305"/>
                </a:solidFill>
                <a:latin typeface="+mn-ea"/>
              </a:rPr>
              <a:t>1</a:t>
            </a:r>
            <a:r>
              <a:rPr lang="zh-CN" altLang="en-US" sz="2400" b="1" dirty="0">
                <a:solidFill>
                  <a:srgbClr val="030305"/>
                </a:solidFill>
                <a:latin typeface="+mn-ea"/>
              </a:rPr>
              <a:t>第一个附加标识。</a:t>
            </a:r>
            <a:endParaRPr lang="en-US" altLang="zh-CN" sz="2400" b="1" dirty="0">
              <a:solidFill>
                <a:srgbClr val="030305"/>
              </a:solidFill>
              <a:latin typeface="+mn-ea"/>
            </a:endParaRPr>
          </a:p>
        </p:txBody>
      </p:sp>
      <p:grpSp>
        <p:nvGrpSpPr>
          <p:cNvPr id="4" name="组合 3"/>
          <p:cNvGrpSpPr/>
          <p:nvPr/>
        </p:nvGrpSpPr>
        <p:grpSpPr>
          <a:xfrm>
            <a:off x="7716520" y="1294765"/>
            <a:ext cx="3510280" cy="1145540"/>
            <a:chOff x="12152" y="2039"/>
            <a:chExt cx="5528" cy="1804"/>
          </a:xfrm>
        </p:grpSpPr>
        <p:sp>
          <p:nvSpPr>
            <p:cNvPr id="8" name="Oval 7"/>
            <p:cNvSpPr/>
            <p:nvPr/>
          </p:nvSpPr>
          <p:spPr>
            <a:xfrm>
              <a:off x="12152" y="2167"/>
              <a:ext cx="904" cy="908"/>
            </a:xfrm>
            <a:prstGeom prst="ellipse">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1</a:t>
              </a:r>
              <a:endParaRPr lang="en-US" altLang="zh-CN" sz="2400" b="1" baseline="-25000" dirty="0">
                <a:latin typeface="+mn-ea"/>
              </a:endParaRPr>
            </a:p>
          </p:txBody>
        </p:sp>
        <p:grpSp>
          <p:nvGrpSpPr>
            <p:cNvPr id="9" name="Group 8"/>
            <p:cNvGrpSpPr/>
            <p:nvPr/>
          </p:nvGrpSpPr>
          <p:grpSpPr>
            <a:xfrm>
              <a:off x="12264" y="2039"/>
              <a:ext cx="5415" cy="1760"/>
              <a:chOff x="2154" y="2064"/>
              <a:chExt cx="2166" cy="704"/>
            </a:xfrm>
          </p:grpSpPr>
          <p:sp>
            <p:nvSpPr>
              <p:cNvPr id="10" name="Rectangle 9"/>
              <p:cNvSpPr/>
              <p:nvPr/>
            </p:nvSpPr>
            <p:spPr>
              <a:xfrm>
                <a:off x="2154" y="2478"/>
                <a:ext cx="231"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B</a:t>
                </a:r>
                <a:endParaRPr lang="zh-CN" altLang="en-US" sz="2400" b="1" dirty="0">
                  <a:solidFill>
                    <a:srgbClr val="030305"/>
                  </a:solidFill>
                  <a:latin typeface="+mn-ea"/>
                </a:endParaRPr>
              </a:p>
            </p:txBody>
          </p:sp>
          <p:sp>
            <p:nvSpPr>
              <p:cNvPr id="11" name="Rectangle 10"/>
              <p:cNvSpPr/>
              <p:nvPr/>
            </p:nvSpPr>
            <p:spPr>
              <a:xfrm>
                <a:off x="2880" y="2064"/>
                <a:ext cx="1440" cy="290"/>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NODE(B)= n</a:t>
                </a:r>
                <a:r>
                  <a:rPr lang="en-US" altLang="zh-CN" sz="2400" b="1" baseline="-25000" dirty="0">
                    <a:solidFill>
                      <a:srgbClr val="030305"/>
                    </a:solidFill>
                    <a:latin typeface="+mn-ea"/>
                  </a:rPr>
                  <a:t>1</a:t>
                </a:r>
                <a:endParaRPr lang="zh-CN" altLang="en-US" sz="2400" b="1" baseline="-25000" dirty="0">
                  <a:solidFill>
                    <a:srgbClr val="030305"/>
                  </a:solidFill>
                  <a:latin typeface="+mn-ea"/>
                </a:endParaRPr>
              </a:p>
            </p:txBody>
          </p:sp>
        </p:grpSp>
        <p:grpSp>
          <p:nvGrpSpPr>
            <p:cNvPr id="13" name="Group 11"/>
            <p:cNvGrpSpPr/>
            <p:nvPr/>
          </p:nvGrpSpPr>
          <p:grpSpPr>
            <a:xfrm>
              <a:off x="13172" y="2279"/>
              <a:ext cx="4508" cy="1565"/>
              <a:chOff x="2517" y="2160"/>
              <a:chExt cx="1803" cy="626"/>
            </a:xfrm>
          </p:grpSpPr>
          <p:sp>
            <p:nvSpPr>
              <p:cNvPr id="14" name="Rectangle 12"/>
              <p:cNvSpPr/>
              <p:nvPr/>
            </p:nvSpPr>
            <p:spPr>
              <a:xfrm>
                <a:off x="2517" y="2160"/>
                <a:ext cx="244"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A</a:t>
                </a:r>
                <a:endParaRPr lang="zh-CN" altLang="en-US" sz="2400" b="1" dirty="0">
                  <a:solidFill>
                    <a:srgbClr val="030305"/>
                  </a:solidFill>
                  <a:latin typeface="+mn-ea"/>
                </a:endParaRPr>
              </a:p>
            </p:txBody>
          </p:sp>
          <p:sp>
            <p:nvSpPr>
              <p:cNvPr id="15" name="Rectangle 13"/>
              <p:cNvSpPr/>
              <p:nvPr/>
            </p:nvSpPr>
            <p:spPr>
              <a:xfrm>
                <a:off x="2880" y="2496"/>
                <a:ext cx="1440" cy="290"/>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NODE(A)= n</a:t>
                </a:r>
                <a:r>
                  <a:rPr lang="en-US" altLang="zh-CN" sz="2400" b="1" baseline="-25000" dirty="0">
                    <a:solidFill>
                      <a:srgbClr val="030305"/>
                    </a:solidFill>
                    <a:latin typeface="+mn-ea"/>
                  </a:rPr>
                  <a:t>1</a:t>
                </a:r>
                <a:endParaRPr lang="zh-CN" altLang="en-US" sz="2400" b="1" baseline="-25000" dirty="0">
                  <a:solidFill>
                    <a:srgbClr val="030305"/>
                  </a:solidFill>
                  <a:latin typeface="+mn-ea"/>
                </a:endParaRPr>
              </a:p>
            </p:txBody>
          </p:sp>
        </p:grpSp>
      </p:grpSp>
      <p:sp>
        <p:nvSpPr>
          <p:cNvPr id="16" name="Rectangle 32"/>
          <p:cNvSpPr txBox="1"/>
          <p:nvPr/>
        </p:nvSpPr>
        <p:spPr>
          <a:xfrm>
            <a:off x="525145" y="3098165"/>
            <a:ext cx="5433060" cy="292163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spcBef>
                <a:spcPct val="0"/>
              </a:spcBef>
              <a:spcAft>
                <a:spcPts val="0"/>
              </a:spcAft>
              <a:buNone/>
            </a:pPr>
            <a:r>
              <a:rPr lang="en-US" altLang="zh-CN" sz="2400" b="1" dirty="0">
                <a:latin typeface="+mn-ea"/>
              </a:rPr>
              <a:t>(1) </a:t>
            </a:r>
            <a:r>
              <a:rPr lang="en-US" altLang="zh-CN" sz="2400" b="1" dirty="0">
                <a:latin typeface="+mn-ea"/>
              </a:rPr>
              <a:t>A = op B</a:t>
            </a:r>
            <a:endParaRPr lang="en-US" altLang="zh-CN" sz="2400" b="1" dirty="0">
              <a:latin typeface="+mn-ea"/>
            </a:endParaRPr>
          </a:p>
          <a:p>
            <a:pPr marL="0" indent="0">
              <a:lnSpc>
                <a:spcPct val="125000"/>
              </a:lnSpc>
              <a:spcBef>
                <a:spcPct val="0"/>
              </a:spcBef>
              <a:spcAft>
                <a:spcPts val="0"/>
              </a:spcAft>
              <a:buNone/>
            </a:pPr>
            <a:r>
              <a:rPr lang="zh-CN" altLang="en-US" b="1" dirty="0">
                <a:latin typeface="+mn-ea"/>
              </a:rPr>
              <a:t>节点</a:t>
            </a:r>
            <a:r>
              <a:rPr lang="en-US" altLang="zh-CN" b="1" dirty="0">
                <a:latin typeface="+mn-ea"/>
              </a:rPr>
              <a:t>n</a:t>
            </a:r>
            <a:r>
              <a:rPr lang="en-US" altLang="zh-CN" b="1" baseline="-25000" dirty="0">
                <a:latin typeface="+mn-ea"/>
              </a:rPr>
              <a:t>1</a:t>
            </a:r>
            <a:r>
              <a:rPr lang="zh-CN" altLang="en-US" b="1" dirty="0">
                <a:latin typeface="+mn-ea"/>
              </a:rPr>
              <a:t>称为</a:t>
            </a:r>
            <a:r>
              <a:rPr lang="en-US" altLang="zh-CN" b="1" dirty="0">
                <a:latin typeface="+mn-ea"/>
              </a:rPr>
              <a:t>n</a:t>
            </a:r>
            <a:r>
              <a:rPr lang="en-US" altLang="zh-CN" b="1" baseline="-25000" dirty="0">
                <a:latin typeface="+mn-ea"/>
              </a:rPr>
              <a:t>2</a:t>
            </a:r>
            <a:r>
              <a:rPr lang="zh-CN" altLang="en-US" b="1" dirty="0">
                <a:latin typeface="+mn-ea"/>
              </a:rPr>
              <a:t>的后继</a:t>
            </a:r>
            <a:endParaRPr lang="zh-CN" altLang="en-US" b="1" dirty="0">
              <a:latin typeface="+mn-ea"/>
            </a:endParaRPr>
          </a:p>
          <a:p>
            <a:pPr marL="457200" lvl="1" indent="0">
              <a:lnSpc>
                <a:spcPct val="125000"/>
              </a:lnSpc>
              <a:spcBef>
                <a:spcPct val="0"/>
              </a:spcBef>
              <a:spcAft>
                <a:spcPts val="0"/>
              </a:spcAft>
              <a:buNone/>
            </a:pPr>
            <a:r>
              <a:rPr lang="en-US" altLang="zh-CN" b="1" dirty="0">
                <a:latin typeface="+mn-ea"/>
              </a:rPr>
              <a:t>Op</a:t>
            </a:r>
            <a:r>
              <a:rPr lang="zh-CN" altLang="en-US" b="1" dirty="0">
                <a:latin typeface="+mn-ea"/>
              </a:rPr>
              <a:t>是</a:t>
            </a:r>
            <a:r>
              <a:rPr lang="en-US" altLang="zh-CN" b="1" dirty="0">
                <a:latin typeface="+mn-ea"/>
              </a:rPr>
              <a:t>n</a:t>
            </a:r>
            <a:r>
              <a:rPr lang="en-US" altLang="zh-CN" b="1" baseline="-25000" dirty="0">
                <a:latin typeface="+mn-ea"/>
              </a:rPr>
              <a:t>2</a:t>
            </a:r>
            <a:r>
              <a:rPr lang="zh-CN" altLang="en-US" b="1" dirty="0">
                <a:latin typeface="+mn-ea"/>
              </a:rPr>
              <a:t>的标记</a:t>
            </a:r>
            <a:endParaRPr lang="en-US" altLang="zh-CN" b="1" dirty="0">
              <a:latin typeface="+mn-ea"/>
            </a:endParaRPr>
          </a:p>
          <a:p>
            <a:pPr marL="0" indent="0">
              <a:lnSpc>
                <a:spcPct val="125000"/>
              </a:lnSpc>
              <a:spcBef>
                <a:spcPct val="0"/>
              </a:spcBef>
              <a:spcAft>
                <a:spcPts val="0"/>
              </a:spcAft>
              <a:buNone/>
            </a:pPr>
            <a:r>
              <a:rPr lang="en-US" altLang="zh-CN" sz="2400" b="1" dirty="0">
                <a:latin typeface="+mn-ea"/>
              </a:rPr>
              <a:t>(2) </a:t>
            </a:r>
            <a:r>
              <a:rPr lang="en-US" altLang="zh-CN" sz="2400" b="1" dirty="0">
                <a:latin typeface="+mn-ea"/>
              </a:rPr>
              <a:t>A = B op C</a:t>
            </a:r>
            <a:endParaRPr lang="en-US" altLang="zh-CN" sz="2400" b="1" dirty="0">
              <a:latin typeface="+mn-ea"/>
            </a:endParaRPr>
          </a:p>
          <a:p>
            <a:pPr marL="457200" lvl="1" indent="0">
              <a:lnSpc>
                <a:spcPct val="125000"/>
              </a:lnSpc>
              <a:spcBef>
                <a:spcPct val="0"/>
              </a:spcBef>
              <a:spcAft>
                <a:spcPts val="0"/>
              </a:spcAft>
              <a:buNone/>
            </a:pPr>
            <a:r>
              <a:rPr lang="zh-CN" altLang="en-US" b="1" dirty="0">
                <a:latin typeface="+mn-ea"/>
              </a:rPr>
              <a:t>节点</a:t>
            </a:r>
            <a:r>
              <a:rPr lang="en-US" altLang="zh-CN" b="1" dirty="0">
                <a:latin typeface="+mn-ea"/>
              </a:rPr>
              <a:t>n</a:t>
            </a:r>
            <a:r>
              <a:rPr lang="en-US" altLang="zh-CN" b="1" baseline="-25000" dirty="0">
                <a:latin typeface="+mn-ea"/>
              </a:rPr>
              <a:t>1</a:t>
            </a:r>
            <a:r>
              <a:rPr lang="zh-CN" altLang="en-US" b="1" dirty="0">
                <a:latin typeface="+mn-ea"/>
              </a:rPr>
              <a:t>和</a:t>
            </a:r>
            <a:r>
              <a:rPr lang="en-US" altLang="zh-CN" b="1" dirty="0">
                <a:latin typeface="+mn-ea"/>
              </a:rPr>
              <a:t>n</a:t>
            </a:r>
            <a:r>
              <a:rPr lang="en-US" altLang="zh-CN" b="1" baseline="-25000" dirty="0">
                <a:latin typeface="+mn-ea"/>
              </a:rPr>
              <a:t>2</a:t>
            </a:r>
            <a:r>
              <a:rPr lang="zh-CN" altLang="en-US" b="1" dirty="0">
                <a:latin typeface="+mn-ea"/>
              </a:rPr>
              <a:t>分别称为节点</a:t>
            </a:r>
            <a:r>
              <a:rPr lang="en-US" altLang="zh-CN" b="1" dirty="0">
                <a:latin typeface="+mn-ea"/>
              </a:rPr>
              <a:t>n</a:t>
            </a:r>
            <a:r>
              <a:rPr lang="en-US" altLang="zh-CN" b="1" baseline="-25000" dirty="0">
                <a:latin typeface="+mn-ea"/>
              </a:rPr>
              <a:t>3</a:t>
            </a:r>
            <a:r>
              <a:rPr lang="zh-CN" altLang="en-US" b="1" dirty="0">
                <a:latin typeface="+mn-ea"/>
              </a:rPr>
              <a:t>的后继</a:t>
            </a:r>
            <a:endParaRPr lang="zh-CN" altLang="en-US" b="1" dirty="0">
              <a:latin typeface="+mn-ea"/>
            </a:endParaRPr>
          </a:p>
          <a:p>
            <a:pPr marL="457200" lvl="1" indent="0">
              <a:lnSpc>
                <a:spcPct val="125000"/>
              </a:lnSpc>
              <a:spcBef>
                <a:spcPct val="0"/>
              </a:spcBef>
              <a:spcAft>
                <a:spcPts val="0"/>
              </a:spcAft>
              <a:buNone/>
            </a:pPr>
            <a:r>
              <a:rPr lang="en-US" altLang="zh-CN" b="1" dirty="0">
                <a:latin typeface="+mn-ea"/>
              </a:rPr>
              <a:t>Op</a:t>
            </a:r>
            <a:r>
              <a:rPr lang="zh-CN" altLang="en-US" b="1" dirty="0">
                <a:latin typeface="+mn-ea"/>
              </a:rPr>
              <a:t>是</a:t>
            </a:r>
            <a:r>
              <a:rPr lang="en-US" altLang="zh-CN" b="1" dirty="0">
                <a:latin typeface="+mn-ea"/>
              </a:rPr>
              <a:t>n</a:t>
            </a:r>
            <a:r>
              <a:rPr lang="en-US" altLang="zh-CN" b="1" baseline="-25000" dirty="0">
                <a:latin typeface="+mn-ea"/>
              </a:rPr>
              <a:t>3</a:t>
            </a:r>
            <a:r>
              <a:rPr lang="zh-CN" altLang="en-US" b="1" dirty="0">
                <a:latin typeface="+mn-ea"/>
              </a:rPr>
              <a:t>的标记</a:t>
            </a:r>
            <a:endParaRPr lang="zh-CN" altLang="en-US" b="1" dirty="0">
              <a:latin typeface="+mn-ea"/>
            </a:endParaRPr>
          </a:p>
        </p:txBody>
      </p:sp>
      <p:grpSp>
        <p:nvGrpSpPr>
          <p:cNvPr id="3" name="组合 2"/>
          <p:cNvGrpSpPr/>
          <p:nvPr/>
        </p:nvGrpSpPr>
        <p:grpSpPr>
          <a:xfrm>
            <a:off x="7114540" y="4269740"/>
            <a:ext cx="4432300" cy="2117725"/>
            <a:chOff x="11204" y="6724"/>
            <a:chExt cx="6980" cy="3335"/>
          </a:xfrm>
        </p:grpSpPr>
        <p:grpSp>
          <p:nvGrpSpPr>
            <p:cNvPr id="20" name="Group 36"/>
            <p:cNvGrpSpPr/>
            <p:nvPr/>
          </p:nvGrpSpPr>
          <p:grpSpPr>
            <a:xfrm>
              <a:off x="11769" y="7631"/>
              <a:ext cx="1930" cy="1008"/>
              <a:chOff x="2580" y="2274"/>
              <a:chExt cx="772" cy="403"/>
            </a:xfrm>
          </p:grpSpPr>
          <p:sp>
            <p:nvSpPr>
              <p:cNvPr id="21" name="Line 37"/>
              <p:cNvSpPr/>
              <p:nvPr>
                <p:custDataLst>
                  <p:tags r:id="rId1"/>
                </p:custDataLst>
              </p:nvPr>
            </p:nvSpPr>
            <p:spPr>
              <a:xfrm flipH="1">
                <a:off x="2580" y="2274"/>
                <a:ext cx="273" cy="363"/>
              </a:xfrm>
              <a:prstGeom prst="line">
                <a:avLst/>
              </a:prstGeom>
              <a:ln w="9525" cap="flat" cmpd="sng">
                <a:solidFill>
                  <a:schemeClr val="tx1"/>
                </a:solidFill>
                <a:prstDash val="solid"/>
                <a:miter/>
                <a:headEnd type="none" w="med" len="med"/>
                <a:tailEnd type="none" w="med" len="med"/>
              </a:ln>
            </p:spPr>
          </p:sp>
          <p:sp>
            <p:nvSpPr>
              <p:cNvPr id="22" name="Rectangle 38"/>
              <p:cNvSpPr/>
              <p:nvPr>
                <p:custDataLst>
                  <p:tags r:id="rId2"/>
                </p:custDataLst>
              </p:nvPr>
            </p:nvSpPr>
            <p:spPr>
              <a:xfrm>
                <a:off x="2789" y="2387"/>
                <a:ext cx="346"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op</a:t>
                </a:r>
                <a:endParaRPr lang="zh-CN" altLang="en-US" sz="2400" b="1" dirty="0">
                  <a:solidFill>
                    <a:srgbClr val="030305"/>
                  </a:solidFill>
                  <a:latin typeface="+mn-ea"/>
                </a:endParaRPr>
              </a:p>
            </p:txBody>
          </p:sp>
          <p:sp>
            <p:nvSpPr>
              <p:cNvPr id="23" name="Line 39"/>
              <p:cNvSpPr/>
              <p:nvPr>
                <p:custDataLst>
                  <p:tags r:id="rId3"/>
                </p:custDataLst>
              </p:nvPr>
            </p:nvSpPr>
            <p:spPr>
              <a:xfrm>
                <a:off x="2943" y="2274"/>
                <a:ext cx="409" cy="363"/>
              </a:xfrm>
              <a:prstGeom prst="line">
                <a:avLst/>
              </a:prstGeom>
              <a:ln w="9525" cap="flat" cmpd="sng">
                <a:solidFill>
                  <a:schemeClr val="tx1"/>
                </a:solidFill>
                <a:prstDash val="solid"/>
                <a:miter/>
                <a:headEnd type="none" w="med" len="med"/>
                <a:tailEnd type="none" w="med" len="med"/>
              </a:ln>
            </p:spPr>
          </p:sp>
        </p:grpSp>
        <p:grpSp>
          <p:nvGrpSpPr>
            <p:cNvPr id="32" name="Group 48"/>
            <p:cNvGrpSpPr/>
            <p:nvPr/>
          </p:nvGrpSpPr>
          <p:grpSpPr>
            <a:xfrm>
              <a:off x="11204" y="8059"/>
              <a:ext cx="6980" cy="2000"/>
              <a:chOff x="2354" y="2445"/>
              <a:chExt cx="2792" cy="800"/>
            </a:xfrm>
          </p:grpSpPr>
          <p:sp>
            <p:nvSpPr>
              <p:cNvPr id="33" name="Oval 49"/>
              <p:cNvSpPr/>
              <p:nvPr>
                <p:custDataLst>
                  <p:tags r:id="rId4"/>
                </p:custDataLst>
              </p:nvPr>
            </p:nvSpPr>
            <p:spPr>
              <a:xfrm>
                <a:off x="2354" y="2637"/>
                <a:ext cx="408" cy="363"/>
              </a:xfrm>
              <a:prstGeom prst="ellipse">
                <a:avLst/>
              </a:prstGeom>
              <a:noFill/>
              <a:ln w="19050"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1</a:t>
                </a:r>
                <a:endParaRPr lang="en-US" altLang="zh-CN" sz="2400" b="1" baseline="-25000" dirty="0">
                  <a:latin typeface="+mn-ea"/>
                </a:endParaRPr>
              </a:p>
            </p:txBody>
          </p:sp>
          <p:sp>
            <p:nvSpPr>
              <p:cNvPr id="34" name="Rectangle 50"/>
              <p:cNvSpPr/>
              <p:nvPr>
                <p:custDataLst>
                  <p:tags r:id="rId5"/>
                </p:custDataLst>
              </p:nvPr>
            </p:nvSpPr>
            <p:spPr>
              <a:xfrm>
                <a:off x="2444" y="2955"/>
                <a:ext cx="231" cy="290"/>
              </a:xfrm>
              <a:prstGeom prst="rect">
                <a:avLst/>
              </a:prstGeom>
              <a:noFill/>
              <a:ln w="19050">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B</a:t>
                </a:r>
                <a:endParaRPr lang="zh-CN" altLang="en-US" sz="2400" b="1" dirty="0">
                  <a:solidFill>
                    <a:srgbClr val="030305"/>
                  </a:solidFill>
                  <a:latin typeface="+mn-ea"/>
                </a:endParaRPr>
              </a:p>
            </p:txBody>
          </p:sp>
          <p:sp>
            <p:nvSpPr>
              <p:cNvPr id="35" name="Rectangle 51"/>
              <p:cNvSpPr/>
              <p:nvPr>
                <p:custDataLst>
                  <p:tags r:id="rId6"/>
                </p:custDataLst>
              </p:nvPr>
            </p:nvSpPr>
            <p:spPr>
              <a:xfrm>
                <a:off x="3706" y="2445"/>
                <a:ext cx="1440" cy="290"/>
              </a:xfrm>
              <a:prstGeom prst="rect">
                <a:avLst/>
              </a:prstGeom>
              <a:noFill/>
              <a:ln w="19050">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NODE(B)= n</a:t>
                </a:r>
                <a:r>
                  <a:rPr lang="en-US" altLang="zh-CN" sz="2400" b="1" baseline="-25000" dirty="0">
                    <a:solidFill>
                      <a:srgbClr val="030305"/>
                    </a:solidFill>
                    <a:latin typeface="+mn-ea"/>
                  </a:rPr>
                  <a:t>1</a:t>
                </a:r>
                <a:endParaRPr lang="zh-CN" altLang="en-US" sz="2400" b="1" baseline="-25000" dirty="0">
                  <a:solidFill>
                    <a:srgbClr val="030305"/>
                  </a:solidFill>
                  <a:latin typeface="+mn-ea"/>
                </a:endParaRPr>
              </a:p>
            </p:txBody>
          </p:sp>
        </p:grpSp>
        <p:grpSp>
          <p:nvGrpSpPr>
            <p:cNvPr id="36" name="Group 52"/>
            <p:cNvGrpSpPr/>
            <p:nvPr/>
          </p:nvGrpSpPr>
          <p:grpSpPr>
            <a:xfrm>
              <a:off x="12109" y="6724"/>
              <a:ext cx="6075" cy="1100"/>
              <a:chOff x="2716" y="1911"/>
              <a:chExt cx="2430" cy="440"/>
            </a:xfrm>
          </p:grpSpPr>
          <p:sp>
            <p:nvSpPr>
              <p:cNvPr id="37" name="Oval 53"/>
              <p:cNvSpPr/>
              <p:nvPr>
                <p:custDataLst>
                  <p:tags r:id="rId7"/>
                </p:custDataLst>
              </p:nvPr>
            </p:nvSpPr>
            <p:spPr>
              <a:xfrm>
                <a:off x="2716" y="1911"/>
                <a:ext cx="408" cy="363"/>
              </a:xfrm>
              <a:prstGeom prst="ellipse">
                <a:avLst/>
              </a:prstGeom>
              <a:noFill/>
              <a:ln w="19050"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3</a:t>
                </a:r>
                <a:endParaRPr lang="en-US" altLang="zh-CN" sz="2400" b="1" baseline="-25000" dirty="0">
                  <a:latin typeface="+mn-ea"/>
                </a:endParaRPr>
              </a:p>
            </p:txBody>
          </p:sp>
          <p:sp>
            <p:nvSpPr>
              <p:cNvPr id="38" name="Rectangle 54"/>
              <p:cNvSpPr/>
              <p:nvPr>
                <p:custDataLst>
                  <p:tags r:id="rId8"/>
                </p:custDataLst>
              </p:nvPr>
            </p:nvSpPr>
            <p:spPr>
              <a:xfrm>
                <a:off x="3215" y="1957"/>
                <a:ext cx="244" cy="290"/>
              </a:xfrm>
              <a:prstGeom prst="rect">
                <a:avLst/>
              </a:prstGeom>
              <a:noFill/>
              <a:ln w="19050">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A</a:t>
                </a:r>
                <a:endParaRPr lang="zh-CN" altLang="en-US" sz="2400" b="1" dirty="0">
                  <a:solidFill>
                    <a:srgbClr val="030305"/>
                  </a:solidFill>
                  <a:latin typeface="+mn-ea"/>
                </a:endParaRPr>
              </a:p>
            </p:txBody>
          </p:sp>
          <p:sp>
            <p:nvSpPr>
              <p:cNvPr id="39" name="Rectangle 55"/>
              <p:cNvSpPr/>
              <p:nvPr>
                <p:custDataLst>
                  <p:tags r:id="rId9"/>
                </p:custDataLst>
              </p:nvPr>
            </p:nvSpPr>
            <p:spPr>
              <a:xfrm>
                <a:off x="3706" y="2061"/>
                <a:ext cx="1440" cy="290"/>
              </a:xfrm>
              <a:prstGeom prst="rect">
                <a:avLst/>
              </a:prstGeom>
              <a:noFill/>
              <a:ln w="19050">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NODE(A)= n</a:t>
                </a:r>
                <a:r>
                  <a:rPr lang="en-US" altLang="zh-CN" sz="2400" b="1" baseline="-25000" dirty="0">
                    <a:solidFill>
                      <a:srgbClr val="030305"/>
                    </a:solidFill>
                    <a:latin typeface="+mn-ea"/>
                  </a:rPr>
                  <a:t>3</a:t>
                </a:r>
                <a:endParaRPr lang="zh-CN" altLang="en-US" sz="2400" b="1" baseline="-25000" dirty="0">
                  <a:solidFill>
                    <a:srgbClr val="030305"/>
                  </a:solidFill>
                  <a:latin typeface="+mn-ea"/>
                </a:endParaRPr>
              </a:p>
            </p:txBody>
          </p:sp>
        </p:grpSp>
        <p:grpSp>
          <p:nvGrpSpPr>
            <p:cNvPr id="40" name="Group 56"/>
            <p:cNvGrpSpPr/>
            <p:nvPr/>
          </p:nvGrpSpPr>
          <p:grpSpPr>
            <a:xfrm>
              <a:off x="13244" y="8539"/>
              <a:ext cx="4940" cy="1520"/>
              <a:chOff x="3170" y="2637"/>
              <a:chExt cx="1976" cy="608"/>
            </a:xfrm>
          </p:grpSpPr>
          <p:sp>
            <p:nvSpPr>
              <p:cNvPr id="41" name="Oval 57"/>
              <p:cNvSpPr/>
              <p:nvPr>
                <p:custDataLst>
                  <p:tags r:id="rId10"/>
                </p:custDataLst>
              </p:nvPr>
            </p:nvSpPr>
            <p:spPr>
              <a:xfrm>
                <a:off x="3170" y="2637"/>
                <a:ext cx="408" cy="363"/>
              </a:xfrm>
              <a:prstGeom prst="ellipse">
                <a:avLst/>
              </a:prstGeom>
              <a:noFill/>
              <a:ln w="19050"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2</a:t>
                </a:r>
                <a:endParaRPr lang="en-US" altLang="zh-CN" sz="2400" b="1" baseline="-25000" dirty="0">
                  <a:latin typeface="+mn-ea"/>
                </a:endParaRPr>
              </a:p>
            </p:txBody>
          </p:sp>
          <p:sp>
            <p:nvSpPr>
              <p:cNvPr id="42" name="Rectangle 58"/>
              <p:cNvSpPr/>
              <p:nvPr>
                <p:custDataLst>
                  <p:tags r:id="rId11"/>
                </p:custDataLst>
              </p:nvPr>
            </p:nvSpPr>
            <p:spPr>
              <a:xfrm>
                <a:off x="3260" y="2955"/>
                <a:ext cx="234" cy="290"/>
              </a:xfrm>
              <a:prstGeom prst="rect">
                <a:avLst/>
              </a:prstGeom>
              <a:noFill/>
              <a:ln w="19050">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C</a:t>
                </a:r>
                <a:endParaRPr lang="en-US" altLang="zh-CN" sz="2400" b="1" dirty="0">
                  <a:solidFill>
                    <a:srgbClr val="030305"/>
                  </a:solidFill>
                  <a:latin typeface="+mn-ea"/>
                </a:endParaRPr>
              </a:p>
            </p:txBody>
          </p:sp>
          <p:sp>
            <p:nvSpPr>
              <p:cNvPr id="43" name="Rectangle 59"/>
              <p:cNvSpPr/>
              <p:nvPr>
                <p:custDataLst>
                  <p:tags r:id="rId12"/>
                </p:custDataLst>
              </p:nvPr>
            </p:nvSpPr>
            <p:spPr>
              <a:xfrm>
                <a:off x="3706" y="2829"/>
                <a:ext cx="1440" cy="290"/>
              </a:xfrm>
              <a:prstGeom prst="rect">
                <a:avLst/>
              </a:prstGeom>
              <a:noFill/>
              <a:ln w="19050">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NODE(C)= n</a:t>
                </a:r>
                <a:r>
                  <a:rPr lang="en-US" altLang="zh-CN" sz="2400" b="1" baseline="-25000" dirty="0">
                    <a:solidFill>
                      <a:srgbClr val="030305"/>
                    </a:solidFill>
                    <a:latin typeface="+mn-ea"/>
                  </a:rPr>
                  <a:t>2</a:t>
                </a:r>
                <a:endParaRPr lang="zh-CN" altLang="en-US" sz="2400" b="1" baseline="-25000" dirty="0">
                  <a:solidFill>
                    <a:srgbClr val="030305"/>
                  </a:solidFill>
                  <a:latin typeface="+mn-ea"/>
                </a:endParaRPr>
              </a:p>
            </p:txBody>
          </p:sp>
        </p:grpSp>
      </p:grpSp>
      <p:grpSp>
        <p:nvGrpSpPr>
          <p:cNvPr id="2" name="组合 1"/>
          <p:cNvGrpSpPr/>
          <p:nvPr/>
        </p:nvGrpSpPr>
        <p:grpSpPr>
          <a:xfrm>
            <a:off x="7687945" y="2469515"/>
            <a:ext cx="3477260" cy="1828165"/>
            <a:chOff x="12107" y="3889"/>
            <a:chExt cx="5476" cy="2879"/>
          </a:xfrm>
        </p:grpSpPr>
        <p:grpSp>
          <p:nvGrpSpPr>
            <p:cNvPr id="17" name="Group 33"/>
            <p:cNvGrpSpPr/>
            <p:nvPr/>
          </p:nvGrpSpPr>
          <p:grpSpPr>
            <a:xfrm>
              <a:off x="12629" y="4649"/>
              <a:ext cx="865" cy="725"/>
              <a:chOff x="2924" y="1081"/>
              <a:chExt cx="346" cy="290"/>
            </a:xfrm>
          </p:grpSpPr>
          <p:sp>
            <p:nvSpPr>
              <p:cNvPr id="18" name="Rectangle 34"/>
              <p:cNvSpPr/>
              <p:nvPr>
                <p:custDataLst>
                  <p:tags r:id="rId13"/>
                </p:custDataLst>
              </p:nvPr>
            </p:nvSpPr>
            <p:spPr>
              <a:xfrm>
                <a:off x="2924" y="1081"/>
                <a:ext cx="346"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op</a:t>
                </a:r>
                <a:endParaRPr lang="zh-CN" altLang="en-US" sz="2400" b="1" dirty="0">
                  <a:solidFill>
                    <a:srgbClr val="030305"/>
                  </a:solidFill>
                  <a:latin typeface="+mn-ea"/>
                </a:endParaRPr>
              </a:p>
            </p:txBody>
          </p:sp>
          <p:sp>
            <p:nvSpPr>
              <p:cNvPr id="19" name="Line 35"/>
              <p:cNvSpPr/>
              <p:nvPr>
                <p:custDataLst>
                  <p:tags r:id="rId14"/>
                </p:custDataLst>
              </p:nvPr>
            </p:nvSpPr>
            <p:spPr>
              <a:xfrm>
                <a:off x="2924" y="1140"/>
                <a:ext cx="0" cy="182"/>
              </a:xfrm>
              <a:prstGeom prst="line">
                <a:avLst/>
              </a:prstGeom>
              <a:ln w="9525" cap="flat" cmpd="sng">
                <a:solidFill>
                  <a:schemeClr val="tx1"/>
                </a:solidFill>
                <a:prstDash val="solid"/>
                <a:miter/>
                <a:headEnd type="none" w="med" len="med"/>
                <a:tailEnd type="none" w="med" len="med"/>
              </a:ln>
            </p:spPr>
          </p:sp>
        </p:grpSp>
        <p:grpSp>
          <p:nvGrpSpPr>
            <p:cNvPr id="24" name="Group 40"/>
            <p:cNvGrpSpPr/>
            <p:nvPr/>
          </p:nvGrpSpPr>
          <p:grpSpPr>
            <a:xfrm>
              <a:off x="12107" y="5251"/>
              <a:ext cx="5477" cy="908"/>
              <a:chOff x="2715" y="1322"/>
              <a:chExt cx="2191" cy="363"/>
            </a:xfrm>
          </p:grpSpPr>
          <p:sp>
            <p:nvSpPr>
              <p:cNvPr id="25" name="Oval 41"/>
              <p:cNvSpPr/>
              <p:nvPr>
                <p:custDataLst>
                  <p:tags r:id="rId15"/>
                </p:custDataLst>
              </p:nvPr>
            </p:nvSpPr>
            <p:spPr>
              <a:xfrm>
                <a:off x="2715" y="1322"/>
                <a:ext cx="408" cy="363"/>
              </a:xfrm>
              <a:prstGeom prst="ellipse">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1</a:t>
                </a:r>
                <a:endParaRPr lang="en-US" altLang="zh-CN" sz="2400" b="1" baseline="-25000" dirty="0">
                  <a:latin typeface="+mn-ea"/>
                </a:endParaRPr>
              </a:p>
            </p:txBody>
          </p:sp>
          <p:sp>
            <p:nvSpPr>
              <p:cNvPr id="26" name="Rectangle 42"/>
              <p:cNvSpPr/>
              <p:nvPr>
                <p:custDataLst>
                  <p:tags r:id="rId16"/>
                </p:custDataLst>
              </p:nvPr>
            </p:nvSpPr>
            <p:spPr>
              <a:xfrm>
                <a:off x="3151" y="1367"/>
                <a:ext cx="195" cy="290"/>
              </a:xfrm>
              <a:prstGeom prst="rect">
                <a:avLst/>
              </a:prstGeom>
              <a:solidFill>
                <a:schemeClr val="bg1"/>
              </a:solidFill>
              <a:ln w="19050">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2400" b="1" dirty="0">
                  <a:solidFill>
                    <a:srgbClr val="030305"/>
                  </a:solidFill>
                  <a:latin typeface="+mn-ea"/>
                </a:endParaRPr>
              </a:p>
            </p:txBody>
          </p:sp>
          <p:sp>
            <p:nvSpPr>
              <p:cNvPr id="27" name="Rectangle 43"/>
              <p:cNvSpPr/>
              <p:nvPr>
                <p:custDataLst>
                  <p:tags r:id="rId17"/>
                </p:custDataLst>
              </p:nvPr>
            </p:nvSpPr>
            <p:spPr>
              <a:xfrm>
                <a:off x="3466" y="1389"/>
                <a:ext cx="1440" cy="290"/>
              </a:xfrm>
              <a:prstGeom prst="rect">
                <a:avLst/>
              </a:prstGeom>
              <a:solidFill>
                <a:schemeClr val="bg1"/>
              </a:solidFill>
              <a:ln w="19050">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NODE(B)= n</a:t>
                </a:r>
                <a:r>
                  <a:rPr lang="en-US" altLang="zh-CN" sz="2400" b="1" baseline="-25000" dirty="0">
                    <a:solidFill>
                      <a:srgbClr val="030305"/>
                    </a:solidFill>
                    <a:latin typeface="+mn-ea"/>
                  </a:rPr>
                  <a:t>1</a:t>
                </a:r>
                <a:endParaRPr lang="zh-CN" altLang="en-US" sz="2400" b="1" baseline="-25000" dirty="0">
                  <a:solidFill>
                    <a:srgbClr val="030305"/>
                  </a:solidFill>
                  <a:latin typeface="+mn-ea"/>
                </a:endParaRPr>
              </a:p>
            </p:txBody>
          </p:sp>
        </p:grpSp>
        <p:grpSp>
          <p:nvGrpSpPr>
            <p:cNvPr id="28" name="Group 44"/>
            <p:cNvGrpSpPr/>
            <p:nvPr/>
          </p:nvGrpSpPr>
          <p:grpSpPr>
            <a:xfrm>
              <a:off x="12109" y="3889"/>
              <a:ext cx="5475" cy="935"/>
              <a:chOff x="2716" y="777"/>
              <a:chExt cx="2190" cy="374"/>
            </a:xfrm>
          </p:grpSpPr>
          <p:sp>
            <p:nvSpPr>
              <p:cNvPr id="29" name="Oval 45"/>
              <p:cNvSpPr/>
              <p:nvPr>
                <p:custDataLst>
                  <p:tags r:id="rId18"/>
                </p:custDataLst>
              </p:nvPr>
            </p:nvSpPr>
            <p:spPr>
              <a:xfrm>
                <a:off x="2716" y="777"/>
                <a:ext cx="408" cy="363"/>
              </a:xfrm>
              <a:prstGeom prst="ellipse">
                <a:avLst/>
              </a:prstGeom>
              <a:noFill/>
              <a:ln w="19050"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2</a:t>
                </a:r>
                <a:endParaRPr lang="en-US" altLang="zh-CN" sz="2400" b="1" baseline="-25000" dirty="0">
                  <a:latin typeface="+mn-ea"/>
                </a:endParaRPr>
              </a:p>
            </p:txBody>
          </p:sp>
          <p:sp>
            <p:nvSpPr>
              <p:cNvPr id="30" name="Rectangle 46"/>
              <p:cNvSpPr/>
              <p:nvPr>
                <p:custDataLst>
                  <p:tags r:id="rId19"/>
                </p:custDataLst>
              </p:nvPr>
            </p:nvSpPr>
            <p:spPr>
              <a:xfrm>
                <a:off x="3151" y="822"/>
                <a:ext cx="244" cy="290"/>
              </a:xfrm>
              <a:prstGeom prst="rect">
                <a:avLst/>
              </a:prstGeom>
              <a:noFill/>
              <a:ln w="19050">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A</a:t>
                </a:r>
                <a:endParaRPr lang="zh-CN" altLang="en-US" sz="2400" b="1" dirty="0">
                  <a:solidFill>
                    <a:srgbClr val="030305"/>
                  </a:solidFill>
                  <a:latin typeface="+mn-ea"/>
                </a:endParaRPr>
              </a:p>
            </p:txBody>
          </p:sp>
          <p:sp>
            <p:nvSpPr>
              <p:cNvPr id="31" name="Rectangle 47"/>
              <p:cNvSpPr/>
              <p:nvPr>
                <p:custDataLst>
                  <p:tags r:id="rId20"/>
                </p:custDataLst>
              </p:nvPr>
            </p:nvSpPr>
            <p:spPr>
              <a:xfrm>
                <a:off x="3466" y="861"/>
                <a:ext cx="1440" cy="290"/>
              </a:xfrm>
              <a:prstGeom prst="rect">
                <a:avLst/>
              </a:prstGeom>
              <a:noFill/>
              <a:ln w="19050">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NODE(A)= n</a:t>
                </a:r>
                <a:r>
                  <a:rPr lang="en-US" altLang="zh-CN" sz="2400" b="1" baseline="-25000" dirty="0">
                    <a:solidFill>
                      <a:srgbClr val="030305"/>
                    </a:solidFill>
                    <a:latin typeface="+mn-ea"/>
                  </a:rPr>
                  <a:t>2</a:t>
                </a:r>
                <a:endParaRPr lang="zh-CN" altLang="en-US" sz="2400" b="1" baseline="-25000" dirty="0">
                  <a:solidFill>
                    <a:srgbClr val="030305"/>
                  </a:solidFill>
                  <a:latin typeface="+mn-ea"/>
                </a:endParaRPr>
              </a:p>
            </p:txBody>
          </p:sp>
        </p:grpSp>
        <p:sp>
          <p:nvSpPr>
            <p:cNvPr id="44" name="Rectangle 33"/>
            <p:cNvSpPr/>
            <p:nvPr>
              <p:custDataLst>
                <p:tags r:id="rId21"/>
              </p:custDataLst>
            </p:nvPr>
          </p:nvSpPr>
          <p:spPr>
            <a:xfrm>
              <a:off x="12337" y="6044"/>
              <a:ext cx="578" cy="72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B</a:t>
              </a:r>
              <a:endParaRPr lang="zh-CN" altLang="en-US" sz="2400" b="1" dirty="0">
                <a:solidFill>
                  <a:srgbClr val="030305"/>
                </a:solidFill>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22580" y="276860"/>
            <a:ext cx="6454775" cy="593090"/>
          </a:xfrm>
        </p:spPr>
        <p:txBody>
          <a:bodyPr/>
          <a:lstStyle/>
          <a:p>
            <a:r>
              <a:rPr lang="en-US" altLang="zh-CN" dirty="0"/>
              <a:t>8.1.4 </a:t>
            </a:r>
            <a:r>
              <a:rPr lang="zh-CN" altLang="en-US" dirty="0"/>
              <a:t>基本块优化的实现</a:t>
            </a:r>
            <a:endParaRPr lang="zh-CN" altLang="en-US" dirty="0"/>
          </a:p>
        </p:txBody>
      </p:sp>
      <p:sp>
        <p:nvSpPr>
          <p:cNvPr id="45" name="Rectangle 3"/>
          <p:cNvSpPr txBox="1"/>
          <p:nvPr/>
        </p:nvSpPr>
        <p:spPr>
          <a:xfrm>
            <a:off x="321945" y="1158875"/>
            <a:ext cx="11490325" cy="431927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b="1" dirty="0">
                <a:solidFill>
                  <a:srgbClr val="0070C0"/>
                </a:solidFill>
                <a:latin typeface="+mn-ea"/>
              </a:rPr>
              <a:t>由基本块构造</a:t>
            </a:r>
            <a:r>
              <a:rPr lang="en-US" altLang="zh-CN" b="1" dirty="0">
                <a:solidFill>
                  <a:srgbClr val="0070C0"/>
                </a:solidFill>
                <a:latin typeface="+mn-ea"/>
              </a:rPr>
              <a:t>DAG</a:t>
            </a:r>
            <a:r>
              <a:rPr lang="zh-CN" altLang="en-US" b="1" dirty="0">
                <a:solidFill>
                  <a:srgbClr val="0070C0"/>
                </a:solidFill>
                <a:latin typeface="+mn-ea"/>
              </a:rPr>
              <a:t>算法的描述：</a:t>
            </a:r>
            <a:endParaRPr lang="zh-CN" altLang="en-US" b="1" dirty="0">
              <a:solidFill>
                <a:srgbClr val="0070C0"/>
              </a:solidFill>
              <a:latin typeface="+mn-ea"/>
            </a:endParaRPr>
          </a:p>
          <a:p>
            <a:pPr>
              <a:lnSpc>
                <a:spcPct val="120000"/>
              </a:lnSpc>
              <a:buFont typeface="Wingdings" panose="05000000000000000000" charset="0"/>
              <a:buChar char="p"/>
            </a:pPr>
            <a:r>
              <a:rPr lang="zh-CN" altLang="en-US" sz="2400" b="1" dirty="0">
                <a:solidFill>
                  <a:srgbClr val="030305"/>
                </a:solidFill>
                <a:latin typeface="+mn-ea"/>
              </a:rPr>
              <a:t>首先，</a:t>
            </a:r>
            <a:r>
              <a:rPr lang="en-US" altLang="zh-CN" sz="2400" b="1" dirty="0">
                <a:solidFill>
                  <a:srgbClr val="030305"/>
                </a:solidFill>
                <a:latin typeface="+mn-ea"/>
              </a:rPr>
              <a:t>DAG</a:t>
            </a:r>
            <a:r>
              <a:rPr lang="zh-CN" altLang="en-US" sz="2400" b="1" dirty="0">
                <a:solidFill>
                  <a:srgbClr val="030305"/>
                </a:solidFill>
                <a:latin typeface="+mn-ea"/>
              </a:rPr>
              <a:t>为空。对基本块的每一三地址</a:t>
            </a:r>
            <a:r>
              <a:rPr lang="zh-CN" altLang="en-US" sz="2400" b="1" dirty="0">
                <a:solidFill>
                  <a:srgbClr val="030305"/>
                </a:solidFill>
                <a:latin typeface="+mn-ea"/>
              </a:rPr>
              <a:t>码，依次执行以下步骤：</a:t>
            </a:r>
            <a:endParaRPr lang="zh-CN" altLang="en-US" sz="2400" b="1" dirty="0">
              <a:solidFill>
                <a:srgbClr val="030305"/>
              </a:solidFill>
              <a:latin typeface="+mn-ea"/>
            </a:endParaRPr>
          </a:p>
          <a:p>
            <a:pPr>
              <a:lnSpc>
                <a:spcPct val="120000"/>
              </a:lnSpc>
              <a:buFont typeface="Wingdings" panose="05000000000000000000" charset="0"/>
              <a:buChar char="p"/>
            </a:pPr>
            <a:r>
              <a:rPr lang="zh-CN" altLang="en-US" sz="2400" b="1" dirty="0">
                <a:solidFill>
                  <a:srgbClr val="0070C0"/>
                </a:solidFill>
                <a:latin typeface="+mn-ea"/>
              </a:rPr>
              <a:t>步骤</a:t>
            </a:r>
            <a:r>
              <a:rPr lang="en-US" altLang="zh-CN" sz="2400" b="1" dirty="0">
                <a:solidFill>
                  <a:srgbClr val="0070C0"/>
                </a:solidFill>
                <a:latin typeface="+mn-ea"/>
              </a:rPr>
              <a:t>1</a:t>
            </a:r>
            <a:r>
              <a:rPr lang="zh-CN" altLang="en-US" sz="2400" b="1" dirty="0">
                <a:solidFill>
                  <a:srgbClr val="0070C0"/>
                </a:solidFill>
                <a:latin typeface="+mn-ea"/>
              </a:rPr>
              <a:t>：</a:t>
            </a:r>
            <a:r>
              <a:rPr lang="zh-CN" altLang="en-US" sz="2400" b="1" dirty="0">
                <a:solidFill>
                  <a:srgbClr val="030305"/>
                </a:solidFill>
                <a:latin typeface="+mn-ea"/>
              </a:rPr>
              <a:t>对于任意(0)、(1)、(2)型三地址</a:t>
            </a:r>
            <a:r>
              <a:rPr lang="zh-CN" altLang="en-US" sz="2400" b="1" dirty="0">
                <a:solidFill>
                  <a:srgbClr val="030305"/>
                </a:solidFill>
                <a:latin typeface="+mn-ea"/>
              </a:rPr>
              <a:t>码，如果节点</a:t>
            </a:r>
            <a:r>
              <a:rPr lang="en-US" altLang="zh-CN" sz="2400" b="1" dirty="0">
                <a:solidFill>
                  <a:srgbClr val="030305"/>
                </a:solidFill>
                <a:latin typeface="+mn-ea"/>
              </a:rPr>
              <a:t>B</a:t>
            </a:r>
            <a:r>
              <a:rPr lang="zh-CN" altLang="en-US" sz="2400" b="1" dirty="0">
                <a:solidFill>
                  <a:srgbClr val="030305"/>
                </a:solidFill>
                <a:latin typeface="+mn-ea"/>
              </a:rPr>
              <a:t>在</a:t>
            </a:r>
            <a:r>
              <a:rPr lang="en-US" altLang="zh-CN" sz="2400" b="1" dirty="0">
                <a:solidFill>
                  <a:srgbClr val="030305"/>
                </a:solidFill>
                <a:latin typeface="+mn-ea"/>
              </a:rPr>
              <a:t>DAG</a:t>
            </a:r>
            <a:r>
              <a:rPr lang="zh-CN" altLang="en-US" sz="2400" b="1" dirty="0">
                <a:solidFill>
                  <a:srgbClr val="030305"/>
                </a:solidFill>
                <a:latin typeface="+mn-ea"/>
              </a:rPr>
              <a:t>中无定义，则构造一标记为</a:t>
            </a:r>
            <a:r>
              <a:rPr lang="en-US" altLang="zh-CN" sz="2400" b="1" dirty="0">
                <a:solidFill>
                  <a:srgbClr val="030305"/>
                </a:solidFill>
                <a:latin typeface="+mn-ea"/>
              </a:rPr>
              <a:t>B</a:t>
            </a:r>
            <a:r>
              <a:rPr lang="zh-CN" altLang="en-US" sz="2400" b="1" dirty="0">
                <a:solidFill>
                  <a:srgbClr val="030305"/>
                </a:solidFill>
                <a:latin typeface="+mn-ea"/>
              </a:rPr>
              <a:t>的叶节点，记</a:t>
            </a:r>
            <a:r>
              <a:rPr lang="en-US" altLang="zh-CN" sz="2400" b="1" dirty="0">
                <a:latin typeface="+mn-ea"/>
              </a:rPr>
              <a:t>node</a:t>
            </a:r>
            <a:r>
              <a:rPr lang="en-US" altLang="zh-CN" sz="2400" b="1" dirty="0">
                <a:solidFill>
                  <a:srgbClr val="030305"/>
                </a:solidFill>
                <a:latin typeface="+mn-ea"/>
              </a:rPr>
              <a:t> (B)</a:t>
            </a:r>
            <a:r>
              <a:rPr lang="zh-CN" altLang="en-US" sz="2400" b="1" dirty="0">
                <a:solidFill>
                  <a:srgbClr val="030305"/>
                </a:solidFill>
                <a:latin typeface="+mn-ea"/>
              </a:rPr>
              <a:t>=</a:t>
            </a:r>
            <a:r>
              <a:rPr lang="en-US" altLang="zh-CN" sz="2400" b="1" dirty="0">
                <a:solidFill>
                  <a:srgbClr val="030305"/>
                </a:solidFill>
                <a:latin typeface="+mn-ea"/>
              </a:rPr>
              <a:t>n</a:t>
            </a:r>
            <a:r>
              <a:rPr lang="zh-CN" altLang="en-US" sz="2400" b="1" dirty="0">
                <a:solidFill>
                  <a:srgbClr val="030305"/>
                </a:solidFill>
                <a:latin typeface="+mn-ea"/>
              </a:rPr>
              <a:t> 。</a:t>
            </a:r>
            <a:endParaRPr lang="zh-CN" altLang="en-US" sz="2400" b="1" dirty="0">
              <a:solidFill>
                <a:srgbClr val="030305"/>
              </a:solidFill>
              <a:latin typeface="+mn-ea"/>
            </a:endParaRPr>
          </a:p>
          <a:p>
            <a:pPr marL="967105" lvl="1" indent="-495935">
              <a:lnSpc>
                <a:spcPct val="120000"/>
              </a:lnSpc>
              <a:spcBef>
                <a:spcPct val="0"/>
              </a:spcBef>
              <a:buFont typeface="Wingdings" panose="05000000000000000000" pitchFamily="2" charset="2"/>
              <a:buAutoNum type="circleNumDbPlain"/>
            </a:pPr>
            <a:r>
              <a:rPr lang="zh-CN" altLang="en-US" b="1" dirty="0">
                <a:solidFill>
                  <a:srgbClr val="030305"/>
                </a:solidFill>
                <a:latin typeface="+mn-ea"/>
              </a:rPr>
              <a:t>如果当前的</a:t>
            </a:r>
            <a:r>
              <a:rPr lang="zh-CN" altLang="en-US" b="1" dirty="0">
                <a:solidFill>
                  <a:srgbClr val="030305"/>
                </a:solidFill>
                <a:latin typeface="+mn-ea"/>
                <a:sym typeface="+mn-ea"/>
              </a:rPr>
              <a:t>三地址码</a:t>
            </a:r>
            <a:r>
              <a:rPr lang="zh-CN" altLang="en-US" b="1" dirty="0">
                <a:solidFill>
                  <a:srgbClr val="030305"/>
                </a:solidFill>
                <a:latin typeface="+mn-ea"/>
              </a:rPr>
              <a:t>为</a:t>
            </a:r>
            <a:r>
              <a:rPr lang="en-US" altLang="zh-CN" b="1" dirty="0">
                <a:solidFill>
                  <a:srgbClr val="030305"/>
                </a:solidFill>
                <a:latin typeface="+mn-ea"/>
              </a:rPr>
              <a:t>(</a:t>
            </a:r>
            <a:r>
              <a:rPr lang="en-US" altLang="zh-CN" b="1" dirty="0">
                <a:solidFill>
                  <a:srgbClr val="030305"/>
                </a:solidFill>
                <a:latin typeface="+mn-ea"/>
                <a:hlinkClick r:id="rId1" action="ppaction://hlinksldjump"/>
              </a:rPr>
              <a:t>0</a:t>
            </a:r>
            <a:r>
              <a:rPr lang="en-US" altLang="zh-CN" b="1" dirty="0">
                <a:solidFill>
                  <a:srgbClr val="030305"/>
                </a:solidFill>
                <a:latin typeface="+mn-ea"/>
              </a:rPr>
              <a:t>)</a:t>
            </a:r>
            <a:r>
              <a:rPr lang="zh-CN" altLang="en-US" b="1" dirty="0">
                <a:solidFill>
                  <a:srgbClr val="030305"/>
                </a:solidFill>
                <a:latin typeface="+mn-ea"/>
              </a:rPr>
              <a:t>型，则转</a:t>
            </a:r>
            <a:r>
              <a:rPr lang="zh-CN" altLang="en-US" b="1" dirty="0">
                <a:solidFill>
                  <a:srgbClr val="030305"/>
                </a:solidFill>
                <a:latin typeface="+mn-ea"/>
                <a:hlinkClick r:id="rId2" action="ppaction://hlinksldjump"/>
              </a:rPr>
              <a:t>步骤</a:t>
            </a:r>
            <a:r>
              <a:rPr lang="en-US" altLang="zh-CN" b="1" dirty="0">
                <a:solidFill>
                  <a:srgbClr val="030305"/>
                </a:solidFill>
                <a:latin typeface="+mn-ea"/>
                <a:hlinkClick r:id="rId2" action="ppaction://hlinksldjump"/>
              </a:rPr>
              <a:t>4</a:t>
            </a:r>
            <a:r>
              <a:rPr lang="zh-CN" altLang="en-US" b="1" dirty="0">
                <a:solidFill>
                  <a:srgbClr val="030305"/>
                </a:solidFill>
                <a:latin typeface="+mn-ea"/>
              </a:rPr>
              <a:t>。</a:t>
            </a:r>
            <a:endParaRPr lang="zh-CN" altLang="en-US" b="1" dirty="0">
              <a:solidFill>
                <a:srgbClr val="030305"/>
              </a:solidFill>
              <a:latin typeface="+mn-ea"/>
            </a:endParaRPr>
          </a:p>
          <a:p>
            <a:pPr marL="967105" lvl="1" indent="-495935">
              <a:lnSpc>
                <a:spcPct val="120000"/>
              </a:lnSpc>
              <a:spcBef>
                <a:spcPct val="0"/>
              </a:spcBef>
              <a:buFont typeface="Wingdings" panose="05000000000000000000" pitchFamily="2" charset="2"/>
              <a:buAutoNum type="circleNumDbPlain"/>
            </a:pPr>
            <a:r>
              <a:rPr lang="zh-CN" altLang="en-US" b="1" dirty="0">
                <a:solidFill>
                  <a:srgbClr val="030305"/>
                </a:solidFill>
                <a:latin typeface="+mn-ea"/>
              </a:rPr>
              <a:t>如果当前的</a:t>
            </a:r>
            <a:r>
              <a:rPr lang="zh-CN" altLang="en-US" b="1" dirty="0">
                <a:solidFill>
                  <a:srgbClr val="030305"/>
                </a:solidFill>
                <a:latin typeface="+mn-ea"/>
                <a:sym typeface="+mn-ea"/>
              </a:rPr>
              <a:t>三地址码</a:t>
            </a:r>
            <a:r>
              <a:rPr lang="zh-CN" altLang="en-US" b="1" dirty="0">
                <a:solidFill>
                  <a:srgbClr val="030305"/>
                </a:solidFill>
                <a:latin typeface="+mn-ea"/>
              </a:rPr>
              <a:t>为</a:t>
            </a:r>
            <a:r>
              <a:rPr lang="en-US" altLang="zh-CN" b="1" dirty="0">
                <a:solidFill>
                  <a:srgbClr val="030305"/>
                </a:solidFill>
                <a:latin typeface="+mn-ea"/>
              </a:rPr>
              <a:t>(</a:t>
            </a:r>
            <a:r>
              <a:rPr lang="en-US" altLang="zh-CN" b="1" dirty="0">
                <a:solidFill>
                  <a:srgbClr val="030305"/>
                </a:solidFill>
                <a:latin typeface="+mn-ea"/>
                <a:hlinkClick r:id="rId2" action="ppaction://hlinksldjump"/>
              </a:rPr>
              <a:t>1</a:t>
            </a:r>
            <a:r>
              <a:rPr lang="en-US" altLang="zh-CN" b="1" dirty="0">
                <a:solidFill>
                  <a:srgbClr val="030305"/>
                </a:solidFill>
                <a:latin typeface="+mn-ea"/>
              </a:rPr>
              <a:t>)</a:t>
            </a:r>
            <a:r>
              <a:rPr lang="zh-CN" altLang="en-US" b="1" dirty="0">
                <a:solidFill>
                  <a:srgbClr val="030305"/>
                </a:solidFill>
                <a:latin typeface="+mn-ea"/>
              </a:rPr>
              <a:t>型，则转</a:t>
            </a:r>
            <a:r>
              <a:rPr lang="zh-CN" altLang="en-US" b="1" dirty="0">
                <a:solidFill>
                  <a:srgbClr val="030305"/>
                </a:solidFill>
                <a:latin typeface="+mn-ea"/>
                <a:hlinkClick r:id="rId2" action="ppaction://hlinksldjump"/>
              </a:rPr>
              <a:t>步骤</a:t>
            </a:r>
            <a:r>
              <a:rPr lang="en-US" altLang="zh-CN" b="1" dirty="0">
                <a:solidFill>
                  <a:srgbClr val="030305"/>
                </a:solidFill>
                <a:latin typeface="+mn-ea"/>
                <a:hlinkClick r:id="rId2" action="ppaction://hlinksldjump"/>
              </a:rPr>
              <a:t>2</a:t>
            </a:r>
            <a:r>
              <a:rPr lang="zh-CN" altLang="en-US" b="1" dirty="0">
                <a:solidFill>
                  <a:srgbClr val="030305"/>
                </a:solidFill>
                <a:latin typeface="+mn-ea"/>
                <a:hlinkClick r:id="rId2" action="ppaction://hlinksldjump"/>
              </a:rPr>
              <a:t>的</a:t>
            </a:r>
            <a:r>
              <a:rPr lang="en-US" altLang="zh-CN" b="1" dirty="0">
                <a:solidFill>
                  <a:srgbClr val="030305"/>
                </a:solidFill>
                <a:latin typeface="+mn-ea"/>
                <a:hlinkClick r:id="rId2" action="ppaction://hlinksldjump"/>
              </a:rPr>
              <a:t>①</a:t>
            </a:r>
            <a:r>
              <a:rPr lang="en-US" altLang="zh-CN" b="1" dirty="0">
                <a:latin typeface="+mn-ea"/>
                <a:hlinkClick r:id="rId2" action="ppaction://hlinksldjump"/>
              </a:rPr>
              <a:t> </a:t>
            </a:r>
            <a:r>
              <a:rPr lang="zh-CN" altLang="en-US" b="1" dirty="0">
                <a:solidFill>
                  <a:srgbClr val="030305"/>
                </a:solidFill>
                <a:latin typeface="+mn-ea"/>
              </a:rPr>
              <a:t>。</a:t>
            </a:r>
            <a:endParaRPr lang="zh-CN" altLang="en-US" b="1" dirty="0">
              <a:solidFill>
                <a:srgbClr val="030305"/>
              </a:solidFill>
              <a:latin typeface="+mn-ea"/>
            </a:endParaRPr>
          </a:p>
          <a:p>
            <a:pPr marL="967105" lvl="1" indent="-495935">
              <a:lnSpc>
                <a:spcPct val="120000"/>
              </a:lnSpc>
              <a:spcBef>
                <a:spcPct val="0"/>
              </a:spcBef>
              <a:buFont typeface="Wingdings" panose="05000000000000000000" pitchFamily="2" charset="2"/>
              <a:buAutoNum type="circleNumDbPlain"/>
            </a:pPr>
            <a:r>
              <a:rPr lang="zh-CN" altLang="en-US" b="1" dirty="0">
                <a:solidFill>
                  <a:srgbClr val="030305"/>
                </a:solidFill>
                <a:latin typeface="+mn-ea"/>
              </a:rPr>
              <a:t>如果当前的</a:t>
            </a:r>
            <a:r>
              <a:rPr lang="zh-CN" altLang="en-US" b="1" dirty="0">
                <a:solidFill>
                  <a:srgbClr val="030305"/>
                </a:solidFill>
                <a:latin typeface="+mn-ea"/>
                <a:sym typeface="+mn-ea"/>
              </a:rPr>
              <a:t>三地址码</a:t>
            </a:r>
            <a:r>
              <a:rPr lang="zh-CN" altLang="en-US" b="1" dirty="0">
                <a:solidFill>
                  <a:srgbClr val="030305"/>
                </a:solidFill>
                <a:latin typeface="+mn-ea"/>
              </a:rPr>
              <a:t>为</a:t>
            </a:r>
            <a:r>
              <a:rPr lang="en-US" altLang="zh-CN" b="1" dirty="0">
                <a:solidFill>
                  <a:srgbClr val="030305"/>
                </a:solidFill>
                <a:latin typeface="+mn-ea"/>
              </a:rPr>
              <a:t>(</a:t>
            </a:r>
            <a:r>
              <a:rPr lang="en-US" altLang="zh-CN" b="1" dirty="0">
                <a:solidFill>
                  <a:srgbClr val="030305"/>
                </a:solidFill>
                <a:latin typeface="+mn-ea"/>
                <a:hlinkClick r:id="rId2" action="ppaction://hlinksldjump"/>
              </a:rPr>
              <a:t>2</a:t>
            </a:r>
            <a:r>
              <a:rPr lang="en-US" altLang="zh-CN" b="1" dirty="0">
                <a:solidFill>
                  <a:srgbClr val="030305"/>
                </a:solidFill>
                <a:latin typeface="+mn-ea"/>
              </a:rPr>
              <a:t>)</a:t>
            </a:r>
            <a:r>
              <a:rPr lang="zh-CN" altLang="en-US" b="1" dirty="0">
                <a:solidFill>
                  <a:srgbClr val="030305"/>
                </a:solidFill>
                <a:latin typeface="+mn-ea"/>
              </a:rPr>
              <a:t>型，如果</a:t>
            </a:r>
            <a:r>
              <a:rPr lang="en-US" altLang="zh-CN" b="1" dirty="0">
                <a:latin typeface="+mn-ea"/>
              </a:rPr>
              <a:t>node</a:t>
            </a:r>
            <a:r>
              <a:rPr lang="en-US" altLang="zh-CN" b="1" dirty="0">
                <a:solidFill>
                  <a:srgbClr val="030305"/>
                </a:solidFill>
                <a:latin typeface="+mn-ea"/>
              </a:rPr>
              <a:t> (C)</a:t>
            </a:r>
            <a:r>
              <a:rPr lang="zh-CN" altLang="en-US" b="1" dirty="0">
                <a:solidFill>
                  <a:srgbClr val="030305"/>
                </a:solidFill>
                <a:latin typeface="+mn-ea"/>
              </a:rPr>
              <a:t>无定义，则构造一个标记为</a:t>
            </a:r>
            <a:r>
              <a:rPr lang="en-US" altLang="zh-CN" b="1" dirty="0">
                <a:solidFill>
                  <a:srgbClr val="030305"/>
                </a:solidFill>
                <a:latin typeface="+mn-ea"/>
              </a:rPr>
              <a:t>C</a:t>
            </a:r>
            <a:r>
              <a:rPr lang="zh-CN" altLang="en-US" b="1" dirty="0">
                <a:solidFill>
                  <a:srgbClr val="030305"/>
                </a:solidFill>
                <a:latin typeface="+mn-ea"/>
              </a:rPr>
              <a:t>的叶节点</a:t>
            </a:r>
            <a:r>
              <a:rPr lang="en-US" altLang="zh-CN" b="1" dirty="0">
                <a:latin typeface="+mn-ea"/>
              </a:rPr>
              <a:t>node</a:t>
            </a:r>
            <a:r>
              <a:rPr lang="en-US" altLang="zh-CN" b="1" dirty="0">
                <a:solidFill>
                  <a:srgbClr val="030305"/>
                </a:solidFill>
                <a:latin typeface="+mn-ea"/>
              </a:rPr>
              <a:t> (C)</a:t>
            </a:r>
            <a:r>
              <a:rPr lang="zh-CN" altLang="en-US" b="1" dirty="0">
                <a:solidFill>
                  <a:srgbClr val="030305"/>
                </a:solidFill>
                <a:latin typeface="+mn-ea"/>
              </a:rPr>
              <a:t>, 转</a:t>
            </a:r>
            <a:r>
              <a:rPr lang="zh-CN" altLang="en-US" b="1" dirty="0">
                <a:solidFill>
                  <a:srgbClr val="030305"/>
                </a:solidFill>
                <a:latin typeface="+mn-ea"/>
                <a:hlinkClick r:id="rId3" action="ppaction://hlinksldjump"/>
              </a:rPr>
              <a:t>步骤</a:t>
            </a:r>
            <a:r>
              <a:rPr lang="en-US" altLang="zh-CN" b="1" dirty="0">
                <a:solidFill>
                  <a:srgbClr val="030305"/>
                </a:solidFill>
                <a:latin typeface="+mn-ea"/>
                <a:hlinkClick r:id="rId3" action="ppaction://hlinksldjump"/>
              </a:rPr>
              <a:t>2</a:t>
            </a:r>
            <a:r>
              <a:rPr lang="zh-CN" altLang="en-US" b="1" dirty="0">
                <a:solidFill>
                  <a:srgbClr val="030305"/>
                </a:solidFill>
                <a:latin typeface="+mn-ea"/>
                <a:hlinkClick r:id="rId3" action="ppaction://hlinksldjump"/>
              </a:rPr>
              <a:t>的</a:t>
            </a:r>
            <a:r>
              <a:rPr lang="en-US" altLang="zh-CN" b="1" dirty="0">
                <a:solidFill>
                  <a:srgbClr val="030305"/>
                </a:solidFill>
                <a:latin typeface="+mn-ea"/>
                <a:hlinkClick r:id="rId3" action="ppaction://hlinksldjump"/>
              </a:rPr>
              <a:t>③</a:t>
            </a:r>
            <a:r>
              <a:rPr lang="zh-CN" altLang="en-US" b="1" dirty="0">
                <a:solidFill>
                  <a:srgbClr val="030305"/>
                </a:solidFill>
                <a:latin typeface="+mn-ea"/>
                <a:hlinkClick r:id="rId3" action="ppaction://hlinksldjump"/>
              </a:rPr>
              <a:t> </a:t>
            </a:r>
            <a:r>
              <a:rPr lang="zh-CN" altLang="en-US" b="1" dirty="0">
                <a:solidFill>
                  <a:srgbClr val="030305"/>
                </a:solidFill>
                <a:latin typeface="+mn-ea"/>
              </a:rPr>
              <a:t>。</a:t>
            </a:r>
            <a:endParaRPr lang="zh-CN" altLang="en-US"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5">
                                            <p:txEl>
                                              <p:pRg st="2" end="2"/>
                                            </p:txEl>
                                          </p:spTgt>
                                        </p:tgtEl>
                                        <p:attrNameLst>
                                          <p:attrName>style.visibility</p:attrName>
                                        </p:attrNameLst>
                                      </p:cBhvr>
                                      <p:to>
                                        <p:strVal val="visible"/>
                                      </p:to>
                                    </p:set>
                                    <p:animEffect transition="in" filter="barn(inHorizontal)">
                                      <p:cBhvr>
                                        <p:cTn id="7" dur="500"/>
                                        <p:tgtEl>
                                          <p:spTgt spid="4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5">
                                            <p:txEl>
                                              <p:pRg st="3" end="3"/>
                                            </p:txEl>
                                          </p:spTgt>
                                        </p:tgtEl>
                                        <p:attrNameLst>
                                          <p:attrName>style.visibility</p:attrName>
                                        </p:attrNameLst>
                                      </p:cBhvr>
                                      <p:to>
                                        <p:strVal val="visible"/>
                                      </p:to>
                                    </p:set>
                                    <p:animEffect transition="in" filter="barn(inHorizontal)">
                                      <p:cBhvr>
                                        <p:cTn id="12" dur="500"/>
                                        <p:tgtEl>
                                          <p:spTgt spid="4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5">
                                            <p:txEl>
                                              <p:pRg st="4" end="4"/>
                                            </p:txEl>
                                          </p:spTgt>
                                        </p:tgtEl>
                                        <p:attrNameLst>
                                          <p:attrName>style.visibility</p:attrName>
                                        </p:attrNameLst>
                                      </p:cBhvr>
                                      <p:to>
                                        <p:strVal val="visible"/>
                                      </p:to>
                                    </p:set>
                                    <p:animEffect transition="in" filter="barn(inHorizontal)">
                                      <p:cBhvr>
                                        <p:cTn id="17" dur="500"/>
                                        <p:tgtEl>
                                          <p:spTgt spid="4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45">
                                            <p:txEl>
                                              <p:pRg st="5" end="5"/>
                                            </p:txEl>
                                          </p:spTgt>
                                        </p:tgtEl>
                                        <p:attrNameLst>
                                          <p:attrName>style.visibility</p:attrName>
                                        </p:attrNameLst>
                                      </p:cBhvr>
                                      <p:to>
                                        <p:strVal val="visible"/>
                                      </p:to>
                                    </p:set>
                                    <p:animEffect transition="in" filter="barn(inHorizontal)">
                                      <p:cBhvr>
                                        <p:cTn id="22" dur="500"/>
                                        <p:tgtEl>
                                          <p:spTgt spid="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91490" y="276860"/>
            <a:ext cx="6285865" cy="593090"/>
          </a:xfrm>
        </p:spPr>
        <p:txBody>
          <a:bodyPr/>
          <a:lstStyle/>
          <a:p>
            <a:r>
              <a:rPr lang="en-US" altLang="zh-CN" dirty="0"/>
              <a:t>8.1.4 </a:t>
            </a:r>
            <a:r>
              <a:rPr lang="zh-CN" altLang="en-US" dirty="0"/>
              <a:t>基本块优化的实现</a:t>
            </a:r>
            <a:endParaRPr lang="zh-CN" altLang="en-US" dirty="0"/>
          </a:p>
        </p:txBody>
      </p:sp>
      <p:sp>
        <p:nvSpPr>
          <p:cNvPr id="6" name="Rectangle 4"/>
          <p:cNvSpPr txBox="1"/>
          <p:nvPr/>
        </p:nvSpPr>
        <p:spPr>
          <a:xfrm>
            <a:off x="347345" y="1151890"/>
            <a:ext cx="11518900" cy="417512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solidFill>
                  <a:srgbClr val="0070C0"/>
                </a:solidFill>
                <a:latin typeface="+mn-ea"/>
              </a:rPr>
              <a:t>步骤</a:t>
            </a:r>
            <a:r>
              <a:rPr lang="en-US" altLang="zh-CN" sz="2400" b="1" dirty="0">
                <a:solidFill>
                  <a:srgbClr val="0070C0"/>
                </a:solidFill>
                <a:latin typeface="+mn-ea"/>
              </a:rPr>
              <a:t>2</a:t>
            </a:r>
            <a:r>
              <a:rPr lang="zh-CN" altLang="en-US" sz="2400" b="1" dirty="0">
                <a:solidFill>
                  <a:srgbClr val="0070C0"/>
                </a:solidFill>
                <a:latin typeface="+mn-ea"/>
              </a:rPr>
              <a:t>：（合并常量</a:t>
            </a:r>
            <a:r>
              <a:rPr lang="zh-CN" altLang="en-US" sz="2400" b="1" dirty="0">
                <a:solidFill>
                  <a:srgbClr val="0070C0"/>
                </a:solidFill>
                <a:latin typeface="+mn-ea"/>
              </a:rPr>
              <a:t>运算）</a:t>
            </a:r>
            <a:endParaRPr lang="zh-CN" altLang="en-US" sz="2400" b="1" dirty="0">
              <a:solidFill>
                <a:srgbClr val="0070C0"/>
              </a:solidFill>
              <a:latin typeface="+mn-ea"/>
            </a:endParaRPr>
          </a:p>
          <a:p>
            <a:pPr marL="495300" indent="-495300">
              <a:lnSpc>
                <a:spcPct val="125000"/>
              </a:lnSpc>
              <a:spcBef>
                <a:spcPct val="0"/>
              </a:spcBef>
              <a:spcAft>
                <a:spcPts val="0"/>
              </a:spcAft>
              <a:buFont typeface="Wingdings" panose="05000000000000000000" pitchFamily="2" charset="2"/>
              <a:buAutoNum type="circleNumDbPlain"/>
            </a:pPr>
            <a:r>
              <a:rPr lang="zh-CN" altLang="en-US" sz="2400" b="1" dirty="0">
                <a:solidFill>
                  <a:srgbClr val="030305"/>
                </a:solidFill>
                <a:latin typeface="+mn-ea"/>
              </a:rPr>
              <a:t>如果</a:t>
            </a:r>
            <a:r>
              <a:rPr lang="en-US" altLang="zh-CN" sz="2400" b="1" dirty="0">
                <a:latin typeface="+mn-ea"/>
              </a:rPr>
              <a:t>node</a:t>
            </a:r>
            <a:r>
              <a:rPr lang="en-US" altLang="zh-CN" sz="2400" b="1" dirty="0">
                <a:solidFill>
                  <a:srgbClr val="030305"/>
                </a:solidFill>
                <a:latin typeface="+mn-ea"/>
              </a:rPr>
              <a:t> (B)</a:t>
            </a:r>
            <a:r>
              <a:rPr lang="zh-CN" altLang="en-US" sz="2400" b="1" dirty="0">
                <a:solidFill>
                  <a:srgbClr val="030305"/>
                </a:solidFill>
                <a:latin typeface="+mn-ea"/>
              </a:rPr>
              <a:t> 是标记为常数的叶节点，则转步骤</a:t>
            </a:r>
            <a:r>
              <a:rPr lang="en-US" altLang="zh-CN" sz="2400" b="1" dirty="0">
                <a:solidFill>
                  <a:srgbClr val="E9137E"/>
                </a:solidFill>
                <a:latin typeface="+mn-ea"/>
              </a:rPr>
              <a:t>2</a:t>
            </a:r>
            <a:r>
              <a:rPr lang="zh-CN" altLang="en-US" sz="2400" b="1" dirty="0">
                <a:solidFill>
                  <a:srgbClr val="E9137E"/>
                </a:solidFill>
                <a:latin typeface="+mn-ea"/>
              </a:rPr>
              <a:t>的</a:t>
            </a:r>
            <a:r>
              <a:rPr lang="en-US" altLang="zh-CN" sz="2400" b="1" dirty="0">
                <a:solidFill>
                  <a:srgbClr val="E9137E"/>
                </a:solidFill>
                <a:latin typeface="+mn-ea"/>
              </a:rPr>
              <a:t>②</a:t>
            </a:r>
            <a:r>
              <a:rPr lang="zh-CN" altLang="en-US" sz="2400" b="1" dirty="0">
                <a:solidFill>
                  <a:srgbClr val="030305"/>
                </a:solidFill>
                <a:latin typeface="+mn-ea"/>
              </a:rPr>
              <a:t>，否则转</a:t>
            </a:r>
            <a:r>
              <a:rPr lang="zh-CN" altLang="en-US" sz="2400" b="1" dirty="0">
                <a:solidFill>
                  <a:srgbClr val="030305"/>
                </a:solidFill>
                <a:latin typeface="+mn-ea"/>
                <a:hlinkClick r:id="rId1" action="ppaction://hlinksldjump"/>
              </a:rPr>
              <a:t>步骤</a:t>
            </a:r>
            <a:r>
              <a:rPr lang="en-US" altLang="zh-CN" sz="2400" b="1" dirty="0">
                <a:solidFill>
                  <a:srgbClr val="030305"/>
                </a:solidFill>
                <a:latin typeface="+mn-ea"/>
                <a:hlinkClick r:id="rId1" action="ppaction://hlinksldjump"/>
              </a:rPr>
              <a:t>3</a:t>
            </a:r>
            <a:r>
              <a:rPr lang="zh-CN" altLang="en-US" sz="2400" b="1" dirty="0">
                <a:solidFill>
                  <a:srgbClr val="030305"/>
                </a:solidFill>
                <a:latin typeface="+mn-ea"/>
                <a:hlinkClick r:id="rId1" action="ppaction://hlinksldjump"/>
              </a:rPr>
              <a:t>的</a:t>
            </a:r>
            <a:r>
              <a:rPr lang="en-US" altLang="zh-CN" sz="2400" b="1" dirty="0">
                <a:solidFill>
                  <a:srgbClr val="030305"/>
                </a:solidFill>
                <a:latin typeface="+mn-ea"/>
                <a:hlinkClick r:id="rId1" action="ppaction://hlinksldjump"/>
              </a:rPr>
              <a:t>①</a:t>
            </a:r>
            <a:r>
              <a:rPr lang="zh-CN" altLang="en-US" sz="2400" b="1" dirty="0">
                <a:solidFill>
                  <a:srgbClr val="030305"/>
                </a:solidFill>
                <a:latin typeface="+mn-ea"/>
              </a:rPr>
              <a:t>。</a:t>
            </a:r>
            <a:endParaRPr lang="zh-CN" altLang="en-US" sz="2400" b="1" dirty="0">
              <a:solidFill>
                <a:srgbClr val="030305"/>
              </a:solidFill>
              <a:latin typeface="+mn-ea"/>
            </a:endParaRPr>
          </a:p>
          <a:p>
            <a:pPr marL="495300" indent="-495300">
              <a:lnSpc>
                <a:spcPct val="125000"/>
              </a:lnSpc>
              <a:spcBef>
                <a:spcPct val="0"/>
              </a:spcBef>
              <a:spcAft>
                <a:spcPts val="0"/>
              </a:spcAft>
              <a:buFont typeface="Wingdings" panose="05000000000000000000" pitchFamily="2" charset="2"/>
              <a:buAutoNum type="circleNumDbPlain"/>
            </a:pPr>
            <a:r>
              <a:rPr lang="zh-CN" altLang="en-US" sz="2400" b="1" dirty="0">
                <a:solidFill>
                  <a:srgbClr val="030305"/>
                </a:solidFill>
                <a:latin typeface="+mn-ea"/>
              </a:rPr>
              <a:t>执行</a:t>
            </a:r>
            <a:r>
              <a:rPr lang="en-US" altLang="zh-CN" sz="2400" b="1" dirty="0">
                <a:solidFill>
                  <a:srgbClr val="030305"/>
                </a:solidFill>
                <a:latin typeface="+mn-ea"/>
              </a:rPr>
              <a:t>op B</a:t>
            </a:r>
            <a:r>
              <a:rPr lang="zh-CN" altLang="en-US" sz="2400" b="1" dirty="0">
                <a:solidFill>
                  <a:srgbClr val="030305"/>
                </a:solidFill>
                <a:latin typeface="+mn-ea"/>
              </a:rPr>
              <a:t>（即合并已知量），令得到的新常数为</a:t>
            </a:r>
            <a:r>
              <a:rPr lang="en-US" altLang="zh-CN" sz="2400" b="1" dirty="0">
                <a:solidFill>
                  <a:srgbClr val="030305"/>
                </a:solidFill>
                <a:latin typeface="+mn-ea"/>
              </a:rPr>
              <a:t>p</a:t>
            </a:r>
            <a:r>
              <a:rPr lang="zh-CN" altLang="en-US" sz="2400" b="1" dirty="0">
                <a:solidFill>
                  <a:srgbClr val="030305"/>
                </a:solidFill>
                <a:latin typeface="+mn-ea"/>
              </a:rPr>
              <a:t>。</a:t>
            </a:r>
            <a:endParaRPr lang="zh-CN" altLang="en-US" sz="2400" b="1" dirty="0">
              <a:solidFill>
                <a:srgbClr val="030305"/>
              </a:solidFill>
              <a:latin typeface="+mn-ea"/>
            </a:endParaRPr>
          </a:p>
          <a:p>
            <a:pPr lvl="1">
              <a:lnSpc>
                <a:spcPct val="125000"/>
              </a:lnSpc>
              <a:spcBef>
                <a:spcPct val="0"/>
              </a:spcBef>
              <a:spcAft>
                <a:spcPts val="0"/>
              </a:spcAft>
              <a:buFont typeface="Wingdings" panose="05000000000000000000" pitchFamily="2" charset="2"/>
              <a:buAutoNum type="alphaLcParenR"/>
            </a:pPr>
            <a:r>
              <a:rPr lang="zh-CN" altLang="en-US" b="1" dirty="0">
                <a:solidFill>
                  <a:srgbClr val="030305"/>
                </a:solidFill>
                <a:latin typeface="+mn-ea"/>
              </a:rPr>
              <a:t>如果</a:t>
            </a:r>
            <a:r>
              <a:rPr lang="en-US" altLang="zh-CN" b="1" dirty="0">
                <a:latin typeface="+mn-ea"/>
              </a:rPr>
              <a:t>node</a:t>
            </a:r>
            <a:r>
              <a:rPr lang="en-US" altLang="zh-CN" b="1" dirty="0">
                <a:solidFill>
                  <a:srgbClr val="030305"/>
                </a:solidFill>
                <a:latin typeface="+mn-ea"/>
              </a:rPr>
              <a:t> (B)</a:t>
            </a:r>
            <a:r>
              <a:rPr lang="zh-CN" altLang="en-US" b="1" dirty="0">
                <a:solidFill>
                  <a:srgbClr val="030305"/>
                </a:solidFill>
                <a:latin typeface="+mn-ea"/>
              </a:rPr>
              <a:t>是处理当前</a:t>
            </a:r>
            <a:r>
              <a:rPr lang="zh-CN" altLang="en-US" b="1" dirty="0">
                <a:solidFill>
                  <a:srgbClr val="030305"/>
                </a:solidFill>
                <a:latin typeface="+mn-ea"/>
                <a:sym typeface="+mn-ea"/>
              </a:rPr>
              <a:t>三地址码</a:t>
            </a:r>
            <a:r>
              <a:rPr lang="zh-CN" altLang="en-US" b="1" dirty="0">
                <a:solidFill>
                  <a:srgbClr val="030305"/>
                </a:solidFill>
                <a:latin typeface="+mn-ea"/>
              </a:rPr>
              <a:t>时新构造节点，则删除它。</a:t>
            </a:r>
            <a:endParaRPr lang="zh-CN" altLang="en-US" b="1" dirty="0">
              <a:solidFill>
                <a:srgbClr val="030305"/>
              </a:solidFill>
              <a:latin typeface="+mn-ea"/>
            </a:endParaRPr>
          </a:p>
          <a:p>
            <a:pPr lvl="1">
              <a:lnSpc>
                <a:spcPct val="125000"/>
              </a:lnSpc>
              <a:spcBef>
                <a:spcPct val="0"/>
              </a:spcBef>
              <a:spcAft>
                <a:spcPts val="0"/>
              </a:spcAft>
              <a:buFont typeface="Wingdings" panose="05000000000000000000" pitchFamily="2" charset="2"/>
              <a:buAutoNum type="alphaLcParenR"/>
            </a:pPr>
            <a:r>
              <a:rPr lang="zh-CN" altLang="en-US" b="1" dirty="0">
                <a:solidFill>
                  <a:srgbClr val="030305"/>
                </a:solidFill>
                <a:latin typeface="+mn-ea"/>
              </a:rPr>
              <a:t>如果</a:t>
            </a:r>
            <a:r>
              <a:rPr lang="en-US" altLang="zh-CN" b="1" dirty="0">
                <a:latin typeface="+mn-ea"/>
              </a:rPr>
              <a:t>node</a:t>
            </a:r>
            <a:r>
              <a:rPr lang="en-US" altLang="zh-CN" b="1" dirty="0">
                <a:solidFill>
                  <a:srgbClr val="030305"/>
                </a:solidFill>
                <a:latin typeface="+mn-ea"/>
              </a:rPr>
              <a:t> (P)</a:t>
            </a:r>
            <a:r>
              <a:rPr lang="zh-CN" altLang="en-US" b="1" dirty="0">
                <a:solidFill>
                  <a:srgbClr val="030305"/>
                </a:solidFill>
                <a:latin typeface="+mn-ea"/>
              </a:rPr>
              <a:t>无定义，则构造一个用</a:t>
            </a:r>
            <a:r>
              <a:rPr lang="en-US" altLang="zh-CN" b="1" dirty="0">
                <a:solidFill>
                  <a:srgbClr val="030305"/>
                </a:solidFill>
                <a:latin typeface="+mn-ea"/>
              </a:rPr>
              <a:t>P</a:t>
            </a:r>
            <a:r>
              <a:rPr lang="zh-CN" altLang="en-US" b="1" dirty="0">
                <a:solidFill>
                  <a:srgbClr val="030305"/>
                </a:solidFill>
                <a:latin typeface="+mn-ea"/>
              </a:rPr>
              <a:t>做标记的叶节点 </a:t>
            </a:r>
            <a:r>
              <a:rPr lang="en-US" altLang="zh-CN" b="1" dirty="0">
                <a:solidFill>
                  <a:srgbClr val="030305"/>
                </a:solidFill>
                <a:latin typeface="+mn-ea"/>
              </a:rPr>
              <a:t>n</a:t>
            </a:r>
            <a:r>
              <a:rPr lang="zh-CN" altLang="en-US" b="1" dirty="0">
                <a:solidFill>
                  <a:srgbClr val="030305"/>
                </a:solidFill>
                <a:latin typeface="+mn-ea"/>
              </a:rPr>
              <a:t>，否则设该节点为</a:t>
            </a:r>
            <a:r>
              <a:rPr lang="en-US" altLang="zh-CN" b="1" dirty="0">
                <a:solidFill>
                  <a:srgbClr val="030305"/>
                </a:solidFill>
                <a:latin typeface="+mn-ea"/>
              </a:rPr>
              <a:t>n</a:t>
            </a:r>
            <a:r>
              <a:rPr lang="zh-CN" altLang="en-US" b="1" dirty="0">
                <a:solidFill>
                  <a:srgbClr val="030305"/>
                </a:solidFill>
                <a:latin typeface="+mn-ea"/>
              </a:rPr>
              <a:t> ，转</a:t>
            </a:r>
            <a:r>
              <a:rPr lang="zh-CN" altLang="en-US" b="1" dirty="0">
                <a:solidFill>
                  <a:srgbClr val="030305"/>
                </a:solidFill>
                <a:latin typeface="+mn-ea"/>
                <a:hlinkClick r:id="rId2" action="ppaction://hlinksldjump"/>
              </a:rPr>
              <a:t>步骤</a:t>
            </a:r>
            <a:r>
              <a:rPr lang="en-US" altLang="zh-CN" b="1" dirty="0">
                <a:solidFill>
                  <a:srgbClr val="030305"/>
                </a:solidFill>
                <a:latin typeface="+mn-ea"/>
                <a:hlinkClick r:id="rId2" action="ppaction://hlinksldjump"/>
              </a:rPr>
              <a:t>4</a:t>
            </a:r>
            <a:r>
              <a:rPr lang="en-US" altLang="zh-CN" b="1" dirty="0">
                <a:solidFill>
                  <a:srgbClr val="030305"/>
                </a:solidFill>
                <a:latin typeface="+mn-ea"/>
              </a:rPr>
              <a:t> </a:t>
            </a:r>
            <a:r>
              <a:rPr lang="zh-CN" altLang="en-US" b="1" dirty="0">
                <a:solidFill>
                  <a:srgbClr val="030305"/>
                </a:solidFill>
                <a:latin typeface="+mn-ea"/>
              </a:rPr>
              <a:t>。</a:t>
            </a:r>
            <a:endParaRPr lang="zh-CN" altLang="en-US" b="1" dirty="0">
              <a:solidFill>
                <a:srgbClr val="030305"/>
              </a:solidFill>
              <a:latin typeface="+mn-ea"/>
            </a:endParaRPr>
          </a:p>
          <a:p>
            <a:pPr marL="571500" indent="-571500">
              <a:lnSpc>
                <a:spcPct val="125000"/>
              </a:lnSpc>
              <a:spcBef>
                <a:spcPct val="0"/>
              </a:spcBef>
              <a:spcAft>
                <a:spcPts val="0"/>
              </a:spcAft>
              <a:buFont typeface="Wingdings" panose="05000000000000000000" pitchFamily="2" charset="2"/>
              <a:buAutoNum type="circleNumDbPlain" startAt="3"/>
            </a:pPr>
            <a:r>
              <a:rPr lang="zh-CN" altLang="en-US" sz="2400" b="1" dirty="0">
                <a:solidFill>
                  <a:srgbClr val="030305"/>
                </a:solidFill>
                <a:latin typeface="+mn-ea"/>
                <a:sym typeface="+mn-ea"/>
              </a:rPr>
              <a:t>如果</a:t>
            </a:r>
            <a:r>
              <a:rPr lang="en-US" altLang="zh-CN" sz="2400" b="1" dirty="0">
                <a:latin typeface="+mn-ea"/>
                <a:sym typeface="+mn-ea"/>
              </a:rPr>
              <a:t>node</a:t>
            </a:r>
            <a:r>
              <a:rPr lang="en-US" altLang="zh-CN" sz="2400" b="1" dirty="0">
                <a:solidFill>
                  <a:srgbClr val="030305"/>
                </a:solidFill>
                <a:latin typeface="+mn-ea"/>
                <a:sym typeface="+mn-ea"/>
              </a:rPr>
              <a:t> (B)</a:t>
            </a:r>
            <a:r>
              <a:rPr lang="zh-CN" altLang="en-US" sz="2400" b="1" dirty="0">
                <a:solidFill>
                  <a:srgbClr val="030305"/>
                </a:solidFill>
                <a:latin typeface="+mn-ea"/>
                <a:sym typeface="+mn-ea"/>
              </a:rPr>
              <a:t> 和</a:t>
            </a:r>
            <a:r>
              <a:rPr lang="en-US" altLang="zh-CN" sz="2400" b="1" dirty="0">
                <a:latin typeface="+mn-ea"/>
                <a:sym typeface="+mn-ea"/>
              </a:rPr>
              <a:t>node</a:t>
            </a:r>
            <a:r>
              <a:rPr lang="en-US" altLang="zh-CN" sz="2400" b="1" dirty="0">
                <a:solidFill>
                  <a:srgbClr val="030305"/>
                </a:solidFill>
                <a:latin typeface="+mn-ea"/>
                <a:sym typeface="+mn-ea"/>
              </a:rPr>
              <a:t> (C)</a:t>
            </a:r>
            <a:r>
              <a:rPr lang="zh-CN" altLang="en-US" sz="2400" b="1" dirty="0">
                <a:solidFill>
                  <a:srgbClr val="030305"/>
                </a:solidFill>
                <a:latin typeface="+mn-ea"/>
                <a:sym typeface="+mn-ea"/>
              </a:rPr>
              <a:t>都是标记为常数的叶节点，则转步骤</a:t>
            </a:r>
            <a:r>
              <a:rPr lang="en-US" altLang="zh-CN" sz="2400" b="1" dirty="0">
                <a:solidFill>
                  <a:srgbClr val="E9137E"/>
                </a:solidFill>
                <a:latin typeface="+mn-ea"/>
                <a:sym typeface="+mn-ea"/>
              </a:rPr>
              <a:t>2</a:t>
            </a:r>
            <a:r>
              <a:rPr lang="zh-CN" altLang="en-US" sz="2400" b="1" dirty="0">
                <a:solidFill>
                  <a:srgbClr val="E9137E"/>
                </a:solidFill>
                <a:latin typeface="+mn-ea"/>
                <a:sym typeface="+mn-ea"/>
              </a:rPr>
              <a:t>的</a:t>
            </a:r>
            <a:r>
              <a:rPr lang="en-US" altLang="zh-CN" sz="2400" b="1" dirty="0">
                <a:solidFill>
                  <a:srgbClr val="E9137E"/>
                </a:solidFill>
                <a:latin typeface="+mn-ea"/>
                <a:sym typeface="+mn-ea"/>
              </a:rPr>
              <a:t>④</a:t>
            </a:r>
            <a:r>
              <a:rPr lang="zh-CN" altLang="en-US" sz="2400" b="1" dirty="0">
                <a:solidFill>
                  <a:srgbClr val="030305"/>
                </a:solidFill>
                <a:latin typeface="+mn-ea"/>
                <a:sym typeface="+mn-ea"/>
              </a:rPr>
              <a:t>，否则转</a:t>
            </a:r>
            <a:r>
              <a:rPr lang="zh-CN" altLang="en-US" sz="2400" b="1" dirty="0">
                <a:solidFill>
                  <a:srgbClr val="030305"/>
                </a:solidFill>
                <a:latin typeface="+mn-ea"/>
                <a:sym typeface="+mn-ea"/>
                <a:hlinkClick r:id="rId1" action="ppaction://hlinksldjump"/>
              </a:rPr>
              <a:t>步骤</a:t>
            </a:r>
            <a:r>
              <a:rPr lang="en-US" altLang="zh-CN" sz="2400" b="1" dirty="0">
                <a:solidFill>
                  <a:srgbClr val="030305"/>
                </a:solidFill>
                <a:latin typeface="+mn-ea"/>
                <a:sym typeface="+mn-ea"/>
                <a:hlinkClick r:id="rId1" action="ppaction://hlinksldjump"/>
              </a:rPr>
              <a:t>3</a:t>
            </a:r>
            <a:r>
              <a:rPr lang="zh-CN" altLang="en-US" sz="2400" b="1" dirty="0">
                <a:solidFill>
                  <a:srgbClr val="030305"/>
                </a:solidFill>
                <a:latin typeface="+mn-ea"/>
                <a:sym typeface="+mn-ea"/>
                <a:hlinkClick r:id="rId1" action="ppaction://hlinksldjump"/>
              </a:rPr>
              <a:t>的</a:t>
            </a:r>
            <a:r>
              <a:rPr lang="en-US" altLang="zh-CN" sz="2400" b="1" dirty="0">
                <a:solidFill>
                  <a:srgbClr val="030305"/>
                </a:solidFill>
                <a:latin typeface="+mn-ea"/>
                <a:sym typeface="+mn-ea"/>
                <a:hlinkClick r:id="rId1" action="ppaction://hlinksldjump"/>
              </a:rPr>
              <a:t>② </a:t>
            </a:r>
            <a:r>
              <a:rPr lang="zh-CN" altLang="en-US" sz="2400" b="1" dirty="0">
                <a:solidFill>
                  <a:srgbClr val="030305"/>
                </a:solidFill>
                <a:latin typeface="+mn-ea"/>
                <a:sym typeface="+mn-ea"/>
              </a:rPr>
              <a:t>。</a:t>
            </a:r>
            <a:endParaRPr lang="zh-CN" altLang="en-US" sz="2400" b="1" dirty="0">
              <a:solidFill>
                <a:srgbClr val="030305"/>
              </a:solidFill>
              <a:latin typeface="+mn-ea"/>
            </a:endParaRPr>
          </a:p>
          <a:p>
            <a:pPr marL="571500" indent="-571500">
              <a:lnSpc>
                <a:spcPct val="125000"/>
              </a:lnSpc>
              <a:spcBef>
                <a:spcPct val="0"/>
              </a:spcBef>
              <a:spcAft>
                <a:spcPts val="0"/>
              </a:spcAft>
              <a:buFont typeface="Wingdings" panose="05000000000000000000" pitchFamily="2" charset="2"/>
              <a:buAutoNum type="circleNumDbPlain" startAt="3"/>
            </a:pPr>
            <a:r>
              <a:rPr lang="zh-CN" altLang="en-US" sz="2400" b="1" dirty="0">
                <a:solidFill>
                  <a:srgbClr val="030305"/>
                </a:solidFill>
                <a:latin typeface="+mn-ea"/>
                <a:sym typeface="+mn-ea"/>
              </a:rPr>
              <a:t>执行</a:t>
            </a:r>
            <a:r>
              <a:rPr lang="en-US" altLang="zh-CN" sz="2400" b="1" dirty="0">
                <a:solidFill>
                  <a:srgbClr val="030305"/>
                </a:solidFill>
                <a:latin typeface="+mn-ea"/>
                <a:sym typeface="+mn-ea"/>
              </a:rPr>
              <a:t>B op C(</a:t>
            </a:r>
            <a:r>
              <a:rPr lang="zh-CN" altLang="en-US" sz="2400" b="1" dirty="0">
                <a:solidFill>
                  <a:srgbClr val="030305"/>
                </a:solidFill>
                <a:latin typeface="+mn-ea"/>
                <a:sym typeface="+mn-ea"/>
              </a:rPr>
              <a:t>即合并已知量</a:t>
            </a:r>
            <a:r>
              <a:rPr lang="en-US" altLang="zh-CN" sz="2400" b="1" dirty="0">
                <a:solidFill>
                  <a:srgbClr val="030305"/>
                </a:solidFill>
                <a:latin typeface="+mn-ea"/>
                <a:sym typeface="+mn-ea"/>
              </a:rPr>
              <a:t>)</a:t>
            </a:r>
            <a:r>
              <a:rPr lang="zh-CN" altLang="en-US" sz="2400" b="1" dirty="0">
                <a:solidFill>
                  <a:srgbClr val="030305"/>
                </a:solidFill>
                <a:latin typeface="+mn-ea"/>
                <a:sym typeface="+mn-ea"/>
              </a:rPr>
              <a:t>，令得到的新常数为</a:t>
            </a:r>
            <a:r>
              <a:rPr lang="en-US" altLang="zh-CN" sz="2400" b="1" dirty="0">
                <a:solidFill>
                  <a:srgbClr val="030305"/>
                </a:solidFill>
                <a:latin typeface="+mn-ea"/>
                <a:sym typeface="+mn-ea"/>
              </a:rPr>
              <a:t>P</a:t>
            </a:r>
            <a:r>
              <a:rPr lang="zh-CN" altLang="en-US" sz="2400" b="1" dirty="0">
                <a:solidFill>
                  <a:srgbClr val="030305"/>
                </a:solidFill>
                <a:latin typeface="+mn-ea"/>
                <a:sym typeface="+mn-ea"/>
              </a:rPr>
              <a:t>，如果</a:t>
            </a:r>
            <a:r>
              <a:rPr lang="en-US" altLang="zh-CN" sz="2400" b="1" dirty="0">
                <a:latin typeface="+mn-ea"/>
                <a:sym typeface="+mn-ea"/>
              </a:rPr>
              <a:t>node</a:t>
            </a:r>
            <a:r>
              <a:rPr lang="en-US" altLang="zh-CN" sz="2400" b="1" dirty="0">
                <a:solidFill>
                  <a:srgbClr val="030305"/>
                </a:solidFill>
                <a:latin typeface="+mn-ea"/>
                <a:sym typeface="+mn-ea"/>
              </a:rPr>
              <a:t> (B)</a:t>
            </a:r>
            <a:r>
              <a:rPr lang="zh-CN" altLang="en-US" sz="2400" b="1" dirty="0">
                <a:solidFill>
                  <a:srgbClr val="030305"/>
                </a:solidFill>
                <a:latin typeface="+mn-ea"/>
                <a:sym typeface="+mn-ea"/>
              </a:rPr>
              <a:t> 或</a:t>
            </a:r>
            <a:r>
              <a:rPr lang="en-US" altLang="zh-CN" sz="2400" b="1" dirty="0">
                <a:latin typeface="+mn-ea"/>
                <a:sym typeface="+mn-ea"/>
              </a:rPr>
              <a:t>node</a:t>
            </a:r>
            <a:r>
              <a:rPr lang="en-US" altLang="zh-CN" sz="2400" b="1" dirty="0">
                <a:solidFill>
                  <a:srgbClr val="030305"/>
                </a:solidFill>
                <a:latin typeface="+mn-ea"/>
                <a:sym typeface="+mn-ea"/>
              </a:rPr>
              <a:t> (C)</a:t>
            </a:r>
            <a:r>
              <a:rPr lang="zh-CN" altLang="en-US" sz="2400" b="1" dirty="0">
                <a:solidFill>
                  <a:srgbClr val="030305"/>
                </a:solidFill>
                <a:latin typeface="+mn-ea"/>
                <a:sym typeface="+mn-ea"/>
              </a:rPr>
              <a:t>是处理当前</a:t>
            </a:r>
            <a:r>
              <a:rPr lang="zh-CN" altLang="en-US" sz="2400" b="1" dirty="0">
                <a:solidFill>
                  <a:srgbClr val="030305"/>
                </a:solidFill>
                <a:latin typeface="+mn-ea"/>
                <a:sym typeface="+mn-ea"/>
              </a:rPr>
              <a:t>三地址码</a:t>
            </a:r>
            <a:r>
              <a:rPr lang="zh-CN" altLang="en-US" sz="2400" b="1" dirty="0">
                <a:solidFill>
                  <a:srgbClr val="030305"/>
                </a:solidFill>
                <a:latin typeface="+mn-ea"/>
                <a:sym typeface="+mn-ea"/>
              </a:rPr>
              <a:t>时新构造的节点，则删除它，如果</a:t>
            </a:r>
            <a:r>
              <a:rPr lang="en-US" altLang="zh-CN" sz="2400" b="1" dirty="0">
                <a:latin typeface="+mn-ea"/>
                <a:sym typeface="+mn-ea"/>
              </a:rPr>
              <a:t>node</a:t>
            </a:r>
            <a:r>
              <a:rPr lang="en-US" altLang="zh-CN" sz="2400" b="1" dirty="0">
                <a:solidFill>
                  <a:srgbClr val="030305"/>
                </a:solidFill>
                <a:latin typeface="+mn-ea"/>
                <a:sym typeface="+mn-ea"/>
              </a:rPr>
              <a:t> (P)</a:t>
            </a:r>
            <a:r>
              <a:rPr lang="zh-CN" altLang="en-US" sz="2400" b="1" dirty="0">
                <a:solidFill>
                  <a:srgbClr val="030305"/>
                </a:solidFill>
                <a:latin typeface="+mn-ea"/>
                <a:sym typeface="+mn-ea"/>
              </a:rPr>
              <a:t>无定义，则构造一个用</a:t>
            </a:r>
            <a:r>
              <a:rPr lang="en-US" altLang="zh-CN" sz="2400" b="1" dirty="0">
                <a:solidFill>
                  <a:srgbClr val="030305"/>
                </a:solidFill>
                <a:latin typeface="+mn-ea"/>
                <a:sym typeface="+mn-ea"/>
              </a:rPr>
              <a:t>P</a:t>
            </a:r>
            <a:r>
              <a:rPr lang="zh-CN" altLang="en-US" sz="2400" b="1" dirty="0">
                <a:solidFill>
                  <a:srgbClr val="030305"/>
                </a:solidFill>
                <a:latin typeface="+mn-ea"/>
                <a:sym typeface="+mn-ea"/>
              </a:rPr>
              <a:t>做标记的叶节点 </a:t>
            </a:r>
            <a:r>
              <a:rPr lang="en-US" altLang="zh-CN" sz="2400" b="1" dirty="0">
                <a:solidFill>
                  <a:srgbClr val="030305"/>
                </a:solidFill>
                <a:latin typeface="+mn-ea"/>
                <a:sym typeface="+mn-ea"/>
              </a:rPr>
              <a:t>n</a:t>
            </a:r>
            <a:r>
              <a:rPr lang="zh-CN" altLang="en-US" sz="2400" b="1" dirty="0">
                <a:solidFill>
                  <a:srgbClr val="030305"/>
                </a:solidFill>
                <a:latin typeface="+mn-ea"/>
                <a:sym typeface="+mn-ea"/>
              </a:rPr>
              <a:t> ，否则设该节点为</a:t>
            </a:r>
            <a:r>
              <a:rPr lang="en-US" altLang="zh-CN" sz="2400" b="1" dirty="0">
                <a:solidFill>
                  <a:srgbClr val="030305"/>
                </a:solidFill>
                <a:latin typeface="+mn-ea"/>
                <a:sym typeface="+mn-ea"/>
              </a:rPr>
              <a:t>n</a:t>
            </a:r>
            <a:r>
              <a:rPr lang="zh-CN" altLang="en-US" sz="2400" b="1" dirty="0">
                <a:solidFill>
                  <a:srgbClr val="030305"/>
                </a:solidFill>
                <a:latin typeface="+mn-ea"/>
                <a:sym typeface="+mn-ea"/>
              </a:rPr>
              <a:t> ，转</a:t>
            </a:r>
            <a:r>
              <a:rPr lang="zh-CN" altLang="en-US" sz="2400" b="1" dirty="0">
                <a:solidFill>
                  <a:srgbClr val="030305"/>
                </a:solidFill>
                <a:latin typeface="+mn-ea"/>
                <a:sym typeface="+mn-ea"/>
                <a:hlinkClick r:id="rId2" action="ppaction://hlinksldjump"/>
              </a:rPr>
              <a:t>步骤</a:t>
            </a:r>
            <a:r>
              <a:rPr lang="en-US" altLang="zh-CN" sz="2400" b="1" dirty="0">
                <a:solidFill>
                  <a:srgbClr val="030305"/>
                </a:solidFill>
                <a:latin typeface="+mn-ea"/>
                <a:sym typeface="+mn-ea"/>
                <a:hlinkClick r:id="rId2" action="ppaction://hlinksldjump"/>
              </a:rPr>
              <a:t>4</a:t>
            </a:r>
            <a:r>
              <a:rPr lang="en-US" altLang="zh-CN" sz="2400" b="1" dirty="0">
                <a:solidFill>
                  <a:srgbClr val="030305"/>
                </a:solidFill>
                <a:latin typeface="+mn-ea"/>
                <a:sym typeface="+mn-ea"/>
              </a:rPr>
              <a:t> </a:t>
            </a:r>
            <a:r>
              <a:rPr lang="zh-CN" altLang="en-US" sz="2400" b="1" dirty="0">
                <a:solidFill>
                  <a:srgbClr val="030305"/>
                </a:solidFill>
                <a:latin typeface="+mn-ea"/>
                <a:sym typeface="+mn-ea"/>
              </a:rPr>
              <a:t>。</a:t>
            </a:r>
            <a:endParaRPr lang="en-US" altLang="zh-CN" sz="2400" b="1" dirty="0">
              <a:solidFill>
                <a:srgbClr val="030305"/>
              </a:solidFill>
              <a:latin typeface="+mn-ea"/>
            </a:endParaRPr>
          </a:p>
          <a:p>
            <a:pPr marL="457200" lvl="1" indent="0">
              <a:lnSpc>
                <a:spcPct val="120000"/>
              </a:lnSpc>
              <a:buFont typeface="Wingdings" panose="05000000000000000000" pitchFamily="2" charset="2"/>
              <a:buNone/>
            </a:pPr>
            <a:endParaRPr lang="en-US" altLang="zh-CN" sz="2400"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arn(inHorizont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barn(inHorizontal)">
                                      <p:cBhvr>
                                        <p:cTn id="12" dur="500"/>
                                        <p:tgtEl>
                                          <p:spTgt spid="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arn(inHorizont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arn(inHorizontal)">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arn(inHorizontal)">
                                      <p:cBhvr>
                                        <p:cTn id="2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69570" y="276860"/>
            <a:ext cx="6407785" cy="593090"/>
          </a:xfrm>
        </p:spPr>
        <p:txBody>
          <a:bodyPr/>
          <a:lstStyle/>
          <a:p>
            <a:r>
              <a:rPr lang="en-US" altLang="zh-CN" dirty="0"/>
              <a:t>8.1.4 </a:t>
            </a:r>
            <a:r>
              <a:rPr lang="zh-CN" altLang="en-US" dirty="0"/>
              <a:t>基本块优化的实现</a:t>
            </a:r>
            <a:endParaRPr lang="zh-CN" altLang="en-US" dirty="0"/>
          </a:p>
        </p:txBody>
      </p:sp>
      <p:sp>
        <p:nvSpPr>
          <p:cNvPr id="5" name="Rectangle 4"/>
          <p:cNvSpPr txBox="1"/>
          <p:nvPr/>
        </p:nvSpPr>
        <p:spPr>
          <a:xfrm>
            <a:off x="369570" y="1052830"/>
            <a:ext cx="11475085" cy="388810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sz="2400" b="1" dirty="0">
                <a:solidFill>
                  <a:srgbClr val="0070C0"/>
                </a:solidFill>
                <a:latin typeface="+mn-ea"/>
              </a:rPr>
              <a:t>步骤</a:t>
            </a:r>
            <a:r>
              <a:rPr lang="en-US" altLang="zh-CN" sz="2400" b="1" dirty="0">
                <a:solidFill>
                  <a:srgbClr val="0070C0"/>
                </a:solidFill>
                <a:latin typeface="+mn-ea"/>
              </a:rPr>
              <a:t>3</a:t>
            </a:r>
            <a:r>
              <a:rPr lang="zh-CN" altLang="en-US" sz="2400" b="1" dirty="0">
                <a:solidFill>
                  <a:srgbClr val="0070C0"/>
                </a:solidFill>
                <a:latin typeface="+mn-ea"/>
              </a:rPr>
              <a:t>：（</a:t>
            </a:r>
            <a:r>
              <a:rPr lang="zh-CN" altLang="en-US" sz="2400" b="1" dirty="0">
                <a:solidFill>
                  <a:srgbClr val="0070C0"/>
                </a:solidFill>
                <a:sym typeface="+mn-ea"/>
              </a:rPr>
              <a:t>删除公共子表达式</a:t>
            </a:r>
            <a:r>
              <a:rPr lang="zh-CN" altLang="en-US" sz="2400" b="1" dirty="0">
                <a:solidFill>
                  <a:srgbClr val="0070C0"/>
                </a:solidFill>
                <a:latin typeface="+mn-ea"/>
              </a:rPr>
              <a:t>）</a:t>
            </a:r>
            <a:endParaRPr lang="zh-CN" altLang="en-US" sz="2400" b="1" dirty="0">
              <a:solidFill>
                <a:srgbClr val="0070C0"/>
              </a:solidFill>
              <a:latin typeface="+mn-ea"/>
            </a:endParaRPr>
          </a:p>
          <a:p>
            <a:pPr>
              <a:lnSpc>
                <a:spcPct val="125000"/>
              </a:lnSpc>
              <a:spcBef>
                <a:spcPts val="0"/>
              </a:spcBef>
              <a:spcAft>
                <a:spcPts val="0"/>
              </a:spcAft>
              <a:buFontTx/>
              <a:buNone/>
            </a:pPr>
            <a:r>
              <a:rPr lang="en-US" altLang="zh-CN" sz="2400" b="1" dirty="0">
                <a:solidFill>
                  <a:srgbClr val="030305"/>
                </a:solidFill>
                <a:latin typeface="+mn-ea"/>
              </a:rPr>
              <a:t>①</a:t>
            </a:r>
            <a:r>
              <a:rPr lang="zh-CN" altLang="en-US" sz="2400" b="1" dirty="0">
                <a:solidFill>
                  <a:srgbClr val="030305"/>
                </a:solidFill>
                <a:latin typeface="+mn-ea"/>
              </a:rPr>
              <a:t>检查</a:t>
            </a:r>
            <a:r>
              <a:rPr lang="en-US" altLang="zh-CN" sz="2400" b="1" dirty="0">
                <a:solidFill>
                  <a:srgbClr val="030305"/>
                </a:solidFill>
                <a:latin typeface="+mn-ea"/>
              </a:rPr>
              <a:t>DAG</a:t>
            </a:r>
            <a:r>
              <a:rPr lang="zh-CN" altLang="en-US" sz="2400" b="1" dirty="0">
                <a:solidFill>
                  <a:srgbClr val="030305"/>
                </a:solidFill>
                <a:latin typeface="+mn-ea"/>
              </a:rPr>
              <a:t>中是否已有一节点，其唯一后继为</a:t>
            </a:r>
            <a:r>
              <a:rPr lang="en-US" altLang="zh-CN" sz="2400" b="1" dirty="0">
                <a:latin typeface="+mn-ea"/>
              </a:rPr>
              <a:t>node</a:t>
            </a:r>
            <a:r>
              <a:rPr lang="en-US" altLang="zh-CN" sz="2400" b="1" dirty="0">
                <a:solidFill>
                  <a:srgbClr val="030305"/>
                </a:solidFill>
                <a:latin typeface="+mn-ea"/>
              </a:rPr>
              <a:t>(B) </a:t>
            </a:r>
            <a:r>
              <a:rPr lang="zh-CN" altLang="en-US" sz="2400" b="1" dirty="0">
                <a:solidFill>
                  <a:srgbClr val="030305"/>
                </a:solidFill>
                <a:latin typeface="+mn-ea"/>
              </a:rPr>
              <a:t>，且操作标记为</a:t>
            </a:r>
            <a:r>
              <a:rPr lang="en-US" altLang="zh-CN" sz="2400" b="1" dirty="0">
                <a:solidFill>
                  <a:srgbClr val="030305"/>
                </a:solidFill>
                <a:latin typeface="+mn-ea"/>
              </a:rPr>
              <a:t>op(</a:t>
            </a:r>
            <a:r>
              <a:rPr lang="zh-CN" altLang="en-US" sz="2400" b="1" dirty="0">
                <a:solidFill>
                  <a:srgbClr val="030305"/>
                </a:solidFill>
                <a:latin typeface="+mn-ea"/>
              </a:rPr>
              <a:t>即找公共子表达式</a:t>
            </a:r>
            <a:r>
              <a:rPr lang="en-US" altLang="zh-CN" sz="2400" b="1" dirty="0">
                <a:solidFill>
                  <a:srgbClr val="030305"/>
                </a:solidFill>
                <a:latin typeface="+mn-ea"/>
              </a:rPr>
              <a:t>)</a:t>
            </a:r>
            <a:r>
              <a:rPr lang="zh-CN" altLang="en-US" sz="2400" b="1" dirty="0">
                <a:solidFill>
                  <a:srgbClr val="030305"/>
                </a:solidFill>
                <a:latin typeface="+mn-ea"/>
              </a:rPr>
              <a:t>。如果没有，则构造该节点</a:t>
            </a:r>
            <a:r>
              <a:rPr lang="en-US" altLang="zh-CN" sz="2400" b="1" dirty="0">
                <a:solidFill>
                  <a:srgbClr val="030305"/>
                </a:solidFill>
                <a:latin typeface="+mn-ea"/>
              </a:rPr>
              <a:t>n</a:t>
            </a:r>
            <a:r>
              <a:rPr lang="zh-CN" altLang="en-US" sz="2400" b="1" dirty="0">
                <a:solidFill>
                  <a:srgbClr val="030305"/>
                </a:solidFill>
                <a:latin typeface="+mn-ea"/>
              </a:rPr>
              <a:t>，否则设该节点为</a:t>
            </a:r>
            <a:r>
              <a:rPr lang="en-US" altLang="zh-CN" sz="2400" b="1" dirty="0">
                <a:solidFill>
                  <a:srgbClr val="030305"/>
                </a:solidFill>
                <a:latin typeface="+mn-ea"/>
              </a:rPr>
              <a:t>n,</a:t>
            </a:r>
            <a:r>
              <a:rPr lang="zh-CN" altLang="en-US" sz="2400" b="1" dirty="0">
                <a:solidFill>
                  <a:srgbClr val="030305"/>
                </a:solidFill>
                <a:latin typeface="+mn-ea"/>
              </a:rPr>
              <a:t>转</a:t>
            </a:r>
            <a:r>
              <a:rPr lang="zh-CN" altLang="en-US" sz="2400" b="1" dirty="0">
                <a:solidFill>
                  <a:srgbClr val="030305"/>
                </a:solidFill>
                <a:latin typeface="+mn-ea"/>
                <a:hlinkClick r:id="rId1" action="ppaction://hlinksldjump"/>
              </a:rPr>
              <a:t>步骤</a:t>
            </a:r>
            <a:r>
              <a:rPr lang="en-US" altLang="zh-CN" sz="2400" b="1" dirty="0">
                <a:solidFill>
                  <a:srgbClr val="030305"/>
                </a:solidFill>
                <a:latin typeface="+mn-ea"/>
                <a:hlinkClick r:id="rId1" action="ppaction://hlinksldjump"/>
              </a:rPr>
              <a:t>4</a:t>
            </a:r>
            <a:r>
              <a:rPr lang="en-US" altLang="zh-CN" sz="2400" b="1" dirty="0">
                <a:solidFill>
                  <a:srgbClr val="030305"/>
                </a:solidFill>
                <a:latin typeface="+mn-ea"/>
              </a:rPr>
              <a:t> </a:t>
            </a:r>
            <a:r>
              <a:rPr lang="zh-CN" altLang="en-US" sz="2400" b="1" dirty="0">
                <a:solidFill>
                  <a:srgbClr val="030305"/>
                </a:solidFill>
                <a:latin typeface="+mn-ea"/>
              </a:rPr>
              <a:t>。</a:t>
            </a:r>
            <a:endParaRPr lang="zh-CN" altLang="en-US" sz="2400" b="1" dirty="0">
              <a:solidFill>
                <a:srgbClr val="030305"/>
              </a:solidFill>
              <a:latin typeface="+mn-ea"/>
            </a:endParaRPr>
          </a:p>
          <a:p>
            <a:pPr>
              <a:lnSpc>
                <a:spcPct val="125000"/>
              </a:lnSpc>
              <a:spcBef>
                <a:spcPts val="0"/>
              </a:spcBef>
              <a:spcAft>
                <a:spcPts val="0"/>
              </a:spcAft>
              <a:buFontTx/>
              <a:buNone/>
            </a:pPr>
            <a:r>
              <a:rPr lang="en-US" altLang="zh-CN" sz="2400" b="1" dirty="0">
                <a:solidFill>
                  <a:srgbClr val="030305"/>
                </a:solidFill>
                <a:latin typeface="+mn-ea"/>
              </a:rPr>
              <a:t>②</a:t>
            </a:r>
            <a:r>
              <a:rPr lang="zh-CN" altLang="en-US" sz="2400" b="1" dirty="0">
                <a:solidFill>
                  <a:srgbClr val="030305"/>
                </a:solidFill>
                <a:latin typeface="+mn-ea"/>
              </a:rPr>
              <a:t>检查</a:t>
            </a:r>
            <a:r>
              <a:rPr lang="en-US" altLang="zh-CN" sz="2400" b="1" dirty="0">
                <a:solidFill>
                  <a:srgbClr val="030305"/>
                </a:solidFill>
                <a:latin typeface="+mn-ea"/>
              </a:rPr>
              <a:t>DAG</a:t>
            </a:r>
            <a:r>
              <a:rPr lang="zh-CN" altLang="en-US" sz="2400" b="1" dirty="0">
                <a:solidFill>
                  <a:srgbClr val="030305"/>
                </a:solidFill>
                <a:latin typeface="+mn-ea"/>
              </a:rPr>
              <a:t>中是否已有一节点，其左后继为</a:t>
            </a:r>
            <a:r>
              <a:rPr lang="en-US" altLang="zh-CN" sz="2400" b="1" dirty="0">
                <a:latin typeface="+mn-ea"/>
              </a:rPr>
              <a:t>node</a:t>
            </a:r>
            <a:r>
              <a:rPr lang="en-US" altLang="zh-CN" sz="2400" b="1" dirty="0">
                <a:solidFill>
                  <a:srgbClr val="030305"/>
                </a:solidFill>
                <a:latin typeface="+mn-ea"/>
              </a:rPr>
              <a:t> (B)</a:t>
            </a:r>
            <a:r>
              <a:rPr lang="zh-CN" altLang="en-US" sz="2400" b="1" dirty="0">
                <a:solidFill>
                  <a:srgbClr val="030305"/>
                </a:solidFill>
                <a:latin typeface="+mn-ea"/>
              </a:rPr>
              <a:t>，右后继为</a:t>
            </a:r>
            <a:r>
              <a:rPr lang="en-US" altLang="zh-CN" sz="2400" b="1" dirty="0">
                <a:latin typeface="+mn-ea"/>
              </a:rPr>
              <a:t>node</a:t>
            </a:r>
            <a:r>
              <a:rPr lang="en-US" altLang="zh-CN" sz="2400" b="1" dirty="0">
                <a:solidFill>
                  <a:srgbClr val="030305"/>
                </a:solidFill>
                <a:latin typeface="+mn-ea"/>
              </a:rPr>
              <a:t> (C)</a:t>
            </a:r>
            <a:r>
              <a:rPr lang="zh-CN" altLang="en-US" sz="2400" b="1" dirty="0">
                <a:solidFill>
                  <a:srgbClr val="030305"/>
                </a:solidFill>
                <a:latin typeface="+mn-ea"/>
              </a:rPr>
              <a:t>且标记为</a:t>
            </a:r>
            <a:r>
              <a:rPr lang="en-US" altLang="zh-CN" sz="2400" b="1" dirty="0">
                <a:solidFill>
                  <a:srgbClr val="030305"/>
                </a:solidFill>
                <a:latin typeface="+mn-ea"/>
              </a:rPr>
              <a:t>op(</a:t>
            </a:r>
            <a:r>
              <a:rPr lang="zh-CN" altLang="en-US" sz="2400" b="1" dirty="0">
                <a:solidFill>
                  <a:srgbClr val="030305"/>
                </a:solidFill>
                <a:latin typeface="+mn-ea"/>
              </a:rPr>
              <a:t>即找公共子表达式</a:t>
            </a:r>
            <a:r>
              <a:rPr lang="en-US" altLang="zh-CN" sz="2400" b="1" dirty="0">
                <a:solidFill>
                  <a:srgbClr val="030305"/>
                </a:solidFill>
                <a:latin typeface="+mn-ea"/>
              </a:rPr>
              <a:t>)</a:t>
            </a:r>
            <a:r>
              <a:rPr lang="zh-CN" altLang="en-US" sz="2400" b="1" dirty="0">
                <a:solidFill>
                  <a:srgbClr val="030305"/>
                </a:solidFill>
                <a:latin typeface="+mn-ea"/>
              </a:rPr>
              <a:t>。如果没有，则构造节点</a:t>
            </a:r>
            <a:r>
              <a:rPr lang="en-US" altLang="zh-CN" sz="2400" b="1" dirty="0">
                <a:solidFill>
                  <a:srgbClr val="030305"/>
                </a:solidFill>
                <a:latin typeface="+mn-ea"/>
              </a:rPr>
              <a:t>n</a:t>
            </a:r>
            <a:r>
              <a:rPr lang="zh-CN" altLang="en-US" sz="2400" b="1" dirty="0">
                <a:solidFill>
                  <a:srgbClr val="030305"/>
                </a:solidFill>
                <a:latin typeface="+mn-ea"/>
              </a:rPr>
              <a:t>，否则设该节点为</a:t>
            </a:r>
            <a:r>
              <a:rPr lang="en-US" altLang="zh-CN" sz="2400" b="1" dirty="0">
                <a:solidFill>
                  <a:srgbClr val="030305"/>
                </a:solidFill>
                <a:latin typeface="+mn-ea"/>
              </a:rPr>
              <a:t>n</a:t>
            </a:r>
            <a:r>
              <a:rPr lang="zh-CN" altLang="en-US" sz="2400" b="1" dirty="0">
                <a:solidFill>
                  <a:srgbClr val="030305"/>
                </a:solidFill>
                <a:latin typeface="+mn-ea"/>
              </a:rPr>
              <a:t>，转</a:t>
            </a:r>
            <a:r>
              <a:rPr lang="zh-CN" altLang="en-US" sz="2400" b="1" dirty="0">
                <a:solidFill>
                  <a:srgbClr val="030305"/>
                </a:solidFill>
                <a:latin typeface="+mn-ea"/>
                <a:hlinkClick r:id="rId1" action="ppaction://hlinksldjump"/>
              </a:rPr>
              <a:t>步骤</a:t>
            </a:r>
            <a:r>
              <a:rPr lang="en-US" altLang="zh-CN" sz="2400" b="1" dirty="0">
                <a:solidFill>
                  <a:srgbClr val="030305"/>
                </a:solidFill>
                <a:latin typeface="+mn-ea"/>
                <a:hlinkClick r:id="rId1" action="ppaction://hlinksldjump"/>
              </a:rPr>
              <a:t>4</a:t>
            </a:r>
            <a:r>
              <a:rPr lang="en-US" altLang="zh-CN" sz="2400" b="1" dirty="0">
                <a:solidFill>
                  <a:srgbClr val="030305"/>
                </a:solidFill>
                <a:latin typeface="+mn-ea"/>
              </a:rPr>
              <a:t> </a:t>
            </a:r>
            <a:r>
              <a:rPr lang="zh-CN" altLang="en-US" sz="2400" b="1" dirty="0">
                <a:solidFill>
                  <a:srgbClr val="030305"/>
                </a:solidFill>
                <a:latin typeface="+mn-ea"/>
              </a:rPr>
              <a:t>。</a:t>
            </a:r>
            <a:endParaRPr lang="en-US" altLang="zh-CN" sz="2400" b="1" dirty="0">
              <a:solidFill>
                <a:srgbClr val="030305"/>
              </a:solidFill>
              <a:latin typeface="+mn-ea"/>
            </a:endParaRPr>
          </a:p>
        </p:txBody>
      </p:sp>
      <p:sp>
        <p:nvSpPr>
          <p:cNvPr id="8" name="Rectangle 4"/>
          <p:cNvSpPr txBox="1"/>
          <p:nvPr/>
        </p:nvSpPr>
        <p:spPr>
          <a:xfrm>
            <a:off x="369570" y="3586480"/>
            <a:ext cx="11362690" cy="259270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solidFill>
                  <a:srgbClr val="0070C0"/>
                </a:solidFill>
                <a:latin typeface="+mn-ea"/>
              </a:rPr>
              <a:t>步骤</a:t>
            </a:r>
            <a:r>
              <a:rPr lang="en-US" altLang="zh-CN" sz="2400" b="1" dirty="0">
                <a:solidFill>
                  <a:srgbClr val="0070C0"/>
                </a:solidFill>
                <a:latin typeface="+mn-ea"/>
              </a:rPr>
              <a:t>4</a:t>
            </a:r>
            <a:r>
              <a:rPr lang="zh-CN" altLang="en-US" sz="2400" b="1" dirty="0">
                <a:solidFill>
                  <a:srgbClr val="0070C0"/>
                </a:solidFill>
                <a:latin typeface="+mn-ea"/>
              </a:rPr>
              <a:t>：（</a:t>
            </a:r>
            <a:r>
              <a:rPr lang="zh-CN" altLang="en-US" sz="2400" b="1" dirty="0">
                <a:solidFill>
                  <a:srgbClr val="0070C0"/>
                </a:solidFill>
                <a:sym typeface="+mn-ea"/>
              </a:rPr>
              <a:t>删除无用赋值</a:t>
            </a:r>
            <a:r>
              <a:rPr lang="zh-CN" altLang="en-US" sz="2400" b="1" dirty="0">
                <a:solidFill>
                  <a:srgbClr val="0070C0"/>
                </a:solidFill>
                <a:latin typeface="+mn-ea"/>
              </a:rPr>
              <a:t>）</a:t>
            </a:r>
            <a:endParaRPr lang="zh-CN" altLang="en-US" sz="2400" b="1" dirty="0">
              <a:solidFill>
                <a:srgbClr val="0070C0"/>
              </a:solidFill>
              <a:latin typeface="+mn-ea"/>
            </a:endParaRPr>
          </a:p>
          <a:p>
            <a:pPr marL="967105" lvl="1" indent="-495935">
              <a:lnSpc>
                <a:spcPct val="125000"/>
              </a:lnSpc>
              <a:spcAft>
                <a:spcPts val="0"/>
              </a:spcAft>
              <a:buFont typeface="Wingdings" panose="05000000000000000000" pitchFamily="2" charset="2"/>
              <a:buAutoNum type="circleNumDbPlain"/>
            </a:pPr>
            <a:r>
              <a:rPr lang="zh-CN" altLang="en-US" b="1" dirty="0">
                <a:solidFill>
                  <a:srgbClr val="030305"/>
                </a:solidFill>
                <a:latin typeface="+mn-ea"/>
              </a:rPr>
              <a:t>如果</a:t>
            </a:r>
            <a:r>
              <a:rPr lang="en-US" altLang="zh-CN" b="1" dirty="0">
                <a:latin typeface="+mn-ea"/>
              </a:rPr>
              <a:t>node</a:t>
            </a:r>
            <a:r>
              <a:rPr lang="en-US" altLang="zh-CN" b="1" dirty="0">
                <a:solidFill>
                  <a:srgbClr val="030305"/>
                </a:solidFill>
                <a:latin typeface="+mn-ea"/>
              </a:rPr>
              <a:t> (A)</a:t>
            </a:r>
            <a:r>
              <a:rPr lang="zh-CN" altLang="en-US" b="1" dirty="0">
                <a:solidFill>
                  <a:srgbClr val="030305"/>
                </a:solidFill>
                <a:latin typeface="+mn-ea"/>
              </a:rPr>
              <a:t>有定义，把</a:t>
            </a:r>
            <a:r>
              <a:rPr lang="en-US" altLang="zh-CN" b="1" dirty="0">
                <a:solidFill>
                  <a:srgbClr val="030305"/>
                </a:solidFill>
                <a:latin typeface="+mn-ea"/>
              </a:rPr>
              <a:t>A</a:t>
            </a:r>
            <a:r>
              <a:rPr lang="zh-CN" altLang="en-US" b="1" dirty="0">
                <a:solidFill>
                  <a:srgbClr val="030305"/>
                </a:solidFill>
                <a:latin typeface="+mn-ea"/>
              </a:rPr>
              <a:t>从</a:t>
            </a:r>
            <a:r>
              <a:rPr lang="en-US" altLang="zh-CN" b="1" dirty="0">
                <a:latin typeface="+mn-ea"/>
              </a:rPr>
              <a:t>node</a:t>
            </a:r>
            <a:r>
              <a:rPr lang="en-US" altLang="zh-CN" b="1" dirty="0">
                <a:solidFill>
                  <a:srgbClr val="030305"/>
                </a:solidFill>
                <a:latin typeface="+mn-ea"/>
              </a:rPr>
              <a:t> (A)</a:t>
            </a:r>
            <a:r>
              <a:rPr lang="zh-CN" altLang="en-US" b="1" dirty="0">
                <a:solidFill>
                  <a:srgbClr val="030305"/>
                </a:solidFill>
                <a:latin typeface="+mn-ea"/>
              </a:rPr>
              <a:t>节点上附加标识集中删除；</a:t>
            </a:r>
            <a:endParaRPr lang="zh-CN" altLang="en-US" b="1" dirty="0">
              <a:solidFill>
                <a:srgbClr val="030305"/>
              </a:solidFill>
              <a:latin typeface="+mn-ea"/>
            </a:endParaRPr>
          </a:p>
          <a:p>
            <a:pPr marL="967105" lvl="1" indent="-495935">
              <a:lnSpc>
                <a:spcPct val="125000"/>
              </a:lnSpc>
              <a:spcAft>
                <a:spcPts val="0"/>
              </a:spcAft>
              <a:buFont typeface="Wingdings" panose="05000000000000000000" pitchFamily="2" charset="2"/>
              <a:buAutoNum type="circleNumDbPlain"/>
            </a:pPr>
            <a:r>
              <a:rPr lang="zh-CN" altLang="en-US" b="1" dirty="0">
                <a:solidFill>
                  <a:srgbClr val="030305"/>
                </a:solidFill>
                <a:latin typeface="+mn-ea"/>
              </a:rPr>
              <a:t>把</a:t>
            </a:r>
            <a:r>
              <a:rPr lang="en-US" altLang="zh-CN" b="1" dirty="0">
                <a:solidFill>
                  <a:srgbClr val="030305"/>
                </a:solidFill>
                <a:latin typeface="+mn-ea"/>
              </a:rPr>
              <a:t>A</a:t>
            </a:r>
            <a:r>
              <a:rPr lang="zh-CN" altLang="en-US" b="1" dirty="0">
                <a:solidFill>
                  <a:srgbClr val="030305"/>
                </a:solidFill>
                <a:latin typeface="+mn-ea"/>
              </a:rPr>
              <a:t>附加在节点</a:t>
            </a:r>
            <a:r>
              <a:rPr lang="en-US" altLang="zh-CN" b="1" dirty="0">
                <a:solidFill>
                  <a:srgbClr val="030305"/>
                </a:solidFill>
                <a:latin typeface="+mn-ea"/>
              </a:rPr>
              <a:t>n</a:t>
            </a:r>
            <a:r>
              <a:rPr lang="zh-CN" altLang="en-US" b="1" dirty="0">
                <a:solidFill>
                  <a:srgbClr val="030305"/>
                </a:solidFill>
                <a:latin typeface="+mn-ea"/>
              </a:rPr>
              <a:t>上并令</a:t>
            </a:r>
            <a:r>
              <a:rPr lang="en-US" altLang="zh-CN" b="1" dirty="0">
                <a:latin typeface="+mn-ea"/>
              </a:rPr>
              <a:t>node</a:t>
            </a:r>
            <a:r>
              <a:rPr lang="en-US" altLang="zh-CN" b="1" dirty="0">
                <a:solidFill>
                  <a:srgbClr val="030305"/>
                </a:solidFill>
                <a:latin typeface="+mn-ea"/>
              </a:rPr>
              <a:t> (A)=n</a:t>
            </a:r>
            <a:r>
              <a:rPr lang="zh-CN" altLang="en-US" b="1" dirty="0">
                <a:solidFill>
                  <a:srgbClr val="030305"/>
                </a:solidFill>
                <a:latin typeface="+mn-ea"/>
              </a:rPr>
              <a:t>；</a:t>
            </a:r>
            <a:endParaRPr lang="zh-CN" altLang="en-US" b="1" dirty="0">
              <a:solidFill>
                <a:srgbClr val="030305"/>
              </a:solidFill>
              <a:latin typeface="+mn-ea"/>
            </a:endParaRPr>
          </a:p>
          <a:p>
            <a:pPr marL="967105" lvl="1" indent="-495935">
              <a:lnSpc>
                <a:spcPct val="125000"/>
              </a:lnSpc>
              <a:spcAft>
                <a:spcPts val="0"/>
              </a:spcAft>
              <a:buFont typeface="Wingdings" panose="05000000000000000000" pitchFamily="2" charset="2"/>
              <a:buAutoNum type="circleNumDbPlain"/>
            </a:pPr>
            <a:r>
              <a:rPr lang="zh-CN" altLang="en-US" b="1" dirty="0">
                <a:solidFill>
                  <a:srgbClr val="030305"/>
                </a:solidFill>
                <a:latin typeface="+mn-ea"/>
              </a:rPr>
              <a:t>接着处理下一个</a:t>
            </a:r>
            <a:r>
              <a:rPr lang="zh-CN" altLang="en-US" b="1" dirty="0">
                <a:solidFill>
                  <a:srgbClr val="030305"/>
                </a:solidFill>
                <a:latin typeface="+mn-ea"/>
                <a:sym typeface="+mn-ea"/>
              </a:rPr>
              <a:t>三地址码</a:t>
            </a:r>
            <a:r>
              <a:rPr lang="zh-CN" altLang="en-US" b="1" dirty="0">
                <a:solidFill>
                  <a:srgbClr val="030305"/>
                </a:solidFill>
                <a:latin typeface="+mn-ea"/>
              </a:rPr>
              <a:t>。</a:t>
            </a:r>
            <a:endParaRPr lang="zh-CN" altLang="en-US"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arn(in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arn(inHorizontal)">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barn(inHorizontal)">
                                      <p:cBhvr>
                                        <p:cTn id="17"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4020" y="276860"/>
            <a:ext cx="6363335" cy="593090"/>
          </a:xfrm>
        </p:spPr>
        <p:txBody>
          <a:bodyPr/>
          <a:lstStyle/>
          <a:p>
            <a:r>
              <a:rPr lang="en-US" altLang="zh-CN" dirty="0"/>
              <a:t>8.1.4 </a:t>
            </a:r>
            <a:r>
              <a:rPr lang="zh-CN" altLang="en-US" dirty="0"/>
              <a:t>基本块优化的实现</a:t>
            </a:r>
            <a:endParaRPr lang="zh-CN" altLang="en-US" dirty="0"/>
          </a:p>
        </p:txBody>
      </p:sp>
      <p:sp>
        <p:nvSpPr>
          <p:cNvPr id="4" name="Rectangle 3"/>
          <p:cNvSpPr txBox="1"/>
          <p:nvPr/>
        </p:nvSpPr>
        <p:spPr>
          <a:xfrm>
            <a:off x="353695" y="1088390"/>
            <a:ext cx="11485245" cy="431990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latin typeface="+mn-ea"/>
              </a:rPr>
              <a:t>从</a:t>
            </a:r>
            <a:r>
              <a:rPr lang="en-US" altLang="zh-CN" sz="2400" b="1" dirty="0">
                <a:latin typeface="+mn-ea"/>
              </a:rPr>
              <a:t>DAG</a:t>
            </a:r>
            <a:r>
              <a:rPr lang="zh-CN" altLang="en-US" sz="2400" b="1" dirty="0">
                <a:latin typeface="+mn-ea"/>
              </a:rPr>
              <a:t>重建三地址码序列算法：按照</a:t>
            </a:r>
            <a:r>
              <a:rPr lang="en-US" altLang="zh-CN" sz="2400" b="1" dirty="0">
                <a:latin typeface="+mn-ea"/>
              </a:rPr>
              <a:t>DAG</a:t>
            </a:r>
            <a:r>
              <a:rPr lang="zh-CN" altLang="en-US" sz="2400" b="1" dirty="0">
                <a:latin typeface="+mn-ea"/>
              </a:rPr>
              <a:t>图中的各个节点生成的次序，对每个节点</a:t>
            </a:r>
            <a:r>
              <a:rPr lang="en-US" altLang="zh-CN" sz="2400" b="1" dirty="0">
                <a:latin typeface="+mn-ea"/>
              </a:rPr>
              <a:t>n</a:t>
            </a:r>
            <a:r>
              <a:rPr lang="zh-CN" altLang="en-US" sz="2400" b="1" dirty="0">
                <a:latin typeface="+mn-ea"/>
              </a:rPr>
              <a:t>作如下处理：</a:t>
            </a:r>
            <a:endParaRPr lang="zh-CN" altLang="en-US" sz="2400"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rPr>
              <a:t>若</a:t>
            </a:r>
            <a:r>
              <a:rPr lang="en-US" altLang="zh-CN" b="1" dirty="0">
                <a:latin typeface="+mn-ea"/>
              </a:rPr>
              <a:t>n</a:t>
            </a:r>
            <a:r>
              <a:rPr lang="zh-CN" altLang="en-US" b="1" dirty="0">
                <a:latin typeface="+mn-ea"/>
              </a:rPr>
              <a:t>是叶子节点，且附加标识符表为空，则不生成三地址码。</a:t>
            </a:r>
            <a:endParaRPr lang="zh-CN" altLang="en-US"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rPr>
              <a:t>若</a:t>
            </a:r>
            <a:r>
              <a:rPr lang="en-US" altLang="zh-CN" b="1" dirty="0">
                <a:latin typeface="+mn-ea"/>
              </a:rPr>
              <a:t>n</a:t>
            </a:r>
            <a:r>
              <a:rPr lang="zh-CN" altLang="en-US" b="1" dirty="0">
                <a:latin typeface="+mn-ea"/>
              </a:rPr>
              <a:t>是内部节点，第一个附加标识符为</a:t>
            </a:r>
            <a:r>
              <a:rPr lang="en-US" altLang="zh-CN" b="1" dirty="0">
                <a:latin typeface="+mn-ea"/>
              </a:rPr>
              <a:t>z1</a:t>
            </a:r>
            <a:r>
              <a:rPr lang="zh-CN" altLang="en-US" b="1" dirty="0">
                <a:latin typeface="+mn-ea"/>
              </a:rPr>
              <a:t>，根据其标记</a:t>
            </a:r>
            <a:r>
              <a:rPr lang="en-US" altLang="zh-CN" b="1" dirty="0">
                <a:latin typeface="+mn-ea"/>
              </a:rPr>
              <a:t>op</a:t>
            </a:r>
            <a:r>
              <a:rPr lang="zh-CN" altLang="en-US" b="1" dirty="0">
                <a:latin typeface="+mn-ea"/>
              </a:rPr>
              <a:t>和子节点数目，生成下列形式的三地址码。</a:t>
            </a:r>
            <a:endParaRPr lang="zh-CN" altLang="en-US" b="1" dirty="0">
              <a:latin typeface="+mn-ea"/>
            </a:endParaRPr>
          </a:p>
          <a:p>
            <a:pPr lvl="2">
              <a:lnSpc>
                <a:spcPct val="125000"/>
              </a:lnSpc>
              <a:spcBef>
                <a:spcPct val="0"/>
              </a:spcBef>
              <a:spcAft>
                <a:spcPts val="0"/>
              </a:spcAft>
              <a:buFont typeface="Wingdings" panose="05000000000000000000" charset="0"/>
              <a:buChar char="p"/>
            </a:pPr>
            <a:r>
              <a:rPr lang="zh-CN" altLang="en-US" sz="2400" b="1" dirty="0">
                <a:latin typeface="+mn-ea"/>
              </a:rPr>
              <a:t>有两个子节点，生成</a:t>
            </a:r>
            <a:r>
              <a:rPr lang="en-US" altLang="zh-CN" sz="2400" b="1" dirty="0">
                <a:latin typeface="+mn-ea"/>
              </a:rPr>
              <a:t> 	z1 = x  op y</a:t>
            </a:r>
            <a:endParaRPr lang="en-US" altLang="zh-CN" sz="2400" b="1" dirty="0">
              <a:latin typeface="+mn-ea"/>
            </a:endParaRPr>
          </a:p>
          <a:p>
            <a:pPr lvl="2">
              <a:lnSpc>
                <a:spcPct val="125000"/>
              </a:lnSpc>
              <a:spcBef>
                <a:spcPct val="0"/>
              </a:spcBef>
              <a:spcAft>
                <a:spcPts val="0"/>
              </a:spcAft>
              <a:buFont typeface="Wingdings" panose="05000000000000000000" charset="0"/>
              <a:buChar char="p"/>
            </a:pPr>
            <a:r>
              <a:rPr lang="zh-CN" altLang="en-US" sz="2400" b="1" dirty="0">
                <a:latin typeface="+mn-ea"/>
              </a:rPr>
              <a:t>只有一个子节点，生成	</a:t>
            </a:r>
            <a:r>
              <a:rPr lang="en-US" altLang="zh-CN" sz="2400" b="1" dirty="0">
                <a:latin typeface="+mn-ea"/>
              </a:rPr>
              <a:t>z1 =</a:t>
            </a:r>
            <a:r>
              <a:rPr lang="zh-CN" altLang="en-US" sz="2400" b="1" dirty="0">
                <a:latin typeface="+mn-ea"/>
              </a:rPr>
              <a:t> </a:t>
            </a:r>
            <a:r>
              <a:rPr lang="en-US" altLang="zh-CN" sz="2400" b="1" dirty="0">
                <a:latin typeface="+mn-ea"/>
              </a:rPr>
              <a:t>op x</a:t>
            </a:r>
            <a:endParaRPr lang="zh-CN" altLang="en-US" sz="2400" b="1" dirty="0">
              <a:latin typeface="+mn-ea"/>
            </a:endParaRPr>
          </a:p>
        </p:txBody>
      </p:sp>
      <p:sp>
        <p:nvSpPr>
          <p:cNvPr id="5" name="Rectangle 3"/>
          <p:cNvSpPr txBox="1"/>
          <p:nvPr/>
        </p:nvSpPr>
        <p:spPr>
          <a:xfrm>
            <a:off x="414020" y="4259580"/>
            <a:ext cx="11417935" cy="403225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5000"/>
              </a:lnSpc>
              <a:spcBef>
                <a:spcPct val="0"/>
              </a:spcBef>
              <a:spcAft>
                <a:spcPts val="0"/>
              </a:spcAft>
              <a:buFont typeface="Wingdings" panose="05000000000000000000" charset="0"/>
              <a:buChar char="p"/>
            </a:pPr>
            <a:r>
              <a:rPr lang="zh-CN" altLang="en-US" b="1" dirty="0">
                <a:latin typeface="+mn-ea"/>
              </a:rPr>
              <a:t>如果节点</a:t>
            </a:r>
            <a:r>
              <a:rPr lang="en-US" altLang="zh-CN" b="1" dirty="0">
                <a:latin typeface="+mn-ea"/>
              </a:rPr>
              <a:t>n</a:t>
            </a:r>
            <a:r>
              <a:rPr lang="zh-CN" altLang="en-US" b="1" dirty="0">
                <a:latin typeface="+mn-ea"/>
              </a:rPr>
              <a:t>的标识符中包含多个附加标识符</a:t>
            </a:r>
            <a:r>
              <a:rPr lang="en-US" altLang="zh-CN" b="1" dirty="0">
                <a:latin typeface="+mn-ea"/>
              </a:rPr>
              <a:t>z1,z2,…,</a:t>
            </a:r>
            <a:r>
              <a:rPr lang="en-US" altLang="zh-CN" b="1" dirty="0" err="1">
                <a:latin typeface="+mn-ea"/>
              </a:rPr>
              <a:t>zk</a:t>
            </a:r>
            <a:r>
              <a:rPr lang="en-US" altLang="zh-CN" b="1" dirty="0">
                <a:latin typeface="+mn-ea"/>
              </a:rPr>
              <a:t>(k</a:t>
            </a:r>
            <a:r>
              <a:rPr lang="en-US" altLang="en-US" b="1" dirty="0">
                <a:latin typeface="+mn-ea"/>
              </a:rPr>
              <a:t>≥</a:t>
            </a:r>
            <a:r>
              <a:rPr lang="en-US" altLang="zh-CN" b="1" dirty="0">
                <a:latin typeface="+mn-ea"/>
              </a:rPr>
              <a:t>2)</a:t>
            </a:r>
            <a:r>
              <a:rPr lang="zh-CN" altLang="en-US" b="1" dirty="0">
                <a:latin typeface="+mn-ea"/>
              </a:rPr>
              <a:t>时：</a:t>
            </a:r>
            <a:endParaRPr lang="zh-CN" altLang="en-US" b="1" dirty="0">
              <a:latin typeface="+mn-ea"/>
            </a:endParaRPr>
          </a:p>
          <a:p>
            <a:pPr lvl="2">
              <a:lnSpc>
                <a:spcPct val="125000"/>
              </a:lnSpc>
              <a:spcBef>
                <a:spcPct val="0"/>
              </a:spcBef>
              <a:spcAft>
                <a:spcPts val="0"/>
              </a:spcAft>
              <a:buFont typeface="Wingdings" panose="05000000000000000000" charset="0"/>
              <a:buChar char="p"/>
            </a:pPr>
            <a:r>
              <a:rPr lang="zh-CN" altLang="en-US" sz="2400" b="1" dirty="0">
                <a:latin typeface="+mn-ea"/>
              </a:rPr>
              <a:t>还要生成如下所示的一系列三地址码</a:t>
            </a:r>
            <a:endParaRPr lang="zh-CN" altLang="en-US" sz="2400" b="1" dirty="0">
              <a:latin typeface="+mn-ea"/>
            </a:endParaRPr>
          </a:p>
          <a:p>
            <a:pPr marL="1371600" lvl="3" indent="0">
              <a:lnSpc>
                <a:spcPct val="125000"/>
              </a:lnSpc>
              <a:spcBef>
                <a:spcPct val="0"/>
              </a:spcBef>
              <a:spcAft>
                <a:spcPts val="0"/>
              </a:spcAft>
              <a:buNone/>
            </a:pPr>
            <a:r>
              <a:rPr lang="en-US" altLang="zh-CN" sz="2400" b="1" dirty="0">
                <a:latin typeface="+mn-ea"/>
              </a:rPr>
              <a:t>z2 = z1	…	</a:t>
            </a:r>
            <a:r>
              <a:rPr lang="en-US" altLang="zh-CN" sz="2400" b="1" dirty="0" err="1">
                <a:latin typeface="+mn-ea"/>
              </a:rPr>
              <a:t>zk</a:t>
            </a:r>
            <a:r>
              <a:rPr lang="en-US" altLang="zh-CN" sz="2400" b="1" dirty="0">
                <a:latin typeface="+mn-ea"/>
              </a:rPr>
              <a:t> =z1	</a:t>
            </a:r>
            <a:endParaRPr lang="en-US" altLang="zh-CN"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arn(inHorizontal)">
                                      <p:cBhvr>
                                        <p:cTn id="12" dur="500"/>
                                        <p:tgtEl>
                                          <p:spTgt spid="4">
                                            <p:txEl>
                                              <p:pRg st="2" end="2"/>
                                            </p:txEl>
                                          </p:spTgt>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barn(inHorizontal)">
                                      <p:cBhvr>
                                        <p:cTn id="15" dur="500"/>
                                        <p:tgtEl>
                                          <p:spTgt spid="4">
                                            <p:txEl>
                                              <p:pRg st="3" end="3"/>
                                            </p:txEl>
                                          </p:spTgt>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barn(inHorizontal)">
                                      <p:cBhvr>
                                        <p:cTn id="18" dur="500"/>
                                        <p:tgtEl>
                                          <p:spTgt spid="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00050" y="276860"/>
            <a:ext cx="7901305" cy="593090"/>
          </a:xfrm>
        </p:spPr>
        <p:txBody>
          <a:bodyPr/>
          <a:lstStyle/>
          <a:p>
            <a:r>
              <a:rPr lang="en-US" altLang="zh-CN" dirty="0"/>
              <a:t>8.1.4 </a:t>
            </a:r>
            <a:r>
              <a:rPr lang="zh-CN" altLang="en-US" dirty="0"/>
              <a:t>基本块优化的实现</a:t>
            </a:r>
            <a:endParaRPr lang="zh-CN" altLang="en-US" dirty="0"/>
          </a:p>
        </p:txBody>
      </p:sp>
      <p:sp>
        <p:nvSpPr>
          <p:cNvPr id="57" name="Rectangle 53"/>
          <p:cNvSpPr/>
          <p:nvPr/>
        </p:nvSpPr>
        <p:spPr>
          <a:xfrm>
            <a:off x="427562" y="1391495"/>
            <a:ext cx="2514599" cy="523240"/>
          </a:xfrm>
          <a:prstGeom prst="rect">
            <a:avLst/>
          </a:prstGeom>
          <a:noFill/>
          <a:ln w="9525">
            <a:noFill/>
          </a:ln>
        </p:spPr>
        <p:txBody>
          <a:bodyPr wrap="square" lIns="90000" tIns="46800" rIns="90000" bIns="4680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800" b="1" dirty="0">
                <a:solidFill>
                  <a:srgbClr val="0070C0"/>
                </a:solidFill>
                <a:latin typeface="+mn-ea"/>
              </a:rPr>
              <a:t>DAG</a:t>
            </a:r>
            <a:r>
              <a:rPr lang="zh-CN" altLang="en-US" sz="2800" b="1" dirty="0">
                <a:solidFill>
                  <a:srgbClr val="0070C0"/>
                </a:solidFill>
                <a:latin typeface="+mn-ea"/>
              </a:rPr>
              <a:t>构造实例：</a:t>
            </a:r>
            <a:endParaRPr lang="zh-CN" altLang="en-US" sz="2800" b="1" dirty="0">
              <a:solidFill>
                <a:srgbClr val="0070C0"/>
              </a:solidFill>
              <a:latin typeface="+mn-ea"/>
            </a:endParaRPr>
          </a:p>
        </p:txBody>
      </p:sp>
      <p:sp>
        <p:nvSpPr>
          <p:cNvPr id="58" name="Text Box 54"/>
          <p:cNvSpPr txBox="1"/>
          <p:nvPr/>
        </p:nvSpPr>
        <p:spPr>
          <a:xfrm>
            <a:off x="427563" y="2085083"/>
            <a:ext cx="2362200" cy="332295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T</a:t>
            </a:r>
            <a:r>
              <a:rPr lang="en-US" altLang="zh-CN" sz="2000" b="1" baseline="-25000" dirty="0">
                <a:solidFill>
                  <a:srgbClr val="030305"/>
                </a:solidFill>
                <a:latin typeface="+mn-ea"/>
              </a:rPr>
              <a:t>1</a:t>
            </a:r>
            <a:r>
              <a:rPr lang="en-US" altLang="zh-CN" sz="2000" b="1" dirty="0">
                <a:solidFill>
                  <a:srgbClr val="030305"/>
                </a:solidFill>
                <a:latin typeface="+mn-ea"/>
              </a:rPr>
              <a:t>=A*B</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T</a:t>
            </a:r>
            <a:r>
              <a:rPr lang="en-US" altLang="zh-CN" sz="2000" b="1" baseline="-25000" dirty="0">
                <a:solidFill>
                  <a:srgbClr val="030305"/>
                </a:solidFill>
                <a:latin typeface="+mn-ea"/>
              </a:rPr>
              <a:t>2</a:t>
            </a:r>
            <a:r>
              <a:rPr lang="en-US" altLang="zh-CN" sz="2000" b="1" dirty="0">
                <a:solidFill>
                  <a:srgbClr val="030305"/>
                </a:solidFill>
                <a:latin typeface="+mn-ea"/>
              </a:rPr>
              <a:t>=3/2</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T</a:t>
            </a:r>
            <a:r>
              <a:rPr lang="en-US" altLang="zh-CN" sz="2000" b="1" baseline="-25000" dirty="0">
                <a:solidFill>
                  <a:srgbClr val="030305"/>
                </a:solidFill>
                <a:latin typeface="+mn-ea"/>
              </a:rPr>
              <a:t>3</a:t>
            </a:r>
            <a:r>
              <a:rPr lang="en-US" altLang="zh-CN" sz="2000" b="1" dirty="0">
                <a:solidFill>
                  <a:srgbClr val="030305"/>
                </a:solidFill>
                <a:latin typeface="+mn-ea"/>
              </a:rPr>
              <a:t>=T</a:t>
            </a:r>
            <a:r>
              <a:rPr lang="en-US" altLang="zh-CN" sz="2000" b="1" baseline="-25000" dirty="0">
                <a:solidFill>
                  <a:srgbClr val="030305"/>
                </a:solidFill>
                <a:latin typeface="+mn-ea"/>
              </a:rPr>
              <a:t>1</a:t>
            </a:r>
            <a:r>
              <a:rPr lang="en-US" altLang="zh-CN" sz="2000" b="1" dirty="0">
                <a:solidFill>
                  <a:srgbClr val="030305"/>
                </a:solidFill>
                <a:latin typeface="+mn-ea"/>
              </a:rPr>
              <a:t>-T</a:t>
            </a:r>
            <a:r>
              <a:rPr lang="en-US" altLang="zh-CN" sz="2000" b="1" baseline="-25000" dirty="0">
                <a:solidFill>
                  <a:srgbClr val="030305"/>
                </a:solidFill>
                <a:latin typeface="+mn-ea"/>
              </a:rPr>
              <a:t>2</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X=T</a:t>
            </a:r>
            <a:r>
              <a:rPr lang="en-US" altLang="zh-CN" sz="2000" b="1" baseline="-25000" dirty="0">
                <a:solidFill>
                  <a:srgbClr val="030305"/>
                </a:solidFill>
                <a:latin typeface="+mn-ea"/>
              </a:rPr>
              <a:t>3</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C=5</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T</a:t>
            </a:r>
            <a:r>
              <a:rPr lang="en-US" altLang="zh-CN" sz="2000" b="1" baseline="-25000" dirty="0">
                <a:solidFill>
                  <a:srgbClr val="030305"/>
                </a:solidFill>
                <a:latin typeface="+mn-ea"/>
              </a:rPr>
              <a:t>4</a:t>
            </a:r>
            <a:r>
              <a:rPr lang="en-US" altLang="zh-CN" sz="2000" b="1" dirty="0">
                <a:solidFill>
                  <a:srgbClr val="030305"/>
                </a:solidFill>
                <a:latin typeface="+mn-ea"/>
              </a:rPr>
              <a:t>=A*B</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C=2</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T</a:t>
            </a:r>
            <a:r>
              <a:rPr lang="en-US" altLang="zh-CN" sz="2000" b="1" baseline="-25000" dirty="0">
                <a:solidFill>
                  <a:srgbClr val="030305"/>
                </a:solidFill>
                <a:latin typeface="+mn-ea"/>
              </a:rPr>
              <a:t>5</a:t>
            </a:r>
            <a:r>
              <a:rPr lang="en-US" altLang="zh-CN" sz="2000" b="1" dirty="0">
                <a:solidFill>
                  <a:srgbClr val="030305"/>
                </a:solidFill>
                <a:latin typeface="+mn-ea"/>
              </a:rPr>
              <a:t>=18+C</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T</a:t>
            </a:r>
            <a:r>
              <a:rPr lang="en-US" altLang="zh-CN" sz="2000" b="1" baseline="-25000" dirty="0">
                <a:solidFill>
                  <a:srgbClr val="030305"/>
                </a:solidFill>
                <a:latin typeface="+mn-ea"/>
              </a:rPr>
              <a:t>6</a:t>
            </a:r>
            <a:r>
              <a:rPr lang="en-US" altLang="zh-CN" sz="2000" b="1" dirty="0">
                <a:solidFill>
                  <a:srgbClr val="030305"/>
                </a:solidFill>
                <a:latin typeface="+mn-ea"/>
              </a:rPr>
              <a:t>=T</a:t>
            </a:r>
            <a:r>
              <a:rPr lang="en-US" altLang="zh-CN" sz="2000" b="1" baseline="-25000" dirty="0">
                <a:solidFill>
                  <a:srgbClr val="030305"/>
                </a:solidFill>
                <a:latin typeface="+mn-ea"/>
              </a:rPr>
              <a:t>4</a:t>
            </a:r>
            <a:r>
              <a:rPr lang="en-US" altLang="zh-CN" sz="2000" b="1" dirty="0">
                <a:solidFill>
                  <a:srgbClr val="030305"/>
                </a:solidFill>
                <a:latin typeface="+mn-ea"/>
              </a:rPr>
              <a:t>*T</a:t>
            </a:r>
            <a:r>
              <a:rPr lang="en-US" altLang="zh-CN" sz="2000" b="1" baseline="-25000" dirty="0">
                <a:solidFill>
                  <a:srgbClr val="030305"/>
                </a:solidFill>
                <a:latin typeface="+mn-ea"/>
              </a:rPr>
              <a:t>5</a:t>
            </a:r>
            <a:endParaRPr lang="en-US" altLang="zh-CN" sz="2000" b="1" dirty="0">
              <a:solidFill>
                <a:srgbClr val="030305"/>
              </a:solidFill>
              <a:latin typeface="+mn-ea"/>
            </a:endParaRPr>
          </a:p>
          <a:p>
            <a:pPr marL="457200" lvl="0" indent="-457200" eaLnBrk="1" hangingPunct="1">
              <a:lnSpc>
                <a:spcPct val="60000"/>
              </a:lnSpc>
              <a:spcBef>
                <a:spcPct val="50000"/>
              </a:spcBef>
              <a:buClrTx/>
              <a:buFontTx/>
              <a:buAutoNum type="arabicPeriod"/>
            </a:pPr>
            <a:r>
              <a:rPr lang="en-US" altLang="zh-CN" sz="2000" b="1" dirty="0">
                <a:solidFill>
                  <a:srgbClr val="030305"/>
                </a:solidFill>
                <a:latin typeface="+mn-ea"/>
              </a:rPr>
              <a:t>Y=T</a:t>
            </a:r>
            <a:r>
              <a:rPr lang="en-US" altLang="zh-CN" sz="2000" b="1" baseline="-25000" dirty="0">
                <a:solidFill>
                  <a:srgbClr val="030305"/>
                </a:solidFill>
                <a:latin typeface="+mn-ea"/>
              </a:rPr>
              <a:t>6</a:t>
            </a:r>
            <a:endParaRPr lang="en-US" altLang="zh-CN" sz="2000" b="1" baseline="-25000" dirty="0">
              <a:solidFill>
                <a:srgbClr val="030305"/>
              </a:solidFill>
              <a:latin typeface="+mn-ea"/>
            </a:endParaRPr>
          </a:p>
        </p:txBody>
      </p:sp>
      <p:grpSp>
        <p:nvGrpSpPr>
          <p:cNvPr id="2" name="组合 1"/>
          <p:cNvGrpSpPr/>
          <p:nvPr/>
        </p:nvGrpSpPr>
        <p:grpSpPr>
          <a:xfrm>
            <a:off x="2950097" y="1203933"/>
            <a:ext cx="5946775" cy="4405313"/>
            <a:chOff x="2945839" y="1218826"/>
            <a:chExt cx="5946775" cy="4405313"/>
          </a:xfrm>
        </p:grpSpPr>
        <p:sp>
          <p:nvSpPr>
            <p:cNvPr id="4" name="Text Box 2"/>
            <p:cNvSpPr txBox="1"/>
            <p:nvPr/>
          </p:nvSpPr>
          <p:spPr>
            <a:xfrm>
              <a:off x="3880877" y="2371351"/>
              <a:ext cx="5334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400" b="1" dirty="0">
                  <a:solidFill>
                    <a:srgbClr val="030305"/>
                  </a:solidFill>
                  <a:latin typeface="+mn-ea"/>
                </a:rPr>
                <a:t>T</a:t>
              </a:r>
              <a:r>
                <a:rPr lang="en-US" altLang="zh-CN" sz="2400" b="1" baseline="-25000" dirty="0">
                  <a:solidFill>
                    <a:srgbClr val="030305"/>
                  </a:solidFill>
                  <a:latin typeface="+mn-ea"/>
                </a:rPr>
                <a:t>1</a:t>
              </a:r>
              <a:endParaRPr lang="en-US" altLang="zh-CN" sz="2400" b="1" baseline="-25000" dirty="0">
                <a:solidFill>
                  <a:srgbClr val="030305"/>
                </a:solidFill>
                <a:latin typeface="+mn-ea"/>
              </a:endParaRPr>
            </a:p>
          </p:txBody>
        </p:sp>
        <p:sp>
          <p:nvSpPr>
            <p:cNvPr id="6" name="Text Box 3"/>
            <p:cNvSpPr txBox="1"/>
            <p:nvPr/>
          </p:nvSpPr>
          <p:spPr>
            <a:xfrm>
              <a:off x="5465202" y="3452439"/>
              <a:ext cx="5334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400" b="1" dirty="0">
                  <a:solidFill>
                    <a:srgbClr val="030305"/>
                  </a:solidFill>
                  <a:latin typeface="+mn-ea"/>
                </a:rPr>
                <a:t>T</a:t>
              </a:r>
              <a:r>
                <a:rPr lang="en-US" altLang="zh-CN" sz="2400" b="1" baseline="-25000" dirty="0">
                  <a:solidFill>
                    <a:srgbClr val="030305"/>
                  </a:solidFill>
                  <a:latin typeface="+mn-ea"/>
                </a:rPr>
                <a:t>2</a:t>
              </a:r>
              <a:endParaRPr lang="en-US" altLang="zh-CN" sz="2400" b="1" baseline="-25000" dirty="0">
                <a:solidFill>
                  <a:srgbClr val="030305"/>
                </a:solidFill>
                <a:latin typeface="+mn-ea"/>
              </a:endParaRPr>
            </a:p>
          </p:txBody>
        </p:sp>
        <p:sp>
          <p:nvSpPr>
            <p:cNvPr id="7" name="Text Box 4"/>
            <p:cNvSpPr txBox="1"/>
            <p:nvPr/>
          </p:nvSpPr>
          <p:spPr>
            <a:xfrm>
              <a:off x="4728602" y="1228351"/>
              <a:ext cx="6096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400" b="1" dirty="0">
                  <a:solidFill>
                    <a:srgbClr val="030305"/>
                  </a:solidFill>
                  <a:latin typeface="+mn-ea"/>
                </a:rPr>
                <a:t>T</a:t>
              </a:r>
              <a:r>
                <a:rPr lang="en-US" altLang="zh-CN" sz="2400" b="1" baseline="-25000" dirty="0">
                  <a:solidFill>
                    <a:srgbClr val="030305"/>
                  </a:solidFill>
                  <a:latin typeface="+mn-ea"/>
                </a:rPr>
                <a:t>3</a:t>
              </a:r>
              <a:endParaRPr lang="en-US" altLang="zh-CN" sz="2400" b="1" baseline="-25000" dirty="0">
                <a:solidFill>
                  <a:srgbClr val="030305"/>
                </a:solidFill>
                <a:latin typeface="+mn-ea"/>
              </a:endParaRPr>
            </a:p>
          </p:txBody>
        </p:sp>
        <p:sp>
          <p:nvSpPr>
            <p:cNvPr id="8" name="Text Box 5"/>
            <p:cNvSpPr txBox="1"/>
            <p:nvPr/>
          </p:nvSpPr>
          <p:spPr>
            <a:xfrm>
              <a:off x="5109602" y="1228351"/>
              <a:ext cx="6858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zh-CN" altLang="en-US" sz="2400" b="1" dirty="0">
                  <a:solidFill>
                    <a:srgbClr val="030305"/>
                  </a:solidFill>
                  <a:latin typeface="+mn-ea"/>
                </a:rPr>
                <a:t>,</a:t>
              </a:r>
              <a:r>
                <a:rPr lang="en-US" altLang="zh-CN" sz="2400" b="1" dirty="0">
                  <a:solidFill>
                    <a:srgbClr val="030305"/>
                  </a:solidFill>
                  <a:latin typeface="+mn-ea"/>
                </a:rPr>
                <a:t>X</a:t>
              </a:r>
              <a:endParaRPr lang="en-US" altLang="zh-CN" sz="2400" b="1" dirty="0">
                <a:solidFill>
                  <a:srgbClr val="030305"/>
                </a:solidFill>
                <a:latin typeface="+mn-ea"/>
              </a:endParaRPr>
            </a:p>
          </p:txBody>
        </p:sp>
        <p:sp>
          <p:nvSpPr>
            <p:cNvPr id="9" name="Text Box 6"/>
            <p:cNvSpPr txBox="1"/>
            <p:nvPr/>
          </p:nvSpPr>
          <p:spPr>
            <a:xfrm>
              <a:off x="7106677" y="4533526"/>
              <a:ext cx="5334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400" b="1" dirty="0">
                  <a:solidFill>
                    <a:srgbClr val="030305"/>
                  </a:solidFill>
                  <a:latin typeface="+mn-ea"/>
                </a:rPr>
                <a:t>C</a:t>
              </a:r>
              <a:endParaRPr lang="en-US" altLang="zh-CN" sz="2400" b="1" dirty="0">
                <a:solidFill>
                  <a:srgbClr val="030305"/>
                </a:solidFill>
                <a:latin typeface="+mn-ea"/>
              </a:endParaRPr>
            </a:p>
          </p:txBody>
        </p:sp>
        <p:sp>
          <p:nvSpPr>
            <p:cNvPr id="10" name="Text Box 7"/>
            <p:cNvSpPr txBox="1"/>
            <p:nvPr/>
          </p:nvSpPr>
          <p:spPr>
            <a:xfrm>
              <a:off x="7014602" y="1380751"/>
              <a:ext cx="5334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400" b="1" dirty="0">
                  <a:solidFill>
                    <a:srgbClr val="030305"/>
                  </a:solidFill>
                  <a:latin typeface="+mn-ea"/>
                </a:rPr>
                <a:t>T</a:t>
              </a:r>
              <a:r>
                <a:rPr lang="en-US" altLang="zh-CN" sz="2400" b="1" baseline="-25000" dirty="0">
                  <a:solidFill>
                    <a:srgbClr val="030305"/>
                  </a:solidFill>
                  <a:latin typeface="+mn-ea"/>
                </a:rPr>
                <a:t>6</a:t>
              </a:r>
              <a:endParaRPr lang="en-US" altLang="zh-CN" sz="2400" b="1" baseline="-25000" dirty="0">
                <a:solidFill>
                  <a:srgbClr val="030305"/>
                </a:solidFill>
                <a:latin typeface="+mn-ea"/>
              </a:endParaRPr>
            </a:p>
          </p:txBody>
        </p:sp>
        <p:sp>
          <p:nvSpPr>
            <p:cNvPr id="11" name="Text Box 8"/>
            <p:cNvSpPr txBox="1"/>
            <p:nvPr/>
          </p:nvSpPr>
          <p:spPr>
            <a:xfrm>
              <a:off x="7319402" y="1380751"/>
              <a:ext cx="6096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zh-CN" altLang="en-US" sz="2400" b="1" dirty="0">
                  <a:solidFill>
                    <a:srgbClr val="030305"/>
                  </a:solidFill>
                  <a:latin typeface="+mn-ea"/>
                </a:rPr>
                <a:t>,</a:t>
              </a:r>
              <a:r>
                <a:rPr lang="en-US" altLang="zh-CN" sz="2400" b="1" dirty="0">
                  <a:solidFill>
                    <a:srgbClr val="030305"/>
                  </a:solidFill>
                  <a:latin typeface="+mn-ea"/>
                </a:rPr>
                <a:t>Y</a:t>
              </a:r>
              <a:endParaRPr lang="en-US" altLang="zh-CN" sz="2400" b="1" dirty="0">
                <a:solidFill>
                  <a:srgbClr val="030305"/>
                </a:solidFill>
                <a:latin typeface="+mn-ea"/>
              </a:endParaRPr>
            </a:p>
          </p:txBody>
        </p:sp>
        <p:sp>
          <p:nvSpPr>
            <p:cNvPr id="13" name="Text Box 9"/>
            <p:cNvSpPr txBox="1"/>
            <p:nvPr/>
          </p:nvSpPr>
          <p:spPr>
            <a:xfrm>
              <a:off x="4241239" y="2371351"/>
              <a:ext cx="6858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zh-CN" altLang="en-US" sz="2400" b="1" dirty="0">
                  <a:solidFill>
                    <a:srgbClr val="030305"/>
                  </a:solidFill>
                  <a:latin typeface="+mn-ea"/>
                </a:rPr>
                <a:t>,</a:t>
              </a:r>
              <a:r>
                <a:rPr lang="en-US" altLang="zh-CN" sz="2400" b="1" dirty="0">
                  <a:solidFill>
                    <a:srgbClr val="030305"/>
                  </a:solidFill>
                  <a:latin typeface="+mn-ea"/>
                </a:rPr>
                <a:t>T</a:t>
              </a:r>
              <a:r>
                <a:rPr lang="en-US" altLang="zh-CN" sz="2400" b="1" baseline="-25000" dirty="0">
                  <a:solidFill>
                    <a:srgbClr val="030305"/>
                  </a:solidFill>
                  <a:latin typeface="+mn-ea"/>
                </a:rPr>
                <a:t>4</a:t>
              </a:r>
              <a:endParaRPr lang="en-US" altLang="zh-CN" sz="2400" b="1" baseline="-25000" dirty="0">
                <a:solidFill>
                  <a:srgbClr val="030305"/>
                </a:solidFill>
                <a:latin typeface="+mn-ea"/>
              </a:endParaRPr>
            </a:p>
          </p:txBody>
        </p:sp>
        <p:sp>
          <p:nvSpPr>
            <p:cNvPr id="14" name="Text Box 10"/>
            <p:cNvSpPr txBox="1"/>
            <p:nvPr/>
          </p:nvSpPr>
          <p:spPr>
            <a:xfrm>
              <a:off x="8130614" y="3379414"/>
              <a:ext cx="7620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400" b="1" dirty="0">
                  <a:solidFill>
                    <a:srgbClr val="030305"/>
                  </a:solidFill>
                  <a:latin typeface="+mn-ea"/>
                </a:rPr>
                <a:t>T</a:t>
              </a:r>
              <a:r>
                <a:rPr lang="en-US" altLang="zh-CN" sz="2400" b="1" baseline="-25000" dirty="0">
                  <a:solidFill>
                    <a:srgbClr val="030305"/>
                  </a:solidFill>
                  <a:latin typeface="+mn-ea"/>
                </a:rPr>
                <a:t>5</a:t>
              </a:r>
              <a:endParaRPr lang="en-US" altLang="zh-CN" sz="2400" b="1" baseline="-25000" dirty="0">
                <a:solidFill>
                  <a:srgbClr val="030305"/>
                </a:solidFill>
                <a:latin typeface="+mn-ea"/>
              </a:endParaRPr>
            </a:p>
          </p:txBody>
        </p:sp>
        <p:grpSp>
          <p:nvGrpSpPr>
            <p:cNvPr id="15" name="Group 11"/>
            <p:cNvGrpSpPr/>
            <p:nvPr/>
          </p:nvGrpSpPr>
          <p:grpSpPr>
            <a:xfrm>
              <a:off x="2945839" y="3450851"/>
              <a:ext cx="576263" cy="1036638"/>
              <a:chOff x="1519" y="2069"/>
              <a:chExt cx="363" cy="653"/>
            </a:xfrm>
          </p:grpSpPr>
          <p:sp useBgFill="1">
            <p:nvSpPr>
              <p:cNvPr id="16" name="Oval 12"/>
              <p:cNvSpPr/>
              <p:nvPr/>
            </p:nvSpPr>
            <p:spPr>
              <a:xfrm>
                <a:off x="1519" y="2069"/>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1</a:t>
                </a:r>
                <a:endParaRPr lang="en-US" altLang="zh-CN" sz="2400" b="1" baseline="-25000" dirty="0">
                  <a:latin typeface="+mn-ea"/>
                </a:endParaRPr>
              </a:p>
            </p:txBody>
          </p:sp>
          <p:sp>
            <p:nvSpPr>
              <p:cNvPr id="17" name="Rectangle 13"/>
              <p:cNvSpPr/>
              <p:nvPr/>
            </p:nvSpPr>
            <p:spPr>
              <a:xfrm>
                <a:off x="1610" y="2432"/>
                <a:ext cx="244"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A</a:t>
                </a:r>
                <a:endParaRPr lang="zh-CN" altLang="en-US" sz="2400" b="1" dirty="0">
                  <a:solidFill>
                    <a:srgbClr val="030305"/>
                  </a:solidFill>
                  <a:latin typeface="+mn-ea"/>
                </a:endParaRPr>
              </a:p>
            </p:txBody>
          </p:sp>
        </p:grpSp>
        <p:grpSp>
          <p:nvGrpSpPr>
            <p:cNvPr id="18" name="Group 14"/>
            <p:cNvGrpSpPr/>
            <p:nvPr/>
          </p:nvGrpSpPr>
          <p:grpSpPr>
            <a:xfrm>
              <a:off x="3738002" y="3450851"/>
              <a:ext cx="576262" cy="1036638"/>
              <a:chOff x="2064" y="2024"/>
              <a:chExt cx="363" cy="653"/>
            </a:xfrm>
          </p:grpSpPr>
          <p:sp useBgFill="1">
            <p:nvSpPr>
              <p:cNvPr id="19" name="Oval 15"/>
              <p:cNvSpPr/>
              <p:nvPr/>
            </p:nvSpPr>
            <p:spPr>
              <a:xfrm>
                <a:off x="2064" y="2024"/>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2</a:t>
                </a:r>
                <a:endParaRPr lang="en-US" altLang="zh-CN" sz="2400" b="1" baseline="-25000" dirty="0">
                  <a:latin typeface="+mn-ea"/>
                </a:endParaRPr>
              </a:p>
            </p:txBody>
          </p:sp>
          <p:sp>
            <p:nvSpPr>
              <p:cNvPr id="20" name="Rectangle 16"/>
              <p:cNvSpPr/>
              <p:nvPr/>
            </p:nvSpPr>
            <p:spPr>
              <a:xfrm>
                <a:off x="2155" y="2387"/>
                <a:ext cx="231"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B</a:t>
                </a:r>
                <a:endParaRPr lang="zh-CN" altLang="en-US" sz="2400" b="1" dirty="0">
                  <a:solidFill>
                    <a:srgbClr val="030305"/>
                  </a:solidFill>
                  <a:latin typeface="+mn-ea"/>
                </a:endParaRPr>
              </a:p>
            </p:txBody>
          </p:sp>
        </p:grpSp>
        <p:grpSp>
          <p:nvGrpSpPr>
            <p:cNvPr id="21" name="Group 17"/>
            <p:cNvGrpSpPr/>
            <p:nvPr/>
          </p:nvGrpSpPr>
          <p:grpSpPr>
            <a:xfrm>
              <a:off x="4009464" y="4460501"/>
              <a:ext cx="576263" cy="963613"/>
              <a:chOff x="2517" y="2523"/>
              <a:chExt cx="363" cy="607"/>
            </a:xfrm>
          </p:grpSpPr>
          <p:sp useBgFill="1">
            <p:nvSpPr>
              <p:cNvPr id="22" name="Oval 18"/>
              <p:cNvSpPr/>
              <p:nvPr/>
            </p:nvSpPr>
            <p:spPr>
              <a:xfrm>
                <a:off x="2517" y="2523"/>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4</a:t>
                </a:r>
                <a:endParaRPr lang="en-US" altLang="zh-CN" sz="2400" b="1" baseline="-25000" dirty="0">
                  <a:latin typeface="+mn-ea"/>
                </a:endParaRPr>
              </a:p>
            </p:txBody>
          </p:sp>
          <p:sp>
            <p:nvSpPr>
              <p:cNvPr id="23" name="Rectangle 19"/>
              <p:cNvSpPr/>
              <p:nvPr/>
            </p:nvSpPr>
            <p:spPr>
              <a:xfrm>
                <a:off x="2517" y="2840"/>
                <a:ext cx="307"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zh-CN" altLang="en-US" sz="2400" b="1" dirty="0">
                    <a:solidFill>
                      <a:srgbClr val="030305"/>
                    </a:solidFill>
                    <a:latin typeface="+mn-ea"/>
                  </a:rPr>
                  <a:t>３</a:t>
                </a:r>
                <a:endParaRPr lang="zh-CN" altLang="en-US" sz="2400" b="1" dirty="0">
                  <a:solidFill>
                    <a:srgbClr val="030305"/>
                  </a:solidFill>
                  <a:latin typeface="+mn-ea"/>
                </a:endParaRPr>
              </a:p>
            </p:txBody>
          </p:sp>
        </p:grpSp>
        <p:grpSp>
          <p:nvGrpSpPr>
            <p:cNvPr id="24" name="Group 20"/>
            <p:cNvGrpSpPr/>
            <p:nvPr/>
          </p:nvGrpSpPr>
          <p:grpSpPr>
            <a:xfrm>
              <a:off x="4801627" y="4460503"/>
              <a:ext cx="576262" cy="984250"/>
              <a:chOff x="3016" y="2523"/>
              <a:chExt cx="363" cy="620"/>
            </a:xfrm>
          </p:grpSpPr>
          <p:sp useBgFill="1">
            <p:nvSpPr>
              <p:cNvPr id="25" name="Oval 21"/>
              <p:cNvSpPr/>
              <p:nvPr/>
            </p:nvSpPr>
            <p:spPr>
              <a:xfrm>
                <a:off x="3016" y="2523"/>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5</a:t>
                </a:r>
                <a:endParaRPr lang="en-US" altLang="zh-CN" sz="2400" b="1" baseline="-25000" dirty="0">
                  <a:latin typeface="+mn-ea"/>
                </a:endParaRPr>
              </a:p>
            </p:txBody>
          </p:sp>
          <p:sp>
            <p:nvSpPr>
              <p:cNvPr id="26" name="Rectangle 22"/>
              <p:cNvSpPr/>
              <p:nvPr/>
            </p:nvSpPr>
            <p:spPr>
              <a:xfrm>
                <a:off x="3062" y="2853"/>
                <a:ext cx="222"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2</a:t>
                </a:r>
                <a:endParaRPr lang="en-US" altLang="zh-CN" sz="2400" b="1" dirty="0">
                  <a:solidFill>
                    <a:srgbClr val="030305"/>
                  </a:solidFill>
                  <a:latin typeface="+mn-ea"/>
                </a:endParaRPr>
              </a:p>
            </p:txBody>
          </p:sp>
        </p:grpSp>
        <p:grpSp>
          <p:nvGrpSpPr>
            <p:cNvPr id="27" name="Group 23"/>
            <p:cNvGrpSpPr/>
            <p:nvPr/>
          </p:nvGrpSpPr>
          <p:grpSpPr>
            <a:xfrm>
              <a:off x="4888943" y="3379415"/>
              <a:ext cx="666750" cy="965200"/>
              <a:chOff x="3016" y="1706"/>
              <a:chExt cx="420" cy="608"/>
            </a:xfrm>
          </p:grpSpPr>
          <p:sp useBgFill="1">
            <p:nvSpPr>
              <p:cNvPr id="28" name="Oval 24"/>
              <p:cNvSpPr/>
              <p:nvPr/>
            </p:nvSpPr>
            <p:spPr>
              <a:xfrm>
                <a:off x="3016" y="1706"/>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6</a:t>
                </a:r>
                <a:endParaRPr lang="en-US" altLang="zh-CN" sz="2400" b="1" baseline="-25000" dirty="0">
                  <a:latin typeface="+mn-ea"/>
                </a:endParaRPr>
              </a:p>
            </p:txBody>
          </p:sp>
          <p:sp>
            <p:nvSpPr>
              <p:cNvPr id="29" name="Rectangle 25"/>
              <p:cNvSpPr/>
              <p:nvPr/>
            </p:nvSpPr>
            <p:spPr>
              <a:xfrm>
                <a:off x="3062" y="2024"/>
                <a:ext cx="374"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1.5</a:t>
                </a:r>
                <a:endParaRPr lang="en-US" altLang="zh-CN" sz="2400" b="1" dirty="0">
                  <a:solidFill>
                    <a:srgbClr val="030305"/>
                  </a:solidFill>
                  <a:latin typeface="+mn-ea"/>
                </a:endParaRPr>
              </a:p>
            </p:txBody>
          </p:sp>
        </p:grpSp>
        <p:grpSp>
          <p:nvGrpSpPr>
            <p:cNvPr id="30" name="Group 26"/>
            <p:cNvGrpSpPr/>
            <p:nvPr/>
          </p:nvGrpSpPr>
          <p:grpSpPr>
            <a:xfrm>
              <a:off x="3304614" y="2298326"/>
              <a:ext cx="814388" cy="1152525"/>
              <a:chOff x="1428" y="1025"/>
              <a:chExt cx="513" cy="726"/>
            </a:xfrm>
          </p:grpSpPr>
          <p:sp>
            <p:nvSpPr>
              <p:cNvPr id="31" name="Line 27"/>
              <p:cNvSpPr/>
              <p:nvPr/>
            </p:nvSpPr>
            <p:spPr>
              <a:xfrm flipH="1">
                <a:off x="1428" y="1359"/>
                <a:ext cx="177" cy="392"/>
              </a:xfrm>
              <a:prstGeom prst="line">
                <a:avLst/>
              </a:prstGeom>
              <a:ln w="28575" cap="flat" cmpd="sng">
                <a:solidFill>
                  <a:schemeClr val="tx1"/>
                </a:solidFill>
                <a:prstDash val="solid"/>
                <a:headEnd type="none" w="med" len="med"/>
                <a:tailEnd type="none" w="med" len="med"/>
              </a:ln>
            </p:spPr>
          </p:sp>
          <p:sp>
            <p:nvSpPr>
              <p:cNvPr id="32" name="Line 28"/>
              <p:cNvSpPr/>
              <p:nvPr/>
            </p:nvSpPr>
            <p:spPr>
              <a:xfrm>
                <a:off x="1749" y="1359"/>
                <a:ext cx="192" cy="384"/>
              </a:xfrm>
              <a:prstGeom prst="line">
                <a:avLst/>
              </a:prstGeom>
              <a:ln w="28575" cap="flat" cmpd="sng">
                <a:solidFill>
                  <a:schemeClr val="tx1"/>
                </a:solidFill>
                <a:prstDash val="solid"/>
                <a:headEnd type="none" w="med" len="med"/>
                <a:tailEnd type="none" w="med" len="med"/>
              </a:ln>
            </p:spPr>
          </p:sp>
          <p:sp useBgFill="1">
            <p:nvSpPr>
              <p:cNvPr id="33" name="Oval 29"/>
              <p:cNvSpPr/>
              <p:nvPr/>
            </p:nvSpPr>
            <p:spPr>
              <a:xfrm>
                <a:off x="1474" y="1025"/>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3</a:t>
                </a:r>
                <a:endParaRPr lang="en-US" altLang="zh-CN" sz="2400" b="1" baseline="-25000" dirty="0">
                  <a:latin typeface="+mn-ea"/>
                </a:endParaRPr>
              </a:p>
            </p:txBody>
          </p:sp>
          <p:sp>
            <p:nvSpPr>
              <p:cNvPr id="34" name="Rectangle 30"/>
              <p:cNvSpPr/>
              <p:nvPr/>
            </p:nvSpPr>
            <p:spPr>
              <a:xfrm>
                <a:off x="1564" y="1388"/>
                <a:ext cx="198"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zh-CN" altLang="en-US" sz="2400" b="1" dirty="0">
                    <a:solidFill>
                      <a:srgbClr val="030305"/>
                    </a:solidFill>
                    <a:latin typeface="+mn-ea"/>
                  </a:rPr>
                  <a:t>*</a:t>
                </a:r>
                <a:endParaRPr lang="zh-CN" altLang="en-US" sz="2400" b="1" dirty="0">
                  <a:solidFill>
                    <a:srgbClr val="030305"/>
                  </a:solidFill>
                  <a:latin typeface="+mn-ea"/>
                </a:endParaRPr>
              </a:p>
            </p:txBody>
          </p:sp>
        </p:grpSp>
        <p:grpSp>
          <p:nvGrpSpPr>
            <p:cNvPr id="35" name="Group 31"/>
            <p:cNvGrpSpPr/>
            <p:nvPr/>
          </p:nvGrpSpPr>
          <p:grpSpPr>
            <a:xfrm>
              <a:off x="3814202" y="1218826"/>
              <a:ext cx="1295400" cy="2219325"/>
              <a:chOff x="2339" y="345"/>
              <a:chExt cx="816" cy="1398"/>
            </a:xfrm>
          </p:grpSpPr>
          <p:sp>
            <p:nvSpPr>
              <p:cNvPr id="36" name="Line 32"/>
              <p:cNvSpPr/>
              <p:nvPr/>
            </p:nvSpPr>
            <p:spPr>
              <a:xfrm flipH="1">
                <a:off x="2339" y="639"/>
                <a:ext cx="288" cy="384"/>
              </a:xfrm>
              <a:prstGeom prst="line">
                <a:avLst/>
              </a:prstGeom>
              <a:ln w="28575" cap="flat" cmpd="sng">
                <a:solidFill>
                  <a:schemeClr val="tx1"/>
                </a:solidFill>
                <a:prstDash val="solid"/>
                <a:headEnd type="none" w="med" len="med"/>
                <a:tailEnd type="none" w="med" len="med"/>
              </a:ln>
            </p:spPr>
          </p:sp>
          <p:sp>
            <p:nvSpPr>
              <p:cNvPr id="37" name="Line 33"/>
              <p:cNvSpPr/>
              <p:nvPr/>
            </p:nvSpPr>
            <p:spPr>
              <a:xfrm>
                <a:off x="2867" y="687"/>
                <a:ext cx="288" cy="1056"/>
              </a:xfrm>
              <a:prstGeom prst="line">
                <a:avLst/>
              </a:prstGeom>
              <a:ln w="28575" cap="flat" cmpd="sng">
                <a:solidFill>
                  <a:schemeClr val="tx1"/>
                </a:solidFill>
                <a:prstDash val="solid"/>
                <a:headEnd type="none" w="med" len="med"/>
                <a:tailEnd type="none" w="med" len="med"/>
              </a:ln>
            </p:spPr>
          </p:sp>
          <p:sp>
            <p:nvSpPr>
              <p:cNvPr id="38" name="Rectangle 34"/>
              <p:cNvSpPr/>
              <p:nvPr/>
            </p:nvSpPr>
            <p:spPr>
              <a:xfrm>
                <a:off x="2608" y="617"/>
                <a:ext cx="211"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a:t>
                </a:r>
                <a:endParaRPr lang="en-US" altLang="zh-CN" sz="2400" b="1" dirty="0">
                  <a:solidFill>
                    <a:srgbClr val="030305"/>
                  </a:solidFill>
                  <a:latin typeface="+mn-ea"/>
                </a:endParaRPr>
              </a:p>
            </p:txBody>
          </p:sp>
          <p:sp useBgFill="1">
            <p:nvSpPr>
              <p:cNvPr id="39" name="Oval 35"/>
              <p:cNvSpPr/>
              <p:nvPr/>
            </p:nvSpPr>
            <p:spPr>
              <a:xfrm>
                <a:off x="2608" y="345"/>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7</a:t>
                </a:r>
                <a:endParaRPr lang="en-US" altLang="zh-CN" sz="2400" b="1" baseline="-25000" dirty="0">
                  <a:latin typeface="+mn-ea"/>
                </a:endParaRPr>
              </a:p>
            </p:txBody>
          </p:sp>
        </p:grpSp>
        <p:grpSp>
          <p:nvGrpSpPr>
            <p:cNvPr id="40" name="Group 36"/>
            <p:cNvGrpSpPr/>
            <p:nvPr/>
          </p:nvGrpSpPr>
          <p:grpSpPr>
            <a:xfrm>
              <a:off x="5579502" y="4460503"/>
              <a:ext cx="576262" cy="984250"/>
              <a:chOff x="3606" y="2523"/>
              <a:chExt cx="363" cy="620"/>
            </a:xfrm>
          </p:grpSpPr>
          <p:sp useBgFill="1">
            <p:nvSpPr>
              <p:cNvPr id="41" name="Oval 37"/>
              <p:cNvSpPr/>
              <p:nvPr/>
            </p:nvSpPr>
            <p:spPr>
              <a:xfrm>
                <a:off x="3606" y="2523"/>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8</a:t>
                </a:r>
                <a:endParaRPr lang="en-US" altLang="zh-CN" sz="2400" b="1" baseline="-25000" dirty="0">
                  <a:latin typeface="+mn-ea"/>
                </a:endParaRPr>
              </a:p>
            </p:txBody>
          </p:sp>
          <p:sp>
            <p:nvSpPr>
              <p:cNvPr id="42" name="Rectangle 38"/>
              <p:cNvSpPr/>
              <p:nvPr/>
            </p:nvSpPr>
            <p:spPr>
              <a:xfrm>
                <a:off x="3606" y="2853"/>
                <a:ext cx="222"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5</a:t>
                </a:r>
                <a:endParaRPr lang="en-US" altLang="zh-CN" sz="2400" b="1" dirty="0">
                  <a:solidFill>
                    <a:srgbClr val="030305"/>
                  </a:solidFill>
                  <a:latin typeface="+mn-ea"/>
                </a:endParaRPr>
              </a:p>
            </p:txBody>
          </p:sp>
        </p:grpSp>
        <p:grpSp>
          <p:nvGrpSpPr>
            <p:cNvPr id="43" name="Group 39"/>
            <p:cNvGrpSpPr/>
            <p:nvPr/>
          </p:nvGrpSpPr>
          <p:grpSpPr>
            <a:xfrm>
              <a:off x="6530414" y="4460503"/>
              <a:ext cx="576263" cy="984250"/>
              <a:chOff x="4105" y="2523"/>
              <a:chExt cx="363" cy="620"/>
            </a:xfrm>
          </p:grpSpPr>
          <p:sp useBgFill="1">
            <p:nvSpPr>
              <p:cNvPr id="44" name="Oval 40"/>
              <p:cNvSpPr/>
              <p:nvPr/>
            </p:nvSpPr>
            <p:spPr>
              <a:xfrm>
                <a:off x="4105" y="2523"/>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8</a:t>
                </a:r>
                <a:endParaRPr lang="en-US" altLang="zh-CN" sz="2400" b="1" baseline="-25000" dirty="0">
                  <a:latin typeface="+mn-ea"/>
                </a:endParaRPr>
              </a:p>
            </p:txBody>
          </p:sp>
          <p:sp>
            <p:nvSpPr>
              <p:cNvPr id="45" name="Rectangle 41"/>
              <p:cNvSpPr/>
              <p:nvPr/>
            </p:nvSpPr>
            <p:spPr>
              <a:xfrm>
                <a:off x="4151" y="2853"/>
                <a:ext cx="222"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2</a:t>
                </a:r>
                <a:endParaRPr lang="en-US" altLang="zh-CN" sz="2400" b="1" dirty="0">
                  <a:solidFill>
                    <a:srgbClr val="030305"/>
                  </a:solidFill>
                  <a:latin typeface="+mn-ea"/>
                </a:endParaRPr>
              </a:p>
            </p:txBody>
          </p:sp>
        </p:grpSp>
        <p:grpSp>
          <p:nvGrpSpPr>
            <p:cNvPr id="46" name="Group 42"/>
            <p:cNvGrpSpPr/>
            <p:nvPr/>
          </p:nvGrpSpPr>
          <p:grpSpPr>
            <a:xfrm>
              <a:off x="7898846" y="4389066"/>
              <a:ext cx="593726" cy="984250"/>
              <a:chOff x="4967" y="2478"/>
              <a:chExt cx="374" cy="620"/>
            </a:xfrm>
          </p:grpSpPr>
          <p:sp useBgFill="1">
            <p:nvSpPr>
              <p:cNvPr id="47" name="Oval 43"/>
              <p:cNvSpPr/>
              <p:nvPr/>
            </p:nvSpPr>
            <p:spPr>
              <a:xfrm>
                <a:off x="4967" y="2478"/>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10</a:t>
                </a:r>
                <a:endParaRPr lang="en-US" altLang="zh-CN" sz="2400" b="1" baseline="-25000" dirty="0">
                  <a:latin typeface="+mn-ea"/>
                </a:endParaRPr>
              </a:p>
            </p:txBody>
          </p:sp>
          <p:sp>
            <p:nvSpPr>
              <p:cNvPr id="48" name="Rectangle 44"/>
              <p:cNvSpPr/>
              <p:nvPr/>
            </p:nvSpPr>
            <p:spPr>
              <a:xfrm>
                <a:off x="5013" y="2808"/>
                <a:ext cx="328"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18</a:t>
                </a:r>
                <a:endParaRPr lang="en-US" altLang="zh-CN" sz="2400" b="1" dirty="0">
                  <a:solidFill>
                    <a:srgbClr val="030305"/>
                  </a:solidFill>
                  <a:latin typeface="+mn-ea"/>
                </a:endParaRPr>
              </a:p>
            </p:txBody>
          </p:sp>
        </p:grpSp>
        <p:grpSp>
          <p:nvGrpSpPr>
            <p:cNvPr id="49" name="Group 45"/>
            <p:cNvGrpSpPr/>
            <p:nvPr/>
          </p:nvGrpSpPr>
          <p:grpSpPr>
            <a:xfrm>
              <a:off x="7481321" y="3379415"/>
              <a:ext cx="593724" cy="984250"/>
              <a:chOff x="4649" y="1706"/>
              <a:chExt cx="374" cy="620"/>
            </a:xfrm>
          </p:grpSpPr>
          <p:sp useBgFill="1">
            <p:nvSpPr>
              <p:cNvPr id="50" name="Oval 46"/>
              <p:cNvSpPr/>
              <p:nvPr/>
            </p:nvSpPr>
            <p:spPr>
              <a:xfrm>
                <a:off x="4649" y="1706"/>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11</a:t>
                </a:r>
                <a:endParaRPr lang="en-US" altLang="zh-CN" sz="2400" b="1" baseline="-25000" dirty="0">
                  <a:latin typeface="+mn-ea"/>
                </a:endParaRPr>
              </a:p>
            </p:txBody>
          </p:sp>
          <p:sp>
            <p:nvSpPr>
              <p:cNvPr id="51" name="Rectangle 47"/>
              <p:cNvSpPr/>
              <p:nvPr/>
            </p:nvSpPr>
            <p:spPr>
              <a:xfrm>
                <a:off x="4695" y="2036"/>
                <a:ext cx="328"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en-US" altLang="zh-CN" sz="2400" b="1" dirty="0">
                    <a:solidFill>
                      <a:srgbClr val="030305"/>
                    </a:solidFill>
                    <a:latin typeface="+mn-ea"/>
                  </a:rPr>
                  <a:t>20</a:t>
                </a:r>
                <a:endParaRPr lang="en-US" altLang="zh-CN" sz="2400" b="1" dirty="0">
                  <a:solidFill>
                    <a:srgbClr val="030305"/>
                  </a:solidFill>
                  <a:latin typeface="+mn-ea"/>
                </a:endParaRPr>
              </a:p>
            </p:txBody>
          </p:sp>
        </p:grpSp>
        <p:grpSp>
          <p:nvGrpSpPr>
            <p:cNvPr id="52" name="Group 48"/>
            <p:cNvGrpSpPr/>
            <p:nvPr/>
          </p:nvGrpSpPr>
          <p:grpSpPr>
            <a:xfrm>
              <a:off x="3890402" y="1220414"/>
              <a:ext cx="3962400" cy="2141537"/>
              <a:chOff x="2387" y="346"/>
              <a:chExt cx="2496" cy="1349"/>
            </a:xfrm>
          </p:grpSpPr>
          <p:sp>
            <p:nvSpPr>
              <p:cNvPr id="53" name="Line 49"/>
              <p:cNvSpPr/>
              <p:nvPr/>
            </p:nvSpPr>
            <p:spPr>
              <a:xfrm flipV="1">
                <a:off x="2387" y="591"/>
                <a:ext cx="1632" cy="480"/>
              </a:xfrm>
              <a:prstGeom prst="line">
                <a:avLst/>
              </a:prstGeom>
              <a:ln w="28575" cap="flat" cmpd="sng">
                <a:solidFill>
                  <a:schemeClr val="tx1"/>
                </a:solidFill>
                <a:prstDash val="solid"/>
                <a:headEnd type="none" w="med" len="med"/>
                <a:tailEnd type="none" w="med" len="med"/>
              </a:ln>
            </p:spPr>
          </p:sp>
          <p:sp>
            <p:nvSpPr>
              <p:cNvPr id="54" name="Line 50"/>
              <p:cNvSpPr/>
              <p:nvPr/>
            </p:nvSpPr>
            <p:spPr>
              <a:xfrm>
                <a:off x="4307" y="639"/>
                <a:ext cx="576" cy="1056"/>
              </a:xfrm>
              <a:prstGeom prst="line">
                <a:avLst/>
              </a:prstGeom>
              <a:ln w="19050" cap="flat" cmpd="sng">
                <a:solidFill>
                  <a:schemeClr val="tx1"/>
                </a:solidFill>
                <a:prstDash val="solid"/>
                <a:headEnd type="none" w="med" len="med"/>
                <a:tailEnd type="none" w="med" len="med"/>
              </a:ln>
            </p:spPr>
          </p:sp>
          <p:sp>
            <p:nvSpPr>
              <p:cNvPr id="55" name="Rectangle 51"/>
              <p:cNvSpPr/>
              <p:nvPr/>
            </p:nvSpPr>
            <p:spPr>
              <a:xfrm>
                <a:off x="4060" y="709"/>
                <a:ext cx="198" cy="29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zh-CN" altLang="en-US" sz="2400" b="1" dirty="0">
                    <a:solidFill>
                      <a:srgbClr val="030305"/>
                    </a:solidFill>
                    <a:latin typeface="+mn-ea"/>
                  </a:rPr>
                  <a:t>*</a:t>
                </a:r>
                <a:endParaRPr lang="zh-CN" altLang="en-US" sz="2400" b="1" dirty="0">
                  <a:solidFill>
                    <a:srgbClr val="030305"/>
                  </a:solidFill>
                  <a:latin typeface="+mn-ea"/>
                </a:endParaRPr>
              </a:p>
            </p:txBody>
          </p:sp>
          <p:sp useBgFill="1">
            <p:nvSpPr>
              <p:cNvPr id="56" name="Oval 52"/>
              <p:cNvSpPr/>
              <p:nvPr/>
            </p:nvSpPr>
            <p:spPr>
              <a:xfrm>
                <a:off x="3969" y="346"/>
                <a:ext cx="363" cy="363"/>
              </a:xfrm>
              <a:prstGeom prst="ellipse">
                <a:avLst/>
              </a:prstGeom>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spcBef>
                    <a:spcPct val="0"/>
                  </a:spcBef>
                  <a:buClrTx/>
                  <a:buFontTx/>
                  <a:buNone/>
                </a:pPr>
                <a:r>
                  <a:rPr lang="en-US" altLang="zh-CN" sz="2400" b="1" dirty="0">
                    <a:latin typeface="+mn-ea"/>
                  </a:rPr>
                  <a:t>n</a:t>
                </a:r>
                <a:r>
                  <a:rPr lang="en-US" altLang="zh-CN" sz="2400" b="1" baseline="-25000" dirty="0">
                    <a:latin typeface="+mn-ea"/>
                  </a:rPr>
                  <a:t>12</a:t>
                </a:r>
                <a:endParaRPr lang="en-US" altLang="zh-CN" sz="2400" b="1" baseline="-25000" dirty="0">
                  <a:latin typeface="+mn-ea"/>
                </a:endParaRPr>
              </a:p>
            </p:txBody>
          </p:sp>
        </p:grpSp>
        <p:sp>
          <p:nvSpPr>
            <p:cNvPr id="59" name="Text Box 55"/>
            <p:cNvSpPr txBox="1"/>
            <p:nvPr/>
          </p:nvSpPr>
          <p:spPr>
            <a:xfrm>
              <a:off x="6084327" y="4531939"/>
              <a:ext cx="5334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50000"/>
                </a:spcBef>
                <a:buClrTx/>
                <a:buFontTx/>
                <a:buNone/>
              </a:pPr>
              <a:r>
                <a:rPr lang="en-US" altLang="zh-CN" sz="2400" b="1" dirty="0">
                  <a:solidFill>
                    <a:srgbClr val="030305"/>
                  </a:solidFill>
                  <a:latin typeface="+mn-ea"/>
                </a:rPr>
                <a:t>C</a:t>
              </a:r>
              <a:endParaRPr lang="en-US" altLang="zh-CN" sz="2400" b="1" dirty="0">
                <a:solidFill>
                  <a:srgbClr val="030305"/>
                </a:solidFill>
                <a:latin typeface="+mn-ea"/>
              </a:endParaRPr>
            </a:p>
          </p:txBody>
        </p:sp>
        <p:sp>
          <p:nvSpPr>
            <p:cNvPr id="61" name="Line 58"/>
            <p:cNvSpPr/>
            <p:nvPr/>
          </p:nvSpPr>
          <p:spPr>
            <a:xfrm>
              <a:off x="3996764" y="4905001"/>
              <a:ext cx="576263" cy="576263"/>
            </a:xfrm>
            <a:prstGeom prst="line">
              <a:avLst/>
            </a:prstGeom>
            <a:ln w="28575" cap="flat" cmpd="sng">
              <a:solidFill>
                <a:schemeClr val="tx1"/>
              </a:solidFill>
              <a:prstDash val="solid"/>
              <a:miter/>
              <a:headEnd type="none" w="med" len="med"/>
              <a:tailEnd type="none" w="med" len="med"/>
            </a:ln>
          </p:spPr>
        </p:sp>
        <p:sp>
          <p:nvSpPr>
            <p:cNvPr id="62" name="Line 59"/>
            <p:cNvSpPr/>
            <p:nvPr/>
          </p:nvSpPr>
          <p:spPr>
            <a:xfrm>
              <a:off x="4860364" y="4976439"/>
              <a:ext cx="647700" cy="647700"/>
            </a:xfrm>
            <a:prstGeom prst="line">
              <a:avLst/>
            </a:prstGeom>
            <a:ln w="28575" cap="flat" cmpd="sng">
              <a:solidFill>
                <a:schemeClr val="tx1"/>
              </a:solidFill>
              <a:prstDash val="solid"/>
              <a:miter/>
              <a:headEnd type="none" w="med" len="med"/>
              <a:tailEnd type="none" w="med" len="med"/>
            </a:ln>
          </p:spPr>
        </p:sp>
        <p:sp>
          <p:nvSpPr>
            <p:cNvPr id="63" name="Line 60"/>
            <p:cNvSpPr/>
            <p:nvPr/>
          </p:nvSpPr>
          <p:spPr>
            <a:xfrm>
              <a:off x="5868427" y="4328739"/>
              <a:ext cx="647700" cy="647700"/>
            </a:xfrm>
            <a:prstGeom prst="line">
              <a:avLst/>
            </a:prstGeom>
            <a:ln w="28575" cap="flat" cmpd="sng">
              <a:solidFill>
                <a:schemeClr val="tx1"/>
              </a:solidFill>
              <a:prstDash val="solid"/>
              <a:miter/>
              <a:headEnd type="none" w="med" len="med"/>
              <a:tailEnd type="none" w="med" len="med"/>
            </a:ln>
          </p:spPr>
        </p:sp>
        <p:sp>
          <p:nvSpPr>
            <p:cNvPr id="64" name="Line 61"/>
            <p:cNvSpPr/>
            <p:nvPr/>
          </p:nvSpPr>
          <p:spPr>
            <a:xfrm>
              <a:off x="7957577" y="4831976"/>
              <a:ext cx="647700" cy="647700"/>
            </a:xfrm>
            <a:prstGeom prst="line">
              <a:avLst/>
            </a:prstGeom>
            <a:ln w="28575" cap="flat" cmpd="sng">
              <a:solidFill>
                <a:schemeClr val="tx1"/>
              </a:solidFill>
              <a:prstDash val="solid"/>
              <a:miter/>
              <a:headEnd type="none" w="med" len="med"/>
              <a:tailEnd type="none" w="med" len="med"/>
            </a:ln>
          </p:spPr>
        </p:sp>
      </p:grpSp>
      <p:sp>
        <p:nvSpPr>
          <p:cNvPr id="70" name="Text Box 2"/>
          <p:cNvSpPr txBox="1"/>
          <p:nvPr>
            <p:custDataLst>
              <p:tags r:id="rId1"/>
            </p:custDataLst>
          </p:nvPr>
        </p:nvSpPr>
        <p:spPr>
          <a:xfrm>
            <a:off x="9278619" y="1847929"/>
            <a:ext cx="2376487" cy="3538220"/>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457200" lvl="0" indent="-457200" eaLnBrk="1" hangingPunct="1">
              <a:lnSpc>
                <a:spcPct val="80000"/>
              </a:lnSpc>
              <a:spcBef>
                <a:spcPct val="50000"/>
              </a:spcBef>
              <a:buClrTx/>
              <a:buFontTx/>
              <a:buNone/>
            </a:pPr>
            <a:r>
              <a:rPr lang="en-US" altLang="zh-CN" sz="2000" b="1" dirty="0">
                <a:solidFill>
                  <a:srgbClr val="030305"/>
                </a:solidFill>
                <a:latin typeface="+mn-ea"/>
              </a:rPr>
              <a:t>1. T1=A*B</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en-US" altLang="zh-CN" sz="2000" b="1" dirty="0">
                <a:solidFill>
                  <a:srgbClr val="030305"/>
                </a:solidFill>
                <a:latin typeface="+mn-ea"/>
              </a:rPr>
              <a:t>2. T2=1.5</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en-US" altLang="zh-CN" sz="2000" b="1" dirty="0">
                <a:solidFill>
                  <a:srgbClr val="030305"/>
                </a:solidFill>
                <a:latin typeface="+mn-ea"/>
              </a:rPr>
              <a:t>3. T3=T1-1.5</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en-US" altLang="zh-CN" sz="2000" b="1" dirty="0">
                <a:solidFill>
                  <a:srgbClr val="030305"/>
                </a:solidFill>
                <a:latin typeface="+mn-ea"/>
              </a:rPr>
              <a:t>4. X=T3</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en-US" altLang="zh-CN" sz="2000" b="1" dirty="0">
                <a:solidFill>
                  <a:srgbClr val="030305"/>
                </a:solidFill>
                <a:latin typeface="+mn-ea"/>
              </a:rPr>
              <a:t>5. T4= T1</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zh-CN" altLang="en-US" sz="2000" b="1" dirty="0">
                <a:solidFill>
                  <a:srgbClr val="030305"/>
                </a:solidFill>
                <a:latin typeface="+mn-ea"/>
              </a:rPr>
              <a:t>6. </a:t>
            </a:r>
            <a:r>
              <a:rPr lang="en-US" altLang="zh-CN" sz="2000" b="1" dirty="0">
                <a:solidFill>
                  <a:srgbClr val="030305"/>
                </a:solidFill>
                <a:latin typeface="+mn-ea"/>
              </a:rPr>
              <a:t>C=2</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en-US" altLang="zh-CN" sz="2000" b="1" dirty="0">
                <a:solidFill>
                  <a:srgbClr val="030305"/>
                </a:solidFill>
                <a:latin typeface="+mn-ea"/>
              </a:rPr>
              <a:t>7. T5=20</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en-US" altLang="zh-CN" sz="2000" b="1" dirty="0">
                <a:solidFill>
                  <a:srgbClr val="030305"/>
                </a:solidFill>
                <a:latin typeface="+mn-ea"/>
              </a:rPr>
              <a:t>8. T6=T1*20</a:t>
            </a:r>
            <a:endParaRPr lang="en-US" altLang="zh-CN" sz="2000" b="1" dirty="0">
              <a:solidFill>
                <a:srgbClr val="030305"/>
              </a:solidFill>
              <a:latin typeface="+mn-ea"/>
            </a:endParaRPr>
          </a:p>
          <a:p>
            <a:pPr marL="457200" lvl="0" indent="-457200" eaLnBrk="1" hangingPunct="1">
              <a:lnSpc>
                <a:spcPct val="80000"/>
              </a:lnSpc>
              <a:spcBef>
                <a:spcPct val="50000"/>
              </a:spcBef>
              <a:buClrTx/>
              <a:buFontTx/>
              <a:buNone/>
            </a:pPr>
            <a:r>
              <a:rPr lang="en-US" altLang="zh-CN" sz="2000" b="1" dirty="0">
                <a:solidFill>
                  <a:srgbClr val="030305"/>
                </a:solidFill>
                <a:latin typeface="+mn-ea"/>
              </a:rPr>
              <a:t>9. Y=T6</a:t>
            </a:r>
            <a:endParaRPr lang="en-US" altLang="zh-CN" sz="2000" b="1" dirty="0">
              <a:solidFill>
                <a:srgbClr val="030305"/>
              </a:solidFill>
              <a:latin typeface="+mn-ea"/>
            </a:endParaRPr>
          </a:p>
        </p:txBody>
      </p:sp>
      <p:sp>
        <p:nvSpPr>
          <p:cNvPr id="3" name="文本框 2"/>
          <p:cNvSpPr txBox="1"/>
          <p:nvPr/>
        </p:nvSpPr>
        <p:spPr>
          <a:xfrm>
            <a:off x="8956040" y="1210310"/>
            <a:ext cx="2600325" cy="460375"/>
          </a:xfrm>
          <a:prstGeom prst="rect">
            <a:avLst/>
          </a:prstGeom>
          <a:noFill/>
        </p:spPr>
        <p:txBody>
          <a:bodyPr wrap="square" rtlCol="0" anchor="t">
            <a:spAutoFit/>
          </a:bodyPr>
          <a:p>
            <a:r>
              <a:rPr lang="zh-CN" altLang="en-US" sz="2400" b="1" dirty="0">
                <a:solidFill>
                  <a:srgbClr val="0070C0"/>
                </a:solidFill>
                <a:latin typeface="+mn-ea"/>
                <a:sym typeface="+mn-ea"/>
              </a:rPr>
              <a:t>优化后的基本块</a:t>
            </a:r>
            <a:endParaRPr lang="zh-CN" altLang="en-US" sz="2400" b="1" dirty="0">
              <a:solidFill>
                <a:srgbClr val="0070C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dirty="0"/>
              <a:t>第</a:t>
            </a:r>
            <a:r>
              <a:rPr lang="en-US" altLang="zh-CN" dirty="0"/>
              <a:t>8</a:t>
            </a:r>
            <a:r>
              <a:rPr lang="zh-CN" altLang="en-US" dirty="0"/>
              <a:t>单元 代码优化</a:t>
            </a:r>
            <a:endParaRPr lang="zh-CN" altLang="en-US" dirty="0"/>
          </a:p>
        </p:txBody>
      </p:sp>
      <p:sp>
        <p:nvSpPr>
          <p:cNvPr id="24" name="文本占位符 23"/>
          <p:cNvSpPr>
            <a:spLocks noGrp="1"/>
          </p:cNvSpPr>
          <p:nvPr>
            <p:ph type="body" sz="quarter" idx="14"/>
          </p:nvPr>
        </p:nvSpPr>
        <p:spPr>
          <a:xfrm>
            <a:off x="419048" y="1096254"/>
            <a:ext cx="6191250" cy="2838450"/>
          </a:xfrm>
        </p:spPr>
        <p:txBody>
          <a:bodyPr/>
          <a:lstStyle/>
          <a:p>
            <a:pPr>
              <a:buFont typeface="Wingdings" panose="05000000000000000000" charset="0"/>
              <a:buChar char="ü"/>
            </a:pPr>
            <a:r>
              <a:rPr lang="en-US" altLang="zh-CN" b="1" dirty="0">
                <a:solidFill>
                  <a:schemeClr val="tx1"/>
                </a:solidFill>
              </a:rPr>
              <a:t>8.1 </a:t>
            </a:r>
            <a:r>
              <a:rPr lang="zh-CN" altLang="en-US" b="1" dirty="0">
                <a:solidFill>
                  <a:schemeClr val="tx1"/>
                </a:solidFill>
              </a:rPr>
              <a:t>基本块的优化</a:t>
            </a:r>
            <a:endParaRPr lang="zh-CN" altLang="en-US" b="1" dirty="0">
              <a:solidFill>
                <a:schemeClr val="tx1"/>
              </a:solidFill>
            </a:endParaRPr>
          </a:p>
          <a:p>
            <a:pPr>
              <a:buFont typeface="Wingdings" panose="05000000000000000000" charset="0"/>
              <a:buChar char="ü"/>
            </a:pPr>
            <a:r>
              <a:rPr lang="en-US" altLang="zh-CN" b="1" dirty="0">
                <a:solidFill>
                  <a:srgbClr val="0070C0"/>
                </a:solidFill>
              </a:rPr>
              <a:t>8.2 </a:t>
            </a:r>
            <a:r>
              <a:rPr lang="zh-CN" altLang="en-US" b="1" dirty="0">
                <a:solidFill>
                  <a:srgbClr val="0070C0"/>
                </a:solidFill>
              </a:rPr>
              <a:t>与循环有关的优化</a:t>
            </a:r>
            <a:endParaRPr lang="zh-CN" altLang="en-US" b="1" dirty="0">
              <a:solidFill>
                <a:srgbClr val="0070C0"/>
              </a:solidFill>
            </a:endParaRPr>
          </a:p>
          <a:p>
            <a:endParaRPr lang="zh-CN" altLang="en-US" b="1"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90830" y="276860"/>
            <a:ext cx="8010525" cy="593090"/>
          </a:xfrm>
        </p:spPr>
        <p:txBody>
          <a:bodyPr/>
          <a:lstStyle/>
          <a:p>
            <a:r>
              <a:rPr lang="en-US" altLang="zh-CN" dirty="0"/>
              <a:t>8.2 </a:t>
            </a:r>
            <a:r>
              <a:rPr lang="zh-CN" altLang="en-US" dirty="0"/>
              <a:t>与循环有关的优化</a:t>
            </a:r>
            <a:endParaRPr lang="zh-CN" altLang="en-US" dirty="0"/>
          </a:p>
        </p:txBody>
      </p:sp>
      <p:sp>
        <p:nvSpPr>
          <p:cNvPr id="4" name="Rectangle 6"/>
          <p:cNvSpPr txBox="1"/>
          <p:nvPr/>
        </p:nvSpPr>
        <p:spPr>
          <a:xfrm>
            <a:off x="393065" y="1286510"/>
            <a:ext cx="11456670" cy="4302125"/>
          </a:xfrm>
          <a:prstGeom prst="rect">
            <a:avLst/>
          </a:prstGeom>
        </p:spPr>
        <p:txBody>
          <a:bodyPr vert="horz" wrap="square"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ct val="0"/>
              </a:spcAft>
              <a:buFont typeface="Wingdings" panose="05000000000000000000" charset="0"/>
              <a:buChar char="p"/>
            </a:pPr>
            <a:r>
              <a:rPr lang="zh-CN" altLang="en-US" b="1" dirty="0"/>
              <a:t>循环部分在一个程序中可能仅占很小比例，然而运行时间却可能在整个运行时间上占到很大部分，因此，对循环的优化往往是改进程序质量的关键。与循环有关的优化是全局优化，输入是流图（有向图或其他便于存储和处理的形式）：</a:t>
            </a:r>
            <a:endParaRPr lang="zh-CN" altLang="en-US" b="1" dirty="0"/>
          </a:p>
          <a:p>
            <a:pPr lvl="1">
              <a:lnSpc>
                <a:spcPct val="125000"/>
              </a:lnSpc>
              <a:spcBef>
                <a:spcPct val="0"/>
              </a:spcBef>
              <a:spcAft>
                <a:spcPct val="0"/>
              </a:spcAft>
              <a:buFont typeface="Wingdings" panose="05000000000000000000" charset="0"/>
              <a:buChar char="p"/>
            </a:pPr>
            <a:r>
              <a:rPr lang="zh-CN" altLang="en-US" dirty="0">
                <a:latin typeface="等线" panose="02010600030101010101" charset="-122"/>
                <a:ea typeface="等线" panose="02010600030101010101" charset="-122"/>
                <a:sym typeface="+mn-ea"/>
              </a:rPr>
              <a:t>循环不变表达式外提</a:t>
            </a:r>
            <a:endParaRPr lang="zh-CN" altLang="en-US" dirty="0">
              <a:latin typeface="等线" panose="02010600030101010101" charset="-122"/>
              <a:ea typeface="等线" panose="02010600030101010101" charset="-122"/>
            </a:endParaRPr>
          </a:p>
          <a:p>
            <a:pPr lvl="1">
              <a:lnSpc>
                <a:spcPct val="125000"/>
              </a:lnSpc>
              <a:spcBef>
                <a:spcPct val="0"/>
              </a:spcBef>
              <a:spcAft>
                <a:spcPct val="0"/>
              </a:spcAft>
              <a:buFont typeface="Wingdings" panose="05000000000000000000" charset="0"/>
              <a:buChar char="p"/>
            </a:pPr>
            <a:r>
              <a:rPr lang="zh-CN" altLang="en-US" dirty="0">
                <a:latin typeface="等线" panose="02010600030101010101" charset="-122"/>
                <a:ea typeface="等线" panose="02010600030101010101" charset="-122"/>
                <a:sym typeface="+mn-ea"/>
              </a:rPr>
              <a:t>归纳变量删除</a:t>
            </a:r>
            <a:endParaRPr lang="zh-CN" altLang="en-US" dirty="0">
              <a:latin typeface="等线" panose="02010600030101010101" charset="-122"/>
              <a:ea typeface="等线" panose="02010600030101010101" charset="-122"/>
            </a:endParaRPr>
          </a:p>
          <a:p>
            <a:pPr lvl="1">
              <a:lnSpc>
                <a:spcPct val="125000"/>
              </a:lnSpc>
              <a:spcBef>
                <a:spcPct val="0"/>
              </a:spcBef>
              <a:spcAft>
                <a:spcPct val="0"/>
              </a:spcAft>
              <a:buFont typeface="Wingdings" panose="05000000000000000000" charset="0"/>
              <a:buChar char="p"/>
            </a:pPr>
            <a:r>
              <a:rPr lang="zh-CN" altLang="en-US" dirty="0">
                <a:latin typeface="等线" panose="02010600030101010101" charset="-122"/>
                <a:ea typeface="等线" panose="02010600030101010101" charset="-122"/>
                <a:sym typeface="+mn-ea"/>
              </a:rPr>
              <a:t>计算强度削减</a:t>
            </a:r>
            <a:endParaRPr lang="zh-CN" altLang="en-US" dirty="0">
              <a:latin typeface="等线" panose="02010600030101010101" charset="-122"/>
              <a:ea typeface="等线" panose="02010600030101010101" charset="-122"/>
            </a:endParaRPr>
          </a:p>
          <a:p>
            <a:pPr lvl="1">
              <a:lnSpc>
                <a:spcPct val="125000"/>
              </a:lnSpc>
              <a:spcBef>
                <a:spcPct val="0"/>
              </a:spcBef>
              <a:spcAft>
                <a:spcPct val="0"/>
              </a:spcAft>
              <a:buFont typeface="Wingdings" panose="05000000000000000000" charset="0"/>
              <a:buChar char="p"/>
            </a:pPr>
            <a:r>
              <a:rPr lang="zh-CN" altLang="en-US" dirty="0">
                <a:latin typeface="等线" panose="02010600030101010101" charset="-122"/>
                <a:ea typeface="等线" panose="02010600030101010101" charset="-122"/>
                <a:sym typeface="+mn-ea"/>
              </a:rPr>
              <a:t>循环优化的实现</a:t>
            </a:r>
            <a:endParaRPr lang="zh-CN" altLang="en-US" dirty="0">
              <a:latin typeface="等线" panose="02010600030101010101" charset="-122"/>
              <a:ea typeface="等线" panose="02010600030101010101" charset="-122"/>
            </a:endParaRPr>
          </a:p>
          <a:p>
            <a:pPr>
              <a:lnSpc>
                <a:spcPct val="150000"/>
              </a:lnSpc>
              <a:buFont typeface="Wingdings" panose="05000000000000000000" charset="0"/>
              <a:buChar char="p"/>
            </a:pPr>
            <a:endParaRPr lang="zh-CN" altLang="en-US" b="1" dirty="0">
              <a:latin typeface="等线" panose="02010600030101010101" charset="-122"/>
              <a:ea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Horizontal)">
                                      <p:cBhvr>
                                        <p:cTn id="10" dur="500"/>
                                        <p:tgtEl>
                                          <p:spTgt spid="4">
                                            <p:txEl>
                                              <p:pRg st="1" end="1"/>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Horizontal)">
                                      <p:cBhvr>
                                        <p:cTn id="13" dur="500"/>
                                        <p:tgtEl>
                                          <p:spTgt spid="4">
                                            <p:txEl>
                                              <p:pRg st="2" end="2"/>
                                            </p:txEl>
                                          </p:spTgt>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Horizontal)">
                                      <p:cBhvr>
                                        <p:cTn id="16" dur="500"/>
                                        <p:tgtEl>
                                          <p:spTgt spid="4">
                                            <p:txEl>
                                              <p:pRg st="3" end="3"/>
                                            </p:txEl>
                                          </p:spTgt>
                                        </p:tgtEl>
                                      </p:cBhvr>
                                    </p:animEffect>
                                  </p:childTnLst>
                                </p:cTn>
                              </p:par>
                              <p:par>
                                <p:cTn id="17" presetID="16" presetClass="entr" presetSubtype="26"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barn(inHorizontal)">
                                      <p:cBhvr>
                                        <p:cTn id="19"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57200" y="276860"/>
            <a:ext cx="7844155" cy="593090"/>
          </a:xfrm>
        </p:spPr>
        <p:txBody>
          <a:bodyPr/>
          <a:lstStyle/>
          <a:p>
            <a:r>
              <a:rPr lang="en-US" altLang="zh-CN" dirty="0"/>
              <a:t>8.2.1</a:t>
            </a:r>
            <a:r>
              <a:rPr lang="zh-CN" altLang="en-US" dirty="0"/>
              <a:t>循环不变式外提</a:t>
            </a:r>
            <a:endParaRPr lang="zh-CN" altLang="en-US" dirty="0"/>
          </a:p>
        </p:txBody>
      </p:sp>
      <p:sp>
        <p:nvSpPr>
          <p:cNvPr id="6" name="Rectangle 3"/>
          <p:cNvSpPr txBox="1"/>
          <p:nvPr/>
        </p:nvSpPr>
        <p:spPr>
          <a:xfrm>
            <a:off x="396875" y="1111250"/>
            <a:ext cx="11399520" cy="526732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ct val="0"/>
              </a:spcAft>
              <a:buFont typeface="Wingdings" panose="05000000000000000000" charset="0"/>
              <a:buChar char="p"/>
            </a:pPr>
            <a:r>
              <a:rPr lang="zh-CN" altLang="en-US" b="1" dirty="0"/>
              <a:t>有些表达式值不随循环的重复执行而改变，该表达式被称为循环不变表达式。如果把这个表达式提取到循环外面，该计算就仅被执行一次。</a:t>
            </a:r>
            <a:endParaRPr lang="zh-CN" altLang="en-US" b="1" dirty="0"/>
          </a:p>
          <a:p>
            <a:pPr>
              <a:lnSpc>
                <a:spcPct val="125000"/>
              </a:lnSpc>
              <a:spcBef>
                <a:spcPct val="0"/>
              </a:spcBef>
              <a:spcAft>
                <a:spcPct val="0"/>
              </a:spcAft>
              <a:buFont typeface="Wingdings" panose="05000000000000000000" charset="0"/>
              <a:buChar char="p"/>
            </a:pPr>
            <a:r>
              <a:rPr lang="zh-CN" altLang="en-US" sz="2800" b="1" dirty="0">
                <a:latin typeface="+mn-ea"/>
                <a:sym typeface="+mn-ea"/>
              </a:rPr>
              <a:t>循环不变式的例子</a:t>
            </a:r>
            <a:endParaRPr lang="zh-CN" altLang="en-US" sz="2800" b="1" dirty="0">
              <a:latin typeface="+mn-ea"/>
            </a:endParaRPr>
          </a:p>
          <a:p>
            <a:pPr lvl="1">
              <a:lnSpc>
                <a:spcPct val="125000"/>
              </a:lnSpc>
              <a:spcBef>
                <a:spcPct val="0"/>
              </a:spcBef>
              <a:spcAft>
                <a:spcPct val="0"/>
              </a:spcAft>
              <a:buFont typeface="Wingdings" panose="05000000000000000000" charset="0"/>
              <a:buChar char="p"/>
            </a:pPr>
            <a:r>
              <a:rPr lang="zh-CN" altLang="en-US" sz="2800" b="1" dirty="0">
                <a:latin typeface="+mn-ea"/>
                <a:sym typeface="+mn-ea"/>
              </a:rPr>
              <a:t>计算半径为</a:t>
            </a:r>
            <a:r>
              <a:rPr lang="en-US" altLang="zh-CN" sz="2800" b="1" dirty="0">
                <a:latin typeface="+mn-ea"/>
                <a:sym typeface="+mn-ea"/>
              </a:rPr>
              <a:t>r</a:t>
            </a:r>
            <a:r>
              <a:rPr lang="zh-CN" altLang="en-US" sz="2800" b="1" dirty="0">
                <a:latin typeface="+mn-ea"/>
                <a:sym typeface="+mn-ea"/>
              </a:rPr>
              <a:t>，从</a:t>
            </a:r>
            <a:r>
              <a:rPr lang="en-US" altLang="zh-CN" sz="2800" b="1" dirty="0">
                <a:latin typeface="+mn-ea"/>
                <a:sym typeface="+mn-ea"/>
              </a:rPr>
              <a:t>10</a:t>
            </a:r>
            <a:r>
              <a:rPr lang="zh-CN" altLang="en-US" sz="2800" b="1" dirty="0">
                <a:latin typeface="+mn-ea"/>
                <a:sym typeface="+mn-ea"/>
              </a:rPr>
              <a:t>度到</a:t>
            </a:r>
            <a:r>
              <a:rPr lang="en-US" altLang="zh-CN" sz="2800" b="1" dirty="0">
                <a:latin typeface="+mn-ea"/>
                <a:sym typeface="+mn-ea"/>
              </a:rPr>
              <a:t>360</a:t>
            </a:r>
            <a:r>
              <a:rPr lang="zh-CN" altLang="en-US" sz="2800" b="1" dirty="0">
                <a:latin typeface="+mn-ea"/>
                <a:sym typeface="+mn-ea"/>
              </a:rPr>
              <a:t>度的扇形的面积：</a:t>
            </a:r>
            <a:endParaRPr lang="zh-CN" altLang="en-US" sz="2800" b="1" dirty="0">
              <a:latin typeface="+mn-ea"/>
            </a:endParaRPr>
          </a:p>
          <a:p>
            <a:pPr marL="914400" lvl="2" indent="0">
              <a:lnSpc>
                <a:spcPct val="125000"/>
              </a:lnSpc>
              <a:spcBef>
                <a:spcPct val="0"/>
              </a:spcBef>
              <a:spcAft>
                <a:spcPct val="0"/>
              </a:spcAft>
              <a:buNone/>
            </a:pPr>
            <a:r>
              <a:rPr lang="en-US" altLang="zh-CN" sz="2800" b="1" dirty="0">
                <a:solidFill>
                  <a:srgbClr val="0070C0"/>
                </a:solidFill>
                <a:latin typeface="Courier New" panose="02070309020205020404" pitchFamily="49" charset="0"/>
                <a:cs typeface="Courier New" panose="02070309020205020404" pitchFamily="49" charset="0"/>
                <a:sym typeface="+mn-ea"/>
              </a:rPr>
              <a:t>for(n=1; n&lt;36; n++)</a:t>
            </a:r>
            <a:endParaRPr lang="en-US" altLang="zh-CN" sz="2800" b="1" dirty="0">
              <a:solidFill>
                <a:srgbClr val="0070C0"/>
              </a:solidFill>
              <a:latin typeface="Courier New" panose="02070309020205020404" pitchFamily="49" charset="0"/>
              <a:cs typeface="Courier New" panose="02070309020205020404" pitchFamily="49" charset="0"/>
            </a:endParaRPr>
          </a:p>
          <a:p>
            <a:pPr marL="914400" lvl="2" indent="0">
              <a:lnSpc>
                <a:spcPct val="125000"/>
              </a:lnSpc>
              <a:spcBef>
                <a:spcPct val="0"/>
              </a:spcBef>
              <a:spcAft>
                <a:spcPct val="0"/>
              </a:spcAft>
              <a:buNone/>
            </a:pPr>
            <a:r>
              <a:rPr lang="en-US" altLang="zh-CN" sz="2800" b="1" dirty="0">
                <a:solidFill>
                  <a:srgbClr val="0070C0"/>
                </a:solidFill>
                <a:latin typeface="Courier New" panose="02070309020205020404" pitchFamily="49" charset="0"/>
                <a:cs typeface="Courier New" panose="02070309020205020404" pitchFamily="49" charset="0"/>
                <a:sym typeface="+mn-ea"/>
              </a:rPr>
              <a:t>{S:=10/360*pi*r*r*n; </a:t>
            </a:r>
            <a:r>
              <a:rPr lang="en-US" altLang="zh-CN" sz="2800" b="1" dirty="0" err="1">
                <a:solidFill>
                  <a:srgbClr val="0070C0"/>
                </a:solidFill>
                <a:latin typeface="Courier New" panose="02070309020205020404" pitchFamily="49" charset="0"/>
                <a:cs typeface="Courier New" panose="02070309020205020404" pitchFamily="49" charset="0"/>
                <a:sym typeface="+mn-ea"/>
              </a:rPr>
              <a:t>printf</a:t>
            </a:r>
            <a:r>
              <a:rPr lang="en-US" altLang="zh-CN" sz="2800" b="1" dirty="0">
                <a:solidFill>
                  <a:srgbClr val="0070C0"/>
                </a:solidFill>
                <a:latin typeface="Courier New" panose="02070309020205020404" pitchFamily="49" charset="0"/>
                <a:cs typeface="Courier New" panose="02070309020205020404" pitchFamily="49" charset="0"/>
                <a:sym typeface="+mn-ea"/>
              </a:rPr>
              <a:t>(“Area is %f”, S); }</a:t>
            </a:r>
            <a:endParaRPr lang="en-US" altLang="zh-CN" sz="2800" b="1" dirty="0">
              <a:solidFill>
                <a:srgbClr val="0070C0"/>
              </a:solidFill>
              <a:latin typeface="Courier New" panose="02070309020205020404" pitchFamily="49" charset="0"/>
              <a:cs typeface="Courier New" panose="02070309020205020404" pitchFamily="49" charset="0"/>
              <a:sym typeface="+mn-ea"/>
            </a:endParaRPr>
          </a:p>
          <a:p>
            <a:pPr marL="914400" lvl="2" indent="0">
              <a:lnSpc>
                <a:spcPct val="125000"/>
              </a:lnSpc>
              <a:spcBef>
                <a:spcPct val="0"/>
              </a:spcBef>
              <a:spcAft>
                <a:spcPct val="0"/>
              </a:spcAft>
              <a:buNone/>
            </a:pPr>
            <a:r>
              <a:rPr lang="zh-CN" altLang="en-US" sz="2400" b="1" dirty="0"/>
              <a:t>循环不变式外提</a:t>
            </a:r>
            <a:endParaRPr lang="zh-CN" altLang="en-US" sz="2400" b="1" dirty="0"/>
          </a:p>
          <a:p>
            <a:pPr marL="914400" lvl="2" indent="0">
              <a:lnSpc>
                <a:spcPct val="120000"/>
              </a:lnSpc>
              <a:buNone/>
            </a:pPr>
            <a:r>
              <a:rPr lang="en-US" altLang="zh-CN" sz="2400" b="1" dirty="0">
                <a:solidFill>
                  <a:srgbClr val="FF0000"/>
                </a:solidFill>
                <a:latin typeface="Courier New" panose="02070309020205020404" pitchFamily="49" charset="0"/>
                <a:cs typeface="Courier New" panose="02070309020205020404" pitchFamily="49" charset="0"/>
                <a:sym typeface="+mn-ea"/>
              </a:rPr>
              <a:t>C= 10/360*pi*r*r; </a:t>
            </a:r>
            <a:endParaRPr lang="en-US" altLang="zh-CN" sz="2400" b="1" dirty="0">
              <a:solidFill>
                <a:srgbClr val="FF0000"/>
              </a:solidFill>
              <a:latin typeface="Courier New" panose="02070309020205020404" pitchFamily="49" charset="0"/>
              <a:cs typeface="Courier New" panose="02070309020205020404" pitchFamily="49" charset="0"/>
            </a:endParaRPr>
          </a:p>
          <a:p>
            <a:pPr marL="914400" lvl="2" indent="0">
              <a:lnSpc>
                <a:spcPct val="120000"/>
              </a:lnSpc>
              <a:buNone/>
            </a:pPr>
            <a:r>
              <a:rPr lang="en-US" altLang="zh-CN" sz="2400" b="1" dirty="0">
                <a:solidFill>
                  <a:srgbClr val="FF0000"/>
                </a:solidFill>
                <a:latin typeface="Courier New" panose="02070309020205020404" pitchFamily="49" charset="0"/>
                <a:cs typeface="Courier New" panose="02070309020205020404" pitchFamily="49" charset="0"/>
                <a:sym typeface="+mn-ea"/>
              </a:rPr>
              <a:t>for(n=1; n&lt;36; n++)</a:t>
            </a:r>
            <a:endParaRPr lang="en-US" altLang="zh-CN" sz="2400" b="1" dirty="0">
              <a:solidFill>
                <a:srgbClr val="FF0000"/>
              </a:solidFill>
              <a:latin typeface="Courier New" panose="02070309020205020404" pitchFamily="49" charset="0"/>
              <a:cs typeface="Courier New" panose="02070309020205020404" pitchFamily="49" charset="0"/>
            </a:endParaRPr>
          </a:p>
          <a:p>
            <a:pPr marL="914400" lvl="2" indent="0">
              <a:lnSpc>
                <a:spcPct val="120000"/>
              </a:lnSpc>
              <a:buNone/>
            </a:pPr>
            <a:r>
              <a:rPr lang="en-US" altLang="zh-CN" sz="2400" b="1" dirty="0">
                <a:solidFill>
                  <a:srgbClr val="FF0000"/>
                </a:solidFill>
                <a:latin typeface="Courier New" panose="02070309020205020404" pitchFamily="49" charset="0"/>
                <a:cs typeface="Courier New" panose="02070309020205020404" pitchFamily="49" charset="0"/>
                <a:sym typeface="+mn-ea"/>
              </a:rPr>
              <a:t>{S:=C*n; </a:t>
            </a:r>
            <a:r>
              <a:rPr lang="en-US" altLang="zh-CN" sz="2400" b="1" dirty="0" err="1">
                <a:solidFill>
                  <a:srgbClr val="FF0000"/>
                </a:solidFill>
                <a:latin typeface="Courier New" panose="02070309020205020404" pitchFamily="49" charset="0"/>
                <a:cs typeface="Courier New" panose="02070309020205020404" pitchFamily="49" charset="0"/>
                <a:sym typeface="+mn-ea"/>
              </a:rPr>
              <a:t>printf</a:t>
            </a:r>
            <a:r>
              <a:rPr lang="en-US" altLang="zh-CN" sz="2400" b="1" dirty="0">
                <a:solidFill>
                  <a:srgbClr val="FF0000"/>
                </a:solidFill>
                <a:latin typeface="Courier New" panose="02070309020205020404" pitchFamily="49" charset="0"/>
                <a:cs typeface="Courier New" panose="02070309020205020404" pitchFamily="49" charset="0"/>
                <a:sym typeface="+mn-ea"/>
              </a:rPr>
              <a:t>(“Area is %f”, S); }</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arn(inHorizontal)">
                                      <p:cBhvr>
                                        <p:cTn id="7" dur="500"/>
                                        <p:tgtEl>
                                          <p:spTgt spid="6">
                                            <p:txEl>
                                              <p:pRg st="1" end="1"/>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barn(inHorizontal)">
                                      <p:cBhvr>
                                        <p:cTn id="10" dur="500"/>
                                        <p:tgtEl>
                                          <p:spTgt spid="6">
                                            <p:txEl>
                                              <p:pRg st="2" end="2"/>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barn(inHorizontal)">
                                      <p:cBhvr>
                                        <p:cTn id="13" dur="500"/>
                                        <p:tgtEl>
                                          <p:spTgt spid="6">
                                            <p:txEl>
                                              <p:pRg st="3" end="3"/>
                                            </p:txEl>
                                          </p:spTgt>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barn(inHorizontal)">
                                      <p:cBhvr>
                                        <p:cTn id="16" dur="500"/>
                                        <p:tgtEl>
                                          <p:spTgt spid="6">
                                            <p:txEl>
                                              <p:pRg st="4" end="4"/>
                                            </p:txEl>
                                          </p:spTgt>
                                        </p:tgtEl>
                                      </p:cBhvr>
                                    </p:animEffect>
                                  </p:childTnLst>
                                </p:cTn>
                              </p:par>
                              <p:par>
                                <p:cTn id="17" presetID="16" presetClass="entr" presetSubtype="26"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barn(inHorizontal)">
                                      <p:cBhvr>
                                        <p:cTn id="19" dur="500"/>
                                        <p:tgtEl>
                                          <p:spTgt spid="6">
                                            <p:txEl>
                                              <p:pRg st="5" end="5"/>
                                            </p:txEl>
                                          </p:spTgt>
                                        </p:tgtEl>
                                      </p:cBhvr>
                                    </p:animEffect>
                                  </p:childTnLst>
                                </p:cTn>
                              </p:par>
                              <p:par>
                                <p:cTn id="20" presetID="16" presetClass="entr" presetSubtype="26" fill="hold" grpId="0"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barn(inHorizontal)">
                                      <p:cBhvr>
                                        <p:cTn id="22" dur="500"/>
                                        <p:tgtEl>
                                          <p:spTgt spid="6">
                                            <p:txEl>
                                              <p:pRg st="6" end="6"/>
                                            </p:txEl>
                                          </p:spTgt>
                                        </p:tgtEl>
                                      </p:cBhvr>
                                    </p:animEffect>
                                  </p:childTnLst>
                                </p:cTn>
                              </p:par>
                              <p:par>
                                <p:cTn id="23" presetID="16" presetClass="entr" presetSubtype="26"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animEffect transition="in" filter="barn(inHorizontal)">
                                      <p:cBhvr>
                                        <p:cTn id="25" dur="500"/>
                                        <p:tgtEl>
                                          <p:spTgt spid="6">
                                            <p:txEl>
                                              <p:pRg st="7" end="7"/>
                                            </p:txEl>
                                          </p:spTgt>
                                        </p:tgtEl>
                                      </p:cBhvr>
                                    </p:animEffect>
                                  </p:childTnLst>
                                </p:cTn>
                              </p:par>
                              <p:par>
                                <p:cTn id="26" presetID="16" presetClass="entr" presetSubtype="26" fill="hold" grpId="0" nodeType="withEffect">
                                  <p:stCondLst>
                                    <p:cond delay="0"/>
                                  </p:stCondLst>
                                  <p:childTnLst>
                                    <p:set>
                                      <p:cBhvr>
                                        <p:cTn id="27" dur="1" fill="hold">
                                          <p:stCondLst>
                                            <p:cond delay="0"/>
                                          </p:stCondLst>
                                        </p:cTn>
                                        <p:tgtEl>
                                          <p:spTgt spid="6">
                                            <p:txEl>
                                              <p:pRg st="8" end="8"/>
                                            </p:txEl>
                                          </p:spTgt>
                                        </p:tgtEl>
                                        <p:attrNameLst>
                                          <p:attrName>style.visibility</p:attrName>
                                        </p:attrNameLst>
                                      </p:cBhvr>
                                      <p:to>
                                        <p:strVal val="visible"/>
                                      </p:to>
                                    </p:set>
                                    <p:animEffect transition="in" filter="barn(inHorizontal)">
                                      <p:cBhvr>
                                        <p:cTn id="28"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99085" y="276860"/>
            <a:ext cx="8002270" cy="593090"/>
          </a:xfrm>
        </p:spPr>
        <p:txBody>
          <a:bodyPr/>
          <a:lstStyle/>
          <a:p>
            <a:r>
              <a:rPr lang="en-US" altLang="zh-CN" dirty="0"/>
              <a:t>8.2.2 </a:t>
            </a:r>
            <a:r>
              <a:rPr lang="zh-CN" altLang="en-US" dirty="0"/>
              <a:t>归纳变量删除</a:t>
            </a:r>
            <a:endParaRPr lang="zh-CN" altLang="en-US" dirty="0"/>
          </a:p>
        </p:txBody>
      </p:sp>
      <p:sp>
        <p:nvSpPr>
          <p:cNvPr id="4" name="Rectangle 3"/>
          <p:cNvSpPr txBox="1"/>
          <p:nvPr/>
        </p:nvSpPr>
        <p:spPr>
          <a:xfrm>
            <a:off x="506095" y="1196975"/>
            <a:ext cx="4899660" cy="480885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latin typeface="+mn-ea"/>
              </a:rPr>
              <a:t>在循环中，如果变量</a:t>
            </a:r>
            <a:r>
              <a:rPr lang="en-US" altLang="zh-CN" sz="2400" b="1" dirty="0" err="1">
                <a:latin typeface="+mn-ea"/>
              </a:rPr>
              <a:t>i</a:t>
            </a:r>
            <a:r>
              <a:rPr lang="zh-CN" altLang="en-US" sz="2400" b="1" dirty="0">
                <a:latin typeface="+mn-ea"/>
              </a:rPr>
              <a:t>的值随着循环的每次重复都固定地增加或者减少某个常量，则称</a:t>
            </a:r>
            <a:r>
              <a:rPr lang="en-US" altLang="zh-CN" sz="2400" b="1" dirty="0" err="1">
                <a:latin typeface="+mn-ea"/>
              </a:rPr>
              <a:t>i</a:t>
            </a:r>
            <a:r>
              <a:rPr lang="zh-CN" altLang="en-US" sz="2400" b="1" dirty="0">
                <a:latin typeface="+mn-ea"/>
              </a:rPr>
              <a:t>为循环的归纳变量。</a:t>
            </a:r>
            <a:endParaRPr lang="zh-CN" altLang="en-US" sz="2400" b="1" dirty="0">
              <a:latin typeface="+mn-ea"/>
            </a:endParaRPr>
          </a:p>
          <a:p>
            <a:pPr>
              <a:lnSpc>
                <a:spcPct val="125000"/>
              </a:lnSpc>
              <a:spcBef>
                <a:spcPct val="0"/>
              </a:spcBef>
              <a:spcAft>
                <a:spcPts val="0"/>
              </a:spcAft>
              <a:buFont typeface="Wingdings" panose="05000000000000000000" charset="0"/>
              <a:buChar char="p"/>
            </a:pPr>
            <a:r>
              <a:rPr lang="zh-CN" altLang="en-US" sz="2400" b="1" dirty="0">
                <a:latin typeface="+mn-ea"/>
              </a:rPr>
              <a:t>如果在一个循环中有多个归纳变量，减少归纳变量的优化称为归纳变量的删除。</a:t>
            </a:r>
            <a:endParaRPr lang="zh-CN" altLang="en-US" sz="2400"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sym typeface="+mn-ea"/>
              </a:rPr>
              <a:t>找出归纳变量</a:t>
            </a:r>
            <a:endParaRPr lang="en-US" altLang="zh-CN"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sym typeface="+mn-ea"/>
              </a:rPr>
              <a:t>确定要删除的归纳变量</a:t>
            </a:r>
            <a:endParaRPr lang="en-US" altLang="zh-CN"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sym typeface="+mn-ea"/>
              </a:rPr>
              <a:t>确定要进行的等价变换</a:t>
            </a:r>
            <a:endParaRPr lang="zh-CN" altLang="en-US" b="1" dirty="0">
              <a:latin typeface="+mn-ea"/>
            </a:endParaRPr>
          </a:p>
          <a:p>
            <a:pPr>
              <a:lnSpc>
                <a:spcPct val="150000"/>
              </a:lnSpc>
            </a:pPr>
            <a:endParaRPr lang="zh-CN" altLang="en-US" sz="2400" b="1" dirty="0">
              <a:latin typeface="+mn-ea"/>
            </a:endParaRPr>
          </a:p>
        </p:txBody>
      </p:sp>
      <p:sp>
        <p:nvSpPr>
          <p:cNvPr id="2" name="文本框 1"/>
          <p:cNvSpPr txBox="1"/>
          <p:nvPr/>
        </p:nvSpPr>
        <p:spPr>
          <a:xfrm>
            <a:off x="5476240" y="1196975"/>
            <a:ext cx="6096000" cy="977265"/>
          </a:xfrm>
          <a:prstGeom prst="rect">
            <a:avLst/>
          </a:prstGeom>
          <a:noFill/>
        </p:spPr>
        <p:txBody>
          <a:bodyPr wrap="square" rtlCol="0" anchor="t">
            <a:spAutoFit/>
          </a:bodyPr>
          <a:p>
            <a:pPr eaLnBrk="0" fontAlgn="base" hangingPunct="0">
              <a:lnSpc>
                <a:spcPct val="120000"/>
              </a:lnSpc>
              <a:spcBef>
                <a:spcPct val="20000"/>
              </a:spcBef>
              <a:spcAft>
                <a:spcPct val="0"/>
              </a:spcAft>
              <a:buFont typeface="Wingdings" panose="05000000000000000000" charset="0"/>
              <a:buChar char="p"/>
              <a:defRPr/>
            </a:pPr>
            <a:r>
              <a:rPr lang="en-US" altLang="zh-CN" sz="2400" b="1" kern="0" dirty="0">
                <a:latin typeface="+mn-ea"/>
                <a:sym typeface="+mn-ea"/>
              </a:rPr>
              <a:t>d</a:t>
            </a:r>
            <a:r>
              <a:rPr lang="zh-CN" altLang="en-US" sz="2400" b="1" kern="0" dirty="0">
                <a:latin typeface="+mn-ea"/>
                <a:sym typeface="+mn-ea"/>
              </a:rPr>
              <a:t>与</a:t>
            </a:r>
            <a:r>
              <a:rPr lang="en-US" altLang="zh-CN" sz="2400" b="1" kern="0" dirty="0" err="1">
                <a:latin typeface="+mn-ea"/>
                <a:sym typeface="+mn-ea"/>
              </a:rPr>
              <a:t>i</a:t>
            </a:r>
            <a:r>
              <a:rPr lang="zh-CN" altLang="en-US" sz="2400" b="1" kern="0" dirty="0">
                <a:latin typeface="+mn-ea"/>
                <a:sym typeface="+mn-ea"/>
              </a:rPr>
              <a:t>为归纳变量，</a:t>
            </a:r>
            <a:r>
              <a:rPr lang="en-US" altLang="zh-CN" sz="2400" b="1" kern="0" dirty="0">
                <a:latin typeface="+mn-ea"/>
                <a:sym typeface="+mn-ea"/>
              </a:rPr>
              <a:t>d=</a:t>
            </a:r>
            <a:r>
              <a:rPr lang="en-US" altLang="zh-CN" sz="2400" b="1" kern="0" dirty="0" err="1">
                <a:latin typeface="+mn-ea"/>
                <a:sym typeface="+mn-ea"/>
              </a:rPr>
              <a:t>i</a:t>
            </a:r>
            <a:r>
              <a:rPr lang="en-US" altLang="zh-CN" sz="2400" b="1" kern="0" dirty="0">
                <a:latin typeface="+mn-ea"/>
                <a:sym typeface="+mn-ea"/>
              </a:rPr>
              <a:t>*k</a:t>
            </a:r>
            <a:r>
              <a:rPr lang="zh-CN" altLang="en-US" sz="2400" b="1" kern="0" dirty="0">
                <a:latin typeface="+mn-ea"/>
                <a:sym typeface="+mn-ea"/>
              </a:rPr>
              <a:t>在循环内恒真，故条件</a:t>
            </a:r>
            <a:r>
              <a:rPr lang="en-US" altLang="zh-CN" sz="2400" b="1" kern="0" dirty="0" err="1">
                <a:latin typeface="+mn-ea"/>
                <a:sym typeface="+mn-ea"/>
              </a:rPr>
              <a:t>i</a:t>
            </a:r>
            <a:r>
              <a:rPr lang="en-US" altLang="zh-CN" sz="2400" b="1" kern="0" dirty="0">
                <a:latin typeface="+mn-ea"/>
                <a:sym typeface="+mn-ea"/>
              </a:rPr>
              <a:t>&lt;=c</a:t>
            </a:r>
            <a:r>
              <a:rPr lang="zh-CN" altLang="en-US" sz="2400" b="1" kern="0" dirty="0">
                <a:latin typeface="+mn-ea"/>
                <a:sym typeface="+mn-ea"/>
              </a:rPr>
              <a:t>等价于</a:t>
            </a:r>
            <a:r>
              <a:rPr lang="en-US" altLang="zh-CN" sz="2400" b="1" kern="0" dirty="0">
                <a:latin typeface="+mn-ea"/>
                <a:sym typeface="+mn-ea"/>
              </a:rPr>
              <a:t>d&lt;=c*k.</a:t>
            </a:r>
            <a:endParaRPr lang="en-US" altLang="zh-CN" sz="2400" b="1" kern="0" dirty="0">
              <a:latin typeface="+mn-ea"/>
              <a:sym typeface="+mn-ea"/>
            </a:endParaRPr>
          </a:p>
        </p:txBody>
      </p:sp>
      <p:grpSp>
        <p:nvGrpSpPr>
          <p:cNvPr id="3" name="组合 2"/>
          <p:cNvGrpSpPr/>
          <p:nvPr/>
        </p:nvGrpSpPr>
        <p:grpSpPr>
          <a:xfrm>
            <a:off x="7001510" y="2174464"/>
            <a:ext cx="2852420" cy="4225795"/>
            <a:chOff x="5363917" y="1123666"/>
            <a:chExt cx="3313359" cy="4705920"/>
          </a:xfrm>
        </p:grpSpPr>
        <p:sp>
          <p:nvSpPr>
            <p:cNvPr id="6" name="Rectangle 4"/>
            <p:cNvSpPr>
              <a:spLocks noChangeArrowheads="1"/>
            </p:cNvSpPr>
            <p:nvPr>
              <p:custDataLst>
                <p:tags r:id="rId1"/>
              </p:custDataLst>
            </p:nvPr>
          </p:nvSpPr>
          <p:spPr bwMode="auto">
            <a:xfrm>
              <a:off x="5827501" y="1123666"/>
              <a:ext cx="2351511" cy="410145"/>
            </a:xfrm>
            <a:prstGeom prst="rect">
              <a:avLst/>
            </a:prstGeom>
            <a:noFill/>
            <a:ln w="9525">
              <a:solidFill>
                <a:schemeClr val="tx1"/>
              </a:solidFill>
              <a:miter lim="800000"/>
            </a:ln>
            <a:effectLst/>
          </p:spPr>
          <p:txBody>
            <a:bodyPr wrap="none" anchor="ctr">
              <a:spAutoFit/>
            </a:bodyPr>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(1)     </a:t>
              </a:r>
              <a:r>
                <a:rPr kumimoji="1" lang="en-US" altLang="zh-CN"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i:=a</a:t>
              </a:r>
              <a:r>
                <a:rPr kumimoji="1" lang="en-US" altLang="zh-CN"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B</a:t>
              </a:r>
              <a:r>
                <a:rPr kumimoji="1" lang="en-US" altLang="zh-CN" b="1" i="0" u="none" strike="noStrike" kern="1200" cap="none" spc="0" normalizeH="0" baseline="-2500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1</a:t>
              </a:r>
              <a:endParaRPr kumimoji="1" lang="en-US" altLang="zh-CN" b="1" i="0" u="none" strike="noStrike" kern="1200" cap="none" spc="0" normalizeH="0" baseline="-2500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endParaRPr>
            </a:p>
          </p:txBody>
        </p:sp>
        <p:sp>
          <p:nvSpPr>
            <p:cNvPr id="7" name="Rectangle 5"/>
            <p:cNvSpPr>
              <a:spLocks noChangeArrowheads="1"/>
            </p:cNvSpPr>
            <p:nvPr>
              <p:custDataLst>
                <p:tags r:id="rId2"/>
              </p:custDataLst>
            </p:nvPr>
          </p:nvSpPr>
          <p:spPr bwMode="auto">
            <a:xfrm>
              <a:off x="5364163" y="1769607"/>
              <a:ext cx="3313113" cy="718462"/>
            </a:xfrm>
            <a:prstGeom prst="rect">
              <a:avLst/>
            </a:prstGeom>
            <a:noFill/>
            <a:ln w="9525">
              <a:solidFill>
                <a:schemeClr val="tx1"/>
              </a:solidFill>
              <a:miter lim="800000"/>
            </a:ln>
          </p:spPr>
          <p:txBody>
            <a:bodyPr anchor="ctr">
              <a:spAutoFit/>
            </a:bodyPr>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(2)</a:t>
              </a:r>
              <a:r>
                <a:rPr kumimoji="1" lang="en-US" altLang="zh-CN"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if_false i&lt;=c goto B</a:t>
              </a:r>
              <a:r>
                <a:rPr kumimoji="1" lang="en-US" altLang="zh-CN" b="1" i="0" u="none" strike="noStrike" kern="1200" cap="none" spc="0" normalizeH="0" baseline="-2500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4</a:t>
              </a:r>
              <a:r>
                <a:rPr kumimoji="1" lang="en-US" altLang="zh-CN"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B</a:t>
              </a:r>
              <a:r>
                <a:rPr kumimoji="1" lang="en-US" altLang="zh-CN" b="1" i="0" u="none" strike="noStrike" kern="1200" cap="none" spc="0" normalizeH="0" baseline="-2500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2</a:t>
              </a:r>
              <a:endParaRPr kumimoji="1" lang="en-US" altLang="zh-CN" b="1" i="0" u="none" strike="noStrike" kern="1200" cap="none" spc="0" normalizeH="0" baseline="-2500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endParaRPr>
            </a:p>
          </p:txBody>
        </p:sp>
        <p:sp>
          <p:nvSpPr>
            <p:cNvPr id="8" name="Rectangle 6"/>
            <p:cNvSpPr>
              <a:spLocks noChangeArrowheads="1"/>
            </p:cNvSpPr>
            <p:nvPr>
              <p:custDataLst>
                <p:tags r:id="rId3"/>
              </p:custDataLst>
            </p:nvPr>
          </p:nvSpPr>
          <p:spPr bwMode="auto">
            <a:xfrm>
              <a:off x="5867400" y="3277392"/>
              <a:ext cx="2276475" cy="1335094"/>
            </a:xfrm>
            <a:prstGeom prst="rect">
              <a:avLst/>
            </a:prstGeom>
            <a:noFill/>
            <a:ln w="9525">
              <a:solidFill>
                <a:schemeClr val="tx1"/>
              </a:solidFill>
              <a:miter lim="800000"/>
            </a:ln>
          </p:spPr>
          <p:txBody>
            <a:bodyPr anchor="ctr">
              <a:spAutoFit/>
            </a:bodyPr>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en-US" altLang="zh-CN"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(3) d:=i*k </a:t>
              </a:r>
              <a:endParaRPr kumimoji="1" lang="en-US" altLang="zh-CN"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endParaRPr>
            </a:p>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zh-CN" altLang="en-US"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a:t>
              </a:r>
              <a:r>
                <a:rPr kumimoji="1" lang="en-US" altLang="zh-CN"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4</a:t>
              </a:r>
              <a:r>
                <a:rPr kumimoji="1" lang="zh-CN" altLang="en-US"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a:t>
              </a:r>
              <a:r>
                <a:rPr kumimoji="1" lang="en-US" altLang="zh-CN"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i:=i+b </a:t>
              </a:r>
              <a:endParaRPr kumimoji="1" lang="en-US" altLang="zh-CN"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endParaRPr>
            </a:p>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en-US" altLang="zh-CN"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(5</a:t>
              </a:r>
              <a:r>
                <a:rPr kumimoji="1" lang="zh-CN" altLang="en-US"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dirty="0" err="1">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goto</a:t>
              </a:r>
              <a:r>
                <a:rPr kumimoji="1" lang="en-US" altLang="zh-CN"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B</a:t>
              </a:r>
              <a:r>
                <a:rPr kumimoji="1" lang="en-US" altLang="zh-CN" b="1" i="0" u="none" strike="noStrike" kern="1200" cap="none" spc="0" normalizeH="0" baseline="-2500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2</a:t>
              </a:r>
              <a:endParaRPr kumimoji="1" lang="en-US" altLang="zh-CN" b="1" i="0" u="none" strike="noStrike" kern="1200" cap="none" spc="0" normalizeH="0" baseline="-25000" noProof="0" dirty="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endParaRPr>
            </a:p>
          </p:txBody>
        </p:sp>
        <p:sp>
          <p:nvSpPr>
            <p:cNvPr id="9" name="Rectangle 7"/>
            <p:cNvSpPr>
              <a:spLocks noChangeArrowheads="1"/>
            </p:cNvSpPr>
            <p:nvPr>
              <p:custDataLst>
                <p:tags r:id="rId4"/>
              </p:custDataLst>
            </p:nvPr>
          </p:nvSpPr>
          <p:spPr bwMode="auto">
            <a:xfrm>
              <a:off x="6398908" y="5419441"/>
              <a:ext cx="1702412" cy="410145"/>
            </a:xfrm>
            <a:prstGeom prst="rect">
              <a:avLst/>
            </a:prstGeom>
            <a:noFill/>
            <a:ln w="9525">
              <a:solidFill>
                <a:schemeClr val="tx1"/>
              </a:solidFill>
              <a:miter lim="800000"/>
            </a:ln>
            <a:effectLst/>
          </p:spPr>
          <p:txBody>
            <a:bodyPr wrap="none" anchor="ctr">
              <a:spAutoFit/>
            </a:bodyPr>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a:ea typeface="宋体" panose="02010600030101010101" pitchFamily="2" charset="-122"/>
                  <a:cs typeface="+mn-cs"/>
                </a:rPr>
                <a:t>…</a:t>
              </a: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a:ea typeface="宋体" panose="02010600030101010101" pitchFamily="2" charset="-122"/>
                  <a:cs typeface="+mn-cs"/>
                </a:rPr>
                <a:t>…</a:t>
              </a: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a:ea typeface="宋体" panose="02010600030101010101" pitchFamily="2" charset="-122"/>
                  <a:cs typeface="+mn-cs"/>
                </a:rPr>
                <a:t>…</a:t>
              </a:r>
              <a:r>
                <a:rPr kumimoji="1" lang="en-US" altLang="zh-CN"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  </a:t>
              </a:r>
              <a:r>
                <a:rPr kumimoji="1" lang="en-US" altLang="zh-CN" b="1" i="0" u="none" strike="noStrike" kern="1200" cap="none" spc="0" normalizeH="0" baseline="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B</a:t>
              </a:r>
              <a:r>
                <a:rPr kumimoji="1" lang="en-US" altLang="zh-CN" b="1" i="0" u="none" strike="noStrike" kern="1200" cap="none" spc="0" normalizeH="0" baseline="-2500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4</a:t>
              </a:r>
              <a:endParaRPr kumimoji="1" lang="en-US" altLang="zh-CN" b="1" i="0" u="none" strike="noStrike" kern="1200" cap="none" spc="0" normalizeH="0" baseline="-25000" noProof="0">
                <a:ln>
                  <a:noFill/>
                </a:ln>
                <a:solidFill>
                  <a:srgbClr val="0000FF"/>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endParaRPr>
            </a:p>
          </p:txBody>
        </p:sp>
        <p:cxnSp>
          <p:nvCxnSpPr>
            <p:cNvPr id="10" name="AutoShape 8"/>
            <p:cNvCxnSpPr>
              <a:stCxn id="6" idx="2"/>
              <a:endCxn id="7" idx="0"/>
            </p:cNvCxnSpPr>
            <p:nvPr>
              <p:custDataLst>
                <p:tags r:id="rId5"/>
              </p:custDataLst>
            </p:nvPr>
          </p:nvCxnSpPr>
          <p:spPr>
            <a:xfrm rot="5400000" flipV="1">
              <a:off x="6893651" y="1642804"/>
              <a:ext cx="236187" cy="17703"/>
            </a:xfrm>
            <a:prstGeom prst="curvedConnector3">
              <a:avLst>
                <a:gd name="adj1" fmla="val 49894"/>
              </a:avLst>
            </a:prstGeom>
            <a:ln w="9525">
              <a:noFill/>
            </a:ln>
          </p:spPr>
        </p:cxnSp>
        <p:cxnSp>
          <p:nvCxnSpPr>
            <p:cNvPr id="11" name="AutoShape 9"/>
            <p:cNvCxnSpPr>
              <a:stCxn id="6" idx="2"/>
              <a:endCxn id="7" idx="0"/>
            </p:cNvCxnSpPr>
            <p:nvPr>
              <p:custDataLst>
                <p:tags r:id="rId6"/>
              </p:custDataLst>
            </p:nvPr>
          </p:nvCxnSpPr>
          <p:spPr>
            <a:xfrm>
              <a:off x="7003257" y="1533679"/>
              <a:ext cx="17703" cy="236187"/>
            </a:xfrm>
            <a:prstGeom prst="straightConnector1">
              <a:avLst/>
            </a:prstGeom>
            <a:ln w="28575" cap="flat" cmpd="sng">
              <a:solidFill>
                <a:schemeClr val="tx1"/>
              </a:solidFill>
              <a:prstDash val="solid"/>
              <a:headEnd type="none" w="med" len="med"/>
              <a:tailEnd type="triangle" w="med" len="med"/>
            </a:ln>
          </p:spPr>
        </p:cxnSp>
        <p:cxnSp>
          <p:nvCxnSpPr>
            <p:cNvPr id="13" name="AutoShape 10"/>
            <p:cNvCxnSpPr>
              <a:stCxn id="7" idx="2"/>
              <a:endCxn id="8" idx="0"/>
            </p:cNvCxnSpPr>
            <p:nvPr>
              <p:custDataLst>
                <p:tags r:id="rId7"/>
              </p:custDataLst>
            </p:nvPr>
          </p:nvCxnSpPr>
          <p:spPr>
            <a:xfrm flipH="1">
              <a:off x="7005967" y="2488013"/>
              <a:ext cx="14752" cy="789176"/>
            </a:xfrm>
            <a:prstGeom prst="straightConnector1">
              <a:avLst/>
            </a:prstGeom>
            <a:ln w="28575" cap="flat" cmpd="sng">
              <a:solidFill>
                <a:schemeClr val="tx1"/>
              </a:solidFill>
              <a:prstDash val="solid"/>
              <a:headEnd type="none" w="med" len="med"/>
              <a:tailEnd type="triangle" w="med" len="med"/>
            </a:ln>
          </p:spPr>
        </p:cxnSp>
        <p:cxnSp>
          <p:nvCxnSpPr>
            <p:cNvPr id="14" name="AutoShape 11"/>
            <p:cNvCxnSpPr>
              <a:stCxn id="8" idx="2"/>
              <a:endCxn id="7" idx="1"/>
            </p:cNvCxnSpPr>
            <p:nvPr>
              <p:custDataLst>
                <p:tags r:id="rId8"/>
              </p:custDataLst>
            </p:nvPr>
          </p:nvCxnSpPr>
          <p:spPr>
            <a:xfrm rot="5400000" flipH="1">
              <a:off x="4943130" y="2549766"/>
              <a:ext cx="2483501" cy="1641927"/>
            </a:xfrm>
            <a:prstGeom prst="bentConnector4">
              <a:avLst>
                <a:gd name="adj1" fmla="val -10668"/>
                <a:gd name="adj2" fmla="val 116846"/>
              </a:avLst>
            </a:prstGeom>
            <a:ln w="28575" cap="flat" cmpd="sng">
              <a:solidFill>
                <a:schemeClr val="tx1"/>
              </a:solidFill>
              <a:prstDash val="solid"/>
              <a:miter/>
              <a:headEnd type="none" w="med" len="med"/>
              <a:tailEnd type="triangle" w="med" len="med"/>
            </a:ln>
          </p:spPr>
        </p:cxnSp>
        <p:cxnSp>
          <p:nvCxnSpPr>
            <p:cNvPr id="15" name="AutoShape 12"/>
            <p:cNvCxnSpPr>
              <a:stCxn id="7" idx="3"/>
              <a:endCxn id="9" idx="3"/>
            </p:cNvCxnSpPr>
            <p:nvPr>
              <p:custDataLst>
                <p:tags r:id="rId9"/>
              </p:custDataLst>
            </p:nvPr>
          </p:nvCxnSpPr>
          <p:spPr>
            <a:xfrm flipH="1">
              <a:off x="8101200" y="2128979"/>
              <a:ext cx="576076" cy="3495428"/>
            </a:xfrm>
            <a:prstGeom prst="bentConnector3">
              <a:avLst>
                <a:gd name="adj1" fmla="val -48015"/>
              </a:avLst>
            </a:prstGeom>
            <a:ln w="28575" cap="flat" cmpd="sng">
              <a:solidFill>
                <a:schemeClr val="tx1"/>
              </a:solidFill>
              <a:prstDash val="solid"/>
              <a:miter/>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Horizontal)">
                                      <p:cBhvr>
                                        <p:cTn id="15" dur="500"/>
                                        <p:tgtEl>
                                          <p:spTgt spid="4">
                                            <p:txEl>
                                              <p:pRg st="2" end="2"/>
                                            </p:txEl>
                                          </p:spTgt>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Horizontal)">
                                      <p:cBhvr>
                                        <p:cTn id="18" dur="500"/>
                                        <p:tgtEl>
                                          <p:spTgt spid="4">
                                            <p:txEl>
                                              <p:pRg st="3" end="3"/>
                                            </p:txEl>
                                          </p:spTgt>
                                        </p:tgtEl>
                                      </p:cBhvr>
                                    </p:animEffect>
                                  </p:childTnLst>
                                </p:cTn>
                              </p:par>
                              <p:par>
                                <p:cTn id="19" presetID="16" presetClass="entr" presetSubtype="26"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Horizontal)">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193674" y="191135"/>
            <a:ext cx="6545544" cy="593090"/>
          </a:xfrm>
        </p:spPr>
        <p:txBody>
          <a:bodyPr/>
          <a:lstStyle/>
          <a:p>
            <a:r>
              <a:rPr lang="en-US" altLang="zh-CN" dirty="0"/>
              <a:t>8.2.2 </a:t>
            </a:r>
            <a:r>
              <a:rPr lang="zh-CN" altLang="en-US" dirty="0"/>
              <a:t>归纳变量删除</a:t>
            </a:r>
            <a:endParaRPr lang="zh-CN" altLang="en-US" dirty="0"/>
          </a:p>
        </p:txBody>
      </p:sp>
      <p:sp>
        <p:nvSpPr>
          <p:cNvPr id="16" name="Rectangle 38"/>
          <p:cNvSpPr/>
          <p:nvPr/>
        </p:nvSpPr>
        <p:spPr>
          <a:xfrm>
            <a:off x="6242671" y="1107403"/>
            <a:ext cx="4103687" cy="545595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2000" b="1" dirty="0">
              <a:latin typeface="+mn-ea"/>
            </a:endParaRPr>
          </a:p>
        </p:txBody>
      </p:sp>
      <p:sp>
        <p:nvSpPr>
          <p:cNvPr id="17" name="Rectangle 37"/>
          <p:cNvSpPr/>
          <p:nvPr/>
        </p:nvSpPr>
        <p:spPr>
          <a:xfrm>
            <a:off x="1829921" y="1344315"/>
            <a:ext cx="4103688" cy="50135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2000" b="1" dirty="0">
              <a:latin typeface="+mn-ea"/>
            </a:endParaRPr>
          </a:p>
        </p:txBody>
      </p:sp>
      <p:sp>
        <p:nvSpPr>
          <p:cNvPr id="18" name="Rectangle 15"/>
          <p:cNvSpPr>
            <a:spLocks noChangeArrowheads="1"/>
          </p:cNvSpPr>
          <p:nvPr/>
        </p:nvSpPr>
        <p:spPr bwMode="auto">
          <a:xfrm>
            <a:off x="6739558" y="3719792"/>
            <a:ext cx="3365500" cy="706755"/>
          </a:xfrm>
          <a:prstGeom prst="rect">
            <a:avLst/>
          </a:prstGeom>
          <a:noFill/>
          <a:ln w="9525">
            <a:solidFill>
              <a:schemeClr val="tx1"/>
            </a:solidFill>
            <a:miter lim="800000"/>
          </a:ln>
        </p:spPr>
        <p:txBody>
          <a:bodyPr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(4)</a:t>
            </a:r>
            <a:r>
              <a:rPr kumimoji="1" lang="en-US" altLang="zh-CN" sz="2000" b="1" i="0" u="none" strike="noStrike" kern="1200" cap="none" spc="0" normalizeH="0" baseline="0" noProof="0">
                <a:ln>
                  <a:noFill/>
                </a:ln>
                <a:solidFill>
                  <a:schemeClr val="tx1"/>
                </a:solidFill>
                <a:uLnTx/>
                <a:uFillTx/>
                <a:latin typeface="+mn-ea"/>
                <a:cs typeface="+mn-cs"/>
              </a:rPr>
              <a:t> </a:t>
            </a:r>
            <a:r>
              <a:rPr kumimoji="1" lang="en-US" altLang="zh-CN" sz="2000" b="1" i="0" u="none" strike="noStrike" kern="1200" cap="none" spc="0" normalizeH="0" baseline="0" noProof="0">
                <a:ln>
                  <a:noFill/>
                </a:ln>
                <a:solidFill>
                  <a:srgbClr val="FF3300"/>
                </a:solidFill>
                <a:uLnTx/>
                <a:uFillTx/>
                <a:latin typeface="+mn-ea"/>
                <a:cs typeface="+mn-cs"/>
              </a:rPr>
              <a:t>if_false d&lt;=T2 goto B</a:t>
            </a:r>
            <a:r>
              <a:rPr kumimoji="1" lang="en-US" altLang="zh-CN" sz="2000" b="1" i="0" u="none" strike="noStrike" kern="1200" cap="none" spc="0" normalizeH="0" baseline="-25000" noProof="0">
                <a:ln>
                  <a:noFill/>
                </a:ln>
                <a:solidFill>
                  <a:srgbClr val="FF3300"/>
                </a:solidFill>
                <a:uLnTx/>
                <a:uFillTx/>
                <a:latin typeface="+mn-ea"/>
                <a:cs typeface="+mn-cs"/>
              </a:rPr>
              <a:t>4</a:t>
            </a:r>
            <a:r>
              <a:rPr kumimoji="1" lang="en-US" altLang="zh-CN" sz="2000" b="1" i="0" u="none" strike="noStrike" kern="1200" cap="none" spc="0" normalizeH="0" baseline="0" noProof="0">
                <a:ln>
                  <a:noFill/>
                </a:ln>
                <a:solidFill>
                  <a:schemeClr val="tx1"/>
                </a:solidFill>
                <a:uLnTx/>
                <a:uFillTx/>
                <a:latin typeface="+mn-ea"/>
                <a:cs typeface="+mn-cs"/>
              </a:rPr>
              <a:t>  </a:t>
            </a:r>
            <a:r>
              <a:rPr kumimoji="1" lang="en-US" altLang="zh-CN" sz="2000" b="1" i="0" u="none" strike="noStrike" kern="1200" cap="none" spc="0" normalizeH="0" baseline="0" noProof="0">
                <a:ln>
                  <a:noFill/>
                </a:ln>
                <a:solidFill>
                  <a:srgbClr val="0000FF"/>
                </a:solidFill>
                <a:uLnTx/>
                <a:uFillTx/>
                <a:latin typeface="+mn-ea"/>
                <a:cs typeface="+mn-cs"/>
              </a:rPr>
              <a:t>B</a:t>
            </a:r>
            <a:r>
              <a:rPr kumimoji="1" lang="en-US" altLang="zh-CN" sz="2000" b="1" i="0" u="none" strike="noStrike" kern="1200" cap="none" spc="0" normalizeH="0" baseline="-25000" noProof="0">
                <a:ln>
                  <a:noFill/>
                </a:ln>
                <a:solidFill>
                  <a:srgbClr val="0000FF"/>
                </a:solidFill>
                <a:uLnTx/>
                <a:uFillTx/>
                <a:latin typeface="+mn-ea"/>
                <a:cs typeface="+mn-cs"/>
              </a:rPr>
              <a:t>2</a:t>
            </a:r>
            <a:endParaRPr kumimoji="1" lang="en-US" altLang="zh-CN" sz="2000" b="1" i="0" u="none" strike="noStrike" kern="1200" cap="none" spc="0" normalizeH="0" baseline="-25000" noProof="0">
              <a:ln>
                <a:noFill/>
              </a:ln>
              <a:solidFill>
                <a:srgbClr val="0000FF"/>
              </a:solidFill>
              <a:uLnTx/>
              <a:uFillTx/>
              <a:latin typeface="+mn-ea"/>
              <a:cs typeface="+mn-cs"/>
            </a:endParaRPr>
          </a:p>
        </p:txBody>
      </p:sp>
      <p:sp>
        <p:nvSpPr>
          <p:cNvPr id="19" name="Rectangle 16"/>
          <p:cNvSpPr>
            <a:spLocks noChangeArrowheads="1"/>
          </p:cNvSpPr>
          <p:nvPr/>
        </p:nvSpPr>
        <p:spPr bwMode="auto">
          <a:xfrm>
            <a:off x="7245019" y="4812945"/>
            <a:ext cx="1951355" cy="860425"/>
          </a:xfrm>
          <a:prstGeom prst="rect">
            <a:avLst/>
          </a:prstGeom>
          <a:noFill/>
          <a:ln w="9525">
            <a:solidFill>
              <a:schemeClr val="tx1"/>
            </a:solidFill>
            <a:miter lim="800000"/>
          </a:ln>
          <a:effectLst/>
        </p:spPr>
        <p:txBody>
          <a:bodyPr wrap="none" anchor="ctr">
            <a:spAutoFit/>
          </a:bodyPr>
          <a:lstStyle/>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(5)  d:=d+T</a:t>
            </a:r>
            <a:r>
              <a:rPr kumimoji="1" lang="en-US" altLang="zh-CN" sz="2000" b="1" i="0" u="none" strike="noStrike" kern="1200" cap="none" spc="0" normalizeH="0" baseline="-25000" noProof="0">
                <a:ln>
                  <a:noFill/>
                </a:ln>
                <a:solidFill>
                  <a:srgbClr val="FF3300"/>
                </a:solidFill>
                <a:uLnTx/>
                <a:uFillTx/>
                <a:latin typeface="+mn-ea"/>
                <a:cs typeface="+mn-cs"/>
              </a:rPr>
              <a:t>1</a:t>
            </a:r>
            <a:r>
              <a:rPr kumimoji="1" lang="en-US" altLang="zh-CN" sz="2000" b="1" i="0" u="none" strike="noStrike" kern="1200" cap="none" spc="0" normalizeH="0" baseline="0" noProof="0">
                <a:ln>
                  <a:noFill/>
                </a:ln>
                <a:solidFill>
                  <a:srgbClr val="FF3300"/>
                </a:solidFill>
                <a:uLnTx/>
                <a:uFillTx/>
                <a:latin typeface="+mn-ea"/>
                <a:cs typeface="+mn-cs"/>
              </a:rPr>
              <a:t> </a:t>
            </a:r>
            <a:r>
              <a:rPr kumimoji="1" lang="en-US" altLang="zh-CN" sz="2000" b="1" i="0" u="none" strike="noStrike" kern="1200" cap="none" spc="0" normalizeH="0" baseline="0" noProof="0">
                <a:ln>
                  <a:noFill/>
                </a:ln>
                <a:solidFill>
                  <a:srgbClr val="0000FF"/>
                </a:solidFill>
                <a:uLnTx/>
                <a:uFillTx/>
                <a:latin typeface="+mn-ea"/>
                <a:cs typeface="+mn-cs"/>
              </a:rPr>
              <a:t>B</a:t>
            </a:r>
            <a:r>
              <a:rPr kumimoji="1" lang="en-US" altLang="zh-CN" sz="2000" b="1" i="0" u="none" strike="noStrike" kern="1200" cap="none" spc="0" normalizeH="0" baseline="-25000" noProof="0">
                <a:ln>
                  <a:noFill/>
                </a:ln>
                <a:solidFill>
                  <a:srgbClr val="0000FF"/>
                </a:solidFill>
                <a:uLnTx/>
                <a:uFillTx/>
                <a:latin typeface="+mn-ea"/>
                <a:cs typeface="+mn-cs"/>
              </a:rPr>
              <a:t>3</a:t>
            </a:r>
            <a:endParaRPr kumimoji="1" lang="en-US" altLang="zh-CN" sz="2000" b="1" i="0" u="none" strike="noStrike" kern="1200" cap="none" spc="0" normalizeH="0" baseline="0" noProof="0">
              <a:ln>
                <a:noFill/>
              </a:ln>
              <a:solidFill>
                <a:srgbClr val="FF3300"/>
              </a:solidFill>
              <a:uLnTx/>
              <a:uFillTx/>
              <a:latin typeface="+mn-ea"/>
              <a:cs typeface="+mn-cs"/>
            </a:endParaRPr>
          </a:p>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(6)    goto B</a:t>
            </a:r>
            <a:r>
              <a:rPr kumimoji="1" lang="en-US" altLang="zh-CN" sz="2000" b="1" i="0" u="none" strike="noStrike" kern="1200" cap="none" spc="0" normalizeH="0" baseline="-25000" noProof="0">
                <a:ln>
                  <a:noFill/>
                </a:ln>
                <a:solidFill>
                  <a:srgbClr val="FF3300"/>
                </a:solidFill>
                <a:uLnTx/>
                <a:uFillTx/>
                <a:latin typeface="+mn-ea"/>
                <a:cs typeface="+mn-cs"/>
              </a:rPr>
              <a:t>2       </a:t>
            </a:r>
            <a:endParaRPr kumimoji="1" lang="en-US" altLang="zh-CN" sz="2000" b="1" i="0" u="none" strike="noStrike" kern="1200" cap="none" spc="0" normalizeH="0" baseline="-25000" noProof="0">
              <a:ln>
                <a:noFill/>
              </a:ln>
              <a:solidFill>
                <a:srgbClr val="FF3300"/>
              </a:solidFill>
              <a:uLnTx/>
              <a:uFillTx/>
              <a:latin typeface="+mn-ea"/>
              <a:cs typeface="+mn-cs"/>
            </a:endParaRPr>
          </a:p>
        </p:txBody>
      </p:sp>
      <p:sp>
        <p:nvSpPr>
          <p:cNvPr id="20" name="Rectangle 17"/>
          <p:cNvSpPr>
            <a:spLocks noChangeArrowheads="1"/>
          </p:cNvSpPr>
          <p:nvPr/>
        </p:nvSpPr>
        <p:spPr bwMode="auto">
          <a:xfrm>
            <a:off x="7693328" y="5958936"/>
            <a:ext cx="1326515" cy="398780"/>
          </a:xfrm>
          <a:prstGeom prst="rect">
            <a:avLst/>
          </a:prstGeom>
          <a:noFill/>
          <a:ln w="9525">
            <a:solidFill>
              <a:schemeClr val="tx1"/>
            </a:solidFill>
            <a:miter lim="800000"/>
          </a:ln>
          <a:effec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dirty="0">
                <a:ln>
                  <a:noFill/>
                </a:ln>
                <a:solidFill>
                  <a:srgbClr val="FF3300"/>
                </a:solidFill>
                <a:uLnTx/>
                <a:uFillTx/>
                <a:latin typeface="+mn-ea"/>
                <a:cs typeface="+mn-cs"/>
              </a:rPr>
              <a:t>… … …</a:t>
            </a:r>
            <a:r>
              <a:rPr kumimoji="1" lang="en-US" altLang="zh-CN" sz="2000" b="1" i="0" u="none" strike="noStrike" kern="1200" cap="none" spc="0" normalizeH="0" baseline="0" noProof="0" dirty="0">
                <a:ln>
                  <a:noFill/>
                </a:ln>
                <a:solidFill>
                  <a:schemeClr val="tx1"/>
                </a:solidFill>
                <a:uLnTx/>
                <a:uFillTx/>
                <a:latin typeface="+mn-ea"/>
                <a:cs typeface="+mn-cs"/>
              </a:rPr>
              <a:t>  </a:t>
            </a:r>
            <a:r>
              <a:rPr kumimoji="1" lang="en-US" altLang="zh-CN" sz="2000" b="1" i="0" u="none" strike="noStrike" kern="1200" cap="none" spc="0" normalizeH="0" baseline="0" noProof="0" dirty="0">
                <a:ln>
                  <a:noFill/>
                </a:ln>
                <a:solidFill>
                  <a:srgbClr val="0000FF"/>
                </a:solidFill>
                <a:uLnTx/>
                <a:uFillTx/>
                <a:latin typeface="+mn-ea"/>
                <a:cs typeface="+mn-cs"/>
              </a:rPr>
              <a:t>B</a:t>
            </a:r>
            <a:r>
              <a:rPr kumimoji="1" lang="en-US" altLang="zh-CN" sz="2000" b="1" i="0" u="none" strike="noStrike" kern="1200" cap="none" spc="0" normalizeH="0" baseline="-25000" noProof="0" dirty="0">
                <a:ln>
                  <a:noFill/>
                </a:ln>
                <a:solidFill>
                  <a:srgbClr val="0000FF"/>
                </a:solidFill>
                <a:uLnTx/>
                <a:uFillTx/>
                <a:latin typeface="+mn-ea"/>
                <a:cs typeface="+mn-cs"/>
              </a:rPr>
              <a:t>4</a:t>
            </a:r>
            <a:endParaRPr kumimoji="1" lang="en-US" altLang="zh-CN" sz="2000" b="1" i="0" u="none" strike="noStrike" kern="1200" cap="none" spc="0" normalizeH="0" baseline="-25000" noProof="0" dirty="0">
              <a:ln>
                <a:noFill/>
              </a:ln>
              <a:solidFill>
                <a:srgbClr val="0000FF"/>
              </a:solidFill>
              <a:uLnTx/>
              <a:uFillTx/>
              <a:latin typeface="+mn-ea"/>
              <a:cs typeface="+mn-cs"/>
            </a:endParaRPr>
          </a:p>
        </p:txBody>
      </p:sp>
      <p:cxnSp>
        <p:nvCxnSpPr>
          <p:cNvPr id="21" name="AutoShape 18"/>
          <p:cNvCxnSpPr>
            <a:endCxn id="18" idx="0"/>
          </p:cNvCxnSpPr>
          <p:nvPr/>
        </p:nvCxnSpPr>
        <p:spPr>
          <a:xfrm rot="16200000" flipH="1">
            <a:off x="8840580" y="2614132"/>
            <a:ext cx="2186057" cy="25399"/>
          </a:xfrm>
          <a:prstGeom prst="curvedConnector3">
            <a:avLst>
              <a:gd name="adj1" fmla="val 50000"/>
            </a:avLst>
          </a:prstGeom>
          <a:ln w="9525">
            <a:noFill/>
          </a:ln>
        </p:spPr>
      </p:cxnSp>
      <p:cxnSp>
        <p:nvCxnSpPr>
          <p:cNvPr id="22" name="AutoShape 19"/>
          <p:cNvCxnSpPr/>
          <p:nvPr/>
        </p:nvCxnSpPr>
        <p:spPr>
          <a:xfrm>
            <a:off x="8439771" y="4436708"/>
            <a:ext cx="23812" cy="360362"/>
          </a:xfrm>
          <a:prstGeom prst="straightConnector1">
            <a:avLst/>
          </a:prstGeom>
          <a:ln w="28575" cap="flat" cmpd="sng">
            <a:solidFill>
              <a:schemeClr val="tx1"/>
            </a:solidFill>
            <a:prstDash val="solid"/>
            <a:headEnd type="none" w="med" len="med"/>
            <a:tailEnd type="triangle" w="med" len="med"/>
          </a:ln>
        </p:spPr>
      </p:cxnSp>
      <p:cxnSp>
        <p:nvCxnSpPr>
          <p:cNvPr id="23" name="AutoShape 20"/>
          <p:cNvCxnSpPr/>
          <p:nvPr/>
        </p:nvCxnSpPr>
        <p:spPr>
          <a:xfrm rot="16200000" flipV="1">
            <a:off x="6739558" y="3976333"/>
            <a:ext cx="1739900" cy="1652587"/>
          </a:xfrm>
          <a:prstGeom prst="bentConnector4">
            <a:avLst>
              <a:gd name="adj1" fmla="val -13139"/>
              <a:gd name="adj2" fmla="val 113833"/>
            </a:avLst>
          </a:prstGeom>
          <a:ln w="28575" cap="flat" cmpd="sng">
            <a:solidFill>
              <a:schemeClr val="tx1"/>
            </a:solidFill>
            <a:prstDash val="solid"/>
            <a:miter/>
            <a:headEnd type="none" w="med" len="med"/>
            <a:tailEnd type="triangle" w="med" len="med"/>
          </a:ln>
        </p:spPr>
      </p:cxnSp>
      <p:cxnSp>
        <p:nvCxnSpPr>
          <p:cNvPr id="24" name="AutoShape 21"/>
          <p:cNvCxnSpPr>
            <a:stCxn id="18" idx="3"/>
            <a:endCxn id="20" idx="3"/>
          </p:cNvCxnSpPr>
          <p:nvPr/>
        </p:nvCxnSpPr>
        <p:spPr>
          <a:xfrm flipH="1">
            <a:off x="9019540" y="4072890"/>
            <a:ext cx="1085215" cy="2085340"/>
          </a:xfrm>
          <a:prstGeom prst="bentConnector3">
            <a:avLst>
              <a:gd name="adj1" fmla="val -21943"/>
            </a:avLst>
          </a:prstGeom>
          <a:ln w="28575" cap="flat" cmpd="sng">
            <a:solidFill>
              <a:schemeClr val="tx1"/>
            </a:solidFill>
            <a:prstDash val="solid"/>
            <a:miter/>
            <a:headEnd type="none" w="med" len="med"/>
            <a:tailEnd type="triangle" w="med" len="med"/>
          </a:ln>
        </p:spPr>
      </p:cxnSp>
      <p:sp>
        <p:nvSpPr>
          <p:cNvPr id="25" name="Rectangle 22"/>
          <p:cNvSpPr>
            <a:spLocks noChangeArrowheads="1"/>
          </p:cNvSpPr>
          <p:nvPr/>
        </p:nvSpPr>
        <p:spPr bwMode="auto">
          <a:xfrm>
            <a:off x="7215808" y="1988148"/>
            <a:ext cx="2608263" cy="1322070"/>
          </a:xfrm>
          <a:prstGeom prst="rect">
            <a:avLst/>
          </a:prstGeom>
          <a:noFill/>
          <a:ln w="9525">
            <a:solidFill>
              <a:schemeClr val="tx1"/>
            </a:solidFill>
            <a:miter lim="800000"/>
          </a:ln>
          <a:effectLst/>
        </p:spPr>
        <p:txBody>
          <a:bodyPr anchor="ctr">
            <a:spAutoFit/>
          </a:bodyPr>
          <a:lstStyle/>
          <a:p>
            <a:pPr marL="457200" marR="0" lvl="0" indent="-457200" algn="ctr" defTabSz="914400" rtl="0" eaLnBrk="1" fontAlgn="base" latinLnBrk="0" hangingPunct="1">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rgbClr val="FF3300"/>
                </a:solidFill>
                <a:uLnTx/>
                <a:uFillTx/>
                <a:latin typeface="+mn-ea"/>
                <a:cs typeface="+mn-cs"/>
              </a:rPr>
              <a:t>(1)d</a:t>
            </a:r>
            <a:r>
              <a:rPr kumimoji="1" lang="en-US" altLang="zh-CN" sz="2000" b="1" i="0" u="none" strike="noStrike" kern="1200" cap="none" spc="0" normalizeH="0" baseline="0" noProof="0">
                <a:ln>
                  <a:noFill/>
                </a:ln>
                <a:solidFill>
                  <a:srgbClr val="FF3300"/>
                </a:solidFill>
                <a:uLnTx/>
                <a:uFillTx/>
                <a:latin typeface="+mn-ea"/>
                <a:cs typeface="+mn-cs"/>
              </a:rPr>
              <a:t>:=a*k</a:t>
            </a:r>
            <a:r>
              <a:rPr kumimoji="1" lang="en-US" altLang="zh-CN" sz="2000" b="1" i="0" u="none" strike="noStrike" kern="1200" cap="none" spc="0" normalizeH="0" baseline="0" noProof="0">
                <a:ln>
                  <a:noFill/>
                </a:ln>
                <a:solidFill>
                  <a:schemeClr val="tx1"/>
                </a:solidFill>
                <a:uLnTx/>
                <a:uFillTx/>
                <a:latin typeface="+mn-ea"/>
                <a:cs typeface="+mn-cs"/>
              </a:rPr>
              <a:t>  </a:t>
            </a:r>
            <a:r>
              <a:rPr kumimoji="1" lang="en-US" altLang="zh-CN" sz="2000" b="1" i="0" u="none" strike="noStrike" kern="1200" cap="none" spc="0" normalizeH="0" baseline="0" noProof="0">
                <a:ln>
                  <a:noFill/>
                </a:ln>
                <a:solidFill>
                  <a:srgbClr val="0000FF"/>
                </a:solidFill>
                <a:uLnTx/>
                <a:uFillTx/>
                <a:latin typeface="+mn-ea"/>
                <a:cs typeface="+mn-cs"/>
              </a:rPr>
              <a:t>B’</a:t>
            </a:r>
            <a:r>
              <a:rPr kumimoji="1" lang="en-US" altLang="zh-CN" sz="2000" b="1" i="0" u="none" strike="noStrike" kern="1200" cap="none" spc="0" normalizeH="0" baseline="-25000" noProof="0">
                <a:ln>
                  <a:noFill/>
                </a:ln>
                <a:solidFill>
                  <a:srgbClr val="0000FF"/>
                </a:solidFill>
                <a:uLnTx/>
                <a:uFillTx/>
                <a:latin typeface="+mn-ea"/>
                <a:cs typeface="+mn-cs"/>
              </a:rPr>
              <a:t>2</a:t>
            </a:r>
            <a:endParaRPr kumimoji="1" lang="en-US" altLang="zh-CN" sz="2000" b="1" i="0" u="none" strike="noStrike" kern="1200" cap="none" spc="0" normalizeH="0" baseline="-25000" noProof="0">
              <a:ln>
                <a:noFill/>
              </a:ln>
              <a:solidFill>
                <a:srgbClr val="0000FF"/>
              </a:solidFill>
              <a:uLnTx/>
              <a:uFillTx/>
              <a:latin typeface="+mn-ea"/>
              <a:cs typeface="+mn-cs"/>
            </a:endParaRPr>
          </a:p>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(2)</a:t>
            </a:r>
            <a:r>
              <a:rPr kumimoji="1" lang="zh-CN" altLang="en-US" sz="2000" b="1" i="0" u="none" strike="noStrike" kern="1200" cap="none" spc="0" normalizeH="0" baseline="0" noProof="0">
                <a:ln>
                  <a:noFill/>
                </a:ln>
                <a:solidFill>
                  <a:srgbClr val="FF3300"/>
                </a:solidFill>
                <a:uLnTx/>
                <a:uFillTx/>
                <a:latin typeface="+mn-ea"/>
                <a:cs typeface="+mn-cs"/>
              </a:rPr>
              <a:t>  </a:t>
            </a:r>
            <a:r>
              <a:rPr kumimoji="1" lang="en-US" altLang="zh-CN" sz="2000" b="1" i="0" u="none" strike="noStrike" kern="1200" cap="none" spc="0" normalizeH="0" baseline="0" noProof="0">
                <a:ln>
                  <a:noFill/>
                </a:ln>
                <a:solidFill>
                  <a:srgbClr val="FF3300"/>
                </a:solidFill>
                <a:uLnTx/>
                <a:uFillTx/>
                <a:latin typeface="+mn-ea"/>
                <a:cs typeface="+mn-cs"/>
              </a:rPr>
              <a:t>T</a:t>
            </a:r>
            <a:r>
              <a:rPr kumimoji="1" lang="en-US" altLang="zh-CN" sz="2000" b="1" i="0" u="none" strike="noStrike" kern="1200" cap="none" spc="0" normalizeH="0" baseline="-25000" noProof="0">
                <a:ln>
                  <a:noFill/>
                </a:ln>
                <a:solidFill>
                  <a:srgbClr val="FF3300"/>
                </a:solidFill>
                <a:uLnTx/>
                <a:uFillTx/>
                <a:latin typeface="+mn-ea"/>
                <a:cs typeface="+mn-cs"/>
              </a:rPr>
              <a:t>1</a:t>
            </a:r>
            <a:r>
              <a:rPr kumimoji="1" lang="en-US" altLang="zh-CN" sz="2000" b="1" i="0" u="none" strike="noStrike" kern="1200" cap="none" spc="0" normalizeH="0" baseline="0" noProof="0">
                <a:ln>
                  <a:noFill/>
                </a:ln>
                <a:solidFill>
                  <a:srgbClr val="FF3300"/>
                </a:solidFill>
                <a:uLnTx/>
                <a:uFillTx/>
                <a:latin typeface="+mn-ea"/>
                <a:cs typeface="+mn-cs"/>
              </a:rPr>
              <a:t>:=b*k</a:t>
            </a:r>
            <a:endParaRPr kumimoji="1" lang="en-US" altLang="zh-CN" sz="2000" b="1" i="0" u="none" strike="noStrike" kern="1200" cap="none" spc="0" normalizeH="0" baseline="0" noProof="0">
              <a:ln>
                <a:noFill/>
              </a:ln>
              <a:solidFill>
                <a:srgbClr val="FF3300"/>
              </a:solidFill>
              <a:uLnTx/>
              <a:uFillTx/>
              <a:latin typeface="+mn-ea"/>
              <a:cs typeface="+mn-cs"/>
            </a:endParaRPr>
          </a:p>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(3)  T2:=c*k</a:t>
            </a:r>
            <a:endParaRPr kumimoji="1" lang="en-US" altLang="zh-CN" sz="2000" b="1" i="0" u="none" strike="noStrike" kern="1200" cap="none" spc="0" normalizeH="0" baseline="-25000" noProof="0">
              <a:ln>
                <a:noFill/>
              </a:ln>
              <a:solidFill>
                <a:srgbClr val="FF3300"/>
              </a:solidFill>
              <a:uLnTx/>
              <a:uFillTx/>
              <a:latin typeface="+mn-ea"/>
              <a:cs typeface="+mn-cs"/>
            </a:endParaRPr>
          </a:p>
        </p:txBody>
      </p:sp>
      <p:cxnSp>
        <p:nvCxnSpPr>
          <p:cNvPr id="26" name="AutoShape 23"/>
          <p:cNvCxnSpPr/>
          <p:nvPr/>
        </p:nvCxnSpPr>
        <p:spPr>
          <a:xfrm>
            <a:off x="8500731" y="1533488"/>
            <a:ext cx="10319" cy="430481"/>
          </a:xfrm>
          <a:prstGeom prst="straightConnector1">
            <a:avLst/>
          </a:prstGeom>
          <a:ln w="28575" cap="flat" cmpd="sng">
            <a:solidFill>
              <a:schemeClr val="tx1"/>
            </a:solidFill>
            <a:prstDash val="solid"/>
            <a:headEnd type="none" w="med" len="med"/>
            <a:tailEnd type="triangle" w="med" len="med"/>
          </a:ln>
        </p:spPr>
      </p:cxnSp>
      <p:cxnSp>
        <p:nvCxnSpPr>
          <p:cNvPr id="27" name="AutoShape 24"/>
          <p:cNvCxnSpPr/>
          <p:nvPr/>
        </p:nvCxnSpPr>
        <p:spPr>
          <a:xfrm>
            <a:off x="8511208" y="3285770"/>
            <a:ext cx="12700" cy="431800"/>
          </a:xfrm>
          <a:prstGeom prst="straightConnector1">
            <a:avLst/>
          </a:prstGeom>
          <a:ln w="28575" cap="flat" cmpd="sng">
            <a:solidFill>
              <a:schemeClr val="tx1"/>
            </a:solidFill>
            <a:prstDash val="solid"/>
            <a:headEnd type="none" w="med" len="med"/>
            <a:tailEnd type="triangle" w="med" len="med"/>
          </a:ln>
        </p:spPr>
      </p:cxnSp>
      <p:sp>
        <p:nvSpPr>
          <p:cNvPr id="28" name="Rectangle 25"/>
          <p:cNvSpPr>
            <a:spLocks noChangeArrowheads="1"/>
          </p:cNvSpPr>
          <p:nvPr/>
        </p:nvSpPr>
        <p:spPr bwMode="auto">
          <a:xfrm>
            <a:off x="2954031" y="1965960"/>
            <a:ext cx="1732915" cy="398780"/>
          </a:xfrm>
          <a:prstGeom prst="rect">
            <a:avLst/>
          </a:prstGeom>
          <a:noFill/>
          <a:ln w="9525">
            <a:solidFill>
              <a:schemeClr val="tx1"/>
            </a:solidFill>
            <a:miter lim="800000"/>
          </a:ln>
          <a:effec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(1)     </a:t>
            </a:r>
            <a:r>
              <a:rPr kumimoji="1" lang="en-US" altLang="zh-CN" sz="2000" b="1" i="0" u="none" strike="noStrike" kern="1200" cap="none" spc="0" normalizeH="0" baseline="0" noProof="0">
                <a:ln>
                  <a:noFill/>
                </a:ln>
                <a:solidFill>
                  <a:schemeClr val="tx1"/>
                </a:solidFill>
                <a:uLnTx/>
                <a:uFillTx/>
                <a:latin typeface="+mn-ea"/>
                <a:cs typeface="+mn-cs"/>
              </a:rPr>
              <a:t> </a:t>
            </a:r>
            <a:r>
              <a:rPr kumimoji="1" lang="en-US" altLang="zh-CN" sz="2000" b="1" i="0" u="none" strike="noStrike" kern="1200" cap="none" spc="0" normalizeH="0" baseline="0" noProof="0">
                <a:ln>
                  <a:noFill/>
                </a:ln>
                <a:solidFill>
                  <a:srgbClr val="FF3300"/>
                </a:solidFill>
                <a:uLnTx/>
                <a:uFillTx/>
                <a:latin typeface="+mn-ea"/>
                <a:cs typeface="+mn-cs"/>
              </a:rPr>
              <a:t>i:=a</a:t>
            </a:r>
            <a:r>
              <a:rPr kumimoji="1" lang="en-US" altLang="zh-CN" sz="2000" b="1" i="0" u="none" strike="noStrike" kern="1200" cap="none" spc="0" normalizeH="0" baseline="0" noProof="0">
                <a:ln>
                  <a:noFill/>
                </a:ln>
                <a:solidFill>
                  <a:schemeClr val="tx1"/>
                </a:solidFill>
                <a:uLnTx/>
                <a:uFillTx/>
                <a:latin typeface="+mn-ea"/>
                <a:cs typeface="+mn-cs"/>
              </a:rPr>
              <a:t>  </a:t>
            </a:r>
            <a:r>
              <a:rPr kumimoji="1" lang="en-US" altLang="zh-CN" sz="2000" b="1" i="0" u="none" strike="noStrike" kern="1200" cap="none" spc="0" normalizeH="0" baseline="0" noProof="0">
                <a:ln>
                  <a:noFill/>
                </a:ln>
                <a:solidFill>
                  <a:srgbClr val="0000FF"/>
                </a:solidFill>
                <a:uLnTx/>
                <a:uFillTx/>
                <a:latin typeface="+mn-ea"/>
                <a:cs typeface="+mn-cs"/>
              </a:rPr>
              <a:t>B</a:t>
            </a:r>
            <a:r>
              <a:rPr kumimoji="1" lang="en-US" altLang="zh-CN" sz="2000" b="1" i="0" u="none" strike="noStrike" kern="1200" cap="none" spc="0" normalizeH="0" baseline="-25000" noProof="0">
                <a:ln>
                  <a:noFill/>
                </a:ln>
                <a:solidFill>
                  <a:srgbClr val="0000FF"/>
                </a:solidFill>
                <a:uLnTx/>
                <a:uFillTx/>
                <a:latin typeface="+mn-ea"/>
                <a:cs typeface="+mn-cs"/>
              </a:rPr>
              <a:t>1</a:t>
            </a:r>
            <a:endParaRPr kumimoji="1" lang="en-US" altLang="zh-CN" sz="2000" b="1" i="0" u="none" strike="noStrike" kern="1200" cap="none" spc="0" normalizeH="0" baseline="-25000" noProof="0">
              <a:ln>
                <a:noFill/>
              </a:ln>
              <a:solidFill>
                <a:srgbClr val="0000FF"/>
              </a:solidFill>
              <a:uLnTx/>
              <a:uFillTx/>
              <a:latin typeface="+mn-ea"/>
              <a:cs typeface="+mn-cs"/>
            </a:endParaRPr>
          </a:p>
        </p:txBody>
      </p:sp>
      <p:sp>
        <p:nvSpPr>
          <p:cNvPr id="29" name="Rectangle 26"/>
          <p:cNvSpPr>
            <a:spLocks noChangeArrowheads="1"/>
          </p:cNvSpPr>
          <p:nvPr/>
        </p:nvSpPr>
        <p:spPr bwMode="auto">
          <a:xfrm>
            <a:off x="2008039" y="2758121"/>
            <a:ext cx="3600450" cy="398780"/>
          </a:xfrm>
          <a:prstGeom prst="rect">
            <a:avLst/>
          </a:prstGeom>
          <a:noFill/>
          <a:ln w="9525">
            <a:solidFill>
              <a:schemeClr val="tx1"/>
            </a:solidFill>
            <a:miter lim="800000"/>
          </a:ln>
        </p:spPr>
        <p:txBody>
          <a:bodyPr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(2)</a:t>
            </a:r>
            <a:r>
              <a:rPr kumimoji="1" lang="en-US" altLang="zh-CN" sz="2000" b="1" i="0" u="none" strike="noStrike" kern="1200" cap="none" spc="0" normalizeH="0" baseline="0" noProof="0">
                <a:ln>
                  <a:noFill/>
                </a:ln>
                <a:solidFill>
                  <a:schemeClr val="tx1"/>
                </a:solidFill>
                <a:uLnTx/>
                <a:uFillTx/>
                <a:latin typeface="+mn-ea"/>
                <a:cs typeface="+mn-cs"/>
              </a:rPr>
              <a:t> </a:t>
            </a:r>
            <a:r>
              <a:rPr kumimoji="1" lang="en-US" altLang="zh-CN" sz="2000" b="1" i="0" u="none" strike="noStrike" kern="1200" cap="none" spc="0" normalizeH="0" baseline="0" noProof="0">
                <a:ln>
                  <a:noFill/>
                </a:ln>
                <a:solidFill>
                  <a:srgbClr val="FF3300"/>
                </a:solidFill>
                <a:uLnTx/>
                <a:uFillTx/>
                <a:latin typeface="+mn-ea"/>
                <a:cs typeface="+mn-cs"/>
              </a:rPr>
              <a:t>if_false i&lt;=c goto B</a:t>
            </a:r>
            <a:r>
              <a:rPr kumimoji="1" lang="en-US" altLang="zh-CN" sz="2000" b="1" i="0" u="none" strike="noStrike" kern="1200" cap="none" spc="0" normalizeH="0" baseline="-25000" noProof="0">
                <a:ln>
                  <a:noFill/>
                </a:ln>
                <a:solidFill>
                  <a:srgbClr val="FF3300"/>
                </a:solidFill>
                <a:uLnTx/>
                <a:uFillTx/>
                <a:latin typeface="+mn-ea"/>
                <a:cs typeface="+mn-cs"/>
              </a:rPr>
              <a:t>4</a:t>
            </a:r>
            <a:r>
              <a:rPr kumimoji="1" lang="en-US" altLang="zh-CN" sz="2000" b="1" i="0" u="none" strike="noStrike" kern="1200" cap="none" spc="0" normalizeH="0" baseline="0" noProof="0">
                <a:ln>
                  <a:noFill/>
                </a:ln>
                <a:solidFill>
                  <a:schemeClr val="tx1"/>
                </a:solidFill>
                <a:uLnTx/>
                <a:uFillTx/>
                <a:latin typeface="+mn-ea"/>
                <a:cs typeface="+mn-cs"/>
              </a:rPr>
              <a:t>  </a:t>
            </a:r>
            <a:r>
              <a:rPr kumimoji="1" lang="en-US" altLang="zh-CN" sz="2000" b="1" i="0" u="none" strike="noStrike" kern="1200" cap="none" spc="0" normalizeH="0" baseline="0" noProof="0">
                <a:ln>
                  <a:noFill/>
                </a:ln>
                <a:solidFill>
                  <a:srgbClr val="0000FF"/>
                </a:solidFill>
                <a:uLnTx/>
                <a:uFillTx/>
                <a:latin typeface="+mn-ea"/>
                <a:cs typeface="+mn-cs"/>
              </a:rPr>
              <a:t>B</a:t>
            </a:r>
            <a:r>
              <a:rPr kumimoji="1" lang="en-US" altLang="zh-CN" sz="2000" b="1" i="0" u="none" strike="noStrike" kern="1200" cap="none" spc="0" normalizeH="0" baseline="-25000" noProof="0">
                <a:ln>
                  <a:noFill/>
                </a:ln>
                <a:solidFill>
                  <a:srgbClr val="0000FF"/>
                </a:solidFill>
                <a:uLnTx/>
                <a:uFillTx/>
                <a:latin typeface="+mn-ea"/>
                <a:cs typeface="+mn-cs"/>
              </a:rPr>
              <a:t>2</a:t>
            </a:r>
            <a:endParaRPr kumimoji="1" lang="en-US" altLang="zh-CN" sz="2000" b="1" i="0" u="none" strike="noStrike" kern="1200" cap="none" spc="0" normalizeH="0" baseline="-25000" noProof="0">
              <a:ln>
                <a:noFill/>
              </a:ln>
              <a:solidFill>
                <a:srgbClr val="0000FF"/>
              </a:solidFill>
              <a:uLnTx/>
              <a:uFillTx/>
              <a:latin typeface="+mn-ea"/>
              <a:cs typeface="+mn-cs"/>
            </a:endParaRPr>
          </a:p>
        </p:txBody>
      </p:sp>
      <p:sp>
        <p:nvSpPr>
          <p:cNvPr id="30" name="Rectangle 27"/>
          <p:cNvSpPr>
            <a:spLocks noChangeArrowheads="1"/>
          </p:cNvSpPr>
          <p:nvPr/>
        </p:nvSpPr>
        <p:spPr bwMode="auto">
          <a:xfrm>
            <a:off x="2832586" y="3932556"/>
            <a:ext cx="1974850" cy="1322070"/>
          </a:xfrm>
          <a:prstGeom prst="rect">
            <a:avLst/>
          </a:prstGeom>
          <a:noFill/>
          <a:ln w="9525">
            <a:solidFill>
              <a:schemeClr val="tx1"/>
            </a:solidFill>
            <a:miter lim="800000"/>
          </a:ln>
          <a:effectLst/>
        </p:spPr>
        <p:txBody>
          <a:bodyPr wrap="none" anchor="ctr">
            <a:spAutoFit/>
          </a:bodyPr>
          <a:lstStyle/>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a:ln>
                  <a:noFill/>
                </a:ln>
                <a:solidFill>
                  <a:srgbClr val="FF3300"/>
                </a:solidFill>
                <a:uLnTx/>
                <a:uFillTx/>
                <a:latin typeface="+mn-ea"/>
                <a:cs typeface="+mn-cs"/>
              </a:rPr>
              <a:t>(3) d:=i*k </a:t>
            </a:r>
            <a:r>
              <a:rPr kumimoji="1" lang="en-US" altLang="zh-CN" sz="2000" b="1" i="0" u="none" strike="noStrike" kern="1200" cap="none" spc="0" normalizeH="0" baseline="0" noProof="0">
                <a:ln>
                  <a:noFill/>
                </a:ln>
                <a:solidFill>
                  <a:srgbClr val="0000FF"/>
                </a:solidFill>
                <a:uLnTx/>
                <a:uFillTx/>
                <a:latin typeface="+mn-ea"/>
                <a:cs typeface="+mn-cs"/>
              </a:rPr>
              <a:t> B</a:t>
            </a:r>
            <a:r>
              <a:rPr kumimoji="1" lang="en-US" altLang="zh-CN" sz="2000" b="1" i="0" u="none" strike="noStrike" kern="1200" cap="none" spc="0" normalizeH="0" baseline="-25000" noProof="0">
                <a:ln>
                  <a:noFill/>
                </a:ln>
                <a:solidFill>
                  <a:srgbClr val="0000FF"/>
                </a:solidFill>
                <a:uLnTx/>
                <a:uFillTx/>
                <a:latin typeface="+mn-ea"/>
                <a:cs typeface="+mn-cs"/>
              </a:rPr>
              <a:t>3</a:t>
            </a:r>
            <a:endParaRPr kumimoji="1" lang="en-US" altLang="zh-CN" sz="2000" b="1" i="0" u="none" strike="noStrike" kern="1200" cap="none" spc="0" normalizeH="0" baseline="-25000" noProof="0">
              <a:ln>
                <a:noFill/>
              </a:ln>
              <a:solidFill>
                <a:srgbClr val="0000FF"/>
              </a:solidFill>
              <a:uLnTx/>
              <a:uFillTx/>
              <a:latin typeface="+mn-ea"/>
              <a:cs typeface="+mn-cs"/>
            </a:endParaRPr>
          </a:p>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zh-CN" altLang="en-US" sz="2000" b="1" i="0" u="none" strike="noStrike" kern="1200" cap="none" spc="0" normalizeH="0" baseline="0" noProof="0">
                <a:ln>
                  <a:noFill/>
                </a:ln>
                <a:solidFill>
                  <a:srgbClr val="FF3300"/>
                </a:solidFill>
                <a:uLnTx/>
                <a:uFillTx/>
                <a:latin typeface="+mn-ea"/>
                <a:cs typeface="+mn-cs"/>
              </a:rPr>
              <a:t>（</a:t>
            </a:r>
            <a:r>
              <a:rPr kumimoji="1" lang="en-US" altLang="zh-CN" sz="2000" b="1" i="0" u="none" strike="noStrike" kern="1200" cap="none" spc="0" normalizeH="0" baseline="0" noProof="0">
                <a:ln>
                  <a:noFill/>
                </a:ln>
                <a:solidFill>
                  <a:srgbClr val="FF3300"/>
                </a:solidFill>
                <a:uLnTx/>
                <a:uFillTx/>
                <a:latin typeface="+mn-ea"/>
                <a:cs typeface="+mn-cs"/>
              </a:rPr>
              <a:t>4</a:t>
            </a:r>
            <a:r>
              <a:rPr kumimoji="1" lang="zh-CN" altLang="en-US" sz="2000" b="1" i="0" u="none" strike="noStrike" kern="1200" cap="none" spc="0" normalizeH="0" baseline="0" noProof="0">
                <a:ln>
                  <a:noFill/>
                </a:ln>
                <a:solidFill>
                  <a:srgbClr val="FF3300"/>
                </a:solidFill>
                <a:uLnTx/>
                <a:uFillTx/>
                <a:latin typeface="+mn-ea"/>
                <a:cs typeface="+mn-cs"/>
              </a:rPr>
              <a:t>）</a:t>
            </a:r>
            <a:r>
              <a:rPr kumimoji="1" lang="en-US" altLang="zh-CN" sz="2000" b="1" i="0" u="none" strike="noStrike" kern="1200" cap="none" spc="0" normalizeH="0" baseline="0" noProof="0">
                <a:ln>
                  <a:noFill/>
                </a:ln>
                <a:solidFill>
                  <a:srgbClr val="FF3300"/>
                </a:solidFill>
                <a:uLnTx/>
                <a:uFillTx/>
                <a:latin typeface="+mn-ea"/>
                <a:cs typeface="+mn-cs"/>
              </a:rPr>
              <a:t>i:=i+b     </a:t>
            </a:r>
            <a:endParaRPr kumimoji="1" lang="en-US" altLang="zh-CN" sz="2000" b="1" i="0" u="none" strike="noStrike" kern="1200" cap="none" spc="0" normalizeH="0" baseline="0" noProof="0">
              <a:ln>
                <a:noFill/>
              </a:ln>
              <a:solidFill>
                <a:srgbClr val="FF3300"/>
              </a:solidFill>
              <a:uLnTx/>
              <a:uFillTx/>
              <a:latin typeface="+mn-ea"/>
              <a:cs typeface="+mn-cs"/>
            </a:endParaRPr>
          </a:p>
          <a:p>
            <a:pPr marL="457200" marR="0" lvl="0" indent="-457200" algn="ctr" defTabSz="914400" rtl="0" eaLnBrk="1" fontAlgn="base" latinLnBrk="0" hangingPunct="1">
              <a:lnSpc>
                <a:spcPct val="100000"/>
              </a:lnSpc>
              <a:spcBef>
                <a:spcPct val="50000"/>
              </a:spcBef>
              <a:spcAft>
                <a:spcPct val="0"/>
              </a:spcAft>
              <a:buClrTx/>
              <a:buSzTx/>
              <a:buFontTx/>
              <a:buNone/>
              <a:defRPr/>
            </a:pPr>
            <a:r>
              <a:rPr kumimoji="1" lang="zh-CN" altLang="en-US" sz="2000" b="1" i="0" u="none" strike="noStrike" kern="1200" cap="none" spc="0" normalizeH="0" baseline="0" noProof="0">
                <a:ln>
                  <a:noFill/>
                </a:ln>
                <a:solidFill>
                  <a:srgbClr val="FF3300"/>
                </a:solidFill>
                <a:uLnTx/>
                <a:uFillTx/>
                <a:latin typeface="+mn-ea"/>
                <a:cs typeface="+mn-cs"/>
              </a:rPr>
              <a:t>（</a:t>
            </a:r>
            <a:r>
              <a:rPr kumimoji="1" lang="en-US" altLang="zh-CN" sz="2000" b="1" i="0" u="none" strike="noStrike" kern="1200" cap="none" spc="0" normalizeH="0" baseline="0" noProof="0">
                <a:ln>
                  <a:noFill/>
                </a:ln>
                <a:solidFill>
                  <a:srgbClr val="FF3300"/>
                </a:solidFill>
                <a:uLnTx/>
                <a:uFillTx/>
                <a:latin typeface="+mn-ea"/>
                <a:cs typeface="+mn-cs"/>
              </a:rPr>
              <a:t>5</a:t>
            </a:r>
            <a:r>
              <a:rPr kumimoji="1" lang="zh-CN" altLang="en-US" sz="2000" b="1" i="0" u="none" strike="noStrike" kern="1200" cap="none" spc="0" normalizeH="0" baseline="0" noProof="0">
                <a:ln>
                  <a:noFill/>
                </a:ln>
                <a:solidFill>
                  <a:srgbClr val="FF3300"/>
                </a:solidFill>
                <a:uLnTx/>
                <a:uFillTx/>
                <a:latin typeface="+mn-ea"/>
                <a:cs typeface="+mn-cs"/>
              </a:rPr>
              <a:t>）    </a:t>
            </a:r>
            <a:r>
              <a:rPr kumimoji="1" lang="en-US" altLang="zh-CN" sz="2000" b="1" i="0" u="none" strike="noStrike" kern="1200" cap="none" spc="0" normalizeH="0" baseline="0" noProof="0">
                <a:ln>
                  <a:noFill/>
                </a:ln>
                <a:solidFill>
                  <a:srgbClr val="FF3300"/>
                </a:solidFill>
                <a:uLnTx/>
                <a:uFillTx/>
                <a:latin typeface="+mn-ea"/>
                <a:cs typeface="+mn-cs"/>
              </a:rPr>
              <a:t>goto B</a:t>
            </a:r>
            <a:r>
              <a:rPr kumimoji="1" lang="en-US" altLang="zh-CN" sz="2000" b="1" i="0" u="none" strike="noStrike" kern="1200" cap="none" spc="0" normalizeH="0" baseline="-25000" noProof="0">
                <a:ln>
                  <a:noFill/>
                </a:ln>
                <a:solidFill>
                  <a:srgbClr val="FF3300"/>
                </a:solidFill>
                <a:uLnTx/>
                <a:uFillTx/>
                <a:latin typeface="+mn-ea"/>
                <a:cs typeface="+mn-cs"/>
              </a:rPr>
              <a:t>2</a:t>
            </a:r>
            <a:endParaRPr kumimoji="1" lang="en-US" altLang="zh-CN" sz="2000" b="1" i="0" u="none" strike="noStrike" kern="1200" cap="none" spc="0" normalizeH="0" baseline="-25000" noProof="0">
              <a:ln>
                <a:noFill/>
              </a:ln>
              <a:solidFill>
                <a:srgbClr val="FF3300"/>
              </a:solidFill>
              <a:uLnTx/>
              <a:uFillTx/>
              <a:latin typeface="+mn-ea"/>
              <a:cs typeface="+mn-cs"/>
            </a:endParaRPr>
          </a:p>
        </p:txBody>
      </p:sp>
      <p:sp>
        <p:nvSpPr>
          <p:cNvPr id="31" name="Rectangle 28"/>
          <p:cNvSpPr>
            <a:spLocks noChangeArrowheads="1"/>
          </p:cNvSpPr>
          <p:nvPr/>
        </p:nvSpPr>
        <p:spPr bwMode="auto">
          <a:xfrm>
            <a:off x="2953707" y="5672956"/>
            <a:ext cx="1326515" cy="398780"/>
          </a:xfrm>
          <a:prstGeom prst="rect">
            <a:avLst/>
          </a:prstGeom>
          <a:noFill/>
          <a:ln w="9525">
            <a:solidFill>
              <a:schemeClr val="tx1"/>
            </a:solidFill>
            <a:miter lim="800000"/>
          </a:ln>
          <a:effectLst/>
        </p:spPr>
        <p:txBody>
          <a:bodyPr wrap="none" anchor="ct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000" b="1" i="0" u="none" strike="noStrike" kern="1200" cap="none" spc="0" normalizeH="0" baseline="0" noProof="0" dirty="0">
                <a:ln>
                  <a:noFill/>
                </a:ln>
                <a:solidFill>
                  <a:srgbClr val="FF3300"/>
                </a:solidFill>
                <a:uLnTx/>
                <a:uFillTx/>
                <a:latin typeface="+mn-ea"/>
                <a:cs typeface="+mn-cs"/>
              </a:rPr>
              <a:t>… … …</a:t>
            </a:r>
            <a:r>
              <a:rPr kumimoji="1" lang="en-US" altLang="zh-CN" sz="2000" b="1" i="0" u="none" strike="noStrike" kern="1200" cap="none" spc="0" normalizeH="0" baseline="0" noProof="0" dirty="0">
                <a:ln>
                  <a:noFill/>
                </a:ln>
                <a:solidFill>
                  <a:schemeClr val="tx1"/>
                </a:solidFill>
                <a:uLnTx/>
                <a:uFillTx/>
                <a:latin typeface="+mn-ea"/>
                <a:cs typeface="+mn-cs"/>
              </a:rPr>
              <a:t>  </a:t>
            </a:r>
            <a:r>
              <a:rPr kumimoji="1" lang="en-US" altLang="zh-CN" sz="2000" b="1" i="0" u="none" strike="noStrike" kern="1200" cap="none" spc="0" normalizeH="0" baseline="0" noProof="0" dirty="0">
                <a:ln>
                  <a:noFill/>
                </a:ln>
                <a:solidFill>
                  <a:srgbClr val="0000FF"/>
                </a:solidFill>
                <a:uLnTx/>
                <a:uFillTx/>
                <a:latin typeface="+mn-ea"/>
                <a:cs typeface="+mn-cs"/>
              </a:rPr>
              <a:t>B</a:t>
            </a:r>
            <a:r>
              <a:rPr kumimoji="1" lang="en-US" altLang="zh-CN" sz="2000" b="1" i="0" u="none" strike="noStrike" kern="1200" cap="none" spc="0" normalizeH="0" baseline="-25000" noProof="0" dirty="0">
                <a:ln>
                  <a:noFill/>
                </a:ln>
                <a:solidFill>
                  <a:srgbClr val="0000FF"/>
                </a:solidFill>
                <a:uLnTx/>
                <a:uFillTx/>
                <a:latin typeface="+mn-ea"/>
                <a:cs typeface="+mn-cs"/>
              </a:rPr>
              <a:t>4</a:t>
            </a:r>
            <a:endParaRPr kumimoji="1" lang="en-US" altLang="zh-CN" sz="2000" b="1" i="0" u="none" strike="noStrike" kern="1200" cap="none" spc="0" normalizeH="0" baseline="-25000" noProof="0" dirty="0">
              <a:ln>
                <a:noFill/>
              </a:ln>
              <a:solidFill>
                <a:srgbClr val="0000FF"/>
              </a:solidFill>
              <a:uLnTx/>
              <a:uFillTx/>
              <a:latin typeface="+mn-ea"/>
              <a:cs typeface="+mn-cs"/>
            </a:endParaRPr>
          </a:p>
        </p:txBody>
      </p:sp>
      <p:cxnSp>
        <p:nvCxnSpPr>
          <p:cNvPr id="32" name="AutoShape 29"/>
          <p:cNvCxnSpPr>
            <a:stCxn id="28" idx="2"/>
            <a:endCxn id="29" idx="0"/>
          </p:cNvCxnSpPr>
          <p:nvPr/>
        </p:nvCxnSpPr>
        <p:spPr>
          <a:xfrm rot="5400000">
            <a:off x="3617913" y="2554923"/>
            <a:ext cx="393065" cy="12700"/>
          </a:xfrm>
          <a:prstGeom prst="curvedConnector3">
            <a:avLst>
              <a:gd name="adj1" fmla="val 50000"/>
            </a:avLst>
          </a:prstGeom>
          <a:ln w="9525">
            <a:noFill/>
          </a:ln>
        </p:spPr>
      </p:cxnSp>
      <p:cxnSp>
        <p:nvCxnSpPr>
          <p:cNvPr id="33" name="AutoShape 30"/>
          <p:cNvCxnSpPr>
            <a:stCxn id="28" idx="2"/>
            <a:endCxn id="29" idx="0"/>
          </p:cNvCxnSpPr>
          <p:nvPr/>
        </p:nvCxnSpPr>
        <p:spPr>
          <a:xfrm flipH="1">
            <a:off x="3807788" y="2364770"/>
            <a:ext cx="12700" cy="393065"/>
          </a:xfrm>
          <a:prstGeom prst="straightConnector1">
            <a:avLst/>
          </a:prstGeom>
          <a:ln w="28575" cap="flat" cmpd="sng">
            <a:solidFill>
              <a:schemeClr val="tx1"/>
            </a:solidFill>
            <a:prstDash val="solid"/>
            <a:headEnd type="none" w="med" len="med"/>
            <a:tailEnd type="triangle" w="med" len="med"/>
          </a:ln>
        </p:spPr>
      </p:cxnSp>
      <p:cxnSp>
        <p:nvCxnSpPr>
          <p:cNvPr id="34" name="AutoShape 31"/>
          <p:cNvCxnSpPr>
            <a:stCxn id="29" idx="2"/>
            <a:endCxn id="30" idx="0"/>
          </p:cNvCxnSpPr>
          <p:nvPr/>
        </p:nvCxnSpPr>
        <p:spPr>
          <a:xfrm>
            <a:off x="3808264" y="3156296"/>
            <a:ext cx="12065" cy="775970"/>
          </a:xfrm>
          <a:prstGeom prst="straightConnector1">
            <a:avLst/>
          </a:prstGeom>
          <a:ln w="28575" cap="flat" cmpd="sng">
            <a:solidFill>
              <a:schemeClr val="tx1"/>
            </a:solidFill>
            <a:prstDash val="solid"/>
            <a:headEnd type="none" w="med" len="med"/>
            <a:tailEnd type="triangle" w="med" len="med"/>
          </a:ln>
        </p:spPr>
      </p:cxnSp>
      <p:cxnSp>
        <p:nvCxnSpPr>
          <p:cNvPr id="35" name="AutoShape 32"/>
          <p:cNvCxnSpPr>
            <a:stCxn id="30" idx="2"/>
            <a:endCxn id="29" idx="1"/>
          </p:cNvCxnSpPr>
          <p:nvPr/>
        </p:nvCxnSpPr>
        <p:spPr>
          <a:xfrm rot="5400000" flipH="1">
            <a:off x="1765300" y="3199765"/>
            <a:ext cx="2297430" cy="1812290"/>
          </a:xfrm>
          <a:prstGeom prst="bentConnector4">
            <a:avLst>
              <a:gd name="adj1" fmla="val -10365"/>
              <a:gd name="adj2" fmla="val 113139"/>
            </a:avLst>
          </a:prstGeom>
          <a:ln w="28575" cap="flat" cmpd="sng">
            <a:solidFill>
              <a:schemeClr val="tx1"/>
            </a:solidFill>
            <a:prstDash val="solid"/>
            <a:miter/>
            <a:headEnd type="none" w="med" len="med"/>
            <a:tailEnd type="triangle" w="med" len="med"/>
          </a:ln>
        </p:spPr>
      </p:cxnSp>
      <p:cxnSp>
        <p:nvCxnSpPr>
          <p:cNvPr id="36" name="AutoShape 33"/>
          <p:cNvCxnSpPr>
            <a:stCxn id="29" idx="3"/>
            <a:endCxn id="31" idx="3"/>
          </p:cNvCxnSpPr>
          <p:nvPr/>
        </p:nvCxnSpPr>
        <p:spPr>
          <a:xfrm flipH="1">
            <a:off x="4280535" y="2957195"/>
            <a:ext cx="1327785" cy="2915285"/>
          </a:xfrm>
          <a:prstGeom prst="bentConnector3">
            <a:avLst>
              <a:gd name="adj1" fmla="val -17934"/>
            </a:avLst>
          </a:prstGeom>
          <a:ln w="28575" cap="flat" cmpd="sng">
            <a:solidFill>
              <a:schemeClr val="tx1"/>
            </a:solidFill>
            <a:prstDash val="solid"/>
            <a:miter/>
            <a:headEnd type="none" w="med" len="med"/>
            <a:tailEnd type="triangle" w="med" len="med"/>
          </a:ln>
        </p:spPr>
      </p:cxnSp>
      <p:sp>
        <p:nvSpPr>
          <p:cNvPr id="37" name="Rectangle 40"/>
          <p:cNvSpPr/>
          <p:nvPr/>
        </p:nvSpPr>
        <p:spPr>
          <a:xfrm>
            <a:off x="2489577" y="1344315"/>
            <a:ext cx="2395855" cy="46037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zh-CN" altLang="en-US" sz="2400" b="1" dirty="0">
                <a:solidFill>
                  <a:srgbClr val="FF3399"/>
                </a:solidFill>
                <a:latin typeface="+mn-ea"/>
              </a:rPr>
              <a:t>归纳变量</a:t>
            </a:r>
            <a:r>
              <a:rPr lang="en-US" altLang="zh-CN" sz="2400" b="1" dirty="0">
                <a:solidFill>
                  <a:srgbClr val="FF3399"/>
                </a:solidFill>
                <a:latin typeface="+mn-ea"/>
              </a:rPr>
              <a:t>i</a:t>
            </a:r>
            <a:r>
              <a:rPr lang="zh-CN" altLang="en-US" sz="2400" b="1" dirty="0">
                <a:solidFill>
                  <a:srgbClr val="FF3399"/>
                </a:solidFill>
                <a:latin typeface="+mn-ea"/>
              </a:rPr>
              <a:t>删除前</a:t>
            </a:r>
            <a:endParaRPr lang="zh-CN" altLang="en-US" sz="2400" b="1" dirty="0">
              <a:solidFill>
                <a:srgbClr val="FF3399"/>
              </a:solidFill>
              <a:latin typeface="+mn-ea"/>
            </a:endParaRPr>
          </a:p>
        </p:txBody>
      </p:sp>
      <p:sp>
        <p:nvSpPr>
          <p:cNvPr id="38" name="Rectangle 41"/>
          <p:cNvSpPr/>
          <p:nvPr/>
        </p:nvSpPr>
        <p:spPr>
          <a:xfrm>
            <a:off x="7253957" y="1107479"/>
            <a:ext cx="2395855" cy="46037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r>
              <a:rPr lang="zh-CN" altLang="en-US" sz="2400" b="1" dirty="0">
                <a:solidFill>
                  <a:srgbClr val="FF3399"/>
                </a:solidFill>
                <a:latin typeface="+mn-ea"/>
              </a:rPr>
              <a:t>归纳变量</a:t>
            </a:r>
            <a:r>
              <a:rPr lang="en-US" altLang="zh-CN" sz="2400" b="1" dirty="0">
                <a:solidFill>
                  <a:srgbClr val="FF3399"/>
                </a:solidFill>
                <a:latin typeface="+mn-ea"/>
              </a:rPr>
              <a:t>i</a:t>
            </a:r>
            <a:r>
              <a:rPr lang="zh-CN" altLang="en-US" sz="2400" b="1" dirty="0">
                <a:solidFill>
                  <a:srgbClr val="FF3399"/>
                </a:solidFill>
                <a:latin typeface="+mn-ea"/>
              </a:rPr>
              <a:t>删除后</a:t>
            </a:r>
            <a:endParaRPr lang="zh-CN" altLang="en-US" sz="2400" b="1" dirty="0">
              <a:solidFill>
                <a:srgbClr val="FF3399"/>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Horizontal)">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arn(inHorizont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arn(inHorizontal)">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arn(inHorizont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arn(inHorizont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arn(inHorizontal)">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arn(inHorizontal)">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arn(inHorizontal)">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barn(inHorizontal)">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barn(inHorizontal)">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0" grpId="0" bldLvl="0" animBg="1"/>
      <p:bldP spid="25" grpId="0" bldLvl="0" animBg="1"/>
      <p:bldP spid="3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4975" y="276860"/>
            <a:ext cx="7866380" cy="593090"/>
          </a:xfrm>
        </p:spPr>
        <p:txBody>
          <a:bodyPr/>
          <a:lstStyle/>
          <a:p>
            <a:r>
              <a:rPr lang="en-US" altLang="zh-CN" dirty="0"/>
              <a:t>8.2.3 </a:t>
            </a:r>
            <a:r>
              <a:rPr lang="zh-CN" altLang="en-US" dirty="0"/>
              <a:t>计算强度削减</a:t>
            </a:r>
            <a:endParaRPr lang="zh-CN" altLang="en-US" dirty="0"/>
          </a:p>
        </p:txBody>
      </p:sp>
      <p:sp>
        <p:nvSpPr>
          <p:cNvPr id="39" name="Rectangle 3"/>
          <p:cNvSpPr txBox="1"/>
          <p:nvPr/>
        </p:nvSpPr>
        <p:spPr>
          <a:xfrm>
            <a:off x="374015" y="1139190"/>
            <a:ext cx="11454130" cy="301815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ct val="0"/>
              </a:spcAft>
              <a:buFont typeface="Wingdings" panose="05000000000000000000" charset="0"/>
              <a:buChar char="p"/>
            </a:pPr>
            <a:r>
              <a:rPr lang="zh-CN" altLang="en-US" sz="2400" b="1"/>
              <a:t>关于循环的优化，也可进行计算强度缩减优化，计算强度削减包括归纳变量计算强度的削减与数组元素地址计算的强度削减。</a:t>
            </a:r>
            <a:endParaRPr lang="zh-CN" altLang="en-US" sz="2400" b="1"/>
          </a:p>
          <a:p>
            <a:pPr>
              <a:lnSpc>
                <a:spcPct val="125000"/>
              </a:lnSpc>
              <a:spcBef>
                <a:spcPct val="0"/>
              </a:spcBef>
              <a:spcAft>
                <a:spcPts val="0"/>
              </a:spcAft>
              <a:buFont typeface="Wingdings" panose="05000000000000000000" charset="0"/>
              <a:buChar char="p"/>
            </a:pPr>
            <a:r>
              <a:rPr lang="zh-CN" altLang="en-US" sz="2400" b="1" dirty="0">
                <a:latin typeface="+mn-ea"/>
                <a:sym typeface="+mn-ea"/>
              </a:rPr>
              <a:t>计算强度削减（下标变量）</a:t>
            </a:r>
            <a:endParaRPr lang="zh-CN" altLang="en-US" sz="2400"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sym typeface="+mn-ea"/>
              </a:rPr>
              <a:t>对于数组</a:t>
            </a:r>
            <a:r>
              <a:rPr lang="en-US" altLang="zh-CN" b="1" dirty="0">
                <a:latin typeface="+mn-ea"/>
                <a:sym typeface="+mn-ea"/>
              </a:rPr>
              <a:t>T	a[n1][n2]…[nm]</a:t>
            </a:r>
            <a:r>
              <a:rPr lang="zh-CN" altLang="en-US" b="1" dirty="0">
                <a:latin typeface="+mn-ea"/>
                <a:sym typeface="+mn-ea"/>
              </a:rPr>
              <a:t>，其下标变量</a:t>
            </a:r>
            <a:r>
              <a:rPr lang="en-US" altLang="zh-CN" b="1" dirty="0">
                <a:latin typeface="+mn-ea"/>
                <a:sym typeface="+mn-ea"/>
              </a:rPr>
              <a:t>a[i1][i2][i3]…[</a:t>
            </a:r>
            <a:r>
              <a:rPr lang="en-US" altLang="zh-CN" b="1" dirty="0" err="1">
                <a:latin typeface="+mn-ea"/>
                <a:sym typeface="+mn-ea"/>
              </a:rPr>
              <a:t>im</a:t>
            </a:r>
            <a:r>
              <a:rPr lang="en-US" altLang="zh-CN" b="1" dirty="0">
                <a:latin typeface="+mn-ea"/>
                <a:sym typeface="+mn-ea"/>
              </a:rPr>
              <a:t>]</a:t>
            </a:r>
            <a:r>
              <a:rPr lang="zh-CN" altLang="en-US" b="1" dirty="0">
                <a:latin typeface="+mn-ea"/>
                <a:sym typeface="+mn-ea"/>
              </a:rPr>
              <a:t>的地址计算如下：</a:t>
            </a:r>
            <a:endParaRPr lang="zh-CN" altLang="en-US" b="1" dirty="0">
              <a:latin typeface="+mn-ea"/>
            </a:endParaRPr>
          </a:p>
          <a:p>
            <a:pPr lvl="2">
              <a:lnSpc>
                <a:spcPct val="125000"/>
              </a:lnSpc>
              <a:spcBef>
                <a:spcPct val="0"/>
              </a:spcBef>
              <a:spcAft>
                <a:spcPts val="0"/>
              </a:spcAft>
              <a:buFont typeface="Wingdings" panose="05000000000000000000" charset="0"/>
              <a:buChar char="p"/>
            </a:pPr>
            <a:r>
              <a:rPr lang="en-US" altLang="zh-CN" sz="2400" b="1" dirty="0" err="1">
                <a:latin typeface="+mn-ea"/>
                <a:sym typeface="+mn-ea"/>
              </a:rPr>
              <a:t>base+d</a:t>
            </a:r>
            <a:r>
              <a:rPr lang="zh-CN" altLang="en-US" sz="2400" b="1" dirty="0">
                <a:latin typeface="+mn-ea"/>
                <a:sym typeface="+mn-ea"/>
              </a:rPr>
              <a:t>；其中</a:t>
            </a:r>
            <a:r>
              <a:rPr lang="en-US" altLang="zh-CN" sz="2400" b="1" dirty="0">
                <a:latin typeface="+mn-ea"/>
                <a:sym typeface="+mn-ea"/>
              </a:rPr>
              <a:t>base</a:t>
            </a:r>
            <a:r>
              <a:rPr lang="zh-CN" altLang="en-US" sz="2400" b="1" dirty="0">
                <a:latin typeface="+mn-ea"/>
                <a:sym typeface="+mn-ea"/>
              </a:rPr>
              <a:t>为</a:t>
            </a:r>
            <a:r>
              <a:rPr lang="en-US" altLang="zh-CN" sz="2400" b="1" dirty="0">
                <a:latin typeface="+mn-ea"/>
                <a:sym typeface="+mn-ea"/>
              </a:rPr>
              <a:t>a[0][0]…[0]</a:t>
            </a:r>
            <a:r>
              <a:rPr lang="zh-CN" altLang="en-US" sz="2400" b="1" dirty="0">
                <a:latin typeface="+mn-ea"/>
                <a:sym typeface="+mn-ea"/>
              </a:rPr>
              <a:t>的地址。</a:t>
            </a:r>
            <a:endParaRPr lang="en-US" altLang="en-US" sz="2400" b="1" dirty="0">
              <a:latin typeface="+mn-ea"/>
            </a:endParaRPr>
          </a:p>
          <a:p>
            <a:pPr lvl="2">
              <a:lnSpc>
                <a:spcPct val="125000"/>
              </a:lnSpc>
              <a:spcBef>
                <a:spcPct val="0"/>
              </a:spcBef>
              <a:spcAft>
                <a:spcPts val="0"/>
              </a:spcAft>
              <a:buFont typeface="Wingdings" panose="05000000000000000000" charset="0"/>
              <a:buChar char="p"/>
            </a:pPr>
            <a:r>
              <a:rPr lang="en-US" altLang="zh-CN" sz="2400" b="1" dirty="0">
                <a:latin typeface="+mn-ea"/>
                <a:sym typeface="+mn-ea"/>
              </a:rPr>
              <a:t>d=((…((i1*n2+i2)*n3+i3)…)*</a:t>
            </a:r>
            <a:r>
              <a:rPr lang="en-US" altLang="zh-CN" sz="2400" b="1" dirty="0" err="1">
                <a:latin typeface="+mn-ea"/>
                <a:sym typeface="+mn-ea"/>
              </a:rPr>
              <a:t>nm+im</a:t>
            </a:r>
            <a:r>
              <a:rPr lang="en-US" altLang="zh-CN" sz="2400" b="1" dirty="0">
                <a:latin typeface="+mn-ea"/>
                <a:sym typeface="+mn-ea"/>
              </a:rPr>
              <a:t>)*</a:t>
            </a:r>
            <a:r>
              <a:rPr lang="en-US" altLang="zh-CN" sz="2400" b="1" dirty="0" err="1">
                <a:latin typeface="+mn-ea"/>
                <a:sym typeface="+mn-ea"/>
              </a:rPr>
              <a:t>sizeof</a:t>
            </a:r>
            <a:r>
              <a:rPr lang="en-US" altLang="zh-CN" sz="2400" b="1" dirty="0">
                <a:latin typeface="+mn-ea"/>
                <a:sym typeface="+mn-ea"/>
              </a:rPr>
              <a:t>(T);</a:t>
            </a:r>
            <a:endParaRPr lang="en-US" altLang="zh-CN" sz="2400" b="1" dirty="0">
              <a:latin typeface="+mn-ea"/>
            </a:endParaRPr>
          </a:p>
          <a:p>
            <a:pPr>
              <a:lnSpc>
                <a:spcPct val="125000"/>
              </a:lnSpc>
              <a:spcBef>
                <a:spcPct val="0"/>
              </a:spcBef>
              <a:spcAft>
                <a:spcPct val="0"/>
              </a:spcAft>
              <a:buFont typeface="Wingdings" panose="05000000000000000000" charset="0"/>
              <a:buChar char="p"/>
            </a:pPr>
            <a:r>
              <a:rPr lang="zh-CN" altLang="en-US" sz="2400" b="1" dirty="0">
                <a:latin typeface="+mn-ea"/>
                <a:sym typeface="+mn-ea"/>
              </a:rPr>
              <a:t>当数组元素下标</a:t>
            </a:r>
            <a:r>
              <a:rPr lang="zh-CN" altLang="en-US" sz="2400" b="1" dirty="0">
                <a:solidFill>
                  <a:srgbClr val="0070C0"/>
                </a:solidFill>
                <a:sym typeface="+mn-ea"/>
              </a:rPr>
              <a:t>满足</a:t>
            </a:r>
            <a:r>
              <a:rPr lang="en-US" altLang="zh-CN" sz="2400" b="1" dirty="0">
                <a:solidFill>
                  <a:srgbClr val="0070C0"/>
                </a:solidFill>
                <a:sym typeface="+mn-ea"/>
              </a:rPr>
              <a:t>:1) </a:t>
            </a:r>
            <a:r>
              <a:rPr lang="zh-CN" altLang="en-US" sz="2400" b="1" dirty="0">
                <a:sym typeface="+mn-ea"/>
              </a:rPr>
              <a:t>数组是常界数组：数组的上下界都是常量</a:t>
            </a:r>
            <a:r>
              <a:rPr lang="en-US" altLang="zh-CN" sz="2400" b="1" dirty="0">
                <a:sym typeface="+mn-ea"/>
              </a:rPr>
              <a:t>;2)</a:t>
            </a:r>
            <a:r>
              <a:rPr lang="zh-CN" altLang="en-US" sz="2400" b="1" dirty="0">
                <a:sym typeface="+mn-ea"/>
              </a:rPr>
              <a:t>下标变量中的下标表达式是循环控制变量的线性表达式。那么</a:t>
            </a:r>
            <a:r>
              <a:rPr lang="zh-CN" altLang="en-US" sz="2400" b="1" dirty="0">
                <a:latin typeface="+mn-ea"/>
                <a:sym typeface="+mn-ea"/>
              </a:rPr>
              <a:t>地址的计算使用加法来代替计算</a:t>
            </a:r>
            <a:r>
              <a:rPr lang="en-US" altLang="zh-CN" sz="2400" b="1" dirty="0">
                <a:latin typeface="+mn-ea"/>
                <a:sym typeface="+mn-ea"/>
              </a:rPr>
              <a:t>d</a:t>
            </a:r>
            <a:r>
              <a:rPr lang="zh-CN" altLang="en-US" sz="2400" b="1" dirty="0">
                <a:latin typeface="+mn-ea"/>
                <a:sym typeface="+mn-ea"/>
              </a:rPr>
              <a:t>时的乘法。</a:t>
            </a:r>
            <a:endParaRPr lang="zh-CN" altLang="en-US" sz="2400" b="1" dirty="0">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barn(inHorizontal)">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9">
                                            <p:txEl>
                                              <p:pRg st="1" end="1"/>
                                            </p:txEl>
                                          </p:spTgt>
                                        </p:tgtEl>
                                        <p:attrNameLst>
                                          <p:attrName>style.visibility</p:attrName>
                                        </p:attrNameLst>
                                      </p:cBhvr>
                                      <p:to>
                                        <p:strVal val="visible"/>
                                      </p:to>
                                    </p:set>
                                    <p:animEffect transition="in" filter="barn(inHorizontal)">
                                      <p:cBhvr>
                                        <p:cTn id="12" dur="500"/>
                                        <p:tgtEl>
                                          <p:spTgt spid="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39">
                                            <p:txEl>
                                              <p:pRg st="2" end="2"/>
                                            </p:txEl>
                                          </p:spTgt>
                                        </p:tgtEl>
                                        <p:attrNameLst>
                                          <p:attrName>style.visibility</p:attrName>
                                        </p:attrNameLst>
                                      </p:cBhvr>
                                      <p:to>
                                        <p:strVal val="visible"/>
                                      </p:to>
                                    </p:set>
                                    <p:animEffect transition="in" filter="barn(inHorizontal)">
                                      <p:cBhvr>
                                        <p:cTn id="17" dur="500"/>
                                        <p:tgtEl>
                                          <p:spTgt spid="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39">
                                            <p:txEl>
                                              <p:pRg st="3" end="3"/>
                                            </p:txEl>
                                          </p:spTgt>
                                        </p:tgtEl>
                                        <p:attrNameLst>
                                          <p:attrName>style.visibility</p:attrName>
                                        </p:attrNameLst>
                                      </p:cBhvr>
                                      <p:to>
                                        <p:strVal val="visible"/>
                                      </p:to>
                                    </p:set>
                                    <p:animEffect transition="in" filter="barn(inHorizontal)">
                                      <p:cBhvr>
                                        <p:cTn id="22" dur="500"/>
                                        <p:tgtEl>
                                          <p:spTgt spid="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39">
                                            <p:txEl>
                                              <p:pRg st="4" end="4"/>
                                            </p:txEl>
                                          </p:spTgt>
                                        </p:tgtEl>
                                        <p:attrNameLst>
                                          <p:attrName>style.visibility</p:attrName>
                                        </p:attrNameLst>
                                      </p:cBhvr>
                                      <p:to>
                                        <p:strVal val="visible"/>
                                      </p:to>
                                    </p:set>
                                    <p:animEffect transition="in" filter="barn(inHorizontal)">
                                      <p:cBhvr>
                                        <p:cTn id="27" dur="500"/>
                                        <p:tgtEl>
                                          <p:spTgt spid="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39">
                                            <p:txEl>
                                              <p:pRg st="5" end="5"/>
                                            </p:txEl>
                                          </p:spTgt>
                                        </p:tgtEl>
                                        <p:attrNameLst>
                                          <p:attrName>style.visibility</p:attrName>
                                        </p:attrNameLst>
                                      </p:cBhvr>
                                      <p:to>
                                        <p:strVal val="visible"/>
                                      </p:to>
                                    </p:set>
                                    <p:animEffect transition="in" filter="barn(inHorizontal)">
                                      <p:cBhvr>
                                        <p:cTn id="32" dur="500"/>
                                        <p:tgtEl>
                                          <p:spTgt spid="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0205" y="276860"/>
            <a:ext cx="7931150" cy="593090"/>
          </a:xfrm>
        </p:spPr>
        <p:txBody>
          <a:bodyPr/>
          <a:lstStyle/>
          <a:p>
            <a:r>
              <a:rPr lang="en-US" altLang="zh-CN" dirty="0"/>
              <a:t>8.2.3 </a:t>
            </a:r>
            <a:r>
              <a:rPr lang="zh-CN" altLang="en-US" dirty="0"/>
              <a:t>计算强度削减</a:t>
            </a:r>
            <a:endParaRPr lang="zh-CN" altLang="en-US" dirty="0"/>
          </a:p>
        </p:txBody>
      </p:sp>
      <p:sp>
        <p:nvSpPr>
          <p:cNvPr id="5" name="Rectangle 3"/>
          <p:cNvSpPr txBox="1">
            <a:spLocks noChangeArrowheads="1"/>
          </p:cNvSpPr>
          <p:nvPr/>
        </p:nvSpPr>
        <p:spPr>
          <a:xfrm>
            <a:off x="451485" y="1207770"/>
            <a:ext cx="11573510" cy="5019675"/>
          </a:xfrm>
          <a:prstGeom prst="rect">
            <a:avLst/>
          </a:prstGeom>
        </p:spPr>
        <p:txBody>
          <a:bodyPr vert="horz" wrap="square" lIns="91440" tIns="45720" rIns="91440" bIns="45720" numCol="1" anchor="t" anchorCtr="0" compatLnSpc="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25000"/>
              </a:lnSpc>
              <a:spcBef>
                <a:spcPts val="0"/>
              </a:spcBef>
              <a:spcAft>
                <a:spcPts val="0"/>
              </a:spcAft>
              <a:buFont typeface="Wingdings" panose="05000000000000000000" charset="0"/>
              <a:buChar char="p"/>
              <a:defRPr/>
            </a:pPr>
            <a:r>
              <a:rPr lang="zh-CN" altLang="en-US" sz="2400" b="1" kern="0" dirty="0">
                <a:latin typeface="+mn-ea"/>
              </a:rPr>
              <a:t>下标变量计算强度的削减（例子）</a:t>
            </a:r>
            <a:endParaRPr lang="en-US" altLang="zh-CN" sz="2400" b="1" kern="0" dirty="0">
              <a:latin typeface="+mn-ea"/>
            </a:endParaRPr>
          </a:p>
          <a:p>
            <a:pPr marL="457200" lvl="1" indent="0" eaLnBrk="0" fontAlgn="base" hangingPunct="0">
              <a:lnSpc>
                <a:spcPct val="125000"/>
              </a:lnSpc>
              <a:spcBef>
                <a:spcPts val="0"/>
              </a:spcBef>
              <a:spcAft>
                <a:spcPts val="0"/>
              </a:spcAft>
              <a:buNone/>
              <a:defRPr/>
            </a:pPr>
            <a:r>
              <a:rPr lang="en-US" altLang="zh-CN" sz="2000" b="1" kern="0" dirty="0">
                <a:solidFill>
                  <a:srgbClr val="0070C0"/>
                </a:solidFill>
                <a:latin typeface="Courier New" panose="02070309020205020404" pitchFamily="49" charset="0"/>
                <a:cs typeface="Courier New" panose="02070309020205020404" pitchFamily="49" charset="0"/>
              </a:rPr>
              <a:t>for(v1=v</a:t>
            </a:r>
            <a:r>
              <a:rPr lang="en-US" altLang="zh-CN" sz="2000" b="1" kern="0" baseline="-25000" dirty="0">
                <a:solidFill>
                  <a:srgbClr val="0070C0"/>
                </a:solidFill>
                <a:latin typeface="Courier New" panose="02070309020205020404" pitchFamily="49" charset="0"/>
                <a:cs typeface="Courier New" panose="02070309020205020404" pitchFamily="49" charset="0"/>
              </a:rPr>
              <a:t>10</a:t>
            </a:r>
            <a:r>
              <a:rPr lang="en-US" altLang="zh-CN" sz="2000" b="1" kern="0" dirty="0">
                <a:solidFill>
                  <a:srgbClr val="0070C0"/>
                </a:solidFill>
                <a:latin typeface="Courier New" panose="02070309020205020404" pitchFamily="49" charset="0"/>
                <a:cs typeface="Courier New" panose="02070309020205020404" pitchFamily="49" charset="0"/>
              </a:rPr>
              <a:t>; v1&lt;v</a:t>
            </a:r>
            <a:r>
              <a:rPr lang="en-US" altLang="zh-CN" sz="2000" b="1" kern="0" baseline="-25000" dirty="0">
                <a:solidFill>
                  <a:srgbClr val="0070C0"/>
                </a:solidFill>
                <a:latin typeface="Courier New" panose="02070309020205020404" pitchFamily="49" charset="0"/>
                <a:cs typeface="Courier New" panose="02070309020205020404" pitchFamily="49" charset="0"/>
              </a:rPr>
              <a:t>1f</a:t>
            </a:r>
            <a:r>
              <a:rPr lang="en-US" altLang="zh-CN" sz="2000" b="1" kern="0" dirty="0">
                <a:solidFill>
                  <a:srgbClr val="0070C0"/>
                </a:solidFill>
                <a:latin typeface="Courier New" panose="02070309020205020404" pitchFamily="49" charset="0"/>
                <a:cs typeface="Courier New" panose="02070309020205020404" pitchFamily="49" charset="0"/>
              </a:rPr>
              <a:t>; v1++)	</a:t>
            </a:r>
            <a:endParaRPr lang="en-US" altLang="zh-CN" sz="2000" b="1" kern="0" dirty="0">
              <a:solidFill>
                <a:srgbClr val="0070C0"/>
              </a:solidFill>
              <a:latin typeface="Courier New" panose="02070309020205020404" pitchFamily="49" charset="0"/>
              <a:cs typeface="Courier New" panose="02070309020205020404" pitchFamily="49" charset="0"/>
            </a:endParaRPr>
          </a:p>
          <a:p>
            <a:pPr marL="0" indent="0" eaLnBrk="0" fontAlgn="base" hangingPunct="0">
              <a:lnSpc>
                <a:spcPct val="125000"/>
              </a:lnSpc>
              <a:spcBef>
                <a:spcPts val="0"/>
              </a:spcBef>
              <a:spcAft>
                <a:spcPts val="0"/>
              </a:spcAft>
              <a:buNone/>
              <a:defRPr/>
            </a:pPr>
            <a:r>
              <a:rPr lang="en-US" altLang="zh-CN" sz="2000" b="1" kern="0" dirty="0">
                <a:solidFill>
                  <a:srgbClr val="0070C0"/>
                </a:solidFill>
                <a:latin typeface="Courier New" panose="02070309020205020404" pitchFamily="49" charset="0"/>
                <a:cs typeface="Courier New" panose="02070309020205020404" pitchFamily="49" charset="0"/>
              </a:rPr>
              <a:t>		for(v2=v</a:t>
            </a:r>
            <a:r>
              <a:rPr lang="en-US" altLang="zh-CN" sz="2000" b="1" kern="0" baseline="-25000" dirty="0">
                <a:solidFill>
                  <a:srgbClr val="0070C0"/>
                </a:solidFill>
                <a:latin typeface="Courier New" panose="02070309020205020404" pitchFamily="49" charset="0"/>
                <a:cs typeface="Courier New" panose="02070309020205020404" pitchFamily="49" charset="0"/>
              </a:rPr>
              <a:t>20</a:t>
            </a:r>
            <a:r>
              <a:rPr lang="en-US" altLang="zh-CN" sz="2000" b="1" kern="0" dirty="0">
                <a:solidFill>
                  <a:srgbClr val="0070C0"/>
                </a:solidFill>
                <a:latin typeface="Courier New" panose="02070309020205020404" pitchFamily="49" charset="0"/>
                <a:cs typeface="Courier New" panose="02070309020205020404" pitchFamily="49" charset="0"/>
              </a:rPr>
              <a:t>; v2&lt;v</a:t>
            </a:r>
            <a:r>
              <a:rPr lang="en-US" altLang="zh-CN" sz="2000" b="1" kern="0" baseline="-25000" dirty="0">
                <a:solidFill>
                  <a:srgbClr val="0070C0"/>
                </a:solidFill>
                <a:latin typeface="Courier New" panose="02070309020205020404" pitchFamily="49" charset="0"/>
                <a:cs typeface="Courier New" panose="02070309020205020404" pitchFamily="49" charset="0"/>
              </a:rPr>
              <a:t>2f</a:t>
            </a:r>
            <a:r>
              <a:rPr lang="en-US" altLang="zh-CN" sz="2000" b="1" kern="0" dirty="0">
                <a:solidFill>
                  <a:srgbClr val="0070C0"/>
                </a:solidFill>
                <a:latin typeface="Courier New" panose="02070309020205020404" pitchFamily="49" charset="0"/>
                <a:cs typeface="Courier New" panose="02070309020205020404" pitchFamily="49" charset="0"/>
              </a:rPr>
              <a:t>; v2++)</a:t>
            </a:r>
            <a:endParaRPr lang="en-US" altLang="zh-CN" sz="2000" b="1" kern="0" dirty="0">
              <a:solidFill>
                <a:srgbClr val="0070C0"/>
              </a:solidFill>
              <a:latin typeface="Courier New" panose="02070309020205020404" pitchFamily="49" charset="0"/>
              <a:cs typeface="Courier New" panose="02070309020205020404" pitchFamily="49" charset="0"/>
            </a:endParaRPr>
          </a:p>
          <a:p>
            <a:pPr marL="0" indent="0" eaLnBrk="0" fontAlgn="base" hangingPunct="0">
              <a:lnSpc>
                <a:spcPct val="125000"/>
              </a:lnSpc>
              <a:spcBef>
                <a:spcPts val="0"/>
              </a:spcBef>
              <a:spcAft>
                <a:spcPts val="0"/>
              </a:spcAft>
              <a:buNone/>
              <a:defRPr/>
            </a:pPr>
            <a:r>
              <a:rPr lang="en-US" altLang="zh-CN" sz="2000" b="1" kern="0" dirty="0">
                <a:solidFill>
                  <a:srgbClr val="0070C0"/>
                </a:solidFill>
                <a:latin typeface="Courier New" panose="02070309020205020404" pitchFamily="49" charset="0"/>
                <a:cs typeface="Courier New" panose="02070309020205020404" pitchFamily="49" charset="0"/>
              </a:rPr>
              <a:t>			{… A[i</a:t>
            </a:r>
            <a:r>
              <a:rPr lang="en-US" altLang="zh-CN" sz="2000" b="1" kern="0" baseline="-25000" dirty="0">
                <a:solidFill>
                  <a:srgbClr val="0070C0"/>
                </a:solidFill>
                <a:latin typeface="Courier New" panose="02070309020205020404" pitchFamily="49" charset="0"/>
                <a:cs typeface="Courier New" panose="02070309020205020404" pitchFamily="49" charset="0"/>
              </a:rPr>
              <a:t>1</a:t>
            </a:r>
            <a:r>
              <a:rPr lang="en-US" altLang="zh-CN" sz="2000" b="1" kern="0" dirty="0">
                <a:solidFill>
                  <a:srgbClr val="0070C0"/>
                </a:solidFill>
                <a:latin typeface="Courier New" panose="02070309020205020404" pitchFamily="49" charset="0"/>
                <a:cs typeface="Courier New" panose="02070309020205020404" pitchFamily="49" charset="0"/>
              </a:rPr>
              <a:t>][i</a:t>
            </a:r>
            <a:r>
              <a:rPr lang="en-US" altLang="zh-CN" sz="2000" b="1" kern="0" baseline="-25000" dirty="0">
                <a:solidFill>
                  <a:srgbClr val="0070C0"/>
                </a:solidFill>
                <a:latin typeface="Courier New" panose="02070309020205020404" pitchFamily="49" charset="0"/>
                <a:cs typeface="Courier New" panose="02070309020205020404" pitchFamily="49" charset="0"/>
              </a:rPr>
              <a:t>2</a:t>
            </a:r>
            <a:r>
              <a:rPr lang="en-US" altLang="zh-CN" sz="2000" b="1" kern="0" dirty="0">
                <a:solidFill>
                  <a:srgbClr val="0070C0"/>
                </a:solidFill>
                <a:latin typeface="Courier New" panose="02070309020205020404" pitchFamily="49" charset="0"/>
                <a:cs typeface="Courier New" panose="02070309020205020404" pitchFamily="49" charset="0"/>
              </a:rPr>
              <a:t>]…}</a:t>
            </a:r>
            <a:endParaRPr lang="en-US" altLang="zh-CN" sz="2000" b="1" kern="0" dirty="0">
              <a:solidFill>
                <a:srgbClr val="0070C0"/>
              </a:solidFill>
              <a:latin typeface="Courier New" panose="02070309020205020404" pitchFamily="49" charset="0"/>
              <a:cs typeface="Courier New" panose="02070309020205020404" pitchFamily="49" charset="0"/>
            </a:endParaRPr>
          </a:p>
          <a:p>
            <a:pPr lvl="1" eaLnBrk="0" fontAlgn="base" hangingPunct="0">
              <a:lnSpc>
                <a:spcPct val="125000"/>
              </a:lnSpc>
              <a:spcBef>
                <a:spcPts val="0"/>
              </a:spcBef>
              <a:spcAft>
                <a:spcPts val="0"/>
              </a:spcAft>
              <a:defRPr/>
            </a:pPr>
            <a:r>
              <a:rPr lang="zh-CN" altLang="en-US" b="1" kern="0" dirty="0">
                <a:latin typeface="+mn-ea"/>
              </a:rPr>
              <a:t>设</a:t>
            </a:r>
            <a:r>
              <a:rPr lang="en-US" altLang="zh-CN" b="1" kern="0" dirty="0">
                <a:latin typeface="+mn-ea"/>
              </a:rPr>
              <a:t>i</a:t>
            </a:r>
            <a:r>
              <a:rPr lang="en-US" altLang="zh-CN" b="1" kern="0" baseline="-25000" dirty="0">
                <a:latin typeface="+mn-ea"/>
              </a:rPr>
              <a:t>1</a:t>
            </a:r>
            <a:r>
              <a:rPr lang="en-US" altLang="zh-CN" b="1" kern="0" dirty="0">
                <a:latin typeface="+mn-ea"/>
              </a:rPr>
              <a:t>, i</a:t>
            </a:r>
            <a:r>
              <a:rPr lang="en-US" altLang="zh-CN" b="1" kern="0" baseline="-25000" dirty="0">
                <a:latin typeface="+mn-ea"/>
              </a:rPr>
              <a:t>2</a:t>
            </a:r>
            <a:r>
              <a:rPr lang="zh-CN" altLang="en-US" b="1" kern="0" dirty="0">
                <a:latin typeface="+mn-ea"/>
              </a:rPr>
              <a:t>都可以表示成：</a:t>
            </a:r>
            <a:r>
              <a:rPr lang="en-US" altLang="zh-CN" b="1" kern="0" dirty="0">
                <a:latin typeface="+mn-ea"/>
              </a:rPr>
              <a:t>C</a:t>
            </a:r>
            <a:r>
              <a:rPr lang="en-US" altLang="zh-CN" b="1" kern="0" baseline="-25000" dirty="0">
                <a:latin typeface="+mn-ea"/>
              </a:rPr>
              <a:t>k0</a:t>
            </a:r>
            <a:r>
              <a:rPr lang="en-US" altLang="zh-CN" b="1" kern="0" dirty="0">
                <a:latin typeface="+mn-ea"/>
              </a:rPr>
              <a:t>+C</a:t>
            </a:r>
            <a:r>
              <a:rPr lang="en-US" altLang="zh-CN" b="1" kern="0" baseline="-25000" dirty="0">
                <a:latin typeface="+mn-ea"/>
              </a:rPr>
              <a:t>k1</a:t>
            </a:r>
            <a:r>
              <a:rPr lang="en-US" altLang="zh-CN" b="1" kern="0" dirty="0">
                <a:latin typeface="+mn-ea"/>
              </a:rPr>
              <a:t>*V1+C</a:t>
            </a:r>
            <a:r>
              <a:rPr lang="en-US" altLang="zh-CN" b="1" kern="0" baseline="-25000" dirty="0">
                <a:latin typeface="+mn-ea"/>
              </a:rPr>
              <a:t>k2</a:t>
            </a:r>
            <a:r>
              <a:rPr lang="en-US" altLang="zh-CN" b="1" kern="0" dirty="0">
                <a:latin typeface="+mn-ea"/>
              </a:rPr>
              <a:t>*V2(k=1,2);</a:t>
            </a:r>
            <a:endParaRPr lang="en-US" altLang="zh-CN" b="1" kern="0" dirty="0">
              <a:latin typeface="+mn-ea"/>
            </a:endParaRPr>
          </a:p>
          <a:p>
            <a:pPr lvl="1" eaLnBrk="0" fontAlgn="base" hangingPunct="0">
              <a:lnSpc>
                <a:spcPct val="125000"/>
              </a:lnSpc>
              <a:spcBef>
                <a:spcPts val="0"/>
              </a:spcBef>
              <a:spcAft>
                <a:spcPts val="0"/>
              </a:spcAft>
              <a:defRPr/>
            </a:pPr>
            <a:r>
              <a:rPr lang="en-US" altLang="zh-CN" b="1" kern="0" dirty="0">
                <a:latin typeface="+mn-ea"/>
              </a:rPr>
              <a:t>A[i</a:t>
            </a:r>
            <a:r>
              <a:rPr lang="en-US" altLang="zh-CN" b="1" kern="0" baseline="-25000" dirty="0">
                <a:latin typeface="+mn-ea"/>
              </a:rPr>
              <a:t>1</a:t>
            </a:r>
            <a:r>
              <a:rPr lang="en-US" altLang="zh-CN" b="1" kern="0" dirty="0">
                <a:latin typeface="+mn-ea"/>
              </a:rPr>
              <a:t>][i</a:t>
            </a:r>
            <a:r>
              <a:rPr lang="en-US" altLang="zh-CN" b="1" kern="0" baseline="-25000" dirty="0">
                <a:latin typeface="+mn-ea"/>
              </a:rPr>
              <a:t>2</a:t>
            </a:r>
            <a:r>
              <a:rPr lang="en-US" altLang="zh-CN" b="1" kern="0" dirty="0">
                <a:latin typeface="+mn-ea"/>
              </a:rPr>
              <a:t>]</a:t>
            </a:r>
            <a:r>
              <a:rPr lang="zh-CN" altLang="en-US" b="1" kern="0" dirty="0">
                <a:latin typeface="+mn-ea"/>
              </a:rPr>
              <a:t>的地址为</a:t>
            </a:r>
            <a:r>
              <a:rPr lang="en-US" altLang="zh-CN" b="1" kern="0" dirty="0" err="1">
                <a:latin typeface="+mn-ea"/>
              </a:rPr>
              <a:t>base+d</a:t>
            </a:r>
            <a:r>
              <a:rPr lang="en-US" altLang="zh-CN" b="1" kern="0" dirty="0">
                <a:latin typeface="+mn-ea"/>
              </a:rPr>
              <a:t>; d=(i</a:t>
            </a:r>
            <a:r>
              <a:rPr lang="en-US" altLang="zh-CN" b="1" kern="0" baseline="-25000" dirty="0">
                <a:latin typeface="+mn-ea"/>
              </a:rPr>
              <a:t>1</a:t>
            </a:r>
            <a:r>
              <a:rPr lang="en-US" altLang="zh-CN" b="1" kern="0" dirty="0">
                <a:latin typeface="+mn-ea"/>
              </a:rPr>
              <a:t>*n</a:t>
            </a:r>
            <a:r>
              <a:rPr lang="en-US" altLang="zh-CN" b="1" kern="0" baseline="-25000" dirty="0">
                <a:latin typeface="+mn-ea"/>
              </a:rPr>
              <a:t>2</a:t>
            </a:r>
            <a:r>
              <a:rPr lang="en-US" altLang="zh-CN" b="1" kern="0" dirty="0">
                <a:latin typeface="+mn-ea"/>
              </a:rPr>
              <a:t>+i</a:t>
            </a:r>
            <a:r>
              <a:rPr lang="en-US" altLang="zh-CN" b="1" kern="0" baseline="-25000" dirty="0">
                <a:latin typeface="+mn-ea"/>
              </a:rPr>
              <a:t>2</a:t>
            </a:r>
            <a:r>
              <a:rPr lang="en-US" altLang="zh-CN" b="1" kern="0" dirty="0">
                <a:latin typeface="+mn-ea"/>
              </a:rPr>
              <a:t>);</a:t>
            </a:r>
            <a:endParaRPr lang="en-US" altLang="zh-CN" b="1" kern="0" dirty="0">
              <a:latin typeface="+mn-ea"/>
            </a:endParaRPr>
          </a:p>
          <a:p>
            <a:pPr lvl="1" eaLnBrk="0" fontAlgn="base" hangingPunct="0">
              <a:lnSpc>
                <a:spcPct val="125000"/>
              </a:lnSpc>
              <a:spcBef>
                <a:spcPts val="0"/>
              </a:spcBef>
              <a:spcAft>
                <a:spcPts val="0"/>
              </a:spcAft>
              <a:defRPr/>
            </a:pPr>
            <a:r>
              <a:rPr lang="zh-CN" altLang="en-US" b="1" kern="0" dirty="0">
                <a:latin typeface="+mn-ea"/>
              </a:rPr>
              <a:t>将</a:t>
            </a:r>
            <a:r>
              <a:rPr lang="en-US" altLang="zh-CN" b="1" kern="0" dirty="0">
                <a:latin typeface="+mn-ea"/>
              </a:rPr>
              <a:t>i</a:t>
            </a:r>
            <a:r>
              <a:rPr lang="en-US" altLang="zh-CN" b="1" kern="0" baseline="-25000" dirty="0">
                <a:latin typeface="+mn-ea"/>
              </a:rPr>
              <a:t>1</a:t>
            </a:r>
            <a:r>
              <a:rPr lang="en-US" altLang="zh-CN" b="1" kern="0" dirty="0">
                <a:latin typeface="+mn-ea"/>
              </a:rPr>
              <a:t>,i</a:t>
            </a:r>
            <a:r>
              <a:rPr lang="en-US" altLang="zh-CN" b="1" kern="0" baseline="-25000" dirty="0">
                <a:latin typeface="+mn-ea"/>
              </a:rPr>
              <a:t>2</a:t>
            </a:r>
            <a:r>
              <a:rPr lang="zh-CN" altLang="en-US" b="1" kern="0" dirty="0">
                <a:latin typeface="+mn-ea"/>
              </a:rPr>
              <a:t>的表达式代入</a:t>
            </a:r>
            <a:r>
              <a:rPr lang="en-US" altLang="zh-CN" b="1" kern="0" dirty="0">
                <a:latin typeface="+mn-ea"/>
              </a:rPr>
              <a:t>d</a:t>
            </a:r>
            <a:r>
              <a:rPr lang="zh-CN" altLang="en-US" b="1" kern="0" dirty="0">
                <a:latin typeface="+mn-ea"/>
              </a:rPr>
              <a:t>的表达式，可以得到</a:t>
            </a:r>
            <a:r>
              <a:rPr lang="en-US" altLang="zh-CN" sz="2000" b="1" kern="0" dirty="0">
                <a:solidFill>
                  <a:srgbClr val="0070C0"/>
                </a:solidFill>
                <a:latin typeface="Courier New" panose="02070309020205020404" pitchFamily="49" charset="0"/>
                <a:cs typeface="Courier New" panose="02070309020205020404" pitchFamily="49" charset="0"/>
              </a:rPr>
              <a:t>d=(C</a:t>
            </a:r>
            <a:r>
              <a:rPr lang="en-US" altLang="zh-CN" sz="2000" b="1" kern="0" baseline="-25000" dirty="0">
                <a:solidFill>
                  <a:srgbClr val="0070C0"/>
                </a:solidFill>
                <a:latin typeface="Courier New" panose="02070309020205020404" pitchFamily="49" charset="0"/>
                <a:cs typeface="Courier New" panose="02070309020205020404" pitchFamily="49" charset="0"/>
              </a:rPr>
              <a:t>10</a:t>
            </a:r>
            <a:r>
              <a:rPr lang="en-US" altLang="zh-CN" sz="2000" b="1" kern="0" dirty="0">
                <a:solidFill>
                  <a:srgbClr val="0070C0"/>
                </a:solidFill>
                <a:latin typeface="Courier New" panose="02070309020205020404" pitchFamily="49" charset="0"/>
                <a:cs typeface="Courier New" panose="02070309020205020404" pitchFamily="49" charset="0"/>
              </a:rPr>
              <a:t>*n</a:t>
            </a:r>
            <a:r>
              <a:rPr lang="en-US" altLang="zh-CN" sz="2000" b="1" kern="0" baseline="-25000" dirty="0">
                <a:solidFill>
                  <a:srgbClr val="0070C0"/>
                </a:solidFill>
                <a:latin typeface="Courier New" panose="02070309020205020404" pitchFamily="49" charset="0"/>
                <a:cs typeface="Courier New" panose="02070309020205020404" pitchFamily="49" charset="0"/>
              </a:rPr>
              <a:t>2</a:t>
            </a:r>
            <a:r>
              <a:rPr lang="en-US" altLang="zh-CN" sz="2000" b="1" kern="0" dirty="0">
                <a:solidFill>
                  <a:srgbClr val="0070C0"/>
                </a:solidFill>
                <a:latin typeface="Courier New" panose="02070309020205020404" pitchFamily="49" charset="0"/>
                <a:cs typeface="Courier New" panose="02070309020205020404" pitchFamily="49" charset="0"/>
              </a:rPr>
              <a:t>+C</a:t>
            </a:r>
            <a:r>
              <a:rPr lang="en-US" altLang="zh-CN" sz="2000" b="1" kern="0" baseline="-25000" dirty="0">
                <a:solidFill>
                  <a:srgbClr val="0070C0"/>
                </a:solidFill>
                <a:latin typeface="Courier New" panose="02070309020205020404" pitchFamily="49" charset="0"/>
                <a:cs typeface="Courier New" panose="02070309020205020404" pitchFamily="49" charset="0"/>
              </a:rPr>
              <a:t>20</a:t>
            </a:r>
            <a:r>
              <a:rPr lang="en-US" altLang="zh-CN" sz="2000" b="1" kern="0" dirty="0">
                <a:solidFill>
                  <a:srgbClr val="0070C0"/>
                </a:solidFill>
                <a:latin typeface="Courier New" panose="02070309020205020404" pitchFamily="49" charset="0"/>
                <a:cs typeface="Courier New" panose="02070309020205020404" pitchFamily="49" charset="0"/>
              </a:rPr>
              <a:t>)+ (C</a:t>
            </a:r>
            <a:r>
              <a:rPr lang="en-US" altLang="zh-CN" sz="2000" b="1" kern="0" baseline="-25000" dirty="0">
                <a:solidFill>
                  <a:srgbClr val="0070C0"/>
                </a:solidFill>
                <a:latin typeface="Courier New" panose="02070309020205020404" pitchFamily="49" charset="0"/>
                <a:cs typeface="Courier New" panose="02070309020205020404" pitchFamily="49" charset="0"/>
              </a:rPr>
              <a:t>11</a:t>
            </a:r>
            <a:r>
              <a:rPr lang="en-US" altLang="zh-CN" sz="2000" b="1" kern="0" dirty="0">
                <a:solidFill>
                  <a:srgbClr val="0070C0"/>
                </a:solidFill>
                <a:latin typeface="Courier New" panose="02070309020205020404" pitchFamily="49" charset="0"/>
                <a:cs typeface="Courier New" panose="02070309020205020404" pitchFamily="49" charset="0"/>
              </a:rPr>
              <a:t>*n</a:t>
            </a:r>
            <a:r>
              <a:rPr lang="en-US" altLang="zh-CN" sz="2000" b="1" kern="0" baseline="-25000" dirty="0">
                <a:solidFill>
                  <a:srgbClr val="0070C0"/>
                </a:solidFill>
                <a:latin typeface="Courier New" panose="02070309020205020404" pitchFamily="49" charset="0"/>
                <a:cs typeface="Courier New" panose="02070309020205020404" pitchFamily="49" charset="0"/>
              </a:rPr>
              <a:t>2</a:t>
            </a:r>
            <a:r>
              <a:rPr lang="en-US" altLang="zh-CN" sz="2000" b="1" kern="0" dirty="0">
                <a:solidFill>
                  <a:srgbClr val="0070C0"/>
                </a:solidFill>
                <a:latin typeface="Courier New" panose="02070309020205020404" pitchFamily="49" charset="0"/>
                <a:cs typeface="Courier New" panose="02070309020205020404" pitchFamily="49" charset="0"/>
              </a:rPr>
              <a:t>+C</a:t>
            </a:r>
            <a:r>
              <a:rPr lang="en-US" altLang="zh-CN" sz="2000" b="1" kern="0" baseline="-25000" dirty="0">
                <a:solidFill>
                  <a:srgbClr val="0070C0"/>
                </a:solidFill>
                <a:latin typeface="Courier New" panose="02070309020205020404" pitchFamily="49" charset="0"/>
                <a:cs typeface="Courier New" panose="02070309020205020404" pitchFamily="49" charset="0"/>
              </a:rPr>
              <a:t>21</a:t>
            </a:r>
            <a:r>
              <a:rPr lang="en-US" altLang="zh-CN" sz="2000" b="1" kern="0" dirty="0">
                <a:solidFill>
                  <a:srgbClr val="0070C0"/>
                </a:solidFill>
                <a:latin typeface="Courier New" panose="02070309020205020404" pitchFamily="49" charset="0"/>
                <a:cs typeface="Courier New" panose="02070309020205020404" pitchFamily="49" charset="0"/>
              </a:rPr>
              <a:t>) *V1 )+ (C</a:t>
            </a:r>
            <a:r>
              <a:rPr lang="en-US" altLang="zh-CN" sz="2000" b="1" kern="0" baseline="-25000" dirty="0">
                <a:solidFill>
                  <a:srgbClr val="0070C0"/>
                </a:solidFill>
                <a:latin typeface="Courier New" panose="02070309020205020404" pitchFamily="49" charset="0"/>
                <a:cs typeface="Courier New" panose="02070309020205020404" pitchFamily="49" charset="0"/>
              </a:rPr>
              <a:t>12</a:t>
            </a:r>
            <a:r>
              <a:rPr lang="en-US" altLang="zh-CN" sz="2000" b="1" kern="0" dirty="0">
                <a:solidFill>
                  <a:srgbClr val="0070C0"/>
                </a:solidFill>
                <a:latin typeface="Courier New" panose="02070309020205020404" pitchFamily="49" charset="0"/>
                <a:cs typeface="Courier New" panose="02070309020205020404" pitchFamily="49" charset="0"/>
              </a:rPr>
              <a:t>*n</a:t>
            </a:r>
            <a:r>
              <a:rPr lang="en-US" altLang="zh-CN" sz="2000" b="1" kern="0" baseline="-25000" dirty="0">
                <a:solidFill>
                  <a:srgbClr val="0070C0"/>
                </a:solidFill>
                <a:latin typeface="Courier New" panose="02070309020205020404" pitchFamily="49" charset="0"/>
                <a:cs typeface="Courier New" panose="02070309020205020404" pitchFamily="49" charset="0"/>
              </a:rPr>
              <a:t>2</a:t>
            </a:r>
            <a:r>
              <a:rPr lang="en-US" altLang="zh-CN" sz="2000" b="1" kern="0" dirty="0">
                <a:solidFill>
                  <a:srgbClr val="0070C0"/>
                </a:solidFill>
                <a:latin typeface="Courier New" panose="02070309020205020404" pitchFamily="49" charset="0"/>
                <a:cs typeface="Courier New" panose="02070309020205020404" pitchFamily="49" charset="0"/>
              </a:rPr>
              <a:t>+C</a:t>
            </a:r>
            <a:r>
              <a:rPr lang="en-US" altLang="zh-CN" sz="2000" b="1" kern="0" baseline="-25000" dirty="0">
                <a:solidFill>
                  <a:srgbClr val="0070C0"/>
                </a:solidFill>
                <a:latin typeface="Courier New" panose="02070309020205020404" pitchFamily="49" charset="0"/>
                <a:cs typeface="Courier New" panose="02070309020205020404" pitchFamily="49" charset="0"/>
              </a:rPr>
              <a:t>22</a:t>
            </a:r>
            <a:r>
              <a:rPr lang="en-US" altLang="zh-CN" sz="2000" b="1" kern="0" dirty="0">
                <a:solidFill>
                  <a:srgbClr val="0070C0"/>
                </a:solidFill>
                <a:latin typeface="Courier New" panose="02070309020205020404" pitchFamily="49" charset="0"/>
                <a:cs typeface="Courier New" panose="02070309020205020404" pitchFamily="49" charset="0"/>
              </a:rPr>
              <a:t>) *V2 =C</a:t>
            </a:r>
            <a:r>
              <a:rPr lang="en-US" altLang="zh-CN" sz="2000" b="1" kern="0" baseline="-25000" dirty="0">
                <a:solidFill>
                  <a:srgbClr val="0070C0"/>
                </a:solidFill>
                <a:latin typeface="Courier New" panose="02070309020205020404" pitchFamily="49" charset="0"/>
                <a:cs typeface="Courier New" panose="02070309020205020404" pitchFamily="49" charset="0"/>
              </a:rPr>
              <a:t>0</a:t>
            </a:r>
            <a:r>
              <a:rPr lang="en-US" altLang="zh-CN" sz="2000" b="1" kern="0" dirty="0">
                <a:solidFill>
                  <a:srgbClr val="0070C0"/>
                </a:solidFill>
                <a:latin typeface="Courier New" panose="02070309020205020404" pitchFamily="49" charset="0"/>
                <a:cs typeface="Courier New" panose="02070309020205020404" pitchFamily="49" charset="0"/>
              </a:rPr>
              <a:t>’+C</a:t>
            </a:r>
            <a:r>
              <a:rPr lang="en-US" altLang="zh-CN" sz="2000" b="1" kern="0" baseline="-25000" dirty="0">
                <a:solidFill>
                  <a:srgbClr val="0070C0"/>
                </a:solidFill>
                <a:latin typeface="Courier New" panose="02070309020205020404" pitchFamily="49" charset="0"/>
                <a:cs typeface="Courier New" panose="02070309020205020404" pitchFamily="49" charset="0"/>
              </a:rPr>
              <a:t>1</a:t>
            </a:r>
            <a:r>
              <a:rPr lang="en-US" altLang="zh-CN" sz="2000" b="1" kern="0" dirty="0">
                <a:solidFill>
                  <a:srgbClr val="0070C0"/>
                </a:solidFill>
                <a:latin typeface="Courier New" panose="02070309020205020404" pitchFamily="49" charset="0"/>
                <a:cs typeface="Courier New" panose="02070309020205020404" pitchFamily="49" charset="0"/>
              </a:rPr>
              <a:t>’*V1+C</a:t>
            </a:r>
            <a:r>
              <a:rPr lang="en-US" altLang="zh-CN" sz="2000" b="1" kern="0" baseline="-25000" dirty="0">
                <a:solidFill>
                  <a:srgbClr val="0070C0"/>
                </a:solidFill>
                <a:latin typeface="Courier New" panose="02070309020205020404" pitchFamily="49" charset="0"/>
                <a:cs typeface="Courier New" panose="02070309020205020404" pitchFamily="49" charset="0"/>
              </a:rPr>
              <a:t>2</a:t>
            </a:r>
            <a:r>
              <a:rPr lang="en-US" altLang="zh-CN" sz="2000" b="1" kern="0" dirty="0">
                <a:solidFill>
                  <a:srgbClr val="0070C0"/>
                </a:solidFill>
                <a:latin typeface="Courier New" panose="02070309020205020404" pitchFamily="49" charset="0"/>
                <a:cs typeface="Courier New" panose="02070309020205020404" pitchFamily="49" charset="0"/>
              </a:rPr>
              <a:t>’*V2.</a:t>
            </a:r>
            <a:endParaRPr lang="en-US" altLang="zh-CN" sz="2000" b="1" kern="0" dirty="0">
              <a:solidFill>
                <a:srgbClr val="0070C0"/>
              </a:solidFill>
              <a:latin typeface="Courier New" panose="02070309020205020404" pitchFamily="49" charset="0"/>
              <a:cs typeface="Courier New" panose="02070309020205020404" pitchFamily="49" charset="0"/>
            </a:endParaRPr>
          </a:p>
          <a:p>
            <a:pPr lvl="1" eaLnBrk="0" fontAlgn="base" hangingPunct="0">
              <a:lnSpc>
                <a:spcPct val="125000"/>
              </a:lnSpc>
              <a:spcBef>
                <a:spcPts val="0"/>
              </a:spcBef>
              <a:spcAft>
                <a:spcPts val="0"/>
              </a:spcAft>
              <a:defRPr/>
            </a:pPr>
            <a:r>
              <a:rPr lang="zh-CN" altLang="en-US" b="1" kern="0" dirty="0">
                <a:latin typeface="+mn-ea"/>
              </a:rPr>
              <a:t>每次内循环</a:t>
            </a:r>
            <a:r>
              <a:rPr lang="en-US" altLang="zh-CN" b="1" kern="0" dirty="0">
                <a:latin typeface="+mn-ea"/>
              </a:rPr>
              <a:t>d</a:t>
            </a:r>
            <a:r>
              <a:rPr lang="zh-CN" altLang="en-US" b="1" kern="0" dirty="0">
                <a:latin typeface="+mn-ea"/>
              </a:rPr>
              <a:t>的值增加</a:t>
            </a:r>
            <a:r>
              <a:rPr lang="en-US" altLang="zh-CN" b="1" kern="0" dirty="0">
                <a:latin typeface="+mn-ea"/>
              </a:rPr>
              <a:t>C2’</a:t>
            </a:r>
            <a:r>
              <a:rPr lang="zh-CN" altLang="en-US" b="1" kern="0" dirty="0">
                <a:latin typeface="+mn-ea"/>
              </a:rPr>
              <a:t>；每次外循环</a:t>
            </a:r>
            <a:r>
              <a:rPr lang="en-US" altLang="zh-CN" b="1" kern="0" dirty="0">
                <a:latin typeface="+mn-ea"/>
              </a:rPr>
              <a:t>d</a:t>
            </a:r>
            <a:r>
              <a:rPr lang="zh-CN" altLang="en-US" b="1" kern="0" dirty="0">
                <a:latin typeface="+mn-ea"/>
              </a:rPr>
              <a:t>的值增加</a:t>
            </a:r>
            <a:r>
              <a:rPr lang="en-US" altLang="zh-CN" b="1" kern="0" dirty="0">
                <a:latin typeface="+mn-ea"/>
              </a:rPr>
              <a:t>C1’</a:t>
            </a:r>
            <a:r>
              <a:rPr lang="zh-CN" altLang="en-US" b="1" kern="0" dirty="0">
                <a:latin typeface="+mn-ea"/>
              </a:rPr>
              <a:t>（但是</a:t>
            </a:r>
            <a:r>
              <a:rPr lang="en-US" altLang="zh-CN" b="1" kern="0" dirty="0">
                <a:latin typeface="+mn-ea"/>
              </a:rPr>
              <a:t>V2</a:t>
            </a:r>
            <a:r>
              <a:rPr lang="zh-CN" altLang="en-US" b="1" kern="0" dirty="0">
                <a:latin typeface="+mn-ea"/>
              </a:rPr>
              <a:t>被重置）。</a:t>
            </a:r>
            <a:endParaRPr lang="en-US" altLang="zh-CN" b="1" kern="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Horizontal)">
                                      <p:cBhvr>
                                        <p:cTn id="7" dur="500"/>
                                        <p:tgtEl>
                                          <p:spTgt spid="5">
                                            <p:txEl>
                                              <p:pRg st="1" end="1"/>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arn(inHorizontal)">
                                      <p:cBhvr>
                                        <p:cTn id="10" dur="500"/>
                                        <p:tgtEl>
                                          <p:spTgt spid="5">
                                            <p:txEl>
                                              <p:pRg st="2" end="2"/>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barn(inHorizontal)">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barn(inHorizontal)">
                                      <p:cBhvr>
                                        <p:cTn id="18" dur="500"/>
                                        <p:tgtEl>
                                          <p:spTgt spid="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barn(inHorizontal)">
                                      <p:cBhvr>
                                        <p:cTn id="23" dur="500"/>
                                        <p:tgtEl>
                                          <p:spTgt spid="5">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6" fill="hold" grpId="0"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barn(inHorizontal)">
                                      <p:cBhvr>
                                        <p:cTn id="28" dur="500"/>
                                        <p:tgtEl>
                                          <p:spTgt spid="5">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6" fill="hold" grpId="0"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barn(inHorizontal)">
                                      <p:cBhvr>
                                        <p:cTn id="33"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63855" y="276860"/>
            <a:ext cx="7937500" cy="593090"/>
          </a:xfrm>
        </p:spPr>
        <p:txBody>
          <a:bodyPr/>
          <a:lstStyle/>
          <a:p>
            <a:r>
              <a:rPr lang="en-US" altLang="zh-CN" dirty="0"/>
              <a:t>8.2.4.1 </a:t>
            </a:r>
            <a:r>
              <a:rPr dirty="0"/>
              <a:t>循环优化</a:t>
            </a:r>
            <a:r>
              <a:rPr lang="en-US" altLang="zh-CN" dirty="0"/>
              <a:t>—</a:t>
            </a:r>
            <a:r>
              <a:rPr lang="zh-CN" altLang="en-US" dirty="0"/>
              <a:t>流图</a:t>
            </a:r>
            <a:endParaRPr lang="zh-CN" altLang="en-US" dirty="0"/>
          </a:p>
        </p:txBody>
      </p:sp>
      <p:sp>
        <p:nvSpPr>
          <p:cNvPr id="7" name="Rectangle 3"/>
          <p:cNvSpPr txBox="1"/>
          <p:nvPr/>
        </p:nvSpPr>
        <p:spPr>
          <a:xfrm>
            <a:off x="343535" y="1188085"/>
            <a:ext cx="5599430" cy="4248150"/>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solidFill>
                  <a:srgbClr val="0070C0"/>
                </a:solidFill>
                <a:latin typeface="+mn-ea"/>
              </a:rPr>
              <a:t>流图</a:t>
            </a:r>
            <a:r>
              <a:rPr lang="zh-CN" altLang="en-US" sz="2400" b="1" dirty="0">
                <a:latin typeface="+mn-ea"/>
              </a:rPr>
              <a:t>：把控制流信息加到基本块集合所形成的有向图称为流图。</a:t>
            </a:r>
            <a:endParaRPr lang="en-US" altLang="zh-CN" sz="2400"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rPr>
              <a:t>即将一个程序的中间表示中所有的基本块作为</a:t>
            </a:r>
            <a:r>
              <a:rPr lang="zh-CN" altLang="en-US" b="1" dirty="0">
                <a:solidFill>
                  <a:srgbClr val="0070C0"/>
                </a:solidFill>
                <a:latin typeface="+mn-ea"/>
              </a:rPr>
              <a:t>流图的节点集合 </a:t>
            </a:r>
            <a:r>
              <a:rPr lang="zh-CN" altLang="en-US" b="1" dirty="0">
                <a:latin typeface="+mn-ea"/>
              </a:rPr>
              <a:t>，节点之间的有向边代表控制流。</a:t>
            </a:r>
            <a:endParaRPr lang="zh-CN" altLang="en-US"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rPr>
              <a:t>有</a:t>
            </a:r>
            <a:r>
              <a:rPr lang="zh-CN" altLang="en-US" b="1" dirty="0">
                <a:solidFill>
                  <a:srgbClr val="0070C0"/>
                </a:solidFill>
                <a:latin typeface="+mn-ea"/>
              </a:rPr>
              <a:t>边从节点</a:t>
            </a:r>
            <a:r>
              <a:rPr lang="en-US" altLang="zh-CN" b="1" dirty="0">
                <a:solidFill>
                  <a:srgbClr val="0070C0"/>
                </a:solidFill>
                <a:latin typeface="+mn-ea"/>
              </a:rPr>
              <a:t>n</a:t>
            </a:r>
            <a:r>
              <a:rPr lang="zh-CN" altLang="en-US" b="1" dirty="0">
                <a:solidFill>
                  <a:srgbClr val="0070C0"/>
                </a:solidFill>
                <a:latin typeface="+mn-ea"/>
              </a:rPr>
              <a:t>到节点</a:t>
            </a:r>
            <a:r>
              <a:rPr lang="en-US" altLang="zh-CN" b="1" dirty="0">
                <a:solidFill>
                  <a:srgbClr val="0070C0"/>
                </a:solidFill>
                <a:latin typeface="+mn-ea"/>
              </a:rPr>
              <a:t>n’</a:t>
            </a:r>
            <a:r>
              <a:rPr lang="zh-CN" altLang="en-US" b="1" dirty="0">
                <a:latin typeface="+mn-ea"/>
              </a:rPr>
              <a:t>当且仅当控制流可能从</a:t>
            </a:r>
            <a:r>
              <a:rPr lang="en-US" altLang="zh-CN" b="1" dirty="0">
                <a:latin typeface="+mn-ea"/>
              </a:rPr>
              <a:t>n</a:t>
            </a:r>
            <a:r>
              <a:rPr lang="zh-CN" altLang="en-US" b="1" dirty="0">
                <a:latin typeface="+mn-ea"/>
              </a:rPr>
              <a:t>的最后的一个三地址码到达</a:t>
            </a:r>
            <a:r>
              <a:rPr lang="en-US" altLang="zh-CN" b="1" dirty="0">
                <a:latin typeface="+mn-ea"/>
              </a:rPr>
              <a:t>n’</a:t>
            </a:r>
            <a:r>
              <a:rPr lang="zh-CN" altLang="en-US" b="1" dirty="0">
                <a:latin typeface="+mn-ea"/>
              </a:rPr>
              <a:t>的第一个三地址</a:t>
            </a:r>
            <a:r>
              <a:rPr lang="zh-CN" altLang="en-US" b="1" dirty="0">
                <a:latin typeface="+mn-ea"/>
              </a:rPr>
              <a:t>码。</a:t>
            </a:r>
            <a:endParaRPr lang="zh-CN" altLang="en-US" b="1" dirty="0">
              <a:latin typeface="+mn-ea"/>
            </a:endParaRPr>
          </a:p>
          <a:p>
            <a:pPr>
              <a:lnSpc>
                <a:spcPct val="125000"/>
              </a:lnSpc>
              <a:spcBef>
                <a:spcPct val="0"/>
              </a:spcBef>
              <a:spcAft>
                <a:spcPts val="0"/>
              </a:spcAft>
              <a:buFont typeface="Wingdings" panose="05000000000000000000" charset="0"/>
              <a:buChar char="p"/>
            </a:pPr>
            <a:r>
              <a:rPr lang="zh-CN" altLang="en-US" sz="2400" b="1" dirty="0">
                <a:latin typeface="+mn-ea"/>
              </a:rPr>
              <a:t>首节点：一个基本块，当其第一个三地址码是程序的第一个三地址</a:t>
            </a:r>
            <a:r>
              <a:rPr lang="zh-CN" altLang="en-US" sz="2400" b="1" dirty="0">
                <a:latin typeface="+mn-ea"/>
              </a:rPr>
              <a:t>码时，该节点所对应的节点成为流图的</a:t>
            </a:r>
            <a:r>
              <a:rPr lang="zh-CN" altLang="en-US" sz="2400" b="1" dirty="0">
                <a:solidFill>
                  <a:srgbClr val="0070C0"/>
                </a:solidFill>
                <a:latin typeface="+mn-ea"/>
              </a:rPr>
              <a:t>首节点</a:t>
            </a:r>
            <a:r>
              <a:rPr lang="zh-CN" altLang="en-US" sz="2400" b="1" dirty="0">
                <a:latin typeface="+mn-ea"/>
              </a:rPr>
              <a:t>。</a:t>
            </a:r>
            <a:endParaRPr lang="zh-CN" altLang="en-US" sz="2400" b="1" dirty="0">
              <a:latin typeface="+mn-ea"/>
            </a:endParaRPr>
          </a:p>
        </p:txBody>
      </p:sp>
      <p:sp>
        <p:nvSpPr>
          <p:cNvPr id="2" name="Text Box 37"/>
          <p:cNvSpPr txBox="1">
            <a:spLocks noChangeArrowheads="1"/>
          </p:cNvSpPr>
          <p:nvPr>
            <p:custDataLst>
              <p:tags r:id="rId1"/>
            </p:custDataLst>
          </p:nvPr>
        </p:nvSpPr>
        <p:spPr bwMode="auto">
          <a:xfrm>
            <a:off x="8907743" y="1299527"/>
            <a:ext cx="2057400" cy="783590"/>
          </a:xfrm>
          <a:prstGeom prst="rect">
            <a:avLst/>
          </a:prstGeom>
          <a:noFill/>
          <a:ln w="9525">
            <a:solidFill>
              <a:schemeClr val="tx1"/>
            </a:solidFill>
            <a:miter lim="800000"/>
          </a:ln>
          <a:effectLst/>
        </p:spPr>
        <p:txBody>
          <a:bodyPr>
            <a:spAutoFit/>
          </a:bodyPr>
          <a:p>
            <a:pPr marR="0" defTabSz="914400" eaLnBrk="1" hangingPunct="1">
              <a:spcBef>
                <a:spcPct val="50000"/>
              </a:spcBef>
              <a:buClrTx/>
              <a:buSzTx/>
              <a:buFontTx/>
              <a:buNone/>
              <a:defRPr/>
            </a:pPr>
            <a:r>
              <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I=1</a:t>
            </a:r>
            <a:endPar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a:p>
            <a:pPr marR="0" defTabSz="914400" eaLnBrk="1" hangingPunct="1">
              <a:spcBef>
                <a:spcPct val="50000"/>
              </a:spcBef>
              <a:buClrTx/>
              <a:buSzTx/>
              <a:buFontTx/>
              <a:buNone/>
              <a:defRPr/>
            </a:pPr>
            <a:r>
              <a:rPr kumimoji="1" lang="en-US" altLang="zh-CN" kern="1200" cap="none" spc="0" normalizeH="0" baseline="0" noProof="0" dirty="0" err="1">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Goto</a:t>
            </a:r>
            <a:r>
              <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 B3</a:t>
            </a:r>
            <a:endPar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sp>
        <p:nvSpPr>
          <p:cNvPr id="8" name="Text Box 38"/>
          <p:cNvSpPr txBox="1">
            <a:spLocks noChangeArrowheads="1"/>
          </p:cNvSpPr>
          <p:nvPr>
            <p:custDataLst>
              <p:tags r:id="rId2"/>
            </p:custDataLst>
          </p:nvPr>
        </p:nvSpPr>
        <p:spPr bwMode="auto">
          <a:xfrm>
            <a:off x="8988705" y="2232977"/>
            <a:ext cx="2057400" cy="368300"/>
          </a:xfrm>
          <a:prstGeom prst="rect">
            <a:avLst/>
          </a:prstGeom>
          <a:noFill/>
          <a:ln w="9525">
            <a:solidFill>
              <a:schemeClr val="tx1"/>
            </a:solidFill>
            <a:miter lim="800000"/>
          </a:ln>
          <a:effectLst/>
        </p:spPr>
        <p:txBody>
          <a:bodyPr>
            <a:spAutoFit/>
          </a:bodyPr>
          <a:p>
            <a:pPr marR="0" defTabSz="914400" eaLnBrk="1" hangingPunct="1">
              <a:spcBef>
                <a:spcPct val="50000"/>
              </a:spcBef>
              <a:buClrTx/>
              <a:buSzTx/>
              <a:buFontTx/>
              <a:buNone/>
              <a:defRPr/>
            </a:pPr>
            <a:r>
              <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I=I+1</a:t>
            </a:r>
            <a:endPar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sp>
        <p:nvSpPr>
          <p:cNvPr id="9" name="Text Box 39"/>
          <p:cNvSpPr txBox="1">
            <a:spLocks noChangeArrowheads="1"/>
          </p:cNvSpPr>
          <p:nvPr>
            <p:custDataLst>
              <p:tags r:id="rId3"/>
            </p:custDataLst>
          </p:nvPr>
        </p:nvSpPr>
        <p:spPr bwMode="auto">
          <a:xfrm>
            <a:off x="8774710" y="2846704"/>
            <a:ext cx="2514600" cy="645160"/>
          </a:xfrm>
          <a:prstGeom prst="rect">
            <a:avLst/>
          </a:prstGeom>
          <a:noFill/>
          <a:ln w="9525">
            <a:solidFill>
              <a:schemeClr val="tx1"/>
            </a:solidFill>
            <a:miter lim="800000"/>
          </a:ln>
          <a:effectLst/>
        </p:spPr>
        <p:txBody>
          <a:bodyPr>
            <a:spAutoFit/>
          </a:bodyPr>
          <a:p>
            <a:pPr marR="0" defTabSz="914400" eaLnBrk="1" hangingPunct="1">
              <a:spcBef>
                <a:spcPct val="50000"/>
              </a:spcBef>
              <a:buClrTx/>
              <a:buSzTx/>
              <a:buFontTx/>
              <a:buNone/>
              <a:defRPr/>
            </a:pPr>
            <a:r>
              <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If_false </a:t>
            </a:r>
            <a:r>
              <a:rPr kumimoji="1" lang="zh-CN" altLang="en-US"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a:t>
            </a:r>
            <a:r>
              <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I &gt; N</a:t>
            </a:r>
            <a:r>
              <a:rPr kumimoji="1" lang="zh-CN" altLang="en-US"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a:t>
            </a:r>
            <a:r>
              <a:rPr kumimoji="1" lang="zh-CN" altLang="en-US" kern="1200" cap="none" spc="0" normalizeH="0" baseline="0" noProof="0">
                <a:solidFill>
                  <a:srgbClr val="0070C0"/>
                </a:solidFill>
                <a:latin typeface="Verdana" panose="020B0604030504040204" pitchFamily="34" charset="0"/>
                <a:ea typeface="宋体" panose="02010600030101010101" pitchFamily="2" charset="-122"/>
                <a:cs typeface="+mn-cs"/>
              </a:rPr>
              <a:t> </a:t>
            </a:r>
            <a:r>
              <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B5</a:t>
            </a:r>
            <a:endPar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sp>
        <p:nvSpPr>
          <p:cNvPr id="10" name="Text Box 40"/>
          <p:cNvSpPr txBox="1">
            <a:spLocks noChangeArrowheads="1"/>
          </p:cNvSpPr>
          <p:nvPr>
            <p:custDataLst>
              <p:tags r:id="rId4"/>
            </p:custDataLst>
          </p:nvPr>
        </p:nvSpPr>
        <p:spPr bwMode="auto">
          <a:xfrm>
            <a:off x="8983943" y="3737927"/>
            <a:ext cx="2286000" cy="368300"/>
          </a:xfrm>
          <a:prstGeom prst="rect">
            <a:avLst/>
          </a:prstGeom>
          <a:noFill/>
          <a:ln w="9525">
            <a:solidFill>
              <a:schemeClr val="tx1"/>
            </a:solidFill>
            <a:miter lim="800000"/>
          </a:ln>
          <a:effectLst/>
        </p:spPr>
        <p:txBody>
          <a:bodyPr>
            <a:spAutoFit/>
          </a:bodyPr>
          <a:p>
            <a:pPr marR="0" defTabSz="914400" eaLnBrk="1" hangingPunct="1">
              <a:spcBef>
                <a:spcPct val="50000"/>
              </a:spcBef>
              <a:buClrTx/>
              <a:buSzTx/>
              <a:buFontTx/>
              <a:buNone/>
              <a:defRPr/>
            </a:pPr>
            <a:r>
              <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Got0 B6</a:t>
            </a:r>
            <a:endPar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sp>
        <p:nvSpPr>
          <p:cNvPr id="11" name="Text Box 41"/>
          <p:cNvSpPr txBox="1">
            <a:spLocks noChangeArrowheads="1"/>
          </p:cNvSpPr>
          <p:nvPr>
            <p:custDataLst>
              <p:tags r:id="rId5"/>
            </p:custDataLst>
          </p:nvPr>
        </p:nvSpPr>
        <p:spPr bwMode="auto">
          <a:xfrm>
            <a:off x="8774393" y="4733289"/>
            <a:ext cx="2286000" cy="1198880"/>
          </a:xfrm>
          <a:prstGeom prst="rect">
            <a:avLst/>
          </a:prstGeom>
          <a:noFill/>
          <a:ln w="9525">
            <a:solidFill>
              <a:schemeClr val="tx1"/>
            </a:solidFill>
            <a:miter lim="800000"/>
          </a:ln>
          <a:effectLst/>
        </p:spPr>
        <p:txBody>
          <a:bodyPr>
            <a:spAutoFit/>
          </a:bodyPr>
          <a:p>
            <a:pPr marR="0" defTabSz="914400" eaLnBrk="1" hangingPunct="1">
              <a:spcBef>
                <a:spcPct val="50000"/>
              </a:spcBef>
              <a:buClrTx/>
              <a:buSzTx/>
              <a:buFontTx/>
              <a:buNone/>
              <a:defRPr/>
            </a:pPr>
            <a:r>
              <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T=M+I</a:t>
            </a:r>
            <a:endPar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a:p>
            <a:pPr marR="0" defTabSz="914400" eaLnBrk="1" hangingPunct="1">
              <a:spcBef>
                <a:spcPct val="50000"/>
              </a:spcBef>
              <a:buClrTx/>
              <a:buSzTx/>
              <a:buFontTx/>
              <a:buNone/>
              <a:defRPr/>
            </a:pPr>
            <a:r>
              <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M=T</a:t>
            </a:r>
            <a:endPar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a:p>
            <a:pPr marR="0" defTabSz="914400" eaLnBrk="1" hangingPunct="1">
              <a:spcBef>
                <a:spcPct val="50000"/>
              </a:spcBef>
              <a:buClrTx/>
              <a:buSzTx/>
              <a:buFontTx/>
              <a:buNone/>
              <a:defRPr/>
            </a:pPr>
            <a:r>
              <a:rPr kumimoji="1" lang="en-US" altLang="zh-CN" kern="1200" cap="none" spc="0" normalizeH="0" baseline="0" noProof="0" dirty="0" err="1">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Goto</a:t>
            </a:r>
            <a:r>
              <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 B3</a:t>
            </a:r>
            <a:endParaRPr kumimoji="1" lang="en-US" altLang="zh-CN" kern="1200" cap="none" spc="0" normalizeH="0" baseline="0" noProof="0" dirty="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sp>
        <p:nvSpPr>
          <p:cNvPr id="13" name="Text Box 42"/>
          <p:cNvSpPr txBox="1">
            <a:spLocks noChangeArrowheads="1"/>
          </p:cNvSpPr>
          <p:nvPr>
            <p:custDataLst>
              <p:tags r:id="rId6"/>
            </p:custDataLst>
          </p:nvPr>
        </p:nvSpPr>
        <p:spPr bwMode="auto">
          <a:xfrm>
            <a:off x="8774393" y="6100127"/>
            <a:ext cx="2286000" cy="368300"/>
          </a:xfrm>
          <a:prstGeom prst="rect">
            <a:avLst/>
          </a:prstGeom>
          <a:noFill/>
          <a:ln w="9525">
            <a:solidFill>
              <a:schemeClr val="tx1"/>
            </a:solidFill>
            <a:miter lim="800000"/>
          </a:ln>
          <a:effectLst/>
        </p:spPr>
        <p:txBody>
          <a:bodyPr>
            <a:spAutoFit/>
          </a:bodyPr>
          <a:p>
            <a:pPr marR="0" defTabSz="914400" eaLnBrk="1" hangingPunct="1">
              <a:spcBef>
                <a:spcPct val="50000"/>
              </a:spcBef>
              <a:buClrTx/>
              <a:buSzTx/>
              <a:buFontTx/>
              <a:buNone/>
              <a:defRPr/>
            </a:pPr>
            <a:r>
              <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108 </a:t>
            </a:r>
            <a:r>
              <a:rPr kumimoji="1" lang="en-US" altLang="zh-CN" kern="1200" cap="none" spc="0" normalizeH="0" baseline="0" noProof="0">
                <a:solidFill>
                  <a:srgbClr val="0070C0"/>
                </a:solidFill>
                <a:effectLst>
                  <a:outerShdw blurRad="38100" dist="38100" dir="2700000" algn="tl">
                    <a:srgbClr val="C0C0C0"/>
                  </a:outerShdw>
                </a:effectLst>
                <a:latin typeface="Times New Roman" panose="02020603050405020304"/>
                <a:ea typeface="宋体" panose="02010600030101010101" pitchFamily="2" charset="-122"/>
                <a:cs typeface="+mn-cs"/>
              </a:rPr>
              <a:t>…</a:t>
            </a:r>
            <a:r>
              <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 </a:t>
            </a:r>
            <a:r>
              <a:rPr kumimoji="1" lang="en-US" altLang="zh-CN" kern="1200" cap="none" spc="0" normalizeH="0" baseline="0" noProof="0">
                <a:solidFill>
                  <a:srgbClr val="0070C0"/>
                </a:solidFill>
                <a:effectLst>
                  <a:outerShdw blurRad="38100" dist="38100" dir="2700000" algn="tl">
                    <a:srgbClr val="C0C0C0"/>
                  </a:outerShdw>
                </a:effectLst>
                <a:latin typeface="Times New Roman" panose="02020603050405020304"/>
                <a:ea typeface="宋体" panose="02010600030101010101" pitchFamily="2" charset="-122"/>
                <a:cs typeface="+mn-cs"/>
              </a:rPr>
              <a:t>…</a:t>
            </a:r>
            <a:r>
              <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rPr>
              <a:t> </a:t>
            </a:r>
            <a:r>
              <a:rPr kumimoji="1" lang="en-US" altLang="zh-CN" kern="1200" cap="none" spc="0" normalizeH="0" baseline="0" noProof="0">
                <a:solidFill>
                  <a:srgbClr val="0070C0"/>
                </a:solidFill>
                <a:effectLst>
                  <a:outerShdw blurRad="38100" dist="38100" dir="2700000" algn="tl">
                    <a:srgbClr val="C0C0C0"/>
                  </a:outerShdw>
                </a:effectLst>
                <a:latin typeface="Times New Roman" panose="02020603050405020304"/>
                <a:ea typeface="宋体" panose="02010600030101010101" pitchFamily="2" charset="-122"/>
                <a:cs typeface="+mn-cs"/>
              </a:rPr>
              <a:t>…</a:t>
            </a:r>
            <a:endParaRPr kumimoji="1" lang="en-US" altLang="zh-CN" kern="1200" cap="none" spc="0" normalizeH="0" baseline="0" noProof="0">
              <a:solidFill>
                <a:srgbClr val="0070C0"/>
              </a:solidFill>
              <a:effectLst>
                <a:outerShdw blurRad="38100" dist="38100" dir="2700000" algn="tl">
                  <a:srgbClr val="C0C0C0"/>
                </a:outerShdw>
              </a:effectLst>
              <a:latin typeface="Verdana" panose="020B0604030504040204" pitchFamily="34" charset="0"/>
              <a:ea typeface="宋体" panose="02010600030101010101" pitchFamily="2" charset="-122"/>
              <a:cs typeface="+mn-cs"/>
            </a:endParaRPr>
          </a:p>
        </p:txBody>
      </p:sp>
      <p:cxnSp>
        <p:nvCxnSpPr>
          <p:cNvPr id="14" name="AutoShape 43"/>
          <p:cNvCxnSpPr>
            <a:stCxn id="2" idx="3"/>
            <a:endCxn id="9" idx="3"/>
          </p:cNvCxnSpPr>
          <p:nvPr>
            <p:custDataLst>
              <p:tags r:id="rId7"/>
            </p:custDataLst>
          </p:nvPr>
        </p:nvCxnSpPr>
        <p:spPr>
          <a:xfrm>
            <a:off x="10965180" y="1691005"/>
            <a:ext cx="323850" cy="1478280"/>
          </a:xfrm>
          <a:prstGeom prst="bentConnector3">
            <a:avLst>
              <a:gd name="adj1" fmla="val 173529"/>
            </a:avLst>
          </a:prstGeom>
          <a:ln w="28575" cap="flat" cmpd="sng">
            <a:solidFill>
              <a:schemeClr val="tx1"/>
            </a:solidFill>
            <a:prstDash val="solid"/>
            <a:miter/>
            <a:headEnd type="none" w="med" len="med"/>
            <a:tailEnd type="triangle" w="med" len="med"/>
          </a:ln>
        </p:spPr>
      </p:cxnSp>
      <p:sp>
        <p:nvSpPr>
          <p:cNvPr id="15" name="Line 45"/>
          <p:cNvSpPr/>
          <p:nvPr>
            <p:custDataLst>
              <p:tags r:id="rId8"/>
            </p:custDataLst>
          </p:nvPr>
        </p:nvSpPr>
        <p:spPr>
          <a:xfrm>
            <a:off x="9898343" y="1070927"/>
            <a:ext cx="0" cy="228600"/>
          </a:xfrm>
          <a:prstGeom prst="line">
            <a:avLst/>
          </a:prstGeom>
          <a:ln w="28575" cap="flat" cmpd="sng">
            <a:solidFill>
              <a:schemeClr val="tx1"/>
            </a:solidFill>
            <a:prstDash val="solid"/>
            <a:miter/>
            <a:headEnd type="none" w="med" len="med"/>
            <a:tailEnd type="triangle" w="med" len="med"/>
          </a:ln>
        </p:spPr>
      </p:sp>
      <p:cxnSp>
        <p:nvCxnSpPr>
          <p:cNvPr id="16" name="AutoShape 46"/>
          <p:cNvCxnSpPr>
            <a:stCxn id="10" idx="3"/>
          </p:cNvCxnSpPr>
          <p:nvPr>
            <p:custDataLst>
              <p:tags r:id="rId9"/>
            </p:custDataLst>
          </p:nvPr>
        </p:nvCxnSpPr>
        <p:spPr>
          <a:xfrm flipH="1">
            <a:off x="9952990" y="3921760"/>
            <a:ext cx="1316990" cy="2238375"/>
          </a:xfrm>
          <a:prstGeom prst="bentConnector4">
            <a:avLst>
              <a:gd name="adj1" fmla="val -18081"/>
              <a:gd name="adj2" fmla="val 94099"/>
            </a:avLst>
          </a:prstGeom>
          <a:ln w="28575" cap="flat" cmpd="sng">
            <a:solidFill>
              <a:schemeClr val="tx1"/>
            </a:solidFill>
            <a:prstDash val="solid"/>
            <a:miter/>
            <a:headEnd type="none" w="med" len="med"/>
            <a:tailEnd type="triangle" w="med" len="med"/>
          </a:ln>
        </p:spPr>
      </p:cxnSp>
      <p:cxnSp>
        <p:nvCxnSpPr>
          <p:cNvPr id="17" name="AutoShape 47"/>
          <p:cNvCxnSpPr>
            <a:stCxn id="9" idx="1"/>
          </p:cNvCxnSpPr>
          <p:nvPr>
            <p:custDataLst>
              <p:tags r:id="rId10"/>
            </p:custDataLst>
          </p:nvPr>
        </p:nvCxnSpPr>
        <p:spPr>
          <a:xfrm rot="10800000" flipH="1" flipV="1">
            <a:off x="8774710" y="3169602"/>
            <a:ext cx="801688" cy="1538287"/>
          </a:xfrm>
          <a:prstGeom prst="bentConnector4">
            <a:avLst>
              <a:gd name="adj1" fmla="val -28509"/>
              <a:gd name="adj2" fmla="val 78505"/>
            </a:avLst>
          </a:prstGeom>
          <a:ln w="28575" cap="flat" cmpd="sng">
            <a:solidFill>
              <a:schemeClr val="tx1"/>
            </a:solidFill>
            <a:prstDash val="solid"/>
            <a:miter/>
            <a:headEnd type="none" w="med" len="med"/>
            <a:tailEnd type="triangle" w="med" len="med"/>
          </a:ln>
        </p:spPr>
      </p:cxnSp>
      <p:cxnSp>
        <p:nvCxnSpPr>
          <p:cNvPr id="18" name="AutoShape 49"/>
          <p:cNvCxnSpPr>
            <a:stCxn id="8" idx="2"/>
            <a:endCxn id="9" idx="0"/>
          </p:cNvCxnSpPr>
          <p:nvPr>
            <p:custDataLst>
              <p:tags r:id="rId11"/>
            </p:custDataLst>
          </p:nvPr>
        </p:nvCxnSpPr>
        <p:spPr>
          <a:xfrm>
            <a:off x="10017405" y="2600959"/>
            <a:ext cx="14605" cy="245745"/>
          </a:xfrm>
          <a:prstGeom prst="straightConnector1">
            <a:avLst/>
          </a:prstGeom>
          <a:ln w="28575" cap="flat" cmpd="sng">
            <a:solidFill>
              <a:schemeClr val="tx1"/>
            </a:solidFill>
            <a:prstDash val="solid"/>
            <a:miter/>
            <a:headEnd type="none" w="med" len="med"/>
            <a:tailEnd type="triangle" w="med" len="med"/>
          </a:ln>
        </p:spPr>
      </p:cxnSp>
      <p:sp>
        <p:nvSpPr>
          <p:cNvPr id="19" name="AutoShape 50"/>
          <p:cNvSpPr>
            <a:spLocks noChangeArrowheads="1"/>
          </p:cNvSpPr>
          <p:nvPr>
            <p:custDataLst>
              <p:tags r:id="rId12"/>
            </p:custDataLst>
          </p:nvPr>
        </p:nvSpPr>
        <p:spPr bwMode="auto">
          <a:xfrm>
            <a:off x="7917143" y="1147127"/>
            <a:ext cx="685800" cy="457200"/>
          </a:xfrm>
          <a:prstGeom prst="wedgeEllipseCallout">
            <a:avLst>
              <a:gd name="adj1" fmla="val 97657"/>
              <a:gd name="adj2" fmla="val 50694"/>
            </a:avLst>
          </a:prstGeom>
          <a:solidFill>
            <a:schemeClr val="accent1"/>
          </a:solidFill>
          <a:ln w="9525">
            <a:solidFill>
              <a:schemeClr val="tx1"/>
            </a:solidFill>
            <a:miter lim="800000"/>
          </a:ln>
          <a:effectLst/>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B</a:t>
            </a:r>
            <a:r>
              <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1</a:t>
            </a:r>
            <a:endPar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0" name="AutoShape 51"/>
          <p:cNvSpPr>
            <a:spLocks noChangeArrowheads="1"/>
          </p:cNvSpPr>
          <p:nvPr>
            <p:custDataLst>
              <p:tags r:id="rId13"/>
            </p:custDataLst>
          </p:nvPr>
        </p:nvSpPr>
        <p:spPr bwMode="auto">
          <a:xfrm>
            <a:off x="8069543" y="1985327"/>
            <a:ext cx="704850" cy="457200"/>
          </a:xfrm>
          <a:prstGeom prst="wedgeEllipseCallout">
            <a:avLst>
              <a:gd name="adj1" fmla="val 97657"/>
              <a:gd name="adj2" fmla="val 50694"/>
            </a:avLst>
          </a:prstGeom>
          <a:solidFill>
            <a:schemeClr val="accent1"/>
          </a:solidFill>
          <a:ln w="9525">
            <a:solidFill>
              <a:schemeClr val="tx1"/>
            </a:solidFill>
            <a:miter lim="800000"/>
          </a:ln>
          <a:effectLst/>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B</a:t>
            </a:r>
            <a:r>
              <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2</a:t>
            </a:r>
            <a:endPar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1" name="AutoShape 52"/>
          <p:cNvSpPr>
            <a:spLocks noChangeArrowheads="1"/>
          </p:cNvSpPr>
          <p:nvPr>
            <p:custDataLst>
              <p:tags r:id="rId14"/>
            </p:custDataLst>
          </p:nvPr>
        </p:nvSpPr>
        <p:spPr bwMode="auto">
          <a:xfrm>
            <a:off x="7345643" y="2823527"/>
            <a:ext cx="723900" cy="457200"/>
          </a:xfrm>
          <a:prstGeom prst="wedgeEllipseCallout">
            <a:avLst>
              <a:gd name="adj1" fmla="val 156773"/>
              <a:gd name="adj2" fmla="val 11111"/>
            </a:avLst>
          </a:prstGeom>
          <a:solidFill>
            <a:schemeClr val="accent1"/>
          </a:solidFill>
          <a:ln w="9525">
            <a:solidFill>
              <a:schemeClr val="tx1"/>
            </a:solidFill>
            <a:miter lim="800000"/>
          </a:ln>
          <a:effectLst/>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B</a:t>
            </a:r>
            <a:r>
              <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3</a:t>
            </a:r>
            <a:endPar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2" name="AutoShape 53"/>
          <p:cNvSpPr>
            <a:spLocks noChangeArrowheads="1"/>
          </p:cNvSpPr>
          <p:nvPr>
            <p:custDataLst>
              <p:tags r:id="rId15"/>
            </p:custDataLst>
          </p:nvPr>
        </p:nvSpPr>
        <p:spPr bwMode="auto">
          <a:xfrm>
            <a:off x="7417080" y="3814127"/>
            <a:ext cx="728663" cy="457200"/>
          </a:xfrm>
          <a:prstGeom prst="wedgeEllipseCallout">
            <a:avLst>
              <a:gd name="adj1" fmla="val 185676"/>
              <a:gd name="adj2" fmla="val -25000"/>
            </a:avLst>
          </a:prstGeom>
          <a:solidFill>
            <a:schemeClr val="accent1"/>
          </a:solidFill>
          <a:ln w="9525">
            <a:solidFill>
              <a:schemeClr val="tx1"/>
            </a:solidFill>
            <a:miter lim="800000"/>
          </a:ln>
          <a:effectLst/>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B</a:t>
            </a:r>
            <a:r>
              <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4</a:t>
            </a:r>
            <a:endPar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3" name="AutoShape 54"/>
          <p:cNvSpPr>
            <a:spLocks noChangeArrowheads="1"/>
          </p:cNvSpPr>
          <p:nvPr>
            <p:custDataLst>
              <p:tags r:id="rId16"/>
            </p:custDataLst>
          </p:nvPr>
        </p:nvSpPr>
        <p:spPr bwMode="auto">
          <a:xfrm>
            <a:off x="7488518" y="4804727"/>
            <a:ext cx="733425" cy="457200"/>
          </a:xfrm>
          <a:prstGeom prst="wedgeEllipseCallout">
            <a:avLst>
              <a:gd name="adj1" fmla="val 127083"/>
              <a:gd name="adj2" fmla="val 3125"/>
            </a:avLst>
          </a:prstGeom>
          <a:solidFill>
            <a:schemeClr val="accent1"/>
          </a:solidFill>
          <a:ln w="9525">
            <a:solidFill>
              <a:schemeClr val="tx1"/>
            </a:solidFill>
            <a:miter lim="800000"/>
          </a:ln>
          <a:effectLst/>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B</a:t>
            </a:r>
            <a:r>
              <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5</a:t>
            </a:r>
            <a:endPar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24" name="AutoShape 55"/>
          <p:cNvSpPr>
            <a:spLocks noChangeArrowheads="1"/>
          </p:cNvSpPr>
          <p:nvPr>
            <p:custDataLst>
              <p:tags r:id="rId17"/>
            </p:custDataLst>
          </p:nvPr>
        </p:nvSpPr>
        <p:spPr bwMode="auto">
          <a:xfrm>
            <a:off x="7559955" y="6100127"/>
            <a:ext cx="738188" cy="457200"/>
          </a:xfrm>
          <a:prstGeom prst="wedgeEllipseCallout">
            <a:avLst>
              <a:gd name="adj1" fmla="val 121875"/>
              <a:gd name="adj2" fmla="val 13889"/>
            </a:avLst>
          </a:prstGeom>
          <a:solidFill>
            <a:schemeClr val="accent1"/>
          </a:solidFill>
          <a:ln w="9525">
            <a:solidFill>
              <a:schemeClr val="tx1"/>
            </a:solidFill>
            <a:miter lim="800000"/>
          </a:ln>
          <a:effectLst/>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B</a:t>
            </a:r>
            <a:r>
              <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6</a:t>
            </a:r>
            <a:endParaRPr kumimoji="1" lang="en-US" altLang="zh-CN" sz="1800" b="1" i="0" u="none" strike="noStrike" kern="1200" cap="none" spc="0" normalizeH="0" baseline="-25000" noProof="0">
              <a:ln>
                <a:noFill/>
              </a:ln>
              <a:solidFill>
                <a:schemeClr val="bg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cxnSp>
        <p:nvCxnSpPr>
          <p:cNvPr id="25" name="AutoShape 49"/>
          <p:cNvCxnSpPr/>
          <p:nvPr>
            <p:custDataLst>
              <p:tags r:id="rId18"/>
            </p:custDataLst>
          </p:nvPr>
        </p:nvCxnSpPr>
        <p:spPr>
          <a:xfrm rot="5400000">
            <a:off x="9855480" y="3652202"/>
            <a:ext cx="266700" cy="0"/>
          </a:xfrm>
          <a:prstGeom prst="straightConnector1">
            <a:avLst/>
          </a:prstGeom>
          <a:ln w="28575" cap="flat" cmpd="sng">
            <a:solidFill>
              <a:schemeClr val="tx1"/>
            </a:solidFill>
            <a:prstDash val="solid"/>
            <a:miter/>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barn(inHorizontal)">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barn(inHorizontal)">
                                      <p:cBhvr>
                                        <p:cTn id="12" dur="5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Horizont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arn(inHorizontal)">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arn(inHorizontal)">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07035" y="276860"/>
            <a:ext cx="7894320" cy="593090"/>
          </a:xfrm>
        </p:spPr>
        <p:txBody>
          <a:bodyPr/>
          <a:lstStyle/>
          <a:p>
            <a:r>
              <a:rPr lang="en-US" altLang="zh-CN" dirty="0"/>
              <a:t>8.2.4.2 </a:t>
            </a:r>
            <a:r>
              <a:rPr dirty="0"/>
              <a:t>循环优化</a:t>
            </a:r>
            <a:r>
              <a:rPr lang="en-US" altLang="zh-CN" dirty="0"/>
              <a:t>—</a:t>
            </a:r>
            <a:r>
              <a:rPr lang="zh-CN" altLang="en-US" dirty="0"/>
              <a:t>循环结构的识别</a:t>
            </a:r>
            <a:endParaRPr lang="zh-CN" altLang="en-US" dirty="0"/>
          </a:p>
        </p:txBody>
      </p:sp>
      <p:sp>
        <p:nvSpPr>
          <p:cNvPr id="2" name="文本框 1"/>
          <p:cNvSpPr txBox="1"/>
          <p:nvPr/>
        </p:nvSpPr>
        <p:spPr>
          <a:xfrm>
            <a:off x="407035" y="1183005"/>
            <a:ext cx="4797425" cy="4954270"/>
          </a:xfrm>
          <a:prstGeom prst="rect">
            <a:avLst/>
          </a:prstGeom>
          <a:noFill/>
        </p:spPr>
        <p:txBody>
          <a:bodyPr wrap="square" rtlCol="0" anchor="t">
            <a:noAutofit/>
          </a:bodyPr>
          <a:p>
            <a:pPr>
              <a:lnSpc>
                <a:spcPct val="125000"/>
              </a:lnSpc>
              <a:spcBef>
                <a:spcPts val="0"/>
              </a:spcBef>
              <a:spcAft>
                <a:spcPts val="0"/>
              </a:spcAft>
              <a:buFont typeface="Wingdings" panose="05000000000000000000" charset="0"/>
              <a:buChar char="p"/>
            </a:pPr>
            <a:r>
              <a:rPr lang="zh-CN" altLang="en-US" sz="2400" b="1" dirty="0">
                <a:solidFill>
                  <a:srgbClr val="0070C0"/>
                </a:solidFill>
                <a:latin typeface="+mn-ea"/>
                <a:sym typeface="+mn-ea"/>
              </a:rPr>
              <a:t>定义</a:t>
            </a:r>
            <a:r>
              <a:rPr lang="en-US" altLang="zh-CN" sz="2400" b="1" dirty="0">
                <a:solidFill>
                  <a:srgbClr val="0070C0"/>
                </a:solidFill>
                <a:latin typeface="+mn-ea"/>
                <a:sym typeface="+mn-ea"/>
              </a:rPr>
              <a:t>8.1  </a:t>
            </a:r>
            <a:r>
              <a:rPr lang="zh-CN" altLang="en-US" sz="2400" b="1" dirty="0">
                <a:solidFill>
                  <a:srgbClr val="0070C0"/>
                </a:solidFill>
                <a:latin typeface="+mn-ea"/>
                <a:sym typeface="+mn-ea"/>
              </a:rPr>
              <a:t>节点</a:t>
            </a:r>
            <a:r>
              <a:rPr lang="en-US" altLang="zh-CN" sz="2400" b="1" dirty="0">
                <a:solidFill>
                  <a:srgbClr val="0070C0"/>
                </a:solidFill>
                <a:latin typeface="+mn-ea"/>
                <a:sym typeface="+mn-ea"/>
              </a:rPr>
              <a:t>m</a:t>
            </a:r>
            <a:r>
              <a:rPr lang="zh-CN" altLang="en-US" sz="2400" b="1" dirty="0">
                <a:solidFill>
                  <a:srgbClr val="0070C0"/>
                </a:solidFill>
                <a:latin typeface="+mn-ea"/>
                <a:sym typeface="+mn-ea"/>
              </a:rPr>
              <a:t>是节点</a:t>
            </a:r>
            <a:r>
              <a:rPr lang="en-US" altLang="zh-CN" sz="2400" b="1" dirty="0">
                <a:solidFill>
                  <a:srgbClr val="0070C0"/>
                </a:solidFill>
                <a:latin typeface="+mn-ea"/>
                <a:sym typeface="+mn-ea"/>
              </a:rPr>
              <a:t>n</a:t>
            </a:r>
            <a:r>
              <a:rPr lang="zh-CN" altLang="en-US" sz="2400" b="1" dirty="0">
                <a:solidFill>
                  <a:srgbClr val="0070C0"/>
                </a:solidFill>
                <a:latin typeface="+mn-ea"/>
                <a:sym typeface="+mn-ea"/>
              </a:rPr>
              <a:t>的必经节点：</a:t>
            </a:r>
            <a:r>
              <a:rPr lang="zh-CN" altLang="en-US" sz="2400" b="1" dirty="0">
                <a:latin typeface="+mn-ea"/>
                <a:sym typeface="+mn-ea"/>
              </a:rPr>
              <a:t>如果流图中，从某个初始节点出发，每一条到达节点</a:t>
            </a:r>
            <a:r>
              <a:rPr lang="en-US" altLang="zh-CN" sz="2400" b="1" dirty="0">
                <a:latin typeface="+mn-ea"/>
                <a:sym typeface="+mn-ea"/>
              </a:rPr>
              <a:t>n</a:t>
            </a:r>
            <a:r>
              <a:rPr lang="zh-CN" altLang="en-US" sz="2400" b="1" dirty="0">
                <a:latin typeface="+mn-ea"/>
                <a:sym typeface="+mn-ea"/>
              </a:rPr>
              <a:t>的路径都必须经过</a:t>
            </a:r>
            <a:r>
              <a:rPr lang="en-US" altLang="zh-CN" sz="2400" b="1" dirty="0">
                <a:latin typeface="+mn-ea"/>
                <a:sym typeface="+mn-ea"/>
              </a:rPr>
              <a:t>m</a:t>
            </a:r>
            <a:r>
              <a:rPr lang="zh-CN" altLang="en-US" sz="2400" b="1" dirty="0">
                <a:latin typeface="+mn-ea"/>
                <a:sym typeface="+mn-ea"/>
              </a:rPr>
              <a:t>，那么称</a:t>
            </a:r>
            <a:r>
              <a:rPr lang="en-US" altLang="zh-CN" sz="2400" b="1" dirty="0">
                <a:latin typeface="+mn-ea"/>
                <a:sym typeface="+mn-ea"/>
              </a:rPr>
              <a:t>m</a:t>
            </a:r>
            <a:r>
              <a:rPr lang="zh-CN" altLang="en-US" sz="2400" b="1" dirty="0">
                <a:latin typeface="+mn-ea"/>
                <a:sym typeface="+mn-ea"/>
              </a:rPr>
              <a:t>是节点</a:t>
            </a:r>
            <a:r>
              <a:rPr lang="en-US" altLang="zh-CN" sz="2400" b="1" dirty="0">
                <a:latin typeface="+mn-ea"/>
                <a:sym typeface="+mn-ea"/>
              </a:rPr>
              <a:t>n</a:t>
            </a:r>
            <a:r>
              <a:rPr lang="zh-CN" altLang="en-US" sz="2400" b="1" dirty="0">
                <a:latin typeface="+mn-ea"/>
                <a:sym typeface="+mn-ea"/>
              </a:rPr>
              <a:t>的必经节点。记为</a:t>
            </a:r>
            <a:r>
              <a:rPr lang="en-US" altLang="zh-CN" sz="2400" b="1" dirty="0">
                <a:latin typeface="+mn-ea"/>
                <a:sym typeface="+mn-ea"/>
              </a:rPr>
              <a:t>m </a:t>
            </a:r>
            <a:r>
              <a:rPr lang="en-US" altLang="zh-CN" sz="2400" b="1" dirty="0" err="1">
                <a:latin typeface="+mn-ea"/>
                <a:sym typeface="+mn-ea"/>
              </a:rPr>
              <a:t>dom</a:t>
            </a:r>
            <a:r>
              <a:rPr lang="en-US" altLang="zh-CN" sz="2400" b="1" dirty="0">
                <a:latin typeface="+mn-ea"/>
                <a:sym typeface="+mn-ea"/>
              </a:rPr>
              <a:t> n</a:t>
            </a:r>
            <a:r>
              <a:rPr lang="zh-CN" altLang="en-US" sz="2400" b="1" dirty="0">
                <a:latin typeface="+mn-ea"/>
                <a:sym typeface="+mn-ea"/>
              </a:rPr>
              <a:t>。</a:t>
            </a:r>
            <a:endParaRPr lang="zh-CN" altLang="en-US" sz="2400" b="1" dirty="0">
              <a:latin typeface="+mn-ea"/>
            </a:endParaRPr>
          </a:p>
          <a:p>
            <a:pPr lvl="1">
              <a:lnSpc>
                <a:spcPct val="125000"/>
              </a:lnSpc>
              <a:spcBef>
                <a:spcPts val="0"/>
              </a:spcBef>
              <a:spcAft>
                <a:spcPts val="0"/>
              </a:spcAft>
              <a:buFont typeface="Wingdings" panose="05000000000000000000" charset="0"/>
              <a:buChar char="p"/>
            </a:pPr>
            <a:r>
              <a:rPr lang="zh-CN" altLang="en-US" sz="2400" b="1" dirty="0">
                <a:latin typeface="+mn-ea"/>
                <a:sym typeface="+mn-ea"/>
              </a:rPr>
              <a:t>每个节点是自己的必经节点。</a:t>
            </a:r>
            <a:endParaRPr lang="zh-CN" altLang="en-US" sz="2400" b="1" dirty="0">
              <a:latin typeface="+mn-ea"/>
            </a:endParaRPr>
          </a:p>
          <a:p>
            <a:pPr lvl="1">
              <a:lnSpc>
                <a:spcPct val="125000"/>
              </a:lnSpc>
              <a:spcBef>
                <a:spcPts val="0"/>
              </a:spcBef>
              <a:spcAft>
                <a:spcPts val="0"/>
              </a:spcAft>
              <a:buFont typeface="Wingdings" panose="05000000000000000000" charset="0"/>
              <a:buChar char="p"/>
            </a:pPr>
            <a:r>
              <a:rPr lang="en-US" altLang="zh-CN" sz="2400" b="1" dirty="0">
                <a:latin typeface="+mn-ea"/>
                <a:sym typeface="+mn-ea"/>
              </a:rPr>
              <a:t>m</a:t>
            </a:r>
            <a:r>
              <a:rPr lang="zh-CN" altLang="en-US" sz="2400" b="1" dirty="0">
                <a:latin typeface="+mn-ea"/>
                <a:sym typeface="+mn-ea"/>
              </a:rPr>
              <a:t>为</a:t>
            </a:r>
            <a:r>
              <a:rPr lang="en-US" altLang="zh-CN" sz="2400" b="1" dirty="0">
                <a:latin typeface="+mn-ea"/>
                <a:sym typeface="+mn-ea"/>
              </a:rPr>
              <a:t>n</a:t>
            </a:r>
            <a:r>
              <a:rPr lang="zh-CN" altLang="en-US" sz="2400" b="1" dirty="0">
                <a:latin typeface="+mn-ea"/>
                <a:sym typeface="+mn-ea"/>
              </a:rPr>
              <a:t>的前驱，</a:t>
            </a:r>
            <a:r>
              <a:rPr lang="en-US" altLang="zh-CN" sz="2400" b="1" dirty="0">
                <a:latin typeface="+mn-ea"/>
                <a:sym typeface="+mn-ea"/>
              </a:rPr>
              <a:t>n</a:t>
            </a:r>
            <a:r>
              <a:rPr lang="zh-CN" altLang="en-US" sz="2400" b="1" dirty="0">
                <a:latin typeface="+mn-ea"/>
                <a:sym typeface="+mn-ea"/>
              </a:rPr>
              <a:t>为</a:t>
            </a:r>
            <a:r>
              <a:rPr lang="en-US" altLang="zh-CN" sz="2400" b="1" dirty="0">
                <a:latin typeface="+mn-ea"/>
                <a:sym typeface="+mn-ea"/>
              </a:rPr>
              <a:t>m</a:t>
            </a:r>
            <a:r>
              <a:rPr lang="zh-CN" altLang="en-US" sz="2400" b="1" dirty="0">
                <a:latin typeface="+mn-ea"/>
                <a:sym typeface="+mn-ea"/>
              </a:rPr>
              <a:t>的后继。</a:t>
            </a:r>
            <a:endParaRPr lang="zh-CN" altLang="en-US" sz="2400" b="1" dirty="0">
              <a:latin typeface="+mn-ea"/>
            </a:endParaRPr>
          </a:p>
          <a:p>
            <a:pPr>
              <a:lnSpc>
                <a:spcPct val="125000"/>
              </a:lnSpc>
              <a:spcBef>
                <a:spcPts val="0"/>
              </a:spcBef>
              <a:spcAft>
                <a:spcPts val="0"/>
              </a:spcAft>
              <a:buFont typeface="Wingdings" panose="05000000000000000000" charset="0"/>
              <a:buChar char="p"/>
            </a:pPr>
            <a:r>
              <a:rPr lang="zh-CN" altLang="en-US" sz="2400" b="1" dirty="0">
                <a:solidFill>
                  <a:srgbClr val="0070C0"/>
                </a:solidFill>
                <a:latin typeface="+mn-ea"/>
                <a:sym typeface="+mn-ea"/>
              </a:rPr>
              <a:t>定义</a:t>
            </a:r>
            <a:r>
              <a:rPr lang="en-US" altLang="zh-CN" sz="2400" b="1" dirty="0">
                <a:solidFill>
                  <a:srgbClr val="0070C0"/>
                </a:solidFill>
                <a:latin typeface="+mn-ea"/>
                <a:sym typeface="+mn-ea"/>
              </a:rPr>
              <a:t>8.2 </a:t>
            </a:r>
            <a:r>
              <a:rPr lang="zh-CN" altLang="en-US" sz="2400" b="1" dirty="0">
                <a:solidFill>
                  <a:srgbClr val="0070C0"/>
                </a:solidFill>
                <a:latin typeface="+mn-ea"/>
                <a:sym typeface="+mn-ea"/>
              </a:rPr>
              <a:t>节点</a:t>
            </a:r>
            <a:r>
              <a:rPr lang="en-US" altLang="zh-CN" sz="2400" b="1" dirty="0">
                <a:solidFill>
                  <a:srgbClr val="0070C0"/>
                </a:solidFill>
                <a:latin typeface="+mn-ea"/>
                <a:sym typeface="+mn-ea"/>
              </a:rPr>
              <a:t>n</a:t>
            </a:r>
            <a:r>
              <a:rPr lang="zh-CN" altLang="en-US" sz="2400" b="1" dirty="0">
                <a:solidFill>
                  <a:srgbClr val="0070C0"/>
                </a:solidFill>
                <a:latin typeface="+mn-ea"/>
                <a:sym typeface="+mn-ea"/>
              </a:rPr>
              <a:t>的直接必经节点：</a:t>
            </a:r>
            <a:r>
              <a:rPr lang="zh-CN" altLang="en-US" sz="2400" b="1" dirty="0">
                <a:latin typeface="+mn-ea"/>
                <a:sym typeface="+mn-ea"/>
              </a:rPr>
              <a:t>从初始节点到达</a:t>
            </a:r>
            <a:r>
              <a:rPr lang="en-US" altLang="zh-CN" sz="2400" b="1" dirty="0">
                <a:latin typeface="+mn-ea"/>
                <a:sym typeface="+mn-ea"/>
              </a:rPr>
              <a:t>n</a:t>
            </a:r>
            <a:r>
              <a:rPr lang="zh-CN" altLang="en-US" sz="2400" b="1" dirty="0">
                <a:latin typeface="+mn-ea"/>
                <a:sym typeface="+mn-ea"/>
              </a:rPr>
              <a:t>的所有路径上，节点</a:t>
            </a:r>
            <a:r>
              <a:rPr lang="en-US" altLang="zh-CN" sz="2400" b="1" dirty="0">
                <a:latin typeface="+mn-ea"/>
                <a:sym typeface="+mn-ea"/>
              </a:rPr>
              <a:t>n</a:t>
            </a:r>
            <a:r>
              <a:rPr lang="zh-CN" altLang="en-US" sz="2400" b="1" dirty="0">
                <a:latin typeface="+mn-ea"/>
                <a:sym typeface="+mn-ea"/>
              </a:rPr>
              <a:t>的最后一个必经节点称为直接必经节点。</a:t>
            </a:r>
            <a:endParaRPr lang="zh-CN" altLang="en-US" sz="2400" b="1" dirty="0">
              <a:latin typeface="+mn-ea"/>
              <a:sym typeface="+mn-ea"/>
            </a:endParaRPr>
          </a:p>
        </p:txBody>
      </p:sp>
      <p:grpSp>
        <p:nvGrpSpPr>
          <p:cNvPr id="6" name="Group 29"/>
          <p:cNvGrpSpPr/>
          <p:nvPr/>
        </p:nvGrpSpPr>
        <p:grpSpPr>
          <a:xfrm>
            <a:off x="7412515" y="1182689"/>
            <a:ext cx="4368800" cy="5008564"/>
            <a:chOff x="1536" y="960"/>
            <a:chExt cx="2752" cy="3155"/>
          </a:xfrm>
        </p:grpSpPr>
        <p:sp>
          <p:nvSpPr>
            <p:cNvPr id="7" name="Text Box 4"/>
            <p:cNvSpPr txBox="1"/>
            <p:nvPr>
              <p:custDataLst>
                <p:tags r:id="rId1"/>
              </p:custDataLst>
            </p:nvPr>
          </p:nvSpPr>
          <p:spPr>
            <a:xfrm>
              <a:off x="2592" y="960"/>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1</a:t>
              </a:r>
              <a:endParaRPr lang="en-US" altLang="zh-CN" sz="1800" b="1" dirty="0">
                <a:latin typeface="Verdana" panose="020B0604030504040204" pitchFamily="34" charset="0"/>
              </a:endParaRPr>
            </a:p>
          </p:txBody>
        </p:sp>
        <p:sp>
          <p:nvSpPr>
            <p:cNvPr id="8" name="Text Box 5"/>
            <p:cNvSpPr txBox="1"/>
            <p:nvPr>
              <p:custDataLst>
                <p:tags r:id="rId2"/>
              </p:custDataLst>
            </p:nvPr>
          </p:nvSpPr>
          <p:spPr>
            <a:xfrm>
              <a:off x="2064" y="1392"/>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2</a:t>
              </a:r>
              <a:endParaRPr lang="en-US" altLang="zh-CN" sz="1800" b="1" dirty="0">
                <a:latin typeface="Verdana" panose="020B0604030504040204" pitchFamily="34" charset="0"/>
              </a:endParaRPr>
            </a:p>
          </p:txBody>
        </p:sp>
        <p:sp>
          <p:nvSpPr>
            <p:cNvPr id="9" name="Text Box 6"/>
            <p:cNvSpPr txBox="1"/>
            <p:nvPr>
              <p:custDataLst>
                <p:tags r:id="rId3"/>
              </p:custDataLst>
            </p:nvPr>
          </p:nvSpPr>
          <p:spPr>
            <a:xfrm>
              <a:off x="2592" y="1680"/>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3</a:t>
              </a:r>
              <a:endParaRPr lang="en-US" altLang="zh-CN" sz="1800" b="1" dirty="0">
                <a:latin typeface="Verdana" panose="020B0604030504040204" pitchFamily="34" charset="0"/>
              </a:endParaRPr>
            </a:p>
          </p:txBody>
        </p:sp>
        <p:sp>
          <p:nvSpPr>
            <p:cNvPr id="10" name="Text Box 7"/>
            <p:cNvSpPr txBox="1"/>
            <p:nvPr>
              <p:custDataLst>
                <p:tags r:id="rId4"/>
              </p:custDataLst>
            </p:nvPr>
          </p:nvSpPr>
          <p:spPr>
            <a:xfrm>
              <a:off x="2592" y="2160"/>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4</a:t>
              </a:r>
              <a:endParaRPr lang="en-US" altLang="zh-CN" sz="1800" b="1" dirty="0">
                <a:latin typeface="Verdana" panose="020B0604030504040204" pitchFamily="34" charset="0"/>
              </a:endParaRPr>
            </a:p>
          </p:txBody>
        </p:sp>
        <p:sp>
          <p:nvSpPr>
            <p:cNvPr id="11" name="Text Box 8"/>
            <p:cNvSpPr txBox="1"/>
            <p:nvPr>
              <p:custDataLst>
                <p:tags r:id="rId5"/>
              </p:custDataLst>
            </p:nvPr>
          </p:nvSpPr>
          <p:spPr>
            <a:xfrm>
              <a:off x="2016" y="2640"/>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5</a:t>
              </a:r>
              <a:endParaRPr lang="en-US" altLang="zh-CN" sz="1800" b="1" dirty="0">
                <a:latin typeface="Verdana" panose="020B0604030504040204" pitchFamily="34" charset="0"/>
              </a:endParaRPr>
            </a:p>
          </p:txBody>
        </p:sp>
        <p:sp>
          <p:nvSpPr>
            <p:cNvPr id="13" name="Text Box 9"/>
            <p:cNvSpPr txBox="1"/>
            <p:nvPr>
              <p:custDataLst>
                <p:tags r:id="rId6"/>
              </p:custDataLst>
            </p:nvPr>
          </p:nvSpPr>
          <p:spPr>
            <a:xfrm>
              <a:off x="3168" y="2640"/>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6</a:t>
              </a:r>
              <a:endParaRPr lang="en-US" altLang="zh-CN" sz="1800" b="1" dirty="0">
                <a:latin typeface="Verdana" panose="020B0604030504040204" pitchFamily="34" charset="0"/>
              </a:endParaRPr>
            </a:p>
          </p:txBody>
        </p:sp>
        <p:sp>
          <p:nvSpPr>
            <p:cNvPr id="14" name="Text Box 10"/>
            <p:cNvSpPr txBox="1"/>
            <p:nvPr>
              <p:custDataLst>
                <p:tags r:id="rId7"/>
              </p:custDataLst>
            </p:nvPr>
          </p:nvSpPr>
          <p:spPr>
            <a:xfrm>
              <a:off x="2592" y="3024"/>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7</a:t>
              </a:r>
              <a:endParaRPr lang="en-US" altLang="zh-CN" sz="1800" b="1" dirty="0">
                <a:latin typeface="Verdana" panose="020B0604030504040204" pitchFamily="34" charset="0"/>
              </a:endParaRPr>
            </a:p>
          </p:txBody>
        </p:sp>
        <p:sp>
          <p:nvSpPr>
            <p:cNvPr id="15" name="Text Box 11"/>
            <p:cNvSpPr txBox="1"/>
            <p:nvPr>
              <p:custDataLst>
                <p:tags r:id="rId8"/>
              </p:custDataLst>
            </p:nvPr>
          </p:nvSpPr>
          <p:spPr>
            <a:xfrm>
              <a:off x="2592" y="3504"/>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8</a:t>
              </a:r>
              <a:endParaRPr lang="en-US" altLang="zh-CN" sz="1800" b="1" dirty="0">
                <a:latin typeface="Verdana" panose="020B0604030504040204" pitchFamily="34" charset="0"/>
              </a:endParaRPr>
            </a:p>
          </p:txBody>
        </p:sp>
        <p:sp>
          <p:nvSpPr>
            <p:cNvPr id="16" name="Text Box 12"/>
            <p:cNvSpPr txBox="1"/>
            <p:nvPr>
              <p:custDataLst>
                <p:tags r:id="rId9"/>
              </p:custDataLst>
            </p:nvPr>
          </p:nvSpPr>
          <p:spPr>
            <a:xfrm>
              <a:off x="1824" y="3792"/>
              <a:ext cx="288"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9</a:t>
              </a:r>
              <a:endParaRPr lang="en-US" altLang="zh-CN" sz="1800" b="1" dirty="0">
                <a:latin typeface="Verdana" panose="020B0604030504040204" pitchFamily="34" charset="0"/>
              </a:endParaRPr>
            </a:p>
          </p:txBody>
        </p:sp>
        <p:sp>
          <p:nvSpPr>
            <p:cNvPr id="17" name="Text Box 13"/>
            <p:cNvSpPr txBox="1"/>
            <p:nvPr>
              <p:custDataLst>
                <p:tags r:id="rId10"/>
              </p:custDataLst>
            </p:nvPr>
          </p:nvSpPr>
          <p:spPr>
            <a:xfrm>
              <a:off x="3264" y="3792"/>
              <a:ext cx="432"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10</a:t>
              </a:r>
              <a:endParaRPr lang="en-US" altLang="zh-CN" sz="1800" b="1" dirty="0">
                <a:latin typeface="Verdana" panose="020B0604030504040204" pitchFamily="34" charset="0"/>
              </a:endParaRPr>
            </a:p>
          </p:txBody>
        </p:sp>
        <p:sp>
          <p:nvSpPr>
            <p:cNvPr id="18" name="Line 14"/>
            <p:cNvSpPr/>
            <p:nvPr>
              <p:custDataLst>
                <p:tags r:id="rId11"/>
              </p:custDataLst>
            </p:nvPr>
          </p:nvSpPr>
          <p:spPr>
            <a:xfrm>
              <a:off x="2736" y="1296"/>
              <a:ext cx="0" cy="384"/>
            </a:xfrm>
            <a:prstGeom prst="line">
              <a:avLst/>
            </a:prstGeom>
            <a:ln w="9525" cap="flat" cmpd="sng">
              <a:solidFill>
                <a:schemeClr val="tx1"/>
              </a:solidFill>
              <a:prstDash val="solid"/>
              <a:headEnd type="none" w="med" len="med"/>
              <a:tailEnd type="triangle" w="med" len="med"/>
            </a:ln>
          </p:spPr>
        </p:sp>
        <p:sp>
          <p:nvSpPr>
            <p:cNvPr id="19" name="Line 15"/>
            <p:cNvSpPr/>
            <p:nvPr>
              <p:custDataLst>
                <p:tags r:id="rId12"/>
              </p:custDataLst>
            </p:nvPr>
          </p:nvSpPr>
          <p:spPr>
            <a:xfrm flipH="1">
              <a:off x="2208" y="1104"/>
              <a:ext cx="384" cy="288"/>
            </a:xfrm>
            <a:prstGeom prst="line">
              <a:avLst/>
            </a:prstGeom>
            <a:ln w="9525" cap="flat" cmpd="sng">
              <a:solidFill>
                <a:schemeClr val="tx1"/>
              </a:solidFill>
              <a:prstDash val="solid"/>
              <a:headEnd type="none" w="med" len="med"/>
              <a:tailEnd type="triangle" w="med" len="med"/>
            </a:ln>
          </p:spPr>
        </p:sp>
        <p:sp>
          <p:nvSpPr>
            <p:cNvPr id="20" name="Line 16"/>
            <p:cNvSpPr/>
            <p:nvPr>
              <p:custDataLst>
                <p:tags r:id="rId13"/>
              </p:custDataLst>
            </p:nvPr>
          </p:nvSpPr>
          <p:spPr>
            <a:xfrm>
              <a:off x="2256" y="1680"/>
              <a:ext cx="336" cy="144"/>
            </a:xfrm>
            <a:prstGeom prst="line">
              <a:avLst/>
            </a:prstGeom>
            <a:ln w="9525" cap="flat" cmpd="sng">
              <a:solidFill>
                <a:schemeClr val="tx1"/>
              </a:solidFill>
              <a:prstDash val="solid"/>
              <a:headEnd type="none" w="med" len="med"/>
              <a:tailEnd type="triangle" w="med" len="med"/>
            </a:ln>
          </p:spPr>
        </p:sp>
        <p:sp>
          <p:nvSpPr>
            <p:cNvPr id="21" name="Line 17"/>
            <p:cNvSpPr/>
            <p:nvPr>
              <p:custDataLst>
                <p:tags r:id="rId14"/>
              </p:custDataLst>
            </p:nvPr>
          </p:nvSpPr>
          <p:spPr>
            <a:xfrm>
              <a:off x="2736" y="1968"/>
              <a:ext cx="0" cy="192"/>
            </a:xfrm>
            <a:prstGeom prst="line">
              <a:avLst/>
            </a:prstGeom>
            <a:ln w="9525" cap="flat" cmpd="sng">
              <a:solidFill>
                <a:schemeClr val="tx1"/>
              </a:solidFill>
              <a:prstDash val="solid"/>
              <a:headEnd type="none" w="med" len="med"/>
              <a:tailEnd type="triangle" w="med" len="med"/>
            </a:ln>
          </p:spPr>
        </p:sp>
        <p:sp>
          <p:nvSpPr>
            <p:cNvPr id="22" name="Freeform 18"/>
            <p:cNvSpPr/>
            <p:nvPr>
              <p:custDataLst>
                <p:tags r:id="rId15"/>
              </p:custDataLst>
            </p:nvPr>
          </p:nvSpPr>
          <p:spPr>
            <a:xfrm>
              <a:off x="2304" y="1872"/>
              <a:ext cx="288" cy="432"/>
            </a:xfrm>
            <a:custGeom>
              <a:avLst/>
              <a:gdLst>
                <a:gd name="txL" fmla="*/ 0 w 288"/>
                <a:gd name="txT" fmla="*/ 0 h 432"/>
                <a:gd name="txR" fmla="*/ 288 w 288"/>
                <a:gd name="txB" fmla="*/ 432 h 432"/>
              </a:gdLst>
              <a:ahLst/>
              <a:cxnLst>
                <a:cxn ang="0">
                  <a:pos x="288" y="432"/>
                </a:cxn>
                <a:cxn ang="0">
                  <a:pos x="0" y="432"/>
                </a:cxn>
                <a:cxn ang="0">
                  <a:pos x="0" y="0"/>
                </a:cxn>
                <a:cxn ang="0">
                  <a:pos x="288" y="0"/>
                </a:cxn>
              </a:cxnLst>
              <a:rect l="txL" t="txT" r="txR" b="txB"/>
              <a:pathLst>
                <a:path w="288" h="432">
                  <a:moveTo>
                    <a:pt x="288" y="432"/>
                  </a:moveTo>
                  <a:lnTo>
                    <a:pt x="0" y="432"/>
                  </a:lnTo>
                  <a:lnTo>
                    <a:pt x="0" y="0"/>
                  </a:lnTo>
                  <a:lnTo>
                    <a:pt x="288"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23" name="Line 19"/>
            <p:cNvSpPr/>
            <p:nvPr>
              <p:custDataLst>
                <p:tags r:id="rId16"/>
              </p:custDataLst>
            </p:nvPr>
          </p:nvSpPr>
          <p:spPr>
            <a:xfrm flipH="1">
              <a:off x="2304" y="2400"/>
              <a:ext cx="288" cy="288"/>
            </a:xfrm>
            <a:prstGeom prst="line">
              <a:avLst/>
            </a:prstGeom>
            <a:ln w="9525" cap="flat" cmpd="sng">
              <a:solidFill>
                <a:schemeClr val="tx1"/>
              </a:solidFill>
              <a:prstDash val="solid"/>
              <a:headEnd type="none" w="med" len="med"/>
              <a:tailEnd type="triangle" w="med" len="med"/>
            </a:ln>
          </p:spPr>
        </p:sp>
        <p:sp>
          <p:nvSpPr>
            <p:cNvPr id="24" name="Line 20"/>
            <p:cNvSpPr/>
            <p:nvPr>
              <p:custDataLst>
                <p:tags r:id="rId17"/>
              </p:custDataLst>
            </p:nvPr>
          </p:nvSpPr>
          <p:spPr>
            <a:xfrm>
              <a:off x="2880" y="2400"/>
              <a:ext cx="288" cy="288"/>
            </a:xfrm>
            <a:prstGeom prst="line">
              <a:avLst/>
            </a:prstGeom>
            <a:ln w="9525" cap="flat" cmpd="sng">
              <a:solidFill>
                <a:schemeClr val="tx1"/>
              </a:solidFill>
              <a:prstDash val="solid"/>
              <a:headEnd type="none" w="med" len="med"/>
              <a:tailEnd type="triangle" w="med" len="med"/>
            </a:ln>
          </p:spPr>
        </p:sp>
        <p:sp>
          <p:nvSpPr>
            <p:cNvPr id="25" name="Line 21"/>
            <p:cNvSpPr/>
            <p:nvPr>
              <p:custDataLst>
                <p:tags r:id="rId18"/>
              </p:custDataLst>
            </p:nvPr>
          </p:nvSpPr>
          <p:spPr>
            <a:xfrm>
              <a:off x="2304" y="2832"/>
              <a:ext cx="336" cy="192"/>
            </a:xfrm>
            <a:prstGeom prst="line">
              <a:avLst/>
            </a:prstGeom>
            <a:ln w="9525" cap="flat" cmpd="sng">
              <a:solidFill>
                <a:schemeClr val="tx1"/>
              </a:solidFill>
              <a:prstDash val="solid"/>
              <a:headEnd type="none" w="med" len="med"/>
              <a:tailEnd type="triangle" w="med" len="med"/>
            </a:ln>
          </p:spPr>
        </p:sp>
        <p:sp>
          <p:nvSpPr>
            <p:cNvPr id="26" name="Line 22"/>
            <p:cNvSpPr/>
            <p:nvPr>
              <p:custDataLst>
                <p:tags r:id="rId19"/>
              </p:custDataLst>
            </p:nvPr>
          </p:nvSpPr>
          <p:spPr>
            <a:xfrm flipH="1">
              <a:off x="2832" y="2832"/>
              <a:ext cx="336" cy="192"/>
            </a:xfrm>
            <a:prstGeom prst="line">
              <a:avLst/>
            </a:prstGeom>
            <a:ln w="9525" cap="flat" cmpd="sng">
              <a:solidFill>
                <a:schemeClr val="tx1"/>
              </a:solidFill>
              <a:prstDash val="solid"/>
              <a:headEnd type="none" w="med" len="med"/>
              <a:tailEnd type="triangle" w="med" len="med"/>
            </a:ln>
          </p:spPr>
        </p:sp>
        <p:sp>
          <p:nvSpPr>
            <p:cNvPr id="27" name="Line 23"/>
            <p:cNvSpPr/>
            <p:nvPr>
              <p:custDataLst>
                <p:tags r:id="rId20"/>
              </p:custDataLst>
            </p:nvPr>
          </p:nvSpPr>
          <p:spPr>
            <a:xfrm>
              <a:off x="2736" y="3312"/>
              <a:ext cx="0" cy="192"/>
            </a:xfrm>
            <a:prstGeom prst="line">
              <a:avLst/>
            </a:prstGeom>
            <a:ln w="9525" cap="flat" cmpd="sng">
              <a:solidFill>
                <a:schemeClr val="tx1"/>
              </a:solidFill>
              <a:prstDash val="solid"/>
              <a:headEnd type="none" w="med" len="med"/>
              <a:tailEnd type="triangle" w="med" len="med"/>
            </a:ln>
          </p:spPr>
        </p:sp>
        <p:sp>
          <p:nvSpPr>
            <p:cNvPr id="28" name="Line 24"/>
            <p:cNvSpPr/>
            <p:nvPr>
              <p:custDataLst>
                <p:tags r:id="rId21"/>
              </p:custDataLst>
            </p:nvPr>
          </p:nvSpPr>
          <p:spPr>
            <a:xfrm flipH="1">
              <a:off x="2112" y="3600"/>
              <a:ext cx="480" cy="336"/>
            </a:xfrm>
            <a:prstGeom prst="line">
              <a:avLst/>
            </a:prstGeom>
            <a:ln w="9525" cap="flat" cmpd="sng">
              <a:solidFill>
                <a:schemeClr val="tx1"/>
              </a:solidFill>
              <a:prstDash val="solid"/>
              <a:headEnd type="none" w="med" len="med"/>
              <a:tailEnd type="triangle" w="med" len="med"/>
            </a:ln>
          </p:spPr>
        </p:sp>
        <p:sp>
          <p:nvSpPr>
            <p:cNvPr id="29" name="Line 25"/>
            <p:cNvSpPr/>
            <p:nvPr>
              <p:custDataLst>
                <p:tags r:id="rId22"/>
              </p:custDataLst>
            </p:nvPr>
          </p:nvSpPr>
          <p:spPr>
            <a:xfrm>
              <a:off x="2880" y="3600"/>
              <a:ext cx="384" cy="288"/>
            </a:xfrm>
            <a:prstGeom prst="line">
              <a:avLst/>
            </a:prstGeom>
            <a:ln w="9525" cap="flat" cmpd="sng">
              <a:solidFill>
                <a:schemeClr val="tx1"/>
              </a:solidFill>
              <a:prstDash val="solid"/>
              <a:headEnd type="none" w="med" len="med"/>
              <a:tailEnd type="triangle" w="med" len="med"/>
            </a:ln>
          </p:spPr>
        </p:sp>
        <p:sp>
          <p:nvSpPr>
            <p:cNvPr id="30" name="Freeform 26"/>
            <p:cNvSpPr/>
            <p:nvPr>
              <p:custDataLst>
                <p:tags r:id="rId23"/>
              </p:custDataLst>
            </p:nvPr>
          </p:nvSpPr>
          <p:spPr>
            <a:xfrm>
              <a:off x="2736" y="1790"/>
              <a:ext cx="1552" cy="2325"/>
            </a:xfrm>
            <a:custGeom>
              <a:avLst/>
              <a:gdLst>
                <a:gd name="txL" fmla="*/ 0 w 1872"/>
                <a:gd name="txT" fmla="*/ 0 h 2304"/>
                <a:gd name="txR" fmla="*/ 1872 w 1872"/>
                <a:gd name="txB" fmla="*/ 2304 h 2304"/>
              </a:gdLst>
              <a:ahLst/>
              <a:cxnLst>
                <a:cxn ang="0">
                  <a:pos x="0" y="1920"/>
                </a:cxn>
                <a:cxn ang="0">
                  <a:pos x="0" y="2304"/>
                </a:cxn>
                <a:cxn ang="0">
                  <a:pos x="1872" y="2256"/>
                </a:cxn>
                <a:cxn ang="0">
                  <a:pos x="1872" y="0"/>
                </a:cxn>
                <a:cxn ang="0">
                  <a:pos x="144" y="0"/>
                </a:cxn>
              </a:cxnLst>
              <a:rect l="txL" t="txT" r="txR" b="txB"/>
              <a:pathLst>
                <a:path w="1872" h="2304">
                  <a:moveTo>
                    <a:pt x="0" y="1920"/>
                  </a:moveTo>
                  <a:lnTo>
                    <a:pt x="0" y="2304"/>
                  </a:lnTo>
                  <a:lnTo>
                    <a:pt x="1872" y="2256"/>
                  </a:lnTo>
                  <a:lnTo>
                    <a:pt x="1872" y="0"/>
                  </a:lnTo>
                  <a:lnTo>
                    <a:pt x="144"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31" name="Line 27"/>
            <p:cNvSpPr/>
            <p:nvPr>
              <p:custDataLst>
                <p:tags r:id="rId24"/>
              </p:custDataLst>
            </p:nvPr>
          </p:nvSpPr>
          <p:spPr>
            <a:xfrm flipH="1" flipV="1">
              <a:off x="2880" y="3216"/>
              <a:ext cx="576" cy="576"/>
            </a:xfrm>
            <a:prstGeom prst="line">
              <a:avLst/>
            </a:prstGeom>
            <a:ln w="9525" cap="flat" cmpd="sng">
              <a:solidFill>
                <a:schemeClr val="tx1"/>
              </a:solidFill>
              <a:prstDash val="solid"/>
              <a:headEnd type="none" w="med" len="med"/>
              <a:tailEnd type="triangle" w="med" len="med"/>
            </a:ln>
          </p:spPr>
        </p:sp>
        <p:sp>
          <p:nvSpPr>
            <p:cNvPr id="32" name="Freeform 28"/>
            <p:cNvSpPr/>
            <p:nvPr>
              <p:custDataLst>
                <p:tags r:id="rId25"/>
              </p:custDataLst>
            </p:nvPr>
          </p:nvSpPr>
          <p:spPr>
            <a:xfrm>
              <a:off x="1536" y="1104"/>
              <a:ext cx="1056" cy="2832"/>
            </a:xfrm>
            <a:custGeom>
              <a:avLst/>
              <a:gdLst>
                <a:gd name="txL" fmla="*/ 0 w 1056"/>
                <a:gd name="txT" fmla="*/ 0 h 2832"/>
                <a:gd name="txR" fmla="*/ 1056 w 1056"/>
                <a:gd name="txB" fmla="*/ 2832 h 2832"/>
              </a:gdLst>
              <a:ahLst/>
              <a:cxnLst>
                <a:cxn ang="0">
                  <a:pos x="288" y="2832"/>
                </a:cxn>
                <a:cxn ang="0">
                  <a:pos x="0" y="2832"/>
                </a:cxn>
                <a:cxn ang="0">
                  <a:pos x="0" y="0"/>
                </a:cxn>
                <a:cxn ang="0">
                  <a:pos x="1056" y="0"/>
                </a:cxn>
              </a:cxnLst>
              <a:rect l="txL" t="txT" r="txR" b="txB"/>
              <a:pathLst>
                <a:path w="1056" h="2832">
                  <a:moveTo>
                    <a:pt x="288" y="2832"/>
                  </a:moveTo>
                  <a:lnTo>
                    <a:pt x="0" y="2832"/>
                  </a:lnTo>
                  <a:lnTo>
                    <a:pt x="0" y="0"/>
                  </a:lnTo>
                  <a:lnTo>
                    <a:pt x="1056"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grpSp>
      <p:sp>
        <p:nvSpPr>
          <p:cNvPr id="33" name="Freeform 30"/>
          <p:cNvSpPr/>
          <p:nvPr>
            <p:custDataLst>
              <p:tags r:id="rId26"/>
            </p:custDataLst>
          </p:nvPr>
        </p:nvSpPr>
        <p:spPr>
          <a:xfrm>
            <a:off x="9546115" y="3316289"/>
            <a:ext cx="1295400" cy="1295400"/>
          </a:xfrm>
          <a:custGeom>
            <a:avLst/>
            <a:gdLst>
              <a:gd name="txL" fmla="*/ 0 w 816"/>
              <a:gd name="txT" fmla="*/ 0 h 816"/>
              <a:gd name="txR" fmla="*/ 816 w 816"/>
              <a:gd name="txB" fmla="*/ 816 h 816"/>
            </a:gdLst>
            <a:ahLst/>
            <a:cxnLst>
              <a:cxn ang="0">
                <a:pos x="0" y="2147483646"/>
              </a:cxn>
              <a:cxn ang="0">
                <a:pos x="2147483646" y="2147483646"/>
              </a:cxn>
              <a:cxn ang="0">
                <a:pos x="2147483646" y="0"/>
              </a:cxn>
              <a:cxn ang="0">
                <a:pos x="0" y="0"/>
              </a:cxn>
            </a:cxnLst>
            <a:rect l="txL" t="txT" r="txR" b="txB"/>
            <a:pathLst>
              <a:path w="816" h="816">
                <a:moveTo>
                  <a:pt x="0" y="816"/>
                </a:moveTo>
                <a:lnTo>
                  <a:pt x="816" y="816"/>
                </a:lnTo>
                <a:lnTo>
                  <a:pt x="816" y="0"/>
                </a:lnTo>
                <a:lnTo>
                  <a:pt x="0"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4" name="文本框 3"/>
          <p:cNvSpPr txBox="1"/>
          <p:nvPr/>
        </p:nvSpPr>
        <p:spPr>
          <a:xfrm>
            <a:off x="5383530" y="1237615"/>
            <a:ext cx="3705225" cy="1938020"/>
          </a:xfrm>
          <a:prstGeom prst="rect">
            <a:avLst/>
          </a:prstGeom>
          <a:noFill/>
        </p:spPr>
        <p:txBody>
          <a:bodyPr wrap="square" rtlCol="0" anchor="t">
            <a:spAutoFit/>
          </a:bodyPr>
          <a:p>
            <a:pPr>
              <a:lnSpc>
                <a:spcPct val="125000"/>
              </a:lnSpc>
              <a:spcBef>
                <a:spcPct val="0"/>
              </a:spcBef>
              <a:spcAft>
                <a:spcPts val="0"/>
              </a:spcAft>
            </a:pPr>
            <a:r>
              <a:rPr lang="en-US" altLang="zh-CN" sz="2400" b="1" dirty="0">
                <a:latin typeface="+mn-ea"/>
                <a:sym typeface="+mn-ea"/>
              </a:rPr>
              <a:t>3 </a:t>
            </a:r>
            <a:r>
              <a:rPr lang="en-US" altLang="zh-CN" sz="2400" b="1" dirty="0" err="1">
                <a:latin typeface="+mn-ea"/>
                <a:sym typeface="+mn-ea"/>
              </a:rPr>
              <a:t>dom</a:t>
            </a:r>
            <a:r>
              <a:rPr lang="en-US" altLang="zh-CN" sz="2400" b="1" dirty="0">
                <a:latin typeface="+mn-ea"/>
                <a:sym typeface="+mn-ea"/>
              </a:rPr>
              <a:t> 4</a:t>
            </a:r>
            <a:endParaRPr lang="zh-CN" altLang="en-US" sz="2400" b="1" dirty="0">
              <a:latin typeface="+mn-ea"/>
              <a:sym typeface="+mn-ea"/>
            </a:endParaRPr>
          </a:p>
          <a:p>
            <a:pPr>
              <a:lnSpc>
                <a:spcPct val="125000"/>
              </a:lnSpc>
              <a:spcBef>
                <a:spcPct val="0"/>
              </a:spcBef>
              <a:spcAft>
                <a:spcPts val="0"/>
              </a:spcAft>
            </a:pPr>
            <a:r>
              <a:rPr lang="en-US" altLang="zh-CN" sz="2400" b="1" dirty="0">
                <a:latin typeface="+mn-ea"/>
                <a:sym typeface="+mn-ea"/>
              </a:rPr>
              <a:t>3 </a:t>
            </a:r>
            <a:r>
              <a:rPr lang="en-US" altLang="zh-CN" sz="2400" b="1" dirty="0" err="1">
                <a:latin typeface="+mn-ea"/>
                <a:sym typeface="+mn-ea"/>
              </a:rPr>
              <a:t>dom</a:t>
            </a:r>
            <a:r>
              <a:rPr lang="en-US" altLang="zh-CN" sz="2400" b="1" dirty="0">
                <a:latin typeface="+mn-ea"/>
                <a:sym typeface="+mn-ea"/>
              </a:rPr>
              <a:t> 8</a:t>
            </a:r>
            <a:endParaRPr lang="en-US" altLang="zh-CN" sz="2400" b="1" dirty="0">
              <a:latin typeface="+mn-ea"/>
            </a:endParaRPr>
          </a:p>
          <a:p>
            <a:pPr>
              <a:lnSpc>
                <a:spcPct val="125000"/>
              </a:lnSpc>
              <a:spcBef>
                <a:spcPct val="0"/>
              </a:spcBef>
              <a:spcAft>
                <a:spcPts val="0"/>
              </a:spcAft>
            </a:pPr>
            <a:r>
              <a:rPr lang="en-US" altLang="zh-CN" sz="2400" b="1" dirty="0">
                <a:latin typeface="+mn-ea"/>
                <a:sym typeface="+mn-ea"/>
              </a:rPr>
              <a:t>4 </a:t>
            </a:r>
            <a:r>
              <a:rPr lang="en-US" altLang="zh-CN" sz="2400" b="1" dirty="0" err="1">
                <a:latin typeface="+mn-ea"/>
                <a:sym typeface="+mn-ea"/>
              </a:rPr>
              <a:t>dom</a:t>
            </a:r>
            <a:r>
              <a:rPr lang="en-US" altLang="zh-CN" sz="2400" b="1" dirty="0">
                <a:latin typeface="+mn-ea"/>
                <a:sym typeface="+mn-ea"/>
              </a:rPr>
              <a:t> 7</a:t>
            </a:r>
            <a:endParaRPr lang="en-US" altLang="zh-CN" sz="2400" b="1" dirty="0">
              <a:latin typeface="+mn-ea"/>
            </a:endParaRPr>
          </a:p>
          <a:p>
            <a:pPr>
              <a:lnSpc>
                <a:spcPct val="125000"/>
              </a:lnSpc>
              <a:spcBef>
                <a:spcPct val="0"/>
              </a:spcBef>
              <a:spcAft>
                <a:spcPts val="0"/>
              </a:spcAft>
            </a:pPr>
            <a:r>
              <a:rPr lang="en-US" altLang="zh-CN" sz="2400" b="1" dirty="0">
                <a:latin typeface="+mn-ea"/>
                <a:sym typeface="+mn-ea"/>
              </a:rPr>
              <a:t>7 </a:t>
            </a:r>
            <a:r>
              <a:rPr lang="en-US" altLang="zh-CN" sz="2400" b="1" dirty="0" err="1">
                <a:latin typeface="+mn-ea"/>
                <a:sym typeface="+mn-ea"/>
              </a:rPr>
              <a:t>dom</a:t>
            </a:r>
            <a:r>
              <a:rPr lang="en-US" altLang="zh-CN" sz="2400" b="1" dirty="0">
                <a:latin typeface="+mn-ea"/>
                <a:sym typeface="+mn-ea"/>
              </a:rPr>
              <a:t> 10</a:t>
            </a:r>
            <a:endParaRPr lang="en-US" altLang="zh-CN" sz="2000" b="1" dirty="0">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07035" y="276860"/>
            <a:ext cx="7894320" cy="593090"/>
          </a:xfrm>
        </p:spPr>
        <p:txBody>
          <a:bodyPr/>
          <a:lstStyle/>
          <a:p>
            <a:r>
              <a:rPr lang="en-US" altLang="zh-CN" dirty="0"/>
              <a:t>8.2.4.2 </a:t>
            </a:r>
            <a:r>
              <a:rPr dirty="0"/>
              <a:t>循环优化</a:t>
            </a:r>
            <a:r>
              <a:rPr lang="en-US" altLang="zh-CN" dirty="0"/>
              <a:t>—</a:t>
            </a:r>
            <a:r>
              <a:rPr lang="zh-CN" altLang="en-US" dirty="0"/>
              <a:t>循环结构的识别</a:t>
            </a:r>
            <a:endParaRPr lang="zh-CN" altLang="en-US" dirty="0"/>
          </a:p>
        </p:txBody>
      </p:sp>
      <p:sp>
        <p:nvSpPr>
          <p:cNvPr id="3" name="Rectangle 3"/>
          <p:cNvSpPr txBox="1"/>
          <p:nvPr/>
        </p:nvSpPr>
        <p:spPr>
          <a:xfrm>
            <a:off x="284480" y="1156970"/>
            <a:ext cx="3625215" cy="509016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sz="2400" b="1" dirty="0">
                <a:solidFill>
                  <a:srgbClr val="0070C0"/>
                </a:solidFill>
                <a:latin typeface="+mn-ea"/>
              </a:rPr>
              <a:t>定义</a:t>
            </a:r>
            <a:r>
              <a:rPr lang="en-US" altLang="zh-CN" sz="2400" b="1" dirty="0">
                <a:solidFill>
                  <a:srgbClr val="0070C0"/>
                </a:solidFill>
                <a:latin typeface="+mn-ea"/>
              </a:rPr>
              <a:t>8.3 </a:t>
            </a:r>
            <a:r>
              <a:rPr lang="zh-CN" altLang="en-US" sz="2400" b="1" dirty="0">
                <a:solidFill>
                  <a:srgbClr val="0070C0"/>
                </a:solidFill>
                <a:latin typeface="+mn-ea"/>
              </a:rPr>
              <a:t>回边： 假设</a:t>
            </a:r>
            <a:r>
              <a:rPr lang="en-US" altLang="zh-CN" sz="2400" b="1" dirty="0">
                <a:latin typeface="+mn-ea"/>
                <a:sym typeface="+mn-ea"/>
              </a:rPr>
              <a:t>m </a:t>
            </a:r>
            <a:r>
              <a:rPr lang="en-US" altLang="zh-CN" sz="2400" b="1" dirty="0" err="1">
                <a:latin typeface="+mn-ea"/>
                <a:sym typeface="+mn-ea"/>
              </a:rPr>
              <a:t>dom</a:t>
            </a:r>
            <a:r>
              <a:rPr lang="en-US" altLang="zh-CN" sz="2400" b="1" dirty="0">
                <a:latin typeface="+mn-ea"/>
                <a:sym typeface="+mn-ea"/>
              </a:rPr>
              <a:t> n</a:t>
            </a:r>
            <a:r>
              <a:rPr lang="zh-CN" altLang="en-US" sz="2400" b="1" dirty="0">
                <a:latin typeface="+mn-ea"/>
              </a:rPr>
              <a:t>，如存在从节点</a:t>
            </a:r>
            <a:r>
              <a:rPr lang="en-US" altLang="zh-CN" sz="2400" b="1" dirty="0">
                <a:latin typeface="+mn-ea"/>
              </a:rPr>
              <a:t>n</a:t>
            </a:r>
            <a:r>
              <a:rPr lang="zh-CN" altLang="en-US" sz="2400" b="1" dirty="0">
                <a:latin typeface="+mn-ea"/>
              </a:rPr>
              <a:t>到</a:t>
            </a:r>
            <a:r>
              <a:rPr lang="en-US" altLang="zh-CN" sz="2400" b="1" dirty="0">
                <a:latin typeface="+mn-ea"/>
              </a:rPr>
              <a:t>m</a:t>
            </a:r>
            <a:r>
              <a:rPr lang="zh-CN" altLang="en-US" sz="2400" b="1" dirty="0">
                <a:latin typeface="+mn-ea"/>
              </a:rPr>
              <a:t>的有向边</a:t>
            </a:r>
            <a:r>
              <a:rPr lang="en-US" altLang="zh-CN" sz="2400" b="1" dirty="0">
                <a:latin typeface="+mn-ea"/>
              </a:rPr>
              <a:t>n-&gt;m</a:t>
            </a:r>
            <a:r>
              <a:rPr lang="zh-CN" altLang="en-US" sz="2400" b="1" dirty="0">
                <a:latin typeface="+mn-ea"/>
              </a:rPr>
              <a:t>，那么该</a:t>
            </a:r>
            <a:r>
              <a:rPr lang="zh-CN" altLang="en-US" sz="2400" b="1" dirty="0">
                <a:latin typeface="+mn-ea"/>
              </a:rPr>
              <a:t>边称为回边。</a:t>
            </a:r>
            <a:endParaRPr lang="zh-CN" altLang="en-US" sz="2400" b="1" dirty="0">
              <a:latin typeface="+mn-ea"/>
            </a:endParaRPr>
          </a:p>
          <a:p>
            <a:pPr>
              <a:lnSpc>
                <a:spcPct val="125000"/>
              </a:lnSpc>
              <a:spcBef>
                <a:spcPts val="0"/>
              </a:spcBef>
              <a:spcAft>
                <a:spcPts val="0"/>
              </a:spcAft>
              <a:buFont typeface="Wingdings" panose="05000000000000000000" charset="0"/>
              <a:buChar char="p"/>
            </a:pPr>
            <a:r>
              <a:rPr lang="zh-CN" altLang="en-US" sz="2400" b="1" dirty="0">
                <a:solidFill>
                  <a:srgbClr val="0070C0"/>
                </a:solidFill>
                <a:latin typeface="+mn-ea"/>
              </a:rPr>
              <a:t>定义</a:t>
            </a:r>
            <a:r>
              <a:rPr lang="en-US" altLang="zh-CN" sz="2400" b="1" dirty="0">
                <a:solidFill>
                  <a:srgbClr val="0070C0"/>
                </a:solidFill>
                <a:latin typeface="+mn-ea"/>
              </a:rPr>
              <a:t>8.4 </a:t>
            </a:r>
            <a:r>
              <a:rPr lang="zh-CN" altLang="en-US" sz="2400" b="1" dirty="0">
                <a:solidFill>
                  <a:srgbClr val="0070C0"/>
                </a:solidFill>
                <a:latin typeface="+mn-ea"/>
              </a:rPr>
              <a:t>回边</a:t>
            </a:r>
            <a:r>
              <a:rPr lang="en-US" altLang="zh-CN" sz="2400" b="1" dirty="0">
                <a:latin typeface="+mn-ea"/>
              </a:rPr>
              <a:t>n-&gt;m</a:t>
            </a:r>
            <a:r>
              <a:rPr lang="zh-CN" altLang="en-US" sz="2400" b="1" dirty="0">
                <a:solidFill>
                  <a:srgbClr val="0070C0"/>
                </a:solidFill>
                <a:latin typeface="+mn-ea"/>
              </a:rPr>
              <a:t>的自然循环</a:t>
            </a:r>
            <a:r>
              <a:rPr lang="zh-CN" altLang="en-US" sz="2400" b="1" dirty="0">
                <a:latin typeface="+mn-ea"/>
              </a:rPr>
              <a:t>：找出所有不经过</a:t>
            </a:r>
            <a:r>
              <a:rPr lang="en-US" altLang="zh-CN" sz="2400" b="1" dirty="0">
                <a:latin typeface="+mn-ea"/>
              </a:rPr>
              <a:t>m</a:t>
            </a:r>
            <a:r>
              <a:rPr lang="zh-CN" altLang="en-US" sz="2400" b="1" dirty="0">
                <a:latin typeface="+mn-ea"/>
              </a:rPr>
              <a:t>而到达</a:t>
            </a:r>
            <a:r>
              <a:rPr lang="en-US" altLang="zh-CN" sz="2400" b="1" dirty="0">
                <a:latin typeface="+mn-ea"/>
              </a:rPr>
              <a:t>n</a:t>
            </a:r>
            <a:r>
              <a:rPr lang="zh-CN" altLang="en-US" sz="2400" b="1" dirty="0">
                <a:latin typeface="+mn-ea"/>
              </a:rPr>
              <a:t>的所有节点，连同节点</a:t>
            </a:r>
            <a:r>
              <a:rPr lang="en-US" altLang="zh-CN" sz="2400" b="1" dirty="0">
                <a:latin typeface="+mn-ea"/>
              </a:rPr>
              <a:t>m</a:t>
            </a:r>
            <a:r>
              <a:rPr lang="zh-CN" altLang="en-US" sz="2400" b="1" dirty="0">
                <a:latin typeface="+mn-ea"/>
              </a:rPr>
              <a:t>与</a:t>
            </a:r>
            <a:r>
              <a:rPr lang="en-US" altLang="zh-CN" sz="2400" b="1" dirty="0">
                <a:latin typeface="+mn-ea"/>
              </a:rPr>
              <a:t>n</a:t>
            </a:r>
            <a:r>
              <a:rPr lang="zh-CN" altLang="en-US" sz="2400" b="1" dirty="0">
                <a:latin typeface="+mn-ea"/>
              </a:rPr>
              <a:t>，构成以</a:t>
            </a:r>
            <a:r>
              <a:rPr lang="en-US" altLang="zh-CN" sz="2400" b="1" dirty="0">
                <a:latin typeface="+mn-ea"/>
              </a:rPr>
              <a:t>m</a:t>
            </a:r>
            <a:r>
              <a:rPr lang="zh-CN" altLang="en-US" sz="2400" b="1" dirty="0">
                <a:latin typeface="+mn-ea"/>
              </a:rPr>
              <a:t>为首节点的一个循环，即是回边</a:t>
            </a:r>
            <a:r>
              <a:rPr lang="en-US" altLang="zh-CN" sz="2400" b="1" dirty="0">
                <a:latin typeface="+mn-ea"/>
              </a:rPr>
              <a:t>n-&gt;m</a:t>
            </a:r>
            <a:r>
              <a:rPr lang="zh-CN" altLang="en-US" sz="2400" b="1" dirty="0">
                <a:latin typeface="+mn-ea"/>
              </a:rPr>
              <a:t>的自然循环。</a:t>
            </a:r>
            <a:endParaRPr lang="zh-CN" altLang="en-US" sz="2400" b="1" dirty="0">
              <a:latin typeface="+mn-ea"/>
            </a:endParaRPr>
          </a:p>
        </p:txBody>
      </p:sp>
      <p:grpSp>
        <p:nvGrpSpPr>
          <p:cNvPr id="6" name="Group 29"/>
          <p:cNvGrpSpPr/>
          <p:nvPr/>
        </p:nvGrpSpPr>
        <p:grpSpPr>
          <a:xfrm>
            <a:off x="8310880" y="1284605"/>
            <a:ext cx="3483610" cy="4583430"/>
            <a:chOff x="1536" y="960"/>
            <a:chExt cx="2752" cy="3155"/>
          </a:xfrm>
        </p:grpSpPr>
        <p:sp>
          <p:nvSpPr>
            <p:cNvPr id="7" name="Text Box 4"/>
            <p:cNvSpPr txBox="1"/>
            <p:nvPr>
              <p:custDataLst>
                <p:tags r:id="rId1"/>
              </p:custDataLst>
            </p:nvPr>
          </p:nvSpPr>
          <p:spPr>
            <a:xfrm>
              <a:off x="2592" y="960"/>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1</a:t>
              </a:r>
              <a:endParaRPr lang="en-US" altLang="zh-CN" sz="1800" b="1" dirty="0">
                <a:latin typeface="Verdana" panose="020B0604030504040204" pitchFamily="34" charset="0"/>
              </a:endParaRPr>
            </a:p>
          </p:txBody>
        </p:sp>
        <p:sp>
          <p:nvSpPr>
            <p:cNvPr id="8" name="Text Box 5"/>
            <p:cNvSpPr txBox="1"/>
            <p:nvPr>
              <p:custDataLst>
                <p:tags r:id="rId2"/>
              </p:custDataLst>
            </p:nvPr>
          </p:nvSpPr>
          <p:spPr>
            <a:xfrm>
              <a:off x="2064" y="1392"/>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2</a:t>
              </a:r>
              <a:endParaRPr lang="en-US" altLang="zh-CN" sz="1800" b="1" dirty="0">
                <a:latin typeface="Verdana" panose="020B0604030504040204" pitchFamily="34" charset="0"/>
              </a:endParaRPr>
            </a:p>
          </p:txBody>
        </p:sp>
        <p:sp>
          <p:nvSpPr>
            <p:cNvPr id="9" name="Text Box 6"/>
            <p:cNvSpPr txBox="1"/>
            <p:nvPr>
              <p:custDataLst>
                <p:tags r:id="rId3"/>
              </p:custDataLst>
            </p:nvPr>
          </p:nvSpPr>
          <p:spPr>
            <a:xfrm>
              <a:off x="2592" y="1680"/>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3</a:t>
              </a:r>
              <a:endParaRPr lang="en-US" altLang="zh-CN" sz="1800" b="1" dirty="0">
                <a:latin typeface="Verdana" panose="020B0604030504040204" pitchFamily="34" charset="0"/>
              </a:endParaRPr>
            </a:p>
          </p:txBody>
        </p:sp>
        <p:sp>
          <p:nvSpPr>
            <p:cNvPr id="10" name="Text Box 7"/>
            <p:cNvSpPr txBox="1"/>
            <p:nvPr>
              <p:custDataLst>
                <p:tags r:id="rId4"/>
              </p:custDataLst>
            </p:nvPr>
          </p:nvSpPr>
          <p:spPr>
            <a:xfrm>
              <a:off x="2592" y="2160"/>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4</a:t>
              </a:r>
              <a:endParaRPr lang="en-US" altLang="zh-CN" sz="1800" b="1" dirty="0">
                <a:latin typeface="Verdana" panose="020B0604030504040204" pitchFamily="34" charset="0"/>
              </a:endParaRPr>
            </a:p>
          </p:txBody>
        </p:sp>
        <p:sp>
          <p:nvSpPr>
            <p:cNvPr id="11" name="Text Box 8"/>
            <p:cNvSpPr txBox="1"/>
            <p:nvPr>
              <p:custDataLst>
                <p:tags r:id="rId5"/>
              </p:custDataLst>
            </p:nvPr>
          </p:nvSpPr>
          <p:spPr>
            <a:xfrm>
              <a:off x="2016" y="2640"/>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5</a:t>
              </a:r>
              <a:endParaRPr lang="en-US" altLang="zh-CN" sz="1800" b="1" dirty="0">
                <a:latin typeface="Verdana" panose="020B0604030504040204" pitchFamily="34" charset="0"/>
              </a:endParaRPr>
            </a:p>
          </p:txBody>
        </p:sp>
        <p:sp>
          <p:nvSpPr>
            <p:cNvPr id="13" name="Text Box 9"/>
            <p:cNvSpPr txBox="1"/>
            <p:nvPr>
              <p:custDataLst>
                <p:tags r:id="rId6"/>
              </p:custDataLst>
            </p:nvPr>
          </p:nvSpPr>
          <p:spPr>
            <a:xfrm>
              <a:off x="3168" y="2640"/>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6</a:t>
              </a:r>
              <a:endParaRPr lang="en-US" altLang="zh-CN" sz="1800" b="1" dirty="0">
                <a:latin typeface="Verdana" panose="020B0604030504040204" pitchFamily="34" charset="0"/>
              </a:endParaRPr>
            </a:p>
          </p:txBody>
        </p:sp>
        <p:sp>
          <p:nvSpPr>
            <p:cNvPr id="14" name="Text Box 10"/>
            <p:cNvSpPr txBox="1"/>
            <p:nvPr>
              <p:custDataLst>
                <p:tags r:id="rId7"/>
              </p:custDataLst>
            </p:nvPr>
          </p:nvSpPr>
          <p:spPr>
            <a:xfrm>
              <a:off x="2592" y="3024"/>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7</a:t>
              </a:r>
              <a:endParaRPr lang="en-US" altLang="zh-CN" sz="1800" b="1" dirty="0">
                <a:latin typeface="Verdana" panose="020B0604030504040204" pitchFamily="34" charset="0"/>
              </a:endParaRPr>
            </a:p>
          </p:txBody>
        </p:sp>
        <p:sp>
          <p:nvSpPr>
            <p:cNvPr id="15" name="Text Box 11"/>
            <p:cNvSpPr txBox="1"/>
            <p:nvPr>
              <p:custDataLst>
                <p:tags r:id="rId8"/>
              </p:custDataLst>
            </p:nvPr>
          </p:nvSpPr>
          <p:spPr>
            <a:xfrm>
              <a:off x="2592" y="3504"/>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8</a:t>
              </a:r>
              <a:endParaRPr lang="en-US" altLang="zh-CN" sz="1800" b="1" dirty="0">
                <a:latin typeface="Verdana" panose="020B0604030504040204" pitchFamily="34" charset="0"/>
              </a:endParaRPr>
            </a:p>
          </p:txBody>
        </p:sp>
        <p:sp>
          <p:nvSpPr>
            <p:cNvPr id="16" name="Text Box 12"/>
            <p:cNvSpPr txBox="1"/>
            <p:nvPr>
              <p:custDataLst>
                <p:tags r:id="rId9"/>
              </p:custDataLst>
            </p:nvPr>
          </p:nvSpPr>
          <p:spPr>
            <a:xfrm>
              <a:off x="1824" y="3792"/>
              <a:ext cx="288"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9</a:t>
              </a:r>
              <a:endParaRPr lang="en-US" altLang="zh-CN" sz="1800" b="1" dirty="0">
                <a:latin typeface="Verdana" panose="020B0604030504040204" pitchFamily="34" charset="0"/>
              </a:endParaRPr>
            </a:p>
          </p:txBody>
        </p:sp>
        <p:sp>
          <p:nvSpPr>
            <p:cNvPr id="17" name="Text Box 13"/>
            <p:cNvSpPr txBox="1"/>
            <p:nvPr>
              <p:custDataLst>
                <p:tags r:id="rId10"/>
              </p:custDataLst>
            </p:nvPr>
          </p:nvSpPr>
          <p:spPr>
            <a:xfrm>
              <a:off x="3264" y="3792"/>
              <a:ext cx="432" cy="23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10</a:t>
              </a:r>
              <a:endParaRPr lang="en-US" altLang="zh-CN" sz="1800" b="1" dirty="0">
                <a:latin typeface="Verdana" panose="020B0604030504040204" pitchFamily="34" charset="0"/>
              </a:endParaRPr>
            </a:p>
          </p:txBody>
        </p:sp>
        <p:sp>
          <p:nvSpPr>
            <p:cNvPr id="18" name="Line 14"/>
            <p:cNvSpPr/>
            <p:nvPr>
              <p:custDataLst>
                <p:tags r:id="rId11"/>
              </p:custDataLst>
            </p:nvPr>
          </p:nvSpPr>
          <p:spPr>
            <a:xfrm>
              <a:off x="2736" y="1296"/>
              <a:ext cx="0" cy="384"/>
            </a:xfrm>
            <a:prstGeom prst="line">
              <a:avLst/>
            </a:prstGeom>
            <a:ln w="9525" cap="flat" cmpd="sng">
              <a:solidFill>
                <a:schemeClr val="tx1"/>
              </a:solidFill>
              <a:prstDash val="solid"/>
              <a:headEnd type="none" w="med" len="med"/>
              <a:tailEnd type="triangle" w="med" len="med"/>
            </a:ln>
          </p:spPr>
        </p:sp>
        <p:sp>
          <p:nvSpPr>
            <p:cNvPr id="19" name="Line 15"/>
            <p:cNvSpPr/>
            <p:nvPr>
              <p:custDataLst>
                <p:tags r:id="rId12"/>
              </p:custDataLst>
            </p:nvPr>
          </p:nvSpPr>
          <p:spPr>
            <a:xfrm flipH="1">
              <a:off x="2208" y="1104"/>
              <a:ext cx="384" cy="288"/>
            </a:xfrm>
            <a:prstGeom prst="line">
              <a:avLst/>
            </a:prstGeom>
            <a:ln w="9525" cap="flat" cmpd="sng">
              <a:solidFill>
                <a:schemeClr val="tx1"/>
              </a:solidFill>
              <a:prstDash val="solid"/>
              <a:headEnd type="none" w="med" len="med"/>
              <a:tailEnd type="triangle" w="med" len="med"/>
            </a:ln>
          </p:spPr>
        </p:sp>
        <p:sp>
          <p:nvSpPr>
            <p:cNvPr id="20" name="Line 16"/>
            <p:cNvSpPr/>
            <p:nvPr>
              <p:custDataLst>
                <p:tags r:id="rId13"/>
              </p:custDataLst>
            </p:nvPr>
          </p:nvSpPr>
          <p:spPr>
            <a:xfrm>
              <a:off x="2256" y="1680"/>
              <a:ext cx="336" cy="144"/>
            </a:xfrm>
            <a:prstGeom prst="line">
              <a:avLst/>
            </a:prstGeom>
            <a:ln w="9525" cap="flat" cmpd="sng">
              <a:solidFill>
                <a:schemeClr val="tx1"/>
              </a:solidFill>
              <a:prstDash val="solid"/>
              <a:headEnd type="none" w="med" len="med"/>
              <a:tailEnd type="triangle" w="med" len="med"/>
            </a:ln>
          </p:spPr>
        </p:sp>
        <p:sp>
          <p:nvSpPr>
            <p:cNvPr id="21" name="Line 17"/>
            <p:cNvSpPr/>
            <p:nvPr>
              <p:custDataLst>
                <p:tags r:id="rId14"/>
              </p:custDataLst>
            </p:nvPr>
          </p:nvSpPr>
          <p:spPr>
            <a:xfrm>
              <a:off x="2736" y="1968"/>
              <a:ext cx="0" cy="192"/>
            </a:xfrm>
            <a:prstGeom prst="line">
              <a:avLst/>
            </a:prstGeom>
            <a:ln w="9525" cap="flat" cmpd="sng">
              <a:solidFill>
                <a:schemeClr val="tx1"/>
              </a:solidFill>
              <a:prstDash val="solid"/>
              <a:headEnd type="none" w="med" len="med"/>
              <a:tailEnd type="triangle" w="med" len="med"/>
            </a:ln>
          </p:spPr>
        </p:sp>
        <p:sp>
          <p:nvSpPr>
            <p:cNvPr id="22" name="Freeform 18"/>
            <p:cNvSpPr/>
            <p:nvPr>
              <p:custDataLst>
                <p:tags r:id="rId15"/>
              </p:custDataLst>
            </p:nvPr>
          </p:nvSpPr>
          <p:spPr>
            <a:xfrm>
              <a:off x="2304" y="1872"/>
              <a:ext cx="288" cy="432"/>
            </a:xfrm>
            <a:custGeom>
              <a:avLst/>
              <a:gdLst>
                <a:gd name="txL" fmla="*/ 0 w 288"/>
                <a:gd name="txT" fmla="*/ 0 h 432"/>
                <a:gd name="txR" fmla="*/ 288 w 288"/>
                <a:gd name="txB" fmla="*/ 432 h 432"/>
              </a:gdLst>
              <a:ahLst/>
              <a:cxnLst>
                <a:cxn ang="0">
                  <a:pos x="288" y="432"/>
                </a:cxn>
                <a:cxn ang="0">
                  <a:pos x="0" y="432"/>
                </a:cxn>
                <a:cxn ang="0">
                  <a:pos x="0" y="0"/>
                </a:cxn>
                <a:cxn ang="0">
                  <a:pos x="288" y="0"/>
                </a:cxn>
              </a:cxnLst>
              <a:rect l="txL" t="txT" r="txR" b="txB"/>
              <a:pathLst>
                <a:path w="288" h="432">
                  <a:moveTo>
                    <a:pt x="288" y="432"/>
                  </a:moveTo>
                  <a:lnTo>
                    <a:pt x="0" y="432"/>
                  </a:lnTo>
                  <a:lnTo>
                    <a:pt x="0" y="0"/>
                  </a:lnTo>
                  <a:lnTo>
                    <a:pt x="288"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23" name="Line 19"/>
            <p:cNvSpPr/>
            <p:nvPr>
              <p:custDataLst>
                <p:tags r:id="rId16"/>
              </p:custDataLst>
            </p:nvPr>
          </p:nvSpPr>
          <p:spPr>
            <a:xfrm flipH="1">
              <a:off x="2304" y="2400"/>
              <a:ext cx="288" cy="288"/>
            </a:xfrm>
            <a:prstGeom prst="line">
              <a:avLst/>
            </a:prstGeom>
            <a:ln w="9525" cap="flat" cmpd="sng">
              <a:solidFill>
                <a:schemeClr val="tx1"/>
              </a:solidFill>
              <a:prstDash val="solid"/>
              <a:headEnd type="none" w="med" len="med"/>
              <a:tailEnd type="triangle" w="med" len="med"/>
            </a:ln>
          </p:spPr>
        </p:sp>
        <p:sp>
          <p:nvSpPr>
            <p:cNvPr id="24" name="Line 20"/>
            <p:cNvSpPr/>
            <p:nvPr>
              <p:custDataLst>
                <p:tags r:id="rId17"/>
              </p:custDataLst>
            </p:nvPr>
          </p:nvSpPr>
          <p:spPr>
            <a:xfrm>
              <a:off x="2880" y="2400"/>
              <a:ext cx="288" cy="288"/>
            </a:xfrm>
            <a:prstGeom prst="line">
              <a:avLst/>
            </a:prstGeom>
            <a:ln w="9525" cap="flat" cmpd="sng">
              <a:solidFill>
                <a:schemeClr val="tx1"/>
              </a:solidFill>
              <a:prstDash val="solid"/>
              <a:headEnd type="none" w="med" len="med"/>
              <a:tailEnd type="triangle" w="med" len="med"/>
            </a:ln>
          </p:spPr>
        </p:sp>
        <p:sp>
          <p:nvSpPr>
            <p:cNvPr id="25" name="Line 21"/>
            <p:cNvSpPr/>
            <p:nvPr>
              <p:custDataLst>
                <p:tags r:id="rId18"/>
              </p:custDataLst>
            </p:nvPr>
          </p:nvSpPr>
          <p:spPr>
            <a:xfrm>
              <a:off x="2304" y="2832"/>
              <a:ext cx="336" cy="192"/>
            </a:xfrm>
            <a:prstGeom prst="line">
              <a:avLst/>
            </a:prstGeom>
            <a:ln w="9525" cap="flat" cmpd="sng">
              <a:solidFill>
                <a:schemeClr val="tx1"/>
              </a:solidFill>
              <a:prstDash val="solid"/>
              <a:headEnd type="none" w="med" len="med"/>
              <a:tailEnd type="triangle" w="med" len="med"/>
            </a:ln>
          </p:spPr>
        </p:sp>
        <p:sp>
          <p:nvSpPr>
            <p:cNvPr id="26" name="Line 22"/>
            <p:cNvSpPr/>
            <p:nvPr>
              <p:custDataLst>
                <p:tags r:id="rId19"/>
              </p:custDataLst>
            </p:nvPr>
          </p:nvSpPr>
          <p:spPr>
            <a:xfrm flipH="1">
              <a:off x="2832" y="2832"/>
              <a:ext cx="336" cy="192"/>
            </a:xfrm>
            <a:prstGeom prst="line">
              <a:avLst/>
            </a:prstGeom>
            <a:ln w="9525" cap="flat" cmpd="sng">
              <a:solidFill>
                <a:schemeClr val="tx1"/>
              </a:solidFill>
              <a:prstDash val="solid"/>
              <a:headEnd type="none" w="med" len="med"/>
              <a:tailEnd type="triangle" w="med" len="med"/>
            </a:ln>
          </p:spPr>
        </p:sp>
        <p:sp>
          <p:nvSpPr>
            <p:cNvPr id="27" name="Line 23"/>
            <p:cNvSpPr/>
            <p:nvPr>
              <p:custDataLst>
                <p:tags r:id="rId20"/>
              </p:custDataLst>
            </p:nvPr>
          </p:nvSpPr>
          <p:spPr>
            <a:xfrm>
              <a:off x="2736" y="3312"/>
              <a:ext cx="0" cy="192"/>
            </a:xfrm>
            <a:prstGeom prst="line">
              <a:avLst/>
            </a:prstGeom>
            <a:ln w="9525" cap="flat" cmpd="sng">
              <a:solidFill>
                <a:schemeClr val="tx1"/>
              </a:solidFill>
              <a:prstDash val="solid"/>
              <a:headEnd type="none" w="med" len="med"/>
              <a:tailEnd type="triangle" w="med" len="med"/>
            </a:ln>
          </p:spPr>
        </p:sp>
        <p:sp>
          <p:nvSpPr>
            <p:cNvPr id="28" name="Line 24"/>
            <p:cNvSpPr/>
            <p:nvPr>
              <p:custDataLst>
                <p:tags r:id="rId21"/>
              </p:custDataLst>
            </p:nvPr>
          </p:nvSpPr>
          <p:spPr>
            <a:xfrm flipH="1">
              <a:off x="2112" y="3600"/>
              <a:ext cx="480" cy="336"/>
            </a:xfrm>
            <a:prstGeom prst="line">
              <a:avLst/>
            </a:prstGeom>
            <a:ln w="9525" cap="flat" cmpd="sng">
              <a:solidFill>
                <a:schemeClr val="tx1"/>
              </a:solidFill>
              <a:prstDash val="solid"/>
              <a:headEnd type="none" w="med" len="med"/>
              <a:tailEnd type="triangle" w="med" len="med"/>
            </a:ln>
          </p:spPr>
        </p:sp>
        <p:sp>
          <p:nvSpPr>
            <p:cNvPr id="29" name="Line 25"/>
            <p:cNvSpPr/>
            <p:nvPr>
              <p:custDataLst>
                <p:tags r:id="rId22"/>
              </p:custDataLst>
            </p:nvPr>
          </p:nvSpPr>
          <p:spPr>
            <a:xfrm>
              <a:off x="2880" y="3600"/>
              <a:ext cx="384" cy="288"/>
            </a:xfrm>
            <a:prstGeom prst="line">
              <a:avLst/>
            </a:prstGeom>
            <a:ln w="9525" cap="flat" cmpd="sng">
              <a:solidFill>
                <a:schemeClr val="tx1"/>
              </a:solidFill>
              <a:prstDash val="solid"/>
              <a:headEnd type="none" w="med" len="med"/>
              <a:tailEnd type="triangle" w="med" len="med"/>
            </a:ln>
          </p:spPr>
        </p:sp>
        <p:sp>
          <p:nvSpPr>
            <p:cNvPr id="30" name="Freeform 26"/>
            <p:cNvSpPr/>
            <p:nvPr>
              <p:custDataLst>
                <p:tags r:id="rId23"/>
              </p:custDataLst>
            </p:nvPr>
          </p:nvSpPr>
          <p:spPr>
            <a:xfrm>
              <a:off x="2736" y="1790"/>
              <a:ext cx="1552" cy="2325"/>
            </a:xfrm>
            <a:custGeom>
              <a:avLst/>
              <a:gdLst>
                <a:gd name="txL" fmla="*/ 0 w 1872"/>
                <a:gd name="txT" fmla="*/ 0 h 2304"/>
                <a:gd name="txR" fmla="*/ 1872 w 1872"/>
                <a:gd name="txB" fmla="*/ 2304 h 2304"/>
              </a:gdLst>
              <a:ahLst/>
              <a:cxnLst>
                <a:cxn ang="0">
                  <a:pos x="0" y="1920"/>
                </a:cxn>
                <a:cxn ang="0">
                  <a:pos x="0" y="2304"/>
                </a:cxn>
                <a:cxn ang="0">
                  <a:pos x="1872" y="2256"/>
                </a:cxn>
                <a:cxn ang="0">
                  <a:pos x="1872" y="0"/>
                </a:cxn>
                <a:cxn ang="0">
                  <a:pos x="144" y="0"/>
                </a:cxn>
              </a:cxnLst>
              <a:rect l="txL" t="txT" r="txR" b="txB"/>
              <a:pathLst>
                <a:path w="1872" h="2304">
                  <a:moveTo>
                    <a:pt x="0" y="1920"/>
                  </a:moveTo>
                  <a:lnTo>
                    <a:pt x="0" y="2304"/>
                  </a:lnTo>
                  <a:lnTo>
                    <a:pt x="1872" y="2256"/>
                  </a:lnTo>
                  <a:lnTo>
                    <a:pt x="1872" y="0"/>
                  </a:lnTo>
                  <a:lnTo>
                    <a:pt x="144"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31" name="Line 27"/>
            <p:cNvSpPr/>
            <p:nvPr>
              <p:custDataLst>
                <p:tags r:id="rId24"/>
              </p:custDataLst>
            </p:nvPr>
          </p:nvSpPr>
          <p:spPr>
            <a:xfrm flipH="1" flipV="1">
              <a:off x="2880" y="3216"/>
              <a:ext cx="576" cy="576"/>
            </a:xfrm>
            <a:prstGeom prst="line">
              <a:avLst/>
            </a:prstGeom>
            <a:ln w="9525" cap="flat" cmpd="sng">
              <a:solidFill>
                <a:schemeClr val="tx1"/>
              </a:solidFill>
              <a:prstDash val="solid"/>
              <a:headEnd type="none" w="med" len="med"/>
              <a:tailEnd type="triangle" w="med" len="med"/>
            </a:ln>
          </p:spPr>
        </p:sp>
        <p:sp>
          <p:nvSpPr>
            <p:cNvPr id="32" name="Freeform 28"/>
            <p:cNvSpPr/>
            <p:nvPr>
              <p:custDataLst>
                <p:tags r:id="rId25"/>
              </p:custDataLst>
            </p:nvPr>
          </p:nvSpPr>
          <p:spPr>
            <a:xfrm>
              <a:off x="1536" y="1104"/>
              <a:ext cx="1056" cy="2832"/>
            </a:xfrm>
            <a:custGeom>
              <a:avLst/>
              <a:gdLst>
                <a:gd name="txL" fmla="*/ 0 w 1056"/>
                <a:gd name="txT" fmla="*/ 0 h 2832"/>
                <a:gd name="txR" fmla="*/ 1056 w 1056"/>
                <a:gd name="txB" fmla="*/ 2832 h 2832"/>
              </a:gdLst>
              <a:ahLst/>
              <a:cxnLst>
                <a:cxn ang="0">
                  <a:pos x="288" y="2832"/>
                </a:cxn>
                <a:cxn ang="0">
                  <a:pos x="0" y="2832"/>
                </a:cxn>
                <a:cxn ang="0">
                  <a:pos x="0" y="0"/>
                </a:cxn>
                <a:cxn ang="0">
                  <a:pos x="1056" y="0"/>
                </a:cxn>
              </a:cxnLst>
              <a:rect l="txL" t="txT" r="txR" b="txB"/>
              <a:pathLst>
                <a:path w="1056" h="2832">
                  <a:moveTo>
                    <a:pt x="288" y="2832"/>
                  </a:moveTo>
                  <a:lnTo>
                    <a:pt x="0" y="2832"/>
                  </a:lnTo>
                  <a:lnTo>
                    <a:pt x="0" y="0"/>
                  </a:lnTo>
                  <a:lnTo>
                    <a:pt x="1056"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grpSp>
      <p:sp>
        <p:nvSpPr>
          <p:cNvPr id="33" name="Freeform 30"/>
          <p:cNvSpPr/>
          <p:nvPr>
            <p:custDataLst>
              <p:tags r:id="rId26"/>
            </p:custDataLst>
          </p:nvPr>
        </p:nvSpPr>
        <p:spPr>
          <a:xfrm>
            <a:off x="9626760" y="3414714"/>
            <a:ext cx="1295400" cy="1295400"/>
          </a:xfrm>
          <a:custGeom>
            <a:avLst/>
            <a:gdLst>
              <a:gd name="txL" fmla="*/ 0 w 816"/>
              <a:gd name="txT" fmla="*/ 0 h 816"/>
              <a:gd name="txR" fmla="*/ 816 w 816"/>
              <a:gd name="txB" fmla="*/ 816 h 816"/>
            </a:gdLst>
            <a:ahLst/>
            <a:cxnLst>
              <a:cxn ang="0">
                <a:pos x="0" y="2147483646"/>
              </a:cxn>
              <a:cxn ang="0">
                <a:pos x="2147483646" y="2147483646"/>
              </a:cxn>
              <a:cxn ang="0">
                <a:pos x="2147483646" y="0"/>
              </a:cxn>
              <a:cxn ang="0">
                <a:pos x="0" y="0"/>
              </a:cxn>
            </a:cxnLst>
            <a:rect l="txL" t="txT" r="txR" b="txB"/>
            <a:pathLst>
              <a:path w="816" h="816">
                <a:moveTo>
                  <a:pt x="0" y="816"/>
                </a:moveTo>
                <a:lnTo>
                  <a:pt x="816" y="816"/>
                </a:lnTo>
                <a:lnTo>
                  <a:pt x="816" y="0"/>
                </a:lnTo>
                <a:lnTo>
                  <a:pt x="0"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5" name="Rectangle 3"/>
          <p:cNvSpPr txBox="1"/>
          <p:nvPr>
            <p:custDataLst>
              <p:tags r:id="rId27"/>
            </p:custDataLst>
          </p:nvPr>
        </p:nvSpPr>
        <p:spPr>
          <a:xfrm>
            <a:off x="4311015" y="1304925"/>
            <a:ext cx="3446780" cy="410337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spcBef>
                <a:spcPct val="0"/>
              </a:spcBef>
              <a:spcAft>
                <a:spcPts val="0"/>
              </a:spcAft>
              <a:buNone/>
            </a:pPr>
            <a:r>
              <a:rPr lang="zh-CN" altLang="en-US" sz="2400" b="1" dirty="0">
                <a:solidFill>
                  <a:srgbClr val="0070C0"/>
                </a:solidFill>
                <a:latin typeface="+mn-ea"/>
              </a:rPr>
              <a:t>自然循环的例子</a:t>
            </a:r>
            <a:endParaRPr lang="zh-CN" altLang="en-US" sz="2400" b="1" dirty="0">
              <a:solidFill>
                <a:srgbClr val="0070C0"/>
              </a:solidFill>
              <a:latin typeface="+mn-ea"/>
            </a:endParaRPr>
          </a:p>
          <a:p>
            <a:pPr>
              <a:lnSpc>
                <a:spcPct val="125000"/>
              </a:lnSpc>
              <a:spcBef>
                <a:spcPct val="0"/>
              </a:spcBef>
              <a:spcAft>
                <a:spcPts val="0"/>
              </a:spcAft>
            </a:pPr>
            <a:r>
              <a:rPr lang="en-US" altLang="zh-CN" sz="2400" b="1" dirty="0">
                <a:latin typeface="+mn-ea"/>
              </a:rPr>
              <a:t>3 </a:t>
            </a:r>
            <a:r>
              <a:rPr lang="en-US" altLang="zh-CN" sz="2400" b="1" dirty="0" err="1">
                <a:latin typeface="+mn-ea"/>
              </a:rPr>
              <a:t>dom</a:t>
            </a:r>
            <a:r>
              <a:rPr lang="en-US" altLang="zh-CN" sz="2400" b="1" dirty="0">
                <a:latin typeface="+mn-ea"/>
              </a:rPr>
              <a:t> 4</a:t>
            </a:r>
            <a:r>
              <a:rPr lang="zh-CN" altLang="en-US" sz="2400" b="1" dirty="0">
                <a:latin typeface="+mn-ea"/>
              </a:rPr>
              <a:t>，</a:t>
            </a:r>
            <a:r>
              <a:rPr lang="en-US" altLang="zh-CN" sz="2400" b="1" dirty="0">
                <a:latin typeface="+mn-ea"/>
              </a:rPr>
              <a:t>3 </a:t>
            </a:r>
            <a:r>
              <a:rPr lang="en-US" altLang="zh-CN" sz="2400" b="1" dirty="0" err="1">
                <a:latin typeface="+mn-ea"/>
              </a:rPr>
              <a:t>dom</a:t>
            </a:r>
            <a:r>
              <a:rPr lang="en-US" altLang="zh-CN" sz="2400" b="1" dirty="0">
                <a:latin typeface="+mn-ea"/>
              </a:rPr>
              <a:t> 8</a:t>
            </a:r>
            <a:endParaRPr lang="en-US" altLang="zh-CN" sz="2400" b="1" dirty="0">
              <a:latin typeface="+mn-ea"/>
            </a:endParaRPr>
          </a:p>
          <a:p>
            <a:pPr marL="742950" lvl="1" indent="-285750">
              <a:lnSpc>
                <a:spcPct val="125000"/>
              </a:lnSpc>
              <a:spcBef>
                <a:spcPct val="0"/>
              </a:spcBef>
              <a:spcAft>
                <a:spcPts val="0"/>
              </a:spcAft>
            </a:pPr>
            <a:r>
              <a:rPr lang="zh-CN" altLang="en-US" sz="2000" b="1" dirty="0">
                <a:latin typeface="+mn-ea"/>
              </a:rPr>
              <a:t>回边</a:t>
            </a:r>
            <a:r>
              <a:rPr lang="en-US" altLang="zh-CN" sz="2000" b="1" dirty="0">
                <a:latin typeface="+mn-ea"/>
              </a:rPr>
              <a:t>4-&gt;3, 8-&gt;3</a:t>
            </a:r>
            <a:r>
              <a:rPr lang="zh-CN" altLang="en-US" sz="2000" b="1" dirty="0">
                <a:latin typeface="+mn-ea"/>
              </a:rPr>
              <a:t>的自然循环</a:t>
            </a:r>
            <a:r>
              <a:rPr lang="en-US" altLang="zh-CN" sz="2000" b="1" dirty="0">
                <a:latin typeface="+mn-ea"/>
              </a:rPr>
              <a:t>{3,4,5,6,7,8,10}</a:t>
            </a:r>
            <a:endParaRPr lang="en-US" altLang="zh-CN" sz="2000" b="1" dirty="0">
              <a:latin typeface="+mn-ea"/>
            </a:endParaRPr>
          </a:p>
          <a:p>
            <a:pPr>
              <a:lnSpc>
                <a:spcPct val="125000"/>
              </a:lnSpc>
              <a:spcBef>
                <a:spcPct val="0"/>
              </a:spcBef>
              <a:spcAft>
                <a:spcPts val="0"/>
              </a:spcAft>
            </a:pPr>
            <a:r>
              <a:rPr lang="en-US" altLang="zh-CN" sz="2400" b="1" dirty="0">
                <a:latin typeface="+mn-ea"/>
              </a:rPr>
              <a:t>4 </a:t>
            </a:r>
            <a:r>
              <a:rPr lang="en-US" altLang="zh-CN" sz="2400" b="1" dirty="0" err="1">
                <a:latin typeface="+mn-ea"/>
              </a:rPr>
              <a:t>dom</a:t>
            </a:r>
            <a:r>
              <a:rPr lang="en-US" altLang="zh-CN" sz="2400" b="1" dirty="0">
                <a:latin typeface="+mn-ea"/>
              </a:rPr>
              <a:t> 7</a:t>
            </a:r>
            <a:endParaRPr lang="en-US" altLang="zh-CN" sz="2400" b="1" dirty="0">
              <a:latin typeface="+mn-ea"/>
            </a:endParaRPr>
          </a:p>
          <a:p>
            <a:pPr marL="742950" lvl="1" indent="-285750">
              <a:lnSpc>
                <a:spcPct val="125000"/>
              </a:lnSpc>
              <a:spcBef>
                <a:spcPct val="0"/>
              </a:spcBef>
              <a:spcAft>
                <a:spcPts val="0"/>
              </a:spcAft>
            </a:pPr>
            <a:r>
              <a:rPr lang="zh-CN" altLang="en-US" sz="2000" b="1" dirty="0">
                <a:latin typeface="+mn-ea"/>
              </a:rPr>
              <a:t>回边</a:t>
            </a:r>
            <a:r>
              <a:rPr lang="en-US" altLang="zh-CN" sz="2000" b="1" dirty="0">
                <a:latin typeface="+mn-ea"/>
              </a:rPr>
              <a:t>7-&gt;4</a:t>
            </a:r>
            <a:r>
              <a:rPr lang="zh-CN" altLang="en-US" sz="2000" b="1" dirty="0">
                <a:latin typeface="+mn-ea"/>
              </a:rPr>
              <a:t>的自然循环</a:t>
            </a:r>
            <a:r>
              <a:rPr lang="en-US" altLang="zh-CN" sz="2000" b="1" dirty="0">
                <a:latin typeface="+mn-ea"/>
              </a:rPr>
              <a:t>{4,5,6,7,8,10}</a:t>
            </a:r>
            <a:endParaRPr lang="en-US" altLang="zh-CN" sz="2000" b="1" dirty="0">
              <a:latin typeface="+mn-ea"/>
            </a:endParaRPr>
          </a:p>
          <a:p>
            <a:pPr>
              <a:lnSpc>
                <a:spcPct val="125000"/>
              </a:lnSpc>
              <a:spcBef>
                <a:spcPct val="0"/>
              </a:spcBef>
              <a:spcAft>
                <a:spcPts val="0"/>
              </a:spcAft>
            </a:pPr>
            <a:r>
              <a:rPr lang="en-US" altLang="zh-CN" sz="2400" b="1" dirty="0">
                <a:latin typeface="+mn-ea"/>
              </a:rPr>
              <a:t>7 </a:t>
            </a:r>
            <a:r>
              <a:rPr lang="en-US" altLang="zh-CN" sz="2400" b="1" dirty="0" err="1">
                <a:latin typeface="+mn-ea"/>
              </a:rPr>
              <a:t>dom</a:t>
            </a:r>
            <a:r>
              <a:rPr lang="en-US" altLang="zh-CN" sz="2400" b="1" dirty="0">
                <a:latin typeface="+mn-ea"/>
              </a:rPr>
              <a:t> 10</a:t>
            </a:r>
            <a:endParaRPr lang="en-US" altLang="zh-CN" sz="2400" b="1" dirty="0">
              <a:latin typeface="+mn-ea"/>
            </a:endParaRPr>
          </a:p>
          <a:p>
            <a:pPr marL="742950" lvl="1" indent="-285750">
              <a:lnSpc>
                <a:spcPct val="125000"/>
              </a:lnSpc>
              <a:spcBef>
                <a:spcPct val="0"/>
              </a:spcBef>
              <a:spcAft>
                <a:spcPts val="0"/>
              </a:spcAft>
            </a:pPr>
            <a:r>
              <a:rPr lang="en-US" altLang="zh-CN" sz="2000" b="1" dirty="0">
                <a:latin typeface="+mn-ea"/>
              </a:rPr>
              <a:t>10-&gt;7</a:t>
            </a:r>
            <a:r>
              <a:rPr lang="zh-CN" altLang="en-US" sz="2000" b="1" dirty="0">
                <a:latin typeface="+mn-ea"/>
              </a:rPr>
              <a:t>的自然循环</a:t>
            </a:r>
            <a:r>
              <a:rPr lang="en-US" altLang="zh-CN" sz="2000" b="1" dirty="0">
                <a:latin typeface="+mn-ea"/>
              </a:rPr>
              <a:t>{7</a:t>
            </a:r>
            <a:r>
              <a:rPr lang="zh-CN" altLang="en-US" sz="2000" b="1" dirty="0">
                <a:latin typeface="+mn-ea"/>
              </a:rPr>
              <a:t>，</a:t>
            </a:r>
            <a:r>
              <a:rPr lang="en-US" altLang="zh-CN" sz="2000" b="1" dirty="0">
                <a:latin typeface="+mn-ea"/>
              </a:rPr>
              <a:t>8</a:t>
            </a:r>
            <a:r>
              <a:rPr lang="zh-CN" altLang="en-US" sz="2000" b="1" dirty="0">
                <a:latin typeface="+mn-ea"/>
              </a:rPr>
              <a:t>，</a:t>
            </a:r>
            <a:r>
              <a:rPr lang="en-US" altLang="zh-CN" sz="2000" b="1" dirty="0">
                <a:latin typeface="+mn-ea"/>
              </a:rPr>
              <a:t>10}</a:t>
            </a:r>
            <a:endParaRPr lang="en-US" altLang="zh-CN" sz="20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6"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Effect transition="in" filter="barn(inHorizontal)">
                                      <p:cBhvr>
                                        <p:cTn id="11" dur="500"/>
                                        <p:tgtEl>
                                          <p:spTgt spid="5">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6" fill="hold" nodeType="click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barn(inHorizontal)">
                                      <p:cBhvr>
                                        <p:cTn id="16" dur="5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barn(inHorizontal)">
                                      <p:cBhvr>
                                        <p:cTn id="21"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99085" y="276860"/>
            <a:ext cx="8002270" cy="593090"/>
          </a:xfrm>
        </p:spPr>
        <p:txBody>
          <a:bodyPr/>
          <a:lstStyle/>
          <a:p>
            <a:r>
              <a:rPr lang="en-US" altLang="zh-CN" dirty="0"/>
              <a:t>8.2.4.2 </a:t>
            </a:r>
            <a:r>
              <a:rPr dirty="0"/>
              <a:t>循环优化</a:t>
            </a:r>
            <a:r>
              <a:rPr lang="en-US" altLang="zh-CN" dirty="0"/>
              <a:t>—</a:t>
            </a:r>
            <a:r>
              <a:rPr lang="zh-CN" altLang="en-US" dirty="0"/>
              <a:t>循环结构的识别</a:t>
            </a:r>
            <a:endParaRPr lang="zh-CN" altLang="en-US" dirty="0"/>
          </a:p>
        </p:txBody>
      </p:sp>
      <p:sp>
        <p:nvSpPr>
          <p:cNvPr id="4" name="Rectangle 3"/>
          <p:cNvSpPr txBox="1"/>
          <p:nvPr>
            <p:custDataLst>
              <p:tags r:id="rId1"/>
            </p:custDataLst>
          </p:nvPr>
        </p:nvSpPr>
        <p:spPr>
          <a:xfrm>
            <a:off x="407670" y="1226820"/>
            <a:ext cx="3204210" cy="266255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070C0"/>
                </a:solidFill>
              </a:rPr>
              <a:t>自然循环的寻找算法</a:t>
            </a:r>
            <a:endParaRPr lang="zh-CN" altLang="en-US" sz="2400" b="1" dirty="0">
              <a:solidFill>
                <a:srgbClr val="0070C0"/>
              </a:solidFill>
            </a:endParaRPr>
          </a:p>
          <a:p>
            <a:pPr>
              <a:buFont typeface="Wingdings" panose="05000000000000000000" charset="0"/>
              <a:buChar char="p"/>
            </a:pPr>
            <a:r>
              <a:rPr lang="zh-CN" altLang="en-US" sz="2400" b="1" dirty="0"/>
              <a:t>输入</a:t>
            </a:r>
            <a:r>
              <a:rPr lang="en-US" altLang="zh-CN" sz="2400" b="1" dirty="0"/>
              <a:t>:</a:t>
            </a:r>
            <a:endParaRPr lang="en-US" altLang="zh-CN" sz="2400" b="1" dirty="0"/>
          </a:p>
          <a:p>
            <a:pPr marL="0" indent="0">
              <a:buFont typeface="Wingdings" panose="05000000000000000000" charset="0"/>
              <a:buNone/>
            </a:pPr>
            <a:r>
              <a:rPr lang="en-US" altLang="zh-CN" sz="2400" b="1" dirty="0"/>
              <a:t> </a:t>
            </a:r>
            <a:r>
              <a:rPr lang="zh-CN" altLang="en-US" sz="2400" b="1" dirty="0"/>
              <a:t>回边</a:t>
            </a:r>
            <a:r>
              <a:rPr lang="en-US" altLang="zh-CN" sz="2400" b="1" dirty="0"/>
              <a:t>{N-&gt;M}; </a:t>
            </a:r>
            <a:endParaRPr lang="en-US" altLang="zh-CN" sz="2400" b="1" dirty="0"/>
          </a:p>
          <a:p>
            <a:pPr>
              <a:buFont typeface="Wingdings" panose="05000000000000000000" charset="0"/>
              <a:buChar char="p"/>
            </a:pPr>
            <a:r>
              <a:rPr lang="zh-CN" altLang="en-US" sz="2400" b="1" dirty="0"/>
              <a:t>输出</a:t>
            </a:r>
            <a:r>
              <a:rPr lang="en-US" altLang="zh-CN" sz="2400" b="1" dirty="0"/>
              <a:t>: </a:t>
            </a:r>
            <a:endParaRPr lang="en-US" altLang="zh-CN" sz="2400" b="1" dirty="0"/>
          </a:p>
          <a:p>
            <a:pPr marL="0" indent="0">
              <a:buFont typeface="Wingdings" panose="05000000000000000000" charset="0"/>
              <a:buNone/>
            </a:pPr>
            <a:r>
              <a:rPr lang="en-US" altLang="zh-CN" sz="2400" b="1" dirty="0"/>
              <a:t> </a:t>
            </a:r>
            <a:r>
              <a:rPr lang="zh-CN" altLang="en-US" sz="2400" b="1" dirty="0"/>
              <a:t>回边对应的自然循环</a:t>
            </a:r>
            <a:endParaRPr lang="zh-CN" altLang="en-US" sz="2400" b="1" dirty="0"/>
          </a:p>
          <a:p>
            <a:pPr marL="0" indent="0">
              <a:buFont typeface="Wingdings" panose="05000000000000000000" charset="0"/>
              <a:buNone/>
            </a:pPr>
            <a:endParaRPr lang="en-US" altLang="zh-CN" sz="2400" b="1" dirty="0"/>
          </a:p>
        </p:txBody>
      </p:sp>
      <p:sp>
        <p:nvSpPr>
          <p:cNvPr id="2" name="文本框 1"/>
          <p:cNvSpPr txBox="1"/>
          <p:nvPr/>
        </p:nvSpPr>
        <p:spPr>
          <a:xfrm>
            <a:off x="4091940" y="1177290"/>
            <a:ext cx="7745095" cy="5038725"/>
          </a:xfrm>
          <a:prstGeom prst="rect">
            <a:avLst/>
          </a:prstGeom>
          <a:noFill/>
        </p:spPr>
        <p:txBody>
          <a:bodyPr wrap="square" rtlCol="0" anchor="t">
            <a:spAutoFit/>
          </a:bodyPr>
          <a:p>
            <a:pPr marL="0" indent="0">
              <a:lnSpc>
                <a:spcPct val="120000"/>
              </a:lnSpc>
              <a:spcBef>
                <a:spcPts val="0"/>
              </a:spcBef>
              <a:spcAft>
                <a:spcPts val="0"/>
              </a:spcAft>
              <a:buNone/>
            </a:pPr>
            <a:r>
              <a:rPr lang="zh-CN" altLang="en-US" sz="2800" b="1" dirty="0">
                <a:latin typeface="Courier New" panose="02070309020205020404" pitchFamily="49" charset="0"/>
                <a:cs typeface="Courier New" panose="02070309020205020404" pitchFamily="49" charset="0"/>
                <a:sym typeface="+mn-ea"/>
              </a:rPr>
              <a:t>设置</a:t>
            </a:r>
            <a:r>
              <a:rPr lang="en-US" altLang="zh-CN" sz="2800" b="1" dirty="0">
                <a:latin typeface="Courier New" panose="02070309020205020404" pitchFamily="49" charset="0"/>
                <a:cs typeface="Courier New" panose="02070309020205020404" pitchFamily="49" charset="0"/>
                <a:sym typeface="+mn-ea"/>
              </a:rPr>
              <a:t>loop={N,M};</a:t>
            </a:r>
            <a:endParaRPr lang="en-US" altLang="zh-CN" sz="2800" b="1" dirty="0">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push(stack, N);</a:t>
            </a:r>
            <a:endParaRPr lang="en-US" altLang="zh-CN" sz="2400" b="1" dirty="0">
              <a:solidFill>
                <a:srgbClr val="0070C0"/>
              </a:solidFill>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while non-empty(stack) do</a:t>
            </a:r>
            <a:endParaRPr lang="en-US" altLang="zh-CN" sz="2400" b="1" dirty="0">
              <a:solidFill>
                <a:srgbClr val="0070C0"/>
              </a:solidFill>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 x = top(stack);</a:t>
            </a:r>
            <a:endParaRPr lang="en-US" altLang="zh-CN" sz="2400" b="1" dirty="0">
              <a:solidFill>
                <a:srgbClr val="0070C0"/>
              </a:solidFill>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pop(stack);</a:t>
            </a:r>
            <a:endParaRPr lang="en-US" altLang="zh-CN" sz="2400" b="1" dirty="0">
              <a:solidFill>
                <a:srgbClr val="0070C0"/>
              </a:solidFill>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for  x</a:t>
            </a:r>
            <a:r>
              <a:rPr lang="zh-CN" altLang="en-US" sz="2400" b="1" dirty="0">
                <a:solidFill>
                  <a:srgbClr val="0070C0"/>
                </a:solidFill>
                <a:latin typeface="Courier New" panose="02070309020205020404" pitchFamily="49" charset="0"/>
                <a:cs typeface="Courier New" panose="02070309020205020404" pitchFamily="49" charset="0"/>
                <a:sym typeface="+mn-ea"/>
              </a:rPr>
              <a:t>的每个前驱节点</a:t>
            </a:r>
            <a:r>
              <a:rPr lang="en-US" altLang="zh-CN" sz="2400" b="1" dirty="0">
                <a:solidFill>
                  <a:srgbClr val="0070C0"/>
                </a:solidFill>
                <a:latin typeface="Courier New" panose="02070309020205020404" pitchFamily="49" charset="0"/>
                <a:cs typeface="Courier New" panose="02070309020205020404" pitchFamily="49" charset="0"/>
                <a:sym typeface="+mn-ea"/>
              </a:rPr>
              <a:t>p </a:t>
            </a:r>
            <a:endParaRPr lang="en-US" altLang="zh-CN" sz="2400" b="1" dirty="0">
              <a:solidFill>
                <a:srgbClr val="0070C0"/>
              </a:solidFill>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   if  p  is_not_in loop then </a:t>
            </a:r>
            <a:endParaRPr lang="en-US" altLang="zh-CN" sz="2400" b="1" dirty="0">
              <a:solidFill>
                <a:srgbClr val="0070C0"/>
              </a:solidFill>
              <a:latin typeface="Courier New" panose="02070309020205020404" pitchFamily="49" charset="0"/>
              <a:cs typeface="Courier New" panose="02070309020205020404" pitchFamily="49" charset="0"/>
            </a:endParaRPr>
          </a:p>
          <a:p>
            <a:pPr marL="909320" lvl="2"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{loop += p;</a:t>
            </a:r>
            <a:endParaRPr lang="en-US" altLang="zh-CN" sz="2400" b="1" dirty="0">
              <a:solidFill>
                <a:srgbClr val="0070C0"/>
              </a:solidFill>
              <a:latin typeface="Courier New" panose="02070309020205020404" pitchFamily="49" charset="0"/>
              <a:cs typeface="Courier New" panose="02070309020205020404" pitchFamily="49" charset="0"/>
            </a:endParaRPr>
          </a:p>
          <a:p>
            <a:pPr marL="909320" lvl="2"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push(stack,p);</a:t>
            </a:r>
            <a:endParaRPr lang="en-US" altLang="zh-CN" sz="2400" b="1" dirty="0">
              <a:solidFill>
                <a:srgbClr val="0070C0"/>
              </a:solidFill>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a:t>
            </a:r>
            <a:endParaRPr lang="en-US" altLang="zh-CN" sz="2400" b="1" dirty="0">
              <a:solidFill>
                <a:srgbClr val="0070C0"/>
              </a:solidFill>
              <a:latin typeface="Courier New" panose="02070309020205020404" pitchFamily="49" charset="0"/>
              <a:cs typeface="Courier New" panose="02070309020205020404" pitchFamily="49" charset="0"/>
            </a:endParaRPr>
          </a:p>
          <a:p>
            <a:pPr marL="471170" lvl="1" indent="0">
              <a:lnSpc>
                <a:spcPct val="120000"/>
              </a:lnSpc>
              <a:spcBef>
                <a:spcPts val="0"/>
              </a:spcBef>
              <a:spcAft>
                <a:spcPts val="0"/>
              </a:spcAft>
              <a:buNone/>
            </a:pPr>
            <a:r>
              <a:rPr lang="en-US" altLang="zh-CN" sz="2400" b="1" dirty="0">
                <a:solidFill>
                  <a:srgbClr val="0070C0"/>
                </a:solidFill>
                <a:latin typeface="Courier New" panose="02070309020205020404" pitchFamily="49" charset="0"/>
                <a:cs typeface="Courier New" panose="02070309020205020404" pitchFamily="49" charset="0"/>
                <a:sym typeface="+mn-ea"/>
              </a:rPr>
              <a:t>	}</a:t>
            </a:r>
            <a:endParaRPr lang="en-US" altLang="zh-CN" sz="2400" b="1" dirty="0">
              <a:solidFill>
                <a:srgbClr val="0070C0"/>
              </a:solidFill>
              <a:latin typeface="Courier New" panose="02070309020205020404" pitchFamily="49" charset="0"/>
              <a:cs typeface="Courier New" panose="02070309020205020404" pitchFamily="49" charset="0"/>
              <a:sym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
        <p:nvSpPr>
          <p:cNvPr id="4" name="Rectangle 3"/>
          <p:cNvSpPr txBox="1">
            <a:spLocks noChangeArrowheads="1"/>
          </p:cNvSpPr>
          <p:nvPr/>
        </p:nvSpPr>
        <p:spPr>
          <a:xfrm>
            <a:off x="283845" y="1266190"/>
            <a:ext cx="11547475" cy="4528820"/>
          </a:xfrm>
          <a:prstGeom prst="rect">
            <a:avLst/>
          </a:prstGeom>
        </p:spPr>
        <p:txBody>
          <a:bodyPr vert="horz" wrap="square" lIns="91440" tIns="45720" rIns="91440" bIns="45720" numCol="1" anchor="t" anchorCtr="0" compatLnSpc="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20000"/>
              </a:lnSpc>
              <a:spcBef>
                <a:spcPct val="20000"/>
              </a:spcBef>
              <a:spcAft>
                <a:spcPct val="0"/>
              </a:spcAft>
              <a:buFont typeface="Wingdings" panose="05000000000000000000" charset="0"/>
              <a:buChar char="p"/>
              <a:defRPr/>
            </a:pPr>
            <a:r>
              <a:rPr lang="zh-CN" altLang="en-US" sz="2400" b="1" kern="0" dirty="0">
                <a:solidFill>
                  <a:srgbClr val="0070C0"/>
                </a:solidFill>
                <a:latin typeface="+mn-ea"/>
              </a:rPr>
              <a:t>定义</a:t>
            </a:r>
            <a:r>
              <a:rPr lang="en-US" altLang="zh-CN" sz="2400" b="1" kern="0" dirty="0">
                <a:solidFill>
                  <a:srgbClr val="0070C0"/>
                </a:solidFill>
                <a:latin typeface="+mn-ea"/>
              </a:rPr>
              <a:t>8.5 </a:t>
            </a:r>
            <a:r>
              <a:rPr lang="zh-CN" altLang="en-US" sz="2400" b="1" kern="0" dirty="0">
                <a:solidFill>
                  <a:srgbClr val="0070C0"/>
                </a:solidFill>
                <a:latin typeface="+mn-ea"/>
              </a:rPr>
              <a:t>定值</a:t>
            </a:r>
            <a:r>
              <a:rPr lang="zh-CN" altLang="en-US" sz="2400" b="1" kern="0" dirty="0">
                <a:latin typeface="+mn-ea"/>
              </a:rPr>
              <a:t>：使变量</a:t>
            </a:r>
            <a:r>
              <a:rPr lang="en-US" altLang="zh-CN" sz="2400" b="1" kern="0" dirty="0">
                <a:latin typeface="+mn-ea"/>
              </a:rPr>
              <a:t>x</a:t>
            </a:r>
            <a:r>
              <a:rPr lang="zh-CN" altLang="en-US" sz="2400" b="1" kern="0" dirty="0">
                <a:latin typeface="+mn-ea"/>
              </a:rPr>
              <a:t>获得值的四元式称为对</a:t>
            </a:r>
            <a:r>
              <a:rPr lang="en-US" altLang="zh-CN" sz="2400" b="1" kern="0" dirty="0">
                <a:solidFill>
                  <a:srgbClr val="0070C0"/>
                </a:solidFill>
                <a:latin typeface="+mn-ea"/>
              </a:rPr>
              <a:t>x</a:t>
            </a:r>
            <a:r>
              <a:rPr lang="zh-CN" altLang="en-US" sz="2400" b="1" kern="0" dirty="0">
                <a:solidFill>
                  <a:srgbClr val="0070C0"/>
                </a:solidFill>
                <a:latin typeface="+mn-ea"/>
              </a:rPr>
              <a:t>的定值</a:t>
            </a:r>
            <a:r>
              <a:rPr lang="zh-CN" altLang="en-US" sz="2400" b="1" kern="0" dirty="0">
                <a:latin typeface="+mn-ea"/>
              </a:rPr>
              <a:t>，一般用四元式的位置</a:t>
            </a:r>
            <a:r>
              <a:rPr lang="en-US" altLang="zh-CN" sz="2400" b="1" kern="0" dirty="0">
                <a:latin typeface="+mn-ea"/>
              </a:rPr>
              <a:t>d</a:t>
            </a:r>
            <a:r>
              <a:rPr lang="zh-CN" altLang="en-US" sz="2400" b="1" kern="0" dirty="0">
                <a:latin typeface="+mn-ea"/>
              </a:rPr>
              <a:t>表示，</a:t>
            </a:r>
            <a:r>
              <a:rPr lang="en-US" altLang="zh-CN" sz="2400" b="1" kern="0" dirty="0">
                <a:latin typeface="+mn-ea"/>
              </a:rPr>
              <a:t>d</a:t>
            </a:r>
            <a:r>
              <a:rPr lang="zh-CN" altLang="en-US" sz="2400" b="1" kern="0" dirty="0">
                <a:latin typeface="+mn-ea"/>
              </a:rPr>
              <a:t>也称为</a:t>
            </a:r>
            <a:r>
              <a:rPr lang="en-US" altLang="zh-CN" sz="2400" b="1" kern="0" dirty="0">
                <a:solidFill>
                  <a:srgbClr val="0070C0"/>
                </a:solidFill>
                <a:latin typeface="+mn-ea"/>
              </a:rPr>
              <a:t>x</a:t>
            </a:r>
            <a:r>
              <a:rPr lang="zh-CN" altLang="en-US" sz="2400" b="1" kern="0" dirty="0">
                <a:solidFill>
                  <a:srgbClr val="0070C0"/>
                </a:solidFill>
                <a:latin typeface="+mn-ea"/>
              </a:rPr>
              <a:t>的定值点</a:t>
            </a:r>
            <a:r>
              <a:rPr lang="zh-CN" altLang="en-US" sz="2400" b="1" kern="0" dirty="0">
                <a:latin typeface="+mn-ea"/>
              </a:rPr>
              <a:t>。</a:t>
            </a:r>
            <a:endParaRPr lang="zh-CN" altLang="en-US" sz="2400" b="1" kern="0" dirty="0">
              <a:latin typeface="+mn-ea"/>
            </a:endParaRPr>
          </a:p>
          <a:p>
            <a:pPr marL="814070" lvl="1" indent="-342900" eaLnBrk="0" fontAlgn="base" hangingPunct="0">
              <a:lnSpc>
                <a:spcPct val="120000"/>
              </a:lnSpc>
              <a:spcBef>
                <a:spcPct val="20000"/>
              </a:spcBef>
              <a:spcAft>
                <a:spcPct val="0"/>
              </a:spcAft>
              <a:buFont typeface="Wingdings" panose="05000000000000000000" charset="0"/>
              <a:buChar char="p"/>
              <a:defRPr/>
            </a:pPr>
            <a:r>
              <a:rPr lang="zh-CN" altLang="en-US" b="1" kern="0" dirty="0">
                <a:latin typeface="+mn-ea"/>
              </a:rPr>
              <a:t>变量获得值的方式：</a:t>
            </a:r>
            <a:endParaRPr lang="zh-CN" altLang="en-US" b="1" kern="0" dirty="0">
              <a:latin typeface="+mn-ea"/>
            </a:endParaRPr>
          </a:p>
          <a:p>
            <a:pPr marL="1252220" lvl="2" indent="-342900" eaLnBrk="0" fontAlgn="base" hangingPunct="0">
              <a:lnSpc>
                <a:spcPct val="120000"/>
              </a:lnSpc>
              <a:spcBef>
                <a:spcPct val="20000"/>
              </a:spcBef>
              <a:spcAft>
                <a:spcPct val="0"/>
              </a:spcAft>
              <a:buFont typeface="Wingdings" panose="05000000000000000000" charset="0"/>
              <a:buChar char="p"/>
              <a:defRPr/>
            </a:pPr>
            <a:r>
              <a:rPr lang="zh-CN" altLang="en-US" sz="2400" b="1" kern="0" dirty="0">
                <a:latin typeface="+mn-ea"/>
              </a:rPr>
              <a:t>通过赋值语句；</a:t>
            </a:r>
            <a:endParaRPr lang="zh-CN" altLang="en-US" sz="2400" b="1" kern="0" dirty="0">
              <a:latin typeface="+mn-ea"/>
            </a:endParaRPr>
          </a:p>
          <a:p>
            <a:pPr marL="1252220" lvl="2" indent="-342900" eaLnBrk="0" fontAlgn="base" hangingPunct="0">
              <a:lnSpc>
                <a:spcPct val="120000"/>
              </a:lnSpc>
              <a:spcBef>
                <a:spcPct val="20000"/>
              </a:spcBef>
              <a:spcAft>
                <a:spcPct val="0"/>
              </a:spcAft>
              <a:buFont typeface="Wingdings" panose="05000000000000000000" charset="0"/>
              <a:buChar char="p"/>
              <a:defRPr/>
            </a:pPr>
            <a:r>
              <a:rPr lang="zh-CN" altLang="en-US" sz="2400" b="1" kern="0" dirty="0">
                <a:latin typeface="+mn-ea"/>
              </a:rPr>
              <a:t>通过输入语句；</a:t>
            </a:r>
            <a:endParaRPr lang="zh-CN" altLang="en-US" sz="2400" b="1" kern="0" dirty="0">
              <a:latin typeface="+mn-ea"/>
            </a:endParaRPr>
          </a:p>
          <a:p>
            <a:pPr marL="1252220" lvl="2" indent="-342900" eaLnBrk="0" fontAlgn="base" hangingPunct="0">
              <a:lnSpc>
                <a:spcPct val="120000"/>
              </a:lnSpc>
              <a:spcBef>
                <a:spcPct val="20000"/>
              </a:spcBef>
              <a:spcAft>
                <a:spcPct val="0"/>
              </a:spcAft>
              <a:buFont typeface="Wingdings" panose="05000000000000000000" charset="0"/>
              <a:buChar char="p"/>
              <a:defRPr/>
            </a:pPr>
            <a:r>
              <a:rPr lang="zh-CN" altLang="en-US" sz="2400" b="1" kern="0" dirty="0">
                <a:latin typeface="+mn-ea"/>
              </a:rPr>
              <a:t>通过函数形式参数传递取得值；</a:t>
            </a:r>
            <a:endParaRPr lang="zh-CN" altLang="en-US" sz="2400" b="1" kern="0" dirty="0">
              <a:latin typeface="+mn-ea"/>
            </a:endParaRPr>
          </a:p>
          <a:p>
            <a:pPr eaLnBrk="0" fontAlgn="base" hangingPunct="0">
              <a:lnSpc>
                <a:spcPct val="120000"/>
              </a:lnSpc>
              <a:spcBef>
                <a:spcPct val="20000"/>
              </a:spcBef>
              <a:spcAft>
                <a:spcPct val="0"/>
              </a:spcAft>
              <a:buFont typeface="Wingdings" panose="05000000000000000000" charset="0"/>
              <a:buChar char="p"/>
              <a:defRPr/>
            </a:pPr>
            <a:r>
              <a:rPr lang="zh-CN" altLang="en-US" sz="2400" b="1" kern="0" dirty="0">
                <a:solidFill>
                  <a:srgbClr val="0070C0"/>
                </a:solidFill>
                <a:latin typeface="+mn-ea"/>
              </a:rPr>
              <a:t>定义</a:t>
            </a:r>
            <a:r>
              <a:rPr lang="en-US" altLang="zh-CN" sz="2400" b="1" kern="0" dirty="0">
                <a:solidFill>
                  <a:srgbClr val="0070C0"/>
                </a:solidFill>
                <a:latin typeface="+mn-ea"/>
              </a:rPr>
              <a:t>8.6 </a:t>
            </a:r>
            <a:r>
              <a:rPr lang="zh-CN" altLang="en-US" sz="2400" b="1" kern="0" dirty="0">
                <a:solidFill>
                  <a:srgbClr val="0070C0"/>
                </a:solidFill>
                <a:latin typeface="+mn-ea"/>
              </a:rPr>
              <a:t>引用点</a:t>
            </a:r>
            <a:r>
              <a:rPr lang="zh-CN" altLang="en-US" sz="2400" b="1" kern="0" dirty="0">
                <a:latin typeface="+mn-ea"/>
              </a:rPr>
              <a:t>：引用某个变量</a:t>
            </a:r>
            <a:r>
              <a:rPr lang="en-US" altLang="zh-CN" sz="2400" b="1" kern="0" dirty="0">
                <a:latin typeface="+mn-ea"/>
              </a:rPr>
              <a:t>x</a:t>
            </a:r>
            <a:r>
              <a:rPr lang="zh-CN" altLang="en-US" sz="2400" b="1" kern="0" dirty="0">
                <a:latin typeface="+mn-ea"/>
              </a:rPr>
              <a:t>的四元式的位置称为</a:t>
            </a:r>
            <a:r>
              <a:rPr lang="en-US" altLang="zh-CN" sz="2400" b="1" kern="0" dirty="0">
                <a:solidFill>
                  <a:srgbClr val="0070C0"/>
                </a:solidFill>
                <a:latin typeface="+mn-ea"/>
              </a:rPr>
              <a:t>x</a:t>
            </a:r>
            <a:r>
              <a:rPr lang="zh-CN" altLang="en-US" sz="2400" b="1" kern="0" dirty="0">
                <a:solidFill>
                  <a:srgbClr val="0070C0"/>
                </a:solidFill>
                <a:latin typeface="+mn-ea"/>
              </a:rPr>
              <a:t>的引用点</a:t>
            </a:r>
            <a:r>
              <a:rPr lang="zh-CN" altLang="en-US" sz="2400" b="1" kern="0" dirty="0">
                <a:latin typeface="+mn-ea"/>
              </a:rPr>
              <a:t>。</a:t>
            </a:r>
            <a:endParaRPr lang="en-US" altLang="zh-CN" sz="2400" b="1" kern="0" dirty="0">
              <a:latin typeface="+mn-ea"/>
            </a:endParaRPr>
          </a:p>
          <a:p>
            <a:pPr marL="342900" lvl="1" indent="-342900" eaLnBrk="0" fontAlgn="base" hangingPunct="0">
              <a:lnSpc>
                <a:spcPct val="120000"/>
              </a:lnSpc>
              <a:spcBef>
                <a:spcPct val="20000"/>
              </a:spcBef>
              <a:spcAft>
                <a:spcPct val="0"/>
              </a:spcAft>
              <a:buFont typeface="Wingdings" panose="05000000000000000000" charset="0"/>
              <a:buChar char="p"/>
              <a:defRPr/>
            </a:pPr>
            <a:r>
              <a:rPr lang="zh-CN" altLang="en-US" b="1" kern="0" dirty="0">
                <a:latin typeface="+mn-ea"/>
              </a:rPr>
              <a:t>数据流分析就是分析程序中所有变量的定值与引用之间的关系（</a:t>
            </a:r>
            <a:r>
              <a:rPr lang="zh-CN" altLang="en-US" b="1" kern="0" dirty="0">
                <a:latin typeface="+mn-ea"/>
                <a:hlinkClick r:id="rId1" action="ppaction://hlinksldjump"/>
              </a:rPr>
              <a:t>到达</a:t>
            </a:r>
            <a:r>
              <a:rPr lang="en-US" altLang="zh-CN" b="1" kern="0" dirty="0">
                <a:latin typeface="+mn-ea"/>
                <a:hlinkClick r:id="rId1" action="ppaction://hlinksldjump"/>
              </a:rPr>
              <a:t>-</a:t>
            </a:r>
            <a:r>
              <a:rPr lang="zh-CN" altLang="en-US" b="1" kern="0" dirty="0">
                <a:latin typeface="+mn-ea"/>
                <a:hlinkClick r:id="rId1" action="ppaction://hlinksldjump"/>
              </a:rPr>
              <a:t>定值数据流方程</a:t>
            </a:r>
            <a:r>
              <a:rPr lang="zh-CN" altLang="en-US" b="1" kern="0" dirty="0">
                <a:latin typeface="+mn-ea"/>
              </a:rPr>
              <a:t>）。</a:t>
            </a:r>
            <a:endParaRPr lang="zh-CN" altLang="en-US" b="1" kern="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arn(inHorizont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arn(inHorizontal)">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p:nvPr/>
        </p:nvSpPr>
        <p:spPr>
          <a:xfrm>
            <a:off x="385445" y="1124585"/>
            <a:ext cx="11283950" cy="323215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b="1" dirty="0">
                <a:solidFill>
                  <a:srgbClr val="0070C0"/>
                </a:solidFill>
                <a:latin typeface="+mn-ea"/>
              </a:rPr>
              <a:t>定义</a:t>
            </a:r>
            <a:r>
              <a:rPr lang="en-US" altLang="zh-CN" b="1" dirty="0">
                <a:solidFill>
                  <a:srgbClr val="0070C0"/>
                </a:solidFill>
                <a:latin typeface="+mn-ea"/>
              </a:rPr>
              <a:t>8.7 </a:t>
            </a:r>
            <a:r>
              <a:rPr lang="zh-CN" altLang="en-US" b="1" dirty="0">
                <a:solidFill>
                  <a:srgbClr val="0070C0"/>
                </a:solidFill>
                <a:latin typeface="+mn-ea"/>
              </a:rPr>
              <a:t>到达</a:t>
            </a:r>
            <a:r>
              <a:rPr lang="en-US" altLang="zh-CN" b="1" dirty="0">
                <a:solidFill>
                  <a:srgbClr val="0070C0"/>
                </a:solidFill>
                <a:latin typeface="+mn-ea"/>
              </a:rPr>
              <a:t>-</a:t>
            </a:r>
            <a:r>
              <a:rPr lang="zh-CN" altLang="en-US" b="1" dirty="0">
                <a:solidFill>
                  <a:srgbClr val="0070C0"/>
                </a:solidFill>
                <a:latin typeface="+mn-ea"/>
              </a:rPr>
              <a:t>定值：</a:t>
            </a:r>
            <a:r>
              <a:rPr lang="zh-CN" altLang="en-US" b="1" dirty="0">
                <a:latin typeface="+mn-ea"/>
              </a:rPr>
              <a:t>假定</a:t>
            </a:r>
            <a:r>
              <a:rPr lang="en-US" altLang="zh-CN" b="1" dirty="0">
                <a:latin typeface="+mn-ea"/>
              </a:rPr>
              <a:t>x</a:t>
            </a:r>
            <a:r>
              <a:rPr lang="zh-CN" altLang="en-US" b="1" dirty="0">
                <a:latin typeface="+mn-ea"/>
              </a:rPr>
              <a:t>有定值点</a:t>
            </a:r>
            <a:r>
              <a:rPr lang="en-US" altLang="zh-CN" b="1" dirty="0">
                <a:latin typeface="+mn-ea"/>
              </a:rPr>
              <a:t>d</a:t>
            </a:r>
            <a:r>
              <a:rPr lang="zh-CN" altLang="en-US" b="1" dirty="0">
                <a:latin typeface="+mn-ea"/>
              </a:rPr>
              <a:t>，</a:t>
            </a:r>
            <a:endParaRPr lang="en-US" altLang="zh-CN" b="1" dirty="0">
              <a:latin typeface="+mn-ea"/>
            </a:endParaRPr>
          </a:p>
          <a:p>
            <a:pPr lvl="1">
              <a:lnSpc>
                <a:spcPct val="150000"/>
              </a:lnSpc>
              <a:buFont typeface="Wingdings" panose="05000000000000000000" charset="0"/>
              <a:buChar char="p"/>
            </a:pPr>
            <a:r>
              <a:rPr lang="zh-CN" altLang="en-US" sz="2800" b="1" dirty="0">
                <a:latin typeface="+mn-ea"/>
              </a:rPr>
              <a:t>如果存在某条路径，从</a:t>
            </a:r>
            <a:r>
              <a:rPr lang="en-US" altLang="zh-CN" sz="2800" b="1" dirty="0">
                <a:latin typeface="+mn-ea"/>
              </a:rPr>
              <a:t>d</a:t>
            </a:r>
            <a:r>
              <a:rPr lang="zh-CN" altLang="en-US" sz="2800" b="1" dirty="0">
                <a:latin typeface="+mn-ea"/>
              </a:rPr>
              <a:t>点可以到达某点</a:t>
            </a:r>
            <a:r>
              <a:rPr lang="en-US" altLang="zh-CN" sz="2800" b="1" dirty="0">
                <a:latin typeface="+mn-ea"/>
              </a:rPr>
              <a:t>p</a:t>
            </a:r>
            <a:r>
              <a:rPr lang="zh-CN" altLang="en-US" sz="2800" b="1" dirty="0">
                <a:latin typeface="+mn-ea"/>
              </a:rPr>
              <a:t>，称</a:t>
            </a:r>
            <a:r>
              <a:rPr lang="en-US" altLang="zh-CN" sz="2800" b="1" dirty="0">
                <a:solidFill>
                  <a:srgbClr val="0070C0"/>
                </a:solidFill>
                <a:latin typeface="+mn-ea"/>
              </a:rPr>
              <a:t>x</a:t>
            </a:r>
            <a:r>
              <a:rPr lang="zh-CN" altLang="en-US" sz="2800" b="1" dirty="0">
                <a:solidFill>
                  <a:srgbClr val="0070C0"/>
                </a:solidFill>
                <a:latin typeface="+mn-ea"/>
              </a:rPr>
              <a:t>的定值</a:t>
            </a:r>
            <a:r>
              <a:rPr lang="en-US" altLang="zh-CN" sz="2800" b="1" dirty="0">
                <a:solidFill>
                  <a:srgbClr val="0070C0"/>
                </a:solidFill>
                <a:latin typeface="+mn-ea"/>
              </a:rPr>
              <a:t>d</a:t>
            </a:r>
            <a:r>
              <a:rPr lang="zh-CN" altLang="en-US" sz="2800" b="1" dirty="0">
                <a:solidFill>
                  <a:srgbClr val="0070C0"/>
                </a:solidFill>
                <a:latin typeface="+mn-ea"/>
              </a:rPr>
              <a:t>到达</a:t>
            </a:r>
            <a:r>
              <a:rPr lang="en-US" altLang="zh-CN" sz="2800" b="1" dirty="0">
                <a:solidFill>
                  <a:srgbClr val="0070C0"/>
                </a:solidFill>
                <a:latin typeface="+mn-ea"/>
              </a:rPr>
              <a:t>p</a:t>
            </a:r>
            <a:r>
              <a:rPr lang="zh-CN" altLang="en-US" sz="2800" b="1" dirty="0">
                <a:latin typeface="+mn-ea"/>
              </a:rPr>
              <a:t>。</a:t>
            </a:r>
            <a:endParaRPr lang="en-US" altLang="zh-CN" sz="2800" b="1" dirty="0">
              <a:latin typeface="+mn-ea"/>
            </a:endParaRPr>
          </a:p>
          <a:p>
            <a:pPr lvl="1">
              <a:lnSpc>
                <a:spcPct val="150000"/>
              </a:lnSpc>
              <a:buFont typeface="Wingdings" panose="05000000000000000000" charset="0"/>
              <a:buChar char="p"/>
            </a:pPr>
            <a:r>
              <a:rPr lang="zh-CN" altLang="en-US" sz="2800" b="1" dirty="0">
                <a:latin typeface="+mn-ea"/>
              </a:rPr>
              <a:t>如果</a:t>
            </a:r>
            <a:r>
              <a:rPr lang="en-US" altLang="zh-CN" sz="2800" b="1" dirty="0">
                <a:latin typeface="+mn-ea"/>
              </a:rPr>
              <a:t>d</a:t>
            </a:r>
            <a:r>
              <a:rPr lang="zh-CN" altLang="en-US" sz="2800" b="1" dirty="0">
                <a:latin typeface="+mn-ea"/>
              </a:rPr>
              <a:t>之后</a:t>
            </a:r>
            <a:r>
              <a:rPr lang="en-US" altLang="zh-CN" sz="2800" b="1" dirty="0">
                <a:latin typeface="+mn-ea"/>
              </a:rPr>
              <a:t>p</a:t>
            </a:r>
            <a:r>
              <a:rPr lang="zh-CN" altLang="en-US" sz="2800" b="1" dirty="0">
                <a:latin typeface="+mn-ea"/>
              </a:rPr>
              <a:t>之前某点处对变量</a:t>
            </a:r>
            <a:r>
              <a:rPr lang="en-US" altLang="zh-CN" sz="2800" b="1" dirty="0">
                <a:latin typeface="+mn-ea"/>
              </a:rPr>
              <a:t>x</a:t>
            </a:r>
            <a:r>
              <a:rPr lang="zh-CN" altLang="en-US" sz="2800" b="1" dirty="0">
                <a:latin typeface="+mn-ea"/>
              </a:rPr>
              <a:t>有最新定值，则点</a:t>
            </a:r>
            <a:r>
              <a:rPr lang="en-US" altLang="zh-CN" sz="2800" b="1" dirty="0">
                <a:latin typeface="+mn-ea"/>
              </a:rPr>
              <a:t>p</a:t>
            </a:r>
            <a:r>
              <a:rPr lang="zh-CN" altLang="en-US" sz="2800" b="1" dirty="0">
                <a:latin typeface="+mn-ea"/>
              </a:rPr>
              <a:t>处便不能引用</a:t>
            </a:r>
            <a:r>
              <a:rPr lang="en-US" altLang="zh-CN" sz="2800" b="1" dirty="0">
                <a:latin typeface="+mn-ea"/>
              </a:rPr>
              <a:t>x</a:t>
            </a:r>
            <a:r>
              <a:rPr lang="zh-CN" altLang="en-US" sz="2800" b="1" dirty="0">
                <a:latin typeface="+mn-ea"/>
              </a:rPr>
              <a:t>在点</a:t>
            </a:r>
            <a:r>
              <a:rPr lang="en-US" altLang="zh-CN" sz="2800" b="1" dirty="0">
                <a:latin typeface="+mn-ea"/>
              </a:rPr>
              <a:t>d</a:t>
            </a:r>
            <a:r>
              <a:rPr lang="zh-CN" altLang="en-US" sz="2800" b="1" dirty="0">
                <a:latin typeface="+mn-ea"/>
              </a:rPr>
              <a:t>处的定值，称</a:t>
            </a:r>
            <a:r>
              <a:rPr lang="en-US" altLang="zh-CN" sz="2800" b="1" dirty="0">
                <a:latin typeface="+mn-ea"/>
              </a:rPr>
              <a:t>x</a:t>
            </a:r>
            <a:r>
              <a:rPr lang="zh-CN" altLang="en-US" sz="2800" b="1" dirty="0">
                <a:latin typeface="+mn-ea"/>
              </a:rPr>
              <a:t>的定值</a:t>
            </a:r>
            <a:r>
              <a:rPr lang="en-US" altLang="zh-CN" sz="2800" b="1" dirty="0">
                <a:latin typeface="+mn-ea"/>
              </a:rPr>
              <a:t>d</a:t>
            </a:r>
            <a:r>
              <a:rPr lang="zh-CN" altLang="en-US" sz="2800" b="1" dirty="0">
                <a:latin typeface="+mn-ea"/>
              </a:rPr>
              <a:t>被注销，因而</a:t>
            </a:r>
            <a:r>
              <a:rPr lang="zh-CN" altLang="en-US" sz="2800" b="1" dirty="0">
                <a:solidFill>
                  <a:srgbClr val="0070C0"/>
                </a:solidFill>
                <a:latin typeface="+mn-ea"/>
              </a:rPr>
              <a:t>点</a:t>
            </a:r>
            <a:r>
              <a:rPr lang="en-US" altLang="zh-CN" sz="2800" b="1" dirty="0">
                <a:solidFill>
                  <a:srgbClr val="0070C0"/>
                </a:solidFill>
                <a:latin typeface="+mn-ea"/>
              </a:rPr>
              <a:t>d</a:t>
            </a:r>
            <a:r>
              <a:rPr lang="zh-CN" altLang="en-US" sz="2800" b="1" dirty="0">
                <a:solidFill>
                  <a:srgbClr val="0070C0"/>
                </a:solidFill>
                <a:latin typeface="+mn-ea"/>
              </a:rPr>
              <a:t>处的定值不能到达点</a:t>
            </a:r>
            <a:r>
              <a:rPr lang="en-US" altLang="zh-CN" sz="2800" b="1" dirty="0">
                <a:solidFill>
                  <a:srgbClr val="0070C0"/>
                </a:solidFill>
                <a:latin typeface="+mn-ea"/>
              </a:rPr>
              <a:t>p</a:t>
            </a:r>
            <a:r>
              <a:rPr lang="zh-CN" altLang="en-US" sz="2800" b="1" dirty="0">
                <a:latin typeface="+mn-ea"/>
              </a:rPr>
              <a:t>。</a:t>
            </a:r>
            <a:endParaRPr lang="zh-CN" altLang="en-US" sz="2800" b="1" dirty="0">
              <a:latin typeface="+mn-ea"/>
            </a:endParaRPr>
          </a:p>
        </p:txBody>
      </p:sp>
      <p:sp>
        <p:nvSpPr>
          <p:cNvPr id="3" name="文本占位符 2"/>
          <p:cNvSpPr>
            <a:spLocks noGrp="1"/>
          </p:cNvSpPr>
          <p:nvPr>
            <p:ph type="body" sz="quarter" idx="14"/>
            <p:custDataLst>
              <p:tags r:id="rId1"/>
            </p:custDataLst>
          </p:nvPr>
        </p:nvSpPr>
        <p:spPr>
          <a:xfrm>
            <a:off x="283845" y="276860"/>
            <a:ext cx="8017510" cy="593090"/>
          </a:xfrm>
        </p:spPr>
        <p:txBody>
          <a:bodyPr/>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arn(inHorizontal)">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424815" y="1137920"/>
            <a:ext cx="11379835" cy="387540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b="1" dirty="0">
                <a:solidFill>
                  <a:srgbClr val="0070C0"/>
                </a:solidFill>
                <a:latin typeface="+mn-ea"/>
              </a:rPr>
              <a:t>定义</a:t>
            </a:r>
            <a:r>
              <a:rPr lang="en-US" altLang="zh-CN" b="1" dirty="0">
                <a:solidFill>
                  <a:srgbClr val="0070C0"/>
                </a:solidFill>
                <a:latin typeface="+mn-ea"/>
              </a:rPr>
              <a:t>8.7</a:t>
            </a:r>
            <a:r>
              <a:rPr lang="zh-CN" altLang="en-US" b="1" dirty="0">
                <a:solidFill>
                  <a:srgbClr val="0070C0"/>
                </a:solidFill>
                <a:latin typeface="+mn-ea"/>
              </a:rPr>
              <a:t>引用</a:t>
            </a:r>
            <a:r>
              <a:rPr lang="en-US" altLang="zh-CN" b="1" dirty="0">
                <a:solidFill>
                  <a:srgbClr val="0070C0"/>
                </a:solidFill>
                <a:latin typeface="+mn-ea"/>
              </a:rPr>
              <a:t>-</a:t>
            </a:r>
            <a:r>
              <a:rPr lang="zh-CN" altLang="en-US" b="1" dirty="0">
                <a:solidFill>
                  <a:srgbClr val="0070C0"/>
                </a:solidFill>
                <a:latin typeface="+mn-ea"/>
              </a:rPr>
              <a:t>定值链</a:t>
            </a:r>
            <a:r>
              <a:rPr lang="zh-CN" altLang="en-US" b="1" dirty="0">
                <a:latin typeface="+mn-ea"/>
              </a:rPr>
              <a:t>：设变量</a:t>
            </a:r>
            <a:r>
              <a:rPr lang="en-US" altLang="zh-CN" b="1" dirty="0">
                <a:latin typeface="+mn-ea"/>
              </a:rPr>
              <a:t>x</a:t>
            </a:r>
            <a:r>
              <a:rPr lang="zh-CN" altLang="en-US" b="1" dirty="0">
                <a:latin typeface="+mn-ea"/>
              </a:rPr>
              <a:t>有一个引用点</a:t>
            </a:r>
            <a:r>
              <a:rPr lang="en-US" altLang="zh-CN" b="1" dirty="0">
                <a:latin typeface="+mn-ea"/>
              </a:rPr>
              <a:t>u</a:t>
            </a:r>
            <a:r>
              <a:rPr lang="zh-CN" altLang="en-US" b="1" dirty="0">
                <a:latin typeface="+mn-ea"/>
              </a:rPr>
              <a:t>，变量</a:t>
            </a:r>
            <a:r>
              <a:rPr lang="en-US" altLang="zh-CN" b="1" dirty="0">
                <a:latin typeface="+mn-ea"/>
              </a:rPr>
              <a:t>x</a:t>
            </a:r>
            <a:r>
              <a:rPr lang="zh-CN" altLang="en-US" b="1" dirty="0">
                <a:latin typeface="+mn-ea"/>
              </a:rPr>
              <a:t>的所有能到达</a:t>
            </a:r>
            <a:r>
              <a:rPr lang="en-US" altLang="zh-CN" b="1" dirty="0">
                <a:latin typeface="+mn-ea"/>
              </a:rPr>
              <a:t>u</a:t>
            </a:r>
            <a:r>
              <a:rPr lang="zh-CN" altLang="en-US" b="1" dirty="0">
                <a:latin typeface="+mn-ea"/>
              </a:rPr>
              <a:t>的一切定值称为</a:t>
            </a:r>
            <a:r>
              <a:rPr lang="en-US" altLang="zh-CN" b="1" dirty="0">
                <a:solidFill>
                  <a:srgbClr val="0070C0"/>
                </a:solidFill>
                <a:latin typeface="+mn-ea"/>
              </a:rPr>
              <a:t>x</a:t>
            </a:r>
            <a:r>
              <a:rPr lang="zh-CN" altLang="en-US" b="1" dirty="0">
                <a:solidFill>
                  <a:srgbClr val="0070C0"/>
                </a:solidFill>
                <a:latin typeface="+mn-ea"/>
              </a:rPr>
              <a:t>在</a:t>
            </a:r>
            <a:r>
              <a:rPr lang="en-US" altLang="zh-CN" b="1" dirty="0">
                <a:solidFill>
                  <a:srgbClr val="0070C0"/>
                </a:solidFill>
                <a:latin typeface="+mn-ea"/>
              </a:rPr>
              <a:t>u</a:t>
            </a:r>
            <a:r>
              <a:rPr lang="zh-CN" altLang="en-US" b="1" dirty="0">
                <a:solidFill>
                  <a:srgbClr val="0070C0"/>
                </a:solidFill>
                <a:latin typeface="+mn-ea"/>
              </a:rPr>
              <a:t>点处的引用</a:t>
            </a:r>
            <a:r>
              <a:rPr lang="en-US" altLang="zh-CN" b="1" dirty="0">
                <a:solidFill>
                  <a:srgbClr val="0070C0"/>
                </a:solidFill>
                <a:latin typeface="+mn-ea"/>
              </a:rPr>
              <a:t>-</a:t>
            </a:r>
            <a:r>
              <a:rPr lang="zh-CN" altLang="en-US" b="1" dirty="0">
                <a:solidFill>
                  <a:srgbClr val="0070C0"/>
                </a:solidFill>
                <a:latin typeface="+mn-ea"/>
              </a:rPr>
              <a:t>定值链</a:t>
            </a:r>
            <a:r>
              <a:rPr lang="zh-CN" altLang="en-US" b="1" dirty="0">
                <a:latin typeface="+mn-ea"/>
              </a:rPr>
              <a:t>，简称</a:t>
            </a:r>
            <a:r>
              <a:rPr lang="en-US" altLang="zh-CN" b="1" dirty="0" err="1">
                <a:solidFill>
                  <a:srgbClr val="0070C0"/>
                </a:solidFill>
                <a:latin typeface="+mn-ea"/>
              </a:rPr>
              <a:t>ud</a:t>
            </a:r>
            <a:r>
              <a:rPr lang="zh-CN" altLang="en-US" b="1" dirty="0">
                <a:solidFill>
                  <a:srgbClr val="0070C0"/>
                </a:solidFill>
                <a:latin typeface="+mn-ea"/>
              </a:rPr>
              <a:t>链</a:t>
            </a:r>
            <a:endParaRPr lang="zh-CN" altLang="en-US" b="1" dirty="0">
              <a:solidFill>
                <a:srgbClr val="0070C0"/>
              </a:solidFill>
              <a:latin typeface="+mn-ea"/>
            </a:endParaRPr>
          </a:p>
          <a:p>
            <a:pPr lvl="1">
              <a:lnSpc>
                <a:spcPct val="125000"/>
              </a:lnSpc>
              <a:spcBef>
                <a:spcPct val="0"/>
              </a:spcBef>
              <a:spcAft>
                <a:spcPts val="0"/>
              </a:spcAft>
              <a:buFont typeface="Wingdings" panose="05000000000000000000" charset="0"/>
              <a:buChar char="p"/>
            </a:pPr>
            <a:r>
              <a:rPr lang="zh-CN" altLang="en-US" sz="2800" b="1" dirty="0">
                <a:latin typeface="+mn-ea"/>
              </a:rPr>
              <a:t>通过变量</a:t>
            </a:r>
            <a:r>
              <a:rPr lang="en-US" altLang="zh-CN" sz="2800" b="1" dirty="0">
                <a:latin typeface="+mn-ea"/>
              </a:rPr>
              <a:t>x</a:t>
            </a:r>
            <a:r>
              <a:rPr lang="zh-CN" altLang="en-US" sz="2800" b="1" dirty="0">
                <a:latin typeface="+mn-ea"/>
              </a:rPr>
              <a:t>在循环内某引用点</a:t>
            </a:r>
            <a:r>
              <a:rPr lang="en-US" altLang="zh-CN" sz="2800" b="1" dirty="0">
                <a:latin typeface="+mn-ea"/>
              </a:rPr>
              <a:t>u</a:t>
            </a:r>
            <a:r>
              <a:rPr lang="zh-CN" altLang="en-US" sz="2800" b="1" dirty="0">
                <a:latin typeface="+mn-ea"/>
              </a:rPr>
              <a:t>的</a:t>
            </a:r>
            <a:r>
              <a:rPr lang="en-US" altLang="zh-CN" sz="2800" b="1" dirty="0" err="1">
                <a:latin typeface="+mn-ea"/>
              </a:rPr>
              <a:t>ud</a:t>
            </a:r>
            <a:r>
              <a:rPr lang="zh-CN" altLang="en-US" sz="2800" b="1" dirty="0">
                <a:latin typeface="+mn-ea"/>
              </a:rPr>
              <a:t>链，就能确定</a:t>
            </a:r>
            <a:r>
              <a:rPr lang="en-US" altLang="zh-CN" sz="2800" b="1" dirty="0">
                <a:latin typeface="+mn-ea"/>
              </a:rPr>
              <a:t>x</a:t>
            </a:r>
            <a:r>
              <a:rPr lang="zh-CN" altLang="en-US" sz="2800" b="1" dirty="0">
                <a:latin typeface="+mn-ea"/>
              </a:rPr>
              <a:t>在点</a:t>
            </a:r>
            <a:r>
              <a:rPr lang="en-US" altLang="zh-CN" sz="2800" b="1" dirty="0">
                <a:latin typeface="+mn-ea"/>
              </a:rPr>
              <a:t>u</a:t>
            </a:r>
            <a:r>
              <a:rPr lang="zh-CN" altLang="en-US" sz="2800" b="1" dirty="0">
                <a:latin typeface="+mn-ea"/>
              </a:rPr>
              <a:t>处的值是在何处定值的，</a:t>
            </a:r>
            <a:r>
              <a:rPr lang="zh-CN" altLang="en-US" sz="2800" b="1" dirty="0">
                <a:solidFill>
                  <a:srgbClr val="0070C0"/>
                </a:solidFill>
                <a:latin typeface="+mn-ea"/>
              </a:rPr>
              <a:t>从而判断</a:t>
            </a:r>
            <a:r>
              <a:rPr lang="en-US" altLang="zh-CN" sz="2800" b="1" dirty="0">
                <a:solidFill>
                  <a:srgbClr val="0070C0"/>
                </a:solidFill>
                <a:latin typeface="+mn-ea"/>
              </a:rPr>
              <a:t>x</a:t>
            </a:r>
            <a:r>
              <a:rPr lang="zh-CN" altLang="en-US" sz="2800" b="1" dirty="0">
                <a:solidFill>
                  <a:srgbClr val="0070C0"/>
                </a:solidFill>
                <a:latin typeface="+mn-ea"/>
              </a:rPr>
              <a:t>是否是循环不变量</a:t>
            </a:r>
            <a:endParaRPr lang="en-US" altLang="zh-CN" sz="2800" b="1" dirty="0">
              <a:solidFill>
                <a:srgbClr val="0070C0"/>
              </a:solidFill>
              <a:latin typeface="+mn-ea"/>
            </a:endParaRPr>
          </a:p>
          <a:p>
            <a:pPr>
              <a:lnSpc>
                <a:spcPct val="125000"/>
              </a:lnSpc>
              <a:spcBef>
                <a:spcPct val="0"/>
              </a:spcBef>
              <a:spcAft>
                <a:spcPts val="0"/>
              </a:spcAft>
              <a:buFont typeface="Wingdings" panose="05000000000000000000" charset="0"/>
              <a:buChar char="p"/>
            </a:pPr>
            <a:r>
              <a:rPr lang="zh-CN" altLang="en-US" b="1" dirty="0">
                <a:latin typeface="+mn-ea"/>
              </a:rPr>
              <a:t>如何计算循环内一切变量引用点处的</a:t>
            </a:r>
            <a:r>
              <a:rPr lang="en-US" altLang="zh-CN" b="1" dirty="0" err="1">
                <a:latin typeface="+mn-ea"/>
              </a:rPr>
              <a:t>ud</a:t>
            </a:r>
            <a:r>
              <a:rPr lang="zh-CN" altLang="en-US" b="1" dirty="0">
                <a:latin typeface="+mn-ea"/>
              </a:rPr>
              <a:t>链？</a:t>
            </a:r>
            <a:endParaRPr lang="en-US" altLang="zh-CN" b="1" dirty="0">
              <a:latin typeface="+mn-ea"/>
            </a:endParaRPr>
          </a:p>
          <a:p>
            <a:pPr lvl="1">
              <a:lnSpc>
                <a:spcPct val="125000"/>
              </a:lnSpc>
              <a:spcBef>
                <a:spcPct val="0"/>
              </a:spcBef>
              <a:spcAft>
                <a:spcPts val="0"/>
              </a:spcAft>
              <a:buFont typeface="Wingdings" panose="05000000000000000000" charset="0"/>
              <a:buChar char="p"/>
            </a:pPr>
            <a:r>
              <a:rPr lang="zh-CN" altLang="en-US" sz="2800" b="1" dirty="0">
                <a:latin typeface="+mn-ea"/>
              </a:rPr>
              <a:t>循环由若干个基本块构成，即计算构成循环的各基本块内一切变量的引用点处的</a:t>
            </a:r>
            <a:r>
              <a:rPr lang="en-US" altLang="zh-CN" sz="2800" b="1" dirty="0" err="1">
                <a:latin typeface="+mn-ea"/>
              </a:rPr>
              <a:t>ud</a:t>
            </a:r>
            <a:r>
              <a:rPr lang="zh-CN" altLang="en-US" sz="2800" b="1" dirty="0">
                <a:latin typeface="+mn-ea"/>
              </a:rPr>
              <a:t>链；</a:t>
            </a:r>
            <a:endParaRPr lang="zh-CN" altLang="en-US" sz="2800" b="1" dirty="0">
              <a:latin typeface="+mn-ea"/>
            </a:endParaRPr>
          </a:p>
          <a:p>
            <a:pPr lvl="1">
              <a:lnSpc>
                <a:spcPct val="125000"/>
              </a:lnSpc>
              <a:spcBef>
                <a:spcPct val="0"/>
              </a:spcBef>
              <a:spcAft>
                <a:spcPts val="0"/>
              </a:spcAft>
              <a:buFont typeface="Wingdings" panose="05000000000000000000" charset="0"/>
              <a:buChar char="p"/>
            </a:pPr>
            <a:r>
              <a:rPr lang="zh-CN" altLang="en-US" sz="2800" b="1" dirty="0">
                <a:latin typeface="+mn-ea"/>
              </a:rPr>
              <a:t>计算的目的：通过变量</a:t>
            </a:r>
            <a:r>
              <a:rPr lang="en-US" altLang="zh-CN" sz="2800" b="1" dirty="0">
                <a:latin typeface="+mn-ea"/>
              </a:rPr>
              <a:t>x</a:t>
            </a:r>
            <a:r>
              <a:rPr lang="zh-CN" altLang="en-US" sz="2800" b="1" dirty="0">
                <a:latin typeface="+mn-ea"/>
              </a:rPr>
              <a:t>在循环内某引用点</a:t>
            </a:r>
            <a:r>
              <a:rPr lang="en-US" altLang="zh-CN" sz="2800" b="1" dirty="0">
                <a:latin typeface="+mn-ea"/>
              </a:rPr>
              <a:t>u</a:t>
            </a:r>
            <a:r>
              <a:rPr lang="zh-CN" altLang="en-US" sz="2800" b="1" dirty="0">
                <a:latin typeface="+mn-ea"/>
              </a:rPr>
              <a:t>的</a:t>
            </a:r>
            <a:r>
              <a:rPr lang="en-US" altLang="zh-CN" sz="2800" b="1" dirty="0" err="1">
                <a:latin typeface="+mn-ea"/>
              </a:rPr>
              <a:t>ud</a:t>
            </a:r>
            <a:r>
              <a:rPr lang="zh-CN" altLang="en-US" sz="2800" b="1" dirty="0">
                <a:latin typeface="+mn-ea"/>
              </a:rPr>
              <a:t>链，从而判断</a:t>
            </a:r>
            <a:r>
              <a:rPr lang="en-US" altLang="zh-CN" sz="2800" b="1" dirty="0">
                <a:latin typeface="+mn-ea"/>
              </a:rPr>
              <a:t>x</a:t>
            </a:r>
            <a:r>
              <a:rPr lang="zh-CN" altLang="en-US" sz="2800" b="1" dirty="0">
                <a:latin typeface="+mn-ea"/>
              </a:rPr>
              <a:t>是否是循环不变量，从而进行循环表达式优化。</a:t>
            </a:r>
            <a:endParaRPr lang="zh-CN" altLang="en-US" sz="2800" b="1" dirty="0">
              <a:latin typeface="+mn-ea"/>
            </a:endParaRPr>
          </a:p>
        </p:txBody>
      </p:sp>
      <p:sp>
        <p:nvSpPr>
          <p:cNvPr id="3" name="文本占位符 2"/>
          <p:cNvSpPr>
            <a:spLocks noGrp="1"/>
          </p:cNvSpPr>
          <p:nvPr>
            <p:ph type="body" sz="quarter" idx="14"/>
            <p:custDataLst>
              <p:tags r:id="rId1"/>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Horizont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p:nvPr/>
        </p:nvSpPr>
        <p:spPr>
          <a:xfrm>
            <a:off x="435610" y="1313815"/>
            <a:ext cx="11557635" cy="408940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en-US" altLang="zh-CN" b="1" dirty="0">
                <a:latin typeface="+mn-ea"/>
                <a:hlinkClick r:id="rId1" action="ppaction://hlinksldjump"/>
              </a:rPr>
              <a:t>IN[B]: </a:t>
            </a:r>
            <a:r>
              <a:rPr lang="zh-CN" altLang="en-US" b="1" dirty="0">
                <a:latin typeface="+mn-ea"/>
              </a:rPr>
              <a:t>表示能到达基本块</a:t>
            </a:r>
            <a:r>
              <a:rPr lang="en-US" altLang="zh-CN" b="1" dirty="0">
                <a:latin typeface="+mn-ea"/>
              </a:rPr>
              <a:t>B</a:t>
            </a:r>
            <a:r>
              <a:rPr lang="zh-CN" altLang="en-US" b="1" dirty="0">
                <a:latin typeface="+mn-ea"/>
              </a:rPr>
              <a:t>的入口点之前的各变量定值点集合。</a:t>
            </a:r>
            <a:endParaRPr lang="en-US" altLang="zh-CN" b="1" dirty="0">
              <a:latin typeface="+mn-ea"/>
            </a:endParaRPr>
          </a:p>
          <a:p>
            <a:pPr>
              <a:lnSpc>
                <a:spcPct val="125000"/>
              </a:lnSpc>
              <a:spcBef>
                <a:spcPct val="0"/>
              </a:spcBef>
              <a:spcAft>
                <a:spcPts val="0"/>
              </a:spcAft>
              <a:buFont typeface="Wingdings" panose="05000000000000000000" charset="0"/>
              <a:buChar char="p"/>
            </a:pPr>
            <a:r>
              <a:rPr lang="zh-CN" altLang="en-US" b="1" dirty="0">
                <a:latin typeface="+mn-ea"/>
              </a:rPr>
              <a:t>在基本块</a:t>
            </a:r>
            <a:r>
              <a:rPr lang="en-US" altLang="zh-CN" b="1" dirty="0">
                <a:latin typeface="+mn-ea"/>
              </a:rPr>
              <a:t>B</a:t>
            </a:r>
            <a:r>
              <a:rPr lang="zh-CN" altLang="en-US" b="1" dirty="0">
                <a:latin typeface="+mn-ea"/>
              </a:rPr>
              <a:t>中，点</a:t>
            </a:r>
            <a:r>
              <a:rPr lang="en-US" altLang="zh-CN" b="1" dirty="0">
                <a:latin typeface="+mn-ea"/>
              </a:rPr>
              <a:t>p</a:t>
            </a:r>
            <a:r>
              <a:rPr lang="zh-CN" altLang="en-US" b="1" dirty="0">
                <a:latin typeface="+mn-ea"/>
              </a:rPr>
              <a:t>处</a:t>
            </a:r>
            <a:r>
              <a:rPr lang="en-US" altLang="zh-CN" b="1" dirty="0">
                <a:latin typeface="+mn-ea"/>
              </a:rPr>
              <a:t>x</a:t>
            </a:r>
            <a:r>
              <a:rPr lang="zh-CN" altLang="en-US" b="1" dirty="0">
                <a:latin typeface="+mn-ea"/>
              </a:rPr>
              <a:t>的</a:t>
            </a:r>
            <a:r>
              <a:rPr lang="en-US" altLang="zh-CN" b="1" dirty="0" err="1">
                <a:latin typeface="+mn-ea"/>
              </a:rPr>
              <a:t>ud</a:t>
            </a:r>
            <a:r>
              <a:rPr lang="zh-CN" altLang="en-US" b="1" dirty="0">
                <a:latin typeface="+mn-ea"/>
              </a:rPr>
              <a:t>链的计算方式如下：</a:t>
            </a:r>
            <a:endParaRPr lang="zh-CN" altLang="en-US" b="1" dirty="0">
              <a:latin typeface="+mn-ea"/>
            </a:endParaRPr>
          </a:p>
          <a:p>
            <a:pPr lvl="1">
              <a:lnSpc>
                <a:spcPct val="125000"/>
              </a:lnSpc>
              <a:spcBef>
                <a:spcPct val="0"/>
              </a:spcBef>
              <a:spcAft>
                <a:spcPts val="0"/>
              </a:spcAft>
              <a:buFont typeface="Wingdings" panose="05000000000000000000" charset="0"/>
              <a:buChar char="p"/>
            </a:pPr>
            <a:r>
              <a:rPr lang="zh-CN" altLang="en-US" sz="2800" b="1" dirty="0">
                <a:latin typeface="+mn-ea"/>
              </a:rPr>
              <a:t>如果在</a:t>
            </a:r>
            <a:r>
              <a:rPr lang="en-US" altLang="zh-CN" sz="2800" b="1" dirty="0">
                <a:latin typeface="+mn-ea"/>
              </a:rPr>
              <a:t>B</a:t>
            </a:r>
            <a:r>
              <a:rPr lang="zh-CN" altLang="en-US" sz="2800" b="1" dirty="0">
                <a:latin typeface="+mn-ea"/>
              </a:rPr>
              <a:t>中，点</a:t>
            </a:r>
            <a:r>
              <a:rPr lang="en-US" altLang="zh-CN" sz="2800" b="1" dirty="0">
                <a:latin typeface="+mn-ea"/>
              </a:rPr>
              <a:t>p</a:t>
            </a:r>
            <a:r>
              <a:rPr lang="zh-CN" altLang="en-US" sz="2800" b="1" dirty="0">
                <a:latin typeface="+mn-ea"/>
              </a:rPr>
              <a:t>之前有</a:t>
            </a:r>
            <a:r>
              <a:rPr lang="en-US" altLang="zh-CN" sz="2800" b="1" dirty="0">
                <a:latin typeface="+mn-ea"/>
              </a:rPr>
              <a:t>x</a:t>
            </a:r>
            <a:r>
              <a:rPr lang="zh-CN" altLang="en-US" sz="2800" b="1" dirty="0">
                <a:latin typeface="+mn-ea"/>
              </a:rPr>
              <a:t>的定值点</a:t>
            </a:r>
            <a:r>
              <a:rPr lang="en-US" altLang="zh-CN" sz="2800" b="1" dirty="0">
                <a:latin typeface="+mn-ea"/>
              </a:rPr>
              <a:t>d</a:t>
            </a:r>
            <a:r>
              <a:rPr lang="zh-CN" altLang="en-US" sz="2800" b="1" dirty="0">
                <a:latin typeface="+mn-ea"/>
              </a:rPr>
              <a:t>，且这个定值能够到达</a:t>
            </a:r>
            <a:r>
              <a:rPr lang="en-US" altLang="zh-CN" sz="2800" b="1" dirty="0">
                <a:latin typeface="+mn-ea"/>
              </a:rPr>
              <a:t>p</a:t>
            </a:r>
            <a:r>
              <a:rPr lang="zh-CN" altLang="en-US" sz="2800" b="1" dirty="0">
                <a:latin typeface="+mn-ea"/>
              </a:rPr>
              <a:t>，则点</a:t>
            </a:r>
            <a:r>
              <a:rPr lang="en-US" altLang="zh-CN" sz="2800" b="1" dirty="0">
                <a:latin typeface="+mn-ea"/>
              </a:rPr>
              <a:t>p</a:t>
            </a:r>
            <a:r>
              <a:rPr lang="zh-CN" altLang="en-US" sz="2800" b="1" dirty="0">
                <a:latin typeface="+mn-ea"/>
              </a:rPr>
              <a:t>处</a:t>
            </a:r>
            <a:r>
              <a:rPr lang="en-US" altLang="zh-CN" sz="2800" b="1" dirty="0">
                <a:latin typeface="+mn-ea"/>
              </a:rPr>
              <a:t>x</a:t>
            </a:r>
            <a:r>
              <a:rPr lang="zh-CN" altLang="en-US" sz="2800" b="1" dirty="0">
                <a:latin typeface="+mn-ea"/>
              </a:rPr>
              <a:t>的</a:t>
            </a:r>
            <a:r>
              <a:rPr lang="en-US" altLang="zh-CN" sz="2800" b="1" dirty="0" err="1">
                <a:latin typeface="+mn-ea"/>
              </a:rPr>
              <a:t>ud</a:t>
            </a:r>
            <a:r>
              <a:rPr lang="zh-CN" altLang="en-US" sz="2800" b="1" dirty="0">
                <a:latin typeface="+mn-ea"/>
              </a:rPr>
              <a:t>链是</a:t>
            </a:r>
            <a:r>
              <a:rPr lang="en-US" altLang="zh-CN" sz="2800" b="1" dirty="0">
                <a:latin typeface="+mn-ea"/>
              </a:rPr>
              <a:t>{d}</a:t>
            </a:r>
            <a:r>
              <a:rPr lang="zh-CN" altLang="en-US" sz="2800" b="1" dirty="0">
                <a:latin typeface="+mn-ea"/>
              </a:rPr>
              <a:t>。</a:t>
            </a:r>
            <a:endParaRPr lang="zh-CN" altLang="en-US" sz="2800" b="1" dirty="0">
              <a:latin typeface="+mn-ea"/>
            </a:endParaRPr>
          </a:p>
          <a:p>
            <a:pPr lvl="1">
              <a:lnSpc>
                <a:spcPct val="125000"/>
              </a:lnSpc>
              <a:spcBef>
                <a:spcPct val="0"/>
              </a:spcBef>
              <a:spcAft>
                <a:spcPts val="0"/>
              </a:spcAft>
              <a:buFont typeface="Wingdings" panose="05000000000000000000" charset="0"/>
              <a:buChar char="p"/>
            </a:pPr>
            <a:r>
              <a:rPr lang="zh-CN" altLang="en-US" sz="2800" b="1" dirty="0">
                <a:latin typeface="+mn-ea"/>
              </a:rPr>
              <a:t>如果在</a:t>
            </a:r>
            <a:r>
              <a:rPr lang="en-US" altLang="zh-CN" sz="2800" b="1" dirty="0">
                <a:latin typeface="+mn-ea"/>
              </a:rPr>
              <a:t>B</a:t>
            </a:r>
            <a:r>
              <a:rPr lang="zh-CN" altLang="en-US" sz="2800" b="1" dirty="0">
                <a:latin typeface="+mn-ea"/>
              </a:rPr>
              <a:t>中，点</a:t>
            </a:r>
            <a:r>
              <a:rPr lang="en-US" altLang="zh-CN" sz="2800" b="1" dirty="0">
                <a:latin typeface="+mn-ea"/>
              </a:rPr>
              <a:t>p</a:t>
            </a:r>
            <a:r>
              <a:rPr lang="zh-CN" altLang="en-US" sz="2800" b="1" dirty="0">
                <a:latin typeface="+mn-ea"/>
              </a:rPr>
              <a:t>之前没有</a:t>
            </a:r>
            <a:r>
              <a:rPr lang="en-US" altLang="zh-CN" sz="2800" b="1" dirty="0">
                <a:latin typeface="+mn-ea"/>
              </a:rPr>
              <a:t>x</a:t>
            </a:r>
            <a:r>
              <a:rPr lang="zh-CN" altLang="en-US" sz="2800" b="1" dirty="0">
                <a:latin typeface="+mn-ea"/>
              </a:rPr>
              <a:t>的定值点</a:t>
            </a:r>
            <a:r>
              <a:rPr lang="en-US" altLang="zh-CN" sz="2800" b="1" dirty="0">
                <a:latin typeface="+mn-ea"/>
              </a:rPr>
              <a:t>d</a:t>
            </a:r>
            <a:r>
              <a:rPr lang="zh-CN" altLang="en-US" sz="2800" b="1" dirty="0">
                <a:latin typeface="+mn-ea"/>
              </a:rPr>
              <a:t>，则</a:t>
            </a:r>
            <a:r>
              <a:rPr lang="en-US" altLang="zh-CN" sz="2800" b="1" dirty="0">
                <a:latin typeface="+mn-ea"/>
              </a:rPr>
              <a:t>IN[B]</a:t>
            </a:r>
            <a:r>
              <a:rPr lang="zh-CN" altLang="en-US" sz="2800" b="1" dirty="0">
                <a:latin typeface="+mn-ea"/>
              </a:rPr>
              <a:t>中关于变量</a:t>
            </a:r>
            <a:r>
              <a:rPr lang="en-US" altLang="zh-CN" sz="2800" b="1" dirty="0">
                <a:latin typeface="+mn-ea"/>
              </a:rPr>
              <a:t>x</a:t>
            </a:r>
            <a:r>
              <a:rPr lang="zh-CN" altLang="en-US" sz="2800" b="1" dirty="0">
                <a:latin typeface="+mn-ea"/>
              </a:rPr>
              <a:t>的每个定值都能到达点</a:t>
            </a:r>
            <a:r>
              <a:rPr lang="en-US" altLang="zh-CN" sz="2800" b="1" dirty="0">
                <a:latin typeface="+mn-ea"/>
              </a:rPr>
              <a:t>p</a:t>
            </a:r>
            <a:r>
              <a:rPr lang="zh-CN" altLang="en-US" sz="2800" b="1" dirty="0">
                <a:latin typeface="+mn-ea"/>
              </a:rPr>
              <a:t>，即点</a:t>
            </a:r>
            <a:r>
              <a:rPr lang="en-US" altLang="zh-CN" sz="2800" b="1" dirty="0">
                <a:latin typeface="+mn-ea"/>
              </a:rPr>
              <a:t>p</a:t>
            </a:r>
            <a:r>
              <a:rPr lang="zh-CN" altLang="en-US" sz="2800" b="1" dirty="0">
                <a:latin typeface="+mn-ea"/>
              </a:rPr>
              <a:t>处</a:t>
            </a:r>
            <a:r>
              <a:rPr lang="en-US" altLang="zh-CN" sz="2800" b="1" dirty="0">
                <a:latin typeface="+mn-ea"/>
              </a:rPr>
              <a:t>x</a:t>
            </a:r>
            <a:r>
              <a:rPr lang="zh-CN" altLang="en-US" sz="2800" b="1" dirty="0">
                <a:latin typeface="+mn-ea"/>
              </a:rPr>
              <a:t>的</a:t>
            </a:r>
            <a:r>
              <a:rPr lang="en-US" altLang="zh-CN" sz="2800" b="1" dirty="0" err="1">
                <a:latin typeface="+mn-ea"/>
              </a:rPr>
              <a:t>ud</a:t>
            </a:r>
            <a:r>
              <a:rPr lang="zh-CN" altLang="en-US" sz="2800" b="1" dirty="0">
                <a:latin typeface="+mn-ea"/>
              </a:rPr>
              <a:t>链就是</a:t>
            </a:r>
            <a:r>
              <a:rPr lang="en-US" altLang="zh-CN" sz="2800" b="1" dirty="0">
                <a:latin typeface="+mn-ea"/>
              </a:rPr>
              <a:t>IN[B]</a:t>
            </a:r>
            <a:r>
              <a:rPr lang="zh-CN" altLang="en-US" sz="2800" b="1" dirty="0">
                <a:latin typeface="+mn-ea"/>
              </a:rPr>
              <a:t>中关于</a:t>
            </a:r>
            <a:r>
              <a:rPr lang="en-US" altLang="zh-CN" sz="2800" b="1" dirty="0">
                <a:latin typeface="+mn-ea"/>
              </a:rPr>
              <a:t>x</a:t>
            </a:r>
            <a:r>
              <a:rPr lang="zh-CN" altLang="en-US" sz="2800" b="1" dirty="0">
                <a:latin typeface="+mn-ea"/>
              </a:rPr>
              <a:t>的定值点的集合。</a:t>
            </a:r>
            <a:endParaRPr lang="zh-CN" altLang="en-US" sz="2800" b="1" dirty="0">
              <a:latin typeface="+mn-ea"/>
            </a:endParaRPr>
          </a:p>
          <a:p>
            <a:pPr>
              <a:lnSpc>
                <a:spcPct val="125000"/>
              </a:lnSpc>
              <a:spcBef>
                <a:spcPct val="0"/>
              </a:spcBef>
              <a:spcAft>
                <a:spcPts val="0"/>
              </a:spcAft>
              <a:buFont typeface="Wingdings" panose="05000000000000000000" charset="0"/>
              <a:buChar char="p"/>
            </a:pPr>
            <a:r>
              <a:rPr lang="zh-CN" altLang="en-US" b="1" dirty="0">
                <a:latin typeface="+mn-ea"/>
              </a:rPr>
              <a:t>如何求解</a:t>
            </a:r>
            <a:r>
              <a:rPr lang="en-US" altLang="zh-CN" b="1" dirty="0">
                <a:latin typeface="+mn-ea"/>
              </a:rPr>
              <a:t>IN[B]</a:t>
            </a:r>
            <a:r>
              <a:rPr lang="zh-CN" altLang="en-US" b="1" dirty="0">
                <a:latin typeface="+mn-ea"/>
              </a:rPr>
              <a:t>？</a:t>
            </a:r>
            <a:endParaRPr lang="zh-CN" altLang="en-US" b="1" dirty="0">
              <a:latin typeface="+mn-ea"/>
            </a:endParaRPr>
          </a:p>
        </p:txBody>
      </p:sp>
      <p:sp>
        <p:nvSpPr>
          <p:cNvPr id="3" name="文本占位符 2"/>
          <p:cNvSpPr>
            <a:spLocks noGrp="1"/>
          </p:cNvSpPr>
          <p:nvPr>
            <p:ph type="body" sz="quarter" idx="14"/>
            <p:custDataLst>
              <p:tags r:id="rId2"/>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arn(in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arn(inHorizontal)">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391795" y="1205865"/>
            <a:ext cx="11508740" cy="509651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sz="2400" b="1" dirty="0">
                <a:latin typeface="+mn-ea"/>
              </a:rPr>
              <a:t>为了求解</a:t>
            </a:r>
            <a:r>
              <a:rPr lang="en-US" altLang="zh-CN" sz="2400" b="1" dirty="0">
                <a:latin typeface="+mn-ea"/>
              </a:rPr>
              <a:t>IN[B]</a:t>
            </a:r>
            <a:r>
              <a:rPr lang="zh-CN" altLang="en-US" sz="2400" b="1" dirty="0">
                <a:latin typeface="+mn-ea"/>
              </a:rPr>
              <a:t>，首先给出如下定义：</a:t>
            </a:r>
            <a:endParaRPr lang="zh-CN" altLang="en-US" sz="2400" b="1" dirty="0">
              <a:latin typeface="+mn-ea"/>
            </a:endParaRPr>
          </a:p>
          <a:p>
            <a:pPr lvl="1">
              <a:lnSpc>
                <a:spcPct val="150000"/>
              </a:lnSpc>
              <a:buFont typeface="Arial" panose="020B0604020202020204" pitchFamily="34" charset="0"/>
              <a:buChar char="•"/>
            </a:pPr>
            <a:r>
              <a:rPr lang="en-US" altLang="zh-CN" b="1" dirty="0">
                <a:latin typeface="+mn-ea"/>
              </a:rPr>
              <a:t>P[B]</a:t>
            </a:r>
            <a:r>
              <a:rPr lang="zh-CN" altLang="en-US" b="1" dirty="0">
                <a:latin typeface="+mn-ea"/>
              </a:rPr>
              <a:t>：基本块</a:t>
            </a:r>
            <a:r>
              <a:rPr lang="en-US" altLang="zh-CN" b="1" dirty="0">
                <a:latin typeface="+mn-ea"/>
              </a:rPr>
              <a:t>B</a:t>
            </a:r>
            <a:r>
              <a:rPr lang="zh-CN" altLang="en-US" b="1" dirty="0">
                <a:latin typeface="+mn-ea"/>
              </a:rPr>
              <a:t>的所有直接前驱节点基本块的集合。</a:t>
            </a:r>
            <a:endParaRPr lang="zh-CN" altLang="en-US" b="1" dirty="0">
              <a:latin typeface="+mn-ea"/>
            </a:endParaRPr>
          </a:p>
          <a:p>
            <a:pPr lvl="1">
              <a:lnSpc>
                <a:spcPct val="150000"/>
              </a:lnSpc>
              <a:buFont typeface="Arial" panose="020B0604020202020204" pitchFamily="34" charset="0"/>
              <a:buChar char="•"/>
            </a:pPr>
            <a:r>
              <a:rPr lang="en-US" altLang="zh-CN" b="1" dirty="0">
                <a:latin typeface="+mn-ea"/>
                <a:hlinkClick r:id="rId1" action="ppaction://hlinksldjump"/>
              </a:rPr>
              <a:t>OUT[B]</a:t>
            </a:r>
            <a:r>
              <a:rPr lang="zh-CN" altLang="en-US" b="1" dirty="0">
                <a:latin typeface="+mn-ea"/>
              </a:rPr>
              <a:t>：能够到达基本块</a:t>
            </a:r>
            <a:r>
              <a:rPr lang="en-US" altLang="zh-CN" b="1" dirty="0">
                <a:latin typeface="+mn-ea"/>
              </a:rPr>
              <a:t>B</a:t>
            </a:r>
            <a:r>
              <a:rPr lang="zh-CN" altLang="en-US" b="1" dirty="0">
                <a:latin typeface="+mn-ea"/>
              </a:rPr>
              <a:t>的出口点之后的各个变量定值点的集合。</a:t>
            </a:r>
            <a:endParaRPr lang="zh-CN" altLang="en-US" b="1" dirty="0">
              <a:latin typeface="+mn-ea"/>
            </a:endParaRPr>
          </a:p>
          <a:p>
            <a:pPr lvl="1">
              <a:lnSpc>
                <a:spcPct val="150000"/>
              </a:lnSpc>
              <a:buFont typeface="Arial" panose="020B0604020202020204" pitchFamily="34" charset="0"/>
              <a:buChar char="•"/>
            </a:pPr>
            <a:r>
              <a:rPr lang="en-US" altLang="zh-CN" b="1" dirty="0">
                <a:latin typeface="+mn-ea"/>
                <a:hlinkClick r:id="rId1" action="ppaction://hlinksldjump"/>
              </a:rPr>
              <a:t>KILL[B]</a:t>
            </a:r>
            <a:r>
              <a:rPr lang="zh-CN" altLang="en-US" b="1" dirty="0">
                <a:latin typeface="+mn-ea"/>
              </a:rPr>
              <a:t>：在基本块</a:t>
            </a:r>
            <a:r>
              <a:rPr lang="en-US" altLang="zh-CN" b="1" dirty="0">
                <a:latin typeface="+mn-ea"/>
              </a:rPr>
              <a:t>B</a:t>
            </a:r>
            <a:r>
              <a:rPr lang="zh-CN" altLang="en-US" b="1" dirty="0">
                <a:latin typeface="+mn-ea"/>
              </a:rPr>
              <a:t>外定值，而在基本块</a:t>
            </a:r>
            <a:r>
              <a:rPr lang="en-US" altLang="zh-CN" b="1" dirty="0">
                <a:latin typeface="+mn-ea"/>
              </a:rPr>
              <a:t>B</a:t>
            </a:r>
            <a:r>
              <a:rPr lang="zh-CN" altLang="en-US" b="1" dirty="0">
                <a:latin typeface="+mn-ea"/>
              </a:rPr>
              <a:t>中又重新定值的变量定值点的集合。</a:t>
            </a:r>
            <a:endParaRPr lang="zh-CN" altLang="en-US" b="1" dirty="0">
              <a:latin typeface="+mn-ea"/>
            </a:endParaRPr>
          </a:p>
          <a:p>
            <a:pPr lvl="1">
              <a:lnSpc>
                <a:spcPct val="150000"/>
              </a:lnSpc>
              <a:buFont typeface="Arial" panose="020B0604020202020204" pitchFamily="34" charset="0"/>
              <a:buChar char="•"/>
            </a:pPr>
            <a:r>
              <a:rPr lang="en-US" altLang="zh-CN" b="1" dirty="0">
                <a:latin typeface="+mn-ea"/>
                <a:hlinkClick r:id="rId1" action="ppaction://hlinksldjump"/>
              </a:rPr>
              <a:t>GEN[B]</a:t>
            </a:r>
            <a:r>
              <a:rPr lang="zh-CN" altLang="en-US" b="1" dirty="0">
                <a:latin typeface="+mn-ea"/>
              </a:rPr>
              <a:t>：各个变量在</a:t>
            </a:r>
            <a:r>
              <a:rPr lang="en-US" altLang="zh-CN" b="1" dirty="0">
                <a:latin typeface="+mn-ea"/>
              </a:rPr>
              <a:t>B</a:t>
            </a:r>
            <a:r>
              <a:rPr lang="zh-CN" altLang="en-US" b="1" dirty="0">
                <a:latin typeface="+mn-ea"/>
              </a:rPr>
              <a:t>内定值，并能够到达</a:t>
            </a:r>
            <a:r>
              <a:rPr lang="en-US" altLang="zh-CN" b="1" dirty="0">
                <a:latin typeface="+mn-ea"/>
              </a:rPr>
              <a:t>B</a:t>
            </a:r>
            <a:r>
              <a:rPr lang="zh-CN" altLang="en-US" b="1" dirty="0">
                <a:latin typeface="+mn-ea"/>
              </a:rPr>
              <a:t>的出口点之后的</a:t>
            </a:r>
            <a:r>
              <a:rPr lang="zh-CN" altLang="en-US" b="1" dirty="0">
                <a:solidFill>
                  <a:srgbClr val="0070C0"/>
                </a:solidFill>
                <a:latin typeface="+mn-ea"/>
              </a:rPr>
              <a:t>所有定值点的集合</a:t>
            </a:r>
            <a:r>
              <a:rPr lang="zh-CN" altLang="en-US" b="1" dirty="0">
                <a:latin typeface="+mn-ea"/>
              </a:rPr>
              <a:t>。</a:t>
            </a:r>
            <a:endParaRPr lang="zh-CN" altLang="en-US" b="1" dirty="0">
              <a:latin typeface="+mn-ea"/>
            </a:endParaRPr>
          </a:p>
        </p:txBody>
      </p:sp>
      <p:sp>
        <p:nvSpPr>
          <p:cNvPr id="3" name="文本占位符 2"/>
          <p:cNvSpPr>
            <a:spLocks noGrp="1"/>
          </p:cNvSpPr>
          <p:nvPr>
            <p:ph type="body" sz="quarter" idx="14"/>
            <p:custDataLst>
              <p:tags r:id="rId2"/>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Horizont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p:nvPr/>
        </p:nvSpPr>
        <p:spPr>
          <a:xfrm>
            <a:off x="349885" y="1276985"/>
            <a:ext cx="11342370" cy="430403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latin typeface="+mn-ea"/>
              </a:rPr>
              <a:t>到达定值数据流方程（</a:t>
            </a:r>
            <a:r>
              <a:rPr lang="en-US" altLang="zh-CN" sz="2400" b="1" dirty="0">
                <a:latin typeface="+mn-ea"/>
                <a:hlinkClick r:id="rId1" action="ppaction://hlinksldjump"/>
              </a:rPr>
              <a:t>…</a:t>
            </a:r>
            <a:r>
              <a:rPr lang="zh-CN" altLang="en-US" sz="2400" b="1" dirty="0">
                <a:latin typeface="+mn-ea"/>
              </a:rPr>
              <a:t>）：</a:t>
            </a:r>
            <a:endParaRPr lang="en-US" altLang="zh-CN" sz="2400" b="1" dirty="0">
              <a:latin typeface="+mn-ea"/>
            </a:endParaRPr>
          </a:p>
          <a:p>
            <a:pPr lvl="1">
              <a:lnSpc>
                <a:spcPct val="120000"/>
              </a:lnSpc>
            </a:pPr>
            <a:r>
              <a:rPr lang="en-US" altLang="zh-CN" b="1" dirty="0">
                <a:latin typeface="+mn-ea"/>
                <a:hlinkClick r:id="rId2" action="ppaction://hlinksldjump"/>
              </a:rPr>
              <a:t>IN[B] </a:t>
            </a:r>
            <a:r>
              <a:rPr lang="en-US" altLang="zh-CN" b="1" dirty="0">
                <a:latin typeface="+mn-ea"/>
              </a:rPr>
              <a:t>= U </a:t>
            </a:r>
            <a:r>
              <a:rPr lang="en-US" altLang="zh-CN" b="1" dirty="0">
                <a:latin typeface="+mn-ea"/>
                <a:hlinkClick r:id="rId3" action="ppaction://hlinksldjump"/>
              </a:rPr>
              <a:t>OUT[p] </a:t>
            </a:r>
            <a:r>
              <a:rPr lang="en-US" altLang="zh-CN" b="1" dirty="0">
                <a:solidFill>
                  <a:srgbClr val="FF0000"/>
                </a:solidFill>
                <a:latin typeface="+mn-ea"/>
                <a:cs typeface="Times New Roman" panose="02020603050405020304" pitchFamily="18" charset="0"/>
              </a:rPr>
              <a:t>where p is in P[B]</a:t>
            </a:r>
            <a:endParaRPr lang="en-US" altLang="zh-CN" b="1" dirty="0">
              <a:solidFill>
                <a:srgbClr val="FF0000"/>
              </a:solidFill>
              <a:latin typeface="+mn-ea"/>
              <a:cs typeface="Times New Roman" panose="02020603050405020304" pitchFamily="18" charset="0"/>
            </a:endParaRPr>
          </a:p>
          <a:p>
            <a:pPr lvl="1">
              <a:lnSpc>
                <a:spcPct val="120000"/>
              </a:lnSpc>
            </a:pPr>
            <a:r>
              <a:rPr lang="en-US" altLang="zh-CN" b="1" dirty="0">
                <a:latin typeface="+mn-ea"/>
                <a:hlinkClick r:id="rId3" action="ppaction://hlinksldjump"/>
              </a:rPr>
              <a:t>OUT[B] </a:t>
            </a:r>
            <a:r>
              <a:rPr lang="en-US" altLang="zh-CN" b="1" dirty="0">
                <a:latin typeface="+mn-ea"/>
              </a:rPr>
              <a:t>= </a:t>
            </a:r>
            <a:r>
              <a:rPr lang="en-US" altLang="zh-CN" b="1" dirty="0">
                <a:latin typeface="+mn-ea"/>
                <a:hlinkClick r:id="rId3" action="ppaction://hlinksldjump"/>
              </a:rPr>
              <a:t>GEN[B] </a:t>
            </a:r>
            <a:r>
              <a:rPr lang="en-US" altLang="zh-CN" b="1" dirty="0">
                <a:latin typeface="+mn-ea"/>
              </a:rPr>
              <a:t>U (IN[B]-</a:t>
            </a:r>
            <a:r>
              <a:rPr lang="en-US" altLang="zh-CN" b="1" dirty="0">
                <a:latin typeface="+mn-ea"/>
                <a:hlinkClick r:id="rId3" action="ppaction://hlinksldjump"/>
              </a:rPr>
              <a:t>KILL[B]</a:t>
            </a:r>
            <a:r>
              <a:rPr lang="en-US" altLang="zh-CN" b="1" dirty="0">
                <a:latin typeface="+mn-ea"/>
              </a:rPr>
              <a:t>)</a:t>
            </a:r>
            <a:endParaRPr lang="en-US" altLang="zh-CN" b="1" dirty="0">
              <a:latin typeface="+mn-ea"/>
            </a:endParaRPr>
          </a:p>
          <a:p>
            <a:pPr>
              <a:lnSpc>
                <a:spcPct val="120000"/>
              </a:lnSpc>
              <a:buFont typeface="Wingdings" panose="05000000000000000000" charset="0"/>
              <a:buChar char="p"/>
            </a:pPr>
            <a:r>
              <a:rPr lang="zh-CN" altLang="en-US" sz="2400" b="1" dirty="0">
                <a:latin typeface="+mn-ea"/>
              </a:rPr>
              <a:t>其中：</a:t>
            </a:r>
            <a:endParaRPr lang="zh-CN" altLang="en-US" sz="2400" b="1" dirty="0">
              <a:latin typeface="+mn-ea"/>
            </a:endParaRPr>
          </a:p>
          <a:p>
            <a:pPr lvl="1">
              <a:lnSpc>
                <a:spcPct val="120000"/>
              </a:lnSpc>
            </a:pPr>
            <a:r>
              <a:rPr lang="en-US" altLang="zh-CN" b="1" dirty="0">
                <a:latin typeface="+mn-ea"/>
              </a:rPr>
              <a:t>GEN[B]</a:t>
            </a:r>
            <a:r>
              <a:rPr lang="zh-CN" altLang="en-US" b="1" dirty="0">
                <a:latin typeface="+mn-ea"/>
              </a:rPr>
              <a:t>可以从基本块中求出：使用</a:t>
            </a:r>
            <a:r>
              <a:rPr lang="en-US" altLang="zh-CN" b="1" dirty="0">
                <a:latin typeface="+mn-ea"/>
                <a:hlinkClick r:id="rId1" action="ppaction://hlinksldjump"/>
              </a:rPr>
              <a:t>DAG</a:t>
            </a:r>
            <a:r>
              <a:rPr lang="zh-CN" altLang="en-US" b="1" dirty="0">
                <a:latin typeface="+mn-ea"/>
                <a:hlinkClick r:id="rId1" action="ppaction://hlinksldjump"/>
              </a:rPr>
              <a:t>图</a:t>
            </a:r>
            <a:r>
              <a:rPr lang="zh-CN" altLang="en-US" b="1" dirty="0">
                <a:latin typeface="+mn-ea"/>
              </a:rPr>
              <a:t>就可以得到。</a:t>
            </a:r>
            <a:endParaRPr lang="zh-CN" altLang="en-US" b="1" dirty="0">
              <a:latin typeface="+mn-ea"/>
            </a:endParaRPr>
          </a:p>
          <a:p>
            <a:pPr lvl="1">
              <a:lnSpc>
                <a:spcPct val="120000"/>
              </a:lnSpc>
            </a:pPr>
            <a:r>
              <a:rPr lang="en-US" altLang="zh-CN" b="1" dirty="0">
                <a:latin typeface="+mn-ea"/>
              </a:rPr>
              <a:t>KILL[B]</a:t>
            </a:r>
            <a:r>
              <a:rPr lang="zh-CN" altLang="en-US" b="1" dirty="0">
                <a:latin typeface="+mn-ea"/>
              </a:rPr>
              <a:t>中，对于整个流图中的所有</a:t>
            </a:r>
            <a:r>
              <a:rPr lang="en-US" altLang="zh-CN" b="1" dirty="0">
                <a:latin typeface="+mn-ea"/>
              </a:rPr>
              <a:t>x</a:t>
            </a:r>
            <a:r>
              <a:rPr lang="zh-CN" altLang="en-US" b="1" dirty="0">
                <a:latin typeface="+mn-ea"/>
              </a:rPr>
              <a:t>的定值点，如果</a:t>
            </a:r>
            <a:r>
              <a:rPr lang="en-US" altLang="zh-CN" b="1" dirty="0">
                <a:latin typeface="+mn-ea"/>
              </a:rPr>
              <a:t>B</a:t>
            </a:r>
            <a:r>
              <a:rPr lang="zh-CN" altLang="en-US" b="1" dirty="0">
                <a:latin typeface="+mn-ea"/>
              </a:rPr>
              <a:t>中有对</a:t>
            </a:r>
            <a:r>
              <a:rPr lang="en-US" altLang="zh-CN" b="1" dirty="0">
                <a:latin typeface="+mn-ea"/>
              </a:rPr>
              <a:t>x</a:t>
            </a:r>
            <a:r>
              <a:rPr lang="zh-CN" altLang="en-US" b="1" dirty="0">
                <a:latin typeface="+mn-ea"/>
              </a:rPr>
              <a:t>的定值，那么该定值点在</a:t>
            </a:r>
            <a:r>
              <a:rPr lang="en-US" altLang="zh-CN" b="1" dirty="0">
                <a:latin typeface="+mn-ea"/>
                <a:hlinkClick r:id="rId1" action="ppaction://hlinksldjump"/>
              </a:rPr>
              <a:t>KILL[B]</a:t>
            </a:r>
            <a:r>
              <a:rPr lang="zh-CN" altLang="en-US" b="1" dirty="0">
                <a:latin typeface="+mn-ea"/>
              </a:rPr>
              <a:t>中。</a:t>
            </a:r>
            <a:endParaRPr lang="zh-CN" altLang="en-US" b="1" dirty="0">
              <a:latin typeface="+mn-ea"/>
            </a:endParaRPr>
          </a:p>
          <a:p>
            <a:pPr>
              <a:lnSpc>
                <a:spcPct val="120000"/>
              </a:lnSpc>
              <a:buFont typeface="Wingdings" panose="05000000000000000000" charset="0"/>
              <a:buChar char="p"/>
            </a:pPr>
            <a:r>
              <a:rPr lang="zh-CN" altLang="en-US" sz="2400" b="1" dirty="0">
                <a:latin typeface="+mn-ea"/>
              </a:rPr>
              <a:t>在求解</a:t>
            </a:r>
            <a:r>
              <a:rPr lang="en-US" altLang="zh-CN" sz="2400" b="1" dirty="0">
                <a:latin typeface="+mn-ea"/>
              </a:rPr>
              <a:t>IN[B]</a:t>
            </a:r>
            <a:r>
              <a:rPr lang="zh-CN" altLang="en-US" sz="2400" b="1" dirty="0">
                <a:latin typeface="+mn-ea"/>
              </a:rPr>
              <a:t>的过程中，假设</a:t>
            </a:r>
            <a:r>
              <a:rPr lang="en-US" altLang="zh-CN" sz="2400" b="1" dirty="0">
                <a:latin typeface="+mn-ea"/>
              </a:rPr>
              <a:t>GEN[B]</a:t>
            </a:r>
            <a:r>
              <a:rPr lang="zh-CN" altLang="en-US" sz="2400" b="1" dirty="0">
                <a:latin typeface="+mn-ea"/>
              </a:rPr>
              <a:t>和 </a:t>
            </a:r>
            <a:r>
              <a:rPr lang="en-US" altLang="zh-CN" sz="2400" b="1" dirty="0">
                <a:latin typeface="+mn-ea"/>
              </a:rPr>
              <a:t>KILL[B]</a:t>
            </a:r>
            <a:r>
              <a:rPr lang="zh-CN" altLang="en-US" sz="2400" b="1" dirty="0">
                <a:latin typeface="+mn-ea"/>
              </a:rPr>
              <a:t>已知。</a:t>
            </a:r>
            <a:endParaRPr lang="zh-CN" altLang="en-US" sz="2400" b="1" dirty="0">
              <a:latin typeface="+mn-ea"/>
            </a:endParaRPr>
          </a:p>
        </p:txBody>
      </p:sp>
      <p:sp>
        <p:nvSpPr>
          <p:cNvPr id="6" name="AutoShape 6">
            <a:hlinkClick r:id="rId4" action="ppaction://hlinksldjump"/>
          </p:cNvPr>
          <p:cNvSpPr/>
          <p:nvPr/>
        </p:nvSpPr>
        <p:spPr>
          <a:xfrm>
            <a:off x="9191625" y="5805488"/>
            <a:ext cx="936625" cy="360362"/>
          </a:xfrm>
          <a:prstGeom prst="curvedDownArrow">
            <a:avLst>
              <a:gd name="adj1" fmla="val 51982"/>
              <a:gd name="adj2" fmla="val 103964"/>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1800" dirty="0">
              <a:latin typeface="Verdana" panose="020B0604030504040204" pitchFamily="34" charset="0"/>
            </a:endParaRPr>
          </a:p>
        </p:txBody>
      </p:sp>
      <p:sp>
        <p:nvSpPr>
          <p:cNvPr id="3" name="文本占位符 2"/>
          <p:cNvSpPr>
            <a:spLocks noGrp="1"/>
          </p:cNvSpPr>
          <p:nvPr>
            <p:ph type="body" sz="quarter" idx="14"/>
            <p:custDataLst>
              <p:tags r:id="rId5"/>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arn(in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arn(in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arn(in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arn(inHorizontal)">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p:nvPr/>
        </p:nvSpPr>
        <p:spPr>
          <a:xfrm>
            <a:off x="1866807" y="1219200"/>
            <a:ext cx="7772400" cy="494665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solidFill>
                  <a:srgbClr val="0070C0"/>
                </a:solidFill>
                <a:latin typeface="+mn-ea"/>
              </a:rPr>
              <a:t>使用迭代方法求解</a:t>
            </a:r>
            <a:r>
              <a:rPr lang="en-US" altLang="zh-CN" sz="2400" b="1" dirty="0">
                <a:solidFill>
                  <a:srgbClr val="0070C0"/>
                </a:solidFill>
                <a:latin typeface="+mn-ea"/>
              </a:rPr>
              <a:t>IN[B]</a:t>
            </a:r>
            <a:r>
              <a:rPr lang="zh-CN" altLang="en-US" sz="2400" b="1" dirty="0">
                <a:solidFill>
                  <a:srgbClr val="0070C0"/>
                </a:solidFill>
                <a:latin typeface="+mn-ea"/>
              </a:rPr>
              <a:t>和</a:t>
            </a:r>
            <a:r>
              <a:rPr lang="en-US" altLang="zh-CN" sz="2400" b="1" dirty="0">
                <a:solidFill>
                  <a:srgbClr val="0070C0"/>
                </a:solidFill>
                <a:latin typeface="+mn-ea"/>
              </a:rPr>
              <a:t>OUT[B] </a:t>
            </a:r>
            <a:r>
              <a:rPr lang="zh-CN" altLang="en-US" sz="2400" b="1" dirty="0">
                <a:solidFill>
                  <a:srgbClr val="0070C0"/>
                </a:solidFill>
                <a:latin typeface="+mn-ea"/>
              </a:rPr>
              <a:t>：</a:t>
            </a:r>
            <a:endParaRPr lang="zh-CN" altLang="en-US" sz="2400" b="1" dirty="0">
              <a:solidFill>
                <a:srgbClr val="0070C0"/>
              </a:solidFill>
              <a:latin typeface="+mn-ea"/>
            </a:endParaRPr>
          </a:p>
          <a:p>
            <a:pPr>
              <a:buFontTx/>
              <a:buNone/>
            </a:pPr>
            <a:r>
              <a:rPr lang="zh-CN" altLang="en-US" sz="2400" b="1" dirty="0">
                <a:latin typeface="+mn-ea"/>
              </a:rPr>
              <a:t>对于任意基本块Ｂ：</a:t>
            </a:r>
            <a:r>
              <a:rPr lang="en-US" altLang="zh-CN" sz="2400" b="1" dirty="0">
                <a:latin typeface="+mn-ea"/>
              </a:rPr>
              <a:t>IN[B]=</a:t>
            </a:r>
            <a:r>
              <a:rPr lang="zh-CN" altLang="en-US" sz="2400" b="1" dirty="0">
                <a:latin typeface="+mn-ea"/>
              </a:rPr>
              <a:t>空；</a:t>
            </a:r>
            <a:r>
              <a:rPr lang="en-US" altLang="zh-CN" sz="2400" b="1" dirty="0">
                <a:latin typeface="+mn-ea"/>
              </a:rPr>
              <a:t>OUT[B]=GEN[B];</a:t>
            </a:r>
            <a:endParaRPr lang="en-US" altLang="zh-CN" sz="2400" b="1" dirty="0">
              <a:latin typeface="+mn-ea"/>
            </a:endParaRPr>
          </a:p>
          <a:p>
            <a:pPr>
              <a:buFontTx/>
              <a:buNone/>
            </a:pPr>
            <a:r>
              <a:rPr lang="en-US" altLang="zh-CN" sz="2000" b="1" dirty="0">
                <a:latin typeface="Courier New" panose="02070309020205020404" pitchFamily="49" charset="0"/>
                <a:cs typeface="Courier New" panose="02070309020205020404" pitchFamily="49" charset="0"/>
              </a:rPr>
              <a:t>change = TRUE;</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while(change)</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	change = FALSE;</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	for each B do </a:t>
            </a:r>
            <a:r>
              <a:rPr lang="en-US" altLang="zh-CN" sz="2000" b="1" dirty="0">
                <a:latin typeface="Courier New" panose="02070309020205020404" pitchFamily="49" charset="0"/>
                <a:cs typeface="Courier New" panose="02070309020205020404" pitchFamily="49" charset="0"/>
                <a:sym typeface="+mn-ea"/>
              </a:rPr>
              <a:t>{</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		IN[B] = U OUT[p] where p is</a:t>
            </a:r>
            <a:r>
              <a:rPr lang="zh-CN" altLang="en-US" sz="2000" b="1" dirty="0">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in P[B];</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oldout</a:t>
            </a:r>
            <a:r>
              <a:rPr lang="en-US" altLang="zh-CN" sz="2000" b="1" dirty="0">
                <a:latin typeface="Courier New" panose="02070309020205020404" pitchFamily="49" charset="0"/>
                <a:cs typeface="Courier New" panose="02070309020205020404" pitchFamily="49" charset="0"/>
              </a:rPr>
              <a:t> = OUT[B];</a:t>
            </a:r>
            <a:endParaRPr lang="en-US" altLang="zh-CN" sz="2000" b="1" dirty="0">
              <a:latin typeface="Courier New" panose="02070309020205020404" pitchFamily="49" charset="0"/>
              <a:cs typeface="Courier New" panose="02070309020205020404" pitchFamily="49" charset="0"/>
            </a:endParaRPr>
          </a:p>
          <a:p>
            <a:pPr>
              <a:buFontTx/>
              <a:buNone/>
            </a:pPr>
            <a:r>
              <a:rPr lang="zh-CN" altLang="en-US" sz="2000" b="1" dirty="0">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OUT[B] = GEN[B] U (IN[B]-KILL[B]);		</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		 if(OUT[B] != </a:t>
            </a:r>
            <a:r>
              <a:rPr lang="en-US" altLang="zh-CN" sz="2000" b="1" dirty="0" err="1">
                <a:latin typeface="Courier New" panose="02070309020205020404" pitchFamily="49" charset="0"/>
                <a:cs typeface="Courier New" panose="02070309020205020404" pitchFamily="49" charset="0"/>
              </a:rPr>
              <a:t>oldout</a:t>
            </a:r>
            <a:r>
              <a:rPr lang="en-US" altLang="zh-CN" sz="2000" b="1" dirty="0">
                <a:latin typeface="Courier New" panose="02070309020205020404" pitchFamily="49" charset="0"/>
                <a:cs typeface="Courier New" panose="02070309020205020404" pitchFamily="49" charset="0"/>
              </a:rPr>
              <a:t>) change = TRUE;</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buFontTx/>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p:txBody>
      </p:sp>
      <p:sp>
        <p:nvSpPr>
          <p:cNvPr id="8" name="AutoShape 7">
            <a:hlinkClick r:id="rId1" action="ppaction://hlinksldjump"/>
          </p:cNvPr>
          <p:cNvSpPr/>
          <p:nvPr/>
        </p:nvSpPr>
        <p:spPr>
          <a:xfrm flipV="1">
            <a:off x="7371510" y="5880100"/>
            <a:ext cx="936625" cy="288925"/>
          </a:xfrm>
          <a:prstGeom prst="curvedDownArrow">
            <a:avLst>
              <a:gd name="adj1" fmla="val 64835"/>
              <a:gd name="adj2" fmla="val 129670"/>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1800" dirty="0">
              <a:latin typeface="Verdana" panose="020B0604030504040204" pitchFamily="34" charset="0"/>
            </a:endParaRPr>
          </a:p>
        </p:txBody>
      </p:sp>
      <p:sp>
        <p:nvSpPr>
          <p:cNvPr id="9" name="AutoShape 8">
            <a:hlinkClick r:id="rId2" action="ppaction://hlinksldjump"/>
          </p:cNvPr>
          <p:cNvSpPr/>
          <p:nvPr/>
        </p:nvSpPr>
        <p:spPr>
          <a:xfrm>
            <a:off x="8379572" y="5880100"/>
            <a:ext cx="936625" cy="285750"/>
          </a:xfrm>
          <a:prstGeom prst="curvedDownArrow">
            <a:avLst>
              <a:gd name="adj1" fmla="val 65555"/>
              <a:gd name="adj2" fmla="val 131111"/>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1800" dirty="0">
              <a:latin typeface="Verdana" panose="020B0604030504040204" pitchFamily="34" charset="0"/>
            </a:endParaRPr>
          </a:p>
        </p:txBody>
      </p:sp>
      <p:sp>
        <p:nvSpPr>
          <p:cNvPr id="10" name="AutoShape 9">
            <a:hlinkClick r:id="rId3" action="ppaction://hlinksldjump"/>
          </p:cNvPr>
          <p:cNvSpPr/>
          <p:nvPr/>
        </p:nvSpPr>
        <p:spPr>
          <a:xfrm>
            <a:off x="9316197" y="5951538"/>
            <a:ext cx="936625" cy="285750"/>
          </a:xfrm>
          <a:prstGeom prst="curvedDownArrow">
            <a:avLst>
              <a:gd name="adj1" fmla="val 65555"/>
              <a:gd name="adj2" fmla="val 131111"/>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1800" dirty="0">
              <a:latin typeface="Verdana" panose="020B0604030504040204" pitchFamily="34" charset="0"/>
            </a:endParaRPr>
          </a:p>
        </p:txBody>
      </p:sp>
      <p:sp>
        <p:nvSpPr>
          <p:cNvPr id="3" name="文本占位符 2"/>
          <p:cNvSpPr>
            <a:spLocks noGrp="1"/>
          </p:cNvSpPr>
          <p:nvPr>
            <p:ph type="body" sz="quarter" idx="14"/>
            <p:custDataLst>
              <p:tags r:id="rId4"/>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Horizont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arn(inHorizontal)">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barn(inHorizontal)">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barn(inHorizontal)">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7">
                                            <p:txEl>
                                              <p:charRg st="102" end="117"/>
                                            </p:txEl>
                                          </p:spTgt>
                                        </p:tgtEl>
                                        <p:attrNameLst>
                                          <p:attrName>style.visibility</p:attrName>
                                        </p:attrNameLst>
                                      </p:cBhvr>
                                      <p:to>
                                        <p:strVal val="visible"/>
                                      </p:to>
                                    </p:set>
                                    <p:animEffect transition="in" filter="barn(inHorizontal)">
                                      <p:cBhvr>
                                        <p:cTn id="27" dur="500"/>
                                        <p:tgtEl>
                                          <p:spTgt spid="7">
                                            <p:txEl>
                                              <p:charRg st="102" end="11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7">
                                            <p:txEl>
                                              <p:charRg st="117" end="157"/>
                                            </p:txEl>
                                          </p:spTgt>
                                        </p:tgtEl>
                                        <p:attrNameLst>
                                          <p:attrName>style.visibility</p:attrName>
                                        </p:attrNameLst>
                                      </p:cBhvr>
                                      <p:to>
                                        <p:strVal val="visible"/>
                                      </p:to>
                                    </p:set>
                                    <p:animEffect transition="in" filter="barn(inHorizontal)">
                                      <p:cBhvr>
                                        <p:cTn id="32" dur="500"/>
                                        <p:tgtEl>
                                          <p:spTgt spid="7">
                                            <p:txEl>
                                              <p:charRg st="117" end="15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7">
                                            <p:txEl>
                                              <p:charRg st="157" end="177"/>
                                            </p:txEl>
                                          </p:spTgt>
                                        </p:tgtEl>
                                        <p:attrNameLst>
                                          <p:attrName>style.visibility</p:attrName>
                                        </p:attrNameLst>
                                      </p:cBhvr>
                                      <p:to>
                                        <p:strVal val="visible"/>
                                      </p:to>
                                    </p:set>
                                    <p:animEffect transition="in" filter="barn(inHorizontal)">
                                      <p:cBhvr>
                                        <p:cTn id="37" dur="500"/>
                                        <p:tgtEl>
                                          <p:spTgt spid="7">
                                            <p:txEl>
                                              <p:charRg st="157" end="17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7">
                                            <p:txEl>
                                              <p:charRg st="177" end="227"/>
                                            </p:txEl>
                                          </p:spTgt>
                                        </p:tgtEl>
                                        <p:attrNameLst>
                                          <p:attrName>style.visibility</p:attrName>
                                        </p:attrNameLst>
                                      </p:cBhvr>
                                      <p:to>
                                        <p:strVal val="visible"/>
                                      </p:to>
                                    </p:set>
                                    <p:animEffect transition="in" filter="barn(inHorizontal)">
                                      <p:cBhvr>
                                        <p:cTn id="42" dur="500"/>
                                        <p:tgtEl>
                                          <p:spTgt spid="7">
                                            <p:txEl>
                                              <p:charRg st="177" end="22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nodeType="clickEffect">
                                  <p:stCondLst>
                                    <p:cond delay="0"/>
                                  </p:stCondLst>
                                  <p:childTnLst>
                                    <p:set>
                                      <p:cBhvr>
                                        <p:cTn id="46" dur="1" fill="hold">
                                          <p:stCondLst>
                                            <p:cond delay="0"/>
                                          </p:stCondLst>
                                        </p:cTn>
                                        <p:tgtEl>
                                          <p:spTgt spid="7">
                                            <p:txEl>
                                              <p:charRg st="227" end="267"/>
                                            </p:txEl>
                                          </p:spTgt>
                                        </p:tgtEl>
                                        <p:attrNameLst>
                                          <p:attrName>style.visibility</p:attrName>
                                        </p:attrNameLst>
                                      </p:cBhvr>
                                      <p:to>
                                        <p:strVal val="visible"/>
                                      </p:to>
                                    </p:set>
                                    <p:animEffect transition="in" filter="barn(inHorizontal)">
                                      <p:cBhvr>
                                        <p:cTn id="47" dur="500"/>
                                        <p:tgtEl>
                                          <p:spTgt spid="7">
                                            <p:txEl>
                                              <p:charRg st="227" end="26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nodeType="clickEffect">
                                  <p:stCondLst>
                                    <p:cond delay="0"/>
                                  </p:stCondLst>
                                  <p:childTnLst>
                                    <p:set>
                                      <p:cBhvr>
                                        <p:cTn id="51" dur="1" fill="hold">
                                          <p:stCondLst>
                                            <p:cond delay="0"/>
                                          </p:stCondLst>
                                        </p:cTn>
                                        <p:tgtEl>
                                          <p:spTgt spid="7">
                                            <p:txEl>
                                              <p:charRg st="10" end="10"/>
                                            </p:txEl>
                                          </p:spTgt>
                                        </p:tgtEl>
                                        <p:attrNameLst>
                                          <p:attrName>style.visibility</p:attrName>
                                        </p:attrNameLst>
                                      </p:cBhvr>
                                      <p:to>
                                        <p:strVal val="visible"/>
                                      </p:to>
                                    </p:set>
                                    <p:animEffect transition="in" filter="barn(inHorizontal)">
                                      <p:cBhvr>
                                        <p:cTn id="52" dur="500"/>
                                        <p:tgtEl>
                                          <p:spTgt spid="7">
                                            <p:txEl>
                                              <p:char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nodeType="clickEffect">
                                  <p:stCondLst>
                                    <p:cond delay="0"/>
                                  </p:stCondLst>
                                  <p:childTnLst>
                                    <p:set>
                                      <p:cBhvr>
                                        <p:cTn id="56" dur="1" fill="hold">
                                          <p:stCondLst>
                                            <p:cond delay="0"/>
                                          </p:stCondLst>
                                        </p:cTn>
                                        <p:tgtEl>
                                          <p:spTgt spid="7">
                                            <p:txEl>
                                              <p:charRg st="267" end="269"/>
                                            </p:txEl>
                                          </p:spTgt>
                                        </p:tgtEl>
                                        <p:attrNameLst>
                                          <p:attrName>style.visibility</p:attrName>
                                        </p:attrNameLst>
                                      </p:cBhvr>
                                      <p:to>
                                        <p:strVal val="visible"/>
                                      </p:to>
                                    </p:set>
                                    <p:animEffect transition="in" filter="barn(inHorizontal)">
                                      <p:cBhvr>
                                        <p:cTn id="57" dur="500"/>
                                        <p:tgtEl>
                                          <p:spTgt spid="7">
                                            <p:txEl>
                                              <p:charRg st="267" end="2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p:nvPr/>
        </p:nvSpPr>
        <p:spPr>
          <a:xfrm>
            <a:off x="7232276" y="1299881"/>
            <a:ext cx="3112994" cy="3258671"/>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000" b="1" dirty="0">
                <a:latin typeface="+mn-ea"/>
              </a:rPr>
              <a:t>GEN[B1]={d1,d2,d3}</a:t>
            </a:r>
            <a:endParaRPr lang="en-US" altLang="zh-CN" sz="2000" b="1" dirty="0">
              <a:latin typeface="+mn-ea"/>
            </a:endParaRPr>
          </a:p>
          <a:p>
            <a:pPr>
              <a:lnSpc>
                <a:spcPct val="120000"/>
              </a:lnSpc>
            </a:pPr>
            <a:r>
              <a:rPr lang="en-US" altLang="zh-CN" sz="2000" b="1" dirty="0">
                <a:latin typeface="+mn-ea"/>
              </a:rPr>
              <a:t>KILL[B1]={d4,d5,d6,d7}</a:t>
            </a:r>
            <a:endParaRPr lang="en-US" altLang="zh-CN" sz="2000" b="1" dirty="0">
              <a:latin typeface="+mn-ea"/>
            </a:endParaRPr>
          </a:p>
          <a:p>
            <a:pPr>
              <a:lnSpc>
                <a:spcPct val="120000"/>
              </a:lnSpc>
            </a:pPr>
            <a:r>
              <a:rPr lang="en-US" altLang="zh-CN" sz="2000" b="1" dirty="0">
                <a:latin typeface="+mn-ea"/>
              </a:rPr>
              <a:t>GEN[B2]={d4,d5}</a:t>
            </a:r>
            <a:endParaRPr lang="en-US" altLang="zh-CN" sz="2000" b="1" dirty="0">
              <a:latin typeface="+mn-ea"/>
            </a:endParaRPr>
          </a:p>
          <a:p>
            <a:pPr>
              <a:lnSpc>
                <a:spcPct val="120000"/>
              </a:lnSpc>
            </a:pPr>
            <a:r>
              <a:rPr lang="en-US" altLang="zh-CN" sz="2000" b="1" dirty="0">
                <a:latin typeface="+mn-ea"/>
              </a:rPr>
              <a:t>KILL[B2]={d1,d2,d7}</a:t>
            </a:r>
            <a:endParaRPr lang="en-US" altLang="zh-CN" sz="2000" b="1" dirty="0">
              <a:latin typeface="+mn-ea"/>
            </a:endParaRPr>
          </a:p>
          <a:p>
            <a:pPr>
              <a:lnSpc>
                <a:spcPct val="120000"/>
              </a:lnSpc>
            </a:pPr>
            <a:r>
              <a:rPr lang="en-US" altLang="zh-CN" sz="2000" b="1" dirty="0">
                <a:latin typeface="+mn-ea"/>
              </a:rPr>
              <a:t>GEN[B3]={d6}</a:t>
            </a:r>
            <a:endParaRPr lang="en-US" altLang="zh-CN" sz="2000" b="1" dirty="0">
              <a:latin typeface="+mn-ea"/>
            </a:endParaRPr>
          </a:p>
          <a:p>
            <a:pPr>
              <a:lnSpc>
                <a:spcPct val="120000"/>
              </a:lnSpc>
            </a:pPr>
            <a:r>
              <a:rPr lang="en-US" altLang="zh-CN" sz="2000" b="1" dirty="0">
                <a:latin typeface="+mn-ea"/>
              </a:rPr>
              <a:t>KILL[B3]={d3}</a:t>
            </a:r>
            <a:endParaRPr lang="en-US" altLang="zh-CN" sz="2000" b="1" dirty="0">
              <a:latin typeface="+mn-ea"/>
            </a:endParaRPr>
          </a:p>
          <a:p>
            <a:pPr>
              <a:lnSpc>
                <a:spcPct val="120000"/>
              </a:lnSpc>
            </a:pPr>
            <a:r>
              <a:rPr lang="en-US" altLang="zh-CN" sz="2000" b="1" dirty="0">
                <a:latin typeface="+mn-ea"/>
              </a:rPr>
              <a:t>GEN[B4]={d7}</a:t>
            </a:r>
            <a:endParaRPr lang="en-US" altLang="zh-CN" sz="2000" b="1" dirty="0">
              <a:latin typeface="+mn-ea"/>
            </a:endParaRPr>
          </a:p>
          <a:p>
            <a:pPr>
              <a:lnSpc>
                <a:spcPct val="120000"/>
              </a:lnSpc>
            </a:pPr>
            <a:r>
              <a:rPr lang="en-US" altLang="zh-CN" sz="2000" b="1" dirty="0">
                <a:latin typeface="+mn-ea"/>
              </a:rPr>
              <a:t>KILL[B4]={d1,d4}</a:t>
            </a:r>
            <a:endParaRPr lang="en-US" altLang="zh-CN" sz="2400" b="1" dirty="0">
              <a:latin typeface="+mn-ea"/>
            </a:endParaRPr>
          </a:p>
        </p:txBody>
      </p:sp>
      <p:grpSp>
        <p:nvGrpSpPr>
          <p:cNvPr id="13" name="Group 13"/>
          <p:cNvGrpSpPr/>
          <p:nvPr>
            <p:custDataLst>
              <p:tags r:id="rId1"/>
            </p:custDataLst>
          </p:nvPr>
        </p:nvGrpSpPr>
        <p:grpSpPr>
          <a:xfrm>
            <a:off x="1658470" y="1662952"/>
            <a:ext cx="5562600" cy="4073525"/>
            <a:chOff x="144" y="1296"/>
            <a:chExt cx="3504" cy="2566"/>
          </a:xfrm>
        </p:grpSpPr>
        <p:sp>
          <p:nvSpPr>
            <p:cNvPr id="14" name="Text Box 4"/>
            <p:cNvSpPr txBox="1"/>
            <p:nvPr/>
          </p:nvSpPr>
          <p:spPr>
            <a:xfrm>
              <a:off x="1056" y="1296"/>
              <a:ext cx="2016" cy="597"/>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Tx/>
                <a:buNone/>
              </a:pPr>
              <a:r>
                <a:rPr lang="en-US" altLang="zh-CN" sz="1800" b="1" dirty="0">
                  <a:latin typeface="+mn-ea"/>
                </a:rPr>
                <a:t>d1: -	m	1	i</a:t>
              </a:r>
              <a:endParaRPr lang="en-US" altLang="zh-CN" sz="1800" b="1" dirty="0">
                <a:latin typeface="+mn-ea"/>
              </a:endParaRPr>
            </a:p>
            <a:p>
              <a:pPr marL="0" lvl="0" indent="0" eaLnBrk="1" hangingPunct="1">
                <a:lnSpc>
                  <a:spcPct val="90000"/>
                </a:lnSpc>
                <a:buFontTx/>
                <a:buNone/>
              </a:pPr>
              <a:r>
                <a:rPr lang="en-US" altLang="zh-CN" sz="1800" b="1" dirty="0">
                  <a:latin typeface="+mn-ea"/>
                </a:rPr>
                <a:t>d2: =	n		j</a:t>
              </a:r>
              <a:endParaRPr lang="en-US" altLang="zh-CN" sz="1800" b="1" dirty="0">
                <a:latin typeface="+mn-ea"/>
              </a:endParaRPr>
            </a:p>
            <a:p>
              <a:pPr marL="0" lvl="0" indent="0" eaLnBrk="1" hangingPunct="1">
                <a:lnSpc>
                  <a:spcPct val="90000"/>
                </a:lnSpc>
                <a:buFontTx/>
                <a:buNone/>
              </a:pPr>
              <a:r>
                <a:rPr lang="en-US" altLang="zh-CN" sz="1800" b="1" dirty="0">
                  <a:latin typeface="+mn-ea"/>
                </a:rPr>
                <a:t>d3: =	u2		a</a:t>
              </a:r>
              <a:endParaRPr lang="en-US" altLang="zh-CN" sz="1800" b="1" dirty="0">
                <a:latin typeface="+mn-ea"/>
              </a:endParaRPr>
            </a:p>
          </p:txBody>
        </p:sp>
        <p:sp>
          <p:nvSpPr>
            <p:cNvPr id="15" name="Text Box 5"/>
            <p:cNvSpPr txBox="1"/>
            <p:nvPr>
              <p:custDataLst>
                <p:tags r:id="rId2"/>
              </p:custDataLst>
            </p:nvPr>
          </p:nvSpPr>
          <p:spPr>
            <a:xfrm>
              <a:off x="1104" y="2256"/>
              <a:ext cx="2016" cy="406"/>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Tx/>
                <a:buNone/>
              </a:pPr>
              <a:r>
                <a:rPr lang="en-US" altLang="zh-CN" sz="1800" b="1" dirty="0">
                  <a:latin typeface="+mn-ea"/>
                </a:rPr>
                <a:t>d4: +	i	1	i</a:t>
              </a:r>
              <a:endParaRPr lang="en-US" altLang="zh-CN" sz="1800" b="1" dirty="0">
                <a:latin typeface="+mn-ea"/>
              </a:endParaRPr>
            </a:p>
            <a:p>
              <a:pPr marL="0" lvl="0" indent="0" eaLnBrk="1" hangingPunct="1">
                <a:lnSpc>
                  <a:spcPct val="90000"/>
                </a:lnSpc>
                <a:buFontTx/>
                <a:buNone/>
              </a:pPr>
              <a:r>
                <a:rPr lang="en-US" altLang="zh-CN" sz="1800" b="1" dirty="0">
                  <a:latin typeface="+mn-ea"/>
                </a:rPr>
                <a:t>d5: -	j	1	j</a:t>
              </a:r>
              <a:endParaRPr lang="en-US" altLang="zh-CN" sz="1800" b="1" dirty="0">
                <a:latin typeface="+mn-ea"/>
              </a:endParaRPr>
            </a:p>
          </p:txBody>
        </p:sp>
        <p:sp>
          <p:nvSpPr>
            <p:cNvPr id="16" name="Text Box 6"/>
            <p:cNvSpPr txBox="1"/>
            <p:nvPr>
              <p:custDataLst>
                <p:tags r:id="rId3"/>
              </p:custDataLst>
            </p:nvPr>
          </p:nvSpPr>
          <p:spPr>
            <a:xfrm>
              <a:off x="144" y="3120"/>
              <a:ext cx="2016"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Tx/>
                <a:buNone/>
              </a:pPr>
              <a:r>
                <a:rPr lang="en-US" altLang="zh-CN" sz="1800" b="1" dirty="0">
                  <a:latin typeface="+mn-ea"/>
                </a:rPr>
                <a:t>d6: =	u2		a</a:t>
              </a:r>
              <a:endParaRPr lang="en-US" altLang="zh-CN" sz="1800" b="1" dirty="0">
                <a:latin typeface="+mn-ea"/>
              </a:endParaRPr>
            </a:p>
          </p:txBody>
        </p:sp>
        <p:sp>
          <p:nvSpPr>
            <p:cNvPr id="17" name="Text Box 7"/>
            <p:cNvSpPr txBox="1"/>
            <p:nvPr>
              <p:custDataLst>
                <p:tags r:id="rId4"/>
              </p:custDataLst>
            </p:nvPr>
          </p:nvSpPr>
          <p:spPr>
            <a:xfrm>
              <a:off x="1488" y="3648"/>
              <a:ext cx="2016"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Tx/>
                <a:buNone/>
              </a:pPr>
              <a:r>
                <a:rPr lang="en-US" altLang="zh-CN" sz="1800" b="1" dirty="0">
                  <a:latin typeface="+mn-ea"/>
                </a:rPr>
                <a:t>d7: =	u3		i</a:t>
              </a:r>
              <a:endParaRPr lang="en-US" altLang="zh-CN" sz="1800" b="1" dirty="0">
                <a:latin typeface="+mn-ea"/>
              </a:endParaRPr>
            </a:p>
          </p:txBody>
        </p:sp>
        <p:sp>
          <p:nvSpPr>
            <p:cNvPr id="18" name="Line 8"/>
            <p:cNvSpPr/>
            <p:nvPr/>
          </p:nvSpPr>
          <p:spPr>
            <a:xfrm>
              <a:off x="2016" y="2064"/>
              <a:ext cx="0" cy="192"/>
            </a:xfrm>
            <a:prstGeom prst="line">
              <a:avLst/>
            </a:prstGeom>
            <a:ln w="9525" cap="flat" cmpd="sng">
              <a:solidFill>
                <a:schemeClr val="tx1"/>
              </a:solidFill>
              <a:prstDash val="solid"/>
              <a:headEnd type="none" w="med" len="med"/>
              <a:tailEnd type="triangle" w="med" len="med"/>
            </a:ln>
          </p:spPr>
        </p:sp>
        <p:sp>
          <p:nvSpPr>
            <p:cNvPr id="19" name="Line 9"/>
            <p:cNvSpPr/>
            <p:nvPr>
              <p:custDataLst>
                <p:tags r:id="rId5"/>
              </p:custDataLst>
            </p:nvPr>
          </p:nvSpPr>
          <p:spPr>
            <a:xfrm flipH="1">
              <a:off x="1104" y="2784"/>
              <a:ext cx="576" cy="336"/>
            </a:xfrm>
            <a:prstGeom prst="line">
              <a:avLst/>
            </a:prstGeom>
            <a:ln w="9525" cap="flat" cmpd="sng">
              <a:solidFill>
                <a:schemeClr val="tx1"/>
              </a:solidFill>
              <a:prstDash val="solid"/>
              <a:headEnd type="none" w="med" len="med"/>
              <a:tailEnd type="triangle" w="med" len="med"/>
            </a:ln>
          </p:spPr>
        </p:sp>
        <p:sp>
          <p:nvSpPr>
            <p:cNvPr id="20" name="Line 10"/>
            <p:cNvSpPr/>
            <p:nvPr>
              <p:custDataLst>
                <p:tags r:id="rId6"/>
              </p:custDataLst>
            </p:nvPr>
          </p:nvSpPr>
          <p:spPr>
            <a:xfrm>
              <a:off x="2208" y="2784"/>
              <a:ext cx="336" cy="864"/>
            </a:xfrm>
            <a:prstGeom prst="line">
              <a:avLst/>
            </a:prstGeom>
            <a:ln w="9525" cap="flat" cmpd="sng">
              <a:solidFill>
                <a:schemeClr val="tx1"/>
              </a:solidFill>
              <a:prstDash val="solid"/>
              <a:headEnd type="none" w="med" len="med"/>
              <a:tailEnd type="triangle" w="med" len="med"/>
            </a:ln>
          </p:spPr>
        </p:sp>
        <p:sp>
          <p:nvSpPr>
            <p:cNvPr id="21" name="Line 11"/>
            <p:cNvSpPr/>
            <p:nvPr>
              <p:custDataLst>
                <p:tags r:id="rId7"/>
              </p:custDataLst>
            </p:nvPr>
          </p:nvSpPr>
          <p:spPr>
            <a:xfrm>
              <a:off x="1104" y="3408"/>
              <a:ext cx="864" cy="240"/>
            </a:xfrm>
            <a:prstGeom prst="line">
              <a:avLst/>
            </a:prstGeom>
            <a:ln w="9525" cap="flat" cmpd="sng">
              <a:solidFill>
                <a:schemeClr val="tx1"/>
              </a:solidFill>
              <a:prstDash val="solid"/>
              <a:headEnd type="none" w="med" len="med"/>
              <a:tailEnd type="triangle" w="med" len="med"/>
            </a:ln>
          </p:spPr>
        </p:sp>
        <p:sp>
          <p:nvSpPr>
            <p:cNvPr id="22" name="Freeform 12"/>
            <p:cNvSpPr/>
            <p:nvPr/>
          </p:nvSpPr>
          <p:spPr>
            <a:xfrm>
              <a:off x="3120" y="2592"/>
              <a:ext cx="528" cy="1152"/>
            </a:xfrm>
            <a:custGeom>
              <a:avLst/>
              <a:gdLst>
                <a:gd name="txL" fmla="*/ 0 w 528"/>
                <a:gd name="txT" fmla="*/ 0 h 1152"/>
                <a:gd name="txR" fmla="*/ 528 w 528"/>
                <a:gd name="txB" fmla="*/ 1152 h 1152"/>
              </a:gdLst>
              <a:ahLst/>
              <a:cxnLst>
                <a:cxn ang="0">
                  <a:pos x="384" y="1152"/>
                </a:cxn>
                <a:cxn ang="0">
                  <a:pos x="528" y="1152"/>
                </a:cxn>
                <a:cxn ang="0">
                  <a:pos x="528" y="0"/>
                </a:cxn>
                <a:cxn ang="0">
                  <a:pos x="0" y="0"/>
                </a:cxn>
              </a:cxnLst>
              <a:rect l="txL" t="txT" r="txR" b="txB"/>
              <a:pathLst>
                <a:path w="528" h="1152">
                  <a:moveTo>
                    <a:pt x="384" y="1152"/>
                  </a:moveTo>
                  <a:lnTo>
                    <a:pt x="528" y="1152"/>
                  </a:lnTo>
                  <a:lnTo>
                    <a:pt x="528" y="0"/>
                  </a:lnTo>
                  <a:lnTo>
                    <a:pt x="0" y="0"/>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latin typeface="+mn-ea"/>
              </a:endParaRPr>
            </a:p>
          </p:txBody>
        </p:sp>
      </p:grpSp>
      <p:sp>
        <p:nvSpPr>
          <p:cNvPr id="23" name="Text Box 14"/>
          <p:cNvSpPr txBox="1"/>
          <p:nvPr/>
        </p:nvSpPr>
        <p:spPr>
          <a:xfrm>
            <a:off x="2725270" y="1281952"/>
            <a:ext cx="609600" cy="3397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FontTx/>
              <a:buNone/>
            </a:pPr>
            <a:r>
              <a:rPr lang="en-US" altLang="zh-CN" sz="1800" b="1" dirty="0">
                <a:latin typeface="+mn-ea"/>
              </a:rPr>
              <a:t>B1</a:t>
            </a:r>
            <a:endParaRPr lang="en-US" altLang="zh-CN" sz="1800" b="1" dirty="0">
              <a:latin typeface="+mn-ea"/>
            </a:endParaRPr>
          </a:p>
        </p:txBody>
      </p:sp>
      <p:sp>
        <p:nvSpPr>
          <p:cNvPr id="24" name="Text Box 15"/>
          <p:cNvSpPr txBox="1"/>
          <p:nvPr>
            <p:custDataLst>
              <p:tags r:id="rId8"/>
            </p:custDataLst>
          </p:nvPr>
        </p:nvSpPr>
        <p:spPr>
          <a:xfrm>
            <a:off x="2572870" y="3186952"/>
            <a:ext cx="609600" cy="3397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FontTx/>
              <a:buNone/>
            </a:pPr>
            <a:r>
              <a:rPr lang="en-US" altLang="zh-CN" sz="1800" b="1" dirty="0">
                <a:latin typeface="+mn-ea"/>
              </a:rPr>
              <a:t>B2</a:t>
            </a:r>
            <a:endParaRPr lang="en-US" altLang="zh-CN" sz="1800" b="1" dirty="0">
              <a:latin typeface="+mn-ea"/>
            </a:endParaRPr>
          </a:p>
        </p:txBody>
      </p:sp>
      <p:sp>
        <p:nvSpPr>
          <p:cNvPr id="25" name="Text Box 16"/>
          <p:cNvSpPr txBox="1"/>
          <p:nvPr>
            <p:custDataLst>
              <p:tags r:id="rId9"/>
            </p:custDataLst>
          </p:nvPr>
        </p:nvSpPr>
        <p:spPr>
          <a:xfrm>
            <a:off x="1734670" y="4025152"/>
            <a:ext cx="609600" cy="3397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FontTx/>
              <a:buNone/>
            </a:pPr>
            <a:r>
              <a:rPr lang="en-US" altLang="zh-CN" sz="1800" b="1" dirty="0">
                <a:latin typeface="+mn-ea"/>
              </a:rPr>
              <a:t>B3</a:t>
            </a:r>
            <a:endParaRPr lang="en-US" altLang="zh-CN" sz="1800" b="1" dirty="0">
              <a:latin typeface="+mn-ea"/>
            </a:endParaRPr>
          </a:p>
        </p:txBody>
      </p:sp>
      <p:sp>
        <p:nvSpPr>
          <p:cNvPr id="26" name="Text Box 17"/>
          <p:cNvSpPr txBox="1"/>
          <p:nvPr>
            <p:custDataLst>
              <p:tags r:id="rId10"/>
            </p:custDataLst>
          </p:nvPr>
        </p:nvSpPr>
        <p:spPr>
          <a:xfrm>
            <a:off x="2953870" y="5396752"/>
            <a:ext cx="609600" cy="3397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FontTx/>
              <a:buNone/>
            </a:pPr>
            <a:r>
              <a:rPr lang="en-US" altLang="zh-CN" sz="1800" b="1" dirty="0">
                <a:latin typeface="+mn-ea"/>
              </a:rPr>
              <a:t>B4</a:t>
            </a:r>
            <a:endParaRPr lang="en-US" altLang="zh-CN" sz="1800" b="1" dirty="0">
              <a:latin typeface="+mn-ea"/>
            </a:endParaRPr>
          </a:p>
        </p:txBody>
      </p:sp>
      <p:sp>
        <p:nvSpPr>
          <p:cNvPr id="27" name="AutoShape 20">
            <a:hlinkClick r:id="rId11" action="ppaction://hlinksldjump"/>
          </p:cNvPr>
          <p:cNvSpPr/>
          <p:nvPr/>
        </p:nvSpPr>
        <p:spPr>
          <a:xfrm flipV="1">
            <a:off x="9190877" y="5841346"/>
            <a:ext cx="936625" cy="288925"/>
          </a:xfrm>
          <a:prstGeom prst="curvedDownArrow">
            <a:avLst>
              <a:gd name="adj1" fmla="val 64835"/>
              <a:gd name="adj2" fmla="val 129670"/>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1800" b="1" dirty="0">
              <a:latin typeface="+mn-ea"/>
            </a:endParaRPr>
          </a:p>
        </p:txBody>
      </p:sp>
      <p:sp>
        <p:nvSpPr>
          <p:cNvPr id="3" name="文本占位符 2"/>
          <p:cNvSpPr>
            <a:spLocks noGrp="1"/>
          </p:cNvSpPr>
          <p:nvPr>
            <p:ph type="body" sz="quarter" idx="14"/>
            <p:custDataLst>
              <p:tags r:id="rId12"/>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arn(inHorizontal)">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barn(inHorizontal)">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barn(inHorizontal)">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barn(inHorizontal)">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barn(inHorizontal)">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barn(inHorizontal)">
                                      <p:cBhvr>
                                        <p:cTn id="42"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
          <p:cNvSpPr txBox="1"/>
          <p:nvPr/>
        </p:nvSpPr>
        <p:spPr>
          <a:xfrm>
            <a:off x="488315" y="1214755"/>
            <a:ext cx="8662035" cy="385953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latin typeface="+mn-ea"/>
              </a:rPr>
              <a:t>初始化：</a:t>
            </a:r>
            <a:endParaRPr lang="zh-CN" altLang="en-US" sz="2400" b="1" dirty="0">
              <a:latin typeface="+mn-ea"/>
            </a:endParaRPr>
          </a:p>
          <a:p>
            <a:pPr lvl="1">
              <a:lnSpc>
                <a:spcPct val="120000"/>
              </a:lnSpc>
            </a:pPr>
            <a:r>
              <a:rPr lang="en-US" altLang="zh-CN" sz="2000" b="1" dirty="0">
                <a:latin typeface="+mn-ea"/>
              </a:rPr>
              <a:t>IN[B1] = IN[B2] = IN[B3] = IN[B4] =</a:t>
            </a:r>
            <a:r>
              <a:rPr lang="zh-CN" altLang="en-US" sz="2000" b="1" dirty="0">
                <a:latin typeface="+mn-ea"/>
              </a:rPr>
              <a:t>空</a:t>
            </a:r>
            <a:endParaRPr lang="zh-CN" altLang="en-US" sz="2000" b="1" dirty="0">
              <a:latin typeface="+mn-ea"/>
            </a:endParaRPr>
          </a:p>
          <a:p>
            <a:pPr lvl="1">
              <a:lnSpc>
                <a:spcPct val="120000"/>
              </a:lnSpc>
            </a:pPr>
            <a:r>
              <a:rPr lang="en-US" altLang="zh-CN" sz="2000" b="1" dirty="0">
                <a:latin typeface="+mn-ea"/>
              </a:rPr>
              <a:t>OUT[B1]={d1,d2,d3}</a:t>
            </a:r>
            <a:endParaRPr lang="en-US" altLang="zh-CN" sz="2000" b="1" dirty="0">
              <a:latin typeface="+mn-ea"/>
            </a:endParaRPr>
          </a:p>
          <a:p>
            <a:pPr lvl="1">
              <a:lnSpc>
                <a:spcPct val="120000"/>
              </a:lnSpc>
            </a:pPr>
            <a:r>
              <a:rPr lang="en-US" altLang="zh-CN" sz="2000" b="1" dirty="0">
                <a:latin typeface="+mn-ea"/>
              </a:rPr>
              <a:t>OUT[B2]={d4,d5}</a:t>
            </a:r>
            <a:endParaRPr lang="en-US" altLang="zh-CN" sz="2000" b="1" dirty="0">
              <a:latin typeface="+mn-ea"/>
            </a:endParaRPr>
          </a:p>
          <a:p>
            <a:pPr lvl="1">
              <a:lnSpc>
                <a:spcPct val="120000"/>
              </a:lnSpc>
            </a:pPr>
            <a:r>
              <a:rPr lang="en-US" altLang="zh-CN" sz="2000" b="1" dirty="0">
                <a:latin typeface="+mn-ea"/>
              </a:rPr>
              <a:t>OUT[B3]={d6}</a:t>
            </a:r>
            <a:endParaRPr lang="en-US" altLang="zh-CN" sz="2000" b="1" dirty="0">
              <a:latin typeface="+mn-ea"/>
            </a:endParaRPr>
          </a:p>
          <a:p>
            <a:pPr lvl="1">
              <a:lnSpc>
                <a:spcPct val="120000"/>
              </a:lnSpc>
            </a:pPr>
            <a:r>
              <a:rPr lang="en-US" altLang="zh-CN" sz="2000" b="1" dirty="0">
                <a:latin typeface="+mn-ea"/>
              </a:rPr>
              <a:t>OUT[B4]={d7}</a:t>
            </a:r>
            <a:endParaRPr lang="en-US" altLang="zh-CN" sz="2000" b="1" dirty="0">
              <a:latin typeface="+mn-ea"/>
            </a:endParaRPr>
          </a:p>
          <a:p>
            <a:pPr>
              <a:lnSpc>
                <a:spcPct val="120000"/>
              </a:lnSpc>
              <a:buFont typeface="Wingdings" panose="05000000000000000000" charset="0"/>
              <a:buChar char="p"/>
            </a:pPr>
            <a:r>
              <a:rPr lang="zh-CN" altLang="en-US" sz="2400" b="1" dirty="0">
                <a:latin typeface="+mn-ea"/>
              </a:rPr>
              <a:t>第一次循环：</a:t>
            </a:r>
            <a:endParaRPr lang="zh-CN" altLang="en-US" sz="2400" b="1" dirty="0">
              <a:latin typeface="+mn-ea"/>
            </a:endParaRPr>
          </a:p>
          <a:p>
            <a:pPr lvl="1">
              <a:lnSpc>
                <a:spcPct val="120000"/>
              </a:lnSpc>
            </a:pPr>
            <a:r>
              <a:rPr lang="en-US" altLang="zh-CN" sz="2000" b="1" dirty="0">
                <a:latin typeface="+mn-ea"/>
              </a:rPr>
              <a:t>IN[B1]=</a:t>
            </a:r>
            <a:r>
              <a:rPr lang="zh-CN" altLang="en-US" sz="2000" b="1" dirty="0">
                <a:latin typeface="+mn-ea"/>
              </a:rPr>
              <a:t>空；</a:t>
            </a:r>
            <a:r>
              <a:rPr lang="en-US" altLang="zh-CN" sz="2000" b="1" dirty="0">
                <a:latin typeface="+mn-ea"/>
              </a:rPr>
              <a:t> IN[B2] ={d1,d2,d3,d7}; IN[B3]={d4,d5}</a:t>
            </a:r>
            <a:r>
              <a:rPr lang="zh-CN" altLang="en-US" sz="2000" b="1" dirty="0">
                <a:latin typeface="+mn-ea"/>
              </a:rPr>
              <a:t>；</a:t>
            </a:r>
            <a:endParaRPr lang="en-US" altLang="zh-CN" sz="2000" b="1" dirty="0">
              <a:latin typeface="+mn-ea"/>
            </a:endParaRPr>
          </a:p>
          <a:p>
            <a:pPr lvl="1">
              <a:lnSpc>
                <a:spcPct val="120000"/>
              </a:lnSpc>
            </a:pPr>
            <a:r>
              <a:rPr lang="en-US" altLang="zh-CN" sz="2000" b="1" dirty="0">
                <a:latin typeface="+mn-ea"/>
              </a:rPr>
              <a:t>IN[B4]={d4,d5,d6}</a:t>
            </a:r>
            <a:r>
              <a:rPr lang="zh-CN" altLang="en-US" sz="2000" b="1" dirty="0">
                <a:latin typeface="+mn-ea"/>
              </a:rPr>
              <a:t>；</a:t>
            </a:r>
            <a:r>
              <a:rPr lang="en-US" altLang="zh-CN" sz="2000" b="1" dirty="0">
                <a:latin typeface="+mn-ea"/>
              </a:rPr>
              <a:t>OUT[B1]={d1,d2,d3};</a:t>
            </a:r>
            <a:endParaRPr lang="en-US" altLang="zh-CN" sz="2000" b="1" dirty="0">
              <a:latin typeface="+mn-ea"/>
            </a:endParaRPr>
          </a:p>
          <a:p>
            <a:pPr lvl="1">
              <a:lnSpc>
                <a:spcPct val="120000"/>
              </a:lnSpc>
            </a:pPr>
            <a:r>
              <a:rPr lang="en-US" altLang="zh-CN" sz="2000" b="1" dirty="0">
                <a:latin typeface="+mn-ea"/>
              </a:rPr>
              <a:t>OUT[B2]={d3,d4,d5}…</a:t>
            </a:r>
            <a:endParaRPr lang="en-US" altLang="zh-CN" sz="2000" b="1" dirty="0">
              <a:latin typeface="+mn-ea"/>
            </a:endParaRPr>
          </a:p>
        </p:txBody>
      </p:sp>
      <p:sp>
        <p:nvSpPr>
          <p:cNvPr id="29" name="AutoShape 6">
            <a:hlinkClick r:id="rId1" action="ppaction://hlinksldjump"/>
          </p:cNvPr>
          <p:cNvSpPr/>
          <p:nvPr/>
        </p:nvSpPr>
        <p:spPr>
          <a:xfrm flipV="1">
            <a:off x="8975725" y="5805488"/>
            <a:ext cx="936625" cy="288925"/>
          </a:xfrm>
          <a:prstGeom prst="curvedDownArrow">
            <a:avLst>
              <a:gd name="adj1" fmla="val 64835"/>
              <a:gd name="adj2" fmla="val 129670"/>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spcBef>
                <a:spcPct val="0"/>
              </a:spcBef>
              <a:buClrTx/>
              <a:buFontTx/>
              <a:buNone/>
            </a:pPr>
            <a:endParaRPr lang="zh-CN" altLang="en-US" sz="1800" dirty="0">
              <a:latin typeface="Verdana" panose="020B0604030504040204" pitchFamily="34" charset="0"/>
            </a:endParaRPr>
          </a:p>
        </p:txBody>
      </p:sp>
      <p:sp>
        <p:nvSpPr>
          <p:cNvPr id="3" name="文本占位符 2"/>
          <p:cNvSpPr>
            <a:spLocks noGrp="1"/>
          </p:cNvSpPr>
          <p:nvPr>
            <p:ph type="body" sz="quarter" idx="14"/>
            <p:custDataLst>
              <p:tags r:id="rId2"/>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barn(inHorizontal)">
                                      <p:cBhvr>
                                        <p:cTn id="7" dur="500"/>
                                        <p:tgtEl>
                                          <p:spTgt spid="28">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28">
                                            <p:txEl>
                                              <p:pRg st="1" end="1"/>
                                            </p:txEl>
                                          </p:spTgt>
                                        </p:tgtEl>
                                        <p:attrNameLst>
                                          <p:attrName>style.visibility</p:attrName>
                                        </p:attrNameLst>
                                      </p:cBhvr>
                                      <p:to>
                                        <p:strVal val="visible"/>
                                      </p:to>
                                    </p:set>
                                    <p:animEffect transition="in" filter="barn(inHorizontal)">
                                      <p:cBhvr>
                                        <p:cTn id="10" dur="500"/>
                                        <p:tgtEl>
                                          <p:spTgt spid="28">
                                            <p:txEl>
                                              <p:pRg st="1" end="1"/>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28">
                                            <p:txEl>
                                              <p:pRg st="2" end="2"/>
                                            </p:txEl>
                                          </p:spTgt>
                                        </p:tgtEl>
                                        <p:attrNameLst>
                                          <p:attrName>style.visibility</p:attrName>
                                        </p:attrNameLst>
                                      </p:cBhvr>
                                      <p:to>
                                        <p:strVal val="visible"/>
                                      </p:to>
                                    </p:set>
                                    <p:animEffect transition="in" filter="barn(inHorizontal)">
                                      <p:cBhvr>
                                        <p:cTn id="13" dur="500"/>
                                        <p:tgtEl>
                                          <p:spTgt spid="28">
                                            <p:txEl>
                                              <p:pRg st="2" end="2"/>
                                            </p:txEl>
                                          </p:spTgt>
                                        </p:tgtEl>
                                      </p:cBhvr>
                                    </p:animEffect>
                                  </p:childTnLst>
                                </p:cTn>
                              </p:par>
                              <p:par>
                                <p:cTn id="14" presetID="16" presetClass="entr" presetSubtype="26" fill="hold" nodeType="withEffect">
                                  <p:stCondLst>
                                    <p:cond delay="0"/>
                                  </p:stCondLst>
                                  <p:childTnLst>
                                    <p:set>
                                      <p:cBhvr>
                                        <p:cTn id="15" dur="1" fill="hold">
                                          <p:stCondLst>
                                            <p:cond delay="0"/>
                                          </p:stCondLst>
                                        </p:cTn>
                                        <p:tgtEl>
                                          <p:spTgt spid="28">
                                            <p:txEl>
                                              <p:pRg st="3" end="3"/>
                                            </p:txEl>
                                          </p:spTgt>
                                        </p:tgtEl>
                                        <p:attrNameLst>
                                          <p:attrName>style.visibility</p:attrName>
                                        </p:attrNameLst>
                                      </p:cBhvr>
                                      <p:to>
                                        <p:strVal val="visible"/>
                                      </p:to>
                                    </p:set>
                                    <p:animEffect transition="in" filter="barn(inHorizontal)">
                                      <p:cBhvr>
                                        <p:cTn id="16" dur="500"/>
                                        <p:tgtEl>
                                          <p:spTgt spid="28">
                                            <p:txEl>
                                              <p:pRg st="3" end="3"/>
                                            </p:txEl>
                                          </p:spTgt>
                                        </p:tgtEl>
                                      </p:cBhvr>
                                    </p:animEffect>
                                  </p:childTnLst>
                                </p:cTn>
                              </p:par>
                              <p:par>
                                <p:cTn id="17" presetID="16" presetClass="entr" presetSubtype="26" fill="hold" nodeType="withEffect">
                                  <p:stCondLst>
                                    <p:cond delay="0"/>
                                  </p:stCondLst>
                                  <p:childTnLst>
                                    <p:set>
                                      <p:cBhvr>
                                        <p:cTn id="18" dur="1" fill="hold">
                                          <p:stCondLst>
                                            <p:cond delay="0"/>
                                          </p:stCondLst>
                                        </p:cTn>
                                        <p:tgtEl>
                                          <p:spTgt spid="28">
                                            <p:txEl>
                                              <p:pRg st="4" end="4"/>
                                            </p:txEl>
                                          </p:spTgt>
                                        </p:tgtEl>
                                        <p:attrNameLst>
                                          <p:attrName>style.visibility</p:attrName>
                                        </p:attrNameLst>
                                      </p:cBhvr>
                                      <p:to>
                                        <p:strVal val="visible"/>
                                      </p:to>
                                    </p:set>
                                    <p:animEffect transition="in" filter="barn(inHorizontal)">
                                      <p:cBhvr>
                                        <p:cTn id="19" dur="500"/>
                                        <p:tgtEl>
                                          <p:spTgt spid="28">
                                            <p:txEl>
                                              <p:pRg st="4" end="4"/>
                                            </p:txEl>
                                          </p:spTgt>
                                        </p:tgtEl>
                                      </p:cBhvr>
                                    </p:animEffect>
                                  </p:childTnLst>
                                </p:cTn>
                              </p:par>
                              <p:par>
                                <p:cTn id="20" presetID="16" presetClass="entr" presetSubtype="26" fill="hold" nodeType="withEffect">
                                  <p:stCondLst>
                                    <p:cond delay="0"/>
                                  </p:stCondLst>
                                  <p:childTnLst>
                                    <p:set>
                                      <p:cBhvr>
                                        <p:cTn id="21" dur="1" fill="hold">
                                          <p:stCondLst>
                                            <p:cond delay="0"/>
                                          </p:stCondLst>
                                        </p:cTn>
                                        <p:tgtEl>
                                          <p:spTgt spid="28">
                                            <p:txEl>
                                              <p:pRg st="5" end="5"/>
                                            </p:txEl>
                                          </p:spTgt>
                                        </p:tgtEl>
                                        <p:attrNameLst>
                                          <p:attrName>style.visibility</p:attrName>
                                        </p:attrNameLst>
                                      </p:cBhvr>
                                      <p:to>
                                        <p:strVal val="visible"/>
                                      </p:to>
                                    </p:set>
                                    <p:animEffect transition="in" filter="barn(inHorizontal)">
                                      <p:cBhvr>
                                        <p:cTn id="22" dur="500"/>
                                        <p:tgtEl>
                                          <p:spTgt spid="2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28">
                                            <p:txEl>
                                              <p:pRg st="6" end="6"/>
                                            </p:txEl>
                                          </p:spTgt>
                                        </p:tgtEl>
                                        <p:attrNameLst>
                                          <p:attrName>style.visibility</p:attrName>
                                        </p:attrNameLst>
                                      </p:cBhvr>
                                      <p:to>
                                        <p:strVal val="visible"/>
                                      </p:to>
                                    </p:set>
                                    <p:animEffect transition="in" filter="barn(inHorizontal)">
                                      <p:cBhvr>
                                        <p:cTn id="27" dur="500"/>
                                        <p:tgtEl>
                                          <p:spTgt spid="28">
                                            <p:txEl>
                                              <p:pRg st="6" end="6"/>
                                            </p:txEl>
                                          </p:spTgt>
                                        </p:tgtEl>
                                      </p:cBhvr>
                                    </p:animEffect>
                                  </p:childTnLst>
                                </p:cTn>
                              </p:par>
                              <p:par>
                                <p:cTn id="28" presetID="16" presetClass="entr" presetSubtype="26" fill="hold" nodeType="withEffect">
                                  <p:stCondLst>
                                    <p:cond delay="0"/>
                                  </p:stCondLst>
                                  <p:childTnLst>
                                    <p:set>
                                      <p:cBhvr>
                                        <p:cTn id="29" dur="1" fill="hold">
                                          <p:stCondLst>
                                            <p:cond delay="0"/>
                                          </p:stCondLst>
                                        </p:cTn>
                                        <p:tgtEl>
                                          <p:spTgt spid="28">
                                            <p:txEl>
                                              <p:pRg st="7" end="7"/>
                                            </p:txEl>
                                          </p:spTgt>
                                        </p:tgtEl>
                                        <p:attrNameLst>
                                          <p:attrName>style.visibility</p:attrName>
                                        </p:attrNameLst>
                                      </p:cBhvr>
                                      <p:to>
                                        <p:strVal val="visible"/>
                                      </p:to>
                                    </p:set>
                                    <p:animEffect transition="in" filter="barn(inHorizontal)">
                                      <p:cBhvr>
                                        <p:cTn id="30" dur="500"/>
                                        <p:tgtEl>
                                          <p:spTgt spid="28">
                                            <p:txEl>
                                              <p:pRg st="7" end="7"/>
                                            </p:txEl>
                                          </p:spTgt>
                                        </p:tgtEl>
                                      </p:cBhvr>
                                    </p:animEffect>
                                  </p:childTnLst>
                                </p:cTn>
                              </p:par>
                              <p:par>
                                <p:cTn id="31" presetID="16" presetClass="entr" presetSubtype="26" fill="hold" nodeType="withEffect">
                                  <p:stCondLst>
                                    <p:cond delay="0"/>
                                  </p:stCondLst>
                                  <p:childTnLst>
                                    <p:set>
                                      <p:cBhvr>
                                        <p:cTn id="32" dur="1" fill="hold">
                                          <p:stCondLst>
                                            <p:cond delay="0"/>
                                          </p:stCondLst>
                                        </p:cTn>
                                        <p:tgtEl>
                                          <p:spTgt spid="28">
                                            <p:txEl>
                                              <p:pRg st="8" end="8"/>
                                            </p:txEl>
                                          </p:spTgt>
                                        </p:tgtEl>
                                        <p:attrNameLst>
                                          <p:attrName>style.visibility</p:attrName>
                                        </p:attrNameLst>
                                      </p:cBhvr>
                                      <p:to>
                                        <p:strVal val="visible"/>
                                      </p:to>
                                    </p:set>
                                    <p:animEffect transition="in" filter="barn(inHorizontal)">
                                      <p:cBhvr>
                                        <p:cTn id="33" dur="500"/>
                                        <p:tgtEl>
                                          <p:spTgt spid="28">
                                            <p:txEl>
                                              <p:pRg st="8" end="8"/>
                                            </p:txEl>
                                          </p:spTgt>
                                        </p:tgtEl>
                                      </p:cBhvr>
                                    </p:animEffect>
                                  </p:childTnLst>
                                </p:cTn>
                              </p:par>
                              <p:par>
                                <p:cTn id="34" presetID="16" presetClass="entr" presetSubtype="26" fill="hold" nodeType="withEffect">
                                  <p:stCondLst>
                                    <p:cond delay="0"/>
                                  </p:stCondLst>
                                  <p:childTnLst>
                                    <p:set>
                                      <p:cBhvr>
                                        <p:cTn id="35" dur="1" fill="hold">
                                          <p:stCondLst>
                                            <p:cond delay="0"/>
                                          </p:stCondLst>
                                        </p:cTn>
                                        <p:tgtEl>
                                          <p:spTgt spid="28">
                                            <p:txEl>
                                              <p:pRg st="9" end="9"/>
                                            </p:txEl>
                                          </p:spTgt>
                                        </p:tgtEl>
                                        <p:attrNameLst>
                                          <p:attrName>style.visibility</p:attrName>
                                        </p:attrNameLst>
                                      </p:cBhvr>
                                      <p:to>
                                        <p:strVal val="visible"/>
                                      </p:to>
                                    </p:set>
                                    <p:animEffect transition="in" filter="barn(inHorizontal)">
                                      <p:cBhvr>
                                        <p:cTn id="36" dur="500"/>
                                        <p:tgtEl>
                                          <p:spTgt spid="2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a:xfrm>
            <a:off x="521970" y="1259840"/>
            <a:ext cx="8127365" cy="408940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b="1" dirty="0">
                <a:latin typeface="+mn-ea"/>
              </a:rPr>
              <a:t>结果：</a:t>
            </a:r>
            <a:endParaRPr lang="zh-CN" altLang="en-US" sz="2400" b="1" dirty="0">
              <a:latin typeface="+mn-ea"/>
            </a:endParaRPr>
          </a:p>
          <a:p>
            <a:pPr lvl="1">
              <a:lnSpc>
                <a:spcPct val="120000"/>
              </a:lnSpc>
            </a:pPr>
            <a:r>
              <a:rPr lang="en-US" altLang="zh-CN" b="1" dirty="0">
                <a:latin typeface="+mn-ea"/>
              </a:rPr>
              <a:t>IN[B1]=</a:t>
            </a:r>
            <a:r>
              <a:rPr lang="zh-CN" altLang="en-US" b="1" dirty="0">
                <a:latin typeface="+mn-ea"/>
              </a:rPr>
              <a:t>空；</a:t>
            </a:r>
            <a:endParaRPr lang="en-US" altLang="zh-CN" b="1" dirty="0">
              <a:latin typeface="+mn-ea"/>
            </a:endParaRPr>
          </a:p>
          <a:p>
            <a:pPr lvl="1">
              <a:lnSpc>
                <a:spcPct val="120000"/>
              </a:lnSpc>
              <a:buFont typeface="Arial" panose="020B0604020202020204" pitchFamily="34" charset="0"/>
              <a:buNone/>
            </a:pPr>
            <a:r>
              <a:rPr lang="zh-CN" altLang="en-US" b="1" dirty="0">
                <a:latin typeface="+mn-ea"/>
              </a:rPr>
              <a:t>    </a:t>
            </a:r>
            <a:r>
              <a:rPr lang="en-US" altLang="zh-CN" b="1" dirty="0">
                <a:latin typeface="+mn-ea"/>
              </a:rPr>
              <a:t>OUT[B1]={d1,d2,d3}</a:t>
            </a:r>
            <a:r>
              <a:rPr lang="zh-CN" altLang="en-US" b="1" dirty="0">
                <a:latin typeface="+mn-ea"/>
              </a:rPr>
              <a:t>；</a:t>
            </a:r>
            <a:endParaRPr lang="en-US" altLang="zh-CN" b="1" dirty="0">
              <a:latin typeface="+mn-ea"/>
            </a:endParaRPr>
          </a:p>
          <a:p>
            <a:pPr lvl="1">
              <a:lnSpc>
                <a:spcPct val="120000"/>
              </a:lnSpc>
            </a:pPr>
            <a:r>
              <a:rPr lang="en-US" altLang="zh-CN" b="1" dirty="0">
                <a:latin typeface="+mn-ea"/>
              </a:rPr>
              <a:t>IN[B2]={d1,d2,d3,d5,d6,d7}</a:t>
            </a:r>
            <a:r>
              <a:rPr lang="zh-CN" altLang="en-US" b="1" dirty="0">
                <a:latin typeface="+mn-ea"/>
              </a:rPr>
              <a:t>；</a:t>
            </a:r>
            <a:endParaRPr lang="en-US" altLang="zh-CN" b="1" dirty="0">
              <a:latin typeface="+mn-ea"/>
            </a:endParaRPr>
          </a:p>
          <a:p>
            <a:pPr lvl="1">
              <a:lnSpc>
                <a:spcPct val="120000"/>
              </a:lnSpc>
              <a:buFont typeface="Arial" panose="020B0604020202020204" pitchFamily="34" charset="0"/>
              <a:buNone/>
            </a:pPr>
            <a:r>
              <a:rPr lang="zh-CN" altLang="en-US" b="1" dirty="0">
                <a:latin typeface="+mn-ea"/>
              </a:rPr>
              <a:t>    </a:t>
            </a:r>
            <a:r>
              <a:rPr lang="en-US" altLang="zh-CN" b="1" dirty="0">
                <a:latin typeface="+mn-ea"/>
              </a:rPr>
              <a:t>OUT[B2]={d3,d4,d5,d6}</a:t>
            </a:r>
            <a:r>
              <a:rPr lang="zh-CN" altLang="en-US" b="1" dirty="0">
                <a:latin typeface="+mn-ea"/>
              </a:rPr>
              <a:t>；</a:t>
            </a:r>
            <a:endParaRPr lang="en-US" altLang="zh-CN" b="1" dirty="0">
              <a:latin typeface="+mn-ea"/>
            </a:endParaRPr>
          </a:p>
          <a:p>
            <a:pPr lvl="1">
              <a:lnSpc>
                <a:spcPct val="120000"/>
              </a:lnSpc>
            </a:pPr>
            <a:r>
              <a:rPr lang="en-US" altLang="zh-CN" b="1" dirty="0">
                <a:latin typeface="+mn-ea"/>
              </a:rPr>
              <a:t>IN[B3]={d3,d4,d5,d6}</a:t>
            </a:r>
            <a:r>
              <a:rPr lang="zh-CN" altLang="en-US" b="1" dirty="0">
                <a:latin typeface="+mn-ea"/>
              </a:rPr>
              <a:t>；</a:t>
            </a:r>
            <a:r>
              <a:rPr lang="en-US" altLang="zh-CN" b="1" dirty="0">
                <a:latin typeface="+mn-ea"/>
              </a:rPr>
              <a:t>OUT[B3]={d4,d5,d6}</a:t>
            </a:r>
            <a:r>
              <a:rPr lang="zh-CN" altLang="en-US" b="1" dirty="0">
                <a:latin typeface="+mn-ea"/>
              </a:rPr>
              <a:t>；</a:t>
            </a:r>
            <a:endParaRPr lang="en-US" altLang="zh-CN" b="1" dirty="0">
              <a:latin typeface="+mn-ea"/>
            </a:endParaRPr>
          </a:p>
          <a:p>
            <a:pPr lvl="1">
              <a:lnSpc>
                <a:spcPct val="120000"/>
              </a:lnSpc>
            </a:pPr>
            <a:r>
              <a:rPr lang="en-US" altLang="zh-CN" b="1" dirty="0">
                <a:latin typeface="+mn-ea"/>
              </a:rPr>
              <a:t>IN[B4]={d3,d4,d5,d6}</a:t>
            </a:r>
            <a:r>
              <a:rPr lang="zh-CN" altLang="en-US" b="1" dirty="0">
                <a:latin typeface="+mn-ea"/>
              </a:rPr>
              <a:t>；</a:t>
            </a:r>
            <a:r>
              <a:rPr lang="en-US" altLang="zh-CN" b="1" dirty="0">
                <a:latin typeface="+mn-ea"/>
              </a:rPr>
              <a:t> OUT[B4]={d3,d5,d6,d7}</a:t>
            </a:r>
            <a:r>
              <a:rPr lang="zh-CN" altLang="en-US" b="1" dirty="0">
                <a:latin typeface="+mn-ea"/>
              </a:rPr>
              <a:t>；</a:t>
            </a:r>
            <a:endParaRPr lang="zh-CN" altLang="en-US" b="1" dirty="0">
              <a:latin typeface="+mn-ea"/>
            </a:endParaRPr>
          </a:p>
        </p:txBody>
      </p:sp>
      <p:sp>
        <p:nvSpPr>
          <p:cNvPr id="3" name="文本占位符 2"/>
          <p:cNvSpPr>
            <a:spLocks noGrp="1"/>
          </p:cNvSpPr>
          <p:nvPr>
            <p:ph type="body" sz="quarter" idx="14"/>
            <p:custDataLst>
              <p:tags r:id="rId1"/>
            </p:custDataLst>
          </p:nvPr>
        </p:nvSpPr>
        <p:spPr>
          <a:xfrm>
            <a:off x="283845" y="276860"/>
            <a:ext cx="8017510" cy="593090"/>
          </a:xfrm>
        </p:spPr>
        <p:txBody>
          <a:bodyPr/>
          <a:lstStyle/>
          <a:p>
            <a:r>
              <a:rPr lang="en-US" altLang="zh-CN" dirty="0"/>
              <a:t>8.2.4.3 </a:t>
            </a:r>
            <a:r>
              <a:rPr dirty="0"/>
              <a:t>循环优化</a:t>
            </a:r>
            <a:r>
              <a:rPr lang="en-US" altLang="zh-CN" dirty="0"/>
              <a:t>—</a:t>
            </a:r>
            <a:r>
              <a:rPr lang="zh-CN" altLang="en-US" dirty="0"/>
              <a:t>数据流分析 </a:t>
            </a:r>
            <a:r>
              <a:rPr lang="en-US" altLang="zh-CN" dirty="0"/>
              <a:t>(</a:t>
            </a:r>
            <a:r>
              <a:rPr lang="zh-CN" altLang="en-US" dirty="0"/>
              <a:t>续</a:t>
            </a:r>
            <a:r>
              <a:rPr lang="en-US" altLang="zh-CN" dirty="0"/>
              <a:t>)</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14020" y="276860"/>
            <a:ext cx="7887335" cy="593090"/>
          </a:xfrm>
        </p:spPr>
        <p:txBody>
          <a:bodyPr/>
          <a:lstStyle/>
          <a:p>
            <a:r>
              <a:rPr lang="en-US" altLang="zh-CN" dirty="0"/>
              <a:t>8.2.4.4 </a:t>
            </a:r>
            <a:r>
              <a:rPr dirty="0"/>
              <a:t>循环</a:t>
            </a:r>
            <a:r>
              <a:rPr lang="zh-CN" altLang="en-US" dirty="0"/>
              <a:t>优化实现</a:t>
            </a:r>
            <a:endParaRPr lang="zh-CN" altLang="en-US" dirty="0"/>
          </a:p>
        </p:txBody>
      </p:sp>
      <p:sp>
        <p:nvSpPr>
          <p:cNvPr id="4" name="Rectangle 3"/>
          <p:cNvSpPr txBox="1"/>
          <p:nvPr/>
        </p:nvSpPr>
        <p:spPr>
          <a:xfrm>
            <a:off x="292100" y="1216025"/>
            <a:ext cx="3317240" cy="482282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sym typeface="+mn-ea"/>
              </a:rPr>
              <a:t>循环不变表达式优化</a:t>
            </a:r>
            <a:endParaRPr lang="zh-CN" altLang="en-US" sz="2400" b="1" dirty="0"/>
          </a:p>
          <a:p>
            <a:pPr lvl="1">
              <a:lnSpc>
                <a:spcPct val="120000"/>
              </a:lnSpc>
            </a:pPr>
            <a:r>
              <a:rPr lang="zh-CN" altLang="en-US" sz="1800" b="1" dirty="0">
                <a:sym typeface="+mn-ea"/>
              </a:rPr>
              <a:t>如何识别循环？（求解回边的自然循环）</a:t>
            </a:r>
            <a:endParaRPr lang="zh-CN" altLang="en-US" sz="1800" b="1" dirty="0"/>
          </a:p>
          <a:p>
            <a:pPr lvl="1">
              <a:lnSpc>
                <a:spcPct val="120000"/>
              </a:lnSpc>
            </a:pPr>
            <a:r>
              <a:rPr lang="zh-CN" altLang="en-US" sz="1800" b="1" dirty="0">
                <a:sym typeface="+mn-ea"/>
              </a:rPr>
              <a:t>如何识别循环中的不变表达式？（根据已求解的变量的</a:t>
            </a:r>
            <a:r>
              <a:rPr lang="en-US" altLang="zh-CN" sz="1800" b="1" dirty="0" err="1">
                <a:sym typeface="+mn-ea"/>
              </a:rPr>
              <a:t>ud</a:t>
            </a:r>
            <a:r>
              <a:rPr lang="zh-CN" altLang="en-US" sz="1800" b="1" dirty="0">
                <a:sym typeface="+mn-ea"/>
              </a:rPr>
              <a:t>链识别）</a:t>
            </a:r>
            <a:endParaRPr lang="zh-CN" altLang="en-US" sz="1800" b="1" dirty="0"/>
          </a:p>
          <a:p>
            <a:pPr lvl="1">
              <a:lnSpc>
                <a:spcPct val="120000"/>
              </a:lnSpc>
            </a:pPr>
            <a:r>
              <a:rPr lang="zh-CN" altLang="en-US" sz="1800" b="1" dirty="0">
                <a:sym typeface="+mn-ea"/>
              </a:rPr>
              <a:t>把循环表达式外提到什么地方？</a:t>
            </a:r>
            <a:endParaRPr lang="zh-CN" altLang="en-US" sz="1800" b="1" dirty="0"/>
          </a:p>
          <a:p>
            <a:pPr lvl="1">
              <a:lnSpc>
                <a:spcPct val="120000"/>
              </a:lnSpc>
            </a:pPr>
            <a:r>
              <a:rPr lang="zh-CN" altLang="en-US" sz="1800" b="1" dirty="0">
                <a:sym typeface="+mn-ea"/>
              </a:rPr>
              <a:t>什么条件下，不变表达式可以外提？</a:t>
            </a:r>
            <a:endParaRPr lang="zh-CN" altLang="en-US" sz="1800" b="1" dirty="0">
              <a:sym typeface="+mn-ea"/>
            </a:endParaRPr>
          </a:p>
        </p:txBody>
      </p:sp>
      <p:sp>
        <p:nvSpPr>
          <p:cNvPr id="2" name="Rectangle 3"/>
          <p:cNvSpPr txBox="1"/>
          <p:nvPr>
            <p:custDataLst>
              <p:tags r:id="rId1"/>
            </p:custDataLst>
          </p:nvPr>
        </p:nvSpPr>
        <p:spPr>
          <a:xfrm>
            <a:off x="3546475" y="1183005"/>
            <a:ext cx="4203700" cy="4648200"/>
          </a:xfrm>
          <a:prstGeom prst="rect">
            <a:avLst/>
          </a:prstGeom>
        </p:spPr>
        <p:txBody>
          <a:bodyPr vert="horz" wrap="square" lIns="91440" tIns="45720" rIns="91440" bIns="45720" anchor="t" anchorCtr="0"/>
          <a:p>
            <a:pPr>
              <a:lnSpc>
                <a:spcPct val="125000"/>
              </a:lnSpc>
              <a:spcBef>
                <a:spcPct val="0"/>
              </a:spcBef>
              <a:spcAft>
                <a:spcPts val="0"/>
              </a:spcAft>
              <a:buFont typeface="Wingdings" panose="05000000000000000000" charset="0"/>
              <a:buChar char="p"/>
            </a:pPr>
            <a:r>
              <a:rPr lang="zh-CN" altLang="en-US" sz="2400" b="1" dirty="0">
                <a:latin typeface="+mn-ea"/>
              </a:rPr>
              <a:t>寻找循环不变表达式算法</a:t>
            </a:r>
            <a:endParaRPr lang="zh-CN" altLang="en-US" sz="2400" b="1" dirty="0">
              <a:latin typeface="+mn-ea"/>
            </a:endParaRPr>
          </a:p>
          <a:p>
            <a:pPr lvl="1">
              <a:lnSpc>
                <a:spcPct val="125000"/>
              </a:lnSpc>
              <a:spcBef>
                <a:spcPct val="0"/>
              </a:spcBef>
              <a:spcAft>
                <a:spcPts val="0"/>
              </a:spcAft>
              <a:buFont typeface="Wingdings" panose="05000000000000000000" charset="0"/>
              <a:buChar char="p"/>
            </a:pPr>
            <a:r>
              <a:rPr lang="zh-CN" altLang="en-US" sz="1800" b="1" dirty="0">
                <a:latin typeface="+mn-ea"/>
              </a:rPr>
              <a:t>输入：循环</a:t>
            </a:r>
            <a:r>
              <a:rPr lang="en-US" altLang="zh-CN" sz="1800" b="1" dirty="0">
                <a:latin typeface="+mn-ea"/>
              </a:rPr>
              <a:t>L</a:t>
            </a:r>
            <a:r>
              <a:rPr lang="zh-CN" altLang="en-US" sz="1800" b="1" dirty="0">
                <a:latin typeface="+mn-ea"/>
              </a:rPr>
              <a:t>，</a:t>
            </a:r>
            <a:r>
              <a:rPr lang="en-US" altLang="zh-CN" sz="1800" b="1" dirty="0">
                <a:latin typeface="+mn-ea"/>
              </a:rPr>
              <a:t>UD</a:t>
            </a:r>
            <a:r>
              <a:rPr lang="zh-CN" altLang="en-US" sz="1800" b="1" dirty="0">
                <a:latin typeface="+mn-ea"/>
              </a:rPr>
              <a:t>链；输出：不变四元式</a:t>
            </a:r>
            <a:endParaRPr lang="zh-CN" altLang="en-US" sz="1800" b="1" dirty="0">
              <a:latin typeface="+mn-ea"/>
            </a:endParaRPr>
          </a:p>
          <a:p>
            <a:pPr lvl="1">
              <a:lnSpc>
                <a:spcPct val="125000"/>
              </a:lnSpc>
              <a:spcBef>
                <a:spcPct val="0"/>
              </a:spcBef>
              <a:spcAft>
                <a:spcPts val="0"/>
              </a:spcAft>
              <a:buFont typeface="Wingdings" panose="05000000000000000000" charset="0"/>
              <a:buChar char="p"/>
            </a:pPr>
            <a:r>
              <a:rPr lang="zh-CN" altLang="en-US" sz="1800" b="1" dirty="0">
                <a:latin typeface="+mn-ea"/>
              </a:rPr>
              <a:t>步骤</a:t>
            </a:r>
            <a:r>
              <a:rPr lang="en-US" altLang="zh-CN" sz="1800" b="1" dirty="0">
                <a:latin typeface="+mn-ea"/>
              </a:rPr>
              <a:t>1</a:t>
            </a:r>
            <a:r>
              <a:rPr lang="zh-CN" altLang="en-US" sz="1800" b="1" dirty="0">
                <a:latin typeface="+mn-ea"/>
              </a:rPr>
              <a:t>：如果四元式运算分量或者是常数，或者其所有定值点在循环外部，则将该四元式加上标记。</a:t>
            </a:r>
            <a:endParaRPr lang="zh-CN" altLang="en-US" sz="1800" b="1" dirty="0">
              <a:latin typeface="+mn-ea"/>
            </a:endParaRPr>
          </a:p>
          <a:p>
            <a:pPr lvl="1">
              <a:lnSpc>
                <a:spcPct val="125000"/>
              </a:lnSpc>
              <a:spcBef>
                <a:spcPct val="0"/>
              </a:spcBef>
              <a:spcAft>
                <a:spcPts val="0"/>
              </a:spcAft>
              <a:buFont typeface="Wingdings" panose="05000000000000000000" charset="0"/>
              <a:buChar char="p"/>
            </a:pPr>
            <a:r>
              <a:rPr lang="zh-CN" altLang="en-US" sz="1800" b="1" dirty="0">
                <a:latin typeface="+mn-ea"/>
              </a:rPr>
              <a:t>重复执行</a:t>
            </a:r>
            <a:r>
              <a:rPr lang="zh-CN" altLang="en-US" b="1" dirty="0">
                <a:latin typeface="+mn-ea"/>
                <a:sym typeface="+mn-ea"/>
              </a:rPr>
              <a:t>步骤</a:t>
            </a:r>
            <a:r>
              <a:rPr lang="en-US" altLang="zh-CN" b="1" dirty="0">
                <a:latin typeface="+mn-ea"/>
                <a:sym typeface="+mn-ea"/>
              </a:rPr>
              <a:t>2</a:t>
            </a:r>
            <a:r>
              <a:rPr lang="zh-CN" altLang="en-US" sz="1800" b="1" dirty="0">
                <a:latin typeface="+mn-ea"/>
              </a:rPr>
              <a:t>：如果一个四元式没有被加过标记，且运算分量要么是常数，要么其</a:t>
            </a:r>
            <a:r>
              <a:rPr lang="en-US" altLang="zh-CN" sz="1800" b="1" dirty="0">
                <a:latin typeface="+mn-ea"/>
              </a:rPr>
              <a:t>UD</a:t>
            </a:r>
            <a:r>
              <a:rPr lang="zh-CN" altLang="en-US" sz="1800" b="1" dirty="0">
                <a:latin typeface="+mn-ea"/>
              </a:rPr>
              <a:t>链中的定值点在循环外，或者其定值点已经被加过标记，则将该四元式加上标记。</a:t>
            </a:r>
            <a:endParaRPr lang="zh-CN" altLang="en-US" sz="1800" b="1" dirty="0">
              <a:latin typeface="+mn-ea"/>
            </a:endParaRPr>
          </a:p>
          <a:p>
            <a:pPr lvl="1">
              <a:lnSpc>
                <a:spcPct val="125000"/>
              </a:lnSpc>
              <a:spcBef>
                <a:spcPct val="0"/>
              </a:spcBef>
              <a:spcAft>
                <a:spcPts val="0"/>
              </a:spcAft>
              <a:buFont typeface="Wingdings" panose="05000000000000000000" charset="0"/>
              <a:buChar char="p"/>
            </a:pPr>
            <a:r>
              <a:rPr lang="zh-CN" altLang="en-US" sz="1800" b="1" dirty="0">
                <a:latin typeface="+mn-ea"/>
              </a:rPr>
              <a:t>输出所有被加过标记的四元式</a:t>
            </a:r>
            <a:endParaRPr lang="zh-CN" altLang="en-US" sz="1800" b="1" dirty="0">
              <a:latin typeface="+mn-ea"/>
            </a:endParaRPr>
          </a:p>
        </p:txBody>
      </p:sp>
      <p:grpSp>
        <p:nvGrpSpPr>
          <p:cNvPr id="7" name="Group 11"/>
          <p:cNvGrpSpPr/>
          <p:nvPr/>
        </p:nvGrpSpPr>
        <p:grpSpPr>
          <a:xfrm>
            <a:off x="8380096" y="1230443"/>
            <a:ext cx="3352800" cy="2549525"/>
            <a:chOff x="3024" y="1056"/>
            <a:chExt cx="2112" cy="1606"/>
          </a:xfrm>
        </p:grpSpPr>
        <p:sp>
          <p:nvSpPr>
            <p:cNvPr id="10" name="Text Box 4"/>
            <p:cNvSpPr txBox="1"/>
            <p:nvPr>
              <p:custDataLst>
                <p:tags r:id="rId2"/>
              </p:custDataLst>
            </p:nvPr>
          </p:nvSpPr>
          <p:spPr>
            <a:xfrm>
              <a:off x="3312" y="1584"/>
              <a:ext cx="1632" cy="214"/>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lnSpc>
                  <a:spcPct val="90000"/>
                </a:lnSpc>
                <a:spcBef>
                  <a:spcPct val="50000"/>
                </a:spcBef>
                <a:buNone/>
              </a:pPr>
              <a:r>
                <a:rPr lang="zh-CN" altLang="en-US" sz="1800" b="1" dirty="0">
                  <a:latin typeface="Verdana" panose="020B0604030504040204" pitchFamily="34" charset="0"/>
                </a:rPr>
                <a:t>首节点</a:t>
              </a:r>
              <a:endParaRPr lang="zh-CN" altLang="en-US" sz="1800" b="1" dirty="0">
                <a:latin typeface="Verdana" panose="020B0604030504040204" pitchFamily="34" charset="0"/>
              </a:endParaRPr>
            </a:p>
          </p:txBody>
        </p:sp>
        <p:sp>
          <p:nvSpPr>
            <p:cNvPr id="11" name="Line 5"/>
            <p:cNvSpPr/>
            <p:nvPr>
              <p:custDataLst>
                <p:tags r:id="rId3"/>
              </p:custDataLst>
            </p:nvPr>
          </p:nvSpPr>
          <p:spPr>
            <a:xfrm>
              <a:off x="3744" y="1104"/>
              <a:ext cx="0" cy="480"/>
            </a:xfrm>
            <a:prstGeom prst="line">
              <a:avLst/>
            </a:prstGeom>
            <a:ln w="9525" cap="flat" cmpd="sng">
              <a:solidFill>
                <a:schemeClr val="tx1"/>
              </a:solidFill>
              <a:prstDash val="solid"/>
              <a:headEnd type="none" w="med" len="med"/>
              <a:tailEnd type="triangle" w="med" len="med"/>
            </a:ln>
          </p:spPr>
        </p:sp>
        <p:sp>
          <p:nvSpPr>
            <p:cNvPr id="13" name="Line 6"/>
            <p:cNvSpPr/>
            <p:nvPr>
              <p:custDataLst>
                <p:tags r:id="rId4"/>
              </p:custDataLst>
            </p:nvPr>
          </p:nvSpPr>
          <p:spPr>
            <a:xfrm>
              <a:off x="4320" y="1056"/>
              <a:ext cx="0" cy="528"/>
            </a:xfrm>
            <a:prstGeom prst="line">
              <a:avLst/>
            </a:prstGeom>
            <a:ln w="9525" cap="flat" cmpd="sng">
              <a:solidFill>
                <a:schemeClr val="tx1"/>
              </a:solidFill>
              <a:prstDash val="solid"/>
              <a:headEnd type="none" w="med" len="med"/>
              <a:tailEnd type="triangle" w="med" len="med"/>
            </a:ln>
          </p:spPr>
        </p:sp>
        <p:sp>
          <p:nvSpPr>
            <p:cNvPr id="14" name="Text Box 7"/>
            <p:cNvSpPr txBox="1"/>
            <p:nvPr>
              <p:custDataLst>
                <p:tags r:id="rId5"/>
              </p:custDataLst>
            </p:nvPr>
          </p:nvSpPr>
          <p:spPr>
            <a:xfrm>
              <a:off x="3264" y="2448"/>
              <a:ext cx="1776" cy="214"/>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Font typeface="Wingdings" panose="05000000000000000000" pitchFamily="2" charset="2"/>
                <a:buChar char="•"/>
              </a:pPr>
              <a:endParaRPr lang="en-US" altLang="zh-CN" sz="1800" b="1" dirty="0">
                <a:latin typeface="Verdana" panose="020B0604030504040204" pitchFamily="34" charset="0"/>
              </a:endParaRPr>
            </a:p>
          </p:txBody>
        </p:sp>
        <p:sp>
          <p:nvSpPr>
            <p:cNvPr id="15" name="Rectangle 8"/>
            <p:cNvSpPr/>
            <p:nvPr>
              <p:custDataLst>
                <p:tags r:id="rId6"/>
              </p:custDataLst>
            </p:nvPr>
          </p:nvSpPr>
          <p:spPr>
            <a:xfrm>
              <a:off x="3264" y="2112"/>
              <a:ext cx="1728" cy="33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 typeface="Wingdings" panose="05000000000000000000" pitchFamily="2" charset="2"/>
                <a:buChar char="•"/>
              </a:pPr>
              <a:endParaRPr lang="zh-CN" altLang="en-US" sz="1800" b="1" dirty="0">
                <a:latin typeface="Verdana" panose="020B0604030504040204" pitchFamily="34" charset="0"/>
              </a:endParaRPr>
            </a:p>
          </p:txBody>
        </p:sp>
        <p:sp>
          <p:nvSpPr>
            <p:cNvPr id="16" name="Freeform 9"/>
            <p:cNvSpPr/>
            <p:nvPr>
              <p:custDataLst>
                <p:tags r:id="rId7"/>
              </p:custDataLst>
            </p:nvPr>
          </p:nvSpPr>
          <p:spPr>
            <a:xfrm>
              <a:off x="3024" y="1440"/>
              <a:ext cx="432" cy="864"/>
            </a:xfrm>
            <a:custGeom>
              <a:avLst/>
              <a:gdLst>
                <a:gd name="txL" fmla="*/ 0 w 432"/>
                <a:gd name="txT" fmla="*/ 0 h 1200"/>
                <a:gd name="txR" fmla="*/ 432 w 432"/>
                <a:gd name="txB" fmla="*/ 1200 h 1200"/>
              </a:gdLst>
              <a:ahLst/>
              <a:cxnLst>
                <a:cxn ang="0">
                  <a:pos x="240" y="9"/>
                </a:cxn>
                <a:cxn ang="0">
                  <a:pos x="0" y="9"/>
                </a:cxn>
                <a:cxn ang="0">
                  <a:pos x="0" y="0"/>
                </a:cxn>
                <a:cxn ang="0">
                  <a:pos x="432" y="0"/>
                </a:cxn>
                <a:cxn ang="0">
                  <a:pos x="432" y="1"/>
                </a:cxn>
              </a:cxnLst>
              <a:rect l="txL" t="txT" r="txR" b="txB"/>
              <a:pathLst>
                <a:path w="432" h="1200">
                  <a:moveTo>
                    <a:pt x="240" y="1200"/>
                  </a:moveTo>
                  <a:lnTo>
                    <a:pt x="0" y="1200"/>
                  </a:lnTo>
                  <a:lnTo>
                    <a:pt x="0" y="0"/>
                  </a:lnTo>
                  <a:lnTo>
                    <a:pt x="432" y="0"/>
                  </a:lnTo>
                  <a:lnTo>
                    <a:pt x="432" y="144"/>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17" name="Freeform 10"/>
            <p:cNvSpPr/>
            <p:nvPr>
              <p:custDataLst>
                <p:tags r:id="rId8"/>
              </p:custDataLst>
            </p:nvPr>
          </p:nvSpPr>
          <p:spPr>
            <a:xfrm>
              <a:off x="4704" y="1488"/>
              <a:ext cx="432" cy="816"/>
            </a:xfrm>
            <a:custGeom>
              <a:avLst/>
              <a:gdLst>
                <a:gd name="txL" fmla="*/ 0 w 432"/>
                <a:gd name="txT" fmla="*/ 0 h 1104"/>
                <a:gd name="txR" fmla="*/ 432 w 432"/>
                <a:gd name="txB" fmla="*/ 1104 h 1104"/>
              </a:gdLst>
              <a:ahLst/>
              <a:cxnLst>
                <a:cxn ang="0">
                  <a:pos x="288" y="12"/>
                </a:cxn>
                <a:cxn ang="0">
                  <a:pos x="432" y="12"/>
                </a:cxn>
                <a:cxn ang="0">
                  <a:pos x="432" y="0"/>
                </a:cxn>
                <a:cxn ang="0">
                  <a:pos x="0" y="0"/>
                </a:cxn>
                <a:cxn ang="0">
                  <a:pos x="0" y="1"/>
                </a:cxn>
              </a:cxnLst>
              <a:rect l="txL" t="txT" r="txR" b="txB"/>
              <a:pathLst>
                <a:path w="432" h="1104">
                  <a:moveTo>
                    <a:pt x="288" y="1104"/>
                  </a:moveTo>
                  <a:lnTo>
                    <a:pt x="432" y="1104"/>
                  </a:lnTo>
                  <a:lnTo>
                    <a:pt x="432" y="0"/>
                  </a:lnTo>
                  <a:lnTo>
                    <a:pt x="0" y="0"/>
                  </a:lnTo>
                  <a:lnTo>
                    <a:pt x="0"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grpSp>
      <p:sp>
        <p:nvSpPr>
          <p:cNvPr id="18" name="Text Box 13"/>
          <p:cNvSpPr txBox="1"/>
          <p:nvPr/>
        </p:nvSpPr>
        <p:spPr>
          <a:xfrm>
            <a:off x="8600759" y="4784856"/>
            <a:ext cx="25908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lnSpc>
                <a:spcPct val="90000"/>
              </a:lnSpc>
              <a:spcBef>
                <a:spcPct val="50000"/>
              </a:spcBef>
              <a:buNone/>
            </a:pPr>
            <a:r>
              <a:rPr lang="zh-CN" altLang="en-US" sz="1800" b="1" dirty="0">
                <a:latin typeface="Verdana" panose="020B0604030504040204" pitchFamily="34" charset="0"/>
              </a:rPr>
              <a:t>首节点</a:t>
            </a:r>
            <a:endParaRPr lang="zh-CN" altLang="en-US" sz="1800" b="1" dirty="0">
              <a:latin typeface="Verdana" panose="020B0604030504040204" pitchFamily="34" charset="0"/>
            </a:endParaRPr>
          </a:p>
        </p:txBody>
      </p:sp>
      <p:sp>
        <p:nvSpPr>
          <p:cNvPr id="19" name="Line 14"/>
          <p:cNvSpPr/>
          <p:nvPr/>
        </p:nvSpPr>
        <p:spPr>
          <a:xfrm>
            <a:off x="9644380" y="3489960"/>
            <a:ext cx="8255" cy="429260"/>
          </a:xfrm>
          <a:prstGeom prst="line">
            <a:avLst/>
          </a:prstGeom>
          <a:ln w="9525" cap="flat" cmpd="sng">
            <a:solidFill>
              <a:schemeClr val="tx1"/>
            </a:solidFill>
            <a:prstDash val="solid"/>
            <a:headEnd type="none" w="med" len="med"/>
            <a:tailEnd type="triangle" w="med" len="med"/>
          </a:ln>
        </p:spPr>
      </p:sp>
      <p:sp>
        <p:nvSpPr>
          <p:cNvPr id="20" name="Line 15"/>
          <p:cNvSpPr/>
          <p:nvPr/>
        </p:nvSpPr>
        <p:spPr>
          <a:xfrm>
            <a:off x="10437179" y="3475486"/>
            <a:ext cx="0" cy="457200"/>
          </a:xfrm>
          <a:prstGeom prst="line">
            <a:avLst/>
          </a:prstGeom>
          <a:ln w="9525" cap="flat" cmpd="sng">
            <a:solidFill>
              <a:schemeClr val="tx1"/>
            </a:solidFill>
            <a:prstDash val="solid"/>
            <a:headEnd type="none" w="med" len="med"/>
            <a:tailEnd type="triangle" w="med" len="med"/>
          </a:ln>
        </p:spPr>
      </p:sp>
      <p:sp>
        <p:nvSpPr>
          <p:cNvPr id="21" name="Rectangle 17"/>
          <p:cNvSpPr/>
          <p:nvPr/>
        </p:nvSpPr>
        <p:spPr>
          <a:xfrm>
            <a:off x="8524559" y="5623056"/>
            <a:ext cx="27432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Font typeface="Wingdings" panose="05000000000000000000" pitchFamily="2" charset="2"/>
              <a:buChar char="•"/>
            </a:pPr>
            <a:endParaRPr lang="zh-CN" altLang="en-US" sz="1800" b="1" dirty="0">
              <a:latin typeface="Verdana" panose="020B0604030504040204" pitchFamily="34" charset="0"/>
            </a:endParaRPr>
          </a:p>
        </p:txBody>
      </p:sp>
      <p:sp>
        <p:nvSpPr>
          <p:cNvPr id="22" name="Freeform 18"/>
          <p:cNvSpPr/>
          <p:nvPr/>
        </p:nvSpPr>
        <p:spPr>
          <a:xfrm>
            <a:off x="8143559" y="4556256"/>
            <a:ext cx="685800" cy="1371600"/>
          </a:xfrm>
          <a:custGeom>
            <a:avLst/>
            <a:gdLst>
              <a:gd name="txL" fmla="*/ 0 w 432"/>
              <a:gd name="txT" fmla="*/ 0 h 1200"/>
              <a:gd name="txR" fmla="*/ 432 w 432"/>
              <a:gd name="txB" fmla="*/ 1200 h 1200"/>
            </a:gdLst>
            <a:ahLst/>
            <a:cxnLst>
              <a:cxn ang="0">
                <a:pos x="2147483646" y="2147483646"/>
              </a:cxn>
              <a:cxn ang="0">
                <a:pos x="0" y="2147483646"/>
              </a:cxn>
              <a:cxn ang="0">
                <a:pos x="0" y="0"/>
              </a:cxn>
              <a:cxn ang="0">
                <a:pos x="2147483646" y="0"/>
              </a:cxn>
              <a:cxn ang="0">
                <a:pos x="2147483646" y="2147483646"/>
              </a:cxn>
            </a:cxnLst>
            <a:rect l="txL" t="txT" r="txR" b="txB"/>
            <a:pathLst>
              <a:path w="432" h="1200">
                <a:moveTo>
                  <a:pt x="240" y="1200"/>
                </a:moveTo>
                <a:lnTo>
                  <a:pt x="0" y="1200"/>
                </a:lnTo>
                <a:lnTo>
                  <a:pt x="0" y="0"/>
                </a:lnTo>
                <a:lnTo>
                  <a:pt x="432" y="0"/>
                </a:lnTo>
                <a:lnTo>
                  <a:pt x="432" y="144"/>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23" name="Freeform 19"/>
          <p:cNvSpPr/>
          <p:nvPr/>
        </p:nvSpPr>
        <p:spPr>
          <a:xfrm>
            <a:off x="10810559" y="4632456"/>
            <a:ext cx="685800" cy="1295400"/>
          </a:xfrm>
          <a:custGeom>
            <a:avLst/>
            <a:gdLst>
              <a:gd name="txL" fmla="*/ 0 w 432"/>
              <a:gd name="txT" fmla="*/ 0 h 1104"/>
              <a:gd name="txR" fmla="*/ 432 w 432"/>
              <a:gd name="txB" fmla="*/ 1104 h 1104"/>
            </a:gdLst>
            <a:ahLst/>
            <a:cxnLst>
              <a:cxn ang="0">
                <a:pos x="2147483646" y="2147483646"/>
              </a:cxn>
              <a:cxn ang="0">
                <a:pos x="2147483646" y="2147483646"/>
              </a:cxn>
              <a:cxn ang="0">
                <a:pos x="2147483646" y="0"/>
              </a:cxn>
              <a:cxn ang="0">
                <a:pos x="0" y="0"/>
              </a:cxn>
              <a:cxn ang="0">
                <a:pos x="0" y="2147483646"/>
              </a:cxn>
            </a:cxnLst>
            <a:rect l="txL" t="txT" r="txR" b="txB"/>
            <a:pathLst>
              <a:path w="432" h="1104">
                <a:moveTo>
                  <a:pt x="288" y="1104"/>
                </a:moveTo>
                <a:lnTo>
                  <a:pt x="432" y="1104"/>
                </a:lnTo>
                <a:lnTo>
                  <a:pt x="432" y="0"/>
                </a:lnTo>
                <a:lnTo>
                  <a:pt x="0" y="0"/>
                </a:lnTo>
                <a:lnTo>
                  <a:pt x="0"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24" name="Text Box 20"/>
          <p:cNvSpPr txBox="1"/>
          <p:nvPr/>
        </p:nvSpPr>
        <p:spPr>
          <a:xfrm>
            <a:off x="8054975" y="3967480"/>
            <a:ext cx="3746500" cy="3397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algn="ctr" eaLnBrk="1" hangingPunct="1">
              <a:lnSpc>
                <a:spcPct val="90000"/>
              </a:lnSpc>
              <a:spcBef>
                <a:spcPct val="50000"/>
              </a:spcBef>
              <a:buNone/>
            </a:pPr>
            <a:r>
              <a:rPr lang="zh-CN" altLang="en-US" sz="1800" b="1" dirty="0">
                <a:latin typeface="Verdana" panose="020B0604030504040204" pitchFamily="34" charset="0"/>
              </a:rPr>
              <a:t>前置节点（不变四元式外提到这</a:t>
            </a:r>
            <a:r>
              <a:rPr lang="zh-CN" altLang="en-US" sz="1800" b="1" dirty="0">
                <a:latin typeface="Verdana" panose="020B0604030504040204" pitchFamily="34" charset="0"/>
              </a:rPr>
              <a:t>儿）</a:t>
            </a:r>
            <a:endParaRPr lang="zh-CN" altLang="en-US" sz="1800" b="1" dirty="0">
              <a:latin typeface="Verdana" panose="020B0604030504040204" pitchFamily="34" charset="0"/>
            </a:endParaRPr>
          </a:p>
        </p:txBody>
      </p:sp>
      <p:sp>
        <p:nvSpPr>
          <p:cNvPr id="25" name="Line 21"/>
          <p:cNvSpPr/>
          <p:nvPr/>
        </p:nvSpPr>
        <p:spPr>
          <a:xfrm>
            <a:off x="9362759" y="4403856"/>
            <a:ext cx="0" cy="381000"/>
          </a:xfrm>
          <a:prstGeom prst="line">
            <a:avLst/>
          </a:prstGeom>
          <a:ln w="9525" cap="flat" cmpd="sng">
            <a:solidFill>
              <a:schemeClr val="tx1"/>
            </a:solidFill>
            <a:prstDash val="solid"/>
            <a:headEnd type="none" w="med" len="med"/>
            <a:tailEnd type="triangle" w="med" len="med"/>
          </a:ln>
        </p:spPr>
      </p:sp>
      <p:sp>
        <p:nvSpPr>
          <p:cNvPr id="26" name="Line 22"/>
          <p:cNvSpPr/>
          <p:nvPr/>
        </p:nvSpPr>
        <p:spPr>
          <a:xfrm>
            <a:off x="10277159" y="4403856"/>
            <a:ext cx="0" cy="381000"/>
          </a:xfrm>
          <a:prstGeom prst="line">
            <a:avLst/>
          </a:prstGeom>
          <a:ln w="9525" cap="flat" cmpd="sng">
            <a:solidFill>
              <a:schemeClr val="tx1"/>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arn(in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arn(inHorizont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3" grpId="0" animBg="1"/>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
          <p:cNvSpPr txBox="1"/>
          <p:nvPr/>
        </p:nvSpPr>
        <p:spPr>
          <a:xfrm>
            <a:off x="325755" y="1209040"/>
            <a:ext cx="3738880" cy="513778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latin typeface="+mn-ea"/>
              </a:rPr>
              <a:t>不变四元式Ｑ：</a:t>
            </a:r>
            <a:r>
              <a:rPr lang="en-US" altLang="zh-CN" sz="2400" b="1" dirty="0">
                <a:latin typeface="+mn-ea"/>
              </a:rPr>
              <a:t>op   x   y   z</a:t>
            </a:r>
            <a:r>
              <a:rPr lang="zh-CN" altLang="en-US" sz="2400" b="1" dirty="0">
                <a:latin typeface="+mn-ea"/>
              </a:rPr>
              <a:t>可以外提的条件：</a:t>
            </a:r>
            <a:endParaRPr lang="zh-CN" altLang="en-US" sz="2400" b="1" dirty="0">
              <a:latin typeface="+mn-ea"/>
            </a:endParaRPr>
          </a:p>
          <a:p>
            <a:pPr marL="914400" lvl="1" indent="-457200">
              <a:lnSpc>
                <a:spcPct val="120000"/>
              </a:lnSpc>
              <a:buFont typeface="+mj-ea"/>
              <a:buAutoNum type="circleNumDbPlain"/>
            </a:pPr>
            <a:r>
              <a:rPr lang="en-US" altLang="zh-CN" b="1" dirty="0">
                <a:latin typeface="+mn-ea"/>
              </a:rPr>
              <a:t>Q</a:t>
            </a:r>
            <a:r>
              <a:rPr lang="zh-CN" altLang="en-US" b="1" dirty="0">
                <a:latin typeface="+mn-ea"/>
              </a:rPr>
              <a:t>所在基本块节点是循环所有出口节点的必经节点（循环出口节点是指其有后继节点在循环外的节点）</a:t>
            </a:r>
            <a:r>
              <a:rPr lang="zh-CN" altLang="en-US" b="1" dirty="0">
                <a:latin typeface="+mn-ea"/>
                <a:sym typeface="+mn-ea"/>
              </a:rPr>
              <a:t>（</a:t>
            </a:r>
            <a:r>
              <a:rPr lang="zh-CN" altLang="en-US" b="1" dirty="0">
                <a:solidFill>
                  <a:srgbClr val="FF0000"/>
                </a:solidFill>
                <a:latin typeface="+mn-ea"/>
                <a:sym typeface="+mn-ea"/>
              </a:rPr>
              <a:t>反例：情况1</a:t>
            </a:r>
            <a:r>
              <a:rPr lang="zh-CN" altLang="en-US" b="1" dirty="0">
                <a:latin typeface="+mn-ea"/>
                <a:sym typeface="+mn-ea"/>
              </a:rPr>
              <a:t>）</a:t>
            </a:r>
            <a:r>
              <a:rPr lang="zh-CN" altLang="en-US" b="1" dirty="0">
                <a:latin typeface="+mn-ea"/>
              </a:rPr>
              <a:t>。</a:t>
            </a:r>
            <a:endParaRPr lang="zh-CN" altLang="en-US" b="1" dirty="0">
              <a:latin typeface="+mn-ea"/>
            </a:endParaRPr>
          </a:p>
        </p:txBody>
      </p:sp>
      <p:sp>
        <p:nvSpPr>
          <p:cNvPr id="3" name="文本占位符 2"/>
          <p:cNvSpPr>
            <a:spLocks noGrp="1"/>
          </p:cNvSpPr>
          <p:nvPr>
            <p:ph type="body" sz="quarter" idx="14"/>
            <p:custDataLst>
              <p:tags r:id="rId1"/>
            </p:custDataLst>
          </p:nvPr>
        </p:nvSpPr>
        <p:spPr>
          <a:xfrm>
            <a:off x="421005" y="276860"/>
            <a:ext cx="7880350" cy="593090"/>
          </a:xfrm>
        </p:spPr>
        <p:txBody>
          <a:bodyPr/>
          <a:lstStyle/>
          <a:p>
            <a:r>
              <a:rPr lang="en-US" altLang="zh-CN" dirty="0"/>
              <a:t>8.2.4.4 </a:t>
            </a:r>
            <a:r>
              <a:rPr dirty="0"/>
              <a:t>循环</a:t>
            </a:r>
            <a:r>
              <a:rPr lang="zh-CN" altLang="en-US" dirty="0"/>
              <a:t>优化实现</a:t>
            </a:r>
            <a:r>
              <a:rPr lang="en-US" altLang="zh-CN" dirty="0"/>
              <a:t>(</a:t>
            </a:r>
            <a:r>
              <a:rPr dirty="0"/>
              <a:t>续</a:t>
            </a:r>
            <a:r>
              <a:rPr lang="en-US" altLang="zh-CN" dirty="0"/>
              <a:t>)</a:t>
            </a:r>
            <a:endParaRPr lang="en-US" altLang="zh-CN" dirty="0"/>
          </a:p>
        </p:txBody>
      </p:sp>
      <p:sp>
        <p:nvSpPr>
          <p:cNvPr id="6" name="Text Box 4"/>
          <p:cNvSpPr txBox="1"/>
          <p:nvPr>
            <p:custDataLst>
              <p:tags r:id="rId2"/>
            </p:custDataLst>
          </p:nvPr>
        </p:nvSpPr>
        <p:spPr>
          <a:xfrm>
            <a:off x="6189980" y="1561465"/>
            <a:ext cx="2286000" cy="456565"/>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p:txBody>
      </p:sp>
      <p:sp>
        <p:nvSpPr>
          <p:cNvPr id="7" name="Text Box 5"/>
          <p:cNvSpPr txBox="1"/>
          <p:nvPr>
            <p:custDataLst>
              <p:tags r:id="rId3"/>
            </p:custDataLst>
          </p:nvPr>
        </p:nvSpPr>
        <p:spPr>
          <a:xfrm>
            <a:off x="6190278" y="2323315"/>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8" name="Text Box 6"/>
          <p:cNvSpPr txBox="1"/>
          <p:nvPr>
            <p:custDataLst>
              <p:tags r:id="rId4"/>
            </p:custDataLst>
          </p:nvPr>
        </p:nvSpPr>
        <p:spPr>
          <a:xfrm>
            <a:off x="4886941" y="3072615"/>
            <a:ext cx="1943100" cy="72707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solidFill>
                  <a:srgbClr val="FF3399"/>
                </a:solidFill>
                <a:latin typeface="Verdana" panose="020B0604030504040204" pitchFamily="34" charset="0"/>
              </a:rPr>
              <a:t>=    2          i</a:t>
            </a:r>
            <a:endParaRPr lang="en-US" altLang="zh-CN" sz="1800" b="1" dirty="0">
              <a:solidFill>
                <a:srgbClr val="FF3399"/>
              </a:solidFill>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9" name="Text Box 7"/>
          <p:cNvSpPr txBox="1"/>
          <p:nvPr>
            <p:custDataLst>
              <p:tags r:id="rId5"/>
            </p:custDataLst>
          </p:nvPr>
        </p:nvSpPr>
        <p:spPr>
          <a:xfrm>
            <a:off x="6266180" y="4457065"/>
            <a:ext cx="2133600" cy="821690"/>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10" name="Text Box 8"/>
          <p:cNvSpPr txBox="1"/>
          <p:nvPr>
            <p:custDataLst>
              <p:tags r:id="rId6"/>
            </p:custDataLst>
          </p:nvPr>
        </p:nvSpPr>
        <p:spPr>
          <a:xfrm>
            <a:off x="6266478" y="5828515"/>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11" name="Line 9"/>
          <p:cNvSpPr/>
          <p:nvPr>
            <p:custDataLst>
              <p:tags r:id="rId7"/>
            </p:custDataLst>
          </p:nvPr>
        </p:nvSpPr>
        <p:spPr>
          <a:xfrm>
            <a:off x="7257078" y="2018515"/>
            <a:ext cx="0" cy="304800"/>
          </a:xfrm>
          <a:prstGeom prst="line">
            <a:avLst/>
          </a:prstGeom>
          <a:ln w="9525" cap="flat" cmpd="sng">
            <a:solidFill>
              <a:schemeClr val="tx1"/>
            </a:solidFill>
            <a:prstDash val="solid"/>
            <a:headEnd type="none" w="med" len="med"/>
            <a:tailEnd type="triangle" w="med" len="med"/>
          </a:ln>
        </p:spPr>
      </p:sp>
      <p:sp>
        <p:nvSpPr>
          <p:cNvPr id="13" name="Line 10"/>
          <p:cNvSpPr/>
          <p:nvPr>
            <p:custDataLst>
              <p:tags r:id="rId8"/>
            </p:custDataLst>
          </p:nvPr>
        </p:nvSpPr>
        <p:spPr>
          <a:xfrm>
            <a:off x="7257078" y="2780515"/>
            <a:ext cx="0" cy="1676400"/>
          </a:xfrm>
          <a:prstGeom prst="line">
            <a:avLst/>
          </a:prstGeom>
          <a:ln w="9525" cap="flat" cmpd="sng">
            <a:solidFill>
              <a:schemeClr val="tx1"/>
            </a:solidFill>
            <a:prstDash val="solid"/>
            <a:headEnd type="none" w="med" len="med"/>
            <a:tailEnd type="triangle" w="med" len="med"/>
          </a:ln>
        </p:spPr>
      </p:sp>
      <p:sp>
        <p:nvSpPr>
          <p:cNvPr id="14" name="Line 11"/>
          <p:cNvSpPr/>
          <p:nvPr>
            <p:custDataLst>
              <p:tags r:id="rId9"/>
            </p:custDataLst>
          </p:nvPr>
        </p:nvSpPr>
        <p:spPr>
          <a:xfrm>
            <a:off x="7256780" y="5298440"/>
            <a:ext cx="635" cy="530225"/>
          </a:xfrm>
          <a:prstGeom prst="line">
            <a:avLst/>
          </a:prstGeom>
          <a:ln w="9525" cap="flat" cmpd="sng">
            <a:solidFill>
              <a:schemeClr val="tx1"/>
            </a:solidFill>
            <a:prstDash val="solid"/>
            <a:headEnd type="none" w="med" len="med"/>
            <a:tailEnd type="triangle" w="med" len="med"/>
          </a:ln>
        </p:spPr>
      </p:sp>
      <p:sp>
        <p:nvSpPr>
          <p:cNvPr id="15" name="Freeform 13"/>
          <p:cNvSpPr/>
          <p:nvPr>
            <p:custDataLst>
              <p:tags r:id="rId10"/>
            </p:custDataLst>
          </p:nvPr>
        </p:nvSpPr>
        <p:spPr>
          <a:xfrm>
            <a:off x="5504478" y="2551915"/>
            <a:ext cx="685800" cy="533400"/>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16" name="Freeform 14"/>
          <p:cNvSpPr/>
          <p:nvPr>
            <p:custDataLst>
              <p:tags r:id="rId11"/>
            </p:custDataLst>
          </p:nvPr>
        </p:nvSpPr>
        <p:spPr>
          <a:xfrm>
            <a:off x="5534641" y="3864778"/>
            <a:ext cx="762000" cy="1055687"/>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17" name="Freeform 15"/>
          <p:cNvSpPr/>
          <p:nvPr>
            <p:custDataLst>
              <p:tags r:id="rId12"/>
            </p:custDataLst>
          </p:nvPr>
        </p:nvSpPr>
        <p:spPr>
          <a:xfrm>
            <a:off x="4742478" y="2209015"/>
            <a:ext cx="1981200" cy="3240088"/>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18" name="Text Box 18"/>
          <p:cNvSpPr txBox="1"/>
          <p:nvPr>
            <p:custDataLst>
              <p:tags r:id="rId13"/>
            </p:custDataLst>
          </p:nvPr>
        </p:nvSpPr>
        <p:spPr>
          <a:xfrm>
            <a:off x="9780270" y="1275715"/>
            <a:ext cx="2068830" cy="3397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p:txBody>
      </p:sp>
      <p:sp>
        <p:nvSpPr>
          <p:cNvPr id="19" name="Text Box 19"/>
          <p:cNvSpPr txBox="1"/>
          <p:nvPr>
            <p:custDataLst>
              <p:tags r:id="rId14"/>
            </p:custDataLst>
          </p:nvPr>
        </p:nvSpPr>
        <p:spPr>
          <a:xfrm>
            <a:off x="9818370" y="2825115"/>
            <a:ext cx="2031365" cy="457835"/>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20" name="Text Box 20"/>
          <p:cNvSpPr txBox="1"/>
          <p:nvPr>
            <p:custDataLst>
              <p:tags r:id="rId15"/>
            </p:custDataLst>
          </p:nvPr>
        </p:nvSpPr>
        <p:spPr>
          <a:xfrm>
            <a:off x="8606453" y="3648878"/>
            <a:ext cx="208915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21" name="Text Box 21"/>
          <p:cNvSpPr txBox="1"/>
          <p:nvPr>
            <p:custDataLst>
              <p:tags r:id="rId16"/>
            </p:custDataLst>
          </p:nvPr>
        </p:nvSpPr>
        <p:spPr>
          <a:xfrm>
            <a:off x="9592945" y="4519930"/>
            <a:ext cx="2198370" cy="759460"/>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22" name="Text Box 22"/>
          <p:cNvSpPr txBox="1"/>
          <p:nvPr>
            <p:custDataLst>
              <p:tags r:id="rId17"/>
            </p:custDataLst>
          </p:nvPr>
        </p:nvSpPr>
        <p:spPr>
          <a:xfrm>
            <a:off x="10046335" y="5882640"/>
            <a:ext cx="1745615" cy="3397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23" name="Line 23"/>
          <p:cNvSpPr/>
          <p:nvPr>
            <p:custDataLst>
              <p:tags r:id="rId18"/>
            </p:custDataLst>
          </p:nvPr>
        </p:nvSpPr>
        <p:spPr>
          <a:xfrm>
            <a:off x="10960716" y="1615290"/>
            <a:ext cx="0" cy="304800"/>
          </a:xfrm>
          <a:prstGeom prst="line">
            <a:avLst/>
          </a:prstGeom>
          <a:ln w="9525" cap="flat" cmpd="sng">
            <a:solidFill>
              <a:schemeClr val="tx1"/>
            </a:solidFill>
            <a:prstDash val="solid"/>
            <a:headEnd type="none" w="med" len="med"/>
            <a:tailEnd type="triangle" w="med" len="med"/>
          </a:ln>
        </p:spPr>
      </p:sp>
      <p:sp>
        <p:nvSpPr>
          <p:cNvPr id="24" name="Line 24"/>
          <p:cNvSpPr/>
          <p:nvPr>
            <p:custDataLst>
              <p:tags r:id="rId19"/>
            </p:custDataLst>
          </p:nvPr>
        </p:nvSpPr>
        <p:spPr>
          <a:xfrm>
            <a:off x="11036916" y="3291690"/>
            <a:ext cx="0" cy="1219200"/>
          </a:xfrm>
          <a:prstGeom prst="line">
            <a:avLst/>
          </a:prstGeom>
          <a:ln w="9525" cap="flat" cmpd="sng">
            <a:solidFill>
              <a:schemeClr val="tx1"/>
            </a:solidFill>
            <a:prstDash val="solid"/>
            <a:headEnd type="none" w="med" len="med"/>
            <a:tailEnd type="triangle" w="med" len="med"/>
          </a:ln>
        </p:spPr>
      </p:sp>
      <p:sp>
        <p:nvSpPr>
          <p:cNvPr id="25" name="Line 25"/>
          <p:cNvSpPr/>
          <p:nvPr>
            <p:custDataLst>
              <p:tags r:id="rId20"/>
            </p:custDataLst>
          </p:nvPr>
        </p:nvSpPr>
        <p:spPr>
          <a:xfrm>
            <a:off x="11036935" y="5293995"/>
            <a:ext cx="635" cy="588645"/>
          </a:xfrm>
          <a:prstGeom prst="line">
            <a:avLst/>
          </a:prstGeom>
          <a:ln w="9525" cap="flat" cmpd="sng">
            <a:solidFill>
              <a:schemeClr val="tx1"/>
            </a:solidFill>
            <a:prstDash val="solid"/>
            <a:headEnd type="none" w="med" len="med"/>
            <a:tailEnd type="triangle" w="med" len="med"/>
          </a:ln>
        </p:spPr>
      </p:sp>
      <p:sp>
        <p:nvSpPr>
          <p:cNvPr id="26" name="Freeform 26"/>
          <p:cNvSpPr/>
          <p:nvPr>
            <p:custDataLst>
              <p:tags r:id="rId21"/>
            </p:custDataLst>
          </p:nvPr>
        </p:nvSpPr>
        <p:spPr>
          <a:xfrm>
            <a:off x="9284316" y="3063090"/>
            <a:ext cx="685800" cy="609600"/>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29" name="Freeform 27"/>
          <p:cNvSpPr/>
          <p:nvPr>
            <p:custDataLst>
              <p:tags r:id="rId22"/>
            </p:custDataLst>
          </p:nvPr>
        </p:nvSpPr>
        <p:spPr>
          <a:xfrm>
            <a:off x="9059545" y="4046220"/>
            <a:ext cx="496570" cy="838200"/>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30" name="Freeform 28"/>
          <p:cNvSpPr/>
          <p:nvPr>
            <p:custDataLst>
              <p:tags r:id="rId23"/>
            </p:custDataLst>
          </p:nvPr>
        </p:nvSpPr>
        <p:spPr>
          <a:xfrm>
            <a:off x="8535016" y="2713840"/>
            <a:ext cx="1981200" cy="2735263"/>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31" name="Text Box 29"/>
          <p:cNvSpPr txBox="1"/>
          <p:nvPr>
            <p:custDataLst>
              <p:tags r:id="rId24"/>
            </p:custDataLst>
          </p:nvPr>
        </p:nvSpPr>
        <p:spPr>
          <a:xfrm>
            <a:off x="9817100" y="1920240"/>
            <a:ext cx="2032000" cy="445135"/>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solidFill>
                  <a:srgbClr val="FF3399"/>
                </a:solidFill>
                <a:latin typeface="Verdana" panose="020B0604030504040204" pitchFamily="34" charset="0"/>
              </a:rPr>
              <a:t>=    2           i</a:t>
            </a:r>
            <a:endParaRPr lang="en-US" altLang="zh-CN" sz="1800" b="1" dirty="0">
              <a:solidFill>
                <a:srgbClr val="FF3399"/>
              </a:solidFill>
              <a:latin typeface="Verdana" panose="020B0604030504040204" pitchFamily="34" charset="0"/>
            </a:endParaRPr>
          </a:p>
        </p:txBody>
      </p:sp>
      <p:sp>
        <p:nvSpPr>
          <p:cNvPr id="32" name="Line 30"/>
          <p:cNvSpPr/>
          <p:nvPr>
            <p:custDataLst>
              <p:tags r:id="rId25"/>
            </p:custDataLst>
          </p:nvPr>
        </p:nvSpPr>
        <p:spPr>
          <a:xfrm>
            <a:off x="10960716" y="2377290"/>
            <a:ext cx="0" cy="457200"/>
          </a:xfrm>
          <a:prstGeom prst="line">
            <a:avLst/>
          </a:prstGeom>
          <a:ln w="9525" cap="flat" cmpd="sng">
            <a:solidFill>
              <a:schemeClr val="tx1"/>
            </a:solidFill>
            <a:prstDash val="solid"/>
            <a:headEnd type="none" w="med" len="med"/>
            <a:tailEnd type="triangle" w="med" len="med"/>
          </a:ln>
        </p:spPr>
      </p:sp>
      <p:sp>
        <p:nvSpPr>
          <p:cNvPr id="33" name="Line 31"/>
          <p:cNvSpPr/>
          <p:nvPr>
            <p:custDataLst>
              <p:tags r:id="rId26"/>
            </p:custDataLst>
          </p:nvPr>
        </p:nvSpPr>
        <p:spPr>
          <a:xfrm>
            <a:off x="7550766" y="2021690"/>
            <a:ext cx="0" cy="304800"/>
          </a:xfrm>
          <a:prstGeom prst="line">
            <a:avLst/>
          </a:prstGeom>
          <a:ln w="9525" cap="flat" cmpd="sng">
            <a:solidFill>
              <a:srgbClr val="FF3300"/>
            </a:solidFill>
            <a:prstDash val="solid"/>
            <a:headEnd type="none" w="med" len="med"/>
            <a:tailEnd type="triangle" w="med" len="med"/>
          </a:ln>
        </p:spPr>
      </p:sp>
      <p:sp>
        <p:nvSpPr>
          <p:cNvPr id="34" name="Line 32"/>
          <p:cNvSpPr/>
          <p:nvPr>
            <p:custDataLst>
              <p:tags r:id="rId27"/>
            </p:custDataLst>
          </p:nvPr>
        </p:nvSpPr>
        <p:spPr>
          <a:xfrm>
            <a:off x="7550766" y="2756703"/>
            <a:ext cx="0" cy="1676400"/>
          </a:xfrm>
          <a:prstGeom prst="line">
            <a:avLst/>
          </a:prstGeom>
          <a:ln w="9525" cap="flat" cmpd="sng">
            <a:solidFill>
              <a:srgbClr val="FF3300"/>
            </a:solidFill>
            <a:prstDash val="solid"/>
            <a:headEnd type="none" w="med" len="med"/>
            <a:tailEnd type="triangle" w="med" len="med"/>
          </a:ln>
        </p:spPr>
      </p:sp>
      <p:sp>
        <p:nvSpPr>
          <p:cNvPr id="35" name="Line 33"/>
          <p:cNvSpPr/>
          <p:nvPr>
            <p:custDataLst>
              <p:tags r:id="rId28"/>
            </p:custDataLst>
          </p:nvPr>
        </p:nvSpPr>
        <p:spPr>
          <a:xfrm flipH="1">
            <a:off x="7479665" y="5303520"/>
            <a:ext cx="6350" cy="526415"/>
          </a:xfrm>
          <a:prstGeom prst="line">
            <a:avLst/>
          </a:prstGeom>
          <a:ln w="9525" cap="flat" cmpd="sng">
            <a:solidFill>
              <a:srgbClr val="FF3300"/>
            </a:solidFill>
            <a:prstDash val="solid"/>
            <a:headEnd type="none" w="med" len="med"/>
            <a:tailEnd type="triangle" w="med" len="med"/>
          </a:ln>
        </p:spPr>
      </p:sp>
      <p:sp>
        <p:nvSpPr>
          <p:cNvPr id="36" name="Line 34"/>
          <p:cNvSpPr/>
          <p:nvPr>
            <p:custDataLst>
              <p:tags r:id="rId29"/>
            </p:custDataLst>
          </p:nvPr>
        </p:nvSpPr>
        <p:spPr>
          <a:xfrm>
            <a:off x="11341716" y="1615290"/>
            <a:ext cx="0" cy="304800"/>
          </a:xfrm>
          <a:prstGeom prst="line">
            <a:avLst/>
          </a:prstGeom>
          <a:ln w="9525" cap="flat" cmpd="sng">
            <a:solidFill>
              <a:srgbClr val="FF3300"/>
            </a:solidFill>
            <a:prstDash val="solid"/>
            <a:headEnd type="none" w="med" len="med"/>
            <a:tailEnd type="triangle" w="med" len="med"/>
          </a:ln>
        </p:spPr>
      </p:sp>
      <p:sp>
        <p:nvSpPr>
          <p:cNvPr id="37" name="Line 35"/>
          <p:cNvSpPr/>
          <p:nvPr>
            <p:custDataLst>
              <p:tags r:id="rId30"/>
            </p:custDataLst>
          </p:nvPr>
        </p:nvSpPr>
        <p:spPr>
          <a:xfrm>
            <a:off x="11417935" y="5285105"/>
            <a:ext cx="635" cy="597535"/>
          </a:xfrm>
          <a:prstGeom prst="line">
            <a:avLst/>
          </a:prstGeom>
          <a:ln w="9525" cap="flat" cmpd="sng">
            <a:solidFill>
              <a:srgbClr val="FF3300"/>
            </a:solidFill>
            <a:prstDash val="solid"/>
            <a:headEnd type="none" w="med" len="med"/>
            <a:tailEnd type="triangle" w="med" len="med"/>
          </a:ln>
        </p:spPr>
      </p:sp>
      <p:sp>
        <p:nvSpPr>
          <p:cNvPr id="38" name="Line 36"/>
          <p:cNvSpPr/>
          <p:nvPr>
            <p:custDataLst>
              <p:tags r:id="rId31"/>
            </p:custDataLst>
          </p:nvPr>
        </p:nvSpPr>
        <p:spPr>
          <a:xfrm>
            <a:off x="11417916" y="3291690"/>
            <a:ext cx="0" cy="1219200"/>
          </a:xfrm>
          <a:prstGeom prst="line">
            <a:avLst/>
          </a:prstGeom>
          <a:ln w="9525" cap="flat" cmpd="sng">
            <a:solidFill>
              <a:srgbClr val="FF33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barn(inHorizontal)">
                                      <p:cBhvr>
                                        <p:cTn id="7"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
          <p:cNvSpPr txBox="1"/>
          <p:nvPr/>
        </p:nvSpPr>
        <p:spPr>
          <a:xfrm>
            <a:off x="619760" y="1209040"/>
            <a:ext cx="3081655" cy="5137785"/>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latin typeface="+mn-ea"/>
              </a:rPr>
              <a:t>不变四元式Ｑ：</a:t>
            </a:r>
            <a:r>
              <a:rPr lang="en-US" altLang="zh-CN" sz="2400" b="1" dirty="0">
                <a:latin typeface="+mn-ea"/>
              </a:rPr>
              <a:t>op   x   y   z</a:t>
            </a:r>
            <a:r>
              <a:rPr lang="zh-CN" altLang="en-US" sz="2400" b="1" dirty="0">
                <a:latin typeface="+mn-ea"/>
              </a:rPr>
              <a:t>可以外提的条件：</a:t>
            </a:r>
            <a:endParaRPr lang="zh-CN" altLang="en-US" sz="2400" b="1" dirty="0">
              <a:latin typeface="+mn-ea"/>
            </a:endParaRPr>
          </a:p>
          <a:p>
            <a:pPr marL="457200" lvl="1" indent="-457200">
              <a:lnSpc>
                <a:spcPct val="120000"/>
              </a:lnSpc>
              <a:buFont typeface="+mj-ea"/>
              <a:buAutoNum type="circleNumDbPlain" startAt="2"/>
            </a:pPr>
            <a:r>
              <a:rPr lang="zh-CN" altLang="en-US" b="1" dirty="0">
                <a:latin typeface="+mn-ea"/>
                <a:sym typeface="+mn-ea"/>
              </a:rPr>
              <a:t>循环中</a:t>
            </a:r>
            <a:r>
              <a:rPr lang="en-US" altLang="zh-CN" b="1" dirty="0">
                <a:latin typeface="+mn-ea"/>
                <a:sym typeface="+mn-ea"/>
              </a:rPr>
              <a:t>z</a:t>
            </a:r>
            <a:r>
              <a:rPr lang="zh-CN" altLang="en-US" b="1" dirty="0">
                <a:latin typeface="+mn-ea"/>
                <a:sym typeface="+mn-ea"/>
              </a:rPr>
              <a:t>没有其他的定值点</a:t>
            </a:r>
            <a:r>
              <a:rPr lang="zh-CN" altLang="en-US" b="1" dirty="0">
                <a:latin typeface="+mn-ea"/>
                <a:sym typeface="+mn-ea"/>
              </a:rPr>
              <a:t>（反例：情况</a:t>
            </a:r>
            <a:r>
              <a:rPr lang="en-US" altLang="zh-CN" b="1" dirty="0">
                <a:latin typeface="+mn-ea"/>
                <a:sym typeface="+mn-ea"/>
              </a:rPr>
              <a:t>2</a:t>
            </a:r>
            <a:r>
              <a:rPr lang="zh-CN" altLang="en-US" b="1" dirty="0">
                <a:latin typeface="+mn-ea"/>
                <a:sym typeface="+mn-ea"/>
              </a:rPr>
              <a:t>）</a:t>
            </a:r>
            <a:r>
              <a:rPr lang="zh-CN" altLang="en-US" b="1" dirty="0">
                <a:latin typeface="+mn-ea"/>
                <a:sym typeface="+mn-ea"/>
              </a:rPr>
              <a:t>。</a:t>
            </a:r>
            <a:endParaRPr lang="zh-CN" altLang="en-US" b="1" dirty="0">
              <a:latin typeface="+mn-ea"/>
            </a:endParaRPr>
          </a:p>
        </p:txBody>
      </p:sp>
      <p:sp>
        <p:nvSpPr>
          <p:cNvPr id="3" name="文本占位符 2"/>
          <p:cNvSpPr>
            <a:spLocks noGrp="1"/>
          </p:cNvSpPr>
          <p:nvPr>
            <p:ph type="body" sz="quarter" idx="14"/>
            <p:custDataLst>
              <p:tags r:id="rId1"/>
            </p:custDataLst>
          </p:nvPr>
        </p:nvSpPr>
        <p:spPr>
          <a:xfrm>
            <a:off x="421005" y="276860"/>
            <a:ext cx="7880350" cy="593090"/>
          </a:xfrm>
        </p:spPr>
        <p:txBody>
          <a:bodyPr/>
          <a:lstStyle/>
          <a:p>
            <a:r>
              <a:rPr lang="en-US" altLang="zh-CN" dirty="0"/>
              <a:t>8.2.4.4 </a:t>
            </a:r>
            <a:r>
              <a:rPr dirty="0"/>
              <a:t>循环</a:t>
            </a:r>
            <a:r>
              <a:rPr lang="zh-CN" altLang="en-US" dirty="0"/>
              <a:t>优化实现</a:t>
            </a:r>
            <a:r>
              <a:rPr lang="en-US" altLang="zh-CN" dirty="0"/>
              <a:t>(</a:t>
            </a:r>
            <a:r>
              <a:rPr dirty="0"/>
              <a:t>续</a:t>
            </a:r>
            <a:r>
              <a:rPr lang="en-US" altLang="zh-CN" dirty="0"/>
              <a:t>)</a:t>
            </a:r>
            <a:endParaRPr lang="en-US" altLang="zh-CN" dirty="0"/>
          </a:p>
        </p:txBody>
      </p:sp>
      <p:sp>
        <p:nvSpPr>
          <p:cNvPr id="40" name="Text Box 5"/>
          <p:cNvSpPr txBox="1"/>
          <p:nvPr>
            <p:custDataLst>
              <p:tags r:id="rId2"/>
            </p:custDataLst>
          </p:nvPr>
        </p:nvSpPr>
        <p:spPr>
          <a:xfrm>
            <a:off x="9544368" y="1335723"/>
            <a:ext cx="2286000" cy="64389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solidFill>
                  <a:srgbClr val="FF3399"/>
                </a:solidFill>
                <a:latin typeface="Verdana" panose="020B0604030504040204" pitchFamily="34" charset="0"/>
              </a:rPr>
              <a:t>=    3           i</a:t>
            </a:r>
            <a:endParaRPr lang="en-US" altLang="zh-CN" sz="1800" b="1" dirty="0">
              <a:solidFill>
                <a:srgbClr val="FF3399"/>
              </a:solidFill>
              <a:latin typeface="Verdana" panose="020B0604030504040204" pitchFamily="34" charset="0"/>
            </a:endParaRPr>
          </a:p>
        </p:txBody>
      </p:sp>
      <p:sp>
        <p:nvSpPr>
          <p:cNvPr id="41" name="Text Box 6"/>
          <p:cNvSpPr txBox="1"/>
          <p:nvPr>
            <p:custDataLst>
              <p:tags r:id="rId3"/>
            </p:custDataLst>
          </p:nvPr>
        </p:nvSpPr>
        <p:spPr>
          <a:xfrm>
            <a:off x="9544368" y="2309813"/>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42" name="Text Box 7"/>
          <p:cNvSpPr txBox="1"/>
          <p:nvPr>
            <p:custDataLst>
              <p:tags r:id="rId4"/>
            </p:custDataLst>
          </p:nvPr>
        </p:nvSpPr>
        <p:spPr>
          <a:xfrm>
            <a:off x="8252460" y="3060700"/>
            <a:ext cx="2087245" cy="1002030"/>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2          i</a:t>
            </a:r>
            <a:endParaRPr lang="en-US" altLang="zh-CN" sz="1800" b="1" dirty="0">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43" name="Text Box 8"/>
          <p:cNvSpPr txBox="1"/>
          <p:nvPr>
            <p:custDataLst>
              <p:tags r:id="rId5"/>
            </p:custDataLst>
          </p:nvPr>
        </p:nvSpPr>
        <p:spPr>
          <a:xfrm>
            <a:off x="9620885" y="4138930"/>
            <a:ext cx="2133600" cy="1018540"/>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44" name="Text Box 9"/>
          <p:cNvSpPr txBox="1"/>
          <p:nvPr>
            <p:custDataLst>
              <p:tags r:id="rId6"/>
            </p:custDataLst>
          </p:nvPr>
        </p:nvSpPr>
        <p:spPr>
          <a:xfrm>
            <a:off x="9620568" y="5510213"/>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45" name="Line 10"/>
          <p:cNvSpPr/>
          <p:nvPr>
            <p:custDataLst>
              <p:tags r:id="rId7"/>
            </p:custDataLst>
          </p:nvPr>
        </p:nvSpPr>
        <p:spPr>
          <a:xfrm>
            <a:off x="10611168" y="2005013"/>
            <a:ext cx="0" cy="304800"/>
          </a:xfrm>
          <a:prstGeom prst="line">
            <a:avLst/>
          </a:prstGeom>
          <a:ln w="9525" cap="flat" cmpd="sng">
            <a:solidFill>
              <a:schemeClr val="tx1"/>
            </a:solidFill>
            <a:prstDash val="solid"/>
            <a:headEnd type="none" w="med" len="med"/>
            <a:tailEnd type="triangle" w="med" len="med"/>
          </a:ln>
        </p:spPr>
      </p:sp>
      <p:sp>
        <p:nvSpPr>
          <p:cNvPr id="46" name="Line 11"/>
          <p:cNvSpPr/>
          <p:nvPr>
            <p:custDataLst>
              <p:tags r:id="rId8"/>
            </p:custDataLst>
          </p:nvPr>
        </p:nvSpPr>
        <p:spPr>
          <a:xfrm flipH="1">
            <a:off x="10586085" y="2661920"/>
            <a:ext cx="25400" cy="1477010"/>
          </a:xfrm>
          <a:prstGeom prst="line">
            <a:avLst/>
          </a:prstGeom>
          <a:ln w="9525" cap="flat" cmpd="sng">
            <a:solidFill>
              <a:schemeClr val="tx1"/>
            </a:solidFill>
            <a:prstDash val="solid"/>
            <a:headEnd type="none" w="med" len="med"/>
            <a:tailEnd type="triangle" w="med" len="med"/>
          </a:ln>
        </p:spPr>
      </p:sp>
      <p:sp>
        <p:nvSpPr>
          <p:cNvPr id="47" name="Line 12"/>
          <p:cNvSpPr/>
          <p:nvPr>
            <p:custDataLst>
              <p:tags r:id="rId9"/>
            </p:custDataLst>
          </p:nvPr>
        </p:nvSpPr>
        <p:spPr>
          <a:xfrm>
            <a:off x="10611168" y="5129213"/>
            <a:ext cx="0" cy="381000"/>
          </a:xfrm>
          <a:prstGeom prst="line">
            <a:avLst/>
          </a:prstGeom>
          <a:ln w="9525" cap="flat" cmpd="sng">
            <a:solidFill>
              <a:schemeClr val="tx1"/>
            </a:solidFill>
            <a:prstDash val="solid"/>
            <a:headEnd type="none" w="med" len="med"/>
            <a:tailEnd type="triangle" w="med" len="med"/>
          </a:ln>
        </p:spPr>
      </p:sp>
      <p:sp>
        <p:nvSpPr>
          <p:cNvPr id="48" name="Freeform 13"/>
          <p:cNvSpPr/>
          <p:nvPr>
            <p:custDataLst>
              <p:tags r:id="rId10"/>
            </p:custDataLst>
          </p:nvPr>
        </p:nvSpPr>
        <p:spPr>
          <a:xfrm>
            <a:off x="8858568" y="2538413"/>
            <a:ext cx="685800" cy="533400"/>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49" name="Freeform 14"/>
          <p:cNvSpPr/>
          <p:nvPr>
            <p:custDataLst>
              <p:tags r:id="rId11"/>
            </p:custDataLst>
          </p:nvPr>
        </p:nvSpPr>
        <p:spPr>
          <a:xfrm>
            <a:off x="8858568" y="4062413"/>
            <a:ext cx="762000" cy="533400"/>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50" name="Freeform 15"/>
          <p:cNvSpPr/>
          <p:nvPr>
            <p:custDataLst>
              <p:tags r:id="rId12"/>
            </p:custDataLst>
          </p:nvPr>
        </p:nvSpPr>
        <p:spPr>
          <a:xfrm>
            <a:off x="8096568" y="2157413"/>
            <a:ext cx="1981200" cy="3200400"/>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51" name="Text Box 30"/>
          <p:cNvSpPr txBox="1"/>
          <p:nvPr>
            <p:custDataLst>
              <p:tags r:id="rId13"/>
            </p:custDataLst>
          </p:nvPr>
        </p:nvSpPr>
        <p:spPr>
          <a:xfrm>
            <a:off x="5378768" y="1423035"/>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p:txBody>
      </p:sp>
      <p:sp>
        <p:nvSpPr>
          <p:cNvPr id="52" name="Text Box 31"/>
          <p:cNvSpPr txBox="1"/>
          <p:nvPr>
            <p:custDataLst>
              <p:tags r:id="rId14"/>
            </p:custDataLst>
          </p:nvPr>
        </p:nvSpPr>
        <p:spPr>
          <a:xfrm>
            <a:off x="5378768" y="2095500"/>
            <a:ext cx="2286000" cy="64389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solidFill>
                  <a:srgbClr val="FF3399"/>
                </a:solidFill>
                <a:latin typeface="Verdana" panose="020B0604030504040204" pitchFamily="34" charset="0"/>
              </a:rPr>
              <a:t>=    3          i</a:t>
            </a:r>
            <a:endParaRPr lang="en-US" altLang="zh-CN" sz="1800" b="1" dirty="0">
              <a:solidFill>
                <a:srgbClr val="FF3399"/>
              </a:solidFill>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53" name="Text Box 32"/>
          <p:cNvSpPr txBox="1"/>
          <p:nvPr>
            <p:custDataLst>
              <p:tags r:id="rId15"/>
            </p:custDataLst>
          </p:nvPr>
        </p:nvSpPr>
        <p:spPr>
          <a:xfrm>
            <a:off x="4075430" y="3133725"/>
            <a:ext cx="1945005" cy="1007745"/>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2          i</a:t>
            </a:r>
            <a:endParaRPr lang="en-US" altLang="zh-CN" sz="1800" b="1" dirty="0">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54" name="Text Box 33"/>
          <p:cNvSpPr txBox="1"/>
          <p:nvPr>
            <p:custDataLst>
              <p:tags r:id="rId16"/>
            </p:custDataLst>
          </p:nvPr>
        </p:nvSpPr>
        <p:spPr>
          <a:xfrm>
            <a:off x="5455285" y="4229100"/>
            <a:ext cx="2133600" cy="978535"/>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55" name="Text Box 34"/>
          <p:cNvSpPr txBox="1"/>
          <p:nvPr>
            <p:custDataLst>
              <p:tags r:id="rId17"/>
            </p:custDataLst>
          </p:nvPr>
        </p:nvSpPr>
        <p:spPr>
          <a:xfrm>
            <a:off x="5454968" y="5600700"/>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56" name="Line 35"/>
          <p:cNvSpPr/>
          <p:nvPr>
            <p:custDataLst>
              <p:tags r:id="rId18"/>
            </p:custDataLst>
          </p:nvPr>
        </p:nvSpPr>
        <p:spPr>
          <a:xfrm>
            <a:off x="6445568" y="1790700"/>
            <a:ext cx="0" cy="304800"/>
          </a:xfrm>
          <a:prstGeom prst="line">
            <a:avLst/>
          </a:prstGeom>
          <a:ln w="9525" cap="flat" cmpd="sng">
            <a:solidFill>
              <a:schemeClr val="tx1"/>
            </a:solidFill>
            <a:prstDash val="solid"/>
            <a:headEnd type="none" w="med" len="med"/>
            <a:tailEnd type="triangle" w="med" len="med"/>
          </a:ln>
        </p:spPr>
      </p:sp>
      <p:sp>
        <p:nvSpPr>
          <p:cNvPr id="57" name="Line 36"/>
          <p:cNvSpPr/>
          <p:nvPr>
            <p:custDataLst>
              <p:tags r:id="rId19"/>
            </p:custDataLst>
          </p:nvPr>
        </p:nvSpPr>
        <p:spPr>
          <a:xfrm flipH="1">
            <a:off x="6446520" y="2703195"/>
            <a:ext cx="2540" cy="1525905"/>
          </a:xfrm>
          <a:prstGeom prst="line">
            <a:avLst/>
          </a:prstGeom>
          <a:ln w="9525" cap="flat" cmpd="sng">
            <a:solidFill>
              <a:schemeClr val="tx1"/>
            </a:solidFill>
            <a:prstDash val="solid"/>
            <a:headEnd type="none" w="med" len="med"/>
            <a:tailEnd type="triangle" w="med" len="med"/>
          </a:ln>
        </p:spPr>
      </p:sp>
      <p:sp>
        <p:nvSpPr>
          <p:cNvPr id="58" name="Line 37"/>
          <p:cNvSpPr/>
          <p:nvPr>
            <p:custDataLst>
              <p:tags r:id="rId20"/>
            </p:custDataLst>
          </p:nvPr>
        </p:nvSpPr>
        <p:spPr>
          <a:xfrm>
            <a:off x="6445568" y="5219700"/>
            <a:ext cx="0" cy="381000"/>
          </a:xfrm>
          <a:prstGeom prst="line">
            <a:avLst/>
          </a:prstGeom>
          <a:ln w="9525" cap="flat" cmpd="sng">
            <a:solidFill>
              <a:schemeClr val="tx1"/>
            </a:solidFill>
            <a:prstDash val="solid"/>
            <a:headEnd type="none" w="med" len="med"/>
            <a:tailEnd type="triangle" w="med" len="med"/>
          </a:ln>
        </p:spPr>
      </p:sp>
      <p:sp>
        <p:nvSpPr>
          <p:cNvPr id="59" name="Freeform 38"/>
          <p:cNvSpPr/>
          <p:nvPr>
            <p:custDataLst>
              <p:tags r:id="rId21"/>
            </p:custDataLst>
          </p:nvPr>
        </p:nvSpPr>
        <p:spPr>
          <a:xfrm>
            <a:off x="4692968" y="2324100"/>
            <a:ext cx="685800" cy="838200"/>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60" name="Freeform 39"/>
          <p:cNvSpPr/>
          <p:nvPr>
            <p:custDataLst>
              <p:tags r:id="rId22"/>
            </p:custDataLst>
          </p:nvPr>
        </p:nvSpPr>
        <p:spPr>
          <a:xfrm>
            <a:off x="4692968" y="4152900"/>
            <a:ext cx="762000" cy="533400"/>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61" name="Freeform 40"/>
          <p:cNvSpPr/>
          <p:nvPr>
            <p:custDataLst>
              <p:tags r:id="rId23"/>
            </p:custDataLst>
          </p:nvPr>
        </p:nvSpPr>
        <p:spPr>
          <a:xfrm>
            <a:off x="3930968" y="1943100"/>
            <a:ext cx="1981200" cy="3505200"/>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62" name="Line 43"/>
          <p:cNvSpPr/>
          <p:nvPr>
            <p:custDataLst>
              <p:tags r:id="rId24"/>
            </p:custDataLst>
          </p:nvPr>
        </p:nvSpPr>
        <p:spPr>
          <a:xfrm>
            <a:off x="6877368" y="1776413"/>
            <a:ext cx="0" cy="304800"/>
          </a:xfrm>
          <a:prstGeom prst="line">
            <a:avLst/>
          </a:prstGeom>
          <a:ln w="9525" cap="flat" cmpd="sng">
            <a:solidFill>
              <a:srgbClr val="FF3300"/>
            </a:solidFill>
            <a:prstDash val="solid"/>
            <a:headEnd type="none" w="med" len="med"/>
            <a:tailEnd type="triangle" w="med" len="med"/>
          </a:ln>
        </p:spPr>
      </p:sp>
      <p:sp>
        <p:nvSpPr>
          <p:cNvPr id="63" name="Freeform 46"/>
          <p:cNvSpPr/>
          <p:nvPr>
            <p:custDataLst>
              <p:tags r:id="rId25"/>
            </p:custDataLst>
          </p:nvPr>
        </p:nvSpPr>
        <p:spPr>
          <a:xfrm>
            <a:off x="4819968" y="2538413"/>
            <a:ext cx="533400" cy="609600"/>
          </a:xfrm>
          <a:custGeom>
            <a:avLst/>
            <a:gdLst>
              <a:gd name="txL" fmla="*/ 0 w 336"/>
              <a:gd name="txT" fmla="*/ 0 h 384"/>
              <a:gd name="txR" fmla="*/ 336 w 336"/>
              <a:gd name="txB" fmla="*/ 384 h 384"/>
            </a:gdLst>
            <a:ahLst/>
            <a:cxnLst>
              <a:cxn ang="0">
                <a:pos x="2147483646" y="0"/>
              </a:cxn>
              <a:cxn ang="0">
                <a:pos x="0" y="0"/>
              </a:cxn>
              <a:cxn ang="0">
                <a:pos x="0" y="2147483646"/>
              </a:cxn>
            </a:cxnLst>
            <a:rect l="txL" t="txT" r="txR" b="txB"/>
            <a:pathLst>
              <a:path w="336" h="384">
                <a:moveTo>
                  <a:pt x="336" y="0"/>
                </a:moveTo>
                <a:lnTo>
                  <a:pt x="0" y="0"/>
                </a:lnTo>
                <a:lnTo>
                  <a:pt x="0" y="384"/>
                </a:lnTo>
              </a:path>
            </a:pathLst>
          </a:custGeom>
          <a:noFill/>
          <a:ln w="9525" cap="flat" cmpd="sng">
            <a:solidFill>
              <a:srgbClr val="FF0000">
                <a:alpha val="100000"/>
              </a:srgbClr>
            </a:solidFill>
            <a:prstDash val="solid"/>
            <a:round/>
            <a:headEnd type="none" w="med" len="med"/>
            <a:tailEnd type="triangle" w="med" len="med"/>
          </a:ln>
        </p:spPr>
        <p:txBody>
          <a:bodyPr/>
          <a:lstStyle/>
          <a:p>
            <a:endParaRPr lang="zh-CN" altLang="en-US" b="1"/>
          </a:p>
        </p:txBody>
      </p:sp>
      <p:sp>
        <p:nvSpPr>
          <p:cNvPr id="64" name="Freeform 47"/>
          <p:cNvSpPr/>
          <p:nvPr>
            <p:custDataLst>
              <p:tags r:id="rId26"/>
            </p:custDataLst>
          </p:nvPr>
        </p:nvSpPr>
        <p:spPr>
          <a:xfrm>
            <a:off x="9010968" y="4062413"/>
            <a:ext cx="609600" cy="457200"/>
          </a:xfrm>
          <a:custGeom>
            <a:avLst/>
            <a:gdLst>
              <a:gd name="txL" fmla="*/ 0 w 384"/>
              <a:gd name="txT" fmla="*/ 0 h 288"/>
              <a:gd name="txR" fmla="*/ 384 w 384"/>
              <a:gd name="txB" fmla="*/ 288 h 288"/>
            </a:gdLst>
            <a:ahLst/>
            <a:cxnLst>
              <a:cxn ang="0">
                <a:pos x="0" y="0"/>
              </a:cxn>
              <a:cxn ang="0">
                <a:pos x="0" y="2147483646"/>
              </a:cxn>
              <a:cxn ang="0">
                <a:pos x="2147483646" y="2147483646"/>
              </a:cxn>
            </a:cxnLst>
            <a:rect l="txL" t="txT" r="txR" b="txB"/>
            <a:pathLst>
              <a:path w="384" h="288">
                <a:moveTo>
                  <a:pt x="0" y="0"/>
                </a:moveTo>
                <a:lnTo>
                  <a:pt x="0" y="288"/>
                </a:lnTo>
                <a:lnTo>
                  <a:pt x="384" y="288"/>
                </a:lnTo>
              </a:path>
            </a:pathLst>
          </a:custGeom>
          <a:noFill/>
          <a:ln w="9525" cap="flat" cmpd="sng">
            <a:solidFill>
              <a:srgbClr val="FF3300">
                <a:alpha val="100000"/>
              </a:srgbClr>
            </a:solidFill>
            <a:prstDash val="solid"/>
            <a:round/>
            <a:headEnd type="none" w="med" len="med"/>
            <a:tailEnd type="triangle" w="med" len="med"/>
          </a:ln>
        </p:spPr>
        <p:txBody>
          <a:bodyPr/>
          <a:lstStyle/>
          <a:p>
            <a:endParaRPr lang="zh-CN" altLang="en-US" b="1"/>
          </a:p>
        </p:txBody>
      </p:sp>
      <p:sp>
        <p:nvSpPr>
          <p:cNvPr id="65" name="Freeform 48"/>
          <p:cNvSpPr/>
          <p:nvPr>
            <p:custDataLst>
              <p:tags r:id="rId27"/>
            </p:custDataLst>
          </p:nvPr>
        </p:nvSpPr>
        <p:spPr>
          <a:xfrm>
            <a:off x="3753168" y="1852613"/>
            <a:ext cx="2286000" cy="3657600"/>
          </a:xfrm>
          <a:custGeom>
            <a:avLst/>
            <a:gdLst>
              <a:gd name="txL" fmla="*/ 0 w 1440"/>
              <a:gd name="txT" fmla="*/ 0 h 2304"/>
              <a:gd name="txR" fmla="*/ 1440 w 1440"/>
              <a:gd name="txB" fmla="*/ 2304 h 2304"/>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440" h="2304">
                <a:moveTo>
                  <a:pt x="1248" y="2112"/>
                </a:moveTo>
                <a:lnTo>
                  <a:pt x="1248" y="2304"/>
                </a:lnTo>
                <a:lnTo>
                  <a:pt x="0" y="2304"/>
                </a:lnTo>
                <a:lnTo>
                  <a:pt x="0" y="0"/>
                </a:lnTo>
                <a:lnTo>
                  <a:pt x="1440" y="0"/>
                </a:lnTo>
                <a:lnTo>
                  <a:pt x="1440" y="144"/>
                </a:lnTo>
              </a:path>
            </a:pathLst>
          </a:custGeom>
          <a:noFill/>
          <a:ln w="9525" cap="flat" cmpd="sng">
            <a:solidFill>
              <a:srgbClr val="FF3300">
                <a:alpha val="100000"/>
              </a:srgbClr>
            </a:solidFill>
            <a:prstDash val="solid"/>
            <a:round/>
            <a:headEnd type="none" w="med" len="med"/>
            <a:tailEnd type="triangle" w="med" len="med"/>
          </a:ln>
        </p:spPr>
        <p:txBody>
          <a:bodyPr/>
          <a:lstStyle/>
          <a:p>
            <a:endParaRPr lang="zh-CN" altLang="en-US" b="1"/>
          </a:p>
        </p:txBody>
      </p:sp>
      <p:sp>
        <p:nvSpPr>
          <p:cNvPr id="66" name="Line 50"/>
          <p:cNvSpPr/>
          <p:nvPr>
            <p:custDataLst>
              <p:tags r:id="rId28"/>
            </p:custDataLst>
          </p:nvPr>
        </p:nvSpPr>
        <p:spPr>
          <a:xfrm flipH="1">
            <a:off x="6179820" y="2734945"/>
            <a:ext cx="10160" cy="1482090"/>
          </a:xfrm>
          <a:prstGeom prst="line">
            <a:avLst/>
          </a:prstGeom>
          <a:ln w="9525" cap="flat" cmpd="sng">
            <a:solidFill>
              <a:srgbClr val="FF3300"/>
            </a:solidFill>
            <a:prstDash val="solid"/>
            <a:headEnd type="none" w="med" len="med"/>
            <a:tailEnd type="triangle" w="med" len="med"/>
          </a:ln>
        </p:spPr>
      </p:sp>
      <p:sp>
        <p:nvSpPr>
          <p:cNvPr id="67" name="Line 51"/>
          <p:cNvSpPr/>
          <p:nvPr>
            <p:custDataLst>
              <p:tags r:id="rId29"/>
            </p:custDataLst>
          </p:nvPr>
        </p:nvSpPr>
        <p:spPr>
          <a:xfrm>
            <a:off x="6039168" y="5205413"/>
            <a:ext cx="0" cy="381000"/>
          </a:xfrm>
          <a:prstGeom prst="line">
            <a:avLst/>
          </a:prstGeom>
          <a:ln w="9525" cap="flat" cmpd="sng">
            <a:solidFill>
              <a:srgbClr val="FF3300"/>
            </a:solidFill>
            <a:prstDash val="solid"/>
            <a:headEnd type="none" w="med" len="med"/>
            <a:tailEnd type="triangle" w="med" len="med"/>
          </a:ln>
        </p:spPr>
      </p:sp>
      <p:sp>
        <p:nvSpPr>
          <p:cNvPr id="68" name="Line 53"/>
          <p:cNvSpPr/>
          <p:nvPr>
            <p:custDataLst>
              <p:tags r:id="rId30"/>
            </p:custDataLst>
          </p:nvPr>
        </p:nvSpPr>
        <p:spPr>
          <a:xfrm>
            <a:off x="11068368" y="2005013"/>
            <a:ext cx="0" cy="304800"/>
          </a:xfrm>
          <a:prstGeom prst="line">
            <a:avLst/>
          </a:prstGeom>
          <a:ln w="9525" cap="flat" cmpd="sng">
            <a:solidFill>
              <a:srgbClr val="FF3300"/>
            </a:solidFill>
            <a:prstDash val="solid"/>
            <a:headEnd type="none" w="med" len="med"/>
            <a:tailEnd type="triangle" w="med" len="med"/>
          </a:ln>
        </p:spPr>
      </p:sp>
      <p:sp>
        <p:nvSpPr>
          <p:cNvPr id="69" name="Line 54"/>
          <p:cNvSpPr/>
          <p:nvPr>
            <p:custDataLst>
              <p:tags r:id="rId31"/>
            </p:custDataLst>
          </p:nvPr>
        </p:nvSpPr>
        <p:spPr>
          <a:xfrm flipH="1">
            <a:off x="11069320" y="2649855"/>
            <a:ext cx="10795" cy="1489075"/>
          </a:xfrm>
          <a:prstGeom prst="line">
            <a:avLst/>
          </a:prstGeom>
          <a:ln w="9525" cap="flat" cmpd="sng">
            <a:solidFill>
              <a:srgbClr val="FF3300"/>
            </a:solidFill>
            <a:prstDash val="solid"/>
            <a:headEnd type="none" w="med" len="med"/>
            <a:tailEnd type="triangle" w="med" len="med"/>
          </a:ln>
        </p:spPr>
      </p:sp>
      <p:sp>
        <p:nvSpPr>
          <p:cNvPr id="70" name="Line 55"/>
          <p:cNvSpPr/>
          <p:nvPr>
            <p:custDataLst>
              <p:tags r:id="rId32"/>
            </p:custDataLst>
          </p:nvPr>
        </p:nvSpPr>
        <p:spPr>
          <a:xfrm>
            <a:off x="11068368" y="5129213"/>
            <a:ext cx="0" cy="381000"/>
          </a:xfrm>
          <a:prstGeom prst="line">
            <a:avLst/>
          </a:prstGeom>
          <a:ln w="9525" cap="flat" cmpd="sng">
            <a:solidFill>
              <a:srgbClr val="FF3300"/>
            </a:solidFill>
            <a:prstDash val="solid"/>
            <a:headEnd type="none" w="med" len="med"/>
            <a:tailEnd type="triangle" w="med" len="med"/>
          </a:ln>
        </p:spPr>
      </p:sp>
      <p:sp>
        <p:nvSpPr>
          <p:cNvPr id="71" name="Freeform 56"/>
          <p:cNvSpPr/>
          <p:nvPr>
            <p:custDataLst>
              <p:tags r:id="rId33"/>
            </p:custDataLst>
          </p:nvPr>
        </p:nvSpPr>
        <p:spPr>
          <a:xfrm>
            <a:off x="7944168" y="2081213"/>
            <a:ext cx="2286000" cy="3352800"/>
          </a:xfrm>
          <a:custGeom>
            <a:avLst/>
            <a:gdLst>
              <a:gd name="txL" fmla="*/ 0 w 1440"/>
              <a:gd name="txT" fmla="*/ 0 h 2304"/>
              <a:gd name="txR" fmla="*/ 1440 w 1440"/>
              <a:gd name="txB" fmla="*/ 2304 h 2304"/>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440" h="2304">
                <a:moveTo>
                  <a:pt x="1248" y="2112"/>
                </a:moveTo>
                <a:lnTo>
                  <a:pt x="1248" y="2304"/>
                </a:lnTo>
                <a:lnTo>
                  <a:pt x="0" y="2304"/>
                </a:lnTo>
                <a:lnTo>
                  <a:pt x="0" y="0"/>
                </a:lnTo>
                <a:lnTo>
                  <a:pt x="1440" y="0"/>
                </a:lnTo>
                <a:lnTo>
                  <a:pt x="1440" y="144"/>
                </a:lnTo>
              </a:path>
            </a:pathLst>
          </a:custGeom>
          <a:noFill/>
          <a:ln w="9525" cap="flat" cmpd="sng">
            <a:solidFill>
              <a:srgbClr val="FF3300">
                <a:alpha val="100000"/>
              </a:srgbClr>
            </a:solidFill>
            <a:prstDash val="solid"/>
            <a:round/>
            <a:headEnd type="none" w="med" len="med"/>
            <a:tailEnd type="triangle" w="med" len="med"/>
          </a:ln>
        </p:spPr>
        <p:txBody>
          <a:bodyPr/>
          <a:lstStyle/>
          <a:p>
            <a:endParaRPr lang="zh-CN" altLang="en-US" b="1"/>
          </a:p>
        </p:txBody>
      </p:sp>
      <p:sp>
        <p:nvSpPr>
          <p:cNvPr id="72" name="Freeform 57"/>
          <p:cNvSpPr/>
          <p:nvPr>
            <p:custDataLst>
              <p:tags r:id="rId34"/>
            </p:custDataLst>
          </p:nvPr>
        </p:nvSpPr>
        <p:spPr>
          <a:xfrm>
            <a:off x="9010968" y="2462213"/>
            <a:ext cx="533400" cy="609600"/>
          </a:xfrm>
          <a:custGeom>
            <a:avLst/>
            <a:gdLst>
              <a:gd name="txL" fmla="*/ 0 w 336"/>
              <a:gd name="txT" fmla="*/ 0 h 384"/>
              <a:gd name="txR" fmla="*/ 336 w 336"/>
              <a:gd name="txB" fmla="*/ 384 h 384"/>
            </a:gdLst>
            <a:ahLst/>
            <a:cxnLst>
              <a:cxn ang="0">
                <a:pos x="2147483646" y="0"/>
              </a:cxn>
              <a:cxn ang="0">
                <a:pos x="0" y="0"/>
              </a:cxn>
              <a:cxn ang="0">
                <a:pos x="0" y="2147483646"/>
              </a:cxn>
            </a:cxnLst>
            <a:rect l="txL" t="txT" r="txR" b="txB"/>
            <a:pathLst>
              <a:path w="336" h="384">
                <a:moveTo>
                  <a:pt x="336" y="0"/>
                </a:moveTo>
                <a:lnTo>
                  <a:pt x="0" y="0"/>
                </a:lnTo>
                <a:lnTo>
                  <a:pt x="0" y="384"/>
                </a:lnTo>
              </a:path>
            </a:pathLst>
          </a:custGeom>
          <a:noFill/>
          <a:ln w="9525" cap="flat" cmpd="sng">
            <a:solidFill>
              <a:srgbClr val="FF0000">
                <a:alpha val="100000"/>
              </a:srgbClr>
            </a:solidFill>
            <a:prstDash val="solid"/>
            <a:round/>
            <a:headEnd type="none" w="med" len="med"/>
            <a:tailEnd type="triangle" w="med" len="med"/>
          </a:ln>
        </p:spPr>
        <p:txBody>
          <a:bodyPr/>
          <a:lstStyle/>
          <a:p>
            <a:endParaRPr lang="zh-CN" altLang="en-US" b="1"/>
          </a:p>
        </p:txBody>
      </p:sp>
      <p:sp>
        <p:nvSpPr>
          <p:cNvPr id="73" name="Freeform 58"/>
          <p:cNvSpPr/>
          <p:nvPr>
            <p:custDataLst>
              <p:tags r:id="rId35"/>
            </p:custDataLst>
          </p:nvPr>
        </p:nvSpPr>
        <p:spPr>
          <a:xfrm>
            <a:off x="4972368" y="4291013"/>
            <a:ext cx="609600" cy="457200"/>
          </a:xfrm>
          <a:custGeom>
            <a:avLst/>
            <a:gdLst>
              <a:gd name="txL" fmla="*/ 0 w 384"/>
              <a:gd name="txT" fmla="*/ 0 h 288"/>
              <a:gd name="txR" fmla="*/ 384 w 384"/>
              <a:gd name="txB" fmla="*/ 288 h 288"/>
            </a:gdLst>
            <a:ahLst/>
            <a:cxnLst>
              <a:cxn ang="0">
                <a:pos x="0" y="0"/>
              </a:cxn>
              <a:cxn ang="0">
                <a:pos x="0" y="2147483646"/>
              </a:cxn>
              <a:cxn ang="0">
                <a:pos x="2147483646" y="2147483646"/>
              </a:cxn>
            </a:cxnLst>
            <a:rect l="txL" t="txT" r="txR" b="txB"/>
            <a:pathLst>
              <a:path w="384" h="288">
                <a:moveTo>
                  <a:pt x="0" y="0"/>
                </a:moveTo>
                <a:lnTo>
                  <a:pt x="0" y="288"/>
                </a:lnTo>
                <a:lnTo>
                  <a:pt x="384" y="288"/>
                </a:lnTo>
              </a:path>
            </a:pathLst>
          </a:custGeom>
          <a:noFill/>
          <a:ln w="9525" cap="flat" cmpd="sng">
            <a:solidFill>
              <a:srgbClr val="FF3300">
                <a:alpha val="100000"/>
              </a:srgbClr>
            </a:solidFill>
            <a:prstDash val="solid"/>
            <a:round/>
            <a:headEnd type="none" w="med" len="med"/>
            <a:tailEnd type="triangle" w="med" len="med"/>
          </a:ln>
        </p:spPr>
        <p:txBody>
          <a:bodyPr/>
          <a:lstStyle/>
          <a:p>
            <a:endParaRPr lang="zh-CN" altLang="en-US" b="1"/>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
          <p:cNvSpPr txBox="1"/>
          <p:nvPr/>
        </p:nvSpPr>
        <p:spPr>
          <a:xfrm>
            <a:off x="572770" y="1209040"/>
            <a:ext cx="3305810" cy="282956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2400" b="1" dirty="0">
                <a:latin typeface="+mn-ea"/>
              </a:rPr>
              <a:t>不变四元式Ｑ：</a:t>
            </a:r>
            <a:r>
              <a:rPr lang="en-US" altLang="zh-CN" sz="2400" b="1" dirty="0">
                <a:latin typeface="+mn-ea"/>
              </a:rPr>
              <a:t>op   x   y   z</a:t>
            </a:r>
            <a:r>
              <a:rPr lang="zh-CN" altLang="en-US" sz="2400" b="1" dirty="0">
                <a:latin typeface="+mn-ea"/>
              </a:rPr>
              <a:t>可以外提的条件：</a:t>
            </a:r>
            <a:endParaRPr lang="zh-CN" altLang="en-US" sz="2400" b="1" dirty="0">
              <a:latin typeface="+mn-ea"/>
            </a:endParaRPr>
          </a:p>
          <a:p>
            <a:pPr marL="457200" lvl="1" indent="-457200">
              <a:lnSpc>
                <a:spcPct val="120000"/>
              </a:lnSpc>
              <a:buFont typeface="+mj-ea"/>
              <a:buAutoNum type="circleNumDbPlain" startAt="3"/>
            </a:pPr>
            <a:r>
              <a:rPr lang="zh-CN" altLang="en-US" b="1" dirty="0">
                <a:latin typeface="+mn-ea"/>
                <a:sym typeface="+mn-ea"/>
              </a:rPr>
              <a:t>循环中</a:t>
            </a:r>
            <a:r>
              <a:rPr lang="en-US" altLang="zh-CN" b="1" dirty="0">
                <a:latin typeface="+mn-ea"/>
                <a:sym typeface="+mn-ea"/>
              </a:rPr>
              <a:t>z</a:t>
            </a:r>
            <a:r>
              <a:rPr lang="zh-CN" altLang="en-US" b="1" dirty="0">
                <a:latin typeface="+mn-ea"/>
                <a:sym typeface="+mn-ea"/>
              </a:rPr>
              <a:t>的引用点仅由</a:t>
            </a:r>
            <a:r>
              <a:rPr lang="en-US" altLang="zh-CN" b="1" dirty="0">
                <a:latin typeface="+mn-ea"/>
                <a:sym typeface="+mn-ea"/>
              </a:rPr>
              <a:t>Q</a:t>
            </a:r>
            <a:r>
              <a:rPr lang="zh-CN" altLang="en-US" b="1" dirty="0">
                <a:latin typeface="+mn-ea"/>
                <a:sym typeface="+mn-ea"/>
              </a:rPr>
              <a:t>到达</a:t>
            </a:r>
            <a:r>
              <a:rPr lang="zh-CN" altLang="en-US" b="1" dirty="0">
                <a:latin typeface="+mn-ea"/>
                <a:sym typeface="+mn-ea"/>
              </a:rPr>
              <a:t>（反例：情况</a:t>
            </a:r>
            <a:r>
              <a:rPr lang="en-US" altLang="zh-CN" b="1" dirty="0">
                <a:latin typeface="+mn-ea"/>
                <a:sym typeface="+mn-ea"/>
              </a:rPr>
              <a:t>3</a:t>
            </a:r>
            <a:r>
              <a:rPr lang="zh-CN" altLang="en-US" b="1" dirty="0">
                <a:latin typeface="+mn-ea"/>
                <a:sym typeface="+mn-ea"/>
              </a:rPr>
              <a:t>）</a:t>
            </a:r>
            <a:r>
              <a:rPr lang="zh-CN" altLang="en-US" b="1" dirty="0">
                <a:latin typeface="+mn-ea"/>
                <a:sym typeface="+mn-ea"/>
              </a:rPr>
              <a:t>。</a:t>
            </a:r>
            <a:endParaRPr lang="zh-CN" altLang="en-US" b="1" dirty="0">
              <a:latin typeface="+mn-ea"/>
            </a:endParaRPr>
          </a:p>
          <a:p>
            <a:pPr marL="914400" lvl="1" indent="-457200">
              <a:lnSpc>
                <a:spcPct val="120000"/>
              </a:lnSpc>
              <a:buFont typeface="+mj-ea"/>
              <a:buAutoNum type="circleNumDbPlain" startAt="3"/>
            </a:pPr>
            <a:endParaRPr lang="zh-CN" altLang="en-US" b="1" dirty="0">
              <a:latin typeface="+mn-ea"/>
            </a:endParaRPr>
          </a:p>
        </p:txBody>
      </p:sp>
      <p:sp>
        <p:nvSpPr>
          <p:cNvPr id="3" name="文本占位符 2"/>
          <p:cNvSpPr>
            <a:spLocks noGrp="1"/>
          </p:cNvSpPr>
          <p:nvPr>
            <p:ph type="body" sz="quarter" idx="14"/>
            <p:custDataLst>
              <p:tags r:id="rId1"/>
            </p:custDataLst>
          </p:nvPr>
        </p:nvSpPr>
        <p:spPr>
          <a:xfrm>
            <a:off x="421005" y="276860"/>
            <a:ext cx="7880350" cy="593090"/>
          </a:xfrm>
        </p:spPr>
        <p:txBody>
          <a:bodyPr/>
          <a:lstStyle/>
          <a:p>
            <a:r>
              <a:rPr lang="en-US" altLang="zh-CN" dirty="0"/>
              <a:t>8.2.4.4 </a:t>
            </a:r>
            <a:r>
              <a:rPr dirty="0"/>
              <a:t>循环</a:t>
            </a:r>
            <a:r>
              <a:rPr lang="zh-CN" altLang="en-US" dirty="0"/>
              <a:t>优化实现</a:t>
            </a:r>
            <a:r>
              <a:rPr lang="en-US" altLang="zh-CN" dirty="0"/>
              <a:t>(</a:t>
            </a:r>
            <a:r>
              <a:rPr dirty="0"/>
              <a:t>续</a:t>
            </a:r>
            <a:r>
              <a:rPr lang="en-US" altLang="zh-CN" dirty="0"/>
              <a:t>)</a:t>
            </a:r>
            <a:endParaRPr lang="en-US" altLang="zh-CN" dirty="0"/>
          </a:p>
        </p:txBody>
      </p:sp>
      <p:sp>
        <p:nvSpPr>
          <p:cNvPr id="2" name="Text Box 6"/>
          <p:cNvSpPr txBox="1"/>
          <p:nvPr>
            <p:custDataLst>
              <p:tags r:id="rId2"/>
            </p:custDataLst>
          </p:nvPr>
        </p:nvSpPr>
        <p:spPr>
          <a:xfrm>
            <a:off x="5325745" y="1251585"/>
            <a:ext cx="2286000" cy="64389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    0           k</a:t>
            </a:r>
            <a:endParaRPr lang="en-US" altLang="zh-CN" sz="1800" b="1" dirty="0">
              <a:latin typeface="Verdana" panose="020B0604030504040204" pitchFamily="34" charset="0"/>
            </a:endParaRPr>
          </a:p>
        </p:txBody>
      </p:sp>
      <p:sp>
        <p:nvSpPr>
          <p:cNvPr id="39" name="Text Box 7"/>
          <p:cNvSpPr txBox="1"/>
          <p:nvPr>
            <p:custDataLst>
              <p:tags r:id="rId3"/>
            </p:custDataLst>
          </p:nvPr>
        </p:nvSpPr>
        <p:spPr>
          <a:xfrm>
            <a:off x="5325745" y="2194878"/>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75" name="Text Box 8"/>
          <p:cNvSpPr txBox="1"/>
          <p:nvPr>
            <p:custDataLst>
              <p:tags r:id="rId4"/>
            </p:custDataLst>
          </p:nvPr>
        </p:nvSpPr>
        <p:spPr>
          <a:xfrm>
            <a:off x="4022408" y="3283903"/>
            <a:ext cx="2089150" cy="72707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solidFill>
                  <a:srgbClr val="321AAC"/>
                </a:solidFill>
                <a:latin typeface="Verdana" panose="020B0604030504040204" pitchFamily="34" charset="0"/>
              </a:rPr>
              <a:t>=    i           k</a:t>
            </a:r>
            <a:endParaRPr lang="en-US" altLang="zh-CN" sz="1800" b="1" dirty="0">
              <a:solidFill>
                <a:srgbClr val="321AAC"/>
              </a:solidFill>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76" name="Text Box 9"/>
          <p:cNvSpPr txBox="1"/>
          <p:nvPr>
            <p:custDataLst>
              <p:tags r:id="rId5"/>
            </p:custDataLst>
          </p:nvPr>
        </p:nvSpPr>
        <p:spPr>
          <a:xfrm>
            <a:off x="5401945" y="4328795"/>
            <a:ext cx="2133600" cy="1026795"/>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solidFill>
                  <a:srgbClr val="FF3399"/>
                </a:solidFill>
                <a:latin typeface="Verdana" panose="020B0604030504040204" pitchFamily="34" charset="0"/>
              </a:rPr>
              <a:t>=     2          i</a:t>
            </a:r>
            <a:endParaRPr lang="en-US" altLang="zh-CN" sz="1800" b="1" dirty="0">
              <a:solidFill>
                <a:srgbClr val="FF3399"/>
              </a:solidFill>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77" name="Text Box 10"/>
          <p:cNvSpPr txBox="1"/>
          <p:nvPr>
            <p:custDataLst>
              <p:tags r:id="rId6"/>
            </p:custDataLst>
          </p:nvPr>
        </p:nvSpPr>
        <p:spPr>
          <a:xfrm>
            <a:off x="5401945" y="5928678"/>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78" name="Line 11"/>
          <p:cNvSpPr/>
          <p:nvPr>
            <p:custDataLst>
              <p:tags r:id="rId7"/>
            </p:custDataLst>
          </p:nvPr>
        </p:nvSpPr>
        <p:spPr>
          <a:xfrm>
            <a:off x="6392545" y="1890078"/>
            <a:ext cx="0" cy="304800"/>
          </a:xfrm>
          <a:prstGeom prst="line">
            <a:avLst/>
          </a:prstGeom>
          <a:ln w="9525" cap="flat" cmpd="sng">
            <a:solidFill>
              <a:schemeClr val="tx1"/>
            </a:solidFill>
            <a:prstDash val="solid"/>
            <a:headEnd type="none" w="med" len="med"/>
            <a:tailEnd type="triangle" w="med" len="med"/>
          </a:ln>
        </p:spPr>
      </p:sp>
      <p:sp>
        <p:nvSpPr>
          <p:cNvPr id="79" name="Line 12"/>
          <p:cNvSpPr/>
          <p:nvPr>
            <p:custDataLst>
              <p:tags r:id="rId8"/>
            </p:custDataLst>
          </p:nvPr>
        </p:nvSpPr>
        <p:spPr>
          <a:xfrm>
            <a:off x="6392545" y="2652078"/>
            <a:ext cx="0" cy="1676400"/>
          </a:xfrm>
          <a:prstGeom prst="line">
            <a:avLst/>
          </a:prstGeom>
          <a:ln w="9525" cap="flat" cmpd="sng">
            <a:solidFill>
              <a:schemeClr val="tx1"/>
            </a:solidFill>
            <a:prstDash val="solid"/>
            <a:headEnd type="none" w="med" len="med"/>
            <a:tailEnd type="triangle" w="med" len="med"/>
          </a:ln>
        </p:spPr>
      </p:sp>
      <p:sp>
        <p:nvSpPr>
          <p:cNvPr id="80" name="Line 13"/>
          <p:cNvSpPr/>
          <p:nvPr>
            <p:custDataLst>
              <p:tags r:id="rId9"/>
            </p:custDataLst>
          </p:nvPr>
        </p:nvSpPr>
        <p:spPr>
          <a:xfrm>
            <a:off x="6392545" y="5366385"/>
            <a:ext cx="635" cy="562610"/>
          </a:xfrm>
          <a:prstGeom prst="line">
            <a:avLst/>
          </a:prstGeom>
          <a:ln w="9525" cap="flat" cmpd="sng">
            <a:solidFill>
              <a:schemeClr val="tx1"/>
            </a:solidFill>
            <a:prstDash val="solid"/>
            <a:headEnd type="none" w="med" len="med"/>
            <a:tailEnd type="triangle" w="med" len="med"/>
          </a:ln>
        </p:spPr>
      </p:sp>
      <p:sp>
        <p:nvSpPr>
          <p:cNvPr id="81" name="Freeform 14"/>
          <p:cNvSpPr/>
          <p:nvPr>
            <p:custDataLst>
              <p:tags r:id="rId10"/>
            </p:custDataLst>
          </p:nvPr>
        </p:nvSpPr>
        <p:spPr>
          <a:xfrm>
            <a:off x="4639945" y="2423478"/>
            <a:ext cx="685800" cy="838200"/>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82" name="Freeform 15"/>
          <p:cNvSpPr/>
          <p:nvPr>
            <p:custDataLst>
              <p:tags r:id="rId11"/>
            </p:custDataLst>
          </p:nvPr>
        </p:nvSpPr>
        <p:spPr>
          <a:xfrm>
            <a:off x="4639945" y="4252278"/>
            <a:ext cx="762000" cy="533400"/>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83" name="Freeform 16"/>
          <p:cNvSpPr/>
          <p:nvPr>
            <p:custDataLst>
              <p:tags r:id="rId12"/>
            </p:custDataLst>
          </p:nvPr>
        </p:nvSpPr>
        <p:spPr>
          <a:xfrm>
            <a:off x="3877945" y="2059940"/>
            <a:ext cx="1981200" cy="3529013"/>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84" name="Text Box 19"/>
          <p:cNvSpPr txBox="1"/>
          <p:nvPr>
            <p:custDataLst>
              <p:tags r:id="rId13"/>
            </p:custDataLst>
          </p:nvPr>
        </p:nvSpPr>
        <p:spPr>
          <a:xfrm>
            <a:off x="9354820" y="1251268"/>
            <a:ext cx="2286000" cy="94805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    0           k</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solidFill>
                  <a:srgbClr val="FF3399"/>
                </a:solidFill>
                <a:latin typeface="Verdana" panose="020B0604030504040204" pitchFamily="34" charset="0"/>
              </a:rPr>
              <a:t>=    2           i</a:t>
            </a:r>
            <a:endParaRPr lang="en-US" altLang="zh-CN" sz="1800" b="1" dirty="0">
              <a:solidFill>
                <a:srgbClr val="FF3399"/>
              </a:solidFill>
              <a:latin typeface="Verdana" panose="020B0604030504040204" pitchFamily="34" charset="0"/>
            </a:endParaRPr>
          </a:p>
        </p:txBody>
      </p:sp>
      <p:sp>
        <p:nvSpPr>
          <p:cNvPr id="85" name="Text Box 20"/>
          <p:cNvSpPr txBox="1"/>
          <p:nvPr>
            <p:custDataLst>
              <p:tags r:id="rId14"/>
            </p:custDataLst>
          </p:nvPr>
        </p:nvSpPr>
        <p:spPr>
          <a:xfrm>
            <a:off x="9431020" y="2494915"/>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86" name="Text Box 21"/>
          <p:cNvSpPr txBox="1"/>
          <p:nvPr>
            <p:custDataLst>
              <p:tags r:id="rId15"/>
            </p:custDataLst>
          </p:nvPr>
        </p:nvSpPr>
        <p:spPr>
          <a:xfrm>
            <a:off x="8127683" y="3572828"/>
            <a:ext cx="2159000" cy="72707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solidFill>
                  <a:srgbClr val="321AAC"/>
                </a:solidFill>
                <a:latin typeface="Verdana" panose="020B0604030504040204" pitchFamily="34" charset="0"/>
              </a:rPr>
              <a:t>=    i           k</a:t>
            </a:r>
            <a:endParaRPr lang="en-US" altLang="zh-CN" sz="1800" b="1" dirty="0">
              <a:solidFill>
                <a:srgbClr val="321AAC"/>
              </a:solidFill>
              <a:latin typeface="Verdana" panose="020B0604030504040204" pitchFamily="34" charset="0"/>
            </a:endParaRPr>
          </a:p>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87" name="Text Box 22"/>
          <p:cNvSpPr txBox="1"/>
          <p:nvPr>
            <p:custDataLst>
              <p:tags r:id="rId16"/>
            </p:custDataLst>
          </p:nvPr>
        </p:nvSpPr>
        <p:spPr>
          <a:xfrm>
            <a:off x="9537700" y="4687570"/>
            <a:ext cx="2133600" cy="800735"/>
          </a:xfrm>
          <a:prstGeom prst="rect">
            <a:avLst/>
          </a:prstGeom>
          <a:noFill/>
          <a:ln w="9525" cap="flat" cmpd="sng">
            <a:solidFill>
              <a:schemeClr val="tx1"/>
            </a:solidFill>
            <a:prstDash val="solid"/>
            <a:miter/>
            <a:headEnd type="none" w="med" len="med"/>
            <a:tailEnd type="none" w="med" len="med"/>
          </a:ln>
        </p:spPr>
        <p:txBody>
          <a:bodyPr>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88" name="Text Box 23"/>
          <p:cNvSpPr txBox="1"/>
          <p:nvPr>
            <p:custDataLst>
              <p:tags r:id="rId17"/>
            </p:custDataLst>
          </p:nvPr>
        </p:nvSpPr>
        <p:spPr>
          <a:xfrm>
            <a:off x="9507220" y="5933440"/>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89" name="Line 24"/>
          <p:cNvSpPr/>
          <p:nvPr>
            <p:custDataLst>
              <p:tags r:id="rId18"/>
            </p:custDataLst>
          </p:nvPr>
        </p:nvSpPr>
        <p:spPr>
          <a:xfrm>
            <a:off x="10497820" y="2199640"/>
            <a:ext cx="0" cy="304800"/>
          </a:xfrm>
          <a:prstGeom prst="line">
            <a:avLst/>
          </a:prstGeom>
          <a:ln w="9525" cap="flat" cmpd="sng">
            <a:solidFill>
              <a:schemeClr val="tx1"/>
            </a:solidFill>
            <a:prstDash val="solid"/>
            <a:headEnd type="none" w="med" len="med"/>
            <a:tailEnd type="triangle" w="med" len="med"/>
          </a:ln>
        </p:spPr>
      </p:sp>
      <p:sp>
        <p:nvSpPr>
          <p:cNvPr id="90" name="Line 25"/>
          <p:cNvSpPr/>
          <p:nvPr>
            <p:custDataLst>
              <p:tags r:id="rId19"/>
            </p:custDataLst>
          </p:nvPr>
        </p:nvSpPr>
        <p:spPr>
          <a:xfrm>
            <a:off x="10497820" y="2961640"/>
            <a:ext cx="0" cy="1676400"/>
          </a:xfrm>
          <a:prstGeom prst="line">
            <a:avLst/>
          </a:prstGeom>
          <a:ln w="9525" cap="flat" cmpd="sng">
            <a:solidFill>
              <a:schemeClr val="tx1"/>
            </a:solidFill>
            <a:prstDash val="solid"/>
            <a:headEnd type="none" w="med" len="med"/>
            <a:tailEnd type="triangle" w="med" len="med"/>
          </a:ln>
        </p:spPr>
      </p:sp>
      <p:sp>
        <p:nvSpPr>
          <p:cNvPr id="91" name="Line 26"/>
          <p:cNvSpPr/>
          <p:nvPr>
            <p:custDataLst>
              <p:tags r:id="rId20"/>
            </p:custDataLst>
          </p:nvPr>
        </p:nvSpPr>
        <p:spPr>
          <a:xfrm>
            <a:off x="10497820" y="5552440"/>
            <a:ext cx="0" cy="381000"/>
          </a:xfrm>
          <a:prstGeom prst="line">
            <a:avLst/>
          </a:prstGeom>
          <a:ln w="9525" cap="flat" cmpd="sng">
            <a:solidFill>
              <a:schemeClr val="tx1"/>
            </a:solidFill>
            <a:prstDash val="solid"/>
            <a:headEnd type="none" w="med" len="med"/>
            <a:tailEnd type="triangle" w="med" len="med"/>
          </a:ln>
        </p:spPr>
      </p:sp>
      <p:sp>
        <p:nvSpPr>
          <p:cNvPr id="92" name="Freeform 27"/>
          <p:cNvSpPr/>
          <p:nvPr>
            <p:custDataLst>
              <p:tags r:id="rId21"/>
            </p:custDataLst>
          </p:nvPr>
        </p:nvSpPr>
        <p:spPr>
          <a:xfrm>
            <a:off x="8745220" y="2733040"/>
            <a:ext cx="685800" cy="838200"/>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93" name="Freeform 28"/>
          <p:cNvSpPr/>
          <p:nvPr>
            <p:custDataLst>
              <p:tags r:id="rId22"/>
            </p:custDataLst>
          </p:nvPr>
        </p:nvSpPr>
        <p:spPr>
          <a:xfrm>
            <a:off x="8775383" y="4364990"/>
            <a:ext cx="762000" cy="749300"/>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94" name="Freeform 29"/>
          <p:cNvSpPr/>
          <p:nvPr>
            <p:custDataLst>
              <p:tags r:id="rId23"/>
            </p:custDataLst>
          </p:nvPr>
        </p:nvSpPr>
        <p:spPr>
          <a:xfrm>
            <a:off x="7983220" y="2275840"/>
            <a:ext cx="1981200" cy="3429000"/>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95" name="Line 31"/>
          <p:cNvSpPr/>
          <p:nvPr>
            <p:custDataLst>
              <p:tags r:id="rId24"/>
            </p:custDataLst>
          </p:nvPr>
        </p:nvSpPr>
        <p:spPr>
          <a:xfrm>
            <a:off x="10726420" y="2199640"/>
            <a:ext cx="0" cy="304800"/>
          </a:xfrm>
          <a:prstGeom prst="line">
            <a:avLst/>
          </a:prstGeom>
          <a:ln w="9525" cap="flat" cmpd="sng">
            <a:solidFill>
              <a:srgbClr val="FF3300"/>
            </a:solidFill>
            <a:prstDash val="solid"/>
            <a:headEnd type="none" w="med" len="med"/>
            <a:tailEnd type="triangle" w="med" len="med"/>
          </a:ln>
        </p:spPr>
      </p:sp>
      <p:sp>
        <p:nvSpPr>
          <p:cNvPr id="96" name="Freeform 33"/>
          <p:cNvSpPr/>
          <p:nvPr>
            <p:custDataLst>
              <p:tags r:id="rId25"/>
            </p:custDataLst>
          </p:nvPr>
        </p:nvSpPr>
        <p:spPr>
          <a:xfrm>
            <a:off x="8821420" y="2809240"/>
            <a:ext cx="609600" cy="685800"/>
          </a:xfrm>
          <a:custGeom>
            <a:avLst/>
            <a:gdLst>
              <a:gd name="txL" fmla="*/ 0 w 384"/>
              <a:gd name="txT" fmla="*/ 0 h 432"/>
              <a:gd name="txR" fmla="*/ 384 w 384"/>
              <a:gd name="txB" fmla="*/ 432 h 432"/>
            </a:gdLst>
            <a:ahLst/>
            <a:cxnLst>
              <a:cxn ang="0">
                <a:pos x="2147483646" y="0"/>
              </a:cxn>
              <a:cxn ang="0">
                <a:pos x="0" y="0"/>
              </a:cxn>
              <a:cxn ang="0">
                <a:pos x="0" y="2147483646"/>
              </a:cxn>
            </a:cxnLst>
            <a:rect l="txL" t="txT" r="txR" b="txB"/>
            <a:pathLst>
              <a:path w="384" h="432">
                <a:moveTo>
                  <a:pt x="384" y="0"/>
                </a:moveTo>
                <a:lnTo>
                  <a:pt x="0" y="0"/>
                </a:lnTo>
                <a:lnTo>
                  <a:pt x="0" y="432"/>
                </a:lnTo>
              </a:path>
            </a:pathLst>
          </a:custGeom>
          <a:noFill/>
          <a:ln w="9525" cap="flat" cmpd="sng">
            <a:solidFill>
              <a:srgbClr val="FF3300">
                <a:alpha val="100000"/>
              </a:srgbClr>
            </a:solidFill>
            <a:prstDash val="solid"/>
            <a:round/>
            <a:headEnd type="none" w="med" len="med"/>
            <a:tailEnd type="triangle" w="med" len="med"/>
          </a:ln>
        </p:spPr>
        <p:txBody>
          <a:bodyPr/>
          <a:lstStyle/>
          <a:p>
            <a:endParaRPr lang="zh-CN" altLang="en-US" b="1"/>
          </a:p>
        </p:txBody>
      </p:sp>
      <p:sp>
        <p:nvSpPr>
          <p:cNvPr id="97" name="Freeform 34"/>
          <p:cNvSpPr/>
          <p:nvPr>
            <p:custDataLst>
              <p:tags r:id="rId26"/>
            </p:custDataLst>
          </p:nvPr>
        </p:nvSpPr>
        <p:spPr>
          <a:xfrm>
            <a:off x="4706620" y="2580640"/>
            <a:ext cx="609600" cy="685800"/>
          </a:xfrm>
          <a:custGeom>
            <a:avLst/>
            <a:gdLst>
              <a:gd name="txL" fmla="*/ 0 w 384"/>
              <a:gd name="txT" fmla="*/ 0 h 432"/>
              <a:gd name="txR" fmla="*/ 384 w 384"/>
              <a:gd name="txB" fmla="*/ 432 h 432"/>
            </a:gdLst>
            <a:ahLst/>
            <a:cxnLst>
              <a:cxn ang="0">
                <a:pos x="2147483646" y="0"/>
              </a:cxn>
              <a:cxn ang="0">
                <a:pos x="0" y="0"/>
              </a:cxn>
              <a:cxn ang="0">
                <a:pos x="0" y="2147483646"/>
              </a:cxn>
            </a:cxnLst>
            <a:rect l="txL" t="txT" r="txR" b="txB"/>
            <a:pathLst>
              <a:path w="384" h="432">
                <a:moveTo>
                  <a:pt x="384" y="0"/>
                </a:moveTo>
                <a:lnTo>
                  <a:pt x="0" y="0"/>
                </a:lnTo>
                <a:lnTo>
                  <a:pt x="0" y="432"/>
                </a:lnTo>
              </a:path>
            </a:pathLst>
          </a:custGeom>
          <a:noFill/>
          <a:ln w="9525" cap="flat" cmpd="sng">
            <a:solidFill>
              <a:srgbClr val="FF3300">
                <a:alpha val="100000"/>
              </a:srgbClr>
            </a:solidFill>
            <a:prstDash val="solid"/>
            <a:round/>
            <a:headEnd type="none" w="med" len="med"/>
            <a:tailEnd type="triangle" w="med" len="med"/>
          </a:ln>
        </p:spPr>
        <p:txBody>
          <a:bodyPr/>
          <a:lstStyle/>
          <a:p>
            <a:endParaRPr lang="zh-CN" altLang="en-US" b="1"/>
          </a:p>
        </p:txBody>
      </p:sp>
      <p:sp>
        <p:nvSpPr>
          <p:cNvPr id="98" name="Line 35"/>
          <p:cNvSpPr/>
          <p:nvPr>
            <p:custDataLst>
              <p:tags r:id="rId27"/>
            </p:custDataLst>
          </p:nvPr>
        </p:nvSpPr>
        <p:spPr>
          <a:xfrm>
            <a:off x="6764020" y="1894840"/>
            <a:ext cx="0" cy="304800"/>
          </a:xfrm>
          <a:prstGeom prst="line">
            <a:avLst/>
          </a:prstGeom>
          <a:ln w="9525" cap="flat" cmpd="sng">
            <a:solidFill>
              <a:srgbClr val="FF33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barn(inHorizontal)">
                                      <p:cBhvr>
                                        <p:cTn id="7"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3"/>
          <p:cNvSpPr txBox="1"/>
          <p:nvPr/>
        </p:nvSpPr>
        <p:spPr>
          <a:xfrm>
            <a:off x="396240" y="1144270"/>
            <a:ext cx="3690620" cy="5067300"/>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5000"/>
              </a:lnSpc>
              <a:spcBef>
                <a:spcPct val="0"/>
              </a:spcBef>
              <a:spcAft>
                <a:spcPts val="0"/>
              </a:spcAft>
              <a:buFont typeface="+mj-ea"/>
              <a:buAutoNum type="circleNumDbPlain"/>
            </a:pPr>
            <a:r>
              <a:rPr lang="zh-CN" altLang="en-US" sz="2400" b="1" dirty="0">
                <a:latin typeface="+mn-ea"/>
              </a:rPr>
              <a:t>寻找不变四元式。</a:t>
            </a:r>
            <a:endParaRPr lang="zh-CN" altLang="en-US" sz="2400" b="1" dirty="0">
              <a:latin typeface="+mn-ea"/>
            </a:endParaRPr>
          </a:p>
          <a:p>
            <a:pPr marL="457200" indent="-457200">
              <a:lnSpc>
                <a:spcPct val="125000"/>
              </a:lnSpc>
              <a:spcBef>
                <a:spcPct val="0"/>
              </a:spcBef>
              <a:spcAft>
                <a:spcPts val="0"/>
              </a:spcAft>
              <a:buFont typeface="+mj-ea"/>
              <a:buAutoNum type="circleNumDbPlain"/>
            </a:pPr>
            <a:r>
              <a:rPr lang="zh-CN" altLang="en-US" sz="2400" b="1" dirty="0">
                <a:latin typeface="+mn-ea"/>
              </a:rPr>
              <a:t>检查是否满足上述三个条件。</a:t>
            </a:r>
            <a:endParaRPr lang="zh-CN" altLang="en-US" sz="2400" b="1" dirty="0">
              <a:latin typeface="+mn-ea"/>
            </a:endParaRPr>
          </a:p>
          <a:p>
            <a:pPr marL="457200" indent="-457200">
              <a:lnSpc>
                <a:spcPct val="125000"/>
              </a:lnSpc>
              <a:spcBef>
                <a:spcPct val="0"/>
              </a:spcBef>
              <a:spcAft>
                <a:spcPts val="0"/>
              </a:spcAft>
              <a:buFont typeface="+mj-ea"/>
              <a:buAutoNum type="circleNumDbPlain"/>
            </a:pPr>
            <a:r>
              <a:rPr lang="zh-CN" altLang="en-US" sz="2400" b="1" dirty="0">
                <a:latin typeface="+mn-ea"/>
              </a:rPr>
              <a:t>按照不变四元式找出的次序，把满足上述条件的四元式外提到前置节点中。</a:t>
            </a:r>
            <a:endParaRPr lang="zh-CN" altLang="en-US" sz="2400" b="1" dirty="0">
              <a:latin typeface="+mn-ea"/>
            </a:endParaRPr>
          </a:p>
          <a:p>
            <a:pPr lvl="1">
              <a:lnSpc>
                <a:spcPct val="125000"/>
              </a:lnSpc>
              <a:spcBef>
                <a:spcPct val="0"/>
              </a:spcBef>
              <a:spcAft>
                <a:spcPts val="0"/>
              </a:spcAft>
              <a:buFont typeface="Wingdings" panose="05000000000000000000" charset="0"/>
              <a:buChar char="p"/>
            </a:pPr>
            <a:r>
              <a:rPr lang="zh-CN" altLang="en-US" b="1" dirty="0">
                <a:latin typeface="+mn-ea"/>
              </a:rPr>
              <a:t>如果四元式有分量在循环中定值，只有将定值点外提后，该四元式才可以外提。</a:t>
            </a:r>
            <a:endParaRPr lang="zh-CN" altLang="en-US" b="1" dirty="0">
              <a:latin typeface="+mn-ea"/>
            </a:endParaRPr>
          </a:p>
        </p:txBody>
      </p:sp>
      <p:sp>
        <p:nvSpPr>
          <p:cNvPr id="2" name="Text Box 5"/>
          <p:cNvSpPr txBox="1"/>
          <p:nvPr>
            <p:custDataLst>
              <p:tags r:id="rId1"/>
            </p:custDataLst>
          </p:nvPr>
        </p:nvSpPr>
        <p:spPr>
          <a:xfrm>
            <a:off x="5690534" y="1393489"/>
            <a:ext cx="2286000" cy="64389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    0           k</a:t>
            </a:r>
            <a:endParaRPr lang="en-US" altLang="zh-CN" sz="1800" b="1" dirty="0">
              <a:latin typeface="Verdana" panose="020B0604030504040204" pitchFamily="34" charset="0"/>
            </a:endParaRPr>
          </a:p>
        </p:txBody>
      </p:sp>
      <p:sp>
        <p:nvSpPr>
          <p:cNvPr id="31" name="Text Box 6"/>
          <p:cNvSpPr txBox="1"/>
          <p:nvPr>
            <p:custDataLst>
              <p:tags r:id="rId2"/>
            </p:custDataLst>
          </p:nvPr>
        </p:nvSpPr>
        <p:spPr>
          <a:xfrm>
            <a:off x="5690534" y="2536489"/>
            <a:ext cx="2286000" cy="94805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solidFill>
                  <a:srgbClr val="FF3300"/>
                </a:solidFill>
                <a:latin typeface="Verdana" panose="020B0604030504040204" pitchFamily="34" charset="0"/>
              </a:rPr>
              <a:t>1) +    i     1    k</a:t>
            </a:r>
            <a:endParaRPr lang="en-US" altLang="zh-CN" sz="1800" b="1" dirty="0">
              <a:solidFill>
                <a:srgbClr val="FF3300"/>
              </a:solidFill>
              <a:latin typeface="Verdana" panose="020B0604030504040204" pitchFamily="34" charset="0"/>
            </a:endParaRPr>
          </a:p>
          <a:p>
            <a:pPr marL="0" lvl="0" indent="0" eaLnBrk="1" hangingPunct="1">
              <a:lnSpc>
                <a:spcPct val="90000"/>
              </a:lnSpc>
              <a:buNone/>
            </a:pPr>
            <a:r>
              <a:rPr lang="en-US" altLang="zh-CN" sz="1800" b="1" dirty="0">
                <a:solidFill>
                  <a:srgbClr val="FF3300"/>
                </a:solidFill>
                <a:latin typeface="Verdana" panose="020B0604030504040204" pitchFamily="34" charset="0"/>
              </a:rPr>
              <a:t>2) *    2     k    t</a:t>
            </a:r>
            <a:endParaRPr lang="en-US" altLang="zh-CN" sz="1800" b="1" dirty="0">
              <a:solidFill>
                <a:srgbClr val="FF3300"/>
              </a:solidFill>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32" name="Text Box 7"/>
          <p:cNvSpPr txBox="1"/>
          <p:nvPr>
            <p:custDataLst>
              <p:tags r:id="rId3"/>
            </p:custDataLst>
          </p:nvPr>
        </p:nvSpPr>
        <p:spPr>
          <a:xfrm>
            <a:off x="4412597" y="4027152"/>
            <a:ext cx="208915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33" name="Text Box 8"/>
          <p:cNvSpPr txBox="1"/>
          <p:nvPr>
            <p:custDataLst>
              <p:tags r:id="rId4"/>
            </p:custDataLst>
          </p:nvPr>
        </p:nvSpPr>
        <p:spPr>
          <a:xfrm>
            <a:off x="5766734" y="4670089"/>
            <a:ext cx="2133600" cy="64389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34" name="Text Box 9"/>
          <p:cNvSpPr txBox="1"/>
          <p:nvPr>
            <p:custDataLst>
              <p:tags r:id="rId5"/>
            </p:custDataLst>
          </p:nvPr>
        </p:nvSpPr>
        <p:spPr>
          <a:xfrm>
            <a:off x="5690534" y="6051214"/>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35" name="Line 10"/>
          <p:cNvSpPr/>
          <p:nvPr>
            <p:custDataLst>
              <p:tags r:id="rId6"/>
            </p:custDataLst>
          </p:nvPr>
        </p:nvSpPr>
        <p:spPr>
          <a:xfrm>
            <a:off x="6757035" y="2051685"/>
            <a:ext cx="635" cy="484505"/>
          </a:xfrm>
          <a:prstGeom prst="line">
            <a:avLst/>
          </a:prstGeom>
          <a:ln w="9525" cap="flat" cmpd="sng">
            <a:solidFill>
              <a:schemeClr val="tx1"/>
            </a:solidFill>
            <a:prstDash val="solid"/>
            <a:headEnd type="none" w="med" len="med"/>
            <a:tailEnd type="triangle" w="med" len="med"/>
          </a:ln>
        </p:spPr>
      </p:sp>
      <p:sp>
        <p:nvSpPr>
          <p:cNvPr id="36" name="Line 11"/>
          <p:cNvSpPr/>
          <p:nvPr>
            <p:custDataLst>
              <p:tags r:id="rId7"/>
            </p:custDataLst>
          </p:nvPr>
        </p:nvSpPr>
        <p:spPr>
          <a:xfrm>
            <a:off x="6757035" y="3556635"/>
            <a:ext cx="635" cy="1113155"/>
          </a:xfrm>
          <a:prstGeom prst="line">
            <a:avLst/>
          </a:prstGeom>
          <a:ln w="9525" cap="flat" cmpd="sng">
            <a:solidFill>
              <a:schemeClr val="tx1"/>
            </a:solidFill>
            <a:prstDash val="solid"/>
            <a:headEnd type="none" w="med" len="med"/>
            <a:tailEnd type="triangle" w="med" len="med"/>
          </a:ln>
        </p:spPr>
      </p:sp>
      <p:sp>
        <p:nvSpPr>
          <p:cNvPr id="37" name="Line 12"/>
          <p:cNvSpPr/>
          <p:nvPr>
            <p:custDataLst>
              <p:tags r:id="rId8"/>
            </p:custDataLst>
          </p:nvPr>
        </p:nvSpPr>
        <p:spPr>
          <a:xfrm>
            <a:off x="6757035" y="5318760"/>
            <a:ext cx="635" cy="732155"/>
          </a:xfrm>
          <a:prstGeom prst="line">
            <a:avLst/>
          </a:prstGeom>
          <a:ln w="9525" cap="flat" cmpd="sng">
            <a:solidFill>
              <a:schemeClr val="tx1"/>
            </a:solidFill>
            <a:prstDash val="solid"/>
            <a:headEnd type="none" w="med" len="med"/>
            <a:tailEnd type="triangle" w="med" len="med"/>
          </a:ln>
        </p:spPr>
      </p:sp>
      <p:sp>
        <p:nvSpPr>
          <p:cNvPr id="40" name="Freeform 13"/>
          <p:cNvSpPr/>
          <p:nvPr>
            <p:custDataLst>
              <p:tags r:id="rId9"/>
            </p:custDataLst>
          </p:nvPr>
        </p:nvSpPr>
        <p:spPr>
          <a:xfrm>
            <a:off x="5004734" y="2765089"/>
            <a:ext cx="685800" cy="1228725"/>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41" name="Freeform 14"/>
          <p:cNvSpPr/>
          <p:nvPr>
            <p:custDataLst>
              <p:tags r:id="rId10"/>
            </p:custDataLst>
          </p:nvPr>
        </p:nvSpPr>
        <p:spPr>
          <a:xfrm>
            <a:off x="5004734" y="4451014"/>
            <a:ext cx="762000" cy="676275"/>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42" name="Freeform 15"/>
          <p:cNvSpPr/>
          <p:nvPr>
            <p:custDataLst>
              <p:tags r:id="rId11"/>
            </p:custDataLst>
          </p:nvPr>
        </p:nvSpPr>
        <p:spPr>
          <a:xfrm>
            <a:off x="4268134" y="2371389"/>
            <a:ext cx="1981200" cy="3167063"/>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43" name="Text Box 18"/>
          <p:cNvSpPr txBox="1"/>
          <p:nvPr>
            <p:custDataLst>
              <p:tags r:id="rId12"/>
            </p:custDataLst>
          </p:nvPr>
        </p:nvSpPr>
        <p:spPr>
          <a:xfrm>
            <a:off x="9504344" y="1174414"/>
            <a:ext cx="2286000" cy="64389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1           i</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    0           k</a:t>
            </a:r>
            <a:endParaRPr lang="en-US" altLang="zh-CN" sz="1800" b="1" dirty="0">
              <a:latin typeface="Verdana" panose="020B0604030504040204" pitchFamily="34" charset="0"/>
            </a:endParaRPr>
          </a:p>
        </p:txBody>
      </p:sp>
      <p:sp>
        <p:nvSpPr>
          <p:cNvPr id="44" name="Text Box 19"/>
          <p:cNvSpPr txBox="1"/>
          <p:nvPr>
            <p:custDataLst>
              <p:tags r:id="rId13"/>
            </p:custDataLst>
          </p:nvPr>
        </p:nvSpPr>
        <p:spPr>
          <a:xfrm>
            <a:off x="9504344" y="3374689"/>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&lt;    u    v    B3</a:t>
            </a:r>
            <a:endParaRPr lang="en-US" altLang="zh-CN" sz="1800" b="1" dirty="0">
              <a:latin typeface="Verdana" panose="020B0604030504040204" pitchFamily="34" charset="0"/>
            </a:endParaRPr>
          </a:p>
        </p:txBody>
      </p:sp>
      <p:sp>
        <p:nvSpPr>
          <p:cNvPr id="45" name="Text Box 20"/>
          <p:cNvSpPr txBox="1"/>
          <p:nvPr>
            <p:custDataLst>
              <p:tags r:id="rId14"/>
            </p:custDataLst>
          </p:nvPr>
        </p:nvSpPr>
        <p:spPr>
          <a:xfrm>
            <a:off x="8212119" y="4027152"/>
            <a:ext cx="2087563"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u    1    u</a:t>
            </a:r>
            <a:endParaRPr lang="en-US" altLang="zh-CN" sz="1800" b="1" dirty="0">
              <a:latin typeface="Verdana" panose="020B0604030504040204" pitchFamily="34" charset="0"/>
            </a:endParaRPr>
          </a:p>
        </p:txBody>
      </p:sp>
      <p:sp>
        <p:nvSpPr>
          <p:cNvPr id="46" name="Text Box 21"/>
          <p:cNvSpPr txBox="1"/>
          <p:nvPr>
            <p:custDataLst>
              <p:tags r:id="rId15"/>
            </p:custDataLst>
          </p:nvPr>
        </p:nvSpPr>
        <p:spPr>
          <a:xfrm>
            <a:off x="9580544" y="4670089"/>
            <a:ext cx="2133600" cy="89281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latin typeface="Verdana" panose="020B0604030504040204" pitchFamily="34" charset="0"/>
              </a:rPr>
              <a:t>-       v    1    v</a:t>
            </a:r>
            <a:endParaRPr lang="en-US" altLang="zh-CN" sz="1800" b="1" dirty="0">
              <a:latin typeface="Verdana" panose="020B0604030504040204" pitchFamily="34" charset="0"/>
            </a:endParaRPr>
          </a:p>
          <a:p>
            <a:pPr marL="0" lvl="0" indent="0" eaLnBrk="1" hangingPunct="1">
              <a:lnSpc>
                <a:spcPct val="90000"/>
              </a:lnSpc>
              <a:buNone/>
            </a:pPr>
            <a:r>
              <a:rPr lang="en-US" altLang="zh-CN" sz="1800" b="1" dirty="0">
                <a:latin typeface="Verdana" panose="020B0604030504040204" pitchFamily="34" charset="0"/>
              </a:rPr>
              <a:t>&lt;=    v    20  B5 </a:t>
            </a:r>
            <a:endParaRPr lang="en-US" altLang="zh-CN" sz="1800" b="1" dirty="0">
              <a:latin typeface="Verdana" panose="020B0604030504040204" pitchFamily="34" charset="0"/>
            </a:endParaRPr>
          </a:p>
        </p:txBody>
      </p:sp>
      <p:sp>
        <p:nvSpPr>
          <p:cNvPr id="47" name="Text Box 22"/>
          <p:cNvSpPr txBox="1"/>
          <p:nvPr>
            <p:custDataLst>
              <p:tags r:id="rId16"/>
            </p:custDataLst>
          </p:nvPr>
        </p:nvSpPr>
        <p:spPr>
          <a:xfrm>
            <a:off x="9580544" y="5898814"/>
            <a:ext cx="2286000" cy="339725"/>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spcBef>
                <a:spcPct val="50000"/>
              </a:spcBef>
              <a:buNone/>
            </a:pPr>
            <a:r>
              <a:rPr lang="en-US" altLang="zh-CN" sz="1800" b="1" dirty="0">
                <a:latin typeface="Verdana" panose="020B0604030504040204" pitchFamily="34" charset="0"/>
              </a:rPr>
              <a:t>=	i	j</a:t>
            </a:r>
            <a:endParaRPr lang="en-US" altLang="zh-CN" sz="1800" b="1" dirty="0">
              <a:latin typeface="Verdana" panose="020B0604030504040204" pitchFamily="34" charset="0"/>
            </a:endParaRPr>
          </a:p>
        </p:txBody>
      </p:sp>
      <p:sp>
        <p:nvSpPr>
          <p:cNvPr id="48" name="Line 23"/>
          <p:cNvSpPr/>
          <p:nvPr>
            <p:custDataLst>
              <p:tags r:id="rId17"/>
            </p:custDataLst>
          </p:nvPr>
        </p:nvSpPr>
        <p:spPr>
          <a:xfrm>
            <a:off x="10575290" y="2902585"/>
            <a:ext cx="18415" cy="469265"/>
          </a:xfrm>
          <a:prstGeom prst="line">
            <a:avLst/>
          </a:prstGeom>
          <a:ln w="9525" cap="flat" cmpd="sng">
            <a:solidFill>
              <a:schemeClr val="tx1"/>
            </a:solidFill>
            <a:prstDash val="solid"/>
            <a:headEnd type="none" w="med" len="med"/>
            <a:tailEnd type="triangle" w="med" len="med"/>
          </a:ln>
        </p:spPr>
      </p:sp>
      <p:sp>
        <p:nvSpPr>
          <p:cNvPr id="49" name="Line 24"/>
          <p:cNvSpPr/>
          <p:nvPr>
            <p:custDataLst>
              <p:tags r:id="rId18"/>
            </p:custDataLst>
          </p:nvPr>
        </p:nvSpPr>
        <p:spPr>
          <a:xfrm>
            <a:off x="10563860" y="3712210"/>
            <a:ext cx="7620" cy="957580"/>
          </a:xfrm>
          <a:prstGeom prst="line">
            <a:avLst/>
          </a:prstGeom>
          <a:ln w="9525" cap="flat" cmpd="sng">
            <a:solidFill>
              <a:schemeClr val="tx1"/>
            </a:solidFill>
            <a:prstDash val="solid"/>
            <a:headEnd type="none" w="med" len="med"/>
            <a:tailEnd type="triangle" w="med" len="med"/>
          </a:ln>
        </p:spPr>
      </p:sp>
      <p:sp>
        <p:nvSpPr>
          <p:cNvPr id="50" name="Line 25"/>
          <p:cNvSpPr/>
          <p:nvPr>
            <p:custDataLst>
              <p:tags r:id="rId19"/>
            </p:custDataLst>
          </p:nvPr>
        </p:nvSpPr>
        <p:spPr>
          <a:xfrm>
            <a:off x="10571144" y="5517814"/>
            <a:ext cx="0" cy="381000"/>
          </a:xfrm>
          <a:prstGeom prst="line">
            <a:avLst/>
          </a:prstGeom>
          <a:ln w="9525" cap="flat" cmpd="sng">
            <a:solidFill>
              <a:schemeClr val="tx1"/>
            </a:solidFill>
            <a:prstDash val="solid"/>
            <a:headEnd type="none" w="med" len="med"/>
            <a:tailEnd type="triangle" w="med" len="med"/>
          </a:ln>
        </p:spPr>
      </p:sp>
      <p:sp>
        <p:nvSpPr>
          <p:cNvPr id="51" name="Freeform 26"/>
          <p:cNvSpPr/>
          <p:nvPr>
            <p:custDataLst>
              <p:tags r:id="rId20"/>
            </p:custDataLst>
          </p:nvPr>
        </p:nvSpPr>
        <p:spPr>
          <a:xfrm>
            <a:off x="8818544" y="3612814"/>
            <a:ext cx="685800" cy="381000"/>
          </a:xfrm>
          <a:custGeom>
            <a:avLst/>
            <a:gdLst>
              <a:gd name="txL" fmla="*/ 0 w 240"/>
              <a:gd name="txT" fmla="*/ 0 h 336"/>
              <a:gd name="txR" fmla="*/ 240 w 240"/>
              <a:gd name="txB" fmla="*/ 336 h 336"/>
            </a:gdLst>
            <a:ahLst/>
            <a:cxnLst>
              <a:cxn ang="0">
                <a:pos x="2147483646" y="0"/>
              </a:cxn>
              <a:cxn ang="0">
                <a:pos x="0" y="0"/>
              </a:cxn>
              <a:cxn ang="0">
                <a:pos x="0" y="2147483646"/>
              </a:cxn>
            </a:cxnLst>
            <a:rect l="txL" t="txT" r="txR" b="txB"/>
            <a:pathLst>
              <a:path w="240" h="336">
                <a:moveTo>
                  <a:pt x="240" y="0"/>
                </a:moveTo>
                <a:lnTo>
                  <a:pt x="0" y="0"/>
                </a:lnTo>
                <a:lnTo>
                  <a:pt x="0" y="33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52" name="Freeform 27"/>
          <p:cNvSpPr/>
          <p:nvPr>
            <p:custDataLst>
              <p:tags r:id="rId21"/>
            </p:custDataLst>
          </p:nvPr>
        </p:nvSpPr>
        <p:spPr>
          <a:xfrm>
            <a:off x="8818544" y="4451014"/>
            <a:ext cx="762000" cy="676275"/>
          </a:xfrm>
          <a:custGeom>
            <a:avLst/>
            <a:gdLst>
              <a:gd name="txL" fmla="*/ 0 w 480"/>
              <a:gd name="txT" fmla="*/ 0 h 528"/>
              <a:gd name="txR" fmla="*/ 480 w 480"/>
              <a:gd name="txB" fmla="*/ 528 h 528"/>
            </a:gdLst>
            <a:ahLst/>
            <a:cxnLst>
              <a:cxn ang="0">
                <a:pos x="0" y="0"/>
              </a:cxn>
              <a:cxn ang="0">
                <a:pos x="0" y="2147483646"/>
              </a:cxn>
              <a:cxn ang="0">
                <a:pos x="2147483646" y="2147483646"/>
              </a:cxn>
            </a:cxnLst>
            <a:rect l="txL" t="txT" r="txR" b="txB"/>
            <a:pathLst>
              <a:path w="480" h="528">
                <a:moveTo>
                  <a:pt x="0" y="0"/>
                </a:moveTo>
                <a:lnTo>
                  <a:pt x="0" y="528"/>
                </a:lnTo>
                <a:lnTo>
                  <a:pt x="480" y="528"/>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53" name="Freeform 28"/>
          <p:cNvSpPr/>
          <p:nvPr>
            <p:custDataLst>
              <p:tags r:id="rId22"/>
            </p:custDataLst>
          </p:nvPr>
        </p:nvSpPr>
        <p:spPr>
          <a:xfrm>
            <a:off x="8067657" y="3234989"/>
            <a:ext cx="1981200" cy="2519363"/>
          </a:xfrm>
          <a:custGeom>
            <a:avLst/>
            <a:gdLst>
              <a:gd name="txL" fmla="*/ 0 w 1248"/>
              <a:gd name="txT" fmla="*/ 0 h 2208"/>
              <a:gd name="txR" fmla="*/ 1248 w 1248"/>
              <a:gd name="txB" fmla="*/ 2208 h 2208"/>
            </a:gdLst>
            <a:ahLst/>
            <a:cxnLst>
              <a:cxn ang="0">
                <a:pos x="2147483646" y="2147483646"/>
              </a:cxn>
              <a:cxn ang="0">
                <a:pos x="2147483646" y="2147483646"/>
              </a:cxn>
              <a:cxn ang="0">
                <a:pos x="0" y="2147483646"/>
              </a:cxn>
              <a:cxn ang="0">
                <a:pos x="0" y="0"/>
              </a:cxn>
              <a:cxn ang="0">
                <a:pos x="2147483646" y="0"/>
              </a:cxn>
              <a:cxn ang="0">
                <a:pos x="2147483646" y="2147483646"/>
              </a:cxn>
            </a:cxnLst>
            <a:rect l="txL" t="txT" r="txR" b="txB"/>
            <a:pathLst>
              <a:path w="1248" h="2208">
                <a:moveTo>
                  <a:pt x="1056" y="2064"/>
                </a:moveTo>
                <a:lnTo>
                  <a:pt x="1056" y="2208"/>
                </a:lnTo>
                <a:lnTo>
                  <a:pt x="0" y="2208"/>
                </a:lnTo>
                <a:lnTo>
                  <a:pt x="0" y="0"/>
                </a:lnTo>
                <a:lnTo>
                  <a:pt x="1248" y="0"/>
                </a:lnTo>
                <a:lnTo>
                  <a:pt x="1248" y="96"/>
                </a:lnTo>
              </a:path>
            </a:pathLst>
          </a:custGeom>
          <a:noFill/>
          <a:ln w="9525" cap="flat" cmpd="sng">
            <a:solidFill>
              <a:schemeClr val="tx1">
                <a:alpha val="100000"/>
              </a:schemeClr>
            </a:solidFill>
            <a:prstDash val="solid"/>
            <a:round/>
            <a:headEnd type="none" w="med" len="med"/>
            <a:tailEnd type="triangle" w="med" len="med"/>
          </a:ln>
        </p:spPr>
        <p:txBody>
          <a:bodyPr/>
          <a:lstStyle/>
          <a:p>
            <a:endParaRPr lang="zh-CN" altLang="en-US" b="1"/>
          </a:p>
        </p:txBody>
      </p:sp>
      <p:sp>
        <p:nvSpPr>
          <p:cNvPr id="54" name="Text Box 29"/>
          <p:cNvSpPr txBox="1"/>
          <p:nvPr>
            <p:custDataLst>
              <p:tags r:id="rId23"/>
            </p:custDataLst>
          </p:nvPr>
        </p:nvSpPr>
        <p:spPr>
          <a:xfrm>
            <a:off x="9504344" y="2241214"/>
            <a:ext cx="2286000" cy="643890"/>
          </a:xfrm>
          <a:prstGeom prst="rect">
            <a:avLst/>
          </a:prstGeom>
          <a:noFill/>
          <a:ln w="9525" cap="flat" cmpd="sng">
            <a:solidFill>
              <a:schemeClr val="tx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Verdana" panose="020B0604030504040204" pitchFamily="34" charset="0"/>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Verdana" panose="020B0604030504040204" pitchFamily="34" charset="0"/>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Verdana" panose="020B0604030504040204" pitchFamily="34" charset="0"/>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mn-ea"/>
              </a:defRPr>
            </a:lvl5pPr>
          </a:lstStyle>
          <a:p>
            <a:pPr marL="0" lvl="0" indent="0" eaLnBrk="1" hangingPunct="1">
              <a:lnSpc>
                <a:spcPct val="90000"/>
              </a:lnSpc>
              <a:buNone/>
            </a:pPr>
            <a:r>
              <a:rPr lang="en-US" altLang="zh-CN" sz="1800" b="1" dirty="0">
                <a:solidFill>
                  <a:srgbClr val="FF3300"/>
                </a:solidFill>
                <a:latin typeface="Verdana" panose="020B0604030504040204" pitchFamily="34" charset="0"/>
              </a:rPr>
              <a:t>1)+    i     1    k</a:t>
            </a:r>
            <a:endParaRPr lang="en-US" altLang="zh-CN" sz="1800" b="1" dirty="0">
              <a:solidFill>
                <a:srgbClr val="FF3300"/>
              </a:solidFill>
              <a:latin typeface="Verdana" panose="020B0604030504040204" pitchFamily="34" charset="0"/>
            </a:endParaRPr>
          </a:p>
          <a:p>
            <a:pPr marL="0" lvl="0" indent="0" eaLnBrk="1" hangingPunct="1">
              <a:lnSpc>
                <a:spcPct val="90000"/>
              </a:lnSpc>
              <a:buNone/>
            </a:pPr>
            <a:r>
              <a:rPr lang="en-US" altLang="zh-CN" sz="1800" b="1" dirty="0">
                <a:solidFill>
                  <a:srgbClr val="FF3300"/>
                </a:solidFill>
                <a:latin typeface="Verdana" panose="020B0604030504040204" pitchFamily="34" charset="0"/>
              </a:rPr>
              <a:t>2)*    2     k    t</a:t>
            </a:r>
            <a:endParaRPr lang="en-US" altLang="zh-CN" sz="1800" b="1" dirty="0">
              <a:latin typeface="Verdana" panose="020B0604030504040204" pitchFamily="34" charset="0"/>
            </a:endParaRPr>
          </a:p>
        </p:txBody>
      </p:sp>
      <p:sp>
        <p:nvSpPr>
          <p:cNvPr id="55" name="Line 30"/>
          <p:cNvSpPr/>
          <p:nvPr>
            <p:custDataLst>
              <p:tags r:id="rId24"/>
            </p:custDataLst>
          </p:nvPr>
        </p:nvSpPr>
        <p:spPr>
          <a:xfrm>
            <a:off x="10571480" y="1795780"/>
            <a:ext cx="7620" cy="427355"/>
          </a:xfrm>
          <a:prstGeom prst="line">
            <a:avLst/>
          </a:prstGeom>
          <a:ln w="9525" cap="flat" cmpd="sng">
            <a:solidFill>
              <a:schemeClr val="tx1"/>
            </a:solidFill>
            <a:prstDash val="solid"/>
            <a:headEnd type="none" w="med" len="med"/>
            <a:tailEnd type="triangle" w="med" len="med"/>
          </a:ln>
        </p:spPr>
      </p:sp>
      <p:sp>
        <p:nvSpPr>
          <p:cNvPr id="5" name="文本占位符 4"/>
          <p:cNvSpPr>
            <a:spLocks noGrp="1"/>
          </p:cNvSpPr>
          <p:nvPr>
            <p:ph type="body" sz="quarter" idx="14"/>
            <p:custDataLst>
              <p:tags r:id="rId25"/>
            </p:custDataLst>
          </p:nvPr>
        </p:nvSpPr>
        <p:spPr>
          <a:xfrm>
            <a:off x="421005" y="276860"/>
            <a:ext cx="7880350" cy="593090"/>
          </a:xfrm>
        </p:spPr>
        <p:txBody>
          <a:bodyPr/>
          <a:lstStyle/>
          <a:p>
            <a:r>
              <a:rPr lang="en-US" altLang="zh-CN" dirty="0"/>
              <a:t>8.2.4.4 </a:t>
            </a:r>
            <a:r>
              <a:rPr dirty="0"/>
              <a:t>循环</a:t>
            </a:r>
            <a:r>
              <a:rPr lang="zh-CN" altLang="en-US" dirty="0"/>
              <a:t>优化实现</a:t>
            </a:r>
            <a:r>
              <a:rPr lang="en-US" altLang="zh-CN" dirty="0"/>
              <a:t>(</a:t>
            </a:r>
            <a:r>
              <a:rPr dirty="0"/>
              <a:t>续</a:t>
            </a:r>
            <a:r>
              <a:rPr lang="en-US" altLang="zh-CN"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barn(inHorizontal)">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barn(inHorizontal)">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barn(inHorizontal)">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barn(inHorizontal)">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4"/>
            <p:custDataLst>
              <p:tags r:id="rId1"/>
            </p:custDataLst>
          </p:nvPr>
        </p:nvSpPr>
        <p:spPr>
          <a:xfrm>
            <a:off x="421005" y="276860"/>
            <a:ext cx="7880350" cy="593090"/>
          </a:xfrm>
        </p:spPr>
        <p:txBody>
          <a:bodyPr/>
          <a:lstStyle/>
          <a:p>
            <a:r>
              <a:rPr lang="en-US" altLang="zh-CN" dirty="0"/>
              <a:t>8.2.4.4 </a:t>
            </a:r>
            <a:r>
              <a:rPr dirty="0"/>
              <a:t>总结</a:t>
            </a:r>
            <a:endParaRPr dirty="0"/>
          </a:p>
        </p:txBody>
      </p:sp>
      <p:sp>
        <p:nvSpPr>
          <p:cNvPr id="24" name="文本占位符 23"/>
          <p:cNvSpPr>
            <a:spLocks noGrp="1"/>
          </p:cNvSpPr>
          <p:nvPr>
            <p:custDataLst>
              <p:tags r:id="rId2"/>
            </p:custDataLst>
          </p:nvPr>
        </p:nvSpPr>
        <p:spPr>
          <a:xfrm>
            <a:off x="643203" y="1161659"/>
            <a:ext cx="6191250" cy="2838450"/>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Wingdings" panose="05000000000000000000" charset="0"/>
              <a:buChar char="p"/>
              <a:defRPr kumimoji="1" lang="zh-CN" altLang="en-US" sz="2800" kern="1200" dirty="0">
                <a:solidFill>
                  <a:srgbClr val="034EA2"/>
                </a:solidFill>
                <a:latin typeface="+mn-ea"/>
                <a:ea typeface="+mn-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ü"/>
            </a:pPr>
            <a:r>
              <a:rPr lang="en-US" altLang="zh-CN" b="1" dirty="0">
                <a:solidFill>
                  <a:srgbClr val="0070C0"/>
                </a:solidFill>
              </a:rPr>
              <a:t>8.1 </a:t>
            </a:r>
            <a:r>
              <a:rPr lang="zh-CN" altLang="en-US" b="1" dirty="0">
                <a:solidFill>
                  <a:srgbClr val="0070C0"/>
                </a:solidFill>
              </a:rPr>
              <a:t>基本块的优化</a:t>
            </a:r>
            <a:endParaRPr lang="zh-CN" altLang="en-US" b="1" dirty="0">
              <a:solidFill>
                <a:srgbClr val="0070C0"/>
              </a:solidFill>
            </a:endParaRPr>
          </a:p>
          <a:p>
            <a:r>
              <a:rPr lang="en-US" altLang="zh-CN" b="1" dirty="0">
                <a:solidFill>
                  <a:schemeClr val="tx1"/>
                </a:solidFill>
              </a:rPr>
              <a:t>8.2 </a:t>
            </a:r>
            <a:r>
              <a:rPr lang="zh-CN" altLang="en-US" b="1" dirty="0">
                <a:solidFill>
                  <a:schemeClr val="tx1"/>
                </a:solidFill>
              </a:rPr>
              <a:t>与循环有关的优化</a:t>
            </a:r>
            <a:endParaRPr lang="zh-CN" altLang="en-US" b="1" dirty="0">
              <a:solidFill>
                <a:schemeClr val="tx1"/>
              </a:solidFill>
            </a:endParaRPr>
          </a:p>
          <a:p>
            <a:endParaRPr lang="zh-CN" altLang="en-US" b="1" dirty="0">
              <a:solidFill>
                <a:schemeClr val="tx1"/>
              </a:solidFill>
            </a:endParaRPr>
          </a:p>
        </p:txBody>
      </p:sp>
      <p:sp>
        <p:nvSpPr>
          <p:cNvPr id="30" name="文本框 29"/>
          <p:cNvSpPr txBox="1"/>
          <p:nvPr>
            <p:custDataLst>
              <p:tags r:id="rId3"/>
            </p:custDataLst>
          </p:nvPr>
        </p:nvSpPr>
        <p:spPr>
          <a:xfrm>
            <a:off x="704215" y="2929890"/>
            <a:ext cx="10988675" cy="1348105"/>
          </a:xfrm>
          <a:prstGeom prst="rect">
            <a:avLst/>
          </a:prstGeom>
          <a:noFill/>
        </p:spPr>
        <p:txBody>
          <a:bodyPr wrap="square" lIns="90000" tIns="46800" rIns="90000" bIns="46800" rtlCol="0" anchor="t" anchorCtr="0">
            <a:spAutoFit/>
          </a:bodyPr>
          <a:p>
            <a:pPr marL="285750" marR="0" lvl="0" indent="-285750" algn="l" defTabSz="457200" rtl="0" eaLnBrk="0" fontAlgn="auto" latinLnBrk="0" hangingPunct="0">
              <a:lnSpc>
                <a:spcPct val="120000"/>
              </a:lnSpc>
              <a:spcBef>
                <a:spcPts val="0"/>
              </a:spcBef>
              <a:spcAft>
                <a:spcPts val="0"/>
              </a:spcAft>
              <a:buClrTx/>
              <a:buSzTx/>
              <a:buFont typeface="Wingdings" panose="05000000000000000000" pitchFamily="2" charset="2"/>
              <a:buChar char="u"/>
              <a:defRPr/>
            </a:pPr>
            <a:r>
              <a:rPr kumimoji="0" lang="zh-CN" altLang="en-US"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中文顶刊</a:t>
            </a:r>
            <a:r>
              <a:rPr kumimoji="0" lang="zh-CN" altLang="en-US"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软件学报发表</a:t>
            </a:r>
            <a:r>
              <a:rPr kumimoji="0" lang="zh-CN" altLang="en-US"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论文</a:t>
            </a:r>
            <a:r>
              <a:rPr kumimoji="0" lang="zh-CN" altLang="en-US"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：基于 </a:t>
            </a:r>
            <a:r>
              <a:rPr kumimoji="0" lang="en-US" altLang="zh-CN"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LLVM Pass </a:t>
            </a:r>
            <a:r>
              <a:rPr kumimoji="0" lang="zh-CN" altLang="en-US"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的复杂嵌套循环自动并行化框架（针对嵌入式软件优化）</a:t>
            </a:r>
            <a:endParaRPr kumimoji="0" lang="zh-CN" altLang="en-US"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marL="742950" marR="0" lvl="1" indent="-285750" algn="l" defTabSz="457200" rtl="0" eaLnBrk="0" fontAlgn="auto" latinLnBrk="0" hangingPunct="0">
              <a:lnSpc>
                <a:spcPct val="150000"/>
              </a:lnSpc>
              <a:spcBef>
                <a:spcPts val="0"/>
              </a:spcBef>
              <a:spcAft>
                <a:spcPts val="0"/>
              </a:spcAft>
              <a:buClrTx/>
              <a:buSzTx/>
              <a:buFont typeface="Wingdings" panose="05000000000000000000" pitchFamily="2" charset="2"/>
              <a:buChar char="Ø"/>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与业界和学术届广泛认可的并行优化技术</a:t>
            </a:r>
            <a:r>
              <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Polly</a:t>
            </a: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相比，</a:t>
            </a:r>
            <a:r>
              <a:rPr kumimoji="0" lang="zh-CN" altLang="en-US"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嵌入式软件执行时间最高提升至</a:t>
            </a:r>
            <a:r>
              <a:rPr kumimoji="0" lang="en-US" altLang="zh-CN"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43%</a:t>
            </a:r>
            <a:endParaRPr kumimoji="0" lang="en-US" altLang="zh-CN" sz="2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endParaRPr>
          </a:p>
          <a:p>
            <a:pPr marL="742950" marR="0" lvl="1" indent="-285750" algn="l" defTabSz="457200" rtl="0" eaLnBrk="0" fontAlgn="auto" latinLnBrk="0" hangingPunct="0">
              <a:lnSpc>
                <a:spcPct val="150000"/>
              </a:lnSpc>
              <a:spcBef>
                <a:spcPts val="0"/>
              </a:spcBef>
              <a:spcAft>
                <a:spcPts val="0"/>
              </a:spcAft>
              <a:buClrTx/>
              <a:buSzTx/>
              <a:buFont typeface="Wingdings" panose="05000000000000000000" pitchFamily="2" charset="2"/>
              <a:buChar char="Ø"/>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近</a:t>
            </a:r>
            <a:r>
              <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5</a:t>
            </a: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年</a:t>
            </a:r>
            <a:r>
              <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125</a:t>
            </a: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篇研究论文和</a:t>
            </a:r>
            <a:r>
              <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1886</a:t>
            </a: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个开源项目都基于</a:t>
            </a:r>
            <a:r>
              <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Polly</a:t>
            </a: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进行扩展</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PLACING_PICTURE_USER_VIEWPORT" val="{&quot;height&quot;:2884,&quot;width&quot;:2884}"/>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DIAGRAM_VIRTUALLY_FRAME" val="{&quot;height&quot;:320.7500393547418,&quot;left&quot;:130.58818897637792,&quot;top&quot;:130.9411023622047,&quot;width&quot;:438}"/>
</p:tagLst>
</file>

<file path=ppt/tags/tag149.xml><?xml version="1.0" encoding="utf-8"?>
<p:tagLst xmlns:p="http://schemas.openxmlformats.org/presentationml/2006/main">
  <p:tag name="KSO_WM_DIAGRAM_VIRTUALLY_FRAME" val="{&quot;height&quot;:320.7500393547418,&quot;left&quot;:130.58818897637792,&quot;top&quot;:130.9411023622047,&quot;width&quot;:438}"/>
</p:tagLst>
</file>

<file path=ppt/tags/tag150.xml><?xml version="1.0" encoding="utf-8"?>
<p:tagLst xmlns:p="http://schemas.openxmlformats.org/presentationml/2006/main">
  <p:tag name="KSO_WM_DIAGRAM_VIRTUALLY_FRAME" val="{&quot;height&quot;:320.7500393547418,&quot;left&quot;:130.58818897637792,&quot;top&quot;:130.9411023622047,&quot;width&quot;:438}"/>
</p:tagLst>
</file>

<file path=ppt/tags/tag151.xml><?xml version="1.0" encoding="utf-8"?>
<p:tagLst xmlns:p="http://schemas.openxmlformats.org/presentationml/2006/main">
  <p:tag name="KSO_WM_DIAGRAM_VIRTUALLY_FRAME" val="{&quot;height&quot;:320.7500393547418,&quot;left&quot;:130.58818897637792,&quot;top&quot;:130.9411023622047,&quot;width&quot;:438}"/>
</p:tagLst>
</file>

<file path=ppt/tags/tag152.xml><?xml version="1.0" encoding="utf-8"?>
<p:tagLst xmlns:p="http://schemas.openxmlformats.org/presentationml/2006/main">
  <p:tag name="KSO_WM_DIAGRAM_VIRTUALLY_FRAME" val="{&quot;height&quot;:320.7500393547418,&quot;left&quot;:130.58818897637792,&quot;top&quot;:130.9411023622047,&quot;width&quot;:438}"/>
</p:tagLst>
</file>

<file path=ppt/tags/tag153.xml><?xml version="1.0" encoding="utf-8"?>
<p:tagLst xmlns:p="http://schemas.openxmlformats.org/presentationml/2006/main">
  <p:tag name="KSO_WM_DIAGRAM_VIRTUALLY_FRAME" val="{&quot;height&quot;:320.7500393547418,&quot;left&quot;:130.58818897637792,&quot;top&quot;:130.9411023622047,&quot;width&quot;:438}"/>
</p:tagLst>
</file>

<file path=ppt/tags/tag154.xml><?xml version="1.0" encoding="utf-8"?>
<p:tagLst xmlns:p="http://schemas.openxmlformats.org/presentationml/2006/main">
  <p:tag name="KSO_WM_DIAGRAM_VIRTUALLY_FRAME" val="{&quot;height&quot;:320.7500393547418,&quot;left&quot;:130.58818897637792,&quot;top&quot;:130.9411023622047,&quot;width&quot;:438}"/>
</p:tagLst>
</file>

<file path=ppt/tags/tag155.xml><?xml version="1.0" encoding="utf-8"?>
<p:tagLst xmlns:p="http://schemas.openxmlformats.org/presentationml/2006/main">
  <p:tag name="KSO_WM_DIAGRAM_VIRTUALLY_FRAME" val="{&quot;height&quot;:320.7500393547418,&quot;left&quot;:130.58818897637792,&quot;top&quot;:130.9411023622047,&quot;width&quot;:438}"/>
</p:tagLst>
</file>

<file path=ppt/tags/tag156.xml><?xml version="1.0" encoding="utf-8"?>
<p:tagLst xmlns:p="http://schemas.openxmlformats.org/presentationml/2006/main">
  <p:tag name="KSO_WM_DIAGRAM_VIRTUALLY_FRAME" val="{&quot;height&quot;:320.7500393547418,&quot;left&quot;:130.58818897637792,&quot;top&quot;:130.9411023622047,&quot;width&quot;:438}"/>
</p:tagLst>
</file>

<file path=ppt/tags/tag157.xml><?xml version="1.0" encoding="utf-8"?>
<p:tagLst xmlns:p="http://schemas.openxmlformats.org/presentationml/2006/main">
  <p:tag name="KSO_WM_DIAGRAM_VIRTUALLY_FRAME" val="{&quot;height&quot;:320.7500393547418,&quot;left&quot;:130.58818897637792,&quot;top&quot;:130.9411023622047,&quot;width&quot;:438}"/>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PP_MARK_KEY" val="b664c2ca-ef45-4def-9e1d-5ff5850dfb86"/>
  <p:tag name="COMMONDATA" val="eyJoZGlkIjoiMzJjODM0ODFlMzJmZDYxYTU5ZjM3ODk5NzI1YjE1OD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9651</Words>
  <Application>WPS 演示</Application>
  <PresentationFormat>全屏显示(4:3)</PresentationFormat>
  <Paragraphs>817</Paragraphs>
  <Slides>41</Slides>
  <Notes>24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41</vt:i4>
      </vt:variant>
    </vt:vector>
  </HeadingPairs>
  <TitlesOfParts>
    <vt:vector size="56" baseType="lpstr">
      <vt:lpstr>Arial</vt:lpstr>
      <vt:lpstr>宋体</vt:lpstr>
      <vt:lpstr>Wingdings</vt:lpstr>
      <vt:lpstr>微软雅黑</vt:lpstr>
      <vt:lpstr>Wingdings</vt:lpstr>
      <vt:lpstr>Times New Roman</vt:lpstr>
      <vt:lpstr>等线</vt:lpstr>
      <vt:lpstr>等线 Light</vt:lpstr>
      <vt:lpstr>Verdana</vt:lpstr>
      <vt:lpstr>Courier New</vt:lpstr>
      <vt:lpstr>Calibri</vt:lpstr>
      <vt:lpstr>Calibri Light</vt:lpstr>
      <vt:lpstr>Arial Unicode MS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Wren</dc:creator>
  <cp:lastModifiedBy>马春燕</cp:lastModifiedBy>
  <cp:revision>164</cp:revision>
  <dcterms:created xsi:type="dcterms:W3CDTF">2024-03-16T07:28:00Z</dcterms:created>
  <dcterms:modified xsi:type="dcterms:W3CDTF">2026-04-13T09:41:41Z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300AD75432AD4E00A349D817116A2809_13</vt:lpwstr>
  </property>
  <property fmtid="{D5CDD505-2E9C-101B-9397-08002B2CF9AE}" pid="3" name="KSOProductBuildVer">
    <vt:lpwstr>2052-11.1.0.13703</vt:lpwstr>
  </property>
</Properties>
</file>