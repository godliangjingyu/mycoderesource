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1004" r:id="rId3"/>
    <p:sldId id="541" r:id="rId4"/>
    <p:sldId id="846" r:id="rId5"/>
    <p:sldId id="869" r:id="rId6"/>
    <p:sldId id="867" r:id="rId7"/>
    <p:sldId id="870" r:id="rId8"/>
    <p:sldId id="872" r:id="rId9"/>
    <p:sldId id="873" r:id="rId10"/>
    <p:sldId id="881" r:id="rId11"/>
    <p:sldId id="883" r:id="rId12"/>
    <p:sldId id="884" r:id="rId13"/>
    <p:sldId id="885" r:id="rId14"/>
    <p:sldId id="886" r:id="rId15"/>
    <p:sldId id="888" r:id="rId16"/>
    <p:sldId id="889" r:id="rId17"/>
    <p:sldId id="891" r:id="rId18"/>
    <p:sldId id="892" r:id="rId19"/>
    <p:sldId id="893" r:id="rId20"/>
    <p:sldId id="897" r:id="rId21"/>
    <p:sldId id="898" r:id="rId22"/>
    <p:sldId id="900" r:id="rId23"/>
    <p:sldId id="901" r:id="rId24"/>
    <p:sldId id="910" r:id="rId25"/>
    <p:sldId id="904" r:id="rId26"/>
    <p:sldId id="905" r:id="rId27"/>
    <p:sldId id="906" r:id="rId28"/>
    <p:sldId id="912" r:id="rId29"/>
    <p:sldId id="913" r:id="rId30"/>
    <p:sldId id="874" r:id="rId31"/>
    <p:sldId id="914" r:id="rId32"/>
    <p:sldId id="915" r:id="rId33"/>
    <p:sldId id="917" r:id="rId34"/>
    <p:sldId id="920" r:id="rId35"/>
    <p:sldId id="919" r:id="rId36"/>
    <p:sldId id="922" r:id="rId37"/>
    <p:sldId id="925" r:id="rId38"/>
    <p:sldId id="926" r:id="rId39"/>
    <p:sldId id="927" r:id="rId40"/>
    <p:sldId id="851" r:id="rId41"/>
    <p:sldId id="928" r:id="rId42"/>
    <p:sldId id="929" r:id="rId43"/>
    <p:sldId id="930" r:id="rId44"/>
    <p:sldId id="931" r:id="rId45"/>
    <p:sldId id="853" r:id="rId46"/>
    <p:sldId id="854" r:id="rId47"/>
    <p:sldId id="939" r:id="rId48"/>
    <p:sldId id="940" r:id="rId49"/>
    <p:sldId id="942" r:id="rId50"/>
    <p:sldId id="945" r:id="rId51"/>
    <p:sldId id="946" r:id="rId52"/>
    <p:sldId id="948" r:id="rId53"/>
    <p:sldId id="949" r:id="rId54"/>
    <p:sldId id="951" r:id="rId55"/>
    <p:sldId id="952" r:id="rId56"/>
    <p:sldId id="953" r:id="rId57"/>
    <p:sldId id="858" r:id="rId58"/>
    <p:sldId id="954" r:id="rId59"/>
    <p:sldId id="957" r:id="rId60"/>
    <p:sldId id="958" r:id="rId61"/>
    <p:sldId id="960" r:id="rId62"/>
    <p:sldId id="962" r:id="rId63"/>
    <p:sldId id="965" r:id="rId64"/>
    <p:sldId id="967" r:id="rId65"/>
    <p:sldId id="974" r:id="rId66"/>
    <p:sldId id="977" r:id="rId67"/>
    <p:sldId id="979" r:id="rId68"/>
    <p:sldId id="981" r:id="rId69"/>
    <p:sldId id="985" r:id="rId70"/>
    <p:sldId id="986" r:id="rId71"/>
    <p:sldId id="987" r:id="rId72"/>
    <p:sldId id="1001" r:id="rId73"/>
    <p:sldId id="1000" r:id="rId74"/>
    <p:sldId id="1005" r:id="rId75"/>
  </p:sldIdLst>
  <p:sldSz cx="12192000" cy="6858000"/>
  <p:notesSz cx="6858000" cy="9144000"/>
  <p:custDataLst>
    <p:tags r:id="rId8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ren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6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228"/>
    </p:cViewPr>
  </p:sorterViewPr>
  <p:notesViewPr>
    <p:cSldViewPr snapToGrid="0">
      <p:cViewPr varScale="1">
        <p:scale>
          <a:sx n="75" d="100"/>
          <a:sy n="75" d="100"/>
        </p:scale>
        <p:origin x="344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2" Type="http://schemas.openxmlformats.org/officeDocument/2006/relationships/tags" Target="tags/tag206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6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notesMaster" Target="notesMasters/notesMaster1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7FCD3D-6EA8-4491-9D4B-132C61DBA9E2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EEAE76C-3AA6-4DA7-A385-3753141FCEE9}">
      <dgm:prSet custT="1"/>
      <dgm:spPr/>
      <dgm:t>
        <a:bodyPr/>
        <a:lstStyle/>
        <a:p>
          <a:pPr rtl="0"/>
          <a:r>
            <a:rPr kumimoji="1" lang="zh-CN" sz="3200" b="1" i="0" baseline="0" dirty="0"/>
            <a:t>定义</a:t>
          </a:r>
          <a:endParaRPr kumimoji="1" lang="zh-CN" altLang="en-US" sz="3200" b="1" i="0" baseline="0" dirty="0"/>
        </a:p>
      </dgm:t>
    </dgm:pt>
    <dgm:pt modelId="{DDCF185C-C680-4BBE-A198-E7DB3086817D}" cxnId="{25D5D0FA-E86C-4C4C-B510-0EBAE4ED1160}" type="parTrans">
      <dgm:prSet/>
      <dgm:spPr/>
      <dgm:t>
        <a:bodyPr/>
        <a:lstStyle/>
        <a:p>
          <a:endParaRPr lang="zh-CN" altLang="en-US"/>
        </a:p>
      </dgm:t>
    </dgm:pt>
    <dgm:pt modelId="{468B6DD9-1B44-4EF7-B09C-A557D2AF18E2}" cxnId="{25D5D0FA-E86C-4C4C-B510-0EBAE4ED1160}" type="sibTrans">
      <dgm:prSet/>
      <dgm:spPr/>
      <dgm:t>
        <a:bodyPr/>
        <a:lstStyle/>
        <a:p>
          <a:endParaRPr lang="zh-CN" altLang="en-US"/>
        </a:p>
      </dgm:t>
    </dgm:pt>
    <dgm:pt modelId="{3BB9D03A-FAEB-43AB-9C8E-019901C613BC}" type="pres">
      <dgm:prSet presAssocID="{C17FCD3D-6EA8-4491-9D4B-132C61DBA9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160D8-F15F-4CB7-93AF-6CEC273C33B9}" type="pres">
      <dgm:prSet presAssocID="{0EEAE76C-3AA6-4DA7-A385-3753141FCEE9}" presName="parentText" presStyleLbl="node1" presStyleIdx="0" presStyleCnt="1" custLinFactNeighborX="-12171" custLinFactNeighborY="-22577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B442D14-1266-42FB-9460-D4E93A523B1E}" type="presOf" srcId="{0EEAE76C-3AA6-4DA7-A385-3753141FCEE9}" destId="{FC4160D8-F15F-4CB7-93AF-6CEC273C33B9}" srcOrd="0" destOrd="0" presId="urn:microsoft.com/office/officeart/2005/8/layout/vList2"/>
    <dgm:cxn modelId="{601D30FB-602A-4CC2-BE5E-6020776195F3}" type="presOf" srcId="{C17FCD3D-6EA8-4491-9D4B-132C61DBA9E2}" destId="{3BB9D03A-FAEB-43AB-9C8E-019901C613BC}" srcOrd="0" destOrd="0" presId="urn:microsoft.com/office/officeart/2005/8/layout/vList2"/>
    <dgm:cxn modelId="{25D5D0FA-E86C-4C4C-B510-0EBAE4ED1160}" srcId="{C17FCD3D-6EA8-4491-9D4B-132C61DBA9E2}" destId="{0EEAE76C-3AA6-4DA7-A385-3753141FCEE9}" srcOrd="0" destOrd="0" parTransId="{DDCF185C-C680-4BBE-A198-E7DB3086817D}" sibTransId="{468B6DD9-1B44-4EF7-B09C-A557D2AF18E2}"/>
    <dgm:cxn modelId="{F7D589F8-EBF8-4592-9DBB-80AE5B07FB19}" type="presParOf" srcId="{3BB9D03A-FAEB-43AB-9C8E-019901C613BC}" destId="{FC4160D8-F15F-4CB7-93AF-6CEC273C33B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080115" cy="588645"/>
        <a:chOff x="0" y="0"/>
        <a:chExt cx="11080115" cy="588645"/>
      </a:xfrm>
    </dsp:grpSpPr>
    <dsp:sp modelId="{FC4160D8-F15F-4CB7-93AF-6CEC273C33B9}">
      <dsp:nvSpPr>
        <dsp:cNvPr id="3" name="圆角矩形 2"/>
        <dsp:cNvSpPr/>
      </dsp:nvSpPr>
      <dsp:spPr bwMode="white">
        <a:xfrm>
          <a:off x="0" y="0"/>
          <a:ext cx="11080115" cy="58864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sz="3200" b="1" i="0" baseline="0" dirty="0"/>
            <a:t>定义</a:t>
          </a:r>
          <a:endParaRPr kumimoji="1" lang="zh-CN" altLang="en-US" sz="3200" b="1" i="0" baseline="0" dirty="0"/>
        </a:p>
      </dsp:txBody>
      <dsp:txXfrm>
        <a:off x="0" y="0"/>
        <a:ext cx="11080115" cy="588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EA3E2-C87F-4A69-AA9B-977CB6B7875A}" type="datetimeFigureOut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2114A-053A-4019-867C-6DA91B73B33C}" type="slidenum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8-04-17T01:31:44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0,'0'47,"0"-47,25 24,24-24,26 0,-1 0,1 0,-26 0,26 0,-1 0,-24 0,-1 0,1 0,0 0,-50 0,24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8-04-17T01:33:26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0,'0'0,"0"25,25-25,-25 0,49 0,26 0,-26 0,125 24,-75 1,50 0,0 0,25-25,-26 0,-24 0,-24 0,48 25,-73-25,-1 0,1 0,-50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32" units="1/cm"/>
          <inkml:channelProperty channel="Y" name="resolution" value="32" units="1/cm"/>
        </inkml:channelProperties>
      </inkml:inkSource>
      <inkml:timestamp xml:id="ts0" timeString="2018-04-17T01:33:2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0,'0'0,"24"0,51 25,0-25,0 0,-26 25,51 25,-50-50,-25 0,49 0,-24 0,-25 0,0 0,50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1-03-08T12:32:2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fitToCurve" value="1"/>
    </inkml:brush>
  </inkml:definitions>
  <inkml:trace contextRef="#ctx0" brushRef="#br0">0 227,'0'0,"24"0,-24 0,25-22,50 22,-1 0,25 0,25 0,0 0,0 0,25 22,0 0,-50-22,-49 0,24 0,-49 0,-25 0,25 0,0 0,-25 0,24 0,1 0,0 0,0 0,0 0,-25-22,24 22,1 0,0 0,0 0,0-22,-1 22,1 0,0 0,25-22,-50 22,25-23,-1 23,1 0,-25 0,0 0,25 0,0-22,24 22,-49 0,25 0,25 0,-50 0,49 0,1 0,-25 0,-25-23,49 23,1 0,-50 0,50 0,-26 0,1 0,0 0,0 0,0 0,-25-21,49 21,1 0,-25 0,-1 0,51 0,-26 0,-24 0,50 0,-26 0,26 0,-50 0,-25 0,49 0,-24 0,0 0,25 0,0 0,-25 0,24 0,1 0,0 0,-26 0,1 0,25 0,-1 0,-24 0,25 0,24 0,-24 0,-1-23,-24 23,25 0,-50 0,25 0,-1-22,1 22,25 0,-25 0,0 0,24 0,-24 0,0 0,0 0,-1 0,-24 0,25 0,-25 0,25 0,-25 0,25 0,0 0,-25 0,24 0,1 0,0 0,25 0,-26 0,1 0,25 0,-25 0,-25 0,49 0,-49 0,25 0,-25 0,25 0,24 0,-24 0,25 0,-1 0,-24 0,25 0,-1 0,26 0,-26 0,-49 0,50 0,-25 0,25 0,-1 0,26 0,-26 0,26 0,-26 0,1 0,-1 0,-24 0,0 0,0 0,-25 0,49 0,-49 0,25 0,0 0,0 0,24 0,-49 0,50 0,-25 0,24 0,-49 0,50 0,-25 0,0 0,24 0,-24 0,25 0,24 0,-24 22,24-22,25 23,-74-23,0 0,25 0,-50 0,24 0,1 0,0 0,25 0,-26 0,26 0,0 0,-1 0,-24 0,25 0,-26 0,26 21,-25-21,0 0,49 0,-24 0,-25 0,-1 0,51 0,-50 0,-25 0,49 0,-24 0,0 0,24 0,-24 0,-25 0,50 0,-50 0,25 0,-1 0,1 0,-25 0,0 0,25 0,49 0,-49 0,0 0,0 0,24 0,-24 0,-25-21,25 21,25 0,-50 0,49 0,-49 0,25 0,25 0,-26-23,1 23,25 0,-25 0,0 0,-25 0,24 0,1 0,0 0,-25 0,25 0,0-22,-1 22,26 0,-50 0,25 0,0 0,-1 0,1 0,0-23,25 23,-1 0,-24 0,25 0,-26 0,26 0,-25 0,0 0,-1 0,-24 0,51 0,-51 0,25 0,24 0,-24 0,25 0,-1 0,-24 0,0 0,25 0,-1 0,1 0,0 0,24 0,-49 0,24 0,1 0,-25 0,0 0,-25 0,49 0,-24 0,0 0,24 0,1 0,0 0,-26 0,26 0,-50 0,25 0,-25 0,25 0,-25 0,24 0,1 0,-25 0,25 0,-25 0,50 0,-50 0,24 0,-24 0,25 0,0 0,-25 0,25 0,24 0,-24 0,0 0,0 0,0 0,0 0,-25 0,24 0,1 0,0 0,0 0,-25 0,49 0,-49 0,25 0,-25 0,25 0,0 0,0 0,-25 0,24 0,1 0,25 0,-25 0,-25 0,24 0,1 0,-25 0,25 0,0 0,0 0,-25 0,24 0,-24 0,50 0,-50 0,25 0,-25 0,25 0,-1 0,1 0,-25 0,25 0,0 0,-25 0,25 0,-25 0,24 0,-24 0,25 0,0 0,0 0,0 0,-1 0,-24 0,25 0,-25 0,25 0,0 0,0 0,-1 0,1 0,0 0,-25 0,50 0,-25 0,-1 0,26 0,24 0,-24 0,0 0,-26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5667B0C-C5AB-457F-8F1A-FBF93A90A4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4E0A2A6-A786-4185-BFBE-5D2240968A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7" Type="http://schemas.openxmlformats.org/officeDocument/2006/relationships/image" Target="../media/image2.png"/><Relationship Id="rId6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tags" Target="../tags/tag12.xml"/><Relationship Id="rId4" Type="http://schemas.openxmlformats.org/officeDocument/2006/relationships/image" Target="../media/image1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pic>
        <p:nvPicPr>
          <p:cNvPr id="10" name="西北工业大学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1" name="校徽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cxnSp>
        <p:nvCxnSpPr>
          <p:cNvPr id="13" name="直线连接符 12"/>
          <p:cNvCxnSpPr/>
          <p:nvPr userDrawn="1"/>
        </p:nvCxnSpPr>
        <p:spPr>
          <a:xfrm>
            <a:off x="1134464" y="1936216"/>
            <a:ext cx="9730740" cy="5080"/>
          </a:xfrm>
          <a:prstGeom prst="line">
            <a:avLst/>
          </a:prstGeom>
          <a:ln w="19050">
            <a:solidFill>
              <a:srgbClr val="034D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5" name="页脚占位符 1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6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cxnSp>
        <p:nvCxnSpPr>
          <p:cNvPr id="17" name="直线连接符 9"/>
          <p:cNvCxnSpPr/>
          <p:nvPr userDrawn="1">
            <p:custDataLst>
              <p:tags r:id="rId7"/>
            </p:custDataLst>
          </p:nvPr>
        </p:nvCxnSpPr>
        <p:spPr>
          <a:xfrm>
            <a:off x="0" y="6333977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1134464" y="1326526"/>
            <a:ext cx="6129867" cy="511118"/>
          </a:xfrm>
        </p:spPr>
        <p:txBody>
          <a:bodyPr>
            <a:normAutofit/>
          </a:bodyPr>
          <a:lstStyle>
            <a:lvl1pPr marL="0" indent="0">
              <a:buNone/>
              <a:defRPr kumimoji="1" lang="zh-CN" altLang="en-US" sz="3200" b="1" kern="1200" dirty="0">
                <a:solidFill>
                  <a:srgbClr val="03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第</a:t>
            </a:r>
            <a:r>
              <a:rPr lang="en-US" altLang="zh-CN" dirty="0"/>
              <a:t> </a:t>
            </a:r>
            <a:r>
              <a:rPr lang="zh-CN" altLang="en-US" dirty="0"/>
              <a:t>单元 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1134464" y="2106539"/>
            <a:ext cx="8255000" cy="283845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800" kern="1200" dirty="0">
                <a:solidFill>
                  <a:srgbClr val="034EA2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en-US" altLang="zh-CN" dirty="0"/>
              <a:t>1.1 </a:t>
            </a:r>
            <a:endParaRPr lang="en-US" altLang="zh-CN" dirty="0"/>
          </a:p>
          <a:p>
            <a:pPr lvl="0"/>
            <a:r>
              <a:rPr lang="en-US" altLang="zh-CN" dirty="0"/>
              <a:t>1.2 </a:t>
            </a:r>
            <a:endParaRPr lang="en-US" altLang="zh-CN" dirty="0"/>
          </a:p>
          <a:p>
            <a:pPr lvl="0"/>
            <a:r>
              <a:rPr lang="en-US" altLang="zh-CN" dirty="0"/>
              <a:t>1.3</a:t>
            </a:r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 hasCustomPrompt="1"/>
          </p:nvPr>
        </p:nvSpPr>
        <p:spPr>
          <a:xfrm>
            <a:off x="228531" y="263977"/>
            <a:ext cx="2653249" cy="589645"/>
          </a:xfrm>
        </p:spPr>
        <p:txBody>
          <a:bodyPr/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培养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630767" y="1339215"/>
            <a:ext cx="10670540" cy="6394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zh-CN" altLang="en-US" sz="2800" b="1" dirty="0">
                <a:cs typeface="等线 Light" panose="02010600030101010101" charset="-122"/>
              </a:rPr>
              <a:t>本节培养目标</a:t>
            </a:r>
            <a:endParaRPr kumimoji="1" lang="zh-CN" altLang="en-US" sz="2800" b="1" dirty="0">
              <a:cs typeface="等线 Light" panose="02010600030101010101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3" name="西北工业大学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4" name="校徽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16" name="卷形: 水平 1"/>
          <p:cNvSpPr/>
          <p:nvPr userDrawn="1">
            <p:custDataLst>
              <p:tags r:id="rId8"/>
            </p:custDataLst>
          </p:nvPr>
        </p:nvSpPr>
        <p:spPr>
          <a:xfrm>
            <a:off x="838200" y="1729105"/>
            <a:ext cx="10325100" cy="3736340"/>
          </a:xfrm>
          <a:prstGeom prst="horizontalScroll">
            <a:avLst>
              <a:gd name="adj" fmla="val 12500"/>
            </a:avLst>
          </a:prstGeom>
          <a:noFill/>
          <a:ln w="25400" cap="flat" cmpd="sng">
            <a:solidFill>
              <a:schemeClr val="hlink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469900" indent="-46990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1911351" y="2498725"/>
            <a:ext cx="9076267" cy="21971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lang="zh-CN" altLang="en-US" sz="2400" b="1" kern="10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第一级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 </a:t>
            </a:r>
            <a:r>
              <a:rPr lang="zh-CN" altLang="en-US" dirty="0"/>
              <a:t>章节名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1" name="西北工业大学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2" name="校徽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1.1.1 </a:t>
            </a:r>
            <a:r>
              <a:rPr lang="zh-CN" altLang="en-US" dirty="0"/>
              <a:t>小节名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524087" y="1248410"/>
            <a:ext cx="4229947" cy="515619"/>
          </a:xfr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级标题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6" hasCustomPrompt="1"/>
          </p:nvPr>
        </p:nvSpPr>
        <p:spPr>
          <a:xfrm>
            <a:off x="529167" y="1910398"/>
            <a:ext cx="11163300" cy="4293551"/>
          </a:xfrm>
        </p:spPr>
        <p:txBody>
          <a:bodyPr>
            <a:normAutofit/>
          </a:bodyPr>
          <a:lstStyle>
            <a:lvl1pPr marL="2286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 marL="6858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11430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  <a:lvl4pPr marL="16002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4pPr>
            <a:lvl5pPr marL="20574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等线 Light" panose="0201060003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ocs.oracle.com/javase/specs/jls/se13/html/jls-3.html" TargetMode="Externa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slide" Target="slide1.xml"/><Relationship Id="rId4" Type="http://schemas.openxmlformats.org/officeDocument/2006/relationships/slide" Target="slide25.xml"/><Relationship Id="rId3" Type="http://schemas.openxmlformats.org/officeDocument/2006/relationships/slide" Target="slide20.xml"/><Relationship Id="rId2" Type="http://schemas.openxmlformats.org/officeDocument/2006/relationships/slide" Target="slide13.xml"/><Relationship Id="rId1" Type="http://schemas.openxmlformats.org/officeDocument/2006/relationships/slide" Target="slide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0.xml"/><Relationship Id="rId1" Type="http://schemas.openxmlformats.org/officeDocument/2006/relationships/slide" Target="slide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slide" Target="slide1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32.xml"/><Relationship Id="rId1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6.png"/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1.xml"/><Relationship Id="rId1" Type="http://schemas.openxmlformats.org/officeDocument/2006/relationships/slide" Target="slide3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1.xml"/><Relationship Id="rId1" Type="http://schemas.openxmlformats.org/officeDocument/2006/relationships/slide" Target="slide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slide" Target="slide1.xml"/><Relationship Id="rId2" Type="http://schemas.openxmlformats.org/officeDocument/2006/relationships/slide" Target="slide52.xml"/><Relationship Id="rId1" Type="http://schemas.openxmlformats.org/officeDocument/2006/relationships/slide" Target="slide48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59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5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5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1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6" Type="http://schemas.openxmlformats.org/officeDocument/2006/relationships/slideLayout" Target="../slideLayouts/slideLayout3.xml"/><Relationship Id="rId45" Type="http://schemas.openxmlformats.org/officeDocument/2006/relationships/tags" Target="../tags/tag149.xml"/><Relationship Id="rId44" Type="http://schemas.openxmlformats.org/officeDocument/2006/relationships/tags" Target="../tags/tag148.xml"/><Relationship Id="rId43" Type="http://schemas.openxmlformats.org/officeDocument/2006/relationships/tags" Target="../tags/tag147.xml"/><Relationship Id="rId42" Type="http://schemas.openxmlformats.org/officeDocument/2006/relationships/tags" Target="../tags/tag146.xml"/><Relationship Id="rId41" Type="http://schemas.openxmlformats.org/officeDocument/2006/relationships/tags" Target="../tags/tag145.xml"/><Relationship Id="rId40" Type="http://schemas.openxmlformats.org/officeDocument/2006/relationships/tags" Target="../tags/tag144.xml"/><Relationship Id="rId4" Type="http://schemas.openxmlformats.org/officeDocument/2006/relationships/tags" Target="../tags/tag109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tags" Target="../tags/tag138.xml"/><Relationship Id="rId33" Type="http://schemas.openxmlformats.org/officeDocument/2006/relationships/tags" Target="../tags/tag137.xml"/><Relationship Id="rId32" Type="http://schemas.openxmlformats.org/officeDocument/2006/relationships/tags" Target="../tags/tag136.xml"/><Relationship Id="rId31" Type="http://schemas.openxmlformats.org/officeDocument/2006/relationships/tags" Target="../tags/tag135.xml"/><Relationship Id="rId30" Type="http://schemas.openxmlformats.org/officeDocument/2006/relationships/slide" Target="slide26.xml"/><Relationship Id="rId3" Type="http://schemas.openxmlformats.org/officeDocument/2006/relationships/tags" Target="../tags/tag108.xml"/><Relationship Id="rId29" Type="http://schemas.openxmlformats.org/officeDocument/2006/relationships/tags" Target="../tags/tag134.xml"/><Relationship Id="rId28" Type="http://schemas.openxmlformats.org/officeDocument/2006/relationships/tags" Target="../tags/tag133.xml"/><Relationship Id="rId27" Type="http://schemas.openxmlformats.org/officeDocument/2006/relationships/tags" Target="../tags/tag132.xml"/><Relationship Id="rId26" Type="http://schemas.openxmlformats.org/officeDocument/2006/relationships/tags" Target="../tags/tag131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71.xml"/><Relationship Id="rId1" Type="http://schemas.openxmlformats.org/officeDocument/2006/relationships/tags" Target="../tags/tag16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189.xml"/><Relationship Id="rId17" Type="http://schemas.openxmlformats.org/officeDocument/2006/relationships/tags" Target="../tags/tag188.xml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92.xml"/><Relationship Id="rId2" Type="http://schemas.openxmlformats.org/officeDocument/2006/relationships/image" Target="../media/image9.png"/><Relationship Id="rId1" Type="http://schemas.openxmlformats.org/officeDocument/2006/relationships/customXml" Target="../ink/ink4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9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204.xml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970" y="299720"/>
            <a:ext cx="11230610" cy="6337935"/>
          </a:xfrm>
          <a:prstGeom prst="rect">
            <a:avLst/>
          </a:prstGeom>
          <a:solidFill>
            <a:srgbClr val="03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90" y="789940"/>
            <a:ext cx="10549890" cy="53581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88232" sx="104000" sy="104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pic>
        <p:nvPicPr>
          <p:cNvPr id="1026" name="Picture 2" descr="西北工业大学- 维基百科，自由的百科全书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90" y="725805"/>
            <a:ext cx="1831340" cy="18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767330" y="2722245"/>
            <a:ext cx="71945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000" b="1" dirty="0">
                <a:solidFill>
                  <a:srgbClr val="034DA0"/>
                </a:solidFill>
                <a:latin typeface="+mn-ea"/>
                <a:cs typeface="等线 Light" panose="02010600030101010101" charset="-122"/>
                <a:sym typeface="+mn-ea"/>
              </a:rPr>
              <a:t>编译原理</a:t>
            </a:r>
            <a:endParaRPr kumimoji="1" lang="zh-CN" altLang="en-US" sz="4000" b="1" dirty="0">
              <a:solidFill>
                <a:srgbClr val="034DA0"/>
              </a:solidFill>
              <a:latin typeface="+mn-ea"/>
              <a:cs typeface="等线 Light" panose="02010600030101010101" charset="-122"/>
              <a:sym typeface="+mn-ea"/>
            </a:endParaRPr>
          </a:p>
        </p:txBody>
      </p:sp>
      <p:cxnSp>
        <p:nvCxnSpPr>
          <p:cNvPr id="8" name="直线连接符 7"/>
          <p:cNvCxnSpPr/>
          <p:nvPr/>
        </p:nvCxnSpPr>
        <p:spPr>
          <a:xfrm flipV="1">
            <a:off x="2367330" y="3429151"/>
            <a:ext cx="8088630" cy="1397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67280" y="3538220"/>
            <a:ext cx="8289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授课教师：马春燕    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邮箱：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machunyan @nwpu.edu.n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手机：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13991282722      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 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204470" y="276860"/>
            <a:ext cx="732345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二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9572" name="AutoShape 4"/>
          <p:cNvSpPr/>
          <p:nvPr/>
        </p:nvSpPr>
        <p:spPr>
          <a:xfrm>
            <a:off x="7221220" y="823595"/>
            <a:ext cx="2895600" cy="1279525"/>
          </a:xfrm>
          <a:prstGeom prst="cloudCallout">
            <a:avLst>
              <a:gd name="adj1" fmla="val -125657"/>
              <a:gd name="adj2" fmla="val 5359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单词的描述工具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9573" name="AutoShape 5"/>
          <p:cNvSpPr/>
          <p:nvPr/>
        </p:nvSpPr>
        <p:spPr>
          <a:xfrm>
            <a:off x="6916420" y="2103120"/>
            <a:ext cx="2971800" cy="1295400"/>
          </a:xfrm>
          <a:prstGeom prst="cloudCallout">
            <a:avLst>
              <a:gd name="adj1" fmla="val -112662"/>
              <a:gd name="adj2" fmla="val -5884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" panose="020B0604020202020204" pitchFamily="34" charset="0"/>
                <a:ea typeface="方正舒体" panose="02010601030101010101" pitchFamily="2" charset="-122"/>
              </a:rPr>
              <a:t>单词</a:t>
            </a: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的识别系统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9574" name="AutoShape 6"/>
          <p:cNvSpPr/>
          <p:nvPr/>
        </p:nvSpPr>
        <p:spPr>
          <a:xfrm>
            <a:off x="7586345" y="3241358"/>
            <a:ext cx="2940050" cy="1812925"/>
          </a:xfrm>
          <a:prstGeom prst="cloudCallout">
            <a:avLst>
              <a:gd name="adj1" fmla="val -66611"/>
              <a:gd name="adj2" fmla="val -30093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设计和实现词法分析程序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6150" name="Rectangle 9"/>
          <p:cNvSpPr>
            <a:spLocks noGrp="1"/>
          </p:cNvSpPr>
          <p:nvPr/>
        </p:nvSpPr>
        <p:spPr>
          <a:xfrm>
            <a:off x="381635" y="1196975"/>
            <a:ext cx="11376660" cy="3875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2.1 词法分析器的作用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30305"/>
                </a:solidFill>
              </a:rPr>
              <a:t>2.2 </a:t>
            </a:r>
            <a:r>
              <a:rPr lang="zh-CN" altLang="en-US" dirty="0">
                <a:solidFill>
                  <a:srgbClr val="030305"/>
                </a:solidFill>
              </a:rPr>
              <a:t>正规表达式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30305"/>
                </a:solidFill>
              </a:rPr>
              <a:t>2.3 </a:t>
            </a:r>
            <a:r>
              <a:rPr lang="zh-CN" altLang="en-US" dirty="0">
                <a:solidFill>
                  <a:srgbClr val="030305"/>
                </a:solidFill>
              </a:rPr>
              <a:t>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30305"/>
                </a:solidFill>
              </a:rPr>
              <a:t>2.4 </a:t>
            </a:r>
            <a:r>
              <a:rPr lang="zh-CN" altLang="en-US" dirty="0">
                <a:solidFill>
                  <a:srgbClr val="030305"/>
                </a:solidFill>
              </a:rPr>
              <a:t>从正规表达式到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2.5 用代码实现有穷自动机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2.6 自动生成词法分析程序</a:t>
            </a:r>
            <a:endParaRPr lang="en-US" altLang="zh-CN" dirty="0">
              <a:solidFill>
                <a:srgbClr val="030305"/>
              </a:solidFill>
            </a:endParaRPr>
          </a:p>
          <a:p>
            <a:pPr marL="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bldLvl="0" animBg="1"/>
      <p:bldP spid="109573" grpId="0" bldLvl="0" animBg="1"/>
      <p:bldP spid="10957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23304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2.1 词法分析器的作用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0596" name="Rectangle 4"/>
          <p:cNvSpPr>
            <a:spLocks noGrp="1"/>
          </p:cNvSpPr>
          <p:nvPr/>
        </p:nvSpPr>
        <p:spPr>
          <a:xfrm>
            <a:off x="370205" y="1261110"/>
            <a:ext cx="5838190" cy="5156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词法分析器</a:t>
            </a:r>
            <a:r>
              <a:rPr lang="en-US" altLang="zh-CN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(</a:t>
            </a:r>
            <a:r>
              <a:rPr lang="zh-CN" altLang="en-US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词法分析程序或扫描器)的任务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sz="2800" dirty="0">
                <a:solidFill>
                  <a:srgbClr val="030305"/>
                </a:solidFill>
              </a:rPr>
              <a:t>从源代码中读取输入字符，</a:t>
            </a:r>
            <a:r>
              <a:rPr lang="zh-CN" altLang="en-US" sz="2800" dirty="0">
                <a:solidFill>
                  <a:srgbClr val="21212D"/>
                </a:solidFill>
              </a:rPr>
              <a:t>按照</a:t>
            </a:r>
            <a:r>
              <a:rPr lang="zh-CN" altLang="en-US" sz="2800" dirty="0">
                <a:solidFill>
                  <a:srgbClr val="FF3399"/>
                </a:solidFill>
              </a:rPr>
              <a:t>构词规则</a:t>
            </a:r>
            <a:r>
              <a:rPr lang="zh-CN" altLang="en-US" sz="2800" dirty="0">
                <a:solidFill>
                  <a:srgbClr val="21212D"/>
                </a:solidFill>
              </a:rPr>
              <a:t>切分成一系列单词</a:t>
            </a:r>
            <a:r>
              <a:rPr lang="en-US" altLang="zh-CN" sz="2800" dirty="0">
                <a:solidFill>
                  <a:srgbClr val="21212D"/>
                </a:solidFill>
              </a:rPr>
              <a:t>(</a:t>
            </a:r>
            <a:r>
              <a:rPr lang="en-US" altLang="zh-CN" dirty="0">
                <a:solidFill>
                  <a:srgbClr val="FF0066"/>
                </a:solidFill>
              </a:rPr>
              <a:t>token</a:t>
            </a:r>
            <a:r>
              <a:rPr lang="zh-CN" altLang="en-US" sz="2800" dirty="0">
                <a:solidFill>
                  <a:srgbClr val="21212D"/>
                </a:solidFill>
              </a:rPr>
              <a:t> </a:t>
            </a:r>
            <a:r>
              <a:rPr lang="en-US" altLang="zh-CN" sz="2800" dirty="0">
                <a:solidFill>
                  <a:srgbClr val="21212D"/>
                </a:solidFill>
              </a:rPr>
              <a:t>)</a:t>
            </a:r>
            <a:r>
              <a:rPr lang="zh-CN" altLang="en-US" sz="2800" dirty="0">
                <a:solidFill>
                  <a:srgbClr val="21212D"/>
                </a:solidFill>
              </a:rPr>
              <a:t>，</a:t>
            </a:r>
            <a:r>
              <a:rPr lang="zh-CN" altLang="en-US" dirty="0">
                <a:solidFill>
                  <a:srgbClr val="030305"/>
                </a:solidFill>
              </a:rPr>
              <a:t> </a:t>
            </a:r>
            <a:r>
              <a:rPr lang="zh-CN" altLang="en-US" sz="2800" dirty="0">
                <a:solidFill>
                  <a:srgbClr val="030305"/>
                </a:solidFill>
              </a:rPr>
              <a:t>提交给</a:t>
            </a:r>
            <a:r>
              <a:rPr lang="zh-CN" altLang="en-US" sz="2800" dirty="0">
                <a:solidFill>
                  <a:srgbClr val="FF3399"/>
                </a:solidFill>
              </a:rPr>
              <a:t>语法分析</a:t>
            </a:r>
            <a:r>
              <a:rPr lang="zh-CN" altLang="en-US" sz="2800" dirty="0">
                <a:solidFill>
                  <a:srgbClr val="030305"/>
                </a:solidFill>
              </a:rPr>
              <a:t>使用。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00" dirty="0">
                <a:solidFill>
                  <a:srgbClr val="21212D"/>
                </a:solidFill>
              </a:rPr>
              <a:t>识别出源程序中的单词；</a:t>
            </a:r>
            <a:endParaRPr lang="en-US" altLang="zh-CN" sz="2500" dirty="0">
              <a:solidFill>
                <a:srgbClr val="21212D"/>
              </a:solidFill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21212D"/>
                </a:solidFill>
              </a:rPr>
              <a:t>java.util.StringTokenizer</a:t>
            </a:r>
            <a:endParaRPr lang="en-US" altLang="zh-CN" sz="2200" dirty="0">
              <a:solidFill>
                <a:srgbClr val="21212D"/>
              </a:solidFill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21212D"/>
                </a:solidFill>
              </a:rPr>
              <a:t>String</a:t>
            </a:r>
            <a:r>
              <a:rPr lang="zh-CN" altLang="en-US" sz="2200" dirty="0">
                <a:solidFill>
                  <a:srgbClr val="21212D"/>
                </a:solidFill>
              </a:rPr>
              <a:t>类的</a:t>
            </a:r>
            <a:r>
              <a:rPr lang="en-US" altLang="zh-CN" sz="2200" dirty="0">
                <a:solidFill>
                  <a:srgbClr val="21212D"/>
                </a:solidFill>
              </a:rPr>
              <a:t>split</a:t>
            </a:r>
            <a:r>
              <a:rPr lang="zh-CN" altLang="en-US" sz="2200" dirty="0">
                <a:solidFill>
                  <a:srgbClr val="21212D"/>
                </a:solidFill>
              </a:rPr>
              <a:t>方法</a:t>
            </a:r>
            <a:endParaRPr lang="zh-CN" altLang="en-US" sz="2500" dirty="0">
              <a:solidFill>
                <a:srgbClr val="21212D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00" dirty="0">
                <a:solidFill>
                  <a:srgbClr val="21212D"/>
                </a:solidFill>
              </a:rPr>
              <a:t>删除无用的空白字符及注释；</a:t>
            </a:r>
            <a:endParaRPr lang="en-US" altLang="zh-CN" sz="2500" dirty="0">
              <a:solidFill>
                <a:srgbClr val="21212D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00" dirty="0">
                <a:solidFill>
                  <a:srgbClr val="21212D"/>
                </a:solidFill>
              </a:rPr>
              <a:t>检测出</a:t>
            </a:r>
            <a:r>
              <a:rPr lang="zh-CN" altLang="en-US" sz="2500" dirty="0">
                <a:solidFill>
                  <a:srgbClr val="FF3399"/>
                </a:solidFill>
              </a:rPr>
              <a:t>错误字符串</a:t>
            </a:r>
            <a:r>
              <a:rPr lang="zh-CN" altLang="en-US" sz="2500" dirty="0">
                <a:solidFill>
                  <a:srgbClr val="21212D"/>
                </a:solidFill>
              </a:rPr>
              <a:t>。</a:t>
            </a:r>
            <a:endParaRPr lang="en-US" altLang="zh-CN" sz="2500" dirty="0">
              <a:solidFill>
                <a:srgbClr val="21212D"/>
              </a:solidFill>
            </a:endParaRPr>
          </a:p>
        </p:txBody>
      </p:sp>
      <p:sp>
        <p:nvSpPr>
          <p:cNvPr id="112646" name="Rectangle 6"/>
          <p:cNvSpPr>
            <a:spLocks noGrp="1"/>
          </p:cNvSpPr>
          <p:nvPr/>
        </p:nvSpPr>
        <p:spPr>
          <a:xfrm>
            <a:off x="6766560" y="1321435"/>
            <a:ext cx="4796790" cy="5010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80808"/>
                </a:solidFill>
              </a:rPr>
              <a:t>输出:</a:t>
            </a:r>
            <a:r>
              <a:rPr lang="zh-CN" altLang="en-US" sz="2800" dirty="0">
                <a:solidFill>
                  <a:srgbClr val="030305"/>
                </a:solidFill>
              </a:rPr>
              <a:t>   </a:t>
            </a:r>
            <a:r>
              <a:rPr lang="en-US" altLang="zh-CN" sz="2800" dirty="0">
                <a:solidFill>
                  <a:srgbClr val="FF0066"/>
                </a:solidFill>
              </a:rPr>
              <a:t>token</a:t>
            </a:r>
            <a:r>
              <a:rPr lang="zh-CN" altLang="en-US" sz="2800" dirty="0">
                <a:solidFill>
                  <a:srgbClr val="030305"/>
                </a:solidFill>
              </a:rPr>
              <a:t>序列</a:t>
            </a:r>
            <a:endParaRPr lang="zh-CN" altLang="en-US" sz="2800" dirty="0">
              <a:solidFill>
                <a:srgbClr val="080808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每个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Token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包括</a:t>
            </a:r>
            <a:r>
              <a:rPr lang="zh-CN" altLang="en-US" sz="24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字符串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zh-CN" altLang="en-US" sz="24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词义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）和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类型</a:t>
            </a:r>
            <a:r>
              <a:rPr lang="zh-CN" altLang="en-US" sz="2400" dirty="0">
                <a:solidFill>
                  <a:srgbClr val="FF1F7A"/>
                </a:solidFill>
              </a:rPr>
              <a:t>（</a:t>
            </a:r>
            <a:r>
              <a:rPr lang="zh-CN" altLang="en-US" sz="24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词法</a:t>
            </a:r>
            <a:r>
              <a:rPr lang="zh-CN" altLang="en-US" sz="2400" dirty="0">
                <a:solidFill>
                  <a:srgbClr val="FF1F7A"/>
                </a:solidFill>
              </a:rPr>
              <a:t>）</a:t>
            </a:r>
            <a:endParaRPr lang="en-US" altLang="zh-CN" sz="2400" dirty="0">
              <a:solidFill>
                <a:srgbClr val="FF1F7A"/>
              </a:solidFill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00" dirty="0">
                <a:solidFill>
                  <a:srgbClr val="FF1F7A"/>
                </a:solidFill>
              </a:rPr>
              <a:t>Token</a:t>
            </a:r>
            <a:r>
              <a:rPr lang="zh-CN" altLang="en-US" sz="2500" dirty="0">
                <a:solidFill>
                  <a:srgbClr val="FF1F7A"/>
                </a:solidFill>
              </a:rPr>
              <a:t>举例</a:t>
            </a:r>
            <a:endParaRPr lang="en-US" altLang="zh-CN" sz="2500" dirty="0">
              <a:solidFill>
                <a:srgbClr val="FF1F7A"/>
              </a:solidFill>
            </a:endParaRPr>
          </a:p>
          <a:p>
            <a:pPr lvl="3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if     </a:t>
            </a:r>
            <a:r>
              <a:rPr lang="zh-CN" altLang="en-US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关键字</a:t>
            </a:r>
            <a:endParaRPr lang="en-US" altLang="zh-CN" sz="25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y      </a:t>
            </a:r>
            <a:r>
              <a:rPr lang="zh-CN" altLang="en-US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标识符</a:t>
            </a:r>
            <a:endParaRPr lang="en-US" altLang="zh-CN" sz="25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=      </a:t>
            </a:r>
            <a:r>
              <a:rPr lang="zh-CN" altLang="en-US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操作符</a:t>
            </a:r>
            <a:endParaRPr lang="en-US" altLang="zh-CN" sz="25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3      </a:t>
            </a:r>
            <a:r>
              <a:rPr lang="zh-CN" altLang="en-US" sz="2500" dirty="0">
                <a:solidFill>
                  <a:srgbClr val="030305"/>
                </a:solidFill>
                <a:latin typeface="Times New Roman" panose="02020603050405020304" pitchFamily="18" charset="0"/>
              </a:rPr>
              <a:t>数字</a:t>
            </a:r>
            <a:endParaRPr lang="zh-CN" altLang="en-US" sz="2200" dirty="0">
              <a:solidFill>
                <a:srgbClr val="FF0000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latin typeface="Times New Roman" panose="02020603050405020304" pitchFamily="18" charset="0"/>
              </a:rPr>
              <a:t>Java</a:t>
            </a:r>
            <a:r>
              <a:rPr lang="zh-CN" altLang="en-US" dirty="0">
                <a:latin typeface="Times New Roman" panose="02020603050405020304" pitchFamily="18" charset="0"/>
              </a:rPr>
              <a:t>举例</a:t>
            </a:r>
            <a:r>
              <a:rPr lang="en-US" altLang="zh-CN" dirty="0">
                <a:latin typeface="Times New Roman" panose="02020603050405020304" pitchFamily="18" charset="0"/>
              </a:rPr>
              <a:t>(107</a:t>
            </a:r>
            <a:r>
              <a:rPr lang="zh-CN" altLang="en-US" dirty="0">
                <a:latin typeface="Times New Roman" panose="02020603050405020304" pitchFamily="18" charset="0"/>
              </a:rPr>
              <a:t>种单词类型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build="p"/>
      <p:bldP spid="112646" grpId="1" bldLvl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2.1 词法分析器的作用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315" name="Rectangle 11"/>
          <p:cNvSpPr>
            <a:spLocks noGrp="1"/>
          </p:cNvSpPr>
          <p:nvPr/>
        </p:nvSpPr>
        <p:spPr>
          <a:xfrm>
            <a:off x="944245" y="1196975"/>
            <a:ext cx="3890010" cy="49688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lt"/>
                <a:ea typeface="+mn-ea"/>
                <a:cs typeface="+mn-cs"/>
              </a:rPr>
              <a:t>GJC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对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Java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源程序的词法分析举例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public class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 {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  private int 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;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  private int 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;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  public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(int 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initialX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, 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     int 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initialY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)  {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		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=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initialX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;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		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= </a:t>
            </a:r>
            <a:r>
              <a:rPr lang="en-US" altLang="zh-CN" sz="24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initialY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;	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	}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}</a:t>
            </a:r>
            <a:endParaRPr lang="zh-CN" altLang="en-US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113676" name="Rectangle 12"/>
          <p:cNvSpPr>
            <a:spLocks noGrp="1"/>
          </p:cNvSpPr>
          <p:nvPr/>
        </p:nvSpPr>
        <p:spPr>
          <a:xfrm>
            <a:off x="5895023" y="1125538"/>
            <a:ext cx="4897437" cy="50180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SzTx/>
            </a:pPr>
            <a:r>
              <a:rPr lang="zh-CN" altLang="en-US" sz="2000" dirty="0">
                <a:latin typeface="+mn-lt"/>
                <a:ea typeface="+mn-ea"/>
                <a:cs typeface="+mn-cs"/>
              </a:rPr>
              <a:t>词法分析的输出（仅包括单词的类型，词值参照左边）：</a:t>
            </a:r>
            <a:endParaRPr lang="zh-CN" altLang="en-US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</a:pPr>
            <a:r>
              <a:rPr lang="en-US" altLang="zh-CN" sz="2000" dirty="0">
                <a:latin typeface="+mn-lt"/>
                <a:ea typeface="+mn-ea"/>
                <a:cs typeface="+mn-cs"/>
              </a:rPr>
              <a:t>EOF   PUBLIC   CLASS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 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 LBRACE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PRIVATE  INT </a:t>
            </a: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IDENTIFIER</a:t>
            </a:r>
            <a:endParaRPr lang="en-US" altLang="zh-CN" sz="2000" dirty="0">
              <a:solidFill>
                <a:srgbClr val="FF3399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SEMI  PRIVATE  INT 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 SEMI   PUBLIC 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 LPAREN  INT 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COMMA INT 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RPAREN LBRACE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EQ </a:t>
            </a: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IDENTIFIER</a:t>
            </a:r>
            <a:endParaRPr lang="en-US" altLang="zh-CN" sz="2000" dirty="0">
              <a:solidFill>
                <a:srgbClr val="FF3399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lt"/>
                <a:ea typeface="+mn-ea"/>
                <a:cs typeface="+mn-cs"/>
              </a:rPr>
              <a:t>        SEMI </a:t>
            </a: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EQ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3399"/>
                </a:solidFill>
                <a:latin typeface="+mn-lt"/>
                <a:ea typeface="+mn-ea"/>
                <a:cs typeface="+mn-cs"/>
              </a:rPr>
              <a:t>        IDENTIFIER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SEMIR BRACE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latin typeface="+mn-lt"/>
                <a:ea typeface="+mn-ea"/>
                <a:cs typeface="+mn-cs"/>
              </a:rPr>
              <a:t>        RBRACE EOF</a:t>
            </a:r>
            <a:endParaRPr lang="en-US" altLang="zh-CN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13317" name="AutoShape 10">
            <a:hlinkClick r:id="rId1" action="ppaction://hlinksldjump"/>
          </p:cNvPr>
          <p:cNvSpPr/>
          <p:nvPr/>
        </p:nvSpPr>
        <p:spPr>
          <a:xfrm>
            <a:off x="772795" y="5876925"/>
            <a:ext cx="1019810" cy="288925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367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26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13676">
                                            <p:txEl>
                                              <p:charRg st="26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113676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75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113676">
                                            <p:txEl>
                                              <p:charRg st="75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108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13676">
                                            <p:txEl>
                                              <p:charRg st="108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13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13676">
                                            <p:txEl>
                                              <p:charRg st="13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17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113676">
                                            <p:txEl>
                                              <p:charRg st="171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204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113676">
                                            <p:txEl>
                                              <p:charRg st="204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234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500"/>
                                        <p:tgtEl>
                                          <p:spTgt spid="113676">
                                            <p:txEl>
                                              <p:charRg st="234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267" end="3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13676">
                                            <p:txEl>
                                              <p:charRg st="267" end="3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300" end="3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13676">
                                            <p:txEl>
                                              <p:charRg st="300" end="3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327" end="3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113676">
                                            <p:txEl>
                                              <p:charRg st="327" end="3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>
                                            <p:txEl>
                                              <p:charRg st="358" end="3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113676">
                                            <p:txEl>
                                              <p:charRg st="358" end="3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19405" y="276225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2.1 词法分析器的作用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220" name="AutoShape 1032"/>
          <p:cNvSpPr/>
          <p:nvPr/>
        </p:nvSpPr>
        <p:spPr>
          <a:xfrm>
            <a:off x="2174240" y="3681730"/>
            <a:ext cx="2868930" cy="2546985"/>
          </a:xfrm>
          <a:prstGeom prst="roundRect">
            <a:avLst>
              <a:gd name="adj" fmla="val 16667"/>
            </a:avLst>
          </a:prstGeom>
          <a:noFill/>
          <a:ln w="28575" cap="rnd" cmpd="sng">
            <a:solidFill>
              <a:schemeClr val="hlink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token</a:t>
            </a:r>
            <a:r>
              <a:rPr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的数据类型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typedef struct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 { </a:t>
            </a:r>
            <a:r>
              <a:rPr lang="en-US" altLang="zh-CN" dirty="0">
                <a:solidFill>
                  <a:srgbClr val="FF0066"/>
                </a:solidFill>
                <a:latin typeface="Times New Roman" panose="02020603050405020304" pitchFamily="18" charset="0"/>
              </a:rPr>
              <a:t>TokenType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  tokenval;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    union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	{ char *stringval;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             int      numval;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            } attribute;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}TokenRecord;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/>
          <p:nvPr/>
        </p:nvSpPr>
        <p:spPr>
          <a:xfrm>
            <a:off x="319405" y="1273175"/>
            <a:ext cx="940879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zh-CN" altLang="en-US" sz="2800" b="1" dirty="0">
                <a:solidFill>
                  <a:srgbClr val="08080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词法分析程序的函数接口：</a:t>
            </a:r>
            <a:endParaRPr lang="zh-CN" altLang="en-US" sz="2800" b="1" dirty="0">
              <a:solidFill>
                <a:srgbClr val="08080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>
              <a:spcBef>
                <a:spcPct val="50000"/>
              </a:spcBef>
              <a:buSzPct val="90000"/>
            </a:pPr>
            <a:r>
              <a:rPr lang="en-US" altLang="zh-CN" sz="28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TokenRecord   getToken(void)</a:t>
            </a:r>
            <a:endParaRPr lang="en-US" altLang="zh-CN" sz="28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243" name="Text Box 3"/>
          <p:cNvSpPr txBox="1"/>
          <p:nvPr/>
        </p:nvSpPr>
        <p:spPr>
          <a:xfrm>
            <a:off x="6469380" y="2486660"/>
            <a:ext cx="106616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080808"/>
                </a:solidFill>
                <a:latin typeface="Times New Roman" panose="02020603050405020304" pitchFamily="18" charset="0"/>
              </a:rPr>
              <a:t>Token</a:t>
            </a:r>
            <a:endParaRPr lang="en-US" altLang="zh-CN" sz="2800" dirty="0">
              <a:solidFill>
                <a:srgbClr val="08080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4" name="Text Box 4"/>
          <p:cNvSpPr txBox="1"/>
          <p:nvPr/>
        </p:nvSpPr>
        <p:spPr>
          <a:xfrm>
            <a:off x="6240780" y="3401060"/>
            <a:ext cx="173736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solidFill>
                  <a:srgbClr val="080808"/>
                </a:solidFill>
                <a:latin typeface="Times New Roman" panose="02020603050405020304" pitchFamily="18" charset="0"/>
              </a:rPr>
              <a:t>getToken()</a:t>
            </a:r>
            <a:endParaRPr lang="en-US" altLang="zh-CN" sz="2800" dirty="0">
              <a:solidFill>
                <a:srgbClr val="080808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AutoShape 5"/>
          <p:cNvSpPr/>
          <p:nvPr/>
        </p:nvSpPr>
        <p:spPr>
          <a:xfrm>
            <a:off x="1932305" y="2845435"/>
            <a:ext cx="1597025" cy="762000"/>
          </a:xfrm>
          <a:prstGeom prst="roundRect">
            <a:avLst>
              <a:gd name="adj" fmla="val 16667"/>
            </a:avLst>
          </a:prstGeom>
          <a:solidFill>
            <a:schemeClr val="bg1">
              <a:alpha val="50195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源程序</a:t>
            </a:r>
            <a:endParaRPr lang="zh-CN" altLang="en-US" sz="28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6" name="AutoShape 6"/>
          <p:cNvSpPr/>
          <p:nvPr/>
        </p:nvSpPr>
        <p:spPr>
          <a:xfrm>
            <a:off x="4221480" y="2743835"/>
            <a:ext cx="23622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ea typeface="黑体" panose="02010609060101010101" charset="-122"/>
              </a:rPr>
              <a:t>词法分析程序</a:t>
            </a:r>
            <a:endParaRPr lang="zh-CN" altLang="en-US" sz="2800" dirty="0">
              <a:solidFill>
                <a:srgbClr val="FF0066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247" name="AutoShape 7"/>
          <p:cNvSpPr/>
          <p:nvPr/>
        </p:nvSpPr>
        <p:spPr>
          <a:xfrm>
            <a:off x="7764780" y="2743835"/>
            <a:ext cx="23622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Times New Roman" panose="02020603050405020304" pitchFamily="18" charset="0"/>
              </a:rPr>
              <a:t>语法分析程序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248" name="AutoShape 8"/>
          <p:cNvSpPr/>
          <p:nvPr/>
        </p:nvSpPr>
        <p:spPr>
          <a:xfrm>
            <a:off x="3383280" y="2972435"/>
            <a:ext cx="838200" cy="381000"/>
          </a:xfrm>
          <a:prstGeom prst="rightArrow">
            <a:avLst>
              <a:gd name="adj1" fmla="val 50000"/>
              <a:gd name="adj2" fmla="val 5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49" name="AutoShape 9"/>
          <p:cNvSpPr/>
          <p:nvPr/>
        </p:nvSpPr>
        <p:spPr>
          <a:xfrm>
            <a:off x="6593205" y="2896235"/>
            <a:ext cx="1143000" cy="228600"/>
          </a:xfrm>
          <a:prstGeom prst="rightArrow">
            <a:avLst>
              <a:gd name="adj1" fmla="val 50000"/>
              <a:gd name="adj2" fmla="val 125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0" name="AutoShape 10"/>
          <p:cNvSpPr/>
          <p:nvPr/>
        </p:nvSpPr>
        <p:spPr>
          <a:xfrm>
            <a:off x="6593205" y="3124835"/>
            <a:ext cx="1143000" cy="228600"/>
          </a:xfrm>
          <a:prstGeom prst="leftArrow">
            <a:avLst>
              <a:gd name="adj1" fmla="val 50000"/>
              <a:gd name="adj2" fmla="val 125000"/>
            </a:avLst>
          </a:prstGeom>
          <a:noFill/>
          <a:ln w="9525" cap="flat" cmpd="sng">
            <a:solidFill>
              <a:srgbClr val="030305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0251" name="AutoShape 11"/>
          <p:cNvSpPr/>
          <p:nvPr/>
        </p:nvSpPr>
        <p:spPr>
          <a:xfrm>
            <a:off x="6507480" y="4725035"/>
            <a:ext cx="1447800" cy="60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 dirty="0">
                <a:latin typeface="Times New Roman" panose="02020603050405020304" pitchFamily="18" charset="0"/>
              </a:rPr>
              <a:t>符号表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0252" name="Line 12"/>
          <p:cNvSpPr/>
          <p:nvPr/>
        </p:nvSpPr>
        <p:spPr>
          <a:xfrm>
            <a:off x="5516880" y="3558223"/>
            <a:ext cx="1143000" cy="1166812"/>
          </a:xfrm>
          <a:prstGeom prst="line">
            <a:avLst/>
          </a:prstGeom>
          <a:ln w="15875" cap="flat" cmpd="sng">
            <a:solidFill>
              <a:srgbClr val="030305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0253" name="Line 13"/>
          <p:cNvSpPr/>
          <p:nvPr/>
        </p:nvSpPr>
        <p:spPr>
          <a:xfrm flipH="1">
            <a:off x="7802880" y="3505835"/>
            <a:ext cx="1143000" cy="1219200"/>
          </a:xfrm>
          <a:prstGeom prst="line">
            <a:avLst/>
          </a:prstGeom>
          <a:ln w="15875" cap="flat" cmpd="sng">
            <a:solidFill>
              <a:srgbClr val="030305"/>
            </a:solidFill>
            <a:prstDash val="solid"/>
            <a:round/>
            <a:headEnd type="triangl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9"/>
          <p:cNvSpPr>
            <a:spLocks noGrp="1"/>
          </p:cNvSpPr>
          <p:nvPr/>
        </p:nvSpPr>
        <p:spPr>
          <a:xfrm>
            <a:off x="344488" y="1196975"/>
            <a:ext cx="8001000" cy="38750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2.1 词法分析器的作用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2.2 </a:t>
            </a:r>
            <a:r>
              <a:rPr lang="zh-CN" altLang="en-US" dirty="0">
                <a:solidFill>
                  <a:schemeClr val="accent1"/>
                </a:solidFill>
              </a:rPr>
              <a:t>正规表达式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030305"/>
                </a:solidFill>
              </a:rPr>
              <a:t>2.3 </a:t>
            </a:r>
            <a:r>
              <a:rPr lang="zh-CN" altLang="en-US" dirty="0">
                <a:solidFill>
                  <a:srgbClr val="030305"/>
                </a:solidFill>
              </a:rPr>
              <a:t>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030305"/>
                </a:solidFill>
              </a:rPr>
              <a:t>2.4 </a:t>
            </a:r>
            <a:r>
              <a:rPr lang="zh-CN" altLang="en-US" dirty="0">
                <a:solidFill>
                  <a:srgbClr val="030305"/>
                </a:solidFill>
              </a:rPr>
              <a:t>从正规表达式到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30305"/>
                </a:solidFill>
              </a:rPr>
              <a:t>2.5 用代码实现有穷自动机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30305"/>
                </a:solidFill>
              </a:rPr>
              <a:t>2.6 自动生成词法分析程序</a:t>
            </a:r>
            <a:endParaRPr lang="en-US" altLang="zh-CN" dirty="0">
              <a:solidFill>
                <a:srgbClr val="030305"/>
              </a:solidFill>
            </a:endParaRPr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4805" y="276860"/>
            <a:ext cx="732345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二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Rot="1"/>
          </p:cNvSpPr>
          <p:nvPr/>
        </p:nvSpPr>
        <p:spPr>
          <a:xfrm>
            <a:off x="1905000" y="381000"/>
            <a:ext cx="8610600" cy="6937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endParaRPr lang="en-US" altLang="zh-CN" sz="3600" dirty="0">
              <a:solidFill>
                <a:srgbClr val="FF3399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5363" name="Rectangle 5"/>
          <p:cNvSpPr>
            <a:spLocks noGrp="1"/>
          </p:cNvSpPr>
          <p:nvPr>
            <p:ph idx="1"/>
          </p:nvPr>
        </p:nvSpPr>
        <p:spPr>
          <a:xfrm>
            <a:off x="402273" y="1196975"/>
            <a:ext cx="8001000" cy="29527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accent1"/>
                </a:solidFill>
              </a:rPr>
              <a:t>2.2.1 基本概念和术语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b="1" dirty="0"/>
              <a:t>2.2.2 正规表达式的定义</a:t>
            </a:r>
            <a:endParaRPr lang="zh-CN" altLang="en-US" b="1" dirty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b="1" dirty="0">
                <a:solidFill>
                  <a:schemeClr val="tx1"/>
                </a:solidFill>
              </a:rPr>
              <a:t>2.2.3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正规表达式的扩展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b="1" dirty="0">
                <a:solidFill>
                  <a:schemeClr val="tx1"/>
                </a:solidFill>
              </a:rPr>
              <a:t>2.2.</a:t>
            </a: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 单词的正规表达式举例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zh-CN" altLang="en-US" b="1" dirty="0">
                <a:solidFill>
                  <a:schemeClr val="tx1"/>
                </a:solidFill>
              </a:rPr>
              <a:t>讨论：正规表达式的应用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hangingPunct="1"/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861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61950" y="276860"/>
            <a:ext cx="7323455" cy="59309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</a:pPr>
            <a:r>
              <a:rPr sz="3200">
                <a:solidFill>
                  <a:schemeClr val="bg1"/>
                </a:solidFill>
                <a:sym typeface="+mn-ea"/>
              </a:rPr>
              <a:t>2.2.1 基本概念和术语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19812" name="Rectangle 4"/>
          <p:cNvSpPr>
            <a:spLocks noGrp="1"/>
          </p:cNvSpPr>
          <p:nvPr/>
        </p:nvSpPr>
        <p:spPr>
          <a:xfrm>
            <a:off x="361950" y="1196975"/>
            <a:ext cx="11413490" cy="51676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0" dirty="0">
                <a:solidFill>
                  <a:srgbClr val="0000FF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字母表（符号表、符号集）</a:t>
            </a:r>
            <a:r>
              <a:rPr lang="zh-CN" altLang="en-US" sz="2800" dirty="0">
                <a:latin typeface="华文琥珀" panose="02010800040101010101" pitchFamily="2" charset="-122"/>
                <a:ea typeface="华文琥珀" panose="02010800040101010101" pitchFamily="2" charset="-122"/>
              </a:rPr>
              <a:t> </a:t>
            </a: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由若干元素（符号、字母）组成的有限非空集合称为字母表。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不同的语言有不同的字母表，例如汉语的字母表中包括汉字、数字及标点符号等。</a:t>
            </a:r>
            <a:endParaRPr lang="zh-CN" altLang="en-US" sz="24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b="0" dirty="0">
                <a:solidFill>
                  <a:srgbClr val="0000FF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符号串</a:t>
            </a:r>
            <a:r>
              <a:rPr lang="zh-CN" altLang="en-US" sz="2800" b="0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由字母表中的符号组成的任何有穷序列称为符号串。</a:t>
            </a:r>
            <a:endParaRPr lang="en-US" altLang="zh-CN" sz="28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字母表</a:t>
            </a:r>
            <a:r>
              <a:rPr lang="en-US" altLang="zh-CN" dirty="0">
                <a:solidFill>
                  <a:srgbClr val="030305"/>
                </a:solidFill>
              </a:rPr>
              <a:t>A=｛a，b，c｝</a:t>
            </a:r>
            <a:r>
              <a:rPr lang="zh-CN" altLang="en-US" dirty="0">
                <a:solidFill>
                  <a:srgbClr val="030305"/>
                </a:solidFill>
              </a:rPr>
              <a:t>上的符号串有： </a:t>
            </a:r>
            <a:r>
              <a:rPr lang="en-US" altLang="zh-CN" dirty="0">
                <a:solidFill>
                  <a:srgbClr val="030305"/>
                </a:solidFill>
              </a:rPr>
              <a:t>a，b，c，ab，aaca。</a:t>
            </a:r>
            <a:endParaRPr lang="en-US" altLang="zh-CN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在符号串中，符号的顺序是很重要的，符号串</a:t>
            </a:r>
            <a:r>
              <a:rPr lang="en-US" altLang="zh-CN" dirty="0">
                <a:solidFill>
                  <a:srgbClr val="030305"/>
                </a:solidFill>
              </a:rPr>
              <a:t>ab</a:t>
            </a:r>
            <a:r>
              <a:rPr lang="zh-CN" altLang="en-US" dirty="0">
                <a:solidFill>
                  <a:srgbClr val="030305"/>
                </a:solidFill>
              </a:rPr>
              <a:t>不同于</a:t>
            </a:r>
            <a:r>
              <a:rPr lang="en-US" altLang="zh-CN" dirty="0">
                <a:solidFill>
                  <a:srgbClr val="030305"/>
                </a:solidFill>
              </a:rPr>
              <a:t>ba</a:t>
            </a:r>
            <a:r>
              <a:rPr lang="zh-CN" altLang="en-US" dirty="0">
                <a:solidFill>
                  <a:srgbClr val="030305"/>
                </a:solidFill>
              </a:rPr>
              <a:t>。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符号串的长度</a:t>
            </a:r>
            <a:r>
              <a:rPr lang="zh-CN" altLang="en-US" sz="2800" dirty="0"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 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如果某符号串</a:t>
            </a:r>
            <a:r>
              <a:rPr lang="en-US" altLang="zh-CN" sz="2800" dirty="0">
                <a:solidFill>
                  <a:srgbClr val="030305"/>
                </a:solidFill>
                <a:sym typeface="+mn-ea"/>
              </a:rPr>
              <a:t>x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中有</a:t>
            </a:r>
            <a:r>
              <a:rPr lang="en-US" altLang="zh-CN" sz="2800" dirty="0">
                <a:solidFill>
                  <a:srgbClr val="030305"/>
                </a:solidFill>
                <a:sym typeface="+mn-ea"/>
              </a:rPr>
              <a:t>m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个符号，则称其长度为</a:t>
            </a:r>
            <a:r>
              <a:rPr lang="en-US" altLang="zh-CN" sz="2800" dirty="0">
                <a:solidFill>
                  <a:srgbClr val="030305"/>
                </a:solidFill>
                <a:sym typeface="+mn-ea"/>
              </a:rPr>
              <a:t>m，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表示为｜</a:t>
            </a:r>
            <a:r>
              <a:rPr lang="en-US" altLang="zh-CN" sz="2800" dirty="0">
                <a:solidFill>
                  <a:srgbClr val="030305"/>
                </a:solidFill>
                <a:sym typeface="+mn-ea"/>
              </a:rPr>
              <a:t>x｜=m，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如001110的长度是6。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空符号串</a:t>
            </a:r>
            <a:r>
              <a:rPr lang="en-US" altLang="zh-CN" sz="2800" dirty="0">
                <a:solidFill>
                  <a:srgbClr val="FF0066"/>
                </a:solidFill>
                <a:sym typeface="+mn-ea"/>
              </a:rPr>
              <a:t>ε</a:t>
            </a:r>
            <a:r>
              <a:rPr lang="zh-CN" altLang="en-US" sz="2800" dirty="0">
                <a:solidFill>
                  <a:srgbClr val="030305"/>
                </a:solidFill>
                <a:sym typeface="+mn-ea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不包含任何符号的符号串，其长度为0，即｜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ε｜=0。</a:t>
            </a:r>
            <a:endParaRPr lang="en-US" altLang="zh-CN" sz="28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9812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9812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charRg st="10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19812">
                                            <p:txEl>
                                              <p:charRg st="106" end="1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charRg st="141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19812">
                                            <p:txEl>
                                              <p:charRg st="141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0" name="Rectangle 4"/>
          <p:cNvSpPr>
            <a:spLocks noGrp="1"/>
          </p:cNvSpPr>
          <p:nvPr/>
        </p:nvSpPr>
        <p:spPr>
          <a:xfrm>
            <a:off x="386715" y="1143000"/>
            <a:ext cx="11485245" cy="49466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</a:rPr>
              <a:t>符号串（包含空符号串）的连接</a:t>
            </a:r>
            <a:r>
              <a:rPr lang="zh-CN" altLang="en-US" sz="2800" dirty="0">
                <a:solidFill>
                  <a:srgbClr val="030305"/>
                </a:solidFill>
              </a:rPr>
              <a:t>：设</a:t>
            </a:r>
            <a:r>
              <a:rPr lang="en-US" altLang="zh-CN" sz="2800" dirty="0">
                <a:solidFill>
                  <a:srgbClr val="030305"/>
                </a:solidFill>
              </a:rPr>
              <a:t>x</a:t>
            </a:r>
            <a:r>
              <a:rPr lang="zh-CN" altLang="en-US" sz="2800" dirty="0">
                <a:solidFill>
                  <a:srgbClr val="030305"/>
                </a:solidFill>
              </a:rPr>
              <a:t>和</a:t>
            </a:r>
            <a:r>
              <a:rPr lang="en-US" altLang="zh-CN" sz="2800" dirty="0">
                <a:solidFill>
                  <a:srgbClr val="030305"/>
                </a:solidFill>
              </a:rPr>
              <a:t>y</a:t>
            </a:r>
            <a:r>
              <a:rPr lang="zh-CN" altLang="en-US" sz="2800" dirty="0">
                <a:solidFill>
                  <a:srgbClr val="030305"/>
                </a:solidFill>
              </a:rPr>
              <a:t>是符号串，它们的连接</a:t>
            </a:r>
            <a:r>
              <a:rPr lang="en-US" altLang="zh-CN" sz="2800" dirty="0">
                <a:solidFill>
                  <a:srgbClr val="030305"/>
                </a:solidFill>
              </a:rPr>
              <a:t>xy</a:t>
            </a:r>
            <a:r>
              <a:rPr lang="zh-CN" altLang="en-US" sz="2800" dirty="0">
                <a:solidFill>
                  <a:srgbClr val="030305"/>
                </a:solidFill>
              </a:rPr>
              <a:t>是把</a:t>
            </a:r>
            <a:r>
              <a:rPr lang="en-US" altLang="zh-CN" sz="2800" dirty="0">
                <a:solidFill>
                  <a:srgbClr val="030305"/>
                </a:solidFill>
              </a:rPr>
              <a:t>y</a:t>
            </a:r>
            <a:r>
              <a:rPr lang="zh-CN" altLang="en-US" sz="2800" dirty="0">
                <a:solidFill>
                  <a:srgbClr val="030305"/>
                </a:solidFill>
              </a:rPr>
              <a:t>的符号写在</a:t>
            </a:r>
            <a:r>
              <a:rPr lang="en-US" altLang="zh-CN" sz="2800" dirty="0">
                <a:solidFill>
                  <a:srgbClr val="030305"/>
                </a:solidFill>
              </a:rPr>
              <a:t>x</a:t>
            </a:r>
            <a:r>
              <a:rPr lang="zh-CN" altLang="en-US" sz="2800" dirty="0">
                <a:solidFill>
                  <a:srgbClr val="030305"/>
                </a:solidFill>
              </a:rPr>
              <a:t>的符号之后得到的符号串。</a:t>
            </a:r>
            <a:endParaRPr lang="en-US" altLang="zh-CN" sz="28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例如 </a:t>
            </a: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x=ST，y=abu，</a:t>
            </a: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则它们的连接 </a:t>
            </a: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xy=STabu</a:t>
            </a: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由于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ε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的含义，有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εx=xε=x。</a:t>
            </a:r>
            <a:endParaRPr lang="en-US" altLang="zh-CN" sz="240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符号串的方幂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：符号串自身连接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n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次得到的符号串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x</a:t>
            </a:r>
            <a:r>
              <a:rPr lang="en-US" altLang="zh-CN" sz="2400" baseline="30000" dirty="0">
                <a:solidFill>
                  <a:srgbClr val="030305"/>
                </a:solidFill>
                <a:sym typeface="+mn-ea"/>
              </a:rPr>
              <a:t>n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 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定义为 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xx…xx；  x</a:t>
            </a:r>
            <a:r>
              <a:rPr lang="en-US" altLang="zh-CN" sz="2400" baseline="30000" dirty="0">
                <a:solidFill>
                  <a:srgbClr val="030305"/>
                </a:solidFill>
                <a:sym typeface="+mn-ea"/>
              </a:rPr>
              <a:t>1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=x, x</a:t>
            </a:r>
            <a:r>
              <a:rPr lang="en-US" altLang="zh-CN" sz="2400" baseline="30000" dirty="0">
                <a:solidFill>
                  <a:srgbClr val="030305"/>
                </a:solidFill>
                <a:sym typeface="+mn-ea"/>
              </a:rPr>
              <a:t>2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=xx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，且规定</a:t>
            </a:r>
            <a:r>
              <a:rPr lang="en-US" altLang="zh-CN" sz="2400" dirty="0">
                <a:solidFill>
                  <a:srgbClr val="FF3399"/>
                </a:solidFill>
                <a:sym typeface="+mn-ea"/>
              </a:rPr>
              <a:t>x</a:t>
            </a:r>
            <a:r>
              <a:rPr lang="en-US" altLang="zh-CN" sz="2400" baseline="30000" dirty="0">
                <a:solidFill>
                  <a:srgbClr val="FF3399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rgbClr val="FF3399"/>
                </a:solidFill>
                <a:sym typeface="+mn-ea"/>
              </a:rPr>
              <a:t>=ε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。</a:t>
            </a:r>
            <a:endParaRPr lang="zh-CN" altLang="en-US" sz="2400" dirty="0">
              <a:solidFill>
                <a:srgbClr val="030305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rgbClr val="0000FF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符号串集合（或语言）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：若集合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A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中所有元素都是某字母表</a:t>
            </a:r>
            <a:r>
              <a:rPr lang="zh-CN" altLang="en-US" sz="2400" dirty="0">
                <a:solidFill>
                  <a:srgbClr val="030305"/>
                </a:solidFill>
                <a:sym typeface="Symbol" panose="05050102010706020507" pitchFamily="18" charset="2"/>
              </a:rPr>
              <a:t>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上的符号串，则称</a:t>
            </a:r>
            <a:r>
              <a:rPr lang="en-US" altLang="zh-CN" sz="2400" dirty="0">
                <a:solidFill>
                  <a:srgbClr val="030305"/>
                </a:solidFill>
                <a:sym typeface="+mn-ea"/>
              </a:rPr>
              <a:t>A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为字母表</a:t>
            </a:r>
            <a:r>
              <a:rPr lang="zh-CN" altLang="en-US" sz="2400" dirty="0">
                <a:solidFill>
                  <a:srgbClr val="030305"/>
                </a:solidFill>
                <a:sym typeface="Symbol" panose="05050102010706020507" pitchFamily="18" charset="2"/>
              </a:rPr>
              <a:t></a:t>
            </a:r>
            <a:r>
              <a:rPr lang="zh-CN" altLang="en-US" sz="2400" dirty="0">
                <a:solidFill>
                  <a:srgbClr val="030305"/>
                </a:solidFill>
                <a:sym typeface="+mn-ea"/>
              </a:rPr>
              <a:t>上的符号串集合（或语言）。</a:t>
            </a:r>
            <a:r>
              <a:rPr lang="en-US" altLang="zh-CN" sz="2400" b="0" dirty="0">
                <a:solidFill>
                  <a:srgbClr val="0000FF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C</a:t>
            </a:r>
            <a:r>
              <a:rPr lang="zh-CN" altLang="en-US" sz="2400" b="0" dirty="0">
                <a:solidFill>
                  <a:srgbClr val="0000FF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语言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  <a:sym typeface="+mn-ea"/>
              </a:rPr>
              <a:t>？</a:t>
            </a:r>
            <a:endParaRPr lang="zh-CN" altLang="en-US" sz="24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endParaRPr lang="zh-CN" altLang="en-US" sz="2400" dirty="0">
              <a:solidFill>
                <a:srgbClr val="03030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61950" y="276860"/>
            <a:ext cx="7323455" cy="59309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</a:pPr>
            <a:r>
              <a:rPr sz="3200">
                <a:solidFill>
                  <a:schemeClr val="bg1"/>
                </a:solidFill>
                <a:sym typeface="+mn-ea"/>
              </a:rPr>
              <a:t>2.2.1 基本概念和术语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charRg st="137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1860">
                                            <p:txEl>
                                              <p:charRg st="137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>
                                            <p:txEl>
                                              <p:charRg st="168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21860">
                                            <p:txEl>
                                              <p:charRg st="168" end="1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4595" y="1988185"/>
            <a:ext cx="6194425" cy="3012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五边形 10"/>
          <p:cNvSpPr/>
          <p:nvPr/>
        </p:nvSpPr>
        <p:spPr>
          <a:xfrm>
            <a:off x="4601210" y="1357313"/>
            <a:ext cx="3571875" cy="571500"/>
          </a:xfrm>
          <a:prstGeom prst="homePlate">
            <a:avLst>
              <a:gd name="adj" fmla="val 0"/>
            </a:avLst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3200" b="1" dirty="0">
                <a:latin typeface="Verdana" panose="020B0604030504040204" pitchFamily="34" charset="0"/>
              </a:rPr>
              <a:t>符号串集合的操作</a:t>
            </a:r>
            <a:endParaRPr lang="zh-CN" altLang="en-US" sz="32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9461" name="矩形 11"/>
          <p:cNvSpPr/>
          <p:nvPr/>
        </p:nvSpPr>
        <p:spPr>
          <a:xfrm>
            <a:off x="2611120" y="2438718"/>
            <a:ext cx="1198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dirty="0">
                <a:latin typeface="Verdana" panose="020B0604030504040204" pitchFamily="34" charset="0"/>
              </a:rPr>
              <a:t>并（和）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9462" name="矩形 12"/>
          <p:cNvSpPr/>
          <p:nvPr/>
        </p:nvSpPr>
        <p:spPr>
          <a:xfrm>
            <a:off x="2782570" y="2883535"/>
            <a:ext cx="690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dirty="0">
                <a:latin typeface="Verdana" panose="020B0604030504040204" pitchFamily="34" charset="0"/>
              </a:rPr>
              <a:t>连接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9463" name="矩形 13"/>
          <p:cNvSpPr/>
          <p:nvPr/>
        </p:nvSpPr>
        <p:spPr>
          <a:xfrm>
            <a:off x="2782253" y="3398838"/>
            <a:ext cx="690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dirty="0">
                <a:latin typeface="Verdana" panose="020B0604030504040204" pitchFamily="34" charset="0"/>
              </a:rPr>
              <a:t>闭包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9464" name="矩形 14"/>
          <p:cNvSpPr/>
          <p:nvPr/>
        </p:nvSpPr>
        <p:spPr>
          <a:xfrm>
            <a:off x="2655253" y="4473575"/>
            <a:ext cx="944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dirty="0">
                <a:latin typeface="Verdana" panose="020B0604030504040204" pitchFamily="34" charset="0"/>
              </a:rPr>
              <a:t>正闭包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-78740" y="5107305"/>
            <a:ext cx="118306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 eaLnBrk="1" hangingPunct="1"/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若集合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A=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a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b ，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0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1，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则它们的并、连接、闭包和正闭包？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61950" y="276860"/>
            <a:ext cx="7323455" cy="59309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</a:pPr>
            <a:r>
              <a:rPr sz="3200">
                <a:solidFill>
                  <a:schemeClr val="bg1"/>
                </a:solidFill>
                <a:sym typeface="+mn-ea"/>
              </a:rPr>
              <a:t>2.2.1 基本概念和术语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/>
          <p:cNvSpPr>
            <a:spLocks noGrp="1"/>
          </p:cNvSpPr>
          <p:nvPr/>
        </p:nvSpPr>
        <p:spPr>
          <a:xfrm>
            <a:off x="405765" y="1196975"/>
            <a:ext cx="11425555" cy="408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若用表示空集，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表示任意非空的符号串的集合，则有：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A∪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32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∪A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3200" dirty="0">
                <a:solidFill>
                  <a:srgbClr val="FF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sz="3200" dirty="0">
              <a:solidFill>
                <a:srgbClr val="FF3399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A =  A =  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{}A = A{} 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若集合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A=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a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b ，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B = 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0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1，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则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AB =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a1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a0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b0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b1；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={ε,a,b,aa,ab,ba,bb,aaa,aab,…}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={a,b,aa,ab,ba,bb,aaa,aab,…}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4934" name="AutoShape 6"/>
          <p:cNvSpPr/>
          <p:nvPr/>
        </p:nvSpPr>
        <p:spPr>
          <a:xfrm>
            <a:off x="6743700" y="1628775"/>
            <a:ext cx="2736850" cy="863600"/>
          </a:xfrm>
          <a:prstGeom prst="cloudCallout">
            <a:avLst>
              <a:gd name="adj1" fmla="val -168839"/>
              <a:gd name="adj2" fmla="val 162573"/>
            </a:avLst>
          </a:prstGeom>
          <a:noFill/>
          <a:ln w="952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dirty="0">
                <a:latin typeface="Verdana" panose="020B0604030504040204" pitchFamily="34" charset="0"/>
              </a:rPr>
              <a:t>空符号串形成的集合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61950" y="276860"/>
            <a:ext cx="7323455" cy="59309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</a:pPr>
            <a:r>
              <a:rPr sz="3200">
                <a:solidFill>
                  <a:schemeClr val="bg1"/>
                </a:solidFill>
                <a:sym typeface="+mn-ea"/>
              </a:rPr>
              <a:t>2.2.1 基本概念和术语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4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4932">
                                            <p:txEl>
                                              <p:charRg st="41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55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24932">
                                            <p:txEl>
                                              <p:charRg st="55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68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24932">
                                            <p:txEl>
                                              <p:charRg st="68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94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24932">
                                            <p:txEl>
                                              <p:charRg st="94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11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24932">
                                            <p:txEl>
                                              <p:charRg st="113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24932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3782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507" name="Rectangle 5"/>
          <p:cNvSpPr>
            <a:spLocks noGrp="1"/>
          </p:cNvSpPr>
          <p:nvPr/>
        </p:nvSpPr>
        <p:spPr>
          <a:xfrm>
            <a:off x="337820" y="1196975"/>
            <a:ext cx="9754235" cy="29527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2.2.1 基本概念和术语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2.2.2 </a:t>
            </a:r>
            <a:r>
              <a:rPr lang="zh-CN" altLang="en-US" dirty="0">
                <a:solidFill>
                  <a:srgbClr val="030305"/>
                </a:solidFill>
              </a:rPr>
              <a:t>正规表达式的定义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30305"/>
                </a:solidFill>
              </a:rPr>
              <a:t>2.2.3</a:t>
            </a:r>
            <a:r>
              <a:rPr lang="en-US" altLang="zh-CN" dirty="0">
                <a:solidFill>
                  <a:srgbClr val="030305"/>
                </a:solidFill>
              </a:rPr>
              <a:t> </a:t>
            </a:r>
            <a:r>
              <a:rPr lang="zh-CN" altLang="en-US" dirty="0">
                <a:solidFill>
                  <a:srgbClr val="030305"/>
                </a:solidFill>
              </a:rPr>
              <a:t>正规表达式的扩展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30305"/>
                </a:solidFill>
              </a:rPr>
              <a:t>2.2.</a:t>
            </a:r>
            <a:r>
              <a:rPr lang="en-US" altLang="zh-CN" dirty="0">
                <a:solidFill>
                  <a:srgbClr val="030305"/>
                </a:solidFill>
              </a:rPr>
              <a:t>4</a:t>
            </a:r>
            <a:r>
              <a:rPr lang="zh-CN" altLang="en-US" dirty="0">
                <a:solidFill>
                  <a:srgbClr val="030305"/>
                </a:solidFill>
              </a:rPr>
              <a:t> 单词的正规表达式举例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30305"/>
                </a:solidFill>
              </a:rPr>
              <a:t>讨论：正规表达式的应用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/>
          </p:cNvSpPr>
          <p:nvPr/>
        </p:nvSpPr>
        <p:spPr>
          <a:xfrm>
            <a:off x="333375" y="1216660"/>
            <a:ext cx="11534140" cy="31978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正规表达式</a:t>
            </a:r>
            <a:r>
              <a:rPr lang="zh-CN" altLang="en-US" sz="2800" dirty="0"/>
              <a:t>（也称正则表达式）</a:t>
            </a:r>
            <a:endParaRPr lang="zh-CN" altLang="en-US" sz="2800" dirty="0"/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25" dirty="0">
                <a:solidFill>
                  <a:srgbClr val="030305"/>
                </a:solidFill>
              </a:rPr>
              <a:t>用特定的</a:t>
            </a:r>
            <a:r>
              <a:rPr lang="zh-CN" altLang="en-US" sz="2425" dirty="0">
                <a:solidFill>
                  <a:srgbClr val="FF0000"/>
                </a:solidFill>
              </a:rPr>
              <a:t>运算符</a:t>
            </a:r>
            <a:r>
              <a:rPr lang="zh-CN" altLang="en-US" sz="2425" dirty="0">
                <a:solidFill>
                  <a:srgbClr val="030305"/>
                </a:solidFill>
              </a:rPr>
              <a:t>及</a:t>
            </a:r>
            <a:r>
              <a:rPr lang="zh-CN" altLang="en-US" sz="2425" dirty="0">
                <a:solidFill>
                  <a:srgbClr val="FF0000"/>
                </a:solidFill>
              </a:rPr>
              <a:t>运算对象</a:t>
            </a:r>
            <a:r>
              <a:rPr lang="zh-CN" altLang="en-US" sz="2425" dirty="0">
                <a:solidFill>
                  <a:srgbClr val="030305"/>
                </a:solidFill>
              </a:rPr>
              <a:t>按规则构造的表达式</a:t>
            </a:r>
            <a:endParaRPr lang="en-US" altLang="zh-CN" sz="2425" dirty="0"/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245" dirty="0"/>
              <a:t>每个正规表达式匹配（或代表、或表示）一个字符串的集合（称为</a:t>
            </a:r>
            <a:r>
              <a:rPr lang="zh-CN" altLang="en-US" sz="2245" dirty="0">
                <a:solidFill>
                  <a:srgbClr val="FF0000"/>
                </a:solidFill>
              </a:rPr>
              <a:t>正规集</a:t>
            </a:r>
            <a:r>
              <a:rPr lang="zh-CN" altLang="en-US" sz="2245" dirty="0"/>
              <a:t>）</a:t>
            </a:r>
            <a:endParaRPr lang="en-US" altLang="zh-CN" sz="2245" dirty="0"/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245" dirty="0"/>
              <a:t>正规表达式用有限的表达式去解决无限个字符串匹配的问题</a:t>
            </a:r>
            <a:endParaRPr lang="zh-CN" altLang="en-US" sz="2245" dirty="0"/>
          </a:p>
          <a:p>
            <a:pPr lvl="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95" dirty="0">
                <a:solidFill>
                  <a:srgbClr val="08080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用正规表达式描述程序设计语言</a:t>
            </a:r>
            <a:r>
              <a:rPr lang="zh-CN" altLang="en-US" sz="2595" dirty="0">
                <a:solidFill>
                  <a:srgbClr val="08080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的词法规则。</a:t>
            </a:r>
            <a:endParaRPr lang="en-US" altLang="zh-CN" sz="2595" dirty="0">
              <a:solidFill>
                <a:srgbClr val="08080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595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Java</a:t>
            </a:r>
            <a:r>
              <a:rPr lang="zh-CN" altLang="en-US" sz="2595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的词法规则：</a:t>
            </a:r>
            <a:r>
              <a:rPr lang="en-US" altLang="zh-CN" sz="2595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  <a:hlinkClick r:id="rId1"/>
              </a:rPr>
              <a:t>https://docs.oracle.com/javase/specs/jls/se13/html/jls-3.html#jls-3.2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" name="文本占位符 1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/>
        </p:nvSpPr>
        <p:spPr>
          <a:xfrm>
            <a:off x="457835" y="1714500"/>
            <a:ext cx="11345545" cy="45008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设有字母表为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Σ，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辅助字母表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Σ’={ф, ε,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|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/>
              </a:rPr>
              <a:t>*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 ,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(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}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，正规表达式和它所表示的正规集(字符串的集合，也是正规表达式定义的语言)的递归定义如下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：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ε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和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ф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Σ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上的正规式，它们所表示的正规集分别为{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ε }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和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{ }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；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若</a:t>
            </a:r>
            <a:r>
              <a:rPr kumimoji="1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a∈Σ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，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则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Σ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上的正规式，它所表示的正规集为{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a}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；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 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</p:txBody>
      </p:sp>
      <p:graphicFrame>
        <p:nvGraphicFramePr>
          <p:cNvPr id="8" name="图示 7"/>
          <p:cNvGraphicFramePr/>
          <p:nvPr/>
        </p:nvGraphicFramePr>
        <p:xfrm>
          <a:off x="635000" y="1196975"/>
          <a:ext cx="11080115" cy="588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71600" y="5239385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若：={</a:t>
            </a:r>
            <a:r>
              <a:rPr kumimoji="1" lang="en-US" altLang="zh-CN" sz="2600" b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a，b</a:t>
            </a:r>
            <a:r>
              <a:rPr kumimoji="1"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kumimoji="1"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kumimoji="1"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？</a:t>
            </a:r>
            <a:endParaRPr kumimoji="1" lang="zh-CN" altLang="en-US" sz="2600" b="1" dirty="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占位符 4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charRg st="75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9026">
                                            <p:txEl>
                                              <p:charRg st="75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charRg st="109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29026">
                                            <p:txEl>
                                              <p:charRg st="109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/>
          <p:nvPr/>
        </p:nvSpPr>
        <p:spPr>
          <a:xfrm>
            <a:off x="1905000" y="1370013"/>
            <a:ext cx="8153400" cy="1066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AutoNum type="arabicParenBoth" startAt="3"/>
            </a:pPr>
            <a:endParaRPr lang="en-US" altLang="zh-CN" sz="3200" baseline="-300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053" name="Rectangle 5"/>
          <p:cNvSpPr>
            <a:spLocks noGrp="1" noChangeArrowheads="1"/>
          </p:cNvSpPr>
          <p:nvPr/>
        </p:nvSpPr>
        <p:spPr>
          <a:xfrm>
            <a:off x="453390" y="1743075"/>
            <a:ext cx="11276330" cy="3857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 startAt="3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若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和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是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Σ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上的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正规式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，它们所表示的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正规集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分别为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L(r)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和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L(s)，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则：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r|s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正规式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，表示的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正规集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L(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r|s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)=L(r)∪L(s) ；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rs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正规式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，表示的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正规集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L(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rs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)=L(r)L(s) ；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r*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正规式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，表示的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正规集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为(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L(r))*。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r)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正规式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，表示的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正规集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L(r)；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</p:txBody>
      </p:sp>
      <p:sp>
        <p:nvSpPr>
          <p:cNvPr id="130054" name="AutoShape 6"/>
          <p:cNvSpPr/>
          <p:nvPr/>
        </p:nvSpPr>
        <p:spPr>
          <a:xfrm>
            <a:off x="9679940" y="3302318"/>
            <a:ext cx="1803400" cy="1368425"/>
          </a:xfrm>
          <a:prstGeom prst="cloudCallout">
            <a:avLst>
              <a:gd name="adj1" fmla="val -93098"/>
              <a:gd name="adj2" fmla="val -58004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9">
                <a:srgbClr val="85C2FF">
                  <a:alpha val="100000"/>
                </a:srgbClr>
              </a:gs>
              <a:gs pos="70000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3030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“.”</a:t>
            </a:r>
            <a:r>
              <a:rPr lang="zh-CN" altLang="en-US" sz="2400" dirty="0">
                <a:solidFill>
                  <a:srgbClr val="030305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运算符常省略</a:t>
            </a:r>
            <a:endParaRPr lang="zh-CN" altLang="en-US" sz="2400" dirty="0">
              <a:solidFill>
                <a:srgbClr val="030305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b="0" dirty="0">
              <a:latin typeface="Arial" panose="020B0604020202020204" pitchFamily="34" charset="0"/>
            </a:endParaRPr>
          </a:p>
        </p:txBody>
      </p:sp>
      <p:grpSp>
        <p:nvGrpSpPr>
          <p:cNvPr id="25607" name="组合 9"/>
          <p:cNvGrpSpPr/>
          <p:nvPr/>
        </p:nvGrpSpPr>
        <p:grpSpPr>
          <a:xfrm>
            <a:off x="414655" y="1200150"/>
            <a:ext cx="11353800" cy="589280"/>
            <a:chOff x="0" y="0"/>
            <a:chExt cx="8308975" cy="588656"/>
          </a:xfrm>
        </p:grpSpPr>
        <p:sp>
          <p:nvSpPr>
            <p:cNvPr id="11" name="圆角矩形 10"/>
            <p:cNvSpPr/>
            <p:nvPr/>
          </p:nvSpPr>
          <p:spPr>
            <a:xfrm>
              <a:off x="0" y="0"/>
              <a:ext cx="8308975" cy="58865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圆角矩形 4"/>
            <p:cNvSpPr/>
            <p:nvPr/>
          </p:nvSpPr>
          <p:spPr>
            <a:xfrm>
              <a:off x="28575" y="28560"/>
              <a:ext cx="8251825" cy="5315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1920" tIns="121920" rIns="121920" bIns="121920" spcCol="1270" anchor="ctr"/>
            <a:lstStyle/>
            <a:p>
              <a:pPr marL="0" marR="0" lvl="0" indent="0" algn="l" defTabSz="1422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350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定义</a:t>
              </a: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续</a:t>
              </a: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)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2102" name="Rectangle 6"/>
          <p:cNvSpPr>
            <a:spLocks noGrp="1" noChangeArrowheads="1"/>
          </p:cNvSpPr>
          <p:nvPr/>
        </p:nvSpPr>
        <p:spPr>
          <a:xfrm>
            <a:off x="453390" y="4351020"/>
            <a:ext cx="11362690" cy="3378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33655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3655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67080" y="4396105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若：={</a:t>
            </a:r>
            <a:r>
              <a:rPr kumimoji="1" lang="en-US" altLang="zh-CN" sz="2600" b="1" dirty="0" err="1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a，b</a:t>
            </a:r>
            <a:r>
              <a:rPr kumimoji="1"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kumimoji="1"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？</a:t>
            </a:r>
            <a:endParaRPr kumimoji="1" lang="zh-CN" altLang="en-US" sz="2600" b="1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14145" y="4887278"/>
          <a:ext cx="3857625" cy="500062"/>
        </p:xfrm>
        <a:graphic>
          <a:graphicData uri="http://schemas.openxmlformats.org/drawingml/2006/table">
            <a:tbl>
              <a:tblPr/>
              <a:tblGrid>
                <a:gridCol w="3857625"/>
              </a:tblGrid>
              <a:tr h="500062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b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39" marR="914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14145" y="5387340"/>
          <a:ext cx="3857625" cy="499745"/>
        </p:xfrm>
        <a:graphic>
          <a:graphicData uri="http://schemas.openxmlformats.org/drawingml/2006/table">
            <a:tbl>
              <a:tblPr/>
              <a:tblGrid>
                <a:gridCol w="3857625"/>
              </a:tblGrid>
              <a:tr h="49974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 err="1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ab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39" marR="914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414145" y="5887403"/>
          <a:ext cx="3857625" cy="500062"/>
        </p:xfrm>
        <a:graphic>
          <a:graphicData uri="http://schemas.openxmlformats.org/drawingml/2006/table">
            <a:tbl>
              <a:tblPr/>
              <a:tblGrid>
                <a:gridCol w="3857625"/>
              </a:tblGrid>
              <a:tr h="500062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a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39" marR="914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273358" y="4887278"/>
          <a:ext cx="4070350" cy="500062"/>
        </p:xfrm>
        <a:graphic>
          <a:graphicData uri="http://schemas.openxmlformats.org/drawingml/2006/table">
            <a:tbl>
              <a:tblPr/>
              <a:tblGrid>
                <a:gridCol w="4070350"/>
              </a:tblGrid>
              <a:tr h="500062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{a}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/>
                        </a:rPr>
                        <a:t>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{b}={a, b}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54" marR="91454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5271770" y="5387340"/>
          <a:ext cx="4070350" cy="499745"/>
        </p:xfrm>
        <a:graphic>
          <a:graphicData uri="http://schemas.openxmlformats.org/drawingml/2006/table">
            <a:tbl>
              <a:tblPr/>
              <a:tblGrid>
                <a:gridCol w="4070350"/>
              </a:tblGrid>
              <a:tr h="49974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{a}{b}={</a:t>
                      </a:r>
                      <a:r>
                        <a:rPr kumimoji="1" lang="en-US" altLang="zh-CN" sz="2600" b="1" kern="1200" dirty="0" err="1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ab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}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54" marR="91454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5271770" y="5887403"/>
          <a:ext cx="4070350" cy="500062"/>
        </p:xfrm>
        <a:graphic>
          <a:graphicData uri="http://schemas.openxmlformats.org/drawingml/2006/table">
            <a:tbl>
              <a:tblPr/>
              <a:tblGrid>
                <a:gridCol w="4070350"/>
              </a:tblGrid>
              <a:tr h="500062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{a}={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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,</a:t>
                      </a:r>
                      <a:r>
                        <a:rPr kumimoji="1" lang="en-US" altLang="zh-CN" sz="2600" b="1" kern="1200" dirty="0" err="1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a,aa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, 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…}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54" marR="91454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文本占位符 4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3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30053">
                                            <p:txEl>
                                              <p:charRg st="37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71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30053">
                                            <p:txEl>
                                              <p:charRg st="71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10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130053">
                                            <p:txEl>
                                              <p:charRg st="102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125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130053">
                                            <p:txEl>
                                              <p:charRg st="125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425" y="1628775"/>
            <a:ext cx="11229975" cy="1593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28955" marR="0" lvl="0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 startAt="4"/>
              <a:defRPr/>
            </a:pP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有限次使用上述步骤</a:t>
            </a:r>
            <a:r>
              <a:rPr kumimoji="1" lang="en-US" altLang="zh-CN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3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而定义的表达式是</a:t>
            </a:r>
            <a:r>
              <a:rPr kumimoji="1" lang="en-US" altLang="zh-CN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Σ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上的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sym typeface="+mn-ea"/>
              </a:rPr>
              <a:t>正规式</a:t>
            </a:r>
            <a:r>
              <a:rPr kumimoji="1" lang="zh-CN" altLang="en-US" sz="2600" b="1" kern="0" noProof="0" dirty="0">
                <a:ln>
                  <a:noFill/>
                </a:ln>
                <a:effectLst/>
                <a:uLnTx/>
                <a:uFillTx/>
                <a:latin typeface="+mj-lt"/>
                <a:sym typeface="+mn-ea"/>
              </a:rPr>
              <a:t>，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由这些正规式所表示的符号串集合是</a:t>
            </a:r>
            <a:r>
              <a:rPr kumimoji="1" lang="en-US" altLang="zh-CN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Σ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上的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sym typeface="+mn-ea"/>
              </a:rPr>
              <a:t>正规集。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注：算符的优先级为先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sym typeface="+mn-ea"/>
              </a:rPr>
              <a:t>“ </a:t>
            </a:r>
            <a:r>
              <a:rPr kumimoji="1" lang="en-US" altLang="zh-CN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sym typeface="+mn-ea"/>
              </a:rPr>
              <a:t>( )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sym typeface="+mn-ea"/>
              </a:rPr>
              <a:t> ”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“ * ”，再“ . ”最后“ | ” 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sym typeface="+mn-ea"/>
              </a:rPr>
              <a:t>，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它们满足左结合律。</a:t>
            </a:r>
            <a:endParaRPr kumimoji="1" lang="zh-CN" altLang="en-US" sz="2600" b="1" kern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8215" y="4481513"/>
          <a:ext cx="3857625" cy="500062"/>
        </p:xfrm>
        <a:graphic>
          <a:graphicData uri="http://schemas.openxmlformats.org/drawingml/2006/table">
            <a:tbl>
              <a:tblPr/>
              <a:tblGrid>
                <a:gridCol w="3857625"/>
              </a:tblGrid>
              <a:tr h="500062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(a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b)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39" marR="9143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817428" y="4465638"/>
          <a:ext cx="4070350" cy="487680"/>
        </p:xfrm>
        <a:graphic>
          <a:graphicData uri="http://schemas.openxmlformats.org/drawingml/2006/table">
            <a:tbl>
              <a:tblPr/>
              <a:tblGrid>
                <a:gridCol w="4070350"/>
              </a:tblGrid>
              <a:tr h="487680">
                <a:tc>
                  <a:txBody>
                    <a:bodyPr/>
                    <a:p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1" lang="en-US" altLang="zh-CN" sz="2600" b="1" kern="1200" dirty="0" err="1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ε,a,b,aa,ab,ba,bb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,…}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54" marR="91454" marT="45563" marB="45563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58215" y="3981450"/>
          <a:ext cx="3860800" cy="499745"/>
        </p:xfrm>
        <a:graphic>
          <a:graphicData uri="http://schemas.openxmlformats.org/drawingml/2006/table">
            <a:tbl>
              <a:tblPr/>
              <a:tblGrid>
                <a:gridCol w="3860800"/>
              </a:tblGrid>
              <a:tr h="49974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(a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b)(a</a:t>
                      </a:r>
                      <a:r>
                        <a:rPr kumimoji="1" lang="zh-CN" altLang="en-US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b)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817428" y="3981450"/>
          <a:ext cx="4070350" cy="499745"/>
        </p:xfrm>
        <a:graphic>
          <a:graphicData uri="http://schemas.openxmlformats.org/drawingml/2006/table">
            <a:tbl>
              <a:tblPr/>
              <a:tblGrid>
                <a:gridCol w="4070350"/>
              </a:tblGrid>
              <a:tr h="49974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{</a:t>
                      </a:r>
                      <a:r>
                        <a:rPr kumimoji="1" lang="en-US" altLang="zh-CN" sz="2600" b="1" kern="1200" dirty="0" err="1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aa,ab,ba,bb</a:t>
                      </a:r>
                      <a:r>
                        <a:rPr kumimoji="1" lang="en-US" altLang="zh-CN" sz="2600" b="1" kern="1200" dirty="0">
                          <a:solidFill>
                            <a:srgbClr val="030305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}</a:t>
                      </a:r>
                      <a:endParaRPr kumimoji="1" lang="zh-CN" altLang="en-US" sz="2600" b="1" kern="1200" dirty="0">
                        <a:solidFill>
                          <a:srgbClr val="030305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91454" marR="91454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906780" y="3379470"/>
            <a:ext cx="6096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若：={</a:t>
            </a:r>
            <a:r>
              <a:rPr kumimoji="1" lang="en-US" altLang="zh-CN" sz="2600" b="1" dirty="0" err="1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a，b</a:t>
            </a:r>
            <a:r>
              <a:rPr kumimoji="1"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，那么</a:t>
            </a:r>
            <a:r>
              <a:rPr kumimoji="1"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？</a:t>
            </a:r>
            <a:endParaRPr kumimoji="1" lang="zh-CN" altLang="en-US" sz="2600" b="1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文本占位符 9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5" name="组合 9"/>
          <p:cNvGrpSpPr/>
          <p:nvPr/>
        </p:nvGrpSpPr>
        <p:grpSpPr>
          <a:xfrm>
            <a:off x="414655" y="1200150"/>
            <a:ext cx="11353800" cy="589280"/>
            <a:chOff x="0" y="0"/>
            <a:chExt cx="8308975" cy="588656"/>
          </a:xfrm>
        </p:grpSpPr>
        <p:sp>
          <p:nvSpPr>
            <p:cNvPr id="16" name="圆角矩形 15"/>
            <p:cNvSpPr/>
            <p:nvPr/>
          </p:nvSpPr>
          <p:spPr>
            <a:xfrm>
              <a:off x="0" y="0"/>
              <a:ext cx="8308975" cy="58865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圆角矩形 4"/>
            <p:cNvSpPr/>
            <p:nvPr/>
          </p:nvSpPr>
          <p:spPr>
            <a:xfrm>
              <a:off x="28575" y="28560"/>
              <a:ext cx="8251825" cy="5315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1920" tIns="121920" rIns="121920" bIns="121920" spcCol="1270" anchor="ctr"/>
            <a:lstStyle/>
            <a:p>
              <a:pPr marL="0" marR="0" lvl="0" indent="0" algn="l" defTabSz="1422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350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1" 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定义</a:t>
              </a: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(</a:t>
              </a:r>
              <a:r>
                <a:rPr kumimoji="1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续</a:t>
              </a:r>
              <a:r>
                <a:rPr kumimoji="1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)</a:t>
              </a:r>
              <a:endPara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3" name="Rectangle 7"/>
          <p:cNvSpPr>
            <a:spLocks noGrp="1"/>
          </p:cNvSpPr>
          <p:nvPr/>
        </p:nvSpPr>
        <p:spPr>
          <a:xfrm>
            <a:off x="361315" y="1196340"/>
            <a:ext cx="11470005" cy="42481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</a:rPr>
              <a:t>正规式(</a:t>
            </a:r>
            <a:r>
              <a:rPr lang="en-US" altLang="zh-CN" sz="2800" dirty="0">
                <a:solidFill>
                  <a:srgbClr val="030305"/>
                </a:solidFill>
              </a:rPr>
              <a:t>a)| ((b) * (c))</a:t>
            </a:r>
            <a:r>
              <a:rPr lang="zh-CN" altLang="en-US" sz="2800" dirty="0">
                <a:solidFill>
                  <a:srgbClr val="030305"/>
                </a:solidFill>
              </a:rPr>
              <a:t> 所表示的正规集为：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根据运算符的优先级，上述正规式可以表示成 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a|b*c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a|b*c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所表示的正规集为：字符串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以及由零个或多个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后跟一个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c 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形成的字符串的集合。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或写成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L(a|b*c)={a} ∪{b}*{c}= {a} ∪{b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c | n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是大于或等于0的整数}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占位符 9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>
                                            <p:txEl>
                                              <p:charRg st="57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10343">
                                            <p:txEl>
                                              <p:charRg st="57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>
                                            <p:txEl>
                                              <p:charRg st="101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10343">
                                            <p:txEl>
                                              <p:charRg st="101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/>
          <p:cNvSpPr/>
          <p:nvPr/>
        </p:nvSpPr>
        <p:spPr>
          <a:xfrm>
            <a:off x="4550093" y="2898458"/>
            <a:ext cx="1108075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aa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endParaRPr lang="en-US" altLang="zh-CN" sz="2800" baseline="300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8245" name="Rectangle 5"/>
          <p:cNvSpPr/>
          <p:nvPr/>
        </p:nvSpPr>
        <p:spPr>
          <a:xfrm>
            <a:off x="5843905" y="2898458"/>
            <a:ext cx="13716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a|aa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endParaRPr lang="en-US" altLang="zh-CN" sz="2800" baseline="300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658" name="Rectangle 9"/>
          <p:cNvSpPr>
            <a:spLocks noGrp="1"/>
          </p:cNvSpPr>
          <p:nvPr/>
        </p:nvSpPr>
        <p:spPr>
          <a:xfrm>
            <a:off x="386080" y="1287145"/>
            <a:ext cx="11436350" cy="8515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3399"/>
                </a:solidFill>
              </a:rPr>
              <a:t>给定一个正规式，它唯一确定一个正规集；给定一个正规集，则可由多个不同的正规式表示。</a:t>
            </a:r>
            <a:endParaRPr lang="zh-CN" altLang="en-US" sz="2800" dirty="0">
              <a:solidFill>
                <a:srgbClr val="FF3399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25" dirty="0">
                <a:solidFill>
                  <a:srgbClr val="030305"/>
                </a:solidFill>
              </a:rPr>
              <a:t>例如：集合</a:t>
            </a:r>
            <a:r>
              <a:rPr lang="en-US" altLang="zh-CN" sz="2080" dirty="0">
                <a:solidFill>
                  <a:srgbClr val="030305"/>
                </a:solidFill>
                <a:sym typeface="Symbol" panose="05050102010706020507" pitchFamily="18" charset="2"/>
              </a:rPr>
              <a:t>{a,aa, aaa,</a:t>
            </a:r>
            <a:r>
              <a:rPr lang="zh-CN" altLang="en-US" sz="2080" dirty="0">
                <a:solidFill>
                  <a:srgbClr val="030305"/>
                </a:solidFill>
                <a:sym typeface="Symbol" panose="05050102010706020507" pitchFamily="18" charset="2"/>
              </a:rPr>
              <a:t>……任意个</a:t>
            </a:r>
            <a:r>
              <a:rPr lang="en-US" altLang="zh-CN" sz="2080" dirty="0">
                <a:solidFill>
                  <a:srgbClr val="030305"/>
                </a:solidFill>
                <a:sym typeface="Symbol" panose="05050102010706020507" pitchFamily="18" charset="2"/>
              </a:rPr>
              <a:t>a</a:t>
            </a:r>
            <a:r>
              <a:rPr lang="zh-CN" altLang="en-US" sz="2080" dirty="0">
                <a:solidFill>
                  <a:srgbClr val="030305"/>
                </a:solidFill>
                <a:sym typeface="Symbol" panose="05050102010706020507" pitchFamily="18" charset="2"/>
              </a:rPr>
              <a:t>的串}对应的正规式有：</a:t>
            </a:r>
            <a:endParaRPr lang="zh-CN" altLang="en-US" sz="208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lang="zh-CN" altLang="en-US" sz="2400" dirty="0">
              <a:solidFill>
                <a:srgbClr val="030305"/>
              </a:solidFill>
              <a:sym typeface="Symbol" panose="05050102010706020507" pitchFamily="18" charset="2"/>
            </a:endParaRPr>
          </a:p>
        </p:txBody>
      </p:sp>
      <p:sp>
        <p:nvSpPr>
          <p:cNvPr id="27654" name="Rectangle 4"/>
          <p:cNvSpPr>
            <a:spLocks noGrp="1"/>
          </p:cNvSpPr>
          <p:nvPr/>
        </p:nvSpPr>
        <p:spPr>
          <a:xfrm>
            <a:off x="386080" y="3275330"/>
            <a:ext cx="11341735" cy="34563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</a:rPr>
              <a:t>若</a:t>
            </a:r>
            <a:r>
              <a:rPr lang="zh-CN" altLang="en-US" sz="2800" dirty="0">
                <a:solidFill>
                  <a:srgbClr val="FF3399"/>
                </a:solidFill>
              </a:rPr>
              <a:t>两个正规式</a:t>
            </a:r>
            <a:r>
              <a:rPr lang="zh-CN" altLang="en-US" sz="2800" dirty="0">
                <a:solidFill>
                  <a:srgbClr val="030305"/>
                </a:solidFill>
              </a:rPr>
              <a:t>描述同一正规集，则称两个正规表达式</a:t>
            </a:r>
            <a:r>
              <a:rPr lang="zh-CN" altLang="en-US" sz="2800" dirty="0">
                <a:solidFill>
                  <a:srgbClr val="FF3399"/>
                </a:solidFill>
              </a:rPr>
              <a:t>等价</a:t>
            </a:r>
            <a:r>
              <a:rPr lang="zh-CN" altLang="en-US" sz="2800" dirty="0">
                <a:solidFill>
                  <a:srgbClr val="030305"/>
                </a:solidFill>
              </a:rPr>
              <a:t>(相等)。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</a:rPr>
              <a:t>判断下列正规表达式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e1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e2</a:t>
            </a:r>
            <a:r>
              <a:rPr lang="zh-CN" altLang="en-US" sz="2800" dirty="0">
                <a:solidFill>
                  <a:srgbClr val="030305"/>
                </a:solidFill>
              </a:rPr>
              <a:t>是否等价？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e1= (a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b)， e2 = b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e1= b(ab)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e2 =(ba)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e1= (a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b)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e2 =(a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endParaRPr lang="en-US" altLang="zh-CN" sz="2800" baseline="300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文本占位符 9"/>
          <p:cNvSpPr/>
          <p:nvPr>
            <p:ph type="body" sz="quarter" idx="14"/>
          </p:nvPr>
        </p:nvSpPr>
        <p:spPr>
          <a:xfrm>
            <a:off x="309245" y="276860"/>
            <a:ext cx="7613015" cy="593090"/>
          </a:xfrm>
        </p:spPr>
        <p:txBody>
          <a:bodyPr/>
          <a:p>
            <a:pPr eaLnBrk="1" hangingPunct="1">
              <a:buFont typeface="Wingdings" panose="05000000000000000000" pitchFamily="2" charset="2"/>
            </a:pPr>
            <a:r>
              <a:rPr lang="en-US" altLang="zh-CN" sz="3200">
                <a:solidFill>
                  <a:schemeClr val="bg1"/>
                </a:solidFill>
                <a:sym typeface="+mn-ea"/>
              </a:rPr>
              <a:t>2.2.2 </a:t>
            </a:r>
            <a:r>
              <a:rPr sz="3200">
                <a:solidFill>
                  <a:schemeClr val="bg1"/>
                </a:solidFill>
                <a:sym typeface="+mn-ea"/>
              </a:rPr>
              <a:t>正规表达式的定义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charRg st="5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7654">
                                            <p:txEl>
                                              <p:charRg st="51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27654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27654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/>
      <p:bldP spid="1382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5179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3795" name="Rectangle 5"/>
          <p:cNvSpPr>
            <a:spLocks noGrp="1"/>
          </p:cNvSpPr>
          <p:nvPr/>
        </p:nvSpPr>
        <p:spPr>
          <a:xfrm>
            <a:off x="351790" y="1196975"/>
            <a:ext cx="11515090" cy="29527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2.2.1 基本概念和术语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2.2.2 </a:t>
            </a:r>
            <a:r>
              <a:rPr lang="zh-CN" altLang="en-US" dirty="0">
                <a:solidFill>
                  <a:schemeClr val="accent1"/>
                </a:solidFill>
              </a:rPr>
              <a:t>正规表达式的定义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2.2.3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zh-CN" altLang="en-US" dirty="0">
                <a:solidFill>
                  <a:schemeClr val="accent1"/>
                </a:solidFill>
              </a:rPr>
              <a:t>正规表达式的扩展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30305"/>
                </a:solidFill>
              </a:rPr>
              <a:t>2.2.</a:t>
            </a:r>
            <a:r>
              <a:rPr lang="en-US" altLang="zh-CN" dirty="0">
                <a:solidFill>
                  <a:srgbClr val="030305"/>
                </a:solidFill>
              </a:rPr>
              <a:t>4</a:t>
            </a:r>
            <a:r>
              <a:rPr lang="zh-CN" altLang="en-US" dirty="0">
                <a:solidFill>
                  <a:srgbClr val="030305"/>
                </a:solidFill>
              </a:rPr>
              <a:t> 单词的正规表达式举例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buFont typeface="Wingdings" panose="05000000000000000000" charset="0"/>
              <a:buChar char="p"/>
            </a:pPr>
            <a:r>
              <a:rPr lang="zh-CN" altLang="en-US" dirty="0">
                <a:solidFill>
                  <a:srgbClr val="030305"/>
                </a:solidFill>
              </a:rPr>
              <a:t>讨论：正规表达式的应用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2037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2.3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正规表达式的</a:t>
            </a:r>
            <a:r>
              <a:rPr sz="3200">
                <a:latin typeface="方正舒体" panose="02010601030101010101" pitchFamily="2" charset="-122"/>
                <a:sym typeface="+mn-ea"/>
              </a:rPr>
              <a:t>扩展</a:t>
            </a:r>
            <a:endParaRPr sz="3200">
              <a:latin typeface="方正舒体" panose="02010601030101010101" pitchFamily="2" charset="-122"/>
              <a:sym typeface="+mn-ea"/>
            </a:endParaRPr>
          </a:p>
        </p:txBody>
      </p:sp>
      <p:sp>
        <p:nvSpPr>
          <p:cNvPr id="1156099" name="Rectangle 3"/>
          <p:cNvSpPr>
            <a:spLocks noGrp="1"/>
          </p:cNvSpPr>
          <p:nvPr/>
        </p:nvSpPr>
        <p:spPr>
          <a:xfrm>
            <a:off x="367665" y="1168400"/>
            <a:ext cx="5354955" cy="50355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</a:t>
            </a:r>
            <a:r>
              <a:rPr lang="zh-CN" altLang="en-US" sz="3200" baseline="30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+</a:t>
            </a:r>
            <a:endParaRPr lang="en-US" altLang="zh-CN"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假设</a:t>
            </a:r>
            <a:r>
              <a:rPr lang="en-US" altLang="zh-CN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</a:t>
            </a:r>
            <a:r>
              <a:rPr lang="zh-CN" altLang="en-US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是正则表达式</a:t>
            </a:r>
            <a:r>
              <a:rPr lang="en-US" altLang="zh-CN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en-US" altLang="zh-CN" sz="28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</a:t>
            </a:r>
            <a:r>
              <a:rPr lang="zh-CN" altLang="en-US" sz="28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的重复是通过使用标准的闭包运算来描述，写作：</a:t>
            </a:r>
            <a:endParaRPr lang="zh-CN" altLang="en-US" sz="28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r*</a:t>
            </a:r>
            <a:r>
              <a:rPr lang="zh-CN" altLang="en-US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，表示</a:t>
            </a:r>
            <a:r>
              <a:rPr lang="en-US" altLang="zh-CN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</a:t>
            </a:r>
            <a:r>
              <a:rPr lang="zh-CN" altLang="en-US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被重复0次或更多次</a:t>
            </a:r>
            <a:r>
              <a:rPr lang="zh-CN" altLang="en-US" sz="28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 sz="28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 </a:t>
            </a:r>
            <a:r>
              <a:rPr lang="zh-CN" altLang="en-US" sz="2800" baseline="300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+</a:t>
            </a:r>
            <a:r>
              <a:rPr lang="zh-CN" altLang="en-US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表示</a:t>
            </a:r>
            <a:r>
              <a:rPr lang="en-US" altLang="zh-CN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 </a:t>
            </a:r>
            <a:r>
              <a:rPr lang="zh-CN" altLang="en-US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被重复1次或更多次</a:t>
            </a:r>
            <a:r>
              <a:rPr lang="zh-CN" altLang="en-US" sz="28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。</a:t>
            </a:r>
            <a:endParaRPr lang="zh-CN" altLang="en-US" sz="28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indent="-39497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5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(0|1)</a:t>
            </a:r>
            <a:r>
              <a:rPr lang="zh-CN" altLang="en-US" sz="2500" baseline="300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+</a:t>
            </a:r>
            <a:r>
              <a:rPr lang="zh-CN" altLang="en-US" sz="25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=(0|1)(0|1)</a:t>
            </a:r>
            <a:r>
              <a:rPr lang="zh-CN" altLang="en-US" sz="2500" baseline="300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*</a:t>
            </a:r>
            <a:endParaRPr lang="zh-CN" altLang="en-US" sz="25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57124" name="Rectangle 4"/>
          <p:cNvSpPr>
            <a:spLocks noGrp="1"/>
          </p:cNvSpPr>
          <p:nvPr/>
        </p:nvSpPr>
        <p:spPr>
          <a:xfrm>
            <a:off x="6529070" y="1280795"/>
            <a:ext cx="5101590" cy="48107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marL="457200" indent="-457200" eaLnBrk="1" hangingPunct="1">
              <a:lnSpc>
                <a:spcPct val="110000"/>
              </a:lnSpc>
              <a:buClr>
                <a:srgbClr val="ED7D31"/>
              </a:buClr>
              <a:buFont typeface="Wingdings" panose="05000000000000000000" charset="0"/>
              <a:buChar char="p"/>
            </a:pPr>
            <a:r>
              <a:rPr lang="zh-CN" altLang="en-US" sz="32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任意字符（</a:t>
            </a:r>
            <a:r>
              <a:rPr lang="en-US" altLang="zh-CN" sz="3200" b="1" dirty="0">
                <a:solidFill>
                  <a:srgbClr val="030305"/>
                </a:solidFill>
              </a:rPr>
              <a:t>.</a:t>
            </a:r>
            <a:r>
              <a:rPr lang="zh-CN" altLang="en-US" sz="32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r>
              <a:rPr lang="zh-CN" altLang="en-US" sz="3200" b="1" dirty="0">
                <a:solidFill>
                  <a:srgbClr val="030305"/>
                </a:solidFill>
              </a:rPr>
              <a:t>: </a:t>
            </a:r>
            <a:r>
              <a:rPr lang="zh-CN" altLang="en-US" sz="2400" b="1" dirty="0">
                <a:solidFill>
                  <a:srgbClr val="030305"/>
                </a:solidFill>
              </a:rPr>
              <a:t>句点</a:t>
            </a:r>
            <a:r>
              <a:rPr lang="zh-CN" altLang="en-US" sz="24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“</a:t>
            </a:r>
            <a:r>
              <a:rPr lang="en-US" altLang="zh-CN" sz="2400" b="1" dirty="0">
                <a:solidFill>
                  <a:srgbClr val="030305"/>
                </a:solidFill>
              </a:rPr>
              <a:t>. </a:t>
            </a:r>
            <a:r>
              <a:rPr lang="zh-CN" altLang="en-US" sz="24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”</a:t>
            </a:r>
            <a:r>
              <a:rPr lang="zh-CN" altLang="en-US" sz="2400" b="1" dirty="0">
                <a:solidFill>
                  <a:srgbClr val="030305"/>
                </a:solidFill>
              </a:rPr>
              <a:t>表示可以匹配除换行符之外的任意单个字符。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例如，对于所有包含至少一个</a:t>
            </a:r>
            <a:r>
              <a: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的符号串构成集合，其对应的正规表达式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为 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*</a:t>
            </a:r>
            <a:endParaRPr lang="en-US" altLang="zh-CN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buClr>
                <a:srgbClr val="ED7D31"/>
              </a:buClr>
              <a:buFont typeface="Wingdings" panose="05000000000000000000" charset="0"/>
              <a:buChar char="p"/>
            </a:pPr>
            <a:r>
              <a:rPr lang="zh-CN" altLang="en-US" sz="32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引号“ ”</a:t>
            </a:r>
            <a:r>
              <a:rPr lang="zh-CN" altLang="en-US" sz="2400" b="1" dirty="0">
                <a:solidFill>
                  <a:srgbClr val="030305"/>
                </a:solidFill>
              </a:rPr>
              <a:t>中的字符串表示文本字符串本身。例如，</a:t>
            </a:r>
            <a:r>
              <a:rPr lang="zh-CN" altLang="en-US" sz="24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“</a:t>
            </a:r>
            <a:r>
              <a:rPr lang="zh-CN" altLang="en-US" sz="2400" b="1" dirty="0">
                <a:solidFill>
                  <a:srgbClr val="030305"/>
                </a:solidFill>
              </a:rPr>
              <a:t>. </a:t>
            </a:r>
            <a:r>
              <a:rPr lang="zh-CN" altLang="en-US" sz="2400" b="1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”</a:t>
            </a:r>
            <a:r>
              <a:rPr lang="zh-CN" altLang="en-US" sz="2400" b="1" dirty="0">
                <a:solidFill>
                  <a:srgbClr val="030305"/>
                </a:solidFill>
              </a:rPr>
              <a:t>表示要匹配.字符本身。</a:t>
            </a:r>
            <a:endParaRPr lang="zh-CN" altLang="en-US" sz="2400" b="1" dirty="0">
              <a:solidFill>
                <a:srgbClr val="03030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099">
                                            <p:txEl>
                                              <p:charRg st="5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56099">
                                            <p:txEl>
                                              <p:charRg st="5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099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56099">
                                            <p:txEl>
                                              <p:charRg st="73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8" name="Rectangle 4"/>
          <p:cNvSpPr>
            <a:spLocks noGrp="1" noChangeArrowheads="1"/>
          </p:cNvSpPr>
          <p:nvPr/>
        </p:nvSpPr>
        <p:spPr>
          <a:xfrm>
            <a:off x="354330" y="1196975"/>
            <a:ext cx="5835650" cy="38881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字符范围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1009650" marR="0" lvl="1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表示法</a:t>
            </a:r>
            <a:r>
              <a:rPr kumimoji="1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a|b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|…|z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表示所有小写字母；常见的表示法是利用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方括号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和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一个连字符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，</a:t>
            </a:r>
            <a:endParaRPr kumimoji="1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  <a:p>
            <a:pPr marL="1295400" marR="0" lvl="2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如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[</a:t>
            </a:r>
            <a:r>
              <a:rPr kumimoji="1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a-z]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是指所有小写字母，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[0-9]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则指数字。</a:t>
            </a:r>
            <a:endParaRPr kumimoji="1" lang="zh-CN" altLang="en-US" sz="23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  <a:p>
            <a:pPr marL="1406525" marR="0" lvl="2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方括号表示法还可用作表示单个解，</a:t>
            </a:r>
            <a:r>
              <a:rPr kumimoji="1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a|b|c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可写成[</a:t>
            </a:r>
            <a:r>
              <a:rPr kumimoji="1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abc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]，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方括号表示法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还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可用于多个范围，如[ </a:t>
            </a:r>
            <a:r>
              <a:rPr kumimoji="1" lang="en-US" altLang="zh-CN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a - z A - Z ]</a:t>
            </a:r>
            <a:r>
              <a:rPr kumimoji="1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代表所有的大小写字母。</a:t>
            </a:r>
            <a:endParaRPr kumimoji="1" lang="zh-CN" altLang="en-US" sz="23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42037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2.3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正规表达式的</a:t>
            </a:r>
            <a:r>
              <a:rPr sz="3200">
                <a:latin typeface="方正舒体" panose="02010601030101010101" pitchFamily="2" charset="-122"/>
                <a:sym typeface="+mn-ea"/>
              </a:rPr>
              <a:t>扩展</a:t>
            </a:r>
            <a:endParaRPr sz="3200">
              <a:latin typeface="方正舒体" panose="02010601030101010101" pitchFamily="2" charset="-122"/>
              <a:sym typeface="+mn-ea"/>
            </a:endParaRPr>
          </a:p>
        </p:txBody>
      </p:sp>
      <p:sp>
        <p:nvSpPr>
          <p:cNvPr id="1159174" name="Rectangle 6"/>
          <p:cNvSpPr>
            <a:spLocks noGrp="1" noChangeArrowheads="1"/>
          </p:cNvSpPr>
          <p:nvPr/>
        </p:nvSpPr>
        <p:spPr>
          <a:xfrm>
            <a:off x="6290945" y="1276985"/>
            <a:ext cx="5661660" cy="43040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正规表达式命名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如要写一个正则表达式: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348105" marR="0" lvl="2" indent="-4381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[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 - z A - Z]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(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[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 - z A - Z ]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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[0-9]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) </a:t>
            </a:r>
            <a:r>
              <a:rPr kumimoji="1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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  <a:sym typeface="Symbol" panose="05050102010706020507" pitchFamily="18" charset="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ea"/>
                <a:sym typeface="Symbol" panose="05050102010706020507" pitchFamily="18" charset="2"/>
              </a:rPr>
              <a:t>通过为它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ea"/>
              </a:rPr>
              <a:t>提供一个简化的名字，可写作：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ea"/>
              <a:sym typeface="Symbol" panose="05050102010706020507" pitchFamily="18" charset="2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letter=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[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 - z A - Z]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digit=[0-9]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  <a:sym typeface="Symbol" panose="05050102010706020507" pitchFamily="18" charset="2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r=letter(letter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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Symbol" panose="05050102010706020507" pitchFamily="18" charset="2"/>
              </a:rPr>
              <a:t>digit)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ea"/>
            </a:endParaRPr>
          </a:p>
          <a:p>
            <a:pPr marL="2136775" marR="0" lvl="4" indent="-438150" algn="l" defTabSz="91440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endParaRPr kumimoji="1" lang="zh-CN" altLang="en-US" sz="25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20" name="Rectangle 4"/>
          <p:cNvSpPr>
            <a:spLocks noGrp="1"/>
          </p:cNvSpPr>
          <p:nvPr/>
        </p:nvSpPr>
        <p:spPr>
          <a:xfrm>
            <a:off x="6426835" y="1154430"/>
            <a:ext cx="5377815" cy="50501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030305"/>
                </a:solidFill>
              </a:rPr>
              <a:t>写出正规（则）表达式</a:t>
            </a:r>
            <a:r>
              <a:rPr lang="en-US" altLang="zh-CN" sz="3200" dirty="0">
                <a:solidFill>
                  <a:srgbClr val="030305"/>
                </a:solidFill>
              </a:rPr>
              <a:t>signedNat</a:t>
            </a:r>
            <a:r>
              <a:rPr lang="zh-CN" altLang="en-US" sz="3200" dirty="0">
                <a:solidFill>
                  <a:srgbClr val="030305"/>
                </a:solidFill>
              </a:rPr>
              <a:t>对应的正规集？</a:t>
            </a:r>
            <a:endParaRPr lang="zh-CN" altLang="en-US" sz="3200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en-US" altLang="zh-CN" sz="3600" dirty="0">
                <a:solidFill>
                  <a:srgbClr val="030305"/>
                </a:solidFill>
                <a:latin typeface="Times New Roman" panose="02020603050405020304" pitchFamily="18" charset="0"/>
              </a:rPr>
              <a:t>nat=[0-9]</a:t>
            </a:r>
            <a:r>
              <a:rPr lang="en-US" altLang="zh-CN" sz="36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+</a:t>
            </a:r>
            <a:endParaRPr lang="en-US" altLang="zh-CN" sz="3600" baseline="300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en-US" altLang="zh-CN" sz="3600" dirty="0">
                <a:solidFill>
                  <a:srgbClr val="030305"/>
                </a:solidFill>
                <a:latin typeface="Times New Roman" panose="02020603050405020304" pitchFamily="18" charset="0"/>
              </a:rPr>
              <a:t>signedNat=nat| +nat| -nat</a:t>
            </a:r>
            <a:endParaRPr lang="en-US" altLang="zh-CN" sz="36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例如：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+3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-4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-035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047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+2712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42037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2.3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正规表达式的</a:t>
            </a:r>
            <a:r>
              <a:rPr sz="3200">
                <a:latin typeface="方正舒体" panose="02010601030101010101" pitchFamily="2" charset="-122"/>
                <a:sym typeface="+mn-ea"/>
              </a:rPr>
              <a:t>扩展</a:t>
            </a:r>
            <a:endParaRPr sz="3200">
              <a:latin typeface="方正舒体" panose="02010601030101010101" pitchFamily="2" charset="-122"/>
              <a:sym typeface="+mn-ea"/>
            </a:endParaRPr>
          </a:p>
        </p:txBody>
      </p:sp>
      <p:sp>
        <p:nvSpPr>
          <p:cNvPr id="1162246" name="Rectang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26720" y="1169035"/>
            <a:ext cx="5951220" cy="51034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030305"/>
                </a:solidFill>
                <a:latin typeface="黑体" panose="02010609060101010101" charset="-122"/>
                <a:ea typeface="黑体" panose="02010609060101010101" charset="-122"/>
              </a:rPr>
              <a:t>可选的子表达式（？）</a:t>
            </a:r>
            <a:endParaRPr lang="zh-CN" altLang="en-US" sz="3200" dirty="0">
              <a:solidFill>
                <a:srgbClr val="030305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30305"/>
                </a:solidFill>
              </a:rPr>
              <a:t>引入问号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?</a:t>
            </a:r>
            <a:r>
              <a:rPr lang="zh-CN" altLang="en-US" sz="2800" dirty="0">
                <a:solidFill>
                  <a:srgbClr val="030305"/>
                </a:solidFill>
              </a:rPr>
              <a:t> 表示正规表达式匹配的串是可选的，例如：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2" indent="-394970"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nat=[0-9]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+</a:t>
            </a:r>
            <a:endParaRPr lang="en-US" altLang="zh-CN" sz="2800" baseline="300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2" indent="-394970"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signedNat=(+|-)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？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nat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30305"/>
                </a:solidFill>
              </a:rPr>
              <a:t>该表达式与下述正规表达式等价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lvl="2" indent="-394970"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nat=[0-9]</a:t>
            </a:r>
            <a:r>
              <a: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+</a:t>
            </a:r>
            <a:endParaRPr lang="en-US" altLang="zh-CN" sz="2800" baseline="300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2" indent="-394970"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signedNat=nat| +nat| -nat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6">
                                            <p:txEl>
                                              <p:charRg st="37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162246">
                                            <p:txEl>
                                              <p:charRg st="37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6">
                                            <p:txEl>
                                              <p:charRg st="4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162246">
                                            <p:txEl>
                                              <p:charRg st="4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6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162246">
                                            <p:txEl>
                                              <p:charRg st="68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6">
                                            <p:txEl>
                                              <p:charRg st="83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162246">
                                            <p:txEl>
                                              <p:charRg st="83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246">
                                            <p:txEl>
                                              <p:charRg st="94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162246">
                                            <p:txEl>
                                              <p:charRg st="94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5941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sym typeface="+mn-ea"/>
              </a:rPr>
              <a:t> 正规表达式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7107" name="Rectangle 5"/>
          <p:cNvSpPr>
            <a:spLocks noGrp="1"/>
          </p:cNvSpPr>
          <p:nvPr/>
        </p:nvSpPr>
        <p:spPr>
          <a:xfrm>
            <a:off x="359410" y="1196975"/>
            <a:ext cx="9732645" cy="29527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  <a:hlinkClick r:id="rId1" action="ppaction://hlinksldjump"/>
              </a:rPr>
              <a:t>2.2.1 基本概念和术语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  <a:hlinkClick r:id="rId2" action="ppaction://hlinksldjump"/>
              </a:rPr>
              <a:t>2.2.2 </a:t>
            </a:r>
            <a:r>
              <a:rPr lang="zh-CN" altLang="en-US" dirty="0">
                <a:solidFill>
                  <a:srgbClr val="030305"/>
                </a:solidFill>
                <a:hlinkClick r:id="rId2" action="ppaction://hlinksldjump"/>
              </a:rPr>
              <a:t>正规表达式的定义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  <a:hlinkClick r:id="rId3" action="ppaction://hlinksldjump"/>
              </a:rPr>
              <a:t>2.2.3</a:t>
            </a:r>
            <a:r>
              <a:rPr lang="en-US" altLang="zh-CN" dirty="0">
                <a:solidFill>
                  <a:srgbClr val="030305"/>
                </a:solidFill>
                <a:hlinkClick r:id="rId3" action="ppaction://hlinksldjump"/>
              </a:rPr>
              <a:t> </a:t>
            </a:r>
            <a:r>
              <a:rPr lang="zh-CN" altLang="en-US" dirty="0">
                <a:solidFill>
                  <a:srgbClr val="030305"/>
                </a:solidFill>
                <a:hlinkClick r:id="rId3" action="ppaction://hlinksldjump"/>
              </a:rPr>
              <a:t>正规表达式的扩展</a:t>
            </a:r>
            <a:endParaRPr lang="zh-CN" altLang="en-US" dirty="0">
              <a:solidFill>
                <a:srgbClr val="030305"/>
              </a:solidFill>
              <a:hlinkClick r:id="rId3" action="ppaction://hlinksldjump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  <a:hlinkClick r:id="rId4" action="ppaction://hlinksldjump"/>
              </a:rPr>
              <a:t>2.2.</a:t>
            </a:r>
            <a:r>
              <a:rPr lang="en-US" altLang="zh-CN" dirty="0">
                <a:solidFill>
                  <a:srgbClr val="030305"/>
                </a:solidFill>
                <a:hlinkClick r:id="rId4" action="ppaction://hlinksldjump"/>
              </a:rPr>
              <a:t>4</a:t>
            </a:r>
            <a:r>
              <a:rPr lang="zh-CN" altLang="en-US" dirty="0">
                <a:solidFill>
                  <a:srgbClr val="030305"/>
                </a:solidFill>
                <a:hlinkClick r:id="rId4" action="ppaction://hlinksldjump"/>
              </a:rPr>
              <a:t> 单词的正规表达式举例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dirty="0">
                <a:solidFill>
                  <a:srgbClr val="030305"/>
                </a:solidFill>
                <a:hlinkClick r:id="rId5" action="ppaction://hlinksldjump"/>
              </a:rPr>
              <a:t>讨论：正规表达式的应用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82" name="Rectangle 10"/>
          <p:cNvSpPr>
            <a:spLocks noGrp="1"/>
          </p:cNvSpPr>
          <p:nvPr/>
        </p:nvSpPr>
        <p:spPr>
          <a:xfrm>
            <a:off x="396875" y="1197610"/>
            <a:ext cx="11441430" cy="4318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080808"/>
                </a:solidFill>
                <a:sym typeface="Symbol" panose="05050102010706020507" pitchFamily="18" charset="2"/>
              </a:rPr>
              <a:t>程序设计语言的</a:t>
            </a:r>
            <a:r>
              <a:rPr lang="zh-CN" altLang="en-US" sz="3600" dirty="0">
                <a:solidFill>
                  <a:srgbClr val="FF0066"/>
                </a:solidFill>
                <a:sym typeface="Symbol" panose="05050102010706020507" pitchFamily="18" charset="2"/>
              </a:rPr>
              <a:t>单词</a:t>
            </a:r>
            <a:r>
              <a:rPr lang="zh-CN" altLang="en-US" sz="3600" dirty="0">
                <a:solidFill>
                  <a:srgbClr val="080808"/>
                </a:solidFill>
                <a:sym typeface="Symbol" panose="05050102010706020507" pitchFamily="18" charset="2"/>
              </a:rPr>
              <a:t>都能用</a:t>
            </a:r>
            <a:r>
              <a:rPr lang="zh-CN" altLang="en-US" sz="3600" dirty="0">
                <a:solidFill>
                  <a:srgbClr val="FF0066"/>
                </a:solidFill>
                <a:sym typeface="Symbol" panose="05050102010706020507" pitchFamily="18" charset="2"/>
              </a:rPr>
              <a:t>正规式进行</a:t>
            </a:r>
            <a:r>
              <a:rPr lang="zh-CN" altLang="en-US" sz="3600" dirty="0">
                <a:solidFill>
                  <a:srgbClr val="080808"/>
                </a:solidFill>
                <a:sym typeface="Symbol" panose="05050102010706020507" pitchFamily="18" charset="2"/>
              </a:rPr>
              <a:t>定义。</a:t>
            </a:r>
            <a:endParaRPr lang="zh-CN" altLang="en-US" sz="3600" dirty="0">
              <a:solidFill>
                <a:srgbClr val="080808"/>
              </a:solidFill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80808"/>
                </a:solidFill>
                <a:sym typeface="Symbol" panose="05050102010706020507" pitchFamily="18" charset="2"/>
              </a:rPr>
              <a:t>每一种程序设计语言都有自己的字符集（字母表）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。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语言中的各个</a:t>
            </a:r>
            <a:r>
              <a:rPr lang="zh-CN" altLang="en-US" sz="2800" dirty="0">
                <a:solidFill>
                  <a:schemeClr val="hlink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Symbol" panose="05050102010706020507" pitchFamily="18" charset="2"/>
              </a:rPr>
              <a:t>单词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或是</a:t>
            </a:r>
            <a:r>
              <a:rPr lang="zh-CN" altLang="en-US" sz="2800" dirty="0">
                <a:solidFill>
                  <a:schemeClr val="hlink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Symbol" panose="05050102010706020507" pitchFamily="18" charset="2"/>
              </a:rPr>
              <a:t>上的单个字符</a:t>
            </a:r>
            <a:r>
              <a:rPr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（例如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运算符、分隔符等），或是</a:t>
            </a:r>
            <a:r>
              <a:rPr lang="zh-CN" altLang="en-US" sz="2800" dirty="0">
                <a:solidFill>
                  <a:schemeClr val="hlink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Symbol" panose="05050102010706020507" pitchFamily="18" charset="2"/>
              </a:rPr>
              <a:t>上的字符串</a:t>
            </a:r>
            <a:r>
              <a:rPr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（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如常数、标示符和关键字等）。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80808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由正规式对相应的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单词类进行描述。</a:t>
            </a:r>
            <a:endParaRPr lang="en-US" altLang="zh-CN" dirty="0">
              <a:solidFill>
                <a:srgbClr val="030305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37528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2.4</a:t>
            </a:r>
            <a:r>
              <a:rPr sz="3200">
                <a:latin typeface="方正舒体" panose="02010601030101010101" pitchFamily="2" charset="-122"/>
                <a:sym typeface="+mn-ea"/>
              </a:rPr>
              <a:t>单词的正规表达式</a:t>
            </a:r>
            <a:r>
              <a:rPr sz="3200">
                <a:latin typeface="方正舒体" panose="02010601030101010101" pitchFamily="2" charset="-122"/>
                <a:sym typeface="+mn-ea"/>
              </a:rPr>
              <a:t>举例</a:t>
            </a:r>
            <a:endParaRPr sz="3200">
              <a:latin typeface="方正舒体" panose="02010601030101010101" pitchFamily="2" charset="-122"/>
              <a:sym typeface="+mn-ea"/>
            </a:endParaRPr>
          </a:p>
          <a:p>
            <a:pPr eaLnBrk="1" hangingPunct="1"/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Rectangle 5"/>
          <p:cNvSpPr>
            <a:spLocks noGrp="1" noChangeArrowheads="1"/>
          </p:cNvSpPr>
          <p:nvPr/>
        </p:nvSpPr>
        <p:spPr>
          <a:xfrm>
            <a:off x="342265" y="1196975"/>
            <a:ext cx="11496675" cy="4822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14350" marR="0" lvl="0" indent="-51435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/>
              <a:defRPr/>
            </a:pP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保留字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reserved</a:t>
            </a: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1" lang="zh-CN" altLang="en-US" sz="3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67105" marR="0" lvl="1" indent="-4953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reserved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=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else|if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 |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int|return|void|while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ea"/>
            </a:endParaRPr>
          </a:p>
          <a:p>
            <a:pPr marL="571500" marR="0" lvl="0" indent="-5715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 startAt="2"/>
              <a:defRPr/>
            </a:pP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标示符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C</a:t>
            </a: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语言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C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语言标示符是字母和数字组成的序列，第一个字符必须是字母，下划线视为字母，且字母区分大小写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67105" marR="0" lvl="1" indent="-4953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letter=“_” | [a-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zA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-Z]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67105" marR="0" lvl="1" indent="-4953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digit=[0-9]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67105" marR="0" lvl="1" indent="-4953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identifier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=letter(</a:t>
            </a:r>
            <a:r>
              <a:rPr kumimoji="1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letter|digit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)*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600200" marR="0" lvl="3" indent="-2286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一个和若干下划线“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-”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、 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--”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是合法的标示符号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1600200" marR="0" lvl="3" indent="-2286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一个下划线“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-”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后跟一个数字是合法的标示符号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7528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2.4</a:t>
            </a:r>
            <a:r>
              <a:rPr sz="3200">
                <a:latin typeface="方正舒体" panose="02010601030101010101" pitchFamily="2" charset="-122"/>
                <a:sym typeface="+mn-ea"/>
              </a:rPr>
              <a:t>单词的正规表达式</a:t>
            </a:r>
            <a:r>
              <a:rPr sz="3200">
                <a:latin typeface="方正舒体" panose="02010601030101010101" pitchFamily="2" charset="-122"/>
                <a:sym typeface="+mn-ea"/>
              </a:rPr>
              <a:t>举例</a:t>
            </a:r>
            <a:endParaRPr sz="3200">
              <a:latin typeface="方正舒体" panose="02010601030101010101" pitchFamily="2" charset="-122"/>
              <a:sym typeface="+mn-ea"/>
            </a:endParaRPr>
          </a:p>
          <a:p>
            <a:pPr eaLnBrk="1" hangingPunct="1"/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09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3014">
                                            <p:txEl>
                                              <p:charRg st="109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31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3014">
                                            <p:txEl>
                                              <p:charRg st="131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43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3014">
                                            <p:txEl>
                                              <p:charRg st="143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76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43014">
                                            <p:txEl>
                                              <p:charRg st="176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20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43014">
                                            <p:txEl>
                                              <p:charRg st="202" end="2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7528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2.4</a:t>
            </a:r>
            <a:r>
              <a:rPr sz="3200">
                <a:latin typeface="方正舒体" panose="02010601030101010101" pitchFamily="2" charset="-122"/>
                <a:sym typeface="+mn-ea"/>
              </a:rPr>
              <a:t>单词的正规表达式</a:t>
            </a:r>
            <a:r>
              <a:rPr sz="3200">
                <a:latin typeface="方正舒体" panose="02010601030101010101" pitchFamily="2" charset="-122"/>
                <a:sym typeface="+mn-ea"/>
              </a:rPr>
              <a:t>举例</a:t>
            </a:r>
            <a:endParaRPr sz="3200">
              <a:latin typeface="方正舒体" panose="02010601030101010101" pitchFamily="2" charset="-122"/>
              <a:sym typeface="+mn-ea"/>
            </a:endParaRPr>
          </a:p>
          <a:p>
            <a:pPr eaLnBrk="1" hangingPunct="1"/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3014" name="Rectangle 5"/>
          <p:cNvSpPr>
            <a:spLocks noGrp="1" noChangeArrowheads="1"/>
          </p:cNvSpPr>
          <p:nvPr/>
        </p:nvSpPr>
        <p:spPr>
          <a:xfrm>
            <a:off x="375285" y="1196975"/>
            <a:ext cx="11428730" cy="4822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arabicPeriod" startAt="3"/>
              <a:defRPr/>
            </a:pPr>
            <a:r>
              <a:rPr kumimoji="1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标示</a:t>
            </a: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符</a:t>
            </a:r>
            <a:r>
              <a:rPr kumimoji="1" lang="en-US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en-US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Java</a:t>
            </a:r>
            <a:r>
              <a:rPr kumimoji="1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sldjump"/>
              </a:rPr>
              <a:t>语言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：字符组成：字母（含 Unicode 字母）、数字、下划线 _、美元符号 $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第一个字符不能是数字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不能包含空格或其他特殊符号（如 -、@、#、. 等）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 Java 9 起，单独的 _ 不能作为标识符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java_id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=</a:t>
            </a:r>
            <a:r>
              <a:rPr kumimoji="1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JavaLetter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JavaLetterOrDigit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*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JavaLetter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63980" marR="0" lvl="2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True: </a:t>
            </a:r>
            <a:r>
              <a:rPr kumimoji="0" lang="en-US" altLang="zh-CN" sz="2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Character.isJavaIdentifierStart</a:t>
            </a:r>
            <a:r>
              <a:rPr kumimoji="0" lang="en-US" altLang="zh-CN" sz="2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altLang="zh-CN" sz="2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altLang="zh-CN" sz="23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1" lang="en-US" altLang="zh-CN" sz="3500" b="1" i="0" u="none" strike="noStrike" kern="0" cap="none" spc="0" normalizeH="0" baseline="0" noProof="0" dirty="0" smtClean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JavaLetterOrDigit</a:t>
            </a:r>
            <a:endParaRPr kumimoji="1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63980" marR="0" lvl="2" indent="-4953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Character.isJavaIdentifierPart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altLang="zh-CN" sz="2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</a:t>
            </a:r>
            <a:r>
              <a:rPr kumimoji="0" lang="en-US" altLang="zh-CN" sz="2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n-US" altLang="zh-CN" sz="2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59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3014">
                                            <p:txEl>
                                              <p:charRg st="59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97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3014">
                                            <p:txEl>
                                              <p:charRg st="97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0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3014">
                                            <p:txEl>
                                              <p:charRg st="108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5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43014">
                                            <p:txEl>
                                              <p:charRg st="151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69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43014">
                                            <p:txEl>
                                              <p:charRg st="169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6322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第二章 词法分析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9573" name="AutoShape 5"/>
          <p:cNvSpPr/>
          <p:nvPr/>
        </p:nvSpPr>
        <p:spPr>
          <a:xfrm>
            <a:off x="7010400" y="2149475"/>
            <a:ext cx="2971800" cy="1295400"/>
          </a:xfrm>
          <a:prstGeom prst="cloudCallout">
            <a:avLst>
              <a:gd name="adj1" fmla="val -112662"/>
              <a:gd name="adj2" fmla="val -5884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" panose="020B0604020202020204" pitchFamily="34" charset="0"/>
                <a:ea typeface="方正舒体" panose="02010601030101010101" pitchFamily="2" charset="-122"/>
              </a:rPr>
              <a:t>单词</a:t>
            </a: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的识别系统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50181" name="Rectangle 9"/>
          <p:cNvSpPr>
            <a:spLocks noGrp="1"/>
          </p:cNvSpPr>
          <p:nvPr/>
        </p:nvSpPr>
        <p:spPr>
          <a:xfrm>
            <a:off x="308610" y="1196975"/>
            <a:ext cx="9783445" cy="3875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2.1 词法分析器的作用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2.2 </a:t>
            </a:r>
            <a:r>
              <a:rPr lang="zh-CN" altLang="en-US" dirty="0">
                <a:solidFill>
                  <a:srgbClr val="030305"/>
                </a:solidFill>
              </a:rPr>
              <a:t>正规表达式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2.3 </a:t>
            </a:r>
            <a:r>
              <a:rPr lang="zh-CN" altLang="en-US" dirty="0">
                <a:solidFill>
                  <a:srgbClr val="030305"/>
                </a:solidFill>
              </a:rPr>
              <a:t>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30305"/>
                </a:solidFill>
              </a:rPr>
              <a:t>2.4 </a:t>
            </a:r>
            <a:r>
              <a:rPr lang="zh-CN" altLang="en-US" dirty="0">
                <a:solidFill>
                  <a:srgbClr val="030305"/>
                </a:solidFill>
              </a:rPr>
              <a:t>从正规表达式到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2.5 用代码实现有穷自动机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2.6 自动生成词法分析程序</a:t>
            </a:r>
            <a:endParaRPr lang="en-US" altLang="zh-CN" dirty="0">
              <a:solidFill>
                <a:srgbClr val="030305"/>
              </a:solidFill>
            </a:endParaRPr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109572" name="AutoShape 4"/>
          <p:cNvSpPr/>
          <p:nvPr/>
        </p:nvSpPr>
        <p:spPr>
          <a:xfrm>
            <a:off x="7315200" y="869950"/>
            <a:ext cx="2895600" cy="1279525"/>
          </a:xfrm>
          <a:prstGeom prst="cloudCallout">
            <a:avLst>
              <a:gd name="adj1" fmla="val -125657"/>
              <a:gd name="adj2" fmla="val 5359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单词的描述工具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bldLvl="0" animBg="1"/>
      <p:bldP spid="10957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6449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9157" name="Rectangle 2"/>
          <p:cNvSpPr>
            <a:spLocks noChangeArrowheads="1"/>
          </p:cNvSpPr>
          <p:nvPr/>
        </p:nvSpPr>
        <p:spPr bwMode="auto">
          <a:xfrm>
            <a:off x="364490" y="1223010"/>
            <a:ext cx="9322435" cy="2553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" action="ppaction://noaction"/>
              </a:rPr>
              <a:t>2.3.1有穷自动机的引入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2.3.2确定性有穷自动机(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DFA)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的定义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2.3.3非确定性有穷自动机(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NFA)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hlinkClick r:id="rId1" action="ppaction://hlinksldjump"/>
              </a:rPr>
              <a:t>讨论：自动机的应用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33070" y="276860"/>
            <a:ext cx="8646160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有穷自动机的引入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6" name="Group 2"/>
          <p:cNvGrpSpPr/>
          <p:nvPr/>
        </p:nvGrpSpPr>
        <p:grpSpPr>
          <a:xfrm>
            <a:off x="2927350" y="1628775"/>
            <a:ext cx="4924425" cy="2209800"/>
            <a:chOff x="48" y="1872"/>
            <a:chExt cx="2784" cy="1392"/>
          </a:xfrm>
        </p:grpSpPr>
        <p:sp>
          <p:nvSpPr>
            <p:cNvPr id="52227" name="Oval 3"/>
            <p:cNvSpPr/>
            <p:nvPr/>
          </p:nvSpPr>
          <p:spPr>
            <a:xfrm>
              <a:off x="528" y="1968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1</a:t>
              </a:r>
              <a:endParaRPr lang="zh-CN" altLang="en-US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28" name="Line 4"/>
            <p:cNvSpPr/>
            <p:nvPr/>
          </p:nvSpPr>
          <p:spPr>
            <a:xfrm>
              <a:off x="48" y="2208"/>
              <a:ext cx="48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2229" name="Line 5"/>
            <p:cNvSpPr/>
            <p:nvPr/>
          </p:nvSpPr>
          <p:spPr>
            <a:xfrm>
              <a:off x="1008" y="2208"/>
              <a:ext cx="67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52230" name="Group 6"/>
            <p:cNvGrpSpPr/>
            <p:nvPr/>
          </p:nvGrpSpPr>
          <p:grpSpPr>
            <a:xfrm>
              <a:off x="1680" y="2016"/>
              <a:ext cx="480" cy="432"/>
              <a:chOff x="2208" y="2832"/>
              <a:chExt cx="480" cy="432"/>
            </a:xfrm>
          </p:grpSpPr>
          <p:sp>
            <p:nvSpPr>
              <p:cNvPr id="52231" name="Oval 7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52232" name="Oval 8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2</a:t>
                </a:r>
                <a:endPara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2233" name="Rectangle 9"/>
            <p:cNvSpPr/>
            <p:nvPr/>
          </p:nvSpPr>
          <p:spPr>
            <a:xfrm>
              <a:off x="1104" y="187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letter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52234" name="AutoShape 10"/>
            <p:cNvCxnSpPr/>
            <p:nvPr/>
          </p:nvCxnSpPr>
          <p:spPr>
            <a:xfrm flipH="1" flipV="1">
              <a:off x="1920" y="2016"/>
              <a:ext cx="240" cy="216"/>
            </a:xfrm>
            <a:prstGeom prst="curvedConnector4">
              <a:avLst>
                <a:gd name="adj1" fmla="val -60000"/>
                <a:gd name="adj2" fmla="val 166667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235" name="AutoShape 11"/>
            <p:cNvCxnSpPr/>
            <p:nvPr/>
          </p:nvCxnSpPr>
          <p:spPr>
            <a:xfrm rot="-5400000" flipH="1">
              <a:off x="1918" y="2214"/>
              <a:ext cx="1" cy="340"/>
            </a:xfrm>
            <a:prstGeom prst="curvedConnector3">
              <a:avLst>
                <a:gd name="adj1" fmla="val 207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2236" name="Rectangle 12"/>
            <p:cNvSpPr/>
            <p:nvPr/>
          </p:nvSpPr>
          <p:spPr>
            <a:xfrm>
              <a:off x="2352" y="187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letter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37" name="Rectangle 13"/>
            <p:cNvSpPr/>
            <p:nvPr/>
          </p:nvSpPr>
          <p:spPr>
            <a:xfrm>
              <a:off x="1728" y="2592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digit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238" name="Rectangle 14"/>
            <p:cNvSpPr/>
            <p:nvPr/>
          </p:nvSpPr>
          <p:spPr>
            <a:xfrm>
              <a:off x="432" y="2976"/>
              <a:ext cx="20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400" b="1" dirty="0">
                  <a:solidFill>
                    <a:srgbClr val="030305"/>
                  </a:solidFill>
                  <a:latin typeface="Tahoma" panose="020B0604030504040204" pitchFamily="34" charset="0"/>
                </a:rPr>
                <a:t>标识符的有穷自动机</a:t>
              </a:r>
              <a:endParaRPr lang="zh-CN" altLang="en-US" sz="2400" b="1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</p:grpSp>
      <p:sp useBgFill="1">
        <p:nvSpPr>
          <p:cNvPr id="159759" name="Rectangle 15"/>
          <p:cNvSpPr/>
          <p:nvPr/>
        </p:nvSpPr>
        <p:spPr>
          <a:xfrm>
            <a:off x="477520" y="3860800"/>
            <a:ext cx="9960610" cy="533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>
              <a:spcBef>
                <a:spcPct val="20000"/>
              </a:spcBef>
              <a:buSzPct val="90000"/>
            </a:pP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</a:rPr>
              <a:t>变量</a:t>
            </a:r>
            <a:r>
              <a:rPr lang="en-US" altLang="zh-CN" sz="3200" b="1" dirty="0">
                <a:solidFill>
                  <a:srgbClr val="030305"/>
                </a:solidFill>
                <a:latin typeface="宋体" panose="02010600030101010101" pitchFamily="2" charset="-122"/>
              </a:rPr>
              <a:t>xtemp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</a:rPr>
              <a:t>识别为标识符的过程可表示为</a:t>
            </a:r>
            <a:r>
              <a:rPr lang="zh-CN" altLang="en-US" sz="3200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：</a:t>
            </a:r>
            <a:endParaRPr lang="zh-CN" altLang="en-US" sz="3200" dirty="0">
              <a:solidFill>
                <a:srgbClr val="FF0066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59760" name="Line 16"/>
          <p:cNvSpPr/>
          <p:nvPr/>
        </p:nvSpPr>
        <p:spPr>
          <a:xfrm>
            <a:off x="2970213" y="4927600"/>
            <a:ext cx="3810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61" name="Rectangle 17"/>
          <p:cNvSpPr/>
          <p:nvPr/>
        </p:nvSpPr>
        <p:spPr>
          <a:xfrm>
            <a:off x="33512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1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62" name="Line 18"/>
          <p:cNvSpPr/>
          <p:nvPr/>
        </p:nvSpPr>
        <p:spPr>
          <a:xfrm>
            <a:off x="3554413" y="4927600"/>
            <a:ext cx="482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63" name="Rectangle 19"/>
          <p:cNvSpPr/>
          <p:nvPr/>
        </p:nvSpPr>
        <p:spPr>
          <a:xfrm>
            <a:off x="3656013" y="4533900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x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64" name="Rectangle 20"/>
          <p:cNvSpPr/>
          <p:nvPr/>
        </p:nvSpPr>
        <p:spPr>
          <a:xfrm>
            <a:off x="40878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2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65" name="Line 21"/>
          <p:cNvSpPr/>
          <p:nvPr/>
        </p:nvSpPr>
        <p:spPr>
          <a:xfrm>
            <a:off x="4291013" y="4927600"/>
            <a:ext cx="482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66" name="Rectangle 22"/>
          <p:cNvSpPr/>
          <p:nvPr/>
        </p:nvSpPr>
        <p:spPr>
          <a:xfrm>
            <a:off x="4392613" y="4533900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t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67" name="Rectangle 23"/>
          <p:cNvSpPr/>
          <p:nvPr/>
        </p:nvSpPr>
        <p:spPr>
          <a:xfrm>
            <a:off x="47355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2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68" name="Line 24"/>
          <p:cNvSpPr/>
          <p:nvPr/>
        </p:nvSpPr>
        <p:spPr>
          <a:xfrm>
            <a:off x="4938713" y="4927600"/>
            <a:ext cx="482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69" name="Rectangle 25"/>
          <p:cNvSpPr/>
          <p:nvPr/>
        </p:nvSpPr>
        <p:spPr>
          <a:xfrm>
            <a:off x="5040313" y="4533900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e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0" name="Rectangle 26"/>
          <p:cNvSpPr/>
          <p:nvPr/>
        </p:nvSpPr>
        <p:spPr>
          <a:xfrm>
            <a:off x="54086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2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1" name="Line 27"/>
          <p:cNvSpPr/>
          <p:nvPr/>
        </p:nvSpPr>
        <p:spPr>
          <a:xfrm>
            <a:off x="5611813" y="4927600"/>
            <a:ext cx="482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72" name="Rectangle 28"/>
          <p:cNvSpPr/>
          <p:nvPr/>
        </p:nvSpPr>
        <p:spPr>
          <a:xfrm>
            <a:off x="5713413" y="4533900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m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3" name="Rectangle 29"/>
          <p:cNvSpPr/>
          <p:nvPr/>
        </p:nvSpPr>
        <p:spPr>
          <a:xfrm>
            <a:off x="60944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2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4" name="Line 30"/>
          <p:cNvSpPr/>
          <p:nvPr/>
        </p:nvSpPr>
        <p:spPr>
          <a:xfrm>
            <a:off x="6297613" y="4927600"/>
            <a:ext cx="482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9775" name="Rectangle 31"/>
          <p:cNvSpPr/>
          <p:nvPr/>
        </p:nvSpPr>
        <p:spPr>
          <a:xfrm>
            <a:off x="6399213" y="4533900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p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6" name="Rectangle 32"/>
          <p:cNvSpPr/>
          <p:nvPr/>
        </p:nvSpPr>
        <p:spPr>
          <a:xfrm>
            <a:off x="6780213" y="4699000"/>
            <a:ext cx="22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2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59777" name="Rectangle 33"/>
          <p:cNvSpPr/>
          <p:nvPr/>
        </p:nvSpPr>
        <p:spPr>
          <a:xfrm>
            <a:off x="433705" y="1125855"/>
            <a:ext cx="74974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3200" b="1" dirty="0">
                <a:solidFill>
                  <a:srgbClr val="030305"/>
                </a:solidFill>
                <a:latin typeface="Tahoma" panose="020B0604030504040204" pitchFamily="34" charset="0"/>
              </a:rPr>
              <a:t>识别标示符的自动机</a:t>
            </a:r>
            <a:endParaRPr lang="zh-CN" altLang="en-US" sz="3200" b="1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5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5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5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15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5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15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15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15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7" dur="500"/>
                                        <p:tgtEl>
                                          <p:spTgt spid="15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15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9" grpId="0" animBg="1"/>
      <p:bldP spid="159761" grpId="0"/>
      <p:bldP spid="159763" grpId="0"/>
      <p:bldP spid="159764" grpId="0"/>
      <p:bldP spid="159766" grpId="0"/>
      <p:bldP spid="159767" grpId="0"/>
      <p:bldP spid="159769" grpId="0"/>
      <p:bldP spid="159770" grpId="0"/>
      <p:bldP spid="159772" grpId="0"/>
      <p:bldP spid="159773" grpId="0"/>
      <p:bldP spid="159775" grpId="0"/>
      <p:bldP spid="15977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43535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3250" name="Rectangle 2"/>
          <p:cNvSpPr/>
          <p:nvPr/>
        </p:nvSpPr>
        <p:spPr>
          <a:xfrm>
            <a:off x="343535" y="1187450"/>
            <a:ext cx="9343390" cy="255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 eaLnBrk="0" fontAlgn="auto" hangingPunct="0">
              <a:lnSpc>
                <a:spcPct val="125000"/>
              </a:lnSpc>
              <a:buClr>
                <a:srgbClr val="FF3399"/>
              </a:buClr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2.3.1有穷自动机的引入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 eaLnBrk="0" fontAlgn="auto" hangingPunct="0">
              <a:lnSpc>
                <a:spcPct val="125000"/>
              </a:lnSpc>
              <a:buClr>
                <a:srgbClr val="FF3399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2.3.2确定性有穷自动机(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DFA)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的定义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 eaLnBrk="0" fontAlgn="auto" hangingPunct="0">
              <a:lnSpc>
                <a:spcPct val="125000"/>
              </a:lnSpc>
              <a:buClr>
                <a:srgbClr val="FF3399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2.3.3非确定性有穷自动机(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NFA)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 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 eaLnBrk="0" fontAlgn="auto" hangingPunct="0">
              <a:lnSpc>
                <a:spcPct val="125000"/>
              </a:lnSpc>
              <a:buClr>
                <a:srgbClr val="FF3399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讨论：自动机的应用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7465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DFA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）的定义</a:t>
            </a:r>
            <a:endParaRPr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  <a:hlinkClick r:id="rId1" action="ppaction://hlinksldjump"/>
            </a:endParaRPr>
          </a:p>
        </p:txBody>
      </p:sp>
      <p:sp>
        <p:nvSpPr>
          <p:cNvPr id="161799" name="Rectangle 7"/>
          <p:cNvSpPr>
            <a:spLocks noGrp="1"/>
          </p:cNvSpPr>
          <p:nvPr/>
        </p:nvSpPr>
        <p:spPr>
          <a:xfrm>
            <a:off x="374650" y="1196975"/>
            <a:ext cx="11421110" cy="50311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indent="-571500"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30305"/>
                </a:solidFill>
              </a:rPr>
              <a:t>确定性有穷自动机</a:t>
            </a:r>
            <a:r>
              <a:rPr lang="zh-CN" altLang="en-US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DFA</a:t>
            </a:r>
            <a:r>
              <a:rPr lang="en-US" altLang="zh-CN" sz="2800" dirty="0">
                <a:solidFill>
                  <a:srgbClr val="0033CC"/>
                </a:solidFill>
                <a:sym typeface="Symbol" panose="05050102010706020507" pitchFamily="18" charset="2"/>
              </a:rPr>
              <a:t>: 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D</a:t>
            </a:r>
            <a:r>
              <a:rPr lang="en-US" altLang="zh-CN" sz="2800" dirty="0">
                <a:solidFill>
                  <a:srgbClr val="0033CC"/>
                </a:solidFill>
                <a:sym typeface="Symbol" panose="05050102010706020507" pitchFamily="18" charset="2"/>
              </a:rPr>
              <a:t>eterministic 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solidFill>
                  <a:srgbClr val="0033CC"/>
                </a:solidFill>
                <a:sym typeface="Symbol" panose="05050102010706020507" pitchFamily="18" charset="2"/>
              </a:rPr>
              <a:t>inite 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rgbClr val="0033CC"/>
                </a:solidFill>
                <a:sym typeface="Symbol" panose="05050102010706020507" pitchFamily="18" charset="2"/>
              </a:rPr>
              <a:t>utomata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由五个要素组成的五元式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M=(S</a:t>
            </a:r>
            <a:r>
              <a:rPr lang="zh-CN" altLang="en-US" sz="2800" dirty="0">
                <a:solidFill>
                  <a:srgbClr val="FF1F7A"/>
                </a:solidFill>
                <a:sym typeface="Symbol" panose="05050102010706020507" pitchFamily="18" charset="2"/>
              </a:rPr>
              <a:t>，，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solidFill>
                  <a:srgbClr val="FF1F7A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solidFill>
                  <a:srgbClr val="FF0066"/>
                </a:solidFill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solidFill>
                  <a:srgbClr val="FF1F7A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1F7A"/>
                </a:solidFill>
                <a:sym typeface="Symbol" panose="05050102010706020507" pitchFamily="18" charset="2"/>
              </a:rPr>
              <a:t>A)</a:t>
            </a:r>
            <a:r>
              <a:rPr lang="zh-CN" altLang="en-US" sz="2800" dirty="0">
                <a:solidFill>
                  <a:srgbClr val="030305"/>
                </a:solidFill>
              </a:rPr>
              <a:t>：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有限个输入符号组成的字母表，记作</a:t>
            </a:r>
            <a:r>
              <a:rPr lang="zh-CN" altLang="en-US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有限个状态的集合，记作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;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转换函数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: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 S</a:t>
            </a:r>
            <a:endParaRPr lang="en-US" altLang="zh-CN" sz="2800" dirty="0">
              <a:solidFill>
                <a:srgbClr val="FF1F7A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即：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T(s</a:t>
            </a:r>
            <a:r>
              <a:rPr lang="zh-CN" altLang="en-US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c)= s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  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sS，s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S， c</a:t>
            </a:r>
            <a:endParaRPr lang="en-US" altLang="zh-CN" sz="2800" dirty="0">
              <a:solidFill>
                <a:srgbClr val="FF0066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1348105" lvl="2" indent="-438150" eaLnBrk="1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表示若当前状态为</a:t>
            </a:r>
            <a:r>
              <a:rPr lang="en-US" altLang="zh-CN" sz="24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，且当前识别的输入符号为</a:t>
            </a:r>
            <a:r>
              <a:rPr lang="en-US" altLang="zh-CN" sz="24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，识别</a:t>
            </a: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后进入的下一个状态为</a:t>
            </a:r>
            <a:r>
              <a:rPr lang="en-US" altLang="zh-CN" sz="24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 </a:t>
            </a:r>
            <a:endParaRPr lang="zh-CN" altLang="en-US" sz="24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lvl="1" indent="-495300" eaLnBrk="1" hangingPunct="1">
              <a:lnSpc>
                <a:spcPct val="110000"/>
              </a:lnSpc>
              <a:buFont typeface="Wingdings" panose="05000000000000000000" pitchFamily="2" charset="2"/>
              <a:buAutoNum type="circleNumDbPlain" startAt="4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初始状态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S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+mn-ea"/>
              </a:rPr>
              <a:t>指示识别符号串的起始状态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lvl="1" indent="-495300" eaLnBrk="1" hangingPunct="1">
              <a:lnSpc>
                <a:spcPct val="110000"/>
              </a:lnSpc>
              <a:buFont typeface="Wingdings" panose="05000000000000000000" pitchFamily="2" charset="2"/>
              <a:buAutoNum type="circleNumDbPlain" startAt="4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若干个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+mn-ea"/>
              </a:rPr>
              <a:t>识别符号串的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接受状态(或称为终止状态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的集合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 S</a:t>
            </a:r>
            <a:endParaRPr lang="en-US" altLang="zh-CN" sz="2800" dirty="0">
              <a:solidFill>
                <a:srgbClr val="FF1F7A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2820" name="Rectangle 4"/>
          <p:cNvSpPr>
            <a:spLocks noGrp="1"/>
          </p:cNvSpPr>
          <p:nvPr/>
        </p:nvSpPr>
        <p:spPr>
          <a:xfrm>
            <a:off x="433070" y="5720715"/>
            <a:ext cx="11435080" cy="25895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indent="-571500" eaLnBrk="1" hangingPunct="1"/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489681" y="5018405"/>
            <a:ext cx="1003215" cy="793750"/>
            <a:chOff x="693" y="2400"/>
            <a:chExt cx="645" cy="768"/>
          </a:xfrm>
        </p:grpSpPr>
        <p:sp>
          <p:nvSpPr>
            <p:cNvPr id="56323" name="Oval 4"/>
            <p:cNvSpPr/>
            <p:nvPr/>
          </p:nvSpPr>
          <p:spPr>
            <a:xfrm>
              <a:off x="768" y="2400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endPara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endParaRPr>
            </a:p>
          </p:txBody>
        </p:sp>
        <p:sp useBgFill="1">
          <p:nvSpPr>
            <p:cNvPr id="56324" name="Rectangle 5"/>
            <p:cNvSpPr/>
            <p:nvPr/>
          </p:nvSpPr>
          <p:spPr>
            <a:xfrm>
              <a:off x="693" y="2880"/>
              <a:ext cx="645" cy="288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Arial Black" panose="020B0A04020102020204" pitchFamily="34" charset="0"/>
                </a:rPr>
                <a:t>结点</a:t>
              </a:r>
              <a:endParaRPr lang="zh-CN" altLang="en-US" sz="3200" dirty="0">
                <a:solidFill>
                  <a:srgbClr val="030305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" name="Group 15"/>
          <p:cNvGrpSpPr/>
          <p:nvPr>
            <p:custDataLst>
              <p:tags r:id="rId1"/>
            </p:custDataLst>
          </p:nvPr>
        </p:nvGrpSpPr>
        <p:grpSpPr>
          <a:xfrm>
            <a:off x="1443990" y="5022426"/>
            <a:ext cx="1891852" cy="775549"/>
            <a:chOff x="1573" y="2251"/>
            <a:chExt cx="1488" cy="816"/>
          </a:xfrm>
        </p:grpSpPr>
        <p:sp>
          <p:nvSpPr>
            <p:cNvPr id="56326" name="Oval 6"/>
            <p:cNvSpPr/>
            <p:nvPr>
              <p:custDataLst>
                <p:tags r:id="rId2"/>
              </p:custDataLst>
            </p:nvPr>
          </p:nvSpPr>
          <p:spPr>
            <a:xfrm>
              <a:off x="2245" y="2251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27" name="Line 7"/>
            <p:cNvSpPr/>
            <p:nvPr/>
          </p:nvSpPr>
          <p:spPr>
            <a:xfrm>
              <a:off x="1573" y="2491"/>
              <a:ext cx="67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 useBgFill="1">
          <p:nvSpPr>
            <p:cNvPr id="56328" name="Rectangle 8"/>
            <p:cNvSpPr/>
            <p:nvPr>
              <p:custDataLst>
                <p:tags r:id="rId3"/>
              </p:custDataLst>
            </p:nvPr>
          </p:nvSpPr>
          <p:spPr>
            <a:xfrm>
              <a:off x="1957" y="2779"/>
              <a:ext cx="1104" cy="288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Arial Black" panose="020B0A04020102020204" pitchFamily="34" charset="0"/>
                </a:rPr>
                <a:t>初始状态</a:t>
              </a:r>
              <a:endParaRPr lang="zh-CN" altLang="en-US" sz="3200" dirty="0">
                <a:solidFill>
                  <a:srgbClr val="030305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" name="Group 16"/>
          <p:cNvGrpSpPr/>
          <p:nvPr>
            <p:custDataLst>
              <p:tags r:id="rId4"/>
            </p:custDataLst>
          </p:nvPr>
        </p:nvGrpSpPr>
        <p:grpSpPr>
          <a:xfrm>
            <a:off x="4196724" y="5022426"/>
            <a:ext cx="1711316" cy="775549"/>
            <a:chOff x="3243" y="2251"/>
            <a:chExt cx="1179" cy="816"/>
          </a:xfrm>
        </p:grpSpPr>
        <p:grpSp>
          <p:nvGrpSpPr>
            <p:cNvPr id="56330" name="Group 9"/>
            <p:cNvGrpSpPr/>
            <p:nvPr/>
          </p:nvGrpSpPr>
          <p:grpSpPr>
            <a:xfrm>
              <a:off x="3445" y="2251"/>
              <a:ext cx="480" cy="432"/>
              <a:chOff x="2208" y="2832"/>
              <a:chExt cx="480" cy="432"/>
            </a:xfrm>
          </p:grpSpPr>
          <p:sp>
            <p:nvSpPr>
              <p:cNvPr id="56331" name="Oval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56332" name="Oval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FF1F7A"/>
                    </a:solidFill>
                    <a:latin typeface="Arial Black" panose="020B0A04020102020204" pitchFamily="34" charset="0"/>
                    <a:ea typeface="方正舒体" panose="02010601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FF0066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n</a:t>
                </a:r>
                <a:endParaRPr lang="en-US" altLang="zh-CN" sz="32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sp useBgFill="1">
          <p:nvSpPr>
            <p:cNvPr id="56333" name="Rectangle 12"/>
            <p:cNvSpPr/>
            <p:nvPr>
              <p:custDataLst>
                <p:tags r:id="rId7"/>
              </p:custDataLst>
            </p:nvPr>
          </p:nvSpPr>
          <p:spPr>
            <a:xfrm>
              <a:off x="3243" y="2779"/>
              <a:ext cx="1179" cy="288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FF0066"/>
                  </a:solidFill>
                  <a:latin typeface="Arial Black" panose="020B0A04020102020204" pitchFamily="34" charset="0"/>
                </a:rPr>
                <a:t>接受状态</a:t>
              </a:r>
              <a:endParaRPr lang="zh-CN" altLang="en-US" sz="3200" dirty="0">
                <a:solidFill>
                  <a:srgbClr val="FF0066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165902" name="Rectangle 14"/>
          <p:cNvSpPr>
            <a:spLocks noGrp="1"/>
          </p:cNvSpPr>
          <p:nvPr/>
        </p:nvSpPr>
        <p:spPr>
          <a:xfrm>
            <a:off x="274320" y="1247140"/>
            <a:ext cx="5280660" cy="29800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FF0066"/>
                </a:solidFill>
              </a:rPr>
              <a:t>状态转换图</a:t>
            </a:r>
            <a:endParaRPr lang="zh-CN" altLang="en-US" sz="2400" dirty="0">
              <a:solidFill>
                <a:srgbClr val="FF0066"/>
              </a:solidFill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030305"/>
                </a:solidFill>
              </a:rPr>
              <a:t>假定</a:t>
            </a:r>
            <a:r>
              <a:rPr lang="en-US" altLang="zh-CN" sz="2400" dirty="0">
                <a:solidFill>
                  <a:srgbClr val="030305"/>
                </a:solidFill>
              </a:rPr>
              <a:t>DFA M</a:t>
            </a:r>
            <a:r>
              <a:rPr lang="zh-CN" altLang="en-US" sz="2400" dirty="0">
                <a:solidFill>
                  <a:srgbClr val="030305"/>
                </a:solidFill>
              </a:rPr>
              <a:t>含有</a:t>
            </a:r>
            <a:r>
              <a:rPr lang="en-US" altLang="zh-CN" sz="2400" dirty="0">
                <a:solidFill>
                  <a:srgbClr val="030305"/>
                </a:solidFill>
              </a:rPr>
              <a:t>m</a:t>
            </a:r>
            <a:r>
              <a:rPr lang="zh-CN" altLang="en-US" sz="2400" dirty="0">
                <a:solidFill>
                  <a:srgbClr val="030305"/>
                </a:solidFill>
              </a:rPr>
              <a:t>个状态，那么状态图就含有</a:t>
            </a:r>
            <a:r>
              <a:rPr lang="en-US" altLang="zh-CN" sz="2400" dirty="0">
                <a:solidFill>
                  <a:srgbClr val="030305"/>
                </a:solidFill>
              </a:rPr>
              <a:t>m</a:t>
            </a:r>
            <a:r>
              <a:rPr lang="zh-CN" altLang="en-US" sz="2400" dirty="0">
                <a:solidFill>
                  <a:srgbClr val="030305"/>
                </a:solidFill>
              </a:rPr>
              <a:t>个结点（小圆圈表示</a:t>
            </a:r>
            <a:r>
              <a:rPr lang="zh-CN" altLang="en-US" sz="2400" dirty="0">
                <a:solidFill>
                  <a:srgbClr val="FF0066"/>
                </a:solidFill>
              </a:rPr>
              <a:t>圆圈中标入状态的名字</a:t>
            </a:r>
            <a:r>
              <a:rPr lang="zh-CN" altLang="en-US" sz="2400" dirty="0">
                <a:solidFill>
                  <a:srgbClr val="030305"/>
                </a:solidFill>
              </a:rPr>
              <a:t>或编号），用</a:t>
            </a:r>
            <a:r>
              <a:rPr lang="zh-CN" altLang="en-US" sz="2400" dirty="0">
                <a:solidFill>
                  <a:srgbClr val="FF0066"/>
                </a:solidFill>
              </a:rPr>
              <a:t>箭头指示初始状态，用双圆圈表示终止状态。</a:t>
            </a:r>
            <a:endParaRPr lang="zh-CN" altLang="en-US" sz="2400" dirty="0">
              <a:solidFill>
                <a:srgbClr val="FF0066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7465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DFA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）的定义</a:t>
            </a:r>
            <a:endParaRPr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  <a:hlinkClick r:id="rId8" action="ppaction://hlinksldjump"/>
            </a:endParaRPr>
          </a:p>
        </p:txBody>
      </p:sp>
      <p:sp>
        <p:nvSpPr>
          <p:cNvPr id="166925" name="Rectangle 13"/>
          <p:cNvSpPr>
            <a:spLocks noGrp="1"/>
          </p:cNvSpPr>
          <p:nvPr/>
        </p:nvSpPr>
        <p:spPr>
          <a:xfrm>
            <a:off x="6096000" y="1247140"/>
            <a:ext cx="5730240" cy="297942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若 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T(s,a)=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s’</a:t>
            </a:r>
            <a:r>
              <a:rPr lang="en-US" altLang="zh-CN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，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则从状态结点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到状态结点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s’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画标记为</a:t>
            </a:r>
            <a:r>
              <a:rPr lang="en-US" altLang="zh-CN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的矢线。</a:t>
            </a:r>
            <a:endParaRPr lang="zh-CN" altLang="en-US" sz="24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表示当词法分析器处于该矢线的结点所指示的状态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时，可能要识别的输入字符为</a:t>
            </a:r>
            <a:r>
              <a:rPr lang="en-US" altLang="zh-CN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a，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而矢线进入的结点</a:t>
            </a:r>
            <a:r>
              <a:rPr lang="en-US" altLang="zh-CN" sz="24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s’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则指示识别相应的输入字符</a:t>
            </a:r>
            <a:r>
              <a:rPr lang="en-US" altLang="zh-CN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</a:t>
            </a:r>
            <a:r>
              <a:rPr lang="zh-CN" altLang="en-US" sz="24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后进入的下一个状态。</a:t>
            </a:r>
            <a:endParaRPr lang="zh-CN" altLang="en-US" sz="2400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8" name="Group 2"/>
          <p:cNvGrpSpPr/>
          <p:nvPr/>
        </p:nvGrpSpPr>
        <p:grpSpPr>
          <a:xfrm>
            <a:off x="7221220" y="4841240"/>
            <a:ext cx="4266565" cy="979170"/>
            <a:chOff x="912" y="1248"/>
            <a:chExt cx="2592" cy="768"/>
          </a:xfrm>
        </p:grpSpPr>
        <p:sp>
          <p:nvSpPr>
            <p:cNvPr id="57347" name="Oval 3"/>
            <p:cNvSpPr/>
            <p:nvPr/>
          </p:nvSpPr>
          <p:spPr>
            <a:xfrm>
              <a:off x="1296" y="1248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endPara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57348" name="Group 4"/>
            <p:cNvGrpSpPr/>
            <p:nvPr/>
          </p:nvGrpSpPr>
          <p:grpSpPr>
            <a:xfrm>
              <a:off x="1776" y="1248"/>
              <a:ext cx="672" cy="240"/>
              <a:chOff x="2736" y="2592"/>
              <a:chExt cx="672" cy="240"/>
            </a:xfrm>
          </p:grpSpPr>
          <p:sp>
            <p:nvSpPr>
              <p:cNvPr id="57349" name="Line 5"/>
              <p:cNvSpPr/>
              <p:nvPr/>
            </p:nvSpPr>
            <p:spPr>
              <a:xfrm>
                <a:off x="2736" y="2832"/>
                <a:ext cx="672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7350" name="Rectangle 6"/>
              <p:cNvSpPr/>
              <p:nvPr/>
            </p:nvSpPr>
            <p:spPr>
              <a:xfrm>
                <a:off x="2976" y="2592"/>
                <a:ext cx="4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a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7351" name="Oval 7"/>
            <p:cNvSpPr/>
            <p:nvPr/>
          </p:nvSpPr>
          <p:spPr>
            <a:xfrm>
              <a:off x="2448" y="1248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30000" dirty="0">
                  <a:solidFill>
                    <a:srgbClr val="FF0066"/>
                  </a:solidFill>
                  <a:latin typeface="Arial Black" panose="020B0A04020102020204" pitchFamily="34" charset="0"/>
                  <a:sym typeface="Symbol" panose="05050102010706020507" pitchFamily="18" charset="2"/>
                </a:rPr>
                <a:t>’</a:t>
              </a:r>
              <a:endParaRPr lang="en-US" altLang="zh-CN" sz="3200" baseline="30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52" name="Rectangle 8"/>
            <p:cNvSpPr/>
            <p:nvPr/>
          </p:nvSpPr>
          <p:spPr>
            <a:xfrm>
              <a:off x="912" y="1728"/>
              <a:ext cx="25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Arial Black" panose="020B0A04020102020204" pitchFamily="34" charset="0"/>
                </a:rPr>
                <a:t>状态转换的图形表示</a:t>
              </a:r>
              <a:endParaRPr lang="zh-CN" altLang="en-US" sz="3200" dirty="0">
                <a:solidFill>
                  <a:srgbClr val="030305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>
                                            <p:txEl>
                                              <p:charRg st="3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66925">
                                            <p:txEl>
                                              <p:charRg st="37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/>
          </p:cNvSpPr>
          <p:nvPr/>
        </p:nvSpPr>
        <p:spPr>
          <a:xfrm>
            <a:off x="349885" y="1143000"/>
            <a:ext cx="11372215" cy="1524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zh-CN" altLang="en-US" sz="3200" b="0" dirty="0">
                <a:solidFill>
                  <a:srgbClr val="030305"/>
                </a:solidFill>
                <a:sym typeface="Symbol" panose="05050102010706020507" pitchFamily="18" charset="2"/>
              </a:rPr>
              <a:t>  </a:t>
            </a:r>
            <a:r>
              <a:rPr lang="zh-CN" altLang="en-US" sz="3200" dirty="0">
                <a:solidFill>
                  <a:srgbClr val="FF1F7A"/>
                </a:solidFill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M=({s</a:t>
            </a:r>
            <a:r>
              <a:rPr lang="en-US" altLang="zh-CN" sz="3200" b="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, s</a:t>
            </a:r>
            <a:r>
              <a:rPr lang="en-US" altLang="zh-CN" sz="3200" b="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, s</a:t>
            </a:r>
            <a:r>
              <a:rPr lang="en-US" altLang="zh-CN" sz="3200" b="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}, {0,1}, T,  s</a:t>
            </a:r>
            <a:r>
              <a:rPr lang="en-US" altLang="zh-CN" sz="3200" b="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, {s</a:t>
            </a:r>
            <a:r>
              <a:rPr lang="en-US" altLang="zh-CN" sz="3200" b="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})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zh-CN" altLang="en-US" sz="3200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其中,</a:t>
            </a:r>
            <a:r>
              <a:rPr lang="en-US" altLang="zh-CN" sz="3200" dirty="0">
                <a:solidFill>
                  <a:srgbClr val="FF1F7A"/>
                </a:solidFill>
                <a:sym typeface="Symbol" panose="05050102010706020507" pitchFamily="18" charset="2"/>
              </a:rPr>
              <a:t>T</a:t>
            </a:r>
            <a:r>
              <a:rPr lang="zh-CN" altLang="en-US" sz="3200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的定义如下：</a:t>
            </a:r>
            <a:endParaRPr lang="zh-CN" altLang="en-US" sz="3200" b="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3200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T(s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,0)= 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      T(s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,0)= 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 	 T(s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,1)= s</a:t>
            </a:r>
            <a:r>
              <a:rPr lang="en-US" altLang="zh-CN" sz="3200" b="0" baseline="-250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altLang="zh-CN" sz="3200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168963" name="Oval 3"/>
          <p:cNvSpPr/>
          <p:nvPr/>
        </p:nvSpPr>
        <p:spPr>
          <a:xfrm>
            <a:off x="3427413" y="3262313"/>
            <a:ext cx="911225" cy="6858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zh-CN" altLang="en-US" sz="3200" baseline="-25000" dirty="0">
              <a:solidFill>
                <a:srgbClr val="FF0066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8964" name="Line 4"/>
          <p:cNvSpPr/>
          <p:nvPr/>
        </p:nvSpPr>
        <p:spPr>
          <a:xfrm>
            <a:off x="2671763" y="3643313"/>
            <a:ext cx="7620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8965" name="Line 5"/>
          <p:cNvSpPr/>
          <p:nvPr/>
        </p:nvSpPr>
        <p:spPr>
          <a:xfrm>
            <a:off x="4338638" y="3643313"/>
            <a:ext cx="609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" name="Group 6"/>
          <p:cNvGrpSpPr/>
          <p:nvPr/>
        </p:nvGrpSpPr>
        <p:grpSpPr>
          <a:xfrm>
            <a:off x="6477000" y="3295650"/>
            <a:ext cx="762000" cy="685800"/>
            <a:chOff x="2208" y="2832"/>
            <a:chExt cx="480" cy="432"/>
          </a:xfrm>
        </p:grpSpPr>
        <p:sp>
          <p:nvSpPr>
            <p:cNvPr id="58375" name="Oval 7"/>
            <p:cNvSpPr/>
            <p:nvPr/>
          </p:nvSpPr>
          <p:spPr>
            <a:xfrm>
              <a:off x="2208" y="2832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58376" name="Oval 8"/>
            <p:cNvSpPr/>
            <p:nvPr/>
          </p:nvSpPr>
          <p:spPr>
            <a:xfrm>
              <a:off x="2304" y="2928"/>
              <a:ext cx="288" cy="2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zh-CN" altLang="en-US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68969" name="Rectangle 9"/>
          <p:cNvSpPr/>
          <p:nvPr/>
        </p:nvSpPr>
        <p:spPr>
          <a:xfrm>
            <a:off x="4491038" y="326231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0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68970" name="Oval 10"/>
          <p:cNvSpPr/>
          <p:nvPr/>
        </p:nvSpPr>
        <p:spPr>
          <a:xfrm>
            <a:off x="4948238" y="3338513"/>
            <a:ext cx="927100" cy="6858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zh-CN" altLang="en-US" sz="3200" baseline="-25000" dirty="0">
              <a:solidFill>
                <a:srgbClr val="FF0066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68971" name="Line 11"/>
          <p:cNvSpPr/>
          <p:nvPr/>
        </p:nvSpPr>
        <p:spPr>
          <a:xfrm>
            <a:off x="5881688" y="3643313"/>
            <a:ext cx="609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8972" name="Rectangle 12"/>
          <p:cNvSpPr/>
          <p:nvPr/>
        </p:nvSpPr>
        <p:spPr>
          <a:xfrm>
            <a:off x="5938838" y="326231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1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cxnSp>
        <p:nvCxnSpPr>
          <p:cNvPr id="168973" name="AutoShape 13"/>
          <p:cNvCxnSpPr>
            <a:stCxn id="168970" idx="3"/>
            <a:endCxn id="168970" idx="5"/>
          </p:cNvCxnSpPr>
          <p:nvPr/>
        </p:nvCxnSpPr>
        <p:spPr>
          <a:xfrm rot="-5400000" flipH="1">
            <a:off x="5410200" y="3597275"/>
            <a:ext cx="3175" cy="654050"/>
          </a:xfrm>
          <a:prstGeom prst="curvedConnector3">
            <a:avLst>
              <a:gd name="adj1" fmla="val 20700009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8974" name="Rectangle 14"/>
          <p:cNvSpPr/>
          <p:nvPr/>
        </p:nvSpPr>
        <p:spPr>
          <a:xfrm>
            <a:off x="5253038" y="425291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0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168976" name="Rectangle 16"/>
          <p:cNvSpPr/>
          <p:nvPr/>
        </p:nvSpPr>
        <p:spPr>
          <a:xfrm>
            <a:off x="2166938" y="2643188"/>
            <a:ext cx="669925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zh-CN" altLang="en-US" sz="2800" b="1" dirty="0">
                <a:solidFill>
                  <a:srgbClr val="030305"/>
                </a:solidFill>
                <a:latin typeface="Arial Black" panose="020B0A04020102020204" pitchFamily="34" charset="0"/>
              </a:rPr>
              <a:t>上述</a:t>
            </a:r>
            <a:r>
              <a:rPr lang="en-US" altLang="zh-CN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DFA</a:t>
            </a:r>
            <a:r>
              <a:rPr lang="zh-CN" altLang="en-US" sz="2800" b="1" dirty="0">
                <a:solidFill>
                  <a:srgbClr val="030305"/>
                </a:solidFill>
                <a:latin typeface="Arial Black" panose="020B0A04020102020204" pitchFamily="34" charset="0"/>
              </a:rPr>
              <a:t>对应的状态转换图</a:t>
            </a:r>
            <a:r>
              <a:rPr lang="zh-CN" altLang="en-US" sz="3200" dirty="0">
                <a:solidFill>
                  <a:srgbClr val="030305"/>
                </a:solidFill>
                <a:latin typeface="Arial Black" panose="020B0A04020102020204" pitchFamily="34" charset="0"/>
              </a:rPr>
              <a:t>：</a:t>
            </a:r>
            <a:endParaRPr lang="zh-CN" altLang="en-US" sz="3200" dirty="0">
              <a:solidFill>
                <a:srgbClr val="030305"/>
              </a:solidFill>
              <a:latin typeface="Arial Black" panose="020B0A04020102020204" pitchFamily="34" charset="0"/>
            </a:endParaRPr>
          </a:p>
        </p:txBody>
      </p:sp>
      <p:sp>
        <p:nvSpPr>
          <p:cNvPr id="59411" name="矩形 20"/>
          <p:cNvSpPr/>
          <p:nvPr/>
        </p:nvSpPr>
        <p:spPr>
          <a:xfrm>
            <a:off x="464820" y="4653280"/>
            <a:ext cx="1125728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dirty="0">
                <a:solidFill>
                  <a:srgbClr val="030305"/>
                </a:solidFill>
                <a:latin typeface="Verdana" panose="020B0604030504040204" pitchFamily="34" charset="0"/>
              </a:rPr>
              <a:t>注：在状态转换图中，从一个结点可以同时引出若干条矢线到有向图中的其余结点(也可从一结点引矢线到其自身)；</a:t>
            </a:r>
            <a:endParaRPr lang="zh-CN" altLang="en-US" sz="2400" b="1" dirty="0">
              <a:solidFill>
                <a:srgbClr val="030305"/>
              </a:solidFill>
              <a:latin typeface="Verdana" panose="020B0604030504040204" pitchFamily="34" charset="0"/>
            </a:endParaRPr>
          </a:p>
        </p:txBody>
      </p:sp>
      <p:sp>
        <p:nvSpPr>
          <p:cNvPr id="58386" name="AutoShape 5">
            <a:hlinkClick r:id="rId1" action="ppaction://hlinksldjump"/>
          </p:cNvPr>
          <p:cNvSpPr/>
          <p:nvPr/>
        </p:nvSpPr>
        <p:spPr>
          <a:xfrm rot="10800000">
            <a:off x="7205663" y="5789613"/>
            <a:ext cx="914400" cy="381000"/>
          </a:xfrm>
          <a:prstGeom prst="curvedDownArrow">
            <a:avLst>
              <a:gd name="adj1" fmla="val 48000"/>
              <a:gd name="adj2" fmla="val 120000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latin typeface="Verdana" panose="020B0604030504040204" pitchFamily="34" charset="0"/>
              </a:rPr>
              <a:t>定义（</a:t>
            </a:r>
            <a:r>
              <a:rPr lang="en-US" altLang="zh-CN" dirty="0">
                <a:latin typeface="Verdana" panose="020B0604030504040204" pitchFamily="34" charset="0"/>
              </a:rPr>
              <a:t>1</a:t>
            </a:r>
            <a:r>
              <a:rPr lang="zh-CN" altLang="en-US" dirty="0">
                <a:latin typeface="Verdana" panose="020B0604030504040204" pitchFamily="34" charset="0"/>
              </a:rPr>
              <a:t>）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58387" name="AutoShape 5">
            <a:hlinkClick r:id="rId2" action="ppaction://hlinksldjump"/>
          </p:cNvPr>
          <p:cNvSpPr/>
          <p:nvPr/>
        </p:nvSpPr>
        <p:spPr>
          <a:xfrm rot="10800000">
            <a:off x="8256588" y="5789613"/>
            <a:ext cx="914400" cy="381000"/>
          </a:xfrm>
          <a:prstGeom prst="curvedDownArrow">
            <a:avLst>
              <a:gd name="adj1" fmla="val 48000"/>
              <a:gd name="adj2" fmla="val 120000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dirty="0">
                <a:latin typeface="Verdana" panose="020B0604030504040204" pitchFamily="34" charset="0"/>
              </a:rPr>
              <a:t>定义（</a:t>
            </a:r>
            <a:r>
              <a:rPr lang="en-US" altLang="zh-CN" dirty="0">
                <a:latin typeface="Verdana" panose="020B0604030504040204" pitchFamily="34" charset="0"/>
              </a:rPr>
              <a:t>2</a:t>
            </a:r>
            <a:r>
              <a:rPr lang="zh-CN" altLang="en-US" dirty="0">
                <a:latin typeface="Verdana" panose="020B0604030504040204" pitchFamily="34" charset="0"/>
              </a:rPr>
              <a:t>）</a:t>
            </a: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464820" y="276860"/>
            <a:ext cx="7323455" cy="593090"/>
          </a:xfrm>
        </p:spPr>
        <p:txBody>
          <a:bodyPr/>
          <a:lstStyle/>
          <a:p>
            <a:pPr>
              <a:spcBef>
                <a:spcPct val="20000"/>
              </a:spcBef>
              <a:buSzPct val="90000"/>
            </a:pP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状态转换图举例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6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ldLvl="0" animBg="1"/>
      <p:bldP spid="168969" grpId="0"/>
      <p:bldP spid="168970" grpId="0" bldLvl="0" animBg="1"/>
      <p:bldP spid="168972" grpId="0"/>
      <p:bldP spid="168974" grpId="0"/>
      <p:bldP spid="168976" grpId="0"/>
      <p:bldP spid="594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89585" y="276860"/>
            <a:ext cx="7323455" cy="593090"/>
          </a:xfrm>
        </p:spPr>
        <p:txBody>
          <a:bodyPr/>
          <a:lstStyle/>
          <a:p>
            <a:pPr>
              <a:spcBef>
                <a:spcPct val="20000"/>
              </a:spcBef>
              <a:buSzPct val="90000"/>
            </a:pPr>
            <a:r>
              <a:rPr sz="32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状态转换图举例</a:t>
            </a:r>
            <a:endParaRPr lang="zh-CN" altLang="en-US"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3" name="内容占位符 1"/>
          <p:cNvSpPr/>
          <p:nvPr/>
        </p:nvSpPr>
        <p:spPr>
          <a:xfrm>
            <a:off x="489585" y="1196975"/>
            <a:ext cx="6724650" cy="4822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1F7A"/>
                </a:solidFill>
                <a:sym typeface="Symbol" panose="05050102010706020507" pitchFamily="18" charset="2"/>
              </a:rPr>
              <a:t> </a:t>
            </a:r>
            <a:r>
              <a:rPr lang="en-US" altLang="zh-CN" sz="3600" dirty="0">
                <a:solidFill>
                  <a:srgbClr val="FF1F7A"/>
                </a:solidFill>
                <a:sym typeface="Symbol" panose="05050102010706020507" pitchFamily="18" charset="2"/>
              </a:rPr>
              <a:t>M=({0</a:t>
            </a:r>
            <a:r>
              <a:rPr lang="zh-CN" altLang="en-US" sz="3600" dirty="0">
                <a:solidFill>
                  <a:srgbClr val="FF1F7A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olidFill>
                  <a:srgbClr val="FF1F7A"/>
                </a:solidFill>
                <a:sym typeface="Symbol" panose="05050102010706020507" pitchFamily="18" charset="2"/>
              </a:rPr>
              <a:t>1</a:t>
            </a:r>
            <a:r>
              <a:rPr lang="zh-CN" altLang="en-US" sz="3600" dirty="0">
                <a:solidFill>
                  <a:srgbClr val="FF1F7A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olidFill>
                  <a:srgbClr val="FF1F7A"/>
                </a:solidFill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olidFill>
                  <a:srgbClr val="FF1F7A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3600" dirty="0">
                <a:solidFill>
                  <a:srgbClr val="FF1F7A"/>
                </a:solidFill>
                <a:sym typeface="Symbol" panose="05050102010706020507" pitchFamily="18" charset="2"/>
              </a:rPr>
              <a:t>3}, {a,b}, f,  0, {3})</a:t>
            </a:r>
            <a:r>
              <a:rPr lang="en-US" altLang="zh-CN" sz="3600" dirty="0">
                <a:sym typeface="Symbol" panose="05050102010706020507" pitchFamily="18" charset="2"/>
              </a:rPr>
              <a:t> </a:t>
            </a:r>
            <a:r>
              <a:rPr lang="zh-CN" altLang="en-US" sz="3600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其中,</a:t>
            </a:r>
            <a:r>
              <a:rPr lang="en-US" altLang="zh-CN" sz="3600" dirty="0">
                <a:solidFill>
                  <a:srgbClr val="FF1F7A"/>
                </a:solidFill>
                <a:sym typeface="Symbol" panose="05050102010706020507" pitchFamily="18" charset="2"/>
              </a:rPr>
              <a:t>f</a:t>
            </a:r>
            <a:r>
              <a:rPr lang="zh-CN" altLang="en-US" sz="3600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的定义如下：</a:t>
            </a:r>
            <a:endParaRPr lang="zh-CN" altLang="en-US" b="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b="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f: f(0,a) =1    f(0,b) =2    f(1,a)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=3  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         f(1,b) =2    f(2,a) =1   f(2,b) =3  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         f(3,a) =3    f(3,b) =3  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buNone/>
            </a:pP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绘制状态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转换图？</a:t>
            </a:r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925721" name="Rectangle 25"/>
          <p:cNvSpPr>
            <a:spLocks noGrp="1"/>
          </p:cNvSpPr>
          <p:nvPr/>
        </p:nvSpPr>
        <p:spPr>
          <a:xfrm>
            <a:off x="490220" y="3618230"/>
            <a:ext cx="11329035" cy="3239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zh-CN" sz="2800" baseline="-25000" dirty="0">
              <a:solidFill>
                <a:srgbClr val="FF0066"/>
              </a:solidFill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55205" y="1254125"/>
            <a:ext cx="4463415" cy="4227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DFA</a:t>
            </a:r>
            <a:r>
              <a:rPr lang="zh-CN" altLang="en-US" sz="28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的接受集</a:t>
            </a:r>
            <a:r>
              <a:rPr lang="zh-CN" altLang="en-US" sz="28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记作</a:t>
            </a:r>
            <a:r>
              <a:rPr lang="en-US" altLang="zh-CN" sz="2800" b="1" dirty="0">
                <a:solidFill>
                  <a:srgbClr val="3333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L(M)</a:t>
            </a:r>
            <a:r>
              <a:rPr lang="zh-CN" altLang="en-US" sz="2800" b="1" dirty="0">
                <a:solidFill>
                  <a:srgbClr val="3333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：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字符串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c</a:t>
            </a:r>
            <a:r>
              <a:rPr lang="en-US" altLang="zh-CN" sz="2800" b="1" baseline="-25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c</a:t>
            </a:r>
            <a:r>
              <a:rPr lang="en-US" altLang="zh-CN" sz="2800" b="1" baseline="-25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……c</a:t>
            </a:r>
            <a:r>
              <a:rPr lang="en-US" altLang="zh-CN" sz="2800" b="1" baseline="-250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若被</a:t>
            </a: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DFA</a:t>
            </a:r>
            <a:r>
              <a:rPr lang="zh-CN" altLang="en-US" sz="2800" b="1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识别或接受，则在状态转换图中存在一条从初态到终态的有向路经，该路径所有</a:t>
            </a:r>
            <a:r>
              <a:rPr lang="zh-CN" altLang="en-US" sz="28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矢线上方的字符连接在一起即是</a:t>
            </a:r>
            <a:r>
              <a:rPr lang="zh-CN" altLang="en-US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字符串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c</a:t>
            </a:r>
            <a:r>
              <a:rPr lang="en-US" altLang="zh-CN" sz="2800" b="1" baseline="-250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c</a:t>
            </a:r>
            <a:r>
              <a:rPr lang="en-US" altLang="zh-CN" sz="2800" b="1" baseline="-250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 ……c</a:t>
            </a:r>
            <a:r>
              <a:rPr lang="en-US" altLang="zh-CN" sz="2800" b="1" baseline="-250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n</a:t>
            </a:r>
            <a:endParaRPr lang="en-US" altLang="zh-CN" sz="2800" b="1" baseline="-25000" dirty="0">
              <a:solidFill>
                <a:srgbClr val="FF006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4831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0418" name="Text Box 3"/>
          <p:cNvSpPr txBox="1"/>
          <p:nvPr/>
        </p:nvSpPr>
        <p:spPr>
          <a:xfrm>
            <a:off x="4976813" y="3340100"/>
            <a:ext cx="30321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endParaRPr lang="en-US" altLang="zh-CN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Oval 4"/>
          <p:cNvSpPr/>
          <p:nvPr/>
        </p:nvSpPr>
        <p:spPr>
          <a:xfrm>
            <a:off x="2249488" y="2463800"/>
            <a:ext cx="504825" cy="461963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3200" dirty="0">
                <a:solidFill>
                  <a:srgbClr val="FF00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Times New Roman" panose="02020603050405020304" pitchFamily="18" charset="0"/>
              </a:rPr>
              <a:t>1</a:t>
            </a:r>
            <a:endParaRPr lang="en-US" altLang="zh-CN" sz="3200" baseline="-2500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0420" name="AutoShape 5"/>
          <p:cNvCxnSpPr/>
          <p:nvPr/>
        </p:nvCxnSpPr>
        <p:spPr>
          <a:xfrm rot="-10800000" flipV="1">
            <a:off x="3816350" y="1957388"/>
            <a:ext cx="50800" cy="1520825"/>
          </a:xfrm>
          <a:prstGeom prst="curvedConnector3">
            <a:avLst>
              <a:gd name="adj1" fmla="val 789583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421" name="AutoShape 6"/>
          <p:cNvCxnSpPr/>
          <p:nvPr/>
        </p:nvCxnSpPr>
        <p:spPr>
          <a:xfrm flipV="1">
            <a:off x="4321175" y="1957388"/>
            <a:ext cx="50800" cy="1520825"/>
          </a:xfrm>
          <a:prstGeom prst="curvedConnector3">
            <a:avLst>
              <a:gd name="adj1" fmla="val 756245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422" name="Oval 7"/>
          <p:cNvSpPr/>
          <p:nvPr/>
        </p:nvSpPr>
        <p:spPr>
          <a:xfrm>
            <a:off x="3867150" y="1727200"/>
            <a:ext cx="504825" cy="460375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3200" dirty="0">
                <a:solidFill>
                  <a:srgbClr val="FF00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Times New Roman" panose="02020603050405020304" pitchFamily="18" charset="0"/>
              </a:rPr>
              <a:t>2</a:t>
            </a:r>
            <a:endParaRPr lang="en-US" altLang="zh-CN" sz="3200" baseline="-2500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3" name="Oval 8"/>
          <p:cNvSpPr/>
          <p:nvPr/>
        </p:nvSpPr>
        <p:spPr>
          <a:xfrm>
            <a:off x="3816350" y="3248025"/>
            <a:ext cx="504825" cy="460375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3200" dirty="0">
                <a:solidFill>
                  <a:srgbClr val="FF00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Times New Roman" panose="02020603050405020304" pitchFamily="18" charset="0"/>
              </a:rPr>
              <a:t>3</a:t>
            </a:r>
            <a:endParaRPr lang="en-US" altLang="zh-CN" sz="3200" baseline="-2500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0424" name="Group 9"/>
          <p:cNvGrpSpPr/>
          <p:nvPr/>
        </p:nvGrpSpPr>
        <p:grpSpPr>
          <a:xfrm>
            <a:off x="5432425" y="2509838"/>
            <a:ext cx="606425" cy="554037"/>
            <a:chOff x="4032" y="2160"/>
            <a:chExt cx="576" cy="576"/>
          </a:xfrm>
        </p:grpSpPr>
        <p:sp>
          <p:nvSpPr>
            <p:cNvPr id="60425" name="Oval 10"/>
            <p:cNvSpPr/>
            <p:nvPr/>
          </p:nvSpPr>
          <p:spPr>
            <a:xfrm>
              <a:off x="4032" y="2160"/>
              <a:ext cx="576" cy="57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0426" name="Oval 11"/>
            <p:cNvSpPr/>
            <p:nvPr/>
          </p:nvSpPr>
          <p:spPr>
            <a:xfrm>
              <a:off x="4080" y="2208"/>
              <a:ext cx="480" cy="48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32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3200" baseline="-250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3200" baseline="-25000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60427" name="AutoShape 12"/>
          <p:cNvCxnSpPr/>
          <p:nvPr/>
        </p:nvCxnSpPr>
        <p:spPr>
          <a:xfrm rot="-5400000">
            <a:off x="2919413" y="1443038"/>
            <a:ext cx="506412" cy="1365250"/>
          </a:xfrm>
          <a:prstGeom prst="curvedConnector2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428" name="Text Box 13"/>
          <p:cNvSpPr txBox="1"/>
          <p:nvPr/>
        </p:nvSpPr>
        <p:spPr>
          <a:xfrm>
            <a:off x="2754313" y="1865313"/>
            <a:ext cx="35401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sz="3200" b="0" dirty="0">
              <a:latin typeface="Times New Roman" panose="02020603050405020304" pitchFamily="18" charset="0"/>
            </a:endParaRPr>
          </a:p>
        </p:txBody>
      </p:sp>
      <p:sp>
        <p:nvSpPr>
          <p:cNvPr id="60429" name="Text Box 14"/>
          <p:cNvSpPr txBox="1"/>
          <p:nvPr/>
        </p:nvSpPr>
        <p:spPr>
          <a:xfrm>
            <a:off x="4927600" y="1819275"/>
            <a:ext cx="3524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sz="3200" b="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0" name="Text Box 15"/>
          <p:cNvSpPr txBox="1"/>
          <p:nvPr/>
        </p:nvSpPr>
        <p:spPr>
          <a:xfrm>
            <a:off x="4724400" y="2417763"/>
            <a:ext cx="35401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endParaRPr lang="en-US" altLang="zh-CN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1" name="Text Box 16"/>
          <p:cNvSpPr txBox="1"/>
          <p:nvPr/>
        </p:nvSpPr>
        <p:spPr>
          <a:xfrm>
            <a:off x="2805113" y="3248025"/>
            <a:ext cx="30321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endParaRPr lang="en-US" altLang="zh-CN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2" name="Text Box 17"/>
          <p:cNvSpPr txBox="1"/>
          <p:nvPr/>
        </p:nvSpPr>
        <p:spPr>
          <a:xfrm>
            <a:off x="5684838" y="2141538"/>
            <a:ext cx="5556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sz="3200" b="0" dirty="0">
              <a:latin typeface="Times New Roman" panose="02020603050405020304" pitchFamily="18" charset="0"/>
            </a:endParaRPr>
          </a:p>
        </p:txBody>
      </p:sp>
      <p:cxnSp>
        <p:nvCxnSpPr>
          <p:cNvPr id="60433" name="AutoShape 18"/>
          <p:cNvCxnSpPr/>
          <p:nvPr/>
        </p:nvCxnSpPr>
        <p:spPr>
          <a:xfrm>
            <a:off x="4364038" y="1874838"/>
            <a:ext cx="1363662" cy="598487"/>
          </a:xfrm>
          <a:prstGeom prst="curvedConnector2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434" name="AutoShape 19"/>
          <p:cNvCxnSpPr/>
          <p:nvPr/>
        </p:nvCxnSpPr>
        <p:spPr>
          <a:xfrm flipV="1">
            <a:off x="4321175" y="3017838"/>
            <a:ext cx="1414463" cy="460375"/>
          </a:xfrm>
          <a:prstGeom prst="curvedConnector2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0435" name="Group 20"/>
          <p:cNvGrpSpPr/>
          <p:nvPr/>
        </p:nvGrpSpPr>
        <p:grpSpPr>
          <a:xfrm>
            <a:off x="2563813" y="2593975"/>
            <a:ext cx="3486150" cy="968375"/>
            <a:chOff x="1680" y="2256"/>
            <a:chExt cx="3312" cy="1008"/>
          </a:xfrm>
        </p:grpSpPr>
        <p:cxnSp>
          <p:nvCxnSpPr>
            <p:cNvPr id="60436" name="AutoShape 21"/>
            <p:cNvCxnSpPr>
              <a:stCxn id="60419" idx="4"/>
              <a:endCxn id="60423" idx="2"/>
            </p:cNvCxnSpPr>
            <p:nvPr/>
          </p:nvCxnSpPr>
          <p:spPr>
            <a:xfrm rot="-5400000" flipH="1">
              <a:off x="2016" y="2352"/>
              <a:ext cx="576" cy="1248"/>
            </a:xfrm>
            <a:prstGeom prst="curvedConnector2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437" name="AutoShape 22"/>
            <p:cNvCxnSpPr>
              <a:stCxn id="60419" idx="4"/>
              <a:endCxn id="60426" idx="6"/>
            </p:cNvCxnSpPr>
            <p:nvPr/>
          </p:nvCxnSpPr>
          <p:spPr>
            <a:xfrm rot="5400000" flipV="1">
              <a:off x="4728" y="2280"/>
              <a:ext cx="288" cy="240"/>
            </a:xfrm>
            <a:prstGeom prst="curvedConnector4">
              <a:avLst>
                <a:gd name="adj1" fmla="val -50000"/>
                <a:gd name="adj2" fmla="val 180000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0438" name="Text Box 23"/>
          <p:cNvSpPr txBox="1"/>
          <p:nvPr/>
        </p:nvSpPr>
        <p:spPr>
          <a:xfrm>
            <a:off x="3328988" y="2432050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endParaRPr lang="zh-CN" altLang="en-US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39" name="Text Box 24"/>
          <p:cNvSpPr txBox="1"/>
          <p:nvPr/>
        </p:nvSpPr>
        <p:spPr>
          <a:xfrm>
            <a:off x="6219191" y="1893412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endParaRPr lang="en-US" altLang="zh-CN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0" name="Text Box 25"/>
          <p:cNvSpPr txBox="1"/>
          <p:nvPr/>
        </p:nvSpPr>
        <p:spPr>
          <a:xfrm>
            <a:off x="6086952" y="1893412"/>
            <a:ext cx="2641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|</a:t>
            </a:r>
            <a:endParaRPr lang="zh-CN" altLang="en-US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1" name="Text Box 26"/>
          <p:cNvSpPr txBox="1"/>
          <p:nvPr/>
        </p:nvSpPr>
        <p:spPr>
          <a:xfrm>
            <a:off x="5910898" y="1893412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0" dirty="0">
                <a:solidFill>
                  <a:srgbClr val="030305"/>
                </a:solidFill>
                <a:latin typeface="Times New Roman" panose="02020603050405020304" pitchFamily="18" charset="0"/>
              </a:rPr>
              <a:t>b</a:t>
            </a:r>
            <a:endParaRPr lang="en-US" altLang="zh-CN" sz="3200" b="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2" name="Text Box 27"/>
          <p:cNvSpPr txBox="1"/>
          <p:nvPr/>
        </p:nvSpPr>
        <p:spPr>
          <a:xfrm>
            <a:off x="2821940" y="1702912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3" name="Text Box 28"/>
          <p:cNvSpPr txBox="1"/>
          <p:nvPr/>
        </p:nvSpPr>
        <p:spPr>
          <a:xfrm>
            <a:off x="4955540" y="1626712"/>
            <a:ext cx="363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44" name="Line 29"/>
          <p:cNvSpPr/>
          <p:nvPr/>
        </p:nvSpPr>
        <p:spPr>
          <a:xfrm>
            <a:off x="1820863" y="2717800"/>
            <a:ext cx="457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0445" name="Rectangle 30"/>
          <p:cNvSpPr/>
          <p:nvPr/>
        </p:nvSpPr>
        <p:spPr>
          <a:xfrm>
            <a:off x="448310" y="1268730"/>
            <a:ext cx="9933940" cy="435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  <a:buClr>
                <a:schemeClr val="accent1"/>
              </a:buClr>
              <a:buFont typeface="Monotype Sorts"/>
            </a:pPr>
            <a:r>
              <a:rPr lang="zh-CN" altLang="en-US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举例：证明字符串序列</a:t>
            </a:r>
            <a:r>
              <a:rPr lang="en-US" altLang="zh-CN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baab</a:t>
            </a:r>
            <a:r>
              <a:rPr lang="zh-CN" altLang="en-US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被下图的</a:t>
            </a:r>
            <a:r>
              <a:rPr lang="en-US" altLang="zh-CN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DFA</a:t>
            </a:r>
            <a:r>
              <a:rPr lang="zh-CN" altLang="en-US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所接受。</a:t>
            </a:r>
            <a:endParaRPr lang="zh-CN" altLang="en-US" sz="2800" b="1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60446" name="Rectangle 31"/>
          <p:cNvSpPr/>
          <p:nvPr/>
        </p:nvSpPr>
        <p:spPr>
          <a:xfrm>
            <a:off x="6416675" y="2378710"/>
            <a:ext cx="6398260" cy="9766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SzPct val="90000"/>
              <a:buFont typeface="Wingdings" panose="05000000000000000000" charset="0"/>
              <a:buChar char="p"/>
            </a:pPr>
            <a:r>
              <a:rPr lang="zh-CN" altLang="en-US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任意列出它接受的另外两个输入串</a:t>
            </a:r>
            <a:endParaRPr lang="zh-CN" altLang="en-US" sz="2400" b="1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SzPct val="90000"/>
              <a:buFont typeface="Wingdings" panose="05000000000000000000" charset="0"/>
              <a:buChar char="p"/>
            </a:pPr>
            <a:r>
              <a:rPr lang="zh-CN" altLang="en-US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任意列出它拒绝接受的两个输入串</a:t>
            </a:r>
            <a:endParaRPr lang="zh-CN" altLang="en-US" sz="2400" b="1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943350" y="2259013"/>
              <a:ext cx="268288" cy="26987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943350" y="2259013"/>
                <a:ext cx="268288" cy="2698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2255838" y="2982913"/>
              <a:ext cx="625475" cy="5397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2255838" y="2982913"/>
                <a:ext cx="625475" cy="53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2871788" y="3759200"/>
              <a:ext cx="260350" cy="36513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2871788" y="3759200"/>
                <a:ext cx="260350" cy="36513"/>
              </a:xfrm>
              <a:prstGeom prst="rect"/>
            </p:spPr>
          </p:pic>
        </mc:Fallback>
      </mc:AlternateContent>
      <p:sp>
        <p:nvSpPr>
          <p:cNvPr id="61443" name="Oval 3"/>
          <p:cNvSpPr/>
          <p:nvPr/>
        </p:nvSpPr>
        <p:spPr>
          <a:xfrm>
            <a:off x="2356168" y="4741863"/>
            <a:ext cx="911225" cy="6858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zh-CN" altLang="en-US" sz="3200" baseline="-25000" dirty="0">
              <a:solidFill>
                <a:srgbClr val="FF0066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444" name="Line 4"/>
          <p:cNvSpPr/>
          <p:nvPr/>
        </p:nvSpPr>
        <p:spPr>
          <a:xfrm>
            <a:off x="1600518" y="5122863"/>
            <a:ext cx="7620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1445" name="Line 5"/>
          <p:cNvSpPr/>
          <p:nvPr/>
        </p:nvSpPr>
        <p:spPr>
          <a:xfrm>
            <a:off x="3267393" y="5122863"/>
            <a:ext cx="609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1446" name="Group 6"/>
          <p:cNvGrpSpPr/>
          <p:nvPr/>
        </p:nvGrpSpPr>
        <p:grpSpPr>
          <a:xfrm>
            <a:off x="5405755" y="4775200"/>
            <a:ext cx="762000" cy="685800"/>
            <a:chOff x="2208" y="2832"/>
            <a:chExt cx="480" cy="432"/>
          </a:xfrm>
        </p:grpSpPr>
        <p:sp>
          <p:nvSpPr>
            <p:cNvPr id="61447" name="Oval 7"/>
            <p:cNvSpPr/>
            <p:nvPr/>
          </p:nvSpPr>
          <p:spPr>
            <a:xfrm>
              <a:off x="2208" y="2832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1448" name="Oval 8"/>
            <p:cNvSpPr/>
            <p:nvPr/>
          </p:nvSpPr>
          <p:spPr>
            <a:xfrm>
              <a:off x="2304" y="2928"/>
              <a:ext cx="288" cy="2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FF1F7A"/>
                  </a:solidFill>
                  <a:latin typeface="Arial Black" panose="020B0A04020102020204" pitchFamily="34" charset="0"/>
                  <a:ea typeface="方正舒体" panose="02010601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zh-CN" altLang="en-US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61449" name="Rectangle 9"/>
          <p:cNvSpPr/>
          <p:nvPr/>
        </p:nvSpPr>
        <p:spPr>
          <a:xfrm>
            <a:off x="3419793" y="474186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0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61450" name="Oval 10"/>
          <p:cNvSpPr/>
          <p:nvPr/>
        </p:nvSpPr>
        <p:spPr>
          <a:xfrm>
            <a:off x="3876993" y="4818063"/>
            <a:ext cx="927100" cy="6858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32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zh-CN" altLang="en-US" sz="3200" baseline="-25000" dirty="0">
              <a:solidFill>
                <a:srgbClr val="FF0066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451" name="Line 11"/>
          <p:cNvSpPr/>
          <p:nvPr/>
        </p:nvSpPr>
        <p:spPr>
          <a:xfrm>
            <a:off x="4810443" y="5122863"/>
            <a:ext cx="6096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1452" name="Rectangle 12"/>
          <p:cNvSpPr/>
          <p:nvPr/>
        </p:nvSpPr>
        <p:spPr>
          <a:xfrm>
            <a:off x="4867593" y="474186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1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cxnSp>
        <p:nvCxnSpPr>
          <p:cNvPr id="61453" name="AutoShape 13"/>
          <p:cNvCxnSpPr>
            <a:stCxn id="61450" idx="3"/>
            <a:endCxn id="61450" idx="5"/>
          </p:cNvCxnSpPr>
          <p:nvPr/>
        </p:nvCxnSpPr>
        <p:spPr>
          <a:xfrm rot="-5400000" flipH="1">
            <a:off x="4338955" y="5076825"/>
            <a:ext cx="3175" cy="654050"/>
          </a:xfrm>
          <a:prstGeom prst="curvedConnector3">
            <a:avLst>
              <a:gd name="adj1" fmla="val 20700009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454" name="Rectangle 14"/>
          <p:cNvSpPr/>
          <p:nvPr/>
        </p:nvSpPr>
        <p:spPr>
          <a:xfrm>
            <a:off x="4181793" y="5732463"/>
            <a:ext cx="152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0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240780" y="4303395"/>
            <a:ext cx="5498465" cy="15633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2400" dirty="0"/>
              <a:t>请给出下述自动机</a:t>
            </a:r>
            <a:r>
              <a:rPr lang="en-US" altLang="zh-CN" sz="2400" dirty="0"/>
              <a:t>M</a:t>
            </a:r>
            <a:r>
              <a:rPr lang="zh-CN" altLang="en-US" sz="2400" dirty="0"/>
              <a:t>的接受集</a:t>
            </a:r>
            <a:r>
              <a:rPr lang="en-US" altLang="zh-CN" sz="2400" dirty="0"/>
              <a:t>L(M)</a:t>
            </a:r>
            <a:endParaRPr lang="en-US" altLang="zh-CN" sz="2400" dirty="0"/>
          </a:p>
          <a:p>
            <a:pPr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2400" dirty="0"/>
              <a:t>请撰写一个正规表达式，使得该正规式定义的正规集与自动机</a:t>
            </a:r>
            <a:r>
              <a:rPr lang="en-US" altLang="zh-CN" sz="2400" dirty="0"/>
              <a:t>M</a:t>
            </a:r>
            <a:r>
              <a:rPr lang="zh-CN" altLang="en-US" sz="2400" dirty="0"/>
              <a:t>的接受集</a:t>
            </a:r>
            <a:r>
              <a:rPr lang="en-US" altLang="zh-CN" sz="2400" dirty="0"/>
              <a:t>L(M)</a:t>
            </a:r>
            <a:r>
              <a:rPr lang="zh-CN" altLang="en-US" sz="2400" dirty="0"/>
              <a:t>相同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/>
          </p:cNvSpPr>
          <p:nvPr/>
        </p:nvSpPr>
        <p:spPr>
          <a:xfrm>
            <a:off x="518795" y="1167765"/>
            <a:ext cx="11154410" cy="15887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(1)状态转换图中的</a:t>
            </a:r>
            <a:r>
              <a:rPr lang="zh-CN" altLang="en-US" sz="2400" dirty="0">
                <a:solidFill>
                  <a:srgbClr val="FF0066"/>
                </a:solidFill>
                <a:latin typeface="宋体" panose="02010600030101010101" pitchFamily="2" charset="-122"/>
              </a:rPr>
              <a:t>状态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可以使用</a:t>
            </a:r>
            <a:r>
              <a:rPr lang="zh-CN" altLang="en-US" sz="2400" dirty="0">
                <a:solidFill>
                  <a:srgbClr val="FF0066"/>
                </a:solidFill>
                <a:latin typeface="宋体" panose="02010600030101010101" pitchFamily="2" charset="-122"/>
              </a:rPr>
              <a:t>任何标识系统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来标识。</a:t>
            </a:r>
            <a:endParaRPr lang="zh-CN" altLang="en-US" sz="24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(2)状态转换图中的</a:t>
            </a:r>
            <a:r>
              <a:rPr lang="zh-CN" altLang="en-US" sz="2400" dirty="0">
                <a:solidFill>
                  <a:srgbClr val="FF0066"/>
                </a:solidFill>
                <a:latin typeface="宋体" panose="02010600030101010101" pitchFamily="2" charset="-122"/>
              </a:rPr>
              <a:t>转换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可以使用</a:t>
            </a:r>
            <a:r>
              <a:rPr lang="zh-CN" altLang="en-US" sz="2400" dirty="0">
                <a:solidFill>
                  <a:srgbClr val="FF0066"/>
                </a:solidFill>
                <a:latin typeface="宋体" panose="02010600030101010101" pitchFamily="2" charset="-122"/>
              </a:rPr>
              <a:t>字符集合的名字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标出。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</a:rPr>
              <a:t>隐含的错误状态没有绘制。（没有被定义的“转换到达的状态”皆为“错误状态”）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62468" name="Group 4"/>
          <p:cNvGrpSpPr/>
          <p:nvPr/>
        </p:nvGrpSpPr>
        <p:grpSpPr>
          <a:xfrm>
            <a:off x="2438400" y="3284538"/>
            <a:ext cx="5334000" cy="1828800"/>
            <a:chOff x="528" y="1920"/>
            <a:chExt cx="3360" cy="1152"/>
          </a:xfrm>
        </p:grpSpPr>
        <p:sp>
          <p:nvSpPr>
            <p:cNvPr id="62469" name="Oval 5"/>
            <p:cNvSpPr/>
            <p:nvPr/>
          </p:nvSpPr>
          <p:spPr>
            <a:xfrm>
              <a:off x="1008" y="2112"/>
              <a:ext cx="672" cy="48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2470" name="Line 6"/>
            <p:cNvSpPr/>
            <p:nvPr/>
          </p:nvSpPr>
          <p:spPr>
            <a:xfrm>
              <a:off x="528" y="2352"/>
              <a:ext cx="48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2471" name="Line 7"/>
            <p:cNvSpPr/>
            <p:nvPr/>
          </p:nvSpPr>
          <p:spPr>
            <a:xfrm>
              <a:off x="1728" y="2352"/>
              <a:ext cx="67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62472" name="Group 8"/>
            <p:cNvGrpSpPr/>
            <p:nvPr/>
          </p:nvGrpSpPr>
          <p:grpSpPr>
            <a:xfrm>
              <a:off x="2400" y="2016"/>
              <a:ext cx="816" cy="624"/>
              <a:chOff x="2208" y="2832"/>
              <a:chExt cx="480" cy="432"/>
            </a:xfrm>
          </p:grpSpPr>
          <p:sp>
            <p:nvSpPr>
              <p:cNvPr id="62473" name="Oval 9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62474" name="Oval 10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2475" name="Rectangle 11"/>
            <p:cNvSpPr/>
            <p:nvPr/>
          </p:nvSpPr>
          <p:spPr>
            <a:xfrm>
              <a:off x="1776" y="2016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letter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62476" name="AutoShape 12"/>
            <p:cNvCxnSpPr>
              <a:stCxn id="62473" idx="6"/>
              <a:endCxn id="62473" idx="0"/>
            </p:cNvCxnSpPr>
            <p:nvPr/>
          </p:nvCxnSpPr>
          <p:spPr>
            <a:xfrm flipH="1" flipV="1">
              <a:off x="2808" y="2016"/>
              <a:ext cx="408" cy="312"/>
            </a:xfrm>
            <a:prstGeom prst="curvedConnector4">
              <a:avLst>
                <a:gd name="adj1" fmla="val -35296"/>
                <a:gd name="adj2" fmla="val 146153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477" name="AutoShape 13"/>
            <p:cNvCxnSpPr>
              <a:stCxn id="62473" idx="3"/>
              <a:endCxn id="62473" idx="5"/>
            </p:cNvCxnSpPr>
            <p:nvPr/>
          </p:nvCxnSpPr>
          <p:spPr>
            <a:xfrm rot="-5400000" flipH="1">
              <a:off x="2806" y="2259"/>
              <a:ext cx="1" cy="578"/>
            </a:xfrm>
            <a:prstGeom prst="curvedConnector3">
              <a:avLst>
                <a:gd name="adj1" fmla="val 235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478" name="Rectangle 14"/>
            <p:cNvSpPr/>
            <p:nvPr/>
          </p:nvSpPr>
          <p:spPr>
            <a:xfrm>
              <a:off x="3408" y="1920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letter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2479" name="Rectangle 15"/>
            <p:cNvSpPr/>
            <p:nvPr/>
          </p:nvSpPr>
          <p:spPr>
            <a:xfrm>
              <a:off x="2688" y="278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digit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73072" name="Rectangle 16"/>
          <p:cNvSpPr/>
          <p:nvPr/>
        </p:nvSpPr>
        <p:spPr>
          <a:xfrm>
            <a:off x="1847850" y="4706938"/>
            <a:ext cx="3960813" cy="9518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letter={a,…,z,A,…Z}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digit={0,…,9}</a:t>
            </a:r>
            <a:endParaRPr lang="en-US" altLang="zh-CN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Oval 5"/>
          <p:cNvSpPr/>
          <p:nvPr/>
        </p:nvSpPr>
        <p:spPr>
          <a:xfrm>
            <a:off x="8382000" y="3714750"/>
            <a:ext cx="1066800" cy="7620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rPr>
              <a:t>error</a:t>
            </a:r>
            <a:endParaRPr lang="en-US" altLang="zh-CN" sz="3200" b="0" dirty="0">
              <a:solidFill>
                <a:srgbClr val="030305"/>
              </a:solidFill>
              <a:latin typeface="Tahoma" panose="020B0604030504040204" pitchFamily="34" charset="0"/>
            </a:endParaRPr>
          </a:p>
        </p:txBody>
      </p:sp>
      <p:grpSp>
        <p:nvGrpSpPr>
          <p:cNvPr id="4" name="组合 25"/>
          <p:cNvGrpSpPr/>
          <p:nvPr/>
        </p:nvGrpSpPr>
        <p:grpSpPr>
          <a:xfrm>
            <a:off x="3733800" y="2571750"/>
            <a:ext cx="5181600" cy="1143000"/>
            <a:chOff x="2209800" y="2571744"/>
            <a:chExt cx="5181616" cy="1143008"/>
          </a:xfrm>
        </p:grpSpPr>
        <p:cxnSp>
          <p:nvCxnSpPr>
            <p:cNvPr id="62483" name="AutoShape 12"/>
            <p:cNvCxnSpPr>
              <a:stCxn id="62469" idx="0"/>
              <a:endCxn id="20" idx="0"/>
            </p:cNvCxnSpPr>
            <p:nvPr/>
          </p:nvCxnSpPr>
          <p:spPr>
            <a:xfrm rot="-5400000" flipH="1">
              <a:off x="4737901" y="1061237"/>
              <a:ext cx="125414" cy="5181616"/>
            </a:xfrm>
            <a:prstGeom prst="curvedConnector3">
              <a:avLst>
                <a:gd name="adj1" fmla="val -541042"/>
              </a:avLst>
            </a:prstGeom>
            <a:ln w="12700" cap="flat" cmpd="sng">
              <a:solidFill>
                <a:srgbClr val="030305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62484" name="Rectangle 15"/>
            <p:cNvSpPr/>
            <p:nvPr/>
          </p:nvSpPr>
          <p:spPr>
            <a:xfrm>
              <a:off x="5857884" y="2571744"/>
              <a:ext cx="762000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digit</a:t>
              </a:r>
              <a:endParaRPr lang="en-US" altLang="zh-CN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7465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3.2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DFA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）的定义</a:t>
            </a:r>
            <a:endParaRPr sz="32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  <a:hlinkClick r:id="rId1" action="ppaction://hlinksldjump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72" grpId="0"/>
      <p:bldP spid="20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50520" y="276860"/>
            <a:ext cx="732345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3490" name="Rectangle 2"/>
          <p:cNvSpPr/>
          <p:nvPr/>
        </p:nvSpPr>
        <p:spPr>
          <a:xfrm>
            <a:off x="350520" y="1216025"/>
            <a:ext cx="11529695" cy="255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2.3.1有穷自动机的引入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457200" indent="-457200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2.3.2确定性有穷自动机(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DFA)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的定义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2.3.3非确定性有穷自动机(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NFA)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 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14350" indent="-514350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charset="0"/>
              <a:buChar char="p"/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讨论：自动机的应用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79425" y="276860"/>
            <a:ext cx="8599805" cy="593090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2.3.3 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非确定性有穷自动机（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NFA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64515" name="Rectangle 3"/>
          <p:cNvSpPr/>
          <p:nvPr/>
        </p:nvSpPr>
        <p:spPr>
          <a:xfrm>
            <a:off x="360680" y="1214120"/>
            <a:ext cx="4761865" cy="5636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sz="3200" b="1" dirty="0">
                <a:latin typeface="Verdana" panose="020B0604030504040204" pitchFamily="34" charset="0"/>
              </a:rPr>
              <a:t>有穷自动机对于某个输入符号，如果在同一个状态上存在不止一种转换？</a:t>
            </a:r>
            <a:endParaRPr lang="zh-CN" altLang="en-US" sz="3200" b="1" dirty="0">
              <a:latin typeface="Verdana" panose="020B0604030504040204" pitchFamily="34" charset="0"/>
            </a:endParaRPr>
          </a:p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用</a:t>
            </a: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zh-CN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转换</a:t>
            </a: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+mn-ea"/>
              </a:rPr>
              <a:t>描述空符号串匹配</a:t>
            </a:r>
            <a:r>
              <a:rPr lang="en-US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+mn-ea"/>
              </a:rPr>
              <a:t>通过添加一个新的初始状态来链接各个自动机，将它们合并为一个自动机。</a:t>
            </a:r>
            <a:endParaRPr lang="zh-CN" altLang="en-US" sz="3200" b="1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</a:pPr>
            <a:endParaRPr lang="zh-CN" altLang="en-US" sz="3200" b="1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64516" name="Line 4"/>
          <p:cNvSpPr/>
          <p:nvPr/>
        </p:nvSpPr>
        <p:spPr>
          <a:xfrm>
            <a:off x="8218488" y="1606550"/>
            <a:ext cx="644525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17" name="Line 5"/>
          <p:cNvSpPr/>
          <p:nvPr/>
        </p:nvSpPr>
        <p:spPr>
          <a:xfrm flipV="1">
            <a:off x="6607175" y="1676400"/>
            <a:ext cx="966788" cy="41433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18" name="Line 6"/>
          <p:cNvSpPr/>
          <p:nvPr/>
        </p:nvSpPr>
        <p:spPr>
          <a:xfrm>
            <a:off x="6735763" y="2435225"/>
            <a:ext cx="838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19" name="Line 7"/>
          <p:cNvSpPr/>
          <p:nvPr/>
        </p:nvSpPr>
        <p:spPr>
          <a:xfrm>
            <a:off x="6607175" y="2644775"/>
            <a:ext cx="966788" cy="760413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20" name="Rectangle 8"/>
          <p:cNvSpPr/>
          <p:nvPr/>
        </p:nvSpPr>
        <p:spPr>
          <a:xfrm>
            <a:off x="7061200" y="1550988"/>
            <a:ext cx="128588" cy="2778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4521" name="Rectangle 9"/>
          <p:cNvSpPr/>
          <p:nvPr/>
        </p:nvSpPr>
        <p:spPr>
          <a:xfrm>
            <a:off x="7059613" y="2090738"/>
            <a:ext cx="1285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4522" name="Rectangle 10"/>
          <p:cNvSpPr/>
          <p:nvPr/>
        </p:nvSpPr>
        <p:spPr>
          <a:xfrm>
            <a:off x="6994525" y="2714625"/>
            <a:ext cx="128588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4523" name="Rectangle 11"/>
          <p:cNvSpPr/>
          <p:nvPr/>
        </p:nvSpPr>
        <p:spPr>
          <a:xfrm>
            <a:off x="8347075" y="1262063"/>
            <a:ext cx="192088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4524" name="Rectangle 12"/>
          <p:cNvSpPr/>
          <p:nvPr/>
        </p:nvSpPr>
        <p:spPr>
          <a:xfrm>
            <a:off x="8475663" y="2165350"/>
            <a:ext cx="1285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&gt;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64525" name="Group 13"/>
          <p:cNvGrpSpPr/>
          <p:nvPr/>
        </p:nvGrpSpPr>
        <p:grpSpPr>
          <a:xfrm>
            <a:off x="5448300" y="1322388"/>
            <a:ext cx="4178300" cy="2454275"/>
            <a:chOff x="1200" y="1478"/>
            <a:chExt cx="2632" cy="1546"/>
          </a:xfrm>
        </p:grpSpPr>
        <p:sp>
          <p:nvSpPr>
            <p:cNvPr id="64526" name="Line 14"/>
            <p:cNvSpPr/>
            <p:nvPr/>
          </p:nvSpPr>
          <p:spPr>
            <a:xfrm>
              <a:off x="1200" y="2179"/>
              <a:ext cx="40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4527" name="Oval 15"/>
            <p:cNvSpPr/>
            <p:nvPr/>
          </p:nvSpPr>
          <p:spPr>
            <a:xfrm>
              <a:off x="2539" y="1484"/>
              <a:ext cx="406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1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28" name="Oval 16"/>
            <p:cNvSpPr/>
            <p:nvPr/>
          </p:nvSpPr>
          <p:spPr>
            <a:xfrm>
              <a:off x="2534" y="2633"/>
              <a:ext cx="405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4529" name="Oval 17"/>
            <p:cNvSpPr/>
            <p:nvPr/>
          </p:nvSpPr>
          <p:spPr>
            <a:xfrm>
              <a:off x="2615" y="2719"/>
              <a:ext cx="243" cy="21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5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30" name="Oval 18"/>
            <p:cNvSpPr/>
            <p:nvPr/>
          </p:nvSpPr>
          <p:spPr>
            <a:xfrm>
              <a:off x="2534" y="2036"/>
              <a:ext cx="405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3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31" name="Oval 19"/>
            <p:cNvSpPr/>
            <p:nvPr/>
          </p:nvSpPr>
          <p:spPr>
            <a:xfrm>
              <a:off x="1606" y="1962"/>
              <a:ext cx="405" cy="393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0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32" name="Oval 20"/>
            <p:cNvSpPr/>
            <p:nvPr/>
          </p:nvSpPr>
          <p:spPr>
            <a:xfrm>
              <a:off x="3426" y="2025"/>
              <a:ext cx="406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4533" name="Oval 21"/>
            <p:cNvSpPr/>
            <p:nvPr/>
          </p:nvSpPr>
          <p:spPr>
            <a:xfrm>
              <a:off x="3352" y="1478"/>
              <a:ext cx="406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4534" name="Oval 22"/>
            <p:cNvSpPr/>
            <p:nvPr/>
          </p:nvSpPr>
          <p:spPr>
            <a:xfrm>
              <a:off x="3433" y="1564"/>
              <a:ext cx="244" cy="21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2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4535" name="Oval 23"/>
            <p:cNvSpPr/>
            <p:nvPr/>
          </p:nvSpPr>
          <p:spPr>
            <a:xfrm>
              <a:off x="3504" y="2112"/>
              <a:ext cx="244" cy="21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28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4</a:t>
              </a:r>
              <a:endParaRPr lang="zh-CN" altLang="en-US" sz="28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64536" name="Line 24"/>
          <p:cNvSpPr/>
          <p:nvPr/>
        </p:nvSpPr>
        <p:spPr>
          <a:xfrm>
            <a:off x="8267700" y="2465388"/>
            <a:ext cx="644525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3" name="Group 2"/>
          <p:cNvGrpSpPr/>
          <p:nvPr/>
        </p:nvGrpSpPr>
        <p:grpSpPr>
          <a:xfrm>
            <a:off x="4985068" y="4632643"/>
            <a:ext cx="1385887" cy="611187"/>
            <a:chOff x="288" y="1906"/>
            <a:chExt cx="873" cy="385"/>
          </a:xfrm>
        </p:grpSpPr>
        <p:sp>
          <p:nvSpPr>
            <p:cNvPr id="65539" name="Oval 3"/>
            <p:cNvSpPr/>
            <p:nvPr>
              <p:custDataLst>
                <p:tags r:id="rId1"/>
              </p:custDataLst>
            </p:nvPr>
          </p:nvSpPr>
          <p:spPr>
            <a:xfrm>
              <a:off x="724" y="1906"/>
              <a:ext cx="437" cy="385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3200" b="0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81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88" y="2120"/>
              <a:ext cx="436" cy="0"/>
            </a:xfrm>
            <a:prstGeom prst="line">
              <a:avLst/>
            </a:prstGeom>
            <a:noFill/>
            <a:ln w="9525">
              <a:solidFill>
                <a:srgbClr val="030305"/>
              </a:solidFill>
              <a:round/>
              <a:tailEnd type="triangle" w="med" len="med"/>
            </a:ln>
          </p:spPr>
          <p:txBody>
            <a:bodyPr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227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85268" y="4251643"/>
            <a:ext cx="344488" cy="37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kumimoji="1" lang="zh-CN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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8227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32868" y="5166043"/>
            <a:ext cx="344488" cy="2968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kumimoji="1" lang="zh-CN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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82279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6356668" y="4556443"/>
            <a:ext cx="685800" cy="3048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tailEnd type="triangle" w="med" len="med"/>
          </a:ln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280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356668" y="5013643"/>
            <a:ext cx="685800" cy="4572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tailEnd type="triangle" w="med" len="med"/>
          </a:ln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42785" y="5013960"/>
            <a:ext cx="5029200" cy="1447800"/>
            <a:chOff x="11091" y="7896"/>
            <a:chExt cx="7920" cy="2280"/>
          </a:xfrm>
        </p:grpSpPr>
        <p:sp>
          <p:nvSpPr>
            <p:cNvPr id="74763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6491" y="9336"/>
              <a:ext cx="2160" cy="8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rPr>
                <a:t>letter</a:t>
              </a:r>
              <a:endPara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4" name="Line 1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3491" y="8616"/>
              <a:ext cx="2400" cy="0"/>
            </a:xfrm>
            <a:prstGeom prst="line">
              <a:avLst/>
            </a:prstGeom>
            <a:noFill/>
            <a:ln w="9525">
              <a:solidFill>
                <a:srgbClr val="030305"/>
              </a:solidFill>
              <a:round/>
              <a:tailEnd type="triangle" w="med" len="med"/>
            </a:ln>
          </p:spPr>
          <p:txBody>
            <a:bodyPr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65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371" y="7896"/>
              <a:ext cx="1920" cy="7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rPr>
                <a:t>letter</a:t>
              </a:r>
              <a:endPara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5549" name="Group 13"/>
            <p:cNvGrpSpPr/>
            <p:nvPr/>
          </p:nvGrpSpPr>
          <p:grpSpPr>
            <a:xfrm>
              <a:off x="15891" y="8016"/>
              <a:ext cx="3120" cy="1205"/>
              <a:chOff x="2928" y="2976"/>
              <a:chExt cx="816" cy="480"/>
            </a:xfrm>
          </p:grpSpPr>
          <p:sp>
            <p:nvSpPr>
              <p:cNvPr id="74778" name="Oval 1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928" y="2976"/>
                <a:ext cx="816" cy="480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Wingdings" panose="05000000000000000000" pitchFamily="2" charset="2"/>
                  <a:buChar char="•"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79" name="Oval 15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091" y="3083"/>
                <a:ext cx="490" cy="306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30305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</a:rPr>
                  <a:t>DONE2</a:t>
                </a:r>
                <a:endPara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65552" name="AutoShape 16"/>
            <p:cNvCxnSpPr/>
            <p:nvPr>
              <p:custDataLst>
                <p:tags r:id="rId12"/>
              </p:custDataLst>
            </p:nvPr>
          </p:nvCxnSpPr>
          <p:spPr>
            <a:xfrm rot="-5400000" flipH="1">
              <a:off x="17446" y="7941"/>
              <a:ext cx="5" cy="2205"/>
            </a:xfrm>
            <a:prstGeom prst="curvedConnector3">
              <a:avLst>
                <a:gd name="adj1" fmla="val 215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768" name="Oval 17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091" y="8256"/>
              <a:ext cx="2400" cy="70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START2</a:t>
              </a:r>
              <a:endParaRPr kumimoji="1" lang="en-US" altLang="zh-CN" sz="3200" b="1" i="0" u="none" strike="noStrike" kern="1200" cap="none" spc="0" normalizeH="0" baseline="-25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042785" y="3718560"/>
            <a:ext cx="4697730" cy="1172210"/>
            <a:chOff x="11091" y="5856"/>
            <a:chExt cx="7398" cy="1846"/>
          </a:xfrm>
        </p:grpSpPr>
        <p:sp>
          <p:nvSpPr>
            <p:cNvPr id="74769" name="Oval 1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091" y="6816"/>
              <a:ext cx="2280" cy="70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START1</a:t>
              </a:r>
              <a:endParaRPr kumimoji="1" lang="en-US" altLang="zh-CN" sz="3200" b="1" i="0" u="none" strike="noStrike" kern="1200" cap="none" spc="0" normalizeH="0" baseline="-25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74770" name="Line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13371" y="7176"/>
              <a:ext cx="1410" cy="0"/>
            </a:xfrm>
            <a:prstGeom prst="line">
              <a:avLst/>
            </a:prstGeom>
            <a:noFill/>
            <a:ln w="9525">
              <a:solidFill>
                <a:srgbClr val="030305"/>
              </a:solidFill>
              <a:round/>
              <a:tailEnd type="triangle" w="med" len="med"/>
            </a:ln>
          </p:spPr>
          <p:txBody>
            <a:bodyPr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771" name="Rectangle 20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3011" y="5976"/>
              <a:ext cx="2040" cy="7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rPr>
                <a:t>digit</a:t>
              </a:r>
              <a:endPara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65557" name="AutoShape 21"/>
            <p:cNvCxnSpPr/>
            <p:nvPr>
              <p:custDataLst>
                <p:tags r:id="rId17"/>
              </p:custDataLst>
            </p:nvPr>
          </p:nvCxnSpPr>
          <p:spPr>
            <a:xfrm flipV="1">
              <a:off x="15466" y="6576"/>
              <a:ext cx="1085" cy="87"/>
            </a:xfrm>
            <a:prstGeom prst="curvedConnector4">
              <a:avLst>
                <a:gd name="adj1" fmla="val 287329"/>
                <a:gd name="adj2" fmla="val 511431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773" name="Rectangle 22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611" y="5856"/>
              <a:ext cx="1878" cy="5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rPr>
                <a:t>digit</a:t>
              </a:r>
              <a:endParaRPr kumimoji="1" lang="en-US" altLang="zh-CN" sz="3200" b="1" i="0" u="none" strike="noStrike" kern="1200" cap="none" spc="0" normalizeH="0" baseline="30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5559" name="Group 23"/>
            <p:cNvGrpSpPr/>
            <p:nvPr/>
          </p:nvGrpSpPr>
          <p:grpSpPr>
            <a:xfrm>
              <a:off x="14811" y="6576"/>
              <a:ext cx="3480" cy="1127"/>
              <a:chOff x="2928" y="2976"/>
              <a:chExt cx="816" cy="480"/>
            </a:xfrm>
          </p:grpSpPr>
          <p:sp>
            <p:nvSpPr>
              <p:cNvPr id="74776" name="Oval 24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2928" y="2976"/>
                <a:ext cx="816" cy="480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Wingdings" panose="05000000000000000000" pitchFamily="2" charset="2"/>
                  <a:buChar char="•"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777" name="Oval 25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091" y="3083"/>
                <a:ext cx="490" cy="265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30305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</a:rPr>
                  <a:t>DONE1</a:t>
                </a:r>
                <a:endPara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/>
      <p:bldP spid="18227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6" name="Rectangle 6"/>
          <p:cNvSpPr>
            <a:spLocks noGrp="1"/>
          </p:cNvSpPr>
          <p:nvPr/>
        </p:nvSpPr>
        <p:spPr>
          <a:xfrm>
            <a:off x="337820" y="1214755"/>
            <a:ext cx="11441430" cy="41763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indent="-5715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30305"/>
                </a:solidFill>
              </a:rPr>
              <a:t>NFA(</a:t>
            </a:r>
            <a:r>
              <a:rPr lang="zh-CN" altLang="en-US" dirty="0">
                <a:solidFill>
                  <a:srgbClr val="030305"/>
                </a:solidFill>
              </a:rPr>
              <a:t>非确定性有穷自动机)是无元式</a:t>
            </a:r>
            <a:r>
              <a:rPr kumimoji="1" lang="en-US" altLang="zh-CN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sym typeface="Symbol" panose="05050102010706020507" pitchFamily="18" charset="2"/>
              </a:rPr>
              <a:t>M=(S；； T； s</a:t>
            </a:r>
            <a:r>
              <a:rPr kumimoji="1" lang="en-US" altLang="zh-CN" kern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sym typeface="Symbol" panose="05050102010706020507" pitchFamily="18" charset="2"/>
              </a:rPr>
              <a:t>0 </a:t>
            </a:r>
            <a:r>
              <a:rPr kumimoji="1" lang="en-US" altLang="zh-CN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sym typeface="Symbol" panose="05050102010706020507" pitchFamily="18" charset="2"/>
              </a:rPr>
              <a:t>；</a:t>
            </a:r>
            <a:r>
              <a:rPr kumimoji="1" lang="en-US" altLang="zh-CN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sym typeface="Symbol" panose="05050102010706020507" pitchFamily="18" charset="2"/>
              </a:rPr>
              <a:t> </a:t>
            </a:r>
            <a:r>
              <a:rPr kumimoji="1" lang="en-US" altLang="zh-CN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sym typeface="Symbol" panose="05050102010706020507" pitchFamily="18" charset="2"/>
              </a:rPr>
              <a:t>A )</a:t>
            </a:r>
            <a:r>
              <a:rPr lang="zh-CN" altLang="en-US" dirty="0">
                <a:solidFill>
                  <a:srgbClr val="030305"/>
                </a:solidFill>
              </a:rPr>
              <a:t>：</a:t>
            </a:r>
            <a:endParaRPr lang="zh-CN" altLang="en-US" dirty="0">
              <a:solidFill>
                <a:srgbClr val="030305"/>
              </a:solidFill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有限个输入符号组成的字母表，记作</a:t>
            </a:r>
            <a:r>
              <a:rPr lang="zh-CN" altLang="en-US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有限个状态的集合，记作</a:t>
            </a:r>
            <a:r>
              <a:rPr lang="en-US" altLang="zh-CN" dirty="0">
                <a:solidFill>
                  <a:srgbClr val="FF1F7A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；</a:t>
            </a:r>
            <a:endParaRPr lang="zh-CN" altLang="en-US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marL="967105" lvl="1" indent="-4953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AutoNum type="circleNumDbPlain" startAt="3"/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转换函数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；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T: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(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</a:rPr>
              <a:t>∪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zh-CN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})</a:t>
            </a:r>
            <a:r>
              <a:rPr lang="en-US" altLang="zh-CN" sz="2800" b="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(S)</a:t>
            </a:r>
            <a:endParaRPr lang="zh-CN" altLang="en-US" sz="2800" dirty="0">
              <a:solidFill>
                <a:srgbClr val="FF0066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1348105" lvl="2" indent="-43815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T(s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c)= {s</a:t>
            </a:r>
            <a:r>
              <a:rPr lang="en-US" altLang="zh-CN" sz="2800" b="0" baseline="-250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k1</a:t>
            </a:r>
            <a:r>
              <a:rPr lang="en-US" altLang="zh-CN" sz="2800" b="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,…, 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0" baseline="-250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km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800" dirty="0">
              <a:solidFill>
                <a:srgbClr val="FF1F7A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1348105" lvl="2" indent="-43815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表示若当前状态为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sS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，且要识别的输入符号为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c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</a:rPr>
              <a:t>∪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zh-CN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识别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后可能进入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{s</a:t>
            </a:r>
            <a:r>
              <a:rPr lang="en-US" altLang="zh-CN" sz="2800" b="0" baseline="-250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k1</a:t>
            </a:r>
            <a:r>
              <a:rPr lang="en-US" altLang="zh-CN" sz="2800" b="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0" baseline="-250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km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中的任何一个状态</a:t>
            </a:r>
            <a:r>
              <a:rPr lang="en-US" altLang="zh-CN" sz="2800" dirty="0">
                <a:solidFill>
                  <a:srgbClr val="FF1F7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circleNumDbPlain" startAt="4"/>
              <a:defRPr/>
            </a:pPr>
            <a:r>
              <a:rPr kumimoji="1" lang="zh-CN" altLang="en-US" sz="2800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初始状态</a:t>
            </a:r>
            <a:r>
              <a:rPr kumimoji="1" lang="en-US" altLang="zh-CN" sz="2800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s</a:t>
            </a:r>
            <a:r>
              <a:rPr kumimoji="1" lang="en-US" altLang="zh-CN" sz="2800" kern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0</a:t>
            </a:r>
            <a:r>
              <a:rPr kumimoji="1" lang="en-US" altLang="zh-CN" sz="2800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S</a:t>
            </a:r>
            <a:r>
              <a:rPr kumimoji="1" lang="en-US" altLang="zh-CN" sz="2800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;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  <a:sym typeface="Symbol" panose="05050102010706020507" pitchFamily="18" charset="2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circleNumDbPlain" startAt="5"/>
              <a:defRPr/>
            </a:pPr>
            <a:r>
              <a:rPr kumimoji="1" lang="zh-CN" altLang="en-US" sz="2800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若干个接受状态的集合:</a:t>
            </a:r>
            <a:r>
              <a:rPr kumimoji="1" lang="zh-CN" altLang="en-US" sz="2800" kern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 </a:t>
            </a:r>
            <a:r>
              <a:rPr kumimoji="1" lang="en-US" altLang="zh-CN" sz="2800" kern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Times New Roman" panose="02020603050405020304" pitchFamily="18" charset="0"/>
                <a:cs typeface="+mn-ea"/>
                <a:sym typeface="Symbol" panose="05050102010706020507" pitchFamily="18" charset="2"/>
              </a:rPr>
              <a:t>A  S 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79425" y="276860"/>
            <a:ext cx="8599805" cy="593090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2.3.3 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非确定性有穷自动机（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NFA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84326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84326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84326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84326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10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84326">
                                            <p:txEl>
                                              <p:charRg st="104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84326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84326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/>
        </p:nvSpPr>
        <p:spPr>
          <a:xfrm>
            <a:off x="404495" y="1156970"/>
            <a:ext cx="10263505" cy="2076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NFA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的状态转换图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例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4.12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：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M=({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&lt; , &gt; , =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}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{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0，1，2，3，4，5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}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T,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, {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2，4，5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}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)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       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其中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1F7A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的定义如下：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T(0,&lt;)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{1,3,5}  T(1,=)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{2}  T(3,&gt;)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+mj-lt"/>
                <a:ea typeface="+mn-ea"/>
                <a:cs typeface="+mn-cs"/>
                <a:sym typeface="Symbol" panose="05050102010706020507" pitchFamily="18" charset="2"/>
              </a:rPr>
              <a:t>{4}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+mj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87395" name="Line 3"/>
          <p:cNvSpPr/>
          <p:nvPr/>
        </p:nvSpPr>
        <p:spPr>
          <a:xfrm>
            <a:off x="5715000" y="4487545"/>
            <a:ext cx="735013" cy="15875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7396" name="Line 4"/>
          <p:cNvSpPr/>
          <p:nvPr/>
        </p:nvSpPr>
        <p:spPr>
          <a:xfrm>
            <a:off x="5741988" y="3612833"/>
            <a:ext cx="644525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7397" name="Line 5"/>
          <p:cNvSpPr/>
          <p:nvPr/>
        </p:nvSpPr>
        <p:spPr>
          <a:xfrm flipV="1">
            <a:off x="4130675" y="3682683"/>
            <a:ext cx="966788" cy="414337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7398" name="Line 6"/>
          <p:cNvSpPr/>
          <p:nvPr/>
        </p:nvSpPr>
        <p:spPr>
          <a:xfrm>
            <a:off x="4259263" y="4441508"/>
            <a:ext cx="838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7399" name="Line 7"/>
          <p:cNvSpPr/>
          <p:nvPr/>
        </p:nvSpPr>
        <p:spPr>
          <a:xfrm>
            <a:off x="4130675" y="4651058"/>
            <a:ext cx="966788" cy="760412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87400" name="Rectangle 8"/>
          <p:cNvSpPr/>
          <p:nvPr/>
        </p:nvSpPr>
        <p:spPr>
          <a:xfrm>
            <a:off x="4584700" y="3557270"/>
            <a:ext cx="128588" cy="277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7401" name="Rectangle 9"/>
          <p:cNvSpPr/>
          <p:nvPr/>
        </p:nvSpPr>
        <p:spPr>
          <a:xfrm>
            <a:off x="4583113" y="4097020"/>
            <a:ext cx="1285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7402" name="Rectangle 10"/>
          <p:cNvSpPr/>
          <p:nvPr/>
        </p:nvSpPr>
        <p:spPr>
          <a:xfrm>
            <a:off x="4518025" y="4720908"/>
            <a:ext cx="128588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&lt;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7403" name="Rectangle 11"/>
          <p:cNvSpPr/>
          <p:nvPr/>
        </p:nvSpPr>
        <p:spPr>
          <a:xfrm>
            <a:off x="5870575" y="3268345"/>
            <a:ext cx="192088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7404" name="Rectangle 12"/>
          <p:cNvSpPr/>
          <p:nvPr/>
        </p:nvSpPr>
        <p:spPr>
          <a:xfrm>
            <a:off x="5999163" y="4171633"/>
            <a:ext cx="1285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&gt;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2971800" y="3328670"/>
            <a:ext cx="4178300" cy="2454275"/>
            <a:chOff x="1200" y="1478"/>
            <a:chExt cx="2632" cy="1546"/>
          </a:xfrm>
        </p:grpSpPr>
        <p:sp>
          <p:nvSpPr>
            <p:cNvPr id="68622" name="Line 14"/>
            <p:cNvSpPr/>
            <p:nvPr/>
          </p:nvSpPr>
          <p:spPr>
            <a:xfrm>
              <a:off x="1200" y="2179"/>
              <a:ext cx="40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8623" name="Oval 15"/>
            <p:cNvSpPr/>
            <p:nvPr/>
          </p:nvSpPr>
          <p:spPr>
            <a:xfrm>
              <a:off x="2539" y="1484"/>
              <a:ext cx="406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1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624" name="Oval 16"/>
            <p:cNvSpPr/>
            <p:nvPr/>
          </p:nvSpPr>
          <p:spPr>
            <a:xfrm>
              <a:off x="2534" y="2633"/>
              <a:ext cx="405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8625" name="Oval 17"/>
            <p:cNvSpPr/>
            <p:nvPr/>
          </p:nvSpPr>
          <p:spPr>
            <a:xfrm>
              <a:off x="2615" y="2719"/>
              <a:ext cx="243" cy="21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5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626" name="Oval 18"/>
            <p:cNvSpPr/>
            <p:nvPr/>
          </p:nvSpPr>
          <p:spPr>
            <a:xfrm>
              <a:off x="2534" y="2036"/>
              <a:ext cx="405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3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627" name="Oval 19"/>
            <p:cNvSpPr/>
            <p:nvPr/>
          </p:nvSpPr>
          <p:spPr>
            <a:xfrm>
              <a:off x="1606" y="1962"/>
              <a:ext cx="405" cy="393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0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628" name="Oval 20"/>
            <p:cNvSpPr/>
            <p:nvPr/>
          </p:nvSpPr>
          <p:spPr>
            <a:xfrm>
              <a:off x="3426" y="2025"/>
              <a:ext cx="406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8629" name="Oval 21"/>
            <p:cNvSpPr/>
            <p:nvPr/>
          </p:nvSpPr>
          <p:spPr>
            <a:xfrm>
              <a:off x="3352" y="1478"/>
              <a:ext cx="406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8630" name="Oval 22"/>
            <p:cNvSpPr/>
            <p:nvPr/>
          </p:nvSpPr>
          <p:spPr>
            <a:xfrm>
              <a:off x="3433" y="1564"/>
              <a:ext cx="244" cy="219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2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8631" name="Oval 23"/>
            <p:cNvSpPr/>
            <p:nvPr/>
          </p:nvSpPr>
          <p:spPr>
            <a:xfrm>
              <a:off x="3504" y="2112"/>
              <a:ext cx="244" cy="21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ahoma" panose="020B0604030504040204" pitchFamily="34" charset="0"/>
                </a:rPr>
                <a:t>4</a:t>
              </a:r>
              <a:endParaRPr lang="zh-CN" altLang="en-US" sz="320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79425" y="276860"/>
            <a:ext cx="8599805" cy="593090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2.3.3 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非确定性有穷自动机（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NFA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0" grpId="0"/>
      <p:bldP spid="187401" grpId="0"/>
      <p:bldP spid="187402" grpId="0"/>
      <p:bldP spid="187403" grpId="0"/>
      <p:bldP spid="18740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/>
          </p:cNvSpPr>
          <p:nvPr/>
        </p:nvSpPr>
        <p:spPr>
          <a:xfrm>
            <a:off x="202883" y="1202690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3400" b="0" dirty="0">
                <a:solidFill>
                  <a:srgbClr val="030305"/>
                </a:solidFill>
              </a:rPr>
              <a:t>例：观察下面自动机图示并完成任务</a:t>
            </a:r>
            <a:endParaRPr lang="en-US" altLang="zh-CN" sz="3400" b="0" dirty="0">
              <a:solidFill>
                <a:srgbClr val="030305"/>
              </a:solidFill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387475" y="2165668"/>
            <a:ext cx="4114800" cy="2063750"/>
            <a:chOff x="1008" y="2396"/>
            <a:chExt cx="2592" cy="1300"/>
          </a:xfrm>
        </p:grpSpPr>
        <p:sp>
          <p:nvSpPr>
            <p:cNvPr id="69636" name="Line 4"/>
            <p:cNvSpPr/>
            <p:nvPr/>
          </p:nvSpPr>
          <p:spPr>
            <a:xfrm>
              <a:off x="2793" y="3130"/>
              <a:ext cx="40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37" name="Oval 5"/>
            <p:cNvSpPr/>
            <p:nvPr/>
          </p:nvSpPr>
          <p:spPr>
            <a:xfrm>
              <a:off x="2347" y="2396"/>
              <a:ext cx="406" cy="391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2</a:t>
              </a:r>
              <a:endParaRPr lang="zh-CN" altLang="en-US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9638" name="Line 6"/>
            <p:cNvSpPr/>
            <p:nvPr/>
          </p:nvSpPr>
          <p:spPr>
            <a:xfrm>
              <a:off x="2753" y="2569"/>
              <a:ext cx="559" cy="407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39" name="Oval 7"/>
            <p:cNvSpPr/>
            <p:nvPr/>
          </p:nvSpPr>
          <p:spPr>
            <a:xfrm>
              <a:off x="2342" y="2948"/>
              <a:ext cx="405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3</a:t>
              </a:r>
              <a:endParaRPr lang="zh-CN" altLang="en-US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9640" name="Oval 8"/>
            <p:cNvSpPr/>
            <p:nvPr/>
          </p:nvSpPr>
          <p:spPr>
            <a:xfrm>
              <a:off x="1414" y="2874"/>
              <a:ext cx="405" cy="393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1</a:t>
              </a:r>
              <a:endParaRPr lang="zh-CN" altLang="en-US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9641" name="Line 9"/>
            <p:cNvSpPr/>
            <p:nvPr/>
          </p:nvSpPr>
          <p:spPr>
            <a:xfrm>
              <a:off x="1008" y="3091"/>
              <a:ext cx="40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42" name="Line 10"/>
            <p:cNvSpPr/>
            <p:nvPr/>
          </p:nvSpPr>
          <p:spPr>
            <a:xfrm flipV="1">
              <a:off x="1738" y="2613"/>
              <a:ext cx="609" cy="261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43" name="Line 11"/>
            <p:cNvSpPr/>
            <p:nvPr/>
          </p:nvSpPr>
          <p:spPr>
            <a:xfrm>
              <a:off x="1819" y="3091"/>
              <a:ext cx="52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9644" name="Rectangle 12"/>
            <p:cNvSpPr/>
            <p:nvPr/>
          </p:nvSpPr>
          <p:spPr>
            <a:xfrm>
              <a:off x="2024" y="2534"/>
              <a:ext cx="81" cy="1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9645" name="Rectangle 13"/>
            <p:cNvSpPr/>
            <p:nvPr/>
          </p:nvSpPr>
          <p:spPr>
            <a:xfrm>
              <a:off x="2023" y="2874"/>
              <a:ext cx="8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9646" name="Rectangle 14"/>
            <p:cNvSpPr/>
            <p:nvPr/>
          </p:nvSpPr>
          <p:spPr>
            <a:xfrm>
              <a:off x="3024" y="2592"/>
              <a:ext cx="121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9647" name="Oval 15"/>
            <p:cNvSpPr/>
            <p:nvPr/>
          </p:nvSpPr>
          <p:spPr>
            <a:xfrm>
              <a:off x="3194" y="2955"/>
              <a:ext cx="406" cy="39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69648" name="Oval 16"/>
            <p:cNvSpPr/>
            <p:nvPr/>
          </p:nvSpPr>
          <p:spPr>
            <a:xfrm>
              <a:off x="3275" y="3042"/>
              <a:ext cx="244" cy="21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b="0" dirty="0">
                  <a:solidFill>
                    <a:srgbClr val="030305"/>
                  </a:solidFill>
                  <a:latin typeface="Tahoma" panose="020B0604030504040204" pitchFamily="34" charset="0"/>
                </a:rPr>
                <a:t>4</a:t>
              </a:r>
              <a:endParaRPr lang="zh-CN" altLang="en-US" sz="3200" b="0" dirty="0">
                <a:solidFill>
                  <a:srgbClr val="030305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69649" name="AutoShape 17"/>
            <p:cNvCxnSpPr>
              <a:stCxn id="69647" idx="7"/>
              <a:endCxn id="69637" idx="7"/>
            </p:cNvCxnSpPr>
            <p:nvPr/>
          </p:nvCxnSpPr>
          <p:spPr>
            <a:xfrm rot="5400000" flipH="1">
              <a:off x="2837" y="2308"/>
              <a:ext cx="559" cy="847"/>
            </a:xfrm>
            <a:prstGeom prst="curvedConnector3">
              <a:avLst>
                <a:gd name="adj1" fmla="val 105722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650" name="Rectangle 18"/>
            <p:cNvSpPr/>
            <p:nvPr/>
          </p:nvSpPr>
          <p:spPr>
            <a:xfrm>
              <a:off x="3408" y="2400"/>
              <a:ext cx="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9651" name="Rectangle 19"/>
            <p:cNvSpPr/>
            <p:nvPr/>
          </p:nvSpPr>
          <p:spPr>
            <a:xfrm>
              <a:off x="2976" y="2928"/>
              <a:ext cx="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cxnSp>
          <p:nvCxnSpPr>
            <p:cNvPr id="69652" name="AutoShape 20"/>
            <p:cNvCxnSpPr>
              <a:stCxn id="69640" idx="4"/>
              <a:endCxn id="69647" idx="3"/>
            </p:cNvCxnSpPr>
            <p:nvPr/>
          </p:nvCxnSpPr>
          <p:spPr>
            <a:xfrm rot="-5400000" flipH="1">
              <a:off x="2422" y="2459"/>
              <a:ext cx="23" cy="1636"/>
            </a:xfrm>
            <a:prstGeom prst="curvedConnector3">
              <a:avLst>
                <a:gd name="adj1" fmla="val 973912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653" name="Rectangle 21"/>
            <p:cNvSpPr/>
            <p:nvPr/>
          </p:nvSpPr>
          <p:spPr>
            <a:xfrm>
              <a:off x="2352" y="3504"/>
              <a:ext cx="9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89462" name="Rectangle 22"/>
          <p:cNvSpPr/>
          <p:nvPr/>
        </p:nvSpPr>
        <p:spPr>
          <a:xfrm>
            <a:off x="5878195" y="1832610"/>
            <a:ext cx="558292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这个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接受集与正则表达式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ab</a:t>
            </a:r>
            <a:r>
              <a:rPr lang="en-US" altLang="zh-CN" sz="2400" b="1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|ab*|b*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对应的正规集相同。</a:t>
            </a:r>
            <a:endParaRPr lang="zh-CN" altLang="en-US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9463" name="Rectangle 23"/>
          <p:cNvSpPr/>
          <p:nvPr/>
        </p:nvSpPr>
        <p:spPr>
          <a:xfrm>
            <a:off x="2032000" y="4285615"/>
            <a:ext cx="70104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列举两个转换序列都可接受串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</a:rPr>
              <a:t>abb？</a:t>
            </a:r>
            <a:endParaRPr lang="en-US" altLang="zh-CN" sz="32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24"/>
          <p:cNvGrpSpPr/>
          <p:nvPr/>
        </p:nvGrpSpPr>
        <p:grpSpPr>
          <a:xfrm>
            <a:off x="2590800" y="4869180"/>
            <a:ext cx="4800600" cy="1371600"/>
            <a:chOff x="336" y="1008"/>
            <a:chExt cx="3024" cy="864"/>
          </a:xfrm>
        </p:grpSpPr>
        <p:grpSp>
          <p:nvGrpSpPr>
            <p:cNvPr id="69657" name="Group 25"/>
            <p:cNvGrpSpPr/>
            <p:nvPr/>
          </p:nvGrpSpPr>
          <p:grpSpPr>
            <a:xfrm>
              <a:off x="336" y="1008"/>
              <a:ext cx="2112" cy="392"/>
              <a:chOff x="1008" y="1384"/>
              <a:chExt cx="2112" cy="392"/>
            </a:xfrm>
          </p:grpSpPr>
          <p:sp>
            <p:nvSpPr>
              <p:cNvPr id="69658" name="Line 26"/>
              <p:cNvSpPr/>
              <p:nvPr/>
            </p:nvSpPr>
            <p:spPr>
              <a:xfrm>
                <a:off x="1008" y="1632"/>
                <a:ext cx="240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59" name="Rectangle 27"/>
              <p:cNvSpPr/>
              <p:nvPr/>
            </p:nvSpPr>
            <p:spPr>
              <a:xfrm>
                <a:off x="1248" y="1488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1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0" name="Line 28"/>
              <p:cNvSpPr/>
              <p:nvPr/>
            </p:nvSpPr>
            <p:spPr>
              <a:xfrm>
                <a:off x="1376" y="1632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61" name="Rectangle 29"/>
              <p:cNvSpPr/>
              <p:nvPr/>
            </p:nvSpPr>
            <p:spPr>
              <a:xfrm>
                <a:off x="1440" y="1384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a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2" name="Rectangle 30"/>
              <p:cNvSpPr/>
              <p:nvPr/>
            </p:nvSpPr>
            <p:spPr>
              <a:xfrm>
                <a:off x="1712" y="1488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2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3" name="Line 31"/>
              <p:cNvSpPr/>
              <p:nvPr/>
            </p:nvSpPr>
            <p:spPr>
              <a:xfrm>
                <a:off x="1840" y="1632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64" name="Rectangle 32"/>
              <p:cNvSpPr/>
              <p:nvPr/>
            </p:nvSpPr>
            <p:spPr>
              <a:xfrm>
                <a:off x="1904" y="1384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b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5" name="Rectangle 33"/>
              <p:cNvSpPr/>
              <p:nvPr/>
            </p:nvSpPr>
            <p:spPr>
              <a:xfrm>
                <a:off x="2120" y="1488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6" name="Line 34"/>
              <p:cNvSpPr/>
              <p:nvPr/>
            </p:nvSpPr>
            <p:spPr>
              <a:xfrm>
                <a:off x="2264" y="1632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67" name="Rectangle 35"/>
              <p:cNvSpPr/>
              <p:nvPr/>
            </p:nvSpPr>
            <p:spPr>
              <a:xfrm>
                <a:off x="2312" y="1384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9668" name="Rectangle 36"/>
              <p:cNvSpPr/>
              <p:nvPr/>
            </p:nvSpPr>
            <p:spPr>
              <a:xfrm>
                <a:off x="2544" y="1488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2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69" name="Line 37"/>
              <p:cNvSpPr/>
              <p:nvPr/>
            </p:nvSpPr>
            <p:spPr>
              <a:xfrm>
                <a:off x="2672" y="1632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70" name="Rectangle 38"/>
              <p:cNvSpPr/>
              <p:nvPr/>
            </p:nvSpPr>
            <p:spPr>
              <a:xfrm>
                <a:off x="2736" y="1384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b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71" name="Rectangle 39"/>
              <p:cNvSpPr/>
              <p:nvPr/>
            </p:nvSpPr>
            <p:spPr>
              <a:xfrm>
                <a:off x="2976" y="1488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69672" name="Group 40"/>
            <p:cNvGrpSpPr/>
            <p:nvPr/>
          </p:nvGrpSpPr>
          <p:grpSpPr>
            <a:xfrm>
              <a:off x="384" y="1480"/>
              <a:ext cx="2976" cy="392"/>
              <a:chOff x="1056" y="1856"/>
              <a:chExt cx="2976" cy="392"/>
            </a:xfrm>
          </p:grpSpPr>
          <p:sp>
            <p:nvSpPr>
              <p:cNvPr id="69673" name="Line 41"/>
              <p:cNvSpPr/>
              <p:nvPr/>
            </p:nvSpPr>
            <p:spPr>
              <a:xfrm>
                <a:off x="1056" y="2104"/>
                <a:ext cx="240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74" name="Rectangle 42"/>
              <p:cNvSpPr/>
              <p:nvPr/>
            </p:nvSpPr>
            <p:spPr>
              <a:xfrm>
                <a:off x="1296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1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75" name="Line 43"/>
              <p:cNvSpPr/>
              <p:nvPr/>
            </p:nvSpPr>
            <p:spPr>
              <a:xfrm>
                <a:off x="1424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76" name="Rectangle 44"/>
              <p:cNvSpPr/>
              <p:nvPr/>
            </p:nvSpPr>
            <p:spPr>
              <a:xfrm>
                <a:off x="1488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a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77" name="Rectangle 45"/>
              <p:cNvSpPr/>
              <p:nvPr/>
            </p:nvSpPr>
            <p:spPr>
              <a:xfrm>
                <a:off x="1760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3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78" name="Line 46"/>
              <p:cNvSpPr/>
              <p:nvPr/>
            </p:nvSpPr>
            <p:spPr>
              <a:xfrm>
                <a:off x="1888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79" name="Rectangle 47"/>
              <p:cNvSpPr/>
              <p:nvPr/>
            </p:nvSpPr>
            <p:spPr>
              <a:xfrm>
                <a:off x="1952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9680" name="Rectangle 48"/>
              <p:cNvSpPr/>
              <p:nvPr/>
            </p:nvSpPr>
            <p:spPr>
              <a:xfrm>
                <a:off x="2168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81" name="Line 49"/>
              <p:cNvSpPr/>
              <p:nvPr/>
            </p:nvSpPr>
            <p:spPr>
              <a:xfrm>
                <a:off x="2296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82" name="Rectangle 50"/>
              <p:cNvSpPr/>
              <p:nvPr/>
            </p:nvSpPr>
            <p:spPr>
              <a:xfrm>
                <a:off x="2360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9683" name="Rectangle 51"/>
              <p:cNvSpPr/>
              <p:nvPr/>
            </p:nvSpPr>
            <p:spPr>
              <a:xfrm>
                <a:off x="2592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2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84" name="Line 52"/>
              <p:cNvSpPr/>
              <p:nvPr/>
            </p:nvSpPr>
            <p:spPr>
              <a:xfrm>
                <a:off x="2720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85" name="Rectangle 53"/>
              <p:cNvSpPr/>
              <p:nvPr/>
            </p:nvSpPr>
            <p:spPr>
              <a:xfrm>
                <a:off x="2784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b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86" name="Rectangle 54"/>
              <p:cNvSpPr/>
              <p:nvPr/>
            </p:nvSpPr>
            <p:spPr>
              <a:xfrm>
                <a:off x="3024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87" name="Line 55"/>
              <p:cNvSpPr/>
              <p:nvPr/>
            </p:nvSpPr>
            <p:spPr>
              <a:xfrm>
                <a:off x="3176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88" name="Rectangle 56"/>
              <p:cNvSpPr/>
              <p:nvPr/>
            </p:nvSpPr>
            <p:spPr>
              <a:xfrm>
                <a:off x="3224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9689" name="Rectangle 57"/>
              <p:cNvSpPr/>
              <p:nvPr/>
            </p:nvSpPr>
            <p:spPr>
              <a:xfrm>
                <a:off x="3456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2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90" name="Line 58"/>
              <p:cNvSpPr/>
              <p:nvPr/>
            </p:nvSpPr>
            <p:spPr>
              <a:xfrm>
                <a:off x="3584" y="2104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9691" name="Rectangle 59"/>
              <p:cNvSpPr/>
              <p:nvPr/>
            </p:nvSpPr>
            <p:spPr>
              <a:xfrm>
                <a:off x="3648" y="1856"/>
                <a:ext cx="96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b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692" name="Rectangle 60"/>
              <p:cNvSpPr/>
              <p:nvPr/>
            </p:nvSpPr>
            <p:spPr>
              <a:xfrm>
                <a:off x="3888" y="1960"/>
                <a:ext cx="1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b="0" dirty="0">
                    <a:solidFill>
                      <a:srgbClr val="030305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3200" b="0" dirty="0">
                  <a:solidFill>
                    <a:srgbClr val="030305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69693" name="AutoShape 61">
            <a:hlinkClick r:id="rId1" action="ppaction://hlinksldjump"/>
          </p:cNvPr>
          <p:cNvSpPr/>
          <p:nvPr/>
        </p:nvSpPr>
        <p:spPr>
          <a:xfrm>
            <a:off x="8832850" y="5856605"/>
            <a:ext cx="792163" cy="360363"/>
          </a:xfrm>
          <a:prstGeom prst="curvedDownArrow">
            <a:avLst>
              <a:gd name="adj1" fmla="val 43964"/>
              <a:gd name="adj2" fmla="val 87929"/>
              <a:gd name="adj3" fmla="val 3332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•"/>
            </a:pPr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89502" name="Rectangle 62"/>
          <p:cNvSpPr/>
          <p:nvPr/>
        </p:nvSpPr>
        <p:spPr>
          <a:xfrm>
            <a:off x="5878195" y="2786380"/>
            <a:ext cx="558292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试求一个正规表达式，使得其对应的正规集与该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的接受集相同。</a:t>
            </a:r>
            <a:endParaRPr lang="zh-CN" altLang="en-US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479425" y="276860"/>
            <a:ext cx="8599805" cy="593090"/>
          </a:xfrm>
        </p:spPr>
        <p:txBody>
          <a:bodyPr/>
          <a:lstStyle/>
          <a:p>
            <a:pPr eaLnBrk="1" hangingPunct="1"/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2.3.3 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非确定性有穷自动机（</a:t>
            </a:r>
            <a:r>
              <a:rPr lang="en-US" altLang="zh-CN"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NFA</a:t>
            </a:r>
            <a:r>
              <a:rPr sz="3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sz="3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8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89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8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62" grpId="0"/>
      <p:bldP spid="189463" grpId="0"/>
      <p:bldP spid="18950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07035" y="276860"/>
            <a:ext cx="8672195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2.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3</a:t>
            </a:r>
            <a:r>
              <a:rPr sz="3200">
                <a:latin typeface="方正舒体" panose="02010601030101010101" pitchFamily="2" charset="-122"/>
                <a:sym typeface="+mn-ea"/>
              </a:rPr>
              <a:t> 有穷自动机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0658" name="Rectangle 2"/>
          <p:cNvSpPr/>
          <p:nvPr/>
        </p:nvSpPr>
        <p:spPr>
          <a:xfrm>
            <a:off x="407035" y="1295400"/>
            <a:ext cx="9279890" cy="255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2.3.1有穷自动机的引入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2.3.2确定性有穷自动机(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DFA)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1" action="ppaction://hlinksldjump"/>
              </a:rPr>
              <a:t>的定义</a:t>
            </a:r>
            <a:endParaRPr lang="zh-CN" altLang="en-US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2.3.3非确定性有穷自动机(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NFA)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hlinkClick r:id="rId2" action="ppaction://hlinksldjump"/>
              </a:rPr>
              <a:t> 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讨论：自动机的应用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384810" y="276860"/>
            <a:ext cx="8694420" cy="593090"/>
          </a:xfrm>
        </p:spPr>
        <p:txBody>
          <a:bodyPr/>
          <a:lstStyle/>
          <a:p>
            <a:pPr eaLnBrk="1" hangingPunct="1"/>
            <a:r>
              <a:rPr sz="3200">
                <a:latin typeface="方正舒体" panose="02010601030101010101" pitchFamily="2" charset="-122"/>
                <a:sym typeface="+mn-ea"/>
              </a:rPr>
              <a:t>讨论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 </a:t>
            </a:r>
            <a:r>
              <a:rPr sz="3200">
                <a:latin typeface="方正舒体" panose="02010601030101010101" pitchFamily="2" charset="-122"/>
                <a:sym typeface="+mn-ea"/>
              </a:rPr>
              <a:t>自动机的应用</a:t>
            </a:r>
            <a:endParaRPr sz="3200" dirty="0">
              <a:latin typeface="方正舒体" panose="02010601030101010101" pitchFamily="2" charset="-122"/>
              <a:ea typeface="等线" panose="02010600030101010101" charset="-122"/>
              <a:sym typeface="+mn-ea"/>
            </a:endParaRPr>
          </a:p>
        </p:txBody>
      </p:sp>
      <p:sp>
        <p:nvSpPr>
          <p:cNvPr id="156677" name="Rectangle 5"/>
          <p:cNvSpPr>
            <a:spLocks noGrp="1"/>
          </p:cNvSpPr>
          <p:nvPr/>
        </p:nvSpPr>
        <p:spPr>
          <a:xfrm>
            <a:off x="384810" y="1191260"/>
            <a:ext cx="3775710" cy="49803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  <a:sym typeface="+mn-ea"/>
              </a:rPr>
              <a:t>有穷自动机理论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</a:rPr>
              <a:t>作为一种数学模型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</a:rPr>
              <a:t>它能根据词法规则准确地识别单词。</a:t>
            </a:r>
            <a:endParaRPr lang="zh-CN" altLang="en-US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是</a:t>
            </a:r>
            <a:r>
              <a:rPr lang="zh-CN" altLang="en-US" sz="2800" dirty="0">
                <a:solidFill>
                  <a:srgbClr val="FF3399"/>
                </a:solidFill>
                <a:latin typeface="宋体" panose="02010600030101010101" pitchFamily="2" charset="-122"/>
              </a:rPr>
              <a:t>设计和实现词法分析器</a:t>
            </a: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的有效工具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其他</a:t>
            </a: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应用？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0380" y="1267460"/>
            <a:ext cx="7566660" cy="5086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56677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38785" y="276860"/>
            <a:ext cx="864044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二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9573" name="AutoShape 5"/>
          <p:cNvSpPr/>
          <p:nvPr/>
        </p:nvSpPr>
        <p:spPr>
          <a:xfrm>
            <a:off x="7010400" y="2133600"/>
            <a:ext cx="2971800" cy="1295400"/>
          </a:xfrm>
          <a:prstGeom prst="cloudCallout">
            <a:avLst>
              <a:gd name="adj1" fmla="val -112662"/>
              <a:gd name="adj2" fmla="val -5884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" panose="020B0604020202020204" pitchFamily="34" charset="0"/>
                <a:ea typeface="方正舒体" panose="02010601030101010101" pitchFamily="2" charset="-122"/>
              </a:rPr>
              <a:t>单词</a:t>
            </a: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的识别系统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9574" name="AutoShape 6"/>
          <p:cNvSpPr/>
          <p:nvPr/>
        </p:nvSpPr>
        <p:spPr>
          <a:xfrm>
            <a:off x="7620000" y="3531870"/>
            <a:ext cx="3017520" cy="2057400"/>
          </a:xfrm>
          <a:prstGeom prst="cloudCallout">
            <a:avLst>
              <a:gd name="adj1" fmla="val -66611"/>
              <a:gd name="adj2" fmla="val -30093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设计和实现词法分析程序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73734" name="Rectangle 9"/>
          <p:cNvSpPr>
            <a:spLocks noGrp="1"/>
          </p:cNvSpPr>
          <p:nvPr/>
        </p:nvSpPr>
        <p:spPr>
          <a:xfrm>
            <a:off x="439420" y="1196975"/>
            <a:ext cx="9652635" cy="3875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2.1 词法分析器的作用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2.2 </a:t>
            </a:r>
            <a:r>
              <a:rPr lang="zh-CN" altLang="en-US" dirty="0">
                <a:solidFill>
                  <a:srgbClr val="030305"/>
                </a:solidFill>
              </a:rPr>
              <a:t>正规表达式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2.3 </a:t>
            </a:r>
            <a:r>
              <a:rPr lang="zh-CN" altLang="en-US" dirty="0">
                <a:solidFill>
                  <a:srgbClr val="030305"/>
                </a:solidFill>
              </a:rPr>
              <a:t>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030305"/>
                </a:solidFill>
              </a:rPr>
              <a:t>2.4 </a:t>
            </a:r>
            <a:r>
              <a:rPr lang="zh-CN" altLang="en-US" dirty="0">
                <a:solidFill>
                  <a:srgbClr val="030305"/>
                </a:solidFill>
              </a:rPr>
              <a:t>从正规表达式到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2.5 用代码实现有穷自动机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2.6 自动生成词法分析程序</a:t>
            </a:r>
            <a:endParaRPr lang="en-US" altLang="zh-CN" dirty="0"/>
          </a:p>
        </p:txBody>
      </p:sp>
      <p:sp>
        <p:nvSpPr>
          <p:cNvPr id="109572" name="AutoShape 4"/>
          <p:cNvSpPr/>
          <p:nvPr/>
        </p:nvSpPr>
        <p:spPr>
          <a:xfrm>
            <a:off x="7315200" y="917575"/>
            <a:ext cx="2895600" cy="1279525"/>
          </a:xfrm>
          <a:prstGeom prst="cloudCallout">
            <a:avLst>
              <a:gd name="adj1" fmla="val -125657"/>
              <a:gd name="adj2" fmla="val 5359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单词的描述工具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bldLvl="0" animBg="1"/>
      <p:bldP spid="109574" grpId="0" bldLvl="0" animBg="1"/>
      <p:bldP spid="109572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1828800" y="3500438"/>
            <a:ext cx="8610600" cy="762000"/>
            <a:chOff x="192" y="2544"/>
            <a:chExt cx="5424" cy="480"/>
          </a:xfrm>
        </p:grpSpPr>
        <p:sp>
          <p:nvSpPr>
            <p:cNvPr id="74755" name="Oval 4"/>
            <p:cNvSpPr/>
            <p:nvPr/>
          </p:nvSpPr>
          <p:spPr>
            <a:xfrm>
              <a:off x="192" y="2544"/>
              <a:ext cx="1392" cy="4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Tahoma" panose="020B0604030504040204" pitchFamily="34" charset="0"/>
                </a:rPr>
                <a:t>正规表达式</a:t>
              </a:r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74756" name="Oval 5"/>
            <p:cNvSpPr/>
            <p:nvPr/>
          </p:nvSpPr>
          <p:spPr>
            <a:xfrm>
              <a:off x="3072" y="2640"/>
              <a:ext cx="768" cy="33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DFA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4757" name="Oval 6"/>
            <p:cNvSpPr/>
            <p:nvPr/>
          </p:nvSpPr>
          <p:spPr>
            <a:xfrm>
              <a:off x="4320" y="2640"/>
              <a:ext cx="1296" cy="33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800" dirty="0">
                  <a:latin typeface="Tahoma" panose="020B0604030504040204" pitchFamily="34" charset="0"/>
                </a:rPr>
                <a:t>词法分析程序</a:t>
              </a:r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74758" name="Oval 7"/>
            <p:cNvSpPr/>
            <p:nvPr/>
          </p:nvSpPr>
          <p:spPr>
            <a:xfrm>
              <a:off x="1872" y="2640"/>
              <a:ext cx="864" cy="33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dirty="0">
                  <a:latin typeface="Times New Roman" panose="02020603050405020304" pitchFamily="18" charset="0"/>
                </a:rPr>
                <a:t>NFA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4759" name="Line 8"/>
            <p:cNvSpPr/>
            <p:nvPr/>
          </p:nvSpPr>
          <p:spPr>
            <a:xfrm>
              <a:off x="1584" y="2811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74760" name="Line 9"/>
            <p:cNvSpPr/>
            <p:nvPr/>
          </p:nvSpPr>
          <p:spPr>
            <a:xfrm>
              <a:off x="2736" y="2829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74761" name="Line 10"/>
            <p:cNvSpPr/>
            <p:nvPr/>
          </p:nvSpPr>
          <p:spPr>
            <a:xfrm>
              <a:off x="3840" y="2829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191502" name="Rectangle 14"/>
          <p:cNvSpPr>
            <a:spLocks noGrp="1"/>
          </p:cNvSpPr>
          <p:nvPr/>
        </p:nvSpPr>
        <p:spPr>
          <a:xfrm>
            <a:off x="424815" y="1284605"/>
            <a:ext cx="11456670" cy="25190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FF0066"/>
                </a:solidFill>
              </a:rPr>
              <a:t>正规式</a:t>
            </a:r>
            <a:r>
              <a:rPr lang="zh-CN" altLang="en-US" sz="2800" dirty="0">
                <a:solidFill>
                  <a:srgbClr val="030305"/>
                </a:solidFill>
              </a:rPr>
              <a:t>是单词的一种描述工具。由于正规式的简洁性，趋向于用</a:t>
            </a:r>
            <a:r>
              <a:rPr lang="zh-CN" altLang="en-US" sz="2800" dirty="0">
                <a:solidFill>
                  <a:schemeClr val="hlink"/>
                </a:solidFill>
              </a:rPr>
              <a:t>正规式来描述单词</a:t>
            </a:r>
            <a:r>
              <a:rPr lang="zh-CN" altLang="en-US" sz="2800" dirty="0">
                <a:solidFill>
                  <a:srgbClr val="030305"/>
                </a:solidFill>
              </a:rPr>
              <a:t>，然后</a:t>
            </a:r>
            <a:r>
              <a:rPr lang="zh-CN" altLang="en-US" sz="2800" dirty="0">
                <a:solidFill>
                  <a:schemeClr val="hlink"/>
                </a:solidFill>
              </a:rPr>
              <a:t>构造等价的有限自动机</a:t>
            </a:r>
            <a:r>
              <a:rPr lang="zh-CN" altLang="en-US" sz="2800" dirty="0">
                <a:solidFill>
                  <a:srgbClr val="030305"/>
                </a:solidFill>
              </a:rPr>
              <a:t>。</a:t>
            </a:r>
            <a:endParaRPr lang="en-US" altLang="zh-CN" sz="2800" dirty="0">
              <a:solidFill>
                <a:srgbClr val="FF0066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FF0066"/>
                </a:solidFill>
              </a:rPr>
              <a:t>有限自动机</a:t>
            </a:r>
            <a:r>
              <a:rPr lang="zh-CN" altLang="en-US" sz="2800" dirty="0">
                <a:solidFill>
                  <a:srgbClr val="030305"/>
                </a:solidFill>
              </a:rPr>
              <a:t>可以描述输入串被识别的过程，可以根据有限自动机</a:t>
            </a:r>
            <a:r>
              <a:rPr lang="zh-CN" altLang="en-US" sz="2800" dirty="0">
                <a:solidFill>
                  <a:schemeClr val="hlink"/>
                </a:solidFill>
              </a:rPr>
              <a:t>构造</a:t>
            </a:r>
            <a:r>
              <a:rPr lang="zh-CN" altLang="en-US" sz="2800" dirty="0">
                <a:solidFill>
                  <a:srgbClr val="3333FF"/>
                </a:solidFill>
              </a:rPr>
              <a:t>词法分析程序</a:t>
            </a:r>
            <a:r>
              <a:rPr lang="zh-CN" altLang="en-US" sz="2800" dirty="0">
                <a:solidFill>
                  <a:srgbClr val="030305"/>
                </a:solidFill>
              </a:rPr>
              <a:t>。</a:t>
            </a:r>
            <a:endParaRPr lang="zh-CN" altLang="en-US" sz="2800" dirty="0">
              <a:solidFill>
                <a:srgbClr val="030305"/>
              </a:solidFill>
            </a:endParaRPr>
          </a:p>
        </p:txBody>
      </p:sp>
      <p:sp>
        <p:nvSpPr>
          <p:cNvPr id="192517" name="Rectangle 5"/>
          <p:cNvSpPr>
            <a:spLocks noGrp="1" noChangeArrowheads="1"/>
          </p:cNvSpPr>
          <p:nvPr/>
        </p:nvSpPr>
        <p:spPr>
          <a:xfrm>
            <a:off x="340360" y="4443095"/>
            <a:ext cx="11505565" cy="30245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正规式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有限自动机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之间可以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相互转换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，它们之间存在着等价性，即：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对于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上的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NFA M，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可以构造一个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上的正规式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R，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使得：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L(R)=L(M)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  <a:p>
            <a:pPr marL="967105" marR="0" lvl="1" indent="-4953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对于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上的每个正规式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R，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可以构造一个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上的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NFA M，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使得：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L(M)=L(R)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10210" y="276860"/>
            <a:ext cx="866902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>
                                            <p:txEl>
                                              <p:charRg st="3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92517">
                                            <p:txEl>
                                              <p:charRg st="32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>
                                            <p:txEl>
                                              <p:charRg st="7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92517">
                                            <p:txEl>
                                              <p:charRg st="70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10210" y="276860"/>
            <a:ext cx="866902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6803" name="Rectangle 6"/>
          <p:cNvSpPr>
            <a:spLocks noGrp="1"/>
          </p:cNvSpPr>
          <p:nvPr/>
        </p:nvSpPr>
        <p:spPr>
          <a:xfrm>
            <a:off x="409575" y="1196975"/>
            <a:ext cx="10721975" cy="1871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  <a:hlinkClick r:id="rId1" action="ppaction://hlinksldjump"/>
              </a:rPr>
              <a:t>2.4.1 从正规表达式到</a:t>
            </a:r>
            <a:r>
              <a:rPr lang="en-US" altLang="zh-CN" dirty="0">
                <a:solidFill>
                  <a:srgbClr val="030305"/>
                </a:solidFill>
                <a:hlinkClick r:id="rId1" action="ppaction://hlinksldjump"/>
              </a:rPr>
              <a:t>NFA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  <a:hlinkClick r:id="rId2" action="ppaction://hlinksldjump"/>
              </a:rPr>
              <a:t>2.4.2  从</a:t>
            </a:r>
            <a:r>
              <a:rPr lang="en-US" altLang="zh-CN" dirty="0">
                <a:solidFill>
                  <a:srgbClr val="030305"/>
                </a:solidFill>
                <a:hlinkClick r:id="rId2" action="ppaction://hlinksldjump"/>
              </a:rPr>
              <a:t>NFA</a:t>
            </a:r>
            <a:r>
              <a:rPr lang="zh-CN" altLang="en-US" dirty="0">
                <a:solidFill>
                  <a:srgbClr val="030305"/>
                </a:solidFill>
                <a:hlinkClick r:id="rId2" action="ppaction://hlinksldjump"/>
              </a:rPr>
              <a:t> 到</a:t>
            </a:r>
            <a:r>
              <a:rPr lang="en-US" altLang="zh-CN" dirty="0">
                <a:solidFill>
                  <a:srgbClr val="030305"/>
                </a:solidFill>
                <a:hlinkClick r:id="rId2" action="ppaction://hlinksldjump"/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  <a:hlinkClick r:id="rId3" action="ppaction://hlinksldjump"/>
              </a:rPr>
              <a:t>2.4.3  将</a:t>
            </a:r>
            <a:r>
              <a:rPr lang="en-US" altLang="zh-CN" dirty="0">
                <a:solidFill>
                  <a:srgbClr val="030305"/>
                </a:solidFill>
                <a:hlinkClick r:id="rId3" action="ppaction://hlinksldjump"/>
              </a:rPr>
              <a:t>DFA</a:t>
            </a:r>
            <a:r>
              <a:rPr lang="zh-CN" altLang="en-US" dirty="0">
                <a:solidFill>
                  <a:srgbClr val="030305"/>
                </a:solidFill>
                <a:hlinkClick r:id="rId3" action="ppaction://hlinksldjump"/>
              </a:rPr>
              <a:t>中的状态数最小化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420370" y="276860"/>
            <a:ext cx="865886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.1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N</a:t>
            </a:r>
            <a:r>
              <a:rPr lang="en-US" altLang="zh-CN" sz="3200">
                <a:sym typeface="+mn-ea"/>
              </a:rPr>
              <a:t>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7828" name="Rectangle 6"/>
          <p:cNvSpPr>
            <a:spLocks noGrp="1"/>
          </p:cNvSpPr>
          <p:nvPr/>
        </p:nvSpPr>
        <p:spPr>
          <a:xfrm>
            <a:off x="420370" y="1196975"/>
            <a:ext cx="11359515" cy="23768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30305"/>
                </a:solidFill>
              </a:rPr>
              <a:t>从正规表达式到</a:t>
            </a:r>
            <a:r>
              <a:rPr lang="en-US" altLang="zh-CN" dirty="0">
                <a:solidFill>
                  <a:srgbClr val="030305"/>
                </a:solidFill>
              </a:rPr>
              <a:t>NFA</a:t>
            </a:r>
            <a:r>
              <a:rPr lang="zh-CN" altLang="en-US" dirty="0">
                <a:solidFill>
                  <a:srgbClr val="030305"/>
                </a:solidFill>
              </a:rPr>
              <a:t>的转化方法按正规式的运算指引构造过程：</a:t>
            </a:r>
            <a:endParaRPr lang="zh-CN" altLang="en-US" dirty="0"/>
          </a:p>
        </p:txBody>
      </p:sp>
      <p:sp>
        <p:nvSpPr>
          <p:cNvPr id="78850" name="Text Box 3"/>
          <p:cNvSpPr txBox="1"/>
          <p:nvPr>
            <p:custDataLst>
              <p:tags r:id="rId1"/>
            </p:custDataLst>
          </p:nvPr>
        </p:nvSpPr>
        <p:spPr>
          <a:xfrm>
            <a:off x="2746693" y="3723323"/>
            <a:ext cx="79248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b)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对正规式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ε，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等价的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为：</a:t>
            </a:r>
            <a:r>
              <a:rPr lang="zh-CN" altLang="en-US" sz="3200" b="0" dirty="0">
                <a:latin typeface="Times New Roman" panose="02020603050405020304" pitchFamily="18" charset="0"/>
              </a:rPr>
              <a:t> </a:t>
            </a:r>
            <a:endParaRPr lang="zh-CN" altLang="en-US" sz="3200" b="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889693" y="4256723"/>
            <a:ext cx="2209800" cy="609600"/>
            <a:chOff x="3264" y="2640"/>
            <a:chExt cx="1392" cy="384"/>
          </a:xfrm>
        </p:grpSpPr>
        <p:sp>
          <p:nvSpPr>
            <p:cNvPr id="78852" name="Oval 5"/>
            <p:cNvSpPr/>
            <p:nvPr>
              <p:custDataLst>
                <p:tags r:id="rId2"/>
              </p:custDataLst>
            </p:nvPr>
          </p:nvSpPr>
          <p:spPr>
            <a:xfrm>
              <a:off x="3584" y="2640"/>
              <a:ext cx="377" cy="38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53" name="Line 6"/>
            <p:cNvSpPr/>
            <p:nvPr>
              <p:custDataLst>
                <p:tags r:id="rId3"/>
              </p:custDataLst>
            </p:nvPr>
          </p:nvSpPr>
          <p:spPr>
            <a:xfrm>
              <a:off x="3961" y="2827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8854" name="Rectangle 7"/>
            <p:cNvSpPr/>
            <p:nvPr>
              <p:custDataLst>
                <p:tags r:id="rId4"/>
              </p:custDataLst>
            </p:nvPr>
          </p:nvSpPr>
          <p:spPr>
            <a:xfrm>
              <a:off x="4037" y="2640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8855" name="Group 8"/>
            <p:cNvGrpSpPr/>
            <p:nvPr/>
          </p:nvGrpSpPr>
          <p:grpSpPr>
            <a:xfrm>
              <a:off x="4272" y="2640"/>
              <a:ext cx="384" cy="384"/>
              <a:chOff x="2208" y="2832"/>
              <a:chExt cx="480" cy="432"/>
            </a:xfrm>
          </p:grpSpPr>
          <p:sp>
            <p:nvSpPr>
              <p:cNvPr id="78856" name="Oval 9"/>
              <p:cNvSpPr/>
              <p:nvPr>
                <p:custDataLst>
                  <p:tags r:id="rId5"/>
                </p:custDataLst>
              </p:nvPr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78857" name="Oval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78858" name="Line 11"/>
            <p:cNvSpPr/>
            <p:nvPr>
              <p:custDataLst>
                <p:tags r:id="rId7"/>
              </p:custDataLst>
            </p:nvPr>
          </p:nvSpPr>
          <p:spPr>
            <a:xfrm>
              <a:off x="3264" y="2832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8859" name="Text Box 13"/>
          <p:cNvSpPr txBox="1"/>
          <p:nvPr>
            <p:custDataLst>
              <p:tags r:id="rId8"/>
            </p:custDataLst>
          </p:nvPr>
        </p:nvSpPr>
        <p:spPr>
          <a:xfrm>
            <a:off x="2365693" y="2504123"/>
            <a:ext cx="80772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a)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对正规式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ф，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等价的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为：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3965893" y="3037523"/>
            <a:ext cx="2120900" cy="609600"/>
            <a:chOff x="3288" y="2160"/>
            <a:chExt cx="1336" cy="384"/>
          </a:xfrm>
        </p:grpSpPr>
        <p:sp>
          <p:nvSpPr>
            <p:cNvPr id="78861" name="Oval 15"/>
            <p:cNvSpPr/>
            <p:nvPr>
              <p:custDataLst>
                <p:tags r:id="rId9"/>
              </p:custDataLst>
            </p:nvPr>
          </p:nvSpPr>
          <p:spPr>
            <a:xfrm>
              <a:off x="3592" y="2160"/>
              <a:ext cx="377" cy="38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8862" name="Group 16"/>
            <p:cNvGrpSpPr/>
            <p:nvPr/>
          </p:nvGrpSpPr>
          <p:grpSpPr>
            <a:xfrm>
              <a:off x="4240" y="2160"/>
              <a:ext cx="384" cy="384"/>
              <a:chOff x="2208" y="2832"/>
              <a:chExt cx="480" cy="432"/>
            </a:xfrm>
          </p:grpSpPr>
          <p:sp>
            <p:nvSpPr>
              <p:cNvPr id="78863" name="Oval 17"/>
              <p:cNvSpPr/>
              <p:nvPr>
                <p:custDataLst>
                  <p:tags r:id="rId10"/>
                </p:custDataLst>
              </p:nvPr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78864" name="Oval 18"/>
              <p:cNvSpPr/>
              <p:nvPr>
                <p:custDataLst>
                  <p:tags r:id="rId11"/>
                </p:custDataLst>
              </p:nvPr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78865" name="Line 19"/>
            <p:cNvSpPr/>
            <p:nvPr>
              <p:custDataLst>
                <p:tags r:id="rId12"/>
              </p:custDataLst>
            </p:nvPr>
          </p:nvSpPr>
          <p:spPr>
            <a:xfrm>
              <a:off x="3288" y="2352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8866" name="Text Box 21"/>
          <p:cNvSpPr txBox="1"/>
          <p:nvPr>
            <p:custDataLst>
              <p:tags r:id="rId13"/>
            </p:custDataLst>
          </p:nvPr>
        </p:nvSpPr>
        <p:spPr>
          <a:xfrm>
            <a:off x="2822893" y="4882833"/>
            <a:ext cx="76200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c)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对正规式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a，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等价的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为：</a:t>
            </a:r>
            <a:r>
              <a:rPr lang="zh-CN" altLang="en-US" sz="3200" b="0" dirty="0">
                <a:latin typeface="Times New Roman" panose="02020603050405020304" pitchFamily="18" charset="0"/>
              </a:rPr>
              <a:t> </a:t>
            </a:r>
            <a:endParaRPr lang="zh-CN" altLang="en-US" sz="3200" b="0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3813493" y="5552123"/>
            <a:ext cx="2209800" cy="609600"/>
            <a:chOff x="3264" y="3168"/>
            <a:chExt cx="1392" cy="384"/>
          </a:xfrm>
        </p:grpSpPr>
        <p:sp>
          <p:nvSpPr>
            <p:cNvPr id="78868" name="Oval 23"/>
            <p:cNvSpPr/>
            <p:nvPr>
              <p:custDataLst>
                <p:tags r:id="rId14"/>
              </p:custDataLst>
            </p:nvPr>
          </p:nvSpPr>
          <p:spPr>
            <a:xfrm>
              <a:off x="3584" y="3168"/>
              <a:ext cx="377" cy="38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69" name="Line 24"/>
            <p:cNvSpPr/>
            <p:nvPr>
              <p:custDataLst>
                <p:tags r:id="rId15"/>
              </p:custDataLst>
            </p:nvPr>
          </p:nvSpPr>
          <p:spPr>
            <a:xfrm>
              <a:off x="3961" y="3355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8870" name="Rectangle 25"/>
            <p:cNvSpPr/>
            <p:nvPr>
              <p:custDataLst>
                <p:tags r:id="rId16"/>
              </p:custDataLst>
            </p:nvPr>
          </p:nvSpPr>
          <p:spPr>
            <a:xfrm>
              <a:off x="4037" y="3168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8871" name="Group 26"/>
            <p:cNvGrpSpPr/>
            <p:nvPr/>
          </p:nvGrpSpPr>
          <p:grpSpPr>
            <a:xfrm>
              <a:off x="4272" y="3168"/>
              <a:ext cx="384" cy="384"/>
              <a:chOff x="2208" y="2832"/>
              <a:chExt cx="480" cy="432"/>
            </a:xfrm>
          </p:grpSpPr>
          <p:sp>
            <p:nvSpPr>
              <p:cNvPr id="78872" name="Oval 27"/>
              <p:cNvSpPr/>
              <p:nvPr>
                <p:custDataLst>
                  <p:tags r:id="rId17"/>
                </p:custDataLst>
              </p:nvPr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78873" name="Oval 28"/>
              <p:cNvSpPr/>
              <p:nvPr>
                <p:custDataLst>
                  <p:tags r:id="rId18"/>
                </p:custDataLst>
              </p:nvPr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78874" name="Line 29"/>
            <p:cNvSpPr/>
            <p:nvPr>
              <p:custDataLst>
                <p:tags r:id="rId19"/>
              </p:custDataLst>
            </p:nvPr>
          </p:nvSpPr>
          <p:spPr>
            <a:xfrm>
              <a:off x="3264" y="3360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8875" name="Text Box 30"/>
          <p:cNvSpPr txBox="1"/>
          <p:nvPr>
            <p:custDataLst>
              <p:tags r:id="rId20"/>
            </p:custDataLst>
          </p:nvPr>
        </p:nvSpPr>
        <p:spPr>
          <a:xfrm>
            <a:off x="896620" y="1818640"/>
            <a:ext cx="94081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1. 基本正规式转换为</a:t>
            </a:r>
            <a:r>
              <a:rPr lang="en-US" altLang="zh-CN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NFA M</a:t>
            </a:r>
            <a:r>
              <a:rPr lang="zh-CN" altLang="en-US" sz="32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的方法：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6" name="云形标注 35"/>
          <p:cNvSpPr/>
          <p:nvPr>
            <p:custDataLst>
              <p:tags r:id="rId21"/>
            </p:custDataLst>
          </p:nvPr>
        </p:nvSpPr>
        <p:spPr bwMode="auto">
          <a:xfrm>
            <a:off x="8407718" y="2050098"/>
            <a:ext cx="2786063" cy="1285875"/>
          </a:xfrm>
          <a:prstGeom prst="cloudCallout">
            <a:avLst>
              <a:gd name="adj1" fmla="val -53214"/>
              <a:gd name="adj2" fmla="val 11329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单个运算对象的转换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9024938" y="1719263"/>
            <a:ext cx="2108200" cy="533400"/>
            <a:chOff x="3760" y="864"/>
            <a:chExt cx="1392" cy="384"/>
          </a:xfrm>
        </p:grpSpPr>
        <p:sp>
          <p:nvSpPr>
            <p:cNvPr id="79875" name="Oval 4"/>
            <p:cNvSpPr/>
            <p:nvPr/>
          </p:nvSpPr>
          <p:spPr>
            <a:xfrm>
              <a:off x="4080" y="864"/>
              <a:ext cx="377" cy="38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4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24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9876" name="Line 5"/>
            <p:cNvSpPr/>
            <p:nvPr/>
          </p:nvSpPr>
          <p:spPr>
            <a:xfrm>
              <a:off x="4457" y="1051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9877" name="Rectangle 6"/>
            <p:cNvSpPr/>
            <p:nvPr/>
          </p:nvSpPr>
          <p:spPr>
            <a:xfrm>
              <a:off x="4533" y="864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4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R</a:t>
              </a:r>
              <a:endParaRPr lang="en-US" altLang="zh-CN" sz="24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9878" name="Group 7"/>
            <p:cNvGrpSpPr/>
            <p:nvPr/>
          </p:nvGrpSpPr>
          <p:grpSpPr>
            <a:xfrm>
              <a:off x="4768" y="864"/>
              <a:ext cx="384" cy="384"/>
              <a:chOff x="2208" y="2832"/>
              <a:chExt cx="480" cy="432"/>
            </a:xfrm>
          </p:grpSpPr>
          <p:sp>
            <p:nvSpPr>
              <p:cNvPr id="79879" name="Oval 8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79880" name="Oval 9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4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24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79881" name="Line 10"/>
            <p:cNvSpPr/>
            <p:nvPr/>
          </p:nvSpPr>
          <p:spPr>
            <a:xfrm>
              <a:off x="3760" y="1056"/>
              <a:ext cx="30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88072" name="Rectangle 55"/>
          <p:cNvSpPr>
            <a:spLocks noGrp="1" noChangeArrowheads="1"/>
          </p:cNvSpPr>
          <p:nvPr/>
        </p:nvSpPr>
        <p:spPr>
          <a:xfrm>
            <a:off x="376555" y="1213485"/>
            <a:ext cx="11277600" cy="3517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 startAt="2"/>
              <a:defRPr/>
            </a:pP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正规式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转换为</a:t>
            </a: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NFA M</a:t>
            </a:r>
            <a:r>
              <a: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的方法：</a:t>
            </a:r>
            <a:endParaRPr kumimoji="1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09650" marR="0" lvl="1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ea"/>
              </a:rPr>
              <a:t>首先将复合正规表达式表示成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ea"/>
              </a:rPr>
              <a:t>拓广的状态转换图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ea"/>
              </a:rPr>
              <a:t>:</a:t>
            </a:r>
            <a:endParaRPr kumimoji="1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ea"/>
            </a:endParaRPr>
          </a:p>
          <a:p>
            <a:pPr marL="1009650" marR="0" lvl="1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然后按照正规式的运算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(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以下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(a),(b),(c),(d)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四种情况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递归生成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NFA M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ea"/>
              </a:rPr>
              <a:t>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ea"/>
            </a:endParaRPr>
          </a:p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Box 5"/>
          <p:cNvSpPr txBox="1"/>
          <p:nvPr/>
        </p:nvSpPr>
        <p:spPr>
          <a:xfrm>
            <a:off x="383223" y="4520248"/>
            <a:ext cx="51816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b)</a:t>
            </a:r>
            <a:r>
              <a:rPr lang="zh-CN" altLang="en-US" sz="2800">
                <a:solidFill>
                  <a:srgbClr val="030305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>
                <a:solidFill>
                  <a:srgbClr val="030305"/>
                </a:solidFill>
                <a:latin typeface="Times New Roman" panose="02020603050405020304" pitchFamily="18" charset="0"/>
              </a:rPr>
              <a:t>R=rs</a:t>
            </a:r>
            <a:r>
              <a:rPr lang="zh-CN" altLang="en-US" sz="2800">
                <a:solidFill>
                  <a:srgbClr val="030305"/>
                </a:solidFill>
                <a:latin typeface="Times New Roman" panose="02020603050405020304" pitchFamily="18" charset="0"/>
              </a:rPr>
              <a:t>，则将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6" name="Group 7"/>
          <p:cNvGrpSpPr/>
          <p:nvPr/>
        </p:nvGrpSpPr>
        <p:grpSpPr>
          <a:xfrm>
            <a:off x="437515" y="5359400"/>
            <a:ext cx="1586230" cy="531495"/>
            <a:chOff x="1728" y="1632"/>
            <a:chExt cx="1168" cy="432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728" y="1680"/>
              <a:ext cx="377" cy="38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</a:t>
              </a:r>
              <a:endParaRPr kumimoji="1" lang="zh-CN" altLang="en-US" sz="3200" b="1" i="0" u="none" strike="noStrike" kern="1200" cap="none" spc="0" normalizeH="0" baseline="-25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512" y="1680"/>
              <a:ext cx="384" cy="384"/>
              <a:chOff x="2208" y="2832"/>
              <a:chExt cx="480" cy="432"/>
            </a:xfrm>
          </p:grpSpPr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Wingdings" panose="05000000000000000000" pitchFamily="2" charset="2"/>
                  <a:buChar char="•"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Oval 11"/>
              <p:cNvSpPr/>
              <p:nvPr/>
            </p:nvSpPr>
            <p:spPr>
              <a:xfrm>
                <a:off x="2304" y="2930"/>
                <a:ext cx="287" cy="238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2168" y="1632"/>
              <a:ext cx="288" cy="1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rs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112" y="1872"/>
              <a:ext cx="384" cy="0"/>
            </a:xfrm>
            <a:prstGeom prst="line">
              <a:avLst/>
            </a:prstGeom>
            <a:noFill/>
            <a:ln w="9525">
              <a:solidFill>
                <a:srgbClr val="030305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Group 47"/>
          <p:cNvGrpSpPr/>
          <p:nvPr/>
        </p:nvGrpSpPr>
        <p:grpSpPr>
          <a:xfrm>
            <a:off x="1997693" y="5253821"/>
            <a:ext cx="3567447" cy="636893"/>
            <a:chOff x="2207" y="2253"/>
            <a:chExt cx="2484" cy="460"/>
          </a:xfrm>
        </p:grpSpPr>
        <p:sp>
          <p:nvSpPr>
            <p:cNvPr id="17" name="Text Box 6"/>
            <p:cNvSpPr txBox="1"/>
            <p:nvPr/>
          </p:nvSpPr>
          <p:spPr>
            <a:xfrm>
              <a:off x="2207" y="2253"/>
              <a:ext cx="1152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400">
                  <a:solidFill>
                    <a:srgbClr val="030305"/>
                  </a:solidFill>
                  <a:latin typeface="Times New Roman" panose="02020603050405020304" pitchFamily="18" charset="0"/>
                </a:rPr>
                <a:t>代之以</a:t>
              </a: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18" name="Group 14"/>
            <p:cNvGrpSpPr/>
            <p:nvPr/>
          </p:nvGrpSpPr>
          <p:grpSpPr>
            <a:xfrm>
              <a:off x="2915" y="2321"/>
              <a:ext cx="1776" cy="392"/>
              <a:chOff x="3648" y="1632"/>
              <a:chExt cx="1920" cy="440"/>
            </a:xfrm>
          </p:grpSpPr>
          <p:sp>
            <p:nvSpPr>
              <p:cNvPr id="19" name="Oval 15"/>
              <p:cNvSpPr>
                <a:spLocks noChangeArrowheads="1"/>
              </p:cNvSpPr>
              <p:nvPr/>
            </p:nvSpPr>
            <p:spPr bwMode="auto">
              <a:xfrm>
                <a:off x="3648" y="1680"/>
                <a:ext cx="377" cy="384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30305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0</a:t>
                </a:r>
                <a:endParaRPr kumimoji="1" lang="zh-CN" altLang="en-US" sz="3200" b="1" i="0" u="none" strike="noStrike" kern="1200" cap="none" spc="0" normalizeH="0" baseline="-2500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grpSp>
            <p:nvGrpSpPr>
              <p:cNvPr id="20" name="Group 16"/>
              <p:cNvGrpSpPr/>
              <p:nvPr/>
            </p:nvGrpSpPr>
            <p:grpSpPr>
              <a:xfrm>
                <a:off x="5184" y="1688"/>
                <a:ext cx="384" cy="384"/>
                <a:chOff x="2208" y="2832"/>
                <a:chExt cx="480" cy="432"/>
              </a:xfrm>
            </p:grpSpPr>
            <p:sp>
              <p:nvSpPr>
                <p:cNvPr id="21" name="Oval 17"/>
                <p:cNvSpPr>
                  <a:spLocks noChangeArrowheads="1"/>
                </p:cNvSpPr>
                <p:nvPr/>
              </p:nvSpPr>
              <p:spPr bwMode="auto"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>
                  <a:solidFill>
                    <a:srgbClr val="030305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9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Wingdings" panose="05000000000000000000" pitchFamily="2" charset="2"/>
                    <a:buChar char="•"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" name="Oval 18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3200" dirty="0">
                      <a:solidFill>
                        <a:srgbClr val="030305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zh-CN" altLang="en-US" sz="3200" dirty="0">
                    <a:solidFill>
                      <a:srgbClr val="030305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" name="Rectangle 19"/>
              <p:cNvSpPr/>
              <p:nvPr/>
            </p:nvSpPr>
            <p:spPr>
              <a:xfrm>
                <a:off x="4128" y="1632"/>
                <a:ext cx="192" cy="1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endPara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24" name="Line 20"/>
              <p:cNvSpPr>
                <a:spLocks noChangeShapeType="1"/>
              </p:cNvSpPr>
              <p:nvPr/>
            </p:nvSpPr>
            <p:spPr bwMode="auto">
              <a:xfrm>
                <a:off x="4032" y="1872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30305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Oval 21"/>
              <p:cNvSpPr>
                <a:spLocks noChangeArrowheads="1"/>
              </p:cNvSpPr>
              <p:nvPr/>
            </p:nvSpPr>
            <p:spPr bwMode="auto">
              <a:xfrm>
                <a:off x="4416" y="1680"/>
                <a:ext cx="377" cy="384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66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2</a:t>
                </a:r>
                <a:endParaRPr kumimoji="1" lang="zh-CN" altLang="en-US" sz="3200" b="1" i="0" u="none" strike="noStrike" kern="1200" cap="none" spc="0" normalizeH="0" baseline="-2500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>
                <a:off x="4800" y="1872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30305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/>
              <p:nvPr/>
            </p:nvSpPr>
            <p:spPr>
              <a:xfrm>
                <a:off x="4896" y="1632"/>
                <a:ext cx="192" cy="1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28" name="Text Box 25"/>
          <p:cNvSpPr txBox="1"/>
          <p:nvPr/>
        </p:nvSpPr>
        <p:spPr>
          <a:xfrm>
            <a:off x="437198" y="2754948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a)</a:t>
            </a:r>
            <a:r>
              <a:rPr lang="zh-CN" altLang="en-US" sz="2800">
                <a:solidFill>
                  <a:srgbClr val="030305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>
                <a:solidFill>
                  <a:srgbClr val="030305"/>
                </a:solidFill>
                <a:latin typeface="Times New Roman" panose="02020603050405020304" pitchFamily="18" charset="0"/>
              </a:rPr>
              <a:t>R=r|s</a:t>
            </a:r>
            <a:r>
              <a:rPr lang="zh-CN" altLang="en-US" sz="2800">
                <a:solidFill>
                  <a:srgbClr val="030305"/>
                </a:solidFill>
                <a:latin typeface="Times New Roman" panose="02020603050405020304" pitchFamily="18" charset="0"/>
              </a:rPr>
              <a:t>，则将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29" name="Group 27"/>
          <p:cNvGrpSpPr/>
          <p:nvPr/>
        </p:nvGrpSpPr>
        <p:grpSpPr>
          <a:xfrm>
            <a:off x="579120" y="3772535"/>
            <a:ext cx="1420495" cy="455295"/>
            <a:chOff x="1728" y="1632"/>
            <a:chExt cx="1168" cy="432"/>
          </a:xfrm>
        </p:grpSpPr>
        <p:sp>
          <p:nvSpPr>
            <p:cNvPr id="30" name="Oval 28"/>
            <p:cNvSpPr>
              <a:spLocks noChangeArrowheads="1"/>
            </p:cNvSpPr>
            <p:nvPr/>
          </p:nvSpPr>
          <p:spPr bwMode="auto">
            <a:xfrm>
              <a:off x="1728" y="1680"/>
              <a:ext cx="377" cy="384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0</a:t>
              </a:r>
              <a:endParaRPr kumimoji="1" lang="zh-CN" altLang="en-US" sz="3200" b="1" i="0" u="none" strike="noStrike" kern="1200" cap="none" spc="0" normalizeH="0" baseline="-2500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grpSp>
          <p:nvGrpSpPr>
            <p:cNvPr id="31" name="Group 29"/>
            <p:cNvGrpSpPr/>
            <p:nvPr/>
          </p:nvGrpSpPr>
          <p:grpSpPr>
            <a:xfrm>
              <a:off x="2512" y="1680"/>
              <a:ext cx="384" cy="384"/>
              <a:chOff x="2208" y="2832"/>
              <a:chExt cx="480" cy="432"/>
            </a:xfrm>
          </p:grpSpPr>
          <p:sp>
            <p:nvSpPr>
              <p:cNvPr id="32" name="Oval 30"/>
              <p:cNvSpPr>
                <a:spLocks noChangeArrowheads="1"/>
              </p:cNvSpPr>
              <p:nvPr/>
            </p:nvSpPr>
            <p:spPr bwMode="auto"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30305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Wingdings" panose="05000000000000000000" pitchFamily="2" charset="2"/>
                  <a:buChar char="•"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Oval 31"/>
              <p:cNvSpPr/>
              <p:nvPr/>
            </p:nvSpPr>
            <p:spPr>
              <a:xfrm>
                <a:off x="2304" y="2930"/>
                <a:ext cx="288" cy="238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2168" y="1632"/>
              <a:ext cx="273" cy="1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90000"/>
                <a:buFontTx/>
                <a:buNone/>
                <a:defRPr/>
              </a:pPr>
              <a:r>
                <a:rPr kumimoji="1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r|s</a:t>
              </a:r>
              <a:endPara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2112" y="1872"/>
              <a:ext cx="384" cy="0"/>
            </a:xfrm>
            <a:prstGeom prst="line">
              <a:avLst/>
            </a:prstGeom>
            <a:noFill/>
            <a:ln w="9525">
              <a:solidFill>
                <a:srgbClr val="030305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" name="Group 46"/>
          <p:cNvGrpSpPr/>
          <p:nvPr/>
        </p:nvGrpSpPr>
        <p:grpSpPr>
          <a:xfrm>
            <a:off x="2131695" y="3406775"/>
            <a:ext cx="2672080" cy="1184910"/>
            <a:chOff x="1955" y="977"/>
            <a:chExt cx="2227" cy="1000"/>
          </a:xfrm>
        </p:grpSpPr>
        <p:sp>
          <p:nvSpPr>
            <p:cNvPr id="37" name="Text Box 26"/>
            <p:cNvSpPr txBox="1"/>
            <p:nvPr/>
          </p:nvSpPr>
          <p:spPr>
            <a:xfrm>
              <a:off x="1955" y="1210"/>
              <a:ext cx="1200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SzTx/>
              </a:pPr>
              <a:r>
                <a:rPr lang="zh-CN" altLang="en-US" sz="2400">
                  <a:solidFill>
                    <a:srgbClr val="030305"/>
                  </a:solidFill>
                  <a:latin typeface="Times New Roman" panose="02020603050405020304" pitchFamily="18" charset="0"/>
                </a:rPr>
                <a:t>代之以</a:t>
              </a: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38" name="Group 34"/>
            <p:cNvGrpSpPr/>
            <p:nvPr/>
          </p:nvGrpSpPr>
          <p:grpSpPr>
            <a:xfrm>
              <a:off x="2915" y="977"/>
              <a:ext cx="1267" cy="1000"/>
              <a:chOff x="3648" y="1733"/>
              <a:chExt cx="1267" cy="1000"/>
            </a:xfrm>
          </p:grpSpPr>
          <p:sp>
            <p:nvSpPr>
              <p:cNvPr id="39" name="Oval 35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349" cy="342"/>
              </a:xfrm>
              <a:prstGeom prst="ellipse">
                <a:avLst/>
              </a:prstGeom>
              <a:solidFill>
                <a:srgbClr val="99CC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Pct val="90000"/>
                  <a:buFontTx/>
                  <a:buNone/>
                  <a:defRPr/>
                </a:pPr>
                <a:r>
                  <a:rPr kumimoji="1" lang="en-US" altLang="zh-CN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30305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0</a:t>
                </a:r>
                <a:endParaRPr kumimoji="1" lang="zh-CN" altLang="en-US" sz="3200" b="1" i="0" u="none" strike="noStrike" kern="1200" cap="none" spc="0" normalizeH="0" baseline="-25000" noProof="0">
                  <a:ln>
                    <a:noFill/>
                  </a:ln>
                  <a:solidFill>
                    <a:srgbClr val="030305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  <a:sym typeface="Symbol" panose="05050102010706020507" pitchFamily="18" charset="2"/>
                </a:endParaRPr>
              </a:p>
            </p:txBody>
          </p:sp>
          <p:grpSp>
            <p:nvGrpSpPr>
              <p:cNvPr id="40" name="Group 36"/>
              <p:cNvGrpSpPr/>
              <p:nvPr/>
            </p:nvGrpSpPr>
            <p:grpSpPr>
              <a:xfrm>
                <a:off x="4560" y="2085"/>
                <a:ext cx="355" cy="342"/>
                <a:chOff x="2208" y="2832"/>
                <a:chExt cx="480" cy="432"/>
              </a:xfrm>
            </p:grpSpPr>
            <p:sp>
              <p:nvSpPr>
                <p:cNvPr id="41" name="Oval 37"/>
                <p:cNvSpPr>
                  <a:spLocks noChangeArrowheads="1"/>
                </p:cNvSpPr>
                <p:nvPr/>
              </p:nvSpPr>
              <p:spPr bwMode="auto"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>
                  <a:solidFill>
                    <a:srgbClr val="030305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9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Tx/>
                    <a:buFont typeface="Wingdings" panose="05000000000000000000" pitchFamily="2" charset="2"/>
                    <a:buChar char="•"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Oval 38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3200" dirty="0">
                      <a:solidFill>
                        <a:srgbClr val="030305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zh-CN" altLang="en-US" sz="3200" dirty="0">
                    <a:solidFill>
                      <a:srgbClr val="030305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Rectangle 39"/>
              <p:cNvSpPr/>
              <p:nvPr/>
            </p:nvSpPr>
            <p:spPr>
              <a:xfrm>
                <a:off x="4128" y="1733"/>
                <a:ext cx="178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endPara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44" name="Rectangle 40"/>
              <p:cNvSpPr/>
              <p:nvPr/>
            </p:nvSpPr>
            <p:spPr>
              <a:xfrm>
                <a:off x="4176" y="2557"/>
                <a:ext cx="178" cy="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45" name="AutoShape 41"/>
              <p:cNvCxnSpPr>
                <a:stCxn id="39" idx="4"/>
                <a:endCxn id="41" idx="4"/>
              </p:cNvCxnSpPr>
              <p:nvPr/>
            </p:nvCxnSpPr>
            <p:spPr>
              <a:xfrm rot="-5400000" flipH="1">
                <a:off x="4269" y="1958"/>
                <a:ext cx="21" cy="915"/>
              </a:xfrm>
              <a:prstGeom prst="curvedConnector3">
                <a:avLst>
                  <a:gd name="adj1" fmla="val 785713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6" name="AutoShape 42"/>
              <p:cNvCxnSpPr>
                <a:stCxn id="39" idx="0"/>
                <a:endCxn id="41" idx="0"/>
              </p:cNvCxnSpPr>
              <p:nvPr/>
            </p:nvCxnSpPr>
            <p:spPr>
              <a:xfrm rot="5400000" flipV="1">
                <a:off x="4269" y="1616"/>
                <a:ext cx="21" cy="915"/>
              </a:xfrm>
              <a:prstGeom prst="curvedConnector3">
                <a:avLst>
                  <a:gd name="adj1" fmla="val -685713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20370" y="276860"/>
            <a:ext cx="865886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.1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N</a:t>
            </a:r>
            <a:r>
              <a:rPr lang="en-US" altLang="zh-CN" sz="3200">
                <a:sym typeface="+mn-ea"/>
              </a:rPr>
              <a:t>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97635" name="Text Box 3"/>
          <p:cNvSpPr txBox="1"/>
          <p:nvPr/>
        </p:nvSpPr>
        <p:spPr>
          <a:xfrm>
            <a:off x="5967413" y="2823210"/>
            <a:ext cx="48958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c)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R=r*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则将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5"/>
          <p:cNvGrpSpPr/>
          <p:nvPr/>
        </p:nvGrpSpPr>
        <p:grpSpPr>
          <a:xfrm>
            <a:off x="6078538" y="3729673"/>
            <a:ext cx="1676400" cy="609600"/>
            <a:chOff x="1728" y="1632"/>
            <a:chExt cx="1168" cy="432"/>
          </a:xfrm>
        </p:grpSpPr>
        <p:sp>
          <p:nvSpPr>
            <p:cNvPr id="81924" name="Oval 6"/>
            <p:cNvSpPr/>
            <p:nvPr/>
          </p:nvSpPr>
          <p:spPr>
            <a:xfrm>
              <a:off x="1728" y="1680"/>
              <a:ext cx="377" cy="38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81925" name="Group 7"/>
            <p:cNvGrpSpPr/>
            <p:nvPr/>
          </p:nvGrpSpPr>
          <p:grpSpPr>
            <a:xfrm>
              <a:off x="2512" y="1680"/>
              <a:ext cx="384" cy="384"/>
              <a:chOff x="2208" y="2832"/>
              <a:chExt cx="480" cy="432"/>
            </a:xfrm>
          </p:grpSpPr>
          <p:sp>
            <p:nvSpPr>
              <p:cNvPr id="81926" name="Oval 8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sz="1600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1927" name="Oval 9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28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81928" name="Rectangle 10"/>
            <p:cNvSpPr/>
            <p:nvPr/>
          </p:nvSpPr>
          <p:spPr>
            <a:xfrm>
              <a:off x="2168" y="1632"/>
              <a:ext cx="288" cy="1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29" name="Line 11"/>
            <p:cNvSpPr/>
            <p:nvPr/>
          </p:nvSpPr>
          <p:spPr>
            <a:xfrm>
              <a:off x="2112" y="1872"/>
              <a:ext cx="384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" name="Group 28"/>
          <p:cNvGrpSpPr/>
          <p:nvPr/>
        </p:nvGrpSpPr>
        <p:grpSpPr>
          <a:xfrm>
            <a:off x="7843203" y="3729673"/>
            <a:ext cx="3929062" cy="998537"/>
            <a:chOff x="2149" y="1397"/>
            <a:chExt cx="2475" cy="629"/>
          </a:xfrm>
        </p:grpSpPr>
        <p:sp>
          <p:nvSpPr>
            <p:cNvPr id="81931" name="Text Box 4"/>
            <p:cNvSpPr txBox="1"/>
            <p:nvPr/>
          </p:nvSpPr>
          <p:spPr>
            <a:xfrm>
              <a:off x="2149" y="1437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代之以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81932" name="Group 12"/>
            <p:cNvGrpSpPr/>
            <p:nvPr/>
          </p:nvGrpSpPr>
          <p:grpSpPr>
            <a:xfrm>
              <a:off x="2848" y="1397"/>
              <a:ext cx="1776" cy="629"/>
              <a:chOff x="3648" y="2880"/>
              <a:chExt cx="1776" cy="629"/>
            </a:xfrm>
          </p:grpSpPr>
          <p:sp>
            <p:nvSpPr>
              <p:cNvPr id="81933" name="Oval 13"/>
              <p:cNvSpPr/>
              <p:nvPr/>
            </p:nvSpPr>
            <p:spPr>
              <a:xfrm>
                <a:off x="3648" y="2907"/>
                <a:ext cx="349" cy="34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en-US" altLang="zh-CN" sz="28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grpSp>
            <p:nvGrpSpPr>
              <p:cNvPr id="81934" name="Group 14"/>
              <p:cNvGrpSpPr/>
              <p:nvPr/>
            </p:nvGrpSpPr>
            <p:grpSpPr>
              <a:xfrm>
                <a:off x="5069" y="2914"/>
                <a:ext cx="355" cy="342"/>
                <a:chOff x="2208" y="2832"/>
                <a:chExt cx="480" cy="432"/>
              </a:xfrm>
            </p:grpSpPr>
            <p:sp>
              <p:nvSpPr>
                <p:cNvPr id="81935" name="Oval 15"/>
                <p:cNvSpPr/>
                <p:nvPr/>
              </p:nvSpPr>
              <p:spPr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sz="16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81936" name="Oval 16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2800" dirty="0">
                      <a:solidFill>
                        <a:srgbClr val="030305"/>
                      </a:solidFill>
                      <a:latin typeface="宋体" panose="02010600030101010101" pitchFamily="2" charset="-122"/>
                    </a:rPr>
                    <a:t>1</a:t>
                  </a:r>
                  <a:endPara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81937" name="Line 17"/>
              <p:cNvSpPr/>
              <p:nvPr/>
            </p:nvSpPr>
            <p:spPr>
              <a:xfrm>
                <a:off x="4003" y="3078"/>
                <a:ext cx="355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1938" name="Oval 18"/>
              <p:cNvSpPr/>
              <p:nvPr/>
            </p:nvSpPr>
            <p:spPr>
              <a:xfrm>
                <a:off x="4358" y="2907"/>
                <a:ext cx="349" cy="34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FF0066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sz="28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1939" name="Line 19"/>
              <p:cNvSpPr/>
              <p:nvPr/>
            </p:nvSpPr>
            <p:spPr>
              <a:xfrm>
                <a:off x="4714" y="3078"/>
                <a:ext cx="355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1940" name="Rectangle 20"/>
              <p:cNvSpPr/>
              <p:nvPr/>
            </p:nvSpPr>
            <p:spPr>
              <a:xfrm>
                <a:off x="4128" y="2880"/>
                <a:ext cx="75" cy="1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1941" name="Rectangle 21"/>
              <p:cNvSpPr/>
              <p:nvPr/>
            </p:nvSpPr>
            <p:spPr>
              <a:xfrm>
                <a:off x="4800" y="2880"/>
                <a:ext cx="75" cy="1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cxnSp>
            <p:nvCxnSpPr>
              <p:cNvPr id="81942" name="AutoShape 22"/>
              <p:cNvCxnSpPr>
                <a:stCxn id="81938" idx="3"/>
                <a:endCxn id="81938" idx="5"/>
              </p:cNvCxnSpPr>
              <p:nvPr/>
            </p:nvCxnSpPr>
            <p:spPr>
              <a:xfrm rot="-5400000" flipH="1">
                <a:off x="4531" y="3075"/>
                <a:ext cx="1" cy="247"/>
              </a:xfrm>
              <a:prstGeom prst="curvedConnector3">
                <a:avLst>
                  <a:gd name="adj1" fmla="val 194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1943" name="Rectangle 23"/>
              <p:cNvSpPr/>
              <p:nvPr/>
            </p:nvSpPr>
            <p:spPr>
              <a:xfrm>
                <a:off x="4512" y="3360"/>
                <a:ext cx="75" cy="1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endParaRPr lang="zh-CN" altLang="en-US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197656" name="Text Box 24"/>
          <p:cNvSpPr txBox="1"/>
          <p:nvPr/>
        </p:nvSpPr>
        <p:spPr>
          <a:xfrm>
            <a:off x="6012180" y="4832350"/>
            <a:ext cx="614743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d)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R=（r）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同正规式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</a:rPr>
              <a:t>R=r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</a:rPr>
              <a:t>相同。</a:t>
            </a:r>
            <a:endParaRPr lang="zh-CN" altLang="en-US" sz="28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>
                                            <p:txEl>
                                              <p:charRg st="46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8072">
                                            <p:txEl>
                                              <p:charRg st="46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197635" grpId="0"/>
      <p:bldP spid="19765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/>
        </p:nvSpPr>
        <p:spPr>
          <a:xfrm>
            <a:off x="325120" y="1272540"/>
            <a:ext cx="11223625" cy="10077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设有正规表达式</a:t>
            </a:r>
            <a:r>
              <a:rPr lang="en-US" altLang="zh-CN" sz="3200" dirty="0">
                <a:solidFill>
                  <a:srgbClr val="030305"/>
                </a:solidFill>
              </a:rPr>
              <a:t>R=ab|a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构造</a:t>
            </a:r>
            <a:r>
              <a:rPr lang="en-US" altLang="zh-CN" sz="3200" dirty="0">
                <a:solidFill>
                  <a:srgbClr val="030305"/>
                </a:solidFill>
              </a:rPr>
              <a:t>NFA M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sz="3200" dirty="0">
                <a:solidFill>
                  <a:srgbClr val="030305"/>
                </a:solidFill>
              </a:rPr>
              <a:t>L(R)=L(M)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。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351088" y="2323148"/>
            <a:ext cx="5400675" cy="609600"/>
            <a:chOff x="521" y="1071"/>
            <a:chExt cx="2849" cy="384"/>
          </a:xfrm>
        </p:grpSpPr>
        <p:sp>
          <p:nvSpPr>
            <p:cNvPr id="6" name="Rectangle 4"/>
            <p:cNvSpPr/>
            <p:nvPr/>
          </p:nvSpPr>
          <p:spPr>
            <a:xfrm>
              <a:off x="521" y="1071"/>
              <a:ext cx="363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（1）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" name="Group 5"/>
            <p:cNvGrpSpPr/>
            <p:nvPr/>
          </p:nvGrpSpPr>
          <p:grpSpPr>
            <a:xfrm>
              <a:off x="1610" y="1071"/>
              <a:ext cx="1760" cy="384"/>
              <a:chOff x="1486" y="1344"/>
              <a:chExt cx="1760" cy="384"/>
            </a:xfrm>
          </p:grpSpPr>
          <p:sp>
            <p:nvSpPr>
              <p:cNvPr id="9" name="Oval 6"/>
              <p:cNvSpPr/>
              <p:nvPr/>
            </p:nvSpPr>
            <p:spPr>
              <a:xfrm>
                <a:off x="1791" y="1392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0" name="Rectangle 7"/>
              <p:cNvSpPr/>
              <p:nvPr/>
            </p:nvSpPr>
            <p:spPr>
              <a:xfrm>
                <a:off x="2288" y="1344"/>
                <a:ext cx="465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ab|a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grpSp>
            <p:nvGrpSpPr>
              <p:cNvPr id="11" name="Group 8"/>
              <p:cNvGrpSpPr/>
              <p:nvPr/>
            </p:nvGrpSpPr>
            <p:grpSpPr>
              <a:xfrm>
                <a:off x="2880" y="1392"/>
                <a:ext cx="366" cy="336"/>
                <a:chOff x="2208" y="2832"/>
                <a:chExt cx="480" cy="432"/>
              </a:xfrm>
            </p:grpSpPr>
            <p:sp>
              <p:nvSpPr>
                <p:cNvPr id="13" name="Oval 9"/>
                <p:cNvSpPr/>
                <p:nvPr/>
              </p:nvSpPr>
              <p:spPr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4" name="Oval 10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3200" dirty="0">
                      <a:solidFill>
                        <a:srgbClr val="030305"/>
                      </a:solidFill>
                      <a:latin typeface="宋体" panose="02010600030101010101" pitchFamily="2" charset="-122"/>
                    </a:rPr>
                    <a:t>1</a:t>
                  </a:r>
                  <a:endPara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15" name="Line 11"/>
              <p:cNvSpPr/>
              <p:nvPr/>
            </p:nvSpPr>
            <p:spPr>
              <a:xfrm>
                <a:off x="1486" y="1560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6" name="Line 12"/>
              <p:cNvSpPr/>
              <p:nvPr/>
            </p:nvSpPr>
            <p:spPr>
              <a:xfrm>
                <a:off x="2160" y="1576"/>
                <a:ext cx="720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7" name="Group 13"/>
          <p:cNvGrpSpPr/>
          <p:nvPr/>
        </p:nvGrpSpPr>
        <p:grpSpPr>
          <a:xfrm>
            <a:off x="2065338" y="2900998"/>
            <a:ext cx="5470525" cy="1409700"/>
            <a:chOff x="341" y="1525"/>
            <a:chExt cx="2984" cy="888"/>
          </a:xfrm>
        </p:grpSpPr>
        <p:sp>
          <p:nvSpPr>
            <p:cNvPr id="18" name="Rectangle 14"/>
            <p:cNvSpPr/>
            <p:nvPr/>
          </p:nvSpPr>
          <p:spPr>
            <a:xfrm>
              <a:off x="341" y="1888"/>
              <a:ext cx="76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（2）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19" name="Group 15"/>
            <p:cNvGrpSpPr/>
            <p:nvPr/>
          </p:nvGrpSpPr>
          <p:grpSpPr>
            <a:xfrm>
              <a:off x="1565" y="1525"/>
              <a:ext cx="1760" cy="888"/>
              <a:chOff x="1822" y="1784"/>
              <a:chExt cx="1760" cy="888"/>
            </a:xfrm>
          </p:grpSpPr>
          <p:sp>
            <p:nvSpPr>
              <p:cNvPr id="20" name="Oval 16"/>
              <p:cNvSpPr/>
              <p:nvPr/>
            </p:nvSpPr>
            <p:spPr>
              <a:xfrm>
                <a:off x="2127" y="2112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1" name="Rectangle 17"/>
              <p:cNvSpPr/>
              <p:nvPr/>
            </p:nvSpPr>
            <p:spPr>
              <a:xfrm>
                <a:off x="2712" y="1784"/>
                <a:ext cx="302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ab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grpSp>
            <p:nvGrpSpPr>
              <p:cNvPr id="22" name="Group 18"/>
              <p:cNvGrpSpPr/>
              <p:nvPr/>
            </p:nvGrpSpPr>
            <p:grpSpPr>
              <a:xfrm>
                <a:off x="3216" y="2112"/>
                <a:ext cx="366" cy="336"/>
                <a:chOff x="2208" y="2832"/>
                <a:chExt cx="480" cy="432"/>
              </a:xfrm>
            </p:grpSpPr>
            <p:sp>
              <p:nvSpPr>
                <p:cNvPr id="23" name="Oval 19"/>
                <p:cNvSpPr/>
                <p:nvPr/>
              </p:nvSpPr>
              <p:spPr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4" name="Oval 20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3200" dirty="0">
                      <a:solidFill>
                        <a:srgbClr val="030305"/>
                      </a:solidFill>
                      <a:latin typeface="宋体" panose="02010600030101010101" pitchFamily="2" charset="-122"/>
                    </a:rPr>
                    <a:t>1</a:t>
                  </a:r>
                  <a:endPara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25" name="Line 21"/>
              <p:cNvSpPr/>
              <p:nvPr/>
            </p:nvSpPr>
            <p:spPr>
              <a:xfrm>
                <a:off x="1822" y="2280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cxnSp>
            <p:nvCxnSpPr>
              <p:cNvPr id="26" name="AutoShape 22"/>
              <p:cNvCxnSpPr>
                <a:stCxn id="20" idx="4"/>
                <a:endCxn id="23" idx="4"/>
              </p:cNvCxnSpPr>
              <p:nvPr/>
            </p:nvCxnSpPr>
            <p:spPr>
              <a:xfrm rot="-5400000" flipH="1">
                <a:off x="2851" y="1901"/>
                <a:ext cx="1" cy="1092"/>
              </a:xfrm>
              <a:prstGeom prst="curvedConnector3">
                <a:avLst>
                  <a:gd name="adj1" fmla="val 14400005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7" name="AutoShape 23"/>
              <p:cNvCxnSpPr>
                <a:stCxn id="20" idx="0"/>
                <a:endCxn id="23" idx="0"/>
              </p:cNvCxnSpPr>
              <p:nvPr/>
            </p:nvCxnSpPr>
            <p:spPr>
              <a:xfrm rot="5400000" flipV="1">
                <a:off x="2851" y="1565"/>
                <a:ext cx="1" cy="1092"/>
              </a:xfrm>
              <a:prstGeom prst="curvedConnector3">
                <a:avLst>
                  <a:gd name="adj1" fmla="val -14400005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8" name="Rectangle 24"/>
              <p:cNvSpPr/>
              <p:nvPr/>
            </p:nvSpPr>
            <p:spPr>
              <a:xfrm>
                <a:off x="2686" y="2568"/>
                <a:ext cx="240" cy="1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9" name="Group 25"/>
          <p:cNvGrpSpPr/>
          <p:nvPr/>
        </p:nvGrpSpPr>
        <p:grpSpPr>
          <a:xfrm>
            <a:off x="2063750" y="4515485"/>
            <a:ext cx="5616575" cy="1409700"/>
            <a:chOff x="340" y="2614"/>
            <a:chExt cx="2939" cy="888"/>
          </a:xfrm>
        </p:grpSpPr>
        <p:sp>
          <p:nvSpPr>
            <p:cNvPr id="30" name="Rectangle 26"/>
            <p:cNvSpPr/>
            <p:nvPr/>
          </p:nvSpPr>
          <p:spPr>
            <a:xfrm>
              <a:off x="340" y="2886"/>
              <a:ext cx="771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（3）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1" name="Group 27"/>
            <p:cNvGrpSpPr/>
            <p:nvPr/>
          </p:nvGrpSpPr>
          <p:grpSpPr>
            <a:xfrm>
              <a:off x="1519" y="2614"/>
              <a:ext cx="1760" cy="888"/>
              <a:chOff x="1819" y="2888"/>
              <a:chExt cx="1760" cy="888"/>
            </a:xfrm>
          </p:grpSpPr>
          <p:sp>
            <p:nvSpPr>
              <p:cNvPr id="32" name="Oval 28"/>
              <p:cNvSpPr/>
              <p:nvPr/>
            </p:nvSpPr>
            <p:spPr>
              <a:xfrm>
                <a:off x="2124" y="3216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grpSp>
            <p:nvGrpSpPr>
              <p:cNvPr id="33" name="Group 29"/>
              <p:cNvGrpSpPr/>
              <p:nvPr/>
            </p:nvGrpSpPr>
            <p:grpSpPr>
              <a:xfrm>
                <a:off x="3213" y="3216"/>
                <a:ext cx="366" cy="336"/>
                <a:chOff x="2208" y="2832"/>
                <a:chExt cx="480" cy="432"/>
              </a:xfrm>
            </p:grpSpPr>
            <p:sp>
              <p:nvSpPr>
                <p:cNvPr id="34" name="Oval 30"/>
                <p:cNvSpPr/>
                <p:nvPr/>
              </p:nvSpPr>
              <p:spPr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5" name="Oval 31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3200" dirty="0">
                      <a:solidFill>
                        <a:srgbClr val="030305"/>
                      </a:solidFill>
                      <a:latin typeface="宋体" panose="02010600030101010101" pitchFamily="2" charset="-122"/>
                    </a:rPr>
                    <a:t>1</a:t>
                  </a:r>
                  <a:endPara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36" name="Line 32"/>
              <p:cNvSpPr/>
              <p:nvPr/>
            </p:nvSpPr>
            <p:spPr>
              <a:xfrm>
                <a:off x="1819" y="3384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cxnSp>
            <p:nvCxnSpPr>
              <p:cNvPr id="37" name="AutoShape 33"/>
              <p:cNvCxnSpPr>
                <a:stCxn id="32" idx="4"/>
                <a:endCxn id="34" idx="4"/>
              </p:cNvCxnSpPr>
              <p:nvPr/>
            </p:nvCxnSpPr>
            <p:spPr>
              <a:xfrm rot="-5400000" flipH="1">
                <a:off x="2848" y="3005"/>
                <a:ext cx="1" cy="1092"/>
              </a:xfrm>
              <a:prstGeom prst="curvedConnector3">
                <a:avLst>
                  <a:gd name="adj1" fmla="val 14400005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8" name="Rectangle 34"/>
              <p:cNvSpPr/>
              <p:nvPr/>
            </p:nvSpPr>
            <p:spPr>
              <a:xfrm>
                <a:off x="2683" y="3672"/>
                <a:ext cx="240" cy="1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9" name="Oval 35"/>
              <p:cNvSpPr/>
              <p:nvPr/>
            </p:nvSpPr>
            <p:spPr>
              <a:xfrm>
                <a:off x="2640" y="2888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FF0066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zh-CN" altLang="en-US" sz="32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0" name="Rectangle 36"/>
              <p:cNvSpPr/>
              <p:nvPr/>
            </p:nvSpPr>
            <p:spPr>
              <a:xfrm>
                <a:off x="2352" y="2992"/>
                <a:ext cx="144" cy="1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1" name="Rectangle 37"/>
              <p:cNvSpPr/>
              <p:nvPr/>
            </p:nvSpPr>
            <p:spPr>
              <a:xfrm>
                <a:off x="3104" y="3048"/>
                <a:ext cx="192" cy="1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b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2" name="Line 38"/>
              <p:cNvSpPr/>
              <p:nvPr/>
            </p:nvSpPr>
            <p:spPr>
              <a:xfrm flipV="1">
                <a:off x="2352" y="3072"/>
                <a:ext cx="288" cy="144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3" name="Line 39"/>
              <p:cNvSpPr/>
              <p:nvPr/>
            </p:nvSpPr>
            <p:spPr>
              <a:xfrm>
                <a:off x="2976" y="3120"/>
                <a:ext cx="288" cy="144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20370" y="276860"/>
            <a:ext cx="865886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.1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N</a:t>
            </a:r>
            <a:r>
              <a:rPr lang="en-US" altLang="zh-CN" sz="3200">
                <a:sym typeface="+mn-ea"/>
              </a:rPr>
              <a:t>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62255" y="1176655"/>
            <a:ext cx="11668125" cy="6896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SzPct val="90000"/>
            </a:pP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构造与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letter(letter|digit)</a:t>
            </a:r>
            <a:r>
              <a:rPr lang="en-US" altLang="zh-CN" sz="3200" b="1" baseline="30000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*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等价的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NFA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letter=[a-z]</a:t>
            </a:r>
            <a:r>
              <a:rPr lang="zh-CN" altLang="en-US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</a:t>
            </a:r>
            <a:r>
              <a:rPr lang="en-US" altLang="zh-CN" sz="3200" b="1" dirty="0">
                <a:solidFill>
                  <a:srgbClr val="03030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digit=[0-9]</a:t>
            </a:r>
            <a:endParaRPr lang="en-US" altLang="zh-CN" sz="3200" b="1" dirty="0">
              <a:solidFill>
                <a:srgbClr val="030305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2084070" y="1924050"/>
            <a:ext cx="7656513" cy="635000"/>
            <a:chOff x="596" y="1298"/>
            <a:chExt cx="4371" cy="400"/>
          </a:xfrm>
        </p:grpSpPr>
        <p:sp>
          <p:nvSpPr>
            <p:cNvPr id="5" name="Rectangle 4"/>
            <p:cNvSpPr/>
            <p:nvPr/>
          </p:nvSpPr>
          <p:spPr>
            <a:xfrm>
              <a:off x="596" y="1482"/>
              <a:ext cx="28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（1）</a:t>
              </a:r>
              <a:endParaRPr lang="en-US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292" y="1362"/>
              <a:ext cx="439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064" y="1298"/>
              <a:ext cx="2112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letter(letter|digit)</a:t>
              </a:r>
              <a:r>
                <a:rPr lang="en-US" altLang="zh-CN" sz="2800" baseline="300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513" y="1344"/>
              <a:ext cx="454" cy="336"/>
              <a:chOff x="2208" y="2832"/>
              <a:chExt cx="480" cy="432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sz="1600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28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1" name="Line 10"/>
            <p:cNvSpPr/>
            <p:nvPr/>
          </p:nvSpPr>
          <p:spPr>
            <a:xfrm>
              <a:off x="1020" y="1525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" name="Line 11"/>
            <p:cNvSpPr/>
            <p:nvPr/>
          </p:nvSpPr>
          <p:spPr>
            <a:xfrm flipV="1">
              <a:off x="1746" y="1525"/>
              <a:ext cx="281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4" name="Group 12"/>
          <p:cNvGrpSpPr/>
          <p:nvPr/>
        </p:nvGrpSpPr>
        <p:grpSpPr>
          <a:xfrm>
            <a:off x="2084070" y="2803843"/>
            <a:ext cx="8123238" cy="749300"/>
            <a:chOff x="574" y="2115"/>
            <a:chExt cx="4796" cy="472"/>
          </a:xfrm>
        </p:grpSpPr>
        <p:sp>
          <p:nvSpPr>
            <p:cNvPr id="15" name="Rectangle 13"/>
            <p:cNvSpPr/>
            <p:nvPr/>
          </p:nvSpPr>
          <p:spPr>
            <a:xfrm>
              <a:off x="574" y="2306"/>
              <a:ext cx="28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（2）</a:t>
              </a:r>
              <a:endParaRPr lang="en-US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" name="Oval 14"/>
            <p:cNvSpPr/>
            <p:nvPr/>
          </p:nvSpPr>
          <p:spPr>
            <a:xfrm>
              <a:off x="1247" y="2251"/>
              <a:ext cx="433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7" name="Rectangle 15"/>
            <p:cNvSpPr/>
            <p:nvPr/>
          </p:nvSpPr>
          <p:spPr>
            <a:xfrm>
              <a:off x="3016" y="2115"/>
              <a:ext cx="181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(letter|digit)</a:t>
              </a:r>
              <a:r>
                <a:rPr lang="en-US" altLang="zh-CN" sz="2800" baseline="300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8" name="Group 16"/>
            <p:cNvGrpSpPr/>
            <p:nvPr/>
          </p:nvGrpSpPr>
          <p:grpSpPr>
            <a:xfrm>
              <a:off x="4876" y="2205"/>
              <a:ext cx="494" cy="336"/>
              <a:chOff x="2208" y="2832"/>
              <a:chExt cx="480" cy="432"/>
            </a:xfrm>
          </p:grpSpPr>
          <p:sp>
            <p:nvSpPr>
              <p:cNvPr id="19" name="Oval 17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sz="1600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20" name="Oval 18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28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1" name="Line 19"/>
            <p:cNvSpPr/>
            <p:nvPr/>
          </p:nvSpPr>
          <p:spPr>
            <a:xfrm>
              <a:off x="975" y="2387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" name="Line 20"/>
            <p:cNvSpPr/>
            <p:nvPr/>
          </p:nvSpPr>
          <p:spPr>
            <a:xfrm>
              <a:off x="1679" y="2429"/>
              <a:ext cx="912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3" name="Rectangle 21"/>
            <p:cNvSpPr/>
            <p:nvPr/>
          </p:nvSpPr>
          <p:spPr>
            <a:xfrm>
              <a:off x="1791" y="2205"/>
              <a:ext cx="62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Oval 22"/>
            <p:cNvSpPr/>
            <p:nvPr/>
          </p:nvSpPr>
          <p:spPr>
            <a:xfrm>
              <a:off x="2517" y="2251"/>
              <a:ext cx="451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28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5" name="Line 23"/>
            <p:cNvSpPr/>
            <p:nvPr/>
          </p:nvSpPr>
          <p:spPr>
            <a:xfrm>
              <a:off x="2950" y="2418"/>
              <a:ext cx="1971" cy="14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6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420370" y="276860"/>
            <a:ext cx="865886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.1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N</a:t>
            </a:r>
            <a:r>
              <a:rPr lang="en-US" altLang="zh-CN" sz="3200">
                <a:sym typeface="+mn-ea"/>
              </a:rPr>
              <a:t>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29" name="Group 37"/>
          <p:cNvGrpSpPr/>
          <p:nvPr/>
        </p:nvGrpSpPr>
        <p:grpSpPr>
          <a:xfrm>
            <a:off x="2133918" y="3553460"/>
            <a:ext cx="7708900" cy="1185863"/>
            <a:chOff x="383" y="391"/>
            <a:chExt cx="4269" cy="747"/>
          </a:xfrm>
        </p:grpSpPr>
        <p:sp>
          <p:nvSpPr>
            <p:cNvPr id="30" name="Rectangle 2"/>
            <p:cNvSpPr/>
            <p:nvPr/>
          </p:nvSpPr>
          <p:spPr>
            <a:xfrm>
              <a:off x="383" y="866"/>
              <a:ext cx="28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（3）</a:t>
              </a:r>
              <a:endParaRPr lang="en-US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1" name="Oval 3"/>
            <p:cNvSpPr/>
            <p:nvPr/>
          </p:nvSpPr>
          <p:spPr>
            <a:xfrm>
              <a:off x="1190" y="80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" name="Rectangle 4"/>
            <p:cNvSpPr/>
            <p:nvPr/>
          </p:nvSpPr>
          <p:spPr>
            <a:xfrm>
              <a:off x="2925" y="391"/>
              <a:ext cx="1200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(letter|digit)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3" name="Group 5"/>
            <p:cNvGrpSpPr/>
            <p:nvPr/>
          </p:nvGrpSpPr>
          <p:grpSpPr>
            <a:xfrm>
              <a:off x="4286" y="799"/>
              <a:ext cx="366" cy="336"/>
              <a:chOff x="2208" y="2832"/>
              <a:chExt cx="480" cy="432"/>
            </a:xfrm>
          </p:grpSpPr>
          <p:sp>
            <p:nvSpPr>
              <p:cNvPr id="34" name="Oval 6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sz="1600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35" name="Oval 7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1</a:t>
                </a:r>
                <a:endParaRPr lang="zh-CN" altLang="en-US" sz="28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6" name="Line 8"/>
            <p:cNvSpPr/>
            <p:nvPr/>
          </p:nvSpPr>
          <p:spPr>
            <a:xfrm>
              <a:off x="885" y="970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7" name="Line 9"/>
            <p:cNvSpPr/>
            <p:nvPr/>
          </p:nvSpPr>
          <p:spPr>
            <a:xfrm>
              <a:off x="1543" y="978"/>
              <a:ext cx="80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8" name="Rectangle 10"/>
            <p:cNvSpPr/>
            <p:nvPr/>
          </p:nvSpPr>
          <p:spPr>
            <a:xfrm>
              <a:off x="1655" y="754"/>
              <a:ext cx="62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Oval 11"/>
            <p:cNvSpPr/>
            <p:nvPr/>
          </p:nvSpPr>
          <p:spPr>
            <a:xfrm>
              <a:off x="2351" y="80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28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0" name="Line 12"/>
            <p:cNvSpPr/>
            <p:nvPr/>
          </p:nvSpPr>
          <p:spPr>
            <a:xfrm flipV="1">
              <a:off x="2699" y="962"/>
              <a:ext cx="542" cy="19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" name="Line 13"/>
            <p:cNvSpPr/>
            <p:nvPr/>
          </p:nvSpPr>
          <p:spPr>
            <a:xfrm>
              <a:off x="3625" y="978"/>
              <a:ext cx="707" cy="3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" name="Rectangle 14"/>
            <p:cNvSpPr/>
            <p:nvPr/>
          </p:nvSpPr>
          <p:spPr>
            <a:xfrm>
              <a:off x="2835" y="663"/>
              <a:ext cx="28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" name="Rectangle 15"/>
            <p:cNvSpPr/>
            <p:nvPr/>
          </p:nvSpPr>
          <p:spPr>
            <a:xfrm>
              <a:off x="3878" y="799"/>
              <a:ext cx="202" cy="19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" name="Oval 16"/>
            <p:cNvSpPr/>
            <p:nvPr/>
          </p:nvSpPr>
          <p:spPr>
            <a:xfrm>
              <a:off x="3249" y="80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en-US" altLang="zh-CN" sz="2800" baseline="-25000" dirty="0">
                <a:solidFill>
                  <a:srgbClr val="FF0066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cxnSp>
          <p:nvCxnSpPr>
            <p:cNvPr id="45" name="AutoShape 17"/>
            <p:cNvCxnSpPr>
              <a:stCxn id="44" idx="1"/>
              <a:endCxn id="44" idx="7"/>
            </p:cNvCxnSpPr>
            <p:nvPr/>
          </p:nvCxnSpPr>
          <p:spPr>
            <a:xfrm rot="5400000" flipV="1">
              <a:off x="3427" y="723"/>
              <a:ext cx="1" cy="254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6" name="Group 38"/>
          <p:cNvGrpSpPr/>
          <p:nvPr/>
        </p:nvGrpSpPr>
        <p:grpSpPr>
          <a:xfrm>
            <a:off x="2054225" y="4734560"/>
            <a:ext cx="7656195" cy="1460500"/>
            <a:chOff x="382" y="1434"/>
            <a:chExt cx="3654" cy="920"/>
          </a:xfrm>
        </p:grpSpPr>
        <p:sp>
          <p:nvSpPr>
            <p:cNvPr id="47" name="Rectangle 18"/>
            <p:cNvSpPr/>
            <p:nvPr/>
          </p:nvSpPr>
          <p:spPr>
            <a:xfrm>
              <a:off x="382" y="1802"/>
              <a:ext cx="28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（4）</a:t>
              </a:r>
              <a:endParaRPr lang="en-US" altLang="zh-CN" sz="28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48" name="Group 19"/>
            <p:cNvGrpSpPr/>
            <p:nvPr/>
          </p:nvGrpSpPr>
          <p:grpSpPr>
            <a:xfrm>
              <a:off x="884" y="1434"/>
              <a:ext cx="3152" cy="920"/>
              <a:chOff x="1142" y="3192"/>
              <a:chExt cx="3152" cy="920"/>
            </a:xfrm>
          </p:grpSpPr>
          <p:sp>
            <p:nvSpPr>
              <p:cNvPr id="49" name="Oval 20"/>
              <p:cNvSpPr/>
              <p:nvPr/>
            </p:nvSpPr>
            <p:spPr>
              <a:xfrm>
                <a:off x="1447" y="3496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en-US" altLang="zh-CN" sz="28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0" name="Rectangle 21"/>
              <p:cNvSpPr/>
              <p:nvPr/>
            </p:nvSpPr>
            <p:spPr>
              <a:xfrm>
                <a:off x="3144" y="3192"/>
                <a:ext cx="60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</a:t>
                </a:r>
                <a:endParaRPr lang="en-US" altLang="zh-CN" sz="28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1" name="Group 22"/>
              <p:cNvGrpSpPr/>
              <p:nvPr/>
            </p:nvGrpSpPr>
            <p:grpSpPr>
              <a:xfrm>
                <a:off x="3928" y="3512"/>
                <a:ext cx="366" cy="336"/>
                <a:chOff x="2208" y="2832"/>
                <a:chExt cx="480" cy="432"/>
              </a:xfrm>
            </p:grpSpPr>
            <p:sp>
              <p:nvSpPr>
                <p:cNvPr id="52" name="Oval 23"/>
                <p:cNvSpPr/>
                <p:nvPr/>
              </p:nvSpPr>
              <p:spPr>
                <a:xfrm>
                  <a:off x="2208" y="2832"/>
                  <a:ext cx="480" cy="432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sz="16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53" name="Oval 24"/>
                <p:cNvSpPr/>
                <p:nvPr/>
              </p:nvSpPr>
              <p:spPr>
                <a:xfrm>
                  <a:off x="2304" y="2928"/>
                  <a:ext cx="288" cy="24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zh-CN" altLang="en-US" sz="2800" dirty="0">
                      <a:solidFill>
                        <a:srgbClr val="030305"/>
                      </a:solidFill>
                      <a:latin typeface="宋体" panose="02010600030101010101" pitchFamily="2" charset="-122"/>
                    </a:rPr>
                    <a:t>1</a:t>
                  </a:r>
                  <a:endParaRPr lang="zh-CN" altLang="en-US" sz="2800" dirty="0">
                    <a:solidFill>
                      <a:srgbClr val="030305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54" name="Line 25"/>
              <p:cNvSpPr/>
              <p:nvPr/>
            </p:nvSpPr>
            <p:spPr>
              <a:xfrm>
                <a:off x="1142" y="3664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5" name="Line 26"/>
              <p:cNvSpPr/>
              <p:nvPr/>
            </p:nvSpPr>
            <p:spPr>
              <a:xfrm>
                <a:off x="1800" y="3672"/>
                <a:ext cx="800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6" name="Rectangle 27"/>
              <p:cNvSpPr/>
              <p:nvPr/>
            </p:nvSpPr>
            <p:spPr>
              <a:xfrm>
                <a:off x="1912" y="3448"/>
                <a:ext cx="624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</a:t>
                </a:r>
                <a:endParaRPr lang="en-US" altLang="zh-CN" sz="28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" name="Oval 28"/>
              <p:cNvSpPr/>
              <p:nvPr/>
            </p:nvSpPr>
            <p:spPr>
              <a:xfrm>
                <a:off x="2608" y="3496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FF0066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sz="28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8" name="Line 29"/>
              <p:cNvSpPr/>
              <p:nvPr/>
            </p:nvSpPr>
            <p:spPr>
              <a:xfrm>
                <a:off x="2968" y="3672"/>
                <a:ext cx="304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9" name="Line 30"/>
              <p:cNvSpPr/>
              <p:nvPr/>
            </p:nvSpPr>
            <p:spPr>
              <a:xfrm>
                <a:off x="3656" y="3688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60" name="Rectangle 31"/>
              <p:cNvSpPr/>
              <p:nvPr/>
            </p:nvSpPr>
            <p:spPr>
              <a:xfrm>
                <a:off x="3080" y="3480"/>
                <a:ext cx="75" cy="1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1" name="Rectangle 32"/>
              <p:cNvSpPr/>
              <p:nvPr/>
            </p:nvSpPr>
            <p:spPr>
              <a:xfrm>
                <a:off x="3752" y="3496"/>
                <a:ext cx="75" cy="1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zh-CN" sz="28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zh-CN" sz="28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2" name="Oval 33"/>
              <p:cNvSpPr/>
              <p:nvPr/>
            </p:nvSpPr>
            <p:spPr>
              <a:xfrm>
                <a:off x="3280" y="3512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FF0066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3</a:t>
                </a:r>
                <a:endParaRPr lang="en-US" altLang="zh-CN" sz="2800" baseline="-25000" dirty="0">
                  <a:solidFill>
                    <a:srgbClr val="FF0066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cxnSp>
            <p:nvCxnSpPr>
              <p:cNvPr id="63" name="AutoShape 34"/>
              <p:cNvCxnSpPr>
                <a:stCxn id="62" idx="1"/>
                <a:endCxn id="62" idx="7"/>
              </p:cNvCxnSpPr>
              <p:nvPr/>
            </p:nvCxnSpPr>
            <p:spPr>
              <a:xfrm rot="5400000" flipV="1">
                <a:off x="3458" y="3433"/>
                <a:ext cx="1" cy="254"/>
              </a:xfrm>
              <a:prstGeom prst="curvedConnector3">
                <a:avLst>
                  <a:gd name="adj1" fmla="val -193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4" name="AutoShape 35"/>
              <p:cNvCxnSpPr>
                <a:stCxn id="62" idx="3"/>
                <a:endCxn id="62" idx="5"/>
              </p:cNvCxnSpPr>
              <p:nvPr/>
            </p:nvCxnSpPr>
            <p:spPr>
              <a:xfrm rot="-5400000" flipH="1">
                <a:off x="3458" y="3671"/>
                <a:ext cx="1" cy="254"/>
              </a:xfrm>
              <a:prstGeom prst="curvedConnector3">
                <a:avLst>
                  <a:gd name="adj1" fmla="val 193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5" name="Rectangle 36"/>
              <p:cNvSpPr/>
              <p:nvPr/>
            </p:nvSpPr>
            <p:spPr>
              <a:xfrm>
                <a:off x="3200" y="3904"/>
                <a:ext cx="528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8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digit</a:t>
                </a:r>
                <a:endParaRPr lang="en-US" altLang="zh-CN" sz="28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74015" y="276860"/>
            <a:ext cx="8705215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6019" name="Rectangle 3"/>
          <p:cNvSpPr>
            <a:spLocks noGrp="1"/>
          </p:cNvSpPr>
          <p:nvPr/>
        </p:nvSpPr>
        <p:spPr>
          <a:xfrm>
            <a:off x="373380" y="1196975"/>
            <a:ext cx="9675495" cy="1871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2.4.1 从正规表达式到</a:t>
            </a:r>
            <a:r>
              <a:rPr lang="en-US" altLang="zh-CN" dirty="0">
                <a:solidFill>
                  <a:srgbClr val="030305"/>
                </a:solidFill>
              </a:rPr>
              <a:t>NFA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2.4.2  从</a:t>
            </a:r>
            <a:r>
              <a:rPr lang="en-US" altLang="zh-CN" dirty="0">
                <a:solidFill>
                  <a:srgbClr val="030305"/>
                </a:solidFill>
              </a:rPr>
              <a:t>NFA</a:t>
            </a:r>
            <a:r>
              <a:rPr lang="zh-CN" altLang="en-US" dirty="0">
                <a:solidFill>
                  <a:srgbClr val="030305"/>
                </a:solidFill>
              </a:rPr>
              <a:t> 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30305"/>
                </a:solidFill>
              </a:rPr>
              <a:t>2.4.3  将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r>
              <a:rPr lang="zh-CN" altLang="en-US" dirty="0">
                <a:solidFill>
                  <a:srgbClr val="030305"/>
                </a:solidFill>
              </a:rPr>
              <a:t>中的状态数最小化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02760" name="Rectangle 8"/>
          <p:cNvSpPr>
            <a:spLocks noGrp="1"/>
          </p:cNvSpPr>
          <p:nvPr/>
        </p:nvSpPr>
        <p:spPr>
          <a:xfrm>
            <a:off x="394335" y="1167130"/>
            <a:ext cx="11430000" cy="27666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</a:rPr>
              <a:t>对任一</a:t>
            </a:r>
            <a:r>
              <a:rPr lang="en-US" altLang="zh-CN" sz="2800" dirty="0">
                <a:solidFill>
                  <a:srgbClr val="030305"/>
                </a:solidFill>
                <a:hlinkClick r:id="rId1" action="ppaction://hlinksldjump"/>
              </a:rPr>
              <a:t>NFA M</a:t>
            </a:r>
            <a:r>
              <a:rPr lang="en-US" altLang="zh-CN" sz="2800" dirty="0">
                <a:solidFill>
                  <a:srgbClr val="030305"/>
                </a:solidFill>
              </a:rPr>
              <a:t>，</a:t>
            </a:r>
            <a:r>
              <a:rPr lang="zh-CN" altLang="en-US" sz="2800" dirty="0">
                <a:solidFill>
                  <a:srgbClr val="030305"/>
                </a:solidFill>
              </a:rPr>
              <a:t>总可构造一个</a:t>
            </a:r>
            <a:r>
              <a:rPr lang="en-US" altLang="zh-CN" sz="2800" dirty="0">
                <a:solidFill>
                  <a:srgbClr val="030305"/>
                </a:solidFill>
              </a:rPr>
              <a:t>DFA M’，</a:t>
            </a:r>
            <a:r>
              <a:rPr lang="zh-CN" altLang="en-US" sz="2800" dirty="0">
                <a:solidFill>
                  <a:srgbClr val="030305"/>
                </a:solidFill>
              </a:rPr>
              <a:t>使 </a:t>
            </a:r>
            <a:r>
              <a:rPr lang="en-US" altLang="zh-CN" sz="2800" dirty="0">
                <a:solidFill>
                  <a:srgbClr val="030305"/>
                </a:solidFill>
              </a:rPr>
              <a:t>L(M’)=L(M)</a:t>
            </a:r>
            <a:r>
              <a:rPr lang="zh-CN" altLang="en-US" sz="2800" dirty="0">
                <a:solidFill>
                  <a:srgbClr val="030305"/>
                </a:solidFill>
              </a:rPr>
              <a:t>成立，这就是</a:t>
            </a:r>
            <a:r>
              <a:rPr lang="en-US" altLang="zh-CN" sz="2800" dirty="0">
                <a:solidFill>
                  <a:srgbClr val="030305"/>
                </a:solidFill>
              </a:rPr>
              <a:t>NFA</a:t>
            </a:r>
            <a:r>
              <a:rPr lang="zh-CN" altLang="en-US" sz="2800" dirty="0">
                <a:solidFill>
                  <a:srgbClr val="030305"/>
                </a:solidFill>
              </a:rPr>
              <a:t>与</a:t>
            </a:r>
            <a:r>
              <a:rPr lang="en-US" altLang="zh-CN" sz="2800" dirty="0">
                <a:solidFill>
                  <a:srgbClr val="030305"/>
                </a:solidFill>
              </a:rPr>
              <a:t>DFA</a:t>
            </a:r>
            <a:r>
              <a:rPr lang="zh-CN" altLang="en-US" sz="2800" dirty="0">
                <a:solidFill>
                  <a:srgbClr val="030305"/>
                </a:solidFill>
              </a:rPr>
              <a:t>的等价性。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66"/>
                </a:solidFill>
              </a:rPr>
              <a:t>定理</a:t>
            </a:r>
            <a:r>
              <a:rPr lang="zh-CN" altLang="en-US" sz="2800" dirty="0">
                <a:solidFill>
                  <a:srgbClr val="030305"/>
                </a:solidFill>
              </a:rPr>
              <a:t> 对于字母表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上的任一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NFA M，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必存在与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等价的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DFA M’ (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即有 </a:t>
            </a:r>
            <a:r>
              <a:rPr lang="en-US" altLang="zh-CN" sz="2800" dirty="0">
                <a:solidFill>
                  <a:srgbClr val="030305"/>
                </a:solidFill>
              </a:rPr>
              <a:t>L(M’)=L(M) </a:t>
            </a:r>
            <a:r>
              <a:rPr lang="zh-CN" altLang="en-US" sz="2800" dirty="0">
                <a:solidFill>
                  <a:srgbClr val="030305"/>
                </a:solidFill>
              </a:rPr>
              <a:t>成立)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 。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在给出具体的构造算法之前先引入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状态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和状态集合</a:t>
            </a:r>
            <a:r>
              <a:rPr lang="en-US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zh-CN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-闭包的概念：</a:t>
            </a:r>
            <a:endParaRPr lang="zh-CN" altLang="en-US" sz="2800" dirty="0">
              <a:solidFill>
                <a:srgbClr val="FF0066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17507" name="Rectangle 3"/>
          <p:cNvSpPr>
            <a:spLocks noGrp="1"/>
          </p:cNvSpPr>
          <p:nvPr/>
        </p:nvSpPr>
        <p:spPr>
          <a:xfrm>
            <a:off x="411480" y="4338320"/>
            <a:ext cx="11506835" cy="25196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状态</a:t>
            </a:r>
            <a:r>
              <a:rPr lang="en-US" altLang="zh-CN" sz="2800" dirty="0">
                <a:solidFill>
                  <a:srgbClr val="FF0066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的</a:t>
            </a:r>
            <a:r>
              <a:rPr lang="zh-CN" altLang="zh-CN" sz="2800" dirty="0">
                <a:solidFill>
                  <a:srgbClr val="FF0066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-闭包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：定义为从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出发经过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sym typeface="Symbol" panose="05050102010706020507" pitchFamily="18" charset="2"/>
              </a:rPr>
              <a:t>零个或多个</a:t>
            </a:r>
            <a:r>
              <a:rPr lang="zh-CN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-转换</a:t>
            </a:r>
            <a:r>
              <a:rPr lang="zh-CN" altLang="en-US" sz="2800" dirty="0">
                <a:solidFill>
                  <a:srgbClr val="3333FF"/>
                </a:solidFill>
                <a:sym typeface="Symbol" panose="05050102010706020507" pitchFamily="18" charset="2"/>
              </a:rPr>
              <a:t>能达到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的状态的集合，并将这个集合记为     ；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状态集合</a:t>
            </a:r>
            <a:r>
              <a:rPr lang="en-US" altLang="zh-CN" sz="2800" dirty="0">
                <a:solidFill>
                  <a:srgbClr val="FF0066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的</a:t>
            </a:r>
            <a:r>
              <a:rPr lang="zh-CN" altLang="zh-CN" sz="2800" dirty="0">
                <a:solidFill>
                  <a:srgbClr val="FF0066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rgbClr val="FF0066"/>
                </a:solidFill>
                <a:sym typeface="Symbol" panose="05050102010706020507" pitchFamily="18" charset="2"/>
              </a:rPr>
              <a:t>-闭包: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定义为</a:t>
            </a:r>
            <a:r>
              <a:rPr lang="en-US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S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中各个状态的</a:t>
            </a:r>
            <a:r>
              <a:rPr lang="zh-CN" altLang="zh-CN" sz="2800" dirty="0">
                <a:solidFill>
                  <a:srgbClr val="030305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solidFill>
                  <a:srgbClr val="030305"/>
                </a:solidFill>
                <a:sym typeface="Symbol" panose="05050102010706020507" pitchFamily="18" charset="2"/>
              </a:rPr>
              <a:t>-闭包的并集。</a:t>
            </a:r>
            <a:endParaRPr lang="zh-CN" altLang="en-US" sz="2800" dirty="0">
              <a:solidFill>
                <a:srgbClr val="030305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02760">
                                            <p:txEl>
                                              <p:charRg st="53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>
                                            <p:txEl>
                                              <p:charRg st="108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02760">
                                            <p:txEl>
                                              <p:charRg st="108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917507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7">
                                            <p:txEl>
                                              <p:charRg st="5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17507">
                                            <p:txEl>
                                              <p:charRg st="5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50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/>
          <p:nvPr/>
        </p:nvGrpSpPr>
        <p:grpSpPr>
          <a:xfrm>
            <a:off x="2590800" y="1831975"/>
            <a:ext cx="5003800" cy="1481138"/>
            <a:chOff x="934" y="2144"/>
            <a:chExt cx="3152" cy="933"/>
          </a:xfrm>
        </p:grpSpPr>
        <p:sp>
          <p:nvSpPr>
            <p:cNvPr id="89091" name="Oval 3"/>
            <p:cNvSpPr/>
            <p:nvPr/>
          </p:nvSpPr>
          <p:spPr>
            <a:xfrm>
              <a:off x="1239" y="243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89092" name="Group 4"/>
            <p:cNvGrpSpPr/>
            <p:nvPr/>
          </p:nvGrpSpPr>
          <p:grpSpPr>
            <a:xfrm>
              <a:off x="3720" y="2448"/>
              <a:ext cx="366" cy="336"/>
              <a:chOff x="2208" y="2832"/>
              <a:chExt cx="480" cy="432"/>
            </a:xfrm>
          </p:grpSpPr>
          <p:sp>
            <p:nvSpPr>
              <p:cNvPr id="89093" name="Oval 5"/>
              <p:cNvSpPr/>
              <p:nvPr/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89094" name="Oval 6"/>
              <p:cNvSpPr/>
              <p:nvPr/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4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89095" name="Line 7"/>
            <p:cNvSpPr/>
            <p:nvPr/>
          </p:nvSpPr>
          <p:spPr>
            <a:xfrm>
              <a:off x="934" y="2600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096" name="Line 8"/>
            <p:cNvSpPr/>
            <p:nvPr/>
          </p:nvSpPr>
          <p:spPr>
            <a:xfrm>
              <a:off x="1592" y="2608"/>
              <a:ext cx="52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097" name="Oval 9"/>
            <p:cNvSpPr/>
            <p:nvPr/>
          </p:nvSpPr>
          <p:spPr>
            <a:xfrm>
              <a:off x="2112" y="2448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9098" name="Line 10"/>
            <p:cNvSpPr/>
            <p:nvPr/>
          </p:nvSpPr>
          <p:spPr>
            <a:xfrm>
              <a:off x="3448" y="2624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099" name="Rectangle 11"/>
            <p:cNvSpPr/>
            <p:nvPr/>
          </p:nvSpPr>
          <p:spPr>
            <a:xfrm>
              <a:off x="2736" y="2400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9100" name="Rectangle 12"/>
            <p:cNvSpPr/>
            <p:nvPr/>
          </p:nvSpPr>
          <p:spPr>
            <a:xfrm>
              <a:off x="3544" y="2432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9101" name="Oval 13"/>
            <p:cNvSpPr/>
            <p:nvPr/>
          </p:nvSpPr>
          <p:spPr>
            <a:xfrm>
              <a:off x="3072" y="2448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9102" name="Rectangle 14"/>
            <p:cNvSpPr/>
            <p:nvPr/>
          </p:nvSpPr>
          <p:spPr>
            <a:xfrm>
              <a:off x="1832" y="2368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9103" name="Line 15"/>
            <p:cNvSpPr/>
            <p:nvPr/>
          </p:nvSpPr>
          <p:spPr>
            <a:xfrm>
              <a:off x="2496" y="2640"/>
              <a:ext cx="57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cxnSp>
          <p:nvCxnSpPr>
            <p:cNvPr id="89104" name="AutoShape 16"/>
            <p:cNvCxnSpPr>
              <a:stCxn id="89101" idx="0"/>
              <a:endCxn id="89097" idx="0"/>
            </p:cNvCxnSpPr>
            <p:nvPr/>
          </p:nvCxnSpPr>
          <p:spPr>
            <a:xfrm rot="-5400000" flipH="1" flipV="1">
              <a:off x="2770" y="1967"/>
              <a:ext cx="1" cy="960"/>
            </a:xfrm>
            <a:prstGeom prst="curvedConnector3">
              <a:avLst>
                <a:gd name="adj1" fmla="val -14400005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105" name="Rectangle 17"/>
            <p:cNvSpPr/>
            <p:nvPr/>
          </p:nvSpPr>
          <p:spPr>
            <a:xfrm>
              <a:off x="2736" y="2144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cxnSp>
          <p:nvCxnSpPr>
            <p:cNvPr id="89106" name="AutoShape 18"/>
            <p:cNvCxnSpPr>
              <a:stCxn id="89091" idx="4"/>
              <a:endCxn id="89093" idx="4"/>
            </p:cNvCxnSpPr>
            <p:nvPr/>
          </p:nvCxnSpPr>
          <p:spPr>
            <a:xfrm rot="-5400000" flipH="1">
              <a:off x="2653" y="1534"/>
              <a:ext cx="16" cy="2484"/>
            </a:xfrm>
            <a:prstGeom prst="curvedConnector3">
              <a:avLst>
                <a:gd name="adj1" fmla="val 1000000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107" name="Rectangle 19"/>
            <p:cNvSpPr/>
            <p:nvPr/>
          </p:nvSpPr>
          <p:spPr>
            <a:xfrm>
              <a:off x="2544" y="2928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03796" name="Rectangle 20"/>
          <p:cNvSpPr/>
          <p:nvPr/>
        </p:nvSpPr>
        <p:spPr>
          <a:xfrm>
            <a:off x="2779713" y="3362325"/>
            <a:ext cx="2016125" cy="584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={1,2,4}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89109" name="Group 33"/>
          <p:cNvGrpSpPr/>
          <p:nvPr/>
        </p:nvGrpSpPr>
        <p:grpSpPr>
          <a:xfrm>
            <a:off x="2490788" y="3430588"/>
            <a:ext cx="381000" cy="376237"/>
            <a:chOff x="657" y="2251"/>
            <a:chExt cx="240" cy="237"/>
          </a:xfrm>
        </p:grpSpPr>
        <p:sp>
          <p:nvSpPr>
            <p:cNvPr id="89110" name="Rectangle 21"/>
            <p:cNvSpPr/>
            <p:nvPr/>
          </p:nvSpPr>
          <p:spPr>
            <a:xfrm>
              <a:off x="657" y="2296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111" name="Rectangle 22"/>
            <p:cNvSpPr/>
            <p:nvPr/>
          </p:nvSpPr>
          <p:spPr>
            <a:xfrm>
              <a:off x="657" y="2251"/>
              <a:ext cx="240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03799" name="Rectangle 23"/>
          <p:cNvSpPr/>
          <p:nvPr/>
        </p:nvSpPr>
        <p:spPr>
          <a:xfrm>
            <a:off x="5803900" y="3506788"/>
            <a:ext cx="1655763" cy="5000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={2}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89113" name="Group 34"/>
          <p:cNvGrpSpPr/>
          <p:nvPr/>
        </p:nvGrpSpPr>
        <p:grpSpPr>
          <a:xfrm>
            <a:off x="5803900" y="3506788"/>
            <a:ext cx="381000" cy="355600"/>
            <a:chOff x="2744" y="2296"/>
            <a:chExt cx="240" cy="224"/>
          </a:xfrm>
        </p:grpSpPr>
        <p:sp>
          <p:nvSpPr>
            <p:cNvPr id="89114" name="Rectangle 24"/>
            <p:cNvSpPr/>
            <p:nvPr/>
          </p:nvSpPr>
          <p:spPr>
            <a:xfrm>
              <a:off x="2744" y="2328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115" name="Rectangle 25"/>
            <p:cNvSpPr/>
            <p:nvPr/>
          </p:nvSpPr>
          <p:spPr>
            <a:xfrm>
              <a:off x="2744" y="2296"/>
              <a:ext cx="240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03802" name="Rectangle 26"/>
          <p:cNvSpPr/>
          <p:nvPr/>
        </p:nvSpPr>
        <p:spPr>
          <a:xfrm>
            <a:off x="2851150" y="4298950"/>
            <a:ext cx="203358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={3,2,4}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89117" name="Group 35"/>
          <p:cNvGrpSpPr/>
          <p:nvPr/>
        </p:nvGrpSpPr>
        <p:grpSpPr>
          <a:xfrm>
            <a:off x="2436813" y="4151313"/>
            <a:ext cx="565150" cy="388937"/>
            <a:chOff x="623" y="2702"/>
            <a:chExt cx="356" cy="245"/>
          </a:xfrm>
        </p:grpSpPr>
        <p:sp useBgFill="1">
          <p:nvSpPr>
            <p:cNvPr id="89118" name="Rectangle 27"/>
            <p:cNvSpPr/>
            <p:nvPr/>
          </p:nvSpPr>
          <p:spPr>
            <a:xfrm>
              <a:off x="623" y="2755"/>
              <a:ext cx="356" cy="19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 useBgFill="1">
          <p:nvSpPr>
            <p:cNvPr id="89119" name="Rectangle 28"/>
            <p:cNvSpPr/>
            <p:nvPr/>
          </p:nvSpPr>
          <p:spPr>
            <a:xfrm>
              <a:off x="623" y="2702"/>
              <a:ext cx="356" cy="48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03805" name="Rectangle 29"/>
          <p:cNvSpPr/>
          <p:nvPr/>
        </p:nvSpPr>
        <p:spPr>
          <a:xfrm>
            <a:off x="6019800" y="4227513"/>
            <a:ext cx="1160463" cy="45243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/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={4}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89121" name="Group 36"/>
          <p:cNvGrpSpPr/>
          <p:nvPr/>
        </p:nvGrpSpPr>
        <p:grpSpPr>
          <a:xfrm>
            <a:off x="5740400" y="4146550"/>
            <a:ext cx="381000" cy="469900"/>
            <a:chOff x="2704" y="2699"/>
            <a:chExt cx="240" cy="296"/>
          </a:xfrm>
        </p:grpSpPr>
        <p:sp>
          <p:nvSpPr>
            <p:cNvPr id="89122" name="Rectangle 30"/>
            <p:cNvSpPr/>
            <p:nvPr/>
          </p:nvSpPr>
          <p:spPr>
            <a:xfrm>
              <a:off x="2704" y="2704"/>
              <a:ext cx="24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4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123" name="Rectangle 31"/>
            <p:cNvSpPr/>
            <p:nvPr/>
          </p:nvSpPr>
          <p:spPr>
            <a:xfrm>
              <a:off x="2704" y="2699"/>
              <a:ext cx="240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0366" name="Rectangle 32"/>
          <p:cNvSpPr>
            <a:spLocks noChangeArrowheads="1"/>
          </p:cNvSpPr>
          <p:nvPr/>
        </p:nvSpPr>
        <p:spPr bwMode="auto">
          <a:xfrm>
            <a:off x="462280" y="1297305"/>
            <a:ext cx="95631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求下列状态机中状态1、2、3、4的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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Symbol" panose="05050102010706020507" pitchFamily="18" charset="2"/>
              </a:rPr>
              <a:t>-闭包。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Symbol" panose="05050102010706020507" pitchFamily="18" charset="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0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0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0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0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96" grpId="0"/>
      <p:bldP spid="203799" grpId="0"/>
      <p:bldP spid="203802" grpId="0"/>
      <p:bldP spid="20380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/>
          </p:cNvSpPr>
          <p:nvPr/>
        </p:nvSpPr>
        <p:spPr>
          <a:xfrm>
            <a:off x="462280" y="1257935"/>
            <a:ext cx="11087100" cy="1081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从给定的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NFA M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构造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DFA  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的原理是：尝试所有的可能路径，避免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NFA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的回溯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030305"/>
                </a:solidFill>
                <a:latin typeface="Courier New" panose="02070309020205020404" pitchFamily="49" charset="0"/>
                <a:sym typeface="Symbol" panose="05050102010706020507" pitchFamily="18" charset="2"/>
                <a:hlinkClick r:id="rId1" action="ppaction://hlinksldjump"/>
              </a:rPr>
              <a:t>…</a:t>
            </a:r>
            <a:r>
              <a:rPr lang="en-US" altLang="zh-CN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90115" name="Group 3"/>
          <p:cNvGrpSpPr/>
          <p:nvPr/>
        </p:nvGrpSpPr>
        <p:grpSpPr>
          <a:xfrm>
            <a:off x="4307958" y="1341775"/>
            <a:ext cx="639763" cy="352723"/>
            <a:chOff x="2745" y="906"/>
            <a:chExt cx="398" cy="240"/>
          </a:xfrm>
        </p:grpSpPr>
        <p:sp>
          <p:nvSpPr>
            <p:cNvPr id="90116" name="Rectangle 4"/>
            <p:cNvSpPr/>
            <p:nvPr/>
          </p:nvSpPr>
          <p:spPr>
            <a:xfrm>
              <a:off x="2745" y="954"/>
              <a:ext cx="39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117" name="Rectangle 5"/>
            <p:cNvSpPr/>
            <p:nvPr/>
          </p:nvSpPr>
          <p:spPr>
            <a:xfrm>
              <a:off x="2745" y="906"/>
              <a:ext cx="398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90118" name="Rectangle 7"/>
          <p:cNvSpPr/>
          <p:nvPr/>
        </p:nvSpPr>
        <p:spPr>
          <a:xfrm>
            <a:off x="665480" y="2482215"/>
            <a:ext cx="10549890" cy="10998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457200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已知 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		 </a:t>
            </a:r>
            <a:r>
              <a:rPr lang="en-US" altLang="zh-CN" sz="32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NFA M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=(S；；T；s</a:t>
            </a:r>
            <a:r>
              <a:rPr lang="en-US" altLang="zh-CN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；A )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342900" indent="457200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设构造的与之等价的</a:t>
            </a:r>
            <a:endParaRPr lang="zh-CN" altLang="en-US" sz="3200" dirty="0">
              <a:solidFill>
                <a:srgbClr val="030305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>
              <a:spcBef>
                <a:spcPct val="20000"/>
              </a:spcBef>
              <a:buSzPct val="90000"/>
            </a:pPr>
            <a:endParaRPr lang="en-US" altLang="zh-CN" sz="3200" dirty="0">
              <a:solidFill>
                <a:srgbClr val="030305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90119" name="Group 37"/>
          <p:cNvGrpSpPr/>
          <p:nvPr/>
        </p:nvGrpSpPr>
        <p:grpSpPr>
          <a:xfrm>
            <a:off x="3344863" y="3905886"/>
            <a:ext cx="4673600" cy="590550"/>
            <a:chOff x="1373" y="2420"/>
            <a:chExt cx="2944" cy="372"/>
          </a:xfrm>
        </p:grpSpPr>
        <p:grpSp>
          <p:nvGrpSpPr>
            <p:cNvPr id="90120" name="Group 8"/>
            <p:cNvGrpSpPr/>
            <p:nvPr/>
          </p:nvGrpSpPr>
          <p:grpSpPr>
            <a:xfrm>
              <a:off x="1844" y="2421"/>
              <a:ext cx="305" cy="302"/>
              <a:chOff x="2381" y="2606"/>
              <a:chExt cx="264" cy="245"/>
            </a:xfrm>
          </p:grpSpPr>
          <p:sp>
            <p:nvSpPr>
              <p:cNvPr id="90121" name="Rectangle 9"/>
              <p:cNvSpPr/>
              <p:nvPr/>
            </p:nvSpPr>
            <p:spPr>
              <a:xfrm>
                <a:off x="2381" y="2659"/>
                <a:ext cx="26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3333FF"/>
                    </a:solidFill>
                    <a:latin typeface="宋体" panose="02010600030101010101" pitchFamily="2" charset="-122"/>
                  </a:rPr>
                  <a:t>M</a:t>
                </a:r>
                <a:endParaRPr lang="en-US" altLang="zh-CN" sz="3200" dirty="0">
                  <a:solidFill>
                    <a:srgbClr val="3333FF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0122" name="Rectangle 10"/>
              <p:cNvSpPr/>
              <p:nvPr/>
            </p:nvSpPr>
            <p:spPr>
              <a:xfrm>
                <a:off x="2381" y="2606"/>
                <a:ext cx="264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3333FF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3333FF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90123" name="Rectangle 11"/>
            <p:cNvSpPr/>
            <p:nvPr/>
          </p:nvSpPr>
          <p:spPr>
            <a:xfrm>
              <a:off x="2158" y="2532"/>
              <a:ext cx="96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=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24" name="Rectangle 12"/>
            <p:cNvSpPr/>
            <p:nvPr/>
          </p:nvSpPr>
          <p:spPr>
            <a:xfrm>
              <a:off x="2230" y="2532"/>
              <a:ext cx="9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25" name="Rectangle 13"/>
            <p:cNvSpPr/>
            <p:nvPr/>
          </p:nvSpPr>
          <p:spPr>
            <a:xfrm>
              <a:off x="4221" y="2552"/>
              <a:ext cx="96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90126" name="Group 14"/>
            <p:cNvGrpSpPr/>
            <p:nvPr/>
          </p:nvGrpSpPr>
          <p:grpSpPr>
            <a:xfrm>
              <a:off x="2392" y="2451"/>
              <a:ext cx="305" cy="327"/>
              <a:chOff x="1984" y="3408"/>
              <a:chExt cx="240" cy="208"/>
            </a:xfrm>
          </p:grpSpPr>
          <p:sp>
            <p:nvSpPr>
              <p:cNvPr id="90127" name="Rectangle 15"/>
              <p:cNvSpPr/>
              <p:nvPr/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0128" name="Rectangle 16"/>
              <p:cNvSpPr/>
              <p:nvPr/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0129" name="Group 17"/>
            <p:cNvGrpSpPr/>
            <p:nvPr/>
          </p:nvGrpSpPr>
          <p:grpSpPr>
            <a:xfrm>
              <a:off x="3042" y="2451"/>
              <a:ext cx="305" cy="337"/>
              <a:chOff x="1984" y="3408"/>
              <a:chExt cx="240" cy="208"/>
            </a:xfrm>
          </p:grpSpPr>
          <p:sp>
            <p:nvSpPr>
              <p:cNvPr id="90130" name="Rectangle 18"/>
              <p:cNvSpPr/>
              <p:nvPr/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T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0131" name="Rectangle 19"/>
              <p:cNvSpPr/>
              <p:nvPr/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90132" name="Rectangle 20"/>
            <p:cNvSpPr/>
            <p:nvPr/>
          </p:nvSpPr>
          <p:spPr>
            <a:xfrm>
              <a:off x="3429" y="2512"/>
              <a:ext cx="305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33" name="Rectangle 21"/>
            <p:cNvSpPr/>
            <p:nvPr/>
          </p:nvSpPr>
          <p:spPr>
            <a:xfrm>
              <a:off x="3392" y="2493"/>
              <a:ext cx="305" cy="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134" name="Rectangle 22"/>
            <p:cNvSpPr/>
            <p:nvPr/>
          </p:nvSpPr>
          <p:spPr>
            <a:xfrm>
              <a:off x="2708" y="2424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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35" name="Rectangle 23"/>
            <p:cNvSpPr/>
            <p:nvPr/>
          </p:nvSpPr>
          <p:spPr>
            <a:xfrm>
              <a:off x="3846" y="2500"/>
              <a:ext cx="305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136" name="Rectangle 24"/>
            <p:cNvSpPr/>
            <p:nvPr/>
          </p:nvSpPr>
          <p:spPr>
            <a:xfrm>
              <a:off x="3846" y="2457"/>
              <a:ext cx="305" cy="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137" name="Rectangle 25"/>
            <p:cNvSpPr/>
            <p:nvPr/>
          </p:nvSpPr>
          <p:spPr>
            <a:xfrm>
              <a:off x="2734" y="2503"/>
              <a:ext cx="95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；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38" name="Rectangle 26"/>
            <p:cNvSpPr/>
            <p:nvPr/>
          </p:nvSpPr>
          <p:spPr>
            <a:xfrm>
              <a:off x="3030" y="2532"/>
              <a:ext cx="94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；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39" name="Rectangle 27"/>
            <p:cNvSpPr/>
            <p:nvPr/>
          </p:nvSpPr>
          <p:spPr>
            <a:xfrm>
              <a:off x="3368" y="2542"/>
              <a:ext cx="95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；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40" name="Rectangle 28"/>
            <p:cNvSpPr/>
            <p:nvPr/>
          </p:nvSpPr>
          <p:spPr>
            <a:xfrm>
              <a:off x="3855" y="2542"/>
              <a:ext cx="96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；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41" name="Rectangle 29"/>
            <p:cNvSpPr/>
            <p:nvPr/>
          </p:nvSpPr>
          <p:spPr>
            <a:xfrm>
              <a:off x="1373" y="2420"/>
              <a:ext cx="59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dirty="0">
                  <a:solidFill>
                    <a:srgbClr val="3333FF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DFA</a:t>
              </a:r>
              <a:endParaRPr lang="zh-CN" altLang="en-US" sz="32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0142" name="Group 30"/>
          <p:cNvGrpSpPr/>
          <p:nvPr/>
        </p:nvGrpSpPr>
        <p:grpSpPr>
          <a:xfrm>
            <a:off x="1700213" y="3955098"/>
            <a:ext cx="419100" cy="388937"/>
            <a:chOff x="2381" y="2606"/>
            <a:chExt cx="264" cy="245"/>
          </a:xfrm>
        </p:grpSpPr>
        <p:sp>
          <p:nvSpPr>
            <p:cNvPr id="90143" name="Rectangle 31"/>
            <p:cNvSpPr/>
            <p:nvPr/>
          </p:nvSpPr>
          <p:spPr>
            <a:xfrm>
              <a:off x="2381" y="2659"/>
              <a:ext cx="26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3333FF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3200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144" name="Rectangle 32"/>
            <p:cNvSpPr/>
            <p:nvPr/>
          </p:nvSpPr>
          <p:spPr>
            <a:xfrm>
              <a:off x="2381" y="2606"/>
              <a:ext cx="264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3333FF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90145" name="Rectangle 33"/>
          <p:cNvSpPr/>
          <p:nvPr/>
        </p:nvSpPr>
        <p:spPr>
          <a:xfrm>
            <a:off x="878205" y="3890328"/>
            <a:ext cx="1081088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DFA</a:t>
            </a:r>
            <a:endParaRPr lang="zh-CN" altLang="en-US" sz="3200" dirty="0">
              <a:solidFill>
                <a:srgbClr val="3333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0146" name="Rectangle 34"/>
          <p:cNvSpPr/>
          <p:nvPr/>
        </p:nvSpPr>
        <p:spPr>
          <a:xfrm>
            <a:off x="2192020" y="3912553"/>
            <a:ext cx="287337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b="1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记作</a:t>
            </a:r>
            <a:r>
              <a:rPr lang="zh-CN" altLang="en-US" sz="32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sz="3200" dirty="0">
                <a:solidFill>
                  <a:srgbClr val="3333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3200" dirty="0">
              <a:solidFill>
                <a:srgbClr val="3333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/>
          <p:nvPr/>
        </p:nvGrpSpPr>
        <p:grpSpPr>
          <a:xfrm>
            <a:off x="973137" y="1771650"/>
            <a:ext cx="9010651" cy="1120775"/>
            <a:chOff x="-347" y="1116"/>
            <a:chExt cx="5676" cy="706"/>
          </a:xfrm>
        </p:grpSpPr>
        <p:grpSp>
          <p:nvGrpSpPr>
            <p:cNvPr id="91139" name="Group 2"/>
            <p:cNvGrpSpPr/>
            <p:nvPr/>
          </p:nvGrpSpPr>
          <p:grpSpPr>
            <a:xfrm>
              <a:off x="711" y="1524"/>
              <a:ext cx="240" cy="298"/>
              <a:chOff x="3969" y="845"/>
              <a:chExt cx="240" cy="298"/>
            </a:xfrm>
          </p:grpSpPr>
          <p:sp>
            <p:nvSpPr>
              <p:cNvPr id="91140" name="Rectangle 3"/>
              <p:cNvSpPr/>
              <p:nvPr/>
            </p:nvSpPr>
            <p:spPr>
              <a:xfrm>
                <a:off x="3969" y="868"/>
                <a:ext cx="240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M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 useBgFill="1">
            <p:nvSpPr>
              <p:cNvPr id="91141" name="Rectangle 4"/>
              <p:cNvSpPr/>
              <p:nvPr/>
            </p:nvSpPr>
            <p:spPr>
              <a:xfrm>
                <a:off x="3969" y="845"/>
                <a:ext cx="240" cy="69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91142" name="Rectangle 5"/>
            <p:cNvSpPr/>
            <p:nvPr/>
          </p:nvSpPr>
          <p:spPr>
            <a:xfrm>
              <a:off x="-347" y="1116"/>
              <a:ext cx="5676" cy="6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457200" indent="-457200">
                <a:lnSpc>
                  <a:spcPct val="90000"/>
                </a:lnSpc>
                <a:spcBef>
                  <a:spcPct val="20000"/>
                </a:spcBef>
                <a:buSzPct val="90000"/>
                <a:buAutoNum type="arabicPeriod"/>
              </a:pPr>
              <a:r>
                <a:rPr lang="zh-CN" altLang="en-US" sz="3200" b="1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计算</a:t>
              </a:r>
              <a:r>
                <a:rPr lang="en-US" altLang="zh-CN" sz="3200" b="1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M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初始状态</a:t>
              </a:r>
              <a:r>
                <a:rPr lang="en-US" altLang="zh-CN" sz="3200" b="1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="1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r>
                <a:rPr lang="zh-CN" altLang="en-US" sz="3200" b="1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的</a:t>
              </a:r>
              <a:r>
                <a:rPr lang="zh-CN" altLang="zh-CN" sz="3200" b="1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r>
                <a:rPr lang="zh-CN" altLang="en-US" sz="3200" b="1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-闭包，令其作为  </a:t>
              </a:r>
              <a:endParaRPr lang="en-US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43" name="Rectangle 6"/>
            <p:cNvSpPr/>
            <p:nvPr/>
          </p:nvSpPr>
          <p:spPr>
            <a:xfrm>
              <a:off x="1029" y="1479"/>
              <a:ext cx="186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>
                <a:spcBef>
                  <a:spcPct val="20000"/>
                </a:spcBef>
                <a:buSzPct val="90000"/>
              </a:pPr>
              <a:r>
                <a:rPr lang="zh-CN" altLang="en-US" sz="3200" b="1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的初始状态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：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91144" name="Group 7"/>
            <p:cNvGrpSpPr/>
            <p:nvPr/>
          </p:nvGrpSpPr>
          <p:grpSpPr>
            <a:xfrm>
              <a:off x="2525" y="1570"/>
              <a:ext cx="272" cy="192"/>
              <a:chOff x="4912" y="2368"/>
              <a:chExt cx="272" cy="192"/>
            </a:xfrm>
          </p:grpSpPr>
          <p:sp>
            <p:nvSpPr>
              <p:cNvPr id="91145" name="Rectangle 8"/>
              <p:cNvSpPr/>
              <p:nvPr/>
            </p:nvSpPr>
            <p:spPr>
              <a:xfrm>
                <a:off x="4944" y="2368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1146" name="Rectangle 9"/>
              <p:cNvSpPr/>
              <p:nvPr/>
            </p:nvSpPr>
            <p:spPr>
              <a:xfrm>
                <a:off x="4912" y="236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5" name="Group 29"/>
          <p:cNvGrpSpPr/>
          <p:nvPr/>
        </p:nvGrpSpPr>
        <p:grpSpPr>
          <a:xfrm>
            <a:off x="9360218" y="2357120"/>
            <a:ext cx="1931987" cy="439738"/>
            <a:chOff x="2183" y="1978"/>
            <a:chExt cx="1217" cy="277"/>
          </a:xfrm>
        </p:grpSpPr>
        <p:sp>
          <p:nvSpPr>
            <p:cNvPr id="91148" name="Rectangle 10"/>
            <p:cNvSpPr/>
            <p:nvPr/>
          </p:nvSpPr>
          <p:spPr>
            <a:xfrm>
              <a:off x="2571" y="1978"/>
              <a:ext cx="829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= ;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49" name="Rectangle 11"/>
            <p:cNvSpPr/>
            <p:nvPr/>
          </p:nvSpPr>
          <p:spPr>
            <a:xfrm>
              <a:off x="2183" y="2063"/>
              <a:ext cx="51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T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1150" name="Rectangle 12"/>
            <p:cNvSpPr/>
            <p:nvPr/>
          </p:nvSpPr>
          <p:spPr>
            <a:xfrm>
              <a:off x="2183" y="2023"/>
              <a:ext cx="518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28"/>
          <p:cNvGrpSpPr/>
          <p:nvPr/>
        </p:nvGrpSpPr>
        <p:grpSpPr>
          <a:xfrm>
            <a:off x="7023418" y="2411095"/>
            <a:ext cx="1560512" cy="411163"/>
            <a:chOff x="711" y="2012"/>
            <a:chExt cx="983" cy="259"/>
          </a:xfrm>
        </p:grpSpPr>
        <p:grpSp>
          <p:nvGrpSpPr>
            <p:cNvPr id="91152" name="Group 13"/>
            <p:cNvGrpSpPr/>
            <p:nvPr/>
          </p:nvGrpSpPr>
          <p:grpSpPr>
            <a:xfrm>
              <a:off x="711" y="2031"/>
              <a:ext cx="240" cy="240"/>
              <a:chOff x="657" y="2032"/>
              <a:chExt cx="240" cy="240"/>
            </a:xfrm>
          </p:grpSpPr>
          <p:sp>
            <p:nvSpPr>
              <p:cNvPr id="91153" name="Rectangle 14"/>
              <p:cNvSpPr/>
              <p:nvPr/>
            </p:nvSpPr>
            <p:spPr>
              <a:xfrm>
                <a:off x="657" y="2080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1154" name="Rectangle 15"/>
              <p:cNvSpPr/>
              <p:nvPr/>
            </p:nvSpPr>
            <p:spPr>
              <a:xfrm>
                <a:off x="657" y="2032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91155" name="Rectangle 16"/>
            <p:cNvSpPr/>
            <p:nvPr/>
          </p:nvSpPr>
          <p:spPr>
            <a:xfrm>
              <a:off x="951" y="2023"/>
              <a:ext cx="259" cy="2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=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6" name="Rectangle 17"/>
            <p:cNvSpPr/>
            <p:nvPr/>
          </p:nvSpPr>
          <p:spPr>
            <a:xfrm>
              <a:off x="1187" y="2068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{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7" name="Rectangle 18"/>
            <p:cNvSpPr/>
            <p:nvPr/>
          </p:nvSpPr>
          <p:spPr>
            <a:xfrm>
              <a:off x="1619" y="2068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}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91158" name="Group 19"/>
            <p:cNvGrpSpPr/>
            <p:nvPr/>
          </p:nvGrpSpPr>
          <p:grpSpPr>
            <a:xfrm>
              <a:off x="1331" y="2012"/>
              <a:ext cx="240" cy="208"/>
              <a:chOff x="1984" y="3408"/>
              <a:chExt cx="240" cy="208"/>
            </a:xfrm>
          </p:grpSpPr>
          <p:sp>
            <p:nvSpPr>
              <p:cNvPr id="91159" name="Rectangle 20"/>
              <p:cNvSpPr/>
              <p:nvPr/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0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1160" name="Rectangle 21"/>
              <p:cNvSpPr/>
              <p:nvPr/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91162" name="Rectangle 23"/>
          <p:cNvSpPr/>
          <p:nvPr/>
        </p:nvSpPr>
        <p:spPr>
          <a:xfrm>
            <a:off x="577215" y="1196975"/>
            <a:ext cx="96227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由</a:t>
            </a:r>
            <a:r>
              <a:rPr lang="en-US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NFA</a:t>
            </a: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构造</a:t>
            </a:r>
            <a:r>
              <a:rPr lang="en-US" altLang="zh-CN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DFA</a:t>
            </a:r>
            <a:r>
              <a:rPr lang="zh-CN" altLang="en-US" sz="3200" b="1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的子集构造算法步骤如下：</a:t>
            </a:r>
            <a:endParaRPr lang="zh-CN" altLang="en-US" sz="3200" b="1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Rectangle 2"/>
          <p:cNvSpPr/>
          <p:nvPr>
            <p:custDataLst>
              <p:tags r:id="rId1"/>
            </p:custDataLst>
          </p:nvPr>
        </p:nvSpPr>
        <p:spPr>
          <a:xfrm>
            <a:off x="911225" y="2868295"/>
            <a:ext cx="1087818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57200" indent="-457200">
              <a:lnSpc>
                <a:spcPct val="90000"/>
              </a:lnSpc>
              <a:spcBef>
                <a:spcPct val="20000"/>
              </a:spcBef>
              <a:buSzPct val="90000"/>
              <a:buAutoNum type="arabicPeriod" startAt="2"/>
            </a:pP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对   中未从其出发求解新状态和新转换的的状态</a:t>
            </a: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:  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9" name="Group 3"/>
          <p:cNvGrpSpPr/>
          <p:nvPr/>
        </p:nvGrpSpPr>
        <p:grpSpPr>
          <a:xfrm>
            <a:off x="1893570" y="2861628"/>
            <a:ext cx="381000" cy="479425"/>
            <a:chOff x="1984" y="3408"/>
            <a:chExt cx="240" cy="208"/>
          </a:xfrm>
        </p:grpSpPr>
        <p:sp>
          <p:nvSpPr>
            <p:cNvPr id="10" name="Rectangle 4"/>
            <p:cNvSpPr/>
            <p:nvPr>
              <p:custDataLst>
                <p:tags r:id="rId2"/>
              </p:custDataLst>
            </p:nvPr>
          </p:nvSpPr>
          <p:spPr>
            <a:xfrm>
              <a:off x="1984" y="3424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S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Rectangle 5"/>
            <p:cNvSpPr/>
            <p:nvPr>
              <p:custDataLst>
                <p:tags r:id="rId3"/>
              </p:custDataLst>
            </p:nvPr>
          </p:nvSpPr>
          <p:spPr>
            <a:xfrm>
              <a:off x="1984" y="3408"/>
              <a:ext cx="240" cy="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1" name="Group 91"/>
          <p:cNvGrpSpPr/>
          <p:nvPr/>
        </p:nvGrpSpPr>
        <p:grpSpPr>
          <a:xfrm>
            <a:off x="1037273" y="3385503"/>
            <a:ext cx="10312399" cy="1322387"/>
            <a:chOff x="521" y="1317"/>
            <a:chExt cx="6496" cy="833"/>
          </a:xfrm>
        </p:grpSpPr>
        <p:sp>
          <p:nvSpPr>
            <p:cNvPr id="22" name="Rectangle 13"/>
            <p:cNvSpPr/>
            <p:nvPr>
              <p:custDataLst>
                <p:tags r:id="rId4"/>
              </p:custDataLst>
            </p:nvPr>
          </p:nvSpPr>
          <p:spPr>
            <a:xfrm>
              <a:off x="521" y="1317"/>
              <a:ext cx="6496" cy="8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spcBef>
                  <a:spcPct val="50000"/>
                </a:spcBef>
                <a:buNone/>
              </a:pP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(1)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对于</a:t>
              </a:r>
              <a:r>
                <a:rPr lang="zh-CN" altLang="en-US" sz="3200" dirty="0">
                  <a:solidFill>
                    <a:srgbClr val="FF33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每个</a:t>
              </a:r>
              <a:r>
                <a:rPr lang="en-US" altLang="zh-CN" sz="3200" dirty="0">
                  <a:solidFill>
                    <a:srgbClr val="FF33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a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及      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=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{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i1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,s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i2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,…,s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im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}</a:t>
              </a:r>
              <a:endPara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lvl="1" indent="0" eaLnBrk="1" hangingPunct="1">
                <a:spcBef>
                  <a:spcPct val="50000"/>
                </a:spcBef>
                <a:buNone/>
              </a:pP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计算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={t  |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T(s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ij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,a) = t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j[1…m]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及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的</a:t>
              </a:r>
              <a:r>
                <a:rPr lang="zh-CN" altLang="en-US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zh-CN" sz="3200" dirty="0">
                  <a:solidFill>
                    <a:srgbClr val="03030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zh-CN" altLang="en-US" sz="3200" dirty="0">
                  <a:solidFill>
                    <a:srgbClr val="030305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-闭包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; </a:t>
              </a:r>
              <a:endPara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3" name="Rectangle 44"/>
            <p:cNvSpPr/>
            <p:nvPr>
              <p:custDataLst>
                <p:tags r:id="rId5"/>
              </p:custDataLst>
            </p:nvPr>
          </p:nvSpPr>
          <p:spPr>
            <a:xfrm flipH="1" flipV="1">
              <a:off x="5759" y="1798"/>
              <a:ext cx="361" cy="1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24" name="Group 47"/>
            <p:cNvGrpSpPr/>
            <p:nvPr/>
          </p:nvGrpSpPr>
          <p:grpSpPr>
            <a:xfrm>
              <a:off x="2713" y="1322"/>
              <a:ext cx="283" cy="305"/>
              <a:chOff x="2656" y="2322"/>
              <a:chExt cx="272" cy="222"/>
            </a:xfrm>
          </p:grpSpPr>
          <p:sp>
            <p:nvSpPr>
              <p:cNvPr id="25" name="Rectangle 48"/>
              <p:cNvSpPr/>
              <p:nvPr>
                <p:custDataLst>
                  <p:tags r:id="rId6"/>
                </p:custDataLst>
              </p:nvPr>
            </p:nvSpPr>
            <p:spPr>
              <a:xfrm>
                <a:off x="2688" y="2322"/>
                <a:ext cx="240" cy="2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6" name="Rectangle 49"/>
              <p:cNvSpPr/>
              <p:nvPr>
                <p:custDataLst>
                  <p:tags r:id="rId7"/>
                </p:custDataLst>
              </p:nvPr>
            </p:nvSpPr>
            <p:spPr>
              <a:xfrm>
                <a:off x="2656" y="2360"/>
                <a:ext cx="240" cy="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8" name="组合 58"/>
          <p:cNvGrpSpPr/>
          <p:nvPr/>
        </p:nvGrpSpPr>
        <p:grpSpPr>
          <a:xfrm>
            <a:off x="1249045" y="4835843"/>
            <a:ext cx="5724525" cy="592431"/>
            <a:chOff x="857224" y="4277401"/>
            <a:chExt cx="5724525" cy="591667"/>
          </a:xfrm>
        </p:grpSpPr>
        <p:grpSp>
          <p:nvGrpSpPr>
            <p:cNvPr id="29" name="Group 59"/>
            <p:cNvGrpSpPr/>
            <p:nvPr/>
          </p:nvGrpSpPr>
          <p:grpSpPr>
            <a:xfrm>
              <a:off x="1773819" y="4277401"/>
              <a:ext cx="381847" cy="460677"/>
              <a:chOff x="599" y="4079"/>
              <a:chExt cx="240" cy="209"/>
            </a:xfrm>
          </p:grpSpPr>
          <p:sp>
            <p:nvSpPr>
              <p:cNvPr id="30" name="Rectangle 60"/>
              <p:cNvSpPr/>
              <p:nvPr>
                <p:custDataLst>
                  <p:tags r:id="rId8"/>
                </p:custDataLst>
              </p:nvPr>
            </p:nvSpPr>
            <p:spPr>
              <a:xfrm>
                <a:off x="599" y="4096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1" name="Rectangle 61"/>
              <p:cNvSpPr/>
              <p:nvPr>
                <p:custDataLst>
                  <p:tags r:id="rId9"/>
                </p:custDataLst>
              </p:nvPr>
            </p:nvSpPr>
            <p:spPr>
              <a:xfrm>
                <a:off x="599" y="4079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2" name="Group 62"/>
            <p:cNvGrpSpPr/>
            <p:nvPr/>
          </p:nvGrpSpPr>
          <p:grpSpPr>
            <a:xfrm>
              <a:off x="2559787" y="4282616"/>
              <a:ext cx="381847" cy="476323"/>
              <a:chOff x="637" y="4067"/>
              <a:chExt cx="240" cy="210"/>
            </a:xfrm>
          </p:grpSpPr>
          <p:sp>
            <p:nvSpPr>
              <p:cNvPr id="33" name="Rectangle 63"/>
              <p:cNvSpPr/>
              <p:nvPr>
                <p:custDataLst>
                  <p:tags r:id="rId10"/>
                </p:custDataLst>
              </p:nvPr>
            </p:nvSpPr>
            <p:spPr>
              <a:xfrm>
                <a:off x="637" y="4085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Rectangle 64"/>
              <p:cNvSpPr/>
              <p:nvPr>
                <p:custDataLst>
                  <p:tags r:id="rId11"/>
                </p:custDataLst>
              </p:nvPr>
            </p:nvSpPr>
            <p:spPr>
              <a:xfrm>
                <a:off x="637" y="4067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" name="Group 65"/>
            <p:cNvGrpSpPr/>
            <p:nvPr/>
          </p:nvGrpSpPr>
          <p:grpSpPr>
            <a:xfrm>
              <a:off x="3702147" y="4359106"/>
              <a:ext cx="381847" cy="361588"/>
              <a:chOff x="723" y="4305"/>
              <a:chExt cx="240" cy="208"/>
            </a:xfrm>
          </p:grpSpPr>
          <p:sp>
            <p:nvSpPr>
              <p:cNvPr id="36" name="Rectangle 66"/>
              <p:cNvSpPr/>
              <p:nvPr>
                <p:custDataLst>
                  <p:tags r:id="rId12"/>
                </p:custDataLst>
              </p:nvPr>
            </p:nvSpPr>
            <p:spPr>
              <a:xfrm>
                <a:off x="723" y="4321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  <a:endPara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7" name="Rectangle 67"/>
              <p:cNvSpPr/>
              <p:nvPr>
                <p:custDataLst>
                  <p:tags r:id="rId13"/>
                </p:custDataLst>
              </p:nvPr>
            </p:nvSpPr>
            <p:spPr>
              <a:xfrm>
                <a:off x="723" y="4305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8" name="Rectangle 68"/>
            <p:cNvSpPr/>
            <p:nvPr>
              <p:custDataLst>
                <p:tags r:id="rId14"/>
              </p:custDataLst>
            </p:nvPr>
          </p:nvSpPr>
          <p:spPr>
            <a:xfrm>
              <a:off x="857224" y="4286256"/>
              <a:ext cx="5724525" cy="5828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(2)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令    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       {     };</a:t>
              </a:r>
              <a:endPara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9" name="Group 92"/>
          <p:cNvGrpSpPr/>
          <p:nvPr/>
        </p:nvGrpSpPr>
        <p:grpSpPr>
          <a:xfrm>
            <a:off x="1255395" y="5404168"/>
            <a:ext cx="5937251" cy="635000"/>
            <a:chOff x="544" y="3013"/>
            <a:chExt cx="3740" cy="400"/>
          </a:xfrm>
        </p:grpSpPr>
        <p:grpSp>
          <p:nvGrpSpPr>
            <p:cNvPr id="40" name="Group 70"/>
            <p:cNvGrpSpPr/>
            <p:nvPr/>
          </p:nvGrpSpPr>
          <p:grpSpPr>
            <a:xfrm>
              <a:off x="1160" y="3087"/>
              <a:ext cx="240" cy="326"/>
              <a:chOff x="1984" y="3408"/>
              <a:chExt cx="240" cy="208"/>
            </a:xfrm>
          </p:grpSpPr>
          <p:sp>
            <p:nvSpPr>
              <p:cNvPr id="41" name="Rectangle 71"/>
              <p:cNvSpPr/>
              <p:nvPr>
                <p:custDataLst>
                  <p:tags r:id="rId15"/>
                </p:custDataLst>
              </p:nvPr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T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2" name="Rectangle 7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3" name="Group 73"/>
            <p:cNvGrpSpPr/>
            <p:nvPr/>
          </p:nvGrpSpPr>
          <p:grpSpPr>
            <a:xfrm>
              <a:off x="1648" y="3087"/>
              <a:ext cx="240" cy="326"/>
              <a:chOff x="1984" y="3408"/>
              <a:chExt cx="240" cy="208"/>
            </a:xfrm>
          </p:grpSpPr>
          <p:sp>
            <p:nvSpPr>
              <p:cNvPr id="44" name="Rectangle 7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T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5" name="Rectangle 75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6" name="Group 76"/>
            <p:cNvGrpSpPr/>
            <p:nvPr/>
          </p:nvGrpSpPr>
          <p:grpSpPr>
            <a:xfrm>
              <a:off x="2313" y="3094"/>
              <a:ext cx="240" cy="299"/>
              <a:chOff x="1984" y="3408"/>
              <a:chExt cx="240" cy="208"/>
            </a:xfrm>
          </p:grpSpPr>
          <p:sp>
            <p:nvSpPr>
              <p:cNvPr id="47" name="Rectangle 7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T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8" name="Rectangle 7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9" name="Group 79"/>
            <p:cNvGrpSpPr/>
            <p:nvPr/>
          </p:nvGrpSpPr>
          <p:grpSpPr>
            <a:xfrm>
              <a:off x="2722" y="3067"/>
              <a:ext cx="272" cy="307"/>
              <a:chOff x="2656" y="2322"/>
              <a:chExt cx="272" cy="222"/>
            </a:xfrm>
          </p:grpSpPr>
          <p:sp>
            <p:nvSpPr>
              <p:cNvPr id="50" name="Rectangle 80"/>
              <p:cNvSpPr/>
              <p:nvPr>
                <p:custDataLst>
                  <p:tags r:id="rId21"/>
                </p:custDataLst>
              </p:nvPr>
            </p:nvSpPr>
            <p:spPr>
              <a:xfrm>
                <a:off x="2688" y="2322"/>
                <a:ext cx="240" cy="2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" name="Rectangle 81"/>
              <p:cNvSpPr/>
              <p:nvPr>
                <p:custDataLst>
                  <p:tags r:id="rId22"/>
                </p:custDataLst>
              </p:nvPr>
            </p:nvSpPr>
            <p:spPr>
              <a:xfrm>
                <a:off x="2656" y="2360"/>
                <a:ext cx="240" cy="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2" name="Rectangle 82"/>
            <p:cNvSpPr/>
            <p:nvPr>
              <p:custDataLst>
                <p:tags r:id="rId23"/>
              </p:custDataLst>
            </p:nvPr>
          </p:nvSpPr>
          <p:spPr>
            <a:xfrm>
              <a:off x="3752" y="3123"/>
              <a:ext cx="240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endParaRPr lang="en-US" altLang="zh-CN" sz="3200" baseline="-250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3" name="Rectangle 83"/>
            <p:cNvSpPr/>
            <p:nvPr>
              <p:custDataLst>
                <p:tags r:id="rId24"/>
              </p:custDataLst>
            </p:nvPr>
          </p:nvSpPr>
          <p:spPr>
            <a:xfrm>
              <a:off x="3712" y="3104"/>
              <a:ext cx="240" cy="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Rectangle 84"/>
            <p:cNvSpPr/>
            <p:nvPr>
              <p:custDataLst>
                <p:tags r:id="rId25"/>
              </p:custDataLst>
            </p:nvPr>
          </p:nvSpPr>
          <p:spPr>
            <a:xfrm>
              <a:off x="544" y="3013"/>
              <a:ext cx="374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(3)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令     =      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{    (       , a ) =     };</a:t>
              </a:r>
              <a:endPara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424160" y="2892425"/>
            <a:ext cx="419735" cy="483870"/>
            <a:chOff x="14068" y="4681"/>
            <a:chExt cx="661" cy="762"/>
          </a:xfrm>
        </p:grpSpPr>
        <p:sp>
          <p:nvSpPr>
            <p:cNvPr id="3" name="Rectangle 48"/>
            <p:cNvSpPr/>
            <p:nvPr>
              <p:custDataLst>
                <p:tags r:id="rId26"/>
              </p:custDataLst>
            </p:nvPr>
          </p:nvSpPr>
          <p:spPr>
            <a:xfrm>
              <a:off x="14105" y="4681"/>
              <a:ext cx="624" cy="7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s</a:t>
              </a:r>
              <a:r>
                <a: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" name="Rectangle 49"/>
            <p:cNvSpPr/>
            <p:nvPr>
              <p:custDataLst>
                <p:tags r:id="rId27"/>
              </p:custDataLst>
            </p:nvPr>
          </p:nvSpPr>
          <p:spPr>
            <a:xfrm>
              <a:off x="14068" y="4705"/>
              <a:ext cx="624" cy="1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1"/>
          <p:cNvGrpSpPr/>
          <p:nvPr/>
        </p:nvGrpSpPr>
        <p:grpSpPr>
          <a:xfrm>
            <a:off x="518478" y="1376998"/>
            <a:ext cx="8137525" cy="492125"/>
            <a:chOff x="288" y="1920"/>
            <a:chExt cx="5126" cy="310"/>
          </a:xfrm>
        </p:grpSpPr>
        <p:sp>
          <p:nvSpPr>
            <p:cNvPr id="93187" name="Rectangle 34"/>
            <p:cNvSpPr/>
            <p:nvPr/>
          </p:nvSpPr>
          <p:spPr>
            <a:xfrm>
              <a:off x="288" y="1942"/>
              <a:ext cx="51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457200" indent="-457200">
                <a:lnSpc>
                  <a:spcPct val="90000"/>
                </a:lnSpc>
                <a:spcBef>
                  <a:spcPct val="20000"/>
                </a:spcBef>
                <a:buSzPct val="90000"/>
                <a:buAutoNum type="arabicPeriod" startAt="3"/>
              </a:pP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重复步骤2直到     中没有未标记的状态；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93188" name="Group 35"/>
            <p:cNvGrpSpPr/>
            <p:nvPr/>
          </p:nvGrpSpPr>
          <p:grpSpPr>
            <a:xfrm>
              <a:off x="2352" y="1920"/>
              <a:ext cx="239" cy="299"/>
              <a:chOff x="1984" y="3408"/>
              <a:chExt cx="240" cy="208"/>
            </a:xfrm>
          </p:grpSpPr>
          <p:sp>
            <p:nvSpPr>
              <p:cNvPr id="93189" name="Rectangle 36"/>
              <p:cNvSpPr/>
              <p:nvPr/>
            </p:nvSpPr>
            <p:spPr>
              <a:xfrm>
                <a:off x="1984" y="3424"/>
                <a:ext cx="24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S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3190" name="Rectangle 37"/>
              <p:cNvSpPr/>
              <p:nvPr/>
            </p:nvSpPr>
            <p:spPr>
              <a:xfrm>
                <a:off x="1984" y="3408"/>
                <a:ext cx="240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4" name="Group 52"/>
          <p:cNvGrpSpPr/>
          <p:nvPr/>
        </p:nvGrpSpPr>
        <p:grpSpPr>
          <a:xfrm>
            <a:off x="523240" y="2178685"/>
            <a:ext cx="5543550" cy="457200"/>
            <a:chOff x="288" y="2496"/>
            <a:chExt cx="3492" cy="288"/>
          </a:xfrm>
        </p:grpSpPr>
        <p:sp>
          <p:nvSpPr>
            <p:cNvPr id="93192" name="Rectangle 38"/>
            <p:cNvSpPr/>
            <p:nvPr/>
          </p:nvSpPr>
          <p:spPr>
            <a:xfrm>
              <a:off x="288" y="2496"/>
              <a:ext cx="3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457200" indent="-457200">
                <a:lnSpc>
                  <a:spcPct val="90000"/>
                </a:lnSpc>
                <a:spcBef>
                  <a:spcPct val="20000"/>
                </a:spcBef>
                <a:buSzPct val="90000"/>
                <a:buAutoNum type="arabicPeriod" startAt="4"/>
              </a:pP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令     ={        |     </a:t>
              </a: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 A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 }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93193" name="Group 39"/>
            <p:cNvGrpSpPr/>
            <p:nvPr/>
          </p:nvGrpSpPr>
          <p:grpSpPr>
            <a:xfrm>
              <a:off x="969" y="2531"/>
              <a:ext cx="239" cy="232"/>
              <a:chOff x="1338" y="1955"/>
              <a:chExt cx="239" cy="232"/>
            </a:xfrm>
          </p:grpSpPr>
          <p:sp>
            <p:nvSpPr>
              <p:cNvPr id="93194" name="Rectangle 40"/>
              <p:cNvSpPr/>
              <p:nvPr/>
            </p:nvSpPr>
            <p:spPr>
              <a:xfrm>
                <a:off x="1338" y="1995"/>
                <a:ext cx="239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3195" name="Rectangle 41"/>
              <p:cNvSpPr/>
              <p:nvPr/>
            </p:nvSpPr>
            <p:spPr>
              <a:xfrm>
                <a:off x="1338" y="1955"/>
                <a:ext cx="239" cy="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3196" name="Group 42"/>
            <p:cNvGrpSpPr/>
            <p:nvPr/>
          </p:nvGrpSpPr>
          <p:grpSpPr>
            <a:xfrm>
              <a:off x="1604" y="2531"/>
              <a:ext cx="271" cy="222"/>
              <a:chOff x="1996" y="1888"/>
              <a:chExt cx="271" cy="222"/>
            </a:xfrm>
          </p:grpSpPr>
          <p:sp>
            <p:nvSpPr>
              <p:cNvPr id="93197" name="Rectangle 43"/>
              <p:cNvSpPr/>
              <p:nvPr/>
            </p:nvSpPr>
            <p:spPr>
              <a:xfrm>
                <a:off x="2028" y="1888"/>
                <a:ext cx="239" cy="2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3198" name="Rectangle 44"/>
              <p:cNvSpPr/>
              <p:nvPr/>
            </p:nvSpPr>
            <p:spPr>
              <a:xfrm>
                <a:off x="1996" y="1902"/>
                <a:ext cx="239" cy="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3199" name="Group 45"/>
            <p:cNvGrpSpPr/>
            <p:nvPr/>
          </p:nvGrpSpPr>
          <p:grpSpPr>
            <a:xfrm>
              <a:off x="2076" y="2553"/>
              <a:ext cx="271" cy="222"/>
              <a:chOff x="2426" y="1888"/>
              <a:chExt cx="271" cy="222"/>
            </a:xfrm>
          </p:grpSpPr>
          <p:sp>
            <p:nvSpPr>
              <p:cNvPr id="93200" name="Rectangle 46"/>
              <p:cNvSpPr/>
              <p:nvPr/>
            </p:nvSpPr>
            <p:spPr>
              <a:xfrm>
                <a:off x="2458" y="1888"/>
                <a:ext cx="239" cy="2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s</a:t>
                </a:r>
                <a:r>
                  <a:rPr lang="en-US" altLang="zh-CN" sz="3200" baseline="-250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endParaRPr lang="en-US" altLang="zh-CN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3201" name="Rectangle 47"/>
              <p:cNvSpPr/>
              <p:nvPr/>
            </p:nvSpPr>
            <p:spPr>
              <a:xfrm>
                <a:off x="2426" y="1894"/>
                <a:ext cx="239" cy="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5" name="Group 60"/>
          <p:cNvGrpSpPr/>
          <p:nvPr/>
        </p:nvGrpSpPr>
        <p:grpSpPr>
          <a:xfrm>
            <a:off x="7229475" y="5241608"/>
            <a:ext cx="2155825" cy="533400"/>
            <a:chOff x="3606" y="2704"/>
            <a:chExt cx="1358" cy="336"/>
          </a:xfrm>
        </p:grpSpPr>
        <p:sp>
          <p:nvSpPr>
            <p:cNvPr id="8" name="Oval 3"/>
            <p:cNvSpPr/>
            <p:nvPr>
              <p:custDataLst>
                <p:tags r:id="rId1"/>
              </p:custDataLst>
            </p:nvPr>
          </p:nvSpPr>
          <p:spPr>
            <a:xfrm>
              <a:off x="4604" y="2704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" name="Line 7"/>
            <p:cNvSpPr/>
            <p:nvPr>
              <p:custDataLst>
                <p:tags r:id="rId2"/>
              </p:custDataLst>
            </p:nvPr>
          </p:nvSpPr>
          <p:spPr>
            <a:xfrm flipV="1">
              <a:off x="3606" y="2886"/>
              <a:ext cx="1015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1" name="Group 56"/>
          <p:cNvGrpSpPr/>
          <p:nvPr/>
        </p:nvGrpSpPr>
        <p:grpSpPr>
          <a:xfrm>
            <a:off x="6221413" y="5284470"/>
            <a:ext cx="1063625" cy="533400"/>
            <a:chOff x="1881" y="3203"/>
            <a:chExt cx="670" cy="336"/>
          </a:xfrm>
        </p:grpSpPr>
        <p:sp>
          <p:nvSpPr>
            <p:cNvPr id="13" name="Oval 3"/>
            <p:cNvSpPr/>
            <p:nvPr>
              <p:custDataLst>
                <p:tags r:id="rId3"/>
              </p:custDataLst>
            </p:nvPr>
          </p:nvSpPr>
          <p:spPr>
            <a:xfrm>
              <a:off x="2191" y="3203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4" name="Line 7"/>
            <p:cNvSpPr/>
            <p:nvPr>
              <p:custDataLst>
                <p:tags r:id="rId4"/>
              </p:custDataLst>
            </p:nvPr>
          </p:nvSpPr>
          <p:spPr>
            <a:xfrm>
              <a:off x="1881" y="3371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" name="Rectangle 2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6391910" y="2234565"/>
            <a:ext cx="5099050" cy="5702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sym typeface="+mn-ea"/>
              </a:rPr>
              <a:t>构造与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下图中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FA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等价的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DFA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6" name="Oval 3"/>
          <p:cNvSpPr/>
          <p:nvPr>
            <p:custDataLst>
              <p:tags r:id="rId6"/>
            </p:custDataLst>
          </p:nvPr>
        </p:nvSpPr>
        <p:spPr>
          <a:xfrm>
            <a:off x="4708525" y="3628708"/>
            <a:ext cx="571500" cy="5334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zh-CN" altLang="en-US" sz="3200" baseline="-250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7" name="Group 4"/>
          <p:cNvGrpSpPr/>
          <p:nvPr/>
        </p:nvGrpSpPr>
        <p:grpSpPr>
          <a:xfrm>
            <a:off x="8650288" y="3650933"/>
            <a:ext cx="581025" cy="533400"/>
            <a:chOff x="2208" y="2832"/>
            <a:chExt cx="480" cy="432"/>
          </a:xfrm>
        </p:grpSpPr>
        <p:sp>
          <p:nvSpPr>
            <p:cNvPr id="18" name="Oval 5"/>
            <p:cNvSpPr/>
            <p:nvPr>
              <p:custDataLst>
                <p:tags r:id="rId7"/>
              </p:custDataLst>
            </p:nvPr>
          </p:nvSpPr>
          <p:spPr>
            <a:xfrm>
              <a:off x="2208" y="2832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9" name="Oval 6"/>
            <p:cNvSpPr/>
            <p:nvPr>
              <p:custDataLst>
                <p:tags r:id="rId8"/>
              </p:custDataLst>
            </p:nvPr>
          </p:nvSpPr>
          <p:spPr>
            <a:xfrm>
              <a:off x="2304" y="2928"/>
              <a:ext cx="288" cy="2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4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0" name="Line 7"/>
          <p:cNvSpPr/>
          <p:nvPr>
            <p:custDataLst>
              <p:tags r:id="rId9"/>
            </p:custDataLst>
          </p:nvPr>
        </p:nvSpPr>
        <p:spPr>
          <a:xfrm>
            <a:off x="4205288" y="3895408"/>
            <a:ext cx="457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1" name="Line 8"/>
          <p:cNvSpPr/>
          <p:nvPr>
            <p:custDataLst>
              <p:tags r:id="rId10"/>
            </p:custDataLst>
          </p:nvPr>
        </p:nvSpPr>
        <p:spPr>
          <a:xfrm>
            <a:off x="5272088" y="3904933"/>
            <a:ext cx="838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" name="Oval 9"/>
          <p:cNvSpPr/>
          <p:nvPr>
            <p:custDataLst>
              <p:tags r:id="rId11"/>
            </p:custDataLst>
          </p:nvPr>
        </p:nvSpPr>
        <p:spPr>
          <a:xfrm>
            <a:off x="6097588" y="3650933"/>
            <a:ext cx="571500" cy="5334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zh-CN" altLang="en-US" sz="3200" baseline="-250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" name="Line 10"/>
          <p:cNvSpPr/>
          <p:nvPr>
            <p:custDataLst>
              <p:tags r:id="rId12"/>
            </p:custDataLst>
          </p:nvPr>
        </p:nvSpPr>
        <p:spPr>
          <a:xfrm>
            <a:off x="8218488" y="3930333"/>
            <a:ext cx="457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" name="Rectangle 11"/>
          <p:cNvSpPr/>
          <p:nvPr>
            <p:custDataLst>
              <p:tags r:id="rId13"/>
            </p:custDataLst>
          </p:nvPr>
        </p:nvSpPr>
        <p:spPr>
          <a:xfrm>
            <a:off x="7088188" y="3574733"/>
            <a:ext cx="119062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5" name="Rectangle 12"/>
          <p:cNvSpPr/>
          <p:nvPr>
            <p:custDataLst>
              <p:tags r:id="rId14"/>
            </p:custDataLst>
          </p:nvPr>
        </p:nvSpPr>
        <p:spPr>
          <a:xfrm>
            <a:off x="8370888" y="3625533"/>
            <a:ext cx="119062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6" name="Oval 13"/>
          <p:cNvSpPr/>
          <p:nvPr>
            <p:custDataLst>
              <p:tags r:id="rId15"/>
            </p:custDataLst>
          </p:nvPr>
        </p:nvSpPr>
        <p:spPr>
          <a:xfrm>
            <a:off x="7621588" y="3650933"/>
            <a:ext cx="571500" cy="5334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zh-CN" altLang="en-US" sz="3200" baseline="-250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" name="Rectangle 14"/>
          <p:cNvSpPr/>
          <p:nvPr>
            <p:custDataLst>
              <p:tags r:id="rId16"/>
            </p:custDataLst>
          </p:nvPr>
        </p:nvSpPr>
        <p:spPr>
          <a:xfrm>
            <a:off x="5653088" y="3523933"/>
            <a:ext cx="119062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" name="Line 15"/>
          <p:cNvSpPr/>
          <p:nvPr>
            <p:custDataLst>
              <p:tags r:id="rId17"/>
            </p:custDataLst>
          </p:nvPr>
        </p:nvSpPr>
        <p:spPr>
          <a:xfrm>
            <a:off x="6707188" y="3955733"/>
            <a:ext cx="9144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29" name="AutoShape 16"/>
          <p:cNvCxnSpPr>
            <a:stCxn id="26" idx="0"/>
            <a:endCxn id="22" idx="0"/>
          </p:cNvCxnSpPr>
          <p:nvPr>
            <p:custDataLst>
              <p:tags r:id="rId18"/>
            </p:custDataLst>
          </p:nvPr>
        </p:nvCxnSpPr>
        <p:spPr>
          <a:xfrm rot="-5400000" flipH="1" flipV="1">
            <a:off x="7143750" y="2888933"/>
            <a:ext cx="1588" cy="1524000"/>
          </a:xfrm>
          <a:prstGeom prst="curvedConnector3">
            <a:avLst>
              <a:gd name="adj1" fmla="val -14400005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Rectangle 17"/>
          <p:cNvSpPr/>
          <p:nvPr>
            <p:custDataLst>
              <p:tags r:id="rId19"/>
            </p:custDataLst>
          </p:nvPr>
        </p:nvSpPr>
        <p:spPr>
          <a:xfrm>
            <a:off x="7088188" y="3168333"/>
            <a:ext cx="119062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31" name="AutoShape 18"/>
          <p:cNvCxnSpPr>
            <a:stCxn id="16" idx="4"/>
          </p:cNvCxnSpPr>
          <p:nvPr>
            <p:custDataLst>
              <p:tags r:id="rId20"/>
            </p:custDataLst>
          </p:nvPr>
        </p:nvCxnSpPr>
        <p:spPr>
          <a:xfrm rot="-5400000" flipH="1">
            <a:off x="6956425" y="2199958"/>
            <a:ext cx="22225" cy="3946525"/>
          </a:xfrm>
          <a:prstGeom prst="curvedConnector3">
            <a:avLst>
              <a:gd name="adj1" fmla="val 1128569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" name="Rectangle 19"/>
          <p:cNvSpPr/>
          <p:nvPr>
            <p:custDataLst>
              <p:tags r:id="rId21"/>
            </p:custDataLst>
          </p:nvPr>
        </p:nvSpPr>
        <p:spPr>
          <a:xfrm>
            <a:off x="6783388" y="4412933"/>
            <a:ext cx="119062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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" name="Rectangle 20"/>
          <p:cNvSpPr/>
          <p:nvPr>
            <p:custDataLst>
              <p:tags r:id="rId22"/>
            </p:custDataLst>
          </p:nvPr>
        </p:nvSpPr>
        <p:spPr>
          <a:xfrm>
            <a:off x="1976438" y="4500245"/>
            <a:ext cx="1363662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状态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Line 21"/>
          <p:cNvSpPr/>
          <p:nvPr>
            <p:custDataLst>
              <p:tags r:id="rId23"/>
            </p:custDataLst>
          </p:nvPr>
        </p:nvSpPr>
        <p:spPr>
          <a:xfrm>
            <a:off x="1900238" y="5033645"/>
            <a:ext cx="3886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5" name="Line 22"/>
          <p:cNvSpPr/>
          <p:nvPr>
            <p:custDataLst>
              <p:tags r:id="rId24"/>
            </p:custDataLst>
          </p:nvPr>
        </p:nvSpPr>
        <p:spPr>
          <a:xfrm>
            <a:off x="3773488" y="4347845"/>
            <a:ext cx="0" cy="220980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Line 23"/>
          <p:cNvSpPr/>
          <p:nvPr>
            <p:custDataLst>
              <p:tags r:id="rId25"/>
            </p:custDataLst>
          </p:nvPr>
        </p:nvSpPr>
        <p:spPr>
          <a:xfrm>
            <a:off x="1900238" y="5567045"/>
            <a:ext cx="3886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" name="Line 24"/>
          <p:cNvSpPr/>
          <p:nvPr>
            <p:custDataLst>
              <p:tags r:id="rId26"/>
            </p:custDataLst>
          </p:nvPr>
        </p:nvSpPr>
        <p:spPr>
          <a:xfrm>
            <a:off x="1912938" y="6125845"/>
            <a:ext cx="3886200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" name="Line 25"/>
          <p:cNvSpPr/>
          <p:nvPr>
            <p:custDataLst>
              <p:tags r:id="rId27"/>
            </p:custDataLst>
          </p:nvPr>
        </p:nvSpPr>
        <p:spPr>
          <a:xfrm>
            <a:off x="2293938" y="4398645"/>
            <a:ext cx="1447800" cy="60960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" name="Rectangle 26"/>
          <p:cNvSpPr/>
          <p:nvPr>
            <p:custDataLst>
              <p:tags r:id="rId28"/>
            </p:custDataLst>
          </p:nvPr>
        </p:nvSpPr>
        <p:spPr>
          <a:xfrm>
            <a:off x="2484438" y="4131945"/>
            <a:ext cx="169545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终结符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Rectangle 27"/>
          <p:cNvSpPr/>
          <p:nvPr>
            <p:custDataLst>
              <p:tags r:id="rId29"/>
            </p:custDataLst>
          </p:nvPr>
        </p:nvSpPr>
        <p:spPr>
          <a:xfrm>
            <a:off x="4276725" y="4492308"/>
            <a:ext cx="57626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a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Rectangle 28">
            <a:hlinkClick r:id="rId30" action="ppaction://hlinksldjump"/>
          </p:cNvPr>
          <p:cNvSpPr/>
          <p:nvPr>
            <p:custDataLst>
              <p:tags r:id="rId31"/>
            </p:custDataLst>
          </p:nvPr>
        </p:nvSpPr>
        <p:spPr>
          <a:xfrm>
            <a:off x="2190750" y="4992370"/>
            <a:ext cx="19050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{</a:t>
            </a:r>
            <a:r>
              <a:rPr lang="en-US" altLang="zh-CN" sz="3200" dirty="0">
                <a:solidFill>
                  <a:srgbClr val="FF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,2,4}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Rectangle 29">
            <a:hlinkClick r:id="rId30" action="ppaction://hlinksldjump"/>
          </p:cNvPr>
          <p:cNvSpPr/>
          <p:nvPr>
            <p:custDataLst>
              <p:tags r:id="rId32"/>
            </p:custDataLst>
          </p:nvPr>
        </p:nvSpPr>
        <p:spPr>
          <a:xfrm>
            <a:off x="3844925" y="4992370"/>
            <a:ext cx="198596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{</a:t>
            </a:r>
            <a:r>
              <a:rPr lang="en-US" altLang="zh-CN" sz="3200" dirty="0">
                <a:solidFill>
                  <a:srgbClr val="FF0066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,2,4}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Rectangle 30">
            <a:hlinkClick r:id="rId30" action="ppaction://hlinksldjump"/>
          </p:cNvPr>
          <p:cNvSpPr/>
          <p:nvPr>
            <p:custDataLst>
              <p:tags r:id="rId33"/>
            </p:custDataLst>
          </p:nvPr>
        </p:nvSpPr>
        <p:spPr>
          <a:xfrm>
            <a:off x="2235200" y="5573395"/>
            <a:ext cx="181451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{</a:t>
            </a:r>
            <a:r>
              <a:rPr lang="en-US" altLang="zh-CN" sz="3200" dirty="0">
                <a:solidFill>
                  <a:srgbClr val="FF0066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,2,4}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Rectangle 31">
            <a:hlinkClick r:id="rId30" action="ppaction://hlinksldjump"/>
          </p:cNvPr>
          <p:cNvSpPr/>
          <p:nvPr>
            <p:custDataLst>
              <p:tags r:id="rId34"/>
            </p:custDataLst>
          </p:nvPr>
        </p:nvSpPr>
        <p:spPr>
          <a:xfrm>
            <a:off x="3844925" y="5644833"/>
            <a:ext cx="2128838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{</a:t>
            </a:r>
            <a:r>
              <a:rPr lang="en-US" altLang="zh-CN" sz="3200" dirty="0">
                <a:solidFill>
                  <a:srgbClr val="FF0066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,2,4}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grpSp>
        <p:nvGrpSpPr>
          <p:cNvPr id="45" name="Group 35"/>
          <p:cNvGrpSpPr/>
          <p:nvPr/>
        </p:nvGrpSpPr>
        <p:grpSpPr>
          <a:xfrm>
            <a:off x="8813800" y="5241608"/>
            <a:ext cx="581025" cy="533400"/>
            <a:chOff x="2208" y="2832"/>
            <a:chExt cx="480" cy="432"/>
          </a:xfrm>
        </p:grpSpPr>
        <p:sp>
          <p:nvSpPr>
            <p:cNvPr id="46" name="Oval 36"/>
            <p:cNvSpPr/>
            <p:nvPr>
              <p:custDataLst>
                <p:tags r:id="rId35"/>
              </p:custDataLst>
            </p:nvPr>
          </p:nvSpPr>
          <p:spPr>
            <a:xfrm>
              <a:off x="2208" y="2832"/>
              <a:ext cx="480" cy="432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47" name="Oval 37"/>
            <p:cNvSpPr/>
            <p:nvPr>
              <p:custDataLst>
                <p:tags r:id="rId36"/>
              </p:custDataLst>
            </p:nvPr>
          </p:nvSpPr>
          <p:spPr>
            <a:xfrm>
              <a:off x="2304" y="2928"/>
              <a:ext cx="288" cy="240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76950" y="5284470"/>
            <a:ext cx="1190625" cy="533400"/>
            <a:chOff x="2862" y="2299"/>
            <a:chExt cx="750" cy="336"/>
          </a:xfrm>
        </p:grpSpPr>
        <p:grpSp>
          <p:nvGrpSpPr>
            <p:cNvPr id="49" name="Group 32"/>
            <p:cNvGrpSpPr/>
            <p:nvPr/>
          </p:nvGrpSpPr>
          <p:grpSpPr>
            <a:xfrm>
              <a:off x="3246" y="2299"/>
              <a:ext cx="366" cy="336"/>
              <a:chOff x="2208" y="2832"/>
              <a:chExt cx="480" cy="432"/>
            </a:xfrm>
          </p:grpSpPr>
          <p:sp>
            <p:nvSpPr>
              <p:cNvPr id="50" name="Oval 33"/>
              <p:cNvSpPr/>
              <p:nvPr>
                <p:custDataLst>
                  <p:tags r:id="rId37"/>
                </p:custDataLst>
              </p:nvPr>
            </p:nvSpPr>
            <p:spPr>
              <a:xfrm>
                <a:off x="2208" y="2832"/>
                <a:ext cx="480" cy="43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51" name="Oval 34"/>
              <p:cNvSpPr/>
              <p:nvPr>
                <p:custDataLst>
                  <p:tags r:id="rId38"/>
                </p:custDataLst>
              </p:nvPr>
            </p:nvSpPr>
            <p:spPr>
              <a:xfrm>
                <a:off x="2304" y="2928"/>
                <a:ext cx="288" cy="240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0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2" name="Line 38"/>
            <p:cNvSpPr/>
            <p:nvPr>
              <p:custDataLst>
                <p:tags r:id="rId39"/>
              </p:custDataLst>
            </p:nvPr>
          </p:nvSpPr>
          <p:spPr>
            <a:xfrm>
              <a:off x="2862" y="2467"/>
              <a:ext cx="384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3" name="Group 49"/>
          <p:cNvGrpSpPr/>
          <p:nvPr/>
        </p:nvGrpSpPr>
        <p:grpSpPr>
          <a:xfrm>
            <a:off x="7267575" y="5213033"/>
            <a:ext cx="1524000" cy="304800"/>
            <a:chOff x="3630" y="2251"/>
            <a:chExt cx="960" cy="192"/>
          </a:xfrm>
        </p:grpSpPr>
        <p:sp>
          <p:nvSpPr>
            <p:cNvPr id="54" name="Line 39"/>
            <p:cNvSpPr/>
            <p:nvPr>
              <p:custDataLst>
                <p:tags r:id="rId40"/>
              </p:custDataLst>
            </p:nvPr>
          </p:nvSpPr>
          <p:spPr>
            <a:xfrm>
              <a:off x="3630" y="2443"/>
              <a:ext cx="96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5" name="Rectangle 40"/>
            <p:cNvSpPr/>
            <p:nvPr>
              <p:custDataLst>
                <p:tags r:id="rId41"/>
              </p:custDataLst>
            </p:nvPr>
          </p:nvSpPr>
          <p:spPr>
            <a:xfrm>
              <a:off x="4014" y="2251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cxnSp>
        <p:nvCxnSpPr>
          <p:cNvPr id="56" name="AutoShape 41"/>
          <p:cNvCxnSpPr/>
          <p:nvPr>
            <p:custDataLst>
              <p:tags r:id="rId42"/>
            </p:custDataLst>
          </p:nvPr>
        </p:nvCxnSpPr>
        <p:spPr>
          <a:xfrm rot="5400000" flipV="1">
            <a:off x="9115425" y="5230495"/>
            <a:ext cx="266700" cy="288925"/>
          </a:xfrm>
          <a:prstGeom prst="curvedConnector4">
            <a:avLst>
              <a:gd name="adj1" fmla="val -85713"/>
              <a:gd name="adj2" fmla="val 178690"/>
            </a:avLst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Rectangle 42"/>
          <p:cNvSpPr/>
          <p:nvPr>
            <p:custDataLst>
              <p:tags r:id="rId43"/>
            </p:custDataLst>
          </p:nvPr>
        </p:nvSpPr>
        <p:spPr>
          <a:xfrm>
            <a:off x="9401175" y="4832033"/>
            <a:ext cx="119063" cy="2365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1" name="Rectangle 46"/>
          <p:cNvSpPr/>
          <p:nvPr>
            <p:custDataLst>
              <p:tags r:id="rId44"/>
            </p:custDataLst>
          </p:nvPr>
        </p:nvSpPr>
        <p:spPr>
          <a:xfrm>
            <a:off x="1657350" y="4992370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0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Rectangle 47"/>
          <p:cNvSpPr/>
          <p:nvPr>
            <p:custDataLst>
              <p:tags r:id="rId45"/>
            </p:custDataLst>
          </p:nvPr>
        </p:nvSpPr>
        <p:spPr>
          <a:xfrm>
            <a:off x="1657350" y="5525770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1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57" grpId="0"/>
      <p:bldP spid="61" grpId="0"/>
      <p:bldP spid="6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9" name="Rectangle 2"/>
          <p:cNvSpPr>
            <a:spLocks noChangeArrowheads="1"/>
          </p:cNvSpPr>
          <p:nvPr/>
        </p:nvSpPr>
        <p:spPr bwMode="auto">
          <a:xfrm>
            <a:off x="427355" y="1169670"/>
            <a:ext cx="10395585" cy="1081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例，考虑下图中的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NFA,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试构造与之等价的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DFA。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96259" name="Group 3"/>
          <p:cNvGrpSpPr/>
          <p:nvPr/>
        </p:nvGrpSpPr>
        <p:grpSpPr>
          <a:xfrm>
            <a:off x="1238568" y="1785620"/>
            <a:ext cx="4975225" cy="1041400"/>
            <a:chOff x="2496" y="1008"/>
            <a:chExt cx="3134" cy="656"/>
          </a:xfrm>
        </p:grpSpPr>
        <p:sp>
          <p:nvSpPr>
            <p:cNvPr id="96260" name="Oval 4"/>
            <p:cNvSpPr/>
            <p:nvPr/>
          </p:nvSpPr>
          <p:spPr>
            <a:xfrm>
              <a:off x="2783" y="131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61" name="Rectangle 5"/>
            <p:cNvSpPr/>
            <p:nvPr/>
          </p:nvSpPr>
          <p:spPr>
            <a:xfrm>
              <a:off x="4272" y="1008"/>
              <a:ext cx="1200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letter|digit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262" name="Oval 6"/>
            <p:cNvSpPr/>
            <p:nvPr/>
          </p:nvSpPr>
          <p:spPr>
            <a:xfrm>
              <a:off x="5264" y="1328"/>
              <a:ext cx="366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96263" name="Oval 7"/>
            <p:cNvSpPr/>
            <p:nvPr/>
          </p:nvSpPr>
          <p:spPr>
            <a:xfrm>
              <a:off x="5337" y="1403"/>
              <a:ext cx="220" cy="18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264" name="Line 8"/>
            <p:cNvSpPr/>
            <p:nvPr/>
          </p:nvSpPr>
          <p:spPr>
            <a:xfrm>
              <a:off x="2496" y="1488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65" name="Line 9"/>
            <p:cNvSpPr/>
            <p:nvPr/>
          </p:nvSpPr>
          <p:spPr>
            <a:xfrm>
              <a:off x="3136" y="1488"/>
              <a:ext cx="80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66" name="Rectangle 10"/>
            <p:cNvSpPr/>
            <p:nvPr/>
          </p:nvSpPr>
          <p:spPr>
            <a:xfrm>
              <a:off x="3248" y="1264"/>
              <a:ext cx="62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267" name="Oval 11"/>
            <p:cNvSpPr/>
            <p:nvPr/>
          </p:nvSpPr>
          <p:spPr>
            <a:xfrm>
              <a:off x="3944" y="1312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68" name="Line 12"/>
            <p:cNvSpPr/>
            <p:nvPr/>
          </p:nvSpPr>
          <p:spPr>
            <a:xfrm>
              <a:off x="4304" y="1488"/>
              <a:ext cx="304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69" name="Line 13"/>
            <p:cNvSpPr/>
            <p:nvPr/>
          </p:nvSpPr>
          <p:spPr>
            <a:xfrm>
              <a:off x="4992" y="1504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6270" name="Rectangle 14"/>
            <p:cNvSpPr/>
            <p:nvPr/>
          </p:nvSpPr>
          <p:spPr>
            <a:xfrm>
              <a:off x="4416" y="1296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71" name="Rectangle 15"/>
            <p:cNvSpPr/>
            <p:nvPr/>
          </p:nvSpPr>
          <p:spPr>
            <a:xfrm>
              <a:off x="5088" y="1312"/>
              <a:ext cx="75" cy="1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32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72" name="Oval 16"/>
            <p:cNvSpPr/>
            <p:nvPr/>
          </p:nvSpPr>
          <p:spPr>
            <a:xfrm>
              <a:off x="4616" y="1328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cxnSp>
          <p:nvCxnSpPr>
            <p:cNvPr id="96273" name="AutoShape 17"/>
            <p:cNvCxnSpPr/>
            <p:nvPr/>
          </p:nvCxnSpPr>
          <p:spPr>
            <a:xfrm rot="5400000" flipV="1">
              <a:off x="4781" y="1264"/>
              <a:ext cx="1" cy="254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6274" name="Line 18"/>
          <p:cNvSpPr/>
          <p:nvPr/>
        </p:nvSpPr>
        <p:spPr>
          <a:xfrm>
            <a:off x="824230" y="3806508"/>
            <a:ext cx="4586288" cy="7937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75" name="Line 19"/>
          <p:cNvSpPr/>
          <p:nvPr/>
        </p:nvSpPr>
        <p:spPr>
          <a:xfrm>
            <a:off x="2387918" y="3128645"/>
            <a:ext cx="3175" cy="2689225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76" name="Line 20"/>
          <p:cNvSpPr/>
          <p:nvPr/>
        </p:nvSpPr>
        <p:spPr>
          <a:xfrm>
            <a:off x="895668" y="4309745"/>
            <a:ext cx="4514850" cy="3810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77" name="Line 21"/>
          <p:cNvSpPr/>
          <p:nvPr/>
        </p:nvSpPr>
        <p:spPr>
          <a:xfrm>
            <a:off x="824230" y="4886008"/>
            <a:ext cx="4598988" cy="20637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78" name="Line 22"/>
          <p:cNvSpPr/>
          <p:nvPr/>
        </p:nvSpPr>
        <p:spPr>
          <a:xfrm flipV="1">
            <a:off x="751205" y="5389245"/>
            <a:ext cx="4659313" cy="158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79" name="Line 23"/>
          <p:cNvSpPr/>
          <p:nvPr/>
        </p:nvSpPr>
        <p:spPr>
          <a:xfrm>
            <a:off x="4038918" y="3128645"/>
            <a:ext cx="7937" cy="2689225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80" name="Line 24"/>
          <p:cNvSpPr/>
          <p:nvPr/>
        </p:nvSpPr>
        <p:spPr>
          <a:xfrm>
            <a:off x="653098" y="3230245"/>
            <a:ext cx="1728787" cy="576263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6281" name="Rectangle 25"/>
          <p:cNvSpPr/>
          <p:nvPr/>
        </p:nvSpPr>
        <p:spPr>
          <a:xfrm>
            <a:off x="490855" y="3368675"/>
            <a:ext cx="1319213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状态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96282" name="Rectangle 26"/>
          <p:cNvSpPr/>
          <p:nvPr/>
        </p:nvSpPr>
        <p:spPr>
          <a:xfrm>
            <a:off x="824230" y="2941320"/>
            <a:ext cx="1919288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30305"/>
                </a:solidFill>
                <a:latin typeface="宋体" panose="02010600030101010101" pitchFamily="2" charset="-122"/>
              </a:rPr>
              <a:t>终结符</a:t>
            </a:r>
            <a:endParaRPr lang="zh-CN" altLang="en-US" sz="28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1" name="Rectangle 27"/>
          <p:cNvSpPr/>
          <p:nvPr/>
        </p:nvSpPr>
        <p:spPr>
          <a:xfrm>
            <a:off x="2479993" y="3225483"/>
            <a:ext cx="23209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letter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2" name="Rectangle 28"/>
          <p:cNvSpPr/>
          <p:nvPr/>
        </p:nvSpPr>
        <p:spPr>
          <a:xfrm>
            <a:off x="4208780" y="3250883"/>
            <a:ext cx="1366838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digit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3" name="Rectangle 29"/>
          <p:cNvSpPr/>
          <p:nvPr/>
        </p:nvSpPr>
        <p:spPr>
          <a:xfrm>
            <a:off x="1125855" y="3801745"/>
            <a:ext cx="1255713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{0}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4" name="Rectangle 30"/>
          <p:cNvSpPr/>
          <p:nvPr/>
        </p:nvSpPr>
        <p:spPr>
          <a:xfrm>
            <a:off x="2527618" y="3789045"/>
            <a:ext cx="1608137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{2,3,1}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5" name="Rectangle 31"/>
          <p:cNvSpPr/>
          <p:nvPr/>
        </p:nvSpPr>
        <p:spPr>
          <a:xfrm>
            <a:off x="4419918" y="3890645"/>
            <a:ext cx="4572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sz="3200" dirty="0">
              <a:solidFill>
                <a:srgbClr val="030305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0976" name="Rectangle 32"/>
          <p:cNvSpPr/>
          <p:nvPr/>
        </p:nvSpPr>
        <p:spPr>
          <a:xfrm>
            <a:off x="895668" y="4373245"/>
            <a:ext cx="169545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{2,3,1}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7" name="Rectangle 33"/>
          <p:cNvSpPr/>
          <p:nvPr/>
        </p:nvSpPr>
        <p:spPr>
          <a:xfrm>
            <a:off x="2540318" y="4335145"/>
            <a:ext cx="160496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8" name="Rectangle 34"/>
          <p:cNvSpPr/>
          <p:nvPr/>
        </p:nvSpPr>
        <p:spPr>
          <a:xfrm>
            <a:off x="4191318" y="4347845"/>
            <a:ext cx="152876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79" name="Rectangle 35"/>
          <p:cNvSpPr/>
          <p:nvPr/>
        </p:nvSpPr>
        <p:spPr>
          <a:xfrm>
            <a:off x="967105" y="4886008"/>
            <a:ext cx="14827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80" name="Rectangle 36"/>
          <p:cNvSpPr/>
          <p:nvPr/>
        </p:nvSpPr>
        <p:spPr>
          <a:xfrm>
            <a:off x="2578418" y="4843145"/>
            <a:ext cx="1465262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0981" name="Rectangle 37"/>
          <p:cNvSpPr/>
          <p:nvPr/>
        </p:nvSpPr>
        <p:spPr>
          <a:xfrm>
            <a:off x="4191318" y="4881245"/>
            <a:ext cx="2033587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{3,1}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41630" y="276860"/>
            <a:ext cx="873760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.2 </a:t>
            </a:r>
            <a:r>
              <a:rPr sz="3200">
                <a:sym typeface="+mn-ea"/>
              </a:rPr>
              <a:t>从</a:t>
            </a:r>
            <a:r>
              <a:rPr lang="en-US" altLang="zh-CN" sz="3200">
                <a:sym typeface="+mn-ea"/>
              </a:rPr>
              <a:t>NFA</a:t>
            </a:r>
            <a:r>
              <a:rPr sz="3200">
                <a:sym typeface="+mn-ea"/>
              </a:rPr>
              <a:t>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63285" y="3289935"/>
            <a:ext cx="5610225" cy="1412875"/>
            <a:chOff x="9391" y="5181"/>
            <a:chExt cx="8835" cy="2225"/>
          </a:xfrm>
        </p:grpSpPr>
        <p:sp>
          <p:nvSpPr>
            <p:cNvPr id="211970" name="Line 2"/>
            <p:cNvSpPr/>
            <p:nvPr>
              <p:custDataLst>
                <p:tags r:id="rId1"/>
              </p:custDataLst>
            </p:nvPr>
          </p:nvSpPr>
          <p:spPr>
            <a:xfrm>
              <a:off x="11088" y="6381"/>
              <a:ext cx="204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1971" name="Rectangle 3"/>
            <p:cNvSpPr/>
            <p:nvPr>
              <p:custDataLst>
                <p:tags r:id="rId2"/>
              </p:custDataLst>
            </p:nvPr>
          </p:nvSpPr>
          <p:spPr>
            <a:xfrm>
              <a:off x="11328" y="5661"/>
              <a:ext cx="1560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1972" name="Rectangle 4"/>
            <p:cNvSpPr/>
            <p:nvPr>
              <p:custDataLst>
                <p:tags r:id="rId3"/>
              </p:custDataLst>
            </p:nvPr>
          </p:nvSpPr>
          <p:spPr>
            <a:xfrm>
              <a:off x="13813" y="5181"/>
              <a:ext cx="3858" cy="9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letter|digit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1973" name="Line 5"/>
            <p:cNvSpPr/>
            <p:nvPr>
              <p:custDataLst>
                <p:tags r:id="rId4"/>
              </p:custDataLst>
            </p:nvPr>
          </p:nvSpPr>
          <p:spPr>
            <a:xfrm>
              <a:off x="14088" y="6381"/>
              <a:ext cx="324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2" name="Group 6"/>
            <p:cNvGrpSpPr/>
            <p:nvPr/>
          </p:nvGrpSpPr>
          <p:grpSpPr>
            <a:xfrm>
              <a:off x="9391" y="5861"/>
              <a:ext cx="8835" cy="840"/>
              <a:chOff x="1824" y="3312"/>
              <a:chExt cx="3534" cy="336"/>
            </a:xfrm>
          </p:grpSpPr>
          <p:sp>
            <p:nvSpPr>
              <p:cNvPr id="97287" name="Oval 7"/>
              <p:cNvSpPr/>
              <p:nvPr>
                <p:custDataLst>
                  <p:tags r:id="rId5"/>
                </p:custDataLst>
              </p:nvPr>
            </p:nvSpPr>
            <p:spPr>
              <a:xfrm>
                <a:off x="2112" y="3312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4</a:t>
                </a:r>
                <a:endParaRPr lang="zh-CN" altLang="en-US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97288" name="Line 8"/>
              <p:cNvSpPr/>
              <p:nvPr>
                <p:custDataLst>
                  <p:tags r:id="rId6"/>
                </p:custDataLst>
              </p:nvPr>
            </p:nvSpPr>
            <p:spPr>
              <a:xfrm>
                <a:off x="1824" y="3504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7289" name="Oval 9"/>
              <p:cNvSpPr/>
              <p:nvPr>
                <p:custDataLst>
                  <p:tags r:id="rId7"/>
                </p:custDataLst>
              </p:nvPr>
            </p:nvSpPr>
            <p:spPr>
              <a:xfrm>
                <a:off x="3312" y="3312"/>
                <a:ext cx="366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97290" name="Oval 10"/>
              <p:cNvSpPr/>
              <p:nvPr>
                <p:custDataLst>
                  <p:tags r:id="rId8"/>
                </p:custDataLst>
              </p:nvPr>
            </p:nvSpPr>
            <p:spPr>
              <a:xfrm>
                <a:off x="3385" y="3387"/>
                <a:ext cx="220" cy="18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5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97291" name="Oval 11"/>
              <p:cNvSpPr/>
              <p:nvPr>
                <p:custDataLst>
                  <p:tags r:id="rId9"/>
                </p:custDataLst>
              </p:nvPr>
            </p:nvSpPr>
            <p:spPr>
              <a:xfrm>
                <a:off x="4992" y="3312"/>
                <a:ext cx="366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97292" name="Oval 12"/>
              <p:cNvSpPr/>
              <p:nvPr>
                <p:custDataLst>
                  <p:tags r:id="rId10"/>
                </p:custDataLst>
              </p:nvPr>
            </p:nvSpPr>
            <p:spPr>
              <a:xfrm>
                <a:off x="5065" y="3387"/>
                <a:ext cx="220" cy="18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6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211981" name="AutoShape 13"/>
            <p:cNvCxnSpPr/>
            <p:nvPr>
              <p:custDataLst>
                <p:tags r:id="rId11"/>
              </p:custDataLst>
            </p:nvPr>
          </p:nvCxnSpPr>
          <p:spPr>
            <a:xfrm rot="-5400000">
              <a:off x="17836" y="6341"/>
              <a:ext cx="450" cy="330"/>
            </a:xfrm>
            <a:prstGeom prst="curvedConnector4">
              <a:avLst>
                <a:gd name="adj1" fmla="val 3333"/>
                <a:gd name="adj2" fmla="val 209093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1982" name="Rectangle 14"/>
            <p:cNvSpPr/>
            <p:nvPr>
              <p:custDataLst>
                <p:tags r:id="rId12"/>
              </p:custDataLst>
            </p:nvPr>
          </p:nvSpPr>
          <p:spPr>
            <a:xfrm>
              <a:off x="14976" y="6886"/>
              <a:ext cx="3000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letter|digit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1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1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1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21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1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21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21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1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21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2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71" grpId="0"/>
      <p:bldP spid="210972" grpId="0"/>
      <p:bldP spid="210973" grpId="0"/>
      <p:bldP spid="210974" grpId="0"/>
      <p:bldP spid="210975" grpId="0"/>
      <p:bldP spid="210976" grpId="0"/>
      <p:bldP spid="210977" grpId="0"/>
      <p:bldP spid="210978" grpId="0"/>
      <p:bldP spid="210979" grpId="0"/>
      <p:bldP spid="210980" grpId="0"/>
      <p:bldP spid="21098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70840" y="276860"/>
            <a:ext cx="870839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ym typeface="+mn-ea"/>
              </a:rPr>
              <a:t>从正规表达式到</a:t>
            </a:r>
            <a:r>
              <a:rPr lang="en-US" altLang="zh-CN" sz="3200">
                <a:sym typeface="+mn-ea"/>
              </a:rPr>
              <a:t>DFA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8307" name="Rectangle 3"/>
          <p:cNvSpPr>
            <a:spLocks noGrp="1"/>
          </p:cNvSpPr>
          <p:nvPr/>
        </p:nvSpPr>
        <p:spPr>
          <a:xfrm>
            <a:off x="446405" y="1196975"/>
            <a:ext cx="9602470" cy="1871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2.4.1 从正规表达式到</a:t>
            </a:r>
            <a:r>
              <a:rPr lang="en-US" altLang="zh-CN" dirty="0">
                <a:solidFill>
                  <a:srgbClr val="030305"/>
                </a:solidFill>
              </a:rPr>
              <a:t>NFA</a:t>
            </a:r>
            <a:endParaRPr lang="zh-CN" altLang="en-US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2.4.2  从</a:t>
            </a:r>
            <a:r>
              <a:rPr lang="en-US" altLang="zh-CN" dirty="0">
                <a:solidFill>
                  <a:srgbClr val="030305"/>
                </a:solidFill>
              </a:rPr>
              <a:t>NFA</a:t>
            </a:r>
            <a:r>
              <a:rPr lang="zh-CN" altLang="en-US" dirty="0">
                <a:solidFill>
                  <a:srgbClr val="030305"/>
                </a:solidFill>
              </a:rPr>
              <a:t> 到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30305"/>
                </a:solidFill>
              </a:rPr>
              <a:t>2.4.3  将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r>
              <a:rPr lang="zh-CN" altLang="en-US" dirty="0">
                <a:solidFill>
                  <a:srgbClr val="030305"/>
                </a:solidFill>
              </a:rPr>
              <a:t>中的状态数最小化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.3 </a:t>
            </a:r>
            <a:r>
              <a:rPr sz="3200">
                <a:sym typeface="+mn-ea"/>
              </a:rPr>
              <a:t>将</a:t>
            </a:r>
            <a:r>
              <a:rPr lang="en-US" altLang="zh-CN" sz="3200">
                <a:sym typeface="+mn-ea"/>
              </a:rPr>
              <a:t>DFA</a:t>
            </a:r>
            <a:r>
              <a:rPr sz="3200">
                <a:sym typeface="+mn-ea"/>
              </a:rPr>
              <a:t>中的状态数最小化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4020" name="Rectangle 4"/>
          <p:cNvSpPr>
            <a:spLocks noGrp="1"/>
          </p:cNvSpPr>
          <p:nvPr/>
        </p:nvSpPr>
        <p:spPr>
          <a:xfrm>
            <a:off x="406400" y="1154430"/>
            <a:ext cx="11369040" cy="30670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66"/>
                </a:solidFill>
              </a:rPr>
              <a:t>结论</a:t>
            </a:r>
            <a:r>
              <a:rPr lang="zh-CN" altLang="en-US" dirty="0">
                <a:solidFill>
                  <a:srgbClr val="030305"/>
                </a:solidFill>
              </a:rPr>
              <a:t>：对于任何给定的</a:t>
            </a:r>
            <a:r>
              <a:rPr lang="en-US" altLang="zh-CN" dirty="0">
                <a:solidFill>
                  <a:srgbClr val="030305"/>
                </a:solidFill>
              </a:rPr>
              <a:t>DFA，</a:t>
            </a:r>
            <a:r>
              <a:rPr lang="zh-CN" altLang="en-US" dirty="0">
                <a:solidFill>
                  <a:srgbClr val="030305"/>
                </a:solidFill>
              </a:rPr>
              <a:t>存在一个含有</a:t>
            </a:r>
            <a:r>
              <a:rPr lang="zh-CN" altLang="en-US" dirty="0">
                <a:solidFill>
                  <a:srgbClr val="3333FF"/>
                </a:solidFill>
              </a:rPr>
              <a:t>最少状态与之等价的</a:t>
            </a:r>
            <a:r>
              <a:rPr lang="en-US" altLang="zh-CN" dirty="0">
                <a:solidFill>
                  <a:srgbClr val="3333FF"/>
                </a:solidFill>
              </a:rPr>
              <a:t>DFA</a:t>
            </a:r>
            <a:r>
              <a:rPr lang="en-US" altLang="zh-CN" dirty="0">
                <a:solidFill>
                  <a:srgbClr val="030305"/>
                </a:solidFill>
              </a:rPr>
              <a:t>，</a:t>
            </a:r>
            <a:r>
              <a:rPr lang="zh-CN" altLang="en-US" dirty="0">
                <a:solidFill>
                  <a:srgbClr val="030305"/>
                </a:solidFill>
              </a:rPr>
              <a:t>而且这个最小状态的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r>
              <a:rPr lang="zh-CN" altLang="en-US" dirty="0">
                <a:solidFill>
                  <a:srgbClr val="030305"/>
                </a:solidFill>
              </a:rPr>
              <a:t>在同构意义下是唯一的。</a:t>
            </a:r>
            <a:endParaRPr lang="en-US" altLang="zh-CN" dirty="0">
              <a:solidFill>
                <a:srgbClr val="030305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30305"/>
                </a:solidFill>
              </a:rPr>
              <a:t>如何找到最小化的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r>
              <a:rPr lang="zh-CN" altLang="en-US" dirty="0">
                <a:solidFill>
                  <a:srgbClr val="030305"/>
                </a:solidFill>
              </a:rPr>
              <a:t>？</a:t>
            </a:r>
            <a:endParaRPr lang="en-US" altLang="zh-CN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30305"/>
                </a:solidFill>
              </a:rPr>
              <a:t>将识别功能相同的状态合并为一个状态，通过状态等价类划分来实现。</a:t>
            </a:r>
            <a:endParaRPr lang="zh-CN" altLang="en-US" dirty="0">
              <a:solidFill>
                <a:srgbClr val="030305"/>
              </a:solidFill>
            </a:endParaRPr>
          </a:p>
        </p:txBody>
      </p:sp>
      <p:sp>
        <p:nvSpPr>
          <p:cNvPr id="215045" name="Rectangle 5"/>
          <p:cNvSpPr>
            <a:spLocks noGrp="1"/>
          </p:cNvSpPr>
          <p:nvPr/>
        </p:nvSpPr>
        <p:spPr>
          <a:xfrm>
            <a:off x="363220" y="3312795"/>
            <a:ext cx="11412220" cy="408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/>
              <a:t>对于任意</a:t>
            </a:r>
            <a:r>
              <a:rPr lang="zh-CN" altLang="en-US" dirty="0">
                <a:solidFill>
                  <a:srgbClr val="030305"/>
                </a:solidFill>
              </a:rPr>
              <a:t>给定的输入串</a:t>
            </a:r>
            <a:r>
              <a:rPr lang="en-US" altLang="zh-CN" dirty="0">
                <a:solidFill>
                  <a:srgbClr val="030305"/>
                </a:solidFill>
              </a:rPr>
              <a:t>w，</a:t>
            </a:r>
            <a:r>
              <a:rPr lang="zh-CN" altLang="en-US" dirty="0">
                <a:solidFill>
                  <a:srgbClr val="030305"/>
                </a:solidFill>
              </a:rPr>
              <a:t>若</a:t>
            </a:r>
            <a:r>
              <a:rPr lang="en-US" altLang="zh-CN" dirty="0">
                <a:solidFill>
                  <a:srgbClr val="030305"/>
                </a:solidFill>
              </a:rPr>
              <a:t>DFA</a:t>
            </a:r>
            <a:r>
              <a:rPr lang="zh-CN" altLang="en-US" dirty="0">
                <a:solidFill>
                  <a:srgbClr val="030305"/>
                </a:solidFill>
              </a:rPr>
              <a:t>分别从</a:t>
            </a:r>
            <a:r>
              <a:rPr lang="zh-CN" altLang="en-US" dirty="0"/>
              <a:t>状态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zh-CN" altLang="en-US" dirty="0">
                <a:solidFill>
                  <a:srgbClr val="030305"/>
                </a:solidFill>
              </a:rPr>
              <a:t> ，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zh-CN" altLang="en-US" dirty="0">
                <a:solidFill>
                  <a:srgbClr val="030305"/>
                </a:solidFill>
              </a:rPr>
              <a:t>出发，对于否接受</a:t>
            </a:r>
            <a:r>
              <a:rPr lang="en-US" altLang="zh-CN" dirty="0">
                <a:solidFill>
                  <a:srgbClr val="030305"/>
                </a:solidFill>
              </a:rPr>
              <a:t>w</a:t>
            </a:r>
            <a:r>
              <a:rPr lang="zh-CN" altLang="en-US" dirty="0">
                <a:solidFill>
                  <a:srgbClr val="030305"/>
                </a:solidFill>
              </a:rPr>
              <a:t>具有相同的结论，则称</a:t>
            </a:r>
            <a:r>
              <a:rPr lang="zh-CN" altLang="en-US" dirty="0">
                <a:solidFill>
                  <a:srgbClr val="FF0000"/>
                </a:solidFill>
              </a:rPr>
              <a:t>状态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baseline="-25000" dirty="0">
                <a:solidFill>
                  <a:srgbClr val="FF0066"/>
                </a:solidFill>
              </a:rPr>
              <a:t>1</a:t>
            </a:r>
            <a:r>
              <a:rPr lang="zh-CN" altLang="en-US" dirty="0">
                <a:solidFill>
                  <a:srgbClr val="030305"/>
                </a:solidFill>
              </a:rPr>
              <a:t> ，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baseline="-25000" dirty="0">
                <a:solidFill>
                  <a:srgbClr val="FF0066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位于同一个等价类</a:t>
            </a:r>
            <a:r>
              <a:rPr lang="zh-CN" altLang="en-US" dirty="0">
                <a:solidFill>
                  <a:srgbClr val="030305"/>
                </a:solidFill>
              </a:rPr>
              <a:t>，即</a:t>
            </a:r>
            <a:endParaRPr lang="zh-CN" altLang="en-US" dirty="0">
              <a:solidFill>
                <a:srgbClr val="030305"/>
              </a:solidFill>
            </a:endParaRPr>
          </a:p>
          <a:p>
            <a:pPr lvl="1" indent="-436245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若从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0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出发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能接受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，则从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0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出发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也能接受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lvl="1" indent="-436245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若从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0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出发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拒绝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，则从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0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出发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solidFill>
                  <a:srgbClr val="030305"/>
                </a:solidFill>
                <a:latin typeface="Times New Roman" panose="02020603050405020304" pitchFamily="18" charset="0"/>
              </a:rPr>
              <a:t>亦拒绝</a:t>
            </a:r>
            <a:r>
              <a:rPr lang="en-US" altLang="zh-CN" dirty="0">
                <a:solidFill>
                  <a:srgbClr val="030305"/>
                </a:solidFill>
                <a:latin typeface="Times New Roman" panose="02020603050405020304" pitchFamily="18" charset="0"/>
              </a:rPr>
              <a:t>w。</a:t>
            </a:r>
            <a:endParaRPr lang="en-US" altLang="zh-CN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66"/>
                </a:solidFill>
              </a:rPr>
              <a:t>否则称状态</a:t>
            </a:r>
            <a:r>
              <a:rPr lang="en-US" altLang="zh-CN" dirty="0">
                <a:solidFill>
                  <a:srgbClr val="FF0066"/>
                </a:solidFill>
              </a:rPr>
              <a:t>s</a:t>
            </a:r>
            <a:r>
              <a:rPr lang="en-US" altLang="zh-CN" baseline="-25000" dirty="0">
                <a:solidFill>
                  <a:srgbClr val="FF0066"/>
                </a:solidFill>
              </a:rPr>
              <a:t>1</a:t>
            </a:r>
            <a:r>
              <a:rPr lang="zh-CN" altLang="en-US" baseline="-25000" dirty="0">
                <a:solidFill>
                  <a:srgbClr val="FF0066"/>
                </a:solidFill>
              </a:rPr>
              <a:t>，</a:t>
            </a:r>
            <a:r>
              <a:rPr lang="en-US" altLang="zh-CN" dirty="0">
                <a:solidFill>
                  <a:srgbClr val="FF0066"/>
                </a:solidFill>
              </a:rPr>
              <a:t>s</a:t>
            </a:r>
            <a:r>
              <a:rPr lang="en-US" altLang="zh-CN" baseline="-25000" dirty="0">
                <a:solidFill>
                  <a:srgbClr val="FF0066"/>
                </a:solidFill>
              </a:rPr>
              <a:t>2</a:t>
            </a:r>
            <a:r>
              <a:rPr lang="zh-CN" altLang="en-US" dirty="0">
                <a:solidFill>
                  <a:srgbClr val="FF0066"/>
                </a:solidFill>
              </a:rPr>
              <a:t>是可区分的</a:t>
            </a:r>
            <a:r>
              <a:rPr lang="zh-CN" altLang="en-US" dirty="0">
                <a:solidFill>
                  <a:srgbClr val="030305"/>
                </a:solidFill>
              </a:rPr>
              <a:t>。</a:t>
            </a:r>
            <a:endParaRPr lang="zh-CN" altLang="en-US" dirty="0">
              <a:solidFill>
                <a:srgbClr val="03030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charRg st="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15045">
                                            <p:txEl>
                                              <p:charRg st="0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charRg st="6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15045">
                                            <p:txEl>
                                              <p:charRg st="6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charRg st="9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15045">
                                            <p:txEl>
                                              <p:charRg st="95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charRg st="123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15045">
                                            <p:txEl>
                                              <p:charRg st="123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/>
          <p:nvPr/>
        </p:nvSpPr>
        <p:spPr>
          <a:xfrm>
            <a:off x="862330" y="1143000"/>
            <a:ext cx="7877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3600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DFA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</a:rPr>
              <a:t>最小化算法</a:t>
            </a:r>
            <a:r>
              <a:rPr lang="zh-CN" altLang="en-US" sz="3600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（</a:t>
            </a:r>
            <a:r>
              <a:rPr lang="en-US" altLang="zh-CN" sz="3600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3</a:t>
            </a:r>
            <a:r>
              <a:rPr lang="zh-CN" altLang="en-US" sz="32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</a:rPr>
              <a:t>步骤</a:t>
            </a:r>
            <a:r>
              <a:rPr lang="zh-CN" altLang="en-US" sz="3600" dirty="0">
                <a:solidFill>
                  <a:srgbClr val="FF0066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）：</a:t>
            </a:r>
            <a:endParaRPr lang="zh-CN" altLang="en-US" sz="3600" dirty="0">
              <a:solidFill>
                <a:srgbClr val="FF0066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16067" name="Rectangle 3"/>
          <p:cNvSpPr/>
          <p:nvPr/>
        </p:nvSpPr>
        <p:spPr>
          <a:xfrm>
            <a:off x="575310" y="1786255"/>
            <a:ext cx="11249660" cy="24784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10000"/>
              </a:lnSpc>
              <a:spcBef>
                <a:spcPct val="20000"/>
              </a:spcBef>
              <a:buSzPct val="90000"/>
              <a:buAutoNum type="arabicPeriod"/>
            </a:pP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首先将状态集合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分为两个等价类：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及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S-A</a:t>
            </a: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；</a:t>
            </a:r>
            <a:endParaRPr lang="zh-CN" altLang="en-US" sz="28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spcBef>
                <a:spcPct val="20000"/>
              </a:spcBef>
              <a:buSzPct val="90000"/>
              <a:buAutoNum type="arabicPeriod" startAt="2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细分等价类</a:t>
            </a: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：对于当前划分的某个等价类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 ，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30305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, s</a:t>
            </a:r>
            <a:r>
              <a:rPr lang="en-US" altLang="zh-CN" sz="2800" b="1" baseline="-25000" dirty="0">
                <a:solidFill>
                  <a:srgbClr val="030305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K，</a:t>
            </a:r>
            <a:r>
              <a:rPr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2.1</a:t>
            </a:r>
            <a:r>
              <a:rPr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或 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2.2</a:t>
            </a:r>
            <a:r>
              <a:rPr lang="zh-CN" altLang="en-US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中条件满足，</a:t>
            </a:r>
            <a:endParaRPr lang="zh-CN" altLang="en-US" sz="2800" b="1" dirty="0">
              <a:solidFill>
                <a:srgbClr val="FF3399"/>
              </a:solidFill>
              <a:latin typeface="Times New Roman" panose="02020603050405020304" pitchFamily="18" charset="0"/>
            </a:endParaRPr>
          </a:p>
          <a:p>
            <a:pPr lvl="1" indent="0"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 2.1 </a:t>
            </a:r>
            <a:r>
              <a:rPr lang="en-US" altLang="zh-CN" sz="2400" b="1" dirty="0">
                <a:solidFill>
                  <a:srgbClr val="030305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 </a:t>
            </a:r>
            <a:r>
              <a:rPr lang="en-US" altLang="zh-CN" sz="2400" b="1" dirty="0">
                <a:solidFill>
                  <a:srgbClr val="030305"/>
                </a:solidFill>
                <a:latin typeface="Verdana" panose="020B0604030504040204" pitchFamily="34" charset="0"/>
              </a:rPr>
              <a:t>a</a:t>
            </a:r>
            <a:r>
              <a:rPr lang="en-US" altLang="zh-CN" sz="2400" b="1" dirty="0">
                <a:solidFill>
                  <a:srgbClr val="030305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rgbClr val="3333FF"/>
                </a:solidFill>
                <a:latin typeface="Verdana" panose="020B0604030504040204" pitchFamily="34" charset="0"/>
              </a:rPr>
              <a:t>s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rgbClr val="3333FF"/>
                </a:solidFill>
                <a:latin typeface="Verdana" panose="020B0604030504040204" pitchFamily="34" charset="0"/>
              </a:rPr>
              <a:t>或</a:t>
            </a:r>
            <a:r>
              <a:rPr lang="en-US" altLang="zh-CN" sz="2400" b="1" dirty="0">
                <a:solidFill>
                  <a:srgbClr val="3333FF"/>
                </a:solidFill>
                <a:latin typeface="Verdana" panose="020B0604030504040204" pitchFamily="34" charset="0"/>
              </a:rPr>
              <a:t>s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rgbClr val="030305"/>
                </a:solidFill>
                <a:latin typeface="Verdana" panose="020B0604030504040204" pitchFamily="34" charset="0"/>
              </a:rPr>
              <a:t>中的一个</a:t>
            </a:r>
            <a:r>
              <a:rPr lang="zh-CN" altLang="en-US" sz="2400" b="1" dirty="0">
                <a:solidFill>
                  <a:schemeClr val="hlink"/>
                </a:solidFill>
                <a:latin typeface="Verdana" panose="020B0604030504040204" pitchFamily="34" charset="0"/>
              </a:rPr>
              <a:t>无法识别</a:t>
            </a:r>
            <a:r>
              <a:rPr lang="en-US" altLang="zh-CN" sz="2400" b="1" dirty="0">
                <a:solidFill>
                  <a:schemeClr val="hlink"/>
                </a:solidFill>
                <a:latin typeface="Verdana" panose="020B0604030504040204" pitchFamily="34" charset="0"/>
              </a:rPr>
              <a:t>a</a:t>
            </a:r>
            <a:r>
              <a:rPr lang="zh-CN" altLang="en-US" sz="2400" b="1" dirty="0">
                <a:solidFill>
                  <a:srgbClr val="03010F"/>
                </a:solidFill>
                <a:latin typeface="Verdana" panose="020B0604030504040204" pitchFamily="34" charset="0"/>
              </a:rPr>
              <a:t>。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lvl="1" indent="0" eaLnBrk="1" hangingPunct="1">
              <a:lnSpc>
                <a:spcPct val="110000"/>
              </a:lnSpc>
              <a:buNone/>
            </a:pPr>
            <a:r>
              <a:rPr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 2.2 </a:t>
            </a:r>
            <a:r>
              <a:rPr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="1" baseline="-25000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识别</a:t>
            </a:r>
            <a:r>
              <a:rPr lang="en-US" altLang="zh-CN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6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后到达到的状态分别在目前</a:t>
            </a:r>
            <a:r>
              <a:rPr lang="zh-CN" altLang="en-US" sz="26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划分的不同等价类中；</a:t>
            </a:r>
            <a:endParaRPr lang="zh-CN" altLang="en-US" sz="26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5" name="Rectangle 13"/>
          <p:cNvSpPr/>
          <p:nvPr/>
        </p:nvSpPr>
        <p:spPr>
          <a:xfrm>
            <a:off x="992505" y="4198620"/>
            <a:ext cx="92055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400" b="1" dirty="0">
                <a:solidFill>
                  <a:srgbClr val="030305"/>
                </a:solidFill>
                <a:latin typeface="Verdana" panose="020B0604030504040204" pitchFamily="34" charset="0"/>
              </a:rPr>
              <a:t>那么将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K</a:t>
            </a:r>
            <a:r>
              <a:rPr lang="zh-CN" altLang="en-US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就细分为两个等价类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K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i</a:t>
            </a:r>
            <a:r>
              <a:rPr lang="zh-CN" altLang="en-US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K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j</a:t>
            </a:r>
            <a:r>
              <a:rPr lang="zh-CN" altLang="en-US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，使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s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1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rgbClr val="030305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K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s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</a:rPr>
              <a:t>2</a:t>
            </a:r>
            <a:r>
              <a:rPr lang="en-US" altLang="zh-CN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rgbClr val="030305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K</a:t>
            </a:r>
            <a:r>
              <a:rPr lang="en-US" altLang="zh-CN" sz="2400" b="1" baseline="-25000" dirty="0">
                <a:solidFill>
                  <a:srgbClr val="FF3399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zh-CN" altLang="en-US" sz="2400" b="1" dirty="0">
                <a:solidFill>
                  <a:srgbClr val="FF3399"/>
                </a:solidFill>
                <a:latin typeface="Verdana" panose="020B0604030504040204" pitchFamily="34" charset="0"/>
              </a:rPr>
              <a:t>；</a:t>
            </a:r>
            <a:endParaRPr lang="zh-CN" altLang="en-US" sz="2400" b="1" dirty="0">
              <a:solidFill>
                <a:srgbClr val="FF3399"/>
              </a:solidFill>
              <a:latin typeface="Verdana" panose="020B0604030504040204" pitchFamily="34" charset="0"/>
            </a:endParaRPr>
          </a:p>
        </p:txBody>
      </p:sp>
      <p:sp>
        <p:nvSpPr>
          <p:cNvPr id="109572" name="AutoShape 4"/>
          <p:cNvSpPr/>
          <p:nvPr/>
        </p:nvSpPr>
        <p:spPr>
          <a:xfrm>
            <a:off x="8868410" y="995363"/>
            <a:ext cx="1708150" cy="1279525"/>
          </a:xfrm>
          <a:prstGeom prst="cloudCallout">
            <a:avLst>
              <a:gd name="adj1" fmla="val -82806"/>
              <a:gd name="adj2" fmla="val 4416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24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接受状态集</a:t>
            </a:r>
            <a:r>
              <a:rPr lang="en-US" altLang="zh-CN" sz="24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A</a:t>
            </a:r>
            <a:endParaRPr lang="en-US" altLang="zh-CN" sz="24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.3 </a:t>
            </a:r>
            <a:r>
              <a:rPr sz="3200">
                <a:sym typeface="+mn-ea"/>
              </a:rPr>
              <a:t>将</a:t>
            </a:r>
            <a:r>
              <a:rPr lang="en-US" altLang="zh-CN" sz="3200">
                <a:sym typeface="+mn-ea"/>
              </a:rPr>
              <a:t>DFA</a:t>
            </a:r>
            <a:r>
              <a:rPr sz="3200">
                <a:sym typeface="+mn-ea"/>
              </a:rPr>
              <a:t>中的状态数最小化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7090" name="Rectangle 2"/>
          <p:cNvSpPr/>
          <p:nvPr/>
        </p:nvSpPr>
        <p:spPr>
          <a:xfrm>
            <a:off x="575310" y="5422900"/>
            <a:ext cx="1118171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 algn="l">
              <a:spcBef>
                <a:spcPct val="20000"/>
              </a:spcBef>
              <a:buSzPct val="90000"/>
            </a:pPr>
            <a:r>
              <a:rPr lang="zh-CN" altLang="en-US" sz="2800" b="1" dirty="0">
                <a:solidFill>
                  <a:srgbClr val="030305"/>
                </a:solidFill>
                <a:latin typeface="Verdana" panose="020B0604030504040204" pitchFamily="34" charset="0"/>
              </a:rPr>
              <a:t>同一等价类中可以选用其中任一状态作为代表，其他状态皆可省略，</a:t>
            </a:r>
            <a:endParaRPr lang="zh-CN" altLang="en-US" sz="2800" b="1" dirty="0">
              <a:solidFill>
                <a:srgbClr val="030305"/>
              </a:solidFill>
              <a:latin typeface="Verdana" panose="020B0604030504040204" pitchFamily="34" charset="0"/>
            </a:endParaRPr>
          </a:p>
          <a:p>
            <a:pPr marL="457200" indent="-457200" algn="l">
              <a:spcBef>
                <a:spcPct val="20000"/>
              </a:spcBef>
              <a:buSzPct val="90000"/>
            </a:pPr>
            <a:r>
              <a:rPr lang="zh-CN" altLang="en-US" sz="2800" b="1" dirty="0">
                <a:solidFill>
                  <a:srgbClr val="030305"/>
                </a:solidFill>
                <a:latin typeface="Verdana" panose="020B0604030504040204" pitchFamily="34" charset="0"/>
              </a:rPr>
              <a:t>同时，</a:t>
            </a:r>
            <a:r>
              <a:rPr lang="zh-CN" altLang="en-US" sz="2800" b="1" dirty="0">
                <a:solidFill>
                  <a:schemeClr val="hlink"/>
                </a:solidFill>
                <a:latin typeface="Verdana" panose="020B0604030504040204" pitchFamily="34" charset="0"/>
              </a:rPr>
              <a:t>把所有引向省略状态的弧引向代表状态</a:t>
            </a:r>
            <a:r>
              <a:rPr lang="zh-CN" altLang="en-US" sz="2800" b="1" dirty="0">
                <a:solidFill>
                  <a:srgbClr val="030305"/>
                </a:solidFill>
                <a:latin typeface="Verdana" panose="020B0604030504040204" pitchFamily="34" charset="0"/>
              </a:rPr>
              <a:t>。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653415" y="4813300"/>
            <a:ext cx="112909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spcBef>
                <a:spcPct val="20000"/>
              </a:spcBef>
              <a:buSzPct val="90000"/>
              <a:buAutoNum type="arabicPeriod" startAt="3"/>
            </a:pP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递归</a:t>
            </a:r>
            <a:r>
              <a:rPr lang="zh-CN" altLang="en-US" sz="2800" b="1" dirty="0">
                <a:solidFill>
                  <a:srgbClr val="030305"/>
                </a:solidFill>
                <a:latin typeface="宋体" panose="02010600030101010101" pitchFamily="2" charset="-122"/>
              </a:rPr>
              <a:t>步骤2中细分等价类的工作，直到所有等价类都不能再细分为止。</a:t>
            </a:r>
            <a:endParaRPr lang="zh-CN" altLang="en-US" sz="2800" b="1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bldLvl="0" animBg="1"/>
      <p:bldP spid="2" grpId="0"/>
      <p:bldP spid="217090" grpId="0"/>
      <p:bldP spid="2" grpId="1"/>
      <p:bldP spid="217090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26" name="Group 2"/>
          <p:cNvGrpSpPr/>
          <p:nvPr/>
        </p:nvGrpSpPr>
        <p:grpSpPr>
          <a:xfrm>
            <a:off x="305435" y="1754823"/>
            <a:ext cx="6361113" cy="1295400"/>
            <a:chOff x="642" y="645"/>
            <a:chExt cx="4007" cy="816"/>
          </a:xfrm>
        </p:grpSpPr>
        <p:sp>
          <p:nvSpPr>
            <p:cNvPr id="103427" name="Oval 3"/>
            <p:cNvSpPr/>
            <p:nvPr/>
          </p:nvSpPr>
          <p:spPr>
            <a:xfrm>
              <a:off x="930" y="1125"/>
              <a:ext cx="360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zh-CN" altLang="en-US" sz="3200" baseline="-25000" dirty="0">
                <a:solidFill>
                  <a:srgbClr val="030305"/>
                </a:solidFill>
                <a:latin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3428" name="Line 4"/>
            <p:cNvSpPr/>
            <p:nvPr/>
          </p:nvSpPr>
          <p:spPr>
            <a:xfrm>
              <a:off x="642" y="1317"/>
              <a:ext cx="288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3429" name="Line 5"/>
            <p:cNvSpPr/>
            <p:nvPr/>
          </p:nvSpPr>
          <p:spPr>
            <a:xfrm>
              <a:off x="1314" y="1317"/>
              <a:ext cx="81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3430" name="Rectangle 6"/>
            <p:cNvSpPr/>
            <p:nvPr/>
          </p:nvSpPr>
          <p:spPr>
            <a:xfrm>
              <a:off x="1410" y="1029"/>
              <a:ext cx="62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31" name="Oval 7"/>
            <p:cNvSpPr/>
            <p:nvPr/>
          </p:nvSpPr>
          <p:spPr>
            <a:xfrm>
              <a:off x="2130" y="1125"/>
              <a:ext cx="366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3432" name="Oval 8"/>
            <p:cNvSpPr/>
            <p:nvPr/>
          </p:nvSpPr>
          <p:spPr>
            <a:xfrm>
              <a:off x="2203" y="1200"/>
              <a:ext cx="220" cy="18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433" name="Rectangle 9"/>
            <p:cNvSpPr/>
            <p:nvPr/>
          </p:nvSpPr>
          <p:spPr>
            <a:xfrm>
              <a:off x="2562" y="981"/>
              <a:ext cx="1200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letter|digit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434" name="Line 10"/>
            <p:cNvSpPr/>
            <p:nvPr/>
          </p:nvSpPr>
          <p:spPr>
            <a:xfrm>
              <a:off x="2514" y="1317"/>
              <a:ext cx="129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3435" name="Oval 11"/>
            <p:cNvSpPr/>
            <p:nvPr/>
          </p:nvSpPr>
          <p:spPr>
            <a:xfrm>
              <a:off x="3810" y="1125"/>
              <a:ext cx="366" cy="33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03436" name="Oval 12"/>
            <p:cNvSpPr/>
            <p:nvPr/>
          </p:nvSpPr>
          <p:spPr>
            <a:xfrm>
              <a:off x="3883" y="1200"/>
              <a:ext cx="220" cy="186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3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3437" name="AutoShape 13"/>
            <p:cNvCxnSpPr/>
            <p:nvPr/>
          </p:nvCxnSpPr>
          <p:spPr>
            <a:xfrm rot="5400000" flipV="1">
              <a:off x="3983" y="997"/>
              <a:ext cx="1" cy="254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3438" name="Rectangle 14"/>
            <p:cNvSpPr/>
            <p:nvPr/>
          </p:nvSpPr>
          <p:spPr>
            <a:xfrm>
              <a:off x="3378" y="645"/>
              <a:ext cx="1271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letter|digi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32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9151" name="Rectangle 15"/>
          <p:cNvSpPr/>
          <p:nvPr/>
        </p:nvSpPr>
        <p:spPr>
          <a:xfrm>
            <a:off x="400685" y="3221355"/>
            <a:ext cx="7129780" cy="11741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(1)首先划分为两个等价类：</a:t>
            </a:r>
            <a:endParaRPr lang="zh-CN" altLang="en-US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SzPct val="90000"/>
            </a:pP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          </a:t>
            </a:r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{2，3}，{1}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3440" name="Rectangle 16"/>
          <p:cNvSpPr/>
          <p:nvPr/>
        </p:nvSpPr>
        <p:spPr>
          <a:xfrm>
            <a:off x="480060" y="1202690"/>
            <a:ext cx="100076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例：将下图所示的</a:t>
            </a:r>
            <a:r>
              <a:rPr lang="en-US" altLang="zh-CN" sz="3200" dirty="0">
                <a:solidFill>
                  <a:srgbClr val="030305"/>
                </a:solidFill>
                <a:latin typeface="宋体" panose="02010600030101010101" pitchFamily="2" charset="-122"/>
              </a:rPr>
              <a:t>DFA M</a:t>
            </a:r>
            <a:r>
              <a: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rPr>
              <a:t>最小化</a:t>
            </a:r>
            <a:endParaRPr lang="zh-CN" altLang="en-US" sz="32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219153" name="Rectangle 17"/>
          <p:cNvSpPr/>
          <p:nvPr/>
        </p:nvSpPr>
        <p:spPr>
          <a:xfrm>
            <a:off x="400685" y="4281170"/>
            <a:ext cx="5692775" cy="2061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(2) 对于输入符号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letter: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     T(2,letter)=3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T(3,letter)=3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 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对于输入符号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digit:</a:t>
            </a:r>
            <a:endParaRPr lang="en-US" altLang="zh-CN" sz="32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     T(2,digit)=3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</a:rPr>
              <a:t>T(3,digit)=3</a:t>
            </a:r>
            <a:r>
              <a:rPr lang="en-US" altLang="zh-CN" sz="3200" dirty="0">
                <a:solidFill>
                  <a:srgbClr val="030305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lang="zh-CN" altLang="en-US" sz="3200" dirty="0">
              <a:solidFill>
                <a:srgbClr val="030305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sz="3200">
                <a:sym typeface="+mn-ea"/>
              </a:rPr>
              <a:t>2.4</a:t>
            </a:r>
            <a:r>
              <a:rPr lang="en-US" altLang="zh-CN" sz="3200">
                <a:sym typeface="+mn-ea"/>
              </a:rPr>
              <a:t>.3 </a:t>
            </a:r>
            <a:r>
              <a:rPr sz="3200">
                <a:sym typeface="+mn-ea"/>
              </a:rPr>
              <a:t>将</a:t>
            </a:r>
            <a:r>
              <a:rPr lang="en-US" altLang="zh-CN" sz="3200">
                <a:sym typeface="+mn-ea"/>
              </a:rPr>
              <a:t>DFA</a:t>
            </a:r>
            <a:r>
              <a:rPr sz="3200">
                <a:sym typeface="+mn-ea"/>
              </a:rPr>
              <a:t>中的状态数最小化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7566660" y="4619943"/>
            <a:ext cx="3657600" cy="1219200"/>
            <a:chOff x="597" y="1933"/>
            <a:chExt cx="2304" cy="768"/>
          </a:xfrm>
        </p:grpSpPr>
        <p:sp>
          <p:nvSpPr>
            <p:cNvPr id="104451" name="Line 3"/>
            <p:cNvSpPr/>
            <p:nvPr>
              <p:custDataLst>
                <p:tags r:id="rId1"/>
              </p:custDataLst>
            </p:nvPr>
          </p:nvSpPr>
          <p:spPr>
            <a:xfrm>
              <a:off x="1269" y="2509"/>
              <a:ext cx="816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4452" name="Rectangle 4"/>
            <p:cNvSpPr/>
            <p:nvPr>
              <p:custDataLst>
                <p:tags r:id="rId2"/>
              </p:custDataLst>
            </p:nvPr>
          </p:nvSpPr>
          <p:spPr>
            <a:xfrm>
              <a:off x="1365" y="2221"/>
              <a:ext cx="624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letter</a:t>
              </a:r>
              <a:endParaRPr lang="en-US" altLang="zh-CN" sz="3200" baseline="300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04453" name="Group 5"/>
            <p:cNvGrpSpPr/>
            <p:nvPr/>
          </p:nvGrpSpPr>
          <p:grpSpPr>
            <a:xfrm>
              <a:off x="597" y="2317"/>
              <a:ext cx="1902" cy="384"/>
              <a:chOff x="2448" y="3696"/>
              <a:chExt cx="1902" cy="384"/>
            </a:xfrm>
          </p:grpSpPr>
          <p:sp>
            <p:nvSpPr>
              <p:cNvPr id="104454" name="Oval 6"/>
              <p:cNvSpPr/>
              <p:nvPr>
                <p:custDataLst>
                  <p:tags r:id="rId3"/>
                </p:custDataLst>
              </p:nvPr>
            </p:nvSpPr>
            <p:spPr>
              <a:xfrm>
                <a:off x="2736" y="3696"/>
                <a:ext cx="360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3200" dirty="0">
                    <a:solidFill>
                      <a:srgbClr val="030305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zh-CN" altLang="en-US" sz="3200" baseline="-25000" dirty="0">
                  <a:solidFill>
                    <a:srgbClr val="030305"/>
                  </a:solidFill>
                  <a:latin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04455" name="Line 7"/>
              <p:cNvSpPr/>
              <p:nvPr>
                <p:custDataLst>
                  <p:tags r:id="rId4"/>
                </p:custDataLst>
              </p:nvPr>
            </p:nvSpPr>
            <p:spPr>
              <a:xfrm>
                <a:off x="2448" y="3888"/>
                <a:ext cx="28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04456" name="Oval 8"/>
              <p:cNvSpPr/>
              <p:nvPr>
                <p:custDataLst>
                  <p:tags r:id="rId5"/>
                </p:custDataLst>
              </p:nvPr>
            </p:nvSpPr>
            <p:spPr>
              <a:xfrm>
                <a:off x="3984" y="3744"/>
                <a:ext cx="366" cy="33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•"/>
                </a:pPr>
                <a:endParaRPr lang="zh-CN" altLang="en-US" dirty="0">
                  <a:latin typeface="Verdana" panose="020B0604030504040204" pitchFamily="34" charset="0"/>
                </a:endParaRPr>
              </a:p>
            </p:txBody>
          </p:sp>
          <p:sp>
            <p:nvSpPr>
              <p:cNvPr id="104457" name="Oval 9"/>
              <p:cNvSpPr/>
              <p:nvPr>
                <p:custDataLst>
                  <p:tags r:id="rId6"/>
                </p:custDataLst>
              </p:nvPr>
            </p:nvSpPr>
            <p:spPr>
              <a:xfrm>
                <a:off x="4057" y="3819"/>
                <a:ext cx="220" cy="186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3200" dirty="0">
                    <a:solidFill>
                      <a:srgbClr val="030305"/>
                    </a:solidFill>
                    <a:latin typeface="宋体" panose="02010600030101010101" pitchFamily="2" charset="-122"/>
                  </a:rPr>
                  <a:t>3</a:t>
                </a:r>
                <a:endPara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endParaRPr>
              </a:p>
            </p:txBody>
          </p:sp>
        </p:grpSp>
        <p:cxnSp>
          <p:nvCxnSpPr>
            <p:cNvPr id="104458" name="AutoShape 10"/>
            <p:cNvCxnSpPr/>
            <p:nvPr>
              <p:custDataLst>
                <p:tags r:id="rId7"/>
              </p:custDataLst>
            </p:nvPr>
          </p:nvCxnSpPr>
          <p:spPr>
            <a:xfrm rot="5400000" flipV="1">
              <a:off x="2306" y="2261"/>
              <a:ext cx="1" cy="254"/>
            </a:xfrm>
            <a:prstGeom prst="curvedConnector3">
              <a:avLst>
                <a:gd name="adj1" fmla="val -19300009"/>
              </a:avLst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4459" name="Rectangle 11"/>
            <p:cNvSpPr/>
            <p:nvPr>
              <p:custDataLst>
                <p:tags r:id="rId8"/>
              </p:custDataLst>
            </p:nvPr>
          </p:nvSpPr>
          <p:spPr>
            <a:xfrm>
              <a:off x="1701" y="1933"/>
              <a:ext cx="1200" cy="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8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letter|digit</a:t>
              </a:r>
              <a:endParaRPr lang="en-US" altLang="zh-CN" sz="28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522720" y="1423035"/>
            <a:ext cx="5669280" cy="3027045"/>
            <a:chOff x="10272" y="2241"/>
            <a:chExt cx="8928" cy="4767"/>
          </a:xfrm>
        </p:grpSpPr>
        <p:sp>
          <p:nvSpPr>
            <p:cNvPr id="104460" name="Rectangle 12"/>
            <p:cNvSpPr/>
            <p:nvPr>
              <p:custDataLst>
                <p:tags r:id="rId9"/>
              </p:custDataLst>
            </p:nvPr>
          </p:nvSpPr>
          <p:spPr>
            <a:xfrm>
              <a:off x="10522" y="2241"/>
              <a:ext cx="8189" cy="32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{2，3}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中的状态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，3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不能被任何输入符号</a:t>
              </a:r>
              <a:r>
                <a:rPr lang="zh-CN" altLang="en-US" sz="32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所区分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。故状态集合</a:t>
              </a:r>
              <a:r>
                <a:rPr lang="zh-CN" altLang="en-US" sz="3200" dirty="0">
                  <a:solidFill>
                    <a:schemeClr val="hlink"/>
                  </a:solidFill>
                  <a:latin typeface="宋体" panose="02010600030101010101" pitchFamily="2" charset="-122"/>
                </a:rPr>
                <a:t>最终划分为两个等价类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：</a:t>
              </a:r>
              <a:r>
                <a:rPr lang="zh-CN" altLang="en-US" sz="32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{2，3}，{1}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。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461" name="Rectangle 13"/>
            <p:cNvSpPr/>
            <p:nvPr>
              <p:custDataLst>
                <p:tags r:id="rId10"/>
              </p:custDataLst>
            </p:nvPr>
          </p:nvSpPr>
          <p:spPr>
            <a:xfrm>
              <a:off x="10272" y="6090"/>
              <a:ext cx="8928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20000"/>
                </a:spcBef>
                <a:buSzPct val="90000"/>
              </a:pP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最小化后的</a:t>
              </a:r>
              <a:r>
                <a:rPr lang="en-US" altLang="zh-CN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DFA M</a:t>
              </a:r>
              <a:r>
                <a:rPr lang="zh-CN" altLang="en-US" sz="3200" dirty="0">
                  <a:solidFill>
                    <a:srgbClr val="030305"/>
                  </a:solidFill>
                  <a:latin typeface="宋体" panose="02010600030101010101" pitchFamily="2" charset="-122"/>
                </a:rPr>
                <a:t>如下图所示。</a:t>
              </a:r>
              <a:endParaRPr lang="zh-CN" altLang="en-US" sz="3200" dirty="0">
                <a:solidFill>
                  <a:srgbClr val="030305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5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53">
                                            <p:txEl>
                                              <p:charRg st="1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53">
                                            <p:txEl>
                                              <p:charRg st="5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53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AutoShape 5"/>
          <p:cNvSpPr/>
          <p:nvPr/>
        </p:nvSpPr>
        <p:spPr>
          <a:xfrm>
            <a:off x="7010400" y="1828800"/>
            <a:ext cx="2971800" cy="1295400"/>
          </a:xfrm>
          <a:prstGeom prst="cloudCallout">
            <a:avLst>
              <a:gd name="adj1" fmla="val -112662"/>
              <a:gd name="adj2" fmla="val -5884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" panose="020B0604020202020204" pitchFamily="34" charset="0"/>
                <a:ea typeface="方正舒体" panose="02010601030101010101" pitchFamily="2" charset="-122"/>
              </a:rPr>
              <a:t>单词</a:t>
            </a: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的识别系统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9574" name="AutoShape 6"/>
          <p:cNvSpPr/>
          <p:nvPr/>
        </p:nvSpPr>
        <p:spPr>
          <a:xfrm>
            <a:off x="7620000" y="3200400"/>
            <a:ext cx="3129915" cy="2057400"/>
          </a:xfrm>
          <a:prstGeom prst="cloudCallout">
            <a:avLst>
              <a:gd name="adj1" fmla="val -66611"/>
              <a:gd name="adj2" fmla="val -30093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设计和实现词法分析程序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8550" name="Rectangle 9"/>
          <p:cNvSpPr>
            <a:spLocks noGrp="1"/>
          </p:cNvSpPr>
          <p:nvPr/>
        </p:nvSpPr>
        <p:spPr>
          <a:xfrm>
            <a:off x="575945" y="1196975"/>
            <a:ext cx="9516110" cy="3875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2.1 词法分析器的作用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2.2 </a:t>
            </a:r>
            <a:r>
              <a:rPr lang="zh-CN" altLang="en-US" dirty="0">
                <a:solidFill>
                  <a:schemeClr val="accent1"/>
                </a:solidFill>
              </a:rPr>
              <a:t>正规表达式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2.3 </a:t>
            </a:r>
            <a:r>
              <a:rPr lang="zh-CN" altLang="en-US" dirty="0">
                <a:solidFill>
                  <a:schemeClr val="accent1"/>
                </a:solidFill>
              </a:rPr>
              <a:t>有穷自动机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2.4 </a:t>
            </a:r>
            <a:r>
              <a:rPr lang="zh-CN" altLang="en-US" dirty="0">
                <a:solidFill>
                  <a:schemeClr val="accent1"/>
                </a:solidFill>
              </a:rPr>
              <a:t>从正规表达式到</a:t>
            </a:r>
            <a:r>
              <a:rPr lang="en-US" altLang="zh-CN" dirty="0">
                <a:solidFill>
                  <a:schemeClr val="accent1"/>
                </a:solidFill>
              </a:rPr>
              <a:t>DFA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2.5 用代码实现有穷自动机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30305"/>
                </a:solidFill>
              </a:rPr>
              <a:t>2.6 自动生成词法分析程序</a:t>
            </a:r>
            <a:endParaRPr lang="en-US" altLang="zh-CN" dirty="0"/>
          </a:p>
        </p:txBody>
      </p:sp>
      <p:sp>
        <p:nvSpPr>
          <p:cNvPr id="109572" name="AutoShape 4"/>
          <p:cNvSpPr/>
          <p:nvPr/>
        </p:nvSpPr>
        <p:spPr>
          <a:xfrm>
            <a:off x="7315200" y="549275"/>
            <a:ext cx="2895600" cy="1279525"/>
          </a:xfrm>
          <a:prstGeom prst="cloudCallout">
            <a:avLst>
              <a:gd name="adj1" fmla="val -125657"/>
              <a:gd name="adj2" fmla="val 5359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单词的描述工具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14020" y="276860"/>
            <a:ext cx="866521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二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bldLvl="0" animBg="1"/>
      <p:bldP spid="109574" grpId="0" bldLvl="0" animBg="1"/>
      <p:bldP spid="109572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87" name="Rectangle 19"/>
          <p:cNvSpPr>
            <a:spLocks noGrp="1"/>
          </p:cNvSpPr>
          <p:nvPr/>
        </p:nvSpPr>
        <p:spPr>
          <a:xfrm>
            <a:off x="390525" y="1196975"/>
            <a:ext cx="5308600" cy="13684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marL="571500" indent="-5715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 b="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错误问题</a:t>
            </a:r>
            <a:endParaRPr lang="zh-CN" altLang="en-US" sz="3200" b="0" dirty="0">
              <a:solidFill>
                <a:srgbClr val="FF0066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571500" indent="-571500" eaLnBrk="1" hangingPunct="1">
              <a:lnSpc>
                <a:spcPct val="90000"/>
              </a:lnSpc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0305"/>
                </a:solidFill>
              </a:rPr>
              <a:t>出现错误单词的情况是否体现在自动机模型中？</a:t>
            </a:r>
            <a:endParaRPr lang="zh-CN" altLang="en-US" sz="2800" dirty="0">
              <a:solidFill>
                <a:srgbClr val="030305"/>
              </a:solidFill>
            </a:endParaRPr>
          </a:p>
          <a:p>
            <a:pPr marL="742950" lvl="1" indent="-285750" eaLnBrk="1" hangingPunct="1">
              <a:lnSpc>
                <a:spcPct val="90000"/>
              </a:lnSpc>
            </a:pPr>
            <a:r>
              <a:rPr lang="zh-CN" altLang="en-US" sz="2000" dirty="0">
                <a:solidFill>
                  <a:srgbClr val="030305"/>
                </a:solidFill>
              </a:rPr>
              <a:t>遇到出错状态的典型动作是在输入中备份或生成错误单词。</a:t>
            </a:r>
            <a:endParaRPr lang="en-US" altLang="zh-CN" sz="20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389890" y="276860"/>
            <a:ext cx="868934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5" name="Group 3"/>
          <p:cNvGrpSpPr/>
          <p:nvPr/>
        </p:nvGrpSpPr>
        <p:grpSpPr>
          <a:xfrm>
            <a:off x="3103880" y="3796665"/>
            <a:ext cx="4573588" cy="2060575"/>
            <a:chOff x="684" y="1632"/>
            <a:chExt cx="2881" cy="1298"/>
          </a:xfrm>
        </p:grpSpPr>
        <p:grpSp>
          <p:nvGrpSpPr>
            <p:cNvPr id="111620" name="Group 4"/>
            <p:cNvGrpSpPr/>
            <p:nvPr/>
          </p:nvGrpSpPr>
          <p:grpSpPr>
            <a:xfrm>
              <a:off x="684" y="1632"/>
              <a:ext cx="2881" cy="982"/>
              <a:chOff x="684" y="1632"/>
              <a:chExt cx="2881" cy="982"/>
            </a:xfrm>
          </p:grpSpPr>
          <p:sp>
            <p:nvSpPr>
              <p:cNvPr id="111621" name="Oval 5"/>
              <p:cNvSpPr/>
              <p:nvPr>
                <p:custDataLst>
                  <p:tags r:id="rId1"/>
                </p:custDataLst>
              </p:nvPr>
            </p:nvSpPr>
            <p:spPr>
              <a:xfrm>
                <a:off x="1102" y="2189"/>
                <a:ext cx="744" cy="425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start</a:t>
                </a:r>
                <a:endParaRPr lang="en-US" altLang="zh-CN" sz="20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11622" name="Lin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84" y="2421"/>
                <a:ext cx="418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1623" name="Lin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1861" y="2421"/>
                <a:ext cx="790" cy="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1624" name="Rectangle 8"/>
              <p:cNvSpPr/>
              <p:nvPr>
                <p:custDataLst>
                  <p:tags r:id="rId4"/>
                </p:custDataLst>
              </p:nvPr>
            </p:nvSpPr>
            <p:spPr>
              <a:xfrm>
                <a:off x="1954" y="2235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</a:t>
                </a:r>
                <a:endParaRPr lang="en-US" altLang="zh-CN" sz="20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111625" name="AutoShape 9"/>
              <p:cNvCxnSpPr/>
              <p:nvPr>
                <p:custDataLst>
                  <p:tags r:id="rId5"/>
                </p:custDataLst>
              </p:nvPr>
            </p:nvCxnSpPr>
            <p:spPr>
              <a:xfrm rot="5400000" flipV="1">
                <a:off x="3012" y="1964"/>
                <a:ext cx="2" cy="548"/>
              </a:xfrm>
              <a:prstGeom prst="curvedConnector3">
                <a:avLst>
                  <a:gd name="adj1" fmla="val -193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1626" name="Rectangl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2496" y="1632"/>
                <a:ext cx="1069" cy="2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letter|digit</a:t>
                </a:r>
                <a:endParaRPr lang="en-US" altLang="zh-CN" sz="20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627" name="Oval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2682" y="2189"/>
                <a:ext cx="744" cy="425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in_id</a:t>
                </a:r>
                <a:endParaRPr lang="en-US" altLang="zh-CN" sz="2000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111629" name="Group 13"/>
            <p:cNvGrpSpPr/>
            <p:nvPr/>
          </p:nvGrpSpPr>
          <p:grpSpPr>
            <a:xfrm>
              <a:off x="1736" y="2544"/>
              <a:ext cx="1579" cy="386"/>
              <a:chOff x="1736" y="2544"/>
              <a:chExt cx="1579" cy="386"/>
            </a:xfrm>
          </p:grpSpPr>
          <p:cxnSp>
            <p:nvCxnSpPr>
              <p:cNvPr id="111630" name="AutoShape 14"/>
              <p:cNvCxnSpPr>
                <a:stCxn id="111621" idx="5"/>
                <a:endCxn id="111627" idx="4"/>
              </p:cNvCxnSpPr>
              <p:nvPr>
                <p:custDataLst>
                  <p:tags r:id="rId8"/>
                </p:custDataLst>
              </p:nvPr>
            </p:nvCxnSpPr>
            <p:spPr>
              <a:xfrm rot="-5400000" flipH="1">
                <a:off x="2363" y="1923"/>
                <a:ext cx="62" cy="1317"/>
              </a:xfrm>
              <a:prstGeom prst="curvedConnector3">
                <a:avLst>
                  <a:gd name="adj1" fmla="val 33225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1631" name="Rectangle 15"/>
              <p:cNvSpPr/>
              <p:nvPr>
                <p:custDataLst>
                  <p:tags r:id="rId9"/>
                </p:custDataLst>
              </p:nvPr>
            </p:nvSpPr>
            <p:spPr>
              <a:xfrm>
                <a:off x="2112" y="2544"/>
                <a:ext cx="576" cy="2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[other]</a:t>
                </a:r>
                <a:endParaRPr lang="en-US" altLang="zh-CN" sz="20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632" name="Rectangl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120" y="2640"/>
                <a:ext cx="19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spcBef>
                    <a:spcPct val="20000"/>
                  </a:spcBef>
                  <a:buSzPct val="90000"/>
                </a:pPr>
                <a:endParaRPr lang="zh-CN" altLang="en-US" sz="24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" name="Group 17"/>
          <p:cNvGrpSpPr/>
          <p:nvPr/>
        </p:nvGrpSpPr>
        <p:grpSpPr>
          <a:xfrm>
            <a:off x="7447280" y="4253865"/>
            <a:ext cx="2844800" cy="1133475"/>
            <a:chOff x="3216" y="1680"/>
            <a:chExt cx="1652" cy="714"/>
          </a:xfrm>
        </p:grpSpPr>
        <p:sp>
          <p:nvSpPr>
            <p:cNvPr id="111634" name="Oval 18"/>
            <p:cNvSpPr/>
            <p:nvPr>
              <p:custDataLst>
                <p:tags r:id="rId11"/>
              </p:custDataLst>
            </p:nvPr>
          </p:nvSpPr>
          <p:spPr>
            <a:xfrm>
              <a:off x="3996" y="1930"/>
              <a:ext cx="790" cy="464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•"/>
              </a:pPr>
              <a:endParaRPr lang="zh-CN" altLang="en-US" dirty="0">
                <a:latin typeface="Verdana" panose="020B0604030504040204" pitchFamily="34" charset="0"/>
              </a:endParaRPr>
            </a:p>
          </p:txBody>
        </p:sp>
        <p:sp>
          <p:nvSpPr>
            <p:cNvPr id="111635" name="Oval 19"/>
            <p:cNvSpPr/>
            <p:nvPr>
              <p:custDataLst>
                <p:tags r:id="rId12"/>
              </p:custDataLst>
            </p:nvPr>
          </p:nvSpPr>
          <p:spPr>
            <a:xfrm>
              <a:off x="4154" y="2033"/>
              <a:ext cx="474" cy="25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0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finish</a:t>
              </a:r>
              <a:endParaRPr lang="en-US" altLang="zh-CN" sz="2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36" name="Line 20"/>
            <p:cNvSpPr/>
            <p:nvPr>
              <p:custDataLst>
                <p:tags r:id="rId13"/>
              </p:custDataLst>
            </p:nvPr>
          </p:nvSpPr>
          <p:spPr>
            <a:xfrm>
              <a:off x="3216" y="2160"/>
              <a:ext cx="790" cy="0"/>
            </a:xfrm>
            <a:prstGeom prst="line">
              <a:avLst/>
            </a:prstGeom>
            <a:ln w="9525" cap="flat" cmpd="sng">
              <a:solidFill>
                <a:srgbClr val="03030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1637" name="Rectangle 21"/>
            <p:cNvSpPr/>
            <p:nvPr>
              <p:custDataLst>
                <p:tags r:id="rId14"/>
              </p:custDataLst>
            </p:nvPr>
          </p:nvSpPr>
          <p:spPr>
            <a:xfrm>
              <a:off x="3312" y="1968"/>
              <a:ext cx="511" cy="1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000" dirty="0">
                  <a:solidFill>
                    <a:srgbClr val="030305"/>
                  </a:solidFill>
                  <a:latin typeface="Times New Roman" panose="02020603050405020304" pitchFamily="18" charset="0"/>
                </a:rPr>
                <a:t>[other]</a:t>
              </a:r>
              <a:endParaRPr lang="en-US" altLang="zh-CN" sz="2000" baseline="30000" dirty="0">
                <a:solidFill>
                  <a:srgbClr val="030305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638" name="Rectangle 22"/>
            <p:cNvSpPr/>
            <p:nvPr>
              <p:custDataLst>
                <p:tags r:id="rId15"/>
              </p:custDataLst>
            </p:nvPr>
          </p:nvSpPr>
          <p:spPr>
            <a:xfrm>
              <a:off x="4032" y="1680"/>
              <a:ext cx="83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SzPct val="90000"/>
              </a:pPr>
              <a:r>
                <a:rPr lang="en-US" altLang="zh-CN" sz="20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return ID</a:t>
              </a:r>
              <a:endPara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1651" name="Rectangle 34"/>
          <p:cNvSpPr/>
          <p:nvPr>
            <p:custDataLst>
              <p:tags r:id="rId16"/>
            </p:custDataLst>
          </p:nvPr>
        </p:nvSpPr>
        <p:spPr>
          <a:xfrm>
            <a:off x="6366510" y="5297170"/>
            <a:ext cx="256032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</a:rPr>
              <a:t>return ERROR or other</a:t>
            </a:r>
            <a:endParaRPr lang="zh-CN" altLang="en-US" sz="200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8" name="Rectangle 2"/>
          <p:cNvSpPr/>
          <p:nvPr>
            <p:custDataLst>
              <p:tags r:id="rId17"/>
            </p:custDataLst>
          </p:nvPr>
        </p:nvSpPr>
        <p:spPr>
          <a:xfrm>
            <a:off x="5714365" y="1193800"/>
            <a:ext cx="97732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spcBef>
                <a:spcPct val="50000"/>
              </a:spcBef>
              <a:buSzPct val="90000"/>
            </a:pPr>
            <a:r>
              <a:rPr lang="zh-CN" altLang="en-US" sz="32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2.分割符问题</a:t>
            </a:r>
            <a:endParaRPr lang="zh-CN" altLang="en-US" sz="3200" dirty="0">
              <a:solidFill>
                <a:srgbClr val="FF0066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26342" name="Rectangle 38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5801995" y="1767840"/>
            <a:ext cx="5643245" cy="14471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800" b="0" dirty="0">
                <a:solidFill>
                  <a:srgbClr val="030305"/>
                </a:solidFill>
              </a:rPr>
              <a:t>对于</a:t>
            </a:r>
            <a:r>
              <a:rPr lang="en-US" altLang="zh-CN" sz="2800" b="0" dirty="0">
                <a:solidFill>
                  <a:srgbClr val="030305"/>
                </a:solidFill>
              </a:rPr>
              <a:t>xtemp=ytemp </a:t>
            </a:r>
            <a:endParaRPr lang="zh-CN" altLang="en-US" sz="2800" b="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b="0" dirty="0">
                <a:solidFill>
                  <a:srgbClr val="030305"/>
                </a:solidFill>
              </a:rPr>
              <a:t>优先考虑分割符（不能丢掉），并将刚识别的单词返回。</a:t>
            </a:r>
            <a:endParaRPr lang="en-US" altLang="zh-CN" sz="2600" b="0" dirty="0">
              <a:solidFill>
                <a:srgbClr val="03030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1160" y="3091180"/>
            <a:ext cx="11299825" cy="1207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600" b="1" kern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3.</a:t>
            </a:r>
            <a:r>
              <a:rPr lang="zh-CN" altLang="en-US" sz="3200" dirty="0">
                <a:solidFill>
                  <a:srgbClr val="FF0066"/>
                </a:solidFill>
                <a:latin typeface="华文琥珀" panose="02010800040101010101" pitchFamily="2" charset="-122"/>
                <a:ea typeface="华文琥珀" panose="02010800040101010101" pitchFamily="2" charset="-122"/>
                <a:sym typeface="+mn-ea"/>
              </a:rPr>
              <a:t>建议自动机仅包含一个接受状态，并且没有出度。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ea"/>
                <a:sym typeface="+mn-ea"/>
              </a:rPr>
              <a:t>如果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ea"/>
                <a:sym typeface="+mn-ea"/>
              </a:rPr>
              <a:t>多个接受状态怎么</a:t>
            </a:r>
            <a:r>
              <a:rPr kumimoji="1" lang="zh-CN" altLang="en-US" sz="2600" b="1" kern="0" noProof="0" dirty="0">
                <a:ln>
                  <a:noFill/>
                </a:ln>
                <a:solidFill>
                  <a:srgbClr val="030305"/>
                </a:solidFill>
                <a:effectLst/>
                <a:uLnTx/>
                <a:uFillTx/>
                <a:latin typeface="+mn-ea"/>
                <a:sym typeface="+mn-ea"/>
              </a:rPr>
              <a:t>办？</a:t>
            </a:r>
            <a:endParaRPr kumimoji="1" lang="zh-CN" altLang="en-US" sz="2600" b="1" kern="0" noProof="0" dirty="0">
              <a:ln>
                <a:noFill/>
              </a:ln>
              <a:solidFill>
                <a:srgbClr val="030305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98780" y="276860"/>
            <a:ext cx="868045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4690" name="Rectangle 6"/>
          <p:cNvSpPr/>
          <p:nvPr/>
        </p:nvSpPr>
        <p:spPr>
          <a:xfrm>
            <a:off x="225425" y="1064260"/>
            <a:ext cx="11849735" cy="57505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>
                <a:shade val="50000"/>
              </a:schemeClr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sz="3200" b="0" dirty="0">
              <a:latin typeface="Arial" panose="020B0604020202020204" pitchFamily="34" charset="0"/>
            </a:endParaRPr>
          </a:p>
        </p:txBody>
      </p:sp>
      <p:sp>
        <p:nvSpPr>
          <p:cNvPr id="114691" name="Rectangle 7"/>
          <p:cNvSpPr/>
          <p:nvPr/>
        </p:nvSpPr>
        <p:spPr>
          <a:xfrm>
            <a:off x="309245" y="1113790"/>
            <a:ext cx="7595235" cy="4686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marL="457200" indent="-457200" algn="just">
              <a:buAutoNum type="arabicPeriod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模拟上述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最早且最简单的方法是：</a:t>
            </a:r>
            <a:endParaRPr lang="zh-CN" altLang="en-US" sz="24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911" name="Rectangle 8"/>
          <p:cNvSpPr/>
          <p:nvPr/>
        </p:nvSpPr>
        <p:spPr>
          <a:xfrm>
            <a:off x="351790" y="1545590"/>
            <a:ext cx="6814820" cy="52692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noAutofit/>
          </a:bodyPr>
          <a:p>
            <a:pPr marL="457200" indent="-457200" algn="just"/>
            <a:r>
              <a:rPr lang="en-US" altLang="zh-CN" sz="2400" i="1" dirty="0">
                <a:latin typeface="Times New Roman" panose="02020603050405020304" pitchFamily="18" charset="0"/>
              </a:rPr>
              <a:t>{</a:t>
            </a:r>
            <a:r>
              <a:rPr lang="zh-CN" altLang="en-US" sz="2000" i="1" dirty="0">
                <a:latin typeface="Times New Roman" panose="02020603050405020304" pitchFamily="18" charset="0"/>
              </a:rPr>
              <a:t>注释：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starting in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state 1</a:t>
            </a:r>
            <a:r>
              <a:rPr lang="en-US" altLang="zh-CN" sz="2400" i="1" dirty="0">
                <a:latin typeface="Times New Roman" panose="02020603050405020304" pitchFamily="18" charset="0"/>
              </a:rPr>
              <a:t>}</a:t>
            </a:r>
            <a:endParaRPr lang="en-US" altLang="zh-CN" sz="2400" i="1" dirty="0">
              <a:latin typeface="Times New Roman" panose="02020603050405020304" pitchFamily="18" charset="0"/>
            </a:endParaRPr>
          </a:p>
          <a:p>
            <a:pPr marL="457200" indent="-457200" algn="just"/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800" i="1" dirty="0">
                <a:latin typeface="Times New Roman" panose="02020603050405020304" pitchFamily="18" charset="0"/>
              </a:rPr>
              <a:t>:=getchar();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 algn="just"/>
            <a:r>
              <a:rPr lang="en-US" altLang="zh-CN" sz="2800" dirty="0">
                <a:latin typeface="Times New Roman" panose="02020603050405020304" pitchFamily="18" charset="0"/>
              </a:rPr>
              <a:t>if the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800" dirty="0">
                <a:latin typeface="Times New Roman" panose="02020603050405020304" pitchFamily="18" charset="0"/>
              </a:rPr>
              <a:t> is a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letter</a:t>
            </a:r>
            <a:r>
              <a:rPr lang="en-US" altLang="zh-CN" sz="2800" dirty="0">
                <a:latin typeface="Times New Roman" panose="02020603050405020304" pitchFamily="18" charset="0"/>
              </a:rPr>
              <a:t> then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 algn="just"/>
            <a:r>
              <a:rPr lang="en-US" altLang="zh-CN" sz="2800" dirty="0">
                <a:latin typeface="Times New Roman" panose="02020603050405020304" pitchFamily="18" charset="0"/>
              </a:rPr>
              <a:t>	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800" i="1" dirty="0">
                <a:latin typeface="Times New Roman" panose="02020603050405020304" pitchFamily="18" charset="0"/>
              </a:rPr>
              <a:t>:=getchar();  </a:t>
            </a:r>
            <a:r>
              <a:rPr lang="en-US" altLang="zh-CN" sz="2400" i="1" dirty="0">
                <a:latin typeface="Times New Roman" panose="02020603050405020304" pitchFamily="18" charset="0"/>
              </a:rPr>
              <a:t>{</a:t>
            </a:r>
            <a:r>
              <a:rPr lang="zh-CN" altLang="en-US" i="1" dirty="0">
                <a:latin typeface="Verdana" panose="020B0604030504040204" pitchFamily="34" charset="0"/>
              </a:rPr>
              <a:t>注释：</a:t>
            </a:r>
            <a:r>
              <a:rPr lang="en-US" altLang="zh-CN" dirty="0">
                <a:latin typeface="Verdana" panose="020B0604030504040204" pitchFamily="34" charset="0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now in 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state 2}</a:t>
            </a:r>
            <a:endParaRPr lang="en-US" altLang="zh-CN" sz="24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</a:rPr>
              <a:t>while the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 </a:t>
            </a:r>
            <a:r>
              <a:rPr lang="en-US" altLang="zh-CN" sz="2800" dirty="0">
                <a:latin typeface="Times New Roman" panose="02020603050405020304" pitchFamily="18" charset="0"/>
              </a:rPr>
              <a:t>is a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letter </a:t>
            </a:r>
            <a:r>
              <a:rPr lang="en-US" altLang="zh-CN" sz="2800" dirty="0">
                <a:latin typeface="Times New Roman" panose="02020603050405020304" pitchFamily="18" charset="0"/>
              </a:rPr>
              <a:t> or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dirty="0">
                <a:latin typeface="Times New Roman" panose="02020603050405020304" pitchFamily="18" charset="0"/>
              </a:rPr>
              <a:t> do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</a:t>
            </a:r>
            <a:r>
              <a:rPr lang="en-US" altLang="zh-CN" sz="2800" i="1" dirty="0">
                <a:latin typeface="Times New Roman" panose="02020603050405020304" pitchFamily="18" charset="0"/>
              </a:rPr>
              <a:t>:=getchar();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Verdana" panose="020B0604030504040204" pitchFamily="34" charset="0"/>
              </a:rPr>
              <a:t>{</a:t>
            </a:r>
            <a:r>
              <a:rPr lang="zh-CN" altLang="en-US" i="1" dirty="0">
                <a:latin typeface="Verdana" panose="020B0604030504040204" pitchFamily="34" charset="0"/>
              </a:rPr>
              <a:t>注释：</a:t>
            </a:r>
            <a:r>
              <a:rPr lang="en-US" altLang="zh-CN" i="1" dirty="0">
                <a:latin typeface="Verdana" panose="020B0604030504040204" pitchFamily="34" charset="0"/>
              </a:rPr>
              <a:t> stay in 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state 2</a:t>
            </a:r>
            <a:r>
              <a:rPr lang="en-US" altLang="zh-CN" i="1" dirty="0">
                <a:latin typeface="Verdana" panose="020B0604030504040204" pitchFamily="34" charset="0"/>
              </a:rPr>
              <a:t>}</a:t>
            </a:r>
            <a:endParaRPr lang="en-US" altLang="zh-CN" i="1" dirty="0">
              <a:latin typeface="Verdana" panose="020B0604030504040204" pitchFamily="34" charset="0"/>
            </a:endParaRPr>
          </a:p>
          <a:p>
            <a:pPr marL="457200" indent="-457200"/>
            <a:r>
              <a:rPr lang="en-US" altLang="zh-CN" sz="2800" dirty="0">
                <a:latin typeface="Times New Roman" panose="02020603050405020304" pitchFamily="18" charset="0"/>
              </a:rPr>
              <a:t>       end while;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{</a:t>
            </a:r>
            <a:r>
              <a:rPr lang="zh-CN" altLang="en-US" i="1" dirty="0">
                <a:latin typeface="Verdana" panose="020B0604030504040204" pitchFamily="34" charset="0"/>
              </a:rPr>
              <a:t>注释：</a:t>
            </a:r>
            <a:r>
              <a:rPr lang="en-US" altLang="zh-CN" dirty="0">
                <a:latin typeface="Verdana" panose="020B0604030504040204" pitchFamily="34" charset="0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go to state 3 without advancing the input} </a:t>
            </a:r>
            <a:endParaRPr lang="en-US" altLang="zh-CN" sz="2400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dirty="0">
                <a:latin typeface="Times New Roman" panose="02020603050405020304" pitchFamily="18" charset="0"/>
              </a:rPr>
              <a:t>accept;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dirty="0">
                <a:latin typeface="Times New Roman" panose="02020603050405020304" pitchFamily="18" charset="0"/>
              </a:rPr>
              <a:t>else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{</a:t>
            </a:r>
            <a:r>
              <a:rPr lang="zh-CN" altLang="en-US" i="1" dirty="0">
                <a:latin typeface="Verdana" panose="020B0604030504040204" pitchFamily="34" charset="0"/>
              </a:rPr>
              <a:t>注释：</a:t>
            </a:r>
            <a:r>
              <a:rPr lang="zh-CN" altLang="en-US" dirty="0">
                <a:latin typeface="Verdana" panose="020B0604030504040204" pitchFamily="34" charset="0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error or other cases}</a:t>
            </a:r>
            <a:endParaRPr lang="en-US" altLang="zh-CN" sz="2400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dirty="0">
                <a:latin typeface="Times New Roman" panose="02020603050405020304" pitchFamily="18" charset="0"/>
              </a:rPr>
              <a:t>end if;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3909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769735" y="1196975"/>
            <a:ext cx="5255895" cy="33845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适合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状态且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DFA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中的循环较小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用不同的方法处理各个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DFA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，规定一套用这种办法将每个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DFA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翻译为代码的算法较难。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状态增多时，且当不同的状态与任意路径增多时，代码会变得非常复杂。  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296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3911">
                                            <p:txEl>
                                              <p:charRg st="296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302" end="3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23911">
                                            <p:txEl>
                                              <p:charRg st="302" end="3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335" end="3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3911">
                                            <p:txEl>
                                              <p:charRg st="335" end="3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67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23911">
                                            <p:txEl>
                                              <p:charRg st="67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108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23911">
                                            <p:txEl>
                                              <p:charRg st="108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154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23911">
                                            <p:txEl>
                                              <p:charRg st="154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205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23911">
                                            <p:txEl>
                                              <p:charRg st="205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224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123911">
                                            <p:txEl>
                                              <p:charRg st="224" end="2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charRg st="281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123911">
                                            <p:txEl>
                                              <p:charRg st="281" end="2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12390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charRg st="7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123909">
                                            <p:txEl>
                                              <p:charRg st="72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charRg st="121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123909">
                                            <p:txEl>
                                              <p:charRg st="121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77190" y="276860"/>
            <a:ext cx="870204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7762" name="Rectangle 4"/>
          <p:cNvSpPr/>
          <p:nvPr/>
        </p:nvSpPr>
        <p:spPr>
          <a:xfrm>
            <a:off x="1865948" y="1372235"/>
            <a:ext cx="8459787" cy="445135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sz="3200" b="0" dirty="0">
              <a:latin typeface="Arial" panose="020B0604020202020204" pitchFamily="34" charset="0"/>
            </a:endParaRPr>
          </a:p>
        </p:txBody>
      </p:sp>
      <p:sp>
        <p:nvSpPr>
          <p:cNvPr id="117763" name="Rectangle 5"/>
          <p:cNvSpPr/>
          <p:nvPr/>
        </p:nvSpPr>
        <p:spPr>
          <a:xfrm>
            <a:off x="376873" y="1221105"/>
            <a:ext cx="73453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 algn="just">
              <a:buAutoNum type="arabicPeriod" startAt="2"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利用状态变量和嵌套的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测试模拟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DFA: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079" name="Rectangle 6"/>
          <p:cNvSpPr/>
          <p:nvPr/>
        </p:nvSpPr>
        <p:spPr>
          <a:xfrm>
            <a:off x="377190" y="1619250"/>
            <a:ext cx="8064500" cy="48310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state:=1;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ch:=getchar();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while 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state</a:t>
            </a:r>
            <a:r>
              <a:rPr lang="zh-CN" altLang="en-US" sz="2800" i="1" dirty="0">
                <a:latin typeface="Times New Roman" panose="02020603050405020304" pitchFamily="18" charset="0"/>
              </a:rPr>
              <a:t>！</a:t>
            </a:r>
            <a:r>
              <a:rPr lang="en-US" altLang="zh-CN" sz="2800" i="1" dirty="0">
                <a:latin typeface="Times New Roman" panose="02020603050405020304" pitchFamily="18" charset="0"/>
              </a:rPr>
              <a:t>=3) do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case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state</a:t>
            </a:r>
            <a:r>
              <a:rPr lang="en-US" altLang="zh-CN" sz="2800" i="1" dirty="0">
                <a:latin typeface="Times New Roman" panose="02020603050405020304" pitchFamily="18" charset="0"/>
              </a:rPr>
              <a:t> of 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1:     case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ch </a:t>
            </a:r>
            <a:r>
              <a:rPr lang="en-US" altLang="zh-CN" sz="2800" i="1" dirty="0">
                <a:latin typeface="Times New Roman" panose="02020603050405020304" pitchFamily="18" charset="0"/>
              </a:rPr>
              <a:t>of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	          letter:      ch:=getchar();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		                    state:=2;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	         default:   state:=…{error or other}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       end case;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  <a:sym typeface="+mn-ea"/>
              </a:rPr>
              <a:t>2:   case 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ch  </a:t>
            </a:r>
            <a:r>
              <a:rPr lang="en-US" altLang="zh-CN" sz="2800" i="1" dirty="0">
                <a:latin typeface="Times New Roman" panose="02020603050405020304" pitchFamily="18" charset="0"/>
                <a:sym typeface="+mn-ea"/>
              </a:rPr>
              <a:t>of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 </a:t>
            </a:r>
            <a:endParaRPr lang="en-US" altLang="zh-CN" sz="28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2800" i="1" dirty="0">
                <a:latin typeface="Times New Roman" panose="02020603050405020304" pitchFamily="18" charset="0"/>
              </a:rPr>
              <a:t>      ......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  <p:sp>
        <p:nvSpPr>
          <p:cNvPr id="130053" name="Rectangle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76390" y="1400810"/>
            <a:ext cx="5031740" cy="4064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/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较好的实现方法，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将</a:t>
            </a:r>
            <a:r>
              <a:rPr lang="zh-CN" altLang="en-US" sz="280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转换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写成一个双层嵌套的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switch-case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语句：</a:t>
            </a:r>
            <a:endParaRPr lang="en-US" altLang="zh-CN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394970" eaLnBrk="1" hangingPunct="1"/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lang="en-US" altLang="zh-CN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层</a:t>
            </a:r>
            <a:r>
              <a:rPr lang="en-US" altLang="zh-CN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switch</a:t>
            </a:r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语句测试</a:t>
            </a:r>
            <a:r>
              <a:rPr lang="zh-CN" altLang="en-US" sz="271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当前状态</a:t>
            </a:r>
            <a:r>
              <a:rPr lang="en-US" altLang="zh-CN" sz="271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endParaRPr lang="en-US" altLang="zh-CN" sz="2710" dirty="0">
              <a:solidFill>
                <a:srgbClr val="FF006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394970" eaLnBrk="1" hangingPunct="1"/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第</a:t>
            </a:r>
            <a:r>
              <a:rPr lang="en-US" altLang="zh-CN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</a:t>
            </a:r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层</a:t>
            </a:r>
            <a:r>
              <a:rPr lang="en-US" altLang="zh-CN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switch</a:t>
            </a:r>
            <a:r>
              <a:rPr lang="zh-CN" altLang="en-US" sz="271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测试</a:t>
            </a:r>
            <a:r>
              <a:rPr lang="zh-CN" altLang="en-US" sz="2710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输入字符</a:t>
            </a:r>
            <a:endParaRPr lang="en-US" altLang="zh-CN" sz="2710" dirty="0">
              <a:solidFill>
                <a:srgbClr val="FF006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eaLnBrk="1" hangingPunct="1"/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保存遇到该输入字符</a:t>
            </a:r>
            <a:r>
              <a:rPr lang="zh-CN" altLang="en-US" sz="24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转换之后的状态</a:t>
            </a:r>
            <a:endParaRPr lang="en-US" altLang="zh-CN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2" eaLnBrk="1" hangingPunct="1"/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判断是否读下一个字符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3107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1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31079">
                                            <p:txEl>
                                              <p:charRg st="1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31079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4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31079">
                                            <p:txEl>
                                              <p:charRg st="45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62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31079">
                                            <p:txEl>
                                              <p:charRg st="62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84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31079">
                                            <p:txEl>
                                              <p:charRg st="84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123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31079">
                                            <p:txEl>
                                              <p:charRg st="123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155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131079">
                                            <p:txEl>
                                              <p:charRg st="155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201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131079">
                                            <p:txEl>
                                              <p:charRg st="201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131079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131079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130053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6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7" dur="500"/>
                                        <p:tgtEl>
                                          <p:spTgt spid="130053">
                                            <p:txEl>
                                              <p:charRg st="62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81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2" dur="500"/>
                                        <p:tgtEl>
                                          <p:spTgt spid="130053">
                                            <p:txEl>
                                              <p:charRg st="81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>
                                            <p:txEl>
                                              <p:charRg st="9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500"/>
                                        <p:tgtEl>
                                          <p:spTgt spid="130053">
                                            <p:txEl>
                                              <p:charRg st="99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27025" y="276860"/>
            <a:ext cx="8752205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9811" name="Line 5"/>
          <p:cNvSpPr/>
          <p:nvPr/>
        </p:nvSpPr>
        <p:spPr>
          <a:xfrm>
            <a:off x="524828" y="3479483"/>
            <a:ext cx="5538787" cy="1587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12" name="Line 7"/>
          <p:cNvSpPr/>
          <p:nvPr/>
        </p:nvSpPr>
        <p:spPr>
          <a:xfrm>
            <a:off x="1736090" y="2931795"/>
            <a:ext cx="0" cy="257333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13" name="Line 8"/>
          <p:cNvSpPr/>
          <p:nvPr/>
        </p:nvSpPr>
        <p:spPr>
          <a:xfrm>
            <a:off x="524828" y="4220845"/>
            <a:ext cx="5648325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14" name="Line 9"/>
          <p:cNvSpPr/>
          <p:nvPr/>
        </p:nvSpPr>
        <p:spPr>
          <a:xfrm>
            <a:off x="2985453" y="2931795"/>
            <a:ext cx="0" cy="257333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15" name="Line 10"/>
          <p:cNvSpPr/>
          <p:nvPr/>
        </p:nvSpPr>
        <p:spPr>
          <a:xfrm>
            <a:off x="524828" y="2709545"/>
            <a:ext cx="1211262" cy="72390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16" name="Rectangle 11"/>
          <p:cNvSpPr/>
          <p:nvPr/>
        </p:nvSpPr>
        <p:spPr>
          <a:xfrm>
            <a:off x="451803" y="3047683"/>
            <a:ext cx="806450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zh-CN" altLang="en-US" sz="2000" dirty="0">
                <a:solidFill>
                  <a:srgbClr val="030305"/>
                </a:solidFill>
                <a:latin typeface="宋体" panose="02010600030101010101" pitchFamily="2" charset="-122"/>
              </a:rPr>
              <a:t>状态</a:t>
            </a:r>
            <a:endParaRPr lang="zh-CN" altLang="en-US" sz="3200" b="0" dirty="0">
              <a:latin typeface="Arial" panose="020B0604020202020204" pitchFamily="34" charset="0"/>
            </a:endParaRPr>
          </a:p>
        </p:txBody>
      </p:sp>
      <p:sp>
        <p:nvSpPr>
          <p:cNvPr id="119817" name="Rectangle 12"/>
          <p:cNvSpPr/>
          <p:nvPr/>
        </p:nvSpPr>
        <p:spPr>
          <a:xfrm>
            <a:off x="1036003" y="2623820"/>
            <a:ext cx="806450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zh-CN" altLang="en-US" sz="2000" dirty="0">
                <a:solidFill>
                  <a:srgbClr val="030305"/>
                </a:solidFill>
                <a:latin typeface="宋体" panose="02010600030101010101" pitchFamily="2" charset="-122"/>
              </a:rPr>
              <a:t>输入</a:t>
            </a:r>
            <a:endParaRPr lang="zh-CN" altLang="en-US" sz="3200" b="0" dirty="0">
              <a:latin typeface="Arial" panose="020B0604020202020204" pitchFamily="34" charset="0"/>
            </a:endParaRPr>
          </a:p>
        </p:txBody>
      </p:sp>
      <p:sp>
        <p:nvSpPr>
          <p:cNvPr id="119818" name="Rectangle 13"/>
          <p:cNvSpPr/>
          <p:nvPr/>
        </p:nvSpPr>
        <p:spPr>
          <a:xfrm>
            <a:off x="1724978" y="2949258"/>
            <a:ext cx="1233487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letter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19" name="Rectangle 14"/>
          <p:cNvSpPr/>
          <p:nvPr/>
        </p:nvSpPr>
        <p:spPr>
          <a:xfrm>
            <a:off x="3025140" y="2949258"/>
            <a:ext cx="1049338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digit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20" name="Rectangle 15"/>
          <p:cNvSpPr/>
          <p:nvPr/>
        </p:nvSpPr>
        <p:spPr>
          <a:xfrm>
            <a:off x="928053" y="3735070"/>
            <a:ext cx="32385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1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1" name="Rectangle 16"/>
          <p:cNvSpPr/>
          <p:nvPr/>
        </p:nvSpPr>
        <p:spPr>
          <a:xfrm>
            <a:off x="2139315" y="3735070"/>
            <a:ext cx="671513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2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2" name="Rectangle 17"/>
          <p:cNvSpPr/>
          <p:nvPr/>
        </p:nvSpPr>
        <p:spPr>
          <a:xfrm>
            <a:off x="928053" y="4298633"/>
            <a:ext cx="323850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2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3" name="Rectangle 18"/>
          <p:cNvSpPr/>
          <p:nvPr/>
        </p:nvSpPr>
        <p:spPr>
          <a:xfrm>
            <a:off x="928053" y="4865370"/>
            <a:ext cx="444500" cy="60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3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4" name="Line 19"/>
          <p:cNvSpPr/>
          <p:nvPr/>
        </p:nvSpPr>
        <p:spPr>
          <a:xfrm>
            <a:off x="4103053" y="2931795"/>
            <a:ext cx="0" cy="257333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25" name="Line 20"/>
          <p:cNvSpPr/>
          <p:nvPr/>
        </p:nvSpPr>
        <p:spPr>
          <a:xfrm>
            <a:off x="524828" y="4784408"/>
            <a:ext cx="5729287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26" name="Rectangle 21"/>
          <p:cNvSpPr/>
          <p:nvPr/>
        </p:nvSpPr>
        <p:spPr>
          <a:xfrm>
            <a:off x="2120265" y="4276408"/>
            <a:ext cx="538163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2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7" name="Rectangle 22"/>
          <p:cNvSpPr/>
          <p:nvPr/>
        </p:nvSpPr>
        <p:spPr>
          <a:xfrm>
            <a:off x="3331528" y="4262120"/>
            <a:ext cx="43815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2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8" name="Rectangle 23"/>
          <p:cNvSpPr/>
          <p:nvPr/>
        </p:nvSpPr>
        <p:spPr>
          <a:xfrm>
            <a:off x="4314190" y="4230370"/>
            <a:ext cx="712788" cy="606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 3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119829" name="Rectangle 24"/>
          <p:cNvSpPr/>
          <p:nvPr/>
        </p:nvSpPr>
        <p:spPr>
          <a:xfrm>
            <a:off x="4049078" y="2927033"/>
            <a:ext cx="1046162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other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30" name="Line 25"/>
          <p:cNvSpPr/>
          <p:nvPr/>
        </p:nvSpPr>
        <p:spPr>
          <a:xfrm>
            <a:off x="524828" y="5441633"/>
            <a:ext cx="5729287" cy="0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31" name="Line 26"/>
          <p:cNvSpPr/>
          <p:nvPr/>
        </p:nvSpPr>
        <p:spPr>
          <a:xfrm>
            <a:off x="5192078" y="2919095"/>
            <a:ext cx="0" cy="2573338"/>
          </a:xfrm>
          <a:prstGeom prst="line">
            <a:avLst/>
          </a:prstGeom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832" name="Rectangle 27"/>
          <p:cNvSpPr/>
          <p:nvPr/>
        </p:nvSpPr>
        <p:spPr>
          <a:xfrm>
            <a:off x="5207953" y="2927033"/>
            <a:ext cx="1211262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accept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33" name="Rectangle 28"/>
          <p:cNvSpPr/>
          <p:nvPr/>
        </p:nvSpPr>
        <p:spPr>
          <a:xfrm>
            <a:off x="5609590" y="3601720"/>
            <a:ext cx="1035050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no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34" name="Rectangle 29"/>
          <p:cNvSpPr/>
          <p:nvPr/>
        </p:nvSpPr>
        <p:spPr>
          <a:xfrm>
            <a:off x="5609590" y="4195445"/>
            <a:ext cx="962025" cy="752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no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35" name="Rectangle 30"/>
          <p:cNvSpPr/>
          <p:nvPr/>
        </p:nvSpPr>
        <p:spPr>
          <a:xfrm>
            <a:off x="5528628" y="4865370"/>
            <a:ext cx="1116012" cy="60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/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yes</a:t>
            </a:r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119836" name="Rectangle 32"/>
          <p:cNvSpPr/>
          <p:nvPr/>
        </p:nvSpPr>
        <p:spPr>
          <a:xfrm>
            <a:off x="327025" y="1213485"/>
            <a:ext cx="1156208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r>
              <a:rPr lang="zh-CN" altLang="en-US" sz="2800" b="1" dirty="0">
                <a:latin typeface="Arial" panose="020B0604020202020204" pitchFamily="34" charset="0"/>
              </a:rPr>
              <a:t>标识符的</a:t>
            </a:r>
            <a:r>
              <a:rPr lang="en-US" altLang="zh-CN" sz="2800" b="1" dirty="0">
                <a:latin typeface="Arial" panose="020B0604020202020204" pitchFamily="34" charset="0"/>
              </a:rPr>
              <a:t>DFA</a:t>
            </a:r>
            <a:r>
              <a:rPr lang="zh-CN" altLang="en-US" sz="2800" b="1" dirty="0">
                <a:latin typeface="Arial" panose="020B0604020202020204" pitchFamily="34" charset="0"/>
              </a:rPr>
              <a:t>可以用如下二维转换表格表示，其中，空表项表示到错误状态的转换。</a:t>
            </a:r>
            <a:r>
              <a:rPr lang="zh-CN" altLang="en-US" sz="2800" b="1" dirty="0">
                <a:latin typeface="Arial" panose="020B0604020202020204" pitchFamily="34" charset="0"/>
              </a:rPr>
              <a:t> 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0" y="1965960"/>
            <a:ext cx="5250815" cy="3475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78155" lvl="1" indent="-4572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T[state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ch]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：存储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遇到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转换后的状态；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478155" lvl="1" indent="-4572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Accept[state]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：表示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是否为接受状态；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478155" lvl="1" indent="-4572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：保存当前的状态；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478155" lvl="1" indent="-4572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：存储当前扫描的下一个字符；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marL="478155" lvl="1" indent="-457200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Advance[state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ch]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：表示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state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遇到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是否消耗输入字符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，如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Advance[state,ch]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为真，接着读取源程序中下一个字符并存入</a:t>
            </a:r>
            <a:r>
              <a:rPr lang="en-US" altLang="zh-CN" sz="2000" b="1" dirty="0">
                <a:latin typeface="Times New Roman" panose="02020603050405020304" pitchFamily="18" charset="0"/>
                <a:sym typeface="+mn-ea"/>
              </a:rPr>
              <a:t>ch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212090" y="276860"/>
            <a:ext cx="886714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1858" name="Rectangle 2"/>
          <p:cNvSpPr/>
          <p:nvPr/>
        </p:nvSpPr>
        <p:spPr>
          <a:xfrm>
            <a:off x="545148" y="1413828"/>
            <a:ext cx="8137525" cy="4803775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state:=1;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ch:=getchar();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while 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603050405020304" pitchFamily="18" charset="0"/>
              </a:rPr>
              <a:t>not Accept [state]</a:t>
            </a:r>
            <a:r>
              <a:rPr lang="en-US" altLang="zh-CN" sz="3200" i="1" dirty="0">
                <a:latin typeface="Times New Roman" panose="02020603050405020304" pitchFamily="18" charset="0"/>
              </a:rPr>
              <a:t> and </a:t>
            </a:r>
            <a:r>
              <a:rPr lang="en-US" altLang="zh-CN" sz="3200" i="1" dirty="0">
                <a:solidFill>
                  <a:srgbClr val="FF0066"/>
                </a:solidFill>
                <a:latin typeface="Times New Roman" panose="02020603050405020304" pitchFamily="18" charset="0"/>
              </a:rPr>
              <a:t>not error(state)</a:t>
            </a:r>
            <a:r>
              <a:rPr lang="en-US" altLang="zh-CN" sz="3200" i="1" dirty="0">
                <a:latin typeface="Times New Roman" panose="02020603050405020304" pitchFamily="18" charset="0"/>
              </a:rPr>
              <a:t> do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	newstate:=T[state, ch];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     if (Advance[state,ch])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	       ch:=getchar();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	state:=newstate;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end while;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sz="3200" i="1" dirty="0">
                <a:latin typeface="Times New Roman" panose="02020603050405020304" pitchFamily="18" charset="0"/>
              </a:rPr>
              <a:t>if  (Accept [state])   accept;</a:t>
            </a:r>
            <a:endParaRPr lang="zh-CN" altLang="en-US" sz="3200" i="1" dirty="0">
              <a:latin typeface="Times New Roman" panose="02020603050405020304" pitchFamily="18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5948998" y="1216978"/>
            <a:ext cx="2592387" cy="1374775"/>
          </a:xfrm>
          <a:prstGeom prst="cloudCallout">
            <a:avLst>
              <a:gd name="adj1" fmla="val -93560"/>
              <a:gd name="adj2" fmla="val 15156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b="0" dirty="0">
                <a:latin typeface="Times New Roman" panose="02020603050405020304" pitchFamily="18" charset="0"/>
              </a:rPr>
              <a:t>如果没有该判断，以“</a:t>
            </a:r>
            <a:r>
              <a:rPr lang="en-US" altLang="zh-CN" b="0" dirty="0">
                <a:latin typeface="Times New Roman" panose="02020603050405020304" pitchFamily="18" charset="0"/>
              </a:rPr>
              <a:t>x=y”</a:t>
            </a:r>
            <a:r>
              <a:rPr lang="zh-CN" altLang="en-US" b="0" dirty="0">
                <a:latin typeface="Times New Roman" panose="02020603050405020304" pitchFamily="18" charset="0"/>
              </a:rPr>
              <a:t>为例，发现存在“</a:t>
            </a:r>
            <a:r>
              <a:rPr lang="en-US" altLang="zh-CN" b="0" dirty="0">
                <a:latin typeface="Times New Roman" panose="02020603050405020304" pitchFamily="18" charset="0"/>
              </a:rPr>
              <a:t>=“</a:t>
            </a:r>
            <a:r>
              <a:rPr lang="zh-CN" altLang="en-US" b="0" dirty="0">
                <a:latin typeface="Times New Roman" panose="02020603050405020304" pitchFamily="18" charset="0"/>
              </a:rPr>
              <a:t>丢失的问题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264093" y="4149090"/>
              <a:ext cx="4179887" cy="90488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264093" y="4149090"/>
                <a:ext cx="4179887" cy="90488"/>
              </a:xfrm>
              <a:prstGeom prst="rect"/>
            </p:spPr>
          </p:pic>
        </mc:Fallback>
      </mc:AlternateContent>
      <p:sp>
        <p:nvSpPr>
          <p:cNvPr id="136197" name="Rectang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97955" y="3073400"/>
            <a:ext cx="5274945" cy="358965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表驱动</a:t>
            </a:r>
            <a:r>
              <a:rPr lang="en-US" altLang="zh-CN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( table driven)</a:t>
            </a:r>
            <a:r>
              <a:rPr lang="zh-CN" altLang="en-US" sz="2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算法：</a:t>
            </a:r>
            <a:endParaRPr lang="zh-CN" altLang="en-US" sz="2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代码的长度较短，相同的代码可以解决不同的问题，代码易于改变（维护）。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-436245"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表驱动方法经常仍要依赖于如稀疏数组表示法的压缩方法，来提高扫描程序的效率。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charRg st="54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36197">
                                            <p:txEl>
                                              <p:charRg st="54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>
                                            <p:txEl>
                                              <p:charRg st="99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36197">
                                            <p:txEl>
                                              <p:charRg st="99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5 </a:t>
            </a:r>
            <a:r>
              <a:rPr sz="3200">
                <a:sym typeface="+mn-ea"/>
              </a:rPr>
              <a:t>用代码实现有穷自动机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31426" name="Rectangle 2"/>
          <p:cNvSpPr/>
          <p:nvPr/>
        </p:nvSpPr>
        <p:spPr>
          <a:xfrm>
            <a:off x="6880543" y="5194300"/>
            <a:ext cx="45815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en-US" altLang="zh-CN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TINY</a:t>
            </a:r>
            <a:r>
              <a:rPr lang="zh-CN" altLang="en-US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词法分析程序的</a:t>
            </a:r>
            <a:r>
              <a:rPr lang="en-US" altLang="zh-CN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DFA</a:t>
            </a:r>
            <a:endParaRPr lang="en-US" altLang="zh-CN" sz="2400" b="1" dirty="0">
              <a:solidFill>
                <a:srgbClr val="FF1F7A"/>
              </a:solidFill>
              <a:latin typeface="宋体" panose="02010600030101010101" pitchFamily="2" charset="-122"/>
            </a:endParaRPr>
          </a:p>
        </p:txBody>
      </p:sp>
      <p:sp>
        <p:nvSpPr>
          <p:cNvPr id="231471" name="Rectangle 47"/>
          <p:cNvSpPr/>
          <p:nvPr/>
        </p:nvSpPr>
        <p:spPr>
          <a:xfrm>
            <a:off x="6294120" y="5778500"/>
            <a:ext cx="604329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SCAN.C(202</a:t>
            </a:r>
            <a:r>
              <a:rPr lang="zh-CN" altLang="en-US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行</a:t>
            </a:r>
            <a:r>
              <a:rPr lang="en-US" altLang="zh-CN" sz="2400" b="1" dirty="0">
                <a:solidFill>
                  <a:srgbClr val="FF1F7A"/>
                </a:solidFill>
                <a:latin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rgbClr val="FF1F7A"/>
              </a:solidFill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77280" y="1463675"/>
            <a:ext cx="5667375" cy="3524250"/>
            <a:chOff x="4191" y="2388"/>
            <a:chExt cx="8925" cy="5550"/>
          </a:xfrm>
        </p:grpSpPr>
        <p:grpSp>
          <p:nvGrpSpPr>
            <p:cNvPr id="2" name="Group 4"/>
            <p:cNvGrpSpPr/>
            <p:nvPr/>
          </p:nvGrpSpPr>
          <p:grpSpPr>
            <a:xfrm>
              <a:off x="4191" y="2388"/>
              <a:ext cx="8925" cy="2665"/>
              <a:chOff x="912" y="528"/>
              <a:chExt cx="3570" cy="1066"/>
            </a:xfrm>
          </p:grpSpPr>
          <p:sp>
            <p:nvSpPr>
              <p:cNvPr id="125957" name="Oval 5"/>
              <p:cNvSpPr/>
              <p:nvPr/>
            </p:nvSpPr>
            <p:spPr>
              <a:xfrm>
                <a:off x="1330" y="1280"/>
                <a:ext cx="449" cy="283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START</a:t>
                </a:r>
                <a:endParaRPr lang="en-US" altLang="zh-CN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25958" name="Line 6"/>
              <p:cNvSpPr/>
              <p:nvPr/>
            </p:nvSpPr>
            <p:spPr>
              <a:xfrm>
                <a:off x="912" y="1418"/>
                <a:ext cx="418" cy="1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59" name="Line 7"/>
              <p:cNvSpPr/>
              <p:nvPr/>
            </p:nvSpPr>
            <p:spPr>
              <a:xfrm>
                <a:off x="1795" y="1440"/>
                <a:ext cx="742" cy="1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60" name="Rectangle 8"/>
              <p:cNvSpPr/>
              <p:nvPr/>
            </p:nvSpPr>
            <p:spPr>
              <a:xfrm>
                <a:off x="1910" y="1248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5961" name="Group 9"/>
              <p:cNvGrpSpPr/>
              <p:nvPr/>
            </p:nvGrpSpPr>
            <p:grpSpPr>
              <a:xfrm>
                <a:off x="3867" y="1288"/>
                <a:ext cx="615" cy="306"/>
                <a:chOff x="2928" y="2976"/>
                <a:chExt cx="816" cy="480"/>
              </a:xfrm>
            </p:grpSpPr>
            <p:sp>
              <p:nvSpPr>
                <p:cNvPr id="125962" name="Oval 10"/>
                <p:cNvSpPr/>
                <p:nvPr/>
              </p:nvSpPr>
              <p:spPr>
                <a:xfrm>
                  <a:off x="2928" y="2976"/>
                  <a:ext cx="816" cy="480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>
                    <a:lnSpc>
                      <a:spcPct val="90000"/>
                    </a:lnSpc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•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5963" name="Oval 11"/>
                <p:cNvSpPr/>
                <p:nvPr/>
              </p:nvSpPr>
              <p:spPr>
                <a:xfrm>
                  <a:off x="3091" y="3083"/>
                  <a:ext cx="490" cy="266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en-US" altLang="zh-CN" dirty="0">
                      <a:solidFill>
                        <a:srgbClr val="030305"/>
                      </a:solidFill>
                      <a:latin typeface="Times New Roman" panose="02020603050405020304" pitchFamily="18" charset="0"/>
                    </a:rPr>
                    <a:t>DONE</a:t>
                  </a:r>
                  <a:endParaRPr lang="en-US" altLang="zh-CN" dirty="0">
                    <a:solidFill>
                      <a:srgbClr val="030305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25964" name="AutoShape 12"/>
              <p:cNvCxnSpPr>
                <a:stCxn id="125968" idx="1"/>
                <a:endCxn id="125968" idx="7"/>
              </p:cNvCxnSpPr>
              <p:nvPr/>
            </p:nvCxnSpPr>
            <p:spPr>
              <a:xfrm rot="5400000" flipV="1">
                <a:off x="2812" y="1142"/>
                <a:ext cx="1" cy="389"/>
              </a:xfrm>
              <a:prstGeom prst="curvedConnector3">
                <a:avLst>
                  <a:gd name="adj1" fmla="val -185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5965" name="Rectangle 13"/>
              <p:cNvSpPr/>
              <p:nvPr/>
            </p:nvSpPr>
            <p:spPr>
              <a:xfrm>
                <a:off x="2467" y="968"/>
                <a:ext cx="672" cy="2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letter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66" name="Line 14"/>
              <p:cNvSpPr/>
              <p:nvPr/>
            </p:nvSpPr>
            <p:spPr>
              <a:xfrm>
                <a:off x="3091" y="1440"/>
                <a:ext cx="790" cy="1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67" name="Rectangle 15"/>
              <p:cNvSpPr/>
              <p:nvPr/>
            </p:nvSpPr>
            <p:spPr>
              <a:xfrm>
                <a:off x="3227" y="1248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[other2]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68" name="Oval 16"/>
              <p:cNvSpPr/>
              <p:nvPr/>
            </p:nvSpPr>
            <p:spPr>
              <a:xfrm>
                <a:off x="2539" y="1296"/>
                <a:ext cx="549" cy="283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INID</a:t>
                </a:r>
                <a:endParaRPr lang="en-US" altLang="zh-CN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25969" name="Line 17"/>
              <p:cNvSpPr/>
              <p:nvPr/>
            </p:nvSpPr>
            <p:spPr>
              <a:xfrm flipV="1">
                <a:off x="1699" y="864"/>
                <a:ext cx="768" cy="432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70" name="Rectangle 18"/>
              <p:cNvSpPr/>
              <p:nvPr/>
            </p:nvSpPr>
            <p:spPr>
              <a:xfrm>
                <a:off x="1699" y="912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digit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71" name="Oval 19"/>
              <p:cNvSpPr/>
              <p:nvPr/>
            </p:nvSpPr>
            <p:spPr>
              <a:xfrm>
                <a:off x="2419" y="672"/>
                <a:ext cx="549" cy="283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INNUM</a:t>
                </a:r>
                <a:endParaRPr lang="en-US" altLang="zh-CN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125972" name="AutoShape 20"/>
              <p:cNvCxnSpPr>
                <a:stCxn id="125971" idx="0"/>
                <a:endCxn id="125971" idx="6"/>
              </p:cNvCxnSpPr>
              <p:nvPr/>
            </p:nvCxnSpPr>
            <p:spPr>
              <a:xfrm rot="5400000" flipV="1">
                <a:off x="2760" y="606"/>
                <a:ext cx="142" cy="274"/>
              </a:xfrm>
              <a:prstGeom prst="curvedConnector4">
                <a:avLst>
                  <a:gd name="adj1" fmla="val -101407"/>
                  <a:gd name="adj2" fmla="val 152556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5973" name="Rectangle 21"/>
              <p:cNvSpPr/>
              <p:nvPr/>
            </p:nvSpPr>
            <p:spPr>
              <a:xfrm>
                <a:off x="3059" y="528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digit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74" name="Line 22"/>
              <p:cNvSpPr/>
              <p:nvPr/>
            </p:nvSpPr>
            <p:spPr>
              <a:xfrm>
                <a:off x="2947" y="864"/>
                <a:ext cx="1152" cy="432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75" name="Rectangle 23"/>
              <p:cNvSpPr/>
              <p:nvPr/>
            </p:nvSpPr>
            <p:spPr>
              <a:xfrm>
                <a:off x="3427" y="855"/>
                <a:ext cx="511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[other1]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4"/>
            <p:cNvGrpSpPr/>
            <p:nvPr/>
          </p:nvGrpSpPr>
          <p:grpSpPr>
            <a:xfrm>
              <a:off x="5206" y="3016"/>
              <a:ext cx="1080" cy="1393"/>
              <a:chOff x="1156" y="1193"/>
              <a:chExt cx="432" cy="557"/>
            </a:xfrm>
          </p:grpSpPr>
          <p:cxnSp>
            <p:nvCxnSpPr>
              <p:cNvPr id="125977" name="AutoShape 25"/>
              <p:cNvCxnSpPr>
                <a:stCxn id="125957" idx="1"/>
                <a:endCxn id="125957" idx="7"/>
              </p:cNvCxnSpPr>
              <p:nvPr/>
            </p:nvCxnSpPr>
            <p:spPr>
              <a:xfrm rot="16200000" flipH="1">
                <a:off x="1359" y="1590"/>
                <a:ext cx="2" cy="318"/>
              </a:xfrm>
              <a:prstGeom prst="curvedConnector3">
                <a:avLst>
                  <a:gd name="adj1" fmla="val -9540000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5978" name="Rectangle 26"/>
              <p:cNvSpPr/>
              <p:nvPr/>
            </p:nvSpPr>
            <p:spPr>
              <a:xfrm>
                <a:off x="1156" y="1193"/>
                <a:ext cx="432" cy="3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white</a:t>
                </a:r>
                <a:endParaRPr lang="en-US" altLang="zh-CN" sz="24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space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27"/>
            <p:cNvGrpSpPr/>
            <p:nvPr/>
          </p:nvGrpSpPr>
          <p:grpSpPr>
            <a:xfrm>
              <a:off x="4579" y="4908"/>
              <a:ext cx="2540" cy="3030"/>
              <a:chOff x="1067" y="1536"/>
              <a:chExt cx="1016" cy="1212"/>
            </a:xfrm>
          </p:grpSpPr>
          <p:sp>
            <p:nvSpPr>
              <p:cNvPr id="125980" name="Oval 28"/>
              <p:cNvSpPr/>
              <p:nvPr/>
            </p:nvSpPr>
            <p:spPr>
              <a:xfrm>
                <a:off x="1123" y="2208"/>
                <a:ext cx="960" cy="288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INCOMMENT</a:t>
                </a:r>
                <a:endParaRPr lang="en-US" altLang="zh-CN" baseline="-25000" dirty="0">
                  <a:solidFill>
                    <a:srgbClr val="030305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125981" name="AutoShape 29"/>
              <p:cNvCxnSpPr>
                <a:stCxn id="125980" idx="3"/>
                <a:endCxn id="125980" idx="5"/>
              </p:cNvCxnSpPr>
              <p:nvPr/>
            </p:nvCxnSpPr>
            <p:spPr>
              <a:xfrm rot="-5400000" flipH="1">
                <a:off x="1601" y="2114"/>
                <a:ext cx="1" cy="678"/>
              </a:xfrm>
              <a:prstGeom prst="curvedConnector3">
                <a:avLst>
                  <a:gd name="adj1" fmla="val 18600009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5982" name="Rectangle 30"/>
              <p:cNvSpPr/>
              <p:nvPr/>
            </p:nvSpPr>
            <p:spPr>
              <a:xfrm>
                <a:off x="1363" y="2640"/>
                <a:ext cx="511" cy="1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other5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83" name="Line 31"/>
              <p:cNvSpPr/>
              <p:nvPr/>
            </p:nvSpPr>
            <p:spPr>
              <a:xfrm flipH="1">
                <a:off x="1219" y="1536"/>
                <a:ext cx="192" cy="720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84" name="Line 32"/>
              <p:cNvSpPr/>
              <p:nvPr/>
            </p:nvSpPr>
            <p:spPr>
              <a:xfrm flipH="1" flipV="1">
                <a:off x="1507" y="1536"/>
                <a:ext cx="144" cy="672"/>
              </a:xfrm>
              <a:prstGeom prst="line">
                <a:avLst/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25985" name="Rectangle 33"/>
              <p:cNvSpPr/>
              <p:nvPr/>
            </p:nvSpPr>
            <p:spPr>
              <a:xfrm>
                <a:off x="1067" y="1776"/>
                <a:ext cx="288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{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986" name="Rectangle 34"/>
              <p:cNvSpPr/>
              <p:nvPr/>
            </p:nvSpPr>
            <p:spPr>
              <a:xfrm>
                <a:off x="1507" y="1776"/>
                <a:ext cx="288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}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35"/>
            <p:cNvGrpSpPr/>
            <p:nvPr/>
          </p:nvGrpSpPr>
          <p:grpSpPr>
            <a:xfrm>
              <a:off x="6159" y="4391"/>
              <a:ext cx="6077" cy="1837"/>
              <a:chOff x="1699" y="1488"/>
              <a:chExt cx="2431" cy="576"/>
            </a:xfrm>
          </p:grpSpPr>
          <p:sp>
            <p:nvSpPr>
              <p:cNvPr id="125988" name="Rectangle 36"/>
              <p:cNvSpPr/>
              <p:nvPr/>
            </p:nvSpPr>
            <p:spPr>
              <a:xfrm>
                <a:off x="2035" y="1584"/>
                <a:ext cx="288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en-US" altLang="zh-CN" sz="24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:</a:t>
                </a:r>
                <a:endParaRPr lang="en-US" altLang="zh-CN" sz="2400" baseline="30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5989" name="Group 37"/>
              <p:cNvGrpSpPr/>
              <p:nvPr/>
            </p:nvGrpSpPr>
            <p:grpSpPr>
              <a:xfrm>
                <a:off x="1699" y="1488"/>
                <a:ext cx="2431" cy="576"/>
                <a:chOff x="1699" y="1488"/>
                <a:chExt cx="2431" cy="576"/>
              </a:xfrm>
            </p:grpSpPr>
            <p:sp>
              <p:nvSpPr>
                <p:cNvPr id="125990" name="Line 38"/>
                <p:cNvSpPr/>
                <p:nvPr/>
              </p:nvSpPr>
              <p:spPr>
                <a:xfrm>
                  <a:off x="1699" y="1488"/>
                  <a:ext cx="768" cy="432"/>
                </a:xfrm>
                <a:prstGeom prst="line">
                  <a:avLst/>
                </a:prstGeom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125991" name="Oval 39"/>
                <p:cNvSpPr/>
                <p:nvPr/>
              </p:nvSpPr>
              <p:spPr>
                <a:xfrm>
                  <a:off x="2467" y="1776"/>
                  <a:ext cx="960" cy="288"/>
                </a:xfrm>
                <a:prstGeom prst="ellipse">
                  <a:avLst/>
                </a:prstGeom>
                <a:solidFill>
                  <a:srgbClr val="99CC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en-US" altLang="zh-CN" dirty="0">
                      <a:solidFill>
                        <a:srgbClr val="030305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INASSIGN</a:t>
                  </a:r>
                  <a:endParaRPr lang="en-US" altLang="zh-CN" baseline="-25000" dirty="0">
                    <a:solidFill>
                      <a:srgbClr val="030305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  <p:cxnSp>
              <p:nvCxnSpPr>
                <p:cNvPr id="125992" name="AutoShape 40"/>
                <p:cNvCxnSpPr>
                  <a:stCxn id="125991" idx="6"/>
                  <a:endCxn id="125962" idx="3"/>
                </p:cNvCxnSpPr>
                <p:nvPr/>
              </p:nvCxnSpPr>
              <p:spPr>
                <a:xfrm flipV="1">
                  <a:off x="3427" y="1660"/>
                  <a:ext cx="530" cy="260"/>
                </a:xfrm>
                <a:prstGeom prst="curvedConnector2">
                  <a:avLst/>
                </a:prstGeom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25993" name="Line 41"/>
                <p:cNvSpPr/>
                <p:nvPr/>
              </p:nvSpPr>
              <p:spPr>
                <a:xfrm flipV="1">
                  <a:off x="3331" y="1642"/>
                  <a:ext cx="550" cy="182"/>
                </a:xfrm>
                <a:prstGeom prst="line">
                  <a:avLst/>
                </a:prstGeom>
                <a:ln w="9525" cap="flat" cmpd="sng">
                  <a:solidFill>
                    <a:srgbClr val="030305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125994" name="Rectangle 42"/>
                <p:cNvSpPr/>
                <p:nvPr/>
              </p:nvSpPr>
              <p:spPr>
                <a:xfrm>
                  <a:off x="3331" y="1584"/>
                  <a:ext cx="288" cy="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en-US" altLang="zh-CN" sz="2400" dirty="0">
                      <a:solidFill>
                        <a:srgbClr val="030305"/>
                      </a:solidFill>
                      <a:latin typeface="Times New Roman" panose="02020603050405020304" pitchFamily="18" charset="0"/>
                    </a:rPr>
                    <a:t>=</a:t>
                  </a:r>
                  <a:endParaRPr lang="en-US" altLang="zh-CN" sz="2400" baseline="30000" dirty="0">
                    <a:solidFill>
                      <a:srgbClr val="030305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5995" name="Rectangle 43"/>
                <p:cNvSpPr/>
                <p:nvPr/>
              </p:nvSpPr>
              <p:spPr>
                <a:xfrm>
                  <a:off x="3619" y="1872"/>
                  <a:ext cx="511" cy="1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/>
                <a:p>
                  <a:pPr algn="ctr">
                    <a:spcBef>
                      <a:spcPct val="20000"/>
                    </a:spcBef>
                    <a:buSzPct val="90000"/>
                  </a:pPr>
                  <a:r>
                    <a:rPr lang="en-US" altLang="zh-CN" sz="2400" dirty="0">
                      <a:solidFill>
                        <a:srgbClr val="030305"/>
                      </a:solidFill>
                      <a:latin typeface="Times New Roman" panose="02020603050405020304" pitchFamily="18" charset="0"/>
                    </a:rPr>
                    <a:t>[other3]</a:t>
                  </a:r>
                  <a:endParaRPr lang="en-US" altLang="zh-CN" sz="2400" baseline="30000" dirty="0">
                    <a:solidFill>
                      <a:srgbClr val="030305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8" name="Group 44"/>
            <p:cNvGrpSpPr/>
            <p:nvPr/>
          </p:nvGrpSpPr>
          <p:grpSpPr>
            <a:xfrm>
              <a:off x="6161" y="4392"/>
              <a:ext cx="6732" cy="2808"/>
              <a:chOff x="1651" y="1686"/>
              <a:chExt cx="2693" cy="798"/>
            </a:xfrm>
          </p:grpSpPr>
          <p:cxnSp>
            <p:nvCxnSpPr>
              <p:cNvPr id="125997" name="AutoShape 45"/>
              <p:cNvCxnSpPr>
                <a:stCxn id="125990" idx="0"/>
                <a:endCxn id="125962" idx="5"/>
              </p:cNvCxnSpPr>
              <p:nvPr/>
            </p:nvCxnSpPr>
            <p:spPr>
              <a:xfrm rot="5400000" flipV="1">
                <a:off x="2919" y="417"/>
                <a:ext cx="156" cy="2693"/>
              </a:xfrm>
              <a:prstGeom prst="curvedConnector3">
                <a:avLst>
                  <a:gd name="adj1" fmla="val 434800"/>
                </a:avLst>
              </a:prstGeom>
              <a:ln w="9525" cap="flat" cmpd="sng">
                <a:solidFill>
                  <a:srgbClr val="03030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5998" name="Rectangle 46"/>
              <p:cNvSpPr/>
              <p:nvPr/>
            </p:nvSpPr>
            <p:spPr>
              <a:xfrm>
                <a:off x="3060" y="2340"/>
                <a:ext cx="509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SzPct val="90000"/>
                </a:pP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-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* 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/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&lt;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=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(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)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 [</a:t>
                </a:r>
                <a:r>
                  <a:rPr lang="en-US" altLang="zh-CN" sz="2000" dirty="0">
                    <a:solidFill>
                      <a:srgbClr val="030305"/>
                    </a:solidFill>
                    <a:latin typeface="Times New Roman" panose="02020603050405020304" pitchFamily="18" charset="0"/>
                  </a:rPr>
                  <a:t>other4]</a:t>
                </a:r>
                <a:endParaRPr lang="en-US" altLang="zh-CN" sz="2000" dirty="0">
                  <a:solidFill>
                    <a:srgbClr val="030305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3907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47980" y="5042535"/>
            <a:ext cx="594614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dirty="0">
                <a:solidFill>
                  <a:srgbClr val="030305"/>
                </a:solidFill>
              </a:rPr>
              <a:t>4.注释： {…}注释应放在花括号中，且不可嵌套</a:t>
            </a:r>
            <a:endParaRPr lang="en-US" altLang="zh-CN" sz="2400" dirty="0">
              <a:solidFill>
                <a:srgbClr val="030305"/>
              </a:solidFill>
            </a:endParaRPr>
          </a:p>
        </p:txBody>
      </p:sp>
      <p:sp>
        <p:nvSpPr>
          <p:cNvPr id="123908" name="Rectangle 4"/>
          <p:cNvSpPr/>
          <p:nvPr>
            <p:custDataLst>
              <p:tags r:id="rId2"/>
            </p:custDataLst>
          </p:nvPr>
        </p:nvSpPr>
        <p:spPr>
          <a:xfrm>
            <a:off x="411480" y="1205230"/>
            <a:ext cx="42513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4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</a:rPr>
              <a:t>TINY</a:t>
            </a:r>
            <a:r>
              <a:rPr lang="zh-CN" altLang="en-US" sz="2400" b="1" dirty="0">
                <a:solidFill>
                  <a:srgbClr val="FF0066"/>
                </a:solidFill>
                <a:latin typeface="等线" panose="02010600030101010101" charset="-122"/>
                <a:ea typeface="等线" panose="02010600030101010101" charset="-122"/>
              </a:rPr>
              <a:t>词法</a:t>
            </a:r>
            <a:r>
              <a:rPr lang="zh-CN" altLang="en-US" sz="2400" dirty="0">
                <a:solidFill>
                  <a:srgbClr val="030305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：</a:t>
            </a:r>
            <a:endParaRPr lang="zh-CN" altLang="en-US" sz="2400" dirty="0">
              <a:solidFill>
                <a:srgbClr val="030305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23909" name="Rectangle 5"/>
          <p:cNvSpPr/>
          <p:nvPr>
            <p:custDataLst>
              <p:tags r:id="rId3"/>
            </p:custDataLst>
          </p:nvPr>
        </p:nvSpPr>
        <p:spPr>
          <a:xfrm>
            <a:off x="348615" y="1678305"/>
            <a:ext cx="5828665" cy="755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zh-CN" altLang="en-US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关键字：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if then else end repeat until read write</a:t>
            </a:r>
            <a:endParaRPr lang="en-US" altLang="zh-CN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10" name="Rectangle 6"/>
          <p:cNvSpPr/>
          <p:nvPr>
            <p:custDataLst>
              <p:tags r:id="rId4"/>
            </p:custDataLst>
          </p:nvPr>
        </p:nvSpPr>
        <p:spPr>
          <a:xfrm>
            <a:off x="347980" y="5775325"/>
            <a:ext cx="58813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5.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专用符号：</a:t>
            </a:r>
            <a:r>
              <a:rPr lang="zh-CN" altLang="en-US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&lt;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:=</a:t>
            </a:r>
            <a:endParaRPr lang="en-US" altLang="zh-CN" sz="2400" b="1" dirty="0">
              <a:solidFill>
                <a:srgbClr val="FF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11" name="Rectangle 7"/>
          <p:cNvSpPr/>
          <p:nvPr>
            <p:custDataLst>
              <p:tags r:id="rId5"/>
            </p:custDataLst>
          </p:nvPr>
        </p:nvSpPr>
        <p:spPr>
          <a:xfrm>
            <a:off x="348615" y="2275205"/>
            <a:ext cx="48806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zh-CN" altLang="en-US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2.标示符和数字：</a:t>
            </a:r>
            <a:r>
              <a: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=letter letter</a:t>
            </a:r>
            <a:r>
              <a:rPr lang="en-US" altLang="zh-CN" sz="2400" b="1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="1" dirty="0">
                <a:solidFill>
                  <a:srgbClr val="030305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               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123912" name="Rectangle 8"/>
          <p:cNvSpPr/>
          <p:nvPr>
            <p:custDataLst>
              <p:tags r:id="rId6"/>
            </p:custDataLst>
          </p:nvPr>
        </p:nvSpPr>
        <p:spPr>
          <a:xfrm>
            <a:off x="347980" y="3769360"/>
            <a:ext cx="6007735" cy="1273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SzPct val="90000"/>
            </a:pP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空白格(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whitespace):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空格(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char c=‘ ’)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，换行符（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char c=‘\t’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）,  </a:t>
            </a:r>
            <a:endParaRPr lang="zh-CN" altLang="en-US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SzPct val="90000"/>
            </a:pP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   制表符（</a:t>
            </a:r>
            <a:r>
              <a:rPr lang="en-US" altLang="zh-CN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char c=‘\n’</a:t>
            </a:r>
            <a:r>
              <a:rPr lang="zh-CN" altLang="en-US" sz="2400" b="1" dirty="0">
                <a:solidFill>
                  <a:srgbClr val="030305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13" name="Rectangle 9"/>
          <p:cNvSpPr/>
          <p:nvPr>
            <p:custDataLst>
              <p:tags r:id="rId7"/>
            </p:custDataLst>
          </p:nvPr>
        </p:nvSpPr>
        <p:spPr>
          <a:xfrm>
            <a:off x="666115" y="2963863"/>
            <a:ext cx="3276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en-US" altLang="zh-CN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NUM</a:t>
            </a: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=digit digit</a:t>
            </a:r>
            <a:r>
              <a:rPr lang="en-US" altLang="zh-CN" sz="2400" baseline="30000" dirty="0">
                <a:solidFill>
                  <a:srgbClr val="030305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400" baseline="30000" dirty="0">
                <a:solidFill>
                  <a:srgbClr val="030305"/>
                </a:solidFill>
                <a:latin typeface="宋体" panose="02010600030101010101" pitchFamily="2" charset="-122"/>
              </a:rPr>
              <a:t>                       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123914" name="Rectangle 10"/>
          <p:cNvSpPr/>
          <p:nvPr>
            <p:custDataLst>
              <p:tags r:id="rId8"/>
            </p:custDataLst>
          </p:nvPr>
        </p:nvSpPr>
        <p:spPr>
          <a:xfrm>
            <a:off x="713740" y="2633980"/>
            <a:ext cx="3505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letter=[a-z A-Z]</a:t>
            </a:r>
            <a:r>
              <a:rPr lang="en-US" altLang="zh-CN" sz="2400" dirty="0">
                <a:solidFill>
                  <a:srgbClr val="030305"/>
                </a:solidFill>
                <a:latin typeface="宋体" panose="02010600030101010101" pitchFamily="2" charset="-122"/>
              </a:rPr>
              <a:t>               </a:t>
            </a:r>
            <a:endParaRPr lang="en-US" altLang="zh-CN" sz="2400" dirty="0">
              <a:solidFill>
                <a:srgbClr val="030305"/>
              </a:solidFill>
              <a:latin typeface="宋体" panose="02010600030101010101" pitchFamily="2" charset="-122"/>
            </a:endParaRPr>
          </a:p>
        </p:txBody>
      </p:sp>
      <p:sp>
        <p:nvSpPr>
          <p:cNvPr id="123915" name="Rectangle 11"/>
          <p:cNvSpPr/>
          <p:nvPr>
            <p:custDataLst>
              <p:tags r:id="rId9"/>
            </p:custDataLst>
          </p:nvPr>
        </p:nvSpPr>
        <p:spPr>
          <a:xfrm>
            <a:off x="624205" y="3380105"/>
            <a:ext cx="2667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Pct val="90000"/>
            </a:pPr>
            <a:r>
              <a:rPr lang="en-US" altLang="zh-CN" sz="2400" dirty="0">
                <a:solidFill>
                  <a:srgbClr val="030305"/>
                </a:solidFill>
                <a:latin typeface="Times New Roman" panose="02020603050405020304" pitchFamily="18" charset="0"/>
              </a:rPr>
              <a:t>digit=[0-9]</a:t>
            </a:r>
            <a:endParaRPr lang="en-US" altLang="zh-CN" sz="2400" dirty="0">
              <a:solidFill>
                <a:srgbClr val="030305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3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/>
      <p:bldP spid="23147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88620" y="276860"/>
            <a:ext cx="8690610" cy="593090"/>
          </a:xfrm>
        </p:spPr>
        <p:txBody>
          <a:bodyPr/>
          <a:lstStyle/>
          <a:p>
            <a:r>
              <a:rPr sz="3200">
                <a:sym typeface="+mn-ea"/>
              </a:rPr>
              <a:t>第二章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9573" name="AutoShape 5"/>
          <p:cNvSpPr/>
          <p:nvPr/>
        </p:nvSpPr>
        <p:spPr>
          <a:xfrm>
            <a:off x="7010400" y="1828800"/>
            <a:ext cx="2971800" cy="1295400"/>
          </a:xfrm>
          <a:prstGeom prst="cloudCallout">
            <a:avLst>
              <a:gd name="adj1" fmla="val -112662"/>
              <a:gd name="adj2" fmla="val -5884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" panose="020B0604020202020204" pitchFamily="34" charset="0"/>
                <a:ea typeface="方正舒体" panose="02010601030101010101" pitchFamily="2" charset="-122"/>
              </a:rPr>
              <a:t>单词</a:t>
            </a: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的识别系统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09574" name="AutoShape 6"/>
          <p:cNvSpPr/>
          <p:nvPr/>
        </p:nvSpPr>
        <p:spPr>
          <a:xfrm>
            <a:off x="7620000" y="3200400"/>
            <a:ext cx="2743200" cy="2057400"/>
          </a:xfrm>
          <a:prstGeom prst="cloudCallout">
            <a:avLst>
              <a:gd name="adj1" fmla="val -121944"/>
              <a:gd name="adj2" fmla="val 2006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设计和实现词法分析程序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  <p:sp>
        <p:nvSpPr>
          <p:cNvPr id="126982" name="Rectangle 9"/>
          <p:cNvSpPr>
            <a:spLocks noGrp="1"/>
          </p:cNvSpPr>
          <p:nvPr/>
        </p:nvSpPr>
        <p:spPr>
          <a:xfrm>
            <a:off x="388620" y="1196975"/>
            <a:ext cx="9703435" cy="38754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2.1 词法分析器的作用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2.2 </a:t>
            </a:r>
            <a:r>
              <a:rPr lang="zh-CN" altLang="en-US" dirty="0">
                <a:solidFill>
                  <a:schemeClr val="accent1"/>
                </a:solidFill>
              </a:rPr>
              <a:t>正规表达式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2.3 </a:t>
            </a:r>
            <a:r>
              <a:rPr lang="zh-CN" altLang="en-US" dirty="0">
                <a:solidFill>
                  <a:schemeClr val="accent1"/>
                </a:solidFill>
              </a:rPr>
              <a:t>有穷自动机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</a:rPr>
              <a:t>2.4 </a:t>
            </a:r>
            <a:r>
              <a:rPr lang="zh-CN" altLang="en-US" dirty="0">
                <a:solidFill>
                  <a:schemeClr val="accent1"/>
                </a:solidFill>
              </a:rPr>
              <a:t>从正规表达式到</a:t>
            </a:r>
            <a:r>
              <a:rPr lang="en-US" altLang="zh-CN" dirty="0">
                <a:solidFill>
                  <a:schemeClr val="accent1"/>
                </a:solidFill>
              </a:rPr>
              <a:t>DFA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2.5 用代码实现有穷自动机</a:t>
            </a:r>
            <a:endParaRPr lang="zh-CN" altLang="en-US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</a:rPr>
              <a:t>2.6 自动生成词法分析程序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9572" name="AutoShape 4"/>
          <p:cNvSpPr/>
          <p:nvPr/>
        </p:nvSpPr>
        <p:spPr>
          <a:xfrm>
            <a:off x="7315200" y="549275"/>
            <a:ext cx="2895600" cy="1279525"/>
          </a:xfrm>
          <a:prstGeom prst="cloudCallout">
            <a:avLst>
              <a:gd name="adj1" fmla="val -125657"/>
              <a:gd name="adj2" fmla="val 53597"/>
            </a:avLst>
          </a:prstGeom>
          <a:noFill/>
          <a:ln w="9525" cap="flat" cmpd="sng">
            <a:solidFill>
              <a:srgbClr val="030305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algn="ctr">
              <a:spcBef>
                <a:spcPct val="20000"/>
              </a:spcBef>
              <a:buSzPct val="90000"/>
            </a:pPr>
            <a:r>
              <a:rPr lang="zh-CN" altLang="en-US" sz="3200" dirty="0">
                <a:solidFill>
                  <a:srgbClr val="FF1F7A"/>
                </a:solidFill>
                <a:latin typeface="Arial Black" panose="020B0A04020102020204" pitchFamily="34" charset="0"/>
                <a:ea typeface="方正舒体" panose="02010601030101010101" pitchFamily="2" charset="-122"/>
              </a:rPr>
              <a:t>单词的描述工具</a:t>
            </a:r>
            <a:endParaRPr lang="zh-CN" altLang="en-US" sz="3200" dirty="0">
              <a:solidFill>
                <a:srgbClr val="FF1F7A"/>
              </a:solidFill>
              <a:latin typeface="Arial Black" panose="020B0A04020102020204" pitchFamily="34" charset="0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4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94970" y="276860"/>
            <a:ext cx="868426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6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 </a:t>
            </a:r>
            <a:r>
              <a:rPr sz="3200">
                <a:latin typeface="方正舒体" panose="02010601030101010101" pitchFamily="2" charset="-122"/>
                <a:sym typeface="+mn-ea"/>
              </a:rPr>
              <a:t>基于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Antlr</a:t>
            </a:r>
            <a:r>
              <a:rPr sz="3200">
                <a:latin typeface="方正舒体" panose="02010601030101010101" pitchFamily="2" charset="-122"/>
                <a:sym typeface="+mn-ea"/>
              </a:rPr>
              <a:t>的词法语法生成器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4970" y="1227455"/>
            <a:ext cx="114534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ANTLR 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是一款强大的</a:t>
            </a:r>
            <a:r>
              <a:rPr lang="zh-CN" altLang="en-US" sz="2400" b="1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开源词法和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语法分析器生成工具，可用于</a:t>
            </a:r>
            <a:r>
              <a:rPr lang="zh-CN" altLang="en-US" sz="2400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读取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处理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执行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或者</a:t>
            </a:r>
            <a:r>
              <a:rPr lang="zh-CN" altLang="en-US" sz="2400" b="1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翻译结构化文本或二进制文件，</a:t>
            </a:r>
            <a:r>
              <a:rPr lang="en-US" altLang="zh-CN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ANTLR </a:t>
            </a:r>
            <a:r>
              <a:rPr lang="zh-CN" altLang="en-US" sz="2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被广泛应用于学术及工业领域。</a:t>
            </a:r>
            <a:endParaRPr lang="zh-CN" altLang="en-US" sz="24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015" y="2437130"/>
            <a:ext cx="11417300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742950" lvl="1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ANTLR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工具将词法、语法文件转换成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——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可以识别该词法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/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语法文件所描述语言的词法和语法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分析程序</a:t>
            </a:r>
            <a:endParaRPr lang="zh-CN" altLang="en-US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ANTLR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能自动建立（可视化）语法分析树，也能自动生成</a:t>
            </a:r>
            <a:r>
              <a:rPr lang="zh-CN" altLang="en-US" sz="2000" b="1" spc="1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树的遍历器</a:t>
            </a:r>
            <a:endParaRPr lang="zh-CN" altLang="en-US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案例丰富</a:t>
            </a:r>
            <a:endParaRPr lang="zh-CN" altLang="en-US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Twitter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：使用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ANTLR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每天处理超过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多亿次搜索涉及的语法分析</a:t>
            </a:r>
            <a:endParaRPr lang="zh-CN" altLang="en-US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Hadoop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：将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ANTLR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应用于生态系统中的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HIve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Pig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、数据仓库和分析系统</a:t>
            </a:r>
            <a:endParaRPr lang="zh-CN" altLang="en-US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NetBeans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：其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IDE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使用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ANTLR</a:t>
            </a:r>
            <a:r>
              <a:rPr lang="zh-CN" altLang="en-US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来解析</a:t>
            </a:r>
            <a:r>
              <a:rPr lang="en-US" altLang="zh-CN" sz="2000" b="1" spc="10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C++</a:t>
            </a:r>
            <a:endParaRPr lang="en-US" altLang="zh-CN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endParaRPr lang="en-US" altLang="zh-CN" sz="2000" b="1" spc="10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6400" y="276860"/>
            <a:ext cx="8672830" cy="593090"/>
          </a:xfrm>
        </p:spPr>
        <p:txBody>
          <a:bodyPr/>
          <a:lstStyle/>
          <a:p>
            <a:r>
              <a:rPr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6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 </a:t>
            </a:r>
            <a:r>
              <a:rPr sz="3200">
                <a:latin typeface="方正舒体" panose="02010601030101010101" pitchFamily="2" charset="-122"/>
                <a:sym typeface="+mn-ea"/>
              </a:rPr>
              <a:t>基于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Antlr</a:t>
            </a:r>
            <a:r>
              <a:rPr sz="3200">
                <a:latin typeface="方正舒体" panose="02010601030101010101" pitchFamily="2" charset="-122"/>
                <a:sym typeface="+mn-ea"/>
              </a:rPr>
              <a:t>的词法语法生成器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8246" name="Rectangle 5"/>
          <p:cNvSpPr>
            <a:spLocks noGrp="1"/>
          </p:cNvSpPr>
          <p:nvPr/>
        </p:nvSpPr>
        <p:spPr>
          <a:xfrm>
            <a:off x="2033588" y="1154113"/>
            <a:ext cx="7777162" cy="47228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altLang="zh-CN" sz="2100" dirty="0"/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548005" y="1706880"/>
          <a:ext cx="5722620" cy="4182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4648200"/>
              </a:tblGrid>
              <a:tr h="599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词法规则符号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含义</a:t>
                      </a:r>
                      <a:endParaRPr lang="zh-CN" altLang="en-US" dirty="0"/>
                    </a:p>
                  </a:txBody>
                  <a:tcPr/>
                </a:tc>
              </a:tr>
              <a:tr h="49339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T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词法符号，必须首字母大写开头，以和文法规则区分开来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49403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: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/>
                        <a:t>词法规则表达式定义符号，符号右边的词法规则构成了左边的词法符号</a:t>
                      </a:r>
                      <a:r>
                        <a:rPr lang="en-US" altLang="zh-CN" sz="1600" b="0" dirty="0"/>
                        <a:t>T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24638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|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表达或的关系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24701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~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表示非的关系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;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词法分隔符，表示一个词法规则定义的结尾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29908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‘literal’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表示一个字符序列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[char set]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表示一个字符集合，匹配此字符集合中任意一个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487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dirty="0"/>
                        <a:t>‘</a:t>
                      </a:r>
                      <a:r>
                        <a:rPr lang="en-US" altLang="zh-CN" sz="1600" b="0" dirty="0" err="1"/>
                        <a:t>x’..‘y</a:t>
                      </a:r>
                      <a:r>
                        <a:rPr lang="en-US" altLang="zh-CN" sz="1600" b="0" dirty="0"/>
                        <a:t>’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表示匹配从</a:t>
                      </a:r>
                      <a:r>
                        <a:rPr lang="en-US" altLang="zh-CN" sz="1600" b="0" dirty="0"/>
                        <a:t>’x’</a:t>
                      </a:r>
                      <a:r>
                        <a:rPr lang="zh-CN" altLang="en-US" sz="1600" b="0" dirty="0"/>
                        <a:t>字符到</a:t>
                      </a:r>
                      <a:r>
                        <a:rPr lang="en-US" altLang="zh-CN" sz="1600" b="0" dirty="0"/>
                        <a:t>’y’</a:t>
                      </a:r>
                      <a:r>
                        <a:rPr lang="zh-CN" altLang="en-US" sz="1600" b="0" dirty="0"/>
                        <a:t>字符之间的任意一个字符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  <a:tr h="29908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/>
                        <a:t>()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/>
                        <a:t>表示一个分组结构</a:t>
                      </a:r>
                      <a:endParaRPr lang="zh-CN" altLang="en-US" sz="1600" b="0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6568758" y="1706563"/>
          <a:ext cx="5210175" cy="3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3622675"/>
              </a:tblGrid>
              <a:tr h="331470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i="0" u="none" strike="noStrike" dirty="0">
                          <a:effectLst/>
                          <a:latin typeface="+mn-ea"/>
                          <a:ea typeface="+mn-ea"/>
                        </a:rPr>
                        <a:t>词法规则符号</a:t>
                      </a:r>
                      <a:endParaRPr lang="en-US" altLang="zh-CN" sz="1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i="0" u="none" strike="noStrike" dirty="0">
                          <a:effectLst/>
                          <a:latin typeface="+mn-ea"/>
                          <a:ea typeface="+mn-ea"/>
                        </a:rPr>
                        <a:t>含义</a:t>
                      </a:r>
                      <a:endParaRPr lang="zh-CN" altLang="en-US" sz="1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9525" marB="0"/>
                </a:tc>
              </a:tr>
              <a:tr h="26352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.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u="none" strike="noStrike" dirty="0">
                          <a:effectLst/>
                        </a:rPr>
                        <a:t>表示匹配任意一个单字符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  <a:tr h="26352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*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u="none" strike="noStrike" dirty="0">
                          <a:effectLst/>
                        </a:rPr>
                        <a:t>表示匹配</a:t>
                      </a:r>
                      <a:r>
                        <a:rPr lang="en-US" altLang="zh-CN" sz="1600" u="none" strike="noStrike" dirty="0">
                          <a:effectLst/>
                        </a:rPr>
                        <a:t>0</a:t>
                      </a:r>
                      <a:r>
                        <a:rPr lang="zh-CN" altLang="en-US" sz="1600" u="none" strike="noStrike" dirty="0">
                          <a:effectLst/>
                        </a:rPr>
                        <a:t>或多次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  <a:tr h="26352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+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u="none" strike="noStrike">
                          <a:effectLst/>
                        </a:rPr>
                        <a:t>表示匹配至少</a:t>
                      </a:r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r>
                        <a:rPr lang="zh-CN" altLang="en-US" sz="1600" u="none" strike="noStrike">
                          <a:effectLst/>
                        </a:rPr>
                        <a:t>次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  <a:tr h="26352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u="none" strike="noStrike">
                          <a:effectLst/>
                        </a:rPr>
                        <a:t>？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u="none" strike="noStrike">
                          <a:effectLst/>
                        </a:rPr>
                        <a:t>表示匹配</a:t>
                      </a:r>
                      <a:r>
                        <a:rPr lang="en-US" altLang="zh-CN" sz="1600" u="none" strike="noStrike">
                          <a:effectLst/>
                        </a:rPr>
                        <a:t>0</a:t>
                      </a:r>
                      <a:r>
                        <a:rPr lang="zh-CN" altLang="en-US" sz="1600" u="none" strike="noStrike">
                          <a:effectLst/>
                        </a:rPr>
                        <a:t>或</a:t>
                      </a:r>
                      <a:r>
                        <a:rPr lang="en-US" altLang="zh-CN" sz="1600" u="none" strike="noStrike">
                          <a:effectLst/>
                        </a:rPr>
                        <a:t>1</a:t>
                      </a:r>
                      <a:r>
                        <a:rPr lang="zh-CN" altLang="en-US" sz="1600" u="none" strike="noStrike">
                          <a:effectLst/>
                        </a:rPr>
                        <a:t>次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  <a:tr h="77025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>
                          <a:effectLst/>
                        </a:rPr>
                        <a:t>fragment</a:t>
                      </a:r>
                      <a:r>
                        <a:rPr lang="en-US" altLang="zh-CN" sz="1600" u="none" strike="noStrike">
                          <a:effectLst/>
                        </a:rPr>
                        <a:t> </a:t>
                      </a:r>
                      <a:r>
                        <a:rPr lang="en-US" sz="1600" u="none" strike="noStrike">
                          <a:effectLst/>
                        </a:rPr>
                        <a:t>T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表示词法规则的一个片段，这个片段往往是被重复利用起来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  <a:tr h="1024255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 dirty="0">
                          <a:effectLst/>
                        </a:rPr>
                        <a:t>-&gt; command-name(x)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词法命令，例如</a:t>
                      </a:r>
                      <a:r>
                        <a:rPr lang="en-US" altLang="zh-CN" sz="1600" b="0" i="0" u="none" strike="noStrike" dirty="0">
                          <a:effectLst/>
                          <a:latin typeface="Arial" panose="020B0604020202020204" pitchFamily="34" charset="0"/>
                        </a:rPr>
                        <a:t>channel(HIDDEN)</a:t>
                      </a:r>
                      <a:r>
                        <a:rPr lang="zh-CN" alt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用来忽略一些与词法分析无关的单词</a:t>
                      </a:r>
                      <a:endParaRPr lang="zh-CN" alt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</a:tr>
            </a:tbl>
          </a:graphicData>
        </a:graphic>
      </p:graphicFrame>
      <p:sp>
        <p:nvSpPr>
          <p:cNvPr id="73737" name="文本框 13"/>
          <p:cNvSpPr txBox="1"/>
          <p:nvPr/>
        </p:nvSpPr>
        <p:spPr>
          <a:xfrm>
            <a:off x="284480" y="1154430"/>
            <a:ext cx="722566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+mn-ea"/>
              </a:rPr>
              <a:t>IDL词法规则的符号系统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38246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84810" y="276860"/>
            <a:ext cx="8694420" cy="593090"/>
          </a:xfrm>
        </p:spPr>
        <p:txBody>
          <a:bodyPr/>
          <a:lstStyle/>
          <a:p>
            <a:r>
              <a:rPr lang="en-US" altLang="zh-CN" sz="3200">
                <a:sym typeface="+mn-ea"/>
              </a:rPr>
              <a:t>2.6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 </a:t>
            </a:r>
            <a:r>
              <a:rPr sz="3200">
                <a:latin typeface="方正舒体" panose="02010601030101010101" pitchFamily="2" charset="-122"/>
                <a:sym typeface="+mn-ea"/>
              </a:rPr>
              <a:t>基于</a:t>
            </a:r>
            <a:r>
              <a:rPr lang="en-US" altLang="zh-CN" sz="3200">
                <a:latin typeface="方正舒体" panose="02010601030101010101" pitchFamily="2" charset="-122"/>
                <a:sym typeface="+mn-ea"/>
              </a:rPr>
              <a:t>Antlr</a:t>
            </a:r>
            <a:r>
              <a:rPr sz="3200">
                <a:latin typeface="方正舒体" panose="02010601030101010101" pitchFamily="2" charset="-122"/>
                <a:sym typeface="+mn-ea"/>
              </a:rPr>
              <a:t>的词法语法生成器</a:t>
            </a:r>
            <a:endParaRPr lang="zh-CN" altLang="en-US" sz="3200" b="1" dirty="0"/>
          </a:p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8246" name="Rectangle 5"/>
          <p:cNvSpPr>
            <a:spLocks noGrp="1"/>
          </p:cNvSpPr>
          <p:nvPr/>
        </p:nvSpPr>
        <p:spPr>
          <a:xfrm>
            <a:off x="2033588" y="1154113"/>
            <a:ext cx="7777162" cy="472281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altLang="zh-CN" sz="2100" dirty="0"/>
          </a:p>
        </p:txBody>
      </p:sp>
      <p:pic>
        <p:nvPicPr>
          <p:cNvPr id="73731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51330"/>
            <a:ext cx="2672080" cy="2837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2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252970" y="3827145"/>
            <a:ext cx="3366135" cy="2049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3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965325"/>
            <a:ext cx="3348355" cy="2409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圆角矩形标注 1"/>
          <p:cNvSpPr/>
          <p:nvPr/>
        </p:nvSpPr>
        <p:spPr>
          <a:xfrm>
            <a:off x="1704340" y="4813300"/>
            <a:ext cx="2387600" cy="932180"/>
          </a:xfrm>
          <a:prstGeom prst="wedgeRoundRectCallout">
            <a:avLst>
              <a:gd name="adj1" fmla="val -11666"/>
              <a:gd name="adj2" fmla="val -64583"/>
              <a:gd name="adj3" fmla="val 16667"/>
            </a:avLst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十六进制数词法规则定义示例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圆角矩形标注 7"/>
          <p:cNvSpPr/>
          <p:nvPr/>
        </p:nvSpPr>
        <p:spPr>
          <a:xfrm>
            <a:off x="7545705" y="1346200"/>
            <a:ext cx="2780030" cy="595630"/>
          </a:xfrm>
          <a:prstGeom prst="wedgeRoundRectCallout">
            <a:avLst>
              <a:gd name="adj1" fmla="val -71745"/>
              <a:gd name="adj2" fmla="val 122572"/>
              <a:gd name="adj3" fmla="val 16667"/>
            </a:avLst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关键字词法规则定义示例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3" name="圆角矩形标注 8"/>
          <p:cNvSpPr/>
          <p:nvPr/>
        </p:nvSpPr>
        <p:spPr>
          <a:xfrm>
            <a:off x="8482965" y="2794000"/>
            <a:ext cx="3157220" cy="824865"/>
          </a:xfrm>
          <a:prstGeom prst="wedgeRoundRectCallout">
            <a:avLst>
              <a:gd name="adj1" fmla="val -44166"/>
              <a:gd name="adj2" fmla="val 79167"/>
              <a:gd name="adj3" fmla="val 16667"/>
            </a:avLst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空白符、多行注释、单行注释词法规则定义示例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文本框 13"/>
          <p:cNvSpPr txBox="1"/>
          <p:nvPr/>
        </p:nvSpPr>
        <p:spPr>
          <a:xfrm>
            <a:off x="290195" y="1154430"/>
            <a:ext cx="68713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 eaLnBrk="0" hangingPunct="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</a:rPr>
              <a:t>IDL.g4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中词法的定义示例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6" grpId="0" build="p"/>
      <p:bldP spid="11" grpId="0" bldLvl="0" animBg="1"/>
      <p:bldP spid="2" grpId="0" bldLvl="0" animBg="1"/>
      <p:bldP spid="13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3945" y="2085340"/>
            <a:ext cx="10640060" cy="226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500"/>
              <a:t>总结和</a:t>
            </a:r>
            <a:r>
              <a:rPr lang="zh-CN" altLang="en-US" sz="11500"/>
              <a:t>扩展</a:t>
            </a:r>
            <a:endParaRPr lang="zh-CN" altLang="en-US" sz="115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204470" y="276860"/>
            <a:ext cx="732345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二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词法分析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PLACING_PICTURE_USER_VIEWPORT" val="{&quot;height&quot;:2884,&quot;width&quot;:2884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DIAGRAM_VIRTUALLY_FRAME" val="{&quot;height&quot;:66.8,&quot;left&quot;:118.25,&quot;top&quot;:394.85,&quot;width&quot;:351.5}"/>
</p:tagLst>
</file>

<file path=ppt/tags/tag32.xml><?xml version="1.0" encoding="utf-8"?>
<p:tagLst xmlns:p="http://schemas.openxmlformats.org/presentationml/2006/main">
  <p:tag name="KSO_WM_DIAGRAM_VIRTUALLY_FRAME" val="{&quot;height&quot;:66.8,&quot;left&quot;:113.7,&quot;top&quot;:392.6,&quot;width&quot;:351.5}"/>
</p:tagLst>
</file>

<file path=ppt/tags/tag33.xml><?xml version="1.0" encoding="utf-8"?>
<p:tagLst xmlns:p="http://schemas.openxmlformats.org/presentationml/2006/main">
  <p:tag name="KSO_WM_DIAGRAM_VIRTUALLY_FRAME" val="{&quot;height&quot;:66.8,&quot;left&quot;:113.7,&quot;top&quot;:392.6,&quot;width&quot;:351.5}"/>
</p:tagLst>
</file>

<file path=ppt/tags/tag34.xml><?xml version="1.0" encoding="utf-8"?>
<p:tagLst xmlns:p="http://schemas.openxmlformats.org/presentationml/2006/main">
  <p:tag name="KSO_WM_DIAGRAM_VIRTUALLY_FRAME" val="{&quot;height&quot;:66.8,&quot;left&quot;:118.25,&quot;top&quot;:394.85,&quot;width&quot;:351.5}"/>
</p:tagLst>
</file>

<file path=ppt/tags/tag35.xml><?xml version="1.0" encoding="utf-8"?>
<p:tagLst xmlns:p="http://schemas.openxmlformats.org/presentationml/2006/main">
  <p:tag name="KSO_WM_DIAGRAM_VIRTUALLY_FRAME" val="{&quot;height&quot;:66.8,&quot;left&quot;:113.7,&quot;top&quot;:392.6,&quot;width&quot;:351.5}"/>
</p:tagLst>
</file>

<file path=ppt/tags/tag36.xml><?xml version="1.0" encoding="utf-8"?>
<p:tagLst xmlns:p="http://schemas.openxmlformats.org/presentationml/2006/main">
  <p:tag name="KSO_WM_DIAGRAM_VIRTUALLY_FRAME" val="{&quot;height&quot;:66.8,&quot;left&quot;:113.7,&quot;top&quot;:392.6,&quot;width&quot;:351.5}"/>
</p:tagLst>
</file>

<file path=ppt/tags/tag37.xml><?xml version="1.0" encoding="utf-8"?>
<p:tagLst xmlns:p="http://schemas.openxmlformats.org/presentationml/2006/main">
  <p:tag name="KSO_WM_DIAGRAM_VIRTUALLY_FRAME" val="{&quot;height&quot;:66.8,&quot;left&quot;:113.7,&quot;top&quot;:392.6,&quot;width&quot;:351.5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UNIT_TABLE_BEAUTIFY" val="smartTable{077a6435-97ca-47ad-a612-ea461ccc8592}"/>
  <p:tag name="TABLE_ENDDRAG_ORIGIN_RECT" val="378*282"/>
  <p:tag name="TABLE_ENDDRAG_RECT" val="18*140*378*282"/>
</p:tagLst>
</file>

<file path=ppt/tags/tag203.xml><?xml version="1.0" encoding="utf-8"?>
<p:tagLst xmlns:p="http://schemas.openxmlformats.org/presentationml/2006/main">
  <p:tag name="KSO_WM_UNIT_TABLE_BEAUTIFY" val="smartTable{c4526c51-edda-4c9a-843e-a4e3174d6e78}"/>
</p:tagLst>
</file>

<file path=ppt/tags/tag204.xml><?xml version="1.0" encoding="utf-8"?>
<p:tagLst xmlns:p="http://schemas.openxmlformats.org/presentationml/2006/main">
  <p:tag name="KSO_WM_UNIT_PLACING_PICTURE_USER_VIEWPORT" val="{&quot;height&quot;:3228,&quot;width&quot;:5301}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PP_MARK_KEY" val="a8cb7fbe-3bb3-466b-9ca4-08b2b30fb1e2"/>
  <p:tag name="COMMONDATA" val="eyJoZGlkIjoiMzJjODM0ODFlMzJmZDYxYTU5ZjM3ODk5NzI1YjE1ODg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13381</Words>
  <Application>WPS 演示</Application>
  <PresentationFormat>全屏显示(4:3)</PresentationFormat>
  <Paragraphs>1746</Paragraphs>
  <Slides>73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100" baseType="lpstr">
      <vt:lpstr>Arial</vt:lpstr>
      <vt:lpstr>宋体</vt:lpstr>
      <vt:lpstr>Wingdings</vt:lpstr>
      <vt:lpstr>等线 Light</vt:lpstr>
      <vt:lpstr>微软雅黑</vt:lpstr>
      <vt:lpstr>Times New Roman</vt:lpstr>
      <vt:lpstr>等线</vt:lpstr>
      <vt:lpstr>Arial Black</vt:lpstr>
      <vt:lpstr>方正舒体</vt:lpstr>
      <vt:lpstr>Verdana</vt:lpstr>
      <vt:lpstr>华文琥珀</vt:lpstr>
      <vt:lpstr>黑体</vt:lpstr>
      <vt:lpstr>Wingdings</vt:lpstr>
      <vt:lpstr>Symbol</vt:lpstr>
      <vt:lpstr>Calibri</vt:lpstr>
      <vt:lpstr>Arial Unicode MS</vt:lpstr>
      <vt:lpstr>Calibri Light</vt:lpstr>
      <vt:lpstr>Times New Roman</vt:lpstr>
      <vt:lpstr>楷体_GB2312</vt:lpstr>
      <vt:lpstr>新宋体</vt:lpstr>
      <vt:lpstr>Symbol</vt:lpstr>
      <vt:lpstr>Tahoma</vt:lpstr>
      <vt:lpstr>Monotype Sorts</vt:lpstr>
      <vt:lpstr>Courier New</vt:lpstr>
      <vt:lpstr>仿宋_GB2312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Wren</dc:creator>
  <cp:lastModifiedBy>马春燕</cp:lastModifiedBy>
  <cp:revision>311</cp:revision>
  <dcterms:created xsi:type="dcterms:W3CDTF">2024-03-16T07:28:00Z</dcterms:created>
  <dcterms:modified xsi:type="dcterms:W3CDTF">2026-03-03T02:11:08Z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DB734695FF45497F811BDCD6097C2729_13</vt:lpwstr>
  </property>
  <property fmtid="{D5CDD505-2E9C-101B-9397-08002B2CF9AE}" pid="3" name="KSOProductBuildVer">
    <vt:lpwstr>2052-11.1.0.13703</vt:lpwstr>
  </property>
</Properties>
</file>